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402336" cy="402336"/>
          </a:xfrm>
          <a:prstGeom prst="ellipse">
            <a:avLst/>
          </a:prstGeom>
          <a:solidFill>
            <a:srgbClr val="5859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256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8288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4－9月の成果と課題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スキルチェックで「デジタル活用人材1,000名」に届く絞り込み条件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966960" y="274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9E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IT・デジタル人材育成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All rights reserved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11640312" cy="786384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24128"/>
            <a:ext cx="109728" cy="786384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" y="1042416"/>
            <a:ext cx="11338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2026年度目標＝全従業員の約30%・1,000名を「デジタル活用人材」に育成。スキル個数（基礎→専門）に重点4ロール適合を重ねた4段フィルタで中核1,190名（35.1%）に着地し、計画1,000名を約19%上回って達成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1164031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201168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絞り込みファネル：上から条件を重ねて「デジタル活用人材」を特定（回答者 N＝3,395名）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040" y="2542032"/>
            <a:ext cx="310896" cy="310896"/>
          </a:xfrm>
          <a:prstGeom prst="ellipse">
            <a:avLst/>
          </a:prstGeom>
          <a:solidFill>
            <a:srgbClr val="369E5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2542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4780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全回答者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272491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スキルチェック回答者全員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0" y="2450592"/>
            <a:ext cx="7040880" cy="493776"/>
          </a:xfrm>
          <a:prstGeom prst="rect">
            <a:avLst/>
          </a:prstGeom>
          <a:solidFill>
            <a:srgbClr val="C9E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46320" y="2450592"/>
            <a:ext cx="7040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3,395名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100%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9306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 −1,181名 を除外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3236976"/>
            <a:ext cx="310896" cy="310896"/>
          </a:xfrm>
          <a:prstGeom prst="ellipse">
            <a:avLst/>
          </a:prstGeom>
          <a:solidFill>
            <a:srgbClr val="369E5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20040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172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デジタルの基礎がある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41985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基礎スキルの過半数（P2以上 ×8個）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57443" y="3145536"/>
            <a:ext cx="5418635" cy="493776"/>
          </a:xfrm>
          <a:prstGeom prst="rect">
            <a:avLst/>
          </a:prstGeom>
          <a:solidFill>
            <a:srgbClr val="9FD7B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57443" y="3145536"/>
            <a:ext cx="54186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2,214名</a:t>
            </a:r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65%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362559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 −525名 を除外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" y="3931920"/>
            <a:ext cx="310896" cy="310896"/>
          </a:xfrm>
          <a:prstGeom prst="ellipse">
            <a:avLst/>
          </a:prstGeom>
          <a:solidFill>
            <a:srgbClr val="369E5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04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3867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専門に踏み出している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1148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専門スキル P2以上 ×1個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18018" y="3840480"/>
            <a:ext cx="4697484" cy="493776"/>
          </a:xfrm>
          <a:prstGeom prst="rect">
            <a:avLst/>
          </a:prstGeom>
          <a:solidFill>
            <a:srgbClr val="6FC48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018018" y="3840480"/>
            <a:ext cx="46974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1,689名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50%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43205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 −408名 を除外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20040" y="4626864"/>
            <a:ext cx="310896" cy="310896"/>
          </a:xfrm>
          <a:prstGeom prst="ellipse">
            <a:avLst/>
          </a:prstGeom>
          <a:solidFill>
            <a:srgbClr val="369E5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0040" y="4626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45628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専門に複数の強みがある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48097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専門スキル P2以上 ×3個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98236" y="4535424"/>
            <a:ext cx="4137047" cy="493776"/>
          </a:xfrm>
          <a:prstGeom prst="rect">
            <a:avLst/>
          </a:prstGeom>
          <a:solidFill>
            <a:srgbClr val="4EB06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98236" y="4535424"/>
            <a:ext cx="4137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1,281名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38%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37960" y="50154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 −91名 を除外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0040" y="5321808"/>
            <a:ext cx="310896" cy="310896"/>
          </a:xfrm>
          <a:prstGeom prst="ellipse">
            <a:avLst/>
          </a:prstGeom>
          <a:solidFill>
            <a:srgbClr val="369E5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0040" y="5321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31520" y="5257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重点4ロールに向かう中核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731520" y="5504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重点4ロールのいずれかに適合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60736" y="5230368"/>
            <a:ext cx="4012048" cy="49377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360736" y="5230368"/>
            <a:ext cx="4012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1,190名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35%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0482512" y="5202936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900" b="1" i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デジタル活用人材</a:t>
            </a:r>
            <a:endParaRPr lang="en-US" sz="9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b="1" i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計画1,000名超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74320" y="5943600"/>
            <a:ext cx="7223760" cy="493776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4048" y="603504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369E51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84048" y="60350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読み方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1371600" y="5943600"/>
            <a:ext cx="6035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全員から「基礎→専門→役割」の条件を順に重ね、4条件すべてを満たす1,190名（35%）が中核。研修受講数でなくスキル保有で測定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35240" y="5943600"/>
            <a:ext cx="4279392" cy="493776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54112" y="594360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感度（④の幅）：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×2個→1,257／</a:t>
            </a:r>
            <a:pPr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×3個→1,190（推奨）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／×4個→1,084名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11841480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402336" cy="402336"/>
          </a:xfrm>
          <a:prstGeom prst="ellipse">
            <a:avLst/>
          </a:prstGeom>
          <a:solidFill>
            <a:srgbClr val="5859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256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8288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4－9月の成果と課題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中核1,190名の層別と育成アクションへの接続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966960" y="274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9E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IT・デジタル人材育成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All rights reserved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11640312" cy="786384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24128"/>
            <a:ext cx="109728" cy="786384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" y="1042416"/>
            <a:ext cx="11338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重点4ロール適合を含む中核1,190名を習熟度の深さで3層に分解。キースキル保有者が1,082名含まれ、最上位の「輩出候補」599名が27年度『輩出数KPI』の母集団となる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6720840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" y="2011680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中核母集団の層別（相互排他・合計1,190名）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004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2514600"/>
            <a:ext cx="2139696" cy="45720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輩出候補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599名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0292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P3以上 ×2個以上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DX推進リーダー／重点4ロールの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次期候補。実践研修＋1on1で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27年度の輩出数KPIに直結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256032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60320" y="2514600"/>
            <a:ext cx="2139696" cy="457200"/>
          </a:xfrm>
          <a:prstGeom prst="rect">
            <a:avLst/>
          </a:prstGeom>
          <a:solidFill>
            <a:srgbClr val="4BAE6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56032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B. 実践コア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163名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274320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20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P3以上 ×1個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74320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74320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あと一歩で輩出レベル。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オンライン学習の必修講座で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もう1領域をP3へ引き上げ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4800600" y="2514600"/>
            <a:ext cx="213969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514600"/>
            <a:ext cx="2139696" cy="457200"/>
          </a:xfrm>
          <a:prstGeom prst="rect">
            <a:avLst/>
          </a:prstGeom>
          <a:solidFill>
            <a:srgbClr val="8CCF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00600" y="2514600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C. 展開候補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026664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428名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4983480" y="3630168"/>
            <a:ext cx="1773936" cy="365760"/>
          </a:xfrm>
          <a:prstGeom prst="roundRect">
            <a:avLst>
              <a:gd name="adj" fmla="val 10000"/>
            </a:avLst>
          </a:prstGeom>
          <a:solidFill>
            <a:srgbClr val="EAF6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83480" y="3630168"/>
            <a:ext cx="1773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専門 P2中心（P3未満）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983480" y="4087368"/>
            <a:ext cx="1773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育成アクション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983480" y="4325112"/>
            <a:ext cx="1773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幅はあるが深さが課題。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生成AI実践・BPR横展開の</a:t>
            </a:r>
            <a:endParaRPr lang="en-US" sz="9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現場適用で深化を促す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7269480" y="2011680"/>
            <a:ext cx="4645152" cy="365760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360920" y="201168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重点4ロール キースキル保有（中核内）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7269480" y="2377440"/>
            <a:ext cx="4645152" cy="2377440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88352" y="24140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変革課題設定力 P2+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83880" y="26334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42" name="Shape 40"/>
          <p:cNvSpPr/>
          <p:nvPr/>
        </p:nvSpPr>
        <p:spPr>
          <a:xfrm>
            <a:off x="8183880" y="2633472"/>
            <a:ext cx="2125788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771632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1,006名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7388352" y="28712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BPR力 P2+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83880" y="30906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46" name="Shape 44"/>
          <p:cNvSpPr/>
          <p:nvPr/>
        </p:nvSpPr>
        <p:spPr>
          <a:xfrm>
            <a:off x="8183880" y="3090672"/>
            <a:ext cx="1485516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71632" y="3017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703名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7388352" y="33284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業務要件定義力 P2+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8183880" y="35478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50" name="Shape 48"/>
          <p:cNvSpPr/>
          <p:nvPr/>
        </p:nvSpPr>
        <p:spPr>
          <a:xfrm>
            <a:off x="8183880" y="3547872"/>
            <a:ext cx="908637" cy="219456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71632" y="34747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430名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7388352" y="3785616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いずれか1つ以上 P2+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183880" y="4005072"/>
            <a:ext cx="2514600" cy="219456"/>
          </a:xfrm>
          <a:prstGeom prst="rect">
            <a:avLst/>
          </a:prstGeom>
          <a:solidFill>
            <a:srgbClr val="E2E8E4"/>
          </a:solidFill>
          <a:ln/>
        </p:spPr>
      </p:sp>
      <p:sp>
        <p:nvSpPr>
          <p:cNvPr id="54" name="Shape 52"/>
          <p:cNvSpPr/>
          <p:nvPr/>
        </p:nvSpPr>
        <p:spPr>
          <a:xfrm>
            <a:off x="8183880" y="4005072"/>
            <a:ext cx="2286384" cy="219456"/>
          </a:xfrm>
          <a:prstGeom prst="rect">
            <a:avLst/>
          </a:prstGeom>
          <a:solidFill>
            <a:srgbClr val="276B3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71632" y="39319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1,082名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7406640" y="4425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技術人材の採用では埋まらない「業務側の設計者」が中核内に厚く存在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69480" y="4892040"/>
            <a:ext cx="4645152" cy="1280160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5001768"/>
            <a:ext cx="1005840" cy="310896"/>
          </a:xfrm>
          <a:prstGeom prst="roundRect">
            <a:avLst>
              <a:gd name="adj" fmla="val 14706"/>
            </a:avLst>
          </a:prstGeom>
          <a:solidFill>
            <a:srgbClr val="C9781B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7406640" y="5001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7406640" y="5349240"/>
            <a:ext cx="4370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各部門長・HRBPへ：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自部門の「A.輩出候補」名簿を確認し、27年度育成対象（重点4ロール候補）を選定・推薦（11月末）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0040" y="5440680"/>
            <a:ext cx="6675120" cy="731520"/>
          </a:xfrm>
          <a:prstGeom prst="rect">
            <a:avLst/>
          </a:prstGeom>
          <a:solidFill>
            <a:srgbClr val="F3FAF5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29768" y="553212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369E51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9768" y="553212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示唆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141732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「輩出数」は A層を基準に定義でき、各部門の育成目標に落とし込める。B・C層は次年度の供給パイプラインとして継続観測し、チェックのたびに同条件で各層の増減を追う</a:t>
            </a:r>
            <a:endParaRPr lang="en-US" sz="980" dirty="0"/>
          </a:p>
        </p:txBody>
      </p:sp>
      <p:sp>
        <p:nvSpPr>
          <p:cNvPr id="65" name="Text 63"/>
          <p:cNvSpPr txBox="1"/>
          <p:nvPr/>
        </p:nvSpPr>
        <p:spPr>
          <a:xfrm>
            <a:off x="11841480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402336" cy="402336"/>
          </a:xfrm>
          <a:prstGeom prst="ellipse">
            <a:avLst/>
          </a:prstGeom>
          <a:solidFill>
            <a:srgbClr val="58595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274320" y="256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86384" y="18288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59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4－9月の成果と課題｜補足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457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目標と達成の合理性（株主・IR説明の論点）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966960" y="274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69E5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IT・デジタル人材育成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74320" y="6510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©LION Corporation All rights reserved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024128"/>
            <a:ext cx="11640312" cy="786384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24128"/>
            <a:ext cx="109728" cy="786384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" y="1042416"/>
            <a:ext cx="11338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目標1,000名（全従業員の約30%）は学術通説と先進企業水準に基づく合理的設定。独自定義×自走ラインでの厳格測定で1,190名（35.1%）と計画を上回って達成。自己評価のみのため数値はむしろ保守的で、360度評価で更に精緻化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2770632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2011680"/>
            <a:ext cx="2770632" cy="475488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0040" y="2011680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目標の合理性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" y="2615184"/>
            <a:ext cx="2496312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30%通説：DX推進人材が組織の約3割を超えると変革が自走する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公表計画：2026年度までに約30%＝1,000名を育成（当社公表）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先進企業も全社型育成を制度化（花王・キリン 等）と整合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3136392" y="2011680"/>
            <a:ext cx="2770632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36392" y="2011680"/>
            <a:ext cx="2770632" cy="475488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182112" y="2011680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測定の厳格性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282696" y="2615184"/>
            <a:ext cx="2496312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経産省スキル標準準拠の独自定義：5カテゴリ・19ロール・57スキル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判定はP2＝自走可否ライン。研修受講数でなくスキル保有で測定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基礎の過半数＋専門複数領域＋重点ロール適合の多重条件で判定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5998464" y="2011680"/>
            <a:ext cx="2770632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2011680"/>
            <a:ext cx="2770632" cy="475488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44184" y="2011680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達成状況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44768" y="2615184"/>
            <a:ext cx="2478024" cy="786384"/>
          </a:xfrm>
          <a:prstGeom prst="rect">
            <a:avLst/>
          </a:prstGeom>
          <a:solidFill>
            <a:srgbClr val="EAF6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44768" y="2670048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6B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1,190名 / 35.1%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144768" y="3108960"/>
            <a:ext cx="2478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計画1,000名比 ＋19%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44768" y="3529584"/>
            <a:ext cx="249631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悉皆測定：回答2,815名・回答率99.8%で網羅性が高い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1,000〜1,500名の運用幅の中で過度に緩めない中央の設定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次回以降も同一条件で再現測定し、増減を進捗として追う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8860536" y="2011680"/>
            <a:ext cx="2770632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60536" y="2011680"/>
            <a:ext cx="2770632" cy="475488"/>
          </a:xfrm>
          <a:prstGeom prst="rect">
            <a:avLst/>
          </a:prstGeom>
          <a:solidFill>
            <a:srgbClr val="369E5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06256" y="2011680"/>
            <a:ext cx="2679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保守性・ガバナンス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006840" y="2615184"/>
            <a:ext cx="2496312" cy="2825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現状は本人評価のみ＝むしろ控えめ。360度（上長）評価を導入予定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重点ロール適合を課し、単一スキルでの数値混入を防止</a:t>
            </a:r>
            <a:endParaRPr lang="en-US" sz="93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KPIをPL（工数削減・残業）に接続し成果まで追跡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274320" y="5760720"/>
            <a:ext cx="11640312" cy="658368"/>
          </a:xfrm>
          <a:prstGeom prst="rect">
            <a:avLst/>
          </a:prstGeom>
          <a:solidFill>
            <a:srgbClr val="EAF6EE"/>
          </a:solidFill>
          <a:ln w="9525">
            <a:solidFill>
              <a:srgbClr val="369E5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048" y="5879592"/>
            <a:ext cx="1371600" cy="310896"/>
          </a:xfrm>
          <a:prstGeom prst="roundRect">
            <a:avLst>
              <a:gd name="adj" fmla="val 14706"/>
            </a:avLst>
          </a:prstGeom>
          <a:solidFill>
            <a:srgbClr val="369E5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84048" y="58795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外部ベンチ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874520" y="5760720"/>
            <a:ext cx="9966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93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花王 AI Academy 1万人修了／キリン DX道場5,100名・AI業務代替率10%／ユニ・チャーム 昇進要件化／味の素 個人目標連動。当社の「約30%育成」は先進企業の全社型育成と水準が整合</a:t>
            </a:r>
            <a:endParaRPr lang="en-US" sz="930" dirty="0"/>
          </a:p>
        </p:txBody>
      </p:sp>
      <p:sp>
        <p:nvSpPr>
          <p:cNvPr id="34" name="Text 32"/>
          <p:cNvSpPr txBox="1"/>
          <p:nvPr/>
        </p:nvSpPr>
        <p:spPr>
          <a:xfrm>
            <a:off x="11841480" y="6510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F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2026-10-14T02:50:17Z</dcterms:created>
  <dcterms:modified xsi:type="dcterms:W3CDTF">2026-10-14T02:50:17Z</dcterms:modified>
</cp:coreProperties>
</file>