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402336" cy="402336"/>
          </a:xfrm>
          <a:prstGeom prst="ellipse">
            <a:avLst/>
          </a:prstGeom>
          <a:solidFill>
            <a:srgbClr val="5859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18288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59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4－9月の成果と課題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スキルチェックで「デジタル活用人材1,000名」に届く絞り込み条件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27432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9E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IT・デジタル人材育成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©LION Corporation All rights reserved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11640312" cy="786384"/>
          </a:xfrm>
          <a:prstGeom prst="rect">
            <a:avLst/>
          </a:prstGeom>
          <a:solidFill>
            <a:srgbClr val="EAF6EE"/>
          </a:solidFill>
          <a:ln w="9525">
            <a:solidFill>
              <a:srgbClr val="369E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24128"/>
            <a:ext cx="109728" cy="786384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" y="1042416"/>
            <a:ext cx="11338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2026年度目標＝全従業員の約30%・1,000名を「デジタル活用人材」に育成。スキル個数（基礎→専門）に重点4ロール適合を重ねた4段フィルタで中核1,190名（35.1%）に着地し、計画1,000名を約19%上回って達成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6720840" cy="365760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201168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絞り込みファネル（回答者 N＝3,395名）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206240" cy="530352"/>
          </a:xfrm>
          <a:prstGeom prst="rect">
            <a:avLst/>
          </a:prstGeom>
          <a:solidFill>
            <a:srgbClr val="BFE3C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" y="2404872"/>
            <a:ext cx="3950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全回答者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267919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スキルチェック回答者全員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23774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3,395名</a:t>
            </a:r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100%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3591695" cy="530352"/>
          </a:xfrm>
          <a:prstGeom prst="rect">
            <a:avLst/>
          </a:prstGeom>
          <a:solidFill>
            <a:srgbClr val="9FD7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5216" y="3035808"/>
            <a:ext cx="333566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土台：基礎スキル P2以上 ×8個以上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85216" y="3310128"/>
            <a:ext cx="33356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デジタル活用の基礎が自走レベル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30083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2,214名</a:t>
            </a:r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65.2%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639312"/>
            <a:ext cx="3318507" cy="530352"/>
          </a:xfrm>
          <a:prstGeom prst="rect">
            <a:avLst/>
          </a:prstGeom>
          <a:solidFill>
            <a:srgbClr val="6FC4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5216" y="3666744"/>
            <a:ext cx="306247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専門着手：専門スキル P2以上 ×1個以上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85216" y="3941064"/>
            <a:ext cx="30624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いずれかの専門領域に実践経験あり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36393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1,689名</a:t>
            </a:r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49.7%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270248"/>
            <a:ext cx="3106200" cy="530352"/>
          </a:xfrm>
          <a:prstGeom prst="rect">
            <a:avLst/>
          </a:prstGeom>
          <a:solidFill>
            <a:srgbClr val="4EB06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5216" y="4297680"/>
            <a:ext cx="2850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専門の幅：専門スキル P2以上 ×3個以上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85216" y="4572000"/>
            <a:ext cx="285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幅のある実践経験を保有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42702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1,281名</a:t>
            </a:r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37.7%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901184"/>
            <a:ext cx="3058847" cy="530352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5216" y="4928616"/>
            <a:ext cx="28028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中核：重点4ロールのいずれかに適合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85216" y="5202936"/>
            <a:ext cx="2802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デジタル活用人材＝育成の中核母集団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49011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1,190名</a:t>
            </a:r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35.1%</a:t>
            </a:r>
            <a:pPr algn="l" indent="0" marL="0">
              <a:lnSpc>
                <a:spcPct val="90000"/>
              </a:lnSpc>
              <a:buNone/>
            </a:pPr>
            <a:endParaRPr lang="en-US" sz="14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00" b="1" i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計画1,000名を上回る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69480" y="2011680"/>
            <a:ext cx="4645152" cy="365760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60920" y="201168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フィルタ定義（4条件のAND）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269480" y="2377440"/>
            <a:ext cx="4645152" cy="1901952"/>
          </a:xfrm>
          <a:prstGeom prst="rect">
            <a:avLst/>
          </a:prstGeom>
          <a:solidFill>
            <a:srgbClr val="F3FAF5"/>
          </a:solidFill>
          <a:ln w="9525">
            <a:solidFill>
              <a:srgbClr val="D7DB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2487168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369E5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424928" y="24871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基礎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339328" y="2459736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基礎15スキル中、P2（基本的な実践経験あり）以上を 8個以上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7424928" y="292608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369E5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424928" y="2926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専門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339328" y="2898648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専門42スキル中、P2以上を 1個以上（専門に着手）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7424928" y="3364992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369E5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424928" y="33649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幅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339328" y="3337560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専門42スキル中、P2以上を 3個以上（複数領域で実践）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7424928" y="3803904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369E5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424928" y="38039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役割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339328" y="377647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重点4ロールのいずれかに適合（シグネチャ 2個以上）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7269480" y="4407408"/>
            <a:ext cx="4645152" cy="365760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360920" y="4407408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着地の感度（ロール条件ONのまま③を可変）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269480" y="4773168"/>
            <a:ext cx="464515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24928" y="4864608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59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③の閾値（専門P2以上の個数）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10058400" y="486460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859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着地人数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1064240" y="486460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859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全体比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424928" y="5166360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×2個以上（緩め）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0058400" y="516636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1,257名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11064240" y="516636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37.0%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360920" y="5449824"/>
            <a:ext cx="4462272" cy="265176"/>
          </a:xfrm>
          <a:prstGeom prst="rect">
            <a:avLst/>
          </a:prstGeom>
          <a:solidFill>
            <a:srgbClr val="EAF6E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424928" y="5468112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×3個以上（推奨）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10058400" y="546811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1,190名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11064240" y="546811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35.1%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7424928" y="5769864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×4個以上（厳しめ）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10058400" y="5769864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1,084名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11064240" y="576986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31.9%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7424928" y="60533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i="1" dirty="0">
                <a:solidFill>
                  <a:srgbClr val="7A7F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推奨③×3個で1,190名＝計画1,000名を約19%上回り、過度に緩めず1,000〜1,500名の幅に収まる</a:t>
            </a:r>
            <a:endParaRPr lang="en-US" sz="860" dirty="0"/>
          </a:p>
        </p:txBody>
      </p:sp>
      <p:sp>
        <p:nvSpPr>
          <p:cNvPr id="65" name="Shape 63"/>
          <p:cNvSpPr/>
          <p:nvPr/>
        </p:nvSpPr>
        <p:spPr>
          <a:xfrm>
            <a:off x="274320" y="5852160"/>
            <a:ext cx="6720840" cy="548640"/>
          </a:xfrm>
          <a:prstGeom prst="rect">
            <a:avLst/>
          </a:prstGeom>
          <a:solidFill>
            <a:srgbClr val="EAF6EE"/>
          </a:solidFill>
          <a:ln w="9525">
            <a:solidFill>
              <a:srgbClr val="369E5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84048" y="5971032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369E51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384048" y="59710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示唆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1371600" y="585216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自己評価のため単一スキルでなく「基礎の土台×専門の幅」の複合条件で過大評価を抑制。絶対基準（P2×個数）のため次回チェックでも同一条件で母集団を再現でき、増減を進捗として追える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1184148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F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402336" cy="402336"/>
          </a:xfrm>
          <a:prstGeom prst="ellipse">
            <a:avLst/>
          </a:prstGeom>
          <a:solidFill>
            <a:srgbClr val="5859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18288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59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4－9月の成果と課題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中核1,190名の層別と育成アクションへの接続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27432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9E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IT・デジタル人材育成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©LION Corporation All rights reserved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11640312" cy="786384"/>
          </a:xfrm>
          <a:prstGeom prst="rect">
            <a:avLst/>
          </a:prstGeom>
          <a:solidFill>
            <a:srgbClr val="EAF6EE"/>
          </a:solidFill>
          <a:ln w="9525">
            <a:solidFill>
              <a:srgbClr val="369E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24128"/>
            <a:ext cx="109728" cy="786384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" y="1042416"/>
            <a:ext cx="11338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重点4ロール適合を含む中核1,190名を習熟度の深さで3層に分解。キースキル保有者が1,082名含まれ、最上位の「輩出候補」599名が27年度『輩出数KPI』の母集団となる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6720840" cy="365760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201168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中核母集団の層別（相互排他・合計1,190名）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213969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14600"/>
            <a:ext cx="2139696" cy="457200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0040" y="25146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輩出候補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302666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599名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02920" y="3630168"/>
            <a:ext cx="1773936" cy="3657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" y="36301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 P3以上 ×2個以上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08736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59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育成アクション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325112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DX推進リーダー／重点4ロールの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次期候補。実践研修＋1on1で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27年度の輩出数KPIに直結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2560320" y="2514600"/>
            <a:ext cx="213969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2514600"/>
            <a:ext cx="2139696" cy="457200"/>
          </a:xfrm>
          <a:prstGeom prst="rect">
            <a:avLst/>
          </a:prstGeom>
          <a:solidFill>
            <a:srgbClr val="4BAE6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60320" y="25146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B. 実践コア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302666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163名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2743200" y="3630168"/>
            <a:ext cx="1773936" cy="3657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743200" y="36301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 P3以上 ×1個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408736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59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育成アクション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4325112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あと一歩で輩出レベル。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オンライン学習の必修講座で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もう1領域をP3へ引き上げ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4800600" y="2514600"/>
            <a:ext cx="213969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514600"/>
            <a:ext cx="2139696" cy="457200"/>
          </a:xfrm>
          <a:prstGeom prst="rect">
            <a:avLst/>
          </a:prstGeom>
          <a:solidFill>
            <a:srgbClr val="8CCFA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00600" y="25146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C. 展開候補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02666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428名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4983480" y="3630168"/>
            <a:ext cx="1773936" cy="3657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983480" y="36301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 P2中心（P3未満）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983480" y="408736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59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育成アクション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983480" y="4325112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幅はあるが深さが課題。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生成AI実践・BPR横展開の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現場適用で深化を促す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7269480" y="2011680"/>
            <a:ext cx="4645152" cy="365760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60920" y="201168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重点4ロール キースキル保有（中核内）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269480" y="2377440"/>
            <a:ext cx="4645152" cy="2377440"/>
          </a:xfrm>
          <a:prstGeom prst="rect">
            <a:avLst/>
          </a:prstGeom>
          <a:solidFill>
            <a:srgbClr val="F3FAF5"/>
          </a:solidFill>
          <a:ln w="9525">
            <a:solidFill>
              <a:srgbClr val="D7DBD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88352" y="241401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変革課題設定力 P2+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83880" y="2633472"/>
            <a:ext cx="2514600" cy="219456"/>
          </a:xfrm>
          <a:prstGeom prst="rect">
            <a:avLst/>
          </a:prstGeom>
          <a:solidFill>
            <a:srgbClr val="E2E8E4"/>
          </a:solidFill>
          <a:ln/>
        </p:spPr>
      </p:sp>
      <p:sp>
        <p:nvSpPr>
          <p:cNvPr id="42" name="Shape 40"/>
          <p:cNvSpPr/>
          <p:nvPr/>
        </p:nvSpPr>
        <p:spPr>
          <a:xfrm>
            <a:off x="8183880" y="2633472"/>
            <a:ext cx="2125788" cy="219456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771632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1,006名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388352" y="287121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BPR力 P2+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83880" y="3090672"/>
            <a:ext cx="2514600" cy="219456"/>
          </a:xfrm>
          <a:prstGeom prst="rect">
            <a:avLst/>
          </a:prstGeom>
          <a:solidFill>
            <a:srgbClr val="E2E8E4"/>
          </a:solidFill>
          <a:ln/>
        </p:spPr>
      </p:sp>
      <p:sp>
        <p:nvSpPr>
          <p:cNvPr id="46" name="Shape 44"/>
          <p:cNvSpPr/>
          <p:nvPr/>
        </p:nvSpPr>
        <p:spPr>
          <a:xfrm>
            <a:off x="8183880" y="3090672"/>
            <a:ext cx="1485516" cy="219456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771632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703名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388352" y="332841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業務要件定義力 P2+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183880" y="3547872"/>
            <a:ext cx="2514600" cy="219456"/>
          </a:xfrm>
          <a:prstGeom prst="rect">
            <a:avLst/>
          </a:prstGeom>
          <a:solidFill>
            <a:srgbClr val="E2E8E4"/>
          </a:solidFill>
          <a:ln/>
        </p:spPr>
      </p:sp>
      <p:sp>
        <p:nvSpPr>
          <p:cNvPr id="50" name="Shape 48"/>
          <p:cNvSpPr/>
          <p:nvPr/>
        </p:nvSpPr>
        <p:spPr>
          <a:xfrm>
            <a:off x="8183880" y="3547872"/>
            <a:ext cx="908637" cy="219456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771632" y="3474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430名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388352" y="378561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いずれか1つ以上 P2+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83880" y="4005072"/>
            <a:ext cx="2514600" cy="219456"/>
          </a:xfrm>
          <a:prstGeom prst="rect">
            <a:avLst/>
          </a:prstGeom>
          <a:solidFill>
            <a:srgbClr val="E2E8E4"/>
          </a:solidFill>
          <a:ln/>
        </p:spPr>
      </p:sp>
      <p:sp>
        <p:nvSpPr>
          <p:cNvPr id="54" name="Shape 52"/>
          <p:cNvSpPr/>
          <p:nvPr/>
        </p:nvSpPr>
        <p:spPr>
          <a:xfrm>
            <a:off x="8183880" y="4005072"/>
            <a:ext cx="2286384" cy="219456"/>
          </a:xfrm>
          <a:prstGeom prst="rect">
            <a:avLst/>
          </a:prstGeom>
          <a:solidFill>
            <a:srgbClr val="276B3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771632" y="3931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1,082名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7406640" y="44256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F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技術人材の採用では埋まらない「業務側の設計者」が中核内に厚く存在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69480" y="4892040"/>
            <a:ext cx="4645152" cy="1280160"/>
          </a:xfrm>
          <a:prstGeom prst="rect">
            <a:avLst/>
          </a:prstGeom>
          <a:solidFill>
            <a:srgbClr val="EAF6EE"/>
          </a:solidFill>
          <a:ln w="9525">
            <a:solidFill>
              <a:srgbClr val="369E5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06640" y="5001768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C9781B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406640" y="50017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お願い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7406640" y="5349240"/>
            <a:ext cx="4370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各部門長・HRBPへ：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自部門の「A.輩出候補」名簿を確認し、27年度育成対象（重点4ロール候補）を選定・推薦（11月末）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5440680"/>
            <a:ext cx="6675120" cy="731520"/>
          </a:xfrm>
          <a:prstGeom prst="rect">
            <a:avLst/>
          </a:prstGeom>
          <a:solidFill>
            <a:srgbClr val="F3FAF5"/>
          </a:solidFill>
          <a:ln w="9525">
            <a:solidFill>
              <a:srgbClr val="D7DBD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9768" y="553212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369E51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29768" y="5532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示唆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1417320" y="5440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「輩出数」は A層を基準に定義でき、各部門の育成目標に落とし込める。B・C層は次年度の供給パイプラインとして継続観測し、チェックのたびに同条件で各層の増減を追う</a:t>
            </a:r>
            <a:endParaRPr lang="en-US" sz="980" dirty="0"/>
          </a:p>
        </p:txBody>
      </p:sp>
      <p:sp>
        <p:nvSpPr>
          <p:cNvPr id="65" name="Text 63"/>
          <p:cNvSpPr txBox="1"/>
          <p:nvPr/>
        </p:nvSpPr>
        <p:spPr>
          <a:xfrm>
            <a:off x="1184148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F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402336" cy="402336"/>
          </a:xfrm>
          <a:prstGeom prst="ellipse">
            <a:avLst/>
          </a:prstGeom>
          <a:solidFill>
            <a:srgbClr val="5859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18288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59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4－9月の成果と課題｜補足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目標と達成の合理性（株主・IR説明の論点）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27432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9E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IT・デジタル人材育成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©LION Corporation All rights reserved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11640312" cy="786384"/>
          </a:xfrm>
          <a:prstGeom prst="rect">
            <a:avLst/>
          </a:prstGeom>
          <a:solidFill>
            <a:srgbClr val="EAF6EE"/>
          </a:solidFill>
          <a:ln w="9525">
            <a:solidFill>
              <a:srgbClr val="369E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24128"/>
            <a:ext cx="109728" cy="786384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" y="1042416"/>
            <a:ext cx="11338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目標1,000名（全従業員の約30%）は学術通説と先進企業水準に基づく合理的設定。独自定義×自走ラインでの厳格測定で1,190名（35.1%）と計画を上回って達成。自己評価のみのため数値はむしろ保守的で、360度評価で更に精緻化す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2770632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11680"/>
            <a:ext cx="2770632" cy="475488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0040" y="2011680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目標の合理性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" y="2615184"/>
            <a:ext cx="2496312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30%通説：DX推進人材が組織の約3割を超えると変革が自走する</a:t>
            </a:r>
            <a:endParaRPr lang="en-US" sz="93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公表計画：2026年度までに約30%＝1,000名を育成（当社公表）</a:t>
            </a:r>
            <a:endParaRPr lang="en-US" sz="93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先進企業も全社型育成を制度化（花王・キリン 等）と整合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136392" y="2011680"/>
            <a:ext cx="2770632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36392" y="2011680"/>
            <a:ext cx="2770632" cy="475488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82112" y="2011680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測定の厳格性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282696" y="2615184"/>
            <a:ext cx="2496312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経産省スキル標準準拠の独自定義：5カテゴリ・19ロール・57スキル</a:t>
            </a:r>
            <a:endParaRPr lang="en-US" sz="93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判定はP2＝自走可否ライン。研修受講数でなくスキル保有で測定</a:t>
            </a:r>
            <a:endParaRPr lang="en-US" sz="93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基礎の過半数＋専門複数領域＋重点ロール適合の多重条件で判定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998464" y="2011680"/>
            <a:ext cx="2770632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2011680"/>
            <a:ext cx="2770632" cy="475488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44184" y="2011680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達成状況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44768" y="2615184"/>
            <a:ext cx="2478024" cy="786384"/>
          </a:xfrm>
          <a:prstGeom prst="rect">
            <a:avLst/>
          </a:prstGeom>
          <a:solidFill>
            <a:srgbClr val="EAF6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44768" y="267004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6B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1,190名 / 35.1%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144768" y="310896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計画1,000名比 ＋19%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144768" y="3529584"/>
            <a:ext cx="249631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悉皆測定：回答2,815名・回答率99.8%で網羅性が高い</a:t>
            </a:r>
            <a:endParaRPr lang="en-US" sz="93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1,000〜1,500名の運用幅の中で過度に緩めない中央の設定</a:t>
            </a:r>
            <a:endParaRPr lang="en-US" sz="93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次回以降も同一条件で再現測定し、増減を進捗として追う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860536" y="2011680"/>
            <a:ext cx="2770632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60536" y="2011680"/>
            <a:ext cx="2770632" cy="475488"/>
          </a:xfrm>
          <a:prstGeom prst="rect">
            <a:avLst/>
          </a:prstGeom>
          <a:solidFill>
            <a:srgbClr val="369E5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06256" y="2011680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保守性・ガバナンス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2615184"/>
            <a:ext cx="2496312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現状は本人評価のみ＝むしろ控えめ。360度（上長）評価を導入予定</a:t>
            </a:r>
            <a:endParaRPr lang="en-US" sz="93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重点ロール適合を課し、単一スキルでの数値混入を防止</a:t>
            </a:r>
            <a:endParaRPr lang="en-US" sz="93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KPIをPL（工数削減・残業）に接続し成果まで追跡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274320" y="5760720"/>
            <a:ext cx="11640312" cy="658368"/>
          </a:xfrm>
          <a:prstGeom prst="rect">
            <a:avLst/>
          </a:prstGeom>
          <a:solidFill>
            <a:srgbClr val="EAF6EE"/>
          </a:solidFill>
          <a:ln w="9525">
            <a:solidFill>
              <a:srgbClr val="369E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587959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369E5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84048" y="58795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外部ベンチ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874520" y="57607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花王 AI Academy 1万人修了／キリン DX道場5,100名・AI業務代替率10%／ユニ・チャーム 昇進要件化／味の素 個人目標連動。当社の「約30%育成」は先進企業の全社型育成と水準が整合</a:t>
            </a:r>
            <a:endParaRPr lang="en-US" sz="930" dirty="0"/>
          </a:p>
        </p:txBody>
      </p:sp>
      <p:sp>
        <p:nvSpPr>
          <p:cNvPr id="34" name="Text 32"/>
          <p:cNvSpPr txBox="1"/>
          <p:nvPr/>
        </p:nvSpPr>
        <p:spPr>
          <a:xfrm>
            <a:off x="1184148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F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2026-10-13T09:23:08Z</dcterms:created>
  <dcterms:modified xsi:type="dcterms:W3CDTF">2026-10-13T09:23:08Z</dcterms:modified>
</cp:coreProperties>
</file>