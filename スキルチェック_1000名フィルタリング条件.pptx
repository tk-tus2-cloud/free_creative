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スキルチェックで「デジタル活用人材1,000名」に届く絞り込み条件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2026年度目標＝全従業員の約30%・1,000名を「デジタル活用人材」に育成。スキル個数（基礎→専門）に重点4ロール適合を重ねた4段フィルタで中核1,084名（31.9%）に着地し、目標を達成見込み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6720840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絞り込みファネル（回答者 N＝3,395名）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206240" cy="530352"/>
          </a:xfrm>
          <a:prstGeom prst="rect">
            <a:avLst/>
          </a:prstGeom>
          <a:solidFill>
            <a:srgbClr val="BFE3C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" y="2404872"/>
            <a:ext cx="39502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全回答者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85216" y="2679192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スキルチェック回答者全員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3774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3,395名</a:t>
            </a:r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100%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008376"/>
            <a:ext cx="3591695" cy="530352"/>
          </a:xfrm>
          <a:prstGeom prst="rect">
            <a:avLst/>
          </a:prstGeom>
          <a:solidFill>
            <a:srgbClr val="9FD7B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" y="3035808"/>
            <a:ext cx="333566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土台：基礎スキル P2以上 ×8個以上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85216" y="3310128"/>
            <a:ext cx="3335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デジタル活用の基礎が自走レベル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2,214名</a:t>
            </a:r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65.2%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639312"/>
            <a:ext cx="3318507" cy="530352"/>
          </a:xfrm>
          <a:prstGeom prst="rect">
            <a:avLst/>
          </a:prstGeom>
          <a:solidFill>
            <a:srgbClr val="6FC4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5216" y="3666744"/>
            <a:ext cx="3062475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専門着手：専門スキル P2以上 ×1個以上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85216" y="3941064"/>
            <a:ext cx="30624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いずれかの専門領域に実践経験あり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74920" y="363931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1,689名</a:t>
            </a:r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49.7%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270248"/>
            <a:ext cx="3022942" cy="530352"/>
          </a:xfrm>
          <a:prstGeom prst="rect">
            <a:avLst/>
          </a:prstGeom>
          <a:solidFill>
            <a:srgbClr val="4EB06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5216" y="4297680"/>
            <a:ext cx="276691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専門の幅：専門スキル P2以上 ×4個以上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5216" y="4572000"/>
            <a:ext cx="27669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幅のある実践経験を保有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074920" y="42702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1,121名</a:t>
            </a:r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33.0%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4901184"/>
            <a:ext cx="3003689" cy="530352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5216" y="4928616"/>
            <a:ext cx="2747657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中核：重点4ロールのいずれかに適合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5216" y="5202936"/>
            <a:ext cx="274765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デジタル活用人材＝育成の中核母集団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074920" y="4901184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1,084名</a:t>
            </a:r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31.9%</a:t>
            </a:r>
            <a:pPr algn="l" indent="0" marL="0">
              <a:lnSpc>
                <a:spcPct val="90000"/>
              </a:lnSpc>
              <a:buNone/>
            </a:pPr>
            <a:endParaRPr lang="en-US" sz="14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950" b="1" i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≧ 目標30%を達成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269480" y="2011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60920" y="2011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フィルタ定義（4条件のAND）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269480" y="2377440"/>
            <a:ext cx="4645152" cy="1901952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24928" y="2487168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24928" y="24871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基礎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39328" y="2459736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基礎15スキル中、P2（基本的な実践経験あり）以上を 8個以上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7424928" y="2926080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424928" y="29260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専門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2898648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専門42スキル中、P2以上を 1個以上（専門に着手）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7424928" y="3364992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424928" y="33649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幅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339328" y="3337560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専門42スキル中、P2以上を 4個以上（約30%ライン）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7424928" y="3803904"/>
            <a:ext cx="822960" cy="310896"/>
          </a:xfrm>
          <a:prstGeom prst="roundRect">
            <a:avLst>
              <a:gd name="adj" fmla="val 11765"/>
            </a:avLst>
          </a:prstGeom>
          <a:solidFill>
            <a:srgbClr val="369E5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24928" y="38039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役割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3776472"/>
            <a:ext cx="3456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重点4ロールのいずれかに適合（シグネチャ 2個以上）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7269480" y="4407408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60920" y="4407408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着地の感度（ロール条件ONのまま③を可変）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269480" y="4773168"/>
            <a:ext cx="4645152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24928" y="4864608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③の閾値（専門P2以上の個数）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4864608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着地人数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1064240" y="486460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全体比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424928" y="5166360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×2個以上（緩め）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0058400" y="516636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1,257名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11064240" y="516636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37.0%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7424928" y="546811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×3個以上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0058400" y="546811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1,190名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11064240" y="546811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35.1%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7360920" y="5751576"/>
            <a:ext cx="4462272" cy="265176"/>
          </a:xfrm>
          <a:prstGeom prst="rect">
            <a:avLst/>
          </a:prstGeom>
          <a:solidFill>
            <a:srgbClr val="EAF6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24928" y="5769864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×4個以上（推奨）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10058400" y="5769864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1,084名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11064240" y="576986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31.9%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7424928" y="605332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60" i="1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いずれも目標1,000名を達成（×5個以上は985名で未達）。推奨③×4個で1,000〜1,500名の幅に収まる</a:t>
            </a:r>
            <a:endParaRPr lang="en-US" sz="860" dirty="0"/>
          </a:p>
        </p:txBody>
      </p:sp>
      <p:sp>
        <p:nvSpPr>
          <p:cNvPr id="65" name="Shape 63"/>
          <p:cNvSpPr/>
          <p:nvPr/>
        </p:nvSpPr>
        <p:spPr>
          <a:xfrm>
            <a:off x="274320" y="5852160"/>
            <a:ext cx="6720840" cy="548640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4048" y="5971032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" y="5971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1371600" y="585216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自己評価のため単一スキルでなく「基礎の土台×専門の幅」の複合条件で過大評価を抑制。絶対基準（P2×個数）のため次回チェックでも同一条件で母集団を再現でき、増減を進捗として追える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中核1,084名の層別と育成アクションへの接続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重点4ロール適合を含む中核1,084名を習熟度の深さで3層に分解。キースキル保有者が1,008名含まれ、最上位の「輩出候補」587名が27年度『輩出数KPI』の母集団となる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6720840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中核母集団の層別（相互排他・合計1,084名）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輩出候補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587名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×2個以上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DX推進リーダー／重点4ロールの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次期候補。実践研修＋1on1で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27年度の輩出数KPIに直結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256032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solidFill>
            <a:srgbClr val="4BAE6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B. 実践コア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145名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274320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20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×1個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あと一歩で輩出レベル。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オンライン学習の必修講座で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もう1領域をP3へ引き上げ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480060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solidFill>
            <a:srgbClr val="8CCF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C. 展開候補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352名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498348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348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P2中心（P3未満）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98348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98348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幅はあるが深さが課題。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生成AI実践・BPR横展開の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現場適用で深化を促す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7269480" y="2011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360920" y="2011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重点4ロール キースキル保有（中核内）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269480" y="2377440"/>
            <a:ext cx="4645152" cy="237744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88352" y="24140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変革課題設定力 P2+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83880" y="26334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2" name="Shape 40"/>
          <p:cNvSpPr/>
          <p:nvPr/>
        </p:nvSpPr>
        <p:spPr>
          <a:xfrm>
            <a:off x="8183880" y="2633472"/>
            <a:ext cx="2173598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771632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937名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7388352" y="28712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BPR力 P2+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83880" y="30906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6" name="Shape 44"/>
          <p:cNvSpPr/>
          <p:nvPr/>
        </p:nvSpPr>
        <p:spPr>
          <a:xfrm>
            <a:off x="8183880" y="3090672"/>
            <a:ext cx="1575105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71632" y="3017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679名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7388352" y="33284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業務要件定義力 P2+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183880" y="35478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0" name="Shape 48"/>
          <p:cNvSpPr/>
          <p:nvPr/>
        </p:nvSpPr>
        <p:spPr>
          <a:xfrm>
            <a:off x="8183880" y="3547872"/>
            <a:ext cx="992849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71632" y="3474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428名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388352" y="37856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いずれか1つ以上 P2+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83880" y="40050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4" name="Shape 52"/>
          <p:cNvSpPr/>
          <p:nvPr/>
        </p:nvSpPr>
        <p:spPr>
          <a:xfrm>
            <a:off x="8183880" y="4005072"/>
            <a:ext cx="2338300" cy="219456"/>
          </a:xfrm>
          <a:prstGeom prst="rect">
            <a:avLst/>
          </a:prstGeom>
          <a:solidFill>
            <a:srgbClr val="276B3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71632" y="3931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1,008名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7406640" y="4425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技術人材の採用では埋まらない「業務側の設計者」が中核内に厚く存在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69480" y="4892040"/>
            <a:ext cx="4645152" cy="1280160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5001768"/>
            <a:ext cx="1005840" cy="310896"/>
          </a:xfrm>
          <a:prstGeom prst="roundRect">
            <a:avLst>
              <a:gd name="adj" fmla="val 14706"/>
            </a:avLst>
          </a:prstGeom>
          <a:solidFill>
            <a:srgbClr val="C9781B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406640" y="5001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7406640" y="5349240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各部門長・HRBPへ：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自部門の「A.輩出候補」名簿を確認し、27年度育成対象（重点4ロール候補）を選定・推薦（11月末）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0040" y="5440680"/>
            <a:ext cx="6675120" cy="73152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29768" y="553212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9768" y="55321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41732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「輩出数」は A層を基準に定義でき、各部門の育成目標に落とし込める。B・C層は次年度の供給パイプラインとして継続観測し、チェックのたびに同条件で各層の増減を追う</a:t>
            </a:r>
            <a:endParaRPr lang="en-US" sz="980" dirty="0"/>
          </a:p>
        </p:txBody>
      </p:sp>
      <p:sp>
        <p:nvSpPr>
          <p:cNvPr id="65" name="Text 63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2026-10-13T06:59:57Z</dcterms:created>
  <dcterms:modified xsi:type="dcterms:W3CDTF">2026-10-13T06:59:57Z</dcterms:modified>
</cp:coreProperties>
</file>