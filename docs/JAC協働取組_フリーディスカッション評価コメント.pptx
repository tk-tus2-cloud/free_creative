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669280" cy="5669280"/>
          </a:xfrm>
          <a:prstGeom prst="ellipse">
            <a:avLst/>
          </a:prstGeom>
          <a:solidFill>
            <a:srgbClr val="00956D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3291840" cy="3291840"/>
          </a:xfrm>
          <a:prstGeom prst="ellipse">
            <a:avLst/>
          </a:prstGeom>
          <a:solidFill>
            <a:srgbClr val="00956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2026年7月30日 経営執行会議 懇談事項 「JACとの協働取組について」 P20への討議メモ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フリーディスカッション 評価コメント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戦略コンサルタントの視点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397764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経営者の視点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3977640"/>
            <a:ext cx="2560320" cy="47548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9776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投資ファンドの視点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検証をどう読むか — 議論の前提となる3つの総括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 | フリーディスカッション討議メモ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活動の総括(資料P12〜19)自体は妥当。ただし本日の議論の重心は、以下の3点に置くべきと考える。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511296" cy="3383280"/>
          </a:xfrm>
          <a:prstGeom prst="roundRect">
            <a:avLst>
              <a:gd name="adj" fmla="val 2162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23918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1579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総括 ①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83464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物差しは「株価・企業価値」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37490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JACの対価は株価上昇のみという契約構造。検証は活動量ではなく、株価とJAC当初提案との乖離で行うべき。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38828" y="1828800"/>
            <a:ext cx="3511296" cy="3383280"/>
          </a:xfrm>
          <a:prstGeom prst="roundRect">
            <a:avLst>
              <a:gd name="adj" fmla="val 2162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3148" y="2103120"/>
            <a:ext cx="566928" cy="56692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11" y="2239183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98948" y="21579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総括 ②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13148" y="283464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最も重い事実は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「分科会4の中止」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613148" y="37490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マルチプル再評価の前提となるOHC成長戦略が、外部要因ではなく自社の組織要因で止まっている。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29016" y="1828800"/>
            <a:ext cx="3511296" cy="3383280"/>
          </a:xfrm>
          <a:prstGeom prst="roundRect">
            <a:avLst>
              <a:gd name="adj" fmla="val 2162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03336" y="2103120"/>
            <a:ext cx="566928" cy="56692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399" y="2239183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089136" y="2157984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総括 ③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403336" y="2834640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出口から逆算した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設計の欠如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03336" y="3749040"/>
            <a:ext cx="29626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「いつまでに・何をもって成功か」の定義がなく、エグジット双方向のリスク(資料P2)が放置されている。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A5C46"/>
          </a:solidFill>
          <a:ln/>
        </p:spPr>
      </p:sp>
      <p:sp>
        <p:nvSpPr>
          <p:cNvPr id="26" name="Text 21"/>
          <p:cNvSpPr/>
          <p:nvPr/>
        </p:nvSpPr>
        <p:spPr>
          <a:xfrm>
            <a:off x="868680" y="548640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本日のゴールは「成果・課題の共通認識化」ではなく「軌道修正の意思決定」 </a:t>
            </a:r>
            <a:pPr indent="0" marL="0">
              <a:buNone/>
            </a:pPr>
            <a:r>
              <a:rPr lang="en-US" sz="1300" dirty="0">
                <a:solidFill>
                  <a:srgbClr val="DC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 責任者・期限・数値まで落とす(資料P2 ゴール2をそのまま適用)。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総括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物差しを「活動量」から「株価・企業価値」に戻す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 | フリーディスカッション討議メモ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11296" cy="2514600"/>
          </a:xfrm>
          <a:prstGeom prst="roundRect">
            <a:avLst>
              <a:gd name="adj" fmla="val 2909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0020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+約7%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04672" y="239572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株価騰落率(約1年9か月)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2724912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投資実行 24/10/28 終値1,591円 → 現在 約1,700円前後。年率換算では株主資本コストに届かない水準。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8828" y="1417320"/>
            <a:ext cx="3511296" cy="2514600"/>
          </a:xfrm>
          <a:prstGeom prst="roundRect">
            <a:avLst>
              <a:gd name="adj" fmla="val 2909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4860" y="160020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約2倍 / 3年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94860" y="239572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JAC当初提案のEV目標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94860" y="2724912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EV約3,300億円 → 約8,200億円(企業価値約1兆円へ)。現在の軌道はこの想定から大きく乖離。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9016" y="1417320"/>
            <a:ext cx="3511296" cy="2514600"/>
          </a:xfrm>
          <a:prstGeom prst="roundRect">
            <a:avLst>
              <a:gd name="adj" fmla="val 2909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600200"/>
            <a:ext cx="2999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2,600円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85048" y="239572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O社が公表した「あるべき株価」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85048" y="2724912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市場に既に存在する公開アンカー。現在値とのギャップは約900円。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中計公表直後に2度、1,800円台後半をつけながら定着していない。</a:t>
            </a:r>
            <a:pPr indent="0" marL="0">
              <a:buNone/>
            </a:pPr>
            <a:r>
              <a:rPr lang="en-US" sz="13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「開示は評価するが、実行の持続性はまだ信じていない」という市場からのメッセージと読むべき。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8920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推進部門による自己検証は「成果もあった・課題もある」という対称的な総括に流れやすい。</a:t>
            </a:r>
            <a:pPr indent="0" marL="0">
              <a:buNone/>
            </a:pPr>
            <a:r>
              <a:rPr lang="en-US" sz="13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本日を「軌道修正の意思決定の場」と再定義することが、最初の合意事項。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数値は本体資料(株価推移=P10、JAC初期提案=P5)に基づく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総括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最も重い事実 — 分科会4(OHC成長戦略)の中止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 | フリーディスカッション討議メモ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432304" cy="2331720"/>
          </a:xfrm>
          <a:prstGeom prst="roundRect">
            <a:avLst>
              <a:gd name="adj" fmla="val 3137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8096" y="190195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マージン改善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8096" y="269748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国内EBITDAマージン19%超目標。月次業績管理サイクルが定着。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34284" y="2487168"/>
            <a:ext cx="347472" cy="274320"/>
          </a:xfrm>
          <a:prstGeom prst="rightArrow">
            <a:avLst/>
          </a:prstGeom>
          <a:solidFill>
            <a:srgbClr val="00956D"/>
          </a:solidFill>
          <a:ln/>
        </p:spPr>
      </p:sp>
      <p:sp>
        <p:nvSpPr>
          <p:cNvPr id="11" name="Shape 9"/>
          <p:cNvSpPr/>
          <p:nvPr/>
        </p:nvSpPr>
        <p:spPr>
          <a:xfrm>
            <a:off x="3435096" y="1463040"/>
            <a:ext cx="2432304" cy="2331720"/>
          </a:xfrm>
          <a:prstGeom prst="roundRect">
            <a:avLst>
              <a:gd name="adj" fmla="val 3137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4552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4552" y="190195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マルチプル再評価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9.2x → 13x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4552" y="269748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再評価の条件は「持続的な成長期待」の醸成(JAC提案の二段目)。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20740" y="2487168"/>
            <a:ext cx="347472" cy="274320"/>
          </a:xfrm>
          <a:prstGeom prst="rightArrow">
            <a:avLst/>
          </a:prstGeom>
          <a:solidFill>
            <a:srgbClr val="00956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1552" y="1463040"/>
            <a:ext cx="2432304" cy="2331720"/>
          </a:xfrm>
          <a:prstGeom prst="roundRect">
            <a:avLst>
              <a:gd name="adj" fmla="val 3137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1008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物語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41008" y="190195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成長期待の中核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= OHC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41008" y="269748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「次世代ヘルスケアのリーディングカンパニー」— 1兆円の絵の背骨。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07196" y="2487168"/>
            <a:ext cx="347472" cy="274320"/>
          </a:xfrm>
          <a:prstGeom prst="rightArrow">
            <a:avLst/>
          </a:prstGeom>
          <a:solidFill>
            <a:srgbClr val="00956D"/>
          </a:solidFill>
          <a:ln/>
        </p:spPr>
      </p:sp>
      <p:sp>
        <p:nvSpPr>
          <p:cNvPr id="21" name="Shape 19"/>
          <p:cNvSpPr/>
          <p:nvPr/>
        </p:nvSpPr>
        <p:spPr>
          <a:xfrm>
            <a:off x="9208008" y="1463040"/>
            <a:ext cx="2432304" cy="2331720"/>
          </a:xfrm>
          <a:prstGeom prst="roundRect">
            <a:avLst>
              <a:gd name="adj" fmla="val 3137"/>
            </a:avLst>
          </a:prstGeom>
          <a:solidFill>
            <a:srgbClr val="FBF2DD"/>
          </a:solidFill>
          <a:ln w="19050">
            <a:solidFill>
              <a:srgbClr val="A87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27464" y="162763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7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断絶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27464" y="1901952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7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分科会4 中止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427464" y="2697480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「当社側の体制が整わず」— カウンターパート・責任・権限が不明確なまま断念。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BF2DD"/>
          </a:solidFill>
          <a:ln w="12700">
            <a:solidFill>
              <a:srgbClr val="A87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" y="4526280"/>
            <a:ext cx="566928" cy="566928"/>
          </a:xfrm>
          <a:prstGeom prst="ellipse">
            <a:avLst/>
          </a:prstGeom>
          <a:solidFill>
            <a:srgbClr val="A87900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1" y="4662343"/>
            <a:ext cx="294803" cy="294803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691640" y="4343400"/>
            <a:ext cx="9628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守り(コストダウン・マージン)は進み、攻め(成長ストーリー)が空白。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「縮んで筋肉質になる」ことはできても、13x・PER29x・企業価値1兆円には構造的に届かない。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A87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議論の起点は「JACの何を変えるか」の前に「なぜ最重要テーマが自社都合で止まったのか」であるべき。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総括 ③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出口(エグジット)から逆算した設計がない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 | フリーディスカッション討議メモ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931920" cy="2834640"/>
          </a:xfrm>
          <a:prstGeom prst="roundRect">
            <a:avLst>
              <a:gd name="adj" fmla="val 2581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現状の契約・運用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契約(第5条)に期限の定めなし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「いつまでに・何をもって成功か」の両社合意なし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エグジット時のプロトコル(第3条の運用・市場対応)未整備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417320"/>
            <a:ext cx="5971032" cy="1481328"/>
          </a:xfrm>
          <a:prstGeom prst="roundRect">
            <a:avLst>
              <a:gd name="adj" fmla="val 4938"/>
            </a:avLst>
          </a:prstGeom>
          <a:solidFill>
            <a:srgbClr val="FBF2DD"/>
          </a:solidFill>
          <a:ln w="12700">
            <a:solidFill>
              <a:srgbClr val="A87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58191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7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価値向上なきエグジット → アクティビストの標的化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0" y="21488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2,600円という公開アンカーが既に存在。JACの売却局面が、当社にとって最も脆弱なタイミングになる。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3154680"/>
            <a:ext cx="5971032" cy="1481328"/>
          </a:xfrm>
          <a:prstGeom prst="roundRect">
            <a:avLst>
              <a:gd name="adj" fmla="val 4938"/>
            </a:avLst>
          </a:prstGeom>
          <a:solidFill>
            <a:srgbClr val="FBF2DD"/>
          </a:solidFill>
          <a:ln w="12700">
            <a:solidFill>
              <a:srgbClr val="A879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319272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87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エグジットなき継続 → 経営の自律性の毀損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0" y="38862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意思決定の外部依存への傾斜(資料P2 リスク2・3が自認する二方向のリスク)。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834640"/>
            <a:ext cx="1188720" cy="-640080"/>
          </a:xfrm>
          <a:prstGeom prst="line">
            <a:avLst/>
          </a:prstGeom>
          <a:noFill/>
          <a:ln w="25400">
            <a:solidFill>
              <a:srgbClr val="00956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0560" y="3108960"/>
            <a:ext cx="1188720" cy="777240"/>
          </a:xfrm>
          <a:prstGeom prst="line">
            <a:avLst/>
          </a:prstGeom>
          <a:noFill/>
          <a:ln w="25400">
            <a:solidFill>
              <a:srgbClr val="00956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0A5C4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20640"/>
            <a:ext cx="10451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対応: 27年末から逆算した設計を。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DC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現在値と2,600円のギャップ約900円を「マージン・成長率・マルチプル・資本配分」に要因分解し、どこまでを協働で埋め、どの時点で関係を見直すかを事前に定義する。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 1|JACとの取組の何を変えるか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「広く浅い協働」から「選択と集中」への再契約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 | フリーディスカッション討議メモ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11296" cy="4800600"/>
          </a:xfrm>
          <a:prstGeom prst="roundRect">
            <a:avLst>
              <a:gd name="adj" fmla="val 2083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182770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42316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テーマを3つに絞る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29626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広く浅いテーマの束(P12)から、価値ドライバー直結の3テーマへ集中投下: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OHC成長(国内セルフケア含む)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海外の利益ある成長 = 合弁マージンの抜本見直し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HH事業の構造改革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会議体は増やさず、削る。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38828" y="1417320"/>
            <a:ext cx="3511296" cy="4800600"/>
          </a:xfrm>
          <a:prstGeom prst="roundRect">
            <a:avLst>
              <a:gd name="adj" fmla="val 2083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3148" y="1691640"/>
            <a:ext cx="566928" cy="56692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11" y="1827703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3148" y="242316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使い方を変える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613148" y="2926080"/>
            <a:ext cx="29626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「助言の消費」から「実行完遂への伴走」へ。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アジェンダ設定権は当社にある(契約第2条-1-1)。当社が定義した課題にJACの知見を当てる構図を徹底。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課題に沿わない持込み案件は入口ゲートで絞る。否決案件の再提示は規律違反として扱う。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29016" y="1417320"/>
            <a:ext cx="3511296" cy="4800600"/>
          </a:xfrm>
          <a:prstGeom prst="roundRect">
            <a:avLst>
              <a:gd name="adj" fmla="val 2083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03336" y="1691640"/>
            <a:ext cx="566928" cy="56692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399" y="182770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03336" y="242316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資本配分を議題に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8403336" y="2926080"/>
            <a:ext cx="29626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売却・撤退・ROIC規律・キャッシュアロケーションが、2年間俎上に上がっていない。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「マージン一本足」では13xに届かない。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事業ポートフォリオの新陳代謝こそ、ファンドの知見が最も活きる領域。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 2|自社内で変えるべきこと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JAC以前に、当社自身の4つの宿題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 | フリーディスカッション討議メモ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26464"/>
            <a:ext cx="512064" cy="512064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549359"/>
            <a:ext cx="266273" cy="266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71600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責任・権限の設計 — 分科会4中止の真因への手当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737360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中止理由はJACではなく当社の組織要因。OHC成長戦略に「名前のあるオーナー・専任リソース・予算」を付けて再起動し、8月取締役会には再起動の体制図まで持ち込む。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325880" y="2532888"/>
            <a:ext cx="10314432" cy="0"/>
          </a:xfrm>
          <a:prstGeom prst="line">
            <a:avLst/>
          </a:prstGeom>
          <a:noFill/>
          <a:ln w="9525">
            <a:solidFill>
              <a:srgbClr val="D8E2D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670048"/>
            <a:ext cx="512064" cy="512064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792943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2615184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「17% vs 組織風土」のトレードオフを、取締役会の意思決定として決める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25880" y="2980944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厳しい施策を実行してでも17%を達成するのか — これは執行側では解けない経営意思の問題。未整理のまま置くこと自体が、目標のコミットメント性を内外に対して毀損している。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325880" y="3776472"/>
            <a:ext cx="10314432" cy="0"/>
          </a:xfrm>
          <a:prstGeom prst="line">
            <a:avLst/>
          </a:prstGeom>
          <a:noFill/>
          <a:ln w="9525">
            <a:solidFill>
              <a:srgbClr val="D8E2D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3913632"/>
            <a:ext cx="512064" cy="512064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4036527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858768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27年偏重の是正 — 「27年の先」の仕込みにオーナーを置く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25880" y="4224528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30年20%・次世代ヘルスケアの絵は27年の延長線では描けない。長期成長の仕込み(R&amp;D・新規事業・M&amp;A基準)に、27年執行と分離した議論体と予算枠を確保する。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1325880" y="5020056"/>
            <a:ext cx="10314432" cy="0"/>
          </a:xfrm>
          <a:prstGeom prst="line">
            <a:avLst/>
          </a:prstGeom>
          <a:noFill/>
          <a:ln w="9525">
            <a:solidFill>
              <a:srgbClr val="D8E2D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5157216"/>
            <a:ext cx="512064" cy="512064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5280111"/>
            <a:ext cx="266273" cy="26627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25880" y="5102352"/>
            <a:ext cx="10314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検証の第三者性 — 自己検証の構造バイアスに手当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325880" y="5468112"/>
            <a:ext cx="1031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推進部門(経営企画部)の自己検証はバランス型に寄りやすい。社外取締役の独立評価軸(株価・TSR・当初提案との乖離)を併記し、自己評価とのズレ自体を議論材料にする。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 3|JACと合意すべきこと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「良好な関係」ではなく「検証可能な合意」を残す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 | フリーディスカッション討議メモ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655064"/>
            <a:ext cx="475488" cy="47548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789" y="1769181"/>
            <a:ext cx="247254" cy="24725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91640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マイルストーンと関係見直し基準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2286000"/>
            <a:ext cx="48966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27年末17%への中間KPIを合意し、達成/未達それぞれの「継続・縮小・終了」基準を事前に文書化。エグジット・プロトコル(第3条の運用・市場コミュニケーション)も先に準備する。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31636" y="141732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87668" y="1655064"/>
            <a:ext cx="475488" cy="47548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785" y="1769181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00316" y="1691640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エンゲージメント規律の再合意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87668" y="2286000"/>
            <a:ext cx="48966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情報管理(総会前のJAC2号ファンド記事等)、キーパーソンの継続性、否決案件の再提示ルール。これらは細目ではなく、第1条-2「誠実履行」の実効性テストである。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" y="4261104"/>
            <a:ext cx="475488" cy="47548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789" y="4375221"/>
            <a:ext cx="247254" cy="2472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4297680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費用のゲートキーピング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04672" y="4892040"/>
            <a:ext cx="48966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第6条上、JAC紹介の外部アドバイザー費用は当社負担。協働関連の外部費用総額とEBITDA寄与の対応関係を年次で可視化し、費用対効果を両社の共通言語にする。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31636" y="4023360"/>
            <a:ext cx="5408676" cy="2331720"/>
          </a:xfrm>
          <a:prstGeom prst="roundRect">
            <a:avLst>
              <a:gd name="adj" fmla="val 3137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87668" y="4261104"/>
            <a:ext cx="475488" cy="47548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785" y="4375221"/>
            <a:ext cx="247254" cy="24725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00316" y="4297680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「あるべき株価」の共同ブリッジ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87668" y="4892040"/>
            <a:ext cx="48966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2,600円との差分の要因分解を両社共同で作成し、そのままIRストーリーの背骨にする。資本市場出身者を擁するJACに最も期待すべきアウトプット。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論点 4|変えなくてもいいこと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維持すべきは「規律のインフラ」— ただし内製化を条件に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JACとの協働取組 検証 | フリーディスカッション討議メモ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1524"/>
            </a:avLst>
          </a:prstGeom>
          <a:solidFill>
            <a:srgbClr val="EDF5F1"/>
          </a:solidFill>
          <a:ln w="9525">
            <a:solidFill>
              <a:srgbClr val="D8E2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530352" cy="530352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244" y="181892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7556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32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維持・強化する「規律のインフラ」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46888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月2サイクルの月次業績管理・見通し速報の短サイクル化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BU制による権限委譲と意思決定スピード(中東情勢への機動対応で実証済み)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決算・中計開示前にJACフィードバックを織り込むIRプロセス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トップダウン目標(17%)による「あるべき姿」からの逆算文化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417320"/>
            <a:ext cx="542239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5875">
            <a:solidFill>
              <a:srgbClr val="0095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664208"/>
            <a:ext cx="475488" cy="475488"/>
          </a:xfrm>
          <a:prstGeom prst="ellipse">
            <a:avLst/>
          </a:prstGeom>
          <a:solidFill>
            <a:srgbClr val="00956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357" y="1778325"/>
            <a:ext cx="247254" cy="24725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719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95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維持の条件は「内製化」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92240" y="224028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JACがいるから回る仕組み」のままでは成果と呼べない。26年度中に運用を完全内製化(人材・マニュアル・システムへの定着)。パートナーシップの真の成否は、エグジット後に当社に残るケイパビリティで測られる。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3950208"/>
            <a:ext cx="5422392" cy="2267712"/>
          </a:xfrm>
          <a:prstGeom prst="roundRect">
            <a:avLst>
              <a:gd name="adj" fmla="val 3226"/>
            </a:avLst>
          </a:prstGeom>
          <a:solidFill>
            <a:srgbClr val="FBF2DD"/>
          </a:solidFill>
          <a:ln w="12700">
            <a:solidFill>
              <a:srgbClr val="A879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92240" y="4197096"/>
            <a:ext cx="475488" cy="475488"/>
          </a:xfrm>
          <a:prstGeom prst="ellipse">
            <a:avLst/>
          </a:prstGeom>
          <a:solidFill>
            <a:srgbClr val="A879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357" y="4311213"/>
            <a:ext cx="247254" cy="2472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4251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879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「廃止リスト」をセットで提示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92240" y="4773168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E6E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会議体増・報告負担増(P19)に疲弊する実行部門への最重要メッセージは「何を続け、何をやめるか」。維持リストと同時に、報告・会議の廃止リストを必ず提示する — 取組の形骸化(リスク1)への最も効果的な打ち手。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5C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4937760" cy="4937760"/>
          </a:xfrm>
          <a:prstGeom prst="ellipse">
            <a:avLst/>
          </a:prstGeom>
          <a:solidFill>
            <a:srgbClr val="00956D">
              <a:alpha val="2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D6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結び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8月取締役会に「決めてもらう」4点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08676" cy="1627632"/>
          </a:xfrm>
          <a:prstGeom prst="roundRect">
            <a:avLst>
              <a:gd name="adj" fmla="val 4494"/>
            </a:avLst>
          </a:prstGeom>
          <a:solidFill>
            <a:srgbClr val="116B53"/>
          </a:solidFill>
          <a:ln w="9525">
            <a:solidFill>
              <a:srgbClr val="2E8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8196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C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837944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OHC成長戦略の再起動(最優先)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2313432"/>
            <a:ext cx="43113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DE9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オーナー・体制・予算を明記した再起動計画。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31636" y="1600200"/>
            <a:ext cx="5408676" cy="1627632"/>
          </a:xfrm>
          <a:prstGeom prst="roundRect">
            <a:avLst>
              <a:gd name="adj" fmla="val 4494"/>
            </a:avLst>
          </a:prstGeom>
          <a:solidFill>
            <a:srgbClr val="116B53"/>
          </a:solidFill>
          <a:ln w="9525">
            <a:solidFill>
              <a:srgbClr val="2E8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87668" y="18196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87668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C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00316" y="1837944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トレードオフに関する経営の意思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100316" y="2313432"/>
            <a:ext cx="43113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DE9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17%達成と組織風土の境界線を、取締役会の決定事項として言語化。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5408676" cy="1627632"/>
          </a:xfrm>
          <a:prstGeom prst="roundRect">
            <a:avLst>
              <a:gd name="adj" fmla="val 4494"/>
            </a:avLst>
          </a:prstGeom>
          <a:solidFill>
            <a:srgbClr val="116B53"/>
          </a:solidFill>
          <a:ln w="9525">
            <a:solidFill>
              <a:srgbClr val="2E8A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C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721608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JACとの再合意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4197096"/>
            <a:ext cx="43113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DE9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マイルストーン・関係見直し基準・エグジットプロトコルの事前文書化。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31636" y="3483864"/>
            <a:ext cx="5408676" cy="1627632"/>
          </a:xfrm>
          <a:prstGeom prst="roundRect">
            <a:avLst>
              <a:gd name="adj" fmla="val 4494"/>
            </a:avLst>
          </a:prstGeom>
          <a:solidFill>
            <a:srgbClr val="116B53"/>
          </a:solidFill>
          <a:ln w="9525">
            <a:solidFill>
              <a:srgbClr val="2E8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7668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8766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5C4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00316" y="3721608"/>
            <a:ext cx="43113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内製化計画 + 廃止リスト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100316" y="4197096"/>
            <a:ext cx="43113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DE9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維持する仕組みの定着計画と、やめる報告・会議の明示。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DCEF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成果物は「バランスの取れた総括」ではなく「責任者・タイムライン・ゴールを持つ改善アクション」(資料P2)。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2nd STAGEの残期間は1年半未満 — 検証のための検証を繰り返す時間はもうない。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2026-07-24T13:27:58Z</dcterms:created>
  <dcterms:modified xsi:type="dcterms:W3CDTF">2026-07-24T13:27:58Z</dcterms:modified>
</cp:coreProperties>
</file>