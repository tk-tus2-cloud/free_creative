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CONFIDENTIAL — 社外秘・評価者限り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148840"/>
            <a:ext cx="11155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要求定義支援コンサルティングファーム</a:t>
            </a:r>
            <a:endParaRPr lang="en-US" sz="3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提案評価・採点表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39776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SSBJ対応に向けた戦略・システム基盤の並行構築プロジェクト｜提案依頼書 V1.0 に基づく選定評価基準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4709160"/>
            <a:ext cx="4754880" cy="0"/>
          </a:xfrm>
          <a:prstGeom prst="line">
            <a:avLst/>
          </a:prstGeom>
          <a:noFill/>
          <a:ln w="19050">
            <a:solidFill>
              <a:srgbClr val="3A4A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92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2026年7月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SSBJ対応プロジェクト事務局（PM/PMO）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1722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本資料はコンペ評価者（プロジェクトオーナー・推進責任者・PM/PMO 等）向けの採点基準書です。提案ファームへの開示は禁止します。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評価の設計思想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何を見極めるための採点表か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本プロジェクトの成否は「戦略とシステムの両輪駆動」を差配できる実戦力にかかる。価格ではなく実現性・再現性で選定する設計とする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3575304" cy="3017520"/>
          </a:xfrm>
          <a:prstGeom prst="roundRect">
            <a:avLst>
              <a:gd name="adj" fmla="val 2424"/>
            </a:avLst>
          </a:prstGeom>
          <a:solidFill>
            <a:srgbClr val="EEF3FB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17373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73736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682496"/>
            <a:ext cx="261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「両輪駆動」を差配できる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実戦力を最重視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2624328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アプローチ・実績・体制の3カテゴリに配点の7割（70点）を配分。「戦略未確定のままシステム要件を固める」特殊前提を捌いた経験と方法論を、価格に優先して評価する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06824" y="1481328"/>
            <a:ext cx="3575304" cy="3017520"/>
          </a:xfrm>
          <a:prstGeom prst="roundRect">
            <a:avLst>
              <a:gd name="adj" fmla="val 2424"/>
            </a:avLst>
          </a:prstGeom>
          <a:solidFill>
            <a:srgbClr val="EEF3FB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62856" y="17373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471416" y="173736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84064" y="1682496"/>
            <a:ext cx="261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「守り」と「攻め」を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等価に採点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81144" y="2624328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インプット極小化とガバナンス確立（守り）、非財務の財務化・PBR向上（攻め）を同配点で採点。開示対応（守り）だけに強いファームが高得点にならない構造とする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10728" y="1481328"/>
            <a:ext cx="3575304" cy="3017520"/>
          </a:xfrm>
          <a:prstGeom prst="roundRect">
            <a:avLst>
              <a:gd name="adj" fmla="val 2424"/>
            </a:avLst>
          </a:prstGeom>
          <a:solidFill>
            <a:srgbClr val="EEF3FB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7373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173736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87968" y="1682496"/>
            <a:ext cx="261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営業トークを排除する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採点の仕組み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85048" y="2624328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5段階アンカー基準・「実名/事例/数値」の裏付け要求・足切りゲート・コンペ必須質問をセットで運用し、提案書の見栄えやデモの印象ではなく再現性を採点する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配点構成（100点満点）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4983480"/>
            <a:ext cx="3354934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983480"/>
            <a:ext cx="33549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30点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5605272"/>
            <a:ext cx="36292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アプローチ・方法論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57854" y="4983480"/>
            <a:ext cx="2236622" cy="566928"/>
          </a:xfrm>
          <a:prstGeom prst="rect">
            <a:avLst/>
          </a:prstGeom>
          <a:solidFill>
            <a:srgbClr val="3A4A9F"/>
          </a:solidFill>
          <a:ln/>
        </p:spPr>
      </p:sp>
      <p:sp>
        <p:nvSpPr>
          <p:cNvPr id="25" name="Text 23"/>
          <p:cNvSpPr/>
          <p:nvPr/>
        </p:nvSpPr>
        <p:spPr>
          <a:xfrm>
            <a:off x="3857854" y="4983480"/>
            <a:ext cx="22366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20点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20694" y="5605272"/>
            <a:ext cx="25109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実績・知見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94476" y="4983480"/>
            <a:ext cx="2236622" cy="566928"/>
          </a:xfrm>
          <a:prstGeom prst="rect">
            <a:avLst/>
          </a:prstGeom>
          <a:solidFill>
            <a:srgbClr val="5B6BC0"/>
          </a:solidFill>
          <a:ln/>
        </p:spPr>
      </p:sp>
      <p:sp>
        <p:nvSpPr>
          <p:cNvPr id="28" name="Text 26"/>
          <p:cNvSpPr/>
          <p:nvPr/>
        </p:nvSpPr>
        <p:spPr>
          <a:xfrm>
            <a:off x="6094476" y="4983480"/>
            <a:ext cx="22366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20点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57316" y="5605272"/>
            <a:ext cx="25109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体制・人材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331098" y="4983480"/>
            <a:ext cx="1677467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1" name="Text 29"/>
          <p:cNvSpPr/>
          <p:nvPr/>
        </p:nvSpPr>
        <p:spPr>
          <a:xfrm>
            <a:off x="8331098" y="4983480"/>
            <a:ext cx="16774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15点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93938" y="5605272"/>
            <a:ext cx="19517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見積・コスト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0008565" y="4983480"/>
            <a:ext cx="1118311" cy="566928"/>
          </a:xfrm>
          <a:prstGeom prst="rect">
            <a:avLst/>
          </a:prstGeom>
          <a:solidFill>
            <a:srgbClr val="7FA8D9"/>
          </a:solidFill>
          <a:ln/>
        </p:spPr>
      </p:sp>
      <p:sp>
        <p:nvSpPr>
          <p:cNvPr id="34" name="Text 32"/>
          <p:cNvSpPr/>
          <p:nvPr/>
        </p:nvSpPr>
        <p:spPr>
          <a:xfrm>
            <a:off x="10008565" y="4983480"/>
            <a:ext cx="11183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10点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871405" y="5605272"/>
            <a:ext cx="13926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課題理解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1126876" y="4983480"/>
            <a:ext cx="559156" cy="566928"/>
          </a:xfrm>
          <a:prstGeom prst="rect">
            <a:avLst/>
          </a:prstGeom>
          <a:solidFill>
            <a:srgbClr val="9AA5B1"/>
          </a:solidFill>
          <a:ln/>
        </p:spPr>
      </p:sp>
      <p:sp>
        <p:nvSpPr>
          <p:cNvPr id="37" name="Text 35"/>
          <p:cNvSpPr/>
          <p:nvPr/>
        </p:nvSpPr>
        <p:spPr>
          <a:xfrm>
            <a:off x="11126876" y="4983480"/>
            <a:ext cx="5591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5点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989716" y="5605272"/>
            <a:ext cx="833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契約・信頼性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02920" y="65105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SSBJ対応プロジェクト｜要求定義支援ファーム 提案評価・採点表（社外秘）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選定プロセスと評価体制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いつ・誰が・どう採点するか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書面一次評価とコンペ（最大90分）の二段階で採点し、質疑結果を反映した最終採点のみを集計する。9/7キックオフから逆算した日程を厳守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2104949" cy="1691640"/>
          </a:xfrm>
          <a:prstGeom prst="roundRect">
            <a:avLst>
              <a:gd name="adj" fmla="val 3243"/>
            </a:avLst>
          </a:prstGeom>
          <a:solidFill>
            <a:srgbClr val="EEF3FB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618488"/>
            <a:ext cx="18854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提案書・見積書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受領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12648" y="2203704"/>
            <a:ext cx="18854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8/17（月）〜 8/21（金）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12648" y="2496312"/>
            <a:ext cx="18854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受領後直ちに足切り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ゲート判定を実施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72461" y="1508760"/>
            <a:ext cx="2104949" cy="1691640"/>
          </a:xfrm>
          <a:prstGeom prst="roundRect">
            <a:avLst>
              <a:gd name="adj" fmla="val 3243"/>
            </a:avLst>
          </a:prstGeom>
          <a:solidFill>
            <a:srgbClr val="EEF3FB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2189" y="1618488"/>
            <a:ext cx="18854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一次評価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（書面採点）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882189" y="2203704"/>
            <a:ext cx="18854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8/21（金）〜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82189" y="2496312"/>
            <a:ext cx="18854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評価者が個別に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仮採点・質問事項を登録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42002" y="1508760"/>
            <a:ext cx="2104949" cy="1691640"/>
          </a:xfrm>
          <a:prstGeom prst="roundRect">
            <a:avLst>
              <a:gd name="adj" fmla="val 3243"/>
            </a:avLst>
          </a:prstGeom>
          <a:solidFill>
            <a:srgbClr val="EEF3FB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51730" y="1618488"/>
            <a:ext cx="18854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コンペ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（最大90分）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151730" y="2203704"/>
            <a:ext cx="18854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8/21（金）〜 9/4（金）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51730" y="2496312"/>
            <a:ext cx="18854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必須質問（p.9）を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全ファームに同一条件で実施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311542" y="1508760"/>
            <a:ext cx="2104949" cy="1691640"/>
          </a:xfrm>
          <a:prstGeom prst="roundRect">
            <a:avLst>
              <a:gd name="adj" fmla="val 3243"/>
            </a:avLst>
          </a:prstGeom>
          <a:solidFill>
            <a:srgbClr val="1E2761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21270" y="1618488"/>
            <a:ext cx="18854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最終採点・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選考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21270" y="2203704"/>
            <a:ext cx="18854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〜 9/4（金）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21270" y="2496312"/>
            <a:ext cx="18854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質疑を踏まえ採点を確定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事務局集計・選考結果通知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581083" y="1508760"/>
            <a:ext cx="2104949" cy="1691640"/>
          </a:xfrm>
          <a:prstGeom prst="roundRect">
            <a:avLst>
              <a:gd name="adj" fmla="val 3243"/>
            </a:avLst>
          </a:prstGeom>
          <a:solidFill>
            <a:srgbClr val="EEF3FB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0811" y="1618488"/>
            <a:ext cx="18854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キックオフ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90811" y="2203704"/>
            <a:ext cx="18854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9/7（月）KO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90811" y="2496312"/>
            <a:ext cx="18854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契約遅延時はLOI発行で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9月着手を担保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3520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評価体制と各評価者の重点視点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840480"/>
          <a:ext cx="1118311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286000"/>
                <a:gridCol w="5788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評価者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役割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採点時の重点視点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プロジェクトオーナー（執行役員）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最終意思決定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投資対効果、経営アジェンダ（PBR向上・アクティビスト対抗）への貢献度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推進責任者（ESG推進室長）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要件定義の中身の保証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SSBJ基準解釈・Scope 3算定・開示戦略に関する専門性の深さ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PM/PMOリーダー（経企/デジ戦）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全体進行・品質統制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3ヶ月スコープの実現性、アジャイル型要件定義の方法論、差配力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経理部代表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法定開示・監査要件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有報同期・第三者保証・内部統制要件への知見と監査法人対応実績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デジタル戦略部代表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システム要件・ベンダー選定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システムRFP作成力、API連携・拡張性の技術的知見、ベンダー中立性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502920" y="6108192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運用ルール：全評価者が全カテゴリを採点し単純平均で集計する（役割別の重み付けは行わない）。上記「重点視点」は担当領域の質疑を深掘りする分担を示す。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02920" y="65105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SSBJ対応プロジェクト｜要求定義支援ファーム 提案評価・採点表（社外秘）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評価フレームワーク全体像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6カテゴリ100点＋足切りゲート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採点は6カテゴリ・100点満点の加点方式。ただし足切りゲートに1つでも該当するファームは、得点にかかわらず選考対象外とする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18311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777240"/>
                <a:gridCol w="7571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カテゴリ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配点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評価の狙い（なぜこの配点か）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 課題理解・前提の的確性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両輪駆動・手戻り許容という特殊前提と、当社固有の問題（5つの難所）を正しく捉えているか。理解は前提条件であり配点は抑制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 アプローチ・方法論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RFPの中心要求。アジャイル型要件定義、守り（統制・証跡）と攻め（財務化・CFP）の設計力を最大配点で評価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 実績・知見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「実戦経験豊かなファーム」の要求に対応。SSBJ/保証対応・ESG基盤構築の実績と、5つの難所の落とし穴回避知見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 体制・人材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コンサルの品質は投入される個人に依存する。実名メンバーの経歴・稼働率・継続性と、当社WG体制との適合を評価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⑤ 見積・コスト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総額の安さではなく、工数の透明性と追加費用条件の明確さを重視（「概算が跳ね上がる」失敗の予防）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⑥ 契約条件・企業信頼性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NDA/業務委託契約・LOIへの対応柔軟性、情報管理体制。差がつきにくいため最小配点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526280"/>
            <a:ext cx="11183112" cy="1783080"/>
          </a:xfrm>
          <a:prstGeom prst="roundRect">
            <a:avLst>
              <a:gd name="adj" fmla="val 3077"/>
            </a:avLst>
          </a:prstGeom>
          <a:solidFill>
            <a:srgbClr val="FBECEA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654296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3A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足切りゲート（1つでも該当した場合、総得点にかかわらず選考対象外）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5001768"/>
            <a:ext cx="10634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G1  スケジュール不適合：9月上旬キックオフ〜11月末の3ヶ月で「システムRFP一式の発行完了」までをコミットできない</a:t>
            </a:r>
            <a:endParaRPr lang="en-US" sz="100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G2  ベンダー中立性の欠如：特定SaaSベンダーとの資本・販売代理・紹介料関係を開示しない、または利益相反を排除する誓約ができない</a:t>
            </a:r>
            <a:endParaRPr lang="en-US" sz="100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G3  スコープの重大欠落：RFP記載の成果物10点（出口設計書〜システムRFP一式）のうち中核成果物が提案範囲に含まれない</a:t>
            </a:r>
            <a:endParaRPr lang="en-US" sz="100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G4  提案の重大不備：実名の体制図・見積内訳の不提示、提案書必須項目の欠落、質疑への回答拒否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65105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SSBJ対応プロジェクト｜要求定義支援ファーム 提案評価・採点表（社外秘）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採点表（1/3）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課題理解・前提の的確性（10点）／② アプローチ・方法論（30点）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各項目は5段階（p.8のアンカー基準）で素点評価し、「配点 × 素点/5」で得点化する。裏付け（実名・事例・数値）のない主張は素点3を超えない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36192"/>
          <a:ext cx="1118311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651760"/>
                <a:gridCol w="7205472"/>
                <a:gridCol w="777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No.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評価項目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評価の着眼点（何をもって高評価とするか）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配点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 課題理解・前提の的確性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9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9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1-1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特殊前提（両輪駆動）の理解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「戦略確定を待たずにシステム要件定義を進める」前提と手戻りリスクの許容を正しく理解し、提案全体に反映しているか（一般的なウォーターフォール前提の提案は減点）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1-2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当社固有の問題意識の理解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Excelバケツリレー・監査トレース断絶・属人化・グローバル統制不全という当社の構造的ボトルネックと「5つの難所」を自社の言葉で再構成できているか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1-3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時間制約への逆算思考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2029年開示→2028年本番データ集計→2027年中システム導入完遂という逆算ロジックを踏まえ、11月末までに何を確定させるべきかを特定できているか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 アプローチ・方法論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2-1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アジャイル型要件定義の方法論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戦略変更に耐えるマスタ設計・算定ロジックの進め方（変えない骨格／変わり得る部分の切り分け）、Fit &amp; Gapの具体的手順が方法論として提示されているか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2-2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守りの設計力（統制・証跡・自動化）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証憑紐付けルール・多段階承認（現場〜役員）・変更履歴の自動保全を機能要件へ落とし込む道筋と、API/AI OCRによる手作業根絶のプロセス設計が具体的か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2-3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攻めの設計力（非財務の財務化）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Scope 3一次データ化への移行設計、CFP即応体制、AI将来予測・炭素税シミュレーション等をPBR向上・受注拡大に接続するストーリーが定量的か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2-4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3ヶ月スコープの実現性と成果物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9〜11月のWBSが海外拠点ヒアリング統合等の依存関係まで織り込まれ、成果物10点（出口設計書〜システムRFP一式）の品質イメージ（サンプル）が示されているか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5105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SSBJ対応プロジェクト｜要求定義支援ファーム 提案評価・採点表（社外秘）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採点表（2/3）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実績・知見（20点）／④ 体制・人材（20点）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実績は「社名・時期・自社の役割・定量成果」の4点セットで確認する。体制は組織のブランドではなく、実際に投入される個人の経験で採点する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36192"/>
          <a:ext cx="1118311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651760"/>
                <a:gridCol w="7205472"/>
                <a:gridCol w="7772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No.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評価項目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評価の着眼点（何をもって高評価とするか）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配点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 実績・知見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9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9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3-1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SSBJ/ISSB・第三者保証の制度知見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SSBJ基準（2026年3月改正案含む）の解釈力、有報同時開示・保証業務への対応実績。監査法人と協働した経験が具体的に語れるか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3-2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非財務データ基盤構築の実績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ESG/非財務プラットフォームの要求定義〜システムRFP作成〜ベンダー選定を主導した類似案件の実績（件数・規模・成果）。主要SaaSの機能・限界への知見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3-3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「5つの難所」の落とし穴回避知見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ルール策定・データ収集・ロジック実装・内部統制・可視化活用の各難所について、他社での失敗事例と回避策を自らの経験として提示できるか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3-4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グローバル・製造業/消費財の経験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海外拠点（多言語・多通貨・現地係数）を含むデータ収集統制の経験、消費財/製造業のバリューチェーン（BOM・CFP）への理解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 体制・人材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9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9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4-1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投入メンバーの専門性（実名）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PM/PMO補佐・各領域担当が実名・経歴付きで提示され、類似プロジェクトの実経験を持つか（コンペには従事予定者本人の出席を必須とする）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4-2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差配力と当社体制との適合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当社のWG体制（ESG・国内・海外・経理・システム）とサス協議会/進捗報告会の運営に入り込み、部門間調整のハブを担える体制設計か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4-3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稼働率・継続性の担保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主要メンバーの稼働率（%）の明示、期間中の交代禁止または交代時の品質担保条件、繁忙期（他案件）との重複リスクの開示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4-4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ベンダー中立性・独立性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システムRFP発行を主導する立場として、特定SaaSベンダーとの利害関係の開示と中立性確保策（評価プロセスの透明化）が示されているか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5105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SSBJ対応プロジェクト｜要求定義支援ファーム 提案評価・採点表（社外秘）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採点表（3/3）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見積・コスト（15点）／⑥ 契約条件・企業信頼性（5点）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「安さ」は加点しない。工数・単価の透明性と追加費用条件の明確さを評価し、後出しコスト増（RFPが警告する典型的失敗）を予防する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36192"/>
          <a:ext cx="1118311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651760"/>
                <a:gridCol w="7205472"/>
                <a:gridCol w="777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No.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評価項目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評価の着眼点（何をもって高評価とするか）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配点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⑤ 見積・コスト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5-1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見積総額の妥当性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3ヶ月スコープ・成果物10点に対する総額が市場相場・投入体制と整合しているか（極端な安値は体制の実態を質疑で必ず確認し、ダンピングは減点対象）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5-2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工数・単価の透明性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ランク別単価×人数×稼働率×期間の内訳が開示され、タスク（WBS）と工数の対応が検証可能か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5-3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追加費用条件・変更管理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手戻り発生時（戦略方針の変更等）の扱い、スコープ変更時の change control 手続きと単価が事前に明文化されているか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5-4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費用対効果の説明力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支援によって当社が回避できるコスト（監査工数・手戻り・ベンダー選定失敗）と投資額の関係を説明できるか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⑥ 契約条件・企業信頼性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9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9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6-1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契約への対応柔軟性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NDA/業務委託契約の当社雛形への対応、契約遅延時のLOI（発注意向表明書）による9月着手への協力姿勢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6-2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情報管理・企業としての信頼性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秘密情報・インサイダー情報の管理体制（認証取得状況）、財務健全性、反社・コンプライアンス上の懸念がないこと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98932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補足：見積比較は「総額」ではなく「成果物1点あたり・工数1人月あたり」の単位で正規化して比較する。見積前提（当社側の役割分担・提供物）の差異は事務局が質疑で揃える。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65105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SSBJ対応プロジェクト｜要求定義支援ファーム 提案評価・採点表（社外秘）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 採点基準と集計ルール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評価者間のブレを抑える5段階アンカーと集計方法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全項目共通の5段階アンカーで素点を付し、機械的に得点換算する。評価者間で素点が2以上乖離した項目は集計前に協議し、事実誤認のみ修正する（心証のすり合わせはしない）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36192"/>
          <a:ext cx="69494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737360"/>
                <a:gridCol w="45720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素点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水準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判定基準（全項目共通）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期待を大きく上回る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当社の想定を超える独自の知見・具体策があり、実名・事例・数値による裏付けが完全。そのまま実行計画に使える水準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期待を上回る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要求を満たし、裏付け（類似案件の実例・担当者の実経験・定量データ）が具体的。懸念事項への先回りがある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期待どおり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要求は満たすが内容が一般論・教科書的で、当社固有の文脈への適用が浅い。裏付けのない主張はこの水準を上限とする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03A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やや不足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要求の一部に不明確・未回答があり、質疑でも解消されない。実現性に疑問符が付く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03A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不足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要求を満たさない、根拠なく実現を約束する、または実現性に重大な疑義がある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536192"/>
            <a:ext cx="3959352" cy="4206240"/>
          </a:xfrm>
          <a:prstGeom prst="roundRect">
            <a:avLst>
              <a:gd name="adj" fmla="val 1386"/>
            </a:avLst>
          </a:prstGeom>
          <a:solidFill>
            <a:srgbClr val="EEF3FB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5280" y="1700784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集計・選定ルール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955280" y="2057400"/>
            <a:ext cx="350215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得点換算</a:t>
            </a:r>
            <a:endParaRPr lang="en-US" sz="1000" dirty="0"/>
          </a:p>
          <a:p>
            <a:pPr indent="0" marL="0">
              <a:lnSpc>
                <a:spcPts val="145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項目得点 ＝ 配点 ×（素点 ÷ 5）。評価者ごとに100点満点で算出し、全評価者の単純平均を最終得点とする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採点の更新</a:t>
            </a:r>
            <a:endParaRPr lang="en-US" sz="1000" dirty="0"/>
          </a:p>
          <a:p>
            <a:pPr indent="0" marL="0">
              <a:lnSpc>
                <a:spcPts val="145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一次評価（書面）は仮採点。コンペでの質疑結果を反映して確定し、確定採点のみ集計する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同点時の優先順位</a:t>
            </a:r>
            <a:endParaRPr lang="en-US" sz="1000" dirty="0"/>
          </a:p>
          <a:p>
            <a:pPr indent="0" marL="0">
              <a:lnSpc>
                <a:spcPts val="145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②アプローチ → ④体制 → ③実績 の得点が高いファームを優先（価格では決めない）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最終決定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得点順位を基本としつつ、最終決定はプロジェクトオーナーが行う。順位と異なる決定をする場合は理由を記録に残す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598932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目安：合計70点以上＝委託可能水準／60点未満＝両輪駆動の差配は困難と判断。全ファームが60点未満の場合は選定を見送り、スコープ分割・再公募を検討する。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2920" y="65105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SSBJ対応プロジェクト｜要求定義支援ファーム 提案評価・採点表（社外秘）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6. コンペ（最大90分）の運営と必須質問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営業トークを見破るための共通質問セット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以下7問は全ファームに同一条件で必ず質問する。回答の「具体性（実名・事例・数値）」を該当カテゴリの採点に直接反映する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推奨タイムテーブル：提案説明 45分 ／ 必須質問・質疑 40分 ／ 事務連絡 5分（説明が45分を超過した場合も質疑時間は削らない）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18311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594360"/>
                <a:gridCol w="6583680"/>
                <a:gridCol w="3502152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No.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対象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必須質問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見るポイント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Q1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戦略方針が12月以降に変わった場合、マスタ設計・算定ロジックの「何を変えず、何を作り直すのか」。手戻りを最小化する設計手順をホワイトボードで説明してください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両輪駆動の方法論が本物か。抽象論に逃げず構造で答えられるか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②③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第三者保証に耐える証憑紐付けルールを、他社で実際にどう定義しましたか。監査法人から受けた指摘と対応を教えてください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守りの設計の実戦経験。監査法人との協働の生々しさ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Q3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非財務データを資本コスト低減・受注拡大に接続できた事例を、定量成果（金額・シェア・評価の変化）付きで1つ挙げてください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「攻め」が飾りでないか。財務化ストーリーの実績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「5つの難所」のうち、貴社が過去に最も失敗した難所はどこですか。その失敗と、本件での回避策を教えてください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成功談ではなく失敗を語れるか＝実戦経験の真正性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本日出席のメンバーのうち、実際に本件へ従事する方と稼働率を明示してください。期間中の交代が生じる場合の品質担保条件は何ですか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エース営業と実働部隊のすり替え防止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Q6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ESG系SaaSベンダーとの資本・販売・紹介料関係の有無を開示してください。ベンダー選定の中立性をどう担保しますか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システムRFP発行を任せられる独立性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Q7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⑤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この見積で追加費用が発生し得る条件をすべて列挙してください。「手戻りリスク込みで進める」前提は見積のどこに織り込まれていますか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後出しコスト増の予防。変更管理の設計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5105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SSBJ対応プロジェクト｜要求定義支援ファーム 提案評価・採点表（社外秘）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7. 採点シート（記入フォーマット）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評価者別 採点集計イメージ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評価者はコンペ終了後24時間以内に本シート（Excel版を事務局が配布）へ記入し提出する。コメント欄には素点4以上・2以下の理由を必ず記載する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8311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731520"/>
                <a:gridCol w="1234440"/>
                <a:gridCol w="1234440"/>
                <a:gridCol w="1234440"/>
                <a:gridCol w="409651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カテゴリ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配点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A社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素点/得点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B社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素点/得点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C社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素点/得点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コメント（高評価・懸念の理由）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 課題理解・前提の的確性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 アプローチ・方法論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 実績・知見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 体制・人材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⑤ 見積・コスト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⑥ 契約条件・企業信頼性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合計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／100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／100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／100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足切りゲート該当の有無を必ず確認（該当時は理由を記載）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48640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E8F2E9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596128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運用メモ：</a:t>
            </a:r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①記入は小項目単位（p.5〜7の19項目）で行い、本シートはカテゴリ小計の集計面とする　②評価者間で素点乖離2以上の項目は事務局が協議を設定　③記入済みシートは選定記録として、選考結果通知後もプロジェクト完了まで事務局が保管する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02920" y="65105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SSBJ対応プロジェクト｜要求定義支援ファーム 提案評価・採点表（社外秘）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2026-07-21T13:41:41Z</dcterms:created>
  <dcterms:modified xsi:type="dcterms:W3CDTF">2026-07-21T13:41:41Z</dcterms:modified>
</cp:coreProperties>
</file>