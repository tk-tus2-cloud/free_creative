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経営報告KPI体系 ― 4つのゴールを4つの視点で測る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全KPIはPhase 0の実測でベースラインを確定し、LEBが毎月計測 → 四半期で経営報告。未達はSLAクレジット・是正計画をセットで報告（やりっぱなしにしない）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1127455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429000"/>
                <a:gridCol w="4416552"/>
                <a:gridCol w="1463040"/>
              </a:tblGrid>
              <a:tr h="3337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視点（ゴール）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KPI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ベースライン → 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頻度／性質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財務（G2）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TCO可視化率（社員工数・手戻り含む）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不明 → 100%（Phase 0完了時＝2026年10月）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財務（G2）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運用総コスト（TCO）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ベースライン（Phase 0確定）→ ▲10〜20%（FY29までの3年累計）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財務（G2）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変動費比率（従量・成果連動費の割合）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ほぼ0% → 契約更改ごとに段階上昇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品質・サービス（G3）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SLA遵守率（応答・復旧・報告期限）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SLAなし → 契約SLAを設定し遵守率99%以上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品質・サービス（G3）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平均復旧時間（MTTR）・重大障害件数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0で実測 → 毎年改善（目標値は契約時設定）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品質・サービス（G3）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ITサービス利用者満足度（全社員調査）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1で初回調査 → 毎年改善（従業員UXの実測）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品質・サービス（G3）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自動化率（定型作業のうち機械処理の割合）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ほぼ0% → 段階向上（AI/RPA適用の進捗を測る）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人材・組織（G4）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運用従事率（社員工数に占める運用の割合）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40%（実測で確定）→ 15%以下（3年）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人材・組織（G4）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企画業務への再配置FTE（削減はしない）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 → FY27：2FTE → FY29：12FTE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人材・組織（G4）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運用起因の時間外労働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0で実測 → 継続低減（毎月モニタリング）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リスク・ガバナンス（G1）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特定個人依存業務（引継ぎ試験パス率）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依存あり → ゼロ（パス率100%）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リスク・ガバナンス（G1）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手順書化率（未文書化業務の解消）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未把握 → 100%（IPは当社帰属）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E7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リスク・ガバナンス（G1）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IT統制関連の監査指摘件数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0で棚卸し → ゼロを維持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666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遅行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0350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006B2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60350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先行KPI（可視化率・自動化率・手順書化率・時間外労働）が動けば、遅行KPI（コスト・品質・従事率）は後からついてくる ― 経営報告は先行指標の進捗から確認する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投資対効果（ROI）― 3段で正直に示す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キャッシュのみの「ハードROI」、FTE再配置価値を含む「フルROI」、金額計上しない「リスク低減」を分けて報告 ― 盛らない構造が経営の信頼をつくる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2F4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ハードROI（キャッシュのみ）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335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＋1.1億円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4年累計の純効果（投資1.18億円 vs 委託費削減2.28億円）。回収はFY29 ― ベンダ試算・中国オフショア前提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288536" y="987552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E9F5EE"/>
          </a:solidFill>
          <a:ln/>
        </p:spPr>
      </p:sp>
      <p:sp>
        <p:nvSpPr>
          <p:cNvPr id="9" name="Text 7"/>
          <p:cNvSpPr/>
          <p:nvPr/>
        </p:nvSpPr>
        <p:spPr>
          <a:xfrm>
            <a:off x="4471416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フルROI（FTE再配置価値込み）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71416" y="1335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＋3.5億円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71416" y="1773936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4年累計。投資の約3倍。FY27末にほぼ回収 ― 社員2→12FTEの企画シフト価値（年1.4億円）を含む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119872" y="987552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BF1E9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リスク低減（参考・金額非計上）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02752" y="1335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定性報告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02752" y="1773936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障害11億円/日・休職1,200万円/件・属人喪失の期待損失を低減 ― ROIに算入せず参考情報として併記</a:t>
            </a:r>
            <a:endParaRPr lang="en-US" sz="83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7455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371600"/>
                <a:gridCol w="1371600"/>
                <a:gridCol w="137160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（億円・仮置き）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4年累計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移管投資（イニシャル）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▲0.25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▲0.64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▲0.29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▲1.18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委託費削減（対ベースライン3.7億円）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＋0.65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＋0.73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＋0.90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＋2.28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FTE再配置価値（2→6〜7→12FTE）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＋0.75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＋1.40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A2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＋2.40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純効果（単年 ②＋③－①）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C0562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▲0.25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＋0.26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＋1.19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＋2.30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006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＋3.50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590288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F2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590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前提と検証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017520" y="45902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数値はベンダ提示値（中国オフショア）＋当社仮置き（FTE単価1,200万円/年）。Phase 0のベースライン合意書で確定し、以後は実測で毎年報告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065776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F2F4F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0657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FY27予算制約への整合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017520" y="50657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FY27は投資0.64億円を含めても総支出は現行運用費用と同水準に収まる設計（Jカーブの谷を作らない）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541264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F2F4F3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5412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感度（下振れシナリオ）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017520" y="554126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九州ニアショア選択時は②が消失（委託費＋26%）→ リターンは③FTE価値が主軸。効果未達はGate 4（横展開判定）で中止・縮小可能 ― 損失は投資済みイニシャルに限定される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6071616"/>
            <a:ext cx="11274552" cy="530352"/>
          </a:xfrm>
          <a:prstGeom prst="roundRect">
            <a:avLst>
              <a:gd name="adj" fmla="val 10345"/>
            </a:avLst>
          </a:prstGeom>
          <a:solidFill>
            <a:srgbClr val="006B2B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60716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結論：キャッシュだけでも回収する。本質的リターンは社員12FTE（年1.4億円相当・恒久）の企画シフトとリスクの構造解消 ― 数字はPhase 0から実測で証明する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2026-08-23T14:31:03Z</dcterms:created>
  <dcterms:modified xsi:type="dcterms:W3CDTF">2026-08-23T14:31:03Z</dcterms:modified>
</cp:coreProperties>
</file>