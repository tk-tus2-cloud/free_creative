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ラインアーキテクト人材育成プログラム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138160" y="91440"/>
            <a:ext cx="3776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明石ボトルネック調査と一体運用｜2026年8月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274320" y="548640"/>
            <a:ext cx="11640312" cy="621792"/>
          </a:xfrm>
          <a:prstGeom prst="roundRect">
            <a:avLst>
              <a:gd name="adj" fmla="val 8824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48640"/>
            <a:ext cx="11365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技術(ロボット操作・AI活用)は、成果を出すプロセスの入口にすぎない。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基準を疑い、工程を設計し、投資を判断し、組織を動かせてはじめて成果になる。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316736"/>
            <a:ext cx="3785616" cy="2331720"/>
          </a:xfrm>
          <a:prstGeom prst="roundRect">
            <a:avLst>
              <a:gd name="adj" fmla="val 2353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389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あるべき姿(2030年)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" y="1700784"/>
            <a:ext cx="354787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技術Level2程度×構想力C1〜C4(基準を疑う/工程を再設計する/投資判断する/組織を動かす)を備え、実プロジェクトで定量成果(▲人数・億円・投資判断採用)を出す人材</a:t>
            </a:r>
            <a:endParaRPr lang="en-US" sz="830" dirty="0"/>
          </a:p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コア人材2〜4名+ベース層4〜6名の二層構成</a:t>
            </a:r>
            <a:endParaRPr lang="en-US" sz="830" dirty="0"/>
          </a:p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2030年: 自分の後継者を育て、組織に定着(個人の異動・退職で消えない機能になっている)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4201668" y="1316736"/>
            <a:ext cx="3785616" cy="2331720"/>
          </a:xfrm>
          <a:prstGeom prst="roundRect">
            <a:avLst>
              <a:gd name="adj" fmla="val 2353"/>
            </a:avLst>
          </a:prstGeom>
          <a:solidFill>
            <a:srgbClr val="F7F7F7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11396" y="1389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現状(As-Is)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29684" y="1700784"/>
            <a:ext cx="354787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技術(ロボティクス・AI)の単一ピラミッドのみ(Level1操作→Level4内製化)。予算100万円/年・対象4名程度</a:t>
            </a:r>
            <a:endParaRPr lang="en-US" sz="830" dirty="0"/>
          </a:p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評価基準は研修の受講実績。成果(改善案の採用・効果実現)に紐づいていない</a:t>
            </a:r>
            <a:endParaRPr lang="en-US" sz="830" dirty="0"/>
          </a:p>
          <a:p>
            <a:pPr marL="101600" indent="-101600">
              <a:lnSpc>
                <a:spcPct val="108000"/>
              </a:lnSpc>
              <a:spcAft>
                <a:spcPts val="500"/>
              </a:spcAft>
              <a:buSzPct val="100000"/>
              <a:buChar char="•"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育成が座学中心で実プロジェクトと未接続。順序が「研修が先、実践が後」になっている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8129016" y="1316736"/>
            <a:ext cx="3785616" cy="2331720"/>
          </a:xfrm>
          <a:prstGeom prst="roundRect">
            <a:avLst>
              <a:gd name="adj" fmla="val 2353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38744" y="1389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GAP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57032" y="1700784"/>
            <a:ext cx="354787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技術を極めても「何を解くべきか」を判断する力は育たない
</a:t>
            </a:r>
            <a:pPr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← 構想力を鍛える経路がそもそも存在しない
</a:t>
            </a:r>
            <a:pPr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対象者の二層設計、評価者(品質保証・SCM戦略部)が未定義
</a:t>
            </a:r>
            <a:pPr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27年のフィジカルAI PoC開始までに、それを主導できる人材が育つ保証がない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274320" y="3822192"/>
            <a:ext cx="11640312" cy="786384"/>
          </a:xfrm>
          <a:prstGeom prst="roundRect">
            <a:avLst>
              <a:gd name="adj" fmla="val 697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822192"/>
            <a:ext cx="113111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結論: 育成の主役を、Off-JT(技術研修)から明石ボトルネック調査の実プロジェクトへ入れ替える。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技術は各フェーズの「補完知識」として位置づけ直し、成果を出す一連のプロセス(次頁)の主役は構想力に置く。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4828032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現行の技術ピラミッドは「1本の軸」— 高く登っても「何を解くべきか」は判断できない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5120640"/>
            <a:ext cx="2788920" cy="566928"/>
          </a:xfrm>
          <a:prstGeom prst="roundRect">
            <a:avLst>
              <a:gd name="adj" fmla="val 9677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5120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Level1 操作
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ロボット操作(基本操作)・簡単なタスク設定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63240" y="5120640"/>
            <a:ext cx="109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72968" y="5120640"/>
            <a:ext cx="2788920" cy="566928"/>
          </a:xfrm>
          <a:prstGeom prst="roundRect">
            <a:avLst>
              <a:gd name="adj" fmla="val 9677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64408" y="5120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Level2 現場適用
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作業分解・自動化設計・センサ/AI調整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61888" y="5120640"/>
            <a:ext cx="109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71616" y="5120640"/>
            <a:ext cx="2788920" cy="566928"/>
          </a:xfrm>
          <a:prstGeom prst="roundRect">
            <a:avLst>
              <a:gd name="adj" fmla="val 9677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63056" y="5120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Level3 統合設計
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ロボット+AI+設備の統合・複数ロボット協調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60536" y="5120640"/>
            <a:ext cx="109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70264" y="5120640"/>
            <a:ext cx="2788920" cy="566928"/>
          </a:xfrm>
          <a:prstGeom prst="roundRect">
            <a:avLst>
              <a:gd name="adj" fmla="val 9677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61704" y="512064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Level4 内製化
</a:t>
            </a:r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AIモデル開発・制御アルゴリズム・機構設計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5760720"/>
            <a:ext cx="11640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この4段のどこまで登っても —「投資に値するか」「組織をどう動かすか」は別の力(次頁の構想力)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4320" y="635508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強化人材②(DX人材ロボティクス)技術レベル・育成スキーム(生産技術戦略会議骨子案)、ラインアーキテクト人材育成プログラム資料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成果を出す一連のプロセス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457200"/>
            <a:ext cx="11640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主役は構想力の4つの問い。技術は各段に埋め込まれた「補完知識」であり、プロセスの主役ではない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74320" y="749808"/>
            <a:ext cx="1164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対象: コア人材2〜4名(フェーズ4〜5まで到達)／ベース層4〜6名(フェーズ1〜2中心)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選抜・配属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準備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347472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(基礎データの収集)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347472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ITリテラシー基礎のみ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347472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7472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担当工程の作業-規定台帳を完成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2089404" y="1078992"/>
            <a:ext cx="164592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35708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08860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実行担当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308860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構想力C1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308860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「その作業は、そもそも必要か?」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2308860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3724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Level1 操作基礎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2308860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308860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改善案が1件以上、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QA変更管理等に採用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4050792" y="1078992"/>
            <a:ext cx="164592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97096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DFEBDB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70248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サブテーマ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リード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270248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構想力C2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270248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「残った作業を、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少なくできないか?」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270248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Level2 現場適用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(センサ/AI調整)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270248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270248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リードしたテーマで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定量効果▲X名を実現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6012180" y="1078992"/>
            <a:ext cx="164592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58484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DFEBDB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31636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PoC設計・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投資判断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231636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構想力C3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6231636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「その技術に、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投資する価値があるか?」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6231636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86500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Level2〜3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(PoC設計・統合の理解)</a:t>
            </a:r>
            <a:endParaRPr lang="en-US" sz="660" dirty="0"/>
          </a:p>
        </p:txBody>
      </p:sp>
      <p:sp>
        <p:nvSpPr>
          <p:cNvPr id="38" name="Text 36"/>
          <p:cNvSpPr/>
          <p:nvPr/>
        </p:nvSpPr>
        <p:spPr>
          <a:xfrm>
            <a:off x="6231636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231636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自分のPoC結果が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投資意思決定に採用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7973568" y="1078992"/>
            <a:ext cx="164592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19872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DFEBDB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展開リード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193024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構想力C4</a:t>
            </a:r>
            <a:endParaRPr lang="en-US" sz="780" dirty="0"/>
          </a:p>
        </p:txBody>
      </p:sp>
      <p:sp>
        <p:nvSpPr>
          <p:cNvPr id="44" name="Text 42"/>
          <p:cNvSpPr/>
          <p:nvPr/>
        </p:nvSpPr>
        <p:spPr>
          <a:xfrm>
            <a:off x="8193024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「品質保証・現場・経営を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どう動かすか?」</a:t>
            </a:r>
            <a:endParaRPr lang="en-US" sz="830" dirty="0"/>
          </a:p>
        </p:txBody>
      </p:sp>
      <p:sp>
        <p:nvSpPr>
          <p:cNvPr id="45" name="Shape 43"/>
          <p:cNvSpPr/>
          <p:nvPr/>
        </p:nvSpPr>
        <p:spPr>
          <a:xfrm>
            <a:off x="8193024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EDEDED"/>
          </a:solidFill>
          <a:ln w="12700">
            <a:solidFill>
              <a:srgbClr val="CFCF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7888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既存技術の応用のみ</a:t>
            </a:r>
            <a:endParaRPr lang="en-US" sz="6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(新規学習は不要)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8193024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193024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横展開先で植毛と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同水準の効果を再現</a:t>
            </a:r>
            <a:endParaRPr lang="en-US" sz="820" dirty="0"/>
          </a:p>
        </p:txBody>
      </p:sp>
      <p:sp>
        <p:nvSpPr>
          <p:cNvPr id="49" name="Text 47"/>
          <p:cNvSpPr/>
          <p:nvPr/>
        </p:nvSpPr>
        <p:spPr>
          <a:xfrm>
            <a:off x="9934956" y="1078992"/>
            <a:ext cx="164592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0081260" y="1078992"/>
            <a:ext cx="1833372" cy="4160520"/>
          </a:xfrm>
          <a:prstGeom prst="roundRect">
            <a:avLst>
              <a:gd name="adj" fmla="val 299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154412" y="1152144"/>
            <a:ext cx="168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  </a:t>
            </a:r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育成側へ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転換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154412" y="1627632"/>
            <a:ext cx="1687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継承</a:t>
            </a:r>
            <a:endParaRPr lang="en-US" sz="780" dirty="0"/>
          </a:p>
        </p:txBody>
      </p:sp>
      <p:sp>
        <p:nvSpPr>
          <p:cNvPr id="53" name="Text 51"/>
          <p:cNvSpPr/>
          <p:nvPr/>
        </p:nvSpPr>
        <p:spPr>
          <a:xfrm>
            <a:off x="10154412" y="1847088"/>
            <a:ext cx="16870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「自分がいなくても</a:t>
            </a:r>
            <a:endParaRPr lang="en-US" sz="83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30" b="1" i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回る状態を作れたか?」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10154412" y="2505456"/>
            <a:ext cx="1687068" cy="603504"/>
          </a:xfrm>
          <a:prstGeom prst="roundRect">
            <a:avLst>
              <a:gd name="adj" fmla="val 9091"/>
            </a:avLst>
          </a:prstGeom>
          <a:solidFill>
            <a:srgbClr val="1F3D20"/>
          </a:solidFill>
          <a:ln w="12700">
            <a:solidFill>
              <a:srgbClr val="3A5A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09276" y="2505456"/>
            <a:ext cx="15773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60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技術補完: 不要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10154412" y="3236976"/>
            <a:ext cx="16870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8E8D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0154412" y="3401568"/>
            <a:ext cx="16870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後継者を1名以上育成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(組織に定着)</a:t>
            </a:r>
            <a:endParaRPr lang="en-US" sz="820" dirty="0"/>
          </a:p>
        </p:txBody>
      </p:sp>
      <p:sp>
        <p:nvSpPr>
          <p:cNvPr id="58" name="Shape 56"/>
          <p:cNvSpPr/>
          <p:nvPr/>
        </p:nvSpPr>
        <p:spPr>
          <a:xfrm>
            <a:off x="274320" y="5358384"/>
            <a:ext cx="11640312" cy="566928"/>
          </a:xfrm>
          <a:prstGeom prst="roundRect">
            <a:avLst>
              <a:gd name="adj" fmla="val 9677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20624" y="5358384"/>
            <a:ext cx="11338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2030年: 植毛57名(半減)・工場264名・KGI一人当たり生産金額+20%達成
</a:t>
            </a:r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この人材群が、明石ボトルネック調査(生産性ボトルネック調査 推進方法)の実行部隊そのものである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274320" y="6016752"/>
            <a:ext cx="11640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各フェーズの「技術補完」は必要最小限の知識であり、Off-JT(社外研修)はここでの不足を埋める用途に限定する。研修が先、実践が後にはしない。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274320" y="630936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ラインアーキテクト人材育成プログラム資料/生産性ボトルネック調査 推進方法 Ver2.0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体制・スケジュール — 誰が、いつまでに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595360" y="9144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明石ボトルネック調査WBSと同期して運用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4320" y="56692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誰が(体制)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役割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担当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プログラムオーナー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生産技術センター 戦略統括T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対象者選定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 + 人事 + 明石工場長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OJT指導(フェーズ1〜2)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品質保証部門 + 明石工場(中林氏)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OJT指導(フェーズ3〜4)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生技セ + デジ戦(工場DX)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評価委員会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技術系上長 + 品質保証部門 + SCM戦略部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(構想力は技術部門だけでは判定できないため必須)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Off-JT手配・予算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デジ戦 DX人材開発セクション(既存100万円/年枠を再配分)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035040" y="566928"/>
            <a:ext cx="5879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いつまでに(スケジュール)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35040" y="822960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126480" y="877824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26/9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126480" y="1069848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対象者確定(コア2〜4名/ベース4〜6名)・評価委員会設置</a:t>
            </a:r>
            <a:endParaRPr lang="en-US" sz="740" dirty="0"/>
          </a:p>
        </p:txBody>
      </p:sp>
      <p:sp>
        <p:nvSpPr>
          <p:cNvPr id="10" name="Shape 7"/>
          <p:cNvSpPr/>
          <p:nvPr/>
        </p:nvSpPr>
        <p:spPr>
          <a:xfrm>
            <a:off x="9043416" y="822960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34856" y="877824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26/9〜10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134856" y="1069848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第1期生を明石WGへ投入(調査Phase1=台帳作成と同期)</a:t>
            </a:r>
            <a:endParaRPr lang="en-US" sz="740" dirty="0"/>
          </a:p>
        </p:txBody>
      </p:sp>
      <p:sp>
        <p:nvSpPr>
          <p:cNvPr id="13" name="Shape 10"/>
          <p:cNvSpPr/>
          <p:nvPr/>
        </p:nvSpPr>
        <p:spPr>
          <a:xfrm>
            <a:off x="6035040" y="1591056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26480" y="1645920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27年度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126480" y="1837944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フェーズ2実施(調査STEP②プロセス再設計と同期)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9043416" y="1591056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34856" y="1645920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27後半〜28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9134856" y="1837944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フェーズ3実施(フィジカルAI PoCと同期)・コア人材を確定</a:t>
            </a:r>
            <a:endParaRPr lang="en-US" sz="740" dirty="0"/>
          </a:p>
        </p:txBody>
      </p:sp>
      <p:sp>
        <p:nvSpPr>
          <p:cNvPr id="19" name="Shape 16"/>
          <p:cNvSpPr/>
          <p:nvPr/>
        </p:nvSpPr>
        <p:spPr>
          <a:xfrm>
            <a:off x="6035040" y="2359152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F3F8F1"/>
          </a:solidFill>
          <a:ln w="12700">
            <a:solidFill>
              <a:srgbClr val="C9DC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0" y="2414016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28〜29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126480" y="2606040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フェーズ4実施(包装ライン・他工場への横展開)</a:t>
            </a:r>
            <a:endParaRPr lang="en-US" sz="740" dirty="0"/>
          </a:p>
        </p:txBody>
      </p:sp>
      <p:sp>
        <p:nvSpPr>
          <p:cNvPr id="22" name="Shape 19"/>
          <p:cNvSpPr/>
          <p:nvPr/>
        </p:nvSpPr>
        <p:spPr>
          <a:xfrm>
            <a:off x="9043416" y="2359152"/>
            <a:ext cx="2871216" cy="658368"/>
          </a:xfrm>
          <a:prstGeom prst="roundRect">
            <a:avLst>
              <a:gd name="adj" fmla="val 833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34856" y="2414016"/>
            <a:ext cx="2688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29〜30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9134856" y="2606040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フェーズ5(第2期生育成)・組織定着を完成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274320" y="4160520"/>
            <a:ext cx="11640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育成フェーズと調査WBSの同期(2つのプロジェクトは1つの実務の裏表)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425696"/>
          <a:ext cx="1164031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554480"/>
                <a:gridCol w="1554480"/>
                <a:gridCol w="1554480"/>
                <a:gridCol w="1554480"/>
                <a:gridCol w="1554480"/>
                <a:gridCol w="153619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育成フェーズ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 準備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 実行担当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 サブテーマリード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 PoC・投資判断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 展開リード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 育成側転換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調査WBS(生産性ボトルネック調査)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WS0 組成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(26/8)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WS1 基準是正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(26/9〜27/6)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WS2 プロセス再設計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(26/11〜27/12)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自動化PoC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(26/12〜27年)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WS3 展開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(28〜29)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横展開の型の継承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(29〜30)</a:t>
                      </a:r>
                      <a:endParaRPr lang="en-US" sz="78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/>
          <p:nvPr/>
        </p:nvSpPr>
        <p:spPr>
          <a:xfrm>
            <a:off x="274320" y="5440680"/>
            <a:ext cx="1164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対象者・期間は仮説値。26年9月の対象者確定時に確定する。 出典: ラインアーキテクト人材育成プログラム資料/生産性ボトルネック調査 推進方法 Ver2.0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階層設計の詳細 — 技術×構想力マトリクス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457200"/>
            <a:ext cx="11640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技術レベル(何ができるか)と構想力レベル(何を判断できるか)は独立した2軸。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目標はLevel2〜3×構想力C3〜C4の交点(★)であり、Level4(内製化)への到達は必須条件ではない。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40312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327148"/>
                <a:gridCol w="2327148"/>
                <a:gridCol w="2327148"/>
                <a:gridCol w="232714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技術レベル ＼ 構想力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C1 基準を疑う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「そもそも必要か?」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C2 工程を再設計する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「少なくできないか?」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C3 投資判断する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「投資に値するか?」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C4 組織を動かす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「どう合意させるか?」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Level1 操作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(基本操作・タスク設定)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指示された作業の非効率に気づける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指示があれば手順を組み替えられる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i="1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(基礎段階・通常は対象外)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i="1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(基礎段階・通常は対象外)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Level2 現場適用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(センサ/AI調整・自動化設計)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作業の必要性を自分で確認できる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複数作業を跨ぎ手順を再設計できる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効果を時間・人数で定量化できる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★到達点(ベース層)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現場を動かしながら報告できる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D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Level3 統合設計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(複数ロボット協調・ROS設計)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設計視点から作業の要否を判断できる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複数ラインを跨いだ再設計ができる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★到達点(コア人材)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投資対効果を設計に組み込める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D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★到達点(コア上位)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全社展開を主導できる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FD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Level4 内製化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(AIモデル開発・機構設計)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技術特化リスク: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構想力が伴わないと視野が狭まる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技術特化リスク: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工程は組み替えられない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技術特化リスク: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投資判断は他者に依存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8A6D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稀少ゾーン: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8A6D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技術×組織を動かす力を両方持つ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8A6D3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次世代PEM候補</a:t>
                      </a:r>
                      <a:endParaRPr lang="en-US" sz="7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5440680"/>
            <a:ext cx="11640312" cy="731520"/>
          </a:xfrm>
          <a:prstGeom prst="roundRect">
            <a:avLst>
              <a:gd name="adj" fmla="val 7500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20624" y="5440680"/>
            <a:ext cx="11338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現行計画の落とし穴: </a:t>
            </a:r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Off-JT中心の育成はLevel1→Level4の技術軸(縦)だけを伸ばす設計で、構想力軸(横)への投資が無い。
</a:t>
            </a:r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このままではLevel4×C1(技術は高いが「何を解くべきか」を判断できない)へ向かうリスクがある。目指すのは右下ではなく、中段〜右の★ゾーンである。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309360"/>
            <a:ext cx="1164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強化人材②(DX人材ロボティクス)技術レベル・育成スキーム(生産技術戦略会議骨子案)、ラインアーキテクト人材育成プログラム資料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構想力レベルの詳細定義 — C1〜C4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457200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各レベルを「自問」「合格ライン」「典型的な失敗」「成果物」の4点で定義し、評価委員会の判定基準とする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86384"/>
          <a:ext cx="1164031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286000"/>
                <a:gridCol w="2743200"/>
                <a:gridCol w="2404872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レベル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自問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(この問いを持てているか)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合格ライン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(判断基準)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典型的な失敗パターン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合格の証拠(成果物)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基準を疑う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「この作業は、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そもそも必要か?」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作業の根拠となる規定を自力で特定し、要求元(法規/業界/当社独自)を分類できる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「昔からやっているから」を根拠として無条件に受け入れてしまう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C5F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改定提案がQA変更管理プロセスに提出され、採否判定を受けている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工程を再設計する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「残った作業を、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少なくできないか?」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複数の作業・ラインを跨いで重複・ムダを発見し、ECRSで再設計案を作れる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自分の担当範囲だけで最適化し、前後工程への影響を見落とす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C5F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リードしたテーマで定量効果(▲人数・時間)を測定し、月次報告で説明している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投資判断する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「その技術に、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投資する価値があるか?」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効果をOEE正味・ROIで定量化し、投資額との比較でビジネスケースを書ける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技術的な魅力だけで投資を推薦し、費用対効果の検証を欠く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C5F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自分の分析・PoC結果が、実際の投資意思決定資料に引用・採用されている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3D20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組織を動かす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B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「品質保証・現場・経営を、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i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どう合意させるか?」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抵抗(品質懸念・現場の慣行・部門間の利害)を理解し、合意形成の道筋を設計できる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B8504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正しい分析を持っていても、関係部門を説得できず実行に至らない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2C5F2D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横展開先で自分がいなくても同水準の効果が再現され、後継者を育てている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5806440"/>
            <a:ext cx="11640312" cy="502920"/>
          </a:xfrm>
          <a:prstGeom prst="roundRect">
            <a:avLst>
              <a:gd name="adj" fmla="val 10909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20624" y="580644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この表が評価委員会(技術系上長+品質保証部門+SCM戦略部)の唯一の判定基準となる。技術試験の合格点や研修受講実績では進級を判定しない。</a:t>
            </a:r>
            <a:endParaRPr lang="en-US" sz="880" dirty="0"/>
          </a:p>
        </p:txBody>
      </p:sp>
      <p:sp>
        <p:nvSpPr>
          <p:cNvPr id="7" name="Text 4"/>
          <p:cNvSpPr/>
          <p:nvPr/>
        </p:nvSpPr>
        <p:spPr>
          <a:xfrm>
            <a:off x="274320" y="6382512"/>
            <a:ext cx="1164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出典: ラインアーキテクト人材育成プログラム資料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育成アプローチの詳細 — 運用サイクルと進級ゲート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12064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すべてのフェーズに共通する「月次運用サイクル」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96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実務にあたる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225296"/>
            <a:ext cx="1965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明石ボトルネック調査の実担当として、規定棚卸し・改善設計・PoC等を実行する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2404872" y="841248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51176" y="841248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896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自分で振り返る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42616" y="1225296"/>
            <a:ext cx="1965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何を疑い、何を判断したかを自分の言葉で記録する(ポートフォリオへの週次メモ)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4681728" y="841248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28032" y="841248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896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フィードバック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19472" y="1225296"/>
            <a:ext cx="1965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月次1回、メンター(品質保証/明石工場/生技セ)が判断の質を レビューする</a:t>
            </a:r>
            <a:endParaRPr lang="en-US" sz="740" dirty="0"/>
          </a:p>
        </p:txBody>
      </p:sp>
      <p:sp>
        <p:nvSpPr>
          <p:cNvPr id="15" name="Text 13"/>
          <p:cNvSpPr/>
          <p:nvPr/>
        </p:nvSpPr>
        <p:spPr>
          <a:xfrm>
            <a:off x="6958584" y="841248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04888" y="841248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96328" y="896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次の課題を設定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196328" y="1225296"/>
            <a:ext cx="1965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メンターと合意の上、次月の実務課題と到達目標(C1〜C4のどこを伸ばすか)を決める</a:t>
            </a:r>
            <a:endParaRPr lang="en-US" sz="740" dirty="0"/>
          </a:p>
        </p:txBody>
      </p:sp>
      <p:sp>
        <p:nvSpPr>
          <p:cNvPr id="19" name="Text 17"/>
          <p:cNvSpPr/>
          <p:nvPr/>
        </p:nvSpPr>
        <p:spPr>
          <a:xfrm>
            <a:off x="9235440" y="841248"/>
            <a:ext cx="1645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381744" y="841248"/>
            <a:ext cx="2148840" cy="1417320"/>
          </a:xfrm>
          <a:prstGeom prst="roundRect">
            <a:avLst>
              <a:gd name="adj" fmla="val 3871"/>
            </a:avLst>
          </a:prstGeom>
          <a:solidFill>
            <a:srgbClr val="F3F8F1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3184" y="8961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⑤ </a:t>
            </a:r>
            <a:pPr indent="0" marL="0">
              <a:buNone/>
            </a:pPr>
            <a:r>
              <a:rPr lang="en-US" sz="95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成果を記録する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473184" y="1225296"/>
            <a:ext cx="19659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採用された改善案・実現した効果をポートフォリオに蓄積し、進級判定の材料とする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274320" y="2304288"/>
            <a:ext cx="1164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↩ 翌月へ継続(次のサイクルへ)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" y="2651760"/>
            <a:ext cx="11640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D2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評価委員会の運用と進級ゲート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907792"/>
          <a:ext cx="116403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42632"/>
                <a:gridCol w="24688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進級ゲート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判定基準(すべて成果物ベース)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判定頻度・体制</a:t>
                      </a:r>
                      <a:endParaRPr lang="en-US" sz="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フェーズ1→2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改善案1件以上がQA変更管理・工場改善提案に採用されている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四半期ごと・評価委員会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フェーズ2→3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リードしたテーマで定量効果(▲人数・時間)を実現し、月次報告を実施している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四半期ごと・評価委員会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フェーズ3→4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自分のPoC結果・分析が投資意思決定資料に引用・採用されている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四半期ごと・評価委員会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フェーズ4→5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2B2B2B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横展開先で植毛と同水準の効果が再現され、後継者候補が特定されている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95959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四半期ごと・評価委員会</a:t>
                      </a:r>
                      <a:endParaRPr lang="en-US" sz="76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274320" y="5120640"/>
            <a:ext cx="11640312" cy="658368"/>
          </a:xfrm>
          <a:prstGeom prst="roundRect">
            <a:avLst>
              <a:gd name="adj" fmla="val 8333"/>
            </a:avLst>
          </a:prstGeom>
          <a:solidFill>
            <a:srgbClr val="FBEDEA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0624" y="5120640"/>
            <a:ext cx="11338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504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進級は「多数決」でも「講座の消化」でもなく、「成果の実在性」で判定する。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採用された改善案・実現した効果・投資判断への貢献が実際にあるかどうかだけを見る。技術研修の受講記録は参考情報にすぎない。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74320" y="5897880"/>
            <a:ext cx="1164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595959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頻度・体制は仮説値。評価委員会設置(26/9)時に確定する。 出典: ラインアーキテクト人材育成プログラム資料/生産性ボトルネック調査 推進方法 Ver2.0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2026-08-14T05:51:45Z</dcterms:created>
  <dcterms:modified xsi:type="dcterms:W3CDTF">2026-08-14T05:51:45Z</dcterms:modified>
</cp:coreProperties>
</file>