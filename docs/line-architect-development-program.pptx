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ラインアーキテクト人材育成プログラム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138160" y="91440"/>
            <a:ext cx="3776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明石ボトルネック調査と一体運用｜2026年8月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11640312" cy="621792"/>
          </a:xfrm>
          <a:prstGeom prst="roundRect">
            <a:avLst>
              <a:gd name="adj" fmla="val 8824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48640"/>
            <a:ext cx="11365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技術(ロボット操作・AI活用)は、成果を出すプロセスの入口にすぎない。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基準を疑い、工程を設計し、投資を判断し、組織を動かせてはじめて成果になる。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16736"/>
            <a:ext cx="3785616" cy="2331720"/>
          </a:xfrm>
          <a:prstGeom prst="roundRect">
            <a:avLst>
              <a:gd name="adj" fmla="val 2353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あるべき姿(2030年)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02336" y="1700784"/>
            <a:ext cx="3547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技術Level2程度×構想力C1〜C4(基準を疑う/工程を再設計する/投資判断する/組織を動かす)を備え、実プロジェクトで定量成果(▲人数・億円・投資判断採用)を出す人材</a:t>
            </a:r>
            <a:endParaRPr lang="en-US" sz="830" dirty="0"/>
          </a:p>
          <a:p>
            <a:pPr marL="101600" indent="-101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コア人材2〜4名+ベース層4〜6名の二層構成</a:t>
            </a:r>
            <a:endParaRPr lang="en-US" sz="830" dirty="0"/>
          </a:p>
          <a:p>
            <a:pPr marL="101600" indent="-101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2030年: 自分の後継者を育て、組織に定着(個人の異動・退職で消えない機能になっている)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4201668" y="1316736"/>
            <a:ext cx="3785616" cy="2331720"/>
          </a:xfrm>
          <a:prstGeom prst="roundRect">
            <a:avLst>
              <a:gd name="adj" fmla="val 2353"/>
            </a:avLst>
          </a:prstGeom>
          <a:solidFill>
            <a:srgbClr val="F7F7F7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1396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現状(As-Is)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29684" y="1700784"/>
            <a:ext cx="3547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技術(ロボティクス・AI)の単一ピラミッドのみ(Level1操作→Level4内製化)。予算100万円/年・対象4名程度</a:t>
            </a:r>
            <a:endParaRPr lang="en-US" sz="830" dirty="0"/>
          </a:p>
          <a:p>
            <a:pPr marL="101600" indent="-101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評価基準は研修の受講実績。成果(改善案の採用・効果実現)に紐づいていない</a:t>
            </a:r>
            <a:endParaRPr lang="en-US" sz="830" dirty="0"/>
          </a:p>
          <a:p>
            <a:pPr marL="101600" indent="-101600">
              <a:lnSpc>
                <a:spcPct val="108000"/>
              </a:lnSpc>
              <a:spcAft>
                <a:spcPts val="500"/>
              </a:spcAft>
              <a:buSzPct val="100000"/>
              <a:buChar char="•"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育成が座学中心で実プロジェクトと未接続。順序が「研修が先、実践が後」になっている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8129016" y="1316736"/>
            <a:ext cx="3785616" cy="2331720"/>
          </a:xfrm>
          <a:prstGeom prst="roundRect">
            <a:avLst>
              <a:gd name="adj" fmla="val 2353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3898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57032" y="1700784"/>
            <a:ext cx="354787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6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技術を極めても「何を解くべきか」を判断する力は育たない
</a:t>
            </a:r>
            <a:pPr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← 構想力を鍛える経路がそもそも存在しない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対象者の二層設計、評価者(品質保証・SCM戦略部)が未定義
</a:t>
            </a:r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27年のフィジカルAI PoC開始までに、それを主導できる人材が育つ保証がない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274320" y="3822192"/>
            <a:ext cx="11640312" cy="786384"/>
          </a:xfrm>
          <a:prstGeom prst="roundRect">
            <a:avLst>
              <a:gd name="adj" fmla="val 6977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3822192"/>
            <a:ext cx="113111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結論: 育成の主役を、Off-JT(技術研修)から明石ボトルネック調査の実プロジェクトへ入れ替える。
</a:t>
            </a:r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技術は各フェーズの「補完知識」として位置づけ直し、成果を出す一連のプロセス(次頁)の主役は構想力に置く。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828032"/>
            <a:ext cx="1164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現行の技術ピラミッドは「1本の軸」— 高く登っても「何を解くべきか」は判断できない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512064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5120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Level1 操作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ロボット操作(基本操作)・簡単なタスク設定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63240" y="512064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72968" y="512064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5120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Level2 現場適用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作業分解・自動化設計・センサ/AI調整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61888" y="512064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71616" y="512064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5120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Level3 統合設計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ロボット+AI+設備の統合・複数ロボット協調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860536" y="5120640"/>
            <a:ext cx="109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970264" y="5120640"/>
            <a:ext cx="2788920" cy="566928"/>
          </a:xfrm>
          <a:prstGeom prst="roundRect">
            <a:avLst>
              <a:gd name="adj" fmla="val 9677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61704" y="512064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Level4 内製化
</a:t>
            </a:r>
            <a:pPr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AIモデル開発・制御アルゴリズム・機構設計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5760720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この4段のどこまで登っても —「投資に値するか」「組織をどう動かすか」は別の力(次頁の構想力)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4320" y="6355080"/>
            <a:ext cx="1164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強化人材②(DX人材ロボティクス)技術レベル・育成スキーム(生産技術戦略会議骨子案)、ラインアーキテクト人材育成プログラム資料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成果を出す一連のプロセス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74320" y="457200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主役は構想力の4つの問い。技術は各段に埋め込まれた「補完知識」であり、プロセスの主役ではない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64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対象: コア人材2〜4名(フェーズ4〜5まで到達)／ベース層4〜6名(フェーズ1〜2中心)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1833372" cy="4160520"/>
          </a:xfrm>
          <a:prstGeom prst="roundRect">
            <a:avLst>
              <a:gd name="adj" fmla="val 2993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152144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  </a:t>
            </a:r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選抜・配属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7472" y="1627632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347472" y="1847088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(基礎データの収集)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347472" y="2505456"/>
            <a:ext cx="1687068" cy="603504"/>
          </a:xfrm>
          <a:prstGeom prst="roundRect">
            <a:avLst>
              <a:gd name="adj" fmla="val 9091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505456"/>
            <a:ext cx="1577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技術補完: ITリテラシー基礎のみ</a:t>
            </a:r>
            <a:endParaRPr lang="en-US" sz="660" dirty="0"/>
          </a:p>
        </p:txBody>
      </p:sp>
      <p:sp>
        <p:nvSpPr>
          <p:cNvPr id="11" name="Text 9"/>
          <p:cNvSpPr/>
          <p:nvPr/>
        </p:nvSpPr>
        <p:spPr>
          <a:xfrm>
            <a:off x="347472" y="3236976"/>
            <a:ext cx="168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7472" y="3401568"/>
            <a:ext cx="1687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担当工程の作業-規定台帳を完成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089404" y="1078992"/>
            <a:ext cx="164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35708" y="1078992"/>
            <a:ext cx="1833372" cy="4160520"/>
          </a:xfrm>
          <a:prstGeom prst="roundRect">
            <a:avLst>
              <a:gd name="adj" fmla="val 2993"/>
            </a:avLst>
          </a:prstGeom>
          <a:solidFill>
            <a:srgbClr val="F3F8F1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08860" y="1152144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 </a:t>
            </a:r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実行担当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08860" y="1627632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構想力C1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2308860" y="1847088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「その作業は、そもそも必要か?」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2308860" y="2505456"/>
            <a:ext cx="1687068" cy="603504"/>
          </a:xfrm>
          <a:prstGeom prst="roundRect">
            <a:avLst>
              <a:gd name="adj" fmla="val 9091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63724" y="2505456"/>
            <a:ext cx="1577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技術補完: Level1 操作基礎</a:t>
            </a:r>
            <a:endParaRPr lang="en-US" sz="660" dirty="0"/>
          </a:p>
        </p:txBody>
      </p:sp>
      <p:sp>
        <p:nvSpPr>
          <p:cNvPr id="20" name="Text 18"/>
          <p:cNvSpPr/>
          <p:nvPr/>
        </p:nvSpPr>
        <p:spPr>
          <a:xfrm>
            <a:off x="2308860" y="3236976"/>
            <a:ext cx="168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308860" y="3401568"/>
            <a:ext cx="1687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改善案が1件以上、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QA変更管理等に採用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050792" y="1078992"/>
            <a:ext cx="164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97096" y="1078992"/>
            <a:ext cx="1833372" cy="4160520"/>
          </a:xfrm>
          <a:prstGeom prst="roundRect">
            <a:avLst>
              <a:gd name="adj" fmla="val 2993"/>
            </a:avLst>
          </a:prstGeom>
          <a:solidFill>
            <a:srgbClr val="DFEBDB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0248" y="1152144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 </a:t>
            </a:r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サブテーマ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リード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70248" y="1627632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構想力C2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4270248" y="1847088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「残った作業を、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少なくできないか?」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270248" y="2505456"/>
            <a:ext cx="1687068" cy="603504"/>
          </a:xfrm>
          <a:prstGeom prst="roundRect">
            <a:avLst>
              <a:gd name="adj" fmla="val 9091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25112" y="2505456"/>
            <a:ext cx="1577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技術補完: Level2 現場適用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(センサ/AI調整)</a:t>
            </a:r>
            <a:endParaRPr lang="en-US" sz="660" dirty="0"/>
          </a:p>
        </p:txBody>
      </p:sp>
      <p:sp>
        <p:nvSpPr>
          <p:cNvPr id="29" name="Text 27"/>
          <p:cNvSpPr/>
          <p:nvPr/>
        </p:nvSpPr>
        <p:spPr>
          <a:xfrm>
            <a:off x="4270248" y="3236976"/>
            <a:ext cx="168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270248" y="3401568"/>
            <a:ext cx="1687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リードしたテーマで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定量効果▲X名を実現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6012180" y="1078992"/>
            <a:ext cx="164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58484" y="1078992"/>
            <a:ext cx="1833372" cy="4160520"/>
          </a:xfrm>
          <a:prstGeom prst="roundRect">
            <a:avLst>
              <a:gd name="adj" fmla="val 2993"/>
            </a:avLst>
          </a:prstGeom>
          <a:solidFill>
            <a:srgbClr val="DFEBDB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1636" y="1152144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 </a:t>
            </a:r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PoC設計・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投資判断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31636" y="1627632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構想力C3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6231636" y="1847088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「その技術に、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投資する価値があるか?」</a:t>
            </a:r>
            <a:endParaRPr lang="en-US" sz="830" dirty="0"/>
          </a:p>
        </p:txBody>
      </p:sp>
      <p:sp>
        <p:nvSpPr>
          <p:cNvPr id="36" name="Shape 34"/>
          <p:cNvSpPr/>
          <p:nvPr/>
        </p:nvSpPr>
        <p:spPr>
          <a:xfrm>
            <a:off x="6231636" y="2505456"/>
            <a:ext cx="1687068" cy="603504"/>
          </a:xfrm>
          <a:prstGeom prst="roundRect">
            <a:avLst>
              <a:gd name="adj" fmla="val 9091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6500" y="2505456"/>
            <a:ext cx="1577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技術補完: Level2〜3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(PoC設計・統合の理解)</a:t>
            </a:r>
            <a:endParaRPr lang="en-US" sz="660" dirty="0"/>
          </a:p>
        </p:txBody>
      </p:sp>
      <p:sp>
        <p:nvSpPr>
          <p:cNvPr id="38" name="Text 36"/>
          <p:cNvSpPr/>
          <p:nvPr/>
        </p:nvSpPr>
        <p:spPr>
          <a:xfrm>
            <a:off x="6231636" y="3236976"/>
            <a:ext cx="168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231636" y="3401568"/>
            <a:ext cx="1687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自分のPoC結果が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投資意思決定に採用</a:t>
            </a:r>
            <a:endParaRPr lang="en-US" sz="820" dirty="0"/>
          </a:p>
        </p:txBody>
      </p:sp>
      <p:sp>
        <p:nvSpPr>
          <p:cNvPr id="40" name="Text 38"/>
          <p:cNvSpPr/>
          <p:nvPr/>
        </p:nvSpPr>
        <p:spPr>
          <a:xfrm>
            <a:off x="7973568" y="1078992"/>
            <a:ext cx="164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19872" y="1078992"/>
            <a:ext cx="1833372" cy="4160520"/>
          </a:xfrm>
          <a:prstGeom prst="roundRect">
            <a:avLst>
              <a:gd name="adj" fmla="val 2993"/>
            </a:avLst>
          </a:prstGeom>
          <a:solidFill>
            <a:srgbClr val="DFEBDB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3024" y="1152144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 </a:t>
            </a:r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展開リード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193024" y="1627632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構想力C4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8193024" y="1847088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「品質保証・現場・経営を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どう動かすか?」</a:t>
            </a:r>
            <a:endParaRPr lang="en-US" sz="830" dirty="0"/>
          </a:p>
        </p:txBody>
      </p:sp>
      <p:sp>
        <p:nvSpPr>
          <p:cNvPr id="45" name="Shape 43"/>
          <p:cNvSpPr/>
          <p:nvPr/>
        </p:nvSpPr>
        <p:spPr>
          <a:xfrm>
            <a:off x="8193024" y="2505456"/>
            <a:ext cx="1687068" cy="603504"/>
          </a:xfrm>
          <a:prstGeom prst="roundRect">
            <a:avLst>
              <a:gd name="adj" fmla="val 9091"/>
            </a:avLst>
          </a:prstGeom>
          <a:solidFill>
            <a:srgbClr val="EDEDED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2505456"/>
            <a:ext cx="1577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技術補完: 既存技術の応用のみ</a:t>
            </a:r>
            <a:endParaRPr lang="en-US" sz="66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(新規学習は不要)</a:t>
            </a:r>
            <a:endParaRPr lang="en-US" sz="660" dirty="0"/>
          </a:p>
        </p:txBody>
      </p:sp>
      <p:sp>
        <p:nvSpPr>
          <p:cNvPr id="47" name="Text 45"/>
          <p:cNvSpPr/>
          <p:nvPr/>
        </p:nvSpPr>
        <p:spPr>
          <a:xfrm>
            <a:off x="8193024" y="3236976"/>
            <a:ext cx="168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193024" y="3401568"/>
            <a:ext cx="1687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横展開先で植毛と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同水準の効果を再現</a:t>
            </a:r>
            <a:endParaRPr lang="en-US" sz="820" dirty="0"/>
          </a:p>
        </p:txBody>
      </p:sp>
      <p:sp>
        <p:nvSpPr>
          <p:cNvPr id="49" name="Text 47"/>
          <p:cNvSpPr/>
          <p:nvPr/>
        </p:nvSpPr>
        <p:spPr>
          <a:xfrm>
            <a:off x="9934956" y="1078992"/>
            <a:ext cx="16459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081260" y="1078992"/>
            <a:ext cx="1833372" cy="4160520"/>
          </a:xfrm>
          <a:prstGeom prst="roundRect">
            <a:avLst>
              <a:gd name="adj" fmla="val 299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54412" y="1152144"/>
            <a:ext cx="1687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 </a:t>
            </a:r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育成側へ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転換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10154412" y="1627632"/>
            <a:ext cx="16870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継承</a:t>
            </a:r>
            <a:endParaRPr lang="en-US" sz="780" dirty="0"/>
          </a:p>
        </p:txBody>
      </p:sp>
      <p:sp>
        <p:nvSpPr>
          <p:cNvPr id="53" name="Text 51"/>
          <p:cNvSpPr/>
          <p:nvPr/>
        </p:nvSpPr>
        <p:spPr>
          <a:xfrm>
            <a:off x="10154412" y="1847088"/>
            <a:ext cx="16870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「自分がいなくても</a:t>
            </a:r>
            <a:endParaRPr lang="en-US" sz="83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30" b="1" i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回る状態を作れたか?」</a:t>
            </a:r>
            <a:endParaRPr lang="en-US" sz="830" dirty="0"/>
          </a:p>
        </p:txBody>
      </p:sp>
      <p:sp>
        <p:nvSpPr>
          <p:cNvPr id="54" name="Shape 52"/>
          <p:cNvSpPr/>
          <p:nvPr/>
        </p:nvSpPr>
        <p:spPr>
          <a:xfrm>
            <a:off x="10154412" y="2505456"/>
            <a:ext cx="1687068" cy="603504"/>
          </a:xfrm>
          <a:prstGeom prst="roundRect">
            <a:avLst>
              <a:gd name="adj" fmla="val 9091"/>
            </a:avLst>
          </a:prstGeom>
          <a:solidFill>
            <a:srgbClr val="1F3D20"/>
          </a:solidFill>
          <a:ln w="12700">
            <a:solidFill>
              <a:srgbClr val="3A5A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209276" y="2505456"/>
            <a:ext cx="15773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技術補完: 不要</a:t>
            </a:r>
            <a:endParaRPr lang="en-US" sz="660" dirty="0"/>
          </a:p>
        </p:txBody>
      </p:sp>
      <p:sp>
        <p:nvSpPr>
          <p:cNvPr id="56" name="Text 54"/>
          <p:cNvSpPr/>
          <p:nvPr/>
        </p:nvSpPr>
        <p:spPr>
          <a:xfrm>
            <a:off x="10154412" y="3236976"/>
            <a:ext cx="16870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8E8D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0154412" y="3401568"/>
            <a:ext cx="16870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後継者を1名以上育成</a:t>
            </a:r>
            <a:endParaRPr lang="en-US" sz="82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82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(組織に定着)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274320" y="5358384"/>
            <a:ext cx="11640312" cy="566928"/>
          </a:xfrm>
          <a:prstGeom prst="roundRect">
            <a:avLst>
              <a:gd name="adj" fmla="val 9677"/>
            </a:avLst>
          </a:prstGeom>
          <a:solidFill>
            <a:srgbClr val="FBEDEA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0624" y="5358384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B8504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2030年: 植毛57名(半減)・工場264名・KGI一人当たり生産金額+20%達成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この人材群が、明石ボトルネック調査(生産性ボトルネック調査 推進方法)の実行部隊そのものである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274320" y="6016752"/>
            <a:ext cx="11640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各フェーズの「技術補完」は必要最小限の知識であり、Off-JT(社外研修)はここでの不足を埋める用途に限定する。研修が先、実践が後にはしない。</a:t>
            </a:r>
            <a:endParaRPr lang="en-US" sz="730" dirty="0"/>
          </a:p>
        </p:txBody>
      </p:sp>
      <p:sp>
        <p:nvSpPr>
          <p:cNvPr id="61" name="Text 59"/>
          <p:cNvSpPr/>
          <p:nvPr/>
        </p:nvSpPr>
        <p:spPr>
          <a:xfrm>
            <a:off x="274320" y="6309360"/>
            <a:ext cx="1164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出典: ラインアーキテクト人材育成プログラム資料/生産性ボトルネック調査 推進方法 Ver2.0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体制・スケジュール — 誰が、いつまでに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8595360" y="91440"/>
            <a:ext cx="3319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明石ボトルネック調査WBSと同期して運用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6692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誰が(体制)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22960"/>
          <a:ext cx="5486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56616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役割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プログラムオーナー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生産技術センター 戦略統括T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対象者選定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 + 人事 + 明石工場長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OJT指導(フェーズ1〜2)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品質保証部門 + 明石工場(中林氏)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OJT指導(フェーズ3〜4)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生技セ + デジ戦(工場DX)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評価委員会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技術系上長 + 品質保証部門 + SCM戦略部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B8504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(構想力は技術部門だけでは判定できないため必須)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Off-JT手配・予算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デジ戦 DX人材開発セクション(既存100万円/年枠を再配分)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566928"/>
            <a:ext cx="5879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いつまでに(スケジュール)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35040" y="822960"/>
            <a:ext cx="2871216" cy="658368"/>
          </a:xfrm>
          <a:prstGeom prst="roundRect">
            <a:avLst>
              <a:gd name="adj" fmla="val 833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0" y="87782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26/9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26480" y="10698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対象者確定(コア2〜4名/ベース4〜6名)・評価委員会設置</a:t>
            </a:r>
            <a:endParaRPr lang="en-US" sz="740" dirty="0"/>
          </a:p>
        </p:txBody>
      </p:sp>
      <p:sp>
        <p:nvSpPr>
          <p:cNvPr id="10" name="Shape 7"/>
          <p:cNvSpPr/>
          <p:nvPr/>
        </p:nvSpPr>
        <p:spPr>
          <a:xfrm>
            <a:off x="9043416" y="822960"/>
            <a:ext cx="2871216" cy="658368"/>
          </a:xfrm>
          <a:prstGeom prst="roundRect">
            <a:avLst>
              <a:gd name="adj" fmla="val 833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34856" y="877824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26/9〜10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9134856" y="1069848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第1期生を明石WGへ投入(調査Phase1=台帳作成と同期)</a:t>
            </a:r>
            <a:endParaRPr lang="en-US" sz="740" dirty="0"/>
          </a:p>
        </p:txBody>
      </p:sp>
      <p:sp>
        <p:nvSpPr>
          <p:cNvPr id="13" name="Shape 10"/>
          <p:cNvSpPr/>
          <p:nvPr/>
        </p:nvSpPr>
        <p:spPr>
          <a:xfrm>
            <a:off x="6035040" y="1591056"/>
            <a:ext cx="2871216" cy="658368"/>
          </a:xfrm>
          <a:prstGeom prst="roundRect">
            <a:avLst>
              <a:gd name="adj" fmla="val 833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26480" y="164592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27年度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26480" y="18379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フェーズ2実施(調査STEP②プロセス再設計と同期)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9043416" y="1591056"/>
            <a:ext cx="2871216" cy="658368"/>
          </a:xfrm>
          <a:prstGeom prst="roundRect">
            <a:avLst>
              <a:gd name="adj" fmla="val 833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34856" y="1645920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27後半〜28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9134856" y="1837944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フェーズ3実施(フィジカルAI PoCと同期)・コア人材を確定</a:t>
            </a:r>
            <a:endParaRPr lang="en-US" sz="740" dirty="0"/>
          </a:p>
        </p:txBody>
      </p:sp>
      <p:sp>
        <p:nvSpPr>
          <p:cNvPr id="19" name="Shape 16"/>
          <p:cNvSpPr/>
          <p:nvPr/>
        </p:nvSpPr>
        <p:spPr>
          <a:xfrm>
            <a:off x="6035040" y="2359152"/>
            <a:ext cx="2871216" cy="658368"/>
          </a:xfrm>
          <a:prstGeom prst="roundRect">
            <a:avLst>
              <a:gd name="adj" fmla="val 8333"/>
            </a:avLst>
          </a:prstGeom>
          <a:solidFill>
            <a:srgbClr val="F3F8F1"/>
          </a:solidFill>
          <a:ln w="12700">
            <a:solidFill>
              <a:srgbClr val="C9DC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26480" y="24140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28〜29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26480" y="26060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2B2B2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フェーズ4実施(包装ライン・他工場への横展開)</a:t>
            </a:r>
            <a:endParaRPr lang="en-US" sz="740" dirty="0"/>
          </a:p>
        </p:txBody>
      </p:sp>
      <p:sp>
        <p:nvSpPr>
          <p:cNvPr id="22" name="Shape 19"/>
          <p:cNvSpPr/>
          <p:nvPr/>
        </p:nvSpPr>
        <p:spPr>
          <a:xfrm>
            <a:off x="9043416" y="2359152"/>
            <a:ext cx="2871216" cy="658368"/>
          </a:xfrm>
          <a:prstGeom prst="roundRect">
            <a:avLst>
              <a:gd name="adj" fmla="val 8333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34856" y="2414016"/>
            <a:ext cx="2688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29〜30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9134856" y="260604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74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フェーズ5(第2期生育成)・組織定着を完成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274320" y="4160520"/>
            <a:ext cx="11640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D2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育成フェーズと調査WBSの同期(2つのプロジェクトは1つの実務の裏表)</a:t>
            </a:r>
            <a:endParaRPr lang="en-US" sz="10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425696"/>
          <a:ext cx="116403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554480"/>
                <a:gridCol w="1554480"/>
                <a:gridCol w="1554480"/>
                <a:gridCol w="1554480"/>
                <a:gridCol w="1554480"/>
                <a:gridCol w="153619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育成フェーズ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 準備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 実行担当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 サブテーマリード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 PoC・投資判断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 展開リード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 育成側転換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調査WBS(生産性ボトルネック調査)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WS0 組成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(26/8)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WS1 基準是正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(26/9〜27/6)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WS2 プロセス再設計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(26/11〜27/12)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WS3 自動化PoC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(26/12〜27年)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WS3 展開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(28〜29)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横展開の型の継承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dirty="0">
                          <a:solidFill>
                            <a:srgbClr val="2B2B2B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(29〜30)</a:t>
                      </a:r>
                      <a:endParaRPr lang="en-US" sz="7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" name="Text 23"/>
          <p:cNvSpPr/>
          <p:nvPr/>
        </p:nvSpPr>
        <p:spPr>
          <a:xfrm>
            <a:off x="274320" y="5440680"/>
            <a:ext cx="1164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59595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対象者・期間は仮説値。26年9月の対象者確定時に確定する。 出典: ラインアーキテクト人材育成プログラム資料/生産性ボトルネック調査 推進方法 Ver2.0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2026-08-14T05:40:21Z</dcterms:created>
  <dcterms:modified xsi:type="dcterms:W3CDTF">2026-08-14T05:40:21Z</dcterms:modified>
</cp:coreProperties>
</file>