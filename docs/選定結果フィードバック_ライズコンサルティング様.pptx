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handoutMasterIdLst>
    <p:handoutMasterId r:id="rId9"/>
  </p:handoutMasterIdLst>
  <p:sldIdLst>
    <p:sldId id="2147483632" r:id="rId5"/>
  </p:sldIdLst>
  <p:sldSz cx="12192000" cy="6858000"/>
  <p:notesSz cx="6858000" cy="9144000"/>
  <p:custDataLst>
    <p:tags r:id="rId10"/>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965"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2026/9/4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2026/9/4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8C020E-4EC8-5FD9-B78B-1721E2F7F444}"/>
              </a:ext>
            </a:extLst>
          </p:cNvPr>
          <p:cNvSpPr>
            <a:spLocks noGrp="1"/>
          </p:cNvSpPr>
          <p:nvPr>
            <p:ph type="title"/>
          </p:nvPr>
        </p:nvSpPr>
        <p:spPr/>
        <p:txBody>
          <a:bodyPr/>
          <a:lstStyle/>
          <a:p>
            <a:r>
              <a:rPr kumimoji="1" lang="ja-JP" altLang="en-US" dirty="0"/>
              <a:t>フィードバック</a:t>
            </a:r>
          </a:p>
        </p:txBody>
      </p:sp>
      <p:sp>
        <p:nvSpPr>
          <p:cNvPr id="3" name="テキスト プレースホルダー 2">
            <a:extLst>
              <a:ext uri="{FF2B5EF4-FFF2-40B4-BE49-F238E27FC236}">
                <a16:creationId xmlns:a16="http://schemas.microsoft.com/office/drawing/2014/main" id="{38AD41EE-991D-2EFF-852D-D322979541C1}"/>
              </a:ext>
            </a:extLst>
          </p:cNvPr>
          <p:cNvSpPr>
            <a:spLocks noGrp="1"/>
          </p:cNvSpPr>
          <p:nvPr>
            <p:ph type="body" sz="quarter" idx="13"/>
          </p:nvPr>
        </p:nvSpPr>
        <p:spPr/>
        <p:txBody>
          <a:bodyPr/>
          <a:lstStyle/>
          <a:p>
            <a:r>
              <a:rPr kumimoji="1" lang="en-US" altLang="ja-JP" dirty="0"/>
              <a:t>SSBJ</a:t>
            </a:r>
            <a:r>
              <a:rPr kumimoji="1" lang="ja-JP" altLang="en-US" dirty="0"/>
              <a:t>対応プラットフォーム構築に向けた要求定義支援のご提案につきまして、弊社評価者</a:t>
            </a:r>
            <a:r>
              <a:rPr kumimoji="1" lang="en-US" altLang="ja-JP" dirty="0"/>
              <a:t>4</a:t>
            </a:r>
            <a:r>
              <a:rPr kumimoji="1" lang="ja-JP" altLang="en-US" dirty="0"/>
              <a:t>名による厳正な審査の結果、誠に残念ながら、今回は他社のご提案を採用させていただくこととなりました</a:t>
            </a:r>
          </a:p>
        </p:txBody>
      </p:sp>
      <p:sp>
        <p:nvSpPr>
          <p:cNvPr id="9" name="Shape 4">
            <a:extLst>
              <a:ext uri="{FF2B5EF4-FFF2-40B4-BE49-F238E27FC236}">
                <a16:creationId xmlns:a16="http://schemas.microsoft.com/office/drawing/2014/main" id="{52FD0ED2-557F-70BF-8FEE-1919A5AF358C}"/>
              </a:ext>
            </a:extLst>
          </p:cNvPr>
          <p:cNvSpPr/>
          <p:nvPr/>
        </p:nvSpPr>
        <p:spPr>
          <a:xfrm>
            <a:off x="502920" y="1654647"/>
            <a:ext cx="310896" cy="310896"/>
          </a:xfrm>
          <a:prstGeom prst="ellipse">
            <a:avLst/>
          </a:prstGeom>
          <a:solidFill>
            <a:srgbClr val="008000"/>
          </a:solidFill>
          <a:ln/>
        </p:spPr>
        <p:txBody>
          <a:bodyPr/>
          <a:lstStyle/>
          <a:p>
            <a:endParaRPr lang="ja-JP" altLang="en-US"/>
          </a:p>
        </p:txBody>
      </p:sp>
      <p:pic>
        <p:nvPicPr>
          <p:cNvPr id="11" name="Image 0" descr="preencoded.png">
            <a:extLst>
              <a:ext uri="{FF2B5EF4-FFF2-40B4-BE49-F238E27FC236}">
                <a16:creationId xmlns:a16="http://schemas.microsoft.com/office/drawing/2014/main" id="{C71E890F-210C-08F9-D898-C9CE0F75D61E}"/>
              </a:ext>
            </a:extLst>
          </p:cNvPr>
          <p:cNvPicPr>
            <a:picLocks noChangeAspect="1"/>
          </p:cNvPicPr>
          <p:nvPr/>
        </p:nvPicPr>
        <p:blipFill>
          <a:blip r:embed="rId2"/>
          <a:stretch>
            <a:fillRect/>
          </a:stretch>
        </p:blipFill>
        <p:spPr>
          <a:xfrm>
            <a:off x="571500" y="1723227"/>
            <a:ext cx="173736" cy="173736"/>
          </a:xfrm>
          <a:prstGeom prst="rect">
            <a:avLst/>
          </a:prstGeom>
        </p:spPr>
      </p:pic>
      <p:sp>
        <p:nvSpPr>
          <p:cNvPr id="13" name="Text 5">
            <a:extLst>
              <a:ext uri="{FF2B5EF4-FFF2-40B4-BE49-F238E27FC236}">
                <a16:creationId xmlns:a16="http://schemas.microsoft.com/office/drawing/2014/main" id="{94A7C2D8-DAC6-DDC2-38C7-B07EEE94DB28}"/>
              </a:ext>
            </a:extLst>
          </p:cNvPr>
          <p:cNvSpPr txBox="1"/>
          <p:nvPr/>
        </p:nvSpPr>
        <p:spPr>
          <a:xfrm>
            <a:off x="914400" y="1627215"/>
            <a:ext cx="5029200" cy="365760"/>
          </a:xfrm>
          <a:prstGeom prst="rect">
            <a:avLst/>
          </a:prstGeom>
          <a:noFill/>
          <a:ln/>
        </p:spPr>
        <p:txBody>
          <a:bodyPr wrap="square" lIns="0" tIns="0" rIns="0" bIns="0" rtlCol="0" anchor="ctr"/>
          <a:lstStyle/>
          <a:p>
            <a:pPr marL="0" indent="0">
              <a:buNone/>
            </a:pPr>
            <a:r>
              <a:rPr lang="en-US" sz="1450" b="1" dirty="0">
                <a:solidFill>
                  <a:srgbClr val="008000"/>
                </a:solidFill>
                <a:latin typeface="Meiryo" pitchFamily="34" charset="0"/>
                <a:ea typeface="Meiryo" pitchFamily="34" charset="-122"/>
                <a:cs typeface="Meiryo" pitchFamily="34" charset="-120"/>
              </a:rPr>
              <a:t>総括</a:t>
            </a:r>
            <a:endParaRPr lang="en-US" sz="1450" dirty="0">
              <a:solidFill>
                <a:srgbClr val="008000"/>
              </a:solidFill>
            </a:endParaRPr>
          </a:p>
        </p:txBody>
      </p:sp>
      <p:sp>
        <p:nvSpPr>
          <p:cNvPr id="15" name="Text 6">
            <a:extLst>
              <a:ext uri="{FF2B5EF4-FFF2-40B4-BE49-F238E27FC236}">
                <a16:creationId xmlns:a16="http://schemas.microsoft.com/office/drawing/2014/main" id="{D543221C-0C29-D421-3170-EAD306AC9B26}"/>
              </a:ext>
            </a:extLst>
          </p:cNvPr>
          <p:cNvSpPr txBox="1"/>
          <p:nvPr/>
        </p:nvSpPr>
        <p:spPr>
          <a:xfrm>
            <a:off x="502920" y="2084415"/>
            <a:ext cx="6236208" cy="1920240"/>
          </a:xfrm>
          <a:prstGeom prst="rect">
            <a:avLst/>
          </a:prstGeom>
          <a:noFill/>
          <a:ln/>
        </p:spPr>
        <p:txBody>
          <a:bodyPr wrap="square" lIns="0" tIns="0" rIns="0" bIns="0" rtlCol="0" anchor="t"/>
          <a:lstStyle/>
          <a:p>
            <a:pPr marL="0" indent="0">
              <a:lnSpc>
                <a:spcPct val="112000"/>
              </a:lnSpc>
              <a:spcAft>
                <a:spcPts val="700"/>
              </a:spcAft>
              <a:buNone/>
            </a:pPr>
            <a:r>
              <a:rPr lang="en-US" sz="1060" dirty="0">
                <a:solidFill>
                  <a:srgbClr val="26303B"/>
                </a:solidFill>
                <a:latin typeface="Meiryo" pitchFamily="34" charset="0"/>
                <a:ea typeface="Meiryo" pitchFamily="34" charset="-122"/>
                <a:cs typeface="Meiryo" pitchFamily="34" charset="-120"/>
              </a:rPr>
              <a:t>このたびは、弊社の依頼書を深く読み解き、精度の高いご提案をお寄せいただき、誠にありがとうございました。多大なご尽力に深く感謝申し上げます。</a:t>
            </a:r>
            <a:endParaRPr lang="en-US" sz="1060" dirty="0"/>
          </a:p>
          <a:p>
            <a:pPr marL="0" indent="0">
              <a:lnSpc>
                <a:spcPct val="112000"/>
              </a:lnSpc>
              <a:spcAft>
                <a:spcPts val="700"/>
              </a:spcAft>
              <a:buNone/>
            </a:pPr>
            <a:r>
              <a:rPr lang="en-US" sz="1060" dirty="0">
                <a:solidFill>
                  <a:srgbClr val="26303B"/>
                </a:solidFill>
                <a:latin typeface="Meiryo" pitchFamily="34" charset="0"/>
                <a:ea typeface="Meiryo" pitchFamily="34" charset="-122"/>
                <a:cs typeface="Meiryo" pitchFamily="34" charset="-120"/>
              </a:rPr>
              <a:t>弊社では、品質（Quality・50点）・コスト（Cost・23点）・納期（Delivery・27点）の3カテゴリ14項目からなる採点表を用い、評価者4名の合議により3社のご提案を厳正に審査いたしました。</a:t>
            </a:r>
            <a:endParaRPr lang="en-US" sz="1060" dirty="0"/>
          </a:p>
          <a:p>
            <a:pPr marL="0" indent="0">
              <a:lnSpc>
                <a:spcPct val="112000"/>
              </a:lnSpc>
              <a:buNone/>
            </a:pPr>
            <a:r>
              <a:rPr lang="en-US" sz="1060" dirty="0">
                <a:solidFill>
                  <a:srgbClr val="26303B"/>
                </a:solidFill>
                <a:latin typeface="Meiryo" pitchFamily="34" charset="0"/>
                <a:ea typeface="Meiryo" pitchFamily="34" charset="-122"/>
                <a:cs typeface="Meiryo" pitchFamily="34" charset="-120"/>
              </a:rPr>
              <a:t>その結果、貴社のご提案は総合評価第3位となりました。価格面・納期確約の面では3社の中でも際立った評価でしたが、総合的に他社のご提案がより弊社の要件に適合すると判断し、今回は見送らせていただく結論にいたりました。何卒ご理解賜りますようお願い申し上げます。</a:t>
            </a:r>
            <a:endParaRPr lang="en-US" sz="1060" dirty="0"/>
          </a:p>
        </p:txBody>
      </p:sp>
      <p:sp>
        <p:nvSpPr>
          <p:cNvPr id="17" name="Shape 7">
            <a:extLst>
              <a:ext uri="{FF2B5EF4-FFF2-40B4-BE49-F238E27FC236}">
                <a16:creationId xmlns:a16="http://schemas.microsoft.com/office/drawing/2014/main" id="{4A427540-DC07-EE76-25E1-3B5234A1E5A0}"/>
              </a:ext>
            </a:extLst>
          </p:cNvPr>
          <p:cNvSpPr/>
          <p:nvPr/>
        </p:nvSpPr>
        <p:spPr>
          <a:xfrm>
            <a:off x="6812280" y="1737360"/>
            <a:ext cx="4873752" cy="2072358"/>
          </a:xfrm>
          <a:prstGeom prst="roundRect">
            <a:avLst>
              <a:gd name="adj" fmla="val 3053"/>
            </a:avLst>
          </a:prstGeom>
          <a:solidFill>
            <a:srgbClr val="EAF5EC"/>
          </a:solidFill>
          <a:ln/>
          <a:effectLst>
            <a:outerShdw blurRad="76200" dist="25400" dir="5400000" algn="bl" rotWithShape="0">
              <a:srgbClr val="9AA7BC">
                <a:alpha val="28000"/>
              </a:srgbClr>
            </a:outerShdw>
          </a:effectLst>
        </p:spPr>
        <p:txBody>
          <a:bodyPr/>
          <a:lstStyle/>
          <a:p>
            <a:endParaRPr lang="ja-JP" altLang="en-US"/>
          </a:p>
        </p:txBody>
      </p:sp>
      <p:sp>
        <p:nvSpPr>
          <p:cNvPr id="19" name="Text 8">
            <a:extLst>
              <a:ext uri="{FF2B5EF4-FFF2-40B4-BE49-F238E27FC236}">
                <a16:creationId xmlns:a16="http://schemas.microsoft.com/office/drawing/2014/main" id="{2C75A16E-FF97-5EAA-6368-1BCDCA62E7CE}"/>
              </a:ext>
            </a:extLst>
          </p:cNvPr>
          <p:cNvSpPr txBox="1"/>
          <p:nvPr/>
        </p:nvSpPr>
        <p:spPr>
          <a:xfrm>
            <a:off x="7013448" y="1732787"/>
            <a:ext cx="4471416" cy="274320"/>
          </a:xfrm>
          <a:prstGeom prst="rect">
            <a:avLst/>
          </a:prstGeom>
          <a:noFill/>
          <a:ln/>
        </p:spPr>
        <p:txBody>
          <a:bodyPr wrap="square" lIns="0" tIns="0" rIns="0" bIns="0" rtlCol="0" anchor="ctr"/>
          <a:lstStyle/>
          <a:p>
            <a:pPr marL="0" indent="0">
              <a:buNone/>
            </a:pPr>
            <a:r>
              <a:rPr lang="en-US" sz="1050" b="1" dirty="0">
                <a:solidFill>
                  <a:srgbClr val="008000"/>
                </a:solidFill>
                <a:latin typeface="Meiryo" pitchFamily="34" charset="0"/>
                <a:ea typeface="Meiryo" pitchFamily="34" charset="-122"/>
                <a:cs typeface="Meiryo" pitchFamily="34" charset="-120"/>
              </a:rPr>
              <a:t>貴社評価サマリー（弊社採点表・評価者4名平均）</a:t>
            </a:r>
            <a:endParaRPr lang="en-US" sz="1050" dirty="0">
              <a:solidFill>
                <a:srgbClr val="008000"/>
              </a:solidFill>
            </a:endParaRPr>
          </a:p>
        </p:txBody>
      </p:sp>
      <p:sp>
        <p:nvSpPr>
          <p:cNvPr id="21" name="Text 9">
            <a:extLst>
              <a:ext uri="{FF2B5EF4-FFF2-40B4-BE49-F238E27FC236}">
                <a16:creationId xmlns:a16="http://schemas.microsoft.com/office/drawing/2014/main" id="{6362BC3F-3047-79BF-C0AA-81974449BFA6}"/>
              </a:ext>
            </a:extLst>
          </p:cNvPr>
          <p:cNvSpPr txBox="1"/>
          <p:nvPr/>
        </p:nvSpPr>
        <p:spPr>
          <a:xfrm>
            <a:off x="7013448" y="2007107"/>
            <a:ext cx="2743200" cy="658368"/>
          </a:xfrm>
          <a:prstGeom prst="rect">
            <a:avLst/>
          </a:prstGeom>
          <a:noFill/>
          <a:ln/>
        </p:spPr>
        <p:txBody>
          <a:bodyPr wrap="square" lIns="0" tIns="0" rIns="0" bIns="0" rtlCol="0" anchor="ctr"/>
          <a:lstStyle/>
          <a:p>
            <a:pPr marL="0" indent="0">
              <a:buNone/>
            </a:pPr>
            <a:r>
              <a:rPr lang="en-US" sz="3600" b="1" dirty="0">
                <a:solidFill>
                  <a:srgbClr val="2E7D32"/>
                </a:solidFill>
                <a:latin typeface="Meiryo" pitchFamily="34" charset="0"/>
                <a:ea typeface="Meiryo" pitchFamily="34" charset="-122"/>
                <a:cs typeface="Meiryo" pitchFamily="34" charset="-120"/>
              </a:rPr>
              <a:t>56.9</a:t>
            </a:r>
            <a:r>
              <a:rPr lang="en-US" sz="1200" b="1" dirty="0">
                <a:solidFill>
                  <a:srgbClr val="6B7280"/>
                </a:solidFill>
                <a:latin typeface="Meiryo" pitchFamily="34" charset="0"/>
                <a:ea typeface="Meiryo" pitchFamily="34" charset="-122"/>
                <a:cs typeface="Meiryo" pitchFamily="34" charset="-120"/>
              </a:rPr>
              <a:t>  / 100点</a:t>
            </a:r>
            <a:endParaRPr lang="en-US" sz="3600" dirty="0"/>
          </a:p>
        </p:txBody>
      </p:sp>
      <p:sp>
        <p:nvSpPr>
          <p:cNvPr id="23" name="Shape 10">
            <a:extLst>
              <a:ext uri="{FF2B5EF4-FFF2-40B4-BE49-F238E27FC236}">
                <a16:creationId xmlns:a16="http://schemas.microsoft.com/office/drawing/2014/main" id="{EE2BDE6F-7AB7-1E8F-F6DC-1FF51EAF3A1C}"/>
              </a:ext>
            </a:extLst>
          </p:cNvPr>
          <p:cNvSpPr/>
          <p:nvPr/>
        </p:nvSpPr>
        <p:spPr>
          <a:xfrm>
            <a:off x="9692640" y="2171699"/>
            <a:ext cx="1783080" cy="384048"/>
          </a:xfrm>
          <a:prstGeom prst="roundRect">
            <a:avLst>
              <a:gd name="adj" fmla="val 50000"/>
            </a:avLst>
          </a:prstGeom>
          <a:solidFill>
            <a:srgbClr val="2E7D32"/>
          </a:solidFill>
          <a:ln/>
        </p:spPr>
        <p:txBody>
          <a:bodyPr/>
          <a:lstStyle/>
          <a:p>
            <a:endParaRPr lang="ja-JP" altLang="en-US"/>
          </a:p>
        </p:txBody>
      </p:sp>
      <p:sp>
        <p:nvSpPr>
          <p:cNvPr id="25" name="Text 11">
            <a:extLst>
              <a:ext uri="{FF2B5EF4-FFF2-40B4-BE49-F238E27FC236}">
                <a16:creationId xmlns:a16="http://schemas.microsoft.com/office/drawing/2014/main" id="{33193C9B-C144-67F8-7007-8F7A72435699}"/>
              </a:ext>
            </a:extLst>
          </p:cNvPr>
          <p:cNvSpPr txBox="1"/>
          <p:nvPr/>
        </p:nvSpPr>
        <p:spPr>
          <a:xfrm>
            <a:off x="9692640" y="2171699"/>
            <a:ext cx="17830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Meiryo" pitchFamily="34" charset="0"/>
                <a:ea typeface="Meiryo" pitchFamily="34" charset="-122"/>
                <a:cs typeface="Meiryo" pitchFamily="34" charset="-120"/>
              </a:rPr>
              <a:t>総合第3位</a:t>
            </a:r>
            <a:endParaRPr lang="en-US" sz="1150" dirty="0"/>
          </a:p>
        </p:txBody>
      </p:sp>
      <p:sp>
        <p:nvSpPr>
          <p:cNvPr id="27" name="Text 12">
            <a:extLst>
              <a:ext uri="{FF2B5EF4-FFF2-40B4-BE49-F238E27FC236}">
                <a16:creationId xmlns:a16="http://schemas.microsoft.com/office/drawing/2014/main" id="{7AD0A2CA-C15F-AFC6-FAA6-74BB914DAF77}"/>
              </a:ext>
            </a:extLst>
          </p:cNvPr>
          <p:cNvSpPr txBox="1"/>
          <p:nvPr/>
        </p:nvSpPr>
        <p:spPr>
          <a:xfrm>
            <a:off x="7013448" y="2784347"/>
            <a:ext cx="1965960" cy="274320"/>
          </a:xfrm>
          <a:prstGeom prst="rect">
            <a:avLst/>
          </a:prstGeom>
          <a:noFill/>
          <a:ln/>
        </p:spPr>
        <p:txBody>
          <a:bodyPr wrap="square" lIns="0" tIns="0" rIns="0" bIns="0" rtlCol="0" anchor="ctr"/>
          <a:lstStyle/>
          <a:p>
            <a:pPr marL="0" indent="0">
              <a:buNone/>
            </a:pPr>
            <a:r>
              <a:rPr lang="en-US" sz="950" b="1" dirty="0">
                <a:solidFill>
                  <a:srgbClr val="26303B"/>
                </a:solidFill>
                <a:latin typeface="Meiryo" pitchFamily="34" charset="0"/>
                <a:ea typeface="Meiryo" pitchFamily="34" charset="-122"/>
                <a:cs typeface="Meiryo" pitchFamily="34" charset="-120"/>
              </a:rPr>
              <a:t>品質 Quality</a:t>
            </a:r>
            <a:endParaRPr lang="en-US" sz="950" dirty="0"/>
          </a:p>
        </p:txBody>
      </p:sp>
      <p:sp>
        <p:nvSpPr>
          <p:cNvPr id="29" name="Shape 13">
            <a:extLst>
              <a:ext uri="{FF2B5EF4-FFF2-40B4-BE49-F238E27FC236}">
                <a16:creationId xmlns:a16="http://schemas.microsoft.com/office/drawing/2014/main" id="{9173B8CF-0B22-A27C-BAC7-D60E0CB01459}"/>
              </a:ext>
            </a:extLst>
          </p:cNvPr>
          <p:cNvSpPr/>
          <p:nvPr/>
        </p:nvSpPr>
        <p:spPr>
          <a:xfrm>
            <a:off x="9025128" y="2843783"/>
            <a:ext cx="1591056" cy="155448"/>
          </a:xfrm>
          <a:prstGeom prst="roundRect">
            <a:avLst>
              <a:gd name="adj" fmla="val 29412"/>
            </a:avLst>
          </a:prstGeom>
          <a:solidFill>
            <a:srgbClr val="E3E8F0"/>
          </a:solidFill>
          <a:ln/>
        </p:spPr>
        <p:txBody>
          <a:bodyPr/>
          <a:lstStyle/>
          <a:p>
            <a:endParaRPr lang="ja-JP" altLang="en-US"/>
          </a:p>
        </p:txBody>
      </p:sp>
      <p:sp>
        <p:nvSpPr>
          <p:cNvPr id="31" name="Shape 14">
            <a:extLst>
              <a:ext uri="{FF2B5EF4-FFF2-40B4-BE49-F238E27FC236}">
                <a16:creationId xmlns:a16="http://schemas.microsoft.com/office/drawing/2014/main" id="{244BAB49-7B2A-78DE-8E52-12882FC90D31}"/>
              </a:ext>
            </a:extLst>
          </p:cNvPr>
          <p:cNvSpPr/>
          <p:nvPr/>
        </p:nvSpPr>
        <p:spPr>
          <a:xfrm>
            <a:off x="9025128" y="2843783"/>
            <a:ext cx="1377854" cy="155448"/>
          </a:xfrm>
          <a:prstGeom prst="roundRect">
            <a:avLst>
              <a:gd name="adj" fmla="val 29412"/>
            </a:avLst>
          </a:prstGeom>
          <a:solidFill>
            <a:srgbClr val="2E7D32"/>
          </a:solidFill>
          <a:ln/>
        </p:spPr>
        <p:txBody>
          <a:bodyPr/>
          <a:lstStyle/>
          <a:p>
            <a:endParaRPr lang="ja-JP" altLang="en-US"/>
          </a:p>
        </p:txBody>
      </p:sp>
      <p:sp>
        <p:nvSpPr>
          <p:cNvPr id="33" name="Text 15">
            <a:extLst>
              <a:ext uri="{FF2B5EF4-FFF2-40B4-BE49-F238E27FC236}">
                <a16:creationId xmlns:a16="http://schemas.microsoft.com/office/drawing/2014/main" id="{131E1DF4-00E5-03DA-4F14-38B33AE0B3A3}"/>
              </a:ext>
            </a:extLst>
          </p:cNvPr>
          <p:cNvSpPr txBox="1"/>
          <p:nvPr/>
        </p:nvSpPr>
        <p:spPr>
          <a:xfrm>
            <a:off x="10689336" y="2784347"/>
            <a:ext cx="822960" cy="274320"/>
          </a:xfrm>
          <a:prstGeom prst="rect">
            <a:avLst/>
          </a:prstGeom>
          <a:noFill/>
          <a:ln/>
        </p:spPr>
        <p:txBody>
          <a:bodyPr wrap="square" lIns="0" tIns="0" rIns="0" bIns="0" rtlCol="0" anchor="ctr"/>
          <a:lstStyle/>
          <a:p>
            <a:pPr marL="0" indent="0">
              <a:buNone/>
            </a:pPr>
            <a:r>
              <a:rPr lang="en-US" sz="950" b="1" dirty="0">
                <a:solidFill>
                  <a:srgbClr val="008000"/>
                </a:solidFill>
                <a:latin typeface="Meiryo" pitchFamily="34" charset="0"/>
                <a:ea typeface="Meiryo" pitchFamily="34" charset="-122"/>
                <a:cs typeface="Meiryo" pitchFamily="34" charset="-120"/>
              </a:rPr>
              <a:t>27.4 / 50</a:t>
            </a:r>
            <a:endParaRPr lang="en-US" sz="950" dirty="0">
              <a:solidFill>
                <a:srgbClr val="008000"/>
              </a:solidFill>
            </a:endParaRPr>
          </a:p>
        </p:txBody>
      </p:sp>
      <p:sp>
        <p:nvSpPr>
          <p:cNvPr id="35" name="Text 16">
            <a:extLst>
              <a:ext uri="{FF2B5EF4-FFF2-40B4-BE49-F238E27FC236}">
                <a16:creationId xmlns:a16="http://schemas.microsoft.com/office/drawing/2014/main" id="{D555E3BA-E2E3-319C-D1D9-51CF22796525}"/>
              </a:ext>
            </a:extLst>
          </p:cNvPr>
          <p:cNvSpPr txBox="1"/>
          <p:nvPr/>
        </p:nvSpPr>
        <p:spPr>
          <a:xfrm>
            <a:off x="7013448" y="3150107"/>
            <a:ext cx="1965960" cy="274320"/>
          </a:xfrm>
          <a:prstGeom prst="rect">
            <a:avLst/>
          </a:prstGeom>
          <a:noFill/>
          <a:ln/>
        </p:spPr>
        <p:txBody>
          <a:bodyPr wrap="square" lIns="0" tIns="0" rIns="0" bIns="0" rtlCol="0" anchor="ctr"/>
          <a:lstStyle/>
          <a:p>
            <a:pPr marL="0" indent="0">
              <a:buNone/>
            </a:pPr>
            <a:r>
              <a:rPr lang="en-US" sz="950" b="1" dirty="0">
                <a:solidFill>
                  <a:srgbClr val="26303B"/>
                </a:solidFill>
                <a:latin typeface="Meiryo" pitchFamily="34" charset="0"/>
                <a:ea typeface="Meiryo" pitchFamily="34" charset="-122"/>
                <a:cs typeface="Meiryo" pitchFamily="34" charset="-120"/>
              </a:rPr>
              <a:t>コスト Cost</a:t>
            </a:r>
            <a:endParaRPr lang="en-US" sz="950" dirty="0"/>
          </a:p>
        </p:txBody>
      </p:sp>
      <p:sp>
        <p:nvSpPr>
          <p:cNvPr id="37" name="Shape 17">
            <a:extLst>
              <a:ext uri="{FF2B5EF4-FFF2-40B4-BE49-F238E27FC236}">
                <a16:creationId xmlns:a16="http://schemas.microsoft.com/office/drawing/2014/main" id="{B3645D79-9987-BF0E-96D8-FAE9DCA47588}"/>
              </a:ext>
            </a:extLst>
          </p:cNvPr>
          <p:cNvSpPr/>
          <p:nvPr/>
        </p:nvSpPr>
        <p:spPr>
          <a:xfrm>
            <a:off x="9025128" y="3209543"/>
            <a:ext cx="1591056" cy="155448"/>
          </a:xfrm>
          <a:prstGeom prst="roundRect">
            <a:avLst>
              <a:gd name="adj" fmla="val 29412"/>
            </a:avLst>
          </a:prstGeom>
          <a:solidFill>
            <a:srgbClr val="E3E8F0"/>
          </a:solidFill>
          <a:ln/>
        </p:spPr>
        <p:txBody>
          <a:bodyPr/>
          <a:lstStyle/>
          <a:p>
            <a:endParaRPr lang="ja-JP" altLang="en-US"/>
          </a:p>
        </p:txBody>
      </p:sp>
      <p:sp>
        <p:nvSpPr>
          <p:cNvPr id="39" name="Shape 18">
            <a:extLst>
              <a:ext uri="{FF2B5EF4-FFF2-40B4-BE49-F238E27FC236}">
                <a16:creationId xmlns:a16="http://schemas.microsoft.com/office/drawing/2014/main" id="{0D03EED5-71F4-5143-ED57-5AB5A3241A57}"/>
              </a:ext>
            </a:extLst>
          </p:cNvPr>
          <p:cNvSpPr/>
          <p:nvPr/>
        </p:nvSpPr>
        <p:spPr>
          <a:xfrm>
            <a:off x="9025128" y="3209543"/>
            <a:ext cx="975387" cy="155448"/>
          </a:xfrm>
          <a:prstGeom prst="roundRect">
            <a:avLst>
              <a:gd name="adj" fmla="val 29412"/>
            </a:avLst>
          </a:prstGeom>
          <a:solidFill>
            <a:srgbClr val="2E7D32"/>
          </a:solidFill>
          <a:ln/>
        </p:spPr>
        <p:txBody>
          <a:bodyPr/>
          <a:lstStyle/>
          <a:p>
            <a:endParaRPr lang="ja-JP" altLang="en-US"/>
          </a:p>
        </p:txBody>
      </p:sp>
      <p:sp>
        <p:nvSpPr>
          <p:cNvPr id="41" name="Text 19">
            <a:extLst>
              <a:ext uri="{FF2B5EF4-FFF2-40B4-BE49-F238E27FC236}">
                <a16:creationId xmlns:a16="http://schemas.microsoft.com/office/drawing/2014/main" id="{92A4B9DD-8FDB-A9FB-C63C-1A65CB8F2DB5}"/>
              </a:ext>
            </a:extLst>
          </p:cNvPr>
          <p:cNvSpPr txBox="1"/>
          <p:nvPr/>
        </p:nvSpPr>
        <p:spPr>
          <a:xfrm>
            <a:off x="10689336" y="3150107"/>
            <a:ext cx="822960" cy="274320"/>
          </a:xfrm>
          <a:prstGeom prst="rect">
            <a:avLst/>
          </a:prstGeom>
          <a:noFill/>
          <a:ln/>
        </p:spPr>
        <p:txBody>
          <a:bodyPr wrap="square" lIns="0" tIns="0" rIns="0" bIns="0" rtlCol="0" anchor="ctr"/>
          <a:lstStyle/>
          <a:p>
            <a:pPr marL="0" indent="0">
              <a:buNone/>
            </a:pPr>
            <a:r>
              <a:rPr lang="en-US" sz="950" b="1" dirty="0">
                <a:solidFill>
                  <a:srgbClr val="008000"/>
                </a:solidFill>
                <a:latin typeface="Meiryo" pitchFamily="34" charset="0"/>
                <a:ea typeface="Meiryo" pitchFamily="34" charset="-122"/>
                <a:cs typeface="Meiryo" pitchFamily="34" charset="-120"/>
              </a:rPr>
              <a:t>13.1 / 23</a:t>
            </a:r>
            <a:endParaRPr lang="en-US" sz="950" dirty="0">
              <a:solidFill>
                <a:srgbClr val="008000"/>
              </a:solidFill>
            </a:endParaRPr>
          </a:p>
        </p:txBody>
      </p:sp>
      <p:sp>
        <p:nvSpPr>
          <p:cNvPr id="43" name="Text 20">
            <a:extLst>
              <a:ext uri="{FF2B5EF4-FFF2-40B4-BE49-F238E27FC236}">
                <a16:creationId xmlns:a16="http://schemas.microsoft.com/office/drawing/2014/main" id="{DF9605E8-1241-58E7-20BA-08A0270E552F}"/>
              </a:ext>
            </a:extLst>
          </p:cNvPr>
          <p:cNvSpPr txBox="1"/>
          <p:nvPr/>
        </p:nvSpPr>
        <p:spPr>
          <a:xfrm>
            <a:off x="7013448" y="3515867"/>
            <a:ext cx="1965960" cy="274320"/>
          </a:xfrm>
          <a:prstGeom prst="rect">
            <a:avLst/>
          </a:prstGeom>
          <a:noFill/>
          <a:ln/>
        </p:spPr>
        <p:txBody>
          <a:bodyPr wrap="square" lIns="0" tIns="0" rIns="0" bIns="0" rtlCol="0" anchor="ctr"/>
          <a:lstStyle/>
          <a:p>
            <a:pPr marL="0" indent="0">
              <a:buNone/>
            </a:pPr>
            <a:r>
              <a:rPr lang="en-US" sz="950" b="1" dirty="0">
                <a:solidFill>
                  <a:srgbClr val="26303B"/>
                </a:solidFill>
                <a:latin typeface="Meiryo" pitchFamily="34" charset="0"/>
                <a:ea typeface="Meiryo" pitchFamily="34" charset="-122"/>
                <a:cs typeface="Meiryo" pitchFamily="34" charset="-120"/>
              </a:rPr>
              <a:t>納期 Delivery</a:t>
            </a:r>
            <a:endParaRPr lang="en-US" sz="950" dirty="0"/>
          </a:p>
        </p:txBody>
      </p:sp>
      <p:sp>
        <p:nvSpPr>
          <p:cNvPr id="45" name="Shape 21">
            <a:extLst>
              <a:ext uri="{FF2B5EF4-FFF2-40B4-BE49-F238E27FC236}">
                <a16:creationId xmlns:a16="http://schemas.microsoft.com/office/drawing/2014/main" id="{F7B0898C-74FE-3433-D426-EA2B236BD0B2}"/>
              </a:ext>
            </a:extLst>
          </p:cNvPr>
          <p:cNvSpPr/>
          <p:nvPr/>
        </p:nvSpPr>
        <p:spPr>
          <a:xfrm>
            <a:off x="9025128" y="3575303"/>
            <a:ext cx="1591056" cy="155448"/>
          </a:xfrm>
          <a:prstGeom prst="roundRect">
            <a:avLst>
              <a:gd name="adj" fmla="val 29412"/>
            </a:avLst>
          </a:prstGeom>
          <a:solidFill>
            <a:srgbClr val="E3E8F0"/>
          </a:solidFill>
          <a:ln/>
        </p:spPr>
        <p:txBody>
          <a:bodyPr/>
          <a:lstStyle/>
          <a:p>
            <a:endParaRPr lang="ja-JP" altLang="en-US"/>
          </a:p>
        </p:txBody>
      </p:sp>
      <p:sp>
        <p:nvSpPr>
          <p:cNvPr id="47" name="Shape 22">
            <a:extLst>
              <a:ext uri="{FF2B5EF4-FFF2-40B4-BE49-F238E27FC236}">
                <a16:creationId xmlns:a16="http://schemas.microsoft.com/office/drawing/2014/main" id="{5E70312D-DF85-9E4B-87C7-74A3C491EDF2}"/>
              </a:ext>
            </a:extLst>
          </p:cNvPr>
          <p:cNvSpPr/>
          <p:nvPr/>
        </p:nvSpPr>
        <p:spPr>
          <a:xfrm>
            <a:off x="9025128" y="3575303"/>
            <a:ext cx="1043026" cy="155448"/>
          </a:xfrm>
          <a:prstGeom prst="roundRect">
            <a:avLst>
              <a:gd name="adj" fmla="val 29412"/>
            </a:avLst>
          </a:prstGeom>
          <a:solidFill>
            <a:srgbClr val="2E7D32"/>
          </a:solidFill>
          <a:ln/>
        </p:spPr>
        <p:txBody>
          <a:bodyPr/>
          <a:lstStyle/>
          <a:p>
            <a:endParaRPr lang="ja-JP" altLang="en-US"/>
          </a:p>
        </p:txBody>
      </p:sp>
      <p:sp>
        <p:nvSpPr>
          <p:cNvPr id="49" name="Text 23">
            <a:extLst>
              <a:ext uri="{FF2B5EF4-FFF2-40B4-BE49-F238E27FC236}">
                <a16:creationId xmlns:a16="http://schemas.microsoft.com/office/drawing/2014/main" id="{B2369744-940E-BB79-07DB-8EA97DDF375E}"/>
              </a:ext>
            </a:extLst>
          </p:cNvPr>
          <p:cNvSpPr txBox="1"/>
          <p:nvPr/>
        </p:nvSpPr>
        <p:spPr>
          <a:xfrm>
            <a:off x="10689336" y="3515867"/>
            <a:ext cx="822960" cy="274320"/>
          </a:xfrm>
          <a:prstGeom prst="rect">
            <a:avLst/>
          </a:prstGeom>
          <a:noFill/>
          <a:ln/>
        </p:spPr>
        <p:txBody>
          <a:bodyPr wrap="square" lIns="0" tIns="0" rIns="0" bIns="0" rtlCol="0" anchor="ctr"/>
          <a:lstStyle/>
          <a:p>
            <a:pPr marL="0" indent="0">
              <a:buNone/>
            </a:pPr>
            <a:r>
              <a:rPr lang="en-US" sz="950" b="1" dirty="0">
                <a:solidFill>
                  <a:srgbClr val="008000"/>
                </a:solidFill>
                <a:latin typeface="Meiryo" pitchFamily="34" charset="0"/>
                <a:ea typeface="Meiryo" pitchFamily="34" charset="-122"/>
                <a:cs typeface="Meiryo" pitchFamily="34" charset="-120"/>
              </a:rPr>
              <a:t>16.4 / 27</a:t>
            </a:r>
            <a:endParaRPr lang="en-US" sz="950" dirty="0">
              <a:solidFill>
                <a:srgbClr val="008000"/>
              </a:solidFill>
            </a:endParaRPr>
          </a:p>
        </p:txBody>
      </p:sp>
      <p:grpSp>
        <p:nvGrpSpPr>
          <p:cNvPr id="117" name="グループ化 116">
            <a:extLst>
              <a:ext uri="{FF2B5EF4-FFF2-40B4-BE49-F238E27FC236}">
                <a16:creationId xmlns:a16="http://schemas.microsoft.com/office/drawing/2014/main" id="{88C1658A-6811-69CF-96E8-A3C24C4EE277}"/>
              </a:ext>
            </a:extLst>
          </p:cNvPr>
          <p:cNvGrpSpPr/>
          <p:nvPr/>
        </p:nvGrpSpPr>
        <p:grpSpPr>
          <a:xfrm>
            <a:off x="547490" y="3808711"/>
            <a:ext cx="267623" cy="263292"/>
            <a:chOff x="547490" y="3808711"/>
            <a:chExt cx="267623" cy="263292"/>
          </a:xfrm>
        </p:grpSpPr>
        <p:sp>
          <p:nvSpPr>
            <p:cNvPr id="51" name="Shape 24">
              <a:extLst>
                <a:ext uri="{FF2B5EF4-FFF2-40B4-BE49-F238E27FC236}">
                  <a16:creationId xmlns:a16="http://schemas.microsoft.com/office/drawing/2014/main" id="{C3596F1F-A436-4A74-545E-75E77624E58C}"/>
                </a:ext>
              </a:extLst>
            </p:cNvPr>
            <p:cNvSpPr/>
            <p:nvPr/>
          </p:nvSpPr>
          <p:spPr>
            <a:xfrm>
              <a:off x="547490" y="3808711"/>
              <a:ext cx="267623" cy="263292"/>
            </a:xfrm>
            <a:prstGeom prst="ellipse">
              <a:avLst/>
            </a:prstGeom>
            <a:solidFill>
              <a:srgbClr val="008000"/>
            </a:solidFill>
            <a:ln/>
          </p:spPr>
          <p:txBody>
            <a:bodyPr/>
            <a:lstStyle/>
            <a:p>
              <a:endParaRPr lang="ja-JP" altLang="en-US" dirty="0"/>
            </a:p>
          </p:txBody>
        </p:sp>
        <p:pic>
          <p:nvPicPr>
            <p:cNvPr id="53" name="Image 1" descr="preencoded.png">
              <a:extLst>
                <a:ext uri="{FF2B5EF4-FFF2-40B4-BE49-F238E27FC236}">
                  <a16:creationId xmlns:a16="http://schemas.microsoft.com/office/drawing/2014/main" id="{59BA42E2-AEE9-8E79-967B-F5DDF6B2F2CA}"/>
                </a:ext>
              </a:extLst>
            </p:cNvPr>
            <p:cNvPicPr>
              <a:picLocks noChangeAspect="1"/>
            </p:cNvPicPr>
            <p:nvPr/>
          </p:nvPicPr>
          <p:blipFill>
            <a:blip r:embed="rId3"/>
            <a:stretch>
              <a:fillRect/>
            </a:stretch>
          </p:blipFill>
          <p:spPr>
            <a:xfrm>
              <a:off x="578663" y="3867513"/>
              <a:ext cx="191881" cy="148966"/>
            </a:xfrm>
            <a:prstGeom prst="rect">
              <a:avLst/>
            </a:prstGeom>
          </p:spPr>
        </p:pic>
      </p:grpSp>
      <p:sp>
        <p:nvSpPr>
          <p:cNvPr id="55" name="Text 25">
            <a:extLst>
              <a:ext uri="{FF2B5EF4-FFF2-40B4-BE49-F238E27FC236}">
                <a16:creationId xmlns:a16="http://schemas.microsoft.com/office/drawing/2014/main" id="{B7C15F86-8DFA-3C34-D6B6-BAFD7E5AE500}"/>
              </a:ext>
            </a:extLst>
          </p:cNvPr>
          <p:cNvSpPr txBox="1"/>
          <p:nvPr/>
        </p:nvSpPr>
        <p:spPr>
          <a:xfrm>
            <a:off x="957376" y="3802656"/>
            <a:ext cx="9089105" cy="313612"/>
          </a:xfrm>
          <a:prstGeom prst="rect">
            <a:avLst/>
          </a:prstGeom>
          <a:noFill/>
          <a:ln/>
        </p:spPr>
        <p:txBody>
          <a:bodyPr wrap="square" lIns="0" tIns="0" rIns="0" bIns="0" rtlCol="0" anchor="ctr"/>
          <a:lstStyle/>
          <a:p>
            <a:pPr marL="0" indent="0">
              <a:buNone/>
            </a:pPr>
            <a:r>
              <a:rPr lang="en-US" sz="1450" b="1" dirty="0">
                <a:solidFill>
                  <a:srgbClr val="008000"/>
                </a:solidFill>
                <a:latin typeface="Meiryo" pitchFamily="34" charset="0"/>
                <a:ea typeface="Meiryo" pitchFamily="34" charset="-122"/>
                <a:cs typeface="Meiryo" pitchFamily="34" charset="-120"/>
              </a:rPr>
              <a:t>貴社のご提案で高く評価したポイント</a:t>
            </a:r>
            <a:endParaRPr lang="en-US" sz="1450" dirty="0">
              <a:solidFill>
                <a:srgbClr val="008000"/>
              </a:solidFill>
            </a:endParaRPr>
          </a:p>
        </p:txBody>
      </p:sp>
      <p:grpSp>
        <p:nvGrpSpPr>
          <p:cNvPr id="92" name="グループ化 91">
            <a:extLst>
              <a:ext uri="{FF2B5EF4-FFF2-40B4-BE49-F238E27FC236}">
                <a16:creationId xmlns:a16="http://schemas.microsoft.com/office/drawing/2014/main" id="{F12AA0A9-3750-C8BE-585B-CAEC7402786B}"/>
              </a:ext>
            </a:extLst>
          </p:cNvPr>
          <p:cNvGrpSpPr/>
          <p:nvPr/>
        </p:nvGrpSpPr>
        <p:grpSpPr>
          <a:xfrm>
            <a:off x="502920" y="4144776"/>
            <a:ext cx="11354118" cy="1083743"/>
            <a:chOff x="502920" y="4773168"/>
            <a:chExt cx="10280423" cy="1535557"/>
          </a:xfrm>
        </p:grpSpPr>
        <p:sp>
          <p:nvSpPr>
            <p:cNvPr id="57" name="Shape 26">
              <a:extLst>
                <a:ext uri="{FF2B5EF4-FFF2-40B4-BE49-F238E27FC236}">
                  <a16:creationId xmlns:a16="http://schemas.microsoft.com/office/drawing/2014/main" id="{031D9A11-33A5-3E63-D4D6-870CFFB22E29}"/>
                </a:ext>
              </a:extLst>
            </p:cNvPr>
            <p:cNvSpPr/>
            <p:nvPr/>
          </p:nvSpPr>
          <p:spPr>
            <a:xfrm>
              <a:off x="502920" y="4773168"/>
              <a:ext cx="2522570" cy="1535557"/>
            </a:xfrm>
            <a:prstGeom prst="roundRect">
              <a:avLst>
                <a:gd name="adj" fmla="val 3500"/>
              </a:avLst>
            </a:prstGeom>
            <a:solidFill>
              <a:schemeClr val="accent6">
                <a:lumMod val="20000"/>
                <a:lumOff val="80000"/>
              </a:schemeClr>
            </a:solidFill>
            <a:ln/>
            <a:effectLst>
              <a:outerShdw blurRad="76200" dist="25400" dir="5400000" algn="bl" rotWithShape="0">
                <a:srgbClr val="9AA7BC">
                  <a:alpha val="28000"/>
                </a:srgbClr>
              </a:outerShdw>
            </a:effectLst>
          </p:spPr>
          <p:txBody>
            <a:bodyPr/>
            <a:lstStyle/>
            <a:p>
              <a:endParaRPr lang="ja-JP" altLang="en-US" dirty="0"/>
            </a:p>
          </p:txBody>
        </p:sp>
        <p:sp>
          <p:nvSpPr>
            <p:cNvPr id="67" name="Shape 30">
              <a:extLst>
                <a:ext uri="{FF2B5EF4-FFF2-40B4-BE49-F238E27FC236}">
                  <a16:creationId xmlns:a16="http://schemas.microsoft.com/office/drawing/2014/main" id="{C45C0E41-CF8E-7452-06CE-70C434D50F93}"/>
                </a:ext>
              </a:extLst>
            </p:cNvPr>
            <p:cNvSpPr/>
            <p:nvPr/>
          </p:nvSpPr>
          <p:spPr>
            <a:xfrm>
              <a:off x="3120562" y="4773168"/>
              <a:ext cx="2522570" cy="1535557"/>
            </a:xfrm>
            <a:prstGeom prst="roundRect">
              <a:avLst>
                <a:gd name="adj" fmla="val 3500"/>
              </a:avLst>
            </a:prstGeom>
            <a:solidFill>
              <a:schemeClr val="accent6">
                <a:lumMod val="20000"/>
                <a:lumOff val="80000"/>
              </a:schemeClr>
            </a:solidFill>
            <a:ln/>
            <a:effectLst>
              <a:outerShdw blurRad="76200" dist="25400" dir="5400000" algn="bl" rotWithShape="0">
                <a:srgbClr val="9AA7BC">
                  <a:alpha val="28000"/>
                </a:srgbClr>
              </a:outerShdw>
            </a:effectLst>
          </p:spPr>
          <p:txBody>
            <a:bodyPr/>
            <a:lstStyle/>
            <a:p>
              <a:endParaRPr lang="ja-JP" altLang="en-US"/>
            </a:p>
          </p:txBody>
        </p:sp>
        <p:sp>
          <p:nvSpPr>
            <p:cNvPr id="77" name="Shape 34">
              <a:extLst>
                <a:ext uri="{FF2B5EF4-FFF2-40B4-BE49-F238E27FC236}">
                  <a16:creationId xmlns:a16="http://schemas.microsoft.com/office/drawing/2014/main" id="{B4A972CC-599B-631E-40BA-8EC796EBAA15}"/>
                </a:ext>
              </a:extLst>
            </p:cNvPr>
            <p:cNvSpPr/>
            <p:nvPr/>
          </p:nvSpPr>
          <p:spPr>
            <a:xfrm>
              <a:off x="5738203" y="4773168"/>
              <a:ext cx="2383131" cy="1535557"/>
            </a:xfrm>
            <a:prstGeom prst="roundRect">
              <a:avLst>
                <a:gd name="adj" fmla="val 3500"/>
              </a:avLst>
            </a:prstGeom>
            <a:solidFill>
              <a:schemeClr val="accent6">
                <a:lumMod val="20000"/>
                <a:lumOff val="80000"/>
              </a:schemeClr>
            </a:solidFill>
            <a:ln/>
            <a:effectLst>
              <a:outerShdw blurRad="76200" dist="25400" dir="5400000" algn="bl" rotWithShape="0">
                <a:srgbClr val="9AA7BC">
                  <a:alpha val="28000"/>
                </a:srgbClr>
              </a:outerShdw>
            </a:effectLst>
          </p:spPr>
          <p:txBody>
            <a:bodyPr/>
            <a:lstStyle/>
            <a:p>
              <a:endParaRPr lang="ja-JP" altLang="en-US" dirty="0"/>
            </a:p>
          </p:txBody>
        </p:sp>
        <p:sp>
          <p:nvSpPr>
            <p:cNvPr id="63" name="Text 28">
              <a:extLst>
                <a:ext uri="{FF2B5EF4-FFF2-40B4-BE49-F238E27FC236}">
                  <a16:creationId xmlns:a16="http://schemas.microsoft.com/office/drawing/2014/main" id="{7702D823-E17C-6CE3-70A3-567D74BF1FA9}"/>
                </a:ext>
              </a:extLst>
            </p:cNvPr>
            <p:cNvSpPr txBox="1"/>
            <p:nvPr/>
          </p:nvSpPr>
          <p:spPr>
            <a:xfrm>
              <a:off x="502920" y="4880657"/>
              <a:ext cx="2516231" cy="368534"/>
            </a:xfrm>
            <a:prstGeom prst="rect">
              <a:avLst/>
            </a:prstGeom>
            <a:noFill/>
            <a:ln/>
          </p:spPr>
          <p:txBody>
            <a:bodyPr wrap="square" lIns="0" tIns="0" rIns="0" bIns="0" rtlCol="0" anchor="ctr"/>
            <a:lstStyle/>
            <a:p>
              <a:r>
                <a:rPr lang="ja-JP" altLang="ja-JP" sz="1200" dirty="0"/>
                <a:t>最安価格と要求納期への整合</a:t>
              </a:r>
              <a:endParaRPr lang="en-US" sz="1150" dirty="0"/>
            </a:p>
          </p:txBody>
        </p:sp>
        <p:sp>
          <p:nvSpPr>
            <p:cNvPr id="65" name="Text 29">
              <a:extLst>
                <a:ext uri="{FF2B5EF4-FFF2-40B4-BE49-F238E27FC236}">
                  <a16:creationId xmlns:a16="http://schemas.microsoft.com/office/drawing/2014/main" id="{A6FC692C-CC9B-A1C0-50F9-A4EFEB43BA12}"/>
                </a:ext>
              </a:extLst>
            </p:cNvPr>
            <p:cNvSpPr txBox="1"/>
            <p:nvPr/>
          </p:nvSpPr>
          <p:spPr>
            <a:xfrm>
              <a:off x="642359" y="5325969"/>
              <a:ext cx="2243693" cy="844556"/>
            </a:xfrm>
            <a:prstGeom prst="rect">
              <a:avLst/>
            </a:prstGeom>
            <a:noFill/>
            <a:ln/>
          </p:spPr>
          <p:txBody>
            <a:bodyPr wrap="square" lIns="0" tIns="0" rIns="0" bIns="0" rtlCol="0" anchor="t"/>
            <a:lstStyle/>
            <a:p>
              <a:r>
                <a:rPr lang="ja-JP" altLang="ja-JP" sz="1000" dirty="0"/>
                <a:t>値引き後2,400万円という3社中最安のご提示に加え、唯一「11月末までのRFP発行完了」を確約した工程表をご提示いただいた点は、納期評価において高く評価いたしました。</a:t>
              </a:r>
              <a:endParaRPr lang="en-US" sz="980" dirty="0"/>
            </a:p>
          </p:txBody>
        </p:sp>
        <p:sp>
          <p:nvSpPr>
            <p:cNvPr id="73" name="Text 32">
              <a:extLst>
                <a:ext uri="{FF2B5EF4-FFF2-40B4-BE49-F238E27FC236}">
                  <a16:creationId xmlns:a16="http://schemas.microsoft.com/office/drawing/2014/main" id="{8DF26C95-0EA0-B427-6606-892A5B55ECC0}"/>
                </a:ext>
              </a:extLst>
            </p:cNvPr>
            <p:cNvSpPr txBox="1"/>
            <p:nvPr/>
          </p:nvSpPr>
          <p:spPr>
            <a:xfrm>
              <a:off x="3576906" y="4880657"/>
              <a:ext cx="1964815" cy="368534"/>
            </a:xfrm>
            <a:prstGeom prst="rect">
              <a:avLst/>
            </a:prstGeom>
            <a:noFill/>
            <a:ln/>
          </p:spPr>
          <p:txBody>
            <a:bodyPr wrap="square" lIns="0" tIns="0" rIns="0" bIns="0" rtlCol="0" anchor="ctr"/>
            <a:lstStyle/>
            <a:p>
              <a:r>
                <a:rPr lang="ja-JP" altLang="ja-JP" sz="1200" dirty="0"/>
                <a:t>成果物完遂へのコミット（3社中最高）</a:t>
              </a:r>
              <a:endParaRPr lang="en-US" sz="1150" dirty="0"/>
            </a:p>
          </p:txBody>
        </p:sp>
        <p:sp>
          <p:nvSpPr>
            <p:cNvPr id="75" name="Text 33">
              <a:extLst>
                <a:ext uri="{FF2B5EF4-FFF2-40B4-BE49-F238E27FC236}">
                  <a16:creationId xmlns:a16="http://schemas.microsoft.com/office/drawing/2014/main" id="{1C0D7527-DF9C-23F6-15AE-C6DFC696E882}"/>
                </a:ext>
              </a:extLst>
            </p:cNvPr>
            <p:cNvSpPr txBox="1"/>
            <p:nvPr/>
          </p:nvSpPr>
          <p:spPr>
            <a:xfrm>
              <a:off x="3260000" y="5325969"/>
              <a:ext cx="2243693" cy="844556"/>
            </a:xfrm>
            <a:prstGeom prst="rect">
              <a:avLst/>
            </a:prstGeom>
            <a:noFill/>
            <a:ln/>
          </p:spPr>
          <p:txBody>
            <a:bodyPr wrap="square" lIns="0" tIns="0" rIns="0" bIns="0" rtlCol="0" anchor="t"/>
            <a:lstStyle/>
            <a:p>
              <a:r>
                <a:rPr lang="ja-JP" altLang="ja-JP" sz="1000" dirty="0"/>
                <a:t>全成果物の完遂責任を明確にお約束いただいた点は3社の中でも際立っており、責任の所在が明確なご提案姿勢に強い信頼感を持ちました。</a:t>
              </a:r>
              <a:endParaRPr lang="en-US" sz="980" dirty="0"/>
            </a:p>
          </p:txBody>
        </p:sp>
        <p:sp>
          <p:nvSpPr>
            <p:cNvPr id="83" name="Text 36">
              <a:extLst>
                <a:ext uri="{FF2B5EF4-FFF2-40B4-BE49-F238E27FC236}">
                  <a16:creationId xmlns:a16="http://schemas.microsoft.com/office/drawing/2014/main" id="{ACE14A77-2EF7-BB83-9391-EB2AAAE1DDAB}"/>
                </a:ext>
              </a:extLst>
            </p:cNvPr>
            <p:cNvSpPr txBox="1"/>
            <p:nvPr/>
          </p:nvSpPr>
          <p:spPr>
            <a:xfrm>
              <a:off x="5877642" y="4880657"/>
              <a:ext cx="2281721" cy="368534"/>
            </a:xfrm>
            <a:prstGeom prst="rect">
              <a:avLst/>
            </a:prstGeom>
            <a:noFill/>
            <a:ln/>
          </p:spPr>
          <p:txBody>
            <a:bodyPr wrap="square" lIns="0" tIns="0" rIns="0" bIns="0" rtlCol="0" anchor="ctr"/>
            <a:lstStyle/>
            <a:p>
              <a:pPr marL="0" indent="0">
                <a:buNone/>
              </a:pPr>
              <a:r>
                <a:rPr lang="en-US" sz="1150" b="1" dirty="0">
                  <a:latin typeface="Meiryo" pitchFamily="34" charset="0"/>
                  <a:ea typeface="Meiryo" pitchFamily="34" charset="-122"/>
                  <a:cs typeface="Meiryo" pitchFamily="34" charset="-120"/>
                </a:rPr>
                <a:t>見積総額の妥当性（3社中最高タイ）</a:t>
              </a:r>
              <a:endParaRPr lang="en-US" sz="1150" dirty="0"/>
            </a:p>
          </p:txBody>
        </p:sp>
        <p:sp>
          <p:nvSpPr>
            <p:cNvPr id="85" name="Text 37">
              <a:extLst>
                <a:ext uri="{FF2B5EF4-FFF2-40B4-BE49-F238E27FC236}">
                  <a16:creationId xmlns:a16="http://schemas.microsoft.com/office/drawing/2014/main" id="{F9A0AC93-E2FF-FFA8-7DBF-9790E5AEFEBF}"/>
                </a:ext>
              </a:extLst>
            </p:cNvPr>
            <p:cNvSpPr txBox="1"/>
            <p:nvPr/>
          </p:nvSpPr>
          <p:spPr>
            <a:xfrm>
              <a:off x="5877642" y="5325969"/>
              <a:ext cx="2243693" cy="844556"/>
            </a:xfrm>
            <a:prstGeom prst="rect">
              <a:avLst/>
            </a:prstGeom>
            <a:noFill/>
            <a:ln/>
          </p:spPr>
          <p:txBody>
            <a:bodyPr wrap="square" lIns="0" tIns="0" rIns="0" bIns="0" rtlCol="0" anchor="t"/>
            <a:lstStyle/>
            <a:p>
              <a:r>
                <a:rPr lang="ja-JP" altLang="ja-JP" sz="1000" dirty="0"/>
                <a:t>見積総額の水準は3社の中でも競争力があり、投資しやすいご提案であったと受け止めております。</a:t>
              </a:r>
              <a:endParaRPr lang="en-US" sz="980" dirty="0"/>
            </a:p>
          </p:txBody>
        </p:sp>
        <p:sp>
          <p:nvSpPr>
            <p:cNvPr id="89" name="Shape 34">
              <a:extLst>
                <a:ext uri="{FF2B5EF4-FFF2-40B4-BE49-F238E27FC236}">
                  <a16:creationId xmlns:a16="http://schemas.microsoft.com/office/drawing/2014/main" id="{2A321453-06D5-185D-C927-114D95950BF6}"/>
                </a:ext>
              </a:extLst>
            </p:cNvPr>
            <p:cNvSpPr/>
            <p:nvPr/>
          </p:nvSpPr>
          <p:spPr>
            <a:xfrm>
              <a:off x="8260773" y="4773168"/>
              <a:ext cx="2522570" cy="1535557"/>
            </a:xfrm>
            <a:prstGeom prst="roundRect">
              <a:avLst>
                <a:gd name="adj" fmla="val 3500"/>
              </a:avLst>
            </a:prstGeom>
            <a:solidFill>
              <a:schemeClr val="accent6">
                <a:lumMod val="20000"/>
                <a:lumOff val="80000"/>
              </a:schemeClr>
            </a:solidFill>
            <a:ln/>
            <a:effectLst>
              <a:outerShdw blurRad="76200" dist="25400" dir="5400000" algn="bl" rotWithShape="0">
                <a:srgbClr val="9AA7BC">
                  <a:alpha val="28000"/>
                </a:srgbClr>
              </a:outerShdw>
            </a:effectLst>
          </p:spPr>
          <p:txBody>
            <a:bodyPr/>
            <a:lstStyle/>
            <a:p>
              <a:endParaRPr lang="ja-JP" altLang="en-US" dirty="0"/>
            </a:p>
          </p:txBody>
        </p:sp>
        <p:sp>
          <p:nvSpPr>
            <p:cNvPr id="90" name="Text 36">
              <a:extLst>
                <a:ext uri="{FF2B5EF4-FFF2-40B4-BE49-F238E27FC236}">
                  <a16:creationId xmlns:a16="http://schemas.microsoft.com/office/drawing/2014/main" id="{49108E2C-07C7-5A48-214C-DA5CBAF2B6A4}"/>
                </a:ext>
              </a:extLst>
            </p:cNvPr>
            <p:cNvSpPr txBox="1"/>
            <p:nvPr/>
          </p:nvSpPr>
          <p:spPr>
            <a:xfrm>
              <a:off x="8717118" y="4880657"/>
              <a:ext cx="1964815" cy="368534"/>
            </a:xfrm>
            <a:prstGeom prst="rect">
              <a:avLst/>
            </a:prstGeom>
            <a:noFill/>
            <a:ln/>
          </p:spPr>
          <p:txBody>
            <a:bodyPr wrap="square" lIns="0" tIns="0" rIns="0" bIns="0" rtlCol="0" anchor="ctr"/>
            <a:lstStyle/>
            <a:p>
              <a:r>
                <a:rPr lang="ja-JP" altLang="ja-JP" sz="1200" dirty="0"/>
                <a:t>手戻り防止の二分法によるアジャイル対応</a:t>
              </a:r>
              <a:endParaRPr lang="en-US" sz="1150" dirty="0"/>
            </a:p>
          </p:txBody>
        </p:sp>
        <p:sp>
          <p:nvSpPr>
            <p:cNvPr id="91" name="Text 37">
              <a:extLst>
                <a:ext uri="{FF2B5EF4-FFF2-40B4-BE49-F238E27FC236}">
                  <a16:creationId xmlns:a16="http://schemas.microsoft.com/office/drawing/2014/main" id="{61874DCA-1745-677E-3E5A-147C7A60147F}"/>
                </a:ext>
              </a:extLst>
            </p:cNvPr>
            <p:cNvSpPr txBox="1"/>
            <p:nvPr/>
          </p:nvSpPr>
          <p:spPr>
            <a:xfrm>
              <a:off x="8400212" y="5325969"/>
              <a:ext cx="2243693" cy="844556"/>
            </a:xfrm>
            <a:prstGeom prst="rect">
              <a:avLst/>
            </a:prstGeom>
            <a:noFill/>
            <a:ln/>
          </p:spPr>
          <p:txBody>
            <a:bodyPr wrap="square" lIns="0" tIns="0" rIns="0" bIns="0" rtlCol="0" anchor="t"/>
            <a:lstStyle/>
            <a:p>
              <a:r>
                <a:rPr lang="ja-JP" altLang="ja-JP" sz="1000" dirty="0"/>
                <a:t>「凍結要件／条件付き要件」という手法により、弊社の戦略が未確定な中でも要件定義を先行して進められる設計になっていた点を評価いたしました。</a:t>
              </a:r>
              <a:endParaRPr lang="en-US" sz="980" dirty="0"/>
            </a:p>
          </p:txBody>
        </p:sp>
      </p:grpSp>
      <p:sp>
        <p:nvSpPr>
          <p:cNvPr id="98" name="Text 25">
            <a:extLst>
              <a:ext uri="{FF2B5EF4-FFF2-40B4-BE49-F238E27FC236}">
                <a16:creationId xmlns:a16="http://schemas.microsoft.com/office/drawing/2014/main" id="{3B37B961-A138-3067-934B-D9F91404397F}"/>
              </a:ext>
            </a:extLst>
          </p:cNvPr>
          <p:cNvSpPr txBox="1"/>
          <p:nvPr/>
        </p:nvSpPr>
        <p:spPr>
          <a:xfrm>
            <a:off x="957375" y="5263796"/>
            <a:ext cx="9089106" cy="313612"/>
          </a:xfrm>
          <a:prstGeom prst="rect">
            <a:avLst/>
          </a:prstGeom>
          <a:noFill/>
          <a:ln/>
        </p:spPr>
        <p:txBody>
          <a:bodyPr wrap="square" lIns="0" tIns="0" rIns="0" bIns="0" rtlCol="0" anchor="ctr"/>
          <a:lstStyle/>
          <a:p>
            <a:pPr marL="0" indent="0">
              <a:buNone/>
            </a:pPr>
            <a:r>
              <a:rPr lang="ja-JP" altLang="en-US" sz="1450" b="1" dirty="0">
                <a:solidFill>
                  <a:srgbClr val="008000"/>
                </a:solidFill>
              </a:rPr>
              <a:t>評価が伸びなかった点（次回のご参考として）</a:t>
            </a:r>
            <a:endParaRPr lang="en-US" sz="1450" b="1" dirty="0">
              <a:solidFill>
                <a:srgbClr val="008000"/>
              </a:solidFill>
            </a:endParaRPr>
          </a:p>
        </p:txBody>
      </p:sp>
      <p:sp>
        <p:nvSpPr>
          <p:cNvPr id="102" name="Shape 34">
            <a:extLst>
              <a:ext uri="{FF2B5EF4-FFF2-40B4-BE49-F238E27FC236}">
                <a16:creationId xmlns:a16="http://schemas.microsoft.com/office/drawing/2014/main" id="{8846AB99-B8B5-7498-8B54-54DDE2AA4323}"/>
              </a:ext>
            </a:extLst>
          </p:cNvPr>
          <p:cNvSpPr/>
          <p:nvPr/>
        </p:nvSpPr>
        <p:spPr>
          <a:xfrm>
            <a:off x="8165094" y="5685056"/>
            <a:ext cx="3691944" cy="483273"/>
          </a:xfrm>
          <a:prstGeom prst="roundRect">
            <a:avLst>
              <a:gd name="adj" fmla="val 3500"/>
            </a:avLst>
          </a:prstGeom>
          <a:solidFill>
            <a:schemeClr val="accent6">
              <a:lumMod val="20000"/>
              <a:lumOff val="80000"/>
            </a:schemeClr>
          </a:solidFill>
          <a:ln/>
          <a:effectLst>
            <a:outerShdw blurRad="76200" dist="25400" dir="5400000" algn="bl" rotWithShape="0">
              <a:srgbClr val="9AA7BC">
                <a:alpha val="28000"/>
              </a:srgbClr>
            </a:outerShdw>
          </a:effectLst>
        </p:spPr>
        <p:txBody>
          <a:bodyPr/>
          <a:lstStyle/>
          <a:p>
            <a:endParaRPr lang="ja-JP" altLang="en-US" dirty="0"/>
          </a:p>
        </p:txBody>
      </p:sp>
      <p:grpSp>
        <p:nvGrpSpPr>
          <p:cNvPr id="121" name="グループ化 120">
            <a:extLst>
              <a:ext uri="{FF2B5EF4-FFF2-40B4-BE49-F238E27FC236}">
                <a16:creationId xmlns:a16="http://schemas.microsoft.com/office/drawing/2014/main" id="{C3E84584-B0B8-904C-8AF6-8E872D18217B}"/>
              </a:ext>
            </a:extLst>
          </p:cNvPr>
          <p:cNvGrpSpPr/>
          <p:nvPr/>
        </p:nvGrpSpPr>
        <p:grpSpPr>
          <a:xfrm>
            <a:off x="502919" y="5685056"/>
            <a:ext cx="7458097" cy="483273"/>
            <a:chOff x="502920" y="5685056"/>
            <a:chExt cx="3691944" cy="483273"/>
          </a:xfrm>
        </p:grpSpPr>
        <p:sp>
          <p:nvSpPr>
            <p:cNvPr id="100" name="Shape 26">
              <a:extLst>
                <a:ext uri="{FF2B5EF4-FFF2-40B4-BE49-F238E27FC236}">
                  <a16:creationId xmlns:a16="http://schemas.microsoft.com/office/drawing/2014/main" id="{87FBE88B-B619-5DE7-80CB-D839EAAF250C}"/>
                </a:ext>
              </a:extLst>
            </p:cNvPr>
            <p:cNvSpPr/>
            <p:nvPr/>
          </p:nvSpPr>
          <p:spPr>
            <a:xfrm>
              <a:off x="502920" y="5685056"/>
              <a:ext cx="3691944" cy="483273"/>
            </a:xfrm>
            <a:prstGeom prst="roundRect">
              <a:avLst>
                <a:gd name="adj" fmla="val 3500"/>
              </a:avLst>
            </a:prstGeom>
            <a:solidFill>
              <a:schemeClr val="accent6">
                <a:lumMod val="20000"/>
                <a:lumOff val="80000"/>
              </a:schemeClr>
            </a:solidFill>
            <a:ln/>
            <a:effectLst>
              <a:outerShdw blurRad="76200" dist="25400" dir="5400000" algn="bl" rotWithShape="0">
                <a:srgbClr val="9AA7BC">
                  <a:alpha val="28000"/>
                </a:srgbClr>
              </a:outerShdw>
            </a:effectLst>
          </p:spPr>
          <p:txBody>
            <a:bodyPr/>
            <a:lstStyle/>
            <a:p>
              <a:endParaRPr lang="ja-JP" altLang="en-US" dirty="0"/>
            </a:p>
          </p:txBody>
        </p:sp>
        <p:sp>
          <p:nvSpPr>
            <p:cNvPr id="103" name="Text 28">
              <a:extLst>
                <a:ext uri="{FF2B5EF4-FFF2-40B4-BE49-F238E27FC236}">
                  <a16:creationId xmlns:a16="http://schemas.microsoft.com/office/drawing/2014/main" id="{57F614C3-C665-98E3-921F-38ABF5B800EE}"/>
                </a:ext>
              </a:extLst>
            </p:cNvPr>
            <p:cNvSpPr txBox="1"/>
            <p:nvPr/>
          </p:nvSpPr>
          <p:spPr>
            <a:xfrm>
              <a:off x="502920" y="5718885"/>
              <a:ext cx="3682666" cy="115986"/>
            </a:xfrm>
            <a:prstGeom prst="rect">
              <a:avLst/>
            </a:prstGeom>
            <a:noFill/>
            <a:ln/>
          </p:spPr>
          <p:txBody>
            <a:bodyPr wrap="square" lIns="0" tIns="0" rIns="0" bIns="0" rtlCol="0" anchor="ctr"/>
            <a:lstStyle/>
            <a:p>
              <a:r>
                <a:rPr lang="ja-JP" altLang="ja-JP" sz="1200" dirty="0"/>
                <a:t>SSBJ・第三者保証・類似基盤の実績</a:t>
              </a:r>
              <a:endParaRPr lang="en-US" sz="1150" dirty="0"/>
            </a:p>
          </p:txBody>
        </p:sp>
        <p:sp>
          <p:nvSpPr>
            <p:cNvPr id="104" name="Text 29">
              <a:extLst>
                <a:ext uri="{FF2B5EF4-FFF2-40B4-BE49-F238E27FC236}">
                  <a16:creationId xmlns:a16="http://schemas.microsoft.com/office/drawing/2014/main" id="{CA72CE86-72F0-74C2-EC25-FBBB034FDA49}"/>
                </a:ext>
              </a:extLst>
            </p:cNvPr>
            <p:cNvSpPr txBox="1"/>
            <p:nvPr/>
          </p:nvSpPr>
          <p:spPr>
            <a:xfrm>
              <a:off x="706998" y="5859034"/>
              <a:ext cx="3283789" cy="265800"/>
            </a:xfrm>
            <a:prstGeom prst="rect">
              <a:avLst/>
            </a:prstGeom>
            <a:noFill/>
            <a:ln/>
          </p:spPr>
          <p:txBody>
            <a:bodyPr wrap="square" lIns="0" tIns="0" rIns="0" bIns="0" rtlCol="0" anchor="t"/>
            <a:lstStyle/>
            <a:p>
              <a:r>
                <a:rPr lang="ja-JP" altLang="ja-JP" sz="1000" dirty="0"/>
                <a:t>会社としてのSSBJ・第三者保証対応の実績が乏しく、個人の経歴に依存する印象を受けました。この項目（配点10点）は3社の中で最も差が大きく、評価上の最大の差分となりました。</a:t>
              </a:r>
              <a:endParaRPr lang="en-US" sz="980" dirty="0"/>
            </a:p>
          </p:txBody>
        </p:sp>
      </p:grpSp>
      <p:sp>
        <p:nvSpPr>
          <p:cNvPr id="107" name="Text 36">
            <a:extLst>
              <a:ext uri="{FF2B5EF4-FFF2-40B4-BE49-F238E27FC236}">
                <a16:creationId xmlns:a16="http://schemas.microsoft.com/office/drawing/2014/main" id="{A418D51A-37FD-E39B-358D-660DD0EFBC54}"/>
              </a:ext>
            </a:extLst>
          </p:cNvPr>
          <p:cNvSpPr txBox="1"/>
          <p:nvPr/>
        </p:nvSpPr>
        <p:spPr>
          <a:xfrm>
            <a:off x="8369172" y="5718885"/>
            <a:ext cx="3339446" cy="115986"/>
          </a:xfrm>
          <a:prstGeom prst="rect">
            <a:avLst/>
          </a:prstGeom>
          <a:noFill/>
          <a:ln/>
        </p:spPr>
        <p:txBody>
          <a:bodyPr wrap="square" lIns="0" tIns="0" rIns="0" bIns="0" rtlCol="0" anchor="ctr"/>
          <a:lstStyle/>
          <a:p>
            <a:r>
              <a:rPr lang="ja-JP" altLang="ja-JP" sz="1200" dirty="0"/>
              <a:t>主要ポストの確定度と「攻め」の設計力</a:t>
            </a:r>
            <a:endParaRPr lang="en-US" sz="1150" dirty="0"/>
          </a:p>
        </p:txBody>
      </p:sp>
      <p:sp>
        <p:nvSpPr>
          <p:cNvPr id="108" name="Text 37">
            <a:extLst>
              <a:ext uri="{FF2B5EF4-FFF2-40B4-BE49-F238E27FC236}">
                <a16:creationId xmlns:a16="http://schemas.microsoft.com/office/drawing/2014/main" id="{8DF3084D-875F-6664-CAB8-3058887C4277}"/>
              </a:ext>
            </a:extLst>
          </p:cNvPr>
          <p:cNvSpPr txBox="1"/>
          <p:nvPr/>
        </p:nvSpPr>
        <p:spPr>
          <a:xfrm>
            <a:off x="8369172" y="5859034"/>
            <a:ext cx="3283789" cy="265800"/>
          </a:xfrm>
          <a:prstGeom prst="rect">
            <a:avLst/>
          </a:prstGeom>
          <a:noFill/>
          <a:ln/>
        </p:spPr>
        <p:txBody>
          <a:bodyPr wrap="square" lIns="0" tIns="0" rIns="0" bIns="0" rtlCol="0" anchor="t"/>
          <a:lstStyle/>
          <a:p>
            <a:r>
              <a:rPr lang="ja-JP" altLang="ja-JP" sz="1000" dirty="0"/>
              <a:t>PM・リード等の主要ポストが「〇〇or△△」という表記で未確定のままご提示され、統制設計や非財務情報の経営活用（攻め）に関するご説明が一般論にとどまった点が、品質評価に影響しました。</a:t>
            </a:r>
            <a:endParaRPr lang="en-US" sz="980" dirty="0"/>
          </a:p>
        </p:txBody>
      </p:sp>
      <p:grpSp>
        <p:nvGrpSpPr>
          <p:cNvPr id="118" name="グループ化 117">
            <a:extLst>
              <a:ext uri="{FF2B5EF4-FFF2-40B4-BE49-F238E27FC236}">
                <a16:creationId xmlns:a16="http://schemas.microsoft.com/office/drawing/2014/main" id="{C22D324E-9C45-BE3D-AC87-1C7CB2246B69}"/>
              </a:ext>
            </a:extLst>
          </p:cNvPr>
          <p:cNvGrpSpPr/>
          <p:nvPr/>
        </p:nvGrpSpPr>
        <p:grpSpPr>
          <a:xfrm>
            <a:off x="547490" y="5273204"/>
            <a:ext cx="267623" cy="263292"/>
            <a:chOff x="547490" y="3808711"/>
            <a:chExt cx="267623" cy="263292"/>
          </a:xfrm>
        </p:grpSpPr>
        <p:sp>
          <p:nvSpPr>
            <p:cNvPr id="119" name="Shape 24">
              <a:extLst>
                <a:ext uri="{FF2B5EF4-FFF2-40B4-BE49-F238E27FC236}">
                  <a16:creationId xmlns:a16="http://schemas.microsoft.com/office/drawing/2014/main" id="{A6F89B05-1F4E-A707-F18D-34F9B0BC6351}"/>
                </a:ext>
              </a:extLst>
            </p:cNvPr>
            <p:cNvSpPr/>
            <p:nvPr/>
          </p:nvSpPr>
          <p:spPr>
            <a:xfrm>
              <a:off x="547490" y="3808711"/>
              <a:ext cx="267623" cy="263292"/>
            </a:xfrm>
            <a:prstGeom prst="ellipse">
              <a:avLst/>
            </a:prstGeom>
            <a:solidFill>
              <a:srgbClr val="008000"/>
            </a:solidFill>
            <a:ln/>
          </p:spPr>
          <p:txBody>
            <a:bodyPr/>
            <a:lstStyle/>
            <a:p>
              <a:endParaRPr lang="ja-JP" altLang="en-US" dirty="0"/>
            </a:p>
          </p:txBody>
        </p:sp>
        <p:pic>
          <p:nvPicPr>
            <p:cNvPr id="120" name="Image 1" descr="preencoded.png">
              <a:extLst>
                <a:ext uri="{FF2B5EF4-FFF2-40B4-BE49-F238E27FC236}">
                  <a16:creationId xmlns:a16="http://schemas.microsoft.com/office/drawing/2014/main" id="{4B470869-A52F-18B7-DB07-BBA3B80891BD}"/>
                </a:ext>
              </a:extLst>
            </p:cNvPr>
            <p:cNvPicPr>
              <a:picLocks noChangeAspect="1"/>
            </p:cNvPicPr>
            <p:nvPr/>
          </p:nvPicPr>
          <p:blipFill>
            <a:blip r:embed="rId3"/>
            <a:stretch>
              <a:fillRect/>
            </a:stretch>
          </p:blipFill>
          <p:spPr>
            <a:xfrm>
              <a:off x="578663" y="3867513"/>
              <a:ext cx="191881" cy="148966"/>
            </a:xfrm>
            <a:prstGeom prst="rect">
              <a:avLst/>
            </a:prstGeom>
          </p:spPr>
        </p:pic>
      </p:grpSp>
    </p:spTree>
    <p:extLst>
      <p:ext uri="{BB962C8B-B14F-4D97-AF65-F5344CB8AC3E}">
        <p14:creationId xmlns:p14="http://schemas.microsoft.com/office/powerpoint/2010/main" val="1751038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2.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4066</TotalTime>
  <Words>1601</Words>
  <Application>Microsoft Office PowerPoint</Application>
  <PresentationFormat>ワイド画面</PresentationFormat>
  <Paragraphs>170</Paragraphs>
  <Slides>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vt:i4>
      </vt:variant>
    </vt:vector>
  </HeadingPairs>
  <TitlesOfParts>
    <vt:vector size="9" baseType="lpstr">
      <vt:lpstr>Meiryo UI</vt:lpstr>
      <vt:lpstr>Meiryo</vt:lpstr>
      <vt:lpstr>Arial</vt:lpstr>
      <vt:lpstr>Calibri</vt:lpstr>
      <vt:lpstr>Wingdings</vt:lpstr>
      <vt:lpstr>Office テーマ</vt:lpstr>
      <vt:lpstr>フィードバック</vt:lpstr>
      <vt:lpstr>提案評価 採点シートSSBJ対応 要求定義支援ベンダー選定</vt:lpstr>
      <vt:lpstr>採点表</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42</cp:revision>
  <dcterms:created xsi:type="dcterms:W3CDTF">2024-12-27T03:42:11Z</dcterms:created>
  <dcterms:modified xsi:type="dcterms:W3CDTF">2026-09-06T11:22:53Z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