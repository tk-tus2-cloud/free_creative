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8778240" cy="502920"/>
          </a:xfrm>
          <a:prstGeom prst="rect">
            <a:avLst/>
          </a:prstGeom>
          <a:noFill/>
          <a:ln/>
        </p:spPr>
        <p:txBody>
          <a:bodyPr wrap="square" lIns="0" tIns="0" rIns="0" bIns="0" rtlCol="0" anchor="ctr"/>
          <a:lstStyle/>
          <a:p>
            <a:pPr indent="0" marL="0">
              <a:buNone/>
            </a:pPr>
            <a:r>
              <a:rPr lang="en-US" sz="2400" b="1" dirty="0">
                <a:solidFill>
                  <a:srgbClr val="1F3864"/>
                </a:solidFill>
                <a:latin typeface="Meiryo" pitchFamily="34" charset="0"/>
                <a:ea typeface="Meiryo" pitchFamily="34" charset="-122"/>
                <a:cs typeface="Meiryo" pitchFamily="34" charset="-120"/>
              </a:rPr>
              <a:t>ライズ・コンサルティング様 選定結果フィードバック (1/2)</a:t>
            </a:r>
            <a:endParaRPr lang="en-US" sz="2400" dirty="0"/>
          </a:p>
        </p:txBody>
      </p:sp>
      <p:sp>
        <p:nvSpPr>
          <p:cNvPr id="3" name="Text 1"/>
          <p:cNvSpPr txBox="1"/>
          <p:nvPr/>
        </p:nvSpPr>
        <p:spPr>
          <a:xfrm>
            <a:off x="9281160" y="256032"/>
            <a:ext cx="2395728" cy="502920"/>
          </a:xfrm>
          <a:prstGeom prst="rect">
            <a:avLst/>
          </a:prstGeom>
          <a:noFill/>
          <a:ln/>
        </p:spPr>
        <p:txBody>
          <a:bodyPr wrap="square" lIns="0" tIns="0" rIns="0" bIns="0" rtlCol="0" anchor="ctr"/>
          <a:lstStyle/>
          <a:p>
            <a:pPr algn="r" indent="0" marL="0">
              <a:buNone/>
            </a:pPr>
            <a:r>
              <a:rPr lang="en-US" sz="900" dirty="0">
                <a:solidFill>
                  <a:srgbClr val="6B7280"/>
                </a:solidFill>
                <a:latin typeface="Meiryo" pitchFamily="34" charset="0"/>
                <a:ea typeface="Meiryo" pitchFamily="34" charset="-122"/>
                <a:cs typeface="Meiryo" pitchFamily="34" charset="-120"/>
              </a:rPr>
              <a:t>2026年8月</a:t>
            </a:r>
            <a:endParaRPr lang="en-US" sz="900" dirty="0"/>
          </a:p>
          <a:p>
            <a:pPr algn="r" indent="0" marL="0">
              <a:buNone/>
            </a:pPr>
            <a:r>
              <a:rPr lang="en-US" sz="900" dirty="0">
                <a:solidFill>
                  <a:srgbClr val="6B7280"/>
                </a:solidFill>
                <a:latin typeface="Meiryo" pitchFamily="34" charset="0"/>
                <a:ea typeface="Meiryo" pitchFamily="34" charset="-122"/>
                <a:cs typeface="Meiryo" pitchFamily="34" charset="-120"/>
              </a:rPr>
              <a:t>ライオン株式会社 SSBJ対応PJT</a:t>
            </a:r>
            <a:endParaRPr lang="en-US" sz="900" dirty="0"/>
          </a:p>
        </p:txBody>
      </p:sp>
      <p:sp>
        <p:nvSpPr>
          <p:cNvPr id="4" name="Shape 2"/>
          <p:cNvSpPr/>
          <p:nvPr/>
        </p:nvSpPr>
        <p:spPr>
          <a:xfrm>
            <a:off x="502920" y="896112"/>
            <a:ext cx="11183112" cy="713232"/>
          </a:xfrm>
          <a:prstGeom prst="roundRect">
            <a:avLst>
              <a:gd name="adj" fmla="val 7692"/>
            </a:avLst>
          </a:prstGeom>
          <a:solidFill>
            <a:srgbClr val="EAF1FA"/>
          </a:solidFill>
          <a:ln/>
        </p:spPr>
      </p:sp>
      <p:sp>
        <p:nvSpPr>
          <p:cNvPr id="5" name="Text 3"/>
          <p:cNvSpPr txBox="1"/>
          <p:nvPr/>
        </p:nvSpPr>
        <p:spPr>
          <a:xfrm>
            <a:off x="685800" y="896112"/>
            <a:ext cx="10835640" cy="713232"/>
          </a:xfrm>
          <a:prstGeom prst="rect">
            <a:avLst/>
          </a:prstGeom>
          <a:noFill/>
          <a:ln/>
        </p:spPr>
        <p:txBody>
          <a:bodyPr wrap="square" lIns="0" tIns="0" rIns="0" bIns="0" rtlCol="0" anchor="ctr"/>
          <a:lstStyle/>
          <a:p>
            <a:pPr indent="0" marL="0">
              <a:buNone/>
            </a:pPr>
            <a:r>
              <a:rPr lang="en-US" sz="1100" b="1" dirty="0">
                <a:solidFill>
                  <a:srgbClr val="16294A"/>
                </a:solidFill>
                <a:latin typeface="Meiryo" pitchFamily="34" charset="0"/>
                <a:ea typeface="Meiryo" pitchFamily="34" charset="-122"/>
                <a:cs typeface="Meiryo" pitchFamily="34" charset="-120"/>
              </a:rPr>
              <a:t>SSBJ対応プラットフォーム構築に向けた要求定義支援のご提案につきまして、弊社評価者4名による厳正な審査の結果、誠に残念ながら今回はご契約を見送らせていただくこととなりました。審査の観点と評価内容を、今後のご参考としてお伝え申し上げます。</a:t>
            </a:r>
            <a:endParaRPr lang="en-US" sz="1100" dirty="0"/>
          </a:p>
        </p:txBody>
      </p:sp>
      <p:sp>
        <p:nvSpPr>
          <p:cNvPr id="6" name="Shape 4"/>
          <p:cNvSpPr/>
          <p:nvPr/>
        </p:nvSpPr>
        <p:spPr>
          <a:xfrm>
            <a:off x="502920" y="1810512"/>
            <a:ext cx="310896" cy="310896"/>
          </a:xfrm>
          <a:prstGeom prst="ellipse">
            <a:avLst/>
          </a:prstGeom>
          <a:solidFill>
            <a:srgbClr val="1F3864"/>
          </a:solidFill>
          <a:ln/>
        </p:spPr>
      </p:sp>
      <p:pic>
        <p:nvPicPr>
          <p:cNvPr id="7" name="Image 0" descr="preencoded.png">    </p:cNvPr>
          <p:cNvPicPr>
            <a:picLocks noChangeAspect="1"/>
          </p:cNvPicPr>
          <p:nvPr/>
        </p:nvPicPr>
        <p:blipFill>
          <a:blip r:embed="rId1"/>
          <a:stretch>
            <a:fillRect/>
          </a:stretch>
        </p:blipFill>
        <p:spPr>
          <a:xfrm>
            <a:off x="571500" y="1879092"/>
            <a:ext cx="173736" cy="173736"/>
          </a:xfrm>
          <a:prstGeom prst="rect">
            <a:avLst/>
          </a:prstGeom>
        </p:spPr>
      </p:pic>
      <p:sp>
        <p:nvSpPr>
          <p:cNvPr id="8" name="Text 5"/>
          <p:cNvSpPr txBox="1"/>
          <p:nvPr/>
        </p:nvSpPr>
        <p:spPr>
          <a:xfrm>
            <a:off x="914400" y="1783080"/>
            <a:ext cx="50292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総括</a:t>
            </a:r>
            <a:endParaRPr lang="en-US" sz="1450" dirty="0"/>
          </a:p>
        </p:txBody>
      </p:sp>
      <p:sp>
        <p:nvSpPr>
          <p:cNvPr id="9" name="Text 6"/>
          <p:cNvSpPr txBox="1"/>
          <p:nvPr/>
        </p:nvSpPr>
        <p:spPr>
          <a:xfrm>
            <a:off x="502920" y="2240280"/>
            <a:ext cx="5989320" cy="1920240"/>
          </a:xfrm>
          <a:prstGeom prst="rect">
            <a:avLst/>
          </a:prstGeom>
          <a:noFill/>
          <a:ln/>
        </p:spPr>
        <p:txBody>
          <a:bodyPr wrap="square" lIns="0" tIns="0" rIns="0" bIns="0" rtlCol="0" anchor="t"/>
          <a:lstStyle/>
          <a:p>
            <a:pPr indent="0" marL="0">
              <a:lnSpc>
                <a:spcPct val="112000"/>
              </a:lnSpc>
              <a:spcAft>
                <a:spcPts val="700"/>
              </a:spcAft>
              <a:buNone/>
            </a:pPr>
            <a:r>
              <a:rPr lang="en-US" sz="1060" dirty="0">
                <a:solidFill>
                  <a:srgbClr val="26303B"/>
                </a:solidFill>
                <a:latin typeface="Meiryo" pitchFamily="34" charset="0"/>
                <a:ea typeface="Meiryo" pitchFamily="34" charset="-122"/>
                <a:cs typeface="Meiryo" pitchFamily="34" charset="-120"/>
              </a:rPr>
              <a:t>このたびは、限られた期間の中で弊社の依頼書を丁寧に読み解き、ご提案をお寄せいただき、誠にありがとうございました。</a:t>
            </a:r>
            <a:endParaRPr lang="en-US" sz="1060" dirty="0"/>
          </a:p>
          <a:p>
            <a:pPr indent="0" marL="0">
              <a:lnSpc>
                <a:spcPct val="112000"/>
              </a:lnSpc>
              <a:spcAft>
                <a:spcPts val="700"/>
              </a:spcAft>
              <a:buNone/>
            </a:pPr>
            <a:r>
              <a:rPr lang="en-US" sz="1060" dirty="0">
                <a:solidFill>
                  <a:srgbClr val="26303B"/>
                </a:solidFill>
                <a:latin typeface="Meiryo" pitchFamily="34" charset="0"/>
                <a:ea typeface="Meiryo" pitchFamily="34" charset="-122"/>
                <a:cs typeface="Meiryo" pitchFamily="34" charset="-120"/>
              </a:rPr>
              <a:t>弊社では、品質（Quality・50点）・コスト（Cost・23点）・納期（Delivery・27点）の3カテゴリ14項目からなる採点表を用い、評価者4名の合議により3社のご提案を厳正に審査いたしました。</a:t>
            </a:r>
            <a:endParaRPr lang="en-US" sz="1060" dirty="0"/>
          </a:p>
          <a:p>
            <a:pPr indent="0" marL="0">
              <a:lnSpc>
                <a:spcPct val="112000"/>
              </a:lnSpc>
              <a:buNone/>
            </a:pPr>
            <a:r>
              <a:rPr lang="en-US" sz="1060" dirty="0">
                <a:solidFill>
                  <a:srgbClr val="26303B"/>
                </a:solidFill>
                <a:latin typeface="Meiryo" pitchFamily="34" charset="0"/>
                <a:ea typeface="Meiryo" pitchFamily="34" charset="-122"/>
                <a:cs typeface="Meiryo" pitchFamily="34" charset="-120"/>
              </a:rPr>
              <a:t>その結果、総合評価において他社のご提案が弊社の要件により適合すると判断し、今回は見送りとさせていただく結論にいたりました。一方で、下記の通り高く評価した点も多くございました。何卒ご理解賜りますようお願い申し上げます。</a:t>
            </a:r>
            <a:endParaRPr lang="en-US" sz="1060" dirty="0"/>
          </a:p>
        </p:txBody>
      </p:sp>
      <p:sp>
        <p:nvSpPr>
          <p:cNvPr id="10" name="Shape 7"/>
          <p:cNvSpPr/>
          <p:nvPr/>
        </p:nvSpPr>
        <p:spPr>
          <a:xfrm>
            <a:off x="6812280" y="1737360"/>
            <a:ext cx="4873752" cy="2395728"/>
          </a:xfrm>
          <a:prstGeom prst="roundRect">
            <a:avLst>
              <a:gd name="adj" fmla="val 3053"/>
            </a:avLst>
          </a:prstGeom>
          <a:solidFill>
            <a:srgbClr val="F5F8FD"/>
          </a:solidFill>
          <a:ln/>
          <a:effectLst>
            <a:outerShdw sx="100000" sy="100000" kx="0" ky="0" algn="bl" rotWithShape="0" blurRad="76200" dist="25400" dir="5400000">
              <a:srgbClr val="9AA7BC">
                <a:alpha val="28000"/>
              </a:srgbClr>
            </a:outerShdw>
          </a:effectLst>
        </p:spPr>
      </p:sp>
      <p:sp>
        <p:nvSpPr>
          <p:cNvPr id="11" name="Text 8"/>
          <p:cNvSpPr txBox="1"/>
          <p:nvPr/>
        </p:nvSpPr>
        <p:spPr>
          <a:xfrm>
            <a:off x="7013448" y="1847088"/>
            <a:ext cx="4471416" cy="274320"/>
          </a:xfrm>
          <a:prstGeom prst="rect">
            <a:avLst/>
          </a:prstGeom>
          <a:noFill/>
          <a:ln/>
        </p:spPr>
        <p:txBody>
          <a:bodyPr wrap="square" lIns="0" tIns="0" rIns="0" bIns="0" rtlCol="0" anchor="ctr"/>
          <a:lstStyle/>
          <a:p>
            <a:pPr indent="0" marL="0">
              <a:buNone/>
            </a:pPr>
            <a:r>
              <a:rPr lang="en-US" sz="1050" b="1" dirty="0">
                <a:solidFill>
                  <a:srgbClr val="1F3864"/>
                </a:solidFill>
                <a:latin typeface="Meiryo" pitchFamily="34" charset="0"/>
                <a:ea typeface="Meiryo" pitchFamily="34" charset="-122"/>
                <a:cs typeface="Meiryo" pitchFamily="34" charset="-120"/>
              </a:rPr>
              <a:t>貴社評価サマリー（弊社採点表・評価者4名平均）</a:t>
            </a:r>
            <a:endParaRPr lang="en-US" sz="1050" dirty="0"/>
          </a:p>
        </p:txBody>
      </p:sp>
      <p:sp>
        <p:nvSpPr>
          <p:cNvPr id="12" name="Text 9"/>
          <p:cNvSpPr txBox="1"/>
          <p:nvPr/>
        </p:nvSpPr>
        <p:spPr>
          <a:xfrm>
            <a:off x="7013448" y="2121408"/>
            <a:ext cx="2743200" cy="658368"/>
          </a:xfrm>
          <a:prstGeom prst="rect">
            <a:avLst/>
          </a:prstGeom>
          <a:noFill/>
          <a:ln/>
        </p:spPr>
        <p:txBody>
          <a:bodyPr wrap="square" lIns="0" tIns="0" rIns="0" bIns="0" rtlCol="0" anchor="ctr"/>
          <a:lstStyle/>
          <a:p>
            <a:pPr indent="0" marL="0">
              <a:buNone/>
            </a:pPr>
            <a:r>
              <a:rPr lang="en-US" sz="3600" b="1" dirty="0">
                <a:solidFill>
                  <a:srgbClr val="1F3864"/>
                </a:solidFill>
                <a:latin typeface="Meiryo" pitchFamily="34" charset="0"/>
                <a:ea typeface="Meiryo" pitchFamily="34" charset="-122"/>
                <a:cs typeface="Meiryo" pitchFamily="34" charset="-120"/>
              </a:rPr>
              <a:t>56.9</a:t>
            </a:r>
            <a:pPr indent="0" marL="0">
              <a:buNone/>
            </a:pPr>
            <a:r>
              <a:rPr lang="en-US" sz="1200" b="1" dirty="0">
                <a:solidFill>
                  <a:srgbClr val="6B7280"/>
                </a:solidFill>
                <a:latin typeface="Meiryo" pitchFamily="34" charset="0"/>
                <a:ea typeface="Meiryo" pitchFamily="34" charset="-122"/>
                <a:cs typeface="Meiryo" pitchFamily="34" charset="-120"/>
              </a:rPr>
              <a:t>  / 100点</a:t>
            </a:r>
            <a:endParaRPr lang="en-US" sz="3600" dirty="0"/>
          </a:p>
        </p:txBody>
      </p:sp>
      <p:sp>
        <p:nvSpPr>
          <p:cNvPr id="13" name="Shape 10"/>
          <p:cNvSpPr/>
          <p:nvPr/>
        </p:nvSpPr>
        <p:spPr>
          <a:xfrm>
            <a:off x="9692640" y="2286000"/>
            <a:ext cx="1783080" cy="384048"/>
          </a:xfrm>
          <a:prstGeom prst="roundRect">
            <a:avLst>
              <a:gd name="adj" fmla="val 50000"/>
            </a:avLst>
          </a:prstGeom>
          <a:solidFill>
            <a:srgbClr val="1F3864"/>
          </a:solidFill>
          <a:ln/>
        </p:spPr>
      </p:sp>
      <p:sp>
        <p:nvSpPr>
          <p:cNvPr id="14" name="Text 11"/>
          <p:cNvSpPr txBox="1"/>
          <p:nvPr/>
        </p:nvSpPr>
        <p:spPr>
          <a:xfrm>
            <a:off x="9692640" y="2286000"/>
            <a:ext cx="17830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総合第3位</a:t>
            </a:r>
            <a:endParaRPr lang="en-US" sz="1150" dirty="0"/>
          </a:p>
        </p:txBody>
      </p:sp>
      <p:sp>
        <p:nvSpPr>
          <p:cNvPr id="15" name="Text 12"/>
          <p:cNvSpPr txBox="1"/>
          <p:nvPr/>
        </p:nvSpPr>
        <p:spPr>
          <a:xfrm>
            <a:off x="7013448" y="289864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品質 Quality</a:t>
            </a:r>
            <a:endParaRPr lang="en-US" sz="950" dirty="0"/>
          </a:p>
        </p:txBody>
      </p:sp>
      <p:sp>
        <p:nvSpPr>
          <p:cNvPr id="16" name="Shape 13"/>
          <p:cNvSpPr/>
          <p:nvPr/>
        </p:nvSpPr>
        <p:spPr>
          <a:xfrm>
            <a:off x="9025128" y="2958084"/>
            <a:ext cx="1591056" cy="155448"/>
          </a:xfrm>
          <a:prstGeom prst="roundRect">
            <a:avLst>
              <a:gd name="adj" fmla="val 29412"/>
            </a:avLst>
          </a:prstGeom>
          <a:solidFill>
            <a:srgbClr val="E3E8F0"/>
          </a:solidFill>
          <a:ln/>
        </p:spPr>
      </p:sp>
      <p:sp>
        <p:nvSpPr>
          <p:cNvPr id="17" name="Shape 14"/>
          <p:cNvSpPr/>
          <p:nvPr/>
        </p:nvSpPr>
        <p:spPr>
          <a:xfrm>
            <a:off x="9025128" y="2958084"/>
            <a:ext cx="871899" cy="155448"/>
          </a:xfrm>
          <a:prstGeom prst="roundRect">
            <a:avLst>
              <a:gd name="adj" fmla="val 29412"/>
            </a:avLst>
          </a:prstGeom>
          <a:solidFill>
            <a:srgbClr val="1F3864"/>
          </a:solidFill>
          <a:ln/>
        </p:spPr>
      </p:sp>
      <p:sp>
        <p:nvSpPr>
          <p:cNvPr id="18" name="Text 15"/>
          <p:cNvSpPr txBox="1"/>
          <p:nvPr/>
        </p:nvSpPr>
        <p:spPr>
          <a:xfrm>
            <a:off x="10689336" y="289864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27.4 / 50</a:t>
            </a:r>
            <a:endParaRPr lang="en-US" sz="950" dirty="0"/>
          </a:p>
        </p:txBody>
      </p:sp>
      <p:sp>
        <p:nvSpPr>
          <p:cNvPr id="19" name="Text 16"/>
          <p:cNvSpPr txBox="1"/>
          <p:nvPr/>
        </p:nvSpPr>
        <p:spPr>
          <a:xfrm>
            <a:off x="7013448" y="326440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コスト Cost</a:t>
            </a:r>
            <a:endParaRPr lang="en-US" sz="950" dirty="0"/>
          </a:p>
        </p:txBody>
      </p:sp>
      <p:sp>
        <p:nvSpPr>
          <p:cNvPr id="20" name="Shape 17"/>
          <p:cNvSpPr/>
          <p:nvPr/>
        </p:nvSpPr>
        <p:spPr>
          <a:xfrm>
            <a:off x="9025128" y="3323844"/>
            <a:ext cx="1591056" cy="155448"/>
          </a:xfrm>
          <a:prstGeom prst="roundRect">
            <a:avLst>
              <a:gd name="adj" fmla="val 29412"/>
            </a:avLst>
          </a:prstGeom>
          <a:solidFill>
            <a:srgbClr val="E3E8F0"/>
          </a:solidFill>
          <a:ln/>
        </p:spPr>
      </p:sp>
      <p:sp>
        <p:nvSpPr>
          <p:cNvPr id="21" name="Shape 18"/>
          <p:cNvSpPr/>
          <p:nvPr/>
        </p:nvSpPr>
        <p:spPr>
          <a:xfrm>
            <a:off x="9025128" y="3323844"/>
            <a:ext cx="906210" cy="155448"/>
          </a:xfrm>
          <a:prstGeom prst="roundRect">
            <a:avLst>
              <a:gd name="adj" fmla="val 29412"/>
            </a:avLst>
          </a:prstGeom>
          <a:solidFill>
            <a:srgbClr val="1F3864"/>
          </a:solidFill>
          <a:ln/>
        </p:spPr>
      </p:sp>
      <p:sp>
        <p:nvSpPr>
          <p:cNvPr id="22" name="Text 19"/>
          <p:cNvSpPr txBox="1"/>
          <p:nvPr/>
        </p:nvSpPr>
        <p:spPr>
          <a:xfrm>
            <a:off x="10689336" y="326440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13.1 / 23</a:t>
            </a:r>
            <a:endParaRPr lang="en-US" sz="950" dirty="0"/>
          </a:p>
        </p:txBody>
      </p:sp>
      <p:sp>
        <p:nvSpPr>
          <p:cNvPr id="23" name="Text 20"/>
          <p:cNvSpPr txBox="1"/>
          <p:nvPr/>
        </p:nvSpPr>
        <p:spPr>
          <a:xfrm>
            <a:off x="7013448" y="3630168"/>
            <a:ext cx="1965960" cy="274320"/>
          </a:xfrm>
          <a:prstGeom prst="rect">
            <a:avLst/>
          </a:prstGeom>
          <a:noFill/>
          <a:ln/>
        </p:spPr>
        <p:txBody>
          <a:bodyPr wrap="square" lIns="0" tIns="0" rIns="0" bIns="0" rtlCol="0" anchor="ctr"/>
          <a:lstStyle/>
          <a:p>
            <a:pPr indent="0" marL="0">
              <a:buNone/>
            </a:pPr>
            <a:r>
              <a:rPr lang="en-US" sz="950" b="1" dirty="0">
                <a:solidFill>
                  <a:srgbClr val="26303B"/>
                </a:solidFill>
                <a:latin typeface="Meiryo" pitchFamily="34" charset="0"/>
                <a:ea typeface="Meiryo" pitchFamily="34" charset="-122"/>
                <a:cs typeface="Meiryo" pitchFamily="34" charset="-120"/>
              </a:rPr>
              <a:t>納期 Delivery</a:t>
            </a:r>
            <a:endParaRPr lang="en-US" sz="950" dirty="0"/>
          </a:p>
        </p:txBody>
      </p:sp>
      <p:sp>
        <p:nvSpPr>
          <p:cNvPr id="24" name="Shape 21"/>
          <p:cNvSpPr/>
          <p:nvPr/>
        </p:nvSpPr>
        <p:spPr>
          <a:xfrm>
            <a:off x="9025128" y="3689604"/>
            <a:ext cx="1591056" cy="155448"/>
          </a:xfrm>
          <a:prstGeom prst="roundRect">
            <a:avLst>
              <a:gd name="adj" fmla="val 29412"/>
            </a:avLst>
          </a:prstGeom>
          <a:solidFill>
            <a:srgbClr val="E3E8F0"/>
          </a:solidFill>
          <a:ln/>
        </p:spPr>
      </p:sp>
      <p:sp>
        <p:nvSpPr>
          <p:cNvPr id="25" name="Shape 22"/>
          <p:cNvSpPr/>
          <p:nvPr/>
        </p:nvSpPr>
        <p:spPr>
          <a:xfrm>
            <a:off x="9025128" y="3689604"/>
            <a:ext cx="966419" cy="155448"/>
          </a:xfrm>
          <a:prstGeom prst="roundRect">
            <a:avLst>
              <a:gd name="adj" fmla="val 29412"/>
            </a:avLst>
          </a:prstGeom>
          <a:solidFill>
            <a:srgbClr val="1F3864"/>
          </a:solidFill>
          <a:ln/>
        </p:spPr>
      </p:sp>
      <p:sp>
        <p:nvSpPr>
          <p:cNvPr id="26" name="Text 23"/>
          <p:cNvSpPr txBox="1"/>
          <p:nvPr/>
        </p:nvSpPr>
        <p:spPr>
          <a:xfrm>
            <a:off x="10689336" y="3630168"/>
            <a:ext cx="822960" cy="274320"/>
          </a:xfrm>
          <a:prstGeom prst="rect">
            <a:avLst/>
          </a:prstGeom>
          <a:noFill/>
          <a:ln/>
        </p:spPr>
        <p:txBody>
          <a:bodyPr wrap="square" lIns="0" tIns="0" rIns="0" bIns="0" rtlCol="0" anchor="ctr"/>
          <a:lstStyle/>
          <a:p>
            <a:pPr indent="0" marL="0">
              <a:buNone/>
            </a:pPr>
            <a:r>
              <a:rPr lang="en-US" sz="950" b="1" dirty="0">
                <a:solidFill>
                  <a:srgbClr val="1F3864"/>
                </a:solidFill>
                <a:latin typeface="Meiryo" pitchFamily="34" charset="0"/>
                <a:ea typeface="Meiryo" pitchFamily="34" charset="-122"/>
                <a:cs typeface="Meiryo" pitchFamily="34" charset="-120"/>
              </a:rPr>
              <a:t>16.4 / 27</a:t>
            </a:r>
            <a:endParaRPr lang="en-US" sz="950" dirty="0"/>
          </a:p>
        </p:txBody>
      </p:sp>
      <p:sp>
        <p:nvSpPr>
          <p:cNvPr id="27" name="Shape 24"/>
          <p:cNvSpPr/>
          <p:nvPr/>
        </p:nvSpPr>
        <p:spPr>
          <a:xfrm>
            <a:off x="502920" y="4370832"/>
            <a:ext cx="310896" cy="310896"/>
          </a:xfrm>
          <a:prstGeom prst="ellipse">
            <a:avLst/>
          </a:prstGeom>
          <a:solidFill>
            <a:srgbClr val="1F3864"/>
          </a:solidFill>
          <a:ln/>
        </p:spPr>
      </p:sp>
      <p:pic>
        <p:nvPicPr>
          <p:cNvPr id="28" name="Image 1" descr="preencoded.png">    </p:cNvPr>
          <p:cNvPicPr>
            <a:picLocks noChangeAspect="1"/>
          </p:cNvPicPr>
          <p:nvPr/>
        </p:nvPicPr>
        <p:blipFill>
          <a:blip r:embed="rId2"/>
          <a:stretch>
            <a:fillRect/>
          </a:stretch>
        </p:blipFill>
        <p:spPr>
          <a:xfrm>
            <a:off x="571500" y="4439412"/>
            <a:ext cx="173736" cy="173736"/>
          </a:xfrm>
          <a:prstGeom prst="rect">
            <a:avLst/>
          </a:prstGeom>
        </p:spPr>
      </p:pic>
      <p:sp>
        <p:nvSpPr>
          <p:cNvPr id="29" name="Text 25"/>
          <p:cNvSpPr txBox="1"/>
          <p:nvPr/>
        </p:nvSpPr>
        <p:spPr>
          <a:xfrm>
            <a:off x="914400" y="4343400"/>
            <a:ext cx="82296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ご提案で高く評価した点</a:t>
            </a:r>
            <a:endParaRPr lang="en-US" sz="1450" dirty="0"/>
          </a:p>
        </p:txBody>
      </p:sp>
      <p:sp>
        <p:nvSpPr>
          <p:cNvPr id="30" name="Shape 26"/>
          <p:cNvSpPr/>
          <p:nvPr/>
        </p:nvSpPr>
        <p:spPr>
          <a:xfrm>
            <a:off x="502920"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31" name="Shape 27"/>
          <p:cNvSpPr/>
          <p:nvPr/>
        </p:nvSpPr>
        <p:spPr>
          <a:xfrm>
            <a:off x="667512" y="4919472"/>
            <a:ext cx="384048" cy="384048"/>
          </a:xfrm>
          <a:prstGeom prst="ellipse">
            <a:avLst/>
          </a:prstGeom>
          <a:solidFill>
            <a:srgbClr val="1F3864"/>
          </a:solidFill>
          <a:ln/>
        </p:spPr>
      </p:sp>
      <p:pic>
        <p:nvPicPr>
          <p:cNvPr id="32" name="Image 2" descr="preencoded.png">    </p:cNvPr>
          <p:cNvPicPr>
            <a:picLocks noChangeAspect="1"/>
          </p:cNvPicPr>
          <p:nvPr/>
        </p:nvPicPr>
        <p:blipFill>
          <a:blip r:embed="rId3"/>
          <a:stretch>
            <a:fillRect/>
          </a:stretch>
        </p:blipFill>
        <p:spPr>
          <a:xfrm>
            <a:off x="754380" y="5006340"/>
            <a:ext cx="210312" cy="210312"/>
          </a:xfrm>
          <a:prstGeom prst="rect">
            <a:avLst/>
          </a:prstGeom>
        </p:spPr>
      </p:pic>
      <p:sp>
        <p:nvSpPr>
          <p:cNvPr id="33" name="Text 28"/>
          <p:cNvSpPr txBox="1"/>
          <p:nvPr/>
        </p:nvSpPr>
        <p:spPr>
          <a:xfrm>
            <a:off x="1161288"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成果物完遂への明確なコミット</a:t>
            </a:r>
            <a:endParaRPr lang="en-US" sz="1150" dirty="0"/>
          </a:p>
        </p:txBody>
      </p:sp>
      <p:sp>
        <p:nvSpPr>
          <p:cNvPr id="34" name="Text 29"/>
          <p:cNvSpPr txBox="1"/>
          <p:nvPr/>
        </p:nvSpPr>
        <p:spPr>
          <a:xfrm>
            <a:off x="704088"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全成果物の完遂責任を明確にお約束いただいた点は3社の中でも際立っており、評価者全員が高く評価いたしました（当該項目は3社中最高の評価）。責任の所在が明確なご提案姿勢に、強い信頼感を持ちました。</a:t>
            </a:r>
            <a:endParaRPr lang="en-US" sz="980" dirty="0"/>
          </a:p>
        </p:txBody>
      </p:sp>
      <p:sp>
        <p:nvSpPr>
          <p:cNvPr id="35" name="Shape 30"/>
          <p:cNvSpPr/>
          <p:nvPr/>
        </p:nvSpPr>
        <p:spPr>
          <a:xfrm>
            <a:off x="4279392"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36" name="Shape 31"/>
          <p:cNvSpPr/>
          <p:nvPr/>
        </p:nvSpPr>
        <p:spPr>
          <a:xfrm>
            <a:off x="4443984" y="4919472"/>
            <a:ext cx="384048" cy="384048"/>
          </a:xfrm>
          <a:prstGeom prst="ellipse">
            <a:avLst/>
          </a:prstGeom>
          <a:solidFill>
            <a:srgbClr val="1F3864"/>
          </a:solidFill>
          <a:ln/>
        </p:spPr>
      </p:sp>
      <p:pic>
        <p:nvPicPr>
          <p:cNvPr id="37" name="Image 3" descr="preencoded.png">    </p:cNvPr>
          <p:cNvPicPr>
            <a:picLocks noChangeAspect="1"/>
          </p:cNvPicPr>
          <p:nvPr/>
        </p:nvPicPr>
        <p:blipFill>
          <a:blip r:embed="rId4"/>
          <a:stretch>
            <a:fillRect/>
          </a:stretch>
        </p:blipFill>
        <p:spPr>
          <a:xfrm>
            <a:off x="4530852" y="5006340"/>
            <a:ext cx="210312" cy="210312"/>
          </a:xfrm>
          <a:prstGeom prst="rect">
            <a:avLst/>
          </a:prstGeom>
        </p:spPr>
      </p:pic>
      <p:sp>
        <p:nvSpPr>
          <p:cNvPr id="38" name="Text 32"/>
          <p:cNvSpPr txBox="1"/>
          <p:nvPr/>
        </p:nvSpPr>
        <p:spPr>
          <a:xfrm>
            <a:off x="4937760"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価格水準とお見積りの明快さ</a:t>
            </a:r>
            <a:endParaRPr lang="en-US" sz="1150" dirty="0"/>
          </a:p>
        </p:txBody>
      </p:sp>
      <p:sp>
        <p:nvSpPr>
          <p:cNvPr id="39" name="Text 33"/>
          <p:cNvSpPr txBox="1"/>
          <p:nvPr/>
        </p:nvSpPr>
        <p:spPr>
          <a:xfrm>
            <a:off x="4480560"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見積総額の水準と、工数・単価内訳の分かりやすさは高く評価いたしました。コスト面の競争力は3社の中でも優位性があり、投資しやすいご提案であったと受け止めております。</a:t>
            </a:r>
            <a:endParaRPr lang="en-US" sz="980" dirty="0"/>
          </a:p>
        </p:txBody>
      </p:sp>
      <p:sp>
        <p:nvSpPr>
          <p:cNvPr id="40" name="Shape 34"/>
          <p:cNvSpPr/>
          <p:nvPr/>
        </p:nvSpPr>
        <p:spPr>
          <a:xfrm>
            <a:off x="8055864" y="4773168"/>
            <a:ext cx="3639312" cy="1828800"/>
          </a:xfrm>
          <a:prstGeom prst="roundRect">
            <a:avLst>
              <a:gd name="adj" fmla="val 3500"/>
            </a:avLst>
          </a:prstGeom>
          <a:solidFill>
            <a:srgbClr val="F5F8FD"/>
          </a:solidFill>
          <a:ln/>
          <a:effectLst>
            <a:outerShdw sx="100000" sy="100000" kx="0" ky="0" algn="bl" rotWithShape="0" blurRad="76200" dist="25400" dir="5400000">
              <a:srgbClr val="9AA7BC">
                <a:alpha val="28000"/>
              </a:srgbClr>
            </a:outerShdw>
          </a:effectLst>
        </p:spPr>
      </p:sp>
      <p:sp>
        <p:nvSpPr>
          <p:cNvPr id="41" name="Shape 35"/>
          <p:cNvSpPr/>
          <p:nvPr/>
        </p:nvSpPr>
        <p:spPr>
          <a:xfrm>
            <a:off x="8220456" y="4919472"/>
            <a:ext cx="384048" cy="384048"/>
          </a:xfrm>
          <a:prstGeom prst="ellipse">
            <a:avLst/>
          </a:prstGeom>
          <a:solidFill>
            <a:srgbClr val="1F3864"/>
          </a:solidFill>
          <a:ln/>
        </p:spPr>
      </p:sp>
      <p:pic>
        <p:nvPicPr>
          <p:cNvPr id="42" name="Image 4" descr="preencoded.png">    </p:cNvPr>
          <p:cNvPicPr>
            <a:picLocks noChangeAspect="1"/>
          </p:cNvPicPr>
          <p:nvPr/>
        </p:nvPicPr>
        <p:blipFill>
          <a:blip r:embed="rId5"/>
          <a:stretch>
            <a:fillRect/>
          </a:stretch>
        </p:blipFill>
        <p:spPr>
          <a:xfrm>
            <a:off x="8307324" y="5006340"/>
            <a:ext cx="210312" cy="210312"/>
          </a:xfrm>
          <a:prstGeom prst="rect">
            <a:avLst/>
          </a:prstGeom>
        </p:spPr>
      </p:pic>
      <p:sp>
        <p:nvSpPr>
          <p:cNvPr id="43" name="Text 36"/>
          <p:cNvSpPr txBox="1"/>
          <p:nvPr/>
        </p:nvSpPr>
        <p:spPr>
          <a:xfrm>
            <a:off x="8714232" y="4901184"/>
            <a:ext cx="2834640" cy="43891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課題理解と機動力</a:t>
            </a:r>
            <a:endParaRPr lang="en-US" sz="1150" dirty="0"/>
          </a:p>
        </p:txBody>
      </p:sp>
      <p:sp>
        <p:nvSpPr>
          <p:cNvPr id="44" name="Text 37"/>
          <p:cNvSpPr txBox="1"/>
          <p:nvPr/>
        </p:nvSpPr>
        <p:spPr>
          <a:xfrm>
            <a:off x="8257032" y="5431536"/>
            <a:ext cx="3236976" cy="1005840"/>
          </a:xfrm>
          <a:prstGeom prst="rect">
            <a:avLst/>
          </a:prstGeom>
          <a:noFill/>
          <a:ln/>
        </p:spPr>
        <p:txBody>
          <a:bodyPr wrap="square" lIns="0" tIns="0" rIns="0" bIns="0" rtlCol="0" anchor="t"/>
          <a:lstStyle/>
          <a:p>
            <a:pPr indent="0" marL="0">
              <a:lnSpc>
                <a:spcPct val="112000"/>
              </a:lnSpc>
              <a:buNone/>
            </a:pPr>
            <a:r>
              <a:rPr lang="en-US" sz="980" dirty="0">
                <a:solidFill>
                  <a:srgbClr val="26303B"/>
                </a:solidFill>
                <a:latin typeface="Meiryo" pitchFamily="34" charset="0"/>
                <a:ea typeface="Meiryo" pitchFamily="34" charset="-122"/>
                <a:cs typeface="Meiryo" pitchFamily="34" charset="-120"/>
              </a:rPr>
              <a:t>弊社の課題認識の的確な整理と、少数精鋭による機動的な進め方のご提案は、要求定義の初動を速める構成として評価いたしました。意思決定の速さと柔軟性は貴社ならではの強みと感じております。</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8778240" cy="502920"/>
          </a:xfrm>
          <a:prstGeom prst="rect">
            <a:avLst/>
          </a:prstGeom>
          <a:noFill/>
          <a:ln/>
        </p:spPr>
        <p:txBody>
          <a:bodyPr wrap="square" lIns="0" tIns="0" rIns="0" bIns="0" rtlCol="0" anchor="ctr"/>
          <a:lstStyle/>
          <a:p>
            <a:pPr indent="0" marL="0">
              <a:buNone/>
            </a:pPr>
            <a:r>
              <a:rPr lang="en-US" sz="2400" b="1" dirty="0">
                <a:solidFill>
                  <a:srgbClr val="1F3864"/>
                </a:solidFill>
                <a:latin typeface="Meiryo" pitchFamily="34" charset="0"/>
                <a:ea typeface="Meiryo" pitchFamily="34" charset="-122"/>
                <a:cs typeface="Meiryo" pitchFamily="34" charset="-120"/>
              </a:rPr>
              <a:t>ライズ・コンサルティング様 選定結果フィードバック (2/2)</a:t>
            </a:r>
            <a:endParaRPr lang="en-US" sz="2400" dirty="0"/>
          </a:p>
        </p:txBody>
      </p:sp>
      <p:sp>
        <p:nvSpPr>
          <p:cNvPr id="3" name="Text 1"/>
          <p:cNvSpPr txBox="1"/>
          <p:nvPr/>
        </p:nvSpPr>
        <p:spPr>
          <a:xfrm>
            <a:off x="9281160" y="256032"/>
            <a:ext cx="2395728" cy="502920"/>
          </a:xfrm>
          <a:prstGeom prst="rect">
            <a:avLst/>
          </a:prstGeom>
          <a:noFill/>
          <a:ln/>
        </p:spPr>
        <p:txBody>
          <a:bodyPr wrap="square" lIns="0" tIns="0" rIns="0" bIns="0" rtlCol="0" anchor="ctr"/>
          <a:lstStyle/>
          <a:p>
            <a:pPr algn="r" indent="0" marL="0">
              <a:buNone/>
            </a:pPr>
            <a:r>
              <a:rPr lang="en-US" sz="900" dirty="0">
                <a:solidFill>
                  <a:srgbClr val="6B7280"/>
                </a:solidFill>
                <a:latin typeface="Meiryo" pitchFamily="34" charset="0"/>
                <a:ea typeface="Meiryo" pitchFamily="34" charset="-122"/>
                <a:cs typeface="Meiryo" pitchFamily="34" charset="-120"/>
              </a:rPr>
              <a:t>2026年8月</a:t>
            </a:r>
            <a:endParaRPr lang="en-US" sz="900" dirty="0"/>
          </a:p>
          <a:p>
            <a:pPr algn="r" indent="0" marL="0">
              <a:buNone/>
            </a:pPr>
            <a:r>
              <a:rPr lang="en-US" sz="900" dirty="0">
                <a:solidFill>
                  <a:srgbClr val="6B7280"/>
                </a:solidFill>
                <a:latin typeface="Meiryo" pitchFamily="34" charset="0"/>
                <a:ea typeface="Meiryo" pitchFamily="34" charset="-122"/>
                <a:cs typeface="Meiryo" pitchFamily="34" charset="-120"/>
              </a:rPr>
              <a:t>ライオン株式会社 SSBJ対応PJT</a:t>
            </a:r>
            <a:endParaRPr lang="en-US" sz="900" dirty="0"/>
          </a:p>
        </p:txBody>
      </p:sp>
      <p:sp>
        <p:nvSpPr>
          <p:cNvPr id="4" name="Shape 2"/>
          <p:cNvSpPr/>
          <p:nvPr/>
        </p:nvSpPr>
        <p:spPr>
          <a:xfrm>
            <a:off x="502920" y="896112"/>
            <a:ext cx="11183112" cy="713232"/>
          </a:xfrm>
          <a:prstGeom prst="roundRect">
            <a:avLst>
              <a:gd name="adj" fmla="val 7692"/>
            </a:avLst>
          </a:prstGeom>
          <a:solidFill>
            <a:srgbClr val="EAF1FA"/>
          </a:solidFill>
          <a:ln/>
        </p:spPr>
      </p:sp>
      <p:sp>
        <p:nvSpPr>
          <p:cNvPr id="5" name="Text 3"/>
          <p:cNvSpPr txBox="1"/>
          <p:nvPr/>
        </p:nvSpPr>
        <p:spPr>
          <a:xfrm>
            <a:off x="685800" y="896112"/>
            <a:ext cx="10835640" cy="713232"/>
          </a:xfrm>
          <a:prstGeom prst="rect">
            <a:avLst/>
          </a:prstGeom>
          <a:noFill/>
          <a:ln/>
        </p:spPr>
        <p:txBody>
          <a:bodyPr wrap="square" lIns="0" tIns="0" rIns="0" bIns="0" rtlCol="0" anchor="ctr"/>
          <a:lstStyle/>
          <a:p>
            <a:pPr indent="0" marL="0">
              <a:buNone/>
            </a:pPr>
            <a:r>
              <a:rPr lang="en-US" sz="1100" b="1" dirty="0">
                <a:solidFill>
                  <a:srgbClr val="16294A"/>
                </a:solidFill>
                <a:latin typeface="Meiryo" pitchFamily="34" charset="0"/>
                <a:ea typeface="Meiryo" pitchFamily="34" charset="-122"/>
                <a:cs typeface="Meiryo" pitchFamily="34" charset="-120"/>
              </a:rPr>
              <a:t>評価に差が生じた観点と、それぞれの改善要素を今後のご参考として率直にお伝えいたします。今後のフェーズやテーマによっては改めてご相談させていただく可能性もございますので、引き続きのご関係をお願い申し上げます。</a:t>
            </a:r>
            <a:endParaRPr lang="en-US" sz="1100" dirty="0"/>
          </a:p>
        </p:txBody>
      </p:sp>
      <p:sp>
        <p:nvSpPr>
          <p:cNvPr id="6" name="Shape 4"/>
          <p:cNvSpPr/>
          <p:nvPr/>
        </p:nvSpPr>
        <p:spPr>
          <a:xfrm>
            <a:off x="502920" y="1755648"/>
            <a:ext cx="310896" cy="310896"/>
          </a:xfrm>
          <a:prstGeom prst="ellipse">
            <a:avLst/>
          </a:prstGeom>
          <a:solidFill>
            <a:srgbClr val="1F3864"/>
          </a:solidFill>
          <a:ln/>
        </p:spPr>
      </p:sp>
      <p:pic>
        <p:nvPicPr>
          <p:cNvPr id="7" name="Image 0" descr="preencoded.png">    </p:cNvPr>
          <p:cNvPicPr>
            <a:picLocks noChangeAspect="1"/>
          </p:cNvPicPr>
          <p:nvPr/>
        </p:nvPicPr>
        <p:blipFill>
          <a:blip r:embed="rId1"/>
          <a:stretch>
            <a:fillRect/>
          </a:stretch>
        </p:blipFill>
        <p:spPr>
          <a:xfrm>
            <a:off x="571500" y="1824228"/>
            <a:ext cx="173736" cy="173736"/>
          </a:xfrm>
          <a:prstGeom prst="rect">
            <a:avLst/>
          </a:prstGeom>
        </p:spPr>
      </p:pic>
      <p:sp>
        <p:nvSpPr>
          <p:cNvPr id="8" name="Text 5"/>
          <p:cNvSpPr txBox="1"/>
          <p:nvPr/>
        </p:nvSpPr>
        <p:spPr>
          <a:xfrm>
            <a:off x="914400" y="1728216"/>
            <a:ext cx="694944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評価に差が生じた観点と、次回に向けた改善要素</a:t>
            </a:r>
            <a:endParaRPr lang="en-US" sz="1450" dirty="0"/>
          </a:p>
        </p:txBody>
      </p:sp>
      <p:sp>
        <p:nvSpPr>
          <p:cNvPr id="9" name="Shape 6"/>
          <p:cNvSpPr/>
          <p:nvPr/>
        </p:nvSpPr>
        <p:spPr>
          <a:xfrm>
            <a:off x="502920" y="2157984"/>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10" name="Shape 7"/>
          <p:cNvSpPr/>
          <p:nvPr/>
        </p:nvSpPr>
        <p:spPr>
          <a:xfrm>
            <a:off x="667512" y="2286000"/>
            <a:ext cx="384048" cy="384048"/>
          </a:xfrm>
          <a:prstGeom prst="ellipse">
            <a:avLst/>
          </a:prstGeom>
          <a:solidFill>
            <a:srgbClr val="1F3864"/>
          </a:solidFill>
          <a:ln/>
        </p:spPr>
      </p:sp>
      <p:pic>
        <p:nvPicPr>
          <p:cNvPr id="11" name="Image 1" descr="preencoded.png">    </p:cNvPr>
          <p:cNvPicPr>
            <a:picLocks noChangeAspect="1"/>
          </p:cNvPicPr>
          <p:nvPr/>
        </p:nvPicPr>
        <p:blipFill>
          <a:blip r:embed="rId2"/>
          <a:stretch>
            <a:fillRect/>
          </a:stretch>
        </p:blipFill>
        <p:spPr>
          <a:xfrm>
            <a:off x="754380" y="2372868"/>
            <a:ext cx="210312" cy="210312"/>
          </a:xfrm>
          <a:prstGeom prst="rect">
            <a:avLst/>
          </a:prstGeom>
        </p:spPr>
      </p:pic>
      <p:sp>
        <p:nvSpPr>
          <p:cNvPr id="12" name="Text 8"/>
          <p:cNvSpPr txBox="1"/>
          <p:nvPr/>
        </p:nvSpPr>
        <p:spPr>
          <a:xfrm>
            <a:off x="1161288" y="2267712"/>
            <a:ext cx="6099048" cy="402336"/>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SSBJ・第三者保証・類似基盤の実績（Q5）</a:t>
            </a:r>
            <a:endParaRPr lang="en-US" sz="1150" dirty="0"/>
          </a:p>
        </p:txBody>
      </p:sp>
      <p:sp>
        <p:nvSpPr>
          <p:cNvPr id="13" name="Text 9"/>
          <p:cNvSpPr txBox="1"/>
          <p:nvPr/>
        </p:nvSpPr>
        <p:spPr>
          <a:xfrm>
            <a:off x="704088" y="2743200"/>
            <a:ext cx="3858768" cy="658368"/>
          </a:xfrm>
          <a:prstGeom prst="rect">
            <a:avLst/>
          </a:prstGeom>
          <a:noFill/>
          <a:ln/>
        </p:spPr>
        <p:txBody>
          <a:bodyPr wrap="square" lIns="0" tIns="0" rIns="0" bIns="0" rtlCol="0" anchor="t"/>
          <a:lstStyle/>
          <a:p>
            <a:pPr indent="0" marL="0">
              <a:lnSpc>
                <a:spcPct val="110000"/>
              </a:lnSpc>
              <a:buNone/>
            </a:pPr>
            <a:r>
              <a:rPr lang="en-US" sz="940" dirty="0">
                <a:solidFill>
                  <a:srgbClr val="26303B"/>
                </a:solidFill>
                <a:latin typeface="Meiryo" pitchFamily="34" charset="0"/>
                <a:ea typeface="Meiryo" pitchFamily="34" charset="-122"/>
                <a:cs typeface="Meiryo" pitchFamily="34" charset="-120"/>
              </a:rPr>
              <a:t>今回の要求定義は、第三者保証（SGS検証等）への耐性とSSBJ基準への適合が中核要件でした。この領域での実績・知見の裏付けにおいて他社との差が最も大きく、評価上の最大の差分（配点10点の項目）となりました。</a:t>
            </a:r>
            <a:endParaRPr lang="en-US" sz="940" dirty="0"/>
          </a:p>
        </p:txBody>
      </p:sp>
      <p:sp>
        <p:nvSpPr>
          <p:cNvPr id="14" name="Shape 10"/>
          <p:cNvSpPr/>
          <p:nvPr/>
        </p:nvSpPr>
        <p:spPr>
          <a:xfrm>
            <a:off x="4727448" y="2761488"/>
            <a:ext cx="0" cy="603504"/>
          </a:xfrm>
          <a:prstGeom prst="line">
            <a:avLst/>
          </a:prstGeom>
          <a:noFill/>
          <a:ln w="12700">
            <a:solidFill>
              <a:srgbClr val="C9D5E6"/>
            </a:solidFill>
            <a:prstDash val="solid"/>
          </a:ln>
        </p:spPr>
      </p:sp>
      <p:sp>
        <p:nvSpPr>
          <p:cNvPr id="15" name="Text 11"/>
          <p:cNvSpPr txBox="1"/>
          <p:nvPr/>
        </p:nvSpPr>
        <p:spPr>
          <a:xfrm>
            <a:off x="4873752" y="2706624"/>
            <a:ext cx="2350008" cy="237744"/>
          </a:xfrm>
          <a:prstGeom prst="rect">
            <a:avLst/>
          </a:prstGeom>
          <a:noFill/>
          <a:ln/>
        </p:spPr>
        <p:txBody>
          <a:bodyPr wrap="square" lIns="0" tIns="0" rIns="0" bIns="0" rtlCol="0" anchor="ctr"/>
          <a:lstStyle/>
          <a:p>
            <a:pPr indent="0" marL="0">
              <a:buNone/>
            </a:pPr>
            <a:r>
              <a:rPr lang="en-US" sz="920" b="1" dirty="0">
                <a:solidFill>
                  <a:srgbClr val="1F3864"/>
                </a:solidFill>
                <a:latin typeface="Meiryo" pitchFamily="34" charset="0"/>
                <a:ea typeface="Meiryo" pitchFamily="34" charset="-122"/>
                <a:cs typeface="Meiryo" pitchFamily="34" charset="-120"/>
              </a:rPr>
              <a:t>改善要素</a:t>
            </a:r>
            <a:endParaRPr lang="en-US" sz="920" dirty="0"/>
          </a:p>
        </p:txBody>
      </p:sp>
      <p:sp>
        <p:nvSpPr>
          <p:cNvPr id="16" name="Text 12"/>
          <p:cNvSpPr txBox="1"/>
          <p:nvPr/>
        </p:nvSpPr>
        <p:spPr>
          <a:xfrm>
            <a:off x="4873752" y="2962656"/>
            <a:ext cx="2350008" cy="457200"/>
          </a:xfrm>
          <a:prstGeom prst="rect">
            <a:avLst/>
          </a:prstGeom>
          <a:noFill/>
          <a:ln/>
        </p:spPr>
        <p:txBody>
          <a:bodyPr wrap="square" lIns="0" tIns="0" rIns="0" bIns="0" rtlCol="0" anchor="t"/>
          <a:lstStyle/>
          <a:p>
            <a:pPr indent="0" marL="0">
              <a:lnSpc>
                <a:spcPct val="108000"/>
              </a:lnSpc>
              <a:buNone/>
            </a:pPr>
            <a:r>
              <a:rPr lang="en-US" sz="900" dirty="0">
                <a:solidFill>
                  <a:srgbClr val="26303B"/>
                </a:solidFill>
                <a:latin typeface="Meiryo" pitchFamily="34" charset="0"/>
                <a:ea typeface="Meiryo" pitchFamily="34" charset="-122"/>
                <a:cs typeface="Meiryo" pitchFamily="34" charset="-120"/>
              </a:rPr>
              <a:t>SSBJ・保証対応の類似実績（体制・成果物・検証結果）の蓄積と具体的事例のご提示。外部専門家との連携体制の組成も一案です。</a:t>
            </a:r>
            <a:endParaRPr lang="en-US" sz="900" dirty="0"/>
          </a:p>
        </p:txBody>
      </p:sp>
      <p:sp>
        <p:nvSpPr>
          <p:cNvPr id="17" name="Shape 13"/>
          <p:cNvSpPr/>
          <p:nvPr/>
        </p:nvSpPr>
        <p:spPr>
          <a:xfrm>
            <a:off x="502920" y="3675888"/>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18" name="Shape 14"/>
          <p:cNvSpPr/>
          <p:nvPr/>
        </p:nvSpPr>
        <p:spPr>
          <a:xfrm>
            <a:off x="667512" y="3803904"/>
            <a:ext cx="384048" cy="384048"/>
          </a:xfrm>
          <a:prstGeom prst="ellipse">
            <a:avLst/>
          </a:prstGeom>
          <a:solidFill>
            <a:srgbClr val="1F3864"/>
          </a:solidFill>
          <a:ln/>
        </p:spPr>
      </p:sp>
      <p:pic>
        <p:nvPicPr>
          <p:cNvPr id="19" name="Image 2" descr="preencoded.png">    </p:cNvPr>
          <p:cNvPicPr>
            <a:picLocks noChangeAspect="1"/>
          </p:cNvPicPr>
          <p:nvPr/>
        </p:nvPicPr>
        <p:blipFill>
          <a:blip r:embed="rId3"/>
          <a:stretch>
            <a:fillRect/>
          </a:stretch>
        </p:blipFill>
        <p:spPr>
          <a:xfrm>
            <a:off x="754380" y="3890772"/>
            <a:ext cx="210312" cy="210312"/>
          </a:xfrm>
          <a:prstGeom prst="rect">
            <a:avLst/>
          </a:prstGeom>
        </p:spPr>
      </p:pic>
      <p:sp>
        <p:nvSpPr>
          <p:cNvPr id="20" name="Text 15"/>
          <p:cNvSpPr txBox="1"/>
          <p:nvPr/>
        </p:nvSpPr>
        <p:spPr>
          <a:xfrm>
            <a:off x="1161288" y="3785616"/>
            <a:ext cx="6099048" cy="402336"/>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「攻め」（非財務情報の経営活用）の設計力（Q4）</a:t>
            </a:r>
            <a:endParaRPr lang="en-US" sz="1150" dirty="0"/>
          </a:p>
        </p:txBody>
      </p:sp>
      <p:sp>
        <p:nvSpPr>
          <p:cNvPr id="21" name="Text 16"/>
          <p:cNvSpPr txBox="1"/>
          <p:nvPr/>
        </p:nvSpPr>
        <p:spPr>
          <a:xfrm>
            <a:off x="704088" y="4261104"/>
            <a:ext cx="3858768" cy="658368"/>
          </a:xfrm>
          <a:prstGeom prst="rect">
            <a:avLst/>
          </a:prstGeom>
          <a:noFill/>
          <a:ln/>
        </p:spPr>
        <p:txBody>
          <a:bodyPr wrap="square" lIns="0" tIns="0" rIns="0" bIns="0" rtlCol="0" anchor="t"/>
          <a:lstStyle/>
          <a:p>
            <a:pPr indent="0" marL="0">
              <a:lnSpc>
                <a:spcPct val="110000"/>
              </a:lnSpc>
              <a:buNone/>
            </a:pPr>
            <a:r>
              <a:rPr lang="en-US" sz="940" dirty="0">
                <a:solidFill>
                  <a:srgbClr val="26303B"/>
                </a:solidFill>
                <a:latin typeface="Meiryo" pitchFamily="34" charset="0"/>
                <a:ea typeface="Meiryo" pitchFamily="34" charset="-122"/>
                <a:cs typeface="Meiryo" pitchFamily="34" charset="-120"/>
              </a:rPr>
              <a:t>開示対応（守り）に加えて、非財務データの財務化・経営活用（攻め）を要件の柱としておりましたが、この領域の具体的な方法論・成果物のご提示が限定的でした。</a:t>
            </a:r>
            <a:endParaRPr lang="en-US" sz="940" dirty="0"/>
          </a:p>
        </p:txBody>
      </p:sp>
      <p:sp>
        <p:nvSpPr>
          <p:cNvPr id="22" name="Shape 17"/>
          <p:cNvSpPr/>
          <p:nvPr/>
        </p:nvSpPr>
        <p:spPr>
          <a:xfrm>
            <a:off x="4727448" y="4279392"/>
            <a:ext cx="0" cy="603504"/>
          </a:xfrm>
          <a:prstGeom prst="line">
            <a:avLst/>
          </a:prstGeom>
          <a:noFill/>
          <a:ln w="12700">
            <a:solidFill>
              <a:srgbClr val="C9D5E6"/>
            </a:solidFill>
            <a:prstDash val="solid"/>
          </a:ln>
        </p:spPr>
      </p:sp>
      <p:sp>
        <p:nvSpPr>
          <p:cNvPr id="23" name="Text 18"/>
          <p:cNvSpPr txBox="1"/>
          <p:nvPr/>
        </p:nvSpPr>
        <p:spPr>
          <a:xfrm>
            <a:off x="4873752" y="4224528"/>
            <a:ext cx="2350008" cy="237744"/>
          </a:xfrm>
          <a:prstGeom prst="rect">
            <a:avLst/>
          </a:prstGeom>
          <a:noFill/>
          <a:ln/>
        </p:spPr>
        <p:txBody>
          <a:bodyPr wrap="square" lIns="0" tIns="0" rIns="0" bIns="0" rtlCol="0" anchor="ctr"/>
          <a:lstStyle/>
          <a:p>
            <a:pPr indent="0" marL="0">
              <a:buNone/>
            </a:pPr>
            <a:r>
              <a:rPr lang="en-US" sz="920" b="1" dirty="0">
                <a:solidFill>
                  <a:srgbClr val="1F3864"/>
                </a:solidFill>
                <a:latin typeface="Meiryo" pitchFamily="34" charset="0"/>
                <a:ea typeface="Meiryo" pitchFamily="34" charset="-122"/>
                <a:cs typeface="Meiryo" pitchFamily="34" charset="-120"/>
              </a:rPr>
              <a:t>改善要素</a:t>
            </a:r>
            <a:endParaRPr lang="en-US" sz="920" dirty="0"/>
          </a:p>
        </p:txBody>
      </p:sp>
      <p:sp>
        <p:nvSpPr>
          <p:cNvPr id="24" name="Text 19"/>
          <p:cNvSpPr txBox="1"/>
          <p:nvPr/>
        </p:nvSpPr>
        <p:spPr>
          <a:xfrm>
            <a:off x="4873752" y="4480560"/>
            <a:ext cx="2350008" cy="457200"/>
          </a:xfrm>
          <a:prstGeom prst="rect">
            <a:avLst/>
          </a:prstGeom>
          <a:noFill/>
          <a:ln/>
        </p:spPr>
        <p:txBody>
          <a:bodyPr wrap="square" lIns="0" tIns="0" rIns="0" bIns="0" rtlCol="0" anchor="t"/>
          <a:lstStyle/>
          <a:p>
            <a:pPr indent="0" marL="0">
              <a:lnSpc>
                <a:spcPct val="108000"/>
              </a:lnSpc>
              <a:buNone/>
            </a:pPr>
            <a:r>
              <a:rPr lang="en-US" sz="900" dirty="0">
                <a:solidFill>
                  <a:srgbClr val="26303B"/>
                </a:solidFill>
                <a:latin typeface="Meiryo" pitchFamily="34" charset="0"/>
                <a:ea typeface="Meiryo" pitchFamily="34" charset="-122"/>
                <a:cs typeface="Meiryo" pitchFamily="34" charset="-120"/>
              </a:rPr>
              <a:t>非財務データの財務化に関する方法論・成果物イメージ（ROI試算・経営ダッシュボード等）の具体化とご提示。</a:t>
            </a:r>
            <a:endParaRPr lang="en-US" sz="900" dirty="0"/>
          </a:p>
        </p:txBody>
      </p:sp>
      <p:sp>
        <p:nvSpPr>
          <p:cNvPr id="25" name="Shape 20"/>
          <p:cNvSpPr/>
          <p:nvPr/>
        </p:nvSpPr>
        <p:spPr>
          <a:xfrm>
            <a:off x="502920" y="5193792"/>
            <a:ext cx="6903720" cy="1389888"/>
          </a:xfrm>
          <a:prstGeom prst="roundRect">
            <a:avLst>
              <a:gd name="adj" fmla="val 4605"/>
            </a:avLst>
          </a:prstGeom>
          <a:solidFill>
            <a:srgbClr val="F5F8FD"/>
          </a:solidFill>
          <a:ln/>
          <a:effectLst>
            <a:outerShdw sx="100000" sy="100000" kx="0" ky="0" algn="bl" rotWithShape="0" blurRad="76200" dist="25400" dir="5400000">
              <a:srgbClr val="9AA7BC">
                <a:alpha val="28000"/>
              </a:srgbClr>
            </a:outerShdw>
          </a:effectLst>
        </p:spPr>
      </p:sp>
      <p:sp>
        <p:nvSpPr>
          <p:cNvPr id="26" name="Shape 21"/>
          <p:cNvSpPr/>
          <p:nvPr/>
        </p:nvSpPr>
        <p:spPr>
          <a:xfrm>
            <a:off x="667512" y="5321808"/>
            <a:ext cx="384048" cy="384048"/>
          </a:xfrm>
          <a:prstGeom prst="ellipse">
            <a:avLst/>
          </a:prstGeom>
          <a:solidFill>
            <a:srgbClr val="1F3864"/>
          </a:solidFill>
          <a:ln/>
        </p:spPr>
      </p:sp>
      <p:pic>
        <p:nvPicPr>
          <p:cNvPr id="27" name="Image 3" descr="preencoded.png">    </p:cNvPr>
          <p:cNvPicPr>
            <a:picLocks noChangeAspect="1"/>
          </p:cNvPicPr>
          <p:nvPr/>
        </p:nvPicPr>
        <p:blipFill>
          <a:blip r:embed="rId4"/>
          <a:stretch>
            <a:fillRect/>
          </a:stretch>
        </p:blipFill>
        <p:spPr>
          <a:xfrm>
            <a:off x="754380" y="5408676"/>
            <a:ext cx="210312" cy="210312"/>
          </a:xfrm>
          <a:prstGeom prst="rect">
            <a:avLst/>
          </a:prstGeom>
        </p:spPr>
      </p:pic>
      <p:sp>
        <p:nvSpPr>
          <p:cNvPr id="28" name="Text 22"/>
          <p:cNvSpPr txBox="1"/>
          <p:nvPr/>
        </p:nvSpPr>
        <p:spPr>
          <a:xfrm>
            <a:off x="1161288" y="5303520"/>
            <a:ext cx="6099048" cy="402336"/>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実行計画の実現性と費用対効果の説明（D1・C4）</a:t>
            </a:r>
            <a:endParaRPr lang="en-US" sz="1150" dirty="0"/>
          </a:p>
        </p:txBody>
      </p:sp>
      <p:sp>
        <p:nvSpPr>
          <p:cNvPr id="29" name="Text 23"/>
          <p:cNvSpPr txBox="1"/>
          <p:nvPr/>
        </p:nvSpPr>
        <p:spPr>
          <a:xfrm>
            <a:off x="704088" y="5779008"/>
            <a:ext cx="3858768" cy="658368"/>
          </a:xfrm>
          <a:prstGeom prst="rect">
            <a:avLst/>
          </a:prstGeom>
          <a:noFill/>
          <a:ln/>
        </p:spPr>
        <p:txBody>
          <a:bodyPr wrap="square" lIns="0" tIns="0" rIns="0" bIns="0" rtlCol="0" anchor="t"/>
          <a:lstStyle/>
          <a:p>
            <a:pPr indent="0" marL="0">
              <a:lnSpc>
                <a:spcPct val="110000"/>
              </a:lnSpc>
              <a:buNone/>
            </a:pPr>
            <a:r>
              <a:rPr lang="en-US" sz="940" dirty="0">
                <a:solidFill>
                  <a:srgbClr val="26303B"/>
                </a:solidFill>
                <a:latin typeface="Meiryo" pitchFamily="34" charset="0"/>
                <a:ea typeface="Meiryo" pitchFamily="34" charset="-122"/>
                <a:cs typeface="Meiryo" pitchFamily="34" charset="-120"/>
              </a:rPr>
              <a:t>工程間の依存関係や拠点調査の負荷を織り込んだ実行計画（WBS）の具体性、および投資対効果の定量的なご説明において、確認したい点が残りました。</a:t>
            </a:r>
            <a:endParaRPr lang="en-US" sz="940" dirty="0"/>
          </a:p>
        </p:txBody>
      </p:sp>
      <p:sp>
        <p:nvSpPr>
          <p:cNvPr id="30" name="Shape 24"/>
          <p:cNvSpPr/>
          <p:nvPr/>
        </p:nvSpPr>
        <p:spPr>
          <a:xfrm>
            <a:off x="4727448" y="5797296"/>
            <a:ext cx="0" cy="603504"/>
          </a:xfrm>
          <a:prstGeom prst="line">
            <a:avLst/>
          </a:prstGeom>
          <a:noFill/>
          <a:ln w="12700">
            <a:solidFill>
              <a:srgbClr val="C9D5E6"/>
            </a:solidFill>
            <a:prstDash val="solid"/>
          </a:ln>
        </p:spPr>
      </p:sp>
      <p:sp>
        <p:nvSpPr>
          <p:cNvPr id="31" name="Text 25"/>
          <p:cNvSpPr txBox="1"/>
          <p:nvPr/>
        </p:nvSpPr>
        <p:spPr>
          <a:xfrm>
            <a:off x="4873752" y="5742432"/>
            <a:ext cx="2350008" cy="237744"/>
          </a:xfrm>
          <a:prstGeom prst="rect">
            <a:avLst/>
          </a:prstGeom>
          <a:noFill/>
          <a:ln/>
        </p:spPr>
        <p:txBody>
          <a:bodyPr wrap="square" lIns="0" tIns="0" rIns="0" bIns="0" rtlCol="0" anchor="ctr"/>
          <a:lstStyle/>
          <a:p>
            <a:pPr indent="0" marL="0">
              <a:buNone/>
            </a:pPr>
            <a:r>
              <a:rPr lang="en-US" sz="920" b="1" dirty="0">
                <a:solidFill>
                  <a:srgbClr val="1F3864"/>
                </a:solidFill>
                <a:latin typeface="Meiryo" pitchFamily="34" charset="0"/>
                <a:ea typeface="Meiryo" pitchFamily="34" charset="-122"/>
                <a:cs typeface="Meiryo" pitchFamily="34" charset="-120"/>
              </a:rPr>
              <a:t>改善要素</a:t>
            </a:r>
            <a:endParaRPr lang="en-US" sz="920" dirty="0"/>
          </a:p>
        </p:txBody>
      </p:sp>
      <p:sp>
        <p:nvSpPr>
          <p:cNvPr id="32" name="Text 26"/>
          <p:cNvSpPr txBox="1"/>
          <p:nvPr/>
        </p:nvSpPr>
        <p:spPr>
          <a:xfrm>
            <a:off x="4873752" y="5998464"/>
            <a:ext cx="2350008" cy="457200"/>
          </a:xfrm>
          <a:prstGeom prst="rect">
            <a:avLst/>
          </a:prstGeom>
          <a:noFill/>
          <a:ln/>
        </p:spPr>
        <p:txBody>
          <a:bodyPr wrap="square" lIns="0" tIns="0" rIns="0" bIns="0" rtlCol="0" anchor="t"/>
          <a:lstStyle/>
          <a:p>
            <a:pPr indent="0" marL="0">
              <a:lnSpc>
                <a:spcPct val="108000"/>
              </a:lnSpc>
              <a:buNone/>
            </a:pPr>
            <a:r>
              <a:rPr lang="en-US" sz="900" dirty="0">
                <a:solidFill>
                  <a:srgbClr val="26303B"/>
                </a:solidFill>
                <a:latin typeface="Meiryo" pitchFamily="34" charset="0"/>
                <a:ea typeface="Meiryo" pitchFamily="34" charset="-122"/>
                <a:cs typeface="Meiryo" pitchFamily="34" charset="-120"/>
              </a:rPr>
              <a:t>依存関係を織り込んだWBSの精緻化と、投資対効果（ROI）の定量的な試算根拠のご提示。</a:t>
            </a:r>
            <a:endParaRPr lang="en-US" sz="900" dirty="0"/>
          </a:p>
        </p:txBody>
      </p:sp>
      <p:sp>
        <p:nvSpPr>
          <p:cNvPr id="33" name="Shape 27"/>
          <p:cNvSpPr/>
          <p:nvPr/>
        </p:nvSpPr>
        <p:spPr>
          <a:xfrm>
            <a:off x="7589520" y="1755648"/>
            <a:ext cx="310896" cy="310896"/>
          </a:xfrm>
          <a:prstGeom prst="ellipse">
            <a:avLst/>
          </a:prstGeom>
          <a:solidFill>
            <a:srgbClr val="1F3864"/>
          </a:solidFill>
          <a:ln/>
        </p:spPr>
      </p:sp>
      <p:pic>
        <p:nvPicPr>
          <p:cNvPr id="34" name="Image 4" descr="preencoded.png">    </p:cNvPr>
          <p:cNvPicPr>
            <a:picLocks noChangeAspect="1"/>
          </p:cNvPicPr>
          <p:nvPr/>
        </p:nvPicPr>
        <p:blipFill>
          <a:blip r:embed="rId5"/>
          <a:stretch>
            <a:fillRect/>
          </a:stretch>
        </p:blipFill>
        <p:spPr>
          <a:xfrm>
            <a:off x="7658100" y="1824228"/>
            <a:ext cx="173736" cy="173736"/>
          </a:xfrm>
          <a:prstGeom prst="rect">
            <a:avLst/>
          </a:prstGeom>
        </p:spPr>
      </p:pic>
      <p:sp>
        <p:nvSpPr>
          <p:cNvPr id="35" name="Text 28"/>
          <p:cNvSpPr txBox="1"/>
          <p:nvPr/>
        </p:nvSpPr>
        <p:spPr>
          <a:xfrm>
            <a:off x="8001000" y="1728216"/>
            <a:ext cx="3657600" cy="365760"/>
          </a:xfrm>
          <a:prstGeom prst="rect">
            <a:avLst/>
          </a:prstGeom>
          <a:noFill/>
          <a:ln/>
        </p:spPr>
        <p:txBody>
          <a:bodyPr wrap="square" lIns="0" tIns="0" rIns="0" bIns="0" rtlCol="0" anchor="ctr"/>
          <a:lstStyle/>
          <a:p>
            <a:pPr indent="0" marL="0">
              <a:buNone/>
            </a:pPr>
            <a:r>
              <a:rPr lang="en-US" sz="1450" b="1" dirty="0">
                <a:solidFill>
                  <a:srgbClr val="1F3864"/>
                </a:solidFill>
                <a:latin typeface="Meiryo" pitchFamily="34" charset="0"/>
                <a:ea typeface="Meiryo" pitchFamily="34" charset="-122"/>
                <a:cs typeface="Meiryo" pitchFamily="34" charset="-120"/>
              </a:rPr>
              <a:t>今後に向けて</a:t>
            </a:r>
            <a:endParaRPr lang="en-US" sz="1450" dirty="0"/>
          </a:p>
        </p:txBody>
      </p:sp>
      <p:sp>
        <p:nvSpPr>
          <p:cNvPr id="36" name="Shape 29"/>
          <p:cNvSpPr/>
          <p:nvPr/>
        </p:nvSpPr>
        <p:spPr>
          <a:xfrm>
            <a:off x="7589520" y="2157984"/>
            <a:ext cx="4096512" cy="4059936"/>
          </a:xfrm>
          <a:prstGeom prst="roundRect">
            <a:avLst>
              <a:gd name="adj" fmla="val 1802"/>
            </a:avLst>
          </a:prstGeom>
          <a:solidFill>
            <a:srgbClr val="F5F8FD"/>
          </a:solidFill>
          <a:ln/>
          <a:effectLst>
            <a:outerShdw sx="100000" sy="100000" kx="0" ky="0" algn="bl" rotWithShape="0" blurRad="76200" dist="25400" dir="5400000">
              <a:srgbClr val="9AA7BC">
                <a:alpha val="28000"/>
              </a:srgbClr>
            </a:outerShdw>
          </a:effectLst>
        </p:spPr>
      </p:sp>
      <p:sp>
        <p:nvSpPr>
          <p:cNvPr id="37" name="Text 30"/>
          <p:cNvSpPr txBox="1"/>
          <p:nvPr/>
        </p:nvSpPr>
        <p:spPr>
          <a:xfrm>
            <a:off x="7808976" y="2340864"/>
            <a:ext cx="3657600" cy="2926080"/>
          </a:xfrm>
          <a:prstGeom prst="rect">
            <a:avLst/>
          </a:prstGeom>
          <a:noFill/>
          <a:ln/>
        </p:spPr>
        <p:txBody>
          <a:bodyPr wrap="square" lIns="0" tIns="0" rIns="0" bIns="0" rtlCol="0" anchor="t"/>
          <a:lstStyle/>
          <a:p>
            <a:pPr marL="152400" indent="-152400">
              <a:lnSpc>
                <a:spcPct val="115000"/>
              </a:lnSpc>
              <a:spcAft>
                <a:spcPts val="900"/>
              </a:spcAft>
              <a:buSzPct val="100000"/>
              <a:buChar char="■"/>
            </a:pPr>
            <a:r>
              <a:rPr lang="en-US" sz="1020" dirty="0">
                <a:solidFill>
                  <a:srgbClr val="26303B"/>
                </a:solidFill>
                <a:latin typeface="Meiryo" pitchFamily="34" charset="0"/>
                <a:ea typeface="Meiryo" pitchFamily="34" charset="-122"/>
                <a:cs typeface="Meiryo" pitchFamily="34" charset="-120"/>
              </a:rPr>
              <a:t>要求定義完了後のフェーズ（業務定着支援・現場展開・チェンジマネジメント等）では、貴社の機動力・価格競争力が活きる領域があると考えております。</a:t>
            </a:r>
            <a:endParaRPr lang="en-US" sz="1020" dirty="0"/>
          </a:p>
          <a:p>
            <a:pPr marL="152400" indent="-152400">
              <a:lnSpc>
                <a:spcPct val="115000"/>
              </a:lnSpc>
              <a:spcAft>
                <a:spcPts val="900"/>
              </a:spcAft>
              <a:buSzPct val="100000"/>
              <a:buChar char="■"/>
            </a:pPr>
            <a:r>
              <a:rPr lang="en-US" sz="1020" dirty="0">
                <a:solidFill>
                  <a:srgbClr val="26303B"/>
                </a:solidFill>
                <a:latin typeface="Meiryo" pitchFamily="34" charset="0"/>
                <a:ea typeface="Meiryo" pitchFamily="34" charset="-122"/>
                <a:cs typeface="Meiryo" pitchFamily="34" charset="-120"/>
              </a:rPr>
              <a:t>SSBJ・保証対応領域のご実績が積み上がられた際には、今後の個別テーマにて改めてお声がけさせていただく可能性がございます。</a:t>
            </a:r>
            <a:endParaRPr lang="en-US" sz="1020" dirty="0"/>
          </a:p>
          <a:p>
            <a:pPr marL="152400" indent="-152400">
              <a:lnSpc>
                <a:spcPct val="115000"/>
              </a:lnSpc>
              <a:buSzPct val="100000"/>
              <a:buChar char="■"/>
            </a:pPr>
            <a:r>
              <a:rPr lang="en-US" sz="1020" dirty="0">
                <a:solidFill>
                  <a:srgbClr val="26303B"/>
                </a:solidFill>
                <a:latin typeface="Meiryo" pitchFamily="34" charset="0"/>
                <a:ea typeface="Meiryo" pitchFamily="34" charset="-122"/>
                <a:cs typeface="Meiryo" pitchFamily="34" charset="-120"/>
              </a:rPr>
              <a:t>本フィードバックの内容についてのご質問には、個別にお答えいたします。</a:t>
            </a:r>
            <a:endParaRPr lang="en-US" sz="1020" dirty="0"/>
          </a:p>
        </p:txBody>
      </p:sp>
      <p:sp>
        <p:nvSpPr>
          <p:cNvPr id="38" name="Text 31"/>
          <p:cNvSpPr txBox="1"/>
          <p:nvPr/>
        </p:nvSpPr>
        <p:spPr>
          <a:xfrm>
            <a:off x="7808976" y="5349240"/>
            <a:ext cx="3657600" cy="731520"/>
          </a:xfrm>
          <a:prstGeom prst="rect">
            <a:avLst/>
          </a:prstGeom>
          <a:noFill/>
          <a:ln/>
        </p:spPr>
        <p:txBody>
          <a:bodyPr wrap="square" lIns="0" tIns="0" rIns="0" bIns="0" rtlCol="0" anchor="t"/>
          <a:lstStyle/>
          <a:p>
            <a:pPr indent="0" marL="0">
              <a:lnSpc>
                <a:spcPct val="115000"/>
              </a:lnSpc>
              <a:buNone/>
            </a:pPr>
            <a:r>
              <a:rPr lang="en-US" sz="1020" b="1" dirty="0">
                <a:solidFill>
                  <a:srgbClr val="1F3864"/>
                </a:solidFill>
                <a:latin typeface="Meiryo" pitchFamily="34" charset="0"/>
                <a:ea typeface="Meiryo" pitchFamily="34" charset="-122"/>
                <a:cs typeface="Meiryo" pitchFamily="34" charset="-120"/>
              </a:rPr>
              <a:t>このたびの多大なご尽力に改めて御礼申し上げます。今後とも変わらぬお付き合いを賜りますよう、お願い申し上げます。</a:t>
            </a:r>
            <a:endParaRPr lang="en-US" sz="10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ライオン株式会社 SSBJ対応PJT</dc:creator>
  <cp:lastModifiedBy>ライオン株式会社 SSBJ対応PJT</cp:lastModifiedBy>
  <cp:revision>1</cp:revision>
  <dcterms:created xsi:type="dcterms:W3CDTF">2026-08-26T11:29:47Z</dcterms:created>
  <dcterms:modified xsi:type="dcterms:W3CDTF">2026-08-26T11:29:47Z</dcterms:modified>
</cp:coreProperties>
</file>