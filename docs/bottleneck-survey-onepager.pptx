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54864"/>
            <a:ext cx="8686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3D2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生産性ボトルネック調査 推進方法 Ver2.0 — 基準・規定に遡る順序駆動アプローチ</a:t>
            </a:r>
            <a:endParaRPr lang="en-US" sz="1550" dirty="0"/>
          </a:p>
        </p:txBody>
      </p:sp>
      <p:sp>
        <p:nvSpPr>
          <p:cNvPr id="3" name="Text 1"/>
          <p:cNvSpPr/>
          <p:nvPr/>
        </p:nvSpPr>
        <p:spPr>
          <a:xfrm>
            <a:off x="9006840" y="54864"/>
            <a:ext cx="29535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対象: 明石工場 オーラルヘルスケア(植毛/ハブラシ包装/ハミガキ包装)｜2026年8月｜人事PJT(規定→業務→システム)の方法論を生産へ移植</a:t>
            </a:r>
            <a:endParaRPr lang="en-US" sz="650" dirty="0"/>
          </a:p>
        </p:txBody>
      </p:sp>
      <p:sp>
        <p:nvSpPr>
          <p:cNvPr id="4" name="Shape 2"/>
          <p:cNvSpPr/>
          <p:nvPr/>
        </p:nvSpPr>
        <p:spPr>
          <a:xfrm>
            <a:off x="228600" y="512064"/>
            <a:ext cx="11731752" cy="694944"/>
          </a:xfrm>
          <a:prstGeom prst="roundRect">
            <a:avLst>
              <a:gd name="adj" fmla="val 6579"/>
            </a:avLst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47472" y="566928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統括する論理</a:t>
            </a:r>
            <a:endParaRPr lang="en-US" sz="95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(順序が全て)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828800" y="576072"/>
            <a:ext cx="3108960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83664" y="576072"/>
            <a:ext cx="2999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780" b="1" dirty="0">
                <a:solidFill>
                  <a:srgbClr val="1F3D2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① 基準・規定を是正する</a:t>
            </a:r>
            <a:endParaRPr lang="en-US" sz="78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780" b="1" dirty="0">
                <a:solidFill>
                  <a:srgbClr val="1F3D2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＝ 作業を「消す」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4956048" y="576072"/>
            <a:ext cx="201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▶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166360" y="576072"/>
            <a:ext cx="3108960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221224" y="576072"/>
            <a:ext cx="2999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780" b="1" dirty="0">
                <a:solidFill>
                  <a:srgbClr val="1F3D2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② 業務プロセスを再設計する</a:t>
            </a:r>
            <a:endParaRPr lang="en-US" sz="78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780" b="1" dirty="0">
                <a:solidFill>
                  <a:srgbClr val="1F3D2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＝ 作業を「減らす」</a:t>
            </a:r>
            <a:endParaRPr lang="en-US" sz="780" dirty="0"/>
          </a:p>
        </p:txBody>
      </p:sp>
      <p:sp>
        <p:nvSpPr>
          <p:cNvPr id="11" name="Text 9"/>
          <p:cNvSpPr/>
          <p:nvPr/>
        </p:nvSpPr>
        <p:spPr>
          <a:xfrm>
            <a:off x="8293608" y="576072"/>
            <a:ext cx="201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▶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8503920" y="576072"/>
            <a:ext cx="3108960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558784" y="576072"/>
            <a:ext cx="2999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780" b="1" dirty="0">
                <a:solidFill>
                  <a:srgbClr val="1F3D2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③ 残る作業のみ自動化する</a:t>
            </a:r>
            <a:endParaRPr lang="en-US" sz="78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780" b="1" dirty="0">
                <a:solidFill>
                  <a:srgbClr val="1F3D2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＝「置き換える」(HowとしてのフィジカルAI)</a:t>
            </a:r>
            <a:endParaRPr lang="en-US" sz="780" dirty="0"/>
          </a:p>
        </p:txBody>
      </p:sp>
      <p:sp>
        <p:nvSpPr>
          <p:cNvPr id="14" name="Text 12"/>
          <p:cNvSpPr/>
          <p:nvPr/>
        </p:nvSpPr>
        <p:spPr>
          <a:xfrm>
            <a:off x="347472" y="969264"/>
            <a:ext cx="11521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工場の要員数＝基準・規定が要求する作業の総和。Howから入れば「存在すべきでない作業の自動化」＝人事PJTの「スリム化前のアウトソーシングで工数増大」と同じ失敗 ⇒ フィジカルAIの要件凍結は台帳完成後(26/12)まで待つゲート制</a:t>
            </a:r>
            <a:endParaRPr lang="en-US" sz="730" dirty="0"/>
          </a:p>
        </p:txBody>
      </p:sp>
      <p:sp>
        <p:nvSpPr>
          <p:cNvPr id="15" name="Shape 13"/>
          <p:cNvSpPr/>
          <p:nvPr/>
        </p:nvSpPr>
        <p:spPr>
          <a:xfrm>
            <a:off x="228600" y="1316736"/>
            <a:ext cx="2843784" cy="1335024"/>
          </a:xfrm>
          <a:prstGeom prst="roundRect">
            <a:avLst>
              <a:gd name="adj" fmla="val 3425"/>
            </a:avLst>
          </a:prstGeom>
          <a:solidFill>
            <a:srgbClr val="F3F8F1"/>
          </a:solidFill>
          <a:ln w="9525">
            <a:solidFill>
              <a:srgbClr val="C9DCC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" y="1353312"/>
            <a:ext cx="26609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3D2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To-Be(2030・3レイヤー)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20040" y="1572768"/>
            <a:ext cx="2660904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710" b="1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L1 基準: </a:t>
            </a:r>
            <a:pPr indent="0" marL="0">
              <a:lnSpc>
                <a:spcPct val="100000"/>
              </a:lnSpc>
              <a:buNone/>
            </a:pPr>
            <a:r>
              <a:rPr lang="en-US" sz="71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全基準を要求根拠で棚卸し済み。自動検査+統計的管理が規定のデフォルト
</a:t>
            </a:r>
            <a:pPr indent="0" marL="0">
              <a:lnSpc>
                <a:spcPct val="100000"/>
              </a:lnSpc>
              <a:buNone/>
            </a:pPr>
            <a:r>
              <a:rPr lang="en-US" sz="710" b="1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L2 プロセス: </a:t>
            </a:r>
            <a:pPr indent="0" marL="0">
              <a:lnSpc>
                <a:spcPct val="100000"/>
              </a:lnSpc>
              <a:buNone/>
            </a:pPr>
            <a:r>
              <a:rPr lang="en-US" sz="71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改定後基準で再設計。人は異常対応と改善に限定
</a:t>
            </a:r>
            <a:pPr indent="0" marL="0">
              <a:lnSpc>
                <a:spcPct val="100000"/>
              </a:lnSpc>
              <a:buNone/>
            </a:pPr>
            <a:r>
              <a:rPr lang="en-US" sz="710" b="1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L3 実行: </a:t>
            </a:r>
            <a:pPr indent="0" marL="0">
              <a:lnSpc>
                <a:spcPct val="100000"/>
              </a:lnSpc>
              <a:buNone/>
            </a:pPr>
            <a:r>
              <a:rPr lang="en-US" sz="71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植毛57名(半減)・工場264名(▲53名)・KGI一人当たり生産金額+20%</a:t>
            </a:r>
            <a:endParaRPr lang="en-US" sz="710" dirty="0"/>
          </a:p>
        </p:txBody>
      </p:sp>
      <p:sp>
        <p:nvSpPr>
          <p:cNvPr id="18" name="Shape 16"/>
          <p:cNvSpPr/>
          <p:nvPr/>
        </p:nvSpPr>
        <p:spPr>
          <a:xfrm>
            <a:off x="3168396" y="1316736"/>
            <a:ext cx="2843784" cy="1335024"/>
          </a:xfrm>
          <a:prstGeom prst="roundRect">
            <a:avLst>
              <a:gd name="adj" fmla="val 3425"/>
            </a:avLst>
          </a:prstGeom>
          <a:solidFill>
            <a:srgbClr val="F7F7F7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59836" y="1353312"/>
            <a:ext cx="26609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As-Is(現状)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259836" y="1572768"/>
            <a:ext cx="2660904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710" b="1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L1: </a:t>
            </a:r>
            <a:pPr indent="0" marL="0">
              <a:lnSpc>
                <a:spcPct val="100000"/>
              </a:lnSpc>
              <a:buNone/>
            </a:pPr>
            <a:r>
              <a:rPr lang="en-US" sz="71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基準は品質事象対応で積層。全数目視・長毛処理は人手前提の規定のまま
</a:t>
            </a:r>
            <a:pPr indent="0" marL="0">
              <a:lnSpc>
                <a:spcPct val="100000"/>
              </a:lnSpc>
              <a:buNone/>
            </a:pPr>
            <a:r>
              <a:rPr lang="en-US" sz="710" b="1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L2: </a:t>
            </a:r>
            <a:pPr indent="0" marL="0">
              <a:lnSpc>
                <a:spcPct val="100000"/>
              </a:lnSpc>
              <a:buNone/>
            </a:pPr>
            <a:r>
              <a:rPr lang="en-US" sz="71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要員は積み上げ設定(検証データ無し)。B停止を人が吸収
</a:t>
            </a:r>
            <a:pPr indent="0" marL="0">
              <a:lnSpc>
                <a:spcPct val="100000"/>
              </a:lnSpc>
              <a:buNone/>
            </a:pPr>
            <a:r>
              <a:rPr lang="en-US" sz="710" b="1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L3: </a:t>
            </a:r>
            <a:pPr indent="0" marL="0">
              <a:lnSpc>
                <a:spcPct val="100000"/>
              </a:lnSpc>
              <a:buNone/>
            </a:pPr>
            <a:r>
              <a:rPr lang="en-US" sz="71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フィジカルAI計画は現行基準を所与とし植毛100名止まり。既設カメラ転用不可</a:t>
            </a:r>
            <a:endParaRPr lang="en-US" sz="710" dirty="0"/>
          </a:p>
        </p:txBody>
      </p:sp>
      <p:sp>
        <p:nvSpPr>
          <p:cNvPr id="21" name="Shape 19"/>
          <p:cNvSpPr/>
          <p:nvPr/>
        </p:nvSpPr>
        <p:spPr>
          <a:xfrm>
            <a:off x="6108192" y="1316736"/>
            <a:ext cx="2843784" cy="1335024"/>
          </a:xfrm>
          <a:prstGeom prst="roundRect">
            <a:avLst>
              <a:gd name="adj" fmla="val 3425"/>
            </a:avLst>
          </a:prstGeom>
          <a:solidFill>
            <a:srgbClr val="FBEDEA"/>
          </a:solidFill>
          <a:ln w="9525">
            <a:solidFill>
              <a:srgbClr val="B8504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199632" y="1353312"/>
            <a:ext cx="26609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8504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GAP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199632" y="1572768"/>
            <a:ext cx="2660904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B8504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植毛▲43名の打ち手不在
</a:t>
            </a:r>
            <a:pPr indent="0" marL="0">
              <a:lnSpc>
                <a:spcPct val="100000"/>
              </a:lnSpc>
              <a:buNone/>
            </a:pPr>
            <a:r>
              <a:rPr lang="en-US" sz="710" b="1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正体は「基準レイヤー未着手」(技術限界ではない)
</a:t>
            </a:r>
            <a:pPr indent="0" marL="0">
              <a:lnSpc>
                <a:spcPct val="100000"/>
              </a:lnSpc>
              <a:buNone/>
            </a:pPr>
            <a:r>
              <a:rPr lang="en-US" sz="71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・基準に踏み込む意思決定の枠組み不在(効果の過半がここに眠る)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1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・AI先行で仕様固定化→投資1〜2億円過大化リスク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1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・作業×規定の対応データ不在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9047988" y="1316736"/>
            <a:ext cx="2843784" cy="1335024"/>
          </a:xfrm>
          <a:prstGeom prst="roundRect">
            <a:avLst>
              <a:gd name="adj" fmla="val 3425"/>
            </a:avLst>
          </a:prstGeom>
          <a:solidFill>
            <a:srgbClr val="F3F8F1"/>
          </a:solidFill>
          <a:ln w="9525">
            <a:solidFill>
              <a:srgbClr val="C9DCC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39428" y="1353312"/>
            <a:ext cx="26609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3D2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原因: 植毛115名の「要求元」分解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9139428" y="1572768"/>
            <a:ext cx="2660904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69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 法規・公的規格 〜10名(不可動)
B 業界標準・顧客要求 〜20名
</a:t>
            </a:r>
            <a:pPr indent="0" marL="0">
              <a:lnSpc>
                <a:spcPct val="100000"/>
              </a:lnSpc>
              <a:buNone/>
            </a:pPr>
            <a:r>
              <a:rPr lang="en-US" sz="690" b="1" dirty="0">
                <a:solidFill>
                  <a:srgbClr val="B8504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C 当社独自基準 〜40名 ←本丸
</a:t>
            </a:r>
            <a:pPr indent="0" marL="0">
              <a:lnSpc>
                <a:spcPct val="100000"/>
              </a:lnSpc>
              <a:buNone/>
            </a:pPr>
            <a:r>
              <a:rPr lang="en-US" sz="69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D 設備起因(B停止等) 〜25名
E 定型作業 〜20名 ←現行AI計画の対象はここだけ
</a:t>
            </a:r>
            <a:pPr indent="0" marL="0">
              <a:lnSpc>
                <a:spcPct val="100000"/>
              </a:lnSpc>
              <a:buNone/>
            </a:pPr>
            <a:r>
              <a:rPr lang="en-US" sz="690" b="1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真因: 基準は追加される一方「削除するプロセス」が無い</a:t>
            </a:r>
            <a:endParaRPr lang="en-US" sz="690" dirty="0"/>
          </a:p>
        </p:txBody>
      </p:sp>
      <p:sp>
        <p:nvSpPr>
          <p:cNvPr id="27" name="Text 25"/>
          <p:cNvSpPr/>
          <p:nvPr/>
        </p:nvSpPr>
        <p:spPr>
          <a:xfrm>
            <a:off x="228600" y="2761488"/>
            <a:ext cx="8503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3D2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解決策 — 依存関係を持つ3ステップ(①→②→③の順に成果物が前提となる。並列の打ち手リストではない)</a:t>
            </a:r>
            <a:endParaRPr lang="en-US" sz="9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2980944"/>
          <a:ext cx="8503920" cy="914400"/>
        </p:xfrm>
        <a:graphic>
          <a:graphicData uri="http://schemas.openxmlformats.org/drawingml/2006/table">
            <a:tbl>
              <a:tblPr/>
              <a:tblGrid>
                <a:gridCol w="1051560"/>
                <a:gridCol w="3429000"/>
                <a:gridCol w="777240"/>
                <a:gridCol w="1874520"/>
                <a:gridCol w="1371600"/>
              </a:tblGrid>
              <a:tr h="2011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STEP</a:t>
                      </a:r>
                      <a:endParaRPr lang="en-US" sz="72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32004" marR="32004" marT="32004" marB="32004" anchor="ctr">
                    <a:lnL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打ち手</a:t>
                      </a:r>
                      <a:endParaRPr lang="en-US" sz="72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32004" marR="32004" marT="32004" marB="32004" anchor="ctr">
                    <a:lnL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効果(植毛)</a:t>
                      </a:r>
                      <a:endParaRPr lang="en-US" sz="72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32004" marR="32004" marT="32004" marB="32004" anchor="ctr">
                    <a:lnL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誰が(3チーム体制)</a:t>
                      </a:r>
                      <a:endParaRPr lang="en-US" sz="72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32004" marR="32004" marT="32004" marB="32004" anchor="ctr">
                    <a:lnL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いつまでに</a:t>
                      </a:r>
                      <a:endParaRPr lang="en-US" sz="72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32004" marR="32004" marT="32004" marB="32004" anchor="ctr">
                    <a:lnL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90" b="1" dirty="0">
                          <a:solidFill>
                            <a:srgbClr val="2B2B2B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① 基準是正</a:t>
                      </a:r>
                      <a:endParaRPr lang="en-US" sz="69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690" b="1" dirty="0">
                          <a:solidFill>
                            <a:srgbClr val="2B2B2B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=消す</a:t>
                      </a:r>
                      <a:endParaRPr lang="en-US" sz="69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32004" marR="32004" marT="32004" marB="32004" anchor="ctr">
                    <a:lnL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BD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90" dirty="0">
                          <a:solidFill>
                            <a:srgbClr val="2B2B2B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検査規定変更(全数目視→AI全数+統計監査)・長毛処理の発生源対策と公差再設定・記録/点検のリスクベース化。品質実績(クレーム率・Cpk)で裏付け</a:t>
                      </a:r>
                      <a:endParaRPr lang="en-US" sz="69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32004" marR="32004" marT="32004" marB="32004" anchor="ctr">
                    <a:lnL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90" b="1" dirty="0">
                          <a:solidFill>
                            <a:srgbClr val="2B2B2B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▲12〜18名</a:t>
                      </a:r>
                      <a:endParaRPr lang="en-US" sz="69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32004" marR="32004" marT="32004" marB="32004" anchor="ctr">
                    <a:lnL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90" dirty="0">
                          <a:solidFill>
                            <a:srgbClr val="2B2B2B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基準・規定改定チーム: 品質保証部門L+R&amp;D+工場QA(改定オーナーは品質保証=社内正統性)</a:t>
                      </a:r>
                      <a:endParaRPr lang="en-US" sz="69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32004" marR="32004" marT="32004" marB="32004" anchor="ctr">
                    <a:lnL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90" dirty="0">
                          <a:solidFill>
                            <a:srgbClr val="2B2B2B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26/9台帳→26/12方針合意→27/6改定第1弾</a:t>
                      </a:r>
                      <a:endParaRPr lang="en-US" sz="69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32004" marR="32004" marT="32004" marB="32004" anchor="ctr">
                    <a:lnL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90" b="1" dirty="0">
                          <a:solidFill>
                            <a:srgbClr val="2B2B2B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② プロセス再設計</a:t>
                      </a:r>
                      <a:endParaRPr lang="en-US" sz="69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690" b="1" dirty="0">
                          <a:solidFill>
                            <a:srgbClr val="2B2B2B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=減らす</a:t>
                      </a:r>
                      <a:endParaRPr lang="en-US" sz="69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32004" marR="32004" marT="32004" marB="32004" anchor="ctr">
                    <a:lnL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BD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90" dirty="0">
                          <a:solidFill>
                            <a:srgbClr val="2B2B2B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改定後基準を前提にECRSで工程再設計。B停止の原因潰し込みで半減・復旧標準化・段替えSMED・A停止(前準備/後片付け)再設計で効果の食い潰し防止</a:t>
                      </a:r>
                      <a:endParaRPr lang="en-US" sz="69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32004" marR="32004" marT="32004" marB="32004" anchor="ctr">
                    <a:lnL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90" b="1" dirty="0">
                          <a:solidFill>
                            <a:srgbClr val="2B2B2B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▲8〜12名</a:t>
                      </a:r>
                      <a:endParaRPr lang="en-US" sz="69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32004" marR="32004" marT="32004" marB="32004" anchor="ctr">
                    <a:lnL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90" dirty="0">
                          <a:solidFill>
                            <a:srgbClr val="2B2B2B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業務プロセス改善チーム: 明石工場(中林氏)L+プロ包技室+製造現場</a:t>
                      </a:r>
                      <a:endParaRPr lang="en-US" sz="69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32004" marR="32004" marT="32004" marB="32004" anchor="ctr">
                    <a:lnL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90" dirty="0">
                          <a:solidFill>
                            <a:srgbClr val="2B2B2B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26/11分析→27/12実装</a:t>
                      </a:r>
                      <a:endParaRPr lang="en-US" sz="69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32004" marR="32004" marT="32004" marB="32004" anchor="ctr">
                    <a:lnL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90" b="1" dirty="0">
                          <a:solidFill>
                            <a:srgbClr val="2B2B2B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③ 実行手段の割当て</a:t>
                      </a:r>
                      <a:endParaRPr lang="en-US" sz="69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690" b="1" dirty="0">
                          <a:solidFill>
                            <a:srgbClr val="2B2B2B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=置き換える</a:t>
                      </a:r>
                      <a:endParaRPr lang="en-US" sz="69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32004" marR="32004" marT="32004" marB="32004" anchor="ctr">
                    <a:lnL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BD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90" dirty="0">
                          <a:solidFill>
                            <a:srgbClr val="2B2B2B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残存作業のみに人/フィジカルAI(供給・箱詰)/自動検査装置/AMRを最適割当て。要件は「改定後の基準・プロセス」を前提に凍結(Fit to Standard・カスタム開発最小化)</a:t>
                      </a:r>
                      <a:endParaRPr lang="en-US" sz="69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32004" marR="32004" marT="32004" marB="32004" anchor="ctr">
                    <a:lnL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90" b="1" dirty="0">
                          <a:solidFill>
                            <a:srgbClr val="2B2B2B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▲25〜30名</a:t>
                      </a:r>
                      <a:endParaRPr lang="en-US" sz="69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32004" marR="32004" marT="32004" marB="32004" anchor="ctr">
                    <a:lnL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90" dirty="0">
                          <a:solidFill>
                            <a:srgbClr val="2B2B2B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自動化・システムチーム: 生技セL+デジ戦(工場DX)+SCM戦略部(投資評価)</a:t>
                      </a:r>
                      <a:endParaRPr lang="en-US" sz="69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32004" marR="32004" marT="32004" marB="32004" anchor="ctr">
                    <a:lnL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90" dirty="0">
                          <a:solidFill>
                            <a:srgbClr val="2B2B2B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26/12要件定義→27年PoC→28〜29実装</a:t>
                      </a:r>
                      <a:endParaRPr lang="en-US" sz="69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32004" marR="32004" marT="32004" marB="32004" anchor="ctr">
                    <a:lnL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9" name="Text 26"/>
          <p:cNvSpPr/>
          <p:nvPr/>
        </p:nvSpPr>
        <p:spPr>
          <a:xfrm>
            <a:off x="228600" y="4736592"/>
            <a:ext cx="1417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F3D2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効果のウォーターフォール:</a:t>
            </a:r>
            <a:endParaRPr lang="en-US" sz="750" dirty="0"/>
          </a:p>
        </p:txBody>
      </p:sp>
      <p:sp>
        <p:nvSpPr>
          <p:cNvPr id="30" name="Shape 27"/>
          <p:cNvSpPr/>
          <p:nvPr/>
        </p:nvSpPr>
        <p:spPr>
          <a:xfrm>
            <a:off x="1645920" y="4736592"/>
            <a:ext cx="1417320" cy="402336"/>
          </a:xfrm>
          <a:prstGeom prst="roundRect">
            <a:avLst>
              <a:gd name="adj" fmla="val 9091"/>
            </a:avLst>
          </a:prstGeom>
          <a:solidFill>
            <a:srgbClr val="F3F8F1"/>
          </a:solidFill>
          <a:ln w="9525">
            <a:solidFill>
              <a:srgbClr val="C9DCC4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1691640" y="4736592"/>
            <a:ext cx="1325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" dirty="0">
                <a:solidFill>
                  <a:srgbClr val="1F3D2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現状 </a:t>
            </a:r>
            <a:pPr algn="ctr" indent="0" marL="0">
              <a:buNone/>
            </a:pPr>
            <a:r>
              <a:rPr lang="en-US" sz="1050" b="1" dirty="0">
                <a:solidFill>
                  <a:srgbClr val="1F3D2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115名</a:t>
            </a:r>
            <a:endParaRPr lang="en-US" sz="640" dirty="0"/>
          </a:p>
        </p:txBody>
      </p:sp>
      <p:sp>
        <p:nvSpPr>
          <p:cNvPr id="32" name="Text 29"/>
          <p:cNvSpPr/>
          <p:nvPr/>
        </p:nvSpPr>
        <p:spPr>
          <a:xfrm>
            <a:off x="3099816" y="4736592"/>
            <a:ext cx="2194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C5F2D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▶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3319272" y="4736592"/>
            <a:ext cx="1417320" cy="402336"/>
          </a:xfrm>
          <a:prstGeom prst="roundRect">
            <a:avLst>
              <a:gd name="adj" fmla="val 9091"/>
            </a:avLst>
          </a:prstGeom>
          <a:solidFill>
            <a:srgbClr val="F3F8F1"/>
          </a:solidFill>
          <a:ln w="9525">
            <a:solidFill>
              <a:srgbClr val="C9DCC4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3364992" y="4736592"/>
            <a:ext cx="1325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" dirty="0">
                <a:solidFill>
                  <a:srgbClr val="1F3D2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STEP①後 </a:t>
            </a:r>
            <a:pPr algn="ctr" indent="0" marL="0">
              <a:buNone/>
            </a:pPr>
            <a:r>
              <a:rPr lang="en-US" sz="1050" b="1" dirty="0">
                <a:solidFill>
                  <a:srgbClr val="1F3D2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〜100名</a:t>
            </a:r>
            <a:endParaRPr lang="en-US" sz="640" dirty="0"/>
          </a:p>
        </p:txBody>
      </p:sp>
      <p:sp>
        <p:nvSpPr>
          <p:cNvPr id="35" name="Text 32"/>
          <p:cNvSpPr/>
          <p:nvPr/>
        </p:nvSpPr>
        <p:spPr>
          <a:xfrm>
            <a:off x="4773168" y="4736592"/>
            <a:ext cx="2194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C5F2D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▶</a:t>
            </a:r>
            <a:endParaRPr lang="en-US" sz="1000" dirty="0"/>
          </a:p>
        </p:txBody>
      </p:sp>
      <p:sp>
        <p:nvSpPr>
          <p:cNvPr id="36" name="Shape 33"/>
          <p:cNvSpPr/>
          <p:nvPr/>
        </p:nvSpPr>
        <p:spPr>
          <a:xfrm>
            <a:off x="4992624" y="4736592"/>
            <a:ext cx="1417320" cy="402336"/>
          </a:xfrm>
          <a:prstGeom prst="roundRect">
            <a:avLst>
              <a:gd name="adj" fmla="val 9091"/>
            </a:avLst>
          </a:prstGeom>
          <a:solidFill>
            <a:srgbClr val="F3F8F1"/>
          </a:solidFill>
          <a:ln w="9525">
            <a:solidFill>
              <a:srgbClr val="C9DCC4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5038344" y="4736592"/>
            <a:ext cx="1325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" dirty="0">
                <a:solidFill>
                  <a:srgbClr val="1F3D2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STEP②後 </a:t>
            </a:r>
            <a:pPr algn="ctr" indent="0" marL="0">
              <a:buNone/>
            </a:pPr>
            <a:r>
              <a:rPr lang="en-US" sz="1050" b="1" dirty="0">
                <a:solidFill>
                  <a:srgbClr val="1F3D2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〜90名</a:t>
            </a:r>
            <a:endParaRPr lang="en-US" sz="640" dirty="0"/>
          </a:p>
        </p:txBody>
      </p:sp>
      <p:sp>
        <p:nvSpPr>
          <p:cNvPr id="38" name="Text 35"/>
          <p:cNvSpPr/>
          <p:nvPr/>
        </p:nvSpPr>
        <p:spPr>
          <a:xfrm>
            <a:off x="6446520" y="4736592"/>
            <a:ext cx="2194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C5F2D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▶</a:t>
            </a:r>
            <a:endParaRPr lang="en-US" sz="1000" dirty="0"/>
          </a:p>
        </p:txBody>
      </p:sp>
      <p:sp>
        <p:nvSpPr>
          <p:cNvPr id="39" name="Shape 36"/>
          <p:cNvSpPr/>
          <p:nvPr/>
        </p:nvSpPr>
        <p:spPr>
          <a:xfrm>
            <a:off x="6665976" y="4736592"/>
            <a:ext cx="2057400" cy="402336"/>
          </a:xfrm>
          <a:prstGeom prst="roundRect">
            <a:avLst>
              <a:gd name="adj" fmla="val 9091"/>
            </a:avLst>
          </a:prstGeom>
          <a:solidFill>
            <a:srgbClr val="2C5F2D"/>
          </a:solidFill>
          <a:ln w="9525">
            <a:solidFill>
              <a:srgbClr val="2C5F2D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6711696" y="4736592"/>
            <a:ext cx="1965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STEP③後 </a:t>
            </a:r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57〜65名(半減)</a:t>
            </a:r>
            <a:endParaRPr lang="en-US" sz="640" dirty="0"/>
          </a:p>
        </p:txBody>
      </p:sp>
      <p:sp>
        <p:nvSpPr>
          <p:cNvPr id="41" name="Text 38"/>
          <p:cNvSpPr/>
          <p:nvPr/>
        </p:nvSpPr>
        <p:spPr>
          <a:xfrm>
            <a:off x="228600" y="5212080"/>
            <a:ext cx="8503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b="1" dirty="0">
                <a:solidFill>
                  <a:srgbClr val="B8504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順序の経済価値: STEP①②の先行で③の対象作業が2〜3割減 → 植毛向けフィジカルAI 9〜15機→7〜10機に圧縮 ＝ 投資▲1〜2億円</a:t>
            </a:r>
            <a:endParaRPr lang="en-US" sz="730" dirty="0"/>
          </a:p>
        </p:txBody>
      </p:sp>
      <p:sp>
        <p:nvSpPr>
          <p:cNvPr id="42" name="Shape 39"/>
          <p:cNvSpPr/>
          <p:nvPr/>
        </p:nvSpPr>
        <p:spPr>
          <a:xfrm>
            <a:off x="8887968" y="2761488"/>
            <a:ext cx="3072384" cy="969264"/>
          </a:xfrm>
          <a:prstGeom prst="roundRect">
            <a:avLst>
              <a:gd name="adj" fmla="val 4717"/>
            </a:avLst>
          </a:prstGeom>
          <a:solidFill>
            <a:srgbClr val="FBEDEA"/>
          </a:solidFill>
          <a:ln w="9525">
            <a:solidFill>
              <a:srgbClr val="B85042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8979408" y="2798064"/>
            <a:ext cx="28895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8504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経営論点: 基準への踏み込み度</a:t>
            </a:r>
            <a:endParaRPr lang="en-US" sz="1000" dirty="0"/>
          </a:p>
        </p:txBody>
      </p:sp>
      <p:sp>
        <p:nvSpPr>
          <p:cNvPr id="44" name="Text 41"/>
          <p:cNvSpPr/>
          <p:nvPr/>
        </p:nvSpPr>
        <p:spPr>
          <a:xfrm>
            <a:off x="8979408" y="2999232"/>
            <a:ext cx="288950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68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配慮スコープ(工程内基準のみ): 植毛70名台止まり=半減未達
</a:t>
            </a:r>
            <a:pPr indent="0" marL="0">
              <a:lnSpc>
                <a:spcPct val="100000"/>
              </a:lnSpc>
              <a:buNone/>
            </a:pPr>
            <a:r>
              <a:rPr lang="en-US" sz="680" b="1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踏み込みスコープ(検査方式・規格公差=市場品質関与): 半減の必要条件
</a:t>
            </a:r>
            <a:pPr indent="0" marL="0">
              <a:lnSpc>
                <a:spcPct val="100000"/>
              </a:lnSpc>
              <a:buNone/>
            </a:pPr>
            <a:r>
              <a:rPr lang="en-US" sz="68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⇒ 26/10役員協議へ上程(品質ポリシー)。「品質を下げる」でなく「保証方法の現代化」として設計</a:t>
            </a:r>
            <a:endParaRPr lang="en-US" sz="680" dirty="0"/>
          </a:p>
        </p:txBody>
      </p:sp>
      <p:sp>
        <p:nvSpPr>
          <p:cNvPr id="45" name="Shape 42"/>
          <p:cNvSpPr/>
          <p:nvPr/>
        </p:nvSpPr>
        <p:spPr>
          <a:xfrm>
            <a:off x="8887968" y="3803904"/>
            <a:ext cx="3072384" cy="877824"/>
          </a:xfrm>
          <a:prstGeom prst="roundRect">
            <a:avLst>
              <a:gd name="adj" fmla="val 5208"/>
            </a:avLst>
          </a:prstGeom>
          <a:solidFill>
            <a:srgbClr val="F3F8F1"/>
          </a:solidFill>
          <a:ln w="9525">
            <a:solidFill>
              <a:srgbClr val="C9DCC4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8979408" y="3840480"/>
            <a:ext cx="28895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3D2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調査の中核成果物</a:t>
            </a:r>
            <a:endParaRPr lang="en-US" sz="1000" dirty="0"/>
          </a:p>
        </p:txBody>
      </p:sp>
      <p:sp>
        <p:nvSpPr>
          <p:cNvPr id="47" name="Text 44"/>
          <p:cNvSpPr/>
          <p:nvPr/>
        </p:nvSpPr>
        <p:spPr>
          <a:xfrm>
            <a:off x="8979408" y="4041648"/>
            <a:ext cx="288950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作業-規定トレーサビリティ台帳
</a:t>
            </a:r>
            <a:pPr indent="0" marL="0">
              <a:lnSpc>
                <a:spcPct val="100000"/>
              </a:lnSpc>
              <a:buNone/>
            </a:pPr>
            <a:r>
              <a:rPr lang="en-US" sz="68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全作業(ワークサンプリング+簡易カメラ)×要求元規定×A〜E分類×品質実績整合×改定方針×改定後の実行手段。人事PJT「課題18件一覧」の生産版。調査=この台帳を完成させる活動</a:t>
            </a:r>
            <a:endParaRPr lang="en-US" sz="680" dirty="0"/>
          </a:p>
        </p:txBody>
      </p:sp>
      <p:sp>
        <p:nvSpPr>
          <p:cNvPr id="48" name="Shape 45"/>
          <p:cNvSpPr/>
          <p:nvPr/>
        </p:nvSpPr>
        <p:spPr>
          <a:xfrm>
            <a:off x="8887968" y="4754880"/>
            <a:ext cx="3072384" cy="841248"/>
          </a:xfrm>
          <a:prstGeom prst="roundRect">
            <a:avLst>
              <a:gd name="adj" fmla="val 5435"/>
            </a:avLst>
          </a:prstGeom>
          <a:solidFill>
            <a:srgbClr val="FBEDEA"/>
          </a:solidFill>
          <a:ln w="9525">
            <a:solidFill>
              <a:srgbClr val="B85042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8979408" y="4791456"/>
            <a:ext cx="28895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8504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投資対効果(いくら)</a:t>
            </a:r>
            <a:endParaRPr lang="en-US" sz="1000" dirty="0"/>
          </a:p>
        </p:txBody>
      </p:sp>
      <p:sp>
        <p:nvSpPr>
          <p:cNvPr id="50" name="Text 47"/>
          <p:cNvSpPr/>
          <p:nvPr/>
        </p:nvSpPr>
        <p:spPr>
          <a:xfrm>
            <a:off x="8979408" y="4992624"/>
            <a:ext cx="28895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B8504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年3.0〜3.5億円 + 投資圧縮1〜2億円
</a:t>
            </a:r>
            <a:pPr indent="0" marL="0">
              <a:lnSpc>
                <a:spcPct val="100000"/>
              </a:lnSpc>
              <a:buNone/>
            </a:pPr>
            <a:r>
              <a:rPr lang="en-US" sz="68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基準・プロセス 年1.0〜1.5億(投資ほぼゼロ・27年〜)+自動化 年1.7〜2.2億(投資2.5〜3億)。踏み込み見送り時は効果6割前後に減衰</a:t>
            </a:r>
            <a:endParaRPr lang="en-US" sz="1050" dirty="0"/>
          </a:p>
        </p:txBody>
      </p:sp>
      <p:sp>
        <p:nvSpPr>
          <p:cNvPr id="51" name="Shape 48"/>
          <p:cNvSpPr/>
          <p:nvPr/>
        </p:nvSpPr>
        <p:spPr>
          <a:xfrm>
            <a:off x="228600" y="5687568"/>
            <a:ext cx="1879092" cy="786384"/>
          </a:xfrm>
          <a:prstGeom prst="roundRect">
            <a:avLst>
              <a:gd name="adj" fmla="val 4651"/>
            </a:avLst>
          </a:prstGeom>
          <a:solidFill>
            <a:srgbClr val="F3F8F1"/>
          </a:solidFill>
          <a:ln w="9525">
            <a:solidFill>
              <a:srgbClr val="C9DCC4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301752" y="5715000"/>
            <a:ext cx="17327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3D2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26/8</a:t>
            </a:r>
            <a:endParaRPr lang="en-US" sz="850" dirty="0"/>
          </a:p>
        </p:txBody>
      </p:sp>
      <p:sp>
        <p:nvSpPr>
          <p:cNvPr id="53" name="Text 50"/>
          <p:cNvSpPr/>
          <p:nvPr/>
        </p:nvSpPr>
        <p:spPr>
          <a:xfrm>
            <a:off x="301752" y="5888736"/>
            <a:ext cx="1732788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65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3チーム組成(オーナー: 内藤本部長/PMO: 生技セ戦略統括T)・調査設計</a:t>
            </a:r>
            <a:endParaRPr lang="en-US" sz="650" dirty="0"/>
          </a:p>
        </p:txBody>
      </p:sp>
      <p:sp>
        <p:nvSpPr>
          <p:cNvPr id="54" name="Shape 51"/>
          <p:cNvSpPr/>
          <p:nvPr/>
        </p:nvSpPr>
        <p:spPr>
          <a:xfrm>
            <a:off x="2180844" y="5687568"/>
            <a:ext cx="1879092" cy="786384"/>
          </a:xfrm>
          <a:prstGeom prst="roundRect">
            <a:avLst>
              <a:gd name="adj" fmla="val 4651"/>
            </a:avLst>
          </a:prstGeom>
          <a:solidFill>
            <a:srgbClr val="F3F8F1"/>
          </a:solidFill>
          <a:ln w="9525">
            <a:solidFill>
              <a:srgbClr val="C9DCC4"/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2253996" y="5715000"/>
            <a:ext cx="17327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3D2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26/10</a:t>
            </a:r>
            <a:endParaRPr lang="en-US" sz="850" dirty="0"/>
          </a:p>
        </p:txBody>
      </p:sp>
      <p:sp>
        <p:nvSpPr>
          <p:cNvPr id="56" name="Text 53"/>
          <p:cNvSpPr/>
          <p:nvPr/>
        </p:nvSpPr>
        <p:spPr>
          <a:xfrm>
            <a:off x="2253996" y="5888736"/>
            <a:ext cx="1732788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65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台帳第1版(植毛115名分)+役員中間報告: 踏み込みスコープ論点を正式上程</a:t>
            </a:r>
            <a:endParaRPr lang="en-US" sz="650" dirty="0"/>
          </a:p>
        </p:txBody>
      </p:sp>
      <p:sp>
        <p:nvSpPr>
          <p:cNvPr id="57" name="Shape 54"/>
          <p:cNvSpPr/>
          <p:nvPr/>
        </p:nvSpPr>
        <p:spPr>
          <a:xfrm>
            <a:off x="4133088" y="5687568"/>
            <a:ext cx="1879092" cy="786384"/>
          </a:xfrm>
          <a:prstGeom prst="roundRect">
            <a:avLst>
              <a:gd name="adj" fmla="val 4651"/>
            </a:avLst>
          </a:prstGeom>
          <a:solidFill>
            <a:srgbClr val="F3F8F1"/>
          </a:solidFill>
          <a:ln w="9525">
            <a:solidFill>
              <a:srgbClr val="C9DCC4"/>
            </a:solidFill>
            <a:prstDash val="solid"/>
          </a:ln>
        </p:spPr>
      </p:sp>
      <p:sp>
        <p:nvSpPr>
          <p:cNvPr id="58" name="Text 55"/>
          <p:cNvSpPr/>
          <p:nvPr/>
        </p:nvSpPr>
        <p:spPr>
          <a:xfrm>
            <a:off x="4206240" y="5715000"/>
            <a:ext cx="17327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3D2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26/12</a:t>
            </a:r>
            <a:endParaRPr lang="en-US" sz="850" dirty="0"/>
          </a:p>
        </p:txBody>
      </p:sp>
      <p:sp>
        <p:nvSpPr>
          <p:cNvPr id="59" name="Text 56"/>
          <p:cNvSpPr/>
          <p:nvPr/>
        </p:nvSpPr>
        <p:spPr>
          <a:xfrm>
            <a:off x="4206240" y="5888736"/>
            <a:ext cx="1732788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65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改定方針合意・ボトルネック特定完了。AI要件定義を「改定後基準前提」で開始(ゲート)</a:t>
            </a:r>
            <a:endParaRPr lang="en-US" sz="650" dirty="0"/>
          </a:p>
        </p:txBody>
      </p:sp>
      <p:sp>
        <p:nvSpPr>
          <p:cNvPr id="60" name="Shape 57"/>
          <p:cNvSpPr/>
          <p:nvPr/>
        </p:nvSpPr>
        <p:spPr>
          <a:xfrm>
            <a:off x="6085332" y="5687568"/>
            <a:ext cx="1879092" cy="786384"/>
          </a:xfrm>
          <a:prstGeom prst="roundRect">
            <a:avLst>
              <a:gd name="adj" fmla="val 4651"/>
            </a:avLst>
          </a:prstGeom>
          <a:solidFill>
            <a:srgbClr val="F3F8F1"/>
          </a:solidFill>
          <a:ln w="9525">
            <a:solidFill>
              <a:srgbClr val="C9DCC4"/>
            </a:solidFill>
            <a:prstDash val="solid"/>
          </a:ln>
        </p:spPr>
      </p:sp>
      <p:sp>
        <p:nvSpPr>
          <p:cNvPr id="61" name="Text 58"/>
          <p:cNvSpPr/>
          <p:nvPr/>
        </p:nvSpPr>
        <p:spPr>
          <a:xfrm>
            <a:off x="6158484" y="5715000"/>
            <a:ext cx="17327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3D2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27/6</a:t>
            </a:r>
            <a:endParaRPr lang="en-US" sz="850" dirty="0"/>
          </a:p>
        </p:txBody>
      </p:sp>
      <p:sp>
        <p:nvSpPr>
          <p:cNvPr id="62" name="Text 59"/>
          <p:cNvSpPr/>
          <p:nvPr/>
        </p:nvSpPr>
        <p:spPr>
          <a:xfrm>
            <a:off x="6158484" y="5888736"/>
            <a:ext cx="1732788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65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規定改定第1弾施行+プロセス改善 → ▲10名規模を投資ゼロで先行実現</a:t>
            </a:r>
            <a:endParaRPr lang="en-US" sz="650" dirty="0"/>
          </a:p>
        </p:txBody>
      </p:sp>
      <p:sp>
        <p:nvSpPr>
          <p:cNvPr id="63" name="Shape 60"/>
          <p:cNvSpPr/>
          <p:nvPr/>
        </p:nvSpPr>
        <p:spPr>
          <a:xfrm>
            <a:off x="8037576" y="5687568"/>
            <a:ext cx="1879092" cy="786384"/>
          </a:xfrm>
          <a:prstGeom prst="roundRect">
            <a:avLst>
              <a:gd name="adj" fmla="val 4651"/>
            </a:avLst>
          </a:prstGeom>
          <a:solidFill>
            <a:srgbClr val="F3F8F1"/>
          </a:solidFill>
          <a:ln w="9525">
            <a:solidFill>
              <a:srgbClr val="C9DCC4"/>
            </a:solidFill>
            <a:prstDash val="solid"/>
          </a:ln>
        </p:spPr>
      </p:sp>
      <p:sp>
        <p:nvSpPr>
          <p:cNvPr id="64" name="Text 61"/>
          <p:cNvSpPr/>
          <p:nvPr/>
        </p:nvSpPr>
        <p:spPr>
          <a:xfrm>
            <a:off x="8110728" y="5715000"/>
            <a:ext cx="17327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3D2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27〜29</a:t>
            </a:r>
            <a:endParaRPr lang="en-US" sz="850" dirty="0"/>
          </a:p>
        </p:txBody>
      </p:sp>
      <p:sp>
        <p:nvSpPr>
          <p:cNvPr id="65" name="Text 62"/>
          <p:cNvSpPr/>
          <p:nvPr/>
        </p:nvSpPr>
        <p:spPr>
          <a:xfrm>
            <a:off x="8110728" y="5888736"/>
            <a:ext cx="1732788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65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フィジカルAI・自動検査PoC→実装。踏み込み改定第2弾施行</a:t>
            </a:r>
            <a:endParaRPr lang="en-US" sz="650" dirty="0"/>
          </a:p>
        </p:txBody>
      </p:sp>
      <p:sp>
        <p:nvSpPr>
          <p:cNvPr id="66" name="Shape 63"/>
          <p:cNvSpPr/>
          <p:nvPr/>
        </p:nvSpPr>
        <p:spPr>
          <a:xfrm>
            <a:off x="9989820" y="5687568"/>
            <a:ext cx="1879092" cy="786384"/>
          </a:xfrm>
          <a:prstGeom prst="roundRect">
            <a:avLst>
              <a:gd name="adj" fmla="val 4651"/>
            </a:avLst>
          </a:prstGeom>
          <a:solidFill>
            <a:srgbClr val="2C5F2D"/>
          </a:solidFill>
          <a:ln w="9525">
            <a:solidFill>
              <a:srgbClr val="2C5F2D"/>
            </a:solidFill>
            <a:prstDash val="solid"/>
          </a:ln>
        </p:spPr>
      </p:sp>
      <p:sp>
        <p:nvSpPr>
          <p:cNvPr id="67" name="Text 64"/>
          <p:cNvSpPr/>
          <p:nvPr/>
        </p:nvSpPr>
        <p:spPr>
          <a:xfrm>
            <a:off x="10062972" y="5715000"/>
            <a:ext cx="17327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30年</a:t>
            </a:r>
            <a:endParaRPr lang="en-US" sz="850" dirty="0"/>
          </a:p>
        </p:txBody>
      </p:sp>
      <p:sp>
        <p:nvSpPr>
          <p:cNvPr id="68" name="Text 65"/>
          <p:cNvSpPr/>
          <p:nvPr/>
        </p:nvSpPr>
        <p:spPr>
          <a:xfrm>
            <a:off x="10062972" y="5888736"/>
            <a:ext cx="1732788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65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植毛57名・工場264名・KGI一人当たり生産金額+20%達成</a:t>
            </a:r>
            <a:endParaRPr lang="en-US" sz="650" dirty="0"/>
          </a:p>
        </p:txBody>
      </p:sp>
      <p:sp>
        <p:nvSpPr>
          <p:cNvPr id="69" name="Text 66"/>
          <p:cNvSpPr/>
          <p:nvPr/>
        </p:nvSpPr>
        <p:spPr>
          <a:xfrm>
            <a:off x="228600" y="6528816"/>
            <a:ext cx="11731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3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※ 効果人数・金額は仮説値(人件費5百万円/人・年で換算)。台帳完成(26/10)後に検証・確定。 出典: 社内資料(人事業務 経営リスク低減・業務効率化 役員会議資料 2025/5・生産技術戦略会議骨子案・フィジカルAI効果見積もり・7/23役員打合せメモ・6/10デジ戦打合せ)+公開情報(Vision2030 2nd STAGE)</a:t>
            </a:r>
            <a:endParaRPr lang="en-US" sz="63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2026-08-11T09:21:12Z</dcterms:created>
  <dcterms:modified xsi:type="dcterms:W3CDTF">2026-08-11T09:21:12Z</dcterms:modified>
</cp:coreProperties>
</file>