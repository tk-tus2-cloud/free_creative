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73152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生産性ボトルネック調査 推進方法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0" y="73152"/>
            <a:ext cx="5559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オーラルヘルスケア(植毛 / ハブラシ包装 / ハミガキ包装)｜2026年8月｜効果・金額は仮説値(Phase 1調査で検証)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28600" y="566928"/>
            <a:ext cx="2843784" cy="1353312"/>
          </a:xfrm>
          <a:prstGeom prst="roundRect">
            <a:avLst>
              <a:gd name="adj" fmla="val 3378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612648"/>
            <a:ext cx="2660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To-Be(2030年断面)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20040" y="859536"/>
            <a:ext cx="2660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KGI: 一人当たり生産金額 +20%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明石工場 317→264名(▲53名)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植毛ライン 115→57名(半減)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2nd STAGE: EBITDAマージン13%超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品質保証は自動検査+統計的管理へ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168396" y="566928"/>
            <a:ext cx="2843784" cy="1353312"/>
          </a:xfrm>
          <a:prstGeom prst="roundRect">
            <a:avLst>
              <a:gd name="adj" fmla="val 33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9836" y="612648"/>
            <a:ext cx="2660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As-Is(現状)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59836" y="859536"/>
            <a:ext cx="2660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要員数の妥当性を検証するデータ無し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検査・長毛処理は人の目視前提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B停止は人が吸収(改善ループ無し)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ライン単位の部分最適/カメラ転用不可</a:t>
            </a:r>
            <a:endParaRPr lang="en-US" sz="750" dirty="0"/>
          </a:p>
          <a:p>
            <a:pPr algn="l" marL="101600" indent="-1016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フィジカルAI計画は植毛100名止まり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108192" y="566928"/>
            <a:ext cx="2843784" cy="1353312"/>
          </a:xfrm>
          <a:prstGeom prst="roundRect">
            <a:avLst>
              <a:gd name="adj" fmla="val 3378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99632" y="612648"/>
            <a:ext cx="2660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9632" y="84124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 ▲43名分の打ち手不在
</a:t>
            </a:r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(役員期待57名 vs 計画100名)
</a:t>
            </a:r>
            <a:pPr algn="l"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工場▲53名の実行パス未確定 / 品質基準・規定の再設計 未着手 / A停止延長リスクのOEE正味評価 未実施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47988" y="566928"/>
            <a:ext cx="2843784" cy="1353312"/>
          </a:xfrm>
          <a:prstGeom prst="roundRect">
            <a:avLst>
              <a:gd name="adj" fmla="val 3378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9428" y="612648"/>
            <a:ext cx="2660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原因(構造・6つ)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39428" y="841248"/>
            <a:ext cx="2660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7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品質基準が「人の目」前提で設計</a:t>
            </a:r>
            <a:endParaRPr lang="en-US" sz="73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7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B停止を人が吸収=固定費化</a:t>
            </a:r>
            <a:endParaRPr lang="en-US" sz="73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7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要員数が所与(検証の仕組み無し)</a:t>
            </a:r>
            <a:endParaRPr lang="en-US" sz="73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7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ライン単位の部分最適</a:t>
            </a:r>
            <a:endParaRPr lang="en-US" sz="73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7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規格・規定の積層(見直し未実施)</a:t>
            </a:r>
            <a:endParaRPr lang="en-US" sz="73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7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⑥ 多品種・段替え負荷</a:t>
            </a:r>
            <a:endParaRPr lang="en-US" sz="730" dirty="0"/>
          </a:p>
        </p:txBody>
      </p:sp>
      <p:sp>
        <p:nvSpPr>
          <p:cNvPr id="16" name="Text 14"/>
          <p:cNvSpPr/>
          <p:nvPr/>
        </p:nvSpPr>
        <p:spPr>
          <a:xfrm>
            <a:off x="228600" y="20116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解決策(打ち手ポートフォリオ) — フィジカルAIに限定しない 4カテゴリー × 9打ち手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249424"/>
          <a:ext cx="85039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34440"/>
                <a:gridCol w="1965960"/>
                <a:gridCol w="1737360"/>
              </a:tblGrid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打ち手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効果仮説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誰が(体制)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いつまでに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8745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A. 自動化・自律化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A1 フィジカルAI(包装の構造転換+植毛の資材供給・箱詰)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▲53名(工場全体)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生技セ統括/プロ包技室・工場/SCM戦略部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27年PoC→29年→35年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A2 ハブラシ自動検査装置(AI画像検査で全数目視を代替)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▲15〜20名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工場+生技セ+品質保証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26/12試算→27年PoC→28年実装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A3 AMRによる工場全体の搬送・供給統合(ライン毎配置を廃止)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▲8〜10名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生技セ+SCM戦略部+工場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26年下期構想→27年PoC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B. 品質基準・規定のゼロベース見直し(低投資のクイックウィン)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DE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B1 検査規格の科学的再検証(統計的抜取・Cpk管理へ/過剰品質排除)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▲5〜8名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品質保証主導+R&amp;D+工場QA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26/10論点→27/3改定第1弾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B2 長毛処理の見直し(上流の発生源対策+規格公差の再検証)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▲5〜8名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R&amp;D+プロ包技室+品質保証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26/12方向性→27年度検証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B3 品質記録・点検規定の適正化(電子化・頻度見直し)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間接工数▲10〜15%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工場QA+デジ戦(工場DX)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26年度棚卸→27年上期実装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C. 工程・オペレーション改善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C1 B停止原因解析→改善FB(監視・復旧の張り付き解消)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▲8〜10名+OEE向上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工場(中林氏)+デジ戦+生技セ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26/9ベースライン→27/3改善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C2 段替えSMED・多能工化・シフト再設計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▲5名相当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工場製造+プロ包技室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26/11分析→27年度実装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C3 A停止(前準備・後片付け)の再設計=省人化効果の食い潰し防止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OEE防衛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プロ包技室+工場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27年PoCと同時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D. 構造・全体最適</a:t>
                      </a:r>
                      <a:endParaRPr lang="en-US" sz="7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D1 SKU・設計標準化(DFM)/D2 人員動態・稼働データ基盤の恒久化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段替え減・PDCA基盤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R&amp;D・事業部・生技セ/デジ戦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27年度〜(中期テーマ)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887968" y="2011680"/>
            <a:ext cx="3072384" cy="932688"/>
          </a:xfrm>
          <a:prstGeom prst="roundRect">
            <a:avLst>
              <a:gd name="adj" fmla="val 4902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979408" y="2057400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調査手法(三層)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979408" y="2267712"/>
            <a:ext cx="2889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稼働・停止データ: デジ戦と共同棚卸し
</a:t>
            </a:r>
            <a:pPr indent="0" marL="0">
              <a:lnSpc>
                <a:spcPct val="102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人員動態: ワークサンプリング+調査用簡易カメラ(既設カメラは転用不可)
</a:t>
            </a:r>
            <a:pPr indent="0" marL="0">
              <a:lnSpc>
                <a:spcPct val="102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ヒアリング+規定棚卸し(制定経緯まで遡る)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8887968" y="3035808"/>
            <a:ext cx="3072384" cy="969264"/>
          </a:xfrm>
          <a:prstGeom prst="roundRect">
            <a:avLst>
              <a:gd name="adj" fmla="val 4717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79408" y="3081528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植毛▲43名ギャップの充当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79408" y="3291840"/>
            <a:ext cx="2889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検査自動化+規格 20〜25名 / B停止削減 8〜10名 / 長毛処理 5〜8名 / 搬送全体最適 8〜10名
</a:t>
            </a:r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⇒ 計41〜53名でギャップをカバー</a:t>
            </a:r>
            <a:endParaRPr lang="en-US" sz="720" dirty="0"/>
          </a:p>
        </p:txBody>
      </p:sp>
      <p:sp>
        <p:nvSpPr>
          <p:cNvPr id="24" name="Shape 21"/>
          <p:cNvSpPr/>
          <p:nvPr/>
        </p:nvSpPr>
        <p:spPr>
          <a:xfrm>
            <a:off x="8887968" y="4096512"/>
            <a:ext cx="3072384" cy="1005840"/>
          </a:xfrm>
          <a:prstGeom prst="roundRect">
            <a:avLst>
              <a:gd name="adj" fmla="val 4545"/>
            </a:avLst>
          </a:prstGeom>
          <a:solidFill>
            <a:srgbClr val="FBEDEA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79408" y="4142232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投資対効果(いくら)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979408" y="4352544"/>
            <a:ext cx="28895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リターン 年3.0〜3.5億円
</a:t>
            </a:r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(省人化53名=2.7億+規定見直し0.3〜0.6億)
</a:t>
            </a:r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 約2.5〜3億円 → 実装後1年強で回収・KGI+20%に直結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228600" y="50109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推進スケジュール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28600" y="5230368"/>
            <a:ext cx="1879092" cy="969264"/>
          </a:xfrm>
          <a:prstGeom prst="roundRect">
            <a:avLst>
              <a:gd name="adj" fmla="val 3774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5266944"/>
            <a:ext cx="1732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8月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301752" y="5468112"/>
            <a:ext cx="17327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WG組成(中林氏・菊池氏)/デジ戦定例で合意・データ棚卸し着手</a:t>
            </a:r>
            <a:endParaRPr lang="en-US" sz="680" dirty="0"/>
          </a:p>
        </p:txBody>
      </p:sp>
      <p:sp>
        <p:nvSpPr>
          <p:cNvPr id="31" name="Shape 28"/>
          <p:cNvSpPr/>
          <p:nvPr/>
        </p:nvSpPr>
        <p:spPr>
          <a:xfrm>
            <a:off x="2180844" y="5230368"/>
            <a:ext cx="1879092" cy="969264"/>
          </a:xfrm>
          <a:prstGeom prst="roundRect">
            <a:avLst>
              <a:gd name="adj" fmla="val 3774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253996" y="5266944"/>
            <a:ext cx="1732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9月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2253996" y="5468112"/>
            <a:ext cx="17327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稼働・B停止ベースライン確定/ワークサンプリング開始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4133088" y="5230368"/>
            <a:ext cx="1879092" cy="969264"/>
          </a:xfrm>
          <a:prstGeom prst="roundRect">
            <a:avLst>
              <a:gd name="adj" fmla="val 3774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06240" y="5266944"/>
            <a:ext cx="1732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10月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4206240" y="5468112"/>
            <a:ext cx="17327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植毛100名の業務分解完了/役員中間報告(ボトルネック仮説)</a:t>
            </a:r>
            <a:endParaRPr lang="en-US" sz="680" dirty="0"/>
          </a:p>
        </p:txBody>
      </p:sp>
      <p:sp>
        <p:nvSpPr>
          <p:cNvPr id="37" name="Shape 34"/>
          <p:cNvSpPr/>
          <p:nvPr/>
        </p:nvSpPr>
        <p:spPr>
          <a:xfrm>
            <a:off x="6085332" y="5230368"/>
            <a:ext cx="1879092" cy="969264"/>
          </a:xfrm>
          <a:prstGeom prst="roundRect">
            <a:avLst>
              <a:gd name="adj" fmla="val 3774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158484" y="5266944"/>
            <a:ext cx="1732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11月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158484" y="5468112"/>
            <a:ext cx="17327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効果試算(OEE正味影響)/規定改定案ドラフト</a:t>
            </a:r>
            <a:endParaRPr lang="en-US" sz="680" dirty="0"/>
          </a:p>
        </p:txBody>
      </p:sp>
      <p:sp>
        <p:nvSpPr>
          <p:cNvPr id="40" name="Shape 37"/>
          <p:cNvSpPr/>
          <p:nvPr/>
        </p:nvSpPr>
        <p:spPr>
          <a:xfrm>
            <a:off x="8037576" y="5230368"/>
            <a:ext cx="1879092" cy="969264"/>
          </a:xfrm>
          <a:prstGeom prst="roundRect">
            <a:avLst>
              <a:gd name="adj" fmla="val 3774"/>
            </a:avLst>
          </a:prstGeom>
          <a:solidFill>
            <a:srgbClr val="F3F8F1"/>
          </a:solidFill>
          <a:ln w="9525">
            <a:solidFill>
              <a:srgbClr val="C9DC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110728" y="5266944"/>
            <a:ext cx="1732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12月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110728" y="5468112"/>
            <a:ext cx="17327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ボトルネック特定・優先順位確定→自動化・自律化テーマへ合流</a:t>
            </a:r>
            <a:endParaRPr lang="en-US" sz="680" dirty="0"/>
          </a:p>
        </p:txBody>
      </p:sp>
      <p:sp>
        <p:nvSpPr>
          <p:cNvPr id="43" name="Shape 40"/>
          <p:cNvSpPr/>
          <p:nvPr/>
        </p:nvSpPr>
        <p:spPr>
          <a:xfrm>
            <a:off x="9989820" y="5230368"/>
            <a:ext cx="1879092" cy="969264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 w="9525">
            <a:solidFill>
              <a:srgbClr val="2C5F2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062972" y="5266944"/>
            <a:ext cx="1732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27年〜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0062972" y="5468112"/>
            <a:ext cx="17327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PoC実行(フィジカルAI・自動検査)/規定改定第1弾(27/3)→30年KGI+20%</a:t>
            </a:r>
            <a:endParaRPr lang="en-US" sz="680" dirty="0"/>
          </a:p>
        </p:txBody>
      </p:sp>
      <p:sp>
        <p:nvSpPr>
          <p:cNvPr id="46" name="Text 43"/>
          <p:cNvSpPr/>
          <p:nvPr/>
        </p:nvSpPr>
        <p:spPr>
          <a:xfrm>
            <a:off x="228600" y="6327648"/>
            <a:ext cx="11731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効果人数・金額は仮説値(人件費5百万円/人・年で換算、フィジカルAIロードマップの▲1〜2名=5〜10百万円/年より逆算)。Phase 1調査で検証・確定。 出典: 社内資料(生産技術戦略会議骨子案・フィジカルAI効果見積もり・7/23役員打合せメモ・6/10デジ戦打合せ)+公開情報(Vision2030 2nd STAGE)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2026-08-11T08:34:55Z</dcterms:created>
  <dcterms:modified xsi:type="dcterms:W3CDTF">2026-08-11T08:34:55Z</dcterms:modified>
</cp:coreProperties>
</file>