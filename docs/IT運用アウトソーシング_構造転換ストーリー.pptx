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B2B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00953B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3474720" cy="3474720"/>
          </a:xfrm>
          <a:prstGeom prst="ellipse">
            <a:avLst/>
          </a:prstGeom>
          <a:solidFill>
            <a:srgbClr val="00953B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5C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Vision2030 2nd Stage ｜ 収益力強靭化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IT運用・保守のオペレーティングモデル転換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3F2E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背景・課題から目的・ゴール・目指す姿（3階層モデル）まで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5C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デジタル戦略部 ｜ 2026年8月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全体ストーリー ― 現状延長は不可能であり、運用の構造転換が必要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81912"/>
            <a:ext cx="512064" cy="512064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5" y="171504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99616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背景/課題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880360" y="1463040"/>
            <a:ext cx="8549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担い手は先細り（供給↓）× 運用業務は増大（需要↑）。ギャップを社員の過負荷で吸収し、コスト・品質を統制する仕組みも不在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F4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633472"/>
            <a:ext cx="512064" cy="512064"/>
          </a:xfrm>
          <a:prstGeom prst="ellipse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766609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51176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 What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880360" y="2514600"/>
            <a:ext cx="8549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現状延長では社員の健康・事業継続・Vision2030の実行力が毀損。内製強化は採用面から成立せず、構造転換以外に選択肢がない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F4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685032"/>
            <a:ext cx="512064" cy="512064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3818169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02736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2880360" y="3566160"/>
            <a:ext cx="8549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IT運用を「人に依存する固定費・リスク」から「仕組みで統制された変動費・経営基盤」へ転換し、社員の時間と健康を成長投資へ振り向ける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52628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F4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736592"/>
            <a:ext cx="512064" cy="512064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4869729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654296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目指す姿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2880360" y="4617720"/>
            <a:ext cx="8549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本体＝戦略 ／ SSC（シェアードサービス子会社）＝統制 ／ 外部ベンダ＝実行 の3階層オペレーティングモデル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57784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E9F5EE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5788152"/>
            <a:ext cx="512064" cy="512064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5921289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705856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2880360" y="5669280"/>
            <a:ext cx="8549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①持続可能な運用体制　②コスト構造改革　③品質の統制力　④社員の戦力シフト ― 4課題に1対1で対応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ISSUES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背景/課題 ― 4つの構造課題が「持続不可能な運用」を形づくっている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9824" cy="2084832"/>
          </a:xfrm>
          <a:prstGeom prst="roundRect">
            <a:avLst>
              <a:gd name="adj" fmla="val 3947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7276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供給　</a:t>
            </a:r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運用の担い手を維持できない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121408"/>
            <a:ext cx="49469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専門人材を採用しておらず、獲得競争激化で今後も非現実的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育成投資 約1,500万円/名 が早期離職で消失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シニア社員の暗黙知に依存した属人運用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90488" y="1371600"/>
            <a:ext cx="5449824" cy="2084832"/>
          </a:xfrm>
          <a:prstGeom prst="roundRect">
            <a:avLst>
              <a:gd name="adj" fmla="val 3947"/>
            </a:avLst>
          </a:prstGeom>
          <a:solidFill>
            <a:srgbClr val="F4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6391656" y="1572768"/>
            <a:ext cx="457200" cy="457200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6916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67728" y="157276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需要　</a:t>
            </a:r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運用業務は増え続ける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64808" y="2121408"/>
            <a:ext cx="49469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クラウドは5年で2.1倍、サイバー攻撃は10年で11倍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生成AI・データ基盤という新種の運用が発生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24時間365日対応が標準要求に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449824" cy="2084832"/>
          </a:xfrm>
          <a:prstGeom prst="roundRect">
            <a:avLst>
              <a:gd name="adj" fmla="val 3947"/>
            </a:avLst>
          </a:prstGeom>
          <a:solidFill>
            <a:srgbClr val="F4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858768"/>
            <a:ext cx="457200" cy="457200"/>
          </a:xfrm>
          <a:prstGeom prst="ellipse">
            <a:avLst/>
          </a:prstGeom>
          <a:solidFill>
            <a:srgbClr val="C0562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776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85876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歪み　</a:t>
            </a:r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ギャップを社員の過負荷で吸収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407408"/>
            <a:ext cx="49469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ベンダ品質が低く、指示・督促・手戻り対応などディレクション工数を社員が肩代わり（3FTE・年0.4億円）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隠れ工数 計12FTE ＝ 年1.4億円 が運用に消失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メンタルヘルス不調が発生（安全配慮義務のリスク）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企画業務に時間を割けず機会損失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90488" y="3657600"/>
            <a:ext cx="5449824" cy="2084832"/>
          </a:xfrm>
          <a:prstGeom prst="roundRect">
            <a:avLst>
              <a:gd name="adj" fmla="val 3947"/>
            </a:avLst>
          </a:prstGeom>
          <a:solidFill>
            <a:srgbClr val="F4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391656" y="3858768"/>
            <a:ext cx="457200" cy="457200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97764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67728" y="385876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基盤　</a:t>
            </a:r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コスト・品質を統制する仕組みがない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64808" y="4407408"/>
            <a:ext cx="49469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マルチベンダのブラックボックス化・責任分界不明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TCO・SLA/KPIが未整備で測定不能、障害復旧は個人依存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品質基準が契約になく、低品質でも是正・減額を求める根拠がない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6016752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006B2B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601675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供給↓ × 需要↑ のギャップを社員が吸収し続ける現状延長は不可能 ― 運用体制の構造転換が必要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MARKET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課題②の定量裏付け ― 運用需要は5年で約1.5倍（公開統計からの推計）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10128" cy="2084832"/>
          </a:xfrm>
          <a:prstGeom prst="roundRect">
            <a:avLst>
              <a:gd name="adj" fmla="val 3947"/>
            </a:avLst>
          </a:prstGeom>
          <a:solidFill>
            <a:srgbClr val="E9F5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17904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2.1倍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30428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国内クラウド市場（2024→29年）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670048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CAGR16.3%・管理対象の量が倍増ペース（IDC Japan）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41648" y="1371600"/>
            <a:ext cx="3310128" cy="2084832"/>
          </a:xfrm>
          <a:prstGeom prst="roundRect">
            <a:avLst>
              <a:gd name="adj" fmla="val 3947"/>
            </a:avLst>
          </a:prstGeom>
          <a:solidFill>
            <a:srgbClr val="E9F5EE"/>
          </a:solidFill>
          <a:ln/>
        </p:spPr>
      </p:sp>
      <p:sp>
        <p:nvSpPr>
          <p:cNvPr id="9" name="Text 7"/>
          <p:cNvSpPr/>
          <p:nvPr/>
        </p:nvSpPr>
        <p:spPr>
          <a:xfrm>
            <a:off x="4270248" y="1517904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11倍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270248" y="230428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サイバー攻撃関連通信（10年間）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70248" y="2670048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ランサム被害226件/年、消費財大手も出荷停止（NICT・警察庁）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310128" cy="2084832"/>
          </a:xfrm>
          <a:prstGeom prst="roundRect">
            <a:avLst>
              <a:gd name="adj" fmla="val 3947"/>
            </a:avLst>
          </a:prstGeom>
          <a:solidFill>
            <a:srgbClr val="E9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03904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3倍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77240" y="459028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生成AI利用率（1年間）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956048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9.1%→26.7%。従来なかった運用領域が発生（総務省白書）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41648" y="3657600"/>
            <a:ext cx="3310128" cy="2084832"/>
          </a:xfrm>
          <a:prstGeom prst="roundRect">
            <a:avLst>
              <a:gd name="adj" fmla="val 3947"/>
            </a:avLst>
          </a:prstGeom>
          <a:solidFill>
            <a:srgbClr val="E9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4270248" y="3803904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46個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270248" y="459028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日本企業の業務アプリ数（平均）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70248" y="4956048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伸び率は世界トップクラス。運用の「面」が拡大（Okta調査）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1371600"/>
            <a:ext cx="3913632" cy="4370832"/>
          </a:xfrm>
          <a:prstGeom prst="roundRect">
            <a:avLst>
              <a:gd name="adj" fmla="val 2103"/>
            </a:avLst>
          </a:prstGeom>
          <a:solidFill>
            <a:srgbClr val="006B2B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160020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当社への換算（需給ギャップ）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01000" y="2057400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E5C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運用需要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：市場統計から年率7〜10%増と保守的に推計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01000" y="269748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12FTE → 18FTE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001000" y="3273552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5C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 → 2030年（+6FTE・年0.7億円相当）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01000" y="3703320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E5C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一方、供給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は採用ゼロ＋退職で先細り（IT人材は2030年に全国で最大79万人不足・経産省）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01000" y="4709160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ギャップは毎年拡大し、埋めているのは社員の残業と健康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※「5年で約1.5倍」はクラウド市場成長率等からの当社推計。Phase 0でチケット数・問い合わせ件数の実測トレンドに置換予定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COST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現状コストの定量化 ― 見えているベンダ費の外側に大きなコストとリスク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75304" cy="2084832"/>
          </a:xfrm>
          <a:prstGeom prst="roundRect">
            <a:avLst>
              <a:gd name="adj" fmla="val 3947"/>
            </a:avLst>
          </a:prstGeom>
          <a:solidFill>
            <a:srgbClr val="E9F5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1790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1.4億円/年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隠れ人件費（12FTE）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社員の運用従事工数の人件費換算。ベンダ費の外側で消えているコスト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06824" y="1371600"/>
            <a:ext cx="3575304" cy="2084832"/>
          </a:xfrm>
          <a:prstGeom prst="roundRect">
            <a:avLst>
              <a:gd name="adj" fmla="val 3947"/>
            </a:avLst>
          </a:prstGeom>
          <a:solidFill>
            <a:srgbClr val="E9F5EE"/>
          </a:solidFill>
          <a:ln/>
        </p:spPr>
      </p:sp>
      <p:sp>
        <p:nvSpPr>
          <p:cNvPr id="9" name="Text 7"/>
          <p:cNvSpPr/>
          <p:nvPr/>
        </p:nvSpPr>
        <p:spPr>
          <a:xfrm>
            <a:off x="4535424" y="151790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11.4億円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35424" y="2176272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真のTCO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35424" y="2542032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ベンダ費10億円＋隠れ人件費。ベンダ費のみの管理では14%過小評価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65008" y="1371600"/>
            <a:ext cx="3575304" cy="2084832"/>
          </a:xfrm>
          <a:prstGeom prst="roundRect">
            <a:avLst>
              <a:gd name="adj" fmla="val 3947"/>
            </a:avLst>
          </a:prstGeom>
          <a:solidFill>
            <a:srgbClr val="E9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08" y="151790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1〜3億円/年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93608" y="2176272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統合発注の削減余地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93608" y="2542032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SIAM型統合による削減の業界相場はベンダ費の10〜30%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75304" cy="2084832"/>
          </a:xfrm>
          <a:prstGeom prst="roundRect">
            <a:avLst>
              <a:gd name="adj" fmla="val 3947"/>
            </a:avLst>
          </a:prstGeom>
          <a:solidFill>
            <a:srgbClr val="FBF1E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0390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1,500万円/名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4462272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人材投資の消失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828032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採用費＋立ち上がり2年の非生産人件費。早期離職でほぼ全額消失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06824" y="3657600"/>
            <a:ext cx="3575304" cy="2084832"/>
          </a:xfrm>
          <a:prstGeom prst="roundRect">
            <a:avLst>
              <a:gd name="adj" fmla="val 3947"/>
            </a:avLst>
          </a:prstGeom>
          <a:solidFill>
            <a:srgbClr val="FBF1E9"/>
          </a:solidFill>
          <a:ln/>
        </p:spPr>
      </p:sp>
      <p:sp>
        <p:nvSpPr>
          <p:cNvPr id="21" name="Text 19"/>
          <p:cNvSpPr/>
          <p:nvPr/>
        </p:nvSpPr>
        <p:spPr>
          <a:xfrm>
            <a:off x="4535424" y="380390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1,200万円/件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35424" y="4462272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休職1件のコスト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35424" y="4828032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給与保障＋代替要員＋復職支援 ≒ 年収の1.5〜2倍。労務リスクは別途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5008" y="3657600"/>
            <a:ext cx="3575304" cy="2084832"/>
          </a:xfrm>
          <a:prstGeom prst="roundRect">
            <a:avLst>
              <a:gd name="adj" fmla="val 3947"/>
            </a:avLst>
          </a:prstGeom>
          <a:solidFill>
            <a:srgbClr val="FBF1E9"/>
          </a:solidFill>
          <a:ln/>
        </p:spPr>
      </p:sp>
      <p:sp>
        <p:nvSpPr>
          <p:cNvPr id="25" name="Text 23"/>
          <p:cNvSpPr/>
          <p:nvPr/>
        </p:nvSpPr>
        <p:spPr>
          <a:xfrm>
            <a:off x="8293608" y="380390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11億円/日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93608" y="4462272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基幹停止エクスポージャ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93608" y="4828032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受発注・物流停止1日の出荷リスク。属人運用では復旧が個人に依存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仮置きパラメータ（デジ戦部30名・平均年収800万円・運用従事率40%・ベンダ費10億円/年・連結売上約4,000億円）による規模感の試算。Phase 0で実数に差替え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PURPOSE &amp; 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目的とゴール ― 4つの課題に1対1で対応する成果目標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006B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98448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E5C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目的：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IT運用を「人に依存する固定費・リスク」から「仕組みで統制された変動費・経営基盤」へ構造転換し、社員の時間と健康を成長投資へ振り向ける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49824" cy="1938528"/>
          </a:xfrm>
          <a:prstGeom prst="roundRect">
            <a:avLst>
              <a:gd name="adj" fmla="val 4245"/>
            </a:avLst>
          </a:prstGeom>
          <a:solidFill>
            <a:srgbClr val="F4F6F5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514600"/>
            <a:ext cx="475488" cy="475488"/>
          </a:xfrm>
          <a:prstGeom prst="ellipse">
            <a:avLst/>
          </a:prstGeom>
          <a:solidFill>
            <a:srgbClr val="006B2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2514600"/>
            <a:ext cx="4489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持続可能な運用体制の確立　</a:t>
            </a:r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←課題①②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081528"/>
            <a:ext cx="49469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特定個人依存の業務ゼロ（引き継ぎ試験パス率100%）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24/365・新領域対応。採用・育成依存から脱却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運用人材の受け皿・キャリアはSSCに構築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0488" y="2331720"/>
            <a:ext cx="5449824" cy="1938528"/>
          </a:xfrm>
          <a:prstGeom prst="roundRect">
            <a:avLst>
              <a:gd name="adj" fmla="val 4245"/>
            </a:avLst>
          </a:prstGeom>
          <a:solidFill>
            <a:srgbClr val="F4F6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391656" y="2514600"/>
            <a:ext cx="475488" cy="475488"/>
          </a:xfrm>
          <a:prstGeom prst="ellipse">
            <a:avLst/>
          </a:prstGeom>
          <a:solidFill>
            <a:srgbClr val="0E7C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91656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2514600"/>
            <a:ext cx="4489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運用コストの構造改革　</a:t>
            </a:r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←課題④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4808" y="3081528"/>
            <a:ext cx="49469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TCO可視化100%（Phase 0完了時）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固定費の変動費化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統合発注で3年▲10〜20%（▲3〜6億円）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453128"/>
            <a:ext cx="5449824" cy="1938528"/>
          </a:xfrm>
          <a:prstGeom prst="roundRect">
            <a:avLst>
              <a:gd name="adj" fmla="val 4245"/>
            </a:avLst>
          </a:prstGeom>
          <a:solidFill>
            <a:srgbClr val="F4F6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636008"/>
            <a:ext cx="475488" cy="47548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636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4636008"/>
            <a:ext cx="4489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運用品質の統制力獲得　</a:t>
            </a:r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←課題④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202936"/>
            <a:ext cx="49469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全業務にSLA/KPIを設定し継続測定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インシデント件数・復旧時間（MTTR）を毎年改善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監査・セキュリティ証跡を仕組みで担保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0488" y="4453128"/>
            <a:ext cx="5449824" cy="1938528"/>
          </a:xfrm>
          <a:prstGeom prst="roundRect">
            <a:avLst>
              <a:gd name="adj" fmla="val 4245"/>
            </a:avLst>
          </a:prstGeom>
          <a:solidFill>
            <a:srgbClr val="F4F6F5"/>
          </a:solidFill>
          <a:ln/>
        </p:spPr>
      </p:sp>
      <p:sp>
        <p:nvSpPr>
          <p:cNvPr id="22" name="Shape 20"/>
          <p:cNvSpPr/>
          <p:nvPr/>
        </p:nvSpPr>
        <p:spPr>
          <a:xfrm>
            <a:off x="6391656" y="4636008"/>
            <a:ext cx="475488" cy="475488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23" name="Text 21"/>
          <p:cNvSpPr/>
          <p:nvPr/>
        </p:nvSpPr>
        <p:spPr>
          <a:xfrm>
            <a:off x="6391656" y="4636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4636008"/>
            <a:ext cx="4489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社員の戦力シフト　</a:t>
            </a:r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←課題③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64808" y="5202936"/>
            <a:ext cx="49469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運用従事率 40%→15%以下（約7.5FTE・年0.9億円分を企画へ）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運用起因のメンタルヘルス不調 新規発生ゼロ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本体はSSCを目標管理する「賢い発注者」へ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TARGET 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目指す姿 ― 3階層モデルは4つのゴールを同時達成する唯一の構造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92240" cy="1170432"/>
          </a:xfrm>
          <a:prstGeom prst="roundRect">
            <a:avLst>
              <a:gd name="adj" fmla="val 7031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46504"/>
            <a:ext cx="512064" cy="512064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5" y="187964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27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本体（デジタル戦略部）＝ 戦略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8928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IT戦略・投資判断・需要管理・ベンダ選定の最終決定・SSCの目標管理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16752" y="1581912"/>
            <a:ext cx="384048" cy="237744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10" name="Text 7"/>
          <p:cNvSpPr/>
          <p:nvPr/>
        </p:nvSpPr>
        <p:spPr>
          <a:xfrm>
            <a:off x="6016752" y="15819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92240" y="1581912"/>
            <a:ext cx="384048" cy="237744"/>
          </a:xfrm>
          <a:prstGeom prst="roundRect">
            <a:avLst>
              <a:gd name="adj" fmla="val 50000"/>
            </a:avLst>
          </a:prstGeom>
          <a:solidFill>
            <a:srgbClr val="006B2B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5819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011680" y="2606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SLA/KPI契約で接続（グループ内でも契約で統制）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645920" y="2606040"/>
            <a:ext cx="0" cy="256032"/>
          </a:xfrm>
          <a:prstGeom prst="line">
            <a:avLst/>
          </a:prstGeom>
          <a:noFill/>
          <a:ln w="22225">
            <a:solidFill>
              <a:srgbClr val="00953B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548640" y="2898648"/>
            <a:ext cx="6492240" cy="1170432"/>
          </a:xfrm>
          <a:prstGeom prst="roundRect">
            <a:avLst>
              <a:gd name="adj" fmla="val 7031"/>
            </a:avLst>
          </a:prstGeom>
          <a:solidFill>
            <a:srgbClr val="E9F5EE"/>
          </a:solidFill>
          <a:ln w="19050">
            <a:solidFill>
              <a:srgbClr val="0095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3227832"/>
            <a:ext cx="512064" cy="512064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3360969"/>
            <a:ext cx="245791" cy="2457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17320" y="30083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SSC（シェアード子会社）＝ 統制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417320" y="337413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SIAM運営主体：マルチベンダ統合管理・SLA/KPI監視・コスト管理・品質検収・運用人材の受け皿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541264" y="3063240"/>
            <a:ext cx="384048" cy="237744"/>
          </a:xfrm>
          <a:prstGeom prst="roundRect">
            <a:avLst>
              <a:gd name="adj" fmla="val 50000"/>
            </a:avLst>
          </a:prstGeom>
          <a:solidFill>
            <a:srgbClr val="006B2B"/>
          </a:solidFill>
          <a:ln/>
        </p:spPr>
      </p:sp>
      <p:sp>
        <p:nvSpPr>
          <p:cNvPr id="21" name="Text 17"/>
          <p:cNvSpPr/>
          <p:nvPr/>
        </p:nvSpPr>
        <p:spPr>
          <a:xfrm>
            <a:off x="5541264" y="306324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016752" y="3063240"/>
            <a:ext cx="384048" cy="237744"/>
          </a:xfrm>
          <a:prstGeom prst="roundRect">
            <a:avLst>
              <a:gd name="adj" fmla="val 50000"/>
            </a:avLst>
          </a:prstGeom>
          <a:solidFill>
            <a:srgbClr val="0E7C61"/>
          </a:solidFill>
          <a:ln/>
        </p:spPr>
      </p:sp>
      <p:sp>
        <p:nvSpPr>
          <p:cNvPr id="23" name="Text 19"/>
          <p:cNvSpPr/>
          <p:nvPr/>
        </p:nvSpPr>
        <p:spPr>
          <a:xfrm>
            <a:off x="6016752" y="306324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G2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92240" y="3063240"/>
            <a:ext cx="384048" cy="237744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/>
        </p:spPr>
      </p:sp>
      <p:sp>
        <p:nvSpPr>
          <p:cNvPr id="25" name="Text 21"/>
          <p:cNvSpPr/>
          <p:nvPr/>
        </p:nvSpPr>
        <p:spPr>
          <a:xfrm>
            <a:off x="6492240" y="306324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G3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2011680" y="4087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SLA/KPI契約で接続（グループ内でも契約で統制）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645920" y="4087368"/>
            <a:ext cx="0" cy="256032"/>
          </a:xfrm>
          <a:prstGeom prst="line">
            <a:avLst/>
          </a:prstGeom>
          <a:noFill/>
          <a:ln w="22225">
            <a:solidFill>
              <a:srgbClr val="00953B"/>
            </a:solidFill>
            <a:prstDash val="dash"/>
          </a:ln>
        </p:spPr>
      </p:sp>
      <p:sp>
        <p:nvSpPr>
          <p:cNvPr id="28" name="Shape 24"/>
          <p:cNvSpPr/>
          <p:nvPr/>
        </p:nvSpPr>
        <p:spPr>
          <a:xfrm>
            <a:off x="548640" y="4379976"/>
            <a:ext cx="6492240" cy="1170432"/>
          </a:xfrm>
          <a:prstGeom prst="roundRect">
            <a:avLst>
              <a:gd name="adj" fmla="val 7031"/>
            </a:avLst>
          </a:prstGeom>
          <a:solidFill>
            <a:srgbClr val="F4F6F5"/>
          </a:solidFill>
          <a:ln/>
        </p:spPr>
      </p:sp>
      <p:sp>
        <p:nvSpPr>
          <p:cNvPr id="29" name="Shape 25"/>
          <p:cNvSpPr/>
          <p:nvPr/>
        </p:nvSpPr>
        <p:spPr>
          <a:xfrm>
            <a:off x="749808" y="4709160"/>
            <a:ext cx="512064" cy="512064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4842297"/>
            <a:ext cx="245791" cy="245791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417320" y="44897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外部ベンダ ＝ 実行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1417320" y="48554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定常運用・保守・監視・問い合わせ対応（24時間365日・従量契約）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016752" y="4544568"/>
            <a:ext cx="384048" cy="237744"/>
          </a:xfrm>
          <a:prstGeom prst="roundRect">
            <a:avLst>
              <a:gd name="adj" fmla="val 50000"/>
            </a:avLst>
          </a:prstGeom>
          <a:solidFill>
            <a:srgbClr val="006B2B"/>
          </a:solidFill>
          <a:ln/>
        </p:spPr>
      </p:sp>
      <p:sp>
        <p:nvSpPr>
          <p:cNvPr id="34" name="Text 29"/>
          <p:cNvSpPr/>
          <p:nvPr/>
        </p:nvSpPr>
        <p:spPr>
          <a:xfrm>
            <a:off x="6016752" y="45445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492240" y="4544568"/>
            <a:ext cx="384048" cy="237744"/>
          </a:xfrm>
          <a:prstGeom prst="roundRect">
            <a:avLst>
              <a:gd name="adj" fmla="val 50000"/>
            </a:avLst>
          </a:prstGeom>
          <a:solidFill>
            <a:srgbClr val="0E7C61"/>
          </a:solidFill>
          <a:ln/>
        </p:spPr>
      </p:sp>
      <p:sp>
        <p:nvSpPr>
          <p:cNvPr id="36" name="Text 31"/>
          <p:cNvSpPr/>
          <p:nvPr/>
        </p:nvSpPr>
        <p:spPr>
          <a:xfrm>
            <a:off x="6492240" y="45445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G2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7315200" y="1417320"/>
            <a:ext cx="432511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06B2B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516368" y="1508760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 持続可能な体制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7516368" y="1837944"/>
            <a:ext cx="3922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ベンダの人材プール＋SSCの採用力で供給問題を解消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7315200" y="2569464"/>
            <a:ext cx="432511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E7C61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516368" y="2660904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G2 コスト構造改革</a:t>
            </a:r>
            <a:endParaRPr lang="en-US" sz="1250" dirty="0"/>
          </a:p>
        </p:txBody>
      </p:sp>
      <p:sp>
        <p:nvSpPr>
          <p:cNvPr id="42" name="Text 37"/>
          <p:cNvSpPr/>
          <p:nvPr/>
        </p:nvSpPr>
        <p:spPr>
          <a:xfrm>
            <a:off x="7516368" y="2990088"/>
            <a:ext cx="3922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SSCがTCO可視化・統合発注、従量契約で変動費化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7315200" y="3721608"/>
            <a:ext cx="432511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7516368" y="3813048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6F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G3 品質の統制力</a:t>
            </a:r>
            <a:endParaRPr lang="en-US" sz="1250" dirty="0"/>
          </a:p>
        </p:txBody>
      </p:sp>
      <p:sp>
        <p:nvSpPr>
          <p:cNvPr id="45" name="Text 40"/>
          <p:cNvSpPr/>
          <p:nvPr/>
        </p:nvSpPr>
        <p:spPr>
          <a:xfrm>
            <a:off x="7516368" y="4142232"/>
            <a:ext cx="3922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階層間のSLA/KPI契約が測定と証跡を強制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7315200" y="4873752"/>
            <a:ext cx="432511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05621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7516368" y="4965192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G4 社員の戦力シフト</a:t>
            </a:r>
            <a:endParaRPr lang="en-US" sz="1250" dirty="0"/>
          </a:p>
        </p:txBody>
      </p:sp>
      <p:sp>
        <p:nvSpPr>
          <p:cNvPr id="48" name="Text 43"/>
          <p:cNvSpPr/>
          <p:nvPr/>
        </p:nvSpPr>
        <p:spPr>
          <a:xfrm>
            <a:off x="7516368" y="5294376"/>
            <a:ext cx="3922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統制の実務まで本体から切り離し企画へ専念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548640" y="5943600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006B2B"/>
          </a:solidFill>
          <a:ln/>
        </p:spPr>
      </p:sp>
      <p:sp>
        <p:nvSpPr>
          <p:cNvPr id="50" name="Text 45"/>
          <p:cNvSpPr/>
          <p:nvPr/>
        </p:nvSpPr>
        <p:spPr>
          <a:xfrm>
            <a:off x="822960" y="59436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統制を外部に出せばG2・G3が崩れ（ブラックボックス再発）、本体に残せばG4が崩れる ― 「グループ内だが本体の外」＝SSCだけが4ゴールを同時に満たす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 ― 可視化から始め、段階的に移管・最適化する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70048" cy="566928"/>
          </a:xfrm>
          <a:prstGeom prst="chevron">
            <a:avLst/>
          </a:prstGeom>
          <a:solidFill>
            <a:srgbClr val="006B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0　〜3ヶ月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70048" cy="3474720"/>
          </a:xfrm>
          <a:prstGeom prst="roundRect">
            <a:avLst>
              <a:gd name="adj" fmla="val 3082"/>
            </a:avLst>
          </a:prstGeom>
          <a:solidFill>
            <a:srgbClr val="F4F6F5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317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可視化・アセスメント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97180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業務棚卸し・TCO算定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属人化リスクの格付け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SSCの統制能力評価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1417320"/>
            <a:ext cx="2670048" cy="566928"/>
          </a:xfrm>
          <a:prstGeom prst="chevron">
            <a:avLst/>
          </a:prstGeom>
          <a:solidFill>
            <a:srgbClr val="00953B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141732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1　〜1年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2148840"/>
            <a:ext cx="2670048" cy="3474720"/>
          </a:xfrm>
          <a:prstGeom prst="roundRect">
            <a:avLst>
              <a:gd name="adj" fmla="val 3082"/>
            </a:avLst>
          </a:prstGeom>
          <a:solidFill>
            <a:srgbClr val="F4F6F5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3317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移管・標準化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97180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属人リスクの高い業務から文書化・移管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SSC統制体制の構築・人材確保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引き継ぎ試験による品質担保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417320"/>
            <a:ext cx="2670048" cy="566928"/>
          </a:xfrm>
          <a:prstGeom prst="chevron">
            <a:avLst/>
          </a:prstGeom>
          <a:solidFill>
            <a:srgbClr val="0095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141732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2　1〜2年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2148840"/>
            <a:ext cx="2670048" cy="3474720"/>
          </a:xfrm>
          <a:prstGeom prst="roundRect">
            <a:avLst>
              <a:gd name="adj" fmla="val 3082"/>
            </a:avLst>
          </a:prstGeom>
          <a:solidFill>
            <a:srgbClr val="F4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23317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最適化・自動化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297180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SSC主体の統合発注・契約再交渉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AI・自動化ツールの適用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SLA/KPIベースの契約へ切替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97696" y="1417320"/>
            <a:ext cx="2670048" cy="566928"/>
          </a:xfrm>
          <a:prstGeom prst="chevron">
            <a:avLst/>
          </a:prstGeom>
          <a:solidFill>
            <a:srgbClr val="00953B"/>
          </a:solidFill>
          <a:ln/>
        </p:spPr>
      </p:sp>
      <p:sp>
        <p:nvSpPr>
          <p:cNvPr id="20" name="Text 18"/>
          <p:cNvSpPr/>
          <p:nvPr/>
        </p:nvSpPr>
        <p:spPr>
          <a:xfrm>
            <a:off x="9272016" y="141732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3　2年〜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97696" y="2148840"/>
            <a:ext cx="2670048" cy="3474720"/>
          </a:xfrm>
          <a:prstGeom prst="roundRect">
            <a:avLst>
              <a:gd name="adj" fmla="val 3082"/>
            </a:avLst>
          </a:prstGeom>
          <a:solidFill>
            <a:srgbClr val="F4F6F5"/>
          </a:solidFill>
          <a:ln/>
        </p:spPr>
      </p:sp>
      <p:sp>
        <p:nvSpPr>
          <p:cNvPr id="22" name="Text 20"/>
          <p:cNvSpPr/>
          <p:nvPr/>
        </p:nvSpPr>
        <p:spPr>
          <a:xfrm>
            <a:off x="9198864" y="23317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継続改善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98864" y="297180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SLA実績によるベンダ統制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変動費コントロールの定常運転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グループ他社・海外への展開検討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5E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9436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最初の意思決定は Phase 0（可視化）の着手のみ ― 外部化の範囲・是非は数字が出てから判断できる設計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CONDITIONS &amp;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成立条件 ― 先回りして統制するべき5つの論点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81912"/>
            <a:ext cx="512064" cy="512064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5" y="171504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6304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二重ブラックボックス化の回避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0" y="14630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本体→SSC→ベンダと階層が増える分、丸投げは不透明さを悪化させる。本体−SSC間にもSLA/KPI・レポーティングラインを契約的に設計する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F4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633472"/>
            <a:ext cx="512064" cy="512064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766609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1460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SSCの実力担保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0" y="251460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統制・SIAM運営能力をPhase 0でアセスメントし、不足は外部専門家の登用・本体からの出向で立ち上げる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F4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685032"/>
            <a:ext cx="512064" cy="512064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3818169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6616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責任分界の事前定義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0" y="356616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障害時・監査時に本体/SSC/ベンダの誰が説明責任を負うかを移管前に確定する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52628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F4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736592"/>
            <a:ext cx="512064" cy="512064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4869729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61772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戦略機能は移管しない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0" y="461772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IT戦略・投資判断・ベンダ選定の最終決定権は本体に残す。渡せば本体が「考える力」を失う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57784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F4F6F5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5788152"/>
            <a:ext cx="512064" cy="512064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5921289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66928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グループ内価格の検証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0" y="566928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SSCへの委託価格は市場価格との定期ベンチマークで検証し、「安く見えるだけ」を防ぐ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想定問答 ― 「今もやっている」への切り返し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基本フレーム：反論の事実は認めた上で、「個人の努力でやれている」と「組織の仕組みとして統制できている」は別物、に毎回収束させる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EDEFE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56232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「ベンダ管理は今もやっている」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24528" y="1783080"/>
            <a:ext cx="7415784" cy="932688"/>
          </a:xfrm>
          <a:prstGeom prst="roundRect">
            <a:avLst>
              <a:gd name="adj" fmla="val 7843"/>
            </a:avLst>
          </a:prstGeom>
          <a:solidFill>
            <a:srgbClr val="E9F5EE"/>
          </a:solidFill>
          <a:ln/>
        </p:spPr>
      </p:sp>
      <p:sp>
        <p:nvSpPr>
          <p:cNvPr id="8" name="Text 6"/>
          <p:cNvSpPr/>
          <p:nvPr/>
        </p:nvSpPr>
        <p:spPr>
          <a:xfrm>
            <a:off x="4443984" y="1856232"/>
            <a:ext cx="6995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個人の経験と関係性による管理であり、SLA/KPI・責任分界が契約で担保されていない以上、異動した瞬間に消失する。現にブラックボックス化が起きていることがその証拠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43784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EDEFEE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916936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「品質は保てている。問題は起きていない」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4528" y="2843784"/>
            <a:ext cx="7415784" cy="932688"/>
          </a:xfrm>
          <a:prstGeom prst="roundRect">
            <a:avLst>
              <a:gd name="adj" fmla="val 7843"/>
            </a:avLst>
          </a:prstGeom>
          <a:solidFill>
            <a:srgbClr val="E9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4443984" y="2916936"/>
            <a:ext cx="6995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測定していないものは証明できない。現在の品質は残業・手戻り・休日対応という見えない追加投入で成立しており、問題が起きていないのではなく人が吸収しているだけ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EDEFEE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977640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「外部化したらかえってコストが上がる」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24528" y="3904488"/>
            <a:ext cx="7415784" cy="932688"/>
          </a:xfrm>
          <a:prstGeom prst="roundRect">
            <a:avLst>
              <a:gd name="adj" fmla="val 7843"/>
            </a:avLst>
          </a:prstGeom>
          <a:solidFill>
            <a:srgbClr val="E9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4443984" y="3977640"/>
            <a:ext cx="6995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TCO（社員工数・手戻り含む）が見えていない以上、比較はまだ成立しない。Phase 0で可視化し数字で判断。上がる業務は外部化せず残せばよい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965192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EDEFEE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5038344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「ノウハウが失われる・流出する」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24528" y="4965192"/>
            <a:ext cx="7415784" cy="932688"/>
          </a:xfrm>
          <a:prstGeom prst="roundRect">
            <a:avLst>
              <a:gd name="adj" fmla="val 7843"/>
            </a:avLst>
          </a:prstGeom>
          <a:solidFill>
            <a:srgbClr val="E9F5EE"/>
          </a:solidFill>
          <a:ln/>
        </p:spPr>
      </p:sp>
      <p:sp>
        <p:nvSpPr>
          <p:cNvPr id="20" name="Text 18"/>
          <p:cNvSpPr/>
          <p:nvPr/>
        </p:nvSpPr>
        <p:spPr>
          <a:xfrm>
            <a:off x="4443984" y="5038344"/>
            <a:ext cx="6995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現状こそノウハウは個人の頭の中にあり退職で消える状態。文書化は個人の資産を会社の資産に変える行為。統制ノウハウはSSC（グループ内）に置き、戦略判断は本体に残す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1447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運営上の注意：説明会は「皆さんの努力を仕組みに変える取組み」と定義し個人批判を避ける ／ 最も強い反対者は移管プロジェクトの中核に登用する ／ 不調・過負荷は具体名を出さず構造の問題として語る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2026-08-10T07:22:15Z</dcterms:created>
  <dcterms:modified xsi:type="dcterms:W3CDTF">2026-08-10T07:22:15Z</dcterms:modified>
</cp:coreProperties>
</file>