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256032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なぜ今・なぜライオンか ― 構造変化の交点に立つ「習慣の会社」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960120" y="685800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5つの構造変化がすべて「毎日の習慣」の価値を高める方向に動いており、その習慣を社会実装する資産を持つのは当社だけである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66294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世の中の構造変化(取り組むべき根拠)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629400" cy="859536"/>
          </a:xfrm>
          <a:prstGeom prst="roundRect">
            <a:avLst>
              <a:gd name="adj" fmla="val 5319"/>
            </a:avLst>
          </a:prstGeom>
          <a:solidFill>
            <a:srgbClr val="F4F5F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618488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非財務の法定開示・保証義務化  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SSBJで時価総額3兆円〜27/3期・1兆円〜28/3期・5,000億円〜29/3期と段階適用(当社2030目安)。第三者保証必須化 ― 「データで証明できるESG」だけが評価される時代に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6629400" cy="859536"/>
          </a:xfrm>
          <a:prstGeom prst="roundRect">
            <a:avLst>
              <a:gd name="adj" fmla="val 5319"/>
            </a:avLst>
          </a:prstGeom>
          <a:solidFill>
            <a:srgbClr val="F4F5F8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2560320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資本市場のPBR改革  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東証の資本コスト経営要請下、プライム上場の約4割がPBR1倍割れ(概数)。エーザイ柳モデル等、非財務→PBRの因果を定量で語る企業に資金がシフト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6629400" cy="859536"/>
          </a:xfrm>
          <a:prstGeom prst="roundRect">
            <a:avLst>
              <a:gd name="adj" fmla="val 5319"/>
            </a:avLst>
          </a:prstGeom>
          <a:solidFill>
            <a:srgbClr val="F4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502152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予防医療への国家的シフト  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国民医療費約47兆円・うち歯科約3.3兆円(概数)。国民皆歯科健診の政策議論、歯周病×糖尿病・認知症等のエビデンス蓄積 ― 「予防の担い手」に制度の追い風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57200" y="4398264"/>
            <a:ext cx="6629400" cy="859536"/>
          </a:xfrm>
          <a:prstGeom prst="roundRect">
            <a:avLst>
              <a:gd name="adj" fmla="val 5319"/>
            </a:avLst>
          </a:prstGeom>
          <a:solidFill>
            <a:srgbClr val="F4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4443984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環境コストの内部化  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カーボンプライシング本格化(EU排出権は1万円/t超で推移・国内もGX-ETS始動)、水道・光熱費の上昇 ― 節水・低温・詰替が「家計の得」と直結し始めた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57200" y="5340096"/>
            <a:ext cx="6629400" cy="859536"/>
          </a:xfrm>
          <a:prstGeom prst="roundRect">
            <a:avLst>
              <a:gd name="adj" fmla="val 5319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5385816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アジア中間層×衛生習慣ギャップ  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アジアの中間層拡大に対し口腔ケア・衛生習慣の浸透は途上。習慣そのものを提案できるブランドにとって構造的な成長余地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315200" y="1115568"/>
            <a:ext cx="4416552" cy="365760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ライオンの優位性(模倣困難な4資産)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1572768"/>
            <a:ext cx="4416552" cy="1060704"/>
          </a:xfrm>
          <a:prstGeom prst="roundRect">
            <a:avLst>
              <a:gd name="adj" fmla="val 4310"/>
            </a:avLst>
          </a:prstGeom>
          <a:solidFill>
            <a:srgbClr val="FBECEE"/>
          </a:solidFill>
          <a:ln/>
        </p:spPr>
      </p:sp>
      <p:sp>
        <p:nvSpPr>
          <p:cNvPr id="19" name="Text 17"/>
          <p:cNvSpPr/>
          <p:nvPr/>
        </p:nvSpPr>
        <p:spPr>
          <a:xfrm>
            <a:off x="7434072" y="1618488"/>
            <a:ext cx="4178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習慣科学・行動変容の知見
</a:t>
            </a:r>
            <a:pPr indent="0" marL="0">
              <a:lnSpc>
                <a:spcPct val="110000"/>
              </a:lnSpc>
              <a:buNone/>
            </a:pPr>
            <a:r>
              <a:rPr lang="en-US" sz="81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パーパス「より良い習慣づくり」と一致する、予防歯科・手洗い・洗濯の「続けさせる」R&amp;Dとブランドの蓄積 ― 製品会社ではなく習慣の設計者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315200" y="2724912"/>
            <a:ext cx="4416552" cy="1060704"/>
          </a:xfrm>
          <a:prstGeom prst="roundRect">
            <a:avLst>
              <a:gd name="adj" fmla="val 4310"/>
            </a:avLst>
          </a:prstGeom>
          <a:solidFill>
            <a:srgbClr val="FB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072" y="2770632"/>
            <a:ext cx="4178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浸透チャネルの関係資本
</a:t>
            </a:r>
            <a:pPr indent="0" marL="0">
              <a:lnSpc>
                <a:spcPct val="110000"/>
              </a:lnSpc>
              <a:buNone/>
            </a:pPr>
            <a:r>
              <a:rPr lang="en-US" sz="81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学校歯みがき教育・手洗い啓発の長年の実績、歯科医師会・自治体・流通との信頼 ― 行動変容を全世代に「届ける」インフラは一朝一夕に築けない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315200" y="3877056"/>
            <a:ext cx="4416552" cy="1060704"/>
          </a:xfrm>
          <a:prstGeom prst="roundRect">
            <a:avLst>
              <a:gd name="adj" fmla="val 4310"/>
            </a:avLst>
          </a:prstGeom>
          <a:solidFill>
            <a:srgbClr val="FBECEE"/>
          </a:solidFill>
          <a:ln/>
        </p:spPr>
      </p:sp>
      <p:sp>
        <p:nvSpPr>
          <p:cNvPr id="23" name="Text 21"/>
          <p:cNvSpPr/>
          <p:nvPr/>
        </p:nvSpPr>
        <p:spPr>
          <a:xfrm>
            <a:off x="7434072" y="3922776"/>
            <a:ext cx="4178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使用時技術=環境×原価の一石二鳥
</a:t>
            </a:r>
            <a:pPr indent="0" marL="0">
              <a:lnSpc>
                <a:spcPct val="110000"/>
              </a:lnSpc>
              <a:buNone/>
            </a:pPr>
            <a:r>
              <a:rPr lang="en-US" sz="81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すすぎ1回・濃縮・詰替は、消費者の節水・CO2削減(Scope3 Cat11)と当社の材料・物流費低減が同義 ― 環境対応がコスト優位になる稀有な構造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315200" y="5029200"/>
            <a:ext cx="4416552" cy="1060704"/>
          </a:xfrm>
          <a:prstGeom prst="roundRect">
            <a:avLst>
              <a:gd name="adj" fmla="val 4310"/>
            </a:avLst>
          </a:prstGeom>
          <a:solidFill>
            <a:srgbClr val="FBECEE"/>
          </a:solidFill>
          <a:ln/>
        </p:spPr>
      </p:sp>
      <p:sp>
        <p:nvSpPr>
          <p:cNvPr id="25" name="Text 23"/>
          <p:cNvSpPr/>
          <p:nvPr/>
        </p:nvSpPr>
        <p:spPr>
          <a:xfrm>
            <a:off x="7434072" y="5074920"/>
            <a:ext cx="4178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アジアの事業基盤
</a:t>
            </a:r>
            <a:pPr indent="0" marL="0">
              <a:lnSpc>
                <a:spcPct val="110000"/>
              </a:lnSpc>
              <a:buNone/>
            </a:pPr>
            <a:r>
              <a:rPr lang="en-US" sz="81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浸透余地の大きい市場に既存の製造・販売網。国内で実証した「啓発×普及価格帯」モデルの輸出が可能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57200" y="6236208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戦略の選択: 花王(ESG総合力・ただしアクティビストがScope3実測/有報同期/報酬連動を追及)やユニリーバ(規模)と同じ土俵では戦わず、「習慣の科学で予防ヘルスケアと環境配慮を社会実装する会社」として一点突破する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256032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価値の計算式 ― ESGが時価総額を約3,700億円動かす(例示)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960120" y="685800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ベースライン概数(売上約4,000億円・営業利益率約7%・PBR約1.5倍)から、5つの価値エンジンでPBR2.0倍水準へ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52144"/>
            <a:ext cx="10835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企業価値増分 = Σ増分利益 × マルチプル + 利益 × Δ(1/資本コスト)</a:t>
            </a:r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営業利益: 280→500億円 = 280 +増収寄与150 +ミックス80 +コスト130 −成長投資60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 +1,000億円 = </a:t>
            </a:r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習慣収益化500(=0.5億人×1,000円) + ミックス200(=2,000億円×50%×10%+レジメン) + B2B2C 100(=1,000団体×1,000万円) + CFP防衛・獲得200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776472"/>
            <a:ext cx="1170432" cy="1572768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02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約4,300億円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現在の時価総額(概数)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PBR約1.5倍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148840" y="3300984"/>
            <a:ext cx="117043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30266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+約1,300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9280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習慣収益化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0.5億人×1,000円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=売上+500億円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1856232" y="3776472"/>
            <a:ext cx="292608" cy="0"/>
          </a:xfrm>
          <a:prstGeom prst="line">
            <a:avLst/>
          </a:prstGeom>
          <a:noFill/>
          <a:ln w="9525">
            <a:solidFill>
              <a:srgbClr val="C0C5D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11880" y="3044952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77063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+約700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ミックス・B2B2C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受容率10%×シフト50%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=売上+300億円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319272" y="3300984"/>
            <a:ext cx="292608" cy="0"/>
          </a:xfrm>
          <a:prstGeom prst="line">
            <a:avLst/>
          </a:prstGeom>
          <a:noFill/>
          <a:ln w="9525">
            <a:solidFill>
              <a:srgbClr val="C0C5D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74920" y="2862072"/>
            <a:ext cx="1170432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5877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+約500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1888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防衛価値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曝露2,000億円×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確率▲9pt=180億円/年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782312" y="3044952"/>
            <a:ext cx="292608" cy="0"/>
          </a:xfrm>
          <a:prstGeom prst="line">
            <a:avLst/>
          </a:prstGeom>
          <a:noFill/>
          <a:ln w="9525">
            <a:solidFill>
              <a:srgbClr val="C0C5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37960" y="2715768"/>
            <a:ext cx="1170432" cy="14630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+約400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コスト・効率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原単位×数量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=利益+130億円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245352" y="2862072"/>
            <a:ext cx="292608" cy="0"/>
          </a:xfrm>
          <a:prstGeom prst="line">
            <a:avLst/>
          </a:prstGeom>
          <a:noFill/>
          <a:ln w="9525">
            <a:solidFill>
              <a:srgbClr val="C0C5D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001000" y="2423160"/>
            <a:ext cx="1170432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2148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+約800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4496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資本コスト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▲0.4pt→理論価値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約+7%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708392" y="2715768"/>
            <a:ext cx="292608" cy="0"/>
          </a:xfrm>
          <a:prstGeom prst="line">
            <a:avLst/>
          </a:prstGeom>
          <a:noFill/>
          <a:ln w="9525">
            <a:solidFill>
              <a:srgbClr val="C0C5D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71432" y="2423160"/>
            <a:ext cx="292608" cy="0"/>
          </a:xfrm>
          <a:prstGeom prst="line">
            <a:avLst/>
          </a:prstGeom>
          <a:noFill/>
          <a:ln w="9525">
            <a:solidFill>
              <a:srgbClr val="C0C5D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464040" y="2423160"/>
            <a:ext cx="1170432" cy="2926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2148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約8,000億円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08008" y="540410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 理論時価総額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 2.0倍水準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15568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6327648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FBECEE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634593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各ブロックは「経営がコントロールできる変数(次頁のレバー)」の関数として定義 ― 数値はすべて例示であり、換算係数は2026-27年のパイロットで実測して確定する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256032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5つの価値エンジン ― 計算式・経営レバー・感応度(すべて例示)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960120" y="685800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全エンジンを「計算式 × 社内でコントロール可能なレバー」で定義 ― レバーを動かせば財務がいくら動くかが常に計算できる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4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794760"/>
                <a:gridCol w="868680"/>
                <a:gridCol w="3291840"/>
                <a:gridCol w="2176272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エンジン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計算式(財務への換算)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2030効果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経営がコントロールするレバー(担当)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感応度(レバー→財務)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習慣収益化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増分売上 = リーチ5億人 × 習慣化率40% × 収益化率50% × 増分率50% × ARPU 1,000円 = +500億円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+500億円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啓発・プログラム投資(リーチ)/プログラム設計(習慣化率)/ブランド接点設計(収益化率)/レジメン提案(ARPU) ― マーケ・R&amp;D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収益化率±10pt = ±100億円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ARPU±200円 = ±100億円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B1 プレミアム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ミックス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増分粗利 = 対象売上2,000億円 × 貢献型シフト率50% × 価格・粗利プレミアム10% = +100億円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貢献型SKUへの棚・販促の傾斜配分/エビデンス表示投資(受容率) ― 事業部・営業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受容率±5pt = ±50億円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B2 B2B2C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ヘルスケア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 = 契約団体数1,000 × 単価1,000万円 × 更新率90% = +100億円(+予防歯科レジメンARPU+25%で+100億円)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健保・企業向け営業体制/実証済み医療費削減額(単価・更新率の根拠) ― 新規事業・ESG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単価±30% = ±30億円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実証1件→提案勝率に直結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 防衛価値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期待損失削減 = CFP要請曝露売上2,000億円 × (喪失確率10%→1%) = 180億円/年 + 炭素税回避(排出量×15,000円/t)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防衛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180億円/年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CFP算定SKU比率(→100%)/回答SLA(5営業日)/Scope1/2削減率 ― SCM・デジ戦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算定比率+10pt = 曝露の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約200億円分を防衛圏内に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 コスト・効率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利益改善 = Σ(原単位改善 × 数量) : 濃縮・詰替40 + SKU規律70 + 工数10 + エネルギー10 = +130億円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+130億円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濃縮・詰替比率/SKU数の削減/SSBJ基盤の自動化率 ― 生産・SCM・経理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詰替率+1pt・SKU▲5%等を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原単位×数量で都度換算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 資本コスト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理論価値増 ≒ 利益500億円 ÷ (資本コスト8%−成長2%) の資本コストを▲0.4pt → 価値約+7% = +800億円規模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時価総額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+800億円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有報同時開示(2029)/保証取得範囲/報酬連動比率(15%)/柳モデル係数の毎年開示 ― 経理・IR・ESG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▲0.2pt = ±400億円規模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(柳モデルで実現度を検証)</a:t>
                      </a:r>
                      <a:endParaRPr lang="en-US" sz="7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43600"/>
            <a:ext cx="11274552" cy="777240"/>
          </a:xfrm>
          <a:prstGeom prst="roundRect">
            <a:avLst>
              <a:gd name="adj" fmla="val 5882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5989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コントロール可能性の担保: </a:t>
            </a:r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レバーは投資・施策・組織設計という「社内の意思決定」で動かせる変数のみで構成(市況・為替等の外生変数はレバーにしない)。レバー→財務の換算係数(習慣化率・収益化率・受容率・単価・確率)は2026-27年の5パイロットで実測し、月次の経営会議で「レバー実績×係数=財務見込み」を機械的に更新する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256032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経営が握るKGI/KPI体系と実現ガバナンス ― 「損益のESG」への転換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960120" y="685800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第1層(財務KGI)のみを報酬・経営会議の主指標とし、第2層レバーで統制、第3層先行指標で12〜24ヶ月先を予告する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703320"/>
                <a:gridCol w="3291840"/>
                <a:gridCol w="1143000"/>
                <a:gridCol w="1261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KGI/KPI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計算式・財務接続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第1層 財務KGI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(報酬連動・IRコミット)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ESG起点の増分売上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= エンジンA+B+C獲得分(ベースライン対比・カニバリ控除後)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+150億円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+1,000億円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= (280+150+80+130−60) ÷ 5,000億円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8%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10%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PBR(資本コストΔ検証付き)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= ROE12% × 資本コスト▲0.4pt(柳モデルで毎年係数推定)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1.6倍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2.0倍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第2層 レバーKGI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(執行側の月次管理)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増分収益化人口×ARPU/貢献型シフト率×受容率/B2B2C団体数×単価/CFP算定比率/原単位改善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各レバー×実測係数で財務見込みを自動換算(前頁)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係数実測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目標達成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第3層 先行KPI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(12〜24ヶ月先行)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リーチ人口(5億人)・習慣化率・NPS/実証済み医療費削減額/一次データ比率・保証範囲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ファネル転換と換算係数の先行指標 ― 財務を「予告」する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3億人・実証3件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5億人・実証10件</a:t>
                      </a:r>
                      <a:endParaRPr lang="en-US" sz="8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79392"/>
            <a:ext cx="11274552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損益への出現タイミングと検証ガバナンス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4718304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764024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2026-27
</a:t>
            </a:r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5パイロットで係数実測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(収益化率・ARPU・受容率・B2B2C・柳モデル)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52344" y="4718304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11" name="Text 8"/>
          <p:cNvSpPr/>
          <p:nvPr/>
        </p:nvSpPr>
        <p:spPr>
          <a:xfrm>
            <a:off x="2843784" y="4764024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
</a:t>
            </a:r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コスト効果が先行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工数・エネルギー +30億円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47488" y="4718304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13" name="Text 10"/>
          <p:cNvSpPr/>
          <p:nvPr/>
        </p:nvSpPr>
        <p:spPr>
          <a:xfrm>
            <a:off x="5138928" y="4764024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
</a:t>
            </a:r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ミックス・防衛が発現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プレミアム・CFP記録 +100億円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42632" y="4718304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15" name="Text 12"/>
          <p:cNvSpPr/>
          <p:nvPr/>
        </p:nvSpPr>
        <p:spPr>
          <a:xfrm>
            <a:off x="7434072" y="4764024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
</a:t>
            </a:r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B2B2C・アジア立上げ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増分+300億円ペース・有報同時開示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637776" y="4718304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17" name="Text 14"/>
          <p:cNvSpPr/>
          <p:nvPr/>
        </p:nvSpPr>
        <p:spPr>
          <a:xfrm>
            <a:off x="9729216" y="4764024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2030-31
</a:t>
            </a:r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フル寄与+1,000億円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利益率10%・PBR2.0を市場が追認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5779008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824728"/>
            <a:ext cx="10835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ご承認いただきたい3点: </a:t>
            </a:r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①KGIの交代(「人口」から第1層財務KGIへ ― 人口・インパクト額は先行指標に再配置) ②5つの検証パイロットの開始(2026-27年・換算係数の実測) ③制度への埋め込み(中計への公式組込み・インパクト調整IRRの投資ルール・役員報酬連動の設計着手・価値ブリッジのIR定型化)。仮定が外れた場合は係数を実測値に置き換えKGIを修正開示する ― 誠実な修正が資本市場の信頼を守る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2026-07-21T14:11:40Z</dcterms:created>
  <dcterms:modified xsi:type="dcterms:W3CDTF">2026-07-21T14:11:40Z</dcterms:modified>
</cp:coreProperties>
</file>