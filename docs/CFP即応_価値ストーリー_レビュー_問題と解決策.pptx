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9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価値創出ストーリー #1_CFP即応 レビュー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45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「②価値創出ストーリーの設計 #1_CFP即応」に対する問題点と解決策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10515600" cy="3017520"/>
          </a:xfrm>
          <a:prstGeom prst="roundRect">
            <a:avLst>
              <a:gd name="adj" fmla="val 2424"/>
            </a:avLst>
          </a:prstGeom>
          <a:solidFill>
            <a:srgbClr val="2233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6060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レビューの結論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017520"/>
            <a:ext cx="9966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■"/>
            </a:pPr>
            <a:r>
              <a:rPr lang="en-US" sz="1150" dirty="0">
                <a:solidFill>
                  <a:srgbClr val="E6EC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機能→効果→企業価値の3段ロジックと、収益機会／リスク回避／工数削減の3系統の分け方は明快で、議論の土台として使える。「適時更新」「信頼性」が実現性評価に入っている点も良い。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■"/>
            </a:pPr>
            <a:r>
              <a:rPr lang="en-US" sz="1150" dirty="0">
                <a:solidFill>
                  <a:srgbClr val="E6EC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方で、中核の価値仮説「回答速度が上がる→新規受注・リピートが増える」が未検証のまま最も太い矢印で描かれ、実現性評価は「KPIを測れるか」であって「機能を作れるか」を見ていない。現状の事実（件数・リードタイム・工数）が無いまま将来KPIを議論する構造になっている。</a:t>
            </a:r>
            <a:endParaRPr lang="en-US" sz="1150" dirty="0"/>
          </a:p>
          <a:p>
            <a:pPr marL="177800" indent="-177800">
              <a:lnSpc>
                <a:spcPct val="118000"/>
              </a:lnSpc>
              <a:buSzPct val="100000"/>
              <a:buChar char="■"/>
            </a:pPr>
            <a:r>
              <a:rPr lang="en-US" sz="1150" dirty="0">
                <a:solidFill>
                  <a:srgbClr val="E6EC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次回セッションで「XXX」を埋める前に、①現状事実の収集、②中核仮説の営業での検証、③実現性評価の対象修正、の3点をベンダーに求めることで、ストーリーは大きく堅くなる。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797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©LION Corporation / デジタル戦略部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サマリー｜このスライドの3つの構造的問題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1206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個別の指摘は6件あるが、根は3つに集約される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109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#1_CFP即応 価値創出ストーリー ｜レビュー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11365992" cy="1572768"/>
          </a:xfrm>
          <a:prstGeom prst="roundRect">
            <a:avLst>
              <a:gd name="adj" fmla="val 3488"/>
            </a:avLst>
          </a:prstGeom>
          <a:solidFill>
            <a:srgbClr val="F5F8FD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26187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F386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2344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中核の価値仮説が未検証（かつ二重計上）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645920"/>
            <a:ext cx="548640" cy="256032"/>
          </a:xfrm>
          <a:prstGeom prst="rect">
            <a:avLst/>
          </a:prstGeom>
          <a:solidFill>
            <a:srgbClr val="F8CBA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3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810512" y="1609344"/>
            <a:ext cx="5029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「回答速度↑→新規受注率・リピート率↑」が最も太い矢印だが根拠が無い。CFPは多くの業界で受注の決め手（order winner）でなく取引の前提条件（order qualifier）。前提条件なら速くても受注は増えず、遅いと失注するだけ。しかも新規受注増と失注回避は同じ案件の表と裏で、両方に金額を置くと二重計上になる。</a:t>
            </a:r>
            <a:endParaRPr lang="en-US" sz="88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1645920"/>
            <a:ext cx="548640" cy="256032"/>
          </a:xfrm>
          <a:prstGeom prst="rect">
            <a:avLst/>
          </a:prstGeom>
          <a:solidFill>
            <a:srgbClr val="E2EF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解決策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7616952" y="1609344"/>
            <a:ext cx="4023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営業ヒアリングで「CFPが受注要因になった案件数」を確認。根拠が無ければ収益機会の系統を落とし、リスク回避＋工数削減に絞る。ベースラインを1つ定義し、増分は一度だけ数える。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11480" y="2788920"/>
            <a:ext cx="11365992" cy="1572768"/>
          </a:xfrm>
          <a:prstGeom prst="roundRect">
            <a:avLst>
              <a:gd name="adj" fmla="val 3488"/>
            </a:avLst>
          </a:prstGeom>
          <a:solidFill>
            <a:srgbClr val="F5F8FD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95351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F38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926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実現性評価が「測れるか」で「作れるか」ではない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337560"/>
            <a:ext cx="548640" cy="256032"/>
          </a:xfrm>
          <a:prstGeom prst="rect">
            <a:avLst/>
          </a:prstGeom>
          <a:solidFill>
            <a:srgbClr val="F8CBA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3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810512" y="3300984"/>
            <a:ext cx="5029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列の評価項目は「各KPIを収集・管理可能か」。しかしUCの成否を決めるのは、左列「製品別CFPの迅速な算定」に必要なデータ（原材料構成・サプライヤー一次データ・製造工程の配分ルール・排出係数）が製品単位で揃うか。一番難しい部分が評価の対象から外れている。</a:t>
            </a:r>
            <a:endParaRPr lang="en-US" sz="88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3337560"/>
            <a:ext cx="548640" cy="256032"/>
          </a:xfrm>
          <a:prstGeom prst="rect">
            <a:avLst/>
          </a:prstGeom>
          <a:solidFill>
            <a:srgbClr val="E2EF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解決策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7616952" y="3300984"/>
            <a:ext cx="4023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実現性評価に「機能実現に必要なデータ・業務体制」の層を追加し、KPI測定可否とは別項目にする。△には「実現の前提条件・コスト・時期」を併記する。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11480" y="4480560"/>
            <a:ext cx="11365992" cy="1572768"/>
          </a:xfrm>
          <a:prstGeom prst="roundRect">
            <a:avLst>
              <a:gd name="adj" fmla="val 3488"/>
            </a:avLst>
          </a:prstGeom>
          <a:solidFill>
            <a:srgbClr val="F5F8FD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64515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F386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645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4617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現状の事実（ベースライン）と試算式が無い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5029200"/>
            <a:ext cx="548640" cy="256032"/>
          </a:xfrm>
          <a:prstGeom prst="rect">
            <a:avLst/>
          </a:prstGeom>
          <a:solidFill>
            <a:srgbClr val="F8CBA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3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810512" y="4992624"/>
            <a:ext cx="5029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請件数／年・回答リードタイム・期限超過件数・工数／件が無いと、収益機会・リスク回避額・工数削減額の桁が出ない。年10件なら仕組みを作る価値はなく、年数百件なら話が変わる。工数系の実績はAs-Is調査（C-17）でも取れておらず、同じ壁に当たる。</a:t>
            </a:r>
            <a:endParaRPr lang="en-US" sz="880" dirty="0"/>
          </a:p>
        </p:txBody>
      </p:sp>
      <p:sp>
        <p:nvSpPr>
          <p:cNvPr id="28" name="Text 26"/>
          <p:cNvSpPr txBox="1"/>
          <p:nvPr/>
        </p:nvSpPr>
        <p:spPr>
          <a:xfrm>
            <a:off x="6995160" y="5029200"/>
            <a:ext cx="548640" cy="256032"/>
          </a:xfrm>
          <a:prstGeom prst="rect">
            <a:avLst/>
          </a:prstGeom>
          <a:solidFill>
            <a:srgbClr val="E2EF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解決策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7616952" y="4992624"/>
            <a:ext cx="4023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次回セッション前にベンダーが現状事実を収集して「XXX」を埋める。各金額欄に試算式と前提を1行添える。セッションは収集でなく検証の場にする。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411480" y="6172200"/>
            <a:ext cx="11365992" cy="457200"/>
          </a:xfrm>
          <a:prstGeom prst="roundRect">
            <a:avLst>
              <a:gd name="adj" fmla="val 12000"/>
            </a:avLst>
          </a:prstGeom>
          <a:solidFill>
            <a:srgbClr val="EAF1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9436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共通点：「将来のKPI」から議論を始めているが、先に埋めるべきは「現状の事実」と「仮説の根拠」。順番を入れ替えるだけで3つとも解消に向かう。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750040" y="6537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問題と解決策の詳細（6件）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1206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スライド上の該当箇所 → なぜ問題か → 解決策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109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#1_CFP即応 価値創出ストーリー ｜レビュー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05840"/>
          <a:ext cx="11548872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331720"/>
                <a:gridCol w="1325880"/>
                <a:gridCol w="3566160"/>
                <a:gridCol w="3319272"/>
                <a:gridCol w="5943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No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問題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該当箇所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なぜ問題か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解決策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重要度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F386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中核仮説「回答速度↑→新規受注率・リピート率↑」が未検証</a:t>
                      </a:r>
                      <a:endParaRPr lang="en-US" sz="8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効果列→収益機会（青の太矢印）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根拠が示されていない。CFPは受注の決め手でなく取引の前提条件であることが多く、前提条件なら速く答えても受注は増えない。価値のほぼ全てがリスク回避側に属する可能性が高い。</a:t>
                      </a:r>
                      <a:endParaRPr lang="en-US" sz="7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営業ヒアリングで「CFPが受注要因になった案件数」を確認。根拠が無ければ収益機会の系統を落とし、リスク回避＋工数削減に絞る（その方が説得力が上がる）。</a:t>
                      </a:r>
                      <a:endParaRPr lang="en-US" sz="7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8A3B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F386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収益機会とリスク回避額の二重計上</a:t>
                      </a:r>
                      <a:endParaRPr lang="en-US" sz="8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収益機会／リスク回避額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「新規受注率の向上」と「失注・取引縮小の回避」は同じ案件の表と裏。両方に金額を置くと増分を二度数える。</a:t>
                      </a:r>
                      <a:endParaRPr lang="en-US" sz="7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ベースライン（現状の回答速度・失注実績）を1つ定義し、増分は一度だけ計上する。</a:t>
                      </a:r>
                      <a:endParaRPr lang="en-US" sz="7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8A3B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F386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実現性評価が「各KPIを収集・管理可能か」になっている</a:t>
                      </a:r>
                      <a:endParaRPr lang="en-US" sz="8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右列 データ条件・制約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Cの成否を決めるのは新規受注率が測れるかでなく、「製品別CFPの迅速な算定」に必要なデータ（原材料構成・サプライヤー一次データ・配分ルール・排出係数）が製品単位で揃うか。前回スライドの「必要な粒度で収集できるか」から後退している。</a:t>
                      </a:r>
                      <a:endParaRPr lang="en-US" sz="7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実現性評価に「機能実現に必要なデータ・業務」の層を追加し、KPI測定可否とは別項目にする。</a:t>
                      </a:r>
                      <a:endParaRPr lang="en-US" sz="7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8A3B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F386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現状把握（規模感）と金額の試算式が無い</a:t>
                      </a:r>
                      <a:endParaRPr lang="en-US" sz="8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各「XXX」欄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要請件数／年とその推移、回答リードタイム、期限超過件数、工数／件が無いと金額の桁が出ない。工数系の実績はAs-Is調査（C-17）でも取れておらず、ここでも同じ壁に当たる。</a:t>
                      </a:r>
                      <a:endParaRPr lang="en-US" sz="7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次回セッション前にベンダーが現状事実を収集して「XXX」を埋める。各金額欄に試算式と前提を1行添える（例：工数削減額＝件数×現状工数／件×削減率×単価）。</a:t>
                      </a:r>
                      <a:endParaRPr lang="en-US" sz="7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8A3B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F386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解決策が「即応（リアクティブ）」に固定されている</a:t>
                      </a:r>
                      <a:endParaRPr lang="en-US" sz="8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機能列（3機能）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主要SKUのCFPを事前算定して公開すれば要請自体が減り、「要求／期限／回答状況の一元管理」は不要になる可能性がある。ストーリー設計の段階で解決策を決め打ちするのは早い。</a:t>
                      </a:r>
                      <a:endParaRPr lang="en-US" sz="7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「即応」vs「事前算定・公開」の比較を1枚入れ、機能構成を決めてからKPIを設定する。</a:t>
                      </a:r>
                      <a:endParaRPr lang="en-US" sz="7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7A5B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F386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業務条件の本当のリスクとスコープ境界が抜けている</a:t>
                      </a:r>
                      <a:endParaRPr lang="en-US" sz="8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右列 業務条件・制約／機能「一元管理」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FP算定は研究（製品構成）・調達（サプライヤー）・ESG（算定方法）・営業（顧客窓口）にまたがり、部門横断の所有者不在が最大の実現性リスク。顧客指定フォーマット・第三者検証の要否も未考慮。一元管理機能はCRM寄りでESGデータ基盤とは別物。</a:t>
                      </a:r>
                      <a:endParaRPr lang="en-US" sz="7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業務条件に「部門横断の所有者」「顧客フォーマット・検証要否」を追加。一元管理機能はRFP範囲に含めるか早期に線引きする。</a:t>
                      </a:r>
                      <a:endParaRPr lang="en-US" sz="7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7A5B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11750040" y="6537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解決策｜修正後の価値ストーリー構成案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1206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「現状の事実」から始め、効果には試算式を、実現性評価は2層にする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109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#1_CFP即応 価値創出ストーリー ｜レビュー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240280" cy="384048"/>
          </a:xfrm>
          <a:prstGeom prst="rect">
            <a:avLst/>
          </a:prstGeom>
          <a:solidFill>
            <a:srgbClr val="F8CB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" y="10972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3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 現状の事実（新設）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2240280" cy="1828800"/>
          </a:xfrm>
          <a:prstGeom prst="roundRect">
            <a:avLst>
              <a:gd name="adj" fmla="val 2500"/>
            </a:avLst>
          </a:prstGeom>
          <a:solidFill>
            <a:srgbClr val="FFF7F2"/>
          </a:solidFill>
          <a:ln w="12700">
            <a:solidFill>
              <a:srgbClr val="C9D5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912" y="165506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ベースライン（先に埋める）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38912" y="1929384"/>
            <a:ext cx="209397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・CFP要請件数／年と3年推移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・回答リードタイム（平均・最長）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・期限超過・未回答件数／年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・算定工数／件、年間総工数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・顧客指定フォーマット・検証要否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365760" y="3566160"/>
            <a:ext cx="2240280" cy="1325880"/>
          </a:xfrm>
          <a:prstGeom prst="roundRect">
            <a:avLst>
              <a:gd name="adj" fmla="val 3448"/>
            </a:avLst>
          </a:prstGeom>
          <a:solidFill>
            <a:srgbClr val="FFF7F2"/>
          </a:solidFill>
          <a:ln w="12700">
            <a:solidFill>
              <a:srgbClr val="C9D5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" y="362102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仮説の検証（先に済ませる）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3895344"/>
            <a:ext cx="209397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・CFPが受注要因になった案件数（営業ヒアリング）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・CFP遅延で失注・縮小した案件数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365760" y="5029200"/>
            <a:ext cx="2240280" cy="1325880"/>
          </a:xfrm>
          <a:prstGeom prst="roundRect">
            <a:avLst>
              <a:gd name="adj" fmla="val 3448"/>
            </a:avLst>
          </a:prstGeom>
          <a:solidFill>
            <a:srgbClr val="FFF7F2"/>
          </a:solidFill>
          <a:ln w="12700">
            <a:solidFill>
              <a:srgbClr val="C9D5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8912" y="508406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解決策の比較（1枚）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38912" y="5358384"/>
            <a:ext cx="209397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・「即応」vs「主要SKUの事前算定・公開」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・比較結果で機能構成を決める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2679192" y="3291840"/>
            <a:ext cx="256032" cy="274320"/>
          </a:xfrm>
          <a:prstGeom prst="rightArrow">
            <a:avLst/>
          </a:prstGeom>
          <a:solidFill>
            <a:srgbClr val="9AA7BC"/>
          </a:solidFill>
          <a:ln/>
        </p:spPr>
      </p:sp>
      <p:sp>
        <p:nvSpPr>
          <p:cNvPr id="18" name="Shape 16"/>
          <p:cNvSpPr/>
          <p:nvPr/>
        </p:nvSpPr>
        <p:spPr>
          <a:xfrm>
            <a:off x="2999232" y="1097280"/>
            <a:ext cx="2103120" cy="384048"/>
          </a:xfrm>
          <a:prstGeom prst="rect">
            <a:avLst/>
          </a:prstGeom>
          <a:solidFill>
            <a:srgbClr val="EAF1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999232" y="10972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実現する機能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999232" y="1600200"/>
            <a:ext cx="2103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9D5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72384" y="1655064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製品別CFPの算定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072384" y="1929384"/>
            <a:ext cx="195681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即応型か事前算定型かは比較結果で決定。必要データ：原材料構成・サプライヤー一次データ・配分ルール・排出係数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2999232" y="3154680"/>
            <a:ext cx="2103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9D5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072384" y="3209544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算定値・条件・証跡の蓄積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3072384" y="3483864"/>
            <a:ext cx="195681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標準化・再利用の基盤。守り（開示）側のデータとの共通化を確認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999232" y="4709160"/>
            <a:ext cx="2103120" cy="1645920"/>
          </a:xfrm>
          <a:prstGeom prst="roundRect">
            <a:avLst>
              <a:gd name="adj" fmla="val 2778"/>
            </a:avLst>
          </a:prstGeom>
          <a:solidFill>
            <a:srgbClr val="F7F7F7"/>
          </a:solidFill>
          <a:ln w="12700">
            <a:solidFill>
              <a:srgbClr val="C9D5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072384" y="4764024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要求／期限／回答状況の一元管理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3072384" y="5038344"/>
            <a:ext cx="195681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スコープ要判断：CRM寄りの機能。RFP範囲に含めるか、既存の営業系で受けるかを早期に線引き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5175504" y="3291840"/>
            <a:ext cx="256032" cy="274320"/>
          </a:xfrm>
          <a:prstGeom prst="rightArrow">
            <a:avLst/>
          </a:prstGeom>
          <a:solidFill>
            <a:srgbClr val="9AA7BC"/>
          </a:solidFill>
          <a:ln/>
        </p:spPr>
      </p:sp>
      <p:sp>
        <p:nvSpPr>
          <p:cNvPr id="30" name="Shape 28"/>
          <p:cNvSpPr/>
          <p:nvPr/>
        </p:nvSpPr>
        <p:spPr>
          <a:xfrm>
            <a:off x="5495544" y="1097280"/>
            <a:ext cx="3246120" cy="384048"/>
          </a:xfrm>
          <a:prstGeom prst="rect">
            <a:avLst/>
          </a:prstGeom>
          <a:solidFill>
            <a:srgbClr val="E2EFD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495544" y="10972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効果（試算式と前提を必ず添える）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95544" y="160020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7F2"/>
          </a:solidFill>
          <a:ln w="12700">
            <a:solidFill>
              <a:srgbClr val="C9D5E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568696" y="1655064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3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リスク回避額（主軸）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568696" y="1929384"/>
            <a:ext cx="309981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期限超過件数 × 失注・縮小率 × 案件粗利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前提：失注率は過去実績または営業ヒアリング値。収益機会と同一案件を二重計上しない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5495544" y="315468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3F9F1"/>
          </a:solidFill>
          <a:ln w="12700">
            <a:solidFill>
              <a:srgbClr val="C9D5E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568696" y="3209544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工数削減額（主軸）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5568696" y="3483864"/>
            <a:ext cx="309981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件数 × 現状工数／件 × 削減率 × 時間単価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前提：現状工数は実測（As-Is調査C-17が未回答のため、本UC向けに個別に取得）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5495544" y="4709160"/>
            <a:ext cx="3246120" cy="1645920"/>
          </a:xfrm>
          <a:prstGeom prst="roundRect">
            <a:avLst>
              <a:gd name="adj" fmla="val 2778"/>
            </a:avLst>
          </a:prstGeom>
          <a:solidFill>
            <a:srgbClr val="F7F7F7"/>
          </a:solidFill>
          <a:ln w="12700">
            <a:solidFill>
              <a:srgbClr val="C9D5E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568696" y="4764024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収益機会（条件付き）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5568696" y="5038344"/>
            <a:ext cx="309981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営業ヒアリングで「CFPが受注要因になった案件」が確認できた場合のみ計上。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対象案件数 × 受注率改善幅 × 案件粗利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確認できなければこの系統は落とす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8814816" y="3291840"/>
            <a:ext cx="256032" cy="274320"/>
          </a:xfrm>
          <a:prstGeom prst="rightArrow">
            <a:avLst/>
          </a:prstGeom>
          <a:solidFill>
            <a:srgbClr val="9AA7BC"/>
          </a:solidFill>
          <a:ln/>
        </p:spPr>
      </p:sp>
      <p:sp>
        <p:nvSpPr>
          <p:cNvPr id="42" name="Shape 40"/>
          <p:cNvSpPr/>
          <p:nvPr/>
        </p:nvSpPr>
        <p:spPr>
          <a:xfrm>
            <a:off x="9134856" y="1097280"/>
            <a:ext cx="2697480" cy="384048"/>
          </a:xfrm>
          <a:prstGeom prst="rect">
            <a:avLst/>
          </a:prstGeom>
          <a:solidFill>
            <a:srgbClr val="FFE699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134856" y="10972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5B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実現性評価（2層に分離）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134856" y="1600200"/>
            <a:ext cx="2697480" cy="2331720"/>
          </a:xfrm>
          <a:prstGeom prst="roundRect">
            <a:avLst>
              <a:gd name="adj" fmla="val 1961"/>
            </a:avLst>
          </a:prstGeom>
          <a:solidFill>
            <a:srgbClr val="FFFBEB"/>
          </a:solidFill>
          <a:ln w="12700">
            <a:solidFill>
              <a:srgbClr val="C9D5E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208008" y="1655064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B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①機能を作れるか（新設・主）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9208008" y="1929384"/>
            <a:ext cx="2551176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データ：製品別の原材料構成・サプライヤー一次データ・配分ルール・係数が揃うか、鮮度・信頼性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業務：部門横断（研究・調達・ESG・営業）の所有者を置けるか、運用負荷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外部：顧客フォーマット・第三者検証への対応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△の場合：実現の前提条件・コスト・時期を併記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9134856" y="4069080"/>
            <a:ext cx="26974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9D5E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208008" y="4123944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②KPIを測れるか（従来・従）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9208008" y="4398264"/>
            <a:ext cx="25511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各KPIを収集・管理可能か、適時更新できるか、信頼できるか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9134856" y="5440680"/>
            <a:ext cx="26974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5E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208008" y="5495544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判定の使い方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9208008" y="5769864"/>
            <a:ext cx="2551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○△×で切るのでなく、価値試算値と並べて「価値×実現性」で判断する</a:t>
            </a:r>
            <a:endParaRPr lang="en-US" sz="780" dirty="0"/>
          </a:p>
        </p:txBody>
      </p:sp>
      <p:sp>
        <p:nvSpPr>
          <p:cNvPr id="53" name="Text 51"/>
          <p:cNvSpPr txBox="1"/>
          <p:nvPr/>
        </p:nvSpPr>
        <p:spPr>
          <a:xfrm>
            <a:off x="11750040" y="6537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次回セッション（KPI設定＆実現性評価）までに求めること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1206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セッションを「収集の場」でなく「検証の場」にするための事前準備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109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#1_CFP即応 価値創出ストーリー ｜レビュー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3931920" cy="5440680"/>
          </a:xfrm>
          <a:prstGeom prst="roundRect">
            <a:avLst>
              <a:gd name="adj" fmla="val 1860"/>
            </a:avLst>
          </a:prstGeom>
          <a:solidFill>
            <a:srgbClr val="F5F8FD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097280"/>
            <a:ext cx="3931920" cy="4572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ベンダーに事前準備を求める項目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91640"/>
            <a:ext cx="3657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■"/>
            </a:pPr>
            <a:r>
              <a:rPr lang="en-US" sz="95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現状の事実：CFP要請件数／年と推移、回答リードタイム、期限超過・未回答件数、算定工数／件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■"/>
            </a:pPr>
            <a:r>
              <a:rPr lang="en-US" sz="95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「回答速度→受注」仮説の営業ヒアリング結果（CFPが受注要因になった案件数、遅延で失注した案件数）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■"/>
            </a:pPr>
            <a:r>
              <a:rPr lang="en-US" sz="95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収益機会・リスク回避額・工数削減額それぞれの試算式と前提（1行ずつ）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■"/>
            </a:pPr>
            <a:r>
              <a:rPr lang="en-US" sz="95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実現性評価項目の改訂版：「機能を作れるか」と「KPIを測れるか」を分離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■"/>
            </a:pPr>
            <a:r>
              <a:rPr lang="en-US" sz="95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「即応」vs「事前算定・公開」の比較1枚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■"/>
            </a:pPr>
            <a:r>
              <a:rPr lang="en-US" sz="95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製品別CFP算定に必要なデータの現在の保有状況（研究・調達への事前確認）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26280" y="1097280"/>
            <a:ext cx="3931920" cy="5440680"/>
          </a:xfrm>
          <a:prstGeom prst="roundRect">
            <a:avLst>
              <a:gd name="adj" fmla="val 1860"/>
            </a:avLst>
          </a:prstGeom>
          <a:solidFill>
            <a:srgbClr val="F5F8FD"/>
          </a:solidFill>
          <a:ln/>
        </p:spPr>
      </p:sp>
      <p:sp>
        <p:nvSpPr>
          <p:cNvPr id="11" name="Shape 9"/>
          <p:cNvSpPr/>
          <p:nvPr/>
        </p:nvSpPr>
        <p:spPr>
          <a:xfrm>
            <a:off x="4526280" y="1097280"/>
            <a:ext cx="3931920" cy="457200"/>
          </a:xfrm>
          <a:prstGeom prst="rect">
            <a:avLst/>
          </a:prstGeom>
          <a:solidFill>
            <a:srgbClr val="FFE6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B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ベンダーへの確認質問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691640"/>
            <a:ext cx="3657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■"/>
            </a:pPr>
            <a:r>
              <a:rPr lang="en-US" sz="95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回答速度と新規受注率・リピート率の関係の根拠は何か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■"/>
            </a:pPr>
            <a:r>
              <a:rPr lang="en-US" sz="95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収益機会とリスク回避額は、どう重複を排除して試算するのか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■"/>
            </a:pPr>
            <a:r>
              <a:rPr lang="en-US" sz="95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実現性評価で、CFP算定に必要なデータ自体の有無はどこで見るのか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■"/>
            </a:pPr>
            <a:r>
              <a:rPr lang="en-US" sz="95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各「XXX」の金額は、どの式・どの前提で試算する想定か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■"/>
            </a:pPr>
            <a:r>
              <a:rPr lang="en-US" sz="95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「要求／期限／回答状況の一元管理」は本PJのRFP範囲に含める想定か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■"/>
            </a:pPr>
            <a:r>
              <a:rPr lang="en-US" sz="95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実現性が△の場合、UCをどう扱うのか（落とす／前提条件つきで残す）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641080" y="1097280"/>
            <a:ext cx="3136392" cy="5440680"/>
          </a:xfrm>
          <a:prstGeom prst="roundRect">
            <a:avLst>
              <a:gd name="adj" fmla="val 2332"/>
            </a:avLst>
          </a:prstGeom>
          <a:solidFill>
            <a:srgbClr val="F5F8FD"/>
          </a:solidFill>
          <a:ln/>
        </p:spPr>
      </p:sp>
      <p:sp>
        <p:nvSpPr>
          <p:cNvPr id="15" name="Shape 13"/>
          <p:cNvSpPr/>
          <p:nvPr/>
        </p:nvSpPr>
        <p:spPr>
          <a:xfrm>
            <a:off x="8641080" y="1097280"/>
            <a:ext cx="3136392" cy="457200"/>
          </a:xfrm>
          <a:prstGeom prst="rect">
            <a:avLst/>
          </a:prstGeom>
          <a:solidFill>
            <a:srgbClr val="E2EFD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78240" y="109728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貴社側で決めること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1691640"/>
            <a:ext cx="28620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■"/>
            </a:pPr>
            <a:r>
              <a:rPr lang="en-US" sz="95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CFP算定業務の部門横断の所有者（研究・調達・ESG・営業のどこが持つか）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■"/>
            </a:pPr>
            <a:r>
              <a:rPr lang="en-US" sz="95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一元管理機能をRFP範囲に含めるかの線引き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■"/>
            </a:pPr>
            <a:r>
              <a:rPr lang="en-US" sz="95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営業ヒアリングの窓口と対象（CFP要請の多い顧客・事業）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■"/>
            </a:pPr>
            <a:r>
              <a:rPr lang="en-US" sz="95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収益機会の系統を残す判断基準（何件以上の実績があれば計上するか）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1750040" y="6537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デジタル戦略部</dc:creator>
  <cp:lastModifiedBy>デジタル戦略部</cp:lastModifiedBy>
  <cp:revision>1</cp:revision>
  <dcterms:created xsi:type="dcterms:W3CDTF">2026-10-13T00:54:26Z</dcterms:created>
  <dcterms:modified xsi:type="dcterms:W3CDTF">2026-10-13T00:54:26Z</dcterms:modified>
</cp:coreProperties>
</file>