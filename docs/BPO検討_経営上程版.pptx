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147483616" r:id="rId5"/>
    <p:sldId id="2147483617" r:id="rId6"/>
    <p:sldId id="2147483618" r:id="rId7"/>
    <p:sldId id="2147483621" r:id="rId8"/>
    <p:sldId id="2147483623" r:id="rId9"/>
    <p:sldId id="2147483627" r:id="rId22"/>
    <p:sldId id="2147483628" r:id="rId23"/>
    <p:sldId id="2147483625" r:id="rId10"/>
    <p:sldId id="2147483624" r:id="rId11"/>
    <p:sldId id="2147483620" r:id="rId12"/>
    <p:sldId id="2147483619" r:id="rId13"/>
    <p:sldId id="2147483626" r:id="rId21"/>
    <p:sldId id="2147483629" r:id="rId24"/>
  </p:sldIdLst>
  <p:sldSz cx="12192000" cy="6858000"/>
  <p:notesSz cx="6858000" cy="9144000"/>
  <p:custDataLst>
    <p:tags r:id="rId16"/>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86B1600-BCFA-4981-9316-50B53C52C6AB}">
          <p14:sldIdLst>
            <p14:sldId id="2147483616"/>
            <p14:sldId id="2147483617"/>
            <p14:sldId id="2147483618"/>
            <p14:sldId id="2147483621"/>
            <p14:sldId id="2147483623"/>
            <p14:sldId id="2147483625"/>
          </p14:sldIdLst>
        </p14:section>
        <p14:section name="APPENDIX" id="{DA376990-BDC2-487F-9144-05F7DA4D4B1F}">
          <p14:sldIdLst>
            <p14:sldId id="2147483624"/>
            <p14:sldId id="2147483620"/>
            <p14:sldId id="214748361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9696"/>
    <a:srgbClr val="008000"/>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  <Relationship Id="rId21" Type="http://schemas.openxmlformats.org/officeDocument/2006/relationships/slide" Target="slides/slide10.xml"/>
  <Relationship Id="rId22" Type="http://schemas.openxmlformats.org/officeDocument/2006/relationships/slide" Target="slides/slide11.xml"/>
  <Relationship Id="rId23" Type="http://schemas.openxmlformats.org/officeDocument/2006/relationships/slide" Target="slides/slide12.xml"/>
  <Relationship Id="rId24" Type="http://schemas.openxmlformats.org/officeDocument/2006/relationships/slide" Target="slides/slide13.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2026/8/21</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D5A8EB-534A-4B68-5BDA-070B34C7FF81}"/>
              </a:ext>
            </a:extLst>
          </p:cNvPr>
          <p:cNvSpPr>
            <a:spLocks noGrp="1"/>
          </p:cNvSpPr>
          <p:nvPr>
            <p:ph type="title"/>
          </p:nvPr>
        </p:nvSpPr>
        <p:spPr/>
        <p:txBody>
          <a:bodyPr/>
          <a:lstStyle/>
          <a:p>
            <a:r>
              <a:rPr lang="ja-JP" altLang="en-US" dirty="0"/>
              <a:t>背景</a:t>
            </a:r>
            <a:r>
              <a:rPr lang="en-US" altLang="ja-JP" dirty="0"/>
              <a:t>/</a:t>
            </a:r>
            <a:r>
              <a:rPr lang="ja-JP" altLang="en-US" dirty="0"/>
              <a:t>課題</a:t>
            </a:r>
            <a:endParaRPr kumimoji="1" lang="ja-JP" altLang="en-US" dirty="0"/>
          </a:p>
        </p:txBody>
      </p:sp>
      <p:sp>
        <p:nvSpPr>
          <p:cNvPr id="3" name="テキスト プレースホルダー 2">
            <a:extLst>
              <a:ext uri="{FF2B5EF4-FFF2-40B4-BE49-F238E27FC236}">
                <a16:creationId xmlns:a16="http://schemas.microsoft.com/office/drawing/2014/main" id="{2ED198D0-EB15-AE56-D3DE-4D602AF324E6}"/>
              </a:ext>
            </a:extLst>
          </p:cNvPr>
          <p:cNvSpPr>
            <a:spLocks noGrp="1"/>
          </p:cNvSpPr>
          <p:nvPr>
            <p:ph type="body" sz="quarter" idx="13"/>
          </p:nvPr>
        </p:nvSpPr>
        <p:spPr/>
        <p:txBody>
          <a:bodyPr/>
          <a:lstStyle/>
          <a:p>
            <a:r>
              <a:rPr kumimoji="1" lang="ja-JP" altLang="en-US" sz="1800" dirty="0"/>
              <a:t>運用の担い手は先細り、運用業務は増大、そのギャップを社員負荷で吸収しており、コスト・品質を統制する仕組みも不十分</a:t>
            </a:r>
            <a:endParaRPr lang="en-US" altLang="ja-JP" sz="1800" dirty="0"/>
          </a:p>
          <a:p>
            <a:r>
              <a:rPr kumimoji="1" lang="ja-JP" altLang="en-US" sz="1800" dirty="0"/>
              <a:t>現状延長では、人材の持続性・事業継続・Vision2030の実行力が毀損され、内製強化は採用・異動面から成立せず、構造転換が必要</a:t>
            </a:r>
            <a:r>
              <a:rPr kumimoji="1" lang="en-US" altLang="ja-JP" sz="1800" dirty="0"/>
              <a:t/>
            </a:r>
            <a:r>
              <a:rPr kumimoji="1" lang="ja-JP" altLang="en-US" sz="1800" dirty="0"/>
              <a:t/>
            </a:r>
          </a:p>
        </p:txBody>
      </p:sp>
      <p:grpSp>
        <p:nvGrpSpPr>
          <p:cNvPr id="26" name="グループ化 25">
            <a:extLst>
              <a:ext uri="{FF2B5EF4-FFF2-40B4-BE49-F238E27FC236}">
                <a16:creationId xmlns:a16="http://schemas.microsoft.com/office/drawing/2014/main" id="{41DD9613-9F79-3CF5-7067-A4022668E2F8}"/>
              </a:ext>
            </a:extLst>
          </p:cNvPr>
          <p:cNvGrpSpPr/>
          <p:nvPr/>
        </p:nvGrpSpPr>
        <p:grpSpPr>
          <a:xfrm>
            <a:off x="334963" y="1628775"/>
            <a:ext cx="7388800" cy="4679950"/>
            <a:chOff x="334962" y="1628775"/>
            <a:chExt cx="8254561" cy="4679950"/>
          </a:xfrm>
        </p:grpSpPr>
        <p:sp>
          <p:nvSpPr>
            <p:cNvPr id="4" name="正方形/長方形 3">
              <a:extLst>
                <a:ext uri="{FF2B5EF4-FFF2-40B4-BE49-F238E27FC236}">
                  <a16:creationId xmlns:a16="http://schemas.microsoft.com/office/drawing/2014/main" id="{4625BC16-7AF7-1C69-1221-B2001FA00A67}"/>
                </a:ext>
              </a:extLst>
            </p:cNvPr>
            <p:cNvSpPr/>
            <p:nvPr/>
          </p:nvSpPr>
          <p:spPr>
            <a:xfrm>
              <a:off x="334962" y="2188723"/>
              <a:ext cx="8254561" cy="4120002"/>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課題①</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供給</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運用の担い手を維持できない</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当社は運用・保守の専門人材を採用しておらず、少子高齢化・</a:t>
              </a:r>
              <a:r>
                <a:rPr lang="en-US" altLang="ja-JP" sz="1100" dirty="0">
                  <a:solidFill>
                    <a:schemeClr val="tx1"/>
                  </a:solidFill>
                  <a:latin typeface="Meiryo UI" panose="020B0604030504040204" pitchFamily="50" charset="-128"/>
                  <a:ea typeface="Meiryo UI" panose="020B0604030504040204" pitchFamily="50" charset="-128"/>
                </a:rPr>
                <a:t>IT</a:t>
              </a:r>
              <a:r>
                <a:rPr lang="ja-JP" altLang="en-US" sz="1100" dirty="0">
                  <a:solidFill>
                    <a:schemeClr val="tx1"/>
                  </a:solidFill>
                  <a:latin typeface="Meiryo UI" panose="020B0604030504040204" pitchFamily="50" charset="-128"/>
                  <a:ea typeface="Meiryo UI" panose="020B0604030504040204" pitchFamily="50" charset="-128"/>
                </a:rPr>
                <a:t>人材獲得競争の激化により今後の採用も困難</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社員の採用・育成に多大な時間・コストを投じても、キャリア志向との不一致から定着せず投資が回収しづらい</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シニア社員の経験・暗黙知に依存した属人運用が存在し、異動・退職とともに運用能力が失われる</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IT運用はAI・自動化による省人化が世界的潮流。その先端投資・スキル保持は専門プロバイダでなければ回収できず、自前での企画・実行は技術面でも構造的に不利</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課題②</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需要</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運用範囲・業務は増え続ける</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全社データ基盤・</a:t>
              </a:r>
              <a:r>
                <a:rPr lang="en-US" altLang="ja-JP" sz="1100" dirty="0">
                  <a:solidFill>
                    <a:schemeClr val="tx1"/>
                  </a:solidFill>
                  <a:latin typeface="Meiryo UI" panose="020B0604030504040204" pitchFamily="50" charset="-128"/>
                  <a:ea typeface="Meiryo UI" panose="020B0604030504040204" pitchFamily="50" charset="-128"/>
                </a:rPr>
                <a:t>BI</a:t>
              </a:r>
              <a:r>
                <a:rPr lang="ja-JP" altLang="en-US" sz="1100" dirty="0">
                  <a:solidFill>
                    <a:schemeClr val="tx1"/>
                  </a:solidFill>
                  <a:latin typeface="Meiryo UI" panose="020B0604030504040204" pitchFamily="50" charset="-128"/>
                  <a:ea typeface="Meiryo UI" panose="020B0604030504040204" pitchFamily="50" charset="-128"/>
                </a:rPr>
                <a:t>・生成</a:t>
              </a:r>
              <a:r>
                <a:rPr lang="en-US" altLang="ja-JP" sz="1100" dirty="0">
                  <a:solidFill>
                    <a:schemeClr val="tx1"/>
                  </a:solidFill>
                  <a:latin typeface="Meiryo UI" panose="020B0604030504040204" pitchFamily="50" charset="-128"/>
                  <a:ea typeface="Meiryo UI" panose="020B0604030504040204" pitchFamily="50" charset="-128"/>
                </a:rPr>
                <a:t>AI</a:t>
              </a:r>
              <a:r>
                <a:rPr lang="ja-JP" altLang="en-US" sz="1100" dirty="0">
                  <a:solidFill>
                    <a:schemeClr val="tx1"/>
                  </a:solidFill>
                  <a:latin typeface="Meiryo UI" panose="020B0604030504040204" pitchFamily="50" charset="-128"/>
                  <a:ea typeface="Meiryo UI" panose="020B0604030504040204" pitchFamily="50" charset="-128"/>
                </a:rPr>
                <a:t>の活用拡大により、従来と異なる新たな運用業務が増加する</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セキュリティ脅威の高度化、グローバル展開により対応範囲は広がり、</a:t>
              </a:r>
              <a:r>
                <a:rPr lang="en-US" altLang="ja-JP" sz="1100" dirty="0">
                  <a:solidFill>
                    <a:schemeClr val="tx1"/>
                  </a:solidFill>
                  <a:latin typeface="Meiryo UI" panose="020B0604030504040204" pitchFamily="50" charset="-128"/>
                  <a:ea typeface="Meiryo UI" panose="020B0604030504040204" pitchFamily="50" charset="-128"/>
                </a:rPr>
                <a:t>24</a:t>
              </a:r>
              <a:r>
                <a:rPr lang="ja-JP" altLang="en-US" sz="1100" dirty="0">
                  <a:solidFill>
                    <a:schemeClr val="tx1"/>
                  </a:solidFill>
                  <a:latin typeface="Meiryo UI" panose="020B0604030504040204" pitchFamily="50" charset="-128"/>
                  <a:ea typeface="Meiryo UI" panose="020B0604030504040204" pitchFamily="50" charset="-128"/>
                </a:rPr>
                <a:t>時間</a:t>
              </a:r>
              <a:r>
                <a:rPr lang="en-US" altLang="ja-JP" sz="1100" dirty="0">
                  <a:solidFill>
                    <a:schemeClr val="tx1"/>
                  </a:solidFill>
                  <a:latin typeface="Meiryo UI" panose="020B0604030504040204" pitchFamily="50" charset="-128"/>
                  <a:ea typeface="Meiryo UI" panose="020B0604030504040204" pitchFamily="50" charset="-128"/>
                </a:rPr>
                <a:t>365</a:t>
              </a:r>
              <a:r>
                <a:rPr lang="ja-JP" altLang="en-US" sz="1100" dirty="0">
                  <a:solidFill>
                    <a:schemeClr val="tx1"/>
                  </a:solidFill>
                  <a:latin typeface="Meiryo UI" panose="020B0604030504040204" pitchFamily="50" charset="-128"/>
                  <a:ea typeface="Meiryo UI" panose="020B0604030504040204" pitchFamily="50" charset="-128"/>
                </a:rPr>
                <a:t>日の監視・対応も標準要求となりつつある</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課題③</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歪み</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ギャップを社員の過負荷で吸収している</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安価であるベンダ選定をしているため品質が低く、指示・督促・手戻り対応などディレクション工数を内部社員が肩代わりしている</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また、デジ戦社員が定常運用・問い合わせ・障害対応など本来外部化可能な業務に忙殺され、ベンダ成果物の補完・手戻りなど表面化しない追加工数まで負担している</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担い手がいない中、内製で対応を行うため高負荷が常態化しており、人材の定着・業務継続の観点から持続困難な状態にある</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データ活用・</a:t>
              </a:r>
              <a:r>
                <a:rPr lang="en-US" altLang="ja-JP" sz="1100" dirty="0">
                  <a:solidFill>
                    <a:schemeClr val="tx1"/>
                  </a:solidFill>
                  <a:latin typeface="Meiryo UI" panose="020B0604030504040204" pitchFamily="50" charset="-128"/>
                  <a:ea typeface="Meiryo UI" panose="020B0604030504040204" pitchFamily="50" charset="-128"/>
                </a:rPr>
                <a:t>AI</a:t>
              </a:r>
              <a:r>
                <a:rPr lang="ja-JP" altLang="en-US" sz="1100" dirty="0">
                  <a:solidFill>
                    <a:schemeClr val="tx1"/>
                  </a:solidFill>
                  <a:latin typeface="Meiryo UI" panose="020B0604030504040204" pitchFamily="50" charset="-128"/>
                  <a:ea typeface="Meiryo UI" panose="020B0604030504040204" pitchFamily="50" charset="-128"/>
                </a:rPr>
                <a:t>活用など本来注力すべき企画業務に時間を投じられず、</a:t>
              </a:r>
              <a:r>
                <a:rPr lang="en-US" altLang="ja-JP" sz="1100" dirty="0">
                  <a:solidFill>
                    <a:schemeClr val="tx1"/>
                  </a:solidFill>
                  <a:latin typeface="Meiryo UI" panose="020B0604030504040204" pitchFamily="50" charset="-128"/>
                  <a:ea typeface="Meiryo UI" panose="020B0604030504040204" pitchFamily="50" charset="-128"/>
                </a:rPr>
                <a:t>Vision2030</a:t>
              </a:r>
              <a:r>
                <a:rPr lang="ja-JP" altLang="en-US" sz="1100" dirty="0">
                  <a:solidFill>
                    <a:schemeClr val="tx1"/>
                  </a:solidFill>
                  <a:latin typeface="Meiryo UI" panose="020B0604030504040204" pitchFamily="50" charset="-128"/>
                  <a:ea typeface="Meiryo UI" panose="020B0604030504040204" pitchFamily="50" charset="-128"/>
                </a:rPr>
                <a:t>推進の機会損失が発生している</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課題④</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基盤</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コスト・品質を統制する仕組みがない</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複数ベンダ</a:t>
              </a:r>
              <a:r>
                <a:rPr lang="en-US" altLang="ja-JP" sz="1100" dirty="0">
                  <a:solidFill>
                    <a:schemeClr val="tx1"/>
                  </a:solidFill>
                  <a:latin typeface="Meiryo UI" panose="020B0604030504040204" pitchFamily="50" charset="-128"/>
                  <a:ea typeface="Meiryo UI" panose="020B0604030504040204" pitchFamily="50" charset="-128"/>
                </a:rPr>
                <a:t>(6</a:t>
              </a:r>
              <a:r>
                <a:rPr lang="ja-JP" altLang="en-US" sz="1100" dirty="0">
                  <a:solidFill>
                    <a:schemeClr val="tx1"/>
                  </a:solidFill>
                  <a:latin typeface="Meiryo UI" panose="020B0604030504040204" pitchFamily="50" charset="-128"/>
                  <a:ea typeface="Meiryo UI" panose="020B0604030504040204" pitchFamily="50" charset="-128"/>
                </a:rPr>
                <a:t>社</a:t>
              </a:r>
              <a:r>
                <a:rPr lang="en-US" altLang="ja-JP" sz="1100" dirty="0">
                  <a:solidFill>
                    <a:schemeClr val="tx1"/>
                  </a:solidFill>
                  <a:latin typeface="Meiryo UI" panose="020B0604030504040204" pitchFamily="50" charset="-128"/>
                  <a:ea typeface="Meiryo UI" panose="020B0604030504040204" pitchFamily="50" charset="-128"/>
                </a:rPr>
                <a:t>)</a:t>
              </a:r>
              <a:r>
                <a:rPr lang="ja-JP" altLang="en-US" sz="1100" dirty="0">
                  <a:solidFill>
                    <a:schemeClr val="tx1"/>
                  </a:solidFill>
                  <a:latin typeface="Meiryo UI" panose="020B0604030504040204" pitchFamily="50" charset="-128"/>
                  <a:ea typeface="Meiryo UI" panose="020B0604030504040204" pitchFamily="50" charset="-128"/>
                </a:rPr>
                <a:t>に業務が分散し、担当範囲・責任分界・実工数がブラックボックス化。個別契約のためスケールメリットも働かない</a:t>
              </a: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社員の従事工数・手戻りを含む運用の総コスト（</a:t>
              </a:r>
              <a:r>
                <a:rPr lang="en-US" altLang="ja-JP" sz="1100" dirty="0">
                  <a:solidFill>
                    <a:schemeClr val="tx1"/>
                  </a:solidFill>
                  <a:latin typeface="Meiryo UI" panose="020B0604030504040204" pitchFamily="50" charset="-128"/>
                  <a:ea typeface="Meiryo UI" panose="020B0604030504040204" pitchFamily="50" charset="-128"/>
                </a:rPr>
                <a:t>TCO</a:t>
              </a:r>
              <a:r>
                <a:rPr lang="ja-JP" altLang="en-US" sz="1100" dirty="0">
                  <a:solidFill>
                    <a:schemeClr val="tx1"/>
                  </a:solidFill>
                  <a:latin typeface="Meiryo UI" panose="020B0604030504040204" pitchFamily="50" charset="-128"/>
                  <a:ea typeface="Meiryo UI" panose="020B0604030504040204" pitchFamily="50" charset="-128"/>
                </a:rPr>
                <a:t>）が把握できず、最適化の判断基盤がない</a:t>
              </a:r>
            </a:p>
            <a:p>
              <a:pPr marL="742950" lvl="1"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SLA</a:t>
              </a:r>
              <a:r>
                <a:rPr lang="ja-JP" altLang="en-US" sz="1100" dirty="0">
                  <a:solidFill>
                    <a:schemeClr val="tx1"/>
                  </a:solidFill>
                  <a:latin typeface="Meiryo UI" panose="020B0604030504040204" pitchFamily="50" charset="-128"/>
                  <a:ea typeface="Meiryo UI" panose="020B0604030504040204" pitchFamily="50" charset="-128"/>
                </a:rPr>
                <a:t>・</a:t>
              </a:r>
              <a:r>
                <a:rPr lang="en-US" altLang="ja-JP" sz="1100" dirty="0">
                  <a:solidFill>
                    <a:schemeClr val="tx1"/>
                  </a:solidFill>
                  <a:latin typeface="Meiryo UI" panose="020B0604030504040204" pitchFamily="50" charset="-128"/>
                  <a:ea typeface="Meiryo UI" panose="020B0604030504040204" pitchFamily="50" charset="-128"/>
                </a:rPr>
                <a:t>KPI</a:t>
              </a:r>
              <a:r>
                <a:rPr lang="ja-JP" altLang="en-US" sz="1100" dirty="0">
                  <a:solidFill>
                    <a:schemeClr val="tx1"/>
                  </a:solidFill>
                  <a:latin typeface="Meiryo UI" panose="020B0604030504040204" pitchFamily="50" charset="-128"/>
                  <a:ea typeface="Meiryo UI" panose="020B0604030504040204" pitchFamily="50" charset="-128"/>
                </a:rPr>
                <a:t>が未整備で品質を測定・評価できず、障害時の復旧は個人の稼働に依存。監査・セキュリティ統制の証跡の担保が困難。外部ベンダの一部は報告書を上げず属人化が継続。品質のばらつきも大きい</a:t>
              </a:r>
            </a:p>
          </p:txBody>
        </p:sp>
        <p:grpSp>
          <p:nvGrpSpPr>
            <p:cNvPr id="16" name="グループ化 15">
              <a:extLst>
                <a:ext uri="{FF2B5EF4-FFF2-40B4-BE49-F238E27FC236}">
                  <a16:creationId xmlns:a16="http://schemas.microsoft.com/office/drawing/2014/main" id="{69689A19-C90F-D7C6-2A9B-7DAB635067EC}"/>
                </a:ext>
              </a:extLst>
            </p:cNvPr>
            <p:cNvGrpSpPr/>
            <p:nvPr/>
          </p:nvGrpSpPr>
          <p:grpSpPr>
            <a:xfrm>
              <a:off x="334962" y="1628775"/>
              <a:ext cx="8254561" cy="369332"/>
              <a:chOff x="334963" y="1628775"/>
              <a:chExt cx="5761037" cy="369332"/>
            </a:xfrm>
          </p:grpSpPr>
          <p:cxnSp>
            <p:nvCxnSpPr>
              <p:cNvPr id="12" name="直線コネクタ 11">
                <a:extLst>
                  <a:ext uri="{FF2B5EF4-FFF2-40B4-BE49-F238E27FC236}">
                    <a16:creationId xmlns:a16="http://schemas.microsoft.com/office/drawing/2014/main" id="{F7461DCC-914C-DD24-9CC6-9E13CDC4410E}"/>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62076774-C120-3471-B68D-D14197C0D6EA}"/>
                  </a:ext>
                </a:extLst>
              </p:cNvPr>
              <p:cNvSpPr txBox="1"/>
              <p:nvPr/>
            </p:nvSpPr>
            <p:spPr>
              <a:xfrm>
                <a:off x="334963" y="1628775"/>
                <a:ext cx="5761037" cy="369332"/>
              </a:xfrm>
              <a:prstGeom prst="rect">
                <a:avLst/>
              </a:prstGeom>
              <a:noFill/>
            </p:spPr>
            <p:txBody>
              <a:bodyPr wrap="square" rtlCol="0">
                <a:spAutoFit/>
              </a:bodyPr>
              <a:lstStyle/>
              <a:p>
                <a:pPr algn="ctr"/>
                <a:r>
                  <a:rPr kumimoji="1" lang="ja-JP" altLang="en-US" dirty="0"/>
                  <a:t>背景</a:t>
                </a:r>
                <a:r>
                  <a:rPr kumimoji="1" lang="en-US" altLang="ja-JP" dirty="0"/>
                  <a:t>/</a:t>
                </a:r>
                <a:r>
                  <a:rPr kumimoji="1" lang="ja-JP" altLang="en-US" dirty="0"/>
                  <a:t>課題</a:t>
                </a:r>
                <a:endParaRPr kumimoji="1" lang="en-US" altLang="ja-JP" dirty="0"/>
              </a:p>
            </p:txBody>
          </p:sp>
        </p:grpSp>
      </p:grpSp>
      <p:grpSp>
        <p:nvGrpSpPr>
          <p:cNvPr id="27" name="グループ化 26">
            <a:extLst>
              <a:ext uri="{FF2B5EF4-FFF2-40B4-BE49-F238E27FC236}">
                <a16:creationId xmlns:a16="http://schemas.microsoft.com/office/drawing/2014/main" id="{6FDC19A3-EC86-582E-A4A6-A0AA61DCFDA0}"/>
              </a:ext>
            </a:extLst>
          </p:cNvPr>
          <p:cNvGrpSpPr/>
          <p:nvPr/>
        </p:nvGrpSpPr>
        <p:grpSpPr>
          <a:xfrm>
            <a:off x="7937771" y="1628775"/>
            <a:ext cx="3919266" cy="4679949"/>
            <a:chOff x="8978629" y="1628775"/>
            <a:chExt cx="2878407" cy="4679949"/>
          </a:xfrm>
        </p:grpSpPr>
        <p:sp>
          <p:nvSpPr>
            <p:cNvPr id="5" name="正方形/長方形 4">
              <a:extLst>
                <a:ext uri="{FF2B5EF4-FFF2-40B4-BE49-F238E27FC236}">
                  <a16:creationId xmlns:a16="http://schemas.microsoft.com/office/drawing/2014/main" id="{643D85F3-11A5-AA90-23D5-869057057287}"/>
                </a:ext>
              </a:extLst>
            </p:cNvPr>
            <p:cNvSpPr/>
            <p:nvPr/>
          </p:nvSpPr>
          <p:spPr>
            <a:xfrm>
              <a:off x="8978629" y="2188723"/>
              <a:ext cx="2878407" cy="2470826"/>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供給は時間とともに確実に細る。「外部化するか否</a:t>
              </a:r>
              <a:r>
                <a:rPr lang="ja-JP" altLang="en-US" sz="1200" dirty="0">
                  <a:solidFill>
                    <a:schemeClr val="tx1"/>
                  </a:solidFill>
                  <a:latin typeface="Meiryo UI" panose="020B0604030504040204" pitchFamily="50" charset="-128"/>
                  <a:ea typeface="Meiryo UI" panose="020B0604030504040204" pitchFamily="50" charset="-128"/>
                </a:rPr>
                <a:t>か」ではなく「いつ外部化するか」の問題となっている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供給減 </a:t>
              </a:r>
              <a:r>
                <a:rPr kumimoji="1" lang="en-US" altLang="ja-JP" sz="1200" dirty="0">
                  <a:solidFill>
                    <a:schemeClr val="tx1"/>
                  </a:solidFill>
                  <a:latin typeface="Meiryo UI" panose="020B0604030504040204" pitchFamily="50" charset="-128"/>
                  <a:ea typeface="Meiryo UI" panose="020B0604030504040204" pitchFamily="50" charset="-128"/>
                </a:rPr>
                <a:t>× </a:t>
              </a:r>
              <a:r>
                <a:rPr kumimoji="1" lang="ja-JP" altLang="en-US" sz="1200" dirty="0">
                  <a:solidFill>
                    <a:schemeClr val="tx1"/>
                  </a:solidFill>
                  <a:latin typeface="Meiryo UI" panose="020B0604030504040204" pitchFamily="50" charset="-128"/>
                  <a:ea typeface="Meiryo UI" panose="020B0604030504040204" pitchFamily="50" charset="-128"/>
                </a:rPr>
                <a:t>需要増でギャップは拡大の一途。放置すれば歪みは加速度的に大きくなる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歪みのしわ寄せ先は「人材の持続性」と「成長投資の時間」。収益力強靭化の実行力そのものが毀損されている</a:t>
              </a: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内製・外注のいずれを選ぶにせよ、可視化と統制基盤の構築が全ての前提となる</a:t>
              </a:r>
            </a:p>
          </p:txBody>
        </p:sp>
        <p:cxnSp>
          <p:nvCxnSpPr>
            <p:cNvPr id="18" name="直線コネクタ 17">
              <a:extLst>
                <a:ext uri="{FF2B5EF4-FFF2-40B4-BE49-F238E27FC236}">
                  <a16:creationId xmlns:a16="http://schemas.microsoft.com/office/drawing/2014/main" id="{01C17B05-F3E7-A454-D99A-51838D58899E}"/>
                </a:ext>
              </a:extLst>
            </p:cNvPr>
            <p:cNvCxnSpPr/>
            <p:nvPr/>
          </p:nvCxnSpPr>
          <p:spPr>
            <a:xfrm>
              <a:off x="8978629" y="1974715"/>
              <a:ext cx="287840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2CF4A60F-A355-8611-80AC-4BCA06A2ABBA}"/>
                </a:ext>
              </a:extLst>
            </p:cNvPr>
            <p:cNvSpPr txBox="1"/>
            <p:nvPr/>
          </p:nvSpPr>
          <p:spPr>
            <a:xfrm>
              <a:off x="8978629" y="1628775"/>
              <a:ext cx="2878407" cy="369332"/>
            </a:xfrm>
            <a:prstGeom prst="rect">
              <a:avLst/>
            </a:prstGeom>
            <a:noFill/>
          </p:spPr>
          <p:txBody>
            <a:bodyPr wrap="square" rtlCol="0">
              <a:spAutoFit/>
            </a:bodyPr>
            <a:lstStyle/>
            <a:p>
              <a:pPr algn="ctr"/>
              <a:r>
                <a:rPr kumimoji="1" lang="ja-JP" altLang="en-US" dirty="0"/>
                <a:t>示唆</a:t>
              </a:r>
              <a:endParaRPr kumimoji="1" lang="en-US" altLang="ja-JP" dirty="0"/>
            </a:p>
          </p:txBody>
        </p:sp>
        <p:sp>
          <p:nvSpPr>
            <p:cNvPr id="24" name="正方形/長方形 23">
              <a:extLst>
                <a:ext uri="{FF2B5EF4-FFF2-40B4-BE49-F238E27FC236}">
                  <a16:creationId xmlns:a16="http://schemas.microsoft.com/office/drawing/2014/main" id="{E72256D6-5CED-6C45-A7A1-9942B678748F}"/>
                </a:ext>
              </a:extLst>
            </p:cNvPr>
            <p:cNvSpPr/>
            <p:nvPr/>
          </p:nvSpPr>
          <p:spPr>
            <a:xfrm>
              <a:off x="8978629" y="5379395"/>
              <a:ext cx="2878407" cy="92932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需要↑</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供給↓のギャップを「仕組み」ではなく「社員個人」が埋めている。そのため、内製化を頑張るほど属人化と</a:t>
              </a:r>
              <a:r>
                <a:rPr lang="ja-JP" altLang="en-US" sz="1200" dirty="0">
                  <a:solidFill>
                    <a:schemeClr val="tx1"/>
                  </a:solidFill>
                  <a:latin typeface="Meiryo UI" panose="020B0604030504040204" pitchFamily="50" charset="-128"/>
                  <a:ea typeface="Meiryo UI" panose="020B0604030504040204" pitchFamily="50" charset="-128"/>
                </a:rPr>
                <a:t>経営リスク</a:t>
              </a:r>
              <a:r>
                <a:rPr kumimoji="1" lang="ja-JP" altLang="en-US" sz="1200" dirty="0">
                  <a:solidFill>
                    <a:schemeClr val="tx1"/>
                  </a:solidFill>
                  <a:latin typeface="Meiryo UI" panose="020B0604030504040204" pitchFamily="50" charset="-128"/>
                  <a:ea typeface="Meiryo UI" panose="020B0604030504040204" pitchFamily="50" charset="-128"/>
                </a:rPr>
                <a:t>が進む。</a:t>
              </a:r>
            </a:p>
          </p:txBody>
        </p:sp>
        <p:sp>
          <p:nvSpPr>
            <p:cNvPr id="25" name="矢印: 右 24">
              <a:extLst>
                <a:ext uri="{FF2B5EF4-FFF2-40B4-BE49-F238E27FC236}">
                  <a16:creationId xmlns:a16="http://schemas.microsoft.com/office/drawing/2014/main" id="{704C004E-88FD-E823-692C-990D70F4497F}"/>
                </a:ext>
              </a:extLst>
            </p:cNvPr>
            <p:cNvSpPr/>
            <p:nvPr/>
          </p:nvSpPr>
          <p:spPr>
            <a:xfrm rot="5400000">
              <a:off x="10063322" y="4386929"/>
              <a:ext cx="514958" cy="1265087"/>
            </a:xfrm>
            <a:prstGeom prst="rightArrow">
              <a:avLst>
                <a:gd name="adj1" fmla="val 50000"/>
                <a:gd name="adj2" fmla="val 505714"/>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029884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D37704-E215-7B28-885A-8D05078B997A}"/>
              </a:ext>
            </a:extLst>
          </p:cNvPr>
          <p:cNvSpPr>
            <a:spLocks noGrp="1"/>
          </p:cNvSpPr>
          <p:nvPr>
            <p:ph type="title"/>
          </p:nvPr>
        </p:nvSpPr>
        <p:spPr/>
        <p:txBody>
          <a:bodyPr/>
          <a:lstStyle/>
          <a:p>
            <a:r>
              <a:rPr kumimoji="1" lang="ja-JP" altLang="en-US" dirty="0"/>
              <a:t>示唆に対する選択肢</a:t>
            </a:r>
          </a:p>
        </p:txBody>
      </p:sp>
      <p:sp>
        <p:nvSpPr>
          <p:cNvPr id="3" name="テキスト プレースホルダー 2">
            <a:extLst>
              <a:ext uri="{FF2B5EF4-FFF2-40B4-BE49-F238E27FC236}">
                <a16:creationId xmlns:a16="http://schemas.microsoft.com/office/drawing/2014/main" id="{D38CA274-4756-8DFA-CBFE-55C5FD6DF9C2}"/>
              </a:ext>
            </a:extLst>
          </p:cNvPr>
          <p:cNvSpPr>
            <a:spLocks noGrp="1"/>
          </p:cNvSpPr>
          <p:nvPr>
            <p:ph type="body" sz="quarter" idx="13"/>
          </p:nvPr>
        </p:nvSpPr>
        <p:spPr/>
        <p:txBody>
          <a:bodyPr/>
          <a:lstStyle/>
          <a:p>
            <a:endParaRPr kumimoji="1" lang="ja-JP" altLang="en-US"/>
          </a:p>
        </p:txBody>
      </p:sp>
      <p:sp>
        <p:nvSpPr>
          <p:cNvPr id="13" name="テキスト プレースホルダー 2">
            <a:extLst>
              <a:ext uri="{FF2B5EF4-FFF2-40B4-BE49-F238E27FC236}">
                <a16:creationId xmlns:a16="http://schemas.microsoft.com/office/drawing/2014/main" id="{19D99E40-E008-F4E2-2413-851BF4DD7055}"/>
              </a:ext>
            </a:extLst>
          </p:cNvPr>
          <p:cNvSpPr txBox="1">
            <a:spLocks/>
          </p:cNvSpPr>
          <p:nvPr/>
        </p:nvSpPr>
        <p:spPr>
          <a:xfrm>
            <a:off x="3814142"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grpSp>
        <p:nvGrpSpPr>
          <p:cNvPr id="47" name="グループ化 46">
            <a:extLst>
              <a:ext uri="{FF2B5EF4-FFF2-40B4-BE49-F238E27FC236}">
                <a16:creationId xmlns:a16="http://schemas.microsoft.com/office/drawing/2014/main" id="{2DF74787-FD37-1B1E-962D-284B781F765C}"/>
              </a:ext>
            </a:extLst>
          </p:cNvPr>
          <p:cNvGrpSpPr/>
          <p:nvPr/>
        </p:nvGrpSpPr>
        <p:grpSpPr>
          <a:xfrm>
            <a:off x="2822550" y="1628775"/>
            <a:ext cx="2152118" cy="4679950"/>
            <a:chOff x="3280010" y="1628775"/>
            <a:chExt cx="3299344" cy="4679950"/>
          </a:xfrm>
        </p:grpSpPr>
        <p:sp>
          <p:nvSpPr>
            <p:cNvPr id="15" name="正方形/長方形 14">
              <a:extLst>
                <a:ext uri="{FF2B5EF4-FFF2-40B4-BE49-F238E27FC236}">
                  <a16:creationId xmlns:a16="http://schemas.microsoft.com/office/drawing/2014/main" id="{AF6F8C48-9B72-D120-8EC8-3E83AD6836DC}"/>
                </a:ext>
              </a:extLst>
            </p:cNvPr>
            <p:cNvSpPr/>
            <p:nvPr/>
          </p:nvSpPr>
          <p:spPr>
            <a:xfrm>
              <a:off x="3280010" y="2188723"/>
              <a:ext cx="3299344" cy="4120002"/>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IT</a:t>
              </a:r>
              <a:r>
                <a:rPr kumimoji="1" lang="ja-JP" altLang="en-US" sz="1200" dirty="0">
                  <a:solidFill>
                    <a:schemeClr val="tx1"/>
                  </a:solidFill>
                  <a:latin typeface="Meiryo UI" panose="020B0604030504040204" pitchFamily="50" charset="-128"/>
                  <a:ea typeface="Meiryo UI" panose="020B0604030504040204" pitchFamily="50" charset="-128"/>
                </a:rPr>
                <a:t>運用を「人に依存する固定費・リスク」から「仕組みで統制された変動費・経営基盤」へ構造転換する</a:t>
              </a: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それにより社員の時間を守り、Vision2030「収益力強靭化」の成長投資へ振り向ける</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位置づけは運用改善ではなく、オペレーティングモデルの転換</a:t>
              </a:r>
            </a:p>
          </p:txBody>
        </p:sp>
        <p:grpSp>
          <p:nvGrpSpPr>
            <p:cNvPr id="19" name="グループ化 18">
              <a:extLst>
                <a:ext uri="{FF2B5EF4-FFF2-40B4-BE49-F238E27FC236}">
                  <a16:creationId xmlns:a16="http://schemas.microsoft.com/office/drawing/2014/main" id="{DB102967-9B2D-4FD4-5B55-C7723A7EDAD3}"/>
                </a:ext>
              </a:extLst>
            </p:cNvPr>
            <p:cNvGrpSpPr/>
            <p:nvPr/>
          </p:nvGrpSpPr>
          <p:grpSpPr>
            <a:xfrm>
              <a:off x="3280010" y="1628775"/>
              <a:ext cx="3299344" cy="369332"/>
              <a:chOff x="334963" y="1628775"/>
              <a:chExt cx="5761037" cy="369332"/>
            </a:xfrm>
          </p:grpSpPr>
          <p:cxnSp>
            <p:nvCxnSpPr>
              <p:cNvPr id="20" name="直線コネクタ 19">
                <a:extLst>
                  <a:ext uri="{FF2B5EF4-FFF2-40B4-BE49-F238E27FC236}">
                    <a16:creationId xmlns:a16="http://schemas.microsoft.com/office/drawing/2014/main" id="{AB1D1BA2-BCB0-B241-4F77-109488BE9B38}"/>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03930B1-4E1F-7F22-B0FB-533720D32DA4}"/>
                  </a:ext>
                </a:extLst>
              </p:cNvPr>
              <p:cNvSpPr txBox="1"/>
              <p:nvPr/>
            </p:nvSpPr>
            <p:spPr>
              <a:xfrm>
                <a:off x="334963" y="1628775"/>
                <a:ext cx="5761037" cy="369332"/>
              </a:xfrm>
              <a:prstGeom prst="rect">
                <a:avLst/>
              </a:prstGeom>
              <a:noFill/>
            </p:spPr>
            <p:txBody>
              <a:bodyPr wrap="square" rtlCol="0">
                <a:spAutoFit/>
              </a:bodyPr>
              <a:lstStyle/>
              <a:p>
                <a:pPr algn="ctr"/>
                <a:r>
                  <a:rPr lang="ja-JP" altLang="en-US" dirty="0"/>
                  <a:t>目的</a:t>
                </a:r>
                <a:endParaRPr kumimoji="1" lang="en-US" altLang="ja-JP" dirty="0"/>
              </a:p>
            </p:txBody>
          </p:sp>
        </p:grpSp>
      </p:grpSp>
      <p:grpSp>
        <p:nvGrpSpPr>
          <p:cNvPr id="48" name="グループ化 47">
            <a:extLst>
              <a:ext uri="{FF2B5EF4-FFF2-40B4-BE49-F238E27FC236}">
                <a16:creationId xmlns:a16="http://schemas.microsoft.com/office/drawing/2014/main" id="{A8365740-02ED-60B1-866B-2D093EA051B0}"/>
              </a:ext>
            </a:extLst>
          </p:cNvPr>
          <p:cNvGrpSpPr/>
          <p:nvPr/>
        </p:nvGrpSpPr>
        <p:grpSpPr>
          <a:xfrm>
            <a:off x="5165111" y="1628775"/>
            <a:ext cx="3420322" cy="4679950"/>
            <a:chOff x="7543535" y="1628775"/>
            <a:chExt cx="4253876" cy="4679950"/>
          </a:xfrm>
        </p:grpSpPr>
        <p:grpSp>
          <p:nvGrpSpPr>
            <p:cNvPr id="49" name="グループ化 48">
              <a:extLst>
                <a:ext uri="{FF2B5EF4-FFF2-40B4-BE49-F238E27FC236}">
                  <a16:creationId xmlns:a16="http://schemas.microsoft.com/office/drawing/2014/main" id="{79906258-E6A4-9DFD-EDBF-8D5718AB23C2}"/>
                </a:ext>
              </a:extLst>
            </p:cNvPr>
            <p:cNvGrpSpPr/>
            <p:nvPr/>
          </p:nvGrpSpPr>
          <p:grpSpPr>
            <a:xfrm>
              <a:off x="7543535" y="2188723"/>
              <a:ext cx="4253876" cy="4120002"/>
              <a:chOff x="7354111" y="1628775"/>
              <a:chExt cx="4502927" cy="4679950"/>
            </a:xfrm>
          </p:grpSpPr>
          <p:sp>
            <p:nvSpPr>
              <p:cNvPr id="53" name="正方形/長方形 52">
                <a:extLst>
                  <a:ext uri="{FF2B5EF4-FFF2-40B4-BE49-F238E27FC236}">
                    <a16:creationId xmlns:a16="http://schemas.microsoft.com/office/drawing/2014/main" id="{77B92D40-6DB3-F0A8-F1FB-A97F2DC3CA02}"/>
                  </a:ext>
                </a:extLst>
              </p:cNvPr>
              <p:cNvSpPr/>
              <p:nvPr/>
            </p:nvSpPr>
            <p:spPr>
              <a:xfrm>
                <a:off x="7354111" y="1628775"/>
                <a:ext cx="4502927" cy="97326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ゴール</a:t>
                </a:r>
                <a:r>
                  <a:rPr kumimoji="1" lang="en-US" altLang="ja-JP" sz="1200" dirty="0">
                    <a:solidFill>
                      <a:schemeClr val="tx1"/>
                    </a:solidFill>
                    <a:latin typeface="Meiryo UI" panose="020B0604030504040204" pitchFamily="50" charset="-128"/>
                    <a:ea typeface="Meiryo UI" panose="020B0604030504040204" pitchFamily="50" charset="-128"/>
                  </a:rPr>
                  <a:t>1</a:t>
                </a:r>
                <a:r>
                  <a:rPr kumimoji="1" lang="ja-JP" altLang="en-US" sz="1200" dirty="0">
                    <a:solidFill>
                      <a:schemeClr val="tx1"/>
                    </a:solidFill>
                    <a:latin typeface="Meiryo UI" panose="020B0604030504040204" pitchFamily="50" charset="-128"/>
                    <a:ea typeface="Meiryo UI" panose="020B0604030504040204" pitchFamily="50" charset="-128"/>
                  </a:rPr>
                  <a:t>：持続可能な運用体制の確立</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kumimoji="1" lang="ja-JP" altLang="en-US" sz="1200" dirty="0">
                    <a:solidFill>
                      <a:schemeClr val="tx1"/>
                    </a:solidFill>
                    <a:latin typeface="Meiryo UI" panose="020B0604030504040204" pitchFamily="50" charset="-128"/>
                    <a:ea typeface="Meiryo UI" panose="020B0604030504040204" pitchFamily="50" charset="-128"/>
                  </a:rPr>
                  <a:t>特定個人依存業務を無くす（全業務の手順書化・複数名対応化）</a:t>
                </a:r>
              </a:p>
              <a:p>
                <a:r>
                  <a:rPr kumimoji="1" lang="ja-JP" altLang="en-US" sz="1200" dirty="0">
                    <a:solidFill>
                      <a:schemeClr val="tx1"/>
                    </a:solidFill>
                    <a:latin typeface="Meiryo UI" panose="020B0604030504040204" pitchFamily="50" charset="-128"/>
                    <a:ea typeface="Meiryo UI" panose="020B0604030504040204" pitchFamily="50" charset="-128"/>
                  </a:rPr>
                  <a:t>採用・育成への依存から脱却し、</a:t>
                </a:r>
                <a:r>
                  <a:rPr kumimoji="1" lang="en-US" altLang="ja-JP" sz="1200" dirty="0">
                    <a:solidFill>
                      <a:schemeClr val="tx1"/>
                    </a:solidFill>
                    <a:latin typeface="Meiryo UI" panose="020B0604030504040204" pitchFamily="50" charset="-128"/>
                    <a:ea typeface="Meiryo UI" panose="020B0604030504040204" pitchFamily="50" charset="-128"/>
                  </a:rPr>
                  <a:t>24</a:t>
                </a:r>
                <a:r>
                  <a:rPr kumimoji="1" lang="ja-JP" altLang="en-US" sz="1200" dirty="0">
                    <a:solidFill>
                      <a:schemeClr val="tx1"/>
                    </a:solidFill>
                    <a:latin typeface="Meiryo UI" panose="020B0604030504040204" pitchFamily="50" charset="-128"/>
                    <a:ea typeface="Meiryo UI" panose="020B0604030504040204" pitchFamily="50" charset="-128"/>
                  </a:rPr>
                  <a:t>時間</a:t>
                </a:r>
                <a:r>
                  <a:rPr kumimoji="1" lang="en-US" altLang="ja-JP" sz="1200" dirty="0">
                    <a:solidFill>
                      <a:schemeClr val="tx1"/>
                    </a:solidFill>
                    <a:latin typeface="Meiryo UI" panose="020B0604030504040204" pitchFamily="50" charset="-128"/>
                    <a:ea typeface="Meiryo UI" panose="020B0604030504040204" pitchFamily="50" charset="-128"/>
                  </a:rPr>
                  <a:t>365</a:t>
                </a:r>
                <a:r>
                  <a:rPr kumimoji="1" lang="ja-JP" altLang="en-US" sz="1200" dirty="0">
                    <a:solidFill>
                      <a:schemeClr val="tx1"/>
                    </a:solidFill>
                    <a:latin typeface="Meiryo UI" panose="020B0604030504040204" pitchFamily="50" charset="-128"/>
                    <a:ea typeface="Meiryo UI" panose="020B0604030504040204" pitchFamily="50" charset="-128"/>
                  </a:rPr>
                  <a:t>日・新領域対応可能な体制へ</a:t>
                </a:r>
              </a:p>
            </p:txBody>
          </p:sp>
          <p:sp>
            <p:nvSpPr>
              <p:cNvPr id="54" name="正方形/長方形 53">
                <a:extLst>
                  <a:ext uri="{FF2B5EF4-FFF2-40B4-BE49-F238E27FC236}">
                    <a16:creationId xmlns:a16="http://schemas.microsoft.com/office/drawing/2014/main" id="{F2834E72-FFF6-0C48-7023-DCC72A5945CE}"/>
                  </a:ext>
                </a:extLst>
              </p:cNvPr>
              <p:cNvSpPr/>
              <p:nvPr/>
            </p:nvSpPr>
            <p:spPr>
              <a:xfrm>
                <a:off x="7354111" y="2864338"/>
                <a:ext cx="4502927" cy="97326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ゴール</a:t>
                </a:r>
                <a:r>
                  <a:rPr kumimoji="1" lang="en-US" altLang="ja-JP" sz="1200" dirty="0">
                    <a:solidFill>
                      <a:schemeClr val="tx1"/>
                    </a:solidFill>
                    <a:latin typeface="Meiryo UI" panose="020B0604030504040204" pitchFamily="50" charset="-128"/>
                    <a:ea typeface="Meiryo UI" panose="020B0604030504040204" pitchFamily="50" charset="-128"/>
                  </a:rPr>
                  <a:t>2</a:t>
                </a:r>
                <a:r>
                  <a:rPr kumimoji="1" lang="ja-JP" altLang="en-US" sz="1200" dirty="0">
                    <a:solidFill>
                      <a:schemeClr val="tx1"/>
                    </a:solidFill>
                    <a:latin typeface="Meiryo UI" panose="020B0604030504040204" pitchFamily="50" charset="-128"/>
                    <a:ea typeface="Meiryo UI" panose="020B0604030504040204" pitchFamily="50" charset="-128"/>
                  </a:rPr>
                  <a:t>：運用コストの構造改革</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kumimoji="1" lang="ja-JP" altLang="en-US" sz="1200" dirty="0">
                    <a:solidFill>
                      <a:schemeClr val="tx1"/>
                    </a:solidFill>
                    <a:latin typeface="Meiryo UI" panose="020B0604030504040204" pitchFamily="50" charset="-128"/>
                    <a:ea typeface="Meiryo UI" panose="020B0604030504040204" pitchFamily="50" charset="-128"/>
                  </a:rPr>
                  <a:t>社員工数・手戻り含む</a:t>
                </a:r>
                <a:r>
                  <a:rPr kumimoji="1" lang="en-US" altLang="ja-JP" sz="1200" dirty="0">
                    <a:solidFill>
                      <a:schemeClr val="tx1"/>
                    </a:solidFill>
                    <a:latin typeface="Meiryo UI" panose="020B0604030504040204" pitchFamily="50" charset="-128"/>
                    <a:ea typeface="Meiryo UI" panose="020B0604030504040204" pitchFamily="50" charset="-128"/>
                  </a:rPr>
                  <a:t>TCO</a:t>
                </a:r>
                <a:r>
                  <a:rPr kumimoji="1" lang="ja-JP" altLang="en-US" sz="1200" dirty="0">
                    <a:solidFill>
                      <a:schemeClr val="tx1"/>
                    </a:solidFill>
                    <a:latin typeface="Meiryo UI" panose="020B0604030504040204" pitchFamily="50" charset="-128"/>
                    <a:ea typeface="Meiryo UI" panose="020B0604030504040204" pitchFamily="50" charset="-128"/>
                  </a:rPr>
                  <a:t>を可視化 → 固定費を変動費化 → 統合発注で総コスト◯</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削減</a:t>
                </a:r>
              </a:p>
            </p:txBody>
          </p:sp>
          <p:sp>
            <p:nvSpPr>
              <p:cNvPr id="55" name="正方形/長方形 54">
                <a:extLst>
                  <a:ext uri="{FF2B5EF4-FFF2-40B4-BE49-F238E27FC236}">
                    <a16:creationId xmlns:a16="http://schemas.microsoft.com/office/drawing/2014/main" id="{90CC9082-51EA-9E73-37B9-FFF57450645E}"/>
                  </a:ext>
                </a:extLst>
              </p:cNvPr>
              <p:cNvSpPr/>
              <p:nvPr/>
            </p:nvSpPr>
            <p:spPr>
              <a:xfrm>
                <a:off x="7354111" y="4099901"/>
                <a:ext cx="4502927" cy="97326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ゴール</a:t>
                </a:r>
                <a:r>
                  <a:rPr kumimoji="1" lang="en-US" altLang="ja-JP" sz="1200" dirty="0">
                    <a:solidFill>
                      <a:schemeClr val="tx1"/>
                    </a:solidFill>
                    <a:latin typeface="Meiryo UI" panose="020B0604030504040204" pitchFamily="50" charset="-128"/>
                    <a:ea typeface="Meiryo UI" panose="020B0604030504040204" pitchFamily="50" charset="-128"/>
                  </a:rPr>
                  <a:t>3</a:t>
                </a:r>
                <a:r>
                  <a:rPr kumimoji="1" lang="ja-JP" altLang="en-US" sz="1200" dirty="0">
                    <a:solidFill>
                      <a:schemeClr val="tx1"/>
                    </a:solidFill>
                    <a:latin typeface="Meiryo UI" panose="020B0604030504040204" pitchFamily="50" charset="-128"/>
                    <a:ea typeface="Meiryo UI" panose="020B0604030504040204" pitchFamily="50" charset="-128"/>
                  </a:rPr>
                  <a:t>：運用品質の統制力獲得</a:t>
                </a:r>
              </a:p>
              <a:p>
                <a:r>
                  <a:rPr kumimoji="1" lang="ja-JP" altLang="en-US" sz="1200" dirty="0">
                    <a:solidFill>
                      <a:schemeClr val="tx1"/>
                    </a:solidFill>
                    <a:latin typeface="Meiryo UI" panose="020B0604030504040204" pitchFamily="50" charset="-128"/>
                    <a:ea typeface="Meiryo UI" panose="020B0604030504040204" pitchFamily="50" charset="-128"/>
                  </a:rPr>
                  <a:t>全業務に</a:t>
                </a:r>
                <a:r>
                  <a:rPr kumimoji="1" lang="en-US" altLang="ja-JP" sz="1200" dirty="0">
                    <a:solidFill>
                      <a:schemeClr val="tx1"/>
                    </a:solidFill>
                    <a:latin typeface="Meiryo UI" panose="020B0604030504040204" pitchFamily="50" charset="-128"/>
                    <a:ea typeface="Meiryo UI" panose="020B0604030504040204" pitchFamily="50" charset="-128"/>
                  </a:rPr>
                  <a:t>SLA/KPI</a:t>
                </a:r>
                <a:r>
                  <a:rPr kumimoji="1" lang="ja-JP" altLang="en-US" sz="1200" dirty="0">
                    <a:solidFill>
                      <a:schemeClr val="tx1"/>
                    </a:solidFill>
                    <a:latin typeface="Meiryo UI" panose="020B0604030504040204" pitchFamily="50" charset="-128"/>
                    <a:ea typeface="Meiryo UI" panose="020B0604030504040204" pitchFamily="50" charset="-128"/>
                  </a:rPr>
                  <a:t>を設定し、インシデント件数・復旧時間を継続測定</a:t>
                </a:r>
              </a:p>
              <a:p>
                <a:r>
                  <a:rPr kumimoji="1" lang="ja-JP" altLang="en-US" sz="1200" dirty="0">
                    <a:solidFill>
                      <a:schemeClr val="tx1"/>
                    </a:solidFill>
                    <a:latin typeface="Meiryo UI" panose="020B0604030504040204" pitchFamily="50" charset="-128"/>
                    <a:ea typeface="Meiryo UI" panose="020B0604030504040204" pitchFamily="50" charset="-128"/>
                  </a:rPr>
                  <a:t>監査・セキュリティの証跡を仕組みで担保</a:t>
                </a:r>
              </a:p>
              <a:p>
                <a:r>
                  <a:rPr kumimoji="1" lang="ja-JP" altLang="en-US" sz="1200" dirty="0">
                    <a:solidFill>
                      <a:schemeClr val="tx1"/>
                    </a:solidFill>
                    <a:latin typeface="Meiryo UI" panose="020B0604030504040204" pitchFamily="50" charset="-128"/>
                    <a:ea typeface="Meiryo UI" panose="020B0604030504040204" pitchFamily="50" charset="-128"/>
                  </a:rPr>
                  <a:t>品質向上により、システムを利用する全社員の業務体験（UX）と生産性が向上（効果はデジ戦部に限らない）</a:t>
                </a:r>
              </a:p>
            </p:txBody>
          </p:sp>
          <p:sp>
            <p:nvSpPr>
              <p:cNvPr id="56" name="正方形/長方形 55">
                <a:extLst>
                  <a:ext uri="{FF2B5EF4-FFF2-40B4-BE49-F238E27FC236}">
                    <a16:creationId xmlns:a16="http://schemas.microsoft.com/office/drawing/2014/main" id="{75CB4272-19FD-EE51-D598-D36652B461E7}"/>
                  </a:ext>
                </a:extLst>
              </p:cNvPr>
              <p:cNvSpPr/>
              <p:nvPr/>
            </p:nvSpPr>
            <p:spPr>
              <a:xfrm>
                <a:off x="7354111" y="5335464"/>
                <a:ext cx="4502927" cy="97326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ja-JP" altLang="en-US" sz="1200" dirty="0">
                    <a:solidFill>
                      <a:schemeClr val="tx1"/>
                    </a:solidFill>
                    <a:latin typeface="Meiryo UI" panose="020B0604030504040204" pitchFamily="50" charset="-128"/>
                    <a:ea typeface="Meiryo UI" panose="020B0604030504040204" pitchFamily="50" charset="-128"/>
                  </a:rPr>
                  <a:t>ゴール</a:t>
                </a:r>
                <a:r>
                  <a:rPr kumimoji="1" lang="en-US" altLang="ja-JP" sz="1200" dirty="0">
                    <a:solidFill>
                      <a:schemeClr val="tx1"/>
                    </a:solidFill>
                    <a:latin typeface="Meiryo UI" panose="020B0604030504040204" pitchFamily="50" charset="-128"/>
                    <a:ea typeface="Meiryo UI" panose="020B0604030504040204" pitchFamily="50" charset="-128"/>
                  </a:rPr>
                  <a:t>4</a:t>
                </a:r>
                <a:r>
                  <a:rPr kumimoji="1" lang="ja-JP" altLang="en-US" sz="1200" dirty="0">
                    <a:solidFill>
                      <a:schemeClr val="tx1"/>
                    </a:solidFill>
                    <a:latin typeface="Meiryo UI" panose="020B0604030504040204" pitchFamily="50" charset="-128"/>
                    <a:ea typeface="Meiryo UI" panose="020B0604030504040204" pitchFamily="50" charset="-128"/>
                  </a:rPr>
                  <a:t>：社員の戦力シフト </a:t>
                </a:r>
              </a:p>
              <a:p>
                <a:r>
                  <a:rPr kumimoji="1" lang="ja-JP" altLang="en-US" sz="1200" dirty="0">
                    <a:solidFill>
                      <a:schemeClr val="tx1"/>
                    </a:solidFill>
                    <a:latin typeface="Meiryo UI" panose="020B0604030504040204" pitchFamily="50" charset="-128"/>
                    <a:ea typeface="Meiryo UI" panose="020B0604030504040204" pitchFamily="50" charset="-128"/>
                  </a:rPr>
                  <a:t>運用従事工数を◯%削減し企画業務へ再配置、過負荷を構造的に解消（創出工数は企画業務へ再配置し、人員削減は行わない）</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p>
              <a:p>
                <a:r>
                  <a:rPr kumimoji="1" lang="ja-JP" altLang="en-US" sz="1200" dirty="0">
                    <a:solidFill>
                      <a:schemeClr val="tx1"/>
                    </a:solidFill>
                    <a:latin typeface="Meiryo UI" panose="020B0604030504040204" pitchFamily="50" charset="-128"/>
                    <a:ea typeface="Meiryo UI" panose="020B0604030504040204" pitchFamily="50" charset="-128"/>
                  </a:rPr>
                  <a:t>ベンダ統制のマネジメント能力を組織に蓄積</a:t>
                </a:r>
              </a:p>
            </p:txBody>
          </p:sp>
        </p:grpSp>
        <p:grpSp>
          <p:nvGrpSpPr>
            <p:cNvPr id="50" name="グループ化 49">
              <a:extLst>
                <a:ext uri="{FF2B5EF4-FFF2-40B4-BE49-F238E27FC236}">
                  <a16:creationId xmlns:a16="http://schemas.microsoft.com/office/drawing/2014/main" id="{DC4771DC-D315-291E-6DA5-782F503F50FE}"/>
                </a:ext>
              </a:extLst>
            </p:cNvPr>
            <p:cNvGrpSpPr/>
            <p:nvPr/>
          </p:nvGrpSpPr>
          <p:grpSpPr>
            <a:xfrm>
              <a:off x="7543535" y="1628775"/>
              <a:ext cx="4253876" cy="369332"/>
              <a:chOff x="334963" y="1628775"/>
              <a:chExt cx="5761037" cy="369332"/>
            </a:xfrm>
          </p:grpSpPr>
          <p:cxnSp>
            <p:nvCxnSpPr>
              <p:cNvPr id="51" name="直線コネクタ 50">
                <a:extLst>
                  <a:ext uri="{FF2B5EF4-FFF2-40B4-BE49-F238E27FC236}">
                    <a16:creationId xmlns:a16="http://schemas.microsoft.com/office/drawing/2014/main" id="{43566535-2864-8E9A-6D67-0276EE6188C2}"/>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24FA5320-E732-22DB-621A-28950F84AABB}"/>
                  </a:ext>
                </a:extLst>
              </p:cNvPr>
              <p:cNvSpPr txBox="1"/>
              <p:nvPr/>
            </p:nvSpPr>
            <p:spPr>
              <a:xfrm>
                <a:off x="334963" y="1628775"/>
                <a:ext cx="5761037" cy="369332"/>
              </a:xfrm>
              <a:prstGeom prst="rect">
                <a:avLst/>
              </a:prstGeom>
              <a:noFill/>
            </p:spPr>
            <p:txBody>
              <a:bodyPr wrap="square" rtlCol="0">
                <a:spAutoFit/>
              </a:bodyPr>
              <a:lstStyle/>
              <a:p>
                <a:pPr algn="ctr"/>
                <a:r>
                  <a:rPr kumimoji="1" lang="ja-JP" altLang="en-US" dirty="0"/>
                  <a:t>ゴール</a:t>
                </a:r>
                <a:endParaRPr kumimoji="1" lang="en-US" altLang="ja-JP" dirty="0"/>
              </a:p>
            </p:txBody>
          </p:sp>
        </p:grpSp>
      </p:grpSp>
      <p:grpSp>
        <p:nvGrpSpPr>
          <p:cNvPr id="61" name="グループ化 60">
            <a:extLst>
              <a:ext uri="{FF2B5EF4-FFF2-40B4-BE49-F238E27FC236}">
                <a16:creationId xmlns:a16="http://schemas.microsoft.com/office/drawing/2014/main" id="{91F32AA7-0DF8-9F86-EA38-9B0B00E92D44}"/>
              </a:ext>
            </a:extLst>
          </p:cNvPr>
          <p:cNvGrpSpPr/>
          <p:nvPr/>
        </p:nvGrpSpPr>
        <p:grpSpPr>
          <a:xfrm>
            <a:off x="361428" y="1628775"/>
            <a:ext cx="2314378" cy="4679950"/>
            <a:chOff x="361428" y="1628775"/>
            <a:chExt cx="2314378" cy="4679950"/>
          </a:xfrm>
        </p:grpSpPr>
        <p:sp>
          <p:nvSpPr>
            <p:cNvPr id="57" name="正方形/長方形 56">
              <a:extLst>
                <a:ext uri="{FF2B5EF4-FFF2-40B4-BE49-F238E27FC236}">
                  <a16:creationId xmlns:a16="http://schemas.microsoft.com/office/drawing/2014/main" id="{7DA0F986-4A59-88B7-7EC8-5D60B7962337}"/>
                </a:ext>
              </a:extLst>
            </p:cNvPr>
            <p:cNvSpPr/>
            <p:nvPr/>
          </p:nvSpPr>
          <p:spPr>
            <a:xfrm>
              <a:off x="361428" y="2188723"/>
              <a:ext cx="2314378" cy="4120002"/>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供給は時間とともに確実に細る。「外部化するか否</a:t>
              </a:r>
              <a:r>
                <a:rPr lang="ja-JP" altLang="en-US" sz="1200" dirty="0">
                  <a:solidFill>
                    <a:schemeClr val="tx1"/>
                  </a:solidFill>
                  <a:latin typeface="Meiryo UI" panose="020B0604030504040204" pitchFamily="50" charset="-128"/>
                  <a:ea typeface="Meiryo UI" panose="020B0604030504040204" pitchFamily="50" charset="-128"/>
                </a:rPr>
                <a:t>か」ではなく「いつ外部化するか」の問題となっている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供給減 </a:t>
              </a:r>
              <a:r>
                <a:rPr kumimoji="1" lang="en-US" altLang="ja-JP" sz="1200" dirty="0">
                  <a:solidFill>
                    <a:schemeClr val="tx1"/>
                  </a:solidFill>
                  <a:latin typeface="Meiryo UI" panose="020B0604030504040204" pitchFamily="50" charset="-128"/>
                  <a:ea typeface="Meiryo UI" panose="020B0604030504040204" pitchFamily="50" charset="-128"/>
                </a:rPr>
                <a:t>× </a:t>
              </a:r>
              <a:r>
                <a:rPr kumimoji="1" lang="ja-JP" altLang="en-US" sz="1200" dirty="0">
                  <a:solidFill>
                    <a:schemeClr val="tx1"/>
                  </a:solidFill>
                  <a:latin typeface="Meiryo UI" panose="020B0604030504040204" pitchFamily="50" charset="-128"/>
                  <a:ea typeface="Meiryo UI" panose="020B0604030504040204" pitchFamily="50" charset="-128"/>
                </a:rPr>
                <a:t>需要増でギャップは拡大の一途。放置すれば歪みは加速度的に大きくなる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歪みのしわ寄せ先は「人材の持続性」と「成長投資の時間」。収益力強靭化の実行力そのものが毀損されている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内製・外注のいずれを選ぶにせよ、可視化と統制基盤の構築が全ての前提となる</a:t>
              </a:r>
            </a:p>
            <a:p>
              <a:pPr marL="171450" indent="-171450">
                <a:buFont typeface="Arial" panose="020B0604020202020204" pitchFamily="34" charset="0"/>
                <a:buChar char="•"/>
              </a:pPr>
              <a:endParaRPr kumimoji="1" lang="ja-JP" altLang="en-US"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ja-JP" altLang="en-US"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58" name="直線コネクタ 57">
              <a:extLst>
                <a:ext uri="{FF2B5EF4-FFF2-40B4-BE49-F238E27FC236}">
                  <a16:creationId xmlns:a16="http://schemas.microsoft.com/office/drawing/2014/main" id="{7E664B1D-E204-0873-603B-1B432F57BB59}"/>
                </a:ext>
              </a:extLst>
            </p:cNvPr>
            <p:cNvCxnSpPr/>
            <p:nvPr/>
          </p:nvCxnSpPr>
          <p:spPr>
            <a:xfrm>
              <a:off x="361428" y="1974715"/>
              <a:ext cx="2314378"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FB3AEC91-ADEF-182B-ADA1-1B6F0F0E2FC0}"/>
                </a:ext>
              </a:extLst>
            </p:cNvPr>
            <p:cNvSpPr txBox="1"/>
            <p:nvPr/>
          </p:nvSpPr>
          <p:spPr>
            <a:xfrm>
              <a:off x="361428" y="1628775"/>
              <a:ext cx="2314378" cy="369332"/>
            </a:xfrm>
            <a:prstGeom prst="rect">
              <a:avLst/>
            </a:prstGeom>
            <a:noFill/>
          </p:spPr>
          <p:txBody>
            <a:bodyPr wrap="square" rtlCol="0">
              <a:spAutoFit/>
            </a:bodyPr>
            <a:lstStyle/>
            <a:p>
              <a:pPr algn="ctr"/>
              <a:r>
                <a:rPr kumimoji="1" lang="ja-JP" altLang="en-US" dirty="0"/>
                <a:t>示唆</a:t>
              </a:r>
              <a:endParaRPr kumimoji="1" lang="en-US" altLang="ja-JP" dirty="0"/>
            </a:p>
          </p:txBody>
        </p:sp>
      </p:grpSp>
      <p:sp>
        <p:nvSpPr>
          <p:cNvPr id="62" name="正方形/長方形 61">
            <a:extLst>
              <a:ext uri="{FF2B5EF4-FFF2-40B4-BE49-F238E27FC236}">
                <a16:creationId xmlns:a16="http://schemas.microsoft.com/office/drawing/2014/main" id="{6ABB0405-FE2B-F69B-C8EA-5449118B5A2A}"/>
              </a:ext>
            </a:extLst>
          </p:cNvPr>
          <p:cNvSpPr/>
          <p:nvPr/>
        </p:nvSpPr>
        <p:spPr>
          <a:xfrm>
            <a:off x="7971183" y="0"/>
            <a:ext cx="3885855" cy="91439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具体的に、どのスコープを社員</a:t>
            </a:r>
            <a:r>
              <a:rPr kumimoji="1" lang="en-US" altLang="ja-JP" sz="1400" dirty="0">
                <a:solidFill>
                  <a:schemeClr val="tx1"/>
                </a:solidFill>
                <a:latin typeface="Meiryo UI" panose="020B0604030504040204" pitchFamily="50" charset="-128"/>
                <a:ea typeface="Meiryo UI" panose="020B0604030504040204" pitchFamily="50" charset="-128"/>
              </a:rPr>
              <a:t>/</a:t>
            </a:r>
            <a:r>
              <a:rPr kumimoji="1" lang="ja-JP" altLang="en-US" sz="1400" dirty="0">
                <a:solidFill>
                  <a:schemeClr val="tx1"/>
                </a:solidFill>
                <a:latin typeface="Meiryo UI" panose="020B0604030504040204" pitchFamily="50" charset="-128"/>
                <a:ea typeface="Meiryo UI" panose="020B0604030504040204" pitchFamily="50" charset="-128"/>
              </a:rPr>
              <a:t>ベンダーが行っておりその課題が解消されるか絵にしておいてもらえると</a:t>
            </a:r>
          </a:p>
        </p:txBody>
      </p:sp>
      <p:grpSp>
        <p:nvGrpSpPr>
          <p:cNvPr id="63" name="グループ化 62">
            <a:extLst>
              <a:ext uri="{FF2B5EF4-FFF2-40B4-BE49-F238E27FC236}">
                <a16:creationId xmlns:a16="http://schemas.microsoft.com/office/drawing/2014/main" id="{FF0F5A02-9557-3449-F9FA-962D74D31C8C}"/>
              </a:ext>
            </a:extLst>
          </p:cNvPr>
          <p:cNvGrpSpPr/>
          <p:nvPr/>
        </p:nvGrpSpPr>
        <p:grpSpPr>
          <a:xfrm>
            <a:off x="8882171" y="1628775"/>
            <a:ext cx="2969045" cy="4679950"/>
            <a:chOff x="7543535" y="1628775"/>
            <a:chExt cx="4253876" cy="4679950"/>
          </a:xfrm>
        </p:grpSpPr>
        <p:grpSp>
          <p:nvGrpSpPr>
            <p:cNvPr id="64" name="グループ化 63">
              <a:extLst>
                <a:ext uri="{FF2B5EF4-FFF2-40B4-BE49-F238E27FC236}">
                  <a16:creationId xmlns:a16="http://schemas.microsoft.com/office/drawing/2014/main" id="{5DE7375A-C1B7-E53A-C8FD-E5289D2F50D5}"/>
                </a:ext>
              </a:extLst>
            </p:cNvPr>
            <p:cNvGrpSpPr/>
            <p:nvPr/>
          </p:nvGrpSpPr>
          <p:grpSpPr>
            <a:xfrm>
              <a:off x="7543535" y="2188723"/>
              <a:ext cx="4253876" cy="4120002"/>
              <a:chOff x="7354111" y="1628775"/>
              <a:chExt cx="4502927" cy="4679950"/>
            </a:xfrm>
          </p:grpSpPr>
          <p:sp>
            <p:nvSpPr>
              <p:cNvPr id="68" name="正方形/長方形 67">
                <a:extLst>
                  <a:ext uri="{FF2B5EF4-FFF2-40B4-BE49-F238E27FC236}">
                    <a16:creationId xmlns:a16="http://schemas.microsoft.com/office/drawing/2014/main" id="{A0D41D97-ABAB-53E7-DC23-11B73F10EDE3}"/>
                  </a:ext>
                </a:extLst>
              </p:cNvPr>
              <p:cNvSpPr/>
              <p:nvPr/>
            </p:nvSpPr>
            <p:spPr>
              <a:xfrm>
                <a:off x="7354111" y="1628775"/>
                <a:ext cx="4502927" cy="973261"/>
              </a:xfrm>
              <a:prstGeom prst="rect">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100" dirty="0">
                    <a:solidFill>
                      <a:schemeClr val="tx1"/>
                    </a:solidFill>
                  </a:rPr>
                  <a:t>A. 現状維持</a:t>
                </a:r>
                <a:r>
                  <a:rPr lang="ja-JP" altLang="en-US" sz="1100" dirty="0">
                    <a:solidFill>
                      <a:schemeClr val="tx1"/>
                    </a:solidFill>
                  </a:rPr>
                  <a:t>（棄却）</a:t>
                </a:r>
                <a:endParaRPr lang="en-US" altLang="ja-JP" sz="1100" dirty="0">
                  <a:solidFill>
                    <a:schemeClr val="tx1"/>
                  </a:solidFill>
                </a:endParaRPr>
              </a:p>
              <a:p>
                <a:r>
                  <a:rPr lang="ja-JP" altLang="ja-JP" sz="1100" dirty="0">
                    <a:solidFill>
                      <a:schemeClr val="tx1"/>
                    </a:solidFill>
                  </a:rPr>
                  <a:t>需要+50%を現体制で吸収不能。過負荷の深刻化と管理コストの増大、11億円/日の障害エクスポージャを放置する意思決定に等しい（ゴール充足：G1✕ G2✕ G3✕ G4✕）</a:t>
                </a:r>
                <a:r>
                  <a:rPr lang="ja-JP" altLang="en-US" sz="1100" dirty="0">
                    <a:solidFill>
                      <a:schemeClr val="tx1"/>
                    </a:solidFill>
                  </a:rPr>
                  <a:t/>
                </a:r>
                <a:r>
                  <a:rPr lang="ja-JP" altLang="ja-JP" sz="1100" dirty="0">
                    <a:solidFill>
                      <a:schemeClr val="tx1"/>
                    </a:solidFill>
                  </a:rPr>
                  <a:t/>
                </a:r>
                <a:r>
                  <a:rPr lang="ja-JP" altLang="en-US" sz="1100" dirty="0">
                    <a:solidFill>
                      <a:schemeClr val="tx1"/>
                    </a:solidFill>
                  </a:rPr>
                  <a:t/>
                </a:r>
                <a:r>
                  <a:rPr lang="ja-JP" altLang="ja-JP" sz="1100" dirty="0">
                    <a:solidFill>
                      <a:schemeClr val="tx1"/>
                    </a:solidFill>
                  </a:rPr>
                  <a:t/>
                </a:r>
              </a:p>
            </p:txBody>
          </p:sp>
          <p:sp>
            <p:nvSpPr>
              <p:cNvPr id="69" name="正方形/長方形 68">
                <a:extLst>
                  <a:ext uri="{FF2B5EF4-FFF2-40B4-BE49-F238E27FC236}">
                    <a16:creationId xmlns:a16="http://schemas.microsoft.com/office/drawing/2014/main" id="{AFA6466F-566E-2611-A617-8F9F9BD2E0C0}"/>
                  </a:ext>
                </a:extLst>
              </p:cNvPr>
              <p:cNvSpPr/>
              <p:nvPr/>
            </p:nvSpPr>
            <p:spPr>
              <a:xfrm>
                <a:off x="7354111" y="2864338"/>
                <a:ext cx="4502927" cy="973261"/>
              </a:xfrm>
              <a:prstGeom prst="rect">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100" dirty="0">
                    <a:solidFill>
                      <a:schemeClr val="tx1"/>
                    </a:solidFill>
                  </a:rPr>
                  <a:t>B. 内製強化（内製増員・採用）（棄却）</a:t>
                </a:r>
                <a:r>
                  <a:rPr lang="ja-JP" altLang="en-US" sz="1100" dirty="0">
                    <a:solidFill>
                      <a:schemeClr val="tx1"/>
                    </a:solidFill>
                  </a:rPr>
                  <a:t/>
                </a:r>
                <a:r>
                  <a:rPr lang="ja-JP" altLang="ja-JP" sz="1100" dirty="0">
                    <a:solidFill>
                      <a:schemeClr val="tx1"/>
                    </a:solidFill>
                  </a:rPr>
                  <a:t/>
                </a:r>
                <a:endParaRPr lang="en-US" altLang="ja-JP" sz="1100" dirty="0">
                  <a:solidFill>
                    <a:schemeClr val="tx1"/>
                  </a:solidFill>
                </a:endParaRPr>
              </a:p>
              <a:p>
                <a:r>
                  <a:rPr lang="ja-JP" altLang="ja-JP" sz="1100" dirty="0">
                    <a:solidFill>
                      <a:schemeClr val="tx1"/>
                    </a:solidFill>
                  </a:rPr>
                  <a:t>運用人材は採っていない・採れない（IT人材は2030年に最大79万人不足）。仮に採れても1,500万円/名×人数×年数の育成投資が離職で消え、AI等の先端運用技術への投資・スキル保持も自社単独では構造的に不利（G1✕ G2✕ G3△ G4✕）。</a:t>
                </a:r>
                <a:r>
                  <a:rPr lang="en-US" altLang="ja-JP" sz="1100" dirty="0">
                    <a:solidFill>
                      <a:schemeClr val="tx1"/>
                    </a:solidFill>
                  </a:rPr>
                  <a:t/>
                </a:r>
                <a:r>
                  <a:rPr lang="ja-JP" altLang="en-US" sz="1100" dirty="0">
                    <a:solidFill>
                      <a:schemeClr val="tx1"/>
                    </a:solidFill>
                  </a:rPr>
                  <a:t/>
                </a:r>
                <a:r>
                  <a:rPr lang="en-US" altLang="ja-JP" sz="1100" dirty="0">
                    <a:solidFill>
                      <a:schemeClr val="tx1"/>
                    </a:solidFill>
                  </a:rPr>
                  <a:t/>
                </a:r>
                <a:r>
                  <a:rPr lang="ja-JP" altLang="en-US" sz="1100" dirty="0">
                    <a:solidFill>
                      <a:schemeClr val="tx1"/>
                    </a:solidFill>
                  </a:rPr>
                  <a:t/>
                </a:r>
                <a:r>
                  <a:rPr lang="ja-JP" altLang="ja-JP" sz="1100" dirty="0">
                    <a:solidFill>
                      <a:schemeClr val="tx1"/>
                    </a:solidFill>
                  </a:rPr>
                  <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C45FC4A5-92D9-9D6C-8437-4074DE070C0D}"/>
                  </a:ext>
                </a:extLst>
              </p:cNvPr>
              <p:cNvSpPr/>
              <p:nvPr/>
            </p:nvSpPr>
            <p:spPr>
              <a:xfrm>
                <a:off x="7354111" y="4099901"/>
                <a:ext cx="4502927" cy="973261"/>
              </a:xfrm>
              <a:prstGeom prst="rect">
                <a:avLst/>
              </a:prstGeom>
              <a:solidFill>
                <a:schemeClr val="bg1">
                  <a:lumMod val="7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100" dirty="0">
                    <a:solidFill>
                      <a:schemeClr val="tx1"/>
                    </a:solidFill>
                  </a:rPr>
                  <a:t>C. 単純アウトソーシング</a:t>
                </a:r>
                <a:r>
                  <a:rPr lang="ja-JP" altLang="en-US" sz="1100" dirty="0">
                    <a:solidFill>
                      <a:schemeClr val="tx1"/>
                    </a:solidFill>
                  </a:rPr>
                  <a:t>（棄却）</a:t>
                </a:r>
                <a:endParaRPr lang="en-US" altLang="ja-JP" sz="1100" dirty="0">
                  <a:solidFill>
                    <a:schemeClr val="tx1"/>
                  </a:solidFill>
                </a:endParaRPr>
              </a:p>
              <a:p>
                <a:r>
                  <a:rPr lang="ja-JP" altLang="ja-JP" sz="1100" dirty="0">
                    <a:solidFill>
                      <a:schemeClr val="tx1"/>
                    </a:solidFill>
                  </a:rPr>
                  <a:t>SLAも検収基準もないまま出せば、今のブラックボックスが社外で拡大再生産されるだけ。低品質の尻拭い工数は減らない（G1○ G2△ G3✕ G4△）。</a:t>
                </a:r>
              </a:p>
              <a:p>
                <a:endParaRPr kumimoji="1" lang="ja-JP" altLang="en-US" sz="8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58B939C6-C691-9317-86DF-CC49AED1FAAA}"/>
                  </a:ext>
                </a:extLst>
              </p:cNvPr>
              <p:cNvSpPr/>
              <p:nvPr/>
            </p:nvSpPr>
            <p:spPr>
              <a:xfrm>
                <a:off x="7354111" y="5335464"/>
                <a:ext cx="4502927" cy="97326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kumimoji="1" lang="en-US" altLang="ja-JP" sz="1100" dirty="0">
                    <a:solidFill>
                      <a:schemeClr val="tx1"/>
                    </a:solidFill>
                    <a:latin typeface="Meiryo UI" panose="020B0604030504040204" pitchFamily="50" charset="-128"/>
                    <a:ea typeface="Meiryo UI" panose="020B0604030504040204" pitchFamily="50" charset="-128"/>
                  </a:rPr>
                  <a:t>D. </a:t>
                </a:r>
                <a:r>
                  <a:rPr kumimoji="1" lang="ja-JP" altLang="en-US" sz="1100" dirty="0">
                    <a:solidFill>
                      <a:schemeClr val="tx1"/>
                    </a:solidFill>
                    <a:latin typeface="Meiryo UI" panose="020B0604030504040204" pitchFamily="50" charset="-128"/>
                    <a:ea typeface="Meiryo UI" panose="020B0604030504040204" pitchFamily="50" charset="-128"/>
                  </a:rPr>
                  <a:t>構造転換（本案）</a:t>
                </a:r>
                <a:endParaRPr kumimoji="1" lang="en-US" altLang="ja-JP" sz="1100" dirty="0">
                  <a:solidFill>
                    <a:schemeClr val="tx1"/>
                  </a:solidFill>
                  <a:latin typeface="Meiryo UI" panose="020B0604030504040204" pitchFamily="50" charset="-128"/>
                  <a:ea typeface="Meiryo UI" panose="020B0604030504040204" pitchFamily="50" charset="-128"/>
                </a:endParaRPr>
              </a:p>
              <a:p>
                <a:r>
                  <a:rPr kumimoji="1" lang="ja-JP" altLang="en-US" sz="1100" dirty="0">
                    <a:solidFill>
                      <a:schemeClr val="tx1"/>
                    </a:solidFill>
                    <a:latin typeface="Meiryo UI" panose="020B0604030504040204" pitchFamily="50" charset="-128"/>
                    <a:ea typeface="Meiryo UI" panose="020B0604030504040204" pitchFamily="50" charset="-128"/>
                  </a:rPr>
                  <a:t>実行は外部へ、品質・コストを統制する力はグループ会社LEB（当社シェアードサービス会社）に集約して残す（新会社の設立は不要）。Aの放置コストもBの採用依存もCの丸投げリスクも同時に解消する唯一の構成（G1○ G2○ G3○ G4○）</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p:txBody>
          </p:sp>
        </p:grpSp>
        <p:grpSp>
          <p:nvGrpSpPr>
            <p:cNvPr id="65" name="グループ化 64">
              <a:extLst>
                <a:ext uri="{FF2B5EF4-FFF2-40B4-BE49-F238E27FC236}">
                  <a16:creationId xmlns:a16="http://schemas.microsoft.com/office/drawing/2014/main" id="{5F208FB9-A4A7-A49F-706F-2B06A35044E7}"/>
                </a:ext>
              </a:extLst>
            </p:cNvPr>
            <p:cNvGrpSpPr/>
            <p:nvPr/>
          </p:nvGrpSpPr>
          <p:grpSpPr>
            <a:xfrm>
              <a:off x="7543535" y="1628775"/>
              <a:ext cx="4253876" cy="369332"/>
              <a:chOff x="334963" y="1628775"/>
              <a:chExt cx="5761037" cy="369332"/>
            </a:xfrm>
          </p:grpSpPr>
          <p:cxnSp>
            <p:nvCxnSpPr>
              <p:cNvPr id="66" name="直線コネクタ 65">
                <a:extLst>
                  <a:ext uri="{FF2B5EF4-FFF2-40B4-BE49-F238E27FC236}">
                    <a16:creationId xmlns:a16="http://schemas.microsoft.com/office/drawing/2014/main" id="{380100DC-04B3-B5EA-7D56-CC995B7763B1}"/>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9276DE23-D16B-FCB0-E202-83AB415F6B63}"/>
                  </a:ext>
                </a:extLst>
              </p:cNvPr>
              <p:cNvSpPr txBox="1"/>
              <p:nvPr/>
            </p:nvSpPr>
            <p:spPr>
              <a:xfrm>
                <a:off x="334963" y="1628775"/>
                <a:ext cx="5761037" cy="369332"/>
              </a:xfrm>
              <a:prstGeom prst="rect">
                <a:avLst/>
              </a:prstGeom>
              <a:noFill/>
            </p:spPr>
            <p:txBody>
              <a:bodyPr wrap="square" rtlCol="0">
                <a:spAutoFit/>
              </a:bodyPr>
              <a:lstStyle/>
              <a:p>
                <a:pPr algn="ctr"/>
                <a:r>
                  <a:rPr kumimoji="1" lang="ja-JP" altLang="en-US" dirty="0"/>
                  <a:t>選択肢</a:t>
                </a:r>
                <a:endParaRPr kumimoji="1" lang="en-US" altLang="ja-JP" dirty="0"/>
              </a:p>
            </p:txBody>
          </p:sp>
        </p:grpSp>
      </p:grpSp>
    </p:spTree>
    <p:extLst>
      <p:ext uri="{BB962C8B-B14F-4D97-AF65-F5344CB8AC3E}">
        <p14:creationId xmlns:p14="http://schemas.microsoft.com/office/powerpoint/2010/main" val="594745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F8381B-B80F-E0A7-D88C-4BF144045799}"/>
              </a:ext>
            </a:extLst>
          </p:cNvPr>
          <p:cNvSpPr>
            <a:spLocks noGrp="1"/>
          </p:cNvSpPr>
          <p:nvPr>
            <p:ph type="title"/>
          </p:nvPr>
        </p:nvSpPr>
        <p:spPr/>
        <p:txBody>
          <a:bodyPr/>
          <a:lstStyle/>
          <a:p>
            <a:r>
              <a:rPr lang="ja-JP" altLang="en-US" dirty="0"/>
              <a:t>構造転換の実行手段</a:t>
            </a:r>
            <a:endParaRPr kumimoji="1" lang="ja-JP" altLang="en-US" dirty="0"/>
          </a:p>
        </p:txBody>
      </p:sp>
      <p:sp>
        <p:nvSpPr>
          <p:cNvPr id="3" name="テキスト プレースホルダー 2">
            <a:extLst>
              <a:ext uri="{FF2B5EF4-FFF2-40B4-BE49-F238E27FC236}">
                <a16:creationId xmlns:a16="http://schemas.microsoft.com/office/drawing/2014/main" id="{C81F31E0-468F-BE7C-DC28-649C2A3E1ADD}"/>
              </a:ext>
            </a:extLst>
          </p:cNvPr>
          <p:cNvSpPr>
            <a:spLocks noGrp="1"/>
          </p:cNvSpPr>
          <p:nvPr>
            <p:ph type="body" sz="quarter" idx="13"/>
          </p:nvPr>
        </p:nvSpPr>
        <p:spPr/>
        <p:txBody>
          <a:bodyPr/>
          <a:lstStyle/>
          <a:p>
            <a:r>
              <a:rPr kumimoji="1" lang="ja-JP" altLang="en-US" sz="1800" dirty="0"/>
              <a:t>実行は外部へ、統制はLEBへ — 3階層それぞれの役割と、それを実現する5つの手段</a:t>
            </a:r>
            <a:r>
              <a:rPr kumimoji="1" lang="en-US" altLang="ja-JP" sz="1800" dirty="0"/>
              <a:t/>
            </a:r>
            <a:r>
              <a:rPr kumimoji="1" lang="ja-JP" altLang="en-US" sz="1800" dirty="0"/>
              <a:t/>
            </a:r>
          </a:p>
        </p:txBody>
      </p:sp>
      <p:grpSp>
        <p:nvGrpSpPr>
          <p:cNvPr id="17" name="グループ化 16">
            <a:extLst>
              <a:ext uri="{FF2B5EF4-FFF2-40B4-BE49-F238E27FC236}">
                <a16:creationId xmlns:a16="http://schemas.microsoft.com/office/drawing/2014/main" id="{225AB070-5113-9352-997D-57946BAAB7F7}"/>
              </a:ext>
            </a:extLst>
          </p:cNvPr>
          <p:cNvGrpSpPr/>
          <p:nvPr/>
        </p:nvGrpSpPr>
        <p:grpSpPr>
          <a:xfrm>
            <a:off x="3651402" y="1628775"/>
            <a:ext cx="8205635" cy="4679951"/>
            <a:chOff x="5117482" y="1628775"/>
            <a:chExt cx="6739555" cy="4679951"/>
          </a:xfrm>
        </p:grpSpPr>
        <p:grpSp>
          <p:nvGrpSpPr>
            <p:cNvPr id="8" name="グループ化 7">
              <a:extLst>
                <a:ext uri="{FF2B5EF4-FFF2-40B4-BE49-F238E27FC236}">
                  <a16:creationId xmlns:a16="http://schemas.microsoft.com/office/drawing/2014/main" id="{6E36133E-493C-7DB1-C5A6-1B4AEC114E97}"/>
                </a:ext>
              </a:extLst>
            </p:cNvPr>
            <p:cNvGrpSpPr/>
            <p:nvPr/>
          </p:nvGrpSpPr>
          <p:grpSpPr>
            <a:xfrm>
              <a:off x="5117482" y="1628775"/>
              <a:ext cx="6739555" cy="369332"/>
              <a:chOff x="334963" y="1628775"/>
              <a:chExt cx="5761037" cy="369332"/>
            </a:xfrm>
          </p:grpSpPr>
          <p:cxnSp>
            <p:nvCxnSpPr>
              <p:cNvPr id="9" name="直線コネクタ 8">
                <a:extLst>
                  <a:ext uri="{FF2B5EF4-FFF2-40B4-BE49-F238E27FC236}">
                    <a16:creationId xmlns:a16="http://schemas.microsoft.com/office/drawing/2014/main" id="{9CA94733-87C4-1D6F-D779-8DA56973BC77}"/>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8D38CEF3-173C-980E-FDB2-1F3BA3716EB0}"/>
                  </a:ext>
                </a:extLst>
              </p:cNvPr>
              <p:cNvSpPr txBox="1"/>
              <p:nvPr/>
            </p:nvSpPr>
            <p:spPr>
              <a:xfrm>
                <a:off x="334963" y="1628775"/>
                <a:ext cx="5761037" cy="369332"/>
              </a:xfrm>
              <a:prstGeom prst="rect">
                <a:avLst/>
              </a:prstGeom>
              <a:noFill/>
            </p:spPr>
            <p:txBody>
              <a:bodyPr wrap="square" rtlCol="0">
                <a:spAutoFit/>
              </a:bodyPr>
              <a:lstStyle/>
              <a:p>
                <a:pPr algn="ctr"/>
                <a:r>
                  <a:rPr kumimoji="1" lang="ja-JP" altLang="en-US" dirty="0"/>
                  <a:t>実行手段</a:t>
                </a:r>
                <a:endParaRPr kumimoji="1" lang="en-US" altLang="ja-JP" dirty="0"/>
              </a:p>
            </p:txBody>
          </p:sp>
        </p:grpSp>
        <p:grpSp>
          <p:nvGrpSpPr>
            <p:cNvPr id="16" name="グループ化 15">
              <a:extLst>
                <a:ext uri="{FF2B5EF4-FFF2-40B4-BE49-F238E27FC236}">
                  <a16:creationId xmlns:a16="http://schemas.microsoft.com/office/drawing/2014/main" id="{627D7F1C-9868-502A-5865-0AF2F2C3850B}"/>
                </a:ext>
              </a:extLst>
            </p:cNvPr>
            <p:cNvGrpSpPr/>
            <p:nvPr/>
          </p:nvGrpSpPr>
          <p:grpSpPr>
            <a:xfrm>
              <a:off x="5117482" y="2188724"/>
              <a:ext cx="6739555" cy="4120002"/>
              <a:chOff x="5117482" y="2188723"/>
              <a:chExt cx="6739555" cy="4414221"/>
            </a:xfrm>
          </p:grpSpPr>
          <p:sp>
            <p:nvSpPr>
              <p:cNvPr id="11" name="正方形/長方形 10">
                <a:extLst>
                  <a:ext uri="{FF2B5EF4-FFF2-40B4-BE49-F238E27FC236}">
                    <a16:creationId xmlns:a16="http://schemas.microsoft.com/office/drawing/2014/main" id="{319ADAA8-18EE-0714-A3D3-5C6EF90B10AF}"/>
                  </a:ext>
                </a:extLst>
              </p:cNvPr>
              <p:cNvSpPr/>
              <p:nvPr/>
            </p:nvSpPr>
            <p:spPr>
              <a:xfrm>
                <a:off x="5117482" y="2188723"/>
                <a:ext cx="6739555" cy="726258"/>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r>
                  <a:rPr lang="ja-JP" altLang="ja-JP" sz="1100" dirty="0">
                    <a:solidFill>
                      <a:schemeClr val="tx1"/>
                    </a:solidFill>
                  </a:rPr>
                  <a:t>手段①：SIAM型統合アウトソーシング（→ゴール1・2）</a:t>
                </a:r>
              </a:p>
              <a:p>
                <a:pPr lvl="1"/>
                <a:r>
                  <a:rPr lang="ja-JP" altLang="ja-JP" sz="1100" dirty="0">
                    <a:solidFill>
                      <a:schemeClr val="tx1"/>
                    </a:solidFill>
                  </a:rPr>
                  <a:t>複数ベンダに分散した運用を統合発注に集約し、責任分界を再設計</a:t>
                </a:r>
              </a:p>
              <a:p>
                <a:pPr lvl="1"/>
                <a:r>
                  <a:rPr lang="ja-JP" altLang="ja-JP" sz="1100" dirty="0">
                    <a:solidFill>
                      <a:schemeClr val="tx1"/>
                    </a:solidFill>
                  </a:rPr>
                  <a:t>実行層はL1/L2/L3の作業難易度別に適正配置し、単価を最適化（L1：定型・監視の一次対応／L2：原因調査・復旧／L3：高度分析・重大障害・自動化推進）</a:t>
                </a:r>
              </a:p>
              <a:p>
                <a:pPr lvl="1"/>
                <a:r>
                  <a:rPr lang="ja-JP" altLang="ja-JP" sz="1100" dirty="0">
                    <a:solidFill>
                      <a:schemeClr val="tx1"/>
                    </a:solidFill>
                  </a:rPr>
                  <a:t>全ベンダ交代はしない。評価の高い現行ベンダは実行層の一部として残置し、移管リスクを抑制</a:t>
                </a:r>
              </a:p>
            </p:txBody>
          </p:sp>
          <p:sp>
            <p:nvSpPr>
              <p:cNvPr id="12" name="正方形/長方形 11">
                <a:extLst>
                  <a:ext uri="{FF2B5EF4-FFF2-40B4-BE49-F238E27FC236}">
                    <a16:creationId xmlns:a16="http://schemas.microsoft.com/office/drawing/2014/main" id="{FDE38E02-8C56-9C71-68A7-0795B5DA6EB4}"/>
                  </a:ext>
                </a:extLst>
              </p:cNvPr>
              <p:cNvSpPr/>
              <p:nvPr/>
            </p:nvSpPr>
            <p:spPr>
              <a:xfrm>
                <a:off x="5117482" y="3110714"/>
                <a:ext cx="6739555" cy="726258"/>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r>
                  <a:rPr lang="ja-JP" altLang="ja-JP" sz="1100" dirty="0">
                    <a:solidFill>
                      <a:schemeClr val="tx1"/>
                    </a:solidFill>
                  </a:rPr>
                  <a:t>手段②：LEBへのベンダ統制機能の移管（→ゴール2・3・4）</a:t>
                </a:r>
              </a:p>
              <a:p>
                <a:pPr lvl="1"/>
                <a:r>
                  <a:rPr lang="ja-JP" altLang="ja-JP" sz="1100" dirty="0">
                    <a:solidFill>
                      <a:schemeClr val="tx1"/>
                    </a:solidFill>
                  </a:rPr>
                  <a:t>LEBをSIAM運営主体とし、SLA/KPI監視・品質検収・請求査定・日常のベンダ折衝を集約</a:t>
                </a:r>
              </a:p>
              <a:p>
                <a:pPr lvl="1"/>
                <a:r>
                  <a:rPr lang="ja-JP" altLang="ja-JP" sz="1100" dirty="0">
                    <a:solidFill>
                      <a:schemeClr val="tx1"/>
                    </a:solidFill>
                  </a:rPr>
                  <a:t>本体−LEB間もSLA・レポーティングラインを契約的に設計（二重ブラックボックス化の防止）</a:t>
                </a:r>
              </a:p>
            </p:txBody>
          </p:sp>
          <p:sp>
            <p:nvSpPr>
              <p:cNvPr id="13" name="正方形/長方形 12">
                <a:extLst>
                  <a:ext uri="{FF2B5EF4-FFF2-40B4-BE49-F238E27FC236}">
                    <a16:creationId xmlns:a16="http://schemas.microsoft.com/office/drawing/2014/main" id="{3242D0F9-ACF6-A624-FC1B-C5937D76EF89}"/>
                  </a:ext>
                </a:extLst>
              </p:cNvPr>
              <p:cNvSpPr/>
              <p:nvPr/>
            </p:nvSpPr>
            <p:spPr>
              <a:xfrm>
                <a:off x="5117482" y="4032704"/>
                <a:ext cx="6739555" cy="726258"/>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r>
                  <a:rPr lang="ja-JP" altLang="ja-JP" sz="1100" dirty="0">
                    <a:solidFill>
                      <a:schemeClr val="tx1"/>
                    </a:solidFill>
                  </a:rPr>
                  <a:t>手段③：標準化・ドキュメント化（→ゴール1）</a:t>
                </a:r>
              </a:p>
              <a:p>
                <a:pPr lvl="1"/>
                <a:r>
                  <a:rPr lang="ja-JP" altLang="ja-JP" sz="1100" dirty="0">
                    <a:solidFill>
                      <a:schemeClr val="tx1"/>
                    </a:solidFill>
                  </a:rPr>
                  <a:t>全業務の手順書化・運用フロー整備。成果物のIP（知的財産権）は当社帰属とし、ベンダ交代の自由度を確保</a:t>
                </a:r>
              </a:p>
              <a:p>
                <a:pPr lvl="1"/>
                <a:r>
                  <a:rPr lang="ja-JP" altLang="ja-JP" sz="1100" dirty="0">
                    <a:solidFill>
                      <a:schemeClr val="tx1"/>
                    </a:solidFill>
                  </a:rPr>
                  <a:t>「第三者が手順書のみで対応できるか」の引き継ぎ試験で属人化解消を判定</a:t>
                </a:r>
              </a:p>
            </p:txBody>
          </p:sp>
          <p:sp>
            <p:nvSpPr>
              <p:cNvPr id="14" name="正方形/長方形 13">
                <a:extLst>
                  <a:ext uri="{FF2B5EF4-FFF2-40B4-BE49-F238E27FC236}">
                    <a16:creationId xmlns:a16="http://schemas.microsoft.com/office/drawing/2014/main" id="{1C3939F6-6123-A97C-C8E8-5AB04610F239}"/>
                  </a:ext>
                </a:extLst>
              </p:cNvPr>
              <p:cNvSpPr/>
              <p:nvPr/>
            </p:nvSpPr>
            <p:spPr>
              <a:xfrm>
                <a:off x="5117482" y="4954695"/>
                <a:ext cx="6739555" cy="726258"/>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r>
                  <a:rPr lang="ja-JP" altLang="ja-JP" sz="1100" dirty="0">
                    <a:solidFill>
                      <a:schemeClr val="tx1"/>
                    </a:solidFill>
                  </a:rPr>
                  <a:t>手段④：SLA/KPIベースの契約設計（→ゴール2・3）</a:t>
                </a:r>
              </a:p>
              <a:p>
                <a:pPr lvl="1"/>
                <a:r>
                  <a:rPr lang="ja-JP" altLang="ja-JP" sz="1100" dirty="0">
                    <a:solidFill>
                      <a:schemeClr val="tx1"/>
                    </a:solidFill>
                  </a:rPr>
                  <a:t>品質基準・未達時の是正/減額（クレジット）を契約に明記し、ベンダ品質を契約で強制できる状態にする（現在のディレクション工数肩代わりの根治策）</a:t>
                </a:r>
              </a:p>
              <a:p>
                <a:pPr lvl="1"/>
                <a:r>
                  <a:rPr lang="ja-JP" altLang="ja-JP" sz="1100" dirty="0">
                    <a:solidFill>
                      <a:schemeClr val="tx1"/>
                    </a:solidFill>
                  </a:rPr>
                  <a:t>移管期＝準委任 → 安定運用期＝SLA型 → 成熟期＝成果連動、と契約を段階進化</a:t>
                </a:r>
              </a:p>
            </p:txBody>
          </p:sp>
          <p:sp>
            <p:nvSpPr>
              <p:cNvPr id="15" name="正方形/長方形 14">
                <a:extLst>
                  <a:ext uri="{FF2B5EF4-FFF2-40B4-BE49-F238E27FC236}">
                    <a16:creationId xmlns:a16="http://schemas.microsoft.com/office/drawing/2014/main" id="{D383C5BD-84A6-23E3-D666-CC9B81EE8078}"/>
                  </a:ext>
                </a:extLst>
              </p:cNvPr>
              <p:cNvSpPr/>
              <p:nvPr/>
            </p:nvSpPr>
            <p:spPr>
              <a:xfrm>
                <a:off x="5117482" y="5876686"/>
                <a:ext cx="6739555" cy="726258"/>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lvl="0"/>
                <a:r>
                  <a:rPr lang="ja-JP" altLang="ja-JP" sz="1100" dirty="0">
                    <a:solidFill>
                      <a:schemeClr val="tx1"/>
                    </a:solidFill>
                  </a:rPr>
                  <a:t>手段⑤：AI・自動化ツールの適用（→ゴール2）</a:t>
                </a:r>
              </a:p>
              <a:p>
                <a:pPr lvl="1"/>
                <a:r>
                  <a:rPr lang="ja-JP" altLang="ja-JP" sz="1100" dirty="0">
                    <a:solidFill>
                      <a:schemeClr val="tx1"/>
                    </a:solidFill>
                  </a:rPr>
                  <a:t>定型監視・問い合わせ一次対応を自動化。効果は工数減として料金に反映させる（ゲインシェア）</a:t>
                </a:r>
              </a:p>
              <a:p>
                <a:pPr lvl="1"/>
                <a:r>
                  <a:rPr lang="ja-JP" altLang="ja-JP" sz="1100" dirty="0">
                    <a:solidFill>
                      <a:schemeClr val="tx1"/>
                    </a:solidFill>
                  </a:rPr>
                  <a:t>到達点は人がほとんど介在しない運用（NoOps）。手順化・標準化した業務から順次、機械化・自動化へ引き上げる</a:t>
                </a:r>
              </a:p>
            </p:txBody>
          </p:sp>
        </p:grpSp>
      </p:grpSp>
      <p:grpSp>
        <p:nvGrpSpPr>
          <p:cNvPr id="45" name="グループ化 44">
            <a:extLst>
              <a:ext uri="{FF2B5EF4-FFF2-40B4-BE49-F238E27FC236}">
                <a16:creationId xmlns:a16="http://schemas.microsoft.com/office/drawing/2014/main" id="{AEC0D1E3-8BA4-7103-453D-E7849311C049}"/>
              </a:ext>
            </a:extLst>
          </p:cNvPr>
          <p:cNvGrpSpPr/>
          <p:nvPr/>
        </p:nvGrpSpPr>
        <p:grpSpPr>
          <a:xfrm>
            <a:off x="427478" y="1628775"/>
            <a:ext cx="3074199" cy="4679950"/>
            <a:chOff x="7576785" y="1628775"/>
            <a:chExt cx="3299344" cy="4679950"/>
          </a:xfrm>
        </p:grpSpPr>
        <p:sp>
          <p:nvSpPr>
            <p:cNvPr id="41" name="正方形/長方形 40">
              <a:extLst>
                <a:ext uri="{FF2B5EF4-FFF2-40B4-BE49-F238E27FC236}">
                  <a16:creationId xmlns:a16="http://schemas.microsoft.com/office/drawing/2014/main" id="{177E16A1-C6A5-5821-29E9-2B9E890C77A6}"/>
                </a:ext>
              </a:extLst>
            </p:cNvPr>
            <p:cNvSpPr/>
            <p:nvPr/>
          </p:nvSpPr>
          <p:spPr>
            <a:xfrm>
              <a:off x="7576785" y="2188723"/>
              <a:ext cx="3299344" cy="4120002"/>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デジタル戦略部＝戦略機能</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628650" lvl="1" indent="-1714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IT</a:t>
              </a:r>
              <a:r>
                <a:rPr kumimoji="1" lang="ja-JP" altLang="en-US" sz="1200" dirty="0">
                  <a:solidFill>
                    <a:schemeClr val="tx1"/>
                  </a:solidFill>
                  <a:latin typeface="Meiryo UI" panose="020B0604030504040204" pitchFamily="50" charset="-128"/>
                  <a:ea typeface="Meiryo UI" panose="020B0604030504040204" pitchFamily="50" charset="-128"/>
                </a:rPr>
                <a:t>戦略・投資判断・需要管理・ベンダ選定の最終決定・</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への目標設定（</a:t>
              </a:r>
              <a:r>
                <a:rPr lang="en-US" altLang="ja-JP" sz="1200" dirty="0">
                  <a:solidFill>
                    <a:schemeClr val="tx1"/>
                  </a:solidFill>
                  <a:latin typeface="Meiryo UI" panose="020B0604030504040204" pitchFamily="50" charset="-128"/>
                  <a:ea typeface="Meiryo UI" panose="020B0604030504040204" pitchFamily="50" charset="-128"/>
                </a:rPr>
                <a:t>Quality</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/Cost</a:t>
              </a:r>
              <a:r>
                <a:rPr lang="ja-JP" altLang="en-US" sz="1200" dirty="0">
                  <a:solidFill>
                    <a:schemeClr val="tx1"/>
                  </a:solidFill>
                  <a:latin typeface="Meiryo UI" panose="020B0604030504040204" pitchFamily="50" charset="-128"/>
                  <a:ea typeface="Meiryo UI" panose="020B0604030504040204" pitchFamily="50" charset="-128"/>
                </a:rPr>
                <a:t>↓</a:t>
              </a:r>
              <a:r>
                <a:rPr lang="en-US" altLang="ja-JP" sz="1200" dirty="0">
                  <a:solidFill>
                    <a:schemeClr val="tx1"/>
                  </a:solidFill>
                  <a:latin typeface="Meiryo UI" panose="020B0604030504040204" pitchFamily="50" charset="-128"/>
                  <a:ea typeface="Meiryo UI" panose="020B0604030504040204" pitchFamily="50" charset="-128"/>
                </a:rPr>
                <a:t>/Delivery</a:t>
              </a:r>
              <a:r>
                <a:rPr lang="ja-JP" altLang="en-US"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LEB＝統制機能（既存会社を活用・新設なし）</a:t>
              </a:r>
              <a:r>
                <a:rPr kumimoji="1" lang="ja-JP" altLang="en-US" sz="1200" dirty="0">
                  <a:solidFill>
                    <a:schemeClr val="tx1"/>
                  </a:solidFill>
                  <a:latin typeface="Meiryo UI" panose="020B0604030504040204" pitchFamily="50" charset="-128"/>
                  <a:ea typeface="Meiryo UI" panose="020B0604030504040204" pitchFamily="50" charset="-128"/>
                </a:rPr>
                <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628650" lvl="1" indent="-1714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SIAM</a:t>
              </a:r>
              <a:r>
                <a:rPr kumimoji="1" lang="ja-JP" altLang="en-US" sz="1200" dirty="0">
                  <a:solidFill>
                    <a:schemeClr val="tx1"/>
                  </a:solidFill>
                  <a:latin typeface="Meiryo UI" panose="020B0604030504040204" pitchFamily="50" charset="-128"/>
                  <a:ea typeface="Meiryo UI" panose="020B0604030504040204" pitchFamily="50" charset="-128"/>
                </a:rPr>
                <a:t>運営主体として、ベンダ管理・</a:t>
              </a:r>
              <a:r>
                <a:rPr kumimoji="1" lang="en-US" altLang="ja-JP" sz="1200" dirty="0">
                  <a:solidFill>
                    <a:schemeClr val="tx1"/>
                  </a:solidFill>
                  <a:latin typeface="Meiryo UI" panose="020B0604030504040204" pitchFamily="50" charset="-128"/>
                  <a:ea typeface="Meiryo UI" panose="020B0604030504040204" pitchFamily="50" charset="-128"/>
                </a:rPr>
                <a:t>SLA/KPI</a:t>
              </a:r>
              <a:r>
                <a:rPr kumimoji="1" lang="ja-JP" altLang="en-US" sz="1200" dirty="0">
                  <a:solidFill>
                    <a:schemeClr val="tx1"/>
                  </a:solidFill>
                  <a:latin typeface="Meiryo UI" panose="020B0604030504040204" pitchFamily="50" charset="-128"/>
                  <a:ea typeface="Meiryo UI" panose="020B0604030504040204" pitchFamily="50" charset="-128"/>
                </a:rPr>
                <a:t>監視・コスト管理・品質検収・日常のベンダ折衝を担う</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628650" lvl="1" indent="-1714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※LEBの現行実行業務（端末管理等）はNTTDへ移管し、実行から統制へ役割転換</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外部ベンダ＝実行機能</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628650" lvl="1"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定常運用・開発・保守・監視・問い合わせ対応（</a:t>
              </a:r>
              <a:r>
                <a:rPr kumimoji="1" lang="en-US" altLang="ja-JP" sz="1200" dirty="0">
                  <a:solidFill>
                    <a:schemeClr val="tx1"/>
                  </a:solidFill>
                  <a:latin typeface="Meiryo UI" panose="020B0604030504040204" pitchFamily="50" charset="-128"/>
                  <a:ea typeface="Meiryo UI" panose="020B0604030504040204" pitchFamily="50" charset="-128"/>
                </a:rPr>
                <a:t>24</a:t>
              </a:r>
              <a:r>
                <a:rPr kumimoji="1" lang="ja-JP" altLang="en-US" sz="1200" dirty="0">
                  <a:solidFill>
                    <a:schemeClr val="tx1"/>
                  </a:solidFill>
                  <a:latin typeface="Meiryo UI" panose="020B0604030504040204" pitchFamily="50" charset="-128"/>
                  <a:ea typeface="Meiryo UI" panose="020B0604030504040204" pitchFamily="50" charset="-128"/>
                </a:rPr>
                <a:t>時間</a:t>
              </a:r>
              <a:r>
                <a:rPr kumimoji="1" lang="en-US" altLang="ja-JP" sz="1200" dirty="0">
                  <a:solidFill>
                    <a:schemeClr val="tx1"/>
                  </a:solidFill>
                  <a:latin typeface="Meiryo UI" panose="020B0604030504040204" pitchFamily="50" charset="-128"/>
                  <a:ea typeface="Meiryo UI" panose="020B0604030504040204" pitchFamily="50" charset="-128"/>
                </a:rPr>
                <a:t>365</a:t>
              </a:r>
              <a:r>
                <a:rPr kumimoji="1" lang="ja-JP" altLang="en-US" sz="1200" dirty="0">
                  <a:solidFill>
                    <a:schemeClr val="tx1"/>
                  </a:solidFill>
                  <a:latin typeface="Meiryo UI" panose="020B0604030504040204" pitchFamily="50" charset="-128"/>
                  <a:ea typeface="Meiryo UI" panose="020B0604030504040204" pitchFamily="50" charset="-128"/>
                </a:rPr>
                <a:t>日）</a:t>
              </a:r>
              <a:endParaRPr kumimoji="1" lang="en-US" altLang="ja-JP" sz="1200" dirty="0">
                <a:solidFill>
                  <a:schemeClr val="tx1"/>
                </a:solidFill>
                <a:latin typeface="Meiryo UI" panose="020B0604030504040204" pitchFamily="50" charset="-128"/>
                <a:ea typeface="Meiryo UI" panose="020B0604030504040204" pitchFamily="50" charset="-128"/>
              </a:endParaRPr>
            </a:p>
            <a:p>
              <a:endParaRPr lang="en-US" altLang="ja-JP" sz="1200" dirty="0">
                <a:solidFill>
                  <a:schemeClr val="tx1"/>
                </a:solidFill>
                <a:latin typeface="Meiryo UI" panose="020B0604030504040204" pitchFamily="50" charset="-128"/>
                <a:ea typeface="Meiryo UI" panose="020B0604030504040204" pitchFamily="50" charset="-128"/>
              </a:endParaRPr>
            </a:p>
            <a:p>
              <a:r>
                <a:rPr lang="en-US" altLang="ja-JP" sz="1200" dirty="0">
                  <a:solidFill>
                    <a:schemeClr val="tx1"/>
                  </a:solidFill>
                  <a:latin typeface="Meiryo UI" panose="020B0604030504040204" pitchFamily="50" charset="-128"/>
                  <a:ea typeface="Meiryo UI" panose="020B0604030504040204" pitchFamily="50" charset="-128"/>
                </a:rPr>
                <a:t>【LEBに統制を置く戦略的意義】</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endParaRPr kumimoji="1" lang="ja-JP" altLang="en-US"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統制の実務まで本体から切り離し、社員シフトを徹底できる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本体より軽いコスト構造＋委託費のグループ内還流</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統制ノウハウをグループ内に保持し、ベンダ交渉力と切替自由度を維持</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将来のグループ他社・海外展開でスケールメリットが拡大</a:t>
              </a:r>
            </a:p>
          </p:txBody>
        </p:sp>
        <p:grpSp>
          <p:nvGrpSpPr>
            <p:cNvPr id="42" name="グループ化 41">
              <a:extLst>
                <a:ext uri="{FF2B5EF4-FFF2-40B4-BE49-F238E27FC236}">
                  <a16:creationId xmlns:a16="http://schemas.microsoft.com/office/drawing/2014/main" id="{4A96583E-7001-C062-0770-C213C4812E36}"/>
                </a:ext>
              </a:extLst>
            </p:cNvPr>
            <p:cNvGrpSpPr/>
            <p:nvPr/>
          </p:nvGrpSpPr>
          <p:grpSpPr>
            <a:xfrm>
              <a:off x="7576785" y="1628775"/>
              <a:ext cx="3299344" cy="369332"/>
              <a:chOff x="334963" y="1628775"/>
              <a:chExt cx="5761037" cy="369332"/>
            </a:xfrm>
          </p:grpSpPr>
          <p:cxnSp>
            <p:nvCxnSpPr>
              <p:cNvPr id="43" name="直線コネクタ 42">
                <a:extLst>
                  <a:ext uri="{FF2B5EF4-FFF2-40B4-BE49-F238E27FC236}">
                    <a16:creationId xmlns:a16="http://schemas.microsoft.com/office/drawing/2014/main" id="{22C5DABD-22D2-1902-74A1-F6F961FE4E0C}"/>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714256E2-2B4A-24DC-6738-077A0BBEF6CE}"/>
                  </a:ext>
                </a:extLst>
              </p:cNvPr>
              <p:cNvSpPr txBox="1"/>
              <p:nvPr/>
            </p:nvSpPr>
            <p:spPr>
              <a:xfrm>
                <a:off x="334963" y="1628775"/>
                <a:ext cx="5761037" cy="369332"/>
              </a:xfrm>
              <a:prstGeom prst="rect">
                <a:avLst/>
              </a:prstGeom>
              <a:noFill/>
            </p:spPr>
            <p:txBody>
              <a:bodyPr wrap="square" rtlCol="0">
                <a:spAutoFit/>
              </a:bodyPr>
              <a:lstStyle/>
              <a:p>
                <a:pPr algn="ctr"/>
                <a:r>
                  <a:rPr lang="ja-JP" altLang="en-US" dirty="0"/>
                  <a:t>目指す姿</a:t>
                </a:r>
                <a:endParaRPr kumimoji="1" lang="en-US" altLang="ja-JP" dirty="0"/>
              </a:p>
            </p:txBody>
          </p:sp>
        </p:grpSp>
      </p:grpSp>
      <p:sp>
        <p:nvSpPr>
          <p:cNvPr id="4" name="正方形/長方形 3">
            <a:extLst>
              <a:ext uri="{FF2B5EF4-FFF2-40B4-BE49-F238E27FC236}">
                <a16:creationId xmlns:a16="http://schemas.microsoft.com/office/drawing/2014/main" id="{C17F88F4-9F43-E9E1-ADB9-25E1C1B4A579}"/>
              </a:ext>
            </a:extLst>
          </p:cNvPr>
          <p:cNvSpPr/>
          <p:nvPr/>
        </p:nvSpPr>
        <p:spPr>
          <a:xfrm>
            <a:off x="3998069" y="165370"/>
            <a:ext cx="6585626" cy="642026"/>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L1,L2</a:t>
            </a:r>
            <a:r>
              <a:rPr kumimoji="1" lang="ja-JP" altLang="en-US" sz="1400" dirty="0">
                <a:solidFill>
                  <a:schemeClr val="tx1"/>
                </a:solidFill>
                <a:latin typeface="Meiryo UI" panose="020B0604030504040204" pitchFamily="50" charset="-128"/>
                <a:ea typeface="Meiryo UI" panose="020B0604030504040204" pitchFamily="50" charset="-128"/>
              </a:rPr>
              <a:t>、</a:t>
            </a:r>
            <a:r>
              <a:rPr kumimoji="1" lang="en-US" altLang="ja-JP" sz="1400" dirty="0">
                <a:solidFill>
                  <a:schemeClr val="tx1"/>
                </a:solidFill>
                <a:latin typeface="Meiryo UI" panose="020B0604030504040204" pitchFamily="50" charset="-128"/>
                <a:ea typeface="Meiryo UI" panose="020B0604030504040204" pitchFamily="50" charset="-128"/>
              </a:rPr>
              <a:t>L3</a:t>
            </a:r>
            <a:r>
              <a:rPr kumimoji="1" lang="ja-JP" altLang="en-US" sz="1400" dirty="0">
                <a:solidFill>
                  <a:schemeClr val="tx1"/>
                </a:solidFill>
                <a:latin typeface="Meiryo UI" panose="020B0604030504040204" pitchFamily="50" charset="-128"/>
                <a:ea typeface="Meiryo UI" panose="020B0604030504040204" pitchFamily="50" charset="-128"/>
              </a:rPr>
              <a:t>の定義を記載</a:t>
            </a:r>
            <a:endParaRPr kumimoji="1" lang="en-US" altLang="ja-JP" sz="1400" dirty="0">
              <a:solidFill>
                <a:schemeClr val="tx1"/>
              </a:solidFill>
              <a:latin typeface="Meiryo UI" panose="020B0604030504040204" pitchFamily="50" charset="-128"/>
              <a:ea typeface="Meiryo UI" panose="020B0604030504040204" pitchFamily="50" charset="-128"/>
            </a:endParaRPr>
          </a:p>
          <a:p>
            <a:pPr algn="ctr"/>
            <a:r>
              <a:rPr lang="ja-JP" altLang="en-US" sz="1400" dirty="0">
                <a:solidFill>
                  <a:schemeClr val="tx1"/>
                </a:solidFill>
                <a:latin typeface="Meiryo UI" panose="020B0604030504040204" pitchFamily="50" charset="-128"/>
                <a:ea typeface="Meiryo UI" panose="020B0604030504040204" pitchFamily="50" charset="-128"/>
              </a:rPr>
              <a:t>体系化してフレームワークかし、</a:t>
            </a:r>
            <a:r>
              <a:rPr lang="en-US" altLang="ja-JP" sz="1400" dirty="0">
                <a:solidFill>
                  <a:schemeClr val="tx1"/>
                </a:solidFill>
                <a:latin typeface="Meiryo UI" panose="020B0604030504040204" pitchFamily="50" charset="-128"/>
                <a:ea typeface="Meiryo UI" panose="020B0604030504040204" pitchFamily="50" charset="-128"/>
              </a:rPr>
              <a:t>QCD</a:t>
            </a:r>
            <a:r>
              <a:rPr lang="ja-JP" altLang="en-US" sz="1400" dirty="0">
                <a:solidFill>
                  <a:schemeClr val="tx1"/>
                </a:solidFill>
                <a:latin typeface="Meiryo UI" panose="020B0604030504040204" pitchFamily="50" charset="-128"/>
                <a:ea typeface="Meiryo UI" panose="020B0604030504040204" pitchFamily="50" charset="-128"/>
              </a:rPr>
              <a:t>でリプレースできる仕組みを作る</a:t>
            </a:r>
            <a:endParaRPr lang="en-US" altLang="ja-JP" sz="1400" dirty="0">
              <a:solidFill>
                <a:schemeClr val="tx1"/>
              </a:solidFill>
              <a:latin typeface="Meiryo UI" panose="020B0604030504040204" pitchFamily="50" charset="-128"/>
              <a:ea typeface="Meiryo UI" panose="020B0604030504040204" pitchFamily="50" charset="-128"/>
            </a:endParaRPr>
          </a:p>
          <a:p>
            <a:pPr algn="ctr"/>
            <a:r>
              <a:rPr lang="ja-JP" altLang="en-US" sz="1400" dirty="0">
                <a:solidFill>
                  <a:schemeClr val="tx1"/>
                </a:solidFill>
                <a:latin typeface="Meiryo UI" panose="020B0604030504040204" pitchFamily="50" charset="-128"/>
                <a:ea typeface="Meiryo UI" panose="020B0604030504040204" pitchFamily="50" charset="-128"/>
              </a:rPr>
              <a:t>メリットとして、ユーザー側</a:t>
            </a:r>
            <a:r>
              <a:rPr kumimoji="1" lang="ja-JP" altLang="en-US" sz="1400" dirty="0">
                <a:solidFill>
                  <a:schemeClr val="tx1"/>
                </a:solidFill>
                <a:latin typeface="Meiryo UI" panose="020B0604030504040204" pitchFamily="50" charset="-128"/>
                <a:ea typeface="Meiryo UI" panose="020B0604030504040204" pitchFamily="50" charset="-128"/>
              </a:rPr>
              <a:t>のサービス品質が良くなる（</a:t>
            </a:r>
            <a:r>
              <a:rPr kumimoji="1" lang="en-US" altLang="ja-JP" sz="1400" dirty="0">
                <a:solidFill>
                  <a:schemeClr val="tx1"/>
                </a:solidFill>
                <a:latin typeface="Meiryo UI" panose="020B0604030504040204" pitchFamily="50" charset="-128"/>
                <a:ea typeface="Meiryo UI" panose="020B0604030504040204" pitchFamily="50" charset="-128"/>
              </a:rPr>
              <a:t>UX</a:t>
            </a:r>
            <a:r>
              <a:rPr kumimoji="1" lang="ja-JP" altLang="en-US" sz="1400" dirty="0">
                <a:solidFill>
                  <a:schemeClr val="tx1"/>
                </a:solidFill>
                <a:latin typeface="Meiryo UI" panose="020B0604030504040204" pitchFamily="50" charset="-128"/>
                <a:ea typeface="Meiryo UI" panose="020B0604030504040204" pitchFamily="50" charset="-128"/>
              </a:rPr>
              <a:t>が良くなる</a:t>
            </a:r>
            <a:r>
              <a:rPr kumimoji="1" lang="en-US" altLang="ja-JP" sz="1400" dirty="0">
                <a:solidFill>
                  <a:schemeClr val="tx1"/>
                </a:solidFill>
                <a:latin typeface="Meiryo UI" panose="020B0604030504040204" pitchFamily="50" charset="-128"/>
                <a:ea typeface="Meiryo UI" panose="020B0604030504040204" pitchFamily="50" charset="-128"/>
              </a:rPr>
              <a:t>※</a:t>
            </a:r>
            <a:r>
              <a:rPr kumimoji="1" lang="ja-JP" altLang="en-US" sz="1400" dirty="0">
                <a:solidFill>
                  <a:schemeClr val="tx1"/>
                </a:solidFill>
                <a:latin typeface="Meiryo UI" panose="020B0604030504040204" pitchFamily="50" charset="-128"/>
                <a:ea typeface="Meiryo UI" panose="020B0604030504040204" pitchFamily="50" charset="-128"/>
              </a:rPr>
              <a:t>デジ戦だけでない）</a:t>
            </a:r>
          </a:p>
        </p:txBody>
      </p:sp>
    </p:spTree>
    <p:extLst>
      <p:ext uri="{BB962C8B-B14F-4D97-AF65-F5344CB8AC3E}">
        <p14:creationId xmlns:p14="http://schemas.microsoft.com/office/powerpoint/2010/main" val="3129322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87AA0C-42BF-67CB-E101-FF0D06C171CF}"/>
              </a:ext>
            </a:extLst>
          </p:cNvPr>
          <p:cNvSpPr>
            <a:spLocks noGrp="1"/>
          </p:cNvSpPr>
          <p:nvPr>
            <p:ph type="title"/>
          </p:nvPr>
        </p:nvSpPr>
        <p:spPr/>
        <p:txBody>
          <a:bodyPr/>
          <a:lstStyle/>
          <a:p>
            <a:r>
              <a:rPr lang="ja-JP" altLang="en-US" dirty="0"/>
              <a:t>進め方</a:t>
            </a:r>
            <a:br>
              <a:rPr lang="en-US" altLang="ja-JP" dirty="0"/>
            </a:br>
            <a:r>
              <a:rPr lang="ja-JP" altLang="en-US" dirty="0"/>
              <a:t>一括契約ではなく、意思決定ゲートで段階コミット</a:t>
            </a:r>
            <a:endParaRPr kumimoji="1" lang="ja-JP" altLang="en-US" dirty="0"/>
          </a:p>
        </p:txBody>
      </p:sp>
      <p:sp>
        <p:nvSpPr>
          <p:cNvPr id="3" name="テキスト プレースホルダー 2">
            <a:extLst>
              <a:ext uri="{FF2B5EF4-FFF2-40B4-BE49-F238E27FC236}">
                <a16:creationId xmlns:a16="http://schemas.microsoft.com/office/drawing/2014/main" id="{5E0ACB9E-6EE5-1784-F7AB-9BFCAEEB4B00}"/>
              </a:ext>
            </a:extLst>
          </p:cNvPr>
          <p:cNvSpPr>
            <a:spLocks noGrp="1"/>
          </p:cNvSpPr>
          <p:nvPr>
            <p:ph type="body" sz="quarter" idx="13"/>
          </p:nvPr>
        </p:nvSpPr>
        <p:spPr/>
        <p:txBody>
          <a:bodyPr/>
          <a:lstStyle/>
          <a:p>
            <a:r>
              <a:rPr lang="ja-JP" altLang="ja-JP" sz="1800" dirty="0"/>
              <a:t>一括契約ではなく、可視化（Phase 0）から始めて経営会議・投資委員会・切替判定など5つのゲートで「進む/直す/止める」を判断できる段階コミット設計移管の完了判定基準は当社/LEBが握り、品質未達のままの切替は行わない</a:t>
            </a:r>
            <a:endParaRPr kumimoji="1" lang="ja-JP" altLang="en-US" sz="1800" dirty="0"/>
          </a:p>
        </p:txBody>
      </p:sp>
      <p:sp>
        <p:nvSpPr>
          <p:cNvPr id="4" name="正方形/長方形 3">
            <a:extLst>
              <a:ext uri="{FF2B5EF4-FFF2-40B4-BE49-F238E27FC236}">
                <a16:creationId xmlns:a16="http://schemas.microsoft.com/office/drawing/2014/main" id="{C8D0780B-C35E-336B-93AD-E47C51652F43}"/>
              </a:ext>
            </a:extLst>
          </p:cNvPr>
          <p:cNvSpPr/>
          <p:nvPr/>
        </p:nvSpPr>
        <p:spPr>
          <a:xfrm>
            <a:off x="334964" y="2071991"/>
            <a:ext cx="5511360" cy="4236734"/>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Phase 0</a:t>
            </a:r>
            <a:r>
              <a:rPr kumimoji="1" lang="ja-JP" altLang="en-US" sz="1200" dirty="0">
                <a:solidFill>
                  <a:schemeClr val="tx1"/>
                </a:solidFill>
                <a:latin typeface="Meiryo UI" panose="020B0604030504040204" pitchFamily="50" charset="-128"/>
                <a:ea typeface="Meiryo UI" panose="020B0604030504040204" pitchFamily="50" charset="-128"/>
              </a:rPr>
              <a:t>：可視化・アセスメント（</a:t>
            </a:r>
            <a:r>
              <a:rPr kumimoji="1" lang="en-US" altLang="ja-JP" sz="1200" dirty="0">
                <a:solidFill>
                  <a:schemeClr val="tx1"/>
                </a:solidFill>
                <a:latin typeface="Meiryo UI" panose="020B0604030504040204" pitchFamily="50" charset="-128"/>
                <a:ea typeface="Meiryo UI" panose="020B0604030504040204" pitchFamily="50" charset="-128"/>
              </a:rPr>
              <a:t>8〜10</a:t>
            </a:r>
            <a:r>
              <a:rPr kumimoji="1" lang="ja-JP" altLang="en-US" sz="1200" dirty="0">
                <a:solidFill>
                  <a:schemeClr val="tx1"/>
                </a:solidFill>
                <a:latin typeface="Meiryo UI" panose="020B0604030504040204" pitchFamily="50" charset="-128"/>
                <a:ea typeface="Meiryo UI" panose="020B0604030504040204" pitchFamily="50" charset="-128"/>
              </a:rPr>
              <a:t>月）</a:t>
            </a: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業務棚卸し・工数実測（</a:t>
            </a:r>
            <a:r>
              <a:rPr kumimoji="1" lang="en-US" altLang="ja-JP" sz="1200" dirty="0">
                <a:solidFill>
                  <a:schemeClr val="tx1"/>
                </a:solidFill>
                <a:latin typeface="Meiryo UI" panose="020B0604030504040204" pitchFamily="50" charset="-128"/>
                <a:ea typeface="Meiryo UI" panose="020B0604030504040204" pitchFamily="50" charset="-128"/>
              </a:rPr>
              <a:t>4</a:t>
            </a:r>
            <a:r>
              <a:rPr kumimoji="1" lang="ja-JP" altLang="en-US" sz="1200" dirty="0">
                <a:solidFill>
                  <a:schemeClr val="tx1"/>
                </a:solidFill>
                <a:latin typeface="Meiryo UI" panose="020B0604030504040204" pitchFamily="50" charset="-128"/>
                <a:ea typeface="Meiryo UI" panose="020B0604030504040204" pitchFamily="50" charset="-128"/>
              </a:rPr>
              <a:t>週間）、</a:t>
            </a:r>
            <a:r>
              <a:rPr kumimoji="1" lang="en-US" altLang="ja-JP" sz="1200" dirty="0">
                <a:solidFill>
                  <a:schemeClr val="tx1"/>
                </a:solidFill>
                <a:latin typeface="Meiryo UI" panose="020B0604030504040204" pitchFamily="50" charset="-128"/>
                <a:ea typeface="Meiryo UI" panose="020B0604030504040204" pitchFamily="50" charset="-128"/>
              </a:rPr>
              <a:t>TCO</a:t>
            </a:r>
            <a:r>
              <a:rPr kumimoji="1" lang="ja-JP" altLang="en-US" sz="1200" dirty="0">
                <a:solidFill>
                  <a:schemeClr val="tx1"/>
                </a:solidFill>
                <a:latin typeface="Meiryo UI" panose="020B0604030504040204" pitchFamily="50" charset="-128"/>
                <a:ea typeface="Meiryo UI" panose="020B0604030504040204" pitchFamily="50" charset="-128"/>
              </a:rPr>
              <a:t>確定、属人化リスク格付け、データ分類（オフショア可否）、</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能力評価</a:t>
            </a: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成果物＝ベースライン合意書。以後の削減効果は全てこの数字から測る</a:t>
            </a: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現行運用の品質実態も本フェーズで可視化し、「品質向上」の効果はベースライン実測に基づき評価</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経営会議（</a:t>
            </a:r>
            <a:r>
              <a:rPr kumimoji="1" lang="en-US" altLang="ja-JP" sz="1200" dirty="0">
                <a:solidFill>
                  <a:schemeClr val="tx1"/>
                </a:solidFill>
                <a:latin typeface="Meiryo UI" panose="020B0604030504040204" pitchFamily="50" charset="-128"/>
                <a:ea typeface="Meiryo UI" panose="020B0604030504040204" pitchFamily="50" charset="-128"/>
              </a:rPr>
              <a:t>9</a:t>
            </a:r>
            <a:r>
              <a:rPr kumimoji="1" lang="ja-JP" altLang="en-US" sz="1200" dirty="0">
                <a:solidFill>
                  <a:schemeClr val="tx1"/>
                </a:solidFill>
                <a:latin typeface="Meiryo UI" panose="020B0604030504040204" pitchFamily="50" charset="-128"/>
                <a:ea typeface="Meiryo UI" panose="020B0604030504040204" pitchFamily="50" charset="-128"/>
              </a:rPr>
              <a:t>月）：方針承認</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Phase 0</a:t>
            </a:r>
            <a:r>
              <a:rPr kumimoji="1" lang="ja-JP" altLang="en-US" sz="1200" dirty="0">
                <a:solidFill>
                  <a:schemeClr val="tx1"/>
                </a:solidFill>
                <a:latin typeface="Meiryo UI" panose="020B0604030504040204" pitchFamily="50" charset="-128"/>
                <a:ea typeface="Meiryo UI" panose="020B0604030504040204" pitchFamily="50" charset="-128"/>
              </a:rPr>
              <a:t>中間報告と価値の主軸（</a:t>
            </a:r>
            <a:r>
              <a:rPr kumimoji="1" lang="en-US" altLang="ja-JP" sz="1200" dirty="0">
                <a:solidFill>
                  <a:schemeClr val="tx1"/>
                </a:solidFill>
                <a:latin typeface="Meiryo UI" panose="020B0604030504040204" pitchFamily="50" charset="-128"/>
                <a:ea typeface="Meiryo UI" panose="020B0604030504040204" pitchFamily="50" charset="-128"/>
              </a:rPr>
              <a:t>FTE</a:t>
            </a:r>
            <a:r>
              <a:rPr kumimoji="1" lang="ja-JP" altLang="en-US" sz="1200" dirty="0">
                <a:solidFill>
                  <a:schemeClr val="tx1"/>
                </a:solidFill>
                <a:latin typeface="Meiryo UI" panose="020B0604030504040204" pitchFamily="50" charset="-128"/>
                <a:ea typeface="Meiryo UI" panose="020B0604030504040204" pitchFamily="50" charset="-128"/>
              </a:rPr>
              <a:t>創出＋リスク解消）を付議</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投資委員会（</a:t>
            </a:r>
            <a:r>
              <a:rPr kumimoji="1" lang="en-US" altLang="ja-JP" sz="1200" dirty="0">
                <a:solidFill>
                  <a:schemeClr val="tx1"/>
                </a:solidFill>
                <a:latin typeface="Meiryo UI" panose="020B0604030504040204" pitchFamily="50" charset="-128"/>
                <a:ea typeface="Meiryo UI" panose="020B0604030504040204" pitchFamily="50" charset="-128"/>
              </a:rPr>
              <a:t>10</a:t>
            </a:r>
            <a:r>
              <a:rPr kumimoji="1" lang="ja-JP" altLang="en-US" sz="1200" dirty="0">
                <a:solidFill>
                  <a:schemeClr val="tx1"/>
                </a:solidFill>
                <a:latin typeface="Meiryo UI" panose="020B0604030504040204" pitchFamily="50" charset="-128"/>
                <a:ea typeface="Meiryo UI" panose="020B0604030504040204" pitchFamily="50" charset="-128"/>
              </a:rPr>
              <a:t>月）：投資承認</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正式見積をベースラインと照合・査定した上で判断</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契約締結（</a:t>
            </a:r>
            <a:r>
              <a:rPr kumimoji="1" lang="en-US" altLang="ja-JP" sz="1200" dirty="0">
                <a:solidFill>
                  <a:schemeClr val="tx1"/>
                </a:solidFill>
                <a:latin typeface="Meiryo UI" panose="020B0604030504040204" pitchFamily="50" charset="-128"/>
                <a:ea typeface="Meiryo UI" panose="020B0604030504040204" pitchFamily="50" charset="-128"/>
              </a:rPr>
              <a:t>10</a:t>
            </a:r>
            <a:r>
              <a:rPr kumimoji="1" lang="ja-JP" altLang="en-US" sz="1200" dirty="0">
                <a:solidFill>
                  <a:schemeClr val="tx1"/>
                </a:solidFill>
                <a:latin typeface="Meiryo UI" panose="020B0604030504040204" pitchFamily="50" charset="-128"/>
                <a:ea typeface="Meiryo UI" panose="020B0604030504040204" pitchFamily="50" charset="-128"/>
              </a:rPr>
              <a:t>月末）：必須条項</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a:t>
            </a:r>
            <a:r>
              <a:rPr kumimoji="1" lang="en-US" altLang="ja-JP" sz="1200" dirty="0">
                <a:solidFill>
                  <a:schemeClr val="tx1"/>
                </a:solidFill>
                <a:latin typeface="Meiryo UI" panose="020B0604030504040204" pitchFamily="50" charset="-128"/>
                <a:ea typeface="Meiryo UI" panose="020B0604030504040204" pitchFamily="50" charset="-128"/>
              </a:rPr>
              <a:t>SLA/</a:t>
            </a:r>
            <a:r>
              <a:rPr kumimoji="1" lang="ja-JP" altLang="en-US" sz="1200" dirty="0">
                <a:solidFill>
                  <a:schemeClr val="tx1"/>
                </a:solidFill>
                <a:latin typeface="Meiryo UI" panose="020B0604030504040204" pitchFamily="50" charset="-128"/>
                <a:ea typeface="Meiryo UI" panose="020B0604030504040204" pitchFamily="50" charset="-128"/>
              </a:rPr>
              <a:t>クレジット・成果物</a:t>
            </a:r>
            <a:r>
              <a:rPr kumimoji="1" lang="en-US" altLang="ja-JP" sz="1200" dirty="0">
                <a:solidFill>
                  <a:schemeClr val="tx1"/>
                </a:solidFill>
                <a:latin typeface="Meiryo UI" panose="020B0604030504040204" pitchFamily="50" charset="-128"/>
                <a:ea typeface="Meiryo UI" panose="020B0604030504040204" pitchFamily="50" charset="-128"/>
              </a:rPr>
              <a:t>IP</a:t>
            </a:r>
            <a:r>
              <a:rPr kumimoji="1" lang="ja-JP" altLang="en-US" sz="1200" dirty="0">
                <a:solidFill>
                  <a:schemeClr val="tx1"/>
                </a:solidFill>
                <a:latin typeface="Meiryo UI" panose="020B0604030504040204" pitchFamily="50" charset="-128"/>
                <a:ea typeface="Meiryo UI" panose="020B0604030504040204" pitchFamily="50" charset="-128"/>
              </a:rPr>
              <a:t>・</a:t>
            </a:r>
            <a:r>
              <a:rPr kumimoji="1" lang="en-US" altLang="ja-JP" sz="1200" dirty="0">
                <a:solidFill>
                  <a:schemeClr val="tx1"/>
                </a:solidFill>
                <a:latin typeface="Meiryo UI" panose="020B0604030504040204" pitchFamily="50" charset="-128"/>
                <a:ea typeface="Meiryo UI" panose="020B0604030504040204" pitchFamily="50" charset="-128"/>
              </a:rPr>
              <a:t>Exit</a:t>
            </a:r>
            <a:r>
              <a:rPr kumimoji="1" lang="ja-JP" altLang="en-US" sz="1200" dirty="0">
                <a:solidFill>
                  <a:schemeClr val="tx1"/>
                </a:solidFill>
                <a:latin typeface="Meiryo UI" panose="020B0604030504040204" pitchFamily="50" charset="-128"/>
                <a:ea typeface="Meiryo UI" panose="020B0604030504040204" pitchFamily="50" charset="-128"/>
              </a:rPr>
              <a:t>支援義務・ベンチマーク権・監査権等）の交渉完了が条件</a:t>
            </a: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本運用開始後の契約は3ヶ月単位で更新（品質・実績に応じ短サイクルで見直し可能＝Exit実効性の担保）</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移管</a:t>
            </a:r>
            <a:r>
              <a:rPr kumimoji="1" lang="en-US" altLang="ja-JP" sz="1200" dirty="0">
                <a:solidFill>
                  <a:schemeClr val="tx1"/>
                </a:solidFill>
                <a:latin typeface="Meiryo UI" panose="020B0604030504040204" pitchFamily="50" charset="-128"/>
                <a:ea typeface="Meiryo UI" panose="020B0604030504040204" pitchFamily="50" charset="-128"/>
              </a:rPr>
              <a:t>STEP1</a:t>
            </a:r>
            <a:r>
              <a:rPr kumimoji="1" lang="ja-JP" altLang="en-US" sz="1200" dirty="0">
                <a:solidFill>
                  <a:schemeClr val="tx1"/>
                </a:solidFill>
                <a:latin typeface="Meiryo UI" panose="020B0604030504040204" pitchFamily="50" charset="-128"/>
                <a:ea typeface="Meiryo UI" panose="020B0604030504040204" pitchFamily="50" charset="-128"/>
              </a:rPr>
              <a:t>（</a:t>
            </a:r>
            <a:r>
              <a:rPr kumimoji="1" lang="en-US" altLang="ja-JP" sz="1200" dirty="0">
                <a:solidFill>
                  <a:schemeClr val="tx1"/>
                </a:solidFill>
                <a:latin typeface="Meiryo UI" panose="020B0604030504040204" pitchFamily="50" charset="-128"/>
                <a:ea typeface="Meiryo UI" panose="020B0604030504040204" pitchFamily="50" charset="-128"/>
              </a:rPr>
              <a:t>11</a:t>
            </a:r>
            <a:r>
              <a:rPr kumimoji="1" lang="ja-JP" altLang="en-US" sz="1200" dirty="0">
                <a:solidFill>
                  <a:schemeClr val="tx1"/>
                </a:solidFill>
                <a:latin typeface="Meiryo UI" panose="020B0604030504040204" pitchFamily="50" charset="-128"/>
                <a:ea typeface="Meiryo UI" panose="020B0604030504040204" pitchFamily="50" charset="-128"/>
              </a:rPr>
              <a:t>月</a:t>
            </a:r>
            <a:r>
              <a:rPr kumimoji="1" lang="en-US" altLang="ja-JP" sz="1200" dirty="0">
                <a:solidFill>
                  <a:schemeClr val="tx1"/>
                </a:solidFill>
                <a:latin typeface="Meiryo UI" panose="020B0604030504040204" pitchFamily="50" charset="-128"/>
                <a:ea typeface="Meiryo UI" panose="020B0604030504040204" pitchFamily="50" charset="-128"/>
              </a:rPr>
              <a:t>〜1</a:t>
            </a:r>
            <a:r>
              <a:rPr kumimoji="1" lang="ja-JP" altLang="en-US" sz="1200" dirty="0">
                <a:solidFill>
                  <a:schemeClr val="tx1"/>
                </a:solidFill>
                <a:latin typeface="Meiryo UI" panose="020B0604030504040204" pitchFamily="50" charset="-128"/>
                <a:ea typeface="Meiryo UI" panose="020B0604030504040204" pitchFamily="50" charset="-128"/>
              </a:rPr>
              <a:t>月）</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情報が揃う領域から小さく移管し、型を確立</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切替判定（</a:t>
            </a:r>
            <a:r>
              <a:rPr kumimoji="1" lang="en-US" altLang="ja-JP" sz="1200" dirty="0">
                <a:solidFill>
                  <a:schemeClr val="tx1"/>
                </a:solidFill>
                <a:latin typeface="Meiryo UI" panose="020B0604030504040204" pitchFamily="50" charset="-128"/>
                <a:ea typeface="Meiryo UI" panose="020B0604030504040204" pitchFamily="50" charset="-128"/>
              </a:rPr>
              <a:t>1</a:t>
            </a:r>
            <a:r>
              <a:rPr kumimoji="1" lang="ja-JP" altLang="en-US" sz="1200" dirty="0">
                <a:solidFill>
                  <a:schemeClr val="tx1"/>
                </a:solidFill>
                <a:latin typeface="Meiryo UI" panose="020B0604030504040204" pitchFamily="50" charset="-128"/>
                <a:ea typeface="Meiryo UI" panose="020B0604030504040204" pitchFamily="50" charset="-128"/>
              </a:rPr>
              <a:t>月末）</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当社</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が完了判定基準で検収 → </a:t>
            </a:r>
            <a:r>
              <a:rPr kumimoji="1" lang="en-US" altLang="ja-JP" sz="1200" dirty="0">
                <a:solidFill>
                  <a:schemeClr val="tx1"/>
                </a:solidFill>
                <a:latin typeface="Meiryo UI" panose="020B0604030504040204" pitchFamily="50" charset="-128"/>
                <a:ea typeface="Meiryo UI" panose="020B0604030504040204" pitchFamily="50" charset="-128"/>
              </a:rPr>
              <a:t>2</a:t>
            </a:r>
            <a:r>
              <a:rPr kumimoji="1" lang="ja-JP" altLang="en-US" sz="1200" dirty="0">
                <a:solidFill>
                  <a:schemeClr val="tx1"/>
                </a:solidFill>
                <a:latin typeface="Meiryo UI" panose="020B0604030504040204" pitchFamily="50" charset="-128"/>
                <a:ea typeface="Meiryo UI" panose="020B0604030504040204" pitchFamily="50" charset="-128"/>
              </a:rPr>
              <a:t>月</a:t>
            </a:r>
            <a:r>
              <a:rPr kumimoji="1" lang="en-US" altLang="ja-JP" sz="1200" dirty="0">
                <a:solidFill>
                  <a:schemeClr val="tx1"/>
                </a:solidFill>
                <a:latin typeface="Meiryo UI" panose="020B0604030504040204" pitchFamily="50" charset="-128"/>
                <a:ea typeface="Meiryo UI" panose="020B0604030504040204" pitchFamily="50" charset="-128"/>
              </a:rPr>
              <a:t>STEP1</a:t>
            </a:r>
            <a:r>
              <a:rPr kumimoji="1" lang="ja-JP" altLang="en-US" sz="1200" dirty="0">
                <a:solidFill>
                  <a:schemeClr val="tx1"/>
                </a:solidFill>
                <a:latin typeface="Meiryo UI" panose="020B0604030504040204" pitchFamily="50" charset="-128"/>
                <a:ea typeface="Meiryo UI" panose="020B0604030504040204" pitchFamily="50" charset="-128"/>
              </a:rPr>
              <a:t>運用開始</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横展開判定（</a:t>
            </a:r>
            <a:r>
              <a:rPr kumimoji="1" lang="en-US" altLang="ja-JP" sz="1200" dirty="0">
                <a:solidFill>
                  <a:schemeClr val="tx1"/>
                </a:solidFill>
                <a:latin typeface="Meiryo UI" panose="020B0604030504040204" pitchFamily="50" charset="-128"/>
                <a:ea typeface="Meiryo UI" panose="020B0604030504040204" pitchFamily="50" charset="-128"/>
              </a:rPr>
              <a:t>27</a:t>
            </a:r>
            <a:r>
              <a:rPr kumimoji="1" lang="ja-JP" altLang="en-US" sz="1200" dirty="0">
                <a:solidFill>
                  <a:schemeClr val="tx1"/>
                </a:solidFill>
                <a:latin typeface="Meiryo UI" panose="020B0604030504040204" pitchFamily="50" charset="-128"/>
                <a:ea typeface="Meiryo UI" panose="020B0604030504040204" pitchFamily="50" charset="-128"/>
              </a:rPr>
              <a:t>年</a:t>
            </a:r>
            <a:r>
              <a:rPr kumimoji="1" lang="en-US" altLang="ja-JP" sz="1200" dirty="0">
                <a:solidFill>
                  <a:schemeClr val="tx1"/>
                </a:solidFill>
                <a:latin typeface="Meiryo UI" panose="020B0604030504040204" pitchFamily="50" charset="-128"/>
                <a:ea typeface="Meiryo UI" panose="020B0604030504040204" pitchFamily="50" charset="-128"/>
              </a:rPr>
              <a:t>4Q</a:t>
            </a:r>
            <a:r>
              <a:rPr kumimoji="1" lang="ja-JP" altLang="en-US" sz="1200" dirty="0">
                <a:solidFill>
                  <a:schemeClr val="tx1"/>
                </a:solidFill>
                <a:latin typeface="Meiryo UI" panose="020B0604030504040204" pitchFamily="50" charset="-128"/>
                <a:ea typeface="Meiryo UI" panose="020B0604030504040204" pitchFamily="50" charset="-128"/>
              </a:rPr>
              <a:t>）</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STEP1</a:t>
            </a:r>
            <a:r>
              <a:rPr kumimoji="1" lang="ja-JP" altLang="en-US" sz="1200" dirty="0">
                <a:solidFill>
                  <a:schemeClr val="tx1"/>
                </a:solidFill>
                <a:latin typeface="Meiryo UI" panose="020B0604030504040204" pitchFamily="50" charset="-128"/>
                <a:ea typeface="Meiryo UI" panose="020B0604030504040204" pitchFamily="50" charset="-128"/>
              </a:rPr>
              <a:t>の実測効果を確認してから</a:t>
            </a:r>
            <a:r>
              <a:rPr kumimoji="1" lang="en-US" altLang="ja-JP" sz="1200" dirty="0">
                <a:solidFill>
                  <a:schemeClr val="tx1"/>
                </a:solidFill>
                <a:latin typeface="Meiryo UI" panose="020B0604030504040204" pitchFamily="50" charset="-128"/>
                <a:ea typeface="Meiryo UI" panose="020B0604030504040204" pitchFamily="50" charset="-128"/>
              </a:rPr>
              <a:t>STEP2</a:t>
            </a:r>
            <a:r>
              <a:rPr kumimoji="1" lang="ja-JP" altLang="en-US" sz="1200" dirty="0">
                <a:solidFill>
                  <a:schemeClr val="tx1"/>
                </a:solidFill>
                <a:latin typeface="Meiryo UI" panose="020B0604030504040204" pitchFamily="50" charset="-128"/>
                <a:ea typeface="Meiryo UI" panose="020B0604030504040204" pitchFamily="50" charset="-128"/>
              </a:rPr>
              <a:t>（残り領域）へ展開。競争入札への切替オプションも保持</a:t>
            </a:r>
          </a:p>
        </p:txBody>
      </p:sp>
      <p:sp>
        <p:nvSpPr>
          <p:cNvPr id="5" name="正方形/長方形 4">
            <a:extLst>
              <a:ext uri="{FF2B5EF4-FFF2-40B4-BE49-F238E27FC236}">
                <a16:creationId xmlns:a16="http://schemas.microsoft.com/office/drawing/2014/main" id="{B1B5A75A-782A-3675-A929-486A2D7ADCC9}"/>
              </a:ext>
            </a:extLst>
          </p:cNvPr>
          <p:cNvSpPr/>
          <p:nvPr/>
        </p:nvSpPr>
        <p:spPr>
          <a:xfrm>
            <a:off x="6345676" y="2071991"/>
            <a:ext cx="5511360" cy="4236734"/>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①システム学習</a:t>
            </a:r>
            <a:endParaRPr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判定：ドキュメント充足率確認、未文書化業務のリスト化完了</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②引継ぎ①（現行ベンダ主体）：シャドーイング</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判定：対象業務の実施</a:t>
            </a:r>
            <a:r>
              <a:rPr kumimoji="1" lang="en-US" altLang="ja-JP" sz="1200" dirty="0">
                <a:solidFill>
                  <a:schemeClr val="tx1"/>
                </a:solidFill>
                <a:latin typeface="Meiryo UI" panose="020B0604030504040204" pitchFamily="50" charset="-128"/>
                <a:ea typeface="Meiryo UI" panose="020B0604030504040204" pitchFamily="50" charset="-128"/>
              </a:rPr>
              <a:t>100%</a:t>
            </a:r>
            <a:r>
              <a:rPr kumimoji="1" lang="ja-JP" altLang="en-US" sz="1200" dirty="0">
                <a:solidFill>
                  <a:schemeClr val="tx1"/>
                </a:solidFill>
                <a:latin typeface="Meiryo UI" panose="020B0604030504040204" pitchFamily="50" charset="-128"/>
                <a:ea typeface="Meiryo UI" panose="020B0604030504040204" pitchFamily="50" charset="-128"/>
              </a:rPr>
              <a:t>、手順書最新化を当社検収</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③引継ぎ②（新体制主体）：リバースシャドーイング</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判定：現行ベンダ指摘の収束、</a:t>
            </a:r>
            <a:r>
              <a:rPr kumimoji="1" lang="en-US" altLang="ja-JP" sz="1200" dirty="0">
                <a:solidFill>
                  <a:schemeClr val="tx1"/>
                </a:solidFill>
                <a:latin typeface="Meiryo UI" panose="020B0604030504040204" pitchFamily="50" charset="-128"/>
                <a:ea typeface="Meiryo UI" panose="020B0604030504040204" pitchFamily="50" charset="-128"/>
              </a:rPr>
              <a:t>L1/L2</a:t>
            </a:r>
            <a:r>
              <a:rPr kumimoji="1" lang="ja-JP" altLang="en-US" sz="1200" dirty="0">
                <a:solidFill>
                  <a:schemeClr val="tx1"/>
                </a:solidFill>
                <a:latin typeface="Meiryo UI" panose="020B0604030504040204" pitchFamily="50" charset="-128"/>
                <a:ea typeface="Meiryo UI" panose="020B0604030504040204" pitchFamily="50" charset="-128"/>
              </a:rPr>
              <a:t>への作業移管完了</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④完了前確認</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判定：単独運転試験</a:t>
            </a:r>
            <a:r>
              <a:rPr kumimoji="1" lang="en-US" altLang="ja-JP" sz="1200" dirty="0">
                <a:solidFill>
                  <a:schemeClr val="tx1"/>
                </a:solidFill>
                <a:latin typeface="Meiryo UI" panose="020B0604030504040204" pitchFamily="50" charset="-128"/>
                <a:ea typeface="Meiryo UI" panose="020B0604030504040204" pitchFamily="50" charset="-128"/>
              </a:rPr>
              <a:t>2</a:t>
            </a:r>
            <a:r>
              <a:rPr kumimoji="1" lang="ja-JP" altLang="en-US" sz="1200" dirty="0">
                <a:solidFill>
                  <a:schemeClr val="tx1"/>
                </a:solidFill>
                <a:latin typeface="Meiryo UI" panose="020B0604030504040204" pitchFamily="50" charset="-128"/>
                <a:ea typeface="Meiryo UI" panose="020B0604030504040204" pitchFamily="50" charset="-128"/>
              </a:rPr>
              <a:t>週間で</a:t>
            </a:r>
            <a:r>
              <a:rPr kumimoji="1" lang="en-US" altLang="ja-JP" sz="1200" dirty="0">
                <a:solidFill>
                  <a:schemeClr val="tx1"/>
                </a:solidFill>
                <a:latin typeface="Meiryo UI" panose="020B0604030504040204" pitchFamily="50" charset="-128"/>
                <a:ea typeface="Meiryo UI" panose="020B0604030504040204" pitchFamily="50" charset="-128"/>
              </a:rPr>
              <a:t>SLA</a:t>
            </a:r>
            <a:r>
              <a:rPr kumimoji="1" lang="ja-JP" altLang="en-US" sz="1200" dirty="0">
                <a:solidFill>
                  <a:schemeClr val="tx1"/>
                </a:solidFill>
                <a:latin typeface="Meiryo UI" panose="020B0604030504040204" pitchFamily="50" charset="-128"/>
                <a:ea typeface="Meiryo UI" panose="020B0604030504040204" pitchFamily="50" charset="-128"/>
              </a:rPr>
              <a:t>仮達成。切替判定は当社</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が実施（ベンダの自己申告にしない）</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判定未達ならフェーズ延長（費用分担ルールは契約時に定義）。期日は手段、品質が目的</a:t>
            </a: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切替後</a:t>
            </a:r>
            <a:r>
              <a:rPr kumimoji="1" lang="en-US" altLang="ja-JP" sz="1200" dirty="0">
                <a:solidFill>
                  <a:schemeClr val="tx1"/>
                </a:solidFill>
                <a:latin typeface="Meiryo UI" panose="020B0604030504040204" pitchFamily="50" charset="-128"/>
                <a:ea typeface="Meiryo UI" panose="020B0604030504040204" pitchFamily="50" charset="-128"/>
              </a:rPr>
              <a:t>1〜2</a:t>
            </a:r>
            <a:r>
              <a:rPr kumimoji="1" lang="ja-JP" altLang="en-US" sz="1200" dirty="0">
                <a:solidFill>
                  <a:schemeClr val="tx1"/>
                </a:solidFill>
                <a:latin typeface="Meiryo UI" panose="020B0604030504040204" pitchFamily="50" charset="-128"/>
                <a:ea typeface="Meiryo UI" panose="020B0604030504040204" pitchFamily="50" charset="-128"/>
              </a:rPr>
              <a:t>ヶ月は現行ベンダの伴走（有償）とロールバック基準を事前確保</a:t>
            </a: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移管開始時期は今期予算・現行ベンダ契約期間を踏まえ協議（26年11月または27年1月開始）。FY27は移管初期費用＋運用費用が現行費用と同水準に収まる設計を基本とする</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p>
        </p:txBody>
      </p:sp>
      <p:grpSp>
        <p:nvGrpSpPr>
          <p:cNvPr id="6" name="グループ化 5">
            <a:extLst>
              <a:ext uri="{FF2B5EF4-FFF2-40B4-BE49-F238E27FC236}">
                <a16:creationId xmlns:a16="http://schemas.microsoft.com/office/drawing/2014/main" id="{BDCBDA16-3D48-46BA-3B1C-7585D8856FCB}"/>
              </a:ext>
            </a:extLst>
          </p:cNvPr>
          <p:cNvGrpSpPr/>
          <p:nvPr/>
        </p:nvGrpSpPr>
        <p:grpSpPr>
          <a:xfrm>
            <a:off x="6345676" y="1628775"/>
            <a:ext cx="5511361" cy="369332"/>
            <a:chOff x="334963" y="1628775"/>
            <a:chExt cx="5761037" cy="369332"/>
          </a:xfrm>
        </p:grpSpPr>
        <p:cxnSp>
          <p:nvCxnSpPr>
            <p:cNvPr id="7" name="直線コネクタ 6">
              <a:extLst>
                <a:ext uri="{FF2B5EF4-FFF2-40B4-BE49-F238E27FC236}">
                  <a16:creationId xmlns:a16="http://schemas.microsoft.com/office/drawing/2014/main" id="{1A4D53E0-7B3E-3151-802C-8528AD5009EE}"/>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BE1E1EBC-6E1F-8567-E9E1-D6B7A793751D}"/>
                </a:ext>
              </a:extLst>
            </p:cNvPr>
            <p:cNvSpPr txBox="1"/>
            <p:nvPr/>
          </p:nvSpPr>
          <p:spPr>
            <a:xfrm>
              <a:off x="334963" y="1628775"/>
              <a:ext cx="5761037" cy="369332"/>
            </a:xfrm>
            <a:prstGeom prst="rect">
              <a:avLst/>
            </a:prstGeom>
            <a:noFill/>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移管の方法</a:t>
              </a:r>
            </a:p>
          </p:txBody>
        </p:sp>
      </p:grpSp>
      <p:grpSp>
        <p:nvGrpSpPr>
          <p:cNvPr id="9" name="グループ化 8">
            <a:extLst>
              <a:ext uri="{FF2B5EF4-FFF2-40B4-BE49-F238E27FC236}">
                <a16:creationId xmlns:a16="http://schemas.microsoft.com/office/drawing/2014/main" id="{6BB204D0-19DA-4A39-5030-0BECC0C1EC6B}"/>
              </a:ext>
            </a:extLst>
          </p:cNvPr>
          <p:cNvGrpSpPr/>
          <p:nvPr/>
        </p:nvGrpSpPr>
        <p:grpSpPr>
          <a:xfrm>
            <a:off x="334963" y="1628775"/>
            <a:ext cx="5511361" cy="369332"/>
            <a:chOff x="334963" y="1628775"/>
            <a:chExt cx="5761037" cy="369332"/>
          </a:xfrm>
        </p:grpSpPr>
        <p:cxnSp>
          <p:nvCxnSpPr>
            <p:cNvPr id="10" name="直線コネクタ 9">
              <a:extLst>
                <a:ext uri="{FF2B5EF4-FFF2-40B4-BE49-F238E27FC236}">
                  <a16:creationId xmlns:a16="http://schemas.microsoft.com/office/drawing/2014/main" id="{D10651BA-4946-9999-FD8C-10BDA915E391}"/>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B305A7F3-9404-942B-C488-5DECF66EEE05}"/>
                </a:ext>
              </a:extLst>
            </p:cNvPr>
            <p:cNvSpPr txBox="1"/>
            <p:nvPr/>
          </p:nvSpPr>
          <p:spPr>
            <a:xfrm>
              <a:off x="334963" y="1628775"/>
              <a:ext cx="5761037" cy="369332"/>
            </a:xfrm>
            <a:prstGeom prst="rect">
              <a:avLst/>
            </a:prstGeom>
            <a:noFill/>
          </p:spPr>
          <p:txBody>
            <a:bodyPr wrap="square" rtlCol="0">
              <a:spAutoFit/>
            </a:bodyPr>
            <a:lstStyle/>
            <a:p>
              <a:pPr algn="ctr"/>
              <a:r>
                <a:rPr kumimoji="1" lang="ja-JP" altLang="en-US" dirty="0"/>
                <a:t>進め方</a:t>
              </a:r>
              <a:endParaRPr kumimoji="1" lang="en-US" altLang="ja-JP" dirty="0"/>
            </a:p>
          </p:txBody>
        </p:sp>
      </p:grpSp>
    </p:spTree>
    <p:extLst>
      <p:ext uri="{BB962C8B-B14F-4D97-AF65-F5344CB8AC3E}">
        <p14:creationId xmlns:p14="http://schemas.microsoft.com/office/powerpoint/2010/main" val="3196331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A40F7-83FD-18FC-C925-8D411086EDC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6FE337-91CF-7A2E-52D2-E51176564388}"/>
              </a:ext>
            </a:extLst>
          </p:cNvPr>
          <p:cNvSpPr>
            <a:spLocks noGrp="1"/>
          </p:cNvSpPr>
          <p:nvPr>
            <p:ph type="title"/>
          </p:nvPr>
        </p:nvSpPr>
        <p:spPr/>
        <p:txBody>
          <a:bodyPr/>
          <a:lstStyle/>
          <a:p>
            <a:r>
              <a:rPr kumimoji="1" lang="ja-JP" altLang="en-US" dirty="0"/>
              <a:t>体制・ガバナンスと</a:t>
            </a:r>
            <a:r>
              <a:rPr kumimoji="1" lang="en-US" altLang="ja-JP" dirty="0"/>
              <a:t>KPI</a:t>
            </a:r>
            <a:endParaRPr kumimoji="1" lang="ja-JP" altLang="en-US" dirty="0"/>
          </a:p>
        </p:txBody>
      </p:sp>
      <p:sp>
        <p:nvSpPr>
          <p:cNvPr id="3" name="テキスト プレースホルダー 2">
            <a:extLst>
              <a:ext uri="{FF2B5EF4-FFF2-40B4-BE49-F238E27FC236}">
                <a16:creationId xmlns:a16="http://schemas.microsoft.com/office/drawing/2014/main" id="{EBDBA2D2-7902-AB84-FE66-60D1C8A23BB9}"/>
              </a:ext>
            </a:extLst>
          </p:cNvPr>
          <p:cNvSpPr>
            <a:spLocks noGrp="1"/>
          </p:cNvSpPr>
          <p:nvPr>
            <p:ph type="body" sz="quarter" idx="13"/>
          </p:nvPr>
        </p:nvSpPr>
        <p:spPr/>
        <p:txBody>
          <a:bodyPr/>
          <a:lstStyle/>
          <a:p>
            <a:r>
              <a:rPr kumimoji="1" lang="ja-JP" altLang="en-US" dirty="0"/>
              <a:t>推進の主導権は当社が持ち、デジ戦部長を責任者とする移管</a:t>
            </a:r>
            <a:r>
              <a:rPr kumimoji="1" lang="en-US" altLang="ja-JP" dirty="0"/>
              <a:t>PMO</a:t>
            </a:r>
            <a:r>
              <a:rPr kumimoji="1" lang="ja-JP" altLang="en-US" dirty="0"/>
              <a:t>が週次でゲート運営</a:t>
            </a:r>
            <a:endParaRPr kumimoji="1" lang="en-US" altLang="ja-JP" dirty="0"/>
          </a:p>
          <a:p>
            <a:r>
              <a:rPr kumimoji="1" lang="ja-JP" altLang="en-US" dirty="0"/>
              <a:t>成果は6つのKPIで毎年経営に報告する</a:t>
            </a:r>
            <a:r>
              <a:rPr kumimoji="1" lang="en-US" altLang="ja-JP" dirty="0"/>
              <a:t/>
            </a:r>
            <a:r>
              <a:rPr kumimoji="1" lang="ja-JP" altLang="en-US" dirty="0"/>
              <a:t/>
            </a:r>
            <a:r>
              <a:rPr kumimoji="1" lang="en-US" altLang="ja-JP" dirty="0"/>
              <a:t/>
            </a:r>
            <a:r>
              <a:rPr kumimoji="1" lang="ja-JP" altLang="en-US" dirty="0"/>
              <a:t/>
            </a:r>
          </a:p>
        </p:txBody>
      </p:sp>
      <p:sp>
        <p:nvSpPr>
          <p:cNvPr id="4" name="正方形/長方形 3">
            <a:extLst>
              <a:ext uri="{FF2B5EF4-FFF2-40B4-BE49-F238E27FC236}">
                <a16:creationId xmlns:a16="http://schemas.microsoft.com/office/drawing/2014/main" id="{CFFBE097-C3A6-3CBC-B4B3-DD9827303296}"/>
              </a:ext>
            </a:extLst>
          </p:cNvPr>
          <p:cNvSpPr/>
          <p:nvPr/>
        </p:nvSpPr>
        <p:spPr>
          <a:xfrm>
            <a:off x="334964" y="2071991"/>
            <a:ext cx="5511360" cy="4236734"/>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移管</a:t>
            </a:r>
            <a:r>
              <a:rPr kumimoji="1" lang="en-US" altLang="ja-JP" sz="1400" dirty="0">
                <a:solidFill>
                  <a:schemeClr val="tx1"/>
                </a:solidFill>
                <a:latin typeface="Meiryo UI" panose="020B0604030504040204" pitchFamily="50" charset="-128"/>
                <a:ea typeface="Meiryo UI" panose="020B0604030504040204" pitchFamily="50" charset="-128"/>
              </a:rPr>
              <a:t>PMO</a:t>
            </a:r>
            <a:r>
              <a:rPr kumimoji="1" lang="ja-JP" altLang="en-US" sz="1400" dirty="0">
                <a:solidFill>
                  <a:schemeClr val="tx1"/>
                </a:solidFill>
                <a:latin typeface="Meiryo UI" panose="020B0604030504040204" pitchFamily="50" charset="-128"/>
                <a:ea typeface="Meiryo UI" panose="020B0604030504040204" pitchFamily="50" charset="-128"/>
              </a:rPr>
              <a:t>（当社主導）</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デジ戦部長を責任者に週次ゲート運営。判定権は常に当社側</a:t>
            </a:r>
          </a:p>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LEB</a:t>
            </a:r>
            <a:r>
              <a:rPr kumimoji="1" lang="ja-JP" altLang="en-US" sz="1400" dirty="0">
                <a:solidFill>
                  <a:schemeClr val="tx1"/>
                </a:solidFill>
                <a:latin typeface="Meiryo UI" panose="020B0604030504040204" pitchFamily="50" charset="-128"/>
                <a:ea typeface="Meiryo UI" panose="020B0604030504040204" pitchFamily="50" charset="-128"/>
              </a:rPr>
              <a:t>統制機能の立ち上げを移管と並走</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本体出向＋外部専門家登用。</a:t>
            </a:r>
            <a:r>
              <a:rPr kumimoji="1" lang="en-US" altLang="ja-JP" sz="1400" dirty="0">
                <a:solidFill>
                  <a:schemeClr val="tx1"/>
                </a:solidFill>
                <a:latin typeface="Meiryo UI" panose="020B0604030504040204" pitchFamily="50" charset="-128"/>
                <a:ea typeface="Meiryo UI" panose="020B0604030504040204" pitchFamily="50" charset="-128"/>
              </a:rPr>
              <a:t>STEP1</a:t>
            </a:r>
            <a:r>
              <a:rPr kumimoji="1" lang="ja-JP" altLang="en-US" sz="1400" dirty="0">
                <a:solidFill>
                  <a:schemeClr val="tx1"/>
                </a:solidFill>
                <a:latin typeface="Meiryo UI" panose="020B0604030504040204" pitchFamily="50" charset="-128"/>
                <a:ea typeface="Meiryo UI" panose="020B0604030504040204" pitchFamily="50" charset="-128"/>
              </a:rPr>
              <a:t>完了時点で</a:t>
            </a:r>
            <a:r>
              <a:rPr kumimoji="1" lang="en-US" altLang="ja-JP" sz="1400" dirty="0">
                <a:solidFill>
                  <a:schemeClr val="tx1"/>
                </a:solidFill>
                <a:latin typeface="Meiryo UI" panose="020B0604030504040204" pitchFamily="50" charset="-128"/>
                <a:ea typeface="Meiryo UI" panose="020B0604030504040204" pitchFamily="50" charset="-128"/>
              </a:rPr>
              <a:t>SLA</a:t>
            </a:r>
            <a:r>
              <a:rPr kumimoji="1" lang="ja-JP" altLang="en-US" sz="1400" dirty="0">
                <a:solidFill>
                  <a:schemeClr val="tx1"/>
                </a:solidFill>
                <a:latin typeface="Meiryo UI" panose="020B0604030504040204" pitchFamily="50" charset="-128"/>
                <a:ea typeface="Meiryo UI" panose="020B0604030504040204" pitchFamily="50" charset="-128"/>
              </a:rPr>
              <a:t>監視・検収を</a:t>
            </a:r>
            <a:r>
              <a:rPr kumimoji="1" lang="en-US" altLang="ja-JP" sz="1400" dirty="0">
                <a:solidFill>
                  <a:schemeClr val="tx1"/>
                </a:solidFill>
                <a:latin typeface="Meiryo UI" panose="020B0604030504040204" pitchFamily="50" charset="-128"/>
                <a:ea typeface="Meiryo UI" panose="020B0604030504040204" pitchFamily="50" charset="-128"/>
              </a:rPr>
              <a:t>LEB</a:t>
            </a:r>
            <a:r>
              <a:rPr kumimoji="1" lang="ja-JP" altLang="en-US" sz="1400" dirty="0">
                <a:solidFill>
                  <a:schemeClr val="tx1"/>
                </a:solidFill>
                <a:latin typeface="Meiryo UI" panose="020B0604030504040204" pitchFamily="50" charset="-128"/>
                <a:ea typeface="Meiryo UI" panose="020B0604030504040204" pitchFamily="50" charset="-128"/>
              </a:rPr>
              <a:t>が実施できる状態に</a:t>
            </a:r>
          </a:p>
          <a:p>
            <a:pPr marL="742950" lvl="1"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LEB経営層との役割・体制の協議はPhase 0で実施し、合意の上で移管を開始</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現行ベンダ管理</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引継ぎ協力義務の契約確認（今すぐ）、引継ぎ品質と検収・支払いの連動、キーマン離脱への備え（属人業務から優先引継ぎ）</a:t>
            </a: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社員のチェンジマネジメント</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説明会は「努力を仕組みに変える取組み」と定義。最も強い反対者を移管の中核に登用。役割移行パス（運用実務→検収・統制→企画）を個人別に提示</a:t>
            </a:r>
          </a:p>
        </p:txBody>
      </p:sp>
      <p:sp>
        <p:nvSpPr>
          <p:cNvPr id="5" name="正方形/長方形 4">
            <a:extLst>
              <a:ext uri="{FF2B5EF4-FFF2-40B4-BE49-F238E27FC236}">
                <a16:creationId xmlns:a16="http://schemas.microsoft.com/office/drawing/2014/main" id="{360A8D68-2C68-5E78-6C8C-0CDAED5BA608}"/>
              </a:ext>
            </a:extLst>
          </p:cNvPr>
          <p:cNvSpPr/>
          <p:nvPr/>
        </p:nvSpPr>
        <p:spPr>
          <a:xfrm>
            <a:off x="6345676" y="2071991"/>
            <a:ext cx="5511360" cy="4236734"/>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運用従事率：40% → 15%以下（3年）＝ 創出工数は企画業務へ再配置（当面2FTE相当・削減はしない）</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r>
              <a:rPr kumimoji="1" lang="en-US" altLang="ja-JP" sz="1400" dirty="0">
                <a:solidFill>
                  <a:schemeClr val="tx1"/>
                </a:solidFill>
                <a:latin typeface="Meiryo UI" panose="020B0604030504040204" pitchFamily="50" charset="-128"/>
                <a:ea typeface="Meiryo UI" panose="020B0604030504040204" pitchFamily="50" charset="-128"/>
              </a:rPr>
              <a:t/>
            </a:r>
            <a:endParaRPr kumimoji="1" lang="ja-JP" altLang="en-US"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運用総コスト：ベースライン比 ▲</a:t>
            </a:r>
            <a:r>
              <a:rPr kumimoji="1" lang="en-US" altLang="ja-JP" sz="1400" dirty="0">
                <a:solidFill>
                  <a:schemeClr val="tx1"/>
                </a:solidFill>
                <a:latin typeface="Meiryo UI" panose="020B0604030504040204" pitchFamily="50" charset="-128"/>
                <a:ea typeface="Meiryo UI" panose="020B0604030504040204" pitchFamily="50" charset="-128"/>
              </a:rPr>
              <a:t>10〜20%</a:t>
            </a:r>
            <a:r>
              <a:rPr kumimoji="1" lang="ja-JP" altLang="en-US" sz="1400" dirty="0">
                <a:solidFill>
                  <a:schemeClr val="tx1"/>
                </a:solidFill>
                <a:latin typeface="Meiryo UI" panose="020B0604030504040204" pitchFamily="50" charset="-128"/>
                <a:ea typeface="Meiryo UI" panose="020B0604030504040204" pitchFamily="50" charset="-128"/>
              </a:rPr>
              <a:t>（</a:t>
            </a:r>
            <a:r>
              <a:rPr kumimoji="1" lang="en-US" altLang="ja-JP" sz="1400" dirty="0">
                <a:solidFill>
                  <a:schemeClr val="tx1"/>
                </a:solidFill>
                <a:latin typeface="Meiryo UI" panose="020B0604030504040204" pitchFamily="50" charset="-128"/>
                <a:ea typeface="Meiryo UI" panose="020B0604030504040204" pitchFamily="50" charset="-128"/>
              </a:rPr>
              <a:t>3</a:t>
            </a:r>
            <a:r>
              <a:rPr kumimoji="1" lang="ja-JP" altLang="en-US" sz="1400" dirty="0">
                <a:solidFill>
                  <a:schemeClr val="tx1"/>
                </a:solidFill>
                <a:latin typeface="Meiryo UI" panose="020B0604030504040204" pitchFamily="50" charset="-128"/>
                <a:ea typeface="Meiryo UI" panose="020B0604030504040204" pitchFamily="50" charset="-128"/>
              </a:rPr>
              <a:t>年累計）</a:t>
            </a: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特定個人依存業務：ゼロ（引き継ぎ試験パス率</a:t>
            </a:r>
            <a:r>
              <a:rPr kumimoji="1" lang="en-US" altLang="ja-JP" sz="1400" dirty="0">
                <a:solidFill>
                  <a:schemeClr val="tx1"/>
                </a:solidFill>
                <a:latin typeface="Meiryo UI" panose="020B0604030504040204" pitchFamily="50" charset="-128"/>
                <a:ea typeface="Meiryo UI" panose="020B0604030504040204" pitchFamily="50" charset="-128"/>
              </a:rPr>
              <a:t>100%</a:t>
            </a:r>
            <a:r>
              <a:rPr kumimoji="1" lang="ja-JP" altLang="en-US" sz="1400" dirty="0">
                <a:solidFill>
                  <a:schemeClr val="tx1"/>
                </a:solidFill>
                <a:latin typeface="Meiryo UI" panose="020B0604030504040204" pitchFamily="50" charset="-128"/>
                <a:ea typeface="Meiryo UI" panose="020B0604030504040204" pitchFamily="50" charset="-128"/>
              </a:rPr>
              <a:t>）</a:t>
            </a:r>
          </a:p>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SLA</a:t>
            </a:r>
            <a:r>
              <a:rPr kumimoji="1" lang="ja-JP" altLang="en-US" sz="1400" dirty="0">
                <a:solidFill>
                  <a:schemeClr val="tx1"/>
                </a:solidFill>
                <a:latin typeface="Meiryo UI" panose="020B0604030504040204" pitchFamily="50" charset="-128"/>
                <a:ea typeface="Meiryo UI" panose="020B0604030504040204" pitchFamily="50" charset="-128"/>
              </a:rPr>
              <a:t>遵守率・復旧時間（</a:t>
            </a:r>
            <a:r>
              <a:rPr kumimoji="1" lang="en-US" altLang="ja-JP" sz="1400" dirty="0">
                <a:solidFill>
                  <a:schemeClr val="tx1"/>
                </a:solidFill>
                <a:latin typeface="Meiryo UI" panose="020B0604030504040204" pitchFamily="50" charset="-128"/>
                <a:ea typeface="Meiryo UI" panose="020B0604030504040204" pitchFamily="50" charset="-128"/>
              </a:rPr>
              <a:t>MTTR</a:t>
            </a:r>
            <a:r>
              <a:rPr kumimoji="1" lang="ja-JP" altLang="en-US" sz="1400" dirty="0">
                <a:solidFill>
                  <a:schemeClr val="tx1"/>
                </a:solidFill>
                <a:latin typeface="Meiryo UI" panose="020B0604030504040204" pitchFamily="50" charset="-128"/>
                <a:ea typeface="Meiryo UI" panose="020B0604030504040204" pitchFamily="50" charset="-128"/>
              </a:rPr>
              <a:t>）：</a:t>
            </a:r>
            <a:r>
              <a:rPr kumimoji="1" lang="en-US" altLang="ja-JP" sz="1400" dirty="0">
                <a:solidFill>
                  <a:schemeClr val="tx1"/>
                </a:solidFill>
                <a:latin typeface="Meiryo UI" panose="020B0604030504040204" pitchFamily="50" charset="-128"/>
                <a:ea typeface="Meiryo UI" panose="020B0604030504040204" pitchFamily="50" charset="-128"/>
              </a:rPr>
              <a:t>Phase 1</a:t>
            </a:r>
            <a:r>
              <a:rPr kumimoji="1" lang="ja-JP" altLang="en-US" sz="1400" dirty="0">
                <a:solidFill>
                  <a:schemeClr val="tx1"/>
                </a:solidFill>
                <a:latin typeface="Meiryo UI" panose="020B0604030504040204" pitchFamily="50" charset="-128"/>
                <a:ea typeface="Meiryo UI" panose="020B0604030504040204" pitchFamily="50" charset="-128"/>
              </a:rPr>
              <a:t>でベースライン設定 → 毎年改善</a:t>
            </a: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運用起因の時間外労働：毎月モニタリングし継続低減</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ITサービス利用者満足度（全社員対象）：Phase 1でベースライン設定 → 毎年改善（品質向上＝従業員UXの実測）</a:t>
            </a:r>
            <a:r>
              <a:rPr kumimoji="1" lang="en-US" altLang="ja-JP" sz="1400" dirty="0">
                <a:solidFill>
                  <a:schemeClr val="tx1"/>
                </a:solidFill>
                <a:latin typeface="Meiryo UI" panose="020B0604030504040204" pitchFamily="50" charset="-128"/>
                <a:ea typeface="Meiryo UI" panose="020B0604030504040204" pitchFamily="50" charset="-128"/>
              </a:rPr>
              <a:t/>
            </a:r>
            <a:r>
              <a:rPr kumimoji="1" lang="ja-JP" altLang="en-US" sz="1400" dirty="0">
                <a:solidFill>
                  <a:schemeClr val="tx1"/>
                </a:solidFill>
                <a:latin typeface="Meiryo UI" panose="020B0604030504040204" pitchFamily="50" charset="-128"/>
                <a:ea typeface="Meiryo UI" panose="020B0604030504040204" pitchFamily="50" charset="-128"/>
              </a:rPr>
              <a:t/>
            </a:r>
          </a:p>
        </p:txBody>
      </p:sp>
      <p:grpSp>
        <p:nvGrpSpPr>
          <p:cNvPr id="6" name="グループ化 5">
            <a:extLst>
              <a:ext uri="{FF2B5EF4-FFF2-40B4-BE49-F238E27FC236}">
                <a16:creationId xmlns:a16="http://schemas.microsoft.com/office/drawing/2014/main" id="{6EC86E8D-FB93-CBEC-367B-1C5EEE0C98EC}"/>
              </a:ext>
            </a:extLst>
          </p:cNvPr>
          <p:cNvGrpSpPr/>
          <p:nvPr/>
        </p:nvGrpSpPr>
        <p:grpSpPr>
          <a:xfrm>
            <a:off x="6345676" y="1628775"/>
            <a:ext cx="5511361" cy="369332"/>
            <a:chOff x="334963" y="1628775"/>
            <a:chExt cx="5761037" cy="369332"/>
          </a:xfrm>
        </p:grpSpPr>
        <p:cxnSp>
          <p:nvCxnSpPr>
            <p:cNvPr id="7" name="直線コネクタ 6">
              <a:extLst>
                <a:ext uri="{FF2B5EF4-FFF2-40B4-BE49-F238E27FC236}">
                  <a16:creationId xmlns:a16="http://schemas.microsoft.com/office/drawing/2014/main" id="{D20C081E-CCA9-C75F-4494-5FEC69EAF9B7}"/>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1DCB3749-7776-1B6C-4B2D-4C5CD442A192}"/>
                </a:ext>
              </a:extLst>
            </p:cNvPr>
            <p:cNvSpPr txBox="1"/>
            <p:nvPr/>
          </p:nvSpPr>
          <p:spPr>
            <a:xfrm>
              <a:off x="334963" y="1628775"/>
              <a:ext cx="5761037" cy="369332"/>
            </a:xfrm>
            <a:prstGeom prst="rect">
              <a:avLst/>
            </a:prstGeom>
            <a:noFill/>
          </p:spPr>
          <p:txBody>
            <a:bodyPr wrap="square" rtlCol="0">
              <a:spAutoFit/>
            </a:bodyPr>
            <a:lstStyle/>
            <a:p>
              <a:pPr algn="ctr"/>
              <a:r>
                <a:rPr lang="ja-JP" altLang="ja-JP" dirty="0"/>
                <a:t>KPI</a:t>
              </a:r>
            </a:p>
          </p:txBody>
        </p:sp>
      </p:grpSp>
      <p:grpSp>
        <p:nvGrpSpPr>
          <p:cNvPr id="9" name="グループ化 8">
            <a:extLst>
              <a:ext uri="{FF2B5EF4-FFF2-40B4-BE49-F238E27FC236}">
                <a16:creationId xmlns:a16="http://schemas.microsoft.com/office/drawing/2014/main" id="{162EB29F-3D5F-C8CD-6D87-1E7E9040505A}"/>
              </a:ext>
            </a:extLst>
          </p:cNvPr>
          <p:cNvGrpSpPr/>
          <p:nvPr/>
        </p:nvGrpSpPr>
        <p:grpSpPr>
          <a:xfrm>
            <a:off x="334963" y="1628775"/>
            <a:ext cx="5511361" cy="369332"/>
            <a:chOff x="334963" y="1628775"/>
            <a:chExt cx="5761037" cy="369332"/>
          </a:xfrm>
        </p:grpSpPr>
        <p:cxnSp>
          <p:nvCxnSpPr>
            <p:cNvPr id="10" name="直線コネクタ 9">
              <a:extLst>
                <a:ext uri="{FF2B5EF4-FFF2-40B4-BE49-F238E27FC236}">
                  <a16:creationId xmlns:a16="http://schemas.microsoft.com/office/drawing/2014/main" id="{B7E0FDCD-8ACE-39EE-0864-6FC3C99CB6B9}"/>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65A3A66C-A6C8-A29B-CC49-9B104C9B7B00}"/>
                </a:ext>
              </a:extLst>
            </p:cNvPr>
            <p:cNvSpPr txBox="1"/>
            <p:nvPr/>
          </p:nvSpPr>
          <p:spPr>
            <a:xfrm>
              <a:off x="334963" y="1628775"/>
              <a:ext cx="5761037" cy="369332"/>
            </a:xfrm>
            <a:prstGeom prst="rect">
              <a:avLst/>
            </a:prstGeom>
            <a:noFill/>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体制・ガバナンス</a:t>
              </a:r>
              <a:endParaRPr lang="en-US" altLang="ja-JP" dirty="0">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59401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9382CAE-10FB-8520-611D-D2C35E671976}"/>
              </a:ext>
            </a:extLst>
          </p:cNvPr>
          <p:cNvSpPr>
            <a:spLocks noGrp="1"/>
          </p:cNvSpPr>
          <p:nvPr>
            <p:ph type="title"/>
          </p:nvPr>
        </p:nvSpPr>
        <p:spPr/>
        <p:txBody>
          <a:bodyPr/>
          <a:lstStyle/>
          <a:p>
            <a:r>
              <a:rPr kumimoji="1" lang="ja-JP" altLang="en-US" dirty="0"/>
              <a:t>ベンダ提案</a:t>
            </a:r>
          </a:p>
        </p:txBody>
      </p:sp>
      <p:sp>
        <p:nvSpPr>
          <p:cNvPr id="3" name="テキスト プレースホルダー 2">
            <a:extLst>
              <a:ext uri="{FF2B5EF4-FFF2-40B4-BE49-F238E27FC236}">
                <a16:creationId xmlns:a16="http://schemas.microsoft.com/office/drawing/2014/main" id="{4B87269C-C37E-D6D8-0FFD-D7D090832EB0}"/>
              </a:ext>
            </a:extLst>
          </p:cNvPr>
          <p:cNvSpPr>
            <a:spLocks noGrp="1"/>
          </p:cNvSpPr>
          <p:nvPr>
            <p:ph type="body" sz="quarter" idx="13"/>
          </p:nvPr>
        </p:nvSpPr>
        <p:spPr/>
        <p:txBody>
          <a:bodyPr/>
          <a:lstStyle/>
          <a:p>
            <a:r>
              <a:rPr kumimoji="1" lang="ja-JP" altLang="en-US" dirty="0"/>
              <a:t>「実行層を担うベンダ提案（</a:t>
            </a:r>
            <a:r>
              <a:rPr kumimoji="1" lang="en-US" altLang="ja-JP" dirty="0"/>
              <a:t>NTT</a:t>
            </a:r>
            <a:r>
              <a:rPr kumimoji="1" lang="ja-JP" altLang="en-US" dirty="0"/>
              <a:t>データ</a:t>
            </a:r>
            <a:r>
              <a:rPr lang="ja-JP" altLang="en-US" dirty="0"/>
              <a:t>など</a:t>
            </a:r>
            <a:r>
              <a:rPr kumimoji="1" lang="ja-JP" altLang="en-US" dirty="0"/>
              <a:t>）は既にあり、方法論・体制・見積の具体性を確認済み」</a:t>
            </a:r>
          </a:p>
        </p:txBody>
      </p:sp>
      <p:grpSp>
        <p:nvGrpSpPr>
          <p:cNvPr id="8" name="グループ化 7">
            <a:extLst>
              <a:ext uri="{FF2B5EF4-FFF2-40B4-BE49-F238E27FC236}">
                <a16:creationId xmlns:a16="http://schemas.microsoft.com/office/drawing/2014/main" id="{1B473B2A-3099-71B4-AFDC-112E5A1F8193}"/>
              </a:ext>
            </a:extLst>
          </p:cNvPr>
          <p:cNvGrpSpPr/>
          <p:nvPr/>
        </p:nvGrpSpPr>
        <p:grpSpPr>
          <a:xfrm>
            <a:off x="334963" y="1628775"/>
            <a:ext cx="5511361" cy="4679950"/>
            <a:chOff x="334963" y="1628775"/>
            <a:chExt cx="5511361" cy="4679950"/>
          </a:xfrm>
        </p:grpSpPr>
        <p:sp>
          <p:nvSpPr>
            <p:cNvPr id="4" name="正方形/長方形 3">
              <a:extLst>
                <a:ext uri="{FF2B5EF4-FFF2-40B4-BE49-F238E27FC236}">
                  <a16:creationId xmlns:a16="http://schemas.microsoft.com/office/drawing/2014/main" id="{EDB441AE-AB2D-140A-388F-784D13510941}"/>
                </a:ext>
              </a:extLst>
            </p:cNvPr>
            <p:cNvSpPr/>
            <p:nvPr/>
          </p:nvSpPr>
          <p:spPr>
            <a:xfrm>
              <a:off x="334964" y="2071991"/>
              <a:ext cx="5511360" cy="4236734"/>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en-US" altLang="ja-JP" sz="1400" dirty="0">
                  <a:solidFill>
                    <a:schemeClr val="tx1"/>
                  </a:solidFill>
                  <a:latin typeface="Meiryo UI" panose="020B0604030504040204" pitchFamily="50" charset="-128"/>
                  <a:ea typeface="Meiryo UI" panose="020B0604030504040204" pitchFamily="50" charset="-128"/>
                </a:rPr>
                <a:t>NTT</a:t>
              </a:r>
              <a:r>
                <a:rPr kumimoji="1" lang="ja-JP" altLang="en-US" sz="1400" dirty="0">
                  <a:solidFill>
                    <a:schemeClr val="tx1"/>
                  </a:solidFill>
                  <a:latin typeface="Meiryo UI" panose="020B0604030504040204" pitchFamily="50" charset="-128"/>
                  <a:ea typeface="Meiryo UI" panose="020B0604030504040204" pitchFamily="50" charset="-128"/>
                </a:rPr>
                <a:t>データより、現行</a:t>
              </a:r>
              <a:r>
                <a:rPr kumimoji="1" lang="en-US" altLang="ja-JP" sz="1400" dirty="0">
                  <a:solidFill>
                    <a:schemeClr val="tx1"/>
                  </a:solidFill>
                  <a:latin typeface="Meiryo UI" panose="020B0604030504040204" pitchFamily="50" charset="-128"/>
                  <a:ea typeface="Meiryo UI" panose="020B0604030504040204" pitchFamily="50" charset="-128"/>
                </a:rPr>
                <a:t>A〜F</a:t>
              </a:r>
              <a:r>
                <a:rPr kumimoji="1" lang="ja-JP" altLang="en-US" sz="1400" dirty="0">
                  <a:solidFill>
                    <a:schemeClr val="tx1"/>
                  </a:solidFill>
                  <a:latin typeface="Meiryo UI" panose="020B0604030504040204" pitchFamily="50" charset="-128"/>
                  <a:ea typeface="Meiryo UI" panose="020B0604030504040204" pitchFamily="50" charset="-128"/>
                </a:rPr>
                <a:t>社＋</a:t>
              </a:r>
              <a:r>
                <a:rPr kumimoji="1" lang="en-US" altLang="ja-JP" sz="1400" dirty="0">
                  <a:solidFill>
                    <a:schemeClr val="tx1"/>
                  </a:solidFill>
                  <a:latin typeface="Meiryo UI" panose="020B0604030504040204" pitchFamily="50" charset="-128"/>
                  <a:ea typeface="Meiryo UI" panose="020B0604030504040204" pitchFamily="50" charset="-128"/>
                </a:rPr>
                <a:t>LEB</a:t>
              </a:r>
              <a:r>
                <a:rPr kumimoji="1" lang="ja-JP" altLang="en-US" sz="1400" dirty="0">
                  <a:solidFill>
                    <a:schemeClr val="tx1"/>
                  </a:solidFill>
                  <a:latin typeface="Meiryo UI" panose="020B0604030504040204" pitchFamily="50" charset="-128"/>
                  <a:ea typeface="Meiryo UI" panose="020B0604030504040204" pitchFamily="50" charset="-128"/>
                </a:rPr>
                <a:t>領域（委託費約</a:t>
              </a:r>
              <a:r>
                <a:rPr kumimoji="1" lang="en-US" altLang="ja-JP" sz="1400" dirty="0">
                  <a:solidFill>
                    <a:schemeClr val="tx1"/>
                  </a:solidFill>
                  <a:latin typeface="Meiryo UI" panose="020B0604030504040204" pitchFamily="50" charset="-128"/>
                  <a:ea typeface="Meiryo UI" panose="020B0604030504040204" pitchFamily="50" charset="-128"/>
                </a:rPr>
                <a:t>3.7</a:t>
              </a:r>
              <a:r>
                <a:rPr kumimoji="1" lang="ja-JP" altLang="en-US" sz="1400" dirty="0">
                  <a:solidFill>
                    <a:schemeClr val="tx1"/>
                  </a:solidFill>
                  <a:latin typeface="Meiryo UI" panose="020B0604030504040204" pitchFamily="50" charset="-128"/>
                  <a:ea typeface="Meiryo UI" panose="020B0604030504040204" pitchFamily="50" charset="-128"/>
                </a:rPr>
                <a:t>億円</a:t>
              </a:r>
              <a:r>
                <a:rPr kumimoji="1" lang="en-US" altLang="ja-JP" sz="1400" dirty="0">
                  <a:solidFill>
                    <a:schemeClr val="tx1"/>
                  </a:solidFill>
                  <a:latin typeface="Meiryo UI" panose="020B0604030504040204" pitchFamily="50" charset="-128"/>
                  <a:ea typeface="Meiryo UI" panose="020B0604030504040204" pitchFamily="50" charset="-128"/>
                </a:rPr>
                <a:t>/</a:t>
              </a:r>
              <a:r>
                <a:rPr kumimoji="1" lang="ja-JP" altLang="en-US" sz="1400" dirty="0">
                  <a:solidFill>
                    <a:schemeClr val="tx1"/>
                  </a:solidFill>
                  <a:latin typeface="Meiryo UI" panose="020B0604030504040204" pitchFamily="50" charset="-128"/>
                  <a:ea typeface="Meiryo UI" panose="020B0604030504040204" pitchFamily="50" charset="-128"/>
                </a:rPr>
                <a:t>年）を対象とした運用集約提案を受領</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提案の骨子：</a:t>
              </a:r>
              <a:r>
                <a:rPr kumimoji="1" lang="en-US" altLang="ja-JP" sz="1400" dirty="0">
                  <a:solidFill>
                    <a:schemeClr val="tx1"/>
                  </a:solidFill>
                  <a:latin typeface="Meiryo UI" panose="020B0604030504040204" pitchFamily="50" charset="-128"/>
                  <a:ea typeface="Meiryo UI" panose="020B0604030504040204" pitchFamily="50" charset="-128"/>
                </a:rPr>
                <a:t>L1/L2/L3</a:t>
              </a:r>
              <a:r>
                <a:rPr kumimoji="1" lang="ja-JP" altLang="en-US" sz="1400" dirty="0">
                  <a:solidFill>
                    <a:schemeClr val="tx1"/>
                  </a:solidFill>
                  <a:latin typeface="Meiryo UI" panose="020B0604030504040204" pitchFamily="50" charset="-128"/>
                  <a:ea typeface="Meiryo UI" panose="020B0604030504040204" pitchFamily="50" charset="-128"/>
                </a:rPr>
                <a:t>シェアード運用センターへの段階移管（</a:t>
              </a:r>
              <a:r>
                <a:rPr kumimoji="1" lang="en-US" altLang="ja-JP" sz="1400" dirty="0">
                  <a:solidFill>
                    <a:schemeClr val="tx1"/>
                  </a:solidFill>
                  <a:latin typeface="Meiryo UI" panose="020B0604030504040204" pitchFamily="50" charset="-128"/>
                  <a:ea typeface="Meiryo UI" panose="020B0604030504040204" pitchFamily="50" charset="-128"/>
                </a:rPr>
                <a:t>STEP1</a:t>
              </a:r>
              <a:r>
                <a:rPr kumimoji="1" lang="ja-JP" altLang="en-US" sz="1400" dirty="0">
                  <a:solidFill>
                    <a:schemeClr val="tx1"/>
                  </a:solidFill>
                  <a:latin typeface="Meiryo UI" panose="020B0604030504040204" pitchFamily="50" charset="-128"/>
                  <a:ea typeface="Meiryo UI" panose="020B0604030504040204" pitchFamily="50" charset="-128"/>
                </a:rPr>
                <a:t>：情報が揃う領域→</a:t>
              </a:r>
              <a:r>
                <a:rPr kumimoji="1" lang="en-US" altLang="ja-JP" sz="1400" dirty="0">
                  <a:solidFill>
                    <a:schemeClr val="tx1"/>
                  </a:solidFill>
                  <a:latin typeface="Meiryo UI" panose="020B0604030504040204" pitchFamily="50" charset="-128"/>
                  <a:ea typeface="Meiryo UI" panose="020B0604030504040204" pitchFamily="50" charset="-128"/>
                </a:rPr>
                <a:t>STEP2</a:t>
              </a:r>
              <a:r>
                <a:rPr kumimoji="1" lang="ja-JP" altLang="en-US" sz="1400" dirty="0">
                  <a:solidFill>
                    <a:schemeClr val="tx1"/>
                  </a:solidFill>
                  <a:latin typeface="Meiryo UI" panose="020B0604030504040204" pitchFamily="50" charset="-128"/>
                  <a:ea typeface="Meiryo UI" panose="020B0604030504040204" pitchFamily="50" charset="-128"/>
                </a:rPr>
                <a:t>：横展開）、シャドーイング</a:t>
              </a:r>
              <a:r>
                <a:rPr kumimoji="1" lang="en-US" altLang="ja-JP" sz="1400" dirty="0">
                  <a:solidFill>
                    <a:schemeClr val="tx1"/>
                  </a:solidFill>
                  <a:latin typeface="Meiryo UI" panose="020B0604030504040204" pitchFamily="50" charset="-128"/>
                  <a:ea typeface="Meiryo UI" panose="020B0604030504040204" pitchFamily="50" charset="-128"/>
                </a:rPr>
                <a:t>/</a:t>
              </a:r>
              <a:r>
                <a:rPr kumimoji="1" lang="ja-JP" altLang="en-US" sz="1400" dirty="0">
                  <a:solidFill>
                    <a:schemeClr val="tx1"/>
                  </a:solidFill>
                  <a:latin typeface="Meiryo UI" panose="020B0604030504040204" pitchFamily="50" charset="-128"/>
                  <a:ea typeface="Meiryo UI" panose="020B0604030504040204" pitchFamily="50" charset="-128"/>
                </a:rPr>
                <a:t>リバースシャドーイングによる暗黙知の引継ぎ、</a:t>
              </a:r>
              <a:r>
                <a:rPr kumimoji="1" lang="en-US" altLang="ja-JP" sz="1400" dirty="0">
                  <a:solidFill>
                    <a:schemeClr val="tx1"/>
                  </a:solidFill>
                  <a:latin typeface="Meiryo UI" panose="020B0604030504040204" pitchFamily="50" charset="-128"/>
                  <a:ea typeface="Meiryo UI" panose="020B0604030504040204" pitchFamily="50" charset="-128"/>
                </a:rPr>
                <a:t>AI</a:t>
              </a:r>
              <a:r>
                <a:rPr kumimoji="1" lang="ja-JP" altLang="en-US" sz="1400" dirty="0">
                  <a:solidFill>
                    <a:schemeClr val="tx1"/>
                  </a:solidFill>
                  <a:latin typeface="Meiryo UI" panose="020B0604030504040204" pitchFamily="50" charset="-128"/>
                  <a:ea typeface="Meiryo UI" panose="020B0604030504040204" pitchFamily="50" charset="-128"/>
                </a:rPr>
                <a:t>・自動化の段階適用</a:t>
              </a:r>
              <a:endParaRPr kumimoji="1" lang="en-US" altLang="ja-JP" sz="14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当社評価：移管方法論・段階設計・</a:t>
              </a:r>
              <a:r>
                <a:rPr kumimoji="1" lang="en-US" altLang="ja-JP" sz="1400" dirty="0">
                  <a:solidFill>
                    <a:schemeClr val="tx1"/>
                  </a:solidFill>
                  <a:latin typeface="Meiryo UI" panose="020B0604030504040204" pitchFamily="50" charset="-128"/>
                  <a:ea typeface="Meiryo UI" panose="020B0604030504040204" pitchFamily="50" charset="-128"/>
                </a:rPr>
                <a:t>BCP</a:t>
              </a:r>
              <a:r>
                <a:rPr kumimoji="1" lang="ja-JP" altLang="en-US" sz="1400" dirty="0">
                  <a:solidFill>
                    <a:schemeClr val="tx1"/>
                  </a:solidFill>
                  <a:latin typeface="Meiryo UI" panose="020B0604030504040204" pitchFamily="50" charset="-128"/>
                  <a:ea typeface="Meiryo UI" panose="020B0604030504040204" pitchFamily="50" charset="-128"/>
                </a:rPr>
                <a:t>整理（有事のフェーズ対応）は高評価。一方、削減率・ベースラインはベンダ試算であり、</a:t>
              </a:r>
              <a:r>
                <a:rPr kumimoji="1" lang="en-US" altLang="ja-JP" sz="1400" dirty="0">
                  <a:solidFill>
                    <a:schemeClr val="tx1"/>
                  </a:solidFill>
                  <a:latin typeface="Meiryo UI" panose="020B0604030504040204" pitchFamily="50" charset="-128"/>
                  <a:ea typeface="Meiryo UI" panose="020B0604030504040204" pitchFamily="50" charset="-128"/>
                </a:rPr>
                <a:t>Phase 0</a:t>
              </a:r>
              <a:r>
                <a:rPr kumimoji="1" lang="ja-JP" altLang="en-US" sz="1400" dirty="0">
                  <a:solidFill>
                    <a:schemeClr val="tx1"/>
                  </a:solidFill>
                  <a:latin typeface="Meiryo UI" panose="020B0604030504040204" pitchFamily="50" charset="-128"/>
                  <a:ea typeface="Meiryo UI" panose="020B0604030504040204" pitchFamily="50" charset="-128"/>
                </a:rPr>
                <a:t>での当社検証と契約条項（</a:t>
              </a:r>
              <a:r>
                <a:rPr kumimoji="1" lang="en-US" altLang="ja-JP" sz="1400" dirty="0">
                  <a:solidFill>
                    <a:schemeClr val="tx1"/>
                  </a:solidFill>
                  <a:latin typeface="Meiryo UI" panose="020B0604030504040204" pitchFamily="50" charset="-128"/>
                  <a:ea typeface="Meiryo UI" panose="020B0604030504040204" pitchFamily="50" charset="-128"/>
                </a:rPr>
                <a:t>SLA/</a:t>
              </a:r>
              <a:r>
                <a:rPr kumimoji="1" lang="ja-JP" altLang="en-US" sz="1400" dirty="0">
                  <a:solidFill>
                    <a:schemeClr val="tx1"/>
                  </a:solidFill>
                  <a:latin typeface="Meiryo UI" panose="020B0604030504040204" pitchFamily="50" charset="-128"/>
                  <a:ea typeface="Meiryo UI" panose="020B0604030504040204" pitchFamily="50" charset="-128"/>
                </a:rPr>
                <a:t>成果物</a:t>
              </a:r>
              <a:r>
                <a:rPr kumimoji="1" lang="en-US" altLang="ja-JP" sz="1400" dirty="0">
                  <a:solidFill>
                    <a:schemeClr val="tx1"/>
                  </a:solidFill>
                  <a:latin typeface="Meiryo UI" panose="020B0604030504040204" pitchFamily="50" charset="-128"/>
                  <a:ea typeface="Meiryo UI" panose="020B0604030504040204" pitchFamily="50" charset="-128"/>
                </a:rPr>
                <a:t>IP/Exit</a:t>
              </a:r>
              <a:r>
                <a:rPr kumimoji="1" lang="ja-JP" altLang="en-US" sz="1400" dirty="0">
                  <a:solidFill>
                    <a:schemeClr val="tx1"/>
                  </a:solidFill>
                  <a:latin typeface="Meiryo UI" panose="020B0604030504040204" pitchFamily="50" charset="-128"/>
                  <a:ea typeface="Meiryo UI" panose="020B0604030504040204" pitchFamily="50" charset="-128"/>
                </a:rPr>
                <a:t>等）の担保を契約の前提とする</a:t>
              </a:r>
            </a:p>
          </p:txBody>
        </p:sp>
        <p:grpSp>
          <p:nvGrpSpPr>
            <p:cNvPr id="5" name="グループ化 4">
              <a:extLst>
                <a:ext uri="{FF2B5EF4-FFF2-40B4-BE49-F238E27FC236}">
                  <a16:creationId xmlns:a16="http://schemas.microsoft.com/office/drawing/2014/main" id="{3C121107-FC4E-65F7-70DF-B1451E16ED3A}"/>
                </a:ext>
              </a:extLst>
            </p:cNvPr>
            <p:cNvGrpSpPr/>
            <p:nvPr/>
          </p:nvGrpSpPr>
          <p:grpSpPr>
            <a:xfrm>
              <a:off x="334963" y="1628775"/>
              <a:ext cx="5511361" cy="369332"/>
              <a:chOff x="334963" y="1628775"/>
              <a:chExt cx="5761037" cy="369332"/>
            </a:xfrm>
          </p:grpSpPr>
          <p:cxnSp>
            <p:nvCxnSpPr>
              <p:cNvPr id="6" name="直線コネクタ 5">
                <a:extLst>
                  <a:ext uri="{FF2B5EF4-FFF2-40B4-BE49-F238E27FC236}">
                    <a16:creationId xmlns:a16="http://schemas.microsoft.com/office/drawing/2014/main" id="{5D7403ED-8396-E8BB-E81D-79FD3CF32959}"/>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C379F284-2E80-1B35-DF3D-1D5B5C453564}"/>
                  </a:ext>
                </a:extLst>
              </p:cNvPr>
              <p:cNvSpPr txBox="1"/>
              <p:nvPr/>
            </p:nvSpPr>
            <p:spPr>
              <a:xfrm>
                <a:off x="334963" y="1628775"/>
                <a:ext cx="5761037" cy="369332"/>
              </a:xfrm>
              <a:prstGeom prst="rect">
                <a:avLst/>
              </a:prstGeom>
              <a:noFill/>
            </p:spPr>
            <p:txBody>
              <a:bodyPr wrap="square" rtlCol="0">
                <a:spAutoFit/>
              </a:bodyPr>
              <a:lstStyle/>
              <a:p>
                <a:pPr algn="ctr"/>
                <a:r>
                  <a:rPr lang="ja-JP" altLang="ja-JP" dirty="0"/>
                  <a:t>選択肢Dの実行計画</a:t>
                </a:r>
                <a:endParaRPr lang="en-US" altLang="ja-JP" dirty="0">
                  <a:latin typeface="Meiryo UI" panose="020B0604030504040204" pitchFamily="50" charset="-128"/>
                  <a:ea typeface="Meiryo UI" panose="020B0604030504040204" pitchFamily="50" charset="-128"/>
                </a:endParaRPr>
              </a:p>
            </p:txBody>
          </p:sp>
        </p:grpSp>
      </p:grpSp>
      <p:grpSp>
        <p:nvGrpSpPr>
          <p:cNvPr id="9" name="グループ化 8">
            <a:extLst>
              <a:ext uri="{FF2B5EF4-FFF2-40B4-BE49-F238E27FC236}">
                <a16:creationId xmlns:a16="http://schemas.microsoft.com/office/drawing/2014/main" id="{D4DB9524-9B2E-F96C-A9AC-4828085B14BB}"/>
              </a:ext>
            </a:extLst>
          </p:cNvPr>
          <p:cNvGrpSpPr/>
          <p:nvPr/>
        </p:nvGrpSpPr>
        <p:grpSpPr>
          <a:xfrm>
            <a:off x="6345677" y="1638503"/>
            <a:ext cx="5511361" cy="2729216"/>
            <a:chOff x="334963" y="1628775"/>
            <a:chExt cx="5511361" cy="3014727"/>
          </a:xfrm>
        </p:grpSpPr>
        <p:sp>
          <p:nvSpPr>
            <p:cNvPr id="10" name="正方形/長方形 9">
              <a:extLst>
                <a:ext uri="{FF2B5EF4-FFF2-40B4-BE49-F238E27FC236}">
                  <a16:creationId xmlns:a16="http://schemas.microsoft.com/office/drawing/2014/main" id="{322325D2-41A7-C723-3E5E-95AA481CB106}"/>
                </a:ext>
              </a:extLst>
            </p:cNvPr>
            <p:cNvSpPr/>
            <p:nvPr/>
          </p:nvSpPr>
          <p:spPr>
            <a:xfrm>
              <a:off x="334964" y="2071991"/>
              <a:ext cx="5511360" cy="2571511"/>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NTT</a:t>
              </a:r>
              <a:r>
                <a:rPr kumimoji="1" lang="ja-JP" altLang="en-US" sz="1200" dirty="0">
                  <a:solidFill>
                    <a:schemeClr val="tx1"/>
                  </a:solidFill>
                  <a:latin typeface="Meiryo UI" panose="020B0604030504040204" pitchFamily="50" charset="-128"/>
                  <a:ea typeface="Meiryo UI" panose="020B0604030504040204" pitchFamily="50" charset="-128"/>
                </a:rPr>
                <a:t>提案を</a:t>
              </a:r>
              <a:r>
                <a:rPr kumimoji="1" lang="en-US" altLang="ja-JP" sz="1200" dirty="0">
                  <a:solidFill>
                    <a:schemeClr val="tx1"/>
                  </a:solidFill>
                  <a:latin typeface="Meiryo UI" panose="020B0604030504040204" pitchFamily="50" charset="-128"/>
                  <a:ea typeface="Meiryo UI" panose="020B0604030504040204" pitchFamily="50" charset="-128"/>
                </a:rPr>
                <a:t>3</a:t>
              </a:r>
              <a:r>
                <a:rPr kumimoji="1" lang="ja-JP" altLang="en-US" sz="1200" dirty="0">
                  <a:solidFill>
                    <a:schemeClr val="tx1"/>
                  </a:solidFill>
                  <a:latin typeface="Meiryo UI" panose="020B0604030504040204" pitchFamily="50" charset="-128"/>
                  <a:ea typeface="Meiryo UI" panose="020B0604030504040204" pitchFamily="50" charset="-128"/>
                </a:rPr>
                <a:t>階層モデルにはめ込む</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キーメッセージ：「NTTDセンターが担うのは実行層。SLA監視・検収・ベンダ統制はLEBが握る。ここが『丸投げ（C案）』との決定的な違い」</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r>
                <a:rPr kumimoji="1" lang="en-US" altLang="ja-JP" sz="1200" dirty="0">
                  <a:solidFill>
                    <a:schemeClr val="tx1"/>
                  </a:solidFill>
                  <a:latin typeface="Meiryo UI" panose="020B0604030504040204" pitchFamily="50" charset="-128"/>
                  <a:ea typeface="Meiryo UI" panose="020B0604030504040204" pitchFamily="50" charset="-128"/>
                </a:rPr>
                <a:t/>
              </a:r>
              <a:r>
                <a:rPr kumimoji="1" lang="ja-JP" altLang="en-US" sz="1200" dirty="0">
                  <a:solidFill>
                    <a:schemeClr val="tx1"/>
                  </a:solidFill>
                  <a:latin typeface="Meiryo UI" panose="020B0604030504040204" pitchFamily="50" charset="-128"/>
                  <a:ea typeface="Meiryo UI" panose="020B0604030504040204" pitchFamily="50" charset="-128"/>
                </a:rPr>
                <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図の指示：</a:t>
              </a:r>
              <a:r>
                <a:rPr kumimoji="1" lang="en-US" altLang="ja-JP" sz="1200" dirty="0">
                  <a:solidFill>
                    <a:schemeClr val="tx1"/>
                  </a:solidFill>
                  <a:latin typeface="Meiryo UI" panose="020B0604030504040204" pitchFamily="50" charset="-128"/>
                  <a:ea typeface="Meiryo UI" panose="020B0604030504040204" pitchFamily="50" charset="-128"/>
                </a:rPr>
                <a:t>NTT</a:t>
              </a:r>
              <a:r>
                <a:rPr kumimoji="1" lang="ja-JP" altLang="en-US" sz="1200" dirty="0">
                  <a:solidFill>
                    <a:schemeClr val="tx1"/>
                  </a:solidFill>
                  <a:latin typeface="Meiryo UI" panose="020B0604030504040204" pitchFamily="50" charset="-128"/>
                  <a:ea typeface="Meiryo UI" panose="020B0604030504040204" pitchFamily="50" charset="-128"/>
                </a:rPr>
                <a:t>資料</a:t>
              </a:r>
              <a:r>
                <a:rPr kumimoji="1" lang="en-US" altLang="ja-JP" sz="1200" dirty="0">
                  <a:solidFill>
                    <a:schemeClr val="tx1"/>
                  </a:solidFill>
                  <a:latin typeface="Meiryo UI" panose="020B0604030504040204" pitchFamily="50" charset="-128"/>
                  <a:ea typeface="Meiryo UI" panose="020B0604030504040204" pitchFamily="50" charset="-128"/>
                </a:rPr>
                <a:t>P6</a:t>
              </a:r>
              <a:r>
                <a:rPr kumimoji="1" lang="ja-JP" altLang="en-US" sz="1200" dirty="0">
                  <a:solidFill>
                    <a:schemeClr val="tx1"/>
                  </a:solidFill>
                  <a:latin typeface="Meiryo UI" panose="020B0604030504040204" pitchFamily="50" charset="-128"/>
                  <a:ea typeface="Meiryo UI" panose="020B0604030504040204" pitchFamily="50" charset="-128"/>
                </a:rPr>
                <a:t>の</a:t>
              </a:r>
              <a:r>
                <a:rPr kumimoji="1" lang="en-US" altLang="ja-JP" sz="1200" dirty="0">
                  <a:solidFill>
                    <a:schemeClr val="tx1"/>
                  </a:solidFill>
                  <a:latin typeface="Meiryo UI" panose="020B0604030504040204" pitchFamily="50" charset="-128"/>
                  <a:ea typeface="Meiryo UI" panose="020B0604030504040204" pitchFamily="50" charset="-128"/>
                </a:rPr>
                <a:t>To-Be</a:t>
              </a:r>
              <a:r>
                <a:rPr kumimoji="1" lang="ja-JP" altLang="en-US" sz="1200" dirty="0">
                  <a:solidFill>
                    <a:schemeClr val="tx1"/>
                  </a:solidFill>
                  <a:latin typeface="Meiryo UI" panose="020B0604030504040204" pitchFamily="50" charset="-128"/>
                  <a:ea typeface="Meiryo UI" panose="020B0604030504040204" pitchFamily="50" charset="-128"/>
                </a:rPr>
                <a:t>図をベースに、デジ戦部と</a:t>
              </a:r>
              <a:r>
                <a:rPr kumimoji="1" lang="en-US" altLang="ja-JP" sz="1200" dirty="0">
                  <a:solidFill>
                    <a:schemeClr val="tx1"/>
                  </a:solidFill>
                  <a:latin typeface="Meiryo UI" panose="020B0604030504040204" pitchFamily="50" charset="-128"/>
                  <a:ea typeface="Meiryo UI" panose="020B0604030504040204" pitchFamily="50" charset="-128"/>
                </a:rPr>
                <a:t>NTTD</a:t>
              </a:r>
              <a:r>
                <a:rPr kumimoji="1" lang="ja-JP" altLang="en-US" sz="1200" dirty="0">
                  <a:solidFill>
                    <a:schemeClr val="tx1"/>
                  </a:solidFill>
                  <a:latin typeface="Meiryo UI" panose="020B0604030504040204" pitchFamily="50" charset="-128"/>
                  <a:ea typeface="Meiryo UI" panose="020B0604030504040204" pitchFamily="50" charset="-128"/>
                </a:rPr>
                <a:t>センターの間に</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（統制層）を挿入した</a:t>
              </a:r>
              <a:r>
                <a:rPr kumimoji="1" lang="en-US" altLang="ja-JP" sz="1200" dirty="0">
                  <a:solidFill>
                    <a:schemeClr val="tx1"/>
                  </a:solidFill>
                  <a:latin typeface="Meiryo UI" panose="020B0604030504040204" pitchFamily="50" charset="-128"/>
                  <a:ea typeface="Meiryo UI" panose="020B0604030504040204" pitchFamily="50" charset="-128"/>
                </a:rPr>
                <a:t>3</a:t>
              </a:r>
              <a:r>
                <a:rPr kumimoji="1" lang="ja-JP" altLang="en-US" sz="1200" dirty="0">
                  <a:solidFill>
                    <a:schemeClr val="tx1"/>
                  </a:solidFill>
                  <a:latin typeface="Meiryo UI" panose="020B0604030504040204" pitchFamily="50" charset="-128"/>
                  <a:ea typeface="Meiryo UI" panose="020B0604030504040204" pitchFamily="50" charset="-128"/>
                </a:rPr>
                <a:t>段の図を描く</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デジ戦部＝戦略：投資判断・需要管理</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への目標設定</a:t>
              </a:r>
              <a:r>
                <a:rPr kumimoji="1" lang="en-US" altLang="ja-JP" sz="1200" dirty="0">
                  <a:solidFill>
                    <a:schemeClr val="tx1"/>
                  </a:solidFill>
                  <a:latin typeface="Meiryo UI" panose="020B0604030504040204" pitchFamily="50" charset="-128"/>
                  <a:ea typeface="Meiryo UI" panose="020B0604030504040204" pitchFamily="50" charset="-128"/>
                </a:rPr>
                <a:t>LEB</a:t>
              </a:r>
              <a:r>
                <a:rPr kumimoji="1" lang="ja-JP" altLang="en-US" sz="1200" dirty="0">
                  <a:solidFill>
                    <a:schemeClr val="tx1"/>
                  </a:solidFill>
                  <a:latin typeface="Meiryo UI" panose="020B0604030504040204" pitchFamily="50" charset="-128"/>
                  <a:ea typeface="Meiryo UI" panose="020B0604030504040204" pitchFamily="50" charset="-128"/>
                </a:rPr>
                <a:t>＝統制：</a:t>
              </a:r>
              <a:r>
                <a:rPr kumimoji="1" lang="en-US" altLang="ja-JP" sz="1200" dirty="0">
                  <a:solidFill>
                    <a:schemeClr val="tx1"/>
                  </a:solidFill>
                  <a:latin typeface="Meiryo UI" panose="020B0604030504040204" pitchFamily="50" charset="-128"/>
                  <a:ea typeface="Meiryo UI" panose="020B0604030504040204" pitchFamily="50" charset="-128"/>
                </a:rPr>
                <a:t>SLA/KPI</a:t>
              </a:r>
              <a:r>
                <a:rPr kumimoji="1" lang="ja-JP" altLang="en-US" sz="1200" dirty="0">
                  <a:solidFill>
                    <a:schemeClr val="tx1"/>
                  </a:solidFill>
                  <a:latin typeface="Meiryo UI" panose="020B0604030504040204" pitchFamily="50" charset="-128"/>
                  <a:ea typeface="Meiryo UI" panose="020B0604030504040204" pitchFamily="50" charset="-128"/>
                </a:rPr>
                <a:t>監視・品質検収・請求査定・マルチベンダ統合（</a:t>
              </a:r>
              <a:r>
                <a:rPr kumimoji="1" lang="en-US" altLang="ja-JP" sz="1200" dirty="0">
                  <a:solidFill>
                    <a:schemeClr val="tx1"/>
                  </a:solidFill>
                  <a:latin typeface="Meiryo UI" panose="020B0604030504040204" pitchFamily="50" charset="-128"/>
                  <a:ea typeface="Meiryo UI" panose="020B0604030504040204" pitchFamily="50" charset="-128"/>
                </a:rPr>
                <a:t>NTTD</a:t>
              </a:r>
              <a:r>
                <a:rPr kumimoji="1" lang="ja-JP" altLang="en-US" sz="1200" dirty="0">
                  <a:solidFill>
                    <a:schemeClr val="tx1"/>
                  </a:solidFill>
                  <a:latin typeface="Meiryo UI" panose="020B0604030504040204" pitchFamily="50" charset="-128"/>
                  <a:ea typeface="Meiryo UI" panose="020B0604030504040204" pitchFamily="50" charset="-128"/>
                </a:rPr>
                <a:t>含む実行ベンダを横串管理）</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NTTD</a:t>
              </a:r>
              <a:r>
                <a:rPr kumimoji="1" lang="ja-JP" altLang="en-US" sz="1200" dirty="0">
                  <a:solidFill>
                    <a:schemeClr val="tx1"/>
                  </a:solidFill>
                  <a:latin typeface="Meiryo UI" panose="020B0604030504040204" pitchFamily="50" charset="-128"/>
                  <a:ea typeface="Meiryo UI" panose="020B0604030504040204" pitchFamily="50" charset="-128"/>
                </a:rPr>
                <a:t>センター＋残置ベンダ＝実行：</a:t>
              </a:r>
              <a:r>
                <a:rPr kumimoji="1" lang="en-US" altLang="ja-JP" sz="1200" dirty="0">
                  <a:solidFill>
                    <a:schemeClr val="tx1"/>
                  </a:solidFill>
                  <a:latin typeface="Meiryo UI" panose="020B0604030504040204" pitchFamily="50" charset="-128"/>
                  <a:ea typeface="Meiryo UI" panose="020B0604030504040204" pitchFamily="50" charset="-128"/>
                </a:rPr>
                <a:t>L1</a:t>
              </a:r>
              <a:r>
                <a:rPr kumimoji="1" lang="ja-JP" altLang="en-US" sz="1200" dirty="0">
                  <a:solidFill>
                    <a:schemeClr val="tx1"/>
                  </a:solidFill>
                  <a:latin typeface="Meiryo UI" panose="020B0604030504040204" pitchFamily="50" charset="-128"/>
                  <a:ea typeface="Meiryo UI" panose="020B0604030504040204" pitchFamily="50" charset="-128"/>
                </a:rPr>
                <a:t>（定型・監視）</a:t>
              </a:r>
              <a:r>
                <a:rPr kumimoji="1" lang="en-US" altLang="ja-JP" sz="1200" dirty="0">
                  <a:solidFill>
                    <a:schemeClr val="tx1"/>
                  </a:solidFill>
                  <a:latin typeface="Meiryo UI" panose="020B0604030504040204" pitchFamily="50" charset="-128"/>
                  <a:ea typeface="Meiryo UI" panose="020B0604030504040204" pitchFamily="50" charset="-128"/>
                </a:rPr>
                <a:t>/L2</a:t>
              </a:r>
              <a:r>
                <a:rPr kumimoji="1" lang="ja-JP" altLang="en-US" sz="1200" dirty="0">
                  <a:solidFill>
                    <a:schemeClr val="tx1"/>
                  </a:solidFill>
                  <a:latin typeface="Meiryo UI" panose="020B0604030504040204" pitchFamily="50" charset="-128"/>
                  <a:ea typeface="Meiryo UI" panose="020B0604030504040204" pitchFamily="50" charset="-128"/>
                </a:rPr>
                <a:t>（定型・非定型）</a:t>
              </a:r>
              <a:r>
                <a:rPr kumimoji="1" lang="en-US" altLang="ja-JP" sz="1200" dirty="0">
                  <a:solidFill>
                    <a:schemeClr val="tx1"/>
                  </a:solidFill>
                  <a:latin typeface="Meiryo UI" panose="020B0604030504040204" pitchFamily="50" charset="-128"/>
                  <a:ea typeface="Meiryo UI" panose="020B0604030504040204" pitchFamily="50" charset="-128"/>
                </a:rPr>
                <a:t>/L3</a:t>
              </a:r>
              <a:r>
                <a:rPr kumimoji="1" lang="ja-JP" altLang="en-US" sz="1200" dirty="0">
                  <a:solidFill>
                    <a:schemeClr val="tx1"/>
                  </a:solidFill>
                  <a:latin typeface="Meiryo UI" panose="020B0604030504040204" pitchFamily="50" charset="-128"/>
                  <a:ea typeface="Meiryo UI" panose="020B0604030504040204" pitchFamily="50" charset="-128"/>
                </a:rPr>
                <a:t>（非定型・管理）、</a:t>
              </a:r>
              <a:r>
                <a:rPr kumimoji="1" lang="en-US" altLang="ja-JP" sz="1200" dirty="0">
                  <a:solidFill>
                    <a:schemeClr val="tx1"/>
                  </a:solidFill>
                  <a:latin typeface="Meiryo UI" panose="020B0604030504040204" pitchFamily="50" charset="-128"/>
                  <a:ea typeface="Meiryo UI" panose="020B0604030504040204" pitchFamily="50" charset="-128"/>
                </a:rPr>
                <a:t>24/365</a:t>
              </a: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As-Is</a:t>
              </a:r>
              <a:r>
                <a:rPr kumimoji="1" lang="ja-JP" altLang="en-US" sz="1200" dirty="0">
                  <a:solidFill>
                    <a:schemeClr val="tx1"/>
                  </a:solidFill>
                  <a:latin typeface="Meiryo UI" panose="020B0604030504040204" pitchFamily="50" charset="-128"/>
                  <a:ea typeface="Meiryo UI" panose="020B0604030504040204" pitchFamily="50" charset="-128"/>
                </a:rPr>
                <a:t>側には現状の「社員が問い合わせ・指示・成果物補完・手戻りを肩代わりしている」構図を対置</a:t>
              </a:r>
            </a:p>
            <a:p>
              <a:pPr marL="742950" lvl="1" indent="-285750">
                <a:buFont typeface="Arial" panose="020B0604020202020204" pitchFamily="34" charset="0"/>
                <a:buChar char="•"/>
              </a:pPr>
              <a:r>
                <a:rPr kumimoji="1" lang="en-US" altLang="ja-JP" sz="1200" dirty="0">
                  <a:solidFill>
                    <a:schemeClr val="tx1"/>
                  </a:solidFill>
                  <a:latin typeface="Meiryo UI" panose="020B0604030504040204" pitchFamily="50" charset="-128"/>
                  <a:ea typeface="Meiryo UI" panose="020B0604030504040204" pitchFamily="50" charset="-128"/>
                </a:rPr>
                <a:t>FY27は初期費用＋運用費用が現行費用と同水準に収まる設計を目標。効果不足時は社員2FTE創出分（年約2,500万円相当）の扱いを別途経営判断</a:t>
              </a:r>
              <a:r>
                <a:rPr kumimoji="1" lang="ja-JP" altLang="en-US" sz="1200" dirty="0">
                  <a:solidFill>
                    <a:schemeClr val="tx1"/>
                  </a:solidFill>
                  <a:latin typeface="Meiryo UI" panose="020B0604030504040204" pitchFamily="50" charset="-128"/>
                  <a:ea typeface="Meiryo UI" panose="020B0604030504040204" pitchFamily="50" charset="-128"/>
                </a:rPr>
                <a:t/>
              </a:r>
            </a:p>
          </p:txBody>
        </p:sp>
        <p:grpSp>
          <p:nvGrpSpPr>
            <p:cNvPr id="11" name="グループ化 10">
              <a:extLst>
                <a:ext uri="{FF2B5EF4-FFF2-40B4-BE49-F238E27FC236}">
                  <a16:creationId xmlns:a16="http://schemas.microsoft.com/office/drawing/2014/main" id="{2DAAAE35-DE18-EDBF-978A-A47E6DEA0B70}"/>
                </a:ext>
              </a:extLst>
            </p:cNvPr>
            <p:cNvGrpSpPr/>
            <p:nvPr/>
          </p:nvGrpSpPr>
          <p:grpSpPr>
            <a:xfrm>
              <a:off x="334963" y="1628775"/>
              <a:ext cx="5511361" cy="369332"/>
              <a:chOff x="334963" y="1628775"/>
              <a:chExt cx="5761037" cy="369332"/>
            </a:xfrm>
          </p:grpSpPr>
          <p:cxnSp>
            <p:nvCxnSpPr>
              <p:cNvPr id="12" name="直線コネクタ 11">
                <a:extLst>
                  <a:ext uri="{FF2B5EF4-FFF2-40B4-BE49-F238E27FC236}">
                    <a16:creationId xmlns:a16="http://schemas.microsoft.com/office/drawing/2014/main" id="{E62C9B51-32D5-5F7C-AE44-700F3A166407}"/>
                  </a:ext>
                </a:extLst>
              </p:cNvPr>
              <p:cNvCxnSpPr/>
              <p:nvPr/>
            </p:nvCxnSpPr>
            <p:spPr>
              <a:xfrm>
                <a:off x="334963" y="1974715"/>
                <a:ext cx="5761037"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EC44FF51-7FA5-25A1-5300-B630854C8057}"/>
                  </a:ext>
                </a:extLst>
              </p:cNvPr>
              <p:cNvSpPr txBox="1"/>
              <p:nvPr/>
            </p:nvSpPr>
            <p:spPr>
              <a:xfrm>
                <a:off x="334963" y="1628775"/>
                <a:ext cx="5761037" cy="369332"/>
              </a:xfrm>
              <a:prstGeom prst="rect">
                <a:avLst/>
              </a:prstGeom>
              <a:noFill/>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責任分界</a:t>
                </a:r>
                <a:endParaRPr lang="en-US" altLang="ja-JP" dirty="0">
                  <a:latin typeface="Meiryo UI" panose="020B0604030504040204" pitchFamily="50" charset="-128"/>
                  <a:ea typeface="Meiryo UI" panose="020B0604030504040204" pitchFamily="50" charset="-128"/>
                </a:endParaRPr>
              </a:p>
            </p:txBody>
          </p:sp>
        </p:grpSp>
      </p:grpSp>
      <p:graphicFrame>
        <p:nvGraphicFramePr>
          <p:cNvPr id="17" name="表 16">
            <a:extLst>
              <a:ext uri="{FF2B5EF4-FFF2-40B4-BE49-F238E27FC236}">
                <a16:creationId xmlns:a16="http://schemas.microsoft.com/office/drawing/2014/main" id="{1C1218B6-DEA9-8443-7E37-BE5984730EB2}"/>
              </a:ext>
            </a:extLst>
          </p:cNvPr>
          <p:cNvGraphicFramePr>
            <a:graphicFrameLocks noGrp="1"/>
          </p:cNvGraphicFramePr>
          <p:nvPr>
            <p:extLst>
              <p:ext uri="{D42A27DB-BD31-4B8C-83A1-F6EECF244321}">
                <p14:modId xmlns:p14="http://schemas.microsoft.com/office/powerpoint/2010/main" val="3191120080"/>
              </p:ext>
            </p:extLst>
          </p:nvPr>
        </p:nvGraphicFramePr>
        <p:xfrm>
          <a:off x="6345674" y="4424878"/>
          <a:ext cx="5511362" cy="1894797"/>
        </p:xfrm>
        <a:graphic>
          <a:graphicData uri="http://schemas.openxmlformats.org/drawingml/2006/table">
            <a:tbl>
              <a:tblPr firstRow="1" bandRow="1">
                <a:tableStyleId>{7DF18680-E054-41AD-8BC1-D1AEF772440D}</a:tableStyleId>
              </a:tblPr>
              <a:tblGrid>
                <a:gridCol w="852794">
                  <a:extLst>
                    <a:ext uri="{9D8B030D-6E8A-4147-A177-3AD203B41FA5}">
                      <a16:colId xmlns:a16="http://schemas.microsoft.com/office/drawing/2014/main" val="607844784"/>
                    </a:ext>
                  </a:extLst>
                </a:gridCol>
                <a:gridCol w="2091447">
                  <a:extLst>
                    <a:ext uri="{9D8B030D-6E8A-4147-A177-3AD203B41FA5}">
                      <a16:colId xmlns:a16="http://schemas.microsoft.com/office/drawing/2014/main" val="3707364587"/>
                    </a:ext>
                  </a:extLst>
                </a:gridCol>
                <a:gridCol w="2567121">
                  <a:extLst>
                    <a:ext uri="{9D8B030D-6E8A-4147-A177-3AD203B41FA5}">
                      <a16:colId xmlns:a16="http://schemas.microsoft.com/office/drawing/2014/main" val="2668027021"/>
                    </a:ext>
                  </a:extLst>
                </a:gridCol>
              </a:tblGrid>
              <a:tr h="248259">
                <a:tc>
                  <a:txBody>
                    <a:bodyPr/>
                    <a:lstStyle/>
                    <a:p>
                      <a:pPr>
                        <a:buNone/>
                      </a:pPr>
                      <a:r>
                        <a:rPr lang="ja-JP" sz="1050" dirty="0"/>
                        <a:t> </a:t>
                      </a:r>
                    </a:p>
                  </a:txBody>
                  <a:tcPr anchor="ctr"/>
                </a:tc>
                <a:tc>
                  <a:txBody>
                    <a:bodyPr/>
                    <a:lstStyle/>
                    <a:p>
                      <a:pPr>
                        <a:buNone/>
                      </a:pPr>
                      <a:r>
                        <a:rPr lang="ja-JP" sz="1050" dirty="0"/>
                        <a:t>全体（当社試算）</a:t>
                      </a:r>
                    </a:p>
                  </a:txBody>
                  <a:tcPr anchor="ctr"/>
                </a:tc>
                <a:tc>
                  <a:txBody>
                    <a:bodyPr/>
                    <a:lstStyle/>
                    <a:p>
                      <a:pPr>
                        <a:buNone/>
                      </a:pPr>
                      <a:r>
                        <a:rPr lang="ja-JP" sz="1050"/>
                        <a:t>今回スコープ（NTT提案）</a:t>
                      </a:r>
                    </a:p>
                  </a:txBody>
                  <a:tcPr anchor="ctr"/>
                </a:tc>
                <a:extLst>
                  <a:ext uri="{0D108BD9-81ED-4DB2-BD59-A6C34878D82A}">
                    <a16:rowId xmlns:a16="http://schemas.microsoft.com/office/drawing/2014/main" val="3049618758"/>
                  </a:ext>
                </a:extLst>
              </a:tr>
              <a:tr h="408897">
                <a:tc>
                  <a:txBody>
                    <a:bodyPr/>
                    <a:lstStyle/>
                    <a:p>
                      <a:pPr>
                        <a:buNone/>
                      </a:pPr>
                      <a:r>
                        <a:rPr lang="ja-JP" sz="1050"/>
                        <a:t>対象</a:t>
                      </a:r>
                    </a:p>
                  </a:txBody>
                  <a:tcPr anchor="ctr"/>
                </a:tc>
                <a:tc>
                  <a:txBody>
                    <a:bodyPr/>
                    <a:lstStyle/>
                    <a:p>
                      <a:pPr>
                        <a:buNone/>
                      </a:pPr>
                      <a:r>
                        <a:rPr lang="ja-JP" sz="1050" dirty="0"/>
                        <a:t>全運用（ベンダ費10億＋社員12FTE）</a:t>
                      </a:r>
                    </a:p>
                  </a:txBody>
                  <a:tcPr anchor="ctr"/>
                </a:tc>
                <a:tc>
                  <a:txBody>
                    <a:bodyPr/>
                    <a:lstStyle/>
                    <a:p>
                      <a:pPr>
                        <a:buNone/>
                      </a:pPr>
                      <a:r>
                        <a:rPr lang="ja-JP" sz="1050"/>
                        <a:t>A〜F社＋LEB（3.7億円・22.8FTE相当）</a:t>
                      </a:r>
                    </a:p>
                  </a:txBody>
                  <a:tcPr anchor="ctr"/>
                </a:tc>
                <a:extLst>
                  <a:ext uri="{0D108BD9-81ED-4DB2-BD59-A6C34878D82A}">
                    <a16:rowId xmlns:a16="http://schemas.microsoft.com/office/drawing/2014/main" val="3960486044"/>
                  </a:ext>
                </a:extLst>
              </a:tr>
              <a:tr h="408897">
                <a:tc>
                  <a:txBody>
                    <a:bodyPr/>
                    <a:lstStyle/>
                    <a:p>
                      <a:pPr>
                        <a:buNone/>
                      </a:pPr>
                      <a:r>
                        <a:rPr lang="ja-JP" sz="1050"/>
                        <a:t>委託費効果</a:t>
                      </a:r>
                    </a:p>
                  </a:txBody>
                  <a:tcPr anchor="ctr"/>
                </a:tc>
                <a:tc>
                  <a:txBody>
                    <a:bodyPr/>
                    <a:lstStyle/>
                    <a:p>
                      <a:pPr>
                        <a:buNone/>
                      </a:pPr>
                      <a:r>
                        <a:rPr lang="ja-JP" sz="1050" dirty="0"/>
                        <a:t>▲10〜20%（3年・業界相場）</a:t>
                      </a:r>
                    </a:p>
                  </a:txBody>
                  <a:tcPr anchor="ctr"/>
                </a:tc>
                <a:tc>
                  <a:txBody>
                    <a:bodyPr/>
                    <a:lstStyle/>
                    <a:p>
                      <a:pPr>
                        <a:buNone/>
                      </a:pPr>
                      <a:r>
                        <a:rPr lang="ja-JP" sz="1050"/>
                        <a:t>▲24%（中国）/＋26%（九州）※ベンダ試算</a:t>
                      </a:r>
                    </a:p>
                  </a:txBody>
                  <a:tcPr anchor="ctr"/>
                </a:tc>
                <a:extLst>
                  <a:ext uri="{0D108BD9-81ED-4DB2-BD59-A6C34878D82A}">
                    <a16:rowId xmlns:a16="http://schemas.microsoft.com/office/drawing/2014/main" val="607647560"/>
                  </a:ext>
                </a:extLst>
              </a:tr>
              <a:tr h="408897">
                <a:tc>
                  <a:txBody>
                    <a:bodyPr/>
                    <a:lstStyle/>
                    <a:p>
                      <a:pPr>
                        <a:buNone/>
                      </a:pPr>
                      <a:r>
                        <a:rPr lang="ja-JP" sz="1050"/>
                        <a:t>社員FTE創出</a:t>
                      </a:r>
                    </a:p>
                  </a:txBody>
                  <a:tcPr anchor="ctr"/>
                </a:tc>
                <a:tc>
                  <a:txBody>
                    <a:bodyPr/>
                    <a:lstStyle/>
                    <a:p>
                      <a:pPr>
                        <a:buNone/>
                      </a:pPr>
                      <a:r>
                        <a:rPr lang="ja-JP" sz="1050" dirty="0"/>
                        <a:t>12FTE→企画へ段階シフト</a:t>
                      </a:r>
                    </a:p>
                  </a:txBody>
                  <a:tcPr anchor="ctr"/>
                </a:tc>
                <a:tc>
                  <a:txBody>
                    <a:bodyPr/>
                    <a:lstStyle/>
                    <a:p>
                      <a:pPr>
                        <a:buNone/>
                      </a:pPr>
                      <a:r>
                        <a:rPr lang="ja-JP" sz="1050"/>
                        <a:t>うち6〜7FTE（年6〜7千万円相当）を先行創出</a:t>
                      </a:r>
                    </a:p>
                  </a:txBody>
                  <a:tcPr anchor="ctr"/>
                </a:tc>
                <a:extLst>
                  <a:ext uri="{0D108BD9-81ED-4DB2-BD59-A6C34878D82A}">
                    <a16:rowId xmlns:a16="http://schemas.microsoft.com/office/drawing/2014/main" val="3973560932"/>
                  </a:ext>
                </a:extLst>
              </a:tr>
              <a:tr h="408897">
                <a:tc>
                  <a:txBody>
                    <a:bodyPr/>
                    <a:lstStyle/>
                    <a:p>
                      <a:pPr>
                        <a:buNone/>
                      </a:pPr>
                      <a:r>
                        <a:rPr lang="ja-JP" sz="1050"/>
                        <a:t>検証</a:t>
                      </a:r>
                    </a:p>
                  </a:txBody>
                  <a:tcPr anchor="ctr"/>
                </a:tc>
                <a:tc>
                  <a:txBody>
                    <a:bodyPr/>
                    <a:lstStyle/>
                    <a:p>
                      <a:pPr>
                        <a:buNone/>
                      </a:pPr>
                      <a:r>
                        <a:rPr lang="ja-JP" sz="1050"/>
                        <a:t>Phase 0ベースラインで確定</a:t>
                      </a:r>
                    </a:p>
                  </a:txBody>
                  <a:tcPr anchor="ctr"/>
                </a:tc>
                <a:tc>
                  <a:txBody>
                    <a:bodyPr/>
                    <a:lstStyle/>
                    <a:p>
                      <a:pPr>
                        <a:buNone/>
                      </a:pPr>
                      <a:r>
                        <a:rPr lang="ja-JP" sz="1050" dirty="0"/>
                        <a:t>同左（正式見積を9月ヒアリング後に査定）</a:t>
                      </a:r>
                    </a:p>
                  </a:txBody>
                  <a:tcPr anchor="ctr"/>
                </a:tc>
                <a:extLst>
                  <a:ext uri="{0D108BD9-81ED-4DB2-BD59-A6C34878D82A}">
                    <a16:rowId xmlns:a16="http://schemas.microsoft.com/office/drawing/2014/main" val="2186649862"/>
                  </a:ext>
                </a:extLst>
              </a:tr>
            </a:tbl>
          </a:graphicData>
        </a:graphic>
      </p:graphicFrame>
    </p:spTree>
    <p:extLst>
      <p:ext uri="{BB962C8B-B14F-4D97-AF65-F5344CB8AC3E}">
        <p14:creationId xmlns:p14="http://schemas.microsoft.com/office/powerpoint/2010/main" val="20725323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257B945-55A3-EACB-311D-27BCBAB10C14}"/>
              </a:ext>
            </a:extLst>
          </p:cNvPr>
          <p:cNvSpPr>
            <a:spLocks noGrp="1"/>
          </p:cNvSpPr>
          <p:nvPr>
            <p:ph type="title"/>
          </p:nvPr>
        </p:nvSpPr>
        <p:spPr/>
        <p:txBody>
          <a:bodyPr/>
          <a:lstStyle/>
          <a:p>
            <a:endParaRPr kumimoji="1" lang="ja-JP" altLang="en-US"/>
          </a:p>
        </p:txBody>
      </p:sp>
      <p:sp>
        <p:nvSpPr>
          <p:cNvPr id="3" name="テキスト プレースホルダー 2">
            <a:extLst>
              <a:ext uri="{FF2B5EF4-FFF2-40B4-BE49-F238E27FC236}">
                <a16:creationId xmlns:a16="http://schemas.microsoft.com/office/drawing/2014/main" id="{48DD2B93-7FC8-BF66-3B49-0280EDA1FFE1}"/>
              </a:ext>
            </a:extLst>
          </p:cNvPr>
          <p:cNvSpPr>
            <a:spLocks noGrp="1"/>
          </p:cNvSpPr>
          <p:nvPr>
            <p:ph type="body" sz="quarter" idx="13"/>
          </p:nvPr>
        </p:nvSpPr>
        <p:spPr/>
        <p:txBody>
          <a:bodyPr/>
          <a:lstStyle/>
          <a:p>
            <a:r>
              <a:rPr kumimoji="1" lang="ja-JP" altLang="en-US" dirty="0"/>
              <a:t>以下</a:t>
            </a:r>
            <a:r>
              <a:rPr kumimoji="1" lang="en-US" altLang="ja-JP" dirty="0"/>
              <a:t>APPENDIX</a:t>
            </a:r>
            <a:endParaRPr kumimoji="1" lang="ja-JP" altLang="en-US" dirty="0"/>
          </a:p>
        </p:txBody>
      </p:sp>
    </p:spTree>
    <p:extLst>
      <p:ext uri="{BB962C8B-B14F-4D97-AF65-F5344CB8AC3E}">
        <p14:creationId xmlns:p14="http://schemas.microsoft.com/office/powerpoint/2010/main" val="1313463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E8E90D-8FB2-4BBB-F6EB-5FB6F9BF8440}"/>
              </a:ext>
            </a:extLst>
          </p:cNvPr>
          <p:cNvSpPr>
            <a:spLocks noGrp="1"/>
          </p:cNvSpPr>
          <p:nvPr>
            <p:ph type="title"/>
          </p:nvPr>
        </p:nvSpPr>
        <p:spPr/>
        <p:txBody>
          <a:bodyPr/>
          <a:lstStyle/>
          <a:p>
            <a:r>
              <a:rPr lang="en-US" altLang="ja-JP" dirty="0"/>
              <a:t>APPE</a:t>
            </a:r>
            <a:endParaRPr kumimoji="1" lang="ja-JP" altLang="en-US" dirty="0"/>
          </a:p>
        </p:txBody>
      </p:sp>
      <p:sp>
        <p:nvSpPr>
          <p:cNvPr id="3" name="テキスト プレースホルダー 2">
            <a:extLst>
              <a:ext uri="{FF2B5EF4-FFF2-40B4-BE49-F238E27FC236}">
                <a16:creationId xmlns:a16="http://schemas.microsoft.com/office/drawing/2014/main" id="{B9FA2B47-9DEC-8148-DECF-A764E3819709}"/>
              </a:ext>
            </a:extLst>
          </p:cNvPr>
          <p:cNvSpPr>
            <a:spLocks noGrp="1"/>
          </p:cNvSpPr>
          <p:nvPr>
            <p:ph type="body" sz="quarter" idx="13"/>
          </p:nvPr>
        </p:nvSpPr>
        <p:spPr/>
        <p:txBody>
          <a:bodyPr/>
          <a:lstStyle/>
          <a:p>
            <a:endParaRPr kumimoji="1" lang="ja-JP" altLang="en-US"/>
          </a:p>
        </p:txBody>
      </p:sp>
      <p:grpSp>
        <p:nvGrpSpPr>
          <p:cNvPr id="150" name="グループ化 149">
            <a:extLst>
              <a:ext uri="{FF2B5EF4-FFF2-40B4-BE49-F238E27FC236}">
                <a16:creationId xmlns:a16="http://schemas.microsoft.com/office/drawing/2014/main" id="{7673696B-A9B2-C0C9-23BA-815A7D65A354}"/>
              </a:ext>
            </a:extLst>
          </p:cNvPr>
          <p:cNvGrpSpPr/>
          <p:nvPr/>
        </p:nvGrpSpPr>
        <p:grpSpPr>
          <a:xfrm>
            <a:off x="334962" y="1628775"/>
            <a:ext cx="4815746" cy="375123"/>
            <a:chOff x="334962" y="1628775"/>
            <a:chExt cx="5657276" cy="375123"/>
          </a:xfrm>
        </p:grpSpPr>
        <p:cxnSp>
          <p:nvCxnSpPr>
            <p:cNvPr id="54" name="直線コネクタ 53">
              <a:extLst>
                <a:ext uri="{FF2B5EF4-FFF2-40B4-BE49-F238E27FC236}">
                  <a16:creationId xmlns:a16="http://schemas.microsoft.com/office/drawing/2014/main" id="{019F80C6-3122-D174-19BC-1ACC4E4089F8}"/>
                </a:ext>
              </a:extLst>
            </p:cNvPr>
            <p:cNvCxnSpPr/>
            <p:nvPr/>
          </p:nvCxnSpPr>
          <p:spPr>
            <a:xfrm>
              <a:off x="334963" y="2003898"/>
              <a:ext cx="56572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テキスト ボックス 54">
              <a:extLst>
                <a:ext uri="{FF2B5EF4-FFF2-40B4-BE49-F238E27FC236}">
                  <a16:creationId xmlns:a16="http://schemas.microsoft.com/office/drawing/2014/main" id="{03BBB2DB-A5A2-7F83-1459-BC2ABE50E8B1}"/>
                </a:ext>
              </a:extLst>
            </p:cNvPr>
            <p:cNvSpPr txBox="1"/>
            <p:nvPr/>
          </p:nvSpPr>
          <p:spPr>
            <a:xfrm>
              <a:off x="334962" y="1628775"/>
              <a:ext cx="5657275" cy="338554"/>
            </a:xfrm>
            <a:prstGeom prst="rect">
              <a:avLst/>
            </a:prstGeom>
            <a:noFill/>
          </p:spPr>
          <p:txBody>
            <a:bodyPr wrap="square" rtlCol="0">
              <a:spAutoFit/>
            </a:bodyPr>
            <a:lstStyle/>
            <a:p>
              <a:pPr algn="ctr"/>
              <a:r>
                <a:rPr lang="ja-JP" altLang="en-US" sz="1600" dirty="0"/>
                <a:t>課題②：運用需要は</a:t>
              </a:r>
              <a:r>
                <a:rPr lang="en-US" altLang="ja-JP" sz="1600" dirty="0"/>
                <a:t>5</a:t>
              </a:r>
              <a:r>
                <a:rPr lang="ja-JP" altLang="en-US" sz="1600" dirty="0"/>
                <a:t>年で約</a:t>
              </a:r>
              <a:r>
                <a:rPr lang="en-US" altLang="ja-JP" sz="1600" dirty="0"/>
                <a:t>1.5</a:t>
              </a:r>
              <a:r>
                <a:rPr lang="ja-JP" altLang="en-US" sz="1600" dirty="0"/>
                <a:t>倍</a:t>
              </a:r>
              <a:r>
                <a:rPr lang="ja-JP" altLang="en-US" sz="1200" dirty="0"/>
                <a:t>（公開統計からの推計）</a:t>
              </a:r>
              <a:endParaRPr lang="ja-JP" altLang="en-US" sz="1600" dirty="0"/>
            </a:p>
          </p:txBody>
        </p:sp>
      </p:grpSp>
      <p:grpSp>
        <p:nvGrpSpPr>
          <p:cNvPr id="132" name="グループ化 131">
            <a:extLst>
              <a:ext uri="{FF2B5EF4-FFF2-40B4-BE49-F238E27FC236}">
                <a16:creationId xmlns:a16="http://schemas.microsoft.com/office/drawing/2014/main" id="{B585577E-BEE4-FF43-AB73-9847136DA4D3}"/>
              </a:ext>
            </a:extLst>
          </p:cNvPr>
          <p:cNvGrpSpPr/>
          <p:nvPr/>
        </p:nvGrpSpPr>
        <p:grpSpPr>
          <a:xfrm>
            <a:off x="334963" y="2305454"/>
            <a:ext cx="3196177" cy="3891060"/>
            <a:chOff x="334963" y="2305454"/>
            <a:chExt cx="3490018" cy="3891060"/>
          </a:xfrm>
        </p:grpSpPr>
        <p:sp>
          <p:nvSpPr>
            <p:cNvPr id="86" name="Shape 2">
              <a:extLst>
                <a:ext uri="{FF2B5EF4-FFF2-40B4-BE49-F238E27FC236}">
                  <a16:creationId xmlns:a16="http://schemas.microsoft.com/office/drawing/2014/main" id="{79F330FC-6D63-B818-F597-90AFE70B4599}"/>
                </a:ext>
              </a:extLst>
            </p:cNvPr>
            <p:cNvSpPr/>
            <p:nvPr/>
          </p:nvSpPr>
          <p:spPr>
            <a:xfrm>
              <a:off x="334963" y="2305454"/>
              <a:ext cx="1698100" cy="1855987"/>
            </a:xfrm>
            <a:prstGeom prst="roundRect">
              <a:avLst>
                <a:gd name="adj" fmla="val 3947"/>
              </a:avLst>
            </a:prstGeom>
            <a:solidFill>
              <a:srgbClr val="E9F5EE"/>
            </a:solidFill>
            <a:ln/>
          </p:spPr>
          <p:txBody>
            <a:bodyPr/>
            <a:lstStyle/>
            <a:p>
              <a:endParaRPr lang="ja-JP" altLang="en-US" sz="1050"/>
            </a:p>
          </p:txBody>
        </p:sp>
        <p:sp>
          <p:nvSpPr>
            <p:cNvPr id="88" name="Text 3">
              <a:extLst>
                <a:ext uri="{FF2B5EF4-FFF2-40B4-BE49-F238E27FC236}">
                  <a16:creationId xmlns:a16="http://schemas.microsoft.com/office/drawing/2014/main" id="{3CDF818C-89F7-4F70-31F8-AE024DA6BA5F}"/>
                </a:ext>
              </a:extLst>
            </p:cNvPr>
            <p:cNvSpPr/>
            <p:nvPr/>
          </p:nvSpPr>
          <p:spPr>
            <a:xfrm>
              <a:off x="452235" y="2435699"/>
              <a:ext cx="1463556" cy="691925"/>
            </a:xfrm>
            <a:prstGeom prst="rect">
              <a:avLst/>
            </a:prstGeom>
            <a:noFill/>
            <a:ln/>
          </p:spPr>
          <p:txBody>
            <a:bodyPr wrap="square" lIns="0" tIns="0" rIns="0" bIns="0" rtlCol="0" anchor="ctr"/>
            <a:lstStyle/>
            <a:p>
              <a:pPr marL="0" indent="0">
                <a:buNone/>
              </a:pPr>
              <a:r>
                <a:rPr lang="en-US" sz="2000" b="1" dirty="0">
                  <a:solidFill>
                    <a:srgbClr val="006B2B"/>
                  </a:solidFill>
                  <a:latin typeface="Meiryo UI" pitchFamily="34" charset="0"/>
                  <a:ea typeface="Meiryo UI" pitchFamily="34" charset="-122"/>
                  <a:cs typeface="Meiryo UI" pitchFamily="34" charset="-120"/>
                </a:rPr>
                <a:t>2.1倍</a:t>
              </a:r>
              <a:endParaRPr lang="en-US" sz="2000" dirty="0"/>
            </a:p>
          </p:txBody>
        </p:sp>
        <p:sp>
          <p:nvSpPr>
            <p:cNvPr id="90" name="Text 4">
              <a:extLst>
                <a:ext uri="{FF2B5EF4-FFF2-40B4-BE49-F238E27FC236}">
                  <a16:creationId xmlns:a16="http://schemas.microsoft.com/office/drawing/2014/main" id="{2606995B-D6BC-9209-DABE-589C4E75AF42}"/>
                </a:ext>
              </a:extLst>
            </p:cNvPr>
            <p:cNvSpPr/>
            <p:nvPr/>
          </p:nvSpPr>
          <p:spPr>
            <a:xfrm>
              <a:off x="452235" y="3135764"/>
              <a:ext cx="1463556" cy="325612"/>
            </a:xfrm>
            <a:prstGeom prst="rect">
              <a:avLst/>
            </a:prstGeom>
            <a:noFill/>
            <a:ln/>
          </p:spPr>
          <p:txBody>
            <a:bodyPr wrap="square" lIns="0" tIns="0" rIns="0" bIns="0" rtlCol="0" anchor="ctr"/>
            <a:lstStyle/>
            <a:p>
              <a:pPr marL="0" indent="0">
                <a:buNone/>
              </a:pPr>
              <a:r>
                <a:rPr lang="en-US" sz="900" b="1" dirty="0">
                  <a:solidFill>
                    <a:srgbClr val="1F2A24"/>
                  </a:solidFill>
                  <a:latin typeface="Meiryo UI" pitchFamily="34" charset="0"/>
                  <a:ea typeface="Meiryo UI" pitchFamily="34" charset="-122"/>
                  <a:cs typeface="Meiryo UI" pitchFamily="34" charset="-120"/>
                </a:rPr>
                <a:t>国内クラウド市場（2024→29年）</a:t>
              </a:r>
              <a:endParaRPr lang="en-US" sz="900" dirty="0"/>
            </a:p>
          </p:txBody>
        </p:sp>
        <p:sp>
          <p:nvSpPr>
            <p:cNvPr id="92" name="Text 5">
              <a:extLst>
                <a:ext uri="{FF2B5EF4-FFF2-40B4-BE49-F238E27FC236}">
                  <a16:creationId xmlns:a16="http://schemas.microsoft.com/office/drawing/2014/main" id="{3267E207-32B0-9C83-0A68-92562D810BA4}"/>
                </a:ext>
              </a:extLst>
            </p:cNvPr>
            <p:cNvSpPr/>
            <p:nvPr/>
          </p:nvSpPr>
          <p:spPr>
            <a:xfrm>
              <a:off x="452235" y="3461376"/>
              <a:ext cx="1463556" cy="610522"/>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CAGR16.3%・管理対象の量が倍増ペース（IDC Japan）</a:t>
              </a:r>
              <a:endParaRPr lang="en-US" sz="800" dirty="0"/>
            </a:p>
          </p:txBody>
        </p:sp>
        <p:sp>
          <p:nvSpPr>
            <p:cNvPr id="94" name="Shape 6">
              <a:extLst>
                <a:ext uri="{FF2B5EF4-FFF2-40B4-BE49-F238E27FC236}">
                  <a16:creationId xmlns:a16="http://schemas.microsoft.com/office/drawing/2014/main" id="{785DDDDA-1527-0B65-39A7-4C4A37ED08F4}"/>
                </a:ext>
              </a:extLst>
            </p:cNvPr>
            <p:cNvSpPr/>
            <p:nvPr/>
          </p:nvSpPr>
          <p:spPr>
            <a:xfrm>
              <a:off x="2126881" y="2305454"/>
              <a:ext cx="1698100" cy="1855987"/>
            </a:xfrm>
            <a:prstGeom prst="roundRect">
              <a:avLst>
                <a:gd name="adj" fmla="val 3947"/>
              </a:avLst>
            </a:prstGeom>
            <a:solidFill>
              <a:srgbClr val="E9F5EE"/>
            </a:solidFill>
            <a:ln/>
          </p:spPr>
          <p:txBody>
            <a:bodyPr/>
            <a:lstStyle/>
            <a:p>
              <a:endParaRPr lang="ja-JP" altLang="en-US" sz="1050"/>
            </a:p>
          </p:txBody>
        </p:sp>
        <p:sp>
          <p:nvSpPr>
            <p:cNvPr id="96" name="Text 7">
              <a:extLst>
                <a:ext uri="{FF2B5EF4-FFF2-40B4-BE49-F238E27FC236}">
                  <a16:creationId xmlns:a16="http://schemas.microsoft.com/office/drawing/2014/main" id="{C5A975AA-2EAF-79B6-A394-96C1CB53D6DA}"/>
                </a:ext>
              </a:extLst>
            </p:cNvPr>
            <p:cNvSpPr/>
            <p:nvPr/>
          </p:nvSpPr>
          <p:spPr>
            <a:xfrm>
              <a:off x="2244153" y="2435699"/>
              <a:ext cx="1463556" cy="691925"/>
            </a:xfrm>
            <a:prstGeom prst="rect">
              <a:avLst/>
            </a:prstGeom>
            <a:noFill/>
            <a:ln/>
          </p:spPr>
          <p:txBody>
            <a:bodyPr wrap="square" lIns="0" tIns="0" rIns="0" bIns="0" rtlCol="0" anchor="ctr"/>
            <a:lstStyle/>
            <a:p>
              <a:pPr marL="0" indent="0">
                <a:buNone/>
              </a:pPr>
              <a:r>
                <a:rPr lang="en-US" sz="2000" b="1" dirty="0">
                  <a:solidFill>
                    <a:srgbClr val="006B2B"/>
                  </a:solidFill>
                  <a:latin typeface="Meiryo UI" pitchFamily="34" charset="0"/>
                  <a:ea typeface="Meiryo UI" pitchFamily="34" charset="-122"/>
                  <a:cs typeface="Meiryo UI" pitchFamily="34" charset="-120"/>
                </a:rPr>
                <a:t>11倍</a:t>
              </a:r>
              <a:endParaRPr lang="en-US" sz="2000" dirty="0"/>
            </a:p>
          </p:txBody>
        </p:sp>
        <p:sp>
          <p:nvSpPr>
            <p:cNvPr id="98" name="Text 8">
              <a:extLst>
                <a:ext uri="{FF2B5EF4-FFF2-40B4-BE49-F238E27FC236}">
                  <a16:creationId xmlns:a16="http://schemas.microsoft.com/office/drawing/2014/main" id="{6668B00B-F8F4-1F44-83E4-7362649C93C1}"/>
                </a:ext>
              </a:extLst>
            </p:cNvPr>
            <p:cNvSpPr/>
            <p:nvPr/>
          </p:nvSpPr>
          <p:spPr>
            <a:xfrm>
              <a:off x="2244153" y="3135764"/>
              <a:ext cx="1463556" cy="325612"/>
            </a:xfrm>
            <a:prstGeom prst="rect">
              <a:avLst/>
            </a:prstGeom>
            <a:noFill/>
            <a:ln/>
          </p:spPr>
          <p:txBody>
            <a:bodyPr wrap="square" lIns="0" tIns="0" rIns="0" bIns="0" rtlCol="0" anchor="ctr"/>
            <a:lstStyle/>
            <a:p>
              <a:pPr marL="0" indent="0">
                <a:buNone/>
              </a:pPr>
              <a:r>
                <a:rPr lang="en-US" sz="900" b="1" dirty="0">
                  <a:solidFill>
                    <a:srgbClr val="1F2A24"/>
                  </a:solidFill>
                  <a:latin typeface="Meiryo UI" pitchFamily="34" charset="0"/>
                  <a:ea typeface="Meiryo UI" pitchFamily="34" charset="-122"/>
                  <a:cs typeface="Meiryo UI" pitchFamily="34" charset="-120"/>
                </a:rPr>
                <a:t>サイバー攻撃関連通信（10年間）</a:t>
              </a:r>
              <a:endParaRPr lang="en-US" sz="900" dirty="0"/>
            </a:p>
          </p:txBody>
        </p:sp>
        <p:sp>
          <p:nvSpPr>
            <p:cNvPr id="100" name="Text 9">
              <a:extLst>
                <a:ext uri="{FF2B5EF4-FFF2-40B4-BE49-F238E27FC236}">
                  <a16:creationId xmlns:a16="http://schemas.microsoft.com/office/drawing/2014/main" id="{6E50AA8A-F9BD-D335-CE18-07A2B7BD03A6}"/>
                </a:ext>
              </a:extLst>
            </p:cNvPr>
            <p:cNvSpPr/>
            <p:nvPr/>
          </p:nvSpPr>
          <p:spPr>
            <a:xfrm>
              <a:off x="2244153" y="3461376"/>
              <a:ext cx="1463556" cy="610522"/>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ランサム被害226件/年、消費財大手も出荷停止（NICT・警察庁）</a:t>
              </a:r>
              <a:endParaRPr lang="en-US" sz="800" dirty="0"/>
            </a:p>
          </p:txBody>
        </p:sp>
        <p:sp>
          <p:nvSpPr>
            <p:cNvPr id="102" name="Shape 10">
              <a:extLst>
                <a:ext uri="{FF2B5EF4-FFF2-40B4-BE49-F238E27FC236}">
                  <a16:creationId xmlns:a16="http://schemas.microsoft.com/office/drawing/2014/main" id="{5B8722AB-EA62-822A-6FEE-677B996BEBD7}"/>
                </a:ext>
              </a:extLst>
            </p:cNvPr>
            <p:cNvSpPr/>
            <p:nvPr/>
          </p:nvSpPr>
          <p:spPr>
            <a:xfrm>
              <a:off x="334963" y="4340527"/>
              <a:ext cx="1698100" cy="1855987"/>
            </a:xfrm>
            <a:prstGeom prst="roundRect">
              <a:avLst>
                <a:gd name="adj" fmla="val 3947"/>
              </a:avLst>
            </a:prstGeom>
            <a:solidFill>
              <a:srgbClr val="E9F5EE"/>
            </a:solidFill>
            <a:ln/>
          </p:spPr>
          <p:txBody>
            <a:bodyPr/>
            <a:lstStyle/>
            <a:p>
              <a:endParaRPr lang="ja-JP" altLang="en-US" sz="1050"/>
            </a:p>
          </p:txBody>
        </p:sp>
        <p:sp>
          <p:nvSpPr>
            <p:cNvPr id="104" name="Text 11">
              <a:extLst>
                <a:ext uri="{FF2B5EF4-FFF2-40B4-BE49-F238E27FC236}">
                  <a16:creationId xmlns:a16="http://schemas.microsoft.com/office/drawing/2014/main" id="{6096E798-A571-2FBA-4442-9CCC0CD62F2A}"/>
                </a:ext>
              </a:extLst>
            </p:cNvPr>
            <p:cNvSpPr/>
            <p:nvPr/>
          </p:nvSpPr>
          <p:spPr>
            <a:xfrm>
              <a:off x="452235" y="4470772"/>
              <a:ext cx="1463556" cy="691925"/>
            </a:xfrm>
            <a:prstGeom prst="rect">
              <a:avLst/>
            </a:prstGeom>
            <a:noFill/>
            <a:ln/>
          </p:spPr>
          <p:txBody>
            <a:bodyPr wrap="square" lIns="0" tIns="0" rIns="0" bIns="0" rtlCol="0" anchor="ctr"/>
            <a:lstStyle/>
            <a:p>
              <a:pPr marL="0" indent="0">
                <a:buNone/>
              </a:pPr>
              <a:r>
                <a:rPr lang="en-US" sz="2000" b="1" dirty="0">
                  <a:solidFill>
                    <a:srgbClr val="006B2B"/>
                  </a:solidFill>
                  <a:latin typeface="Meiryo UI" pitchFamily="34" charset="0"/>
                  <a:ea typeface="Meiryo UI" pitchFamily="34" charset="-122"/>
                  <a:cs typeface="Meiryo UI" pitchFamily="34" charset="-120"/>
                </a:rPr>
                <a:t>3倍</a:t>
              </a:r>
              <a:endParaRPr lang="en-US" sz="2000" dirty="0"/>
            </a:p>
          </p:txBody>
        </p:sp>
        <p:sp>
          <p:nvSpPr>
            <p:cNvPr id="106" name="Text 12">
              <a:extLst>
                <a:ext uri="{FF2B5EF4-FFF2-40B4-BE49-F238E27FC236}">
                  <a16:creationId xmlns:a16="http://schemas.microsoft.com/office/drawing/2014/main" id="{E7D5ADC0-50D1-29C1-B226-64AD86B1D0FA}"/>
                </a:ext>
              </a:extLst>
            </p:cNvPr>
            <p:cNvSpPr/>
            <p:nvPr/>
          </p:nvSpPr>
          <p:spPr>
            <a:xfrm>
              <a:off x="452235" y="5170837"/>
              <a:ext cx="1463556" cy="325612"/>
            </a:xfrm>
            <a:prstGeom prst="rect">
              <a:avLst/>
            </a:prstGeom>
            <a:noFill/>
            <a:ln/>
          </p:spPr>
          <p:txBody>
            <a:bodyPr wrap="square" lIns="0" tIns="0" rIns="0" bIns="0" rtlCol="0" anchor="ctr"/>
            <a:lstStyle/>
            <a:p>
              <a:pPr marL="0" indent="0">
                <a:buNone/>
              </a:pPr>
              <a:r>
                <a:rPr lang="en-US" sz="900" b="1" dirty="0">
                  <a:solidFill>
                    <a:srgbClr val="1F2A24"/>
                  </a:solidFill>
                  <a:latin typeface="Meiryo UI" pitchFamily="34" charset="0"/>
                  <a:ea typeface="Meiryo UI" pitchFamily="34" charset="-122"/>
                  <a:cs typeface="Meiryo UI" pitchFamily="34" charset="-120"/>
                </a:rPr>
                <a:t>生成AI利用率（1年間）</a:t>
              </a:r>
              <a:endParaRPr lang="en-US" sz="900" dirty="0"/>
            </a:p>
          </p:txBody>
        </p:sp>
        <p:sp>
          <p:nvSpPr>
            <p:cNvPr id="108" name="Text 13">
              <a:extLst>
                <a:ext uri="{FF2B5EF4-FFF2-40B4-BE49-F238E27FC236}">
                  <a16:creationId xmlns:a16="http://schemas.microsoft.com/office/drawing/2014/main" id="{7DC7C91A-4A95-04A5-7AE2-B8735ADB71EB}"/>
                </a:ext>
              </a:extLst>
            </p:cNvPr>
            <p:cNvSpPr/>
            <p:nvPr/>
          </p:nvSpPr>
          <p:spPr>
            <a:xfrm>
              <a:off x="452235" y="5496449"/>
              <a:ext cx="1463556" cy="610522"/>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9.1%→26.7%。従来なかった運用領域が発生（総務省白書）</a:t>
              </a:r>
              <a:endParaRPr lang="en-US" sz="800" dirty="0"/>
            </a:p>
          </p:txBody>
        </p:sp>
        <p:sp>
          <p:nvSpPr>
            <p:cNvPr id="110" name="Shape 14">
              <a:extLst>
                <a:ext uri="{FF2B5EF4-FFF2-40B4-BE49-F238E27FC236}">
                  <a16:creationId xmlns:a16="http://schemas.microsoft.com/office/drawing/2014/main" id="{DF884609-F71F-CE79-BFC6-66D059B85F7D}"/>
                </a:ext>
              </a:extLst>
            </p:cNvPr>
            <p:cNvSpPr/>
            <p:nvPr/>
          </p:nvSpPr>
          <p:spPr>
            <a:xfrm>
              <a:off x="2126881" y="4340527"/>
              <a:ext cx="1698100" cy="1855987"/>
            </a:xfrm>
            <a:prstGeom prst="roundRect">
              <a:avLst>
                <a:gd name="adj" fmla="val 3947"/>
              </a:avLst>
            </a:prstGeom>
            <a:solidFill>
              <a:srgbClr val="E9F5EE"/>
            </a:solidFill>
            <a:ln/>
          </p:spPr>
          <p:txBody>
            <a:bodyPr/>
            <a:lstStyle/>
            <a:p>
              <a:endParaRPr lang="ja-JP" altLang="en-US" sz="1050"/>
            </a:p>
          </p:txBody>
        </p:sp>
        <p:sp>
          <p:nvSpPr>
            <p:cNvPr id="112" name="Text 15">
              <a:extLst>
                <a:ext uri="{FF2B5EF4-FFF2-40B4-BE49-F238E27FC236}">
                  <a16:creationId xmlns:a16="http://schemas.microsoft.com/office/drawing/2014/main" id="{FBB81853-892C-6A61-0935-93636D286C0B}"/>
                </a:ext>
              </a:extLst>
            </p:cNvPr>
            <p:cNvSpPr/>
            <p:nvPr/>
          </p:nvSpPr>
          <p:spPr>
            <a:xfrm>
              <a:off x="2244153" y="4470772"/>
              <a:ext cx="1463556" cy="691925"/>
            </a:xfrm>
            <a:prstGeom prst="rect">
              <a:avLst/>
            </a:prstGeom>
            <a:noFill/>
            <a:ln/>
          </p:spPr>
          <p:txBody>
            <a:bodyPr wrap="square" lIns="0" tIns="0" rIns="0" bIns="0" rtlCol="0" anchor="ctr"/>
            <a:lstStyle/>
            <a:p>
              <a:pPr marL="0" indent="0">
                <a:buNone/>
              </a:pPr>
              <a:r>
                <a:rPr lang="en-US" sz="2000" b="1" dirty="0">
                  <a:solidFill>
                    <a:srgbClr val="006B2B"/>
                  </a:solidFill>
                  <a:latin typeface="Meiryo UI" pitchFamily="34" charset="0"/>
                  <a:ea typeface="Meiryo UI" pitchFamily="34" charset="-122"/>
                  <a:cs typeface="Meiryo UI" pitchFamily="34" charset="-120"/>
                </a:rPr>
                <a:t>46個</a:t>
              </a:r>
              <a:endParaRPr lang="en-US" sz="2000" dirty="0"/>
            </a:p>
          </p:txBody>
        </p:sp>
        <p:sp>
          <p:nvSpPr>
            <p:cNvPr id="114" name="Text 16">
              <a:extLst>
                <a:ext uri="{FF2B5EF4-FFF2-40B4-BE49-F238E27FC236}">
                  <a16:creationId xmlns:a16="http://schemas.microsoft.com/office/drawing/2014/main" id="{710C644A-F73F-2241-0FF2-D3085857DD0B}"/>
                </a:ext>
              </a:extLst>
            </p:cNvPr>
            <p:cNvSpPr/>
            <p:nvPr/>
          </p:nvSpPr>
          <p:spPr>
            <a:xfrm>
              <a:off x="2244153" y="5170837"/>
              <a:ext cx="1463556" cy="325612"/>
            </a:xfrm>
            <a:prstGeom prst="rect">
              <a:avLst/>
            </a:prstGeom>
            <a:noFill/>
            <a:ln/>
          </p:spPr>
          <p:txBody>
            <a:bodyPr wrap="square" lIns="0" tIns="0" rIns="0" bIns="0" rtlCol="0" anchor="ctr"/>
            <a:lstStyle/>
            <a:p>
              <a:pPr marL="0" indent="0">
                <a:buNone/>
              </a:pPr>
              <a:r>
                <a:rPr lang="en-US" sz="900" b="1" dirty="0">
                  <a:solidFill>
                    <a:srgbClr val="1F2A24"/>
                  </a:solidFill>
                  <a:latin typeface="Meiryo UI" pitchFamily="34" charset="0"/>
                  <a:ea typeface="Meiryo UI" pitchFamily="34" charset="-122"/>
                  <a:cs typeface="Meiryo UI" pitchFamily="34" charset="-120"/>
                </a:rPr>
                <a:t>日本企業の業務アプリ数（平均）</a:t>
              </a:r>
              <a:endParaRPr lang="en-US" sz="900" dirty="0"/>
            </a:p>
          </p:txBody>
        </p:sp>
        <p:sp>
          <p:nvSpPr>
            <p:cNvPr id="116" name="Text 17">
              <a:extLst>
                <a:ext uri="{FF2B5EF4-FFF2-40B4-BE49-F238E27FC236}">
                  <a16:creationId xmlns:a16="http://schemas.microsoft.com/office/drawing/2014/main" id="{8F100599-B277-EF75-DE02-79EDD0AF3A73}"/>
                </a:ext>
              </a:extLst>
            </p:cNvPr>
            <p:cNvSpPr/>
            <p:nvPr/>
          </p:nvSpPr>
          <p:spPr>
            <a:xfrm>
              <a:off x="2244153" y="5496449"/>
              <a:ext cx="1463556" cy="610522"/>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伸び率は世界トップクラス。運用の「面」が拡大（Okta調査）</a:t>
              </a:r>
              <a:endParaRPr lang="en-US" sz="800" dirty="0"/>
            </a:p>
          </p:txBody>
        </p:sp>
      </p:grpSp>
      <p:sp>
        <p:nvSpPr>
          <p:cNvPr id="118" name="Shape 18">
            <a:extLst>
              <a:ext uri="{FF2B5EF4-FFF2-40B4-BE49-F238E27FC236}">
                <a16:creationId xmlns:a16="http://schemas.microsoft.com/office/drawing/2014/main" id="{EC5899C7-BB34-1B32-2747-6FEB350906F2}"/>
              </a:ext>
            </a:extLst>
          </p:cNvPr>
          <p:cNvSpPr/>
          <p:nvPr/>
        </p:nvSpPr>
        <p:spPr>
          <a:xfrm>
            <a:off x="3981300" y="2711721"/>
            <a:ext cx="1169408" cy="3484793"/>
          </a:xfrm>
          <a:prstGeom prst="roundRect">
            <a:avLst>
              <a:gd name="adj" fmla="val 2103"/>
            </a:avLst>
          </a:prstGeom>
          <a:solidFill>
            <a:srgbClr val="006B2B"/>
          </a:solidFill>
          <a:ln/>
        </p:spPr>
        <p:txBody>
          <a:bodyPr anchor="ctr"/>
          <a:lstStyle/>
          <a:p>
            <a:pPr algn="ctr"/>
            <a:endParaRPr lang="en-US" altLang="ja-JP" sz="1600" b="1" dirty="0">
              <a:solidFill>
                <a:srgbClr val="FFFFFF"/>
              </a:solidFill>
              <a:latin typeface="Meiryo UI" pitchFamily="34" charset="0"/>
              <a:ea typeface="Meiryo UI" pitchFamily="34" charset="-122"/>
            </a:endParaRPr>
          </a:p>
          <a:p>
            <a:pPr algn="ctr"/>
            <a:r>
              <a:rPr lang="en-US" altLang="ja-JP" sz="1600" b="1" dirty="0">
                <a:solidFill>
                  <a:srgbClr val="FFFFFF"/>
                </a:solidFill>
                <a:latin typeface="Meiryo UI" pitchFamily="34" charset="0"/>
                <a:ea typeface="Meiryo UI" pitchFamily="34" charset="-122"/>
                <a:cs typeface="Meiryo UI" pitchFamily="34" charset="-120"/>
              </a:rPr>
              <a:t>12FTE →18FTE</a:t>
            </a:r>
            <a:endParaRPr lang="en-US" altLang="ja-JP" sz="1600" dirty="0"/>
          </a:p>
        </p:txBody>
      </p:sp>
      <p:sp>
        <p:nvSpPr>
          <p:cNvPr id="120" name="Text 19">
            <a:extLst>
              <a:ext uri="{FF2B5EF4-FFF2-40B4-BE49-F238E27FC236}">
                <a16:creationId xmlns:a16="http://schemas.microsoft.com/office/drawing/2014/main" id="{8E72FB95-BFE0-8199-00DC-E5C639DA001A}"/>
              </a:ext>
            </a:extLst>
          </p:cNvPr>
          <p:cNvSpPr/>
          <p:nvPr/>
        </p:nvSpPr>
        <p:spPr>
          <a:xfrm>
            <a:off x="4107277" y="2508961"/>
            <a:ext cx="1545308" cy="325612"/>
          </a:xfrm>
          <a:prstGeom prst="rect">
            <a:avLst/>
          </a:prstGeom>
          <a:noFill/>
          <a:ln/>
        </p:spPr>
        <p:txBody>
          <a:bodyPr wrap="square" lIns="0" tIns="0" rIns="0" bIns="0" rtlCol="0" anchor="ctr"/>
          <a:lstStyle/>
          <a:p>
            <a:pPr marL="0" indent="0" algn="ctr">
              <a:buNone/>
            </a:pPr>
            <a:endParaRPr lang="en-US" sz="1400" dirty="0"/>
          </a:p>
        </p:txBody>
      </p:sp>
      <p:sp>
        <p:nvSpPr>
          <p:cNvPr id="122" name="Text 20">
            <a:extLst>
              <a:ext uri="{FF2B5EF4-FFF2-40B4-BE49-F238E27FC236}">
                <a16:creationId xmlns:a16="http://schemas.microsoft.com/office/drawing/2014/main" id="{71BAC016-F49A-57DB-CDF3-EB4B58A6CAF7}"/>
              </a:ext>
            </a:extLst>
          </p:cNvPr>
          <p:cNvSpPr/>
          <p:nvPr/>
        </p:nvSpPr>
        <p:spPr>
          <a:xfrm>
            <a:off x="2626469" y="6328881"/>
            <a:ext cx="3026116" cy="331630"/>
          </a:xfrm>
          <a:prstGeom prst="rect">
            <a:avLst/>
          </a:prstGeom>
          <a:noFill/>
          <a:ln/>
        </p:spPr>
        <p:txBody>
          <a:bodyPr wrap="square" lIns="0" tIns="0" rIns="0" bIns="0" rtlCol="0" anchor="ctr"/>
          <a:lstStyle/>
          <a:p>
            <a:pPr marL="0" indent="0">
              <a:buNone/>
            </a:pPr>
            <a:r>
              <a:rPr lang="en-US" sz="1000" b="1" dirty="0">
                <a:latin typeface="Meiryo UI" pitchFamily="34" charset="0"/>
                <a:ea typeface="Meiryo UI" pitchFamily="34" charset="-122"/>
                <a:cs typeface="Meiryo UI" pitchFamily="34" charset="-120"/>
              </a:rPr>
              <a:t>運用需要</a:t>
            </a:r>
            <a:r>
              <a:rPr lang="en-US" sz="1000" dirty="0">
                <a:latin typeface="Meiryo UI" pitchFamily="34" charset="0"/>
                <a:ea typeface="Meiryo UI" pitchFamily="34" charset="-122"/>
                <a:cs typeface="Meiryo UI" pitchFamily="34" charset="-120"/>
              </a:rPr>
              <a:t>：市場統計から年率7〜10%増と保守的に推計</a:t>
            </a:r>
            <a:endParaRPr lang="en-US" sz="1000" dirty="0"/>
          </a:p>
        </p:txBody>
      </p:sp>
      <p:sp>
        <p:nvSpPr>
          <p:cNvPr id="128" name="Text 23">
            <a:extLst>
              <a:ext uri="{FF2B5EF4-FFF2-40B4-BE49-F238E27FC236}">
                <a16:creationId xmlns:a16="http://schemas.microsoft.com/office/drawing/2014/main" id="{9076FE52-B057-7DE5-C8E8-6DA6454ADB6F}"/>
              </a:ext>
            </a:extLst>
          </p:cNvPr>
          <p:cNvSpPr/>
          <p:nvPr/>
        </p:nvSpPr>
        <p:spPr>
          <a:xfrm>
            <a:off x="4107277" y="4381229"/>
            <a:ext cx="1545308" cy="732626"/>
          </a:xfrm>
          <a:prstGeom prst="rect">
            <a:avLst/>
          </a:prstGeom>
          <a:noFill/>
          <a:ln/>
        </p:spPr>
        <p:txBody>
          <a:bodyPr wrap="square" lIns="0" tIns="0" rIns="0" bIns="0" rtlCol="0" anchor="ctr"/>
          <a:lstStyle/>
          <a:p>
            <a:pPr marL="0" indent="0">
              <a:buNone/>
            </a:pPr>
            <a:endParaRPr lang="en-US" sz="700" dirty="0"/>
          </a:p>
        </p:txBody>
      </p:sp>
      <p:sp>
        <p:nvSpPr>
          <p:cNvPr id="133" name="矢印: 右 132">
            <a:extLst>
              <a:ext uri="{FF2B5EF4-FFF2-40B4-BE49-F238E27FC236}">
                <a16:creationId xmlns:a16="http://schemas.microsoft.com/office/drawing/2014/main" id="{9AE8ACCF-92AD-D41D-C765-79880283ACEC}"/>
              </a:ext>
            </a:extLst>
          </p:cNvPr>
          <p:cNvSpPr/>
          <p:nvPr/>
        </p:nvSpPr>
        <p:spPr>
          <a:xfrm>
            <a:off x="3617059" y="3006810"/>
            <a:ext cx="283729" cy="2700827"/>
          </a:xfrm>
          <a:prstGeom prst="rightArrow">
            <a:avLst>
              <a:gd name="adj1" fmla="val 50000"/>
              <a:gd name="adj2" fmla="val 100000"/>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nvGrpSpPr>
          <p:cNvPr id="58" name="グループ化 57">
            <a:extLst>
              <a:ext uri="{FF2B5EF4-FFF2-40B4-BE49-F238E27FC236}">
                <a16:creationId xmlns:a16="http://schemas.microsoft.com/office/drawing/2014/main" id="{6351D3BD-4A4C-EAC6-4D9C-E7349C034D7D}"/>
              </a:ext>
            </a:extLst>
          </p:cNvPr>
          <p:cNvGrpSpPr/>
          <p:nvPr/>
        </p:nvGrpSpPr>
        <p:grpSpPr>
          <a:xfrm>
            <a:off x="5276684" y="2305454"/>
            <a:ext cx="4831907" cy="3891065"/>
            <a:chOff x="548640" y="1371600"/>
            <a:chExt cx="11091672" cy="4370832"/>
          </a:xfrm>
        </p:grpSpPr>
        <p:sp>
          <p:nvSpPr>
            <p:cNvPr id="61" name="Shape 2">
              <a:extLst>
                <a:ext uri="{FF2B5EF4-FFF2-40B4-BE49-F238E27FC236}">
                  <a16:creationId xmlns:a16="http://schemas.microsoft.com/office/drawing/2014/main" id="{EF78984B-A659-F8AD-AB1D-1D7F03FB5A81}"/>
                </a:ext>
              </a:extLst>
            </p:cNvPr>
            <p:cNvSpPr/>
            <p:nvPr/>
          </p:nvSpPr>
          <p:spPr>
            <a:xfrm>
              <a:off x="548640" y="1371600"/>
              <a:ext cx="3575304" cy="2084832"/>
            </a:xfrm>
            <a:prstGeom prst="roundRect">
              <a:avLst>
                <a:gd name="adj" fmla="val 3947"/>
              </a:avLst>
            </a:prstGeom>
            <a:solidFill>
              <a:srgbClr val="E9F5EE"/>
            </a:solidFill>
            <a:ln/>
          </p:spPr>
          <p:txBody>
            <a:bodyPr/>
            <a:lstStyle/>
            <a:p>
              <a:endParaRPr lang="ja-JP" altLang="en-US" sz="1200"/>
            </a:p>
          </p:txBody>
        </p:sp>
        <p:sp>
          <p:nvSpPr>
            <p:cNvPr id="62" name="Text 3">
              <a:extLst>
                <a:ext uri="{FF2B5EF4-FFF2-40B4-BE49-F238E27FC236}">
                  <a16:creationId xmlns:a16="http://schemas.microsoft.com/office/drawing/2014/main" id="{FB2EF4AE-66A8-AE00-0909-A482E4A4A77C}"/>
                </a:ext>
              </a:extLst>
            </p:cNvPr>
            <p:cNvSpPr/>
            <p:nvPr/>
          </p:nvSpPr>
          <p:spPr>
            <a:xfrm>
              <a:off x="777240" y="1517904"/>
              <a:ext cx="3118104" cy="640080"/>
            </a:xfrm>
            <a:prstGeom prst="rect">
              <a:avLst/>
            </a:prstGeom>
            <a:noFill/>
            <a:ln/>
          </p:spPr>
          <p:txBody>
            <a:bodyPr wrap="square" lIns="0" tIns="0" rIns="0" bIns="0" rtlCol="0" anchor="ctr"/>
            <a:lstStyle/>
            <a:p>
              <a:pPr marL="0" indent="0">
                <a:buNone/>
              </a:pPr>
              <a:r>
                <a:rPr lang="en-US" sz="1600" b="1" dirty="0">
                  <a:solidFill>
                    <a:srgbClr val="006B2B"/>
                  </a:solidFill>
                  <a:latin typeface="Meiryo UI" pitchFamily="34" charset="0"/>
                  <a:ea typeface="Meiryo UI" pitchFamily="34" charset="-122"/>
                  <a:cs typeface="Meiryo UI" pitchFamily="34" charset="-120"/>
                </a:rPr>
                <a:t>1.4億円/年</a:t>
              </a:r>
              <a:endParaRPr lang="en-US" sz="1600" dirty="0"/>
            </a:p>
          </p:txBody>
        </p:sp>
        <p:sp>
          <p:nvSpPr>
            <p:cNvPr id="63" name="Text 4">
              <a:extLst>
                <a:ext uri="{FF2B5EF4-FFF2-40B4-BE49-F238E27FC236}">
                  <a16:creationId xmlns:a16="http://schemas.microsoft.com/office/drawing/2014/main" id="{2CD1DA04-D6A5-9F21-0A8B-0009BEA5A5E3}"/>
                </a:ext>
              </a:extLst>
            </p:cNvPr>
            <p:cNvSpPr/>
            <p:nvPr/>
          </p:nvSpPr>
          <p:spPr>
            <a:xfrm>
              <a:off x="777240" y="2176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隠れ人件費（12FTE）</a:t>
              </a:r>
              <a:endParaRPr lang="en-US" sz="1050" dirty="0"/>
            </a:p>
          </p:txBody>
        </p:sp>
        <p:sp>
          <p:nvSpPr>
            <p:cNvPr id="64" name="Text 5">
              <a:extLst>
                <a:ext uri="{FF2B5EF4-FFF2-40B4-BE49-F238E27FC236}">
                  <a16:creationId xmlns:a16="http://schemas.microsoft.com/office/drawing/2014/main" id="{B6332573-8F5B-F762-DD43-F2B14A2E87DB}"/>
                </a:ext>
              </a:extLst>
            </p:cNvPr>
            <p:cNvSpPr/>
            <p:nvPr/>
          </p:nvSpPr>
          <p:spPr>
            <a:xfrm>
              <a:off x="777240" y="2542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社員の運用従事工数の人件費換算。ベンダ費の外側で消えているコスト</a:t>
              </a:r>
              <a:endParaRPr lang="en-US" sz="800" dirty="0"/>
            </a:p>
          </p:txBody>
        </p:sp>
        <p:sp>
          <p:nvSpPr>
            <p:cNvPr id="65" name="Shape 6">
              <a:extLst>
                <a:ext uri="{FF2B5EF4-FFF2-40B4-BE49-F238E27FC236}">
                  <a16:creationId xmlns:a16="http://schemas.microsoft.com/office/drawing/2014/main" id="{04B0663F-ED3A-6B2E-09A3-DC9C24E46737}"/>
                </a:ext>
              </a:extLst>
            </p:cNvPr>
            <p:cNvSpPr/>
            <p:nvPr/>
          </p:nvSpPr>
          <p:spPr>
            <a:xfrm>
              <a:off x="4306824" y="1371600"/>
              <a:ext cx="3575304" cy="2084832"/>
            </a:xfrm>
            <a:prstGeom prst="roundRect">
              <a:avLst>
                <a:gd name="adj" fmla="val 3947"/>
              </a:avLst>
            </a:prstGeom>
            <a:solidFill>
              <a:srgbClr val="E9F5EE"/>
            </a:solidFill>
            <a:ln/>
          </p:spPr>
          <p:txBody>
            <a:bodyPr/>
            <a:lstStyle/>
            <a:p>
              <a:endParaRPr lang="ja-JP" altLang="en-US" sz="1200"/>
            </a:p>
          </p:txBody>
        </p:sp>
        <p:sp>
          <p:nvSpPr>
            <p:cNvPr id="66" name="Text 7">
              <a:extLst>
                <a:ext uri="{FF2B5EF4-FFF2-40B4-BE49-F238E27FC236}">
                  <a16:creationId xmlns:a16="http://schemas.microsoft.com/office/drawing/2014/main" id="{A9E9F9F1-4C26-F683-0F42-ABF4D33333F5}"/>
                </a:ext>
              </a:extLst>
            </p:cNvPr>
            <p:cNvSpPr/>
            <p:nvPr/>
          </p:nvSpPr>
          <p:spPr>
            <a:xfrm>
              <a:off x="4535424" y="1517904"/>
              <a:ext cx="3118104" cy="640080"/>
            </a:xfrm>
            <a:prstGeom prst="rect">
              <a:avLst/>
            </a:prstGeom>
            <a:noFill/>
            <a:ln/>
          </p:spPr>
          <p:txBody>
            <a:bodyPr wrap="square" lIns="0" tIns="0" rIns="0" bIns="0" rtlCol="0" anchor="ctr"/>
            <a:lstStyle/>
            <a:p>
              <a:pPr marL="0" indent="0">
                <a:buNone/>
              </a:pPr>
              <a:r>
                <a:rPr lang="en-US" sz="1600" b="1" dirty="0">
                  <a:solidFill>
                    <a:srgbClr val="006B2B"/>
                  </a:solidFill>
                  <a:latin typeface="Meiryo UI" pitchFamily="34" charset="0"/>
                  <a:ea typeface="Meiryo UI" pitchFamily="34" charset="-122"/>
                  <a:cs typeface="Meiryo UI" pitchFamily="34" charset="-120"/>
                </a:rPr>
                <a:t>11.4億円</a:t>
              </a:r>
              <a:endParaRPr lang="en-US" sz="1600" dirty="0"/>
            </a:p>
          </p:txBody>
        </p:sp>
        <p:sp>
          <p:nvSpPr>
            <p:cNvPr id="67" name="Text 8">
              <a:extLst>
                <a:ext uri="{FF2B5EF4-FFF2-40B4-BE49-F238E27FC236}">
                  <a16:creationId xmlns:a16="http://schemas.microsoft.com/office/drawing/2014/main" id="{F7AE53DF-6B8D-0324-A254-33666A442B57}"/>
                </a:ext>
              </a:extLst>
            </p:cNvPr>
            <p:cNvSpPr/>
            <p:nvPr/>
          </p:nvSpPr>
          <p:spPr>
            <a:xfrm>
              <a:off x="4535424" y="2176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真のTCO</a:t>
              </a:r>
              <a:endParaRPr lang="en-US" sz="1050" dirty="0"/>
            </a:p>
          </p:txBody>
        </p:sp>
        <p:sp>
          <p:nvSpPr>
            <p:cNvPr id="68" name="Text 9">
              <a:extLst>
                <a:ext uri="{FF2B5EF4-FFF2-40B4-BE49-F238E27FC236}">
                  <a16:creationId xmlns:a16="http://schemas.microsoft.com/office/drawing/2014/main" id="{F3820ACB-D6C1-E928-5ECE-903E572D9E6E}"/>
                </a:ext>
              </a:extLst>
            </p:cNvPr>
            <p:cNvSpPr/>
            <p:nvPr/>
          </p:nvSpPr>
          <p:spPr>
            <a:xfrm>
              <a:off x="4535424" y="2542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ベンダ費10億円＋隠れ人件費。ベンダ費のみの管理では14%過小評価</a:t>
              </a:r>
              <a:endParaRPr lang="en-US" sz="800" dirty="0"/>
            </a:p>
          </p:txBody>
        </p:sp>
        <p:sp>
          <p:nvSpPr>
            <p:cNvPr id="69" name="Shape 10">
              <a:extLst>
                <a:ext uri="{FF2B5EF4-FFF2-40B4-BE49-F238E27FC236}">
                  <a16:creationId xmlns:a16="http://schemas.microsoft.com/office/drawing/2014/main" id="{A4571EFD-0A8E-6D01-D034-6C532C43AB59}"/>
                </a:ext>
              </a:extLst>
            </p:cNvPr>
            <p:cNvSpPr/>
            <p:nvPr/>
          </p:nvSpPr>
          <p:spPr>
            <a:xfrm>
              <a:off x="8065008" y="1371600"/>
              <a:ext cx="3575304" cy="2084832"/>
            </a:xfrm>
            <a:prstGeom prst="roundRect">
              <a:avLst>
                <a:gd name="adj" fmla="val 3947"/>
              </a:avLst>
            </a:prstGeom>
            <a:solidFill>
              <a:srgbClr val="E9F5EE"/>
            </a:solidFill>
            <a:ln/>
          </p:spPr>
          <p:txBody>
            <a:bodyPr/>
            <a:lstStyle/>
            <a:p>
              <a:endParaRPr lang="ja-JP" altLang="en-US" sz="1200"/>
            </a:p>
          </p:txBody>
        </p:sp>
        <p:sp>
          <p:nvSpPr>
            <p:cNvPr id="70" name="Text 11">
              <a:extLst>
                <a:ext uri="{FF2B5EF4-FFF2-40B4-BE49-F238E27FC236}">
                  <a16:creationId xmlns:a16="http://schemas.microsoft.com/office/drawing/2014/main" id="{4A5490DB-BBB7-2A18-3FD7-E9293C4814B5}"/>
                </a:ext>
              </a:extLst>
            </p:cNvPr>
            <p:cNvSpPr/>
            <p:nvPr/>
          </p:nvSpPr>
          <p:spPr>
            <a:xfrm>
              <a:off x="8293608" y="1517904"/>
              <a:ext cx="3118104" cy="640080"/>
            </a:xfrm>
            <a:prstGeom prst="rect">
              <a:avLst/>
            </a:prstGeom>
            <a:noFill/>
            <a:ln/>
          </p:spPr>
          <p:txBody>
            <a:bodyPr wrap="square" lIns="0" tIns="0" rIns="0" bIns="0" rtlCol="0" anchor="ctr"/>
            <a:lstStyle/>
            <a:p>
              <a:pPr marL="0" indent="0">
                <a:buNone/>
              </a:pPr>
              <a:r>
                <a:rPr lang="en-US" sz="1600" b="1" dirty="0">
                  <a:solidFill>
                    <a:srgbClr val="006B2B"/>
                  </a:solidFill>
                  <a:latin typeface="Meiryo UI" pitchFamily="34" charset="0"/>
                  <a:ea typeface="Meiryo UI" pitchFamily="34" charset="-122"/>
                  <a:cs typeface="Meiryo UI" pitchFamily="34" charset="-120"/>
                </a:rPr>
                <a:t>1〜3億円/年</a:t>
              </a:r>
              <a:endParaRPr lang="en-US" sz="1600" dirty="0"/>
            </a:p>
          </p:txBody>
        </p:sp>
        <p:sp>
          <p:nvSpPr>
            <p:cNvPr id="71" name="Text 12">
              <a:extLst>
                <a:ext uri="{FF2B5EF4-FFF2-40B4-BE49-F238E27FC236}">
                  <a16:creationId xmlns:a16="http://schemas.microsoft.com/office/drawing/2014/main" id="{906E0674-D047-2F7F-6F27-6BEEF3883CE5}"/>
                </a:ext>
              </a:extLst>
            </p:cNvPr>
            <p:cNvSpPr/>
            <p:nvPr/>
          </p:nvSpPr>
          <p:spPr>
            <a:xfrm>
              <a:off x="8293608" y="2176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統合発注の削減余地</a:t>
              </a:r>
              <a:endParaRPr lang="en-US" sz="1050" dirty="0"/>
            </a:p>
          </p:txBody>
        </p:sp>
        <p:sp>
          <p:nvSpPr>
            <p:cNvPr id="72" name="Text 13">
              <a:extLst>
                <a:ext uri="{FF2B5EF4-FFF2-40B4-BE49-F238E27FC236}">
                  <a16:creationId xmlns:a16="http://schemas.microsoft.com/office/drawing/2014/main" id="{0BAA9313-1D9D-A094-A40C-676CB7060F56}"/>
                </a:ext>
              </a:extLst>
            </p:cNvPr>
            <p:cNvSpPr/>
            <p:nvPr/>
          </p:nvSpPr>
          <p:spPr>
            <a:xfrm>
              <a:off x="8293608" y="2542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SIAM型統合による削減の業界相場はベンダ費の10〜30%</a:t>
              </a:r>
              <a:endParaRPr lang="en-US" sz="800" dirty="0"/>
            </a:p>
          </p:txBody>
        </p:sp>
        <p:sp>
          <p:nvSpPr>
            <p:cNvPr id="73" name="Shape 14">
              <a:extLst>
                <a:ext uri="{FF2B5EF4-FFF2-40B4-BE49-F238E27FC236}">
                  <a16:creationId xmlns:a16="http://schemas.microsoft.com/office/drawing/2014/main" id="{EAE253B3-2B7E-6F1E-CA73-BBB16A5B7E60}"/>
                </a:ext>
              </a:extLst>
            </p:cNvPr>
            <p:cNvSpPr/>
            <p:nvPr/>
          </p:nvSpPr>
          <p:spPr>
            <a:xfrm>
              <a:off x="548640" y="3657600"/>
              <a:ext cx="3575304" cy="2084832"/>
            </a:xfrm>
            <a:prstGeom prst="roundRect">
              <a:avLst>
                <a:gd name="adj" fmla="val 3947"/>
              </a:avLst>
            </a:prstGeom>
            <a:solidFill>
              <a:srgbClr val="FBF1E9"/>
            </a:solidFill>
            <a:ln/>
          </p:spPr>
          <p:txBody>
            <a:bodyPr/>
            <a:lstStyle/>
            <a:p>
              <a:endParaRPr lang="ja-JP" altLang="en-US" sz="1200"/>
            </a:p>
          </p:txBody>
        </p:sp>
        <p:sp>
          <p:nvSpPr>
            <p:cNvPr id="74" name="Text 15">
              <a:extLst>
                <a:ext uri="{FF2B5EF4-FFF2-40B4-BE49-F238E27FC236}">
                  <a16:creationId xmlns:a16="http://schemas.microsoft.com/office/drawing/2014/main" id="{E5CBDC1E-D063-5FA4-84B4-073A21D4AC64}"/>
                </a:ext>
              </a:extLst>
            </p:cNvPr>
            <p:cNvSpPr/>
            <p:nvPr/>
          </p:nvSpPr>
          <p:spPr>
            <a:xfrm>
              <a:off x="777240" y="3803904"/>
              <a:ext cx="3118104" cy="640080"/>
            </a:xfrm>
            <a:prstGeom prst="rect">
              <a:avLst/>
            </a:prstGeom>
            <a:noFill/>
            <a:ln/>
          </p:spPr>
          <p:txBody>
            <a:bodyPr wrap="square" lIns="0" tIns="0" rIns="0" bIns="0" rtlCol="0" anchor="ctr"/>
            <a:lstStyle/>
            <a:p>
              <a:pPr marL="0" indent="0">
                <a:buNone/>
              </a:pPr>
              <a:r>
                <a:rPr lang="en-US" sz="1600" b="1" dirty="0">
                  <a:solidFill>
                    <a:srgbClr val="C05621"/>
                  </a:solidFill>
                  <a:latin typeface="Meiryo UI" pitchFamily="34" charset="0"/>
                  <a:ea typeface="Meiryo UI" pitchFamily="34" charset="-122"/>
                  <a:cs typeface="Meiryo UI" pitchFamily="34" charset="-120"/>
                </a:rPr>
                <a:t>1,500万円/名</a:t>
              </a:r>
              <a:endParaRPr lang="en-US" sz="1600" dirty="0"/>
            </a:p>
          </p:txBody>
        </p:sp>
        <p:sp>
          <p:nvSpPr>
            <p:cNvPr id="75" name="Text 16">
              <a:extLst>
                <a:ext uri="{FF2B5EF4-FFF2-40B4-BE49-F238E27FC236}">
                  <a16:creationId xmlns:a16="http://schemas.microsoft.com/office/drawing/2014/main" id="{AEB0B3BD-9107-1960-E851-11FD6E2C7375}"/>
                </a:ext>
              </a:extLst>
            </p:cNvPr>
            <p:cNvSpPr/>
            <p:nvPr/>
          </p:nvSpPr>
          <p:spPr>
            <a:xfrm>
              <a:off x="777240" y="4462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人材投資の消失</a:t>
              </a:r>
              <a:endParaRPr lang="en-US" sz="1050" dirty="0"/>
            </a:p>
          </p:txBody>
        </p:sp>
        <p:sp>
          <p:nvSpPr>
            <p:cNvPr id="76" name="Text 17">
              <a:extLst>
                <a:ext uri="{FF2B5EF4-FFF2-40B4-BE49-F238E27FC236}">
                  <a16:creationId xmlns:a16="http://schemas.microsoft.com/office/drawing/2014/main" id="{309CB585-046E-06C5-793C-14B3D3984848}"/>
                </a:ext>
              </a:extLst>
            </p:cNvPr>
            <p:cNvSpPr/>
            <p:nvPr/>
          </p:nvSpPr>
          <p:spPr>
            <a:xfrm>
              <a:off x="777240" y="4828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採用費＋立ち上がり2年の非生産人件費。早期離職でほぼ全額消失</a:t>
              </a:r>
              <a:endParaRPr lang="en-US" sz="800" dirty="0"/>
            </a:p>
          </p:txBody>
        </p:sp>
        <p:sp>
          <p:nvSpPr>
            <p:cNvPr id="77" name="Shape 18">
              <a:extLst>
                <a:ext uri="{FF2B5EF4-FFF2-40B4-BE49-F238E27FC236}">
                  <a16:creationId xmlns:a16="http://schemas.microsoft.com/office/drawing/2014/main" id="{81382CF8-6118-64B1-5E51-66AA8BC61585}"/>
                </a:ext>
              </a:extLst>
            </p:cNvPr>
            <p:cNvSpPr/>
            <p:nvPr/>
          </p:nvSpPr>
          <p:spPr>
            <a:xfrm>
              <a:off x="4306824" y="3657600"/>
              <a:ext cx="3575304" cy="2084832"/>
            </a:xfrm>
            <a:prstGeom prst="roundRect">
              <a:avLst>
                <a:gd name="adj" fmla="val 3947"/>
              </a:avLst>
            </a:prstGeom>
            <a:solidFill>
              <a:srgbClr val="FBF1E9"/>
            </a:solidFill>
            <a:ln/>
          </p:spPr>
          <p:txBody>
            <a:bodyPr/>
            <a:lstStyle/>
            <a:p>
              <a:endParaRPr lang="ja-JP" altLang="en-US" sz="1200"/>
            </a:p>
          </p:txBody>
        </p:sp>
        <p:sp>
          <p:nvSpPr>
            <p:cNvPr id="78" name="Text 19">
              <a:extLst>
                <a:ext uri="{FF2B5EF4-FFF2-40B4-BE49-F238E27FC236}">
                  <a16:creationId xmlns:a16="http://schemas.microsoft.com/office/drawing/2014/main" id="{3F0B1DAC-37BF-E2D7-47B8-9057E08333CC}"/>
                </a:ext>
              </a:extLst>
            </p:cNvPr>
            <p:cNvSpPr/>
            <p:nvPr/>
          </p:nvSpPr>
          <p:spPr>
            <a:xfrm>
              <a:off x="4535424" y="3803904"/>
              <a:ext cx="3118104" cy="640080"/>
            </a:xfrm>
            <a:prstGeom prst="rect">
              <a:avLst/>
            </a:prstGeom>
            <a:noFill/>
            <a:ln/>
          </p:spPr>
          <p:txBody>
            <a:bodyPr wrap="square" lIns="0" tIns="0" rIns="0" bIns="0" rtlCol="0" anchor="ctr"/>
            <a:lstStyle/>
            <a:p>
              <a:pPr marL="0" indent="0">
                <a:buNone/>
              </a:pPr>
              <a:r>
                <a:rPr lang="en-US" sz="1600" b="1" dirty="0">
                  <a:solidFill>
                    <a:srgbClr val="C05621"/>
                  </a:solidFill>
                  <a:latin typeface="Meiryo UI" pitchFamily="34" charset="0"/>
                  <a:ea typeface="Meiryo UI" pitchFamily="34" charset="-122"/>
                  <a:cs typeface="Meiryo UI" pitchFamily="34" charset="-120"/>
                </a:rPr>
                <a:t>1,200万円/件</a:t>
              </a:r>
              <a:endParaRPr lang="en-US" sz="1600" dirty="0"/>
            </a:p>
          </p:txBody>
        </p:sp>
        <p:sp>
          <p:nvSpPr>
            <p:cNvPr id="79" name="Text 20">
              <a:extLst>
                <a:ext uri="{FF2B5EF4-FFF2-40B4-BE49-F238E27FC236}">
                  <a16:creationId xmlns:a16="http://schemas.microsoft.com/office/drawing/2014/main" id="{F24010F3-FBB9-2C49-6AC7-A2AAF6333AA1}"/>
                </a:ext>
              </a:extLst>
            </p:cNvPr>
            <p:cNvSpPr/>
            <p:nvPr/>
          </p:nvSpPr>
          <p:spPr>
            <a:xfrm>
              <a:off x="4535424" y="4462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休職1件のコスト</a:t>
              </a:r>
              <a:endParaRPr lang="en-US" sz="1050" dirty="0"/>
            </a:p>
          </p:txBody>
        </p:sp>
        <p:sp>
          <p:nvSpPr>
            <p:cNvPr id="80" name="Text 21">
              <a:extLst>
                <a:ext uri="{FF2B5EF4-FFF2-40B4-BE49-F238E27FC236}">
                  <a16:creationId xmlns:a16="http://schemas.microsoft.com/office/drawing/2014/main" id="{8A1C4707-9C40-258F-8741-6A118FC34BE1}"/>
                </a:ext>
              </a:extLst>
            </p:cNvPr>
            <p:cNvSpPr/>
            <p:nvPr/>
          </p:nvSpPr>
          <p:spPr>
            <a:xfrm>
              <a:off x="4535424" y="4828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給与保障＋代替要員＋復職支援 ≒ 年収の1.5〜2倍。労務リスクは別途</a:t>
              </a:r>
              <a:endParaRPr lang="en-US" sz="800" dirty="0"/>
            </a:p>
          </p:txBody>
        </p:sp>
        <p:sp>
          <p:nvSpPr>
            <p:cNvPr id="81" name="Shape 22">
              <a:extLst>
                <a:ext uri="{FF2B5EF4-FFF2-40B4-BE49-F238E27FC236}">
                  <a16:creationId xmlns:a16="http://schemas.microsoft.com/office/drawing/2014/main" id="{981594F6-A396-6C16-DF31-DB20DE8C93B2}"/>
                </a:ext>
              </a:extLst>
            </p:cNvPr>
            <p:cNvSpPr/>
            <p:nvPr/>
          </p:nvSpPr>
          <p:spPr>
            <a:xfrm>
              <a:off x="8065008" y="3657600"/>
              <a:ext cx="3575304" cy="2084832"/>
            </a:xfrm>
            <a:prstGeom prst="roundRect">
              <a:avLst>
                <a:gd name="adj" fmla="val 3947"/>
              </a:avLst>
            </a:prstGeom>
            <a:solidFill>
              <a:srgbClr val="FBF1E9"/>
            </a:solidFill>
            <a:ln/>
          </p:spPr>
          <p:txBody>
            <a:bodyPr/>
            <a:lstStyle/>
            <a:p>
              <a:endParaRPr lang="ja-JP" altLang="en-US" sz="1200"/>
            </a:p>
          </p:txBody>
        </p:sp>
        <p:sp>
          <p:nvSpPr>
            <p:cNvPr id="82" name="Text 23">
              <a:extLst>
                <a:ext uri="{FF2B5EF4-FFF2-40B4-BE49-F238E27FC236}">
                  <a16:creationId xmlns:a16="http://schemas.microsoft.com/office/drawing/2014/main" id="{4D1D0D77-B22D-326B-A3A7-2B5CA01BE331}"/>
                </a:ext>
              </a:extLst>
            </p:cNvPr>
            <p:cNvSpPr/>
            <p:nvPr/>
          </p:nvSpPr>
          <p:spPr>
            <a:xfrm>
              <a:off x="8293608" y="3803904"/>
              <a:ext cx="3118104" cy="640080"/>
            </a:xfrm>
            <a:prstGeom prst="rect">
              <a:avLst/>
            </a:prstGeom>
            <a:noFill/>
            <a:ln/>
          </p:spPr>
          <p:txBody>
            <a:bodyPr wrap="square" lIns="0" tIns="0" rIns="0" bIns="0" rtlCol="0" anchor="ctr"/>
            <a:lstStyle/>
            <a:p>
              <a:pPr marL="0" indent="0">
                <a:buNone/>
              </a:pPr>
              <a:r>
                <a:rPr lang="en-US" sz="1600" b="1" dirty="0">
                  <a:solidFill>
                    <a:srgbClr val="C05621"/>
                  </a:solidFill>
                  <a:latin typeface="Meiryo UI" pitchFamily="34" charset="0"/>
                  <a:ea typeface="Meiryo UI" pitchFamily="34" charset="-122"/>
                  <a:cs typeface="Meiryo UI" pitchFamily="34" charset="-120"/>
                </a:rPr>
                <a:t>11億円/日</a:t>
              </a:r>
              <a:endParaRPr lang="en-US" sz="1600" dirty="0"/>
            </a:p>
          </p:txBody>
        </p:sp>
        <p:sp>
          <p:nvSpPr>
            <p:cNvPr id="83" name="Text 24">
              <a:extLst>
                <a:ext uri="{FF2B5EF4-FFF2-40B4-BE49-F238E27FC236}">
                  <a16:creationId xmlns:a16="http://schemas.microsoft.com/office/drawing/2014/main" id="{7F1954FA-AEB2-FCFA-69B1-2BFC4F832531}"/>
                </a:ext>
              </a:extLst>
            </p:cNvPr>
            <p:cNvSpPr/>
            <p:nvPr/>
          </p:nvSpPr>
          <p:spPr>
            <a:xfrm>
              <a:off x="8293608" y="4462272"/>
              <a:ext cx="3118104" cy="347472"/>
            </a:xfrm>
            <a:prstGeom prst="rect">
              <a:avLst/>
            </a:prstGeom>
            <a:noFill/>
            <a:ln/>
          </p:spPr>
          <p:txBody>
            <a:bodyPr wrap="square" lIns="0" tIns="0" rIns="0" bIns="0" rtlCol="0" anchor="ctr"/>
            <a:lstStyle/>
            <a:p>
              <a:pPr marL="0" indent="0">
                <a:buNone/>
              </a:pPr>
              <a:r>
                <a:rPr lang="en-US" sz="1050" b="1" dirty="0">
                  <a:solidFill>
                    <a:srgbClr val="1F2A24"/>
                  </a:solidFill>
                  <a:latin typeface="Meiryo UI" pitchFamily="34" charset="0"/>
                  <a:ea typeface="Meiryo UI" pitchFamily="34" charset="-122"/>
                  <a:cs typeface="Meiryo UI" pitchFamily="34" charset="-120"/>
                </a:rPr>
                <a:t>基幹停止エクスポージャ</a:t>
              </a:r>
              <a:endParaRPr lang="en-US" sz="1050" dirty="0"/>
            </a:p>
          </p:txBody>
        </p:sp>
        <p:sp>
          <p:nvSpPr>
            <p:cNvPr id="84" name="Text 25">
              <a:extLst>
                <a:ext uri="{FF2B5EF4-FFF2-40B4-BE49-F238E27FC236}">
                  <a16:creationId xmlns:a16="http://schemas.microsoft.com/office/drawing/2014/main" id="{6DF110DE-3F91-AEDD-299C-986DC387743E}"/>
                </a:ext>
              </a:extLst>
            </p:cNvPr>
            <p:cNvSpPr/>
            <p:nvPr/>
          </p:nvSpPr>
          <p:spPr>
            <a:xfrm>
              <a:off x="8293608" y="4828032"/>
              <a:ext cx="3118104" cy="822960"/>
            </a:xfrm>
            <a:prstGeom prst="rect">
              <a:avLst/>
            </a:prstGeom>
            <a:noFill/>
            <a:ln/>
          </p:spPr>
          <p:txBody>
            <a:bodyPr wrap="square" lIns="0" tIns="0" rIns="0" bIns="0" rtlCol="0" anchor="ctr"/>
            <a:lstStyle/>
            <a:p>
              <a:pPr marL="0" indent="0">
                <a:buNone/>
              </a:pPr>
              <a:r>
                <a:rPr lang="en-US" sz="800" dirty="0">
                  <a:solidFill>
                    <a:srgbClr val="5A6660"/>
                  </a:solidFill>
                  <a:latin typeface="Meiryo UI" pitchFamily="34" charset="0"/>
                  <a:ea typeface="Meiryo UI" pitchFamily="34" charset="-122"/>
                  <a:cs typeface="Meiryo UI" pitchFamily="34" charset="-120"/>
                </a:rPr>
                <a:t>受発注・物流停止1日の出荷リスク。属人運用では復旧が個人に依存</a:t>
              </a:r>
              <a:endParaRPr lang="en-US" sz="800" dirty="0"/>
            </a:p>
          </p:txBody>
        </p:sp>
      </p:grpSp>
      <p:grpSp>
        <p:nvGrpSpPr>
          <p:cNvPr id="134" name="グループ化 133">
            <a:extLst>
              <a:ext uri="{FF2B5EF4-FFF2-40B4-BE49-F238E27FC236}">
                <a16:creationId xmlns:a16="http://schemas.microsoft.com/office/drawing/2014/main" id="{3FEC4BC5-127B-2E6C-C663-B56E58B48692}"/>
              </a:ext>
            </a:extLst>
          </p:cNvPr>
          <p:cNvGrpSpPr/>
          <p:nvPr/>
        </p:nvGrpSpPr>
        <p:grpSpPr>
          <a:xfrm>
            <a:off x="5369668" y="1628775"/>
            <a:ext cx="6485791" cy="584775"/>
            <a:chOff x="6199763" y="1628775"/>
            <a:chExt cx="5657275" cy="584775"/>
          </a:xfrm>
        </p:grpSpPr>
        <p:cxnSp>
          <p:nvCxnSpPr>
            <p:cNvPr id="59" name="直線コネクタ 58">
              <a:extLst>
                <a:ext uri="{FF2B5EF4-FFF2-40B4-BE49-F238E27FC236}">
                  <a16:creationId xmlns:a16="http://schemas.microsoft.com/office/drawing/2014/main" id="{9DA55DAC-A30B-DFC5-3E97-AD833629822A}"/>
                </a:ext>
              </a:extLst>
            </p:cNvPr>
            <p:cNvCxnSpPr/>
            <p:nvPr/>
          </p:nvCxnSpPr>
          <p:spPr>
            <a:xfrm>
              <a:off x="6199763" y="2003898"/>
              <a:ext cx="5657275"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FFAB12D9-A235-B575-281E-C1DFF94C2D1C}"/>
                </a:ext>
              </a:extLst>
            </p:cNvPr>
            <p:cNvSpPr txBox="1"/>
            <p:nvPr/>
          </p:nvSpPr>
          <p:spPr>
            <a:xfrm>
              <a:off x="6199763" y="1628775"/>
              <a:ext cx="5579453" cy="584775"/>
            </a:xfrm>
            <a:prstGeom prst="rect">
              <a:avLst/>
            </a:prstGeom>
            <a:noFill/>
          </p:spPr>
          <p:txBody>
            <a:bodyPr wrap="square" rtlCol="0">
              <a:spAutoFit/>
            </a:bodyPr>
            <a:lstStyle/>
            <a:p>
              <a:pPr algn="ctr"/>
              <a:r>
                <a:rPr lang="ja-JP" altLang="en-US" sz="1600" dirty="0"/>
                <a:t>現状コストの定量化：見えているベンダ費の外側に大きなコストとリスク</a:t>
              </a:r>
            </a:p>
          </p:txBody>
        </p:sp>
      </p:grpSp>
      <p:sp>
        <p:nvSpPr>
          <p:cNvPr id="140" name="矢印: 右 139">
            <a:extLst>
              <a:ext uri="{FF2B5EF4-FFF2-40B4-BE49-F238E27FC236}">
                <a16:creationId xmlns:a16="http://schemas.microsoft.com/office/drawing/2014/main" id="{380E4700-CC97-F525-655D-9273512DBABA}"/>
              </a:ext>
            </a:extLst>
          </p:cNvPr>
          <p:cNvSpPr/>
          <p:nvPr/>
        </p:nvSpPr>
        <p:spPr>
          <a:xfrm>
            <a:off x="10215989" y="3026966"/>
            <a:ext cx="362423" cy="2700827"/>
          </a:xfrm>
          <a:prstGeom prst="rightArrow">
            <a:avLst>
              <a:gd name="adj1" fmla="val 50000"/>
              <a:gd name="adj2" fmla="val 100000"/>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
        <p:nvSpPr>
          <p:cNvPr id="149" name="テキスト ボックス 148">
            <a:extLst>
              <a:ext uri="{FF2B5EF4-FFF2-40B4-BE49-F238E27FC236}">
                <a16:creationId xmlns:a16="http://schemas.microsoft.com/office/drawing/2014/main" id="{19F53883-BE27-2141-8EA7-582523D3E291}"/>
              </a:ext>
            </a:extLst>
          </p:cNvPr>
          <p:cNvSpPr txBox="1"/>
          <p:nvPr/>
        </p:nvSpPr>
        <p:spPr>
          <a:xfrm>
            <a:off x="3981301" y="2302355"/>
            <a:ext cx="1169408" cy="276999"/>
          </a:xfrm>
          <a:prstGeom prst="rect">
            <a:avLst/>
          </a:prstGeom>
          <a:noFill/>
        </p:spPr>
        <p:txBody>
          <a:bodyPr wrap="square">
            <a:spAutoFit/>
          </a:bodyPr>
          <a:lstStyle/>
          <a:p>
            <a:pPr algn="ctr"/>
            <a:r>
              <a:rPr lang="en-US" altLang="ja-JP" sz="1200" b="1" dirty="0" err="1">
                <a:latin typeface="Meiryo UI" pitchFamily="34" charset="0"/>
                <a:ea typeface="Meiryo UI" pitchFamily="34" charset="-122"/>
                <a:cs typeface="Meiryo UI" pitchFamily="34" charset="-120"/>
              </a:rPr>
              <a:t>当社への換算</a:t>
            </a:r>
            <a:endParaRPr lang="en-US" altLang="ja-JP" sz="1200" b="1" dirty="0">
              <a:latin typeface="Meiryo UI" pitchFamily="34" charset="0"/>
              <a:ea typeface="Meiryo UI" pitchFamily="34" charset="-122"/>
              <a:cs typeface="Meiryo UI" pitchFamily="34" charset="-120"/>
            </a:endParaRPr>
          </a:p>
        </p:txBody>
      </p:sp>
      <p:sp>
        <p:nvSpPr>
          <p:cNvPr id="152" name="Shape 18">
            <a:extLst>
              <a:ext uri="{FF2B5EF4-FFF2-40B4-BE49-F238E27FC236}">
                <a16:creationId xmlns:a16="http://schemas.microsoft.com/office/drawing/2014/main" id="{5D891A32-B94F-ABBB-657A-CD19333EB72D}"/>
              </a:ext>
            </a:extLst>
          </p:cNvPr>
          <p:cNvSpPr/>
          <p:nvPr/>
        </p:nvSpPr>
        <p:spPr>
          <a:xfrm>
            <a:off x="10683633" y="2711721"/>
            <a:ext cx="1169408" cy="3484793"/>
          </a:xfrm>
          <a:prstGeom prst="roundRect">
            <a:avLst>
              <a:gd name="adj" fmla="val 2103"/>
            </a:avLst>
          </a:prstGeom>
          <a:solidFill>
            <a:srgbClr val="006B2B"/>
          </a:solidFill>
          <a:ln/>
        </p:spPr>
        <p:txBody>
          <a:bodyPr anchor="ctr"/>
          <a:lstStyle/>
          <a:p>
            <a:pPr algn="ctr"/>
            <a:r>
              <a:rPr lang="en-US" altLang="ja-JP" sz="1600" b="1" dirty="0">
                <a:solidFill>
                  <a:srgbClr val="FFFFFF"/>
                </a:solidFill>
                <a:latin typeface="Meiryo UI" pitchFamily="34" charset="0"/>
                <a:ea typeface="Meiryo UI" pitchFamily="34" charset="-122"/>
              </a:rPr>
              <a:t>XXX</a:t>
            </a:r>
          </a:p>
        </p:txBody>
      </p:sp>
      <p:sp>
        <p:nvSpPr>
          <p:cNvPr id="153" name="テキスト ボックス 152">
            <a:extLst>
              <a:ext uri="{FF2B5EF4-FFF2-40B4-BE49-F238E27FC236}">
                <a16:creationId xmlns:a16="http://schemas.microsoft.com/office/drawing/2014/main" id="{56F8B086-D19E-199C-1C8F-F0F44F13B9B4}"/>
              </a:ext>
            </a:extLst>
          </p:cNvPr>
          <p:cNvSpPr txBox="1"/>
          <p:nvPr/>
        </p:nvSpPr>
        <p:spPr>
          <a:xfrm>
            <a:off x="10683633" y="2302355"/>
            <a:ext cx="1169408" cy="276999"/>
          </a:xfrm>
          <a:prstGeom prst="rect">
            <a:avLst/>
          </a:prstGeom>
          <a:noFill/>
        </p:spPr>
        <p:txBody>
          <a:bodyPr wrap="square">
            <a:spAutoFit/>
          </a:bodyPr>
          <a:lstStyle/>
          <a:p>
            <a:pPr algn="ctr"/>
            <a:r>
              <a:rPr lang="ja-JP" altLang="en-US" sz="1200" b="1" dirty="0">
                <a:latin typeface="Meiryo UI" pitchFamily="34" charset="0"/>
                <a:ea typeface="Meiryo UI" pitchFamily="34" charset="-122"/>
                <a:cs typeface="Meiryo UI" pitchFamily="34" charset="-120"/>
              </a:rPr>
              <a:t>影響金額</a:t>
            </a:r>
            <a:endParaRPr lang="en-US" altLang="ja-JP" sz="1200" b="1" dirty="0">
              <a:latin typeface="Meiryo UI" pitchFamily="34" charset="0"/>
              <a:ea typeface="Meiryo UI" pitchFamily="34" charset="-122"/>
              <a:cs typeface="Meiryo UI" pitchFamily="34" charset="-120"/>
            </a:endParaRPr>
          </a:p>
        </p:txBody>
      </p:sp>
      <p:sp>
        <p:nvSpPr>
          <p:cNvPr id="154" name="正方形/長方形 153">
            <a:extLst>
              <a:ext uri="{FF2B5EF4-FFF2-40B4-BE49-F238E27FC236}">
                <a16:creationId xmlns:a16="http://schemas.microsoft.com/office/drawing/2014/main" id="{464D50E6-F925-7A41-0BAD-84D7F1EAFC5D}"/>
              </a:ext>
            </a:extLst>
          </p:cNvPr>
          <p:cNvSpPr/>
          <p:nvPr/>
        </p:nvSpPr>
        <p:spPr>
          <a:xfrm>
            <a:off x="8132323" y="0"/>
            <a:ext cx="3724715" cy="91439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kumimoji="1" lang="ja-JP" altLang="en-US" sz="1400" dirty="0">
                <a:solidFill>
                  <a:schemeClr val="tx1"/>
                </a:solidFill>
                <a:latin typeface="Meiryo UI" panose="020B0604030504040204" pitchFamily="50" charset="-128"/>
                <a:ea typeface="Meiryo UI" panose="020B0604030504040204" pitchFamily="50" charset="-128"/>
              </a:rPr>
              <a:t>これは数字というより</a:t>
            </a:r>
            <a:r>
              <a:rPr kumimoji="1" lang="en-US" altLang="ja-JP" sz="1400" dirty="0">
                <a:solidFill>
                  <a:schemeClr val="tx1"/>
                </a:solidFill>
                <a:latin typeface="Meiryo UI" panose="020B0604030504040204" pitchFamily="50" charset="-128"/>
                <a:ea typeface="Meiryo UI" panose="020B0604030504040204" pitchFamily="50" charset="-128"/>
              </a:rPr>
              <a:t>ROI</a:t>
            </a:r>
            <a:r>
              <a:rPr kumimoji="1" lang="ja-JP" altLang="en-US" sz="1400" dirty="0">
                <a:solidFill>
                  <a:schemeClr val="tx1"/>
                </a:solidFill>
                <a:latin typeface="Meiryo UI" panose="020B0604030504040204" pitchFamily="50" charset="-128"/>
                <a:ea typeface="Meiryo UI" panose="020B0604030504040204" pitchFamily="50" charset="-128"/>
              </a:rPr>
              <a:t>を換算するための要素</a:t>
            </a:r>
            <a:r>
              <a:rPr lang="ja-JP" altLang="en-US" sz="1400" dirty="0">
                <a:solidFill>
                  <a:schemeClr val="tx1"/>
                </a:solidFill>
                <a:latin typeface="Meiryo UI" panose="020B0604030504040204" pitchFamily="50" charset="-128"/>
                <a:ea typeface="Meiryo UI" panose="020B0604030504040204" pitchFamily="50" charset="-128"/>
              </a:rPr>
              <a:t>であり、数字の精緻化が必要</a:t>
            </a:r>
            <a:endParaRPr kumimoji="1" lang="ja-JP" altLang="en-US" sz="14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86836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DF23B-BA22-10F6-2EAF-BAA812C01C4E}"/>
              </a:ext>
            </a:extLst>
          </p:cNvPr>
          <p:cNvSpPr>
            <a:spLocks noGrp="1"/>
          </p:cNvSpPr>
          <p:nvPr>
            <p:ph type="title"/>
          </p:nvPr>
        </p:nvSpPr>
        <p:spPr/>
        <p:txBody>
          <a:bodyPr/>
          <a:lstStyle/>
          <a:p>
            <a:r>
              <a:rPr lang="en-US" altLang="ja-JP" dirty="0"/>
              <a:t>想定質問①（社内）</a:t>
            </a:r>
            <a:br>
              <a:rPr lang="en-US" altLang="ja-JP" dirty="0"/>
            </a:br>
            <a:r>
              <a:rPr lang="ja-JP" altLang="en-US" dirty="0"/>
              <a:t/>
            </a:r>
            <a:endParaRPr kumimoji="1" lang="ja-JP" altLang="en-US" dirty="0"/>
          </a:p>
        </p:txBody>
      </p:sp>
      <p:sp>
        <p:nvSpPr>
          <p:cNvPr id="3" name="テキスト プレースホルダー 2">
            <a:extLst>
              <a:ext uri="{FF2B5EF4-FFF2-40B4-BE49-F238E27FC236}">
                <a16:creationId xmlns:a16="http://schemas.microsoft.com/office/drawing/2014/main" id="{2AFD4DED-D640-BD1D-F8CD-28521C342DA3}"/>
              </a:ext>
            </a:extLst>
          </p:cNvPr>
          <p:cNvSpPr>
            <a:spLocks noGrp="1"/>
          </p:cNvSpPr>
          <p:nvPr>
            <p:ph type="body" sz="quarter" idx="13"/>
          </p:nvPr>
        </p:nvSpPr>
        <p:spPr/>
        <p:txBody>
          <a:bodyPr/>
          <a:lstStyle/>
          <a:p>
            <a:r>
              <a:rPr lang="ja-JP" altLang="en-US" dirty="0"/>
              <a:t>「個人の努力でやれている」と「組織の仕組みとして統制できている」は別物</a:t>
            </a:r>
            <a:endParaRPr lang="en-US" altLang="ja-JP" dirty="0"/>
          </a:p>
        </p:txBody>
      </p:sp>
      <p:sp>
        <p:nvSpPr>
          <p:cNvPr id="4" name="正方形/長方形 3">
            <a:extLst>
              <a:ext uri="{FF2B5EF4-FFF2-40B4-BE49-F238E27FC236}">
                <a16:creationId xmlns:a16="http://schemas.microsoft.com/office/drawing/2014/main" id="{790EBD07-8EFA-8601-EF01-DC465479B26E}"/>
              </a:ext>
            </a:extLst>
          </p:cNvPr>
          <p:cNvSpPr/>
          <p:nvPr/>
        </p:nvSpPr>
        <p:spPr>
          <a:xfrm>
            <a:off x="334963" y="1628775"/>
            <a:ext cx="11522075" cy="467995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「ベンダ管理は今もやっている」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やれているのは個人の経験と関係性による管理。</a:t>
            </a:r>
            <a:r>
              <a:rPr kumimoji="1" lang="en-US" altLang="ja-JP" sz="1100" dirty="0">
                <a:solidFill>
                  <a:schemeClr val="tx1"/>
                </a:solidFill>
                <a:latin typeface="Meiryo UI" panose="020B0604030504040204" pitchFamily="50" charset="-128"/>
                <a:ea typeface="Meiryo UI" panose="020B0604030504040204" pitchFamily="50" charset="-128"/>
              </a:rPr>
              <a:t>SLA/KPI</a:t>
            </a:r>
            <a:r>
              <a:rPr kumimoji="1" lang="ja-JP" altLang="en-US" sz="1100" dirty="0">
                <a:solidFill>
                  <a:schemeClr val="tx1"/>
                </a:solidFill>
                <a:latin typeface="Meiryo UI" panose="020B0604030504040204" pitchFamily="50" charset="-128"/>
                <a:ea typeface="Meiryo UI" panose="020B0604030504040204" pitchFamily="50" charset="-128"/>
              </a:rPr>
              <a:t>・</a:t>
            </a:r>
            <a:r>
              <a:rPr kumimoji="1" lang="en-US" altLang="ja-JP" sz="1100" dirty="0">
                <a:solidFill>
                  <a:schemeClr val="tx1"/>
                </a:solidFill>
                <a:latin typeface="Meiryo UI" panose="020B0604030504040204" pitchFamily="50" charset="-128"/>
                <a:ea typeface="Meiryo UI" panose="020B0604030504040204" pitchFamily="50" charset="-128"/>
              </a:rPr>
              <a:t>TCO</a:t>
            </a:r>
            <a:r>
              <a:rPr kumimoji="1" lang="ja-JP" altLang="en-US" sz="1100" dirty="0">
                <a:solidFill>
                  <a:schemeClr val="tx1"/>
                </a:solidFill>
                <a:latin typeface="Meiryo UI" panose="020B0604030504040204" pitchFamily="50" charset="-128"/>
                <a:ea typeface="Meiryo UI" panose="020B0604030504040204" pitchFamily="50" charset="-128"/>
              </a:rPr>
              <a:t>・責任分界が文書と契約で担保されていない以上、異動した瞬間に管理は消失する</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現にブラックボックス化が起きていること自体が「仕組みになっていない」ことの証拠</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「手順書・ドキュメントはある」</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「あること」と「それだけで他人が引き継げること」は別。第三者が手順書のみで対応できる引き継ぎ試験をパスして初めて「標準化されている」と言える</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「品質は保てている。問題は起きていない」</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測定していないものは「保てている」と証明できない</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現在の品質は残業・手戻り・休日対応という見えない追加投入で成立している。問題が起きていないのではなく、人が吸収しているだけ</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「自分たちでやったほうが早い」</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短期的には事実。しかしそれこそが属人化の定義であり、「早くできる人」への業務集中が過負荷を生んでいる。個人の速さではなく「誰がやっても回る速さ」を目指す</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「外部化したらかえってコストが上がる」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現状の</a:t>
            </a:r>
            <a:r>
              <a:rPr kumimoji="1" lang="en-US" altLang="ja-JP" sz="1100" dirty="0">
                <a:solidFill>
                  <a:schemeClr val="tx1"/>
                </a:solidFill>
                <a:latin typeface="Meiryo UI" panose="020B0604030504040204" pitchFamily="50" charset="-128"/>
                <a:ea typeface="Meiryo UI" panose="020B0604030504040204" pitchFamily="50" charset="-128"/>
              </a:rPr>
              <a:t>TCO</a:t>
            </a:r>
            <a:r>
              <a:rPr kumimoji="1" lang="ja-JP" altLang="en-US" sz="1100" dirty="0">
                <a:solidFill>
                  <a:schemeClr val="tx1"/>
                </a:solidFill>
                <a:latin typeface="Meiryo UI" panose="020B0604030504040204" pitchFamily="50" charset="-128"/>
                <a:ea typeface="Meiryo UI" panose="020B0604030504040204" pitchFamily="50" charset="-128"/>
              </a:rPr>
              <a:t>（社員工数・手戻り含む）が見えていない以上、その比較はまだ成立しない。</a:t>
            </a:r>
            <a:r>
              <a:rPr kumimoji="1" lang="en-US" altLang="ja-JP" sz="1100" dirty="0">
                <a:solidFill>
                  <a:schemeClr val="tx1"/>
                </a:solidFill>
                <a:latin typeface="Meiryo UI" panose="020B0604030504040204" pitchFamily="50" charset="-128"/>
                <a:ea typeface="Meiryo UI" panose="020B0604030504040204" pitchFamily="50" charset="-128"/>
              </a:rPr>
              <a:t>Phase 0</a:t>
            </a:r>
            <a:r>
              <a:rPr kumimoji="1" lang="ja-JP" altLang="en-US" sz="1100" dirty="0">
                <a:solidFill>
                  <a:schemeClr val="tx1"/>
                </a:solidFill>
                <a:latin typeface="Meiryo UI" panose="020B0604030504040204" pitchFamily="50" charset="-128"/>
                <a:ea typeface="Meiryo UI" panose="020B0604030504040204" pitchFamily="50" charset="-128"/>
              </a:rPr>
              <a:t>で可視化し数字で判断する。上がる業務は外部化せず残せばよい（全部出す前提ではない）</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「ノウハウが社外に流出する・失われる」</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現状こそノウハウは個人の頭の中にあり、退職と同時に失われる状態。移管に伴う文書化はノウハウを個人の資産から会社の資産に変える行為</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統制ノウハウは</a:t>
            </a:r>
            <a:r>
              <a:rPr kumimoji="1" lang="en-US" altLang="ja-JP" sz="1100" dirty="0">
                <a:solidFill>
                  <a:schemeClr val="tx1"/>
                </a:solidFill>
                <a:latin typeface="Meiryo UI" panose="020B0604030504040204" pitchFamily="50" charset="-128"/>
                <a:ea typeface="Meiryo UI" panose="020B0604030504040204" pitchFamily="50" charset="-128"/>
              </a:rPr>
              <a:t>LEB</a:t>
            </a:r>
            <a:r>
              <a:rPr kumimoji="1" lang="ja-JP" altLang="en-US" sz="1100" dirty="0">
                <a:solidFill>
                  <a:schemeClr val="tx1"/>
                </a:solidFill>
                <a:latin typeface="Meiryo UI" panose="020B0604030504040204" pitchFamily="50" charset="-128"/>
                <a:ea typeface="Meiryo UI" panose="020B0604030504040204" pitchFamily="50" charset="-128"/>
              </a:rPr>
              <a:t>（グループ内）に置き、戦略判断は本体に残すため社外流出しない</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a:t>
            </a:r>
            <a:r>
              <a:rPr kumimoji="1" lang="en-US" altLang="ja-JP" sz="1100" dirty="0">
                <a:solidFill>
                  <a:schemeClr val="tx1"/>
                </a:solidFill>
                <a:latin typeface="Meiryo UI" panose="020B0604030504040204" pitchFamily="50" charset="-128"/>
                <a:ea typeface="Meiryo UI" panose="020B0604030504040204" pitchFamily="50" charset="-128"/>
              </a:rPr>
              <a:t>LEB</a:t>
            </a:r>
            <a:r>
              <a:rPr kumimoji="1" lang="ja-JP" altLang="en-US" sz="1100" dirty="0">
                <a:solidFill>
                  <a:schemeClr val="tx1"/>
                </a:solidFill>
                <a:latin typeface="Meiryo UI" panose="020B0604030504040204" pitchFamily="50" charset="-128"/>
                <a:ea typeface="Meiryo UI" panose="020B0604030504040204" pitchFamily="50" charset="-128"/>
              </a:rPr>
              <a:t>にベンダ統制の能力はない」</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正しい懸念。だから</a:t>
            </a:r>
            <a:r>
              <a:rPr kumimoji="1" lang="en-US" altLang="ja-JP" sz="1100" dirty="0">
                <a:solidFill>
                  <a:schemeClr val="tx1"/>
                </a:solidFill>
                <a:latin typeface="Meiryo UI" panose="020B0604030504040204" pitchFamily="50" charset="-128"/>
                <a:ea typeface="Meiryo UI" panose="020B0604030504040204" pitchFamily="50" charset="-128"/>
              </a:rPr>
              <a:t>Phase 0</a:t>
            </a:r>
            <a:r>
              <a:rPr kumimoji="1" lang="ja-JP" altLang="en-US" sz="1100" dirty="0">
                <a:solidFill>
                  <a:schemeClr val="tx1"/>
                </a:solidFill>
                <a:latin typeface="Meiryo UI" panose="020B0604030504040204" pitchFamily="50" charset="-128"/>
                <a:ea typeface="Meiryo UI" panose="020B0604030504040204" pitchFamily="50" charset="-128"/>
              </a:rPr>
              <a:t>で能力評価し、外部専門家登用・本体からの出向で立ち上げる計画になっている。「今できないからやらない」を認めるなら、本体の運用人材不足も同じ論理で詰む</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「自分の仕事がなくなるのではないか」（口に出されない最大の本音）</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なくすのは運用の実行・調整業務であり、雇用ではなく業務内容の転換</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企画・データ活用・ベンダ目標管理という、より市場価値の高い仕事へのシフトでありキャリアにプラス。移行時の育成支援をセットで提示する</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やめるリスク</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当社では補充せず、企画以外はアウトソースにて今後充当</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XX</a:t>
            </a:r>
          </a:p>
        </p:txBody>
      </p:sp>
    </p:spTree>
    <p:extLst>
      <p:ext uri="{BB962C8B-B14F-4D97-AF65-F5344CB8AC3E}">
        <p14:creationId xmlns:p14="http://schemas.microsoft.com/office/powerpoint/2010/main" val="2701157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DF23B-BA22-10F6-2EAF-BAA812C01C4E}"/>
              </a:ext>
            </a:extLst>
          </p:cNvPr>
          <p:cNvSpPr>
            <a:spLocks noGrp="1"/>
          </p:cNvSpPr>
          <p:nvPr>
            <p:ph type="title"/>
          </p:nvPr>
        </p:nvSpPr>
        <p:spPr/>
        <p:txBody>
          <a:bodyPr/>
          <a:lstStyle/>
          <a:p>
            <a:r>
              <a:rPr lang="en-US" altLang="ja-JP" dirty="0"/>
              <a:t>想定質問②（経営）：中国オフショア・ベンダ依存・費用</a:t>
            </a:r>
            <a:br>
              <a:rPr lang="en-US" altLang="ja-JP" dirty="0"/>
            </a:br>
            <a:r>
              <a:rPr lang="ja-JP" altLang="en-US" dirty="0"/>
              <a:t/>
            </a:r>
            <a:endParaRPr kumimoji="1" lang="ja-JP" altLang="en-US" dirty="0"/>
          </a:p>
        </p:txBody>
      </p:sp>
      <p:sp>
        <p:nvSpPr>
          <p:cNvPr id="3" name="テキスト プレースホルダー 2">
            <a:extLst>
              <a:ext uri="{FF2B5EF4-FFF2-40B4-BE49-F238E27FC236}">
                <a16:creationId xmlns:a16="http://schemas.microsoft.com/office/drawing/2014/main" id="{2AFD4DED-D640-BD1D-F8CD-28521C342DA3}"/>
              </a:ext>
            </a:extLst>
          </p:cNvPr>
          <p:cNvSpPr>
            <a:spLocks noGrp="1"/>
          </p:cNvSpPr>
          <p:nvPr>
            <p:ph type="body" sz="quarter" idx="13"/>
          </p:nvPr>
        </p:nvSpPr>
        <p:spPr/>
        <p:txBody>
          <a:bodyPr/>
          <a:lstStyle/>
          <a:p>
            <a:r>
              <a:rPr lang="ja-JP" altLang="en-US" dirty="0"/>
              <a:t>中国リスク・ベンダ依存・初年度費用には、ベンダ側の段階対応と当社側の歯止めの二重構えで先回りする</a:t>
            </a:r>
            <a:endParaRPr lang="en-US" altLang="ja-JP" dirty="0"/>
          </a:p>
        </p:txBody>
      </p:sp>
      <p:sp>
        <p:nvSpPr>
          <p:cNvPr id="4" name="正方形/長方形 3">
            <a:extLst>
              <a:ext uri="{FF2B5EF4-FFF2-40B4-BE49-F238E27FC236}">
                <a16:creationId xmlns:a16="http://schemas.microsoft.com/office/drawing/2014/main" id="{790EBD07-8EFA-8601-EF01-DC465479B26E}"/>
              </a:ext>
            </a:extLst>
          </p:cNvPr>
          <p:cNvSpPr/>
          <p:nvPr/>
        </p:nvSpPr>
        <p:spPr>
          <a:xfrm>
            <a:off x="334963" y="1628775"/>
            <a:ext cx="11522075" cy="467995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「台湾有事など、中国オフショアは危険ではないか」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有事＝即時全面停止とは想定せず、深刻度別のフェーズ対応（通信経路切替→完全リモート→拠点移動→日本バックアップでの縮退運用）を契約に添付し事前合意する</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実績：東日本大震災・コロナ禍いずれもサービス停止ゼロ（日中拠点の相互補完）。2019年GFW規制強化時も香港・台湾経由の代替経路で継続。2025年7月の台湾有事に関する政府発言時も影響なし</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「機密データが中国に渡るのではないか」</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Phase 0のデータ分類により機密・個人情報系業務は国内/ニアショア限定とし、オフショアには出さない。オフショア作業は画面転送のみ・データ持出不可・USB禁止の専用環境に限定</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「万一の際に、抜けられるのか」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3ヶ月単位の契約更新＋Exit支援義務＋手順書IPの当社帰属により、いつでも体制を切り替えられる状態を維持する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契約前にデジタル戦略部＋ビジネスサイドによる現地視察を実施し、運用環境・体制を直接確認する（検討中）</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「NTTデータで再びブラックボックス化しないか」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巻き取った業務は原則すべて手順化・標準化し、運用手順書等の成果物を当社へ納品（IPは当社帰属）。委託先が変わってもノウハウは当社に残る</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（同・続き）依存の固定化を防ぐ仕組みはあるか</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手順化された業務は可能な領域から機械化・自動化を要求（ゲインシェアで効果折半）。ベンチマーク権・競争入札オプション・3ヶ月契約で依存を契約的に防止する</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「初年度から費用は下がるのか」</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FY27は移管初期費用＋移管後運用費用が現行運用費用と同水準に収まる設計を基本とし、削減はFY28以降に立ち上がる（Jカーブを正直に提示）</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効果が不足する場合は、創出される社員2FTE相当（年約2,500万円規模）の再配置価値を効果に含めるかを別途経営判断とする</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「COBOL等の旧資産の引継ぎはどうするのか」</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設計書・手順書に加えソースコードをAI分析基盤に読み込ませ、アプリ構造・影響範囲を即答できる状態を構築。GitHub等でのソースコード管理への移行も可能</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
            </a:r>
          </a:p>
        </p:txBody>
      </p:sp>
    </p:spTree>
    <p:extLst>
      <p:ext uri="{BB962C8B-B14F-4D97-AF65-F5344CB8AC3E}">
        <p14:creationId xmlns:p14="http://schemas.microsoft.com/office/powerpoint/2010/main" val="2701157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DF23B-BA22-10F6-2EAF-BAA812C01C4E}"/>
              </a:ext>
            </a:extLst>
          </p:cNvPr>
          <p:cNvSpPr>
            <a:spLocks noGrp="1"/>
          </p:cNvSpPr>
          <p:nvPr>
            <p:ph type="title"/>
          </p:nvPr>
        </p:nvSpPr>
        <p:spPr/>
        <p:txBody>
          <a:bodyPr/>
          <a:lstStyle/>
          <a:p>
            <a:r>
              <a:rPr lang="en-US" altLang="ja-JP" dirty="0"/>
              <a:t>放置シナリオと投資対効果</a:t>
            </a:r>
            <a:br>
              <a:rPr lang="en-US" altLang="ja-JP" dirty="0"/>
            </a:br>
            <a:r>
              <a:rPr lang="ja-JP" altLang="en-US" dirty="0"/>
              <a:t/>
            </a:r>
            <a:endParaRPr kumimoji="1" lang="ja-JP" altLang="en-US" dirty="0"/>
          </a:p>
        </p:txBody>
      </p:sp>
      <p:sp>
        <p:nvSpPr>
          <p:cNvPr id="3" name="テキスト プレースホルダー 2">
            <a:extLst>
              <a:ext uri="{FF2B5EF4-FFF2-40B4-BE49-F238E27FC236}">
                <a16:creationId xmlns:a16="http://schemas.microsoft.com/office/drawing/2014/main" id="{2AFD4DED-D640-BD1D-F8CD-28521C342DA3}"/>
              </a:ext>
            </a:extLst>
          </p:cNvPr>
          <p:cNvSpPr>
            <a:spLocks noGrp="1"/>
          </p:cNvSpPr>
          <p:nvPr>
            <p:ph type="body" sz="quarter" idx="13"/>
          </p:nvPr>
        </p:nvSpPr>
        <p:spPr/>
        <p:txBody>
          <a:bodyPr/>
          <a:lstStyle/>
          <a:p>
            <a:r>
              <a:rPr lang="ja-JP" altLang="en-US" dirty="0"/>
              <a:t>現状維持は「無料」ではない — 年1.4億円の隠れコストと拡大するギャップを毎年承認し続けることと同義</a:t>
            </a:r>
            <a:endParaRPr lang="en-US" altLang="ja-JP" dirty="0"/>
          </a:p>
        </p:txBody>
      </p:sp>
      <p:sp>
        <p:nvSpPr>
          <p:cNvPr id="4" name="正方形/長方形 3">
            <a:extLst>
              <a:ext uri="{FF2B5EF4-FFF2-40B4-BE49-F238E27FC236}">
                <a16:creationId xmlns:a16="http://schemas.microsoft.com/office/drawing/2014/main" id="{790EBD07-8EFA-8601-EF01-DC465479B26E}"/>
              </a:ext>
            </a:extLst>
          </p:cNvPr>
          <p:cNvSpPr/>
          <p:nvPr/>
        </p:nvSpPr>
        <p:spPr>
          <a:xfrm>
            <a:off x="334963" y="1628775"/>
            <a:ext cx="11522075" cy="467995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【放置した場合（現状維持シナリオ）】</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隠れ人件費 年1.4億円（12FTE）が継続。運用需要は5年で約1.5倍に拡大し、負担は年々増加</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属人リスクはシニア社員の異動・退職のたびに顕在化。ノウハウを文書化できる人材は年々減少し、移管コストは将来ほど高くつく</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障害エクスポージャ（最大11億円/日の出荷リスク）を統制なしで保有し続ける</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ベンダ品質の尻拭い（指示・督促・手戻り）が恒常化し、企画業務への戦力シフトは実現しない</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【実行した場合（投資対効果）】</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投資：移管初期費用 約2,500万円（STEP1・FY26）＋Phase 0の当社工数・外部支援費（概算は別紙）</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FY27：移管初期費用＋移管後運用費用は現行運用費用と同水準に収まる設計（Jカーブ）</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FY28以降：委託費▲10〜20%（3年累計）が立ち上がり、社員2FTE（将来6〜7FTE）を企画業務へ再配置</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リスク低減：属人ゼロ・SLAによる品質統制・監査証跡の仕組み化・24時間365日体制</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【効果の担保】</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数字はすべてPhase 0ベースライン（当社実測）から毎年経営へ報告。ベンダ試算に依存しない</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※金額はベンダ提示値・当社仮置き値による概算。Phase 0（9〜10月）で実数化</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
            </a:r>
          </a:p>
        </p:txBody>
      </p:sp>
    </p:spTree>
    <p:extLst>
      <p:ext uri="{BB962C8B-B14F-4D97-AF65-F5344CB8AC3E}">
        <p14:creationId xmlns:p14="http://schemas.microsoft.com/office/powerpoint/2010/main" val="2701157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DF23B-BA22-10F6-2EAF-BAA812C01C4E}"/>
              </a:ext>
            </a:extLst>
          </p:cNvPr>
          <p:cNvSpPr>
            <a:spLocks noGrp="1"/>
          </p:cNvSpPr>
          <p:nvPr>
            <p:ph type="title"/>
          </p:nvPr>
        </p:nvSpPr>
        <p:spPr/>
        <p:txBody>
          <a:bodyPr/>
          <a:lstStyle/>
          <a:p>
            <a:r>
              <a:rPr lang="en-US" altLang="ja-JP" dirty="0"/>
              <a:t>主要リスクと対応</a:t>
            </a:r>
            <a:br>
              <a:rPr lang="en-US" altLang="ja-JP" dirty="0"/>
            </a:br>
            <a:r>
              <a:rPr lang="ja-JP" altLang="en-US" dirty="0"/>
              <a:t/>
            </a:r>
            <a:endParaRPr kumimoji="1" lang="ja-JP" altLang="en-US" dirty="0"/>
          </a:p>
        </p:txBody>
      </p:sp>
      <p:sp>
        <p:nvSpPr>
          <p:cNvPr id="3" name="テキスト プレースホルダー 2">
            <a:extLst>
              <a:ext uri="{FF2B5EF4-FFF2-40B4-BE49-F238E27FC236}">
                <a16:creationId xmlns:a16="http://schemas.microsoft.com/office/drawing/2014/main" id="{2AFD4DED-D640-BD1D-F8CD-28521C342DA3}"/>
              </a:ext>
            </a:extLst>
          </p:cNvPr>
          <p:cNvSpPr>
            <a:spLocks noGrp="1"/>
          </p:cNvSpPr>
          <p:nvPr>
            <p:ph type="body" sz="quarter" idx="13"/>
          </p:nvPr>
        </p:nvSpPr>
        <p:spPr/>
        <p:txBody>
          <a:bodyPr/>
          <a:lstStyle/>
          <a:p>
            <a:r>
              <a:rPr lang="ja-JP" altLang="en-US" dirty="0"/>
              <a:t>リスクは「あるか」ではなく「統制できるか」— 5つの主要リスクすべてに事前の対応策と引き金を定義済み</a:t>
            </a:r>
            <a:endParaRPr lang="en-US" altLang="ja-JP" dirty="0"/>
          </a:p>
        </p:txBody>
      </p:sp>
      <p:sp>
        <p:nvSpPr>
          <p:cNvPr id="4" name="正方形/長方形 3">
            <a:extLst>
              <a:ext uri="{FF2B5EF4-FFF2-40B4-BE49-F238E27FC236}">
                <a16:creationId xmlns:a16="http://schemas.microsoft.com/office/drawing/2014/main" id="{790EBD07-8EFA-8601-EF01-DC465479B26E}"/>
              </a:ext>
            </a:extLst>
          </p:cNvPr>
          <p:cNvSpPr/>
          <p:nvPr/>
        </p:nvSpPr>
        <p:spPr>
          <a:xfrm>
            <a:off x="334963" y="1628775"/>
            <a:ext cx="11522075" cy="467995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① 移管期の品質低下・障害</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完了判定基準（Exit Criteria）は当社/LEBが保持。単独運転試験2週間・現行ベンダの伴走（1〜2ヶ月・有償）・ロールバック基準を事前定義</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② 現行ベンダの非協力・キーマン離脱</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引継ぎ協力義務の契約確認（今すぐ）・引継ぎ品質と検収/支払いの連動・属人業務からの優先引継ぎ</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③ 中国有事・データ規制</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データ分類で機密・個人情報は国内/ニアショア限定。有事のフェーズ対応を契約添付・3ヶ月単位契約（詳細は想定質問②）</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④ LEBの統制能力</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Phase 0で能力評価し、本体出向＋外部専門家登用で立ち上げ。STEP1完了時点でSLA監視・検収を実施できる状態に</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⑤ 効果未達（ベンダ試算との乖離）</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ベースライン合意書・SLA未達クレジット・各ゲートでの継続/中止判断</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【リスク運営】</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リスクレジスタは移管PMOが週次更新。「高」評価リスクは契約（10月末）前に対策実装の完了を条件とする</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契約前に法務・情報セキュリティ部門のレビューを実施（データ越境・委託先管理）</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
            </a:r>
          </a:p>
        </p:txBody>
      </p:sp>
    </p:spTree>
    <p:extLst>
      <p:ext uri="{BB962C8B-B14F-4D97-AF65-F5344CB8AC3E}">
        <p14:creationId xmlns:p14="http://schemas.microsoft.com/office/powerpoint/2010/main" val="270115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A9DF23B-BA22-10F6-2EAF-BAA812C01C4E}"/>
              </a:ext>
            </a:extLst>
          </p:cNvPr>
          <p:cNvSpPr>
            <a:spLocks noGrp="1"/>
          </p:cNvSpPr>
          <p:nvPr>
            <p:ph type="title"/>
          </p:nvPr>
        </p:nvSpPr>
        <p:spPr/>
        <p:txBody>
          <a:bodyPr/>
          <a:lstStyle/>
          <a:p>
            <a:r>
              <a:rPr lang="en-US" altLang="ja-JP" dirty="0"/>
              <a:t>本日ご決裁いただきたい事項</a:t>
            </a:r>
            <a:br>
              <a:rPr lang="en-US" altLang="ja-JP" dirty="0"/>
            </a:br>
            <a:r>
              <a:rPr lang="ja-JP" altLang="en-US" dirty="0"/>
              <a:t/>
            </a:r>
            <a:endParaRPr kumimoji="1" lang="ja-JP" altLang="en-US" dirty="0"/>
          </a:p>
        </p:txBody>
      </p:sp>
      <p:sp>
        <p:nvSpPr>
          <p:cNvPr id="3" name="テキスト プレースホルダー 2">
            <a:extLst>
              <a:ext uri="{FF2B5EF4-FFF2-40B4-BE49-F238E27FC236}">
                <a16:creationId xmlns:a16="http://schemas.microsoft.com/office/drawing/2014/main" id="{2AFD4DED-D640-BD1D-F8CD-28521C342DA3}"/>
              </a:ext>
            </a:extLst>
          </p:cNvPr>
          <p:cNvSpPr>
            <a:spLocks noGrp="1"/>
          </p:cNvSpPr>
          <p:nvPr>
            <p:ph type="body" sz="quarter" idx="13"/>
          </p:nvPr>
        </p:nvSpPr>
        <p:spPr/>
        <p:txBody>
          <a:bodyPr/>
          <a:lstStyle/>
          <a:p>
            <a:r>
              <a:rPr lang="ja-JP" altLang="en-US" dirty="0"/>
              <a:t>本日の承認範囲はPhase 0まで — 移管本体の投資判断は、数字が揃う10月の投資委員会で行う（いつでも引き返せる設計）</a:t>
            </a:r>
            <a:endParaRPr lang="en-US" altLang="ja-JP" dirty="0"/>
          </a:p>
        </p:txBody>
      </p:sp>
      <p:sp>
        <p:nvSpPr>
          <p:cNvPr id="4" name="正方形/長方形 3">
            <a:extLst>
              <a:ext uri="{FF2B5EF4-FFF2-40B4-BE49-F238E27FC236}">
                <a16:creationId xmlns:a16="http://schemas.microsoft.com/office/drawing/2014/main" id="{790EBD07-8EFA-8601-EF01-DC465479B26E}"/>
              </a:ext>
            </a:extLst>
          </p:cNvPr>
          <p:cNvSpPr/>
          <p:nvPr/>
        </p:nvSpPr>
        <p:spPr>
          <a:xfrm>
            <a:off x="334963" y="1628775"/>
            <a:ext cx="11522075" cy="4679950"/>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① Phase 0（可視化・アセスメント：8〜10月）の着手承認</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業務棚卸し・工数実測・TCO確定・属人化リスク格付け・データ分類・LEB能力評価。当社工数＋外部支援費の概算：◯百万円（別紙）</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② 移管PMOの設置と責任者任命</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デジタル戦略部長を責任者に週次でゲート運営。LEB・現行ベンダ・実行ベンダを横断管理</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③ 本方向性の了承</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構造転換（実行は外部へ・統制はLEBへ）／段階コミット（5ゲート）／FY27費用は現行同水準とする設計方針</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【今後の意思決定スケジュール】</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9月：経営会議（Phase 0中間報告・方針承認）／10月：投資委員会（投資承認）→ 契約締結／27年1月末：切替判定／27年4Q：横展開判定</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各ゲートで「進む・直す・止める」を判断可能 — 本日の決定により失われる選択肢はない</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742950" lvl="1"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r>
              <a:rPr kumimoji="1" lang="en-US" altLang="ja-JP" sz="1100" dirty="0">
                <a:solidFill>
                  <a:schemeClr val="tx1"/>
                </a:solidFill>
                <a:latin typeface="Meiryo UI" panose="020B0604030504040204" pitchFamily="50" charset="-128"/>
                <a:ea typeface="Meiryo UI" panose="020B0604030504040204" pitchFamily="50" charset="-128"/>
              </a:rPr>
              <a:t/>
            </a: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p>
          <a:p>
            <a:pPr marL="285750" indent="-285750">
              <a:buFont typeface="Arial" panose="020B0604020202020204" pitchFamily="34" charset="0"/>
              <a:buChar char="•"/>
            </a:pPr>
            <a:r>
              <a:rPr kumimoji="1" lang="ja-JP" altLang="en-US" sz="1100" dirty="0">
                <a:solidFill>
                  <a:schemeClr val="tx1"/>
                </a:solidFill>
                <a:latin typeface="Meiryo UI" panose="020B0604030504040204" pitchFamily="50" charset="-128"/>
                <a:ea typeface="Meiryo UI" panose="020B0604030504040204" pitchFamily="50" charset="-128"/>
              </a:rPr>
              <a:t/>
            </a:r>
            <a:endParaRPr kumimoji="1"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742950" lvl="1" indent="-285750">
              <a:buFont typeface="Arial" panose="020B0604020202020204" pitchFamily="34" charset="0"/>
              <a:buChar char="•"/>
            </a:pPr>
            <a:r>
              <a:rPr lang="ja-JP" altLang="en-US" sz="1100" dirty="0">
                <a:solidFill>
                  <a:schemeClr val="tx1"/>
                </a:solidFill>
                <a:latin typeface="Meiryo UI" panose="020B0604030504040204" pitchFamily="50" charset="-128"/>
                <a:ea typeface="Meiryo UI" panose="020B0604030504040204" pitchFamily="50" charset="-128"/>
              </a:rPr>
              <a:t/>
            </a:r>
            <a:endParaRPr lang="en-US" altLang="ja-JP" sz="1100" dirty="0">
              <a:solidFill>
                <a:schemeClr val="tx1"/>
              </a:solidFill>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en-US" altLang="ja-JP" sz="1100" dirty="0">
                <a:solidFill>
                  <a:schemeClr val="tx1"/>
                </a:solidFill>
                <a:latin typeface="Meiryo UI" panose="020B0604030504040204" pitchFamily="50" charset="-128"/>
                <a:ea typeface="Meiryo UI" panose="020B0604030504040204" pitchFamily="50" charset="-128"/>
              </a:rPr>
              <a:t/>
            </a:r>
          </a:p>
        </p:txBody>
      </p:sp>
    </p:spTree>
    <p:extLst>
      <p:ext uri="{BB962C8B-B14F-4D97-AF65-F5344CB8AC3E}">
        <p14:creationId xmlns:p14="http://schemas.microsoft.com/office/powerpoint/2010/main" val="27011579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1419</TotalTime>
  <Words>3517</Words>
  <Application>Microsoft Office PowerPoint</Application>
  <PresentationFormat>ワイド画面</PresentationFormat>
  <Paragraphs>243</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Meiryo UI</vt:lpstr>
      <vt:lpstr>Arial</vt:lpstr>
      <vt:lpstr>Calibri</vt:lpstr>
      <vt:lpstr>Wingdings</vt:lpstr>
      <vt:lpstr>Office テーマ</vt:lpstr>
      <vt:lpstr>背景/課題</vt:lpstr>
      <vt:lpstr>示唆に対する選択肢</vt:lpstr>
      <vt:lpstr>構造転換の実行手段</vt:lpstr>
      <vt:lpstr>進め方 一括契約ではなく、意思決定ゲートで段階コミット</vt:lpstr>
      <vt:lpstr>体制・ガバナンスとKPI</vt:lpstr>
      <vt:lpstr>ベンダ提案</vt:lpstr>
      <vt:lpstr>PowerPoint プレゼンテーション</vt:lpstr>
      <vt:lpstr>APPE</vt:lpstr>
      <vt:lpstr>APPE 想定質問</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87</cp:revision>
  <dcterms:created xsi:type="dcterms:W3CDTF">2024-12-27T03:42:11Z</dcterms:created>
  <dcterms:modified xsi:type="dcterms:W3CDTF">2026-08-20T15:43:14Z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