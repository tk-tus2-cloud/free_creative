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svg" ContentType="image/svg+xml"/>
  <Override PartName="/ppt/media/image70.svg" ContentType="image/svg+xml"/>
  <Override PartName="/ppt/media/image71.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handoutMasterIdLst>
    <p:handoutMasterId r:id="rId22"/>
  </p:handoutMasterIdLst>
  <p:sldIdLst>
    <p:sldId id="2147483612" r:id="rId5"/>
    <p:sldId id="2147483613" r:id="rId6"/>
    <p:sldId id="2147483614" r:id="rId7"/>
    <p:sldId id="2147483616" r:id="rId8"/>
    <p:sldId id="2147483617" r:id="rId9"/>
    <p:sldId id="257" r:id="rId10"/>
    <p:sldId id="263" r:id="rId12"/>
    <p:sldId id="262" r:id="rId11"/>
    <p:sldId id="2147483641" r:id="rId13"/>
    <p:sldId id="264" r:id="rId14"/>
    <p:sldId id="265" r:id="rId15"/>
    <p:sldId id="267" r:id="rId16"/>
    <p:sldId id="266" r:id="rId17"/>
    <p:sldId id="2147483621" r:id="rId18"/>
    <p:sldId id="259" r:id="rId19"/>
    <p:sldId id="261" r:id="rId20"/>
  </p:sldIdLst>
  <p:sldSz cx="12192000" cy="6858000"/>
  <p:notesSz cx="6858000" cy="9144000"/>
  <p:custDataLst>
    <p:tags r:id="rId23"/>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AEEC58D3-0A5E-4326-B4F8-49330C05BBCD}">
          <p14:sldIdLst>
            <p14:sldId id="2147483612"/>
            <p14:sldId id="2147483613"/>
            <p14:sldId id="2147483614"/>
            <p14:sldId id="2147483616"/>
            <p14:sldId id="2147483617"/>
            <p14:sldId id="257"/>
            <p14:sldId id="262"/>
            <p14:sldId id="263"/>
            <p14:sldId id="2147483641"/>
            <p14:sldId id="264"/>
            <p14:sldId id="265"/>
            <p14:sldId id="267"/>
            <p14:sldId id="266"/>
            <p14:sldId id="2147483621"/>
            <p14:sldId id="259"/>
          </p14:sldIdLst>
        </p14:section>
        <p14:section name="APPE" id="{C06286E6-BDBE-4963-9512-156C358051E2}">
          <p14:sldIdLst>
            <p14:sldId id="26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8.xml"/><Relationship Id="rId12" Type="http://schemas.openxmlformats.org/officeDocument/2006/relationships/slide" Target="slides/slide7.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notesMaster" Target="notesMasters/notesMaster1.xml"/><Relationship Id="rId22" Type="http://schemas.openxmlformats.org/officeDocument/2006/relationships/handoutMaster" Target="handoutMasters/handoutMaster1.xml"/><Relationship Id="rId23" Type="http://schemas.openxmlformats.org/officeDocument/2006/relationships/tags" Target="tags/tag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2026/8/17</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2026/8/17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B0653-2097-55E8-093C-FF535EF17D0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18740B5-14A6-216D-62AF-72040302B9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900089D-D9CC-B791-1F98-EE5C15BAD35B}"/>
              </a:ext>
            </a:extLst>
          </p:cNvPr>
          <p:cNvSpPr>
            <a:spLocks noGrp="1"/>
          </p:cNvSpPr>
          <p:nvPr>
            <p:ph type="body" idx="1"/>
          </p:nvPr>
        </p:nvSpPr>
        <p:spPr/>
        <p:txBody>
          <a:bodyPr/>
          <a:lstStyle/>
          <a:p>
            <a:r>
              <a:rPr kumimoji="1" lang="ja-JP" altLang="en-US" dirty="0"/>
              <a:t>浦尾さんの責任：国内工場・事業所拠点、関係会社含む一次データの入力・承認・内部統制プロセス管理</a:t>
            </a:r>
            <a:endParaRPr kumimoji="1" lang="en-US" altLang="ja-JP" dirty="0"/>
          </a:p>
          <a:p>
            <a:r>
              <a:rPr kumimoji="1" lang="ja-JP" altLang="en-US" dirty="0"/>
              <a:t>一谷さんの責任：海外生産工場・事業所拠点、</a:t>
            </a:r>
            <a:r>
              <a:rPr kumimoji="1" lang="en-US" altLang="ja-JP" dirty="0"/>
              <a:t>ESL</a:t>
            </a:r>
            <a:r>
              <a:rPr kumimoji="1" lang="ja-JP" altLang="en-US" dirty="0"/>
              <a:t>含む一次データの入力・承認・内部統制プロセス管理</a:t>
            </a:r>
          </a:p>
        </p:txBody>
      </p:sp>
    </p:spTree>
    <p:extLst>
      <p:ext uri="{BB962C8B-B14F-4D97-AF65-F5344CB8AC3E}">
        <p14:creationId xmlns:p14="http://schemas.microsoft.com/office/powerpoint/2010/main" val="3397671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4.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slideLayout" Target="../slideLayouts/slideLayout2.xml"/><Relationship Id="rId5" Type="http://schemas.openxmlformats.org/officeDocument/2006/relationships/image" Target="../media/image33.svg"/><Relationship Id="rId6" Type="http://schemas.openxmlformats.org/officeDocument/2006/relationships/image" Target="../media/image34.svg"/><Relationship Id="rId7" Type="http://schemas.openxmlformats.org/officeDocument/2006/relationships/image" Target="../media/image35.svg"/><Relationship Id="rId8" Type="http://schemas.openxmlformats.org/officeDocument/2006/relationships/image" Target="../media/image36.svg"/><Relationship Id="rId9" Type="http://schemas.openxmlformats.org/officeDocument/2006/relationships/image" Target="../media/image37.svg"/><Relationship Id="rId10" Type="http://schemas.openxmlformats.org/officeDocument/2006/relationships/image" Target="../media/image38.svg"/><Relationship Id="rId11" Type="http://schemas.openxmlformats.org/officeDocument/2006/relationships/image" Target="../media/image39.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0.svg"/><Relationship Id="rId4" Type="http://schemas.openxmlformats.org/officeDocument/2006/relationships/image" Target="../media/image41.svg"/><Relationship Id="rId5" Type="http://schemas.openxmlformats.org/officeDocument/2006/relationships/image" Target="../media/image42.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svg"/><Relationship Id="rId3" Type="http://schemas.openxmlformats.org/officeDocument/2006/relationships/image" Target="../media/image5.svg"/><Relationship Id="rId4" Type="http://schemas.openxmlformats.org/officeDocument/2006/relationships/image" Target="../media/image44.svg"/><Relationship Id="rId5" Type="http://schemas.openxmlformats.org/officeDocument/2006/relationships/image" Target="../media/image45.svg"/></Relationships>
</file>

<file path=ppt/slides/_rels/slide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tags" Target="../tags/tag10.xml"/><Relationship Id="rId3" Type="http://schemas.openxmlformats.org/officeDocument/2006/relationships/tags" Target="../tags/tag11.xml"/><Relationship Id="rId4" Type="http://schemas.openxmlformats.org/officeDocument/2006/relationships/tags" Target="../tags/tag12.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6.svg"/><Relationship Id="rId4" Type="http://schemas.openxmlformats.org/officeDocument/2006/relationships/image" Target="../media/image47.svg"/><Relationship Id="rId5" Type="http://schemas.openxmlformats.org/officeDocument/2006/relationships/image" Target="../media/image48.svg"/><Relationship Id="rId6" Type="http://schemas.openxmlformats.org/officeDocument/2006/relationships/image" Target="../media/image49.svg"/><Relationship Id="rId7" Type="http://schemas.openxmlformats.org/officeDocument/2006/relationships/image" Target="../media/image50.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51.svg"/><Relationship Id="rId4" Type="http://schemas.openxmlformats.org/officeDocument/2006/relationships/image" Target="../media/image52.svg"/><Relationship Id="rId5" Type="http://schemas.openxmlformats.org/officeDocument/2006/relationships/image" Target="../media/image53.svg"/><Relationship Id="rId6" Type="http://schemas.openxmlformats.org/officeDocument/2006/relationships/image" Target="../media/image54.svg"/><Relationship Id="rId7" Type="http://schemas.openxmlformats.org/officeDocument/2006/relationships/image" Target="../media/image55.svg"/><Relationship Id="rId8" Type="http://schemas.openxmlformats.org/officeDocument/2006/relationships/image" Target="../media/image56.svg"/><Relationship Id="rId9" Type="http://schemas.openxmlformats.org/officeDocument/2006/relationships/image" Target="../media/image57.svg"/><Relationship Id="rId10" Type="http://schemas.openxmlformats.org/officeDocument/2006/relationships/image" Target="../media/image58.svg"/><Relationship Id="rId11" Type="http://schemas.openxmlformats.org/officeDocument/2006/relationships/image" Target="../media/image59.svg"/><Relationship Id="rId12" Type="http://schemas.openxmlformats.org/officeDocument/2006/relationships/image" Target="../media/image60.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1.svg"/><Relationship Id="rId3" Type="http://schemas.openxmlformats.org/officeDocument/2006/relationships/image" Target="../media/image62.svg"/><Relationship Id="rId4" Type="http://schemas.openxmlformats.org/officeDocument/2006/relationships/image" Target="../media/image63.svg"/><Relationship Id="rId5" Type="http://schemas.openxmlformats.org/officeDocument/2006/relationships/image" Target="../media/image64.svg"/><Relationship Id="rId6" Type="http://schemas.openxmlformats.org/officeDocument/2006/relationships/image" Target="../media/image65.svg"/><Relationship Id="rId7" Type="http://schemas.openxmlformats.org/officeDocument/2006/relationships/image" Target="../media/image66.svg"/><Relationship Id="rId8" Type="http://schemas.openxmlformats.org/officeDocument/2006/relationships/image" Target="../media/image48.svg"/><Relationship Id="rId9" Type="http://schemas.openxmlformats.org/officeDocument/2006/relationships/image" Target="../media/image67.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68.svg"/><Relationship Id="rId4" Type="http://schemas.openxmlformats.org/officeDocument/2006/relationships/image" Target="../media/image69.svg"/><Relationship Id="rId5" Type="http://schemas.openxmlformats.org/officeDocument/2006/relationships/image" Target="../media/image70.svg"/><Relationship Id="rId6" Type="http://schemas.openxmlformats.org/officeDocument/2006/relationships/image" Target="../media/image71.svg"/><Relationship Id="rId7" Type="http://schemas.openxmlformats.org/officeDocument/2006/relationships/image" Target="../media/image43.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lang="ja-JP" altLang="en-US" dirty="0">
                <a:latin typeface="+mn-ea"/>
                <a:ea typeface="+mn-ea"/>
              </a:rPr>
              <a:t>理想（勝ち筋）と現状との</a:t>
            </a:r>
            <a:r>
              <a:rPr lang="en-US" altLang="ja-JP" dirty="0">
                <a:latin typeface="+mn-ea"/>
                <a:ea typeface="+mn-ea"/>
              </a:rPr>
              <a:t>GAP</a:t>
            </a:r>
            <a:endParaRPr kumimoji="1" lang="ja-JP" altLang="en-US" dirty="0">
              <a:latin typeface="+mn-ea"/>
              <a:ea typeface="+mn-ea"/>
            </a:endParaRP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バイヤー向け防弾ロジック化</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3開示義務」の波を捉えて学校・自治体ルートをデジタル化し、2040年のAI自動補充システムのホワイトリストを独占する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「バタフライ型営業」のままであり、対P&amp;G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7F607-E1E8-30C9-B06C-B593B072859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92161E-BDAE-1DE6-51A7-DD998B7CD0A4}"/>
              </a:ext>
            </a:extLst>
          </p:cNvPr>
          <p:cNvSpPr>
            <a:spLocks noGrp="1"/>
          </p:cNvSpPr>
          <p:nvPr>
            <p:ph type="title"/>
          </p:nvPr>
        </p:nvSpPr>
        <p:spPr>
          <a:xfrm>
            <a:off x="334963" y="1"/>
            <a:ext cx="11522075" cy="914400"/>
          </a:xfrm>
        </p:spPr>
        <p:txBody>
          <a:bodyPr/>
          <a:lstStyle/>
          <a:p>
            <a:r>
              <a:rPr kumimoji="1" lang="ja-JP" altLang="en-US" dirty="0">
                <a:latin typeface="+mn-ea"/>
                <a:ea typeface="+mn-ea"/>
              </a:rPr>
              <a:t>ギャップと真因</a:t>
            </a:r>
          </a:p>
        </p:txBody>
      </p:sp>
      <p:sp>
        <p:nvSpPr>
          <p:cNvPr id="5" name="テキスト プレースホルダー 2">
            <a:extLst>
              <a:ext uri="{FF2B5EF4-FFF2-40B4-BE49-F238E27FC236}">
                <a16:creationId xmlns:a16="http://schemas.microsoft.com/office/drawing/2014/main" id="{F4EC8940-39DE-271F-4D60-53EA9AACEA9E}"/>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800" dirty="0">
                <a:latin typeface="+mn-ea"/>
                <a:ea typeface="+mn-ea"/>
              </a:rPr>
              <a:t>GAP</a:t>
            </a:r>
            <a:r>
              <a:rPr lang="ja-JP" altLang="en-US" sz="1800" dirty="0">
                <a:latin typeface="+mn-ea"/>
                <a:ea typeface="+mn-ea"/>
              </a:rPr>
              <a:t>の真因は、①資源の使い方 ②提案の材料 ③改善の仕組みがないことに収束する</a:t>
            </a:r>
            <a:endParaRPr lang="en-US" altLang="ja-JP" sz="1800" dirty="0">
              <a:latin typeface="+mn-ea"/>
              <a:ea typeface="+mn-ea"/>
            </a:endParaRPr>
          </a:p>
          <a:p>
            <a:r>
              <a:rPr lang="ja-JP" altLang="en-US" sz="1800" dirty="0">
                <a:latin typeface="+mn-ea"/>
                <a:ea typeface="+mn-ea"/>
              </a:rPr>
              <a:t>使い方が古いままなら増えた資源は消耗戦に流れ、提案材料がなければ値引きに戻り、仕組みがなければ成功が一度きりで終わる</a:t>
            </a:r>
            <a:r>
              <a:rPr lang="ja-JP" altLang="en-US" sz="1800" dirty="0">
                <a:latin typeface="+mn-ea"/>
              </a:rPr>
              <a:t>（どれか</a:t>
            </a:r>
            <a:r>
              <a:rPr lang="en-US" altLang="ja-JP" sz="1800" dirty="0">
                <a:latin typeface="+mn-ea"/>
              </a:rPr>
              <a:t>1</a:t>
            </a:r>
            <a:r>
              <a:rPr lang="ja-JP" altLang="en-US" sz="1800" dirty="0">
                <a:latin typeface="+mn-ea"/>
              </a:rPr>
              <a:t>つでも残せば再発する）</a:t>
            </a:r>
            <a:endParaRPr lang="ja-JP" altLang="en-US" sz="1800" dirty="0">
              <a:latin typeface="+mn-ea"/>
              <a:ea typeface="+mn-ea"/>
            </a:endParaRPr>
          </a:p>
        </p:txBody>
      </p:sp>
      <p:cxnSp>
        <p:nvCxnSpPr>
          <p:cNvPr id="30" name="直線コネクタ 29">
            <a:extLst>
              <a:ext uri="{FF2B5EF4-FFF2-40B4-BE49-F238E27FC236}">
                <a16:creationId xmlns:a16="http://schemas.microsoft.com/office/drawing/2014/main" id="{54E56C8A-642B-A5CD-A94E-95E8B9514EAA}"/>
              </a:ext>
            </a:extLst>
          </p:cNvPr>
          <p:cNvCxnSpPr/>
          <p:nvPr/>
        </p:nvCxnSpPr>
        <p:spPr>
          <a:xfrm>
            <a:off x="3235489" y="2579369"/>
            <a:ext cx="5719127"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2196A547-F63B-E75F-0B00-4DAF3582D79C}"/>
              </a:ext>
            </a:extLst>
          </p:cNvPr>
          <p:cNvSpPr/>
          <p:nvPr/>
        </p:nvSpPr>
        <p:spPr>
          <a:xfrm>
            <a:off x="5074783" y="2099733"/>
            <a:ext cx="3879833" cy="42383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GAPを生み出している構造的ボトルネック</a:t>
            </a:r>
          </a:p>
        </p:txBody>
      </p:sp>
      <p:sp>
        <p:nvSpPr>
          <p:cNvPr id="32" name="正方形/長方形 31">
            <a:extLst>
              <a:ext uri="{FF2B5EF4-FFF2-40B4-BE49-F238E27FC236}">
                <a16:creationId xmlns:a16="http://schemas.microsoft.com/office/drawing/2014/main" id="{6646D3F8-CB1A-D812-9CCA-5175E020F652}"/>
              </a:ext>
            </a:extLst>
          </p:cNvPr>
          <p:cNvSpPr/>
          <p:nvPr/>
        </p:nvSpPr>
        <p:spPr>
          <a:xfrm>
            <a:off x="3272569" y="2099733"/>
            <a:ext cx="1765135" cy="423832"/>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latin typeface="+mn-ea"/>
              </a:rPr>
              <a:t>原因</a:t>
            </a:r>
            <a:r>
              <a:rPr lang="en-US" altLang="ja-JP" sz="1400" b="1" dirty="0">
                <a:latin typeface="+mn-ea"/>
              </a:rPr>
              <a:t> (</a:t>
            </a:r>
            <a:r>
              <a:rPr lang="ja-JP" altLang="ja-JP" sz="1400" b="1" dirty="0">
                <a:latin typeface="+mn-ea"/>
              </a:rPr>
              <a:t>真因</a:t>
            </a:r>
            <a:r>
              <a:rPr lang="en-US" altLang="ja-JP" sz="1400" b="1" dirty="0">
                <a:latin typeface="+mn-ea"/>
              </a:rPr>
              <a:t>) </a:t>
            </a:r>
            <a:endParaRPr kumimoji="1" lang="ja-JP" altLang="en-US" sz="1400" dirty="0">
              <a:solidFill>
                <a:schemeClr val="tx1"/>
              </a:solidFill>
              <a:latin typeface="+mn-ea"/>
            </a:endParaRPr>
          </a:p>
        </p:txBody>
      </p:sp>
      <p:sp>
        <p:nvSpPr>
          <p:cNvPr id="22" name="正方形/長方形 21">
            <a:extLst>
              <a:ext uri="{FF2B5EF4-FFF2-40B4-BE49-F238E27FC236}">
                <a16:creationId xmlns:a16="http://schemas.microsoft.com/office/drawing/2014/main" id="{51D13621-E37A-8D3B-1402-DA4168EB67A3}"/>
              </a:ext>
            </a:extLst>
          </p:cNvPr>
          <p:cNvSpPr/>
          <p:nvPr/>
        </p:nvSpPr>
        <p:spPr>
          <a:xfrm>
            <a:off x="3235489" y="2681505"/>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en-US" sz="1300" b="1" dirty="0">
                <a:solidFill>
                  <a:srgbClr val="008D2E"/>
                </a:solidFill>
                <a:latin typeface="+mn-ea"/>
              </a:rPr>
              <a:t>真因</a:t>
            </a:r>
            <a:r>
              <a:rPr lang="en-US" altLang="ja-JP" sz="1300" b="1" dirty="0">
                <a:solidFill>
                  <a:srgbClr val="008D2E"/>
                </a:solidFill>
                <a:latin typeface="+mn-ea"/>
              </a:rPr>
              <a:t>1</a:t>
            </a:r>
            <a:r>
              <a:rPr lang="ja-JP" altLang="en-US" sz="1300" b="1" dirty="0">
                <a:solidFill>
                  <a:srgbClr val="008D2E"/>
                </a:solidFill>
                <a:latin typeface="+mn-ea"/>
              </a:rPr>
              <a:t>：増えた資源が「従来の使い方」のまま</a:t>
            </a:r>
          </a:p>
          <a:p>
            <a:pPr marL="90488" indent="-90488">
              <a:spcAft>
                <a:spcPts val="500"/>
              </a:spcAft>
              <a:buClr>
                <a:srgbClr val="008D2E"/>
              </a:buClr>
              <a:buFont typeface="Arial" panose="020B0604020202020204" pitchFamily="34" charset="0"/>
              <a:buChar char="•"/>
            </a:pPr>
            <a:r>
              <a:rPr lang="ja-JP" altLang="en-US" sz="1000" dirty="0">
                <a:solidFill>
                  <a:srgbClr val="262626"/>
                </a:solidFill>
              </a:rPr>
              <a:t>傾斜した宣伝・販促費の使い方が、マス認知</a:t>
            </a:r>
            <a:r>
              <a:rPr lang="en-US" altLang="ja-JP" sz="1000" dirty="0">
                <a:solidFill>
                  <a:srgbClr val="262626"/>
                </a:solidFill>
              </a:rPr>
              <a:t>×</a:t>
            </a:r>
            <a:r>
              <a:rPr lang="ja-JP" altLang="en-US" sz="1000" dirty="0">
                <a:solidFill>
                  <a:srgbClr val="262626"/>
                </a:solidFill>
              </a:rPr>
              <a:t>棚</a:t>
            </a:r>
            <a:r>
              <a:rPr lang="en-US" altLang="ja-JP" sz="1000" dirty="0">
                <a:solidFill>
                  <a:srgbClr val="262626"/>
                </a:solidFill>
              </a:rPr>
              <a:t>×</a:t>
            </a:r>
            <a:r>
              <a:rPr lang="ja-JP" altLang="en-US" sz="1000" dirty="0">
                <a:solidFill>
                  <a:srgbClr val="262626"/>
                </a:solidFill>
              </a:rPr>
              <a:t>特売・値引きの従来パターンのまま</a:t>
            </a:r>
            <a:endParaRPr lang="en-US" altLang="ja-JP" sz="1000" dirty="0">
              <a:solidFill>
                <a:srgbClr val="262626"/>
              </a:solidFill>
            </a:endParaRPr>
          </a:p>
          <a:p>
            <a:pPr marL="90488" indent="-90488">
              <a:spcAft>
                <a:spcPts val="500"/>
              </a:spcAft>
              <a:buClr>
                <a:srgbClr val="008D2E"/>
              </a:buClr>
              <a:buFont typeface="Arial" panose="020B0604020202020204" pitchFamily="34" charset="0"/>
              <a:buChar char="•"/>
            </a:pPr>
            <a:r>
              <a:rPr lang="en-US" altLang="ja-JP" sz="1000" dirty="0">
                <a:solidFill>
                  <a:srgbClr val="262626"/>
                </a:solidFill>
              </a:rPr>
              <a:t>AI・データ時代の勝ち方が会社標準のやり方として設計・言語化されていない（傾斜はしているが使い方は古いまま）</a:t>
            </a:r>
            <a:r>
              <a:rPr lang="ja-JP" altLang="en-US" sz="1000" dirty="0">
                <a:solidFill>
                  <a:srgbClr val="262626"/>
                </a:solidFill>
              </a:rPr>
              <a:t/>
            </a:r>
          </a:p>
        </p:txBody>
      </p:sp>
      <p:sp>
        <p:nvSpPr>
          <p:cNvPr id="43" name="正方形/長方形 42">
            <a:extLst>
              <a:ext uri="{FF2B5EF4-FFF2-40B4-BE49-F238E27FC236}">
                <a16:creationId xmlns:a16="http://schemas.microsoft.com/office/drawing/2014/main" id="{E6ADC0FE-9B17-A121-B49D-7DF74A93556E}"/>
              </a:ext>
            </a:extLst>
          </p:cNvPr>
          <p:cNvSpPr/>
          <p:nvPr/>
        </p:nvSpPr>
        <p:spPr>
          <a:xfrm>
            <a:off x="3235489" y="3909179"/>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en-US" sz="1300" b="1" dirty="0">
                <a:solidFill>
                  <a:srgbClr val="008D2E"/>
                </a:solidFill>
                <a:latin typeface="+mn-ea"/>
              </a:rPr>
              <a:t>真因</a:t>
            </a:r>
            <a:r>
              <a:rPr lang="en-US" altLang="ja-JP" sz="1300" b="1" dirty="0">
                <a:solidFill>
                  <a:srgbClr val="008D2E"/>
                </a:solidFill>
                <a:latin typeface="+mn-ea"/>
              </a:rPr>
              <a:t>2</a:t>
            </a:r>
            <a:r>
              <a:rPr lang="ja-JP" altLang="en-US" sz="1300" b="1" dirty="0">
                <a:solidFill>
                  <a:srgbClr val="008D2E"/>
                </a:solidFill>
                <a:latin typeface="+mn-ea"/>
              </a:rPr>
              <a:t>：値引きに代わる「提案の材料」がない</a:t>
            </a:r>
          </a:p>
          <a:p>
            <a:pPr marL="90488" indent="-90488">
              <a:spcAft>
                <a:spcPts val="500"/>
              </a:spcAft>
              <a:buClr>
                <a:srgbClr val="008D2E"/>
              </a:buClr>
              <a:buFont typeface="Arial" panose="020B0604020202020204" pitchFamily="34" charset="0"/>
              <a:buChar char="•"/>
            </a:pPr>
            <a:r>
              <a:rPr lang="ja-JP" altLang="en-US" sz="1000" dirty="0">
                <a:solidFill>
                  <a:schemeClr val="tx1"/>
                </a:solidFill>
                <a:latin typeface="+mn-ea"/>
              </a:rPr>
              <a:t>バイヤーが要求する「売れる根拠」（</a:t>
            </a:r>
            <a:r>
              <a:rPr lang="en-US" altLang="ja-JP" sz="1000" dirty="0">
                <a:solidFill>
                  <a:schemeClr val="tx1"/>
                </a:solidFill>
                <a:latin typeface="+mn-ea"/>
              </a:rPr>
              <a:t>LTV</a:t>
            </a:r>
            <a:r>
              <a:rPr lang="ja-JP" altLang="en-US" sz="1000" dirty="0">
                <a:solidFill>
                  <a:schemeClr val="tx1"/>
                </a:solidFill>
                <a:latin typeface="+mn-ea"/>
              </a:rPr>
              <a:t>予測・炭素効率）も、</a:t>
            </a:r>
            <a:r>
              <a:rPr lang="en-US" altLang="ja-JP" sz="1000" dirty="0">
                <a:solidFill>
                  <a:schemeClr val="tx1"/>
                </a:solidFill>
                <a:latin typeface="+mn-ea"/>
              </a:rPr>
              <a:t>AI</a:t>
            </a:r>
            <a:r>
              <a:rPr lang="ja-JP" altLang="en-US" sz="1000" dirty="0">
                <a:solidFill>
                  <a:schemeClr val="tx1"/>
                </a:solidFill>
                <a:latin typeface="+mn-ea"/>
              </a:rPr>
              <a:t>が要求する「読める情報」（属性データ・エビデンス）も、着手はあるが進捗が不十分で、商談・接点で使える形になっていない</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en-US" sz="1000" dirty="0">
                <a:solidFill>
                  <a:schemeClr val="tx1"/>
                </a:solidFill>
                <a:latin typeface="+mn-ea"/>
              </a:rPr>
              <a:t>他に出せる提案がなく、営業は値引きに頼らざるを得ない（</a:t>
            </a:r>
            <a:r>
              <a:rPr lang="en-US" altLang="ja-JP" sz="1000" dirty="0">
                <a:solidFill>
                  <a:schemeClr val="tx1"/>
                </a:solidFill>
                <a:latin typeface="+mn-ea"/>
              </a:rPr>
              <a:t>R&amp;D</a:t>
            </a:r>
            <a:r>
              <a:rPr lang="ja-JP" altLang="en-US" sz="1000" dirty="0">
                <a:solidFill>
                  <a:schemeClr val="tx1"/>
                </a:solidFill>
                <a:latin typeface="+mn-ea"/>
              </a:rPr>
              <a:t>・マーケの知見が営業の言葉に十分に活かし切れていない）</a:t>
            </a:r>
          </a:p>
        </p:txBody>
      </p:sp>
      <p:sp>
        <p:nvSpPr>
          <p:cNvPr id="44" name="正方形/長方形 43">
            <a:extLst>
              <a:ext uri="{FF2B5EF4-FFF2-40B4-BE49-F238E27FC236}">
                <a16:creationId xmlns:a16="http://schemas.microsoft.com/office/drawing/2014/main" id="{4E56282F-0A0A-E869-B013-0CEF1BF23E49}"/>
              </a:ext>
            </a:extLst>
          </p:cNvPr>
          <p:cNvSpPr/>
          <p:nvPr/>
        </p:nvSpPr>
        <p:spPr>
          <a:xfrm>
            <a:off x="3235489" y="5136853"/>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en-US" sz="1300" b="1" dirty="0">
                <a:solidFill>
                  <a:srgbClr val="008D2E"/>
                </a:solidFill>
                <a:latin typeface="+mn-ea"/>
              </a:rPr>
              <a:t>真因</a:t>
            </a:r>
            <a:r>
              <a:rPr lang="en-US" altLang="ja-JP" sz="1300" b="1" dirty="0">
                <a:solidFill>
                  <a:srgbClr val="008D2E"/>
                </a:solidFill>
                <a:latin typeface="+mn-ea"/>
              </a:rPr>
              <a:t>3 </a:t>
            </a:r>
            <a:r>
              <a:rPr lang="ja-JP" altLang="en-US" sz="1300" b="1" dirty="0">
                <a:solidFill>
                  <a:srgbClr val="008D2E"/>
                </a:solidFill>
                <a:latin typeface="+mn-ea"/>
              </a:rPr>
              <a:t>試す→検証→広げる「仕組み」がない</a:t>
            </a:r>
            <a:endParaRPr lang="en-US" altLang="ja-JP" sz="1300" b="1" dirty="0">
              <a:solidFill>
                <a:srgbClr val="008D2E"/>
              </a:solidFill>
              <a:latin typeface="+mn-ea"/>
            </a:endParaRPr>
          </a:p>
          <a:p>
            <a:pPr marL="90488" indent="-90488">
              <a:spcAft>
                <a:spcPts val="500"/>
              </a:spcAft>
              <a:buClr>
                <a:srgbClr val="008D2E"/>
              </a:buClr>
              <a:buFont typeface="Arial" panose="020B0604020202020204" pitchFamily="34" charset="0"/>
              <a:buChar char="•"/>
            </a:pPr>
            <a:r>
              <a:rPr lang="ja-JP" altLang="en-US" sz="1000" dirty="0">
                <a:solidFill>
                  <a:schemeClr val="tx1"/>
                </a:solidFill>
                <a:latin typeface="+mn-ea"/>
              </a:rPr>
              <a:t>提案材料を作る時間は事務作業に食われ、試した施策は検証されず、成功しても隣の売場・カテゴリに広がらない</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en-US" sz="1000" dirty="0">
                <a:solidFill>
                  <a:schemeClr val="tx1"/>
                </a:solidFill>
                <a:latin typeface="+mn-ea"/>
              </a:rPr>
              <a:t>営業</a:t>
            </a:r>
            <a:r>
              <a:rPr lang="en-US" altLang="ja-JP" sz="1000" dirty="0">
                <a:solidFill>
                  <a:schemeClr val="tx1"/>
                </a:solidFill>
                <a:latin typeface="+mn-ea"/>
              </a:rPr>
              <a:t>1</a:t>
            </a:r>
            <a:r>
              <a:rPr lang="ja-JP" altLang="en-US" sz="1000" dirty="0">
                <a:solidFill>
                  <a:schemeClr val="tx1"/>
                </a:solidFill>
                <a:latin typeface="+mn-ea"/>
              </a:rPr>
              <a:t>人がバイヤー</a:t>
            </a:r>
            <a:r>
              <a:rPr lang="en-US" altLang="ja-JP" sz="1000" dirty="0">
                <a:solidFill>
                  <a:schemeClr val="tx1"/>
                </a:solidFill>
                <a:latin typeface="+mn-ea"/>
              </a:rPr>
              <a:t>1</a:t>
            </a:r>
            <a:r>
              <a:rPr lang="ja-JP" altLang="en-US" sz="1000" dirty="0">
                <a:solidFill>
                  <a:schemeClr val="tx1"/>
                </a:solidFill>
                <a:latin typeface="+mn-ea"/>
              </a:rPr>
              <a:t>人に対する編成では、物流・環境・データを束ねた総力戦もできない </a:t>
            </a:r>
            <a:r>
              <a:rPr lang="en-US" altLang="ja-JP" sz="1000" dirty="0">
                <a:solidFill>
                  <a:schemeClr val="tx1"/>
                </a:solidFill>
                <a:latin typeface="+mn-ea"/>
              </a:rPr>
              <a:t>― </a:t>
            </a:r>
            <a:r>
              <a:rPr lang="ja-JP" altLang="en-US" sz="1000" dirty="0">
                <a:solidFill>
                  <a:schemeClr val="tx1"/>
                </a:solidFill>
                <a:latin typeface="+mn-ea"/>
              </a:rPr>
              <a:t>背景は部門別</a:t>
            </a:r>
            <a:r>
              <a:rPr lang="en-US" altLang="ja-JP" sz="1000" dirty="0">
                <a:solidFill>
                  <a:schemeClr val="tx1"/>
                </a:solidFill>
                <a:latin typeface="+mn-ea"/>
              </a:rPr>
              <a:t>KPI</a:t>
            </a:r>
            <a:r>
              <a:rPr lang="ja-JP" altLang="en-US" sz="1000" dirty="0">
                <a:solidFill>
                  <a:schemeClr val="tx1"/>
                </a:solidFill>
                <a:latin typeface="+mn-ea"/>
              </a:rPr>
              <a:t>とデータ基盤の分断：共通の検証インフラ（</a:t>
            </a:r>
            <a:r>
              <a:rPr lang="en-US" altLang="ja-JP" sz="1000" dirty="0">
                <a:solidFill>
                  <a:schemeClr val="tx1"/>
                </a:solidFill>
                <a:latin typeface="+mn-ea"/>
              </a:rPr>
              <a:t>GCP</a:t>
            </a:r>
            <a:r>
              <a:rPr lang="ja-JP" altLang="en-US" sz="1000" dirty="0">
                <a:solidFill>
                  <a:schemeClr val="tx1"/>
                </a:solidFill>
                <a:latin typeface="+mn-ea"/>
              </a:rPr>
              <a:t>統合）が無い</a:t>
            </a:r>
          </a:p>
        </p:txBody>
      </p:sp>
      <p:sp>
        <p:nvSpPr>
          <p:cNvPr id="10" name="正方形/長方形 9">
            <a:extLst>
              <a:ext uri="{FF2B5EF4-FFF2-40B4-BE49-F238E27FC236}">
                <a16:creationId xmlns:a16="http://schemas.microsoft.com/office/drawing/2014/main" id="{FF6B5DA5-BB40-B6D2-C0B5-5CB9C91FD3D6}"/>
              </a:ext>
            </a:extLst>
          </p:cNvPr>
          <p:cNvSpPr/>
          <p:nvPr/>
        </p:nvSpPr>
        <p:spPr>
          <a:xfrm>
            <a:off x="334963" y="2681504"/>
            <a:ext cx="2035704"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144000" rIns="36000" bIns="36000" numCol="1" spcCol="0" rtlCol="0" fromWordArt="0" anchor="ctr" anchorCtr="0" forceAA="0" compatLnSpc="1">
            <a:prstTxWarp prst="textNoShape">
              <a:avLst/>
            </a:prstTxWarp>
            <a:noAutofit/>
          </a:bodyPr>
          <a:lstStyle/>
          <a:p>
            <a:r>
              <a:rPr lang="ja-JP" altLang="ja-JP" sz="950" dirty="0">
                <a:solidFill>
                  <a:schemeClr val="tx1"/>
                </a:solidFill>
                <a:latin typeface="+mn-ea"/>
              </a:rPr>
              <a:t>洗剤領域での不毛な消耗戦から脱却</a:t>
            </a:r>
            <a:br>
              <a:rPr lang="en-US" altLang="ja-JP" sz="950" dirty="0">
                <a:solidFill>
                  <a:schemeClr val="tx1"/>
                </a:solidFill>
                <a:latin typeface="+mn-ea"/>
              </a:rPr>
            </a:br>
            <a:r>
              <a:rPr lang="ja-JP" altLang="ja-JP" sz="950" dirty="0">
                <a:solidFill>
                  <a:schemeClr val="tx1"/>
                </a:solidFill>
                <a:latin typeface="+mn-ea"/>
              </a:rPr>
              <a:t>できず、オーラルやキレイキレイ等の強み</a:t>
            </a:r>
            <a:br>
              <a:rPr lang="en-US" altLang="ja-JP" sz="950" dirty="0">
                <a:solidFill>
                  <a:schemeClr val="tx1"/>
                </a:solidFill>
                <a:latin typeface="+mn-ea"/>
              </a:rPr>
            </a:br>
            <a:r>
              <a:rPr lang="ja-JP" altLang="ja-JP" sz="950" dirty="0">
                <a:solidFill>
                  <a:schemeClr val="tx1"/>
                </a:solidFill>
                <a:latin typeface="+mn-ea"/>
              </a:rPr>
              <a:t>領域を未来のAI自動補充システムへ</a:t>
            </a:r>
            <a:br>
              <a:rPr lang="en-US" altLang="ja-JP" sz="950" dirty="0">
                <a:solidFill>
                  <a:schemeClr val="tx1"/>
                </a:solidFill>
                <a:latin typeface="+mn-ea"/>
              </a:rPr>
            </a:br>
            <a:r>
              <a:rPr lang="ja-JP" altLang="ja-JP" sz="950" dirty="0">
                <a:solidFill>
                  <a:schemeClr val="tx1"/>
                </a:solidFill>
                <a:latin typeface="+mn-ea"/>
              </a:rPr>
              <a:t>潜り込ませるための「製品属性データの</a:t>
            </a:r>
            <a:br>
              <a:rPr lang="en-US" altLang="ja-JP" sz="950" dirty="0">
                <a:solidFill>
                  <a:schemeClr val="tx1"/>
                </a:solidFill>
                <a:latin typeface="+mn-ea"/>
              </a:rPr>
            </a:br>
            <a:r>
              <a:rPr lang="ja-JP" altLang="ja-JP" sz="950" dirty="0">
                <a:solidFill>
                  <a:schemeClr val="tx1"/>
                </a:solidFill>
                <a:latin typeface="+mn-ea"/>
              </a:rPr>
              <a:t>構造化</a:t>
            </a:r>
            <a:r>
              <a:rPr lang="en-US" altLang="ja-JP" sz="950" dirty="0">
                <a:solidFill>
                  <a:schemeClr val="tx1"/>
                </a:solidFill>
                <a:latin typeface="+mn-ea"/>
              </a:rPr>
              <a:t> </a:t>
            </a:r>
            <a:r>
              <a:rPr lang="ja-JP" altLang="en-US" sz="950" dirty="0">
                <a:solidFill>
                  <a:schemeClr val="tx1"/>
                </a:solidFill>
                <a:latin typeface="+mn-ea"/>
              </a:rPr>
              <a:t>･ </a:t>
            </a:r>
            <a:r>
              <a:rPr lang="ja-JP" altLang="ja-JP" sz="950" dirty="0">
                <a:solidFill>
                  <a:schemeClr val="tx1"/>
                </a:solidFill>
                <a:latin typeface="+mn-ea"/>
              </a:rPr>
              <a:t>API化」に未着手である</a:t>
            </a:r>
            <a:endParaRPr kumimoji="1" lang="ja-JP" altLang="en-US" sz="950" dirty="0">
              <a:solidFill>
                <a:schemeClr val="tx1"/>
              </a:solidFill>
              <a:latin typeface="+mn-ea"/>
            </a:endParaRPr>
          </a:p>
        </p:txBody>
      </p:sp>
      <p:sp>
        <p:nvSpPr>
          <p:cNvPr id="15" name="四角形: 角を丸くする 14">
            <a:extLst>
              <a:ext uri="{FF2B5EF4-FFF2-40B4-BE49-F238E27FC236}">
                <a16:creationId xmlns:a16="http://schemas.microsoft.com/office/drawing/2014/main" id="{ACE527CA-409C-630C-8672-041428968DCD}"/>
              </a:ext>
            </a:extLst>
          </p:cNvPr>
          <p:cNvSpPr/>
          <p:nvPr/>
        </p:nvSpPr>
        <p:spPr>
          <a:xfrm>
            <a:off x="435606" y="2533435"/>
            <a:ext cx="1957589" cy="316127"/>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1</a:t>
            </a:r>
            <a:r>
              <a:rPr lang="ja-JP" altLang="en-US" sz="1400" b="1" dirty="0">
                <a:solidFill>
                  <a:srgbClr val="FFFFFF"/>
                </a:solidFill>
              </a:rPr>
              <a:t>（</a:t>
            </a:r>
            <a:r>
              <a:rPr lang="en-US" altLang="ja-JP" sz="1400" b="1" dirty="0">
                <a:solidFill>
                  <a:srgbClr val="FFFFFF"/>
                </a:solidFill>
              </a:rPr>
              <a:t>T1 </a:t>
            </a:r>
            <a:r>
              <a:rPr lang="ja-JP" altLang="en-US" sz="1400" b="1" dirty="0">
                <a:solidFill>
                  <a:srgbClr val="FFFFFF"/>
                </a:solidFill>
              </a:rPr>
              <a:t>土俵）</a:t>
            </a:r>
            <a:endParaRPr kumimoji="1" lang="ja-JP" altLang="en-US" sz="1400" dirty="0">
              <a:solidFill>
                <a:schemeClr val="bg1"/>
              </a:solidFill>
              <a:latin typeface="+mn-ea"/>
            </a:endParaRPr>
          </a:p>
        </p:txBody>
      </p:sp>
      <p:pic>
        <p:nvPicPr>
          <p:cNvPr id="102" name="グラフィックス 101" descr="階層 単色塗りつぶし">
            <a:extLst>
              <a:ext uri="{FF2B5EF4-FFF2-40B4-BE49-F238E27FC236}">
                <a16:creationId xmlns:a16="http://schemas.microsoft.com/office/drawing/2014/main" id="{1C3061FE-C03C-A988-71E1-C9FC92A317E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10667" y="4024673"/>
            <a:ext cx="360000" cy="360000"/>
          </a:xfrm>
          <a:prstGeom prst="rect">
            <a:avLst/>
          </a:prstGeom>
        </p:spPr>
      </p:pic>
      <p:pic>
        <p:nvPicPr>
          <p:cNvPr id="104" name="グラフィックス 103" descr="上階 単色塗りつぶし">
            <a:extLst>
              <a:ext uri="{FF2B5EF4-FFF2-40B4-BE49-F238E27FC236}">
                <a16:creationId xmlns:a16="http://schemas.microsoft.com/office/drawing/2014/main" id="{02941425-0D92-878F-6708-ED264C9241E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497038" y="4024673"/>
            <a:ext cx="360000" cy="360000"/>
          </a:xfrm>
          <a:prstGeom prst="rect">
            <a:avLst/>
          </a:prstGeom>
        </p:spPr>
      </p:pic>
      <p:sp>
        <p:nvSpPr>
          <p:cNvPr id="14" name="正方形/長方形 13">
            <a:extLst>
              <a:ext uri="{FF2B5EF4-FFF2-40B4-BE49-F238E27FC236}">
                <a16:creationId xmlns:a16="http://schemas.microsoft.com/office/drawing/2014/main" id="{CB2EAD6E-72D5-0D5A-0AA6-15B7F5767709}"/>
              </a:ext>
            </a:extLst>
          </p:cNvPr>
          <p:cNvSpPr/>
          <p:nvPr/>
        </p:nvSpPr>
        <p:spPr>
          <a:xfrm>
            <a:off x="334963" y="4605556"/>
            <a:ext cx="2035704"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144000" rIns="36000" bIns="36000" numCol="1" spcCol="0" rtlCol="0" fromWordArt="0" anchor="ctr" anchorCtr="0" forceAA="0" compatLnSpc="1">
            <a:prstTxWarp prst="textNoShape">
              <a:avLst/>
            </a:prstTxWarp>
            <a:noAutofit/>
          </a:bodyPr>
          <a:lstStyle/>
          <a:p>
            <a:r>
              <a:rPr lang="ja-JP" altLang="en-US" sz="1000" dirty="0">
                <a:solidFill>
                  <a:schemeClr val="tx1"/>
                </a:solidFill>
                <a:latin typeface="+mn-ea"/>
              </a:rPr>
              <a:t>データ</a:t>
            </a:r>
            <a:r>
              <a:rPr lang="ja-JP" altLang="ja-JP" sz="1000" dirty="0">
                <a:solidFill>
                  <a:schemeClr val="tx1"/>
                </a:solidFill>
                <a:latin typeface="+mn-ea"/>
              </a:rPr>
              <a:t>検証に怯えるバイヤーが最も欲している「</a:t>
            </a:r>
            <a:r>
              <a:rPr lang="ja-JP" altLang="en-US" sz="1000" dirty="0">
                <a:solidFill>
                  <a:schemeClr val="tx1"/>
                </a:solidFill>
                <a:latin typeface="+mn-ea"/>
              </a:rPr>
              <a:t>安心材料</a:t>
            </a:r>
            <a:r>
              <a:rPr lang="en-US" altLang="ja-JP" sz="1000" dirty="0">
                <a:solidFill>
                  <a:schemeClr val="tx1"/>
                </a:solidFill>
                <a:latin typeface="+mn-ea"/>
              </a:rPr>
              <a:t>(</a:t>
            </a:r>
            <a:r>
              <a:rPr lang="ja-JP" altLang="ja-JP" sz="1000" dirty="0">
                <a:solidFill>
                  <a:schemeClr val="tx1"/>
                </a:solidFill>
                <a:latin typeface="+mn-ea"/>
              </a:rPr>
              <a:t>チェーン全体のカテゴリLTVや炭素効率の予測データ</a:t>
            </a:r>
            <a:r>
              <a:rPr lang="en-US" altLang="ja-JP" sz="1000" dirty="0">
                <a:solidFill>
                  <a:schemeClr val="tx1"/>
                </a:solidFill>
                <a:latin typeface="+mn-ea"/>
              </a:rPr>
              <a:t>) </a:t>
            </a:r>
            <a:r>
              <a:rPr lang="ja-JP" altLang="ja-JP" sz="1000" dirty="0">
                <a:solidFill>
                  <a:schemeClr val="tx1"/>
                </a:solidFill>
                <a:latin typeface="+mn-ea"/>
              </a:rPr>
              <a:t>」ではなく、従来型の「目先の値引き</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特売条件」を提案し続けるという商談価値のミスマッチが起きている</a:t>
            </a:r>
            <a:endParaRPr lang="ja-JP" altLang="en-US" sz="1000" dirty="0">
              <a:solidFill>
                <a:schemeClr val="tx1"/>
              </a:solidFill>
              <a:latin typeface="+mn-ea"/>
            </a:endParaRPr>
          </a:p>
        </p:txBody>
      </p:sp>
      <p:sp>
        <p:nvSpPr>
          <p:cNvPr id="21" name="四角形: 角を丸くする 20">
            <a:extLst>
              <a:ext uri="{FF2B5EF4-FFF2-40B4-BE49-F238E27FC236}">
                <a16:creationId xmlns:a16="http://schemas.microsoft.com/office/drawing/2014/main" id="{F8F93723-17BB-4FD1-C916-521F39D875EA}"/>
              </a:ext>
            </a:extLst>
          </p:cNvPr>
          <p:cNvSpPr/>
          <p:nvPr/>
        </p:nvSpPr>
        <p:spPr>
          <a:xfrm>
            <a:off x="435606" y="4490163"/>
            <a:ext cx="1957589" cy="316127"/>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3</a:t>
            </a:r>
            <a:r>
              <a:rPr lang="ja-JP" altLang="en-US" sz="1400" b="1" dirty="0">
                <a:solidFill>
                  <a:srgbClr val="FFFFFF"/>
                </a:solidFill>
              </a:rPr>
              <a:t>（</a:t>
            </a:r>
            <a:r>
              <a:rPr lang="en-US" altLang="ja-JP" sz="1400" b="1" dirty="0">
                <a:solidFill>
                  <a:srgbClr val="FFFFFF"/>
                </a:solidFill>
              </a:rPr>
              <a:t>T3 </a:t>
            </a:r>
            <a:r>
              <a:rPr lang="ja-JP" altLang="en-US" sz="1400" b="1" dirty="0">
                <a:solidFill>
                  <a:srgbClr val="FFFFFF"/>
                </a:solidFill>
              </a:rPr>
              <a:t>商談）</a:t>
            </a:r>
          </a:p>
        </p:txBody>
      </p:sp>
      <p:pic>
        <p:nvPicPr>
          <p:cNvPr id="106" name="グラフィックス 105" descr="クリップボード: 混合 単色塗りつぶし">
            <a:extLst>
              <a:ext uri="{FF2B5EF4-FFF2-40B4-BE49-F238E27FC236}">
                <a16:creationId xmlns:a16="http://schemas.microsoft.com/office/drawing/2014/main" id="{874DE686-3313-2D62-5331-C34B20E76D7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10667" y="5948725"/>
            <a:ext cx="360000" cy="360000"/>
          </a:xfrm>
          <a:prstGeom prst="rect">
            <a:avLst/>
          </a:prstGeom>
        </p:spPr>
      </p:pic>
      <p:sp>
        <p:nvSpPr>
          <p:cNvPr id="24" name="正方形/長方形 23">
            <a:extLst>
              <a:ext uri="{FF2B5EF4-FFF2-40B4-BE49-F238E27FC236}">
                <a16:creationId xmlns:a16="http://schemas.microsoft.com/office/drawing/2014/main" id="{74D2818D-FBDB-47FA-D2CC-4DFCA598CD77}"/>
              </a:ext>
            </a:extLst>
          </p:cNvPr>
          <p:cNvSpPr/>
          <p:nvPr/>
        </p:nvSpPr>
        <p:spPr>
          <a:xfrm>
            <a:off x="9819438" y="2681504"/>
            <a:ext cx="2037600"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r>
              <a:rPr lang="ja-JP" altLang="ja-JP" sz="1000" dirty="0">
                <a:solidFill>
                  <a:schemeClr val="tx1"/>
                </a:solidFill>
                <a:latin typeface="+mn-ea"/>
              </a:rPr>
              <a:t>自社データ劣後の焦りから自前D2C</a:t>
            </a:r>
            <a:r>
              <a:rPr lang="en-US" altLang="ja-JP" sz="1000" dirty="0">
                <a:solidFill>
                  <a:schemeClr val="tx1"/>
                </a:solidFill>
                <a:latin typeface="+mn-ea"/>
              </a:rPr>
              <a:t> (</a:t>
            </a:r>
            <a:r>
              <a:rPr lang="ja-JP" altLang="ja-JP" sz="1000" dirty="0">
                <a:solidFill>
                  <a:schemeClr val="tx1"/>
                </a:solidFill>
                <a:latin typeface="+mn-ea"/>
              </a:rPr>
              <a:t>My Kaoの模倣</a:t>
            </a:r>
            <a:r>
              <a:rPr lang="en-US" altLang="ja-JP" sz="1000" dirty="0">
                <a:solidFill>
                  <a:schemeClr val="tx1"/>
                </a:solidFill>
                <a:latin typeface="+mn-ea"/>
              </a:rPr>
              <a:t>) </a:t>
            </a:r>
            <a:r>
              <a:rPr lang="ja-JP" altLang="ja-JP" sz="1000" dirty="0">
                <a:solidFill>
                  <a:schemeClr val="tx1"/>
                </a:solidFill>
                <a:latin typeface="+mn-ea"/>
              </a:rPr>
              <a:t>を追いかけるか、小売に振り回されるかの二極化に陥り</a:t>
            </a:r>
            <a:r>
              <a:rPr lang="ja-JP" altLang="en-US" sz="1000" dirty="0">
                <a:solidFill>
                  <a:schemeClr val="tx1"/>
                </a:solidFill>
                <a:latin typeface="+mn-ea"/>
              </a:rPr>
              <a:t>、</a:t>
            </a:r>
            <a:r>
              <a:rPr lang="ja-JP" altLang="ja-JP" sz="1000" dirty="0">
                <a:solidFill>
                  <a:schemeClr val="tx1"/>
                </a:solidFill>
                <a:latin typeface="+mn-ea"/>
              </a:rPr>
              <a:t>小売インフラを高度に利用する寄生型へシフトできていない</a:t>
            </a:r>
            <a:endParaRPr lang="ja-JP" altLang="en-US" sz="1000" dirty="0">
              <a:solidFill>
                <a:schemeClr val="tx1"/>
              </a:solidFill>
              <a:latin typeface="+mn-ea"/>
            </a:endParaRPr>
          </a:p>
        </p:txBody>
      </p:sp>
      <p:sp>
        <p:nvSpPr>
          <p:cNvPr id="26" name="四角形: 角を丸くする 25">
            <a:extLst>
              <a:ext uri="{FF2B5EF4-FFF2-40B4-BE49-F238E27FC236}">
                <a16:creationId xmlns:a16="http://schemas.microsoft.com/office/drawing/2014/main" id="{2BC3DE40-967B-2D41-84E7-E8480A908765}"/>
              </a:ext>
            </a:extLst>
          </p:cNvPr>
          <p:cNvSpPr/>
          <p:nvPr/>
        </p:nvSpPr>
        <p:spPr>
          <a:xfrm>
            <a:off x="9899447" y="2533435"/>
            <a:ext cx="1957589" cy="316127"/>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2</a:t>
            </a:r>
            <a:r>
              <a:rPr lang="ja-JP" altLang="en-US" sz="1400" b="1" dirty="0">
                <a:solidFill>
                  <a:srgbClr val="FFFFFF"/>
                </a:solidFill>
              </a:rPr>
              <a:t>（</a:t>
            </a:r>
            <a:r>
              <a:rPr lang="en-US" altLang="ja-JP" sz="1400" b="1" dirty="0">
                <a:solidFill>
                  <a:srgbClr val="FFFFFF"/>
                </a:solidFill>
              </a:rPr>
              <a:t>T2 </a:t>
            </a:r>
            <a:r>
              <a:rPr lang="ja-JP" altLang="en-US" sz="1400" b="1" dirty="0">
                <a:solidFill>
                  <a:srgbClr val="FFFFFF"/>
                </a:solidFill>
              </a:rPr>
              <a:t>データ）</a:t>
            </a:r>
            <a:endParaRPr kumimoji="1" lang="ja-JP" altLang="en-US" sz="1400" dirty="0">
              <a:solidFill>
                <a:schemeClr val="bg1"/>
              </a:solidFill>
              <a:latin typeface="+mn-ea"/>
            </a:endParaRPr>
          </a:p>
        </p:txBody>
      </p:sp>
      <p:sp>
        <p:nvSpPr>
          <p:cNvPr id="25" name="正方形/長方形 24">
            <a:extLst>
              <a:ext uri="{FF2B5EF4-FFF2-40B4-BE49-F238E27FC236}">
                <a16:creationId xmlns:a16="http://schemas.microsoft.com/office/drawing/2014/main" id="{9A1E42BB-F4D4-699C-1CF3-45CA1CB0CE99}"/>
              </a:ext>
            </a:extLst>
          </p:cNvPr>
          <p:cNvSpPr/>
          <p:nvPr/>
        </p:nvSpPr>
        <p:spPr>
          <a:xfrm>
            <a:off x="9819438" y="4605556"/>
            <a:ext cx="2037600"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r>
              <a:rPr lang="ja-JP" altLang="en-US" sz="1000" dirty="0">
                <a:solidFill>
                  <a:schemeClr val="tx1"/>
                </a:solidFill>
                <a:latin typeface="+mn-ea"/>
              </a:rPr>
              <a:t>人手不足と環境規制で店舗運営 </a:t>
            </a:r>
            <a:r>
              <a:rPr lang="en-US" altLang="ja-JP" sz="1000" dirty="0">
                <a:solidFill>
                  <a:schemeClr val="tx1"/>
                </a:solidFill>
                <a:latin typeface="+mn-ea"/>
              </a:rPr>
              <a:t>(</a:t>
            </a:r>
            <a:r>
              <a:rPr lang="ja-JP" altLang="en-US" sz="1000" dirty="0">
                <a:solidFill>
                  <a:schemeClr val="tx1"/>
                </a:solidFill>
                <a:latin typeface="+mn-ea"/>
              </a:rPr>
              <a:t>逆物流含む</a:t>
            </a:r>
            <a:r>
              <a:rPr lang="en-US" altLang="ja-JP" sz="1000" dirty="0">
                <a:solidFill>
                  <a:schemeClr val="tx1"/>
                </a:solidFill>
                <a:latin typeface="+mn-ea"/>
              </a:rPr>
              <a:t>) </a:t>
            </a:r>
            <a:r>
              <a:rPr lang="ja-JP" altLang="en-US" sz="1000" dirty="0">
                <a:solidFill>
                  <a:schemeClr val="tx1"/>
                </a:solidFill>
                <a:latin typeface="+mn-ea"/>
              </a:rPr>
              <a:t>が困難にある小売に対し、組織総力戦でのアプローチができず、営業個人のウェットな関係性 </a:t>
            </a:r>
            <a:r>
              <a:rPr lang="en-US" altLang="ja-JP" sz="1000" dirty="0">
                <a:solidFill>
                  <a:schemeClr val="tx1"/>
                </a:solidFill>
                <a:latin typeface="+mn-ea"/>
              </a:rPr>
              <a:t>(</a:t>
            </a:r>
            <a:r>
              <a:rPr lang="ja-JP" altLang="en-US" sz="1000" dirty="0">
                <a:solidFill>
                  <a:schemeClr val="tx1"/>
                </a:solidFill>
                <a:latin typeface="+mn-ea"/>
              </a:rPr>
              <a:t>属人化</a:t>
            </a:r>
            <a:r>
              <a:rPr lang="en-US" altLang="ja-JP" sz="1000" dirty="0">
                <a:solidFill>
                  <a:schemeClr val="tx1"/>
                </a:solidFill>
                <a:latin typeface="+mn-ea"/>
              </a:rPr>
              <a:t>)</a:t>
            </a:r>
            <a:r>
              <a:rPr lang="ja-JP" altLang="en-US" sz="1000" dirty="0">
                <a:solidFill>
                  <a:schemeClr val="tx1"/>
                </a:solidFill>
                <a:latin typeface="+mn-ea"/>
              </a:rPr>
              <a:t> で乗り切ろうとしている</a:t>
            </a:r>
            <a:r>
              <a:rPr lang="en-US" altLang="ja-JP" sz="1000" dirty="0">
                <a:solidFill>
                  <a:schemeClr val="tx1"/>
                </a:solidFill>
                <a:latin typeface="+mn-ea"/>
              </a:rPr>
              <a:t>​</a:t>
            </a:r>
            <a:endParaRPr lang="ja-JP" altLang="en-US" sz="1000" dirty="0">
              <a:solidFill>
                <a:schemeClr val="tx1"/>
              </a:solidFill>
              <a:latin typeface="+mn-ea"/>
            </a:endParaRPr>
          </a:p>
        </p:txBody>
      </p:sp>
      <p:sp>
        <p:nvSpPr>
          <p:cNvPr id="27" name="四角形: 角を丸くする 26">
            <a:extLst>
              <a:ext uri="{FF2B5EF4-FFF2-40B4-BE49-F238E27FC236}">
                <a16:creationId xmlns:a16="http://schemas.microsoft.com/office/drawing/2014/main" id="{337BF068-1735-7E63-1491-EF470B4A27B6}"/>
              </a:ext>
            </a:extLst>
          </p:cNvPr>
          <p:cNvSpPr/>
          <p:nvPr/>
        </p:nvSpPr>
        <p:spPr>
          <a:xfrm>
            <a:off x="9899447" y="4490163"/>
            <a:ext cx="1957589" cy="316127"/>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4</a:t>
            </a:r>
            <a:r>
              <a:rPr lang="ja-JP" altLang="en-US" sz="1400" b="1" dirty="0">
                <a:solidFill>
                  <a:srgbClr val="FFFFFF"/>
                </a:solidFill>
              </a:rPr>
              <a:t>（</a:t>
            </a:r>
            <a:r>
              <a:rPr lang="en-US" altLang="ja-JP" sz="1400" b="1" dirty="0">
                <a:solidFill>
                  <a:srgbClr val="FFFFFF"/>
                </a:solidFill>
              </a:rPr>
              <a:t>T4 </a:t>
            </a:r>
            <a:r>
              <a:rPr lang="ja-JP" altLang="en-US" sz="1400" b="1" dirty="0">
                <a:solidFill>
                  <a:srgbClr val="FFFFFF"/>
                </a:solidFill>
              </a:rPr>
              <a:t>組織）</a:t>
            </a:r>
          </a:p>
        </p:txBody>
      </p:sp>
      <p:pic>
        <p:nvPicPr>
          <p:cNvPr id="108" name="グラフィックス 107" descr="中世の甲冑 単色塗りつぶし">
            <a:extLst>
              <a:ext uri="{FF2B5EF4-FFF2-40B4-BE49-F238E27FC236}">
                <a16:creationId xmlns:a16="http://schemas.microsoft.com/office/drawing/2014/main" id="{8F7161FF-D0B9-AC29-CF66-4F240430C15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497038" y="5948725"/>
            <a:ext cx="360000" cy="360000"/>
          </a:xfrm>
          <a:prstGeom prst="rect">
            <a:avLst/>
          </a:prstGeom>
        </p:spPr>
      </p:pic>
      <p:sp>
        <p:nvSpPr>
          <p:cNvPr id="16" name="background">
            <a:extLst>
              <a:ext uri="{FF2B5EF4-FFF2-40B4-BE49-F238E27FC236}">
                <a16:creationId xmlns:a16="http://schemas.microsoft.com/office/drawing/2014/main" id="{0CCE175C-C338-B319-0446-59D242859DC8}"/>
              </a:ext>
            </a:extLst>
          </p:cNvPr>
          <p:cNvSpPr>
            <a:spLocks noChangeAspect="1"/>
          </p:cNvSpPr>
          <p:nvPr>
            <p:custDataLst>
              <p:tags r:id="rId1"/>
            </p:custDataLst>
          </p:nvPr>
        </p:nvSpPr>
        <p:spPr>
          <a:xfrm>
            <a:off x="3428953" y="2852954"/>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18" name="グラフィックス 17" descr="マネジメント 単色塗りつぶし">
            <a:extLst>
              <a:ext uri="{FF2B5EF4-FFF2-40B4-BE49-F238E27FC236}">
                <a16:creationId xmlns:a16="http://schemas.microsoft.com/office/drawing/2014/main" id="{BED9AD71-8A75-D505-454B-1A2F506700C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302953" y="3181482"/>
            <a:ext cx="504000" cy="504000"/>
          </a:xfrm>
          <a:prstGeom prst="rect">
            <a:avLst/>
          </a:prstGeom>
        </p:spPr>
      </p:pic>
      <p:sp>
        <p:nvSpPr>
          <p:cNvPr id="20" name="background">
            <a:extLst>
              <a:ext uri="{FF2B5EF4-FFF2-40B4-BE49-F238E27FC236}">
                <a16:creationId xmlns:a16="http://schemas.microsoft.com/office/drawing/2014/main" id="{8BE0457B-A56E-55D2-85FB-FE1087A5D9C2}"/>
              </a:ext>
            </a:extLst>
          </p:cNvPr>
          <p:cNvSpPr>
            <a:spLocks noChangeAspect="1"/>
          </p:cNvSpPr>
          <p:nvPr>
            <p:custDataLst>
              <p:tags r:id="rId2"/>
            </p:custDataLst>
          </p:nvPr>
        </p:nvSpPr>
        <p:spPr>
          <a:xfrm>
            <a:off x="3428953" y="4111108"/>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28" name="グラフィックス 27" descr="ブリーフケース 単色塗りつぶし">
            <a:extLst>
              <a:ext uri="{FF2B5EF4-FFF2-40B4-BE49-F238E27FC236}">
                <a16:creationId xmlns:a16="http://schemas.microsoft.com/office/drawing/2014/main" id="{799A438A-3965-ADF8-7C87-04ECA0AFF22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302953" y="4433615"/>
            <a:ext cx="504000" cy="504000"/>
          </a:xfrm>
          <a:prstGeom prst="rect">
            <a:avLst/>
          </a:prstGeom>
        </p:spPr>
      </p:pic>
      <p:sp>
        <p:nvSpPr>
          <p:cNvPr id="33" name="background">
            <a:extLst>
              <a:ext uri="{FF2B5EF4-FFF2-40B4-BE49-F238E27FC236}">
                <a16:creationId xmlns:a16="http://schemas.microsoft.com/office/drawing/2014/main" id="{0CDBD66A-FC8E-C302-5C8B-740E0EE5038D}"/>
              </a:ext>
            </a:extLst>
          </p:cNvPr>
          <p:cNvSpPr>
            <a:spLocks noChangeAspect="1"/>
          </p:cNvSpPr>
          <p:nvPr>
            <p:custDataLst>
              <p:tags r:id="rId3"/>
            </p:custDataLst>
          </p:nvPr>
        </p:nvSpPr>
        <p:spPr>
          <a:xfrm>
            <a:off x="3428953" y="5282981"/>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39" name="グラフィックス 38" descr="混乱した人 単色塗りつぶし">
            <a:extLst>
              <a:ext uri="{FF2B5EF4-FFF2-40B4-BE49-F238E27FC236}">
                <a16:creationId xmlns:a16="http://schemas.microsoft.com/office/drawing/2014/main" id="{E5C02EF5-7B1E-4BA4-A63D-28A0BBD46E7D}"/>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3302953" y="5672719"/>
            <a:ext cx="504000" cy="504000"/>
          </a:xfrm>
          <a:prstGeom prst="rect">
            <a:avLst/>
          </a:prstGeom>
        </p:spPr>
      </p:pic>
      <p:grpSp>
        <p:nvGrpSpPr>
          <p:cNvPr id="42" name="グループ化 41">
            <a:extLst>
              <a:ext uri="{FF2B5EF4-FFF2-40B4-BE49-F238E27FC236}">
                <a16:creationId xmlns:a16="http://schemas.microsoft.com/office/drawing/2014/main" id="{EEF3D26F-B2E4-F1CE-F76B-CD3D510E9ECB}"/>
              </a:ext>
            </a:extLst>
          </p:cNvPr>
          <p:cNvGrpSpPr/>
          <p:nvPr/>
        </p:nvGrpSpPr>
        <p:grpSpPr>
          <a:xfrm>
            <a:off x="9532620" y="1628775"/>
            <a:ext cx="2326322" cy="596265"/>
            <a:chOff x="8737600" y="1628775"/>
            <a:chExt cx="3119438" cy="596265"/>
          </a:xfrm>
        </p:grpSpPr>
        <p:sp>
          <p:nvSpPr>
            <p:cNvPr id="45" name="正方形/長方形 44">
              <a:extLst>
                <a:ext uri="{FF2B5EF4-FFF2-40B4-BE49-F238E27FC236}">
                  <a16:creationId xmlns:a16="http://schemas.microsoft.com/office/drawing/2014/main" id="{23188CFF-2DD4-DD82-89B3-B5FE2B4092AE}"/>
                </a:ext>
              </a:extLst>
            </p:cNvPr>
            <p:cNvSpPr/>
            <p:nvPr/>
          </p:nvSpPr>
          <p:spPr>
            <a:xfrm>
              <a:off x="8737600" y="1761897"/>
              <a:ext cx="3119438" cy="463143"/>
            </a:xfrm>
            <a:prstGeom prst="rect">
              <a:avLst/>
            </a:prstGeom>
            <a:no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47" name="グループ化 46">
              <a:extLst>
                <a:ext uri="{FF2B5EF4-FFF2-40B4-BE49-F238E27FC236}">
                  <a16:creationId xmlns:a16="http://schemas.microsoft.com/office/drawing/2014/main" id="{68ABDFE9-7F81-2C04-EF02-7895F7DD0D05}"/>
                </a:ext>
              </a:extLst>
            </p:cNvPr>
            <p:cNvGrpSpPr/>
            <p:nvPr/>
          </p:nvGrpSpPr>
          <p:grpSpPr>
            <a:xfrm>
              <a:off x="8909993" y="1628775"/>
              <a:ext cx="2780280" cy="549045"/>
              <a:chOff x="8909993" y="1628775"/>
              <a:chExt cx="2780280" cy="549045"/>
            </a:xfrm>
          </p:grpSpPr>
          <p:sp>
            <p:nvSpPr>
              <p:cNvPr id="48" name="正方形/長方形 47">
                <a:extLst>
                  <a:ext uri="{FF2B5EF4-FFF2-40B4-BE49-F238E27FC236}">
                    <a16:creationId xmlns:a16="http://schemas.microsoft.com/office/drawing/2014/main" id="{46E57BDD-EC05-09CF-3AA9-804EF437E55A}"/>
                  </a:ext>
                </a:extLst>
              </p:cNvPr>
              <p:cNvSpPr/>
              <p:nvPr/>
            </p:nvSpPr>
            <p:spPr>
              <a:xfrm>
                <a:off x="9008533" y="1628775"/>
                <a:ext cx="1803301" cy="281191"/>
              </a:xfrm>
              <a:prstGeom prst="rect">
                <a:avLst/>
              </a:prstGeom>
              <a:solidFill>
                <a:schemeClr val="bg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n-ea"/>
                  </a:rPr>
                  <a:t>真因へのつながり</a:t>
                </a:r>
              </a:p>
            </p:txBody>
          </p:sp>
          <p:grpSp>
            <p:nvGrpSpPr>
              <p:cNvPr id="49" name="グループ化 48">
                <a:extLst>
                  <a:ext uri="{FF2B5EF4-FFF2-40B4-BE49-F238E27FC236}">
                    <a16:creationId xmlns:a16="http://schemas.microsoft.com/office/drawing/2014/main" id="{D0ABEE52-A61E-CBFC-F627-8AB4BAE2EBA6}"/>
                  </a:ext>
                </a:extLst>
              </p:cNvPr>
              <p:cNvGrpSpPr/>
              <p:nvPr/>
            </p:nvGrpSpPr>
            <p:grpSpPr>
              <a:xfrm>
                <a:off x="8909993" y="1896629"/>
                <a:ext cx="2780280" cy="281191"/>
                <a:chOff x="9008533" y="1953846"/>
                <a:chExt cx="2780280" cy="281191"/>
              </a:xfrm>
            </p:grpSpPr>
            <p:grpSp>
              <p:nvGrpSpPr>
                <p:cNvPr id="52" name="グループ化 51">
                  <a:extLst>
                    <a:ext uri="{FF2B5EF4-FFF2-40B4-BE49-F238E27FC236}">
                      <a16:creationId xmlns:a16="http://schemas.microsoft.com/office/drawing/2014/main" id="{5DE6F6DB-E9FB-2A81-7A7C-38D26A2C72FF}"/>
                    </a:ext>
                  </a:extLst>
                </p:cNvPr>
                <p:cNvGrpSpPr/>
                <p:nvPr/>
              </p:nvGrpSpPr>
              <p:grpSpPr>
                <a:xfrm>
                  <a:off x="9008533" y="1953846"/>
                  <a:ext cx="1360289" cy="281191"/>
                  <a:chOff x="9008533" y="1953846"/>
                  <a:chExt cx="1360289" cy="281191"/>
                </a:xfrm>
              </p:grpSpPr>
              <p:sp>
                <p:nvSpPr>
                  <p:cNvPr id="58" name="正方形/長方形 57">
                    <a:extLst>
                      <a:ext uri="{FF2B5EF4-FFF2-40B4-BE49-F238E27FC236}">
                        <a16:creationId xmlns:a16="http://schemas.microsoft.com/office/drawing/2014/main" id="{813E1BB4-6093-986C-7F55-8215B539B0F0}"/>
                      </a:ext>
                    </a:extLst>
                  </p:cNvPr>
                  <p:cNvSpPr/>
                  <p:nvPr/>
                </p:nvSpPr>
                <p:spPr>
                  <a:xfrm>
                    <a:off x="9755634" y="1953846"/>
                    <a:ext cx="613188" cy="28119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主</a:t>
                    </a:r>
                  </a:p>
                </p:txBody>
              </p:sp>
              <p:cxnSp>
                <p:nvCxnSpPr>
                  <p:cNvPr id="59" name="直線矢印コネクタ 58">
                    <a:extLst>
                      <a:ext uri="{FF2B5EF4-FFF2-40B4-BE49-F238E27FC236}">
                        <a16:creationId xmlns:a16="http://schemas.microsoft.com/office/drawing/2014/main" id="{1C11176F-2390-8AE8-466A-9CDAD52DB9C6}"/>
                      </a:ext>
                    </a:extLst>
                  </p:cNvPr>
                  <p:cNvCxnSpPr>
                    <a:cxnSpLocks/>
                  </p:cNvCxnSpPr>
                  <p:nvPr/>
                </p:nvCxnSpPr>
                <p:spPr>
                  <a:xfrm flipH="1">
                    <a:off x="9008533" y="2099733"/>
                    <a:ext cx="423333" cy="0"/>
                  </a:xfrm>
                  <a:prstGeom prst="straightConnector1">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53" name="グループ化 52">
                  <a:extLst>
                    <a:ext uri="{FF2B5EF4-FFF2-40B4-BE49-F238E27FC236}">
                      <a16:creationId xmlns:a16="http://schemas.microsoft.com/office/drawing/2014/main" id="{A628F9FC-8781-7347-3C02-E84773E100F3}"/>
                    </a:ext>
                  </a:extLst>
                </p:cNvPr>
                <p:cNvGrpSpPr/>
                <p:nvPr/>
              </p:nvGrpSpPr>
              <p:grpSpPr>
                <a:xfrm>
                  <a:off x="10530699" y="1953846"/>
                  <a:ext cx="1258114" cy="281191"/>
                  <a:chOff x="10953485" y="1953846"/>
                  <a:chExt cx="1258114" cy="281191"/>
                </a:xfrm>
              </p:grpSpPr>
              <p:sp>
                <p:nvSpPr>
                  <p:cNvPr id="55" name="正方形/長方形 54">
                    <a:extLst>
                      <a:ext uri="{FF2B5EF4-FFF2-40B4-BE49-F238E27FC236}">
                        <a16:creationId xmlns:a16="http://schemas.microsoft.com/office/drawing/2014/main" id="{29EA6E44-6B94-B24F-BC33-1CB891E1D934}"/>
                      </a:ext>
                    </a:extLst>
                  </p:cNvPr>
                  <p:cNvSpPr/>
                  <p:nvPr/>
                </p:nvSpPr>
                <p:spPr>
                  <a:xfrm>
                    <a:off x="11598409" y="1953846"/>
                    <a:ext cx="613190" cy="28119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latin typeface="+mn-ea"/>
                      </a:rPr>
                      <a:t>副</a:t>
                    </a:r>
                  </a:p>
                </p:txBody>
              </p:sp>
              <p:cxnSp>
                <p:nvCxnSpPr>
                  <p:cNvPr id="56" name="直線矢印コネクタ 55">
                    <a:extLst>
                      <a:ext uri="{FF2B5EF4-FFF2-40B4-BE49-F238E27FC236}">
                        <a16:creationId xmlns:a16="http://schemas.microsoft.com/office/drawing/2014/main" id="{2723A8F6-4A30-CDC3-D28A-DE142689872E}"/>
                      </a:ext>
                    </a:extLst>
                  </p:cNvPr>
                  <p:cNvCxnSpPr>
                    <a:cxnSpLocks/>
                  </p:cNvCxnSpPr>
                  <p:nvPr/>
                </p:nvCxnSpPr>
                <p:spPr>
                  <a:xfrm flipH="1">
                    <a:off x="10953485" y="2094442"/>
                    <a:ext cx="423333" cy="0"/>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grpSp>
      </p:grpSp>
      <p:cxnSp>
        <p:nvCxnSpPr>
          <p:cNvPr id="62" name="コネクタ: カギ線 61">
            <a:extLst>
              <a:ext uri="{FF2B5EF4-FFF2-40B4-BE49-F238E27FC236}">
                <a16:creationId xmlns:a16="http://schemas.microsoft.com/office/drawing/2014/main" id="{963E3A35-90CC-52AA-BB74-356C5D7D200C}"/>
              </a:ext>
            </a:extLst>
          </p:cNvPr>
          <p:cNvCxnSpPr>
            <a:cxnSpLocks/>
            <a:stCxn id="10" idx="3"/>
            <a:endCxn id="43" idx="1"/>
          </p:cNvCxnSpPr>
          <p:nvPr/>
        </p:nvCxnSpPr>
        <p:spPr>
          <a:xfrm>
            <a:off x="2370667" y="3533089"/>
            <a:ext cx="864822" cy="962026"/>
          </a:xfrm>
          <a:prstGeom prst="bentConnector3">
            <a:avLst>
              <a:gd name="adj1" fmla="val 50000"/>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9" name="コネクタ: カギ線 78">
            <a:extLst>
              <a:ext uri="{FF2B5EF4-FFF2-40B4-BE49-F238E27FC236}">
                <a16:creationId xmlns:a16="http://schemas.microsoft.com/office/drawing/2014/main" id="{013861CE-3E6A-E9DC-CDA8-294DF0F6BBB9}"/>
              </a:ext>
            </a:extLst>
          </p:cNvPr>
          <p:cNvCxnSpPr>
            <a:cxnSpLocks/>
            <a:stCxn id="10" idx="3"/>
            <a:endCxn id="22" idx="1"/>
          </p:cNvCxnSpPr>
          <p:nvPr/>
        </p:nvCxnSpPr>
        <p:spPr>
          <a:xfrm flipV="1">
            <a:off x="2370667" y="3267441"/>
            <a:ext cx="864822" cy="265648"/>
          </a:xfrm>
          <a:prstGeom prst="bentConnector3">
            <a:avLst>
              <a:gd name="adj1" fmla="val 50000"/>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122" name="グループ化 121">
            <a:extLst>
              <a:ext uri="{FF2B5EF4-FFF2-40B4-BE49-F238E27FC236}">
                <a16:creationId xmlns:a16="http://schemas.microsoft.com/office/drawing/2014/main" id="{E5FDE108-6BF1-3BE0-99FA-EE38BEEA2A99}"/>
              </a:ext>
            </a:extLst>
          </p:cNvPr>
          <p:cNvGrpSpPr/>
          <p:nvPr/>
        </p:nvGrpSpPr>
        <p:grpSpPr>
          <a:xfrm>
            <a:off x="8954210" y="3368496"/>
            <a:ext cx="865228" cy="2647261"/>
            <a:chOff x="8954210" y="3368496"/>
            <a:chExt cx="865228" cy="2647261"/>
          </a:xfrm>
        </p:grpSpPr>
        <p:cxnSp>
          <p:nvCxnSpPr>
            <p:cNvPr id="69" name="コネクタ: カギ線 68">
              <a:extLst>
                <a:ext uri="{FF2B5EF4-FFF2-40B4-BE49-F238E27FC236}">
                  <a16:creationId xmlns:a16="http://schemas.microsoft.com/office/drawing/2014/main" id="{E1B3F07A-A3A0-C827-2DE8-D4843009CD89}"/>
                </a:ext>
              </a:extLst>
            </p:cNvPr>
            <p:cNvCxnSpPr>
              <a:cxnSpLocks/>
              <a:stCxn id="24" idx="1"/>
              <a:endCxn id="44" idx="3"/>
            </p:cNvCxnSpPr>
            <p:nvPr/>
          </p:nvCxnSpPr>
          <p:spPr>
            <a:xfrm rot="10800000" flipV="1">
              <a:off x="8954616" y="3533089"/>
              <a:ext cx="864822" cy="2189700"/>
            </a:xfrm>
            <a:prstGeom prst="bentConnector3">
              <a:avLst>
                <a:gd name="adj1" fmla="val 50000"/>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0" name="直線矢印コネクタ 69">
              <a:extLst>
                <a:ext uri="{FF2B5EF4-FFF2-40B4-BE49-F238E27FC236}">
                  <a16:creationId xmlns:a16="http://schemas.microsoft.com/office/drawing/2014/main" id="{DC77EBE0-E3D3-124D-A4E1-59A5C3A3CA04}"/>
                </a:ext>
              </a:extLst>
            </p:cNvPr>
            <p:cNvCxnSpPr>
              <a:cxnSpLocks/>
            </p:cNvCxnSpPr>
            <p:nvPr/>
          </p:nvCxnSpPr>
          <p:spPr>
            <a:xfrm flipH="1" flipV="1">
              <a:off x="8954616" y="3368496"/>
              <a:ext cx="864822" cy="1"/>
            </a:xfrm>
            <a:prstGeom prst="straightConnector1">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5" name="コネクタ: カギ線 104">
              <a:extLst>
                <a:ext uri="{FF2B5EF4-FFF2-40B4-BE49-F238E27FC236}">
                  <a16:creationId xmlns:a16="http://schemas.microsoft.com/office/drawing/2014/main" id="{0C406B83-4C0A-419C-4D66-5F6FFD807453}"/>
                </a:ext>
              </a:extLst>
            </p:cNvPr>
            <p:cNvCxnSpPr>
              <a:cxnSpLocks/>
              <a:stCxn id="25" idx="1"/>
              <a:endCxn id="43" idx="3"/>
            </p:cNvCxnSpPr>
            <p:nvPr/>
          </p:nvCxnSpPr>
          <p:spPr>
            <a:xfrm rot="10800000">
              <a:off x="8954616" y="4495115"/>
              <a:ext cx="864822" cy="962026"/>
            </a:xfrm>
            <a:prstGeom prst="bentConnector3">
              <a:avLst>
                <a:gd name="adj1" fmla="val 20923"/>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7" name="直線矢印コネクタ 116">
              <a:extLst>
                <a:ext uri="{FF2B5EF4-FFF2-40B4-BE49-F238E27FC236}">
                  <a16:creationId xmlns:a16="http://schemas.microsoft.com/office/drawing/2014/main" id="{68AE1082-24CA-B45C-14D9-57B976BCBB6C}"/>
                </a:ext>
              </a:extLst>
            </p:cNvPr>
            <p:cNvCxnSpPr>
              <a:cxnSpLocks/>
            </p:cNvCxnSpPr>
            <p:nvPr/>
          </p:nvCxnSpPr>
          <p:spPr>
            <a:xfrm flipH="1" flipV="1">
              <a:off x="8954210" y="6015756"/>
              <a:ext cx="864822" cy="1"/>
            </a:xfrm>
            <a:prstGeom prst="straightConnector1">
              <a:avLst/>
            </a:prstGeom>
            <a:ln w="9525">
              <a:solidFill>
                <a:srgbClr val="008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1" name="円弧 120">
              <a:extLst>
                <a:ext uri="{FF2B5EF4-FFF2-40B4-BE49-F238E27FC236}">
                  <a16:creationId xmlns:a16="http://schemas.microsoft.com/office/drawing/2014/main" id="{0FCC7E6B-F2F6-AA79-9722-B88B67183405}"/>
                </a:ext>
              </a:extLst>
            </p:cNvPr>
            <p:cNvSpPr/>
            <p:nvPr/>
          </p:nvSpPr>
          <p:spPr>
            <a:xfrm>
              <a:off x="9332194" y="4448773"/>
              <a:ext cx="108745" cy="105917"/>
            </a:xfrm>
            <a:prstGeom prst="arc">
              <a:avLst>
                <a:gd name="adj1" fmla="val 10862459"/>
                <a:gd name="adj2" fmla="val 0"/>
              </a:avLst>
            </a:prstGeom>
            <a:solidFill>
              <a:schemeClr val="bg1"/>
            </a:solidFill>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grpSp>
      <p:cxnSp>
        <p:nvCxnSpPr>
          <p:cNvPr id="7" name="コネクタ: カギ線 6">
            <a:extLst>
              <a:ext uri="{FF2B5EF4-FFF2-40B4-BE49-F238E27FC236}">
                <a16:creationId xmlns:a16="http://schemas.microsoft.com/office/drawing/2014/main" id="{2CFF727A-0F5F-E0EA-2493-DFB2FDC36B4F}"/>
              </a:ext>
            </a:extLst>
          </p:cNvPr>
          <p:cNvCxnSpPr>
            <a:cxnSpLocks/>
            <a:stCxn id="14" idx="3"/>
          </p:cNvCxnSpPr>
          <p:nvPr/>
        </p:nvCxnSpPr>
        <p:spPr>
          <a:xfrm flipV="1">
            <a:off x="2370667" y="4605556"/>
            <a:ext cx="864822" cy="851585"/>
          </a:xfrm>
          <a:prstGeom prst="bentConnector3">
            <a:avLst>
              <a:gd name="adj1" fmla="val 50000"/>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 name="コネクタ: カギ線 11">
            <a:extLst>
              <a:ext uri="{FF2B5EF4-FFF2-40B4-BE49-F238E27FC236}">
                <a16:creationId xmlns:a16="http://schemas.microsoft.com/office/drawing/2014/main" id="{F37597EB-420F-BEC4-38CD-827C19E8DC34}"/>
              </a:ext>
            </a:extLst>
          </p:cNvPr>
          <p:cNvCxnSpPr>
            <a:cxnSpLocks/>
            <a:stCxn id="14" idx="3"/>
            <a:endCxn id="44" idx="1"/>
          </p:cNvCxnSpPr>
          <p:nvPr/>
        </p:nvCxnSpPr>
        <p:spPr>
          <a:xfrm>
            <a:off x="2370667" y="5457141"/>
            <a:ext cx="864822" cy="265648"/>
          </a:xfrm>
          <a:prstGeom prst="bentConnector3">
            <a:avLst>
              <a:gd name="adj1" fmla="val 50000"/>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コネクタ: カギ線 35">
            <a:extLst>
              <a:ext uri="{FF2B5EF4-FFF2-40B4-BE49-F238E27FC236}">
                <a16:creationId xmlns:a16="http://schemas.microsoft.com/office/drawing/2014/main" id="{47C5B8F5-E2E1-1FCD-B911-F0C4A7100E30}"/>
              </a:ext>
            </a:extLst>
          </p:cNvPr>
          <p:cNvCxnSpPr>
            <a:cxnSpLocks/>
            <a:stCxn id="54" idx="3"/>
            <a:endCxn id="41" idx="1"/>
          </p:cNvCxnSpPr>
          <p:nvPr/>
        </p:nvCxnSpPr>
        <p:spPr>
          <a:xfrm flipV="1">
            <a:off x="2359403" y="3701207"/>
            <a:ext cx="876086" cy="1402960"/>
          </a:xfrm>
          <a:prstGeom prst="bentConnector3">
            <a:avLst>
              <a:gd name="adj1" fmla="val 31848"/>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1" name="正方形/長方形 40">
            <a:extLst>
              <a:ext uri="{FF2B5EF4-FFF2-40B4-BE49-F238E27FC236}">
                <a16:creationId xmlns:a16="http://schemas.microsoft.com/office/drawing/2014/main" id="{B18732F6-AB7C-1604-6373-BDA06F153BC4}"/>
              </a:ext>
            </a:extLst>
          </p:cNvPr>
          <p:cNvSpPr/>
          <p:nvPr/>
        </p:nvSpPr>
        <p:spPr>
          <a:xfrm>
            <a:off x="3235489" y="3522393"/>
            <a:ext cx="193464" cy="357628"/>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eiryo UI" panose="020B0604030504040204" pitchFamily="50" charset="-128"/>
              <a:ea typeface="Meiryo UI" panose="020B0604030504040204" pitchFamily="50" charset="-128"/>
            </a:endParaRPr>
          </a:p>
        </p:txBody>
      </p:sp>
      <p:sp>
        <p:nvSpPr>
          <p:cNvPr id="54" name="正方形/長方形 53">
            <a:extLst>
              <a:ext uri="{FF2B5EF4-FFF2-40B4-BE49-F238E27FC236}">
                <a16:creationId xmlns:a16="http://schemas.microsoft.com/office/drawing/2014/main" id="{4A78751C-C1DD-B925-2277-9367C127C41D}"/>
              </a:ext>
            </a:extLst>
          </p:cNvPr>
          <p:cNvSpPr/>
          <p:nvPr/>
        </p:nvSpPr>
        <p:spPr>
          <a:xfrm>
            <a:off x="2165939" y="4925353"/>
            <a:ext cx="193464" cy="357628"/>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394553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0EE71-D967-BA9D-5EC3-92DAC05D5F6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72D25B7-7C63-DEB6-7D12-55EF4251BC0E}"/>
              </a:ext>
            </a:extLst>
          </p:cNvPr>
          <p:cNvSpPr>
            <a:spLocks noGrp="1"/>
          </p:cNvSpPr>
          <p:nvPr>
            <p:ph type="title"/>
          </p:nvPr>
        </p:nvSpPr>
        <p:spPr>
          <a:xfrm>
            <a:off x="334963" y="1"/>
            <a:ext cx="11522075" cy="914400"/>
          </a:xfrm>
        </p:spPr>
        <p:txBody>
          <a:bodyPr/>
          <a:lstStyle/>
          <a:p>
            <a:r>
              <a:rPr lang="ja-JP" altLang="en-US" dirty="0">
                <a:latin typeface="メイリオ" panose="020B0604030504040204" pitchFamily="50" charset="-128"/>
                <a:ea typeface="メイリオ" panose="020B0604030504040204" pitchFamily="50" charset="-128"/>
              </a:rPr>
              <a:t>真因と解決策</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0C888C94-7EBB-96D4-0EA0-316C02BBD147}"/>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800" dirty="0">
                <a:latin typeface="+mn-ea"/>
                <a:ea typeface="+mn-ea"/>
              </a:rPr>
              <a:t>解決策は真因の裏返しで1対1に対応。★＝最初に動かす起点施策 ― B1「投資ROI可視化」が全ての起点になる</a:t>
            </a:r>
            <a:endParaRPr lang="ja-JP" altLang="en-US" sz="1800" dirty="0">
              <a:latin typeface="+mn-ea"/>
              <a:ea typeface="+mn-ea"/>
            </a:endParaRPr>
          </a:p>
        </p:txBody>
      </p:sp>
      <p:sp>
        <p:nvSpPr>
          <p:cNvPr id="5" name="正方形/長方形 4">
            <a:extLst>
              <a:ext uri="{FF2B5EF4-FFF2-40B4-BE49-F238E27FC236}">
                <a16:creationId xmlns:a16="http://schemas.microsoft.com/office/drawing/2014/main" id="{B74D2276-4C7D-036F-9B00-21EF4F004E42}"/>
              </a:ext>
            </a:extLst>
          </p:cNvPr>
          <p:cNvSpPr/>
          <p:nvPr/>
        </p:nvSpPr>
        <p:spPr>
          <a:xfrm>
            <a:off x="334961" y="1637495"/>
            <a:ext cx="957389" cy="52253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bg1"/>
                </a:solidFill>
                <a:latin typeface="+mn-ea"/>
              </a:rPr>
              <a:t>真因</a:t>
            </a:r>
            <a:endParaRPr lang="en-US" altLang="ja-JP" sz="1400" dirty="0">
              <a:solidFill>
                <a:schemeClr val="bg1"/>
              </a:solidFill>
              <a:latin typeface="+mn-ea"/>
            </a:endParaRPr>
          </a:p>
        </p:txBody>
      </p:sp>
      <p:pic>
        <p:nvPicPr>
          <p:cNvPr id="82" name="グラフィックス 81" descr="No の記号 単色塗りつぶし">
            <a:extLst>
              <a:ext uri="{FF2B5EF4-FFF2-40B4-BE49-F238E27FC236}">
                <a16:creationId xmlns:a16="http://schemas.microsoft.com/office/drawing/2014/main" id="{0DBFEF41-22AA-A878-2269-2366F2CF32A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89597" y="1574439"/>
            <a:ext cx="324568" cy="324568"/>
          </a:xfrm>
          <a:prstGeom prst="rect">
            <a:avLst/>
          </a:prstGeom>
        </p:spPr>
      </p:pic>
      <p:sp>
        <p:nvSpPr>
          <p:cNvPr id="8" name="正方形/長方形 7">
            <a:extLst>
              <a:ext uri="{FF2B5EF4-FFF2-40B4-BE49-F238E27FC236}">
                <a16:creationId xmlns:a16="http://schemas.microsoft.com/office/drawing/2014/main" id="{1B8223E7-E8E1-D3B9-4236-FB253121D1EC}"/>
              </a:ext>
            </a:extLst>
          </p:cNvPr>
          <p:cNvSpPr/>
          <p:nvPr/>
        </p:nvSpPr>
        <p:spPr>
          <a:xfrm>
            <a:off x="1356269" y="1637496"/>
            <a:ext cx="3455110" cy="52253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92000" tIns="36000" rIns="36000" bIns="36000" numCol="1" spcCol="0" rtlCol="0" fromWordArt="0" anchor="ctr" anchorCtr="0" forceAA="0" compatLnSpc="1">
            <a:prstTxWarp prst="textNoShape">
              <a:avLst/>
            </a:prstTxWarp>
            <a:noAutofit/>
          </a:bodyPr>
          <a:lstStyle/>
          <a:p>
            <a:r>
              <a:rPr lang="ja-JP" altLang="en-US" sz="1400" dirty="0">
                <a:solidFill>
                  <a:schemeClr val="bg1"/>
                </a:solidFill>
                <a:latin typeface="+mn-ea"/>
              </a:rPr>
              <a:t>増えた資源が「従来の使い方」のまま</a:t>
            </a:r>
            <a:endParaRPr lang="en-US" altLang="ja-JP" sz="1400" dirty="0">
              <a:solidFill>
                <a:schemeClr val="bg1"/>
              </a:solidFill>
              <a:latin typeface="+mn-ea"/>
            </a:endParaRPr>
          </a:p>
        </p:txBody>
      </p:sp>
      <p:sp>
        <p:nvSpPr>
          <p:cNvPr id="83" name="正方形/長方形 7">
            <a:extLst>
              <a:ext uri="{FF2B5EF4-FFF2-40B4-BE49-F238E27FC236}">
                <a16:creationId xmlns:a16="http://schemas.microsoft.com/office/drawing/2014/main" id="{1B8223E7-E8E1-D3B9-4236-FB253121D1EC}"/>
              </a:ext>
            </a:extLst>
          </p:cNvPr>
          <p:cNvSpPr/>
          <p:nvPr/>
        </p:nvSpPr>
        <p:spPr>
          <a:xfrm>
            <a:off x="4875298" y="1637496"/>
            <a:ext cx="3455110" cy="52253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92000" tIns="36000" rIns="36000" bIns="36000" numCol="1" spcCol="0" rtlCol="0" fromWordArt="0" anchor="ctr" anchorCtr="0" forceAA="0" compatLnSpc="1">
            <a:prstTxWarp prst="textNoShape">
              <a:avLst/>
            </a:prstTxWarp>
            <a:noAutofit/>
          </a:bodyPr>
          <a:lstStyle/>
          <a:p>
            <a:r>
              <a:rPr lang="ja-JP" altLang="en-US" sz="1400" dirty="0">
                <a:solidFill>
                  <a:schemeClr val="bg1"/>
                </a:solidFill>
                <a:latin typeface="+mn-ea"/>
              </a:rPr>
              <a:t>値引きに代わる「提案材料」がない</a:t>
            </a:r>
            <a:endParaRPr lang="en-US" altLang="ja-JP" sz="1400" dirty="0">
              <a:solidFill>
                <a:schemeClr val="bg1"/>
              </a:solidFill>
              <a:latin typeface="+mn-ea"/>
            </a:endParaRPr>
          </a:p>
        </p:txBody>
      </p:sp>
      <p:sp>
        <p:nvSpPr>
          <p:cNvPr id="84" name="正方形/長方形 7">
            <a:extLst>
              <a:ext uri="{FF2B5EF4-FFF2-40B4-BE49-F238E27FC236}">
                <a16:creationId xmlns:a16="http://schemas.microsoft.com/office/drawing/2014/main" id="{1B8223E7-E8E1-D3B9-4236-FB253121D1EC}"/>
              </a:ext>
            </a:extLst>
          </p:cNvPr>
          <p:cNvSpPr/>
          <p:nvPr/>
        </p:nvSpPr>
        <p:spPr>
          <a:xfrm>
            <a:off x="8394327" y="1637496"/>
            <a:ext cx="3455110" cy="52253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92000" tIns="36000" rIns="36000" bIns="36000" numCol="1" spcCol="0" rtlCol="0" fromWordArt="0" anchor="ctr" anchorCtr="0" forceAA="0" compatLnSpc="1">
            <a:prstTxWarp prst="textNoShape">
              <a:avLst/>
            </a:prstTxWarp>
            <a:noAutofit/>
          </a:bodyPr>
          <a:lstStyle/>
          <a:p>
            <a:r>
              <a:rPr lang="ja-JP" altLang="en-US" sz="1400" dirty="0">
                <a:solidFill>
                  <a:schemeClr val="bg1"/>
                </a:solidFill>
                <a:latin typeface="+mn-ea"/>
              </a:rPr>
              <a:t>試す→検証→広げる「仕組み」がない</a:t>
            </a:r>
            <a:endParaRPr lang="en-US" altLang="ja-JP" sz="1400" dirty="0">
              <a:solidFill>
                <a:schemeClr val="bg1"/>
              </a:solidFill>
              <a:latin typeface="+mn-ea"/>
            </a:endParaRPr>
          </a:p>
        </p:txBody>
      </p:sp>
      <p:sp>
        <p:nvSpPr>
          <p:cNvPr id="9" name="テキスト ボックス 8">
            <a:extLst>
              <a:ext uri="{FF2B5EF4-FFF2-40B4-BE49-F238E27FC236}">
                <a16:creationId xmlns:a16="http://schemas.microsoft.com/office/drawing/2014/main" id="{E9B7609B-D3E1-3DA0-FDB3-FDD33EC4615C}"/>
              </a:ext>
            </a:extLst>
          </p:cNvPr>
          <p:cNvSpPr txBox="1"/>
          <p:nvPr/>
        </p:nvSpPr>
        <p:spPr>
          <a:xfrm>
            <a:off x="334963" y="6079697"/>
            <a:ext cx="11522074" cy="229486"/>
          </a:xfrm>
          <a:prstGeom prst="rect">
            <a:avLst/>
          </a:prstGeom>
          <a:noFill/>
        </p:spPr>
        <p:txBody>
          <a:bodyPr wrap="square">
            <a:spAutoFit/>
          </a:bodyPr>
          <a:lstStyle/>
          <a:p>
            <a:pPr marL="171450" indent="-171450">
              <a:lnSpc>
                <a:spcPct val="110000"/>
              </a:lnSpc>
              <a:buClr>
                <a:schemeClr val="accent5"/>
              </a:buClr>
              <a:buFont typeface="BIZ UDPゴシック" panose="020B0400000000000000" pitchFamily="50" charset="-128"/>
              <a:buChar char="※"/>
            </a:pPr>
            <a:r>
              <a:rPr lang="ja-JP" altLang="en-US" sz="900" dirty="0">
                <a:solidFill>
                  <a:srgbClr val="008D2E"/>
                </a:solidFill>
                <a:latin typeface="+mn-ea"/>
              </a:rPr>
              <a:t>起点施策 </a:t>
            </a:r>
            <a:r>
              <a:rPr lang="en-US" altLang="ja-JP" sz="900" dirty="0">
                <a:solidFill>
                  <a:srgbClr val="008D2E"/>
                </a:solidFill>
                <a:latin typeface="+mn-ea"/>
              </a:rPr>
              <a:t>(</a:t>
            </a:r>
            <a:r>
              <a:rPr lang="ja-JP" altLang="en-US" sz="900" dirty="0">
                <a:solidFill>
                  <a:srgbClr val="008D2E"/>
                </a:solidFill>
                <a:latin typeface="+mn-ea"/>
              </a:rPr>
              <a:t>★</a:t>
            </a:r>
            <a:r>
              <a:rPr lang="en-US" altLang="ja-JP" sz="900" dirty="0">
                <a:solidFill>
                  <a:srgbClr val="008D2E"/>
                </a:solidFill>
                <a:latin typeface="+mn-ea"/>
              </a:rPr>
              <a:t>) </a:t>
            </a:r>
            <a:r>
              <a:rPr lang="ja-JP" altLang="en-US" sz="900" dirty="0">
                <a:solidFill>
                  <a:srgbClr val="008D2E"/>
                </a:solidFill>
                <a:latin typeface="+mn-ea"/>
              </a:rPr>
              <a:t>の連鎖 </a:t>
            </a:r>
            <a:r>
              <a:rPr lang="en-US" altLang="ja-JP" sz="900" dirty="0">
                <a:latin typeface="+mn-ea"/>
              </a:rPr>
              <a:t>: </a:t>
            </a:r>
            <a:r>
              <a:rPr lang="en-US" altLang="ja-JP" sz="900" b="0" dirty="0">
                <a:solidFill>
                  <a:srgbClr val="262626"/>
                </a:solidFill>
                <a:latin typeface="+mn-ea"/>
              </a:rPr>
              <a:t>B1</a:t>
            </a:r>
            <a:r>
              <a:rPr lang="ja-JP" altLang="en-US" sz="900" b="0" dirty="0">
                <a:solidFill>
                  <a:srgbClr val="262626"/>
                </a:solidFill>
                <a:latin typeface="+mn-ea"/>
              </a:rPr>
              <a:t> </a:t>
            </a:r>
            <a:r>
              <a:rPr lang="en-US" altLang="ja-JP" sz="900" b="0" dirty="0">
                <a:solidFill>
                  <a:srgbClr val="262626"/>
                </a:solidFill>
                <a:latin typeface="+mn-ea"/>
              </a:rPr>
              <a:t>(ROI</a:t>
            </a:r>
            <a:r>
              <a:rPr lang="ja-JP" altLang="en-US" sz="900" b="0" dirty="0">
                <a:solidFill>
                  <a:srgbClr val="262626"/>
                </a:solidFill>
                <a:latin typeface="+mn-ea"/>
              </a:rPr>
              <a:t>可視化</a:t>
            </a:r>
            <a:r>
              <a:rPr lang="en-US" altLang="ja-JP" sz="900" b="0" dirty="0">
                <a:solidFill>
                  <a:srgbClr val="262626"/>
                </a:solidFill>
                <a:latin typeface="+mn-ea"/>
              </a:rPr>
              <a:t>) </a:t>
            </a:r>
            <a:r>
              <a:rPr lang="ja-JP" altLang="en-US" sz="900" b="0" dirty="0">
                <a:solidFill>
                  <a:srgbClr val="262626"/>
                </a:solidFill>
                <a:latin typeface="+mn-ea"/>
              </a:rPr>
              <a:t>が投資対効果の測定基準を作り → </a:t>
            </a:r>
            <a:r>
              <a:rPr lang="en-US" altLang="ja-JP" sz="900" b="0" dirty="0">
                <a:solidFill>
                  <a:srgbClr val="262626"/>
                </a:solidFill>
                <a:latin typeface="+mn-ea"/>
              </a:rPr>
              <a:t>D1</a:t>
            </a:r>
            <a:r>
              <a:rPr lang="ja-JP" altLang="en-US" sz="900" b="0" dirty="0">
                <a:solidFill>
                  <a:srgbClr val="262626"/>
                </a:solidFill>
                <a:latin typeface="+mn-ea"/>
              </a:rPr>
              <a:t> </a:t>
            </a:r>
            <a:r>
              <a:rPr lang="en-US" altLang="ja-JP" sz="900" b="0" dirty="0">
                <a:solidFill>
                  <a:srgbClr val="262626"/>
                </a:solidFill>
                <a:latin typeface="+mn-ea"/>
              </a:rPr>
              <a:t>(</a:t>
            </a:r>
            <a:r>
              <a:rPr lang="ja-JP" altLang="en-US" sz="900" b="0" dirty="0">
                <a:solidFill>
                  <a:srgbClr val="262626"/>
                </a:solidFill>
                <a:latin typeface="+mn-ea"/>
              </a:rPr>
              <a:t>事務ゼロ化</a:t>
            </a:r>
            <a:r>
              <a:rPr lang="en-US" altLang="ja-JP" sz="900" b="0" dirty="0">
                <a:solidFill>
                  <a:srgbClr val="262626"/>
                </a:solidFill>
                <a:latin typeface="+mn-ea"/>
              </a:rPr>
              <a:t>) </a:t>
            </a:r>
            <a:r>
              <a:rPr lang="ja-JP" altLang="en-US" sz="900" b="0" dirty="0">
                <a:solidFill>
                  <a:srgbClr val="262626"/>
                </a:solidFill>
                <a:latin typeface="+mn-ea"/>
              </a:rPr>
              <a:t>が商談の時間を生み → </a:t>
            </a:r>
            <a:r>
              <a:rPr lang="en-US" altLang="ja-JP" sz="900" b="0" dirty="0">
                <a:solidFill>
                  <a:srgbClr val="262626"/>
                </a:solidFill>
                <a:latin typeface="+mn-ea"/>
              </a:rPr>
              <a:t>C1</a:t>
            </a:r>
            <a:r>
              <a:rPr lang="ja-JP" altLang="en-US" sz="900" b="0" dirty="0">
                <a:solidFill>
                  <a:srgbClr val="262626"/>
                </a:solidFill>
                <a:latin typeface="+mn-ea"/>
              </a:rPr>
              <a:t>・</a:t>
            </a:r>
            <a:r>
              <a:rPr lang="en-US" altLang="ja-JP" sz="900" b="0" dirty="0">
                <a:solidFill>
                  <a:srgbClr val="262626"/>
                </a:solidFill>
                <a:latin typeface="+mn-ea"/>
              </a:rPr>
              <a:t>A1</a:t>
            </a:r>
            <a:r>
              <a:rPr lang="ja-JP" altLang="en-US" sz="900" b="0" dirty="0">
                <a:solidFill>
                  <a:srgbClr val="262626"/>
                </a:solidFill>
                <a:latin typeface="+mn-ea"/>
              </a:rPr>
              <a:t>が提案の材料を揃え → 解決</a:t>
            </a:r>
            <a:r>
              <a:rPr lang="en-US" altLang="ja-JP" sz="900" b="0" dirty="0">
                <a:solidFill>
                  <a:srgbClr val="262626"/>
                </a:solidFill>
                <a:latin typeface="+mn-ea"/>
              </a:rPr>
              <a:t>1</a:t>
            </a:r>
            <a:r>
              <a:rPr lang="ja-JP" altLang="en-US" sz="900" b="0" dirty="0">
                <a:solidFill>
                  <a:srgbClr val="262626"/>
                </a:solidFill>
                <a:latin typeface="+mn-ea"/>
              </a:rPr>
              <a:t>の新しい使い方に流し込む。</a:t>
            </a:r>
            <a:r>
              <a:rPr lang="en-US" altLang="ja-JP" sz="900" b="0" dirty="0">
                <a:solidFill>
                  <a:srgbClr val="262626"/>
                </a:solidFill>
                <a:latin typeface="+mn-ea"/>
              </a:rPr>
              <a:t>ROI</a:t>
            </a:r>
            <a:r>
              <a:rPr lang="ja-JP" altLang="en-US" sz="900" b="0" dirty="0">
                <a:solidFill>
                  <a:srgbClr val="262626"/>
                </a:solidFill>
                <a:latin typeface="+mn-ea"/>
              </a:rPr>
              <a:t>計算式に紐づかない施策はやらない</a:t>
            </a:r>
          </a:p>
        </p:txBody>
      </p:sp>
      <p:sp>
        <p:nvSpPr>
          <p:cNvPr id="4" name="正方形/長方形 3">
            <a:extLst>
              <a:ext uri="{FF2B5EF4-FFF2-40B4-BE49-F238E27FC236}">
                <a16:creationId xmlns:a16="http://schemas.microsoft.com/office/drawing/2014/main" id="{39427BA7-4F9D-2CEC-6BE1-B4F33BB41994}"/>
              </a:ext>
            </a:extLst>
          </p:cNvPr>
          <p:cNvSpPr/>
          <p:nvPr/>
        </p:nvSpPr>
        <p:spPr>
          <a:xfrm>
            <a:off x="334961" y="2257549"/>
            <a:ext cx="957389" cy="2746161"/>
          </a:xfrm>
          <a:prstGeom prst="rect">
            <a:avLst/>
          </a:prstGeom>
          <a:solidFill>
            <a:srgbClr val="008D2E">
              <a:alpha val="30196"/>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tx1"/>
                </a:solidFill>
                <a:latin typeface="+mn-ea"/>
              </a:rPr>
              <a:t>解決</a:t>
            </a:r>
            <a:endParaRPr lang="en-US" altLang="ja-JP" sz="1400" dirty="0">
              <a:solidFill>
                <a:schemeClr val="tx1"/>
              </a:solidFill>
              <a:latin typeface="+mn-ea"/>
            </a:endParaRPr>
          </a:p>
        </p:txBody>
      </p:sp>
      <p:sp>
        <p:nvSpPr>
          <p:cNvPr id="14" name="正方形/長方形 13">
            <a:extLst>
              <a:ext uri="{FF2B5EF4-FFF2-40B4-BE49-F238E27FC236}">
                <a16:creationId xmlns:a16="http://schemas.microsoft.com/office/drawing/2014/main" id="{307A81E1-AE97-B48A-90EF-DEF1AFD1157F}"/>
              </a:ext>
            </a:extLst>
          </p:cNvPr>
          <p:cNvSpPr/>
          <p:nvPr/>
        </p:nvSpPr>
        <p:spPr>
          <a:xfrm>
            <a:off x="1356268" y="2831805"/>
            <a:ext cx="3455110" cy="2171905"/>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28600" lvl="0" indent="-228600">
              <a:buClr>
                <a:schemeClr val="accent5"/>
              </a:buClr>
              <a:buFont typeface="+mj-ea"/>
              <a:buAutoNum type="circleNumDbPlain"/>
              <a:defRPr/>
            </a:pPr>
            <a:r>
              <a:rPr lang="ja-JP" altLang="en-US" sz="1100" dirty="0">
                <a:solidFill>
                  <a:schemeClr val="accent5"/>
                </a:solidFill>
                <a:latin typeface="+mn-ea"/>
              </a:rPr>
              <a:t>市場 </a:t>
            </a:r>
            <a:r>
              <a:rPr lang="en-US" altLang="ja-JP" sz="1100" dirty="0">
                <a:solidFill>
                  <a:prstClr val="black"/>
                </a:solidFill>
                <a:latin typeface="+mn-ea"/>
              </a:rPr>
              <a:t>: OHC</a:t>
            </a:r>
            <a:r>
              <a:rPr lang="ja-JP" altLang="en-US" sz="1100" dirty="0">
                <a:solidFill>
                  <a:prstClr val="black"/>
                </a:solidFill>
                <a:latin typeface="+mn-ea"/>
              </a:rPr>
              <a:t>を補充買い </a:t>
            </a:r>
            <a:r>
              <a:rPr lang="en-US" altLang="ja-JP" sz="1100" dirty="0">
                <a:solidFill>
                  <a:prstClr val="black"/>
                </a:solidFill>
                <a:latin typeface="+mn-ea"/>
              </a:rPr>
              <a:t>(</a:t>
            </a:r>
            <a:r>
              <a:rPr lang="ja-JP" altLang="en-US" sz="1100" dirty="0">
                <a:solidFill>
                  <a:prstClr val="black"/>
                </a:solidFill>
                <a:latin typeface="+mn-ea"/>
              </a:rPr>
              <a:t>習慣の定番購買</a:t>
            </a:r>
            <a:r>
              <a:rPr lang="en-US" altLang="ja-JP" sz="1100" dirty="0">
                <a:solidFill>
                  <a:prstClr val="black"/>
                </a:solidFill>
                <a:latin typeface="+mn-ea"/>
              </a:rPr>
              <a:t>)</a:t>
            </a:r>
            <a:r>
              <a:rPr lang="ja-JP" altLang="en-US" sz="1100" dirty="0">
                <a:solidFill>
                  <a:prstClr val="black"/>
                </a:solidFill>
                <a:latin typeface="+mn-ea"/>
              </a:rPr>
              <a:t>、</a:t>
            </a:r>
            <a:br>
              <a:rPr lang="en-US" altLang="ja-JP" sz="1100" dirty="0">
                <a:solidFill>
                  <a:prstClr val="black"/>
                </a:solidFill>
                <a:latin typeface="+mn-ea"/>
              </a:rPr>
            </a:br>
            <a:r>
              <a:rPr lang="ja-JP" altLang="en-US" sz="1100" dirty="0">
                <a:solidFill>
                  <a:prstClr val="black"/>
                </a:solidFill>
                <a:latin typeface="+mn-ea"/>
              </a:rPr>
              <a:t>悩み </a:t>
            </a:r>
            <a:r>
              <a:rPr lang="en-US" altLang="ja-JP" sz="1100" dirty="0">
                <a:solidFill>
                  <a:prstClr val="black"/>
                </a:solidFill>
                <a:latin typeface="+mn-ea"/>
              </a:rPr>
              <a:t>(</a:t>
            </a:r>
            <a:r>
              <a:rPr lang="ja-JP" altLang="en-US" sz="1100" dirty="0">
                <a:solidFill>
                  <a:prstClr val="black"/>
                </a:solidFill>
                <a:latin typeface="+mn-ea"/>
              </a:rPr>
              <a:t>症状をセルフケアで解決</a:t>
            </a:r>
            <a:r>
              <a:rPr lang="en-US" altLang="ja-JP" sz="1100" dirty="0">
                <a:solidFill>
                  <a:prstClr val="black"/>
                </a:solidFill>
                <a:latin typeface="+mn-ea"/>
              </a:rPr>
              <a:t>) </a:t>
            </a:r>
            <a:r>
              <a:rPr lang="ja-JP" altLang="en-US" sz="1100" dirty="0">
                <a:solidFill>
                  <a:prstClr val="black"/>
                </a:solidFill>
                <a:latin typeface="+mn-ea"/>
              </a:rPr>
              <a:t>、予防 </a:t>
            </a:r>
            <a:r>
              <a:rPr lang="en-US" altLang="ja-JP" sz="1100" dirty="0">
                <a:solidFill>
                  <a:prstClr val="black"/>
                </a:solidFill>
                <a:latin typeface="+mn-ea"/>
              </a:rPr>
              <a:t>(</a:t>
            </a:r>
            <a:r>
              <a:rPr lang="ja-JP" altLang="en-US" sz="1100" dirty="0">
                <a:solidFill>
                  <a:prstClr val="black"/>
                </a:solidFill>
                <a:latin typeface="+mn-ea"/>
              </a:rPr>
              <a:t>健診・</a:t>
            </a:r>
            <a:br>
              <a:rPr lang="en-US" altLang="ja-JP" sz="1100" dirty="0">
                <a:solidFill>
                  <a:prstClr val="black"/>
                </a:solidFill>
                <a:latin typeface="+mn-ea"/>
              </a:rPr>
            </a:br>
            <a:r>
              <a:rPr lang="ja-JP" altLang="en-US" sz="1100" dirty="0">
                <a:solidFill>
                  <a:prstClr val="black"/>
                </a:solidFill>
                <a:latin typeface="+mn-ea"/>
              </a:rPr>
              <a:t>啓発が起点</a:t>
            </a:r>
            <a:r>
              <a:rPr lang="en-US" altLang="ja-JP" sz="1100" dirty="0">
                <a:solidFill>
                  <a:prstClr val="black"/>
                </a:solidFill>
                <a:latin typeface="+mn-ea"/>
              </a:rPr>
              <a:t>)</a:t>
            </a:r>
            <a:r>
              <a:rPr lang="ja-JP" altLang="en-US" sz="1100" dirty="0">
                <a:solidFill>
                  <a:prstClr val="black"/>
                </a:solidFill>
                <a:latin typeface="+mn-ea"/>
              </a:rPr>
              <a:t>、口腔機能 </a:t>
            </a:r>
            <a:r>
              <a:rPr lang="en-US" altLang="ja-JP" sz="1100" dirty="0">
                <a:solidFill>
                  <a:prstClr val="black"/>
                </a:solidFill>
                <a:latin typeface="+mn-ea"/>
              </a:rPr>
              <a:t>(</a:t>
            </a:r>
            <a:r>
              <a:rPr lang="ja-JP" altLang="en-US" sz="1100" dirty="0">
                <a:solidFill>
                  <a:prstClr val="black"/>
                </a:solidFill>
                <a:latin typeface="+mn-ea"/>
              </a:rPr>
              <a:t>機能の維持・回復</a:t>
            </a:r>
            <a:r>
              <a:rPr lang="en-US" altLang="ja-JP" sz="1100" dirty="0">
                <a:solidFill>
                  <a:prstClr val="black"/>
                </a:solidFill>
                <a:latin typeface="+mn-ea"/>
              </a:rPr>
              <a:t>) </a:t>
            </a:r>
            <a:r>
              <a:rPr lang="ja-JP" altLang="en-US" sz="1100" dirty="0">
                <a:solidFill>
                  <a:prstClr val="black"/>
                </a:solidFill>
                <a:latin typeface="+mn-ea"/>
              </a:rPr>
              <a:t>に</a:t>
            </a:r>
            <a:br>
              <a:rPr lang="en-US" altLang="ja-JP" sz="1100" dirty="0">
                <a:solidFill>
                  <a:prstClr val="black"/>
                </a:solidFill>
                <a:latin typeface="+mn-ea"/>
              </a:rPr>
            </a:br>
            <a:r>
              <a:rPr lang="ja-JP" altLang="en-US" sz="1100" dirty="0">
                <a:solidFill>
                  <a:prstClr val="black"/>
                </a:solidFill>
                <a:latin typeface="+mn-ea"/>
              </a:rPr>
              <a:t>分け市場ごとに勝ち方と</a:t>
            </a:r>
            <a:r>
              <a:rPr lang="en-US" altLang="ja-JP" sz="1100" dirty="0">
                <a:solidFill>
                  <a:prstClr val="black"/>
                </a:solidFill>
                <a:latin typeface="+mn-ea"/>
              </a:rPr>
              <a:t>KPI</a:t>
            </a:r>
            <a:r>
              <a:rPr lang="ja-JP" altLang="en-US" sz="1100" dirty="0">
                <a:solidFill>
                  <a:prstClr val="black"/>
                </a:solidFill>
                <a:latin typeface="+mn-ea"/>
              </a:rPr>
              <a:t>を決める</a:t>
            </a:r>
            <a:r>
              <a:rPr lang="en-US" altLang="ja-JP" sz="1100" dirty="0">
                <a:solidFill>
                  <a:prstClr val="black"/>
                </a:solidFill>
                <a:latin typeface="+mn-ea"/>
              </a:rPr>
              <a:t>※</a:t>
            </a:r>
            <a:r>
              <a:rPr lang="ja-JP" altLang="en-US" sz="1100" dirty="0">
                <a:solidFill>
                  <a:prstClr val="black"/>
                </a:solidFill>
                <a:latin typeface="+mn-ea"/>
              </a:rPr>
              <a:t>次頁詳細説明</a:t>
            </a:r>
            <a:endParaRPr lang="en-US" altLang="ja-JP" sz="1100" dirty="0">
              <a:solidFill>
                <a:prstClr val="black"/>
              </a:solidFill>
              <a:latin typeface="+mn-ea"/>
            </a:endParaRPr>
          </a:p>
          <a:p>
            <a:pPr marL="228600" lvl="0" indent="-228600">
              <a:buClr>
                <a:schemeClr val="accent5"/>
              </a:buClr>
              <a:buFont typeface="+mj-ea"/>
              <a:buAutoNum type="circleNumDbPlain"/>
              <a:defRPr/>
            </a:pPr>
            <a:r>
              <a:rPr lang="ja-JP" altLang="en-US" sz="1100" dirty="0">
                <a:solidFill>
                  <a:schemeClr val="accent5"/>
                </a:solidFill>
                <a:latin typeface="+mn-ea"/>
              </a:rPr>
              <a:t>接点 </a:t>
            </a:r>
            <a:r>
              <a:rPr lang="en-US" altLang="ja-JP" sz="1100" dirty="0">
                <a:solidFill>
                  <a:prstClr val="black"/>
                </a:solidFill>
                <a:latin typeface="+mn-ea"/>
              </a:rPr>
              <a:t>: </a:t>
            </a:r>
            <a:r>
              <a:rPr lang="ja-JP" altLang="en-US" sz="1100" dirty="0">
                <a:solidFill>
                  <a:prstClr val="black"/>
                </a:solidFill>
                <a:latin typeface="+mn-ea"/>
              </a:rPr>
              <a:t>特売・チラシ中心の販促メニューを、エビデンス商談・診断型売場・</a:t>
            </a:r>
            <a:r>
              <a:rPr lang="en-US" altLang="ja-JP" sz="1100" dirty="0">
                <a:solidFill>
                  <a:prstClr val="black"/>
                </a:solidFill>
                <a:latin typeface="+mn-ea"/>
              </a:rPr>
              <a:t>AI</a:t>
            </a:r>
            <a:r>
              <a:rPr lang="ja-JP" altLang="en-US" sz="1100" dirty="0">
                <a:solidFill>
                  <a:prstClr val="black"/>
                </a:solidFill>
                <a:latin typeface="+mn-ea"/>
              </a:rPr>
              <a:t>推奨対応に入れ替える</a:t>
            </a:r>
            <a:endParaRPr lang="en-US" altLang="ja-JP" sz="1100" dirty="0">
              <a:solidFill>
                <a:prstClr val="black"/>
              </a:solidFill>
              <a:latin typeface="+mn-ea"/>
            </a:endParaRPr>
          </a:p>
          <a:p>
            <a:pPr marL="228600" lvl="0" indent="-228600">
              <a:buClr>
                <a:schemeClr val="accent5"/>
              </a:buClr>
              <a:buFont typeface="+mj-ea"/>
              <a:buAutoNum type="circleNumDbPlain"/>
              <a:defRPr/>
            </a:pPr>
            <a:r>
              <a:rPr lang="ja-JP" altLang="en-US" sz="1100" dirty="0">
                <a:solidFill>
                  <a:prstClr val="black"/>
                </a:solidFill>
                <a:latin typeface="+mn-ea"/>
              </a:rPr>
              <a:t>商談の標準形を同じ販促原資のうち</a:t>
            </a:r>
            <a:r>
              <a:rPr lang="en-US" altLang="ja-JP" sz="1100" dirty="0">
                <a:solidFill>
                  <a:prstClr val="black"/>
                </a:solidFill>
                <a:latin typeface="+mn-ea"/>
              </a:rPr>
              <a:t>9</a:t>
            </a:r>
            <a:r>
              <a:rPr lang="ja-JP" altLang="en-US" sz="1100" dirty="0">
                <a:solidFill>
                  <a:prstClr val="black"/>
                </a:solidFill>
                <a:latin typeface="+mn-ea"/>
              </a:rPr>
              <a:t>割は従来通りの値引き、</a:t>
            </a:r>
            <a:r>
              <a:rPr lang="en-US" altLang="ja-JP" sz="1100" dirty="0">
                <a:solidFill>
                  <a:prstClr val="black"/>
                </a:solidFill>
                <a:latin typeface="+mn-ea"/>
              </a:rPr>
              <a:t>1</a:t>
            </a:r>
            <a:r>
              <a:rPr lang="ja-JP" altLang="en-US" sz="1100" dirty="0">
                <a:solidFill>
                  <a:prstClr val="black"/>
                </a:solidFill>
                <a:latin typeface="+mn-ea"/>
              </a:rPr>
              <a:t>割を売場・メディア等の施策に振替え、効果は小売データで共同検証。目標達成なら小売へ還元し翌期は施策比率を拡大、未達なら値引きに戻す</a:t>
            </a:r>
          </a:p>
          <a:p>
            <a:pPr marL="171450" lvl="0" indent="-171450">
              <a:buClr>
                <a:schemeClr val="accent5"/>
              </a:buClr>
              <a:buFont typeface="Yu Gothic UI" panose="020B0500000000000000" pitchFamily="50" charset="-128"/>
              <a:buChar char="▶"/>
              <a:defRPr/>
            </a:pPr>
            <a:r>
              <a:rPr lang="ja-JP" altLang="en-US" sz="1100" dirty="0">
                <a:solidFill>
                  <a:schemeClr val="accent5"/>
                </a:solidFill>
                <a:latin typeface="+mn-ea"/>
              </a:rPr>
              <a:t>同じ予算のまま、値引きに消えていたお金が検証可能</a:t>
            </a:r>
            <a:br>
              <a:rPr lang="en-US" altLang="ja-JP" sz="1100" dirty="0">
                <a:solidFill>
                  <a:schemeClr val="accent5"/>
                </a:solidFill>
                <a:latin typeface="+mn-ea"/>
              </a:rPr>
            </a:br>
            <a:r>
              <a:rPr lang="ja-JP" altLang="en-US" sz="1100" dirty="0">
                <a:solidFill>
                  <a:schemeClr val="accent5"/>
                </a:solidFill>
                <a:latin typeface="+mn-ea"/>
              </a:rPr>
              <a:t>な施策に回る</a:t>
            </a:r>
          </a:p>
        </p:txBody>
      </p:sp>
      <p:sp>
        <p:nvSpPr>
          <p:cNvPr id="16" name="正方形/長方形 15">
            <a:extLst>
              <a:ext uri="{FF2B5EF4-FFF2-40B4-BE49-F238E27FC236}">
                <a16:creationId xmlns:a16="http://schemas.microsoft.com/office/drawing/2014/main" id="{8BB981D5-A290-C8DB-BD7E-005C52F65EF8}"/>
              </a:ext>
            </a:extLst>
          </p:cNvPr>
          <p:cNvSpPr/>
          <p:nvPr/>
        </p:nvSpPr>
        <p:spPr>
          <a:xfrm>
            <a:off x="4875298" y="2831805"/>
            <a:ext cx="3455110" cy="2171905"/>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228600" lvl="0" indent="-228600">
              <a:spcAft>
                <a:spcPts val="300"/>
              </a:spcAft>
              <a:buClr>
                <a:schemeClr val="accent5"/>
              </a:buClr>
              <a:buFont typeface="+mj-ea"/>
              <a:buAutoNum type="circleNumDbPlain"/>
              <a:defRPr/>
            </a:pPr>
            <a:r>
              <a:rPr lang="ja-JP" altLang="en-US" sz="1100" dirty="0">
                <a:solidFill>
                  <a:schemeClr val="tx1"/>
                </a:solidFill>
                <a:latin typeface="+mn-ea"/>
              </a:rPr>
              <a:t>臨床データ</a:t>
            </a:r>
            <a:br>
              <a:rPr lang="en-US" altLang="ja-JP" sz="1100" dirty="0">
                <a:solidFill>
                  <a:schemeClr val="tx1"/>
                </a:solidFill>
                <a:latin typeface="+mn-ea"/>
              </a:rPr>
            </a:br>
            <a:r>
              <a:rPr lang="ja-JP" altLang="en-US" sz="1100" dirty="0">
                <a:solidFill>
                  <a:schemeClr val="tx1"/>
                </a:solidFill>
                <a:latin typeface="+mn-ea"/>
              </a:rPr>
              <a:t>→「この提案で棚の利益が何</a:t>
            </a:r>
            <a:r>
              <a:rPr lang="en-US" altLang="ja-JP" sz="1100" dirty="0">
                <a:solidFill>
                  <a:schemeClr val="tx1"/>
                </a:solidFill>
                <a:latin typeface="+mn-ea"/>
              </a:rPr>
              <a:t>%</a:t>
            </a:r>
            <a:r>
              <a:rPr lang="ja-JP" altLang="en-US" sz="1100" dirty="0">
                <a:solidFill>
                  <a:schemeClr val="tx1"/>
                </a:solidFill>
                <a:latin typeface="+mn-ea"/>
              </a:rPr>
              <a:t>上がるか」の</a:t>
            </a:r>
            <a:br>
              <a:rPr lang="en-US" altLang="ja-JP" sz="1100" dirty="0">
                <a:solidFill>
                  <a:schemeClr val="tx1"/>
                </a:solidFill>
                <a:latin typeface="+mn-ea"/>
              </a:rPr>
            </a:br>
            <a:r>
              <a:rPr lang="ja-JP" altLang="en-US" sz="1100" dirty="0">
                <a:solidFill>
                  <a:schemeClr val="tx1"/>
                </a:solidFill>
                <a:latin typeface="+mn-ea"/>
              </a:rPr>
              <a:t>バイヤー向け数値に自動変換 </a:t>
            </a:r>
            <a:r>
              <a:rPr lang="en-US" altLang="ja-JP" sz="1100" dirty="0">
                <a:solidFill>
                  <a:schemeClr val="tx1"/>
                </a:solidFill>
                <a:latin typeface="+mn-ea"/>
              </a:rPr>
              <a:t>(C1) </a:t>
            </a:r>
            <a:endParaRPr lang="ja-JP" altLang="en-US" sz="1100" dirty="0">
              <a:solidFill>
                <a:schemeClr val="tx1"/>
              </a:solidFill>
              <a:latin typeface="+mn-ea"/>
            </a:endParaRPr>
          </a:p>
          <a:p>
            <a:pPr marL="228600" lvl="0" indent="-228600">
              <a:spcAft>
                <a:spcPts val="300"/>
              </a:spcAft>
              <a:buClr>
                <a:schemeClr val="accent5"/>
              </a:buClr>
              <a:buFont typeface="+mj-ea"/>
              <a:buAutoNum type="circleNumDbPlain"/>
              <a:defRPr/>
            </a:pPr>
            <a:r>
              <a:rPr lang="ja-JP" altLang="en-US" sz="1100" dirty="0">
                <a:solidFill>
                  <a:schemeClr val="tx1"/>
                </a:solidFill>
                <a:latin typeface="+mn-ea"/>
              </a:rPr>
              <a:t>製品属性データ</a:t>
            </a:r>
            <a:br>
              <a:rPr lang="en-US" altLang="ja-JP" sz="1100" dirty="0">
                <a:solidFill>
                  <a:schemeClr val="tx1"/>
                </a:solidFill>
                <a:latin typeface="+mn-ea"/>
              </a:rPr>
            </a:br>
            <a:r>
              <a:rPr lang="ja-JP" altLang="en-US" sz="1100" dirty="0">
                <a:solidFill>
                  <a:schemeClr val="tx1"/>
                </a:solidFill>
                <a:latin typeface="+mn-ea"/>
              </a:rPr>
              <a:t>→</a:t>
            </a:r>
            <a:r>
              <a:rPr lang="en-US" altLang="ja-JP" sz="1100" dirty="0">
                <a:solidFill>
                  <a:schemeClr val="tx1"/>
                </a:solidFill>
                <a:latin typeface="+mn-ea"/>
              </a:rPr>
              <a:t>AI</a:t>
            </a:r>
            <a:r>
              <a:rPr lang="ja-JP" altLang="en-US" sz="1100" dirty="0">
                <a:solidFill>
                  <a:schemeClr val="tx1"/>
                </a:solidFill>
                <a:latin typeface="+mn-ea"/>
              </a:rPr>
              <a:t>自動補充が読める形式で</a:t>
            </a:r>
            <a:r>
              <a:rPr lang="en-US" altLang="ja-JP" sz="1100" dirty="0">
                <a:solidFill>
                  <a:schemeClr val="tx1"/>
                </a:solidFill>
                <a:latin typeface="+mn-ea"/>
              </a:rPr>
              <a:t>API</a:t>
            </a:r>
            <a:r>
              <a:rPr lang="ja-JP" altLang="en-US" sz="1100" dirty="0">
                <a:solidFill>
                  <a:schemeClr val="tx1"/>
                </a:solidFill>
                <a:latin typeface="+mn-ea"/>
              </a:rPr>
              <a:t>公開し、</a:t>
            </a:r>
            <a:br>
              <a:rPr lang="en-US" altLang="ja-JP" sz="1100" dirty="0">
                <a:solidFill>
                  <a:schemeClr val="tx1"/>
                </a:solidFill>
                <a:latin typeface="+mn-ea"/>
              </a:rPr>
            </a:br>
            <a:r>
              <a:rPr lang="en-US" altLang="ja-JP" sz="1100" dirty="0">
                <a:solidFill>
                  <a:schemeClr val="tx1"/>
                </a:solidFill>
                <a:latin typeface="+mn-ea"/>
              </a:rPr>
              <a:t>AI</a:t>
            </a:r>
            <a:r>
              <a:rPr lang="ja-JP" altLang="en-US" sz="1100" dirty="0">
                <a:solidFill>
                  <a:schemeClr val="tx1"/>
                </a:solidFill>
                <a:latin typeface="+mn-ea"/>
              </a:rPr>
              <a:t>推奨リストに載せる </a:t>
            </a:r>
            <a:r>
              <a:rPr lang="en-US" altLang="ja-JP" sz="1100" dirty="0">
                <a:solidFill>
                  <a:schemeClr val="tx1"/>
                </a:solidFill>
                <a:latin typeface="+mn-ea"/>
              </a:rPr>
              <a:t>(A1) </a:t>
            </a:r>
            <a:endParaRPr lang="ja-JP" altLang="en-US" sz="1100" dirty="0">
              <a:solidFill>
                <a:schemeClr val="tx1"/>
              </a:solidFill>
              <a:latin typeface="+mn-ea"/>
            </a:endParaRPr>
          </a:p>
          <a:p>
            <a:pPr marL="228600" lvl="0" indent="-228600">
              <a:spcAft>
                <a:spcPts val="300"/>
              </a:spcAft>
              <a:buClr>
                <a:schemeClr val="accent5"/>
              </a:buClr>
              <a:buFont typeface="+mj-ea"/>
              <a:buAutoNum type="circleNumDbPlain"/>
              <a:defRPr/>
            </a:pPr>
            <a:r>
              <a:rPr lang="ja-JP" altLang="en-US" sz="1100" dirty="0">
                <a:solidFill>
                  <a:schemeClr val="tx1"/>
                </a:solidFill>
                <a:latin typeface="+mn-ea"/>
              </a:rPr>
              <a:t>学校・自治体ルートをデジタル接点化 </a:t>
            </a:r>
            <a:r>
              <a:rPr lang="en-US" altLang="ja-JP" sz="1100" dirty="0">
                <a:solidFill>
                  <a:schemeClr val="tx1"/>
                </a:solidFill>
                <a:latin typeface="+mn-ea"/>
              </a:rPr>
              <a:t>(A2)</a:t>
            </a:r>
            <a:endParaRPr lang="ja-JP" altLang="en-US" sz="1100" dirty="0">
              <a:solidFill>
                <a:schemeClr val="tx1"/>
              </a:solidFill>
              <a:latin typeface="+mn-ea"/>
            </a:endParaRPr>
          </a:p>
          <a:p>
            <a:pPr marL="171450" lvl="0" indent="-171450">
              <a:spcAft>
                <a:spcPts val="300"/>
              </a:spcAft>
              <a:buClr>
                <a:schemeClr val="accent5"/>
              </a:buClr>
              <a:buFont typeface="Yu Gothic UI" panose="020B0500000000000000" pitchFamily="50" charset="-128"/>
              <a:buChar char="▶"/>
              <a:defRPr/>
            </a:pPr>
            <a:r>
              <a:rPr lang="ja-JP" altLang="en-US" sz="1100" dirty="0">
                <a:solidFill>
                  <a:schemeClr val="accent5"/>
                </a:solidFill>
                <a:latin typeface="+mn-ea"/>
              </a:rPr>
              <a:t>営業が値引き以外の提案を持って商談に</a:t>
            </a:r>
            <a:br>
              <a:rPr lang="en-US" altLang="ja-JP" sz="1100" dirty="0">
                <a:solidFill>
                  <a:schemeClr val="accent5"/>
                </a:solidFill>
                <a:latin typeface="+mn-ea"/>
              </a:rPr>
            </a:br>
            <a:r>
              <a:rPr lang="ja-JP" altLang="en-US" sz="1100" dirty="0">
                <a:solidFill>
                  <a:schemeClr val="accent5"/>
                </a:solidFill>
                <a:latin typeface="+mn-ea"/>
              </a:rPr>
              <a:t>行ける </a:t>
            </a:r>
            <a:r>
              <a:rPr lang="en-US" altLang="ja-JP" sz="1100" dirty="0">
                <a:solidFill>
                  <a:schemeClr val="accent5"/>
                </a:solidFill>
                <a:latin typeface="+mn-ea"/>
              </a:rPr>
              <a:t>(</a:t>
            </a:r>
            <a:r>
              <a:rPr lang="ja-JP" altLang="en-US" sz="1100" dirty="0">
                <a:solidFill>
                  <a:schemeClr val="accent5"/>
                </a:solidFill>
                <a:latin typeface="+mn-ea"/>
              </a:rPr>
              <a:t>完了条件は「作った」でなく「商談で使われた」</a:t>
            </a:r>
            <a:r>
              <a:rPr lang="en-US" altLang="ja-JP" sz="1100" dirty="0">
                <a:solidFill>
                  <a:schemeClr val="accent5"/>
                </a:solidFill>
                <a:latin typeface="+mn-ea"/>
              </a:rPr>
              <a:t>) </a:t>
            </a:r>
            <a:endParaRPr lang="ja-JP" altLang="en-US" sz="1100" dirty="0">
              <a:solidFill>
                <a:schemeClr val="accent5"/>
              </a:solidFill>
              <a:latin typeface="+mn-ea"/>
            </a:endParaRPr>
          </a:p>
        </p:txBody>
      </p:sp>
      <p:sp>
        <p:nvSpPr>
          <p:cNvPr id="18" name="正方形/長方形 17">
            <a:extLst>
              <a:ext uri="{FF2B5EF4-FFF2-40B4-BE49-F238E27FC236}">
                <a16:creationId xmlns:a16="http://schemas.microsoft.com/office/drawing/2014/main" id="{DBA2B06F-7F0D-60C3-9928-A2264FF8CCD3}"/>
              </a:ext>
            </a:extLst>
          </p:cNvPr>
          <p:cNvSpPr/>
          <p:nvPr/>
        </p:nvSpPr>
        <p:spPr>
          <a:xfrm>
            <a:off x="8394327" y="2831805"/>
            <a:ext cx="3455109" cy="2171905"/>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228600" lvl="0" indent="-228600">
              <a:spcAft>
                <a:spcPts val="300"/>
              </a:spcAft>
              <a:buClr>
                <a:schemeClr val="accent5"/>
              </a:buClr>
              <a:buFont typeface="+mj-ea"/>
              <a:buAutoNum type="circleNumDbPlain"/>
              <a:defRPr/>
            </a:pPr>
            <a:r>
              <a:rPr lang="ja-JP" altLang="en-US" sz="1100" dirty="0">
                <a:solidFill>
                  <a:schemeClr val="tx1"/>
                </a:solidFill>
                <a:latin typeface="+mn-ea"/>
              </a:rPr>
              <a:t>投資と店頭売上の因果を測る効果測定の仕組みを先に作る </a:t>
            </a:r>
            <a:r>
              <a:rPr lang="en-US" altLang="ja-JP" sz="1100" dirty="0">
                <a:solidFill>
                  <a:schemeClr val="tx1"/>
                </a:solidFill>
                <a:latin typeface="+mn-ea"/>
              </a:rPr>
              <a:t>(B1 MMM×DCR) </a:t>
            </a:r>
            <a:endParaRPr lang="ja-JP" altLang="en-US" sz="1100" dirty="0">
              <a:solidFill>
                <a:schemeClr val="tx1"/>
              </a:solidFill>
              <a:latin typeface="+mn-ea"/>
            </a:endParaRPr>
          </a:p>
          <a:p>
            <a:pPr marL="228600" lvl="0" indent="-228600">
              <a:spcAft>
                <a:spcPts val="300"/>
              </a:spcAft>
              <a:buClr>
                <a:schemeClr val="accent5"/>
              </a:buClr>
              <a:buFont typeface="+mj-ea"/>
              <a:buAutoNum type="circleNumDbPlain"/>
              <a:defRPr/>
            </a:pPr>
            <a:r>
              <a:rPr lang="ja-JP" altLang="en-US" sz="1100" dirty="0">
                <a:solidFill>
                  <a:schemeClr val="tx1"/>
                </a:solidFill>
                <a:latin typeface="+mn-ea"/>
              </a:rPr>
              <a:t>実験にあてる時間は事務作業の自動化で捻出する </a:t>
            </a:r>
            <a:r>
              <a:rPr lang="en-US" altLang="ja-JP" sz="1100" dirty="0">
                <a:solidFill>
                  <a:schemeClr val="tx1"/>
                </a:solidFill>
                <a:latin typeface="+mn-ea"/>
              </a:rPr>
              <a:t>(D1) </a:t>
            </a:r>
            <a:endParaRPr lang="ja-JP" altLang="en-US" sz="1100" dirty="0">
              <a:solidFill>
                <a:schemeClr val="tx1"/>
              </a:solidFill>
              <a:latin typeface="+mn-ea"/>
            </a:endParaRPr>
          </a:p>
          <a:p>
            <a:pPr marL="228600" lvl="0" indent="-228600">
              <a:spcAft>
                <a:spcPts val="300"/>
              </a:spcAft>
              <a:buClr>
                <a:schemeClr val="accent5"/>
              </a:buClr>
              <a:buFont typeface="+mj-ea"/>
              <a:buAutoNum type="circleNumDbPlain"/>
              <a:defRPr/>
            </a:pPr>
            <a:r>
              <a:rPr lang="ja-JP" altLang="en-US" sz="1100" dirty="0">
                <a:solidFill>
                  <a:schemeClr val="tx1"/>
                </a:solidFill>
                <a:latin typeface="+mn-ea"/>
              </a:rPr>
              <a:t>成功は手順書にして隣の小売・カテゴリへ広げ、失敗は撤退基準で止める </a:t>
            </a:r>
            <a:r>
              <a:rPr lang="en-US" altLang="ja-JP" sz="1100" dirty="0">
                <a:solidFill>
                  <a:schemeClr val="tx1"/>
                </a:solidFill>
                <a:latin typeface="+mn-ea"/>
              </a:rPr>
              <a:t>(D2</a:t>
            </a:r>
            <a:r>
              <a:rPr lang="ja-JP" altLang="en-US" sz="1100" dirty="0">
                <a:solidFill>
                  <a:schemeClr val="tx1"/>
                </a:solidFill>
                <a:latin typeface="+mn-ea"/>
              </a:rPr>
              <a:t>の組織対組織体制で</a:t>
            </a:r>
            <a:br>
              <a:rPr lang="en-US" altLang="ja-JP" sz="1100" dirty="0">
                <a:solidFill>
                  <a:schemeClr val="tx1"/>
                </a:solidFill>
                <a:latin typeface="+mn-ea"/>
              </a:rPr>
            </a:br>
            <a:r>
              <a:rPr lang="ja-JP" altLang="en-US" sz="1100" dirty="0">
                <a:solidFill>
                  <a:schemeClr val="tx1"/>
                </a:solidFill>
                <a:latin typeface="+mn-ea"/>
              </a:rPr>
              <a:t>拡大</a:t>
            </a:r>
            <a:r>
              <a:rPr lang="en-US" altLang="ja-JP" sz="1100" dirty="0">
                <a:solidFill>
                  <a:schemeClr val="tx1"/>
                </a:solidFill>
                <a:latin typeface="+mn-ea"/>
              </a:rPr>
              <a:t>) </a:t>
            </a:r>
            <a:endParaRPr lang="ja-JP" altLang="en-US" sz="1100" dirty="0">
              <a:solidFill>
                <a:schemeClr val="tx1"/>
              </a:solidFill>
              <a:latin typeface="+mn-ea"/>
            </a:endParaRPr>
          </a:p>
          <a:p>
            <a:pPr marL="171450" lvl="0" indent="-171450">
              <a:spcAft>
                <a:spcPts val="300"/>
              </a:spcAft>
              <a:buClr>
                <a:schemeClr val="accent5"/>
              </a:buClr>
              <a:buFont typeface="Yu Gothic UI" panose="020B0500000000000000" pitchFamily="50" charset="-128"/>
              <a:buChar char="▶"/>
              <a:defRPr/>
            </a:pPr>
            <a:r>
              <a:rPr lang="ja-JP" altLang="en-US" sz="1100" dirty="0">
                <a:solidFill>
                  <a:schemeClr val="accent5"/>
                </a:solidFill>
                <a:latin typeface="+mn-ea"/>
              </a:rPr>
              <a:t>一発勝負の大型投資がなくなり、検証済みの施策</a:t>
            </a:r>
            <a:br>
              <a:rPr lang="en-US" altLang="ja-JP" sz="1100" dirty="0">
                <a:solidFill>
                  <a:schemeClr val="accent5"/>
                </a:solidFill>
                <a:latin typeface="+mn-ea"/>
              </a:rPr>
            </a:br>
            <a:r>
              <a:rPr lang="ja-JP" altLang="en-US" sz="1100" dirty="0">
                <a:solidFill>
                  <a:schemeClr val="accent5"/>
                </a:solidFill>
                <a:latin typeface="+mn-ea"/>
              </a:rPr>
              <a:t>だけが広がる</a:t>
            </a:r>
          </a:p>
        </p:txBody>
      </p:sp>
      <p:grpSp>
        <p:nvGrpSpPr>
          <p:cNvPr id="6" name="グループ化 5">
            <a:extLst>
              <a:ext uri="{FF2B5EF4-FFF2-40B4-BE49-F238E27FC236}">
                <a16:creationId xmlns:a16="http://schemas.microsoft.com/office/drawing/2014/main" id="{8AB971F4-0906-9188-0583-783BA3BC3E13}"/>
              </a:ext>
            </a:extLst>
          </p:cNvPr>
          <p:cNvGrpSpPr/>
          <p:nvPr/>
        </p:nvGrpSpPr>
        <p:grpSpPr>
          <a:xfrm>
            <a:off x="334963" y="5123379"/>
            <a:ext cx="11514474" cy="933032"/>
            <a:chOff x="334963" y="5123379"/>
            <a:chExt cx="11514474" cy="1194062"/>
          </a:xfrm>
        </p:grpSpPr>
        <p:sp>
          <p:nvSpPr>
            <p:cNvPr id="12" name="正方形/長方形 11">
              <a:extLst>
                <a:ext uri="{FF2B5EF4-FFF2-40B4-BE49-F238E27FC236}">
                  <a16:creationId xmlns:a16="http://schemas.microsoft.com/office/drawing/2014/main" id="{CF05A527-ACEA-B528-50A5-3A57C9E56015}"/>
                </a:ext>
              </a:extLst>
            </p:cNvPr>
            <p:cNvSpPr/>
            <p:nvPr/>
          </p:nvSpPr>
          <p:spPr>
            <a:xfrm>
              <a:off x="334963" y="5123379"/>
              <a:ext cx="957389" cy="1194061"/>
            </a:xfrm>
            <a:prstGeom prst="rect">
              <a:avLst/>
            </a:prstGeom>
            <a:solidFill>
              <a:srgbClr val="008D2E">
                <a:alpha val="30196"/>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tx1"/>
                  </a:solidFill>
                  <a:latin typeface="+mn-ea"/>
                </a:rPr>
                <a:t>対応する</a:t>
              </a:r>
              <a:br>
                <a:rPr lang="en-US" altLang="ja-JP" sz="1400" dirty="0">
                  <a:solidFill>
                    <a:schemeClr val="tx1"/>
                  </a:solidFill>
                  <a:latin typeface="+mn-ea"/>
                </a:rPr>
              </a:br>
              <a:r>
                <a:rPr lang="ja-JP" altLang="en-US" sz="1400" dirty="0">
                  <a:solidFill>
                    <a:schemeClr val="tx1"/>
                  </a:solidFill>
                  <a:latin typeface="+mn-ea"/>
                </a:rPr>
                <a:t>重点施策</a:t>
              </a:r>
            </a:p>
          </p:txBody>
        </p:sp>
        <p:sp>
          <p:nvSpPr>
            <p:cNvPr id="20" name="正方形/長方形 19">
              <a:extLst>
                <a:ext uri="{FF2B5EF4-FFF2-40B4-BE49-F238E27FC236}">
                  <a16:creationId xmlns:a16="http://schemas.microsoft.com/office/drawing/2014/main" id="{24DC8D24-5AE4-48B6-5A0F-75A2A9081490}"/>
                </a:ext>
              </a:extLst>
            </p:cNvPr>
            <p:cNvSpPr/>
            <p:nvPr/>
          </p:nvSpPr>
          <p:spPr>
            <a:xfrm>
              <a:off x="1356268" y="5123379"/>
              <a:ext cx="605349" cy="364154"/>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400" dirty="0">
                  <a:solidFill>
                    <a:srgbClr val="008D2E"/>
                  </a:solidFill>
                  <a:latin typeface="+mn-ea"/>
                </a:rPr>
                <a:t>C2</a:t>
              </a:r>
            </a:p>
          </p:txBody>
        </p:sp>
        <p:sp>
          <p:nvSpPr>
            <p:cNvPr id="21" name="正方形/長方形 20">
              <a:extLst>
                <a:ext uri="{FF2B5EF4-FFF2-40B4-BE49-F238E27FC236}">
                  <a16:creationId xmlns:a16="http://schemas.microsoft.com/office/drawing/2014/main" id="{29DA884F-C9ED-FE98-4A6E-952F809FACED}"/>
                </a:ext>
              </a:extLst>
            </p:cNvPr>
            <p:cNvSpPr/>
            <p:nvPr/>
          </p:nvSpPr>
          <p:spPr>
            <a:xfrm>
              <a:off x="1356268" y="5538332"/>
              <a:ext cx="605349" cy="364154"/>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400" dirty="0">
                  <a:solidFill>
                    <a:srgbClr val="008D2E"/>
                  </a:solidFill>
                  <a:latin typeface="+mn-ea"/>
                </a:rPr>
                <a:t>B2</a:t>
              </a:r>
            </a:p>
          </p:txBody>
        </p:sp>
        <p:sp>
          <p:nvSpPr>
            <p:cNvPr id="23" name="正方形/長方形 22">
              <a:extLst>
                <a:ext uri="{FF2B5EF4-FFF2-40B4-BE49-F238E27FC236}">
                  <a16:creationId xmlns:a16="http://schemas.microsoft.com/office/drawing/2014/main" id="{1F66CF32-0552-89F3-2558-D892A77D057E}"/>
                </a:ext>
              </a:extLst>
            </p:cNvPr>
            <p:cNvSpPr/>
            <p:nvPr/>
          </p:nvSpPr>
          <p:spPr>
            <a:xfrm>
              <a:off x="1961617" y="5123379"/>
              <a:ext cx="2849761" cy="364154"/>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ja-JP" altLang="en-US" sz="1000" dirty="0">
                  <a:solidFill>
                    <a:schemeClr val="accent5"/>
                  </a:solidFill>
                  <a:latin typeface="+mn-ea"/>
                </a:rPr>
                <a:t>成功した商談を型にして、誰でも再現できるようにする</a:t>
              </a:r>
              <a:br>
                <a:rPr lang="en-US" altLang="ja-JP" sz="1000" dirty="0">
                  <a:solidFill>
                    <a:schemeClr val="accent5"/>
                  </a:solidFill>
                  <a:latin typeface="+mn-ea"/>
                </a:rPr>
              </a:br>
              <a:r>
                <a:rPr lang="ja-JP" altLang="en-US" sz="1000" dirty="0">
                  <a:solidFill>
                    <a:schemeClr val="tx1"/>
                  </a:solidFill>
                  <a:latin typeface="+mn-ea"/>
                </a:rPr>
                <a:t>＝ロジック提案の標準化</a:t>
              </a:r>
            </a:p>
          </p:txBody>
        </p:sp>
        <p:sp>
          <p:nvSpPr>
            <p:cNvPr id="25" name="正方形/長方形 24">
              <a:extLst>
                <a:ext uri="{FF2B5EF4-FFF2-40B4-BE49-F238E27FC236}">
                  <a16:creationId xmlns:a16="http://schemas.microsoft.com/office/drawing/2014/main" id="{AA456AEA-2689-BD33-FB36-FD0001A53033}"/>
                </a:ext>
              </a:extLst>
            </p:cNvPr>
            <p:cNvSpPr/>
            <p:nvPr/>
          </p:nvSpPr>
          <p:spPr>
            <a:xfrm>
              <a:off x="1961617" y="5538332"/>
              <a:ext cx="2849761" cy="364154"/>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ja-JP" altLang="en-US" sz="1000" dirty="0">
                  <a:solidFill>
                    <a:schemeClr val="accent5"/>
                  </a:solidFill>
                  <a:latin typeface="+mn-ea"/>
                </a:rPr>
                <a:t>小売アプリ・サイト広告の運用を内製化</a:t>
              </a:r>
              <a:br>
                <a:rPr lang="en-US" altLang="ja-JP" sz="1000" dirty="0">
                  <a:solidFill>
                    <a:schemeClr val="accent5"/>
                  </a:solidFill>
                  <a:latin typeface="+mn-ea"/>
                </a:rPr>
              </a:br>
              <a:r>
                <a:rPr lang="ja-JP" altLang="en-US" sz="1000" dirty="0">
                  <a:solidFill>
                    <a:schemeClr val="tx1"/>
                  </a:solidFill>
                  <a:latin typeface="+mn-ea"/>
                </a:rPr>
                <a:t>＝リテールメディア投資の内製化</a:t>
              </a:r>
            </a:p>
          </p:txBody>
        </p:sp>
        <p:sp>
          <p:nvSpPr>
            <p:cNvPr id="27" name="正方形/長方形 26">
              <a:extLst>
                <a:ext uri="{FF2B5EF4-FFF2-40B4-BE49-F238E27FC236}">
                  <a16:creationId xmlns:a16="http://schemas.microsoft.com/office/drawing/2014/main" id="{FC9BD726-DF08-491F-B455-BF9DDCD124A3}"/>
                </a:ext>
              </a:extLst>
            </p:cNvPr>
            <p:cNvSpPr/>
            <p:nvPr/>
          </p:nvSpPr>
          <p:spPr>
            <a:xfrm>
              <a:off x="4875298" y="5123379"/>
              <a:ext cx="605349" cy="364154"/>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400" dirty="0">
                  <a:solidFill>
                    <a:srgbClr val="008D2E"/>
                  </a:solidFill>
                  <a:latin typeface="+mn-ea"/>
                </a:rPr>
                <a:t>C1★</a:t>
              </a:r>
            </a:p>
          </p:txBody>
        </p:sp>
        <p:sp>
          <p:nvSpPr>
            <p:cNvPr id="85" name="正方形/長方形 26">
              <a:extLst>
                <a:ext uri="{FF2B5EF4-FFF2-40B4-BE49-F238E27FC236}">
                  <a16:creationId xmlns:a16="http://schemas.microsoft.com/office/drawing/2014/main" id="{FC9BD726-DF08-491F-B455-BF9DDCD124A3}"/>
                </a:ext>
              </a:extLst>
            </p:cNvPr>
            <p:cNvSpPr/>
            <p:nvPr/>
          </p:nvSpPr>
          <p:spPr>
            <a:xfrm>
              <a:off x="4875298" y="5538333"/>
              <a:ext cx="605349" cy="364154"/>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400" dirty="0">
                  <a:solidFill>
                    <a:srgbClr val="008D2E"/>
                  </a:solidFill>
                  <a:latin typeface="+mn-ea"/>
                </a:rPr>
                <a:t>A1★</a:t>
              </a:r>
            </a:p>
          </p:txBody>
        </p:sp>
        <p:sp>
          <p:nvSpPr>
            <p:cNvPr id="86" name="正方形/長方形 26">
              <a:extLst>
                <a:ext uri="{FF2B5EF4-FFF2-40B4-BE49-F238E27FC236}">
                  <a16:creationId xmlns:a16="http://schemas.microsoft.com/office/drawing/2014/main" id="{FC9BD726-DF08-491F-B455-BF9DDCD124A3}"/>
                </a:ext>
              </a:extLst>
            </p:cNvPr>
            <p:cNvSpPr/>
            <p:nvPr/>
          </p:nvSpPr>
          <p:spPr>
            <a:xfrm>
              <a:off x="4875298" y="5953287"/>
              <a:ext cx="605349" cy="364154"/>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400" dirty="0">
                  <a:solidFill>
                    <a:srgbClr val="008D2E"/>
                  </a:solidFill>
                  <a:latin typeface="+mn-ea"/>
                </a:rPr>
                <a:t>A2</a:t>
              </a:r>
            </a:p>
          </p:txBody>
        </p:sp>
        <p:sp>
          <p:nvSpPr>
            <p:cNvPr id="17" name="正方形/長方形 16">
              <a:extLst>
                <a:ext uri="{FF2B5EF4-FFF2-40B4-BE49-F238E27FC236}">
                  <a16:creationId xmlns:a16="http://schemas.microsoft.com/office/drawing/2014/main" id="{1FE7D058-9892-16E2-54FF-851DA35B4572}"/>
                </a:ext>
              </a:extLst>
            </p:cNvPr>
            <p:cNvSpPr/>
            <p:nvPr/>
          </p:nvSpPr>
          <p:spPr>
            <a:xfrm>
              <a:off x="5480647" y="5123379"/>
              <a:ext cx="2849761" cy="364154"/>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ja-JP" altLang="en-US" sz="1000" dirty="0">
                  <a:solidFill>
                    <a:schemeClr val="accent5"/>
                  </a:solidFill>
                  <a:latin typeface="+mn-ea"/>
                </a:rPr>
                <a:t>研究・臨床データを、商談で使える数字に自動変換</a:t>
              </a:r>
              <a:br>
                <a:rPr lang="en-US" altLang="ja-JP" sz="1000" dirty="0">
                  <a:solidFill>
                    <a:schemeClr val="accent5"/>
                  </a:solidFill>
                  <a:latin typeface="+mn-ea"/>
                </a:rPr>
              </a:br>
              <a:r>
                <a:rPr lang="ja-JP" altLang="en-US" sz="1000" dirty="0">
                  <a:solidFill>
                    <a:schemeClr val="accent5"/>
                  </a:solidFill>
                  <a:latin typeface="+mn-ea"/>
                </a:rPr>
                <a:t>する</a:t>
              </a:r>
              <a:r>
                <a:rPr lang="ja-JP" altLang="en-US" sz="1000" dirty="0">
                  <a:solidFill>
                    <a:schemeClr val="tx1"/>
                  </a:solidFill>
                  <a:latin typeface="+mn-ea"/>
                </a:rPr>
                <a:t>＝臨床データの</a:t>
              </a:r>
              <a:r>
                <a:rPr lang="en-US" altLang="ja-JP" sz="1000" dirty="0">
                  <a:solidFill>
                    <a:schemeClr val="tx1"/>
                  </a:solidFill>
                  <a:latin typeface="+mn-ea"/>
                </a:rPr>
                <a:t>LTV</a:t>
              </a:r>
              <a:r>
                <a:rPr lang="ja-JP" altLang="en-US" sz="1000" dirty="0">
                  <a:solidFill>
                    <a:schemeClr val="tx1"/>
                  </a:solidFill>
                  <a:latin typeface="+mn-ea"/>
                </a:rPr>
                <a:t>・炭素効率変換</a:t>
              </a:r>
            </a:p>
          </p:txBody>
        </p:sp>
        <p:sp>
          <p:nvSpPr>
            <p:cNvPr id="22" name="正方形/長方形 21">
              <a:extLst>
                <a:ext uri="{FF2B5EF4-FFF2-40B4-BE49-F238E27FC236}">
                  <a16:creationId xmlns:a16="http://schemas.microsoft.com/office/drawing/2014/main" id="{CFAA8055-933A-E527-AEF3-189A72556CCA}"/>
                </a:ext>
              </a:extLst>
            </p:cNvPr>
            <p:cNvSpPr/>
            <p:nvPr/>
          </p:nvSpPr>
          <p:spPr>
            <a:xfrm>
              <a:off x="5480647" y="5538332"/>
              <a:ext cx="2849761" cy="364154"/>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ja-JP" altLang="en-US" sz="1000" dirty="0">
                  <a:solidFill>
                    <a:schemeClr val="accent5"/>
                  </a:solidFill>
                  <a:latin typeface="+mn-ea"/>
                </a:rPr>
                <a:t>商品データを</a:t>
              </a:r>
              <a:r>
                <a:rPr lang="en-US" altLang="ja-JP" sz="1000" dirty="0">
                  <a:solidFill>
                    <a:schemeClr val="accent5"/>
                  </a:solidFill>
                  <a:latin typeface="+mn-ea"/>
                </a:rPr>
                <a:t>AI</a:t>
              </a:r>
              <a:r>
                <a:rPr lang="ja-JP" altLang="en-US" sz="1000" dirty="0">
                  <a:solidFill>
                    <a:schemeClr val="accent5"/>
                  </a:solidFill>
                  <a:latin typeface="+mn-ea"/>
                </a:rPr>
                <a:t>が読める形にして小売システムへ</a:t>
              </a:r>
              <a:br>
                <a:rPr lang="en-US" altLang="ja-JP" sz="1000" dirty="0">
                  <a:solidFill>
                    <a:schemeClr val="accent5"/>
                  </a:solidFill>
                  <a:latin typeface="+mn-ea"/>
                </a:rPr>
              </a:br>
              <a:r>
                <a:rPr lang="ja-JP" altLang="en-US" sz="1000" dirty="0">
                  <a:solidFill>
                    <a:schemeClr val="accent5"/>
                  </a:solidFill>
                  <a:latin typeface="+mn-ea"/>
                </a:rPr>
                <a:t>直結する</a:t>
              </a:r>
              <a:r>
                <a:rPr lang="ja-JP" altLang="en-US" sz="1000" dirty="0">
                  <a:solidFill>
                    <a:schemeClr val="tx1"/>
                  </a:solidFill>
                  <a:latin typeface="+mn-ea"/>
                </a:rPr>
                <a:t>＝属性データの構造化・</a:t>
              </a:r>
              <a:r>
                <a:rPr lang="en-US" altLang="ja-JP" sz="1000" dirty="0">
                  <a:solidFill>
                    <a:schemeClr val="tx1"/>
                  </a:solidFill>
                  <a:latin typeface="+mn-ea"/>
                </a:rPr>
                <a:t>API</a:t>
              </a:r>
              <a:r>
                <a:rPr lang="ja-JP" altLang="en-US" sz="1000" dirty="0">
                  <a:solidFill>
                    <a:schemeClr val="tx1"/>
                  </a:solidFill>
                  <a:latin typeface="+mn-ea"/>
                </a:rPr>
                <a:t>化</a:t>
              </a:r>
            </a:p>
          </p:txBody>
        </p:sp>
        <p:sp>
          <p:nvSpPr>
            <p:cNvPr id="26" name="正方形/長方形 25">
              <a:extLst>
                <a:ext uri="{FF2B5EF4-FFF2-40B4-BE49-F238E27FC236}">
                  <a16:creationId xmlns:a16="http://schemas.microsoft.com/office/drawing/2014/main" id="{76D23AB5-8EF6-2E5B-87D6-014857CCA212}"/>
                </a:ext>
              </a:extLst>
            </p:cNvPr>
            <p:cNvSpPr/>
            <p:nvPr/>
          </p:nvSpPr>
          <p:spPr>
            <a:xfrm>
              <a:off x="5480647" y="5953287"/>
              <a:ext cx="2849761" cy="364154"/>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ja-JP" altLang="en-US" sz="1000" dirty="0">
                  <a:solidFill>
                    <a:schemeClr val="accent5"/>
                  </a:solidFill>
                  <a:latin typeface="+mn-ea"/>
                </a:rPr>
                <a:t>学校の歯みがき教育・自治体健診を、続くデジタル接点に変える</a:t>
              </a:r>
              <a:r>
                <a:rPr lang="ja-JP" altLang="en-US" sz="1000" dirty="0">
                  <a:solidFill>
                    <a:schemeClr val="tx1"/>
                  </a:solidFill>
                  <a:latin typeface="+mn-ea"/>
                </a:rPr>
                <a:t>＝学校・自治体ルートのデジタル化</a:t>
              </a:r>
            </a:p>
          </p:txBody>
        </p:sp>
        <p:sp>
          <p:nvSpPr>
            <p:cNvPr id="30" name="正方形/長方形 29">
              <a:extLst>
                <a:ext uri="{FF2B5EF4-FFF2-40B4-BE49-F238E27FC236}">
                  <a16:creationId xmlns:a16="http://schemas.microsoft.com/office/drawing/2014/main" id="{B18A487C-C684-14C8-C988-997CF4A29CC4}"/>
                </a:ext>
              </a:extLst>
            </p:cNvPr>
            <p:cNvSpPr/>
            <p:nvPr/>
          </p:nvSpPr>
          <p:spPr>
            <a:xfrm>
              <a:off x="8394327" y="5123379"/>
              <a:ext cx="605349" cy="364154"/>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400" dirty="0">
                  <a:solidFill>
                    <a:srgbClr val="008D2E"/>
                  </a:solidFill>
                  <a:latin typeface="+mn-ea"/>
                </a:rPr>
                <a:t>B1★</a:t>
              </a:r>
            </a:p>
          </p:txBody>
        </p:sp>
        <p:sp>
          <p:nvSpPr>
            <p:cNvPr id="31" name="正方形/長方形 26">
              <a:extLst>
                <a:ext uri="{FF2B5EF4-FFF2-40B4-BE49-F238E27FC236}">
                  <a16:creationId xmlns:a16="http://schemas.microsoft.com/office/drawing/2014/main" id="{F23CAF51-3370-A467-67B2-EF864DAD26F6}"/>
                </a:ext>
              </a:extLst>
            </p:cNvPr>
            <p:cNvSpPr/>
            <p:nvPr/>
          </p:nvSpPr>
          <p:spPr>
            <a:xfrm>
              <a:off x="8394327" y="5538333"/>
              <a:ext cx="605349" cy="364154"/>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400" dirty="0">
                  <a:solidFill>
                    <a:srgbClr val="008D2E"/>
                  </a:solidFill>
                  <a:latin typeface="+mn-ea"/>
                </a:rPr>
                <a:t>D1★</a:t>
              </a:r>
            </a:p>
          </p:txBody>
        </p:sp>
        <p:sp>
          <p:nvSpPr>
            <p:cNvPr id="32" name="正方形/長方形 26">
              <a:extLst>
                <a:ext uri="{FF2B5EF4-FFF2-40B4-BE49-F238E27FC236}">
                  <a16:creationId xmlns:a16="http://schemas.microsoft.com/office/drawing/2014/main" id="{A2D7E0D0-9DE8-0B2F-EBA6-5ABB642B331B}"/>
                </a:ext>
              </a:extLst>
            </p:cNvPr>
            <p:cNvSpPr/>
            <p:nvPr/>
          </p:nvSpPr>
          <p:spPr>
            <a:xfrm>
              <a:off x="8394327" y="5953287"/>
              <a:ext cx="605349" cy="364154"/>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400" dirty="0">
                  <a:solidFill>
                    <a:srgbClr val="008D2E"/>
                  </a:solidFill>
                  <a:latin typeface="+mn-ea"/>
                </a:rPr>
                <a:t>D2</a:t>
              </a:r>
            </a:p>
          </p:txBody>
        </p:sp>
        <p:sp>
          <p:nvSpPr>
            <p:cNvPr id="33" name="正方形/長方形 32">
              <a:extLst>
                <a:ext uri="{FF2B5EF4-FFF2-40B4-BE49-F238E27FC236}">
                  <a16:creationId xmlns:a16="http://schemas.microsoft.com/office/drawing/2014/main" id="{6E2D5654-15D0-2D73-E3CE-B372E96B9D25}"/>
                </a:ext>
              </a:extLst>
            </p:cNvPr>
            <p:cNvSpPr/>
            <p:nvPr/>
          </p:nvSpPr>
          <p:spPr>
            <a:xfrm>
              <a:off x="8999676" y="5123379"/>
              <a:ext cx="2849761" cy="364154"/>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ja-JP" altLang="en-US" sz="1000" dirty="0">
                  <a:solidFill>
                    <a:schemeClr val="accent5"/>
                  </a:solidFill>
                  <a:latin typeface="+mn-ea"/>
                </a:rPr>
                <a:t>広告・販促の効果を金額で測る仕組みを作る</a:t>
              </a:r>
            </a:p>
            <a:p>
              <a:pPr lvl="0">
                <a:buClr>
                  <a:schemeClr val="accent5"/>
                </a:buClr>
                <a:defRPr/>
              </a:pPr>
              <a:r>
                <a:rPr lang="ja-JP" altLang="en-US" sz="1000" dirty="0">
                  <a:solidFill>
                    <a:schemeClr val="tx1"/>
                  </a:solidFill>
                  <a:latin typeface="+mn-ea"/>
                </a:rPr>
                <a:t>＝投資</a:t>
              </a:r>
              <a:r>
                <a:rPr lang="en-US" altLang="ja-JP" sz="1000" dirty="0">
                  <a:solidFill>
                    <a:schemeClr val="tx1"/>
                  </a:solidFill>
                  <a:latin typeface="+mn-ea"/>
                </a:rPr>
                <a:t>ROI</a:t>
              </a:r>
              <a:r>
                <a:rPr lang="ja-JP" altLang="en-US" sz="1000" dirty="0">
                  <a:solidFill>
                    <a:schemeClr val="tx1"/>
                  </a:solidFill>
                  <a:latin typeface="+mn-ea"/>
                </a:rPr>
                <a:t>可視化基盤 </a:t>
              </a:r>
              <a:r>
                <a:rPr lang="en-US" altLang="ja-JP" sz="1000" dirty="0">
                  <a:solidFill>
                    <a:schemeClr val="tx1"/>
                  </a:solidFill>
                  <a:latin typeface="+mn-ea"/>
                </a:rPr>
                <a:t>(MMM×DCR) </a:t>
              </a:r>
              <a:endParaRPr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1C2D79B3-1F33-475F-D866-8F2F95B1EBEA}"/>
                </a:ext>
              </a:extLst>
            </p:cNvPr>
            <p:cNvSpPr/>
            <p:nvPr/>
          </p:nvSpPr>
          <p:spPr>
            <a:xfrm>
              <a:off x="8999676" y="5538332"/>
              <a:ext cx="2849761" cy="364154"/>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ja-JP" altLang="en-US" sz="1000" dirty="0">
                  <a:solidFill>
                    <a:schemeClr val="accent5"/>
                  </a:solidFill>
                  <a:latin typeface="+mn-ea"/>
                </a:rPr>
                <a:t>資料作成・集計を</a:t>
              </a:r>
              <a:r>
                <a:rPr lang="en-US" altLang="ja-JP" sz="1000" dirty="0">
                  <a:solidFill>
                    <a:schemeClr val="accent5"/>
                  </a:solidFill>
                  <a:latin typeface="+mn-ea"/>
                </a:rPr>
                <a:t>AI</a:t>
              </a:r>
              <a:r>
                <a:rPr lang="ja-JP" altLang="en-US" sz="1000" dirty="0">
                  <a:solidFill>
                    <a:schemeClr val="accent5"/>
                  </a:solidFill>
                  <a:latin typeface="+mn-ea"/>
                </a:rPr>
                <a:t>で自動化し、商談の時間を生み出す</a:t>
              </a:r>
              <a:r>
                <a:rPr lang="ja-JP" altLang="en-US" sz="1000" dirty="0">
                  <a:solidFill>
                    <a:schemeClr val="tx1"/>
                  </a:solidFill>
                  <a:latin typeface="+mn-ea"/>
                </a:rPr>
                <a:t>＝</a:t>
              </a:r>
              <a:r>
                <a:rPr lang="en-US" altLang="ja-JP" sz="1000" dirty="0">
                  <a:solidFill>
                    <a:schemeClr val="tx1"/>
                  </a:solidFill>
                  <a:latin typeface="+mn-ea"/>
                </a:rPr>
                <a:t>Input</a:t>
              </a:r>
              <a:r>
                <a:rPr lang="ja-JP" altLang="en-US" sz="1000" dirty="0">
                  <a:solidFill>
                    <a:schemeClr val="tx1"/>
                  </a:solidFill>
                  <a:latin typeface="+mn-ea"/>
                </a:rPr>
                <a:t>業務ゼロ化 </a:t>
              </a:r>
              <a:r>
                <a:rPr lang="en-US" altLang="ja-JP" sz="1000" dirty="0">
                  <a:solidFill>
                    <a:schemeClr val="tx1"/>
                  </a:solidFill>
                  <a:latin typeface="+mn-ea"/>
                </a:rPr>
                <a:t>(</a:t>
              </a:r>
              <a:r>
                <a:rPr lang="ja-JP" altLang="en-US" sz="1000" dirty="0">
                  <a:solidFill>
                    <a:schemeClr val="tx1"/>
                  </a:solidFill>
                  <a:latin typeface="+mn-ea"/>
                </a:rPr>
                <a:t>生成</a:t>
              </a:r>
              <a:r>
                <a:rPr lang="en-US" altLang="ja-JP" sz="1000" dirty="0">
                  <a:solidFill>
                    <a:schemeClr val="tx1"/>
                  </a:solidFill>
                  <a:latin typeface="+mn-ea"/>
                </a:rPr>
                <a:t>AI</a:t>
              </a:r>
              <a:r>
                <a:rPr lang="ja-JP" altLang="en-US" sz="1000" dirty="0">
                  <a:solidFill>
                    <a:schemeClr val="tx1"/>
                  </a:solidFill>
                  <a:latin typeface="+mn-ea"/>
                </a:rPr>
                <a:t>＋</a:t>
              </a:r>
              <a:r>
                <a:rPr lang="en-US" altLang="ja-JP" sz="1000" dirty="0">
                  <a:solidFill>
                    <a:schemeClr val="tx1"/>
                  </a:solidFill>
                  <a:latin typeface="+mn-ea"/>
                </a:rPr>
                <a:t>TPM)</a:t>
              </a:r>
              <a:endParaRPr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60FFB67-3464-0876-95A2-1783521A6B3A}"/>
                </a:ext>
              </a:extLst>
            </p:cNvPr>
            <p:cNvSpPr/>
            <p:nvPr/>
          </p:nvSpPr>
          <p:spPr>
            <a:xfrm>
              <a:off x="8999676" y="5953287"/>
              <a:ext cx="2849761" cy="364154"/>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en-US" altLang="ja-JP" sz="1000" dirty="0">
                  <a:solidFill>
                    <a:schemeClr val="accent5"/>
                  </a:solidFill>
                  <a:latin typeface="+mn-ea"/>
                </a:rPr>
                <a:t>1</a:t>
              </a:r>
              <a:r>
                <a:rPr lang="ja-JP" altLang="en-US" sz="1000" dirty="0">
                  <a:solidFill>
                    <a:schemeClr val="accent5"/>
                  </a:solidFill>
                  <a:latin typeface="+mn-ea"/>
                </a:rPr>
                <a:t>人で対応する営業をやめ、チーム対チームで小売と</a:t>
              </a:r>
              <a:br>
                <a:rPr lang="en-US" altLang="ja-JP" sz="1000" dirty="0">
                  <a:solidFill>
                    <a:schemeClr val="accent5"/>
                  </a:solidFill>
                  <a:latin typeface="+mn-ea"/>
                </a:rPr>
              </a:br>
              <a:r>
                <a:rPr lang="ja-JP" altLang="en-US" sz="1000" dirty="0">
                  <a:solidFill>
                    <a:schemeClr val="accent5"/>
                  </a:solidFill>
                  <a:latin typeface="+mn-ea"/>
                </a:rPr>
                <a:t>組む</a:t>
              </a:r>
              <a:r>
                <a:rPr lang="ja-JP" altLang="en-US" sz="1000" dirty="0">
                  <a:solidFill>
                    <a:schemeClr val="tx1"/>
                  </a:solidFill>
                  <a:latin typeface="+mn-ea"/>
                </a:rPr>
                <a:t>＝組織対組織の営業体制へ再編</a:t>
              </a:r>
            </a:p>
          </p:txBody>
        </p:sp>
      </p:grpSp>
      <p:cxnSp>
        <p:nvCxnSpPr>
          <p:cNvPr id="37" name="直線コネクタ 36">
            <a:extLst>
              <a:ext uri="{FF2B5EF4-FFF2-40B4-BE49-F238E27FC236}">
                <a16:creationId xmlns:a16="http://schemas.microsoft.com/office/drawing/2014/main" id="{1254090F-6A26-D441-7883-3ADEB692991A}"/>
              </a:ext>
            </a:extLst>
          </p:cNvPr>
          <p:cNvCxnSpPr>
            <a:cxnSpLocks/>
          </p:cNvCxnSpPr>
          <p:nvPr/>
        </p:nvCxnSpPr>
        <p:spPr>
          <a:xfrm>
            <a:off x="1356268" y="5063545"/>
            <a:ext cx="3455110"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C140F5B3-DB86-1A82-9C72-D7C2E338258B}"/>
              </a:ext>
            </a:extLst>
          </p:cNvPr>
          <p:cNvCxnSpPr>
            <a:cxnSpLocks/>
          </p:cNvCxnSpPr>
          <p:nvPr/>
        </p:nvCxnSpPr>
        <p:spPr>
          <a:xfrm>
            <a:off x="4875298" y="5063544"/>
            <a:ext cx="3455110"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A3CE862D-A9B1-35C2-6E4D-04B615740A97}"/>
              </a:ext>
            </a:extLst>
          </p:cNvPr>
          <p:cNvCxnSpPr>
            <a:cxnSpLocks/>
          </p:cNvCxnSpPr>
          <p:nvPr/>
        </p:nvCxnSpPr>
        <p:spPr>
          <a:xfrm>
            <a:off x="8394327" y="5063544"/>
            <a:ext cx="3455110"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1" name="Text 20">
            <a:extLst>
              <a:ext uri="{FF2B5EF4-FFF2-40B4-BE49-F238E27FC236}">
                <a16:creationId xmlns:a16="http://schemas.microsoft.com/office/drawing/2014/main" id="{A7E55F49-4EDA-4987-0B77-6CB93E021CFF}"/>
              </a:ext>
            </a:extLst>
          </p:cNvPr>
          <p:cNvSpPr>
            <a:spLocks noChangeAspect="1"/>
          </p:cNvSpPr>
          <p:nvPr/>
        </p:nvSpPr>
        <p:spPr>
          <a:xfrm>
            <a:off x="1331216" y="1574050"/>
            <a:ext cx="277201" cy="277201"/>
          </a:xfrm>
          <a:prstGeom prst="ellipse">
            <a:avLst/>
          </a:prstGeom>
          <a:solidFill>
            <a:schemeClr val="bg1"/>
          </a:solidFill>
          <a:ln w="9525">
            <a:solidFill>
              <a:schemeClr val="accent5"/>
            </a:solidFill>
          </a:ln>
        </p:spPr>
        <p:txBody>
          <a:bodyPr wrap="square" lIns="36000" tIns="18000" rIns="36000" bIns="0" rtlCol="0" anchor="ctr" anchorCtr="0">
            <a:noAutofit/>
          </a:bodyPr>
          <a:lstStyle/>
          <a:p>
            <a:pPr algn="ctr" defTabSz="457200">
              <a:defRPr/>
            </a:pPr>
            <a:r>
              <a:rPr kumimoji="0" lang="en-US" sz="1400" dirty="0">
                <a:solidFill>
                  <a:schemeClr val="accent5"/>
                </a:solidFill>
                <a:latin typeface="+mn-ea"/>
              </a:rPr>
              <a:t>1</a:t>
            </a:r>
          </a:p>
        </p:txBody>
      </p:sp>
      <p:sp>
        <p:nvSpPr>
          <p:cNvPr id="43" name="Text 33">
            <a:extLst>
              <a:ext uri="{FF2B5EF4-FFF2-40B4-BE49-F238E27FC236}">
                <a16:creationId xmlns:a16="http://schemas.microsoft.com/office/drawing/2014/main" id="{C3E1428D-8E82-CAA6-7B17-CD21A0211359}"/>
              </a:ext>
            </a:extLst>
          </p:cNvPr>
          <p:cNvSpPr>
            <a:spLocks noChangeAspect="1"/>
          </p:cNvSpPr>
          <p:nvPr/>
        </p:nvSpPr>
        <p:spPr>
          <a:xfrm>
            <a:off x="4850246" y="1574051"/>
            <a:ext cx="277201" cy="277201"/>
          </a:xfrm>
          <a:prstGeom prst="ellipse">
            <a:avLst/>
          </a:prstGeom>
          <a:solidFill>
            <a:schemeClr val="bg1"/>
          </a:solidFill>
          <a:ln w="9525">
            <a:solidFill>
              <a:schemeClr val="accent5"/>
            </a:solidFill>
          </a:ln>
        </p:spPr>
        <p:txBody>
          <a:bodyPr wrap="square" lIns="36000" tIns="18000" rIns="36000" bIns="0" rtlCol="0" anchor="ctr" anchorCtr="0">
            <a:noAutofit/>
          </a:bodyPr>
          <a:lstStyle/>
          <a:p>
            <a:pPr algn="ctr" defTabSz="457200">
              <a:defRPr/>
            </a:pPr>
            <a:r>
              <a:rPr kumimoji="0" lang="en-US" sz="1400" dirty="0">
                <a:solidFill>
                  <a:schemeClr val="accent5"/>
                </a:solidFill>
                <a:latin typeface="+mn-ea"/>
              </a:rPr>
              <a:t>2</a:t>
            </a:r>
          </a:p>
        </p:txBody>
      </p:sp>
      <p:sp>
        <p:nvSpPr>
          <p:cNvPr id="45" name="Text 33">
            <a:extLst>
              <a:ext uri="{FF2B5EF4-FFF2-40B4-BE49-F238E27FC236}">
                <a16:creationId xmlns:a16="http://schemas.microsoft.com/office/drawing/2014/main" id="{8B9E06B3-F4FC-CE5C-5F41-6A2BF70E9135}"/>
              </a:ext>
            </a:extLst>
          </p:cNvPr>
          <p:cNvSpPr>
            <a:spLocks noChangeAspect="1"/>
          </p:cNvSpPr>
          <p:nvPr/>
        </p:nvSpPr>
        <p:spPr>
          <a:xfrm>
            <a:off x="8369275" y="1574050"/>
            <a:ext cx="277201" cy="277201"/>
          </a:xfrm>
          <a:prstGeom prst="ellipse">
            <a:avLst/>
          </a:prstGeom>
          <a:solidFill>
            <a:schemeClr val="bg1"/>
          </a:solidFill>
          <a:ln w="9525">
            <a:solidFill>
              <a:schemeClr val="accent5"/>
            </a:solidFill>
          </a:ln>
        </p:spPr>
        <p:txBody>
          <a:bodyPr wrap="square" lIns="36000" tIns="18000" rIns="36000" bIns="0" rtlCol="0" anchor="ctr" anchorCtr="0">
            <a:noAutofit/>
          </a:bodyPr>
          <a:lstStyle/>
          <a:p>
            <a:pPr algn="ctr" defTabSz="457200">
              <a:defRPr/>
            </a:pPr>
            <a:r>
              <a:rPr kumimoji="0" lang="en-US" sz="1400" dirty="0">
                <a:solidFill>
                  <a:schemeClr val="accent5"/>
                </a:solidFill>
                <a:latin typeface="+mn-ea"/>
              </a:rPr>
              <a:t>3</a:t>
            </a:r>
          </a:p>
        </p:txBody>
      </p:sp>
      <p:pic>
        <p:nvPicPr>
          <p:cNvPr id="47" name="グラフィックス 46" descr="環状の矢印 単色塗りつぶし">
            <a:extLst>
              <a:ext uri="{FF2B5EF4-FFF2-40B4-BE49-F238E27FC236}">
                <a16:creationId xmlns:a16="http://schemas.microsoft.com/office/drawing/2014/main" id="{90C7B7D7-673F-C654-41D5-3BDFA616EB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30027" y="1714028"/>
            <a:ext cx="369474" cy="369474"/>
          </a:xfrm>
          <a:prstGeom prst="rect">
            <a:avLst/>
          </a:prstGeom>
        </p:spPr>
      </p:pic>
      <p:pic>
        <p:nvPicPr>
          <p:cNvPr id="49" name="グラフィックス 48" descr="的中 単色塗りつぶし">
            <a:extLst>
              <a:ext uri="{FF2B5EF4-FFF2-40B4-BE49-F238E27FC236}">
                <a16:creationId xmlns:a16="http://schemas.microsoft.com/office/drawing/2014/main" id="{56BFF963-A24C-D6E8-0E6F-EE5AEC79E0E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704725" y="1714028"/>
            <a:ext cx="369474" cy="369474"/>
          </a:xfrm>
          <a:prstGeom prst="rect">
            <a:avLst/>
          </a:prstGeom>
        </p:spPr>
      </p:pic>
      <p:pic>
        <p:nvPicPr>
          <p:cNvPr id="51" name="グラフィックス 50" descr="電球と鉛筆 単色塗りつぶし">
            <a:extLst>
              <a:ext uri="{FF2B5EF4-FFF2-40B4-BE49-F238E27FC236}">
                <a16:creationId xmlns:a16="http://schemas.microsoft.com/office/drawing/2014/main" id="{E330A2A6-C9B6-8244-A0F4-765C253FCAF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14434" y="1714028"/>
            <a:ext cx="369474" cy="369474"/>
          </a:xfrm>
          <a:prstGeom prst="rect">
            <a:avLst/>
          </a:prstGeom>
        </p:spPr>
      </p:pic>
      <p:sp>
        <p:nvSpPr>
          <p:cNvPr id="19" name="テキスト ボックス 18">
            <a:extLst>
              <a:ext uri="{FF2B5EF4-FFF2-40B4-BE49-F238E27FC236}">
                <a16:creationId xmlns:a16="http://schemas.microsoft.com/office/drawing/2014/main" id="{7C6721A3-E1FB-C008-5C19-656A9B49CCBE}"/>
              </a:ext>
            </a:extLst>
          </p:cNvPr>
          <p:cNvSpPr txBox="1"/>
          <p:nvPr/>
        </p:nvSpPr>
        <p:spPr>
          <a:xfrm>
            <a:off x="1374606" y="2325643"/>
            <a:ext cx="3436772" cy="307777"/>
          </a:xfrm>
          <a:prstGeom prst="rect">
            <a:avLst/>
          </a:prstGeom>
          <a:noFill/>
        </p:spPr>
        <p:txBody>
          <a:bodyPr wrap="square">
            <a:spAutoFit/>
          </a:bodyPr>
          <a:lstStyle/>
          <a:p>
            <a:pPr algn="ctr"/>
            <a:r>
              <a:rPr lang="ja-JP" altLang="en-US" sz="1400" dirty="0">
                <a:solidFill>
                  <a:srgbClr val="008000"/>
                </a:solidFill>
                <a:latin typeface="+mn-ea"/>
              </a:rPr>
              <a:t>傾斜資源の「使い方」を決め直す</a:t>
            </a:r>
            <a:endParaRPr lang="en-US" altLang="ja-JP" sz="1400" dirty="0">
              <a:solidFill>
                <a:srgbClr val="008000"/>
              </a:solidFill>
              <a:latin typeface="+mn-ea"/>
            </a:endParaRPr>
          </a:p>
        </p:txBody>
      </p:sp>
      <p:sp>
        <p:nvSpPr>
          <p:cNvPr id="24" name="テキスト ボックス 23">
            <a:extLst>
              <a:ext uri="{FF2B5EF4-FFF2-40B4-BE49-F238E27FC236}">
                <a16:creationId xmlns:a16="http://schemas.microsoft.com/office/drawing/2014/main" id="{3278B275-79B6-758C-BC01-AC93D41E05F8}"/>
              </a:ext>
            </a:extLst>
          </p:cNvPr>
          <p:cNvSpPr txBox="1"/>
          <p:nvPr/>
        </p:nvSpPr>
        <p:spPr>
          <a:xfrm>
            <a:off x="4875298" y="2238093"/>
            <a:ext cx="3436772" cy="738664"/>
          </a:xfrm>
          <a:prstGeom prst="rect">
            <a:avLst/>
          </a:prstGeom>
          <a:noFill/>
        </p:spPr>
        <p:txBody>
          <a:bodyPr wrap="square">
            <a:spAutoFit/>
          </a:bodyPr>
          <a:lstStyle/>
          <a:p>
            <a:pPr algn="ctr"/>
            <a:r>
              <a:rPr lang="ja-JP" altLang="en-US" sz="1400" dirty="0">
                <a:solidFill>
                  <a:srgbClr val="008000"/>
                </a:solidFill>
                <a:latin typeface="+mn-ea"/>
              </a:rPr>
              <a:t>値引きに代わる「提案の材料」を、</a:t>
            </a:r>
            <a:br>
              <a:rPr lang="en-US" altLang="ja-JP" sz="1400" dirty="0">
                <a:solidFill>
                  <a:srgbClr val="008000"/>
                </a:solidFill>
                <a:latin typeface="+mn-ea"/>
              </a:rPr>
            </a:br>
            <a:r>
              <a:rPr lang="ja-JP" altLang="en-US" sz="1400" dirty="0">
                <a:solidFill>
                  <a:srgbClr val="008000"/>
                </a:solidFill>
                <a:latin typeface="+mn-ea"/>
              </a:rPr>
              <a:t>商談で使える形まで仕上げる</a:t>
            </a:r>
            <a:endParaRPr lang="en-US" altLang="ja-JP" sz="1400" dirty="0">
              <a:solidFill>
                <a:srgbClr val="008000"/>
              </a:solidFill>
              <a:latin typeface="+mn-ea"/>
            </a:endParaRPr>
          </a:p>
          <a:p>
            <a:pPr algn="ctr"/>
            <a:endParaRPr lang="en-US" altLang="ja-JP" sz="1400" dirty="0">
              <a:solidFill>
                <a:srgbClr val="008000"/>
              </a:solidFill>
              <a:latin typeface="+mn-ea"/>
            </a:endParaRPr>
          </a:p>
        </p:txBody>
      </p:sp>
      <p:sp>
        <p:nvSpPr>
          <p:cNvPr id="28" name="テキスト ボックス 27">
            <a:extLst>
              <a:ext uri="{FF2B5EF4-FFF2-40B4-BE49-F238E27FC236}">
                <a16:creationId xmlns:a16="http://schemas.microsoft.com/office/drawing/2014/main" id="{1CCEDD1B-3C4D-60C4-E722-5CBA8763AFBD}"/>
              </a:ext>
            </a:extLst>
          </p:cNvPr>
          <p:cNvSpPr txBox="1"/>
          <p:nvPr/>
        </p:nvSpPr>
        <p:spPr>
          <a:xfrm>
            <a:off x="8394327" y="2238093"/>
            <a:ext cx="3436772" cy="738664"/>
          </a:xfrm>
          <a:prstGeom prst="rect">
            <a:avLst/>
          </a:prstGeom>
          <a:noFill/>
        </p:spPr>
        <p:txBody>
          <a:bodyPr wrap="square">
            <a:spAutoFit/>
          </a:bodyPr>
          <a:lstStyle/>
          <a:p>
            <a:pPr algn="ctr"/>
            <a:r>
              <a:rPr lang="ja-JP" altLang="en-US" sz="1400" dirty="0">
                <a:solidFill>
                  <a:srgbClr val="008000"/>
                </a:solidFill>
                <a:latin typeface="+mn-ea"/>
              </a:rPr>
              <a:t>小さく試す→検証する</a:t>
            </a:r>
            <a:br>
              <a:rPr lang="en-US" altLang="ja-JP" sz="1400" dirty="0">
                <a:solidFill>
                  <a:srgbClr val="008000"/>
                </a:solidFill>
                <a:latin typeface="+mn-ea"/>
              </a:rPr>
            </a:br>
            <a:r>
              <a:rPr lang="ja-JP" altLang="en-US" sz="1400" dirty="0">
                <a:solidFill>
                  <a:srgbClr val="008000"/>
                </a:solidFill>
                <a:latin typeface="+mn-ea"/>
              </a:rPr>
              <a:t>→広げる「仕組み」を回し続ける</a:t>
            </a:r>
            <a:endParaRPr lang="en-US" altLang="ja-JP" sz="1400" dirty="0">
              <a:solidFill>
                <a:srgbClr val="008000"/>
              </a:solidFill>
              <a:latin typeface="+mn-ea"/>
            </a:endParaRPr>
          </a:p>
          <a:p>
            <a:pPr algn="ctr"/>
            <a:endParaRPr lang="en-US" altLang="ja-JP" sz="1400" dirty="0">
              <a:solidFill>
                <a:srgbClr val="008000"/>
              </a:solidFill>
              <a:latin typeface="+mn-ea"/>
            </a:endParaRPr>
          </a:p>
        </p:txBody>
      </p:sp>
    </p:spTree>
    <p:extLst>
      <p:ext uri="{BB962C8B-B14F-4D97-AF65-F5344CB8AC3E}">
        <p14:creationId xmlns:p14="http://schemas.microsoft.com/office/powerpoint/2010/main" val="1657841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10965A-3F34-9EBE-9419-E4B413033CA9}"/>
              </a:ext>
            </a:extLst>
          </p:cNvPr>
          <p:cNvSpPr>
            <a:spLocks noGrp="1"/>
          </p:cNvSpPr>
          <p:nvPr>
            <p:ph type="title"/>
          </p:nvPr>
        </p:nvSpPr>
        <p:spPr/>
        <p:txBody>
          <a:bodyPr/>
          <a:lstStyle/>
          <a:p>
            <a:r>
              <a:rPr kumimoji="1" lang="ja-JP" altLang="en-US" dirty="0"/>
              <a:t>解決</a:t>
            </a:r>
            <a:r>
              <a:rPr kumimoji="1" lang="en-US" altLang="ja-JP" dirty="0"/>
              <a:t>1</a:t>
            </a:r>
            <a:r>
              <a:rPr kumimoji="1" lang="ja-JP" altLang="en-US" dirty="0"/>
              <a:t>詳細</a:t>
            </a:r>
          </a:p>
        </p:txBody>
      </p:sp>
      <p:sp>
        <p:nvSpPr>
          <p:cNvPr id="3" name="テキスト プレースホルダー 2">
            <a:extLst>
              <a:ext uri="{FF2B5EF4-FFF2-40B4-BE49-F238E27FC236}">
                <a16:creationId xmlns:a16="http://schemas.microsoft.com/office/drawing/2014/main" id="{C170E81E-228C-D0B4-85F2-557E0B985130}"/>
              </a:ext>
            </a:extLst>
          </p:cNvPr>
          <p:cNvSpPr>
            <a:spLocks noGrp="1"/>
          </p:cNvSpPr>
          <p:nvPr>
            <p:ph type="body" sz="quarter" idx="13"/>
          </p:nvPr>
        </p:nvSpPr>
        <p:spPr/>
        <p:txBody>
          <a:bodyPr/>
          <a:lstStyle/>
          <a:p>
            <a:r>
              <a:rPr kumimoji="1" lang="en-US" altLang="ja-JP" sz="1800" dirty="0"/>
              <a:t>XX</a:t>
            </a:r>
            <a:endParaRPr kumimoji="1" lang="ja-JP" altLang="en-US" sz="1800" dirty="0"/>
          </a:p>
        </p:txBody>
      </p:sp>
      <p:sp>
        <p:nvSpPr>
          <p:cNvPr id="5" name="テキスト ボックス 4">
            <a:extLst>
              <a:ext uri="{FF2B5EF4-FFF2-40B4-BE49-F238E27FC236}">
                <a16:creationId xmlns:a16="http://schemas.microsoft.com/office/drawing/2014/main" id="{4131DE3C-614F-C221-C3B7-CD5CD10015A1}"/>
              </a:ext>
            </a:extLst>
          </p:cNvPr>
          <p:cNvSpPr txBox="1"/>
          <p:nvPr/>
        </p:nvSpPr>
        <p:spPr>
          <a:xfrm>
            <a:off x="5131341" y="6383203"/>
            <a:ext cx="6429982" cy="365934"/>
          </a:xfrm>
          <a:prstGeom prst="rect">
            <a:avLst/>
          </a:prstGeom>
          <a:noFill/>
        </p:spPr>
        <p:txBody>
          <a:bodyPr wrap="square">
            <a:spAutoFit/>
          </a:bodyPr>
          <a:lstStyle/>
          <a:p>
            <a:pPr>
              <a:lnSpc>
                <a:spcPct val="110000"/>
              </a:lnSpc>
            </a:pPr>
            <a:r>
              <a:rPr lang="ja-JP" altLang="en-US" sz="860" b="1" dirty="0">
                <a:solidFill>
                  <a:srgbClr val="008D2E"/>
                </a:solidFill>
                <a:latin typeface="Meiryo UI"/>
                <a:ea typeface="Meiryo UI"/>
              </a:rPr>
              <a:t>なぜ分けるのか：市場ごとに使う施策と測るKPIが違うから。分けた瞬間に、傾斜済み予算の使い先（前頁の使い先メニュー）と8施策（次頁）への配分が機械的に決まる。</a:t>
            </a:r>
            <a:r>
              <a:rPr lang="ja-JP" altLang="en-US" sz="840" b="0" dirty="0">
                <a:solidFill>
                  <a:srgbClr val="262626"/>
                </a:solidFill>
                <a:latin typeface="Meiryo UI"/>
                <a:ea typeface="Meiryo UI"/>
              </a:rPr>
              <a:t/>
            </a:r>
            <a:r>
              <a:rPr lang="en-US" altLang="ja-JP" sz="840" b="0" dirty="0">
                <a:solidFill>
                  <a:srgbClr val="262626"/>
                </a:solidFill>
                <a:latin typeface="Meiryo UI"/>
                <a:ea typeface="Meiryo UI"/>
              </a:rPr>
              <a:t/>
            </a:r>
            <a:r>
              <a:rPr lang="ja-JP" altLang="en-US" sz="840" b="0" dirty="0">
                <a:solidFill>
                  <a:srgbClr val="262626"/>
                </a:solidFill>
                <a:latin typeface="Meiryo UI"/>
                <a:ea typeface="Meiryo UI"/>
              </a:rPr>
              <a:t/>
            </a:r>
            <a:r>
              <a:rPr lang="en-US" altLang="ja-JP" sz="840" b="0" dirty="0">
                <a:solidFill>
                  <a:srgbClr val="262626"/>
                </a:solidFill>
                <a:latin typeface="Meiryo UI"/>
                <a:ea typeface="Meiryo UI"/>
              </a:rPr>
              <a:t/>
            </a:r>
            <a:r>
              <a:rPr lang="ja-JP" altLang="en-US" sz="840" b="0" dirty="0">
                <a:solidFill>
                  <a:srgbClr val="262626"/>
                </a:solidFill>
                <a:latin typeface="Meiryo UI"/>
                <a:ea typeface="Meiryo UI"/>
              </a:rPr>
              <a:t/>
            </a:r>
            <a:r>
              <a:rPr lang="en-US" altLang="ja-JP" sz="840" b="0" dirty="0">
                <a:solidFill>
                  <a:srgbClr val="262626"/>
                </a:solidFill>
                <a:latin typeface="Meiryo UI"/>
                <a:ea typeface="Meiryo UI"/>
              </a:rPr>
              <a:t/>
            </a:r>
            <a:r>
              <a:rPr lang="ja-JP" altLang="en-US" sz="840" b="0" dirty="0">
                <a:solidFill>
                  <a:srgbClr val="262626"/>
                </a:solidFill>
                <a:latin typeface="Meiryo UI"/>
                <a:ea typeface="Meiryo UI"/>
              </a:rPr>
              <a:t/>
            </a:r>
          </a:p>
        </p:txBody>
      </p:sp>
      <p:sp>
        <p:nvSpPr>
          <p:cNvPr id="6" name="Rectangle 13">
            <a:extLst>
              <a:ext uri="{FF2B5EF4-FFF2-40B4-BE49-F238E27FC236}">
                <a16:creationId xmlns:a16="http://schemas.microsoft.com/office/drawing/2014/main" id="{9EA79BFF-A71B-C7C4-F911-EC6A2729BF2B}"/>
              </a:ext>
            </a:extLst>
          </p:cNvPr>
          <p:cNvSpPr/>
          <p:nvPr/>
        </p:nvSpPr>
        <p:spPr>
          <a:xfrm>
            <a:off x="1371600" y="1628774"/>
            <a:ext cx="3154680" cy="340640"/>
          </a:xfrm>
          <a:prstGeom prst="rect">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400" dirty="0">
                <a:solidFill>
                  <a:schemeClr val="bg1"/>
                </a:solidFill>
              </a:rPr>
              <a:t>セルフ</a:t>
            </a:r>
            <a:r>
              <a:rPr lang="en-US" altLang="ja-JP" sz="1400" dirty="0">
                <a:solidFill>
                  <a:schemeClr val="bg1"/>
                </a:solidFill>
              </a:rPr>
              <a:t>(</a:t>
            </a:r>
            <a:r>
              <a:rPr lang="ja-JP" altLang="en-US" sz="1400" dirty="0">
                <a:solidFill>
                  <a:schemeClr val="bg1"/>
                </a:solidFill>
              </a:rPr>
              <a:t>自分で選んで買う</a:t>
            </a:r>
            <a:r>
              <a:rPr lang="en-US" altLang="ja-JP" sz="1400" dirty="0">
                <a:solidFill>
                  <a:schemeClr val="bg1"/>
                </a:solidFill>
              </a:rPr>
              <a:t>)</a:t>
            </a:r>
            <a:endParaRPr lang="ja-JP" altLang="en-US" sz="1400" dirty="0">
              <a:solidFill>
                <a:schemeClr val="bg1"/>
              </a:solidFill>
            </a:endParaRPr>
          </a:p>
        </p:txBody>
      </p:sp>
      <p:sp>
        <p:nvSpPr>
          <p:cNvPr id="8" name="Rectangle 15">
            <a:extLst>
              <a:ext uri="{FF2B5EF4-FFF2-40B4-BE49-F238E27FC236}">
                <a16:creationId xmlns:a16="http://schemas.microsoft.com/office/drawing/2014/main" id="{20FABF71-FCBC-607C-5BAD-186C74620F19}"/>
              </a:ext>
            </a:extLst>
          </p:cNvPr>
          <p:cNvSpPr/>
          <p:nvPr/>
        </p:nvSpPr>
        <p:spPr>
          <a:xfrm>
            <a:off x="4617720" y="1628774"/>
            <a:ext cx="3154680" cy="340640"/>
          </a:xfrm>
          <a:prstGeom prst="rect">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400" dirty="0">
                <a:solidFill>
                  <a:schemeClr val="bg1"/>
                </a:solidFill>
              </a:rPr>
              <a:t>専門職が主導（歯科・学校・健診）</a:t>
            </a:r>
          </a:p>
        </p:txBody>
      </p:sp>
      <p:sp>
        <p:nvSpPr>
          <p:cNvPr id="10" name="Rectangle 17">
            <a:extLst>
              <a:ext uri="{FF2B5EF4-FFF2-40B4-BE49-F238E27FC236}">
                <a16:creationId xmlns:a16="http://schemas.microsoft.com/office/drawing/2014/main" id="{90047DE3-C2B1-34BE-2B14-6A071B6C17C9}"/>
              </a:ext>
            </a:extLst>
          </p:cNvPr>
          <p:cNvSpPr/>
          <p:nvPr/>
        </p:nvSpPr>
        <p:spPr>
          <a:xfrm>
            <a:off x="320040" y="2080122"/>
            <a:ext cx="914400" cy="1958680"/>
          </a:xfrm>
          <a:prstGeom prst="rect">
            <a:avLst/>
          </a:prstGeom>
          <a:solidFill>
            <a:srgbClr val="008000"/>
          </a:solidFill>
          <a:ln w="63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400" dirty="0">
                <a:solidFill>
                  <a:schemeClr val="bg1"/>
                </a:solidFill>
              </a:rPr>
              <a:t>症状なし</a:t>
            </a:r>
          </a:p>
        </p:txBody>
      </p:sp>
      <p:sp>
        <p:nvSpPr>
          <p:cNvPr id="12" name="Rectangle 19">
            <a:extLst>
              <a:ext uri="{FF2B5EF4-FFF2-40B4-BE49-F238E27FC236}">
                <a16:creationId xmlns:a16="http://schemas.microsoft.com/office/drawing/2014/main" id="{E6E0FCB9-6E71-675E-7BE7-81CB1BDF9054}"/>
              </a:ext>
            </a:extLst>
          </p:cNvPr>
          <p:cNvSpPr/>
          <p:nvPr/>
        </p:nvSpPr>
        <p:spPr>
          <a:xfrm>
            <a:off x="320040" y="4149511"/>
            <a:ext cx="914400" cy="1958680"/>
          </a:xfrm>
          <a:prstGeom prst="rect">
            <a:avLst/>
          </a:prstGeom>
          <a:solidFill>
            <a:srgbClr val="008000"/>
          </a:solidFill>
          <a:ln w="63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400" dirty="0">
                <a:solidFill>
                  <a:schemeClr val="bg1"/>
                </a:solidFill>
              </a:rPr>
              <a:t>症状あり</a:t>
            </a:r>
          </a:p>
        </p:txBody>
      </p:sp>
      <p:sp>
        <p:nvSpPr>
          <p:cNvPr id="14" name="Rectangle 21">
            <a:extLst>
              <a:ext uri="{FF2B5EF4-FFF2-40B4-BE49-F238E27FC236}">
                <a16:creationId xmlns:a16="http://schemas.microsoft.com/office/drawing/2014/main" id="{AE2839C5-85D2-2C31-B04A-7D2732833E7B}"/>
              </a:ext>
            </a:extLst>
          </p:cNvPr>
          <p:cNvSpPr/>
          <p:nvPr/>
        </p:nvSpPr>
        <p:spPr>
          <a:xfrm>
            <a:off x="1371600" y="2080122"/>
            <a:ext cx="3154680" cy="1958680"/>
          </a:xfrm>
          <a:prstGeom prst="rect">
            <a:avLst/>
          </a:prstGeom>
          <a:solidFill>
            <a:schemeClr val="accent6">
              <a:lumMod val="20000"/>
              <a:lumOff val="80000"/>
            </a:schemeClr>
          </a:solidFill>
          <a:ln w="1524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solidFill>
                <a:schemeClr val="tx1"/>
              </a:solidFill>
            </a:endParaRPr>
          </a:p>
        </p:txBody>
      </p:sp>
      <p:sp>
        <p:nvSpPr>
          <p:cNvPr id="15" name="Rectangle 22">
            <a:extLst>
              <a:ext uri="{FF2B5EF4-FFF2-40B4-BE49-F238E27FC236}">
                <a16:creationId xmlns:a16="http://schemas.microsoft.com/office/drawing/2014/main" id="{805EC51D-8FB9-B01B-6FA1-AF1F47DE393D}"/>
              </a:ext>
            </a:extLst>
          </p:cNvPr>
          <p:cNvSpPr/>
          <p:nvPr/>
        </p:nvSpPr>
        <p:spPr>
          <a:xfrm>
            <a:off x="1371600" y="2080122"/>
            <a:ext cx="3154680" cy="306576"/>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solidFill>
                <a:schemeClr val="tx1"/>
              </a:solidFill>
            </a:endParaRPr>
          </a:p>
        </p:txBody>
      </p:sp>
      <p:sp>
        <p:nvSpPr>
          <p:cNvPr id="16" name="TextBox 23">
            <a:extLst>
              <a:ext uri="{FF2B5EF4-FFF2-40B4-BE49-F238E27FC236}">
                <a16:creationId xmlns:a16="http://schemas.microsoft.com/office/drawing/2014/main" id="{3507DE4F-EB8C-F2AF-2B51-80B84A4607C4}"/>
              </a:ext>
            </a:extLst>
          </p:cNvPr>
          <p:cNvSpPr txBox="1"/>
          <p:nvPr/>
        </p:nvSpPr>
        <p:spPr>
          <a:xfrm>
            <a:off x="1463040" y="2122702"/>
            <a:ext cx="2971800" cy="162480"/>
          </a:xfrm>
          <a:prstGeom prst="rect">
            <a:avLst/>
          </a:prstGeom>
          <a:solidFill>
            <a:schemeClr val="accent6">
              <a:lumMod val="20000"/>
              <a:lumOff val="80000"/>
            </a:schemeClr>
          </a:solidFill>
          <a:ln>
            <a:noFill/>
          </a:ln>
        </p:spPr>
        <p:txBody>
          <a:bodyPr wrap="square" lIns="0" tIns="0" rIns="0" bIns="0">
            <a:spAutoFit/>
          </a:bodyPr>
          <a:lstStyle/>
          <a:p>
            <a:pPr>
              <a:lnSpc>
                <a:spcPct val="112000"/>
              </a:lnSpc>
            </a:pPr>
            <a:r>
              <a:rPr sz="1050" b="1" dirty="0">
                <a:solidFill>
                  <a:srgbClr val="008000"/>
                </a:solidFill>
                <a:latin typeface="Meiryo UI"/>
                <a:ea typeface="Meiryo UI"/>
              </a:rPr>
              <a:t>① </a:t>
            </a:r>
            <a:r>
              <a:rPr sz="1050" b="1" dirty="0" err="1">
                <a:solidFill>
                  <a:srgbClr val="008000"/>
                </a:solidFill>
                <a:latin typeface="Meiryo UI"/>
                <a:ea typeface="Meiryo UI"/>
              </a:rPr>
              <a:t>補充買い</a:t>
            </a:r>
            <a:r>
              <a:rPr lang="ja-JP" altLang="en-US" sz="1050" b="1" dirty="0">
                <a:solidFill>
                  <a:srgbClr val="008000"/>
                </a:solidFill>
                <a:latin typeface="Meiryo UI"/>
                <a:ea typeface="Meiryo UI"/>
              </a:rPr>
              <a:t>（</a:t>
            </a:r>
            <a:r>
              <a:rPr sz="1050" b="1" dirty="0" err="1">
                <a:solidFill>
                  <a:srgbClr val="008000"/>
                </a:solidFill>
                <a:latin typeface="Meiryo UI"/>
                <a:ea typeface="Meiryo UI"/>
              </a:rPr>
              <a:t>習慣の定番購買</a:t>
            </a:r>
            <a:r>
              <a:rPr lang="ja-JP" altLang="en-US" sz="1050" b="1" dirty="0">
                <a:solidFill>
                  <a:srgbClr val="008000"/>
                </a:solidFill>
                <a:latin typeface="Meiryo UI"/>
                <a:ea typeface="Meiryo UI"/>
              </a:rPr>
              <a:t>）</a:t>
            </a:r>
            <a:endParaRPr sz="1050" b="1" dirty="0">
              <a:solidFill>
                <a:srgbClr val="008000"/>
              </a:solidFill>
              <a:latin typeface="Meiryo UI"/>
              <a:ea typeface="Meiryo UI"/>
            </a:endParaRPr>
          </a:p>
        </p:txBody>
      </p:sp>
      <p:sp>
        <p:nvSpPr>
          <p:cNvPr id="17" name="TextBox 24">
            <a:extLst>
              <a:ext uri="{FF2B5EF4-FFF2-40B4-BE49-F238E27FC236}">
                <a16:creationId xmlns:a16="http://schemas.microsoft.com/office/drawing/2014/main" id="{E57D28A8-222A-0CCD-0C4A-977814EF58EA}"/>
              </a:ext>
            </a:extLst>
          </p:cNvPr>
          <p:cNvSpPr txBox="1"/>
          <p:nvPr/>
        </p:nvSpPr>
        <p:spPr>
          <a:xfrm>
            <a:off x="1481328" y="2471858"/>
            <a:ext cx="2926080" cy="1051891"/>
          </a:xfrm>
          <a:prstGeom prst="rect">
            <a:avLst/>
          </a:prstGeom>
          <a:solidFill>
            <a:schemeClr val="accent6">
              <a:lumMod val="20000"/>
              <a:lumOff val="80000"/>
            </a:schemeClr>
          </a:solidFill>
          <a:ln>
            <a:noFill/>
          </a:ln>
        </p:spPr>
        <p:txBody>
          <a:bodyPr wrap="square" lIns="0" tIns="0" rIns="0" bIns="0">
            <a:spAutoFit/>
          </a:bodyPr>
          <a:lstStyle/>
          <a:p>
            <a:pPr>
              <a:lnSpc>
                <a:spcPct val="116000"/>
              </a:lnSpc>
            </a:pPr>
            <a:r>
              <a:rPr sz="1000" dirty="0">
                <a:latin typeface="Meiryo UI"/>
                <a:ea typeface="Meiryo UI"/>
              </a:rPr>
              <a:t>切れたから同じものを買う日用の定番購買（日用品購買の約9割は店頭）</a:t>
            </a:r>
          </a:p>
          <a:p>
            <a:pPr>
              <a:lnSpc>
                <a:spcPct val="116000"/>
              </a:lnSpc>
            </a:pPr>
            <a:r>
              <a:rPr sz="1000" dirty="0" err="1">
                <a:latin typeface="Meiryo UI"/>
                <a:ea typeface="Meiryo UI"/>
              </a:rPr>
              <a:t>勝ち方：AI自動補充・小売アルゴリズムの推奨リストに載り続け</a:t>
            </a:r>
            <a:r>
              <a:rPr sz="1000" dirty="0">
                <a:latin typeface="Meiryo UI"/>
                <a:ea typeface="Meiryo UI"/>
              </a:rPr>
              <a:t>、「</a:t>
            </a:r>
            <a:r>
              <a:rPr sz="1000" dirty="0" err="1">
                <a:latin typeface="Meiryo UI"/>
                <a:ea typeface="Meiryo UI"/>
              </a:rPr>
              <a:t>棚とAIの定番」の座を取る</a:t>
            </a:r>
            <a:endParaRPr sz="1000" dirty="0">
              <a:latin typeface="Meiryo UI"/>
              <a:ea typeface="Meiryo UI"/>
            </a:endParaRPr>
          </a:p>
          <a:p>
            <a:pPr>
              <a:lnSpc>
                <a:spcPct val="116000"/>
              </a:lnSpc>
            </a:pPr>
            <a:r>
              <a:rPr sz="1000" dirty="0">
                <a:latin typeface="Meiryo UI"/>
                <a:ea typeface="Meiryo UI"/>
              </a:rPr>
              <a:t>施策：A1★ </a:t>
            </a:r>
            <a:r>
              <a:rPr sz="1000" dirty="0" err="1">
                <a:latin typeface="Meiryo UI"/>
                <a:ea typeface="Meiryo UI"/>
              </a:rPr>
              <a:t>属性データの構造化・API化</a:t>
            </a:r>
            <a:endParaRPr sz="1000" dirty="0">
              <a:latin typeface="Meiryo UI"/>
              <a:ea typeface="Meiryo UI"/>
            </a:endParaRPr>
          </a:p>
          <a:p>
            <a:pPr>
              <a:lnSpc>
                <a:spcPct val="116000"/>
              </a:lnSpc>
            </a:pPr>
            <a:r>
              <a:rPr sz="1000" dirty="0" err="1">
                <a:latin typeface="Meiryo UI"/>
                <a:ea typeface="Meiryo UI"/>
              </a:rPr>
              <a:t>KPI：AI推奨リスト掲載率</a:t>
            </a:r>
            <a:endParaRPr sz="1000" dirty="0">
              <a:latin typeface="Meiryo UI"/>
              <a:ea typeface="Meiryo UI"/>
            </a:endParaRPr>
          </a:p>
        </p:txBody>
      </p:sp>
      <p:sp>
        <p:nvSpPr>
          <p:cNvPr id="18" name="Rectangle 25">
            <a:extLst>
              <a:ext uri="{FF2B5EF4-FFF2-40B4-BE49-F238E27FC236}">
                <a16:creationId xmlns:a16="http://schemas.microsoft.com/office/drawing/2014/main" id="{CB6C6CAC-B3FD-CD2D-04D8-70762132742E}"/>
              </a:ext>
            </a:extLst>
          </p:cNvPr>
          <p:cNvSpPr/>
          <p:nvPr/>
        </p:nvSpPr>
        <p:spPr>
          <a:xfrm>
            <a:off x="4617720" y="2080122"/>
            <a:ext cx="3154680" cy="1958680"/>
          </a:xfrm>
          <a:prstGeom prst="rect">
            <a:avLst/>
          </a:prstGeom>
          <a:solidFill>
            <a:schemeClr val="accent6">
              <a:lumMod val="20000"/>
              <a:lumOff val="80000"/>
            </a:schemeClr>
          </a:solidFill>
          <a:ln w="1524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solidFill>
                <a:schemeClr val="tx1"/>
              </a:solidFill>
            </a:endParaRPr>
          </a:p>
        </p:txBody>
      </p:sp>
      <p:sp>
        <p:nvSpPr>
          <p:cNvPr id="19" name="Rectangle 26">
            <a:extLst>
              <a:ext uri="{FF2B5EF4-FFF2-40B4-BE49-F238E27FC236}">
                <a16:creationId xmlns:a16="http://schemas.microsoft.com/office/drawing/2014/main" id="{C31171CA-072B-7925-3972-2CC50B3FCC3A}"/>
              </a:ext>
            </a:extLst>
          </p:cNvPr>
          <p:cNvSpPr/>
          <p:nvPr/>
        </p:nvSpPr>
        <p:spPr>
          <a:xfrm>
            <a:off x="4617720" y="2080122"/>
            <a:ext cx="3154680" cy="306576"/>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solidFill>
                <a:schemeClr val="tx1"/>
              </a:solidFill>
            </a:endParaRPr>
          </a:p>
        </p:txBody>
      </p:sp>
      <p:sp>
        <p:nvSpPr>
          <p:cNvPr id="20" name="TextBox 27">
            <a:extLst>
              <a:ext uri="{FF2B5EF4-FFF2-40B4-BE49-F238E27FC236}">
                <a16:creationId xmlns:a16="http://schemas.microsoft.com/office/drawing/2014/main" id="{34544655-C064-25EE-D871-B4EC45522756}"/>
              </a:ext>
            </a:extLst>
          </p:cNvPr>
          <p:cNvSpPr txBox="1"/>
          <p:nvPr/>
        </p:nvSpPr>
        <p:spPr>
          <a:xfrm>
            <a:off x="4709159" y="2122702"/>
            <a:ext cx="2971800" cy="162480"/>
          </a:xfrm>
          <a:prstGeom prst="rect">
            <a:avLst/>
          </a:prstGeom>
          <a:solidFill>
            <a:schemeClr val="accent6">
              <a:lumMod val="20000"/>
              <a:lumOff val="80000"/>
            </a:schemeClr>
          </a:solidFill>
          <a:ln>
            <a:noFill/>
          </a:ln>
        </p:spPr>
        <p:txBody>
          <a:bodyPr wrap="square" lIns="0" tIns="0" rIns="0" bIns="0">
            <a:spAutoFit/>
          </a:bodyPr>
          <a:lstStyle/>
          <a:p>
            <a:pPr>
              <a:lnSpc>
                <a:spcPct val="112000"/>
              </a:lnSpc>
            </a:pPr>
            <a:r>
              <a:rPr sz="1050" b="1" dirty="0">
                <a:solidFill>
                  <a:srgbClr val="008000"/>
                </a:solidFill>
                <a:latin typeface="Meiryo UI"/>
                <a:ea typeface="Meiryo UI"/>
              </a:rPr>
              <a:t>③ </a:t>
            </a:r>
            <a:r>
              <a:rPr sz="1050" b="1" dirty="0" err="1">
                <a:solidFill>
                  <a:srgbClr val="008000"/>
                </a:solidFill>
                <a:latin typeface="Meiryo UI"/>
                <a:ea typeface="Meiryo UI"/>
              </a:rPr>
              <a:t>予防</a:t>
            </a:r>
            <a:r>
              <a:rPr lang="ja-JP" altLang="en-US" sz="1050" b="1" dirty="0">
                <a:solidFill>
                  <a:srgbClr val="008000"/>
                </a:solidFill>
                <a:latin typeface="Meiryo UI"/>
                <a:ea typeface="Meiryo UI"/>
              </a:rPr>
              <a:t>（</a:t>
            </a:r>
            <a:r>
              <a:rPr sz="1050" b="1" dirty="0" err="1">
                <a:solidFill>
                  <a:srgbClr val="008000"/>
                </a:solidFill>
                <a:latin typeface="Meiryo UI"/>
                <a:ea typeface="Meiryo UI"/>
              </a:rPr>
              <a:t>健診・啓発が起点</a:t>
            </a:r>
            <a:r>
              <a:rPr lang="ja-JP" altLang="en-US" sz="1050" b="1" dirty="0">
                <a:solidFill>
                  <a:srgbClr val="008000"/>
                </a:solidFill>
                <a:latin typeface="Meiryo UI"/>
                <a:ea typeface="Meiryo UI"/>
              </a:rPr>
              <a:t>）</a:t>
            </a:r>
            <a:endParaRPr sz="1050" b="1" dirty="0">
              <a:solidFill>
                <a:srgbClr val="008000"/>
              </a:solidFill>
              <a:latin typeface="Meiryo UI"/>
              <a:ea typeface="Meiryo UI"/>
            </a:endParaRPr>
          </a:p>
        </p:txBody>
      </p:sp>
      <p:sp>
        <p:nvSpPr>
          <p:cNvPr id="21" name="TextBox 28">
            <a:extLst>
              <a:ext uri="{FF2B5EF4-FFF2-40B4-BE49-F238E27FC236}">
                <a16:creationId xmlns:a16="http://schemas.microsoft.com/office/drawing/2014/main" id="{1F2F897F-4A7B-5575-46D2-14338114D77C}"/>
              </a:ext>
            </a:extLst>
          </p:cNvPr>
          <p:cNvSpPr txBox="1"/>
          <p:nvPr/>
        </p:nvSpPr>
        <p:spPr>
          <a:xfrm>
            <a:off x="4727448" y="2471858"/>
            <a:ext cx="2926080" cy="1051891"/>
          </a:xfrm>
          <a:prstGeom prst="rect">
            <a:avLst/>
          </a:prstGeom>
          <a:solidFill>
            <a:schemeClr val="accent6">
              <a:lumMod val="20000"/>
              <a:lumOff val="80000"/>
            </a:schemeClr>
          </a:solidFill>
          <a:ln>
            <a:noFill/>
          </a:ln>
        </p:spPr>
        <p:txBody>
          <a:bodyPr wrap="square" lIns="0" tIns="0" rIns="0" bIns="0">
            <a:spAutoFit/>
          </a:bodyPr>
          <a:lstStyle/>
          <a:p>
            <a:pPr>
              <a:lnSpc>
                <a:spcPct val="116000"/>
              </a:lnSpc>
            </a:pPr>
            <a:r>
              <a:rPr sz="1000">
                <a:latin typeface="Meiryo UI"/>
                <a:ea typeface="Meiryo UI"/>
              </a:rPr>
              <a:t>症状が出る前の先行ケア。皆歯科健診（骨太2022明記）・学校啓発が需要を作る</a:t>
            </a:r>
          </a:p>
          <a:p>
            <a:pPr>
              <a:lnSpc>
                <a:spcPct val="116000"/>
              </a:lnSpc>
            </a:pPr>
            <a:r>
              <a:rPr sz="1000">
                <a:latin typeface="Meiryo UI"/>
                <a:ea typeface="Meiryo UI"/>
              </a:rPr>
              <a:t>勝ち方：学校・自治体・健診ルートを接点化し、若年層から習慣を定着させる</a:t>
            </a:r>
          </a:p>
          <a:p>
            <a:pPr>
              <a:lnSpc>
                <a:spcPct val="116000"/>
              </a:lnSpc>
            </a:pPr>
            <a:r>
              <a:rPr sz="1000">
                <a:latin typeface="Meiryo UI"/>
                <a:ea typeface="Meiryo UI"/>
              </a:rPr>
              <a:t>施策：A2 学校・自治体ルートのデジタル化</a:t>
            </a:r>
          </a:p>
          <a:p>
            <a:pPr>
              <a:lnSpc>
                <a:spcPct val="116000"/>
              </a:lnSpc>
            </a:pPr>
            <a:r>
              <a:rPr sz="1000">
                <a:latin typeface="Meiryo UI"/>
                <a:ea typeface="Meiryo UI"/>
              </a:rPr>
              <a:t>KPI：若年層習慣定着率</a:t>
            </a:r>
          </a:p>
        </p:txBody>
      </p:sp>
      <p:sp>
        <p:nvSpPr>
          <p:cNvPr id="22" name="Rectangle 29">
            <a:extLst>
              <a:ext uri="{FF2B5EF4-FFF2-40B4-BE49-F238E27FC236}">
                <a16:creationId xmlns:a16="http://schemas.microsoft.com/office/drawing/2014/main" id="{85CE7659-BF1E-6084-A520-85B9FD57E502}"/>
              </a:ext>
            </a:extLst>
          </p:cNvPr>
          <p:cNvSpPr/>
          <p:nvPr/>
        </p:nvSpPr>
        <p:spPr>
          <a:xfrm>
            <a:off x="1371600" y="4149511"/>
            <a:ext cx="3154680" cy="1958680"/>
          </a:xfrm>
          <a:prstGeom prst="rect">
            <a:avLst/>
          </a:prstGeom>
          <a:solidFill>
            <a:schemeClr val="accent6">
              <a:lumMod val="20000"/>
              <a:lumOff val="80000"/>
            </a:schemeClr>
          </a:solidFill>
          <a:ln w="1524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solidFill>
                <a:schemeClr val="tx1"/>
              </a:solidFill>
            </a:endParaRPr>
          </a:p>
        </p:txBody>
      </p:sp>
      <p:sp>
        <p:nvSpPr>
          <p:cNvPr id="23" name="Rectangle 30">
            <a:extLst>
              <a:ext uri="{FF2B5EF4-FFF2-40B4-BE49-F238E27FC236}">
                <a16:creationId xmlns:a16="http://schemas.microsoft.com/office/drawing/2014/main" id="{621AC2EC-BA59-97FC-95EC-95316D7168CE}"/>
              </a:ext>
            </a:extLst>
          </p:cNvPr>
          <p:cNvSpPr/>
          <p:nvPr/>
        </p:nvSpPr>
        <p:spPr>
          <a:xfrm>
            <a:off x="1371600" y="4149511"/>
            <a:ext cx="3154680" cy="306576"/>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solidFill>
                <a:schemeClr val="tx1"/>
              </a:solidFill>
            </a:endParaRPr>
          </a:p>
        </p:txBody>
      </p:sp>
      <p:sp>
        <p:nvSpPr>
          <p:cNvPr id="24" name="TextBox 31">
            <a:extLst>
              <a:ext uri="{FF2B5EF4-FFF2-40B4-BE49-F238E27FC236}">
                <a16:creationId xmlns:a16="http://schemas.microsoft.com/office/drawing/2014/main" id="{0EF43B9E-BD4F-127B-EE04-5DB891632AE9}"/>
              </a:ext>
            </a:extLst>
          </p:cNvPr>
          <p:cNvSpPr txBox="1"/>
          <p:nvPr/>
        </p:nvSpPr>
        <p:spPr>
          <a:xfrm>
            <a:off x="1463040" y="4192090"/>
            <a:ext cx="2971800" cy="162480"/>
          </a:xfrm>
          <a:prstGeom prst="rect">
            <a:avLst/>
          </a:prstGeom>
          <a:solidFill>
            <a:schemeClr val="accent6">
              <a:lumMod val="20000"/>
              <a:lumOff val="80000"/>
            </a:schemeClr>
          </a:solidFill>
          <a:ln>
            <a:noFill/>
          </a:ln>
        </p:spPr>
        <p:txBody>
          <a:bodyPr wrap="square" lIns="0" tIns="0" rIns="0" bIns="0">
            <a:spAutoFit/>
          </a:bodyPr>
          <a:lstStyle/>
          <a:p>
            <a:pPr>
              <a:lnSpc>
                <a:spcPct val="112000"/>
              </a:lnSpc>
            </a:pPr>
            <a:r>
              <a:rPr sz="1050" b="1" dirty="0">
                <a:solidFill>
                  <a:srgbClr val="008000"/>
                </a:solidFill>
                <a:latin typeface="Meiryo UI"/>
                <a:ea typeface="Meiryo UI"/>
              </a:rPr>
              <a:t>② </a:t>
            </a:r>
            <a:r>
              <a:rPr sz="1050" b="1" dirty="0" err="1">
                <a:solidFill>
                  <a:srgbClr val="008000"/>
                </a:solidFill>
                <a:latin typeface="Meiryo UI"/>
                <a:ea typeface="Meiryo UI"/>
              </a:rPr>
              <a:t>悩み</a:t>
            </a:r>
            <a:r>
              <a:rPr lang="en-US" altLang="ja-JP" sz="1050" b="1" dirty="0">
                <a:solidFill>
                  <a:srgbClr val="008000"/>
                </a:solidFill>
                <a:latin typeface="Meiryo UI"/>
                <a:ea typeface="Meiryo UI"/>
              </a:rPr>
              <a:t>(</a:t>
            </a:r>
            <a:r>
              <a:rPr sz="1050" b="1" dirty="0" err="1">
                <a:solidFill>
                  <a:srgbClr val="008000"/>
                </a:solidFill>
                <a:latin typeface="Meiryo UI"/>
                <a:ea typeface="Meiryo UI"/>
              </a:rPr>
              <a:t>症状をセルフケアで解決</a:t>
            </a:r>
            <a:r>
              <a:rPr lang="en-US" altLang="ja-JP" sz="1050" b="1" dirty="0">
                <a:solidFill>
                  <a:srgbClr val="008000"/>
                </a:solidFill>
                <a:latin typeface="Meiryo UI"/>
                <a:ea typeface="Meiryo UI"/>
              </a:rPr>
              <a:t>)</a:t>
            </a:r>
            <a:endParaRPr sz="1050" b="1" dirty="0">
              <a:solidFill>
                <a:srgbClr val="008000"/>
              </a:solidFill>
              <a:latin typeface="Meiryo UI"/>
              <a:ea typeface="Meiryo UI"/>
            </a:endParaRPr>
          </a:p>
        </p:txBody>
      </p:sp>
      <p:sp>
        <p:nvSpPr>
          <p:cNvPr id="25" name="TextBox 32">
            <a:extLst>
              <a:ext uri="{FF2B5EF4-FFF2-40B4-BE49-F238E27FC236}">
                <a16:creationId xmlns:a16="http://schemas.microsoft.com/office/drawing/2014/main" id="{131A2635-C729-46B1-DC2E-FC16D2956C27}"/>
              </a:ext>
            </a:extLst>
          </p:cNvPr>
          <p:cNvSpPr txBox="1"/>
          <p:nvPr/>
        </p:nvSpPr>
        <p:spPr>
          <a:xfrm>
            <a:off x="1481328" y="4541247"/>
            <a:ext cx="2926080" cy="1051891"/>
          </a:xfrm>
          <a:prstGeom prst="rect">
            <a:avLst/>
          </a:prstGeom>
          <a:solidFill>
            <a:schemeClr val="accent6">
              <a:lumMod val="20000"/>
              <a:lumOff val="80000"/>
            </a:schemeClr>
          </a:solidFill>
          <a:ln>
            <a:noFill/>
          </a:ln>
        </p:spPr>
        <p:txBody>
          <a:bodyPr wrap="square" lIns="0" tIns="0" rIns="0" bIns="0">
            <a:spAutoFit/>
          </a:bodyPr>
          <a:lstStyle/>
          <a:p>
            <a:pPr>
              <a:lnSpc>
                <a:spcPct val="116000"/>
              </a:lnSpc>
            </a:pPr>
            <a:r>
              <a:rPr sz="1000">
                <a:latin typeface="Meiryo UI"/>
                <a:ea typeface="Meiryo UI"/>
              </a:rPr>
              <a:t>知覚過敏・口臭・歯周などを店頭・ECで自分で解決する高関与購買</a:t>
            </a:r>
          </a:p>
          <a:p>
            <a:pPr>
              <a:lnSpc>
                <a:spcPct val="116000"/>
              </a:lnSpc>
            </a:pPr>
            <a:r>
              <a:rPr sz="1000">
                <a:latin typeface="Meiryo UI"/>
                <a:ea typeface="Meiryo UI"/>
              </a:rPr>
              <a:t>勝ち方：検索・AI回答に「効く根拠」を供給し、値引きではなく指名で選ばれる</a:t>
            </a:r>
          </a:p>
          <a:p>
            <a:pPr>
              <a:lnSpc>
                <a:spcPct val="116000"/>
              </a:lnSpc>
            </a:pPr>
            <a:r>
              <a:rPr sz="1000">
                <a:latin typeface="Meiryo UI"/>
                <a:ea typeface="Meiryo UI"/>
              </a:rPr>
              <a:t>施策：C1★ 臨床データ変換（消費者向け根拠）</a:t>
            </a:r>
          </a:p>
          <a:p>
            <a:pPr>
              <a:lnSpc>
                <a:spcPct val="116000"/>
              </a:lnSpc>
            </a:pPr>
            <a:r>
              <a:rPr sz="1000">
                <a:latin typeface="Meiryo UI"/>
                <a:ea typeface="Meiryo UI"/>
              </a:rPr>
              <a:t>KPI：AIEO Rate（AI推奨シェア）</a:t>
            </a:r>
          </a:p>
        </p:txBody>
      </p:sp>
      <p:sp>
        <p:nvSpPr>
          <p:cNvPr id="26" name="Rectangle 33">
            <a:extLst>
              <a:ext uri="{FF2B5EF4-FFF2-40B4-BE49-F238E27FC236}">
                <a16:creationId xmlns:a16="http://schemas.microsoft.com/office/drawing/2014/main" id="{1996C1AC-BB22-F44F-21DD-039CE2C25CEB}"/>
              </a:ext>
            </a:extLst>
          </p:cNvPr>
          <p:cNvSpPr/>
          <p:nvPr/>
        </p:nvSpPr>
        <p:spPr>
          <a:xfrm>
            <a:off x="4617720" y="4149511"/>
            <a:ext cx="3154680" cy="1958680"/>
          </a:xfrm>
          <a:prstGeom prst="rect">
            <a:avLst/>
          </a:prstGeom>
          <a:solidFill>
            <a:schemeClr val="accent6">
              <a:lumMod val="20000"/>
              <a:lumOff val="80000"/>
            </a:schemeClr>
          </a:solidFill>
          <a:ln w="1524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solidFill>
                <a:schemeClr val="tx1"/>
              </a:solidFill>
            </a:endParaRPr>
          </a:p>
        </p:txBody>
      </p:sp>
      <p:sp>
        <p:nvSpPr>
          <p:cNvPr id="27" name="Rectangle 34">
            <a:extLst>
              <a:ext uri="{FF2B5EF4-FFF2-40B4-BE49-F238E27FC236}">
                <a16:creationId xmlns:a16="http://schemas.microsoft.com/office/drawing/2014/main" id="{036CCBA7-5533-96FD-59CE-6AA7A7F42A6E}"/>
              </a:ext>
            </a:extLst>
          </p:cNvPr>
          <p:cNvSpPr/>
          <p:nvPr/>
        </p:nvSpPr>
        <p:spPr>
          <a:xfrm>
            <a:off x="4617720" y="4149511"/>
            <a:ext cx="3154680" cy="306576"/>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solidFill>
                <a:schemeClr val="tx1"/>
              </a:solidFill>
            </a:endParaRPr>
          </a:p>
        </p:txBody>
      </p:sp>
      <p:sp>
        <p:nvSpPr>
          <p:cNvPr id="28" name="TextBox 35">
            <a:extLst>
              <a:ext uri="{FF2B5EF4-FFF2-40B4-BE49-F238E27FC236}">
                <a16:creationId xmlns:a16="http://schemas.microsoft.com/office/drawing/2014/main" id="{C82523F4-7376-C1C2-D14C-14738BB659C8}"/>
              </a:ext>
            </a:extLst>
          </p:cNvPr>
          <p:cNvSpPr txBox="1"/>
          <p:nvPr/>
        </p:nvSpPr>
        <p:spPr>
          <a:xfrm>
            <a:off x="4709159" y="4192090"/>
            <a:ext cx="2971800" cy="162480"/>
          </a:xfrm>
          <a:prstGeom prst="rect">
            <a:avLst/>
          </a:prstGeom>
          <a:solidFill>
            <a:schemeClr val="accent6">
              <a:lumMod val="20000"/>
              <a:lumOff val="80000"/>
            </a:schemeClr>
          </a:solidFill>
          <a:ln>
            <a:noFill/>
          </a:ln>
        </p:spPr>
        <p:txBody>
          <a:bodyPr wrap="square" lIns="0" tIns="0" rIns="0" bIns="0">
            <a:spAutoFit/>
          </a:bodyPr>
          <a:lstStyle/>
          <a:p>
            <a:pPr>
              <a:lnSpc>
                <a:spcPct val="112000"/>
              </a:lnSpc>
            </a:pPr>
            <a:r>
              <a:rPr sz="1050" b="1" dirty="0">
                <a:solidFill>
                  <a:srgbClr val="008000"/>
                </a:solidFill>
                <a:latin typeface="Meiryo UI"/>
                <a:ea typeface="Meiryo UI"/>
              </a:rPr>
              <a:t>④ </a:t>
            </a:r>
            <a:r>
              <a:rPr sz="1050" b="1" dirty="0" err="1">
                <a:solidFill>
                  <a:srgbClr val="008000"/>
                </a:solidFill>
                <a:latin typeface="Meiryo UI"/>
                <a:ea typeface="Meiryo UI"/>
              </a:rPr>
              <a:t>口腔機能</a:t>
            </a:r>
            <a:r>
              <a:rPr lang="en-US" altLang="ja-JP" sz="1050" b="1" dirty="0">
                <a:solidFill>
                  <a:srgbClr val="008000"/>
                </a:solidFill>
                <a:latin typeface="Meiryo UI"/>
                <a:ea typeface="Meiryo UI"/>
              </a:rPr>
              <a:t>(</a:t>
            </a:r>
            <a:r>
              <a:rPr sz="1050" b="1" dirty="0" err="1">
                <a:solidFill>
                  <a:srgbClr val="008000"/>
                </a:solidFill>
                <a:latin typeface="Meiryo UI"/>
                <a:ea typeface="Meiryo UI"/>
              </a:rPr>
              <a:t>機能の維持・回復</a:t>
            </a:r>
            <a:r>
              <a:rPr lang="en-US" altLang="ja-JP" sz="1050" b="1" dirty="0">
                <a:solidFill>
                  <a:srgbClr val="008000"/>
                </a:solidFill>
                <a:latin typeface="Meiryo UI"/>
                <a:ea typeface="Meiryo UI"/>
              </a:rPr>
              <a:t>)</a:t>
            </a:r>
            <a:endParaRPr sz="1050" b="1" dirty="0">
              <a:solidFill>
                <a:srgbClr val="008000"/>
              </a:solidFill>
              <a:latin typeface="Meiryo UI"/>
              <a:ea typeface="Meiryo UI"/>
            </a:endParaRPr>
          </a:p>
        </p:txBody>
      </p:sp>
      <p:sp>
        <p:nvSpPr>
          <p:cNvPr id="29" name="TextBox 36">
            <a:extLst>
              <a:ext uri="{FF2B5EF4-FFF2-40B4-BE49-F238E27FC236}">
                <a16:creationId xmlns:a16="http://schemas.microsoft.com/office/drawing/2014/main" id="{960457F2-4F6C-74D2-7CEA-4879289A3369}"/>
              </a:ext>
            </a:extLst>
          </p:cNvPr>
          <p:cNvSpPr txBox="1"/>
          <p:nvPr/>
        </p:nvSpPr>
        <p:spPr>
          <a:xfrm>
            <a:off x="4727448" y="4541247"/>
            <a:ext cx="2926080" cy="1051891"/>
          </a:xfrm>
          <a:prstGeom prst="rect">
            <a:avLst/>
          </a:prstGeom>
          <a:solidFill>
            <a:schemeClr val="accent6">
              <a:lumMod val="20000"/>
              <a:lumOff val="80000"/>
            </a:schemeClr>
          </a:solidFill>
          <a:ln>
            <a:noFill/>
          </a:ln>
        </p:spPr>
        <p:txBody>
          <a:bodyPr wrap="square" lIns="0" tIns="0" rIns="0" bIns="0">
            <a:spAutoFit/>
          </a:bodyPr>
          <a:lstStyle/>
          <a:p>
            <a:pPr>
              <a:lnSpc>
                <a:spcPct val="116000"/>
              </a:lnSpc>
            </a:pPr>
            <a:r>
              <a:rPr sz="1000">
                <a:latin typeface="Meiryo UI"/>
                <a:ea typeface="Meiryo UI"/>
              </a:rPr>
              <a:t>加齢で落ちた機能の維持・回復。口腔機能低下症（2018年保険病名化）・介護連携</a:t>
            </a:r>
          </a:p>
          <a:p>
            <a:pPr>
              <a:lnSpc>
                <a:spcPct val="116000"/>
              </a:lnSpc>
            </a:pPr>
            <a:r>
              <a:rPr sz="1000">
                <a:latin typeface="Meiryo UI"/>
                <a:ea typeface="Meiryo UI"/>
              </a:rPr>
              <a:t>勝ち方：歯科・介護の専門職推奨で選ばれるB2B2C。推奨と購買はDCRで照合する</a:t>
            </a:r>
          </a:p>
          <a:p>
            <a:pPr>
              <a:lnSpc>
                <a:spcPct val="116000"/>
              </a:lnSpc>
            </a:pPr>
            <a:r>
              <a:rPr sz="1000">
                <a:latin typeface="Meiryo UI"/>
                <a:ea typeface="Meiryo UI"/>
              </a:rPr>
              <a:t>施策：C1★・DCR（小売データ照合）</a:t>
            </a:r>
          </a:p>
          <a:p>
            <a:pPr>
              <a:lnSpc>
                <a:spcPct val="116000"/>
              </a:lnSpc>
            </a:pPr>
            <a:r>
              <a:rPr sz="1000">
                <a:latin typeface="Meiryo UI"/>
                <a:ea typeface="Meiryo UI"/>
              </a:rPr>
              <a:t>KPI：B2B2C推奨起点売上比率</a:t>
            </a:r>
          </a:p>
        </p:txBody>
      </p:sp>
      <p:sp>
        <p:nvSpPr>
          <p:cNvPr id="38" name="Rectangle 37">
            <a:extLst>
              <a:ext uri="{FF2B5EF4-FFF2-40B4-BE49-F238E27FC236}">
                <a16:creationId xmlns:a16="http://schemas.microsoft.com/office/drawing/2014/main" id="{75D04BDB-1E70-7600-3383-F947CEAC5377}"/>
              </a:ext>
            </a:extLst>
          </p:cNvPr>
          <p:cNvSpPr/>
          <p:nvPr/>
        </p:nvSpPr>
        <p:spPr>
          <a:xfrm>
            <a:off x="7909560" y="1628774"/>
            <a:ext cx="3931920" cy="2410029"/>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0" name="TextBox 38">
            <a:extLst>
              <a:ext uri="{FF2B5EF4-FFF2-40B4-BE49-F238E27FC236}">
                <a16:creationId xmlns:a16="http://schemas.microsoft.com/office/drawing/2014/main" id="{8EDCE0E4-6D73-9B79-B6C0-CE71869897CD}"/>
              </a:ext>
            </a:extLst>
          </p:cNvPr>
          <p:cNvSpPr txBox="1"/>
          <p:nvPr/>
        </p:nvSpPr>
        <p:spPr>
          <a:xfrm>
            <a:off x="8046720" y="1713934"/>
            <a:ext cx="3657600" cy="170239"/>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分割の運用ルール（境界の決め方）</a:t>
            </a:r>
          </a:p>
        </p:txBody>
      </p:sp>
      <p:sp>
        <p:nvSpPr>
          <p:cNvPr id="42" name="TextBox 39">
            <a:extLst>
              <a:ext uri="{FF2B5EF4-FFF2-40B4-BE49-F238E27FC236}">
                <a16:creationId xmlns:a16="http://schemas.microsoft.com/office/drawing/2014/main" id="{E2FBFC6C-B8A2-36BA-2727-59DB77C45899}"/>
              </a:ext>
            </a:extLst>
          </p:cNvPr>
          <p:cNvSpPr txBox="1"/>
          <p:nvPr/>
        </p:nvSpPr>
        <p:spPr>
          <a:xfrm>
            <a:off x="8046720" y="2020510"/>
            <a:ext cx="3657600" cy="939168"/>
          </a:xfrm>
          <a:prstGeom prst="rect">
            <a:avLst/>
          </a:prstGeom>
          <a:noFill/>
        </p:spPr>
        <p:txBody>
          <a:bodyPr wrap="square" lIns="0" tIns="0" rIns="0" bIns="0">
            <a:spAutoFit/>
          </a:bodyPr>
          <a:lstStyle/>
          <a:p>
            <a:pPr>
              <a:lnSpc>
                <a:spcPct val="125000"/>
              </a:lnSpc>
            </a:pPr>
            <a:r>
              <a:rPr sz="1000" dirty="0">
                <a:solidFill>
                  <a:srgbClr val="262626"/>
                </a:solidFill>
                <a:latin typeface="Meiryo UI"/>
                <a:ea typeface="Meiryo UI"/>
              </a:rPr>
              <a:t>ルール1　</a:t>
            </a:r>
            <a:r>
              <a:rPr sz="1000" dirty="0" err="1">
                <a:solidFill>
                  <a:srgbClr val="262626"/>
                </a:solidFill>
                <a:latin typeface="Meiryo UI"/>
                <a:ea typeface="Meiryo UI"/>
              </a:rPr>
              <a:t>継続購買は「初回動機」の市場に留めて数える</a:t>
            </a:r>
            <a:r>
              <a:rPr sz="1000" dirty="0">
                <a:solidFill>
                  <a:srgbClr val="262626"/>
                </a:solidFill>
                <a:latin typeface="Meiryo UI"/>
                <a:ea typeface="Meiryo UI"/>
              </a:rPr>
              <a:t> ― </a:t>
            </a:r>
            <a:r>
              <a:rPr sz="1000" dirty="0" err="1">
                <a:solidFill>
                  <a:srgbClr val="262626"/>
                </a:solidFill>
                <a:latin typeface="Meiryo UI"/>
                <a:ea typeface="Meiryo UI"/>
              </a:rPr>
              <a:t>悩み→補充への移行率が、そのまま「習慣化」の成果指標になる</a:t>
            </a:r>
            <a:endParaRPr sz="1000" dirty="0">
              <a:solidFill>
                <a:srgbClr val="262626"/>
              </a:solidFill>
              <a:latin typeface="Meiryo UI"/>
              <a:ea typeface="Meiryo UI"/>
            </a:endParaRPr>
          </a:p>
          <a:p>
            <a:pPr>
              <a:lnSpc>
                <a:spcPct val="125000"/>
              </a:lnSpc>
            </a:pPr>
            <a:endParaRPr lang="en-US" sz="1000" dirty="0">
              <a:solidFill>
                <a:srgbClr val="262626"/>
              </a:solidFill>
              <a:latin typeface="Meiryo UI"/>
              <a:ea typeface="Meiryo UI"/>
            </a:endParaRPr>
          </a:p>
          <a:p>
            <a:pPr>
              <a:lnSpc>
                <a:spcPct val="125000"/>
              </a:lnSpc>
            </a:pPr>
            <a:r>
              <a:rPr sz="1000" dirty="0">
                <a:solidFill>
                  <a:srgbClr val="262626"/>
                </a:solidFill>
                <a:latin typeface="Meiryo UI"/>
                <a:ea typeface="Meiryo UI"/>
              </a:rPr>
              <a:t>ルール2　</a:t>
            </a:r>
            <a:r>
              <a:rPr sz="1000" dirty="0" err="1">
                <a:solidFill>
                  <a:srgbClr val="262626"/>
                </a:solidFill>
                <a:latin typeface="Meiryo UI"/>
                <a:ea typeface="Meiryo UI"/>
              </a:rPr>
              <a:t>専門職の推奨が意思決定を主導した購買は右側に分類する。特売・チラシでの購買は①の価格による加速として扱う</a:t>
            </a:r>
            <a:endParaRPr sz="1000" dirty="0">
              <a:solidFill>
                <a:srgbClr val="262626"/>
              </a:solidFill>
              <a:latin typeface="Meiryo UI"/>
              <a:ea typeface="Meiryo UI"/>
            </a:endParaRPr>
          </a:p>
        </p:txBody>
      </p:sp>
      <p:sp>
        <p:nvSpPr>
          <p:cNvPr id="44" name="Rectangle 40">
            <a:extLst>
              <a:ext uri="{FF2B5EF4-FFF2-40B4-BE49-F238E27FC236}">
                <a16:creationId xmlns:a16="http://schemas.microsoft.com/office/drawing/2014/main" id="{A12F0452-63C7-A4BE-EBB9-621650EC78FD}"/>
              </a:ext>
            </a:extLst>
          </p:cNvPr>
          <p:cNvSpPr/>
          <p:nvPr/>
        </p:nvSpPr>
        <p:spPr>
          <a:xfrm>
            <a:off x="7909560" y="4149511"/>
            <a:ext cx="3931920" cy="1958680"/>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6" name="TextBox 41">
            <a:extLst>
              <a:ext uri="{FF2B5EF4-FFF2-40B4-BE49-F238E27FC236}">
                <a16:creationId xmlns:a16="http://schemas.microsoft.com/office/drawing/2014/main" id="{E29E155C-7C59-D5F3-E8D1-0356A8EB0D79}"/>
              </a:ext>
            </a:extLst>
          </p:cNvPr>
          <p:cNvSpPr txBox="1"/>
          <p:nvPr/>
        </p:nvSpPr>
        <p:spPr>
          <a:xfrm>
            <a:off x="8046720" y="4234671"/>
            <a:ext cx="3657600" cy="170239"/>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実測で確定（仮説のまま使わない）</a:t>
            </a:r>
          </a:p>
        </p:txBody>
      </p:sp>
      <p:sp>
        <p:nvSpPr>
          <p:cNvPr id="48" name="TextBox 42">
            <a:extLst>
              <a:ext uri="{FF2B5EF4-FFF2-40B4-BE49-F238E27FC236}">
                <a16:creationId xmlns:a16="http://schemas.microsoft.com/office/drawing/2014/main" id="{4A1AFAD1-3C31-0DCC-6524-5EDB1BDD0414}"/>
              </a:ext>
            </a:extLst>
          </p:cNvPr>
          <p:cNvSpPr txBox="1"/>
          <p:nvPr/>
        </p:nvSpPr>
        <p:spPr>
          <a:xfrm>
            <a:off x="8046720" y="4541247"/>
            <a:ext cx="3657600" cy="554447"/>
          </a:xfrm>
          <a:prstGeom prst="rect">
            <a:avLst/>
          </a:prstGeom>
          <a:noFill/>
        </p:spPr>
        <p:txBody>
          <a:bodyPr wrap="square" lIns="0" tIns="0" rIns="0" bIns="0">
            <a:spAutoFit/>
          </a:bodyPr>
          <a:lstStyle/>
          <a:p>
            <a:pPr>
              <a:lnSpc>
                <a:spcPct val="125000"/>
              </a:lnSpc>
            </a:pPr>
            <a:r>
              <a:rPr sz="1000" b="0" dirty="0">
                <a:solidFill>
                  <a:srgbClr val="262626"/>
                </a:solidFill>
                <a:latin typeface="Meiryo UI"/>
                <a:ea typeface="Meiryo UI"/>
              </a:rPr>
              <a:t>4市場の構成比・市場サイズは、FY26上期にID-POS・購買経路データで実測する。結果次第で市場の統合・境界変更を行い、市場別KPIの目標値もそこで確定する ― </a:t>
            </a:r>
            <a:r>
              <a:rPr sz="1000" b="0" dirty="0" err="1">
                <a:solidFill>
                  <a:srgbClr val="262626"/>
                </a:solidFill>
                <a:latin typeface="Meiryo UI"/>
                <a:ea typeface="Meiryo UI"/>
              </a:rPr>
              <a:t>分割は検証対象であり、聖域ではない</a:t>
            </a:r>
            <a:endParaRPr sz="1000" b="0" dirty="0">
              <a:solidFill>
                <a:srgbClr val="262626"/>
              </a:solidFill>
              <a:latin typeface="Meiryo UI"/>
              <a:ea typeface="Meiryo UI"/>
            </a:endParaRPr>
          </a:p>
        </p:txBody>
      </p:sp>
    </p:spTree>
    <p:extLst>
      <p:ext uri="{BB962C8B-B14F-4D97-AF65-F5344CB8AC3E}">
        <p14:creationId xmlns:p14="http://schemas.microsoft.com/office/powerpoint/2010/main" val="2866601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A4C5E-7A5C-D4E8-A9FA-0F4FB28A2E8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8CC633-93E0-5AF6-C894-CB21B730CCEE}"/>
              </a:ext>
            </a:extLst>
          </p:cNvPr>
          <p:cNvSpPr>
            <a:spLocks noGrp="1"/>
          </p:cNvSpPr>
          <p:nvPr>
            <p:ph type="title"/>
          </p:nvPr>
        </p:nvSpPr>
        <p:spPr>
          <a:xfrm>
            <a:off x="334963" y="1"/>
            <a:ext cx="11522075" cy="914400"/>
          </a:xfrm>
        </p:spPr>
        <p:txBody>
          <a:bodyPr/>
          <a:lstStyle/>
          <a:p>
            <a:r>
              <a:rPr lang="en-US" altLang="ja-JP" dirty="0">
                <a:latin typeface="メイリオ" panose="020B0604030504040204" pitchFamily="50" charset="-128"/>
                <a:ea typeface="メイリオ" panose="020B0604030504040204" pitchFamily="50" charset="-128"/>
              </a:rPr>
              <a:t>4</a:t>
            </a:r>
            <a:r>
              <a:rPr lang="ja-JP" altLang="en-US" dirty="0">
                <a:latin typeface="メイリオ" panose="020B0604030504040204" pitchFamily="50" charset="-128"/>
                <a:ea typeface="メイリオ" panose="020B0604030504040204" pitchFamily="50" charset="-128"/>
              </a:rPr>
              <a:t>つの変革テーマ </a:t>
            </a:r>
            <a:r>
              <a:rPr lang="en-US" altLang="ja-JP" dirty="0">
                <a:latin typeface="メイリオ" panose="020B0604030504040204" pitchFamily="50" charset="-128"/>
                <a:ea typeface="メイリオ" panose="020B0604030504040204" pitchFamily="50" charset="-128"/>
              </a:rPr>
              <a:t>× 8</a:t>
            </a:r>
            <a:r>
              <a:rPr lang="ja-JP" altLang="en-US" dirty="0">
                <a:latin typeface="メイリオ" panose="020B0604030504040204" pitchFamily="50" charset="-128"/>
                <a:ea typeface="メイリオ" panose="020B0604030504040204" pitchFamily="50" charset="-128"/>
              </a:rPr>
              <a:t>つの重点施策 </a:t>
            </a:r>
            <a:r>
              <a:rPr lang="en-US" altLang="ja-JP" dirty="0">
                <a:latin typeface="メイリオ" panose="020B0604030504040204" pitchFamily="50" charset="-128"/>
                <a:ea typeface="メイリオ" panose="020B0604030504040204" pitchFamily="50" charset="-128"/>
              </a:rPr>
              <a:t>(A1〜D2)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78DD1FEB-8A99-1BD2-FCF5-122300380566}"/>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800" dirty="0">
                <a:latin typeface="+mn-ea"/>
                <a:ea typeface="+mn-ea"/>
              </a:rPr>
              <a:t/>
            </a:r>
            <a:endParaRPr lang="ja-JP" altLang="en-US" sz="1800" dirty="0">
              <a:latin typeface="+mn-ea"/>
              <a:ea typeface="+mn-ea"/>
            </a:endParaRPr>
          </a:p>
        </p:txBody>
      </p:sp>
      <p:sp>
        <p:nvSpPr>
          <p:cNvPr id="6" name="テキスト ボックス 5">
            <a:extLst>
              <a:ext uri="{FF2B5EF4-FFF2-40B4-BE49-F238E27FC236}">
                <a16:creationId xmlns:a16="http://schemas.microsoft.com/office/drawing/2014/main" id="{391CD2E8-79B5-CE97-4F2F-12ED7F022DC7}"/>
              </a:ext>
            </a:extLst>
          </p:cNvPr>
          <p:cNvSpPr txBox="1"/>
          <p:nvPr/>
        </p:nvSpPr>
        <p:spPr>
          <a:xfrm>
            <a:off x="334962" y="5622163"/>
            <a:ext cx="11522075" cy="393954"/>
          </a:xfrm>
          <a:prstGeom prst="rect">
            <a:avLst/>
          </a:prstGeom>
          <a:noFill/>
        </p:spPr>
        <p:txBody>
          <a:bodyPr wrap="square">
            <a:spAutoFit/>
          </a:bodyPr>
          <a:lstStyle/>
          <a:p>
            <a:pPr defTabSz="628650">
              <a:lnSpc>
                <a:spcPct val="115000"/>
              </a:lnSpc>
            </a:pPr>
            <a:r>
              <a:rPr lang="ja-JP" altLang="en-US" sz="900" dirty="0">
                <a:solidFill>
                  <a:srgbClr val="008D2E"/>
                </a:solidFill>
                <a:latin typeface="+mn-ea"/>
              </a:rPr>
              <a:t>真因との対応と投資規律 </a:t>
            </a:r>
            <a:r>
              <a:rPr lang="en-US" altLang="ja-JP" sz="900" dirty="0">
                <a:latin typeface="+mn-ea"/>
              </a:rPr>
              <a:t>:</a:t>
            </a:r>
            <a:r>
              <a:rPr lang="en-US" altLang="ja-JP" sz="900" dirty="0">
                <a:solidFill>
                  <a:srgbClr val="008D2E"/>
                </a:solidFill>
                <a:latin typeface="+mn-ea"/>
              </a:rPr>
              <a:t>	</a:t>
            </a:r>
            <a:r>
              <a:rPr lang="ja-JP" altLang="en-US" sz="900" dirty="0">
                <a:solidFill>
                  <a:srgbClr val="262626"/>
                </a:solidFill>
                <a:latin typeface="+mn-ea"/>
              </a:rPr>
              <a:t>資源の使い方 </a:t>
            </a:r>
            <a:r>
              <a:rPr lang="en-US" altLang="ja-JP" sz="900" dirty="0">
                <a:solidFill>
                  <a:srgbClr val="262626"/>
                </a:solidFill>
                <a:latin typeface="+mn-ea"/>
              </a:rPr>
              <a:t>(</a:t>
            </a:r>
            <a:r>
              <a:rPr lang="ja-JP" altLang="en-US" sz="900" dirty="0">
                <a:solidFill>
                  <a:srgbClr val="262626"/>
                </a:solidFill>
                <a:latin typeface="+mn-ea"/>
              </a:rPr>
              <a:t>真因</a:t>
            </a:r>
            <a:r>
              <a:rPr lang="en-US" altLang="ja-JP" sz="900" dirty="0">
                <a:solidFill>
                  <a:srgbClr val="262626"/>
                </a:solidFill>
                <a:latin typeface="+mn-ea"/>
              </a:rPr>
              <a:t>1) </a:t>
            </a:r>
            <a:r>
              <a:rPr lang="ja-JP" altLang="en-US" sz="900" dirty="0">
                <a:solidFill>
                  <a:srgbClr val="262626"/>
                </a:solidFill>
                <a:latin typeface="+mn-ea"/>
              </a:rPr>
              <a:t>＝前頁・解決</a:t>
            </a:r>
            <a:r>
              <a:rPr lang="en-US" altLang="ja-JP" sz="900" dirty="0">
                <a:solidFill>
                  <a:srgbClr val="262626"/>
                </a:solidFill>
                <a:latin typeface="+mn-ea"/>
              </a:rPr>
              <a:t>1</a:t>
            </a:r>
            <a:r>
              <a:rPr lang="ja-JP" altLang="en-US" sz="900" dirty="0">
                <a:solidFill>
                  <a:srgbClr val="262626"/>
                </a:solidFill>
                <a:latin typeface="+mn-ea"/>
              </a:rPr>
              <a:t>の設計に従い、提案の材料 </a:t>
            </a:r>
            <a:r>
              <a:rPr lang="en-US" altLang="ja-JP" sz="900" dirty="0">
                <a:solidFill>
                  <a:srgbClr val="262626"/>
                </a:solidFill>
                <a:latin typeface="+mn-ea"/>
              </a:rPr>
              <a:t>(</a:t>
            </a:r>
            <a:r>
              <a:rPr lang="ja-JP" altLang="en-US" sz="900" dirty="0">
                <a:solidFill>
                  <a:srgbClr val="262626"/>
                </a:solidFill>
                <a:latin typeface="+mn-ea"/>
              </a:rPr>
              <a:t>真因</a:t>
            </a:r>
            <a:r>
              <a:rPr lang="en-US" altLang="ja-JP" sz="900" dirty="0">
                <a:solidFill>
                  <a:srgbClr val="262626"/>
                </a:solidFill>
                <a:latin typeface="+mn-ea"/>
              </a:rPr>
              <a:t>2) </a:t>
            </a:r>
            <a:r>
              <a:rPr lang="ja-JP" altLang="en-US" sz="900" dirty="0">
                <a:solidFill>
                  <a:srgbClr val="262626"/>
                </a:solidFill>
                <a:latin typeface="+mn-ea"/>
              </a:rPr>
              <a:t>＝</a:t>
            </a:r>
            <a:r>
              <a:rPr lang="en-US" altLang="ja-JP" sz="900" dirty="0">
                <a:solidFill>
                  <a:srgbClr val="262626"/>
                </a:solidFill>
                <a:latin typeface="+mn-ea"/>
              </a:rPr>
              <a:t>A1</a:t>
            </a:r>
            <a:r>
              <a:rPr lang="ja-JP" altLang="en-US" sz="900" dirty="0">
                <a:solidFill>
                  <a:srgbClr val="262626"/>
                </a:solidFill>
                <a:latin typeface="+mn-ea"/>
              </a:rPr>
              <a:t>・</a:t>
            </a:r>
            <a:r>
              <a:rPr lang="en-US" altLang="ja-JP" sz="900" dirty="0">
                <a:solidFill>
                  <a:srgbClr val="262626"/>
                </a:solidFill>
                <a:latin typeface="+mn-ea"/>
              </a:rPr>
              <a:t>A2</a:t>
            </a:r>
            <a:r>
              <a:rPr lang="ja-JP" altLang="en-US" sz="900" dirty="0">
                <a:solidFill>
                  <a:srgbClr val="262626"/>
                </a:solidFill>
                <a:latin typeface="+mn-ea"/>
              </a:rPr>
              <a:t>・</a:t>
            </a:r>
            <a:r>
              <a:rPr lang="en-US" altLang="ja-JP" sz="900" dirty="0">
                <a:solidFill>
                  <a:srgbClr val="262626"/>
                </a:solidFill>
                <a:latin typeface="+mn-ea"/>
              </a:rPr>
              <a:t>C1</a:t>
            </a:r>
            <a:r>
              <a:rPr lang="ja-JP" altLang="en-US" sz="900" dirty="0">
                <a:solidFill>
                  <a:srgbClr val="262626"/>
                </a:solidFill>
                <a:latin typeface="+mn-ea"/>
              </a:rPr>
              <a:t>・</a:t>
            </a:r>
            <a:r>
              <a:rPr lang="en-US" altLang="ja-JP" sz="900" dirty="0">
                <a:solidFill>
                  <a:srgbClr val="262626"/>
                </a:solidFill>
                <a:latin typeface="+mn-ea"/>
              </a:rPr>
              <a:t>C2</a:t>
            </a:r>
            <a:r>
              <a:rPr lang="ja-JP" altLang="en-US" sz="900" dirty="0">
                <a:solidFill>
                  <a:srgbClr val="262626"/>
                </a:solidFill>
                <a:latin typeface="+mn-ea"/>
              </a:rPr>
              <a:t>、改善の仕組み </a:t>
            </a:r>
            <a:r>
              <a:rPr lang="en-US" altLang="ja-JP" sz="900" dirty="0">
                <a:solidFill>
                  <a:srgbClr val="262626"/>
                </a:solidFill>
                <a:latin typeface="+mn-ea"/>
              </a:rPr>
              <a:t>(</a:t>
            </a:r>
            <a:r>
              <a:rPr lang="ja-JP" altLang="en-US" sz="900" dirty="0">
                <a:solidFill>
                  <a:srgbClr val="262626"/>
                </a:solidFill>
                <a:latin typeface="+mn-ea"/>
              </a:rPr>
              <a:t>真因</a:t>
            </a:r>
            <a:r>
              <a:rPr lang="en-US" altLang="ja-JP" sz="900" dirty="0">
                <a:solidFill>
                  <a:srgbClr val="262626"/>
                </a:solidFill>
                <a:latin typeface="+mn-ea"/>
              </a:rPr>
              <a:t>3) </a:t>
            </a:r>
            <a:r>
              <a:rPr lang="ja-JP" altLang="en-US" sz="900" dirty="0">
                <a:solidFill>
                  <a:srgbClr val="262626"/>
                </a:solidFill>
                <a:latin typeface="+mn-ea"/>
              </a:rPr>
              <a:t>＝</a:t>
            </a:r>
            <a:r>
              <a:rPr lang="en-US" altLang="ja-JP" sz="900" dirty="0">
                <a:solidFill>
                  <a:srgbClr val="262626"/>
                </a:solidFill>
                <a:latin typeface="+mn-ea"/>
              </a:rPr>
              <a:t>B1</a:t>
            </a:r>
            <a:r>
              <a:rPr lang="ja-JP" altLang="en-US" sz="900" dirty="0">
                <a:solidFill>
                  <a:srgbClr val="262626"/>
                </a:solidFill>
                <a:latin typeface="+mn-ea"/>
              </a:rPr>
              <a:t>・</a:t>
            </a:r>
            <a:r>
              <a:rPr lang="en-US" altLang="ja-JP" sz="900" dirty="0">
                <a:solidFill>
                  <a:srgbClr val="262626"/>
                </a:solidFill>
                <a:latin typeface="+mn-ea"/>
              </a:rPr>
              <a:t>D1</a:t>
            </a:r>
            <a:r>
              <a:rPr lang="ja-JP" altLang="en-US" sz="900" dirty="0">
                <a:solidFill>
                  <a:srgbClr val="262626"/>
                </a:solidFill>
                <a:latin typeface="+mn-ea"/>
              </a:rPr>
              <a:t>・</a:t>
            </a:r>
            <a:r>
              <a:rPr lang="en-US" altLang="ja-JP" sz="900" dirty="0">
                <a:solidFill>
                  <a:srgbClr val="262626"/>
                </a:solidFill>
                <a:latin typeface="+mn-ea"/>
              </a:rPr>
              <a:t>D2</a:t>
            </a:r>
            <a:r>
              <a:rPr lang="ja-JP" altLang="en-US" sz="900" dirty="0">
                <a:solidFill>
                  <a:srgbClr val="262626"/>
                </a:solidFill>
                <a:latin typeface="+mn-ea"/>
              </a:rPr>
              <a:t>。</a:t>
            </a:r>
            <a:endParaRPr lang="en-US" altLang="ja-JP" sz="900" dirty="0">
              <a:solidFill>
                <a:srgbClr val="262626"/>
              </a:solidFill>
              <a:latin typeface="+mn-ea"/>
            </a:endParaRPr>
          </a:p>
          <a:p>
            <a:pPr defTabSz="628650">
              <a:lnSpc>
                <a:spcPct val="115000"/>
              </a:lnSpc>
            </a:pPr>
            <a:r>
              <a:rPr lang="en-US" altLang="ja-JP" sz="900" dirty="0">
                <a:solidFill>
                  <a:srgbClr val="262626"/>
                </a:solidFill>
                <a:latin typeface="+mn-ea"/>
              </a:rPr>
              <a:t>		</a:t>
            </a:r>
            <a:r>
              <a:rPr lang="ja-JP" altLang="en-US" sz="900" dirty="0">
                <a:solidFill>
                  <a:srgbClr val="262626"/>
                </a:solidFill>
                <a:latin typeface="+mn-ea"/>
              </a:rPr>
              <a:t>各施策は</a:t>
            </a:r>
            <a:r>
              <a:rPr lang="en-US" altLang="ja-JP" sz="900" dirty="0">
                <a:solidFill>
                  <a:srgbClr val="262626"/>
                </a:solidFill>
                <a:latin typeface="+mn-ea"/>
              </a:rPr>
              <a:t>ROI</a:t>
            </a:r>
            <a:r>
              <a:rPr lang="ja-JP" altLang="en-US" sz="900" dirty="0">
                <a:solidFill>
                  <a:srgbClr val="262626"/>
                </a:solidFill>
                <a:latin typeface="+mn-ea"/>
              </a:rPr>
              <a:t>計算式 </a:t>
            </a:r>
            <a:r>
              <a:rPr lang="en-US" altLang="ja-JP" sz="900" dirty="0">
                <a:solidFill>
                  <a:srgbClr val="262626"/>
                </a:solidFill>
                <a:latin typeface="+mn-ea"/>
              </a:rPr>
              <a:t>(</a:t>
            </a:r>
            <a:r>
              <a:rPr lang="ja-JP" altLang="en-US" sz="900" dirty="0">
                <a:solidFill>
                  <a:srgbClr val="262626"/>
                </a:solidFill>
                <a:latin typeface="+mn-ea"/>
              </a:rPr>
              <a:t>分子＝売上増・時間削減・利益改善 </a:t>
            </a:r>
            <a:r>
              <a:rPr lang="en-US" altLang="ja-JP" sz="900" dirty="0">
                <a:solidFill>
                  <a:srgbClr val="262626"/>
                </a:solidFill>
                <a:latin typeface="+mn-ea"/>
              </a:rPr>
              <a:t>/ </a:t>
            </a:r>
            <a:r>
              <a:rPr lang="ja-JP" altLang="en-US" sz="900" dirty="0">
                <a:solidFill>
                  <a:srgbClr val="262626"/>
                </a:solidFill>
                <a:latin typeface="+mn-ea"/>
              </a:rPr>
              <a:t>分母＝投資</a:t>
            </a:r>
            <a:r>
              <a:rPr lang="en-US" altLang="ja-JP" sz="900" dirty="0">
                <a:solidFill>
                  <a:srgbClr val="262626"/>
                </a:solidFill>
                <a:latin typeface="+mn-ea"/>
              </a:rPr>
              <a:t>) </a:t>
            </a:r>
            <a:r>
              <a:rPr lang="ja-JP" altLang="en-US" sz="900" dirty="0">
                <a:solidFill>
                  <a:srgbClr val="262626"/>
                </a:solidFill>
                <a:latin typeface="+mn-ea"/>
              </a:rPr>
              <a:t>と撤退基準をセットで承認し、前提値は</a:t>
            </a:r>
            <a:r>
              <a:rPr lang="en-US" altLang="ja-JP" sz="900" dirty="0">
                <a:solidFill>
                  <a:srgbClr val="262626"/>
                </a:solidFill>
                <a:latin typeface="+mn-ea"/>
              </a:rPr>
              <a:t>FY26</a:t>
            </a:r>
            <a:r>
              <a:rPr lang="ja-JP" altLang="en-US" sz="900" dirty="0">
                <a:solidFill>
                  <a:srgbClr val="262626"/>
                </a:solidFill>
                <a:latin typeface="+mn-ea"/>
              </a:rPr>
              <a:t>上期に実測で確定する</a:t>
            </a:r>
            <a:endParaRPr lang="ja-JP" altLang="en-US" sz="900" b="1" dirty="0">
              <a:solidFill>
                <a:srgbClr val="262626"/>
              </a:solidFill>
              <a:latin typeface="+mn-ea"/>
            </a:endParaRPr>
          </a:p>
        </p:txBody>
      </p:sp>
      <p:sp>
        <p:nvSpPr>
          <p:cNvPr id="13" name="テキスト ボックス 12">
            <a:extLst>
              <a:ext uri="{FF2B5EF4-FFF2-40B4-BE49-F238E27FC236}">
                <a16:creationId xmlns:a16="http://schemas.microsoft.com/office/drawing/2014/main" id="{A999509A-7362-9692-ECF1-DD6638DAB1AB}"/>
              </a:ext>
            </a:extLst>
          </p:cNvPr>
          <p:cNvSpPr txBox="1"/>
          <p:nvPr/>
        </p:nvSpPr>
        <p:spPr>
          <a:xfrm>
            <a:off x="334963" y="6073601"/>
            <a:ext cx="11522074" cy="229486"/>
          </a:xfrm>
          <a:prstGeom prst="rect">
            <a:avLst/>
          </a:prstGeom>
          <a:noFill/>
        </p:spPr>
        <p:txBody>
          <a:bodyPr wrap="square">
            <a:spAutoFit/>
          </a:bodyPr>
          <a:lstStyle/>
          <a:p>
            <a:pPr marL="171450" indent="-171450">
              <a:lnSpc>
                <a:spcPct val="110000"/>
              </a:lnSpc>
              <a:buClr>
                <a:schemeClr val="accent5"/>
              </a:buClr>
              <a:buFont typeface="BIZ UDPゴシック" panose="020B0400000000000000" pitchFamily="50" charset="-128"/>
              <a:buChar char="※"/>
            </a:pPr>
            <a:r>
              <a:rPr lang="en-US" altLang="ja-JP" sz="900" dirty="0">
                <a:solidFill>
                  <a:srgbClr val="008D2E"/>
                </a:solidFill>
                <a:latin typeface="+mn-ea"/>
              </a:rPr>
              <a:t>8</a:t>
            </a:r>
            <a:r>
              <a:rPr lang="ja-JP" altLang="en-US" sz="900" dirty="0">
                <a:solidFill>
                  <a:srgbClr val="008D2E"/>
                </a:solidFill>
                <a:latin typeface="+mn-ea"/>
              </a:rPr>
              <a:t>施策は</a:t>
            </a:r>
            <a:r>
              <a:rPr lang="en-US" altLang="ja-JP" sz="900" dirty="0">
                <a:solidFill>
                  <a:srgbClr val="008D2E"/>
                </a:solidFill>
                <a:latin typeface="+mn-ea"/>
              </a:rPr>
              <a:t>3</a:t>
            </a:r>
            <a:r>
              <a:rPr lang="ja-JP" altLang="en-US" sz="900" dirty="0">
                <a:solidFill>
                  <a:srgbClr val="008D2E"/>
                </a:solidFill>
                <a:latin typeface="+mn-ea"/>
              </a:rPr>
              <a:t>つの解決を実行に落とした中身 </a:t>
            </a:r>
            <a:r>
              <a:rPr lang="en-US" altLang="ja-JP" sz="900" dirty="0">
                <a:solidFill>
                  <a:srgbClr val="008D2E"/>
                </a:solidFill>
                <a:latin typeface="+mn-ea"/>
              </a:rPr>
              <a:t>(</a:t>
            </a:r>
            <a:r>
              <a:rPr lang="ja-JP" altLang="en-US" sz="900" dirty="0">
                <a:solidFill>
                  <a:srgbClr val="008D2E"/>
                </a:solidFill>
                <a:latin typeface="+mn-ea"/>
              </a:rPr>
              <a:t>★＝最初に動かす起点施策</a:t>
            </a:r>
            <a:r>
              <a:rPr lang="en-US" altLang="ja-JP" sz="900" dirty="0">
                <a:solidFill>
                  <a:srgbClr val="008D2E"/>
                </a:solidFill>
                <a:latin typeface="+mn-ea"/>
              </a:rPr>
              <a:t>) </a:t>
            </a:r>
            <a:r>
              <a:rPr lang="ja-JP" altLang="en-US" sz="900" dirty="0">
                <a:solidFill>
                  <a:srgbClr val="008D2E"/>
                </a:solidFill>
                <a:latin typeface="+mn-ea"/>
              </a:rPr>
              <a:t>。中でも</a:t>
            </a:r>
            <a:r>
              <a:rPr lang="en-US" altLang="ja-JP" sz="900" dirty="0">
                <a:solidFill>
                  <a:srgbClr val="008D2E"/>
                </a:solidFill>
                <a:latin typeface="+mn-ea"/>
              </a:rPr>
              <a:t>B1</a:t>
            </a:r>
            <a:r>
              <a:rPr lang="ja-JP" altLang="en-US" sz="900" dirty="0">
                <a:solidFill>
                  <a:srgbClr val="008D2E"/>
                </a:solidFill>
                <a:latin typeface="+mn-ea"/>
              </a:rPr>
              <a:t>「投資</a:t>
            </a:r>
            <a:r>
              <a:rPr lang="en-US" altLang="ja-JP" sz="900" dirty="0">
                <a:solidFill>
                  <a:srgbClr val="008D2E"/>
                </a:solidFill>
                <a:latin typeface="+mn-ea"/>
              </a:rPr>
              <a:t>ROI</a:t>
            </a:r>
            <a:r>
              <a:rPr lang="ja-JP" altLang="en-US" sz="900" dirty="0">
                <a:solidFill>
                  <a:srgbClr val="008D2E"/>
                </a:solidFill>
                <a:latin typeface="+mn-ea"/>
              </a:rPr>
              <a:t>可視化」が全ての起点 </a:t>
            </a:r>
            <a:r>
              <a:rPr lang="en-US" altLang="ja-JP" sz="900" dirty="0">
                <a:solidFill>
                  <a:srgbClr val="008D2E"/>
                </a:solidFill>
                <a:latin typeface="+mn-ea"/>
              </a:rPr>
              <a:t>― </a:t>
            </a:r>
            <a:r>
              <a:rPr lang="ja-JP" altLang="en-US" sz="900" dirty="0">
                <a:solidFill>
                  <a:srgbClr val="008D2E"/>
                </a:solidFill>
                <a:latin typeface="+mn-ea"/>
              </a:rPr>
              <a:t>各施策は</a:t>
            </a:r>
            <a:r>
              <a:rPr lang="en-US" altLang="ja-JP" sz="900" dirty="0">
                <a:solidFill>
                  <a:srgbClr val="008D2E"/>
                </a:solidFill>
                <a:latin typeface="+mn-ea"/>
              </a:rPr>
              <a:t>ROI</a:t>
            </a:r>
            <a:r>
              <a:rPr lang="ja-JP" altLang="en-US" sz="900" dirty="0">
                <a:solidFill>
                  <a:srgbClr val="008D2E"/>
                </a:solidFill>
                <a:latin typeface="+mn-ea"/>
              </a:rPr>
              <a:t>計算式と指標で投資判断する</a:t>
            </a:r>
            <a:endParaRPr lang="ja-JP" altLang="en-US" sz="900" dirty="0">
              <a:solidFill>
                <a:srgbClr val="262626"/>
              </a:solidFill>
              <a:latin typeface="+mn-ea"/>
            </a:endParaRPr>
          </a:p>
        </p:txBody>
      </p:sp>
      <p:grpSp>
        <p:nvGrpSpPr>
          <p:cNvPr id="52" name="グループ化 51">
            <a:extLst>
              <a:ext uri="{FF2B5EF4-FFF2-40B4-BE49-F238E27FC236}">
                <a16:creationId xmlns:a16="http://schemas.microsoft.com/office/drawing/2014/main" id="{5751EA7B-A807-A056-187E-1C378A1717FC}"/>
              </a:ext>
            </a:extLst>
          </p:cNvPr>
          <p:cNvGrpSpPr/>
          <p:nvPr/>
        </p:nvGrpSpPr>
        <p:grpSpPr>
          <a:xfrm>
            <a:off x="2280104" y="1628776"/>
            <a:ext cx="4209229" cy="255823"/>
            <a:chOff x="1375749" y="1628776"/>
            <a:chExt cx="1303401" cy="255823"/>
          </a:xfrm>
        </p:grpSpPr>
        <p:sp>
          <p:nvSpPr>
            <p:cNvPr id="28" name="table_TWformat_txt_1_2">
              <a:extLst>
                <a:ext uri="{FF2B5EF4-FFF2-40B4-BE49-F238E27FC236}">
                  <a16:creationId xmlns:a16="http://schemas.microsoft.com/office/drawing/2014/main" id="{6A038C9F-1B86-C371-9405-3ED30DFE8352}"/>
                </a:ext>
              </a:extLst>
            </p:cNvPr>
            <p:cNvSpPr/>
            <p:nvPr/>
          </p:nvSpPr>
          <p:spPr>
            <a:xfrm>
              <a:off x="1375749" y="1628776"/>
              <a:ext cx="1303401" cy="234527"/>
            </a:xfrm>
            <a:prstGeom prst="roundRect">
              <a:avLst>
                <a:gd name="adj" fmla="val 0"/>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5B9BD5"/>
                </a:buClr>
                <a:defRPr/>
              </a:pPr>
              <a:r>
                <a:rPr lang="zh-CN" altLang="en-US" sz="1400" dirty="0">
                  <a:solidFill>
                    <a:prstClr val="black"/>
                  </a:solidFill>
                  <a:latin typeface="+mn-ea"/>
                </a:rPr>
                <a:t>重点施策 </a:t>
              </a:r>
              <a:r>
                <a:rPr lang="en-US" altLang="zh-CN" sz="1400" dirty="0">
                  <a:solidFill>
                    <a:prstClr val="black"/>
                  </a:solidFill>
                  <a:latin typeface="+mn-ea"/>
                </a:rPr>
                <a:t>(</a:t>
              </a:r>
              <a:r>
                <a:rPr lang="zh-CN" altLang="en-US" sz="1400" dirty="0">
                  <a:solidFill>
                    <a:prstClr val="black"/>
                  </a:solidFill>
                  <a:latin typeface="+mn-ea"/>
                </a:rPr>
                <a:t>★＝起点施策</a:t>
              </a:r>
              <a:r>
                <a:rPr lang="en-US" altLang="zh-CN" sz="1400" dirty="0">
                  <a:solidFill>
                    <a:prstClr val="black"/>
                  </a:solidFill>
                  <a:latin typeface="+mn-ea"/>
                </a:rPr>
                <a:t>)</a:t>
              </a:r>
              <a:endParaRPr lang="zh-CN" altLang="en-US" sz="1400" dirty="0">
                <a:solidFill>
                  <a:prstClr val="black"/>
                </a:solidFill>
                <a:latin typeface="+mn-ea"/>
              </a:endParaRPr>
            </a:p>
          </p:txBody>
        </p:sp>
        <p:cxnSp>
          <p:nvCxnSpPr>
            <p:cNvPr id="29" name="table_TWformat_line_2_2">
              <a:extLst>
                <a:ext uri="{FF2B5EF4-FFF2-40B4-BE49-F238E27FC236}">
                  <a16:creationId xmlns:a16="http://schemas.microsoft.com/office/drawing/2014/main" id="{71ABB664-7D7F-8A15-7F10-5B57DF962A98}"/>
                </a:ext>
              </a:extLst>
            </p:cNvPr>
            <p:cNvCxnSpPr/>
            <p:nvPr/>
          </p:nvCxnSpPr>
          <p:spPr>
            <a:xfrm>
              <a:off x="1375749" y="1884599"/>
              <a:ext cx="1303401" cy="0"/>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51" name="グループ化 50">
            <a:extLst>
              <a:ext uri="{FF2B5EF4-FFF2-40B4-BE49-F238E27FC236}">
                <a16:creationId xmlns:a16="http://schemas.microsoft.com/office/drawing/2014/main" id="{6806A3E4-E2DD-F788-BD88-4C6D54B59704}"/>
              </a:ext>
            </a:extLst>
          </p:cNvPr>
          <p:cNvGrpSpPr/>
          <p:nvPr/>
        </p:nvGrpSpPr>
        <p:grpSpPr>
          <a:xfrm>
            <a:off x="6694979" y="1628776"/>
            <a:ext cx="3162456" cy="255823"/>
            <a:chOff x="2739179" y="1628776"/>
            <a:chExt cx="1303402" cy="255823"/>
          </a:xfrm>
        </p:grpSpPr>
        <p:sp>
          <p:nvSpPr>
            <p:cNvPr id="36" name="table_TWformat_txt_1_3">
              <a:extLst>
                <a:ext uri="{FF2B5EF4-FFF2-40B4-BE49-F238E27FC236}">
                  <a16:creationId xmlns:a16="http://schemas.microsoft.com/office/drawing/2014/main" id="{A35522A8-6F1B-D5CA-82C6-644C29B7A028}"/>
                </a:ext>
              </a:extLst>
            </p:cNvPr>
            <p:cNvSpPr/>
            <p:nvPr/>
          </p:nvSpPr>
          <p:spPr>
            <a:xfrm>
              <a:off x="2739179" y="1628776"/>
              <a:ext cx="1303402" cy="234527"/>
            </a:xfrm>
            <a:prstGeom prst="roundRect">
              <a:avLst>
                <a:gd name="adj" fmla="val 0"/>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5B9BD5"/>
                </a:buClr>
                <a:defRPr/>
              </a:pPr>
              <a:r>
                <a:rPr lang="ja-JP" altLang="en-US" sz="1400" dirty="0">
                  <a:solidFill>
                    <a:prstClr val="black"/>
                  </a:solidFill>
                  <a:latin typeface="+mn-ea"/>
                </a:rPr>
                <a:t>ねらい</a:t>
              </a:r>
            </a:p>
          </p:txBody>
        </p:sp>
        <p:cxnSp>
          <p:nvCxnSpPr>
            <p:cNvPr id="40" name="table_TWformat_line_2_3">
              <a:extLst>
                <a:ext uri="{FF2B5EF4-FFF2-40B4-BE49-F238E27FC236}">
                  <a16:creationId xmlns:a16="http://schemas.microsoft.com/office/drawing/2014/main" id="{915BE79F-5C7D-23E6-84DB-DFA521F4FF00}"/>
                </a:ext>
              </a:extLst>
            </p:cNvPr>
            <p:cNvCxnSpPr/>
            <p:nvPr/>
          </p:nvCxnSpPr>
          <p:spPr>
            <a:xfrm>
              <a:off x="2739179" y="1884599"/>
              <a:ext cx="1303402" cy="0"/>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50" name="グループ化 49">
            <a:extLst>
              <a:ext uri="{FF2B5EF4-FFF2-40B4-BE49-F238E27FC236}">
                <a16:creationId xmlns:a16="http://schemas.microsoft.com/office/drawing/2014/main" id="{69F1DEBB-F61B-2E35-D47E-2FC71A5CFDC5}"/>
              </a:ext>
            </a:extLst>
          </p:cNvPr>
          <p:cNvGrpSpPr/>
          <p:nvPr/>
        </p:nvGrpSpPr>
        <p:grpSpPr>
          <a:xfrm>
            <a:off x="10063082" y="1628776"/>
            <a:ext cx="1785124" cy="255823"/>
            <a:chOff x="4102610" y="1628776"/>
            <a:chExt cx="1303402" cy="255823"/>
          </a:xfrm>
        </p:grpSpPr>
        <p:sp>
          <p:nvSpPr>
            <p:cNvPr id="42" name="table_TWformat_txt_1_4">
              <a:extLst>
                <a:ext uri="{FF2B5EF4-FFF2-40B4-BE49-F238E27FC236}">
                  <a16:creationId xmlns:a16="http://schemas.microsoft.com/office/drawing/2014/main" id="{4E43D043-D845-8957-D033-59FDF1A3D35A}"/>
                </a:ext>
              </a:extLst>
            </p:cNvPr>
            <p:cNvSpPr/>
            <p:nvPr/>
          </p:nvSpPr>
          <p:spPr>
            <a:xfrm>
              <a:off x="4102610" y="1628776"/>
              <a:ext cx="1303402" cy="234527"/>
            </a:xfrm>
            <a:prstGeom prst="roundRect">
              <a:avLst>
                <a:gd name="adj" fmla="val 0"/>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5B9BD5"/>
                </a:buClr>
                <a:defRPr/>
              </a:pPr>
              <a:r>
                <a:rPr lang="ja-JP" altLang="en-US" sz="1400" dirty="0">
                  <a:solidFill>
                    <a:prstClr val="black"/>
                  </a:solidFill>
                  <a:latin typeface="+mn-ea"/>
                </a:rPr>
                <a:t>主な指標</a:t>
              </a:r>
            </a:p>
          </p:txBody>
        </p:sp>
        <p:cxnSp>
          <p:nvCxnSpPr>
            <p:cNvPr id="44" name="table_TWformat_line_2_4">
              <a:extLst>
                <a:ext uri="{FF2B5EF4-FFF2-40B4-BE49-F238E27FC236}">
                  <a16:creationId xmlns:a16="http://schemas.microsoft.com/office/drawing/2014/main" id="{CDABF741-F844-CE36-F48E-16C70EB3B556}"/>
                </a:ext>
              </a:extLst>
            </p:cNvPr>
            <p:cNvCxnSpPr/>
            <p:nvPr/>
          </p:nvCxnSpPr>
          <p:spPr>
            <a:xfrm>
              <a:off x="4102610" y="1884599"/>
              <a:ext cx="1303402" cy="0"/>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53" name="グループ化 52">
            <a:extLst>
              <a:ext uri="{FF2B5EF4-FFF2-40B4-BE49-F238E27FC236}">
                <a16:creationId xmlns:a16="http://schemas.microsoft.com/office/drawing/2014/main" id="{B2C6025D-003F-A499-7D56-CF710E42CC82}"/>
              </a:ext>
            </a:extLst>
          </p:cNvPr>
          <p:cNvGrpSpPr/>
          <p:nvPr/>
        </p:nvGrpSpPr>
        <p:grpSpPr>
          <a:xfrm>
            <a:off x="334961" y="1628775"/>
            <a:ext cx="1739497" cy="255824"/>
            <a:chOff x="334963" y="1628775"/>
            <a:chExt cx="982662" cy="255824"/>
          </a:xfrm>
        </p:grpSpPr>
        <p:sp>
          <p:nvSpPr>
            <p:cNvPr id="24" name="table_TWformat_txt_1_1">
              <a:extLst>
                <a:ext uri="{FF2B5EF4-FFF2-40B4-BE49-F238E27FC236}">
                  <a16:creationId xmlns:a16="http://schemas.microsoft.com/office/drawing/2014/main" id="{E7B83E91-AF6B-AB63-9A9E-AF440D04F6DF}"/>
                </a:ext>
              </a:extLst>
            </p:cNvPr>
            <p:cNvSpPr/>
            <p:nvPr/>
          </p:nvSpPr>
          <p:spPr>
            <a:xfrm>
              <a:off x="334963" y="1628775"/>
              <a:ext cx="980757" cy="234528"/>
            </a:xfrm>
            <a:prstGeom prst="roundRect">
              <a:avLst>
                <a:gd name="adj" fmla="val 0"/>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5B9BD5"/>
                </a:buClr>
                <a:defRPr/>
              </a:pPr>
              <a:r>
                <a:rPr lang="ja-JP" altLang="en-US" sz="1400" dirty="0">
                  <a:solidFill>
                    <a:prstClr val="black"/>
                  </a:solidFill>
                  <a:latin typeface="+mn-ea"/>
                </a:rPr>
                <a:t>テーマ</a:t>
              </a:r>
            </a:p>
          </p:txBody>
        </p:sp>
        <p:cxnSp>
          <p:nvCxnSpPr>
            <p:cNvPr id="48" name="table_TWformat_line_2_2">
              <a:extLst>
                <a:ext uri="{FF2B5EF4-FFF2-40B4-BE49-F238E27FC236}">
                  <a16:creationId xmlns:a16="http://schemas.microsoft.com/office/drawing/2014/main" id="{658C4356-281F-3F69-DB20-0184DBE315B4}"/>
                </a:ext>
              </a:extLst>
            </p:cNvPr>
            <p:cNvCxnSpPr>
              <a:cxnSpLocks/>
            </p:cNvCxnSpPr>
            <p:nvPr/>
          </p:nvCxnSpPr>
          <p:spPr>
            <a:xfrm>
              <a:off x="334963" y="1884599"/>
              <a:ext cx="982662" cy="0"/>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3" name="グループ化 22">
            <a:extLst>
              <a:ext uri="{FF2B5EF4-FFF2-40B4-BE49-F238E27FC236}">
                <a16:creationId xmlns:a16="http://schemas.microsoft.com/office/drawing/2014/main" id="{25566BE7-2029-8C2A-496A-F12784C3E167}"/>
              </a:ext>
            </a:extLst>
          </p:cNvPr>
          <p:cNvGrpSpPr/>
          <p:nvPr/>
        </p:nvGrpSpPr>
        <p:grpSpPr>
          <a:xfrm>
            <a:off x="334961" y="2005842"/>
            <a:ext cx="11522075" cy="3564376"/>
            <a:chOff x="334961" y="2005842"/>
            <a:chExt cx="11522075" cy="3564376"/>
          </a:xfrm>
        </p:grpSpPr>
        <p:grpSp>
          <p:nvGrpSpPr>
            <p:cNvPr id="20" name="グループ化 19">
              <a:extLst>
                <a:ext uri="{FF2B5EF4-FFF2-40B4-BE49-F238E27FC236}">
                  <a16:creationId xmlns:a16="http://schemas.microsoft.com/office/drawing/2014/main" id="{1337F69D-7089-059A-3AD9-4A9CB49FA941}"/>
                </a:ext>
              </a:extLst>
            </p:cNvPr>
            <p:cNvGrpSpPr/>
            <p:nvPr/>
          </p:nvGrpSpPr>
          <p:grpSpPr>
            <a:xfrm>
              <a:off x="334961" y="2005842"/>
              <a:ext cx="11522075" cy="3564376"/>
              <a:chOff x="334961" y="2005842"/>
              <a:chExt cx="11522075" cy="3908924"/>
            </a:xfrm>
          </p:grpSpPr>
          <p:sp>
            <p:nvSpPr>
              <p:cNvPr id="111" name="正方形/長方形 110">
                <a:extLst>
                  <a:ext uri="{FF2B5EF4-FFF2-40B4-BE49-F238E27FC236}">
                    <a16:creationId xmlns:a16="http://schemas.microsoft.com/office/drawing/2014/main" id="{D7980947-581C-46E9-9E8C-0AA3927C066E}"/>
                  </a:ext>
                </a:extLst>
              </p:cNvPr>
              <p:cNvSpPr/>
              <p:nvPr/>
            </p:nvSpPr>
            <p:spPr>
              <a:xfrm>
                <a:off x="6694978" y="5483300"/>
                <a:ext cx="3162456" cy="431465"/>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defRPr/>
                </a:pPr>
                <a:r>
                  <a:rPr lang="ja-JP" altLang="en-US" sz="1100" dirty="0">
                    <a:solidFill>
                      <a:schemeClr val="tx1"/>
                    </a:solidFill>
                    <a:latin typeface="+mn-ea"/>
                  </a:rPr>
                  <a:t>営業</a:t>
                </a:r>
                <a:r>
                  <a:rPr lang="en-US" altLang="ja-JP" sz="1100" dirty="0">
                    <a:solidFill>
                      <a:schemeClr val="tx1"/>
                    </a:solidFill>
                    <a:latin typeface="+mn-ea"/>
                  </a:rPr>
                  <a:t>1</a:t>
                </a:r>
                <a:r>
                  <a:rPr lang="ja-JP" altLang="en-US" sz="1100" dirty="0">
                    <a:solidFill>
                      <a:schemeClr val="tx1"/>
                    </a:solidFill>
                    <a:latin typeface="+mn-ea"/>
                  </a:rPr>
                  <a:t>人対バイヤー</a:t>
                </a:r>
                <a:r>
                  <a:rPr lang="en-US" altLang="ja-JP" sz="1100" dirty="0">
                    <a:solidFill>
                      <a:schemeClr val="tx1"/>
                    </a:solidFill>
                    <a:latin typeface="+mn-ea"/>
                  </a:rPr>
                  <a:t>1</a:t>
                </a:r>
                <a:r>
                  <a:rPr lang="ja-JP" altLang="en-US" sz="1100" dirty="0">
                    <a:solidFill>
                      <a:schemeClr val="tx1"/>
                    </a:solidFill>
                    <a:latin typeface="+mn-ea"/>
                  </a:rPr>
                  <a:t>人の分断をやめ、組織対組織の</a:t>
                </a:r>
                <a:br>
                  <a:rPr lang="en-US" altLang="ja-JP" sz="1100" dirty="0">
                    <a:solidFill>
                      <a:schemeClr val="tx1"/>
                    </a:solidFill>
                    <a:latin typeface="+mn-ea"/>
                  </a:rPr>
                </a:br>
                <a:r>
                  <a:rPr lang="en-US" altLang="ja-JP" sz="1100" dirty="0">
                    <a:solidFill>
                      <a:schemeClr val="tx1"/>
                    </a:solidFill>
                    <a:latin typeface="+mn-ea"/>
                  </a:rPr>
                  <a:t>JBP</a:t>
                </a:r>
                <a:r>
                  <a:rPr lang="ja-JP" altLang="en-US" sz="1100" dirty="0">
                    <a:solidFill>
                      <a:schemeClr val="tx1"/>
                    </a:solidFill>
                    <a:latin typeface="+mn-ea"/>
                  </a:rPr>
                  <a:t>体制へ</a:t>
                </a:r>
              </a:p>
            </p:txBody>
          </p:sp>
          <p:sp>
            <p:nvSpPr>
              <p:cNvPr id="113" name="正方形/長方形 112">
                <a:extLst>
                  <a:ext uri="{FF2B5EF4-FFF2-40B4-BE49-F238E27FC236}">
                    <a16:creationId xmlns:a16="http://schemas.microsoft.com/office/drawing/2014/main" id="{202E4713-8060-4217-13EE-6E50E2F22A5C}"/>
                  </a:ext>
                </a:extLst>
              </p:cNvPr>
              <p:cNvSpPr/>
              <p:nvPr/>
            </p:nvSpPr>
            <p:spPr>
              <a:xfrm>
                <a:off x="10063081" y="5483300"/>
                <a:ext cx="1793954" cy="431465"/>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71450" indent="-171450">
                  <a:buClr>
                    <a:schemeClr val="accent5"/>
                  </a:buClr>
                  <a:buFont typeface="Arial" panose="020B0604020202020204" pitchFamily="34" charset="0"/>
                  <a:buChar char="•"/>
                </a:pPr>
                <a:r>
                  <a:rPr lang="en-US" altLang="ja-JP" sz="1100" dirty="0">
                    <a:solidFill>
                      <a:schemeClr val="accent5"/>
                    </a:solidFill>
                    <a:latin typeface="+mn-ea"/>
                  </a:rPr>
                  <a:t>JBP</a:t>
                </a:r>
                <a:r>
                  <a:rPr lang="ja-JP" altLang="en-US" sz="1100" dirty="0">
                    <a:solidFill>
                      <a:schemeClr val="accent5"/>
                    </a:solidFill>
                    <a:latin typeface="+mn-ea"/>
                  </a:rPr>
                  <a:t>締結チェーン数</a:t>
                </a:r>
              </a:p>
            </p:txBody>
          </p:sp>
          <p:sp>
            <p:nvSpPr>
              <p:cNvPr id="108" name="正方形/長方形 16">
                <a:extLst>
                  <a:ext uri="{FF2B5EF4-FFF2-40B4-BE49-F238E27FC236}">
                    <a16:creationId xmlns:a16="http://schemas.microsoft.com/office/drawing/2014/main" id="{D627CEBD-CC51-C707-C6BE-07CC7F58BECC}"/>
                  </a:ext>
                </a:extLst>
              </p:cNvPr>
              <p:cNvSpPr/>
              <p:nvPr/>
            </p:nvSpPr>
            <p:spPr>
              <a:xfrm>
                <a:off x="2269039" y="5483301"/>
                <a:ext cx="495445" cy="431465"/>
              </a:xfrm>
              <a:prstGeom prst="rect">
                <a:avLst/>
              </a:prstGeom>
              <a:solidFill>
                <a:srgbClr val="008D2E"/>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400" dirty="0">
                    <a:solidFill>
                      <a:schemeClr val="bg1"/>
                    </a:solidFill>
                    <a:latin typeface="+mn-ea"/>
                  </a:rPr>
                  <a:t>D2</a:t>
                </a:r>
              </a:p>
            </p:txBody>
          </p:sp>
          <p:sp>
            <p:nvSpPr>
              <p:cNvPr id="109" name="正方形/長方形 108">
                <a:extLst>
                  <a:ext uri="{FF2B5EF4-FFF2-40B4-BE49-F238E27FC236}">
                    <a16:creationId xmlns:a16="http://schemas.microsoft.com/office/drawing/2014/main" id="{DAC72122-CED6-5BDF-006D-893AAAF051AC}"/>
                  </a:ext>
                </a:extLst>
              </p:cNvPr>
              <p:cNvSpPr/>
              <p:nvPr/>
            </p:nvSpPr>
            <p:spPr>
              <a:xfrm>
                <a:off x="2764484" y="5483301"/>
                <a:ext cx="3713783" cy="431465"/>
              </a:xfrm>
              <a:prstGeom prst="rect">
                <a:avLst/>
              </a:prstGeom>
              <a:noFill/>
              <a:ln w="9525">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pPr lvl="0">
                  <a:defRPr/>
                </a:pPr>
                <a:r>
                  <a:rPr lang="en-US" altLang="ja-JP" sz="1100" dirty="0">
                    <a:solidFill>
                      <a:schemeClr val="accent5"/>
                    </a:solidFill>
                    <a:latin typeface="+mn-ea"/>
                  </a:rPr>
                  <a:t>1</a:t>
                </a:r>
                <a:r>
                  <a:rPr lang="ja-JP" altLang="en-US" sz="1100" dirty="0">
                    <a:solidFill>
                      <a:schemeClr val="accent5"/>
                    </a:solidFill>
                    <a:latin typeface="+mn-ea"/>
                  </a:rPr>
                  <a:t>人で対応する営業をやめ、チーム対チームで小売と組む</a:t>
                </a:r>
              </a:p>
              <a:p>
                <a:pPr lvl="0">
                  <a:defRPr/>
                </a:pPr>
                <a:r>
                  <a:rPr lang="ja-JP" altLang="en-US" sz="1100" dirty="0">
                    <a:solidFill>
                      <a:schemeClr val="tx1"/>
                    </a:solidFill>
                    <a:latin typeface="+mn-ea"/>
                  </a:rPr>
                  <a:t>＝組織対組織の営業体制へ再編</a:t>
                </a:r>
              </a:p>
            </p:txBody>
          </p:sp>
          <p:sp>
            <p:nvSpPr>
              <p:cNvPr id="58" name="正方形/長方形 54">
                <a:extLst>
                  <a:ext uri="{FF2B5EF4-FFF2-40B4-BE49-F238E27FC236}">
                    <a16:creationId xmlns:a16="http://schemas.microsoft.com/office/drawing/2014/main" id="{A0CBE225-7ED1-17E4-19E0-23F4EF8D1DA2}"/>
                  </a:ext>
                </a:extLst>
              </p:cNvPr>
              <p:cNvSpPr/>
              <p:nvPr/>
            </p:nvSpPr>
            <p:spPr>
              <a:xfrm>
                <a:off x="334961" y="4975635"/>
                <a:ext cx="1739499" cy="939131"/>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88000" rIns="36000" bIns="36000" numCol="1" spcCol="0" rtlCol="0" fromWordArt="0" anchor="ctr" anchorCtr="0" forceAA="0" compatLnSpc="1">
                <a:prstTxWarp prst="textNoShape">
                  <a:avLst/>
                </a:prstTxWarp>
                <a:noAutofit/>
              </a:bodyPr>
              <a:lstStyle/>
              <a:p>
                <a:pPr algn="ctr"/>
                <a:r>
                  <a:rPr lang="ja-JP" altLang="en-US" sz="1400" dirty="0">
                    <a:solidFill>
                      <a:schemeClr val="bg1"/>
                    </a:solidFill>
                    <a:latin typeface="+mn-ea"/>
                  </a:rPr>
                  <a:t>組織・生産性</a:t>
                </a:r>
                <a:br>
                  <a:rPr lang="en-US" altLang="ja-JP" sz="1050" dirty="0">
                    <a:solidFill>
                      <a:schemeClr val="bg1"/>
                    </a:solidFill>
                    <a:latin typeface="+mn-ea"/>
                  </a:rPr>
                </a:br>
                <a:r>
                  <a:rPr lang="en-US" altLang="ja-JP" sz="1050" dirty="0">
                    <a:solidFill>
                      <a:schemeClr val="bg1"/>
                    </a:solidFill>
                    <a:latin typeface="+mn-ea"/>
                  </a:rPr>
                  <a:t>(</a:t>
                </a:r>
                <a:r>
                  <a:rPr lang="ja-JP" altLang="en-US" sz="1050" dirty="0">
                    <a:solidFill>
                      <a:schemeClr val="bg1"/>
                    </a:solidFill>
                    <a:latin typeface="+mn-ea"/>
                  </a:rPr>
                  <a:t>業務ゼロ化</a:t>
                </a:r>
                <a:r>
                  <a:rPr lang="en-US" altLang="ja-JP" sz="1050" dirty="0">
                    <a:solidFill>
                      <a:schemeClr val="bg1"/>
                    </a:solidFill>
                    <a:latin typeface="+mn-ea"/>
                  </a:rPr>
                  <a:t>×</a:t>
                </a:r>
                <a:r>
                  <a:rPr lang="ja-JP" altLang="en-US" sz="1050" dirty="0">
                    <a:solidFill>
                      <a:schemeClr val="bg1"/>
                    </a:solidFill>
                    <a:latin typeface="+mn-ea"/>
                  </a:rPr>
                  <a:t>回収物流</a:t>
                </a:r>
                <a:r>
                  <a:rPr lang="en-US" altLang="ja-JP" sz="1050" dirty="0">
                    <a:solidFill>
                      <a:schemeClr val="bg1"/>
                    </a:solidFill>
                    <a:latin typeface="+mn-ea"/>
                  </a:rPr>
                  <a:t>)</a:t>
                </a:r>
                <a:endParaRPr lang="ja-JP" altLang="en-US" sz="1050" dirty="0">
                  <a:solidFill>
                    <a:schemeClr val="bg1"/>
                  </a:solidFill>
                  <a:latin typeface="+mn-ea"/>
                </a:endParaRPr>
              </a:p>
            </p:txBody>
          </p:sp>
          <p:sp>
            <p:nvSpPr>
              <p:cNvPr id="55" name="正方形/長方形 54">
                <a:extLst>
                  <a:ext uri="{FF2B5EF4-FFF2-40B4-BE49-F238E27FC236}">
                    <a16:creationId xmlns:a16="http://schemas.microsoft.com/office/drawing/2014/main" id="{A0CBE225-7ED1-17E4-19E0-23F4EF8D1DA2}"/>
                  </a:ext>
                </a:extLst>
              </p:cNvPr>
              <p:cNvSpPr/>
              <p:nvPr/>
            </p:nvSpPr>
            <p:spPr>
              <a:xfrm>
                <a:off x="334961" y="2005842"/>
                <a:ext cx="1739499" cy="939131"/>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88000" rIns="36000" bIns="36000" numCol="1" spcCol="0" rtlCol="0" fromWordArt="0" anchor="ctr" anchorCtr="0" forceAA="0" compatLnSpc="1">
                <a:prstTxWarp prst="textNoShape">
                  <a:avLst/>
                </a:prstTxWarp>
                <a:noAutofit/>
              </a:bodyPr>
              <a:lstStyle/>
              <a:p>
                <a:pPr algn="ctr"/>
                <a:r>
                  <a:rPr lang="ja-JP" altLang="en-US" sz="1400" dirty="0">
                    <a:solidFill>
                      <a:schemeClr val="bg1"/>
                    </a:solidFill>
                    <a:latin typeface="+mn-ea"/>
                  </a:rPr>
                  <a:t>勝てる土俵の再定義</a:t>
                </a:r>
                <a:endParaRPr lang="en-US" altLang="ja-JP" sz="1050" dirty="0">
                  <a:solidFill>
                    <a:schemeClr val="bg1"/>
                  </a:solidFill>
                  <a:latin typeface="+mn-ea"/>
                </a:endParaRPr>
              </a:p>
              <a:p>
                <a:pPr algn="ctr"/>
                <a:r>
                  <a:rPr lang="en-US" altLang="ja-JP" sz="1050" dirty="0">
                    <a:solidFill>
                      <a:schemeClr val="bg1"/>
                    </a:solidFill>
                    <a:latin typeface="+mn-ea"/>
                  </a:rPr>
                  <a:t>(</a:t>
                </a:r>
                <a:r>
                  <a:rPr lang="ja-JP" altLang="en-US" sz="1050" dirty="0">
                    <a:solidFill>
                      <a:schemeClr val="bg1"/>
                    </a:solidFill>
                    <a:latin typeface="+mn-ea"/>
                  </a:rPr>
                  <a:t>予防医療</a:t>
                </a:r>
                <a:r>
                  <a:rPr lang="en-US" altLang="ja-JP" sz="1050" dirty="0">
                    <a:solidFill>
                      <a:schemeClr val="bg1"/>
                    </a:solidFill>
                    <a:latin typeface="+mn-ea"/>
                  </a:rPr>
                  <a:t>×</a:t>
                </a:r>
                <a:r>
                  <a:rPr lang="ja-JP" altLang="en-US" sz="1050" dirty="0">
                    <a:solidFill>
                      <a:schemeClr val="bg1"/>
                    </a:solidFill>
                    <a:latin typeface="+mn-ea"/>
                  </a:rPr>
                  <a:t>資源循環</a:t>
                </a:r>
                <a:r>
                  <a:rPr lang="en-US" altLang="ja-JP" sz="1050" dirty="0">
                    <a:solidFill>
                      <a:schemeClr val="bg1"/>
                    </a:solidFill>
                    <a:latin typeface="+mn-ea"/>
                  </a:rPr>
                  <a:t>)</a:t>
                </a:r>
                <a:endParaRPr lang="ja-JP" altLang="en-US" sz="1050" dirty="0">
                  <a:solidFill>
                    <a:schemeClr val="bg1"/>
                  </a:solidFill>
                  <a:latin typeface="+mn-ea"/>
                </a:endParaRPr>
              </a:p>
            </p:txBody>
          </p:sp>
          <p:sp>
            <p:nvSpPr>
              <p:cNvPr id="56" name="正方形/長方形 54">
                <a:extLst>
                  <a:ext uri="{FF2B5EF4-FFF2-40B4-BE49-F238E27FC236}">
                    <a16:creationId xmlns:a16="http://schemas.microsoft.com/office/drawing/2014/main" id="{A0CBE225-7ED1-17E4-19E0-23F4EF8D1DA2}"/>
                  </a:ext>
                </a:extLst>
              </p:cNvPr>
              <p:cNvSpPr/>
              <p:nvPr/>
            </p:nvSpPr>
            <p:spPr>
              <a:xfrm>
                <a:off x="334961" y="2995773"/>
                <a:ext cx="1739499" cy="939131"/>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88000" rIns="36000" bIns="36000" numCol="1" spcCol="0" rtlCol="0" fromWordArt="0" anchor="ctr" anchorCtr="0" forceAA="0" compatLnSpc="1">
                <a:prstTxWarp prst="textNoShape">
                  <a:avLst/>
                </a:prstTxWarp>
                <a:noAutofit/>
              </a:bodyPr>
              <a:lstStyle/>
              <a:p>
                <a:pPr algn="ctr"/>
                <a:r>
                  <a:rPr lang="ja-JP" altLang="en-US" sz="1400" dirty="0">
                    <a:solidFill>
                      <a:schemeClr val="bg1"/>
                    </a:solidFill>
                    <a:latin typeface="+mn-ea"/>
                  </a:rPr>
                  <a:t>データ戦略</a:t>
                </a:r>
                <a:br>
                  <a:rPr lang="en-US" altLang="ja-JP" sz="1400" dirty="0">
                    <a:solidFill>
                      <a:schemeClr val="bg1"/>
                    </a:solidFill>
                    <a:latin typeface="+mn-ea"/>
                  </a:rPr>
                </a:br>
                <a:r>
                  <a:rPr lang="en-US" altLang="ja-JP" sz="1050" dirty="0">
                    <a:solidFill>
                      <a:schemeClr val="bg1"/>
                    </a:solidFill>
                    <a:latin typeface="+mn-ea"/>
                  </a:rPr>
                  <a:t>(</a:t>
                </a:r>
                <a:r>
                  <a:rPr lang="ja-JP" altLang="en-US" sz="1050" dirty="0">
                    <a:solidFill>
                      <a:schemeClr val="bg1"/>
                    </a:solidFill>
                    <a:latin typeface="+mn-ea"/>
                  </a:rPr>
                  <a:t>小売データ</a:t>
                </a:r>
                <a:r>
                  <a:rPr lang="en-US" altLang="ja-JP" sz="1050" dirty="0">
                    <a:solidFill>
                      <a:schemeClr val="bg1"/>
                    </a:solidFill>
                    <a:latin typeface="+mn-ea"/>
                  </a:rPr>
                  <a:t>×</a:t>
                </a:r>
                <a:r>
                  <a:rPr lang="ja-JP" altLang="en-US" sz="1050" dirty="0">
                    <a:solidFill>
                      <a:schemeClr val="bg1"/>
                    </a:solidFill>
                    <a:latin typeface="+mn-ea"/>
                  </a:rPr>
                  <a:t>自社専門データ</a:t>
                </a:r>
                <a:r>
                  <a:rPr lang="en-US" altLang="ja-JP" sz="1050" dirty="0">
                    <a:solidFill>
                      <a:schemeClr val="bg1"/>
                    </a:solidFill>
                    <a:latin typeface="+mn-ea"/>
                  </a:rPr>
                  <a:t>)</a:t>
                </a:r>
                <a:endParaRPr lang="ja-JP" altLang="en-US" sz="1400" dirty="0">
                  <a:solidFill>
                    <a:schemeClr val="bg1"/>
                  </a:solidFill>
                  <a:latin typeface="+mn-ea"/>
                </a:endParaRPr>
              </a:p>
            </p:txBody>
          </p:sp>
          <p:sp>
            <p:nvSpPr>
              <p:cNvPr id="57" name="正方形/長方形 54">
                <a:extLst>
                  <a:ext uri="{FF2B5EF4-FFF2-40B4-BE49-F238E27FC236}">
                    <a16:creationId xmlns:a16="http://schemas.microsoft.com/office/drawing/2014/main" id="{A0CBE225-7ED1-17E4-19E0-23F4EF8D1DA2}"/>
                  </a:ext>
                </a:extLst>
              </p:cNvPr>
              <p:cNvSpPr/>
              <p:nvPr/>
            </p:nvSpPr>
            <p:spPr>
              <a:xfrm>
                <a:off x="334961" y="3985704"/>
                <a:ext cx="1739499" cy="939131"/>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88000" rIns="36000" bIns="36000" numCol="1" spcCol="0" rtlCol="0" fromWordArt="0" anchor="ctr" anchorCtr="0" forceAA="0" compatLnSpc="1">
                <a:prstTxWarp prst="textNoShape">
                  <a:avLst/>
                </a:prstTxWarp>
                <a:noAutofit/>
              </a:bodyPr>
              <a:lstStyle/>
              <a:p>
                <a:pPr algn="ctr"/>
                <a:r>
                  <a:rPr lang="ja-JP" altLang="en-US" sz="1400" dirty="0">
                    <a:solidFill>
                      <a:schemeClr val="bg1"/>
                    </a:solidFill>
                    <a:latin typeface="+mn-ea"/>
                  </a:rPr>
                  <a:t>商談価値</a:t>
                </a:r>
                <a:br>
                  <a:rPr lang="en-US" altLang="ja-JP" sz="1050" dirty="0">
                    <a:solidFill>
                      <a:schemeClr val="bg1"/>
                    </a:solidFill>
                    <a:latin typeface="+mn-ea"/>
                  </a:rPr>
                </a:br>
                <a:r>
                  <a:rPr lang="en-US" altLang="ja-JP" sz="1050" dirty="0">
                    <a:solidFill>
                      <a:schemeClr val="bg1"/>
                    </a:solidFill>
                    <a:latin typeface="+mn-ea"/>
                  </a:rPr>
                  <a:t>(</a:t>
                </a:r>
                <a:r>
                  <a:rPr lang="ja-JP" altLang="en-US" sz="1050" dirty="0">
                    <a:solidFill>
                      <a:schemeClr val="bg1"/>
                    </a:solidFill>
                    <a:latin typeface="+mn-ea"/>
                  </a:rPr>
                  <a:t>臨床データで裏付ける提案</a:t>
                </a:r>
                <a:r>
                  <a:rPr lang="en-US" altLang="ja-JP" sz="1050" dirty="0">
                    <a:solidFill>
                      <a:schemeClr val="bg1"/>
                    </a:solidFill>
                    <a:latin typeface="+mn-ea"/>
                  </a:rPr>
                  <a:t>)</a:t>
                </a:r>
                <a:endParaRPr lang="ja-JP" altLang="en-US" sz="1050" dirty="0">
                  <a:solidFill>
                    <a:schemeClr val="bg1"/>
                  </a:solidFill>
                  <a:latin typeface="+mn-ea"/>
                </a:endParaRPr>
              </a:p>
            </p:txBody>
          </p:sp>
          <p:sp>
            <p:nvSpPr>
              <p:cNvPr id="15" name="正方形/長方形 14">
                <a:extLst>
                  <a:ext uri="{FF2B5EF4-FFF2-40B4-BE49-F238E27FC236}">
                    <a16:creationId xmlns:a16="http://schemas.microsoft.com/office/drawing/2014/main" id="{C0766FCA-55A0-2F26-173C-AC804F031A41}"/>
                  </a:ext>
                </a:extLst>
              </p:cNvPr>
              <p:cNvSpPr/>
              <p:nvPr/>
            </p:nvSpPr>
            <p:spPr>
              <a:xfrm>
                <a:off x="2764485" y="2005842"/>
                <a:ext cx="3713783" cy="431465"/>
              </a:xfrm>
              <a:prstGeom prst="rect">
                <a:avLst/>
              </a:prstGeom>
              <a:noFill/>
              <a:ln w="9525">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pPr lvl="0">
                  <a:defRPr/>
                </a:pPr>
                <a:r>
                  <a:rPr lang="ja-JP" altLang="en-US" sz="1100" dirty="0">
                    <a:solidFill>
                      <a:schemeClr val="accent5"/>
                    </a:solidFill>
                    <a:latin typeface="+mn-ea"/>
                  </a:rPr>
                  <a:t>商品データを</a:t>
                </a:r>
                <a:r>
                  <a:rPr lang="en-US" altLang="ja-JP" sz="1100" dirty="0">
                    <a:solidFill>
                      <a:schemeClr val="accent5"/>
                    </a:solidFill>
                    <a:latin typeface="+mn-ea"/>
                  </a:rPr>
                  <a:t>AI</a:t>
                </a:r>
                <a:r>
                  <a:rPr lang="ja-JP" altLang="en-US" sz="1100" dirty="0">
                    <a:solidFill>
                      <a:schemeClr val="accent5"/>
                    </a:solidFill>
                    <a:latin typeface="+mn-ea"/>
                  </a:rPr>
                  <a:t>が読める形にして小売システムへ直結する</a:t>
                </a:r>
              </a:p>
              <a:p>
                <a:pPr lvl="0">
                  <a:defRPr/>
                </a:pPr>
                <a:r>
                  <a:rPr lang="ja-JP" altLang="en-US" sz="1100" dirty="0">
                    <a:solidFill>
                      <a:prstClr val="black"/>
                    </a:solidFill>
                    <a:latin typeface="+mn-ea"/>
                  </a:rPr>
                  <a:t>＝属性データの構造化・</a:t>
                </a:r>
                <a:r>
                  <a:rPr lang="en-US" altLang="ja-JP" sz="1100" dirty="0">
                    <a:solidFill>
                      <a:prstClr val="black"/>
                    </a:solidFill>
                    <a:latin typeface="+mn-ea"/>
                  </a:rPr>
                  <a:t>API</a:t>
                </a:r>
                <a:r>
                  <a:rPr lang="ja-JP" altLang="en-US" sz="1100" dirty="0">
                    <a:solidFill>
                      <a:prstClr val="black"/>
                    </a:solidFill>
                    <a:latin typeface="+mn-ea"/>
                  </a:rPr>
                  <a:t>化</a:t>
                </a:r>
              </a:p>
            </p:txBody>
          </p:sp>
          <p:sp>
            <p:nvSpPr>
              <p:cNvPr id="17" name="正方形/長方形 16">
                <a:extLst>
                  <a:ext uri="{FF2B5EF4-FFF2-40B4-BE49-F238E27FC236}">
                    <a16:creationId xmlns:a16="http://schemas.microsoft.com/office/drawing/2014/main" id="{1CD96274-1DAF-9F38-9D59-097D4AE2C64D}"/>
                  </a:ext>
                </a:extLst>
              </p:cNvPr>
              <p:cNvSpPr/>
              <p:nvPr/>
            </p:nvSpPr>
            <p:spPr>
              <a:xfrm>
                <a:off x="2269040" y="2005842"/>
                <a:ext cx="495445" cy="431465"/>
              </a:xfrm>
              <a:prstGeom prst="rect">
                <a:avLst/>
              </a:prstGeom>
              <a:solidFill>
                <a:srgbClr val="008D2E"/>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400" dirty="0">
                    <a:solidFill>
                      <a:schemeClr val="bg1"/>
                    </a:solidFill>
                    <a:latin typeface="+mn-ea"/>
                  </a:rPr>
                  <a:t>A1★</a:t>
                </a:r>
              </a:p>
            </p:txBody>
          </p:sp>
          <p:sp>
            <p:nvSpPr>
              <p:cNvPr id="59" name="正方形/長方形 16">
                <a:extLst>
                  <a:ext uri="{FF2B5EF4-FFF2-40B4-BE49-F238E27FC236}">
                    <a16:creationId xmlns:a16="http://schemas.microsoft.com/office/drawing/2014/main" id="{1CD96274-1DAF-9F38-9D59-097D4AE2C64D}"/>
                  </a:ext>
                </a:extLst>
              </p:cNvPr>
              <p:cNvSpPr/>
              <p:nvPr/>
            </p:nvSpPr>
            <p:spPr>
              <a:xfrm>
                <a:off x="2269040" y="2513507"/>
                <a:ext cx="495445" cy="431465"/>
              </a:xfrm>
              <a:prstGeom prst="rect">
                <a:avLst/>
              </a:prstGeom>
              <a:solidFill>
                <a:srgbClr val="008D2E"/>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400" dirty="0">
                    <a:solidFill>
                      <a:schemeClr val="bg1"/>
                    </a:solidFill>
                    <a:latin typeface="+mn-ea"/>
                  </a:rPr>
                  <a:t>A2</a:t>
                </a:r>
              </a:p>
            </p:txBody>
          </p:sp>
          <p:sp>
            <p:nvSpPr>
              <p:cNvPr id="5" name="正方形/長方形 4">
                <a:extLst>
                  <a:ext uri="{FF2B5EF4-FFF2-40B4-BE49-F238E27FC236}">
                    <a16:creationId xmlns:a16="http://schemas.microsoft.com/office/drawing/2014/main" id="{74CEC26A-0DC0-3BAD-98C0-56A142404471}"/>
                  </a:ext>
                </a:extLst>
              </p:cNvPr>
              <p:cNvSpPr/>
              <p:nvPr/>
            </p:nvSpPr>
            <p:spPr>
              <a:xfrm>
                <a:off x="2764485" y="2513507"/>
                <a:ext cx="3713783" cy="431465"/>
              </a:xfrm>
              <a:prstGeom prst="rect">
                <a:avLst/>
              </a:prstGeom>
              <a:noFill/>
              <a:ln w="9525">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pPr lvl="0">
                  <a:defRPr/>
                </a:pPr>
                <a:r>
                  <a:rPr lang="ja-JP" altLang="en-US" sz="1100" dirty="0">
                    <a:solidFill>
                      <a:schemeClr val="accent5"/>
                    </a:solidFill>
                    <a:latin typeface="+mn-ea"/>
                  </a:rPr>
                  <a:t>学校の歯みがき教育・自治体健診を、続くデジタル接点に変える</a:t>
                </a:r>
              </a:p>
              <a:p>
                <a:pPr lvl="0">
                  <a:defRPr/>
                </a:pPr>
                <a:r>
                  <a:rPr lang="ja-JP" altLang="en-US" sz="1100" dirty="0">
                    <a:solidFill>
                      <a:prstClr val="black"/>
                    </a:solidFill>
                    <a:latin typeface="+mn-ea"/>
                  </a:rPr>
                  <a:t>＝学校・自治体ルートのデジタル化</a:t>
                </a:r>
              </a:p>
            </p:txBody>
          </p:sp>
          <p:sp>
            <p:nvSpPr>
              <p:cNvPr id="12" name="正方形/長方形 11">
                <a:extLst>
                  <a:ext uri="{FF2B5EF4-FFF2-40B4-BE49-F238E27FC236}">
                    <a16:creationId xmlns:a16="http://schemas.microsoft.com/office/drawing/2014/main" id="{2A613F37-60C1-9417-95D3-48E55A6DB4D1}"/>
                  </a:ext>
                </a:extLst>
              </p:cNvPr>
              <p:cNvSpPr/>
              <p:nvPr/>
            </p:nvSpPr>
            <p:spPr>
              <a:xfrm>
                <a:off x="6694979" y="2005842"/>
                <a:ext cx="3162456" cy="431465"/>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defRPr/>
                </a:pPr>
                <a:r>
                  <a:rPr lang="en-US" altLang="ja-JP" sz="1100" dirty="0">
                    <a:solidFill>
                      <a:schemeClr val="tx1"/>
                    </a:solidFill>
                    <a:latin typeface="+mn-ea"/>
                  </a:rPr>
                  <a:t>AI</a:t>
                </a:r>
                <a:r>
                  <a:rPr lang="ja-JP" altLang="en-US" sz="1100" dirty="0">
                    <a:solidFill>
                      <a:schemeClr val="tx1"/>
                    </a:solidFill>
                    <a:latin typeface="+mn-ea"/>
                  </a:rPr>
                  <a:t>自動補充・小売アルゴリズムの「足切り」を回避し、</a:t>
                </a:r>
                <a:br>
                  <a:rPr lang="en-US" altLang="ja-JP" sz="1100" dirty="0">
                    <a:solidFill>
                      <a:schemeClr val="tx1"/>
                    </a:solidFill>
                    <a:latin typeface="+mn-ea"/>
                  </a:rPr>
                </a:br>
                <a:r>
                  <a:rPr lang="en-US" altLang="ja-JP" sz="1100" dirty="0">
                    <a:solidFill>
                      <a:schemeClr val="tx1"/>
                    </a:solidFill>
                    <a:latin typeface="+mn-ea"/>
                  </a:rPr>
                  <a:t>AI</a:t>
                </a:r>
                <a:r>
                  <a:rPr lang="ja-JP" altLang="en-US" sz="1100" dirty="0">
                    <a:solidFill>
                      <a:schemeClr val="tx1"/>
                    </a:solidFill>
                    <a:latin typeface="+mn-ea"/>
                  </a:rPr>
                  <a:t>の推奨リストに載る</a:t>
                </a:r>
              </a:p>
            </p:txBody>
          </p:sp>
          <p:sp>
            <p:nvSpPr>
              <p:cNvPr id="16" name="正方形/長方形 15">
                <a:extLst>
                  <a:ext uri="{FF2B5EF4-FFF2-40B4-BE49-F238E27FC236}">
                    <a16:creationId xmlns:a16="http://schemas.microsoft.com/office/drawing/2014/main" id="{3BC90306-3426-EECF-9D5A-BDE1CB6FB5B8}"/>
                  </a:ext>
                </a:extLst>
              </p:cNvPr>
              <p:cNvSpPr/>
              <p:nvPr/>
            </p:nvSpPr>
            <p:spPr>
              <a:xfrm>
                <a:off x="6694979" y="2513506"/>
                <a:ext cx="3162456" cy="431465"/>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defRPr/>
                </a:pPr>
                <a:r>
                  <a:rPr lang="ja-JP" altLang="en-US" sz="1050" dirty="0">
                    <a:solidFill>
                      <a:schemeClr val="tx1"/>
                    </a:solidFill>
                    <a:latin typeface="+mn-ea"/>
                  </a:rPr>
                  <a:t>紙と単発イベントの啓発を、アプリ・デジタル教材の継続</a:t>
                </a:r>
                <a:br>
                  <a:rPr lang="en-US" altLang="ja-JP" sz="1050" dirty="0">
                    <a:solidFill>
                      <a:schemeClr val="tx1"/>
                    </a:solidFill>
                    <a:latin typeface="+mn-ea"/>
                  </a:rPr>
                </a:br>
                <a:r>
                  <a:rPr lang="ja-JP" altLang="en-US" sz="1050" dirty="0">
                    <a:solidFill>
                      <a:schemeClr val="tx1"/>
                    </a:solidFill>
                    <a:latin typeface="+mn-ea"/>
                  </a:rPr>
                  <a:t>接点にし、子どものうちからの習慣づくりを測れる資産にする</a:t>
                </a:r>
              </a:p>
            </p:txBody>
          </p:sp>
          <p:sp>
            <p:nvSpPr>
              <p:cNvPr id="18" name="正方形/長方形 17">
                <a:extLst>
                  <a:ext uri="{FF2B5EF4-FFF2-40B4-BE49-F238E27FC236}">
                    <a16:creationId xmlns:a16="http://schemas.microsoft.com/office/drawing/2014/main" id="{2AEAFF7D-18D0-9E48-50B9-45C77FF42AE1}"/>
                  </a:ext>
                </a:extLst>
              </p:cNvPr>
              <p:cNvSpPr/>
              <p:nvPr/>
            </p:nvSpPr>
            <p:spPr>
              <a:xfrm>
                <a:off x="10063082" y="2005842"/>
                <a:ext cx="1793954" cy="431465"/>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71450" lvl="0" indent="-171450">
                  <a:buClr>
                    <a:schemeClr val="accent5"/>
                  </a:buClr>
                  <a:buFont typeface="Arial" panose="020B0604020202020204" pitchFamily="34" charset="0"/>
                  <a:buChar char="•"/>
                  <a:defRPr/>
                </a:pPr>
                <a:r>
                  <a:rPr lang="en-US" altLang="ja-JP" sz="1100" dirty="0">
                    <a:solidFill>
                      <a:schemeClr val="accent5"/>
                    </a:solidFill>
                    <a:latin typeface="+mn-ea"/>
                  </a:rPr>
                  <a:t>API</a:t>
                </a:r>
                <a:r>
                  <a:rPr lang="ja-JP" altLang="en-US" sz="1100" dirty="0">
                    <a:solidFill>
                      <a:schemeClr val="accent5"/>
                    </a:solidFill>
                    <a:latin typeface="+mn-ea"/>
                  </a:rPr>
                  <a:t>開放</a:t>
                </a:r>
                <a:r>
                  <a:rPr lang="en-US" altLang="ja-JP" sz="1100" dirty="0">
                    <a:solidFill>
                      <a:schemeClr val="accent5"/>
                    </a:solidFill>
                    <a:latin typeface="+mn-ea"/>
                  </a:rPr>
                  <a:t>SKU</a:t>
                </a:r>
                <a:r>
                  <a:rPr lang="ja-JP" altLang="en-US" sz="1100" dirty="0">
                    <a:solidFill>
                      <a:schemeClr val="accent5"/>
                    </a:solidFill>
                    <a:latin typeface="+mn-ea"/>
                  </a:rPr>
                  <a:t>比率</a:t>
                </a:r>
                <a:endParaRPr lang="en-US" altLang="ja-JP" sz="1100" dirty="0">
                  <a:solidFill>
                    <a:schemeClr val="accent5"/>
                  </a:solidFill>
                  <a:latin typeface="+mn-ea"/>
                </a:endParaRPr>
              </a:p>
              <a:p>
                <a:pPr marL="171450" lvl="0" indent="-171450">
                  <a:buClr>
                    <a:schemeClr val="accent5"/>
                  </a:buClr>
                  <a:buFont typeface="Arial" panose="020B0604020202020204" pitchFamily="34" charset="0"/>
                  <a:buChar char="•"/>
                  <a:defRPr/>
                </a:pPr>
                <a:r>
                  <a:rPr lang="en-US" altLang="ja-JP" sz="1100" dirty="0">
                    <a:solidFill>
                      <a:schemeClr val="accent5"/>
                    </a:solidFill>
                    <a:latin typeface="+mn-ea"/>
                  </a:rPr>
                  <a:t>AI</a:t>
                </a:r>
                <a:r>
                  <a:rPr lang="ja-JP" altLang="en-US" sz="1100" dirty="0">
                    <a:solidFill>
                      <a:schemeClr val="accent5"/>
                    </a:solidFill>
                    <a:latin typeface="+mn-ea"/>
                  </a:rPr>
                  <a:t>推奨リスト掲載率</a:t>
                </a:r>
              </a:p>
            </p:txBody>
          </p:sp>
          <p:sp>
            <p:nvSpPr>
              <p:cNvPr id="19" name="正方形/長方形 18">
                <a:extLst>
                  <a:ext uri="{FF2B5EF4-FFF2-40B4-BE49-F238E27FC236}">
                    <a16:creationId xmlns:a16="http://schemas.microsoft.com/office/drawing/2014/main" id="{E8E42F8F-6B7D-8442-0E51-B193F4004778}"/>
                  </a:ext>
                </a:extLst>
              </p:cNvPr>
              <p:cNvSpPr/>
              <p:nvPr/>
            </p:nvSpPr>
            <p:spPr>
              <a:xfrm>
                <a:off x="10063082" y="2513506"/>
                <a:ext cx="1793954" cy="431465"/>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71450" indent="-171450">
                  <a:buClr>
                    <a:schemeClr val="accent5"/>
                  </a:buClr>
                  <a:buFont typeface="Arial" panose="020B0604020202020204" pitchFamily="34" charset="0"/>
                  <a:buChar char="•"/>
                </a:pPr>
                <a:r>
                  <a:rPr lang="ja-JP" altLang="en-US" sz="1100" dirty="0">
                    <a:solidFill>
                      <a:schemeClr val="accent5"/>
                    </a:solidFill>
                    <a:latin typeface="+mn-ea"/>
                  </a:rPr>
                  <a:t>デジタル化率</a:t>
                </a:r>
                <a:endParaRPr lang="en-US" altLang="ja-JP" sz="1100" dirty="0">
                  <a:solidFill>
                    <a:schemeClr val="accent5"/>
                  </a:solidFill>
                  <a:latin typeface="+mn-ea"/>
                </a:endParaRPr>
              </a:p>
              <a:p>
                <a:pPr marL="171450" indent="-171450">
                  <a:buClr>
                    <a:schemeClr val="accent5"/>
                  </a:buClr>
                  <a:buFont typeface="Arial" panose="020B0604020202020204" pitchFamily="34" charset="0"/>
                  <a:buChar char="•"/>
                </a:pPr>
                <a:r>
                  <a:rPr lang="ja-JP" altLang="en-US" sz="1100" dirty="0">
                    <a:solidFill>
                      <a:schemeClr val="accent5"/>
                    </a:solidFill>
                    <a:latin typeface="+mn-ea"/>
                  </a:rPr>
                  <a:t>若年層習慣定着率</a:t>
                </a:r>
              </a:p>
            </p:txBody>
          </p:sp>
          <p:cxnSp>
            <p:nvCxnSpPr>
              <p:cNvPr id="21" name="コネクタ: カギ線 20">
                <a:extLst>
                  <a:ext uri="{FF2B5EF4-FFF2-40B4-BE49-F238E27FC236}">
                    <a16:creationId xmlns:a16="http://schemas.microsoft.com/office/drawing/2014/main" id="{40D2548B-11C5-C37B-11B1-0C62E92D53A7}"/>
                  </a:ext>
                </a:extLst>
              </p:cNvPr>
              <p:cNvCxnSpPr>
                <a:stCxn id="55" idx="3"/>
                <a:endCxn id="17" idx="1"/>
              </p:cNvCxnSpPr>
              <p:nvPr/>
            </p:nvCxnSpPr>
            <p:spPr>
              <a:xfrm flipV="1">
                <a:off x="2074460" y="2221575"/>
                <a:ext cx="194580" cy="253833"/>
              </a:xfrm>
              <a:prstGeom prst="bentConnector3">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コネクタ: カギ線 21">
                <a:extLst>
                  <a:ext uri="{FF2B5EF4-FFF2-40B4-BE49-F238E27FC236}">
                    <a16:creationId xmlns:a16="http://schemas.microsoft.com/office/drawing/2014/main" id="{6C81C7A7-17D8-2C50-2F51-3FC035E6902E}"/>
                  </a:ext>
                </a:extLst>
              </p:cNvPr>
              <p:cNvCxnSpPr>
                <a:cxnSpLocks/>
                <a:stCxn id="55" idx="3"/>
                <a:endCxn id="59" idx="1"/>
              </p:cNvCxnSpPr>
              <p:nvPr/>
            </p:nvCxnSpPr>
            <p:spPr>
              <a:xfrm>
                <a:off x="2074460" y="2475408"/>
                <a:ext cx="194580" cy="253832"/>
              </a:xfrm>
              <a:prstGeom prst="bentConnector3">
                <a:avLst>
                  <a:gd name="adj1" fmla="val 50000"/>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EFF4474A-AEDF-DC2D-8033-04FAC34432D5}"/>
                  </a:ext>
                </a:extLst>
              </p:cNvPr>
              <p:cNvCxnSpPr/>
              <p:nvPr/>
            </p:nvCxnSpPr>
            <p:spPr>
              <a:xfrm>
                <a:off x="6694979" y="2475406"/>
                <a:ext cx="3162456"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直線コネクタ 76">
                <a:extLst>
                  <a:ext uri="{FF2B5EF4-FFF2-40B4-BE49-F238E27FC236}">
                    <a16:creationId xmlns:a16="http://schemas.microsoft.com/office/drawing/2014/main" id="{397F3CB2-6755-AE19-9E4D-EFA05ADE0ABF}"/>
                  </a:ext>
                </a:extLst>
              </p:cNvPr>
              <p:cNvCxnSpPr/>
              <p:nvPr/>
            </p:nvCxnSpPr>
            <p:spPr>
              <a:xfrm>
                <a:off x="10063082" y="2475406"/>
                <a:ext cx="1793954"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0" name="正方形/長方形 79">
                <a:extLst>
                  <a:ext uri="{FF2B5EF4-FFF2-40B4-BE49-F238E27FC236}">
                    <a16:creationId xmlns:a16="http://schemas.microsoft.com/office/drawing/2014/main" id="{71051519-B6A8-EF91-2EC8-0895A7012B4D}"/>
                  </a:ext>
                </a:extLst>
              </p:cNvPr>
              <p:cNvSpPr/>
              <p:nvPr/>
            </p:nvSpPr>
            <p:spPr>
              <a:xfrm>
                <a:off x="2764484" y="2995774"/>
                <a:ext cx="3713783" cy="431465"/>
              </a:xfrm>
              <a:prstGeom prst="rect">
                <a:avLst/>
              </a:prstGeom>
              <a:noFill/>
              <a:ln w="9525">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pPr lvl="0">
                  <a:defRPr/>
                </a:pPr>
                <a:r>
                  <a:rPr lang="ja-JP" altLang="en-US" sz="1100" dirty="0">
                    <a:solidFill>
                      <a:schemeClr val="accent5"/>
                    </a:solidFill>
                    <a:latin typeface="+mn-ea"/>
                  </a:rPr>
                  <a:t>広告・販促の効果を金額で測る仕組みを作る</a:t>
                </a:r>
                <a:endParaRPr lang="ja-JP" altLang="en-US" sz="1100" dirty="0">
                  <a:solidFill>
                    <a:schemeClr val="tx1"/>
                  </a:solidFill>
                  <a:latin typeface="+mn-ea"/>
                </a:endParaRPr>
              </a:p>
              <a:p>
                <a:pPr lvl="0">
                  <a:defRPr/>
                </a:pPr>
                <a:r>
                  <a:rPr lang="ja-JP" altLang="en-US" sz="1100" dirty="0">
                    <a:solidFill>
                      <a:schemeClr val="tx1"/>
                    </a:solidFill>
                    <a:latin typeface="+mn-ea"/>
                  </a:rPr>
                  <a:t>＝投資</a:t>
                </a:r>
                <a:r>
                  <a:rPr lang="en-US" altLang="ja-JP" sz="1100" dirty="0">
                    <a:solidFill>
                      <a:schemeClr val="tx1"/>
                    </a:solidFill>
                    <a:latin typeface="+mn-ea"/>
                  </a:rPr>
                  <a:t>ROI</a:t>
                </a:r>
                <a:r>
                  <a:rPr lang="ja-JP" altLang="en-US" sz="1100" dirty="0">
                    <a:solidFill>
                      <a:schemeClr val="tx1"/>
                    </a:solidFill>
                    <a:latin typeface="+mn-ea"/>
                  </a:rPr>
                  <a:t>可視化基盤 </a:t>
                </a:r>
                <a:r>
                  <a:rPr lang="en-US" altLang="ja-JP" sz="1100" dirty="0">
                    <a:solidFill>
                      <a:schemeClr val="tx1"/>
                    </a:solidFill>
                    <a:latin typeface="+mn-ea"/>
                  </a:rPr>
                  <a:t>(MMM×DCR)</a:t>
                </a:r>
                <a:endParaRPr lang="ja-JP" altLang="en-US" sz="1100" dirty="0">
                  <a:solidFill>
                    <a:schemeClr val="tx1"/>
                  </a:solidFill>
                  <a:latin typeface="+mn-ea"/>
                </a:endParaRPr>
              </a:p>
            </p:txBody>
          </p:sp>
          <p:sp>
            <p:nvSpPr>
              <p:cNvPr id="81" name="正方形/長方形 80">
                <a:extLst>
                  <a:ext uri="{FF2B5EF4-FFF2-40B4-BE49-F238E27FC236}">
                    <a16:creationId xmlns:a16="http://schemas.microsoft.com/office/drawing/2014/main" id="{B025A400-5558-2893-D34C-6BE30BB60B2B}"/>
                  </a:ext>
                </a:extLst>
              </p:cNvPr>
              <p:cNvSpPr/>
              <p:nvPr/>
            </p:nvSpPr>
            <p:spPr>
              <a:xfrm>
                <a:off x="2269039" y="2995774"/>
                <a:ext cx="495445" cy="431465"/>
              </a:xfrm>
              <a:prstGeom prst="rect">
                <a:avLst/>
              </a:prstGeom>
              <a:solidFill>
                <a:srgbClr val="008D2E"/>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400" dirty="0">
                    <a:solidFill>
                      <a:schemeClr val="bg1"/>
                    </a:solidFill>
                    <a:latin typeface="+mn-ea"/>
                  </a:rPr>
                  <a:t>B1★</a:t>
                </a:r>
              </a:p>
            </p:txBody>
          </p:sp>
          <p:sp>
            <p:nvSpPr>
              <p:cNvPr id="82" name="正方形/長方形 16">
                <a:extLst>
                  <a:ext uri="{FF2B5EF4-FFF2-40B4-BE49-F238E27FC236}">
                    <a16:creationId xmlns:a16="http://schemas.microsoft.com/office/drawing/2014/main" id="{188C9419-39BC-A877-8190-EDD34E55B156}"/>
                  </a:ext>
                </a:extLst>
              </p:cNvPr>
              <p:cNvSpPr/>
              <p:nvPr/>
            </p:nvSpPr>
            <p:spPr>
              <a:xfrm>
                <a:off x="2269039" y="3503439"/>
                <a:ext cx="495445" cy="431465"/>
              </a:xfrm>
              <a:prstGeom prst="rect">
                <a:avLst/>
              </a:prstGeom>
              <a:solidFill>
                <a:srgbClr val="008D2E"/>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400" dirty="0">
                    <a:solidFill>
                      <a:schemeClr val="bg1"/>
                    </a:solidFill>
                    <a:latin typeface="+mn-ea"/>
                  </a:rPr>
                  <a:t>B2</a:t>
                </a:r>
              </a:p>
            </p:txBody>
          </p:sp>
          <p:sp>
            <p:nvSpPr>
              <p:cNvPr id="83" name="正方形/長方形 82">
                <a:extLst>
                  <a:ext uri="{FF2B5EF4-FFF2-40B4-BE49-F238E27FC236}">
                    <a16:creationId xmlns:a16="http://schemas.microsoft.com/office/drawing/2014/main" id="{741269FD-1730-F038-E2F8-66FA894BA52E}"/>
                  </a:ext>
                </a:extLst>
              </p:cNvPr>
              <p:cNvSpPr/>
              <p:nvPr/>
            </p:nvSpPr>
            <p:spPr>
              <a:xfrm>
                <a:off x="2764484" y="3503439"/>
                <a:ext cx="3713783" cy="431465"/>
              </a:xfrm>
              <a:prstGeom prst="rect">
                <a:avLst/>
              </a:prstGeom>
              <a:noFill/>
              <a:ln w="9525">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pPr lvl="0">
                  <a:defRPr/>
                </a:pPr>
                <a:r>
                  <a:rPr lang="ja-JP" altLang="en-US" sz="1100" dirty="0">
                    <a:solidFill>
                      <a:schemeClr val="accent5"/>
                    </a:solidFill>
                    <a:latin typeface="+mn-ea"/>
                  </a:rPr>
                  <a:t>小売アプリ・サイト広告の運用を自社の手に取り戻す</a:t>
                </a:r>
              </a:p>
              <a:p>
                <a:pPr lvl="0">
                  <a:defRPr/>
                </a:pPr>
                <a:r>
                  <a:rPr lang="ja-JP" altLang="en-US" sz="1100" dirty="0">
                    <a:solidFill>
                      <a:schemeClr val="tx1"/>
                    </a:solidFill>
                    <a:latin typeface="+mn-ea"/>
                  </a:rPr>
                  <a:t>＝リテールメディア投資の内製化</a:t>
                </a:r>
              </a:p>
            </p:txBody>
          </p:sp>
          <p:sp>
            <p:nvSpPr>
              <p:cNvPr id="84" name="正方形/長方形 83">
                <a:extLst>
                  <a:ext uri="{FF2B5EF4-FFF2-40B4-BE49-F238E27FC236}">
                    <a16:creationId xmlns:a16="http://schemas.microsoft.com/office/drawing/2014/main" id="{7931A7E5-B604-A09B-DE95-E527296991F4}"/>
                  </a:ext>
                </a:extLst>
              </p:cNvPr>
              <p:cNvSpPr/>
              <p:nvPr/>
            </p:nvSpPr>
            <p:spPr>
              <a:xfrm>
                <a:off x="6694978" y="2995773"/>
                <a:ext cx="3162456" cy="431465"/>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defRPr/>
                </a:pPr>
                <a:r>
                  <a:rPr lang="ja-JP" altLang="en-US" sz="1100" dirty="0">
                    <a:solidFill>
                      <a:schemeClr val="tx1"/>
                    </a:solidFill>
                    <a:latin typeface="+mn-ea"/>
                  </a:rPr>
                  <a:t>投資と店頭売上の因果を可視化 ― 全施策の投資判断の基準になる起点</a:t>
                </a:r>
                <a:r>
                  <a:rPr lang="en-US" altLang="ja-JP" sz="1100" dirty="0">
                    <a:solidFill>
                      <a:schemeClr val="tx1"/>
                    </a:solidFill>
                    <a:latin typeface="+mn-ea"/>
                  </a:rPr>
                  <a:t/>
                </a:r>
                <a:r>
                  <a:rPr lang="ja-JP" altLang="en-US" sz="1100" dirty="0">
                    <a:solidFill>
                      <a:schemeClr val="tx1"/>
                    </a:solidFill>
                    <a:latin typeface="+mn-ea"/>
                  </a:rPr>
                  <a:t/>
                </a:r>
                <a:br>
                  <a:rPr lang="en-US" altLang="ja-JP" sz="1100" dirty="0">
                    <a:solidFill>
                      <a:schemeClr val="tx1"/>
                    </a:solidFill>
                    <a:latin typeface="+mn-ea"/>
                  </a:rPr>
                </a:br>
                <a:r>
                  <a:rPr lang="ja-JP" altLang="en-US" sz="1100" dirty="0">
                    <a:solidFill>
                      <a:schemeClr val="tx1"/>
                    </a:solidFill>
                    <a:latin typeface="+mn-ea"/>
                  </a:rPr>
                  <a:t/>
                </a:r>
              </a:p>
            </p:txBody>
          </p:sp>
          <p:sp>
            <p:nvSpPr>
              <p:cNvPr id="85" name="正方形/長方形 84">
                <a:extLst>
                  <a:ext uri="{FF2B5EF4-FFF2-40B4-BE49-F238E27FC236}">
                    <a16:creationId xmlns:a16="http://schemas.microsoft.com/office/drawing/2014/main" id="{A814CE81-7ED0-3934-DE0B-1269C80869E6}"/>
                  </a:ext>
                </a:extLst>
              </p:cNvPr>
              <p:cNvSpPr/>
              <p:nvPr/>
            </p:nvSpPr>
            <p:spPr>
              <a:xfrm>
                <a:off x="6694978" y="3503438"/>
                <a:ext cx="3162456" cy="431465"/>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defRPr/>
                </a:pPr>
                <a:r>
                  <a:rPr lang="ja-JP" altLang="en-US" sz="1100" dirty="0">
                    <a:solidFill>
                      <a:schemeClr val="tx1"/>
                    </a:solidFill>
                    <a:latin typeface="+mn-ea"/>
                  </a:rPr>
                  <a:t>その場限りの広告購入をやめ、一元管理・自社運用で手数料と効果の薄い出稿を削減</a:t>
                </a:r>
                <a:br>
                  <a:rPr lang="en-US" altLang="ja-JP" sz="1100" dirty="0">
                    <a:solidFill>
                      <a:schemeClr val="tx1"/>
                    </a:solidFill>
                    <a:latin typeface="+mn-ea"/>
                  </a:rPr>
                </a:br>
                <a:r>
                  <a:rPr lang="ja-JP" altLang="en-US" sz="1100" dirty="0">
                    <a:solidFill>
                      <a:schemeClr val="tx1"/>
                    </a:solidFill>
                    <a:latin typeface="+mn-ea"/>
                  </a:rPr>
                  <a:t/>
                </a:r>
              </a:p>
            </p:txBody>
          </p:sp>
          <p:sp>
            <p:nvSpPr>
              <p:cNvPr id="86" name="正方形/長方形 85">
                <a:extLst>
                  <a:ext uri="{FF2B5EF4-FFF2-40B4-BE49-F238E27FC236}">
                    <a16:creationId xmlns:a16="http://schemas.microsoft.com/office/drawing/2014/main" id="{E1B4AA7B-DB0B-C757-6BD5-3AF2CC0EAD88}"/>
                  </a:ext>
                </a:extLst>
              </p:cNvPr>
              <p:cNvSpPr/>
              <p:nvPr/>
            </p:nvSpPr>
            <p:spPr>
              <a:xfrm>
                <a:off x="10063081" y="2995774"/>
                <a:ext cx="1793954" cy="431465"/>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71450" lvl="0" indent="-171450">
                  <a:buClr>
                    <a:schemeClr val="accent5"/>
                  </a:buClr>
                  <a:buFont typeface="Arial" panose="020B0604020202020204" pitchFamily="34" charset="0"/>
                  <a:buChar char="•"/>
                  <a:defRPr/>
                </a:pPr>
                <a:r>
                  <a:rPr lang="ja-JP" altLang="en-US" sz="1100" dirty="0">
                    <a:solidFill>
                      <a:schemeClr val="accent5"/>
                    </a:solidFill>
                    <a:latin typeface="+mn-ea"/>
                  </a:rPr>
                  <a:t>売上寄与可視化率</a:t>
                </a:r>
                <a:endParaRPr lang="en-US" altLang="ja-JP" sz="1100" dirty="0">
                  <a:solidFill>
                    <a:schemeClr val="accent5"/>
                  </a:solidFill>
                  <a:latin typeface="+mn-ea"/>
                </a:endParaRPr>
              </a:p>
              <a:p>
                <a:pPr marL="171450" lvl="0" indent="-171450">
                  <a:buClr>
                    <a:schemeClr val="accent5"/>
                  </a:buClr>
                  <a:buFont typeface="Arial" panose="020B0604020202020204" pitchFamily="34" charset="0"/>
                  <a:buChar char="•"/>
                  <a:defRPr/>
                </a:pPr>
                <a:r>
                  <a:rPr lang="ja-JP" altLang="en-US" sz="1100" dirty="0">
                    <a:solidFill>
                      <a:schemeClr val="accent5"/>
                    </a:solidFill>
                    <a:latin typeface="+mn-ea"/>
                  </a:rPr>
                  <a:t>加重</a:t>
                </a:r>
                <a:r>
                  <a:rPr lang="en-US" altLang="ja-JP" sz="1100" dirty="0">
                    <a:solidFill>
                      <a:schemeClr val="accent5"/>
                    </a:solidFill>
                    <a:latin typeface="+mn-ea"/>
                  </a:rPr>
                  <a:t>ROAS</a:t>
                </a:r>
              </a:p>
            </p:txBody>
          </p:sp>
          <p:sp>
            <p:nvSpPr>
              <p:cNvPr id="87" name="正方形/長方形 86">
                <a:extLst>
                  <a:ext uri="{FF2B5EF4-FFF2-40B4-BE49-F238E27FC236}">
                    <a16:creationId xmlns:a16="http://schemas.microsoft.com/office/drawing/2014/main" id="{D6D91900-1436-A893-AA4F-31972483CC06}"/>
                  </a:ext>
                </a:extLst>
              </p:cNvPr>
              <p:cNvSpPr/>
              <p:nvPr/>
            </p:nvSpPr>
            <p:spPr>
              <a:xfrm>
                <a:off x="10063081" y="3503438"/>
                <a:ext cx="1793954" cy="431465"/>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71450" indent="-171450">
                  <a:buClr>
                    <a:schemeClr val="accent5"/>
                  </a:buClr>
                  <a:buFont typeface="Arial" panose="020B0604020202020204" pitchFamily="34" charset="0"/>
                  <a:buChar char="•"/>
                </a:pPr>
                <a:r>
                  <a:rPr lang="ja-JP" altLang="en-US" sz="1100" dirty="0">
                    <a:solidFill>
                      <a:schemeClr val="accent5"/>
                    </a:solidFill>
                    <a:latin typeface="+mn-ea"/>
                  </a:rPr>
                  <a:t>内製化率 </a:t>
                </a:r>
                <a:r>
                  <a:rPr lang="en-US" altLang="ja-JP" sz="1100" dirty="0">
                    <a:solidFill>
                      <a:schemeClr val="accent5"/>
                    </a:solidFill>
                    <a:latin typeface="+mn-ea"/>
                  </a:rPr>
                  <a:t>(P&amp;G</a:t>
                </a:r>
                <a:r>
                  <a:rPr lang="ja-JP" altLang="en-US" sz="1100" dirty="0">
                    <a:solidFill>
                      <a:schemeClr val="accent5"/>
                    </a:solidFill>
                    <a:latin typeface="+mn-ea"/>
                  </a:rPr>
                  <a:t>比 約</a:t>
                </a:r>
                <a:r>
                  <a:rPr lang="en-US" altLang="ja-JP" sz="1100" dirty="0">
                    <a:solidFill>
                      <a:schemeClr val="accent5"/>
                    </a:solidFill>
                    <a:latin typeface="+mn-ea"/>
                  </a:rPr>
                  <a:t>85</a:t>
                </a:r>
                <a:r>
                  <a:rPr lang="ja-JP" altLang="en-US" sz="1100" dirty="0">
                    <a:solidFill>
                      <a:schemeClr val="accent5"/>
                    </a:solidFill>
                    <a:latin typeface="+mn-ea"/>
                  </a:rPr>
                  <a:t>億円</a:t>
                </a:r>
                <a:r>
                  <a:rPr lang="en-US" altLang="ja-JP" sz="1100" dirty="0">
                    <a:solidFill>
                      <a:schemeClr val="accent5"/>
                    </a:solidFill>
                    <a:latin typeface="+mn-ea"/>
                  </a:rPr>
                  <a:t>/</a:t>
                </a:r>
                <a:r>
                  <a:rPr lang="ja-JP" altLang="en-US" sz="1100" dirty="0">
                    <a:solidFill>
                      <a:schemeClr val="accent5"/>
                    </a:solidFill>
                    <a:latin typeface="+mn-ea"/>
                  </a:rPr>
                  <a:t>年削減の先行例</a:t>
                </a:r>
                <a:r>
                  <a:rPr lang="en-US" altLang="ja-JP" sz="1100" dirty="0">
                    <a:solidFill>
                      <a:schemeClr val="accent5"/>
                    </a:solidFill>
                    <a:latin typeface="+mn-ea"/>
                  </a:rPr>
                  <a:t>)</a:t>
                </a:r>
                <a:endParaRPr lang="ja-JP" altLang="en-US" sz="1100" dirty="0">
                  <a:solidFill>
                    <a:schemeClr val="accent5"/>
                  </a:solidFill>
                  <a:latin typeface="+mn-ea"/>
                </a:endParaRPr>
              </a:p>
            </p:txBody>
          </p:sp>
          <p:cxnSp>
            <p:nvCxnSpPr>
              <p:cNvPr id="88" name="コネクタ: カギ線 87">
                <a:extLst>
                  <a:ext uri="{FF2B5EF4-FFF2-40B4-BE49-F238E27FC236}">
                    <a16:creationId xmlns:a16="http://schemas.microsoft.com/office/drawing/2014/main" id="{58765A65-C0EE-9B3E-C58C-9A1037AEE7AB}"/>
                  </a:ext>
                </a:extLst>
              </p:cNvPr>
              <p:cNvCxnSpPr>
                <a:endCxn id="81" idx="1"/>
              </p:cNvCxnSpPr>
              <p:nvPr/>
            </p:nvCxnSpPr>
            <p:spPr>
              <a:xfrm flipV="1">
                <a:off x="2074459" y="3211507"/>
                <a:ext cx="194580" cy="253833"/>
              </a:xfrm>
              <a:prstGeom prst="bentConnector3">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コネクタ: カギ線 88">
                <a:extLst>
                  <a:ext uri="{FF2B5EF4-FFF2-40B4-BE49-F238E27FC236}">
                    <a16:creationId xmlns:a16="http://schemas.microsoft.com/office/drawing/2014/main" id="{27B39C7F-882A-3C5F-7C00-EE320E7A67F0}"/>
                  </a:ext>
                </a:extLst>
              </p:cNvPr>
              <p:cNvCxnSpPr>
                <a:cxnSpLocks/>
                <a:endCxn id="82" idx="1"/>
              </p:cNvCxnSpPr>
              <p:nvPr/>
            </p:nvCxnSpPr>
            <p:spPr>
              <a:xfrm>
                <a:off x="2074459" y="3465340"/>
                <a:ext cx="194580" cy="253832"/>
              </a:xfrm>
              <a:prstGeom prst="bentConnector3">
                <a:avLst>
                  <a:gd name="adj1" fmla="val 50000"/>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直線コネクタ 89">
                <a:extLst>
                  <a:ext uri="{FF2B5EF4-FFF2-40B4-BE49-F238E27FC236}">
                    <a16:creationId xmlns:a16="http://schemas.microsoft.com/office/drawing/2014/main" id="{E9A02F68-9606-9B06-37D1-ECD478D6DA07}"/>
                  </a:ext>
                </a:extLst>
              </p:cNvPr>
              <p:cNvCxnSpPr/>
              <p:nvPr/>
            </p:nvCxnSpPr>
            <p:spPr>
              <a:xfrm>
                <a:off x="6694978" y="3465338"/>
                <a:ext cx="3162456"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直線コネクタ 90">
                <a:extLst>
                  <a:ext uri="{FF2B5EF4-FFF2-40B4-BE49-F238E27FC236}">
                    <a16:creationId xmlns:a16="http://schemas.microsoft.com/office/drawing/2014/main" id="{D774E3D4-5160-CC1C-6081-A171D8178703}"/>
                  </a:ext>
                </a:extLst>
              </p:cNvPr>
              <p:cNvCxnSpPr/>
              <p:nvPr/>
            </p:nvCxnSpPr>
            <p:spPr>
              <a:xfrm>
                <a:off x="10063081" y="3465338"/>
                <a:ext cx="1793954"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3" name="正方形/長方形 92">
                <a:extLst>
                  <a:ext uri="{FF2B5EF4-FFF2-40B4-BE49-F238E27FC236}">
                    <a16:creationId xmlns:a16="http://schemas.microsoft.com/office/drawing/2014/main" id="{3B673E4D-CA78-0B75-96FF-97F67FA7505A}"/>
                  </a:ext>
                </a:extLst>
              </p:cNvPr>
              <p:cNvSpPr/>
              <p:nvPr/>
            </p:nvSpPr>
            <p:spPr>
              <a:xfrm>
                <a:off x="2764484" y="3985704"/>
                <a:ext cx="3713783" cy="431465"/>
              </a:xfrm>
              <a:prstGeom prst="rect">
                <a:avLst/>
              </a:prstGeom>
              <a:noFill/>
              <a:ln w="9525">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pPr lvl="0">
                  <a:defRPr/>
                </a:pPr>
                <a:r>
                  <a:rPr lang="ja-JP" altLang="en-US" sz="1100" dirty="0">
                    <a:solidFill>
                      <a:schemeClr val="accent5"/>
                    </a:solidFill>
                    <a:latin typeface="+mn-ea"/>
                  </a:rPr>
                  <a:t>研究・臨床データを、商談で使える数字に自動変換する</a:t>
                </a:r>
              </a:p>
              <a:p>
                <a:pPr lvl="0">
                  <a:defRPr/>
                </a:pPr>
                <a:r>
                  <a:rPr lang="ja-JP" altLang="en-US" sz="1100" dirty="0">
                    <a:solidFill>
                      <a:schemeClr val="tx1"/>
                    </a:solidFill>
                    <a:latin typeface="+mn-ea"/>
                  </a:rPr>
                  <a:t>＝臨床データの</a:t>
                </a:r>
                <a:r>
                  <a:rPr lang="en-US" altLang="ja-JP" sz="1100" dirty="0">
                    <a:solidFill>
                      <a:schemeClr val="tx1"/>
                    </a:solidFill>
                    <a:latin typeface="+mn-ea"/>
                  </a:rPr>
                  <a:t>LTV</a:t>
                </a:r>
                <a:r>
                  <a:rPr lang="ja-JP" altLang="en-US" sz="1100" dirty="0">
                    <a:solidFill>
                      <a:schemeClr val="tx1"/>
                    </a:solidFill>
                    <a:latin typeface="+mn-ea"/>
                  </a:rPr>
                  <a:t>・炭素効率変換</a:t>
                </a:r>
              </a:p>
            </p:txBody>
          </p:sp>
          <p:sp>
            <p:nvSpPr>
              <p:cNvPr id="94" name="正方形/長方形 93">
                <a:extLst>
                  <a:ext uri="{FF2B5EF4-FFF2-40B4-BE49-F238E27FC236}">
                    <a16:creationId xmlns:a16="http://schemas.microsoft.com/office/drawing/2014/main" id="{5A612DE7-FD2E-FB12-EBFA-3229352A0E8B}"/>
                  </a:ext>
                </a:extLst>
              </p:cNvPr>
              <p:cNvSpPr/>
              <p:nvPr/>
            </p:nvSpPr>
            <p:spPr>
              <a:xfrm>
                <a:off x="2269039" y="3985704"/>
                <a:ext cx="495445" cy="431465"/>
              </a:xfrm>
              <a:prstGeom prst="rect">
                <a:avLst/>
              </a:prstGeom>
              <a:solidFill>
                <a:srgbClr val="008D2E"/>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400" dirty="0">
                    <a:solidFill>
                      <a:schemeClr val="bg1"/>
                    </a:solidFill>
                    <a:latin typeface="+mn-ea"/>
                  </a:rPr>
                  <a:t>C1★</a:t>
                </a:r>
              </a:p>
            </p:txBody>
          </p:sp>
          <p:sp>
            <p:nvSpPr>
              <p:cNvPr id="95" name="正方形/長方形 16">
                <a:extLst>
                  <a:ext uri="{FF2B5EF4-FFF2-40B4-BE49-F238E27FC236}">
                    <a16:creationId xmlns:a16="http://schemas.microsoft.com/office/drawing/2014/main" id="{7F78F13F-7E4E-B02B-CF4B-758EEAB60E63}"/>
                  </a:ext>
                </a:extLst>
              </p:cNvPr>
              <p:cNvSpPr/>
              <p:nvPr/>
            </p:nvSpPr>
            <p:spPr>
              <a:xfrm>
                <a:off x="2269039" y="4493369"/>
                <a:ext cx="495445" cy="431465"/>
              </a:xfrm>
              <a:prstGeom prst="rect">
                <a:avLst/>
              </a:prstGeom>
              <a:solidFill>
                <a:srgbClr val="008D2E"/>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400" dirty="0">
                    <a:solidFill>
                      <a:schemeClr val="bg1"/>
                    </a:solidFill>
                    <a:latin typeface="+mn-ea"/>
                  </a:rPr>
                  <a:t>C2</a:t>
                </a:r>
              </a:p>
            </p:txBody>
          </p:sp>
          <p:sp>
            <p:nvSpPr>
              <p:cNvPr id="96" name="正方形/長方形 95">
                <a:extLst>
                  <a:ext uri="{FF2B5EF4-FFF2-40B4-BE49-F238E27FC236}">
                    <a16:creationId xmlns:a16="http://schemas.microsoft.com/office/drawing/2014/main" id="{037BFD0C-FA2F-4005-9F27-EB70E27EC95F}"/>
                  </a:ext>
                </a:extLst>
              </p:cNvPr>
              <p:cNvSpPr/>
              <p:nvPr/>
            </p:nvSpPr>
            <p:spPr>
              <a:xfrm>
                <a:off x="2764484" y="4493369"/>
                <a:ext cx="3713783" cy="431465"/>
              </a:xfrm>
              <a:prstGeom prst="rect">
                <a:avLst/>
              </a:prstGeom>
              <a:noFill/>
              <a:ln w="9525">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pPr lvl="0">
                  <a:defRPr/>
                </a:pPr>
                <a:r>
                  <a:rPr lang="ja-JP" altLang="en-US" sz="1100" dirty="0">
                    <a:solidFill>
                      <a:schemeClr val="accent5"/>
                    </a:solidFill>
                    <a:latin typeface="+mn-ea"/>
                  </a:rPr>
                  <a:t>成功した商談を型にして、誰でも再現できるようにする</a:t>
                </a:r>
              </a:p>
              <a:p>
                <a:pPr lvl="0">
                  <a:defRPr/>
                </a:pPr>
                <a:r>
                  <a:rPr lang="ja-JP" altLang="en-US" sz="1100" dirty="0">
                    <a:solidFill>
                      <a:schemeClr val="tx1"/>
                    </a:solidFill>
                    <a:latin typeface="+mn-ea"/>
                  </a:rPr>
                  <a:t>＝ロジック提案の標準化</a:t>
                </a:r>
              </a:p>
            </p:txBody>
          </p:sp>
          <p:sp>
            <p:nvSpPr>
              <p:cNvPr id="97" name="正方形/長方形 96">
                <a:extLst>
                  <a:ext uri="{FF2B5EF4-FFF2-40B4-BE49-F238E27FC236}">
                    <a16:creationId xmlns:a16="http://schemas.microsoft.com/office/drawing/2014/main" id="{DFA6D89C-BFA7-8415-6A2E-951A7F3B5542}"/>
                  </a:ext>
                </a:extLst>
              </p:cNvPr>
              <p:cNvSpPr/>
              <p:nvPr/>
            </p:nvSpPr>
            <p:spPr>
              <a:xfrm>
                <a:off x="6694978" y="3985703"/>
                <a:ext cx="3162456" cy="431465"/>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defRPr/>
                </a:pPr>
                <a:r>
                  <a:rPr lang="ja-JP" altLang="en-US" sz="1100" dirty="0">
                    <a:solidFill>
                      <a:schemeClr val="tx1"/>
                    </a:solidFill>
                    <a:latin typeface="+mn-ea"/>
                  </a:rPr>
                  <a:t>バイヤーが本部監査を突破できる数値根拠へ自動変換</a:t>
                </a:r>
                <a:br>
                  <a:rPr lang="en-US" altLang="ja-JP" sz="1100" dirty="0">
                    <a:solidFill>
                      <a:schemeClr val="tx1"/>
                    </a:solidFill>
                    <a:latin typeface="+mn-ea"/>
                  </a:rPr>
                </a:br>
                <a:r>
                  <a:rPr lang="ja-JP" altLang="en-US" sz="1100" dirty="0">
                    <a:solidFill>
                      <a:schemeClr val="tx1"/>
                    </a:solidFill>
                    <a:latin typeface="+mn-ea"/>
                  </a:rPr>
                  <a:t>し商談当日に供給</a:t>
                </a:r>
              </a:p>
            </p:txBody>
          </p:sp>
          <p:sp>
            <p:nvSpPr>
              <p:cNvPr id="98" name="正方形/長方形 97">
                <a:extLst>
                  <a:ext uri="{FF2B5EF4-FFF2-40B4-BE49-F238E27FC236}">
                    <a16:creationId xmlns:a16="http://schemas.microsoft.com/office/drawing/2014/main" id="{B40F2514-CEB5-3516-16E5-D77CDFB30A08}"/>
                  </a:ext>
                </a:extLst>
              </p:cNvPr>
              <p:cNvSpPr/>
              <p:nvPr/>
            </p:nvSpPr>
            <p:spPr>
              <a:xfrm>
                <a:off x="6694978" y="4493368"/>
                <a:ext cx="3162456" cy="431465"/>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defRPr/>
                </a:pPr>
                <a:r>
                  <a:rPr lang="ja-JP" altLang="en-US" sz="1100" dirty="0">
                    <a:solidFill>
                      <a:schemeClr val="tx1"/>
                    </a:solidFill>
                    <a:latin typeface="+mn-ea"/>
                  </a:rPr>
                  <a:t>ベテランの暗黙知を形式知化し、提案の質を人に</a:t>
                </a:r>
                <a:br>
                  <a:rPr lang="en-US" altLang="ja-JP" sz="1100" dirty="0">
                    <a:solidFill>
                      <a:schemeClr val="tx1"/>
                    </a:solidFill>
                    <a:latin typeface="+mn-ea"/>
                  </a:rPr>
                </a:br>
                <a:r>
                  <a:rPr lang="ja-JP" altLang="en-US" sz="1100" dirty="0">
                    <a:solidFill>
                      <a:schemeClr val="tx1"/>
                    </a:solidFill>
                    <a:latin typeface="+mn-ea"/>
                  </a:rPr>
                  <a:t>依存させない</a:t>
                </a:r>
              </a:p>
            </p:txBody>
          </p:sp>
          <p:sp>
            <p:nvSpPr>
              <p:cNvPr id="99" name="正方形/長方形 98">
                <a:extLst>
                  <a:ext uri="{FF2B5EF4-FFF2-40B4-BE49-F238E27FC236}">
                    <a16:creationId xmlns:a16="http://schemas.microsoft.com/office/drawing/2014/main" id="{09941D76-59EE-4BA7-2555-5FB72344FB62}"/>
                  </a:ext>
                </a:extLst>
              </p:cNvPr>
              <p:cNvSpPr/>
              <p:nvPr/>
            </p:nvSpPr>
            <p:spPr>
              <a:xfrm>
                <a:off x="10063081" y="3985704"/>
                <a:ext cx="1793954" cy="431465"/>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71450" lvl="0" indent="-171450">
                  <a:buClr>
                    <a:schemeClr val="accent5"/>
                  </a:buClr>
                  <a:buFont typeface="Arial" panose="020B0604020202020204" pitchFamily="34" charset="0"/>
                  <a:buChar char="•"/>
                  <a:defRPr/>
                </a:pPr>
                <a:r>
                  <a:rPr lang="zh-TW" altLang="en-US" sz="1100" dirty="0">
                    <a:solidFill>
                      <a:schemeClr val="accent5"/>
                    </a:solidFill>
                    <a:latin typeface="+mn-ea"/>
                  </a:rPr>
                  <a:t>提案採用率</a:t>
                </a:r>
                <a:endParaRPr lang="en-US" altLang="zh-TW" sz="1100" dirty="0">
                  <a:solidFill>
                    <a:schemeClr val="accent5"/>
                  </a:solidFill>
                  <a:latin typeface="+mn-ea"/>
                </a:endParaRPr>
              </a:p>
              <a:p>
                <a:pPr marL="171450" lvl="0" indent="-171450">
                  <a:buClr>
                    <a:schemeClr val="accent5"/>
                  </a:buClr>
                  <a:buFont typeface="Arial" panose="020B0604020202020204" pitchFamily="34" charset="0"/>
                  <a:buChar char="•"/>
                  <a:defRPr/>
                </a:pPr>
                <a:r>
                  <a:rPr lang="zh-TW" altLang="en-US" sz="1100" dirty="0">
                    <a:solidFill>
                      <a:schemeClr val="accent5"/>
                    </a:solidFill>
                    <a:latin typeface="+mn-ea"/>
                  </a:rPr>
                  <a:t>審査突破率</a:t>
                </a:r>
              </a:p>
            </p:txBody>
          </p:sp>
          <p:sp>
            <p:nvSpPr>
              <p:cNvPr id="100" name="正方形/長方形 99">
                <a:extLst>
                  <a:ext uri="{FF2B5EF4-FFF2-40B4-BE49-F238E27FC236}">
                    <a16:creationId xmlns:a16="http://schemas.microsoft.com/office/drawing/2014/main" id="{FAFBA673-1096-F650-9486-527BCC9979A7}"/>
                  </a:ext>
                </a:extLst>
              </p:cNvPr>
              <p:cNvSpPr/>
              <p:nvPr/>
            </p:nvSpPr>
            <p:spPr>
              <a:xfrm>
                <a:off x="10063081" y="4493368"/>
                <a:ext cx="1793954" cy="431465"/>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71450" indent="-171450">
                  <a:buClr>
                    <a:schemeClr val="accent5"/>
                  </a:buClr>
                  <a:buFont typeface="Arial" panose="020B0604020202020204" pitchFamily="34" charset="0"/>
                  <a:buChar char="•"/>
                </a:pPr>
                <a:r>
                  <a:rPr lang="ja-JP" altLang="en-US" sz="1100" dirty="0">
                    <a:solidFill>
                      <a:schemeClr val="accent5"/>
                    </a:solidFill>
                    <a:latin typeface="+mn-ea"/>
                  </a:rPr>
                  <a:t>テンプレ活用率</a:t>
                </a:r>
                <a:endParaRPr lang="en-US" altLang="ja-JP" sz="1100" dirty="0">
                  <a:solidFill>
                    <a:schemeClr val="accent5"/>
                  </a:solidFill>
                  <a:latin typeface="+mn-ea"/>
                </a:endParaRPr>
              </a:p>
              <a:p>
                <a:pPr marL="171450" indent="-171450">
                  <a:buClr>
                    <a:schemeClr val="accent5"/>
                  </a:buClr>
                  <a:buFont typeface="Arial" panose="020B0604020202020204" pitchFamily="34" charset="0"/>
                  <a:buChar char="•"/>
                </a:pPr>
                <a:r>
                  <a:rPr lang="ja-JP" altLang="en-US" sz="1100" dirty="0">
                    <a:solidFill>
                      <a:schemeClr val="accent5"/>
                    </a:solidFill>
                    <a:latin typeface="+mn-ea"/>
                  </a:rPr>
                  <a:t>標準提案採用率</a:t>
                </a:r>
              </a:p>
            </p:txBody>
          </p:sp>
          <p:cxnSp>
            <p:nvCxnSpPr>
              <p:cNvPr id="101" name="コネクタ: カギ線 100">
                <a:extLst>
                  <a:ext uri="{FF2B5EF4-FFF2-40B4-BE49-F238E27FC236}">
                    <a16:creationId xmlns:a16="http://schemas.microsoft.com/office/drawing/2014/main" id="{EB0AE6E7-B00B-9DA9-4A25-AE55AD4F5CBB}"/>
                  </a:ext>
                </a:extLst>
              </p:cNvPr>
              <p:cNvCxnSpPr>
                <a:endCxn id="94" idx="1"/>
              </p:cNvCxnSpPr>
              <p:nvPr/>
            </p:nvCxnSpPr>
            <p:spPr>
              <a:xfrm flipV="1">
                <a:off x="2074459" y="4201437"/>
                <a:ext cx="194580" cy="253833"/>
              </a:xfrm>
              <a:prstGeom prst="bentConnector3">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コネクタ: カギ線 101">
                <a:extLst>
                  <a:ext uri="{FF2B5EF4-FFF2-40B4-BE49-F238E27FC236}">
                    <a16:creationId xmlns:a16="http://schemas.microsoft.com/office/drawing/2014/main" id="{9D9B662C-2078-2644-B354-C34CCBED76F9}"/>
                  </a:ext>
                </a:extLst>
              </p:cNvPr>
              <p:cNvCxnSpPr>
                <a:cxnSpLocks/>
                <a:endCxn id="95" idx="1"/>
              </p:cNvCxnSpPr>
              <p:nvPr/>
            </p:nvCxnSpPr>
            <p:spPr>
              <a:xfrm>
                <a:off x="2074459" y="4455270"/>
                <a:ext cx="194580" cy="253832"/>
              </a:xfrm>
              <a:prstGeom prst="bentConnector3">
                <a:avLst>
                  <a:gd name="adj1" fmla="val 50000"/>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DEF1DE3B-9A02-DEBD-324C-11019EBDB557}"/>
                  </a:ext>
                </a:extLst>
              </p:cNvPr>
              <p:cNvCxnSpPr/>
              <p:nvPr/>
            </p:nvCxnSpPr>
            <p:spPr>
              <a:xfrm>
                <a:off x="6694978" y="4455268"/>
                <a:ext cx="3162456"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4" name="直線コネクタ 103">
                <a:extLst>
                  <a:ext uri="{FF2B5EF4-FFF2-40B4-BE49-F238E27FC236}">
                    <a16:creationId xmlns:a16="http://schemas.microsoft.com/office/drawing/2014/main" id="{68A01A9B-CD6E-0A1E-B20A-93786AD25E3E}"/>
                  </a:ext>
                </a:extLst>
              </p:cNvPr>
              <p:cNvCxnSpPr/>
              <p:nvPr/>
            </p:nvCxnSpPr>
            <p:spPr>
              <a:xfrm>
                <a:off x="10063081" y="4455268"/>
                <a:ext cx="1793954"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8137483E-6437-D4F3-4D89-637CCB7628A2}"/>
                  </a:ext>
                </a:extLst>
              </p:cNvPr>
              <p:cNvSpPr/>
              <p:nvPr/>
            </p:nvSpPr>
            <p:spPr>
              <a:xfrm>
                <a:off x="2764484" y="4975636"/>
                <a:ext cx="3713783" cy="431465"/>
              </a:xfrm>
              <a:prstGeom prst="rect">
                <a:avLst/>
              </a:prstGeom>
              <a:noFill/>
              <a:ln w="9525">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pPr lvl="0">
                  <a:defRPr/>
                </a:pPr>
                <a:r>
                  <a:rPr lang="ja-JP" altLang="en-US" sz="1100" dirty="0">
                    <a:solidFill>
                      <a:schemeClr val="accent5"/>
                    </a:solidFill>
                    <a:latin typeface="+mn-ea"/>
                  </a:rPr>
                  <a:t>資料作成・集計を</a:t>
                </a:r>
                <a:r>
                  <a:rPr lang="en-US" altLang="ja-JP" sz="1100" dirty="0">
                    <a:solidFill>
                      <a:schemeClr val="accent5"/>
                    </a:solidFill>
                    <a:latin typeface="+mn-ea"/>
                  </a:rPr>
                  <a:t>AI</a:t>
                </a:r>
                <a:r>
                  <a:rPr lang="ja-JP" altLang="en-US" sz="1100" dirty="0">
                    <a:solidFill>
                      <a:schemeClr val="accent5"/>
                    </a:solidFill>
                    <a:latin typeface="+mn-ea"/>
                  </a:rPr>
                  <a:t>で自動化し、商談の時間を生み出す</a:t>
                </a:r>
              </a:p>
              <a:p>
                <a:pPr lvl="0">
                  <a:defRPr/>
                </a:pPr>
                <a:r>
                  <a:rPr lang="ja-JP" altLang="en-US" sz="1100" dirty="0">
                    <a:solidFill>
                      <a:schemeClr val="tx1"/>
                    </a:solidFill>
                    <a:latin typeface="+mn-ea"/>
                  </a:rPr>
                  <a:t>＝</a:t>
                </a:r>
                <a:r>
                  <a:rPr lang="en-US" altLang="ja-JP" sz="1100" dirty="0">
                    <a:solidFill>
                      <a:schemeClr val="tx1"/>
                    </a:solidFill>
                    <a:latin typeface="+mn-ea"/>
                  </a:rPr>
                  <a:t>Input</a:t>
                </a:r>
                <a:r>
                  <a:rPr lang="ja-JP" altLang="en-US" sz="1100" dirty="0">
                    <a:solidFill>
                      <a:schemeClr val="tx1"/>
                    </a:solidFill>
                    <a:latin typeface="+mn-ea"/>
                  </a:rPr>
                  <a:t>業務ゼロ化 </a:t>
                </a:r>
                <a:r>
                  <a:rPr lang="en-US" altLang="ja-JP" sz="1100" dirty="0">
                    <a:solidFill>
                      <a:schemeClr val="tx1"/>
                    </a:solidFill>
                    <a:latin typeface="+mn-ea"/>
                  </a:rPr>
                  <a:t>(</a:t>
                </a:r>
                <a:r>
                  <a:rPr lang="ja-JP" altLang="en-US" sz="1100" dirty="0">
                    <a:solidFill>
                      <a:schemeClr val="tx1"/>
                    </a:solidFill>
                    <a:latin typeface="+mn-ea"/>
                  </a:rPr>
                  <a:t>生成</a:t>
                </a:r>
                <a:r>
                  <a:rPr lang="en-US" altLang="ja-JP" sz="1100" dirty="0">
                    <a:solidFill>
                      <a:schemeClr val="tx1"/>
                    </a:solidFill>
                    <a:latin typeface="+mn-ea"/>
                  </a:rPr>
                  <a:t>AI</a:t>
                </a:r>
                <a:r>
                  <a:rPr lang="ja-JP" altLang="en-US" sz="1100" dirty="0">
                    <a:solidFill>
                      <a:schemeClr val="tx1"/>
                    </a:solidFill>
                    <a:latin typeface="+mn-ea"/>
                  </a:rPr>
                  <a:t>＋</a:t>
                </a:r>
                <a:r>
                  <a:rPr lang="en-US" altLang="ja-JP" sz="1100" dirty="0">
                    <a:solidFill>
                      <a:schemeClr val="tx1"/>
                    </a:solidFill>
                    <a:latin typeface="+mn-ea"/>
                  </a:rPr>
                  <a:t>TPM)</a:t>
                </a:r>
                <a:endParaRPr lang="ja-JP" altLang="en-US" sz="1100" dirty="0">
                  <a:solidFill>
                    <a:schemeClr val="tx1"/>
                  </a:solidFill>
                  <a:latin typeface="+mn-ea"/>
                </a:endParaRPr>
              </a:p>
            </p:txBody>
          </p:sp>
          <p:sp>
            <p:nvSpPr>
              <p:cNvPr id="107" name="正方形/長方形 106">
                <a:extLst>
                  <a:ext uri="{FF2B5EF4-FFF2-40B4-BE49-F238E27FC236}">
                    <a16:creationId xmlns:a16="http://schemas.microsoft.com/office/drawing/2014/main" id="{B535F162-DAA4-8CA0-8375-0E04C8AD5E27}"/>
                  </a:ext>
                </a:extLst>
              </p:cNvPr>
              <p:cNvSpPr/>
              <p:nvPr/>
            </p:nvSpPr>
            <p:spPr>
              <a:xfrm>
                <a:off x="2269039" y="4975636"/>
                <a:ext cx="495445" cy="431465"/>
              </a:xfrm>
              <a:prstGeom prst="rect">
                <a:avLst/>
              </a:prstGeom>
              <a:solidFill>
                <a:srgbClr val="008D2E"/>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400" dirty="0">
                    <a:solidFill>
                      <a:schemeClr val="bg1"/>
                    </a:solidFill>
                    <a:latin typeface="+mn-ea"/>
                  </a:rPr>
                  <a:t>D1★</a:t>
                </a:r>
              </a:p>
            </p:txBody>
          </p:sp>
          <p:sp>
            <p:nvSpPr>
              <p:cNvPr id="110" name="正方形/長方形 109">
                <a:extLst>
                  <a:ext uri="{FF2B5EF4-FFF2-40B4-BE49-F238E27FC236}">
                    <a16:creationId xmlns:a16="http://schemas.microsoft.com/office/drawing/2014/main" id="{A2E60FFE-C4B6-6C6C-663F-C0C848DCA0FB}"/>
                  </a:ext>
                </a:extLst>
              </p:cNvPr>
              <p:cNvSpPr/>
              <p:nvPr/>
            </p:nvSpPr>
            <p:spPr>
              <a:xfrm>
                <a:off x="6694978" y="4975635"/>
                <a:ext cx="3162456" cy="431465"/>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defRPr/>
                </a:pPr>
                <a:r>
                  <a:rPr lang="ja-JP" altLang="en-US" sz="1100" dirty="0">
                    <a:solidFill>
                      <a:schemeClr val="tx1"/>
                    </a:solidFill>
                    <a:latin typeface="+mn-ea"/>
                  </a:rPr>
                  <a:t>資料・集計の事務時間を構造的に削減し、時間を</a:t>
                </a:r>
                <a:br>
                  <a:rPr lang="en-US" altLang="ja-JP" sz="1100" dirty="0">
                    <a:solidFill>
                      <a:schemeClr val="tx1"/>
                    </a:solidFill>
                    <a:latin typeface="+mn-ea"/>
                  </a:rPr>
                </a:br>
                <a:r>
                  <a:rPr lang="ja-JP" altLang="en-US" sz="1100" dirty="0">
                    <a:solidFill>
                      <a:schemeClr val="tx1"/>
                    </a:solidFill>
                    <a:latin typeface="+mn-ea"/>
                  </a:rPr>
                  <a:t>商談・共同設計へ</a:t>
                </a:r>
              </a:p>
            </p:txBody>
          </p:sp>
          <p:sp>
            <p:nvSpPr>
              <p:cNvPr id="112" name="正方形/長方形 111">
                <a:extLst>
                  <a:ext uri="{FF2B5EF4-FFF2-40B4-BE49-F238E27FC236}">
                    <a16:creationId xmlns:a16="http://schemas.microsoft.com/office/drawing/2014/main" id="{CA9185F3-40DE-3A32-9EFE-42CD97C42BFB}"/>
                  </a:ext>
                </a:extLst>
              </p:cNvPr>
              <p:cNvSpPr/>
              <p:nvPr/>
            </p:nvSpPr>
            <p:spPr>
              <a:xfrm>
                <a:off x="10063081" y="4975636"/>
                <a:ext cx="1793954" cy="431465"/>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71450" lvl="0" indent="-171450">
                  <a:buClr>
                    <a:schemeClr val="accent5"/>
                  </a:buClr>
                  <a:buFont typeface="Arial" panose="020B0604020202020204" pitchFamily="34" charset="0"/>
                  <a:buChar char="•"/>
                  <a:defRPr/>
                </a:pPr>
                <a:r>
                  <a:rPr lang="zh-TW" altLang="en-US" sz="1100" dirty="0">
                    <a:solidFill>
                      <a:schemeClr val="accent5"/>
                    </a:solidFill>
                    <a:latin typeface="+mn-ea"/>
                  </a:rPr>
                  <a:t>事務時間削減率</a:t>
                </a:r>
                <a:endParaRPr lang="en-US" altLang="zh-TW" sz="1100" dirty="0">
                  <a:solidFill>
                    <a:schemeClr val="accent5"/>
                  </a:solidFill>
                  <a:latin typeface="+mn-ea"/>
                </a:endParaRPr>
              </a:p>
              <a:p>
                <a:pPr marL="171450" lvl="0" indent="-171450">
                  <a:buClr>
                    <a:schemeClr val="accent5"/>
                  </a:buClr>
                  <a:buFont typeface="Arial" panose="020B0604020202020204" pitchFamily="34" charset="0"/>
                  <a:buChar char="•"/>
                  <a:defRPr/>
                </a:pPr>
                <a:r>
                  <a:rPr lang="zh-TW" altLang="en-US" sz="1100" dirty="0">
                    <a:solidFill>
                      <a:schemeClr val="accent5"/>
                    </a:solidFill>
                    <a:latin typeface="+mn-ea"/>
                  </a:rPr>
                  <a:t>対</a:t>
                </a:r>
                <a:r>
                  <a:rPr lang="en-US" altLang="zh-TW" sz="1100" dirty="0">
                    <a:solidFill>
                      <a:schemeClr val="accent5"/>
                    </a:solidFill>
                    <a:latin typeface="+mn-ea"/>
                  </a:rPr>
                  <a:t>P&amp;G</a:t>
                </a:r>
                <a:r>
                  <a:rPr lang="zh-TW" altLang="en-US" sz="1100" dirty="0">
                    <a:solidFill>
                      <a:schemeClr val="accent5"/>
                    </a:solidFill>
                    <a:latin typeface="+mn-ea"/>
                  </a:rPr>
                  <a:t>格差 </a:t>
                </a:r>
                <a:r>
                  <a:rPr lang="en-US" altLang="zh-TW" sz="1100" dirty="0">
                    <a:solidFill>
                      <a:schemeClr val="accent5"/>
                    </a:solidFill>
                    <a:latin typeface="+mn-ea"/>
                  </a:rPr>
                  <a:t>7.6</a:t>
                </a:r>
                <a:r>
                  <a:rPr lang="zh-TW" altLang="en-US" sz="1100" dirty="0">
                    <a:solidFill>
                      <a:schemeClr val="accent5"/>
                    </a:solidFill>
                    <a:latin typeface="+mn-ea"/>
                  </a:rPr>
                  <a:t>倍→半減</a:t>
                </a:r>
              </a:p>
            </p:txBody>
          </p:sp>
          <p:cxnSp>
            <p:nvCxnSpPr>
              <p:cNvPr id="114" name="コネクタ: カギ線 113">
                <a:extLst>
                  <a:ext uri="{FF2B5EF4-FFF2-40B4-BE49-F238E27FC236}">
                    <a16:creationId xmlns:a16="http://schemas.microsoft.com/office/drawing/2014/main" id="{DB43AF2A-C40D-39A1-1C3C-6E9E2DF5E376}"/>
                  </a:ext>
                </a:extLst>
              </p:cNvPr>
              <p:cNvCxnSpPr>
                <a:endCxn id="107" idx="1"/>
              </p:cNvCxnSpPr>
              <p:nvPr/>
            </p:nvCxnSpPr>
            <p:spPr>
              <a:xfrm flipV="1">
                <a:off x="2074459" y="5191369"/>
                <a:ext cx="194580" cy="253833"/>
              </a:xfrm>
              <a:prstGeom prst="bentConnector3">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コネクタ: カギ線 114">
                <a:extLst>
                  <a:ext uri="{FF2B5EF4-FFF2-40B4-BE49-F238E27FC236}">
                    <a16:creationId xmlns:a16="http://schemas.microsoft.com/office/drawing/2014/main" id="{23FF74AC-CB9A-85E5-152E-2CE4744D8F25}"/>
                  </a:ext>
                </a:extLst>
              </p:cNvPr>
              <p:cNvCxnSpPr>
                <a:cxnSpLocks/>
                <a:endCxn id="108" idx="1"/>
              </p:cNvCxnSpPr>
              <p:nvPr/>
            </p:nvCxnSpPr>
            <p:spPr>
              <a:xfrm>
                <a:off x="2074459" y="5445202"/>
                <a:ext cx="194580" cy="253832"/>
              </a:xfrm>
              <a:prstGeom prst="bentConnector3">
                <a:avLst>
                  <a:gd name="adj1" fmla="val 50000"/>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直線コネクタ 115">
                <a:extLst>
                  <a:ext uri="{FF2B5EF4-FFF2-40B4-BE49-F238E27FC236}">
                    <a16:creationId xmlns:a16="http://schemas.microsoft.com/office/drawing/2014/main" id="{CFD622E8-EA12-49EB-C3DE-7CAABC278AA2}"/>
                  </a:ext>
                </a:extLst>
              </p:cNvPr>
              <p:cNvCxnSpPr/>
              <p:nvPr/>
            </p:nvCxnSpPr>
            <p:spPr>
              <a:xfrm>
                <a:off x="6694978" y="5445200"/>
                <a:ext cx="3162456"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直線コネクタ 116">
                <a:extLst>
                  <a:ext uri="{FF2B5EF4-FFF2-40B4-BE49-F238E27FC236}">
                    <a16:creationId xmlns:a16="http://schemas.microsoft.com/office/drawing/2014/main" id="{72D31210-C189-4E07-488F-6F8737044AA1}"/>
                  </a:ext>
                </a:extLst>
              </p:cNvPr>
              <p:cNvCxnSpPr/>
              <p:nvPr/>
            </p:nvCxnSpPr>
            <p:spPr>
              <a:xfrm>
                <a:off x="10063081" y="5445200"/>
                <a:ext cx="1793954"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8" name="直線コネクタ 117">
                <a:extLst>
                  <a:ext uri="{FF2B5EF4-FFF2-40B4-BE49-F238E27FC236}">
                    <a16:creationId xmlns:a16="http://schemas.microsoft.com/office/drawing/2014/main" id="{969A2FC2-693C-B669-7658-8C81BC958167}"/>
                  </a:ext>
                </a:extLst>
              </p:cNvPr>
              <p:cNvCxnSpPr/>
              <p:nvPr/>
            </p:nvCxnSpPr>
            <p:spPr>
              <a:xfrm>
                <a:off x="6694979" y="2970372"/>
                <a:ext cx="5162056" cy="0"/>
              </a:xfrm>
              <a:prstGeom prst="line">
                <a:avLst/>
              </a:prstGeom>
              <a:ln w="952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9" name="直線コネクタ 118">
                <a:extLst>
                  <a:ext uri="{FF2B5EF4-FFF2-40B4-BE49-F238E27FC236}">
                    <a16:creationId xmlns:a16="http://schemas.microsoft.com/office/drawing/2014/main" id="{0D9598DA-B744-782A-2CF3-A5ED9D7866F2}"/>
                  </a:ext>
                </a:extLst>
              </p:cNvPr>
              <p:cNvCxnSpPr/>
              <p:nvPr/>
            </p:nvCxnSpPr>
            <p:spPr>
              <a:xfrm>
                <a:off x="6694977" y="3960303"/>
                <a:ext cx="5162056" cy="0"/>
              </a:xfrm>
              <a:prstGeom prst="line">
                <a:avLst/>
              </a:prstGeom>
              <a:ln w="952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0" name="直線コネクタ 119">
                <a:extLst>
                  <a:ext uri="{FF2B5EF4-FFF2-40B4-BE49-F238E27FC236}">
                    <a16:creationId xmlns:a16="http://schemas.microsoft.com/office/drawing/2014/main" id="{BE46BBAC-5ACA-3C80-38B4-9A2318862F7B}"/>
                  </a:ext>
                </a:extLst>
              </p:cNvPr>
              <p:cNvCxnSpPr/>
              <p:nvPr/>
            </p:nvCxnSpPr>
            <p:spPr>
              <a:xfrm>
                <a:off x="6694977" y="4950234"/>
                <a:ext cx="5162056" cy="0"/>
              </a:xfrm>
              <a:prstGeom prst="line">
                <a:avLst/>
              </a:prstGeom>
              <a:ln w="952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2" name="二等辺三角形 121">
                <a:extLst>
                  <a:ext uri="{FF2B5EF4-FFF2-40B4-BE49-F238E27FC236}">
                    <a16:creationId xmlns:a16="http://schemas.microsoft.com/office/drawing/2014/main" id="{F4140C22-6A77-468C-493C-D0F0D76E4920}"/>
                  </a:ext>
                </a:extLst>
              </p:cNvPr>
              <p:cNvSpPr/>
              <p:nvPr/>
            </p:nvSpPr>
            <p:spPr>
              <a:xfrm rot="5400000">
                <a:off x="6403810" y="2149116"/>
                <a:ext cx="392923" cy="144917"/>
              </a:xfrm>
              <a:prstGeom prst="triangle">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24" name="二等辺三角形 123">
                <a:extLst>
                  <a:ext uri="{FF2B5EF4-FFF2-40B4-BE49-F238E27FC236}">
                    <a16:creationId xmlns:a16="http://schemas.microsoft.com/office/drawing/2014/main" id="{E6C9A553-93F4-0B44-1269-0D520C18781F}"/>
                  </a:ext>
                </a:extLst>
              </p:cNvPr>
              <p:cNvSpPr/>
              <p:nvPr/>
            </p:nvSpPr>
            <p:spPr>
              <a:xfrm rot="16200000" flipH="1">
                <a:off x="9763797" y="2149116"/>
                <a:ext cx="392923" cy="144917"/>
              </a:xfrm>
              <a:prstGeom prst="triangle">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27" name="二等辺三角形 126">
                <a:extLst>
                  <a:ext uri="{FF2B5EF4-FFF2-40B4-BE49-F238E27FC236}">
                    <a16:creationId xmlns:a16="http://schemas.microsoft.com/office/drawing/2014/main" id="{EC88CC33-EC89-B57F-DA12-BBB965443FFB}"/>
                  </a:ext>
                </a:extLst>
              </p:cNvPr>
              <p:cNvSpPr/>
              <p:nvPr/>
            </p:nvSpPr>
            <p:spPr>
              <a:xfrm rot="5400000">
                <a:off x="6403810" y="2656780"/>
                <a:ext cx="392923" cy="144917"/>
              </a:xfrm>
              <a:prstGeom prst="triangle">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28" name="二等辺三角形 127">
                <a:extLst>
                  <a:ext uri="{FF2B5EF4-FFF2-40B4-BE49-F238E27FC236}">
                    <a16:creationId xmlns:a16="http://schemas.microsoft.com/office/drawing/2014/main" id="{69C96EB1-686D-3B9B-D396-F1A452B137BD}"/>
                  </a:ext>
                </a:extLst>
              </p:cNvPr>
              <p:cNvSpPr/>
              <p:nvPr/>
            </p:nvSpPr>
            <p:spPr>
              <a:xfrm rot="16200000" flipH="1">
                <a:off x="9763797" y="2656780"/>
                <a:ext cx="392923" cy="144917"/>
              </a:xfrm>
              <a:prstGeom prst="triangle">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30" name="二等辺三角形 129">
                <a:extLst>
                  <a:ext uri="{FF2B5EF4-FFF2-40B4-BE49-F238E27FC236}">
                    <a16:creationId xmlns:a16="http://schemas.microsoft.com/office/drawing/2014/main" id="{0B1BB3D1-B009-5933-7F67-2DC21F77942A}"/>
                  </a:ext>
                </a:extLst>
              </p:cNvPr>
              <p:cNvSpPr/>
              <p:nvPr/>
            </p:nvSpPr>
            <p:spPr>
              <a:xfrm rot="5400000">
                <a:off x="6403810" y="3139047"/>
                <a:ext cx="392923" cy="144917"/>
              </a:xfrm>
              <a:prstGeom prst="triangle">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31" name="二等辺三角形 130">
                <a:extLst>
                  <a:ext uri="{FF2B5EF4-FFF2-40B4-BE49-F238E27FC236}">
                    <a16:creationId xmlns:a16="http://schemas.microsoft.com/office/drawing/2014/main" id="{31A3739D-89FB-9DE3-5246-BAB27E70D17A}"/>
                  </a:ext>
                </a:extLst>
              </p:cNvPr>
              <p:cNvSpPr/>
              <p:nvPr/>
            </p:nvSpPr>
            <p:spPr>
              <a:xfrm rot="16200000" flipH="1">
                <a:off x="9763797" y="3139047"/>
                <a:ext cx="392923" cy="144917"/>
              </a:xfrm>
              <a:prstGeom prst="triangle">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33" name="二等辺三角形 132">
                <a:extLst>
                  <a:ext uri="{FF2B5EF4-FFF2-40B4-BE49-F238E27FC236}">
                    <a16:creationId xmlns:a16="http://schemas.microsoft.com/office/drawing/2014/main" id="{27516CCF-1794-7633-3F92-C2C83230E81F}"/>
                  </a:ext>
                </a:extLst>
              </p:cNvPr>
              <p:cNvSpPr/>
              <p:nvPr/>
            </p:nvSpPr>
            <p:spPr>
              <a:xfrm rot="5400000">
                <a:off x="6403810" y="3646712"/>
                <a:ext cx="392923" cy="144917"/>
              </a:xfrm>
              <a:prstGeom prst="triangle">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34" name="二等辺三角形 133">
                <a:extLst>
                  <a:ext uri="{FF2B5EF4-FFF2-40B4-BE49-F238E27FC236}">
                    <a16:creationId xmlns:a16="http://schemas.microsoft.com/office/drawing/2014/main" id="{70CE24B0-D99D-89DC-9804-F0E9D30B1DBB}"/>
                  </a:ext>
                </a:extLst>
              </p:cNvPr>
              <p:cNvSpPr/>
              <p:nvPr/>
            </p:nvSpPr>
            <p:spPr>
              <a:xfrm rot="16200000" flipH="1">
                <a:off x="9763797" y="3646712"/>
                <a:ext cx="392923" cy="144917"/>
              </a:xfrm>
              <a:prstGeom prst="triangle">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36" name="二等辺三角形 135">
                <a:extLst>
                  <a:ext uri="{FF2B5EF4-FFF2-40B4-BE49-F238E27FC236}">
                    <a16:creationId xmlns:a16="http://schemas.microsoft.com/office/drawing/2014/main" id="{80A392A2-DBA1-F09A-8BEB-431B34E6174C}"/>
                  </a:ext>
                </a:extLst>
              </p:cNvPr>
              <p:cNvSpPr/>
              <p:nvPr/>
            </p:nvSpPr>
            <p:spPr>
              <a:xfrm rot="5400000">
                <a:off x="6403810" y="4150908"/>
                <a:ext cx="392923" cy="144917"/>
              </a:xfrm>
              <a:prstGeom prst="triangle">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37" name="二等辺三角形 136">
                <a:extLst>
                  <a:ext uri="{FF2B5EF4-FFF2-40B4-BE49-F238E27FC236}">
                    <a16:creationId xmlns:a16="http://schemas.microsoft.com/office/drawing/2014/main" id="{DFE8BB02-8717-37CF-4C5D-8BA012BAFD11}"/>
                  </a:ext>
                </a:extLst>
              </p:cNvPr>
              <p:cNvSpPr/>
              <p:nvPr/>
            </p:nvSpPr>
            <p:spPr>
              <a:xfrm rot="16200000" flipH="1">
                <a:off x="9763797" y="4150908"/>
                <a:ext cx="392923" cy="144917"/>
              </a:xfrm>
              <a:prstGeom prst="triangle">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39" name="二等辺三角形 138">
                <a:extLst>
                  <a:ext uri="{FF2B5EF4-FFF2-40B4-BE49-F238E27FC236}">
                    <a16:creationId xmlns:a16="http://schemas.microsoft.com/office/drawing/2014/main" id="{FA539C9F-C740-48D8-7F29-643A0AB250E7}"/>
                  </a:ext>
                </a:extLst>
              </p:cNvPr>
              <p:cNvSpPr/>
              <p:nvPr/>
            </p:nvSpPr>
            <p:spPr>
              <a:xfrm rot="5400000">
                <a:off x="6403810" y="4636642"/>
                <a:ext cx="392923" cy="144917"/>
              </a:xfrm>
              <a:prstGeom prst="triangle">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40" name="二等辺三角形 139">
                <a:extLst>
                  <a:ext uri="{FF2B5EF4-FFF2-40B4-BE49-F238E27FC236}">
                    <a16:creationId xmlns:a16="http://schemas.microsoft.com/office/drawing/2014/main" id="{720EBCE4-684F-890B-932E-AB79C7314A41}"/>
                  </a:ext>
                </a:extLst>
              </p:cNvPr>
              <p:cNvSpPr/>
              <p:nvPr/>
            </p:nvSpPr>
            <p:spPr>
              <a:xfrm rot="16200000" flipH="1">
                <a:off x="9763797" y="4636642"/>
                <a:ext cx="392923" cy="144917"/>
              </a:xfrm>
              <a:prstGeom prst="triangle">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42" name="二等辺三角形 141">
                <a:extLst>
                  <a:ext uri="{FF2B5EF4-FFF2-40B4-BE49-F238E27FC236}">
                    <a16:creationId xmlns:a16="http://schemas.microsoft.com/office/drawing/2014/main" id="{F88217A4-211D-A9B4-BEE6-984D3CC4AC58}"/>
                  </a:ext>
                </a:extLst>
              </p:cNvPr>
              <p:cNvSpPr/>
              <p:nvPr/>
            </p:nvSpPr>
            <p:spPr>
              <a:xfrm rot="5400000">
                <a:off x="6403810" y="5118909"/>
                <a:ext cx="392923" cy="144917"/>
              </a:xfrm>
              <a:prstGeom prst="triangle">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43" name="二等辺三角形 142">
                <a:extLst>
                  <a:ext uri="{FF2B5EF4-FFF2-40B4-BE49-F238E27FC236}">
                    <a16:creationId xmlns:a16="http://schemas.microsoft.com/office/drawing/2014/main" id="{44B0F34A-93CC-5F38-949C-B857A1FEE2D5}"/>
                  </a:ext>
                </a:extLst>
              </p:cNvPr>
              <p:cNvSpPr/>
              <p:nvPr/>
            </p:nvSpPr>
            <p:spPr>
              <a:xfrm rot="16200000" flipH="1">
                <a:off x="9763797" y="5118909"/>
                <a:ext cx="392923" cy="144917"/>
              </a:xfrm>
              <a:prstGeom prst="triangle">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45" name="二等辺三角形 144">
                <a:extLst>
                  <a:ext uri="{FF2B5EF4-FFF2-40B4-BE49-F238E27FC236}">
                    <a16:creationId xmlns:a16="http://schemas.microsoft.com/office/drawing/2014/main" id="{CB12C39B-6CEA-FA68-928B-39D23854FF02}"/>
                  </a:ext>
                </a:extLst>
              </p:cNvPr>
              <p:cNvSpPr/>
              <p:nvPr/>
            </p:nvSpPr>
            <p:spPr>
              <a:xfrm rot="5400000">
                <a:off x="6403810" y="5626573"/>
                <a:ext cx="392923" cy="144917"/>
              </a:xfrm>
              <a:prstGeom prst="triangle">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46" name="二等辺三角形 145">
                <a:extLst>
                  <a:ext uri="{FF2B5EF4-FFF2-40B4-BE49-F238E27FC236}">
                    <a16:creationId xmlns:a16="http://schemas.microsoft.com/office/drawing/2014/main" id="{55A1B841-37C0-1353-85D3-90369DA90E49}"/>
                  </a:ext>
                </a:extLst>
              </p:cNvPr>
              <p:cNvSpPr/>
              <p:nvPr/>
            </p:nvSpPr>
            <p:spPr>
              <a:xfrm rot="16200000" flipH="1">
                <a:off x="9763797" y="5626573"/>
                <a:ext cx="392923" cy="144917"/>
              </a:xfrm>
              <a:prstGeom prst="triangle">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4" name="正方形/長方形 62">
                <a:extLst>
                  <a:ext uri="{FF2B5EF4-FFF2-40B4-BE49-F238E27FC236}">
                    <a16:creationId xmlns:a16="http://schemas.microsoft.com/office/drawing/2014/main" id="{7EDCD7AF-F89D-E505-71BD-BCC0C0E30D70}"/>
                  </a:ext>
                </a:extLst>
              </p:cNvPr>
              <p:cNvSpPr/>
              <p:nvPr/>
            </p:nvSpPr>
            <p:spPr>
              <a:xfrm>
                <a:off x="649079" y="2084270"/>
                <a:ext cx="571713" cy="259493"/>
              </a:xfrm>
              <a:prstGeom prst="roundRect">
                <a:avLst>
                  <a:gd name="adj" fmla="val 13873"/>
                </a:avLst>
              </a:prstGeom>
              <a:solidFill>
                <a:schemeClr val="bg1"/>
              </a:solidFill>
              <a:ln w="95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defRPr/>
                </a:pPr>
                <a:r>
                  <a:rPr lang="en-US" altLang="ja-JP" sz="1200" dirty="0">
                    <a:solidFill>
                      <a:srgbClr val="008D2E"/>
                    </a:solidFill>
                    <a:latin typeface="+mn-ea"/>
                  </a:rPr>
                  <a:t>T1</a:t>
                </a:r>
                <a:endParaRPr kumimoji="1" lang="en-US" altLang="ja-JP" sz="1200" b="0" i="0" u="none" strike="noStrike" kern="1200" cap="none" spc="0" normalizeH="0" baseline="0" noProof="0" dirty="0">
                  <a:ln>
                    <a:noFill/>
                  </a:ln>
                  <a:solidFill>
                    <a:srgbClr val="008D2E"/>
                  </a:solidFill>
                  <a:effectLst/>
                  <a:uLnTx/>
                  <a:uFillTx/>
                  <a:latin typeface="+mn-ea"/>
                </a:endParaRPr>
              </a:p>
            </p:txBody>
          </p:sp>
          <p:sp>
            <p:nvSpPr>
              <p:cNvPr id="8" name="正方形/長方形 62">
                <a:extLst>
                  <a:ext uri="{FF2B5EF4-FFF2-40B4-BE49-F238E27FC236}">
                    <a16:creationId xmlns:a16="http://schemas.microsoft.com/office/drawing/2014/main" id="{ADE22D3F-359E-22A9-DFD6-105202A9F9F1}"/>
                  </a:ext>
                </a:extLst>
              </p:cNvPr>
              <p:cNvSpPr/>
              <p:nvPr/>
            </p:nvSpPr>
            <p:spPr>
              <a:xfrm>
                <a:off x="649079" y="3085817"/>
                <a:ext cx="571713" cy="259493"/>
              </a:xfrm>
              <a:prstGeom prst="roundRect">
                <a:avLst>
                  <a:gd name="adj" fmla="val 13873"/>
                </a:avLst>
              </a:prstGeom>
              <a:solidFill>
                <a:schemeClr val="bg1"/>
              </a:solidFill>
              <a:ln w="95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defRPr/>
                </a:pPr>
                <a:r>
                  <a:rPr lang="en-US" altLang="ja-JP" sz="1200" dirty="0">
                    <a:solidFill>
                      <a:srgbClr val="008D2E"/>
                    </a:solidFill>
                    <a:latin typeface="+mn-ea"/>
                  </a:rPr>
                  <a:t>T2</a:t>
                </a:r>
                <a:endParaRPr kumimoji="1" lang="en-US" altLang="ja-JP" sz="1200" b="0" i="0" u="none" strike="noStrike" kern="1200" cap="none" spc="0" normalizeH="0" baseline="0" noProof="0" dirty="0">
                  <a:ln>
                    <a:noFill/>
                  </a:ln>
                  <a:solidFill>
                    <a:srgbClr val="008D2E"/>
                  </a:solidFill>
                  <a:effectLst/>
                  <a:uLnTx/>
                  <a:uFillTx/>
                  <a:latin typeface="+mn-ea"/>
                </a:endParaRPr>
              </a:p>
            </p:txBody>
          </p:sp>
          <p:sp>
            <p:nvSpPr>
              <p:cNvPr id="9" name="正方形/長方形 62">
                <a:extLst>
                  <a:ext uri="{FF2B5EF4-FFF2-40B4-BE49-F238E27FC236}">
                    <a16:creationId xmlns:a16="http://schemas.microsoft.com/office/drawing/2014/main" id="{84F1F9F5-A081-93CB-948B-902C63E78646}"/>
                  </a:ext>
                </a:extLst>
              </p:cNvPr>
              <p:cNvSpPr/>
              <p:nvPr/>
            </p:nvSpPr>
            <p:spPr>
              <a:xfrm>
                <a:off x="649079" y="4060068"/>
                <a:ext cx="571713" cy="259493"/>
              </a:xfrm>
              <a:prstGeom prst="roundRect">
                <a:avLst>
                  <a:gd name="adj" fmla="val 13873"/>
                </a:avLst>
              </a:prstGeom>
              <a:solidFill>
                <a:schemeClr val="bg1"/>
              </a:solidFill>
              <a:ln w="95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defRPr/>
                </a:pPr>
                <a:r>
                  <a:rPr lang="en-US" altLang="ja-JP" sz="1200" dirty="0">
                    <a:solidFill>
                      <a:srgbClr val="008D2E"/>
                    </a:solidFill>
                    <a:latin typeface="+mn-ea"/>
                  </a:rPr>
                  <a:t>T3</a:t>
                </a:r>
                <a:endParaRPr kumimoji="1" lang="en-US" altLang="ja-JP" sz="1200" b="0" i="0" u="none" strike="noStrike" kern="1200" cap="none" spc="0" normalizeH="0" baseline="0" noProof="0" dirty="0">
                  <a:ln>
                    <a:noFill/>
                  </a:ln>
                  <a:solidFill>
                    <a:srgbClr val="008D2E"/>
                  </a:solidFill>
                  <a:effectLst/>
                  <a:uLnTx/>
                  <a:uFillTx/>
                  <a:latin typeface="+mn-ea"/>
                </a:endParaRPr>
              </a:p>
            </p:txBody>
          </p:sp>
          <p:sp>
            <p:nvSpPr>
              <p:cNvPr id="10" name="正方形/長方形 62">
                <a:extLst>
                  <a:ext uri="{FF2B5EF4-FFF2-40B4-BE49-F238E27FC236}">
                    <a16:creationId xmlns:a16="http://schemas.microsoft.com/office/drawing/2014/main" id="{EBA4E46F-8F55-7742-F7D6-6DC831E975D1}"/>
                  </a:ext>
                </a:extLst>
              </p:cNvPr>
              <p:cNvSpPr/>
              <p:nvPr/>
            </p:nvSpPr>
            <p:spPr>
              <a:xfrm>
                <a:off x="649079" y="5061615"/>
                <a:ext cx="571713" cy="259493"/>
              </a:xfrm>
              <a:prstGeom prst="roundRect">
                <a:avLst>
                  <a:gd name="adj" fmla="val 13873"/>
                </a:avLst>
              </a:prstGeom>
              <a:solidFill>
                <a:schemeClr val="bg1"/>
              </a:solidFill>
              <a:ln w="95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defRPr/>
                </a:pPr>
                <a:r>
                  <a:rPr lang="en-US" altLang="ja-JP" sz="1200" dirty="0">
                    <a:solidFill>
                      <a:srgbClr val="008D2E"/>
                    </a:solidFill>
                    <a:latin typeface="+mn-ea"/>
                  </a:rPr>
                  <a:t>T4</a:t>
                </a:r>
                <a:endParaRPr kumimoji="1" lang="en-US" altLang="ja-JP" sz="1200" b="0" i="0" u="none" strike="noStrike" kern="1200" cap="none" spc="0" normalizeH="0" baseline="0" noProof="0" dirty="0">
                  <a:ln>
                    <a:noFill/>
                  </a:ln>
                  <a:solidFill>
                    <a:srgbClr val="008D2E"/>
                  </a:solidFill>
                  <a:effectLst/>
                  <a:uLnTx/>
                  <a:uFillTx/>
                  <a:latin typeface="+mn-ea"/>
                </a:endParaRPr>
              </a:p>
            </p:txBody>
          </p:sp>
        </p:grpSp>
        <p:pic>
          <p:nvPicPr>
            <p:cNvPr id="148" name="グラフィックス 147" descr="フローチャート 単色塗りつぶし">
              <a:extLst>
                <a:ext uri="{FF2B5EF4-FFF2-40B4-BE49-F238E27FC236}">
                  <a16:creationId xmlns:a16="http://schemas.microsoft.com/office/drawing/2014/main" id="{DF0B5B21-2CD0-1BAF-46AA-77BCFA81463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87679" y="4783989"/>
              <a:ext cx="252000" cy="252000"/>
            </a:xfrm>
            <a:prstGeom prst="rect">
              <a:avLst/>
            </a:prstGeom>
          </p:spPr>
        </p:pic>
        <p:pic>
          <p:nvPicPr>
            <p:cNvPr id="150" name="グラフィックス 149" descr="棒グラフ (上昇) 単色塗りつぶし">
              <a:extLst>
                <a:ext uri="{FF2B5EF4-FFF2-40B4-BE49-F238E27FC236}">
                  <a16:creationId xmlns:a16="http://schemas.microsoft.com/office/drawing/2014/main" id="{92F9ACF6-F93C-4A20-C2B5-F83DC90D3E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87679" y="2977538"/>
              <a:ext cx="252000" cy="252000"/>
            </a:xfrm>
            <a:prstGeom prst="rect">
              <a:avLst/>
            </a:prstGeom>
          </p:spPr>
        </p:pic>
        <p:pic>
          <p:nvPicPr>
            <p:cNvPr id="152" name="グラフィックス 151" descr="役員室 単色塗りつぶし">
              <a:extLst>
                <a:ext uri="{FF2B5EF4-FFF2-40B4-BE49-F238E27FC236}">
                  <a16:creationId xmlns:a16="http://schemas.microsoft.com/office/drawing/2014/main" id="{121F91A6-764B-BBF1-AE98-7C9A10F263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87679" y="3880763"/>
              <a:ext cx="252000" cy="252000"/>
            </a:xfrm>
            <a:prstGeom prst="rect">
              <a:avLst/>
            </a:prstGeom>
          </p:spPr>
        </p:pic>
        <p:pic>
          <p:nvPicPr>
            <p:cNvPr id="154" name="グラフィックス 153" descr="コンパス 単色塗りつぶし">
              <a:extLst>
                <a:ext uri="{FF2B5EF4-FFF2-40B4-BE49-F238E27FC236}">
                  <a16:creationId xmlns:a16="http://schemas.microsoft.com/office/drawing/2014/main" id="{0810FA5E-FD5A-0765-5341-362E12998229}"/>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287679" y="2074313"/>
              <a:ext cx="252000" cy="252000"/>
            </a:xfrm>
            <a:prstGeom prst="rect">
              <a:avLst/>
            </a:prstGeom>
          </p:spPr>
        </p:pic>
      </p:grpSp>
    </p:spTree>
    <p:extLst>
      <p:ext uri="{BB962C8B-B14F-4D97-AF65-F5344CB8AC3E}">
        <p14:creationId xmlns:p14="http://schemas.microsoft.com/office/powerpoint/2010/main" val="3932196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消耗戦から脱却し、小売のデータ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環境課題を組織総力戦で解決するパートナーへ転換すること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健康スコア」をクリアした自動補充のAI推奨リストに標準搭載される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48628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9D4A1-D0CA-2C3A-CAB1-E831DDB7FE0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21F4DD9-9F1C-95E5-9FA9-37305C2E955B}"/>
              </a:ext>
            </a:extLst>
          </p:cNvPr>
          <p:cNvSpPr>
            <a:spLocks noGrp="1"/>
          </p:cNvSpPr>
          <p:nvPr>
            <p:ph type="title"/>
          </p:nvPr>
        </p:nvSpPr>
        <p:spPr>
          <a:xfrm>
            <a:off x="334963" y="1"/>
            <a:ext cx="11522075" cy="914400"/>
          </a:xfrm>
        </p:spPr>
        <p:txBody>
          <a:bodyPr/>
          <a:lstStyle/>
          <a:p>
            <a:r>
              <a:rPr lang="en-US" altLang="ja-JP" dirty="0">
                <a:latin typeface="メイリオ" panose="020B0604030504040204" pitchFamily="50" charset="-128"/>
                <a:ea typeface="メイリオ" panose="020B0604030504040204" pitchFamily="50" charset="-128"/>
              </a:rPr>
              <a:t>How</a:t>
            </a:r>
            <a:r>
              <a:rPr lang="ja-JP" altLang="en-US" dirty="0">
                <a:latin typeface="メイリオ" panose="020B0604030504040204" pitchFamily="50" charset="-128"/>
                <a:ea typeface="メイリオ" panose="020B0604030504040204" pitchFamily="50" charset="-128"/>
              </a:rPr>
              <a:t>の全体構造</a:t>
            </a:r>
            <a:br>
              <a:rPr lang="en-US" altLang="ja-JP" dirty="0">
                <a:latin typeface="メイリオ" panose="020B0604030504040204" pitchFamily="50" charset="-128"/>
                <a:ea typeface="メイリオ" panose="020B0604030504040204" pitchFamily="50" charset="-128"/>
              </a:rPr>
            </a:br>
            <a:r>
              <a:rPr lang="en-US" altLang="ja-JP" dirty="0">
                <a:latin typeface="メイリオ" panose="020B0604030504040204" pitchFamily="50" charset="-128"/>
                <a:ea typeface="メイリオ" panose="020B0604030504040204" pitchFamily="50" charset="-128"/>
              </a:rPr>
              <a:t>5</a:t>
            </a:r>
            <a:r>
              <a:rPr lang="ja-JP" altLang="en-US" dirty="0">
                <a:latin typeface="メイリオ" panose="020B0604030504040204" pitchFamily="50" charset="-128"/>
                <a:ea typeface="メイリオ" panose="020B0604030504040204" pitchFamily="50" charset="-128"/>
              </a:rPr>
              <a:t>つの経営テーマへの</a:t>
            </a:r>
            <a:r>
              <a:rPr lang="en-US" altLang="ja-JP" dirty="0">
                <a:latin typeface="メイリオ" panose="020B0604030504040204" pitchFamily="50" charset="-128"/>
                <a:ea typeface="メイリオ" panose="020B0604030504040204" pitchFamily="50" charset="-128"/>
              </a:rPr>
              <a:t>MECE</a:t>
            </a:r>
            <a:r>
              <a:rPr lang="ja-JP" altLang="en-US" dirty="0">
                <a:latin typeface="メイリオ" panose="020B0604030504040204" pitchFamily="50" charset="-128"/>
                <a:ea typeface="メイリオ" panose="020B0604030504040204" pitchFamily="50" charset="-128"/>
              </a:rPr>
              <a:t>接続</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136025C7-5857-2254-D57B-C3EE2B7B9C4F}"/>
              </a:ext>
            </a:extLst>
          </p:cNvPr>
          <p:cNvSpPr txBox="1">
            <a:spLocks/>
          </p:cNvSpPr>
          <p:nvPr/>
        </p:nvSpPr>
        <p:spPr>
          <a:xfrm>
            <a:off x="223044" y="914399"/>
            <a:ext cx="11745912" cy="569675"/>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800" dirty="0">
                <a:latin typeface="+mn-ea"/>
                <a:ea typeface="+mn-ea"/>
              </a:rPr>
              <a:t>ここまでの「4テーマ・3真因」は現場が設計する切り口。ここからは同じ8施策を、経営が意思決定する5つの問いに漏れなく・重複なく翻訳し直す</a:t>
            </a:r>
            <a:endParaRPr lang="ja-JP" altLang="en-US" sz="1800" dirty="0">
              <a:latin typeface="+mn-ea"/>
              <a:ea typeface="+mn-ea"/>
            </a:endParaRPr>
          </a:p>
        </p:txBody>
      </p:sp>
      <p:sp>
        <p:nvSpPr>
          <p:cNvPr id="5" name="正方形/長方形 4">
            <a:extLst>
              <a:ext uri="{FF2B5EF4-FFF2-40B4-BE49-F238E27FC236}">
                <a16:creationId xmlns:a16="http://schemas.microsoft.com/office/drawing/2014/main" id="{4239289E-709C-FB86-9AB7-D4FEE8119A10}"/>
              </a:ext>
            </a:extLst>
          </p:cNvPr>
          <p:cNvSpPr/>
          <p:nvPr/>
        </p:nvSpPr>
        <p:spPr>
          <a:xfrm>
            <a:off x="334961" y="1705591"/>
            <a:ext cx="1273457" cy="608389"/>
          </a:xfrm>
          <a:prstGeom prst="rect">
            <a:avLst/>
          </a:prstGeom>
          <a:solidFill>
            <a:schemeClr val="accent5"/>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200" dirty="0">
                <a:solidFill>
                  <a:schemeClr val="bg1"/>
                </a:solidFill>
                <a:latin typeface="+mn-ea"/>
              </a:rPr>
              <a:t>経営テーマ</a:t>
            </a:r>
            <a:br>
              <a:rPr lang="en-US" altLang="ja-JP" sz="1200" dirty="0">
                <a:solidFill>
                  <a:schemeClr val="bg1"/>
                </a:solidFill>
                <a:latin typeface="+mn-ea"/>
              </a:rPr>
            </a:br>
            <a:r>
              <a:rPr lang="en-US" altLang="ja-JP" sz="1200" dirty="0">
                <a:solidFill>
                  <a:schemeClr val="bg1"/>
                </a:solidFill>
                <a:latin typeface="+mn-ea"/>
              </a:rPr>
              <a:t>(</a:t>
            </a:r>
            <a:r>
              <a:rPr lang="ja-JP" altLang="en-US" sz="1200" dirty="0">
                <a:solidFill>
                  <a:schemeClr val="bg1"/>
                </a:solidFill>
                <a:latin typeface="+mn-ea"/>
              </a:rPr>
              <a:t>問い</a:t>
            </a:r>
            <a:r>
              <a:rPr lang="en-US" altLang="ja-JP" sz="1200" dirty="0">
                <a:solidFill>
                  <a:schemeClr val="bg1"/>
                </a:solidFill>
                <a:latin typeface="+mn-ea"/>
              </a:rPr>
              <a:t>)</a:t>
            </a:r>
            <a:endParaRPr lang="ja-JP" altLang="en-US" sz="1200" dirty="0">
              <a:solidFill>
                <a:schemeClr val="bg1"/>
              </a:solidFill>
              <a:latin typeface="+mn-ea"/>
            </a:endParaRPr>
          </a:p>
        </p:txBody>
      </p:sp>
      <p:pic>
        <p:nvPicPr>
          <p:cNvPr id="82" name="グラフィックス 81" descr="No の記号 単色塗りつぶし">
            <a:extLst>
              <a:ext uri="{FF2B5EF4-FFF2-40B4-BE49-F238E27FC236}">
                <a16:creationId xmlns:a16="http://schemas.microsoft.com/office/drawing/2014/main" id="{B8AE6F2C-37C7-F8A9-F9F1-41C4AF3214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89597" y="1642535"/>
            <a:ext cx="324568" cy="324568"/>
          </a:xfrm>
          <a:prstGeom prst="rect">
            <a:avLst/>
          </a:prstGeom>
        </p:spPr>
      </p:pic>
      <p:sp>
        <p:nvSpPr>
          <p:cNvPr id="8" name="正方形/長方形 7">
            <a:extLst>
              <a:ext uri="{FF2B5EF4-FFF2-40B4-BE49-F238E27FC236}">
                <a16:creationId xmlns:a16="http://schemas.microsoft.com/office/drawing/2014/main" id="{8F17E7D9-E9EC-58AB-44CF-E01A49FCFB89}"/>
              </a:ext>
            </a:extLst>
          </p:cNvPr>
          <p:cNvSpPr/>
          <p:nvPr/>
        </p:nvSpPr>
        <p:spPr>
          <a:xfrm>
            <a:off x="1724624" y="1705592"/>
            <a:ext cx="1964002" cy="608389"/>
          </a:xfrm>
          <a:prstGeom prst="rect">
            <a:avLst/>
          </a:prstGeom>
          <a:solidFill>
            <a:schemeClr val="bg1"/>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indent="273050" algn="ctr"/>
            <a:r>
              <a:rPr lang="ja-JP" altLang="en-US" sz="1200" dirty="0">
                <a:solidFill>
                  <a:schemeClr val="accent5"/>
                </a:solidFill>
                <a:latin typeface="+mn-ea"/>
              </a:rPr>
              <a:t>市場機会の選択</a:t>
            </a:r>
            <a:endParaRPr lang="en-US" altLang="ja-JP" sz="1200" dirty="0">
              <a:solidFill>
                <a:schemeClr val="accent5"/>
              </a:solidFill>
              <a:latin typeface="+mn-ea"/>
            </a:endParaRPr>
          </a:p>
          <a:p>
            <a:pPr algn="ctr"/>
            <a:r>
              <a:rPr lang="ja-JP" altLang="en-US" sz="1100" dirty="0">
                <a:solidFill>
                  <a:schemeClr val="tx1"/>
                </a:solidFill>
                <a:latin typeface="+mn-ea"/>
              </a:rPr>
              <a:t>どの市場・顧客を重点化するか</a:t>
            </a:r>
            <a:endParaRPr lang="en-US" altLang="ja-JP" sz="1100" dirty="0">
              <a:solidFill>
                <a:schemeClr val="tx1"/>
              </a:solidFill>
              <a:latin typeface="+mn-ea"/>
            </a:endParaRPr>
          </a:p>
        </p:txBody>
      </p:sp>
      <p:sp>
        <p:nvSpPr>
          <p:cNvPr id="12" name="正方形/長方形 11">
            <a:extLst>
              <a:ext uri="{FF2B5EF4-FFF2-40B4-BE49-F238E27FC236}">
                <a16:creationId xmlns:a16="http://schemas.microsoft.com/office/drawing/2014/main" id="{1B409267-A72A-6B81-15AC-E59E57C75962}"/>
              </a:ext>
            </a:extLst>
          </p:cNvPr>
          <p:cNvSpPr/>
          <p:nvPr/>
        </p:nvSpPr>
        <p:spPr>
          <a:xfrm>
            <a:off x="334961" y="2439732"/>
            <a:ext cx="1273456" cy="840722"/>
          </a:xfrm>
          <a:prstGeom prst="rect">
            <a:avLst/>
          </a:prstGeom>
          <a:solidFill>
            <a:schemeClr val="accent5"/>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200" dirty="0">
                <a:solidFill>
                  <a:schemeClr val="bg1"/>
                </a:solidFill>
                <a:latin typeface="+mn-ea"/>
              </a:rPr>
              <a:t>何を受けるか </a:t>
            </a:r>
            <a:r>
              <a:rPr lang="en-US" altLang="ja-JP" sz="1200" dirty="0">
                <a:solidFill>
                  <a:schemeClr val="bg1"/>
                </a:solidFill>
                <a:latin typeface="+mn-ea"/>
              </a:rPr>
              <a:t>(GAP</a:t>
            </a:r>
            <a:r>
              <a:rPr lang="ja-JP" altLang="en-US" sz="1200" dirty="0">
                <a:solidFill>
                  <a:schemeClr val="bg1"/>
                </a:solidFill>
                <a:latin typeface="+mn-ea"/>
              </a:rPr>
              <a:t>・真因・</a:t>
            </a:r>
            <a:br>
              <a:rPr lang="en-US" altLang="ja-JP" sz="1200" dirty="0">
                <a:solidFill>
                  <a:schemeClr val="bg1"/>
                </a:solidFill>
                <a:latin typeface="+mn-ea"/>
              </a:rPr>
            </a:br>
            <a:r>
              <a:rPr lang="ja-JP" altLang="en-US" sz="1200" dirty="0">
                <a:solidFill>
                  <a:schemeClr val="bg1"/>
                </a:solidFill>
                <a:latin typeface="+mn-ea"/>
              </a:rPr>
              <a:t>公開データ</a:t>
            </a:r>
            <a:r>
              <a:rPr lang="en-US" altLang="ja-JP" sz="1200" dirty="0">
                <a:solidFill>
                  <a:schemeClr val="bg1"/>
                </a:solidFill>
                <a:latin typeface="+mn-ea"/>
              </a:rPr>
              <a:t>)</a:t>
            </a:r>
            <a:endParaRPr lang="ja-JP" altLang="en-US" sz="1200" dirty="0">
              <a:solidFill>
                <a:schemeClr val="bg1"/>
              </a:solidFill>
              <a:latin typeface="+mn-ea"/>
            </a:endParaRPr>
          </a:p>
        </p:txBody>
      </p:sp>
      <p:sp>
        <p:nvSpPr>
          <p:cNvPr id="20" name="正方形/長方形 19">
            <a:extLst>
              <a:ext uri="{FF2B5EF4-FFF2-40B4-BE49-F238E27FC236}">
                <a16:creationId xmlns:a16="http://schemas.microsoft.com/office/drawing/2014/main" id="{697A882E-E589-8F03-ACA1-EABEB15DF90D}"/>
              </a:ext>
            </a:extLst>
          </p:cNvPr>
          <p:cNvSpPr/>
          <p:nvPr/>
        </p:nvSpPr>
        <p:spPr>
          <a:xfrm>
            <a:off x="1724624" y="4458578"/>
            <a:ext cx="500288" cy="381809"/>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ja-JP" altLang="en-US" sz="1100" dirty="0">
                <a:solidFill>
                  <a:srgbClr val="008D2E"/>
                </a:solidFill>
                <a:latin typeface="+mn-ea"/>
              </a:rPr>
              <a:t>解決</a:t>
            </a:r>
            <a:r>
              <a:rPr lang="en-US" altLang="ja-JP" sz="1100" dirty="0">
                <a:solidFill>
                  <a:srgbClr val="008D2E"/>
                </a:solidFill>
                <a:latin typeface="+mn-ea"/>
              </a:rPr>
              <a:t>1</a:t>
            </a:r>
          </a:p>
        </p:txBody>
      </p:sp>
      <p:sp>
        <p:nvSpPr>
          <p:cNvPr id="21" name="正方形/長方形 20">
            <a:extLst>
              <a:ext uri="{FF2B5EF4-FFF2-40B4-BE49-F238E27FC236}">
                <a16:creationId xmlns:a16="http://schemas.microsoft.com/office/drawing/2014/main" id="{7B21A692-34F2-4DDB-C9BB-66D6FE9315B3}"/>
              </a:ext>
            </a:extLst>
          </p:cNvPr>
          <p:cNvSpPr/>
          <p:nvPr/>
        </p:nvSpPr>
        <p:spPr>
          <a:xfrm>
            <a:off x="1724624" y="4917491"/>
            <a:ext cx="500288" cy="381809"/>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100" dirty="0">
                <a:solidFill>
                  <a:srgbClr val="008D2E"/>
                </a:solidFill>
                <a:latin typeface="+mn-ea"/>
              </a:rPr>
              <a:t>A2</a:t>
            </a:r>
          </a:p>
        </p:txBody>
      </p:sp>
      <p:sp>
        <p:nvSpPr>
          <p:cNvPr id="23" name="正方形/長方形 22">
            <a:extLst>
              <a:ext uri="{FF2B5EF4-FFF2-40B4-BE49-F238E27FC236}">
                <a16:creationId xmlns:a16="http://schemas.microsoft.com/office/drawing/2014/main" id="{D07E98FC-150E-EEB2-DA07-DE8F77617F0D}"/>
              </a:ext>
            </a:extLst>
          </p:cNvPr>
          <p:cNvSpPr/>
          <p:nvPr/>
        </p:nvSpPr>
        <p:spPr>
          <a:xfrm>
            <a:off x="2224912" y="4458578"/>
            <a:ext cx="1463713" cy="381809"/>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ja-JP" altLang="en-US" sz="1100" dirty="0">
                <a:solidFill>
                  <a:schemeClr val="accent5"/>
                </a:solidFill>
                <a:latin typeface="+mn-ea"/>
              </a:rPr>
              <a:t>使い方の再設計</a:t>
            </a:r>
            <a:endParaRPr lang="ja-JP" altLang="en-US" sz="1100" dirty="0">
              <a:solidFill>
                <a:schemeClr val="tx1"/>
              </a:solidFill>
              <a:latin typeface="+mn-ea"/>
            </a:endParaRPr>
          </a:p>
        </p:txBody>
      </p:sp>
      <p:sp>
        <p:nvSpPr>
          <p:cNvPr id="25" name="正方形/長方形 24">
            <a:extLst>
              <a:ext uri="{FF2B5EF4-FFF2-40B4-BE49-F238E27FC236}">
                <a16:creationId xmlns:a16="http://schemas.microsoft.com/office/drawing/2014/main" id="{62456155-87A9-5444-2128-4ED6BDA1E940}"/>
              </a:ext>
            </a:extLst>
          </p:cNvPr>
          <p:cNvSpPr/>
          <p:nvPr/>
        </p:nvSpPr>
        <p:spPr>
          <a:xfrm>
            <a:off x="2224912" y="4917491"/>
            <a:ext cx="1463713" cy="381809"/>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ja-JP" altLang="en-US" sz="1100" dirty="0">
                <a:solidFill>
                  <a:schemeClr val="accent5"/>
                </a:solidFill>
                <a:latin typeface="+mn-ea"/>
              </a:rPr>
              <a:t>学校・自治体ルートの</a:t>
            </a:r>
            <a:br>
              <a:rPr lang="en-US" altLang="ja-JP" sz="1100" dirty="0">
                <a:solidFill>
                  <a:schemeClr val="accent5"/>
                </a:solidFill>
                <a:latin typeface="+mn-ea"/>
              </a:rPr>
            </a:br>
            <a:r>
              <a:rPr lang="ja-JP" altLang="en-US" sz="1100" dirty="0">
                <a:solidFill>
                  <a:schemeClr val="accent5"/>
                </a:solidFill>
                <a:latin typeface="+mn-ea"/>
              </a:rPr>
              <a:t>デジタル化</a:t>
            </a:r>
            <a:endParaRPr lang="ja-JP" altLang="en-US" sz="1100" dirty="0">
              <a:solidFill>
                <a:schemeClr val="tx1"/>
              </a:solidFill>
              <a:latin typeface="+mn-ea"/>
            </a:endParaRPr>
          </a:p>
        </p:txBody>
      </p:sp>
      <p:sp>
        <p:nvSpPr>
          <p:cNvPr id="41" name="Text 20">
            <a:extLst>
              <a:ext uri="{FF2B5EF4-FFF2-40B4-BE49-F238E27FC236}">
                <a16:creationId xmlns:a16="http://schemas.microsoft.com/office/drawing/2014/main" id="{C3245934-2909-C8E0-A57D-979E2BE5479C}"/>
              </a:ext>
            </a:extLst>
          </p:cNvPr>
          <p:cNvSpPr>
            <a:spLocks noChangeAspect="1"/>
          </p:cNvSpPr>
          <p:nvPr/>
        </p:nvSpPr>
        <p:spPr>
          <a:xfrm>
            <a:off x="1642348" y="1634301"/>
            <a:ext cx="229092" cy="229092"/>
          </a:xfrm>
          <a:prstGeom prst="ellipse">
            <a:avLst/>
          </a:prstGeom>
          <a:solidFill>
            <a:schemeClr val="accent5"/>
          </a:solidFill>
          <a:ln w="9525">
            <a:solidFill>
              <a:schemeClr val="bg1"/>
            </a:solidFill>
          </a:ln>
        </p:spPr>
        <p:txBody>
          <a:bodyPr wrap="square" lIns="36000" tIns="18000" rIns="36000" bIns="0" rtlCol="0" anchor="ctr" anchorCtr="0">
            <a:noAutofit/>
          </a:bodyPr>
          <a:lstStyle/>
          <a:p>
            <a:pPr algn="ctr" defTabSz="457200">
              <a:defRPr/>
            </a:pPr>
            <a:r>
              <a:rPr kumimoji="0" lang="en-US" sz="1200" dirty="0">
                <a:solidFill>
                  <a:schemeClr val="bg1"/>
                </a:solidFill>
                <a:latin typeface="+mn-ea"/>
              </a:rPr>
              <a:t>1</a:t>
            </a:r>
          </a:p>
        </p:txBody>
      </p:sp>
      <p:sp>
        <p:nvSpPr>
          <p:cNvPr id="87" name="正方形/長方形 7">
            <a:extLst>
              <a:ext uri="{FF2B5EF4-FFF2-40B4-BE49-F238E27FC236}">
                <a16:creationId xmlns:a16="http://schemas.microsoft.com/office/drawing/2014/main" id="{8F17E7D9-E9EC-58AB-44CF-E01A49FCFB89}"/>
              </a:ext>
            </a:extLst>
          </p:cNvPr>
          <p:cNvSpPr/>
          <p:nvPr/>
        </p:nvSpPr>
        <p:spPr>
          <a:xfrm>
            <a:off x="3764826" y="1705592"/>
            <a:ext cx="1964002" cy="608389"/>
          </a:xfrm>
          <a:prstGeom prst="rect">
            <a:avLst/>
          </a:prstGeom>
          <a:solidFill>
            <a:schemeClr val="bg1"/>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indent="273050" algn="ctr"/>
            <a:r>
              <a:rPr lang="ja-JP" altLang="en-US" sz="1200" dirty="0">
                <a:solidFill>
                  <a:schemeClr val="accent5"/>
                </a:solidFill>
                <a:latin typeface="+mn-ea"/>
              </a:rPr>
              <a:t>選ばれる価値の創造</a:t>
            </a:r>
            <a:endParaRPr lang="en-US" altLang="ja-JP" sz="1200" dirty="0">
              <a:solidFill>
                <a:schemeClr val="accent5"/>
              </a:solidFill>
              <a:latin typeface="+mn-ea"/>
            </a:endParaRPr>
          </a:p>
          <a:p>
            <a:pPr algn="ctr"/>
            <a:r>
              <a:rPr lang="ja-JP" altLang="en-US" sz="1100" dirty="0">
                <a:solidFill>
                  <a:schemeClr val="tx1"/>
                </a:solidFill>
                <a:latin typeface="+mn-ea"/>
              </a:rPr>
              <a:t>何を理由に選ばれる会社になるか</a:t>
            </a:r>
            <a:endParaRPr lang="en-US" altLang="ja-JP" sz="1100" dirty="0">
              <a:solidFill>
                <a:schemeClr val="tx1"/>
              </a:solidFill>
              <a:latin typeface="+mn-ea"/>
            </a:endParaRPr>
          </a:p>
        </p:txBody>
      </p:sp>
      <p:sp>
        <p:nvSpPr>
          <p:cNvPr id="88" name="正方形/長方形 7">
            <a:extLst>
              <a:ext uri="{FF2B5EF4-FFF2-40B4-BE49-F238E27FC236}">
                <a16:creationId xmlns:a16="http://schemas.microsoft.com/office/drawing/2014/main" id="{8F17E7D9-E9EC-58AB-44CF-E01A49FCFB89}"/>
              </a:ext>
            </a:extLst>
          </p:cNvPr>
          <p:cNvSpPr/>
          <p:nvPr/>
        </p:nvSpPr>
        <p:spPr>
          <a:xfrm>
            <a:off x="5805028" y="1705592"/>
            <a:ext cx="1964002" cy="608389"/>
          </a:xfrm>
          <a:prstGeom prst="rect">
            <a:avLst/>
          </a:prstGeom>
          <a:solidFill>
            <a:schemeClr val="bg1"/>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indent="273050" algn="ctr"/>
            <a:r>
              <a:rPr lang="ja-JP" altLang="en-US" sz="1200" dirty="0">
                <a:solidFill>
                  <a:schemeClr val="accent5"/>
                </a:solidFill>
                <a:latin typeface="+mn-ea"/>
              </a:rPr>
              <a:t>顧客接点の統合</a:t>
            </a:r>
            <a:endParaRPr lang="en-US" altLang="ja-JP" sz="1200" dirty="0">
              <a:solidFill>
                <a:schemeClr val="accent5"/>
              </a:solidFill>
              <a:latin typeface="+mn-ea"/>
            </a:endParaRPr>
          </a:p>
          <a:p>
            <a:pPr algn="ctr"/>
            <a:r>
              <a:rPr lang="ja-JP" altLang="en-US" sz="1100" dirty="0">
                <a:solidFill>
                  <a:schemeClr val="tx1"/>
                </a:solidFill>
                <a:latin typeface="+mn-ea"/>
              </a:rPr>
              <a:t>認知から受注、</a:t>
            </a:r>
            <a:br>
              <a:rPr lang="en-US" altLang="ja-JP" sz="1100" dirty="0">
                <a:solidFill>
                  <a:schemeClr val="tx1"/>
                </a:solidFill>
                <a:latin typeface="+mn-ea"/>
              </a:rPr>
            </a:br>
            <a:r>
              <a:rPr lang="ja-JP" altLang="en-US" sz="1100" dirty="0">
                <a:solidFill>
                  <a:schemeClr val="tx1"/>
                </a:solidFill>
                <a:latin typeface="+mn-ea"/>
              </a:rPr>
              <a:t>継続までをどうつなぐか</a:t>
            </a:r>
            <a:endParaRPr lang="en-US" altLang="ja-JP" sz="1100" dirty="0">
              <a:solidFill>
                <a:schemeClr val="tx1"/>
              </a:solidFill>
              <a:latin typeface="+mn-ea"/>
            </a:endParaRPr>
          </a:p>
        </p:txBody>
      </p:sp>
      <p:sp>
        <p:nvSpPr>
          <p:cNvPr id="89" name="正方形/長方形 7">
            <a:extLst>
              <a:ext uri="{FF2B5EF4-FFF2-40B4-BE49-F238E27FC236}">
                <a16:creationId xmlns:a16="http://schemas.microsoft.com/office/drawing/2014/main" id="{8F17E7D9-E9EC-58AB-44CF-E01A49FCFB89}"/>
              </a:ext>
            </a:extLst>
          </p:cNvPr>
          <p:cNvSpPr/>
          <p:nvPr/>
        </p:nvSpPr>
        <p:spPr>
          <a:xfrm>
            <a:off x="7845230" y="1705592"/>
            <a:ext cx="1964002" cy="608389"/>
          </a:xfrm>
          <a:prstGeom prst="rect">
            <a:avLst/>
          </a:prstGeom>
          <a:solidFill>
            <a:schemeClr val="bg1"/>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indent="273050" algn="ctr"/>
            <a:r>
              <a:rPr lang="ja-JP" altLang="en-US" sz="1200" dirty="0">
                <a:solidFill>
                  <a:schemeClr val="accent5"/>
                </a:solidFill>
                <a:latin typeface="+mn-ea"/>
              </a:rPr>
              <a:t>顧客資本の蓄積</a:t>
            </a:r>
            <a:endParaRPr lang="en-US" altLang="ja-JP" sz="1200" dirty="0">
              <a:solidFill>
                <a:schemeClr val="accent5"/>
              </a:solidFill>
              <a:latin typeface="+mn-ea"/>
            </a:endParaRPr>
          </a:p>
          <a:p>
            <a:pPr algn="ctr"/>
            <a:r>
              <a:rPr lang="ja-JP" altLang="en-US" sz="1100" dirty="0">
                <a:solidFill>
                  <a:schemeClr val="tx1"/>
                </a:solidFill>
                <a:latin typeface="+mn-ea"/>
              </a:rPr>
              <a:t>顧客との関係を</a:t>
            </a:r>
            <a:br>
              <a:rPr lang="en-US" altLang="ja-JP" sz="1100" dirty="0">
                <a:solidFill>
                  <a:schemeClr val="tx1"/>
                </a:solidFill>
                <a:latin typeface="+mn-ea"/>
              </a:rPr>
            </a:br>
            <a:r>
              <a:rPr lang="ja-JP" altLang="en-US" sz="1100" dirty="0">
                <a:solidFill>
                  <a:schemeClr val="tx1"/>
                </a:solidFill>
                <a:latin typeface="+mn-ea"/>
              </a:rPr>
              <a:t>企業資産にできているか</a:t>
            </a:r>
            <a:endParaRPr lang="en-US" altLang="ja-JP" sz="1100" dirty="0">
              <a:solidFill>
                <a:schemeClr val="tx1"/>
              </a:solidFill>
              <a:latin typeface="+mn-ea"/>
            </a:endParaRPr>
          </a:p>
        </p:txBody>
      </p:sp>
      <p:sp>
        <p:nvSpPr>
          <p:cNvPr id="90" name="正方形/長方形 7">
            <a:extLst>
              <a:ext uri="{FF2B5EF4-FFF2-40B4-BE49-F238E27FC236}">
                <a16:creationId xmlns:a16="http://schemas.microsoft.com/office/drawing/2014/main" id="{8F17E7D9-E9EC-58AB-44CF-E01A49FCFB89}"/>
              </a:ext>
            </a:extLst>
          </p:cNvPr>
          <p:cNvSpPr/>
          <p:nvPr/>
        </p:nvSpPr>
        <p:spPr>
          <a:xfrm>
            <a:off x="9885432" y="1705592"/>
            <a:ext cx="1964002" cy="608389"/>
          </a:xfrm>
          <a:prstGeom prst="rect">
            <a:avLst/>
          </a:prstGeom>
          <a:solidFill>
            <a:schemeClr val="bg1"/>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indent="273050" algn="ctr"/>
            <a:r>
              <a:rPr lang="ja-JP" altLang="en-US" sz="1200" dirty="0">
                <a:solidFill>
                  <a:schemeClr val="accent5"/>
                </a:solidFill>
                <a:latin typeface="+mn-ea"/>
              </a:rPr>
              <a:t>実行能力と成果管理</a:t>
            </a:r>
            <a:endParaRPr lang="en-US" altLang="ja-JP" sz="1200" dirty="0">
              <a:solidFill>
                <a:schemeClr val="accent5"/>
              </a:solidFill>
              <a:latin typeface="+mn-ea"/>
            </a:endParaRPr>
          </a:p>
          <a:p>
            <a:pPr algn="ctr"/>
            <a:r>
              <a:rPr lang="ja-JP" altLang="en-US" sz="1100" dirty="0">
                <a:solidFill>
                  <a:schemeClr val="tx1"/>
                </a:solidFill>
                <a:latin typeface="+mn-ea"/>
              </a:rPr>
              <a:t>誰が、何を担い、</a:t>
            </a:r>
            <a:endParaRPr lang="en-US" altLang="ja-JP" sz="1100" dirty="0">
              <a:solidFill>
                <a:schemeClr val="tx1"/>
              </a:solidFill>
              <a:latin typeface="+mn-ea"/>
            </a:endParaRPr>
          </a:p>
          <a:p>
            <a:pPr algn="ctr"/>
            <a:r>
              <a:rPr lang="ja-JP" altLang="en-US" sz="1100" dirty="0">
                <a:solidFill>
                  <a:schemeClr val="tx1"/>
                </a:solidFill>
                <a:latin typeface="+mn-ea"/>
              </a:rPr>
              <a:t>どの指標で評価するか</a:t>
            </a:r>
            <a:endParaRPr lang="en-US" altLang="ja-JP" sz="1100" dirty="0">
              <a:solidFill>
                <a:schemeClr val="tx1"/>
              </a:solidFill>
              <a:latin typeface="+mn-ea"/>
            </a:endParaRPr>
          </a:p>
        </p:txBody>
      </p:sp>
      <p:sp>
        <p:nvSpPr>
          <p:cNvPr id="43" name="Text 33">
            <a:extLst>
              <a:ext uri="{FF2B5EF4-FFF2-40B4-BE49-F238E27FC236}">
                <a16:creationId xmlns:a16="http://schemas.microsoft.com/office/drawing/2014/main" id="{61002DEF-584C-5487-023D-B693E0E098B5}"/>
              </a:ext>
            </a:extLst>
          </p:cNvPr>
          <p:cNvSpPr>
            <a:spLocks noChangeAspect="1"/>
          </p:cNvSpPr>
          <p:nvPr/>
        </p:nvSpPr>
        <p:spPr>
          <a:xfrm>
            <a:off x="3715341" y="1634302"/>
            <a:ext cx="229092" cy="229092"/>
          </a:xfrm>
          <a:prstGeom prst="ellipse">
            <a:avLst/>
          </a:prstGeom>
          <a:solidFill>
            <a:schemeClr val="accent5"/>
          </a:solidFill>
          <a:ln w="9525">
            <a:solidFill>
              <a:schemeClr val="bg1"/>
            </a:solidFill>
          </a:ln>
        </p:spPr>
        <p:txBody>
          <a:bodyPr wrap="square" lIns="36000" tIns="18000" rIns="36000" bIns="0" rtlCol="0" anchor="ctr" anchorCtr="0">
            <a:noAutofit/>
          </a:bodyPr>
          <a:lstStyle/>
          <a:p>
            <a:pPr algn="ctr" defTabSz="457200">
              <a:defRPr/>
            </a:pPr>
            <a:r>
              <a:rPr kumimoji="0" lang="en-US" sz="1200" dirty="0">
                <a:solidFill>
                  <a:schemeClr val="bg1"/>
                </a:solidFill>
                <a:latin typeface="+mn-ea"/>
              </a:rPr>
              <a:t>2</a:t>
            </a:r>
          </a:p>
        </p:txBody>
      </p:sp>
      <p:sp>
        <p:nvSpPr>
          <p:cNvPr id="45" name="Text 33">
            <a:extLst>
              <a:ext uri="{FF2B5EF4-FFF2-40B4-BE49-F238E27FC236}">
                <a16:creationId xmlns:a16="http://schemas.microsoft.com/office/drawing/2014/main" id="{18AF6B34-6F0F-F848-17B5-D46200BF30ED}"/>
              </a:ext>
            </a:extLst>
          </p:cNvPr>
          <p:cNvSpPr>
            <a:spLocks noChangeAspect="1"/>
          </p:cNvSpPr>
          <p:nvPr/>
        </p:nvSpPr>
        <p:spPr>
          <a:xfrm>
            <a:off x="5777711" y="1634301"/>
            <a:ext cx="229092" cy="229092"/>
          </a:xfrm>
          <a:prstGeom prst="ellipse">
            <a:avLst/>
          </a:prstGeom>
          <a:solidFill>
            <a:schemeClr val="accent5"/>
          </a:solidFill>
          <a:ln w="9525">
            <a:solidFill>
              <a:schemeClr val="bg1"/>
            </a:solidFill>
          </a:ln>
        </p:spPr>
        <p:txBody>
          <a:bodyPr wrap="square" lIns="36000" tIns="18000" rIns="36000" bIns="0" rtlCol="0" anchor="ctr" anchorCtr="0">
            <a:noAutofit/>
          </a:bodyPr>
          <a:lstStyle/>
          <a:p>
            <a:pPr algn="ctr" defTabSz="457200">
              <a:defRPr/>
            </a:pPr>
            <a:r>
              <a:rPr kumimoji="0" lang="en-US" sz="1200" dirty="0">
                <a:solidFill>
                  <a:schemeClr val="bg1"/>
                </a:solidFill>
                <a:latin typeface="+mn-ea"/>
              </a:rPr>
              <a:t>3</a:t>
            </a:r>
          </a:p>
        </p:txBody>
      </p:sp>
      <p:sp>
        <p:nvSpPr>
          <p:cNvPr id="3" name="Text 33">
            <a:extLst>
              <a:ext uri="{FF2B5EF4-FFF2-40B4-BE49-F238E27FC236}">
                <a16:creationId xmlns:a16="http://schemas.microsoft.com/office/drawing/2014/main" id="{F19D6F53-35E3-0D02-CB59-4044A1BFDCB2}"/>
              </a:ext>
            </a:extLst>
          </p:cNvPr>
          <p:cNvSpPr>
            <a:spLocks noChangeAspect="1"/>
          </p:cNvSpPr>
          <p:nvPr/>
        </p:nvSpPr>
        <p:spPr>
          <a:xfrm>
            <a:off x="7797539" y="1634300"/>
            <a:ext cx="229092" cy="229092"/>
          </a:xfrm>
          <a:prstGeom prst="ellipse">
            <a:avLst/>
          </a:prstGeom>
          <a:solidFill>
            <a:schemeClr val="accent5"/>
          </a:solidFill>
          <a:ln w="9525">
            <a:solidFill>
              <a:schemeClr val="bg1"/>
            </a:solidFill>
          </a:ln>
        </p:spPr>
        <p:txBody>
          <a:bodyPr wrap="square" lIns="36000" tIns="18000" rIns="36000" bIns="0" rtlCol="0" anchor="ctr" anchorCtr="0">
            <a:noAutofit/>
          </a:bodyPr>
          <a:lstStyle/>
          <a:p>
            <a:pPr algn="ctr" defTabSz="457200">
              <a:defRPr/>
            </a:pPr>
            <a:r>
              <a:rPr kumimoji="0" lang="en-US" sz="1200" dirty="0">
                <a:solidFill>
                  <a:schemeClr val="bg1"/>
                </a:solidFill>
                <a:latin typeface="+mn-ea"/>
              </a:rPr>
              <a:t>4</a:t>
            </a:r>
          </a:p>
        </p:txBody>
      </p:sp>
      <p:sp>
        <p:nvSpPr>
          <p:cNvPr id="4" name="Text 33">
            <a:extLst>
              <a:ext uri="{FF2B5EF4-FFF2-40B4-BE49-F238E27FC236}">
                <a16:creationId xmlns:a16="http://schemas.microsoft.com/office/drawing/2014/main" id="{E3388164-C7EB-8B4A-C986-7062A94C7302}"/>
              </a:ext>
            </a:extLst>
          </p:cNvPr>
          <p:cNvSpPr>
            <a:spLocks noChangeAspect="1"/>
          </p:cNvSpPr>
          <p:nvPr/>
        </p:nvSpPr>
        <p:spPr>
          <a:xfrm>
            <a:off x="9849276" y="1634300"/>
            <a:ext cx="229092" cy="229092"/>
          </a:xfrm>
          <a:prstGeom prst="ellipse">
            <a:avLst/>
          </a:prstGeom>
          <a:solidFill>
            <a:schemeClr val="accent5"/>
          </a:solidFill>
          <a:ln w="9525">
            <a:solidFill>
              <a:schemeClr val="bg1"/>
            </a:solidFill>
          </a:ln>
        </p:spPr>
        <p:txBody>
          <a:bodyPr wrap="square" lIns="36000" tIns="18000" rIns="36000" bIns="0" rtlCol="0" anchor="ctr" anchorCtr="0">
            <a:noAutofit/>
          </a:bodyPr>
          <a:lstStyle/>
          <a:p>
            <a:pPr algn="ctr" defTabSz="457200">
              <a:defRPr/>
            </a:pPr>
            <a:r>
              <a:rPr kumimoji="0" lang="en-US" sz="1200" dirty="0">
                <a:solidFill>
                  <a:schemeClr val="bg1"/>
                </a:solidFill>
                <a:latin typeface="+mn-ea"/>
              </a:rPr>
              <a:t>5</a:t>
            </a:r>
          </a:p>
        </p:txBody>
      </p:sp>
      <p:sp>
        <p:nvSpPr>
          <p:cNvPr id="91" name="正方形/長方形 11">
            <a:extLst>
              <a:ext uri="{FF2B5EF4-FFF2-40B4-BE49-F238E27FC236}">
                <a16:creationId xmlns:a16="http://schemas.microsoft.com/office/drawing/2014/main" id="{1B409267-A72A-6B81-15AC-E59E57C75962}"/>
              </a:ext>
            </a:extLst>
          </p:cNvPr>
          <p:cNvSpPr/>
          <p:nvPr/>
        </p:nvSpPr>
        <p:spPr>
          <a:xfrm>
            <a:off x="334961" y="3449155"/>
            <a:ext cx="1273456" cy="840722"/>
          </a:xfrm>
          <a:prstGeom prst="rect">
            <a:avLst/>
          </a:prstGeom>
          <a:solidFill>
            <a:schemeClr val="accent5"/>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200" dirty="0">
                <a:solidFill>
                  <a:schemeClr val="bg1"/>
                </a:solidFill>
                <a:latin typeface="+mn-ea"/>
              </a:rPr>
              <a:t>答え</a:t>
            </a:r>
            <a:br>
              <a:rPr lang="en-US" altLang="ja-JP" sz="1200" dirty="0">
                <a:solidFill>
                  <a:schemeClr val="bg1"/>
                </a:solidFill>
                <a:latin typeface="+mn-ea"/>
              </a:rPr>
            </a:br>
            <a:r>
              <a:rPr lang="en-US" altLang="ja-JP" sz="1200" dirty="0">
                <a:solidFill>
                  <a:schemeClr val="bg1"/>
                </a:solidFill>
                <a:latin typeface="+mn-ea"/>
              </a:rPr>
              <a:t>(</a:t>
            </a:r>
            <a:r>
              <a:rPr lang="ja-JP" altLang="en-US" sz="1200" dirty="0">
                <a:solidFill>
                  <a:schemeClr val="bg1"/>
                </a:solidFill>
                <a:latin typeface="+mn-ea"/>
              </a:rPr>
              <a:t>ソリューション</a:t>
            </a:r>
            <a:r>
              <a:rPr lang="en-US" altLang="ja-JP" sz="1200" dirty="0">
                <a:solidFill>
                  <a:schemeClr val="bg1"/>
                </a:solidFill>
                <a:latin typeface="+mn-ea"/>
              </a:rPr>
              <a:t>)</a:t>
            </a:r>
            <a:endParaRPr lang="ja-JP" altLang="en-US" sz="1200" dirty="0">
              <a:solidFill>
                <a:schemeClr val="bg1"/>
              </a:solidFill>
              <a:latin typeface="+mn-ea"/>
            </a:endParaRPr>
          </a:p>
        </p:txBody>
      </p:sp>
      <p:sp>
        <p:nvSpPr>
          <p:cNvPr id="92" name="正方形/長方形 11">
            <a:extLst>
              <a:ext uri="{FF2B5EF4-FFF2-40B4-BE49-F238E27FC236}">
                <a16:creationId xmlns:a16="http://schemas.microsoft.com/office/drawing/2014/main" id="{1B409267-A72A-6B81-15AC-E59E57C75962}"/>
              </a:ext>
            </a:extLst>
          </p:cNvPr>
          <p:cNvSpPr/>
          <p:nvPr/>
        </p:nvSpPr>
        <p:spPr>
          <a:xfrm>
            <a:off x="334961" y="4458578"/>
            <a:ext cx="1273456" cy="840722"/>
          </a:xfrm>
          <a:prstGeom prst="rect">
            <a:avLst/>
          </a:prstGeom>
          <a:solidFill>
            <a:schemeClr val="accent5"/>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200" dirty="0">
                <a:solidFill>
                  <a:schemeClr val="bg1"/>
                </a:solidFill>
                <a:latin typeface="+mn-ea"/>
              </a:rPr>
              <a:t>重点施策</a:t>
            </a:r>
          </a:p>
        </p:txBody>
      </p:sp>
      <p:sp>
        <p:nvSpPr>
          <p:cNvPr id="93" name="正方形/長方形 11">
            <a:extLst>
              <a:ext uri="{FF2B5EF4-FFF2-40B4-BE49-F238E27FC236}">
                <a16:creationId xmlns:a16="http://schemas.microsoft.com/office/drawing/2014/main" id="{1B409267-A72A-6B81-15AC-E59E57C75962}"/>
              </a:ext>
            </a:extLst>
          </p:cNvPr>
          <p:cNvSpPr/>
          <p:nvPr/>
        </p:nvSpPr>
        <p:spPr>
          <a:xfrm>
            <a:off x="334961" y="5468003"/>
            <a:ext cx="1273456" cy="840722"/>
          </a:xfrm>
          <a:prstGeom prst="rect">
            <a:avLst/>
          </a:prstGeom>
          <a:solidFill>
            <a:schemeClr val="accent5"/>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200" dirty="0">
                <a:solidFill>
                  <a:schemeClr val="bg1"/>
                </a:solidFill>
                <a:latin typeface="+mn-ea"/>
              </a:rPr>
              <a:t>つながる</a:t>
            </a:r>
            <a:r>
              <a:rPr lang="en-US" altLang="ja-JP" sz="1200" dirty="0">
                <a:solidFill>
                  <a:schemeClr val="bg1"/>
                </a:solidFill>
                <a:latin typeface="+mn-ea"/>
              </a:rPr>
              <a:t>KPI</a:t>
            </a:r>
          </a:p>
        </p:txBody>
      </p:sp>
      <p:sp>
        <p:nvSpPr>
          <p:cNvPr id="9" name="二等辺三角形 8">
            <a:extLst>
              <a:ext uri="{FF2B5EF4-FFF2-40B4-BE49-F238E27FC236}">
                <a16:creationId xmlns:a16="http://schemas.microsoft.com/office/drawing/2014/main" id="{60B3E160-E77D-C2D9-084F-265AAFA19088}"/>
              </a:ext>
            </a:extLst>
          </p:cNvPr>
          <p:cNvSpPr/>
          <p:nvPr/>
        </p:nvSpPr>
        <p:spPr>
          <a:xfrm rot="10800000">
            <a:off x="588840" y="3292346"/>
            <a:ext cx="765697" cy="144917"/>
          </a:xfrm>
          <a:prstGeom prst="triangle">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46E1887A-D8F0-4233-DC8A-FFC9188B71B2}"/>
              </a:ext>
            </a:extLst>
          </p:cNvPr>
          <p:cNvSpPr/>
          <p:nvPr/>
        </p:nvSpPr>
        <p:spPr>
          <a:xfrm rot="10800000">
            <a:off x="588840" y="4301770"/>
            <a:ext cx="765697" cy="144917"/>
          </a:xfrm>
          <a:prstGeom prst="triangle">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1" name="二等辺三角形 10">
            <a:extLst>
              <a:ext uri="{FF2B5EF4-FFF2-40B4-BE49-F238E27FC236}">
                <a16:creationId xmlns:a16="http://schemas.microsoft.com/office/drawing/2014/main" id="{65787AD7-95E4-A33E-7063-DB092E7BB3EE}"/>
              </a:ext>
            </a:extLst>
          </p:cNvPr>
          <p:cNvSpPr/>
          <p:nvPr/>
        </p:nvSpPr>
        <p:spPr>
          <a:xfrm rot="10800000">
            <a:off x="588840" y="5311193"/>
            <a:ext cx="765697" cy="144917"/>
          </a:xfrm>
          <a:prstGeom prst="triangle">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3" name="Text 20">
            <a:extLst>
              <a:ext uri="{FF2B5EF4-FFF2-40B4-BE49-F238E27FC236}">
                <a16:creationId xmlns:a16="http://schemas.microsoft.com/office/drawing/2014/main" id="{920898FF-7965-4A67-C26C-E95712EC85D0}"/>
              </a:ext>
            </a:extLst>
          </p:cNvPr>
          <p:cNvSpPr>
            <a:spLocks noChangeAspect="1"/>
          </p:cNvSpPr>
          <p:nvPr/>
        </p:nvSpPr>
        <p:spPr>
          <a:xfrm>
            <a:off x="334961" y="2345413"/>
            <a:ext cx="252001" cy="252001"/>
          </a:xfrm>
          <a:prstGeom prst="ellipse">
            <a:avLst/>
          </a:prstGeom>
          <a:solidFill>
            <a:schemeClr val="bg1"/>
          </a:solidFill>
          <a:ln w="9525">
            <a:solidFill>
              <a:schemeClr val="accent5"/>
            </a:solidFill>
          </a:ln>
        </p:spPr>
        <p:txBody>
          <a:bodyPr wrap="square" lIns="36000" tIns="0" rIns="36000" bIns="0" rtlCol="0" anchor="ctr" anchorCtr="0">
            <a:noAutofit/>
          </a:bodyPr>
          <a:lstStyle/>
          <a:p>
            <a:pPr algn="ctr" defTabSz="457200">
              <a:defRPr/>
            </a:pPr>
            <a:r>
              <a:rPr kumimoji="0" lang="ja-JP" altLang="en-US" sz="1200" dirty="0">
                <a:solidFill>
                  <a:schemeClr val="accent5"/>
                </a:solidFill>
                <a:latin typeface="+mn-ea"/>
              </a:rPr>
              <a:t>前</a:t>
            </a:r>
            <a:endParaRPr kumimoji="0" lang="en-US" sz="1200" dirty="0">
              <a:solidFill>
                <a:schemeClr val="accent5"/>
              </a:solidFill>
              <a:latin typeface="+mn-ea"/>
            </a:endParaRPr>
          </a:p>
        </p:txBody>
      </p:sp>
      <p:sp>
        <p:nvSpPr>
          <p:cNvPr id="14" name="Text 20">
            <a:extLst>
              <a:ext uri="{FF2B5EF4-FFF2-40B4-BE49-F238E27FC236}">
                <a16:creationId xmlns:a16="http://schemas.microsoft.com/office/drawing/2014/main" id="{D5EBD982-6985-AD4C-6454-27B073625352}"/>
              </a:ext>
            </a:extLst>
          </p:cNvPr>
          <p:cNvSpPr>
            <a:spLocks noChangeAspect="1"/>
          </p:cNvSpPr>
          <p:nvPr/>
        </p:nvSpPr>
        <p:spPr>
          <a:xfrm>
            <a:off x="334961" y="5389118"/>
            <a:ext cx="252001" cy="252001"/>
          </a:xfrm>
          <a:prstGeom prst="ellipse">
            <a:avLst/>
          </a:prstGeom>
          <a:solidFill>
            <a:schemeClr val="bg1"/>
          </a:solidFill>
          <a:ln w="9525">
            <a:solidFill>
              <a:schemeClr val="accent5"/>
            </a:solidFill>
          </a:ln>
        </p:spPr>
        <p:txBody>
          <a:bodyPr wrap="square" lIns="36000" tIns="0" rIns="36000" bIns="0" rtlCol="0" anchor="ctr" anchorCtr="0">
            <a:noAutofit/>
          </a:bodyPr>
          <a:lstStyle/>
          <a:p>
            <a:pPr algn="ctr" defTabSz="457200">
              <a:defRPr/>
            </a:pPr>
            <a:r>
              <a:rPr kumimoji="0" lang="ja-JP" altLang="en-US" sz="1200" dirty="0">
                <a:solidFill>
                  <a:schemeClr val="accent5"/>
                </a:solidFill>
                <a:latin typeface="+mn-ea"/>
              </a:rPr>
              <a:t>後</a:t>
            </a:r>
            <a:endParaRPr kumimoji="0" lang="en-US" sz="1200" dirty="0">
              <a:solidFill>
                <a:schemeClr val="accent5"/>
              </a:solidFill>
              <a:latin typeface="+mn-ea"/>
            </a:endParaRPr>
          </a:p>
        </p:txBody>
      </p:sp>
      <p:cxnSp>
        <p:nvCxnSpPr>
          <p:cNvPr id="37" name="直線コネクタ 36">
            <a:extLst>
              <a:ext uri="{FF2B5EF4-FFF2-40B4-BE49-F238E27FC236}">
                <a16:creationId xmlns:a16="http://schemas.microsoft.com/office/drawing/2014/main" id="{6EF67C1B-3AAE-197A-D2B9-BD12951CDBC7}"/>
              </a:ext>
            </a:extLst>
          </p:cNvPr>
          <p:cNvCxnSpPr/>
          <p:nvPr/>
        </p:nvCxnSpPr>
        <p:spPr>
          <a:xfrm>
            <a:off x="1724624" y="3364804"/>
            <a:ext cx="1964002"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C742A7DC-5EBC-0762-C8D4-37080C8CE458}"/>
              </a:ext>
            </a:extLst>
          </p:cNvPr>
          <p:cNvSpPr/>
          <p:nvPr/>
        </p:nvSpPr>
        <p:spPr>
          <a:xfrm>
            <a:off x="1724624" y="2439732"/>
            <a:ext cx="1964002" cy="840721"/>
          </a:xfrm>
          <a:prstGeom prst="rect">
            <a:avLst/>
          </a:prstGeom>
          <a:solidFill>
            <a:schemeClr val="bg1"/>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71450" indent="-171450">
              <a:buClr>
                <a:schemeClr val="accent5"/>
              </a:buClr>
              <a:buFont typeface="Arial" panose="020B0604020202020204" pitchFamily="34" charset="0"/>
              <a:buChar char="•"/>
            </a:pPr>
            <a:r>
              <a:rPr lang="en-US" altLang="ja-JP" sz="1100" dirty="0">
                <a:solidFill>
                  <a:schemeClr val="tx1"/>
                </a:solidFill>
                <a:latin typeface="+mn-ea"/>
              </a:rPr>
              <a:t>GAP1</a:t>
            </a:r>
            <a:r>
              <a:rPr lang="ja-JP" altLang="en-US" sz="1100" dirty="0">
                <a:solidFill>
                  <a:schemeClr val="tx1"/>
                </a:solidFill>
                <a:latin typeface="+mn-ea"/>
              </a:rPr>
              <a:t> </a:t>
            </a:r>
            <a:r>
              <a:rPr lang="en-US" altLang="ja-JP" sz="1100" dirty="0">
                <a:solidFill>
                  <a:schemeClr val="tx1"/>
                </a:solidFill>
                <a:latin typeface="+mn-ea"/>
              </a:rPr>
              <a:t>(</a:t>
            </a:r>
            <a:r>
              <a:rPr lang="ja-JP" altLang="en-US" sz="1100" dirty="0">
                <a:solidFill>
                  <a:schemeClr val="tx1"/>
                </a:solidFill>
                <a:latin typeface="+mn-ea"/>
              </a:rPr>
              <a:t>消耗戦</a:t>
            </a:r>
            <a:r>
              <a:rPr lang="en-US" altLang="ja-JP" sz="1100" dirty="0">
                <a:solidFill>
                  <a:schemeClr val="tx1"/>
                </a:solidFill>
                <a:latin typeface="+mn-ea"/>
              </a:rPr>
              <a:t>)</a:t>
            </a:r>
          </a:p>
          <a:p>
            <a:pPr marL="171450" indent="-171450">
              <a:buClr>
                <a:schemeClr val="accent5"/>
              </a:buClr>
              <a:buFont typeface="Arial" panose="020B0604020202020204" pitchFamily="34" charset="0"/>
              <a:buChar char="•"/>
            </a:pPr>
            <a:r>
              <a:rPr lang="ja-JP" altLang="en-US" sz="1100" dirty="0">
                <a:solidFill>
                  <a:schemeClr val="tx1"/>
                </a:solidFill>
                <a:latin typeface="+mn-ea"/>
              </a:rPr>
              <a:t>決定と傾斜配分は実行済み</a:t>
            </a:r>
            <a:endParaRPr lang="en-US" altLang="ja-JP" sz="1100" dirty="0">
              <a:solidFill>
                <a:schemeClr val="tx1"/>
              </a:solidFill>
              <a:latin typeface="+mn-ea"/>
            </a:endParaRPr>
          </a:p>
          <a:p>
            <a:pPr marL="171450" indent="-171450">
              <a:buClr>
                <a:schemeClr val="accent5"/>
              </a:buClr>
              <a:buFont typeface="Arial" panose="020B0604020202020204" pitchFamily="34" charset="0"/>
              <a:buChar char="•"/>
            </a:pPr>
            <a:r>
              <a:rPr lang="ja-JP" altLang="en-US" sz="1100" dirty="0">
                <a:solidFill>
                  <a:schemeClr val="tx1"/>
                </a:solidFill>
                <a:latin typeface="+mn-ea"/>
              </a:rPr>
              <a:t>残るは資源の使い方 </a:t>
            </a:r>
            <a:r>
              <a:rPr lang="en-US" altLang="ja-JP" sz="1100" dirty="0">
                <a:solidFill>
                  <a:schemeClr val="tx1"/>
                </a:solidFill>
                <a:latin typeface="+mn-ea"/>
              </a:rPr>
              <a:t>(</a:t>
            </a:r>
            <a:r>
              <a:rPr lang="ja-JP" altLang="en-US" sz="1100" dirty="0">
                <a:solidFill>
                  <a:schemeClr val="tx1"/>
                </a:solidFill>
                <a:latin typeface="+mn-ea"/>
              </a:rPr>
              <a:t>真因</a:t>
            </a:r>
            <a:r>
              <a:rPr lang="en-US" altLang="ja-JP" sz="1100" dirty="0">
                <a:solidFill>
                  <a:schemeClr val="tx1"/>
                </a:solidFill>
                <a:latin typeface="+mn-ea"/>
              </a:rPr>
              <a:t>1)</a:t>
            </a:r>
          </a:p>
          <a:p>
            <a:pPr marL="171450" indent="-171450">
              <a:buClr>
                <a:schemeClr val="accent5"/>
              </a:buClr>
              <a:buFont typeface="Arial" panose="020B0604020202020204" pitchFamily="34" charset="0"/>
              <a:buChar char="•"/>
            </a:pPr>
            <a:r>
              <a:rPr lang="ja-JP" altLang="en-US" sz="1100" dirty="0">
                <a:solidFill>
                  <a:schemeClr val="tx1"/>
                </a:solidFill>
                <a:latin typeface="+mn-ea"/>
              </a:rPr>
              <a:t>皆歯科健診は骨太</a:t>
            </a:r>
            <a:r>
              <a:rPr lang="en-US" altLang="ja-JP" sz="1100" dirty="0">
                <a:solidFill>
                  <a:schemeClr val="tx1"/>
                </a:solidFill>
                <a:latin typeface="+mn-ea"/>
              </a:rPr>
              <a:t>2022</a:t>
            </a:r>
            <a:r>
              <a:rPr lang="ja-JP" altLang="en-US" sz="1100" dirty="0">
                <a:solidFill>
                  <a:schemeClr val="tx1"/>
                </a:solidFill>
                <a:latin typeface="+mn-ea"/>
              </a:rPr>
              <a:t>に</a:t>
            </a:r>
            <a:br>
              <a:rPr lang="en-US" altLang="ja-JP" sz="1100" dirty="0">
                <a:solidFill>
                  <a:schemeClr val="tx1"/>
                </a:solidFill>
                <a:latin typeface="+mn-ea"/>
              </a:rPr>
            </a:br>
            <a:r>
              <a:rPr lang="ja-JP" altLang="en-US" sz="1100" dirty="0">
                <a:solidFill>
                  <a:schemeClr val="tx1"/>
                </a:solidFill>
                <a:latin typeface="+mn-ea"/>
              </a:rPr>
              <a:t>明記済み</a:t>
            </a:r>
          </a:p>
        </p:txBody>
      </p:sp>
      <p:sp>
        <p:nvSpPr>
          <p:cNvPr id="16" name="正方形/長方形 7">
            <a:extLst>
              <a:ext uri="{FF2B5EF4-FFF2-40B4-BE49-F238E27FC236}">
                <a16:creationId xmlns:a16="http://schemas.microsoft.com/office/drawing/2014/main" id="{54048B0A-2FE0-8CB9-9D28-BC736911FA35}"/>
              </a:ext>
            </a:extLst>
          </p:cNvPr>
          <p:cNvSpPr/>
          <p:nvPr/>
        </p:nvSpPr>
        <p:spPr>
          <a:xfrm>
            <a:off x="3764826" y="2439732"/>
            <a:ext cx="1964002" cy="840721"/>
          </a:xfrm>
          <a:prstGeom prst="rect">
            <a:avLst/>
          </a:prstGeom>
          <a:solidFill>
            <a:schemeClr val="bg1"/>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71450" indent="-171450">
              <a:buClr>
                <a:schemeClr val="accent5"/>
              </a:buClr>
              <a:buFont typeface="Arial" panose="020B0604020202020204" pitchFamily="34" charset="0"/>
              <a:buChar char="•"/>
            </a:pPr>
            <a:r>
              <a:rPr lang="ja-JP" altLang="en-US" sz="1100" dirty="0">
                <a:solidFill>
                  <a:schemeClr val="tx1"/>
                </a:solidFill>
                <a:latin typeface="+mn-ea"/>
              </a:rPr>
              <a:t>真因</a:t>
            </a:r>
            <a:r>
              <a:rPr lang="en-US" altLang="ja-JP" sz="1100" dirty="0">
                <a:solidFill>
                  <a:schemeClr val="tx1"/>
                </a:solidFill>
                <a:latin typeface="+mn-ea"/>
              </a:rPr>
              <a:t>2</a:t>
            </a:r>
            <a:r>
              <a:rPr lang="ja-JP" altLang="en-US" sz="1100" dirty="0">
                <a:solidFill>
                  <a:schemeClr val="tx1"/>
                </a:solidFill>
                <a:latin typeface="+mn-ea"/>
              </a:rPr>
              <a:t> </a:t>
            </a:r>
            <a:r>
              <a:rPr lang="en-US" altLang="ja-JP" sz="1100" dirty="0">
                <a:solidFill>
                  <a:schemeClr val="tx1"/>
                </a:solidFill>
                <a:latin typeface="+mn-ea"/>
              </a:rPr>
              <a:t>(</a:t>
            </a:r>
            <a:r>
              <a:rPr lang="ja-JP" altLang="en-US" sz="1100" dirty="0">
                <a:solidFill>
                  <a:schemeClr val="tx1"/>
                </a:solidFill>
                <a:latin typeface="+mn-ea"/>
              </a:rPr>
              <a:t>提案材料の不足</a:t>
            </a:r>
            <a:r>
              <a:rPr lang="en-US" altLang="ja-JP" sz="1100" dirty="0">
                <a:solidFill>
                  <a:schemeClr val="tx1"/>
                </a:solidFill>
                <a:latin typeface="+mn-ea"/>
              </a:rPr>
              <a:t>)</a:t>
            </a:r>
          </a:p>
          <a:p>
            <a:pPr marL="171450" indent="-171450">
              <a:buClr>
                <a:schemeClr val="accent5"/>
              </a:buClr>
              <a:buFont typeface="Arial" panose="020B0604020202020204" pitchFamily="34" charset="0"/>
              <a:buChar char="•"/>
            </a:pPr>
            <a:r>
              <a:rPr lang="ja-JP" altLang="en-US" sz="1100" dirty="0">
                <a:solidFill>
                  <a:schemeClr val="tx1"/>
                </a:solidFill>
                <a:latin typeface="+mn-ea"/>
              </a:rPr>
              <a:t>ゼロクリック</a:t>
            </a:r>
            <a:r>
              <a:rPr lang="en-US" altLang="ja-JP" sz="1100" dirty="0">
                <a:solidFill>
                  <a:schemeClr val="tx1"/>
                </a:solidFill>
                <a:latin typeface="+mn-ea"/>
              </a:rPr>
              <a:t>66.4%</a:t>
            </a:r>
            <a:br>
              <a:rPr lang="en-US" altLang="ja-JP" sz="1100" dirty="0">
                <a:solidFill>
                  <a:schemeClr val="tx1"/>
                </a:solidFill>
                <a:latin typeface="+mn-ea"/>
              </a:rPr>
            </a:br>
            <a:r>
              <a:rPr lang="en-US" altLang="ja-JP" sz="1100" dirty="0">
                <a:solidFill>
                  <a:schemeClr val="tx1"/>
                </a:solidFill>
                <a:latin typeface="+mn-ea"/>
              </a:rPr>
              <a:t>〔</a:t>
            </a:r>
            <a:r>
              <a:rPr lang="ja-JP" altLang="en-US" sz="1100" dirty="0">
                <a:solidFill>
                  <a:schemeClr val="tx1"/>
                </a:solidFill>
                <a:latin typeface="+mn-ea"/>
              </a:rPr>
              <a:t>ヴァリューズ</a:t>
            </a:r>
            <a:r>
              <a:rPr lang="en-US" altLang="ja-JP" sz="1100" dirty="0">
                <a:solidFill>
                  <a:schemeClr val="tx1"/>
                </a:solidFill>
                <a:latin typeface="+mn-ea"/>
              </a:rPr>
              <a:t>〕</a:t>
            </a:r>
          </a:p>
          <a:p>
            <a:pPr marL="171450" indent="-171450">
              <a:buClr>
                <a:schemeClr val="accent5"/>
              </a:buClr>
              <a:buFont typeface="Arial" panose="020B0604020202020204" pitchFamily="34" charset="0"/>
              <a:buChar char="•"/>
            </a:pPr>
            <a:r>
              <a:rPr lang="en-US" altLang="ja-JP" sz="1100" dirty="0">
                <a:solidFill>
                  <a:schemeClr val="tx1"/>
                </a:solidFill>
                <a:latin typeface="+mn-ea"/>
              </a:rPr>
              <a:t>AI</a:t>
            </a:r>
            <a:r>
              <a:rPr lang="ja-JP" altLang="en-US" sz="1100" dirty="0">
                <a:solidFill>
                  <a:schemeClr val="tx1"/>
                </a:solidFill>
                <a:latin typeface="+mn-ea"/>
              </a:rPr>
              <a:t>の引用元は自社サイト</a:t>
            </a:r>
            <a:r>
              <a:rPr lang="en-US" altLang="ja-JP" sz="1100" dirty="0">
                <a:solidFill>
                  <a:schemeClr val="tx1"/>
                </a:solidFill>
                <a:latin typeface="+mn-ea"/>
              </a:rPr>
              <a:t>1%</a:t>
            </a:r>
            <a:r>
              <a:rPr lang="ja-JP" altLang="en-US" sz="1100" dirty="0">
                <a:solidFill>
                  <a:schemeClr val="tx1"/>
                </a:solidFill>
                <a:latin typeface="+mn-ea"/>
              </a:rPr>
              <a:t>・小売</a:t>
            </a:r>
            <a:r>
              <a:rPr lang="en-US" altLang="ja-JP" sz="1100" dirty="0">
                <a:solidFill>
                  <a:schemeClr val="tx1"/>
                </a:solidFill>
                <a:latin typeface="+mn-ea"/>
              </a:rPr>
              <a:t>EC17%〔XEO360〕</a:t>
            </a:r>
          </a:p>
        </p:txBody>
      </p:sp>
      <p:sp>
        <p:nvSpPr>
          <p:cNvPr id="18" name="正方形/長方形 7">
            <a:extLst>
              <a:ext uri="{FF2B5EF4-FFF2-40B4-BE49-F238E27FC236}">
                <a16:creationId xmlns:a16="http://schemas.microsoft.com/office/drawing/2014/main" id="{A653D8D2-D4AC-0B26-C432-C6048353C8E1}"/>
              </a:ext>
            </a:extLst>
          </p:cNvPr>
          <p:cNvSpPr/>
          <p:nvPr/>
        </p:nvSpPr>
        <p:spPr>
          <a:xfrm>
            <a:off x="5805028" y="2439732"/>
            <a:ext cx="1964002" cy="840721"/>
          </a:xfrm>
          <a:prstGeom prst="rect">
            <a:avLst/>
          </a:prstGeom>
          <a:solidFill>
            <a:schemeClr val="bg1"/>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71450" indent="-171450">
              <a:buClr>
                <a:schemeClr val="accent5"/>
              </a:buClr>
              <a:buFont typeface="Arial" panose="020B0604020202020204" pitchFamily="34" charset="0"/>
              <a:buChar char="•"/>
            </a:pPr>
            <a:r>
              <a:rPr lang="en-US" altLang="ja-JP" sz="1100" dirty="0">
                <a:solidFill>
                  <a:schemeClr val="tx1"/>
                </a:solidFill>
                <a:latin typeface="+mn-ea"/>
              </a:rPr>
              <a:t>GAP2</a:t>
            </a:r>
            <a:r>
              <a:rPr lang="ja-JP" altLang="en-US" sz="1100" dirty="0">
                <a:solidFill>
                  <a:schemeClr val="tx1"/>
                </a:solidFill>
                <a:latin typeface="+mn-ea"/>
              </a:rPr>
              <a:t>・</a:t>
            </a:r>
            <a:r>
              <a:rPr lang="en-US" altLang="ja-JP" sz="1100" dirty="0">
                <a:solidFill>
                  <a:schemeClr val="tx1"/>
                </a:solidFill>
                <a:latin typeface="+mn-ea"/>
              </a:rPr>
              <a:t>3</a:t>
            </a:r>
          </a:p>
          <a:p>
            <a:pPr marL="171450" indent="-171450">
              <a:buClr>
                <a:schemeClr val="accent5"/>
              </a:buClr>
              <a:buFont typeface="Arial" panose="020B0604020202020204" pitchFamily="34" charset="0"/>
              <a:buChar char="•"/>
            </a:pPr>
            <a:r>
              <a:rPr lang="ja-JP" altLang="en-US" sz="1100" dirty="0">
                <a:solidFill>
                  <a:schemeClr val="tx1"/>
                </a:solidFill>
                <a:latin typeface="+mn-ea"/>
              </a:rPr>
              <a:t>リテールメディア</a:t>
            </a:r>
            <a:r>
              <a:rPr lang="en-US" altLang="ja-JP" sz="1100" dirty="0">
                <a:solidFill>
                  <a:schemeClr val="tx1"/>
                </a:solidFill>
                <a:latin typeface="+mn-ea"/>
              </a:rPr>
              <a:t>2029</a:t>
            </a:r>
            <a:r>
              <a:rPr lang="ja-JP" altLang="en-US" sz="1100" dirty="0">
                <a:solidFill>
                  <a:schemeClr val="tx1"/>
                </a:solidFill>
                <a:latin typeface="+mn-ea"/>
              </a:rPr>
              <a:t>年</a:t>
            </a:r>
            <a:br>
              <a:rPr lang="en-US" altLang="ja-JP" sz="1100" dirty="0">
                <a:solidFill>
                  <a:schemeClr val="tx1"/>
                </a:solidFill>
                <a:latin typeface="+mn-ea"/>
              </a:rPr>
            </a:br>
            <a:r>
              <a:rPr lang="en-US" altLang="ja-JP" sz="1100" dirty="0">
                <a:solidFill>
                  <a:schemeClr val="tx1"/>
                </a:solidFill>
                <a:latin typeface="+mn-ea"/>
              </a:rPr>
              <a:t>1.3</a:t>
            </a:r>
            <a:r>
              <a:rPr lang="ja-JP" altLang="en-US" sz="1100" dirty="0">
                <a:solidFill>
                  <a:schemeClr val="tx1"/>
                </a:solidFill>
                <a:latin typeface="+mn-ea"/>
              </a:rPr>
              <a:t>兆円 </a:t>
            </a:r>
            <a:r>
              <a:rPr lang="en-US" altLang="ja-JP" sz="1100" dirty="0">
                <a:solidFill>
                  <a:schemeClr val="tx1"/>
                </a:solidFill>
                <a:latin typeface="+mn-ea"/>
              </a:rPr>
              <a:t>〔CARTA〕</a:t>
            </a:r>
          </a:p>
          <a:p>
            <a:pPr marL="171450" indent="-171450">
              <a:buClr>
                <a:schemeClr val="accent5"/>
              </a:buClr>
              <a:buFont typeface="Arial" panose="020B0604020202020204" pitchFamily="34" charset="0"/>
              <a:buChar char="•"/>
            </a:pPr>
            <a:r>
              <a:rPr lang="ja-JP" altLang="en-US" sz="1100" dirty="0">
                <a:solidFill>
                  <a:schemeClr val="tx1"/>
                </a:solidFill>
                <a:latin typeface="+mn-ea"/>
              </a:rPr>
              <a:t>日用品購買の約</a:t>
            </a:r>
            <a:r>
              <a:rPr lang="en-US" altLang="ja-JP" sz="1100" dirty="0">
                <a:solidFill>
                  <a:schemeClr val="tx1"/>
                </a:solidFill>
                <a:latin typeface="+mn-ea"/>
              </a:rPr>
              <a:t>9</a:t>
            </a:r>
            <a:r>
              <a:rPr lang="ja-JP" altLang="en-US" sz="1100" dirty="0">
                <a:solidFill>
                  <a:schemeClr val="tx1"/>
                </a:solidFill>
                <a:latin typeface="+mn-ea"/>
              </a:rPr>
              <a:t>割は店頭</a:t>
            </a:r>
            <a:r>
              <a:rPr lang="en-US" altLang="ja-JP" sz="1100" dirty="0">
                <a:solidFill>
                  <a:schemeClr val="tx1"/>
                </a:solidFill>
                <a:latin typeface="+mn-ea"/>
              </a:rPr>
              <a:t>〔</a:t>
            </a:r>
            <a:r>
              <a:rPr lang="ja-JP" altLang="en-US" sz="1100" dirty="0">
                <a:solidFill>
                  <a:schemeClr val="tx1"/>
                </a:solidFill>
                <a:latin typeface="+mn-ea"/>
              </a:rPr>
              <a:t>経産省</a:t>
            </a:r>
            <a:r>
              <a:rPr lang="en-US" altLang="ja-JP" sz="1100" dirty="0">
                <a:solidFill>
                  <a:schemeClr val="tx1"/>
                </a:solidFill>
                <a:latin typeface="+mn-ea"/>
              </a:rPr>
              <a:t>EC</a:t>
            </a:r>
            <a:r>
              <a:rPr lang="ja-JP" altLang="en-US" sz="1100" dirty="0">
                <a:solidFill>
                  <a:schemeClr val="tx1"/>
                </a:solidFill>
                <a:latin typeface="+mn-ea"/>
              </a:rPr>
              <a:t>化率</a:t>
            </a:r>
            <a:r>
              <a:rPr lang="en-US" altLang="ja-JP" sz="1100" dirty="0">
                <a:solidFill>
                  <a:schemeClr val="tx1"/>
                </a:solidFill>
                <a:latin typeface="+mn-ea"/>
              </a:rPr>
              <a:t>9.78%〕</a:t>
            </a:r>
          </a:p>
        </p:txBody>
      </p:sp>
      <p:sp>
        <p:nvSpPr>
          <p:cNvPr id="19" name="正方形/長方形 7">
            <a:extLst>
              <a:ext uri="{FF2B5EF4-FFF2-40B4-BE49-F238E27FC236}">
                <a16:creationId xmlns:a16="http://schemas.microsoft.com/office/drawing/2014/main" id="{97BAEED4-70D3-5CC4-2290-128CA652832C}"/>
              </a:ext>
            </a:extLst>
          </p:cNvPr>
          <p:cNvSpPr/>
          <p:nvPr/>
        </p:nvSpPr>
        <p:spPr>
          <a:xfrm>
            <a:off x="7845230" y="2439732"/>
            <a:ext cx="1964002" cy="840721"/>
          </a:xfrm>
          <a:prstGeom prst="rect">
            <a:avLst/>
          </a:prstGeom>
          <a:solidFill>
            <a:schemeClr val="bg1"/>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71450" indent="-171450">
              <a:buClr>
                <a:schemeClr val="accent5"/>
              </a:buClr>
              <a:buFont typeface="Arial" panose="020B0604020202020204" pitchFamily="34" charset="0"/>
              <a:buChar char="•"/>
            </a:pPr>
            <a:r>
              <a:rPr lang="en-US" altLang="ja-JP" sz="1100" dirty="0">
                <a:solidFill>
                  <a:schemeClr val="tx1"/>
                </a:solidFill>
                <a:latin typeface="+mn-ea"/>
              </a:rPr>
              <a:t>Cookie</a:t>
            </a:r>
            <a:r>
              <a:rPr lang="ja-JP" altLang="en-US" sz="1100" dirty="0">
                <a:solidFill>
                  <a:schemeClr val="tx1"/>
                </a:solidFill>
                <a:latin typeface="+mn-ea"/>
              </a:rPr>
              <a:t>消滅・自前データ劣後</a:t>
            </a:r>
            <a:endParaRPr lang="en-US" altLang="ja-JP" sz="1100" dirty="0">
              <a:solidFill>
                <a:schemeClr val="tx1"/>
              </a:solidFill>
              <a:latin typeface="+mn-ea"/>
            </a:endParaRPr>
          </a:p>
          <a:p>
            <a:pPr marL="171450" indent="-171450">
              <a:buClr>
                <a:schemeClr val="accent5"/>
              </a:buClr>
              <a:buFont typeface="Arial" panose="020B0604020202020204" pitchFamily="34" charset="0"/>
              <a:buChar char="•"/>
            </a:pPr>
            <a:r>
              <a:rPr lang="en-US" altLang="ja-JP" sz="1100" dirty="0">
                <a:solidFill>
                  <a:schemeClr val="tx1"/>
                </a:solidFill>
                <a:latin typeface="+mn-ea"/>
              </a:rPr>
              <a:t>AI</a:t>
            </a:r>
            <a:r>
              <a:rPr lang="ja-JP" altLang="en-US" sz="1100" dirty="0">
                <a:solidFill>
                  <a:schemeClr val="tx1"/>
                </a:solidFill>
                <a:latin typeface="+mn-ea"/>
              </a:rPr>
              <a:t>回答への信頼は低く </a:t>
            </a:r>
            <a:r>
              <a:rPr lang="en-US" altLang="ja-JP" sz="1100" dirty="0">
                <a:solidFill>
                  <a:schemeClr val="tx1"/>
                </a:solidFill>
                <a:latin typeface="+mn-ea"/>
              </a:rPr>
              <a:t>(37 vs </a:t>
            </a:r>
            <a:r>
              <a:rPr lang="ja-JP" altLang="en-US" sz="1100" dirty="0">
                <a:solidFill>
                  <a:schemeClr val="tx1"/>
                </a:solidFill>
                <a:latin typeface="+mn-ea"/>
              </a:rPr>
              <a:t>家族</a:t>
            </a:r>
            <a:r>
              <a:rPr lang="en-US" altLang="ja-JP" sz="1100" dirty="0">
                <a:solidFill>
                  <a:schemeClr val="tx1"/>
                </a:solidFill>
                <a:latin typeface="+mn-ea"/>
              </a:rPr>
              <a:t>86 〔McKinsey〕)</a:t>
            </a:r>
            <a:r>
              <a:rPr lang="ja-JP" altLang="en-US" sz="1100" dirty="0">
                <a:solidFill>
                  <a:schemeClr val="tx1"/>
                </a:solidFill>
                <a:latin typeface="+mn-ea"/>
              </a:rPr>
              <a:t>、</a:t>
            </a:r>
            <a:br>
              <a:rPr lang="en-US" altLang="ja-JP" sz="1100" dirty="0">
                <a:solidFill>
                  <a:schemeClr val="tx1"/>
                </a:solidFill>
                <a:latin typeface="+mn-ea"/>
              </a:rPr>
            </a:br>
            <a:r>
              <a:rPr lang="ja-JP" altLang="en-US" sz="1100" dirty="0">
                <a:solidFill>
                  <a:schemeClr val="tx1"/>
                </a:solidFill>
                <a:latin typeface="+mn-ea"/>
              </a:rPr>
              <a:t>信頼確認は人へ回帰</a:t>
            </a:r>
          </a:p>
        </p:txBody>
      </p:sp>
      <p:sp>
        <p:nvSpPr>
          <p:cNvPr id="24" name="正方形/長方形 7">
            <a:extLst>
              <a:ext uri="{FF2B5EF4-FFF2-40B4-BE49-F238E27FC236}">
                <a16:creationId xmlns:a16="http://schemas.microsoft.com/office/drawing/2014/main" id="{177F58AC-B853-B3C0-4585-346F7A4DA97A}"/>
              </a:ext>
            </a:extLst>
          </p:cNvPr>
          <p:cNvSpPr/>
          <p:nvPr/>
        </p:nvSpPr>
        <p:spPr>
          <a:xfrm>
            <a:off x="9885432" y="2439732"/>
            <a:ext cx="1964002" cy="840721"/>
          </a:xfrm>
          <a:prstGeom prst="rect">
            <a:avLst/>
          </a:prstGeom>
          <a:solidFill>
            <a:schemeClr val="bg1"/>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71450" indent="-171450">
              <a:buClr>
                <a:schemeClr val="accent5"/>
              </a:buClr>
              <a:buFont typeface="Arial" panose="020B0604020202020204" pitchFamily="34" charset="0"/>
              <a:buChar char="•"/>
            </a:pPr>
            <a:r>
              <a:rPr lang="ja-JP" altLang="en-US" sz="1100" dirty="0">
                <a:solidFill>
                  <a:schemeClr val="tx1"/>
                </a:solidFill>
                <a:latin typeface="+mn-ea"/>
              </a:rPr>
              <a:t>真因</a:t>
            </a:r>
            <a:r>
              <a:rPr lang="en-US" altLang="ja-JP" sz="1100" dirty="0">
                <a:solidFill>
                  <a:schemeClr val="tx1"/>
                </a:solidFill>
                <a:latin typeface="+mn-ea"/>
              </a:rPr>
              <a:t>3</a:t>
            </a:r>
            <a:r>
              <a:rPr lang="ja-JP" altLang="en-US" sz="1100" dirty="0">
                <a:solidFill>
                  <a:schemeClr val="tx1"/>
                </a:solidFill>
                <a:latin typeface="+mn-ea"/>
              </a:rPr>
              <a:t> </a:t>
            </a:r>
            <a:r>
              <a:rPr lang="en-US" altLang="ja-JP" sz="1100" dirty="0">
                <a:solidFill>
                  <a:schemeClr val="tx1"/>
                </a:solidFill>
                <a:latin typeface="+mn-ea"/>
              </a:rPr>
              <a:t>(</a:t>
            </a:r>
            <a:r>
              <a:rPr lang="ja-JP" altLang="en-US" sz="1100" dirty="0">
                <a:solidFill>
                  <a:schemeClr val="tx1"/>
                </a:solidFill>
                <a:latin typeface="+mn-ea"/>
              </a:rPr>
              <a:t>仕組みの不在</a:t>
            </a:r>
            <a:r>
              <a:rPr lang="en-US" altLang="ja-JP" sz="1100" dirty="0">
                <a:solidFill>
                  <a:schemeClr val="tx1"/>
                </a:solidFill>
                <a:latin typeface="+mn-ea"/>
              </a:rPr>
              <a:t>)</a:t>
            </a:r>
          </a:p>
          <a:p>
            <a:pPr marL="171450" indent="-171450">
              <a:buClr>
                <a:schemeClr val="accent5"/>
              </a:buClr>
              <a:buFont typeface="Arial" panose="020B0604020202020204" pitchFamily="34" charset="0"/>
              <a:buChar char="•"/>
            </a:pPr>
            <a:r>
              <a:rPr lang="ja-JP" altLang="en-US" sz="1100" dirty="0">
                <a:solidFill>
                  <a:schemeClr val="tx1"/>
                </a:solidFill>
                <a:latin typeface="+mn-ea"/>
              </a:rPr>
              <a:t>生成</a:t>
            </a:r>
            <a:r>
              <a:rPr lang="en-US" altLang="ja-JP" sz="1100" dirty="0">
                <a:solidFill>
                  <a:schemeClr val="tx1"/>
                </a:solidFill>
                <a:latin typeface="+mn-ea"/>
              </a:rPr>
              <a:t>AI</a:t>
            </a:r>
            <a:r>
              <a:rPr lang="ja-JP" altLang="en-US" sz="1100" dirty="0">
                <a:solidFill>
                  <a:schemeClr val="tx1"/>
                </a:solidFill>
                <a:latin typeface="+mn-ea"/>
              </a:rPr>
              <a:t>普及は</a:t>
            </a:r>
            <a:r>
              <a:rPr lang="en-US" altLang="ja-JP" sz="1100" dirty="0">
                <a:solidFill>
                  <a:schemeClr val="tx1"/>
                </a:solidFill>
                <a:latin typeface="+mn-ea"/>
              </a:rPr>
              <a:t>1</a:t>
            </a:r>
            <a:r>
              <a:rPr lang="ja-JP" altLang="en-US" sz="1100" dirty="0">
                <a:solidFill>
                  <a:schemeClr val="tx1"/>
                </a:solidFill>
                <a:latin typeface="+mn-ea"/>
              </a:rPr>
              <a:t>年で約</a:t>
            </a:r>
            <a:r>
              <a:rPr lang="en-US" altLang="ja-JP" sz="1100" dirty="0">
                <a:solidFill>
                  <a:schemeClr val="tx1"/>
                </a:solidFill>
                <a:latin typeface="+mn-ea"/>
              </a:rPr>
              <a:t>3</a:t>
            </a:r>
            <a:r>
              <a:rPr lang="ja-JP" altLang="en-US" sz="1100" dirty="0">
                <a:solidFill>
                  <a:schemeClr val="tx1"/>
                </a:solidFill>
                <a:latin typeface="+mn-ea"/>
              </a:rPr>
              <a:t>倍</a:t>
            </a:r>
            <a:r>
              <a:rPr lang="en-US" altLang="ja-JP" sz="1100" dirty="0">
                <a:solidFill>
                  <a:schemeClr val="tx1"/>
                </a:solidFill>
                <a:latin typeface="+mn-ea"/>
              </a:rPr>
              <a:t>〔</a:t>
            </a:r>
            <a:r>
              <a:rPr lang="ja-JP" altLang="en-US" sz="1100" dirty="0">
                <a:solidFill>
                  <a:schemeClr val="tx1"/>
                </a:solidFill>
                <a:latin typeface="+mn-ea"/>
              </a:rPr>
              <a:t>総務省白書</a:t>
            </a:r>
            <a:r>
              <a:rPr lang="en-US" altLang="ja-JP" sz="1100" dirty="0">
                <a:solidFill>
                  <a:schemeClr val="tx1"/>
                </a:solidFill>
                <a:latin typeface="+mn-ea"/>
              </a:rPr>
              <a:t>〕</a:t>
            </a:r>
            <a:r>
              <a:rPr lang="ja-JP" altLang="en-US" sz="1100" dirty="0">
                <a:solidFill>
                  <a:schemeClr val="tx1"/>
                </a:solidFill>
                <a:latin typeface="+mn-ea"/>
              </a:rPr>
              <a:t>＝期限は自社で選べない</a:t>
            </a:r>
            <a:endParaRPr lang="en-US" altLang="ja-JP" sz="1100" dirty="0">
              <a:solidFill>
                <a:schemeClr val="tx1"/>
              </a:solidFill>
              <a:latin typeface="+mn-ea"/>
            </a:endParaRPr>
          </a:p>
          <a:p>
            <a:pPr marL="171450" indent="-171450">
              <a:buClr>
                <a:schemeClr val="accent5"/>
              </a:buClr>
              <a:buFont typeface="Arial" panose="020B0604020202020204" pitchFamily="34" charset="0"/>
              <a:buChar char="•"/>
            </a:pPr>
            <a:r>
              <a:rPr lang="ja-JP" altLang="en-US" sz="1100" dirty="0">
                <a:solidFill>
                  <a:schemeClr val="tx1"/>
                </a:solidFill>
                <a:latin typeface="+mn-ea"/>
              </a:rPr>
              <a:t>対</a:t>
            </a:r>
            <a:r>
              <a:rPr lang="en-US" altLang="ja-JP" sz="1100" dirty="0">
                <a:solidFill>
                  <a:schemeClr val="tx1"/>
                </a:solidFill>
                <a:latin typeface="+mn-ea"/>
              </a:rPr>
              <a:t>P&amp;G</a:t>
            </a:r>
            <a:r>
              <a:rPr lang="ja-JP" altLang="en-US" sz="1100" dirty="0">
                <a:solidFill>
                  <a:schemeClr val="tx1"/>
                </a:solidFill>
                <a:latin typeface="+mn-ea"/>
              </a:rPr>
              <a:t>生産性</a:t>
            </a:r>
            <a:r>
              <a:rPr lang="en-US" altLang="ja-JP" sz="1100" dirty="0">
                <a:solidFill>
                  <a:schemeClr val="tx1"/>
                </a:solidFill>
                <a:latin typeface="+mn-ea"/>
              </a:rPr>
              <a:t>7.6</a:t>
            </a:r>
            <a:r>
              <a:rPr lang="ja-JP" altLang="en-US" sz="1100" dirty="0">
                <a:solidFill>
                  <a:schemeClr val="tx1"/>
                </a:solidFill>
                <a:latin typeface="+mn-ea"/>
              </a:rPr>
              <a:t>倍差</a:t>
            </a:r>
          </a:p>
        </p:txBody>
      </p:sp>
      <p:cxnSp>
        <p:nvCxnSpPr>
          <p:cNvPr id="28" name="直線コネクタ 27">
            <a:extLst>
              <a:ext uri="{FF2B5EF4-FFF2-40B4-BE49-F238E27FC236}">
                <a16:creationId xmlns:a16="http://schemas.microsoft.com/office/drawing/2014/main" id="{72DFB624-0A35-A012-50FD-5385C1C2D462}"/>
              </a:ext>
            </a:extLst>
          </p:cNvPr>
          <p:cNvCxnSpPr/>
          <p:nvPr/>
        </p:nvCxnSpPr>
        <p:spPr>
          <a:xfrm>
            <a:off x="3764825" y="3364804"/>
            <a:ext cx="1964002"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25ED8667-0A98-EFF2-0F63-AA06CE31C65E}"/>
              </a:ext>
            </a:extLst>
          </p:cNvPr>
          <p:cNvCxnSpPr/>
          <p:nvPr/>
        </p:nvCxnSpPr>
        <p:spPr>
          <a:xfrm>
            <a:off x="5805028" y="3364804"/>
            <a:ext cx="1964002"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1FAFA9B6-0C3E-A623-E8BB-40D965DF8215}"/>
              </a:ext>
            </a:extLst>
          </p:cNvPr>
          <p:cNvCxnSpPr/>
          <p:nvPr/>
        </p:nvCxnSpPr>
        <p:spPr>
          <a:xfrm>
            <a:off x="7845229" y="3364804"/>
            <a:ext cx="1964002"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903D051D-A927-F641-CB2B-170E6003433E}"/>
              </a:ext>
            </a:extLst>
          </p:cNvPr>
          <p:cNvCxnSpPr/>
          <p:nvPr/>
        </p:nvCxnSpPr>
        <p:spPr>
          <a:xfrm>
            <a:off x="9885432" y="3364804"/>
            <a:ext cx="1964002"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正方形/長方形 46">
            <a:extLst>
              <a:ext uri="{FF2B5EF4-FFF2-40B4-BE49-F238E27FC236}">
                <a16:creationId xmlns:a16="http://schemas.microsoft.com/office/drawing/2014/main" id="{1CDFBA8C-199A-0867-FC84-58EA8D4E2A63}"/>
              </a:ext>
            </a:extLst>
          </p:cNvPr>
          <p:cNvSpPr/>
          <p:nvPr/>
        </p:nvSpPr>
        <p:spPr>
          <a:xfrm>
            <a:off x="1724624" y="3449155"/>
            <a:ext cx="1964002" cy="840721"/>
          </a:xfrm>
          <a:prstGeom prst="rect">
            <a:avLst/>
          </a:prstGeom>
          <a:solidFill>
            <a:schemeClr val="bg1"/>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chemeClr val="accent5"/>
              </a:buClr>
            </a:pPr>
            <a:r>
              <a:rPr lang="ja-JP" altLang="en-US" sz="1100" dirty="0">
                <a:solidFill>
                  <a:schemeClr val="tx1"/>
                </a:solidFill>
                <a:latin typeface="+mn-ea"/>
              </a:rPr>
              <a:t>傾斜した資源を新しい使い方に</a:t>
            </a:r>
            <a:br>
              <a:rPr lang="en-US" altLang="ja-JP" sz="1100" dirty="0">
                <a:solidFill>
                  <a:schemeClr val="tx1"/>
                </a:solidFill>
                <a:latin typeface="+mn-ea"/>
              </a:rPr>
            </a:br>
            <a:r>
              <a:rPr lang="ja-JP" altLang="en-US" sz="1100" dirty="0">
                <a:solidFill>
                  <a:schemeClr val="tx1"/>
                </a:solidFill>
                <a:latin typeface="+mn-ea"/>
              </a:rPr>
              <a:t>流し込む。オーラルケアを</a:t>
            </a:r>
            <a:r>
              <a:rPr lang="en-US" altLang="ja-JP" sz="1100" dirty="0">
                <a:solidFill>
                  <a:schemeClr val="tx1"/>
                </a:solidFill>
                <a:latin typeface="+mn-ea"/>
              </a:rPr>
              <a:t>4</a:t>
            </a:r>
            <a:r>
              <a:rPr lang="ja-JP" altLang="en-US" sz="1100" dirty="0">
                <a:solidFill>
                  <a:schemeClr val="tx1"/>
                </a:solidFill>
                <a:latin typeface="+mn-ea"/>
              </a:rPr>
              <a:t>分割し、分割別</a:t>
            </a:r>
            <a:r>
              <a:rPr lang="en-US" altLang="ja-JP" sz="1100" dirty="0">
                <a:solidFill>
                  <a:schemeClr val="tx1"/>
                </a:solidFill>
                <a:latin typeface="+mn-ea"/>
              </a:rPr>
              <a:t>KPI</a:t>
            </a:r>
            <a:r>
              <a:rPr lang="ja-JP" altLang="en-US" sz="1100" dirty="0">
                <a:solidFill>
                  <a:schemeClr val="tx1"/>
                </a:solidFill>
                <a:latin typeface="+mn-ea"/>
              </a:rPr>
              <a:t>と</a:t>
            </a:r>
            <a:r>
              <a:rPr lang="en-US" altLang="ja-JP" sz="1100" dirty="0">
                <a:solidFill>
                  <a:schemeClr val="tx1"/>
                </a:solidFill>
                <a:latin typeface="+mn-ea"/>
              </a:rPr>
              <a:t>ROIC</a:t>
            </a:r>
            <a:r>
              <a:rPr lang="ja-JP" altLang="en-US" sz="1100" dirty="0">
                <a:solidFill>
                  <a:schemeClr val="tx1"/>
                </a:solidFill>
                <a:latin typeface="+mn-ea"/>
              </a:rPr>
              <a:t>基準で使い方を裁く</a:t>
            </a:r>
          </a:p>
        </p:txBody>
      </p:sp>
      <p:sp>
        <p:nvSpPr>
          <p:cNvPr id="48" name="正方形/長方形 7">
            <a:extLst>
              <a:ext uri="{FF2B5EF4-FFF2-40B4-BE49-F238E27FC236}">
                <a16:creationId xmlns:a16="http://schemas.microsoft.com/office/drawing/2014/main" id="{789EC63F-9E09-33CB-1764-3380FFCB372B}"/>
              </a:ext>
            </a:extLst>
          </p:cNvPr>
          <p:cNvSpPr/>
          <p:nvPr/>
        </p:nvSpPr>
        <p:spPr>
          <a:xfrm>
            <a:off x="3764826" y="3449155"/>
            <a:ext cx="1964002" cy="840721"/>
          </a:xfrm>
          <a:prstGeom prst="rect">
            <a:avLst/>
          </a:prstGeom>
          <a:solidFill>
            <a:schemeClr val="bg1"/>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chemeClr val="accent5"/>
              </a:buClr>
            </a:pPr>
            <a:r>
              <a:rPr lang="en-US" altLang="ja-JP" sz="1100" dirty="0">
                <a:solidFill>
                  <a:schemeClr val="tx1"/>
                </a:solidFill>
                <a:latin typeface="+mn-ea"/>
              </a:rPr>
              <a:t>30</a:t>
            </a:r>
            <a:r>
              <a:rPr lang="ja-JP" altLang="en-US" sz="1100" dirty="0">
                <a:solidFill>
                  <a:schemeClr val="tx1"/>
                </a:solidFill>
                <a:latin typeface="+mn-ea"/>
              </a:rPr>
              <a:t>年の臨床データを「人に伝わる根拠」と「</a:t>
            </a:r>
            <a:r>
              <a:rPr lang="en-US" altLang="ja-JP" sz="1100" dirty="0">
                <a:solidFill>
                  <a:schemeClr val="tx1"/>
                </a:solidFill>
                <a:latin typeface="+mn-ea"/>
              </a:rPr>
              <a:t>AI</a:t>
            </a:r>
            <a:r>
              <a:rPr lang="ja-JP" altLang="en-US" sz="1100" dirty="0">
                <a:solidFill>
                  <a:schemeClr val="tx1"/>
                </a:solidFill>
                <a:latin typeface="+mn-ea"/>
              </a:rPr>
              <a:t>に引用される構造化知識」の両形式に変換。健康の成果に責任を持つ</a:t>
            </a:r>
          </a:p>
        </p:txBody>
      </p:sp>
      <p:sp>
        <p:nvSpPr>
          <p:cNvPr id="49" name="正方形/長方形 7">
            <a:extLst>
              <a:ext uri="{FF2B5EF4-FFF2-40B4-BE49-F238E27FC236}">
                <a16:creationId xmlns:a16="http://schemas.microsoft.com/office/drawing/2014/main" id="{69CF5B6B-19F9-49FC-61D2-E3796902EBBB}"/>
              </a:ext>
            </a:extLst>
          </p:cNvPr>
          <p:cNvSpPr/>
          <p:nvPr/>
        </p:nvSpPr>
        <p:spPr>
          <a:xfrm>
            <a:off x="5805028" y="3449155"/>
            <a:ext cx="1964002" cy="840721"/>
          </a:xfrm>
          <a:prstGeom prst="rect">
            <a:avLst/>
          </a:prstGeom>
          <a:solidFill>
            <a:schemeClr val="bg1"/>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chemeClr val="accent5"/>
              </a:buClr>
            </a:pPr>
            <a:r>
              <a:rPr lang="ja-JP" altLang="en-US" sz="1100" dirty="0">
                <a:solidFill>
                  <a:schemeClr val="tx1"/>
                </a:solidFill>
                <a:latin typeface="+mn-ea"/>
              </a:rPr>
              <a:t>棚・</a:t>
            </a:r>
            <a:r>
              <a:rPr lang="en-US" altLang="ja-JP" sz="1100" dirty="0">
                <a:solidFill>
                  <a:schemeClr val="tx1"/>
                </a:solidFill>
                <a:latin typeface="+mn-ea"/>
              </a:rPr>
              <a:t>EC</a:t>
            </a:r>
            <a:r>
              <a:rPr lang="ja-JP" altLang="en-US" sz="1100" dirty="0">
                <a:solidFill>
                  <a:schemeClr val="tx1"/>
                </a:solidFill>
                <a:latin typeface="+mn-ea"/>
              </a:rPr>
              <a:t>・</a:t>
            </a:r>
            <a:r>
              <a:rPr lang="en-US" altLang="ja-JP" sz="1100" dirty="0">
                <a:solidFill>
                  <a:schemeClr val="tx1"/>
                </a:solidFill>
                <a:latin typeface="+mn-ea"/>
              </a:rPr>
              <a:t>AI</a:t>
            </a:r>
            <a:r>
              <a:rPr lang="ja-JP" altLang="en-US" sz="1100" dirty="0">
                <a:solidFill>
                  <a:schemeClr val="tx1"/>
                </a:solidFill>
                <a:latin typeface="+mn-ea"/>
              </a:rPr>
              <a:t>推奨・歯科接点を</a:t>
            </a:r>
            <a:r>
              <a:rPr lang="en-US" altLang="ja-JP" sz="1100" dirty="0">
                <a:solidFill>
                  <a:schemeClr val="tx1"/>
                </a:solidFill>
                <a:latin typeface="+mn-ea"/>
              </a:rPr>
              <a:t>TA</a:t>
            </a:r>
            <a:br>
              <a:rPr lang="en-US" altLang="ja-JP" sz="1100" dirty="0">
                <a:solidFill>
                  <a:schemeClr val="tx1"/>
                </a:solidFill>
                <a:latin typeface="+mn-ea"/>
              </a:rPr>
            </a:br>
            <a:r>
              <a:rPr lang="ja-JP" altLang="en-US" sz="1100" dirty="0">
                <a:solidFill>
                  <a:schemeClr val="tx1"/>
                </a:solidFill>
                <a:latin typeface="+mn-ea"/>
              </a:rPr>
              <a:t>の</a:t>
            </a:r>
            <a:r>
              <a:rPr lang="en-US" altLang="ja-JP" sz="1100" dirty="0">
                <a:solidFill>
                  <a:schemeClr val="tx1"/>
                </a:solidFill>
                <a:latin typeface="+mn-ea"/>
              </a:rPr>
              <a:t>1</a:t>
            </a:r>
            <a:r>
              <a:rPr lang="ja-JP" altLang="en-US" sz="1100" dirty="0">
                <a:solidFill>
                  <a:schemeClr val="tx1"/>
                </a:solidFill>
                <a:latin typeface="+mn-ea"/>
              </a:rPr>
              <a:t>スコアで統合。小売とは共同</a:t>
            </a:r>
            <a:r>
              <a:rPr lang="en-US" altLang="ja-JP" sz="1100" dirty="0">
                <a:solidFill>
                  <a:schemeClr val="tx1"/>
                </a:solidFill>
                <a:latin typeface="+mn-ea"/>
              </a:rPr>
              <a:t>KPI</a:t>
            </a:r>
            <a:r>
              <a:rPr lang="ja-JP" altLang="en-US" sz="1100" dirty="0">
                <a:solidFill>
                  <a:schemeClr val="tx1"/>
                </a:solidFill>
                <a:latin typeface="+mn-ea"/>
              </a:rPr>
              <a:t>の</a:t>
            </a:r>
            <a:r>
              <a:rPr lang="en-US" altLang="ja-JP" sz="1100" dirty="0">
                <a:solidFill>
                  <a:schemeClr val="tx1"/>
                </a:solidFill>
                <a:latin typeface="+mn-ea"/>
              </a:rPr>
              <a:t>JBP</a:t>
            </a:r>
            <a:r>
              <a:rPr lang="ja-JP" altLang="en-US" sz="1100" dirty="0">
                <a:solidFill>
                  <a:schemeClr val="tx1"/>
                </a:solidFill>
                <a:latin typeface="+mn-ea"/>
              </a:rPr>
              <a:t>、商談は「値引き</a:t>
            </a:r>
            <a:r>
              <a:rPr lang="en-US" altLang="ja-JP" sz="1100" dirty="0">
                <a:solidFill>
                  <a:schemeClr val="tx1"/>
                </a:solidFill>
                <a:latin typeface="+mn-ea"/>
              </a:rPr>
              <a:t>70</a:t>
            </a:r>
            <a:r>
              <a:rPr lang="ja-JP" altLang="en-US" sz="1100" dirty="0">
                <a:solidFill>
                  <a:schemeClr val="tx1"/>
                </a:solidFill>
                <a:latin typeface="+mn-ea"/>
              </a:rPr>
              <a:t>＋施策</a:t>
            </a:r>
            <a:r>
              <a:rPr lang="en-US" altLang="ja-JP" sz="1100" dirty="0">
                <a:solidFill>
                  <a:schemeClr val="tx1"/>
                </a:solidFill>
                <a:latin typeface="+mn-ea"/>
              </a:rPr>
              <a:t>30</a:t>
            </a:r>
            <a:r>
              <a:rPr lang="ja-JP" altLang="en-US" sz="1100" dirty="0">
                <a:solidFill>
                  <a:schemeClr val="tx1"/>
                </a:solidFill>
                <a:latin typeface="+mn-ea"/>
              </a:rPr>
              <a:t>＋成果連動」で</a:t>
            </a:r>
          </a:p>
        </p:txBody>
      </p:sp>
      <p:sp>
        <p:nvSpPr>
          <p:cNvPr id="50" name="正方形/長方形 7">
            <a:extLst>
              <a:ext uri="{FF2B5EF4-FFF2-40B4-BE49-F238E27FC236}">
                <a16:creationId xmlns:a16="http://schemas.microsoft.com/office/drawing/2014/main" id="{AC369819-B7E9-3C98-6C81-E6AF5DC56A2D}"/>
              </a:ext>
            </a:extLst>
          </p:cNvPr>
          <p:cNvSpPr/>
          <p:nvPr/>
        </p:nvSpPr>
        <p:spPr>
          <a:xfrm>
            <a:off x="7845230" y="3449155"/>
            <a:ext cx="1964002" cy="840721"/>
          </a:xfrm>
          <a:prstGeom prst="rect">
            <a:avLst/>
          </a:prstGeom>
          <a:solidFill>
            <a:schemeClr val="bg1"/>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chemeClr val="accent5"/>
              </a:buClr>
            </a:pPr>
            <a:r>
              <a:rPr lang="en-US" altLang="ja-JP" sz="1050" dirty="0">
                <a:solidFill>
                  <a:schemeClr val="tx1"/>
                </a:solidFill>
                <a:latin typeface="+mn-ea"/>
              </a:rPr>
              <a:t>LION ID</a:t>
            </a:r>
            <a:r>
              <a:rPr lang="ja-JP" altLang="en-US" sz="1050" dirty="0">
                <a:solidFill>
                  <a:schemeClr val="tx1"/>
                </a:solidFill>
                <a:latin typeface="+mn-ea"/>
              </a:rPr>
              <a:t>を口腔健康</a:t>
            </a:r>
            <a:r>
              <a:rPr lang="en-US" altLang="ja-JP" sz="1050" dirty="0">
                <a:solidFill>
                  <a:schemeClr val="tx1"/>
                </a:solidFill>
                <a:latin typeface="+mn-ea"/>
              </a:rPr>
              <a:t>OS</a:t>
            </a:r>
            <a:r>
              <a:rPr lang="ja-JP" altLang="en-US" sz="1050" dirty="0">
                <a:solidFill>
                  <a:schemeClr val="tx1"/>
                </a:solidFill>
                <a:latin typeface="+mn-ea"/>
              </a:rPr>
              <a:t>へ転換。測るのは行動。リピート・定期登録・</a:t>
            </a:r>
            <a:br>
              <a:rPr lang="en-US" altLang="ja-JP" sz="1050" dirty="0">
                <a:solidFill>
                  <a:schemeClr val="tx1"/>
                </a:solidFill>
                <a:latin typeface="+mn-ea"/>
              </a:rPr>
            </a:br>
            <a:r>
              <a:rPr lang="en-US" altLang="ja-JP" sz="1050" dirty="0">
                <a:solidFill>
                  <a:schemeClr val="tx1"/>
                </a:solidFill>
                <a:latin typeface="+mn-ea"/>
              </a:rPr>
              <a:t>90</a:t>
            </a:r>
            <a:r>
              <a:rPr lang="ja-JP" altLang="en-US" sz="1050" dirty="0">
                <a:solidFill>
                  <a:schemeClr val="tx1"/>
                </a:solidFill>
                <a:latin typeface="+mn-ea"/>
              </a:rPr>
              <a:t>日継続 </a:t>
            </a:r>
            <a:r>
              <a:rPr lang="en-US" altLang="ja-JP" sz="1050" dirty="0">
                <a:solidFill>
                  <a:schemeClr val="tx1"/>
                </a:solidFill>
                <a:latin typeface="+mn-ea"/>
              </a:rPr>
              <a:t>/ </a:t>
            </a:r>
            <a:r>
              <a:rPr lang="ja-JP" altLang="en-US" sz="1050" dirty="0">
                <a:solidFill>
                  <a:schemeClr val="tx1"/>
                </a:solidFill>
                <a:latin typeface="+mn-ea"/>
              </a:rPr>
              <a:t>共同事業件数 </a:t>
            </a:r>
            <a:r>
              <a:rPr lang="en-US" altLang="ja-JP" sz="1050" dirty="0">
                <a:solidFill>
                  <a:schemeClr val="tx1"/>
                </a:solidFill>
                <a:latin typeface="+mn-ea"/>
              </a:rPr>
              <a:t>/ </a:t>
            </a:r>
            <a:br>
              <a:rPr lang="en-US" altLang="ja-JP" sz="1050" dirty="0">
                <a:solidFill>
                  <a:schemeClr val="tx1"/>
                </a:solidFill>
                <a:latin typeface="+mn-ea"/>
              </a:rPr>
            </a:br>
            <a:r>
              <a:rPr lang="ja-JP" altLang="en-US" sz="1050" dirty="0">
                <a:solidFill>
                  <a:schemeClr val="tx1"/>
                </a:solidFill>
                <a:latin typeface="+mn-ea"/>
              </a:rPr>
              <a:t>推奨起点売上</a:t>
            </a:r>
          </a:p>
        </p:txBody>
      </p:sp>
      <p:sp>
        <p:nvSpPr>
          <p:cNvPr id="51" name="正方形/長方形 7">
            <a:extLst>
              <a:ext uri="{FF2B5EF4-FFF2-40B4-BE49-F238E27FC236}">
                <a16:creationId xmlns:a16="http://schemas.microsoft.com/office/drawing/2014/main" id="{5E5A9093-9B56-28B0-D0DC-242255515075}"/>
              </a:ext>
            </a:extLst>
          </p:cNvPr>
          <p:cNvSpPr/>
          <p:nvPr/>
        </p:nvSpPr>
        <p:spPr>
          <a:xfrm>
            <a:off x="9885432" y="3449155"/>
            <a:ext cx="1964002" cy="840721"/>
          </a:xfrm>
          <a:prstGeom prst="rect">
            <a:avLst/>
          </a:prstGeom>
          <a:solidFill>
            <a:schemeClr val="bg1"/>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chemeClr val="accent5"/>
              </a:buClr>
            </a:pPr>
            <a:r>
              <a:rPr lang="ja-JP" altLang="en-US" sz="1050" dirty="0">
                <a:solidFill>
                  <a:schemeClr val="tx1"/>
                </a:solidFill>
                <a:latin typeface="+mn-ea"/>
              </a:rPr>
              <a:t>ゼロ化で時間を生み、混成チーム</a:t>
            </a:r>
            <a:r>
              <a:rPr lang="en-US" altLang="ja-JP"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最上位</a:t>
            </a:r>
            <a:r>
              <a:rPr lang="en-US" altLang="ja-JP" sz="1050" dirty="0">
                <a:solidFill>
                  <a:schemeClr val="tx1"/>
                </a:solidFill>
                <a:latin typeface="+mn-ea"/>
              </a:rPr>
              <a:t>KPI</a:t>
            </a:r>
            <a:r>
              <a:rPr lang="ja-JP" altLang="en-US" sz="1050" dirty="0">
                <a:solidFill>
                  <a:schemeClr val="tx1"/>
                </a:solidFill>
                <a:latin typeface="+mn-ea"/>
              </a:rPr>
              <a:t> </a:t>
            </a:r>
            <a:r>
              <a:rPr lang="en-US" altLang="ja-JP" sz="1050" dirty="0">
                <a:solidFill>
                  <a:schemeClr val="tx1"/>
                </a:solidFill>
                <a:latin typeface="+mn-ea"/>
              </a:rPr>
              <a:t>(</a:t>
            </a:r>
            <a:r>
              <a:rPr lang="ja-JP" altLang="en-US" sz="1050" dirty="0">
                <a:solidFill>
                  <a:schemeClr val="tx1"/>
                </a:solidFill>
                <a:latin typeface="+mn-ea"/>
              </a:rPr>
              <a:t>増分粗利</a:t>
            </a:r>
            <a:r>
              <a:rPr lang="en-US" altLang="ja-JP" sz="1050" dirty="0">
                <a:solidFill>
                  <a:schemeClr val="tx1"/>
                </a:solidFill>
                <a:latin typeface="+mn-ea"/>
              </a:rPr>
              <a:t>) </a:t>
            </a:r>
            <a:r>
              <a:rPr lang="ja-JP" altLang="en-US" sz="1050" dirty="0">
                <a:solidFill>
                  <a:schemeClr val="tx1"/>
                </a:solidFill>
                <a:latin typeface="+mn-ea"/>
              </a:rPr>
              <a:t>で束ねる。役員オーナー制＋撤退基準＋</a:t>
            </a:r>
            <a:br>
              <a:rPr lang="en-US" altLang="ja-JP" sz="1050" dirty="0">
                <a:solidFill>
                  <a:schemeClr val="tx1"/>
                </a:solidFill>
                <a:latin typeface="+mn-ea"/>
              </a:rPr>
            </a:br>
            <a:r>
              <a:rPr lang="ja-JP" altLang="en-US" sz="1050" dirty="0">
                <a:solidFill>
                  <a:schemeClr val="tx1"/>
                </a:solidFill>
                <a:latin typeface="+mn-ea"/>
              </a:rPr>
              <a:t>検証責任は提案側</a:t>
            </a:r>
          </a:p>
        </p:txBody>
      </p:sp>
      <p:cxnSp>
        <p:nvCxnSpPr>
          <p:cNvPr id="46" name="直線コネクタ 45">
            <a:extLst>
              <a:ext uri="{FF2B5EF4-FFF2-40B4-BE49-F238E27FC236}">
                <a16:creationId xmlns:a16="http://schemas.microsoft.com/office/drawing/2014/main" id="{4D30A997-6B0D-76B3-162A-426A80084A13}"/>
              </a:ext>
            </a:extLst>
          </p:cNvPr>
          <p:cNvCxnSpPr/>
          <p:nvPr/>
        </p:nvCxnSpPr>
        <p:spPr>
          <a:xfrm>
            <a:off x="1724624" y="4374227"/>
            <a:ext cx="1964002"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74B9108-E403-43A6-0222-633F287ADE9D}"/>
              </a:ext>
            </a:extLst>
          </p:cNvPr>
          <p:cNvCxnSpPr/>
          <p:nvPr/>
        </p:nvCxnSpPr>
        <p:spPr>
          <a:xfrm>
            <a:off x="3764825" y="4374227"/>
            <a:ext cx="1964002"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8F4F9D1F-996C-1D16-7208-AF4FF39B6A2E}"/>
              </a:ext>
            </a:extLst>
          </p:cNvPr>
          <p:cNvCxnSpPr/>
          <p:nvPr/>
        </p:nvCxnSpPr>
        <p:spPr>
          <a:xfrm>
            <a:off x="5805028" y="4374227"/>
            <a:ext cx="1964002"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1082CFBC-D4D0-1379-943B-F1EFED612EA9}"/>
              </a:ext>
            </a:extLst>
          </p:cNvPr>
          <p:cNvCxnSpPr/>
          <p:nvPr/>
        </p:nvCxnSpPr>
        <p:spPr>
          <a:xfrm>
            <a:off x="7845229" y="4374227"/>
            <a:ext cx="1964002"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CCC4D143-9709-2C21-6434-B6D4258A6D6C}"/>
              </a:ext>
            </a:extLst>
          </p:cNvPr>
          <p:cNvCxnSpPr/>
          <p:nvPr/>
        </p:nvCxnSpPr>
        <p:spPr>
          <a:xfrm>
            <a:off x="9885432" y="4374227"/>
            <a:ext cx="1964002"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B4D85B65-1884-95EB-9BF3-9826623C5649}"/>
              </a:ext>
            </a:extLst>
          </p:cNvPr>
          <p:cNvCxnSpPr/>
          <p:nvPr/>
        </p:nvCxnSpPr>
        <p:spPr>
          <a:xfrm>
            <a:off x="1724624" y="5383652"/>
            <a:ext cx="1964002"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1BD6EF0E-1CD8-381A-A540-9CF5F96592CC}"/>
              </a:ext>
            </a:extLst>
          </p:cNvPr>
          <p:cNvCxnSpPr/>
          <p:nvPr/>
        </p:nvCxnSpPr>
        <p:spPr>
          <a:xfrm>
            <a:off x="3764825" y="5383652"/>
            <a:ext cx="1964002"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E9377F23-1098-D9E0-27EC-7F6853ACE490}"/>
              </a:ext>
            </a:extLst>
          </p:cNvPr>
          <p:cNvCxnSpPr/>
          <p:nvPr/>
        </p:nvCxnSpPr>
        <p:spPr>
          <a:xfrm>
            <a:off x="5805028" y="5383652"/>
            <a:ext cx="1964002"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B5EA363B-1B52-EF1B-E557-92B7BB1080D6}"/>
              </a:ext>
            </a:extLst>
          </p:cNvPr>
          <p:cNvCxnSpPr/>
          <p:nvPr/>
        </p:nvCxnSpPr>
        <p:spPr>
          <a:xfrm>
            <a:off x="7845229" y="5383652"/>
            <a:ext cx="1964002"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5FBF3820-7835-D7F0-2842-A2017F49A044}"/>
              </a:ext>
            </a:extLst>
          </p:cNvPr>
          <p:cNvCxnSpPr/>
          <p:nvPr/>
        </p:nvCxnSpPr>
        <p:spPr>
          <a:xfrm>
            <a:off x="9885432" y="5383652"/>
            <a:ext cx="1964002"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4" name="グループ化 63">
            <a:extLst>
              <a:ext uri="{FF2B5EF4-FFF2-40B4-BE49-F238E27FC236}">
                <a16:creationId xmlns:a16="http://schemas.microsoft.com/office/drawing/2014/main" id="{947B2C45-095A-5205-00C0-1E5F136A4FBE}"/>
              </a:ext>
            </a:extLst>
          </p:cNvPr>
          <p:cNvGrpSpPr/>
          <p:nvPr/>
        </p:nvGrpSpPr>
        <p:grpSpPr>
          <a:xfrm>
            <a:off x="3764825" y="4458578"/>
            <a:ext cx="1964001" cy="840722"/>
            <a:chOff x="1724624" y="4458578"/>
            <a:chExt cx="1964001" cy="840722"/>
          </a:xfrm>
        </p:grpSpPr>
        <p:sp>
          <p:nvSpPr>
            <p:cNvPr id="65" name="正方形/長方形 64">
              <a:extLst>
                <a:ext uri="{FF2B5EF4-FFF2-40B4-BE49-F238E27FC236}">
                  <a16:creationId xmlns:a16="http://schemas.microsoft.com/office/drawing/2014/main" id="{0136B857-17EA-F66C-ECB8-65EF35290CE9}"/>
                </a:ext>
              </a:extLst>
            </p:cNvPr>
            <p:cNvSpPr/>
            <p:nvPr/>
          </p:nvSpPr>
          <p:spPr>
            <a:xfrm>
              <a:off x="1724624" y="4458578"/>
              <a:ext cx="500288" cy="381809"/>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100" dirty="0">
                  <a:solidFill>
                    <a:srgbClr val="008D2E"/>
                  </a:solidFill>
                  <a:latin typeface="+mn-ea"/>
                </a:rPr>
                <a:t>A1★</a:t>
              </a:r>
            </a:p>
          </p:txBody>
        </p:sp>
        <p:sp>
          <p:nvSpPr>
            <p:cNvPr id="66" name="正方形/長方形 65">
              <a:extLst>
                <a:ext uri="{FF2B5EF4-FFF2-40B4-BE49-F238E27FC236}">
                  <a16:creationId xmlns:a16="http://schemas.microsoft.com/office/drawing/2014/main" id="{4A460744-F96D-FE19-8F0F-0EB8850B68CD}"/>
                </a:ext>
              </a:extLst>
            </p:cNvPr>
            <p:cNvSpPr/>
            <p:nvPr/>
          </p:nvSpPr>
          <p:spPr>
            <a:xfrm>
              <a:off x="1724624" y="4917491"/>
              <a:ext cx="500288" cy="381809"/>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100" dirty="0">
                  <a:solidFill>
                    <a:srgbClr val="008D2E"/>
                  </a:solidFill>
                  <a:latin typeface="+mn-ea"/>
                </a:rPr>
                <a:t>C1★</a:t>
              </a:r>
            </a:p>
          </p:txBody>
        </p:sp>
        <p:sp>
          <p:nvSpPr>
            <p:cNvPr id="67" name="正方形/長方形 66">
              <a:extLst>
                <a:ext uri="{FF2B5EF4-FFF2-40B4-BE49-F238E27FC236}">
                  <a16:creationId xmlns:a16="http://schemas.microsoft.com/office/drawing/2014/main" id="{F8D3D7AC-AE4C-F36A-4320-D7B917416B87}"/>
                </a:ext>
              </a:extLst>
            </p:cNvPr>
            <p:cNvSpPr/>
            <p:nvPr/>
          </p:nvSpPr>
          <p:spPr>
            <a:xfrm>
              <a:off x="2224912" y="4458578"/>
              <a:ext cx="1463713" cy="381809"/>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ja-JP" altLang="en-US" sz="1100" dirty="0">
                  <a:solidFill>
                    <a:schemeClr val="accent5"/>
                  </a:solidFill>
                  <a:latin typeface="+mn-ea"/>
                </a:rPr>
                <a:t>属性データの構造化・</a:t>
              </a:r>
              <a:r>
                <a:rPr lang="en-US" altLang="ja-JP" sz="1100" dirty="0">
                  <a:solidFill>
                    <a:schemeClr val="accent5"/>
                  </a:solidFill>
                  <a:latin typeface="+mn-ea"/>
                </a:rPr>
                <a:t>API</a:t>
              </a:r>
              <a:r>
                <a:rPr lang="ja-JP" altLang="en-US" sz="1100" dirty="0">
                  <a:solidFill>
                    <a:schemeClr val="accent5"/>
                  </a:solidFill>
                  <a:latin typeface="+mn-ea"/>
                </a:rPr>
                <a:t>化</a:t>
              </a:r>
              <a:endParaRPr lang="ja-JP" altLang="en-US" sz="1100" dirty="0">
                <a:solidFill>
                  <a:schemeClr val="tx1"/>
                </a:solidFill>
                <a:latin typeface="+mn-ea"/>
              </a:endParaRPr>
            </a:p>
          </p:txBody>
        </p:sp>
        <p:sp>
          <p:nvSpPr>
            <p:cNvPr id="68" name="正方形/長方形 67">
              <a:extLst>
                <a:ext uri="{FF2B5EF4-FFF2-40B4-BE49-F238E27FC236}">
                  <a16:creationId xmlns:a16="http://schemas.microsoft.com/office/drawing/2014/main" id="{C7C3C9B5-7B0A-914A-B6D0-31A1FB7A14AC}"/>
                </a:ext>
              </a:extLst>
            </p:cNvPr>
            <p:cNvSpPr/>
            <p:nvPr/>
          </p:nvSpPr>
          <p:spPr>
            <a:xfrm>
              <a:off x="2224912" y="4917491"/>
              <a:ext cx="1463713" cy="381809"/>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ja-JP" altLang="en-US" sz="1100" dirty="0">
                  <a:solidFill>
                    <a:schemeClr val="accent5"/>
                  </a:solidFill>
                  <a:latin typeface="+mn-ea"/>
                </a:rPr>
                <a:t>臨床データ変換</a:t>
              </a:r>
              <a:endParaRPr lang="ja-JP" altLang="en-US" sz="1100" dirty="0">
                <a:solidFill>
                  <a:schemeClr val="tx1"/>
                </a:solidFill>
                <a:latin typeface="+mn-ea"/>
              </a:endParaRPr>
            </a:p>
          </p:txBody>
        </p:sp>
      </p:grpSp>
      <p:grpSp>
        <p:nvGrpSpPr>
          <p:cNvPr id="69" name="グループ化 68">
            <a:extLst>
              <a:ext uri="{FF2B5EF4-FFF2-40B4-BE49-F238E27FC236}">
                <a16:creationId xmlns:a16="http://schemas.microsoft.com/office/drawing/2014/main" id="{AEAB4CE7-F65C-B306-6D80-4D88785AD0CC}"/>
              </a:ext>
            </a:extLst>
          </p:cNvPr>
          <p:cNvGrpSpPr/>
          <p:nvPr/>
        </p:nvGrpSpPr>
        <p:grpSpPr>
          <a:xfrm>
            <a:off x="5805028" y="4458578"/>
            <a:ext cx="1964001" cy="840722"/>
            <a:chOff x="1724624" y="4458578"/>
            <a:chExt cx="1964001" cy="840722"/>
          </a:xfrm>
        </p:grpSpPr>
        <p:sp>
          <p:nvSpPr>
            <p:cNvPr id="70" name="正方形/長方形 69">
              <a:extLst>
                <a:ext uri="{FF2B5EF4-FFF2-40B4-BE49-F238E27FC236}">
                  <a16:creationId xmlns:a16="http://schemas.microsoft.com/office/drawing/2014/main" id="{BD0842E9-F50B-8CD6-85BF-8FAC1C0CA815}"/>
                </a:ext>
              </a:extLst>
            </p:cNvPr>
            <p:cNvSpPr/>
            <p:nvPr/>
          </p:nvSpPr>
          <p:spPr>
            <a:xfrm>
              <a:off x="1724624" y="4458578"/>
              <a:ext cx="500288" cy="381809"/>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100" dirty="0">
                  <a:solidFill>
                    <a:srgbClr val="008D2E"/>
                  </a:solidFill>
                  <a:latin typeface="+mn-ea"/>
                </a:rPr>
                <a:t>B2</a:t>
              </a:r>
            </a:p>
          </p:txBody>
        </p:sp>
        <p:sp>
          <p:nvSpPr>
            <p:cNvPr id="71" name="正方形/長方形 70">
              <a:extLst>
                <a:ext uri="{FF2B5EF4-FFF2-40B4-BE49-F238E27FC236}">
                  <a16:creationId xmlns:a16="http://schemas.microsoft.com/office/drawing/2014/main" id="{7324C4F5-0CDA-CEC4-BF87-01D24590F2F8}"/>
                </a:ext>
              </a:extLst>
            </p:cNvPr>
            <p:cNvSpPr/>
            <p:nvPr/>
          </p:nvSpPr>
          <p:spPr>
            <a:xfrm>
              <a:off x="1724624" y="4917491"/>
              <a:ext cx="500288" cy="381809"/>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100" dirty="0">
                  <a:solidFill>
                    <a:srgbClr val="008D2E"/>
                  </a:solidFill>
                  <a:latin typeface="+mn-ea"/>
                </a:rPr>
                <a:t>C2</a:t>
              </a:r>
            </a:p>
          </p:txBody>
        </p:sp>
        <p:sp>
          <p:nvSpPr>
            <p:cNvPr id="72" name="正方形/長方形 71">
              <a:extLst>
                <a:ext uri="{FF2B5EF4-FFF2-40B4-BE49-F238E27FC236}">
                  <a16:creationId xmlns:a16="http://schemas.microsoft.com/office/drawing/2014/main" id="{4252C5CD-68EF-D542-514F-F0BDC825504D}"/>
                </a:ext>
              </a:extLst>
            </p:cNvPr>
            <p:cNvSpPr/>
            <p:nvPr/>
          </p:nvSpPr>
          <p:spPr>
            <a:xfrm>
              <a:off x="2224912" y="4458578"/>
              <a:ext cx="1463713" cy="381809"/>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ja-JP" altLang="en-US" sz="1100" dirty="0">
                  <a:solidFill>
                    <a:schemeClr val="accent5"/>
                  </a:solidFill>
                  <a:latin typeface="+mn-ea"/>
                </a:rPr>
                <a:t>リテールメディア投資の</a:t>
              </a:r>
              <a:br>
                <a:rPr lang="en-US" altLang="ja-JP" sz="1100" dirty="0">
                  <a:solidFill>
                    <a:schemeClr val="accent5"/>
                  </a:solidFill>
                  <a:latin typeface="+mn-ea"/>
                </a:rPr>
              </a:br>
              <a:r>
                <a:rPr lang="ja-JP" altLang="en-US" sz="1100" dirty="0">
                  <a:solidFill>
                    <a:schemeClr val="accent5"/>
                  </a:solidFill>
                  <a:latin typeface="+mn-ea"/>
                </a:rPr>
                <a:t>内製化</a:t>
              </a:r>
              <a:endParaRPr lang="ja-JP" altLang="en-US" sz="1100" dirty="0">
                <a:solidFill>
                  <a:schemeClr val="tx1"/>
                </a:solidFill>
                <a:latin typeface="+mn-ea"/>
              </a:endParaRPr>
            </a:p>
          </p:txBody>
        </p:sp>
        <p:sp>
          <p:nvSpPr>
            <p:cNvPr id="73" name="正方形/長方形 72">
              <a:extLst>
                <a:ext uri="{FF2B5EF4-FFF2-40B4-BE49-F238E27FC236}">
                  <a16:creationId xmlns:a16="http://schemas.microsoft.com/office/drawing/2014/main" id="{B6913427-5FF4-A748-31AC-1D9E1307BAF6}"/>
                </a:ext>
              </a:extLst>
            </p:cNvPr>
            <p:cNvSpPr/>
            <p:nvPr/>
          </p:nvSpPr>
          <p:spPr>
            <a:xfrm>
              <a:off x="2224912" y="4917491"/>
              <a:ext cx="1463713" cy="381809"/>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ja-JP" altLang="en-US" sz="1100" dirty="0">
                  <a:solidFill>
                    <a:schemeClr val="accent5"/>
                  </a:solidFill>
                  <a:latin typeface="+mn-ea"/>
                </a:rPr>
                <a:t>提案の標準化</a:t>
              </a:r>
              <a:endParaRPr lang="ja-JP" altLang="en-US" sz="1100" dirty="0">
                <a:solidFill>
                  <a:schemeClr val="tx1"/>
                </a:solidFill>
                <a:latin typeface="+mn-ea"/>
              </a:endParaRPr>
            </a:p>
          </p:txBody>
        </p:sp>
      </p:grpSp>
      <p:grpSp>
        <p:nvGrpSpPr>
          <p:cNvPr id="74" name="グループ化 73">
            <a:extLst>
              <a:ext uri="{FF2B5EF4-FFF2-40B4-BE49-F238E27FC236}">
                <a16:creationId xmlns:a16="http://schemas.microsoft.com/office/drawing/2014/main" id="{D68187D1-74BA-1C13-F8B3-B58F59606048}"/>
              </a:ext>
            </a:extLst>
          </p:cNvPr>
          <p:cNvGrpSpPr/>
          <p:nvPr/>
        </p:nvGrpSpPr>
        <p:grpSpPr>
          <a:xfrm>
            <a:off x="7845229" y="4458578"/>
            <a:ext cx="1964001" cy="840722"/>
            <a:chOff x="1724624" y="4458578"/>
            <a:chExt cx="1964001" cy="840722"/>
          </a:xfrm>
        </p:grpSpPr>
        <p:sp>
          <p:nvSpPr>
            <p:cNvPr id="75" name="正方形/長方形 74">
              <a:extLst>
                <a:ext uri="{FF2B5EF4-FFF2-40B4-BE49-F238E27FC236}">
                  <a16:creationId xmlns:a16="http://schemas.microsoft.com/office/drawing/2014/main" id="{652DC64F-1D04-F46F-3D46-6B33A0C21419}"/>
                </a:ext>
              </a:extLst>
            </p:cNvPr>
            <p:cNvSpPr/>
            <p:nvPr/>
          </p:nvSpPr>
          <p:spPr>
            <a:xfrm>
              <a:off x="1724624" y="4458578"/>
              <a:ext cx="500288" cy="381809"/>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100" dirty="0">
                  <a:solidFill>
                    <a:srgbClr val="008D2E"/>
                  </a:solidFill>
                  <a:latin typeface="+mn-ea"/>
                </a:rPr>
                <a:t>B1★</a:t>
              </a:r>
            </a:p>
          </p:txBody>
        </p:sp>
        <p:sp>
          <p:nvSpPr>
            <p:cNvPr id="77" name="正方形/長方形 76">
              <a:extLst>
                <a:ext uri="{FF2B5EF4-FFF2-40B4-BE49-F238E27FC236}">
                  <a16:creationId xmlns:a16="http://schemas.microsoft.com/office/drawing/2014/main" id="{7BF6D256-2D0A-03D0-CCC5-6B924139290F}"/>
                </a:ext>
              </a:extLst>
            </p:cNvPr>
            <p:cNvSpPr/>
            <p:nvPr/>
          </p:nvSpPr>
          <p:spPr>
            <a:xfrm>
              <a:off x="2224912" y="4458578"/>
              <a:ext cx="1463713" cy="381809"/>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zh-TW" altLang="en-US" sz="1100" dirty="0">
                  <a:solidFill>
                    <a:schemeClr val="accent5"/>
                  </a:solidFill>
                  <a:latin typeface="+mn-ea"/>
                </a:rPr>
                <a:t>投資</a:t>
              </a:r>
              <a:r>
                <a:rPr lang="en-US" altLang="zh-TW" sz="1100" dirty="0">
                  <a:solidFill>
                    <a:schemeClr val="accent5"/>
                  </a:solidFill>
                  <a:latin typeface="+mn-ea"/>
                </a:rPr>
                <a:t>ROI</a:t>
              </a:r>
              <a:r>
                <a:rPr lang="zh-TW" altLang="en-US" sz="1100" dirty="0">
                  <a:solidFill>
                    <a:schemeClr val="accent5"/>
                  </a:solidFill>
                  <a:latin typeface="+mn-ea"/>
                </a:rPr>
                <a:t>可視化</a:t>
              </a:r>
              <a:r>
                <a:rPr lang="en-US" altLang="zh-TW" sz="1100" dirty="0">
                  <a:solidFill>
                    <a:schemeClr val="accent5"/>
                  </a:solidFill>
                  <a:latin typeface="+mn-ea"/>
                </a:rPr>
                <a:t>(MMM×DCR)</a:t>
              </a:r>
              <a:endParaRPr lang="ja-JP" altLang="en-US" sz="1100" dirty="0">
                <a:solidFill>
                  <a:schemeClr val="tx1"/>
                </a:solidFill>
                <a:latin typeface="+mn-ea"/>
              </a:endParaRPr>
            </a:p>
          </p:txBody>
        </p:sp>
        <p:sp>
          <p:nvSpPr>
            <p:cNvPr id="78" name="正方形/長方形 77">
              <a:extLst>
                <a:ext uri="{FF2B5EF4-FFF2-40B4-BE49-F238E27FC236}">
                  <a16:creationId xmlns:a16="http://schemas.microsoft.com/office/drawing/2014/main" id="{9CB5AAC0-A93B-D195-E39C-294A6A290F17}"/>
                </a:ext>
              </a:extLst>
            </p:cNvPr>
            <p:cNvSpPr/>
            <p:nvPr/>
          </p:nvSpPr>
          <p:spPr>
            <a:xfrm>
              <a:off x="1724624" y="4917491"/>
              <a:ext cx="1964000" cy="381809"/>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buClr>
                  <a:schemeClr val="accent5"/>
                </a:buClr>
                <a:defRPr/>
              </a:pPr>
              <a:r>
                <a:rPr lang="en-US" altLang="zh-TW" sz="1100" dirty="0">
                  <a:solidFill>
                    <a:schemeClr val="accent5"/>
                  </a:solidFill>
                  <a:latin typeface="+mn-ea"/>
                </a:rPr>
                <a:t>ID</a:t>
              </a:r>
              <a:r>
                <a:rPr lang="zh-TW" altLang="en-US" sz="1100" dirty="0">
                  <a:solidFill>
                    <a:schemeClr val="accent5"/>
                  </a:solidFill>
                  <a:latin typeface="+mn-ea"/>
                </a:rPr>
                <a:t>再設計 </a:t>
              </a:r>
              <a:r>
                <a:rPr lang="en-US" altLang="zh-TW" sz="1100" dirty="0">
                  <a:solidFill>
                    <a:schemeClr val="accent5"/>
                  </a:solidFill>
                  <a:latin typeface="+mn-ea"/>
                </a:rPr>
                <a:t>(</a:t>
              </a:r>
              <a:r>
                <a:rPr lang="zh-TW" altLang="en-US" sz="1100" dirty="0">
                  <a:solidFill>
                    <a:schemeClr val="accent5"/>
                  </a:solidFill>
                  <a:latin typeface="+mn-ea"/>
                </a:rPr>
                <a:t>候補</a:t>
              </a:r>
              <a:r>
                <a:rPr lang="en-US" altLang="zh-TW" sz="1100" dirty="0">
                  <a:solidFill>
                    <a:schemeClr val="accent5"/>
                  </a:solidFill>
                  <a:latin typeface="+mn-ea"/>
                </a:rPr>
                <a:t>)</a:t>
              </a:r>
              <a:endParaRPr lang="ja-JP" altLang="en-US" sz="1100" dirty="0">
                <a:solidFill>
                  <a:schemeClr val="tx1"/>
                </a:solidFill>
                <a:latin typeface="+mn-ea"/>
              </a:endParaRPr>
            </a:p>
          </p:txBody>
        </p:sp>
      </p:grpSp>
      <p:grpSp>
        <p:nvGrpSpPr>
          <p:cNvPr id="79" name="グループ化 78">
            <a:extLst>
              <a:ext uri="{FF2B5EF4-FFF2-40B4-BE49-F238E27FC236}">
                <a16:creationId xmlns:a16="http://schemas.microsoft.com/office/drawing/2014/main" id="{E62933C5-294F-D7EF-8E39-70873D538BB0}"/>
              </a:ext>
            </a:extLst>
          </p:cNvPr>
          <p:cNvGrpSpPr/>
          <p:nvPr/>
        </p:nvGrpSpPr>
        <p:grpSpPr>
          <a:xfrm>
            <a:off x="9885432" y="4458578"/>
            <a:ext cx="1964001" cy="840722"/>
            <a:chOff x="1724624" y="4458578"/>
            <a:chExt cx="1964001" cy="840722"/>
          </a:xfrm>
        </p:grpSpPr>
        <p:sp>
          <p:nvSpPr>
            <p:cNvPr id="80" name="正方形/長方形 79">
              <a:extLst>
                <a:ext uri="{FF2B5EF4-FFF2-40B4-BE49-F238E27FC236}">
                  <a16:creationId xmlns:a16="http://schemas.microsoft.com/office/drawing/2014/main" id="{54F6840E-82AD-BF7A-0A41-535E103DC60A}"/>
                </a:ext>
              </a:extLst>
            </p:cNvPr>
            <p:cNvSpPr/>
            <p:nvPr/>
          </p:nvSpPr>
          <p:spPr>
            <a:xfrm>
              <a:off x="1724624" y="4458578"/>
              <a:ext cx="500288" cy="381809"/>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100" dirty="0">
                  <a:solidFill>
                    <a:srgbClr val="008D2E"/>
                  </a:solidFill>
                  <a:latin typeface="+mn-ea"/>
                </a:rPr>
                <a:t>D1★</a:t>
              </a:r>
            </a:p>
          </p:txBody>
        </p:sp>
        <p:sp>
          <p:nvSpPr>
            <p:cNvPr id="81" name="正方形/長方形 80">
              <a:extLst>
                <a:ext uri="{FF2B5EF4-FFF2-40B4-BE49-F238E27FC236}">
                  <a16:creationId xmlns:a16="http://schemas.microsoft.com/office/drawing/2014/main" id="{38175FD3-6F41-0763-3295-7B2E15CC78F4}"/>
                </a:ext>
              </a:extLst>
            </p:cNvPr>
            <p:cNvSpPr/>
            <p:nvPr/>
          </p:nvSpPr>
          <p:spPr>
            <a:xfrm>
              <a:off x="1724624" y="4917491"/>
              <a:ext cx="500288" cy="381809"/>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100" dirty="0">
                  <a:solidFill>
                    <a:srgbClr val="008D2E"/>
                  </a:solidFill>
                  <a:latin typeface="+mn-ea"/>
                </a:rPr>
                <a:t>D2</a:t>
              </a:r>
            </a:p>
          </p:txBody>
        </p:sp>
        <p:sp>
          <p:nvSpPr>
            <p:cNvPr id="83" name="正方形/長方形 82">
              <a:extLst>
                <a:ext uri="{FF2B5EF4-FFF2-40B4-BE49-F238E27FC236}">
                  <a16:creationId xmlns:a16="http://schemas.microsoft.com/office/drawing/2014/main" id="{51FDE547-0C13-2F7D-0091-63B10798C5B8}"/>
                </a:ext>
              </a:extLst>
            </p:cNvPr>
            <p:cNvSpPr/>
            <p:nvPr/>
          </p:nvSpPr>
          <p:spPr>
            <a:xfrm>
              <a:off x="2224912" y="4458578"/>
              <a:ext cx="1463713" cy="381809"/>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en-US" altLang="ja-JP" sz="1100" dirty="0">
                  <a:solidFill>
                    <a:schemeClr val="accent5"/>
                  </a:solidFill>
                  <a:latin typeface="+mn-ea"/>
                </a:rPr>
                <a:t>Input</a:t>
              </a:r>
              <a:r>
                <a:rPr lang="ja-JP" altLang="en-US" sz="1100" dirty="0">
                  <a:solidFill>
                    <a:schemeClr val="accent5"/>
                  </a:solidFill>
                  <a:latin typeface="+mn-ea"/>
                </a:rPr>
                <a:t>業務ゼロ化</a:t>
              </a:r>
              <a:endParaRPr lang="ja-JP" altLang="en-US" sz="1100" dirty="0">
                <a:solidFill>
                  <a:schemeClr val="tx1"/>
                </a:solidFill>
                <a:latin typeface="+mn-ea"/>
              </a:endParaRPr>
            </a:p>
          </p:txBody>
        </p:sp>
        <p:sp>
          <p:nvSpPr>
            <p:cNvPr id="84" name="正方形/長方形 83">
              <a:extLst>
                <a:ext uri="{FF2B5EF4-FFF2-40B4-BE49-F238E27FC236}">
                  <a16:creationId xmlns:a16="http://schemas.microsoft.com/office/drawing/2014/main" id="{9C82D933-64A1-316F-5325-501D8C96EC85}"/>
                </a:ext>
              </a:extLst>
            </p:cNvPr>
            <p:cNvSpPr/>
            <p:nvPr/>
          </p:nvSpPr>
          <p:spPr>
            <a:xfrm>
              <a:off x="2224912" y="4917491"/>
              <a:ext cx="1463713" cy="381809"/>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ja-JP" altLang="en-US" sz="1100" dirty="0">
                  <a:solidFill>
                    <a:schemeClr val="accent5"/>
                  </a:solidFill>
                  <a:latin typeface="+mn-ea"/>
                </a:rPr>
                <a:t>組織対組織の体制</a:t>
              </a:r>
              <a:endParaRPr lang="ja-JP" altLang="en-US" sz="1100" dirty="0">
                <a:solidFill>
                  <a:schemeClr val="tx1"/>
                </a:solidFill>
                <a:latin typeface="+mn-ea"/>
              </a:endParaRPr>
            </a:p>
          </p:txBody>
        </p:sp>
      </p:grpSp>
      <p:sp>
        <p:nvSpPr>
          <p:cNvPr id="94" name="正方形/長方形 93">
            <a:extLst>
              <a:ext uri="{FF2B5EF4-FFF2-40B4-BE49-F238E27FC236}">
                <a16:creationId xmlns:a16="http://schemas.microsoft.com/office/drawing/2014/main" id="{78AE4A5F-B0EB-D558-8A10-EBD0DFD4B900}"/>
              </a:ext>
            </a:extLst>
          </p:cNvPr>
          <p:cNvSpPr/>
          <p:nvPr/>
        </p:nvSpPr>
        <p:spPr>
          <a:xfrm>
            <a:off x="1732228" y="5456110"/>
            <a:ext cx="1964002" cy="840721"/>
          </a:xfrm>
          <a:prstGeom prst="rect">
            <a:avLst/>
          </a:prstGeom>
          <a:solidFill>
            <a:schemeClr val="bg1"/>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chemeClr val="accent5"/>
              </a:buClr>
            </a:pPr>
            <a:r>
              <a:rPr lang="ja-JP" altLang="en-US" sz="1200" dirty="0">
                <a:solidFill>
                  <a:schemeClr val="accent5"/>
                </a:solidFill>
                <a:latin typeface="+mn-ea"/>
              </a:rPr>
              <a:t>強み領域売上比率</a:t>
            </a:r>
            <a:br>
              <a:rPr lang="en-US" altLang="ja-JP" sz="1200" dirty="0">
                <a:solidFill>
                  <a:schemeClr val="accent5"/>
                </a:solidFill>
                <a:latin typeface="+mn-ea"/>
              </a:rPr>
            </a:br>
            <a:r>
              <a:rPr lang="en-US" altLang="ja-JP" sz="1200" dirty="0">
                <a:solidFill>
                  <a:schemeClr val="accent5"/>
                </a:solidFill>
                <a:latin typeface="+mn-ea"/>
              </a:rPr>
              <a:t>65→80%</a:t>
            </a:r>
            <a:r>
              <a:rPr lang="ja-JP" altLang="en-US" sz="1200" dirty="0">
                <a:solidFill>
                  <a:schemeClr val="accent5"/>
                </a:solidFill>
                <a:latin typeface="+mn-ea"/>
              </a:rPr>
              <a:t> </a:t>
            </a:r>
            <a:r>
              <a:rPr lang="en-US" altLang="ja-JP" sz="1200" dirty="0">
                <a:solidFill>
                  <a:schemeClr val="accent5"/>
                </a:solidFill>
                <a:latin typeface="+mn-ea"/>
              </a:rPr>
              <a:t>(FY30)</a:t>
            </a:r>
            <a:endParaRPr lang="ja-JP" altLang="en-US" sz="1200" dirty="0">
              <a:solidFill>
                <a:schemeClr val="accent5"/>
              </a:solidFill>
              <a:latin typeface="+mn-ea"/>
            </a:endParaRPr>
          </a:p>
        </p:txBody>
      </p:sp>
      <p:sp>
        <p:nvSpPr>
          <p:cNvPr id="95" name="正方形/長方形 7">
            <a:extLst>
              <a:ext uri="{FF2B5EF4-FFF2-40B4-BE49-F238E27FC236}">
                <a16:creationId xmlns:a16="http://schemas.microsoft.com/office/drawing/2014/main" id="{074A91E9-5235-5596-29C0-976FD955B843}"/>
              </a:ext>
            </a:extLst>
          </p:cNvPr>
          <p:cNvSpPr/>
          <p:nvPr/>
        </p:nvSpPr>
        <p:spPr>
          <a:xfrm>
            <a:off x="3772430" y="5456110"/>
            <a:ext cx="1964002" cy="840721"/>
          </a:xfrm>
          <a:prstGeom prst="rect">
            <a:avLst/>
          </a:prstGeom>
          <a:solidFill>
            <a:schemeClr val="bg1"/>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chemeClr val="accent5"/>
              </a:buClr>
            </a:pPr>
            <a:r>
              <a:rPr lang="en-US" altLang="ja-JP" sz="1200" dirty="0">
                <a:solidFill>
                  <a:schemeClr val="accent5"/>
                </a:solidFill>
                <a:latin typeface="+mn-ea"/>
              </a:rPr>
              <a:t>AIEO Rate 30→50%</a:t>
            </a:r>
            <a:br>
              <a:rPr lang="en-US" altLang="ja-JP" sz="1200" dirty="0">
                <a:solidFill>
                  <a:schemeClr val="accent5"/>
                </a:solidFill>
                <a:latin typeface="+mn-ea"/>
              </a:rPr>
            </a:br>
            <a:r>
              <a:rPr lang="ja-JP" altLang="en-US" sz="1200" dirty="0">
                <a:solidFill>
                  <a:schemeClr val="accent5"/>
                </a:solidFill>
                <a:latin typeface="+mn-ea"/>
              </a:rPr>
              <a:t>根拠データ付き商談</a:t>
            </a:r>
            <a:r>
              <a:rPr lang="en-US" altLang="ja-JP" sz="1200" dirty="0">
                <a:solidFill>
                  <a:schemeClr val="accent5"/>
                </a:solidFill>
                <a:latin typeface="+mn-ea"/>
              </a:rPr>
              <a:t>80%</a:t>
            </a:r>
          </a:p>
        </p:txBody>
      </p:sp>
      <p:sp>
        <p:nvSpPr>
          <p:cNvPr id="96" name="正方形/長方形 7">
            <a:extLst>
              <a:ext uri="{FF2B5EF4-FFF2-40B4-BE49-F238E27FC236}">
                <a16:creationId xmlns:a16="http://schemas.microsoft.com/office/drawing/2014/main" id="{5E8751B5-5829-7CF1-72BA-4A9BE446C8D2}"/>
              </a:ext>
            </a:extLst>
          </p:cNvPr>
          <p:cNvSpPr/>
          <p:nvPr/>
        </p:nvSpPr>
        <p:spPr>
          <a:xfrm>
            <a:off x="5812632" y="5456110"/>
            <a:ext cx="1964002" cy="840721"/>
          </a:xfrm>
          <a:prstGeom prst="rect">
            <a:avLst/>
          </a:prstGeom>
          <a:solidFill>
            <a:schemeClr val="bg1"/>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chemeClr val="accent5"/>
              </a:buClr>
            </a:pPr>
            <a:r>
              <a:rPr lang="en-US" altLang="ja-JP" sz="1200" dirty="0">
                <a:solidFill>
                  <a:schemeClr val="accent5"/>
                </a:solidFill>
                <a:latin typeface="+mn-ea"/>
              </a:rPr>
              <a:t>TA</a:t>
            </a:r>
            <a:r>
              <a:rPr lang="ja-JP" altLang="en-US" sz="1200" dirty="0">
                <a:solidFill>
                  <a:schemeClr val="accent5"/>
                </a:solidFill>
                <a:latin typeface="+mn-ea"/>
              </a:rPr>
              <a:t>スコア </a:t>
            </a:r>
            <a:r>
              <a:rPr lang="en-US" altLang="ja-JP" sz="1200" dirty="0">
                <a:solidFill>
                  <a:schemeClr val="accent5"/>
                </a:solidFill>
                <a:latin typeface="+mn-ea"/>
              </a:rPr>
              <a:t>70→90%</a:t>
            </a:r>
          </a:p>
          <a:p>
            <a:pPr>
              <a:buClr>
                <a:schemeClr val="accent5"/>
              </a:buClr>
            </a:pPr>
            <a:r>
              <a:rPr lang="en-US" altLang="ja-JP" sz="1200" dirty="0">
                <a:solidFill>
                  <a:schemeClr val="accent5"/>
                </a:solidFill>
                <a:latin typeface="+mn-ea"/>
              </a:rPr>
              <a:t>B2B2C</a:t>
            </a:r>
            <a:r>
              <a:rPr lang="ja-JP" altLang="en-US" sz="1200" dirty="0">
                <a:solidFill>
                  <a:schemeClr val="accent5"/>
                </a:solidFill>
                <a:latin typeface="+mn-ea"/>
              </a:rPr>
              <a:t>売上 </a:t>
            </a:r>
            <a:r>
              <a:rPr lang="en-US" altLang="ja-JP" sz="1200" dirty="0">
                <a:solidFill>
                  <a:schemeClr val="accent5"/>
                </a:solidFill>
                <a:latin typeface="+mn-ea"/>
              </a:rPr>
              <a:t>5→15%</a:t>
            </a:r>
          </a:p>
        </p:txBody>
      </p:sp>
      <p:sp>
        <p:nvSpPr>
          <p:cNvPr id="97" name="正方形/長方形 7">
            <a:extLst>
              <a:ext uri="{FF2B5EF4-FFF2-40B4-BE49-F238E27FC236}">
                <a16:creationId xmlns:a16="http://schemas.microsoft.com/office/drawing/2014/main" id="{52E1C043-20B8-BC52-01EC-668738753B16}"/>
              </a:ext>
            </a:extLst>
          </p:cNvPr>
          <p:cNvSpPr/>
          <p:nvPr/>
        </p:nvSpPr>
        <p:spPr>
          <a:xfrm>
            <a:off x="7852834" y="5456110"/>
            <a:ext cx="1964002" cy="840721"/>
          </a:xfrm>
          <a:prstGeom prst="rect">
            <a:avLst/>
          </a:prstGeom>
          <a:solidFill>
            <a:schemeClr val="bg1"/>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chemeClr val="accent5"/>
              </a:buClr>
            </a:pPr>
            <a:r>
              <a:rPr lang="ja-JP" altLang="en-US" sz="1200" dirty="0">
                <a:solidFill>
                  <a:schemeClr val="accent5"/>
                </a:solidFill>
                <a:latin typeface="+mn-ea"/>
              </a:rPr>
              <a:t>アクティブ</a:t>
            </a:r>
            <a:r>
              <a:rPr lang="en-US" altLang="ja-JP" sz="1200" dirty="0">
                <a:solidFill>
                  <a:schemeClr val="accent5"/>
                </a:solidFill>
                <a:latin typeface="+mn-ea"/>
              </a:rPr>
              <a:t>ID</a:t>
            </a:r>
            <a:r>
              <a:rPr lang="ja-JP" altLang="en-US" sz="1200" dirty="0">
                <a:solidFill>
                  <a:schemeClr val="accent5"/>
                </a:solidFill>
                <a:latin typeface="+mn-ea"/>
              </a:rPr>
              <a:t> </a:t>
            </a:r>
            <a:r>
              <a:rPr lang="en-US" altLang="ja-JP" sz="1200" dirty="0">
                <a:solidFill>
                  <a:schemeClr val="accent5"/>
                </a:solidFill>
                <a:latin typeface="+mn-ea"/>
              </a:rPr>
              <a:t>/ KOIC</a:t>
            </a:r>
          </a:p>
          <a:p>
            <a:pPr>
              <a:buClr>
                <a:schemeClr val="accent5"/>
              </a:buClr>
            </a:pPr>
            <a:r>
              <a:rPr lang="en-US" altLang="ja-JP" sz="1200" dirty="0">
                <a:solidFill>
                  <a:schemeClr val="accent5"/>
                </a:solidFill>
                <a:latin typeface="+mn-ea"/>
              </a:rPr>
              <a:t>90</a:t>
            </a:r>
            <a:r>
              <a:rPr lang="ja-JP" altLang="en-US" sz="1200" dirty="0">
                <a:solidFill>
                  <a:schemeClr val="accent5"/>
                </a:solidFill>
                <a:latin typeface="+mn-ea"/>
              </a:rPr>
              <a:t>日継続・定期登録</a:t>
            </a:r>
          </a:p>
        </p:txBody>
      </p:sp>
      <p:sp>
        <p:nvSpPr>
          <p:cNvPr id="98" name="正方形/長方形 7">
            <a:extLst>
              <a:ext uri="{FF2B5EF4-FFF2-40B4-BE49-F238E27FC236}">
                <a16:creationId xmlns:a16="http://schemas.microsoft.com/office/drawing/2014/main" id="{3572ADE3-EA14-8697-63D9-3FE145A7A051}"/>
              </a:ext>
            </a:extLst>
          </p:cNvPr>
          <p:cNvSpPr/>
          <p:nvPr/>
        </p:nvSpPr>
        <p:spPr>
          <a:xfrm>
            <a:off x="9893036" y="5456110"/>
            <a:ext cx="1964002" cy="840721"/>
          </a:xfrm>
          <a:prstGeom prst="rect">
            <a:avLst/>
          </a:prstGeom>
          <a:solidFill>
            <a:schemeClr val="bg1"/>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chemeClr val="accent5"/>
              </a:buClr>
            </a:pPr>
            <a:r>
              <a:rPr lang="en-US" altLang="zh-TW" sz="1200" dirty="0">
                <a:solidFill>
                  <a:schemeClr val="accent5"/>
                </a:solidFill>
                <a:latin typeface="+mn-ea"/>
              </a:rPr>
              <a:t>Input</a:t>
            </a:r>
            <a:r>
              <a:rPr lang="zh-TW" altLang="en-US" sz="1200" dirty="0">
                <a:solidFill>
                  <a:schemeClr val="accent5"/>
                </a:solidFill>
                <a:latin typeface="+mn-ea"/>
              </a:rPr>
              <a:t>削減 </a:t>
            </a:r>
            <a:r>
              <a:rPr lang="en-US" altLang="zh-TW" sz="1200" dirty="0">
                <a:solidFill>
                  <a:schemeClr val="accent5"/>
                </a:solidFill>
                <a:latin typeface="+mn-ea"/>
              </a:rPr>
              <a:t>50→80%</a:t>
            </a:r>
          </a:p>
          <a:p>
            <a:pPr>
              <a:buClr>
                <a:schemeClr val="accent5"/>
              </a:buClr>
            </a:pPr>
            <a:r>
              <a:rPr lang="zh-TW" altLang="en-US" sz="1200" dirty="0">
                <a:solidFill>
                  <a:schemeClr val="accent5"/>
                </a:solidFill>
                <a:latin typeface="+mn-ea"/>
              </a:rPr>
              <a:t>共有</a:t>
            </a:r>
            <a:r>
              <a:rPr lang="en-US" altLang="zh-TW" sz="1200" dirty="0">
                <a:solidFill>
                  <a:schemeClr val="accent5"/>
                </a:solidFill>
                <a:latin typeface="+mn-ea"/>
              </a:rPr>
              <a:t>KPI</a:t>
            </a:r>
            <a:r>
              <a:rPr lang="zh-TW" altLang="en-US" sz="1200" dirty="0">
                <a:solidFill>
                  <a:schemeClr val="accent5"/>
                </a:solidFill>
                <a:latin typeface="+mn-ea"/>
              </a:rPr>
              <a:t>達成率</a:t>
            </a:r>
          </a:p>
        </p:txBody>
      </p:sp>
      <p:sp>
        <p:nvSpPr>
          <p:cNvPr id="99" name="加算記号 98">
            <a:extLst>
              <a:ext uri="{FF2B5EF4-FFF2-40B4-BE49-F238E27FC236}">
                <a16:creationId xmlns:a16="http://schemas.microsoft.com/office/drawing/2014/main" id="{B0E208D2-321C-7725-1FF9-260CDE1151C0}"/>
              </a:ext>
            </a:extLst>
          </p:cNvPr>
          <p:cNvSpPr/>
          <p:nvPr/>
        </p:nvSpPr>
        <p:spPr>
          <a:xfrm>
            <a:off x="2627424" y="4799739"/>
            <a:ext cx="158400" cy="158400"/>
          </a:xfrm>
          <a:prstGeom prst="mathPlus">
            <a:avLst/>
          </a:prstGeom>
          <a:solidFill>
            <a:schemeClr val="accent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0" name="加算記号 99">
            <a:extLst>
              <a:ext uri="{FF2B5EF4-FFF2-40B4-BE49-F238E27FC236}">
                <a16:creationId xmlns:a16="http://schemas.microsoft.com/office/drawing/2014/main" id="{D6911B98-131E-7636-4AA1-618A614FDCED}"/>
              </a:ext>
            </a:extLst>
          </p:cNvPr>
          <p:cNvSpPr/>
          <p:nvPr/>
        </p:nvSpPr>
        <p:spPr>
          <a:xfrm>
            <a:off x="8748029" y="4799738"/>
            <a:ext cx="158400" cy="158400"/>
          </a:xfrm>
          <a:prstGeom prst="mathPlus">
            <a:avLst/>
          </a:prstGeom>
          <a:solidFill>
            <a:schemeClr val="accent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pic>
        <p:nvPicPr>
          <p:cNvPr id="112" name="グラフィックス 111" descr="ターゲット 単色塗りつぶし">
            <a:extLst>
              <a:ext uri="{FF2B5EF4-FFF2-40B4-BE49-F238E27FC236}">
                <a16:creationId xmlns:a16="http://schemas.microsoft.com/office/drawing/2014/main" id="{086D6088-2286-E606-5844-151CB05EC5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1056" y="1713313"/>
            <a:ext cx="288000" cy="288000"/>
          </a:xfrm>
          <a:prstGeom prst="rect">
            <a:avLst/>
          </a:prstGeom>
        </p:spPr>
      </p:pic>
      <p:pic>
        <p:nvPicPr>
          <p:cNvPr id="114" name="グラフィックス 113" descr="ユーザー 単色塗りつぶし">
            <a:extLst>
              <a:ext uri="{FF2B5EF4-FFF2-40B4-BE49-F238E27FC236}">
                <a16:creationId xmlns:a16="http://schemas.microsoft.com/office/drawing/2014/main" id="{976649D4-993C-133C-5C84-1EED3503A7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52199" y="1713313"/>
            <a:ext cx="288000" cy="288000"/>
          </a:xfrm>
          <a:prstGeom prst="rect">
            <a:avLst/>
          </a:prstGeom>
        </p:spPr>
      </p:pic>
      <p:pic>
        <p:nvPicPr>
          <p:cNvPr id="116" name="グラフィックス 115" descr="受信箱 単色塗りつぶし">
            <a:extLst>
              <a:ext uri="{FF2B5EF4-FFF2-40B4-BE49-F238E27FC236}">
                <a16:creationId xmlns:a16="http://schemas.microsoft.com/office/drawing/2014/main" id="{A30534B7-F81F-BA04-26A2-208A8AE45F9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15097" y="1713313"/>
            <a:ext cx="288000" cy="288000"/>
          </a:xfrm>
          <a:prstGeom prst="rect">
            <a:avLst/>
          </a:prstGeom>
        </p:spPr>
      </p:pic>
      <p:pic>
        <p:nvPicPr>
          <p:cNvPr id="118" name="グラフィックス 117" descr="クリップボード 単色塗りつぶし">
            <a:extLst>
              <a:ext uri="{FF2B5EF4-FFF2-40B4-BE49-F238E27FC236}">
                <a16:creationId xmlns:a16="http://schemas.microsoft.com/office/drawing/2014/main" id="{FECBDEBD-B964-686F-0BC1-8CE0B0B13B4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046284" y="1713314"/>
            <a:ext cx="288000" cy="288000"/>
          </a:xfrm>
          <a:prstGeom prst="rect">
            <a:avLst/>
          </a:prstGeom>
        </p:spPr>
      </p:pic>
      <p:pic>
        <p:nvPicPr>
          <p:cNvPr id="120" name="グラフィックス 119" descr="手のひらと植物 単色塗りつぶし">
            <a:extLst>
              <a:ext uri="{FF2B5EF4-FFF2-40B4-BE49-F238E27FC236}">
                <a16:creationId xmlns:a16="http://schemas.microsoft.com/office/drawing/2014/main" id="{F3776044-522D-3ED6-603C-0CCEEAE076E6}"/>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3932587" y="1713313"/>
            <a:ext cx="288000" cy="288000"/>
          </a:xfrm>
          <a:prstGeom prst="rect">
            <a:avLst/>
          </a:prstGeom>
        </p:spPr>
      </p:pic>
    </p:spTree>
    <p:extLst>
      <p:ext uri="{BB962C8B-B14F-4D97-AF65-F5344CB8AC3E}">
        <p14:creationId xmlns:p14="http://schemas.microsoft.com/office/powerpoint/2010/main" val="251636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DD66C-EB2B-CBF6-981C-871A2DB44D5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4DBFD18-805B-C703-0F04-E53DEC57B066}"/>
              </a:ext>
            </a:extLst>
          </p:cNvPr>
          <p:cNvSpPr>
            <a:spLocks noGrp="1"/>
          </p:cNvSpPr>
          <p:nvPr>
            <p:ph type="title"/>
          </p:nvPr>
        </p:nvSpPr>
        <p:spPr>
          <a:xfrm>
            <a:off x="334963" y="1"/>
            <a:ext cx="11522075" cy="914400"/>
          </a:xfrm>
        </p:spPr>
        <p:txBody>
          <a:bodyPr/>
          <a:lstStyle/>
          <a:p>
            <a:r>
              <a:rPr lang="ja-JP" altLang="en-US" dirty="0">
                <a:latin typeface="メイリオ" panose="020B0604030504040204" pitchFamily="50" charset="-128"/>
                <a:ea typeface="メイリオ" panose="020B0604030504040204" pitchFamily="50" charset="-128"/>
              </a:rPr>
              <a:t>出口 ― </a:t>
            </a:r>
            <a:br>
              <a:rPr lang="ja-JP" altLang="en-US" dirty="0">
                <a:latin typeface="メイリオ" panose="020B0604030504040204" pitchFamily="50" charset="-128"/>
                <a:ea typeface="メイリオ" panose="020B0604030504040204" pitchFamily="50" charset="-128"/>
              </a:rPr>
            </a:br>
            <a:r>
              <a:rPr lang="ja-JP" altLang="en-US" dirty="0">
                <a:latin typeface="メイリオ" panose="020B0604030504040204" pitchFamily="50" charset="-128"/>
                <a:ea typeface="メイリオ" panose="020B0604030504040204" pitchFamily="50" charset="-128"/>
              </a:rPr>
              <a:t>マーケティング・営業</a:t>
            </a:r>
            <a:r>
              <a:rPr lang="en-US" altLang="ja-JP" dirty="0">
                <a:latin typeface="メイリオ" panose="020B0604030504040204" pitchFamily="50" charset="-128"/>
                <a:ea typeface="メイリオ" panose="020B0604030504040204" pitchFamily="50" charset="-128"/>
              </a:rPr>
              <a:t>DX</a:t>
            </a:r>
            <a:r>
              <a:rPr lang="ja-JP" altLang="en-US" dirty="0">
                <a:latin typeface="メイリオ" panose="020B0604030504040204" pitchFamily="50" charset="-128"/>
                <a:ea typeface="メイリオ" panose="020B0604030504040204" pitchFamily="50" charset="-128"/>
              </a:rPr>
              <a:t>の姿 </a:t>
            </a:r>
            <a:r>
              <a:rPr lang="en-US" altLang="ja-JP" dirty="0">
                <a:latin typeface="メイリオ" panose="020B0604030504040204" pitchFamily="50" charset="-128"/>
                <a:ea typeface="メイリオ" panose="020B0604030504040204" pitchFamily="50" charset="-128"/>
              </a:rPr>
              <a:t>(Before → After)</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6358F60-1D5C-D723-EE7C-DABE59EDD19A}"/>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800" dirty="0">
                <a:latin typeface="+mn-ea"/>
                <a:ea typeface="+mn-ea"/>
              </a:rPr>
              <a:t>出口は戦略文書ではなく、現場の仕事の新しい姿が回っている状態。5つの経営テーマの答えを、誰の・どの業務が・どのデジタルで変わるかに着地させる</a:t>
            </a:r>
            <a:endParaRPr lang="ja-JP" altLang="en-US" sz="1800" dirty="0">
              <a:latin typeface="+mn-ea"/>
              <a:ea typeface="+mn-ea"/>
            </a:endParaRPr>
          </a:p>
        </p:txBody>
      </p:sp>
      <p:pic>
        <p:nvPicPr>
          <p:cNvPr id="82" name="グラフィックス 81" descr="No の記号 単色塗りつぶし">
            <a:extLst>
              <a:ext uri="{FF2B5EF4-FFF2-40B4-BE49-F238E27FC236}">
                <a16:creationId xmlns:a16="http://schemas.microsoft.com/office/drawing/2014/main" id="{3DDDA49F-2537-2DAC-7900-D265298AED4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89597" y="1642535"/>
            <a:ext cx="324568" cy="324568"/>
          </a:xfrm>
          <a:prstGeom prst="rect">
            <a:avLst/>
          </a:prstGeom>
        </p:spPr>
      </p:pic>
      <p:sp>
        <p:nvSpPr>
          <p:cNvPr id="83" name="正方形/長方形 7">
            <a:extLst>
              <a:ext uri="{FF2B5EF4-FFF2-40B4-BE49-F238E27FC236}">
                <a16:creationId xmlns:a16="http://schemas.microsoft.com/office/drawing/2014/main" id="{EFF5F7DC-E6D3-EFDF-191A-59184A467F7C}"/>
              </a:ext>
            </a:extLst>
          </p:cNvPr>
          <p:cNvSpPr/>
          <p:nvPr/>
        </p:nvSpPr>
        <p:spPr>
          <a:xfrm>
            <a:off x="3248922" y="1633400"/>
            <a:ext cx="4311691" cy="333703"/>
          </a:xfrm>
          <a:prstGeom prst="homePlate">
            <a:avLst>
              <a:gd name="adj" fmla="val 28868"/>
            </a:avLst>
          </a:prstGeom>
          <a:solidFill>
            <a:schemeClr val="accent3">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52000" tIns="36000" rIns="36000" bIns="36000" numCol="1" spcCol="0" rtlCol="0" fromWordArt="0" anchor="ctr" anchorCtr="0" forceAA="0" compatLnSpc="1">
            <a:prstTxWarp prst="textNoShape">
              <a:avLst/>
            </a:prstTxWarp>
            <a:noAutofit/>
          </a:bodyPr>
          <a:lstStyle/>
          <a:p>
            <a:pPr algn="ctr"/>
            <a:r>
              <a:rPr lang="en-US" altLang="ja-JP" sz="1600" dirty="0">
                <a:solidFill>
                  <a:schemeClr val="tx1"/>
                </a:solidFill>
                <a:latin typeface="+mn-ea"/>
              </a:rPr>
              <a:t>Before</a:t>
            </a:r>
          </a:p>
        </p:txBody>
      </p:sp>
      <p:sp>
        <p:nvSpPr>
          <p:cNvPr id="84" name="正方形/長方形 7">
            <a:extLst>
              <a:ext uri="{FF2B5EF4-FFF2-40B4-BE49-F238E27FC236}">
                <a16:creationId xmlns:a16="http://schemas.microsoft.com/office/drawing/2014/main" id="{27CEF53D-7E7B-C637-4E25-5699FDCD60DB}"/>
              </a:ext>
            </a:extLst>
          </p:cNvPr>
          <p:cNvSpPr/>
          <p:nvPr/>
        </p:nvSpPr>
        <p:spPr>
          <a:xfrm>
            <a:off x="7536947" y="1633400"/>
            <a:ext cx="4311691" cy="333703"/>
          </a:xfrm>
          <a:prstGeom prst="chevron">
            <a:avLst>
              <a:gd name="adj" fmla="val 28868"/>
            </a:avLst>
          </a:prstGeom>
          <a:solidFill>
            <a:srgbClr val="008D2E"/>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52000" tIns="36000" rIns="36000" bIns="36000" numCol="1" spcCol="0" rtlCol="0" fromWordArt="0" anchor="ctr" anchorCtr="0" forceAA="0" compatLnSpc="1">
            <a:prstTxWarp prst="textNoShape">
              <a:avLst/>
            </a:prstTxWarp>
            <a:noAutofit/>
          </a:bodyPr>
          <a:lstStyle/>
          <a:p>
            <a:pPr algn="ctr"/>
            <a:r>
              <a:rPr lang="en-US" altLang="ja-JP" sz="1600" dirty="0">
                <a:solidFill>
                  <a:schemeClr val="bg1"/>
                </a:solidFill>
                <a:latin typeface="+mn-ea"/>
              </a:rPr>
              <a:t>After</a:t>
            </a:r>
          </a:p>
        </p:txBody>
      </p:sp>
      <p:sp>
        <p:nvSpPr>
          <p:cNvPr id="4" name="正方形/長方形 3">
            <a:extLst>
              <a:ext uri="{FF2B5EF4-FFF2-40B4-BE49-F238E27FC236}">
                <a16:creationId xmlns:a16="http://schemas.microsoft.com/office/drawing/2014/main" id="{3D4A1A41-8D7C-F81D-920A-E50D055E5C78}"/>
              </a:ext>
            </a:extLst>
          </p:cNvPr>
          <p:cNvSpPr/>
          <p:nvPr/>
        </p:nvSpPr>
        <p:spPr>
          <a:xfrm>
            <a:off x="334961" y="2027262"/>
            <a:ext cx="1096797" cy="2086207"/>
          </a:xfrm>
          <a:prstGeom prst="rect">
            <a:avLst/>
          </a:prstGeom>
          <a:solidFill>
            <a:schemeClr val="accent3">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32000" rIns="36000" bIns="36000" numCol="1" spcCol="0" rtlCol="0" fromWordArt="0" anchor="ctr" anchorCtr="0" forceAA="0" compatLnSpc="1">
            <a:prstTxWarp prst="textNoShape">
              <a:avLst/>
            </a:prstTxWarp>
            <a:noAutofit/>
          </a:bodyPr>
          <a:lstStyle/>
          <a:p>
            <a:pPr algn="ctr">
              <a:spcAft>
                <a:spcPts val="600"/>
              </a:spcAft>
            </a:pPr>
            <a:r>
              <a:rPr lang="ja-JP" altLang="en-US" sz="1400" dirty="0">
                <a:solidFill>
                  <a:schemeClr val="accent5"/>
                </a:solidFill>
                <a:latin typeface="+mn-ea"/>
              </a:rPr>
              <a:t>マーケティングの</a:t>
            </a:r>
            <a:r>
              <a:rPr lang="en-US" altLang="ja-JP" sz="1400" dirty="0">
                <a:solidFill>
                  <a:schemeClr val="accent5"/>
                </a:solidFill>
                <a:latin typeface="+mn-ea"/>
              </a:rPr>
              <a:t>DX</a:t>
            </a:r>
          </a:p>
          <a:p>
            <a:pPr algn="ctr">
              <a:spcAft>
                <a:spcPts val="600"/>
              </a:spcAft>
            </a:pPr>
            <a:r>
              <a:rPr lang="ja-JP" altLang="en-US" sz="1200" dirty="0">
                <a:solidFill>
                  <a:schemeClr val="tx1"/>
                </a:solidFill>
                <a:latin typeface="+mn-ea"/>
              </a:rPr>
              <a:t>投資・コンテンツ・顧客基盤</a:t>
            </a:r>
          </a:p>
        </p:txBody>
      </p:sp>
      <p:sp>
        <p:nvSpPr>
          <p:cNvPr id="12" name="正方形/長方形 11">
            <a:extLst>
              <a:ext uri="{FF2B5EF4-FFF2-40B4-BE49-F238E27FC236}">
                <a16:creationId xmlns:a16="http://schemas.microsoft.com/office/drawing/2014/main" id="{411560C0-5F1C-0332-3D47-25F692B94299}"/>
              </a:ext>
            </a:extLst>
          </p:cNvPr>
          <p:cNvSpPr/>
          <p:nvPr/>
        </p:nvSpPr>
        <p:spPr>
          <a:xfrm>
            <a:off x="334963" y="4223085"/>
            <a:ext cx="1096797" cy="2086207"/>
          </a:xfrm>
          <a:prstGeom prst="rect">
            <a:avLst/>
          </a:prstGeom>
          <a:solidFill>
            <a:schemeClr val="accent3">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32000" rIns="36000" bIns="36000" numCol="1" spcCol="0" rtlCol="0" fromWordArt="0" anchor="ctr" anchorCtr="0" forceAA="0" compatLnSpc="1">
            <a:prstTxWarp prst="textNoShape">
              <a:avLst/>
            </a:prstTxWarp>
            <a:noAutofit/>
          </a:bodyPr>
          <a:lstStyle/>
          <a:p>
            <a:pPr algn="ctr">
              <a:spcAft>
                <a:spcPts val="600"/>
              </a:spcAft>
            </a:pPr>
            <a:r>
              <a:rPr lang="ja-JP" altLang="en-US" sz="1400" dirty="0">
                <a:solidFill>
                  <a:schemeClr val="accent5"/>
                </a:solidFill>
                <a:latin typeface="+mn-ea"/>
              </a:rPr>
              <a:t>営業の</a:t>
            </a:r>
            <a:r>
              <a:rPr lang="en-US" altLang="ja-JP" sz="1400" dirty="0">
                <a:solidFill>
                  <a:schemeClr val="accent5"/>
                </a:solidFill>
                <a:latin typeface="+mn-ea"/>
              </a:rPr>
              <a:t>DX</a:t>
            </a:r>
          </a:p>
          <a:p>
            <a:pPr algn="ctr">
              <a:spcAft>
                <a:spcPts val="600"/>
              </a:spcAft>
            </a:pPr>
            <a:r>
              <a:rPr lang="ja-JP" altLang="en-US" sz="1200" dirty="0">
                <a:solidFill>
                  <a:schemeClr val="tx1"/>
                </a:solidFill>
                <a:latin typeface="+mn-ea"/>
              </a:rPr>
              <a:t>商談・売場・</a:t>
            </a:r>
            <a:br>
              <a:rPr lang="en-US" altLang="ja-JP" sz="1200" dirty="0">
                <a:solidFill>
                  <a:schemeClr val="tx1"/>
                </a:solidFill>
                <a:latin typeface="+mn-ea"/>
              </a:rPr>
            </a:br>
            <a:r>
              <a:rPr lang="ja-JP" altLang="en-US" sz="1200" dirty="0">
                <a:solidFill>
                  <a:schemeClr val="tx1"/>
                </a:solidFill>
                <a:latin typeface="+mn-ea"/>
              </a:rPr>
              <a:t>体制</a:t>
            </a:r>
          </a:p>
        </p:txBody>
      </p:sp>
      <p:cxnSp>
        <p:nvCxnSpPr>
          <p:cNvPr id="37" name="直線コネクタ 36">
            <a:extLst>
              <a:ext uri="{FF2B5EF4-FFF2-40B4-BE49-F238E27FC236}">
                <a16:creationId xmlns:a16="http://schemas.microsoft.com/office/drawing/2014/main" id="{A86EA956-A1EF-31DC-7297-CDC6BACA89FF}"/>
              </a:ext>
            </a:extLst>
          </p:cNvPr>
          <p:cNvCxnSpPr/>
          <p:nvPr/>
        </p:nvCxnSpPr>
        <p:spPr>
          <a:xfrm>
            <a:off x="3248922" y="4168275"/>
            <a:ext cx="8607811" cy="0"/>
          </a:xfrm>
          <a:prstGeom prst="line">
            <a:avLst/>
          </a:prstGeom>
          <a:ln w="952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正方形/長方形 5">
            <a:extLst>
              <a:ext uri="{FF2B5EF4-FFF2-40B4-BE49-F238E27FC236}">
                <a16:creationId xmlns:a16="http://schemas.microsoft.com/office/drawing/2014/main" id="{D1236018-239E-CA22-AB59-3BF23A6D7DC6}"/>
              </a:ext>
            </a:extLst>
          </p:cNvPr>
          <p:cNvSpPr/>
          <p:nvPr/>
        </p:nvSpPr>
        <p:spPr>
          <a:xfrm>
            <a:off x="1520954" y="2027261"/>
            <a:ext cx="1655386" cy="464401"/>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468000" tIns="36000" rIns="36000" bIns="36000" numCol="1" spcCol="0" rtlCol="0" fromWordArt="0" anchor="ctr" anchorCtr="0" forceAA="0" compatLnSpc="1">
            <a:prstTxWarp prst="textNoShape">
              <a:avLst/>
            </a:prstTxWarp>
            <a:noAutofit/>
          </a:bodyPr>
          <a:lstStyle/>
          <a:p>
            <a:r>
              <a:rPr lang="ja-JP" altLang="en-US" sz="1400" dirty="0">
                <a:solidFill>
                  <a:schemeClr val="bg1"/>
                </a:solidFill>
                <a:latin typeface="+mn-ea"/>
              </a:rPr>
              <a:t>メディア投資</a:t>
            </a:r>
          </a:p>
        </p:txBody>
      </p:sp>
      <p:sp>
        <p:nvSpPr>
          <p:cNvPr id="85" name="正方形/長方形 5">
            <a:extLst>
              <a:ext uri="{FF2B5EF4-FFF2-40B4-BE49-F238E27FC236}">
                <a16:creationId xmlns:a16="http://schemas.microsoft.com/office/drawing/2014/main" id="{F384B340-A5F0-672D-C819-4AA50BD7711A}"/>
              </a:ext>
            </a:extLst>
          </p:cNvPr>
          <p:cNvSpPr/>
          <p:nvPr/>
        </p:nvSpPr>
        <p:spPr>
          <a:xfrm>
            <a:off x="1520954" y="2567862"/>
            <a:ext cx="1655386" cy="464401"/>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468000" tIns="36000" rIns="36000" bIns="36000" numCol="1" spcCol="0" rtlCol="0" fromWordArt="0" anchor="ctr" anchorCtr="0" forceAA="0" compatLnSpc="1">
            <a:prstTxWarp prst="textNoShape">
              <a:avLst/>
            </a:prstTxWarp>
            <a:noAutofit/>
          </a:bodyPr>
          <a:lstStyle/>
          <a:p>
            <a:r>
              <a:rPr lang="ja-JP" altLang="en-US" sz="1400" dirty="0">
                <a:solidFill>
                  <a:schemeClr val="bg1"/>
                </a:solidFill>
                <a:latin typeface="+mn-ea"/>
              </a:rPr>
              <a:t>コンテンツ</a:t>
            </a:r>
          </a:p>
        </p:txBody>
      </p:sp>
      <p:sp>
        <p:nvSpPr>
          <p:cNvPr id="86" name="正方形/長方形 5">
            <a:extLst>
              <a:ext uri="{FF2B5EF4-FFF2-40B4-BE49-F238E27FC236}">
                <a16:creationId xmlns:a16="http://schemas.microsoft.com/office/drawing/2014/main" id="{8E973141-AA7E-432A-738B-AF0550DFCFDB}"/>
              </a:ext>
            </a:extLst>
          </p:cNvPr>
          <p:cNvSpPr/>
          <p:nvPr/>
        </p:nvSpPr>
        <p:spPr>
          <a:xfrm>
            <a:off x="1520954" y="3108463"/>
            <a:ext cx="1655386" cy="464401"/>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468000" tIns="36000" rIns="36000" bIns="36000" numCol="1" spcCol="0" rtlCol="0" fromWordArt="0" anchor="ctr" anchorCtr="0" forceAA="0" compatLnSpc="1">
            <a:prstTxWarp prst="textNoShape">
              <a:avLst/>
            </a:prstTxWarp>
            <a:noAutofit/>
          </a:bodyPr>
          <a:lstStyle/>
          <a:p>
            <a:r>
              <a:rPr lang="ja-JP" altLang="en-US" sz="1400" dirty="0">
                <a:solidFill>
                  <a:schemeClr val="bg1"/>
                </a:solidFill>
                <a:latin typeface="+mn-ea"/>
              </a:rPr>
              <a:t>顧客基盤</a:t>
            </a:r>
          </a:p>
        </p:txBody>
      </p:sp>
      <p:sp>
        <p:nvSpPr>
          <p:cNvPr id="87" name="正方形/長方形 5">
            <a:extLst>
              <a:ext uri="{FF2B5EF4-FFF2-40B4-BE49-F238E27FC236}">
                <a16:creationId xmlns:a16="http://schemas.microsoft.com/office/drawing/2014/main" id="{C92E80F2-A387-162A-684C-583427B2EA84}"/>
              </a:ext>
            </a:extLst>
          </p:cNvPr>
          <p:cNvSpPr/>
          <p:nvPr/>
        </p:nvSpPr>
        <p:spPr>
          <a:xfrm>
            <a:off x="1520954" y="3649064"/>
            <a:ext cx="1655386" cy="464401"/>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468000" tIns="36000" rIns="36000" bIns="36000" numCol="1" spcCol="0" rtlCol="0" fromWordArt="0" anchor="ctr" anchorCtr="0" forceAA="0" compatLnSpc="1">
            <a:prstTxWarp prst="textNoShape">
              <a:avLst/>
            </a:prstTxWarp>
            <a:noAutofit/>
          </a:bodyPr>
          <a:lstStyle/>
          <a:p>
            <a:r>
              <a:rPr lang="en-US" altLang="ja-JP" sz="1400" dirty="0">
                <a:solidFill>
                  <a:schemeClr val="bg1"/>
                </a:solidFill>
                <a:latin typeface="+mn-ea"/>
              </a:rPr>
              <a:t>AI</a:t>
            </a:r>
            <a:r>
              <a:rPr lang="ja-JP" altLang="en-US" sz="1400" dirty="0">
                <a:solidFill>
                  <a:schemeClr val="bg1"/>
                </a:solidFill>
                <a:latin typeface="+mn-ea"/>
              </a:rPr>
              <a:t>接点の運用</a:t>
            </a:r>
          </a:p>
        </p:txBody>
      </p:sp>
      <p:sp>
        <p:nvSpPr>
          <p:cNvPr id="8" name="正方形/長方形 7">
            <a:extLst>
              <a:ext uri="{FF2B5EF4-FFF2-40B4-BE49-F238E27FC236}">
                <a16:creationId xmlns:a16="http://schemas.microsoft.com/office/drawing/2014/main" id="{ED9AF771-5D82-84BC-228A-3E62802DCE1E}"/>
              </a:ext>
            </a:extLst>
          </p:cNvPr>
          <p:cNvSpPr/>
          <p:nvPr/>
        </p:nvSpPr>
        <p:spPr>
          <a:xfrm>
            <a:off x="1520953" y="4223085"/>
            <a:ext cx="1655386" cy="464401"/>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468000" tIns="36000" rIns="36000" bIns="36000" numCol="1" spcCol="0" rtlCol="0" fromWordArt="0" anchor="ctr" anchorCtr="0" forceAA="0" compatLnSpc="1">
            <a:prstTxWarp prst="textNoShape">
              <a:avLst/>
            </a:prstTxWarp>
            <a:noAutofit/>
          </a:bodyPr>
          <a:lstStyle/>
          <a:p>
            <a:r>
              <a:rPr lang="ja-JP" altLang="en-US" sz="1400" dirty="0">
                <a:solidFill>
                  <a:schemeClr val="bg1"/>
                </a:solidFill>
                <a:latin typeface="+mn-ea"/>
              </a:rPr>
              <a:t>商談の準備</a:t>
            </a:r>
          </a:p>
        </p:txBody>
      </p:sp>
      <p:sp>
        <p:nvSpPr>
          <p:cNvPr id="10" name="正方形/長方形 5">
            <a:extLst>
              <a:ext uri="{FF2B5EF4-FFF2-40B4-BE49-F238E27FC236}">
                <a16:creationId xmlns:a16="http://schemas.microsoft.com/office/drawing/2014/main" id="{DCD79D67-4D06-F00F-3625-023B96E5A1E5}"/>
              </a:ext>
            </a:extLst>
          </p:cNvPr>
          <p:cNvSpPr/>
          <p:nvPr/>
        </p:nvSpPr>
        <p:spPr>
          <a:xfrm>
            <a:off x="1520953" y="4763686"/>
            <a:ext cx="1655386" cy="464401"/>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468000" tIns="36000" rIns="36000" bIns="36000" numCol="1" spcCol="0" rtlCol="0" fromWordArt="0" anchor="ctr" anchorCtr="0" forceAA="0" compatLnSpc="1">
            <a:prstTxWarp prst="textNoShape">
              <a:avLst/>
            </a:prstTxWarp>
            <a:noAutofit/>
          </a:bodyPr>
          <a:lstStyle/>
          <a:p>
            <a:r>
              <a:rPr lang="ja-JP" altLang="en-US" sz="1400" dirty="0">
                <a:solidFill>
                  <a:schemeClr val="bg1"/>
                </a:solidFill>
                <a:latin typeface="+mn-ea"/>
              </a:rPr>
              <a:t>商談の中身</a:t>
            </a:r>
          </a:p>
        </p:txBody>
      </p:sp>
      <p:sp>
        <p:nvSpPr>
          <p:cNvPr id="11" name="正方形/長方形 5">
            <a:extLst>
              <a:ext uri="{FF2B5EF4-FFF2-40B4-BE49-F238E27FC236}">
                <a16:creationId xmlns:a16="http://schemas.microsoft.com/office/drawing/2014/main" id="{FE8FB7A7-A3DF-E186-54F2-76659F01A2A3}"/>
              </a:ext>
            </a:extLst>
          </p:cNvPr>
          <p:cNvSpPr/>
          <p:nvPr/>
        </p:nvSpPr>
        <p:spPr>
          <a:xfrm>
            <a:off x="1520953" y="5304287"/>
            <a:ext cx="1655386" cy="464401"/>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468000" tIns="36000" rIns="36000" bIns="36000" numCol="1" spcCol="0" rtlCol="0" fromWordArt="0" anchor="ctr" anchorCtr="0" forceAA="0" compatLnSpc="1">
            <a:prstTxWarp prst="textNoShape">
              <a:avLst/>
            </a:prstTxWarp>
            <a:noAutofit/>
          </a:bodyPr>
          <a:lstStyle/>
          <a:p>
            <a:r>
              <a:rPr lang="ja-JP" altLang="en-US" sz="1400" dirty="0">
                <a:solidFill>
                  <a:schemeClr val="bg1"/>
                </a:solidFill>
                <a:latin typeface="+mn-ea"/>
              </a:rPr>
              <a:t>売場・接点</a:t>
            </a:r>
          </a:p>
        </p:txBody>
      </p:sp>
      <p:sp>
        <p:nvSpPr>
          <p:cNvPr id="13" name="正方形/長方形 5">
            <a:extLst>
              <a:ext uri="{FF2B5EF4-FFF2-40B4-BE49-F238E27FC236}">
                <a16:creationId xmlns:a16="http://schemas.microsoft.com/office/drawing/2014/main" id="{F14AF146-FFD4-2763-2FDA-4782B9B38434}"/>
              </a:ext>
            </a:extLst>
          </p:cNvPr>
          <p:cNvSpPr/>
          <p:nvPr/>
        </p:nvSpPr>
        <p:spPr>
          <a:xfrm>
            <a:off x="1520953" y="5844888"/>
            <a:ext cx="1655386" cy="464401"/>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468000" tIns="36000" rIns="36000" bIns="36000" numCol="1" spcCol="0" rtlCol="0" fromWordArt="0" anchor="ctr" anchorCtr="0" forceAA="0" compatLnSpc="1">
            <a:prstTxWarp prst="textNoShape">
              <a:avLst/>
            </a:prstTxWarp>
            <a:noAutofit/>
          </a:bodyPr>
          <a:lstStyle/>
          <a:p>
            <a:r>
              <a:rPr lang="ja-JP" altLang="en-US" sz="1400" dirty="0">
                <a:solidFill>
                  <a:schemeClr val="bg1"/>
                </a:solidFill>
                <a:latin typeface="+mn-ea"/>
              </a:rPr>
              <a:t>体制・評価</a:t>
            </a:r>
          </a:p>
        </p:txBody>
      </p:sp>
      <p:cxnSp>
        <p:nvCxnSpPr>
          <p:cNvPr id="38" name="直線コネクタ 37">
            <a:extLst>
              <a:ext uri="{FF2B5EF4-FFF2-40B4-BE49-F238E27FC236}">
                <a16:creationId xmlns:a16="http://schemas.microsoft.com/office/drawing/2014/main" id="{7999F28F-E444-6497-EF87-A0622792B36F}"/>
              </a:ext>
            </a:extLst>
          </p:cNvPr>
          <p:cNvCxnSpPr/>
          <p:nvPr/>
        </p:nvCxnSpPr>
        <p:spPr>
          <a:xfrm>
            <a:off x="3248922" y="2529762"/>
            <a:ext cx="4198624"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279310CE-70F3-ED12-BB50-186AE95F30CB}"/>
              </a:ext>
            </a:extLst>
          </p:cNvPr>
          <p:cNvSpPr/>
          <p:nvPr/>
        </p:nvSpPr>
        <p:spPr>
          <a:xfrm>
            <a:off x="3248922" y="2027261"/>
            <a:ext cx="4198625" cy="464401"/>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chemeClr val="accent5"/>
              </a:buClr>
            </a:pPr>
            <a:r>
              <a:rPr lang="ja-JP" altLang="en-US" sz="1400" dirty="0">
                <a:solidFill>
                  <a:schemeClr val="tx1"/>
                </a:solidFill>
                <a:latin typeface="+mn-ea"/>
              </a:rPr>
              <a:t>マス広告中心。効果測定は認知調査どまり</a:t>
            </a:r>
          </a:p>
        </p:txBody>
      </p:sp>
      <p:sp>
        <p:nvSpPr>
          <p:cNvPr id="18" name="正方形/長方形 17">
            <a:extLst>
              <a:ext uri="{FF2B5EF4-FFF2-40B4-BE49-F238E27FC236}">
                <a16:creationId xmlns:a16="http://schemas.microsoft.com/office/drawing/2014/main" id="{26B187F7-AB10-44A0-F66B-56ACEBACE031}"/>
              </a:ext>
            </a:extLst>
          </p:cNvPr>
          <p:cNvSpPr/>
          <p:nvPr/>
        </p:nvSpPr>
        <p:spPr>
          <a:xfrm>
            <a:off x="7536946" y="2027261"/>
            <a:ext cx="4311691" cy="464401"/>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chemeClr val="accent5"/>
              </a:buClr>
            </a:pPr>
            <a:r>
              <a:rPr lang="ja-JP" altLang="en-US" sz="1400" dirty="0">
                <a:solidFill>
                  <a:schemeClr val="accent5"/>
                </a:solidFill>
                <a:latin typeface="+mn-ea"/>
              </a:rPr>
              <a:t>リテールメディア・</a:t>
            </a:r>
            <a:r>
              <a:rPr lang="en-US" altLang="ja-JP" sz="1400" dirty="0">
                <a:solidFill>
                  <a:schemeClr val="accent5"/>
                </a:solidFill>
                <a:latin typeface="+mn-ea"/>
              </a:rPr>
              <a:t>AIEO</a:t>
            </a:r>
            <a:r>
              <a:rPr lang="ja-JP" altLang="en-US" sz="1400" dirty="0">
                <a:solidFill>
                  <a:schemeClr val="accent5"/>
                </a:solidFill>
                <a:latin typeface="+mn-ea"/>
              </a:rPr>
              <a:t>へ再配分し、</a:t>
            </a:r>
            <a:br>
              <a:rPr lang="en-US" altLang="ja-JP" sz="1400" dirty="0">
                <a:solidFill>
                  <a:schemeClr val="accent5"/>
                </a:solidFill>
                <a:latin typeface="+mn-ea"/>
              </a:rPr>
            </a:br>
            <a:r>
              <a:rPr lang="en-US" altLang="ja-JP" sz="1400" dirty="0">
                <a:solidFill>
                  <a:schemeClr val="accent5"/>
                </a:solidFill>
                <a:latin typeface="+mn-ea"/>
              </a:rPr>
              <a:t>MMM</a:t>
            </a:r>
            <a:r>
              <a:rPr lang="ja-JP" altLang="en-US" sz="1400" dirty="0">
                <a:solidFill>
                  <a:schemeClr val="accent5"/>
                </a:solidFill>
                <a:latin typeface="+mn-ea"/>
              </a:rPr>
              <a:t>＋増分実験で</a:t>
            </a:r>
            <a:r>
              <a:rPr lang="en-US" altLang="ja-JP" sz="1400" dirty="0">
                <a:solidFill>
                  <a:schemeClr val="accent5"/>
                </a:solidFill>
                <a:latin typeface="+mn-ea"/>
              </a:rPr>
              <a:t>ROI</a:t>
            </a:r>
            <a:r>
              <a:rPr lang="ja-JP" altLang="en-US" sz="1400" dirty="0">
                <a:solidFill>
                  <a:schemeClr val="accent5"/>
                </a:solidFill>
                <a:latin typeface="+mn-ea"/>
              </a:rPr>
              <a:t>を毎月運用　</a:t>
            </a:r>
          </a:p>
        </p:txBody>
      </p:sp>
      <p:cxnSp>
        <p:nvCxnSpPr>
          <p:cNvPr id="19" name="直線コネクタ 18">
            <a:extLst>
              <a:ext uri="{FF2B5EF4-FFF2-40B4-BE49-F238E27FC236}">
                <a16:creationId xmlns:a16="http://schemas.microsoft.com/office/drawing/2014/main" id="{148FFF15-3D4A-B10D-3B7C-E16C1EEEF861}"/>
              </a:ext>
            </a:extLst>
          </p:cNvPr>
          <p:cNvCxnSpPr/>
          <p:nvPr/>
        </p:nvCxnSpPr>
        <p:spPr>
          <a:xfrm>
            <a:off x="7536946" y="2529762"/>
            <a:ext cx="4311691"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BEB45291-C844-459F-5ACC-CF8F614DB5E6}"/>
              </a:ext>
            </a:extLst>
          </p:cNvPr>
          <p:cNvCxnSpPr/>
          <p:nvPr/>
        </p:nvCxnSpPr>
        <p:spPr>
          <a:xfrm>
            <a:off x="3248922" y="3070363"/>
            <a:ext cx="4198624"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18B9046A-3DEC-E832-D8E6-5A85C52B7B6E}"/>
              </a:ext>
            </a:extLst>
          </p:cNvPr>
          <p:cNvSpPr/>
          <p:nvPr/>
        </p:nvSpPr>
        <p:spPr>
          <a:xfrm>
            <a:off x="3248922" y="2567862"/>
            <a:ext cx="4198625" cy="464401"/>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chemeClr val="accent5"/>
              </a:buClr>
            </a:pPr>
            <a:r>
              <a:rPr lang="ja-JP" altLang="en-US" sz="1400" dirty="0">
                <a:solidFill>
                  <a:schemeClr val="tx1"/>
                </a:solidFill>
                <a:latin typeface="+mn-ea"/>
              </a:rPr>
              <a:t>広告クリエイティブの制作が中心</a:t>
            </a:r>
          </a:p>
        </p:txBody>
      </p:sp>
      <p:sp>
        <p:nvSpPr>
          <p:cNvPr id="24" name="正方形/長方形 23">
            <a:extLst>
              <a:ext uri="{FF2B5EF4-FFF2-40B4-BE49-F238E27FC236}">
                <a16:creationId xmlns:a16="http://schemas.microsoft.com/office/drawing/2014/main" id="{4B61D769-E0D8-1082-F685-6C53E1AA67D2}"/>
              </a:ext>
            </a:extLst>
          </p:cNvPr>
          <p:cNvSpPr/>
          <p:nvPr/>
        </p:nvSpPr>
        <p:spPr>
          <a:xfrm>
            <a:off x="7536946" y="2567862"/>
            <a:ext cx="4311691" cy="464401"/>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chemeClr val="accent5"/>
              </a:buClr>
            </a:pPr>
            <a:r>
              <a:rPr lang="ja-JP" altLang="en-US" sz="1400" dirty="0">
                <a:solidFill>
                  <a:schemeClr val="accent5"/>
                </a:solidFill>
                <a:latin typeface="+mn-ea"/>
              </a:rPr>
              <a:t>臨床エビデンスを「人向け」と「</a:t>
            </a:r>
            <a:r>
              <a:rPr lang="en-US" altLang="ja-JP" sz="1400" dirty="0">
                <a:solidFill>
                  <a:schemeClr val="accent5"/>
                </a:solidFill>
                <a:latin typeface="+mn-ea"/>
              </a:rPr>
              <a:t>AI</a:t>
            </a:r>
            <a:r>
              <a:rPr lang="ja-JP" altLang="en-US" sz="1400" dirty="0">
                <a:solidFill>
                  <a:schemeClr val="accent5"/>
                </a:solidFill>
                <a:latin typeface="+mn-ea"/>
              </a:rPr>
              <a:t>が引用する</a:t>
            </a:r>
            <a:br>
              <a:rPr lang="en-US" altLang="ja-JP" sz="1400" dirty="0">
                <a:solidFill>
                  <a:schemeClr val="accent5"/>
                </a:solidFill>
                <a:latin typeface="+mn-ea"/>
              </a:rPr>
            </a:br>
            <a:r>
              <a:rPr lang="ja-JP" altLang="en-US" sz="1400" dirty="0">
                <a:solidFill>
                  <a:schemeClr val="accent5"/>
                </a:solidFill>
                <a:latin typeface="+mn-ea"/>
              </a:rPr>
              <a:t>構造化データ」の両輪で生産　</a:t>
            </a:r>
          </a:p>
        </p:txBody>
      </p:sp>
      <p:cxnSp>
        <p:nvCxnSpPr>
          <p:cNvPr id="25" name="直線コネクタ 24">
            <a:extLst>
              <a:ext uri="{FF2B5EF4-FFF2-40B4-BE49-F238E27FC236}">
                <a16:creationId xmlns:a16="http://schemas.microsoft.com/office/drawing/2014/main" id="{66B5C44B-3193-891E-0791-1A55E9FEA215}"/>
              </a:ext>
            </a:extLst>
          </p:cNvPr>
          <p:cNvCxnSpPr/>
          <p:nvPr/>
        </p:nvCxnSpPr>
        <p:spPr>
          <a:xfrm>
            <a:off x="7536946" y="3070363"/>
            <a:ext cx="4319787"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A2286AE6-E2D9-F042-A022-B2E519538743}"/>
              </a:ext>
            </a:extLst>
          </p:cNvPr>
          <p:cNvCxnSpPr/>
          <p:nvPr/>
        </p:nvCxnSpPr>
        <p:spPr>
          <a:xfrm>
            <a:off x="3248922" y="3610963"/>
            <a:ext cx="4198624"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8" name="正方形/長方形 27">
            <a:extLst>
              <a:ext uri="{FF2B5EF4-FFF2-40B4-BE49-F238E27FC236}">
                <a16:creationId xmlns:a16="http://schemas.microsoft.com/office/drawing/2014/main" id="{596C8542-12A1-E8EA-1B3F-7F032BC2DA49}"/>
              </a:ext>
            </a:extLst>
          </p:cNvPr>
          <p:cNvSpPr/>
          <p:nvPr/>
        </p:nvSpPr>
        <p:spPr>
          <a:xfrm>
            <a:off x="3248922" y="3108462"/>
            <a:ext cx="4198625" cy="464401"/>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chemeClr val="accent5"/>
              </a:buClr>
            </a:pPr>
            <a:r>
              <a:rPr lang="ja-JP" altLang="en-US" sz="1400" dirty="0">
                <a:solidFill>
                  <a:schemeClr val="tx1"/>
                </a:solidFill>
                <a:latin typeface="+mn-ea"/>
              </a:rPr>
              <a:t>クーポン型</a:t>
            </a:r>
            <a:r>
              <a:rPr lang="en-US" altLang="ja-JP" sz="1400" dirty="0">
                <a:solidFill>
                  <a:schemeClr val="tx1"/>
                </a:solidFill>
                <a:latin typeface="+mn-ea"/>
              </a:rPr>
              <a:t>ID</a:t>
            </a:r>
            <a:r>
              <a:rPr lang="ja-JP" altLang="en-US" sz="1400" dirty="0">
                <a:solidFill>
                  <a:schemeClr val="tx1"/>
                </a:solidFill>
                <a:latin typeface="+mn-ea"/>
              </a:rPr>
              <a:t>・キャンペーン単位の</a:t>
            </a:r>
            <a:r>
              <a:rPr lang="en-US" altLang="ja-JP" sz="1400" dirty="0">
                <a:solidFill>
                  <a:schemeClr val="tx1"/>
                </a:solidFill>
                <a:latin typeface="+mn-ea"/>
              </a:rPr>
              <a:t>CRM</a:t>
            </a:r>
            <a:endParaRPr lang="ja-JP" altLang="en-US" sz="1400" dirty="0">
              <a:solidFill>
                <a:schemeClr val="tx1"/>
              </a:solidFill>
              <a:latin typeface="+mn-ea"/>
            </a:endParaRPr>
          </a:p>
        </p:txBody>
      </p:sp>
      <p:sp>
        <p:nvSpPr>
          <p:cNvPr id="29" name="正方形/長方形 28">
            <a:extLst>
              <a:ext uri="{FF2B5EF4-FFF2-40B4-BE49-F238E27FC236}">
                <a16:creationId xmlns:a16="http://schemas.microsoft.com/office/drawing/2014/main" id="{0B74F1DC-EE7D-9D6B-3D5D-ED44B85C6EF3}"/>
              </a:ext>
            </a:extLst>
          </p:cNvPr>
          <p:cNvSpPr/>
          <p:nvPr/>
        </p:nvSpPr>
        <p:spPr>
          <a:xfrm>
            <a:off x="7536946" y="3108462"/>
            <a:ext cx="4319787" cy="464401"/>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chemeClr val="accent5"/>
              </a:buClr>
            </a:pPr>
            <a:r>
              <a:rPr lang="ja-JP" altLang="en-US" sz="1400" dirty="0">
                <a:solidFill>
                  <a:schemeClr val="accent5"/>
                </a:solidFill>
                <a:latin typeface="+mn-ea"/>
              </a:rPr>
              <a:t>口腔健康</a:t>
            </a:r>
            <a:r>
              <a:rPr lang="en-US" altLang="ja-JP" sz="1400" dirty="0">
                <a:solidFill>
                  <a:schemeClr val="accent5"/>
                </a:solidFill>
                <a:latin typeface="+mn-ea"/>
              </a:rPr>
              <a:t>OS</a:t>
            </a:r>
            <a:r>
              <a:rPr lang="ja-JP" altLang="en-US" sz="1400" dirty="0">
                <a:solidFill>
                  <a:schemeClr val="accent5"/>
                </a:solidFill>
                <a:latin typeface="+mn-ea"/>
              </a:rPr>
              <a:t>としての</a:t>
            </a:r>
            <a:r>
              <a:rPr lang="en-US" altLang="ja-JP" sz="1400" dirty="0">
                <a:solidFill>
                  <a:schemeClr val="accent5"/>
                </a:solidFill>
                <a:latin typeface="+mn-ea"/>
              </a:rPr>
              <a:t>ID</a:t>
            </a:r>
            <a:r>
              <a:rPr lang="ja-JP" altLang="en-US" sz="1400" dirty="0">
                <a:solidFill>
                  <a:schemeClr val="accent5"/>
                </a:solidFill>
                <a:latin typeface="+mn-ea"/>
              </a:rPr>
              <a:t>運用。リピート・継続を</a:t>
            </a:r>
            <a:br>
              <a:rPr lang="en-US" altLang="ja-JP" sz="1400" dirty="0">
                <a:solidFill>
                  <a:schemeClr val="accent5"/>
                </a:solidFill>
                <a:latin typeface="+mn-ea"/>
              </a:rPr>
            </a:br>
            <a:r>
              <a:rPr lang="ja-JP" altLang="en-US" sz="1400" dirty="0">
                <a:solidFill>
                  <a:schemeClr val="accent5"/>
                </a:solidFill>
                <a:latin typeface="+mn-ea"/>
              </a:rPr>
              <a:t>行動データで追い</a:t>
            </a:r>
            <a:r>
              <a:rPr lang="en-US" altLang="ja-JP" sz="1400" dirty="0">
                <a:solidFill>
                  <a:schemeClr val="accent5"/>
                </a:solidFill>
                <a:latin typeface="+mn-ea"/>
              </a:rPr>
              <a:t>DCR</a:t>
            </a:r>
            <a:r>
              <a:rPr lang="ja-JP" altLang="en-US" sz="1400" dirty="0">
                <a:solidFill>
                  <a:schemeClr val="accent5"/>
                </a:solidFill>
                <a:latin typeface="+mn-ea"/>
              </a:rPr>
              <a:t>で接続　</a:t>
            </a:r>
          </a:p>
        </p:txBody>
      </p:sp>
      <p:cxnSp>
        <p:nvCxnSpPr>
          <p:cNvPr id="30" name="直線コネクタ 29">
            <a:extLst>
              <a:ext uri="{FF2B5EF4-FFF2-40B4-BE49-F238E27FC236}">
                <a16:creationId xmlns:a16="http://schemas.microsoft.com/office/drawing/2014/main" id="{675AA85E-D616-7278-48A1-CC6808255D6C}"/>
              </a:ext>
            </a:extLst>
          </p:cNvPr>
          <p:cNvCxnSpPr/>
          <p:nvPr/>
        </p:nvCxnSpPr>
        <p:spPr>
          <a:xfrm>
            <a:off x="7536946" y="3610963"/>
            <a:ext cx="4319787"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正方形/長方形 32">
            <a:extLst>
              <a:ext uri="{FF2B5EF4-FFF2-40B4-BE49-F238E27FC236}">
                <a16:creationId xmlns:a16="http://schemas.microsoft.com/office/drawing/2014/main" id="{4FB9CDF0-C48F-AD48-FF0A-FD3CA9E3650C}"/>
              </a:ext>
            </a:extLst>
          </p:cNvPr>
          <p:cNvSpPr/>
          <p:nvPr/>
        </p:nvSpPr>
        <p:spPr>
          <a:xfrm>
            <a:off x="3248922" y="3649064"/>
            <a:ext cx="4198625" cy="464401"/>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chemeClr val="accent5"/>
              </a:buClr>
            </a:pPr>
            <a:r>
              <a:rPr lang="en-US" altLang="ja-JP" sz="1400" dirty="0">
                <a:solidFill>
                  <a:schemeClr val="tx1"/>
                </a:solidFill>
                <a:latin typeface="+mn-ea"/>
              </a:rPr>
              <a:t>AI</a:t>
            </a:r>
            <a:r>
              <a:rPr lang="ja-JP" altLang="en-US" sz="1400" dirty="0">
                <a:solidFill>
                  <a:schemeClr val="tx1"/>
                </a:solidFill>
                <a:latin typeface="+mn-ea"/>
              </a:rPr>
              <a:t>にどう扱われるか未計測・未対応</a:t>
            </a:r>
          </a:p>
        </p:txBody>
      </p:sp>
      <p:sp>
        <p:nvSpPr>
          <p:cNvPr id="34" name="正方形/長方形 33">
            <a:extLst>
              <a:ext uri="{FF2B5EF4-FFF2-40B4-BE49-F238E27FC236}">
                <a16:creationId xmlns:a16="http://schemas.microsoft.com/office/drawing/2014/main" id="{210972AD-EC3B-D5C4-9234-2210F714B10A}"/>
              </a:ext>
            </a:extLst>
          </p:cNvPr>
          <p:cNvSpPr/>
          <p:nvPr/>
        </p:nvSpPr>
        <p:spPr>
          <a:xfrm>
            <a:off x="7536946" y="3649064"/>
            <a:ext cx="4319787" cy="464401"/>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chemeClr val="accent5"/>
              </a:buClr>
            </a:pPr>
            <a:r>
              <a:rPr lang="en-US" altLang="ja-JP" sz="1400" dirty="0">
                <a:solidFill>
                  <a:schemeClr val="accent5"/>
                </a:solidFill>
                <a:latin typeface="+mn-ea"/>
              </a:rPr>
              <a:t>AIEO Rate</a:t>
            </a:r>
            <a:r>
              <a:rPr lang="ja-JP" altLang="en-US" sz="1400" dirty="0">
                <a:solidFill>
                  <a:schemeClr val="accent5"/>
                </a:solidFill>
                <a:latin typeface="+mn-ea"/>
              </a:rPr>
              <a:t>月次監査</a:t>
            </a:r>
            <a:br>
              <a:rPr lang="en-US" altLang="ja-JP" sz="1400" dirty="0">
                <a:solidFill>
                  <a:schemeClr val="accent5"/>
                </a:solidFill>
                <a:latin typeface="+mn-ea"/>
              </a:rPr>
            </a:br>
            <a:r>
              <a:rPr lang="ja-JP" altLang="en-US" sz="1400" dirty="0">
                <a:solidFill>
                  <a:schemeClr val="accent5"/>
                </a:solidFill>
                <a:latin typeface="+mn-ea"/>
              </a:rPr>
              <a:t>→原因特定→情報修正のループを運用</a:t>
            </a:r>
          </a:p>
        </p:txBody>
      </p:sp>
      <p:cxnSp>
        <p:nvCxnSpPr>
          <p:cNvPr id="40" name="直線コネクタ 39">
            <a:extLst>
              <a:ext uri="{FF2B5EF4-FFF2-40B4-BE49-F238E27FC236}">
                <a16:creationId xmlns:a16="http://schemas.microsoft.com/office/drawing/2014/main" id="{67E68ABE-6377-5CB2-DE88-4E29634CE331}"/>
              </a:ext>
            </a:extLst>
          </p:cNvPr>
          <p:cNvCxnSpPr/>
          <p:nvPr/>
        </p:nvCxnSpPr>
        <p:spPr>
          <a:xfrm>
            <a:off x="3250827" y="4725586"/>
            <a:ext cx="4198624"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1" name="正方形/長方形 40">
            <a:extLst>
              <a:ext uri="{FF2B5EF4-FFF2-40B4-BE49-F238E27FC236}">
                <a16:creationId xmlns:a16="http://schemas.microsoft.com/office/drawing/2014/main" id="{AF63DD0C-F1F9-79B4-8CFE-28247F86C575}"/>
              </a:ext>
            </a:extLst>
          </p:cNvPr>
          <p:cNvSpPr/>
          <p:nvPr/>
        </p:nvSpPr>
        <p:spPr>
          <a:xfrm>
            <a:off x="3250827" y="4223085"/>
            <a:ext cx="4198625" cy="464401"/>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chemeClr val="accent5"/>
              </a:buClr>
            </a:pPr>
            <a:r>
              <a:rPr lang="ja-JP" altLang="en-US" sz="1400" dirty="0">
                <a:solidFill>
                  <a:schemeClr val="tx1"/>
                </a:solidFill>
                <a:latin typeface="+mn-ea"/>
              </a:rPr>
              <a:t>提案資料・実績集計を手作業で数時間</a:t>
            </a:r>
          </a:p>
        </p:txBody>
      </p:sp>
      <p:sp>
        <p:nvSpPr>
          <p:cNvPr id="42" name="正方形/長方形 41">
            <a:extLst>
              <a:ext uri="{FF2B5EF4-FFF2-40B4-BE49-F238E27FC236}">
                <a16:creationId xmlns:a16="http://schemas.microsoft.com/office/drawing/2014/main" id="{2F61CAE8-1EDB-F423-4597-16DC0AC02FD7}"/>
              </a:ext>
            </a:extLst>
          </p:cNvPr>
          <p:cNvSpPr/>
          <p:nvPr/>
        </p:nvSpPr>
        <p:spPr>
          <a:xfrm>
            <a:off x="7538851" y="4223085"/>
            <a:ext cx="4317882" cy="464401"/>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chemeClr val="accent5"/>
              </a:buClr>
            </a:pPr>
            <a:r>
              <a:rPr lang="ja-JP" altLang="en-US" sz="1400" dirty="0">
                <a:solidFill>
                  <a:schemeClr val="accent5"/>
                </a:solidFill>
                <a:latin typeface="+mn-ea"/>
              </a:rPr>
              <a:t>生成</a:t>
            </a:r>
            <a:r>
              <a:rPr lang="en-US" altLang="ja-JP" sz="1400" dirty="0">
                <a:solidFill>
                  <a:schemeClr val="accent5"/>
                </a:solidFill>
                <a:latin typeface="+mn-ea"/>
              </a:rPr>
              <a:t>AI×TPM</a:t>
            </a:r>
            <a:r>
              <a:rPr lang="ja-JP" altLang="en-US" sz="1400" dirty="0">
                <a:solidFill>
                  <a:schemeClr val="accent5"/>
                </a:solidFill>
                <a:latin typeface="+mn-ea"/>
              </a:rPr>
              <a:t>が提案書・</a:t>
            </a:r>
            <a:r>
              <a:rPr lang="en-US" altLang="ja-JP" sz="1400" dirty="0">
                <a:solidFill>
                  <a:schemeClr val="accent5"/>
                </a:solidFill>
                <a:latin typeface="+mn-ea"/>
              </a:rPr>
              <a:t>LTV</a:t>
            </a:r>
            <a:r>
              <a:rPr lang="ja-JP" altLang="en-US" sz="1400" dirty="0">
                <a:solidFill>
                  <a:schemeClr val="accent5"/>
                </a:solidFill>
                <a:latin typeface="+mn-ea"/>
              </a:rPr>
              <a:t>予測・炭素効率を自動生成。</a:t>
            </a:r>
            <a:br>
              <a:rPr lang="en-US" altLang="ja-JP" sz="1400" dirty="0">
                <a:solidFill>
                  <a:schemeClr val="accent5"/>
                </a:solidFill>
                <a:latin typeface="+mn-ea"/>
              </a:rPr>
            </a:br>
            <a:r>
              <a:rPr lang="ja-JP" altLang="en-US" sz="1400" dirty="0">
                <a:solidFill>
                  <a:schemeClr val="accent5"/>
                </a:solidFill>
                <a:latin typeface="+mn-ea"/>
              </a:rPr>
              <a:t>営業はレビューのみ　</a:t>
            </a:r>
          </a:p>
        </p:txBody>
      </p:sp>
      <p:cxnSp>
        <p:nvCxnSpPr>
          <p:cNvPr id="43" name="直線コネクタ 42">
            <a:extLst>
              <a:ext uri="{FF2B5EF4-FFF2-40B4-BE49-F238E27FC236}">
                <a16:creationId xmlns:a16="http://schemas.microsoft.com/office/drawing/2014/main" id="{50C40851-1539-5113-AED6-FF0C4A651E75}"/>
              </a:ext>
            </a:extLst>
          </p:cNvPr>
          <p:cNvCxnSpPr/>
          <p:nvPr/>
        </p:nvCxnSpPr>
        <p:spPr>
          <a:xfrm>
            <a:off x="7538851" y="4725586"/>
            <a:ext cx="4317882"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D2741AAD-EAA5-EC11-CB4B-5A3B5536F4D3}"/>
              </a:ext>
            </a:extLst>
          </p:cNvPr>
          <p:cNvCxnSpPr/>
          <p:nvPr/>
        </p:nvCxnSpPr>
        <p:spPr>
          <a:xfrm>
            <a:off x="3250827" y="5266187"/>
            <a:ext cx="4198624"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正方形/長方形 45">
            <a:extLst>
              <a:ext uri="{FF2B5EF4-FFF2-40B4-BE49-F238E27FC236}">
                <a16:creationId xmlns:a16="http://schemas.microsoft.com/office/drawing/2014/main" id="{8D3FDCEF-CD3B-2004-F5DF-C704E8B619A4}"/>
              </a:ext>
            </a:extLst>
          </p:cNvPr>
          <p:cNvSpPr/>
          <p:nvPr/>
        </p:nvSpPr>
        <p:spPr>
          <a:xfrm>
            <a:off x="3250827" y="4763686"/>
            <a:ext cx="4198625" cy="464401"/>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chemeClr val="accent5"/>
              </a:buClr>
            </a:pPr>
            <a:r>
              <a:rPr lang="ja-JP" altLang="en-US" sz="1400" dirty="0">
                <a:solidFill>
                  <a:schemeClr val="tx1"/>
                </a:solidFill>
                <a:latin typeface="+mn-ea"/>
              </a:rPr>
              <a:t>値引き・特売の条件交渉が中心</a:t>
            </a:r>
          </a:p>
        </p:txBody>
      </p:sp>
      <p:sp>
        <p:nvSpPr>
          <p:cNvPr id="47" name="正方形/長方形 46">
            <a:extLst>
              <a:ext uri="{FF2B5EF4-FFF2-40B4-BE49-F238E27FC236}">
                <a16:creationId xmlns:a16="http://schemas.microsoft.com/office/drawing/2014/main" id="{046DD78E-0F15-1EB7-D5F6-5340B59B6E2C}"/>
              </a:ext>
            </a:extLst>
          </p:cNvPr>
          <p:cNvSpPr/>
          <p:nvPr/>
        </p:nvSpPr>
        <p:spPr>
          <a:xfrm>
            <a:off x="7538851" y="4763686"/>
            <a:ext cx="4317882" cy="464401"/>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chemeClr val="accent5"/>
              </a:buClr>
            </a:pPr>
            <a:r>
              <a:rPr lang="ja-JP" altLang="en-US" sz="1400" dirty="0">
                <a:solidFill>
                  <a:schemeClr val="accent5"/>
                </a:solidFill>
                <a:latin typeface="+mn-ea"/>
              </a:rPr>
              <a:t>「値引き</a:t>
            </a:r>
            <a:r>
              <a:rPr lang="en-US" altLang="ja-JP" sz="1400" dirty="0">
                <a:solidFill>
                  <a:schemeClr val="accent5"/>
                </a:solidFill>
                <a:latin typeface="+mn-ea"/>
              </a:rPr>
              <a:t>70</a:t>
            </a:r>
            <a:r>
              <a:rPr lang="ja-JP" altLang="en-US" sz="1400" dirty="0">
                <a:solidFill>
                  <a:schemeClr val="accent5"/>
                </a:solidFill>
                <a:latin typeface="+mn-ea"/>
              </a:rPr>
              <a:t>＋施策</a:t>
            </a:r>
            <a:r>
              <a:rPr lang="en-US" altLang="ja-JP" sz="1400" dirty="0">
                <a:solidFill>
                  <a:schemeClr val="accent5"/>
                </a:solidFill>
                <a:latin typeface="+mn-ea"/>
              </a:rPr>
              <a:t>30</a:t>
            </a:r>
            <a:r>
              <a:rPr lang="ja-JP" altLang="en-US" sz="1400" dirty="0">
                <a:solidFill>
                  <a:schemeClr val="accent5"/>
                </a:solidFill>
                <a:latin typeface="+mn-ea"/>
              </a:rPr>
              <a:t>＋成果連動」</a:t>
            </a:r>
            <a:br>
              <a:rPr lang="en-US" altLang="ja-JP" sz="1400" dirty="0">
                <a:solidFill>
                  <a:schemeClr val="accent5"/>
                </a:solidFill>
                <a:latin typeface="+mn-ea"/>
              </a:rPr>
            </a:br>
            <a:r>
              <a:rPr lang="ja-JP" altLang="en-US" sz="1400" dirty="0">
                <a:solidFill>
                  <a:schemeClr val="accent5"/>
                </a:solidFill>
                <a:latin typeface="+mn-ea"/>
              </a:rPr>
              <a:t>＋小売データ共同検証の</a:t>
            </a:r>
            <a:r>
              <a:rPr lang="en-US" altLang="ja-JP" sz="1400" dirty="0">
                <a:solidFill>
                  <a:schemeClr val="accent5"/>
                </a:solidFill>
                <a:latin typeface="+mn-ea"/>
              </a:rPr>
              <a:t>JBP</a:t>
            </a:r>
            <a:r>
              <a:rPr lang="ja-JP" altLang="en-US" sz="1400" dirty="0">
                <a:solidFill>
                  <a:schemeClr val="accent5"/>
                </a:solidFill>
                <a:latin typeface="+mn-ea"/>
              </a:rPr>
              <a:t>商談へ　</a:t>
            </a:r>
          </a:p>
        </p:txBody>
      </p:sp>
      <p:cxnSp>
        <p:nvCxnSpPr>
          <p:cNvPr id="48" name="直線コネクタ 47">
            <a:extLst>
              <a:ext uri="{FF2B5EF4-FFF2-40B4-BE49-F238E27FC236}">
                <a16:creationId xmlns:a16="http://schemas.microsoft.com/office/drawing/2014/main" id="{E62B543E-AD9D-2CDB-1CCD-9AC7001186DC}"/>
              </a:ext>
            </a:extLst>
          </p:cNvPr>
          <p:cNvCxnSpPr/>
          <p:nvPr/>
        </p:nvCxnSpPr>
        <p:spPr>
          <a:xfrm>
            <a:off x="7538851" y="5266187"/>
            <a:ext cx="4317882"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3DB11183-FC8A-25BB-9956-16FBAC724364}"/>
              </a:ext>
            </a:extLst>
          </p:cNvPr>
          <p:cNvCxnSpPr/>
          <p:nvPr/>
        </p:nvCxnSpPr>
        <p:spPr>
          <a:xfrm>
            <a:off x="3250827" y="5806787"/>
            <a:ext cx="4198624"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1" name="正方形/長方形 50">
            <a:extLst>
              <a:ext uri="{FF2B5EF4-FFF2-40B4-BE49-F238E27FC236}">
                <a16:creationId xmlns:a16="http://schemas.microsoft.com/office/drawing/2014/main" id="{373A47FE-EC51-324A-5200-A29E2AB2B943}"/>
              </a:ext>
            </a:extLst>
          </p:cNvPr>
          <p:cNvSpPr/>
          <p:nvPr/>
        </p:nvSpPr>
        <p:spPr>
          <a:xfrm>
            <a:off x="3250827" y="5304286"/>
            <a:ext cx="4198625" cy="464401"/>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chemeClr val="accent5"/>
              </a:buClr>
            </a:pPr>
            <a:r>
              <a:rPr lang="ja-JP" altLang="en-US" sz="1400" dirty="0">
                <a:solidFill>
                  <a:schemeClr val="tx1"/>
                </a:solidFill>
                <a:latin typeface="+mn-ea"/>
              </a:rPr>
              <a:t>棚取り・チラシ枠交渉。店頭と</a:t>
            </a:r>
            <a:r>
              <a:rPr lang="en-US" altLang="ja-JP" sz="1400" dirty="0">
                <a:solidFill>
                  <a:schemeClr val="tx1"/>
                </a:solidFill>
                <a:latin typeface="+mn-ea"/>
              </a:rPr>
              <a:t>EC</a:t>
            </a:r>
            <a:r>
              <a:rPr lang="ja-JP" altLang="en-US" sz="1400" dirty="0">
                <a:solidFill>
                  <a:schemeClr val="tx1"/>
                </a:solidFill>
                <a:latin typeface="+mn-ea"/>
              </a:rPr>
              <a:t>は別管理</a:t>
            </a:r>
          </a:p>
        </p:txBody>
      </p:sp>
      <p:sp>
        <p:nvSpPr>
          <p:cNvPr id="52" name="正方形/長方形 51">
            <a:extLst>
              <a:ext uri="{FF2B5EF4-FFF2-40B4-BE49-F238E27FC236}">
                <a16:creationId xmlns:a16="http://schemas.microsoft.com/office/drawing/2014/main" id="{8FF590DE-35D4-541D-D0B3-AA13AFD35463}"/>
              </a:ext>
            </a:extLst>
          </p:cNvPr>
          <p:cNvSpPr/>
          <p:nvPr/>
        </p:nvSpPr>
        <p:spPr>
          <a:xfrm>
            <a:off x="7538851" y="5304286"/>
            <a:ext cx="4317882" cy="464401"/>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chemeClr val="accent5"/>
              </a:buClr>
            </a:pPr>
            <a:r>
              <a:rPr lang="ja-JP" altLang="en-US" sz="1400" dirty="0">
                <a:solidFill>
                  <a:schemeClr val="accent5"/>
                </a:solidFill>
                <a:latin typeface="+mn-ea"/>
              </a:rPr>
              <a:t>診断型売場</a:t>
            </a:r>
            <a:r>
              <a:rPr lang="en-US" altLang="ja-JP" sz="1400" dirty="0">
                <a:solidFill>
                  <a:schemeClr val="accent5"/>
                </a:solidFill>
                <a:latin typeface="+mn-ea"/>
              </a:rPr>
              <a:t>×</a:t>
            </a:r>
            <a:r>
              <a:rPr lang="ja-JP" altLang="en-US" sz="1400" dirty="0">
                <a:solidFill>
                  <a:schemeClr val="accent5"/>
                </a:solidFill>
                <a:latin typeface="+mn-ea"/>
              </a:rPr>
              <a:t>リテールメディアを共同運用。</a:t>
            </a:r>
            <a:br>
              <a:rPr lang="en-US" altLang="ja-JP" sz="1400" dirty="0">
                <a:solidFill>
                  <a:schemeClr val="accent5"/>
                </a:solidFill>
                <a:latin typeface="+mn-ea"/>
              </a:rPr>
            </a:br>
            <a:r>
              <a:rPr lang="ja-JP" altLang="en-US" sz="1400" dirty="0">
                <a:solidFill>
                  <a:schemeClr val="accent5"/>
                </a:solidFill>
                <a:latin typeface="+mn-ea"/>
              </a:rPr>
              <a:t>棚・</a:t>
            </a:r>
            <a:r>
              <a:rPr lang="en-US" altLang="ja-JP" sz="1400" dirty="0">
                <a:solidFill>
                  <a:schemeClr val="accent5"/>
                </a:solidFill>
                <a:latin typeface="+mn-ea"/>
              </a:rPr>
              <a:t>EC</a:t>
            </a:r>
            <a:r>
              <a:rPr lang="ja-JP" altLang="en-US" sz="1400" dirty="0">
                <a:solidFill>
                  <a:schemeClr val="accent5"/>
                </a:solidFill>
                <a:latin typeface="+mn-ea"/>
              </a:rPr>
              <a:t>・</a:t>
            </a:r>
            <a:r>
              <a:rPr lang="en-US" altLang="ja-JP" sz="1400" dirty="0">
                <a:solidFill>
                  <a:schemeClr val="accent5"/>
                </a:solidFill>
                <a:latin typeface="+mn-ea"/>
              </a:rPr>
              <a:t>AI</a:t>
            </a:r>
            <a:r>
              <a:rPr lang="ja-JP" altLang="en-US" sz="1400" dirty="0">
                <a:solidFill>
                  <a:schemeClr val="accent5"/>
                </a:solidFill>
                <a:latin typeface="+mn-ea"/>
              </a:rPr>
              <a:t>推奨を</a:t>
            </a:r>
            <a:r>
              <a:rPr lang="en-US" altLang="ja-JP" sz="1400" dirty="0">
                <a:solidFill>
                  <a:schemeClr val="accent5"/>
                </a:solidFill>
                <a:latin typeface="+mn-ea"/>
              </a:rPr>
              <a:t>TA</a:t>
            </a:r>
            <a:r>
              <a:rPr lang="ja-JP" altLang="en-US" sz="1400" dirty="0">
                <a:solidFill>
                  <a:schemeClr val="accent5"/>
                </a:solidFill>
                <a:latin typeface="+mn-ea"/>
              </a:rPr>
              <a:t>で一体管理　</a:t>
            </a:r>
          </a:p>
        </p:txBody>
      </p:sp>
      <p:cxnSp>
        <p:nvCxnSpPr>
          <p:cNvPr id="53" name="直線コネクタ 52">
            <a:extLst>
              <a:ext uri="{FF2B5EF4-FFF2-40B4-BE49-F238E27FC236}">
                <a16:creationId xmlns:a16="http://schemas.microsoft.com/office/drawing/2014/main" id="{3325BF83-CAEF-5DDD-E2FA-46F1C7DF6A9A}"/>
              </a:ext>
            </a:extLst>
          </p:cNvPr>
          <p:cNvCxnSpPr/>
          <p:nvPr/>
        </p:nvCxnSpPr>
        <p:spPr>
          <a:xfrm>
            <a:off x="7538851" y="5806787"/>
            <a:ext cx="4317882"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正方形/長方形 55">
            <a:extLst>
              <a:ext uri="{FF2B5EF4-FFF2-40B4-BE49-F238E27FC236}">
                <a16:creationId xmlns:a16="http://schemas.microsoft.com/office/drawing/2014/main" id="{5CE55DBD-061C-86B9-6082-26EF9A05D0C4}"/>
              </a:ext>
            </a:extLst>
          </p:cNvPr>
          <p:cNvSpPr/>
          <p:nvPr/>
        </p:nvSpPr>
        <p:spPr>
          <a:xfrm>
            <a:off x="3250827" y="5844887"/>
            <a:ext cx="4198625" cy="464401"/>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chemeClr val="accent5"/>
              </a:buClr>
            </a:pPr>
            <a:r>
              <a:rPr lang="en-US" altLang="ja-JP" sz="1400" dirty="0">
                <a:solidFill>
                  <a:schemeClr val="tx1"/>
                </a:solidFill>
                <a:latin typeface="+mn-ea"/>
              </a:rPr>
              <a:t>1</a:t>
            </a:r>
            <a:r>
              <a:rPr lang="ja-JP" altLang="en-US" sz="1400" dirty="0">
                <a:solidFill>
                  <a:schemeClr val="tx1"/>
                </a:solidFill>
                <a:latin typeface="+mn-ea"/>
              </a:rPr>
              <a:t>人</a:t>
            </a:r>
            <a:r>
              <a:rPr lang="en-US" altLang="ja-JP" sz="1400" dirty="0">
                <a:solidFill>
                  <a:schemeClr val="tx1"/>
                </a:solidFill>
                <a:latin typeface="+mn-ea"/>
              </a:rPr>
              <a:t>1</a:t>
            </a:r>
            <a:r>
              <a:rPr lang="ja-JP" altLang="en-US" sz="1400" dirty="0">
                <a:solidFill>
                  <a:schemeClr val="tx1"/>
                </a:solidFill>
                <a:latin typeface="+mn-ea"/>
              </a:rPr>
              <a:t>バイヤーの属人営業・売上評価のみ</a:t>
            </a:r>
          </a:p>
        </p:txBody>
      </p:sp>
      <p:sp>
        <p:nvSpPr>
          <p:cNvPr id="57" name="正方形/長方形 56">
            <a:extLst>
              <a:ext uri="{FF2B5EF4-FFF2-40B4-BE49-F238E27FC236}">
                <a16:creationId xmlns:a16="http://schemas.microsoft.com/office/drawing/2014/main" id="{9052E24B-A60B-7E29-63AE-F6863C37BA12}"/>
              </a:ext>
            </a:extLst>
          </p:cNvPr>
          <p:cNvSpPr/>
          <p:nvPr/>
        </p:nvSpPr>
        <p:spPr>
          <a:xfrm>
            <a:off x="7538851" y="5844887"/>
            <a:ext cx="4317882" cy="464401"/>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chemeClr val="accent5"/>
              </a:buClr>
            </a:pPr>
            <a:r>
              <a:rPr lang="ja-JP" altLang="en-US" sz="1400" dirty="0">
                <a:solidFill>
                  <a:schemeClr val="accent5"/>
                </a:solidFill>
                <a:latin typeface="+mn-ea"/>
              </a:rPr>
              <a:t>混成チーム </a:t>
            </a:r>
            <a:r>
              <a:rPr lang="en-US" altLang="ja-JP" sz="1400" dirty="0">
                <a:solidFill>
                  <a:schemeClr val="accent5"/>
                </a:solidFill>
                <a:latin typeface="+mn-ea"/>
              </a:rPr>
              <a:t>(</a:t>
            </a:r>
            <a:r>
              <a:rPr lang="ja-JP" altLang="en-US" sz="1400" dirty="0">
                <a:solidFill>
                  <a:schemeClr val="accent5"/>
                </a:solidFill>
                <a:latin typeface="+mn-ea"/>
              </a:rPr>
              <a:t>営業・ブランド・データ・</a:t>
            </a:r>
            <a:r>
              <a:rPr lang="en-US" altLang="ja-JP" sz="1400" dirty="0">
                <a:solidFill>
                  <a:schemeClr val="accent5"/>
                </a:solidFill>
                <a:latin typeface="+mn-ea"/>
              </a:rPr>
              <a:t>EC</a:t>
            </a:r>
            <a:r>
              <a:rPr lang="ja-JP" altLang="en-US" sz="1400" dirty="0">
                <a:solidFill>
                  <a:schemeClr val="accent5"/>
                </a:solidFill>
                <a:latin typeface="+mn-ea"/>
              </a:rPr>
              <a:t>・</a:t>
            </a:r>
            <a:r>
              <a:rPr lang="en-US" altLang="ja-JP" sz="1400" dirty="0">
                <a:solidFill>
                  <a:schemeClr val="accent5"/>
                </a:solidFill>
                <a:latin typeface="+mn-ea"/>
              </a:rPr>
              <a:t>SCM) </a:t>
            </a:r>
            <a:r>
              <a:rPr lang="ja-JP" altLang="en-US" sz="1400" dirty="0">
                <a:solidFill>
                  <a:schemeClr val="accent5"/>
                </a:solidFill>
                <a:latin typeface="+mn-ea"/>
              </a:rPr>
              <a:t>で</a:t>
            </a:r>
            <a:br>
              <a:rPr lang="en-US" altLang="ja-JP" sz="1400" dirty="0">
                <a:solidFill>
                  <a:schemeClr val="accent5"/>
                </a:solidFill>
                <a:latin typeface="+mn-ea"/>
              </a:rPr>
            </a:br>
            <a:r>
              <a:rPr lang="ja-JP" altLang="en-US" sz="1400" dirty="0">
                <a:solidFill>
                  <a:schemeClr val="accent5"/>
                </a:solidFill>
                <a:latin typeface="+mn-ea"/>
              </a:rPr>
              <a:t>増分粗利を共有</a:t>
            </a:r>
            <a:r>
              <a:rPr lang="en-US" altLang="ja-JP" sz="1400" dirty="0">
                <a:solidFill>
                  <a:schemeClr val="accent5"/>
                </a:solidFill>
                <a:latin typeface="+mn-ea"/>
              </a:rPr>
              <a:t>KPI</a:t>
            </a:r>
            <a:r>
              <a:rPr lang="ja-JP" altLang="en-US" sz="1400" dirty="0">
                <a:solidFill>
                  <a:schemeClr val="accent5"/>
                </a:solidFill>
                <a:latin typeface="+mn-ea"/>
              </a:rPr>
              <a:t>に　</a:t>
            </a:r>
          </a:p>
        </p:txBody>
      </p:sp>
      <p:grpSp>
        <p:nvGrpSpPr>
          <p:cNvPr id="65" name="グループ化 64">
            <a:extLst>
              <a:ext uri="{FF2B5EF4-FFF2-40B4-BE49-F238E27FC236}">
                <a16:creationId xmlns:a16="http://schemas.microsoft.com/office/drawing/2014/main" id="{20A9D84D-B2C5-C5DD-1163-6595CADCA25D}"/>
              </a:ext>
            </a:extLst>
          </p:cNvPr>
          <p:cNvGrpSpPr/>
          <p:nvPr/>
        </p:nvGrpSpPr>
        <p:grpSpPr>
          <a:xfrm>
            <a:off x="10853742" y="2288975"/>
            <a:ext cx="1002992" cy="207483"/>
            <a:chOff x="10821979" y="2288975"/>
            <a:chExt cx="1002992" cy="207483"/>
          </a:xfrm>
        </p:grpSpPr>
        <p:sp>
          <p:nvSpPr>
            <p:cNvPr id="60" name="正方形/長方形 59">
              <a:extLst>
                <a:ext uri="{FF2B5EF4-FFF2-40B4-BE49-F238E27FC236}">
                  <a16:creationId xmlns:a16="http://schemas.microsoft.com/office/drawing/2014/main" id="{0F85CB3D-E68C-A9F7-1DCA-C56D9066B226}"/>
                </a:ext>
              </a:extLst>
            </p:cNvPr>
            <p:cNvSpPr/>
            <p:nvPr/>
          </p:nvSpPr>
          <p:spPr>
            <a:xfrm>
              <a:off x="10821979" y="2288976"/>
              <a:ext cx="454807" cy="207482"/>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100" dirty="0">
                  <a:solidFill>
                    <a:srgbClr val="008D2E"/>
                  </a:solidFill>
                  <a:latin typeface="+mn-ea"/>
                </a:rPr>
                <a:t>B1</a:t>
              </a:r>
            </a:p>
          </p:txBody>
        </p:sp>
        <p:sp>
          <p:nvSpPr>
            <p:cNvPr id="61" name="正方形/長方形 60">
              <a:extLst>
                <a:ext uri="{FF2B5EF4-FFF2-40B4-BE49-F238E27FC236}">
                  <a16:creationId xmlns:a16="http://schemas.microsoft.com/office/drawing/2014/main" id="{177CDE5D-E054-ADFF-32B7-5BD80BAF32ED}"/>
                </a:ext>
              </a:extLst>
            </p:cNvPr>
            <p:cNvSpPr/>
            <p:nvPr/>
          </p:nvSpPr>
          <p:spPr>
            <a:xfrm>
              <a:off x="11370164" y="2288975"/>
              <a:ext cx="454807" cy="207482"/>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100" dirty="0">
                  <a:solidFill>
                    <a:srgbClr val="008D2E"/>
                  </a:solidFill>
                  <a:latin typeface="+mn-ea"/>
                </a:rPr>
                <a:t>B2</a:t>
              </a:r>
            </a:p>
          </p:txBody>
        </p:sp>
      </p:grpSp>
      <p:grpSp>
        <p:nvGrpSpPr>
          <p:cNvPr id="64" name="グループ化 63">
            <a:extLst>
              <a:ext uri="{FF2B5EF4-FFF2-40B4-BE49-F238E27FC236}">
                <a16:creationId xmlns:a16="http://schemas.microsoft.com/office/drawing/2014/main" id="{3E663364-4916-3656-162B-D29855157859}"/>
              </a:ext>
            </a:extLst>
          </p:cNvPr>
          <p:cNvGrpSpPr/>
          <p:nvPr/>
        </p:nvGrpSpPr>
        <p:grpSpPr>
          <a:xfrm>
            <a:off x="10853742" y="2846170"/>
            <a:ext cx="1002992" cy="207483"/>
            <a:chOff x="10853742" y="2846170"/>
            <a:chExt cx="1002992" cy="207483"/>
          </a:xfrm>
        </p:grpSpPr>
        <p:sp>
          <p:nvSpPr>
            <p:cNvPr id="62" name="正方形/長方形 61">
              <a:extLst>
                <a:ext uri="{FF2B5EF4-FFF2-40B4-BE49-F238E27FC236}">
                  <a16:creationId xmlns:a16="http://schemas.microsoft.com/office/drawing/2014/main" id="{89AE3FD2-BDCF-15B3-F0F0-50395FDBEE4F}"/>
                </a:ext>
              </a:extLst>
            </p:cNvPr>
            <p:cNvSpPr/>
            <p:nvPr/>
          </p:nvSpPr>
          <p:spPr>
            <a:xfrm>
              <a:off x="10853742" y="2846171"/>
              <a:ext cx="454807" cy="207482"/>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100" dirty="0">
                  <a:solidFill>
                    <a:srgbClr val="008D2E"/>
                  </a:solidFill>
                  <a:latin typeface="+mn-ea"/>
                </a:rPr>
                <a:t>A1</a:t>
              </a:r>
            </a:p>
          </p:txBody>
        </p:sp>
        <p:sp>
          <p:nvSpPr>
            <p:cNvPr id="63" name="正方形/長方形 62">
              <a:extLst>
                <a:ext uri="{FF2B5EF4-FFF2-40B4-BE49-F238E27FC236}">
                  <a16:creationId xmlns:a16="http://schemas.microsoft.com/office/drawing/2014/main" id="{7302B83E-C8BF-FE88-49D8-DC8B41873995}"/>
                </a:ext>
              </a:extLst>
            </p:cNvPr>
            <p:cNvSpPr/>
            <p:nvPr/>
          </p:nvSpPr>
          <p:spPr>
            <a:xfrm>
              <a:off x="11401927" y="2846170"/>
              <a:ext cx="454807" cy="207482"/>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100" dirty="0">
                  <a:solidFill>
                    <a:srgbClr val="008D2E"/>
                  </a:solidFill>
                  <a:latin typeface="+mn-ea"/>
                </a:rPr>
                <a:t>C1</a:t>
              </a:r>
            </a:p>
          </p:txBody>
        </p:sp>
      </p:grpSp>
      <p:grpSp>
        <p:nvGrpSpPr>
          <p:cNvPr id="66" name="グループ化 65">
            <a:extLst>
              <a:ext uri="{FF2B5EF4-FFF2-40B4-BE49-F238E27FC236}">
                <a16:creationId xmlns:a16="http://schemas.microsoft.com/office/drawing/2014/main" id="{E22ED955-1043-CF10-AB0D-DC0FED43DBE2}"/>
              </a:ext>
            </a:extLst>
          </p:cNvPr>
          <p:cNvGrpSpPr/>
          <p:nvPr/>
        </p:nvGrpSpPr>
        <p:grpSpPr>
          <a:xfrm>
            <a:off x="10853742" y="3373735"/>
            <a:ext cx="1002992" cy="207483"/>
            <a:chOff x="10853742" y="2846170"/>
            <a:chExt cx="1002992" cy="207483"/>
          </a:xfrm>
        </p:grpSpPr>
        <p:sp>
          <p:nvSpPr>
            <p:cNvPr id="67" name="正方形/長方形 66">
              <a:extLst>
                <a:ext uri="{FF2B5EF4-FFF2-40B4-BE49-F238E27FC236}">
                  <a16:creationId xmlns:a16="http://schemas.microsoft.com/office/drawing/2014/main" id="{CA11DDF0-5FB4-1800-D3C4-35BEC2336FB4}"/>
                </a:ext>
              </a:extLst>
            </p:cNvPr>
            <p:cNvSpPr/>
            <p:nvPr/>
          </p:nvSpPr>
          <p:spPr>
            <a:xfrm>
              <a:off x="10853742" y="2846171"/>
              <a:ext cx="454807" cy="207482"/>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100" dirty="0">
                  <a:solidFill>
                    <a:srgbClr val="008D2E"/>
                  </a:solidFill>
                  <a:latin typeface="+mn-ea"/>
                </a:rPr>
                <a:t>A2</a:t>
              </a:r>
            </a:p>
          </p:txBody>
        </p:sp>
        <p:sp>
          <p:nvSpPr>
            <p:cNvPr id="68" name="正方形/長方形 67">
              <a:extLst>
                <a:ext uri="{FF2B5EF4-FFF2-40B4-BE49-F238E27FC236}">
                  <a16:creationId xmlns:a16="http://schemas.microsoft.com/office/drawing/2014/main" id="{1CA2F5E0-661F-C5F5-F227-18C78D69E9D3}"/>
                </a:ext>
              </a:extLst>
            </p:cNvPr>
            <p:cNvSpPr/>
            <p:nvPr/>
          </p:nvSpPr>
          <p:spPr>
            <a:xfrm>
              <a:off x="11401927" y="2846170"/>
              <a:ext cx="454807" cy="207482"/>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100" dirty="0">
                  <a:solidFill>
                    <a:srgbClr val="008D2E"/>
                  </a:solidFill>
                  <a:latin typeface="+mn-ea"/>
                </a:rPr>
                <a:t>DCR</a:t>
              </a:r>
            </a:p>
          </p:txBody>
        </p:sp>
      </p:grpSp>
      <p:sp>
        <p:nvSpPr>
          <p:cNvPr id="71" name="正方形/長方形 70">
            <a:extLst>
              <a:ext uri="{FF2B5EF4-FFF2-40B4-BE49-F238E27FC236}">
                <a16:creationId xmlns:a16="http://schemas.microsoft.com/office/drawing/2014/main" id="{8FE63632-A084-E1F7-3624-187063F8591F}"/>
              </a:ext>
            </a:extLst>
          </p:cNvPr>
          <p:cNvSpPr/>
          <p:nvPr/>
        </p:nvSpPr>
        <p:spPr>
          <a:xfrm>
            <a:off x="11401927" y="3938170"/>
            <a:ext cx="454807" cy="207482"/>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100" dirty="0">
                <a:solidFill>
                  <a:srgbClr val="008D2E"/>
                </a:solidFill>
                <a:latin typeface="+mn-ea"/>
              </a:rPr>
              <a:t>A1</a:t>
            </a:r>
          </a:p>
        </p:txBody>
      </p:sp>
      <p:grpSp>
        <p:nvGrpSpPr>
          <p:cNvPr id="72" name="グループ化 71">
            <a:extLst>
              <a:ext uri="{FF2B5EF4-FFF2-40B4-BE49-F238E27FC236}">
                <a16:creationId xmlns:a16="http://schemas.microsoft.com/office/drawing/2014/main" id="{128CE4D7-5E01-11AB-5ADF-71D4807F3012}"/>
              </a:ext>
            </a:extLst>
          </p:cNvPr>
          <p:cNvGrpSpPr/>
          <p:nvPr/>
        </p:nvGrpSpPr>
        <p:grpSpPr>
          <a:xfrm>
            <a:off x="10853742" y="4495231"/>
            <a:ext cx="1002992" cy="207483"/>
            <a:chOff x="10853742" y="2846170"/>
            <a:chExt cx="1002992" cy="207483"/>
          </a:xfrm>
        </p:grpSpPr>
        <p:sp>
          <p:nvSpPr>
            <p:cNvPr id="73" name="正方形/長方形 72">
              <a:extLst>
                <a:ext uri="{FF2B5EF4-FFF2-40B4-BE49-F238E27FC236}">
                  <a16:creationId xmlns:a16="http://schemas.microsoft.com/office/drawing/2014/main" id="{F55623EA-27B0-4033-BED1-DC831409203F}"/>
                </a:ext>
              </a:extLst>
            </p:cNvPr>
            <p:cNvSpPr/>
            <p:nvPr/>
          </p:nvSpPr>
          <p:spPr>
            <a:xfrm>
              <a:off x="10853742" y="2846171"/>
              <a:ext cx="454807" cy="207482"/>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100" dirty="0">
                  <a:solidFill>
                    <a:srgbClr val="008D2E"/>
                  </a:solidFill>
                  <a:latin typeface="+mn-ea"/>
                </a:rPr>
                <a:t>C1</a:t>
              </a:r>
            </a:p>
          </p:txBody>
        </p:sp>
        <p:sp>
          <p:nvSpPr>
            <p:cNvPr id="74" name="正方形/長方形 73">
              <a:extLst>
                <a:ext uri="{FF2B5EF4-FFF2-40B4-BE49-F238E27FC236}">
                  <a16:creationId xmlns:a16="http://schemas.microsoft.com/office/drawing/2014/main" id="{CCAA1DA1-A150-81BA-0B8F-FE147A81A1CF}"/>
                </a:ext>
              </a:extLst>
            </p:cNvPr>
            <p:cNvSpPr/>
            <p:nvPr/>
          </p:nvSpPr>
          <p:spPr>
            <a:xfrm>
              <a:off x="11401927" y="2846170"/>
              <a:ext cx="454807" cy="207482"/>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100" dirty="0">
                  <a:solidFill>
                    <a:srgbClr val="008D2E"/>
                  </a:solidFill>
                  <a:latin typeface="+mn-ea"/>
                </a:rPr>
                <a:t>D1</a:t>
              </a:r>
            </a:p>
          </p:txBody>
        </p:sp>
      </p:grpSp>
      <p:grpSp>
        <p:nvGrpSpPr>
          <p:cNvPr id="75" name="グループ化 74">
            <a:extLst>
              <a:ext uri="{FF2B5EF4-FFF2-40B4-BE49-F238E27FC236}">
                <a16:creationId xmlns:a16="http://schemas.microsoft.com/office/drawing/2014/main" id="{22519801-59DA-CDF0-C762-39BFBC341A48}"/>
              </a:ext>
            </a:extLst>
          </p:cNvPr>
          <p:cNvGrpSpPr/>
          <p:nvPr/>
        </p:nvGrpSpPr>
        <p:grpSpPr>
          <a:xfrm>
            <a:off x="10853742" y="5037544"/>
            <a:ext cx="1002992" cy="207483"/>
            <a:chOff x="10853742" y="2846170"/>
            <a:chExt cx="1002992" cy="207483"/>
          </a:xfrm>
        </p:grpSpPr>
        <p:sp>
          <p:nvSpPr>
            <p:cNvPr id="76" name="正方形/長方形 75">
              <a:extLst>
                <a:ext uri="{FF2B5EF4-FFF2-40B4-BE49-F238E27FC236}">
                  <a16:creationId xmlns:a16="http://schemas.microsoft.com/office/drawing/2014/main" id="{58225DC6-719F-EF0B-2B1E-92F926A71DC9}"/>
                </a:ext>
              </a:extLst>
            </p:cNvPr>
            <p:cNvSpPr/>
            <p:nvPr/>
          </p:nvSpPr>
          <p:spPr>
            <a:xfrm>
              <a:off x="10853742" y="2846171"/>
              <a:ext cx="454807" cy="207482"/>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100" dirty="0">
                  <a:solidFill>
                    <a:srgbClr val="008D2E"/>
                  </a:solidFill>
                  <a:latin typeface="+mn-ea"/>
                </a:rPr>
                <a:t>C2</a:t>
              </a:r>
            </a:p>
          </p:txBody>
        </p:sp>
        <p:sp>
          <p:nvSpPr>
            <p:cNvPr id="77" name="正方形/長方形 76">
              <a:extLst>
                <a:ext uri="{FF2B5EF4-FFF2-40B4-BE49-F238E27FC236}">
                  <a16:creationId xmlns:a16="http://schemas.microsoft.com/office/drawing/2014/main" id="{9434DE05-2A8F-9897-5ADB-D2AADD106B8D}"/>
                </a:ext>
              </a:extLst>
            </p:cNvPr>
            <p:cNvSpPr/>
            <p:nvPr/>
          </p:nvSpPr>
          <p:spPr>
            <a:xfrm>
              <a:off x="11401927" y="2846170"/>
              <a:ext cx="454807" cy="207482"/>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100" dirty="0">
                  <a:solidFill>
                    <a:srgbClr val="008D2E"/>
                  </a:solidFill>
                  <a:latin typeface="+mn-ea"/>
                </a:rPr>
                <a:t>B1</a:t>
              </a:r>
            </a:p>
          </p:txBody>
        </p:sp>
      </p:grpSp>
      <p:sp>
        <p:nvSpPr>
          <p:cNvPr id="80" name="正方形/長方形 79">
            <a:extLst>
              <a:ext uri="{FF2B5EF4-FFF2-40B4-BE49-F238E27FC236}">
                <a16:creationId xmlns:a16="http://schemas.microsoft.com/office/drawing/2014/main" id="{262F5253-BF4D-63E5-073D-D2773F6BB270}"/>
              </a:ext>
            </a:extLst>
          </p:cNvPr>
          <p:cNvSpPr/>
          <p:nvPr/>
        </p:nvSpPr>
        <p:spPr>
          <a:xfrm>
            <a:off x="11401927" y="5565110"/>
            <a:ext cx="454807" cy="207482"/>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100" dirty="0">
                <a:solidFill>
                  <a:srgbClr val="008D2E"/>
                </a:solidFill>
                <a:latin typeface="+mn-ea"/>
              </a:rPr>
              <a:t>B2</a:t>
            </a:r>
          </a:p>
        </p:txBody>
      </p:sp>
      <p:sp>
        <p:nvSpPr>
          <p:cNvPr id="89" name="正方形/長方形 88">
            <a:extLst>
              <a:ext uri="{FF2B5EF4-FFF2-40B4-BE49-F238E27FC236}">
                <a16:creationId xmlns:a16="http://schemas.microsoft.com/office/drawing/2014/main" id="{A9E7AA4C-C514-2F5C-DA7E-6C142441F28C}"/>
              </a:ext>
            </a:extLst>
          </p:cNvPr>
          <p:cNvSpPr/>
          <p:nvPr/>
        </p:nvSpPr>
        <p:spPr>
          <a:xfrm>
            <a:off x="11401927" y="6100050"/>
            <a:ext cx="454807" cy="207482"/>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en-US" altLang="ja-JP" sz="1100" dirty="0">
                <a:solidFill>
                  <a:srgbClr val="008D2E"/>
                </a:solidFill>
                <a:latin typeface="+mn-ea"/>
              </a:rPr>
              <a:t>D2</a:t>
            </a:r>
          </a:p>
        </p:txBody>
      </p:sp>
      <p:pic>
        <p:nvPicPr>
          <p:cNvPr id="5" name="グラフィックス 4" descr="メガホン 単色塗りつぶし">
            <a:extLst>
              <a:ext uri="{FF2B5EF4-FFF2-40B4-BE49-F238E27FC236}">
                <a16:creationId xmlns:a16="http://schemas.microsoft.com/office/drawing/2014/main" id="{9AF3401B-778E-A0E3-1ED5-39B87465CD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5282" y="2270165"/>
            <a:ext cx="516155" cy="516155"/>
          </a:xfrm>
          <a:prstGeom prst="rect">
            <a:avLst/>
          </a:prstGeom>
        </p:spPr>
      </p:pic>
      <p:pic>
        <p:nvPicPr>
          <p:cNvPr id="14" name="グラフィックス 13" descr="役員室 単色塗りつぶし">
            <a:extLst>
              <a:ext uri="{FF2B5EF4-FFF2-40B4-BE49-F238E27FC236}">
                <a16:creationId xmlns:a16="http://schemas.microsoft.com/office/drawing/2014/main" id="{4040CBC7-3E50-F8C8-805F-D30295246B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5282" y="4631115"/>
            <a:ext cx="516155" cy="516155"/>
          </a:xfrm>
          <a:prstGeom prst="rect">
            <a:avLst/>
          </a:prstGeom>
        </p:spPr>
      </p:pic>
      <p:pic>
        <p:nvPicPr>
          <p:cNvPr id="16" name="グラフィックス 15" descr="リボン 単色塗りつぶし">
            <a:extLst>
              <a:ext uri="{FF2B5EF4-FFF2-40B4-BE49-F238E27FC236}">
                <a16:creationId xmlns:a16="http://schemas.microsoft.com/office/drawing/2014/main" id="{D5352E7C-6D66-F393-6B9C-D645F0DA35C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81539" y="5883190"/>
            <a:ext cx="387795" cy="387795"/>
          </a:xfrm>
          <a:prstGeom prst="rect">
            <a:avLst/>
          </a:prstGeom>
        </p:spPr>
      </p:pic>
      <p:pic>
        <p:nvPicPr>
          <p:cNvPr id="21" name="グラフィックス 20" descr="チャット 単色塗りつぶし">
            <a:extLst>
              <a:ext uri="{FF2B5EF4-FFF2-40B4-BE49-F238E27FC236}">
                <a16:creationId xmlns:a16="http://schemas.microsoft.com/office/drawing/2014/main" id="{9406F728-E6F7-8797-F3DE-B621C470AC2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81539" y="5342589"/>
            <a:ext cx="387795" cy="387795"/>
          </a:xfrm>
          <a:prstGeom prst="rect">
            <a:avLst/>
          </a:prstGeom>
        </p:spPr>
      </p:pic>
      <p:pic>
        <p:nvPicPr>
          <p:cNvPr id="31" name="グラフィックス 30" descr="会議 単色塗りつぶし">
            <a:extLst>
              <a:ext uri="{FF2B5EF4-FFF2-40B4-BE49-F238E27FC236}">
                <a16:creationId xmlns:a16="http://schemas.microsoft.com/office/drawing/2014/main" id="{011B3D79-0D75-EFF2-F8F0-2A9979B71E8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81539" y="4801989"/>
            <a:ext cx="387795" cy="387795"/>
          </a:xfrm>
          <a:prstGeom prst="rect">
            <a:avLst/>
          </a:prstGeom>
        </p:spPr>
      </p:pic>
      <p:pic>
        <p:nvPicPr>
          <p:cNvPr id="35" name="グラフィックス 34" descr="ドキュメント 単色塗りつぶし">
            <a:extLst>
              <a:ext uri="{FF2B5EF4-FFF2-40B4-BE49-F238E27FC236}">
                <a16:creationId xmlns:a16="http://schemas.microsoft.com/office/drawing/2014/main" id="{A72183A0-7107-1BEB-F3BB-9AE760DA9CB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581539" y="4261388"/>
            <a:ext cx="387795" cy="387795"/>
          </a:xfrm>
          <a:prstGeom prst="rect">
            <a:avLst/>
          </a:prstGeom>
        </p:spPr>
      </p:pic>
      <p:pic>
        <p:nvPicPr>
          <p:cNvPr id="39" name="グラフィックス 38" descr="データベース 単色塗りつぶし">
            <a:extLst>
              <a:ext uri="{FF2B5EF4-FFF2-40B4-BE49-F238E27FC236}">
                <a16:creationId xmlns:a16="http://schemas.microsoft.com/office/drawing/2014/main" id="{04A96F3A-D071-3E8A-299A-863C72D9E23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581539" y="3146765"/>
            <a:ext cx="387795" cy="387795"/>
          </a:xfrm>
          <a:prstGeom prst="rect">
            <a:avLst/>
          </a:prstGeom>
        </p:spPr>
      </p:pic>
      <p:pic>
        <p:nvPicPr>
          <p:cNvPr id="49" name="グラフィックス 48" descr="人工知能 単色塗りつぶし">
            <a:extLst>
              <a:ext uri="{FF2B5EF4-FFF2-40B4-BE49-F238E27FC236}">
                <a16:creationId xmlns:a16="http://schemas.microsoft.com/office/drawing/2014/main" id="{40CA3202-DF7C-DB21-D1AB-1EAED3B8A97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581539" y="3687367"/>
            <a:ext cx="387795" cy="387795"/>
          </a:xfrm>
          <a:prstGeom prst="rect">
            <a:avLst/>
          </a:prstGeom>
        </p:spPr>
      </p:pic>
      <p:pic>
        <p:nvPicPr>
          <p:cNvPr id="55" name="グラフィックス 54" descr="イラストレーター 単色塗りつぶし">
            <a:extLst>
              <a:ext uri="{FF2B5EF4-FFF2-40B4-BE49-F238E27FC236}">
                <a16:creationId xmlns:a16="http://schemas.microsoft.com/office/drawing/2014/main" id="{ADA89BDE-4A51-AC60-F87B-71208768417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81539" y="2606165"/>
            <a:ext cx="387795" cy="387795"/>
          </a:xfrm>
          <a:prstGeom prst="rect">
            <a:avLst/>
          </a:prstGeom>
        </p:spPr>
      </p:pic>
      <p:pic>
        <p:nvPicPr>
          <p:cNvPr id="59" name="グラフィックス 58" descr="硬貨 単色塗りつぶし">
            <a:extLst>
              <a:ext uri="{FF2B5EF4-FFF2-40B4-BE49-F238E27FC236}">
                <a16:creationId xmlns:a16="http://schemas.microsoft.com/office/drawing/2014/main" id="{EB5774B1-5D71-2E2B-42FA-DD3AEE086FD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581539" y="2062386"/>
            <a:ext cx="387795" cy="387795"/>
          </a:xfrm>
          <a:prstGeom prst="rect">
            <a:avLst/>
          </a:prstGeom>
        </p:spPr>
      </p:pic>
    </p:spTree>
    <p:extLst>
      <p:ext uri="{BB962C8B-B14F-4D97-AF65-F5344CB8AC3E}">
        <p14:creationId xmlns:p14="http://schemas.microsoft.com/office/powerpoint/2010/main" val="1711964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41545-8B1B-F96B-C9E8-60A3111ECE6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84C45A6-4E43-FD66-E0D3-531E51460818}"/>
              </a:ext>
            </a:extLst>
          </p:cNvPr>
          <p:cNvSpPr>
            <a:spLocks noGrp="1"/>
          </p:cNvSpPr>
          <p:nvPr>
            <p:ph type="title"/>
          </p:nvPr>
        </p:nvSpPr>
        <p:spPr>
          <a:xfrm>
            <a:off x="334963" y="1"/>
            <a:ext cx="11522075" cy="914400"/>
          </a:xfrm>
        </p:spPr>
        <p:txBody>
          <a:bodyPr/>
          <a:lstStyle/>
          <a:p>
            <a:r>
              <a:rPr lang="en-US" altLang="ja-JP" dirty="0">
                <a:latin typeface="メイリオ" panose="020B0604030504040204" pitchFamily="50" charset="-128"/>
                <a:ea typeface="メイリオ" panose="020B0604030504040204" pitchFamily="50" charset="-128"/>
              </a:rPr>
              <a:t>KGI / KPI</a:t>
            </a:r>
            <a:r>
              <a:rPr lang="ja-JP" altLang="en-US" dirty="0">
                <a:latin typeface="メイリオ" panose="020B0604030504040204" pitchFamily="50" charset="-128"/>
                <a:ea typeface="メイリオ" panose="020B0604030504040204" pitchFamily="50" charset="-128"/>
              </a:rPr>
              <a:t>体系 </a:t>
            </a:r>
            <a:r>
              <a:rPr lang="en-US" altLang="ja-JP" dirty="0">
                <a:latin typeface="メイリオ" panose="020B0604030504040204" pitchFamily="50" charset="-128"/>
                <a:ea typeface="メイリオ" panose="020B0604030504040204" pitchFamily="50" charset="-128"/>
              </a:rPr>
              <a:t>― </a:t>
            </a:r>
            <a:r>
              <a:rPr lang="ja-JP" altLang="en-US" dirty="0">
                <a:latin typeface="メイリオ" panose="020B0604030504040204" pitchFamily="50" charset="-128"/>
                <a:ea typeface="メイリオ" panose="020B0604030504040204" pitchFamily="50" charset="-128"/>
              </a:rPr>
              <a:t>最上位</a:t>
            </a:r>
            <a:r>
              <a:rPr lang="en-US" altLang="ja-JP" dirty="0">
                <a:latin typeface="メイリオ" panose="020B0604030504040204" pitchFamily="50" charset="-128"/>
                <a:ea typeface="メイリオ" panose="020B0604030504040204" pitchFamily="50" charset="-128"/>
              </a:rPr>
              <a:t>KPI</a:t>
            </a:r>
            <a:r>
              <a:rPr lang="ja-JP" altLang="en-US" dirty="0">
                <a:latin typeface="メイリオ" panose="020B0604030504040204" pitchFamily="50" charset="-128"/>
                <a:ea typeface="メイリオ" panose="020B0604030504040204" pitchFamily="50" charset="-128"/>
              </a:rPr>
              <a:t>とライオン固有のユニーク</a:t>
            </a:r>
            <a:r>
              <a:rPr lang="en-US" altLang="ja-JP" dirty="0">
                <a:latin typeface="メイリオ" panose="020B0604030504040204" pitchFamily="50" charset="-128"/>
                <a:ea typeface="メイリオ" panose="020B0604030504040204" pitchFamily="50" charset="-128"/>
              </a:rPr>
              <a:t>KPI</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877CEB09-5098-E0AC-DB46-F41967373C96}"/>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頂点は「増分粗利 </a:t>
            </a:r>
            <a:r>
              <a:rPr lang="en-US" altLang="ja-JP" sz="1800" dirty="0">
                <a:latin typeface="+mn-ea"/>
                <a:ea typeface="+mn-ea"/>
              </a:rPr>
              <a:t>(</a:t>
            </a:r>
            <a:r>
              <a:rPr lang="ja-JP" altLang="en-US" sz="1800" dirty="0">
                <a:latin typeface="+mn-ea"/>
                <a:ea typeface="+mn-ea"/>
              </a:rPr>
              <a:t>オーラルケア</a:t>
            </a:r>
            <a:r>
              <a:rPr lang="en-US" altLang="ja-JP" sz="1800" dirty="0">
                <a:latin typeface="+mn-ea"/>
                <a:ea typeface="+mn-ea"/>
              </a:rPr>
              <a:t>) </a:t>
            </a:r>
            <a:r>
              <a:rPr lang="ja-JP" altLang="en-US" sz="1800" dirty="0">
                <a:latin typeface="+mn-ea"/>
                <a:ea typeface="+mn-ea"/>
              </a:rPr>
              <a:t>」＝施策がなかった場合との差分で測る変革の正味効果。新規 </a:t>
            </a:r>
            <a:r>
              <a:rPr lang="en-US" altLang="ja-JP" sz="1800" dirty="0">
                <a:latin typeface="+mn-ea"/>
                <a:ea typeface="+mn-ea"/>
              </a:rPr>
              <a:t>(N-t-C) </a:t>
            </a:r>
            <a:r>
              <a:rPr lang="ja-JP" altLang="en-US" sz="1800" dirty="0">
                <a:latin typeface="+mn-ea"/>
                <a:ea typeface="+mn-ea"/>
              </a:rPr>
              <a:t>と継続 </a:t>
            </a:r>
            <a:r>
              <a:rPr lang="en-US" altLang="ja-JP" sz="1800" dirty="0">
                <a:latin typeface="+mn-ea"/>
                <a:ea typeface="+mn-ea"/>
              </a:rPr>
              <a:t>(LTV) </a:t>
            </a:r>
            <a:r>
              <a:rPr lang="ja-JP" altLang="en-US" sz="1800" dirty="0">
                <a:latin typeface="+mn-ea"/>
                <a:ea typeface="+mn-ea"/>
              </a:rPr>
              <a:t>の</a:t>
            </a:r>
            <a:r>
              <a:rPr lang="en-US" altLang="ja-JP" sz="1800" dirty="0">
                <a:latin typeface="+mn-ea"/>
                <a:ea typeface="+mn-ea"/>
              </a:rPr>
              <a:t>2</a:t>
            </a:r>
            <a:r>
              <a:rPr lang="ja-JP" altLang="en-US" sz="1800" dirty="0">
                <a:latin typeface="+mn-ea"/>
                <a:ea typeface="+mn-ea"/>
              </a:rPr>
              <a:t>本の枝に、固有</a:t>
            </a:r>
            <a:r>
              <a:rPr lang="en-US" altLang="ja-JP" sz="1800" dirty="0">
                <a:latin typeface="+mn-ea"/>
                <a:ea typeface="+mn-ea"/>
              </a:rPr>
              <a:t>KPI</a:t>
            </a:r>
            <a:r>
              <a:rPr lang="ja-JP" altLang="en-US" sz="1800" dirty="0">
                <a:latin typeface="+mn-ea"/>
                <a:ea typeface="+mn-ea"/>
              </a:rPr>
              <a:t>をぶら下げる</a:t>
            </a:r>
          </a:p>
        </p:txBody>
      </p:sp>
      <p:grpSp>
        <p:nvGrpSpPr>
          <p:cNvPr id="17" name="グループ化 16">
            <a:extLst>
              <a:ext uri="{FF2B5EF4-FFF2-40B4-BE49-F238E27FC236}">
                <a16:creationId xmlns:a16="http://schemas.microsoft.com/office/drawing/2014/main" id="{7633E5AF-3F16-2578-2767-3DB2D4F34F5B}"/>
              </a:ext>
            </a:extLst>
          </p:cNvPr>
          <p:cNvGrpSpPr/>
          <p:nvPr/>
        </p:nvGrpSpPr>
        <p:grpSpPr>
          <a:xfrm>
            <a:off x="334962" y="1628776"/>
            <a:ext cx="11522074" cy="4673635"/>
            <a:chOff x="334962" y="1628776"/>
            <a:chExt cx="11522074" cy="4673635"/>
          </a:xfrm>
        </p:grpSpPr>
        <p:sp>
          <p:nvSpPr>
            <p:cNvPr id="6" name="テキスト ボックス 5">
              <a:extLst>
                <a:ext uri="{FF2B5EF4-FFF2-40B4-BE49-F238E27FC236}">
                  <a16:creationId xmlns:a16="http://schemas.microsoft.com/office/drawing/2014/main" id="{02540A15-5A9D-F6E5-B526-6A96538F6DFF}"/>
                </a:ext>
              </a:extLst>
            </p:cNvPr>
            <p:cNvSpPr txBox="1"/>
            <p:nvPr/>
          </p:nvSpPr>
          <p:spPr>
            <a:xfrm>
              <a:off x="334962" y="6095247"/>
              <a:ext cx="11522072" cy="207164"/>
            </a:xfrm>
            <a:prstGeom prst="rect">
              <a:avLst/>
            </a:prstGeom>
            <a:noFill/>
          </p:spPr>
          <p:txBody>
            <a:bodyPr wrap="square" lIns="36000" tIns="36000" rIns="0" bIns="36000">
              <a:spAutoFit/>
            </a:bodyPr>
            <a:lstStyle/>
            <a:p>
              <a:pPr>
                <a:lnSpc>
                  <a:spcPct val="115000"/>
                </a:lnSpc>
              </a:pPr>
              <a:r>
                <a:rPr lang="ja-JP" altLang="en-US" sz="850" dirty="0">
                  <a:solidFill>
                    <a:srgbClr val="008D2E"/>
                  </a:solidFill>
                  <a:latin typeface="+mn-ea"/>
                </a:rPr>
                <a:t>測定ルール</a:t>
              </a:r>
              <a:r>
                <a:rPr lang="ja-JP" altLang="en-US" sz="850" b="1" dirty="0">
                  <a:solidFill>
                    <a:srgbClr val="008D2E"/>
                  </a:solidFill>
                  <a:latin typeface="+mn-ea"/>
                </a:rPr>
                <a:t> </a:t>
              </a:r>
              <a:r>
                <a:rPr lang="en-US" altLang="ja-JP" sz="850" dirty="0">
                  <a:latin typeface="+mn-ea"/>
                </a:rPr>
                <a:t>:</a:t>
              </a:r>
              <a:r>
                <a:rPr lang="en-US" altLang="ja-JP" sz="850" b="1" dirty="0">
                  <a:solidFill>
                    <a:srgbClr val="008D2E"/>
                  </a:solidFill>
                  <a:latin typeface="+mn-ea"/>
                </a:rPr>
                <a:t> </a:t>
              </a:r>
              <a:r>
                <a:rPr lang="ja-JP" altLang="en-US" sz="850" dirty="0">
                  <a:solidFill>
                    <a:srgbClr val="262626"/>
                  </a:solidFill>
                  <a:latin typeface="+mn-ea"/>
                </a:rPr>
                <a:t>①金額の合算は</a:t>
              </a:r>
              <a:r>
                <a:rPr lang="en-US" altLang="ja-JP" sz="850" dirty="0">
                  <a:solidFill>
                    <a:srgbClr val="262626"/>
                  </a:solidFill>
                  <a:latin typeface="+mn-ea"/>
                </a:rPr>
                <a:t>KGI</a:t>
              </a:r>
              <a:r>
                <a:rPr lang="ja-JP" altLang="en-US" sz="850" dirty="0">
                  <a:solidFill>
                    <a:srgbClr val="262626"/>
                  </a:solidFill>
                  <a:latin typeface="+mn-ea"/>
                </a:rPr>
                <a:t>一本 </a:t>
              </a:r>
              <a:r>
                <a:rPr lang="en-US" altLang="ja-JP" sz="850" dirty="0">
                  <a:solidFill>
                    <a:srgbClr val="262626"/>
                  </a:solidFill>
                  <a:latin typeface="+mn-ea"/>
                </a:rPr>
                <a:t>(</a:t>
              </a:r>
              <a:r>
                <a:rPr lang="ja-JP" altLang="en-US" sz="850" dirty="0">
                  <a:solidFill>
                    <a:srgbClr val="262626"/>
                  </a:solidFill>
                  <a:latin typeface="+mn-ea"/>
                </a:rPr>
                <a:t>あり </a:t>
              </a:r>
              <a:r>
                <a:rPr lang="en-US" altLang="ja-JP" sz="850" dirty="0">
                  <a:solidFill>
                    <a:srgbClr val="262626"/>
                  </a:solidFill>
                  <a:latin typeface="+mn-ea"/>
                </a:rPr>
                <a:t>/ </a:t>
              </a:r>
              <a:r>
                <a:rPr lang="ja-JP" altLang="en-US" sz="850" dirty="0">
                  <a:solidFill>
                    <a:srgbClr val="262626"/>
                  </a:solidFill>
                  <a:latin typeface="+mn-ea"/>
                </a:rPr>
                <a:t>なし実験＋</a:t>
              </a:r>
              <a:r>
                <a:rPr lang="en-US" altLang="ja-JP" sz="850" dirty="0">
                  <a:solidFill>
                    <a:srgbClr val="262626"/>
                  </a:solidFill>
                  <a:latin typeface="+mn-ea"/>
                </a:rPr>
                <a:t>MMM</a:t>
              </a:r>
              <a:r>
                <a:rPr lang="ja-JP" altLang="en-US" sz="850" dirty="0">
                  <a:solidFill>
                    <a:srgbClr val="262626"/>
                  </a:solidFill>
                  <a:latin typeface="+mn-ea"/>
                </a:rPr>
                <a:t>のみ</a:t>
              </a:r>
              <a:r>
                <a:rPr lang="en-US" altLang="ja-JP" sz="850" dirty="0">
                  <a:solidFill>
                    <a:srgbClr val="262626"/>
                  </a:solidFill>
                  <a:latin typeface="+mn-ea"/>
                </a:rPr>
                <a:t>) </a:t>
              </a:r>
              <a:r>
                <a:rPr lang="ja-JP" altLang="en-US" sz="850" dirty="0">
                  <a:solidFill>
                    <a:srgbClr val="262626"/>
                  </a:solidFill>
                  <a:latin typeface="+mn-ea"/>
                </a:rPr>
                <a:t>②顧客は</a:t>
              </a:r>
              <a:r>
                <a:rPr lang="en-US" altLang="ja-JP" sz="850" dirty="0">
                  <a:solidFill>
                    <a:srgbClr val="262626"/>
                  </a:solidFill>
                  <a:latin typeface="+mn-ea"/>
                </a:rPr>
                <a:t>12</a:t>
              </a:r>
              <a:r>
                <a:rPr lang="ja-JP" altLang="en-US" sz="850" dirty="0">
                  <a:solidFill>
                    <a:srgbClr val="262626"/>
                  </a:solidFill>
                  <a:latin typeface="+mn-ea"/>
                </a:rPr>
                <a:t>カ月ルールで排他分類　③</a:t>
              </a:r>
              <a:r>
                <a:rPr lang="en-US" altLang="ja-JP" sz="850" dirty="0">
                  <a:solidFill>
                    <a:srgbClr val="262626"/>
                  </a:solidFill>
                  <a:latin typeface="+mn-ea"/>
                </a:rPr>
                <a:t>KPI</a:t>
              </a:r>
              <a:r>
                <a:rPr lang="ja-JP" altLang="en-US" sz="850" dirty="0">
                  <a:solidFill>
                    <a:srgbClr val="262626"/>
                  </a:solidFill>
                  <a:latin typeface="+mn-ea"/>
                </a:rPr>
                <a:t>は実データから機械的に算出 </a:t>
              </a:r>
              <a:r>
                <a:rPr lang="en-US" altLang="ja-JP" sz="850" dirty="0">
                  <a:solidFill>
                    <a:srgbClr val="262626"/>
                  </a:solidFill>
                  <a:latin typeface="+mn-ea"/>
                </a:rPr>
                <a:t>(</a:t>
              </a:r>
              <a:r>
                <a:rPr lang="ja-JP" altLang="en-US" sz="850" dirty="0">
                  <a:solidFill>
                    <a:srgbClr val="262626"/>
                  </a:solidFill>
                  <a:latin typeface="+mn-ea"/>
                </a:rPr>
                <a:t>推計なし</a:t>
              </a:r>
              <a:r>
                <a:rPr lang="en-US" altLang="ja-JP" sz="850" dirty="0">
                  <a:solidFill>
                    <a:srgbClr val="262626"/>
                  </a:solidFill>
                  <a:latin typeface="+mn-ea"/>
                </a:rPr>
                <a:t>) </a:t>
              </a:r>
              <a:r>
                <a:rPr lang="ja-JP" altLang="en-US" sz="850" dirty="0">
                  <a:solidFill>
                    <a:srgbClr val="262626"/>
                  </a:solidFill>
                  <a:latin typeface="+mn-ea"/>
                </a:rPr>
                <a:t>④</a:t>
              </a:r>
              <a:r>
                <a:rPr lang="en-US" altLang="ja-JP" sz="850" dirty="0">
                  <a:solidFill>
                    <a:srgbClr val="262626"/>
                  </a:solidFill>
                  <a:latin typeface="+mn-ea"/>
                </a:rPr>
                <a:t>K7</a:t>
              </a:r>
              <a:r>
                <a:rPr lang="ja-JP" altLang="en-US" sz="850" dirty="0">
                  <a:solidFill>
                    <a:srgbClr val="262626"/>
                  </a:solidFill>
                  <a:latin typeface="+mn-ea"/>
                </a:rPr>
                <a:t>・</a:t>
              </a:r>
              <a:r>
                <a:rPr lang="en-US" altLang="ja-JP" sz="850" dirty="0">
                  <a:solidFill>
                    <a:srgbClr val="262626"/>
                  </a:solidFill>
                  <a:latin typeface="+mn-ea"/>
                </a:rPr>
                <a:t>K8</a:t>
              </a:r>
              <a:r>
                <a:rPr lang="ja-JP" altLang="en-US" sz="850" dirty="0">
                  <a:solidFill>
                    <a:srgbClr val="262626"/>
                  </a:solidFill>
                  <a:latin typeface="+mn-ea"/>
                </a:rPr>
                <a:t>は仕掛けの実装完了をもって正式昇格。計器盤は月次 </a:t>
              </a:r>
              <a:r>
                <a:rPr lang="en-US" altLang="ja-JP" sz="850" dirty="0">
                  <a:solidFill>
                    <a:srgbClr val="262626"/>
                  </a:solidFill>
                  <a:latin typeface="+mn-ea"/>
                </a:rPr>
                <a:t>/ </a:t>
              </a:r>
              <a:r>
                <a:rPr lang="ja-JP" altLang="en-US" sz="850" dirty="0">
                  <a:solidFill>
                    <a:srgbClr val="262626"/>
                  </a:solidFill>
                  <a:latin typeface="+mn-ea"/>
                </a:rPr>
                <a:t>四半期、</a:t>
              </a:r>
              <a:r>
                <a:rPr lang="en-US" altLang="ja-JP" sz="850" dirty="0">
                  <a:solidFill>
                    <a:srgbClr val="262626"/>
                  </a:solidFill>
                  <a:latin typeface="+mn-ea"/>
                </a:rPr>
                <a:t>KGI</a:t>
              </a:r>
              <a:r>
                <a:rPr lang="ja-JP" altLang="en-US" sz="850" dirty="0">
                  <a:solidFill>
                    <a:srgbClr val="262626"/>
                  </a:solidFill>
                  <a:latin typeface="+mn-ea"/>
                </a:rPr>
                <a:t>は年次で確定</a:t>
              </a:r>
              <a:endParaRPr lang="ja-JP" altLang="en-US" sz="850" b="1" dirty="0">
                <a:solidFill>
                  <a:srgbClr val="262626"/>
                </a:solidFill>
                <a:latin typeface="+mn-ea"/>
              </a:endParaRPr>
            </a:p>
          </p:txBody>
        </p:sp>
        <p:grpSp>
          <p:nvGrpSpPr>
            <p:cNvPr id="51" name="グループ化 50">
              <a:extLst>
                <a:ext uri="{FF2B5EF4-FFF2-40B4-BE49-F238E27FC236}">
                  <a16:creationId xmlns:a16="http://schemas.microsoft.com/office/drawing/2014/main" id="{5F830AFF-51B1-A72E-A90B-82E90A211261}"/>
                </a:ext>
              </a:extLst>
            </p:cNvPr>
            <p:cNvGrpSpPr/>
            <p:nvPr/>
          </p:nvGrpSpPr>
          <p:grpSpPr>
            <a:xfrm>
              <a:off x="4378848" y="1628776"/>
              <a:ext cx="6380307" cy="255823"/>
              <a:chOff x="2739179" y="1628776"/>
              <a:chExt cx="1303402" cy="255823"/>
            </a:xfrm>
          </p:grpSpPr>
          <p:sp>
            <p:nvSpPr>
              <p:cNvPr id="36" name="table_TWformat_txt_1_3">
                <a:extLst>
                  <a:ext uri="{FF2B5EF4-FFF2-40B4-BE49-F238E27FC236}">
                    <a16:creationId xmlns:a16="http://schemas.microsoft.com/office/drawing/2014/main" id="{D7919EFD-2D49-71BD-4319-36D44DE57AF3}"/>
                  </a:ext>
                </a:extLst>
              </p:cNvPr>
              <p:cNvSpPr/>
              <p:nvPr/>
            </p:nvSpPr>
            <p:spPr>
              <a:xfrm>
                <a:off x="2739179" y="1628776"/>
                <a:ext cx="1303402" cy="234527"/>
              </a:xfrm>
              <a:prstGeom prst="roundRect">
                <a:avLst>
                  <a:gd name="adj" fmla="val 0"/>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5B9BD5"/>
                  </a:buClr>
                  <a:defRPr/>
                </a:pPr>
                <a:r>
                  <a:rPr lang="ja-JP" altLang="en-US" sz="1200" dirty="0">
                    <a:solidFill>
                      <a:prstClr val="black"/>
                    </a:solidFill>
                    <a:latin typeface="+mn-ea"/>
                  </a:rPr>
                  <a:t>ドライバー</a:t>
                </a:r>
                <a:r>
                  <a:rPr lang="en-US" altLang="ja-JP" sz="1200" dirty="0">
                    <a:solidFill>
                      <a:prstClr val="black"/>
                    </a:solidFill>
                    <a:latin typeface="+mn-ea"/>
                  </a:rPr>
                  <a:t>KPI</a:t>
                </a:r>
                <a:r>
                  <a:rPr lang="ja-JP" altLang="en-US" sz="1200" dirty="0">
                    <a:solidFill>
                      <a:prstClr val="black"/>
                    </a:solidFill>
                    <a:latin typeface="+mn-ea"/>
                  </a:rPr>
                  <a:t> </a:t>
                </a:r>
                <a:r>
                  <a:rPr lang="en-US" altLang="ja-JP" sz="1200" dirty="0">
                    <a:solidFill>
                      <a:prstClr val="black"/>
                    </a:solidFill>
                    <a:latin typeface="+mn-ea"/>
                  </a:rPr>
                  <a:t>(</a:t>
                </a:r>
                <a:r>
                  <a:rPr lang="ja-JP" altLang="en-US" sz="1200" dirty="0">
                    <a:solidFill>
                      <a:prstClr val="black"/>
                    </a:solidFill>
                    <a:latin typeface="+mn-ea"/>
                  </a:rPr>
                  <a:t>先行指標</a:t>
                </a:r>
                <a:r>
                  <a:rPr lang="en-US" altLang="ja-JP" sz="1200" dirty="0">
                    <a:solidFill>
                      <a:prstClr val="black"/>
                    </a:solidFill>
                    <a:latin typeface="+mn-ea"/>
                  </a:rPr>
                  <a:t>) ― </a:t>
                </a:r>
                <a:r>
                  <a:rPr lang="ja-JP" altLang="en-US" sz="1200" dirty="0">
                    <a:solidFill>
                      <a:prstClr val="black"/>
                    </a:solidFill>
                    <a:latin typeface="+mn-ea"/>
                  </a:rPr>
                  <a:t>全て実データから機械的に算出。金額換算・合算はしない</a:t>
                </a:r>
              </a:p>
            </p:txBody>
          </p:sp>
          <p:cxnSp>
            <p:nvCxnSpPr>
              <p:cNvPr id="40" name="table_TWformat_line_2_3">
                <a:extLst>
                  <a:ext uri="{FF2B5EF4-FFF2-40B4-BE49-F238E27FC236}">
                    <a16:creationId xmlns:a16="http://schemas.microsoft.com/office/drawing/2014/main" id="{8C921690-4FA1-8E0A-C5AC-3A196FCA90F9}"/>
                  </a:ext>
                </a:extLst>
              </p:cNvPr>
              <p:cNvCxnSpPr/>
              <p:nvPr/>
            </p:nvCxnSpPr>
            <p:spPr>
              <a:xfrm>
                <a:off x="2739179" y="1884599"/>
                <a:ext cx="1303402" cy="0"/>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50" name="グループ化 49">
              <a:extLst>
                <a:ext uri="{FF2B5EF4-FFF2-40B4-BE49-F238E27FC236}">
                  <a16:creationId xmlns:a16="http://schemas.microsoft.com/office/drawing/2014/main" id="{E614BE61-650A-B614-3732-24574B4BFE63}"/>
                </a:ext>
              </a:extLst>
            </p:cNvPr>
            <p:cNvGrpSpPr/>
            <p:nvPr/>
          </p:nvGrpSpPr>
          <p:grpSpPr>
            <a:xfrm>
              <a:off x="10924674" y="1628776"/>
              <a:ext cx="913007" cy="255823"/>
              <a:chOff x="4102610" y="1628776"/>
              <a:chExt cx="1303402" cy="255823"/>
            </a:xfrm>
          </p:grpSpPr>
          <p:sp>
            <p:nvSpPr>
              <p:cNvPr id="42" name="table_TWformat_txt_1_4">
                <a:extLst>
                  <a:ext uri="{FF2B5EF4-FFF2-40B4-BE49-F238E27FC236}">
                    <a16:creationId xmlns:a16="http://schemas.microsoft.com/office/drawing/2014/main" id="{073DC833-91AE-8764-FD90-67BD1B1B7F03}"/>
                  </a:ext>
                </a:extLst>
              </p:cNvPr>
              <p:cNvSpPr/>
              <p:nvPr/>
            </p:nvSpPr>
            <p:spPr>
              <a:xfrm>
                <a:off x="4102610" y="1628776"/>
                <a:ext cx="1303402" cy="234527"/>
              </a:xfrm>
              <a:prstGeom prst="roundRect">
                <a:avLst>
                  <a:gd name="adj" fmla="val 0"/>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5B9BD5"/>
                  </a:buClr>
                  <a:defRPr/>
                </a:pPr>
                <a:r>
                  <a:rPr lang="ja-JP" altLang="en-US" sz="1200" dirty="0">
                    <a:solidFill>
                      <a:prstClr val="black"/>
                    </a:solidFill>
                    <a:latin typeface="+mn-ea"/>
                  </a:rPr>
                  <a:t>照らす枝</a:t>
                </a:r>
              </a:p>
            </p:txBody>
          </p:sp>
          <p:cxnSp>
            <p:nvCxnSpPr>
              <p:cNvPr id="44" name="table_TWformat_line_2_4">
                <a:extLst>
                  <a:ext uri="{FF2B5EF4-FFF2-40B4-BE49-F238E27FC236}">
                    <a16:creationId xmlns:a16="http://schemas.microsoft.com/office/drawing/2014/main" id="{87417F05-98F1-701C-C0A0-16565321F0AB}"/>
                  </a:ext>
                </a:extLst>
              </p:cNvPr>
              <p:cNvCxnSpPr/>
              <p:nvPr/>
            </p:nvCxnSpPr>
            <p:spPr>
              <a:xfrm>
                <a:off x="4102610" y="1884599"/>
                <a:ext cx="1303402" cy="0"/>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11" name="正方形/長方形 10">
              <a:extLst>
                <a:ext uri="{FF2B5EF4-FFF2-40B4-BE49-F238E27FC236}">
                  <a16:creationId xmlns:a16="http://schemas.microsoft.com/office/drawing/2014/main" id="{C7E950FC-7097-05BA-FE3D-F9752A5FF71A}"/>
                </a:ext>
              </a:extLst>
            </p:cNvPr>
            <p:cNvSpPr/>
            <p:nvPr/>
          </p:nvSpPr>
          <p:spPr>
            <a:xfrm>
              <a:off x="334963" y="2544975"/>
              <a:ext cx="1739499" cy="1955219"/>
            </a:xfrm>
            <a:prstGeom prst="rect">
              <a:avLst/>
            </a:prstGeom>
            <a:solidFill>
              <a:srgbClr val="008D2E">
                <a:alpha val="2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24000" rIns="72000" bIns="36000" numCol="1" spcCol="0" rtlCol="0" fromWordArt="0" anchor="ctr" anchorCtr="0" forceAA="0" compatLnSpc="1">
              <a:prstTxWarp prst="textNoShape">
                <a:avLst/>
              </a:prstTxWarp>
              <a:noAutofit/>
            </a:bodyPr>
            <a:lstStyle/>
            <a:p>
              <a:pPr algn="ctr">
                <a:spcAft>
                  <a:spcPts val="600"/>
                </a:spcAft>
              </a:pPr>
              <a:r>
                <a:rPr lang="ja-JP" altLang="en-US" sz="1200" dirty="0">
                  <a:solidFill>
                    <a:schemeClr val="accent5"/>
                  </a:solidFill>
                  <a:latin typeface="+mn-ea"/>
                </a:rPr>
                <a:t>増分粗利</a:t>
              </a:r>
              <a:br>
                <a:rPr lang="en-US" altLang="ja-JP" sz="1200" dirty="0">
                  <a:solidFill>
                    <a:schemeClr val="accent5"/>
                  </a:solidFill>
                  <a:latin typeface="+mn-ea"/>
                </a:rPr>
              </a:br>
              <a:r>
                <a:rPr lang="en-US" altLang="ja-JP" sz="1200" dirty="0">
                  <a:solidFill>
                    <a:schemeClr val="accent5"/>
                  </a:solidFill>
                  <a:latin typeface="+mn-ea"/>
                </a:rPr>
                <a:t>(</a:t>
              </a:r>
              <a:r>
                <a:rPr lang="ja-JP" altLang="en-US" sz="1200" dirty="0">
                  <a:solidFill>
                    <a:schemeClr val="accent5"/>
                  </a:solidFill>
                  <a:latin typeface="+mn-ea"/>
                </a:rPr>
                <a:t>オーラルケア事業</a:t>
              </a:r>
              <a:r>
                <a:rPr lang="en-US" altLang="ja-JP" sz="1200" dirty="0">
                  <a:solidFill>
                    <a:schemeClr val="accent5"/>
                  </a:solidFill>
                  <a:latin typeface="+mn-ea"/>
                </a:rPr>
                <a:t>)</a:t>
              </a:r>
            </a:p>
            <a:p>
              <a:r>
                <a:rPr lang="ja-JP" altLang="en-US" sz="1000" dirty="0">
                  <a:solidFill>
                    <a:schemeClr val="tx1"/>
                  </a:solidFill>
                  <a:latin typeface="+mn-ea"/>
                </a:rPr>
                <a:t>測り方＝施策あり店舗と</a:t>
              </a:r>
              <a:br>
                <a:rPr lang="en-US" altLang="ja-JP" sz="1000" dirty="0">
                  <a:solidFill>
                    <a:schemeClr val="tx1"/>
                  </a:solidFill>
                  <a:latin typeface="+mn-ea"/>
                </a:rPr>
              </a:br>
              <a:r>
                <a:rPr lang="ja-JP" altLang="en-US" sz="1000" dirty="0">
                  <a:solidFill>
                    <a:schemeClr val="tx1"/>
                  </a:solidFill>
                  <a:latin typeface="+mn-ea"/>
                </a:rPr>
                <a:t>なし店舗の粗利差 </a:t>
              </a:r>
              <a:r>
                <a:rPr lang="en-US" altLang="ja-JP" sz="1000" dirty="0">
                  <a:solidFill>
                    <a:schemeClr val="tx1"/>
                  </a:solidFill>
                  <a:latin typeface="+mn-ea"/>
                </a:rPr>
                <a:t>(B1</a:t>
              </a:r>
              <a:r>
                <a:rPr lang="ja-JP" altLang="en-US" sz="1000" dirty="0">
                  <a:solidFill>
                    <a:schemeClr val="tx1"/>
                  </a:solidFill>
                  <a:latin typeface="+mn-ea"/>
                </a:rPr>
                <a:t>で実験</a:t>
              </a:r>
              <a:br>
                <a:rPr lang="en-US" altLang="ja-JP" sz="1000" dirty="0">
                  <a:solidFill>
                    <a:schemeClr val="tx1"/>
                  </a:solidFill>
                  <a:latin typeface="+mn-ea"/>
                </a:rPr>
              </a:br>
              <a:r>
                <a:rPr lang="ja-JP" altLang="en-US" sz="1000" dirty="0">
                  <a:solidFill>
                    <a:schemeClr val="tx1"/>
                  </a:solidFill>
                  <a:latin typeface="+mn-ea"/>
                </a:rPr>
                <a:t>設計</a:t>
              </a:r>
              <a:r>
                <a:rPr lang="en-US" altLang="ja-JP" sz="1000" dirty="0">
                  <a:solidFill>
                    <a:schemeClr val="tx1"/>
                  </a:solidFill>
                  <a:latin typeface="+mn-ea"/>
                </a:rPr>
                <a:t>)</a:t>
              </a:r>
              <a:r>
                <a:rPr lang="ja-JP" altLang="en-US" sz="1000" dirty="0">
                  <a:solidFill>
                    <a:schemeClr val="tx1"/>
                  </a:solidFill>
                  <a:latin typeface="+mn-ea"/>
                </a:rPr>
                <a:t>＋</a:t>
              </a:r>
              <a:r>
                <a:rPr lang="en-US" altLang="ja-JP" sz="1000" dirty="0">
                  <a:solidFill>
                    <a:schemeClr val="tx1"/>
                  </a:solidFill>
                  <a:latin typeface="+mn-ea"/>
                </a:rPr>
                <a:t>MMM</a:t>
              </a:r>
              <a:r>
                <a:rPr lang="ja-JP" altLang="en-US" sz="1000" dirty="0">
                  <a:solidFill>
                    <a:schemeClr val="tx1"/>
                  </a:solidFill>
                  <a:latin typeface="+mn-ea"/>
                </a:rPr>
                <a:t>寄与。年</a:t>
              </a:r>
              <a:r>
                <a:rPr lang="en-US" altLang="ja-JP" sz="1000" dirty="0">
                  <a:solidFill>
                    <a:schemeClr val="tx1"/>
                  </a:solidFill>
                  <a:latin typeface="+mn-ea"/>
                </a:rPr>
                <a:t>1</a:t>
              </a:r>
              <a:r>
                <a:rPr lang="ja-JP" altLang="en-US" sz="1000" dirty="0">
                  <a:solidFill>
                    <a:schemeClr val="tx1"/>
                  </a:solidFill>
                  <a:latin typeface="+mn-ea"/>
                </a:rPr>
                <a:t>回・幅 </a:t>
              </a:r>
              <a:r>
                <a:rPr lang="en-US" altLang="ja-JP" sz="1000" dirty="0">
                  <a:solidFill>
                    <a:schemeClr val="tx1"/>
                  </a:solidFill>
                  <a:latin typeface="+mn-ea"/>
                </a:rPr>
                <a:t>(</a:t>
              </a:r>
              <a:r>
                <a:rPr lang="ja-JP" altLang="en-US" sz="1000" dirty="0">
                  <a:solidFill>
                    <a:schemeClr val="tx1"/>
                  </a:solidFill>
                  <a:latin typeface="+mn-ea"/>
                </a:rPr>
                <a:t>レンジ</a:t>
              </a:r>
              <a:r>
                <a:rPr lang="en-US" altLang="ja-JP" sz="1000" dirty="0">
                  <a:solidFill>
                    <a:schemeClr val="tx1"/>
                  </a:solidFill>
                  <a:latin typeface="+mn-ea"/>
                </a:rPr>
                <a:t>)</a:t>
              </a:r>
              <a:r>
                <a:rPr lang="ja-JP" altLang="en-US" sz="1000" dirty="0">
                  <a:solidFill>
                    <a:schemeClr val="tx1"/>
                  </a:solidFill>
                  <a:latin typeface="+mn-ea"/>
                </a:rPr>
                <a:t> で確定し、重点</a:t>
              </a:r>
              <a:br>
                <a:rPr lang="en-US" altLang="ja-JP" sz="1000" dirty="0">
                  <a:solidFill>
                    <a:schemeClr val="tx1"/>
                  </a:solidFill>
                  <a:latin typeface="+mn-ea"/>
                </a:rPr>
              </a:br>
              <a:r>
                <a:rPr lang="ja-JP" altLang="en-US" sz="1000" dirty="0">
                  <a:solidFill>
                    <a:schemeClr val="tx1"/>
                  </a:solidFill>
                  <a:latin typeface="+mn-ea"/>
                </a:rPr>
                <a:t>小売別・</a:t>
              </a:r>
              <a:r>
                <a:rPr lang="en-US" altLang="ja-JP" sz="1000" dirty="0">
                  <a:solidFill>
                    <a:schemeClr val="tx1"/>
                  </a:solidFill>
                  <a:latin typeface="+mn-ea"/>
                </a:rPr>
                <a:t>4</a:t>
              </a:r>
              <a:r>
                <a:rPr lang="ja-JP" altLang="en-US" sz="1000" dirty="0">
                  <a:solidFill>
                    <a:schemeClr val="tx1"/>
                  </a:solidFill>
                  <a:latin typeface="+mn-ea"/>
                </a:rPr>
                <a:t>市場別の内訳を</a:t>
              </a:r>
              <a:br>
                <a:rPr lang="en-US" altLang="ja-JP" sz="1000" dirty="0">
                  <a:solidFill>
                    <a:schemeClr val="tx1"/>
                  </a:solidFill>
                  <a:latin typeface="+mn-ea"/>
                </a:rPr>
              </a:br>
              <a:r>
                <a:rPr lang="ja-JP" altLang="en-US" sz="1000" dirty="0">
                  <a:solidFill>
                    <a:schemeClr val="tx1"/>
                  </a:solidFill>
                  <a:latin typeface="+mn-ea"/>
                </a:rPr>
                <a:t>表示</a:t>
              </a:r>
            </a:p>
          </p:txBody>
        </p:sp>
        <p:sp>
          <p:nvSpPr>
            <p:cNvPr id="20" name="正方形/長方形 62">
              <a:extLst>
                <a:ext uri="{FF2B5EF4-FFF2-40B4-BE49-F238E27FC236}">
                  <a16:creationId xmlns:a16="http://schemas.microsoft.com/office/drawing/2014/main" id="{A085AE73-D76A-277D-14F8-6245A05F98D3}"/>
                </a:ext>
              </a:extLst>
            </p:cNvPr>
            <p:cNvSpPr/>
            <p:nvPr/>
          </p:nvSpPr>
          <p:spPr>
            <a:xfrm>
              <a:off x="698300" y="2657626"/>
              <a:ext cx="1012823" cy="259493"/>
            </a:xfrm>
            <a:prstGeom prst="roundRect">
              <a:avLst>
                <a:gd name="adj" fmla="val 13873"/>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defRPr/>
              </a:pPr>
              <a:r>
                <a:rPr lang="en-US" altLang="ja-JP" sz="1400" dirty="0">
                  <a:solidFill>
                    <a:schemeClr val="accent5"/>
                  </a:solidFill>
                  <a:latin typeface="+mn-ea"/>
                </a:rPr>
                <a:t>KGI</a:t>
              </a:r>
              <a:endParaRPr kumimoji="1" lang="en-US" altLang="ja-JP" sz="1400" b="0" i="0" u="none" strike="noStrike" kern="1200" cap="none" spc="0" normalizeH="0" baseline="0" noProof="0" dirty="0">
                <a:ln>
                  <a:noFill/>
                </a:ln>
                <a:solidFill>
                  <a:schemeClr val="accent5"/>
                </a:solidFill>
                <a:effectLst/>
                <a:uLnTx/>
                <a:uFillTx/>
                <a:latin typeface="+mn-ea"/>
              </a:endParaRPr>
            </a:p>
          </p:txBody>
        </p:sp>
        <p:sp>
          <p:nvSpPr>
            <p:cNvPr id="25" name="テキスト ボックス 24">
              <a:extLst>
                <a:ext uri="{FF2B5EF4-FFF2-40B4-BE49-F238E27FC236}">
                  <a16:creationId xmlns:a16="http://schemas.microsoft.com/office/drawing/2014/main" id="{A545142F-6D2D-8FFB-54F9-96B9BAB42371}"/>
                </a:ext>
              </a:extLst>
            </p:cNvPr>
            <p:cNvSpPr txBox="1"/>
            <p:nvPr/>
          </p:nvSpPr>
          <p:spPr>
            <a:xfrm>
              <a:off x="334962" y="5720922"/>
              <a:ext cx="11522074" cy="374324"/>
            </a:xfrm>
            <a:prstGeom prst="rect">
              <a:avLst/>
            </a:prstGeom>
            <a:noFill/>
          </p:spPr>
          <p:txBody>
            <a:bodyPr wrap="square" lIns="36000" tIns="36000" rIns="0" bIns="36000">
              <a:spAutoFit/>
            </a:bodyPr>
            <a:lstStyle/>
            <a:p>
              <a:pPr>
                <a:lnSpc>
                  <a:spcPct val="115000"/>
                </a:lnSpc>
              </a:pPr>
              <a:r>
                <a:rPr lang="ja-JP" altLang="en-US" sz="900" dirty="0">
                  <a:solidFill>
                    <a:srgbClr val="008D2E"/>
                  </a:solidFill>
                  <a:latin typeface="+mn-ea"/>
                </a:rPr>
                <a:t>測れる形に変える計器 </a:t>
              </a:r>
              <a:r>
                <a:rPr lang="en-US" altLang="ja-JP" sz="900" dirty="0">
                  <a:solidFill>
                    <a:srgbClr val="008D2E"/>
                  </a:solidFill>
                  <a:latin typeface="+mn-ea"/>
                </a:rPr>
                <a:t>(</a:t>
              </a:r>
              <a:r>
                <a:rPr lang="ja-JP" altLang="en-US" sz="900" dirty="0">
                  <a:solidFill>
                    <a:srgbClr val="008D2E"/>
                  </a:solidFill>
                  <a:latin typeface="+mn-ea"/>
                </a:rPr>
                <a:t>計測の仕掛けを実装し、</a:t>
              </a:r>
              <a:r>
                <a:rPr lang="en-US" altLang="ja-JP" sz="900" dirty="0">
                  <a:solidFill>
                    <a:srgbClr val="008D2E"/>
                  </a:solidFill>
                  <a:latin typeface="+mn-ea"/>
                </a:rPr>
                <a:t>FY27</a:t>
              </a:r>
              <a:r>
                <a:rPr lang="ja-JP" altLang="en-US" sz="900" dirty="0">
                  <a:solidFill>
                    <a:srgbClr val="008D2E"/>
                  </a:solidFill>
                  <a:latin typeface="+mn-ea"/>
                </a:rPr>
                <a:t>に正式昇格</a:t>
              </a:r>
              <a:r>
                <a:rPr lang="en-US" altLang="ja-JP" sz="900" dirty="0">
                  <a:solidFill>
                    <a:srgbClr val="008D2E"/>
                  </a:solidFill>
                  <a:latin typeface="+mn-ea"/>
                </a:rPr>
                <a:t>) </a:t>
              </a:r>
              <a:r>
                <a:rPr lang="en-US" altLang="ja-JP" sz="900" dirty="0">
                  <a:latin typeface="+mn-ea"/>
                </a:rPr>
                <a:t>:</a:t>
              </a:r>
              <a:r>
                <a:rPr lang="ja-JP" altLang="en-US" sz="900" dirty="0">
                  <a:solidFill>
                    <a:srgbClr val="008D2E"/>
                  </a:solidFill>
                  <a:latin typeface="+mn-ea"/>
                </a:rPr>
                <a:t> </a:t>
              </a:r>
              <a:r>
                <a:rPr lang="en-US" altLang="ja-JP" sz="900" dirty="0">
                  <a:latin typeface="+mn-ea"/>
                </a:rPr>
                <a:t>K7 </a:t>
              </a:r>
              <a:r>
                <a:rPr lang="ja-JP" altLang="en-US" sz="900" dirty="0">
                  <a:latin typeface="+mn-ea"/>
                </a:rPr>
                <a:t>歯科推奨経由の購買＝推奨</a:t>
              </a:r>
              <a:r>
                <a:rPr lang="en-US" altLang="ja-JP" sz="900" dirty="0">
                  <a:latin typeface="+mn-ea"/>
                </a:rPr>
                <a:t>QR</a:t>
              </a:r>
              <a:r>
                <a:rPr lang="ja-JP" altLang="en-US" sz="900" dirty="0">
                  <a:latin typeface="+mn-ea"/>
                </a:rPr>
                <a:t>・専用</a:t>
              </a:r>
              <a:r>
                <a:rPr lang="en-US" altLang="ja-JP" sz="900" dirty="0">
                  <a:latin typeface="+mn-ea"/>
                </a:rPr>
                <a:t>SKU</a:t>
              </a:r>
              <a:r>
                <a:rPr lang="ja-JP" altLang="en-US" sz="900" dirty="0">
                  <a:latin typeface="+mn-ea"/>
                </a:rPr>
                <a:t>を歯科接点で発行し、小売購買データと機械照合した実数。計測カバー率 </a:t>
              </a:r>
              <a:r>
                <a:rPr lang="en-US" altLang="ja-JP" sz="900" dirty="0">
                  <a:latin typeface="+mn-ea"/>
                </a:rPr>
                <a:t>(</a:t>
              </a:r>
              <a:r>
                <a:rPr lang="ja-JP" altLang="en-US" sz="900" dirty="0">
                  <a:latin typeface="+mn-ea"/>
                </a:rPr>
                <a:t>推奨</a:t>
              </a:r>
              <a:r>
                <a:rPr lang="en-US" altLang="ja-JP" sz="900" dirty="0">
                  <a:latin typeface="+mn-ea"/>
                </a:rPr>
                <a:t>ID</a:t>
              </a:r>
              <a:r>
                <a:rPr lang="ja-JP" altLang="en-US" sz="900" dirty="0">
                  <a:latin typeface="+mn-ea"/>
                </a:rPr>
                <a:t>を発行できている歯科接点の割合</a:t>
              </a:r>
              <a:r>
                <a:rPr lang="en-US" altLang="ja-JP" sz="900" dirty="0">
                  <a:latin typeface="+mn-ea"/>
                </a:rPr>
                <a:t>) </a:t>
              </a:r>
              <a:r>
                <a:rPr lang="ja-JP" altLang="en-US" sz="900" dirty="0">
                  <a:latin typeface="+mn-ea"/>
                </a:rPr>
                <a:t>とセットで</a:t>
              </a:r>
              <a:br>
                <a:rPr lang="en-US" altLang="ja-JP" sz="900" dirty="0">
                  <a:latin typeface="+mn-ea"/>
                </a:rPr>
              </a:br>
              <a:r>
                <a:rPr lang="ja-JP" altLang="en-US" sz="900" dirty="0">
                  <a:latin typeface="+mn-ea"/>
                </a:rPr>
                <a:t>追い、カバー率の拡大自体を</a:t>
              </a:r>
              <a:r>
                <a:rPr lang="en-US" altLang="ja-JP" sz="900" dirty="0">
                  <a:latin typeface="+mn-ea"/>
                </a:rPr>
                <a:t>K7</a:t>
              </a:r>
              <a:r>
                <a:rPr lang="ja-JP" altLang="en-US" sz="900" dirty="0">
                  <a:latin typeface="+mn-ea"/>
                </a:rPr>
                <a:t>の前提</a:t>
              </a:r>
              <a:r>
                <a:rPr lang="en-US" altLang="ja-JP" sz="900" dirty="0">
                  <a:latin typeface="+mn-ea"/>
                </a:rPr>
                <a:t>KPI</a:t>
              </a:r>
              <a:r>
                <a:rPr lang="ja-JP" altLang="en-US" sz="900" dirty="0">
                  <a:latin typeface="+mn-ea"/>
                </a:rPr>
                <a:t>にする </a:t>
              </a:r>
              <a:r>
                <a:rPr lang="en-US" altLang="ja-JP" sz="900" dirty="0">
                  <a:latin typeface="+mn-ea"/>
                </a:rPr>
                <a:t>/ K8 </a:t>
              </a:r>
              <a:r>
                <a:rPr lang="ja-JP" altLang="en-US" sz="900" dirty="0">
                  <a:latin typeface="+mn-ea"/>
                </a:rPr>
                <a:t>健康改善差＝習慣プログラム申込者の開始を</a:t>
              </a:r>
              <a:r>
                <a:rPr lang="en-US" altLang="ja-JP" sz="900" dirty="0">
                  <a:latin typeface="+mn-ea"/>
                </a:rPr>
                <a:t>4</a:t>
              </a:r>
              <a:r>
                <a:rPr lang="ja-JP" altLang="en-US" sz="900" dirty="0">
                  <a:latin typeface="+mn-ea"/>
                </a:rPr>
                <a:t>週ずらす待機群方式で、開始群と待機群のセルフチェック改善差を測る </a:t>
              </a:r>
              <a:r>
                <a:rPr lang="en-US" altLang="ja-JP" sz="900" dirty="0">
                  <a:latin typeface="+mn-ea"/>
                </a:rPr>
                <a:t>(</a:t>
              </a:r>
              <a:r>
                <a:rPr lang="ja-JP" altLang="en-US" sz="900" dirty="0">
                  <a:latin typeface="+mn-ea"/>
                </a:rPr>
                <a:t>比較群をプログラム設計で作る</a:t>
              </a:r>
              <a:r>
                <a:rPr lang="en-US" altLang="ja-JP" sz="900" dirty="0">
                  <a:latin typeface="+mn-ea"/>
                </a:rPr>
                <a:t>) </a:t>
              </a:r>
              <a:r>
                <a:rPr lang="ja-JP" altLang="en-US" sz="900" dirty="0">
                  <a:latin typeface="+mn-ea"/>
                </a:rPr>
                <a:t>。それまで投資判断には使わない</a:t>
              </a:r>
              <a:endParaRPr lang="ja-JP" altLang="en-US" sz="900" b="1" dirty="0">
                <a:latin typeface="+mn-ea"/>
              </a:endParaRPr>
            </a:p>
          </p:txBody>
        </p:sp>
        <p:sp>
          <p:nvSpPr>
            <p:cNvPr id="27" name="正方形/長方形 26">
              <a:extLst>
                <a:ext uri="{FF2B5EF4-FFF2-40B4-BE49-F238E27FC236}">
                  <a16:creationId xmlns:a16="http://schemas.microsoft.com/office/drawing/2014/main" id="{97C2D954-A18D-3D38-DE29-A8CFC7038C3F}"/>
                </a:ext>
              </a:extLst>
            </p:cNvPr>
            <p:cNvSpPr/>
            <p:nvPr/>
          </p:nvSpPr>
          <p:spPr>
            <a:xfrm>
              <a:off x="2292100" y="2036969"/>
              <a:ext cx="1739499" cy="1608598"/>
            </a:xfrm>
            <a:prstGeom prst="rect">
              <a:avLst/>
            </a:prstGeom>
            <a:solidFill>
              <a:srgbClr val="008D2E">
                <a:alpha val="2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spcAft>
                  <a:spcPts val="600"/>
                </a:spcAft>
              </a:pPr>
              <a:r>
                <a:rPr lang="ja-JP" altLang="en-US" sz="1400" dirty="0">
                  <a:solidFill>
                    <a:schemeClr val="accent5"/>
                  </a:solidFill>
                  <a:latin typeface="+mn-ea"/>
                </a:rPr>
                <a:t>新規からの増分粗利</a:t>
              </a:r>
              <a:endParaRPr lang="en-US" altLang="ja-JP" sz="1400" dirty="0">
                <a:solidFill>
                  <a:schemeClr val="accent5"/>
                </a:solidFill>
                <a:latin typeface="+mn-ea"/>
              </a:endParaRPr>
            </a:p>
            <a:p>
              <a:r>
                <a:rPr lang="ja-JP" altLang="en-US" sz="1100" dirty="0">
                  <a:solidFill>
                    <a:schemeClr val="tx1"/>
                  </a:solidFill>
                  <a:latin typeface="+mn-ea"/>
                </a:rPr>
                <a:t>初回購入から</a:t>
              </a:r>
              <a:r>
                <a:rPr lang="en-US" altLang="ja-JP" sz="1100" dirty="0">
                  <a:solidFill>
                    <a:schemeClr val="tx1"/>
                  </a:solidFill>
                  <a:latin typeface="+mn-ea"/>
                </a:rPr>
                <a:t>12</a:t>
              </a:r>
              <a:r>
                <a:rPr lang="ja-JP" altLang="en-US" sz="1100" dirty="0">
                  <a:solidFill>
                    <a:schemeClr val="tx1"/>
                  </a:solidFill>
                  <a:latin typeface="+mn-ea"/>
                </a:rPr>
                <a:t>カ月の顧客</a:t>
              </a:r>
              <a:r>
                <a:rPr lang="en-US" altLang="ja-JP" sz="1100" dirty="0">
                  <a:solidFill>
                    <a:schemeClr val="tx1"/>
                  </a:solidFill>
                  <a:latin typeface="+mn-ea"/>
                </a:rPr>
                <a:t>(N-t-C)</a:t>
              </a:r>
              <a:endParaRPr lang="ja-JP" altLang="en-US" sz="1400" dirty="0">
                <a:solidFill>
                  <a:schemeClr val="bg1"/>
                </a:solidFill>
                <a:latin typeface="+mn-ea"/>
              </a:endParaRPr>
            </a:p>
          </p:txBody>
        </p:sp>
        <p:grpSp>
          <p:nvGrpSpPr>
            <p:cNvPr id="39" name="グループ化 38">
              <a:extLst>
                <a:ext uri="{FF2B5EF4-FFF2-40B4-BE49-F238E27FC236}">
                  <a16:creationId xmlns:a16="http://schemas.microsoft.com/office/drawing/2014/main" id="{29E46D91-D769-924E-CA7A-A94FBF916DD0}"/>
                </a:ext>
              </a:extLst>
            </p:cNvPr>
            <p:cNvGrpSpPr/>
            <p:nvPr/>
          </p:nvGrpSpPr>
          <p:grpSpPr>
            <a:xfrm>
              <a:off x="334963" y="4574019"/>
              <a:ext cx="1739499" cy="1113423"/>
              <a:chOff x="334963" y="4537923"/>
              <a:chExt cx="1739499" cy="1113423"/>
            </a:xfrm>
          </p:grpSpPr>
          <p:sp>
            <p:nvSpPr>
              <p:cNvPr id="31" name="正方形/長方形 62">
                <a:extLst>
                  <a:ext uri="{FF2B5EF4-FFF2-40B4-BE49-F238E27FC236}">
                    <a16:creationId xmlns:a16="http://schemas.microsoft.com/office/drawing/2014/main" id="{E8182A1D-96AA-943E-6BED-7DFDE2D2C58E}"/>
                  </a:ext>
                </a:extLst>
              </p:cNvPr>
              <p:cNvSpPr/>
              <p:nvPr/>
            </p:nvSpPr>
            <p:spPr>
              <a:xfrm>
                <a:off x="334963" y="4620126"/>
                <a:ext cx="1739499" cy="1031220"/>
              </a:xfrm>
              <a:prstGeom prst="roundRect">
                <a:avLst>
                  <a:gd name="adj" fmla="val 6141"/>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defRPr/>
                </a:pPr>
                <a:r>
                  <a:rPr lang="ja-JP" altLang="en-US" sz="900" dirty="0">
                    <a:solidFill>
                      <a:schemeClr val="tx1"/>
                    </a:solidFill>
                    <a:latin typeface="+mn-ea"/>
                  </a:rPr>
                  <a:t>マーケティング・ミックス・モデリング</a:t>
                </a:r>
                <a:r>
                  <a:rPr lang="en-US" altLang="ja-JP" sz="900" dirty="0">
                    <a:solidFill>
                      <a:schemeClr val="tx1"/>
                    </a:solidFill>
                    <a:latin typeface="+mn-ea"/>
                  </a:rPr>
                  <a:t>(Marketing Mix Modeling) </a:t>
                </a:r>
                <a:r>
                  <a:rPr lang="ja-JP" altLang="en-US" sz="900" dirty="0">
                    <a:solidFill>
                      <a:schemeClr val="tx1"/>
                    </a:solidFill>
                    <a:latin typeface="+mn-ea"/>
                  </a:rPr>
                  <a:t>です。一言でいうと、「過去の売上</a:t>
                </a:r>
                <a:br>
                  <a:rPr lang="en-US" altLang="ja-JP" sz="900" dirty="0">
                    <a:solidFill>
                      <a:schemeClr val="tx1"/>
                    </a:solidFill>
                    <a:latin typeface="+mn-ea"/>
                  </a:rPr>
                </a:br>
                <a:r>
                  <a:rPr lang="ja-JP" altLang="en-US" sz="900" dirty="0">
                    <a:solidFill>
                      <a:schemeClr val="tx1"/>
                    </a:solidFill>
                    <a:latin typeface="+mn-ea"/>
                  </a:rPr>
                  <a:t>データを統計的に分解して、どの</a:t>
                </a:r>
                <a:br>
                  <a:rPr lang="en-US" altLang="ja-JP" sz="900" dirty="0">
                    <a:solidFill>
                      <a:schemeClr val="tx1"/>
                    </a:solidFill>
                    <a:latin typeface="+mn-ea"/>
                  </a:rPr>
                </a:br>
                <a:r>
                  <a:rPr lang="ja-JP" altLang="en-US" sz="900" dirty="0">
                    <a:solidFill>
                      <a:schemeClr val="tx1"/>
                    </a:solidFill>
                    <a:latin typeface="+mn-ea"/>
                  </a:rPr>
                  <a:t>販促・広告が売上を何円押し上げたかを推定する手法」</a:t>
                </a:r>
                <a:endParaRPr kumimoji="1" lang="en-US" altLang="ja-JP" sz="900" b="0" i="0" u="none" strike="noStrike" kern="1200" cap="none" spc="0" normalizeH="0" baseline="0" noProof="0" dirty="0">
                  <a:ln>
                    <a:noFill/>
                  </a:ln>
                  <a:solidFill>
                    <a:schemeClr val="tx1"/>
                  </a:solidFill>
                  <a:effectLst/>
                  <a:uLnTx/>
                  <a:uFillTx/>
                  <a:latin typeface="+mn-ea"/>
                </a:endParaRPr>
              </a:p>
            </p:txBody>
          </p:sp>
          <p:sp>
            <p:nvSpPr>
              <p:cNvPr id="33" name="正方形/長方形 32">
                <a:extLst>
                  <a:ext uri="{FF2B5EF4-FFF2-40B4-BE49-F238E27FC236}">
                    <a16:creationId xmlns:a16="http://schemas.microsoft.com/office/drawing/2014/main" id="{D57AD93B-913E-5159-78A9-94E40A9A92AA}"/>
                  </a:ext>
                </a:extLst>
              </p:cNvPr>
              <p:cNvSpPr/>
              <p:nvPr/>
            </p:nvSpPr>
            <p:spPr>
              <a:xfrm>
                <a:off x="432183" y="4537923"/>
                <a:ext cx="609685" cy="162043"/>
              </a:xfrm>
              <a:prstGeom prst="rect">
                <a:avLst/>
              </a:prstGeom>
              <a:solidFill>
                <a:schemeClr val="bg1"/>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lvl="0" algn="ctr">
                  <a:defRPr/>
                </a:pPr>
                <a:r>
                  <a:rPr lang="en-US" altLang="ja-JP" sz="900" dirty="0">
                    <a:solidFill>
                      <a:prstClr val="black"/>
                    </a:solidFill>
                    <a:latin typeface="+mn-ea"/>
                  </a:rPr>
                  <a:t>MMM</a:t>
                </a:r>
                <a:endParaRPr kumimoji="1" lang="ja-JP" altLang="en-US" sz="900" b="0" i="0" u="none" strike="noStrike" kern="1200" cap="none" spc="0" normalizeH="0" baseline="0" noProof="0" dirty="0">
                  <a:ln>
                    <a:noFill/>
                  </a:ln>
                  <a:solidFill>
                    <a:prstClr val="black"/>
                  </a:solidFill>
                  <a:effectLst/>
                  <a:uLnTx/>
                  <a:uFillTx/>
                  <a:latin typeface="+mn-ea"/>
                </a:endParaRPr>
              </a:p>
            </p:txBody>
          </p:sp>
        </p:grpSp>
        <p:sp>
          <p:nvSpPr>
            <p:cNvPr id="35" name="正方形/長方形 34">
              <a:extLst>
                <a:ext uri="{FF2B5EF4-FFF2-40B4-BE49-F238E27FC236}">
                  <a16:creationId xmlns:a16="http://schemas.microsoft.com/office/drawing/2014/main" id="{1CEABE95-5F9D-6701-946F-13A77C18C994}"/>
                </a:ext>
              </a:extLst>
            </p:cNvPr>
            <p:cNvSpPr/>
            <p:nvPr/>
          </p:nvSpPr>
          <p:spPr>
            <a:xfrm>
              <a:off x="2292100" y="3645567"/>
              <a:ext cx="1739499" cy="436589"/>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spcAft>
                  <a:spcPts val="600"/>
                </a:spcAft>
              </a:pPr>
              <a:r>
                <a:rPr lang="en-US" altLang="ja-JP" sz="1050" dirty="0">
                  <a:solidFill>
                    <a:schemeClr val="accent5"/>
                  </a:solidFill>
                  <a:latin typeface="+mn-ea"/>
                </a:rPr>
                <a:t>12</a:t>
              </a:r>
              <a:r>
                <a:rPr lang="ja-JP" altLang="en-US" sz="1050" dirty="0">
                  <a:solidFill>
                    <a:schemeClr val="accent5"/>
                  </a:solidFill>
                  <a:latin typeface="+mn-ea"/>
                </a:rPr>
                <a:t>カ月ルールで排他分類</a:t>
              </a:r>
              <a:br>
                <a:rPr lang="en-US" altLang="ja-JP" sz="1050" dirty="0">
                  <a:solidFill>
                    <a:schemeClr val="accent5"/>
                  </a:solidFill>
                  <a:latin typeface="+mn-ea"/>
                </a:rPr>
              </a:br>
              <a:r>
                <a:rPr lang="ja-JP" altLang="en-US" sz="1050" dirty="0">
                  <a:solidFill>
                    <a:schemeClr val="accent5"/>
                  </a:solidFill>
                  <a:latin typeface="+mn-ea"/>
                </a:rPr>
                <a:t>＝同じ顧客を二度数えない</a:t>
              </a:r>
            </a:p>
          </p:txBody>
        </p:sp>
        <p:sp>
          <p:nvSpPr>
            <p:cNvPr id="38" name="正方形/長方形 37">
              <a:extLst>
                <a:ext uri="{FF2B5EF4-FFF2-40B4-BE49-F238E27FC236}">
                  <a16:creationId xmlns:a16="http://schemas.microsoft.com/office/drawing/2014/main" id="{51AA3F9C-0019-F0C1-5968-B396C9148105}"/>
                </a:ext>
              </a:extLst>
            </p:cNvPr>
            <p:cNvSpPr/>
            <p:nvPr/>
          </p:nvSpPr>
          <p:spPr>
            <a:xfrm>
              <a:off x="2292100" y="4082156"/>
              <a:ext cx="1739499" cy="1608598"/>
            </a:xfrm>
            <a:prstGeom prst="rect">
              <a:avLst/>
            </a:prstGeom>
            <a:solidFill>
              <a:srgbClr val="008D2E">
                <a:alpha val="2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spcAft>
                  <a:spcPts val="600"/>
                </a:spcAft>
              </a:pPr>
              <a:r>
                <a:rPr lang="ja-JP" altLang="en-US" sz="1400" dirty="0">
                  <a:solidFill>
                    <a:schemeClr val="accent5"/>
                  </a:solidFill>
                  <a:latin typeface="+mn-ea"/>
                </a:rPr>
                <a:t>継続からの増分粗利</a:t>
              </a:r>
              <a:endParaRPr lang="en-US" altLang="ja-JP" sz="1400" dirty="0">
                <a:solidFill>
                  <a:schemeClr val="accent5"/>
                </a:solidFill>
                <a:latin typeface="+mn-ea"/>
              </a:endParaRPr>
            </a:p>
            <a:p>
              <a:r>
                <a:rPr lang="en-US" altLang="ja-JP" sz="1100" dirty="0">
                  <a:solidFill>
                    <a:schemeClr val="tx1"/>
                  </a:solidFill>
                  <a:latin typeface="+mn-ea"/>
                </a:rPr>
                <a:t>13</a:t>
              </a:r>
              <a:r>
                <a:rPr lang="ja-JP" altLang="en-US" sz="1100" dirty="0">
                  <a:solidFill>
                    <a:schemeClr val="tx1"/>
                  </a:solidFill>
                  <a:latin typeface="+mn-ea"/>
                </a:rPr>
                <a:t>カ月目以降の顧客</a:t>
              </a:r>
              <a:r>
                <a:rPr lang="en-US" altLang="ja-JP" sz="1100" dirty="0">
                  <a:solidFill>
                    <a:schemeClr val="tx1"/>
                  </a:solidFill>
                  <a:latin typeface="+mn-ea"/>
                </a:rPr>
                <a:t>(LTV)</a:t>
              </a:r>
              <a:endParaRPr lang="ja-JP" altLang="en-US" sz="1400" dirty="0">
                <a:solidFill>
                  <a:schemeClr val="bg1"/>
                </a:solidFill>
                <a:latin typeface="+mn-ea"/>
              </a:endParaRPr>
            </a:p>
          </p:txBody>
        </p:sp>
        <p:sp>
          <p:nvSpPr>
            <p:cNvPr id="43" name="正方形/長方形 42">
              <a:extLst>
                <a:ext uri="{FF2B5EF4-FFF2-40B4-BE49-F238E27FC236}">
                  <a16:creationId xmlns:a16="http://schemas.microsoft.com/office/drawing/2014/main" id="{3E931F60-593F-746C-4DEE-0C7F4F1608C6}"/>
                </a:ext>
              </a:extLst>
            </p:cNvPr>
            <p:cNvSpPr/>
            <p:nvPr/>
          </p:nvSpPr>
          <p:spPr>
            <a:xfrm>
              <a:off x="5918296" y="2036969"/>
              <a:ext cx="4840859" cy="503999"/>
            </a:xfrm>
            <a:prstGeom prst="rect">
              <a:avLst/>
            </a:prstGeom>
            <a:noFill/>
            <a:ln w="9525">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pPr lvl="0">
                <a:spcAft>
                  <a:spcPts val="300"/>
                </a:spcAft>
                <a:defRPr/>
              </a:pPr>
              <a:r>
                <a:rPr lang="ja-JP" altLang="en-US" sz="1000" dirty="0">
                  <a:solidFill>
                    <a:schemeClr val="tx1"/>
                  </a:solidFill>
                  <a:latin typeface="+mn-ea"/>
                </a:rPr>
                <a:t>固定の質問</a:t>
              </a:r>
              <a:r>
                <a:rPr lang="en-US" altLang="ja-JP" sz="1000" dirty="0">
                  <a:solidFill>
                    <a:schemeClr val="tx1"/>
                  </a:solidFill>
                  <a:latin typeface="+mn-ea"/>
                </a:rPr>
                <a:t>200</a:t>
              </a:r>
              <a:r>
                <a:rPr lang="ja-JP" altLang="en-US" sz="1000" dirty="0">
                  <a:solidFill>
                    <a:schemeClr val="tx1"/>
                  </a:solidFill>
                  <a:latin typeface="+mn-ea"/>
                </a:rPr>
                <a:t>問を月次で各</a:t>
              </a:r>
              <a:r>
                <a:rPr lang="en-US" altLang="ja-JP" sz="1000" dirty="0">
                  <a:solidFill>
                    <a:schemeClr val="tx1"/>
                  </a:solidFill>
                  <a:latin typeface="+mn-ea"/>
                </a:rPr>
                <a:t>AI</a:t>
              </a:r>
              <a:r>
                <a:rPr lang="ja-JP" altLang="en-US" sz="1000" dirty="0">
                  <a:solidFill>
                    <a:schemeClr val="tx1"/>
                  </a:solidFill>
                  <a:latin typeface="+mn-ea"/>
                </a:rPr>
                <a:t>に</a:t>
              </a:r>
              <a:r>
                <a:rPr lang="en-US" altLang="ja-JP" sz="1000" dirty="0">
                  <a:solidFill>
                    <a:schemeClr val="tx1"/>
                  </a:solidFill>
                  <a:latin typeface="+mn-ea"/>
                </a:rPr>
                <a:t>3</a:t>
              </a:r>
              <a:r>
                <a:rPr lang="ja-JP" altLang="en-US" sz="1000" dirty="0">
                  <a:solidFill>
                    <a:schemeClr val="tx1"/>
                  </a:solidFill>
                  <a:latin typeface="+mn-ea"/>
                </a:rPr>
                <a:t>回ずつ投げ、ライオンが推奨・引用された割合の平均</a:t>
              </a:r>
            </a:p>
            <a:p>
              <a:pPr lvl="0">
                <a:spcAft>
                  <a:spcPts val="300"/>
                </a:spcAft>
                <a:defRPr/>
              </a:pPr>
              <a:r>
                <a:rPr lang="zh-TW" altLang="en-US" sz="1000" dirty="0">
                  <a:solidFill>
                    <a:schemeClr val="accent5"/>
                  </a:solidFill>
                  <a:latin typeface="+mn-ea"/>
                </a:rPr>
                <a:t>自社測定 </a:t>
              </a:r>
              <a:r>
                <a:rPr lang="en-US" altLang="zh-TW" sz="1000" dirty="0">
                  <a:solidFill>
                    <a:schemeClr val="accent5"/>
                  </a:solidFill>
                  <a:latin typeface="+mn-ea"/>
                </a:rPr>
                <a:t>/ </a:t>
              </a:r>
              <a:r>
                <a:rPr lang="zh-TW" altLang="en-US" sz="1000" dirty="0">
                  <a:solidFill>
                    <a:schemeClr val="accent5"/>
                  </a:solidFill>
                  <a:latin typeface="+mn-ea"/>
                </a:rPr>
                <a:t>月次 </a:t>
              </a:r>
              <a:r>
                <a:rPr lang="en-US" altLang="zh-TW" sz="1000" dirty="0">
                  <a:solidFill>
                    <a:schemeClr val="accent5"/>
                  </a:solidFill>
                  <a:latin typeface="+mn-ea"/>
                </a:rPr>
                <a:t>/ IR : </a:t>
              </a:r>
              <a:r>
                <a:rPr lang="zh-TW" altLang="en-US" sz="1000" dirty="0">
                  <a:solidFill>
                    <a:schemeClr val="accent5"/>
                  </a:solidFill>
                  <a:latin typeface="+mn-ea"/>
                </a:rPr>
                <a:t>高</a:t>
              </a:r>
            </a:p>
          </p:txBody>
        </p:sp>
        <p:sp>
          <p:nvSpPr>
            <p:cNvPr id="46" name="正方形/長方形 45">
              <a:extLst>
                <a:ext uri="{FF2B5EF4-FFF2-40B4-BE49-F238E27FC236}">
                  <a16:creationId xmlns:a16="http://schemas.microsoft.com/office/drawing/2014/main" id="{416341F0-61F9-2B9E-BEF4-E449C37B0B52}"/>
                </a:ext>
              </a:extLst>
            </p:cNvPr>
            <p:cNvSpPr/>
            <p:nvPr/>
          </p:nvSpPr>
          <p:spPr>
            <a:xfrm>
              <a:off x="4378847" y="2036969"/>
              <a:ext cx="1539450" cy="504000"/>
            </a:xfrm>
            <a:prstGeom prst="rect">
              <a:avLst/>
            </a:prstGeom>
            <a:solidFill>
              <a:srgbClr val="008D2E"/>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04000" tIns="36000" rIns="36000" bIns="36000" numCol="1" spcCol="0" rtlCol="0" fromWordArt="0" anchor="ctr" anchorCtr="0" forceAA="0" compatLnSpc="1">
              <a:prstTxWarp prst="textNoShape">
                <a:avLst/>
              </a:prstTxWarp>
              <a:noAutofit/>
            </a:bodyPr>
            <a:lstStyle/>
            <a:p>
              <a:r>
                <a:rPr lang="en-US" altLang="ja-JP" sz="1050" dirty="0">
                  <a:solidFill>
                    <a:schemeClr val="bg1"/>
                  </a:solidFill>
                  <a:latin typeface="+mn-ea"/>
                </a:rPr>
                <a:t>AI</a:t>
              </a:r>
              <a:r>
                <a:rPr lang="ja-JP" altLang="en-US" sz="1050" dirty="0">
                  <a:solidFill>
                    <a:schemeClr val="bg1"/>
                  </a:solidFill>
                  <a:latin typeface="+mn-ea"/>
                </a:rPr>
                <a:t>推奨シェア</a:t>
              </a:r>
              <a:r>
                <a:rPr lang="en-US" altLang="ja-JP" sz="1050" dirty="0">
                  <a:solidFill>
                    <a:schemeClr val="bg1"/>
                  </a:solidFill>
                  <a:latin typeface="+mn-ea"/>
                </a:rPr>
                <a:t>(AIEO Rate)</a:t>
              </a:r>
            </a:p>
          </p:txBody>
        </p:sp>
        <p:sp>
          <p:nvSpPr>
            <p:cNvPr id="52" name="正方形/長方形 45">
              <a:extLst>
                <a:ext uri="{FF2B5EF4-FFF2-40B4-BE49-F238E27FC236}">
                  <a16:creationId xmlns:a16="http://schemas.microsoft.com/office/drawing/2014/main" id="{416341F0-61F9-2B9E-BEF4-E449C37B0B52}"/>
                </a:ext>
              </a:extLst>
            </p:cNvPr>
            <p:cNvSpPr/>
            <p:nvPr/>
          </p:nvSpPr>
          <p:spPr>
            <a:xfrm>
              <a:off x="4378847" y="2589268"/>
              <a:ext cx="1539450" cy="504000"/>
            </a:xfrm>
            <a:prstGeom prst="rect">
              <a:avLst/>
            </a:prstGeom>
            <a:solidFill>
              <a:srgbClr val="008D2E"/>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04000" tIns="36000" rIns="36000" bIns="36000" numCol="1" spcCol="0" rtlCol="0" fromWordArt="0" anchor="ctr" anchorCtr="0" forceAA="0" compatLnSpc="1">
              <a:prstTxWarp prst="textNoShape">
                <a:avLst/>
              </a:prstTxWarp>
              <a:noAutofit/>
            </a:bodyPr>
            <a:lstStyle/>
            <a:p>
              <a:r>
                <a:rPr lang="ja-JP" altLang="en-US" sz="1050" dirty="0">
                  <a:solidFill>
                    <a:schemeClr val="bg1"/>
                  </a:solidFill>
                  <a:latin typeface="+mn-ea"/>
                </a:rPr>
                <a:t>カテゴリ新規客数</a:t>
              </a:r>
              <a:r>
                <a:rPr lang="en-US" altLang="ja-JP" sz="1050" dirty="0">
                  <a:solidFill>
                    <a:schemeClr val="bg1"/>
                  </a:solidFill>
                  <a:latin typeface="+mn-ea"/>
                </a:rPr>
                <a:t>(N-t-C)</a:t>
              </a:r>
            </a:p>
          </p:txBody>
        </p:sp>
        <p:sp>
          <p:nvSpPr>
            <p:cNvPr id="53" name="正方形/長方形 45">
              <a:extLst>
                <a:ext uri="{FF2B5EF4-FFF2-40B4-BE49-F238E27FC236}">
                  <a16:creationId xmlns:a16="http://schemas.microsoft.com/office/drawing/2014/main" id="{416341F0-61F9-2B9E-BEF4-E449C37B0B52}"/>
                </a:ext>
              </a:extLst>
            </p:cNvPr>
            <p:cNvSpPr/>
            <p:nvPr/>
          </p:nvSpPr>
          <p:spPr>
            <a:xfrm>
              <a:off x="4378847" y="3141567"/>
              <a:ext cx="1539450" cy="504000"/>
            </a:xfrm>
            <a:prstGeom prst="rect">
              <a:avLst/>
            </a:prstGeom>
            <a:solidFill>
              <a:srgbClr val="008D2E"/>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04000" tIns="36000" rIns="36000" bIns="36000" numCol="1" spcCol="0" rtlCol="0" fromWordArt="0" anchor="ctr" anchorCtr="0" forceAA="0" compatLnSpc="1">
              <a:prstTxWarp prst="textNoShape">
                <a:avLst/>
              </a:prstTxWarp>
              <a:noAutofit/>
            </a:bodyPr>
            <a:lstStyle/>
            <a:p>
              <a:r>
                <a:rPr lang="ja-JP" altLang="en-US" sz="1050" dirty="0">
                  <a:solidFill>
                    <a:schemeClr val="bg1"/>
                  </a:solidFill>
                  <a:latin typeface="+mn-ea"/>
                </a:rPr>
                <a:t>意向把握の有効登録者数</a:t>
              </a:r>
              <a:endParaRPr lang="en-US" altLang="ja-JP" sz="1050" dirty="0">
                <a:solidFill>
                  <a:schemeClr val="bg1"/>
                </a:solidFill>
                <a:latin typeface="+mn-ea"/>
              </a:endParaRPr>
            </a:p>
          </p:txBody>
        </p:sp>
        <p:sp>
          <p:nvSpPr>
            <p:cNvPr id="10" name="正方形/長方形 62">
              <a:extLst>
                <a:ext uri="{FF2B5EF4-FFF2-40B4-BE49-F238E27FC236}">
                  <a16:creationId xmlns:a16="http://schemas.microsoft.com/office/drawing/2014/main" id="{68B759BC-AA5E-54CA-6D67-60181C12D376}"/>
                </a:ext>
              </a:extLst>
            </p:cNvPr>
            <p:cNvSpPr/>
            <p:nvPr/>
          </p:nvSpPr>
          <p:spPr>
            <a:xfrm>
              <a:off x="4419423" y="2101055"/>
              <a:ext cx="381492" cy="340294"/>
            </a:xfrm>
            <a:prstGeom prst="roundRect">
              <a:avLst>
                <a:gd name="adj" fmla="val 10579"/>
              </a:avLst>
            </a:prstGeom>
            <a:solidFill>
              <a:schemeClr val="bg1"/>
            </a:solidFill>
            <a:ln w="95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defRPr/>
              </a:pPr>
              <a:r>
                <a:rPr lang="en-US" altLang="ja-JP" sz="1200" dirty="0">
                  <a:solidFill>
                    <a:schemeClr val="accent5"/>
                  </a:solidFill>
                  <a:latin typeface="+mn-ea"/>
                </a:rPr>
                <a:t>K1</a:t>
              </a:r>
              <a:endParaRPr kumimoji="1" lang="en-US" altLang="ja-JP" sz="1200" b="0" i="0" u="none" strike="noStrike" kern="1200" cap="none" spc="0" normalizeH="0" baseline="0" noProof="0" dirty="0">
                <a:ln>
                  <a:noFill/>
                </a:ln>
                <a:solidFill>
                  <a:schemeClr val="accent5"/>
                </a:solidFill>
                <a:effectLst/>
                <a:uLnTx/>
                <a:uFillTx/>
                <a:latin typeface="+mn-ea"/>
              </a:endParaRPr>
            </a:p>
          </p:txBody>
        </p:sp>
        <p:sp>
          <p:nvSpPr>
            <p:cNvPr id="12" name="正方形/長方形 11">
              <a:extLst>
                <a:ext uri="{FF2B5EF4-FFF2-40B4-BE49-F238E27FC236}">
                  <a16:creationId xmlns:a16="http://schemas.microsoft.com/office/drawing/2014/main" id="{64F1D6C8-EFE2-2976-6243-D57AD87DEE80}"/>
                </a:ext>
              </a:extLst>
            </p:cNvPr>
            <p:cNvSpPr/>
            <p:nvPr/>
          </p:nvSpPr>
          <p:spPr>
            <a:xfrm>
              <a:off x="5918296" y="2589267"/>
              <a:ext cx="4840859" cy="504000"/>
            </a:xfrm>
            <a:prstGeom prst="rect">
              <a:avLst/>
            </a:prstGeom>
            <a:noFill/>
            <a:ln w="9525">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pPr lvl="0">
                <a:spcAft>
                  <a:spcPts val="300"/>
                </a:spcAft>
                <a:defRPr/>
              </a:pPr>
              <a:r>
                <a:rPr lang="ja-JP" altLang="en-US" sz="1000" dirty="0">
                  <a:solidFill>
                    <a:schemeClr val="tx1"/>
                  </a:solidFill>
                  <a:latin typeface="+mn-ea"/>
                </a:rPr>
                <a:t>過去</a:t>
              </a:r>
              <a:r>
                <a:rPr lang="en-US" altLang="ja-JP" sz="1000" dirty="0">
                  <a:solidFill>
                    <a:schemeClr val="tx1"/>
                  </a:solidFill>
                  <a:latin typeface="+mn-ea"/>
                </a:rPr>
                <a:t>24</a:t>
              </a:r>
              <a:r>
                <a:rPr lang="ja-JP" altLang="en-US" sz="1000" dirty="0">
                  <a:solidFill>
                    <a:schemeClr val="tx1"/>
                  </a:solidFill>
                  <a:latin typeface="+mn-ea"/>
                </a:rPr>
                <a:t>カ月オーラル購買のない人が初回購買した人数。データ連携済みの重点小売で数える</a:t>
              </a:r>
            </a:p>
            <a:p>
              <a:pPr lvl="0">
                <a:spcAft>
                  <a:spcPts val="300"/>
                </a:spcAft>
                <a:defRPr/>
              </a:pPr>
              <a:r>
                <a:rPr lang="zh-TW" altLang="en-US" sz="1000" dirty="0">
                  <a:solidFill>
                    <a:schemeClr val="accent5"/>
                  </a:solidFill>
                  <a:latin typeface="+mn-ea"/>
                </a:rPr>
                <a:t>重点小売</a:t>
              </a:r>
              <a:r>
                <a:rPr lang="en-US" altLang="zh-TW" sz="1000" dirty="0">
                  <a:solidFill>
                    <a:schemeClr val="accent5"/>
                  </a:solidFill>
                  <a:latin typeface="+mn-ea"/>
                </a:rPr>
                <a:t>ID-POS</a:t>
              </a:r>
              <a:r>
                <a:rPr lang="zh-TW" altLang="en-US" sz="1000" dirty="0">
                  <a:solidFill>
                    <a:schemeClr val="accent5"/>
                  </a:solidFill>
                  <a:latin typeface="+mn-ea"/>
                </a:rPr>
                <a:t> </a:t>
              </a:r>
              <a:r>
                <a:rPr lang="en-US" altLang="zh-TW" sz="1000" dirty="0">
                  <a:solidFill>
                    <a:schemeClr val="accent5"/>
                  </a:solidFill>
                  <a:latin typeface="+mn-ea"/>
                </a:rPr>
                <a:t>/ </a:t>
              </a:r>
              <a:r>
                <a:rPr lang="zh-TW" altLang="en-US" sz="1000" dirty="0">
                  <a:solidFill>
                    <a:schemeClr val="accent5"/>
                  </a:solidFill>
                  <a:latin typeface="+mn-ea"/>
                </a:rPr>
                <a:t>四半期 </a:t>
              </a:r>
              <a:r>
                <a:rPr lang="en-US" altLang="zh-TW" sz="1000" dirty="0">
                  <a:solidFill>
                    <a:schemeClr val="accent5"/>
                  </a:solidFill>
                  <a:latin typeface="+mn-ea"/>
                </a:rPr>
                <a:t>/ IR : </a:t>
              </a:r>
              <a:r>
                <a:rPr lang="zh-TW" altLang="en-US" sz="1000" dirty="0">
                  <a:solidFill>
                    <a:schemeClr val="accent5"/>
                  </a:solidFill>
                  <a:latin typeface="+mn-ea"/>
                </a:rPr>
                <a:t>高</a:t>
              </a:r>
            </a:p>
          </p:txBody>
        </p:sp>
        <p:sp>
          <p:nvSpPr>
            <p:cNvPr id="13" name="正方形/長方形 12">
              <a:extLst>
                <a:ext uri="{FF2B5EF4-FFF2-40B4-BE49-F238E27FC236}">
                  <a16:creationId xmlns:a16="http://schemas.microsoft.com/office/drawing/2014/main" id="{ECA8A068-9514-B07A-173E-E896E329C143}"/>
                </a:ext>
              </a:extLst>
            </p:cNvPr>
            <p:cNvSpPr/>
            <p:nvPr/>
          </p:nvSpPr>
          <p:spPr>
            <a:xfrm>
              <a:off x="5918296" y="3141567"/>
              <a:ext cx="4840859" cy="504000"/>
            </a:xfrm>
            <a:prstGeom prst="rect">
              <a:avLst/>
            </a:prstGeom>
            <a:noFill/>
            <a:ln w="9525">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pPr lvl="0">
                <a:spcAft>
                  <a:spcPts val="300"/>
                </a:spcAft>
                <a:defRPr/>
              </a:pPr>
              <a:r>
                <a:rPr lang="ja-JP" altLang="en-US" sz="1000" dirty="0">
                  <a:solidFill>
                    <a:schemeClr val="tx1"/>
                  </a:solidFill>
                  <a:latin typeface="+mn-ea"/>
                </a:rPr>
                <a:t>アプリ・</a:t>
              </a:r>
              <a:r>
                <a:rPr lang="en-US" altLang="ja-JP" sz="1000" dirty="0">
                  <a:solidFill>
                    <a:schemeClr val="tx1"/>
                  </a:solidFill>
                  <a:latin typeface="+mn-ea"/>
                </a:rPr>
                <a:t>LINE</a:t>
              </a:r>
              <a:r>
                <a:rPr lang="ja-JP" altLang="en-US" sz="1000" dirty="0">
                  <a:solidFill>
                    <a:schemeClr val="tx1"/>
                  </a:solidFill>
                  <a:latin typeface="+mn-ea"/>
                </a:rPr>
                <a:t>・診断ツールで口腔の悩み・意向を登録し、</a:t>
              </a:r>
              <a:r>
                <a:rPr lang="en-US" altLang="ja-JP" sz="1000" dirty="0">
                  <a:solidFill>
                    <a:schemeClr val="tx1"/>
                  </a:solidFill>
                  <a:latin typeface="+mn-ea"/>
                </a:rPr>
                <a:t>12</a:t>
              </a:r>
              <a:r>
                <a:rPr lang="ja-JP" altLang="en-US" sz="1000" dirty="0">
                  <a:solidFill>
                    <a:schemeClr val="tx1"/>
                  </a:solidFill>
                  <a:latin typeface="+mn-ea"/>
                </a:rPr>
                <a:t>カ月以内に更新がある人数 </a:t>
              </a:r>
              <a:r>
                <a:rPr lang="en-US" altLang="ja-JP" sz="1000" dirty="0">
                  <a:solidFill>
                    <a:schemeClr val="tx1"/>
                  </a:solidFill>
                  <a:latin typeface="+mn-ea"/>
                </a:rPr>
                <a:t>(</a:t>
              </a:r>
              <a:r>
                <a:rPr lang="ja-JP" altLang="en-US" sz="1000" dirty="0">
                  <a:solidFill>
                    <a:schemeClr val="tx1"/>
                  </a:solidFill>
                  <a:latin typeface="+mn-ea"/>
                </a:rPr>
                <a:t>実数</a:t>
              </a:r>
              <a:r>
                <a:rPr lang="en-US" altLang="ja-JP" sz="1000" dirty="0">
                  <a:solidFill>
                    <a:schemeClr val="tx1"/>
                  </a:solidFill>
                  <a:latin typeface="+mn-ea"/>
                </a:rPr>
                <a:t>)</a:t>
              </a:r>
              <a:endParaRPr lang="ja-JP" altLang="en-US" sz="1000" dirty="0">
                <a:solidFill>
                  <a:schemeClr val="tx1"/>
                </a:solidFill>
                <a:latin typeface="+mn-ea"/>
              </a:endParaRPr>
            </a:p>
            <a:p>
              <a:pPr lvl="0">
                <a:spcAft>
                  <a:spcPts val="300"/>
                </a:spcAft>
                <a:defRPr/>
              </a:pPr>
              <a:r>
                <a:rPr lang="zh-TW" altLang="en-US" sz="1000" dirty="0">
                  <a:solidFill>
                    <a:schemeClr val="accent5"/>
                  </a:solidFill>
                  <a:latin typeface="+mn-ea"/>
                </a:rPr>
                <a:t>自社顧客基盤 </a:t>
              </a:r>
              <a:r>
                <a:rPr lang="en-US" altLang="zh-TW" sz="1000" dirty="0">
                  <a:solidFill>
                    <a:schemeClr val="accent5"/>
                  </a:solidFill>
                  <a:latin typeface="+mn-ea"/>
                </a:rPr>
                <a:t>/ </a:t>
              </a:r>
              <a:r>
                <a:rPr lang="zh-TW" altLang="en-US" sz="1000" dirty="0">
                  <a:solidFill>
                    <a:schemeClr val="accent5"/>
                  </a:solidFill>
                  <a:latin typeface="+mn-ea"/>
                </a:rPr>
                <a:t>月次 </a:t>
              </a:r>
              <a:r>
                <a:rPr lang="en-US" altLang="zh-TW" sz="1000" dirty="0">
                  <a:solidFill>
                    <a:schemeClr val="accent5"/>
                  </a:solidFill>
                  <a:latin typeface="+mn-ea"/>
                </a:rPr>
                <a:t>/ IR : </a:t>
              </a:r>
              <a:r>
                <a:rPr lang="zh-TW" altLang="en-US" sz="1000" dirty="0">
                  <a:solidFill>
                    <a:schemeClr val="accent5"/>
                  </a:solidFill>
                  <a:latin typeface="+mn-ea"/>
                </a:rPr>
                <a:t>高</a:t>
              </a:r>
            </a:p>
          </p:txBody>
        </p:sp>
        <p:sp>
          <p:nvSpPr>
            <p:cNvPr id="14" name="正方形/長方形 62">
              <a:extLst>
                <a:ext uri="{FF2B5EF4-FFF2-40B4-BE49-F238E27FC236}">
                  <a16:creationId xmlns:a16="http://schemas.microsoft.com/office/drawing/2014/main" id="{73036C6B-ED2F-2FA2-C782-0842C86B7EF7}"/>
                </a:ext>
              </a:extLst>
            </p:cNvPr>
            <p:cNvSpPr/>
            <p:nvPr/>
          </p:nvSpPr>
          <p:spPr>
            <a:xfrm>
              <a:off x="4419423" y="2671120"/>
              <a:ext cx="381492" cy="340294"/>
            </a:xfrm>
            <a:prstGeom prst="roundRect">
              <a:avLst>
                <a:gd name="adj" fmla="val 10579"/>
              </a:avLst>
            </a:prstGeom>
            <a:solidFill>
              <a:schemeClr val="bg1"/>
            </a:solidFill>
            <a:ln w="95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defRPr/>
              </a:pPr>
              <a:r>
                <a:rPr lang="en-US" altLang="ja-JP" sz="1200" dirty="0">
                  <a:solidFill>
                    <a:schemeClr val="accent5"/>
                  </a:solidFill>
                  <a:latin typeface="+mn-ea"/>
                </a:rPr>
                <a:t>K2</a:t>
              </a:r>
              <a:endParaRPr kumimoji="1" lang="en-US" altLang="ja-JP" sz="1200" b="0" i="0" u="none" strike="noStrike" kern="1200" cap="none" spc="0" normalizeH="0" baseline="0" noProof="0" dirty="0">
                <a:ln>
                  <a:noFill/>
                </a:ln>
                <a:solidFill>
                  <a:schemeClr val="accent5"/>
                </a:solidFill>
                <a:effectLst/>
                <a:uLnTx/>
                <a:uFillTx/>
                <a:latin typeface="+mn-ea"/>
              </a:endParaRPr>
            </a:p>
          </p:txBody>
        </p:sp>
        <p:sp>
          <p:nvSpPr>
            <p:cNvPr id="15" name="正方形/長方形 62">
              <a:extLst>
                <a:ext uri="{FF2B5EF4-FFF2-40B4-BE49-F238E27FC236}">
                  <a16:creationId xmlns:a16="http://schemas.microsoft.com/office/drawing/2014/main" id="{4715315B-2229-ED92-99BF-314E057FD7F7}"/>
                </a:ext>
              </a:extLst>
            </p:cNvPr>
            <p:cNvSpPr/>
            <p:nvPr/>
          </p:nvSpPr>
          <p:spPr>
            <a:xfrm>
              <a:off x="4419423" y="3223420"/>
              <a:ext cx="381492" cy="340294"/>
            </a:xfrm>
            <a:prstGeom prst="roundRect">
              <a:avLst>
                <a:gd name="adj" fmla="val 10579"/>
              </a:avLst>
            </a:prstGeom>
            <a:solidFill>
              <a:schemeClr val="bg1"/>
            </a:solidFill>
            <a:ln w="95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defRPr/>
              </a:pPr>
              <a:r>
                <a:rPr lang="en-US" altLang="ja-JP" sz="1200" dirty="0">
                  <a:solidFill>
                    <a:schemeClr val="accent5"/>
                  </a:solidFill>
                  <a:latin typeface="+mn-ea"/>
                </a:rPr>
                <a:t>K3</a:t>
              </a:r>
              <a:endParaRPr kumimoji="1" lang="en-US" altLang="ja-JP" sz="1200" b="0" i="0" u="none" strike="noStrike" kern="1200" cap="none" spc="0" normalizeH="0" baseline="0" noProof="0" dirty="0">
                <a:ln>
                  <a:noFill/>
                </a:ln>
                <a:solidFill>
                  <a:schemeClr val="accent5"/>
                </a:solidFill>
                <a:effectLst/>
                <a:uLnTx/>
                <a:uFillTx/>
                <a:latin typeface="+mn-ea"/>
              </a:endParaRPr>
            </a:p>
          </p:txBody>
        </p:sp>
        <p:sp>
          <p:nvSpPr>
            <p:cNvPr id="18" name="正方形/長方形 17">
              <a:extLst>
                <a:ext uri="{FF2B5EF4-FFF2-40B4-BE49-F238E27FC236}">
                  <a16:creationId xmlns:a16="http://schemas.microsoft.com/office/drawing/2014/main" id="{0AB091B4-6483-15F7-B4AD-71F306FCC4D5}"/>
                </a:ext>
              </a:extLst>
            </p:cNvPr>
            <p:cNvSpPr/>
            <p:nvPr/>
          </p:nvSpPr>
          <p:spPr>
            <a:xfrm>
              <a:off x="5918296" y="4082156"/>
              <a:ext cx="4840859" cy="468000"/>
            </a:xfrm>
            <a:prstGeom prst="rect">
              <a:avLst/>
            </a:prstGeom>
            <a:noFill/>
            <a:ln w="9525">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pPr lvl="0">
                <a:spcAft>
                  <a:spcPts val="300"/>
                </a:spcAft>
                <a:defRPr/>
              </a:pPr>
              <a:r>
                <a:rPr lang="ja-JP" altLang="en-US" sz="1000" dirty="0">
                  <a:solidFill>
                    <a:schemeClr val="tx1"/>
                  </a:solidFill>
                  <a:latin typeface="+mn-ea"/>
                </a:rPr>
                <a:t>初回購買者のうち、</a:t>
              </a:r>
              <a:r>
                <a:rPr lang="en-US" altLang="ja-JP" sz="1000" dirty="0">
                  <a:solidFill>
                    <a:schemeClr val="tx1"/>
                  </a:solidFill>
                  <a:latin typeface="+mn-ea"/>
                </a:rPr>
                <a:t>12</a:t>
              </a:r>
              <a:r>
                <a:rPr lang="ja-JP" altLang="en-US" sz="1000" dirty="0">
                  <a:solidFill>
                    <a:schemeClr val="tx1"/>
                  </a:solidFill>
                  <a:latin typeface="+mn-ea"/>
                </a:rPr>
                <a:t>カ月以内に同カテゴリを再購買した人の比率</a:t>
              </a:r>
            </a:p>
            <a:p>
              <a:pPr lvl="0">
                <a:spcAft>
                  <a:spcPts val="300"/>
                </a:spcAft>
                <a:defRPr/>
              </a:pPr>
              <a:r>
                <a:rPr lang="zh-TW" altLang="en-US" sz="1000" dirty="0">
                  <a:solidFill>
                    <a:schemeClr val="accent5"/>
                  </a:solidFill>
                  <a:latin typeface="+mn-ea"/>
                </a:rPr>
                <a:t>重点小売</a:t>
              </a:r>
              <a:r>
                <a:rPr lang="en-US" altLang="zh-TW" sz="1000" dirty="0">
                  <a:solidFill>
                    <a:schemeClr val="accent5"/>
                  </a:solidFill>
                  <a:latin typeface="+mn-ea"/>
                </a:rPr>
                <a:t>ID-POS</a:t>
              </a:r>
              <a:r>
                <a:rPr lang="zh-TW" altLang="en-US" sz="1000" dirty="0">
                  <a:solidFill>
                    <a:schemeClr val="accent5"/>
                  </a:solidFill>
                  <a:latin typeface="+mn-ea"/>
                </a:rPr>
                <a:t> </a:t>
              </a:r>
              <a:r>
                <a:rPr lang="en-US" altLang="zh-TW" sz="1000" dirty="0">
                  <a:solidFill>
                    <a:schemeClr val="accent5"/>
                  </a:solidFill>
                  <a:latin typeface="+mn-ea"/>
                </a:rPr>
                <a:t>/ </a:t>
              </a:r>
              <a:r>
                <a:rPr lang="zh-TW" altLang="en-US" sz="1000" dirty="0">
                  <a:solidFill>
                    <a:schemeClr val="accent5"/>
                  </a:solidFill>
                  <a:latin typeface="+mn-ea"/>
                </a:rPr>
                <a:t>四半期 </a:t>
              </a:r>
              <a:r>
                <a:rPr lang="en-US" altLang="zh-TW" sz="1000" dirty="0">
                  <a:solidFill>
                    <a:schemeClr val="accent5"/>
                  </a:solidFill>
                  <a:latin typeface="+mn-ea"/>
                </a:rPr>
                <a:t>/ IR : </a:t>
              </a:r>
              <a:r>
                <a:rPr lang="zh-TW" altLang="en-US" sz="1000" dirty="0">
                  <a:solidFill>
                    <a:schemeClr val="accent5"/>
                  </a:solidFill>
                  <a:latin typeface="+mn-ea"/>
                </a:rPr>
                <a:t>中</a:t>
              </a:r>
            </a:p>
          </p:txBody>
        </p:sp>
        <p:sp>
          <p:nvSpPr>
            <p:cNvPr id="19" name="正方形/長方形 18">
              <a:extLst>
                <a:ext uri="{FF2B5EF4-FFF2-40B4-BE49-F238E27FC236}">
                  <a16:creationId xmlns:a16="http://schemas.microsoft.com/office/drawing/2014/main" id="{3865B654-1B2A-639E-5980-937A748D1722}"/>
                </a:ext>
              </a:extLst>
            </p:cNvPr>
            <p:cNvSpPr/>
            <p:nvPr/>
          </p:nvSpPr>
          <p:spPr>
            <a:xfrm>
              <a:off x="4378847" y="4082156"/>
              <a:ext cx="1539450" cy="504000"/>
            </a:xfrm>
            <a:prstGeom prst="rect">
              <a:avLst/>
            </a:prstGeom>
            <a:solidFill>
              <a:srgbClr val="008D2E"/>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04000" tIns="36000" rIns="36000" bIns="36000" numCol="1" spcCol="0" rtlCol="0" fromWordArt="0" anchor="ctr" anchorCtr="0" forceAA="0" compatLnSpc="1">
              <a:prstTxWarp prst="textNoShape">
                <a:avLst/>
              </a:prstTxWarp>
              <a:noAutofit/>
            </a:bodyPr>
            <a:lstStyle/>
            <a:p>
              <a:r>
                <a:rPr lang="en-US" altLang="ja-JP" sz="1050" dirty="0">
                  <a:solidFill>
                    <a:schemeClr val="bg1"/>
                  </a:solidFill>
                  <a:latin typeface="+mn-ea"/>
                </a:rPr>
                <a:t>12</a:t>
              </a:r>
              <a:r>
                <a:rPr lang="ja-JP" altLang="en-US" sz="1050" dirty="0">
                  <a:solidFill>
                    <a:schemeClr val="bg1"/>
                  </a:solidFill>
                  <a:latin typeface="+mn-ea"/>
                </a:rPr>
                <a:t>カ月リピート率</a:t>
              </a:r>
              <a:endParaRPr lang="en-US" altLang="ja-JP" sz="1050" dirty="0">
                <a:solidFill>
                  <a:schemeClr val="bg1"/>
                </a:solidFill>
                <a:latin typeface="+mn-ea"/>
              </a:endParaRPr>
            </a:p>
          </p:txBody>
        </p:sp>
        <p:sp>
          <p:nvSpPr>
            <p:cNvPr id="21" name="正方形/長方形 45">
              <a:extLst>
                <a:ext uri="{FF2B5EF4-FFF2-40B4-BE49-F238E27FC236}">
                  <a16:creationId xmlns:a16="http://schemas.microsoft.com/office/drawing/2014/main" id="{6E740225-826E-9C2C-4619-BB164462D83A}"/>
                </a:ext>
              </a:extLst>
            </p:cNvPr>
            <p:cNvSpPr/>
            <p:nvPr/>
          </p:nvSpPr>
          <p:spPr>
            <a:xfrm>
              <a:off x="4378847" y="4634455"/>
              <a:ext cx="1539450" cy="504000"/>
            </a:xfrm>
            <a:prstGeom prst="rect">
              <a:avLst/>
            </a:prstGeom>
            <a:solidFill>
              <a:srgbClr val="008D2E"/>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04000" tIns="36000" rIns="36000" bIns="36000" numCol="1" spcCol="0" rtlCol="0" fromWordArt="0" anchor="ctr" anchorCtr="0" forceAA="0" compatLnSpc="1">
              <a:prstTxWarp prst="textNoShape">
                <a:avLst/>
              </a:prstTxWarp>
              <a:noAutofit/>
            </a:bodyPr>
            <a:lstStyle/>
            <a:p>
              <a:r>
                <a:rPr lang="ja-JP" altLang="en-US" sz="1050" dirty="0">
                  <a:solidFill>
                    <a:schemeClr val="bg1"/>
                  </a:solidFill>
                  <a:latin typeface="+mn-ea"/>
                </a:rPr>
                <a:t>習慣プログラム</a:t>
              </a:r>
              <a:br>
                <a:rPr lang="en-US" altLang="ja-JP" sz="1050" dirty="0">
                  <a:solidFill>
                    <a:schemeClr val="bg1"/>
                  </a:solidFill>
                  <a:latin typeface="+mn-ea"/>
                </a:rPr>
              </a:br>
              <a:r>
                <a:rPr lang="en-US" altLang="ja-JP" sz="1050" dirty="0">
                  <a:solidFill>
                    <a:schemeClr val="bg1"/>
                  </a:solidFill>
                  <a:latin typeface="+mn-ea"/>
                </a:rPr>
                <a:t>90</a:t>
              </a:r>
              <a:r>
                <a:rPr lang="ja-JP" altLang="en-US" sz="1050" dirty="0">
                  <a:solidFill>
                    <a:schemeClr val="bg1"/>
                  </a:solidFill>
                  <a:latin typeface="+mn-ea"/>
                </a:rPr>
                <a:t>日継続率</a:t>
              </a:r>
              <a:endParaRPr lang="en-US" altLang="ja-JP" sz="1050" dirty="0">
                <a:solidFill>
                  <a:schemeClr val="bg1"/>
                </a:solidFill>
                <a:latin typeface="+mn-ea"/>
              </a:endParaRPr>
            </a:p>
          </p:txBody>
        </p:sp>
        <p:sp>
          <p:nvSpPr>
            <p:cNvPr id="22" name="正方形/長方形 45">
              <a:extLst>
                <a:ext uri="{FF2B5EF4-FFF2-40B4-BE49-F238E27FC236}">
                  <a16:creationId xmlns:a16="http://schemas.microsoft.com/office/drawing/2014/main" id="{170868D9-0796-B819-7A6D-6F5212E0408F}"/>
                </a:ext>
              </a:extLst>
            </p:cNvPr>
            <p:cNvSpPr/>
            <p:nvPr/>
          </p:nvSpPr>
          <p:spPr>
            <a:xfrm>
              <a:off x="4378847" y="5186754"/>
              <a:ext cx="1539450" cy="504000"/>
            </a:xfrm>
            <a:prstGeom prst="rect">
              <a:avLst/>
            </a:prstGeom>
            <a:solidFill>
              <a:srgbClr val="008D2E"/>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04000" tIns="36000" rIns="36000" bIns="36000" numCol="1" spcCol="0" rtlCol="0" fromWordArt="0" anchor="ctr" anchorCtr="0" forceAA="0" compatLnSpc="1">
              <a:prstTxWarp prst="textNoShape">
                <a:avLst/>
              </a:prstTxWarp>
              <a:noAutofit/>
            </a:bodyPr>
            <a:lstStyle/>
            <a:p>
              <a:r>
                <a:rPr lang="ja-JP" altLang="en-US" sz="1050" dirty="0">
                  <a:solidFill>
                    <a:schemeClr val="bg1"/>
                  </a:solidFill>
                  <a:latin typeface="+mn-ea"/>
                </a:rPr>
                <a:t>特売依存度</a:t>
              </a:r>
              <a:br>
                <a:rPr lang="en-US" altLang="ja-JP" sz="1050" dirty="0">
                  <a:solidFill>
                    <a:schemeClr val="bg1"/>
                  </a:solidFill>
                  <a:latin typeface="+mn-ea"/>
                </a:rPr>
              </a:br>
              <a:r>
                <a:rPr lang="en-US" altLang="ja-JP" sz="1050" dirty="0">
                  <a:solidFill>
                    <a:schemeClr val="bg1"/>
                  </a:solidFill>
                  <a:latin typeface="+mn-ea"/>
                </a:rPr>
                <a:t>(</a:t>
              </a:r>
              <a:r>
                <a:rPr lang="ja-JP" altLang="en-US" sz="1050" dirty="0">
                  <a:solidFill>
                    <a:schemeClr val="bg1"/>
                  </a:solidFill>
                  <a:latin typeface="+mn-ea"/>
                </a:rPr>
                <a:t>値引き率</a:t>
              </a:r>
              <a:r>
                <a:rPr lang="en-US" altLang="ja-JP" sz="1050" dirty="0">
                  <a:solidFill>
                    <a:schemeClr val="bg1"/>
                  </a:solidFill>
                  <a:latin typeface="+mn-ea"/>
                </a:rPr>
                <a:t>)</a:t>
              </a:r>
            </a:p>
          </p:txBody>
        </p:sp>
        <p:sp>
          <p:nvSpPr>
            <p:cNvPr id="23" name="正方形/長方形 62">
              <a:extLst>
                <a:ext uri="{FF2B5EF4-FFF2-40B4-BE49-F238E27FC236}">
                  <a16:creationId xmlns:a16="http://schemas.microsoft.com/office/drawing/2014/main" id="{141AB981-5328-DC89-9EBC-45CFBC08BFE6}"/>
                </a:ext>
              </a:extLst>
            </p:cNvPr>
            <p:cNvSpPr/>
            <p:nvPr/>
          </p:nvSpPr>
          <p:spPr>
            <a:xfrm>
              <a:off x="4419423" y="4146242"/>
              <a:ext cx="381492" cy="340294"/>
            </a:xfrm>
            <a:prstGeom prst="roundRect">
              <a:avLst>
                <a:gd name="adj" fmla="val 10579"/>
              </a:avLst>
            </a:prstGeom>
            <a:solidFill>
              <a:schemeClr val="bg1"/>
            </a:solidFill>
            <a:ln w="95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defRPr/>
              </a:pPr>
              <a:r>
                <a:rPr lang="en-US" altLang="ja-JP" sz="1200" dirty="0">
                  <a:solidFill>
                    <a:schemeClr val="accent5"/>
                  </a:solidFill>
                  <a:latin typeface="+mn-ea"/>
                </a:rPr>
                <a:t>K4</a:t>
              </a:r>
              <a:endParaRPr kumimoji="1" lang="en-US" altLang="ja-JP" sz="1200" b="0" i="0" u="none" strike="noStrike" kern="1200" cap="none" spc="0" normalizeH="0" baseline="0" noProof="0" dirty="0">
                <a:ln>
                  <a:noFill/>
                </a:ln>
                <a:solidFill>
                  <a:schemeClr val="accent5"/>
                </a:solidFill>
                <a:effectLst/>
                <a:uLnTx/>
                <a:uFillTx/>
                <a:latin typeface="+mn-ea"/>
              </a:endParaRPr>
            </a:p>
          </p:txBody>
        </p:sp>
        <p:sp>
          <p:nvSpPr>
            <p:cNvPr id="24" name="正方形/長方形 23">
              <a:extLst>
                <a:ext uri="{FF2B5EF4-FFF2-40B4-BE49-F238E27FC236}">
                  <a16:creationId xmlns:a16="http://schemas.microsoft.com/office/drawing/2014/main" id="{703FE62E-337E-F11E-7F08-CAF7530885FB}"/>
                </a:ext>
              </a:extLst>
            </p:cNvPr>
            <p:cNvSpPr/>
            <p:nvPr/>
          </p:nvSpPr>
          <p:spPr>
            <a:xfrm>
              <a:off x="5918296" y="4634454"/>
              <a:ext cx="4840859" cy="504000"/>
            </a:xfrm>
            <a:prstGeom prst="rect">
              <a:avLst/>
            </a:prstGeom>
            <a:noFill/>
            <a:ln w="9525">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pPr lvl="0">
                <a:spcAft>
                  <a:spcPts val="300"/>
                </a:spcAft>
                <a:defRPr/>
              </a:pPr>
              <a:r>
                <a:rPr lang="ja-JP" altLang="en-US" sz="1000" dirty="0">
                  <a:solidFill>
                    <a:schemeClr val="tx1"/>
                  </a:solidFill>
                  <a:latin typeface="+mn-ea"/>
                </a:rPr>
                <a:t>習慣プログラム開始者のうち、</a:t>
              </a:r>
              <a:r>
                <a:rPr lang="en-US" altLang="ja-JP" sz="1000" dirty="0">
                  <a:solidFill>
                    <a:schemeClr val="tx1"/>
                  </a:solidFill>
                  <a:latin typeface="+mn-ea"/>
                </a:rPr>
                <a:t>90</a:t>
              </a:r>
              <a:r>
                <a:rPr lang="ja-JP" altLang="en-US" sz="1000" dirty="0">
                  <a:solidFill>
                    <a:schemeClr val="tx1"/>
                  </a:solidFill>
                  <a:latin typeface="+mn-ea"/>
                </a:rPr>
                <a:t>日後も記録・利用が続いている人の比率</a:t>
              </a:r>
            </a:p>
            <a:p>
              <a:pPr lvl="0">
                <a:spcAft>
                  <a:spcPts val="300"/>
                </a:spcAft>
                <a:defRPr/>
              </a:pPr>
              <a:r>
                <a:rPr lang="ja-JP" altLang="en-US" sz="1000" dirty="0">
                  <a:solidFill>
                    <a:schemeClr val="accent5"/>
                  </a:solidFill>
                  <a:latin typeface="+mn-ea"/>
                </a:rPr>
                <a:t>自社アプリ </a:t>
              </a:r>
              <a:r>
                <a:rPr lang="en-US" altLang="ja-JP" sz="1000" dirty="0">
                  <a:solidFill>
                    <a:schemeClr val="accent5"/>
                  </a:solidFill>
                  <a:latin typeface="+mn-ea"/>
                </a:rPr>
                <a:t>/ </a:t>
              </a:r>
              <a:r>
                <a:rPr lang="ja-JP" altLang="en-US" sz="1000" dirty="0">
                  <a:solidFill>
                    <a:schemeClr val="accent5"/>
                  </a:solidFill>
                  <a:latin typeface="+mn-ea"/>
                </a:rPr>
                <a:t>月次 </a:t>
              </a:r>
              <a:r>
                <a:rPr lang="en-US" altLang="ja-JP" sz="1000" dirty="0">
                  <a:solidFill>
                    <a:schemeClr val="accent5"/>
                  </a:solidFill>
                  <a:latin typeface="+mn-ea"/>
                </a:rPr>
                <a:t>/ IR : </a:t>
              </a:r>
              <a:r>
                <a:rPr lang="ja-JP" altLang="en-US" sz="1000" dirty="0">
                  <a:solidFill>
                    <a:schemeClr val="accent5"/>
                  </a:solidFill>
                  <a:latin typeface="+mn-ea"/>
                </a:rPr>
                <a:t>高</a:t>
              </a:r>
            </a:p>
          </p:txBody>
        </p:sp>
        <p:sp>
          <p:nvSpPr>
            <p:cNvPr id="26" name="正方形/長方形 25">
              <a:extLst>
                <a:ext uri="{FF2B5EF4-FFF2-40B4-BE49-F238E27FC236}">
                  <a16:creationId xmlns:a16="http://schemas.microsoft.com/office/drawing/2014/main" id="{F290643F-1C09-E67F-9121-1C92EA06C3BF}"/>
                </a:ext>
              </a:extLst>
            </p:cNvPr>
            <p:cNvSpPr/>
            <p:nvPr/>
          </p:nvSpPr>
          <p:spPr>
            <a:xfrm>
              <a:off x="5918296" y="5186754"/>
              <a:ext cx="4840859" cy="504000"/>
            </a:xfrm>
            <a:prstGeom prst="rect">
              <a:avLst/>
            </a:prstGeom>
            <a:noFill/>
            <a:ln w="9525">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pPr lvl="0">
                <a:defRPr/>
              </a:pPr>
              <a:r>
                <a:rPr lang="ja-JP" altLang="en-US" sz="1000" dirty="0">
                  <a:solidFill>
                    <a:schemeClr val="tx1"/>
                  </a:solidFill>
                  <a:latin typeface="+mn-ea"/>
                </a:rPr>
                <a:t>重点小売</a:t>
              </a:r>
              <a:r>
                <a:rPr lang="en-US" altLang="ja-JP" sz="1000" dirty="0">
                  <a:solidFill>
                    <a:schemeClr val="tx1"/>
                  </a:solidFill>
                  <a:latin typeface="+mn-ea"/>
                </a:rPr>
                <a:t>×</a:t>
              </a:r>
              <a:r>
                <a:rPr lang="ja-JP" altLang="en-US" sz="1000" dirty="0">
                  <a:solidFill>
                    <a:schemeClr val="tx1"/>
                  </a:solidFill>
                  <a:latin typeface="+mn-ea"/>
                </a:rPr>
                <a:t>オーラル売上に占める値引き・特売原資の構成比％。</a:t>
              </a:r>
              <a:br>
                <a:rPr lang="en-US" altLang="ja-JP" sz="1000" dirty="0">
                  <a:solidFill>
                    <a:schemeClr val="tx1"/>
                  </a:solidFill>
                  <a:latin typeface="+mn-ea"/>
                </a:rPr>
              </a:br>
              <a:r>
                <a:rPr lang="ja-JP" altLang="en-US" sz="1000" dirty="0">
                  <a:solidFill>
                    <a:schemeClr val="tx1"/>
                  </a:solidFill>
                  <a:latin typeface="+mn-ea"/>
                </a:rPr>
                <a:t>金額は</a:t>
              </a:r>
              <a:r>
                <a:rPr lang="en-US" altLang="ja-JP" sz="1000" dirty="0">
                  <a:solidFill>
                    <a:schemeClr val="tx1"/>
                  </a:solidFill>
                  <a:latin typeface="+mn-ea"/>
                </a:rPr>
                <a:t>KGI</a:t>
              </a:r>
              <a:r>
                <a:rPr lang="ja-JP" altLang="en-US" sz="1000" dirty="0">
                  <a:solidFill>
                    <a:schemeClr val="tx1"/>
                  </a:solidFill>
                  <a:latin typeface="+mn-ea"/>
                </a:rPr>
                <a:t>側で一回だけ計上</a:t>
              </a:r>
            </a:p>
            <a:p>
              <a:pPr lvl="0">
                <a:defRPr/>
              </a:pPr>
              <a:r>
                <a:rPr lang="zh-TW" altLang="en-US" sz="1000" dirty="0">
                  <a:solidFill>
                    <a:schemeClr val="accent5"/>
                  </a:solidFill>
                  <a:latin typeface="+mn-ea"/>
                </a:rPr>
                <a:t>自社販促費＋小売</a:t>
              </a:r>
              <a:r>
                <a:rPr lang="en-US" altLang="zh-TW" sz="1000" dirty="0">
                  <a:solidFill>
                    <a:schemeClr val="accent5"/>
                  </a:solidFill>
                  <a:latin typeface="+mn-ea"/>
                </a:rPr>
                <a:t>POS</a:t>
              </a:r>
              <a:r>
                <a:rPr lang="zh-TW" altLang="en-US" sz="1000" dirty="0">
                  <a:solidFill>
                    <a:schemeClr val="accent5"/>
                  </a:solidFill>
                  <a:latin typeface="+mn-ea"/>
                </a:rPr>
                <a:t> </a:t>
              </a:r>
              <a:r>
                <a:rPr lang="en-US" altLang="zh-TW" sz="1000" dirty="0">
                  <a:solidFill>
                    <a:schemeClr val="accent5"/>
                  </a:solidFill>
                  <a:latin typeface="+mn-ea"/>
                </a:rPr>
                <a:t>/ </a:t>
              </a:r>
              <a:r>
                <a:rPr lang="zh-TW" altLang="en-US" sz="1000" dirty="0">
                  <a:solidFill>
                    <a:schemeClr val="accent5"/>
                  </a:solidFill>
                  <a:latin typeface="+mn-ea"/>
                </a:rPr>
                <a:t>四半期 </a:t>
              </a:r>
              <a:r>
                <a:rPr lang="en-US" altLang="zh-TW" sz="1000" dirty="0">
                  <a:solidFill>
                    <a:schemeClr val="accent5"/>
                  </a:solidFill>
                  <a:latin typeface="+mn-ea"/>
                </a:rPr>
                <a:t>/ IR : </a:t>
              </a:r>
              <a:r>
                <a:rPr lang="zh-TW" altLang="en-US" sz="1000" dirty="0">
                  <a:solidFill>
                    <a:schemeClr val="accent5"/>
                  </a:solidFill>
                  <a:latin typeface="+mn-ea"/>
                </a:rPr>
                <a:t>中</a:t>
              </a:r>
            </a:p>
          </p:txBody>
        </p:sp>
        <p:sp>
          <p:nvSpPr>
            <p:cNvPr id="28" name="正方形/長方形 62">
              <a:extLst>
                <a:ext uri="{FF2B5EF4-FFF2-40B4-BE49-F238E27FC236}">
                  <a16:creationId xmlns:a16="http://schemas.microsoft.com/office/drawing/2014/main" id="{2B2FF8B0-AD7A-BFA8-5303-5E37AA056431}"/>
                </a:ext>
              </a:extLst>
            </p:cNvPr>
            <p:cNvSpPr/>
            <p:nvPr/>
          </p:nvSpPr>
          <p:spPr>
            <a:xfrm>
              <a:off x="4419423" y="4716307"/>
              <a:ext cx="381492" cy="340294"/>
            </a:xfrm>
            <a:prstGeom prst="roundRect">
              <a:avLst>
                <a:gd name="adj" fmla="val 10579"/>
              </a:avLst>
            </a:prstGeom>
            <a:solidFill>
              <a:schemeClr val="bg1"/>
            </a:solidFill>
            <a:ln w="95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defRPr/>
              </a:pPr>
              <a:r>
                <a:rPr lang="en-US" altLang="ja-JP" sz="1200" dirty="0">
                  <a:solidFill>
                    <a:schemeClr val="accent5"/>
                  </a:solidFill>
                  <a:latin typeface="+mn-ea"/>
                </a:rPr>
                <a:t>K5</a:t>
              </a:r>
              <a:endParaRPr kumimoji="1" lang="en-US" altLang="ja-JP" sz="1200" b="0" i="0" u="none" strike="noStrike" kern="1200" cap="none" spc="0" normalizeH="0" baseline="0" noProof="0" dirty="0">
                <a:ln>
                  <a:noFill/>
                </a:ln>
                <a:solidFill>
                  <a:schemeClr val="accent5"/>
                </a:solidFill>
                <a:effectLst/>
                <a:uLnTx/>
                <a:uFillTx/>
                <a:latin typeface="+mn-ea"/>
              </a:endParaRPr>
            </a:p>
          </p:txBody>
        </p:sp>
        <p:sp>
          <p:nvSpPr>
            <p:cNvPr id="29" name="正方形/長方形 62">
              <a:extLst>
                <a:ext uri="{FF2B5EF4-FFF2-40B4-BE49-F238E27FC236}">
                  <a16:creationId xmlns:a16="http://schemas.microsoft.com/office/drawing/2014/main" id="{57E1DA9F-2426-A8C1-3055-821405D80FB6}"/>
                </a:ext>
              </a:extLst>
            </p:cNvPr>
            <p:cNvSpPr/>
            <p:nvPr/>
          </p:nvSpPr>
          <p:spPr>
            <a:xfrm>
              <a:off x="4419423" y="5268607"/>
              <a:ext cx="381492" cy="340294"/>
            </a:xfrm>
            <a:prstGeom prst="roundRect">
              <a:avLst>
                <a:gd name="adj" fmla="val 10579"/>
              </a:avLst>
            </a:prstGeom>
            <a:solidFill>
              <a:schemeClr val="bg1"/>
            </a:solidFill>
            <a:ln w="95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defRPr/>
              </a:pPr>
              <a:r>
                <a:rPr lang="en-US" altLang="ja-JP" sz="1200" dirty="0">
                  <a:solidFill>
                    <a:schemeClr val="accent5"/>
                  </a:solidFill>
                  <a:latin typeface="+mn-ea"/>
                </a:rPr>
                <a:t>K6</a:t>
              </a:r>
              <a:endParaRPr kumimoji="1" lang="en-US" altLang="ja-JP" sz="1200" b="0" i="0" u="none" strike="noStrike" kern="1200" cap="none" spc="0" normalizeH="0" baseline="0" noProof="0" dirty="0">
                <a:ln>
                  <a:noFill/>
                </a:ln>
                <a:solidFill>
                  <a:schemeClr val="accent5"/>
                </a:solidFill>
                <a:effectLst/>
                <a:uLnTx/>
                <a:uFillTx/>
                <a:latin typeface="+mn-ea"/>
              </a:endParaRPr>
            </a:p>
          </p:txBody>
        </p:sp>
        <p:sp>
          <p:nvSpPr>
            <p:cNvPr id="30" name="右中かっこ 29">
              <a:extLst>
                <a:ext uri="{FF2B5EF4-FFF2-40B4-BE49-F238E27FC236}">
                  <a16:creationId xmlns:a16="http://schemas.microsoft.com/office/drawing/2014/main" id="{90DAB45B-0E3E-F33C-6248-A70D35A51DD6}"/>
                </a:ext>
              </a:extLst>
            </p:cNvPr>
            <p:cNvSpPr/>
            <p:nvPr/>
          </p:nvSpPr>
          <p:spPr>
            <a:xfrm>
              <a:off x="10924673" y="2036969"/>
              <a:ext cx="162370" cy="1056297"/>
            </a:xfrm>
            <a:prstGeom prst="rightBrac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2" name="右中かっこ 31">
              <a:extLst>
                <a:ext uri="{FF2B5EF4-FFF2-40B4-BE49-F238E27FC236}">
                  <a16:creationId xmlns:a16="http://schemas.microsoft.com/office/drawing/2014/main" id="{A0096624-DCE8-DA70-B7C4-148C011BEC44}"/>
                </a:ext>
              </a:extLst>
            </p:cNvPr>
            <p:cNvSpPr/>
            <p:nvPr/>
          </p:nvSpPr>
          <p:spPr>
            <a:xfrm>
              <a:off x="10924673" y="3141567"/>
              <a:ext cx="162370" cy="503999"/>
            </a:xfrm>
            <a:prstGeom prst="rightBrac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4" name="右中かっこ 33">
              <a:extLst>
                <a:ext uri="{FF2B5EF4-FFF2-40B4-BE49-F238E27FC236}">
                  <a16:creationId xmlns:a16="http://schemas.microsoft.com/office/drawing/2014/main" id="{98C9BBCF-0002-E0AF-D6BE-C95B220F4E6C}"/>
                </a:ext>
              </a:extLst>
            </p:cNvPr>
            <p:cNvSpPr/>
            <p:nvPr/>
          </p:nvSpPr>
          <p:spPr>
            <a:xfrm>
              <a:off x="10924673" y="4082156"/>
              <a:ext cx="162370" cy="1608598"/>
            </a:xfrm>
            <a:prstGeom prst="rightBrac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1" name="正方形/長方形 40">
              <a:extLst>
                <a:ext uri="{FF2B5EF4-FFF2-40B4-BE49-F238E27FC236}">
                  <a16:creationId xmlns:a16="http://schemas.microsoft.com/office/drawing/2014/main" id="{C802E3AA-E60B-CC4C-F59B-754E1299D6E8}"/>
                </a:ext>
              </a:extLst>
            </p:cNvPr>
            <p:cNvSpPr/>
            <p:nvPr/>
          </p:nvSpPr>
          <p:spPr>
            <a:xfrm>
              <a:off x="11130301" y="2346823"/>
              <a:ext cx="707379" cy="436589"/>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spcAft>
                  <a:spcPts val="600"/>
                </a:spcAft>
              </a:pPr>
              <a:r>
                <a:rPr lang="ja-JP" altLang="en-US" sz="1050" dirty="0">
                  <a:solidFill>
                    <a:schemeClr val="tx1"/>
                  </a:solidFill>
                  <a:latin typeface="+mn-ea"/>
                </a:rPr>
                <a:t>新規</a:t>
              </a:r>
            </a:p>
          </p:txBody>
        </p:sp>
        <p:sp>
          <p:nvSpPr>
            <p:cNvPr id="45" name="正方形/長方形 44">
              <a:extLst>
                <a:ext uri="{FF2B5EF4-FFF2-40B4-BE49-F238E27FC236}">
                  <a16:creationId xmlns:a16="http://schemas.microsoft.com/office/drawing/2014/main" id="{EEF8D3F7-28A3-3FD9-7B8C-D9797978D4DB}"/>
                </a:ext>
              </a:extLst>
            </p:cNvPr>
            <p:cNvSpPr/>
            <p:nvPr/>
          </p:nvSpPr>
          <p:spPr>
            <a:xfrm>
              <a:off x="11130301" y="3175272"/>
              <a:ext cx="707379" cy="436589"/>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spcAft>
                  <a:spcPts val="600"/>
                </a:spcAft>
              </a:pPr>
              <a:r>
                <a:rPr lang="ja-JP" altLang="en-US" sz="1050" dirty="0">
                  <a:solidFill>
                    <a:schemeClr val="tx1"/>
                  </a:solidFill>
                  <a:latin typeface="+mn-ea"/>
                </a:rPr>
                <a:t>両方</a:t>
              </a:r>
            </a:p>
          </p:txBody>
        </p:sp>
        <p:sp>
          <p:nvSpPr>
            <p:cNvPr id="47" name="正方形/長方形 46">
              <a:extLst>
                <a:ext uri="{FF2B5EF4-FFF2-40B4-BE49-F238E27FC236}">
                  <a16:creationId xmlns:a16="http://schemas.microsoft.com/office/drawing/2014/main" id="{10CC8580-9B08-0BB5-E4CB-2EBFD79DF864}"/>
                </a:ext>
              </a:extLst>
            </p:cNvPr>
            <p:cNvSpPr/>
            <p:nvPr/>
          </p:nvSpPr>
          <p:spPr>
            <a:xfrm>
              <a:off x="11130301" y="4668160"/>
              <a:ext cx="707379" cy="436589"/>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spcAft>
                  <a:spcPts val="600"/>
                </a:spcAft>
              </a:pPr>
              <a:r>
                <a:rPr lang="ja-JP" altLang="en-US" sz="1050" dirty="0">
                  <a:solidFill>
                    <a:schemeClr val="tx1"/>
                  </a:solidFill>
                  <a:latin typeface="+mn-ea"/>
                </a:rPr>
                <a:t>継続</a:t>
              </a:r>
            </a:p>
          </p:txBody>
        </p:sp>
        <p:cxnSp>
          <p:nvCxnSpPr>
            <p:cNvPr id="48" name="コネクタ: カギ線 47">
              <a:extLst>
                <a:ext uri="{FF2B5EF4-FFF2-40B4-BE49-F238E27FC236}">
                  <a16:creationId xmlns:a16="http://schemas.microsoft.com/office/drawing/2014/main" id="{B7D62C57-D33B-A1B1-F367-60DE2A96868E}"/>
                </a:ext>
              </a:extLst>
            </p:cNvPr>
            <p:cNvCxnSpPr>
              <a:cxnSpLocks/>
              <a:stCxn id="27" idx="3"/>
              <a:endCxn id="46" idx="1"/>
            </p:cNvCxnSpPr>
            <p:nvPr/>
          </p:nvCxnSpPr>
          <p:spPr>
            <a:xfrm flipV="1">
              <a:off x="4031599" y="2288969"/>
              <a:ext cx="347248" cy="552299"/>
            </a:xfrm>
            <a:prstGeom prst="bentConnector3">
              <a:avLst/>
            </a:prstGeom>
            <a:ln w="952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コネクタ: カギ線 58">
              <a:extLst>
                <a:ext uri="{FF2B5EF4-FFF2-40B4-BE49-F238E27FC236}">
                  <a16:creationId xmlns:a16="http://schemas.microsoft.com/office/drawing/2014/main" id="{50210AEF-DC1C-0885-FD3F-AC5D69C2CB6D}"/>
                </a:ext>
              </a:extLst>
            </p:cNvPr>
            <p:cNvCxnSpPr>
              <a:cxnSpLocks/>
              <a:stCxn id="27" idx="3"/>
              <a:endCxn id="53" idx="1"/>
            </p:cNvCxnSpPr>
            <p:nvPr/>
          </p:nvCxnSpPr>
          <p:spPr>
            <a:xfrm>
              <a:off x="4031599" y="2841268"/>
              <a:ext cx="347248" cy="552299"/>
            </a:xfrm>
            <a:prstGeom prst="bentConnector3">
              <a:avLst/>
            </a:prstGeom>
            <a:ln w="952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コネクタ: カギ線 61">
              <a:extLst>
                <a:ext uri="{FF2B5EF4-FFF2-40B4-BE49-F238E27FC236}">
                  <a16:creationId xmlns:a16="http://schemas.microsoft.com/office/drawing/2014/main" id="{09FD8549-199A-F5D5-C018-EFEFDDF90992}"/>
                </a:ext>
              </a:extLst>
            </p:cNvPr>
            <p:cNvCxnSpPr>
              <a:cxnSpLocks/>
              <a:stCxn id="38" idx="3"/>
              <a:endCxn id="19" idx="1"/>
            </p:cNvCxnSpPr>
            <p:nvPr/>
          </p:nvCxnSpPr>
          <p:spPr>
            <a:xfrm flipV="1">
              <a:off x="4031599" y="4334156"/>
              <a:ext cx="347248" cy="552299"/>
            </a:xfrm>
            <a:prstGeom prst="bentConnector3">
              <a:avLst>
                <a:gd name="adj1" fmla="val 50000"/>
              </a:avLst>
            </a:prstGeom>
            <a:ln w="952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510A6237-7CC5-0D77-450C-EDB9C495254C}"/>
                </a:ext>
              </a:extLst>
            </p:cNvPr>
            <p:cNvCxnSpPr>
              <a:cxnSpLocks/>
              <a:stCxn id="38" idx="3"/>
              <a:endCxn id="22" idx="1"/>
            </p:cNvCxnSpPr>
            <p:nvPr/>
          </p:nvCxnSpPr>
          <p:spPr>
            <a:xfrm>
              <a:off x="4031599" y="4886455"/>
              <a:ext cx="347248" cy="552299"/>
            </a:xfrm>
            <a:prstGeom prst="bentConnector3">
              <a:avLst>
                <a:gd name="adj1" fmla="val 50000"/>
              </a:avLst>
            </a:prstGeom>
            <a:ln w="952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コネクタ: カギ線 68">
              <a:extLst>
                <a:ext uri="{FF2B5EF4-FFF2-40B4-BE49-F238E27FC236}">
                  <a16:creationId xmlns:a16="http://schemas.microsoft.com/office/drawing/2014/main" id="{08324EEE-D50B-2E36-99E4-5F540140076F}"/>
                </a:ext>
              </a:extLst>
            </p:cNvPr>
            <p:cNvCxnSpPr>
              <a:cxnSpLocks/>
              <a:stCxn id="11" idx="3"/>
              <a:endCxn id="27" idx="1"/>
            </p:cNvCxnSpPr>
            <p:nvPr/>
          </p:nvCxnSpPr>
          <p:spPr>
            <a:xfrm flipV="1">
              <a:off x="2074462" y="2841268"/>
              <a:ext cx="217638" cy="681317"/>
            </a:xfrm>
            <a:prstGeom prst="bentConnector3">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コネクタ: カギ線 71">
              <a:extLst>
                <a:ext uri="{FF2B5EF4-FFF2-40B4-BE49-F238E27FC236}">
                  <a16:creationId xmlns:a16="http://schemas.microsoft.com/office/drawing/2014/main" id="{85408FC4-AACB-6487-E1F0-F5BF2498E892}"/>
                </a:ext>
              </a:extLst>
            </p:cNvPr>
            <p:cNvCxnSpPr>
              <a:cxnSpLocks/>
              <a:stCxn id="11" idx="3"/>
              <a:endCxn id="38" idx="1"/>
            </p:cNvCxnSpPr>
            <p:nvPr/>
          </p:nvCxnSpPr>
          <p:spPr>
            <a:xfrm>
              <a:off x="2074462" y="3522585"/>
              <a:ext cx="217638" cy="1363870"/>
            </a:xfrm>
            <a:prstGeom prst="bentConnector3">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正方形/長方形 75">
              <a:extLst>
                <a:ext uri="{FF2B5EF4-FFF2-40B4-BE49-F238E27FC236}">
                  <a16:creationId xmlns:a16="http://schemas.microsoft.com/office/drawing/2014/main" id="{58F6032E-F5C9-CAE7-CB90-4BC315042F2F}"/>
                </a:ext>
              </a:extLst>
            </p:cNvPr>
            <p:cNvSpPr/>
            <p:nvPr/>
          </p:nvSpPr>
          <p:spPr>
            <a:xfrm>
              <a:off x="354319" y="1634154"/>
              <a:ext cx="500288" cy="381809"/>
            </a:xfrm>
            <a:prstGeom prst="rect">
              <a:avLst/>
            </a:prstGeom>
            <a:solidFill>
              <a:schemeClr val="accent3">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ja-JP" altLang="en-US" sz="1050" dirty="0">
                  <a:solidFill>
                    <a:schemeClr val="tx1"/>
                  </a:solidFill>
                  <a:latin typeface="+mn-ea"/>
                </a:rPr>
                <a:t>実線</a:t>
              </a:r>
              <a:endParaRPr lang="en-US" altLang="ja-JP" sz="1050" dirty="0">
                <a:solidFill>
                  <a:schemeClr val="tx1"/>
                </a:solidFill>
                <a:latin typeface="+mn-ea"/>
              </a:endParaRPr>
            </a:p>
          </p:txBody>
        </p:sp>
        <p:sp>
          <p:nvSpPr>
            <p:cNvPr id="78" name="正方形/長方形 77">
              <a:extLst>
                <a:ext uri="{FF2B5EF4-FFF2-40B4-BE49-F238E27FC236}">
                  <a16:creationId xmlns:a16="http://schemas.microsoft.com/office/drawing/2014/main" id="{F8B93D2A-A191-78FF-9E44-124C218F6AD7}"/>
                </a:ext>
              </a:extLst>
            </p:cNvPr>
            <p:cNvSpPr/>
            <p:nvPr/>
          </p:nvSpPr>
          <p:spPr>
            <a:xfrm>
              <a:off x="854607" y="1634154"/>
              <a:ext cx="1463713" cy="381809"/>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ja-JP" altLang="en-US" sz="1000" dirty="0">
                  <a:solidFill>
                    <a:schemeClr val="tx1"/>
                  </a:solidFill>
                  <a:latin typeface="+mn-ea"/>
                </a:rPr>
                <a:t>金額を合算する線</a:t>
              </a:r>
              <a:br>
                <a:rPr lang="en-US" altLang="ja-JP" sz="1000" dirty="0">
                  <a:solidFill>
                    <a:schemeClr val="tx1"/>
                  </a:solidFill>
                  <a:latin typeface="+mn-ea"/>
                </a:rPr>
              </a:br>
              <a:r>
                <a:rPr lang="en-US" altLang="ja-JP" sz="1000" dirty="0">
                  <a:solidFill>
                    <a:schemeClr val="tx1"/>
                  </a:solidFill>
                  <a:latin typeface="+mn-ea"/>
                </a:rPr>
                <a:t>(</a:t>
              </a:r>
              <a:r>
                <a:rPr lang="ja-JP" altLang="en-US" sz="1000" dirty="0">
                  <a:solidFill>
                    <a:schemeClr val="tx1"/>
                  </a:solidFill>
                  <a:latin typeface="+mn-ea"/>
                </a:rPr>
                <a:t>この</a:t>
              </a:r>
              <a:r>
                <a:rPr lang="en-US" altLang="ja-JP" sz="1000" dirty="0">
                  <a:solidFill>
                    <a:schemeClr val="tx1"/>
                  </a:solidFill>
                  <a:latin typeface="+mn-ea"/>
                </a:rPr>
                <a:t>2</a:t>
              </a:r>
              <a:r>
                <a:rPr lang="ja-JP" altLang="en-US" sz="1000" dirty="0">
                  <a:solidFill>
                    <a:schemeClr val="tx1"/>
                  </a:solidFill>
                  <a:latin typeface="+mn-ea"/>
                </a:rPr>
                <a:t>本だけ</a:t>
              </a:r>
              <a:r>
                <a:rPr lang="en-US" altLang="ja-JP" sz="1000" dirty="0">
                  <a:solidFill>
                    <a:schemeClr val="tx1"/>
                  </a:solidFill>
                  <a:latin typeface="+mn-ea"/>
                </a:rPr>
                <a:t>)</a:t>
              </a:r>
              <a:endParaRPr lang="ja-JP" altLang="en-US" sz="1000" dirty="0">
                <a:solidFill>
                  <a:schemeClr val="tx1"/>
                </a:solidFill>
                <a:latin typeface="+mn-ea"/>
              </a:endParaRPr>
            </a:p>
          </p:txBody>
        </p:sp>
        <p:sp>
          <p:nvSpPr>
            <p:cNvPr id="79" name="正方形/長方形 78">
              <a:extLst>
                <a:ext uri="{FF2B5EF4-FFF2-40B4-BE49-F238E27FC236}">
                  <a16:creationId xmlns:a16="http://schemas.microsoft.com/office/drawing/2014/main" id="{D8C0D617-858D-F6BB-B698-F1759B94517F}"/>
                </a:ext>
              </a:extLst>
            </p:cNvPr>
            <p:cNvSpPr/>
            <p:nvPr/>
          </p:nvSpPr>
          <p:spPr>
            <a:xfrm>
              <a:off x="354318" y="2085544"/>
              <a:ext cx="500288" cy="381809"/>
            </a:xfrm>
            <a:prstGeom prst="rect">
              <a:avLst/>
            </a:prstGeom>
            <a:solidFill>
              <a:schemeClr val="accent3">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lang="ja-JP" altLang="en-US" sz="1050" dirty="0">
                  <a:solidFill>
                    <a:schemeClr val="tx1"/>
                  </a:solidFill>
                  <a:latin typeface="+mn-ea"/>
                </a:rPr>
                <a:t>破線</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9B120080-3BE1-FC2C-959F-FC9D7CBFD152}"/>
                </a:ext>
              </a:extLst>
            </p:cNvPr>
            <p:cNvSpPr/>
            <p:nvPr/>
          </p:nvSpPr>
          <p:spPr>
            <a:xfrm>
              <a:off x="835251" y="2085544"/>
              <a:ext cx="1463713" cy="381809"/>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ja-JP" altLang="en-US" sz="1000" dirty="0">
                  <a:solidFill>
                    <a:schemeClr val="tx1"/>
                  </a:solidFill>
                  <a:latin typeface="+mn-ea"/>
                </a:rPr>
                <a:t>先行指標の対応</a:t>
              </a:r>
              <a:br>
                <a:rPr lang="en-US" altLang="ja-JP" sz="1000" dirty="0">
                  <a:solidFill>
                    <a:schemeClr val="tx1"/>
                  </a:solidFill>
                  <a:latin typeface="+mn-ea"/>
                </a:rPr>
              </a:br>
              <a:r>
                <a:rPr lang="en-US" altLang="ja-JP" sz="1000" dirty="0">
                  <a:solidFill>
                    <a:schemeClr val="tx1"/>
                  </a:solidFill>
                  <a:latin typeface="+mn-ea"/>
                </a:rPr>
                <a:t>(</a:t>
              </a:r>
              <a:r>
                <a:rPr lang="ja-JP" altLang="en-US" sz="1000" dirty="0">
                  <a:solidFill>
                    <a:schemeClr val="tx1"/>
                  </a:solidFill>
                  <a:latin typeface="+mn-ea"/>
                </a:rPr>
                <a:t>金額は流れない</a:t>
              </a:r>
              <a:r>
                <a:rPr lang="en-US" altLang="ja-JP" sz="1000" dirty="0">
                  <a:solidFill>
                    <a:schemeClr val="tx1"/>
                  </a:solidFill>
                  <a:latin typeface="+mn-ea"/>
                </a:rPr>
                <a:t>)</a:t>
              </a:r>
              <a:endParaRPr lang="ja-JP" altLang="en-US" sz="1000" dirty="0">
                <a:solidFill>
                  <a:schemeClr val="tx1"/>
                </a:solidFill>
                <a:latin typeface="+mn-ea"/>
              </a:endParaRPr>
            </a:p>
          </p:txBody>
        </p:sp>
        <p:cxnSp>
          <p:nvCxnSpPr>
            <p:cNvPr id="81" name="コネクタ: カギ線 80">
              <a:extLst>
                <a:ext uri="{FF2B5EF4-FFF2-40B4-BE49-F238E27FC236}">
                  <a16:creationId xmlns:a16="http://schemas.microsoft.com/office/drawing/2014/main" id="{B2B31E21-5148-0591-DFF7-EC292602C15A}"/>
                </a:ext>
              </a:extLst>
            </p:cNvPr>
            <p:cNvCxnSpPr>
              <a:cxnSpLocks/>
              <a:stCxn id="27" idx="3"/>
              <a:endCxn id="52" idx="1"/>
            </p:cNvCxnSpPr>
            <p:nvPr/>
          </p:nvCxnSpPr>
          <p:spPr>
            <a:xfrm>
              <a:off x="4031599" y="2841268"/>
              <a:ext cx="347248" cy="0"/>
            </a:xfrm>
            <a:prstGeom prst="straightConnector1">
              <a:avLst/>
            </a:prstGeom>
            <a:ln w="952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コネクタ: カギ線 80">
              <a:extLst>
                <a:ext uri="{FF2B5EF4-FFF2-40B4-BE49-F238E27FC236}">
                  <a16:creationId xmlns:a16="http://schemas.microsoft.com/office/drawing/2014/main" id="{8E455AF6-A0D6-AE34-A779-B3B08FAC9FBC}"/>
                </a:ext>
              </a:extLst>
            </p:cNvPr>
            <p:cNvCxnSpPr>
              <a:cxnSpLocks/>
              <a:stCxn id="38" idx="3"/>
              <a:endCxn id="21" idx="1"/>
            </p:cNvCxnSpPr>
            <p:nvPr/>
          </p:nvCxnSpPr>
          <p:spPr>
            <a:xfrm>
              <a:off x="4031599" y="4886455"/>
              <a:ext cx="347248" cy="0"/>
            </a:xfrm>
            <a:prstGeom prst="straightConnector1">
              <a:avLst/>
            </a:prstGeom>
            <a:ln w="952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 name="コネクタ: カギ線 2">
              <a:extLst>
                <a:ext uri="{FF2B5EF4-FFF2-40B4-BE49-F238E27FC236}">
                  <a16:creationId xmlns:a16="http://schemas.microsoft.com/office/drawing/2014/main" id="{43A34051-31B3-CDEE-5264-56AF1802A8A5}"/>
                </a:ext>
              </a:extLst>
            </p:cNvPr>
            <p:cNvCxnSpPr>
              <a:cxnSpLocks/>
            </p:cNvCxnSpPr>
            <p:nvPr/>
          </p:nvCxnSpPr>
          <p:spPr>
            <a:xfrm rot="5400000" flipH="1" flipV="1">
              <a:off x="3895046" y="3810427"/>
              <a:ext cx="786360" cy="166002"/>
            </a:xfrm>
            <a:prstGeom prst="bentConnector3">
              <a:avLst>
                <a:gd name="adj1" fmla="val 100066"/>
              </a:avLst>
            </a:prstGeom>
            <a:ln w="952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579873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D31C4-AD8F-5F56-5050-CBFA32F273D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6D62D29-F25C-9CD0-8CD3-8D0F1B0FDA2F}"/>
              </a:ext>
            </a:extLst>
          </p:cNvPr>
          <p:cNvSpPr>
            <a:spLocks noGrp="1"/>
          </p:cNvSpPr>
          <p:nvPr>
            <p:ph type="title"/>
          </p:nvPr>
        </p:nvSpPr>
        <p:spPr>
          <a:xfrm>
            <a:off x="334963" y="1"/>
            <a:ext cx="11522075" cy="914400"/>
          </a:xfrm>
        </p:spPr>
        <p:txBody>
          <a:bodyPr/>
          <a:lstStyle/>
          <a:p>
            <a:r>
              <a:rPr lang="ja-JP" altLang="en-US" dirty="0">
                <a:latin typeface="メイリオ" panose="020B0604030504040204" pitchFamily="50" charset="-128"/>
                <a:ea typeface="メイリオ" panose="020B0604030504040204" pitchFamily="50" charset="-128"/>
              </a:rPr>
              <a:t>マイルストーン </a:t>
            </a:r>
            <a:r>
              <a:rPr lang="en-US" altLang="ja-JP" dirty="0">
                <a:latin typeface="メイリオ" panose="020B0604030504040204" pitchFamily="50" charset="-128"/>
                <a:ea typeface="メイリオ" panose="020B0604030504040204" pitchFamily="50" charset="-128"/>
              </a:rPr>
              <a:t>(FY26–FY30)</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E90ACD8C-0CF4-A5E3-A512-6035CCC0E571}"/>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800" dirty="0">
                <a:latin typeface="+mn-ea"/>
                <a:ea typeface="+mn-ea"/>
              </a:rPr>
              <a:t>FY30</a:t>
            </a:r>
            <a:r>
              <a:rPr lang="ja-JP" altLang="en-US" sz="1800" dirty="0">
                <a:latin typeface="+mn-ea"/>
                <a:ea typeface="+mn-ea"/>
              </a:rPr>
              <a:t> </a:t>
            </a:r>
            <a:r>
              <a:rPr lang="en-US" altLang="ja-JP" sz="1800" dirty="0">
                <a:latin typeface="+mn-ea"/>
                <a:ea typeface="+mn-ea"/>
              </a:rPr>
              <a:t>(3rd Stage</a:t>
            </a:r>
            <a:r>
              <a:rPr lang="ja-JP" altLang="en-US" sz="1800" dirty="0">
                <a:latin typeface="+mn-ea"/>
                <a:ea typeface="+mn-ea"/>
              </a:rPr>
              <a:t>完了・統合報告書での</a:t>
            </a:r>
            <a:r>
              <a:rPr lang="en-US" altLang="ja-JP" sz="1800" dirty="0">
                <a:latin typeface="+mn-ea"/>
                <a:ea typeface="+mn-ea"/>
              </a:rPr>
              <a:t>KPI</a:t>
            </a:r>
            <a:r>
              <a:rPr lang="ja-JP" altLang="en-US" sz="1800" dirty="0">
                <a:latin typeface="+mn-ea"/>
                <a:ea typeface="+mn-ea"/>
              </a:rPr>
              <a:t>開示</a:t>
            </a:r>
            <a:r>
              <a:rPr lang="en-US" altLang="ja-JP" sz="1800" dirty="0">
                <a:latin typeface="+mn-ea"/>
                <a:ea typeface="+mn-ea"/>
              </a:rPr>
              <a:t>) </a:t>
            </a:r>
            <a:r>
              <a:rPr lang="ja-JP" altLang="en-US" sz="1800" dirty="0">
                <a:latin typeface="+mn-ea"/>
                <a:ea typeface="+mn-ea"/>
              </a:rPr>
              <a:t>に向けた段階実装。確認ゲートに合格したときだけ投資と組織変更を</a:t>
            </a:r>
            <a:br>
              <a:rPr lang="en-US" altLang="ja-JP" sz="1800" dirty="0">
                <a:latin typeface="+mn-ea"/>
                <a:ea typeface="+mn-ea"/>
              </a:rPr>
            </a:br>
            <a:r>
              <a:rPr lang="ja-JP" altLang="en-US" sz="1800" dirty="0">
                <a:latin typeface="+mn-ea"/>
                <a:ea typeface="+mn-ea"/>
              </a:rPr>
              <a:t>拡大する</a:t>
            </a:r>
          </a:p>
        </p:txBody>
      </p:sp>
      <p:grpSp>
        <p:nvGrpSpPr>
          <p:cNvPr id="9" name="グループ化 8">
            <a:extLst>
              <a:ext uri="{FF2B5EF4-FFF2-40B4-BE49-F238E27FC236}">
                <a16:creationId xmlns:a16="http://schemas.microsoft.com/office/drawing/2014/main" id="{E07892E0-F1AB-901D-712C-09C42C3E0934}"/>
              </a:ext>
            </a:extLst>
          </p:cNvPr>
          <p:cNvGrpSpPr/>
          <p:nvPr/>
        </p:nvGrpSpPr>
        <p:grpSpPr>
          <a:xfrm>
            <a:off x="348854" y="1633399"/>
            <a:ext cx="11508184" cy="4675324"/>
            <a:chOff x="348854" y="1633399"/>
            <a:chExt cx="11508184" cy="4675324"/>
          </a:xfrm>
        </p:grpSpPr>
        <p:sp>
          <p:nvSpPr>
            <p:cNvPr id="83" name="正方形/長方形 7">
              <a:extLst>
                <a:ext uri="{FF2B5EF4-FFF2-40B4-BE49-F238E27FC236}">
                  <a16:creationId xmlns:a16="http://schemas.microsoft.com/office/drawing/2014/main" id="{3F62044F-8E1E-D94E-9168-A61DC4798749}"/>
                </a:ext>
              </a:extLst>
            </p:cNvPr>
            <p:cNvSpPr/>
            <p:nvPr/>
          </p:nvSpPr>
          <p:spPr>
            <a:xfrm>
              <a:off x="2899609" y="1633400"/>
              <a:ext cx="1800000" cy="333703"/>
            </a:xfrm>
            <a:prstGeom prst="homePlate">
              <a:avLst>
                <a:gd name="adj" fmla="val 28868"/>
              </a:avLst>
            </a:prstGeom>
            <a:solidFill>
              <a:srgbClr val="008D2E">
                <a:alpha val="6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400" dirty="0">
                  <a:solidFill>
                    <a:schemeClr val="bg1"/>
                  </a:solidFill>
                  <a:latin typeface="+mn-ea"/>
                </a:rPr>
                <a:t>FY26</a:t>
              </a:r>
              <a:r>
                <a:rPr lang="ja-JP" altLang="en-US" sz="1400" dirty="0">
                  <a:solidFill>
                    <a:schemeClr val="bg1"/>
                  </a:solidFill>
                  <a:latin typeface="+mn-ea"/>
                </a:rPr>
                <a:t>下期</a:t>
              </a:r>
            </a:p>
          </p:txBody>
        </p:sp>
        <p:sp>
          <p:nvSpPr>
            <p:cNvPr id="84" name="正方形/長方形 7">
              <a:extLst>
                <a:ext uri="{FF2B5EF4-FFF2-40B4-BE49-F238E27FC236}">
                  <a16:creationId xmlns:a16="http://schemas.microsoft.com/office/drawing/2014/main" id="{8BB0B9EF-4907-F013-964D-CE89BD76EB31}"/>
                </a:ext>
              </a:extLst>
            </p:cNvPr>
            <p:cNvSpPr/>
            <p:nvPr/>
          </p:nvSpPr>
          <p:spPr>
            <a:xfrm>
              <a:off x="10057038" y="1633399"/>
              <a:ext cx="1800000" cy="333703"/>
            </a:xfrm>
            <a:prstGeom prst="chevron">
              <a:avLst>
                <a:gd name="adj" fmla="val 28868"/>
              </a:avLst>
            </a:prstGeom>
            <a:solidFill>
              <a:schemeClr val="accent5"/>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400" dirty="0">
                  <a:solidFill>
                    <a:schemeClr val="bg1"/>
                  </a:solidFill>
                  <a:latin typeface="+mn-ea"/>
                </a:rPr>
                <a:t>FY30</a:t>
              </a:r>
            </a:p>
          </p:txBody>
        </p:sp>
        <p:sp>
          <p:nvSpPr>
            <p:cNvPr id="6" name="正方形/長方形 5">
              <a:extLst>
                <a:ext uri="{FF2B5EF4-FFF2-40B4-BE49-F238E27FC236}">
                  <a16:creationId xmlns:a16="http://schemas.microsoft.com/office/drawing/2014/main" id="{668EE5ED-4868-94C6-A4E8-8FFDE28AD206}"/>
                </a:ext>
              </a:extLst>
            </p:cNvPr>
            <p:cNvSpPr/>
            <p:nvPr/>
          </p:nvSpPr>
          <p:spPr>
            <a:xfrm>
              <a:off x="348854" y="2027261"/>
              <a:ext cx="2502629" cy="407984"/>
            </a:xfrm>
            <a:prstGeom prst="rect">
              <a:avLst/>
            </a:prstGeom>
            <a:solidFill>
              <a:schemeClr val="accent3">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en-US" altLang="ja-JP" sz="1200" dirty="0">
                  <a:solidFill>
                    <a:schemeClr val="tx1"/>
                  </a:solidFill>
                  <a:latin typeface="+mn-ea"/>
                </a:rPr>
                <a:t>A1★ </a:t>
              </a:r>
              <a:r>
                <a:rPr lang="ja-JP" altLang="en-US" sz="1200" dirty="0">
                  <a:solidFill>
                    <a:schemeClr val="tx1"/>
                  </a:solidFill>
                  <a:latin typeface="+mn-ea"/>
                </a:rPr>
                <a:t>商品データを</a:t>
              </a:r>
              <a:r>
                <a:rPr lang="en-US" altLang="ja-JP" sz="1200" dirty="0">
                  <a:solidFill>
                    <a:schemeClr val="tx1"/>
                  </a:solidFill>
                  <a:latin typeface="+mn-ea"/>
                </a:rPr>
                <a:t>AI</a:t>
              </a:r>
              <a:r>
                <a:rPr lang="ja-JP" altLang="en-US" sz="1200" dirty="0">
                  <a:solidFill>
                    <a:schemeClr val="tx1"/>
                  </a:solidFill>
                  <a:latin typeface="+mn-ea"/>
                </a:rPr>
                <a:t>・小売へ提供</a:t>
              </a:r>
            </a:p>
          </p:txBody>
        </p:sp>
        <p:sp>
          <p:nvSpPr>
            <p:cNvPr id="90" name="正方形/長方形 5">
              <a:extLst>
                <a:ext uri="{FF2B5EF4-FFF2-40B4-BE49-F238E27FC236}">
                  <a16:creationId xmlns:a16="http://schemas.microsoft.com/office/drawing/2014/main" id="{668EE5ED-4868-94C6-A4E8-8FFDE28AD206}"/>
                </a:ext>
              </a:extLst>
            </p:cNvPr>
            <p:cNvSpPr/>
            <p:nvPr/>
          </p:nvSpPr>
          <p:spPr>
            <a:xfrm>
              <a:off x="348854" y="2511445"/>
              <a:ext cx="2502629" cy="407984"/>
            </a:xfrm>
            <a:prstGeom prst="rect">
              <a:avLst/>
            </a:prstGeom>
            <a:solidFill>
              <a:schemeClr val="accent3">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en-US" altLang="ja-JP" sz="1200" dirty="0">
                  <a:solidFill>
                    <a:schemeClr val="tx1"/>
                  </a:solidFill>
                  <a:latin typeface="+mn-ea"/>
                </a:rPr>
                <a:t>A2 </a:t>
              </a:r>
              <a:r>
                <a:rPr lang="ja-JP" altLang="en-US" sz="1200" dirty="0">
                  <a:solidFill>
                    <a:schemeClr val="tx1"/>
                  </a:solidFill>
                  <a:latin typeface="+mn-ea"/>
                </a:rPr>
                <a:t>学校・健診のデジタル接点化</a:t>
              </a:r>
            </a:p>
          </p:txBody>
        </p:sp>
        <p:sp>
          <p:nvSpPr>
            <p:cNvPr id="91" name="正方形/長方形 5">
              <a:extLst>
                <a:ext uri="{FF2B5EF4-FFF2-40B4-BE49-F238E27FC236}">
                  <a16:creationId xmlns:a16="http://schemas.microsoft.com/office/drawing/2014/main" id="{668EE5ED-4868-94C6-A4E8-8FFDE28AD206}"/>
                </a:ext>
              </a:extLst>
            </p:cNvPr>
            <p:cNvSpPr/>
            <p:nvPr/>
          </p:nvSpPr>
          <p:spPr>
            <a:xfrm>
              <a:off x="348854" y="2995629"/>
              <a:ext cx="2502629" cy="407984"/>
            </a:xfrm>
            <a:prstGeom prst="rect">
              <a:avLst/>
            </a:prstGeom>
            <a:solidFill>
              <a:schemeClr val="accent3">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en-US" altLang="ja-JP" sz="1200" dirty="0">
                  <a:solidFill>
                    <a:schemeClr val="tx1"/>
                  </a:solidFill>
                  <a:latin typeface="+mn-ea"/>
                </a:rPr>
                <a:t>B1★ </a:t>
              </a:r>
              <a:r>
                <a:rPr lang="ja-JP" altLang="en-US" sz="1200" dirty="0">
                  <a:solidFill>
                    <a:schemeClr val="tx1"/>
                  </a:solidFill>
                  <a:latin typeface="+mn-ea"/>
                </a:rPr>
                <a:t>投資効果を金額で測定</a:t>
              </a:r>
            </a:p>
          </p:txBody>
        </p:sp>
        <p:sp>
          <p:nvSpPr>
            <p:cNvPr id="92" name="正方形/長方形 5">
              <a:extLst>
                <a:ext uri="{FF2B5EF4-FFF2-40B4-BE49-F238E27FC236}">
                  <a16:creationId xmlns:a16="http://schemas.microsoft.com/office/drawing/2014/main" id="{668EE5ED-4868-94C6-A4E8-8FFDE28AD206}"/>
                </a:ext>
              </a:extLst>
            </p:cNvPr>
            <p:cNvSpPr/>
            <p:nvPr/>
          </p:nvSpPr>
          <p:spPr>
            <a:xfrm>
              <a:off x="348854" y="3479813"/>
              <a:ext cx="2502629" cy="407984"/>
            </a:xfrm>
            <a:prstGeom prst="rect">
              <a:avLst/>
            </a:prstGeom>
            <a:solidFill>
              <a:schemeClr val="accent3">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en-US" altLang="ja-JP" sz="1200" dirty="0">
                  <a:solidFill>
                    <a:schemeClr val="tx1"/>
                  </a:solidFill>
                  <a:latin typeface="+mn-ea"/>
                </a:rPr>
                <a:t>B2 </a:t>
              </a:r>
              <a:r>
                <a:rPr lang="ja-JP" altLang="en-US" sz="1200" dirty="0">
                  <a:solidFill>
                    <a:schemeClr val="tx1"/>
                  </a:solidFill>
                  <a:latin typeface="+mn-ea"/>
                </a:rPr>
                <a:t>小売広告の自社運用化</a:t>
              </a:r>
            </a:p>
          </p:txBody>
        </p:sp>
        <p:sp>
          <p:nvSpPr>
            <p:cNvPr id="93" name="正方形/長方形 5">
              <a:extLst>
                <a:ext uri="{FF2B5EF4-FFF2-40B4-BE49-F238E27FC236}">
                  <a16:creationId xmlns:a16="http://schemas.microsoft.com/office/drawing/2014/main" id="{668EE5ED-4868-94C6-A4E8-8FFDE28AD206}"/>
                </a:ext>
              </a:extLst>
            </p:cNvPr>
            <p:cNvSpPr/>
            <p:nvPr/>
          </p:nvSpPr>
          <p:spPr>
            <a:xfrm>
              <a:off x="348854" y="3963997"/>
              <a:ext cx="2502629" cy="407984"/>
            </a:xfrm>
            <a:prstGeom prst="rect">
              <a:avLst/>
            </a:prstGeom>
            <a:solidFill>
              <a:schemeClr val="accent3">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en-US" altLang="ja-JP" sz="1200" dirty="0">
                  <a:solidFill>
                    <a:schemeClr val="tx1"/>
                  </a:solidFill>
                  <a:latin typeface="+mn-ea"/>
                </a:rPr>
                <a:t>C1★ </a:t>
              </a:r>
              <a:r>
                <a:rPr lang="ja-JP" altLang="en-US" sz="1200" dirty="0">
                  <a:solidFill>
                    <a:schemeClr val="tx1"/>
                  </a:solidFill>
                  <a:latin typeface="+mn-ea"/>
                </a:rPr>
                <a:t>臨床データを商談の数字に</a:t>
              </a:r>
            </a:p>
          </p:txBody>
        </p:sp>
        <p:sp>
          <p:nvSpPr>
            <p:cNvPr id="94" name="正方形/長方形 5">
              <a:extLst>
                <a:ext uri="{FF2B5EF4-FFF2-40B4-BE49-F238E27FC236}">
                  <a16:creationId xmlns:a16="http://schemas.microsoft.com/office/drawing/2014/main" id="{668EE5ED-4868-94C6-A4E8-8FFDE28AD206}"/>
                </a:ext>
              </a:extLst>
            </p:cNvPr>
            <p:cNvSpPr/>
            <p:nvPr/>
          </p:nvSpPr>
          <p:spPr>
            <a:xfrm>
              <a:off x="348854" y="4448181"/>
              <a:ext cx="2502629" cy="407984"/>
            </a:xfrm>
            <a:prstGeom prst="rect">
              <a:avLst/>
            </a:prstGeom>
            <a:solidFill>
              <a:schemeClr val="accent3">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en-US" altLang="ja-JP" sz="1200" dirty="0">
                  <a:solidFill>
                    <a:schemeClr val="tx1"/>
                  </a:solidFill>
                  <a:latin typeface="+mn-ea"/>
                </a:rPr>
                <a:t>C2 </a:t>
              </a:r>
              <a:r>
                <a:rPr lang="ja-JP" altLang="en-US" sz="1200" dirty="0">
                  <a:solidFill>
                    <a:schemeClr val="tx1"/>
                  </a:solidFill>
                  <a:latin typeface="+mn-ea"/>
                </a:rPr>
                <a:t>成功商談の標準形づくり</a:t>
              </a:r>
            </a:p>
          </p:txBody>
        </p:sp>
        <p:sp>
          <p:nvSpPr>
            <p:cNvPr id="95" name="正方形/長方形 5">
              <a:extLst>
                <a:ext uri="{FF2B5EF4-FFF2-40B4-BE49-F238E27FC236}">
                  <a16:creationId xmlns:a16="http://schemas.microsoft.com/office/drawing/2014/main" id="{668EE5ED-4868-94C6-A4E8-8FFDE28AD206}"/>
                </a:ext>
              </a:extLst>
            </p:cNvPr>
            <p:cNvSpPr/>
            <p:nvPr/>
          </p:nvSpPr>
          <p:spPr>
            <a:xfrm>
              <a:off x="360886" y="4932365"/>
              <a:ext cx="2502629" cy="407984"/>
            </a:xfrm>
            <a:prstGeom prst="rect">
              <a:avLst/>
            </a:prstGeom>
            <a:solidFill>
              <a:schemeClr val="accent3">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en-US" altLang="ja-JP" sz="1200" dirty="0">
                  <a:solidFill>
                    <a:schemeClr val="tx1"/>
                  </a:solidFill>
                  <a:latin typeface="+mn-ea"/>
                </a:rPr>
                <a:t>D1★ </a:t>
              </a:r>
              <a:r>
                <a:rPr lang="ja-JP" altLang="en-US" sz="1200" dirty="0">
                  <a:solidFill>
                    <a:schemeClr val="tx1"/>
                  </a:solidFill>
                  <a:latin typeface="+mn-ea"/>
                </a:rPr>
                <a:t>資料作成の</a:t>
              </a:r>
              <a:r>
                <a:rPr lang="en-US" altLang="ja-JP" sz="1200" dirty="0">
                  <a:solidFill>
                    <a:schemeClr val="tx1"/>
                  </a:solidFill>
                  <a:latin typeface="+mn-ea"/>
                </a:rPr>
                <a:t>AI</a:t>
              </a:r>
              <a:r>
                <a:rPr lang="ja-JP" altLang="en-US" sz="1200" dirty="0">
                  <a:solidFill>
                    <a:schemeClr val="tx1"/>
                  </a:solidFill>
                  <a:latin typeface="+mn-ea"/>
                </a:rPr>
                <a:t>自動化</a:t>
              </a:r>
            </a:p>
          </p:txBody>
        </p:sp>
        <p:sp>
          <p:nvSpPr>
            <p:cNvPr id="96" name="正方形/長方形 5">
              <a:extLst>
                <a:ext uri="{FF2B5EF4-FFF2-40B4-BE49-F238E27FC236}">
                  <a16:creationId xmlns:a16="http://schemas.microsoft.com/office/drawing/2014/main" id="{668EE5ED-4868-94C6-A4E8-8FFDE28AD206}"/>
                </a:ext>
              </a:extLst>
            </p:cNvPr>
            <p:cNvSpPr/>
            <p:nvPr/>
          </p:nvSpPr>
          <p:spPr>
            <a:xfrm>
              <a:off x="348854" y="5416549"/>
              <a:ext cx="2502629" cy="407984"/>
            </a:xfrm>
            <a:prstGeom prst="rect">
              <a:avLst/>
            </a:prstGeom>
            <a:solidFill>
              <a:schemeClr val="accent3">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en-US" altLang="ja-JP" sz="1200" dirty="0">
                  <a:solidFill>
                    <a:schemeClr val="tx1"/>
                  </a:solidFill>
                  <a:latin typeface="+mn-ea"/>
                </a:rPr>
                <a:t>D2 </a:t>
              </a:r>
              <a:r>
                <a:rPr lang="ja-JP" altLang="en-US" sz="1200" dirty="0">
                  <a:solidFill>
                    <a:schemeClr val="tx1"/>
                  </a:solidFill>
                  <a:latin typeface="+mn-ea"/>
                </a:rPr>
                <a:t>チーム対チーム営業へ再編</a:t>
              </a:r>
            </a:p>
          </p:txBody>
        </p:sp>
        <p:sp>
          <p:nvSpPr>
            <p:cNvPr id="97" name="正方形/長方形 5">
              <a:extLst>
                <a:ext uri="{FF2B5EF4-FFF2-40B4-BE49-F238E27FC236}">
                  <a16:creationId xmlns:a16="http://schemas.microsoft.com/office/drawing/2014/main" id="{668EE5ED-4868-94C6-A4E8-8FFDE28AD206}"/>
                </a:ext>
              </a:extLst>
            </p:cNvPr>
            <p:cNvSpPr/>
            <p:nvPr/>
          </p:nvSpPr>
          <p:spPr>
            <a:xfrm>
              <a:off x="348854" y="5900733"/>
              <a:ext cx="2502629" cy="407984"/>
            </a:xfrm>
            <a:prstGeom prst="rect">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200" dirty="0">
                  <a:solidFill>
                    <a:schemeClr val="tx1"/>
                  </a:solidFill>
                  <a:latin typeface="+mn-ea"/>
                </a:rPr>
                <a:t>確認</a:t>
              </a:r>
            </a:p>
          </p:txBody>
        </p:sp>
        <p:sp>
          <p:nvSpPr>
            <p:cNvPr id="3" name="正方形/長方形 7">
              <a:extLst>
                <a:ext uri="{FF2B5EF4-FFF2-40B4-BE49-F238E27FC236}">
                  <a16:creationId xmlns:a16="http://schemas.microsoft.com/office/drawing/2014/main" id="{D67CFBC4-0BCC-3121-679A-19A7FFFC79E6}"/>
                </a:ext>
              </a:extLst>
            </p:cNvPr>
            <p:cNvSpPr/>
            <p:nvPr/>
          </p:nvSpPr>
          <p:spPr>
            <a:xfrm>
              <a:off x="4688966" y="1633399"/>
              <a:ext cx="1800000" cy="333703"/>
            </a:xfrm>
            <a:prstGeom prst="chevron">
              <a:avLst>
                <a:gd name="adj" fmla="val 28868"/>
              </a:avLst>
            </a:prstGeom>
            <a:solidFill>
              <a:srgbClr val="008D2E">
                <a:alpha val="69804"/>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400" dirty="0">
                  <a:solidFill>
                    <a:schemeClr val="bg1"/>
                  </a:solidFill>
                  <a:latin typeface="+mn-ea"/>
                </a:rPr>
                <a:t>FY27</a:t>
              </a:r>
            </a:p>
          </p:txBody>
        </p:sp>
        <p:sp>
          <p:nvSpPr>
            <p:cNvPr id="4" name="正方形/長方形 7">
              <a:extLst>
                <a:ext uri="{FF2B5EF4-FFF2-40B4-BE49-F238E27FC236}">
                  <a16:creationId xmlns:a16="http://schemas.microsoft.com/office/drawing/2014/main" id="{82027C6A-5F96-B79B-401C-179F2B5C17E4}"/>
                </a:ext>
              </a:extLst>
            </p:cNvPr>
            <p:cNvSpPr/>
            <p:nvPr/>
          </p:nvSpPr>
          <p:spPr>
            <a:xfrm>
              <a:off x="6478322" y="1633399"/>
              <a:ext cx="1800000" cy="333703"/>
            </a:xfrm>
            <a:prstGeom prst="chevron">
              <a:avLst>
                <a:gd name="adj" fmla="val 28868"/>
              </a:avLst>
            </a:prstGeom>
            <a:solidFill>
              <a:srgbClr val="008D2E">
                <a:alpha val="8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400" dirty="0">
                  <a:solidFill>
                    <a:schemeClr val="bg1"/>
                  </a:solidFill>
                  <a:latin typeface="+mn-ea"/>
                </a:rPr>
                <a:t>FY28</a:t>
              </a:r>
            </a:p>
          </p:txBody>
        </p:sp>
        <p:sp>
          <p:nvSpPr>
            <p:cNvPr id="5" name="正方形/長方形 7">
              <a:extLst>
                <a:ext uri="{FF2B5EF4-FFF2-40B4-BE49-F238E27FC236}">
                  <a16:creationId xmlns:a16="http://schemas.microsoft.com/office/drawing/2014/main" id="{BDE6167D-8AA3-C9B0-709A-B43260C8C199}"/>
                </a:ext>
              </a:extLst>
            </p:cNvPr>
            <p:cNvSpPr/>
            <p:nvPr/>
          </p:nvSpPr>
          <p:spPr>
            <a:xfrm>
              <a:off x="8267679" y="1633399"/>
              <a:ext cx="1800000" cy="333703"/>
            </a:xfrm>
            <a:prstGeom prst="chevron">
              <a:avLst>
                <a:gd name="adj" fmla="val 28868"/>
              </a:avLst>
            </a:prstGeom>
            <a:solidFill>
              <a:srgbClr val="008D2E">
                <a:alpha val="89804"/>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400" dirty="0">
                  <a:solidFill>
                    <a:schemeClr val="bg1"/>
                  </a:solidFill>
                  <a:latin typeface="+mn-ea"/>
                </a:rPr>
                <a:t>FY29</a:t>
              </a:r>
            </a:p>
          </p:txBody>
        </p:sp>
        <p:cxnSp>
          <p:nvCxnSpPr>
            <p:cNvPr id="21" name="直線コネクタ 20">
              <a:extLst>
                <a:ext uri="{FF2B5EF4-FFF2-40B4-BE49-F238E27FC236}">
                  <a16:creationId xmlns:a16="http://schemas.microsoft.com/office/drawing/2014/main" id="{EFA3BF36-3CBF-E89B-B546-C89A996007D6}"/>
                </a:ext>
              </a:extLst>
            </p:cNvPr>
            <p:cNvCxnSpPr/>
            <p:nvPr/>
          </p:nvCxnSpPr>
          <p:spPr>
            <a:xfrm>
              <a:off x="8273000" y="2027261"/>
              <a:ext cx="0" cy="4281455"/>
            </a:xfrm>
            <a:prstGeom prst="line">
              <a:avLst/>
            </a:prstGeom>
            <a:ln w="9525">
              <a:solidFill>
                <a:schemeClr val="bg1">
                  <a:lumMod val="7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32D73C8C-3DFB-FD38-5E5D-629E15F154C3}"/>
                </a:ext>
              </a:extLst>
            </p:cNvPr>
            <p:cNvCxnSpPr/>
            <p:nvPr/>
          </p:nvCxnSpPr>
          <p:spPr>
            <a:xfrm>
              <a:off x="11857038" y="2027261"/>
              <a:ext cx="0" cy="4281455"/>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14932DE2-B89C-DCC7-31EC-B4C63548B848}"/>
                </a:ext>
              </a:extLst>
            </p:cNvPr>
            <p:cNvCxnSpPr/>
            <p:nvPr/>
          </p:nvCxnSpPr>
          <p:spPr>
            <a:xfrm>
              <a:off x="5588966" y="2027261"/>
              <a:ext cx="0" cy="4281455"/>
            </a:xfrm>
            <a:prstGeom prst="line">
              <a:avLst/>
            </a:prstGeom>
            <a:ln w="9525">
              <a:solidFill>
                <a:schemeClr val="bg1">
                  <a:lumMod val="7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9" name="四角形: 角を丸くする 38">
              <a:extLst>
                <a:ext uri="{FF2B5EF4-FFF2-40B4-BE49-F238E27FC236}">
                  <a16:creationId xmlns:a16="http://schemas.microsoft.com/office/drawing/2014/main" id="{4844624C-E5E2-D87D-7433-403200CC0877}"/>
                </a:ext>
              </a:extLst>
            </p:cNvPr>
            <p:cNvSpPr/>
            <p:nvPr/>
          </p:nvSpPr>
          <p:spPr>
            <a:xfrm>
              <a:off x="3219808" y="2068880"/>
              <a:ext cx="2114890" cy="199306"/>
            </a:xfrm>
            <a:prstGeom prst="roundRect">
              <a:avLst>
                <a:gd name="adj"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ja-JP" altLang="en-US" sz="1050" dirty="0">
                  <a:solidFill>
                    <a:schemeClr val="accent5"/>
                  </a:solidFill>
                  <a:latin typeface="+mn-ea"/>
                </a:rPr>
                <a:t>商品データを整備し</a:t>
              </a:r>
              <a:r>
                <a:rPr lang="en-US" altLang="ja-JP" sz="1050" dirty="0">
                  <a:solidFill>
                    <a:schemeClr val="accent5"/>
                  </a:solidFill>
                  <a:latin typeface="+mn-ea"/>
                </a:rPr>
                <a:t>API</a:t>
              </a:r>
              <a:r>
                <a:rPr lang="ja-JP" altLang="en-US" sz="1050" dirty="0">
                  <a:solidFill>
                    <a:schemeClr val="accent5"/>
                  </a:solidFill>
                  <a:latin typeface="+mn-ea"/>
                </a:rPr>
                <a:t>で公開</a:t>
              </a:r>
            </a:p>
          </p:txBody>
        </p:sp>
        <p:sp>
          <p:nvSpPr>
            <p:cNvPr id="55" name="四角形: 角を丸くする 54">
              <a:extLst>
                <a:ext uri="{FF2B5EF4-FFF2-40B4-BE49-F238E27FC236}">
                  <a16:creationId xmlns:a16="http://schemas.microsoft.com/office/drawing/2014/main" id="{3CA24D9B-BC6A-2C3D-B04F-A9FE1BEE8FFB}"/>
                </a:ext>
              </a:extLst>
            </p:cNvPr>
            <p:cNvSpPr/>
            <p:nvPr/>
          </p:nvSpPr>
          <p:spPr>
            <a:xfrm>
              <a:off x="5588963" y="2064543"/>
              <a:ext cx="2502628" cy="199306"/>
            </a:xfrm>
            <a:prstGeom prst="roundRect">
              <a:avLst>
                <a:gd name="adj"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ja-JP" altLang="en-US" sz="1050" dirty="0">
                  <a:solidFill>
                    <a:schemeClr val="accent5"/>
                  </a:solidFill>
                  <a:latin typeface="+mn-ea"/>
                </a:rPr>
                <a:t>小売・</a:t>
              </a:r>
              <a:r>
                <a:rPr lang="en-US" altLang="ja-JP" sz="1050" dirty="0">
                  <a:solidFill>
                    <a:schemeClr val="accent5"/>
                  </a:solidFill>
                  <a:latin typeface="+mn-ea"/>
                </a:rPr>
                <a:t>AI</a:t>
              </a:r>
              <a:r>
                <a:rPr lang="ja-JP" altLang="en-US" sz="1050" dirty="0">
                  <a:solidFill>
                    <a:schemeClr val="accent5"/>
                  </a:solidFill>
                  <a:latin typeface="+mn-ea"/>
                </a:rPr>
                <a:t>への提供開始と効果の実測</a:t>
              </a:r>
            </a:p>
          </p:txBody>
        </p:sp>
        <p:sp>
          <p:nvSpPr>
            <p:cNvPr id="69" name="四角形: 角を丸くする 68">
              <a:extLst>
                <a:ext uri="{FF2B5EF4-FFF2-40B4-BE49-F238E27FC236}">
                  <a16:creationId xmlns:a16="http://schemas.microsoft.com/office/drawing/2014/main" id="{B5ABEC6C-44CB-9497-18FF-8D9988C95C3E}"/>
                </a:ext>
              </a:extLst>
            </p:cNvPr>
            <p:cNvSpPr/>
            <p:nvPr/>
          </p:nvSpPr>
          <p:spPr>
            <a:xfrm>
              <a:off x="8267679" y="2071628"/>
              <a:ext cx="3589357" cy="199306"/>
            </a:xfrm>
            <a:prstGeom prst="roundRect">
              <a:avLst>
                <a:gd name="adj"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ja-JP" altLang="en-US" sz="1050" dirty="0">
                  <a:solidFill>
                    <a:schemeClr val="tx1"/>
                  </a:solidFill>
                  <a:latin typeface="+mn-ea"/>
                </a:rPr>
                <a:t>対象小売を順次拡大</a:t>
              </a:r>
            </a:p>
          </p:txBody>
        </p:sp>
        <p:sp>
          <p:nvSpPr>
            <p:cNvPr id="79" name="四角形: 角を丸くする 78">
              <a:extLst>
                <a:ext uri="{FF2B5EF4-FFF2-40B4-BE49-F238E27FC236}">
                  <a16:creationId xmlns:a16="http://schemas.microsoft.com/office/drawing/2014/main" id="{2173AD22-9C8E-8C2C-7CB4-407D674D4767}"/>
                </a:ext>
              </a:extLst>
            </p:cNvPr>
            <p:cNvSpPr/>
            <p:nvPr/>
          </p:nvSpPr>
          <p:spPr>
            <a:xfrm>
              <a:off x="3799608" y="2511445"/>
              <a:ext cx="900000" cy="280943"/>
            </a:xfrm>
            <a:prstGeom prst="roundRect">
              <a:avLst>
                <a:gd name="adj"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ja-JP" altLang="en-US" sz="1050" dirty="0">
                  <a:solidFill>
                    <a:schemeClr val="accent5"/>
                  </a:solidFill>
                  <a:latin typeface="+mn-ea"/>
                </a:rPr>
                <a:t>設計</a:t>
              </a:r>
            </a:p>
          </p:txBody>
        </p:sp>
        <p:sp>
          <p:nvSpPr>
            <p:cNvPr id="88" name="四角形: 角を丸くする 87">
              <a:extLst>
                <a:ext uri="{FF2B5EF4-FFF2-40B4-BE49-F238E27FC236}">
                  <a16:creationId xmlns:a16="http://schemas.microsoft.com/office/drawing/2014/main" id="{A56781C4-DC26-589A-CCBC-1233A621FB08}"/>
                </a:ext>
              </a:extLst>
            </p:cNvPr>
            <p:cNvSpPr/>
            <p:nvPr/>
          </p:nvSpPr>
          <p:spPr>
            <a:xfrm>
              <a:off x="4805845" y="2511446"/>
              <a:ext cx="3285745" cy="280406"/>
            </a:xfrm>
            <a:prstGeom prst="roundRect">
              <a:avLst>
                <a:gd name="adj" fmla="val 0"/>
              </a:avLst>
            </a:prstGeom>
            <a:solidFill>
              <a:schemeClr val="bg1"/>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ja-JP" altLang="en-US" sz="1050" dirty="0">
                  <a:solidFill>
                    <a:schemeClr val="accent5"/>
                  </a:solidFill>
                  <a:latin typeface="+mn-ea"/>
                </a:rPr>
                <a:t>学校・健診でデジタル教材と診断アプリを試験導入</a:t>
              </a:r>
            </a:p>
          </p:txBody>
        </p:sp>
        <p:sp>
          <p:nvSpPr>
            <p:cNvPr id="100" name="四角形: 角を丸くする 99">
              <a:extLst>
                <a:ext uri="{FF2B5EF4-FFF2-40B4-BE49-F238E27FC236}">
                  <a16:creationId xmlns:a16="http://schemas.microsoft.com/office/drawing/2014/main" id="{B744F7EB-BACA-3D38-58B6-6F9AA4C4509A}"/>
                </a:ext>
              </a:extLst>
            </p:cNvPr>
            <p:cNvSpPr/>
            <p:nvPr/>
          </p:nvSpPr>
          <p:spPr>
            <a:xfrm>
              <a:off x="8267677" y="2511445"/>
              <a:ext cx="3589357" cy="333703"/>
            </a:xfrm>
            <a:prstGeom prst="roundRect">
              <a:avLst>
                <a:gd name="adj"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ja-JP" altLang="en-US" sz="1050" dirty="0">
                  <a:solidFill>
                    <a:schemeClr val="tx1"/>
                  </a:solidFill>
                  <a:latin typeface="+mn-ea"/>
                </a:rPr>
                <a:t>自治体・学校へ拡大</a:t>
              </a:r>
            </a:p>
          </p:txBody>
        </p:sp>
        <p:sp>
          <p:nvSpPr>
            <p:cNvPr id="103" name="四角形: 角を丸くする 102">
              <a:extLst>
                <a:ext uri="{FF2B5EF4-FFF2-40B4-BE49-F238E27FC236}">
                  <a16:creationId xmlns:a16="http://schemas.microsoft.com/office/drawing/2014/main" id="{2A338C9E-0ED2-8BCB-E027-6BE4EB0C37D7}"/>
                </a:ext>
              </a:extLst>
            </p:cNvPr>
            <p:cNvSpPr/>
            <p:nvPr/>
          </p:nvSpPr>
          <p:spPr>
            <a:xfrm>
              <a:off x="2899609" y="2995628"/>
              <a:ext cx="1800000" cy="322023"/>
            </a:xfrm>
            <a:prstGeom prst="roundRect">
              <a:avLst>
                <a:gd name="adj"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en-US" altLang="ja-JP" sz="1050" dirty="0">
                  <a:solidFill>
                    <a:schemeClr val="accent5"/>
                  </a:solidFill>
                  <a:latin typeface="+mn-ea"/>
                </a:rPr>
                <a:t>AI</a:t>
              </a:r>
              <a:r>
                <a:rPr lang="ja-JP" altLang="en-US" sz="1050" dirty="0">
                  <a:solidFill>
                    <a:schemeClr val="accent5"/>
                  </a:solidFill>
                  <a:latin typeface="+mn-ea"/>
                </a:rPr>
                <a:t>推奨シェアの測定開始・</a:t>
              </a:r>
              <a:br>
                <a:rPr lang="en-US" altLang="ja-JP" sz="1050" dirty="0">
                  <a:solidFill>
                    <a:schemeClr val="accent5"/>
                  </a:solidFill>
                  <a:latin typeface="+mn-ea"/>
                </a:rPr>
              </a:br>
              <a:r>
                <a:rPr lang="ja-JP" altLang="en-US" sz="1050" dirty="0">
                  <a:solidFill>
                    <a:schemeClr val="accent5"/>
                  </a:solidFill>
                  <a:latin typeface="+mn-ea"/>
                </a:rPr>
                <a:t>基準値づくり</a:t>
              </a:r>
            </a:p>
          </p:txBody>
        </p:sp>
        <p:sp>
          <p:nvSpPr>
            <p:cNvPr id="106" name="四角形: 角を丸くする 105">
              <a:extLst>
                <a:ext uri="{FF2B5EF4-FFF2-40B4-BE49-F238E27FC236}">
                  <a16:creationId xmlns:a16="http://schemas.microsoft.com/office/drawing/2014/main" id="{6F67D7AC-5CC3-BB2E-DEAF-E0F608941ADA}"/>
                </a:ext>
              </a:extLst>
            </p:cNvPr>
            <p:cNvSpPr/>
            <p:nvPr/>
          </p:nvSpPr>
          <p:spPr>
            <a:xfrm>
              <a:off x="4805842" y="2995628"/>
              <a:ext cx="3285748" cy="322023"/>
            </a:xfrm>
            <a:prstGeom prst="roundRect">
              <a:avLst>
                <a:gd name="adj" fmla="val 0"/>
              </a:avLst>
            </a:prstGeom>
            <a:solidFill>
              <a:schemeClr val="bg1"/>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ja-JP" altLang="en-US" sz="1050" dirty="0">
                  <a:solidFill>
                    <a:schemeClr val="accent5"/>
                  </a:solidFill>
                  <a:latin typeface="+mn-ea"/>
                </a:rPr>
                <a:t>広告・販促の効果測定の仕組みを確立</a:t>
              </a:r>
            </a:p>
          </p:txBody>
        </p:sp>
        <p:sp>
          <p:nvSpPr>
            <p:cNvPr id="109" name="四角形: 角を丸くする 108">
              <a:extLst>
                <a:ext uri="{FF2B5EF4-FFF2-40B4-BE49-F238E27FC236}">
                  <a16:creationId xmlns:a16="http://schemas.microsoft.com/office/drawing/2014/main" id="{9CC29322-9A3A-ED60-F386-CE4BB5DCDB64}"/>
                </a:ext>
              </a:extLst>
            </p:cNvPr>
            <p:cNvSpPr/>
            <p:nvPr/>
          </p:nvSpPr>
          <p:spPr>
            <a:xfrm>
              <a:off x="8267677" y="2995628"/>
              <a:ext cx="3589357" cy="322023"/>
            </a:xfrm>
            <a:prstGeom prst="roundRect">
              <a:avLst>
                <a:gd name="adj"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ja-JP" altLang="en-US" sz="1050" dirty="0">
                  <a:solidFill>
                    <a:schemeClr val="tx1"/>
                  </a:solidFill>
                  <a:latin typeface="+mn-ea"/>
                </a:rPr>
                <a:t>全施策の投資判断に適用</a:t>
              </a:r>
            </a:p>
          </p:txBody>
        </p:sp>
        <p:sp>
          <p:nvSpPr>
            <p:cNvPr id="112" name="四角形: 角を丸くする 111">
              <a:extLst>
                <a:ext uri="{FF2B5EF4-FFF2-40B4-BE49-F238E27FC236}">
                  <a16:creationId xmlns:a16="http://schemas.microsoft.com/office/drawing/2014/main" id="{7F36A064-5931-CA2D-B159-5699B9ADB21C}"/>
                </a:ext>
              </a:extLst>
            </p:cNvPr>
            <p:cNvSpPr/>
            <p:nvPr/>
          </p:nvSpPr>
          <p:spPr>
            <a:xfrm>
              <a:off x="6539679" y="3479810"/>
              <a:ext cx="3527999" cy="309166"/>
            </a:xfrm>
            <a:prstGeom prst="roundRect">
              <a:avLst>
                <a:gd name="adj"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ja-JP" altLang="en-US" sz="1050" dirty="0">
                  <a:solidFill>
                    <a:schemeClr val="accent5"/>
                  </a:solidFill>
                  <a:latin typeface="+mn-ea"/>
                </a:rPr>
                <a:t>自社運用に切り替え</a:t>
              </a:r>
            </a:p>
          </p:txBody>
        </p:sp>
        <p:sp>
          <p:nvSpPr>
            <p:cNvPr id="115" name="四角形: 角を丸くする 114">
              <a:extLst>
                <a:ext uri="{FF2B5EF4-FFF2-40B4-BE49-F238E27FC236}">
                  <a16:creationId xmlns:a16="http://schemas.microsoft.com/office/drawing/2014/main" id="{842FDE00-E998-A54A-623C-A3A6CC69A96D}"/>
                </a:ext>
              </a:extLst>
            </p:cNvPr>
            <p:cNvSpPr/>
            <p:nvPr/>
          </p:nvSpPr>
          <p:spPr>
            <a:xfrm>
              <a:off x="4805842" y="3479812"/>
              <a:ext cx="1559462" cy="309164"/>
            </a:xfrm>
            <a:prstGeom prst="roundRect">
              <a:avLst>
                <a:gd name="adj" fmla="val 0"/>
              </a:avLst>
            </a:prstGeom>
            <a:solidFill>
              <a:schemeClr val="bg1"/>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ja-JP" altLang="en-US" sz="1050" dirty="0">
                  <a:solidFill>
                    <a:schemeClr val="accent5"/>
                  </a:solidFill>
                  <a:latin typeface="+mn-ea"/>
                </a:rPr>
                <a:t>小売サイト広告の運用を</a:t>
              </a:r>
              <a:br>
                <a:rPr lang="en-US" altLang="ja-JP" sz="1050" dirty="0">
                  <a:solidFill>
                    <a:schemeClr val="accent5"/>
                  </a:solidFill>
                  <a:latin typeface="+mn-ea"/>
                </a:rPr>
              </a:br>
              <a:r>
                <a:rPr lang="ja-JP" altLang="en-US" sz="1050" dirty="0">
                  <a:solidFill>
                    <a:schemeClr val="accent5"/>
                  </a:solidFill>
                  <a:latin typeface="+mn-ea"/>
                </a:rPr>
                <a:t>一元管理</a:t>
              </a:r>
            </a:p>
          </p:txBody>
        </p:sp>
        <p:sp>
          <p:nvSpPr>
            <p:cNvPr id="118" name="四角形: 角を丸くする 117">
              <a:extLst>
                <a:ext uri="{FF2B5EF4-FFF2-40B4-BE49-F238E27FC236}">
                  <a16:creationId xmlns:a16="http://schemas.microsoft.com/office/drawing/2014/main" id="{06FED931-72F1-C199-F6ED-422AF417F344}"/>
                </a:ext>
              </a:extLst>
            </p:cNvPr>
            <p:cNvSpPr/>
            <p:nvPr/>
          </p:nvSpPr>
          <p:spPr>
            <a:xfrm>
              <a:off x="5588963" y="3963996"/>
              <a:ext cx="2492914" cy="322019"/>
            </a:xfrm>
            <a:prstGeom prst="roundRect">
              <a:avLst>
                <a:gd name="adj"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ja-JP" altLang="en-US" sz="1050" dirty="0">
                  <a:solidFill>
                    <a:schemeClr val="accent5"/>
                  </a:solidFill>
                  <a:latin typeface="+mn-ea"/>
                </a:rPr>
                <a:t>値引きに頼らない商談と、</a:t>
              </a:r>
              <a:br>
                <a:rPr lang="en-US" altLang="ja-JP" sz="1050" dirty="0">
                  <a:solidFill>
                    <a:schemeClr val="accent5"/>
                  </a:solidFill>
                  <a:latin typeface="+mn-ea"/>
                </a:rPr>
              </a:br>
              <a:r>
                <a:rPr lang="ja-JP" altLang="en-US" sz="1050" dirty="0">
                  <a:solidFill>
                    <a:schemeClr val="accent5"/>
                  </a:solidFill>
                  <a:latin typeface="+mn-ea"/>
                </a:rPr>
                <a:t>歯科経由の販売を実証</a:t>
              </a:r>
            </a:p>
          </p:txBody>
        </p:sp>
        <p:sp>
          <p:nvSpPr>
            <p:cNvPr id="121" name="四角形: 角を丸くする 120">
              <a:extLst>
                <a:ext uri="{FF2B5EF4-FFF2-40B4-BE49-F238E27FC236}">
                  <a16:creationId xmlns:a16="http://schemas.microsoft.com/office/drawing/2014/main" id="{871E195B-92DF-D0B2-A938-89E461C0E098}"/>
                </a:ext>
              </a:extLst>
            </p:cNvPr>
            <p:cNvSpPr/>
            <p:nvPr/>
          </p:nvSpPr>
          <p:spPr>
            <a:xfrm>
              <a:off x="3799608" y="3963996"/>
              <a:ext cx="1800000" cy="322019"/>
            </a:xfrm>
            <a:prstGeom prst="roundRect">
              <a:avLst>
                <a:gd name="adj"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ja-JP" altLang="en-US" sz="1050" dirty="0">
                  <a:solidFill>
                    <a:schemeClr val="accent5"/>
                  </a:solidFill>
                  <a:latin typeface="+mn-ea"/>
                </a:rPr>
                <a:t>重点小売</a:t>
              </a:r>
              <a:r>
                <a:rPr lang="en-US" altLang="ja-JP" sz="1050" dirty="0">
                  <a:solidFill>
                    <a:schemeClr val="accent5"/>
                  </a:solidFill>
                  <a:latin typeface="+mn-ea"/>
                </a:rPr>
                <a:t>2</a:t>
              </a:r>
              <a:r>
                <a:rPr lang="ja-JP" altLang="en-US" sz="1050" dirty="0">
                  <a:solidFill>
                    <a:schemeClr val="accent5"/>
                  </a:solidFill>
                  <a:latin typeface="+mn-ea"/>
                </a:rPr>
                <a:t>社で歯ぐきケアの</a:t>
              </a:r>
              <a:br>
                <a:rPr lang="en-US" altLang="ja-JP" sz="1050" dirty="0">
                  <a:solidFill>
                    <a:schemeClr val="accent5"/>
                  </a:solidFill>
                  <a:latin typeface="+mn-ea"/>
                </a:rPr>
              </a:br>
              <a:r>
                <a:rPr lang="ja-JP" altLang="en-US" sz="1050" dirty="0">
                  <a:solidFill>
                    <a:schemeClr val="accent5"/>
                  </a:solidFill>
                  <a:latin typeface="+mn-ea"/>
                </a:rPr>
                <a:t>共同事業を開始</a:t>
              </a:r>
            </a:p>
          </p:txBody>
        </p:sp>
        <p:sp>
          <p:nvSpPr>
            <p:cNvPr id="124" name="四角形: 角を丸くする 123">
              <a:extLst>
                <a:ext uri="{FF2B5EF4-FFF2-40B4-BE49-F238E27FC236}">
                  <a16:creationId xmlns:a16="http://schemas.microsoft.com/office/drawing/2014/main" id="{9DEB6235-8543-9F6C-7B91-D549F596D1E4}"/>
                </a:ext>
              </a:extLst>
            </p:cNvPr>
            <p:cNvSpPr/>
            <p:nvPr/>
          </p:nvSpPr>
          <p:spPr>
            <a:xfrm>
              <a:off x="4805842" y="4448181"/>
              <a:ext cx="3285748" cy="322018"/>
            </a:xfrm>
            <a:prstGeom prst="roundRect">
              <a:avLst>
                <a:gd name="adj" fmla="val 0"/>
              </a:avLst>
            </a:prstGeom>
            <a:solidFill>
              <a:schemeClr val="bg1"/>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ja-JP" altLang="en-US" sz="1050" dirty="0">
                  <a:solidFill>
                    <a:schemeClr val="accent5"/>
                  </a:solidFill>
                  <a:latin typeface="+mn-ea"/>
                </a:rPr>
                <a:t>成功した商談を標準の提案書式として整備</a:t>
              </a:r>
            </a:p>
          </p:txBody>
        </p:sp>
        <p:sp>
          <p:nvSpPr>
            <p:cNvPr id="127" name="四角形: 角を丸くする 126">
              <a:extLst>
                <a:ext uri="{FF2B5EF4-FFF2-40B4-BE49-F238E27FC236}">
                  <a16:creationId xmlns:a16="http://schemas.microsoft.com/office/drawing/2014/main" id="{40EFD74F-88BA-3A85-20ED-DFFE4B25B5C7}"/>
                </a:ext>
              </a:extLst>
            </p:cNvPr>
            <p:cNvSpPr/>
            <p:nvPr/>
          </p:nvSpPr>
          <p:spPr>
            <a:xfrm>
              <a:off x="2899609" y="4940457"/>
              <a:ext cx="1800000" cy="309166"/>
            </a:xfrm>
            <a:prstGeom prst="roundRect">
              <a:avLst>
                <a:gd name="adj"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ja-JP" altLang="en-US" sz="1050" dirty="0">
                  <a:solidFill>
                    <a:schemeClr val="accent5"/>
                  </a:solidFill>
                  <a:latin typeface="+mn-ea"/>
                </a:rPr>
                <a:t>生成</a:t>
              </a:r>
              <a:r>
                <a:rPr lang="en-US" altLang="ja-JP" sz="1050" dirty="0">
                  <a:solidFill>
                    <a:schemeClr val="accent5"/>
                  </a:solidFill>
                  <a:latin typeface="+mn-ea"/>
                </a:rPr>
                <a:t>AI</a:t>
              </a:r>
              <a:r>
                <a:rPr lang="ja-JP" altLang="en-US" sz="1050" dirty="0">
                  <a:solidFill>
                    <a:schemeClr val="accent5"/>
                  </a:solidFill>
                  <a:latin typeface="+mn-ea"/>
                </a:rPr>
                <a:t>で資料作成を</a:t>
              </a:r>
              <a:br>
                <a:rPr lang="en-US" altLang="ja-JP" sz="1050" dirty="0">
                  <a:solidFill>
                    <a:schemeClr val="accent5"/>
                  </a:solidFill>
                  <a:latin typeface="+mn-ea"/>
                </a:rPr>
              </a:br>
              <a:r>
                <a:rPr lang="en-US" altLang="ja-JP" sz="1050" dirty="0">
                  <a:solidFill>
                    <a:schemeClr val="accent5"/>
                  </a:solidFill>
                  <a:latin typeface="+mn-ea"/>
                </a:rPr>
                <a:t>3</a:t>
              </a:r>
              <a:r>
                <a:rPr lang="ja-JP" altLang="en-US" sz="1050" dirty="0">
                  <a:solidFill>
                    <a:schemeClr val="accent5"/>
                  </a:solidFill>
                  <a:latin typeface="+mn-ea"/>
                </a:rPr>
                <a:t>割削減</a:t>
              </a:r>
            </a:p>
          </p:txBody>
        </p:sp>
        <p:sp>
          <p:nvSpPr>
            <p:cNvPr id="130" name="四角形: 角を丸くする 129">
              <a:extLst>
                <a:ext uri="{FF2B5EF4-FFF2-40B4-BE49-F238E27FC236}">
                  <a16:creationId xmlns:a16="http://schemas.microsoft.com/office/drawing/2014/main" id="{D81DFDF8-624A-5463-C8DA-E8495988DA43}"/>
                </a:ext>
              </a:extLst>
            </p:cNvPr>
            <p:cNvSpPr/>
            <p:nvPr/>
          </p:nvSpPr>
          <p:spPr>
            <a:xfrm>
              <a:off x="4805842" y="4940457"/>
              <a:ext cx="3285748" cy="309166"/>
            </a:xfrm>
            <a:prstGeom prst="roundRect">
              <a:avLst>
                <a:gd name="adj" fmla="val 0"/>
              </a:avLst>
            </a:prstGeom>
            <a:solidFill>
              <a:schemeClr val="bg1"/>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ja-JP" altLang="en-US" sz="1050" dirty="0">
                  <a:solidFill>
                    <a:schemeClr val="accent5"/>
                  </a:solidFill>
                  <a:latin typeface="+mn-ea"/>
                </a:rPr>
                <a:t>事務時間を半分まで削減</a:t>
              </a:r>
            </a:p>
          </p:txBody>
        </p:sp>
        <p:sp>
          <p:nvSpPr>
            <p:cNvPr id="133" name="四角形: 角を丸くする 132">
              <a:extLst>
                <a:ext uri="{FF2B5EF4-FFF2-40B4-BE49-F238E27FC236}">
                  <a16:creationId xmlns:a16="http://schemas.microsoft.com/office/drawing/2014/main" id="{63294086-9828-3AF0-CDFD-B88EEEACEC45}"/>
                </a:ext>
              </a:extLst>
            </p:cNvPr>
            <p:cNvSpPr/>
            <p:nvPr/>
          </p:nvSpPr>
          <p:spPr>
            <a:xfrm>
              <a:off x="6539679" y="5416548"/>
              <a:ext cx="1738642" cy="317255"/>
            </a:xfrm>
            <a:prstGeom prst="roundRect">
              <a:avLst>
                <a:gd name="adj"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ja-JP" altLang="en-US" sz="1050" dirty="0">
                  <a:solidFill>
                    <a:schemeClr val="accent5"/>
                  </a:solidFill>
                  <a:latin typeface="+mn-ea"/>
                </a:rPr>
                <a:t>確認</a:t>
              </a:r>
              <a:r>
                <a:rPr lang="en-US" altLang="ja-JP" sz="1050" dirty="0">
                  <a:solidFill>
                    <a:schemeClr val="accent5"/>
                  </a:solidFill>
                  <a:latin typeface="+mn-ea"/>
                </a:rPr>
                <a:t>2</a:t>
              </a:r>
              <a:r>
                <a:rPr lang="ja-JP" altLang="en-US" sz="1050" dirty="0">
                  <a:solidFill>
                    <a:schemeClr val="accent5"/>
                  </a:solidFill>
                  <a:latin typeface="+mn-ea"/>
                </a:rPr>
                <a:t>合格後に正式組織化</a:t>
              </a:r>
            </a:p>
          </p:txBody>
        </p:sp>
        <p:sp>
          <p:nvSpPr>
            <p:cNvPr id="136" name="四角形: 角を丸くする 135">
              <a:extLst>
                <a:ext uri="{FF2B5EF4-FFF2-40B4-BE49-F238E27FC236}">
                  <a16:creationId xmlns:a16="http://schemas.microsoft.com/office/drawing/2014/main" id="{F04401F9-1C51-7485-66B9-4F91EBB62042}"/>
                </a:ext>
              </a:extLst>
            </p:cNvPr>
            <p:cNvSpPr/>
            <p:nvPr/>
          </p:nvSpPr>
          <p:spPr>
            <a:xfrm>
              <a:off x="4805842" y="5416549"/>
              <a:ext cx="1559460" cy="317255"/>
            </a:xfrm>
            <a:prstGeom prst="roundRect">
              <a:avLst>
                <a:gd name="adj" fmla="val 0"/>
              </a:avLst>
            </a:prstGeom>
            <a:solidFill>
              <a:schemeClr val="bg1"/>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ja-JP" altLang="en-US" sz="1050" dirty="0">
                  <a:solidFill>
                    <a:schemeClr val="accent5"/>
                  </a:solidFill>
                  <a:latin typeface="+mn-ea"/>
                </a:rPr>
                <a:t>営業・ブランド・データの</a:t>
              </a:r>
              <a:br>
                <a:rPr lang="en-US" altLang="ja-JP" sz="1050" dirty="0">
                  <a:solidFill>
                    <a:schemeClr val="accent5"/>
                  </a:solidFill>
                  <a:latin typeface="+mn-ea"/>
                </a:rPr>
              </a:br>
              <a:r>
                <a:rPr lang="ja-JP" altLang="en-US" sz="1050" dirty="0">
                  <a:solidFill>
                    <a:schemeClr val="accent5"/>
                  </a:solidFill>
                  <a:latin typeface="+mn-ea"/>
                </a:rPr>
                <a:t>混成チームを先行編成</a:t>
              </a:r>
            </a:p>
          </p:txBody>
        </p:sp>
        <p:sp>
          <p:nvSpPr>
            <p:cNvPr id="139" name="四角形: 角を丸くする 138">
              <a:extLst>
                <a:ext uri="{FF2B5EF4-FFF2-40B4-BE49-F238E27FC236}">
                  <a16:creationId xmlns:a16="http://schemas.microsoft.com/office/drawing/2014/main" id="{5FFBF55A-0674-B0C9-26AF-201B78C3420D}"/>
                </a:ext>
              </a:extLst>
            </p:cNvPr>
            <p:cNvSpPr/>
            <p:nvPr/>
          </p:nvSpPr>
          <p:spPr>
            <a:xfrm>
              <a:off x="10057038" y="3479810"/>
              <a:ext cx="1800000" cy="309166"/>
            </a:xfrm>
            <a:prstGeom prst="roundRect">
              <a:avLst>
                <a:gd name="adj"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ja-JP" altLang="en-US" sz="1050" dirty="0">
                  <a:solidFill>
                    <a:schemeClr val="tx1"/>
                  </a:solidFill>
                  <a:latin typeface="+mn-ea"/>
                </a:rPr>
                <a:t>標準化</a:t>
              </a:r>
            </a:p>
          </p:txBody>
        </p:sp>
        <p:sp>
          <p:nvSpPr>
            <p:cNvPr id="142" name="四角形: 角を丸くする 141">
              <a:extLst>
                <a:ext uri="{FF2B5EF4-FFF2-40B4-BE49-F238E27FC236}">
                  <a16:creationId xmlns:a16="http://schemas.microsoft.com/office/drawing/2014/main" id="{29B37CF9-FB90-0887-D972-836E768226BC}"/>
                </a:ext>
              </a:extLst>
            </p:cNvPr>
            <p:cNvSpPr/>
            <p:nvPr/>
          </p:nvSpPr>
          <p:spPr>
            <a:xfrm>
              <a:off x="8267677" y="3963996"/>
              <a:ext cx="3589357" cy="322019"/>
            </a:xfrm>
            <a:prstGeom prst="roundRect">
              <a:avLst>
                <a:gd name="adj"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ja-JP" altLang="en-US" sz="1050" dirty="0">
                  <a:solidFill>
                    <a:schemeClr val="tx1"/>
                  </a:solidFill>
                  <a:latin typeface="+mn-ea"/>
                </a:rPr>
                <a:t>臨床データ基盤の本格稼働</a:t>
              </a:r>
              <a:endParaRPr lang="en-US" altLang="ja-JP" sz="1050" dirty="0">
                <a:solidFill>
                  <a:schemeClr val="tx1"/>
                </a:solidFill>
                <a:latin typeface="+mn-ea"/>
              </a:endParaRPr>
            </a:p>
            <a:p>
              <a:r>
                <a:rPr lang="ja-JP" altLang="en-US" sz="1050" dirty="0">
                  <a:solidFill>
                    <a:schemeClr val="tx1"/>
                  </a:solidFill>
                  <a:latin typeface="+mn-ea"/>
                </a:rPr>
                <a:t>・対象拡大</a:t>
              </a:r>
            </a:p>
          </p:txBody>
        </p:sp>
        <p:sp>
          <p:nvSpPr>
            <p:cNvPr id="145" name="四角形: 角を丸くする 144">
              <a:extLst>
                <a:ext uri="{FF2B5EF4-FFF2-40B4-BE49-F238E27FC236}">
                  <a16:creationId xmlns:a16="http://schemas.microsoft.com/office/drawing/2014/main" id="{3DC0A0B6-84A0-4F5C-54C8-78A3B7ECF9DC}"/>
                </a:ext>
              </a:extLst>
            </p:cNvPr>
            <p:cNvSpPr/>
            <p:nvPr/>
          </p:nvSpPr>
          <p:spPr>
            <a:xfrm>
              <a:off x="8267677" y="4448181"/>
              <a:ext cx="3589357" cy="322018"/>
            </a:xfrm>
            <a:prstGeom prst="roundRect">
              <a:avLst>
                <a:gd name="adj"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ja-JP" altLang="en-US" sz="1050" dirty="0">
                  <a:solidFill>
                    <a:schemeClr val="tx1"/>
                  </a:solidFill>
                  <a:latin typeface="+mn-ea"/>
                </a:rPr>
                <a:t>全営業の標準装備にする</a:t>
              </a:r>
            </a:p>
          </p:txBody>
        </p:sp>
        <p:sp>
          <p:nvSpPr>
            <p:cNvPr id="148" name="四角形: 角を丸くする 147">
              <a:extLst>
                <a:ext uri="{FF2B5EF4-FFF2-40B4-BE49-F238E27FC236}">
                  <a16:creationId xmlns:a16="http://schemas.microsoft.com/office/drawing/2014/main" id="{B033F442-155D-D921-3B6B-10CB29C8056C}"/>
                </a:ext>
              </a:extLst>
            </p:cNvPr>
            <p:cNvSpPr/>
            <p:nvPr/>
          </p:nvSpPr>
          <p:spPr>
            <a:xfrm>
              <a:off x="8267677" y="4940457"/>
              <a:ext cx="3589357" cy="309166"/>
            </a:xfrm>
            <a:prstGeom prst="roundRect">
              <a:avLst>
                <a:gd name="adj"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ja-JP" altLang="en-US" sz="1050" dirty="0">
                  <a:solidFill>
                    <a:schemeClr val="tx1"/>
                  </a:solidFill>
                  <a:latin typeface="+mn-ea"/>
                </a:rPr>
                <a:t>削減した状態を運用に定着</a:t>
              </a:r>
            </a:p>
          </p:txBody>
        </p:sp>
        <p:grpSp>
          <p:nvGrpSpPr>
            <p:cNvPr id="8" name="グループ化 7">
              <a:extLst>
                <a:ext uri="{FF2B5EF4-FFF2-40B4-BE49-F238E27FC236}">
                  <a16:creationId xmlns:a16="http://schemas.microsoft.com/office/drawing/2014/main" id="{EAB1FDB6-793F-1BE3-E4E1-E54E58797BC1}"/>
                </a:ext>
              </a:extLst>
            </p:cNvPr>
            <p:cNvGrpSpPr/>
            <p:nvPr/>
          </p:nvGrpSpPr>
          <p:grpSpPr>
            <a:xfrm>
              <a:off x="2899609" y="2344951"/>
              <a:ext cx="8957429" cy="3415793"/>
              <a:chOff x="2899609" y="2344951"/>
              <a:chExt cx="8957429" cy="3415793"/>
            </a:xfrm>
          </p:grpSpPr>
          <p:cxnSp>
            <p:nvCxnSpPr>
              <p:cNvPr id="32" name="直線コネクタ 31">
                <a:extLst>
                  <a:ext uri="{FF2B5EF4-FFF2-40B4-BE49-F238E27FC236}">
                    <a16:creationId xmlns:a16="http://schemas.microsoft.com/office/drawing/2014/main" id="{59D81797-52C6-0051-D18B-2EB6F3BF393F}"/>
                  </a:ext>
                </a:extLst>
              </p:cNvPr>
              <p:cNvCxnSpPr/>
              <p:nvPr/>
            </p:nvCxnSpPr>
            <p:spPr>
              <a:xfrm>
                <a:off x="2899609" y="2349288"/>
                <a:ext cx="2689356"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E75FADB7-92AE-7439-D392-D29937291683}"/>
                  </a:ext>
                </a:extLst>
              </p:cNvPr>
              <p:cNvCxnSpPr/>
              <p:nvPr/>
            </p:nvCxnSpPr>
            <p:spPr>
              <a:xfrm>
                <a:off x="5588963" y="2344951"/>
                <a:ext cx="2628000"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ADD43D71-3874-F5FF-1889-95DE552B9299}"/>
                  </a:ext>
                </a:extLst>
              </p:cNvPr>
              <p:cNvCxnSpPr/>
              <p:nvPr/>
            </p:nvCxnSpPr>
            <p:spPr>
              <a:xfrm>
                <a:off x="8267679" y="2352036"/>
                <a:ext cx="3589358"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3A45F340-6A0D-CFF9-BBEF-92CCCF49A66D}"/>
                  </a:ext>
                </a:extLst>
              </p:cNvPr>
              <p:cNvCxnSpPr>
                <a:cxnSpLocks/>
              </p:cNvCxnSpPr>
              <p:nvPr/>
            </p:nvCxnSpPr>
            <p:spPr>
              <a:xfrm>
                <a:off x="3799609" y="2846913"/>
                <a:ext cx="900000"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C4825989-21C1-84B5-DFDB-1665F036EC0C}"/>
                  </a:ext>
                </a:extLst>
              </p:cNvPr>
              <p:cNvCxnSpPr>
                <a:cxnSpLocks/>
              </p:cNvCxnSpPr>
              <p:nvPr/>
            </p:nvCxnSpPr>
            <p:spPr>
              <a:xfrm>
                <a:off x="4750329" y="2855641"/>
                <a:ext cx="3466634"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636140AE-395D-25B6-AA52-437E58F8E29A}"/>
                  </a:ext>
                </a:extLst>
              </p:cNvPr>
              <p:cNvCxnSpPr/>
              <p:nvPr/>
            </p:nvCxnSpPr>
            <p:spPr>
              <a:xfrm>
                <a:off x="8267678" y="2855641"/>
                <a:ext cx="3589358"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2" name="直線コネクタ 101">
                <a:extLst>
                  <a:ext uri="{FF2B5EF4-FFF2-40B4-BE49-F238E27FC236}">
                    <a16:creationId xmlns:a16="http://schemas.microsoft.com/office/drawing/2014/main" id="{C4C8DDE9-AD87-7993-50B8-ACA580F18348}"/>
                  </a:ext>
                </a:extLst>
              </p:cNvPr>
              <p:cNvCxnSpPr/>
              <p:nvPr/>
            </p:nvCxnSpPr>
            <p:spPr>
              <a:xfrm>
                <a:off x="2899609" y="3339824"/>
                <a:ext cx="1800000"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5" name="直線コネクタ 104">
                <a:extLst>
                  <a:ext uri="{FF2B5EF4-FFF2-40B4-BE49-F238E27FC236}">
                    <a16:creationId xmlns:a16="http://schemas.microsoft.com/office/drawing/2014/main" id="{971826FA-1E44-F0B4-B634-AACA7D273F7C}"/>
                  </a:ext>
                </a:extLst>
              </p:cNvPr>
              <p:cNvCxnSpPr>
                <a:cxnSpLocks/>
              </p:cNvCxnSpPr>
              <p:nvPr/>
            </p:nvCxnSpPr>
            <p:spPr>
              <a:xfrm>
                <a:off x="4750328" y="3339824"/>
                <a:ext cx="3466634"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3FA9FA01-9FEB-A8E8-E58E-3B8D54B57486}"/>
                  </a:ext>
                </a:extLst>
              </p:cNvPr>
              <p:cNvCxnSpPr/>
              <p:nvPr/>
            </p:nvCxnSpPr>
            <p:spPr>
              <a:xfrm>
                <a:off x="8267677" y="3339823"/>
                <a:ext cx="3589358"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1B75D5B5-76A9-782E-83C0-CC39C9AA2463}"/>
                  </a:ext>
                </a:extLst>
              </p:cNvPr>
              <p:cNvCxnSpPr/>
              <p:nvPr/>
            </p:nvCxnSpPr>
            <p:spPr>
              <a:xfrm>
                <a:off x="6539679" y="3824008"/>
                <a:ext cx="3528000"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0DCE4CE8-4972-4BF7-E3DE-D47F4C8F8CA0}"/>
                  </a:ext>
                </a:extLst>
              </p:cNvPr>
              <p:cNvCxnSpPr/>
              <p:nvPr/>
            </p:nvCxnSpPr>
            <p:spPr>
              <a:xfrm>
                <a:off x="4750324" y="3824007"/>
                <a:ext cx="1738641"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7" name="直線コネクタ 116">
                <a:extLst>
                  <a:ext uri="{FF2B5EF4-FFF2-40B4-BE49-F238E27FC236}">
                    <a16:creationId xmlns:a16="http://schemas.microsoft.com/office/drawing/2014/main" id="{DF22CEE2-A240-2C85-9ECB-C1FB0ED4589F}"/>
                  </a:ext>
                </a:extLst>
              </p:cNvPr>
              <p:cNvCxnSpPr/>
              <p:nvPr/>
            </p:nvCxnSpPr>
            <p:spPr>
              <a:xfrm>
                <a:off x="5588963" y="4308192"/>
                <a:ext cx="2627998"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0" name="直線コネクタ 119">
                <a:extLst>
                  <a:ext uri="{FF2B5EF4-FFF2-40B4-BE49-F238E27FC236}">
                    <a16:creationId xmlns:a16="http://schemas.microsoft.com/office/drawing/2014/main" id="{A65E10E0-F675-E2BB-1E58-327EC49AB680}"/>
                  </a:ext>
                </a:extLst>
              </p:cNvPr>
              <p:cNvCxnSpPr/>
              <p:nvPr/>
            </p:nvCxnSpPr>
            <p:spPr>
              <a:xfrm>
                <a:off x="3799608" y="4308192"/>
                <a:ext cx="1800000"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3" name="直線コネクタ 122">
                <a:extLst>
                  <a:ext uri="{FF2B5EF4-FFF2-40B4-BE49-F238E27FC236}">
                    <a16:creationId xmlns:a16="http://schemas.microsoft.com/office/drawing/2014/main" id="{2E6DCD5A-90FE-B34E-3EF4-636F492F06BD}"/>
                  </a:ext>
                </a:extLst>
              </p:cNvPr>
              <p:cNvCxnSpPr>
                <a:cxnSpLocks/>
              </p:cNvCxnSpPr>
              <p:nvPr/>
            </p:nvCxnSpPr>
            <p:spPr>
              <a:xfrm>
                <a:off x="4750328" y="4792377"/>
                <a:ext cx="3466634"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6" name="直線コネクタ 125">
                <a:extLst>
                  <a:ext uri="{FF2B5EF4-FFF2-40B4-BE49-F238E27FC236}">
                    <a16:creationId xmlns:a16="http://schemas.microsoft.com/office/drawing/2014/main" id="{AF56DA3E-52E2-F4CC-A671-011DF0DCA1A1}"/>
                  </a:ext>
                </a:extLst>
              </p:cNvPr>
              <p:cNvCxnSpPr/>
              <p:nvPr/>
            </p:nvCxnSpPr>
            <p:spPr>
              <a:xfrm>
                <a:off x="2899609" y="5276561"/>
                <a:ext cx="1800000"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9" name="直線コネクタ 128">
                <a:extLst>
                  <a:ext uri="{FF2B5EF4-FFF2-40B4-BE49-F238E27FC236}">
                    <a16:creationId xmlns:a16="http://schemas.microsoft.com/office/drawing/2014/main" id="{F43B353D-5E46-1C4E-2EE8-E0F1D0682285}"/>
                  </a:ext>
                </a:extLst>
              </p:cNvPr>
              <p:cNvCxnSpPr>
                <a:cxnSpLocks/>
              </p:cNvCxnSpPr>
              <p:nvPr/>
            </p:nvCxnSpPr>
            <p:spPr>
              <a:xfrm>
                <a:off x="4750328" y="5276561"/>
                <a:ext cx="3466634"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2" name="直線コネクタ 131">
                <a:extLst>
                  <a:ext uri="{FF2B5EF4-FFF2-40B4-BE49-F238E27FC236}">
                    <a16:creationId xmlns:a16="http://schemas.microsoft.com/office/drawing/2014/main" id="{EDA6F674-D5D3-0D2F-60E6-AFF83CD5A0E1}"/>
                  </a:ext>
                </a:extLst>
              </p:cNvPr>
              <p:cNvCxnSpPr/>
              <p:nvPr/>
            </p:nvCxnSpPr>
            <p:spPr>
              <a:xfrm>
                <a:off x="6539679" y="5760744"/>
                <a:ext cx="1677282"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5" name="直線コネクタ 134">
                <a:extLst>
                  <a:ext uri="{FF2B5EF4-FFF2-40B4-BE49-F238E27FC236}">
                    <a16:creationId xmlns:a16="http://schemas.microsoft.com/office/drawing/2014/main" id="{C5FD7467-E88E-C0E2-2ADD-1FAE7943B53F}"/>
                  </a:ext>
                </a:extLst>
              </p:cNvPr>
              <p:cNvCxnSpPr/>
              <p:nvPr/>
            </p:nvCxnSpPr>
            <p:spPr>
              <a:xfrm>
                <a:off x="4750324" y="5760744"/>
                <a:ext cx="1738641"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8" name="直線コネクタ 137">
                <a:extLst>
                  <a:ext uri="{FF2B5EF4-FFF2-40B4-BE49-F238E27FC236}">
                    <a16:creationId xmlns:a16="http://schemas.microsoft.com/office/drawing/2014/main" id="{D01C953C-8F67-02DD-C3EC-A1B6EBFFE681}"/>
                  </a:ext>
                </a:extLst>
              </p:cNvPr>
              <p:cNvCxnSpPr/>
              <p:nvPr/>
            </p:nvCxnSpPr>
            <p:spPr>
              <a:xfrm>
                <a:off x="10057038" y="3824007"/>
                <a:ext cx="1800000"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1" name="直線コネクタ 140">
                <a:extLst>
                  <a:ext uri="{FF2B5EF4-FFF2-40B4-BE49-F238E27FC236}">
                    <a16:creationId xmlns:a16="http://schemas.microsoft.com/office/drawing/2014/main" id="{63ADAF45-21A6-3976-385A-4936467B45DD}"/>
                  </a:ext>
                </a:extLst>
              </p:cNvPr>
              <p:cNvCxnSpPr/>
              <p:nvPr/>
            </p:nvCxnSpPr>
            <p:spPr>
              <a:xfrm>
                <a:off x="8267677" y="4308192"/>
                <a:ext cx="3589358"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4" name="直線コネクタ 143">
                <a:extLst>
                  <a:ext uri="{FF2B5EF4-FFF2-40B4-BE49-F238E27FC236}">
                    <a16:creationId xmlns:a16="http://schemas.microsoft.com/office/drawing/2014/main" id="{5345291C-C39E-D044-119B-E699486C7789}"/>
                  </a:ext>
                </a:extLst>
              </p:cNvPr>
              <p:cNvCxnSpPr/>
              <p:nvPr/>
            </p:nvCxnSpPr>
            <p:spPr>
              <a:xfrm>
                <a:off x="8267677" y="4792376"/>
                <a:ext cx="3589358"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7" name="直線コネクタ 146">
                <a:extLst>
                  <a:ext uri="{FF2B5EF4-FFF2-40B4-BE49-F238E27FC236}">
                    <a16:creationId xmlns:a16="http://schemas.microsoft.com/office/drawing/2014/main" id="{144967DF-4BBC-56D3-7D2E-9B79B17BEE4D}"/>
                  </a:ext>
                </a:extLst>
              </p:cNvPr>
              <p:cNvCxnSpPr/>
              <p:nvPr/>
            </p:nvCxnSpPr>
            <p:spPr>
              <a:xfrm>
                <a:off x="8267677" y="5276561"/>
                <a:ext cx="3589358"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0" name="直線コネクタ 149">
                <a:extLst>
                  <a:ext uri="{FF2B5EF4-FFF2-40B4-BE49-F238E27FC236}">
                    <a16:creationId xmlns:a16="http://schemas.microsoft.com/office/drawing/2014/main" id="{727E7F05-FBA8-4F25-63A2-9DE3BD1F8720}"/>
                  </a:ext>
                </a:extLst>
              </p:cNvPr>
              <p:cNvCxnSpPr/>
              <p:nvPr/>
            </p:nvCxnSpPr>
            <p:spPr>
              <a:xfrm>
                <a:off x="8267677" y="5760743"/>
                <a:ext cx="3589358" cy="0"/>
              </a:xfrm>
              <a:prstGeom prst="line">
                <a:avLst/>
              </a:prstGeom>
              <a:ln w="12700">
                <a:solidFill>
                  <a:schemeClr val="bg1">
                    <a:lumMod val="50000"/>
                  </a:schemeClr>
                </a:solidFill>
                <a:prstDash val="solid"/>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51" name="四角形: 角を丸くする 150">
              <a:extLst>
                <a:ext uri="{FF2B5EF4-FFF2-40B4-BE49-F238E27FC236}">
                  <a16:creationId xmlns:a16="http://schemas.microsoft.com/office/drawing/2014/main" id="{1780910A-420B-CE58-E317-440FF6495104}"/>
                </a:ext>
              </a:extLst>
            </p:cNvPr>
            <p:cNvSpPr/>
            <p:nvPr/>
          </p:nvSpPr>
          <p:spPr>
            <a:xfrm>
              <a:off x="8267677" y="5416548"/>
              <a:ext cx="3589357" cy="317255"/>
            </a:xfrm>
            <a:prstGeom prst="roundRect">
              <a:avLst>
                <a:gd name="adj"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ja-JP" altLang="en-US" sz="1050" dirty="0">
                  <a:solidFill>
                    <a:schemeClr val="tx1"/>
                  </a:solidFill>
                  <a:latin typeface="+mn-ea"/>
                </a:rPr>
                <a:t>全社展開・評価制度の切替</a:t>
              </a:r>
            </a:p>
          </p:txBody>
        </p:sp>
        <p:sp>
          <p:nvSpPr>
            <p:cNvPr id="11" name="四角形: 角を丸くする 10">
              <a:extLst>
                <a:ext uri="{FF2B5EF4-FFF2-40B4-BE49-F238E27FC236}">
                  <a16:creationId xmlns:a16="http://schemas.microsoft.com/office/drawing/2014/main" id="{17AF19D1-9198-6D6B-9280-829304990E09}"/>
                </a:ext>
              </a:extLst>
            </p:cNvPr>
            <p:cNvSpPr/>
            <p:nvPr/>
          </p:nvSpPr>
          <p:spPr>
            <a:xfrm>
              <a:off x="10587791" y="2975316"/>
              <a:ext cx="1094872" cy="2739353"/>
            </a:xfrm>
            <a:prstGeom prst="roundRect">
              <a:avLst>
                <a:gd name="adj" fmla="val 2497"/>
              </a:avLst>
            </a:prstGeom>
            <a:solidFill>
              <a:srgbClr val="FFFFFF"/>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spcAft>
                  <a:spcPts val="500"/>
                </a:spcAft>
              </a:pPr>
              <a:r>
                <a:rPr lang="en-US" altLang="ja-JP" sz="1000" dirty="0">
                  <a:solidFill>
                    <a:schemeClr val="accent5"/>
                  </a:solidFill>
                  <a:latin typeface="+mn-ea"/>
                </a:rPr>
                <a:t>2030年以降 :確立した勝ち方を全カテゴリ・主要小売へ標準展開し、2035年に新規領域が収益の柱、2040年に「予防習慣インフラ企業」(制度とAIの初期設定を握る) へ </a:t>
              </a:r>
              <a:r>
                <a:rPr lang="ja-JP" altLang="en-US" sz="1000" dirty="0">
                  <a:solidFill>
                    <a:schemeClr val="accent5"/>
                  </a:solidFill>
                  <a:latin typeface="+mn-ea"/>
                </a:rPr>
                <a:t/>
              </a:r>
              <a:r>
                <a:rPr lang="en-US" altLang="ja-JP" sz="1000" dirty="0">
                  <a:solidFill>
                    <a:schemeClr val="tx1"/>
                  </a:solidFill>
                  <a:latin typeface="+mn-ea"/>
                </a:rPr>
                <a:t/>
              </a:r>
              <a:br>
                <a:rPr lang="en-US" altLang="ja-JP" sz="1000" dirty="0">
                  <a:solidFill>
                    <a:schemeClr val="accent5"/>
                  </a:solidFill>
                  <a:latin typeface="+mn-ea"/>
                </a:rPr>
              </a:br>
              <a:r>
                <a:rPr lang="ja-JP" altLang="en-US" sz="1000" dirty="0">
                  <a:solidFill>
                    <a:schemeClr val="tx1"/>
                  </a:solidFill>
                  <a:latin typeface="+mn-ea"/>
                </a:rPr>
                <a:t/>
              </a:r>
              <a:br>
                <a:rPr lang="en-US" altLang="ja-JP" sz="1000" dirty="0">
                  <a:solidFill>
                    <a:schemeClr val="tx1"/>
                  </a:solidFill>
                  <a:latin typeface="+mn-ea"/>
                </a:rPr>
              </a:br>
              <a:r>
                <a:rPr lang="ja-JP" altLang="en-US" sz="1000" dirty="0">
                  <a:solidFill>
                    <a:schemeClr val="tx1"/>
                  </a:solidFill>
                  <a:latin typeface="+mn-ea"/>
                </a:rPr>
                <a:t/>
              </a:r>
              <a:r>
                <a:rPr lang="en-US" altLang="ja-JP" sz="1000" dirty="0">
                  <a:solidFill>
                    <a:schemeClr val="tx1"/>
                  </a:solidFill>
                  <a:latin typeface="+mn-ea"/>
                </a:rPr>
                <a:t/>
              </a:r>
              <a:r>
                <a:rPr lang="ja-JP" altLang="en-US" sz="1000" dirty="0">
                  <a:solidFill>
                    <a:schemeClr val="tx1"/>
                  </a:solidFill>
                  <a:latin typeface="+mn-ea"/>
                </a:rPr>
                <a:t/>
              </a:r>
              <a:br>
                <a:rPr lang="en-US" altLang="ja-JP" sz="1000" dirty="0">
                  <a:solidFill>
                    <a:schemeClr val="tx1"/>
                  </a:solidFill>
                  <a:latin typeface="+mn-ea"/>
                </a:rPr>
              </a:br>
              <a:r>
                <a:rPr lang="ja-JP" altLang="en-US" sz="1000" dirty="0">
                  <a:solidFill>
                    <a:schemeClr val="tx1"/>
                  </a:solidFill>
                  <a:latin typeface="+mn-ea"/>
                </a:rPr>
                <a:t/>
              </a:r>
              <a:r>
                <a:rPr lang="en-US" altLang="ja-JP" sz="1000" dirty="0">
                  <a:solidFill>
                    <a:schemeClr val="tx1"/>
                  </a:solidFill>
                  <a:latin typeface="+mn-ea"/>
                </a:rPr>
                <a:t/>
              </a:r>
              <a:r>
                <a:rPr lang="ja-JP" altLang="en-US" sz="1000" dirty="0">
                  <a:solidFill>
                    <a:schemeClr val="tx1"/>
                  </a:solidFill>
                  <a:latin typeface="+mn-ea"/>
                </a:rPr>
                <a:t/>
              </a:r>
              <a:br>
                <a:rPr lang="en-US" altLang="ja-JP" sz="1000" dirty="0">
                  <a:solidFill>
                    <a:schemeClr val="tx1"/>
                  </a:solidFill>
                  <a:latin typeface="+mn-ea"/>
                </a:rPr>
              </a:br>
              <a:r>
                <a:rPr lang="ja-JP" altLang="en-US" sz="1000" dirty="0">
                  <a:solidFill>
                    <a:schemeClr val="tx1"/>
                  </a:solidFill>
                  <a:latin typeface="+mn-ea"/>
                </a:rPr>
                <a:t/>
              </a:r>
              <a:r>
                <a:rPr lang="en-US" altLang="ja-JP" sz="1000" dirty="0">
                  <a:solidFill>
                    <a:schemeClr val="tx1"/>
                  </a:solidFill>
                  <a:latin typeface="+mn-ea"/>
                </a:rPr>
                <a:t/>
              </a:r>
              <a:r>
                <a:rPr lang="ja-JP" altLang="en-US" sz="1000" dirty="0">
                  <a:solidFill>
                    <a:schemeClr val="tx1"/>
                  </a:solidFill>
                  <a:latin typeface="+mn-ea"/>
                </a:rPr>
                <a:t/>
              </a:r>
              <a:r>
                <a:rPr lang="en-US" altLang="ja-JP" sz="1000" dirty="0">
                  <a:solidFill>
                    <a:schemeClr val="tx1"/>
                  </a:solidFill>
                  <a:latin typeface="+mn-ea"/>
                </a:rPr>
                <a:t/>
              </a:r>
              <a:r>
                <a:rPr lang="ja-JP" altLang="en-US" sz="1000" dirty="0">
                  <a:solidFill>
                    <a:schemeClr val="tx1"/>
                  </a:solidFill>
                  <a:latin typeface="+mn-ea"/>
                </a:rPr>
                <a:t/>
              </a:r>
              <a:r>
                <a:rPr lang="en-US" altLang="ja-JP" sz="1000" dirty="0">
                  <a:solidFill>
                    <a:schemeClr val="tx1"/>
                  </a:solidFill>
                  <a:latin typeface="+mn-ea"/>
                </a:rPr>
                <a:t/>
              </a:r>
              <a:r>
                <a:rPr lang="ja-JP" altLang="en-US" sz="1000" dirty="0">
                  <a:solidFill>
                    <a:schemeClr val="tx1"/>
                  </a:solidFill>
                  <a:latin typeface="+mn-ea"/>
                </a:rPr>
                <a:t/>
              </a:r>
              <a:endParaRPr lang="en-US" altLang="ja-JP" sz="1000" dirty="0">
                <a:solidFill>
                  <a:schemeClr val="tx1"/>
                </a:solidFill>
                <a:latin typeface="+mn-ea"/>
              </a:endParaRPr>
            </a:p>
            <a:p>
              <a:pPr>
                <a:spcAft>
                  <a:spcPts val="500"/>
                </a:spcAft>
              </a:pPr>
              <a:r>
                <a:rPr lang="ja-JP" altLang="en-US" sz="1000" dirty="0">
                  <a:solidFill>
                    <a:schemeClr val="tx1"/>
                  </a:solidFill>
                  <a:latin typeface="+mn-ea"/>
                </a:rPr>
                <a:t>ゲート不合格なら</a:t>
              </a:r>
              <a:br>
                <a:rPr lang="en-US" altLang="ja-JP" sz="1000" dirty="0">
                  <a:solidFill>
                    <a:schemeClr val="tx1"/>
                  </a:solidFill>
                  <a:latin typeface="+mn-ea"/>
                </a:rPr>
              </a:br>
              <a:r>
                <a:rPr lang="ja-JP" altLang="en-US" sz="1000" dirty="0">
                  <a:solidFill>
                    <a:schemeClr val="tx1"/>
                  </a:solidFill>
                  <a:latin typeface="+mn-ea"/>
                </a:rPr>
                <a:t>拡大せず、詰まった手順を直して</a:t>
              </a:r>
              <a:br>
                <a:rPr lang="en-US" altLang="ja-JP" sz="1000" dirty="0">
                  <a:solidFill>
                    <a:schemeClr val="tx1"/>
                  </a:solidFill>
                  <a:latin typeface="+mn-ea"/>
                </a:rPr>
              </a:br>
              <a:r>
                <a:rPr lang="ja-JP" altLang="en-US" sz="1000" dirty="0">
                  <a:solidFill>
                    <a:schemeClr val="tx1"/>
                  </a:solidFill>
                  <a:latin typeface="+mn-ea"/>
                </a:rPr>
                <a:t>再挑戦</a:t>
              </a:r>
            </a:p>
          </p:txBody>
        </p:sp>
        <p:sp>
          <p:nvSpPr>
            <p:cNvPr id="160" name="吹き出し: 四角形 159">
              <a:extLst>
                <a:ext uri="{FF2B5EF4-FFF2-40B4-BE49-F238E27FC236}">
                  <a16:creationId xmlns:a16="http://schemas.microsoft.com/office/drawing/2014/main" id="{967442E0-8687-8FC5-351F-5FC568819762}"/>
                </a:ext>
              </a:extLst>
            </p:cNvPr>
            <p:cNvSpPr/>
            <p:nvPr/>
          </p:nvSpPr>
          <p:spPr>
            <a:xfrm>
              <a:off x="2899608" y="5900732"/>
              <a:ext cx="2506443" cy="403080"/>
            </a:xfrm>
            <a:prstGeom prst="wedgeRectCallout">
              <a:avLst>
                <a:gd name="adj1" fmla="val 57270"/>
                <a:gd name="adj2" fmla="val -41972"/>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000" dirty="0">
                  <a:solidFill>
                    <a:schemeClr val="tx1"/>
                  </a:solidFill>
                  <a:latin typeface="+mn-ea"/>
                </a:rPr>
                <a:t>①</a:t>
              </a:r>
              <a:r>
                <a:rPr lang="en-US" altLang="ja-JP" sz="1000" dirty="0">
                  <a:solidFill>
                    <a:schemeClr val="tx1"/>
                  </a:solidFill>
                  <a:latin typeface="+mn-ea"/>
                </a:rPr>
                <a:t> FY27</a:t>
              </a:r>
              <a:r>
                <a:rPr lang="ja-JP" altLang="en-US" sz="1000" dirty="0">
                  <a:solidFill>
                    <a:schemeClr val="tx1"/>
                  </a:solidFill>
                  <a:latin typeface="+mn-ea"/>
                </a:rPr>
                <a:t>夏 </a:t>
              </a:r>
              <a:r>
                <a:rPr lang="en-US" altLang="ja-JP" sz="1000" dirty="0">
                  <a:solidFill>
                    <a:schemeClr val="tx1"/>
                  </a:solidFill>
                  <a:latin typeface="+mn-ea"/>
                </a:rPr>
                <a:t>: </a:t>
              </a:r>
              <a:r>
                <a:rPr lang="ja-JP" altLang="en-US" sz="1000" dirty="0">
                  <a:solidFill>
                    <a:schemeClr val="tx1"/>
                  </a:solidFill>
                  <a:latin typeface="+mn-ea"/>
                </a:rPr>
                <a:t>値引きに頼らない商談の成立＋事務</a:t>
              </a:r>
              <a:r>
                <a:rPr lang="en-US" altLang="ja-JP" sz="1000" dirty="0">
                  <a:solidFill>
                    <a:schemeClr val="tx1"/>
                  </a:solidFill>
                  <a:latin typeface="+mn-ea"/>
                </a:rPr>
                <a:t>3</a:t>
              </a:r>
              <a:r>
                <a:rPr lang="ja-JP" altLang="en-US" sz="1000" dirty="0">
                  <a:solidFill>
                    <a:schemeClr val="tx1"/>
                  </a:solidFill>
                  <a:latin typeface="+mn-ea"/>
                </a:rPr>
                <a:t>割減→ 合格なら拡大投資を解禁</a:t>
              </a:r>
            </a:p>
          </p:txBody>
        </p:sp>
        <p:sp>
          <p:nvSpPr>
            <p:cNvPr id="161" name="吹き出し: 四角形 160">
              <a:extLst>
                <a:ext uri="{FF2B5EF4-FFF2-40B4-BE49-F238E27FC236}">
                  <a16:creationId xmlns:a16="http://schemas.microsoft.com/office/drawing/2014/main" id="{D59DF97E-AA3C-9560-9F08-ED45330ABA14}"/>
                </a:ext>
              </a:extLst>
            </p:cNvPr>
            <p:cNvSpPr/>
            <p:nvPr/>
          </p:nvSpPr>
          <p:spPr>
            <a:xfrm>
              <a:off x="5660319" y="5900732"/>
              <a:ext cx="2506443" cy="407991"/>
            </a:xfrm>
            <a:prstGeom prst="wedgeRectCallout">
              <a:avLst>
                <a:gd name="adj1" fmla="val 55350"/>
                <a:gd name="adj2" fmla="val -41973"/>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50" dirty="0">
                  <a:solidFill>
                    <a:schemeClr val="tx1"/>
                  </a:solidFill>
                  <a:latin typeface="+mn-ea"/>
                </a:rPr>
                <a:t>②</a:t>
              </a:r>
              <a:r>
                <a:rPr lang="en-US" altLang="ja-JP" sz="950" dirty="0">
                  <a:solidFill>
                    <a:schemeClr val="tx1"/>
                  </a:solidFill>
                  <a:latin typeface="+mn-ea"/>
                </a:rPr>
                <a:t>FY28</a:t>
              </a:r>
              <a:r>
                <a:rPr lang="ja-JP" altLang="en-US" sz="950" dirty="0">
                  <a:solidFill>
                    <a:schemeClr val="tx1"/>
                  </a:solidFill>
                  <a:latin typeface="+mn-ea"/>
                </a:rPr>
                <a:t>末 </a:t>
              </a:r>
              <a:r>
                <a:rPr lang="en-US" altLang="ja-JP" sz="950" dirty="0">
                  <a:solidFill>
                    <a:schemeClr val="tx1"/>
                  </a:solidFill>
                  <a:latin typeface="+mn-ea"/>
                </a:rPr>
                <a:t>: </a:t>
              </a:r>
              <a:r>
                <a:rPr lang="ja-JP" altLang="en-US" sz="950" dirty="0">
                  <a:solidFill>
                    <a:schemeClr val="tx1"/>
                  </a:solidFill>
                  <a:latin typeface="+mn-ea"/>
                </a:rPr>
                <a:t>共同事業を他社でも再現＋</a:t>
              </a:r>
              <a:br>
                <a:rPr lang="en-US" altLang="ja-JP" sz="950" dirty="0">
                  <a:solidFill>
                    <a:schemeClr val="tx1"/>
                  </a:solidFill>
                  <a:latin typeface="+mn-ea"/>
                </a:rPr>
              </a:br>
              <a:r>
                <a:rPr lang="ja-JP" altLang="en-US" sz="950" dirty="0">
                  <a:solidFill>
                    <a:schemeClr val="tx1"/>
                  </a:solidFill>
                  <a:latin typeface="+mn-ea"/>
                </a:rPr>
                <a:t>歯科経由販売の実証→ 合格なら組織を正式化</a:t>
              </a:r>
              <a:br>
                <a:rPr lang="en-US" altLang="ja-JP" sz="950" dirty="0">
                  <a:solidFill>
                    <a:schemeClr val="tx1"/>
                  </a:solidFill>
                  <a:latin typeface="+mn-ea"/>
                </a:rPr>
              </a:br>
              <a:r>
                <a:rPr lang="ja-JP" altLang="en-US" sz="950" dirty="0">
                  <a:solidFill>
                    <a:schemeClr val="tx1"/>
                  </a:solidFill>
                  <a:latin typeface="+mn-ea"/>
                </a:rPr>
                <a:t>し、データ基盤に本格投資</a:t>
              </a:r>
            </a:p>
          </p:txBody>
        </p:sp>
        <p:sp>
          <p:nvSpPr>
            <p:cNvPr id="162" name="吹き出し: 四角形 161">
              <a:extLst>
                <a:ext uri="{FF2B5EF4-FFF2-40B4-BE49-F238E27FC236}">
                  <a16:creationId xmlns:a16="http://schemas.microsoft.com/office/drawing/2014/main" id="{7C4F9913-3686-C5E4-B5D2-3D5D7A68F635}"/>
                </a:ext>
              </a:extLst>
            </p:cNvPr>
            <p:cNvSpPr/>
            <p:nvPr/>
          </p:nvSpPr>
          <p:spPr>
            <a:xfrm>
              <a:off x="9182147" y="5900732"/>
              <a:ext cx="2506443" cy="404164"/>
            </a:xfrm>
            <a:prstGeom prst="wedgeRectCallout">
              <a:avLst>
                <a:gd name="adj1" fmla="val 55350"/>
                <a:gd name="adj2" fmla="val -41973"/>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000" dirty="0">
                  <a:solidFill>
                    <a:schemeClr val="tx1"/>
                  </a:solidFill>
                  <a:latin typeface="+mn-ea"/>
                </a:rPr>
                <a:t>③</a:t>
              </a:r>
              <a:r>
                <a:rPr lang="en-US" altLang="ja-JP" sz="1000" dirty="0">
                  <a:solidFill>
                    <a:schemeClr val="tx1"/>
                  </a:solidFill>
                  <a:latin typeface="+mn-ea"/>
                </a:rPr>
                <a:t> FY30</a:t>
              </a:r>
              <a:r>
                <a:rPr lang="ja-JP" altLang="en-US" sz="1000" dirty="0">
                  <a:solidFill>
                    <a:schemeClr val="tx1"/>
                  </a:solidFill>
                  <a:latin typeface="+mn-ea"/>
                </a:rPr>
                <a:t>：統合報告書で</a:t>
              </a:r>
              <a:r>
                <a:rPr lang="en-US" altLang="ja-JP" sz="1000" dirty="0">
                  <a:solidFill>
                    <a:schemeClr val="tx1"/>
                  </a:solidFill>
                  <a:latin typeface="+mn-ea"/>
                </a:rPr>
                <a:t>KPI</a:t>
              </a:r>
              <a:r>
                <a:rPr lang="ja-JP" altLang="en-US" sz="1000" dirty="0">
                  <a:solidFill>
                    <a:schemeClr val="tx1"/>
                  </a:solidFill>
                  <a:latin typeface="+mn-ea"/>
                </a:rPr>
                <a:t>を開示</a:t>
              </a:r>
              <a:br>
                <a:rPr lang="en-US" altLang="ja-JP" sz="1000" dirty="0">
                  <a:solidFill>
                    <a:schemeClr val="tx1"/>
                  </a:solidFill>
                  <a:latin typeface="+mn-ea"/>
                </a:rPr>
              </a:br>
              <a:r>
                <a:rPr lang="ja-JP" altLang="en-US" sz="1000" dirty="0">
                  <a:solidFill>
                    <a:schemeClr val="tx1"/>
                  </a:solidFill>
                  <a:latin typeface="+mn-ea"/>
                </a:rPr>
                <a:t>→ 全社標準化・評価制度の切替</a:t>
              </a:r>
            </a:p>
          </p:txBody>
        </p:sp>
        <p:pic>
          <p:nvPicPr>
            <p:cNvPr id="164" name="グラフィックス 163" descr="フローチャート 単色塗りつぶし">
              <a:extLst>
                <a:ext uri="{FF2B5EF4-FFF2-40B4-BE49-F238E27FC236}">
                  <a16:creationId xmlns:a16="http://schemas.microsoft.com/office/drawing/2014/main" id="{2779BB29-4C2F-27F3-BA39-C37535C8ECE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510986" y="5460294"/>
              <a:ext cx="320492" cy="320492"/>
            </a:xfrm>
            <a:prstGeom prst="rect">
              <a:avLst/>
            </a:prstGeom>
          </p:spPr>
        </p:pic>
        <p:pic>
          <p:nvPicPr>
            <p:cNvPr id="166" name="グラフィックス 165" descr="ロボット 単色塗りつぶし">
              <a:extLst>
                <a:ext uri="{FF2B5EF4-FFF2-40B4-BE49-F238E27FC236}">
                  <a16:creationId xmlns:a16="http://schemas.microsoft.com/office/drawing/2014/main" id="{2CFF18BF-5D81-DCB9-ABB0-247171F007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23018" y="4976110"/>
              <a:ext cx="320492" cy="320492"/>
            </a:xfrm>
            <a:prstGeom prst="rect">
              <a:avLst/>
            </a:prstGeom>
          </p:spPr>
        </p:pic>
        <p:pic>
          <p:nvPicPr>
            <p:cNvPr id="170" name="グラフィックス 169" descr="ドキュメント 単色塗りつぶし">
              <a:extLst>
                <a:ext uri="{FF2B5EF4-FFF2-40B4-BE49-F238E27FC236}">
                  <a16:creationId xmlns:a16="http://schemas.microsoft.com/office/drawing/2014/main" id="{84A5E526-F7B0-A6C9-BD5B-ABD8B865D2D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0986" y="4491926"/>
              <a:ext cx="320492" cy="320492"/>
            </a:xfrm>
            <a:prstGeom prst="rect">
              <a:avLst/>
            </a:prstGeom>
          </p:spPr>
        </p:pic>
        <p:pic>
          <p:nvPicPr>
            <p:cNvPr id="172" name="グラフィックス 171" descr="統計 単色塗りつぶし">
              <a:extLst>
                <a:ext uri="{FF2B5EF4-FFF2-40B4-BE49-F238E27FC236}">
                  <a16:creationId xmlns:a16="http://schemas.microsoft.com/office/drawing/2014/main" id="{CBC9C2BE-A3C4-664F-585D-C7D18323777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10986" y="4007742"/>
              <a:ext cx="320492" cy="320492"/>
            </a:xfrm>
            <a:prstGeom prst="rect">
              <a:avLst/>
            </a:prstGeom>
          </p:spPr>
        </p:pic>
        <p:pic>
          <p:nvPicPr>
            <p:cNvPr id="174" name="グラフィックス 173" descr="環状の矢印 単色塗りつぶし">
              <a:extLst>
                <a:ext uri="{FF2B5EF4-FFF2-40B4-BE49-F238E27FC236}">
                  <a16:creationId xmlns:a16="http://schemas.microsoft.com/office/drawing/2014/main" id="{B9AE1B7C-22FC-6C76-9BFA-F5E90D3D16E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10986" y="3523558"/>
              <a:ext cx="320492" cy="320492"/>
            </a:xfrm>
            <a:prstGeom prst="rect">
              <a:avLst/>
            </a:prstGeom>
          </p:spPr>
        </p:pic>
        <p:pic>
          <p:nvPicPr>
            <p:cNvPr id="176" name="グラフィックス 175" descr="硬貨 単色塗りつぶし">
              <a:extLst>
                <a:ext uri="{FF2B5EF4-FFF2-40B4-BE49-F238E27FC236}">
                  <a16:creationId xmlns:a16="http://schemas.microsoft.com/office/drawing/2014/main" id="{4AA07B0D-4DC5-BF74-2D5E-34B4892E1C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510986" y="3039374"/>
              <a:ext cx="320492" cy="320492"/>
            </a:xfrm>
            <a:prstGeom prst="rect">
              <a:avLst/>
            </a:prstGeom>
          </p:spPr>
        </p:pic>
        <p:pic>
          <p:nvPicPr>
            <p:cNvPr id="178" name="グラフィックス 177" descr="受信箱 単色塗りつぶし">
              <a:extLst>
                <a:ext uri="{FF2B5EF4-FFF2-40B4-BE49-F238E27FC236}">
                  <a16:creationId xmlns:a16="http://schemas.microsoft.com/office/drawing/2014/main" id="{1CBF9439-E3C5-D1D8-2360-A9B9270ECDF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510986" y="2071006"/>
              <a:ext cx="320492" cy="320492"/>
            </a:xfrm>
            <a:prstGeom prst="rect">
              <a:avLst/>
            </a:prstGeom>
          </p:spPr>
        </p:pic>
        <p:pic>
          <p:nvPicPr>
            <p:cNvPr id="180" name="グラフィックス 179" descr="校舎 単色塗りつぶし">
              <a:extLst>
                <a:ext uri="{FF2B5EF4-FFF2-40B4-BE49-F238E27FC236}">
                  <a16:creationId xmlns:a16="http://schemas.microsoft.com/office/drawing/2014/main" id="{1E3AB65F-34D3-59E0-3FFB-A72846C9A0F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510986" y="2555190"/>
              <a:ext cx="320492" cy="320492"/>
            </a:xfrm>
            <a:prstGeom prst="rect">
              <a:avLst/>
            </a:prstGeom>
          </p:spPr>
        </p:pic>
      </p:grpSp>
    </p:spTree>
    <p:extLst>
      <p:ext uri="{BB962C8B-B14F-4D97-AF65-F5344CB8AC3E}">
        <p14:creationId xmlns:p14="http://schemas.microsoft.com/office/powerpoint/2010/main" val="322977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90984-84C4-7A60-2D16-DACFBBC6E714}"/>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D0017C01-ABD6-85C7-0C29-F432205BD96F}"/>
              </a:ext>
            </a:extLst>
          </p:cNvPr>
          <p:cNvSpPr>
            <a:spLocks noGrp="1"/>
          </p:cNvSpPr>
          <p:nvPr>
            <p:ph type="body" sz="quarter" idx="13"/>
          </p:nvPr>
        </p:nvSpPr>
        <p:spPr/>
        <p:txBody>
          <a:bodyPr/>
          <a:lstStyle/>
          <a:p>
            <a:r>
              <a:rPr kumimoji="1" lang="ja-JP" altLang="en-US" sz="1800" dirty="0"/>
              <a:t>本体制は、意思決定層、プロジェクト管理、実務実行、の</a:t>
            </a:r>
            <a:r>
              <a:rPr lang="en-US" altLang="ja-JP" sz="1800" dirty="0"/>
              <a:t>3</a:t>
            </a:r>
            <a:r>
              <a:rPr kumimoji="1" lang="ja-JP" altLang="en-US" sz="1800" dirty="0"/>
              <a:t>つの階層で構成する</a:t>
            </a:r>
            <a:endParaRPr kumimoji="1" lang="en-US" altLang="ja-JP" sz="1800" dirty="0"/>
          </a:p>
          <a:p>
            <a:r>
              <a:rPr kumimoji="1" lang="ja-JP" altLang="en-US" sz="1800" dirty="0"/>
              <a:t>報告はサス協議会及び進捗報告会</a:t>
            </a:r>
            <a:r>
              <a:rPr lang="ja-JP" altLang="en-US" sz="1800" dirty="0"/>
              <a:t>（月</a:t>
            </a:r>
            <a:r>
              <a:rPr lang="en-US" altLang="ja-JP" sz="1800" dirty="0"/>
              <a:t>1</a:t>
            </a:r>
            <a:r>
              <a:rPr lang="ja-JP" altLang="en-US" sz="1800" dirty="0"/>
              <a:t>回）で実施、関連部門へ共有する</a:t>
            </a:r>
            <a:endParaRPr kumimoji="1" lang="ja-JP" altLang="en-US" sz="1800" dirty="0"/>
          </a:p>
        </p:txBody>
      </p:sp>
      <p:grpSp>
        <p:nvGrpSpPr>
          <p:cNvPr id="271" name="グループ化 270">
            <a:extLst>
              <a:ext uri="{FF2B5EF4-FFF2-40B4-BE49-F238E27FC236}">
                <a16:creationId xmlns:a16="http://schemas.microsoft.com/office/drawing/2014/main" id="{4B486C56-E546-8EE7-51D1-4FCFA9F42D1C}"/>
              </a:ext>
            </a:extLst>
          </p:cNvPr>
          <p:cNvGrpSpPr/>
          <p:nvPr/>
        </p:nvGrpSpPr>
        <p:grpSpPr>
          <a:xfrm>
            <a:off x="6143615" y="2318611"/>
            <a:ext cx="1988708" cy="279271"/>
            <a:chOff x="6606682" y="2090011"/>
            <a:chExt cx="1988708" cy="279271"/>
          </a:xfrm>
        </p:grpSpPr>
        <p:sp>
          <p:nvSpPr>
            <p:cNvPr id="10" name="table_TWformat_1_1">
              <a:extLst>
                <a:ext uri="{FF2B5EF4-FFF2-40B4-BE49-F238E27FC236}">
                  <a16:creationId xmlns:a16="http://schemas.microsoft.com/office/drawing/2014/main" id="{B086F2C5-6B28-2DAB-2B21-AB972545926B}"/>
                </a:ext>
              </a:extLst>
            </p:cNvPr>
            <p:cNvSpPr txBox="1"/>
            <p:nvPr/>
          </p:nvSpPr>
          <p:spPr>
            <a:xfrm>
              <a:off x="6606682" y="2090011"/>
              <a:ext cx="1980000" cy="216479"/>
            </a:xfrm>
            <a:prstGeom prst="rect">
              <a:avLst/>
            </a:prstGeom>
            <a:noFill/>
          </p:spPr>
          <p:txBody>
            <a:bodyPr vert="horz" wrap="square" lIns="36000" tIns="36000" rIns="36000" bIns="36000" rtlCol="0" anchor="ctr">
              <a:noAutofit/>
            </a:bodyPr>
            <a:lstStyle>
              <a:defPPr>
                <a:defRPr lang="ja-JP"/>
              </a:defPPr>
              <a:lvl1pPr algn="ctr">
                <a:buClr>
                  <a:schemeClr val="accent1"/>
                </a:buClr>
                <a:defRPr sz="1400">
                  <a:solidFill>
                    <a:srgbClr val="414141"/>
                  </a:solidFill>
                  <a:latin typeface="Trebuchet MS" panose="020B0703020202090204" pitchFamily="34" charset="0"/>
                  <a:ea typeface="Meiryo" panose="020B0604030504040204" pitchFamily="34" charset="-128"/>
                </a:defRPr>
              </a:lvl1p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ロール</a:t>
              </a:r>
            </a:p>
          </p:txBody>
        </p:sp>
        <p:cxnSp>
          <p:nvCxnSpPr>
            <p:cNvPr id="11" name="Straight Connector 50">
              <a:extLst>
                <a:ext uri="{FF2B5EF4-FFF2-40B4-BE49-F238E27FC236}">
                  <a16:creationId xmlns:a16="http://schemas.microsoft.com/office/drawing/2014/main" id="{9DF6B33D-6BC7-2A65-018D-E086827403E2}"/>
                </a:ext>
              </a:extLst>
            </p:cNvPr>
            <p:cNvCxnSpPr/>
            <p:nvPr/>
          </p:nvCxnSpPr>
          <p:spPr>
            <a:xfrm>
              <a:off x="6615390" y="2369282"/>
              <a:ext cx="1980000" cy="0"/>
            </a:xfrm>
            <a:prstGeom prst="line">
              <a:avLst/>
            </a:prstGeom>
            <a:ln w="9525">
              <a:solidFill>
                <a:srgbClr val="414141"/>
              </a:solidFill>
              <a:prstDash val="solid"/>
            </a:ln>
          </p:spPr>
          <p:style>
            <a:lnRef idx="1">
              <a:schemeClr val="accent1"/>
            </a:lnRef>
            <a:fillRef idx="0">
              <a:schemeClr val="accent1"/>
            </a:fillRef>
            <a:effectRef idx="0">
              <a:schemeClr val="accent1"/>
            </a:effectRef>
            <a:fontRef idx="minor">
              <a:schemeClr val="tx1"/>
            </a:fontRef>
          </p:style>
        </p:cxnSp>
      </p:grpSp>
      <p:grpSp>
        <p:nvGrpSpPr>
          <p:cNvPr id="312" name="グループ化 311">
            <a:extLst>
              <a:ext uri="{FF2B5EF4-FFF2-40B4-BE49-F238E27FC236}">
                <a16:creationId xmlns:a16="http://schemas.microsoft.com/office/drawing/2014/main" id="{5306495B-1B37-6CC1-9BA5-1C3A29C3F422}"/>
              </a:ext>
            </a:extLst>
          </p:cNvPr>
          <p:cNvGrpSpPr/>
          <p:nvPr/>
        </p:nvGrpSpPr>
        <p:grpSpPr>
          <a:xfrm>
            <a:off x="6143615" y="5795514"/>
            <a:ext cx="2016002" cy="752832"/>
            <a:chOff x="6143615" y="5566914"/>
            <a:chExt cx="2016002" cy="752832"/>
          </a:xfrm>
        </p:grpSpPr>
        <p:sp>
          <p:nvSpPr>
            <p:cNvPr id="9" name="table_TWformat_5_1">
              <a:extLst>
                <a:ext uri="{FF2B5EF4-FFF2-40B4-BE49-F238E27FC236}">
                  <a16:creationId xmlns:a16="http://schemas.microsoft.com/office/drawing/2014/main" id="{6DC20D93-BF4A-77EC-16C9-47C80EF2E63E}"/>
                </a:ext>
              </a:extLst>
            </p:cNvPr>
            <p:cNvSpPr txBox="1"/>
            <p:nvPr/>
          </p:nvSpPr>
          <p:spPr>
            <a:xfrm>
              <a:off x="6143617" y="5566914"/>
              <a:ext cx="2016000" cy="741839"/>
            </a:xfrm>
            <a:prstGeom prst="rect">
              <a:avLst/>
            </a:prstGeom>
            <a:solidFill>
              <a:srgbClr val="008000">
                <a:alpha val="11000"/>
              </a:srgbClr>
            </a:solidFill>
          </p:spPr>
          <p:txBody>
            <a:bodyPr vert="horz" wrap="squar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endParaRPr kumimoji="1" lang="ja-JP" altLang="en-US" sz="1100" b="0" i="0" u="none" strike="noStrike" kern="1200" cap="none" spc="0" normalizeH="0" baseline="0" noProof="0">
                <a:ln>
                  <a:noFill/>
                </a:ln>
                <a:solidFill>
                  <a:prstClr val="black"/>
                </a:solidFill>
                <a:effectLst/>
                <a:uLnTx/>
                <a:uFillTx/>
                <a:latin typeface="Meiryo UI"/>
                <a:ea typeface="Meiryo UI"/>
                <a:cs typeface="+mn-cs"/>
              </a:endParaRPr>
            </a:p>
          </p:txBody>
        </p:sp>
        <p:sp>
          <p:nvSpPr>
            <p:cNvPr id="135" name="table_TWformat_5_1">
              <a:extLst>
                <a:ext uri="{FF2B5EF4-FFF2-40B4-BE49-F238E27FC236}">
                  <a16:creationId xmlns:a16="http://schemas.microsoft.com/office/drawing/2014/main" id="{F97A9108-7B28-A36A-032B-E9C7C5C90298}"/>
                </a:ext>
              </a:extLst>
            </p:cNvPr>
            <p:cNvSpPr txBox="1"/>
            <p:nvPr/>
          </p:nvSpPr>
          <p:spPr>
            <a:xfrm>
              <a:off x="6143615" y="6053668"/>
              <a:ext cx="612000" cy="266078"/>
            </a:xfrm>
            <a:prstGeom prst="rect">
              <a:avLst/>
            </a:prstGeom>
            <a:noFill/>
          </p:spPr>
          <p:txBody>
            <a:bodyPr vert="horz" wrap="square" lIns="0" tIns="0" rIns="0" bIns="36000" rtlCol="0" anchor="ctr">
              <a:noAutofit/>
            </a:bodyPr>
            <a:lstStyle/>
            <a:p>
              <a:pPr marL="0" marR="0" lvl="0" indent="0" algn="ctr" defTabSz="914400" rtl="0" eaLnBrk="1" fontAlgn="auto" latinLnBrk="0" hangingPunct="1">
                <a:lnSpc>
                  <a:spcPct val="90000"/>
                </a:lnSpc>
                <a:spcBef>
                  <a:spcPts val="0"/>
                </a:spcBef>
                <a:spcAft>
                  <a:spcPts val="0"/>
                </a:spcAft>
                <a:buClr>
                  <a:srgbClr val="5B9BD5"/>
                </a:buClr>
                <a:buSzTx/>
                <a:buFontTx/>
                <a:buNone/>
                <a:tabLst/>
                <a:defRPr/>
              </a:pPr>
              <a:r>
                <a:rPr kumimoji="1" lang="ja-JP" altLang="en-US" sz="1100" b="0" i="0" u="none" strike="noStrike" kern="1200" cap="none" spc="0" normalizeH="0" baseline="0" noProof="0">
                  <a:ln>
                    <a:noFill/>
                  </a:ln>
                  <a:solidFill>
                    <a:srgbClr val="008000"/>
                  </a:solidFill>
                  <a:effectLst/>
                  <a:uLnTx/>
                  <a:uFillTx/>
                  <a:latin typeface="Meiryo UI"/>
                  <a:ea typeface="Meiryo UI"/>
                  <a:cs typeface="+mn-cs"/>
                </a:rPr>
                <a:t>メンバー</a:t>
              </a:r>
            </a:p>
          </p:txBody>
        </p:sp>
        <p:sp>
          <p:nvSpPr>
            <p:cNvPr id="136" name="table_TWformat_3_1">
              <a:extLst>
                <a:ext uri="{FF2B5EF4-FFF2-40B4-BE49-F238E27FC236}">
                  <a16:creationId xmlns:a16="http://schemas.microsoft.com/office/drawing/2014/main" id="{BFFE8C0F-B95E-30A3-2003-12B6272A3DC4}"/>
                </a:ext>
              </a:extLst>
            </p:cNvPr>
            <p:cNvSpPr txBox="1"/>
            <p:nvPr/>
          </p:nvSpPr>
          <p:spPr>
            <a:xfrm>
              <a:off x="6782207" y="5613833"/>
              <a:ext cx="1314000" cy="648000"/>
            </a:xfrm>
            <a:prstGeom prst="roundRect">
              <a:avLst>
                <a:gd name="adj" fmla="val 7065"/>
              </a:avLst>
            </a:prstGeom>
            <a:solidFill>
              <a:schemeClr val="bg1"/>
            </a:solidFill>
          </p:spPr>
          <p:txBody>
            <a:bodyPr vert="horz" wrap="square" lIns="36000" tIns="36000" rIns="0" bIns="36000" rtlCol="0" anchor="ctr">
              <a:noAutofit/>
            </a:bodyPr>
            <a:lstStyle/>
            <a:p>
              <a:pPr marL="0" marR="0" lvl="0" indent="0" algn="l"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各専門領域において、データの収集、連携、</a:t>
              </a:r>
              <a:br>
                <a:rPr kumimoji="1" lang="en-US" altLang="ja-JP" sz="1000" b="0" i="0" u="none" strike="noStrike" kern="1200" cap="none" spc="0" normalizeH="0" baseline="0" noProof="0">
                  <a:ln>
                    <a:noFill/>
                  </a:ln>
                  <a:solidFill>
                    <a:prstClr val="black"/>
                  </a:solidFill>
                  <a:effectLst/>
                  <a:uLnTx/>
                  <a:uFillTx/>
                  <a:latin typeface="Meiryo UI"/>
                  <a:ea typeface="Meiryo UI"/>
                  <a:cs typeface="+mn-cs"/>
                </a:rPr>
              </a:b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算定、活用を実行する</a:t>
              </a:r>
            </a:p>
          </p:txBody>
        </p:sp>
        <p:pic>
          <p:nvPicPr>
            <p:cNvPr id="166" name="グラフィックス 165" descr="ユーザー 単色塗りつぶし">
              <a:extLst>
                <a:ext uri="{FF2B5EF4-FFF2-40B4-BE49-F238E27FC236}">
                  <a16:creationId xmlns:a16="http://schemas.microsoft.com/office/drawing/2014/main" id="{3AEF1E91-FC16-EDA4-754B-A4C4C21FB5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51616" y="5668927"/>
              <a:ext cx="396000" cy="396000"/>
            </a:xfrm>
            <a:prstGeom prst="rect">
              <a:avLst/>
            </a:prstGeom>
          </p:spPr>
        </p:pic>
      </p:grpSp>
      <p:grpSp>
        <p:nvGrpSpPr>
          <p:cNvPr id="310" name="グループ化 309">
            <a:extLst>
              <a:ext uri="{FF2B5EF4-FFF2-40B4-BE49-F238E27FC236}">
                <a16:creationId xmlns:a16="http://schemas.microsoft.com/office/drawing/2014/main" id="{A8BE0B23-B33B-1CAA-946E-544E85E5D9FC}"/>
              </a:ext>
            </a:extLst>
          </p:cNvPr>
          <p:cNvGrpSpPr/>
          <p:nvPr/>
        </p:nvGrpSpPr>
        <p:grpSpPr>
          <a:xfrm>
            <a:off x="6143615" y="5011860"/>
            <a:ext cx="2016000" cy="750705"/>
            <a:chOff x="6143615" y="4783260"/>
            <a:chExt cx="2016000" cy="750705"/>
          </a:xfrm>
        </p:grpSpPr>
        <p:sp>
          <p:nvSpPr>
            <p:cNvPr id="184" name="table_TWformat_5_1">
              <a:extLst>
                <a:ext uri="{FF2B5EF4-FFF2-40B4-BE49-F238E27FC236}">
                  <a16:creationId xmlns:a16="http://schemas.microsoft.com/office/drawing/2014/main" id="{3BE31D70-B815-AC3C-C86E-3978E00AB36A}"/>
                </a:ext>
              </a:extLst>
            </p:cNvPr>
            <p:cNvSpPr txBox="1"/>
            <p:nvPr/>
          </p:nvSpPr>
          <p:spPr>
            <a:xfrm>
              <a:off x="6143615" y="4783260"/>
              <a:ext cx="2016000" cy="750409"/>
            </a:xfrm>
            <a:prstGeom prst="rect">
              <a:avLst/>
            </a:prstGeom>
            <a:solidFill>
              <a:srgbClr val="008000">
                <a:alpha val="11000"/>
              </a:srgbClr>
            </a:solidFill>
          </p:spPr>
          <p:txBody>
            <a:bodyPr vert="horz" wrap="squar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endParaRPr kumimoji="1" lang="ja-JP" altLang="en-US" sz="1100" b="0" i="0" u="none" strike="noStrike" kern="1200" cap="none" spc="0" normalizeH="0" baseline="0" noProof="0">
                <a:ln>
                  <a:noFill/>
                </a:ln>
                <a:solidFill>
                  <a:prstClr val="black"/>
                </a:solidFill>
                <a:effectLst/>
                <a:uLnTx/>
                <a:uFillTx/>
                <a:latin typeface="Meiryo UI"/>
                <a:ea typeface="Meiryo UI"/>
                <a:cs typeface="+mn-cs"/>
              </a:endParaRPr>
            </a:p>
          </p:txBody>
        </p:sp>
        <p:sp>
          <p:nvSpPr>
            <p:cNvPr id="185" name="table_TWformat_3_1">
              <a:extLst>
                <a:ext uri="{FF2B5EF4-FFF2-40B4-BE49-F238E27FC236}">
                  <a16:creationId xmlns:a16="http://schemas.microsoft.com/office/drawing/2014/main" id="{86B231AA-5457-3CDD-29E3-5D4AFFFEB450}"/>
                </a:ext>
              </a:extLst>
            </p:cNvPr>
            <p:cNvSpPr txBox="1"/>
            <p:nvPr/>
          </p:nvSpPr>
          <p:spPr>
            <a:xfrm>
              <a:off x="6782205" y="4834464"/>
              <a:ext cx="1314000" cy="648000"/>
            </a:xfrm>
            <a:prstGeom prst="roundRect">
              <a:avLst>
                <a:gd name="adj" fmla="val 7065"/>
              </a:avLst>
            </a:prstGeom>
            <a:solidFill>
              <a:schemeClr val="bg1"/>
            </a:solidFill>
          </p:spPr>
          <p:txBody>
            <a:bodyPr vert="horz" wrap="square" lIns="36000" tIns="36000" rIns="0" bIns="36000" rtlCol="0" anchor="ctr">
              <a:noAutofit/>
            </a:bodyPr>
            <a:lstStyle/>
            <a:p>
              <a:pPr marL="0" marR="0" lvl="0" indent="0" algn="l"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特定領域における</a:t>
              </a:r>
              <a:br>
                <a:rPr kumimoji="1" lang="en-US" altLang="ja-JP" sz="1000" b="0" i="0" u="none" strike="noStrike" kern="1200" cap="none" spc="0" normalizeH="0" baseline="0" noProof="0">
                  <a:ln>
                    <a:noFill/>
                  </a:ln>
                  <a:solidFill>
                    <a:prstClr val="black"/>
                  </a:solidFill>
                  <a:effectLst/>
                  <a:uLnTx/>
                  <a:uFillTx/>
                  <a:latin typeface="Meiryo UI"/>
                  <a:ea typeface="Meiryo UI"/>
                  <a:cs typeface="+mn-cs"/>
                </a:rPr>
              </a:b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実務執行および</a:t>
              </a:r>
              <a:br>
                <a:rPr kumimoji="1" lang="en-US" altLang="ja-JP" sz="1000" b="0" i="0" u="none" strike="noStrike" kern="1200" cap="none" spc="0" normalizeH="0" baseline="0" noProof="0">
                  <a:ln>
                    <a:noFill/>
                  </a:ln>
                  <a:solidFill>
                    <a:prstClr val="black"/>
                  </a:solidFill>
                  <a:effectLst/>
                  <a:uLnTx/>
                  <a:uFillTx/>
                  <a:latin typeface="Meiryo UI"/>
                  <a:ea typeface="Meiryo UI"/>
                  <a:cs typeface="+mn-cs"/>
                </a:rPr>
              </a:b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成果物の品質責任者</a:t>
              </a:r>
              <a:endParaRPr kumimoji="1" lang="en-US" altLang="ja-JP" sz="10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193" name="グラフィックス 192" descr="ユーザー 単色塗りつぶし">
              <a:extLst>
                <a:ext uri="{FF2B5EF4-FFF2-40B4-BE49-F238E27FC236}">
                  <a16:creationId xmlns:a16="http://schemas.microsoft.com/office/drawing/2014/main" id="{932D4DFD-A7F3-DAD9-3271-94DD84A6A8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51614" y="4844820"/>
              <a:ext cx="396000" cy="396000"/>
            </a:xfrm>
            <a:prstGeom prst="rect">
              <a:avLst/>
            </a:prstGeom>
          </p:spPr>
        </p:pic>
        <p:sp>
          <p:nvSpPr>
            <p:cNvPr id="194" name="table_TWformat_5_1">
              <a:extLst>
                <a:ext uri="{FF2B5EF4-FFF2-40B4-BE49-F238E27FC236}">
                  <a16:creationId xmlns:a16="http://schemas.microsoft.com/office/drawing/2014/main" id="{3493F7D7-C849-1C4A-4A31-D9B1A6678A02}"/>
                </a:ext>
              </a:extLst>
            </p:cNvPr>
            <p:cNvSpPr txBox="1"/>
            <p:nvPr/>
          </p:nvSpPr>
          <p:spPr>
            <a:xfrm>
              <a:off x="6143615" y="5267887"/>
              <a:ext cx="612000" cy="266078"/>
            </a:xfrm>
            <a:prstGeom prst="rect">
              <a:avLst/>
            </a:prstGeom>
            <a:noFill/>
          </p:spPr>
          <p:txBody>
            <a:bodyPr vert="horz" wrap="square" lIns="0" tIns="0" rIns="0" bIns="36000" rtlCol="0" anchor="ctr">
              <a:noAutofit/>
            </a:bodyPr>
            <a:lstStyle/>
            <a:p>
              <a:pPr marL="0" marR="0" lvl="0" indent="0" algn="ctr" defTabSz="914400" rtl="0" eaLnBrk="1" fontAlgn="auto" latinLnBrk="0" hangingPunct="1">
                <a:lnSpc>
                  <a:spcPct val="90000"/>
                </a:lnSpc>
                <a:spcBef>
                  <a:spcPts val="0"/>
                </a:spcBef>
                <a:spcAft>
                  <a:spcPts val="0"/>
                </a:spcAft>
                <a:buClr>
                  <a:srgbClr val="5B9BD5"/>
                </a:buClr>
                <a:buSzTx/>
                <a:buFontTx/>
                <a:buNone/>
                <a:tabLst/>
                <a:defRPr/>
              </a:pPr>
              <a:r>
                <a:rPr kumimoji="1" lang="en-US" altLang="ja-JP" sz="1100" b="0" i="0" u="none" strike="noStrike" kern="1200" cap="none" spc="0" normalizeH="0" baseline="0" noProof="0">
                  <a:ln>
                    <a:noFill/>
                  </a:ln>
                  <a:solidFill>
                    <a:srgbClr val="008000"/>
                  </a:solidFill>
                  <a:effectLst/>
                  <a:uLnTx/>
                  <a:uFillTx/>
                  <a:latin typeface="Meiryo UI"/>
                  <a:ea typeface="Meiryo UI"/>
                  <a:cs typeface="+mn-cs"/>
                </a:rPr>
                <a:t>PL</a:t>
              </a:r>
            </a:p>
            <a:p>
              <a:pPr marL="0" marR="0" lvl="0" indent="0" algn="ctr" defTabSz="914400" rtl="0" eaLnBrk="1" fontAlgn="auto" latinLnBrk="0" hangingPunct="1">
                <a:lnSpc>
                  <a:spcPct val="90000"/>
                </a:lnSpc>
                <a:spcBef>
                  <a:spcPts val="0"/>
                </a:spcBef>
                <a:spcAft>
                  <a:spcPts val="0"/>
                </a:spcAft>
                <a:buClr>
                  <a:srgbClr val="5B9BD5"/>
                </a:buClr>
                <a:buSzTx/>
                <a:buFontTx/>
                <a:buNone/>
                <a:tabLst/>
                <a:defRPr/>
              </a:pPr>
              <a:r>
                <a:rPr kumimoji="1" lang="en-US" altLang="ja-JP" sz="600" b="0" i="0" u="none" strike="noStrike" kern="1200" cap="none" spc="0" normalizeH="0" baseline="0" noProof="0">
                  <a:ln>
                    <a:noFill/>
                  </a:ln>
                  <a:solidFill>
                    <a:srgbClr val="008000"/>
                  </a:solidFill>
                  <a:effectLst/>
                  <a:uLnTx/>
                  <a:uFillTx/>
                  <a:latin typeface="Meiryo UI"/>
                  <a:ea typeface="Meiryo UI"/>
                  <a:cs typeface="+mn-cs"/>
                </a:rPr>
                <a:t>(Project Leader)</a:t>
              </a:r>
              <a:endParaRPr kumimoji="1" lang="ja-JP" altLang="en-US" sz="600" b="0" i="0" u="none" strike="noStrike" kern="1200" cap="none" spc="0" normalizeH="0" baseline="0" noProof="0">
                <a:ln>
                  <a:noFill/>
                </a:ln>
                <a:solidFill>
                  <a:srgbClr val="008000"/>
                </a:solidFill>
                <a:effectLst/>
                <a:uLnTx/>
                <a:uFillTx/>
                <a:latin typeface="Meiryo UI"/>
                <a:ea typeface="Meiryo UI"/>
                <a:cs typeface="+mn-cs"/>
              </a:endParaRPr>
            </a:p>
          </p:txBody>
        </p:sp>
      </p:grpSp>
      <p:grpSp>
        <p:nvGrpSpPr>
          <p:cNvPr id="308" name="グループ化 307">
            <a:extLst>
              <a:ext uri="{FF2B5EF4-FFF2-40B4-BE49-F238E27FC236}">
                <a16:creationId xmlns:a16="http://schemas.microsoft.com/office/drawing/2014/main" id="{4437899E-EA20-7FAE-5B51-EDDEDC50DB08}"/>
              </a:ext>
            </a:extLst>
          </p:cNvPr>
          <p:cNvGrpSpPr/>
          <p:nvPr/>
        </p:nvGrpSpPr>
        <p:grpSpPr>
          <a:xfrm>
            <a:off x="6143615" y="4227936"/>
            <a:ext cx="2029618" cy="750475"/>
            <a:chOff x="6143615" y="3999336"/>
            <a:chExt cx="2029618" cy="750475"/>
          </a:xfrm>
        </p:grpSpPr>
        <p:sp>
          <p:nvSpPr>
            <p:cNvPr id="196" name="table_TWformat_5_1">
              <a:extLst>
                <a:ext uri="{FF2B5EF4-FFF2-40B4-BE49-F238E27FC236}">
                  <a16:creationId xmlns:a16="http://schemas.microsoft.com/office/drawing/2014/main" id="{F3E462AE-AA15-42DC-FCB0-75668DA2847B}"/>
                </a:ext>
              </a:extLst>
            </p:cNvPr>
            <p:cNvSpPr txBox="1"/>
            <p:nvPr/>
          </p:nvSpPr>
          <p:spPr>
            <a:xfrm>
              <a:off x="6157233" y="3999336"/>
              <a:ext cx="2016000" cy="750475"/>
            </a:xfrm>
            <a:prstGeom prst="rect">
              <a:avLst/>
            </a:prstGeom>
            <a:solidFill>
              <a:srgbClr val="008000">
                <a:alpha val="11000"/>
              </a:srgbClr>
            </a:solidFill>
          </p:spPr>
          <p:txBody>
            <a:bodyPr vert="horz" wrap="squar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endParaRPr kumimoji="1" lang="ja-JP" altLang="en-US" sz="1100" b="0" i="0" u="none" strike="noStrike" kern="1200" cap="none" spc="0" normalizeH="0" baseline="0" noProof="0">
                <a:ln>
                  <a:noFill/>
                </a:ln>
                <a:solidFill>
                  <a:prstClr val="black"/>
                </a:solidFill>
                <a:effectLst/>
                <a:uLnTx/>
                <a:uFillTx/>
                <a:latin typeface="Meiryo UI"/>
                <a:ea typeface="Meiryo UI"/>
                <a:cs typeface="+mn-cs"/>
              </a:endParaRPr>
            </a:p>
          </p:txBody>
        </p:sp>
        <p:sp>
          <p:nvSpPr>
            <p:cNvPr id="14" name="table_TWformat_4_1">
              <a:extLst>
                <a:ext uri="{FF2B5EF4-FFF2-40B4-BE49-F238E27FC236}">
                  <a16:creationId xmlns:a16="http://schemas.microsoft.com/office/drawing/2014/main" id="{1B9B0897-2680-4661-9387-716404B4F8A2}"/>
                </a:ext>
              </a:extLst>
            </p:cNvPr>
            <p:cNvSpPr txBox="1"/>
            <p:nvPr/>
          </p:nvSpPr>
          <p:spPr>
            <a:xfrm>
              <a:off x="6143615" y="4465488"/>
              <a:ext cx="612000" cy="266078"/>
            </a:xfrm>
            <a:prstGeom prst="rect">
              <a:avLst/>
            </a:prstGeom>
            <a:noFill/>
          </p:spPr>
          <p:txBody>
            <a:bodyPr vert="horz" wrap="square" lIns="0" tIns="0" rIns="0" bIns="36000" rtlCol="0" anchor="ctr">
              <a:noAutofit/>
            </a:body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en-US" altLang="ja-JP" sz="1000" b="0" i="0" u="none" strike="noStrike" kern="1200" cap="none" spc="0" normalizeH="0" baseline="0" noProof="0">
                  <a:ln>
                    <a:noFill/>
                  </a:ln>
                  <a:solidFill>
                    <a:srgbClr val="008000"/>
                  </a:solidFill>
                  <a:effectLst/>
                  <a:uLnTx/>
                  <a:uFillTx/>
                  <a:latin typeface="Meiryo UI"/>
                  <a:ea typeface="Meiryo UI"/>
                  <a:cs typeface="+mn-cs"/>
                </a:rPr>
                <a:t>PM / PMO</a:t>
              </a:r>
              <a:endParaRPr kumimoji="1" lang="ja-JP" altLang="en-US" sz="1000" b="0" i="0" u="none" strike="noStrike" kern="1200" cap="none" spc="0" normalizeH="0" baseline="0" noProof="0">
                <a:ln>
                  <a:noFill/>
                </a:ln>
                <a:solidFill>
                  <a:srgbClr val="008000"/>
                </a:solidFill>
                <a:effectLst/>
                <a:uLnTx/>
                <a:uFillTx/>
                <a:latin typeface="Meiryo UI"/>
                <a:ea typeface="Meiryo UI"/>
                <a:cs typeface="+mn-cs"/>
              </a:endParaRPr>
            </a:p>
          </p:txBody>
        </p:sp>
        <p:pic>
          <p:nvPicPr>
            <p:cNvPr id="197" name="グラフィックス 196" descr="ユーザー 単色塗りつぶし">
              <a:extLst>
                <a:ext uri="{FF2B5EF4-FFF2-40B4-BE49-F238E27FC236}">
                  <a16:creationId xmlns:a16="http://schemas.microsoft.com/office/drawing/2014/main" id="{02665501-E096-4A46-63DE-D3CBE29F09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51616" y="4069621"/>
              <a:ext cx="396000" cy="396000"/>
            </a:xfrm>
            <a:prstGeom prst="rect">
              <a:avLst/>
            </a:prstGeom>
          </p:spPr>
        </p:pic>
        <p:sp>
          <p:nvSpPr>
            <p:cNvPr id="26" name="table_TWformat_3_1">
              <a:extLst>
                <a:ext uri="{FF2B5EF4-FFF2-40B4-BE49-F238E27FC236}">
                  <a16:creationId xmlns:a16="http://schemas.microsoft.com/office/drawing/2014/main" id="{9EDE74E4-414E-3F0E-1D6B-1F0D274D5AEB}"/>
                </a:ext>
              </a:extLst>
            </p:cNvPr>
            <p:cNvSpPr txBox="1"/>
            <p:nvPr/>
          </p:nvSpPr>
          <p:spPr>
            <a:xfrm>
              <a:off x="6795823" y="4066247"/>
              <a:ext cx="1314000" cy="616653"/>
            </a:xfrm>
            <a:prstGeom prst="roundRect">
              <a:avLst>
                <a:gd name="adj" fmla="val 7065"/>
              </a:avLst>
            </a:prstGeom>
            <a:solidFill>
              <a:schemeClr val="bg1"/>
            </a:solidFill>
          </p:spPr>
          <p:txBody>
            <a:bodyPr vert="horz" wrap="square" lIns="36000" tIns="36000" rIns="0" bIns="36000" rtlCol="0" anchor="ctr">
              <a:noAutofit/>
            </a:bodyPr>
            <a:lstStyle/>
            <a:p>
              <a:pPr marL="0" marR="0" lvl="0" indent="0" algn="l"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プロジェクトの全体管理</a:t>
              </a:r>
              <a:br>
                <a:rPr kumimoji="1" lang="en-US" altLang="ja-JP" sz="1000" b="0" i="0" u="none" strike="noStrike" kern="1200" cap="none" spc="0" normalizeH="0" baseline="0" noProof="0">
                  <a:ln>
                    <a:noFill/>
                  </a:ln>
                  <a:solidFill>
                    <a:prstClr val="black"/>
                  </a:solidFill>
                  <a:effectLst/>
                  <a:uLnTx/>
                  <a:uFillTx/>
                  <a:latin typeface="Meiryo UI"/>
                  <a:ea typeface="Meiryo UI"/>
                  <a:cs typeface="+mn-cs"/>
                </a:rPr>
              </a:b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および遂行支援を実施</a:t>
              </a:r>
            </a:p>
          </p:txBody>
        </p:sp>
      </p:grpSp>
      <p:grpSp>
        <p:nvGrpSpPr>
          <p:cNvPr id="306" name="グループ化 305">
            <a:extLst>
              <a:ext uri="{FF2B5EF4-FFF2-40B4-BE49-F238E27FC236}">
                <a16:creationId xmlns:a16="http://schemas.microsoft.com/office/drawing/2014/main" id="{B65324BA-3CEC-2C03-602E-9BF3B80F26F7}"/>
              </a:ext>
            </a:extLst>
          </p:cNvPr>
          <p:cNvGrpSpPr/>
          <p:nvPr/>
        </p:nvGrpSpPr>
        <p:grpSpPr>
          <a:xfrm>
            <a:off x="6143615" y="3443940"/>
            <a:ext cx="2016000" cy="750613"/>
            <a:chOff x="6143615" y="3215340"/>
            <a:chExt cx="2016000" cy="750613"/>
          </a:xfrm>
        </p:grpSpPr>
        <p:sp>
          <p:nvSpPr>
            <p:cNvPr id="199" name="table_TWformat_5_1">
              <a:extLst>
                <a:ext uri="{FF2B5EF4-FFF2-40B4-BE49-F238E27FC236}">
                  <a16:creationId xmlns:a16="http://schemas.microsoft.com/office/drawing/2014/main" id="{A6E48DCA-9E32-8EE2-94CB-A9F86F8C2E3E}"/>
                </a:ext>
              </a:extLst>
            </p:cNvPr>
            <p:cNvSpPr txBox="1"/>
            <p:nvPr/>
          </p:nvSpPr>
          <p:spPr>
            <a:xfrm>
              <a:off x="6143615" y="3215340"/>
              <a:ext cx="2016000" cy="750613"/>
            </a:xfrm>
            <a:prstGeom prst="rect">
              <a:avLst/>
            </a:prstGeom>
            <a:solidFill>
              <a:srgbClr val="008000">
                <a:alpha val="11000"/>
              </a:srgbClr>
            </a:solidFill>
          </p:spPr>
          <p:txBody>
            <a:bodyPr vert="horz" wrap="squar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endParaRPr kumimoji="1" lang="ja-JP" altLang="en-US" sz="1100" b="0" i="0" u="none" strike="noStrike" kern="1200" cap="none" spc="0" normalizeH="0" baseline="0" noProof="0">
                <a:ln>
                  <a:noFill/>
                </a:ln>
                <a:solidFill>
                  <a:prstClr val="black"/>
                </a:solidFill>
                <a:effectLst/>
                <a:uLnTx/>
                <a:uFillTx/>
                <a:latin typeface="Meiryo UI"/>
                <a:ea typeface="Meiryo UI"/>
                <a:cs typeface="+mn-cs"/>
              </a:endParaRPr>
            </a:p>
          </p:txBody>
        </p:sp>
        <p:sp>
          <p:nvSpPr>
            <p:cNvPr id="13" name="table_TWformat_3_1">
              <a:extLst>
                <a:ext uri="{FF2B5EF4-FFF2-40B4-BE49-F238E27FC236}">
                  <a16:creationId xmlns:a16="http://schemas.microsoft.com/office/drawing/2014/main" id="{F1F1C1FA-80C0-B129-F3F5-92070145D238}"/>
                </a:ext>
              </a:extLst>
            </p:cNvPr>
            <p:cNvSpPr txBox="1"/>
            <p:nvPr/>
          </p:nvSpPr>
          <p:spPr>
            <a:xfrm>
              <a:off x="6143615" y="3696327"/>
              <a:ext cx="612000" cy="266078"/>
            </a:xfrm>
            <a:prstGeom prst="rect">
              <a:avLst/>
            </a:prstGeom>
            <a:noFill/>
          </p:spPr>
          <p:txBody>
            <a:bodyPr vert="horz" wrap="square" lIns="0" tIns="0" rIns="0" bIns="36000" rtlCol="0" anchor="ctr">
              <a:noAutofit/>
            </a:body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1000" b="0" i="0" u="none" strike="noStrike" kern="1200" cap="none" spc="0" normalizeH="0" baseline="0" noProof="0">
                  <a:ln>
                    <a:noFill/>
                  </a:ln>
                  <a:solidFill>
                    <a:srgbClr val="008000"/>
                  </a:solidFill>
                  <a:effectLst/>
                  <a:uLnTx/>
                  <a:uFillTx/>
                  <a:latin typeface="Meiryo UI"/>
                  <a:ea typeface="Meiryo UI"/>
                  <a:cs typeface="+mn-cs"/>
                </a:rPr>
                <a:t>責任者</a:t>
              </a:r>
            </a:p>
          </p:txBody>
        </p:sp>
        <p:sp>
          <p:nvSpPr>
            <p:cNvPr id="201" name="table_TWformat_3_1">
              <a:extLst>
                <a:ext uri="{FF2B5EF4-FFF2-40B4-BE49-F238E27FC236}">
                  <a16:creationId xmlns:a16="http://schemas.microsoft.com/office/drawing/2014/main" id="{F6E52FDB-36EF-49EA-3BB5-94474977EE21}"/>
                </a:ext>
              </a:extLst>
            </p:cNvPr>
            <p:cNvSpPr txBox="1"/>
            <p:nvPr/>
          </p:nvSpPr>
          <p:spPr>
            <a:xfrm>
              <a:off x="6782205" y="3266647"/>
              <a:ext cx="1314000" cy="648000"/>
            </a:xfrm>
            <a:prstGeom prst="roundRect">
              <a:avLst>
                <a:gd name="adj" fmla="val 7065"/>
              </a:avLst>
            </a:prstGeom>
            <a:solidFill>
              <a:schemeClr val="bg1"/>
            </a:solidFill>
          </p:spPr>
          <p:txBody>
            <a:bodyPr vert="horz" wrap="square" lIns="36000" tIns="36000" rIns="0" bIns="36000" rtlCol="0" anchor="ctr">
              <a:noAutofit/>
            </a:bodyPr>
            <a:lstStyle/>
            <a:p>
              <a:pPr marL="0" marR="0" lvl="0" indent="0" algn="l"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サステナビリティ開示の「中身 </a:t>
              </a:r>
              <a:r>
                <a:rPr kumimoji="1" lang="en-US" altLang="ja-JP" sz="1000" b="0" i="0" u="none" strike="noStrike" kern="1200" cap="none" spc="0" normalizeH="0" baseline="0" noProof="0">
                  <a:ln>
                    <a:noFill/>
                  </a:ln>
                  <a:solidFill>
                    <a:prstClr val="black"/>
                  </a:solidFill>
                  <a:effectLst/>
                  <a:uLnTx/>
                  <a:uFillTx/>
                  <a:latin typeface="Meiryo UI"/>
                  <a:ea typeface="Meiryo UI"/>
                  <a:cs typeface="+mn-cs"/>
                </a:rPr>
                <a:t>(</a:t>
              </a: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専門性・要件</a:t>
              </a:r>
              <a:br>
                <a:rPr kumimoji="1" lang="fr-FR" altLang="ja-JP" sz="1000" b="0" i="0" u="none" strike="noStrike" kern="1200" cap="none" spc="0" normalizeH="0" baseline="0" noProof="0">
                  <a:ln>
                    <a:noFill/>
                  </a:ln>
                  <a:solidFill>
                    <a:prstClr val="black"/>
                  </a:solidFill>
                  <a:effectLst/>
                  <a:uLnTx/>
                  <a:uFillTx/>
                  <a:latin typeface="Meiryo UI"/>
                  <a:ea typeface="Meiryo UI"/>
                  <a:cs typeface="+mn-cs"/>
                </a:rPr>
              </a:b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定義</a:t>
              </a:r>
              <a:r>
                <a:rPr kumimoji="1" lang="en-US" altLang="ja-JP" sz="1000" b="0" i="0" u="none" strike="noStrike" kern="1200" cap="none" spc="0" normalizeH="0" baseline="0" noProof="0">
                  <a:ln>
                    <a:noFill/>
                  </a:ln>
                  <a:solidFill>
                    <a:prstClr val="black"/>
                  </a:solidFill>
                  <a:effectLst/>
                  <a:uLnTx/>
                  <a:uFillTx/>
                  <a:latin typeface="Meiryo UI"/>
                  <a:ea typeface="Meiryo UI"/>
                  <a:cs typeface="+mn-cs"/>
                </a:rPr>
                <a:t>)</a:t>
              </a: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」を保証する</a:t>
              </a:r>
              <a:br>
                <a:rPr kumimoji="1" lang="fr-FR" altLang="ja-JP" sz="1000" b="0" i="0" u="none" strike="noStrike" kern="1200" cap="none" spc="0" normalizeH="0" baseline="0" noProof="0">
                  <a:ln>
                    <a:noFill/>
                  </a:ln>
                  <a:solidFill>
                    <a:prstClr val="black"/>
                  </a:solidFill>
                  <a:effectLst/>
                  <a:uLnTx/>
                  <a:uFillTx/>
                  <a:latin typeface="Meiryo UI"/>
                  <a:ea typeface="Meiryo UI"/>
                  <a:cs typeface="+mn-cs"/>
                </a:rPr>
              </a:b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責任者</a:t>
              </a:r>
            </a:p>
          </p:txBody>
        </p:sp>
        <p:pic>
          <p:nvPicPr>
            <p:cNvPr id="204" name="グラフィックス 203" descr="オフィス ワーカー (男性) 単色塗りつぶし">
              <a:extLst>
                <a:ext uri="{FF2B5EF4-FFF2-40B4-BE49-F238E27FC236}">
                  <a16:creationId xmlns:a16="http://schemas.microsoft.com/office/drawing/2014/main" id="{2F00649F-B77E-FB48-2192-D57248DAD7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51614" y="3271447"/>
              <a:ext cx="396000" cy="396000"/>
            </a:xfrm>
            <a:prstGeom prst="rect">
              <a:avLst/>
            </a:prstGeom>
          </p:spPr>
        </p:pic>
      </p:grpSp>
      <p:grpSp>
        <p:nvGrpSpPr>
          <p:cNvPr id="304" name="グループ化 303">
            <a:extLst>
              <a:ext uri="{FF2B5EF4-FFF2-40B4-BE49-F238E27FC236}">
                <a16:creationId xmlns:a16="http://schemas.microsoft.com/office/drawing/2014/main" id="{C67D6F52-99F7-73F9-6F62-360A06ED341E}"/>
              </a:ext>
            </a:extLst>
          </p:cNvPr>
          <p:cNvGrpSpPr/>
          <p:nvPr/>
        </p:nvGrpSpPr>
        <p:grpSpPr>
          <a:xfrm>
            <a:off x="6143613" y="2668856"/>
            <a:ext cx="2016003" cy="741839"/>
            <a:chOff x="6143613" y="2440256"/>
            <a:chExt cx="2016003" cy="741839"/>
          </a:xfrm>
        </p:grpSpPr>
        <p:sp>
          <p:nvSpPr>
            <p:cNvPr id="206" name="table_TWformat_5_1">
              <a:extLst>
                <a:ext uri="{FF2B5EF4-FFF2-40B4-BE49-F238E27FC236}">
                  <a16:creationId xmlns:a16="http://schemas.microsoft.com/office/drawing/2014/main" id="{CE826774-EDEC-3510-A6D1-DC217DED8736}"/>
                </a:ext>
              </a:extLst>
            </p:cNvPr>
            <p:cNvSpPr txBox="1"/>
            <p:nvPr/>
          </p:nvSpPr>
          <p:spPr>
            <a:xfrm>
              <a:off x="6143616" y="2440256"/>
              <a:ext cx="2016000" cy="741839"/>
            </a:xfrm>
            <a:prstGeom prst="rect">
              <a:avLst/>
            </a:prstGeom>
            <a:solidFill>
              <a:srgbClr val="008000">
                <a:alpha val="11000"/>
              </a:srgbClr>
            </a:solidFill>
          </p:spPr>
          <p:txBody>
            <a:bodyPr vert="horz" wrap="squar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endParaRPr kumimoji="1" lang="ja-JP" altLang="en-US" sz="1100" b="0" i="0" u="none" strike="noStrike" kern="1200" cap="none" spc="0" normalizeH="0" baseline="0" noProof="0">
                <a:ln>
                  <a:noFill/>
                </a:ln>
                <a:solidFill>
                  <a:prstClr val="black"/>
                </a:solidFill>
                <a:effectLst/>
                <a:uLnTx/>
                <a:uFillTx/>
                <a:latin typeface="Meiryo UI"/>
                <a:ea typeface="Meiryo UI"/>
                <a:cs typeface="+mn-cs"/>
              </a:endParaRPr>
            </a:p>
          </p:txBody>
        </p:sp>
        <p:sp>
          <p:nvSpPr>
            <p:cNvPr id="207" name="table_TWformat_3_1">
              <a:extLst>
                <a:ext uri="{FF2B5EF4-FFF2-40B4-BE49-F238E27FC236}">
                  <a16:creationId xmlns:a16="http://schemas.microsoft.com/office/drawing/2014/main" id="{63FB5C2C-2F61-631F-F77F-43967AF59793}"/>
                </a:ext>
              </a:extLst>
            </p:cNvPr>
            <p:cNvSpPr txBox="1"/>
            <p:nvPr/>
          </p:nvSpPr>
          <p:spPr>
            <a:xfrm>
              <a:off x="6782208" y="2487176"/>
              <a:ext cx="1314000" cy="648000"/>
            </a:xfrm>
            <a:prstGeom prst="roundRect">
              <a:avLst>
                <a:gd name="adj" fmla="val 7065"/>
              </a:avLst>
            </a:prstGeom>
            <a:solidFill>
              <a:schemeClr val="bg1"/>
            </a:solidFill>
          </p:spPr>
          <p:txBody>
            <a:bodyPr vert="horz" wrap="square" lIns="36000" tIns="36000" rIns="0" bIns="36000" rtlCol="0" anchor="ctr">
              <a:noAutofit/>
            </a:bodyPr>
            <a:lstStyle/>
            <a:p>
              <a:pPr marL="0" marR="0" lvl="0" indent="0" algn="l" defTabSz="914400" rtl="0" eaLnBrk="1" fontAlgn="auto" latinLnBrk="0" hangingPunct="1">
                <a:lnSpc>
                  <a:spcPct val="100000"/>
                </a:lnSpc>
                <a:spcBef>
                  <a:spcPts val="0"/>
                </a:spcBef>
                <a:spcAft>
                  <a:spcPts val="0"/>
                </a:spcAft>
                <a:buClr>
                  <a:srgbClr val="5B9BD5"/>
                </a:buClr>
                <a:buSzTx/>
                <a:buFontTx/>
                <a:buNone/>
                <a:tabLst/>
                <a:defRPr/>
              </a:pPr>
              <a:r>
                <a:rPr kumimoji="1" lang="en-US" altLang="ja-JP" sz="1000" b="0" i="0" u="none" strike="noStrike" kern="1200" cap="none" spc="0" normalizeH="0" baseline="0" noProof="0">
                  <a:ln>
                    <a:noFill/>
                  </a:ln>
                  <a:solidFill>
                    <a:prstClr val="black"/>
                  </a:solidFill>
                  <a:effectLst/>
                  <a:uLnTx/>
                  <a:uFillTx/>
                  <a:latin typeface="Meiryo UI"/>
                  <a:ea typeface="Meiryo UI"/>
                  <a:cs typeface="+mn-cs"/>
                </a:rPr>
                <a:t>SSBJ</a:t>
              </a: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対応</a:t>
              </a:r>
              <a:r>
                <a:rPr kumimoji="1" lang="en-US" altLang="ja-JP" sz="1000" b="0" i="0" u="none" strike="noStrike" kern="1200" cap="none" spc="0" normalizeH="0" baseline="0" noProof="0">
                  <a:ln>
                    <a:noFill/>
                  </a:ln>
                  <a:solidFill>
                    <a:prstClr val="black"/>
                  </a:solidFill>
                  <a:effectLst/>
                  <a:uLnTx/>
                  <a:uFillTx/>
                  <a:latin typeface="Meiryo UI"/>
                  <a:ea typeface="Meiryo UI"/>
                  <a:cs typeface="+mn-cs"/>
                </a:rPr>
                <a:t>PJT</a:t>
              </a: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における最終責任を負い、意思決定とリソース配分を</a:t>
              </a:r>
              <a:br>
                <a:rPr kumimoji="1" lang="en-US" altLang="ja-JP" sz="1000" b="0" i="0" u="none" strike="noStrike" kern="1200" cap="none" spc="0" normalizeH="0" baseline="0" noProof="0">
                  <a:ln>
                    <a:noFill/>
                  </a:ln>
                  <a:solidFill>
                    <a:prstClr val="black"/>
                  </a:solidFill>
                  <a:effectLst/>
                  <a:uLnTx/>
                  <a:uFillTx/>
                  <a:latin typeface="Meiryo UI"/>
                  <a:ea typeface="Meiryo UI"/>
                  <a:cs typeface="+mn-cs"/>
                </a:rPr>
              </a:b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実施</a:t>
              </a:r>
              <a:endParaRPr kumimoji="1" lang="en-US" altLang="ja-JP" sz="1000" b="0" i="0" u="none" strike="noStrike" kern="1200" cap="none" spc="0" normalizeH="0" baseline="0" noProof="0">
                <a:ln>
                  <a:noFill/>
                </a:ln>
                <a:solidFill>
                  <a:prstClr val="black"/>
                </a:solidFill>
                <a:effectLst/>
                <a:uLnTx/>
                <a:uFillTx/>
                <a:latin typeface="Meiryo UI"/>
                <a:ea typeface="Meiryo UI"/>
                <a:cs typeface="+mn-cs"/>
              </a:endParaRPr>
            </a:p>
          </p:txBody>
        </p:sp>
        <p:grpSp>
          <p:nvGrpSpPr>
            <p:cNvPr id="303" name="グループ化 302">
              <a:extLst>
                <a:ext uri="{FF2B5EF4-FFF2-40B4-BE49-F238E27FC236}">
                  <a16:creationId xmlns:a16="http://schemas.microsoft.com/office/drawing/2014/main" id="{1971ECF1-4B78-AAD4-B5C4-F5B00C81F124}"/>
                </a:ext>
              </a:extLst>
            </p:cNvPr>
            <p:cNvGrpSpPr/>
            <p:nvPr/>
          </p:nvGrpSpPr>
          <p:grpSpPr>
            <a:xfrm>
              <a:off x="6143613" y="2543908"/>
              <a:ext cx="612000" cy="622153"/>
              <a:chOff x="6143613" y="2543908"/>
              <a:chExt cx="612000" cy="622153"/>
            </a:xfrm>
          </p:grpSpPr>
          <p:grpSp>
            <p:nvGrpSpPr>
              <p:cNvPr id="272" name="グループ化 271">
                <a:extLst>
                  <a:ext uri="{FF2B5EF4-FFF2-40B4-BE49-F238E27FC236}">
                    <a16:creationId xmlns:a16="http://schemas.microsoft.com/office/drawing/2014/main" id="{C150D8B2-F831-80FD-E355-600405CD3CA3}"/>
                  </a:ext>
                </a:extLst>
              </p:cNvPr>
              <p:cNvGrpSpPr/>
              <p:nvPr/>
            </p:nvGrpSpPr>
            <p:grpSpPr>
              <a:xfrm>
                <a:off x="6316659" y="2543908"/>
                <a:ext cx="265909" cy="299106"/>
                <a:chOff x="7091964" y="2543908"/>
                <a:chExt cx="292500" cy="299106"/>
              </a:xfrm>
            </p:grpSpPr>
            <p:sp>
              <p:nvSpPr>
                <p:cNvPr id="219" name="フリーフォーム: 図形 218">
                  <a:extLst>
                    <a:ext uri="{FF2B5EF4-FFF2-40B4-BE49-F238E27FC236}">
                      <a16:creationId xmlns:a16="http://schemas.microsoft.com/office/drawing/2014/main" id="{4EAD066A-8FAC-A2B1-4C43-61C55A28CB62}"/>
                    </a:ext>
                  </a:extLst>
                </p:cNvPr>
                <p:cNvSpPr/>
                <p:nvPr/>
              </p:nvSpPr>
              <p:spPr>
                <a:xfrm>
                  <a:off x="7160214" y="2543908"/>
                  <a:ext cx="156000" cy="145529"/>
                </a:xfrm>
                <a:custGeom>
                  <a:avLst/>
                  <a:gdLst>
                    <a:gd name="csX0" fmla="*/ 156000 w 156000"/>
                    <a:gd name="csY0" fmla="*/ 39332 h 145529"/>
                    <a:gd name="csX1" fmla="*/ 107250 w 156000"/>
                    <a:gd name="csY1" fmla="*/ 0 h 145529"/>
                    <a:gd name="csX2" fmla="*/ 48750 w 156000"/>
                    <a:gd name="csY2" fmla="*/ 0 h 145529"/>
                    <a:gd name="csX3" fmla="*/ 0 w 156000"/>
                    <a:gd name="csY3" fmla="*/ 39332 h 145529"/>
                    <a:gd name="csX4" fmla="*/ 0 w 156000"/>
                    <a:gd name="csY4" fmla="*/ 145529 h 145529"/>
                    <a:gd name="csX5" fmla="*/ 156000 w 156000"/>
                    <a:gd name="csY5" fmla="*/ 145529 h 145529"/>
                  </a:gdLst>
                  <a:ahLst/>
                  <a:cxnLst>
                    <a:cxn ang="0">
                      <a:pos x="csX0" y="csY0"/>
                    </a:cxn>
                    <a:cxn ang="0">
                      <a:pos x="csX1" y="csY1"/>
                    </a:cxn>
                    <a:cxn ang="0">
                      <a:pos x="csX2" y="csY2"/>
                    </a:cxn>
                    <a:cxn ang="0">
                      <a:pos x="csX3" y="csY3"/>
                    </a:cxn>
                    <a:cxn ang="0">
                      <a:pos x="csX4" y="csY4"/>
                    </a:cxn>
                    <a:cxn ang="0">
                      <a:pos x="csX5" y="csY5"/>
                    </a:cxn>
                  </a:cxnLst>
                  <a:rect l="l" t="t" r="r" b="b"/>
                  <a:pathLst>
                    <a:path w="156000" h="145529">
                      <a:moveTo>
                        <a:pt x="156000" y="39332"/>
                      </a:moveTo>
                      <a:cubicBezTo>
                        <a:pt x="156000" y="17610"/>
                        <a:pt x="134174" y="0"/>
                        <a:pt x="107250" y="0"/>
                      </a:cubicBezTo>
                      <a:lnTo>
                        <a:pt x="48750" y="0"/>
                      </a:lnTo>
                      <a:cubicBezTo>
                        <a:pt x="21826" y="0"/>
                        <a:pt x="0" y="17610"/>
                        <a:pt x="0" y="39332"/>
                      </a:cubicBezTo>
                      <a:lnTo>
                        <a:pt x="0" y="145529"/>
                      </a:lnTo>
                      <a:lnTo>
                        <a:pt x="156000" y="145529"/>
                      </a:lnTo>
                      <a:close/>
                    </a:path>
                  </a:pathLst>
                </a:custGeom>
                <a:solidFill>
                  <a:srgbClr val="008000"/>
                </a:solidFill>
                <a:ln w="486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220" name="フリーフォーム: 図形 219">
                  <a:extLst>
                    <a:ext uri="{FF2B5EF4-FFF2-40B4-BE49-F238E27FC236}">
                      <a16:creationId xmlns:a16="http://schemas.microsoft.com/office/drawing/2014/main" id="{4AB46AAF-44F0-99E3-1D28-144E079E0D06}"/>
                    </a:ext>
                  </a:extLst>
                </p:cNvPr>
                <p:cNvSpPr/>
                <p:nvPr/>
              </p:nvSpPr>
              <p:spPr>
                <a:xfrm>
                  <a:off x="7091964" y="2642238"/>
                  <a:ext cx="292500" cy="200776"/>
                </a:xfrm>
                <a:custGeom>
                  <a:avLst/>
                  <a:gdLst>
                    <a:gd name="csX0" fmla="*/ 277875 w 292500"/>
                    <a:gd name="csY0" fmla="*/ 0 h 200776"/>
                    <a:gd name="csX1" fmla="*/ 253500 w 292500"/>
                    <a:gd name="csY1" fmla="*/ 0 h 200776"/>
                    <a:gd name="csX2" fmla="*/ 238875 w 292500"/>
                    <a:gd name="csY2" fmla="*/ 11800 h 200776"/>
                    <a:gd name="csX3" fmla="*/ 238875 w 292500"/>
                    <a:gd name="csY3" fmla="*/ 11800 h 200776"/>
                    <a:gd name="csX4" fmla="*/ 248625 w 292500"/>
                    <a:gd name="csY4" fmla="*/ 22876 h 200776"/>
                    <a:gd name="csX5" fmla="*/ 248625 w 292500"/>
                    <a:gd name="csY5" fmla="*/ 63101 h 200776"/>
                    <a:gd name="csX6" fmla="*/ 241751 w 292500"/>
                    <a:gd name="csY6" fmla="*/ 72969 h 200776"/>
                    <a:gd name="csX7" fmla="*/ 222646 w 292500"/>
                    <a:gd name="csY7" fmla="*/ 63077 h 200776"/>
                    <a:gd name="csX8" fmla="*/ 69849 w 292500"/>
                    <a:gd name="csY8" fmla="*/ 63077 h 200776"/>
                    <a:gd name="csX9" fmla="*/ 50749 w 292500"/>
                    <a:gd name="csY9" fmla="*/ 72969 h 200776"/>
                    <a:gd name="csX10" fmla="*/ 43875 w 292500"/>
                    <a:gd name="csY10" fmla="*/ 63101 h 200776"/>
                    <a:gd name="csX11" fmla="*/ 43875 w 292500"/>
                    <a:gd name="csY11" fmla="*/ 22876 h 200776"/>
                    <a:gd name="csX12" fmla="*/ 53625 w 292500"/>
                    <a:gd name="csY12" fmla="*/ 11800 h 200776"/>
                    <a:gd name="csX13" fmla="*/ 53625 w 292500"/>
                    <a:gd name="csY13" fmla="*/ 11800 h 200776"/>
                    <a:gd name="csX14" fmla="*/ 39000 w 292500"/>
                    <a:gd name="csY14" fmla="*/ 0 h 200776"/>
                    <a:gd name="csX15" fmla="*/ 14625 w 292500"/>
                    <a:gd name="csY15" fmla="*/ 0 h 200776"/>
                    <a:gd name="csX16" fmla="*/ 0 w 292500"/>
                    <a:gd name="csY16" fmla="*/ 11800 h 200776"/>
                    <a:gd name="csX17" fmla="*/ 0 w 292500"/>
                    <a:gd name="csY17" fmla="*/ 11800 h 200776"/>
                    <a:gd name="csX18" fmla="*/ 14625 w 292500"/>
                    <a:gd name="csY18" fmla="*/ 23599 h 200776"/>
                    <a:gd name="csX19" fmla="*/ 24375 w 292500"/>
                    <a:gd name="csY19" fmla="*/ 23599 h 200776"/>
                    <a:gd name="csX20" fmla="*/ 24375 w 292500"/>
                    <a:gd name="csY20" fmla="*/ 63101 h 200776"/>
                    <a:gd name="csX21" fmla="*/ 51758 w 292500"/>
                    <a:gd name="csY21" fmla="*/ 89945 h 200776"/>
                    <a:gd name="csX22" fmla="*/ 69849 w 292500"/>
                    <a:gd name="csY22" fmla="*/ 98330 h 200776"/>
                    <a:gd name="csX23" fmla="*/ 136500 w 292500"/>
                    <a:gd name="csY23" fmla="*/ 98330 h 200776"/>
                    <a:gd name="csX24" fmla="*/ 136500 w 292500"/>
                    <a:gd name="csY24" fmla="*/ 145529 h 200776"/>
                    <a:gd name="csX25" fmla="*/ 98036 w 292500"/>
                    <a:gd name="csY25" fmla="*/ 145529 h 200776"/>
                    <a:gd name="csX26" fmla="*/ 59821 w 292500"/>
                    <a:gd name="csY26" fmla="*/ 170733 h 200776"/>
                    <a:gd name="csX27" fmla="*/ 50687 w 292500"/>
                    <a:gd name="csY27" fmla="*/ 191727 h 200776"/>
                    <a:gd name="csX28" fmla="*/ 76708 w 292500"/>
                    <a:gd name="csY28" fmla="*/ 199096 h 200776"/>
                    <a:gd name="csX29" fmla="*/ 85842 w 292500"/>
                    <a:gd name="csY29" fmla="*/ 178102 h 200776"/>
                    <a:gd name="csX30" fmla="*/ 79594 w 292500"/>
                    <a:gd name="csY30" fmla="*/ 172110 h 200776"/>
                    <a:gd name="csX31" fmla="*/ 98036 w 292500"/>
                    <a:gd name="csY31" fmla="*/ 161262 h 200776"/>
                    <a:gd name="csX32" fmla="*/ 136500 w 292500"/>
                    <a:gd name="csY32" fmla="*/ 161262 h 200776"/>
                    <a:gd name="csX33" fmla="*/ 136500 w 292500"/>
                    <a:gd name="csY33" fmla="*/ 171311 h 200776"/>
                    <a:gd name="csX34" fmla="*/ 129363 w 292500"/>
                    <a:gd name="csY34" fmla="*/ 192803 h 200776"/>
                    <a:gd name="csX35" fmla="*/ 156000 w 292500"/>
                    <a:gd name="csY35" fmla="*/ 198561 h 200776"/>
                    <a:gd name="csX36" fmla="*/ 163137 w 292500"/>
                    <a:gd name="csY36" fmla="*/ 177070 h 200776"/>
                    <a:gd name="csX37" fmla="*/ 156000 w 292500"/>
                    <a:gd name="csY37" fmla="*/ 171311 h 200776"/>
                    <a:gd name="csX38" fmla="*/ 156000 w 292500"/>
                    <a:gd name="csY38" fmla="*/ 161262 h 200776"/>
                    <a:gd name="csX39" fmla="*/ 195000 w 292500"/>
                    <a:gd name="csY39" fmla="*/ 161262 h 200776"/>
                    <a:gd name="csX40" fmla="*/ 213330 w 292500"/>
                    <a:gd name="csY40" fmla="*/ 171827 h 200776"/>
                    <a:gd name="csX41" fmla="*/ 207869 w 292500"/>
                    <a:gd name="csY41" fmla="*/ 193726 h 200776"/>
                    <a:gd name="csX42" fmla="*/ 235013 w 292500"/>
                    <a:gd name="csY42" fmla="*/ 198132 h 200776"/>
                    <a:gd name="csX43" fmla="*/ 240474 w 292500"/>
                    <a:gd name="csY43" fmla="*/ 176233 h 200776"/>
                    <a:gd name="csX44" fmla="*/ 233269 w 292500"/>
                    <a:gd name="csY44" fmla="*/ 170993 h 200776"/>
                    <a:gd name="csX45" fmla="*/ 195000 w 292500"/>
                    <a:gd name="csY45" fmla="*/ 145529 h 200776"/>
                    <a:gd name="csX46" fmla="*/ 156000 w 292500"/>
                    <a:gd name="csY46" fmla="*/ 145529 h 200776"/>
                    <a:gd name="csX47" fmla="*/ 156000 w 292500"/>
                    <a:gd name="csY47" fmla="*/ 98330 h 200776"/>
                    <a:gd name="csX48" fmla="*/ 222646 w 292500"/>
                    <a:gd name="csY48" fmla="*/ 98330 h 200776"/>
                    <a:gd name="csX49" fmla="*/ 240737 w 292500"/>
                    <a:gd name="csY49" fmla="*/ 89945 h 200776"/>
                    <a:gd name="csX50" fmla="*/ 268125 w 292500"/>
                    <a:gd name="csY50" fmla="*/ 63101 h 200776"/>
                    <a:gd name="csX51" fmla="*/ 268125 w 292500"/>
                    <a:gd name="csY51" fmla="*/ 23599 h 200776"/>
                    <a:gd name="csX52" fmla="*/ 277875 w 292500"/>
                    <a:gd name="csY52" fmla="*/ 23599 h 200776"/>
                    <a:gd name="csX53" fmla="*/ 292500 w 292500"/>
                    <a:gd name="csY53" fmla="*/ 11800 h 200776"/>
                    <a:gd name="csX54" fmla="*/ 292500 w 292500"/>
                    <a:gd name="csY54" fmla="*/ 11800 h 200776"/>
                    <a:gd name="csX55" fmla="*/ 277875 w 292500"/>
                    <a:gd name="csY55" fmla="*/ 0 h 2007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292500" h="200776">
                      <a:moveTo>
                        <a:pt x="277875" y="0"/>
                      </a:moveTo>
                      <a:lnTo>
                        <a:pt x="253500" y="0"/>
                      </a:lnTo>
                      <a:cubicBezTo>
                        <a:pt x="245423" y="0"/>
                        <a:pt x="238875" y="5283"/>
                        <a:pt x="238875" y="11800"/>
                      </a:cubicBezTo>
                      <a:lnTo>
                        <a:pt x="238875" y="11800"/>
                      </a:lnTo>
                      <a:cubicBezTo>
                        <a:pt x="238886" y="16786"/>
                        <a:pt x="242794" y="21224"/>
                        <a:pt x="248625" y="22876"/>
                      </a:cubicBezTo>
                      <a:lnTo>
                        <a:pt x="248625" y="63101"/>
                      </a:lnTo>
                      <a:cubicBezTo>
                        <a:pt x="248614" y="67130"/>
                        <a:pt x="246012" y="70866"/>
                        <a:pt x="241751" y="72969"/>
                      </a:cubicBezTo>
                      <a:cubicBezTo>
                        <a:pt x="238320" y="66947"/>
                        <a:pt x="230861" y="63085"/>
                        <a:pt x="222646" y="63077"/>
                      </a:cubicBezTo>
                      <a:lnTo>
                        <a:pt x="69849" y="63077"/>
                      </a:lnTo>
                      <a:cubicBezTo>
                        <a:pt x="61636" y="63086"/>
                        <a:pt x="54179" y="66949"/>
                        <a:pt x="50749" y="72969"/>
                      </a:cubicBezTo>
                      <a:cubicBezTo>
                        <a:pt x="46488" y="70866"/>
                        <a:pt x="43886" y="67130"/>
                        <a:pt x="43875" y="63101"/>
                      </a:cubicBezTo>
                      <a:lnTo>
                        <a:pt x="43875" y="22876"/>
                      </a:lnTo>
                      <a:cubicBezTo>
                        <a:pt x="49705" y="21222"/>
                        <a:pt x="53611" y="16785"/>
                        <a:pt x="53625" y="11800"/>
                      </a:cubicBezTo>
                      <a:lnTo>
                        <a:pt x="53625" y="11800"/>
                      </a:lnTo>
                      <a:cubicBezTo>
                        <a:pt x="53625" y="5283"/>
                        <a:pt x="47077" y="0"/>
                        <a:pt x="39000" y="0"/>
                      </a:cubicBezTo>
                      <a:lnTo>
                        <a:pt x="14625" y="0"/>
                      </a:lnTo>
                      <a:cubicBezTo>
                        <a:pt x="6548" y="0"/>
                        <a:pt x="0" y="5283"/>
                        <a:pt x="0" y="11800"/>
                      </a:cubicBezTo>
                      <a:lnTo>
                        <a:pt x="0" y="11800"/>
                      </a:lnTo>
                      <a:cubicBezTo>
                        <a:pt x="0" y="18317"/>
                        <a:pt x="6548" y="23599"/>
                        <a:pt x="14625" y="23599"/>
                      </a:cubicBezTo>
                      <a:lnTo>
                        <a:pt x="24375" y="23599"/>
                      </a:lnTo>
                      <a:lnTo>
                        <a:pt x="24375" y="63101"/>
                      </a:lnTo>
                      <a:cubicBezTo>
                        <a:pt x="24396" y="76173"/>
                        <a:pt x="35861" y="87413"/>
                        <a:pt x="51758" y="89945"/>
                      </a:cubicBezTo>
                      <a:cubicBezTo>
                        <a:pt x="55522" y="95128"/>
                        <a:pt x="62403" y="98317"/>
                        <a:pt x="69849" y="98330"/>
                      </a:cubicBezTo>
                      <a:lnTo>
                        <a:pt x="136500" y="98330"/>
                      </a:lnTo>
                      <a:lnTo>
                        <a:pt x="136500" y="145529"/>
                      </a:lnTo>
                      <a:lnTo>
                        <a:pt x="98036" y="145529"/>
                      </a:lnTo>
                      <a:cubicBezTo>
                        <a:pt x="79499" y="145549"/>
                        <a:pt x="63532" y="156080"/>
                        <a:pt x="59821" y="170733"/>
                      </a:cubicBezTo>
                      <a:cubicBezTo>
                        <a:pt x="50114" y="174495"/>
                        <a:pt x="46024" y="183895"/>
                        <a:pt x="50687" y="191727"/>
                      </a:cubicBezTo>
                      <a:cubicBezTo>
                        <a:pt x="55350" y="199559"/>
                        <a:pt x="67000" y="202859"/>
                        <a:pt x="76708" y="199096"/>
                      </a:cubicBezTo>
                      <a:cubicBezTo>
                        <a:pt x="86415" y="195334"/>
                        <a:pt x="90505" y="185935"/>
                        <a:pt x="85842" y="178102"/>
                      </a:cubicBezTo>
                      <a:cubicBezTo>
                        <a:pt x="84418" y="175712"/>
                        <a:pt x="82270" y="173650"/>
                        <a:pt x="79594" y="172110"/>
                      </a:cubicBezTo>
                      <a:cubicBezTo>
                        <a:pt x="82193" y="165660"/>
                        <a:pt x="89630" y="161285"/>
                        <a:pt x="98036" y="161262"/>
                      </a:cubicBezTo>
                      <a:lnTo>
                        <a:pt x="136500" y="161262"/>
                      </a:lnTo>
                      <a:lnTo>
                        <a:pt x="136500" y="171311"/>
                      </a:lnTo>
                      <a:cubicBezTo>
                        <a:pt x="127173" y="175656"/>
                        <a:pt x="123978" y="185278"/>
                        <a:pt x="129363" y="192803"/>
                      </a:cubicBezTo>
                      <a:cubicBezTo>
                        <a:pt x="134747" y="200328"/>
                        <a:pt x="146673" y="202906"/>
                        <a:pt x="156000" y="198561"/>
                      </a:cubicBezTo>
                      <a:cubicBezTo>
                        <a:pt x="165327" y="194217"/>
                        <a:pt x="168522" y="184595"/>
                        <a:pt x="163137" y="177070"/>
                      </a:cubicBezTo>
                      <a:cubicBezTo>
                        <a:pt x="161426" y="174678"/>
                        <a:pt x="158964" y="172692"/>
                        <a:pt x="156000" y="171311"/>
                      </a:cubicBezTo>
                      <a:lnTo>
                        <a:pt x="156000" y="161262"/>
                      </a:lnTo>
                      <a:lnTo>
                        <a:pt x="195000" y="161262"/>
                      </a:lnTo>
                      <a:cubicBezTo>
                        <a:pt x="203272" y="161281"/>
                        <a:pt x="210625" y="165519"/>
                        <a:pt x="213330" y="171827"/>
                      </a:cubicBezTo>
                      <a:cubicBezTo>
                        <a:pt x="204326" y="176657"/>
                        <a:pt x="201882" y="186462"/>
                        <a:pt x="207869" y="193726"/>
                      </a:cubicBezTo>
                      <a:cubicBezTo>
                        <a:pt x="213856" y="200991"/>
                        <a:pt x="226009" y="202963"/>
                        <a:pt x="235013" y="198132"/>
                      </a:cubicBezTo>
                      <a:cubicBezTo>
                        <a:pt x="244016" y="193302"/>
                        <a:pt x="246461" y="183497"/>
                        <a:pt x="240474" y="176233"/>
                      </a:cubicBezTo>
                      <a:cubicBezTo>
                        <a:pt x="238655" y="174026"/>
                        <a:pt x="236177" y="172224"/>
                        <a:pt x="233269" y="170993"/>
                      </a:cubicBezTo>
                      <a:cubicBezTo>
                        <a:pt x="229689" y="156219"/>
                        <a:pt x="213658" y="145552"/>
                        <a:pt x="195000" y="145529"/>
                      </a:cubicBezTo>
                      <a:lnTo>
                        <a:pt x="156000" y="145529"/>
                      </a:lnTo>
                      <a:lnTo>
                        <a:pt x="156000" y="98330"/>
                      </a:lnTo>
                      <a:lnTo>
                        <a:pt x="222646" y="98330"/>
                      </a:lnTo>
                      <a:cubicBezTo>
                        <a:pt x="230092" y="98318"/>
                        <a:pt x="236974" y="95128"/>
                        <a:pt x="240737" y="89945"/>
                      </a:cubicBezTo>
                      <a:cubicBezTo>
                        <a:pt x="256634" y="87412"/>
                        <a:pt x="268100" y="76173"/>
                        <a:pt x="268125" y="63101"/>
                      </a:cubicBezTo>
                      <a:lnTo>
                        <a:pt x="268125" y="23599"/>
                      </a:lnTo>
                      <a:lnTo>
                        <a:pt x="277875" y="23599"/>
                      </a:lnTo>
                      <a:cubicBezTo>
                        <a:pt x="285952" y="23599"/>
                        <a:pt x="292500" y="18317"/>
                        <a:pt x="292500" y="11800"/>
                      </a:cubicBezTo>
                      <a:lnTo>
                        <a:pt x="292500" y="11800"/>
                      </a:lnTo>
                      <a:cubicBezTo>
                        <a:pt x="292500" y="5283"/>
                        <a:pt x="285952" y="0"/>
                        <a:pt x="277875" y="0"/>
                      </a:cubicBezTo>
                      <a:close/>
                    </a:path>
                  </a:pathLst>
                </a:custGeom>
                <a:solidFill>
                  <a:srgbClr val="008000"/>
                </a:solidFill>
                <a:ln w="486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grpSp>
          <p:sp>
            <p:nvSpPr>
              <p:cNvPr id="211" name="table_TWformat_2_1">
                <a:extLst>
                  <a:ext uri="{FF2B5EF4-FFF2-40B4-BE49-F238E27FC236}">
                    <a16:creationId xmlns:a16="http://schemas.microsoft.com/office/drawing/2014/main" id="{9BC47E8E-0E69-22C3-0A64-EDA197FE3809}"/>
                  </a:ext>
                </a:extLst>
              </p:cNvPr>
              <p:cNvSpPr txBox="1"/>
              <p:nvPr/>
            </p:nvSpPr>
            <p:spPr>
              <a:xfrm>
                <a:off x="6143613" y="2899983"/>
                <a:ext cx="612000" cy="266078"/>
              </a:xfrm>
              <a:prstGeom prst="rect">
                <a:avLst/>
              </a:prstGeom>
              <a:noFill/>
            </p:spPr>
            <p:txBody>
              <a:bodyPr vert="horz" wrap="square" lIns="0" tIns="0" rIns="0" bIns="36000" rtlCol="0" anchor="ctr">
                <a:noAutofit/>
              </a:body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1000" b="0" i="0" u="none" strike="noStrike" kern="1200" cap="none" spc="0" normalizeH="0" baseline="0" noProof="0">
                    <a:ln>
                      <a:noFill/>
                    </a:ln>
                    <a:solidFill>
                      <a:srgbClr val="008000"/>
                    </a:solidFill>
                    <a:effectLst/>
                    <a:uLnTx/>
                    <a:uFillTx/>
                    <a:latin typeface="Meiryo UI"/>
                    <a:ea typeface="Meiryo UI"/>
                    <a:cs typeface="+mn-cs"/>
                  </a:rPr>
                  <a:t>オーナー</a:t>
                </a:r>
              </a:p>
            </p:txBody>
          </p:sp>
        </p:grpSp>
      </p:grpSp>
      <p:sp>
        <p:nvSpPr>
          <p:cNvPr id="29" name="table_TWformat_1_3">
            <a:extLst>
              <a:ext uri="{FF2B5EF4-FFF2-40B4-BE49-F238E27FC236}">
                <a16:creationId xmlns:a16="http://schemas.microsoft.com/office/drawing/2014/main" id="{5706A809-BDDD-5076-4DAC-8914A8FA4C78}"/>
              </a:ext>
            </a:extLst>
          </p:cNvPr>
          <p:cNvSpPr txBox="1"/>
          <p:nvPr/>
        </p:nvSpPr>
        <p:spPr>
          <a:xfrm>
            <a:off x="8195822" y="2318611"/>
            <a:ext cx="3663818" cy="216479"/>
          </a:xfrm>
          <a:prstGeom prst="rect">
            <a:avLst/>
          </a:prstGeom>
          <a:noFill/>
        </p:spPr>
        <p:txBody>
          <a:bodyPr vert="horz" wrap="squar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主な役割 </a:t>
            </a:r>
            <a:r>
              <a:rPr kumimoji="1" lang="en-US" altLang="ja-JP" sz="1400" b="0" i="0" u="none" strike="noStrike" kern="1200" cap="none" spc="0" normalizeH="0" baseline="0" noProof="0">
                <a:ln>
                  <a:noFill/>
                </a:ln>
                <a:solidFill>
                  <a:prstClr val="black"/>
                </a:solidFill>
                <a:effectLst/>
                <a:uLnTx/>
                <a:uFillTx/>
                <a:latin typeface="Meiryo UI"/>
                <a:ea typeface="Meiryo UI"/>
                <a:cs typeface="+mn-cs"/>
              </a:rPr>
              <a:t>(</a:t>
            </a: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例</a:t>
            </a:r>
            <a:r>
              <a:rPr kumimoji="1" lang="en-US" altLang="ja-JP" sz="1400" b="0" i="0" u="none" strike="noStrike" kern="1200" cap="none" spc="0" normalizeH="0" baseline="0" noProof="0">
                <a:ln>
                  <a:noFill/>
                </a:ln>
                <a:solidFill>
                  <a:prstClr val="black"/>
                </a:solidFill>
                <a:effectLst/>
                <a:uLnTx/>
                <a:uFillTx/>
                <a:latin typeface="Meiryo UI"/>
                <a:ea typeface="Meiryo UI"/>
                <a:cs typeface="+mn-cs"/>
              </a:rPr>
              <a:t>)</a:t>
            </a:r>
            <a:endParaRPr kumimoji="1" lang="ja-JP" altLang="en-US" sz="1400" b="0" i="0" u="none" strike="noStrike" kern="1200" cap="none" spc="0" normalizeH="0" baseline="0" noProof="0">
              <a:ln>
                <a:noFill/>
              </a:ln>
              <a:solidFill>
                <a:prstClr val="black"/>
              </a:solidFill>
              <a:effectLst/>
              <a:uLnTx/>
              <a:uFillTx/>
              <a:latin typeface="Meiryo UI"/>
              <a:ea typeface="Meiryo UI"/>
              <a:cs typeface="+mn-cs"/>
            </a:endParaRPr>
          </a:p>
        </p:txBody>
      </p:sp>
      <p:sp>
        <p:nvSpPr>
          <p:cNvPr id="49" name="テキスト ボックス 18">
            <a:extLst>
              <a:ext uri="{FF2B5EF4-FFF2-40B4-BE49-F238E27FC236}">
                <a16:creationId xmlns:a16="http://schemas.microsoft.com/office/drawing/2014/main" id="{D28537D4-A7E6-0EF1-3119-BB6CEC65C9E1}"/>
              </a:ext>
            </a:extLst>
          </p:cNvPr>
          <p:cNvSpPr txBox="1"/>
          <p:nvPr/>
        </p:nvSpPr>
        <p:spPr>
          <a:xfrm>
            <a:off x="9202760" y="4227798"/>
            <a:ext cx="2664595" cy="227903"/>
          </a:xfrm>
          <a:prstGeom prst="rect">
            <a:avLst/>
          </a:prstGeom>
          <a:noFill/>
        </p:spPr>
        <p:txBody>
          <a:bodyPr wrap="square" lIns="36000" tIns="54000" rIns="36000" bIns="36000" rtlCol="0" anchor="ctr">
            <a:noAutofit/>
          </a:bodyPr>
          <a:lstStyle/>
          <a:p>
            <a:pPr marL="0" marR="0" lvl="0" indent="0" algn="l"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スケジュール、予算、品質、リスクの統合管理を行い、</a:t>
            </a:r>
            <a:br>
              <a:rPr kumimoji="1" lang="en-US" altLang="ja-JP" sz="800" b="0" i="0" u="none" strike="noStrike" kern="1200" cap="none" spc="0" normalizeH="0" baseline="0" noProof="0">
                <a:ln>
                  <a:noFill/>
                </a:ln>
                <a:solidFill>
                  <a:prstClr val="black"/>
                </a:solidFill>
                <a:effectLst/>
                <a:uLnTx/>
                <a:uFillTx/>
                <a:latin typeface="Meiryo UI"/>
                <a:ea typeface="Meiryo UI"/>
                <a:cs typeface="+mn-cs"/>
              </a:rPr>
            </a:b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計画通りの完遂を指揮する</a:t>
            </a:r>
          </a:p>
        </p:txBody>
      </p:sp>
      <p:sp>
        <p:nvSpPr>
          <p:cNvPr id="52" name="テキスト ボックス 18">
            <a:extLst>
              <a:ext uri="{FF2B5EF4-FFF2-40B4-BE49-F238E27FC236}">
                <a16:creationId xmlns:a16="http://schemas.microsoft.com/office/drawing/2014/main" id="{A7B02814-894A-D0C3-4F0B-990B4BC637F7}"/>
              </a:ext>
            </a:extLst>
          </p:cNvPr>
          <p:cNvSpPr txBox="1"/>
          <p:nvPr/>
        </p:nvSpPr>
        <p:spPr>
          <a:xfrm>
            <a:off x="9202760" y="4489084"/>
            <a:ext cx="2664595" cy="227631"/>
          </a:xfrm>
          <a:prstGeom prst="rect">
            <a:avLst/>
          </a:prstGeom>
          <a:noFill/>
        </p:spPr>
        <p:txBody>
          <a:bodyPr wrap="square" lIns="36000" tIns="54000" rIns="36000" bIns="36000" rtlCol="0" anchor="ctr">
            <a:noAutofit/>
          </a:bodyPr>
          <a:lstStyle/>
          <a:p>
            <a:pPr marL="0" marR="0" lvl="0" indent="0" algn="l"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発生した課題の集約・分析を行い、意思決定層への</a:t>
            </a:r>
            <a:br>
              <a:rPr kumimoji="1" lang="en-US" altLang="ja-JP" sz="800" b="0" i="0" u="none" strike="noStrike" kern="1200" cap="none" spc="0" normalizeH="0" baseline="0" noProof="0">
                <a:ln>
                  <a:noFill/>
                </a:ln>
                <a:solidFill>
                  <a:prstClr val="black"/>
                </a:solidFill>
                <a:effectLst/>
                <a:uLnTx/>
                <a:uFillTx/>
                <a:latin typeface="Meiryo UI"/>
                <a:ea typeface="Meiryo UI"/>
                <a:cs typeface="+mn-cs"/>
              </a:rPr>
            </a:b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迅速な報告と対策案の提示を行う</a:t>
            </a:r>
          </a:p>
        </p:txBody>
      </p:sp>
      <p:grpSp>
        <p:nvGrpSpPr>
          <p:cNvPr id="307" name="グループ化 306">
            <a:extLst>
              <a:ext uri="{FF2B5EF4-FFF2-40B4-BE49-F238E27FC236}">
                <a16:creationId xmlns:a16="http://schemas.microsoft.com/office/drawing/2014/main" id="{3D9D568A-1316-71EF-8F4E-24763CBFCAE4}"/>
              </a:ext>
            </a:extLst>
          </p:cNvPr>
          <p:cNvGrpSpPr/>
          <p:nvPr/>
        </p:nvGrpSpPr>
        <p:grpSpPr>
          <a:xfrm>
            <a:off x="8217857" y="4227936"/>
            <a:ext cx="915954" cy="750475"/>
            <a:chOff x="8217857" y="3999336"/>
            <a:chExt cx="915954" cy="750475"/>
          </a:xfrm>
        </p:grpSpPr>
        <p:sp>
          <p:nvSpPr>
            <p:cNvPr id="47" name="テキスト ボックス 18">
              <a:extLst>
                <a:ext uri="{FF2B5EF4-FFF2-40B4-BE49-F238E27FC236}">
                  <a16:creationId xmlns:a16="http://schemas.microsoft.com/office/drawing/2014/main" id="{91263A66-41BE-F5DF-40E2-1658C52690F0}"/>
                </a:ext>
              </a:extLst>
            </p:cNvPr>
            <p:cNvSpPr txBox="1"/>
            <p:nvPr/>
          </p:nvSpPr>
          <p:spPr>
            <a:xfrm>
              <a:off x="8217857" y="3999336"/>
              <a:ext cx="915954" cy="227903"/>
            </a:xfrm>
            <a:prstGeom prst="rect">
              <a:avLst/>
            </a:prstGeom>
            <a:noFill/>
            <a:ln>
              <a:solidFill>
                <a:srgbClr val="008000"/>
              </a:solidFill>
            </a:ln>
          </p:spPr>
          <p:txBody>
            <a:bodyPr wrap="none" lIns="18000" tIns="54000" rIns="18000" bIns="36000" rtlCol="0" anchor="ctr">
              <a:noAutofit/>
            </a:body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実行計画の管理</a:t>
              </a:r>
            </a:p>
          </p:txBody>
        </p:sp>
        <p:sp>
          <p:nvSpPr>
            <p:cNvPr id="50" name="テキスト ボックス 18">
              <a:extLst>
                <a:ext uri="{FF2B5EF4-FFF2-40B4-BE49-F238E27FC236}">
                  <a16:creationId xmlns:a16="http://schemas.microsoft.com/office/drawing/2014/main" id="{84425557-4942-73B4-E21F-86EC0FCA3FCE}"/>
                </a:ext>
              </a:extLst>
            </p:cNvPr>
            <p:cNvSpPr txBox="1"/>
            <p:nvPr/>
          </p:nvSpPr>
          <p:spPr>
            <a:xfrm>
              <a:off x="8217857" y="4260894"/>
              <a:ext cx="915954" cy="227631"/>
            </a:xfrm>
            <a:prstGeom prst="rect">
              <a:avLst/>
            </a:prstGeom>
            <a:noFill/>
            <a:ln>
              <a:solidFill>
                <a:srgbClr val="008000"/>
              </a:solidFill>
            </a:ln>
          </p:spPr>
          <p:txBody>
            <a:bodyPr wrap="none" lIns="18000" tIns="54000" rIns="18000" bIns="36000" rtlCol="0" anchor="ctr">
              <a:noAutofit/>
            </a:bodyPr>
            <a:lstStyle>
              <a:defPPr>
                <a:defRPr lang="ja-JP"/>
              </a:defPPr>
              <a:lvl1pPr algn="ctr">
                <a:buClr>
                  <a:schemeClr val="accent1"/>
                </a:buClr>
                <a:defRPr sz="900">
                  <a:solidFill>
                    <a:srgbClr val="008000"/>
                  </a:solidFill>
                </a:defRPr>
              </a:lvl1p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課題解決の推進</a:t>
              </a:r>
            </a:p>
          </p:txBody>
        </p:sp>
        <p:sp>
          <p:nvSpPr>
            <p:cNvPr id="53" name="テキスト ボックス 18">
              <a:extLst>
                <a:ext uri="{FF2B5EF4-FFF2-40B4-BE49-F238E27FC236}">
                  <a16:creationId xmlns:a16="http://schemas.microsoft.com/office/drawing/2014/main" id="{37BCD3EF-2C28-38A6-95C0-28B30DC065F7}"/>
                </a:ext>
              </a:extLst>
            </p:cNvPr>
            <p:cNvSpPr txBox="1"/>
            <p:nvPr/>
          </p:nvSpPr>
          <p:spPr>
            <a:xfrm>
              <a:off x="8217857" y="4522077"/>
              <a:ext cx="915954" cy="227734"/>
            </a:xfrm>
            <a:prstGeom prst="rect">
              <a:avLst/>
            </a:prstGeom>
            <a:noFill/>
            <a:ln>
              <a:solidFill>
                <a:srgbClr val="008000"/>
              </a:solidFill>
            </a:ln>
          </p:spPr>
          <p:txBody>
            <a:bodyPr wrap="none" lIns="18000" tIns="54000" rIns="18000" bIns="36000" rtlCol="0" anchor="ctr">
              <a:noAutofit/>
            </a:bodyPr>
            <a:lstStyle>
              <a:defPPr>
                <a:defRPr lang="ja-JP"/>
              </a:defPPr>
              <a:lvl1pPr algn="ctr">
                <a:buClr>
                  <a:schemeClr val="accent1"/>
                </a:buClr>
                <a:defRPr sz="900">
                  <a:solidFill>
                    <a:srgbClr val="008000"/>
                  </a:solidFill>
                </a:defRPr>
              </a:lvl1p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多角的な連携</a:t>
              </a:r>
            </a:p>
          </p:txBody>
        </p:sp>
      </p:grpSp>
      <p:sp>
        <p:nvSpPr>
          <p:cNvPr id="55" name="テキスト ボックス 18">
            <a:extLst>
              <a:ext uri="{FF2B5EF4-FFF2-40B4-BE49-F238E27FC236}">
                <a16:creationId xmlns:a16="http://schemas.microsoft.com/office/drawing/2014/main" id="{818FD8EA-4776-90F6-01A5-54E5070A8CA6}"/>
              </a:ext>
            </a:extLst>
          </p:cNvPr>
          <p:cNvSpPr txBox="1"/>
          <p:nvPr/>
        </p:nvSpPr>
        <p:spPr>
          <a:xfrm>
            <a:off x="9202760" y="4750370"/>
            <a:ext cx="2664595" cy="227734"/>
          </a:xfrm>
          <a:prstGeom prst="rect">
            <a:avLst/>
          </a:prstGeom>
          <a:noFill/>
        </p:spPr>
        <p:txBody>
          <a:bodyPr wrap="square" lIns="36000" tIns="54000" rIns="36000" bIns="36000" rtlCol="0" anchor="ctr">
            <a:noAutofit/>
          </a:bodyPr>
          <a:lstStyle/>
          <a:p>
            <a:pPr marL="0" marR="0" lvl="0" indent="0" algn="l"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各部門と外部パートナー間のコミュニケーションを構造化し、連携を最適化する</a:t>
            </a:r>
          </a:p>
        </p:txBody>
      </p:sp>
      <p:sp>
        <p:nvSpPr>
          <p:cNvPr id="58" name="テキスト ボックス 18">
            <a:extLst>
              <a:ext uri="{FF2B5EF4-FFF2-40B4-BE49-F238E27FC236}">
                <a16:creationId xmlns:a16="http://schemas.microsoft.com/office/drawing/2014/main" id="{EF921D17-53A6-7981-5317-813D22DD8646}"/>
              </a:ext>
            </a:extLst>
          </p:cNvPr>
          <p:cNvSpPr txBox="1"/>
          <p:nvPr/>
        </p:nvSpPr>
        <p:spPr>
          <a:xfrm>
            <a:off x="9202760" y="5011656"/>
            <a:ext cx="2664595" cy="227837"/>
          </a:xfrm>
          <a:prstGeom prst="rect">
            <a:avLst/>
          </a:prstGeom>
          <a:noFill/>
        </p:spPr>
        <p:txBody>
          <a:bodyPr wrap="square" lIns="36000" tIns="54000" rIns="36000" bIns="36000" rtlCol="0" anchor="ctr">
            <a:noAutofit/>
          </a:bodyPr>
          <a:lstStyle/>
          <a:p>
            <a:pPr marL="0" marR="0" lvl="0" indent="0" algn="l" defTabSz="914400" rtl="0" eaLnBrk="1" fontAlgn="auto" latinLnBrk="0" hangingPunct="1">
              <a:lnSpc>
                <a:spcPct val="100000"/>
              </a:lnSpc>
              <a:spcBef>
                <a:spcPts val="0"/>
              </a:spcBef>
              <a:spcAft>
                <a:spcPts val="0"/>
              </a:spcAft>
              <a:buClr>
                <a:srgbClr val="5B9BD5"/>
              </a:buClr>
              <a:buSzTx/>
              <a:buFontTx/>
              <a:buNone/>
              <a:tabLst/>
              <a:defRPr/>
            </a:pPr>
            <a:r>
              <a:rPr kumimoji="1" lang="en-US" altLang="ja-JP" sz="800" b="0" i="0" u="none" strike="noStrike" kern="1200" cap="none" spc="0" normalizeH="0" baseline="0" noProof="0">
                <a:ln>
                  <a:noFill/>
                </a:ln>
                <a:solidFill>
                  <a:prstClr val="black"/>
                </a:solidFill>
                <a:effectLst/>
                <a:uLnTx/>
                <a:uFillTx/>
                <a:latin typeface="Meiryo UI"/>
                <a:ea typeface="Meiryo UI"/>
                <a:cs typeface="+mn-cs"/>
              </a:rPr>
              <a:t>SSBJ</a:t>
            </a: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基準の解釈、開示戦略の策定、</a:t>
            </a:r>
            <a:r>
              <a:rPr kumimoji="1" lang="en-US" altLang="ja-JP" sz="800" b="0" i="0" u="none" strike="noStrike" kern="1200" cap="none" spc="0" normalizeH="0" baseline="0" noProof="0">
                <a:ln>
                  <a:noFill/>
                </a:ln>
                <a:solidFill>
                  <a:prstClr val="black"/>
                </a:solidFill>
                <a:effectLst/>
                <a:uLnTx/>
                <a:uFillTx/>
                <a:latin typeface="Meiryo UI"/>
                <a:ea typeface="Meiryo UI"/>
                <a:cs typeface="+mn-cs"/>
              </a:rPr>
              <a:t>Scope </a:t>
            </a:r>
            <a:br>
              <a:rPr kumimoji="1" lang="en-US" altLang="ja-JP" sz="800" b="0" i="0" u="none" strike="noStrike" kern="1200" cap="none" spc="0" normalizeH="0" baseline="0" noProof="0">
                <a:ln>
                  <a:noFill/>
                </a:ln>
                <a:solidFill>
                  <a:prstClr val="black"/>
                </a:solidFill>
                <a:effectLst/>
                <a:uLnTx/>
                <a:uFillTx/>
                <a:latin typeface="Meiryo UI"/>
                <a:ea typeface="Meiryo UI"/>
                <a:cs typeface="+mn-cs"/>
              </a:rPr>
            </a:br>
            <a:r>
              <a:rPr kumimoji="1" lang="en-US" altLang="ja-JP" sz="800" b="0" i="0" u="none" strike="noStrike" kern="1200" cap="none" spc="0" normalizeH="0" baseline="0" noProof="0">
                <a:ln>
                  <a:noFill/>
                </a:ln>
                <a:solidFill>
                  <a:prstClr val="black"/>
                </a:solidFill>
                <a:effectLst/>
                <a:uLnTx/>
                <a:uFillTx/>
                <a:latin typeface="Meiryo UI"/>
                <a:ea typeface="Meiryo UI"/>
                <a:cs typeface="+mn-cs"/>
              </a:rPr>
              <a:t>3</a:t>
            </a: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カテゴリ定義の決定、サプライヤー連携の主導</a:t>
            </a:r>
          </a:p>
        </p:txBody>
      </p:sp>
      <p:sp>
        <p:nvSpPr>
          <p:cNvPr id="61" name="テキスト ボックス 18">
            <a:extLst>
              <a:ext uri="{FF2B5EF4-FFF2-40B4-BE49-F238E27FC236}">
                <a16:creationId xmlns:a16="http://schemas.microsoft.com/office/drawing/2014/main" id="{0DC4E79F-89BE-BE54-20DA-C9C1BFFD3F04}"/>
              </a:ext>
            </a:extLst>
          </p:cNvPr>
          <p:cNvSpPr txBox="1"/>
          <p:nvPr/>
        </p:nvSpPr>
        <p:spPr>
          <a:xfrm>
            <a:off x="9202760" y="5272942"/>
            <a:ext cx="2664595" cy="227940"/>
          </a:xfrm>
          <a:prstGeom prst="rect">
            <a:avLst/>
          </a:prstGeom>
          <a:noFill/>
        </p:spPr>
        <p:txBody>
          <a:bodyPr wrap="square" lIns="36000" tIns="54000" rIns="36000" bIns="36000" rtlCol="0" anchor="ctr">
            <a:noAutofit/>
          </a:bodyPr>
          <a:lstStyle/>
          <a:p>
            <a:pPr marL="0" marR="0" lvl="0" indent="0" algn="l"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国内拠点における一次データの入力・承認、</a:t>
            </a:r>
            <a:r>
              <a:rPr kumimoji="1" lang="en-US" altLang="ja-JP" sz="800" b="0" i="0" u="none" strike="noStrike" kern="1200" cap="none" spc="0" normalizeH="0" baseline="0" noProof="0">
                <a:ln>
                  <a:noFill/>
                </a:ln>
                <a:solidFill>
                  <a:prstClr val="black"/>
                </a:solidFill>
                <a:effectLst/>
                <a:uLnTx/>
                <a:uFillTx/>
                <a:latin typeface="Meiryo UI"/>
                <a:ea typeface="Meiryo UI"/>
                <a:cs typeface="+mn-cs"/>
              </a:rPr>
              <a:t>Scope 3</a:t>
            </a: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削減施策の推進、証憑のデジタル紐付け</a:t>
            </a:r>
          </a:p>
        </p:txBody>
      </p:sp>
      <p:grpSp>
        <p:nvGrpSpPr>
          <p:cNvPr id="309" name="グループ化 308">
            <a:extLst>
              <a:ext uri="{FF2B5EF4-FFF2-40B4-BE49-F238E27FC236}">
                <a16:creationId xmlns:a16="http://schemas.microsoft.com/office/drawing/2014/main" id="{13F21DAD-7479-C717-C55D-677FCA725C4E}"/>
              </a:ext>
            </a:extLst>
          </p:cNvPr>
          <p:cNvGrpSpPr/>
          <p:nvPr/>
        </p:nvGrpSpPr>
        <p:grpSpPr>
          <a:xfrm>
            <a:off x="8217857" y="5011860"/>
            <a:ext cx="915954" cy="750409"/>
            <a:chOff x="8217857" y="4783260"/>
            <a:chExt cx="915954" cy="750409"/>
          </a:xfrm>
        </p:grpSpPr>
        <p:sp>
          <p:nvSpPr>
            <p:cNvPr id="56" name="テキスト ボックス 18">
              <a:extLst>
                <a:ext uri="{FF2B5EF4-FFF2-40B4-BE49-F238E27FC236}">
                  <a16:creationId xmlns:a16="http://schemas.microsoft.com/office/drawing/2014/main" id="{B98BB26A-630A-53BE-E3A1-3BCBAAE9D4CD}"/>
                </a:ext>
              </a:extLst>
            </p:cNvPr>
            <p:cNvSpPr txBox="1"/>
            <p:nvPr/>
          </p:nvSpPr>
          <p:spPr>
            <a:xfrm>
              <a:off x="8217857" y="4783260"/>
              <a:ext cx="915954" cy="227837"/>
            </a:xfrm>
            <a:prstGeom prst="rect">
              <a:avLst/>
            </a:prstGeom>
            <a:noFill/>
            <a:ln>
              <a:solidFill>
                <a:srgbClr val="008000"/>
              </a:solidFill>
            </a:ln>
          </p:spPr>
          <p:txBody>
            <a:bodyPr wrap="none" lIns="18000" tIns="54000" rIns="18000" bIns="36000" rtlCol="0" anchor="ctr">
              <a:noAutofit/>
            </a:body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cs typeface="+mn-cs"/>
                </a:rPr>
                <a:t>ESG</a:t>
              </a: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企画室</a:t>
              </a:r>
            </a:p>
          </p:txBody>
        </p:sp>
        <p:sp>
          <p:nvSpPr>
            <p:cNvPr id="59" name="テキスト ボックス 18">
              <a:extLst>
                <a:ext uri="{FF2B5EF4-FFF2-40B4-BE49-F238E27FC236}">
                  <a16:creationId xmlns:a16="http://schemas.microsoft.com/office/drawing/2014/main" id="{00F39B3B-400B-3323-F524-6B580750F19C}"/>
                </a:ext>
              </a:extLst>
            </p:cNvPr>
            <p:cNvSpPr txBox="1"/>
            <p:nvPr/>
          </p:nvSpPr>
          <p:spPr>
            <a:xfrm>
              <a:off x="8217857" y="5044443"/>
              <a:ext cx="915954" cy="227940"/>
            </a:xfrm>
            <a:prstGeom prst="rect">
              <a:avLst/>
            </a:prstGeom>
            <a:noFill/>
            <a:ln>
              <a:solidFill>
                <a:srgbClr val="008000"/>
              </a:solidFill>
            </a:ln>
          </p:spPr>
          <p:txBody>
            <a:bodyPr wrap="none" lIns="18000" tIns="54000" rIns="18000" bIns="36000" rtlCol="0" anchor="ctr">
              <a:noAutofit/>
            </a:bodyPr>
            <a:lstStyle>
              <a:defPPr>
                <a:defRPr lang="ja-JP"/>
              </a:defPPr>
              <a:lvl1pPr algn="ctr">
                <a:buClr>
                  <a:schemeClr val="accent1"/>
                </a:buClr>
                <a:defRPr sz="900">
                  <a:solidFill>
                    <a:srgbClr val="008000"/>
                  </a:solidFill>
                </a:defRPr>
              </a:lvl1p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国内</a:t>
              </a:r>
              <a:r>
                <a:rPr kumimoji="1" lang="en-US" altLang="ja-JP" sz="900" b="0" i="0" u="none" strike="noStrike" kern="1200" cap="none" spc="0" normalizeH="0" baseline="0" noProof="0" dirty="0">
                  <a:ln>
                    <a:noFill/>
                  </a:ln>
                  <a:solidFill>
                    <a:srgbClr val="000000"/>
                  </a:solidFill>
                  <a:effectLst/>
                  <a:uLnTx/>
                  <a:uFillTx/>
                  <a:latin typeface="Meiryo UI"/>
                  <a:ea typeface="Meiryo UI"/>
                  <a:cs typeface="+mn-cs"/>
                </a:rPr>
                <a:t>BU</a:t>
              </a:r>
              <a:endParaRPr kumimoji="1" lang="ja-JP" altLang="en-US" sz="900" b="0" i="0" u="none" strike="noStrike" kern="1200" cap="none" spc="0" normalizeH="0" baseline="0" noProof="0" dirty="0">
                <a:ln>
                  <a:noFill/>
                </a:ln>
                <a:solidFill>
                  <a:srgbClr val="000000"/>
                </a:solidFill>
                <a:effectLst/>
                <a:uLnTx/>
                <a:uFillTx/>
                <a:latin typeface="Meiryo UI"/>
                <a:ea typeface="Meiryo UI"/>
                <a:cs typeface="+mn-cs"/>
              </a:endParaRPr>
            </a:p>
          </p:txBody>
        </p:sp>
        <p:sp>
          <p:nvSpPr>
            <p:cNvPr id="62" name="テキスト ボックス 18">
              <a:extLst>
                <a:ext uri="{FF2B5EF4-FFF2-40B4-BE49-F238E27FC236}">
                  <a16:creationId xmlns:a16="http://schemas.microsoft.com/office/drawing/2014/main" id="{218CC1BF-A2F9-883E-3BAD-2883227816DF}"/>
                </a:ext>
              </a:extLst>
            </p:cNvPr>
            <p:cNvSpPr txBox="1"/>
            <p:nvPr/>
          </p:nvSpPr>
          <p:spPr>
            <a:xfrm>
              <a:off x="8217857" y="5305628"/>
              <a:ext cx="915954" cy="228041"/>
            </a:xfrm>
            <a:prstGeom prst="rect">
              <a:avLst/>
            </a:prstGeom>
            <a:noFill/>
            <a:ln>
              <a:solidFill>
                <a:srgbClr val="008000"/>
              </a:solidFill>
            </a:ln>
          </p:spPr>
          <p:txBody>
            <a:bodyPr wrap="none" lIns="18000" tIns="54000" rIns="18000" bIns="36000" rtlCol="0" anchor="ctr">
              <a:noAutofit/>
            </a:bodyPr>
            <a:lstStyle>
              <a:defPPr>
                <a:defRPr lang="ja-JP"/>
              </a:defPPr>
              <a:lvl1pPr algn="ctr">
                <a:buClr>
                  <a:schemeClr val="accent1"/>
                </a:buClr>
                <a:defRPr sz="900">
                  <a:solidFill>
                    <a:srgbClr val="008000"/>
                  </a:solidFill>
                </a:defRPr>
              </a:lvl1p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海外</a:t>
              </a:r>
              <a:r>
                <a:rPr kumimoji="1" lang="en-US" altLang="ja-JP" sz="900" b="0" i="0" u="none" strike="noStrike" kern="1200" cap="none" spc="0" normalizeH="0" baseline="0" noProof="0">
                  <a:ln>
                    <a:noFill/>
                  </a:ln>
                  <a:solidFill>
                    <a:srgbClr val="000000"/>
                  </a:solidFill>
                  <a:effectLst/>
                  <a:uLnTx/>
                  <a:uFillTx/>
                  <a:latin typeface="Meiryo UI"/>
                  <a:ea typeface="Meiryo UI"/>
                  <a:cs typeface="+mn-cs"/>
                </a:rPr>
                <a:t>BU</a:t>
              </a:r>
              <a:endParaRPr kumimoji="1" lang="ja-JP" altLang="en-US" sz="900" b="0" i="0" u="none" strike="noStrike" kern="1200" cap="none" spc="0" normalizeH="0" baseline="0" noProof="0">
                <a:ln>
                  <a:noFill/>
                </a:ln>
                <a:solidFill>
                  <a:srgbClr val="000000"/>
                </a:solidFill>
                <a:effectLst/>
                <a:uLnTx/>
                <a:uFillTx/>
                <a:latin typeface="Meiryo UI"/>
                <a:ea typeface="Meiryo UI"/>
                <a:cs typeface="+mn-cs"/>
              </a:endParaRPr>
            </a:p>
          </p:txBody>
        </p:sp>
      </p:grpSp>
      <p:sp>
        <p:nvSpPr>
          <p:cNvPr id="128" name="テキスト ボックス 18">
            <a:extLst>
              <a:ext uri="{FF2B5EF4-FFF2-40B4-BE49-F238E27FC236}">
                <a16:creationId xmlns:a16="http://schemas.microsoft.com/office/drawing/2014/main" id="{735FFF0F-6DD1-2D25-F8DE-8D8C76E9A88F}"/>
              </a:ext>
            </a:extLst>
          </p:cNvPr>
          <p:cNvSpPr txBox="1"/>
          <p:nvPr/>
        </p:nvSpPr>
        <p:spPr>
          <a:xfrm>
            <a:off x="9202760" y="5534228"/>
            <a:ext cx="2664595" cy="228041"/>
          </a:xfrm>
          <a:prstGeom prst="rect">
            <a:avLst/>
          </a:prstGeom>
          <a:noFill/>
        </p:spPr>
        <p:txBody>
          <a:bodyPr wrap="square" lIns="36000" tIns="54000" rIns="36000" bIns="36000" rtlCol="0" anchor="ctr">
            <a:noAutofit/>
          </a:bodyPr>
          <a:lstStyle/>
          <a:p>
            <a:pPr marL="0" marR="0" lvl="0" indent="0" algn="l"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海外拠点のデータ収集・拠点承認、多言語・多通貨ベースでの活動データの報告、現地監査対応</a:t>
            </a:r>
          </a:p>
        </p:txBody>
      </p:sp>
      <p:sp>
        <p:nvSpPr>
          <p:cNvPr id="131" name="テキスト ボックス 18">
            <a:extLst>
              <a:ext uri="{FF2B5EF4-FFF2-40B4-BE49-F238E27FC236}">
                <a16:creationId xmlns:a16="http://schemas.microsoft.com/office/drawing/2014/main" id="{1580C66E-B23A-99E1-F4AA-60EA393DCC47}"/>
              </a:ext>
            </a:extLst>
          </p:cNvPr>
          <p:cNvSpPr txBox="1"/>
          <p:nvPr/>
        </p:nvSpPr>
        <p:spPr>
          <a:xfrm>
            <a:off x="9202760" y="5795514"/>
            <a:ext cx="2664595" cy="354297"/>
          </a:xfrm>
          <a:prstGeom prst="rect">
            <a:avLst/>
          </a:prstGeom>
          <a:noFill/>
        </p:spPr>
        <p:txBody>
          <a:bodyPr wrap="square" lIns="36000" tIns="54000" rIns="36000" bIns="36000" rtlCol="0" anchor="ctr">
            <a:noAutofit/>
          </a:bodyPr>
          <a:lstStyle/>
          <a:p>
            <a:pPr marL="0" marR="0" lvl="0" indent="0" algn="l"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有報における財務・非財務情報の同時開示の実現、財務データとの整合性検証、財務的影響の試算</a:t>
            </a:r>
          </a:p>
        </p:txBody>
      </p:sp>
      <p:grpSp>
        <p:nvGrpSpPr>
          <p:cNvPr id="311" name="グループ化 310">
            <a:extLst>
              <a:ext uri="{FF2B5EF4-FFF2-40B4-BE49-F238E27FC236}">
                <a16:creationId xmlns:a16="http://schemas.microsoft.com/office/drawing/2014/main" id="{ED69BB8A-144A-C509-A21A-6475204D2F45}"/>
              </a:ext>
            </a:extLst>
          </p:cNvPr>
          <p:cNvGrpSpPr/>
          <p:nvPr/>
        </p:nvGrpSpPr>
        <p:grpSpPr>
          <a:xfrm>
            <a:off x="8217857" y="5795514"/>
            <a:ext cx="915954" cy="741839"/>
            <a:chOff x="8217857" y="5566914"/>
            <a:chExt cx="915954" cy="741839"/>
          </a:xfrm>
        </p:grpSpPr>
        <p:sp>
          <p:nvSpPr>
            <p:cNvPr id="129" name="テキスト ボックス 18">
              <a:extLst>
                <a:ext uri="{FF2B5EF4-FFF2-40B4-BE49-F238E27FC236}">
                  <a16:creationId xmlns:a16="http://schemas.microsoft.com/office/drawing/2014/main" id="{B28CD704-BFA7-236E-7BC2-A7A97EA2A1BD}"/>
                </a:ext>
              </a:extLst>
            </p:cNvPr>
            <p:cNvSpPr txBox="1"/>
            <p:nvPr/>
          </p:nvSpPr>
          <p:spPr>
            <a:xfrm>
              <a:off x="8217857" y="5566914"/>
              <a:ext cx="915954" cy="354297"/>
            </a:xfrm>
            <a:prstGeom prst="rect">
              <a:avLst/>
            </a:prstGeom>
            <a:noFill/>
            <a:ln>
              <a:solidFill>
                <a:srgbClr val="008000"/>
              </a:solidFill>
            </a:ln>
          </p:spPr>
          <p:txBody>
            <a:bodyPr wrap="none" lIns="18000" tIns="54000" rIns="18000" bIns="36000" rtlCol="0" anchor="ctr">
              <a:noAutofit/>
            </a:body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経理部</a:t>
              </a:r>
            </a:p>
          </p:txBody>
        </p:sp>
        <p:sp>
          <p:nvSpPr>
            <p:cNvPr id="132" name="テキスト ボックス 18">
              <a:extLst>
                <a:ext uri="{FF2B5EF4-FFF2-40B4-BE49-F238E27FC236}">
                  <a16:creationId xmlns:a16="http://schemas.microsoft.com/office/drawing/2014/main" id="{8D98BF17-F628-2F67-4113-8BB8D3512122}"/>
                </a:ext>
              </a:extLst>
            </p:cNvPr>
            <p:cNvSpPr txBox="1"/>
            <p:nvPr/>
          </p:nvSpPr>
          <p:spPr>
            <a:xfrm>
              <a:off x="8217857" y="5954457"/>
              <a:ext cx="915954" cy="354296"/>
            </a:xfrm>
            <a:prstGeom prst="rect">
              <a:avLst/>
            </a:prstGeom>
            <a:noFill/>
            <a:ln>
              <a:solidFill>
                <a:srgbClr val="008000"/>
              </a:solidFill>
            </a:ln>
          </p:spPr>
          <p:txBody>
            <a:bodyPr wrap="none" lIns="18000" tIns="54000" rIns="18000" bIns="36000" rtlCol="0" anchor="ctr">
              <a:noAutofit/>
            </a:bodyPr>
            <a:lstStyle>
              <a:defPPr>
                <a:defRPr lang="ja-JP"/>
              </a:defPPr>
              <a:lvl1pPr algn="ctr">
                <a:buClr>
                  <a:schemeClr val="accent1"/>
                </a:buClr>
                <a:defRPr sz="900">
                  <a:solidFill>
                    <a:srgbClr val="008000"/>
                  </a:solidFill>
                </a:defRPr>
              </a:lvl1p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デジタル戦略部</a:t>
              </a:r>
            </a:p>
          </p:txBody>
        </p:sp>
      </p:grpSp>
      <p:sp>
        <p:nvSpPr>
          <p:cNvPr id="134" name="テキスト ボックス 18">
            <a:extLst>
              <a:ext uri="{FF2B5EF4-FFF2-40B4-BE49-F238E27FC236}">
                <a16:creationId xmlns:a16="http://schemas.microsoft.com/office/drawing/2014/main" id="{5C4F7CC5-9E14-B39A-2725-8AE0975DEEA9}"/>
              </a:ext>
            </a:extLst>
          </p:cNvPr>
          <p:cNvSpPr txBox="1"/>
          <p:nvPr/>
        </p:nvSpPr>
        <p:spPr>
          <a:xfrm>
            <a:off x="9190676" y="6183058"/>
            <a:ext cx="2664595" cy="354296"/>
          </a:xfrm>
          <a:prstGeom prst="rect">
            <a:avLst/>
          </a:prstGeom>
          <a:noFill/>
        </p:spPr>
        <p:txBody>
          <a:bodyPr wrap="square" lIns="36000" tIns="54000" rIns="36000" bIns="36000" rtlCol="0" anchor="ctr">
            <a:noAutofit/>
          </a:bodyPr>
          <a:lstStyle/>
          <a:p>
            <a:pPr marL="0" marR="0" lvl="0" indent="0" algn="l"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非財務情報管理プラットフォーム導入、データ自動収集、内部</a:t>
            </a:r>
            <a:br>
              <a:rPr kumimoji="1" lang="fr-FR" altLang="ja-JP" sz="800" b="0" i="0" u="none" strike="noStrike" kern="1200" cap="none" spc="0" normalizeH="0" baseline="0" noProof="0">
                <a:ln>
                  <a:noFill/>
                </a:ln>
                <a:solidFill>
                  <a:prstClr val="black"/>
                </a:solidFill>
                <a:effectLst/>
                <a:uLnTx/>
                <a:uFillTx/>
                <a:latin typeface="Meiryo UI"/>
                <a:ea typeface="Meiryo UI"/>
                <a:cs typeface="+mn-cs"/>
              </a:rPr>
            </a:b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統制実装、</a:t>
            </a:r>
            <a:r>
              <a:rPr kumimoji="1" lang="en-US" altLang="ja-JP" sz="800" b="0" i="0" u="none" strike="noStrike" kern="1200" cap="none" spc="0" normalizeH="0" baseline="0" noProof="0">
                <a:ln>
                  <a:noFill/>
                </a:ln>
                <a:solidFill>
                  <a:prstClr val="black"/>
                </a:solidFill>
                <a:effectLst/>
                <a:uLnTx/>
                <a:uFillTx/>
                <a:latin typeface="Meiryo UI"/>
                <a:ea typeface="Meiryo UI"/>
                <a:cs typeface="+mn-cs"/>
              </a:rPr>
              <a:t>AI</a:t>
            </a: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予測・シミュレーション実装</a:t>
            </a:r>
          </a:p>
        </p:txBody>
      </p:sp>
      <p:sp>
        <p:nvSpPr>
          <p:cNvPr id="39" name="テキスト ボックス 18">
            <a:extLst>
              <a:ext uri="{FF2B5EF4-FFF2-40B4-BE49-F238E27FC236}">
                <a16:creationId xmlns:a16="http://schemas.microsoft.com/office/drawing/2014/main" id="{DA7C1D11-5E1E-7894-2857-495827642598}"/>
              </a:ext>
            </a:extLst>
          </p:cNvPr>
          <p:cNvSpPr txBox="1"/>
          <p:nvPr/>
        </p:nvSpPr>
        <p:spPr>
          <a:xfrm>
            <a:off x="9202760" y="3443940"/>
            <a:ext cx="2664595" cy="228041"/>
          </a:xfrm>
          <a:prstGeom prst="rect">
            <a:avLst/>
          </a:prstGeom>
          <a:noFill/>
        </p:spPr>
        <p:txBody>
          <a:bodyPr wrap="square" lIns="36000" tIns="54000" rIns="36000" bIns="36000" rtlCol="0" anchor="ctr">
            <a:noAutofit/>
          </a:bodyPr>
          <a:lstStyle/>
          <a:p>
            <a:pPr marL="0" marR="0" lvl="0" indent="0" algn="l" defTabSz="914400" rtl="0" eaLnBrk="1" fontAlgn="auto" latinLnBrk="0" hangingPunct="1">
              <a:lnSpc>
                <a:spcPct val="100000"/>
              </a:lnSpc>
              <a:spcBef>
                <a:spcPts val="0"/>
              </a:spcBef>
              <a:spcAft>
                <a:spcPts val="0"/>
              </a:spcAft>
              <a:buClr>
                <a:srgbClr val="5B9BD5"/>
              </a:buClr>
              <a:buSzTx/>
              <a:buFontTx/>
              <a:buNone/>
              <a:tabLst/>
              <a:defRPr/>
            </a:pPr>
            <a:r>
              <a:rPr kumimoji="1" lang="en-US" altLang="ja-JP" sz="800" b="0" i="0" u="none" strike="noStrike" kern="1200" cap="none" spc="0" normalizeH="0" baseline="0" noProof="0">
                <a:ln>
                  <a:noFill/>
                </a:ln>
                <a:solidFill>
                  <a:prstClr val="black"/>
                </a:solidFill>
                <a:effectLst/>
                <a:uLnTx/>
                <a:uFillTx/>
                <a:latin typeface="Meiryo UI"/>
                <a:ea typeface="Meiryo UI"/>
                <a:cs typeface="+mn-cs"/>
              </a:rPr>
              <a:t>SSBJ</a:t>
            </a: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基準の解釈、開示戦略の策定、</a:t>
            </a:r>
            <a:r>
              <a:rPr kumimoji="1" lang="en-US" altLang="ja-JP" sz="800" b="0" i="0" u="none" strike="noStrike" kern="1200" cap="none" spc="0" normalizeH="0" baseline="0" noProof="0">
                <a:ln>
                  <a:noFill/>
                </a:ln>
                <a:solidFill>
                  <a:prstClr val="black"/>
                </a:solidFill>
                <a:effectLst/>
                <a:uLnTx/>
                <a:uFillTx/>
                <a:latin typeface="Meiryo UI"/>
                <a:ea typeface="Meiryo UI"/>
                <a:cs typeface="+mn-cs"/>
              </a:rPr>
              <a:t>S3</a:t>
            </a: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算定カテゴリ定義決定など、サステナ領域の要件を決定する</a:t>
            </a:r>
            <a:endParaRPr kumimoji="1" lang="ja-JP" altLang="en-US" sz="800" b="0" i="0" u="none" strike="noStrike" kern="1200" cap="none" spc="0" normalizeH="0" baseline="0" noProof="0">
              <a:ln>
                <a:noFill/>
              </a:ln>
              <a:solidFill>
                <a:prstClr val="black">
                  <a:lumMod val="75000"/>
                </a:prstClr>
              </a:solidFill>
              <a:effectLst/>
              <a:uLnTx/>
              <a:uFillTx/>
              <a:latin typeface="Meiryo UI"/>
              <a:ea typeface="Meiryo UI"/>
              <a:cs typeface="+mn-cs"/>
            </a:endParaRPr>
          </a:p>
        </p:txBody>
      </p:sp>
      <p:sp>
        <p:nvSpPr>
          <p:cNvPr id="42" name="テキスト ボックス 18">
            <a:extLst>
              <a:ext uri="{FF2B5EF4-FFF2-40B4-BE49-F238E27FC236}">
                <a16:creationId xmlns:a16="http://schemas.microsoft.com/office/drawing/2014/main" id="{4631730C-A7A6-076F-033E-F6F7399C328C}"/>
              </a:ext>
            </a:extLst>
          </p:cNvPr>
          <p:cNvSpPr txBox="1"/>
          <p:nvPr/>
        </p:nvSpPr>
        <p:spPr>
          <a:xfrm>
            <a:off x="9176404" y="3705226"/>
            <a:ext cx="2664595" cy="227869"/>
          </a:xfrm>
          <a:prstGeom prst="rect">
            <a:avLst/>
          </a:prstGeom>
          <a:noFill/>
        </p:spPr>
        <p:txBody>
          <a:bodyPr wrap="square" lIns="36000" tIns="54000" rIns="36000" bIns="36000" rtlCol="0" anchor="ctr">
            <a:noAutofit/>
          </a:bodyPr>
          <a:lstStyle/>
          <a:p>
            <a:pPr marL="0" marR="0" lvl="0" indent="0" algn="l" defTabSz="914400" rtl="0" eaLnBrk="1" fontAlgn="auto" latinLnBrk="0" hangingPunct="1">
              <a:lnSpc>
                <a:spcPct val="100000"/>
              </a:lnSpc>
              <a:spcBef>
                <a:spcPts val="0"/>
              </a:spcBef>
              <a:spcAft>
                <a:spcPts val="0"/>
              </a:spcAft>
              <a:buClr>
                <a:srgbClr val="5B9BD5"/>
              </a:buClr>
              <a:buSzTx/>
              <a:buFontTx/>
              <a:buNone/>
              <a:tabLst/>
              <a:defRPr/>
            </a:pPr>
            <a:r>
              <a:rPr kumimoji="1" lang="en-US" altLang="ja-JP" sz="800" b="0" i="0" u="none" strike="noStrike" kern="1200" cap="none" spc="0" normalizeH="0" baseline="0" noProof="0">
                <a:ln>
                  <a:noFill/>
                </a:ln>
                <a:solidFill>
                  <a:prstClr val="black"/>
                </a:solidFill>
                <a:effectLst/>
                <a:uLnTx/>
                <a:uFillTx/>
                <a:latin typeface="Meiryo UI"/>
                <a:ea typeface="Meiryo UI"/>
                <a:cs typeface="+mn-cs"/>
              </a:rPr>
              <a:t>S3</a:t>
            </a: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算定においてサプライヤーから実測値 </a:t>
            </a:r>
            <a:r>
              <a:rPr kumimoji="1" lang="en-US" altLang="ja-JP" sz="800" b="0" i="0" u="none" strike="noStrike" kern="1200" cap="none" spc="0" normalizeH="0" baseline="0" noProof="0">
                <a:ln>
                  <a:noFill/>
                </a:ln>
                <a:solidFill>
                  <a:prstClr val="black"/>
                </a:solidFill>
                <a:effectLst/>
                <a:uLnTx/>
                <a:uFillTx/>
                <a:latin typeface="Meiryo UI"/>
                <a:ea typeface="Meiryo UI"/>
                <a:cs typeface="+mn-cs"/>
              </a:rPr>
              <a:t>(</a:t>
            </a: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一次データを入手するための協力要請を主導する</a:t>
            </a:r>
            <a:endParaRPr kumimoji="1" lang="ja-JP" altLang="en-US" sz="800" b="0" i="0" u="none" strike="noStrike" kern="1200" cap="none" spc="0" normalizeH="0" baseline="0" noProof="0">
              <a:ln>
                <a:noFill/>
              </a:ln>
              <a:solidFill>
                <a:prstClr val="black">
                  <a:lumMod val="75000"/>
                </a:prstClr>
              </a:solidFill>
              <a:effectLst/>
              <a:uLnTx/>
              <a:uFillTx/>
              <a:latin typeface="Meiryo UI"/>
              <a:ea typeface="Meiryo UI"/>
              <a:cs typeface="+mn-cs"/>
            </a:endParaRPr>
          </a:p>
        </p:txBody>
      </p:sp>
      <p:sp>
        <p:nvSpPr>
          <p:cNvPr id="44" name="テキスト ボックス 18">
            <a:extLst>
              <a:ext uri="{FF2B5EF4-FFF2-40B4-BE49-F238E27FC236}">
                <a16:creationId xmlns:a16="http://schemas.microsoft.com/office/drawing/2014/main" id="{C8038F3B-A367-71C3-8B25-526EA7C111D8}"/>
              </a:ext>
            </a:extLst>
          </p:cNvPr>
          <p:cNvSpPr txBox="1"/>
          <p:nvPr/>
        </p:nvSpPr>
        <p:spPr>
          <a:xfrm>
            <a:off x="9202760" y="3966512"/>
            <a:ext cx="2664595" cy="228041"/>
          </a:xfrm>
          <a:prstGeom prst="rect">
            <a:avLst/>
          </a:prstGeom>
          <a:noFill/>
        </p:spPr>
        <p:txBody>
          <a:bodyPr wrap="square" lIns="36000" tIns="54000" rIns="36000" bIns="36000" rtlCol="0" anchor="ctr">
            <a:noAutofit/>
          </a:bodyPr>
          <a:lstStyle/>
          <a:p>
            <a:pPr marL="0" marR="0" lvl="0" indent="0" algn="l"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デジタルプラットフォームの構築を推進し、財務情報と</a:t>
            </a:r>
            <a:br>
              <a:rPr kumimoji="1" lang="en-US" altLang="ja-JP" sz="800" b="0" i="0" u="none" strike="noStrike" kern="1200" cap="none" spc="0" normalizeH="0" baseline="0" noProof="0">
                <a:ln>
                  <a:noFill/>
                </a:ln>
                <a:solidFill>
                  <a:prstClr val="black"/>
                </a:solidFill>
                <a:effectLst/>
                <a:uLnTx/>
                <a:uFillTx/>
                <a:latin typeface="Meiryo UI"/>
                <a:ea typeface="Meiryo UI"/>
                <a:cs typeface="+mn-cs"/>
              </a:rPr>
            </a:b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同等の品質・スピードでの開示体制を確立する</a:t>
            </a:r>
            <a:endParaRPr kumimoji="1" lang="ja-JP" altLang="en-US" sz="800" b="0" i="0" u="none" strike="noStrike" kern="1200" cap="none" spc="0" normalizeH="0" baseline="0" noProof="0">
              <a:ln>
                <a:noFill/>
              </a:ln>
              <a:solidFill>
                <a:prstClr val="black">
                  <a:lumMod val="75000"/>
                </a:prstClr>
              </a:solidFill>
              <a:effectLst/>
              <a:uLnTx/>
              <a:uFillTx/>
              <a:latin typeface="Meiryo UI"/>
              <a:ea typeface="Meiryo UI"/>
              <a:cs typeface="+mn-cs"/>
            </a:endParaRPr>
          </a:p>
        </p:txBody>
      </p:sp>
      <p:grpSp>
        <p:nvGrpSpPr>
          <p:cNvPr id="305" name="グループ化 304">
            <a:extLst>
              <a:ext uri="{FF2B5EF4-FFF2-40B4-BE49-F238E27FC236}">
                <a16:creationId xmlns:a16="http://schemas.microsoft.com/office/drawing/2014/main" id="{72BA50BB-C66D-B172-D2CA-F2AFF9CBC558}"/>
              </a:ext>
            </a:extLst>
          </p:cNvPr>
          <p:cNvGrpSpPr/>
          <p:nvPr/>
        </p:nvGrpSpPr>
        <p:grpSpPr>
          <a:xfrm>
            <a:off x="8217857" y="3443940"/>
            <a:ext cx="915954" cy="750613"/>
            <a:chOff x="8217857" y="3215340"/>
            <a:chExt cx="915954" cy="750613"/>
          </a:xfrm>
        </p:grpSpPr>
        <p:sp>
          <p:nvSpPr>
            <p:cNvPr id="37" name="テキスト ボックス 18">
              <a:extLst>
                <a:ext uri="{FF2B5EF4-FFF2-40B4-BE49-F238E27FC236}">
                  <a16:creationId xmlns:a16="http://schemas.microsoft.com/office/drawing/2014/main" id="{4B515B1C-3A14-A993-03D3-8661BB5AC606}"/>
                </a:ext>
              </a:extLst>
            </p:cNvPr>
            <p:cNvSpPr txBox="1"/>
            <p:nvPr/>
          </p:nvSpPr>
          <p:spPr>
            <a:xfrm>
              <a:off x="8217857" y="3215340"/>
              <a:ext cx="915954" cy="228041"/>
            </a:xfrm>
            <a:prstGeom prst="rect">
              <a:avLst/>
            </a:prstGeom>
            <a:noFill/>
            <a:ln>
              <a:solidFill>
                <a:srgbClr val="008000"/>
              </a:solidFill>
            </a:ln>
          </p:spPr>
          <p:txBody>
            <a:bodyPr wrap="none" lIns="18000" tIns="54000" rIns="18000" bIns="36000" rtlCol="0" anchor="ctr">
              <a:noAutofit/>
            </a:body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基準の解釈</a:t>
              </a:r>
            </a:p>
          </p:txBody>
        </p:sp>
        <p:sp>
          <p:nvSpPr>
            <p:cNvPr id="40" name="テキスト ボックス 18">
              <a:extLst>
                <a:ext uri="{FF2B5EF4-FFF2-40B4-BE49-F238E27FC236}">
                  <a16:creationId xmlns:a16="http://schemas.microsoft.com/office/drawing/2014/main" id="{DCB09F56-0CDE-7903-BA20-C3FC715E8CD8}"/>
                </a:ext>
              </a:extLst>
            </p:cNvPr>
            <p:cNvSpPr txBox="1"/>
            <p:nvPr/>
          </p:nvSpPr>
          <p:spPr>
            <a:xfrm>
              <a:off x="8217857" y="3476798"/>
              <a:ext cx="915954" cy="227869"/>
            </a:xfrm>
            <a:prstGeom prst="rect">
              <a:avLst/>
            </a:prstGeom>
            <a:noFill/>
            <a:ln>
              <a:solidFill>
                <a:srgbClr val="008000"/>
              </a:solidFill>
            </a:ln>
          </p:spPr>
          <p:txBody>
            <a:bodyPr wrap="none" lIns="18000" tIns="54000" rIns="18000" bIns="36000" rtlCol="0" anchor="ctr">
              <a:noAutofit/>
            </a:body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cs typeface="+mn-cs"/>
                </a:rPr>
                <a:t>SC</a:t>
              </a: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連携</a:t>
              </a:r>
            </a:p>
          </p:txBody>
        </p:sp>
        <p:sp>
          <p:nvSpPr>
            <p:cNvPr id="137" name="テキスト ボックス 18">
              <a:extLst>
                <a:ext uri="{FF2B5EF4-FFF2-40B4-BE49-F238E27FC236}">
                  <a16:creationId xmlns:a16="http://schemas.microsoft.com/office/drawing/2014/main" id="{CD7FE514-5F93-4259-6AF8-E5AB4851DB3A}"/>
                </a:ext>
              </a:extLst>
            </p:cNvPr>
            <p:cNvSpPr txBox="1"/>
            <p:nvPr/>
          </p:nvSpPr>
          <p:spPr>
            <a:xfrm>
              <a:off x="8217857" y="3737912"/>
              <a:ext cx="915954" cy="228041"/>
            </a:xfrm>
            <a:prstGeom prst="rect">
              <a:avLst/>
            </a:prstGeom>
            <a:noFill/>
            <a:ln>
              <a:solidFill>
                <a:srgbClr val="008000"/>
              </a:solidFill>
            </a:ln>
          </p:spPr>
          <p:txBody>
            <a:bodyPr wrap="none" lIns="18000" tIns="54000" rIns="18000" bIns="36000" rtlCol="0" anchor="ctr">
              <a:noAutofit/>
            </a:body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デジタル対応</a:t>
              </a:r>
            </a:p>
          </p:txBody>
        </p:sp>
      </p:grpSp>
      <p:cxnSp>
        <p:nvCxnSpPr>
          <p:cNvPr id="30" name="Straight Connector 49">
            <a:extLst>
              <a:ext uri="{FF2B5EF4-FFF2-40B4-BE49-F238E27FC236}">
                <a16:creationId xmlns:a16="http://schemas.microsoft.com/office/drawing/2014/main" id="{320AD208-F9BA-2DA7-677C-C44E177DF2E1}"/>
              </a:ext>
            </a:extLst>
          </p:cNvPr>
          <p:cNvCxnSpPr/>
          <p:nvPr/>
        </p:nvCxnSpPr>
        <p:spPr>
          <a:xfrm>
            <a:off x="8195822" y="2597882"/>
            <a:ext cx="3663818" cy="0"/>
          </a:xfrm>
          <a:prstGeom prst="line">
            <a:avLst/>
          </a:prstGeom>
          <a:ln w="9525">
            <a:solidFill>
              <a:srgbClr val="414141"/>
            </a:solidFill>
            <a:prstDash val="solid"/>
          </a:ln>
        </p:spPr>
        <p:style>
          <a:lnRef idx="1">
            <a:schemeClr val="accent1"/>
          </a:lnRef>
          <a:fillRef idx="0">
            <a:schemeClr val="accent1"/>
          </a:fillRef>
          <a:effectRef idx="0">
            <a:schemeClr val="accent1"/>
          </a:effectRef>
          <a:fontRef idx="minor">
            <a:schemeClr val="tx1"/>
          </a:fontRef>
        </p:style>
      </p:cxnSp>
      <p:sp>
        <p:nvSpPr>
          <p:cNvPr id="33" name="テキスト ボックス 18">
            <a:extLst>
              <a:ext uri="{FF2B5EF4-FFF2-40B4-BE49-F238E27FC236}">
                <a16:creationId xmlns:a16="http://schemas.microsoft.com/office/drawing/2014/main" id="{3F2B3A6B-0219-BA45-BE94-BA59551B0F6D}"/>
              </a:ext>
            </a:extLst>
          </p:cNvPr>
          <p:cNvSpPr txBox="1"/>
          <p:nvPr/>
        </p:nvSpPr>
        <p:spPr>
          <a:xfrm>
            <a:off x="9202760" y="2668856"/>
            <a:ext cx="2664595" cy="354297"/>
          </a:xfrm>
          <a:prstGeom prst="rect">
            <a:avLst/>
          </a:prstGeom>
          <a:noFill/>
        </p:spPr>
        <p:txBody>
          <a:bodyPr wrap="square" lIns="36000" tIns="54000" rIns="36000" bIns="36000" rtlCol="0" anchor="ctr">
            <a:noAutofit/>
          </a:bodyPr>
          <a:lstStyle/>
          <a:p>
            <a:pPr marL="0" marR="0" lvl="0" indent="0" algn="l" defTabSz="914400" rtl="0" eaLnBrk="1" fontAlgn="auto" latinLnBrk="0" hangingPunct="1">
              <a:lnSpc>
                <a:spcPct val="100000"/>
              </a:lnSpc>
              <a:spcBef>
                <a:spcPts val="0"/>
              </a:spcBef>
              <a:spcAft>
                <a:spcPts val="0"/>
              </a:spcAft>
              <a:buClr>
                <a:srgbClr val="5B9BD5"/>
              </a:buClr>
              <a:buSzTx/>
              <a:buFontTx/>
              <a:buNone/>
              <a:tabLst/>
              <a:defRPr/>
            </a:pPr>
            <a:r>
              <a:rPr kumimoji="1" lang="en-US" altLang="ja-JP" sz="800" b="0" i="0" u="none" strike="noStrike" kern="1200" cap="none" spc="0" normalizeH="0" baseline="0" noProof="0">
                <a:ln>
                  <a:noFill/>
                </a:ln>
                <a:solidFill>
                  <a:prstClr val="black"/>
                </a:solidFill>
                <a:effectLst/>
                <a:uLnTx/>
                <a:uFillTx/>
                <a:latin typeface="Meiryo UI"/>
                <a:ea typeface="Meiryo UI"/>
                <a:cs typeface="+mn-cs"/>
              </a:rPr>
              <a:t>SSBJ</a:t>
            </a: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義務化への確実な対応に向け、</a:t>
            </a:r>
            <a:r>
              <a:rPr kumimoji="1" lang="en-US" altLang="ja-JP" sz="800" b="0" i="0" u="none" strike="noStrike" kern="1200" cap="none" spc="0" normalizeH="0" baseline="0" noProof="0">
                <a:ln>
                  <a:noFill/>
                </a:ln>
                <a:solidFill>
                  <a:prstClr val="black"/>
                </a:solidFill>
                <a:effectLst/>
                <a:uLnTx/>
                <a:uFillTx/>
                <a:latin typeface="Meiryo UI"/>
                <a:ea typeface="Meiryo UI"/>
                <a:cs typeface="+mn-cs"/>
              </a:rPr>
              <a:t>PJT</a:t>
            </a: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全体進捗と品質</a:t>
            </a:r>
            <a:br>
              <a:rPr kumimoji="1" lang="fr-FR" altLang="ja-JP" sz="800" b="0" i="0" u="none" strike="noStrike" kern="1200" cap="none" spc="0" normalizeH="0" baseline="0" noProof="0">
                <a:ln>
                  <a:noFill/>
                </a:ln>
                <a:solidFill>
                  <a:prstClr val="black"/>
                </a:solidFill>
                <a:effectLst/>
                <a:uLnTx/>
                <a:uFillTx/>
                <a:latin typeface="Meiryo UI"/>
                <a:ea typeface="Meiryo UI"/>
                <a:cs typeface="+mn-cs"/>
              </a:rPr>
            </a:b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管理・統制する最終的な意思決定を行う</a:t>
            </a:r>
            <a:endParaRPr kumimoji="1" lang="ja-JP" altLang="en-US" sz="800" b="0" i="0" u="none" strike="noStrike" kern="1200" cap="none" spc="0" normalizeH="0" baseline="0" noProof="0">
              <a:ln>
                <a:noFill/>
              </a:ln>
              <a:solidFill>
                <a:prstClr val="black">
                  <a:lumMod val="75000"/>
                </a:prstClr>
              </a:solidFill>
              <a:effectLst/>
              <a:uLnTx/>
              <a:uFillTx/>
              <a:latin typeface="Meiryo UI"/>
              <a:ea typeface="Meiryo UI"/>
              <a:cs typeface="+mn-cs"/>
            </a:endParaRPr>
          </a:p>
        </p:txBody>
      </p:sp>
      <p:sp>
        <p:nvSpPr>
          <p:cNvPr id="31" name="テキスト ボックス 18">
            <a:extLst>
              <a:ext uri="{FF2B5EF4-FFF2-40B4-BE49-F238E27FC236}">
                <a16:creationId xmlns:a16="http://schemas.microsoft.com/office/drawing/2014/main" id="{EE3B8269-53E5-57C6-31FE-AD24319D670E}"/>
              </a:ext>
            </a:extLst>
          </p:cNvPr>
          <p:cNvSpPr txBox="1"/>
          <p:nvPr/>
        </p:nvSpPr>
        <p:spPr>
          <a:xfrm>
            <a:off x="8217857" y="2668856"/>
            <a:ext cx="915954" cy="354297"/>
          </a:xfrm>
          <a:prstGeom prst="rect">
            <a:avLst/>
          </a:prstGeom>
          <a:noFill/>
          <a:ln>
            <a:solidFill>
              <a:srgbClr val="008000"/>
            </a:solidFill>
          </a:ln>
        </p:spPr>
        <p:txBody>
          <a:bodyPr wrap="none" lIns="18000" tIns="54000" rIns="18000" bIns="36000" rtlCol="0" anchor="ctr">
            <a:noAutofit/>
          </a:body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意思決定</a:t>
            </a:r>
          </a:p>
        </p:txBody>
      </p:sp>
      <p:sp>
        <p:nvSpPr>
          <p:cNvPr id="34" name="テキスト ボックス 18">
            <a:extLst>
              <a:ext uri="{FF2B5EF4-FFF2-40B4-BE49-F238E27FC236}">
                <a16:creationId xmlns:a16="http://schemas.microsoft.com/office/drawing/2014/main" id="{E6417C1C-776E-7AC8-12CB-03573FFAE5BF}"/>
              </a:ext>
            </a:extLst>
          </p:cNvPr>
          <p:cNvSpPr txBox="1"/>
          <p:nvPr/>
        </p:nvSpPr>
        <p:spPr>
          <a:xfrm>
            <a:off x="8217857" y="3056398"/>
            <a:ext cx="915954" cy="354297"/>
          </a:xfrm>
          <a:prstGeom prst="rect">
            <a:avLst/>
          </a:prstGeom>
          <a:noFill/>
          <a:ln>
            <a:solidFill>
              <a:srgbClr val="008000"/>
            </a:solidFill>
          </a:ln>
        </p:spPr>
        <p:txBody>
          <a:bodyPr wrap="none" lIns="18000" tIns="54000" rIns="18000" bIns="36000" rtlCol="0" anchor="ctr">
            <a:noAutofit/>
          </a:bodyP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リソース最適化</a:t>
            </a:r>
          </a:p>
        </p:txBody>
      </p:sp>
      <p:sp>
        <p:nvSpPr>
          <p:cNvPr id="36" name="テキスト ボックス 18">
            <a:extLst>
              <a:ext uri="{FF2B5EF4-FFF2-40B4-BE49-F238E27FC236}">
                <a16:creationId xmlns:a16="http://schemas.microsoft.com/office/drawing/2014/main" id="{87699F1D-D321-532F-5CF9-A88DA06F164E}"/>
              </a:ext>
            </a:extLst>
          </p:cNvPr>
          <p:cNvSpPr txBox="1"/>
          <p:nvPr/>
        </p:nvSpPr>
        <p:spPr>
          <a:xfrm>
            <a:off x="9202760" y="3056398"/>
            <a:ext cx="2664595" cy="354297"/>
          </a:xfrm>
          <a:prstGeom prst="rect">
            <a:avLst/>
          </a:prstGeom>
          <a:noFill/>
        </p:spPr>
        <p:txBody>
          <a:bodyPr wrap="square" lIns="36000" tIns="54000" rIns="36000" bIns="36000" rtlCol="0" anchor="ctr">
            <a:noAutofit/>
          </a:bodyPr>
          <a:lstStyle/>
          <a:p>
            <a:pPr marL="0" marR="0" lvl="0" indent="0" algn="l" defTabSz="914400" rtl="0" eaLnBrk="1" fontAlgn="auto" latinLnBrk="0" hangingPunct="1">
              <a:lnSpc>
                <a:spcPct val="100000"/>
              </a:lnSpc>
              <a:spcBef>
                <a:spcPts val="0"/>
              </a:spcBef>
              <a:spcAft>
                <a:spcPts val="0"/>
              </a:spcAft>
              <a:buClr>
                <a:srgbClr val="5B9BD5"/>
              </a:buClr>
              <a:buSzTx/>
              <a:buFontTx/>
              <a:buNone/>
              <a:tabLst/>
              <a:defRPr/>
            </a:pPr>
            <a:r>
              <a:rPr kumimoji="1" lang="en-US" altLang="ja-JP" sz="800" b="0" i="0" u="none" strike="noStrike" kern="1200" cap="none" spc="0" normalizeH="0" baseline="0" noProof="0">
                <a:ln>
                  <a:noFill/>
                </a:ln>
                <a:solidFill>
                  <a:prstClr val="black"/>
                </a:solidFill>
                <a:effectLst/>
                <a:uLnTx/>
                <a:uFillTx/>
                <a:latin typeface="Meiryo UI"/>
                <a:ea typeface="Meiryo UI"/>
                <a:cs typeface="+mn-cs"/>
              </a:rPr>
              <a:t>SSBJ</a:t>
            </a: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対応プロジェクト全体の進行、重要な課題解決、および</a:t>
            </a:r>
            <a:br>
              <a:rPr kumimoji="1" lang="fr-FR" altLang="ja-JP" sz="800" b="0" i="0" u="none" strike="noStrike" kern="1200" cap="none" spc="0" normalizeH="0" baseline="0" noProof="0">
                <a:ln>
                  <a:noFill/>
                </a:ln>
                <a:solidFill>
                  <a:prstClr val="black"/>
                </a:solidFill>
                <a:effectLst/>
                <a:uLnTx/>
                <a:uFillTx/>
                <a:latin typeface="Meiryo UI"/>
                <a:ea typeface="Meiryo UI"/>
                <a:cs typeface="+mn-cs"/>
              </a:rPr>
            </a:b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部門間調整のハブとしての役割を担う</a:t>
            </a:r>
            <a:endParaRPr kumimoji="1" lang="ja-JP" altLang="en-US" sz="800" b="0" i="0" u="none" strike="noStrike" kern="1200" cap="none" spc="0" normalizeH="0" baseline="0" noProof="0">
              <a:ln>
                <a:noFill/>
              </a:ln>
              <a:solidFill>
                <a:prstClr val="black">
                  <a:lumMod val="75000"/>
                </a:prstClr>
              </a:solidFill>
              <a:effectLst/>
              <a:uLnTx/>
              <a:uFillTx/>
              <a:latin typeface="Meiryo UI"/>
              <a:ea typeface="Meiryo UI"/>
              <a:cs typeface="+mn-cs"/>
            </a:endParaRPr>
          </a:p>
        </p:txBody>
      </p:sp>
      <p:cxnSp>
        <p:nvCxnSpPr>
          <p:cNvPr id="250" name="直線コネクタ 249">
            <a:extLst>
              <a:ext uri="{FF2B5EF4-FFF2-40B4-BE49-F238E27FC236}">
                <a16:creationId xmlns:a16="http://schemas.microsoft.com/office/drawing/2014/main" id="{C245D743-BEA6-ED89-407B-E168DE8019C4}"/>
              </a:ext>
            </a:extLst>
          </p:cNvPr>
          <p:cNvCxnSpPr>
            <a:cxnSpLocks/>
          </p:cNvCxnSpPr>
          <p:nvPr/>
        </p:nvCxnSpPr>
        <p:spPr>
          <a:xfrm>
            <a:off x="9192352" y="3036255"/>
            <a:ext cx="2685412" cy="7042"/>
          </a:xfrm>
          <a:prstGeom prst="line">
            <a:avLst/>
          </a:prstGeom>
          <a:ln w="9525">
            <a:solidFill>
              <a:schemeClr val="bg1">
                <a:lumMod val="6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2" name="グループ化 21">
            <a:extLst>
              <a:ext uri="{FF2B5EF4-FFF2-40B4-BE49-F238E27FC236}">
                <a16:creationId xmlns:a16="http://schemas.microsoft.com/office/drawing/2014/main" id="{6141AA91-8200-FB71-21AD-D902D78685DF}"/>
              </a:ext>
            </a:extLst>
          </p:cNvPr>
          <p:cNvGrpSpPr/>
          <p:nvPr/>
        </p:nvGrpSpPr>
        <p:grpSpPr>
          <a:xfrm>
            <a:off x="6143615" y="1857375"/>
            <a:ext cx="5723740" cy="396000"/>
            <a:chOff x="6143615" y="1628775"/>
            <a:chExt cx="5723740" cy="396000"/>
          </a:xfrm>
        </p:grpSpPr>
        <p:sp>
          <p:nvSpPr>
            <p:cNvPr id="15" name="正方形/長方形 14">
              <a:extLst>
                <a:ext uri="{FF2B5EF4-FFF2-40B4-BE49-F238E27FC236}">
                  <a16:creationId xmlns:a16="http://schemas.microsoft.com/office/drawing/2014/main" id="{3315E40E-07A1-D5C9-B6B9-194A327BBA07}"/>
                </a:ext>
              </a:extLst>
            </p:cNvPr>
            <p:cNvSpPr/>
            <p:nvPr/>
          </p:nvSpPr>
          <p:spPr>
            <a:xfrm>
              <a:off x="6143615" y="1628775"/>
              <a:ext cx="5723740" cy="396000"/>
            </a:xfrm>
            <a:prstGeom prst="rect">
              <a:avLst/>
            </a:prstGeom>
            <a:solidFill>
              <a:srgbClr val="0080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prstClr val="white"/>
                  </a:solidFill>
                  <a:effectLst/>
                  <a:uLnTx/>
                  <a:uFillTx/>
                  <a:latin typeface="Meiryo UI"/>
                  <a:ea typeface="Meiryo UI"/>
                  <a:cs typeface="+mn-cs"/>
                </a:rPr>
                <a:t>役割</a:t>
              </a:r>
            </a:p>
          </p:txBody>
        </p:sp>
        <p:pic>
          <p:nvPicPr>
            <p:cNvPr id="264" name="グラフィックス 263" descr="性別 単色塗りつぶし">
              <a:extLst>
                <a:ext uri="{FF2B5EF4-FFF2-40B4-BE49-F238E27FC236}">
                  <a16:creationId xmlns:a16="http://schemas.microsoft.com/office/drawing/2014/main" id="{D5070FA0-27CD-B696-4E88-4BE35008EFF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75982" y="1649044"/>
              <a:ext cx="360000" cy="360000"/>
            </a:xfrm>
            <a:prstGeom prst="rect">
              <a:avLst/>
            </a:prstGeom>
          </p:spPr>
        </p:pic>
      </p:grpSp>
      <p:cxnSp>
        <p:nvCxnSpPr>
          <p:cNvPr id="290" name="直線コネクタ 289">
            <a:extLst>
              <a:ext uri="{FF2B5EF4-FFF2-40B4-BE49-F238E27FC236}">
                <a16:creationId xmlns:a16="http://schemas.microsoft.com/office/drawing/2014/main" id="{1AA1E1F4-D97F-B5FA-D4E3-C2D178335CC4}"/>
              </a:ext>
            </a:extLst>
          </p:cNvPr>
          <p:cNvCxnSpPr>
            <a:cxnSpLocks/>
          </p:cNvCxnSpPr>
          <p:nvPr/>
        </p:nvCxnSpPr>
        <p:spPr>
          <a:xfrm>
            <a:off x="9192352" y="3423797"/>
            <a:ext cx="2685412" cy="7042"/>
          </a:xfrm>
          <a:prstGeom prst="line">
            <a:avLst/>
          </a:prstGeom>
          <a:ln w="9525">
            <a:solidFill>
              <a:schemeClr val="bg1">
                <a:lumMod val="6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1" name="直線コネクタ 290">
            <a:extLst>
              <a:ext uri="{FF2B5EF4-FFF2-40B4-BE49-F238E27FC236}">
                <a16:creationId xmlns:a16="http://schemas.microsoft.com/office/drawing/2014/main" id="{24C90620-9520-59EB-96FE-553780C4382E}"/>
              </a:ext>
            </a:extLst>
          </p:cNvPr>
          <p:cNvCxnSpPr>
            <a:cxnSpLocks/>
          </p:cNvCxnSpPr>
          <p:nvPr/>
        </p:nvCxnSpPr>
        <p:spPr>
          <a:xfrm>
            <a:off x="9192352" y="3685082"/>
            <a:ext cx="2685412" cy="7042"/>
          </a:xfrm>
          <a:prstGeom prst="line">
            <a:avLst/>
          </a:prstGeom>
          <a:ln w="9525">
            <a:solidFill>
              <a:schemeClr val="bg1">
                <a:lumMod val="6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2" name="直線コネクタ 291">
            <a:extLst>
              <a:ext uri="{FF2B5EF4-FFF2-40B4-BE49-F238E27FC236}">
                <a16:creationId xmlns:a16="http://schemas.microsoft.com/office/drawing/2014/main" id="{44148408-859C-F393-38EC-19B86BB6EE30}"/>
              </a:ext>
            </a:extLst>
          </p:cNvPr>
          <p:cNvCxnSpPr>
            <a:cxnSpLocks/>
          </p:cNvCxnSpPr>
          <p:nvPr/>
        </p:nvCxnSpPr>
        <p:spPr>
          <a:xfrm>
            <a:off x="9192352" y="3946368"/>
            <a:ext cx="2685412" cy="7042"/>
          </a:xfrm>
          <a:prstGeom prst="line">
            <a:avLst/>
          </a:prstGeom>
          <a:ln w="9525">
            <a:solidFill>
              <a:schemeClr val="bg1">
                <a:lumMod val="6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直線コネクタ 292">
            <a:extLst>
              <a:ext uri="{FF2B5EF4-FFF2-40B4-BE49-F238E27FC236}">
                <a16:creationId xmlns:a16="http://schemas.microsoft.com/office/drawing/2014/main" id="{E4521170-11ED-BF54-690F-53C8A47390A3}"/>
              </a:ext>
            </a:extLst>
          </p:cNvPr>
          <p:cNvCxnSpPr>
            <a:cxnSpLocks/>
          </p:cNvCxnSpPr>
          <p:nvPr/>
        </p:nvCxnSpPr>
        <p:spPr>
          <a:xfrm>
            <a:off x="9192352" y="4207654"/>
            <a:ext cx="2685412" cy="7042"/>
          </a:xfrm>
          <a:prstGeom prst="line">
            <a:avLst/>
          </a:prstGeom>
          <a:ln w="9525">
            <a:solidFill>
              <a:schemeClr val="bg1">
                <a:lumMod val="6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直線コネクタ 293">
            <a:extLst>
              <a:ext uri="{FF2B5EF4-FFF2-40B4-BE49-F238E27FC236}">
                <a16:creationId xmlns:a16="http://schemas.microsoft.com/office/drawing/2014/main" id="{060606A7-885A-49F6-2D44-82022A6F647A}"/>
              </a:ext>
            </a:extLst>
          </p:cNvPr>
          <p:cNvCxnSpPr>
            <a:cxnSpLocks/>
          </p:cNvCxnSpPr>
          <p:nvPr/>
        </p:nvCxnSpPr>
        <p:spPr>
          <a:xfrm>
            <a:off x="9192352" y="4468940"/>
            <a:ext cx="2685412" cy="7042"/>
          </a:xfrm>
          <a:prstGeom prst="line">
            <a:avLst/>
          </a:prstGeom>
          <a:ln w="9525">
            <a:solidFill>
              <a:schemeClr val="bg1">
                <a:lumMod val="6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5" name="直線コネクタ 294">
            <a:extLst>
              <a:ext uri="{FF2B5EF4-FFF2-40B4-BE49-F238E27FC236}">
                <a16:creationId xmlns:a16="http://schemas.microsoft.com/office/drawing/2014/main" id="{530E674D-F568-3B04-A3F0-9A41382E6F0F}"/>
              </a:ext>
            </a:extLst>
          </p:cNvPr>
          <p:cNvCxnSpPr>
            <a:cxnSpLocks/>
          </p:cNvCxnSpPr>
          <p:nvPr/>
        </p:nvCxnSpPr>
        <p:spPr>
          <a:xfrm>
            <a:off x="9192352" y="4991512"/>
            <a:ext cx="2685412" cy="7042"/>
          </a:xfrm>
          <a:prstGeom prst="line">
            <a:avLst/>
          </a:prstGeom>
          <a:ln w="9525">
            <a:solidFill>
              <a:schemeClr val="bg1">
                <a:lumMod val="6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直線コネクタ 295">
            <a:extLst>
              <a:ext uri="{FF2B5EF4-FFF2-40B4-BE49-F238E27FC236}">
                <a16:creationId xmlns:a16="http://schemas.microsoft.com/office/drawing/2014/main" id="{EA5345AB-89DD-9FFB-381E-EF0E2F1606C3}"/>
              </a:ext>
            </a:extLst>
          </p:cNvPr>
          <p:cNvCxnSpPr>
            <a:cxnSpLocks/>
          </p:cNvCxnSpPr>
          <p:nvPr/>
        </p:nvCxnSpPr>
        <p:spPr>
          <a:xfrm>
            <a:off x="9192352" y="4730227"/>
            <a:ext cx="2685412" cy="7042"/>
          </a:xfrm>
          <a:prstGeom prst="line">
            <a:avLst/>
          </a:prstGeom>
          <a:ln w="9525">
            <a:solidFill>
              <a:schemeClr val="bg1">
                <a:lumMod val="6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直線コネクタ 296">
            <a:extLst>
              <a:ext uri="{FF2B5EF4-FFF2-40B4-BE49-F238E27FC236}">
                <a16:creationId xmlns:a16="http://schemas.microsoft.com/office/drawing/2014/main" id="{90BCD50E-8412-F632-6E55-FE641799D65C}"/>
              </a:ext>
            </a:extLst>
          </p:cNvPr>
          <p:cNvCxnSpPr>
            <a:cxnSpLocks/>
          </p:cNvCxnSpPr>
          <p:nvPr/>
        </p:nvCxnSpPr>
        <p:spPr>
          <a:xfrm>
            <a:off x="9192352" y="5252798"/>
            <a:ext cx="2685412" cy="7042"/>
          </a:xfrm>
          <a:prstGeom prst="line">
            <a:avLst/>
          </a:prstGeom>
          <a:ln w="9525">
            <a:solidFill>
              <a:schemeClr val="bg1">
                <a:lumMod val="6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8" name="直線コネクタ 297">
            <a:extLst>
              <a:ext uri="{FF2B5EF4-FFF2-40B4-BE49-F238E27FC236}">
                <a16:creationId xmlns:a16="http://schemas.microsoft.com/office/drawing/2014/main" id="{9F12BCB5-2ED0-A3E4-A782-EABD89C938BE}"/>
              </a:ext>
            </a:extLst>
          </p:cNvPr>
          <p:cNvCxnSpPr>
            <a:cxnSpLocks/>
          </p:cNvCxnSpPr>
          <p:nvPr/>
        </p:nvCxnSpPr>
        <p:spPr>
          <a:xfrm>
            <a:off x="9192352" y="5514084"/>
            <a:ext cx="2685412" cy="7042"/>
          </a:xfrm>
          <a:prstGeom prst="line">
            <a:avLst/>
          </a:prstGeom>
          <a:ln w="9525">
            <a:solidFill>
              <a:schemeClr val="bg1">
                <a:lumMod val="6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9" name="直線コネクタ 298">
            <a:extLst>
              <a:ext uri="{FF2B5EF4-FFF2-40B4-BE49-F238E27FC236}">
                <a16:creationId xmlns:a16="http://schemas.microsoft.com/office/drawing/2014/main" id="{5D0174F3-1BAE-0A67-808E-72F532CCE766}"/>
              </a:ext>
            </a:extLst>
          </p:cNvPr>
          <p:cNvCxnSpPr>
            <a:cxnSpLocks/>
          </p:cNvCxnSpPr>
          <p:nvPr/>
        </p:nvCxnSpPr>
        <p:spPr>
          <a:xfrm>
            <a:off x="9192352" y="5775370"/>
            <a:ext cx="2685412" cy="7042"/>
          </a:xfrm>
          <a:prstGeom prst="line">
            <a:avLst/>
          </a:prstGeom>
          <a:ln w="9525">
            <a:solidFill>
              <a:schemeClr val="bg1">
                <a:lumMod val="6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0" name="直線コネクタ 299">
            <a:extLst>
              <a:ext uri="{FF2B5EF4-FFF2-40B4-BE49-F238E27FC236}">
                <a16:creationId xmlns:a16="http://schemas.microsoft.com/office/drawing/2014/main" id="{02FAB3D7-8DD5-37BB-BDC4-D8A7D662C0B7}"/>
              </a:ext>
            </a:extLst>
          </p:cNvPr>
          <p:cNvCxnSpPr>
            <a:cxnSpLocks/>
          </p:cNvCxnSpPr>
          <p:nvPr/>
        </p:nvCxnSpPr>
        <p:spPr>
          <a:xfrm>
            <a:off x="9192352" y="6162913"/>
            <a:ext cx="2685412" cy="7042"/>
          </a:xfrm>
          <a:prstGeom prst="line">
            <a:avLst/>
          </a:prstGeom>
          <a:ln w="9525">
            <a:solidFill>
              <a:schemeClr val="bg1">
                <a:lumMod val="6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28" name="グループ化 327">
            <a:extLst>
              <a:ext uri="{FF2B5EF4-FFF2-40B4-BE49-F238E27FC236}">
                <a16:creationId xmlns:a16="http://schemas.microsoft.com/office/drawing/2014/main" id="{5748302D-731E-BA2F-C378-294F345513BF}"/>
              </a:ext>
            </a:extLst>
          </p:cNvPr>
          <p:cNvGrpSpPr/>
          <p:nvPr/>
        </p:nvGrpSpPr>
        <p:grpSpPr>
          <a:xfrm>
            <a:off x="334962" y="1857373"/>
            <a:ext cx="5723741" cy="4421921"/>
            <a:chOff x="334962" y="1628773"/>
            <a:chExt cx="5723741" cy="3637765"/>
          </a:xfrm>
        </p:grpSpPr>
        <p:sp>
          <p:nvSpPr>
            <p:cNvPr id="222" name="矢印: 左右 221">
              <a:extLst>
                <a:ext uri="{FF2B5EF4-FFF2-40B4-BE49-F238E27FC236}">
                  <a16:creationId xmlns:a16="http://schemas.microsoft.com/office/drawing/2014/main" id="{B890631F-C3E3-6D6E-F85C-B3C170AF24CF}"/>
                </a:ext>
              </a:extLst>
            </p:cNvPr>
            <p:cNvSpPr/>
            <p:nvPr/>
          </p:nvSpPr>
          <p:spPr>
            <a:xfrm>
              <a:off x="1797799" y="2762507"/>
              <a:ext cx="2569921" cy="601384"/>
            </a:xfrm>
            <a:prstGeom prst="leftRightArrow">
              <a:avLst>
                <a:gd name="adj1" fmla="val 54224"/>
                <a:gd name="adj2" fmla="val 28882"/>
              </a:avLst>
            </a:prstGeom>
            <a:solidFill>
              <a:srgbClr val="0080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ja-JP" altLang="en-US" sz="1200" b="0" i="0" u="none" strike="noStrike" kern="1200" cap="none" spc="0" normalizeH="0" baseline="0" noProof="0" dirty="0">
                <a:ln>
                  <a:noFill/>
                </a:ln>
                <a:solidFill>
                  <a:prstClr val="black"/>
                </a:solidFill>
                <a:effectLst/>
                <a:uLnTx/>
                <a:uFillTx/>
                <a:latin typeface="Meiryo UI"/>
                <a:ea typeface="Meiryo UI"/>
                <a:cs typeface="+mn-cs"/>
              </a:endParaRPr>
            </a:p>
          </p:txBody>
        </p:sp>
        <p:cxnSp>
          <p:nvCxnSpPr>
            <p:cNvPr id="224" name="直線コネクタ 223">
              <a:extLst>
                <a:ext uri="{FF2B5EF4-FFF2-40B4-BE49-F238E27FC236}">
                  <a16:creationId xmlns:a16="http://schemas.microsoft.com/office/drawing/2014/main" id="{9FC09A05-6436-AE67-42E4-64D73B5797B2}"/>
                </a:ext>
              </a:extLst>
            </p:cNvPr>
            <p:cNvCxnSpPr>
              <a:cxnSpLocks/>
              <a:stCxn id="153" idx="0"/>
              <a:endCxn id="139" idx="2"/>
            </p:cNvCxnSpPr>
            <p:nvPr/>
          </p:nvCxnSpPr>
          <p:spPr>
            <a:xfrm flipV="1">
              <a:off x="3064172" y="2603813"/>
              <a:ext cx="0" cy="1154754"/>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7" name="グループ化 16">
              <a:extLst>
                <a:ext uri="{FF2B5EF4-FFF2-40B4-BE49-F238E27FC236}">
                  <a16:creationId xmlns:a16="http://schemas.microsoft.com/office/drawing/2014/main" id="{80D12BC0-B14E-645A-1966-849CFF8B9AE8}"/>
                </a:ext>
              </a:extLst>
            </p:cNvPr>
            <p:cNvGrpSpPr/>
            <p:nvPr/>
          </p:nvGrpSpPr>
          <p:grpSpPr>
            <a:xfrm>
              <a:off x="2344172" y="2066000"/>
              <a:ext cx="1440000" cy="537813"/>
              <a:chOff x="2596677" y="2142200"/>
              <a:chExt cx="1440000" cy="537813"/>
            </a:xfrm>
          </p:grpSpPr>
          <p:sp>
            <p:nvSpPr>
              <p:cNvPr id="138" name="正方形/長方形 137">
                <a:extLst>
                  <a:ext uri="{FF2B5EF4-FFF2-40B4-BE49-F238E27FC236}">
                    <a16:creationId xmlns:a16="http://schemas.microsoft.com/office/drawing/2014/main" id="{E187F953-4A23-2706-9B9E-3E78F3539F5F}"/>
                  </a:ext>
                </a:extLst>
              </p:cNvPr>
              <p:cNvSpPr/>
              <p:nvPr/>
            </p:nvSpPr>
            <p:spPr>
              <a:xfrm>
                <a:off x="2596677" y="2142200"/>
                <a:ext cx="1440000" cy="216000"/>
              </a:xfrm>
              <a:prstGeom prst="rect">
                <a:avLst/>
              </a:prstGeom>
              <a:solidFill>
                <a:srgbClr val="008000"/>
              </a:solidFill>
              <a:ln w="9525">
                <a:solidFill>
                  <a:srgbClr val="008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プロジェクトオーナー</a:t>
                </a:r>
              </a:p>
            </p:txBody>
          </p:sp>
          <p:sp>
            <p:nvSpPr>
              <p:cNvPr id="139" name="正方形/長方形 138">
                <a:extLst>
                  <a:ext uri="{FF2B5EF4-FFF2-40B4-BE49-F238E27FC236}">
                    <a16:creationId xmlns:a16="http://schemas.microsoft.com/office/drawing/2014/main" id="{0BB58740-B691-2E29-3FA9-C90ECDDF720F}"/>
                  </a:ext>
                </a:extLst>
              </p:cNvPr>
              <p:cNvSpPr/>
              <p:nvPr/>
            </p:nvSpPr>
            <p:spPr>
              <a:xfrm>
                <a:off x="2596677" y="2358200"/>
                <a:ext cx="1440000" cy="321813"/>
              </a:xfrm>
              <a:prstGeom prst="rect">
                <a:avLst/>
              </a:prstGeom>
              <a:solidFill>
                <a:schemeClr val="bg1"/>
              </a:solidFill>
              <a:ln w="9525" cap="flat" cmpd="sng" algn="ctr">
                <a:solidFill>
                  <a:srgbClr val="008000"/>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008000"/>
                    </a:solidFill>
                    <a:effectLst/>
                    <a:uLnTx/>
                    <a:uFillTx/>
                    <a:latin typeface="Meiryo UI" panose="020B0604030504040204" pitchFamily="50" charset="-128"/>
                    <a:ea typeface="Meiryo UI" panose="020B0604030504040204" pitchFamily="50" charset="-128"/>
                    <a:cs typeface="+mn-cs"/>
                  </a:rPr>
                  <a:t>新井執行役員</a:t>
                </a:r>
                <a:endParaRPr kumimoji="0" lang="en-US" altLang="ja-JP" sz="1050" b="0" i="0" u="none" strike="noStrike" kern="0" cap="none" spc="0" normalizeH="0" baseline="0" noProof="0">
                  <a:ln>
                    <a:noFill/>
                  </a:ln>
                  <a:solidFill>
                    <a:srgbClr val="008000"/>
                  </a:solidFill>
                  <a:effectLst/>
                  <a:uLnTx/>
                  <a:uFillTx/>
                  <a:latin typeface="Meiryo UI" panose="020B0604030504040204" pitchFamily="50" charset="-128"/>
                  <a:ea typeface="Meiryo UI" panose="020B0604030504040204" pitchFamily="50" charset="-128"/>
                  <a:cs typeface="+mn-cs"/>
                </a:endParaRPr>
              </a:p>
            </p:txBody>
          </p:sp>
        </p:grpSp>
        <p:grpSp>
          <p:nvGrpSpPr>
            <p:cNvPr id="18" name="グループ化 17">
              <a:extLst>
                <a:ext uri="{FF2B5EF4-FFF2-40B4-BE49-F238E27FC236}">
                  <a16:creationId xmlns:a16="http://schemas.microsoft.com/office/drawing/2014/main" id="{FF8F8555-2DF1-DC03-2D01-71E2C29AE131}"/>
                </a:ext>
              </a:extLst>
            </p:cNvPr>
            <p:cNvGrpSpPr/>
            <p:nvPr/>
          </p:nvGrpSpPr>
          <p:grpSpPr>
            <a:xfrm>
              <a:off x="2344172" y="2736075"/>
              <a:ext cx="1440000" cy="537813"/>
              <a:chOff x="2596677" y="2786875"/>
              <a:chExt cx="1440000" cy="537813"/>
            </a:xfrm>
          </p:grpSpPr>
          <p:sp>
            <p:nvSpPr>
              <p:cNvPr id="142" name="正方形/長方形 141">
                <a:extLst>
                  <a:ext uri="{FF2B5EF4-FFF2-40B4-BE49-F238E27FC236}">
                    <a16:creationId xmlns:a16="http://schemas.microsoft.com/office/drawing/2014/main" id="{51F48DEF-2C51-7A60-8720-62E967040D12}"/>
                  </a:ext>
                </a:extLst>
              </p:cNvPr>
              <p:cNvSpPr/>
              <p:nvPr/>
            </p:nvSpPr>
            <p:spPr>
              <a:xfrm>
                <a:off x="2596677" y="2786875"/>
                <a:ext cx="1440000" cy="216000"/>
              </a:xfrm>
              <a:prstGeom prst="rect">
                <a:avLst/>
              </a:prstGeom>
              <a:solidFill>
                <a:srgbClr val="008000"/>
              </a:solidFill>
              <a:ln w="9525">
                <a:solidFill>
                  <a:srgbClr val="008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推進責任者</a:t>
                </a:r>
              </a:p>
            </p:txBody>
          </p:sp>
          <p:sp>
            <p:nvSpPr>
              <p:cNvPr id="143" name="正方形/長方形 142">
                <a:extLst>
                  <a:ext uri="{FF2B5EF4-FFF2-40B4-BE49-F238E27FC236}">
                    <a16:creationId xmlns:a16="http://schemas.microsoft.com/office/drawing/2014/main" id="{FC2E4A67-C3A2-4943-BA71-1936B7649909}"/>
                  </a:ext>
                </a:extLst>
              </p:cNvPr>
              <p:cNvSpPr/>
              <p:nvPr/>
            </p:nvSpPr>
            <p:spPr>
              <a:xfrm>
                <a:off x="2596677" y="3002875"/>
                <a:ext cx="1440000" cy="321813"/>
              </a:xfrm>
              <a:prstGeom prst="rect">
                <a:avLst/>
              </a:prstGeom>
              <a:solidFill>
                <a:schemeClr val="bg1"/>
              </a:solidFill>
              <a:ln w="9525" cap="flat" cmpd="sng" algn="ctr">
                <a:solidFill>
                  <a:srgbClr val="008000"/>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008000"/>
                    </a:solidFill>
                    <a:effectLst/>
                    <a:uLnTx/>
                    <a:uFillTx/>
                    <a:latin typeface="Meiryo UI" panose="020B0604030504040204" pitchFamily="50" charset="-128"/>
                    <a:ea typeface="Meiryo UI" panose="020B0604030504040204" pitchFamily="50" charset="-128"/>
                    <a:cs typeface="+mn-cs"/>
                  </a:rPr>
                  <a:t>千葉室長</a:t>
                </a:r>
                <a:endParaRPr kumimoji="0" lang="en-US" altLang="ja-JP" sz="1050" b="0" i="0" u="none" strike="noStrike" kern="0" cap="none" spc="0" normalizeH="0" baseline="0" noProof="0">
                  <a:ln>
                    <a:noFill/>
                  </a:ln>
                  <a:solidFill>
                    <a:srgbClr val="008000"/>
                  </a:solidFill>
                  <a:effectLst/>
                  <a:uLnTx/>
                  <a:uFillTx/>
                  <a:latin typeface="Meiryo UI" panose="020B0604030504040204" pitchFamily="50" charset="-128"/>
                  <a:ea typeface="Meiryo UI" panose="020B0604030504040204" pitchFamily="50" charset="-128"/>
                  <a:cs typeface="+mn-cs"/>
                </a:endParaRPr>
              </a:p>
            </p:txBody>
          </p:sp>
        </p:grpSp>
        <p:grpSp>
          <p:nvGrpSpPr>
            <p:cNvPr id="16" name="グループ化 15">
              <a:extLst>
                <a:ext uri="{FF2B5EF4-FFF2-40B4-BE49-F238E27FC236}">
                  <a16:creationId xmlns:a16="http://schemas.microsoft.com/office/drawing/2014/main" id="{D27F558B-3AD3-0406-F054-E72FB13B968A}"/>
                </a:ext>
              </a:extLst>
            </p:cNvPr>
            <p:cNvGrpSpPr/>
            <p:nvPr/>
          </p:nvGrpSpPr>
          <p:grpSpPr>
            <a:xfrm>
              <a:off x="4618703" y="2223238"/>
              <a:ext cx="1440000" cy="537813"/>
              <a:chOff x="4733003" y="2377526"/>
              <a:chExt cx="1440000" cy="537813"/>
            </a:xfrm>
          </p:grpSpPr>
          <p:sp>
            <p:nvSpPr>
              <p:cNvPr id="145" name="正方形/長方形 144">
                <a:extLst>
                  <a:ext uri="{FF2B5EF4-FFF2-40B4-BE49-F238E27FC236}">
                    <a16:creationId xmlns:a16="http://schemas.microsoft.com/office/drawing/2014/main" id="{81A7775A-A1C6-EF6C-8EFA-4C365F777FD1}"/>
                  </a:ext>
                </a:extLst>
              </p:cNvPr>
              <p:cNvSpPr/>
              <p:nvPr/>
            </p:nvSpPr>
            <p:spPr>
              <a:xfrm>
                <a:off x="4733003" y="2377526"/>
                <a:ext cx="1440000" cy="216000"/>
              </a:xfrm>
              <a:prstGeom prst="rect">
                <a:avLst/>
              </a:prstGeom>
              <a:solidFill>
                <a:srgbClr val="008000"/>
              </a:solidFill>
              <a:ln w="9525">
                <a:solidFill>
                  <a:srgbClr val="008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PM/PMO</a:t>
                </a: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リーダ</a:t>
                </a:r>
              </a:p>
            </p:txBody>
          </p:sp>
          <p:sp>
            <p:nvSpPr>
              <p:cNvPr id="146" name="正方形/長方形 145">
                <a:extLst>
                  <a:ext uri="{FF2B5EF4-FFF2-40B4-BE49-F238E27FC236}">
                    <a16:creationId xmlns:a16="http://schemas.microsoft.com/office/drawing/2014/main" id="{175456BD-2B92-8BF5-9BDB-C9AF8E2E3743}"/>
                  </a:ext>
                </a:extLst>
              </p:cNvPr>
              <p:cNvSpPr/>
              <p:nvPr/>
            </p:nvSpPr>
            <p:spPr>
              <a:xfrm>
                <a:off x="4733003" y="2593526"/>
                <a:ext cx="1440000" cy="321813"/>
              </a:xfrm>
              <a:prstGeom prst="rect">
                <a:avLst/>
              </a:prstGeom>
              <a:solidFill>
                <a:schemeClr val="bg1"/>
              </a:solidFill>
              <a:ln w="9525" cap="flat" cmpd="sng" algn="ctr">
                <a:solidFill>
                  <a:srgbClr val="008000"/>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008000"/>
                    </a:solidFill>
                    <a:effectLst/>
                    <a:uLnTx/>
                    <a:uFillTx/>
                    <a:latin typeface="Meiryo UI" panose="020B0604030504040204" pitchFamily="50" charset="-128"/>
                    <a:ea typeface="Meiryo UI" panose="020B0604030504040204" pitchFamily="50" charset="-128"/>
                    <a:cs typeface="+mn-cs"/>
                  </a:rPr>
                  <a:t>経企 </a:t>
                </a:r>
                <a:r>
                  <a:rPr kumimoji="0" lang="en-US" altLang="ja-JP" sz="1050" b="0" i="0" u="none" strike="noStrike" kern="0" cap="none" spc="0" normalizeH="0" baseline="0" noProof="0">
                    <a:ln>
                      <a:noFill/>
                    </a:ln>
                    <a:solidFill>
                      <a:srgbClr val="008000"/>
                    </a:solidFill>
                    <a:effectLst/>
                    <a:uLnTx/>
                    <a:uFillTx/>
                    <a:latin typeface="Meiryo UI" panose="020B0604030504040204" pitchFamily="50" charset="-128"/>
                    <a:ea typeface="Meiryo UI" panose="020B0604030504040204" pitchFamily="50" charset="-128"/>
                    <a:cs typeface="+mn-cs"/>
                  </a:rPr>
                  <a:t>/ </a:t>
                </a:r>
                <a:r>
                  <a:rPr kumimoji="0" lang="ja-JP" altLang="en-US" sz="1050" b="0" i="0" u="none" strike="noStrike" kern="0" cap="none" spc="0" normalizeH="0" baseline="0" noProof="0">
                    <a:ln>
                      <a:noFill/>
                    </a:ln>
                    <a:solidFill>
                      <a:srgbClr val="008000"/>
                    </a:solidFill>
                    <a:effectLst/>
                    <a:uLnTx/>
                    <a:uFillTx/>
                    <a:latin typeface="Meiryo UI" panose="020B0604030504040204" pitchFamily="50" charset="-128"/>
                    <a:ea typeface="Meiryo UI" panose="020B0604030504040204" pitchFamily="50" charset="-128"/>
                    <a:cs typeface="+mn-cs"/>
                  </a:rPr>
                  <a:t>デジ戦 菊池</a:t>
                </a:r>
                <a:endParaRPr kumimoji="0" lang="en-US" altLang="ja-JP" sz="1050" b="1" i="0" u="none" strike="noStrike" kern="0" cap="none" spc="0" normalizeH="0" baseline="0" noProof="0">
                  <a:ln>
                    <a:noFill/>
                  </a:ln>
                  <a:solidFill>
                    <a:srgbClr val="008000"/>
                  </a:solidFill>
                  <a:effectLst/>
                  <a:uLnTx/>
                  <a:uFillTx/>
                  <a:latin typeface="Meiryo UI" panose="020B0604030504040204" pitchFamily="50" charset="-128"/>
                  <a:ea typeface="Meiryo UI" panose="020B0604030504040204" pitchFamily="50" charset="-128"/>
                  <a:cs typeface="+mn-cs"/>
                </a:endParaRPr>
              </a:p>
            </p:txBody>
          </p:sp>
        </p:grpSp>
        <p:grpSp>
          <p:nvGrpSpPr>
            <p:cNvPr id="12" name="グループ化 11">
              <a:extLst>
                <a:ext uri="{FF2B5EF4-FFF2-40B4-BE49-F238E27FC236}">
                  <a16:creationId xmlns:a16="http://schemas.microsoft.com/office/drawing/2014/main" id="{652532C6-5032-62DC-7D8C-D23148FDDB5A}"/>
                </a:ext>
              </a:extLst>
            </p:cNvPr>
            <p:cNvGrpSpPr/>
            <p:nvPr/>
          </p:nvGrpSpPr>
          <p:grpSpPr>
            <a:xfrm>
              <a:off x="4618703" y="2857101"/>
              <a:ext cx="1440000" cy="641486"/>
              <a:chOff x="4733003" y="3022201"/>
              <a:chExt cx="1440000" cy="641486"/>
            </a:xfrm>
          </p:grpSpPr>
          <p:sp>
            <p:nvSpPr>
              <p:cNvPr id="149" name="正方形/長方形 148">
                <a:extLst>
                  <a:ext uri="{FF2B5EF4-FFF2-40B4-BE49-F238E27FC236}">
                    <a16:creationId xmlns:a16="http://schemas.microsoft.com/office/drawing/2014/main" id="{DC1FD695-D20A-15D5-5334-8B39BFCE1000}"/>
                  </a:ext>
                </a:extLst>
              </p:cNvPr>
              <p:cNvSpPr/>
              <p:nvPr/>
            </p:nvSpPr>
            <p:spPr>
              <a:xfrm>
                <a:off x="4733003" y="3022201"/>
                <a:ext cx="1440000" cy="257638"/>
              </a:xfrm>
              <a:prstGeom prst="rect">
                <a:avLst/>
              </a:prstGeom>
              <a:solidFill>
                <a:srgbClr val="008000"/>
              </a:solidFill>
              <a:ln w="9525">
                <a:solidFill>
                  <a:srgbClr val="008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PM/PMO</a:t>
                </a: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補佐</a:t>
                </a:r>
              </a:p>
            </p:txBody>
          </p:sp>
          <p:sp>
            <p:nvSpPr>
              <p:cNvPr id="150" name="正方形/長方形 149">
                <a:extLst>
                  <a:ext uri="{FF2B5EF4-FFF2-40B4-BE49-F238E27FC236}">
                    <a16:creationId xmlns:a16="http://schemas.microsoft.com/office/drawing/2014/main" id="{6305A7CB-3349-4A2B-BBB6-46657A800888}"/>
                  </a:ext>
                </a:extLst>
              </p:cNvPr>
              <p:cNvSpPr/>
              <p:nvPr/>
            </p:nvSpPr>
            <p:spPr>
              <a:xfrm>
                <a:off x="4733003" y="3279839"/>
                <a:ext cx="1440000" cy="383848"/>
              </a:xfrm>
              <a:prstGeom prst="rect">
                <a:avLst/>
              </a:prstGeom>
              <a:solidFill>
                <a:schemeClr val="bg1"/>
              </a:solidFill>
              <a:ln w="9525" cap="flat" cmpd="sng" algn="ctr">
                <a:solidFill>
                  <a:srgbClr val="008000"/>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1612900" algn="l"/>
                  </a:tabLst>
                  <a:defRPr/>
                </a:pPr>
                <a:r>
                  <a:rPr kumimoji="0" lang="ja-JP" altLang="en-US" sz="105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n-cs"/>
                  </a:rPr>
                  <a:t>外部コンサル </a:t>
                </a:r>
                <a:r>
                  <a:rPr kumimoji="0" lang="en-US" altLang="ja-JP" sz="1050" kern="0" dirty="0">
                    <a:solidFill>
                      <a:srgbClr val="FF0000"/>
                    </a:solidFill>
                    <a:latin typeface="Meiryo UI" panose="020B0604030504040204" pitchFamily="50" charset="-128"/>
                    <a:ea typeface="Meiryo UI" panose="020B0604030504040204" pitchFamily="50" charset="-128"/>
                  </a:rPr>
                  <a:t>TBA</a:t>
                </a:r>
                <a:endParaRPr kumimoji="0" lang="en-US" altLang="ja-JP" sz="105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tab pos="1612900" algn="l"/>
                  </a:tabLst>
                  <a:defRPr/>
                </a:pPr>
                <a:r>
                  <a:rPr kumimoji="0" lang="en-US" altLang="ja-JP" sz="1050" b="0" i="0" u="none" strike="noStrike" kern="0" cap="none" spc="0" normalizeH="0" baseline="0" noProof="0" dirty="0">
                    <a:ln>
                      <a:noFill/>
                    </a:ln>
                    <a:solidFill>
                      <a:srgbClr val="008000"/>
                    </a:solidFill>
                    <a:effectLst/>
                    <a:uLnTx/>
                    <a:uFillTx/>
                    <a:latin typeface="Meiryo UI" panose="020B0604030504040204" pitchFamily="50" charset="-128"/>
                    <a:ea typeface="Meiryo UI" panose="020B0604030504040204" pitchFamily="50" charset="-128"/>
                    <a:cs typeface="+mn-cs"/>
                  </a:rPr>
                  <a:t>ESG</a:t>
                </a:r>
                <a:r>
                  <a:rPr kumimoji="0" lang="ja-JP" altLang="en-US" sz="1050" b="0" i="0" u="none" strike="noStrike" kern="0" cap="none" spc="0" normalizeH="0" baseline="0" noProof="0" dirty="0">
                    <a:ln>
                      <a:noFill/>
                    </a:ln>
                    <a:solidFill>
                      <a:srgbClr val="008000"/>
                    </a:solidFill>
                    <a:effectLst/>
                    <a:uLnTx/>
                    <a:uFillTx/>
                    <a:latin typeface="Meiryo UI" panose="020B0604030504040204" pitchFamily="50" charset="-128"/>
                    <a:ea typeface="Meiryo UI" panose="020B0604030504040204" pitchFamily="50" charset="-128"/>
                    <a:cs typeface="+mn-cs"/>
                  </a:rPr>
                  <a:t>室  南</a:t>
                </a:r>
                <a:endParaRPr kumimoji="0" lang="ja-JP" altLang="en-US" sz="1050" b="1" i="0" u="none" strike="noStrike" kern="0" cap="none" spc="0" normalizeH="0" baseline="0" noProof="0" dirty="0">
                  <a:ln>
                    <a:noFill/>
                  </a:ln>
                  <a:solidFill>
                    <a:srgbClr val="008000"/>
                  </a:solidFill>
                  <a:effectLst/>
                  <a:uLnTx/>
                  <a:uFillTx/>
                  <a:latin typeface="Meiryo UI" panose="020B0604030504040204" pitchFamily="50" charset="-128"/>
                  <a:ea typeface="Meiryo UI" panose="020B0604030504040204" pitchFamily="50" charset="-128"/>
                  <a:cs typeface="+mn-cs"/>
                </a:endParaRPr>
              </a:p>
            </p:txBody>
          </p:sp>
        </p:grpSp>
        <p:sp>
          <p:nvSpPr>
            <p:cNvPr id="151" name="正方形/長方形 150">
              <a:extLst>
                <a:ext uri="{FF2B5EF4-FFF2-40B4-BE49-F238E27FC236}">
                  <a16:creationId xmlns:a16="http://schemas.microsoft.com/office/drawing/2014/main" id="{0C324B92-9E80-654A-9B9C-89644605D650}"/>
                </a:ext>
              </a:extLst>
            </p:cNvPr>
            <p:cNvSpPr/>
            <p:nvPr/>
          </p:nvSpPr>
          <p:spPr>
            <a:xfrm>
              <a:off x="933784" y="3758568"/>
              <a:ext cx="828000" cy="432000"/>
            </a:xfrm>
            <a:prstGeom prst="rect">
              <a:avLst/>
            </a:prstGeom>
            <a:noFill/>
            <a:ln w="9525">
              <a:solidFill>
                <a:srgbClr val="008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 tIns="36000" rIns="18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050" b="0" i="0" u="none" strike="noStrike" kern="0" cap="none" spc="0" normalizeH="0" baseline="0" noProof="0" dirty="0">
                  <a:ln>
                    <a:noFill/>
                  </a:ln>
                  <a:solidFill>
                    <a:srgbClr val="008000"/>
                  </a:solidFill>
                  <a:effectLst/>
                  <a:uLnTx/>
                  <a:uFillTx/>
                  <a:latin typeface="Meiryo UI" panose="020B0604030504040204" pitchFamily="50" charset="-128"/>
                  <a:ea typeface="Meiryo UI" panose="020B0604030504040204" pitchFamily="50" charset="-128"/>
                  <a:cs typeface="+mn-cs"/>
                </a:rPr>
                <a:t>ESG</a:t>
              </a:r>
              <a:br>
                <a:rPr kumimoji="0" lang="en-US" altLang="ja-JP" sz="1050" b="0" i="0" u="none" strike="noStrike" kern="0" cap="none" spc="0" normalizeH="0" baseline="0" noProof="0" dirty="0">
                  <a:ln>
                    <a:noFill/>
                  </a:ln>
                  <a:solidFill>
                    <a:srgbClr val="008000"/>
                  </a:solidFill>
                  <a:effectLst/>
                  <a:uLnTx/>
                  <a:uFillTx/>
                  <a:latin typeface="Meiryo UI" panose="020B0604030504040204" pitchFamily="50" charset="-128"/>
                  <a:ea typeface="Meiryo UI" panose="020B0604030504040204" pitchFamily="50" charset="-128"/>
                  <a:cs typeface="+mn-cs"/>
                </a:rPr>
              </a:br>
              <a:r>
                <a:rPr kumimoji="0" lang="en-US" altLang="ja-JP" sz="1050" b="0" i="0" u="none" strike="noStrike" kern="0" cap="none" spc="0" normalizeH="0" baseline="0" noProof="0" dirty="0">
                  <a:ln>
                    <a:noFill/>
                  </a:ln>
                  <a:solidFill>
                    <a:srgbClr val="008000"/>
                  </a:solidFill>
                  <a:effectLst/>
                  <a:uLnTx/>
                  <a:uFillTx/>
                  <a:latin typeface="Meiryo UI" panose="020B0604030504040204" pitchFamily="50" charset="-128"/>
                  <a:ea typeface="Meiryo UI" panose="020B0604030504040204" pitchFamily="50" charset="-128"/>
                  <a:cs typeface="+mn-cs"/>
                </a:rPr>
                <a:t>(</a:t>
              </a:r>
              <a:r>
                <a:rPr kumimoji="0" lang="ja-JP" altLang="en-US" sz="1050" b="0" i="0" u="none" strike="noStrike" kern="0" cap="none" spc="0" normalizeH="0" baseline="0" noProof="0" dirty="0">
                  <a:ln>
                    <a:noFill/>
                  </a:ln>
                  <a:solidFill>
                    <a:srgbClr val="008000"/>
                  </a:solidFill>
                  <a:effectLst/>
                  <a:uLnTx/>
                  <a:uFillTx/>
                  <a:latin typeface="Meiryo UI" panose="020B0604030504040204" pitchFamily="50" charset="-128"/>
                  <a:ea typeface="Meiryo UI" panose="020B0604030504040204" pitchFamily="50" charset="-128"/>
                  <a:cs typeface="+mn-cs"/>
                </a:rPr>
                <a:t>事務局</a:t>
              </a:r>
              <a:r>
                <a:rPr kumimoji="0" lang="en-US" altLang="ja-JP" sz="1050" b="0" i="0" u="none" strike="noStrike" kern="0" cap="none" spc="0" normalizeH="0" baseline="0" noProof="0" dirty="0">
                  <a:ln>
                    <a:noFill/>
                  </a:ln>
                  <a:solidFill>
                    <a:srgbClr val="008000"/>
                  </a:solidFill>
                  <a:effectLst/>
                  <a:uLnTx/>
                  <a:uFillTx/>
                  <a:latin typeface="Meiryo UI" panose="020B0604030504040204" pitchFamily="50" charset="-128"/>
                  <a:ea typeface="Meiryo UI" panose="020B0604030504040204" pitchFamily="50" charset="-128"/>
                  <a:cs typeface="+mn-cs"/>
                </a:rPr>
                <a:t>)</a:t>
              </a:r>
              <a:endParaRPr kumimoji="0" lang="ja-JP" altLang="en-US" sz="1050" b="0" i="0" u="none" strike="noStrike" kern="0" cap="none" spc="0" normalizeH="0" baseline="0" noProof="0" dirty="0">
                <a:ln>
                  <a:noFill/>
                </a:ln>
                <a:solidFill>
                  <a:srgbClr val="008000"/>
                </a:solidFill>
                <a:effectLst/>
                <a:uLnTx/>
                <a:uFillTx/>
                <a:latin typeface="Meiryo UI" panose="020B0604030504040204" pitchFamily="50" charset="-128"/>
                <a:ea typeface="Meiryo UI" panose="020B0604030504040204" pitchFamily="50" charset="-128"/>
                <a:cs typeface="+mn-cs"/>
              </a:endParaRPr>
            </a:p>
          </p:txBody>
        </p:sp>
        <p:grpSp>
          <p:nvGrpSpPr>
            <p:cNvPr id="6" name="グループ化 5">
              <a:extLst>
                <a:ext uri="{FF2B5EF4-FFF2-40B4-BE49-F238E27FC236}">
                  <a16:creationId xmlns:a16="http://schemas.microsoft.com/office/drawing/2014/main" id="{C5B5D66A-3CE6-68C8-4FAC-CB5CAB27FBB2}"/>
                </a:ext>
              </a:extLst>
            </p:cNvPr>
            <p:cNvGrpSpPr/>
            <p:nvPr/>
          </p:nvGrpSpPr>
          <p:grpSpPr>
            <a:xfrm>
              <a:off x="334963" y="4841199"/>
              <a:ext cx="504000" cy="422292"/>
              <a:chOff x="334961" y="4841199"/>
              <a:chExt cx="540000" cy="422292"/>
            </a:xfrm>
          </p:grpSpPr>
          <p:sp>
            <p:nvSpPr>
              <p:cNvPr id="157" name="正方形/長方形 156">
                <a:extLst>
                  <a:ext uri="{FF2B5EF4-FFF2-40B4-BE49-F238E27FC236}">
                    <a16:creationId xmlns:a16="http://schemas.microsoft.com/office/drawing/2014/main" id="{567DB070-890A-857A-CADD-DAB560B4BD22}"/>
                  </a:ext>
                </a:extLst>
              </p:cNvPr>
              <p:cNvSpPr/>
              <p:nvPr/>
            </p:nvSpPr>
            <p:spPr>
              <a:xfrm>
                <a:off x="334961" y="4868549"/>
                <a:ext cx="540000" cy="39494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ja-JP" sz="1100" b="0" i="0" u="none" strike="noStrike" kern="1200" cap="none" spc="0" normalizeH="0" baseline="0" noProof="0" dirty="0">
                    <a:ln>
                      <a:noFill/>
                    </a:ln>
                    <a:solidFill>
                      <a:srgbClr val="008000"/>
                    </a:solidFill>
                    <a:effectLst/>
                    <a:uLnTx/>
                    <a:uFillTx/>
                    <a:latin typeface="Meiryo UI"/>
                    <a:ea typeface="Meiryo UI"/>
                    <a:cs typeface="+mn-cs"/>
                  </a:rPr>
                  <a:t>PL</a:t>
                </a:r>
                <a:endParaRPr kumimoji="0" lang="ja-JP" altLang="en-US" sz="1100" b="0" i="0" u="none" strike="noStrike" kern="1200" cap="none" spc="0" normalizeH="0" baseline="0" noProof="0" dirty="0">
                  <a:ln>
                    <a:noFill/>
                  </a:ln>
                  <a:solidFill>
                    <a:srgbClr val="008000"/>
                  </a:solidFill>
                  <a:effectLst/>
                  <a:uLnTx/>
                  <a:uFillTx/>
                  <a:latin typeface="Meiryo UI"/>
                  <a:ea typeface="Meiryo UI"/>
                  <a:cs typeface="+mn-cs"/>
                </a:endParaRPr>
              </a:p>
            </p:txBody>
          </p:sp>
          <p:cxnSp>
            <p:nvCxnSpPr>
              <p:cNvPr id="161" name="直線コネクタ 160">
                <a:extLst>
                  <a:ext uri="{FF2B5EF4-FFF2-40B4-BE49-F238E27FC236}">
                    <a16:creationId xmlns:a16="http://schemas.microsoft.com/office/drawing/2014/main" id="{AABD04BD-366B-8C3F-A857-7E32DBF5CB6F}"/>
                  </a:ext>
                </a:extLst>
              </p:cNvPr>
              <p:cNvCxnSpPr>
                <a:cxnSpLocks/>
              </p:cNvCxnSpPr>
              <p:nvPr/>
            </p:nvCxnSpPr>
            <p:spPr>
              <a:xfrm>
                <a:off x="874961" y="4841199"/>
                <a:ext cx="0" cy="422291"/>
              </a:xfrm>
              <a:prstGeom prst="line">
                <a:avLst/>
              </a:prstGeom>
              <a:ln w="38100">
                <a:solidFill>
                  <a:srgbClr val="008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69" name="正方形/長方形 168">
              <a:extLst>
                <a:ext uri="{FF2B5EF4-FFF2-40B4-BE49-F238E27FC236}">
                  <a16:creationId xmlns:a16="http://schemas.microsoft.com/office/drawing/2014/main" id="{138A2BCA-968F-1717-F050-1ECF1B8B0044}"/>
                </a:ext>
              </a:extLst>
            </p:cNvPr>
            <p:cNvSpPr/>
            <p:nvPr/>
          </p:nvSpPr>
          <p:spPr>
            <a:xfrm>
              <a:off x="939734" y="4836103"/>
              <a:ext cx="828000" cy="430435"/>
            </a:xfrm>
            <a:prstGeom prst="rect">
              <a:avLst/>
            </a:prstGeom>
            <a:solidFill>
              <a:srgbClr val="008000">
                <a:alpha val="3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 tIns="36000" rIns="18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二宮</a:t>
              </a:r>
              <a:endPar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r>
                <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千葉</a:t>
              </a:r>
              <a:r>
                <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endPar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52" name="正方形/長方形 151">
              <a:extLst>
                <a:ext uri="{FF2B5EF4-FFF2-40B4-BE49-F238E27FC236}">
                  <a16:creationId xmlns:a16="http://schemas.microsoft.com/office/drawing/2014/main" id="{88B6FB1C-FB38-B8D9-37B9-8C767E9E96E9}"/>
                </a:ext>
              </a:extLst>
            </p:cNvPr>
            <p:cNvSpPr/>
            <p:nvPr/>
          </p:nvSpPr>
          <p:spPr>
            <a:xfrm>
              <a:off x="1791978" y="3758568"/>
              <a:ext cx="828000" cy="432000"/>
            </a:xfrm>
            <a:prstGeom prst="rect">
              <a:avLst/>
            </a:prstGeom>
            <a:noFill/>
            <a:ln w="9525">
              <a:solidFill>
                <a:srgbClr val="008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 tIns="36000" rIns="18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008000"/>
                  </a:solidFill>
                  <a:effectLst/>
                  <a:uLnTx/>
                  <a:uFillTx/>
                  <a:latin typeface="Meiryo UI" panose="020B0604030504040204" pitchFamily="50" charset="-128"/>
                  <a:ea typeface="Meiryo UI" panose="020B0604030504040204" pitchFamily="50" charset="-128"/>
                  <a:cs typeface="+mn-cs"/>
                </a:rPr>
                <a:t>国内対応</a:t>
              </a:r>
            </a:p>
          </p:txBody>
        </p:sp>
        <p:sp>
          <p:nvSpPr>
            <p:cNvPr id="170" name="正方形/長方形 169">
              <a:extLst>
                <a:ext uri="{FF2B5EF4-FFF2-40B4-BE49-F238E27FC236}">
                  <a16:creationId xmlns:a16="http://schemas.microsoft.com/office/drawing/2014/main" id="{95B34ACB-924B-193E-DCEF-216E794A9A55}"/>
                </a:ext>
              </a:extLst>
            </p:cNvPr>
            <p:cNvSpPr/>
            <p:nvPr/>
          </p:nvSpPr>
          <p:spPr>
            <a:xfrm>
              <a:off x="1797928" y="4836103"/>
              <a:ext cx="828000" cy="430435"/>
            </a:xfrm>
            <a:prstGeom prst="rect">
              <a:avLst/>
            </a:prstGeom>
            <a:solidFill>
              <a:srgbClr val="008000">
                <a:alpha val="3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 tIns="36000" rIns="18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横山</a:t>
              </a:r>
              <a:endPar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r>
                <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押塚</a:t>
              </a:r>
              <a:r>
                <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endPar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53" name="正方形/長方形 152">
              <a:extLst>
                <a:ext uri="{FF2B5EF4-FFF2-40B4-BE49-F238E27FC236}">
                  <a16:creationId xmlns:a16="http://schemas.microsoft.com/office/drawing/2014/main" id="{24513E36-4837-F080-39AA-8C44610FD62F}"/>
                </a:ext>
              </a:extLst>
            </p:cNvPr>
            <p:cNvSpPr/>
            <p:nvPr/>
          </p:nvSpPr>
          <p:spPr>
            <a:xfrm>
              <a:off x="2650172" y="3758568"/>
              <a:ext cx="828000" cy="432000"/>
            </a:xfrm>
            <a:prstGeom prst="rect">
              <a:avLst/>
            </a:prstGeom>
            <a:noFill/>
            <a:ln w="9525">
              <a:solidFill>
                <a:srgbClr val="008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 tIns="36000" rIns="18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008000"/>
                  </a:solidFill>
                  <a:effectLst/>
                  <a:uLnTx/>
                  <a:uFillTx/>
                  <a:latin typeface="Meiryo UI" panose="020B0604030504040204" pitchFamily="50" charset="-128"/>
                  <a:ea typeface="Meiryo UI" panose="020B0604030504040204" pitchFamily="50" charset="-128"/>
                  <a:cs typeface="+mn-cs"/>
                </a:rPr>
                <a:t>海外対応</a:t>
              </a:r>
            </a:p>
          </p:txBody>
        </p:sp>
        <p:sp>
          <p:nvSpPr>
            <p:cNvPr id="171" name="正方形/長方形 170">
              <a:extLst>
                <a:ext uri="{FF2B5EF4-FFF2-40B4-BE49-F238E27FC236}">
                  <a16:creationId xmlns:a16="http://schemas.microsoft.com/office/drawing/2014/main" id="{05B91140-39EA-64D5-FEBA-05DE505E7A99}"/>
                </a:ext>
              </a:extLst>
            </p:cNvPr>
            <p:cNvSpPr/>
            <p:nvPr/>
          </p:nvSpPr>
          <p:spPr>
            <a:xfrm>
              <a:off x="2656122" y="4836103"/>
              <a:ext cx="828000" cy="430435"/>
            </a:xfrm>
            <a:prstGeom prst="rect">
              <a:avLst/>
            </a:prstGeom>
            <a:solidFill>
              <a:srgbClr val="008000">
                <a:alpha val="3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 tIns="36000" rIns="18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西ヶ谷</a:t>
              </a:r>
              <a:endPar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r>
                <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神宮</a:t>
              </a:r>
              <a:r>
                <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endPar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54" name="正方形/長方形 153">
              <a:extLst>
                <a:ext uri="{FF2B5EF4-FFF2-40B4-BE49-F238E27FC236}">
                  <a16:creationId xmlns:a16="http://schemas.microsoft.com/office/drawing/2014/main" id="{131AC263-0B89-F7F0-30A7-F0388E1C6434}"/>
                </a:ext>
              </a:extLst>
            </p:cNvPr>
            <p:cNvSpPr/>
            <p:nvPr/>
          </p:nvSpPr>
          <p:spPr>
            <a:xfrm>
              <a:off x="3508366" y="3758568"/>
              <a:ext cx="828000" cy="432000"/>
            </a:xfrm>
            <a:prstGeom prst="rect">
              <a:avLst/>
            </a:prstGeom>
            <a:noFill/>
            <a:ln w="9525">
              <a:solidFill>
                <a:srgbClr val="008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 tIns="36000" rIns="18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008000"/>
                  </a:solidFill>
                  <a:effectLst/>
                  <a:uLnTx/>
                  <a:uFillTx/>
                  <a:latin typeface="Meiryo UI" panose="020B0604030504040204" pitchFamily="50" charset="-128"/>
                  <a:ea typeface="Meiryo UI" panose="020B0604030504040204" pitchFamily="50" charset="-128"/>
                  <a:cs typeface="+mn-cs"/>
                </a:rPr>
                <a:t>経理</a:t>
              </a:r>
            </a:p>
          </p:txBody>
        </p:sp>
        <p:sp>
          <p:nvSpPr>
            <p:cNvPr id="172" name="正方形/長方形 171">
              <a:extLst>
                <a:ext uri="{FF2B5EF4-FFF2-40B4-BE49-F238E27FC236}">
                  <a16:creationId xmlns:a16="http://schemas.microsoft.com/office/drawing/2014/main" id="{FFF4D562-3551-6984-2519-28EDD434AB64}"/>
                </a:ext>
              </a:extLst>
            </p:cNvPr>
            <p:cNvSpPr/>
            <p:nvPr/>
          </p:nvSpPr>
          <p:spPr>
            <a:xfrm>
              <a:off x="3514316" y="4836103"/>
              <a:ext cx="828000" cy="430435"/>
            </a:xfrm>
            <a:prstGeom prst="rect">
              <a:avLst/>
            </a:prstGeom>
            <a:solidFill>
              <a:srgbClr val="008000">
                <a:alpha val="3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 tIns="36000" rIns="18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西沼</a:t>
              </a:r>
              <a:endPar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r>
                <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竹生</a:t>
              </a:r>
              <a:r>
                <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endPar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55" name="正方形/長方形 154">
              <a:extLst>
                <a:ext uri="{FF2B5EF4-FFF2-40B4-BE49-F238E27FC236}">
                  <a16:creationId xmlns:a16="http://schemas.microsoft.com/office/drawing/2014/main" id="{1D71DB2F-F726-D076-6525-A46B92763A7F}"/>
                </a:ext>
              </a:extLst>
            </p:cNvPr>
            <p:cNvSpPr/>
            <p:nvPr/>
          </p:nvSpPr>
          <p:spPr>
            <a:xfrm>
              <a:off x="4366560" y="3758568"/>
              <a:ext cx="828000" cy="432000"/>
            </a:xfrm>
            <a:prstGeom prst="rect">
              <a:avLst/>
            </a:prstGeom>
            <a:noFill/>
            <a:ln w="9525">
              <a:solidFill>
                <a:srgbClr val="008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 tIns="36000" rIns="18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008000"/>
                  </a:solidFill>
                  <a:effectLst/>
                  <a:uLnTx/>
                  <a:uFillTx/>
                  <a:latin typeface="Meiryo UI" panose="020B0604030504040204" pitchFamily="50" charset="-128"/>
                  <a:ea typeface="Meiryo UI" panose="020B0604030504040204" pitchFamily="50" charset="-128"/>
                  <a:cs typeface="+mn-cs"/>
                </a:rPr>
                <a:t>システム対応</a:t>
              </a:r>
            </a:p>
          </p:txBody>
        </p:sp>
        <p:sp>
          <p:nvSpPr>
            <p:cNvPr id="173" name="正方形/長方形 172">
              <a:extLst>
                <a:ext uri="{FF2B5EF4-FFF2-40B4-BE49-F238E27FC236}">
                  <a16:creationId xmlns:a16="http://schemas.microsoft.com/office/drawing/2014/main" id="{80E2F5A4-FDD4-50C5-9A71-62DF85251404}"/>
                </a:ext>
              </a:extLst>
            </p:cNvPr>
            <p:cNvSpPr/>
            <p:nvPr/>
          </p:nvSpPr>
          <p:spPr>
            <a:xfrm>
              <a:off x="4372509" y="4836103"/>
              <a:ext cx="828000" cy="430435"/>
            </a:xfrm>
            <a:prstGeom prst="rect">
              <a:avLst/>
            </a:prstGeom>
            <a:solidFill>
              <a:srgbClr val="008000">
                <a:alpha val="3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 tIns="36000" rIns="18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岡田</a:t>
              </a:r>
              <a:endPar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r>
                <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木下</a:t>
              </a:r>
              <a:r>
                <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endPar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56" name="正方形/長方形 155">
              <a:extLst>
                <a:ext uri="{FF2B5EF4-FFF2-40B4-BE49-F238E27FC236}">
                  <a16:creationId xmlns:a16="http://schemas.microsoft.com/office/drawing/2014/main" id="{CA7B1D66-1B88-1162-9CCE-D8A90AB3B68A}"/>
                </a:ext>
              </a:extLst>
            </p:cNvPr>
            <p:cNvSpPr/>
            <p:nvPr/>
          </p:nvSpPr>
          <p:spPr>
            <a:xfrm>
              <a:off x="5224753" y="3758568"/>
              <a:ext cx="828000" cy="432000"/>
            </a:xfrm>
            <a:prstGeom prst="rect">
              <a:avLst/>
            </a:prstGeom>
            <a:noFill/>
            <a:ln w="9525">
              <a:solidFill>
                <a:srgbClr val="008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 tIns="36000" rIns="18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008000"/>
                  </a:solidFill>
                  <a:effectLst/>
                  <a:uLnTx/>
                  <a:uFillTx/>
                  <a:latin typeface="Meiryo UI" panose="020B0604030504040204" pitchFamily="50" charset="-128"/>
                  <a:ea typeface="Meiryo UI" panose="020B0604030504040204" pitchFamily="50" charset="-128"/>
                  <a:cs typeface="+mn-cs"/>
                </a:rPr>
                <a:t>外部ベンダー</a:t>
              </a:r>
            </a:p>
          </p:txBody>
        </p:sp>
        <p:sp>
          <p:nvSpPr>
            <p:cNvPr id="174" name="正方形/長方形 173">
              <a:extLst>
                <a:ext uri="{FF2B5EF4-FFF2-40B4-BE49-F238E27FC236}">
                  <a16:creationId xmlns:a16="http://schemas.microsoft.com/office/drawing/2014/main" id="{A2D0C40F-8106-6902-34D0-DC6CBDCA33F8}"/>
                </a:ext>
              </a:extLst>
            </p:cNvPr>
            <p:cNvSpPr/>
            <p:nvPr/>
          </p:nvSpPr>
          <p:spPr>
            <a:xfrm>
              <a:off x="5230703" y="4836103"/>
              <a:ext cx="828000" cy="430435"/>
            </a:xfrm>
            <a:prstGeom prst="rect">
              <a:avLst/>
            </a:prstGeom>
            <a:solidFill>
              <a:srgbClr val="008000">
                <a:alpha val="3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 tIns="36000" rIns="18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選定前のため</a:t>
              </a:r>
              <a:endPar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TBA</a:t>
              </a:r>
              <a:endPar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grpSp>
          <p:nvGrpSpPr>
            <p:cNvPr id="317" name="グループ化 316">
              <a:extLst>
                <a:ext uri="{FF2B5EF4-FFF2-40B4-BE49-F238E27FC236}">
                  <a16:creationId xmlns:a16="http://schemas.microsoft.com/office/drawing/2014/main" id="{E80F0DA9-CE70-0054-6B2A-7F58303FE640}"/>
                </a:ext>
              </a:extLst>
            </p:cNvPr>
            <p:cNvGrpSpPr/>
            <p:nvPr/>
          </p:nvGrpSpPr>
          <p:grpSpPr>
            <a:xfrm>
              <a:off x="334963" y="2066000"/>
              <a:ext cx="1368000" cy="760562"/>
              <a:chOff x="334963" y="2066000"/>
              <a:chExt cx="1368000" cy="760562"/>
            </a:xfrm>
          </p:grpSpPr>
          <p:sp>
            <p:nvSpPr>
              <p:cNvPr id="200" name="正方形/長方形 199">
                <a:extLst>
                  <a:ext uri="{FF2B5EF4-FFF2-40B4-BE49-F238E27FC236}">
                    <a16:creationId xmlns:a16="http://schemas.microsoft.com/office/drawing/2014/main" id="{FFD0CD45-ACCA-FA14-4C51-7D2F9E78ED64}"/>
                  </a:ext>
                </a:extLst>
              </p:cNvPr>
              <p:cNvSpPr/>
              <p:nvPr/>
            </p:nvSpPr>
            <p:spPr>
              <a:xfrm>
                <a:off x="334963" y="2066000"/>
                <a:ext cx="1368000" cy="374256"/>
              </a:xfrm>
              <a:prstGeom prst="rect">
                <a:avLst/>
              </a:prstGeom>
              <a:solidFill>
                <a:srgbClr val="008000"/>
              </a:solidFill>
              <a:ln w="9525">
                <a:solidFill>
                  <a:srgbClr val="008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サス協議会</a:t>
                </a:r>
                <a:endParaRPr kumimoji="0" lang="en-US" altLang="ja-JP"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（半期</a:t>
                </a:r>
                <a:r>
                  <a:rPr kumimoji="0" lang="en-US" altLang="ja-JP"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1</a:t>
                </a: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回）</a:t>
                </a:r>
              </a:p>
            </p:txBody>
          </p:sp>
          <p:sp>
            <p:nvSpPr>
              <p:cNvPr id="208" name="正方形/長方形 207">
                <a:extLst>
                  <a:ext uri="{FF2B5EF4-FFF2-40B4-BE49-F238E27FC236}">
                    <a16:creationId xmlns:a16="http://schemas.microsoft.com/office/drawing/2014/main" id="{E4C1D335-11D0-A953-078D-D63DBBE49F0F}"/>
                  </a:ext>
                </a:extLst>
              </p:cNvPr>
              <p:cNvSpPr/>
              <p:nvPr/>
            </p:nvSpPr>
            <p:spPr>
              <a:xfrm>
                <a:off x="334963" y="2377568"/>
                <a:ext cx="1368000" cy="448994"/>
              </a:xfrm>
              <a:prstGeom prst="rect">
                <a:avLst/>
              </a:prstGeom>
              <a:solidFill>
                <a:schemeClr val="bg1"/>
              </a:solidFill>
              <a:ln w="9525" cap="flat" cmpd="sng" algn="ctr">
                <a:solidFill>
                  <a:srgbClr val="008000"/>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n-cs"/>
                  </a:rPr>
                  <a:t>協議会メンバー</a:t>
                </a:r>
                <a:endParaRPr kumimoji="0" lang="en-US" altLang="ja-JP" sz="105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n-cs"/>
                  </a:rPr>
                  <a:t>＋中林執行役員</a:t>
                </a:r>
                <a:endParaRPr kumimoji="0" lang="en-US" altLang="ja-JP" sz="105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n-cs"/>
                </a:endParaRPr>
              </a:p>
            </p:txBody>
          </p:sp>
        </p:grpSp>
        <p:grpSp>
          <p:nvGrpSpPr>
            <p:cNvPr id="20" name="グループ化 19">
              <a:extLst>
                <a:ext uri="{FF2B5EF4-FFF2-40B4-BE49-F238E27FC236}">
                  <a16:creationId xmlns:a16="http://schemas.microsoft.com/office/drawing/2014/main" id="{C9876634-41A0-3777-FE10-AF7190CC8D69}"/>
                </a:ext>
              </a:extLst>
            </p:cNvPr>
            <p:cNvGrpSpPr/>
            <p:nvPr/>
          </p:nvGrpSpPr>
          <p:grpSpPr>
            <a:xfrm>
              <a:off x="334962" y="1628773"/>
              <a:ext cx="5723740" cy="396000"/>
              <a:chOff x="334962" y="1628773"/>
              <a:chExt cx="5723740" cy="396000"/>
            </a:xfrm>
          </p:grpSpPr>
          <p:sp>
            <p:nvSpPr>
              <p:cNvPr id="7" name="正方形/長方形 6">
                <a:extLst>
                  <a:ext uri="{FF2B5EF4-FFF2-40B4-BE49-F238E27FC236}">
                    <a16:creationId xmlns:a16="http://schemas.microsoft.com/office/drawing/2014/main" id="{A8317C3F-8DFC-1A6D-9AAE-2D0C411B128A}"/>
                  </a:ext>
                </a:extLst>
              </p:cNvPr>
              <p:cNvSpPr/>
              <p:nvPr/>
            </p:nvSpPr>
            <p:spPr>
              <a:xfrm>
                <a:off x="334962" y="1628773"/>
                <a:ext cx="5723740" cy="396000"/>
              </a:xfrm>
              <a:prstGeom prst="rect">
                <a:avLst/>
              </a:prstGeom>
              <a:solidFill>
                <a:srgbClr val="0080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468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prstClr val="white"/>
                    </a:solidFill>
                    <a:effectLst/>
                    <a:uLnTx/>
                    <a:uFillTx/>
                    <a:latin typeface="Meiryo UI"/>
                    <a:ea typeface="Meiryo UI"/>
                    <a:cs typeface="+mn-cs"/>
                  </a:rPr>
                  <a:t>プロジェクト体制</a:t>
                </a:r>
              </a:p>
            </p:txBody>
          </p:sp>
          <p:pic>
            <p:nvPicPr>
              <p:cNvPr id="210" name="グラフィックス 209" descr="フローチャート 単色塗りつぶし">
                <a:extLst>
                  <a:ext uri="{FF2B5EF4-FFF2-40B4-BE49-F238E27FC236}">
                    <a16:creationId xmlns:a16="http://schemas.microsoft.com/office/drawing/2014/main" id="{C85088D3-0CF9-EB35-D030-3AAB1710228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408715" y="1634342"/>
                <a:ext cx="360000" cy="360000"/>
              </a:xfrm>
              <a:prstGeom prst="rect">
                <a:avLst/>
              </a:prstGeom>
            </p:spPr>
          </p:pic>
        </p:grpSp>
        <p:cxnSp>
          <p:nvCxnSpPr>
            <p:cNvPr id="225" name="直線コネクタ 224">
              <a:extLst>
                <a:ext uri="{FF2B5EF4-FFF2-40B4-BE49-F238E27FC236}">
                  <a16:creationId xmlns:a16="http://schemas.microsoft.com/office/drawing/2014/main" id="{5F99990F-ECF0-458E-4789-8F6A4F7BFFFE}"/>
                </a:ext>
              </a:extLst>
            </p:cNvPr>
            <p:cNvCxnSpPr>
              <a:cxnSpLocks/>
              <a:stCxn id="146" idx="2"/>
              <a:endCxn id="149" idx="0"/>
            </p:cNvCxnSpPr>
            <p:nvPr/>
          </p:nvCxnSpPr>
          <p:spPr>
            <a:xfrm>
              <a:off x="5338703" y="2761051"/>
              <a:ext cx="0" cy="96050"/>
            </a:xfrm>
            <a:prstGeom prst="line">
              <a:avLst/>
            </a:prstGeom>
            <a:ln w="9525">
              <a:solidFill>
                <a:srgbClr val="0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9" name="コネクタ: カギ線 318">
              <a:extLst>
                <a:ext uri="{FF2B5EF4-FFF2-40B4-BE49-F238E27FC236}">
                  <a16:creationId xmlns:a16="http://schemas.microsoft.com/office/drawing/2014/main" id="{8C7BBC9F-C43E-D4DA-EE21-06562D1FF981}"/>
                </a:ext>
              </a:extLst>
            </p:cNvPr>
            <p:cNvCxnSpPr>
              <a:cxnSpLocks/>
              <a:stCxn id="151" idx="0"/>
              <a:endCxn id="155" idx="0"/>
            </p:cNvCxnSpPr>
            <p:nvPr/>
          </p:nvCxnSpPr>
          <p:spPr>
            <a:xfrm rot="5400000" flipH="1" flipV="1">
              <a:off x="3065298" y="2042180"/>
              <a:ext cx="10448" cy="3432776"/>
            </a:xfrm>
            <a:prstGeom prst="bentConnector3">
              <a:avLst>
                <a:gd name="adj1" fmla="val 1800000"/>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1" name="コネクタ: カギ線 320">
              <a:extLst>
                <a:ext uri="{FF2B5EF4-FFF2-40B4-BE49-F238E27FC236}">
                  <a16:creationId xmlns:a16="http://schemas.microsoft.com/office/drawing/2014/main" id="{B4E357D0-3690-1114-BA11-A2CDCB1117A0}"/>
                </a:ext>
              </a:extLst>
            </p:cNvPr>
            <p:cNvCxnSpPr>
              <a:cxnSpLocks/>
              <a:stCxn id="152" idx="0"/>
              <a:endCxn id="154" idx="0"/>
            </p:cNvCxnSpPr>
            <p:nvPr/>
          </p:nvCxnSpPr>
          <p:spPr>
            <a:xfrm rot="5400000" flipH="1" flipV="1">
              <a:off x="3064172" y="2900374"/>
              <a:ext cx="12700" cy="1716388"/>
            </a:xfrm>
            <a:prstGeom prst="bentConnector3">
              <a:avLst>
                <a:gd name="adj1" fmla="val 1429810"/>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7" name="直線コネクタ 326">
              <a:extLst>
                <a:ext uri="{FF2B5EF4-FFF2-40B4-BE49-F238E27FC236}">
                  <a16:creationId xmlns:a16="http://schemas.microsoft.com/office/drawing/2014/main" id="{BD282B91-D768-9EDE-12F4-EFB0201DB4CB}"/>
                </a:ext>
              </a:extLst>
            </p:cNvPr>
            <p:cNvCxnSpPr>
              <a:cxnSpLocks/>
            </p:cNvCxnSpPr>
            <p:nvPr/>
          </p:nvCxnSpPr>
          <p:spPr>
            <a:xfrm flipH="1">
              <a:off x="3064172" y="3363813"/>
              <a:ext cx="1554531"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35" name="正方形/長方形 234">
            <a:extLst>
              <a:ext uri="{FF2B5EF4-FFF2-40B4-BE49-F238E27FC236}">
                <a16:creationId xmlns:a16="http://schemas.microsoft.com/office/drawing/2014/main" id="{26FFC353-76E9-AAF4-AD8D-37D4E8098026}"/>
              </a:ext>
            </a:extLst>
          </p:cNvPr>
          <p:cNvSpPr/>
          <p:nvPr/>
        </p:nvSpPr>
        <p:spPr>
          <a:xfrm>
            <a:off x="334963" y="3223567"/>
            <a:ext cx="1368000" cy="374256"/>
          </a:xfrm>
          <a:prstGeom prst="rect">
            <a:avLst/>
          </a:prstGeom>
          <a:solidFill>
            <a:srgbClr val="008000"/>
          </a:solidFill>
          <a:ln w="9525">
            <a:solidFill>
              <a:srgbClr val="008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進捗報告会</a:t>
            </a:r>
            <a:endParaRPr kumimoji="0" lang="en-US" altLang="ja-JP"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（月</a:t>
            </a:r>
            <a:r>
              <a:rPr kumimoji="0" lang="en-US" altLang="ja-JP"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1</a:t>
            </a: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回）</a:t>
            </a:r>
          </a:p>
        </p:txBody>
      </p:sp>
      <p:sp>
        <p:nvSpPr>
          <p:cNvPr id="236" name="正方形/長方形 235">
            <a:extLst>
              <a:ext uri="{FF2B5EF4-FFF2-40B4-BE49-F238E27FC236}">
                <a16:creationId xmlns:a16="http://schemas.microsoft.com/office/drawing/2014/main" id="{A13C8E44-3FEB-F8B6-04F3-ED69115D4887}"/>
              </a:ext>
            </a:extLst>
          </p:cNvPr>
          <p:cNvSpPr/>
          <p:nvPr/>
        </p:nvSpPr>
        <p:spPr>
          <a:xfrm>
            <a:off x="351001" y="3582179"/>
            <a:ext cx="1368000" cy="374256"/>
          </a:xfrm>
          <a:prstGeom prst="rect">
            <a:avLst/>
          </a:prstGeom>
          <a:solidFill>
            <a:schemeClr val="bg1"/>
          </a:solidFill>
          <a:ln w="9525" cap="flat" cmpd="sng" algn="ctr">
            <a:solidFill>
              <a:srgbClr val="008000"/>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n-cs"/>
              </a:rPr>
              <a:t>新井執行役員</a:t>
            </a:r>
            <a:endParaRPr kumimoji="0" lang="en-US" altLang="ja-JP" sz="105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n-cs"/>
              </a:rPr>
              <a:t>中林執行役員</a:t>
            </a:r>
            <a:endParaRPr kumimoji="0" lang="en-US" altLang="ja-JP" sz="105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n-cs"/>
            </a:endParaRPr>
          </a:p>
        </p:txBody>
      </p:sp>
      <p:sp>
        <p:nvSpPr>
          <p:cNvPr id="4" name="テキスト ボックス 3">
            <a:extLst>
              <a:ext uri="{FF2B5EF4-FFF2-40B4-BE49-F238E27FC236}">
                <a16:creationId xmlns:a16="http://schemas.microsoft.com/office/drawing/2014/main" id="{5CE64360-D43F-89E9-C2A6-E24B5595A0A1}"/>
              </a:ext>
            </a:extLst>
          </p:cNvPr>
          <p:cNvSpPr txBox="1"/>
          <p:nvPr/>
        </p:nvSpPr>
        <p:spPr>
          <a:xfrm>
            <a:off x="838252" y="5023845"/>
            <a:ext cx="902811" cy="523220"/>
          </a:xfrm>
          <a:prstGeom prst="rect">
            <a:avLst/>
          </a:prstGeom>
          <a:noFill/>
        </p:spPr>
        <p:txBody>
          <a:bodyPr wrap="none" rtlCol="0">
            <a:spAutoFit/>
          </a:bodyPr>
          <a:lstStyle/>
          <a:p>
            <a:pPr algn="ctr"/>
            <a:r>
              <a:rPr kumimoji="1" lang="ja-JP" altLang="en-US" sz="1400" dirty="0"/>
              <a:t>新井</a:t>
            </a:r>
            <a:endParaRPr kumimoji="1" lang="en-US" altLang="ja-JP" sz="1400" dirty="0"/>
          </a:p>
          <a:p>
            <a:pPr algn="ctr"/>
            <a:r>
              <a:rPr lang="ja-JP" altLang="en-US" sz="1400" dirty="0"/>
              <a:t>執行役員</a:t>
            </a:r>
            <a:endParaRPr kumimoji="1" lang="ja-JP" altLang="en-US" sz="1400" dirty="0"/>
          </a:p>
        </p:txBody>
      </p:sp>
      <p:sp>
        <p:nvSpPr>
          <p:cNvPr id="5" name="テキスト ボックス 4">
            <a:extLst>
              <a:ext uri="{FF2B5EF4-FFF2-40B4-BE49-F238E27FC236}">
                <a16:creationId xmlns:a16="http://schemas.microsoft.com/office/drawing/2014/main" id="{8949CEF4-A2B2-E975-260A-BCA7764C0694}"/>
              </a:ext>
            </a:extLst>
          </p:cNvPr>
          <p:cNvSpPr txBox="1"/>
          <p:nvPr/>
        </p:nvSpPr>
        <p:spPr>
          <a:xfrm>
            <a:off x="1725150" y="5023845"/>
            <a:ext cx="902811" cy="523220"/>
          </a:xfrm>
          <a:prstGeom prst="rect">
            <a:avLst/>
          </a:prstGeom>
          <a:noFill/>
        </p:spPr>
        <p:txBody>
          <a:bodyPr wrap="none" rtlCol="0">
            <a:spAutoFit/>
          </a:bodyPr>
          <a:lstStyle/>
          <a:p>
            <a:pPr algn="ctr"/>
            <a:r>
              <a:rPr kumimoji="1" lang="ja-JP" altLang="en-US" sz="1400"/>
              <a:t>浦尾</a:t>
            </a:r>
            <a:endParaRPr kumimoji="1" lang="en-US" altLang="ja-JP" sz="1400"/>
          </a:p>
          <a:p>
            <a:pPr algn="ctr"/>
            <a:r>
              <a:rPr lang="ja-JP" altLang="en-US" sz="1400"/>
              <a:t>執行役員</a:t>
            </a:r>
            <a:endParaRPr kumimoji="1" lang="ja-JP" altLang="en-US" sz="1400"/>
          </a:p>
        </p:txBody>
      </p:sp>
      <p:sp>
        <p:nvSpPr>
          <p:cNvPr id="19" name="テキスト ボックス 18">
            <a:extLst>
              <a:ext uri="{FF2B5EF4-FFF2-40B4-BE49-F238E27FC236}">
                <a16:creationId xmlns:a16="http://schemas.microsoft.com/office/drawing/2014/main" id="{8DB63052-B200-D24B-5DA0-377D0CA3C24A}"/>
              </a:ext>
            </a:extLst>
          </p:cNvPr>
          <p:cNvSpPr txBox="1"/>
          <p:nvPr/>
        </p:nvSpPr>
        <p:spPr>
          <a:xfrm>
            <a:off x="2577996" y="5023845"/>
            <a:ext cx="902811" cy="523220"/>
          </a:xfrm>
          <a:prstGeom prst="rect">
            <a:avLst/>
          </a:prstGeom>
          <a:noFill/>
        </p:spPr>
        <p:txBody>
          <a:bodyPr wrap="none" rtlCol="0">
            <a:spAutoFit/>
          </a:bodyPr>
          <a:lstStyle/>
          <a:p>
            <a:pPr algn="ctr"/>
            <a:r>
              <a:rPr kumimoji="1" lang="ja-JP" altLang="en-US" sz="1400"/>
              <a:t>一谷</a:t>
            </a:r>
            <a:endParaRPr kumimoji="1" lang="en-US" altLang="ja-JP" sz="1400"/>
          </a:p>
          <a:p>
            <a:pPr algn="ctr"/>
            <a:r>
              <a:rPr lang="ja-JP" altLang="en-US" sz="1400"/>
              <a:t>執行役員</a:t>
            </a:r>
            <a:endParaRPr kumimoji="1" lang="ja-JP" altLang="en-US" sz="1400"/>
          </a:p>
        </p:txBody>
      </p:sp>
      <p:sp>
        <p:nvSpPr>
          <p:cNvPr id="23" name="テキスト ボックス 22">
            <a:extLst>
              <a:ext uri="{FF2B5EF4-FFF2-40B4-BE49-F238E27FC236}">
                <a16:creationId xmlns:a16="http://schemas.microsoft.com/office/drawing/2014/main" id="{3F21737A-D400-6848-A524-DABDAC5225B3}"/>
              </a:ext>
            </a:extLst>
          </p:cNvPr>
          <p:cNvSpPr txBox="1"/>
          <p:nvPr/>
        </p:nvSpPr>
        <p:spPr>
          <a:xfrm>
            <a:off x="3384765" y="5023845"/>
            <a:ext cx="1107996" cy="523220"/>
          </a:xfrm>
          <a:prstGeom prst="rect">
            <a:avLst/>
          </a:prstGeom>
          <a:noFill/>
        </p:spPr>
        <p:txBody>
          <a:bodyPr wrap="square" rtlCol="0">
            <a:spAutoFit/>
          </a:bodyPr>
          <a:lstStyle/>
          <a:p>
            <a:pPr algn="ctr"/>
            <a:r>
              <a:rPr kumimoji="1" lang="ja-JP" altLang="en-US" sz="1400" dirty="0"/>
              <a:t>竹生</a:t>
            </a:r>
            <a:endParaRPr kumimoji="1" lang="en-US" altLang="ja-JP" sz="1400" dirty="0"/>
          </a:p>
          <a:p>
            <a:pPr algn="ctr"/>
            <a:r>
              <a:rPr lang="ja-JP" altLang="en-US" sz="1400" dirty="0"/>
              <a:t>執行役員</a:t>
            </a:r>
            <a:endParaRPr kumimoji="1" lang="ja-JP" altLang="en-US" sz="1400" dirty="0"/>
          </a:p>
        </p:txBody>
      </p:sp>
      <p:sp>
        <p:nvSpPr>
          <p:cNvPr id="25" name="テキスト ボックス 24">
            <a:extLst>
              <a:ext uri="{FF2B5EF4-FFF2-40B4-BE49-F238E27FC236}">
                <a16:creationId xmlns:a16="http://schemas.microsoft.com/office/drawing/2014/main" id="{BE63BB3E-9EDD-6720-9B77-311F06778095}"/>
              </a:ext>
            </a:extLst>
          </p:cNvPr>
          <p:cNvSpPr txBox="1"/>
          <p:nvPr/>
        </p:nvSpPr>
        <p:spPr>
          <a:xfrm>
            <a:off x="4655094" y="5023845"/>
            <a:ext cx="1107996" cy="523220"/>
          </a:xfrm>
          <a:prstGeom prst="rect">
            <a:avLst/>
          </a:prstGeom>
          <a:noFill/>
        </p:spPr>
        <p:txBody>
          <a:bodyPr wrap="square" rtlCol="0">
            <a:spAutoFit/>
          </a:bodyPr>
          <a:lstStyle/>
          <a:p>
            <a:pPr algn="ctr"/>
            <a:r>
              <a:rPr kumimoji="1" lang="ja-JP" altLang="en-US" sz="1400"/>
              <a:t>中林</a:t>
            </a:r>
            <a:endParaRPr kumimoji="1" lang="en-US" altLang="ja-JP" sz="1400"/>
          </a:p>
          <a:p>
            <a:pPr algn="ctr"/>
            <a:r>
              <a:rPr lang="ja-JP" altLang="en-US" sz="1400"/>
              <a:t>執行役員</a:t>
            </a:r>
            <a:endParaRPr kumimoji="1" lang="ja-JP" altLang="en-US" sz="1400"/>
          </a:p>
        </p:txBody>
      </p:sp>
      <p:sp>
        <p:nvSpPr>
          <p:cNvPr id="8" name="タイトル 1">
            <a:extLst>
              <a:ext uri="{FF2B5EF4-FFF2-40B4-BE49-F238E27FC236}">
                <a16:creationId xmlns:a16="http://schemas.microsoft.com/office/drawing/2014/main" id="{EF8A5C1E-E701-5CFA-26AF-5B71F671698A}"/>
              </a:ext>
            </a:extLst>
          </p:cNvPr>
          <p:cNvSpPr txBox="1">
            <a:spLocks/>
          </p:cNvSpPr>
          <p:nvPr/>
        </p:nvSpPr>
        <p:spPr>
          <a:xfrm>
            <a:off x="223045" y="1"/>
            <a:ext cx="11745912" cy="9144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kumimoji="1" sz="2400" kern="1200" baseline="0">
                <a:solidFill>
                  <a:schemeClr val="tx1"/>
                </a:solidFill>
                <a:latin typeface="Meiryo UI" panose="020B0604030504040204" pitchFamily="50" charset="-128"/>
                <a:ea typeface="Meiryo UI" panose="020B0604030504040204" pitchFamily="50" charset="-128"/>
                <a:cs typeface="+mj-cs"/>
              </a:defRPr>
            </a:lvl1pPr>
          </a:lstStyle>
          <a:p>
            <a:r>
              <a:rPr lang="ja-JP" altLang="en-US" dirty="0"/>
              <a:t>推進体制図</a:t>
            </a:r>
          </a:p>
        </p:txBody>
      </p:sp>
      <p:sp>
        <p:nvSpPr>
          <p:cNvPr id="2" name="正方形/長方形 1">
            <a:extLst>
              <a:ext uri="{FF2B5EF4-FFF2-40B4-BE49-F238E27FC236}">
                <a16:creationId xmlns:a16="http://schemas.microsoft.com/office/drawing/2014/main" id="{D63B3377-8639-7F8B-E770-11ACB0573207}"/>
              </a:ext>
            </a:extLst>
          </p:cNvPr>
          <p:cNvSpPr/>
          <p:nvPr/>
        </p:nvSpPr>
        <p:spPr>
          <a:xfrm>
            <a:off x="9133811" y="68094"/>
            <a:ext cx="2721460" cy="758486"/>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tx1"/>
                </a:solidFill>
                <a:latin typeface="Meiryo UI" panose="020B0604030504040204" pitchFamily="50" charset="-128"/>
                <a:ea typeface="Meiryo UI" panose="020B0604030504040204" pitchFamily="50" charset="-128"/>
              </a:rPr>
              <a:t>実態に合わせ作成する</a:t>
            </a:r>
            <a:endParaRPr lang="en-US" altLang="ja-JP" sz="1400" dirty="0">
              <a:solidFill>
                <a:schemeClr val="tx1"/>
              </a:solidFill>
              <a:latin typeface="Meiryo UI" panose="020B0604030504040204" pitchFamily="50" charset="-128"/>
              <a:ea typeface="Meiryo UI" panose="020B0604030504040204" pitchFamily="50" charset="-128"/>
            </a:endParaRPr>
          </a:p>
          <a:p>
            <a:pPr algn="ctr"/>
            <a:r>
              <a:rPr lang="ja-JP" altLang="en-US" sz="1400" dirty="0">
                <a:solidFill>
                  <a:schemeClr val="tx1"/>
                </a:solidFill>
                <a:latin typeface="Meiryo UI" panose="020B0604030504040204" pitchFamily="50" charset="-128"/>
                <a:ea typeface="Meiryo UI" panose="020B0604030504040204" pitchFamily="50" charset="-128"/>
              </a:rPr>
              <a:t>下記はテンプレ</a:t>
            </a:r>
            <a:endParaRPr kumimoji="1" lang="ja-JP" altLang="en-US" sz="14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161152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7C613B-89F9-D5E0-1AFF-0BF6349113CE}"/>
              </a:ext>
            </a:extLst>
          </p:cNvPr>
          <p:cNvSpPr>
            <a:spLocks noGrp="1"/>
          </p:cNvSpPr>
          <p:nvPr>
            <p:ph type="title"/>
          </p:nvPr>
        </p:nvSpPr>
        <p:spPr/>
        <p:txBody>
          <a:bodyPr/>
          <a:lstStyle/>
          <a:p>
            <a:r>
              <a:rPr kumimoji="1" lang="ja-JP" altLang="en-US" dirty="0"/>
              <a:t>投資・体制観点の主要論点</a:t>
            </a:r>
          </a:p>
        </p:txBody>
      </p:sp>
      <p:sp>
        <p:nvSpPr>
          <p:cNvPr id="3" name="テキスト プレースホルダー 2">
            <a:extLst>
              <a:ext uri="{FF2B5EF4-FFF2-40B4-BE49-F238E27FC236}">
                <a16:creationId xmlns:a16="http://schemas.microsoft.com/office/drawing/2014/main" id="{106AC829-E0F5-1CBD-21C6-DEA886F1F2E4}"/>
              </a:ext>
            </a:extLst>
          </p:cNvPr>
          <p:cNvSpPr>
            <a:spLocks noGrp="1"/>
          </p:cNvSpPr>
          <p:nvPr>
            <p:ph type="body" sz="quarter" idx="13"/>
          </p:nvPr>
        </p:nvSpPr>
        <p:spPr/>
        <p:txBody>
          <a:bodyPr/>
          <a:lstStyle/>
          <a:p>
            <a:r>
              <a:rPr kumimoji="1" lang="ja-JP" altLang="en-US" sz="1800" dirty="0"/>
              <a:t>優先度は真因・</a:t>
            </a:r>
            <a:r>
              <a:rPr kumimoji="1" lang="en-US" altLang="ja-JP" sz="1800" dirty="0"/>
              <a:t>GAP</a:t>
            </a:r>
            <a:r>
              <a:rPr kumimoji="1" lang="ja-JP" altLang="en-US" sz="1800" dirty="0"/>
              <a:t>への直接性で決定。</a:t>
            </a:r>
            <a:r>
              <a:rPr kumimoji="1" lang="en-US" altLang="ja-JP" sz="1800" dirty="0"/>
              <a:t>5</a:t>
            </a:r>
            <a:r>
              <a:rPr kumimoji="1" lang="ja-JP" altLang="en-US" sz="1800" dirty="0"/>
              <a:t>年累計</a:t>
            </a:r>
            <a:r>
              <a:rPr kumimoji="1" lang="en-US" altLang="ja-JP" sz="1800" dirty="0"/>
              <a:t>30〜50</a:t>
            </a:r>
            <a:r>
              <a:rPr kumimoji="1" lang="ja-JP" altLang="en-US" sz="1800" dirty="0"/>
              <a:t>億円に対し効果は年</a:t>
            </a:r>
            <a:r>
              <a:rPr kumimoji="1" lang="en-US" altLang="ja-JP" sz="1800" dirty="0"/>
              <a:t>45〜95</a:t>
            </a:r>
            <a:r>
              <a:rPr kumimoji="1" lang="ja-JP" altLang="en-US" sz="1800" dirty="0"/>
              <a:t>億円＋売上防衛 </a:t>
            </a:r>
            <a:r>
              <a:rPr kumimoji="1" lang="en-US" altLang="ja-JP" sz="1800" dirty="0"/>
              <a:t>― </a:t>
            </a:r>
            <a:r>
              <a:rPr kumimoji="1" lang="ja-JP" altLang="en-US" sz="1800" dirty="0"/>
              <a:t>前提は</a:t>
            </a:r>
            <a:r>
              <a:rPr kumimoji="1" lang="en-US" altLang="ja-JP" sz="1800" dirty="0"/>
              <a:t>FY26</a:t>
            </a:r>
            <a:r>
              <a:rPr kumimoji="1" lang="ja-JP" altLang="en-US" sz="1800" dirty="0"/>
              <a:t>上期に実測して確定</a:t>
            </a:r>
          </a:p>
        </p:txBody>
      </p:sp>
      <p:sp>
        <p:nvSpPr>
          <p:cNvPr id="5" name="Rectangle 13">
            <a:extLst>
              <a:ext uri="{FF2B5EF4-FFF2-40B4-BE49-F238E27FC236}">
                <a16:creationId xmlns:a16="http://schemas.microsoft.com/office/drawing/2014/main" id="{843EAB70-C91D-008C-10A0-194A66D6E1AE}"/>
              </a:ext>
            </a:extLst>
          </p:cNvPr>
          <p:cNvSpPr/>
          <p:nvPr/>
        </p:nvSpPr>
        <p:spPr>
          <a:xfrm>
            <a:off x="320040" y="1628774"/>
            <a:ext cx="2834640" cy="60036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 name="TextBox 14">
            <a:extLst>
              <a:ext uri="{FF2B5EF4-FFF2-40B4-BE49-F238E27FC236}">
                <a16:creationId xmlns:a16="http://schemas.microsoft.com/office/drawing/2014/main" id="{373D5477-1F1D-B769-15F8-C0A6BAEB1775}"/>
              </a:ext>
            </a:extLst>
          </p:cNvPr>
          <p:cNvSpPr txBox="1"/>
          <p:nvPr/>
        </p:nvSpPr>
        <p:spPr>
          <a:xfrm>
            <a:off x="411480" y="1672919"/>
            <a:ext cx="2651760" cy="180114"/>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AIEO・Oral Evidence Hub</a:t>
            </a:r>
          </a:p>
        </p:txBody>
      </p:sp>
      <p:sp>
        <p:nvSpPr>
          <p:cNvPr id="7" name="Rectangle 15">
            <a:extLst>
              <a:ext uri="{FF2B5EF4-FFF2-40B4-BE49-F238E27FC236}">
                <a16:creationId xmlns:a16="http://schemas.microsoft.com/office/drawing/2014/main" id="{07846021-E94D-998D-216D-83113E2ECCFC}"/>
              </a:ext>
            </a:extLst>
          </p:cNvPr>
          <p:cNvSpPr/>
          <p:nvPr/>
        </p:nvSpPr>
        <p:spPr>
          <a:xfrm>
            <a:off x="3172968" y="1628774"/>
            <a:ext cx="7589520" cy="60036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8" name="TextBox 16">
            <a:extLst>
              <a:ext uri="{FF2B5EF4-FFF2-40B4-BE49-F238E27FC236}">
                <a16:creationId xmlns:a16="http://schemas.microsoft.com/office/drawing/2014/main" id="{1CC01C92-EE8A-CF3F-D6D9-CA6E38A1DAF3}"/>
              </a:ext>
            </a:extLst>
          </p:cNvPr>
          <p:cNvSpPr txBox="1"/>
          <p:nvPr/>
        </p:nvSpPr>
        <p:spPr>
          <a:xfrm>
            <a:off x="3291840" y="1672919"/>
            <a:ext cx="7360920" cy="180114"/>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GAP1解消の中核。構造化データ整備・AI推奨モニタリング。外部委託vs内製の選択</a:t>
            </a:r>
          </a:p>
        </p:txBody>
      </p:sp>
      <p:sp>
        <p:nvSpPr>
          <p:cNvPr id="9" name="Rectangle 17">
            <a:extLst>
              <a:ext uri="{FF2B5EF4-FFF2-40B4-BE49-F238E27FC236}">
                <a16:creationId xmlns:a16="http://schemas.microsoft.com/office/drawing/2014/main" id="{2EADE8F7-2A1E-36E6-0F81-48A81175B722}"/>
              </a:ext>
            </a:extLst>
          </p:cNvPr>
          <p:cNvSpPr/>
          <p:nvPr/>
        </p:nvSpPr>
        <p:spPr>
          <a:xfrm>
            <a:off x="10780776" y="1628774"/>
            <a:ext cx="1060704" cy="600366"/>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solidFill>
                <a:srgbClr val="008000"/>
              </a:solidFill>
            </a:endParaRPr>
          </a:p>
        </p:txBody>
      </p:sp>
      <p:sp>
        <p:nvSpPr>
          <p:cNvPr id="10" name="TextBox 18">
            <a:extLst>
              <a:ext uri="{FF2B5EF4-FFF2-40B4-BE49-F238E27FC236}">
                <a16:creationId xmlns:a16="http://schemas.microsoft.com/office/drawing/2014/main" id="{6893CD03-9CA6-41AE-C529-7E9523DB197B}"/>
              </a:ext>
            </a:extLst>
          </p:cNvPr>
          <p:cNvSpPr txBox="1"/>
          <p:nvPr/>
        </p:nvSpPr>
        <p:spPr>
          <a:xfrm>
            <a:off x="10835640" y="1796523"/>
            <a:ext cx="950976" cy="247568"/>
          </a:xfrm>
          <a:prstGeom prst="rect">
            <a:avLst/>
          </a:prstGeom>
          <a:solidFill>
            <a:schemeClr val="accent6">
              <a:lumMod val="20000"/>
              <a:lumOff val="80000"/>
            </a:schemeClr>
          </a:solidFill>
        </p:spPr>
        <p:txBody>
          <a:bodyPr wrap="square" lIns="0" tIns="0" rIns="0" bIns="0">
            <a:spAutoFit/>
          </a:bodyPr>
          <a:lstStyle/>
          <a:p>
            <a:pPr>
              <a:lnSpc>
                <a:spcPct val="112000"/>
              </a:lnSpc>
            </a:pPr>
            <a:r>
              <a:rPr sz="1600" b="1">
                <a:solidFill>
                  <a:srgbClr val="008000"/>
                </a:solidFill>
                <a:latin typeface="Meiryo UI"/>
                <a:ea typeface="Meiryo UI"/>
              </a:rPr>
              <a:t>最高</a:t>
            </a:r>
          </a:p>
        </p:txBody>
      </p:sp>
      <p:sp>
        <p:nvSpPr>
          <p:cNvPr id="11" name="Rectangle 19">
            <a:extLst>
              <a:ext uri="{FF2B5EF4-FFF2-40B4-BE49-F238E27FC236}">
                <a16:creationId xmlns:a16="http://schemas.microsoft.com/office/drawing/2014/main" id="{2B556D98-3BB5-B98F-C6E5-109B94665B21}"/>
              </a:ext>
            </a:extLst>
          </p:cNvPr>
          <p:cNvSpPr/>
          <p:nvPr/>
        </p:nvSpPr>
        <p:spPr>
          <a:xfrm>
            <a:off x="320040" y="2290943"/>
            <a:ext cx="2834640" cy="60036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2" name="TextBox 20">
            <a:extLst>
              <a:ext uri="{FF2B5EF4-FFF2-40B4-BE49-F238E27FC236}">
                <a16:creationId xmlns:a16="http://schemas.microsoft.com/office/drawing/2014/main" id="{7628A673-4D89-4043-5FFA-983C31E8101A}"/>
              </a:ext>
            </a:extLst>
          </p:cNvPr>
          <p:cNvSpPr txBox="1"/>
          <p:nvPr/>
        </p:nvSpPr>
        <p:spPr>
          <a:xfrm>
            <a:off x="411480" y="2335087"/>
            <a:ext cx="2651760" cy="180114"/>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GCP統合データ基盤</a:t>
            </a:r>
          </a:p>
        </p:txBody>
      </p:sp>
      <p:sp>
        <p:nvSpPr>
          <p:cNvPr id="13" name="Rectangle 21">
            <a:extLst>
              <a:ext uri="{FF2B5EF4-FFF2-40B4-BE49-F238E27FC236}">
                <a16:creationId xmlns:a16="http://schemas.microsoft.com/office/drawing/2014/main" id="{F056600A-6E2E-803A-DD50-8E318425D4AD}"/>
              </a:ext>
            </a:extLst>
          </p:cNvPr>
          <p:cNvSpPr/>
          <p:nvPr/>
        </p:nvSpPr>
        <p:spPr>
          <a:xfrm>
            <a:off x="3172968" y="2290943"/>
            <a:ext cx="7589520" cy="60036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4" name="TextBox 22">
            <a:extLst>
              <a:ext uri="{FF2B5EF4-FFF2-40B4-BE49-F238E27FC236}">
                <a16:creationId xmlns:a16="http://schemas.microsoft.com/office/drawing/2014/main" id="{C179A538-9492-F23D-2CAA-1AF2902149E6}"/>
              </a:ext>
            </a:extLst>
          </p:cNvPr>
          <p:cNvSpPr txBox="1"/>
          <p:nvPr/>
        </p:nvSpPr>
        <p:spPr>
          <a:xfrm>
            <a:off x="3291840" y="2335087"/>
            <a:ext cx="7360920" cy="180114"/>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真因①の直接解消。ID・購買・診断・習慣データの統合。DX投資の最大項目 ― 確認2合格後に本格投資</a:t>
            </a:r>
          </a:p>
        </p:txBody>
      </p:sp>
      <p:sp>
        <p:nvSpPr>
          <p:cNvPr id="15" name="Rectangle 23">
            <a:extLst>
              <a:ext uri="{FF2B5EF4-FFF2-40B4-BE49-F238E27FC236}">
                <a16:creationId xmlns:a16="http://schemas.microsoft.com/office/drawing/2014/main" id="{C028F82F-D1DF-E955-783C-B9D4738432B3}"/>
              </a:ext>
            </a:extLst>
          </p:cNvPr>
          <p:cNvSpPr/>
          <p:nvPr/>
        </p:nvSpPr>
        <p:spPr>
          <a:xfrm>
            <a:off x="10780776" y="2290943"/>
            <a:ext cx="1060704" cy="600366"/>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solidFill>
                <a:srgbClr val="008000"/>
              </a:solidFill>
            </a:endParaRPr>
          </a:p>
        </p:txBody>
      </p:sp>
      <p:sp>
        <p:nvSpPr>
          <p:cNvPr id="16" name="TextBox 24">
            <a:extLst>
              <a:ext uri="{FF2B5EF4-FFF2-40B4-BE49-F238E27FC236}">
                <a16:creationId xmlns:a16="http://schemas.microsoft.com/office/drawing/2014/main" id="{D7E90CC3-59A7-F099-98B2-8A6500153281}"/>
              </a:ext>
            </a:extLst>
          </p:cNvPr>
          <p:cNvSpPr txBox="1"/>
          <p:nvPr/>
        </p:nvSpPr>
        <p:spPr>
          <a:xfrm>
            <a:off x="10835640" y="2458692"/>
            <a:ext cx="950976" cy="247568"/>
          </a:xfrm>
          <a:prstGeom prst="rect">
            <a:avLst/>
          </a:prstGeom>
          <a:solidFill>
            <a:schemeClr val="accent6">
              <a:lumMod val="20000"/>
              <a:lumOff val="80000"/>
            </a:schemeClr>
          </a:solidFill>
        </p:spPr>
        <p:txBody>
          <a:bodyPr wrap="square" lIns="0" tIns="0" rIns="0" bIns="0">
            <a:spAutoFit/>
          </a:bodyPr>
          <a:lstStyle/>
          <a:p>
            <a:pPr>
              <a:lnSpc>
                <a:spcPct val="112000"/>
              </a:lnSpc>
            </a:pPr>
            <a:r>
              <a:rPr sz="1600" b="1">
                <a:solidFill>
                  <a:srgbClr val="008000"/>
                </a:solidFill>
                <a:latin typeface="Meiryo UI"/>
                <a:ea typeface="Meiryo UI"/>
              </a:rPr>
              <a:t>最高</a:t>
            </a:r>
          </a:p>
        </p:txBody>
      </p:sp>
      <p:sp>
        <p:nvSpPr>
          <p:cNvPr id="17" name="Rectangle 25">
            <a:extLst>
              <a:ext uri="{FF2B5EF4-FFF2-40B4-BE49-F238E27FC236}">
                <a16:creationId xmlns:a16="http://schemas.microsoft.com/office/drawing/2014/main" id="{12257370-E6AF-B59A-2CD7-173FF8C58F81}"/>
              </a:ext>
            </a:extLst>
          </p:cNvPr>
          <p:cNvSpPr/>
          <p:nvPr/>
        </p:nvSpPr>
        <p:spPr>
          <a:xfrm>
            <a:off x="320040" y="2953111"/>
            <a:ext cx="2834640" cy="60036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8" name="TextBox 26">
            <a:extLst>
              <a:ext uri="{FF2B5EF4-FFF2-40B4-BE49-F238E27FC236}">
                <a16:creationId xmlns:a16="http://schemas.microsoft.com/office/drawing/2014/main" id="{682DC386-16A6-5FD9-C037-AF9AAAE19435}"/>
              </a:ext>
            </a:extLst>
          </p:cNvPr>
          <p:cNvSpPr txBox="1"/>
          <p:nvPr/>
        </p:nvSpPr>
        <p:spPr>
          <a:xfrm>
            <a:off x="411480" y="2997256"/>
            <a:ext cx="2651760" cy="180114"/>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生成AI（Libra）×Salesforce TPM</a:t>
            </a:r>
          </a:p>
        </p:txBody>
      </p:sp>
      <p:sp>
        <p:nvSpPr>
          <p:cNvPr id="19" name="Rectangle 27">
            <a:extLst>
              <a:ext uri="{FF2B5EF4-FFF2-40B4-BE49-F238E27FC236}">
                <a16:creationId xmlns:a16="http://schemas.microsoft.com/office/drawing/2014/main" id="{17037CFD-DABB-E53B-EDAB-3C8EE17CD151}"/>
              </a:ext>
            </a:extLst>
          </p:cNvPr>
          <p:cNvSpPr/>
          <p:nvPr/>
        </p:nvSpPr>
        <p:spPr>
          <a:xfrm>
            <a:off x="3172968" y="2953111"/>
            <a:ext cx="7589520" cy="60036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0" name="TextBox 28">
            <a:extLst>
              <a:ext uri="{FF2B5EF4-FFF2-40B4-BE49-F238E27FC236}">
                <a16:creationId xmlns:a16="http://schemas.microsoft.com/office/drawing/2014/main" id="{0F2E34F0-143F-FE39-F260-E9BD665A9921}"/>
              </a:ext>
            </a:extLst>
          </p:cNvPr>
          <p:cNvSpPr txBox="1"/>
          <p:nvPr/>
        </p:nvSpPr>
        <p:spPr>
          <a:xfrm>
            <a:off x="3291840" y="2997256"/>
            <a:ext cx="7360920" cy="180114"/>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GAP4解消。Input業務ゼロ化の実装。1〜2年でROI回収見込み</a:t>
            </a:r>
          </a:p>
        </p:txBody>
      </p:sp>
      <p:sp>
        <p:nvSpPr>
          <p:cNvPr id="21" name="Rectangle 29">
            <a:extLst>
              <a:ext uri="{FF2B5EF4-FFF2-40B4-BE49-F238E27FC236}">
                <a16:creationId xmlns:a16="http://schemas.microsoft.com/office/drawing/2014/main" id="{D7AFCFB7-7125-7F9A-7AAF-68DC2CFABD59}"/>
              </a:ext>
            </a:extLst>
          </p:cNvPr>
          <p:cNvSpPr/>
          <p:nvPr/>
        </p:nvSpPr>
        <p:spPr>
          <a:xfrm>
            <a:off x="10780776" y="2953111"/>
            <a:ext cx="1060704" cy="600366"/>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solidFill>
                <a:srgbClr val="008000"/>
              </a:solidFill>
            </a:endParaRPr>
          </a:p>
        </p:txBody>
      </p:sp>
      <p:sp>
        <p:nvSpPr>
          <p:cNvPr id="22" name="TextBox 30">
            <a:extLst>
              <a:ext uri="{FF2B5EF4-FFF2-40B4-BE49-F238E27FC236}">
                <a16:creationId xmlns:a16="http://schemas.microsoft.com/office/drawing/2014/main" id="{B24886ED-B6ED-CE32-AEEE-7DF5EE320BEE}"/>
              </a:ext>
            </a:extLst>
          </p:cNvPr>
          <p:cNvSpPr txBox="1"/>
          <p:nvPr/>
        </p:nvSpPr>
        <p:spPr>
          <a:xfrm>
            <a:off x="10835640" y="3120861"/>
            <a:ext cx="950976" cy="247568"/>
          </a:xfrm>
          <a:prstGeom prst="rect">
            <a:avLst/>
          </a:prstGeom>
          <a:solidFill>
            <a:schemeClr val="accent6">
              <a:lumMod val="20000"/>
              <a:lumOff val="80000"/>
            </a:schemeClr>
          </a:solidFill>
        </p:spPr>
        <p:txBody>
          <a:bodyPr wrap="square" lIns="0" tIns="0" rIns="0" bIns="0">
            <a:spAutoFit/>
          </a:bodyPr>
          <a:lstStyle/>
          <a:p>
            <a:pPr>
              <a:lnSpc>
                <a:spcPct val="112000"/>
              </a:lnSpc>
            </a:pPr>
            <a:r>
              <a:rPr sz="1600" b="1">
                <a:solidFill>
                  <a:srgbClr val="008000"/>
                </a:solidFill>
                <a:latin typeface="Meiryo UI"/>
                <a:ea typeface="Meiryo UI"/>
              </a:rPr>
              <a:t>高</a:t>
            </a:r>
          </a:p>
        </p:txBody>
      </p:sp>
      <p:sp>
        <p:nvSpPr>
          <p:cNvPr id="23" name="Rectangle 31">
            <a:extLst>
              <a:ext uri="{FF2B5EF4-FFF2-40B4-BE49-F238E27FC236}">
                <a16:creationId xmlns:a16="http://schemas.microsoft.com/office/drawing/2014/main" id="{668B42FF-75A9-1439-2913-2D2A0CCB8A39}"/>
              </a:ext>
            </a:extLst>
          </p:cNvPr>
          <p:cNvSpPr/>
          <p:nvPr/>
        </p:nvSpPr>
        <p:spPr>
          <a:xfrm>
            <a:off x="320040" y="3615280"/>
            <a:ext cx="2834640" cy="60036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4" name="TextBox 32">
            <a:extLst>
              <a:ext uri="{FF2B5EF4-FFF2-40B4-BE49-F238E27FC236}">
                <a16:creationId xmlns:a16="http://schemas.microsoft.com/office/drawing/2014/main" id="{E1EFB585-E841-9668-1C31-B3287E9F0E87}"/>
              </a:ext>
            </a:extLst>
          </p:cNvPr>
          <p:cNvSpPr txBox="1"/>
          <p:nvPr/>
        </p:nvSpPr>
        <p:spPr>
          <a:xfrm>
            <a:off x="411480" y="3659424"/>
            <a:ext cx="2651760" cy="180114"/>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混成チーム体制への移行</a:t>
            </a:r>
          </a:p>
        </p:txBody>
      </p:sp>
      <p:sp>
        <p:nvSpPr>
          <p:cNvPr id="25" name="Rectangle 33">
            <a:extLst>
              <a:ext uri="{FF2B5EF4-FFF2-40B4-BE49-F238E27FC236}">
                <a16:creationId xmlns:a16="http://schemas.microsoft.com/office/drawing/2014/main" id="{09F45494-F82E-4E10-C48D-32BC0FE1726B}"/>
              </a:ext>
            </a:extLst>
          </p:cNvPr>
          <p:cNvSpPr/>
          <p:nvPr/>
        </p:nvSpPr>
        <p:spPr>
          <a:xfrm>
            <a:off x="3172968" y="3615280"/>
            <a:ext cx="7589520" cy="60036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6" name="TextBox 34">
            <a:extLst>
              <a:ext uri="{FF2B5EF4-FFF2-40B4-BE49-F238E27FC236}">
                <a16:creationId xmlns:a16="http://schemas.microsoft.com/office/drawing/2014/main" id="{54042427-F901-3345-241F-3549CE896076}"/>
              </a:ext>
            </a:extLst>
          </p:cNvPr>
          <p:cNvSpPr txBox="1"/>
          <p:nvPr/>
        </p:nvSpPr>
        <p:spPr>
          <a:xfrm>
            <a:off x="3291840" y="3659424"/>
            <a:ext cx="7360920" cy="180114"/>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組織対組織への移行。評価制度（訪問件数→JBP達成率）の同時変更が必須。内部調整が最大リスク</a:t>
            </a:r>
          </a:p>
        </p:txBody>
      </p:sp>
      <p:sp>
        <p:nvSpPr>
          <p:cNvPr id="27" name="Rectangle 35">
            <a:extLst>
              <a:ext uri="{FF2B5EF4-FFF2-40B4-BE49-F238E27FC236}">
                <a16:creationId xmlns:a16="http://schemas.microsoft.com/office/drawing/2014/main" id="{C1AC240F-28C4-00FC-9D14-F3E4AA1A6E93}"/>
              </a:ext>
            </a:extLst>
          </p:cNvPr>
          <p:cNvSpPr/>
          <p:nvPr/>
        </p:nvSpPr>
        <p:spPr>
          <a:xfrm>
            <a:off x="10780776" y="3615280"/>
            <a:ext cx="1060704" cy="600366"/>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solidFill>
                <a:srgbClr val="008000"/>
              </a:solidFill>
            </a:endParaRPr>
          </a:p>
        </p:txBody>
      </p:sp>
      <p:sp>
        <p:nvSpPr>
          <p:cNvPr id="28" name="TextBox 36">
            <a:extLst>
              <a:ext uri="{FF2B5EF4-FFF2-40B4-BE49-F238E27FC236}">
                <a16:creationId xmlns:a16="http://schemas.microsoft.com/office/drawing/2014/main" id="{D98902DA-50BC-3E84-CC15-9F4C54A35F5F}"/>
              </a:ext>
            </a:extLst>
          </p:cNvPr>
          <p:cNvSpPr txBox="1"/>
          <p:nvPr/>
        </p:nvSpPr>
        <p:spPr>
          <a:xfrm>
            <a:off x="10835640" y="3783029"/>
            <a:ext cx="950976" cy="247568"/>
          </a:xfrm>
          <a:prstGeom prst="rect">
            <a:avLst/>
          </a:prstGeom>
          <a:solidFill>
            <a:schemeClr val="accent6">
              <a:lumMod val="20000"/>
              <a:lumOff val="80000"/>
            </a:schemeClr>
          </a:solidFill>
        </p:spPr>
        <p:txBody>
          <a:bodyPr wrap="square" lIns="0" tIns="0" rIns="0" bIns="0">
            <a:spAutoFit/>
          </a:bodyPr>
          <a:lstStyle/>
          <a:p>
            <a:pPr>
              <a:lnSpc>
                <a:spcPct val="112000"/>
              </a:lnSpc>
            </a:pPr>
            <a:r>
              <a:rPr sz="1600" b="1">
                <a:solidFill>
                  <a:srgbClr val="008000"/>
                </a:solidFill>
                <a:latin typeface="Meiryo UI"/>
                <a:ea typeface="Meiryo UI"/>
              </a:rPr>
              <a:t>高</a:t>
            </a:r>
          </a:p>
        </p:txBody>
      </p:sp>
      <p:sp>
        <p:nvSpPr>
          <p:cNvPr id="29" name="Rectangle 37">
            <a:extLst>
              <a:ext uri="{FF2B5EF4-FFF2-40B4-BE49-F238E27FC236}">
                <a16:creationId xmlns:a16="http://schemas.microsoft.com/office/drawing/2014/main" id="{F804E600-1BD2-DC73-4D43-699A6E0DB6FB}"/>
              </a:ext>
            </a:extLst>
          </p:cNvPr>
          <p:cNvSpPr/>
          <p:nvPr/>
        </p:nvSpPr>
        <p:spPr>
          <a:xfrm>
            <a:off x="320040" y="4277448"/>
            <a:ext cx="2834640" cy="60036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0" name="TextBox 38">
            <a:extLst>
              <a:ext uri="{FF2B5EF4-FFF2-40B4-BE49-F238E27FC236}">
                <a16:creationId xmlns:a16="http://schemas.microsoft.com/office/drawing/2014/main" id="{2AC6E14C-BBB7-DC13-C3C2-133E369FD87D}"/>
              </a:ext>
            </a:extLst>
          </p:cNvPr>
          <p:cNvSpPr txBox="1"/>
          <p:nvPr/>
        </p:nvSpPr>
        <p:spPr>
          <a:xfrm>
            <a:off x="411480" y="4321592"/>
            <a:ext cx="2651760" cy="180114"/>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MMM・増分測定体制</a:t>
            </a:r>
          </a:p>
        </p:txBody>
      </p:sp>
      <p:sp>
        <p:nvSpPr>
          <p:cNvPr id="31" name="Rectangle 39">
            <a:extLst>
              <a:ext uri="{FF2B5EF4-FFF2-40B4-BE49-F238E27FC236}">
                <a16:creationId xmlns:a16="http://schemas.microsoft.com/office/drawing/2014/main" id="{60E6598A-CF50-535E-3075-21F3D5C528E9}"/>
              </a:ext>
            </a:extLst>
          </p:cNvPr>
          <p:cNvSpPr/>
          <p:nvPr/>
        </p:nvSpPr>
        <p:spPr>
          <a:xfrm>
            <a:off x="3172968" y="4277448"/>
            <a:ext cx="7589520" cy="60036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2" name="TextBox 40">
            <a:extLst>
              <a:ext uri="{FF2B5EF4-FFF2-40B4-BE49-F238E27FC236}">
                <a16:creationId xmlns:a16="http://schemas.microsoft.com/office/drawing/2014/main" id="{D931B7B0-5973-EBC2-48B3-E301D8DE7104}"/>
              </a:ext>
            </a:extLst>
          </p:cNvPr>
          <p:cNvSpPr txBox="1"/>
          <p:nvPr/>
        </p:nvSpPr>
        <p:spPr>
          <a:xfrm>
            <a:off x="3291840" y="4321592"/>
            <a:ext cx="7360920" cy="180114"/>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GAP3解消。無駄なマス投資の排除。重点1小売×1施策から開始可能</a:t>
            </a:r>
          </a:p>
        </p:txBody>
      </p:sp>
      <p:sp>
        <p:nvSpPr>
          <p:cNvPr id="33" name="Rectangle 41">
            <a:extLst>
              <a:ext uri="{FF2B5EF4-FFF2-40B4-BE49-F238E27FC236}">
                <a16:creationId xmlns:a16="http://schemas.microsoft.com/office/drawing/2014/main" id="{DB0A3AAC-779C-3A15-8CA7-CCD8793C2DEF}"/>
              </a:ext>
            </a:extLst>
          </p:cNvPr>
          <p:cNvSpPr/>
          <p:nvPr/>
        </p:nvSpPr>
        <p:spPr>
          <a:xfrm>
            <a:off x="10780776" y="4277448"/>
            <a:ext cx="1060704" cy="600366"/>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solidFill>
                <a:srgbClr val="008000"/>
              </a:solidFill>
            </a:endParaRPr>
          </a:p>
        </p:txBody>
      </p:sp>
      <p:sp>
        <p:nvSpPr>
          <p:cNvPr id="34" name="TextBox 42">
            <a:extLst>
              <a:ext uri="{FF2B5EF4-FFF2-40B4-BE49-F238E27FC236}">
                <a16:creationId xmlns:a16="http://schemas.microsoft.com/office/drawing/2014/main" id="{FA5177A9-AF12-9F4A-E7C1-E8C2B06C6314}"/>
              </a:ext>
            </a:extLst>
          </p:cNvPr>
          <p:cNvSpPr txBox="1"/>
          <p:nvPr/>
        </p:nvSpPr>
        <p:spPr>
          <a:xfrm>
            <a:off x="10835640" y="4445198"/>
            <a:ext cx="950976" cy="247568"/>
          </a:xfrm>
          <a:prstGeom prst="rect">
            <a:avLst/>
          </a:prstGeom>
          <a:solidFill>
            <a:schemeClr val="accent6">
              <a:lumMod val="20000"/>
              <a:lumOff val="80000"/>
            </a:schemeClr>
          </a:solidFill>
        </p:spPr>
        <p:txBody>
          <a:bodyPr wrap="square" lIns="0" tIns="0" rIns="0" bIns="0">
            <a:spAutoFit/>
          </a:bodyPr>
          <a:lstStyle/>
          <a:p>
            <a:pPr>
              <a:lnSpc>
                <a:spcPct val="112000"/>
              </a:lnSpc>
            </a:pPr>
            <a:r>
              <a:rPr sz="1600" b="1">
                <a:solidFill>
                  <a:srgbClr val="008000"/>
                </a:solidFill>
                <a:latin typeface="Meiryo UI"/>
                <a:ea typeface="Meiryo UI"/>
              </a:rPr>
              <a:t>中</a:t>
            </a:r>
          </a:p>
        </p:txBody>
      </p:sp>
      <p:sp>
        <p:nvSpPr>
          <p:cNvPr id="35" name="Rectangle 43">
            <a:extLst>
              <a:ext uri="{FF2B5EF4-FFF2-40B4-BE49-F238E27FC236}">
                <a16:creationId xmlns:a16="http://schemas.microsoft.com/office/drawing/2014/main" id="{1ADB46A9-6963-3B55-7333-E7BE92B2DA06}"/>
              </a:ext>
            </a:extLst>
          </p:cNvPr>
          <p:cNvSpPr/>
          <p:nvPr/>
        </p:nvSpPr>
        <p:spPr>
          <a:xfrm>
            <a:off x="320040" y="4939617"/>
            <a:ext cx="2834640" cy="60036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6" name="TextBox 44">
            <a:extLst>
              <a:ext uri="{FF2B5EF4-FFF2-40B4-BE49-F238E27FC236}">
                <a16:creationId xmlns:a16="http://schemas.microsoft.com/office/drawing/2014/main" id="{A1D3D24D-80B7-0D56-3A2A-64F77B6AC6D7}"/>
              </a:ext>
            </a:extLst>
          </p:cNvPr>
          <p:cNvSpPr txBox="1"/>
          <p:nvPr/>
        </p:nvSpPr>
        <p:spPr>
          <a:xfrm>
            <a:off x="411480" y="4983761"/>
            <a:ext cx="2651760" cy="180114"/>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DCR・小売データ協業基盤</a:t>
            </a:r>
          </a:p>
        </p:txBody>
      </p:sp>
      <p:sp>
        <p:nvSpPr>
          <p:cNvPr id="37" name="Rectangle 45">
            <a:extLst>
              <a:ext uri="{FF2B5EF4-FFF2-40B4-BE49-F238E27FC236}">
                <a16:creationId xmlns:a16="http://schemas.microsoft.com/office/drawing/2014/main" id="{B025F76E-2451-AD9A-E070-5FF216969798}"/>
              </a:ext>
            </a:extLst>
          </p:cNvPr>
          <p:cNvSpPr/>
          <p:nvPr/>
        </p:nvSpPr>
        <p:spPr>
          <a:xfrm>
            <a:off x="3172968" y="4939617"/>
            <a:ext cx="7589520" cy="60036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8" name="TextBox 46">
            <a:extLst>
              <a:ext uri="{FF2B5EF4-FFF2-40B4-BE49-F238E27FC236}">
                <a16:creationId xmlns:a16="http://schemas.microsoft.com/office/drawing/2014/main" id="{CC042EBF-7198-051E-3F6B-5D7DB327BF2C}"/>
              </a:ext>
            </a:extLst>
          </p:cNvPr>
          <p:cNvSpPr txBox="1"/>
          <p:nvPr/>
        </p:nvSpPr>
        <p:spPr>
          <a:xfrm>
            <a:off x="3291840" y="4983761"/>
            <a:ext cx="7360920" cy="180114"/>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法務・技術・小売交渉の3条件が前提。個人情報保護法の確認を先行タスク化（FY26年内）</a:t>
            </a:r>
          </a:p>
        </p:txBody>
      </p:sp>
      <p:sp>
        <p:nvSpPr>
          <p:cNvPr id="39" name="Rectangle 47">
            <a:extLst>
              <a:ext uri="{FF2B5EF4-FFF2-40B4-BE49-F238E27FC236}">
                <a16:creationId xmlns:a16="http://schemas.microsoft.com/office/drawing/2014/main" id="{8FFA0D77-ADA8-7768-BEB6-B2F56FBB3C34}"/>
              </a:ext>
            </a:extLst>
          </p:cNvPr>
          <p:cNvSpPr/>
          <p:nvPr/>
        </p:nvSpPr>
        <p:spPr>
          <a:xfrm>
            <a:off x="10780776" y="4939617"/>
            <a:ext cx="1060704" cy="600366"/>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solidFill>
                <a:srgbClr val="008000"/>
              </a:solidFill>
            </a:endParaRPr>
          </a:p>
        </p:txBody>
      </p:sp>
      <p:sp>
        <p:nvSpPr>
          <p:cNvPr id="40" name="TextBox 48">
            <a:extLst>
              <a:ext uri="{FF2B5EF4-FFF2-40B4-BE49-F238E27FC236}">
                <a16:creationId xmlns:a16="http://schemas.microsoft.com/office/drawing/2014/main" id="{08A20C53-B321-655F-0345-66771211648A}"/>
              </a:ext>
            </a:extLst>
          </p:cNvPr>
          <p:cNvSpPr txBox="1"/>
          <p:nvPr/>
        </p:nvSpPr>
        <p:spPr>
          <a:xfrm>
            <a:off x="10835640" y="5107366"/>
            <a:ext cx="950976" cy="247568"/>
          </a:xfrm>
          <a:prstGeom prst="rect">
            <a:avLst/>
          </a:prstGeom>
          <a:solidFill>
            <a:schemeClr val="accent6">
              <a:lumMod val="20000"/>
              <a:lumOff val="80000"/>
            </a:schemeClr>
          </a:solidFill>
        </p:spPr>
        <p:txBody>
          <a:bodyPr wrap="square" lIns="0" tIns="0" rIns="0" bIns="0">
            <a:spAutoFit/>
          </a:bodyPr>
          <a:lstStyle/>
          <a:p>
            <a:pPr>
              <a:lnSpc>
                <a:spcPct val="112000"/>
              </a:lnSpc>
            </a:pPr>
            <a:r>
              <a:rPr sz="1600" b="1">
                <a:solidFill>
                  <a:srgbClr val="008000"/>
                </a:solidFill>
                <a:latin typeface="Meiryo UI"/>
                <a:ea typeface="Meiryo UI"/>
              </a:rPr>
              <a:t>中</a:t>
            </a:r>
          </a:p>
        </p:txBody>
      </p:sp>
      <p:sp>
        <p:nvSpPr>
          <p:cNvPr id="41" name="Rectangle 49">
            <a:extLst>
              <a:ext uri="{FF2B5EF4-FFF2-40B4-BE49-F238E27FC236}">
                <a16:creationId xmlns:a16="http://schemas.microsoft.com/office/drawing/2014/main" id="{C92E98BA-A8D6-C164-31D8-095E29429F20}"/>
              </a:ext>
            </a:extLst>
          </p:cNvPr>
          <p:cNvSpPr/>
          <p:nvPr/>
        </p:nvSpPr>
        <p:spPr>
          <a:xfrm>
            <a:off x="320040" y="5637101"/>
            <a:ext cx="11521440" cy="63568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2" name="TextBox 50">
            <a:extLst>
              <a:ext uri="{FF2B5EF4-FFF2-40B4-BE49-F238E27FC236}">
                <a16:creationId xmlns:a16="http://schemas.microsoft.com/office/drawing/2014/main" id="{E6BAFEB4-83C9-26DD-A417-93B4B29A463E}"/>
              </a:ext>
            </a:extLst>
          </p:cNvPr>
          <p:cNvSpPr txBox="1"/>
          <p:nvPr/>
        </p:nvSpPr>
        <p:spPr>
          <a:xfrm>
            <a:off x="457200" y="5690074"/>
            <a:ext cx="11292840" cy="402161"/>
          </a:xfrm>
          <a:prstGeom prst="rect">
            <a:avLst/>
          </a:prstGeom>
          <a:noFill/>
        </p:spPr>
        <p:txBody>
          <a:bodyPr wrap="square" lIns="0" tIns="0" rIns="0" bIns="0">
            <a:spAutoFit/>
          </a:bodyPr>
          <a:lstStyle/>
          <a:p>
            <a:pPr>
              <a:lnSpc>
                <a:spcPct val="115000"/>
              </a:lnSpc>
            </a:pPr>
            <a:r>
              <a:rPr sz="1200" b="1" dirty="0" err="1">
                <a:solidFill>
                  <a:srgbClr val="008D2E"/>
                </a:solidFill>
                <a:latin typeface="Meiryo UI"/>
                <a:ea typeface="Meiryo UI"/>
              </a:rPr>
              <a:t>投資対効果の全体観（仮・要実測</a:t>
            </a:r>
            <a:r>
              <a:rPr sz="1200" b="1" dirty="0">
                <a:solidFill>
                  <a:srgbClr val="008D2E"/>
                </a:solidFill>
                <a:latin typeface="Meiryo UI"/>
                <a:ea typeface="Meiryo UI"/>
              </a:rPr>
              <a:t>）：</a:t>
            </a:r>
            <a:r>
              <a:rPr sz="1200" b="0" dirty="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a:t>
            </a:r>
          </a:p>
        </p:txBody>
      </p:sp>
    </p:spTree>
    <p:extLst>
      <p:ext uri="{BB962C8B-B14F-4D97-AF65-F5344CB8AC3E}">
        <p14:creationId xmlns:p14="http://schemas.microsoft.com/office/powerpoint/2010/main" val="3547039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5D4F63-F0E8-7795-FB8B-712F77B12D97}"/>
              </a:ext>
            </a:extLst>
          </p:cNvPr>
          <p:cNvSpPr>
            <a:spLocks noGrp="1"/>
          </p:cNvSpPr>
          <p:nvPr>
            <p:ph type="title"/>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C81A75EC-AA79-5E45-4A8E-EE1A9719C0A5}"/>
              </a:ext>
            </a:extLst>
          </p:cNvPr>
          <p:cNvSpPr>
            <a:spLocks noGrp="1"/>
          </p:cNvSpPr>
          <p:nvPr>
            <p:ph type="body" sz="quarter" idx="13"/>
          </p:nvPr>
        </p:nvSpPr>
        <p:spPr/>
        <p:txBody>
          <a:bodyPr/>
          <a:lstStyle/>
          <a:p>
            <a:r>
              <a:rPr kumimoji="1" lang="en-US" altLang="ja-JP" dirty="0"/>
              <a:t>AI</a:t>
            </a:r>
            <a:r>
              <a:rPr kumimoji="1" lang="ja-JP" altLang="en-US" dirty="0"/>
              <a:t>エージェント技術・実装もデジ戦デジタル対応する場所を明確化</a:t>
            </a:r>
          </a:p>
          <a:p>
            <a:endParaRPr kumimoji="1" lang="ja-JP" altLang="en-US" dirty="0"/>
          </a:p>
        </p:txBody>
      </p:sp>
    </p:spTree>
    <p:extLst>
      <p:ext uri="{BB962C8B-B14F-4D97-AF65-F5344CB8AC3E}">
        <p14:creationId xmlns:p14="http://schemas.microsoft.com/office/powerpoint/2010/main" val="26350745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0.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1.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4035</TotalTime>
  <Words>8464</Words>
  <Application>Microsoft Office PowerPoint</Application>
  <PresentationFormat>ワイド画面</PresentationFormat>
  <Paragraphs>710</Paragraphs>
  <Slides>16</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16</vt:i4>
      </vt:variant>
    </vt:vector>
  </HeadingPairs>
  <TitlesOfParts>
    <vt:vector size="24" baseType="lpstr">
      <vt:lpstr>BIZ UDPゴシック</vt:lpstr>
      <vt:lpstr>Meiryo UI</vt:lpstr>
      <vt:lpstr>Yu Gothic UI</vt:lpstr>
      <vt:lpstr>メイリオ</vt:lpstr>
      <vt:lpstr>Arial</vt:lpstr>
      <vt:lpstr>Calibri</vt:lpstr>
      <vt:lpstr>Wingdings</vt:lpstr>
      <vt:lpstr>Office テーマ</vt:lpstr>
      <vt:lpstr>製造業を取り巻くマクロ環境変化 (PEST分析) </vt:lpstr>
      <vt:lpstr> 顧客 ･ 取引先 ･ 競合の変化</vt:lpstr>
      <vt:lpstr>自社の強み・弱み・機会・脅威（SWOT）</vt:lpstr>
      <vt:lpstr>理想（勝ち筋）と現状とのGAP</vt:lpstr>
      <vt:lpstr>ギャップと真因</vt:lpstr>
      <vt:lpstr>真因と解決策</vt:lpstr>
      <vt:lpstr>4つの変革テーマ × 8つの重点施策 (A1〜D2) </vt:lpstr>
      <vt:lpstr>解決1詳細</vt:lpstr>
      <vt:lpstr> 解決の方向（4つの変革テーマ）</vt:lpstr>
      <vt:lpstr>Howの全体構造 5つの経営テーマへのMECE接続</vt:lpstr>
      <vt:lpstr>出口 マーケティング・営業DXの姿 (Before → After)</vt:lpstr>
      <vt:lpstr>KGI / KPI体系 ― 最上位KPIとライオン固有のユニークKPI</vt:lpstr>
      <vt:lpstr>マイルストーン (FY26–FY30)</vt:lpstr>
      <vt:lpstr>PowerPoint プレゼンテーション</vt:lpstr>
      <vt:lpstr>投資・体制観点の主要論点</vt:lpstr>
      <vt:lpstr>PowerPoint プレゼンテーション</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95</cp:revision>
  <dcterms:created xsi:type="dcterms:W3CDTF">2024-12-27T03:42:11Z</dcterms:created>
  <dcterms:modified xsi:type="dcterms:W3CDTF">2026-08-17T12:33:06Z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