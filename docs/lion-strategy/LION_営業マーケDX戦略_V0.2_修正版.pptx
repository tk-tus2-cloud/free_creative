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3.svg" ContentType="image/svg+xml"/>
  <Override PartName="/ppt/media/image64.svg" ContentType="image/svg+xml"/>
  <Override PartName="/ppt/media/image65.svg" ContentType="image/svg+xml"/>
  <Override PartName="/ppt/media/image66.svg" ContentType="image/svg+xml"/>
  <Override PartName="/ppt/media/image67.svg" ContentType="image/svg+xml"/>
  <Override PartName="/ppt/media/image68.svg" ContentType="image/svg+xml"/>
  <Override PartName="/ppt/media/image69.svg" ContentType="image/svg+xml"/>
  <Override PartName="/ppt/media/image7.svg" ContentType="image/svg+xml"/>
  <Override PartName="/ppt/media/image70.svg" ContentType="image/svg+xml"/>
  <Override PartName="/ppt/media/image71.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1"/>
  </p:notesMasterIdLst>
  <p:handoutMasterIdLst>
    <p:handoutMasterId r:id="rId22"/>
  </p:handoutMasterIdLst>
  <p:sldIdLst>
    <p:sldId id="2147483612" r:id="rId5"/>
    <p:sldId id="2147483613" r:id="rId6"/>
    <p:sldId id="2147483614" r:id="rId7"/>
    <p:sldId id="2147483616" r:id="rId8"/>
    <p:sldId id="2147483617" r:id="rId9"/>
    <p:sldId id="257" r:id="rId10"/>
    <p:sldId id="263" r:id="rId12"/>
    <p:sldId id="262" r:id="rId11"/>
    <p:sldId id="2147483641" r:id="rId13"/>
    <p:sldId id="264" r:id="rId14"/>
    <p:sldId id="265" r:id="rId15"/>
    <p:sldId id="267" r:id="rId16"/>
    <p:sldId id="266" r:id="rId17"/>
    <p:sldId id="2147483621" r:id="rId18"/>
    <p:sldId id="259" r:id="rId19"/>
    <p:sldId id="261" r:id="rId20"/>
  </p:sldIdLst>
  <p:sldSz cx="12192000" cy="6858000"/>
  <p:notesSz cx="6858000" cy="9144000"/>
  <p:custDataLst>
    <p:tags r:id="rId23"/>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AEEC58D3-0A5E-4326-B4F8-49330C05BBCD}">
          <p14:sldIdLst>
            <p14:sldId id="2147483612"/>
            <p14:sldId id="2147483613"/>
            <p14:sldId id="2147483614"/>
            <p14:sldId id="2147483616"/>
            <p14:sldId id="2147483617"/>
            <p14:sldId id="257"/>
            <p14:sldId id="262"/>
            <p14:sldId id="263"/>
            <p14:sldId id="2147483641"/>
            <p14:sldId id="264"/>
            <p14:sldId id="265"/>
            <p14:sldId id="267"/>
            <p14:sldId id="266"/>
            <p14:sldId id="2147483621"/>
            <p14:sldId id="259"/>
          </p14:sldIdLst>
        </p14:section>
        <p14:section name="APPE" id="{C06286E6-BDBE-4963-9512-156C358051E2}">
          <p14:sldIdLst>
            <p14:sldId id="26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000"/>
    <a:srgbClr val="969696"/>
    <a:srgbClr val="008D2E"/>
    <a:srgbClr val="E2F0D9"/>
    <a:srgbClr val="01953D"/>
    <a:srgbClr val="D9D9D9"/>
    <a:srgbClr val="FFF2CC"/>
    <a:srgbClr val="5B9BD5"/>
    <a:srgbClr val="595959"/>
    <a:srgbClr val="407F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79" d="100"/>
          <a:sy n="79" d="100"/>
        </p:scale>
        <p:origin x="773" y="67"/>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8.xml"/><Relationship Id="rId12" Type="http://schemas.openxmlformats.org/officeDocument/2006/relationships/slide" Target="slides/slide7.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tags" Target="tags/tag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8C87EA5-B015-4E39-A84B-A594D563A58F}" type="datetimeFigureOut">
              <a:rPr kumimoji="1" lang="ja-JP" altLang="en-US" smtClean="0"/>
              <a:t>2026/8/17</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9D636F3-8413-4B74-BB00-76FFFF969883}" type="slidenum">
              <a:rPr kumimoji="1" lang="ja-JP" altLang="en-US" smtClean="0"/>
              <a:t>‹#›</a:t>
            </a:fld>
            <a:endParaRPr kumimoji="1" lang="ja-JP" altLang="en-US"/>
          </a:p>
        </p:txBody>
      </p:sp>
    </p:spTree>
    <p:extLst>
      <p:ext uri="{BB962C8B-B14F-4D97-AF65-F5344CB8AC3E}">
        <p14:creationId xmlns:p14="http://schemas.microsoft.com/office/powerpoint/2010/main" val="342809174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1B69A8-C8FA-4C38-B005-FB4A7565DD38}" type="datetimeFigureOut">
              <a:rPr kumimoji="1" lang="ja-JP" altLang="en-US" smtClean="0"/>
              <a:t>2026/8/17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2A0D92-6B77-46DB-8A11-5C7100D44DD0}" type="slidenum">
              <a:rPr kumimoji="1" lang="ja-JP" altLang="en-US" smtClean="0"/>
              <a:t>‹#›</a:t>
            </a:fld>
            <a:endParaRPr kumimoji="1" lang="ja-JP" altLang="en-US"/>
          </a:p>
        </p:txBody>
      </p:sp>
    </p:spTree>
    <p:extLst>
      <p:ext uri="{BB962C8B-B14F-4D97-AF65-F5344CB8AC3E}">
        <p14:creationId xmlns:p14="http://schemas.microsoft.com/office/powerpoint/2010/main" val="3741069878"/>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DB0653-2097-55E8-093C-FF535EF17D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18740B5-14A6-216D-62AF-72040302B93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00089D-D9CC-B791-1F98-EE5C15BAD35B}"/>
              </a:ext>
            </a:extLst>
          </p:cNvPr>
          <p:cNvSpPr>
            <a:spLocks noGrp="1"/>
          </p:cNvSpPr>
          <p:nvPr>
            <p:ph type="body" idx="1"/>
          </p:nvPr>
        </p:nvSpPr>
        <p:spPr/>
        <p:txBody>
          <a:bodyPr/>
          <a:lstStyle/>
          <a:p>
            <a:r>
              <a:rPr kumimoji="1" lang="ja-JP" altLang="en-US" dirty="0"/>
              <a:t>浦尾さんの責任：国内工場・事業所拠点、関係会社含む一次データの入力・承認・内部統制プロセス管理</a:t>
            </a:r>
            <a:endParaRPr kumimoji="1" lang="en-US" altLang="ja-JP" dirty="0"/>
          </a:p>
          <a:p>
            <a:r>
              <a:rPr kumimoji="1" lang="ja-JP" altLang="en-US" dirty="0"/>
              <a:t>一谷さんの責任：海外生産工場・事業所拠点、</a:t>
            </a:r>
            <a:r>
              <a:rPr kumimoji="1" lang="en-US" altLang="ja-JP" dirty="0"/>
              <a:t>ESL</a:t>
            </a:r>
            <a:r>
              <a:rPr kumimoji="1" lang="ja-JP" altLang="en-US" dirty="0"/>
              <a:t>含む一次データの入力・承認・内部統制プロセス管理</a:t>
            </a:r>
          </a:p>
        </p:txBody>
      </p:sp>
    </p:spTree>
    <p:extLst>
      <p:ext uri="{BB962C8B-B14F-4D97-AF65-F5344CB8AC3E}">
        <p14:creationId xmlns:p14="http://schemas.microsoft.com/office/powerpoint/2010/main" val="33976714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gi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dirty="0"/>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a:xfrm>
            <a:off x="838200" y="6356350"/>
            <a:ext cx="2743200" cy="365125"/>
          </a:xfrm>
          <a:prstGeom prst="rect">
            <a:avLst/>
          </a:prstGeom>
        </p:spPr>
        <p:txBody>
          <a:bodyPr/>
          <a:lstStyle/>
          <a:p>
            <a:endParaRPr kumimoji="1" lang="ja-JP" altLang="en-US"/>
          </a:p>
        </p:txBody>
      </p:sp>
      <p:sp>
        <p:nvSpPr>
          <p:cNvPr id="5" name="フッター プレースホルダー 4"/>
          <p:cNvSpPr>
            <a:spLocks noGrp="1"/>
          </p:cNvSpPr>
          <p:nvPr>
            <p:ph type="ftr" sz="quarter" idx="11"/>
          </p:nvPr>
        </p:nvSpPr>
        <p:spPr>
          <a:xfrm>
            <a:off x="4038600" y="6356350"/>
            <a:ext cx="4114800" cy="365125"/>
          </a:xfrm>
          <a:prstGeom prst="rect">
            <a:avLst/>
          </a:prstGeom>
        </p:spPr>
        <p:txBody>
          <a:bodyPr/>
          <a:lstStyle/>
          <a:p>
            <a:endParaRPr kumimoji="1" lang="ja-JP" altLang="en-US"/>
          </a:p>
        </p:txBody>
      </p:sp>
      <p:sp>
        <p:nvSpPr>
          <p:cNvPr id="6" name="スライド番号プレースホルダー 5"/>
          <p:cNvSpPr>
            <a:spLocks noGrp="1"/>
          </p:cNvSpPr>
          <p:nvPr>
            <p:ph type="sldNum" sz="quarter" idx="12"/>
          </p:nvPr>
        </p:nvSpPr>
        <p:spPr>
          <a:xfrm>
            <a:off x="8610600" y="6356350"/>
            <a:ext cx="2743200" cy="365125"/>
          </a:xfrm>
          <a:prstGeom prst="rect">
            <a:avLst/>
          </a:prstGeom>
        </p:spPr>
        <p:txBody>
          <a:bodyPr/>
          <a:lstStyle/>
          <a:p>
            <a:fld id="{AE9BC486-A67F-4F3D-8FA3-20FB0639ABC0}" type="slidenum">
              <a:rPr kumimoji="1" lang="ja-JP" altLang="en-US" smtClean="0"/>
              <a:t>‹#›</a:t>
            </a:fld>
            <a:endParaRPr kumimoji="1" lang="ja-JP" altLang="en-US"/>
          </a:p>
        </p:txBody>
      </p:sp>
    </p:spTree>
    <p:extLst>
      <p:ext uri="{BB962C8B-B14F-4D97-AF65-F5344CB8AC3E}">
        <p14:creationId xmlns:p14="http://schemas.microsoft.com/office/powerpoint/2010/main" val="3067179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223045" y="1"/>
            <a:ext cx="11745912" cy="914400"/>
          </a:xfrm>
        </p:spPr>
        <p:txBody>
          <a:bodyPr anchor="b">
            <a:normAutofit/>
          </a:bodyPr>
          <a:lstStyle>
            <a:lvl1pPr>
              <a:defRPr sz="2400" baseline="0">
                <a:latin typeface="Meiryo UI" panose="020B0604030504040204" pitchFamily="50" charset="-128"/>
                <a:ea typeface="Meiryo UI" panose="020B0604030504040204" pitchFamily="50" charset="-128"/>
              </a:defRPr>
            </a:lvl1pPr>
          </a:lstStyle>
          <a:p>
            <a:r>
              <a:rPr kumimoji="1" lang="ja-JP" altLang="en-US"/>
              <a:t>スライドタイトル</a:t>
            </a:r>
          </a:p>
        </p:txBody>
      </p:sp>
      <p:cxnSp>
        <p:nvCxnSpPr>
          <p:cNvPr id="8" name="直線コネクタ 7"/>
          <p:cNvCxnSpPr/>
          <p:nvPr userDrawn="1"/>
        </p:nvCxnSpPr>
        <p:spPr>
          <a:xfrm>
            <a:off x="0" y="914400"/>
            <a:ext cx="12192000" cy="0"/>
          </a:xfrm>
          <a:prstGeom prst="line">
            <a:avLst/>
          </a:prstGeom>
          <a:ln w="28575">
            <a:solidFill>
              <a:srgbClr val="008000"/>
            </a:solidFill>
          </a:ln>
        </p:spPr>
        <p:style>
          <a:lnRef idx="1">
            <a:schemeClr val="accent1"/>
          </a:lnRef>
          <a:fillRef idx="0">
            <a:schemeClr val="accent1"/>
          </a:fillRef>
          <a:effectRef idx="0">
            <a:schemeClr val="accent1"/>
          </a:effectRef>
          <a:fontRef idx="minor">
            <a:schemeClr val="tx1"/>
          </a:fontRef>
        </p:style>
      </p:cxnSp>
      <p:sp>
        <p:nvSpPr>
          <p:cNvPr id="12" name="テキスト プレースホルダー 11"/>
          <p:cNvSpPr>
            <a:spLocks noGrp="1"/>
          </p:cNvSpPr>
          <p:nvPr>
            <p:ph type="body" sz="quarter" idx="13" hasCustomPrompt="1"/>
          </p:nvPr>
        </p:nvSpPr>
        <p:spPr>
          <a:xfrm>
            <a:off x="223044" y="914400"/>
            <a:ext cx="11745912" cy="427038"/>
          </a:xfrm>
        </p:spPr>
        <p:txBody>
          <a:bodyPr>
            <a:noAutofit/>
          </a:bodyPr>
          <a:lstStyle>
            <a:lvl1pPr marL="342900" indent="-342900">
              <a:buClr>
                <a:srgbClr val="008000"/>
              </a:buClr>
              <a:buFont typeface="Wingdings" panose="05000000000000000000" pitchFamily="2" charset="2"/>
              <a:buChar char="n"/>
              <a:defRPr sz="2000">
                <a:latin typeface="Meiryo UI" panose="020B0604030504040204" pitchFamily="50" charset="-128"/>
                <a:ea typeface="Meiryo UI" panose="020B0604030504040204" pitchFamily="50" charset="-128"/>
              </a:defRPr>
            </a:lvl1pPr>
          </a:lstStyle>
          <a:p>
            <a:pPr lvl="0"/>
            <a:r>
              <a:rPr kumimoji="1" lang="ja-JP" altLang="en-US"/>
              <a:t>スライドメッセージ</a:t>
            </a:r>
          </a:p>
        </p:txBody>
      </p:sp>
      <p:pic>
        <p:nvPicPr>
          <p:cNvPr id="7" name="Picture 2" descr="今日を愛する。ライオン。"/>
          <p:cNvPicPr>
            <a:picLocks noChangeAspect="1" noChangeArrowheads="1"/>
          </p:cNvPicPr>
          <p:nvPr userDrawn="1"/>
        </p:nvPicPr>
        <p:blipFill rotWithShape="1">
          <a:blip r:embed="rId2">
            <a:extLst>
              <a:ext uri="{28A0092B-C50C-407E-A947-70E740481C1C}">
                <a14:useLocalDpi xmlns:a14="http://schemas.microsoft.com/office/drawing/2010/main"/>
              </a:ext>
            </a:extLst>
          </a:blip>
          <a:srcRect t="13567" b="11841"/>
          <a:stretch/>
        </p:blipFill>
        <p:spPr bwMode="auto">
          <a:xfrm>
            <a:off x="10752012" y="284692"/>
            <a:ext cx="1102101" cy="5399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9722408"/>
      </p:ext>
    </p:extLst>
  </p:cSld>
  <p:clrMapOvr>
    <a:masterClrMapping/>
  </p:clrMapOvr>
  <p:extLst>
    <p:ext uri="{DCECCB84-F9BA-43D5-87BE-67443E8EF086}">
      <p15:sldGuideLst xmlns:p15="http://schemas.microsoft.com/office/powerpoint/2012/main">
        <p15:guide id="1" orient="horz" pos="1026" userDrawn="1">
          <p15:clr>
            <a:srgbClr val="FBAE40"/>
          </p15:clr>
        </p15:guide>
        <p15:guide id="2" pos="211" userDrawn="1">
          <p15:clr>
            <a:srgbClr val="FBAE40"/>
          </p15:clr>
        </p15:guide>
        <p15:guide id="3" orient="horz" pos="3974" userDrawn="1">
          <p15:clr>
            <a:srgbClr val="FBAE40"/>
          </p15:clr>
        </p15:guide>
        <p15:guide id="4" pos="7469" userDrawn="1">
          <p15:clr>
            <a:srgbClr val="FBAE40"/>
          </p15:clr>
        </p15:guide>
        <p15:guide id="5" orient="horz" pos="182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9" name="図プレースホルダー 8">
            <a:extLst>
              <a:ext uri="{FF2B5EF4-FFF2-40B4-BE49-F238E27FC236}">
                <a16:creationId xmlns:a16="http://schemas.microsoft.com/office/drawing/2014/main" id="{769171BB-12EF-D7D1-8CAA-8B54FA9AFE5D}"/>
              </a:ext>
            </a:extLst>
          </p:cNvPr>
          <p:cNvSpPr>
            <a:spLocks noGrp="1"/>
          </p:cNvSpPr>
          <p:nvPr>
            <p:ph type="pic" sz="quarter" idx="15"/>
          </p:nvPr>
        </p:nvSpPr>
        <p:spPr>
          <a:xfrm>
            <a:off x="6651413" y="8878"/>
            <a:ext cx="5540587" cy="6849121"/>
          </a:xfrm>
        </p:spPr>
        <p:txBody>
          <a:bodyPr/>
          <a:lstStyle/>
          <a:p>
            <a:r>
              <a:rPr kumimoji="1" lang="ja-JP" altLang="en-US"/>
              <a:t>図を追加</a:t>
            </a:r>
          </a:p>
        </p:txBody>
      </p:sp>
      <p:sp>
        <p:nvSpPr>
          <p:cNvPr id="2" name="タイトル 1"/>
          <p:cNvSpPr>
            <a:spLocks noGrp="1"/>
          </p:cNvSpPr>
          <p:nvPr>
            <p:ph type="title" hasCustomPrompt="1"/>
          </p:nvPr>
        </p:nvSpPr>
        <p:spPr>
          <a:xfrm>
            <a:off x="142875" y="136525"/>
            <a:ext cx="6508538" cy="692457"/>
          </a:xfrm>
        </p:spPr>
        <p:txBody>
          <a:bodyPr anchor="ctr">
            <a:normAutofit/>
          </a:bodyPr>
          <a:lstStyle>
            <a:lvl1pPr>
              <a:defRPr sz="3200" b="1" baseline="0">
                <a:solidFill>
                  <a:srgbClr val="595959"/>
                </a:solidFill>
                <a:latin typeface="Meiryo UI" panose="020B0604030504040204" pitchFamily="50" charset="-128"/>
                <a:ea typeface="Meiryo UI" panose="020B0604030504040204" pitchFamily="50" charset="-128"/>
              </a:defRPr>
            </a:lvl1pPr>
          </a:lstStyle>
          <a:p>
            <a:r>
              <a:rPr kumimoji="1" lang="ja-JP" altLang="en-US"/>
              <a:t>スライドタイトル</a:t>
            </a:r>
          </a:p>
        </p:txBody>
      </p:sp>
      <p:sp>
        <p:nvSpPr>
          <p:cNvPr id="4" name="日付プレースホルダー 3"/>
          <p:cNvSpPr>
            <a:spLocks noGrp="1"/>
          </p:cNvSpPr>
          <p:nvPr>
            <p:ph type="dt" sz="half" idx="10"/>
          </p:nvPr>
        </p:nvSpPr>
        <p:spPr>
          <a:xfrm>
            <a:off x="0" y="6356350"/>
            <a:ext cx="3581400" cy="365125"/>
          </a:xfrm>
          <a:prstGeom prst="rect">
            <a:avLst/>
          </a:prstGeom>
        </p:spPr>
        <p:txBody>
          <a:bodyPr/>
          <a:lstStyle>
            <a:lvl1pPr>
              <a:defRPr sz="1000">
                <a:latin typeface="Meiryo UI" panose="020B0604030504040204" pitchFamily="50" charset="-128"/>
                <a:ea typeface="Meiryo UI" panose="020B0604030504040204" pitchFamily="50" charset="-128"/>
              </a:defRPr>
            </a:lvl1pPr>
          </a:lstStyle>
          <a:p>
            <a:endParaRPr lang="ja-JP" altLang="en-US"/>
          </a:p>
        </p:txBody>
      </p:sp>
      <p:sp>
        <p:nvSpPr>
          <p:cNvPr id="12" name="テキスト プレースホルダー 11"/>
          <p:cNvSpPr>
            <a:spLocks noGrp="1"/>
          </p:cNvSpPr>
          <p:nvPr>
            <p:ph type="body" sz="quarter" idx="13" hasCustomPrompt="1"/>
          </p:nvPr>
        </p:nvSpPr>
        <p:spPr>
          <a:xfrm>
            <a:off x="1019175" y="1384919"/>
            <a:ext cx="5076825" cy="692457"/>
          </a:xfrm>
        </p:spPr>
        <p:txBody>
          <a:bodyPr anchor="ctr">
            <a:normAutofit/>
          </a:bodyPr>
          <a:lstStyle>
            <a:lvl1pPr marL="0" indent="0">
              <a:buClr>
                <a:srgbClr val="008000"/>
              </a:buClr>
              <a:buFont typeface="Wingdings" panose="05000000000000000000" pitchFamily="2" charset="2"/>
              <a:buNone/>
              <a:defRPr sz="1800" b="1">
                <a:solidFill>
                  <a:srgbClr val="407FA2"/>
                </a:solidFill>
                <a:latin typeface="Meiryo UI" panose="020B0604030504040204" pitchFamily="50" charset="-128"/>
                <a:ea typeface="Meiryo UI" panose="020B0604030504040204" pitchFamily="50" charset="-128"/>
              </a:defRPr>
            </a:lvl1pPr>
          </a:lstStyle>
          <a:p>
            <a:pPr lvl="0"/>
            <a:r>
              <a:rPr kumimoji="1" lang="ja-JP" altLang="en-US"/>
              <a:t>見出し</a:t>
            </a:r>
          </a:p>
        </p:txBody>
      </p:sp>
      <p:sp>
        <p:nvSpPr>
          <p:cNvPr id="11" name="テキスト プレースホルダー 11">
            <a:extLst>
              <a:ext uri="{FF2B5EF4-FFF2-40B4-BE49-F238E27FC236}">
                <a16:creationId xmlns:a16="http://schemas.microsoft.com/office/drawing/2014/main" id="{AA811C02-548F-41AB-8518-014E4587611A}"/>
              </a:ext>
            </a:extLst>
          </p:cNvPr>
          <p:cNvSpPr>
            <a:spLocks noGrp="1"/>
          </p:cNvSpPr>
          <p:nvPr>
            <p:ph type="body" sz="quarter" idx="16" hasCustomPrompt="1"/>
          </p:nvPr>
        </p:nvSpPr>
        <p:spPr>
          <a:xfrm>
            <a:off x="1019175" y="2116348"/>
            <a:ext cx="5076825" cy="365125"/>
          </a:xfrm>
        </p:spPr>
        <p:txBody>
          <a:bodyPr anchor="ctr">
            <a:normAutofit/>
          </a:bodyPr>
          <a:lstStyle>
            <a:lvl1pPr marL="0" indent="0">
              <a:buClr>
                <a:srgbClr val="008000"/>
              </a:buClr>
              <a:buFont typeface="Wingdings" panose="05000000000000000000" pitchFamily="2" charset="2"/>
              <a:buNone/>
              <a:defRPr sz="1800" b="0">
                <a:solidFill>
                  <a:srgbClr val="407FA2"/>
                </a:solidFill>
                <a:latin typeface="Meiryo UI" panose="020B0604030504040204" pitchFamily="50" charset="-128"/>
                <a:ea typeface="Meiryo UI" panose="020B0604030504040204" pitchFamily="50" charset="-128"/>
              </a:defRPr>
            </a:lvl1pPr>
          </a:lstStyle>
          <a:p>
            <a:pPr lvl="0"/>
            <a:r>
              <a:rPr kumimoji="1" lang="ja-JP" altLang="en-US"/>
              <a:t>本文</a:t>
            </a:r>
          </a:p>
        </p:txBody>
      </p:sp>
      <p:sp>
        <p:nvSpPr>
          <p:cNvPr id="21" name="テキスト プレースホルダー 11">
            <a:extLst>
              <a:ext uri="{FF2B5EF4-FFF2-40B4-BE49-F238E27FC236}">
                <a16:creationId xmlns:a16="http://schemas.microsoft.com/office/drawing/2014/main" id="{D0945B70-3014-AE59-0012-E35A46BA111B}"/>
              </a:ext>
            </a:extLst>
          </p:cNvPr>
          <p:cNvSpPr>
            <a:spLocks noGrp="1"/>
          </p:cNvSpPr>
          <p:nvPr>
            <p:ph type="body" sz="quarter" idx="20" hasCustomPrompt="1"/>
          </p:nvPr>
        </p:nvSpPr>
        <p:spPr>
          <a:xfrm>
            <a:off x="7116418" y="3261321"/>
            <a:ext cx="4500438" cy="365125"/>
          </a:xfrm>
        </p:spPr>
        <p:txBody>
          <a:bodyPr>
            <a:normAutofit/>
          </a:bodyPr>
          <a:lstStyle>
            <a:lvl1pPr marL="285750" indent="-285750">
              <a:buClr>
                <a:schemeClr val="bg1"/>
              </a:buClr>
              <a:buFont typeface="Arial" panose="020B0604020202020204" pitchFamily="34" charset="0"/>
              <a:buChar char="•"/>
              <a:defRPr sz="1800" b="0">
                <a:solidFill>
                  <a:schemeClr val="bg1"/>
                </a:solidFill>
                <a:latin typeface="Meiryo UI" panose="020B0604030504040204" pitchFamily="50" charset="-128"/>
                <a:ea typeface="Meiryo UI" panose="020B0604030504040204" pitchFamily="50" charset="-128"/>
              </a:defRPr>
            </a:lvl1pPr>
          </a:lstStyle>
          <a:p>
            <a:pPr lvl="0"/>
            <a:r>
              <a:rPr kumimoji="1" lang="ja-JP" altLang="en-US"/>
              <a:t>本文</a:t>
            </a:r>
          </a:p>
        </p:txBody>
      </p:sp>
      <p:sp>
        <p:nvSpPr>
          <p:cNvPr id="20" name="図プレースホルダー 19">
            <a:extLst>
              <a:ext uri="{FF2B5EF4-FFF2-40B4-BE49-F238E27FC236}">
                <a16:creationId xmlns:a16="http://schemas.microsoft.com/office/drawing/2014/main" id="{B53DC72C-2BC8-F8E4-ECCF-7A9BA48790DE}"/>
              </a:ext>
            </a:extLst>
          </p:cNvPr>
          <p:cNvSpPr>
            <a:spLocks noGrp="1"/>
          </p:cNvSpPr>
          <p:nvPr>
            <p:ph type="pic" sz="quarter" idx="19"/>
          </p:nvPr>
        </p:nvSpPr>
        <p:spPr>
          <a:xfrm>
            <a:off x="8579458" y="1361786"/>
            <a:ext cx="1633787" cy="1633787"/>
          </a:xfrm>
        </p:spPr>
        <p:txBody>
          <a:bodyPr/>
          <a:lstStyle/>
          <a:p>
            <a:r>
              <a:rPr kumimoji="1" lang="ja-JP" altLang="en-US"/>
              <a:t>図を追加</a:t>
            </a:r>
          </a:p>
        </p:txBody>
      </p:sp>
      <p:sp>
        <p:nvSpPr>
          <p:cNvPr id="6" name="スライド番号プレースホルダー 5"/>
          <p:cNvSpPr>
            <a:spLocks noGrp="1"/>
          </p:cNvSpPr>
          <p:nvPr>
            <p:ph type="sldNum" sz="quarter" idx="12"/>
          </p:nvPr>
        </p:nvSpPr>
        <p:spPr>
          <a:xfrm>
            <a:off x="7898860" y="6356350"/>
            <a:ext cx="3958178" cy="365125"/>
          </a:xfrm>
          <a:prstGeom prst="rect">
            <a:avLst/>
          </a:prstGeom>
        </p:spPr>
        <p:txBody>
          <a:bodyPr/>
          <a:lstStyle>
            <a:lvl1pPr>
              <a:defRPr>
                <a:solidFill>
                  <a:schemeClr val="bg1"/>
                </a:solidFill>
              </a:defRPr>
            </a:lvl1pPr>
          </a:lstStyle>
          <a:p>
            <a:pPr algn="l"/>
            <a:r>
              <a:rPr lang="en-US" altLang="ja-JP"/>
              <a:t>©LION Corporation All rights reserved                                   </a:t>
            </a:r>
            <a:fld id="{AE9BC486-A67F-4F3D-8FA3-20FB0639ABC0}" type="slidenum">
              <a:rPr lang="ja-JP" altLang="en-US" smtClean="0"/>
              <a:pPr algn="l"/>
              <a:t>‹#›</a:t>
            </a:fld>
            <a:endParaRPr lang="ja-JP" altLang="en-US"/>
          </a:p>
        </p:txBody>
      </p:sp>
      <p:sp>
        <p:nvSpPr>
          <p:cNvPr id="5" name="テキスト プレースホルダー 11">
            <a:extLst>
              <a:ext uri="{FF2B5EF4-FFF2-40B4-BE49-F238E27FC236}">
                <a16:creationId xmlns:a16="http://schemas.microsoft.com/office/drawing/2014/main" id="{4ED55D75-A3D4-A129-D2FC-3108681FBD81}"/>
              </a:ext>
            </a:extLst>
          </p:cNvPr>
          <p:cNvSpPr>
            <a:spLocks noGrp="1"/>
          </p:cNvSpPr>
          <p:nvPr>
            <p:ph type="body" sz="quarter" idx="21" hasCustomPrompt="1"/>
          </p:nvPr>
        </p:nvSpPr>
        <p:spPr>
          <a:xfrm>
            <a:off x="1019175" y="4121758"/>
            <a:ext cx="5076825" cy="692457"/>
          </a:xfrm>
        </p:spPr>
        <p:txBody>
          <a:bodyPr anchor="ctr">
            <a:normAutofit/>
          </a:bodyPr>
          <a:lstStyle>
            <a:lvl1pPr marL="0" indent="0">
              <a:buClr>
                <a:srgbClr val="008000"/>
              </a:buClr>
              <a:buFont typeface="Wingdings" panose="05000000000000000000" pitchFamily="2" charset="2"/>
              <a:buNone/>
              <a:defRPr sz="1800" b="1">
                <a:solidFill>
                  <a:srgbClr val="407FA2"/>
                </a:solidFill>
                <a:latin typeface="Meiryo UI" panose="020B0604030504040204" pitchFamily="50" charset="-128"/>
                <a:ea typeface="Meiryo UI" panose="020B0604030504040204" pitchFamily="50" charset="-128"/>
              </a:defRPr>
            </a:lvl1pPr>
          </a:lstStyle>
          <a:p>
            <a:pPr lvl="0"/>
            <a:r>
              <a:rPr kumimoji="1" lang="ja-JP" altLang="en-US"/>
              <a:t>見出し</a:t>
            </a:r>
          </a:p>
        </p:txBody>
      </p:sp>
      <p:sp>
        <p:nvSpPr>
          <p:cNvPr id="7" name="テキスト プレースホルダー 11">
            <a:extLst>
              <a:ext uri="{FF2B5EF4-FFF2-40B4-BE49-F238E27FC236}">
                <a16:creationId xmlns:a16="http://schemas.microsoft.com/office/drawing/2014/main" id="{E28757FD-1708-EB5C-375D-071B3DC61F16}"/>
              </a:ext>
            </a:extLst>
          </p:cNvPr>
          <p:cNvSpPr>
            <a:spLocks noGrp="1"/>
          </p:cNvSpPr>
          <p:nvPr>
            <p:ph type="body" sz="quarter" idx="22" hasCustomPrompt="1"/>
          </p:nvPr>
        </p:nvSpPr>
        <p:spPr>
          <a:xfrm>
            <a:off x="1019175" y="4853187"/>
            <a:ext cx="5076825" cy="365125"/>
          </a:xfrm>
        </p:spPr>
        <p:txBody>
          <a:bodyPr anchor="ctr">
            <a:normAutofit/>
          </a:bodyPr>
          <a:lstStyle>
            <a:lvl1pPr marL="0" indent="0">
              <a:buClr>
                <a:srgbClr val="008000"/>
              </a:buClr>
              <a:buFont typeface="Wingdings" panose="05000000000000000000" pitchFamily="2" charset="2"/>
              <a:buNone/>
              <a:defRPr sz="1800" b="0">
                <a:solidFill>
                  <a:srgbClr val="407FA2"/>
                </a:solidFill>
                <a:latin typeface="Meiryo UI" panose="020B0604030504040204" pitchFamily="50" charset="-128"/>
                <a:ea typeface="Meiryo UI" panose="020B0604030504040204" pitchFamily="50" charset="-128"/>
              </a:defRPr>
            </a:lvl1pPr>
          </a:lstStyle>
          <a:p>
            <a:pPr lvl="0"/>
            <a:r>
              <a:rPr kumimoji="1" lang="ja-JP" altLang="en-US"/>
              <a:t>本文</a:t>
            </a:r>
          </a:p>
        </p:txBody>
      </p:sp>
    </p:spTree>
    <p:extLst>
      <p:ext uri="{BB962C8B-B14F-4D97-AF65-F5344CB8AC3E}">
        <p14:creationId xmlns:p14="http://schemas.microsoft.com/office/powerpoint/2010/main" val="1439624796"/>
      </p:ext>
    </p:extLst>
  </p:cSld>
  <p:clrMapOvr>
    <a:masterClrMapping/>
  </p:clrMapOvr>
  <p:extLst>
    <p:ext uri="{DCECCB84-F9BA-43D5-87BE-67443E8EF086}">
      <p15:sldGuideLst xmlns:p15="http://schemas.microsoft.com/office/powerpoint/2012/main">
        <p15:guide id="1" orient="horz" pos="1026">
          <p15:clr>
            <a:srgbClr val="FBAE40"/>
          </p15:clr>
        </p15:guide>
        <p15:guide id="2" pos="211">
          <p15:clr>
            <a:srgbClr val="FBAE40"/>
          </p15:clr>
        </p15:guide>
        <p15:guide id="3" orient="horz" pos="3974">
          <p15:clr>
            <a:srgbClr val="FBAE40"/>
          </p15:clr>
        </p15:guide>
        <p15:guide id="4" pos="7469">
          <p15:clr>
            <a:srgbClr val="FBAE40"/>
          </p15:clr>
        </p15:guide>
        <p15:guide id="5" orient="horz" pos="182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pic>
        <p:nvPicPr>
          <p:cNvPr id="13" name="図 12">
            <a:extLst>
              <a:ext uri="{FF2B5EF4-FFF2-40B4-BE49-F238E27FC236}">
                <a16:creationId xmlns:a16="http://schemas.microsoft.com/office/drawing/2014/main" id="{2B8A581B-A44C-1A50-AA22-A78798A438A5}"/>
              </a:ext>
            </a:extLst>
          </p:cNvPr>
          <p:cNvPicPr>
            <a:picLocks noChangeAspect="1"/>
          </p:cNvPicPr>
          <p:nvPr userDrawn="1"/>
        </p:nvPicPr>
        <p:blipFill>
          <a:blip r:embed="rId5"/>
          <a:stretch>
            <a:fillRect/>
          </a:stretch>
        </p:blipFill>
        <p:spPr>
          <a:xfrm>
            <a:off x="-644057" y="6492208"/>
            <a:ext cx="4115157" cy="365792"/>
          </a:xfrm>
          <a:prstGeom prst="rect">
            <a:avLst/>
          </a:prstGeom>
        </p:spPr>
      </p:pic>
      <p:sp>
        <p:nvSpPr>
          <p:cNvPr id="4" name="テキスト ボックス 3"/>
          <p:cNvSpPr txBox="1"/>
          <p:nvPr userDrawn="1"/>
        </p:nvSpPr>
        <p:spPr>
          <a:xfrm>
            <a:off x="11353800" y="6544299"/>
            <a:ext cx="659524" cy="276999"/>
          </a:xfrm>
          <a:prstGeom prst="rect">
            <a:avLst/>
          </a:prstGeom>
          <a:noFill/>
        </p:spPr>
        <p:txBody>
          <a:bodyPr wrap="square" rtlCol="0">
            <a:spAutoFit/>
          </a:bodyPr>
          <a:lstStyle/>
          <a:p>
            <a:pPr algn="ctr"/>
            <a:fld id="{159CA7EA-7377-4C6F-958C-65E49E0817CC}" type="slidenum">
              <a:rPr kumimoji="1" lang="ja-JP" altLang="en-US" sz="1200" smtClean="0">
                <a:solidFill>
                  <a:srgbClr val="969696"/>
                </a:solidFill>
              </a:rPr>
              <a:pPr algn="ctr"/>
              <a:t>‹#›</a:t>
            </a:fld>
            <a:endParaRPr kumimoji="1" lang="ja-JP" altLang="en-US" sz="1200" dirty="0">
              <a:solidFill>
                <a:srgbClr val="969696"/>
              </a:solidFill>
            </a:endParaRPr>
          </a:p>
        </p:txBody>
      </p:sp>
    </p:spTree>
    <p:extLst>
      <p:ext uri="{BB962C8B-B14F-4D97-AF65-F5344CB8AC3E}">
        <p14:creationId xmlns:p14="http://schemas.microsoft.com/office/powerpoint/2010/main" val="36801052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Lst>
  <p:hf sldNum="0"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svg"/><Relationship Id="rId3" Type="http://schemas.openxmlformats.org/officeDocument/2006/relationships/image" Target="../media/image8.svg"/><Relationship Id="rId4" Type="http://schemas.openxmlformats.org/officeDocument/2006/relationships/image" Target="../media/image9.svg"/><Relationship Id="rId5" Type="http://schemas.openxmlformats.org/officeDocument/2006/relationships/image" Target="../media/image10.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svg"/><Relationship Id="rId3" Type="http://schemas.openxmlformats.org/officeDocument/2006/relationships/image" Target="../media/image12.svg"/><Relationship Id="rId4" Type="http://schemas.openxmlformats.org/officeDocument/2006/relationships/image" Target="../media/image13.svg"/><Relationship Id="rId5" Type="http://schemas.openxmlformats.org/officeDocument/2006/relationships/image" Target="../media/image14.svg"/><Relationship Id="rId6" Type="http://schemas.openxmlformats.org/officeDocument/2006/relationships/image" Target="../media/image15.svg"/><Relationship Id="rId7" Type="http://schemas.openxmlformats.org/officeDocument/2006/relationships/image" Target="../media/image16.svg"/><Relationship Id="rId8" Type="http://schemas.openxmlformats.org/officeDocument/2006/relationships/image" Target="../media/image17.svg"/><Relationship Id="rId9" Type="http://schemas.openxmlformats.org/officeDocument/2006/relationships/image" Target="../media/image18.svg"/><Relationship Id="rId10" Type="http://schemas.openxmlformats.org/officeDocument/2006/relationships/image" Target="../media/image19.svg"/><Relationship Id="rId11" Type="http://schemas.openxmlformats.org/officeDocument/2006/relationships/image" Target="../media/image20.svg"/><Relationship Id="rId12" Type="http://schemas.openxmlformats.org/officeDocument/2006/relationships/image" Target="../media/image21.svg"/><Relationship Id="rId13" Type="http://schemas.openxmlformats.org/officeDocument/2006/relationships/image" Target="../media/image22.svg"/><Relationship Id="rId14" Type="http://schemas.openxmlformats.org/officeDocument/2006/relationships/image" Target="../media/image23.svg"/><Relationship Id="rId15" Type="http://schemas.openxmlformats.org/officeDocument/2006/relationships/image" Target="../media/image24.svg"/><Relationship Id="rId16" Type="http://schemas.openxmlformats.org/officeDocument/2006/relationships/image" Target="../media/image25.svg"/><Relationship Id="rId17" Type="http://schemas.openxmlformats.org/officeDocument/2006/relationships/image" Target="../media/image26.svg"/><Relationship Id="rId18" Type="http://schemas.openxmlformats.org/officeDocument/2006/relationships/image" Target="../media/image27.svg"/><Relationship Id="rId19" Type="http://schemas.openxmlformats.org/officeDocument/2006/relationships/image" Target="../media/image28.svg"/></Relationships>
</file>

<file path=ppt/slides/_rels/slide4.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tags" Target="../tags/tag3.xml"/><Relationship Id="rId3" Type="http://schemas.openxmlformats.org/officeDocument/2006/relationships/tags" Target="../tags/tag4.xml"/><Relationship Id="rId4" Type="http://schemas.openxmlformats.org/officeDocument/2006/relationships/tags" Target="../tags/tag5.xml"/><Relationship Id="rId5" Type="http://schemas.openxmlformats.org/officeDocument/2006/relationships/slideLayout" Target="../slideLayouts/slideLayout2.xml"/><Relationship Id="rId6" Type="http://schemas.openxmlformats.org/officeDocument/2006/relationships/image" Target="../media/image29.svg"/><Relationship Id="rId7" Type="http://schemas.openxmlformats.org/officeDocument/2006/relationships/image" Target="../media/image30.svg"/><Relationship Id="rId8" Type="http://schemas.openxmlformats.org/officeDocument/2006/relationships/image" Target="../media/image31.svg"/><Relationship Id="rId9" Type="http://schemas.openxmlformats.org/officeDocument/2006/relationships/image" Target="../media/image32.svg"/><Relationship Id="rId10" Type="http://schemas.openxmlformats.org/officeDocument/2006/relationships/image" Target="../media/image33.svg"/><Relationship Id="rId11" Type="http://schemas.openxmlformats.org/officeDocument/2006/relationships/image" Target="../media/image34.svg"/><Relationship Id="rId12" Type="http://schemas.openxmlformats.org/officeDocument/2006/relationships/image" Target="../media/image35.svg"/><Relationship Id="rId13" Type="http://schemas.openxmlformats.org/officeDocument/2006/relationships/image" Target="../media/image36.svg"/></Relationships>
</file>

<file path=ppt/slides/_rels/slide5.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tags" Target="../tags/tag7.xml"/><Relationship Id="rId3" Type="http://schemas.openxmlformats.org/officeDocument/2006/relationships/tags" Target="../tags/tag8.xml"/><Relationship Id="rId4" Type="http://schemas.openxmlformats.org/officeDocument/2006/relationships/slideLayout" Target="../slideLayouts/slideLayout2.xml"/><Relationship Id="rId5" Type="http://schemas.openxmlformats.org/officeDocument/2006/relationships/image" Target="../media/image33.svg"/><Relationship Id="rId6" Type="http://schemas.openxmlformats.org/officeDocument/2006/relationships/image" Target="../media/image34.svg"/><Relationship Id="rId7" Type="http://schemas.openxmlformats.org/officeDocument/2006/relationships/image" Target="../media/image35.svg"/><Relationship Id="rId8" Type="http://schemas.openxmlformats.org/officeDocument/2006/relationships/image" Target="../media/image36.svg"/><Relationship Id="rId9" Type="http://schemas.openxmlformats.org/officeDocument/2006/relationships/image" Target="../media/image37.svg"/><Relationship Id="rId10" Type="http://schemas.openxmlformats.org/officeDocument/2006/relationships/image" Target="../media/image38.svg"/><Relationship Id="rId11" Type="http://schemas.openxmlformats.org/officeDocument/2006/relationships/image" Target="../media/image39.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svg"/><Relationship Id="rId3" Type="http://schemas.openxmlformats.org/officeDocument/2006/relationships/image" Target="../media/image40.svg"/><Relationship Id="rId4" Type="http://schemas.openxmlformats.org/officeDocument/2006/relationships/image" Target="../media/image41.svg"/><Relationship Id="rId5" Type="http://schemas.openxmlformats.org/officeDocument/2006/relationships/image" Target="../media/image42.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svg"/><Relationship Id="rId3" Type="http://schemas.openxmlformats.org/officeDocument/2006/relationships/image" Target="../media/image5.svg"/><Relationship Id="rId4" Type="http://schemas.openxmlformats.org/officeDocument/2006/relationships/image" Target="../media/image44.svg"/><Relationship Id="rId5" Type="http://schemas.openxmlformats.org/officeDocument/2006/relationships/image" Target="../media/image45.svg"/></Relationships>
</file>

<file path=ppt/slides/_rels/slide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tags" Target="../tags/tag11.xml"/><Relationship Id="rId4" Type="http://schemas.openxmlformats.org/officeDocument/2006/relationships/tags" Target="../tags/tag12.xml"/><Relationship Id="rId5" Type="http://schemas.openxmlformats.org/officeDocument/2006/relationships/slideLayout" Target="../slideLayouts/slideLayout2.xml"/><Relationship Id="rId6" Type="http://schemas.openxmlformats.org/officeDocument/2006/relationships/image" Target="../media/image29.svg"/><Relationship Id="rId7" Type="http://schemas.openxmlformats.org/officeDocument/2006/relationships/image" Target="../media/image30.svg"/><Relationship Id="rId8" Type="http://schemas.openxmlformats.org/officeDocument/2006/relationships/image" Target="../media/image31.svg"/><Relationship Id="rId9" Type="http://schemas.openxmlformats.org/officeDocument/2006/relationships/image" Target="../media/image32.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svg"/><Relationship Id="rId3" Type="http://schemas.openxmlformats.org/officeDocument/2006/relationships/image" Target="../media/image46.svg"/><Relationship Id="rId4" Type="http://schemas.openxmlformats.org/officeDocument/2006/relationships/image" Target="../media/image47.svg"/><Relationship Id="rId5" Type="http://schemas.openxmlformats.org/officeDocument/2006/relationships/image" Target="../media/image48.svg"/><Relationship Id="rId6" Type="http://schemas.openxmlformats.org/officeDocument/2006/relationships/image" Target="../media/image49.svg"/><Relationship Id="rId7" Type="http://schemas.openxmlformats.org/officeDocument/2006/relationships/image" Target="../media/image50.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svg"/><Relationship Id="rId3" Type="http://schemas.openxmlformats.org/officeDocument/2006/relationships/image" Target="../media/image51.svg"/><Relationship Id="rId4" Type="http://schemas.openxmlformats.org/officeDocument/2006/relationships/image" Target="../media/image52.svg"/><Relationship Id="rId5" Type="http://schemas.openxmlformats.org/officeDocument/2006/relationships/image" Target="../media/image53.svg"/><Relationship Id="rId6" Type="http://schemas.openxmlformats.org/officeDocument/2006/relationships/image" Target="../media/image54.svg"/><Relationship Id="rId7" Type="http://schemas.openxmlformats.org/officeDocument/2006/relationships/image" Target="../media/image55.svg"/><Relationship Id="rId8" Type="http://schemas.openxmlformats.org/officeDocument/2006/relationships/image" Target="../media/image56.svg"/><Relationship Id="rId9" Type="http://schemas.openxmlformats.org/officeDocument/2006/relationships/image" Target="../media/image57.svg"/><Relationship Id="rId10" Type="http://schemas.openxmlformats.org/officeDocument/2006/relationships/image" Target="../media/image58.svg"/><Relationship Id="rId11" Type="http://schemas.openxmlformats.org/officeDocument/2006/relationships/image" Target="../media/image59.svg"/><Relationship Id="rId12" Type="http://schemas.openxmlformats.org/officeDocument/2006/relationships/image" Target="../media/image6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1.svg"/><Relationship Id="rId3" Type="http://schemas.openxmlformats.org/officeDocument/2006/relationships/image" Target="../media/image62.svg"/><Relationship Id="rId4" Type="http://schemas.openxmlformats.org/officeDocument/2006/relationships/image" Target="../media/image63.svg"/><Relationship Id="rId5" Type="http://schemas.openxmlformats.org/officeDocument/2006/relationships/image" Target="../media/image64.svg"/><Relationship Id="rId6" Type="http://schemas.openxmlformats.org/officeDocument/2006/relationships/image" Target="../media/image65.svg"/><Relationship Id="rId7" Type="http://schemas.openxmlformats.org/officeDocument/2006/relationships/image" Target="../media/image66.svg"/><Relationship Id="rId8" Type="http://schemas.openxmlformats.org/officeDocument/2006/relationships/image" Target="../media/image48.svg"/><Relationship Id="rId9" Type="http://schemas.openxmlformats.org/officeDocument/2006/relationships/image" Target="../media/image67.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68.svg"/><Relationship Id="rId4" Type="http://schemas.openxmlformats.org/officeDocument/2006/relationships/image" Target="../media/image69.svg"/><Relationship Id="rId5" Type="http://schemas.openxmlformats.org/officeDocument/2006/relationships/image" Target="../media/image70.svg"/><Relationship Id="rId6" Type="http://schemas.openxmlformats.org/officeDocument/2006/relationships/image" Target="../media/image71.svg"/><Relationship Id="rId7" Type="http://schemas.openxmlformats.org/officeDocument/2006/relationships/image" Target="../media/image43.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72010-A30B-E11C-5AC9-872EF547CA8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4F7ADEF-9E6F-471F-FAEE-D19106D47A7D}"/>
              </a:ext>
            </a:extLst>
          </p:cNvPr>
          <p:cNvSpPr>
            <a:spLocks noGrp="1"/>
          </p:cNvSpPr>
          <p:nvPr>
            <p:ph type="title"/>
          </p:nvPr>
        </p:nvSpPr>
        <p:spPr>
          <a:xfrm>
            <a:off x="334963" y="1"/>
            <a:ext cx="11522075" cy="914400"/>
          </a:xfrm>
        </p:spPr>
        <p:txBody>
          <a:bodyPr/>
          <a:lstStyle/>
          <a:p>
            <a:r>
              <a:rPr kumimoji="1" lang="ja-JP" altLang="en-US" dirty="0">
                <a:latin typeface="メイリオ" panose="020B0604030504040204" pitchFamily="50" charset="-128"/>
                <a:ea typeface="メイリオ" panose="020B0604030504040204" pitchFamily="50" charset="-128"/>
              </a:rPr>
              <a:t>製造業を取り巻くマクロ環境変化 </a:t>
            </a:r>
            <a:r>
              <a:rPr kumimoji="1" lang="en-US" altLang="ja-JP" dirty="0">
                <a:latin typeface="メイリオ" panose="020B0604030504040204" pitchFamily="50" charset="-128"/>
                <a:ea typeface="メイリオ" panose="020B0604030504040204" pitchFamily="50" charset="-128"/>
              </a:rPr>
              <a:t>(PEST</a:t>
            </a:r>
            <a:r>
              <a:rPr lang="ja-JP" altLang="en-US" dirty="0">
                <a:latin typeface="メイリオ" panose="020B0604030504040204" pitchFamily="50" charset="-128"/>
                <a:ea typeface="メイリオ" panose="020B0604030504040204" pitchFamily="50" charset="-128"/>
              </a:rPr>
              <a:t>分析</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 </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a16:creationId xmlns:a16="http://schemas.microsoft.com/office/drawing/2014/main" id="{9A7C79BF-563D-BF7B-D7CF-34D8FDBBC68C}"/>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latin typeface="+mn-ea"/>
                <a:ea typeface="+mn-ea"/>
              </a:rPr>
              <a:t>人口減少や環境規制によってこれまでの大量生産 ･ 安売りが通用しなくなる一方、消費者の健康 ･ エコ意識の高まりや</a:t>
            </a:r>
            <a:br>
              <a:rPr lang="en-US" altLang="ja-JP" sz="1800" dirty="0">
                <a:latin typeface="+mn-ea"/>
                <a:ea typeface="+mn-ea"/>
              </a:rPr>
            </a:br>
            <a:r>
              <a:rPr lang="en-US" altLang="ja-JP" sz="1800" dirty="0">
                <a:latin typeface="+mn-ea"/>
                <a:ea typeface="+mn-ea"/>
              </a:rPr>
              <a:t>AI</a:t>
            </a:r>
            <a:r>
              <a:rPr lang="ja-JP" altLang="en-US" sz="1800" dirty="0">
                <a:latin typeface="+mn-ea"/>
                <a:ea typeface="+mn-ea"/>
              </a:rPr>
              <a:t>の普及により、日用品ビジネスは「製品を売る」ことから健康や環境を支える仕組みを作る」ことへ変化する</a:t>
            </a:r>
          </a:p>
        </p:txBody>
      </p:sp>
      <p:sp>
        <p:nvSpPr>
          <p:cNvPr id="5" name="正方形/長方形 4">
            <a:extLst>
              <a:ext uri="{FF2B5EF4-FFF2-40B4-BE49-F238E27FC236}">
                <a16:creationId xmlns:a16="http://schemas.microsoft.com/office/drawing/2014/main" id="{7C250FBD-8227-81B3-5858-FD88C533D587}"/>
              </a:ext>
            </a:extLst>
          </p:cNvPr>
          <p:cNvSpPr/>
          <p:nvPr/>
        </p:nvSpPr>
        <p:spPr>
          <a:xfrm>
            <a:off x="334963" y="1637964"/>
            <a:ext cx="5579700" cy="427038"/>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chemeClr val="bg1"/>
                </a:solidFill>
                <a:latin typeface="+mn-ea"/>
              </a:rPr>
              <a:t>P</a:t>
            </a:r>
            <a:r>
              <a:rPr lang="en-US" altLang="ja-JP" sz="1600" dirty="0">
                <a:solidFill>
                  <a:schemeClr val="bg1"/>
                </a:solidFill>
                <a:latin typeface="+mn-ea"/>
              </a:rPr>
              <a:t>olitical : </a:t>
            </a:r>
            <a:r>
              <a:rPr lang="ja-JP" altLang="en-US" sz="1600" dirty="0">
                <a:solidFill>
                  <a:schemeClr val="bg1"/>
                </a:solidFill>
                <a:latin typeface="+mn-ea"/>
              </a:rPr>
              <a:t>政治 ･ 規制</a:t>
            </a:r>
            <a:endParaRPr lang="en-US" altLang="ja-JP" sz="1600" dirty="0">
              <a:solidFill>
                <a:schemeClr val="bg1"/>
              </a:solidFill>
              <a:latin typeface="+mn-ea"/>
            </a:endParaRPr>
          </a:p>
        </p:txBody>
      </p:sp>
      <p:sp>
        <p:nvSpPr>
          <p:cNvPr id="11" name="正方形/長方形 10">
            <a:extLst>
              <a:ext uri="{FF2B5EF4-FFF2-40B4-BE49-F238E27FC236}">
                <a16:creationId xmlns:a16="http://schemas.microsoft.com/office/drawing/2014/main" id="{396CEF30-DE7A-1971-08B4-DF7109B823D6}"/>
              </a:ext>
            </a:extLst>
          </p:cNvPr>
          <p:cNvSpPr/>
          <p:nvPr/>
        </p:nvSpPr>
        <p:spPr>
          <a:xfrm>
            <a:off x="334963" y="2065002"/>
            <a:ext cx="5579700" cy="1705616"/>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600" dirty="0">
              <a:solidFill>
                <a:schemeClr val="tx1"/>
              </a:solidFill>
              <a:latin typeface="+mn-ea"/>
            </a:endParaRPr>
          </a:p>
        </p:txBody>
      </p:sp>
      <p:grpSp>
        <p:nvGrpSpPr>
          <p:cNvPr id="24" name="グループ化 23">
            <a:extLst>
              <a:ext uri="{FF2B5EF4-FFF2-40B4-BE49-F238E27FC236}">
                <a16:creationId xmlns:a16="http://schemas.microsoft.com/office/drawing/2014/main" id="{AD86F886-F4FB-B975-1A68-6721CB6590D2}"/>
              </a:ext>
            </a:extLst>
          </p:cNvPr>
          <p:cNvGrpSpPr/>
          <p:nvPr/>
        </p:nvGrpSpPr>
        <p:grpSpPr>
          <a:xfrm>
            <a:off x="381616" y="2161566"/>
            <a:ext cx="5486394" cy="1515563"/>
            <a:chOff x="381616" y="2161566"/>
            <a:chExt cx="5486394" cy="1515563"/>
          </a:xfrm>
        </p:grpSpPr>
        <p:sp>
          <p:nvSpPr>
            <p:cNvPr id="20" name="正方形/長方形 19">
              <a:extLst>
                <a:ext uri="{FF2B5EF4-FFF2-40B4-BE49-F238E27FC236}">
                  <a16:creationId xmlns:a16="http://schemas.microsoft.com/office/drawing/2014/main" id="{F03F9789-C361-75AB-993B-3ABDB38D7EE3}"/>
                </a:ext>
              </a:extLst>
            </p:cNvPr>
            <p:cNvSpPr/>
            <p:nvPr/>
          </p:nvSpPr>
          <p:spPr>
            <a:xfrm>
              <a:off x="381616" y="2161566"/>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環境規制の厳格化</a:t>
              </a:r>
              <a:endParaRPr lang="en-US" altLang="ja-JP" sz="1050" b="1" dirty="0">
                <a:solidFill>
                  <a:srgbClr val="008D2E"/>
                </a:solidFill>
                <a:latin typeface="+mn-ea"/>
              </a:endParaRPr>
            </a:p>
            <a:p>
              <a:r>
                <a:rPr lang="ja-JP" altLang="ja-JP" sz="1050" dirty="0">
                  <a:solidFill>
                    <a:schemeClr val="tx1"/>
                  </a:solidFill>
                  <a:latin typeface="+mn-ea"/>
                </a:rPr>
                <a:t>炭素税の高額化、プラスチック容器の完全回収</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再利用の法的な義務化</a:t>
              </a:r>
              <a:endParaRPr lang="en-US" altLang="ja-JP" sz="1050" dirty="0">
                <a:solidFill>
                  <a:schemeClr val="tx1"/>
                </a:solidFill>
                <a:latin typeface="+mn-ea"/>
              </a:endParaRPr>
            </a:p>
          </p:txBody>
        </p:sp>
        <p:sp>
          <p:nvSpPr>
            <p:cNvPr id="22" name="正方形/長方形 21">
              <a:extLst>
                <a:ext uri="{FF2B5EF4-FFF2-40B4-BE49-F238E27FC236}">
                  <a16:creationId xmlns:a16="http://schemas.microsoft.com/office/drawing/2014/main" id="{79313EAB-2BFD-DE15-FBF8-39FEF254D150}"/>
                </a:ext>
              </a:extLst>
            </p:cNvPr>
            <p:cNvSpPr/>
            <p:nvPr/>
          </p:nvSpPr>
          <p:spPr>
            <a:xfrm>
              <a:off x="2235346" y="2161566"/>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Scope 3の開示義務化</a:t>
              </a:r>
              <a:endParaRPr lang="en-US" altLang="ja-JP" sz="1050" b="1" dirty="0">
                <a:solidFill>
                  <a:srgbClr val="008D2E"/>
                </a:solidFill>
                <a:latin typeface="+mn-ea"/>
              </a:endParaRPr>
            </a:p>
            <a:p>
              <a:r>
                <a:rPr lang="ja-JP" altLang="ja-JP" sz="1050" dirty="0">
                  <a:solidFill>
                    <a:schemeClr val="tx1"/>
                  </a:solidFill>
                  <a:latin typeface="+mn-ea"/>
                </a:rPr>
                <a:t>原材料調達から配送</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廃棄に</a:t>
              </a:r>
              <a:br>
                <a:rPr lang="en-US" altLang="ja-JP" sz="1050" dirty="0">
                  <a:solidFill>
                    <a:schemeClr val="tx1"/>
                  </a:solidFill>
                  <a:latin typeface="+mn-ea"/>
                </a:rPr>
              </a:br>
              <a:r>
                <a:rPr lang="ja-JP" altLang="ja-JP" sz="1050" dirty="0">
                  <a:solidFill>
                    <a:schemeClr val="tx1"/>
                  </a:solidFill>
                  <a:latin typeface="+mn-ea"/>
                </a:rPr>
                <a:t>至るGHG排出量算定の国際</a:t>
              </a:r>
              <a:br>
                <a:rPr lang="en-US" altLang="ja-JP" sz="1050" dirty="0">
                  <a:solidFill>
                    <a:schemeClr val="tx1"/>
                  </a:solidFill>
                  <a:latin typeface="+mn-ea"/>
                </a:rPr>
              </a:br>
              <a:r>
                <a:rPr lang="ja-JP" altLang="ja-JP" sz="1050" dirty="0">
                  <a:solidFill>
                    <a:schemeClr val="tx1"/>
                  </a:solidFill>
                  <a:latin typeface="+mn-ea"/>
                </a:rPr>
                <a:t>標準化</a:t>
              </a:r>
              <a:endParaRPr lang="en-US" altLang="ja-JP" sz="1050" dirty="0">
                <a:solidFill>
                  <a:schemeClr val="tx1"/>
                </a:solidFill>
                <a:latin typeface="+mn-ea"/>
              </a:endParaRPr>
            </a:p>
          </p:txBody>
        </p:sp>
        <p:sp>
          <p:nvSpPr>
            <p:cNvPr id="23" name="正方形/長方形 22">
              <a:extLst>
                <a:ext uri="{FF2B5EF4-FFF2-40B4-BE49-F238E27FC236}">
                  <a16:creationId xmlns:a16="http://schemas.microsoft.com/office/drawing/2014/main" id="{7D660D86-2806-BEE3-1105-AE123A7EAEBF}"/>
                </a:ext>
              </a:extLst>
            </p:cNvPr>
            <p:cNvSpPr/>
            <p:nvPr/>
          </p:nvSpPr>
          <p:spPr>
            <a:xfrm>
              <a:off x="4089075" y="2161566"/>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プライバシー規制の強化</a:t>
              </a:r>
              <a:endParaRPr lang="en-US" altLang="ja-JP" sz="1050" b="1" dirty="0">
                <a:solidFill>
                  <a:srgbClr val="008D2E"/>
                </a:solidFill>
                <a:latin typeface="+mn-ea"/>
              </a:endParaRPr>
            </a:p>
            <a:p>
              <a:r>
                <a:rPr lang="ja-JP" altLang="ja-JP" sz="1050" dirty="0">
                  <a:solidFill>
                    <a:schemeClr val="tx1"/>
                  </a:solidFill>
                  <a:latin typeface="+mn-ea"/>
                </a:rPr>
                <a:t>Cookie規制定着によるサードパーティデータの完全消滅とデータ権利の厳格化</a:t>
              </a:r>
              <a:endParaRPr lang="en-US" altLang="ja-JP" sz="1050" dirty="0">
                <a:solidFill>
                  <a:schemeClr val="tx1"/>
                </a:solidFill>
                <a:latin typeface="+mn-ea"/>
              </a:endParaRPr>
            </a:p>
          </p:txBody>
        </p:sp>
        <p:sp>
          <p:nvSpPr>
            <p:cNvPr id="27" name="正方形/長方形 26">
              <a:extLst>
                <a:ext uri="{FF2B5EF4-FFF2-40B4-BE49-F238E27FC236}">
                  <a16:creationId xmlns:a16="http://schemas.microsoft.com/office/drawing/2014/main" id="{A494D783-3976-38D2-FAA5-9C380704719A}"/>
                </a:ext>
              </a:extLst>
            </p:cNvPr>
            <p:cNvSpPr/>
            <p:nvPr/>
          </p:nvSpPr>
          <p:spPr>
            <a:xfrm>
              <a:off x="381616" y="2964277"/>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労働法制の全業種的強化</a:t>
              </a:r>
              <a:endParaRPr lang="en-US" altLang="ja-JP" sz="1050" b="1" dirty="0">
                <a:solidFill>
                  <a:srgbClr val="008D2E"/>
                </a:solidFill>
                <a:latin typeface="+mn-ea"/>
              </a:endParaRPr>
            </a:p>
            <a:p>
              <a:r>
                <a:rPr lang="ja-JP" altLang="ja-JP" sz="1050" dirty="0">
                  <a:solidFill>
                    <a:schemeClr val="tx1"/>
                  </a:solidFill>
                  <a:latin typeface="+mn-ea"/>
                </a:rPr>
                <a:t>勤務間インターバル制度の</a:t>
              </a:r>
              <a:br>
                <a:rPr lang="en-US" altLang="ja-JP" sz="1050" dirty="0">
                  <a:solidFill>
                    <a:schemeClr val="tx1"/>
                  </a:solidFill>
                  <a:latin typeface="+mn-ea"/>
                </a:rPr>
              </a:br>
              <a:r>
                <a:rPr lang="ja-JP" altLang="ja-JP" sz="1050" dirty="0">
                  <a:solidFill>
                    <a:schemeClr val="tx1"/>
                  </a:solidFill>
                  <a:latin typeface="+mn-ea"/>
                </a:rPr>
                <a:t>義務化議論、物流</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サービス業の労働時間制限</a:t>
              </a:r>
              <a:endParaRPr lang="en-US" altLang="ja-JP" sz="1050" dirty="0">
                <a:solidFill>
                  <a:schemeClr val="tx1"/>
                </a:solidFill>
                <a:latin typeface="+mn-ea"/>
              </a:endParaRPr>
            </a:p>
          </p:txBody>
        </p:sp>
        <p:sp>
          <p:nvSpPr>
            <p:cNvPr id="28" name="正方形/長方形 27">
              <a:extLst>
                <a:ext uri="{FF2B5EF4-FFF2-40B4-BE49-F238E27FC236}">
                  <a16:creationId xmlns:a16="http://schemas.microsoft.com/office/drawing/2014/main" id="{626E8488-76AA-E135-159C-4FD27A876663}"/>
                </a:ext>
              </a:extLst>
            </p:cNvPr>
            <p:cNvSpPr/>
            <p:nvPr/>
          </p:nvSpPr>
          <p:spPr>
            <a:xfrm>
              <a:off x="2235346" y="2964274"/>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地政学リスクの常態化</a:t>
              </a:r>
              <a:endParaRPr lang="en-US" altLang="ja-JP" sz="1050" b="1" dirty="0">
                <a:solidFill>
                  <a:srgbClr val="008D2E"/>
                </a:solidFill>
                <a:latin typeface="+mn-ea"/>
              </a:endParaRPr>
            </a:p>
            <a:p>
              <a:r>
                <a:rPr lang="ja-JP" altLang="ja-JP" sz="1050" dirty="0">
                  <a:solidFill>
                    <a:schemeClr val="tx1"/>
                  </a:solidFill>
                  <a:latin typeface="+mn-ea"/>
                </a:rPr>
                <a:t>自国第一主義、経済ブロック化に伴う追加関税措置、供給網</a:t>
              </a:r>
              <a:br>
                <a:rPr lang="en-US" altLang="ja-JP" sz="1050" dirty="0">
                  <a:solidFill>
                    <a:schemeClr val="tx1"/>
                  </a:solidFill>
                  <a:latin typeface="+mn-ea"/>
                </a:rPr>
              </a:br>
              <a:r>
                <a:rPr lang="ja-JP" altLang="ja-JP" sz="1050" dirty="0">
                  <a:solidFill>
                    <a:schemeClr val="tx1"/>
                  </a:solidFill>
                  <a:latin typeface="+mn-ea"/>
                </a:rPr>
                <a:t>継続的な分断</a:t>
              </a:r>
            </a:p>
          </p:txBody>
        </p:sp>
      </p:grpSp>
      <p:pic>
        <p:nvPicPr>
          <p:cNvPr id="82" name="グラフィックス 81" descr="No の記号 単色塗りつぶし">
            <a:extLst>
              <a:ext uri="{FF2B5EF4-FFF2-40B4-BE49-F238E27FC236}">
                <a16:creationId xmlns:a16="http://schemas.microsoft.com/office/drawing/2014/main" id="{12DEEBCC-5628-5CD0-6360-C0E5C9EC739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9447" y="1635483"/>
            <a:ext cx="432000" cy="432000"/>
          </a:xfrm>
          <a:prstGeom prst="rect">
            <a:avLst/>
          </a:prstGeom>
        </p:spPr>
      </p:pic>
      <p:sp>
        <p:nvSpPr>
          <p:cNvPr id="14" name="正方形/長方形 13">
            <a:extLst>
              <a:ext uri="{FF2B5EF4-FFF2-40B4-BE49-F238E27FC236}">
                <a16:creationId xmlns:a16="http://schemas.microsoft.com/office/drawing/2014/main" id="{269863C5-A678-C388-0DF1-44C3D0AA9526}"/>
              </a:ext>
            </a:extLst>
          </p:cNvPr>
          <p:cNvSpPr/>
          <p:nvPr/>
        </p:nvSpPr>
        <p:spPr>
          <a:xfrm>
            <a:off x="334963" y="5878051"/>
            <a:ext cx="5579700" cy="42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chemeClr val="bg1"/>
                </a:solidFill>
                <a:latin typeface="+mn-ea"/>
              </a:rPr>
              <a:t>S</a:t>
            </a:r>
            <a:r>
              <a:rPr lang="en-US" altLang="ja-JP" sz="1600" dirty="0">
                <a:solidFill>
                  <a:schemeClr val="bg1"/>
                </a:solidFill>
                <a:latin typeface="+mn-ea"/>
              </a:rPr>
              <a:t>ociety : </a:t>
            </a:r>
            <a:r>
              <a:rPr lang="ja-JP" altLang="en-US" sz="1600" dirty="0">
                <a:solidFill>
                  <a:schemeClr val="bg1"/>
                </a:solidFill>
                <a:latin typeface="+mn-ea"/>
              </a:rPr>
              <a:t>社会</a:t>
            </a:r>
          </a:p>
        </p:txBody>
      </p:sp>
      <p:sp>
        <p:nvSpPr>
          <p:cNvPr id="16" name="正方形/長方形 15">
            <a:extLst>
              <a:ext uri="{FF2B5EF4-FFF2-40B4-BE49-F238E27FC236}">
                <a16:creationId xmlns:a16="http://schemas.microsoft.com/office/drawing/2014/main" id="{5B224985-FBA4-3F61-0403-FA7F4E387C21}"/>
              </a:ext>
            </a:extLst>
          </p:cNvPr>
          <p:cNvSpPr/>
          <p:nvPr/>
        </p:nvSpPr>
        <p:spPr>
          <a:xfrm>
            <a:off x="334963" y="4105107"/>
            <a:ext cx="5579700" cy="179580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nvGrpSpPr>
          <p:cNvPr id="86" name="グループ化 85">
            <a:extLst>
              <a:ext uri="{FF2B5EF4-FFF2-40B4-BE49-F238E27FC236}">
                <a16:creationId xmlns:a16="http://schemas.microsoft.com/office/drawing/2014/main" id="{062FECDE-F3BC-C469-F079-54C15D0A3754}"/>
              </a:ext>
            </a:extLst>
          </p:cNvPr>
          <p:cNvGrpSpPr/>
          <p:nvPr/>
        </p:nvGrpSpPr>
        <p:grpSpPr>
          <a:xfrm>
            <a:off x="381616" y="4239689"/>
            <a:ext cx="5486394" cy="1515563"/>
            <a:chOff x="381616" y="4435035"/>
            <a:chExt cx="5486394" cy="1271404"/>
          </a:xfrm>
        </p:grpSpPr>
        <p:sp>
          <p:nvSpPr>
            <p:cNvPr id="41" name="正方形/長方形 40">
              <a:extLst>
                <a:ext uri="{FF2B5EF4-FFF2-40B4-BE49-F238E27FC236}">
                  <a16:creationId xmlns:a16="http://schemas.microsoft.com/office/drawing/2014/main" id="{2F7D83E6-0AE8-CDBA-DAA1-E2D34D0849B3}"/>
                </a:ext>
              </a:extLst>
            </p:cNvPr>
            <p:cNvSpPr/>
            <p:nvPr/>
          </p:nvSpPr>
          <p:spPr>
            <a:xfrm>
              <a:off x="381616" y="4435035"/>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超高齢・単身世帯の一般化</a:t>
              </a:r>
              <a:endParaRPr lang="en-US" altLang="ja-JP" sz="1050" b="1" dirty="0">
                <a:solidFill>
                  <a:srgbClr val="008D2E"/>
                </a:solidFill>
                <a:latin typeface="+mn-ea"/>
              </a:endParaRPr>
            </a:p>
            <a:p>
              <a:r>
                <a:rPr lang="ja-JP" altLang="ja-JP" sz="1050" dirty="0">
                  <a:solidFill>
                    <a:schemeClr val="tx1"/>
                  </a:solidFill>
                  <a:latin typeface="+mn-ea"/>
                </a:rPr>
                <a:t>65歳以上が人口の34.8%を</a:t>
              </a:r>
              <a:br>
                <a:rPr lang="en-US" altLang="ja-JP" sz="1050" dirty="0">
                  <a:solidFill>
                    <a:schemeClr val="tx1"/>
                  </a:solidFill>
                  <a:latin typeface="+mn-ea"/>
                </a:rPr>
              </a:br>
              <a:r>
                <a:rPr lang="ja-JP" altLang="ja-JP" sz="1050" dirty="0">
                  <a:solidFill>
                    <a:schemeClr val="tx1"/>
                  </a:solidFill>
                  <a:latin typeface="+mn-ea"/>
                </a:rPr>
                <a:t>占め、単身世帯比率が約4割に</a:t>
              </a:r>
              <a:br>
                <a:rPr lang="en-US" altLang="ja-JP" sz="1050" dirty="0">
                  <a:solidFill>
                    <a:schemeClr val="tx1"/>
                  </a:solidFill>
                  <a:latin typeface="+mn-ea"/>
                </a:rPr>
              </a:br>
              <a:r>
                <a:rPr lang="ja-JP" altLang="ja-JP" sz="1050" dirty="0">
                  <a:solidFill>
                    <a:schemeClr val="tx1"/>
                  </a:solidFill>
                  <a:latin typeface="+mn-ea"/>
                </a:rPr>
                <a:t>到達する構造変化</a:t>
              </a:r>
              <a:endParaRPr lang="en-US" altLang="ja-JP" sz="1050" dirty="0">
                <a:solidFill>
                  <a:schemeClr val="tx1"/>
                </a:solidFill>
                <a:latin typeface="+mn-ea"/>
              </a:endParaRPr>
            </a:p>
          </p:txBody>
        </p:sp>
        <p:sp>
          <p:nvSpPr>
            <p:cNvPr id="42" name="正方形/長方形 41">
              <a:extLst>
                <a:ext uri="{FF2B5EF4-FFF2-40B4-BE49-F238E27FC236}">
                  <a16:creationId xmlns:a16="http://schemas.microsoft.com/office/drawing/2014/main" id="{A6A2347C-A259-5920-7CD1-E7AB84889A57}"/>
                </a:ext>
              </a:extLst>
            </p:cNvPr>
            <p:cNvSpPr/>
            <p:nvPr/>
          </p:nvSpPr>
          <p:spPr>
            <a:xfrm>
              <a:off x="2235346" y="4435035"/>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購買・消費のミニマム化</a:t>
              </a:r>
              <a:endParaRPr lang="en-US" altLang="ja-JP" sz="1050" b="1" dirty="0">
                <a:solidFill>
                  <a:srgbClr val="008D2E"/>
                </a:solidFill>
                <a:latin typeface="+mn-ea"/>
              </a:endParaRPr>
            </a:p>
            <a:p>
              <a:r>
                <a:rPr lang="ja-JP" altLang="ja-JP" sz="1050" dirty="0">
                  <a:solidFill>
                    <a:schemeClr val="tx1"/>
                  </a:solidFill>
                  <a:latin typeface="+mn-ea"/>
                </a:rPr>
                <a:t>世帯人数の減少に伴う、大量</a:t>
              </a:r>
              <a:br>
                <a:rPr lang="en-US" altLang="ja-JP" sz="1050" dirty="0">
                  <a:solidFill>
                    <a:schemeClr val="tx1"/>
                  </a:solidFill>
                  <a:latin typeface="+mn-ea"/>
                </a:rPr>
              </a:br>
              <a:r>
                <a:rPr lang="ja-JP" altLang="ja-JP" sz="1050" dirty="0">
                  <a:solidFill>
                    <a:schemeClr val="tx1"/>
                  </a:solidFill>
                  <a:latin typeface="+mn-ea"/>
                </a:rPr>
                <a:t>まとめ買いの衰退と「小容量</a:t>
              </a:r>
              <a:r>
                <a:rPr lang="en-US" altLang="ja-JP" sz="1050" dirty="0">
                  <a:solidFill>
                    <a:schemeClr val="tx1"/>
                  </a:solidFill>
                  <a:latin typeface="+mn-ea"/>
                </a:rPr>
                <a:t> </a:t>
              </a:r>
              <a:r>
                <a:rPr lang="ja-JP" altLang="en-US" sz="1050" dirty="0">
                  <a:solidFill>
                    <a:schemeClr val="tx1"/>
                  </a:solidFill>
                  <a:latin typeface="+mn-ea"/>
                </a:rPr>
                <a:t>･ </a:t>
              </a:r>
              <a:br>
                <a:rPr lang="en-US" altLang="ja-JP" sz="1050" dirty="0">
                  <a:solidFill>
                    <a:schemeClr val="tx1"/>
                  </a:solidFill>
                  <a:latin typeface="+mn-ea"/>
                </a:rPr>
              </a:br>
              <a:r>
                <a:rPr lang="ja-JP" altLang="ja-JP" sz="1050" dirty="0">
                  <a:solidFill>
                    <a:schemeClr val="tx1"/>
                  </a:solidFill>
                  <a:latin typeface="+mn-ea"/>
                </a:rPr>
                <a:t>高頻度」消費への移行</a:t>
              </a:r>
              <a:endParaRPr lang="en-US" altLang="ja-JP" sz="1050" dirty="0">
                <a:solidFill>
                  <a:schemeClr val="tx1"/>
                </a:solidFill>
                <a:latin typeface="+mn-ea"/>
              </a:endParaRPr>
            </a:p>
          </p:txBody>
        </p:sp>
        <p:sp>
          <p:nvSpPr>
            <p:cNvPr id="35" name="正方形/長方形 34">
              <a:extLst>
                <a:ext uri="{FF2B5EF4-FFF2-40B4-BE49-F238E27FC236}">
                  <a16:creationId xmlns:a16="http://schemas.microsoft.com/office/drawing/2014/main" id="{825342C4-800E-6247-1017-A8CCA1F70D48}"/>
                </a:ext>
              </a:extLst>
            </p:cNvPr>
            <p:cNvSpPr/>
            <p:nvPr/>
          </p:nvSpPr>
          <p:spPr>
            <a:xfrm>
              <a:off x="381616" y="5108429"/>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タイパ</a:t>
              </a:r>
              <a:r>
                <a:rPr lang="en-US" altLang="ja-JP" sz="1050" b="1" dirty="0">
                  <a:solidFill>
                    <a:srgbClr val="008D2E"/>
                  </a:solidFill>
                  <a:latin typeface="+mn-ea"/>
                </a:rPr>
                <a:t> (</a:t>
              </a:r>
              <a:r>
                <a:rPr lang="ja-JP" altLang="ja-JP" sz="1050" b="1" dirty="0">
                  <a:solidFill>
                    <a:srgbClr val="008D2E"/>
                  </a:solidFill>
                  <a:latin typeface="+mn-ea"/>
                </a:rPr>
                <a:t>手間抜き</a:t>
              </a:r>
              <a:r>
                <a:rPr lang="en-US" altLang="ja-JP" sz="1050" b="1" dirty="0">
                  <a:solidFill>
                    <a:srgbClr val="008D2E"/>
                  </a:solidFill>
                  <a:latin typeface="+mn-ea"/>
                </a:rPr>
                <a:t>) </a:t>
              </a:r>
              <a:r>
                <a:rPr lang="ja-JP" altLang="ja-JP" sz="1050" b="1" dirty="0">
                  <a:solidFill>
                    <a:srgbClr val="008D2E"/>
                  </a:solidFill>
                  <a:latin typeface="+mn-ea"/>
                </a:rPr>
                <a:t>需要の定着</a:t>
              </a:r>
              <a:endParaRPr lang="en-US" altLang="ja-JP" sz="1050" b="1" dirty="0">
                <a:solidFill>
                  <a:srgbClr val="008D2E"/>
                </a:solidFill>
                <a:latin typeface="+mn-ea"/>
              </a:endParaRPr>
            </a:p>
            <a:p>
              <a:r>
                <a:rPr lang="ja-JP" altLang="ja-JP" sz="1050" dirty="0">
                  <a:solidFill>
                    <a:schemeClr val="tx1"/>
                  </a:solidFill>
                  <a:latin typeface="+mn-ea"/>
                </a:rPr>
                <a:t>共働き世帯の一般化による家事</a:t>
              </a:r>
              <a:endParaRPr lang="en-US" altLang="ja-JP" sz="1050" dirty="0">
                <a:solidFill>
                  <a:schemeClr val="tx1"/>
                </a:solidFill>
                <a:latin typeface="+mn-ea"/>
              </a:endParaRPr>
            </a:p>
            <a:p>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買い物時間を極小化する</a:t>
              </a:r>
              <a:endParaRPr lang="en-US" altLang="ja-JP" sz="1050" dirty="0">
                <a:solidFill>
                  <a:schemeClr val="tx1"/>
                </a:solidFill>
                <a:latin typeface="+mn-ea"/>
              </a:endParaRPr>
            </a:p>
            <a:p>
              <a:r>
                <a:rPr lang="ja-JP" altLang="ja-JP" sz="1050" dirty="0">
                  <a:solidFill>
                    <a:schemeClr val="tx1"/>
                  </a:solidFill>
                  <a:latin typeface="+mn-ea"/>
                </a:rPr>
                <a:t>製品の主流化</a:t>
              </a:r>
              <a:endParaRPr lang="en-US" altLang="ja-JP" sz="1050" dirty="0">
                <a:solidFill>
                  <a:schemeClr val="tx1"/>
                </a:solidFill>
                <a:latin typeface="+mn-ea"/>
              </a:endParaRPr>
            </a:p>
          </p:txBody>
        </p:sp>
        <p:sp>
          <p:nvSpPr>
            <p:cNvPr id="36" name="正方形/長方形 35">
              <a:extLst>
                <a:ext uri="{FF2B5EF4-FFF2-40B4-BE49-F238E27FC236}">
                  <a16:creationId xmlns:a16="http://schemas.microsoft.com/office/drawing/2014/main" id="{A90C979F-D148-9FF9-78AF-60FAE34AC7C1}"/>
                </a:ext>
              </a:extLst>
            </p:cNvPr>
            <p:cNvSpPr/>
            <p:nvPr/>
          </p:nvSpPr>
          <p:spPr>
            <a:xfrm>
              <a:off x="2235346" y="5108429"/>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エシカル消費の定着</a:t>
              </a:r>
              <a:endParaRPr lang="en-US" altLang="ja-JP" sz="1050" b="1" dirty="0">
                <a:solidFill>
                  <a:srgbClr val="008D2E"/>
                </a:solidFill>
                <a:latin typeface="+mn-ea"/>
              </a:endParaRPr>
            </a:p>
            <a:p>
              <a:r>
                <a:rPr lang="ja-JP" altLang="ja-JP" sz="1050" dirty="0">
                  <a:solidFill>
                    <a:schemeClr val="tx1"/>
                  </a:solidFill>
                  <a:latin typeface="+mn-ea"/>
                </a:rPr>
                <a:t>Z世代以降の消費主軸化に伴う</a:t>
              </a:r>
              <a:r>
                <a:rPr lang="ja-JP" altLang="en-US" sz="1050" dirty="0">
                  <a:solidFill>
                    <a:schemeClr val="tx1"/>
                  </a:solidFill>
                  <a:latin typeface="+mn-ea"/>
                </a:rPr>
                <a:t>、</a:t>
              </a:r>
              <a:r>
                <a:rPr lang="ja-JP" altLang="ja-JP" sz="1050" dirty="0">
                  <a:solidFill>
                    <a:schemeClr val="tx1"/>
                  </a:solidFill>
                  <a:latin typeface="+mn-ea"/>
                </a:rPr>
                <a:t>環境配慮や企業の誠実さを重視する社会心理の一般化</a:t>
              </a:r>
            </a:p>
          </p:txBody>
        </p:sp>
        <p:sp>
          <p:nvSpPr>
            <p:cNvPr id="38" name="正方形/長方形 37">
              <a:extLst>
                <a:ext uri="{FF2B5EF4-FFF2-40B4-BE49-F238E27FC236}">
                  <a16:creationId xmlns:a16="http://schemas.microsoft.com/office/drawing/2014/main" id="{49092C6F-AA3A-2AE5-3627-8AAA473D922E}"/>
                </a:ext>
              </a:extLst>
            </p:cNvPr>
            <p:cNvSpPr/>
            <p:nvPr/>
          </p:nvSpPr>
          <p:spPr>
            <a:xfrm>
              <a:off x="4089075" y="5108429"/>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未病</a:t>
              </a:r>
              <a:r>
                <a:rPr lang="en-US" altLang="ja-JP" sz="1050" b="1" dirty="0">
                  <a:solidFill>
                    <a:srgbClr val="008D2E"/>
                  </a:solidFill>
                  <a:latin typeface="+mn-ea"/>
                </a:rPr>
                <a:t> </a:t>
              </a:r>
              <a:r>
                <a:rPr lang="ja-JP" altLang="en-US" sz="1050" b="1" dirty="0">
                  <a:solidFill>
                    <a:srgbClr val="008D2E"/>
                  </a:solidFill>
                  <a:latin typeface="+mn-ea"/>
                </a:rPr>
                <a:t>･ </a:t>
              </a:r>
              <a:r>
                <a:rPr lang="ja-JP" altLang="ja-JP" sz="1050" b="1" dirty="0">
                  <a:solidFill>
                    <a:srgbClr val="008D2E"/>
                  </a:solidFill>
                  <a:latin typeface="+mn-ea"/>
                </a:rPr>
                <a:t>予防ニーズの増大</a:t>
              </a:r>
              <a:endParaRPr lang="en-US" altLang="ja-JP" sz="1050" b="1" dirty="0">
                <a:solidFill>
                  <a:srgbClr val="008D2E"/>
                </a:solidFill>
                <a:latin typeface="+mn-ea"/>
              </a:endParaRPr>
            </a:p>
            <a:p>
              <a:r>
                <a:rPr lang="ja-JP" altLang="ja-JP" sz="1050" dirty="0">
                  <a:solidFill>
                    <a:schemeClr val="tx1"/>
                  </a:solidFill>
                  <a:latin typeface="+mn-ea"/>
                </a:rPr>
                <a:t>社会保障費抑制を背景とした</a:t>
              </a:r>
              <a:br>
                <a:rPr lang="en-US" altLang="ja-JP" sz="1050" dirty="0">
                  <a:solidFill>
                    <a:schemeClr val="tx1"/>
                  </a:solidFill>
                  <a:latin typeface="+mn-ea"/>
                </a:rPr>
              </a:br>
              <a:r>
                <a:rPr lang="ja-JP" altLang="ja-JP" sz="1050" dirty="0">
                  <a:solidFill>
                    <a:schemeClr val="tx1"/>
                  </a:solidFill>
                  <a:latin typeface="+mn-ea"/>
                </a:rPr>
                <a:t>健康寿命延伸やセルフケア需要の拡大</a:t>
              </a:r>
              <a:endParaRPr lang="en-US" altLang="ja-JP" sz="1050" dirty="0">
                <a:solidFill>
                  <a:schemeClr val="tx1"/>
                </a:solidFill>
                <a:latin typeface="+mn-ea"/>
              </a:endParaRPr>
            </a:p>
          </p:txBody>
        </p:sp>
      </p:grpSp>
      <p:pic>
        <p:nvPicPr>
          <p:cNvPr id="84" name="グラフィックス 83" descr="接続 単色塗りつぶし">
            <a:extLst>
              <a:ext uri="{FF2B5EF4-FFF2-40B4-BE49-F238E27FC236}">
                <a16:creationId xmlns:a16="http://schemas.microsoft.com/office/drawing/2014/main" id="{9D2591C6-C8DA-56A7-B105-2C28676B034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96439" y="5889289"/>
            <a:ext cx="432000" cy="432000"/>
          </a:xfrm>
          <a:prstGeom prst="rect">
            <a:avLst/>
          </a:prstGeom>
        </p:spPr>
      </p:pic>
      <p:sp>
        <p:nvSpPr>
          <p:cNvPr id="90" name="正方形/長方形 89">
            <a:extLst>
              <a:ext uri="{FF2B5EF4-FFF2-40B4-BE49-F238E27FC236}">
                <a16:creationId xmlns:a16="http://schemas.microsoft.com/office/drawing/2014/main" id="{CA96123D-3DFA-9731-9BF5-9FC6A305B933}"/>
              </a:ext>
            </a:extLst>
          </p:cNvPr>
          <p:cNvSpPr/>
          <p:nvPr/>
        </p:nvSpPr>
        <p:spPr>
          <a:xfrm>
            <a:off x="6277338" y="1637964"/>
            <a:ext cx="5579700" cy="427038"/>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chemeClr val="bg1"/>
                </a:solidFill>
                <a:latin typeface="+mn-ea"/>
              </a:rPr>
              <a:t>E</a:t>
            </a:r>
            <a:r>
              <a:rPr lang="en-US" altLang="ja-JP" sz="1600" dirty="0">
                <a:solidFill>
                  <a:schemeClr val="bg1"/>
                </a:solidFill>
                <a:latin typeface="+mn-ea"/>
              </a:rPr>
              <a:t>conomy : </a:t>
            </a:r>
            <a:r>
              <a:rPr lang="ja-JP" altLang="en-US" sz="1600" dirty="0">
                <a:solidFill>
                  <a:schemeClr val="bg1"/>
                </a:solidFill>
                <a:latin typeface="+mn-ea"/>
              </a:rPr>
              <a:t>経済</a:t>
            </a:r>
          </a:p>
        </p:txBody>
      </p:sp>
      <p:sp>
        <p:nvSpPr>
          <p:cNvPr id="91" name="正方形/長方形 90">
            <a:extLst>
              <a:ext uri="{FF2B5EF4-FFF2-40B4-BE49-F238E27FC236}">
                <a16:creationId xmlns:a16="http://schemas.microsoft.com/office/drawing/2014/main" id="{857193B1-BF54-9665-442C-D7980EFC7C8D}"/>
              </a:ext>
            </a:extLst>
          </p:cNvPr>
          <p:cNvSpPr/>
          <p:nvPr/>
        </p:nvSpPr>
        <p:spPr>
          <a:xfrm>
            <a:off x="6277338" y="2065002"/>
            <a:ext cx="5579700" cy="1705616"/>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nvGrpSpPr>
          <p:cNvPr id="19" name="グループ化 18">
            <a:extLst>
              <a:ext uri="{FF2B5EF4-FFF2-40B4-BE49-F238E27FC236}">
                <a16:creationId xmlns:a16="http://schemas.microsoft.com/office/drawing/2014/main" id="{A1DE9F2F-A459-7363-AC5C-AB3BD928E937}"/>
              </a:ext>
            </a:extLst>
          </p:cNvPr>
          <p:cNvGrpSpPr/>
          <p:nvPr/>
        </p:nvGrpSpPr>
        <p:grpSpPr>
          <a:xfrm>
            <a:off x="6323990" y="2161566"/>
            <a:ext cx="5486395" cy="1515560"/>
            <a:chOff x="6323990" y="2161566"/>
            <a:chExt cx="5486395" cy="1515560"/>
          </a:xfrm>
        </p:grpSpPr>
        <p:sp>
          <p:nvSpPr>
            <p:cNvPr id="94" name="正方形/長方形 93">
              <a:extLst>
                <a:ext uri="{FF2B5EF4-FFF2-40B4-BE49-F238E27FC236}">
                  <a16:creationId xmlns:a16="http://schemas.microsoft.com/office/drawing/2014/main" id="{D150FEB5-9A80-708D-9FFA-CB7A2322674B}"/>
                </a:ext>
              </a:extLst>
            </p:cNvPr>
            <p:cNvSpPr/>
            <p:nvPr/>
          </p:nvSpPr>
          <p:spPr>
            <a:xfrm>
              <a:off x="6323990" y="2161566"/>
              <a:ext cx="1778400"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国内労働人口の激減</a:t>
              </a:r>
              <a:endParaRPr lang="en-US" altLang="ja-JP" sz="1050" b="1" dirty="0">
                <a:solidFill>
                  <a:srgbClr val="008D2E"/>
                </a:solidFill>
                <a:latin typeface="+mn-ea"/>
              </a:endParaRPr>
            </a:p>
            <a:p>
              <a:r>
                <a:rPr lang="ja-JP" altLang="ja-JP" sz="1050" dirty="0">
                  <a:solidFill>
                    <a:schemeClr val="tx1"/>
                  </a:solidFill>
                  <a:latin typeface="+mn-ea"/>
                </a:rPr>
                <a:t>少子高齢化・生産年齢人口減少に伴う、国内労働人口減少</a:t>
              </a:r>
              <a:br>
                <a:rPr lang="en-US" altLang="ja-JP" sz="1050" dirty="0">
                  <a:solidFill>
                    <a:schemeClr val="tx1"/>
                  </a:solidFill>
                  <a:latin typeface="+mn-ea"/>
                </a:rPr>
              </a:br>
              <a:r>
                <a:rPr lang="en-US" altLang="ja-JP" sz="1050" dirty="0">
                  <a:solidFill>
                    <a:schemeClr val="tx1"/>
                  </a:solidFill>
                  <a:latin typeface="+mn-ea"/>
                </a:rPr>
                <a:t>(</a:t>
              </a:r>
              <a:r>
                <a:rPr lang="ja-JP" altLang="ja-JP" sz="1050" dirty="0">
                  <a:solidFill>
                    <a:schemeClr val="tx1"/>
                  </a:solidFill>
                  <a:latin typeface="+mn-ea"/>
                </a:rPr>
                <a:t>▲956万人</a:t>
              </a:r>
              <a:r>
                <a:rPr lang="en-US" altLang="ja-JP" sz="1050" dirty="0">
                  <a:solidFill>
                    <a:schemeClr val="tx1"/>
                  </a:solidFill>
                  <a:latin typeface="+mn-ea"/>
                </a:rPr>
                <a:t>)</a:t>
              </a:r>
            </a:p>
          </p:txBody>
        </p:sp>
        <p:sp>
          <p:nvSpPr>
            <p:cNvPr id="95" name="正方形/長方形 94">
              <a:extLst>
                <a:ext uri="{FF2B5EF4-FFF2-40B4-BE49-F238E27FC236}">
                  <a16:creationId xmlns:a16="http://schemas.microsoft.com/office/drawing/2014/main" id="{C8E0131B-C9CC-23A7-6201-D9624F560267}"/>
                </a:ext>
              </a:extLst>
            </p:cNvPr>
            <p:cNvSpPr/>
            <p:nvPr/>
          </p:nvSpPr>
          <p:spPr>
            <a:xfrm>
              <a:off x="8178256" y="2161566"/>
              <a:ext cx="1778400"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日雑市場の数量的縮小</a:t>
              </a:r>
              <a:endParaRPr lang="en-US" altLang="ja-JP" sz="1050" b="1" dirty="0">
                <a:solidFill>
                  <a:srgbClr val="008D2E"/>
                </a:solidFill>
                <a:latin typeface="+mn-ea"/>
              </a:endParaRPr>
            </a:p>
            <a:p>
              <a:r>
                <a:rPr lang="ja-JP" altLang="ja-JP" sz="1050" dirty="0">
                  <a:solidFill>
                    <a:schemeClr val="tx1"/>
                  </a:solidFill>
                  <a:latin typeface="+mn-ea"/>
                </a:rPr>
                <a:t>国内市場全体における</a:t>
              </a:r>
              <a:br>
                <a:rPr lang="en-US" altLang="ja-JP" sz="1050" dirty="0">
                  <a:solidFill>
                    <a:schemeClr val="tx1"/>
                  </a:solidFill>
                  <a:latin typeface="+mn-ea"/>
                </a:rPr>
              </a:br>
              <a:r>
                <a:rPr lang="ja-JP" altLang="ja-JP" sz="1050" dirty="0">
                  <a:solidFill>
                    <a:schemeClr val="tx1"/>
                  </a:solidFill>
                  <a:latin typeface="+mn-ea"/>
                </a:rPr>
                <a:t>数量ベースの10〜15%構造縮小</a:t>
              </a:r>
              <a:r>
                <a:rPr lang="en-US" altLang="ja-JP" sz="1050" dirty="0">
                  <a:solidFill>
                    <a:schemeClr val="tx1"/>
                  </a:solidFill>
                  <a:latin typeface="+mn-ea"/>
                </a:rPr>
                <a:t> (</a:t>
              </a:r>
              <a:r>
                <a:rPr lang="ja-JP" altLang="ja-JP" sz="1050" dirty="0">
                  <a:solidFill>
                    <a:schemeClr val="tx1"/>
                  </a:solidFill>
                  <a:latin typeface="+mn-ea"/>
                </a:rPr>
                <a:t>数量消費の停滞</a:t>
              </a:r>
              <a:r>
                <a:rPr lang="en-US" altLang="ja-JP" sz="1050" dirty="0">
                  <a:solidFill>
                    <a:schemeClr val="tx1"/>
                  </a:solidFill>
                  <a:latin typeface="+mn-ea"/>
                </a:rPr>
                <a:t>) </a:t>
              </a:r>
            </a:p>
          </p:txBody>
        </p:sp>
        <p:sp>
          <p:nvSpPr>
            <p:cNvPr id="96" name="正方形/長方形 95">
              <a:extLst>
                <a:ext uri="{FF2B5EF4-FFF2-40B4-BE49-F238E27FC236}">
                  <a16:creationId xmlns:a16="http://schemas.microsoft.com/office/drawing/2014/main" id="{1698167D-3269-EB00-BAD4-3884806D676B}"/>
                </a:ext>
              </a:extLst>
            </p:cNvPr>
            <p:cNvSpPr/>
            <p:nvPr/>
          </p:nvSpPr>
          <p:spPr>
            <a:xfrm>
              <a:off x="10031985" y="2161566"/>
              <a:ext cx="1778400"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価格のK字化固定</a:t>
              </a:r>
              <a:endParaRPr lang="en-US" altLang="ja-JP" sz="1050" b="1" dirty="0">
                <a:solidFill>
                  <a:srgbClr val="008D2E"/>
                </a:solidFill>
                <a:latin typeface="+mn-ea"/>
              </a:endParaRPr>
            </a:p>
            <a:p>
              <a:r>
                <a:rPr lang="ja-JP" altLang="ja-JP" sz="1050" dirty="0">
                  <a:solidFill>
                    <a:schemeClr val="tx1"/>
                  </a:solidFill>
                  <a:latin typeface="+mn-ea"/>
                </a:rPr>
                <a:t>インフレと税負担増による、「低価格</a:t>
              </a:r>
              <a:r>
                <a:rPr lang="en-US" altLang="ja-JP" sz="1050" dirty="0">
                  <a:solidFill>
                    <a:schemeClr val="tx1"/>
                  </a:solidFill>
                  <a:latin typeface="+mn-ea"/>
                </a:rPr>
                <a:t> (</a:t>
              </a:r>
              <a:r>
                <a:rPr lang="ja-JP" altLang="ja-JP" sz="1050" dirty="0">
                  <a:solidFill>
                    <a:schemeClr val="tx1"/>
                  </a:solidFill>
                  <a:latin typeface="+mn-ea"/>
                </a:rPr>
                <a:t>PB</a:t>
              </a:r>
              <a:r>
                <a:rPr lang="en-US" altLang="ja-JP" sz="1050" dirty="0">
                  <a:solidFill>
                    <a:schemeClr val="tx1"/>
                  </a:solidFill>
                  <a:latin typeface="+mn-ea"/>
                </a:rPr>
                <a:t>)</a:t>
              </a:r>
              <a:r>
                <a:rPr lang="ja-JP" altLang="ja-JP" sz="1050" dirty="0">
                  <a:solidFill>
                    <a:schemeClr val="tx1"/>
                  </a:solidFill>
                  <a:latin typeface="+mn-ea"/>
                </a:rPr>
                <a:t>」と「プレミアム」への二極化</a:t>
              </a:r>
              <a:r>
                <a:rPr lang="ja-JP" altLang="en-US" sz="1050" dirty="0">
                  <a:solidFill>
                    <a:schemeClr val="tx1"/>
                  </a:solidFill>
                  <a:latin typeface="+mn-ea"/>
                </a:rPr>
                <a:t>と</a:t>
              </a:r>
              <a:r>
                <a:rPr lang="ja-JP" altLang="ja-JP" sz="1050" dirty="0">
                  <a:solidFill>
                    <a:schemeClr val="tx1"/>
                  </a:solidFill>
                  <a:latin typeface="+mn-ea"/>
                </a:rPr>
                <a:t>NB中価格帯空洞化</a:t>
              </a:r>
              <a:endParaRPr lang="en-US" altLang="ja-JP" sz="1050" dirty="0">
                <a:solidFill>
                  <a:schemeClr val="tx1"/>
                </a:solidFill>
                <a:latin typeface="+mn-ea"/>
              </a:endParaRPr>
            </a:p>
          </p:txBody>
        </p:sp>
        <p:grpSp>
          <p:nvGrpSpPr>
            <p:cNvPr id="4" name="グループ化 3">
              <a:extLst>
                <a:ext uri="{FF2B5EF4-FFF2-40B4-BE49-F238E27FC236}">
                  <a16:creationId xmlns:a16="http://schemas.microsoft.com/office/drawing/2014/main" id="{7142F099-10F6-B9B5-AD47-B2BD18D44691}"/>
                </a:ext>
              </a:extLst>
            </p:cNvPr>
            <p:cNvGrpSpPr/>
            <p:nvPr/>
          </p:nvGrpSpPr>
          <p:grpSpPr>
            <a:xfrm>
              <a:off x="8177721" y="2964273"/>
              <a:ext cx="3632664" cy="712853"/>
              <a:chOff x="7690647" y="2979513"/>
              <a:chExt cx="4119738" cy="712853"/>
            </a:xfrm>
          </p:grpSpPr>
          <p:sp>
            <p:nvSpPr>
              <p:cNvPr id="98" name="正方形/長方形 97">
                <a:extLst>
                  <a:ext uri="{FF2B5EF4-FFF2-40B4-BE49-F238E27FC236}">
                    <a16:creationId xmlns:a16="http://schemas.microsoft.com/office/drawing/2014/main" id="{6B06F52B-97B3-EC2E-2A16-CE2ECF11E5B8}"/>
                  </a:ext>
                </a:extLst>
              </p:cNvPr>
              <p:cNvSpPr/>
              <p:nvPr/>
            </p:nvSpPr>
            <p:spPr>
              <a:xfrm>
                <a:off x="7690647" y="2979514"/>
                <a:ext cx="2029837"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フィジカルインターネットの進展</a:t>
                </a:r>
                <a:endParaRPr lang="en-US" altLang="ja-JP" sz="1050" b="1" dirty="0">
                  <a:solidFill>
                    <a:srgbClr val="008D2E"/>
                  </a:solidFill>
                  <a:latin typeface="+mn-ea"/>
                </a:endParaRPr>
              </a:p>
              <a:p>
                <a:r>
                  <a:rPr lang="ja-JP" altLang="ja-JP" sz="1050" dirty="0">
                    <a:solidFill>
                      <a:schemeClr val="tx1"/>
                    </a:solidFill>
                    <a:latin typeface="+mn-ea"/>
                  </a:rPr>
                  <a:t>ドライバー不足への対抗策としての、競合</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異業種間での物流網</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倉庫の共同共有化</a:t>
                </a:r>
                <a:endParaRPr lang="en-US" altLang="ja-JP" sz="1050" dirty="0">
                  <a:solidFill>
                    <a:schemeClr val="tx1"/>
                  </a:solidFill>
                  <a:latin typeface="+mn-ea"/>
                </a:endParaRPr>
              </a:p>
            </p:txBody>
          </p:sp>
          <p:sp>
            <p:nvSpPr>
              <p:cNvPr id="109" name="正方形/長方形 108">
                <a:extLst>
                  <a:ext uri="{FF2B5EF4-FFF2-40B4-BE49-F238E27FC236}">
                    <a16:creationId xmlns:a16="http://schemas.microsoft.com/office/drawing/2014/main" id="{B16E099D-03F2-9CCB-7D6C-992464995C30}"/>
                  </a:ext>
                </a:extLst>
              </p:cNvPr>
              <p:cNvSpPr/>
              <p:nvPr/>
            </p:nvSpPr>
            <p:spPr>
              <a:xfrm>
                <a:off x="9780548" y="2979513"/>
                <a:ext cx="2029837"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コストのボラティリティ高止まり</a:t>
                </a:r>
                <a:endParaRPr lang="en-US" altLang="ja-JP" sz="1050" b="1" dirty="0">
                  <a:solidFill>
                    <a:srgbClr val="008D2E"/>
                  </a:solidFill>
                  <a:latin typeface="+mn-ea"/>
                </a:endParaRPr>
              </a:p>
              <a:p>
                <a:r>
                  <a:rPr lang="ja-JP" altLang="ja-JP" sz="1050" dirty="0">
                    <a:solidFill>
                      <a:schemeClr val="tx1"/>
                    </a:solidFill>
                    <a:latin typeface="+mn-ea"/>
                  </a:rPr>
                  <a:t>油脂類等の原材料価格、化石燃料、為替レートの恒常的な乱高下リスク</a:t>
                </a:r>
              </a:p>
            </p:txBody>
          </p:sp>
        </p:grpSp>
      </p:grpSp>
      <p:pic>
        <p:nvPicPr>
          <p:cNvPr id="126" name="グラフィックス 125" descr="棒グラフ (上昇) 単色塗りつぶし">
            <a:extLst>
              <a:ext uri="{FF2B5EF4-FFF2-40B4-BE49-F238E27FC236}">
                <a16:creationId xmlns:a16="http://schemas.microsoft.com/office/drawing/2014/main" id="{829275FB-5B6E-8898-C6F2-A155D6413D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32985" y="1635483"/>
            <a:ext cx="432000" cy="432000"/>
          </a:xfrm>
          <a:prstGeom prst="rect">
            <a:avLst/>
          </a:prstGeom>
        </p:spPr>
      </p:pic>
      <p:sp>
        <p:nvSpPr>
          <p:cNvPr id="100" name="正方形/長方形 99">
            <a:extLst>
              <a:ext uri="{FF2B5EF4-FFF2-40B4-BE49-F238E27FC236}">
                <a16:creationId xmlns:a16="http://schemas.microsoft.com/office/drawing/2014/main" id="{5BBB3517-E699-94F2-9D4E-B2B6AFB4C29E}"/>
              </a:ext>
            </a:extLst>
          </p:cNvPr>
          <p:cNvSpPr/>
          <p:nvPr/>
        </p:nvSpPr>
        <p:spPr>
          <a:xfrm>
            <a:off x="6277338" y="5878051"/>
            <a:ext cx="5579700" cy="42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chemeClr val="bg1"/>
                </a:solidFill>
                <a:latin typeface="+mn-ea"/>
              </a:rPr>
              <a:t>T</a:t>
            </a:r>
            <a:r>
              <a:rPr lang="en-US" altLang="ja-JP" sz="1600" dirty="0">
                <a:solidFill>
                  <a:schemeClr val="bg1"/>
                </a:solidFill>
                <a:latin typeface="+mn-ea"/>
              </a:rPr>
              <a:t>echnology : </a:t>
            </a:r>
            <a:r>
              <a:rPr lang="ja-JP" altLang="en-US" sz="1600" dirty="0">
                <a:solidFill>
                  <a:schemeClr val="bg1"/>
                </a:solidFill>
                <a:latin typeface="+mn-ea"/>
              </a:rPr>
              <a:t>技術</a:t>
            </a:r>
          </a:p>
        </p:txBody>
      </p:sp>
      <p:sp>
        <p:nvSpPr>
          <p:cNvPr id="101" name="正方形/長方形 100">
            <a:extLst>
              <a:ext uri="{FF2B5EF4-FFF2-40B4-BE49-F238E27FC236}">
                <a16:creationId xmlns:a16="http://schemas.microsoft.com/office/drawing/2014/main" id="{75E6AB61-891C-ED79-5CDF-6F6D3A98EA4C}"/>
              </a:ext>
            </a:extLst>
          </p:cNvPr>
          <p:cNvSpPr/>
          <p:nvPr/>
        </p:nvSpPr>
        <p:spPr>
          <a:xfrm>
            <a:off x="6277338" y="4105107"/>
            <a:ext cx="5579700" cy="179580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nvGrpSpPr>
          <p:cNvPr id="21" name="グループ化 20">
            <a:extLst>
              <a:ext uri="{FF2B5EF4-FFF2-40B4-BE49-F238E27FC236}">
                <a16:creationId xmlns:a16="http://schemas.microsoft.com/office/drawing/2014/main" id="{D89AF5F6-6E64-3443-B367-A6185930EAD1}"/>
              </a:ext>
            </a:extLst>
          </p:cNvPr>
          <p:cNvGrpSpPr/>
          <p:nvPr/>
        </p:nvGrpSpPr>
        <p:grpSpPr>
          <a:xfrm>
            <a:off x="6323991" y="4239689"/>
            <a:ext cx="5486394" cy="1515563"/>
            <a:chOff x="6323991" y="4239689"/>
            <a:chExt cx="5486394" cy="1515563"/>
          </a:xfrm>
        </p:grpSpPr>
        <p:sp>
          <p:nvSpPr>
            <p:cNvPr id="106" name="正方形/長方形 105">
              <a:extLst>
                <a:ext uri="{FF2B5EF4-FFF2-40B4-BE49-F238E27FC236}">
                  <a16:creationId xmlns:a16="http://schemas.microsoft.com/office/drawing/2014/main" id="{1FA5B1F4-E272-6764-6311-499E6FD23AAF}"/>
                </a:ext>
              </a:extLst>
            </p:cNvPr>
            <p:cNvSpPr/>
            <p:nvPr/>
          </p:nvSpPr>
          <p:spPr>
            <a:xfrm>
              <a:off x="6323991" y="5042401"/>
              <a:ext cx="1778935"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全商品のRFID</a:t>
              </a:r>
              <a:r>
                <a:rPr lang="en-US" altLang="ja-JP" sz="1050" b="1" dirty="0">
                  <a:solidFill>
                    <a:srgbClr val="008D2E"/>
                  </a:solidFill>
                  <a:latin typeface="+mn-ea"/>
                </a:rPr>
                <a:t> </a:t>
              </a:r>
              <a:r>
                <a:rPr lang="ja-JP" altLang="ja-JP" sz="1050" b="1" dirty="0">
                  <a:solidFill>
                    <a:srgbClr val="008D2E"/>
                  </a:solidFill>
                  <a:latin typeface="+mn-ea"/>
                </a:rPr>
                <a:t>/</a:t>
              </a:r>
              <a:r>
                <a:rPr lang="en-US" altLang="ja-JP" sz="1050" b="1" dirty="0">
                  <a:solidFill>
                    <a:srgbClr val="008D2E"/>
                  </a:solidFill>
                  <a:latin typeface="+mn-ea"/>
                </a:rPr>
                <a:t> </a:t>
              </a:r>
              <a:r>
                <a:rPr lang="ja-JP" altLang="ja-JP" sz="1050" b="1" dirty="0">
                  <a:solidFill>
                    <a:srgbClr val="008D2E"/>
                  </a:solidFill>
                  <a:latin typeface="+mn-ea"/>
                </a:rPr>
                <a:t>IoP装着</a:t>
              </a:r>
              <a:endParaRPr lang="en-US" altLang="ja-JP" sz="1050" b="1" dirty="0">
                <a:solidFill>
                  <a:srgbClr val="008D2E"/>
                </a:solidFill>
                <a:latin typeface="+mn-ea"/>
              </a:endParaRPr>
            </a:p>
            <a:p>
              <a:r>
                <a:rPr lang="ja-JP" altLang="ja-JP" sz="1050" dirty="0">
                  <a:solidFill>
                    <a:schemeClr val="tx1"/>
                  </a:solidFill>
                  <a:latin typeface="+mn-ea"/>
                </a:rPr>
                <a:t>ICタグ等の超低コスト化による、</a:t>
              </a:r>
              <a:br>
                <a:rPr lang="en-US" altLang="ja-JP" sz="1050" dirty="0">
                  <a:solidFill>
                    <a:schemeClr val="tx1"/>
                  </a:solidFill>
                  <a:latin typeface="+mn-ea"/>
                </a:rPr>
              </a:br>
              <a:r>
                <a:rPr lang="ja-JP" altLang="ja-JP" sz="1050" dirty="0">
                  <a:solidFill>
                    <a:schemeClr val="tx1"/>
                  </a:solidFill>
                  <a:latin typeface="+mn-ea"/>
                </a:rPr>
                <a:t>全商品のリアルタイム個体識別</a:t>
              </a:r>
              <a:br>
                <a:rPr lang="en-US" altLang="ja-JP" sz="1050" dirty="0">
                  <a:solidFill>
                    <a:schemeClr val="tx1"/>
                  </a:solidFill>
                  <a:latin typeface="+mn-ea"/>
                </a:rPr>
              </a:br>
              <a:r>
                <a:rPr lang="ja-JP" altLang="ja-JP" sz="1050" dirty="0">
                  <a:solidFill>
                    <a:schemeClr val="tx1"/>
                  </a:solidFill>
                  <a:latin typeface="+mn-ea"/>
                </a:rPr>
                <a:t>インフラの完成</a:t>
              </a:r>
              <a:endParaRPr lang="en-US" altLang="ja-JP" sz="1050" dirty="0">
                <a:solidFill>
                  <a:schemeClr val="tx1"/>
                </a:solidFill>
                <a:latin typeface="+mn-ea"/>
              </a:endParaRPr>
            </a:p>
          </p:txBody>
        </p:sp>
        <p:sp>
          <p:nvSpPr>
            <p:cNvPr id="107" name="正方形/長方形 106">
              <a:extLst>
                <a:ext uri="{FF2B5EF4-FFF2-40B4-BE49-F238E27FC236}">
                  <a16:creationId xmlns:a16="http://schemas.microsoft.com/office/drawing/2014/main" id="{1A906BBE-9061-2696-AB5D-02554793377C}"/>
                </a:ext>
              </a:extLst>
            </p:cNvPr>
            <p:cNvSpPr/>
            <p:nvPr/>
          </p:nvSpPr>
          <p:spPr>
            <a:xfrm>
              <a:off x="8177721" y="5042401"/>
              <a:ext cx="1778935"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店頭のスマートストア化</a:t>
              </a:r>
              <a:endParaRPr lang="en-US" altLang="ja-JP" sz="1050" b="1" dirty="0">
                <a:solidFill>
                  <a:srgbClr val="008D2E"/>
                </a:solidFill>
                <a:latin typeface="+mn-ea"/>
              </a:endParaRPr>
            </a:p>
            <a:p>
              <a:r>
                <a:rPr lang="ja-JP" altLang="ja-JP" sz="1050" dirty="0">
                  <a:solidFill>
                    <a:schemeClr val="tx1"/>
                  </a:solidFill>
                  <a:latin typeface="+mn-ea"/>
                </a:rPr>
                <a:t>電子棚札、AIカメラ、レジレス化による売場運用のリアルタイムデータ化</a:t>
              </a:r>
            </a:p>
          </p:txBody>
        </p:sp>
        <p:sp>
          <p:nvSpPr>
            <p:cNvPr id="108" name="正方形/長方形 107">
              <a:extLst>
                <a:ext uri="{FF2B5EF4-FFF2-40B4-BE49-F238E27FC236}">
                  <a16:creationId xmlns:a16="http://schemas.microsoft.com/office/drawing/2014/main" id="{18071604-B325-37DD-566A-EFD428467F10}"/>
                </a:ext>
              </a:extLst>
            </p:cNvPr>
            <p:cNvSpPr/>
            <p:nvPr/>
          </p:nvSpPr>
          <p:spPr>
            <a:xfrm>
              <a:off x="10031450" y="5042401"/>
              <a:ext cx="1778935"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国内リテールメディア市場拡大</a:t>
              </a:r>
              <a:endParaRPr lang="en-US" altLang="ja-JP" sz="1050" b="1" dirty="0">
                <a:solidFill>
                  <a:srgbClr val="008D2E"/>
                </a:solidFill>
                <a:latin typeface="+mn-ea"/>
              </a:endParaRPr>
            </a:p>
            <a:p>
              <a:r>
                <a:rPr lang="ja-JP" altLang="ja-JP" sz="1050" dirty="0">
                  <a:solidFill>
                    <a:schemeClr val="tx1"/>
                  </a:solidFill>
                  <a:latin typeface="+mn-ea"/>
                </a:rPr>
                <a:t>ID-POS連動のデジタル広告</a:t>
              </a:r>
              <a:r>
                <a:rPr lang="en-US" altLang="ja-JP" sz="1050" dirty="0">
                  <a:solidFill>
                    <a:schemeClr val="tx1"/>
                  </a:solidFill>
                  <a:latin typeface="+mn-ea"/>
                </a:rPr>
                <a:t> </a:t>
              </a:r>
              <a:r>
                <a:rPr lang="ja-JP" altLang="en-US" sz="1050" dirty="0">
                  <a:solidFill>
                    <a:schemeClr val="tx1"/>
                  </a:solidFill>
                  <a:latin typeface="+mn-ea"/>
                </a:rPr>
                <a:t>･ </a:t>
              </a:r>
              <a:br>
                <a:rPr lang="en-US" altLang="ja-JP" sz="1050" dirty="0">
                  <a:solidFill>
                    <a:schemeClr val="tx1"/>
                  </a:solidFill>
                  <a:latin typeface="+mn-ea"/>
                </a:rPr>
              </a:br>
              <a:r>
                <a:rPr lang="ja-JP" altLang="ja-JP" sz="1050" dirty="0">
                  <a:solidFill>
                    <a:schemeClr val="tx1"/>
                  </a:solidFill>
                  <a:latin typeface="+mn-ea"/>
                </a:rPr>
                <a:t>サイネージ枠の拡大</a:t>
              </a:r>
              <a:endParaRPr lang="en-US" altLang="ja-JP" sz="1050" dirty="0">
                <a:solidFill>
                  <a:schemeClr val="tx1"/>
                </a:solidFill>
                <a:latin typeface="+mn-ea"/>
              </a:endParaRPr>
            </a:p>
            <a:p>
              <a:r>
                <a:rPr lang="en-US" altLang="ja-JP" sz="1050" dirty="0">
                  <a:solidFill>
                    <a:schemeClr val="tx1"/>
                  </a:solidFill>
                  <a:latin typeface="+mn-ea"/>
                </a:rPr>
                <a:t> (</a:t>
              </a:r>
              <a:r>
                <a:rPr lang="ja-JP" altLang="ja-JP" sz="1050" dirty="0">
                  <a:solidFill>
                    <a:schemeClr val="tx1"/>
                  </a:solidFill>
                  <a:latin typeface="+mn-ea"/>
                </a:rPr>
                <a:t>2029年に1.3兆円規模予測</a:t>
              </a:r>
              <a:r>
                <a:rPr lang="en-US" altLang="ja-JP" sz="1050" dirty="0">
                  <a:solidFill>
                    <a:schemeClr val="tx1"/>
                  </a:solidFill>
                  <a:latin typeface="+mn-ea"/>
                </a:rPr>
                <a:t>) </a:t>
              </a:r>
              <a:endParaRPr lang="ja-JP" altLang="ja-JP" sz="1050" dirty="0">
                <a:solidFill>
                  <a:schemeClr val="tx1"/>
                </a:solidFill>
                <a:latin typeface="+mn-ea"/>
              </a:endParaRPr>
            </a:p>
          </p:txBody>
        </p:sp>
        <p:grpSp>
          <p:nvGrpSpPr>
            <p:cNvPr id="6" name="グループ化 5">
              <a:extLst>
                <a:ext uri="{FF2B5EF4-FFF2-40B4-BE49-F238E27FC236}">
                  <a16:creationId xmlns:a16="http://schemas.microsoft.com/office/drawing/2014/main" id="{327B143F-BB6A-9B33-D766-42FF7A434980}"/>
                </a:ext>
              </a:extLst>
            </p:cNvPr>
            <p:cNvGrpSpPr/>
            <p:nvPr/>
          </p:nvGrpSpPr>
          <p:grpSpPr>
            <a:xfrm>
              <a:off x="8177721" y="4239689"/>
              <a:ext cx="3632663" cy="712851"/>
              <a:chOff x="7690647" y="4224449"/>
              <a:chExt cx="4119737" cy="712851"/>
            </a:xfrm>
          </p:grpSpPr>
          <p:sp>
            <p:nvSpPr>
              <p:cNvPr id="105" name="正方形/長方形 104">
                <a:extLst>
                  <a:ext uri="{FF2B5EF4-FFF2-40B4-BE49-F238E27FC236}">
                    <a16:creationId xmlns:a16="http://schemas.microsoft.com/office/drawing/2014/main" id="{FDBEA838-2AE7-79CF-D3F6-FC7BA89D3B27}"/>
                  </a:ext>
                </a:extLst>
              </p:cNvPr>
              <p:cNvSpPr/>
              <p:nvPr/>
            </p:nvSpPr>
            <p:spPr>
              <a:xfrm>
                <a:off x="7690647" y="4224449"/>
                <a:ext cx="2029837"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自律型AIエージェントの浸透</a:t>
                </a:r>
                <a:endParaRPr lang="en-US" altLang="ja-JP" sz="1050" b="1" dirty="0">
                  <a:solidFill>
                    <a:srgbClr val="008D2E"/>
                  </a:solidFill>
                  <a:latin typeface="+mn-ea"/>
                </a:endParaRPr>
              </a:p>
              <a:p>
                <a:r>
                  <a:rPr lang="ja-JP" altLang="ja-JP" sz="1050" dirty="0">
                    <a:solidFill>
                      <a:schemeClr val="tx1"/>
                    </a:solidFill>
                    <a:latin typeface="+mn-ea"/>
                  </a:rPr>
                  <a:t>購買、情報探索、生活の意思決定アルゴリズムへの生成AI技術の介在</a:t>
                </a:r>
                <a:endParaRPr lang="en-US" altLang="ja-JP" sz="1050" dirty="0">
                  <a:solidFill>
                    <a:schemeClr val="tx1"/>
                  </a:solidFill>
                  <a:latin typeface="+mn-ea"/>
                </a:endParaRPr>
              </a:p>
            </p:txBody>
          </p:sp>
          <p:sp>
            <p:nvSpPr>
              <p:cNvPr id="111" name="正方形/長方形 110">
                <a:extLst>
                  <a:ext uri="{FF2B5EF4-FFF2-40B4-BE49-F238E27FC236}">
                    <a16:creationId xmlns:a16="http://schemas.microsoft.com/office/drawing/2014/main" id="{F4390C16-F07D-8FD0-EA3A-66C2582BE791}"/>
                  </a:ext>
                </a:extLst>
              </p:cNvPr>
              <p:cNvSpPr/>
              <p:nvPr/>
            </p:nvSpPr>
            <p:spPr>
              <a:xfrm>
                <a:off x="9780547" y="4224449"/>
                <a:ext cx="2029837"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1050" b="1" dirty="0">
                    <a:solidFill>
                      <a:schemeClr val="accent5"/>
                    </a:solidFill>
                    <a:latin typeface="+mn-ea"/>
                  </a:rPr>
                  <a:t>対話型検索による情報探索変容</a:t>
                </a:r>
                <a:endParaRPr lang="en-US" altLang="ja-JP" sz="1050" b="1" dirty="0">
                  <a:solidFill>
                    <a:schemeClr val="accent5"/>
                  </a:solidFill>
                  <a:latin typeface="+mn-ea"/>
                </a:endParaRPr>
              </a:p>
              <a:p>
                <a:r>
                  <a:rPr lang="ja-JP" altLang="ja-JP" sz="1050" dirty="0">
                    <a:solidFill>
                      <a:schemeClr val="tx1"/>
                    </a:solidFill>
                    <a:latin typeface="+mn-ea"/>
                  </a:rPr>
                  <a:t>キーワード検索からAI要約への</a:t>
                </a:r>
                <a:endParaRPr lang="en-US" altLang="ja-JP" sz="1050" dirty="0">
                  <a:solidFill>
                    <a:schemeClr val="tx1"/>
                  </a:solidFill>
                  <a:latin typeface="+mn-ea"/>
                </a:endParaRPr>
              </a:p>
              <a:p>
                <a:r>
                  <a:rPr lang="ja-JP" altLang="ja-JP" sz="1050" dirty="0">
                    <a:solidFill>
                      <a:schemeClr val="tx1"/>
                    </a:solidFill>
                    <a:latin typeface="+mn-ea"/>
                  </a:rPr>
                  <a:t>シフト、Webサイト</a:t>
                </a:r>
                <a:endParaRPr lang="en-US" altLang="ja-JP" sz="1050" dirty="0">
                  <a:solidFill>
                    <a:schemeClr val="tx1"/>
                  </a:solidFill>
                  <a:latin typeface="+mn-ea"/>
                </a:endParaRPr>
              </a:p>
              <a:p>
                <a:r>
                  <a:rPr lang="ja-JP" altLang="ja-JP" sz="1050" dirty="0">
                    <a:solidFill>
                      <a:schemeClr val="tx1"/>
                    </a:solidFill>
                    <a:latin typeface="+mn-ea"/>
                  </a:rPr>
                  <a:t>「ゼロクリック率」の増加</a:t>
                </a:r>
                <a:endParaRPr lang="en-US" altLang="ja-JP" sz="1050" dirty="0">
                  <a:solidFill>
                    <a:schemeClr val="tx1"/>
                  </a:solidFill>
                  <a:latin typeface="+mn-ea"/>
                </a:endParaRPr>
              </a:p>
            </p:txBody>
          </p:sp>
        </p:grpSp>
      </p:grpSp>
      <p:pic>
        <p:nvPicPr>
          <p:cNvPr id="128" name="グラフィックス 127" descr="モノのインターネット 単色塗りつぶし">
            <a:extLst>
              <a:ext uri="{FF2B5EF4-FFF2-40B4-BE49-F238E27FC236}">
                <a16:creationId xmlns:a16="http://schemas.microsoft.com/office/drawing/2014/main" id="{C57784E2-A0BF-8879-B72A-E9FE381499C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65928" y="5889289"/>
            <a:ext cx="432000" cy="432000"/>
          </a:xfrm>
          <a:prstGeom prst="rect">
            <a:avLst/>
          </a:prstGeom>
        </p:spPr>
      </p:pic>
      <p:grpSp>
        <p:nvGrpSpPr>
          <p:cNvPr id="137" name="グループ化 136">
            <a:extLst>
              <a:ext uri="{FF2B5EF4-FFF2-40B4-BE49-F238E27FC236}">
                <a16:creationId xmlns:a16="http://schemas.microsoft.com/office/drawing/2014/main" id="{933472D2-C4C0-2136-C00E-D75A14AE6000}"/>
              </a:ext>
            </a:extLst>
          </p:cNvPr>
          <p:cNvGrpSpPr/>
          <p:nvPr/>
        </p:nvGrpSpPr>
        <p:grpSpPr>
          <a:xfrm>
            <a:off x="5247865" y="3081546"/>
            <a:ext cx="1709412" cy="1709412"/>
            <a:chOff x="5301205" y="3081546"/>
            <a:chExt cx="1709412" cy="1709412"/>
          </a:xfrm>
        </p:grpSpPr>
        <p:sp>
          <p:nvSpPr>
            <p:cNvPr id="18" name="楕円 17">
              <a:extLst>
                <a:ext uri="{FF2B5EF4-FFF2-40B4-BE49-F238E27FC236}">
                  <a16:creationId xmlns:a16="http://schemas.microsoft.com/office/drawing/2014/main" id="{65BDFF7F-4152-F202-1221-9DFC66052CD7}"/>
                </a:ext>
              </a:extLst>
            </p:cNvPr>
            <p:cNvSpPr/>
            <p:nvPr/>
          </p:nvSpPr>
          <p:spPr>
            <a:xfrm>
              <a:off x="5301205" y="3081546"/>
              <a:ext cx="1709412" cy="1709412"/>
            </a:xfrm>
            <a:prstGeom prst="ellipse">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0" rIns="36000" bIns="36000" numCol="1" spcCol="0" rtlCol="0" fromWordArt="0" anchor="ctr" anchorCtr="0" forceAA="0" compatLnSpc="1">
              <a:prstTxWarp prst="textNoShape">
                <a:avLst/>
              </a:prstTxWarp>
              <a:noAutofit/>
            </a:bodyPr>
            <a:lstStyle/>
            <a:p>
              <a:pPr algn="ctr"/>
              <a:r>
                <a:rPr kumimoji="1" lang="ja-JP" altLang="en-US" sz="1400" dirty="0">
                  <a:solidFill>
                    <a:srgbClr val="008D2E"/>
                  </a:solidFill>
                  <a:latin typeface="+mn-ea"/>
                </a:rPr>
                <a:t>製造業</a:t>
              </a:r>
            </a:p>
          </p:txBody>
        </p:sp>
        <p:pic>
          <p:nvPicPr>
            <p:cNvPr id="122" name="グラフィックス 121" descr="工場 単色塗りつぶし">
              <a:extLst>
                <a:ext uri="{FF2B5EF4-FFF2-40B4-BE49-F238E27FC236}">
                  <a16:creationId xmlns:a16="http://schemas.microsoft.com/office/drawing/2014/main" id="{9434EFE6-F7D1-CBA5-B1A4-BFB6053FAE5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698711" y="3229668"/>
              <a:ext cx="914400" cy="914400"/>
            </a:xfrm>
            <a:prstGeom prst="rect">
              <a:avLst/>
            </a:prstGeom>
          </p:spPr>
        </p:pic>
      </p:grpSp>
      <p:grpSp>
        <p:nvGrpSpPr>
          <p:cNvPr id="12" name="グループ化 11">
            <a:extLst>
              <a:ext uri="{FF2B5EF4-FFF2-40B4-BE49-F238E27FC236}">
                <a16:creationId xmlns:a16="http://schemas.microsoft.com/office/drawing/2014/main" id="{812454BB-E749-2F4D-F827-21BA83C5E3BB}"/>
              </a:ext>
            </a:extLst>
          </p:cNvPr>
          <p:cNvGrpSpPr/>
          <p:nvPr/>
        </p:nvGrpSpPr>
        <p:grpSpPr>
          <a:xfrm>
            <a:off x="5177073" y="3064586"/>
            <a:ext cx="1856091" cy="612126"/>
            <a:chOff x="5177073" y="3087736"/>
            <a:chExt cx="1856091" cy="612126"/>
          </a:xfrm>
        </p:grpSpPr>
        <p:sp>
          <p:nvSpPr>
            <p:cNvPr id="117" name="二等辺三角形 116">
              <a:extLst>
                <a:ext uri="{FF2B5EF4-FFF2-40B4-BE49-F238E27FC236}">
                  <a16:creationId xmlns:a16="http://schemas.microsoft.com/office/drawing/2014/main" id="{44DBCDA5-327E-2A0E-FB2A-2CCB99FAEF60}"/>
                </a:ext>
              </a:extLst>
            </p:cNvPr>
            <p:cNvSpPr>
              <a:spLocks/>
            </p:cNvSpPr>
            <p:nvPr/>
          </p:nvSpPr>
          <p:spPr>
            <a:xfrm rot="18127443" flipV="1">
              <a:off x="4949909" y="3320164"/>
              <a:ext cx="606862" cy="152533"/>
            </a:xfrm>
            <a:prstGeom prst="triangl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0" name="二等辺三角形 9">
              <a:extLst>
                <a:ext uri="{FF2B5EF4-FFF2-40B4-BE49-F238E27FC236}">
                  <a16:creationId xmlns:a16="http://schemas.microsoft.com/office/drawing/2014/main" id="{F0951A5C-B8E7-DAD8-920B-3DA4BB3B7E56}"/>
                </a:ext>
              </a:extLst>
            </p:cNvPr>
            <p:cNvSpPr>
              <a:spLocks/>
            </p:cNvSpPr>
            <p:nvPr/>
          </p:nvSpPr>
          <p:spPr>
            <a:xfrm rot="3298923" flipV="1">
              <a:off x="6653467" y="3314900"/>
              <a:ext cx="606862" cy="152533"/>
            </a:xfrm>
            <a:prstGeom prst="triangl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grpSp>
        <p:nvGrpSpPr>
          <p:cNvPr id="13" name="グループ化 12">
            <a:extLst>
              <a:ext uri="{FF2B5EF4-FFF2-40B4-BE49-F238E27FC236}">
                <a16:creationId xmlns:a16="http://schemas.microsoft.com/office/drawing/2014/main" id="{86BB042D-F4B2-5739-88EC-89A85FC80A6B}"/>
              </a:ext>
            </a:extLst>
          </p:cNvPr>
          <p:cNvGrpSpPr/>
          <p:nvPr/>
        </p:nvGrpSpPr>
        <p:grpSpPr>
          <a:xfrm flipV="1">
            <a:off x="5177073" y="4178376"/>
            <a:ext cx="1856091" cy="612126"/>
            <a:chOff x="5177073" y="3087736"/>
            <a:chExt cx="1856091" cy="612126"/>
          </a:xfrm>
        </p:grpSpPr>
        <p:sp>
          <p:nvSpPr>
            <p:cNvPr id="15" name="二等辺三角形 14">
              <a:extLst>
                <a:ext uri="{FF2B5EF4-FFF2-40B4-BE49-F238E27FC236}">
                  <a16:creationId xmlns:a16="http://schemas.microsoft.com/office/drawing/2014/main" id="{FC001319-C5BE-6A5F-F7B1-5B408E22142B}"/>
                </a:ext>
              </a:extLst>
            </p:cNvPr>
            <p:cNvSpPr>
              <a:spLocks/>
            </p:cNvSpPr>
            <p:nvPr/>
          </p:nvSpPr>
          <p:spPr>
            <a:xfrm rot="18127443" flipV="1">
              <a:off x="4949909" y="3320164"/>
              <a:ext cx="606862" cy="152533"/>
            </a:xfrm>
            <a:prstGeom prst="triangl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7" name="二等辺三角形 16">
              <a:extLst>
                <a:ext uri="{FF2B5EF4-FFF2-40B4-BE49-F238E27FC236}">
                  <a16:creationId xmlns:a16="http://schemas.microsoft.com/office/drawing/2014/main" id="{17601921-A2FF-C533-DD61-B0903C0349CF}"/>
                </a:ext>
              </a:extLst>
            </p:cNvPr>
            <p:cNvSpPr>
              <a:spLocks/>
            </p:cNvSpPr>
            <p:nvPr/>
          </p:nvSpPr>
          <p:spPr>
            <a:xfrm rot="3298923" flipV="1">
              <a:off x="6653467" y="3314900"/>
              <a:ext cx="606862" cy="152533"/>
            </a:xfrm>
            <a:prstGeom prst="triangl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spTree>
    <p:extLst>
      <p:ext uri="{BB962C8B-B14F-4D97-AF65-F5344CB8AC3E}">
        <p14:creationId xmlns:p14="http://schemas.microsoft.com/office/powerpoint/2010/main" val="38857146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B3972-761C-9BE8-26D6-8419E15B2917}"/>
            </a:ext>
          </a:extLst>
        </p:cNvPr>
        <p:cNvGrpSpPr/>
        <p:nvPr/>
      </p:nvGrpSpPr>
      <p:grpSpPr>
        <a:xfrm>
          <a:off x="0" y="0"/>
          <a:ext cx="0" cy="0"/>
          <a:chOff x="0" y="0"/>
          <a:chExt cx="0" cy="0"/>
        </a:xfrm>
      </p:grpSpPr>
      <p:grpSp>
        <p:nvGrpSpPr>
          <p:cNvPr id="15" name="グループ化 14">
            <a:extLst>
              <a:ext uri="{FF2B5EF4-FFF2-40B4-BE49-F238E27FC236}">
                <a16:creationId xmlns:a16="http://schemas.microsoft.com/office/drawing/2014/main" id="{A1281D45-C029-8B7A-0702-36D4B0064085}"/>
              </a:ext>
            </a:extLst>
          </p:cNvPr>
          <p:cNvGrpSpPr/>
          <p:nvPr/>
        </p:nvGrpSpPr>
        <p:grpSpPr>
          <a:xfrm>
            <a:off x="5247865" y="3081546"/>
            <a:ext cx="1709412" cy="1709412"/>
            <a:chOff x="5301205" y="3081546"/>
            <a:chExt cx="1709412" cy="1709412"/>
          </a:xfrm>
        </p:grpSpPr>
        <p:sp>
          <p:nvSpPr>
            <p:cNvPr id="16" name="楕円 15">
              <a:extLst>
                <a:ext uri="{FF2B5EF4-FFF2-40B4-BE49-F238E27FC236}">
                  <a16:creationId xmlns:a16="http://schemas.microsoft.com/office/drawing/2014/main" id="{94236885-6FF4-2CB1-935A-D06E91293F0B}"/>
                </a:ext>
              </a:extLst>
            </p:cNvPr>
            <p:cNvSpPr/>
            <p:nvPr/>
          </p:nvSpPr>
          <p:spPr>
            <a:xfrm>
              <a:off x="5301205" y="3081546"/>
              <a:ext cx="1709412" cy="1709412"/>
            </a:xfrm>
            <a:prstGeom prst="ellipse">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0" rIns="36000" bIns="36000" numCol="1" spcCol="0" rtlCol="0" fromWordArt="0" anchor="ctr" anchorCtr="0" forceAA="0" compatLnSpc="1">
              <a:prstTxWarp prst="textNoShape">
                <a:avLst/>
              </a:prstTxWarp>
              <a:noAutofit/>
            </a:bodyPr>
            <a:lstStyle/>
            <a:p>
              <a:pPr algn="ctr"/>
              <a:r>
                <a:rPr kumimoji="1" lang="ja-JP" altLang="en-US" sz="1400" dirty="0">
                  <a:solidFill>
                    <a:srgbClr val="008D2E"/>
                  </a:solidFill>
                  <a:latin typeface="+mn-ea"/>
                </a:rPr>
                <a:t>製造業</a:t>
              </a:r>
            </a:p>
          </p:txBody>
        </p:sp>
        <p:pic>
          <p:nvPicPr>
            <p:cNvPr id="17" name="グラフィックス 16" descr="工場 単色塗りつぶし">
              <a:extLst>
                <a:ext uri="{FF2B5EF4-FFF2-40B4-BE49-F238E27FC236}">
                  <a16:creationId xmlns:a16="http://schemas.microsoft.com/office/drawing/2014/main" id="{C53AFD50-68FE-56C4-75C4-E09F2080AF6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98711" y="3229668"/>
              <a:ext cx="914400" cy="914400"/>
            </a:xfrm>
            <a:prstGeom prst="rect">
              <a:avLst/>
            </a:prstGeom>
          </p:spPr>
        </p:pic>
      </p:grpSp>
      <p:sp>
        <p:nvSpPr>
          <p:cNvPr id="2" name="タイトル 1">
            <a:extLst>
              <a:ext uri="{FF2B5EF4-FFF2-40B4-BE49-F238E27FC236}">
                <a16:creationId xmlns:a16="http://schemas.microsoft.com/office/drawing/2014/main" id="{EC202FDE-3F8A-4276-9FBF-05A6C4A87263}"/>
              </a:ext>
            </a:extLst>
          </p:cNvPr>
          <p:cNvSpPr>
            <a:spLocks noGrp="1"/>
          </p:cNvSpPr>
          <p:nvPr>
            <p:ph type="title"/>
          </p:nvPr>
        </p:nvSpPr>
        <p:spPr>
          <a:xfrm>
            <a:off x="334963" y="1"/>
            <a:ext cx="11522075" cy="914400"/>
          </a:xfrm>
        </p:spPr>
        <p:txBody>
          <a:bodyPr/>
          <a:lstStyle/>
          <a:p>
            <a:br>
              <a:rPr lang="ja-JP" altLang="en-US" sz="1600" dirty="0">
                <a:solidFill>
                  <a:schemeClr val="tx1">
                    <a:lumMod val="50000"/>
                    <a:lumOff val="50000"/>
                  </a:schemeClr>
                </a:solidFill>
                <a:latin typeface="+mn-ea"/>
                <a:ea typeface="+mn-ea"/>
              </a:rPr>
            </a:br>
            <a:r>
              <a:rPr lang="ja-JP" altLang="en-US" dirty="0">
                <a:latin typeface="+mn-ea"/>
                <a:ea typeface="+mn-ea"/>
              </a:rPr>
              <a:t>顧客 ･ 取引先 ･ 競合の変化</a:t>
            </a:r>
            <a:endParaRPr kumimoji="1" lang="ja-JP" altLang="en-US" dirty="0">
              <a:latin typeface="+mn-ea"/>
              <a:ea typeface="+mn-ea"/>
            </a:endParaRPr>
          </a:p>
        </p:txBody>
      </p:sp>
      <p:grpSp>
        <p:nvGrpSpPr>
          <p:cNvPr id="14" name="グループ化 13">
            <a:extLst>
              <a:ext uri="{FF2B5EF4-FFF2-40B4-BE49-F238E27FC236}">
                <a16:creationId xmlns:a16="http://schemas.microsoft.com/office/drawing/2014/main" id="{916BF50D-A441-589A-C975-AC6E64402CE6}"/>
              </a:ext>
            </a:extLst>
          </p:cNvPr>
          <p:cNvGrpSpPr/>
          <p:nvPr/>
        </p:nvGrpSpPr>
        <p:grpSpPr>
          <a:xfrm>
            <a:off x="1436972" y="1637964"/>
            <a:ext cx="9318056" cy="1886394"/>
            <a:chOff x="2802000" y="1637964"/>
            <a:chExt cx="8008753" cy="1886394"/>
          </a:xfrm>
        </p:grpSpPr>
        <p:sp>
          <p:nvSpPr>
            <p:cNvPr id="5" name="正方形/長方形 4">
              <a:extLst>
                <a:ext uri="{FF2B5EF4-FFF2-40B4-BE49-F238E27FC236}">
                  <a16:creationId xmlns:a16="http://schemas.microsoft.com/office/drawing/2014/main" id="{5CDAE3DC-9636-4FC0-F179-96FFEA21ECF1}"/>
                </a:ext>
              </a:extLst>
            </p:cNvPr>
            <p:cNvSpPr/>
            <p:nvPr/>
          </p:nvSpPr>
          <p:spPr>
            <a:xfrm>
              <a:off x="2802000" y="1637964"/>
              <a:ext cx="8008753" cy="376869"/>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rgbClr val="FFFFFF"/>
                  </a:solidFill>
                  <a:latin typeface="+mn-ea"/>
                  <a:cs typeface="Meiryo" pitchFamily="34" charset="-120"/>
                </a:rPr>
                <a:t>Customer : </a:t>
              </a:r>
              <a:r>
                <a:rPr lang="ja-JP" altLang="en-US" b="1" dirty="0">
                  <a:solidFill>
                    <a:srgbClr val="FFFFFF"/>
                  </a:solidFill>
                  <a:latin typeface="+mn-ea"/>
                  <a:cs typeface="Meiryo" pitchFamily="34" charset="-120"/>
                </a:rPr>
                <a:t>消費者</a:t>
              </a:r>
              <a:endParaRPr lang="en-US" altLang="ja-JP" dirty="0">
                <a:latin typeface="+mn-ea"/>
              </a:endParaRPr>
            </a:p>
          </p:txBody>
        </p:sp>
        <p:sp>
          <p:nvSpPr>
            <p:cNvPr id="11" name="正方形/長方形 10">
              <a:extLst>
                <a:ext uri="{FF2B5EF4-FFF2-40B4-BE49-F238E27FC236}">
                  <a16:creationId xmlns:a16="http://schemas.microsoft.com/office/drawing/2014/main" id="{8C050FDE-CB5B-47FC-DFDC-495CB8793A6E}"/>
                </a:ext>
              </a:extLst>
            </p:cNvPr>
            <p:cNvSpPr/>
            <p:nvPr/>
          </p:nvSpPr>
          <p:spPr>
            <a:xfrm>
              <a:off x="2802000" y="2011481"/>
              <a:ext cx="8008753" cy="1512877"/>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lgn="ctr"/>
              <a:r>
                <a:rPr lang="ja-JP" altLang="en-US" sz="1200" b="1" dirty="0">
                  <a:solidFill>
                    <a:srgbClr val="008D2E"/>
                  </a:solidFill>
                  <a:latin typeface="+mn-ea"/>
                  <a:cs typeface="Meiryo" pitchFamily="34" charset="-120"/>
                </a:rPr>
                <a:t>環境・健康前提のもと、価値観は二極化し、購買は</a:t>
              </a:r>
              <a:r>
                <a:rPr lang="en-US" altLang="ja-JP" sz="1200" b="1" dirty="0">
                  <a:solidFill>
                    <a:srgbClr val="008D2E"/>
                  </a:solidFill>
                  <a:latin typeface="+mn-ea"/>
                  <a:cs typeface="Meiryo" pitchFamily="34" charset="-120"/>
                </a:rPr>
                <a:t>AI</a:t>
              </a:r>
              <a:r>
                <a:rPr lang="ja-JP" altLang="en-US" sz="1200" b="1" dirty="0">
                  <a:solidFill>
                    <a:srgbClr val="008D2E"/>
                  </a:solidFill>
                  <a:latin typeface="+mn-ea"/>
                  <a:cs typeface="Meiryo" pitchFamily="34" charset="-120"/>
                </a:rPr>
                <a:t>へ委ねられる</a:t>
              </a:r>
              <a:endParaRPr lang="en-US" altLang="ja-JP" sz="1200" dirty="0">
                <a:solidFill>
                  <a:srgbClr val="008D2E"/>
                </a:solidFill>
                <a:latin typeface="+mn-ea"/>
              </a:endParaRPr>
            </a:p>
          </p:txBody>
        </p:sp>
        <p:grpSp>
          <p:nvGrpSpPr>
            <p:cNvPr id="50" name="グループ化 49">
              <a:extLst>
                <a:ext uri="{FF2B5EF4-FFF2-40B4-BE49-F238E27FC236}">
                  <a16:creationId xmlns:a16="http://schemas.microsoft.com/office/drawing/2014/main" id="{BE397CC9-B2B1-A074-304C-F866502D33A0}"/>
                </a:ext>
              </a:extLst>
            </p:cNvPr>
            <p:cNvGrpSpPr/>
            <p:nvPr/>
          </p:nvGrpSpPr>
          <p:grpSpPr>
            <a:xfrm>
              <a:off x="2940667" y="2340788"/>
              <a:ext cx="7773053" cy="1112171"/>
              <a:chOff x="2921822" y="2112260"/>
              <a:chExt cx="4200652" cy="1337513"/>
            </a:xfrm>
            <a:solidFill>
              <a:srgbClr val="008D2E">
                <a:alpha val="10000"/>
              </a:srgbClr>
            </a:solidFill>
          </p:grpSpPr>
          <p:sp>
            <p:nvSpPr>
              <p:cNvPr id="20" name="正方形/長方形 19">
                <a:extLst>
                  <a:ext uri="{FF2B5EF4-FFF2-40B4-BE49-F238E27FC236}">
                    <a16:creationId xmlns:a16="http://schemas.microsoft.com/office/drawing/2014/main" id="{C5473F1B-183F-7873-D750-81E56E6DEF94}"/>
                  </a:ext>
                </a:extLst>
              </p:cNvPr>
              <p:cNvSpPr/>
              <p:nvPr/>
            </p:nvSpPr>
            <p:spPr>
              <a:xfrm>
                <a:off x="2921822" y="2112260"/>
                <a:ext cx="2057081" cy="629105"/>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00" b="1" dirty="0">
                    <a:solidFill>
                      <a:srgbClr val="008D2E"/>
                    </a:solidFill>
                    <a:latin typeface="+mn-ea"/>
                  </a:rPr>
                  <a:t>環境配慮の足切り前提化</a:t>
                </a:r>
                <a:r>
                  <a:rPr lang="en-US" altLang="ja-JP" sz="1000" b="1" dirty="0">
                    <a:solidFill>
                      <a:srgbClr val="008D2E"/>
                    </a:solidFill>
                    <a:latin typeface="+mn-ea"/>
                  </a:rPr>
                  <a:t> (</a:t>
                </a:r>
                <a:r>
                  <a:rPr lang="ja-JP" altLang="ja-JP" sz="1000" b="1" dirty="0">
                    <a:solidFill>
                      <a:srgbClr val="008D2E"/>
                    </a:solidFill>
                    <a:latin typeface="+mn-ea"/>
                  </a:rPr>
                  <a:t>P</a:t>
                </a:r>
                <a:r>
                  <a:rPr lang="en-US" altLang="ja-JP" sz="1000" b="1" dirty="0">
                    <a:solidFill>
                      <a:srgbClr val="008D2E"/>
                    </a:solidFill>
                    <a:latin typeface="+mn-ea"/>
                  </a:rPr>
                  <a:t>)</a:t>
                </a:r>
              </a:p>
              <a:p>
                <a:r>
                  <a:rPr lang="ja-JP" altLang="ja-JP" sz="1000" dirty="0">
                    <a:solidFill>
                      <a:schemeClr val="tx1"/>
                    </a:solidFill>
                    <a:latin typeface="+mn-ea"/>
                  </a:rPr>
                  <a:t>超炭素社会化・環境規制強化により、環境要件を満たさない商品は検討の土俵から無条件で排除するスクリーニングが標準化</a:t>
                </a:r>
                <a:endParaRPr lang="en-US" altLang="ja-JP" sz="1000" dirty="0">
                  <a:solidFill>
                    <a:schemeClr val="tx1"/>
                  </a:solidFill>
                  <a:latin typeface="+mn-ea"/>
                </a:endParaRPr>
              </a:p>
            </p:txBody>
          </p:sp>
          <p:sp>
            <p:nvSpPr>
              <p:cNvPr id="22" name="正方形/長方形 21">
                <a:extLst>
                  <a:ext uri="{FF2B5EF4-FFF2-40B4-BE49-F238E27FC236}">
                    <a16:creationId xmlns:a16="http://schemas.microsoft.com/office/drawing/2014/main" id="{D4C1964C-81B0-1D7D-0661-C775A8C8E921}"/>
                  </a:ext>
                </a:extLst>
              </p:cNvPr>
              <p:cNvSpPr/>
              <p:nvPr/>
            </p:nvSpPr>
            <p:spPr>
              <a:xfrm>
                <a:off x="5065393" y="2112260"/>
                <a:ext cx="2057081" cy="629105"/>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00" b="1" dirty="0">
                    <a:solidFill>
                      <a:srgbClr val="008000"/>
                    </a:solidFill>
                    <a:latin typeface="+mn-ea"/>
                  </a:rPr>
                  <a:t>選択水準のK字二極化</a:t>
                </a:r>
                <a:r>
                  <a:rPr lang="en-US" altLang="ja-JP" sz="1000" b="1" dirty="0">
                    <a:solidFill>
                      <a:srgbClr val="008000"/>
                    </a:solidFill>
                    <a:latin typeface="+mn-ea"/>
                  </a:rPr>
                  <a:t> (</a:t>
                </a:r>
                <a:r>
                  <a:rPr lang="ja-JP" altLang="ja-JP" sz="1000" b="1" dirty="0">
                    <a:solidFill>
                      <a:srgbClr val="008000"/>
                    </a:solidFill>
                    <a:latin typeface="+mn-ea"/>
                  </a:rPr>
                  <a:t>E</a:t>
                </a:r>
                <a:r>
                  <a:rPr lang="en-US" altLang="ja-JP" sz="1000" b="1" dirty="0">
                    <a:solidFill>
                      <a:srgbClr val="008000"/>
                    </a:solidFill>
                    <a:latin typeface="+mn-ea"/>
                  </a:rPr>
                  <a:t> </a:t>
                </a:r>
                <a:r>
                  <a:rPr lang="ja-JP" altLang="en-US" sz="1000" b="1" dirty="0">
                    <a:solidFill>
                      <a:srgbClr val="008000"/>
                    </a:solidFill>
                    <a:latin typeface="+mn-ea"/>
                  </a:rPr>
                  <a:t>･ </a:t>
                </a:r>
                <a:r>
                  <a:rPr lang="ja-JP" altLang="ja-JP" sz="1000" b="1" dirty="0">
                    <a:solidFill>
                      <a:srgbClr val="008000"/>
                    </a:solidFill>
                    <a:latin typeface="+mn-ea"/>
                  </a:rPr>
                  <a:t>S</a:t>
                </a:r>
                <a:r>
                  <a:rPr lang="en-US" altLang="ja-JP" sz="1000" b="1" dirty="0">
                    <a:solidFill>
                      <a:srgbClr val="008000"/>
                    </a:solidFill>
                    <a:latin typeface="+mn-ea"/>
                  </a:rPr>
                  <a:t>) </a:t>
                </a:r>
              </a:p>
              <a:p>
                <a:r>
                  <a:rPr lang="ja-JP" altLang="ja-JP" sz="1000" dirty="0">
                    <a:solidFill>
                      <a:schemeClr val="tx1"/>
                    </a:solidFill>
                    <a:latin typeface="+mn-ea"/>
                  </a:rPr>
                  <a:t>生活防衛のための「徹底的な低価格</a:t>
                </a:r>
                <a:r>
                  <a:rPr lang="en-US" altLang="ja-JP" sz="1000" dirty="0">
                    <a:solidFill>
                      <a:schemeClr val="tx1"/>
                    </a:solidFill>
                    <a:latin typeface="+mn-ea"/>
                  </a:rPr>
                  <a:t> (</a:t>
                </a:r>
                <a:r>
                  <a:rPr lang="ja-JP" altLang="ja-JP" sz="1000" dirty="0">
                    <a:solidFill>
                      <a:schemeClr val="tx1"/>
                    </a:solidFill>
                    <a:latin typeface="+mn-ea"/>
                  </a:rPr>
                  <a:t>PB</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特売</a:t>
                </a:r>
                <a:r>
                  <a:rPr lang="en-US" altLang="ja-JP" sz="1000" dirty="0">
                    <a:solidFill>
                      <a:schemeClr val="tx1"/>
                    </a:solidFill>
                    <a:latin typeface="+mn-ea"/>
                  </a:rPr>
                  <a:t>) </a:t>
                </a:r>
                <a:r>
                  <a:rPr lang="ja-JP" altLang="ja-JP" sz="1000" dirty="0">
                    <a:solidFill>
                      <a:schemeClr val="tx1"/>
                    </a:solidFill>
                    <a:latin typeface="+mn-ea"/>
                  </a:rPr>
                  <a:t>」と、QOL</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健康を追求する</a:t>
                </a:r>
                <a:br>
                  <a:rPr lang="en-US" altLang="ja-JP" sz="1000" dirty="0">
                    <a:solidFill>
                      <a:schemeClr val="tx1"/>
                    </a:solidFill>
                    <a:latin typeface="+mn-ea"/>
                  </a:rPr>
                </a:br>
                <a:r>
                  <a:rPr lang="ja-JP" altLang="ja-JP" sz="1000" dirty="0">
                    <a:solidFill>
                      <a:schemeClr val="tx1"/>
                    </a:solidFill>
                    <a:latin typeface="+mn-ea"/>
                  </a:rPr>
                  <a:t>「プレミアム投資」へ消費行動が完全に分断</a:t>
                </a:r>
                <a:endParaRPr lang="en-US" altLang="ja-JP" sz="1000" dirty="0">
                  <a:solidFill>
                    <a:schemeClr val="tx1"/>
                  </a:solidFill>
                  <a:latin typeface="+mn-ea"/>
                </a:endParaRPr>
              </a:p>
            </p:txBody>
          </p:sp>
          <p:sp>
            <p:nvSpPr>
              <p:cNvPr id="27" name="正方形/長方形 26">
                <a:extLst>
                  <a:ext uri="{FF2B5EF4-FFF2-40B4-BE49-F238E27FC236}">
                    <a16:creationId xmlns:a16="http://schemas.microsoft.com/office/drawing/2014/main" id="{217ABBB8-A1B0-4F6E-B968-8F8718F01B80}"/>
                  </a:ext>
                </a:extLst>
              </p:cNvPr>
              <p:cNvSpPr/>
              <p:nvPr/>
            </p:nvSpPr>
            <p:spPr>
              <a:xfrm>
                <a:off x="2921822" y="2820668"/>
                <a:ext cx="2057081" cy="629105"/>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00" b="1" dirty="0">
                    <a:solidFill>
                      <a:srgbClr val="008D2E"/>
                    </a:solidFill>
                    <a:latin typeface="+mn-ea"/>
                  </a:rPr>
                  <a:t>低関与品の購買管理外部化</a:t>
                </a:r>
                <a:r>
                  <a:rPr lang="en-US" altLang="ja-JP" sz="1000" b="1" dirty="0">
                    <a:solidFill>
                      <a:srgbClr val="008D2E"/>
                    </a:solidFill>
                    <a:latin typeface="+mn-ea"/>
                  </a:rPr>
                  <a:t> (</a:t>
                </a:r>
                <a:r>
                  <a:rPr lang="ja-JP" altLang="ja-JP" sz="1000" b="1" dirty="0">
                    <a:solidFill>
                      <a:srgbClr val="008D2E"/>
                    </a:solidFill>
                    <a:latin typeface="+mn-ea"/>
                  </a:rPr>
                  <a:t>S</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T</a:t>
                </a:r>
                <a:r>
                  <a:rPr lang="en-US" altLang="ja-JP" sz="1000" b="1" dirty="0">
                    <a:solidFill>
                      <a:srgbClr val="008D2E"/>
                    </a:solidFill>
                    <a:latin typeface="+mn-ea"/>
                  </a:rPr>
                  <a:t>) </a:t>
                </a:r>
              </a:p>
              <a:p>
                <a:r>
                  <a:rPr lang="ja-JP" altLang="ja-JP" sz="1000" dirty="0">
                    <a:solidFill>
                      <a:schemeClr val="tx1"/>
                    </a:solidFill>
                    <a:latin typeface="+mn-ea"/>
                  </a:rPr>
                  <a:t>消耗品カテゴリでは「検討</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比較</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購入」自体が認知負荷となりAI自動補充や</a:t>
                </a:r>
                <a:br>
                  <a:rPr lang="en-US" altLang="ja-JP" sz="1000" dirty="0">
                    <a:solidFill>
                      <a:schemeClr val="tx1"/>
                    </a:solidFill>
                    <a:latin typeface="+mn-ea"/>
                  </a:rPr>
                </a:br>
                <a:r>
                  <a:rPr lang="ja-JP" altLang="ja-JP" sz="1000" dirty="0">
                    <a:solidFill>
                      <a:schemeClr val="tx1"/>
                    </a:solidFill>
                    <a:latin typeface="+mn-ea"/>
                  </a:rPr>
                  <a:t>プラットフォームのデフォルト設定への完全委任が定着</a:t>
                </a:r>
                <a:endParaRPr lang="en-US" altLang="ja-JP" sz="1000" dirty="0">
                  <a:solidFill>
                    <a:schemeClr val="tx1"/>
                  </a:solidFill>
                  <a:latin typeface="+mn-ea"/>
                </a:endParaRPr>
              </a:p>
            </p:txBody>
          </p:sp>
          <p:sp>
            <p:nvSpPr>
              <p:cNvPr id="28" name="正方形/長方形 27">
                <a:extLst>
                  <a:ext uri="{FF2B5EF4-FFF2-40B4-BE49-F238E27FC236}">
                    <a16:creationId xmlns:a16="http://schemas.microsoft.com/office/drawing/2014/main" id="{54764F69-4049-D116-90C4-531F91CA978C}"/>
                  </a:ext>
                </a:extLst>
              </p:cNvPr>
              <p:cNvSpPr/>
              <p:nvPr/>
            </p:nvSpPr>
            <p:spPr>
              <a:xfrm>
                <a:off x="5065393" y="2820665"/>
                <a:ext cx="2057081" cy="629105"/>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高関与品の能動的スイッチ</a:t>
                </a:r>
                <a:r>
                  <a:rPr lang="en-US" altLang="ja-JP" sz="1000" b="1" dirty="0">
                    <a:solidFill>
                      <a:srgbClr val="008D2E"/>
                    </a:solidFill>
                    <a:latin typeface="+mn-ea"/>
                  </a:rPr>
                  <a:t> (</a:t>
                </a:r>
                <a:r>
                  <a:rPr lang="ja-JP" altLang="ja-JP" sz="1000" b="1" dirty="0">
                    <a:solidFill>
                      <a:srgbClr val="008D2E"/>
                    </a:solidFill>
                    <a:latin typeface="+mn-ea"/>
                  </a:rPr>
                  <a:t>E</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S</a:t>
                </a:r>
                <a:r>
                  <a:rPr lang="en-US" altLang="ja-JP" sz="1000" b="1" dirty="0">
                    <a:solidFill>
                      <a:srgbClr val="008D2E"/>
                    </a:solidFill>
                    <a:latin typeface="+mn-ea"/>
                  </a:rPr>
                  <a:t>) </a:t>
                </a:r>
              </a:p>
              <a:p>
                <a:pPr>
                  <a:buClr>
                    <a:srgbClr val="008D2E"/>
                  </a:buClr>
                </a:pPr>
                <a:r>
                  <a:rPr lang="ja-JP" altLang="ja-JP" sz="1000" dirty="0">
                    <a:solidFill>
                      <a:schemeClr val="tx1"/>
                    </a:solidFill>
                    <a:latin typeface="+mn-ea"/>
                  </a:rPr>
                  <a:t>身体</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健康に直結する領域では、失敗回避のため能動的に情報探索</a:t>
                </a:r>
                <a:r>
                  <a:rPr lang="ja-JP" altLang="en-US" sz="1000" dirty="0">
                    <a:solidFill>
                      <a:schemeClr val="tx1"/>
                    </a:solidFill>
                    <a:latin typeface="+mn-ea"/>
                  </a:rPr>
                  <a:t>。</a:t>
                </a:r>
                <a:r>
                  <a:rPr lang="ja-JP" altLang="ja-JP" sz="1000" dirty="0">
                    <a:solidFill>
                      <a:schemeClr val="tx1"/>
                    </a:solidFill>
                    <a:latin typeface="+mn-ea"/>
                  </a:rPr>
                  <a:t>情緒的欲求からAI推奨を裏切るブランドスイッチ</a:t>
                </a:r>
                <a:r>
                  <a:rPr lang="en-US" altLang="ja-JP" sz="1000" dirty="0">
                    <a:solidFill>
                      <a:schemeClr val="tx1"/>
                    </a:solidFill>
                    <a:latin typeface="+mn-ea"/>
                  </a:rPr>
                  <a:t> (</a:t>
                </a:r>
                <a:r>
                  <a:rPr lang="ja-JP" altLang="ja-JP" sz="1000" dirty="0">
                    <a:solidFill>
                      <a:schemeClr val="tx1"/>
                    </a:solidFill>
                    <a:latin typeface="+mn-ea"/>
                  </a:rPr>
                  <a:t>浮気</a:t>
                </a:r>
                <a:r>
                  <a:rPr lang="en-US" altLang="ja-JP" sz="1000" dirty="0">
                    <a:solidFill>
                      <a:schemeClr val="tx1"/>
                    </a:solidFill>
                    <a:latin typeface="+mn-ea"/>
                  </a:rPr>
                  <a:t>) </a:t>
                </a:r>
                <a:r>
                  <a:rPr lang="ja-JP" altLang="ja-JP" sz="1000" dirty="0">
                    <a:solidFill>
                      <a:schemeClr val="tx1"/>
                    </a:solidFill>
                    <a:latin typeface="+mn-ea"/>
                  </a:rPr>
                  <a:t>が継続</a:t>
                </a:r>
              </a:p>
            </p:txBody>
          </p:sp>
        </p:grpSp>
        <p:pic>
          <p:nvPicPr>
            <p:cNvPr id="112" name="グラフィックス 111" descr="ユーザー 単色塗りつぶし">
              <a:extLst>
                <a:ext uri="{FF2B5EF4-FFF2-40B4-BE49-F238E27FC236}">
                  <a16:creationId xmlns:a16="http://schemas.microsoft.com/office/drawing/2014/main" id="{0C6B4CE6-6729-5D9D-EA6A-0272B07D04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17824" y="1663958"/>
              <a:ext cx="278474" cy="324000"/>
            </a:xfrm>
            <a:prstGeom prst="rect">
              <a:avLst/>
            </a:prstGeom>
          </p:spPr>
        </p:pic>
      </p:grpSp>
      <p:grpSp>
        <p:nvGrpSpPr>
          <p:cNvPr id="4" name="グループ化 3">
            <a:extLst>
              <a:ext uri="{FF2B5EF4-FFF2-40B4-BE49-F238E27FC236}">
                <a16:creationId xmlns:a16="http://schemas.microsoft.com/office/drawing/2014/main" id="{F3B7C747-C6F0-7C21-0EAE-7D2175CE814B}"/>
              </a:ext>
            </a:extLst>
          </p:cNvPr>
          <p:cNvGrpSpPr/>
          <p:nvPr/>
        </p:nvGrpSpPr>
        <p:grpSpPr>
          <a:xfrm>
            <a:off x="334964" y="3871576"/>
            <a:ext cx="5223170" cy="2441372"/>
            <a:chOff x="334964" y="3871576"/>
            <a:chExt cx="5223170" cy="2441372"/>
          </a:xfrm>
        </p:grpSpPr>
        <p:sp>
          <p:nvSpPr>
            <p:cNvPr id="69" name="正方形/長方形 68">
              <a:extLst>
                <a:ext uri="{FF2B5EF4-FFF2-40B4-BE49-F238E27FC236}">
                  <a16:creationId xmlns:a16="http://schemas.microsoft.com/office/drawing/2014/main" id="{FEEAD587-F873-99F4-E83C-AFACED97C0C7}"/>
                </a:ext>
              </a:extLst>
            </p:cNvPr>
            <p:cNvSpPr/>
            <p:nvPr/>
          </p:nvSpPr>
          <p:spPr>
            <a:xfrm>
              <a:off x="334964" y="3871576"/>
              <a:ext cx="5223170" cy="378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err="1">
                  <a:solidFill>
                    <a:srgbClr val="FFFFFF"/>
                  </a:solidFill>
                  <a:latin typeface="+mn-ea"/>
                  <a:cs typeface="Meiryo" pitchFamily="34" charset="-120"/>
                </a:rPr>
                <a:t>CoOperator</a:t>
              </a:r>
              <a:r>
                <a:rPr lang="en-US" altLang="ja-JP" b="1" dirty="0">
                  <a:solidFill>
                    <a:srgbClr val="FFFFFF"/>
                  </a:solidFill>
                  <a:latin typeface="+mn-ea"/>
                  <a:cs typeface="Meiryo" pitchFamily="34" charset="-120"/>
                </a:rPr>
                <a:t> : </a:t>
              </a:r>
              <a:r>
                <a:rPr lang="ja-JP" altLang="en-US" b="1" dirty="0">
                  <a:solidFill>
                    <a:srgbClr val="FFFFFF"/>
                  </a:solidFill>
                  <a:latin typeface="+mn-ea"/>
                  <a:cs typeface="Meiryo" pitchFamily="34" charset="-120"/>
                </a:rPr>
                <a:t>小売 ･ 卸</a:t>
              </a:r>
              <a:endParaRPr lang="en-US" altLang="ja-JP" dirty="0">
                <a:latin typeface="+mn-ea"/>
              </a:endParaRPr>
            </a:p>
          </p:txBody>
        </p:sp>
        <p:sp>
          <p:nvSpPr>
            <p:cNvPr id="70" name="正方形/長方形 69">
              <a:extLst>
                <a:ext uri="{FF2B5EF4-FFF2-40B4-BE49-F238E27FC236}">
                  <a16:creationId xmlns:a16="http://schemas.microsoft.com/office/drawing/2014/main" id="{29E66271-CCB3-E260-1C6B-FF67493208C4}"/>
                </a:ext>
              </a:extLst>
            </p:cNvPr>
            <p:cNvSpPr/>
            <p:nvPr/>
          </p:nvSpPr>
          <p:spPr>
            <a:xfrm>
              <a:off x="334964" y="4249576"/>
              <a:ext cx="5223170" cy="2063372"/>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lgn="ctr"/>
              <a:r>
                <a:rPr lang="ja-JP" altLang="ja-JP" sz="1200" b="1" dirty="0">
                  <a:solidFill>
                    <a:srgbClr val="008D2E"/>
                  </a:solidFill>
                  <a:latin typeface="+mn-ea"/>
                </a:rPr>
                <a:t>環境・データ</a:t>
              </a:r>
              <a:r>
                <a:rPr lang="ja-JP" altLang="en-US" sz="1200" b="1" dirty="0">
                  <a:solidFill>
                    <a:srgbClr val="008D2E"/>
                  </a:solidFill>
                  <a:latin typeface="+mn-ea"/>
                </a:rPr>
                <a:t>は</a:t>
              </a:r>
              <a:r>
                <a:rPr lang="ja-JP" altLang="ja-JP" sz="1200" b="1" dirty="0">
                  <a:solidFill>
                    <a:srgbClr val="008D2E"/>
                  </a:solidFill>
                  <a:latin typeface="+mn-ea"/>
                </a:rPr>
                <a:t>取引条件化し、物販から「データ＆メディア業」へ転換</a:t>
              </a:r>
              <a:endParaRPr lang="en-US" altLang="ja-JP" sz="1200" b="1" dirty="0">
                <a:solidFill>
                  <a:srgbClr val="008D2E"/>
                </a:solidFill>
                <a:latin typeface="+mn-ea"/>
              </a:endParaRPr>
            </a:p>
          </p:txBody>
        </p:sp>
        <p:grpSp>
          <p:nvGrpSpPr>
            <p:cNvPr id="19" name="グループ化 18">
              <a:extLst>
                <a:ext uri="{FF2B5EF4-FFF2-40B4-BE49-F238E27FC236}">
                  <a16:creationId xmlns:a16="http://schemas.microsoft.com/office/drawing/2014/main" id="{AC411CAD-38F5-AC20-2CD9-A503A6878E87}"/>
                </a:ext>
              </a:extLst>
            </p:cNvPr>
            <p:cNvGrpSpPr/>
            <p:nvPr/>
          </p:nvGrpSpPr>
          <p:grpSpPr>
            <a:xfrm>
              <a:off x="444903" y="4547545"/>
              <a:ext cx="5003293" cy="1700855"/>
              <a:chOff x="444903" y="4478323"/>
              <a:chExt cx="5003293" cy="1800581"/>
            </a:xfrm>
          </p:grpSpPr>
          <p:sp>
            <p:nvSpPr>
              <p:cNvPr id="72" name="正方形/長方形 71">
                <a:extLst>
                  <a:ext uri="{FF2B5EF4-FFF2-40B4-BE49-F238E27FC236}">
                    <a16:creationId xmlns:a16="http://schemas.microsoft.com/office/drawing/2014/main" id="{EEF54428-CEC4-DE9A-C5C8-683FEA83DF93}"/>
                  </a:ext>
                </a:extLst>
              </p:cNvPr>
              <p:cNvSpPr/>
              <p:nvPr/>
            </p:nvSpPr>
            <p:spPr>
              <a:xfrm>
                <a:off x="444903" y="4478323"/>
                <a:ext cx="2450138" cy="808494"/>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「グリーン監査」の自動化</a:t>
                </a:r>
                <a:r>
                  <a:rPr lang="en-US" altLang="ja-JP" sz="1000" b="1" dirty="0">
                    <a:solidFill>
                      <a:srgbClr val="008D2E"/>
                    </a:solidFill>
                    <a:latin typeface="+mn-ea"/>
                  </a:rPr>
                  <a:t> (</a:t>
                </a:r>
                <a:r>
                  <a:rPr lang="ja-JP" altLang="ja-JP" sz="1000" b="1" dirty="0">
                    <a:solidFill>
                      <a:srgbClr val="008D2E"/>
                    </a:solidFill>
                    <a:latin typeface="+mn-ea"/>
                  </a:rPr>
                  <a:t>P</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T</a:t>
                </a:r>
                <a:r>
                  <a:rPr lang="en-US" altLang="ja-JP" sz="1000" b="1" dirty="0">
                    <a:solidFill>
                      <a:srgbClr val="008D2E"/>
                    </a:solidFill>
                    <a:latin typeface="+mn-ea"/>
                  </a:rPr>
                  <a:t>)</a:t>
                </a:r>
              </a:p>
              <a:p>
                <a:pPr>
                  <a:buClr>
                    <a:srgbClr val="008D2E"/>
                  </a:buClr>
                </a:pPr>
                <a:r>
                  <a:rPr lang="ja-JP" altLang="ja-JP" sz="1000" dirty="0">
                    <a:solidFill>
                      <a:schemeClr val="tx1"/>
                    </a:solidFill>
                    <a:latin typeface="+mn-ea"/>
                  </a:rPr>
                  <a:t> 自社Scope 3削減のため、メーカーに環境スコア提示を義務化</a:t>
                </a:r>
                <a:r>
                  <a:rPr lang="ja-JP" altLang="en-US" sz="1000" dirty="0">
                    <a:solidFill>
                      <a:schemeClr val="tx1"/>
                    </a:solidFill>
                    <a:latin typeface="+mn-ea"/>
                  </a:rPr>
                  <a:t>。</a:t>
                </a:r>
                <a:r>
                  <a:rPr lang="ja-JP" altLang="ja-JP" sz="1000" dirty="0">
                    <a:solidFill>
                      <a:schemeClr val="tx1"/>
                    </a:solidFill>
                    <a:latin typeface="+mn-ea"/>
                  </a:rPr>
                  <a:t>基準未達商品はアルゴリズムが自動棚落ち</a:t>
                </a:r>
                <a:r>
                  <a:rPr lang="en-US" altLang="ja-JP" sz="1000" dirty="0">
                    <a:solidFill>
                      <a:schemeClr val="tx1"/>
                    </a:solidFill>
                    <a:latin typeface="+mn-ea"/>
                  </a:rPr>
                  <a:t> (</a:t>
                </a:r>
                <a:r>
                  <a:rPr lang="ja-JP" altLang="ja-JP" sz="1000" dirty="0">
                    <a:solidFill>
                      <a:schemeClr val="tx1"/>
                    </a:solidFill>
                    <a:latin typeface="+mn-ea"/>
                  </a:rPr>
                  <a:t>排除</a:t>
                </a:r>
                <a:r>
                  <a:rPr lang="en-US" altLang="ja-JP" sz="1000" dirty="0">
                    <a:solidFill>
                      <a:schemeClr val="tx1"/>
                    </a:solidFill>
                    <a:latin typeface="+mn-ea"/>
                  </a:rPr>
                  <a:t>)</a:t>
                </a:r>
                <a:r>
                  <a:rPr lang="ja-JP" altLang="ja-JP" sz="1000" dirty="0">
                    <a:solidFill>
                      <a:schemeClr val="tx1"/>
                    </a:solidFill>
                    <a:latin typeface="+mn-ea"/>
                  </a:rPr>
                  <a:t>する冷徹な取引基準へ移行</a:t>
                </a:r>
              </a:p>
            </p:txBody>
          </p:sp>
          <p:sp>
            <p:nvSpPr>
              <p:cNvPr id="73" name="正方形/長方形 72">
                <a:extLst>
                  <a:ext uri="{FF2B5EF4-FFF2-40B4-BE49-F238E27FC236}">
                    <a16:creationId xmlns:a16="http://schemas.microsoft.com/office/drawing/2014/main" id="{9BC5C485-DB24-08A3-A4BE-19F2B37D8159}"/>
                  </a:ext>
                </a:extLst>
              </p:cNvPr>
              <p:cNvSpPr/>
              <p:nvPr/>
            </p:nvSpPr>
            <p:spPr>
              <a:xfrm>
                <a:off x="2998058" y="4478323"/>
                <a:ext cx="2450138" cy="808494"/>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店舗システム化による作業</a:t>
                </a:r>
                <a:r>
                  <a:rPr lang="ja-JP" altLang="en-US" sz="1000" b="1" dirty="0">
                    <a:solidFill>
                      <a:srgbClr val="008D2E"/>
                    </a:solidFill>
                    <a:latin typeface="+mn-ea"/>
                  </a:rPr>
                  <a:t>減削減</a:t>
                </a:r>
                <a:r>
                  <a:rPr lang="en-US" altLang="ja-JP" sz="1000" b="1" dirty="0">
                    <a:solidFill>
                      <a:srgbClr val="008D2E"/>
                    </a:solidFill>
                    <a:latin typeface="+mn-ea"/>
                  </a:rPr>
                  <a:t> (</a:t>
                </a:r>
                <a:r>
                  <a:rPr lang="ja-JP" altLang="ja-JP" sz="1000" b="1" dirty="0">
                    <a:solidFill>
                      <a:srgbClr val="008D2E"/>
                    </a:solidFill>
                    <a:latin typeface="+mn-ea"/>
                  </a:rPr>
                  <a:t>E</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T</a:t>
                </a:r>
                <a:r>
                  <a:rPr lang="en-US" altLang="ja-JP" sz="1000" b="1" dirty="0">
                    <a:solidFill>
                      <a:srgbClr val="008D2E"/>
                    </a:solidFill>
                    <a:latin typeface="+mn-ea"/>
                  </a:rPr>
                  <a:t>) </a:t>
                </a:r>
              </a:p>
              <a:p>
                <a:pPr>
                  <a:buClr>
                    <a:srgbClr val="008D2E"/>
                  </a:buClr>
                </a:pPr>
                <a:r>
                  <a:rPr lang="ja-JP" altLang="ja-JP" sz="1000" dirty="0">
                    <a:solidFill>
                      <a:schemeClr val="tx1"/>
                    </a:solidFill>
                    <a:latin typeface="+mn-ea"/>
                  </a:rPr>
                  <a:t>人手不足と自動発注</a:t>
                </a:r>
                <a:r>
                  <a:rPr lang="ja-JP" altLang="en-US" sz="1000" dirty="0">
                    <a:solidFill>
                      <a:schemeClr val="tx1"/>
                    </a:solidFill>
                    <a:latin typeface="+mn-ea"/>
                  </a:rPr>
                  <a:t>･</a:t>
                </a:r>
                <a:r>
                  <a:rPr lang="ja-JP" altLang="ja-JP" sz="1000" dirty="0">
                    <a:solidFill>
                      <a:schemeClr val="tx1"/>
                    </a:solidFill>
                    <a:latin typeface="+mn-ea"/>
                  </a:rPr>
                  <a:t>棚割導入により店舗を完全自動管理</a:t>
                </a:r>
                <a:r>
                  <a:rPr lang="ja-JP" altLang="en-US" sz="1000" dirty="0">
                    <a:solidFill>
                      <a:schemeClr val="tx1"/>
                    </a:solidFill>
                    <a:latin typeface="+mn-ea"/>
                  </a:rPr>
                  <a:t>。</a:t>
                </a:r>
                <a:r>
                  <a:rPr lang="ja-JP" altLang="ja-JP" sz="1000" dirty="0">
                    <a:solidFill>
                      <a:schemeClr val="tx1"/>
                    </a:solidFill>
                    <a:latin typeface="+mn-ea"/>
                  </a:rPr>
                  <a:t>現場の手間</a:t>
                </a:r>
                <a:r>
                  <a:rPr lang="en-US" altLang="ja-JP" sz="1000" dirty="0">
                    <a:solidFill>
                      <a:schemeClr val="tx1"/>
                    </a:solidFill>
                    <a:latin typeface="+mn-ea"/>
                  </a:rPr>
                  <a:t> (</a:t>
                </a:r>
                <a:r>
                  <a:rPr lang="ja-JP" altLang="ja-JP" sz="1000" dirty="0">
                    <a:solidFill>
                      <a:schemeClr val="tx1"/>
                    </a:solidFill>
                    <a:latin typeface="+mn-ea"/>
                  </a:rPr>
                  <a:t>品出し等</a:t>
                </a:r>
                <a:r>
                  <a:rPr lang="en-US" altLang="ja-JP" sz="1000" dirty="0">
                    <a:solidFill>
                      <a:schemeClr val="tx1"/>
                    </a:solidFill>
                    <a:latin typeface="+mn-ea"/>
                  </a:rPr>
                  <a:t>) </a:t>
                </a:r>
                <a:r>
                  <a:rPr lang="ja-JP" altLang="ja-JP" sz="1000" dirty="0">
                    <a:solidFill>
                      <a:schemeClr val="tx1"/>
                    </a:solidFill>
                    <a:latin typeface="+mn-ea"/>
                  </a:rPr>
                  <a:t>を極嫌し、付き合いによる棚融通はシステム的に完全ブロック</a:t>
                </a:r>
              </a:p>
            </p:txBody>
          </p:sp>
          <p:sp>
            <p:nvSpPr>
              <p:cNvPr id="74" name="正方形/長方形 73">
                <a:extLst>
                  <a:ext uri="{FF2B5EF4-FFF2-40B4-BE49-F238E27FC236}">
                    <a16:creationId xmlns:a16="http://schemas.microsoft.com/office/drawing/2014/main" id="{70B1BE70-56AA-DFC9-1E7D-9C76079CA10C}"/>
                  </a:ext>
                </a:extLst>
              </p:cNvPr>
              <p:cNvSpPr/>
              <p:nvPr/>
            </p:nvSpPr>
            <p:spPr>
              <a:xfrm>
                <a:off x="444903" y="5369461"/>
                <a:ext cx="2450138" cy="90944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収益モデルの「多角化</a:t>
                </a:r>
                <a:r>
                  <a:rPr lang="en-US" altLang="ja-JP" sz="1000" b="1" dirty="0">
                    <a:solidFill>
                      <a:srgbClr val="008D2E"/>
                    </a:solidFill>
                    <a:latin typeface="+mn-ea"/>
                  </a:rPr>
                  <a:t> (</a:t>
                </a:r>
                <a:r>
                  <a:rPr lang="ja-JP" altLang="ja-JP" sz="1000" b="1" dirty="0">
                    <a:solidFill>
                      <a:srgbClr val="008D2E"/>
                    </a:solidFill>
                    <a:latin typeface="+mn-ea"/>
                  </a:rPr>
                  <a:t>メディア化</a:t>
                </a:r>
                <a:r>
                  <a:rPr lang="en-US" altLang="ja-JP" sz="1000" b="1" dirty="0">
                    <a:solidFill>
                      <a:srgbClr val="008D2E"/>
                    </a:solidFill>
                    <a:latin typeface="+mn-ea"/>
                  </a:rPr>
                  <a:t>)</a:t>
                </a:r>
                <a:r>
                  <a:rPr lang="ja-JP" altLang="ja-JP" sz="1000" b="1" dirty="0">
                    <a:solidFill>
                      <a:srgbClr val="008D2E"/>
                    </a:solidFill>
                    <a:latin typeface="+mn-ea"/>
                  </a:rPr>
                  <a:t>」</a:t>
                </a:r>
                <a:r>
                  <a:rPr lang="en-US" altLang="ja-JP" sz="1000" b="1" dirty="0">
                    <a:solidFill>
                      <a:srgbClr val="008D2E"/>
                    </a:solidFill>
                    <a:latin typeface="+mn-ea"/>
                  </a:rPr>
                  <a:t> (</a:t>
                </a:r>
                <a:r>
                  <a:rPr lang="ja-JP" altLang="ja-JP" sz="1000" b="1" dirty="0">
                    <a:solidFill>
                      <a:srgbClr val="008D2E"/>
                    </a:solidFill>
                    <a:latin typeface="+mn-ea"/>
                  </a:rPr>
                  <a:t>E</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T</a:t>
                </a:r>
                <a:r>
                  <a:rPr lang="en-US" altLang="ja-JP" sz="1000" b="1" dirty="0">
                    <a:solidFill>
                      <a:srgbClr val="008D2E"/>
                    </a:solidFill>
                    <a:latin typeface="+mn-ea"/>
                  </a:rPr>
                  <a:t>) </a:t>
                </a:r>
              </a:p>
              <a:p>
                <a:pPr>
                  <a:buClr>
                    <a:srgbClr val="008D2E"/>
                  </a:buClr>
                </a:pPr>
                <a:r>
                  <a:rPr lang="ja-JP" altLang="ja-JP" sz="1000" dirty="0">
                    <a:solidFill>
                      <a:schemeClr val="tx1"/>
                    </a:solidFill>
                    <a:latin typeface="+mn-ea"/>
                  </a:rPr>
                  <a:t>物販の限界から、ID-POSをマネタイズする</a:t>
                </a:r>
                <a:br>
                  <a:rPr lang="en-US" altLang="ja-JP" sz="1000" dirty="0">
                    <a:solidFill>
                      <a:schemeClr val="tx1"/>
                    </a:solidFill>
                    <a:latin typeface="+mn-ea"/>
                  </a:rPr>
                </a:br>
                <a:r>
                  <a:rPr lang="ja-JP" altLang="ja-JP" sz="1000" dirty="0">
                    <a:solidFill>
                      <a:schemeClr val="tx1"/>
                    </a:solidFill>
                    <a:latin typeface="+mn-ea"/>
                  </a:rPr>
                  <a:t>「リテールメディア事業」が最大利益源に取引基準は「仕入れ値」から「メディア投資</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協働度」へ移行</a:t>
                </a:r>
              </a:p>
            </p:txBody>
          </p:sp>
          <p:sp>
            <p:nvSpPr>
              <p:cNvPr id="75" name="正方形/長方形 74">
                <a:extLst>
                  <a:ext uri="{FF2B5EF4-FFF2-40B4-BE49-F238E27FC236}">
                    <a16:creationId xmlns:a16="http://schemas.microsoft.com/office/drawing/2014/main" id="{29C79079-7F05-884E-79B9-C7A852375CED}"/>
                  </a:ext>
                </a:extLst>
              </p:cNvPr>
              <p:cNvSpPr/>
              <p:nvPr/>
            </p:nvSpPr>
            <p:spPr>
              <a:xfrm>
                <a:off x="2998058" y="5369457"/>
                <a:ext cx="2450138" cy="90944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バイヤーの「保身</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説明責任」の肥大化</a:t>
                </a:r>
                <a:r>
                  <a:rPr lang="en-US" altLang="ja-JP" sz="1000" b="1" dirty="0">
                    <a:solidFill>
                      <a:srgbClr val="008D2E"/>
                    </a:solidFill>
                    <a:latin typeface="+mn-ea"/>
                  </a:rPr>
                  <a:t> (</a:t>
                </a:r>
                <a:r>
                  <a:rPr lang="ja-JP" altLang="ja-JP" sz="1000" b="1" dirty="0">
                    <a:solidFill>
                      <a:srgbClr val="008D2E"/>
                    </a:solidFill>
                    <a:latin typeface="+mn-ea"/>
                  </a:rPr>
                  <a:t>T</a:t>
                </a:r>
                <a:r>
                  <a:rPr lang="en-US" altLang="ja-JP" sz="1000" b="1" dirty="0">
                    <a:solidFill>
                      <a:srgbClr val="008D2E"/>
                    </a:solidFill>
                    <a:latin typeface="+mn-ea"/>
                  </a:rPr>
                  <a:t>) </a:t>
                </a:r>
              </a:p>
              <a:p>
                <a:pPr>
                  <a:buClr>
                    <a:srgbClr val="008D2E"/>
                  </a:buClr>
                </a:pPr>
                <a:r>
                  <a:rPr lang="ja-JP" altLang="ja-JP" sz="1000" dirty="0">
                    <a:solidFill>
                      <a:schemeClr val="tx1"/>
                    </a:solidFill>
                    <a:latin typeface="+mn-ea"/>
                  </a:rPr>
                  <a:t>本部のデータ監査強化により、事後検証を突破する「定量ロジック</a:t>
                </a:r>
                <a:r>
                  <a:rPr lang="en-US" altLang="ja-JP" sz="1000" dirty="0">
                    <a:solidFill>
                      <a:schemeClr val="tx1"/>
                    </a:solidFill>
                    <a:latin typeface="+mn-ea"/>
                  </a:rPr>
                  <a:t>(</a:t>
                </a:r>
                <a:r>
                  <a:rPr lang="ja-JP" altLang="ja-JP" sz="1000" dirty="0">
                    <a:solidFill>
                      <a:schemeClr val="tx1"/>
                    </a:solidFill>
                    <a:latin typeface="+mn-ea"/>
                  </a:rPr>
                  <a:t>盾</a:t>
                </a:r>
                <a:r>
                  <a:rPr lang="en-US" altLang="ja-JP" sz="1000" dirty="0">
                    <a:solidFill>
                      <a:schemeClr val="tx1"/>
                    </a:solidFill>
                    <a:latin typeface="+mn-ea"/>
                  </a:rPr>
                  <a:t>)</a:t>
                </a:r>
                <a:r>
                  <a:rPr lang="ja-JP" altLang="ja-JP" sz="1000" dirty="0">
                    <a:solidFill>
                      <a:schemeClr val="tx1"/>
                    </a:solidFill>
                    <a:latin typeface="+mn-ea"/>
                  </a:rPr>
                  <a:t>」が必須に</a:t>
                </a:r>
                <a:r>
                  <a:rPr lang="ja-JP" altLang="en-US" sz="1000" dirty="0">
                    <a:solidFill>
                      <a:schemeClr val="tx1"/>
                    </a:solidFill>
                    <a:latin typeface="+mn-ea"/>
                  </a:rPr>
                  <a:t>。</a:t>
                </a:r>
                <a:r>
                  <a:rPr lang="ja-JP" altLang="ja-JP" sz="1000" dirty="0">
                    <a:solidFill>
                      <a:schemeClr val="tx1"/>
                    </a:solidFill>
                    <a:latin typeface="+mn-ea"/>
                  </a:rPr>
                  <a:t>社内評価と保身へのプレッシャーから、システムを納得させ自分の立場を守ってくれるメーカーへの「ウェットな安心感</a:t>
                </a:r>
                <a:r>
                  <a:rPr lang="ja-JP" altLang="en-US" sz="1000" dirty="0">
                    <a:solidFill>
                      <a:schemeClr val="tx1"/>
                    </a:solidFill>
                    <a:latin typeface="+mn-ea"/>
                  </a:rPr>
                  <a:t> </a:t>
                </a:r>
                <a:r>
                  <a:rPr lang="en-US" altLang="ja-JP" sz="1000" dirty="0">
                    <a:solidFill>
                      <a:schemeClr val="tx1"/>
                    </a:solidFill>
                    <a:latin typeface="+mn-ea"/>
                  </a:rPr>
                  <a:t>(</a:t>
                </a:r>
                <a:r>
                  <a:rPr lang="ja-JP" altLang="ja-JP" sz="1000" dirty="0">
                    <a:solidFill>
                      <a:schemeClr val="tx1"/>
                    </a:solidFill>
                    <a:latin typeface="+mn-ea"/>
                  </a:rPr>
                  <a:t>信頼</a:t>
                </a:r>
                <a:r>
                  <a:rPr lang="en-US" altLang="ja-JP" sz="1000" dirty="0">
                    <a:solidFill>
                      <a:schemeClr val="tx1"/>
                    </a:solidFill>
                    <a:latin typeface="+mn-ea"/>
                  </a:rPr>
                  <a:t>)</a:t>
                </a:r>
                <a:r>
                  <a:rPr lang="ja-JP" altLang="en-US" sz="1000" dirty="0">
                    <a:solidFill>
                      <a:schemeClr val="tx1"/>
                    </a:solidFill>
                    <a:latin typeface="+mn-ea"/>
                  </a:rPr>
                  <a:t> </a:t>
                </a:r>
                <a:r>
                  <a:rPr lang="ja-JP" altLang="ja-JP" sz="1000" dirty="0">
                    <a:solidFill>
                      <a:schemeClr val="tx1"/>
                    </a:solidFill>
                    <a:latin typeface="+mn-ea"/>
                  </a:rPr>
                  <a:t>」を渇望</a:t>
                </a:r>
              </a:p>
            </p:txBody>
          </p:sp>
        </p:grpSp>
        <p:pic>
          <p:nvPicPr>
            <p:cNvPr id="114" name="グラフィックス 113" descr="コール センター 単色塗りつぶし">
              <a:extLst>
                <a:ext uri="{FF2B5EF4-FFF2-40B4-BE49-F238E27FC236}">
                  <a16:creationId xmlns:a16="http://schemas.microsoft.com/office/drawing/2014/main" id="{1240C693-F15D-8004-841D-21AC0360394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55236" y="3898576"/>
              <a:ext cx="324000" cy="324000"/>
            </a:xfrm>
            <a:prstGeom prst="rect">
              <a:avLst/>
            </a:prstGeom>
          </p:spPr>
        </p:pic>
      </p:grpSp>
      <p:grpSp>
        <p:nvGrpSpPr>
          <p:cNvPr id="3" name="グループ化 2">
            <a:extLst>
              <a:ext uri="{FF2B5EF4-FFF2-40B4-BE49-F238E27FC236}">
                <a16:creationId xmlns:a16="http://schemas.microsoft.com/office/drawing/2014/main" id="{95E5F90A-3C30-E82B-B58A-CCE8E7090033}"/>
              </a:ext>
            </a:extLst>
          </p:cNvPr>
          <p:cNvGrpSpPr/>
          <p:nvPr/>
        </p:nvGrpSpPr>
        <p:grpSpPr>
          <a:xfrm>
            <a:off x="6630718" y="3871576"/>
            <a:ext cx="5223170" cy="2441372"/>
            <a:chOff x="6630718" y="3871576"/>
            <a:chExt cx="5223170" cy="2441372"/>
          </a:xfrm>
        </p:grpSpPr>
        <p:sp>
          <p:nvSpPr>
            <p:cNvPr id="89" name="正方形/長方形 88">
              <a:extLst>
                <a:ext uri="{FF2B5EF4-FFF2-40B4-BE49-F238E27FC236}">
                  <a16:creationId xmlns:a16="http://schemas.microsoft.com/office/drawing/2014/main" id="{DDF3E598-C587-6221-9FC0-A5779BDA6C7B}"/>
                </a:ext>
              </a:extLst>
            </p:cNvPr>
            <p:cNvSpPr/>
            <p:nvPr/>
          </p:nvSpPr>
          <p:spPr>
            <a:xfrm>
              <a:off x="6630718" y="3871576"/>
              <a:ext cx="5223170" cy="378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rgbClr val="FFFFFF"/>
                  </a:solidFill>
                  <a:latin typeface="+mn-ea"/>
                  <a:cs typeface="Meiryo" pitchFamily="34" charset="-120"/>
                </a:rPr>
                <a:t>Competitor : </a:t>
              </a:r>
              <a:r>
                <a:rPr lang="ja-JP" altLang="en-US" b="1" dirty="0">
                  <a:solidFill>
                    <a:srgbClr val="FFFFFF"/>
                  </a:solidFill>
                  <a:latin typeface="+mn-ea"/>
                  <a:cs typeface="Meiryo" pitchFamily="34" charset="-120"/>
                </a:rPr>
                <a:t>競合</a:t>
              </a:r>
              <a:endParaRPr lang="en-US" altLang="ja-JP" dirty="0">
                <a:latin typeface="+mn-ea"/>
              </a:endParaRPr>
            </a:p>
          </p:txBody>
        </p:sp>
        <p:sp>
          <p:nvSpPr>
            <p:cNvPr id="92" name="正方形/長方形 91">
              <a:extLst>
                <a:ext uri="{FF2B5EF4-FFF2-40B4-BE49-F238E27FC236}">
                  <a16:creationId xmlns:a16="http://schemas.microsoft.com/office/drawing/2014/main" id="{6DD06F41-F6D0-0A26-C4DA-956E406E85C0}"/>
                </a:ext>
              </a:extLst>
            </p:cNvPr>
            <p:cNvSpPr/>
            <p:nvPr/>
          </p:nvSpPr>
          <p:spPr>
            <a:xfrm>
              <a:off x="6630718" y="4249576"/>
              <a:ext cx="5223170" cy="2063372"/>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lgn="ctr"/>
              <a:r>
                <a:rPr lang="ja-JP" altLang="ja-JP" sz="1100" b="1" dirty="0">
                  <a:solidFill>
                    <a:srgbClr val="008D2E"/>
                  </a:solidFill>
                  <a:latin typeface="+mn-ea"/>
                </a:rPr>
                <a:t>消費者</a:t>
              </a:r>
              <a:r>
                <a:rPr lang="ja-JP" altLang="en-US" sz="1100" b="1" dirty="0">
                  <a:solidFill>
                    <a:srgbClr val="008D2E"/>
                  </a:solidFill>
                  <a:latin typeface="+mn-ea"/>
                </a:rPr>
                <a:t>･</a:t>
              </a:r>
              <a:r>
                <a:rPr lang="ja-JP" altLang="ja-JP" sz="1100" b="1" dirty="0">
                  <a:solidFill>
                    <a:srgbClr val="008D2E"/>
                  </a:solidFill>
                  <a:latin typeface="+mn-ea"/>
                </a:rPr>
                <a:t>取引先変化を先取りし、環境対応×高付加価値×AIで模倣困難な優位を確立</a:t>
              </a:r>
              <a:endParaRPr lang="en-US" altLang="ja-JP" sz="1100" b="1" dirty="0">
                <a:solidFill>
                  <a:srgbClr val="008D2E"/>
                </a:solidFill>
                <a:latin typeface="+mn-ea"/>
              </a:endParaRPr>
            </a:p>
          </p:txBody>
        </p:sp>
        <p:grpSp>
          <p:nvGrpSpPr>
            <p:cNvPr id="21" name="グループ化 20">
              <a:extLst>
                <a:ext uri="{FF2B5EF4-FFF2-40B4-BE49-F238E27FC236}">
                  <a16:creationId xmlns:a16="http://schemas.microsoft.com/office/drawing/2014/main" id="{43199BFA-8F2D-3542-3029-BEFFEFEB2E59}"/>
                </a:ext>
              </a:extLst>
            </p:cNvPr>
            <p:cNvGrpSpPr/>
            <p:nvPr/>
          </p:nvGrpSpPr>
          <p:grpSpPr>
            <a:xfrm>
              <a:off x="6740657" y="4544971"/>
              <a:ext cx="5003293" cy="1700851"/>
              <a:chOff x="6740657" y="4475749"/>
              <a:chExt cx="5003293" cy="1800577"/>
            </a:xfrm>
          </p:grpSpPr>
          <p:sp>
            <p:nvSpPr>
              <p:cNvPr id="97" name="正方形/長方形 96">
                <a:extLst>
                  <a:ext uri="{FF2B5EF4-FFF2-40B4-BE49-F238E27FC236}">
                    <a16:creationId xmlns:a16="http://schemas.microsoft.com/office/drawing/2014/main" id="{E07C7EEB-319B-FC2D-4FAE-EA6F4B0C4608}"/>
                  </a:ext>
                </a:extLst>
              </p:cNvPr>
              <p:cNvSpPr/>
              <p:nvPr/>
            </p:nvSpPr>
            <p:spPr>
              <a:xfrm>
                <a:off x="6740657" y="4475749"/>
                <a:ext cx="2450138" cy="808494"/>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SCM自律同期によるコスト優位</a:t>
                </a:r>
                <a:r>
                  <a:rPr lang="en-US" altLang="ja-JP" sz="1000" b="1" dirty="0">
                    <a:solidFill>
                      <a:srgbClr val="008D2E"/>
                    </a:solidFill>
                    <a:latin typeface="+mn-ea"/>
                  </a:rPr>
                  <a:t> (</a:t>
                </a:r>
                <a:r>
                  <a:rPr lang="ja-JP" altLang="ja-JP" sz="1000" b="1" dirty="0">
                    <a:solidFill>
                      <a:srgbClr val="008D2E"/>
                    </a:solidFill>
                    <a:latin typeface="+mn-ea"/>
                  </a:rPr>
                  <a:t>P</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E</a:t>
                </a:r>
                <a:r>
                  <a:rPr lang="en-US" altLang="ja-JP" sz="1000" b="1" dirty="0">
                    <a:solidFill>
                      <a:srgbClr val="008D2E"/>
                    </a:solidFill>
                    <a:latin typeface="+mn-ea"/>
                  </a:rPr>
                  <a:t>)</a:t>
                </a:r>
              </a:p>
              <a:p>
                <a:pPr>
                  <a:buClr>
                    <a:srgbClr val="008D2E"/>
                  </a:buClr>
                </a:pPr>
                <a:r>
                  <a:rPr lang="ja-JP" altLang="ja-JP" sz="1000" dirty="0">
                    <a:solidFill>
                      <a:schemeClr val="tx1"/>
                    </a:solidFill>
                    <a:latin typeface="+mn-ea"/>
                  </a:rPr>
                  <a:t>炭素税や物流制限に対応し、需要予測〜生産</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在庫</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物流をリアルタイム同期</a:t>
                </a:r>
                <a:r>
                  <a:rPr lang="en-US" altLang="ja-JP" sz="1000" dirty="0">
                    <a:solidFill>
                      <a:schemeClr val="tx1"/>
                    </a:solidFill>
                    <a:latin typeface="+mn-ea"/>
                  </a:rPr>
                  <a:t> (</a:t>
                </a:r>
                <a:r>
                  <a:rPr lang="ja-JP" altLang="ja-JP" sz="1000" dirty="0">
                    <a:solidFill>
                      <a:schemeClr val="tx1"/>
                    </a:solidFill>
                    <a:latin typeface="+mn-ea"/>
                  </a:rPr>
                  <a:t>自律型SCM</a:t>
                </a:r>
                <a:r>
                  <a:rPr lang="en-US" altLang="ja-JP" sz="1000" dirty="0">
                    <a:solidFill>
                      <a:schemeClr val="tx1"/>
                    </a:solidFill>
                    <a:latin typeface="+mn-ea"/>
                  </a:rPr>
                  <a:t>)</a:t>
                </a:r>
                <a:r>
                  <a:rPr lang="ja-JP" altLang="en-US" sz="1000" dirty="0">
                    <a:solidFill>
                      <a:schemeClr val="tx1"/>
                    </a:solidFill>
                    <a:latin typeface="+mn-ea"/>
                  </a:rPr>
                  <a:t>。</a:t>
                </a:r>
                <a:r>
                  <a:rPr lang="ja-JP" altLang="ja-JP" sz="1000" dirty="0">
                    <a:solidFill>
                      <a:schemeClr val="tx1"/>
                    </a:solidFill>
                    <a:latin typeface="+mn-ea"/>
                  </a:rPr>
                  <a:t>小売の自動発注に選ばれる「低欠品</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低コスト」を死守</a:t>
                </a:r>
              </a:p>
            </p:txBody>
          </p:sp>
          <p:sp>
            <p:nvSpPr>
              <p:cNvPr id="99" name="正方形/長方形 98">
                <a:extLst>
                  <a:ext uri="{FF2B5EF4-FFF2-40B4-BE49-F238E27FC236}">
                    <a16:creationId xmlns:a16="http://schemas.microsoft.com/office/drawing/2014/main" id="{55FBC544-FFD7-0776-0702-5235F629E27A}"/>
                  </a:ext>
                </a:extLst>
              </p:cNvPr>
              <p:cNvSpPr/>
              <p:nvPr/>
            </p:nvSpPr>
            <p:spPr>
              <a:xfrm>
                <a:off x="9293812" y="4475749"/>
                <a:ext cx="2450138" cy="808494"/>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機械アルゴリズム向け属性データの完備</a:t>
                </a:r>
                <a:r>
                  <a:rPr lang="en-US" altLang="ja-JP" sz="1000" b="1" dirty="0">
                    <a:solidFill>
                      <a:srgbClr val="008D2E"/>
                    </a:solidFill>
                    <a:latin typeface="+mn-ea"/>
                  </a:rPr>
                  <a:t> (</a:t>
                </a:r>
                <a:r>
                  <a:rPr lang="ja-JP" altLang="ja-JP" sz="1000" b="1" dirty="0">
                    <a:solidFill>
                      <a:srgbClr val="008D2E"/>
                    </a:solidFill>
                    <a:latin typeface="+mn-ea"/>
                  </a:rPr>
                  <a:t>T</a:t>
                </a:r>
                <a:r>
                  <a:rPr lang="en-US" altLang="ja-JP" sz="1000" b="1" dirty="0">
                    <a:solidFill>
                      <a:srgbClr val="008D2E"/>
                    </a:solidFill>
                    <a:latin typeface="+mn-ea"/>
                  </a:rPr>
                  <a:t>)</a:t>
                </a:r>
              </a:p>
              <a:p>
                <a:pPr>
                  <a:buClr>
                    <a:srgbClr val="008D2E"/>
                  </a:buClr>
                </a:pPr>
                <a:r>
                  <a:rPr lang="ja-JP" altLang="ja-JP" sz="1000" dirty="0">
                    <a:solidFill>
                      <a:schemeClr val="tx1"/>
                    </a:solidFill>
                    <a:latin typeface="+mn-ea"/>
                  </a:rPr>
                  <a:t>消費者の自動補充や小売の自動棚割りに適応</a:t>
                </a:r>
                <a:r>
                  <a:rPr lang="ja-JP" altLang="en-US" sz="1000" dirty="0">
                    <a:solidFill>
                      <a:schemeClr val="tx1"/>
                    </a:solidFill>
                    <a:latin typeface="+mn-ea"/>
                  </a:rPr>
                  <a:t>。</a:t>
                </a:r>
                <a:r>
                  <a:rPr lang="ja-JP" altLang="ja-JP" sz="1000" dirty="0">
                    <a:solidFill>
                      <a:schemeClr val="tx1"/>
                    </a:solidFill>
                    <a:latin typeface="+mn-ea"/>
                  </a:rPr>
                  <a:t>仕様</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成分</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環境スコアを機械が解釈できる「構造化属性データ</a:t>
                </a:r>
                <a:r>
                  <a:rPr lang="en-US" altLang="ja-JP" sz="1000" dirty="0">
                    <a:solidFill>
                      <a:schemeClr val="tx1"/>
                    </a:solidFill>
                    <a:latin typeface="+mn-ea"/>
                  </a:rPr>
                  <a:t> (</a:t>
                </a:r>
                <a:r>
                  <a:rPr lang="ja-JP" altLang="ja-JP" sz="1000" dirty="0">
                    <a:solidFill>
                      <a:schemeClr val="tx1"/>
                    </a:solidFill>
                    <a:latin typeface="+mn-ea"/>
                  </a:rPr>
                  <a:t>API等</a:t>
                </a:r>
                <a:r>
                  <a:rPr lang="en-US" altLang="ja-JP" sz="1000" dirty="0">
                    <a:solidFill>
                      <a:schemeClr val="tx1"/>
                    </a:solidFill>
                    <a:latin typeface="+mn-ea"/>
                  </a:rPr>
                  <a:t>) </a:t>
                </a:r>
                <a:r>
                  <a:rPr lang="ja-JP" altLang="ja-JP" sz="1000" dirty="0">
                    <a:solidFill>
                      <a:schemeClr val="tx1"/>
                    </a:solidFill>
                    <a:latin typeface="+mn-ea"/>
                  </a:rPr>
                  <a:t>」として完全開放し、自動足切りを回避</a:t>
                </a:r>
              </a:p>
            </p:txBody>
          </p:sp>
          <p:sp>
            <p:nvSpPr>
              <p:cNvPr id="102" name="正方形/長方形 101">
                <a:extLst>
                  <a:ext uri="{FF2B5EF4-FFF2-40B4-BE49-F238E27FC236}">
                    <a16:creationId xmlns:a16="http://schemas.microsoft.com/office/drawing/2014/main" id="{D8249405-D2D8-2801-CF52-DF5668662CE7}"/>
                  </a:ext>
                </a:extLst>
              </p:cNvPr>
              <p:cNvSpPr/>
              <p:nvPr/>
            </p:nvSpPr>
            <p:spPr>
              <a:xfrm>
                <a:off x="6740657" y="5366883"/>
                <a:ext cx="2450138" cy="90944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en-US" sz="800" b="1" dirty="0">
                    <a:solidFill>
                      <a:srgbClr val="008D2E"/>
                    </a:solidFill>
                    <a:latin typeface="+mn-ea"/>
                  </a:rPr>
                  <a:t>小売依存を脱する「独自データ」の直接蓄積 </a:t>
                </a:r>
                <a:br>
                  <a:rPr lang="en-US" altLang="ja-JP" sz="800" b="1" dirty="0">
                    <a:solidFill>
                      <a:srgbClr val="008D2E"/>
                    </a:solidFill>
                    <a:latin typeface="+mn-ea"/>
                  </a:rPr>
                </a:br>
                <a:r>
                  <a:rPr lang="en-US" altLang="ja-JP" sz="800" b="1" dirty="0">
                    <a:solidFill>
                      <a:srgbClr val="008D2E"/>
                    </a:solidFill>
                    <a:latin typeface="+mn-ea"/>
                  </a:rPr>
                  <a:t>(P </a:t>
                </a:r>
                <a:r>
                  <a:rPr lang="ja-JP" altLang="en-US" sz="800" b="1" dirty="0">
                    <a:solidFill>
                      <a:srgbClr val="008D2E"/>
                    </a:solidFill>
                    <a:latin typeface="+mn-ea"/>
                  </a:rPr>
                  <a:t>･ </a:t>
                </a:r>
                <a:r>
                  <a:rPr lang="en-US" altLang="ja-JP" sz="800" b="1" dirty="0">
                    <a:solidFill>
                      <a:srgbClr val="008D2E"/>
                    </a:solidFill>
                    <a:latin typeface="+mn-ea"/>
                  </a:rPr>
                  <a:t>T</a:t>
                </a:r>
                <a:r>
                  <a:rPr lang="ja-JP" altLang="en-US" sz="800" b="1" dirty="0">
                    <a:solidFill>
                      <a:srgbClr val="008D2E"/>
                    </a:solidFill>
                    <a:latin typeface="+mn-ea"/>
                  </a:rPr>
                  <a:t>の影響</a:t>
                </a:r>
                <a:r>
                  <a:rPr lang="en-US" altLang="ja-JP" sz="800" b="1" dirty="0">
                    <a:solidFill>
                      <a:srgbClr val="008D2E"/>
                    </a:solidFill>
                    <a:latin typeface="+mn-ea"/>
                  </a:rPr>
                  <a:t>)</a:t>
                </a:r>
              </a:p>
              <a:p>
                <a:pPr>
                  <a:buClr>
                    <a:srgbClr val="008D2E"/>
                  </a:buClr>
                </a:pPr>
                <a:r>
                  <a:rPr lang="en-US" altLang="ja-JP" sz="750" dirty="0">
                    <a:solidFill>
                      <a:schemeClr val="tx1"/>
                    </a:solidFill>
                    <a:latin typeface="+mn-ea"/>
                  </a:rPr>
                  <a:t>Cookie</a:t>
                </a:r>
                <a:r>
                  <a:rPr lang="ja-JP" altLang="en-US" sz="750" dirty="0">
                    <a:solidFill>
                      <a:schemeClr val="tx1"/>
                    </a:solidFill>
                    <a:latin typeface="+mn-ea"/>
                  </a:rPr>
                  <a:t>規制や</a:t>
                </a:r>
                <a:r>
                  <a:rPr lang="en-US" altLang="ja-JP" sz="750" dirty="0">
                    <a:solidFill>
                      <a:schemeClr val="tx1"/>
                    </a:solidFill>
                    <a:latin typeface="+mn-ea"/>
                  </a:rPr>
                  <a:t>AI</a:t>
                </a:r>
                <a:r>
                  <a:rPr lang="ja-JP" altLang="en-US" sz="750" dirty="0">
                    <a:solidFill>
                      <a:schemeClr val="tx1"/>
                    </a:solidFill>
                    <a:latin typeface="+mn-ea"/>
                  </a:rPr>
                  <a:t>検索による情報遮断を見据え、自社</a:t>
                </a:r>
                <a:br>
                  <a:rPr lang="en-US" altLang="ja-JP" sz="750" dirty="0">
                    <a:solidFill>
                      <a:schemeClr val="tx1"/>
                    </a:solidFill>
                    <a:latin typeface="+mn-ea"/>
                  </a:rPr>
                </a:br>
                <a:r>
                  <a:rPr lang="ja-JP" altLang="en-US" sz="750" dirty="0">
                    <a:solidFill>
                      <a:schemeClr val="tx1"/>
                    </a:solidFill>
                    <a:latin typeface="+mn-ea"/>
                  </a:rPr>
                  <a:t>コミュニティや直販 </a:t>
                </a:r>
                <a:r>
                  <a:rPr lang="en-US" altLang="ja-JP" sz="750" dirty="0">
                    <a:solidFill>
                      <a:schemeClr val="tx1"/>
                    </a:solidFill>
                    <a:latin typeface="+mn-ea"/>
                  </a:rPr>
                  <a:t>(My Kao</a:t>
                </a:r>
                <a:r>
                  <a:rPr lang="ja-JP" altLang="en-US" sz="750" dirty="0">
                    <a:solidFill>
                      <a:schemeClr val="tx1"/>
                    </a:solidFill>
                    <a:latin typeface="+mn-ea"/>
                  </a:rPr>
                  <a:t>等</a:t>
                </a:r>
                <a:r>
                  <a:rPr lang="en-US" altLang="ja-JP" sz="750" dirty="0">
                    <a:solidFill>
                      <a:schemeClr val="tx1"/>
                    </a:solidFill>
                    <a:latin typeface="+mn-ea"/>
                  </a:rPr>
                  <a:t>) </a:t>
                </a:r>
                <a:r>
                  <a:rPr lang="ja-JP" altLang="en-US" sz="750" dirty="0">
                    <a:solidFill>
                      <a:schemeClr val="tx1"/>
                    </a:solidFill>
                    <a:latin typeface="+mn-ea"/>
                  </a:rPr>
                  <a:t>を確立。</a:t>
                </a:r>
                <a:br>
                  <a:rPr lang="en-US" altLang="ja-JP" sz="750" dirty="0">
                    <a:solidFill>
                      <a:schemeClr val="tx1"/>
                    </a:solidFill>
                    <a:latin typeface="+mn-ea"/>
                  </a:rPr>
                </a:br>
                <a:r>
                  <a:rPr lang="ja-JP" altLang="en-US" sz="750" dirty="0">
                    <a:solidFill>
                      <a:schemeClr val="tx1"/>
                    </a:solidFill>
                    <a:latin typeface="+mn-ea"/>
                  </a:rPr>
                  <a:t>生活者から「ゼロパーティデータ」を直接取得 ･ </a:t>
                </a:r>
                <a:br>
                  <a:rPr lang="en-US" altLang="ja-JP" sz="750" dirty="0">
                    <a:solidFill>
                      <a:schemeClr val="tx1"/>
                    </a:solidFill>
                    <a:latin typeface="+mn-ea"/>
                  </a:rPr>
                </a:br>
                <a:r>
                  <a:rPr lang="ja-JP" altLang="en-US" sz="750" dirty="0">
                    <a:solidFill>
                      <a:schemeClr val="tx1"/>
                    </a:solidFill>
                    <a:latin typeface="+mn-ea"/>
                  </a:rPr>
                  <a:t>蓄積し小売に主導権を握らせない情報取得方法を構築</a:t>
                </a:r>
                <a:endParaRPr lang="en-US" altLang="ja-JP" sz="750" dirty="0">
                  <a:solidFill>
                    <a:schemeClr val="tx1"/>
                  </a:solidFill>
                  <a:latin typeface="+mn-ea"/>
                </a:endParaRPr>
              </a:p>
            </p:txBody>
          </p:sp>
          <p:sp>
            <p:nvSpPr>
              <p:cNvPr id="103" name="正方形/長方形 102">
                <a:extLst>
                  <a:ext uri="{FF2B5EF4-FFF2-40B4-BE49-F238E27FC236}">
                    <a16:creationId xmlns:a16="http://schemas.microsoft.com/office/drawing/2014/main" id="{4F3FC5EC-D380-E1A1-22F4-D8C20BCB5F0F}"/>
                  </a:ext>
                </a:extLst>
              </p:cNvPr>
              <p:cNvSpPr/>
              <p:nvPr/>
            </p:nvSpPr>
            <p:spPr>
              <a:xfrm>
                <a:off x="9293812" y="5366883"/>
                <a:ext cx="2450138" cy="90944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営業の「バイヤー</a:t>
                </a:r>
                <a:r>
                  <a:rPr lang="ja-JP" altLang="en-US" sz="1000" b="1" dirty="0">
                    <a:solidFill>
                      <a:srgbClr val="008D2E"/>
                    </a:solidFill>
                    <a:latin typeface="+mn-ea"/>
                  </a:rPr>
                  <a:t>向け</a:t>
                </a:r>
                <a:r>
                  <a:rPr lang="ja-JP" altLang="ja-JP" sz="1000" b="1" dirty="0">
                    <a:solidFill>
                      <a:srgbClr val="008D2E"/>
                    </a:solidFill>
                    <a:latin typeface="+mn-ea"/>
                  </a:rPr>
                  <a:t>組織戦」へのシフト</a:t>
                </a:r>
                <a:r>
                  <a:rPr lang="en-US" altLang="ja-JP" sz="1000" b="1" dirty="0">
                    <a:solidFill>
                      <a:srgbClr val="008D2E"/>
                    </a:solidFill>
                    <a:latin typeface="+mn-ea"/>
                  </a:rPr>
                  <a:t> (</a:t>
                </a:r>
                <a:r>
                  <a:rPr lang="ja-JP" altLang="ja-JP" sz="1000" b="1" dirty="0">
                    <a:solidFill>
                      <a:srgbClr val="008D2E"/>
                    </a:solidFill>
                    <a:latin typeface="+mn-ea"/>
                  </a:rPr>
                  <a:t>T</a:t>
                </a:r>
                <a:r>
                  <a:rPr lang="en-US" altLang="ja-JP" sz="1000" b="1" dirty="0">
                    <a:solidFill>
                      <a:srgbClr val="008D2E"/>
                    </a:solidFill>
                    <a:latin typeface="+mn-ea"/>
                  </a:rPr>
                  <a:t>)</a:t>
                </a:r>
              </a:p>
              <a:p>
                <a:pPr>
                  <a:buClr>
                    <a:srgbClr val="008D2E"/>
                  </a:buClr>
                </a:pPr>
                <a:r>
                  <a:rPr lang="ja-JP" altLang="ja-JP" sz="1000" dirty="0">
                    <a:solidFill>
                      <a:schemeClr val="tx1"/>
                    </a:solidFill>
                    <a:latin typeface="+mn-ea"/>
                  </a:rPr>
                  <a:t>生成AI等で事務作業を「ゼロ化」し人を解放</a:t>
                </a:r>
                <a:r>
                  <a:rPr lang="ja-JP" altLang="en-US" sz="1000" dirty="0">
                    <a:solidFill>
                      <a:schemeClr val="tx1"/>
                    </a:solidFill>
                    <a:latin typeface="+mn-ea"/>
                  </a:rPr>
                  <a:t>。</a:t>
                </a:r>
                <a:endParaRPr lang="en-US" altLang="ja-JP" sz="1000" dirty="0">
                  <a:solidFill>
                    <a:schemeClr val="tx1"/>
                  </a:solidFill>
                  <a:latin typeface="+mn-ea"/>
                </a:endParaRPr>
              </a:p>
              <a:p>
                <a:pPr>
                  <a:buClr>
                    <a:srgbClr val="008D2E"/>
                  </a:buClr>
                </a:pPr>
                <a:r>
                  <a:rPr lang="ja-JP" altLang="ja-JP" sz="1000" dirty="0">
                    <a:solidFill>
                      <a:schemeClr val="tx1"/>
                    </a:solidFill>
                    <a:latin typeface="+mn-ea"/>
                  </a:rPr>
                  <a:t>保身に悩むバイヤーの社内説明データを先回り構築するJBPへリソースを集中</a:t>
                </a:r>
                <a:r>
                  <a:rPr lang="ja-JP" altLang="en-US" sz="1000" dirty="0">
                    <a:solidFill>
                      <a:schemeClr val="tx1"/>
                    </a:solidFill>
                    <a:latin typeface="+mn-ea"/>
                  </a:rPr>
                  <a:t>。</a:t>
                </a:r>
                <a:r>
                  <a:rPr lang="ja-JP" altLang="ja-JP" sz="1000" dirty="0">
                    <a:solidFill>
                      <a:schemeClr val="tx1"/>
                    </a:solidFill>
                    <a:latin typeface="+mn-ea"/>
                  </a:rPr>
                  <a:t>1対1から「組織対組織」の体制へ標準化</a:t>
                </a:r>
              </a:p>
            </p:txBody>
          </p:sp>
        </p:grpSp>
        <p:pic>
          <p:nvPicPr>
            <p:cNvPr id="120" name="グラフィックス 119" descr="都市 単色塗りつぶし">
              <a:extLst>
                <a:ext uri="{FF2B5EF4-FFF2-40B4-BE49-F238E27FC236}">
                  <a16:creationId xmlns:a16="http://schemas.microsoft.com/office/drawing/2014/main" id="{D33B1EAB-8B37-B890-1813-474438F6845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69094" y="3898576"/>
              <a:ext cx="324000" cy="324000"/>
            </a:xfrm>
            <a:prstGeom prst="rect">
              <a:avLst/>
            </a:prstGeom>
          </p:spPr>
        </p:pic>
      </p:grpSp>
      <p:sp>
        <p:nvSpPr>
          <p:cNvPr id="6" name="テキスト プレースホルダー 2">
            <a:extLst>
              <a:ext uri="{FF2B5EF4-FFF2-40B4-BE49-F238E27FC236}">
                <a16:creationId xmlns:a16="http://schemas.microsoft.com/office/drawing/2014/main" id="{2A44B7A3-76D4-AD25-E7E6-E19FAF640202}"/>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ja-JP" sz="1800" dirty="0">
                <a:latin typeface="+mn-ea"/>
                <a:ea typeface="+mn-ea"/>
              </a:rPr>
              <a:t>消費者のAI購入や小売の環境</a:t>
            </a:r>
            <a:r>
              <a:rPr lang="en-US" altLang="ja-JP" sz="1800" dirty="0">
                <a:latin typeface="+mn-ea"/>
                <a:ea typeface="+mn-ea"/>
              </a:rPr>
              <a:t> </a:t>
            </a:r>
            <a:r>
              <a:rPr lang="ja-JP" altLang="en-US" sz="1800" dirty="0">
                <a:latin typeface="+mn-ea"/>
                <a:ea typeface="+mn-ea"/>
              </a:rPr>
              <a:t>･ </a:t>
            </a:r>
            <a:r>
              <a:rPr lang="ja-JP" altLang="ja-JP" sz="1800" dirty="0">
                <a:latin typeface="+mn-ea"/>
                <a:ea typeface="+mn-ea"/>
              </a:rPr>
              <a:t>データ監査に対し、競合もこれらを見据えた先手を打ち始めて</a:t>
            </a:r>
            <a:r>
              <a:rPr lang="ja-JP" altLang="en-US" sz="1800" dirty="0">
                <a:latin typeface="+mn-ea"/>
                <a:ea typeface="+mn-ea"/>
              </a:rPr>
              <a:t>おり</a:t>
            </a:r>
            <a:r>
              <a:rPr lang="ja-JP" altLang="ja-JP" sz="1800" dirty="0">
                <a:latin typeface="+mn-ea"/>
                <a:ea typeface="+mn-ea"/>
              </a:rPr>
              <a:t>ライオンにとっても、従来の営業</a:t>
            </a:r>
            <a:r>
              <a:rPr lang="en-US" altLang="ja-JP" sz="1800" dirty="0">
                <a:latin typeface="+mn-ea"/>
                <a:ea typeface="+mn-ea"/>
              </a:rPr>
              <a:t> </a:t>
            </a:r>
            <a:r>
              <a:rPr lang="ja-JP" altLang="en-US" sz="1800" dirty="0">
                <a:latin typeface="+mn-ea"/>
                <a:ea typeface="+mn-ea"/>
              </a:rPr>
              <a:t>･ </a:t>
            </a:r>
            <a:r>
              <a:rPr lang="ja-JP" altLang="ja-JP" sz="1800" dirty="0">
                <a:latin typeface="+mn-ea"/>
                <a:ea typeface="+mn-ea"/>
              </a:rPr>
              <a:t>マーケティング体制からの脱却は急務</a:t>
            </a:r>
            <a:endParaRPr lang="ja-JP" altLang="en-US" sz="1800" dirty="0">
              <a:latin typeface="+mn-ea"/>
              <a:ea typeface="+mn-ea"/>
            </a:endParaRPr>
          </a:p>
        </p:txBody>
      </p:sp>
    </p:spTree>
    <p:extLst>
      <p:ext uri="{BB962C8B-B14F-4D97-AF65-F5344CB8AC3E}">
        <p14:creationId xmlns:p14="http://schemas.microsoft.com/office/powerpoint/2010/main" val="28496751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4702E-CAD9-BABA-0354-7FA09EFCDC6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310A14D-C505-FC2A-0EB5-453D0C84EE42}"/>
              </a:ext>
            </a:extLst>
          </p:cNvPr>
          <p:cNvSpPr>
            <a:spLocks noGrp="1"/>
          </p:cNvSpPr>
          <p:nvPr>
            <p:ph type="title"/>
          </p:nvPr>
        </p:nvSpPr>
        <p:spPr>
          <a:xfrm>
            <a:off x="334963" y="1"/>
            <a:ext cx="11522075" cy="914400"/>
          </a:xfrm>
        </p:spPr>
        <p:txBody>
          <a:bodyPr/>
          <a:lstStyle/>
          <a:p>
            <a:r>
              <a:rPr lang="ja-JP" altLang="en-US" dirty="0">
                <a:latin typeface="+mn-ea"/>
              </a:rPr>
              <a:t>自社の強み・弱み・機会・脅威（SWOT）</a:t>
            </a:r>
            <a:endParaRPr kumimoji="1" lang="ja-JP" altLang="en-US" dirty="0">
              <a:latin typeface="+mn-ea"/>
              <a:ea typeface="+mn-ea"/>
            </a:endParaRPr>
          </a:p>
        </p:txBody>
      </p:sp>
      <p:grpSp>
        <p:nvGrpSpPr>
          <p:cNvPr id="17" name="グループ化 16">
            <a:extLst>
              <a:ext uri="{FF2B5EF4-FFF2-40B4-BE49-F238E27FC236}">
                <a16:creationId xmlns:a16="http://schemas.microsoft.com/office/drawing/2014/main" id="{F6675D07-3353-91E0-0FD9-78B4EE43EE13}"/>
              </a:ext>
            </a:extLst>
          </p:cNvPr>
          <p:cNvGrpSpPr/>
          <p:nvPr/>
        </p:nvGrpSpPr>
        <p:grpSpPr>
          <a:xfrm>
            <a:off x="334962" y="1628774"/>
            <a:ext cx="11522075" cy="1279520"/>
            <a:chOff x="334962" y="1628774"/>
            <a:chExt cx="11522075" cy="1279520"/>
          </a:xfrm>
        </p:grpSpPr>
        <p:sp>
          <p:nvSpPr>
            <p:cNvPr id="13" name="正方形/長方形 12">
              <a:extLst>
                <a:ext uri="{FF2B5EF4-FFF2-40B4-BE49-F238E27FC236}">
                  <a16:creationId xmlns:a16="http://schemas.microsoft.com/office/drawing/2014/main" id="{00D8072C-F526-0B7E-4B71-29C3A734E6B9}"/>
                </a:ext>
              </a:extLst>
            </p:cNvPr>
            <p:cNvSpPr/>
            <p:nvPr/>
          </p:nvSpPr>
          <p:spPr>
            <a:xfrm>
              <a:off x="1949834" y="1628774"/>
              <a:ext cx="2424359" cy="1279520"/>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rgbClr val="008D2E"/>
                  </a:solidFill>
                  <a:latin typeface="+mn-ea"/>
                </a:rPr>
                <a:t>オーラルケア市場の圧倒的シェアと</a:t>
              </a:r>
              <a:br>
                <a:rPr lang="en-US" altLang="ja-JP" sz="1200" b="1" dirty="0">
                  <a:solidFill>
                    <a:srgbClr val="008D2E"/>
                  </a:solidFill>
                  <a:latin typeface="+mn-ea"/>
                </a:rPr>
              </a:br>
              <a:r>
                <a:rPr lang="ja-JP" altLang="en-US" sz="1200" b="1" dirty="0">
                  <a:solidFill>
                    <a:srgbClr val="008D2E"/>
                  </a:solidFill>
                  <a:latin typeface="+mn-ea"/>
                </a:rPr>
                <a:t>「制度 ･ 職能ネットワーク」</a:t>
              </a:r>
              <a:endParaRPr lang="en-US" altLang="ja-JP" sz="1200" b="1" dirty="0">
                <a:solidFill>
                  <a:srgbClr val="008D2E"/>
                </a:solidFill>
                <a:latin typeface="+mn-ea"/>
              </a:endParaRPr>
            </a:p>
            <a:p>
              <a:pPr marL="87313" indent="-87313">
                <a:spcAft>
                  <a:spcPts val="200"/>
                </a:spcAft>
                <a:buClr>
                  <a:srgbClr val="008D2E"/>
                </a:buClr>
                <a:buFont typeface="Arial" panose="020B0604020202020204" pitchFamily="34" charset="0"/>
                <a:buChar char="•"/>
              </a:pPr>
              <a:r>
                <a:rPr lang="ja-JP" altLang="en-US" sz="1000" dirty="0">
                  <a:solidFill>
                    <a:schemeClr val="tx1"/>
                  </a:solidFill>
                  <a:latin typeface="+mn-ea"/>
                </a:rPr>
                <a:t>ハミガキ ･ ハブラシ国内トップシェア</a:t>
              </a:r>
              <a:endParaRPr lang="en-US" altLang="ja-JP" sz="1000" dirty="0">
                <a:solidFill>
                  <a:schemeClr val="tx1"/>
                </a:solidFill>
                <a:latin typeface="+mn-ea"/>
              </a:endParaRPr>
            </a:p>
            <a:p>
              <a:pPr marL="87313" indent="-87313">
                <a:spcAft>
                  <a:spcPts val="200"/>
                </a:spcAft>
                <a:buClr>
                  <a:srgbClr val="008D2E"/>
                </a:buClr>
                <a:buFont typeface="Arial" panose="020B0604020202020204" pitchFamily="34" charset="0"/>
                <a:buChar char="•"/>
              </a:pPr>
              <a:r>
                <a:rPr lang="ja-JP" altLang="en-US" sz="1000" dirty="0">
                  <a:solidFill>
                    <a:schemeClr val="tx1"/>
                  </a:solidFill>
                  <a:latin typeface="+mn-ea"/>
                </a:rPr>
                <a:t>歯科医師会、歯科医院、学校保健 </a:t>
              </a:r>
              <a:r>
                <a:rPr lang="en-US" altLang="ja-JP" sz="1000" dirty="0">
                  <a:solidFill>
                    <a:schemeClr val="tx1"/>
                  </a:solidFill>
                  <a:latin typeface="+mn-ea"/>
                </a:rPr>
                <a:t> (</a:t>
              </a:r>
              <a:r>
                <a:rPr lang="ja-JP" altLang="en-US" sz="1000" dirty="0">
                  <a:solidFill>
                    <a:schemeClr val="tx1"/>
                  </a:solidFill>
                  <a:latin typeface="+mn-ea"/>
                </a:rPr>
                <a:t>小学生歯みがき大会等</a:t>
              </a:r>
              <a:r>
                <a:rPr lang="en-US" altLang="ja-JP" sz="1000" dirty="0">
                  <a:solidFill>
                    <a:schemeClr val="tx1"/>
                  </a:solidFill>
                  <a:latin typeface="+mn-ea"/>
                </a:rPr>
                <a:t>) </a:t>
              </a:r>
              <a:r>
                <a:rPr lang="ja-JP" altLang="en-US" sz="1000" dirty="0">
                  <a:solidFill>
                    <a:schemeClr val="tx1"/>
                  </a:solidFill>
                  <a:latin typeface="+mn-ea"/>
                </a:rPr>
                <a:t>と構築した「啓発 ･ 教育インフラ」を公式掌握</a:t>
              </a:r>
              <a:endParaRPr kumimoji="1" lang="ja-JP" altLang="en-US" sz="1000" dirty="0">
                <a:solidFill>
                  <a:schemeClr val="tx1"/>
                </a:solidFill>
                <a:latin typeface="+mn-ea"/>
              </a:endParaRPr>
            </a:p>
          </p:txBody>
        </p:sp>
        <p:sp>
          <p:nvSpPr>
            <p:cNvPr id="33" name="正方形/長方形 32">
              <a:extLst>
                <a:ext uri="{FF2B5EF4-FFF2-40B4-BE49-F238E27FC236}">
                  <a16:creationId xmlns:a16="http://schemas.microsoft.com/office/drawing/2014/main" id="{23948BB1-A85B-0D3B-0C1A-4C3B6DA04871}"/>
                </a:ext>
              </a:extLst>
            </p:cNvPr>
            <p:cNvSpPr/>
            <p:nvPr/>
          </p:nvSpPr>
          <p:spPr>
            <a:xfrm>
              <a:off x="1949834" y="1628774"/>
              <a:ext cx="38281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S1</a:t>
              </a:r>
              <a:endParaRPr kumimoji="1" lang="ja-JP" altLang="en-US" sz="900" dirty="0">
                <a:solidFill>
                  <a:schemeClr val="bg1"/>
                </a:solidFill>
                <a:latin typeface="+mn-ea"/>
              </a:endParaRPr>
            </a:p>
          </p:txBody>
        </p:sp>
        <p:pic>
          <p:nvPicPr>
            <p:cNvPr id="38" name="グラフィックス 37" descr="ユーザー ネットワーク 単色塗りつぶし">
              <a:extLst>
                <a:ext uri="{FF2B5EF4-FFF2-40B4-BE49-F238E27FC236}">
                  <a16:creationId xmlns:a16="http://schemas.microsoft.com/office/drawing/2014/main" id="{8E362467-7E49-A4C7-D98F-D272E8681EF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014193" y="2548294"/>
              <a:ext cx="360000" cy="360000"/>
            </a:xfrm>
            <a:prstGeom prst="rect">
              <a:avLst/>
            </a:prstGeom>
          </p:spPr>
        </p:pic>
        <p:sp>
          <p:nvSpPr>
            <p:cNvPr id="18" name="正方形/長方形 17">
              <a:extLst>
                <a:ext uri="{FF2B5EF4-FFF2-40B4-BE49-F238E27FC236}">
                  <a16:creationId xmlns:a16="http://schemas.microsoft.com/office/drawing/2014/main" id="{9701455C-0D20-E133-211E-105FA035C501}"/>
                </a:ext>
              </a:extLst>
            </p:cNvPr>
            <p:cNvSpPr/>
            <p:nvPr/>
          </p:nvSpPr>
          <p:spPr>
            <a:xfrm>
              <a:off x="4444115" y="1628774"/>
              <a:ext cx="2424359" cy="1279520"/>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rgbClr val="008D2E"/>
                  </a:solidFill>
                  <a:latin typeface="+mn-ea"/>
                </a:rPr>
                <a:t>ハンドソープ </a:t>
              </a:r>
              <a:r>
                <a:rPr lang="en-US" altLang="ja-JP" sz="1200" b="1" dirty="0">
                  <a:solidFill>
                    <a:srgbClr val="008D2E"/>
                  </a:solidFill>
                  <a:latin typeface="+mn-ea"/>
                </a:rPr>
                <a:t>(</a:t>
              </a:r>
              <a:r>
                <a:rPr lang="ja-JP" altLang="en-US" sz="1200" b="1" dirty="0">
                  <a:solidFill>
                    <a:srgbClr val="008D2E"/>
                  </a:solidFill>
                  <a:latin typeface="+mn-ea"/>
                </a:rPr>
                <a:t>キレイキレイ</a:t>
              </a:r>
              <a:r>
                <a:rPr lang="en-US" altLang="ja-JP" sz="1200" b="1" dirty="0">
                  <a:solidFill>
                    <a:srgbClr val="008D2E"/>
                  </a:solidFill>
                  <a:latin typeface="+mn-ea"/>
                </a:rPr>
                <a:t>)</a:t>
              </a:r>
              <a:r>
                <a:rPr lang="ja-JP" altLang="en-US" sz="1200" b="1" dirty="0">
                  <a:solidFill>
                    <a:srgbClr val="008D2E"/>
                  </a:solidFill>
                  <a:latin typeface="+mn-ea"/>
                </a:rPr>
                <a:t> の圧倒的</a:t>
              </a:r>
              <a:r>
                <a:rPr lang="en-US" altLang="ja-JP" sz="1200" b="1" dirty="0">
                  <a:solidFill>
                    <a:srgbClr val="008D2E"/>
                  </a:solidFill>
                  <a:latin typeface="+mn-ea"/>
                </a:rPr>
                <a:t>No.1</a:t>
              </a:r>
              <a:r>
                <a:rPr lang="ja-JP" altLang="en-US" sz="1200" b="1" dirty="0">
                  <a:solidFill>
                    <a:srgbClr val="008D2E"/>
                  </a:solidFill>
                  <a:latin typeface="+mn-ea"/>
                </a:rPr>
                <a:t>シェアと「社会衛生インフラ」</a:t>
              </a:r>
              <a:endParaRPr lang="en-US" altLang="ja-JP" sz="1200" b="1" dirty="0">
                <a:solidFill>
                  <a:srgbClr val="008D2E"/>
                </a:solidFill>
                <a:latin typeface="+mn-ea"/>
              </a:endParaRPr>
            </a:p>
            <a:p>
              <a:pPr marL="88900" indent="-88900">
                <a:spcAft>
                  <a:spcPts val="200"/>
                </a:spcAft>
                <a:buClr>
                  <a:srgbClr val="008D2E"/>
                </a:buClr>
                <a:buFont typeface="Arial" panose="020B0604020202020204" pitchFamily="34" charset="0"/>
                <a:buChar char="•"/>
              </a:pPr>
              <a:r>
                <a:rPr lang="ja-JP" altLang="en-US" sz="1000" dirty="0">
                  <a:solidFill>
                    <a:schemeClr val="tx1"/>
                  </a:solidFill>
                  <a:latin typeface="+mn-ea"/>
                </a:rPr>
                <a:t>国内</a:t>
              </a:r>
              <a:r>
                <a:rPr lang="en-US" altLang="ja-JP" sz="1000" dirty="0">
                  <a:solidFill>
                    <a:schemeClr val="tx1"/>
                  </a:solidFill>
                  <a:latin typeface="+mn-ea"/>
                </a:rPr>
                <a:t>20</a:t>
              </a:r>
              <a:r>
                <a:rPr lang="ja-JP" altLang="en-US" sz="1000" dirty="0">
                  <a:solidFill>
                    <a:schemeClr val="tx1"/>
                  </a:solidFill>
                  <a:latin typeface="+mn-ea"/>
                </a:rPr>
                <a:t>年連続シェア</a:t>
              </a:r>
              <a:r>
                <a:rPr lang="en-US" altLang="ja-JP" sz="1000" dirty="0">
                  <a:solidFill>
                    <a:schemeClr val="tx1"/>
                  </a:solidFill>
                  <a:latin typeface="+mn-ea"/>
                </a:rPr>
                <a:t>No.1</a:t>
              </a:r>
            </a:p>
            <a:p>
              <a:pPr marL="88900" indent="-88900">
                <a:spcAft>
                  <a:spcPts val="200"/>
                </a:spcAft>
                <a:buClr>
                  <a:srgbClr val="008D2E"/>
                </a:buClr>
                <a:buFont typeface="Arial" panose="020B0604020202020204" pitchFamily="34" charset="0"/>
                <a:buChar char="•"/>
              </a:pPr>
              <a:r>
                <a:rPr lang="ja-JP" altLang="en-US" sz="1000" dirty="0">
                  <a:solidFill>
                    <a:schemeClr val="tx1"/>
                  </a:solidFill>
                  <a:latin typeface="+mn-ea"/>
                </a:rPr>
                <a:t>幼稚園・保育園、自治体への啓発活動を通じ幼少期から「キレイキレイ」の習慣 ･ 認知を</a:t>
              </a:r>
              <a:br>
                <a:rPr lang="en-US" altLang="ja-JP" sz="1000" dirty="0">
                  <a:solidFill>
                    <a:schemeClr val="tx1"/>
                  </a:solidFill>
                  <a:latin typeface="+mn-ea"/>
                </a:rPr>
              </a:br>
              <a:r>
                <a:rPr lang="ja-JP" altLang="en-US" sz="1000" dirty="0">
                  <a:solidFill>
                    <a:schemeClr val="tx1"/>
                  </a:solidFill>
                  <a:latin typeface="+mn-ea"/>
                </a:rPr>
                <a:t>社会に定着</a:t>
              </a:r>
              <a:endParaRPr kumimoji="1" lang="ja-JP" altLang="en-US" sz="1000" dirty="0">
                <a:solidFill>
                  <a:schemeClr val="tx1"/>
                </a:solidFill>
                <a:latin typeface="+mn-ea"/>
              </a:endParaRPr>
            </a:p>
          </p:txBody>
        </p:sp>
        <p:sp>
          <p:nvSpPr>
            <p:cNvPr id="34" name="正方形/長方形 33">
              <a:extLst>
                <a:ext uri="{FF2B5EF4-FFF2-40B4-BE49-F238E27FC236}">
                  <a16:creationId xmlns:a16="http://schemas.microsoft.com/office/drawing/2014/main" id="{DABBF581-0BDD-19BE-477F-6E3E00B0A1C1}"/>
                </a:ext>
              </a:extLst>
            </p:cNvPr>
            <p:cNvSpPr/>
            <p:nvPr/>
          </p:nvSpPr>
          <p:spPr>
            <a:xfrm>
              <a:off x="4444115" y="1628774"/>
              <a:ext cx="38281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S2</a:t>
              </a:r>
              <a:endParaRPr kumimoji="1" lang="ja-JP" altLang="en-US" sz="900" dirty="0">
                <a:solidFill>
                  <a:schemeClr val="bg1"/>
                </a:solidFill>
                <a:latin typeface="+mn-ea"/>
              </a:endParaRPr>
            </a:p>
          </p:txBody>
        </p:sp>
        <p:pic>
          <p:nvPicPr>
            <p:cNvPr id="40" name="グラフィックス 39" descr="泡 単色塗りつぶし">
              <a:extLst>
                <a:ext uri="{FF2B5EF4-FFF2-40B4-BE49-F238E27FC236}">
                  <a16:creationId xmlns:a16="http://schemas.microsoft.com/office/drawing/2014/main" id="{8A17C725-F8A6-C7A6-0619-3A62C49708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08474" y="2548294"/>
              <a:ext cx="360000" cy="360000"/>
            </a:xfrm>
            <a:prstGeom prst="rect">
              <a:avLst/>
            </a:prstGeom>
          </p:spPr>
        </p:pic>
        <p:sp>
          <p:nvSpPr>
            <p:cNvPr id="23" name="正方形/長方形 22">
              <a:extLst>
                <a:ext uri="{FF2B5EF4-FFF2-40B4-BE49-F238E27FC236}">
                  <a16:creationId xmlns:a16="http://schemas.microsoft.com/office/drawing/2014/main" id="{E3A0482C-16B1-1F76-4DFF-0E181D2DB701}"/>
                </a:ext>
              </a:extLst>
            </p:cNvPr>
            <p:cNvSpPr/>
            <p:nvPr/>
          </p:nvSpPr>
          <p:spPr>
            <a:xfrm>
              <a:off x="6938396" y="1628774"/>
              <a:ext cx="2424359" cy="1279520"/>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rgbClr val="008D2E"/>
                  </a:solidFill>
                  <a:latin typeface="+mn-ea"/>
                </a:rPr>
                <a:t>日雑メーカーでありながら「</a:t>
              </a:r>
              <a:r>
                <a:rPr lang="en-US" altLang="ja-JP" sz="1200" b="1" dirty="0">
                  <a:solidFill>
                    <a:srgbClr val="008D2E"/>
                  </a:solidFill>
                  <a:latin typeface="+mn-ea"/>
                </a:rPr>
                <a:t>OTC</a:t>
              </a:r>
              <a:r>
                <a:rPr lang="ja-JP" altLang="en-US" sz="1200" b="1" dirty="0">
                  <a:solidFill>
                    <a:srgbClr val="008D2E"/>
                  </a:solidFill>
                  <a:latin typeface="+mn-ea"/>
                </a:rPr>
                <a:t>医薬品」を展開するハイブリッド構造</a:t>
              </a:r>
              <a:endParaRPr lang="en-US" altLang="ja-JP" sz="1200" b="1" dirty="0">
                <a:solidFill>
                  <a:srgbClr val="008D2E"/>
                </a:solidFill>
                <a:latin typeface="+mn-ea"/>
              </a:endParaRPr>
            </a:p>
            <a:p>
              <a:pPr marL="87313" indent="-87313">
                <a:spcAft>
                  <a:spcPts val="200"/>
                </a:spcAft>
                <a:buClr>
                  <a:srgbClr val="008D2E"/>
                </a:buClr>
                <a:buFont typeface="Arial" panose="020B0604020202020204" pitchFamily="34" charset="0"/>
                <a:buChar char="•"/>
              </a:pPr>
              <a:r>
                <a:rPr lang="ja-JP" altLang="en-US" sz="1000" dirty="0">
                  <a:solidFill>
                    <a:schemeClr val="tx1"/>
                  </a:solidFill>
                  <a:latin typeface="+mn-ea"/>
                </a:rPr>
                <a:t>「バファリン」「スマイル」「ペア」等、競合 </a:t>
              </a:r>
              <a:r>
                <a:rPr lang="en-US" altLang="ja-JP" sz="1000" dirty="0">
                  <a:solidFill>
                    <a:schemeClr val="tx1"/>
                  </a:solidFill>
                  <a:latin typeface="+mn-ea"/>
                </a:rPr>
                <a:t>(</a:t>
              </a:r>
              <a:r>
                <a:rPr lang="ja-JP" altLang="en-US" sz="1000" dirty="0">
                  <a:solidFill>
                    <a:schemeClr val="tx1"/>
                  </a:solidFill>
                  <a:latin typeface="+mn-ea"/>
                </a:rPr>
                <a:t>特に花王</a:t>
              </a:r>
              <a:r>
                <a:rPr lang="en-US" altLang="ja-JP" sz="1000" dirty="0">
                  <a:solidFill>
                    <a:schemeClr val="tx1"/>
                  </a:solidFill>
                  <a:latin typeface="+mn-ea"/>
                </a:rPr>
                <a:t>) </a:t>
              </a:r>
              <a:r>
                <a:rPr lang="ja-JP" altLang="en-US" sz="1000" dirty="0">
                  <a:solidFill>
                    <a:schemeClr val="tx1"/>
                  </a:solidFill>
                  <a:latin typeface="+mn-ea"/>
                </a:rPr>
                <a:t>にない強力な医薬品ブランドと薬事知見を保有メディカル ･ ヘルスケアの土俵で高い信頼性を発揮</a:t>
              </a:r>
              <a:endParaRPr lang="en-US" altLang="ja-JP" sz="1000" dirty="0">
                <a:solidFill>
                  <a:schemeClr val="tx1"/>
                </a:solidFill>
                <a:latin typeface="+mn-ea"/>
              </a:endParaRPr>
            </a:p>
            <a:p>
              <a:pPr>
                <a:spcAft>
                  <a:spcPts val="200"/>
                </a:spcAft>
              </a:pPr>
              <a:endParaRPr kumimoji="1" lang="ja-JP" altLang="en-US" sz="1000" dirty="0">
                <a:solidFill>
                  <a:schemeClr val="tx1"/>
                </a:solidFill>
                <a:latin typeface="+mn-ea"/>
              </a:endParaRPr>
            </a:p>
          </p:txBody>
        </p:sp>
        <p:sp>
          <p:nvSpPr>
            <p:cNvPr id="35" name="正方形/長方形 34">
              <a:extLst>
                <a:ext uri="{FF2B5EF4-FFF2-40B4-BE49-F238E27FC236}">
                  <a16:creationId xmlns:a16="http://schemas.microsoft.com/office/drawing/2014/main" id="{C80A90BE-E387-CB1B-4B5E-B33AB9EB00D3}"/>
                </a:ext>
              </a:extLst>
            </p:cNvPr>
            <p:cNvSpPr/>
            <p:nvPr/>
          </p:nvSpPr>
          <p:spPr>
            <a:xfrm>
              <a:off x="6938395" y="1628774"/>
              <a:ext cx="38281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S3</a:t>
              </a:r>
              <a:endParaRPr kumimoji="1" lang="ja-JP" altLang="en-US" sz="900" dirty="0">
                <a:solidFill>
                  <a:schemeClr val="bg1"/>
                </a:solidFill>
                <a:latin typeface="+mn-ea"/>
              </a:endParaRPr>
            </a:p>
          </p:txBody>
        </p:sp>
        <p:pic>
          <p:nvPicPr>
            <p:cNvPr id="42" name="グラフィックス 41" descr="分岐路 単色塗りつぶし">
              <a:extLst>
                <a:ext uri="{FF2B5EF4-FFF2-40B4-BE49-F238E27FC236}">
                  <a16:creationId xmlns:a16="http://schemas.microsoft.com/office/drawing/2014/main" id="{92C690CD-3B3A-6E2E-D720-BE4D4455275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02755" y="2548294"/>
              <a:ext cx="360000" cy="360000"/>
            </a:xfrm>
            <a:prstGeom prst="rect">
              <a:avLst/>
            </a:prstGeom>
          </p:spPr>
        </p:pic>
        <p:sp>
          <p:nvSpPr>
            <p:cNvPr id="28" name="正方形/長方形 27">
              <a:extLst>
                <a:ext uri="{FF2B5EF4-FFF2-40B4-BE49-F238E27FC236}">
                  <a16:creationId xmlns:a16="http://schemas.microsoft.com/office/drawing/2014/main" id="{056D15EF-932E-4AB4-621B-695DDD0F421E}"/>
                </a:ext>
              </a:extLst>
            </p:cNvPr>
            <p:cNvSpPr/>
            <p:nvPr/>
          </p:nvSpPr>
          <p:spPr>
            <a:xfrm>
              <a:off x="9432678" y="1628774"/>
              <a:ext cx="2424359" cy="1279520"/>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rgbClr val="008D2E"/>
                  </a:solidFill>
                  <a:latin typeface="+mn-ea"/>
                </a:rPr>
                <a:t>ファブリック ･ ホームケアにおける「特定のお悩み解決型」ブランドアセット</a:t>
              </a:r>
              <a:endParaRPr lang="en-US" altLang="ja-JP" sz="1200" b="1" dirty="0">
                <a:solidFill>
                  <a:srgbClr val="008D2E"/>
                </a:solidFill>
                <a:latin typeface="+mn-ea"/>
              </a:endParaRPr>
            </a:p>
            <a:p>
              <a:pPr marL="92075" indent="-92075">
                <a:spcAft>
                  <a:spcPts val="200"/>
                </a:spcAft>
                <a:buClr>
                  <a:srgbClr val="008D2E"/>
                </a:buClr>
                <a:buFont typeface="Arial" panose="020B0604020202020204" pitchFamily="34" charset="0"/>
                <a:buChar char="•"/>
              </a:pPr>
              <a:r>
                <a:rPr lang="ja-JP" altLang="en-US" sz="1000" dirty="0">
                  <a:solidFill>
                    <a:schemeClr val="tx1"/>
                  </a:solidFill>
                  <a:latin typeface="+mn-ea"/>
                </a:rPr>
                <a:t>「ソフラン」「アクロン」「ルックプラス </a:t>
              </a:r>
              <a:r>
                <a:rPr lang="en-US" altLang="ja-JP" sz="1000" dirty="0">
                  <a:solidFill>
                    <a:schemeClr val="tx1"/>
                  </a:solidFill>
                  <a:latin typeface="+mn-ea"/>
                </a:rPr>
                <a:t>(</a:t>
              </a:r>
              <a:r>
                <a:rPr lang="ja-JP" altLang="en-US" sz="1000" dirty="0">
                  <a:solidFill>
                    <a:schemeClr val="tx1"/>
                  </a:solidFill>
                  <a:latin typeface="+mn-ea"/>
                </a:rPr>
                <a:t>こすらず洗う浴室洗剤</a:t>
              </a:r>
              <a:r>
                <a:rPr lang="en-US" altLang="ja-JP" sz="1000" dirty="0">
                  <a:solidFill>
                    <a:schemeClr val="tx1"/>
                  </a:solidFill>
                  <a:latin typeface="+mn-ea"/>
                </a:rPr>
                <a:t>) </a:t>
              </a:r>
              <a:r>
                <a:rPr lang="ja-JP" altLang="en-US" sz="1000" dirty="0">
                  <a:solidFill>
                    <a:schemeClr val="tx1"/>
                  </a:solidFill>
                  <a:latin typeface="+mn-ea"/>
                </a:rPr>
                <a:t>」等、特定のストレス </a:t>
              </a:r>
              <a:r>
                <a:rPr lang="en-US" altLang="ja-JP" sz="1000" dirty="0">
                  <a:solidFill>
                    <a:schemeClr val="tx1"/>
                  </a:solidFill>
                  <a:latin typeface="+mn-ea"/>
                </a:rPr>
                <a:t>(</a:t>
              </a:r>
              <a:r>
                <a:rPr lang="ja-JP" altLang="en-US" sz="1000" dirty="0">
                  <a:solidFill>
                    <a:schemeClr val="tx1"/>
                  </a:solidFill>
                  <a:latin typeface="+mn-ea"/>
                </a:rPr>
                <a:t>ニオイ ･ 洗濯型崩れ ･ 掃除の重労働</a:t>
              </a:r>
              <a:r>
                <a:rPr lang="en-US" altLang="ja-JP" sz="1000" dirty="0">
                  <a:solidFill>
                    <a:schemeClr val="tx1"/>
                  </a:solidFill>
                  <a:latin typeface="+mn-ea"/>
                </a:rPr>
                <a:t>) </a:t>
              </a:r>
              <a:r>
                <a:rPr lang="ja-JP" altLang="en-US" sz="1000" dirty="0">
                  <a:solidFill>
                    <a:schemeClr val="tx1"/>
                  </a:solidFill>
                  <a:latin typeface="+mn-ea"/>
                </a:rPr>
                <a:t>を解消し市場を牽引</a:t>
              </a:r>
              <a:endParaRPr lang="en-US" altLang="ja-JP" sz="1000" dirty="0">
                <a:solidFill>
                  <a:schemeClr val="tx1"/>
                </a:solidFill>
                <a:latin typeface="+mn-ea"/>
              </a:endParaRPr>
            </a:p>
            <a:p>
              <a:pPr>
                <a:spcAft>
                  <a:spcPts val="200"/>
                </a:spcAft>
              </a:pPr>
              <a:endParaRPr kumimoji="1" lang="ja-JP" altLang="en-US" sz="1000" dirty="0">
                <a:solidFill>
                  <a:schemeClr val="tx1"/>
                </a:solidFill>
                <a:latin typeface="+mn-ea"/>
              </a:endParaRPr>
            </a:p>
          </p:txBody>
        </p:sp>
        <p:sp>
          <p:nvSpPr>
            <p:cNvPr id="36" name="正方形/長方形 35">
              <a:extLst>
                <a:ext uri="{FF2B5EF4-FFF2-40B4-BE49-F238E27FC236}">
                  <a16:creationId xmlns:a16="http://schemas.microsoft.com/office/drawing/2014/main" id="{ACE911CC-6567-0B9C-58D4-0509A8533192}"/>
                </a:ext>
              </a:extLst>
            </p:cNvPr>
            <p:cNvSpPr/>
            <p:nvPr/>
          </p:nvSpPr>
          <p:spPr>
            <a:xfrm>
              <a:off x="9432678" y="1628774"/>
              <a:ext cx="38281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S1</a:t>
              </a:r>
              <a:endParaRPr kumimoji="1" lang="ja-JP" altLang="en-US" sz="900" dirty="0">
                <a:solidFill>
                  <a:schemeClr val="bg1"/>
                </a:solidFill>
                <a:latin typeface="+mn-ea"/>
              </a:endParaRPr>
            </a:p>
          </p:txBody>
        </p:sp>
        <p:pic>
          <p:nvPicPr>
            <p:cNvPr id="44" name="グラフィックス 43" descr="右脳と左脳 単色塗りつぶし">
              <a:extLst>
                <a:ext uri="{FF2B5EF4-FFF2-40B4-BE49-F238E27FC236}">
                  <a16:creationId xmlns:a16="http://schemas.microsoft.com/office/drawing/2014/main" id="{D9951147-FC5F-7C59-F2D0-5BCFD68B8B8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497037" y="2548294"/>
              <a:ext cx="360000" cy="360000"/>
            </a:xfrm>
            <a:prstGeom prst="rect">
              <a:avLst/>
            </a:prstGeom>
          </p:spPr>
        </p:pic>
        <p:sp>
          <p:nvSpPr>
            <p:cNvPr id="5" name="正方形/長方形 4">
              <a:extLst>
                <a:ext uri="{FF2B5EF4-FFF2-40B4-BE49-F238E27FC236}">
                  <a16:creationId xmlns:a16="http://schemas.microsoft.com/office/drawing/2014/main" id="{1B884078-6497-AF51-B841-06845A20E513}"/>
                </a:ext>
              </a:extLst>
            </p:cNvPr>
            <p:cNvSpPr/>
            <p:nvPr/>
          </p:nvSpPr>
          <p:spPr>
            <a:xfrm>
              <a:off x="334962" y="1628774"/>
              <a:ext cx="1544951" cy="1279520"/>
            </a:xfrm>
            <a:prstGeom prst="rect">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400" dirty="0">
                  <a:solidFill>
                    <a:schemeClr val="bg1"/>
                  </a:solidFill>
                  <a:latin typeface="+mn-ea"/>
                </a:rPr>
                <a:t>S</a:t>
              </a:r>
              <a:r>
                <a:rPr lang="en-US" altLang="ja-JP" dirty="0">
                  <a:solidFill>
                    <a:schemeClr val="bg1"/>
                  </a:solidFill>
                  <a:latin typeface="+mn-ea"/>
                </a:rPr>
                <a:t>trength : </a:t>
              </a:r>
              <a:br>
                <a:rPr lang="en-US" altLang="ja-JP" dirty="0">
                  <a:solidFill>
                    <a:schemeClr val="bg1"/>
                  </a:solidFill>
                  <a:latin typeface="+mn-ea"/>
                </a:rPr>
              </a:br>
              <a:r>
                <a:rPr lang="ja-JP" altLang="en-US" dirty="0">
                  <a:solidFill>
                    <a:schemeClr val="bg1"/>
                  </a:solidFill>
                  <a:latin typeface="+mn-ea"/>
                </a:rPr>
                <a:t>強み</a:t>
              </a:r>
              <a:endParaRPr kumimoji="1" lang="ja-JP" altLang="en-US" dirty="0">
                <a:solidFill>
                  <a:schemeClr val="bg1"/>
                </a:solidFill>
                <a:latin typeface="+mn-ea"/>
              </a:endParaRPr>
            </a:p>
          </p:txBody>
        </p:sp>
        <p:pic>
          <p:nvPicPr>
            <p:cNvPr id="46" name="グラフィックス 45" descr="ニヤリとした顔 (塗りつぶし) 単色塗りつぶし">
              <a:extLst>
                <a:ext uri="{FF2B5EF4-FFF2-40B4-BE49-F238E27FC236}">
                  <a16:creationId xmlns:a16="http://schemas.microsoft.com/office/drawing/2014/main" id="{2423BD32-267A-E8FE-8349-02720CE10480}"/>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544873" y="2580502"/>
              <a:ext cx="324000" cy="324000"/>
            </a:xfrm>
            <a:prstGeom prst="rect">
              <a:avLst/>
            </a:prstGeom>
          </p:spPr>
        </p:pic>
      </p:grpSp>
      <p:grpSp>
        <p:nvGrpSpPr>
          <p:cNvPr id="12" name="グループ化 11">
            <a:extLst>
              <a:ext uri="{FF2B5EF4-FFF2-40B4-BE49-F238E27FC236}">
                <a16:creationId xmlns:a16="http://schemas.microsoft.com/office/drawing/2014/main" id="{C013258B-561C-9E00-EFE5-D0C45471BFA5}"/>
              </a:ext>
            </a:extLst>
          </p:cNvPr>
          <p:cNvGrpSpPr/>
          <p:nvPr/>
        </p:nvGrpSpPr>
        <p:grpSpPr>
          <a:xfrm>
            <a:off x="334962" y="2962720"/>
            <a:ext cx="11522075" cy="763924"/>
            <a:chOff x="334962" y="2989933"/>
            <a:chExt cx="11522075" cy="763924"/>
          </a:xfrm>
        </p:grpSpPr>
        <p:pic>
          <p:nvPicPr>
            <p:cNvPr id="62" name="グラフィックス 61" descr="シャッフル 単色塗りつぶし">
              <a:extLst>
                <a:ext uri="{FF2B5EF4-FFF2-40B4-BE49-F238E27FC236}">
                  <a16:creationId xmlns:a16="http://schemas.microsoft.com/office/drawing/2014/main" id="{2C9D404E-7FD4-26CF-F0BF-50BFFF335DC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29936" y="3393857"/>
              <a:ext cx="360000" cy="360000"/>
            </a:xfrm>
            <a:prstGeom prst="rect">
              <a:avLst/>
            </a:prstGeom>
          </p:spPr>
        </p:pic>
        <p:pic>
          <p:nvPicPr>
            <p:cNvPr id="64" name="グラフィックス 63" descr="レーダー チャート 単色塗りつぶし">
              <a:extLst>
                <a:ext uri="{FF2B5EF4-FFF2-40B4-BE49-F238E27FC236}">
                  <a16:creationId xmlns:a16="http://schemas.microsoft.com/office/drawing/2014/main" id="{B0EFB6AC-B96A-F086-AE0D-A158D7249F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163486" y="3393857"/>
              <a:ext cx="360000" cy="360000"/>
            </a:xfrm>
            <a:prstGeom prst="rect">
              <a:avLst/>
            </a:prstGeom>
          </p:spPr>
        </p:pic>
        <p:sp>
          <p:nvSpPr>
            <p:cNvPr id="8" name="正方形/長方形 7">
              <a:extLst>
                <a:ext uri="{FF2B5EF4-FFF2-40B4-BE49-F238E27FC236}">
                  <a16:creationId xmlns:a16="http://schemas.microsoft.com/office/drawing/2014/main" id="{CCBA2799-F0EC-A6FA-B277-0B2F1BBDB32C}"/>
                </a:ext>
              </a:extLst>
            </p:cNvPr>
            <p:cNvSpPr/>
            <p:nvPr/>
          </p:nvSpPr>
          <p:spPr>
            <a:xfrm>
              <a:off x="334962" y="2989933"/>
              <a:ext cx="1544951" cy="763924"/>
            </a:xfrm>
            <a:prstGeom prst="rect">
              <a:avLst/>
            </a:prstGeom>
            <a:solidFill>
              <a:schemeClr val="bg1">
                <a:lumMod val="75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400" dirty="0">
                  <a:solidFill>
                    <a:schemeClr val="bg1">
                      <a:lumMod val="50000"/>
                    </a:schemeClr>
                  </a:solidFill>
                  <a:latin typeface="+mn-ea"/>
                </a:rPr>
                <a:t>W</a:t>
              </a:r>
              <a:r>
                <a:rPr lang="en-US" altLang="ja-JP" dirty="0">
                  <a:solidFill>
                    <a:schemeClr val="bg1">
                      <a:lumMod val="50000"/>
                    </a:schemeClr>
                  </a:solidFill>
                  <a:latin typeface="+mn-ea"/>
                </a:rPr>
                <a:t>eakness : </a:t>
              </a:r>
              <a:br>
                <a:rPr lang="en-US" altLang="ja-JP" dirty="0">
                  <a:solidFill>
                    <a:schemeClr val="bg1">
                      <a:lumMod val="50000"/>
                    </a:schemeClr>
                  </a:solidFill>
                  <a:latin typeface="+mn-ea"/>
                </a:rPr>
              </a:br>
              <a:r>
                <a:rPr lang="ja-JP" altLang="en-US" dirty="0">
                  <a:solidFill>
                    <a:schemeClr val="bg1">
                      <a:lumMod val="50000"/>
                    </a:schemeClr>
                  </a:solidFill>
                  <a:latin typeface="+mn-ea"/>
                </a:rPr>
                <a:t>弱み</a:t>
              </a:r>
              <a:endParaRPr kumimoji="1" lang="ja-JP" altLang="en-US" dirty="0">
                <a:solidFill>
                  <a:schemeClr val="bg1">
                    <a:lumMod val="50000"/>
                  </a:schemeClr>
                </a:solidFill>
                <a:latin typeface="+mn-ea"/>
              </a:endParaRPr>
            </a:p>
          </p:txBody>
        </p:sp>
        <p:pic>
          <p:nvPicPr>
            <p:cNvPr id="50" name="グラフィックス 49" descr="悲しそうな顔 (塗りつぶし) 単色塗りつぶし">
              <a:extLst>
                <a:ext uri="{FF2B5EF4-FFF2-40B4-BE49-F238E27FC236}">
                  <a16:creationId xmlns:a16="http://schemas.microsoft.com/office/drawing/2014/main" id="{64A7A08B-435C-43CA-A90F-8323DA205898}"/>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544873" y="3429857"/>
              <a:ext cx="324000" cy="324000"/>
            </a:xfrm>
            <a:prstGeom prst="rect">
              <a:avLst/>
            </a:prstGeom>
          </p:spPr>
        </p:pic>
        <p:sp>
          <p:nvSpPr>
            <p:cNvPr id="14" name="正方形/長方形 13">
              <a:extLst>
                <a:ext uri="{FF2B5EF4-FFF2-40B4-BE49-F238E27FC236}">
                  <a16:creationId xmlns:a16="http://schemas.microsoft.com/office/drawing/2014/main" id="{A7EEAA5E-A35E-A2BC-9A6C-610969C62DDC}"/>
                </a:ext>
              </a:extLst>
            </p:cNvPr>
            <p:cNvSpPr/>
            <p:nvPr/>
          </p:nvSpPr>
          <p:spPr>
            <a:xfrm>
              <a:off x="1949834" y="2989933"/>
              <a:ext cx="3240102" cy="763924"/>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180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chemeClr val="bg1">
                      <a:lumMod val="50000"/>
                    </a:schemeClr>
                  </a:solidFill>
                  <a:latin typeface="+mn-ea"/>
                </a:rPr>
                <a:t>低粗利日雑への高い依存度</a:t>
              </a:r>
              <a:endParaRPr lang="en-US" altLang="ja-JP" sz="1200" b="1" dirty="0">
                <a:solidFill>
                  <a:schemeClr val="bg1">
                    <a:lumMod val="50000"/>
                  </a:schemeClr>
                </a:solidFill>
                <a:latin typeface="+mn-ea"/>
              </a:endParaRPr>
            </a:p>
            <a:p>
              <a:pPr>
                <a:spcAft>
                  <a:spcPts val="200"/>
                </a:spcAft>
              </a:pPr>
              <a:r>
                <a:rPr lang="ja-JP" altLang="en-US" sz="1000" dirty="0">
                  <a:solidFill>
                    <a:schemeClr val="bg1">
                      <a:lumMod val="50000"/>
                    </a:schemeClr>
                  </a:solidFill>
                  <a:latin typeface="+mn-ea"/>
                </a:rPr>
                <a:t>花王</a:t>
              </a:r>
              <a:r>
                <a:rPr lang="en-US" altLang="ja-JP" sz="1000" dirty="0">
                  <a:solidFill>
                    <a:schemeClr val="bg1">
                      <a:lumMod val="50000"/>
                    </a:schemeClr>
                  </a:solidFill>
                  <a:latin typeface="+mn-ea"/>
                </a:rPr>
                <a:t>(</a:t>
              </a:r>
              <a:r>
                <a:rPr lang="ja-JP" altLang="en-US" sz="1000" dirty="0">
                  <a:solidFill>
                    <a:schemeClr val="bg1">
                      <a:lumMod val="50000"/>
                    </a:schemeClr>
                  </a:solidFill>
                  <a:latin typeface="+mn-ea"/>
                </a:rPr>
                <a:t>産業用･ ビューティ等</a:t>
              </a:r>
              <a:r>
                <a:rPr lang="en-US" altLang="ja-JP" sz="1000" dirty="0">
                  <a:solidFill>
                    <a:schemeClr val="bg1">
                      <a:lumMod val="50000"/>
                    </a:schemeClr>
                  </a:solidFill>
                  <a:latin typeface="+mn-ea"/>
                </a:rPr>
                <a:t>) </a:t>
              </a:r>
              <a:r>
                <a:rPr lang="ja-JP" altLang="en-US" sz="1000" dirty="0">
                  <a:solidFill>
                    <a:schemeClr val="bg1">
                      <a:lumMod val="50000"/>
                    </a:schemeClr>
                  </a:solidFill>
                  <a:latin typeface="+mn-ea"/>
                </a:rPr>
                <a:t>や</a:t>
              </a:r>
              <a:r>
                <a:rPr lang="en-US" altLang="ja-JP" sz="1000" dirty="0">
                  <a:solidFill>
                    <a:schemeClr val="bg1">
                      <a:lumMod val="50000"/>
                    </a:schemeClr>
                  </a:solidFill>
                  <a:latin typeface="+mn-ea"/>
                </a:rPr>
                <a:t>P&amp;G (</a:t>
              </a:r>
              <a:r>
                <a:rPr lang="ja-JP" altLang="en-US" sz="1000" dirty="0">
                  <a:solidFill>
                    <a:schemeClr val="bg1">
                      <a:lumMod val="50000"/>
                    </a:schemeClr>
                  </a:solidFill>
                  <a:latin typeface="+mn-ea"/>
                </a:rPr>
                <a:t>プレミアムビューティ等</a:t>
              </a:r>
              <a:r>
                <a:rPr lang="en-US" altLang="ja-JP" sz="1000" dirty="0">
                  <a:solidFill>
                    <a:schemeClr val="bg1">
                      <a:lumMod val="50000"/>
                    </a:schemeClr>
                  </a:solidFill>
                  <a:latin typeface="+mn-ea"/>
                </a:rPr>
                <a:t>) </a:t>
              </a:r>
              <a:r>
                <a:rPr lang="ja-JP" altLang="en-US" sz="1000" dirty="0">
                  <a:solidFill>
                    <a:schemeClr val="bg1">
                      <a:lumMod val="50000"/>
                    </a:schemeClr>
                  </a:solidFill>
                  <a:latin typeface="+mn-ea"/>
                </a:rPr>
                <a:t>の</a:t>
              </a:r>
              <a:endParaRPr lang="en-US" altLang="ja-JP" sz="1000" dirty="0">
                <a:solidFill>
                  <a:schemeClr val="bg1">
                    <a:lumMod val="50000"/>
                  </a:schemeClr>
                </a:solidFill>
                <a:latin typeface="+mn-ea"/>
              </a:endParaRPr>
            </a:p>
            <a:p>
              <a:pPr>
                <a:spcAft>
                  <a:spcPts val="200"/>
                </a:spcAft>
              </a:pPr>
              <a:r>
                <a:rPr lang="ja-JP" altLang="en-US" sz="1000" dirty="0">
                  <a:solidFill>
                    <a:schemeClr val="bg1">
                      <a:lumMod val="50000"/>
                    </a:schemeClr>
                  </a:solidFill>
                  <a:latin typeface="+mn-ea"/>
                </a:rPr>
                <a:t>ような高粗利事業を欠き、原材料･為替高騰影響を受けやすい</a:t>
              </a:r>
              <a:endParaRPr lang="en-US" altLang="ja-JP" sz="1000" dirty="0">
                <a:solidFill>
                  <a:schemeClr val="bg1">
                    <a:lumMod val="50000"/>
                  </a:schemeClr>
                </a:solidFill>
                <a:latin typeface="+mn-ea"/>
              </a:endParaRPr>
            </a:p>
          </p:txBody>
        </p:sp>
        <p:sp>
          <p:nvSpPr>
            <p:cNvPr id="53" name="正方形/長方形 52">
              <a:extLst>
                <a:ext uri="{FF2B5EF4-FFF2-40B4-BE49-F238E27FC236}">
                  <a16:creationId xmlns:a16="http://schemas.microsoft.com/office/drawing/2014/main" id="{2D778D13-D2E2-3A78-C15B-59BFC6F89BED}"/>
                </a:ext>
              </a:extLst>
            </p:cNvPr>
            <p:cNvSpPr/>
            <p:nvPr/>
          </p:nvSpPr>
          <p:spPr>
            <a:xfrm>
              <a:off x="1949834" y="2989933"/>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W1</a:t>
              </a:r>
              <a:endParaRPr kumimoji="1" lang="ja-JP" altLang="en-US" sz="900" dirty="0">
                <a:solidFill>
                  <a:schemeClr val="bg1"/>
                </a:solidFill>
                <a:latin typeface="+mn-ea"/>
              </a:endParaRPr>
            </a:p>
          </p:txBody>
        </p:sp>
        <p:sp>
          <p:nvSpPr>
            <p:cNvPr id="19" name="正方形/長方形 18">
              <a:extLst>
                <a:ext uri="{FF2B5EF4-FFF2-40B4-BE49-F238E27FC236}">
                  <a16:creationId xmlns:a16="http://schemas.microsoft.com/office/drawing/2014/main" id="{720343ED-A068-E76C-D165-62789F8EBF01}"/>
                </a:ext>
              </a:extLst>
            </p:cNvPr>
            <p:cNvSpPr/>
            <p:nvPr/>
          </p:nvSpPr>
          <p:spPr>
            <a:xfrm>
              <a:off x="5283385" y="2989933"/>
              <a:ext cx="3240102" cy="763924"/>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chemeClr val="bg1">
                      <a:lumMod val="50000"/>
                    </a:schemeClr>
                  </a:solidFill>
                  <a:latin typeface="+mn-ea"/>
                </a:rPr>
                <a:t>グローバルスケール </a:t>
              </a:r>
              <a:r>
                <a:rPr lang="en-US" altLang="ja-JP" sz="1200" b="1" dirty="0">
                  <a:solidFill>
                    <a:schemeClr val="bg1">
                      <a:lumMod val="50000"/>
                    </a:schemeClr>
                  </a:solidFill>
                  <a:latin typeface="+mn-ea"/>
                </a:rPr>
                <a:t>(</a:t>
              </a:r>
              <a:r>
                <a:rPr lang="ja-JP" altLang="en-US" sz="1200" b="1" dirty="0">
                  <a:solidFill>
                    <a:schemeClr val="bg1">
                      <a:lumMod val="50000"/>
                    </a:schemeClr>
                  </a:solidFill>
                  <a:latin typeface="+mn-ea"/>
                </a:rPr>
                <a:t>規模の経済</a:t>
              </a:r>
              <a:r>
                <a:rPr lang="en-US" altLang="ja-JP" sz="1200" b="1" dirty="0">
                  <a:solidFill>
                    <a:schemeClr val="bg1">
                      <a:lumMod val="50000"/>
                    </a:schemeClr>
                  </a:solidFill>
                  <a:latin typeface="+mn-ea"/>
                </a:rPr>
                <a:t>) </a:t>
              </a:r>
              <a:r>
                <a:rPr lang="ja-JP" altLang="en-US" sz="1200" b="1" dirty="0">
                  <a:solidFill>
                    <a:schemeClr val="bg1">
                      <a:lumMod val="50000"/>
                    </a:schemeClr>
                  </a:solidFill>
                  <a:latin typeface="+mn-ea"/>
                </a:rPr>
                <a:t>の欠如</a:t>
              </a:r>
              <a:endParaRPr lang="en-US" altLang="ja-JP" sz="1200" b="1" dirty="0">
                <a:solidFill>
                  <a:schemeClr val="bg1">
                    <a:lumMod val="50000"/>
                  </a:schemeClr>
                </a:solidFill>
                <a:latin typeface="+mn-ea"/>
              </a:endParaRPr>
            </a:p>
            <a:p>
              <a:pPr>
                <a:spcAft>
                  <a:spcPts val="200"/>
                </a:spcAft>
              </a:pPr>
              <a:r>
                <a:rPr lang="ja-JP" altLang="en-US" sz="1000" dirty="0">
                  <a:solidFill>
                    <a:schemeClr val="bg1">
                      <a:lumMod val="50000"/>
                    </a:schemeClr>
                  </a:solidFill>
                  <a:latin typeface="+mn-ea"/>
                </a:rPr>
                <a:t>海外展開がアジア圏依存度が高く、</a:t>
              </a:r>
              <a:r>
                <a:rPr lang="en-US" altLang="ja-JP" sz="1000" dirty="0">
                  <a:solidFill>
                    <a:schemeClr val="bg1">
                      <a:lumMod val="50000"/>
                    </a:schemeClr>
                  </a:solidFill>
                  <a:latin typeface="+mn-ea"/>
                </a:rPr>
                <a:t>P&amp;G</a:t>
              </a:r>
              <a:r>
                <a:rPr lang="ja-JP" altLang="en-US" sz="1000" dirty="0">
                  <a:solidFill>
                    <a:schemeClr val="bg1">
                      <a:lumMod val="50000"/>
                    </a:schemeClr>
                  </a:solidFill>
                  <a:latin typeface="+mn-ea"/>
                </a:rPr>
                <a:t>等のメガブランドに対して</a:t>
              </a:r>
              <a:r>
                <a:rPr lang="en-US" altLang="ja-JP" sz="1000" dirty="0">
                  <a:solidFill>
                    <a:schemeClr val="bg1">
                      <a:lumMod val="50000"/>
                    </a:schemeClr>
                  </a:solidFill>
                  <a:latin typeface="+mn-ea"/>
                </a:rPr>
                <a:t>R&amp;D</a:t>
              </a:r>
              <a:r>
                <a:rPr lang="ja-JP" altLang="en-US" sz="1000" dirty="0">
                  <a:solidFill>
                    <a:schemeClr val="bg1">
                      <a:lumMod val="50000"/>
                    </a:schemeClr>
                  </a:solidFill>
                  <a:latin typeface="+mn-ea"/>
                </a:rPr>
                <a:t>費の絶対額や広告投資効率で構造的に劣後</a:t>
              </a:r>
              <a:endParaRPr lang="en-US" altLang="ja-JP" sz="1000" dirty="0">
                <a:solidFill>
                  <a:schemeClr val="bg1">
                    <a:lumMod val="50000"/>
                  </a:schemeClr>
                </a:solidFill>
                <a:latin typeface="+mn-ea"/>
              </a:endParaRPr>
            </a:p>
            <a:p>
              <a:pPr>
                <a:spcAft>
                  <a:spcPts val="200"/>
                </a:spcAft>
              </a:pPr>
              <a:endParaRPr kumimoji="1" lang="ja-JP" altLang="en-US" sz="1000" dirty="0">
                <a:solidFill>
                  <a:schemeClr val="bg1">
                    <a:lumMod val="50000"/>
                  </a:schemeClr>
                </a:solidFill>
                <a:latin typeface="+mn-ea"/>
              </a:endParaRPr>
            </a:p>
          </p:txBody>
        </p:sp>
        <p:sp>
          <p:nvSpPr>
            <p:cNvPr id="54" name="正方形/長方形 53">
              <a:extLst>
                <a:ext uri="{FF2B5EF4-FFF2-40B4-BE49-F238E27FC236}">
                  <a16:creationId xmlns:a16="http://schemas.microsoft.com/office/drawing/2014/main" id="{7955D6C2-FDED-4D5B-98E5-D0975DDC459E}"/>
                </a:ext>
              </a:extLst>
            </p:cNvPr>
            <p:cNvSpPr/>
            <p:nvPr/>
          </p:nvSpPr>
          <p:spPr>
            <a:xfrm>
              <a:off x="5283386" y="2989933"/>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W2</a:t>
              </a:r>
              <a:endParaRPr kumimoji="1" lang="ja-JP" altLang="en-US" sz="900" dirty="0">
                <a:solidFill>
                  <a:schemeClr val="bg1"/>
                </a:solidFill>
                <a:latin typeface="+mn-ea"/>
              </a:endParaRPr>
            </a:p>
          </p:txBody>
        </p:sp>
        <p:sp>
          <p:nvSpPr>
            <p:cNvPr id="24" name="正方形/長方形 23">
              <a:extLst>
                <a:ext uri="{FF2B5EF4-FFF2-40B4-BE49-F238E27FC236}">
                  <a16:creationId xmlns:a16="http://schemas.microsoft.com/office/drawing/2014/main" id="{EF549E32-CB56-E94D-72B6-3C245DD52EDD}"/>
                </a:ext>
              </a:extLst>
            </p:cNvPr>
            <p:cNvSpPr/>
            <p:nvPr/>
          </p:nvSpPr>
          <p:spPr>
            <a:xfrm>
              <a:off x="8616935" y="2989933"/>
              <a:ext cx="3240102" cy="763924"/>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chemeClr val="bg1">
                      <a:lumMod val="50000"/>
                    </a:schemeClr>
                  </a:solidFill>
                  <a:latin typeface="+mn-ea"/>
                </a:rPr>
                <a:t>デジタル顧客基盤の構築遅れ</a:t>
              </a:r>
              <a:endParaRPr lang="en-US" altLang="ja-JP" sz="1200" b="1" dirty="0">
                <a:solidFill>
                  <a:schemeClr val="bg1">
                    <a:lumMod val="50000"/>
                  </a:schemeClr>
                </a:solidFill>
                <a:latin typeface="+mn-ea"/>
              </a:endParaRPr>
            </a:p>
            <a:p>
              <a:pPr>
                <a:spcAft>
                  <a:spcPts val="200"/>
                </a:spcAft>
              </a:pPr>
              <a:r>
                <a:rPr lang="ja-JP" altLang="en-US" sz="1000" dirty="0">
                  <a:solidFill>
                    <a:schemeClr val="bg1">
                      <a:lumMod val="50000"/>
                    </a:schemeClr>
                  </a:solidFill>
                  <a:latin typeface="+mn-ea"/>
                </a:rPr>
                <a:t>花王 </a:t>
              </a:r>
              <a:r>
                <a:rPr lang="en-US" altLang="ja-JP" sz="1000" dirty="0">
                  <a:solidFill>
                    <a:schemeClr val="bg1">
                      <a:lumMod val="50000"/>
                    </a:schemeClr>
                  </a:solidFill>
                  <a:latin typeface="+mn-ea"/>
                </a:rPr>
                <a:t>(My Kao</a:t>
              </a:r>
              <a:r>
                <a:rPr lang="ja-JP" altLang="en-US" sz="1000" dirty="0">
                  <a:solidFill>
                    <a:schemeClr val="bg1">
                      <a:lumMod val="50000"/>
                    </a:schemeClr>
                  </a:solidFill>
                  <a:latin typeface="+mn-ea"/>
                </a:rPr>
                <a:t>等</a:t>
              </a:r>
              <a:r>
                <a:rPr lang="en-US" altLang="ja-JP" sz="1000" dirty="0">
                  <a:solidFill>
                    <a:schemeClr val="bg1">
                      <a:lumMod val="50000"/>
                    </a:schemeClr>
                  </a:solidFill>
                  <a:latin typeface="+mn-ea"/>
                </a:rPr>
                <a:t>) </a:t>
              </a:r>
              <a:r>
                <a:rPr lang="ja-JP" altLang="en-US" sz="1000" dirty="0">
                  <a:solidFill>
                    <a:schemeClr val="bg1">
                      <a:lumMod val="50000"/>
                    </a:schemeClr>
                  </a:solidFill>
                  <a:latin typeface="+mn-ea"/>
                </a:rPr>
                <a:t>に比べ、全社ブランドを統合したファーストデータ蓄積が遅れ、消費者データの多くを小売</a:t>
              </a:r>
              <a:r>
                <a:rPr lang="en-US" altLang="ja-JP" sz="1000" dirty="0">
                  <a:solidFill>
                    <a:schemeClr val="bg1">
                      <a:lumMod val="50000"/>
                    </a:schemeClr>
                  </a:solidFill>
                  <a:latin typeface="+mn-ea"/>
                </a:rPr>
                <a:t>ID-POS</a:t>
              </a:r>
              <a:r>
                <a:rPr lang="ja-JP" altLang="en-US" sz="1000" dirty="0">
                  <a:solidFill>
                    <a:schemeClr val="bg1">
                      <a:lumMod val="50000"/>
                    </a:schemeClr>
                  </a:solidFill>
                  <a:latin typeface="+mn-ea"/>
                </a:rPr>
                <a:t>に依存</a:t>
              </a:r>
              <a:endParaRPr lang="en-US" altLang="ja-JP" sz="1000" dirty="0">
                <a:solidFill>
                  <a:schemeClr val="bg1">
                    <a:lumMod val="50000"/>
                  </a:schemeClr>
                </a:solidFill>
                <a:latin typeface="+mn-ea"/>
              </a:endParaRPr>
            </a:p>
          </p:txBody>
        </p:sp>
        <p:sp>
          <p:nvSpPr>
            <p:cNvPr id="55" name="正方形/長方形 54">
              <a:extLst>
                <a:ext uri="{FF2B5EF4-FFF2-40B4-BE49-F238E27FC236}">
                  <a16:creationId xmlns:a16="http://schemas.microsoft.com/office/drawing/2014/main" id="{6BE48E30-F8FB-E2BD-AD03-469DABE9BEAE}"/>
                </a:ext>
              </a:extLst>
            </p:cNvPr>
            <p:cNvSpPr/>
            <p:nvPr/>
          </p:nvSpPr>
          <p:spPr>
            <a:xfrm>
              <a:off x="8616935" y="2989933"/>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W3</a:t>
              </a:r>
              <a:endParaRPr kumimoji="1" lang="ja-JP" altLang="en-US" sz="900" dirty="0">
                <a:solidFill>
                  <a:schemeClr val="bg1"/>
                </a:solidFill>
                <a:latin typeface="+mn-ea"/>
              </a:endParaRPr>
            </a:p>
          </p:txBody>
        </p:sp>
        <p:pic>
          <p:nvPicPr>
            <p:cNvPr id="66" name="グラフィックス 65" descr="速度計: 低速 単色塗りつぶし">
              <a:extLst>
                <a:ext uri="{FF2B5EF4-FFF2-40B4-BE49-F238E27FC236}">
                  <a16:creationId xmlns:a16="http://schemas.microsoft.com/office/drawing/2014/main" id="{B9457F69-DF79-9BBE-6C95-7074FEEA3D0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497037" y="3393857"/>
              <a:ext cx="360000" cy="360000"/>
            </a:xfrm>
            <a:prstGeom prst="rect">
              <a:avLst/>
            </a:prstGeom>
          </p:spPr>
        </p:pic>
      </p:grpSp>
      <p:grpSp>
        <p:nvGrpSpPr>
          <p:cNvPr id="22" name="グループ化 21">
            <a:extLst>
              <a:ext uri="{FF2B5EF4-FFF2-40B4-BE49-F238E27FC236}">
                <a16:creationId xmlns:a16="http://schemas.microsoft.com/office/drawing/2014/main" id="{D86436D7-4162-EC63-CA23-6A84F3740A91}"/>
              </a:ext>
            </a:extLst>
          </p:cNvPr>
          <p:cNvGrpSpPr/>
          <p:nvPr/>
        </p:nvGrpSpPr>
        <p:grpSpPr>
          <a:xfrm>
            <a:off x="334962" y="3781070"/>
            <a:ext cx="11522077" cy="1193708"/>
            <a:chOff x="334962" y="3772907"/>
            <a:chExt cx="11522077" cy="1193708"/>
          </a:xfrm>
        </p:grpSpPr>
        <p:sp>
          <p:nvSpPr>
            <p:cNvPr id="9" name="正方形/長方形 8">
              <a:extLst>
                <a:ext uri="{FF2B5EF4-FFF2-40B4-BE49-F238E27FC236}">
                  <a16:creationId xmlns:a16="http://schemas.microsoft.com/office/drawing/2014/main" id="{E386C424-F8E4-E0D1-1161-76CD6A388F24}"/>
                </a:ext>
              </a:extLst>
            </p:cNvPr>
            <p:cNvSpPr/>
            <p:nvPr/>
          </p:nvSpPr>
          <p:spPr>
            <a:xfrm>
              <a:off x="334962" y="3772907"/>
              <a:ext cx="1544951" cy="1174658"/>
            </a:xfrm>
            <a:prstGeom prst="rect">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252000" numCol="1" spcCol="0" rtlCol="0" fromWordArt="0" anchor="ctr" anchorCtr="0" forceAA="0" compatLnSpc="1">
              <a:prstTxWarp prst="textNoShape">
                <a:avLst/>
              </a:prstTxWarp>
              <a:noAutofit/>
            </a:bodyPr>
            <a:lstStyle/>
            <a:p>
              <a:pPr algn="ctr"/>
              <a:r>
                <a:rPr lang="en-US" altLang="ja-JP" sz="2000" dirty="0">
                  <a:solidFill>
                    <a:schemeClr val="bg1"/>
                  </a:solidFill>
                  <a:latin typeface="+mn-ea"/>
                </a:rPr>
                <a:t>O</a:t>
              </a:r>
              <a:r>
                <a:rPr lang="en-US" altLang="ja-JP" sz="1600" dirty="0">
                  <a:solidFill>
                    <a:schemeClr val="bg1"/>
                  </a:solidFill>
                  <a:latin typeface="+mn-ea"/>
                </a:rPr>
                <a:t>pportunity :  </a:t>
              </a:r>
              <a:br>
                <a:rPr lang="en-US" altLang="ja-JP" sz="1600" dirty="0">
                  <a:solidFill>
                    <a:schemeClr val="bg1"/>
                  </a:solidFill>
                  <a:latin typeface="+mn-ea"/>
                </a:rPr>
              </a:br>
              <a:r>
                <a:rPr lang="ja-JP" altLang="en-US" sz="1600" dirty="0">
                  <a:solidFill>
                    <a:schemeClr val="bg1"/>
                  </a:solidFill>
                  <a:latin typeface="+mn-ea"/>
                </a:rPr>
                <a:t>機会</a:t>
              </a:r>
              <a:endParaRPr kumimoji="1" lang="ja-JP" altLang="en-US" sz="1600" dirty="0">
                <a:solidFill>
                  <a:schemeClr val="bg1"/>
                </a:solidFill>
                <a:latin typeface="+mn-ea"/>
              </a:endParaRPr>
            </a:p>
          </p:txBody>
        </p:sp>
        <p:pic>
          <p:nvPicPr>
            <p:cNvPr id="48" name="グラフィックス 47" descr="手のひら 単色塗りつぶし">
              <a:extLst>
                <a:ext uri="{FF2B5EF4-FFF2-40B4-BE49-F238E27FC236}">
                  <a16:creationId xmlns:a16="http://schemas.microsoft.com/office/drawing/2014/main" id="{16BC251B-CF05-B069-DAF2-8B5C52BD4ED5}"/>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544873" y="4619773"/>
              <a:ext cx="324000" cy="324000"/>
            </a:xfrm>
            <a:prstGeom prst="rect">
              <a:avLst/>
            </a:prstGeom>
          </p:spPr>
        </p:pic>
        <p:sp>
          <p:nvSpPr>
            <p:cNvPr id="67" name="正方形/長方形 66">
              <a:extLst>
                <a:ext uri="{FF2B5EF4-FFF2-40B4-BE49-F238E27FC236}">
                  <a16:creationId xmlns:a16="http://schemas.microsoft.com/office/drawing/2014/main" id="{16FDFEFC-EC23-143A-D7EA-09E9E8C7A9A1}"/>
                </a:ext>
              </a:extLst>
            </p:cNvPr>
            <p:cNvSpPr/>
            <p:nvPr/>
          </p:nvSpPr>
          <p:spPr>
            <a:xfrm>
              <a:off x="334962" y="4544434"/>
              <a:ext cx="1544951" cy="33074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マーケティング ･ 営業の追い風</a:t>
              </a:r>
              <a:br>
                <a:rPr lang="en-US" altLang="ja-JP" sz="900" dirty="0">
                  <a:solidFill>
                    <a:schemeClr val="bg1"/>
                  </a:solidFill>
                  <a:latin typeface="+mn-ea"/>
                </a:rPr>
              </a:br>
              <a:r>
                <a:rPr lang="ja-JP" altLang="en-US" sz="900" dirty="0">
                  <a:solidFill>
                    <a:schemeClr val="bg1"/>
                  </a:solidFill>
                  <a:latin typeface="+mn-ea"/>
                </a:rPr>
                <a:t>となる構造変化</a:t>
              </a:r>
              <a:endParaRPr lang="en-US" altLang="ja-JP" sz="900" dirty="0">
                <a:solidFill>
                  <a:schemeClr val="bg1"/>
                </a:solidFill>
                <a:latin typeface="+mn-ea"/>
              </a:endParaRPr>
            </a:p>
          </p:txBody>
        </p:sp>
        <p:sp>
          <p:nvSpPr>
            <p:cNvPr id="15" name="正方形/長方形 14">
              <a:extLst>
                <a:ext uri="{FF2B5EF4-FFF2-40B4-BE49-F238E27FC236}">
                  <a16:creationId xmlns:a16="http://schemas.microsoft.com/office/drawing/2014/main" id="{56C4E6F9-C800-D1E1-691B-68B3EF85F0F0}"/>
                </a:ext>
              </a:extLst>
            </p:cNvPr>
            <p:cNvSpPr/>
            <p:nvPr/>
          </p:nvSpPr>
          <p:spPr>
            <a:xfrm>
              <a:off x="1949834" y="3772907"/>
              <a:ext cx="3240102" cy="1174658"/>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rgbClr val="008D2E"/>
                  </a:solidFill>
                  <a:latin typeface="+mn-ea"/>
                </a:rPr>
                <a:t>「国家財政」に紐づくヘルスケア ･ 予防医療の義務化と「社会インフラ化」</a:t>
              </a:r>
              <a:endParaRPr lang="en-US" altLang="ja-JP" sz="1200" b="1" dirty="0">
                <a:solidFill>
                  <a:srgbClr val="008D2E"/>
                </a:solidFill>
                <a:latin typeface="+mn-ea"/>
              </a:endParaRPr>
            </a:p>
            <a:p>
              <a:pPr marL="85725" indent="-85725">
                <a:spcAft>
                  <a:spcPts val="200"/>
                </a:spcAft>
                <a:buClr>
                  <a:srgbClr val="008D2E"/>
                </a:buClr>
                <a:buFont typeface="Arial" panose="020B0604020202020204" pitchFamily="34" charset="0"/>
                <a:buChar char="•"/>
              </a:pPr>
              <a:r>
                <a:rPr lang="ja-JP" altLang="en-US" sz="1000" dirty="0">
                  <a:solidFill>
                    <a:schemeClr val="tx1"/>
                  </a:solidFill>
                  <a:latin typeface="+mn-ea"/>
                </a:rPr>
                <a:t>社会保障費抑制に向けた未病対策の国策化、健診義務化</a:t>
              </a:r>
              <a:endParaRPr lang="en-US" altLang="ja-JP" sz="1000" dirty="0">
                <a:solidFill>
                  <a:schemeClr val="tx1"/>
                </a:solidFill>
                <a:latin typeface="+mn-ea"/>
              </a:endParaRPr>
            </a:p>
            <a:p>
              <a:pPr marL="85725" indent="-85725">
                <a:spcAft>
                  <a:spcPts val="200"/>
                </a:spcAft>
                <a:buClr>
                  <a:srgbClr val="008D2E"/>
                </a:buClr>
                <a:buFont typeface="Arial" panose="020B0604020202020204" pitchFamily="34" charset="0"/>
                <a:buChar char="•"/>
              </a:pPr>
              <a:r>
                <a:rPr lang="ja-JP" altLang="en-US" sz="1000" dirty="0">
                  <a:solidFill>
                    <a:schemeClr val="tx1"/>
                  </a:solidFill>
                  <a:latin typeface="+mn-ea"/>
                </a:rPr>
                <a:t>製品が「日雑消耗品」から「医療費抑制の社会インフラ」へ格上げされ、市場 ･ 顧客内価値が中長期に拡大</a:t>
              </a:r>
              <a:endParaRPr lang="en-US" altLang="ja-JP" sz="1000" dirty="0">
                <a:solidFill>
                  <a:schemeClr val="tx1"/>
                </a:solidFill>
                <a:latin typeface="+mn-ea"/>
              </a:endParaRPr>
            </a:p>
            <a:p>
              <a:pPr>
                <a:spcAft>
                  <a:spcPts val="200"/>
                </a:spcAft>
              </a:pPr>
              <a:endParaRPr kumimoji="1" lang="ja-JP" altLang="en-US" sz="1000" dirty="0">
                <a:solidFill>
                  <a:schemeClr val="tx1"/>
                </a:solidFill>
                <a:latin typeface="+mn-ea"/>
              </a:endParaRPr>
            </a:p>
          </p:txBody>
        </p:sp>
        <p:sp>
          <p:nvSpPr>
            <p:cNvPr id="68" name="正方形/長方形 67">
              <a:extLst>
                <a:ext uri="{FF2B5EF4-FFF2-40B4-BE49-F238E27FC236}">
                  <a16:creationId xmlns:a16="http://schemas.microsoft.com/office/drawing/2014/main" id="{C572CE4F-7209-D532-9786-4014103B4EF0}"/>
                </a:ext>
              </a:extLst>
            </p:cNvPr>
            <p:cNvSpPr/>
            <p:nvPr/>
          </p:nvSpPr>
          <p:spPr>
            <a:xfrm>
              <a:off x="1949834" y="3772907"/>
              <a:ext cx="51162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O1</a:t>
              </a:r>
              <a:endParaRPr kumimoji="1" lang="ja-JP" altLang="en-US" sz="800" dirty="0">
                <a:solidFill>
                  <a:schemeClr val="bg1"/>
                </a:solidFill>
                <a:latin typeface="+mn-ea"/>
              </a:endParaRPr>
            </a:p>
          </p:txBody>
        </p:sp>
        <p:pic>
          <p:nvPicPr>
            <p:cNvPr id="73" name="グラフィックス 72" descr="チェックマークの付いた盾 単色塗りつぶし">
              <a:extLst>
                <a:ext uri="{FF2B5EF4-FFF2-40B4-BE49-F238E27FC236}">
                  <a16:creationId xmlns:a16="http://schemas.microsoft.com/office/drawing/2014/main" id="{596AA132-A0BC-B801-B28E-F1D2FB2732C4}"/>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4829936" y="4606615"/>
              <a:ext cx="360000" cy="360000"/>
            </a:xfrm>
            <a:prstGeom prst="rect">
              <a:avLst/>
            </a:prstGeom>
          </p:spPr>
        </p:pic>
        <p:sp>
          <p:nvSpPr>
            <p:cNvPr id="20" name="正方形/長方形 19">
              <a:extLst>
                <a:ext uri="{FF2B5EF4-FFF2-40B4-BE49-F238E27FC236}">
                  <a16:creationId xmlns:a16="http://schemas.microsoft.com/office/drawing/2014/main" id="{584DAFFC-81D4-D5DC-D865-F50C17587A3B}"/>
                </a:ext>
              </a:extLst>
            </p:cNvPr>
            <p:cNvSpPr/>
            <p:nvPr/>
          </p:nvSpPr>
          <p:spPr>
            <a:xfrm>
              <a:off x="5283385" y="3772907"/>
              <a:ext cx="3240102" cy="1174658"/>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rgbClr val="008D2E"/>
                  </a:solidFill>
                  <a:latin typeface="+mn-ea"/>
                </a:rPr>
                <a:t>小売の「リテール・アズ ･ ア・サービス </a:t>
              </a:r>
              <a:r>
                <a:rPr lang="en-US" altLang="ja-JP" sz="1200" b="1" dirty="0">
                  <a:solidFill>
                    <a:srgbClr val="008D2E"/>
                  </a:solidFill>
                  <a:latin typeface="+mn-ea"/>
                </a:rPr>
                <a:t>(RaaS)</a:t>
              </a:r>
              <a:r>
                <a:rPr lang="ja-JP" altLang="en-US" sz="1200" b="1" dirty="0">
                  <a:solidFill>
                    <a:srgbClr val="008D2E"/>
                  </a:solidFill>
                  <a:latin typeface="+mn-ea"/>
                </a:rPr>
                <a:t> </a:t>
              </a:r>
              <a:r>
                <a:rPr lang="en-US" altLang="ja-JP" sz="1200" b="1" dirty="0">
                  <a:solidFill>
                    <a:srgbClr val="008D2E"/>
                  </a:solidFill>
                  <a:latin typeface="+mn-ea"/>
                </a:rPr>
                <a:t>/</a:t>
              </a:r>
              <a:r>
                <a:rPr lang="ja-JP" altLang="en-US" sz="1200" b="1" dirty="0">
                  <a:solidFill>
                    <a:srgbClr val="008D2E"/>
                  </a:solidFill>
                  <a:latin typeface="+mn-ea"/>
                </a:rPr>
                <a:t>メディア業」への本質的転換</a:t>
              </a:r>
              <a:endParaRPr lang="en-US" altLang="ja-JP" sz="1200" b="1" dirty="0">
                <a:solidFill>
                  <a:srgbClr val="008D2E"/>
                </a:solidFill>
                <a:latin typeface="+mn-ea"/>
              </a:endParaRPr>
            </a:p>
            <a:p>
              <a:pPr marL="92075" indent="-92075">
                <a:spcAft>
                  <a:spcPts val="200"/>
                </a:spcAft>
                <a:buClr>
                  <a:srgbClr val="008D2E"/>
                </a:buClr>
                <a:buFont typeface="Arial" panose="020B0604020202020204" pitchFamily="34" charset="0"/>
                <a:buChar char="•"/>
              </a:pPr>
              <a:r>
                <a:rPr lang="ja-JP" altLang="en-US" sz="1000" dirty="0">
                  <a:solidFill>
                    <a:schemeClr val="tx1"/>
                  </a:solidFill>
                  <a:latin typeface="+mn-ea"/>
                </a:rPr>
                <a:t>人口減少に伴う物販マージンの限界を受け、小売が購買データ ･ 接点を広告事業へ完全転換</a:t>
              </a:r>
              <a:endParaRPr lang="en-US" altLang="ja-JP" sz="1000" dirty="0">
                <a:solidFill>
                  <a:schemeClr val="tx1"/>
                </a:solidFill>
                <a:latin typeface="+mn-ea"/>
              </a:endParaRPr>
            </a:p>
            <a:p>
              <a:pPr marL="92075" indent="-92075">
                <a:spcAft>
                  <a:spcPts val="200"/>
                </a:spcAft>
                <a:buClr>
                  <a:srgbClr val="008D2E"/>
                </a:buClr>
                <a:buFont typeface="Arial" panose="020B0604020202020204" pitchFamily="34" charset="0"/>
                <a:buChar char="•"/>
              </a:pPr>
              <a:r>
                <a:rPr lang="ja-JP" altLang="en-US" sz="1000" dirty="0">
                  <a:solidFill>
                    <a:schemeClr val="tx1"/>
                  </a:solidFill>
                  <a:latin typeface="+mn-ea"/>
                </a:rPr>
                <a:t>販促費が「後ろ向きな値引き」から「</a:t>
              </a:r>
              <a:r>
                <a:rPr lang="en-US" altLang="ja-JP" sz="1000" dirty="0">
                  <a:solidFill>
                    <a:schemeClr val="tx1"/>
                  </a:solidFill>
                  <a:latin typeface="+mn-ea"/>
                </a:rPr>
                <a:t>ROI</a:t>
              </a:r>
              <a:r>
                <a:rPr lang="ja-JP" altLang="en-US" sz="1000" dirty="0">
                  <a:solidFill>
                    <a:schemeClr val="tx1"/>
                  </a:solidFill>
                  <a:latin typeface="+mn-ea"/>
                </a:rPr>
                <a:t>が可視化されたプログラマティック投資」へ進化</a:t>
              </a:r>
              <a:endParaRPr kumimoji="1" lang="ja-JP" altLang="en-US" sz="1000" dirty="0">
                <a:solidFill>
                  <a:schemeClr val="tx1"/>
                </a:solidFill>
                <a:latin typeface="+mn-ea"/>
              </a:endParaRPr>
            </a:p>
          </p:txBody>
        </p:sp>
        <p:sp>
          <p:nvSpPr>
            <p:cNvPr id="69" name="正方形/長方形 68">
              <a:extLst>
                <a:ext uri="{FF2B5EF4-FFF2-40B4-BE49-F238E27FC236}">
                  <a16:creationId xmlns:a16="http://schemas.microsoft.com/office/drawing/2014/main" id="{02A48B56-51DE-4095-06E1-4163FDA56430}"/>
                </a:ext>
              </a:extLst>
            </p:cNvPr>
            <p:cNvSpPr/>
            <p:nvPr/>
          </p:nvSpPr>
          <p:spPr>
            <a:xfrm>
              <a:off x="5283385" y="3772907"/>
              <a:ext cx="51162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O2</a:t>
              </a:r>
              <a:endParaRPr kumimoji="1" lang="ja-JP" altLang="en-US" sz="800" dirty="0">
                <a:solidFill>
                  <a:schemeClr val="bg1"/>
                </a:solidFill>
                <a:latin typeface="+mn-ea"/>
              </a:endParaRPr>
            </a:p>
          </p:txBody>
        </p:sp>
        <p:pic>
          <p:nvPicPr>
            <p:cNvPr id="75" name="グラフィックス 74" descr="電球と鉛筆 単色塗りつぶし">
              <a:extLst>
                <a:ext uri="{FF2B5EF4-FFF2-40B4-BE49-F238E27FC236}">
                  <a16:creationId xmlns:a16="http://schemas.microsoft.com/office/drawing/2014/main" id="{D1DDCBA5-1A62-399D-8A07-B57CFB0F4467}"/>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163488" y="4587565"/>
              <a:ext cx="360000" cy="360000"/>
            </a:xfrm>
            <a:prstGeom prst="rect">
              <a:avLst/>
            </a:prstGeom>
          </p:spPr>
        </p:pic>
        <p:sp>
          <p:nvSpPr>
            <p:cNvPr id="25" name="正方形/長方形 24">
              <a:extLst>
                <a:ext uri="{FF2B5EF4-FFF2-40B4-BE49-F238E27FC236}">
                  <a16:creationId xmlns:a16="http://schemas.microsoft.com/office/drawing/2014/main" id="{95CD4966-1E97-3597-87B4-97CF82B11B08}"/>
                </a:ext>
              </a:extLst>
            </p:cNvPr>
            <p:cNvSpPr/>
            <p:nvPr/>
          </p:nvSpPr>
          <p:spPr>
            <a:xfrm>
              <a:off x="8616935" y="3772907"/>
              <a:ext cx="3240102" cy="1174658"/>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rgbClr val="008D2E"/>
                  </a:solidFill>
                  <a:latin typeface="+mn-ea"/>
                </a:rPr>
                <a:t>企業間データ分散秘匿接合 </a:t>
              </a:r>
              <a:r>
                <a:rPr lang="en-US" altLang="ja-JP" sz="1200" b="1" dirty="0">
                  <a:solidFill>
                    <a:srgbClr val="008D2E"/>
                  </a:solidFill>
                  <a:latin typeface="+mn-ea"/>
                </a:rPr>
                <a:t>(DCR</a:t>
              </a:r>
              <a:r>
                <a:rPr lang="ja-JP" altLang="en-US" sz="1200" b="1" dirty="0">
                  <a:solidFill>
                    <a:srgbClr val="008D2E"/>
                  </a:solidFill>
                  <a:latin typeface="+mn-ea"/>
                </a:rPr>
                <a:t>等</a:t>
              </a:r>
              <a:r>
                <a:rPr lang="en-US" altLang="ja-JP" sz="1200" b="1" dirty="0">
                  <a:solidFill>
                    <a:srgbClr val="008D2E"/>
                  </a:solidFill>
                  <a:latin typeface="+mn-ea"/>
                </a:rPr>
                <a:t>) </a:t>
              </a:r>
              <a:r>
                <a:rPr lang="ja-JP" altLang="en-US" sz="1200" b="1" dirty="0">
                  <a:solidFill>
                    <a:srgbClr val="008D2E"/>
                  </a:solidFill>
                  <a:latin typeface="+mn-ea"/>
                </a:rPr>
                <a:t>の標準化による「空中戦と地上戦の完全同期」</a:t>
              </a:r>
              <a:endParaRPr lang="en-US" altLang="ja-JP" sz="1200" b="1" dirty="0">
                <a:solidFill>
                  <a:srgbClr val="008D2E"/>
                </a:solidFill>
                <a:latin typeface="+mn-ea"/>
              </a:endParaRPr>
            </a:p>
            <a:p>
              <a:pPr marL="92075" indent="-92075">
                <a:spcAft>
                  <a:spcPts val="200"/>
                </a:spcAft>
                <a:buClr>
                  <a:srgbClr val="008D2E"/>
                </a:buClr>
                <a:buFont typeface="Arial" panose="020B0604020202020204" pitchFamily="34" charset="0"/>
                <a:buChar char="•"/>
              </a:pPr>
              <a:r>
                <a:rPr lang="ja-JP" altLang="en-US" sz="1000" dirty="0">
                  <a:solidFill>
                    <a:schemeClr val="tx1"/>
                  </a:solidFill>
                  <a:latin typeface="+mn-ea"/>
                </a:rPr>
                <a:t>秘匿データ掛け合わせ技術のインフラ化</a:t>
              </a:r>
              <a:endParaRPr lang="en-US" altLang="ja-JP" sz="1000" dirty="0">
                <a:solidFill>
                  <a:schemeClr val="tx1"/>
                </a:solidFill>
                <a:latin typeface="+mn-ea"/>
              </a:endParaRPr>
            </a:p>
            <a:p>
              <a:pPr marL="92075" indent="-92075">
                <a:spcAft>
                  <a:spcPts val="200"/>
                </a:spcAft>
                <a:buClr>
                  <a:srgbClr val="008D2E"/>
                </a:buClr>
                <a:buFont typeface="Arial" panose="020B0604020202020204" pitchFamily="34" charset="0"/>
                <a:buChar char="•"/>
              </a:pPr>
              <a:r>
                <a:rPr lang="ja-JP" altLang="en-US" sz="1000" dirty="0">
                  <a:solidFill>
                    <a:schemeClr val="tx1"/>
                  </a:solidFill>
                  <a:latin typeface="+mn-ea"/>
                </a:rPr>
                <a:t>認知施策から各チェーンの実購買までの因果関係が</a:t>
              </a:r>
              <a:r>
                <a:rPr lang="en-US" altLang="ja-JP" sz="1000" dirty="0">
                  <a:solidFill>
                    <a:schemeClr val="tx1"/>
                  </a:solidFill>
                  <a:latin typeface="+mn-ea"/>
                </a:rPr>
                <a:t>100%</a:t>
              </a:r>
              <a:r>
                <a:rPr lang="ja-JP" altLang="en-US" sz="1000" dirty="0">
                  <a:solidFill>
                    <a:schemeClr val="tx1"/>
                  </a:solidFill>
                  <a:latin typeface="+mn-ea"/>
                </a:rPr>
                <a:t>定量化され、無駄なマス投資を完全排除 ･ 最適化できる</a:t>
              </a:r>
              <a:endParaRPr kumimoji="1" lang="ja-JP" altLang="en-US" sz="1000" dirty="0">
                <a:solidFill>
                  <a:schemeClr val="tx1"/>
                </a:solidFill>
                <a:latin typeface="+mn-ea"/>
              </a:endParaRPr>
            </a:p>
          </p:txBody>
        </p:sp>
        <p:sp>
          <p:nvSpPr>
            <p:cNvPr id="70" name="正方形/長方形 69">
              <a:extLst>
                <a:ext uri="{FF2B5EF4-FFF2-40B4-BE49-F238E27FC236}">
                  <a16:creationId xmlns:a16="http://schemas.microsoft.com/office/drawing/2014/main" id="{6B2F0DCC-088E-596F-22D8-5FD3ABDFF2BC}"/>
                </a:ext>
              </a:extLst>
            </p:cNvPr>
            <p:cNvSpPr/>
            <p:nvPr/>
          </p:nvSpPr>
          <p:spPr>
            <a:xfrm>
              <a:off x="8616934" y="3772907"/>
              <a:ext cx="51162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O3</a:t>
              </a:r>
              <a:endParaRPr kumimoji="1" lang="ja-JP" altLang="en-US" sz="800" dirty="0">
                <a:solidFill>
                  <a:schemeClr val="bg1"/>
                </a:solidFill>
                <a:latin typeface="+mn-ea"/>
              </a:endParaRPr>
            </a:p>
          </p:txBody>
        </p:sp>
        <p:pic>
          <p:nvPicPr>
            <p:cNvPr id="77" name="グラフィックス 76" descr="棒グラフ 単色塗りつぶし">
              <a:extLst>
                <a:ext uri="{FF2B5EF4-FFF2-40B4-BE49-F238E27FC236}">
                  <a16:creationId xmlns:a16="http://schemas.microsoft.com/office/drawing/2014/main" id="{FC2CD1BE-3352-F7E7-B946-046488C0977C}"/>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1497039" y="4587565"/>
              <a:ext cx="360000" cy="360000"/>
            </a:xfrm>
            <a:prstGeom prst="rect">
              <a:avLst/>
            </a:prstGeom>
          </p:spPr>
        </p:pic>
      </p:grpSp>
      <p:grpSp>
        <p:nvGrpSpPr>
          <p:cNvPr id="27" name="グループ化 26">
            <a:extLst>
              <a:ext uri="{FF2B5EF4-FFF2-40B4-BE49-F238E27FC236}">
                <a16:creationId xmlns:a16="http://schemas.microsoft.com/office/drawing/2014/main" id="{3979FD61-97B1-1EA7-3666-C78372A9FE08}"/>
              </a:ext>
            </a:extLst>
          </p:cNvPr>
          <p:cNvGrpSpPr/>
          <p:nvPr/>
        </p:nvGrpSpPr>
        <p:grpSpPr>
          <a:xfrm>
            <a:off x="334962" y="5029205"/>
            <a:ext cx="11522075" cy="1279520"/>
            <a:chOff x="334962" y="5029205"/>
            <a:chExt cx="11522075" cy="1279520"/>
          </a:xfrm>
        </p:grpSpPr>
        <p:sp>
          <p:nvSpPr>
            <p:cNvPr id="16" name="正方形/長方形 15">
              <a:extLst>
                <a:ext uri="{FF2B5EF4-FFF2-40B4-BE49-F238E27FC236}">
                  <a16:creationId xmlns:a16="http://schemas.microsoft.com/office/drawing/2014/main" id="{3BD2338E-2279-B004-A79F-7AAB45527B3D}"/>
                </a:ext>
              </a:extLst>
            </p:cNvPr>
            <p:cNvSpPr/>
            <p:nvPr/>
          </p:nvSpPr>
          <p:spPr>
            <a:xfrm>
              <a:off x="1949834" y="5029205"/>
              <a:ext cx="2424359" cy="1279520"/>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chemeClr val="bg1">
                      <a:lumMod val="50000"/>
                    </a:schemeClr>
                  </a:solidFill>
                  <a:latin typeface="+mn-ea"/>
                </a:rPr>
                <a:t>プライバシー ･ ガバナンスの極限化による「サードパーティデータ消滅」</a:t>
              </a:r>
              <a:endParaRPr lang="en-US" altLang="ja-JP" sz="1200" b="1" dirty="0">
                <a:solidFill>
                  <a:schemeClr val="bg1">
                    <a:lumMod val="50000"/>
                  </a:schemeClr>
                </a:solidFill>
                <a:latin typeface="+mn-ea"/>
              </a:endParaRPr>
            </a:p>
            <a:p>
              <a:pPr marL="92075" indent="-92075">
                <a:spcAft>
                  <a:spcPts val="200"/>
                </a:spcAft>
                <a:buClr>
                  <a:schemeClr val="bg1">
                    <a:lumMod val="50000"/>
                  </a:schemeClr>
                </a:buClr>
                <a:buFont typeface="Arial" panose="020B0604020202020204" pitchFamily="34" charset="0"/>
                <a:buChar char="•"/>
              </a:pPr>
              <a:r>
                <a:rPr lang="ja-JP" altLang="en-US" sz="1000" dirty="0">
                  <a:solidFill>
                    <a:schemeClr val="bg1">
                      <a:lumMod val="50000"/>
                    </a:schemeClr>
                  </a:solidFill>
                  <a:latin typeface="+mn-ea"/>
                </a:rPr>
                <a:t>データ規制による外部データの利用不能化</a:t>
              </a:r>
              <a:endParaRPr lang="en-US" altLang="ja-JP" sz="1000" dirty="0">
                <a:solidFill>
                  <a:schemeClr val="bg1">
                    <a:lumMod val="50000"/>
                  </a:schemeClr>
                </a:solidFill>
                <a:latin typeface="+mn-ea"/>
              </a:endParaRPr>
            </a:p>
            <a:p>
              <a:pPr marL="92075" indent="-92075">
                <a:spcAft>
                  <a:spcPts val="200"/>
                </a:spcAft>
                <a:buClr>
                  <a:schemeClr val="bg1">
                    <a:lumMod val="50000"/>
                  </a:schemeClr>
                </a:buClr>
                <a:buFont typeface="Arial" panose="020B0604020202020204" pitchFamily="34" charset="0"/>
                <a:buChar char="•"/>
              </a:pPr>
              <a:r>
                <a:rPr lang="ja-JP" altLang="en-US" sz="1000" dirty="0">
                  <a:solidFill>
                    <a:schemeClr val="bg1">
                      <a:lumMod val="50000"/>
                    </a:schemeClr>
                  </a:solidFill>
                  <a:latin typeface="+mn-ea"/>
                </a:rPr>
                <a:t>自社で顧客データを直接捕捉・維持する仕組みを持たないメーカーは、アプローチ手段を喪失</a:t>
              </a:r>
              <a:endParaRPr lang="en-US" altLang="ja-JP" sz="1000" dirty="0">
                <a:solidFill>
                  <a:schemeClr val="bg1">
                    <a:lumMod val="50000"/>
                  </a:schemeClr>
                </a:solidFill>
                <a:latin typeface="+mn-ea"/>
              </a:endParaRPr>
            </a:p>
            <a:p>
              <a:pPr>
                <a:spcAft>
                  <a:spcPts val="200"/>
                </a:spcAft>
              </a:pPr>
              <a:endParaRPr kumimoji="1" lang="ja-JP" altLang="en-US" sz="1000" dirty="0">
                <a:solidFill>
                  <a:schemeClr val="bg1">
                    <a:lumMod val="50000"/>
                  </a:schemeClr>
                </a:solidFill>
                <a:latin typeface="+mn-ea"/>
              </a:endParaRPr>
            </a:p>
          </p:txBody>
        </p:sp>
        <p:sp>
          <p:nvSpPr>
            <p:cNvPr id="79" name="正方形/長方形 78">
              <a:extLst>
                <a:ext uri="{FF2B5EF4-FFF2-40B4-BE49-F238E27FC236}">
                  <a16:creationId xmlns:a16="http://schemas.microsoft.com/office/drawing/2014/main" id="{A7D09C33-4395-E81A-6FBE-106E2C2E4126}"/>
                </a:ext>
              </a:extLst>
            </p:cNvPr>
            <p:cNvSpPr/>
            <p:nvPr/>
          </p:nvSpPr>
          <p:spPr>
            <a:xfrm>
              <a:off x="1949834" y="5029205"/>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T1</a:t>
              </a:r>
              <a:endParaRPr kumimoji="1" lang="ja-JP" altLang="en-US" sz="900" dirty="0">
                <a:solidFill>
                  <a:schemeClr val="bg1"/>
                </a:solidFill>
                <a:latin typeface="+mn-ea"/>
              </a:endParaRPr>
            </a:p>
          </p:txBody>
        </p:sp>
        <p:pic>
          <p:nvPicPr>
            <p:cNvPr id="84" name="グラフィックス 83" descr="下降基調のグラフ 単色塗りつぶし">
              <a:extLst>
                <a:ext uri="{FF2B5EF4-FFF2-40B4-BE49-F238E27FC236}">
                  <a16:creationId xmlns:a16="http://schemas.microsoft.com/office/drawing/2014/main" id="{7DED8AC0-38A8-463B-905D-2ACAC9218951}"/>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014193" y="5948725"/>
              <a:ext cx="360000" cy="360000"/>
            </a:xfrm>
            <a:prstGeom prst="rect">
              <a:avLst/>
            </a:prstGeom>
          </p:spPr>
        </p:pic>
        <p:sp>
          <p:nvSpPr>
            <p:cNvPr id="21" name="正方形/長方形 20">
              <a:extLst>
                <a:ext uri="{FF2B5EF4-FFF2-40B4-BE49-F238E27FC236}">
                  <a16:creationId xmlns:a16="http://schemas.microsoft.com/office/drawing/2014/main" id="{93728904-AB70-3C6C-7039-4D117F480E51}"/>
                </a:ext>
              </a:extLst>
            </p:cNvPr>
            <p:cNvSpPr/>
            <p:nvPr/>
          </p:nvSpPr>
          <p:spPr>
            <a:xfrm>
              <a:off x="4444115" y="5029205"/>
              <a:ext cx="2424359" cy="1279520"/>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en-US" altLang="ja-JP" sz="1200" b="1" dirty="0">
                  <a:solidFill>
                    <a:schemeClr val="bg1">
                      <a:lumMod val="50000"/>
                    </a:schemeClr>
                  </a:solidFill>
                  <a:latin typeface="+mn-ea"/>
                </a:rPr>
                <a:t>AI</a:t>
              </a:r>
              <a:r>
                <a:rPr lang="ja-JP" altLang="en-US" sz="1200" b="1" dirty="0">
                  <a:solidFill>
                    <a:schemeClr val="bg1">
                      <a:lumMod val="50000"/>
                    </a:schemeClr>
                  </a:solidFill>
                  <a:latin typeface="+mn-ea"/>
                </a:rPr>
                <a:t>エージェントと空間センサーによる</a:t>
              </a:r>
              <a:br>
                <a:rPr lang="en-US" altLang="ja-JP" sz="1200" b="1" dirty="0">
                  <a:solidFill>
                    <a:schemeClr val="bg1">
                      <a:lumMod val="50000"/>
                    </a:schemeClr>
                  </a:solidFill>
                  <a:latin typeface="+mn-ea"/>
                </a:rPr>
              </a:br>
              <a:r>
                <a:rPr lang="ja-JP" altLang="en-US" sz="1200" b="1" dirty="0">
                  <a:solidFill>
                    <a:schemeClr val="bg1">
                      <a:lumMod val="50000"/>
                    </a:schemeClr>
                  </a:solidFill>
                  <a:latin typeface="+mn-ea"/>
                </a:rPr>
                <a:t>「買い場およびブランド想起の消滅」</a:t>
              </a:r>
              <a:endParaRPr lang="en-US" altLang="ja-JP" sz="1200" b="1" dirty="0">
                <a:solidFill>
                  <a:schemeClr val="bg1">
                    <a:lumMod val="50000"/>
                  </a:schemeClr>
                </a:solidFill>
                <a:latin typeface="+mn-ea"/>
              </a:endParaRPr>
            </a:p>
            <a:p>
              <a:pPr marL="92075" indent="-92075">
                <a:spcAft>
                  <a:spcPts val="200"/>
                </a:spcAft>
                <a:buClr>
                  <a:schemeClr val="bg1">
                    <a:lumMod val="50000"/>
                  </a:schemeClr>
                </a:buClr>
                <a:buFont typeface="Arial" panose="020B0604020202020204" pitchFamily="34" charset="0"/>
                <a:buChar char="•"/>
              </a:pPr>
              <a:r>
                <a:rPr lang="ja-JP" altLang="en-US" sz="1000" dirty="0">
                  <a:solidFill>
                    <a:schemeClr val="bg1">
                      <a:lumMod val="50000"/>
                    </a:schemeClr>
                  </a:solidFill>
                  <a:latin typeface="+mn-ea"/>
                </a:rPr>
                <a:t>対話型</a:t>
              </a:r>
              <a:r>
                <a:rPr lang="en-US" altLang="ja-JP" sz="1000" dirty="0">
                  <a:solidFill>
                    <a:schemeClr val="bg1">
                      <a:lumMod val="50000"/>
                    </a:schemeClr>
                  </a:solidFill>
                  <a:latin typeface="+mn-ea"/>
                </a:rPr>
                <a:t>AI</a:t>
              </a:r>
              <a:r>
                <a:rPr lang="ja-JP" altLang="en-US" sz="1000" dirty="0">
                  <a:solidFill>
                    <a:schemeClr val="bg1">
                      <a:lumMod val="50000"/>
                    </a:schemeClr>
                  </a:solidFill>
                  <a:latin typeface="+mn-ea"/>
                </a:rPr>
                <a:t>やスマートホームへの購買委任に伴う自動補充の定着</a:t>
              </a:r>
              <a:endParaRPr lang="en-US" altLang="ja-JP" sz="1000" dirty="0">
                <a:solidFill>
                  <a:schemeClr val="bg1">
                    <a:lumMod val="50000"/>
                  </a:schemeClr>
                </a:solidFill>
                <a:latin typeface="+mn-ea"/>
              </a:endParaRPr>
            </a:p>
            <a:p>
              <a:pPr marL="92075" indent="-92075">
                <a:spcAft>
                  <a:spcPts val="200"/>
                </a:spcAft>
                <a:buClr>
                  <a:schemeClr val="bg1">
                    <a:lumMod val="50000"/>
                  </a:schemeClr>
                </a:buClr>
                <a:buFont typeface="Arial" panose="020B0604020202020204" pitchFamily="34" charset="0"/>
                <a:buChar char="•"/>
              </a:pPr>
              <a:r>
                <a:rPr lang="ja-JP" altLang="en-US" sz="1000" dirty="0">
                  <a:solidFill>
                    <a:schemeClr val="bg1">
                      <a:lumMod val="50000"/>
                    </a:schemeClr>
                  </a:solidFill>
                  <a:latin typeface="+mn-ea"/>
                </a:rPr>
                <a:t>「棚で迷う ･ 調べる」プロセスが消え、人間向けの</a:t>
              </a:r>
              <a:r>
                <a:rPr lang="en-US" altLang="ja-JP" sz="1000" dirty="0">
                  <a:solidFill>
                    <a:schemeClr val="bg1">
                      <a:lumMod val="50000"/>
                    </a:schemeClr>
                  </a:solidFill>
                  <a:latin typeface="+mn-ea"/>
                </a:rPr>
                <a:t>TVCM</a:t>
              </a:r>
              <a:r>
                <a:rPr lang="ja-JP" altLang="en-US" sz="1000" dirty="0">
                  <a:solidFill>
                    <a:schemeClr val="bg1">
                      <a:lumMod val="50000"/>
                    </a:schemeClr>
                  </a:solidFill>
                  <a:latin typeface="+mn-ea"/>
                </a:rPr>
                <a:t>や店頭</a:t>
              </a:r>
              <a:r>
                <a:rPr lang="en-US" altLang="ja-JP" sz="1000" dirty="0">
                  <a:solidFill>
                    <a:schemeClr val="bg1">
                      <a:lumMod val="50000"/>
                    </a:schemeClr>
                  </a:solidFill>
                  <a:latin typeface="+mn-ea"/>
                </a:rPr>
                <a:t>POP</a:t>
              </a:r>
              <a:r>
                <a:rPr lang="ja-JP" altLang="en-US" sz="1000" dirty="0">
                  <a:solidFill>
                    <a:schemeClr val="bg1">
                      <a:lumMod val="50000"/>
                    </a:schemeClr>
                  </a:solidFill>
                  <a:latin typeface="+mn-ea"/>
                </a:rPr>
                <a:t>が機能不全に</a:t>
              </a:r>
              <a:endParaRPr lang="en-US" altLang="ja-JP" sz="1000" dirty="0">
                <a:solidFill>
                  <a:schemeClr val="bg1">
                    <a:lumMod val="50000"/>
                  </a:schemeClr>
                </a:solidFill>
                <a:latin typeface="+mn-ea"/>
              </a:endParaRPr>
            </a:p>
          </p:txBody>
        </p:sp>
        <p:sp>
          <p:nvSpPr>
            <p:cNvPr id="82" name="正方形/長方形 81">
              <a:extLst>
                <a:ext uri="{FF2B5EF4-FFF2-40B4-BE49-F238E27FC236}">
                  <a16:creationId xmlns:a16="http://schemas.microsoft.com/office/drawing/2014/main" id="{7DD6BCC0-1C47-8104-090F-C1622F73CFA5}"/>
                </a:ext>
              </a:extLst>
            </p:cNvPr>
            <p:cNvSpPr/>
            <p:nvPr/>
          </p:nvSpPr>
          <p:spPr>
            <a:xfrm>
              <a:off x="4444116" y="5029205"/>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T2</a:t>
              </a:r>
              <a:endParaRPr kumimoji="1" lang="ja-JP" altLang="en-US" sz="900" dirty="0">
                <a:solidFill>
                  <a:schemeClr val="bg1"/>
                </a:solidFill>
                <a:latin typeface="+mn-ea"/>
              </a:endParaRPr>
            </a:p>
          </p:txBody>
        </p:sp>
        <p:pic>
          <p:nvPicPr>
            <p:cNvPr id="86" name="グラフィックス 85" descr="人工知能 単色塗りつぶし">
              <a:extLst>
                <a:ext uri="{FF2B5EF4-FFF2-40B4-BE49-F238E27FC236}">
                  <a16:creationId xmlns:a16="http://schemas.microsoft.com/office/drawing/2014/main" id="{48CC6952-AEC5-7F48-676E-F9C62EBD0C53}"/>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508474" y="5948725"/>
              <a:ext cx="360000" cy="360000"/>
            </a:xfrm>
            <a:prstGeom prst="rect">
              <a:avLst/>
            </a:prstGeom>
          </p:spPr>
        </p:pic>
        <p:sp>
          <p:nvSpPr>
            <p:cNvPr id="26" name="正方形/長方形 25">
              <a:extLst>
                <a:ext uri="{FF2B5EF4-FFF2-40B4-BE49-F238E27FC236}">
                  <a16:creationId xmlns:a16="http://schemas.microsoft.com/office/drawing/2014/main" id="{61B7E7A1-147C-63C4-ED4C-5894ABC23903}"/>
                </a:ext>
              </a:extLst>
            </p:cNvPr>
            <p:cNvSpPr/>
            <p:nvPr/>
          </p:nvSpPr>
          <p:spPr>
            <a:xfrm>
              <a:off x="6938396" y="5029205"/>
              <a:ext cx="2424359" cy="1279520"/>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marL="0" lvl="1">
                <a:spcAft>
                  <a:spcPts val="200"/>
                </a:spcAft>
              </a:pPr>
              <a:r>
                <a:rPr lang="ja-JP" altLang="en-US" sz="1200" b="1" dirty="0">
                  <a:solidFill>
                    <a:schemeClr val="bg1">
                      <a:lumMod val="50000"/>
                    </a:schemeClr>
                  </a:solidFill>
                  <a:latin typeface="+mn-ea"/>
                </a:rPr>
                <a:t>自律型スマートストア化に伴う</a:t>
              </a:r>
              <a:br>
                <a:rPr lang="en-US" altLang="ja-JP" sz="1200" b="1" dirty="0">
                  <a:solidFill>
                    <a:schemeClr val="bg1">
                      <a:lumMod val="50000"/>
                    </a:schemeClr>
                  </a:solidFill>
                  <a:latin typeface="+mn-ea"/>
                </a:rPr>
              </a:br>
              <a:r>
                <a:rPr lang="ja-JP" altLang="en-US" sz="1200" b="1" dirty="0">
                  <a:solidFill>
                    <a:schemeClr val="bg1">
                      <a:lumMod val="50000"/>
                    </a:schemeClr>
                  </a:solidFill>
                  <a:latin typeface="+mn-ea"/>
                </a:rPr>
                <a:t>「小売実店舗の人的作業拒絶」</a:t>
              </a:r>
              <a:endParaRPr lang="en-US" altLang="ja-JP" sz="1200" b="1" dirty="0">
                <a:solidFill>
                  <a:schemeClr val="bg1">
                    <a:lumMod val="50000"/>
                  </a:schemeClr>
                </a:solidFill>
                <a:latin typeface="+mn-ea"/>
              </a:endParaRPr>
            </a:p>
            <a:p>
              <a:pPr marL="87313" lvl="1" indent="-87313">
                <a:spcAft>
                  <a:spcPts val="200"/>
                </a:spcAft>
                <a:buClr>
                  <a:schemeClr val="bg1">
                    <a:lumMod val="50000"/>
                  </a:schemeClr>
                </a:buClr>
                <a:buFont typeface="Arial" panose="020B0604020202020204" pitchFamily="34" charset="0"/>
                <a:buChar char="•"/>
              </a:pPr>
              <a:r>
                <a:rPr lang="ja-JP" altLang="en-US" sz="1000" dirty="0">
                  <a:solidFill>
                    <a:schemeClr val="bg1">
                      <a:lumMod val="50000"/>
                    </a:schemeClr>
                  </a:solidFill>
                  <a:latin typeface="+mn-ea"/>
                </a:rPr>
                <a:t>労働人口激減と、</a:t>
              </a:r>
              <a:r>
                <a:rPr lang="en-US" altLang="ja-JP" sz="1000" dirty="0">
                  <a:solidFill>
                    <a:schemeClr val="bg1">
                      <a:lumMod val="50000"/>
                    </a:schemeClr>
                  </a:solidFill>
                  <a:latin typeface="+mn-ea"/>
                </a:rPr>
                <a:t>AI</a:t>
              </a:r>
              <a:r>
                <a:rPr lang="ja-JP" altLang="en-US" sz="1000" dirty="0">
                  <a:solidFill>
                    <a:schemeClr val="bg1">
                      <a:lumMod val="50000"/>
                    </a:schemeClr>
                  </a:solidFill>
                  <a:latin typeface="+mn-ea"/>
                </a:rPr>
                <a:t>需要予測 ･ 電子棚札等の定着による店舗運営の無人化</a:t>
              </a:r>
              <a:endParaRPr lang="en-US" altLang="ja-JP" sz="1000" dirty="0">
                <a:solidFill>
                  <a:schemeClr val="bg1">
                    <a:lumMod val="50000"/>
                  </a:schemeClr>
                </a:solidFill>
                <a:latin typeface="+mn-ea"/>
              </a:endParaRPr>
            </a:p>
            <a:p>
              <a:pPr marL="87313" lvl="1" indent="-87313">
                <a:spcAft>
                  <a:spcPts val="200"/>
                </a:spcAft>
                <a:buClr>
                  <a:schemeClr val="bg1">
                    <a:lumMod val="50000"/>
                  </a:schemeClr>
                </a:buClr>
                <a:buFont typeface="Arial" panose="020B0604020202020204" pitchFamily="34" charset="0"/>
                <a:buChar char="•"/>
              </a:pPr>
              <a:r>
                <a:rPr lang="ja-JP" altLang="en-US" sz="1000" dirty="0">
                  <a:solidFill>
                    <a:schemeClr val="bg1">
                      <a:lumMod val="50000"/>
                    </a:schemeClr>
                  </a:solidFill>
                  <a:latin typeface="+mn-ea"/>
                </a:rPr>
                <a:t>品出し･棚替え等、人的を要する提案は、調達アルゴリズムが自動で足切り </a:t>
              </a:r>
              <a:r>
                <a:rPr lang="en-US" altLang="ja-JP" sz="1000" dirty="0">
                  <a:solidFill>
                    <a:schemeClr val="bg1">
                      <a:lumMod val="50000"/>
                    </a:schemeClr>
                  </a:solidFill>
                  <a:latin typeface="+mn-ea"/>
                </a:rPr>
                <a:t>(</a:t>
              </a:r>
              <a:r>
                <a:rPr lang="ja-JP" altLang="en-US" sz="1000" dirty="0">
                  <a:solidFill>
                    <a:schemeClr val="bg1">
                      <a:lumMod val="50000"/>
                    </a:schemeClr>
                  </a:solidFill>
                  <a:latin typeface="+mn-ea"/>
                </a:rPr>
                <a:t>棚落ち</a:t>
              </a:r>
              <a:r>
                <a:rPr lang="en-US" altLang="ja-JP" sz="1000" dirty="0">
                  <a:solidFill>
                    <a:schemeClr val="bg1">
                      <a:lumMod val="50000"/>
                    </a:schemeClr>
                  </a:solidFill>
                  <a:latin typeface="+mn-ea"/>
                </a:rPr>
                <a:t>)</a:t>
              </a:r>
              <a:r>
                <a:rPr lang="ja-JP" altLang="en-US" sz="1000" dirty="0">
                  <a:solidFill>
                    <a:schemeClr val="bg1">
                      <a:lumMod val="50000"/>
                    </a:schemeClr>
                  </a:solidFill>
                  <a:latin typeface="+mn-ea"/>
                </a:rPr>
                <a:t> する</a:t>
              </a:r>
              <a:endParaRPr lang="en-US" altLang="ja-JP" sz="1000" dirty="0">
                <a:solidFill>
                  <a:schemeClr val="bg1">
                    <a:lumMod val="50000"/>
                  </a:schemeClr>
                </a:solidFill>
                <a:latin typeface="+mn-ea"/>
              </a:endParaRPr>
            </a:p>
          </p:txBody>
        </p:sp>
        <p:pic>
          <p:nvPicPr>
            <p:cNvPr id="88" name="グラフィックス 87" descr="キオスク 単色塗りつぶし">
              <a:extLst>
                <a:ext uri="{FF2B5EF4-FFF2-40B4-BE49-F238E27FC236}">
                  <a16:creationId xmlns:a16="http://schemas.microsoft.com/office/drawing/2014/main" id="{77C98077-E48E-59AC-A90D-68A281195C10}"/>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9002754" y="5948725"/>
              <a:ext cx="360000" cy="360000"/>
            </a:xfrm>
            <a:prstGeom prst="rect">
              <a:avLst/>
            </a:prstGeom>
          </p:spPr>
        </p:pic>
        <p:sp>
          <p:nvSpPr>
            <p:cNvPr id="91" name="正方形/長方形 90">
              <a:extLst>
                <a:ext uri="{FF2B5EF4-FFF2-40B4-BE49-F238E27FC236}">
                  <a16:creationId xmlns:a16="http://schemas.microsoft.com/office/drawing/2014/main" id="{847C15CE-295F-2483-C61A-A0CC7C9EAEF2}"/>
                </a:ext>
              </a:extLst>
            </p:cNvPr>
            <p:cNvSpPr/>
            <p:nvPr/>
          </p:nvSpPr>
          <p:spPr>
            <a:xfrm>
              <a:off x="6938396" y="5029205"/>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T3</a:t>
              </a:r>
              <a:endParaRPr kumimoji="1" lang="ja-JP" altLang="en-US" sz="900" dirty="0">
                <a:solidFill>
                  <a:schemeClr val="bg1"/>
                </a:solidFill>
                <a:latin typeface="+mn-ea"/>
              </a:endParaRPr>
            </a:p>
          </p:txBody>
        </p:sp>
        <p:sp>
          <p:nvSpPr>
            <p:cNvPr id="31" name="正方形/長方形 30">
              <a:extLst>
                <a:ext uri="{FF2B5EF4-FFF2-40B4-BE49-F238E27FC236}">
                  <a16:creationId xmlns:a16="http://schemas.microsoft.com/office/drawing/2014/main" id="{0D7A5E77-733A-E6FA-C94F-52CE5DD29F57}"/>
                </a:ext>
              </a:extLst>
            </p:cNvPr>
            <p:cNvSpPr/>
            <p:nvPr/>
          </p:nvSpPr>
          <p:spPr>
            <a:xfrm>
              <a:off x="9432678" y="5029205"/>
              <a:ext cx="2424359" cy="1279520"/>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chemeClr val="bg1">
                      <a:lumMod val="50000"/>
                    </a:schemeClr>
                  </a:solidFill>
                  <a:latin typeface="+mn-ea"/>
                </a:rPr>
                <a:t>卸・小売りの冷徹な合理化定量化</a:t>
              </a:r>
              <a:endParaRPr lang="en-US" altLang="ja-JP" sz="1200" b="1" dirty="0">
                <a:solidFill>
                  <a:schemeClr val="bg1">
                    <a:lumMod val="50000"/>
                  </a:schemeClr>
                </a:solidFill>
                <a:latin typeface="+mn-ea"/>
              </a:endParaRPr>
            </a:p>
            <a:p>
              <a:pPr marL="87313" indent="-87313">
                <a:spcAft>
                  <a:spcPts val="200"/>
                </a:spcAft>
                <a:buFont typeface="Arial" panose="020B0604020202020204" pitchFamily="34" charset="0"/>
                <a:buChar char="•"/>
              </a:pPr>
              <a:r>
                <a:rPr lang="en-US" altLang="ja-JP" sz="1000" dirty="0">
                  <a:solidFill>
                    <a:schemeClr val="bg1">
                      <a:lumMod val="50000"/>
                    </a:schemeClr>
                  </a:solidFill>
                  <a:latin typeface="+mn-ea"/>
                </a:rPr>
                <a:t>AI</a:t>
              </a:r>
              <a:r>
                <a:rPr lang="ja-JP" altLang="en-US" sz="1000" dirty="0">
                  <a:solidFill>
                    <a:schemeClr val="bg1">
                      <a:lumMod val="50000"/>
                    </a:schemeClr>
                  </a:solidFill>
                  <a:latin typeface="+mn-ea"/>
                </a:rPr>
                <a:t>による棚割最適化と本部システムの冷徹な</a:t>
              </a:r>
              <a:br>
                <a:rPr lang="en-US" altLang="ja-JP" sz="1000" dirty="0">
                  <a:solidFill>
                    <a:schemeClr val="bg1">
                      <a:lumMod val="50000"/>
                    </a:schemeClr>
                  </a:solidFill>
                  <a:latin typeface="+mn-ea"/>
                </a:rPr>
              </a:br>
              <a:r>
                <a:rPr lang="ja-JP" altLang="en-US" sz="1000" dirty="0">
                  <a:solidFill>
                    <a:schemeClr val="bg1">
                      <a:lumMod val="50000"/>
                    </a:schemeClr>
                  </a:solidFill>
                  <a:latin typeface="+mn-ea"/>
                </a:rPr>
                <a:t>データ監査 </a:t>
              </a:r>
              <a:r>
                <a:rPr lang="en-US" altLang="ja-JP" sz="1000" dirty="0">
                  <a:solidFill>
                    <a:schemeClr val="bg1">
                      <a:lumMod val="50000"/>
                    </a:schemeClr>
                  </a:solidFill>
                  <a:latin typeface="+mn-ea"/>
                </a:rPr>
                <a:t>(</a:t>
              </a:r>
              <a:r>
                <a:rPr lang="ja-JP" altLang="en-US" sz="1000" dirty="0">
                  <a:solidFill>
                    <a:schemeClr val="bg1">
                      <a:lumMod val="50000"/>
                    </a:schemeClr>
                  </a:solidFill>
                  <a:latin typeface="+mn-ea"/>
                </a:rPr>
                <a:t>利益率 ･ 回転率 ･ 環境 ･ </a:t>
              </a:r>
              <a:br>
                <a:rPr lang="en-US" altLang="ja-JP" sz="1000" dirty="0">
                  <a:solidFill>
                    <a:schemeClr val="bg1">
                      <a:lumMod val="50000"/>
                    </a:schemeClr>
                  </a:solidFill>
                  <a:latin typeface="+mn-ea"/>
                </a:rPr>
              </a:br>
              <a:r>
                <a:rPr lang="ja-JP" altLang="en-US" sz="1000" dirty="0">
                  <a:solidFill>
                    <a:schemeClr val="bg1">
                      <a:lumMod val="50000"/>
                    </a:schemeClr>
                  </a:solidFill>
                  <a:latin typeface="+mn-ea"/>
                </a:rPr>
                <a:t>広告貢献度</a:t>
              </a:r>
              <a:r>
                <a:rPr lang="en-US" altLang="ja-JP" sz="1000" dirty="0">
                  <a:solidFill>
                    <a:schemeClr val="bg1">
                      <a:lumMod val="50000"/>
                    </a:schemeClr>
                  </a:solidFill>
                  <a:latin typeface="+mn-ea"/>
                </a:rPr>
                <a:t>) </a:t>
              </a:r>
              <a:r>
                <a:rPr lang="ja-JP" altLang="en-US" sz="1000" dirty="0">
                  <a:solidFill>
                    <a:schemeClr val="bg1">
                      <a:lumMod val="50000"/>
                    </a:schemeClr>
                  </a:solidFill>
                  <a:latin typeface="+mn-ea"/>
                </a:rPr>
                <a:t>の高度化</a:t>
              </a:r>
              <a:endParaRPr lang="en-US" altLang="ja-JP" sz="1000" dirty="0">
                <a:solidFill>
                  <a:schemeClr val="bg1">
                    <a:lumMod val="50000"/>
                  </a:schemeClr>
                </a:solidFill>
                <a:latin typeface="+mn-ea"/>
              </a:endParaRPr>
            </a:p>
            <a:p>
              <a:pPr marL="87313" indent="-87313">
                <a:spcAft>
                  <a:spcPts val="200"/>
                </a:spcAft>
                <a:buFont typeface="Arial" panose="020B0604020202020204" pitchFamily="34" charset="0"/>
                <a:buChar char="•"/>
              </a:pPr>
              <a:r>
                <a:rPr lang="ja-JP" altLang="en-US" sz="1000" dirty="0">
                  <a:solidFill>
                    <a:schemeClr val="bg1">
                      <a:lumMod val="50000"/>
                    </a:schemeClr>
                  </a:solidFill>
                  <a:latin typeface="+mn-ea"/>
                </a:rPr>
                <a:t>付き合いでの棚融通は崩壊し、バイヤーは</a:t>
              </a:r>
              <a:br>
                <a:rPr lang="en-US" altLang="ja-JP" sz="1000" dirty="0">
                  <a:solidFill>
                    <a:schemeClr val="bg1">
                      <a:lumMod val="50000"/>
                    </a:schemeClr>
                  </a:solidFill>
                  <a:latin typeface="+mn-ea"/>
                </a:rPr>
              </a:br>
              <a:r>
                <a:rPr lang="ja-JP" altLang="en-US" sz="1000" dirty="0">
                  <a:solidFill>
                    <a:schemeClr val="bg1">
                      <a:lumMod val="50000"/>
                    </a:schemeClr>
                  </a:solidFill>
                  <a:latin typeface="+mn-ea"/>
                </a:rPr>
                <a:t>リスク回避のため完璧な定量根拠を要求</a:t>
              </a:r>
              <a:endParaRPr kumimoji="1" lang="ja-JP" altLang="en-US" sz="1000" dirty="0">
                <a:solidFill>
                  <a:schemeClr val="bg1">
                    <a:lumMod val="50000"/>
                  </a:schemeClr>
                </a:solidFill>
                <a:latin typeface="+mn-ea"/>
              </a:endParaRPr>
            </a:p>
          </p:txBody>
        </p:sp>
        <p:pic>
          <p:nvPicPr>
            <p:cNvPr id="90" name="グラフィックス 89" descr="高電圧 単色塗りつぶし">
              <a:extLst>
                <a:ext uri="{FF2B5EF4-FFF2-40B4-BE49-F238E27FC236}">
                  <a16:creationId xmlns:a16="http://schemas.microsoft.com/office/drawing/2014/main" id="{07E23B18-45AE-97A4-7F8C-EDBE19C65947}"/>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1497037" y="5948725"/>
              <a:ext cx="360000" cy="360000"/>
            </a:xfrm>
            <a:prstGeom prst="rect">
              <a:avLst/>
            </a:prstGeom>
          </p:spPr>
        </p:pic>
        <p:sp>
          <p:nvSpPr>
            <p:cNvPr id="92" name="正方形/長方形 91">
              <a:extLst>
                <a:ext uri="{FF2B5EF4-FFF2-40B4-BE49-F238E27FC236}">
                  <a16:creationId xmlns:a16="http://schemas.microsoft.com/office/drawing/2014/main" id="{C5D7CF7A-0BFF-E1EA-CA1A-EDC7200465EF}"/>
                </a:ext>
              </a:extLst>
            </p:cNvPr>
            <p:cNvSpPr/>
            <p:nvPr/>
          </p:nvSpPr>
          <p:spPr>
            <a:xfrm>
              <a:off x="9432678" y="5029205"/>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T4</a:t>
              </a:r>
              <a:endParaRPr kumimoji="1" lang="ja-JP" altLang="en-US" sz="900" dirty="0">
                <a:solidFill>
                  <a:schemeClr val="bg1"/>
                </a:solidFill>
                <a:latin typeface="+mn-ea"/>
              </a:endParaRPr>
            </a:p>
          </p:txBody>
        </p:sp>
        <p:sp>
          <p:nvSpPr>
            <p:cNvPr id="10" name="正方形/長方形 9">
              <a:extLst>
                <a:ext uri="{FF2B5EF4-FFF2-40B4-BE49-F238E27FC236}">
                  <a16:creationId xmlns:a16="http://schemas.microsoft.com/office/drawing/2014/main" id="{323091F9-3E7C-FFDD-87F4-85552AD616E0}"/>
                </a:ext>
              </a:extLst>
            </p:cNvPr>
            <p:cNvSpPr/>
            <p:nvPr/>
          </p:nvSpPr>
          <p:spPr>
            <a:xfrm>
              <a:off x="334962" y="5029205"/>
              <a:ext cx="1544951" cy="1279520"/>
            </a:xfrm>
            <a:prstGeom prst="rect">
              <a:avLst/>
            </a:prstGeom>
            <a:solidFill>
              <a:schemeClr val="bg1">
                <a:lumMod val="75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96000" numCol="1" spcCol="0" rtlCol="0" fromWordArt="0" anchor="ctr" anchorCtr="0" forceAA="0" compatLnSpc="1">
              <a:prstTxWarp prst="textNoShape">
                <a:avLst/>
              </a:prstTxWarp>
              <a:noAutofit/>
            </a:bodyPr>
            <a:lstStyle/>
            <a:p>
              <a:pPr algn="ctr"/>
              <a:r>
                <a:rPr lang="en-US" altLang="ja-JP" sz="2400" dirty="0">
                  <a:solidFill>
                    <a:schemeClr val="bg1">
                      <a:lumMod val="50000"/>
                    </a:schemeClr>
                  </a:solidFill>
                  <a:latin typeface="+mn-ea"/>
                </a:rPr>
                <a:t>T</a:t>
              </a:r>
              <a:r>
                <a:rPr lang="en-US" altLang="ja-JP" dirty="0">
                  <a:solidFill>
                    <a:schemeClr val="bg1">
                      <a:lumMod val="50000"/>
                    </a:schemeClr>
                  </a:solidFill>
                  <a:latin typeface="+mn-ea"/>
                </a:rPr>
                <a:t>hreat : </a:t>
              </a:r>
              <a:br>
                <a:rPr lang="en-US" altLang="ja-JP" dirty="0">
                  <a:solidFill>
                    <a:schemeClr val="bg1">
                      <a:lumMod val="50000"/>
                    </a:schemeClr>
                  </a:solidFill>
                  <a:latin typeface="+mn-ea"/>
                </a:rPr>
              </a:br>
              <a:r>
                <a:rPr lang="ja-JP" altLang="en-US" dirty="0">
                  <a:solidFill>
                    <a:schemeClr val="bg1">
                      <a:lumMod val="50000"/>
                    </a:schemeClr>
                  </a:solidFill>
                  <a:latin typeface="+mn-ea"/>
                </a:rPr>
                <a:t>脅威</a:t>
              </a:r>
              <a:endParaRPr kumimoji="1" lang="ja-JP" altLang="en-US" dirty="0">
                <a:solidFill>
                  <a:schemeClr val="bg1">
                    <a:lumMod val="50000"/>
                  </a:schemeClr>
                </a:solidFill>
                <a:latin typeface="+mn-ea"/>
              </a:endParaRPr>
            </a:p>
          </p:txBody>
        </p:sp>
        <p:pic>
          <p:nvPicPr>
            <p:cNvPr id="52" name="グラフィックス 51" descr="警告 単色塗りつぶし">
              <a:extLst>
                <a:ext uri="{FF2B5EF4-FFF2-40B4-BE49-F238E27FC236}">
                  <a16:creationId xmlns:a16="http://schemas.microsoft.com/office/drawing/2014/main" id="{D8A4FA49-EDAC-BDB5-1075-130D40F4C3E1}"/>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544873" y="5980933"/>
              <a:ext cx="324000" cy="324000"/>
            </a:xfrm>
            <a:prstGeom prst="rect">
              <a:avLst/>
            </a:prstGeom>
          </p:spPr>
        </p:pic>
        <p:sp>
          <p:nvSpPr>
            <p:cNvPr id="98" name="正方形/長方形 97">
              <a:extLst>
                <a:ext uri="{FF2B5EF4-FFF2-40B4-BE49-F238E27FC236}">
                  <a16:creationId xmlns:a16="http://schemas.microsoft.com/office/drawing/2014/main" id="{B2F57AB9-EA5A-04D5-3B10-BBA0A36B1993}"/>
                </a:ext>
              </a:extLst>
            </p:cNvPr>
            <p:cNvSpPr/>
            <p:nvPr/>
          </p:nvSpPr>
          <p:spPr>
            <a:xfrm>
              <a:off x="334962" y="5779865"/>
              <a:ext cx="1544951" cy="33074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lumMod val="50000"/>
                    </a:schemeClr>
                  </a:solidFill>
                  <a:latin typeface="+mn-ea"/>
                </a:rPr>
                <a:t>マーケティング ･ 営業の前提を</a:t>
              </a:r>
              <a:br>
                <a:rPr lang="en-US" altLang="ja-JP" sz="900" dirty="0">
                  <a:solidFill>
                    <a:schemeClr val="bg1">
                      <a:lumMod val="50000"/>
                    </a:schemeClr>
                  </a:solidFill>
                  <a:latin typeface="+mn-ea"/>
                </a:rPr>
              </a:br>
              <a:r>
                <a:rPr lang="ja-JP" altLang="en-US" sz="900" dirty="0">
                  <a:solidFill>
                    <a:schemeClr val="bg1">
                      <a:lumMod val="50000"/>
                    </a:schemeClr>
                  </a:solidFill>
                  <a:latin typeface="+mn-ea"/>
                </a:rPr>
                <a:t>破壊する逆風</a:t>
              </a:r>
              <a:endParaRPr lang="en-US" altLang="ja-JP" sz="900" dirty="0">
                <a:solidFill>
                  <a:schemeClr val="bg1">
                    <a:lumMod val="50000"/>
                  </a:schemeClr>
                </a:solidFill>
                <a:latin typeface="+mn-ea"/>
              </a:endParaRPr>
            </a:p>
          </p:txBody>
        </p:sp>
      </p:grpSp>
      <p:sp>
        <p:nvSpPr>
          <p:cNvPr id="6" name="テキスト プレースホルダー 2">
            <a:extLst>
              <a:ext uri="{FF2B5EF4-FFF2-40B4-BE49-F238E27FC236}">
                <a16:creationId xmlns:a16="http://schemas.microsoft.com/office/drawing/2014/main" id="{B4DE0A68-4505-7553-BBE2-8AAFC2321128}"/>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ja-JP" sz="1800" dirty="0">
                <a:latin typeface="+mn-ea"/>
                <a:ea typeface="+mn-ea"/>
              </a:rPr>
              <a:t>独自の医療</a:t>
            </a:r>
            <a:r>
              <a:rPr lang="en-US" altLang="ja-JP" sz="1800" dirty="0">
                <a:latin typeface="+mn-ea"/>
                <a:ea typeface="+mn-ea"/>
              </a:rPr>
              <a:t> </a:t>
            </a:r>
            <a:r>
              <a:rPr lang="ja-JP" altLang="en-US" sz="1800" dirty="0">
                <a:latin typeface="+mn-ea"/>
                <a:ea typeface="+mn-ea"/>
              </a:rPr>
              <a:t>･ </a:t>
            </a:r>
            <a:r>
              <a:rPr lang="ja-JP" altLang="ja-JP" sz="1800" dirty="0">
                <a:latin typeface="+mn-ea"/>
                <a:ea typeface="+mn-ea"/>
              </a:rPr>
              <a:t>衛生アセットを持つ一方、データ基盤に課題を抱える中、未来のデータ規制やAI補充を乗り越えるには、予防医療の国策化や小売のメディア化を捉えた「戦い方の刷新」が急務</a:t>
            </a:r>
            <a:endParaRPr lang="ja-JP" altLang="en-US" sz="1800" dirty="0">
              <a:latin typeface="+mn-ea"/>
              <a:ea typeface="+mn-ea"/>
            </a:endParaRPr>
          </a:p>
        </p:txBody>
      </p:sp>
    </p:spTree>
    <p:extLst>
      <p:ext uri="{BB962C8B-B14F-4D97-AF65-F5344CB8AC3E}">
        <p14:creationId xmlns:p14="http://schemas.microsoft.com/office/powerpoint/2010/main" val="467412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A528C-8F57-C6E2-9DB1-49FF3BB10F4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815F12C-8F05-8589-D24E-3F0C59E08606}"/>
              </a:ext>
            </a:extLst>
          </p:cNvPr>
          <p:cNvSpPr>
            <a:spLocks noGrp="1"/>
          </p:cNvSpPr>
          <p:nvPr>
            <p:ph type="title"/>
          </p:nvPr>
        </p:nvSpPr>
        <p:spPr>
          <a:xfrm>
            <a:off x="334963" y="1"/>
            <a:ext cx="11522075" cy="914400"/>
          </a:xfrm>
        </p:spPr>
        <p:txBody>
          <a:bodyPr/>
          <a:lstStyle/>
          <a:p>
            <a:r>
              <a:rPr lang="ja-JP" altLang="en-US" dirty="0">
                <a:latin typeface="+mn-ea"/>
                <a:ea typeface="+mn-ea"/>
              </a:rPr>
              <a:t>理想（勝ち筋）と現状との</a:t>
            </a:r>
            <a:r>
              <a:rPr lang="en-US" altLang="ja-JP" dirty="0">
                <a:latin typeface="+mn-ea"/>
                <a:ea typeface="+mn-ea"/>
              </a:rPr>
              <a:t>GAP</a:t>
            </a:r>
            <a:endParaRPr kumimoji="1" lang="ja-JP" altLang="en-US" dirty="0">
              <a:latin typeface="+mn-ea"/>
              <a:ea typeface="+mn-ea"/>
            </a:endParaRPr>
          </a:p>
        </p:txBody>
      </p:sp>
      <p:grpSp>
        <p:nvGrpSpPr>
          <p:cNvPr id="113" name="グループ化 112">
            <a:extLst>
              <a:ext uri="{FF2B5EF4-FFF2-40B4-BE49-F238E27FC236}">
                <a16:creationId xmlns:a16="http://schemas.microsoft.com/office/drawing/2014/main" id="{6C4399B2-69B9-7BD9-3EBD-96A1CD39601B}"/>
              </a:ext>
            </a:extLst>
          </p:cNvPr>
          <p:cNvGrpSpPr/>
          <p:nvPr/>
        </p:nvGrpSpPr>
        <p:grpSpPr>
          <a:xfrm>
            <a:off x="334963" y="1628775"/>
            <a:ext cx="11522075" cy="781131"/>
            <a:chOff x="334963" y="1628775"/>
            <a:chExt cx="11522075" cy="781131"/>
          </a:xfrm>
        </p:grpSpPr>
        <p:sp>
          <p:nvSpPr>
            <p:cNvPr id="50" name="正方形/長方形 49">
              <a:extLst>
                <a:ext uri="{FF2B5EF4-FFF2-40B4-BE49-F238E27FC236}">
                  <a16:creationId xmlns:a16="http://schemas.microsoft.com/office/drawing/2014/main" id="{8E8E8589-9E40-A510-9D6A-58662BBE87FB}"/>
                </a:ext>
              </a:extLst>
            </p:cNvPr>
            <p:cNvSpPr/>
            <p:nvPr/>
          </p:nvSpPr>
          <p:spPr>
            <a:xfrm>
              <a:off x="334963" y="1773627"/>
              <a:ext cx="1344168" cy="63627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600" b="1" dirty="0">
                  <a:solidFill>
                    <a:srgbClr val="008D2E"/>
                  </a:solidFill>
                  <a:latin typeface="+mn-ea"/>
                </a:rPr>
                <a:t>テーマ</a:t>
              </a:r>
              <a:endParaRPr kumimoji="1" lang="ja-JP" altLang="en-US" sz="1600" dirty="0">
                <a:solidFill>
                  <a:srgbClr val="008D2E"/>
                </a:solidFill>
                <a:latin typeface="+mn-ea"/>
              </a:endParaRPr>
            </a:p>
          </p:txBody>
        </p:sp>
        <p:sp>
          <p:nvSpPr>
            <p:cNvPr id="47" name="正方形/長方形 46">
              <a:extLst>
                <a:ext uri="{FF2B5EF4-FFF2-40B4-BE49-F238E27FC236}">
                  <a16:creationId xmlns:a16="http://schemas.microsoft.com/office/drawing/2014/main" id="{2C3BA922-37F0-E989-B07F-2C2AE344C3B9}"/>
                </a:ext>
              </a:extLst>
            </p:cNvPr>
            <p:cNvSpPr/>
            <p:nvPr/>
          </p:nvSpPr>
          <p:spPr>
            <a:xfrm>
              <a:off x="1745673"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勝てる土俵の再定義</a:t>
              </a:r>
              <a:br>
                <a:rPr lang="en-US" altLang="ja-JP" sz="1050" b="1" dirty="0">
                  <a:solidFill>
                    <a:srgbClr val="008D2E"/>
                  </a:solidFill>
                  <a:latin typeface="+mn-ea"/>
                </a:rPr>
              </a:br>
              <a:r>
                <a:rPr lang="en-US" altLang="ja-JP" sz="1050" b="1" dirty="0">
                  <a:solidFill>
                    <a:srgbClr val="008D2E"/>
                  </a:solidFill>
                  <a:latin typeface="+mn-ea"/>
                </a:rPr>
                <a:t>(</a:t>
              </a:r>
              <a:r>
                <a:rPr lang="ja-JP" altLang="ja-JP" sz="1050" b="1" dirty="0">
                  <a:solidFill>
                    <a:srgbClr val="008D2E"/>
                  </a:solidFill>
                  <a:latin typeface="+mn-ea"/>
                </a:rPr>
                <a:t>予防医療×資源循環インフラ化</a:t>
              </a:r>
              <a:r>
                <a:rPr lang="en-US" altLang="ja-JP" sz="1050" b="1" dirty="0">
                  <a:solidFill>
                    <a:srgbClr val="008D2E"/>
                  </a:solidFill>
                  <a:latin typeface="+mn-ea"/>
                </a:rPr>
                <a:t>) </a:t>
              </a:r>
              <a:endParaRPr lang="ja-JP" altLang="ja-JP" sz="1050" b="1" dirty="0">
                <a:solidFill>
                  <a:srgbClr val="008D2E"/>
                </a:solidFill>
                <a:latin typeface="+mn-ea"/>
              </a:endParaRPr>
            </a:p>
          </p:txBody>
        </p:sp>
        <p:sp>
          <p:nvSpPr>
            <p:cNvPr id="48" name="background">
              <a:extLst>
                <a:ext uri="{FF2B5EF4-FFF2-40B4-BE49-F238E27FC236}">
                  <a16:creationId xmlns:a16="http://schemas.microsoft.com/office/drawing/2014/main" id="{31802255-9C2D-5D02-C7F2-3A5FAC7EE30C}"/>
                </a:ext>
              </a:extLst>
            </p:cNvPr>
            <p:cNvSpPr>
              <a:spLocks noChangeAspect="1"/>
            </p:cNvSpPr>
            <p:nvPr>
              <p:custDataLst>
                <p:tags r:id="rId1"/>
              </p:custDataLst>
            </p:nvPr>
          </p:nvSpPr>
          <p:spPr>
            <a:xfrm>
              <a:off x="1745673"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600" dirty="0">
                  <a:solidFill>
                    <a:schemeClr val="bg1"/>
                  </a:solidFill>
                  <a:latin typeface="+mn-ea"/>
                </a:rPr>
                <a:t>1</a:t>
              </a:r>
              <a:endParaRPr lang="ja-JP" altLang="en-US" sz="1600" dirty="0">
                <a:solidFill>
                  <a:schemeClr val="bg1"/>
                </a:solidFill>
                <a:latin typeface="+mn-ea"/>
              </a:endParaRPr>
            </a:p>
          </p:txBody>
        </p:sp>
        <p:pic>
          <p:nvPicPr>
            <p:cNvPr id="49" name="グラフィックス 48" descr="救急箱 単色塗りつぶし">
              <a:extLst>
                <a:ext uri="{FF2B5EF4-FFF2-40B4-BE49-F238E27FC236}">
                  <a16:creationId xmlns:a16="http://schemas.microsoft.com/office/drawing/2014/main" id="{75568D5E-A237-D33E-E948-20E5823CFB50}"/>
                </a:ext>
              </a:extLst>
            </p:cNvPr>
            <p:cNvPicPr preferRelativeResize="0">
              <a:picLocks/>
            </p:cNvPicPr>
            <p:nvPr/>
          </p:nvPicPr>
          <p:blipFill>
            <a:blip>
              <a:extLst>
                <a:ext uri="{96DAC541-7B7A-43D3-8B79-37D633B846F1}">
                  <asvg:svgBlip xmlns:asvg="http://schemas.microsoft.com/office/drawing/2016/SVG/main" r:embed="rId6"/>
                </a:ext>
              </a:extLst>
            </a:blip>
            <a:stretch>
              <a:fillRect/>
            </a:stretch>
          </p:blipFill>
          <p:spPr>
            <a:xfrm>
              <a:off x="1745673" y="1893767"/>
              <a:ext cx="360000" cy="360000"/>
            </a:xfrm>
            <a:prstGeom prst="rect">
              <a:avLst/>
            </a:prstGeom>
          </p:spPr>
        </p:pic>
        <p:sp>
          <p:nvSpPr>
            <p:cNvPr id="44" name="正方形/長方形 43">
              <a:extLst>
                <a:ext uri="{FF2B5EF4-FFF2-40B4-BE49-F238E27FC236}">
                  <a16:creationId xmlns:a16="http://schemas.microsoft.com/office/drawing/2014/main" id="{2E22F90D-F856-5FC0-40B8-CBDBD4532DD0}"/>
                </a:ext>
              </a:extLst>
            </p:cNvPr>
            <p:cNvSpPr/>
            <p:nvPr/>
          </p:nvSpPr>
          <p:spPr>
            <a:xfrm>
              <a:off x="4290150"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データ戦略</a:t>
              </a:r>
              <a:br>
                <a:rPr lang="en-US" altLang="ja-JP" sz="1050" b="1" dirty="0">
                  <a:solidFill>
                    <a:srgbClr val="008D2E"/>
                  </a:solidFill>
                  <a:latin typeface="+mn-ea"/>
                </a:rPr>
              </a:br>
              <a:r>
                <a:rPr lang="en-US" altLang="ja-JP" sz="1050" b="1" dirty="0">
                  <a:solidFill>
                    <a:srgbClr val="008D2E"/>
                  </a:solidFill>
                  <a:latin typeface="+mn-ea"/>
                </a:rPr>
                <a:t>(</a:t>
              </a:r>
              <a:r>
                <a:rPr lang="ja-JP" altLang="ja-JP" sz="1050" b="1" dirty="0">
                  <a:solidFill>
                    <a:srgbClr val="008D2E"/>
                  </a:solidFill>
                  <a:latin typeface="+mn-ea"/>
                </a:rPr>
                <a:t>リテールメディアのハッキングと</a:t>
              </a:r>
              <a:br>
                <a:rPr lang="en-US" altLang="ja-JP" sz="1050" b="1" dirty="0">
                  <a:solidFill>
                    <a:srgbClr val="008D2E"/>
                  </a:solidFill>
                  <a:latin typeface="+mn-ea"/>
                </a:rPr>
              </a:br>
              <a:r>
                <a:rPr lang="ja-JP" altLang="ja-JP" sz="1050" b="1" dirty="0">
                  <a:solidFill>
                    <a:srgbClr val="008D2E"/>
                  </a:solidFill>
                  <a:latin typeface="+mn-ea"/>
                </a:rPr>
                <a:t>二階建てデータ</a:t>
              </a:r>
              <a:r>
                <a:rPr lang="en-US" altLang="ja-JP" sz="1050" b="1" dirty="0">
                  <a:solidFill>
                    <a:srgbClr val="008D2E"/>
                  </a:solidFill>
                  <a:latin typeface="+mn-ea"/>
                </a:rPr>
                <a:t>)</a:t>
              </a:r>
            </a:p>
          </p:txBody>
        </p:sp>
        <p:sp>
          <p:nvSpPr>
            <p:cNvPr id="45" name="background">
              <a:extLst>
                <a:ext uri="{FF2B5EF4-FFF2-40B4-BE49-F238E27FC236}">
                  <a16:creationId xmlns:a16="http://schemas.microsoft.com/office/drawing/2014/main" id="{CC302DCF-38C6-AC56-D2D0-94F021197C0A}"/>
                </a:ext>
              </a:extLst>
            </p:cNvPr>
            <p:cNvSpPr>
              <a:spLocks noChangeAspect="1"/>
            </p:cNvSpPr>
            <p:nvPr>
              <p:custDataLst>
                <p:tags r:id="rId2"/>
              </p:custDataLst>
            </p:nvPr>
          </p:nvSpPr>
          <p:spPr>
            <a:xfrm>
              <a:off x="4290150"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600" dirty="0">
                  <a:solidFill>
                    <a:schemeClr val="bg1"/>
                  </a:solidFill>
                  <a:latin typeface="+mn-ea"/>
                </a:rPr>
                <a:t>2</a:t>
              </a:r>
              <a:endParaRPr lang="ja-JP" altLang="en-US" sz="1600" dirty="0">
                <a:solidFill>
                  <a:schemeClr val="bg1"/>
                </a:solidFill>
                <a:latin typeface="+mn-ea"/>
              </a:endParaRPr>
            </a:p>
          </p:txBody>
        </p:sp>
        <p:pic>
          <p:nvPicPr>
            <p:cNvPr id="46" name="グラフィックス 45" descr="パズルのピース 単色塗りつぶし">
              <a:extLst>
                <a:ext uri="{FF2B5EF4-FFF2-40B4-BE49-F238E27FC236}">
                  <a16:creationId xmlns:a16="http://schemas.microsoft.com/office/drawing/2014/main" id="{12F9CA41-9DB6-EFD3-1FF4-761CF8229C23}"/>
                </a:ext>
              </a:extLst>
            </p:cNvPr>
            <p:cNvPicPr preferRelativeResize="0">
              <a:picLocks/>
            </p:cNvPicPr>
            <p:nvPr/>
          </p:nvPicPr>
          <p:blipFill>
            <a:blip>
              <a:extLst>
                <a:ext uri="{96DAC541-7B7A-43D3-8B79-37D633B846F1}">
                  <asvg:svgBlip xmlns:asvg="http://schemas.microsoft.com/office/drawing/2016/SVG/main" r:embed="rId7"/>
                </a:ext>
              </a:extLst>
            </a:blip>
            <a:stretch>
              <a:fillRect/>
            </a:stretch>
          </p:blipFill>
          <p:spPr>
            <a:xfrm>
              <a:off x="4290150" y="1893767"/>
              <a:ext cx="360000" cy="360000"/>
            </a:xfrm>
            <a:prstGeom prst="rect">
              <a:avLst/>
            </a:prstGeom>
          </p:spPr>
        </p:pic>
        <p:sp>
          <p:nvSpPr>
            <p:cNvPr id="41" name="正方形/長方形 40">
              <a:extLst>
                <a:ext uri="{FF2B5EF4-FFF2-40B4-BE49-F238E27FC236}">
                  <a16:creationId xmlns:a16="http://schemas.microsoft.com/office/drawing/2014/main" id="{5EB8A744-3DD8-BD1E-6123-66741FD93F66}"/>
                </a:ext>
              </a:extLst>
            </p:cNvPr>
            <p:cNvSpPr/>
            <p:nvPr/>
          </p:nvSpPr>
          <p:spPr>
            <a:xfrm>
              <a:off x="6834627"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商談価値</a:t>
              </a:r>
              <a:r>
                <a:rPr lang="ja-JP" altLang="en-US" sz="1050" b="1" dirty="0">
                  <a:solidFill>
                    <a:srgbClr val="008D2E"/>
                  </a:solidFill>
                  <a:latin typeface="+mn-ea"/>
                </a:rPr>
                <a:t> </a:t>
              </a:r>
              <a:r>
                <a:rPr lang="en-US" altLang="ja-JP" sz="1050" b="1" dirty="0">
                  <a:solidFill>
                    <a:srgbClr val="008D2E"/>
                  </a:solidFill>
                  <a:latin typeface="+mn-ea"/>
                </a:rPr>
                <a:t>(</a:t>
              </a:r>
              <a:r>
                <a:rPr lang="ja-JP" altLang="ja-JP" sz="1050" b="1" dirty="0">
                  <a:solidFill>
                    <a:srgbClr val="008D2E"/>
                  </a:solidFill>
                  <a:latin typeface="+mn-ea"/>
                </a:rPr>
                <a:t>臨床データの</a:t>
              </a:r>
              <a:br>
                <a:rPr lang="en-US" altLang="ja-JP" sz="1050" b="1" dirty="0">
                  <a:solidFill>
                    <a:srgbClr val="008D2E"/>
                  </a:solidFill>
                  <a:latin typeface="+mn-ea"/>
                </a:rPr>
              </a:br>
              <a:r>
                <a:rPr lang="ja-JP" altLang="ja-JP" sz="1050" b="1" dirty="0">
                  <a:solidFill>
                    <a:srgbClr val="008D2E"/>
                  </a:solidFill>
                  <a:latin typeface="+mn-ea"/>
                </a:rPr>
                <a:t>バイヤー向け防弾ロジック化</a:t>
              </a:r>
              <a:r>
                <a:rPr lang="en-US" altLang="ja-JP" sz="1050" b="1" dirty="0">
                  <a:solidFill>
                    <a:srgbClr val="008D2E"/>
                  </a:solidFill>
                  <a:latin typeface="+mn-ea"/>
                </a:rPr>
                <a:t>)</a:t>
              </a:r>
            </a:p>
          </p:txBody>
        </p:sp>
        <p:sp>
          <p:nvSpPr>
            <p:cNvPr id="42" name="background">
              <a:extLst>
                <a:ext uri="{FF2B5EF4-FFF2-40B4-BE49-F238E27FC236}">
                  <a16:creationId xmlns:a16="http://schemas.microsoft.com/office/drawing/2014/main" id="{D0F71352-B684-5C85-94E1-A1254A0D51CE}"/>
                </a:ext>
              </a:extLst>
            </p:cNvPr>
            <p:cNvSpPr>
              <a:spLocks noChangeAspect="1"/>
            </p:cNvSpPr>
            <p:nvPr>
              <p:custDataLst>
                <p:tags r:id="rId3"/>
              </p:custDataLst>
            </p:nvPr>
          </p:nvSpPr>
          <p:spPr>
            <a:xfrm>
              <a:off x="6834625"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600" dirty="0">
                  <a:solidFill>
                    <a:schemeClr val="bg1"/>
                  </a:solidFill>
                  <a:latin typeface="+mn-ea"/>
                </a:rPr>
                <a:t>3</a:t>
              </a:r>
              <a:endParaRPr lang="ja-JP" altLang="en-US" sz="1600" dirty="0">
                <a:solidFill>
                  <a:schemeClr val="bg1"/>
                </a:solidFill>
                <a:latin typeface="+mn-ea"/>
              </a:endParaRPr>
            </a:p>
          </p:txBody>
        </p:sp>
        <p:pic>
          <p:nvPicPr>
            <p:cNvPr id="43" name="グラフィックス 42" descr="手のひらと植物 単色塗りつぶし">
              <a:extLst>
                <a:ext uri="{FF2B5EF4-FFF2-40B4-BE49-F238E27FC236}">
                  <a16:creationId xmlns:a16="http://schemas.microsoft.com/office/drawing/2014/main" id="{AA98900B-8D3A-A66A-6DF3-7703945EFA42}"/>
                </a:ext>
              </a:extLst>
            </p:cNvPr>
            <p:cNvPicPr preferRelativeResize="0">
              <a:picLocks/>
            </p:cNvPicPr>
            <p:nvPr/>
          </p:nvPicPr>
          <p:blipFill>
            <a:blip>
              <a:extLst>
                <a:ext uri="{96DAC541-7B7A-43D3-8B79-37D633B846F1}">
                  <asvg:svgBlip xmlns:asvg="http://schemas.microsoft.com/office/drawing/2016/SVG/main" r:embed="rId8"/>
                </a:ext>
              </a:extLst>
            </a:blip>
            <a:stretch>
              <a:fillRect/>
            </a:stretch>
          </p:blipFill>
          <p:spPr>
            <a:xfrm>
              <a:off x="6834626" y="1893767"/>
              <a:ext cx="360000" cy="360000"/>
            </a:xfrm>
            <a:prstGeom prst="rect">
              <a:avLst/>
            </a:prstGeom>
          </p:spPr>
        </p:pic>
        <p:sp>
          <p:nvSpPr>
            <p:cNvPr id="38" name="正方形/長方形 37">
              <a:extLst>
                <a:ext uri="{FF2B5EF4-FFF2-40B4-BE49-F238E27FC236}">
                  <a16:creationId xmlns:a16="http://schemas.microsoft.com/office/drawing/2014/main" id="{5F81C745-784F-31BF-4FBA-2B844E9731A0}"/>
                </a:ext>
              </a:extLst>
            </p:cNvPr>
            <p:cNvSpPr/>
            <p:nvPr/>
          </p:nvSpPr>
          <p:spPr>
            <a:xfrm>
              <a:off x="9379103"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組織・生産性</a:t>
              </a:r>
              <a:r>
                <a:rPr lang="en-US" altLang="ja-JP" sz="1050" b="1" dirty="0">
                  <a:solidFill>
                    <a:srgbClr val="008D2E"/>
                  </a:solidFill>
                  <a:latin typeface="+mn-ea"/>
                </a:rPr>
                <a:t> </a:t>
              </a:r>
              <a:br>
                <a:rPr lang="en-US" altLang="ja-JP" sz="1050" b="1" dirty="0">
                  <a:solidFill>
                    <a:srgbClr val="008D2E"/>
                  </a:solidFill>
                  <a:latin typeface="+mn-ea"/>
                </a:rPr>
              </a:br>
              <a:r>
                <a:rPr lang="en-US" altLang="ja-JP" sz="1050" b="1" dirty="0">
                  <a:solidFill>
                    <a:srgbClr val="008D2E"/>
                  </a:solidFill>
                  <a:latin typeface="+mn-ea"/>
                </a:rPr>
                <a:t>(</a:t>
              </a:r>
              <a:r>
                <a:rPr lang="ja-JP" altLang="ja-JP" sz="1050" b="1" dirty="0">
                  <a:solidFill>
                    <a:srgbClr val="008D2E"/>
                  </a:solidFill>
                  <a:latin typeface="+mn-ea"/>
                </a:rPr>
                <a:t>Input業務ゼロ化とリバース</a:t>
              </a:r>
              <a:r>
                <a:rPr lang="en-US" altLang="ja-JP" sz="1050" b="1" dirty="0">
                  <a:solidFill>
                    <a:srgbClr val="008D2E"/>
                  </a:solidFill>
                  <a:latin typeface="+mn-ea"/>
                </a:rPr>
                <a:t> </a:t>
              </a:r>
              <a:r>
                <a:rPr lang="ja-JP" altLang="en-US" sz="1050" b="1" dirty="0">
                  <a:solidFill>
                    <a:srgbClr val="008D2E"/>
                  </a:solidFill>
                  <a:latin typeface="+mn-ea"/>
                </a:rPr>
                <a:t>･ </a:t>
              </a:r>
              <a:br>
                <a:rPr lang="en-US" altLang="ja-JP" sz="1050" b="1" dirty="0">
                  <a:solidFill>
                    <a:srgbClr val="008D2E"/>
                  </a:solidFill>
                  <a:latin typeface="+mn-ea"/>
                </a:rPr>
              </a:br>
              <a:r>
                <a:rPr lang="ja-JP" altLang="ja-JP" sz="1050" b="1" dirty="0">
                  <a:solidFill>
                    <a:srgbClr val="008D2E"/>
                  </a:solidFill>
                  <a:latin typeface="+mn-ea"/>
                </a:rPr>
                <a:t>ロジスティクス対応</a:t>
              </a:r>
              <a:r>
                <a:rPr lang="en-US" altLang="ja-JP" sz="1050" b="1" dirty="0">
                  <a:solidFill>
                    <a:srgbClr val="008D2E"/>
                  </a:solidFill>
                  <a:latin typeface="+mn-ea"/>
                </a:rPr>
                <a:t>) </a:t>
              </a:r>
              <a:endParaRPr lang="ja-JP" altLang="ja-JP" sz="1050" b="1" dirty="0">
                <a:solidFill>
                  <a:srgbClr val="008D2E"/>
                </a:solidFill>
                <a:latin typeface="+mn-ea"/>
              </a:endParaRPr>
            </a:p>
          </p:txBody>
        </p:sp>
        <p:sp>
          <p:nvSpPr>
            <p:cNvPr id="39" name="background">
              <a:extLst>
                <a:ext uri="{FF2B5EF4-FFF2-40B4-BE49-F238E27FC236}">
                  <a16:creationId xmlns:a16="http://schemas.microsoft.com/office/drawing/2014/main" id="{CCD74816-9A37-0E53-714C-5FF8D614FF68}"/>
                </a:ext>
              </a:extLst>
            </p:cNvPr>
            <p:cNvSpPr>
              <a:spLocks noChangeAspect="1"/>
            </p:cNvSpPr>
            <p:nvPr>
              <p:custDataLst>
                <p:tags r:id="rId4"/>
              </p:custDataLst>
            </p:nvPr>
          </p:nvSpPr>
          <p:spPr>
            <a:xfrm>
              <a:off x="9379103"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600" dirty="0">
                  <a:solidFill>
                    <a:schemeClr val="bg1"/>
                  </a:solidFill>
                  <a:latin typeface="+mn-ea"/>
                </a:rPr>
                <a:t>4</a:t>
              </a:r>
              <a:endParaRPr lang="ja-JP" altLang="en-US" sz="1600" dirty="0">
                <a:solidFill>
                  <a:schemeClr val="bg1"/>
                </a:solidFill>
                <a:latin typeface="+mn-ea"/>
              </a:endParaRPr>
            </a:p>
          </p:txBody>
        </p:sp>
        <p:pic>
          <p:nvPicPr>
            <p:cNvPr id="40" name="グラフィックス 39" descr="階層 単色塗りつぶし">
              <a:extLst>
                <a:ext uri="{FF2B5EF4-FFF2-40B4-BE49-F238E27FC236}">
                  <a16:creationId xmlns:a16="http://schemas.microsoft.com/office/drawing/2014/main" id="{18F41BBC-EB2B-A8F0-1B42-0E4436455678}"/>
                </a:ext>
              </a:extLst>
            </p:cNvPr>
            <p:cNvPicPr preferRelativeResize="0">
              <a:picLocks/>
            </p:cNvPicPr>
            <p:nvPr/>
          </p:nvPicPr>
          <p:blipFill>
            <a:blip>
              <a:extLst>
                <a:ext uri="{96DAC541-7B7A-43D3-8B79-37D633B846F1}">
                  <asvg:svgBlip xmlns:asvg="http://schemas.microsoft.com/office/drawing/2016/SVG/main" r:embed="rId9"/>
                </a:ext>
              </a:extLst>
            </a:blip>
            <a:stretch>
              <a:fillRect/>
            </a:stretch>
          </p:blipFill>
          <p:spPr>
            <a:xfrm>
              <a:off x="9379102" y="1893767"/>
              <a:ext cx="360000" cy="360000"/>
            </a:xfrm>
            <a:prstGeom prst="rect">
              <a:avLst/>
            </a:prstGeom>
          </p:spPr>
        </p:pic>
      </p:grpSp>
      <p:grpSp>
        <p:nvGrpSpPr>
          <p:cNvPr id="116" name="グループ化 115">
            <a:extLst>
              <a:ext uri="{FF2B5EF4-FFF2-40B4-BE49-F238E27FC236}">
                <a16:creationId xmlns:a16="http://schemas.microsoft.com/office/drawing/2014/main" id="{019480D1-5240-CADE-5E41-030BA39552BF}"/>
              </a:ext>
            </a:extLst>
          </p:cNvPr>
          <p:cNvGrpSpPr/>
          <p:nvPr/>
        </p:nvGrpSpPr>
        <p:grpSpPr>
          <a:xfrm>
            <a:off x="334963" y="4917482"/>
            <a:ext cx="11522074" cy="1391243"/>
            <a:chOff x="334963" y="5062955"/>
            <a:chExt cx="11522074" cy="1245770"/>
          </a:xfrm>
        </p:grpSpPr>
        <p:sp>
          <p:nvSpPr>
            <p:cNvPr id="56" name="正方形/長方形 55">
              <a:extLst>
                <a:ext uri="{FF2B5EF4-FFF2-40B4-BE49-F238E27FC236}">
                  <a16:creationId xmlns:a16="http://schemas.microsoft.com/office/drawing/2014/main" id="{BACA8BBC-ED99-1585-77AD-14A0F2EB4502}"/>
                </a:ext>
              </a:extLst>
            </p:cNvPr>
            <p:cNvSpPr/>
            <p:nvPr/>
          </p:nvSpPr>
          <p:spPr>
            <a:xfrm>
              <a:off x="334963" y="5062955"/>
              <a:ext cx="1344168" cy="1245770"/>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600" b="1" dirty="0">
                  <a:solidFill>
                    <a:srgbClr val="008D2E"/>
                  </a:solidFill>
                  <a:latin typeface="+mn-ea"/>
                </a:rPr>
                <a:t>理想</a:t>
              </a:r>
              <a:br>
                <a:rPr lang="en-US" altLang="ja-JP" sz="1600" b="1" dirty="0">
                  <a:solidFill>
                    <a:srgbClr val="008D2E"/>
                  </a:solidFill>
                  <a:latin typeface="+mn-ea"/>
                </a:rPr>
              </a:br>
              <a:r>
                <a:rPr lang="en-US" altLang="ja-JP" sz="1600" b="1" dirty="0">
                  <a:solidFill>
                    <a:srgbClr val="008D2E"/>
                  </a:solidFill>
                  <a:latin typeface="+mn-ea"/>
                </a:rPr>
                <a:t>(</a:t>
              </a:r>
              <a:r>
                <a:rPr lang="ja-JP" altLang="ja-JP" sz="1600" b="1" dirty="0">
                  <a:solidFill>
                    <a:srgbClr val="008D2E"/>
                  </a:solidFill>
                  <a:latin typeface="+mn-ea"/>
                </a:rPr>
                <a:t>Agenda</a:t>
              </a:r>
              <a:r>
                <a:rPr lang="en-US" altLang="ja-JP" sz="1600" b="1" dirty="0">
                  <a:solidFill>
                    <a:srgbClr val="008D2E"/>
                  </a:solidFill>
                  <a:latin typeface="+mn-ea"/>
                </a:rPr>
                <a:t>)</a:t>
              </a:r>
              <a:endParaRPr kumimoji="1" lang="ja-JP" altLang="en-US" sz="1600" dirty="0">
                <a:solidFill>
                  <a:srgbClr val="008D2E"/>
                </a:solidFill>
                <a:latin typeface="+mn-ea"/>
              </a:endParaRPr>
            </a:p>
          </p:txBody>
        </p:sp>
        <p:sp>
          <p:nvSpPr>
            <p:cNvPr id="78" name="正方形/長方形 77">
              <a:extLst>
                <a:ext uri="{FF2B5EF4-FFF2-40B4-BE49-F238E27FC236}">
                  <a16:creationId xmlns:a16="http://schemas.microsoft.com/office/drawing/2014/main" id="{3F35813D-1D93-64CE-6930-99FE0F11230F}"/>
                </a:ext>
              </a:extLst>
            </p:cNvPr>
            <p:cNvSpPr/>
            <p:nvPr/>
          </p:nvSpPr>
          <p:spPr>
            <a:xfrm>
              <a:off x="1745672" y="5062955"/>
              <a:ext cx="2477935" cy="12457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marL="92075" indent="-92075">
                <a:spcAft>
                  <a:spcPts val="200"/>
                </a:spcAft>
                <a:buClr>
                  <a:srgbClr val="008D2E"/>
                </a:buClr>
                <a:buFont typeface="Arial" panose="020B0604020202020204" pitchFamily="34" charset="0"/>
                <a:buChar char="•"/>
              </a:pPr>
              <a:r>
                <a:rPr lang="ja-JP" altLang="ja-JP" sz="1050" dirty="0">
                  <a:solidFill>
                    <a:schemeClr val="tx1"/>
                  </a:solidFill>
                  <a:latin typeface="+mn-ea"/>
                </a:rPr>
                <a:t>洗剤消耗戦を脱し、オーラル・キレイキレイ・OTC医薬品の強み領域へ資源を全集中</a:t>
              </a:r>
              <a:endParaRPr lang="en-US" altLang="ja-JP" sz="1050" dirty="0">
                <a:solidFill>
                  <a:schemeClr val="tx1"/>
                </a:solidFill>
                <a:latin typeface="+mn-ea"/>
              </a:endParaRPr>
            </a:p>
            <a:p>
              <a:pPr marL="92075" indent="-92075">
                <a:spcAft>
                  <a:spcPts val="200"/>
                </a:spcAft>
                <a:buClr>
                  <a:srgbClr val="008D2E"/>
                </a:buClr>
                <a:buFont typeface="Arial" panose="020B0604020202020204" pitchFamily="34" charset="0"/>
                <a:buChar char="•"/>
              </a:pPr>
              <a:r>
                <a:rPr lang="ja-JP" altLang="ja-JP" sz="1050" dirty="0">
                  <a:solidFill>
                    <a:schemeClr val="tx1"/>
                  </a:solidFill>
                  <a:latin typeface="+mn-ea"/>
                </a:rPr>
                <a:t>「国民皆歯科健診」や「Scope 3開示義務」の波を捉えて学校・自治体ルートをデジタル化し、2040年のAI自動補充システムのホワイトリストを独占する</a:t>
              </a:r>
              <a:endParaRPr lang="en-US" altLang="ja-JP" sz="1050" dirty="0">
                <a:solidFill>
                  <a:schemeClr val="tx1"/>
                </a:solidFill>
                <a:latin typeface="+mn-ea"/>
              </a:endParaRPr>
            </a:p>
          </p:txBody>
        </p:sp>
        <p:sp>
          <p:nvSpPr>
            <p:cNvPr id="80" name="正方形/長方形 79">
              <a:extLst>
                <a:ext uri="{FF2B5EF4-FFF2-40B4-BE49-F238E27FC236}">
                  <a16:creationId xmlns:a16="http://schemas.microsoft.com/office/drawing/2014/main" id="{F5B8296B-A69D-D38D-3D23-4A4A80826F7F}"/>
                </a:ext>
              </a:extLst>
            </p:cNvPr>
            <p:cNvSpPr/>
            <p:nvPr/>
          </p:nvSpPr>
          <p:spPr>
            <a:xfrm>
              <a:off x="4290148" y="5062955"/>
              <a:ext cx="2477935" cy="12457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marL="90488" indent="-90488">
                <a:spcAft>
                  <a:spcPts val="200"/>
                </a:spcAft>
                <a:buClr>
                  <a:srgbClr val="008D2E"/>
                </a:buClr>
                <a:buFont typeface="Arial" panose="020B0604020202020204" pitchFamily="34" charset="0"/>
                <a:buChar char="•"/>
              </a:pPr>
              <a:r>
                <a:rPr lang="ja-JP" altLang="ja-JP" sz="1050" dirty="0">
                  <a:solidFill>
                    <a:schemeClr val="tx1"/>
                  </a:solidFill>
                  <a:latin typeface="+mn-ea"/>
                </a:rPr>
                <a:t>全方位D2Cの幻影を放棄し、購買データは</a:t>
              </a:r>
              <a:br>
                <a:rPr lang="en-US" altLang="ja-JP" sz="1050" dirty="0">
                  <a:solidFill>
                    <a:schemeClr val="tx1"/>
                  </a:solidFill>
                  <a:latin typeface="+mn-ea"/>
                </a:rPr>
              </a:br>
              <a:r>
                <a:rPr lang="ja-JP" altLang="ja-JP" sz="1050" dirty="0">
                  <a:solidFill>
                    <a:schemeClr val="tx1"/>
                  </a:solidFill>
                  <a:latin typeface="+mn-ea"/>
                </a:rPr>
                <a:t>最強のID-POSを握る小売のリテールメディアに「乗っかる」戦略へ転換</a:t>
              </a:r>
              <a:endParaRPr lang="en-US" altLang="ja-JP" sz="1050" dirty="0">
                <a:solidFill>
                  <a:schemeClr val="tx1"/>
                </a:solidFill>
                <a:latin typeface="+mn-ea"/>
              </a:endParaRPr>
            </a:p>
            <a:p>
              <a:pPr marL="90488" indent="-90488">
                <a:spcAft>
                  <a:spcPts val="200"/>
                </a:spcAft>
                <a:buClr>
                  <a:srgbClr val="008D2E"/>
                </a:buClr>
                <a:buFont typeface="Arial" panose="020B0604020202020204" pitchFamily="34" charset="0"/>
                <a:buChar char="•"/>
              </a:pPr>
              <a:r>
                <a:rPr lang="ja-JP" altLang="ja-JP" sz="1050" dirty="0">
                  <a:solidFill>
                    <a:schemeClr val="tx1"/>
                  </a:solidFill>
                  <a:latin typeface="+mn-ea"/>
                </a:rPr>
                <a:t>DCR</a:t>
              </a:r>
              <a:r>
                <a:rPr lang="en-US" altLang="ja-JP" sz="1050" dirty="0">
                  <a:solidFill>
                    <a:schemeClr val="tx1"/>
                  </a:solidFill>
                  <a:latin typeface="+mn-ea"/>
                </a:rPr>
                <a:t> (</a:t>
              </a:r>
              <a:r>
                <a:rPr lang="ja-JP" altLang="ja-JP" sz="1050" dirty="0">
                  <a:solidFill>
                    <a:schemeClr val="tx1"/>
                  </a:solidFill>
                  <a:latin typeface="+mn-ea"/>
                </a:rPr>
                <a:t>データクリーンルーム</a:t>
              </a:r>
              <a:r>
                <a:rPr lang="en-US" altLang="ja-JP" sz="1050" dirty="0">
                  <a:solidFill>
                    <a:schemeClr val="tx1"/>
                  </a:solidFill>
                  <a:latin typeface="+mn-ea"/>
                </a:rPr>
                <a:t>) </a:t>
              </a:r>
              <a:r>
                <a:rPr lang="ja-JP" altLang="ja-JP" sz="1050" dirty="0">
                  <a:solidFill>
                    <a:schemeClr val="tx1"/>
                  </a:solidFill>
                  <a:latin typeface="+mn-ea"/>
                </a:rPr>
                <a:t>で小売データを</a:t>
              </a:r>
              <a:br>
                <a:rPr lang="en-US" altLang="ja-JP" sz="1050" dirty="0">
                  <a:solidFill>
                    <a:schemeClr val="tx1"/>
                  </a:solidFill>
                  <a:latin typeface="+mn-ea"/>
                </a:rPr>
              </a:br>
              <a:r>
                <a:rPr lang="ja-JP" altLang="ja-JP" sz="1050" dirty="0">
                  <a:solidFill>
                    <a:schemeClr val="tx1"/>
                  </a:solidFill>
                  <a:latin typeface="+mn-ea"/>
                </a:rPr>
                <a:t>高度利用しつつ、自社は「歯科アプリ」等の</a:t>
              </a:r>
              <a:br>
                <a:rPr lang="en-US" altLang="ja-JP" sz="1050" dirty="0">
                  <a:solidFill>
                    <a:schemeClr val="tx1"/>
                  </a:solidFill>
                  <a:latin typeface="+mn-ea"/>
                </a:rPr>
              </a:br>
              <a:r>
                <a:rPr lang="ja-JP" altLang="ja-JP" sz="1050" dirty="0">
                  <a:solidFill>
                    <a:schemeClr val="tx1"/>
                  </a:solidFill>
                  <a:latin typeface="+mn-ea"/>
                </a:rPr>
                <a:t>専門ニッチデータのみを直接蓄積</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独占する</a:t>
              </a:r>
              <a:endParaRPr kumimoji="1" lang="ja-JP" altLang="en-US" sz="1050" dirty="0">
                <a:solidFill>
                  <a:srgbClr val="2E7D32"/>
                </a:solidFill>
                <a:latin typeface="+mn-ea"/>
              </a:endParaRPr>
            </a:p>
          </p:txBody>
        </p:sp>
        <p:sp>
          <p:nvSpPr>
            <p:cNvPr id="82" name="正方形/長方形 81">
              <a:extLst>
                <a:ext uri="{FF2B5EF4-FFF2-40B4-BE49-F238E27FC236}">
                  <a16:creationId xmlns:a16="http://schemas.microsoft.com/office/drawing/2014/main" id="{0DB8FCAC-2825-11E9-8918-3F1D3030F5E4}"/>
                </a:ext>
              </a:extLst>
            </p:cNvPr>
            <p:cNvSpPr/>
            <p:nvPr/>
          </p:nvSpPr>
          <p:spPr>
            <a:xfrm>
              <a:off x="6834624" y="5062955"/>
              <a:ext cx="2477935" cy="12457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marL="87313" indent="-87313">
                <a:spcAft>
                  <a:spcPts val="200"/>
                </a:spcAft>
                <a:buClr>
                  <a:srgbClr val="008D2E"/>
                </a:buClr>
                <a:buFont typeface="Arial" panose="020B0604020202020204" pitchFamily="34" charset="0"/>
                <a:buChar char="•"/>
              </a:pPr>
              <a:r>
                <a:rPr lang="ja-JP" altLang="ja-JP" sz="1050" dirty="0">
                  <a:solidFill>
                    <a:schemeClr val="tx1"/>
                  </a:solidFill>
                  <a:latin typeface="+mn-ea"/>
                </a:rPr>
                <a:t>営業を「値引き交渉」からバイヤーの社内政治を生き残らせるソリューション提案へシフト</a:t>
              </a:r>
              <a:endParaRPr lang="en-US" altLang="ja-JP" sz="1050" dirty="0">
                <a:solidFill>
                  <a:schemeClr val="tx1"/>
                </a:solidFill>
                <a:latin typeface="+mn-ea"/>
              </a:endParaRPr>
            </a:p>
            <a:p>
              <a:pPr marL="87313" indent="-87313">
                <a:spcAft>
                  <a:spcPts val="200"/>
                </a:spcAft>
                <a:buClr>
                  <a:srgbClr val="008D2E"/>
                </a:buClr>
                <a:buFont typeface="Arial" panose="020B0604020202020204" pitchFamily="34" charset="0"/>
                <a:buChar char="•"/>
              </a:pPr>
              <a:r>
                <a:rPr lang="ja-JP" altLang="ja-JP" sz="1050" dirty="0">
                  <a:solidFill>
                    <a:schemeClr val="tx1"/>
                  </a:solidFill>
                  <a:latin typeface="+mn-ea"/>
                </a:rPr>
                <a:t>社内の臨床</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行動データをGCPで統合し</a:t>
              </a:r>
              <a:br>
                <a:rPr lang="en-US" altLang="ja-JP" sz="1050" dirty="0">
                  <a:solidFill>
                    <a:schemeClr val="tx1"/>
                  </a:solidFill>
                  <a:latin typeface="+mn-ea"/>
                </a:rPr>
              </a:br>
              <a:r>
                <a:rPr lang="ja-JP" altLang="ja-JP" sz="1050" dirty="0">
                  <a:solidFill>
                    <a:schemeClr val="tx1"/>
                  </a:solidFill>
                  <a:latin typeface="+mn-ea"/>
                </a:rPr>
                <a:t>バイヤーが小売の本部システム監査を論破</a:t>
              </a:r>
              <a:br>
                <a:rPr lang="en-US" altLang="ja-JP" sz="1050" dirty="0">
                  <a:solidFill>
                    <a:schemeClr val="tx1"/>
                  </a:solidFill>
                  <a:latin typeface="+mn-ea"/>
                </a:rPr>
              </a:br>
              <a:r>
                <a:rPr lang="ja-JP" altLang="ja-JP" sz="1050" dirty="0">
                  <a:solidFill>
                    <a:schemeClr val="tx1"/>
                  </a:solidFill>
                  <a:latin typeface="+mn-ea"/>
                </a:rPr>
                <a:t>するための「カテゴリLTV</a:t>
              </a:r>
              <a:r>
                <a:rPr lang="en-US" altLang="ja-JP" sz="1050" dirty="0">
                  <a:solidFill>
                    <a:schemeClr val="tx1"/>
                  </a:solidFill>
                  <a:latin typeface="+mn-ea"/>
                </a:rPr>
                <a:t> (</a:t>
              </a:r>
              <a:r>
                <a:rPr lang="ja-JP" altLang="ja-JP" sz="1050" dirty="0">
                  <a:solidFill>
                    <a:schemeClr val="tx1"/>
                  </a:solidFill>
                  <a:latin typeface="+mn-ea"/>
                </a:rPr>
                <a:t>客単価×継続</a:t>
              </a:r>
              <a:br>
                <a:rPr lang="en-US" altLang="ja-JP" sz="1050" dirty="0">
                  <a:solidFill>
                    <a:schemeClr val="tx1"/>
                  </a:solidFill>
                  <a:latin typeface="+mn-ea"/>
                </a:rPr>
              </a:br>
              <a:r>
                <a:rPr lang="ja-JP" altLang="ja-JP" sz="1050" dirty="0">
                  <a:solidFill>
                    <a:schemeClr val="tx1"/>
                  </a:solidFill>
                  <a:latin typeface="+mn-ea"/>
                </a:rPr>
                <a:t>年数</a:t>
              </a:r>
              <a:r>
                <a:rPr lang="en-US" altLang="ja-JP" sz="1050" dirty="0">
                  <a:solidFill>
                    <a:schemeClr val="tx1"/>
                  </a:solidFill>
                  <a:latin typeface="+mn-ea"/>
                </a:rPr>
                <a:t>) </a:t>
              </a:r>
              <a:r>
                <a:rPr lang="ja-JP" altLang="ja-JP" sz="1050" dirty="0">
                  <a:solidFill>
                    <a:schemeClr val="tx1"/>
                  </a:solidFill>
                  <a:latin typeface="+mn-ea"/>
                </a:rPr>
                <a:t>向上予測」や「炭素効率」へ瞬時に</a:t>
              </a:r>
              <a:br>
                <a:rPr lang="en-US" altLang="ja-JP" sz="1050" dirty="0">
                  <a:solidFill>
                    <a:schemeClr val="tx1"/>
                  </a:solidFill>
                  <a:latin typeface="+mn-ea"/>
                </a:rPr>
              </a:br>
              <a:r>
                <a:rPr lang="ja-JP" altLang="ja-JP" sz="1050" dirty="0">
                  <a:solidFill>
                    <a:schemeClr val="tx1"/>
                  </a:solidFill>
                  <a:latin typeface="+mn-ea"/>
                </a:rPr>
                <a:t>自動変換して現場へ供給する</a:t>
              </a:r>
            </a:p>
          </p:txBody>
        </p:sp>
        <p:sp>
          <p:nvSpPr>
            <p:cNvPr id="84" name="正方形/長方形 83">
              <a:extLst>
                <a:ext uri="{FF2B5EF4-FFF2-40B4-BE49-F238E27FC236}">
                  <a16:creationId xmlns:a16="http://schemas.microsoft.com/office/drawing/2014/main" id="{AAF95FBD-F02E-C5D6-3ED8-4CF64AD37936}"/>
                </a:ext>
              </a:extLst>
            </p:cNvPr>
            <p:cNvSpPr/>
            <p:nvPr/>
          </p:nvSpPr>
          <p:spPr>
            <a:xfrm>
              <a:off x="9379102" y="5062955"/>
              <a:ext cx="2477935" cy="12457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marL="92075" indent="-87313">
                <a:spcAft>
                  <a:spcPts val="200"/>
                </a:spcAft>
                <a:buClr>
                  <a:srgbClr val="008D2E"/>
                </a:buClr>
                <a:buFont typeface="Arial" panose="020B0604020202020204" pitchFamily="34" charset="0"/>
                <a:buChar char="•"/>
              </a:pPr>
              <a:r>
                <a:rPr lang="ja-JP" altLang="ja-JP" sz="1050" dirty="0">
                  <a:solidFill>
                    <a:schemeClr val="tx1"/>
                  </a:solidFill>
                  <a:latin typeface="+mn-ea"/>
                </a:rPr>
                <a:t>生成AI</a:t>
              </a:r>
              <a:r>
                <a:rPr lang="en-US" altLang="ja-JP" sz="1050" dirty="0">
                  <a:solidFill>
                    <a:schemeClr val="tx1"/>
                  </a:solidFill>
                  <a:latin typeface="+mn-ea"/>
                </a:rPr>
                <a:t>(</a:t>
              </a:r>
              <a:r>
                <a:rPr lang="ja-JP" altLang="ja-JP" sz="1050" dirty="0">
                  <a:solidFill>
                    <a:schemeClr val="tx1"/>
                  </a:solidFill>
                  <a:latin typeface="+mn-ea"/>
                </a:rPr>
                <a:t>Libra等</a:t>
              </a:r>
              <a:r>
                <a:rPr lang="en-US" altLang="ja-JP" sz="1050" dirty="0">
                  <a:solidFill>
                    <a:schemeClr val="tx1"/>
                  </a:solidFill>
                  <a:latin typeface="+mn-ea"/>
                </a:rPr>
                <a:t>)</a:t>
              </a:r>
              <a:r>
                <a:rPr lang="ja-JP" altLang="ja-JP" sz="1050" dirty="0">
                  <a:solidFill>
                    <a:schemeClr val="tx1"/>
                  </a:solidFill>
                  <a:latin typeface="+mn-ea"/>
                </a:rPr>
                <a:t>やSalesforce TPMで</a:t>
              </a:r>
              <a:br>
                <a:rPr lang="en-US" altLang="ja-JP" sz="1050" dirty="0">
                  <a:solidFill>
                    <a:schemeClr val="tx1"/>
                  </a:solidFill>
                  <a:latin typeface="+mn-ea"/>
                </a:rPr>
              </a:br>
              <a:r>
                <a:rPr lang="ja-JP" altLang="ja-JP" sz="1050" dirty="0">
                  <a:solidFill>
                    <a:schemeClr val="tx1"/>
                  </a:solidFill>
                  <a:latin typeface="+mn-ea"/>
                </a:rPr>
                <a:t>内向き業務</a:t>
              </a:r>
              <a:r>
                <a:rPr lang="en-US" altLang="ja-JP" sz="1050" dirty="0">
                  <a:solidFill>
                    <a:schemeClr val="tx1"/>
                  </a:solidFill>
                  <a:latin typeface="+mn-ea"/>
                </a:rPr>
                <a:t>(</a:t>
              </a:r>
              <a:r>
                <a:rPr lang="ja-JP" altLang="ja-JP" sz="1050" dirty="0">
                  <a:solidFill>
                    <a:schemeClr val="tx1"/>
                  </a:solidFill>
                  <a:latin typeface="+mn-ea"/>
                </a:rPr>
                <a:t>Input業務</a:t>
              </a:r>
              <a:r>
                <a:rPr lang="en-US" altLang="ja-JP" sz="1050" dirty="0">
                  <a:solidFill>
                    <a:schemeClr val="tx1"/>
                  </a:solidFill>
                  <a:latin typeface="+mn-ea"/>
                </a:rPr>
                <a:t>)</a:t>
              </a:r>
              <a:r>
                <a:rPr lang="ja-JP" altLang="ja-JP" sz="1050" dirty="0">
                  <a:solidFill>
                    <a:schemeClr val="tx1"/>
                  </a:solidFill>
                  <a:latin typeface="+mn-ea"/>
                </a:rPr>
                <a:t>を完全自動化し、現場の事務作業時間を構造的に「ゼロ」化</a:t>
              </a:r>
              <a:endParaRPr lang="en-US" altLang="ja-JP" sz="1050" dirty="0">
                <a:solidFill>
                  <a:schemeClr val="tx1"/>
                </a:solidFill>
                <a:latin typeface="+mn-ea"/>
              </a:endParaRPr>
            </a:p>
            <a:p>
              <a:pPr marL="92075" indent="-87313">
                <a:spcAft>
                  <a:spcPts val="200"/>
                </a:spcAft>
                <a:buClr>
                  <a:srgbClr val="008D2E"/>
                </a:buClr>
                <a:buFont typeface="Arial" panose="020B0604020202020204" pitchFamily="34" charset="0"/>
                <a:buChar char="•"/>
              </a:pPr>
              <a:r>
                <a:rPr lang="ja-JP" altLang="ja-JP" sz="1050" dirty="0">
                  <a:solidFill>
                    <a:schemeClr val="tx1"/>
                  </a:solidFill>
                  <a:latin typeface="+mn-ea"/>
                </a:rPr>
                <a:t>創出した時間で、小売の「環境対策部</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物流部」と自社専門集団を直結させ、実店舗が抱える「店頭での資源回収オペレーション」の重圧を組織総力戦で解決するサステナパートナーへ進化する</a:t>
              </a:r>
            </a:p>
          </p:txBody>
        </p:sp>
      </p:grpSp>
      <p:grpSp>
        <p:nvGrpSpPr>
          <p:cNvPr id="14" name="グループ化 13">
            <a:extLst>
              <a:ext uri="{FF2B5EF4-FFF2-40B4-BE49-F238E27FC236}">
                <a16:creationId xmlns:a16="http://schemas.microsoft.com/office/drawing/2014/main" id="{132865CB-58CB-092F-EDC0-63740432DCF0}"/>
              </a:ext>
            </a:extLst>
          </p:cNvPr>
          <p:cNvGrpSpPr/>
          <p:nvPr/>
        </p:nvGrpSpPr>
        <p:grpSpPr>
          <a:xfrm>
            <a:off x="334963" y="2514168"/>
            <a:ext cx="11522074" cy="1053281"/>
            <a:chOff x="334963" y="2514168"/>
            <a:chExt cx="11522074" cy="1053281"/>
          </a:xfrm>
        </p:grpSpPr>
        <p:sp>
          <p:nvSpPr>
            <p:cNvPr id="77" name="正方形/長方形 76">
              <a:extLst>
                <a:ext uri="{FF2B5EF4-FFF2-40B4-BE49-F238E27FC236}">
                  <a16:creationId xmlns:a16="http://schemas.microsoft.com/office/drawing/2014/main" id="{F81D3A30-DD09-1AF7-8B9E-45051C248BF0}"/>
                </a:ext>
              </a:extLst>
            </p:cNvPr>
            <p:cNvSpPr/>
            <p:nvPr/>
          </p:nvSpPr>
          <p:spPr>
            <a:xfrm>
              <a:off x="334963" y="2514168"/>
              <a:ext cx="1344168" cy="1053281"/>
            </a:xfrm>
            <a:prstGeom prst="rect">
              <a:avLst/>
            </a:prstGeom>
            <a:solidFill>
              <a:schemeClr val="bg1">
                <a:lumMod val="50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600" b="1" dirty="0">
                  <a:solidFill>
                    <a:schemeClr val="bg1">
                      <a:lumMod val="50000"/>
                    </a:schemeClr>
                  </a:solidFill>
                  <a:latin typeface="+mn-ea"/>
                </a:rPr>
                <a:t>現状</a:t>
              </a:r>
              <a:r>
                <a:rPr lang="en-US" altLang="ja-JP" sz="1600" b="1" dirty="0">
                  <a:solidFill>
                    <a:schemeClr val="bg1">
                      <a:lumMod val="50000"/>
                    </a:schemeClr>
                  </a:solidFill>
                  <a:latin typeface="+mn-ea"/>
                </a:rPr>
                <a:t> </a:t>
              </a:r>
              <a:br>
                <a:rPr lang="en-US" altLang="ja-JP" sz="1600" b="1" dirty="0">
                  <a:solidFill>
                    <a:schemeClr val="bg1">
                      <a:lumMod val="50000"/>
                    </a:schemeClr>
                  </a:solidFill>
                  <a:latin typeface="+mn-ea"/>
                </a:rPr>
              </a:br>
              <a:r>
                <a:rPr lang="en-US" altLang="ja-JP" sz="1600" b="1" dirty="0">
                  <a:solidFill>
                    <a:schemeClr val="bg1">
                      <a:lumMod val="50000"/>
                    </a:schemeClr>
                  </a:solidFill>
                  <a:latin typeface="+mn-ea"/>
                </a:rPr>
                <a:t>(</a:t>
              </a:r>
              <a:r>
                <a:rPr lang="ja-JP" altLang="ja-JP" sz="1600" b="1" dirty="0">
                  <a:solidFill>
                    <a:schemeClr val="bg1">
                      <a:lumMod val="50000"/>
                    </a:schemeClr>
                  </a:solidFill>
                  <a:latin typeface="+mn-ea"/>
                </a:rPr>
                <a:t>As-Is</a:t>
              </a:r>
              <a:r>
                <a:rPr lang="en-US" altLang="ja-JP" sz="1600" b="1" dirty="0">
                  <a:solidFill>
                    <a:schemeClr val="bg1">
                      <a:lumMod val="50000"/>
                    </a:schemeClr>
                  </a:solidFill>
                  <a:latin typeface="+mn-ea"/>
                </a:rPr>
                <a:t>)</a:t>
              </a:r>
              <a:endParaRPr kumimoji="1" lang="ja-JP" altLang="en-US" sz="1600" dirty="0">
                <a:solidFill>
                  <a:schemeClr val="bg1">
                    <a:lumMod val="50000"/>
                  </a:schemeClr>
                </a:solidFill>
                <a:latin typeface="+mn-ea"/>
              </a:endParaRPr>
            </a:p>
          </p:txBody>
        </p:sp>
        <p:sp>
          <p:nvSpPr>
            <p:cNvPr id="79" name="正方形/長方形 78">
              <a:extLst>
                <a:ext uri="{FF2B5EF4-FFF2-40B4-BE49-F238E27FC236}">
                  <a16:creationId xmlns:a16="http://schemas.microsoft.com/office/drawing/2014/main" id="{D7E21CF5-C409-5B24-C69D-4CF4A5D33D4F}"/>
                </a:ext>
              </a:extLst>
            </p:cNvPr>
            <p:cNvSpPr/>
            <p:nvPr/>
          </p:nvSpPr>
          <p:spPr>
            <a:xfrm>
              <a:off x="1745672" y="2514168"/>
              <a:ext cx="2477935" cy="10532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7313" indent="-87313">
                <a:spcAft>
                  <a:spcPts val="200"/>
                </a:spcAft>
                <a:buClr>
                  <a:srgbClr val="008D2E"/>
                </a:buClr>
                <a:buFont typeface="Arial" panose="020B0604020202020204" pitchFamily="34" charset="0"/>
                <a:buChar char="•"/>
              </a:pPr>
              <a:r>
                <a:rPr lang="ja-JP" altLang="ja-JP" sz="1050" dirty="0">
                  <a:solidFill>
                    <a:schemeClr val="tx1"/>
                  </a:solidFill>
                  <a:latin typeface="+mn-ea"/>
                </a:rPr>
                <a:t>P&amp;G</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花王が量とコストで圧倒的優位に</a:t>
              </a:r>
              <a:br>
                <a:rPr lang="en-US" altLang="ja-JP" sz="1050" dirty="0">
                  <a:solidFill>
                    <a:schemeClr val="tx1"/>
                  </a:solidFill>
                  <a:latin typeface="+mn-ea"/>
                </a:rPr>
              </a:br>
              <a:r>
                <a:rPr lang="ja-JP" altLang="ja-JP" sz="1050" dirty="0">
                  <a:solidFill>
                    <a:schemeClr val="tx1"/>
                  </a:solidFill>
                  <a:latin typeface="+mn-ea"/>
                </a:rPr>
                <a:t>立つ衣料用洗剤等のコモディティ領域で、</a:t>
              </a:r>
              <a:br>
                <a:rPr lang="en-US" altLang="ja-JP" sz="1050" dirty="0">
                  <a:solidFill>
                    <a:schemeClr val="tx1"/>
                  </a:solidFill>
                  <a:latin typeface="+mn-ea"/>
                </a:rPr>
              </a:br>
              <a:r>
                <a:rPr lang="ja-JP" altLang="ja-JP" sz="1050" dirty="0">
                  <a:solidFill>
                    <a:schemeClr val="tx1"/>
                  </a:solidFill>
                  <a:latin typeface="+mn-ea"/>
                </a:rPr>
                <a:t>いまだ目先の特売や値引きの条件交渉に</a:t>
              </a:r>
              <a:br>
                <a:rPr lang="en-US" altLang="ja-JP" sz="1050" dirty="0">
                  <a:solidFill>
                    <a:schemeClr val="tx1"/>
                  </a:solidFill>
                  <a:latin typeface="+mn-ea"/>
                </a:rPr>
              </a:br>
              <a:r>
                <a:rPr lang="ja-JP" altLang="ja-JP" sz="1050" dirty="0">
                  <a:solidFill>
                    <a:schemeClr val="tx1"/>
                  </a:solidFill>
                  <a:latin typeface="+mn-ea"/>
                </a:rPr>
                <a:t>多くの経営資源を割かれ続けている</a:t>
              </a:r>
              <a:endParaRPr kumimoji="1" lang="ja-JP" altLang="en-US" sz="1050" dirty="0">
                <a:solidFill>
                  <a:schemeClr val="tx1"/>
                </a:solidFill>
                <a:latin typeface="+mn-ea"/>
              </a:endParaRPr>
            </a:p>
          </p:txBody>
        </p:sp>
        <p:sp>
          <p:nvSpPr>
            <p:cNvPr id="81" name="正方形/長方形 80">
              <a:extLst>
                <a:ext uri="{FF2B5EF4-FFF2-40B4-BE49-F238E27FC236}">
                  <a16:creationId xmlns:a16="http://schemas.microsoft.com/office/drawing/2014/main" id="{83F05736-B027-090A-9768-EB73FEAF52A6}"/>
                </a:ext>
              </a:extLst>
            </p:cNvPr>
            <p:cNvSpPr/>
            <p:nvPr/>
          </p:nvSpPr>
          <p:spPr>
            <a:xfrm>
              <a:off x="4290148" y="2514168"/>
              <a:ext cx="2477935" cy="10532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2075" indent="-92075">
                <a:spcAft>
                  <a:spcPts val="200"/>
                </a:spcAft>
                <a:buClr>
                  <a:srgbClr val="008D2E"/>
                </a:buClr>
                <a:buFont typeface="Arial" panose="020B0604020202020204" pitchFamily="34" charset="0"/>
                <a:buChar char="•"/>
              </a:pPr>
              <a:r>
                <a:rPr lang="ja-JP" altLang="ja-JP" sz="1050" dirty="0">
                  <a:solidFill>
                    <a:schemeClr val="tx1"/>
                  </a:solidFill>
                  <a:latin typeface="+mn-ea"/>
                </a:rPr>
                <a:t>全社統合のデジタル顧客基盤を持たず、</a:t>
              </a:r>
              <a:br>
                <a:rPr lang="en-US" altLang="ja-JP" sz="1050" dirty="0">
                  <a:solidFill>
                    <a:schemeClr val="tx1"/>
                  </a:solidFill>
                  <a:latin typeface="+mn-ea"/>
                </a:rPr>
              </a:br>
              <a:r>
                <a:rPr lang="ja-JP" altLang="ja-JP" sz="1050" dirty="0">
                  <a:solidFill>
                    <a:schemeClr val="tx1"/>
                  </a:solidFill>
                  <a:latin typeface="+mn-ea"/>
                </a:rPr>
                <a:t>購買データを小売のID-POSに100%依存</a:t>
              </a:r>
              <a:endParaRPr lang="en-US" altLang="ja-JP" sz="1050" dirty="0">
                <a:solidFill>
                  <a:schemeClr val="tx1"/>
                </a:solidFill>
                <a:latin typeface="+mn-ea"/>
              </a:endParaRPr>
            </a:p>
            <a:p>
              <a:pPr marL="92075" indent="-92075">
                <a:spcAft>
                  <a:spcPts val="200"/>
                </a:spcAft>
                <a:buClr>
                  <a:srgbClr val="008D2E"/>
                </a:buClr>
                <a:buFont typeface="Arial" panose="020B0604020202020204" pitchFamily="34" charset="0"/>
                <a:buChar char="•"/>
              </a:pPr>
              <a:r>
                <a:rPr lang="ja-JP" altLang="ja-JP" sz="1050" dirty="0">
                  <a:solidFill>
                    <a:schemeClr val="tx1"/>
                  </a:solidFill>
                  <a:latin typeface="+mn-ea"/>
                </a:rPr>
                <a:t>リテールメディアの活用も、単発の販促枠を</a:t>
              </a:r>
              <a:br>
                <a:rPr lang="en-US" altLang="ja-JP" sz="1050" dirty="0">
                  <a:solidFill>
                    <a:schemeClr val="tx1"/>
                  </a:solidFill>
                  <a:latin typeface="+mn-ea"/>
                </a:rPr>
              </a:br>
              <a:r>
                <a:rPr lang="ja-JP" altLang="ja-JP" sz="1050" dirty="0">
                  <a:solidFill>
                    <a:schemeClr val="tx1"/>
                  </a:solidFill>
                  <a:latin typeface="+mn-ea"/>
                </a:rPr>
                <a:t>スポットで買い付ける「従来型の広告枠買い</a:t>
              </a:r>
              <a:r>
                <a:rPr lang="en-US" altLang="ja-JP" sz="1050" dirty="0">
                  <a:solidFill>
                    <a:schemeClr val="tx1"/>
                  </a:solidFill>
                  <a:latin typeface="+mn-ea"/>
                </a:rPr>
                <a:t> </a:t>
              </a:r>
              <a:br>
                <a:rPr lang="en-US" altLang="ja-JP" sz="1050" dirty="0">
                  <a:solidFill>
                    <a:schemeClr val="tx1"/>
                  </a:solidFill>
                  <a:latin typeface="+mn-ea"/>
                </a:rPr>
              </a:br>
              <a:r>
                <a:rPr lang="en-US" altLang="ja-JP" sz="1050" dirty="0">
                  <a:solidFill>
                    <a:schemeClr val="tx1"/>
                  </a:solidFill>
                  <a:latin typeface="+mn-ea"/>
                </a:rPr>
                <a:t>(</a:t>
              </a:r>
              <a:r>
                <a:rPr lang="ja-JP" altLang="ja-JP" sz="1050" dirty="0">
                  <a:solidFill>
                    <a:schemeClr val="tx1"/>
                  </a:solidFill>
                  <a:latin typeface="+mn-ea"/>
                </a:rPr>
                <a:t>部分最適</a:t>
              </a:r>
              <a:r>
                <a:rPr lang="en-US" altLang="ja-JP" sz="1050" dirty="0">
                  <a:solidFill>
                    <a:schemeClr val="tx1"/>
                  </a:solidFill>
                  <a:latin typeface="+mn-ea"/>
                </a:rPr>
                <a:t>) </a:t>
              </a:r>
              <a:r>
                <a:rPr lang="ja-JP" altLang="ja-JP" sz="1050" dirty="0">
                  <a:solidFill>
                    <a:schemeClr val="tx1"/>
                  </a:solidFill>
                  <a:latin typeface="+mn-ea"/>
                </a:rPr>
                <a:t>」の域を出ていない</a:t>
              </a:r>
              <a:endParaRPr kumimoji="1" lang="ja-JP" altLang="en-US" sz="1050" dirty="0">
                <a:solidFill>
                  <a:schemeClr val="tx1"/>
                </a:solidFill>
                <a:latin typeface="+mn-ea"/>
              </a:endParaRPr>
            </a:p>
          </p:txBody>
        </p:sp>
        <p:sp>
          <p:nvSpPr>
            <p:cNvPr id="83" name="正方形/長方形 82">
              <a:extLst>
                <a:ext uri="{FF2B5EF4-FFF2-40B4-BE49-F238E27FC236}">
                  <a16:creationId xmlns:a16="http://schemas.microsoft.com/office/drawing/2014/main" id="{F2EE5E42-D662-4D6C-D882-D47DD2157E8A}"/>
                </a:ext>
              </a:extLst>
            </p:cNvPr>
            <p:cNvSpPr/>
            <p:nvPr/>
          </p:nvSpPr>
          <p:spPr>
            <a:xfrm>
              <a:off x="6834624" y="2514168"/>
              <a:ext cx="2477935" cy="10532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2075" indent="-92075">
                <a:spcAft>
                  <a:spcPts val="200"/>
                </a:spcAft>
                <a:buClr>
                  <a:srgbClr val="008D2E"/>
                </a:buClr>
                <a:buFont typeface="Arial" panose="020B0604020202020204" pitchFamily="34" charset="0"/>
                <a:buChar char="•"/>
              </a:pPr>
              <a:r>
                <a:rPr lang="ja-JP" altLang="ja-JP" sz="1050" dirty="0">
                  <a:solidFill>
                    <a:schemeClr val="tx1"/>
                  </a:solidFill>
                  <a:latin typeface="+mn-ea"/>
                </a:rPr>
                <a:t>R&amp;Dやマーケが持つ豊富な「臨床データ」</a:t>
              </a:r>
              <a:br>
                <a:rPr lang="en-US" altLang="ja-JP" sz="1050" dirty="0">
                  <a:solidFill>
                    <a:schemeClr val="tx1"/>
                  </a:solidFill>
                  <a:latin typeface="+mn-ea"/>
                </a:rPr>
              </a:br>
              <a:r>
                <a:rPr lang="ja-JP" altLang="ja-JP" sz="1050" dirty="0">
                  <a:solidFill>
                    <a:schemeClr val="tx1"/>
                  </a:solidFill>
                  <a:latin typeface="+mn-ea"/>
                </a:rPr>
                <a:t>や「習慣化インサイト」が、営業が商談で使う</a:t>
              </a:r>
              <a:br>
                <a:rPr lang="en-US" altLang="ja-JP" sz="1050" dirty="0">
                  <a:solidFill>
                    <a:schemeClr val="tx1"/>
                  </a:solidFill>
                  <a:latin typeface="+mn-ea"/>
                </a:rPr>
              </a:br>
              <a:r>
                <a:rPr lang="ja-JP" altLang="ja-JP" sz="1050" dirty="0">
                  <a:solidFill>
                    <a:schemeClr val="tx1"/>
                  </a:solidFill>
                  <a:latin typeface="+mn-ea"/>
                </a:rPr>
                <a:t>流通言語に翻訳されておらず、価値ある</a:t>
              </a:r>
              <a:br>
                <a:rPr lang="en-US" altLang="ja-JP" sz="1050" dirty="0">
                  <a:solidFill>
                    <a:schemeClr val="tx1"/>
                  </a:solidFill>
                  <a:latin typeface="+mn-ea"/>
                </a:rPr>
              </a:br>
              <a:r>
                <a:rPr lang="ja-JP" altLang="ja-JP" sz="1050" dirty="0">
                  <a:solidFill>
                    <a:schemeClr val="tx1"/>
                  </a:solidFill>
                  <a:latin typeface="+mn-ea"/>
                </a:rPr>
                <a:t>科学的エビデンスが社内に眠ったままである</a:t>
              </a:r>
              <a:endParaRPr kumimoji="1" lang="ja-JP" altLang="en-US" sz="1050" dirty="0">
                <a:solidFill>
                  <a:schemeClr val="tx1"/>
                </a:solidFill>
                <a:latin typeface="+mn-ea"/>
              </a:endParaRPr>
            </a:p>
          </p:txBody>
        </p:sp>
        <p:sp>
          <p:nvSpPr>
            <p:cNvPr id="85" name="正方形/長方形 84">
              <a:extLst>
                <a:ext uri="{FF2B5EF4-FFF2-40B4-BE49-F238E27FC236}">
                  <a16:creationId xmlns:a16="http://schemas.microsoft.com/office/drawing/2014/main" id="{225273A0-6211-C9A2-9BAF-993CC548551A}"/>
                </a:ext>
              </a:extLst>
            </p:cNvPr>
            <p:cNvSpPr/>
            <p:nvPr/>
          </p:nvSpPr>
          <p:spPr>
            <a:xfrm>
              <a:off x="9379102" y="2514168"/>
              <a:ext cx="2477935" cy="10532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7313" indent="-87313">
                <a:spcAft>
                  <a:spcPts val="200"/>
                </a:spcAft>
                <a:buClr>
                  <a:srgbClr val="008D2E"/>
                </a:buClr>
                <a:buFont typeface="Arial" panose="020B0604020202020204" pitchFamily="34" charset="0"/>
                <a:buChar char="•"/>
              </a:pPr>
              <a:r>
                <a:rPr lang="ja-JP" altLang="ja-JP" sz="1050" dirty="0">
                  <a:solidFill>
                    <a:schemeClr val="tx1"/>
                  </a:solidFill>
                  <a:latin typeface="+mn-ea"/>
                </a:rPr>
                <a:t>現場の営業員が資料作成や実績集計に</a:t>
              </a:r>
              <a:br>
                <a:rPr lang="en-US" altLang="ja-JP" sz="1050" dirty="0">
                  <a:solidFill>
                    <a:schemeClr val="tx1"/>
                  </a:solidFill>
                  <a:latin typeface="+mn-ea"/>
                </a:rPr>
              </a:br>
              <a:r>
                <a:rPr lang="ja-JP" altLang="ja-JP" sz="1050" dirty="0">
                  <a:solidFill>
                    <a:schemeClr val="tx1"/>
                  </a:solidFill>
                  <a:latin typeface="+mn-ea"/>
                </a:rPr>
                <a:t>忙殺されている</a:t>
              </a:r>
              <a:endParaRPr lang="en-US" altLang="ja-JP" sz="1050" dirty="0">
                <a:solidFill>
                  <a:schemeClr val="tx1"/>
                </a:solidFill>
                <a:latin typeface="+mn-ea"/>
              </a:endParaRPr>
            </a:p>
            <a:p>
              <a:pPr marL="87313" indent="-87313">
                <a:spcAft>
                  <a:spcPts val="200"/>
                </a:spcAft>
                <a:buClr>
                  <a:srgbClr val="008D2E"/>
                </a:buClr>
                <a:buFont typeface="Arial" panose="020B0604020202020204" pitchFamily="34" charset="0"/>
                <a:buChar char="•"/>
              </a:pPr>
              <a:r>
                <a:rPr lang="ja-JP" altLang="ja-JP" sz="1050" dirty="0">
                  <a:solidFill>
                    <a:schemeClr val="tx1"/>
                  </a:solidFill>
                  <a:latin typeface="+mn-ea"/>
                </a:rPr>
                <a:t>営業1人がバイヤー1人と対峙する従来の</a:t>
              </a:r>
              <a:br>
                <a:rPr lang="en-US" altLang="ja-JP" sz="1050" dirty="0">
                  <a:solidFill>
                    <a:schemeClr val="tx1"/>
                  </a:solidFill>
                  <a:latin typeface="+mn-ea"/>
                </a:rPr>
              </a:br>
              <a:r>
                <a:rPr lang="ja-JP" altLang="ja-JP" sz="1050" dirty="0">
                  <a:solidFill>
                    <a:schemeClr val="tx1"/>
                  </a:solidFill>
                  <a:latin typeface="+mn-ea"/>
                </a:rPr>
                <a:t>「バタフライ型営業」のままであり、対P&amp;G</a:t>
              </a:r>
              <a:br>
                <a:rPr lang="en-US" altLang="ja-JP" sz="1050" dirty="0">
                  <a:solidFill>
                    <a:schemeClr val="tx1"/>
                  </a:solidFill>
                  <a:latin typeface="+mn-ea"/>
                </a:rPr>
              </a:br>
              <a:r>
                <a:rPr lang="ja-JP" altLang="ja-JP" sz="1050" dirty="0">
                  <a:solidFill>
                    <a:schemeClr val="tx1"/>
                  </a:solidFill>
                  <a:latin typeface="+mn-ea"/>
                </a:rPr>
                <a:t>比7.6倍の生産性格差を放置したまま、</a:t>
              </a:r>
              <a:br>
                <a:rPr lang="en-US" altLang="ja-JP" sz="1050" dirty="0">
                  <a:solidFill>
                    <a:schemeClr val="tx1"/>
                  </a:solidFill>
                  <a:latin typeface="+mn-ea"/>
                </a:rPr>
              </a:br>
              <a:r>
                <a:rPr lang="ja-JP" altLang="ja-JP" sz="1050" dirty="0">
                  <a:solidFill>
                    <a:schemeClr val="tx1"/>
                  </a:solidFill>
                  <a:latin typeface="+mn-ea"/>
                </a:rPr>
                <a:t>小売現場のサステナ課題に対応できていない</a:t>
              </a:r>
              <a:endParaRPr kumimoji="1" lang="ja-JP" altLang="en-US" sz="1050" dirty="0">
                <a:solidFill>
                  <a:schemeClr val="tx1"/>
                </a:solidFill>
                <a:latin typeface="+mn-ea"/>
              </a:endParaRPr>
            </a:p>
          </p:txBody>
        </p:sp>
      </p:grpSp>
      <p:grpSp>
        <p:nvGrpSpPr>
          <p:cNvPr id="13" name="グループ化 12">
            <a:extLst>
              <a:ext uri="{FF2B5EF4-FFF2-40B4-BE49-F238E27FC236}">
                <a16:creationId xmlns:a16="http://schemas.microsoft.com/office/drawing/2014/main" id="{D7FBF67C-DC54-88C0-D734-4A0FB3693DC1}"/>
              </a:ext>
            </a:extLst>
          </p:cNvPr>
          <p:cNvGrpSpPr/>
          <p:nvPr/>
        </p:nvGrpSpPr>
        <p:grpSpPr>
          <a:xfrm>
            <a:off x="1745673" y="3641637"/>
            <a:ext cx="10111365" cy="0"/>
            <a:chOff x="1745673" y="3567449"/>
            <a:chExt cx="10111365" cy="0"/>
          </a:xfrm>
        </p:grpSpPr>
        <p:cxnSp>
          <p:nvCxnSpPr>
            <p:cNvPr id="58" name="直線コネクタ 57">
              <a:extLst>
                <a:ext uri="{FF2B5EF4-FFF2-40B4-BE49-F238E27FC236}">
                  <a16:creationId xmlns:a16="http://schemas.microsoft.com/office/drawing/2014/main" id="{99CC1704-B313-2618-27DD-6AB0ED4300D1}"/>
                </a:ext>
              </a:extLst>
            </p:cNvPr>
            <p:cNvCxnSpPr/>
            <p:nvPr/>
          </p:nvCxnSpPr>
          <p:spPr>
            <a:xfrm>
              <a:off x="1745673" y="3567449"/>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FC7754E2-9676-51A3-D630-B06B9B9D1E02}"/>
                </a:ext>
              </a:extLst>
            </p:cNvPr>
            <p:cNvCxnSpPr/>
            <p:nvPr/>
          </p:nvCxnSpPr>
          <p:spPr>
            <a:xfrm>
              <a:off x="4290149" y="3567449"/>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773F0416-7EB3-CF15-91CC-883307205683}"/>
                </a:ext>
              </a:extLst>
            </p:cNvPr>
            <p:cNvCxnSpPr/>
            <p:nvPr/>
          </p:nvCxnSpPr>
          <p:spPr>
            <a:xfrm>
              <a:off x="6834626" y="3567449"/>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3F3E1DEA-7F4C-7510-5A66-09CCAEC28F22}"/>
                </a:ext>
              </a:extLst>
            </p:cNvPr>
            <p:cNvCxnSpPr/>
            <p:nvPr/>
          </p:nvCxnSpPr>
          <p:spPr>
            <a:xfrm>
              <a:off x="9379102" y="3567449"/>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 name="グループ化 9">
            <a:extLst>
              <a:ext uri="{FF2B5EF4-FFF2-40B4-BE49-F238E27FC236}">
                <a16:creationId xmlns:a16="http://schemas.microsoft.com/office/drawing/2014/main" id="{5153AA0E-7890-502B-5056-7F2D73676C61}"/>
              </a:ext>
            </a:extLst>
          </p:cNvPr>
          <p:cNvGrpSpPr/>
          <p:nvPr/>
        </p:nvGrpSpPr>
        <p:grpSpPr>
          <a:xfrm>
            <a:off x="1745673" y="4843295"/>
            <a:ext cx="10111365" cy="0"/>
            <a:chOff x="1745673" y="5071508"/>
            <a:chExt cx="10111365" cy="0"/>
          </a:xfrm>
        </p:grpSpPr>
        <p:cxnSp>
          <p:nvCxnSpPr>
            <p:cNvPr id="97" name="直線コネクタ 96">
              <a:extLst>
                <a:ext uri="{FF2B5EF4-FFF2-40B4-BE49-F238E27FC236}">
                  <a16:creationId xmlns:a16="http://schemas.microsoft.com/office/drawing/2014/main" id="{6B3EB5BB-98F1-5957-84BF-2B52E47952D9}"/>
                </a:ext>
              </a:extLst>
            </p:cNvPr>
            <p:cNvCxnSpPr>
              <a:cxnSpLocks/>
            </p:cNvCxnSpPr>
            <p:nvPr/>
          </p:nvCxnSpPr>
          <p:spPr>
            <a:xfrm>
              <a:off x="1745673" y="5071508"/>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a16:creationId xmlns:a16="http://schemas.microsoft.com/office/drawing/2014/main" id="{A0CC7C45-AA60-C271-DF74-3372B9BC6BE0}"/>
                </a:ext>
              </a:extLst>
            </p:cNvPr>
            <p:cNvCxnSpPr>
              <a:cxnSpLocks/>
            </p:cNvCxnSpPr>
            <p:nvPr/>
          </p:nvCxnSpPr>
          <p:spPr>
            <a:xfrm>
              <a:off x="4290149" y="5071508"/>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a16:creationId xmlns:a16="http://schemas.microsoft.com/office/drawing/2014/main" id="{AD5B5F43-6E44-D156-0197-D9A4A85A2561}"/>
                </a:ext>
              </a:extLst>
            </p:cNvPr>
            <p:cNvCxnSpPr>
              <a:cxnSpLocks/>
            </p:cNvCxnSpPr>
            <p:nvPr/>
          </p:nvCxnSpPr>
          <p:spPr>
            <a:xfrm>
              <a:off x="6834626" y="5071508"/>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直線コネクタ 99">
              <a:extLst>
                <a:ext uri="{FF2B5EF4-FFF2-40B4-BE49-F238E27FC236}">
                  <a16:creationId xmlns:a16="http://schemas.microsoft.com/office/drawing/2014/main" id="{39B896DC-D6FC-B805-3C83-6C09B65FA4ED}"/>
                </a:ext>
              </a:extLst>
            </p:cNvPr>
            <p:cNvCxnSpPr>
              <a:cxnSpLocks/>
            </p:cNvCxnSpPr>
            <p:nvPr/>
          </p:nvCxnSpPr>
          <p:spPr>
            <a:xfrm>
              <a:off x="9379102" y="5071508"/>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 name="グループ化 11">
            <a:extLst>
              <a:ext uri="{FF2B5EF4-FFF2-40B4-BE49-F238E27FC236}">
                <a16:creationId xmlns:a16="http://schemas.microsoft.com/office/drawing/2014/main" id="{2DFF3864-6947-9670-03F8-875B2A7E7810}"/>
              </a:ext>
            </a:extLst>
          </p:cNvPr>
          <p:cNvGrpSpPr/>
          <p:nvPr/>
        </p:nvGrpSpPr>
        <p:grpSpPr>
          <a:xfrm>
            <a:off x="1007045" y="3715825"/>
            <a:ext cx="10849993" cy="1053282"/>
            <a:chOff x="1007045" y="3759939"/>
            <a:chExt cx="10849993" cy="1053282"/>
          </a:xfrm>
        </p:grpSpPr>
        <p:cxnSp>
          <p:nvCxnSpPr>
            <p:cNvPr id="94" name="直線矢印コネクタ 93">
              <a:extLst>
                <a:ext uri="{FF2B5EF4-FFF2-40B4-BE49-F238E27FC236}">
                  <a16:creationId xmlns:a16="http://schemas.microsoft.com/office/drawing/2014/main" id="{D25A830E-3061-B873-0984-BBF8D7F31CC6}"/>
                </a:ext>
              </a:extLst>
            </p:cNvPr>
            <p:cNvCxnSpPr>
              <a:cxnSpLocks/>
            </p:cNvCxnSpPr>
            <p:nvPr/>
          </p:nvCxnSpPr>
          <p:spPr>
            <a:xfrm>
              <a:off x="1007047" y="3828327"/>
              <a:ext cx="0" cy="964909"/>
            </a:xfrm>
            <a:prstGeom prst="straightConnector1">
              <a:avLst/>
            </a:prstGeom>
            <a:ln w="9525">
              <a:solidFill>
                <a:schemeClr val="bg1">
                  <a:lumMod val="50000"/>
                </a:schemeClr>
              </a:solidFill>
              <a:headEnd type="triangle" w="med" len="med"/>
              <a:tailEnd type="triangle"/>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a16:creationId xmlns:a16="http://schemas.microsoft.com/office/drawing/2014/main" id="{446FDBA6-03D5-4A1E-C1B7-E6CD998DBD0B}"/>
                </a:ext>
              </a:extLst>
            </p:cNvPr>
            <p:cNvSpPr/>
            <p:nvPr/>
          </p:nvSpPr>
          <p:spPr>
            <a:xfrm>
              <a:off x="1007045" y="3759939"/>
              <a:ext cx="672087"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600" dirty="0">
                  <a:solidFill>
                    <a:schemeClr val="bg1">
                      <a:lumMod val="50000"/>
                    </a:schemeClr>
                  </a:solidFill>
                  <a:latin typeface="+mn-ea"/>
                </a:rPr>
                <a:t>GAP</a:t>
              </a:r>
              <a:endParaRPr kumimoji="1" lang="ja-JP" altLang="en-US" sz="1600" dirty="0">
                <a:solidFill>
                  <a:schemeClr val="bg1">
                    <a:lumMod val="50000"/>
                  </a:schemeClr>
                </a:solidFill>
                <a:latin typeface="+mn-ea"/>
              </a:endParaRPr>
            </a:p>
          </p:txBody>
        </p:sp>
        <p:sp>
          <p:nvSpPr>
            <p:cNvPr id="101" name="正方形/長方形 100">
              <a:extLst>
                <a:ext uri="{FF2B5EF4-FFF2-40B4-BE49-F238E27FC236}">
                  <a16:creationId xmlns:a16="http://schemas.microsoft.com/office/drawing/2014/main" id="{0DEBD7B0-AAF5-2C31-B10D-578CE449A1C6}"/>
                </a:ext>
              </a:extLst>
            </p:cNvPr>
            <p:cNvSpPr/>
            <p:nvPr/>
          </p:nvSpPr>
          <p:spPr>
            <a:xfrm>
              <a:off x="1745672" y="3759939"/>
              <a:ext cx="2477934"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ja-JP" sz="1050" dirty="0">
                  <a:solidFill>
                    <a:srgbClr val="008000"/>
                  </a:solidFill>
                  <a:latin typeface="+mn-ea"/>
                </a:rPr>
                <a:t>洗剤領域での不毛な消耗戦から脱却できず</a:t>
              </a:r>
              <a:br>
                <a:rPr lang="en-US" altLang="ja-JP" sz="1050" dirty="0">
                  <a:solidFill>
                    <a:srgbClr val="008000"/>
                  </a:solidFill>
                  <a:latin typeface="+mn-ea"/>
                </a:rPr>
              </a:br>
              <a:r>
                <a:rPr lang="ja-JP" altLang="ja-JP" sz="1050" dirty="0">
                  <a:solidFill>
                    <a:srgbClr val="008000"/>
                  </a:solidFill>
                  <a:latin typeface="+mn-ea"/>
                </a:rPr>
                <a:t>オーラルやキレイキレイ等の強み領域を未来の</a:t>
              </a:r>
              <a:br>
                <a:rPr lang="en-US" altLang="ja-JP" sz="1050" dirty="0">
                  <a:solidFill>
                    <a:srgbClr val="008000"/>
                  </a:solidFill>
                  <a:latin typeface="+mn-ea"/>
                </a:rPr>
              </a:br>
              <a:r>
                <a:rPr lang="ja-JP" altLang="ja-JP" sz="1050" dirty="0">
                  <a:solidFill>
                    <a:srgbClr val="008000"/>
                  </a:solidFill>
                  <a:latin typeface="+mn-ea"/>
                </a:rPr>
                <a:t>AI自動補充システムへ潜り込ませるための</a:t>
              </a:r>
              <a:br>
                <a:rPr lang="en-US" altLang="ja-JP" sz="1050" dirty="0">
                  <a:solidFill>
                    <a:srgbClr val="008000"/>
                  </a:solidFill>
                  <a:latin typeface="+mn-ea"/>
                </a:rPr>
              </a:br>
              <a:r>
                <a:rPr lang="ja-JP" altLang="ja-JP" sz="1050" dirty="0">
                  <a:solidFill>
                    <a:srgbClr val="008000"/>
                  </a:solidFill>
                  <a:latin typeface="+mn-ea"/>
                </a:rPr>
                <a:t>「製品属性データの構造化</a:t>
              </a:r>
              <a:r>
                <a:rPr lang="en-US" altLang="ja-JP" sz="1050" dirty="0">
                  <a:solidFill>
                    <a:srgbClr val="008000"/>
                  </a:solidFill>
                  <a:latin typeface="+mn-ea"/>
                </a:rPr>
                <a:t> </a:t>
              </a:r>
              <a:r>
                <a:rPr lang="ja-JP" altLang="en-US" sz="1050" dirty="0">
                  <a:solidFill>
                    <a:srgbClr val="008000"/>
                  </a:solidFill>
                  <a:latin typeface="+mn-ea"/>
                </a:rPr>
                <a:t>･ </a:t>
              </a:r>
              <a:r>
                <a:rPr lang="ja-JP" altLang="ja-JP" sz="1050" dirty="0">
                  <a:solidFill>
                    <a:srgbClr val="008000"/>
                  </a:solidFill>
                  <a:latin typeface="+mn-ea"/>
                </a:rPr>
                <a:t>API化」に</a:t>
              </a:r>
              <a:br>
                <a:rPr lang="en-US" altLang="ja-JP" sz="1050" dirty="0">
                  <a:solidFill>
                    <a:srgbClr val="008000"/>
                  </a:solidFill>
                  <a:latin typeface="+mn-ea"/>
                </a:rPr>
              </a:br>
              <a:r>
                <a:rPr lang="ja-JP" altLang="ja-JP" sz="1050" dirty="0">
                  <a:solidFill>
                    <a:srgbClr val="008000"/>
                  </a:solidFill>
                  <a:latin typeface="+mn-ea"/>
                </a:rPr>
                <a:t>未着手である</a:t>
              </a:r>
              <a:endParaRPr kumimoji="1" lang="ja-JP" altLang="en-US" sz="1050" dirty="0">
                <a:solidFill>
                  <a:srgbClr val="008000"/>
                </a:solidFill>
                <a:latin typeface="+mn-ea"/>
              </a:endParaRPr>
            </a:p>
          </p:txBody>
        </p:sp>
        <p:sp>
          <p:nvSpPr>
            <p:cNvPr id="102" name="正方形/長方形 101">
              <a:extLst>
                <a:ext uri="{FF2B5EF4-FFF2-40B4-BE49-F238E27FC236}">
                  <a16:creationId xmlns:a16="http://schemas.microsoft.com/office/drawing/2014/main" id="{84C91D0F-C6C1-FB90-5560-51CB419848D5}"/>
                </a:ext>
              </a:extLst>
            </p:cNvPr>
            <p:cNvSpPr/>
            <p:nvPr/>
          </p:nvSpPr>
          <p:spPr>
            <a:xfrm>
              <a:off x="4290148" y="3759939"/>
              <a:ext cx="2477935"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ja-JP" sz="1050" dirty="0">
                  <a:solidFill>
                    <a:srgbClr val="008000"/>
                  </a:solidFill>
                  <a:latin typeface="+mn-ea"/>
                </a:rPr>
                <a:t>自社データ劣後の焦りから自前D2C</a:t>
              </a:r>
              <a:r>
                <a:rPr lang="en-US" altLang="ja-JP" sz="1050" dirty="0">
                  <a:solidFill>
                    <a:srgbClr val="008000"/>
                  </a:solidFill>
                  <a:latin typeface="+mn-ea"/>
                </a:rPr>
                <a:t> (</a:t>
              </a:r>
              <a:r>
                <a:rPr lang="ja-JP" altLang="ja-JP" sz="1050" dirty="0">
                  <a:solidFill>
                    <a:srgbClr val="008000"/>
                  </a:solidFill>
                  <a:latin typeface="+mn-ea"/>
                </a:rPr>
                <a:t>My Kaoの模倣</a:t>
              </a:r>
              <a:r>
                <a:rPr lang="en-US" altLang="ja-JP" sz="1050" dirty="0">
                  <a:solidFill>
                    <a:srgbClr val="008000"/>
                  </a:solidFill>
                  <a:latin typeface="+mn-ea"/>
                </a:rPr>
                <a:t>) </a:t>
              </a:r>
              <a:r>
                <a:rPr lang="ja-JP" altLang="ja-JP" sz="1050" dirty="0">
                  <a:solidFill>
                    <a:srgbClr val="008000"/>
                  </a:solidFill>
                  <a:latin typeface="+mn-ea"/>
                </a:rPr>
                <a:t>を追いかけるか、小売に振り回されるかの二極化に陥り</a:t>
              </a:r>
              <a:r>
                <a:rPr lang="ja-JP" altLang="en-US" sz="1050" dirty="0">
                  <a:solidFill>
                    <a:srgbClr val="008000"/>
                  </a:solidFill>
                  <a:latin typeface="+mn-ea"/>
                </a:rPr>
                <a:t>、</a:t>
              </a:r>
              <a:r>
                <a:rPr lang="ja-JP" altLang="ja-JP" sz="1050" dirty="0">
                  <a:solidFill>
                    <a:srgbClr val="008000"/>
                  </a:solidFill>
                  <a:latin typeface="+mn-ea"/>
                </a:rPr>
                <a:t>小売インフラを高度に利用する寄生型へシフトできていない</a:t>
              </a:r>
              <a:endParaRPr kumimoji="1" lang="ja-JP" altLang="en-US" sz="1050" dirty="0">
                <a:solidFill>
                  <a:srgbClr val="008000"/>
                </a:solidFill>
                <a:latin typeface="+mn-ea"/>
              </a:endParaRPr>
            </a:p>
          </p:txBody>
        </p:sp>
        <p:sp>
          <p:nvSpPr>
            <p:cNvPr id="103" name="正方形/長方形 102">
              <a:extLst>
                <a:ext uri="{FF2B5EF4-FFF2-40B4-BE49-F238E27FC236}">
                  <a16:creationId xmlns:a16="http://schemas.microsoft.com/office/drawing/2014/main" id="{AF221220-E2F8-7CDA-1DCC-140869DD8117}"/>
                </a:ext>
              </a:extLst>
            </p:cNvPr>
            <p:cNvSpPr/>
            <p:nvPr/>
          </p:nvSpPr>
          <p:spPr>
            <a:xfrm>
              <a:off x="6834623" y="3759939"/>
              <a:ext cx="2477935"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050" dirty="0">
                  <a:solidFill>
                    <a:srgbClr val="008000"/>
                  </a:solidFill>
                  <a:latin typeface="+mn-ea"/>
                </a:rPr>
                <a:t>データ</a:t>
              </a:r>
              <a:r>
                <a:rPr lang="ja-JP" altLang="ja-JP" sz="1050" dirty="0">
                  <a:solidFill>
                    <a:srgbClr val="008000"/>
                  </a:solidFill>
                  <a:latin typeface="+mn-ea"/>
                </a:rPr>
                <a:t>検証に怯えるバイヤーが最も欲している「</a:t>
              </a:r>
              <a:r>
                <a:rPr lang="ja-JP" altLang="en-US" sz="1050" dirty="0">
                  <a:solidFill>
                    <a:srgbClr val="008000"/>
                  </a:solidFill>
                  <a:latin typeface="+mn-ea"/>
                </a:rPr>
                <a:t>安心材料</a:t>
              </a:r>
              <a:r>
                <a:rPr lang="en-US" altLang="ja-JP" sz="1050" dirty="0">
                  <a:solidFill>
                    <a:srgbClr val="008000"/>
                  </a:solidFill>
                  <a:latin typeface="+mn-ea"/>
                </a:rPr>
                <a:t>(</a:t>
              </a:r>
              <a:r>
                <a:rPr lang="ja-JP" altLang="ja-JP" sz="1050" dirty="0">
                  <a:solidFill>
                    <a:srgbClr val="008000"/>
                  </a:solidFill>
                  <a:latin typeface="+mn-ea"/>
                </a:rPr>
                <a:t>チェーン全体のカテゴリLTVや炭素効率の予測データ</a:t>
              </a:r>
              <a:r>
                <a:rPr lang="en-US" altLang="ja-JP" sz="1050" dirty="0">
                  <a:solidFill>
                    <a:srgbClr val="008000"/>
                  </a:solidFill>
                  <a:latin typeface="+mn-ea"/>
                </a:rPr>
                <a:t>) </a:t>
              </a:r>
              <a:r>
                <a:rPr lang="ja-JP" altLang="ja-JP" sz="1050" dirty="0">
                  <a:solidFill>
                    <a:srgbClr val="008000"/>
                  </a:solidFill>
                  <a:latin typeface="+mn-ea"/>
                </a:rPr>
                <a:t>」ではなく、従来型の「目先の値引き</a:t>
              </a:r>
              <a:r>
                <a:rPr lang="en-US" altLang="ja-JP" sz="1050" dirty="0">
                  <a:solidFill>
                    <a:srgbClr val="008000"/>
                  </a:solidFill>
                  <a:latin typeface="+mn-ea"/>
                </a:rPr>
                <a:t> </a:t>
              </a:r>
              <a:r>
                <a:rPr lang="ja-JP" altLang="en-US" sz="1050" dirty="0">
                  <a:solidFill>
                    <a:srgbClr val="008000"/>
                  </a:solidFill>
                  <a:latin typeface="+mn-ea"/>
                </a:rPr>
                <a:t>･ </a:t>
              </a:r>
              <a:r>
                <a:rPr lang="ja-JP" altLang="ja-JP" sz="1050" dirty="0">
                  <a:solidFill>
                    <a:srgbClr val="008000"/>
                  </a:solidFill>
                  <a:latin typeface="+mn-ea"/>
                </a:rPr>
                <a:t>特売条件」を提案し続けるという商談価値のミスマッチが起きている</a:t>
              </a:r>
              <a:endParaRPr kumimoji="1" lang="ja-JP" altLang="en-US" sz="1050" dirty="0">
                <a:solidFill>
                  <a:srgbClr val="008000"/>
                </a:solidFill>
                <a:latin typeface="+mn-ea"/>
              </a:endParaRPr>
            </a:p>
          </p:txBody>
        </p:sp>
        <p:sp>
          <p:nvSpPr>
            <p:cNvPr id="104" name="正方形/長方形 103">
              <a:extLst>
                <a:ext uri="{FF2B5EF4-FFF2-40B4-BE49-F238E27FC236}">
                  <a16:creationId xmlns:a16="http://schemas.microsoft.com/office/drawing/2014/main" id="{A4B58C97-2CC4-7068-C79E-0417BE0273A2}"/>
                </a:ext>
              </a:extLst>
            </p:cNvPr>
            <p:cNvSpPr/>
            <p:nvPr/>
          </p:nvSpPr>
          <p:spPr>
            <a:xfrm>
              <a:off x="9379103" y="3759939"/>
              <a:ext cx="2477935"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050" dirty="0">
                  <a:solidFill>
                    <a:srgbClr val="008000"/>
                  </a:solidFill>
                  <a:latin typeface="+mn-ea"/>
                </a:rPr>
                <a:t>人手不足と環境規制で店舗運営 </a:t>
              </a:r>
              <a:r>
                <a:rPr lang="en-US" altLang="ja-JP" sz="1050" dirty="0">
                  <a:solidFill>
                    <a:srgbClr val="008000"/>
                  </a:solidFill>
                  <a:latin typeface="+mn-ea"/>
                </a:rPr>
                <a:t>(</a:t>
              </a:r>
              <a:r>
                <a:rPr lang="ja-JP" altLang="en-US" sz="1050" dirty="0">
                  <a:solidFill>
                    <a:srgbClr val="008000"/>
                  </a:solidFill>
                  <a:latin typeface="+mn-ea"/>
                </a:rPr>
                <a:t>逆物流含む</a:t>
              </a:r>
              <a:r>
                <a:rPr lang="en-US" altLang="ja-JP" sz="1050" dirty="0">
                  <a:solidFill>
                    <a:srgbClr val="008000"/>
                  </a:solidFill>
                  <a:latin typeface="+mn-ea"/>
                </a:rPr>
                <a:t>) </a:t>
              </a:r>
              <a:r>
                <a:rPr lang="ja-JP" altLang="en-US" sz="1050" dirty="0">
                  <a:solidFill>
                    <a:srgbClr val="008000"/>
                  </a:solidFill>
                  <a:latin typeface="+mn-ea"/>
                </a:rPr>
                <a:t>が困難にある小売に対し、組織総力戦でのアプローチができず、営業個人のウェットな</a:t>
              </a:r>
              <a:br>
                <a:rPr lang="en-US" altLang="ja-JP" sz="1050" dirty="0">
                  <a:solidFill>
                    <a:srgbClr val="008000"/>
                  </a:solidFill>
                  <a:latin typeface="+mn-ea"/>
                </a:rPr>
              </a:br>
              <a:r>
                <a:rPr lang="ja-JP" altLang="en-US" sz="1050" dirty="0">
                  <a:solidFill>
                    <a:srgbClr val="008000"/>
                  </a:solidFill>
                  <a:latin typeface="+mn-ea"/>
                </a:rPr>
                <a:t>関係性 </a:t>
              </a:r>
              <a:r>
                <a:rPr lang="en-US" altLang="ja-JP" sz="1050" dirty="0">
                  <a:solidFill>
                    <a:srgbClr val="008000"/>
                  </a:solidFill>
                  <a:latin typeface="+mn-ea"/>
                </a:rPr>
                <a:t>(</a:t>
              </a:r>
              <a:r>
                <a:rPr lang="ja-JP" altLang="en-US" sz="1050" dirty="0">
                  <a:solidFill>
                    <a:srgbClr val="008000"/>
                  </a:solidFill>
                  <a:latin typeface="+mn-ea"/>
                </a:rPr>
                <a:t>属人化</a:t>
              </a:r>
              <a:r>
                <a:rPr lang="en-US" altLang="ja-JP" sz="1050" dirty="0">
                  <a:solidFill>
                    <a:srgbClr val="008000"/>
                  </a:solidFill>
                  <a:latin typeface="+mn-ea"/>
                </a:rPr>
                <a:t>)</a:t>
              </a:r>
              <a:r>
                <a:rPr lang="ja-JP" altLang="en-US" sz="1050" dirty="0">
                  <a:solidFill>
                    <a:srgbClr val="008000"/>
                  </a:solidFill>
                  <a:latin typeface="+mn-ea"/>
                </a:rPr>
                <a:t> で乗り切ろうとしている</a:t>
              </a:r>
              <a:r>
                <a:rPr lang="en-US" sz="1050" dirty="0">
                  <a:solidFill>
                    <a:srgbClr val="008000"/>
                  </a:solidFill>
                  <a:latin typeface="+mn-ea"/>
                </a:rPr>
                <a:t>​</a:t>
              </a:r>
              <a:endParaRPr kumimoji="1" lang="ja-JP" altLang="en-US" sz="1050" dirty="0">
                <a:solidFill>
                  <a:srgbClr val="008000"/>
                </a:solidFill>
                <a:latin typeface="+mn-ea"/>
              </a:endParaRPr>
            </a:p>
          </p:txBody>
        </p:sp>
        <p:grpSp>
          <p:nvGrpSpPr>
            <p:cNvPr id="11" name="グループ化 10">
              <a:extLst>
                <a:ext uri="{FF2B5EF4-FFF2-40B4-BE49-F238E27FC236}">
                  <a16:creationId xmlns:a16="http://schemas.microsoft.com/office/drawing/2014/main" id="{3A1C6CF2-C1FD-5F2B-24DE-0E4D22CF5ED3}"/>
                </a:ext>
              </a:extLst>
            </p:cNvPr>
            <p:cNvGrpSpPr/>
            <p:nvPr/>
          </p:nvGrpSpPr>
          <p:grpSpPr>
            <a:xfrm>
              <a:off x="3863606" y="4453221"/>
              <a:ext cx="7993432" cy="360000"/>
              <a:chOff x="3863606" y="4453221"/>
              <a:chExt cx="7993432" cy="360000"/>
            </a:xfrm>
          </p:grpSpPr>
          <p:pic>
            <p:nvPicPr>
              <p:cNvPr id="106" name="グラフィックス 105" descr="階層 単色塗りつぶし">
                <a:extLst>
                  <a:ext uri="{FF2B5EF4-FFF2-40B4-BE49-F238E27FC236}">
                    <a16:creationId xmlns:a16="http://schemas.microsoft.com/office/drawing/2014/main" id="{DC770076-9742-9356-220A-20D687C9B1D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863606" y="4453221"/>
                <a:ext cx="360000" cy="360000"/>
              </a:xfrm>
              <a:prstGeom prst="rect">
                <a:avLst/>
              </a:prstGeom>
            </p:spPr>
          </p:pic>
          <p:pic>
            <p:nvPicPr>
              <p:cNvPr id="108" name="グラフィックス 107" descr="上階 単色塗りつぶし">
                <a:extLst>
                  <a:ext uri="{FF2B5EF4-FFF2-40B4-BE49-F238E27FC236}">
                    <a16:creationId xmlns:a16="http://schemas.microsoft.com/office/drawing/2014/main" id="{3A47F035-D05C-7793-24B3-2C6C17EE934D}"/>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408083" y="4453221"/>
                <a:ext cx="360000" cy="360000"/>
              </a:xfrm>
              <a:prstGeom prst="rect">
                <a:avLst/>
              </a:prstGeom>
            </p:spPr>
          </p:pic>
          <p:pic>
            <p:nvPicPr>
              <p:cNvPr id="110" name="グラフィックス 109" descr="クリップボード: 混合 単色塗りつぶし">
                <a:extLst>
                  <a:ext uri="{FF2B5EF4-FFF2-40B4-BE49-F238E27FC236}">
                    <a16:creationId xmlns:a16="http://schemas.microsoft.com/office/drawing/2014/main" id="{0DF9941B-C198-D67E-3689-603500B1A1C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952559" y="4453221"/>
                <a:ext cx="360000" cy="360000"/>
              </a:xfrm>
              <a:prstGeom prst="rect">
                <a:avLst/>
              </a:prstGeom>
            </p:spPr>
          </p:pic>
          <p:pic>
            <p:nvPicPr>
              <p:cNvPr id="112" name="グラフィックス 111" descr="中世の甲冑 単色塗りつぶし">
                <a:extLst>
                  <a:ext uri="{FF2B5EF4-FFF2-40B4-BE49-F238E27FC236}">
                    <a16:creationId xmlns:a16="http://schemas.microsoft.com/office/drawing/2014/main" id="{21ADB8D6-D048-A987-0754-30F771B078A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1497038" y="4453221"/>
                <a:ext cx="360000" cy="360000"/>
              </a:xfrm>
              <a:prstGeom prst="rect">
                <a:avLst/>
              </a:prstGeom>
            </p:spPr>
          </p:pic>
        </p:grpSp>
      </p:grpSp>
      <p:sp>
        <p:nvSpPr>
          <p:cNvPr id="5" name="テキスト プレースホルダー 2">
            <a:extLst>
              <a:ext uri="{FF2B5EF4-FFF2-40B4-BE49-F238E27FC236}">
                <a16:creationId xmlns:a16="http://schemas.microsoft.com/office/drawing/2014/main" id="{193C79D5-A6CD-EC85-EF81-C921294225D3}"/>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latin typeface="+mn-ea"/>
                <a:ea typeface="+mn-ea"/>
              </a:rPr>
              <a:t>安売り消耗戦や属人営業といった現状から、強みを活かしたデータ連携や組織戦へ移行する上で、データ構造の遅れや</a:t>
            </a:r>
            <a:br>
              <a:rPr lang="en-US" altLang="ja-JP" sz="1800" dirty="0">
                <a:latin typeface="+mn-ea"/>
                <a:ea typeface="+mn-ea"/>
              </a:rPr>
            </a:br>
            <a:r>
              <a:rPr lang="ja-JP" altLang="en-US" sz="1800" dirty="0">
                <a:latin typeface="+mn-ea"/>
                <a:ea typeface="+mn-ea"/>
              </a:rPr>
              <a:t>商談価値のミスマッチが解消すべき致命的なギャップとなっている</a:t>
            </a:r>
          </a:p>
        </p:txBody>
      </p:sp>
    </p:spTree>
    <p:extLst>
      <p:ext uri="{BB962C8B-B14F-4D97-AF65-F5344CB8AC3E}">
        <p14:creationId xmlns:p14="http://schemas.microsoft.com/office/powerpoint/2010/main" val="2783826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7F607-E1E8-30C9-B06C-B593B072859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92161E-BDAE-1DE6-51A7-DD998B7CD0A4}"/>
              </a:ext>
            </a:extLst>
          </p:cNvPr>
          <p:cNvSpPr>
            <a:spLocks noGrp="1"/>
          </p:cNvSpPr>
          <p:nvPr>
            <p:ph type="title"/>
          </p:nvPr>
        </p:nvSpPr>
        <p:spPr>
          <a:xfrm>
            <a:off x="334963" y="1"/>
            <a:ext cx="11522075" cy="914400"/>
          </a:xfrm>
        </p:spPr>
        <p:txBody>
          <a:bodyPr/>
          <a:lstStyle/>
          <a:p>
            <a:r>
              <a:rPr kumimoji="1" lang="ja-JP" altLang="en-US" dirty="0">
                <a:latin typeface="+mn-ea"/>
                <a:ea typeface="+mn-ea"/>
              </a:rPr>
              <a:t>ギャップと真因</a:t>
            </a:r>
          </a:p>
        </p:txBody>
      </p:sp>
      <p:sp>
        <p:nvSpPr>
          <p:cNvPr id="5" name="テキスト プレースホルダー 2">
            <a:extLst>
              <a:ext uri="{FF2B5EF4-FFF2-40B4-BE49-F238E27FC236}">
                <a16:creationId xmlns:a16="http://schemas.microsoft.com/office/drawing/2014/main" id="{F4EC8940-39DE-271F-4D60-53EA9AACEA9E}"/>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1800" dirty="0">
                <a:latin typeface="+mn-ea"/>
                <a:ea typeface="+mn-ea"/>
              </a:rPr>
              <a:t>GAP</a:t>
            </a:r>
            <a:r>
              <a:rPr lang="ja-JP" altLang="en-US" sz="1800" dirty="0">
                <a:latin typeface="+mn-ea"/>
                <a:ea typeface="+mn-ea"/>
              </a:rPr>
              <a:t>の真因は、①資源の使い方 ②提案の材料 ③改善の仕組みがないことに収束する</a:t>
            </a:r>
            <a:endParaRPr lang="en-US" altLang="ja-JP" sz="1800" dirty="0">
              <a:latin typeface="+mn-ea"/>
              <a:ea typeface="+mn-ea"/>
            </a:endParaRPr>
          </a:p>
          <a:p>
            <a:r>
              <a:rPr lang="ja-JP" altLang="en-US" sz="1800" dirty="0">
                <a:latin typeface="+mn-ea"/>
                <a:ea typeface="+mn-ea"/>
              </a:rPr>
              <a:t>使い方が古いままなら増えた資源は消耗戦に流れ、提案材料がなければ値引きに戻り、仕組みがなければ成功が一度きりで終わる</a:t>
            </a:r>
            <a:r>
              <a:rPr lang="ja-JP" altLang="en-US" sz="1800" dirty="0">
                <a:latin typeface="+mn-ea"/>
              </a:rPr>
              <a:t>（どれか</a:t>
            </a:r>
            <a:r>
              <a:rPr lang="en-US" altLang="ja-JP" sz="1800" dirty="0">
                <a:latin typeface="+mn-ea"/>
              </a:rPr>
              <a:t>1</a:t>
            </a:r>
            <a:r>
              <a:rPr lang="ja-JP" altLang="en-US" sz="1800" dirty="0">
                <a:latin typeface="+mn-ea"/>
              </a:rPr>
              <a:t>つでも残せば再発する）</a:t>
            </a:r>
            <a:endParaRPr lang="ja-JP" altLang="en-US" sz="1800" dirty="0">
              <a:latin typeface="+mn-ea"/>
              <a:ea typeface="+mn-ea"/>
            </a:endParaRPr>
          </a:p>
        </p:txBody>
      </p:sp>
      <p:cxnSp>
        <p:nvCxnSpPr>
          <p:cNvPr id="30" name="直線コネクタ 29">
            <a:extLst>
              <a:ext uri="{FF2B5EF4-FFF2-40B4-BE49-F238E27FC236}">
                <a16:creationId xmlns:a16="http://schemas.microsoft.com/office/drawing/2014/main" id="{54E56C8A-642B-A5CD-A94E-95E8B9514EAA}"/>
              </a:ext>
            </a:extLst>
          </p:cNvPr>
          <p:cNvCxnSpPr/>
          <p:nvPr/>
        </p:nvCxnSpPr>
        <p:spPr>
          <a:xfrm>
            <a:off x="3235489" y="2579369"/>
            <a:ext cx="5719127"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2196A547-F63B-E75F-0B00-4DAF3582D79C}"/>
              </a:ext>
            </a:extLst>
          </p:cNvPr>
          <p:cNvSpPr/>
          <p:nvPr/>
        </p:nvSpPr>
        <p:spPr>
          <a:xfrm>
            <a:off x="5074783" y="2099733"/>
            <a:ext cx="3879833" cy="42383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600" b="1" dirty="0">
                <a:solidFill>
                  <a:srgbClr val="008D2E"/>
                </a:solidFill>
                <a:latin typeface="+mn-ea"/>
              </a:rPr>
              <a:t>GAPを生み出している構造的ボトルネック</a:t>
            </a:r>
          </a:p>
        </p:txBody>
      </p:sp>
      <p:sp>
        <p:nvSpPr>
          <p:cNvPr id="32" name="正方形/長方形 31">
            <a:extLst>
              <a:ext uri="{FF2B5EF4-FFF2-40B4-BE49-F238E27FC236}">
                <a16:creationId xmlns:a16="http://schemas.microsoft.com/office/drawing/2014/main" id="{6646D3F8-CB1A-D812-9CCA-5175E020F652}"/>
              </a:ext>
            </a:extLst>
          </p:cNvPr>
          <p:cNvSpPr/>
          <p:nvPr/>
        </p:nvSpPr>
        <p:spPr>
          <a:xfrm>
            <a:off x="3272569" y="2099733"/>
            <a:ext cx="1765135" cy="423832"/>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latin typeface="+mn-ea"/>
              </a:rPr>
              <a:t>原因</a:t>
            </a:r>
            <a:r>
              <a:rPr lang="en-US" altLang="ja-JP" sz="1400" b="1" dirty="0">
                <a:latin typeface="+mn-ea"/>
              </a:rPr>
              <a:t> (</a:t>
            </a:r>
            <a:r>
              <a:rPr lang="ja-JP" altLang="ja-JP" sz="1400" b="1" dirty="0">
                <a:latin typeface="+mn-ea"/>
              </a:rPr>
              <a:t>真因</a:t>
            </a:r>
            <a:r>
              <a:rPr lang="en-US" altLang="ja-JP" sz="1400" b="1" dirty="0">
                <a:latin typeface="+mn-ea"/>
              </a:rPr>
              <a:t>) </a:t>
            </a:r>
            <a:endParaRPr kumimoji="1" lang="ja-JP" altLang="en-US" sz="1400" dirty="0">
              <a:solidFill>
                <a:schemeClr val="tx1"/>
              </a:solidFill>
              <a:latin typeface="+mn-ea"/>
            </a:endParaRPr>
          </a:p>
        </p:txBody>
      </p:sp>
      <p:sp>
        <p:nvSpPr>
          <p:cNvPr id="22" name="正方形/長方形 21">
            <a:extLst>
              <a:ext uri="{FF2B5EF4-FFF2-40B4-BE49-F238E27FC236}">
                <a16:creationId xmlns:a16="http://schemas.microsoft.com/office/drawing/2014/main" id="{51D13621-E37A-8D3B-1402-DA4168EB67A3}"/>
              </a:ext>
            </a:extLst>
          </p:cNvPr>
          <p:cNvSpPr/>
          <p:nvPr/>
        </p:nvSpPr>
        <p:spPr>
          <a:xfrm>
            <a:off x="3235489" y="2681505"/>
            <a:ext cx="5719127" cy="1171872"/>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48000" tIns="36000" rIns="36000" bIns="36000" numCol="1" spcCol="0" rtlCol="0" fromWordArt="0" anchor="ctr" anchorCtr="0" forceAA="0" compatLnSpc="1">
            <a:prstTxWarp prst="textNoShape">
              <a:avLst/>
            </a:prstTxWarp>
            <a:noAutofit/>
          </a:bodyPr>
          <a:lstStyle/>
          <a:p>
            <a:pPr>
              <a:spcAft>
                <a:spcPts val="500"/>
              </a:spcAft>
            </a:pPr>
            <a:r>
              <a:rPr lang="ja-JP" altLang="en-US" sz="1300" b="1" dirty="0">
                <a:solidFill>
                  <a:srgbClr val="008D2E"/>
                </a:solidFill>
                <a:latin typeface="+mn-ea"/>
              </a:rPr>
              <a:t>真因</a:t>
            </a:r>
            <a:r>
              <a:rPr lang="en-US" altLang="ja-JP" sz="1300" b="1" dirty="0">
                <a:solidFill>
                  <a:srgbClr val="008D2E"/>
                </a:solidFill>
                <a:latin typeface="+mn-ea"/>
              </a:rPr>
              <a:t>1</a:t>
            </a:r>
            <a:r>
              <a:rPr lang="ja-JP" altLang="en-US" sz="1300" b="1" dirty="0">
                <a:solidFill>
                  <a:srgbClr val="008D2E"/>
                </a:solidFill>
                <a:latin typeface="+mn-ea"/>
              </a:rPr>
              <a:t>：増えた資源が「従来の使い方」のまま</a:t>
            </a:r>
          </a:p>
          <a:p>
            <a:pPr marL="90488" indent="-90488">
              <a:spcAft>
                <a:spcPts val="500"/>
              </a:spcAft>
              <a:buClr>
                <a:srgbClr val="008D2E"/>
              </a:buClr>
              <a:buFont typeface="Arial" panose="020B0604020202020204" pitchFamily="34" charset="0"/>
              <a:buChar char="•"/>
            </a:pPr>
            <a:r>
              <a:rPr lang="ja-JP" altLang="en-US" sz="1000" dirty="0">
                <a:solidFill>
                  <a:srgbClr val="262626"/>
                </a:solidFill>
              </a:rPr>
              <a:t>傾斜した宣伝・販促費の使い方が、マス認知</a:t>
            </a:r>
            <a:r>
              <a:rPr lang="en-US" altLang="ja-JP" sz="1000" dirty="0">
                <a:solidFill>
                  <a:srgbClr val="262626"/>
                </a:solidFill>
              </a:rPr>
              <a:t>×</a:t>
            </a:r>
            <a:r>
              <a:rPr lang="ja-JP" altLang="en-US" sz="1000" dirty="0">
                <a:solidFill>
                  <a:srgbClr val="262626"/>
                </a:solidFill>
              </a:rPr>
              <a:t>棚</a:t>
            </a:r>
            <a:r>
              <a:rPr lang="en-US" altLang="ja-JP" sz="1000" dirty="0">
                <a:solidFill>
                  <a:srgbClr val="262626"/>
                </a:solidFill>
              </a:rPr>
              <a:t>×</a:t>
            </a:r>
            <a:r>
              <a:rPr lang="ja-JP" altLang="en-US" sz="1000" dirty="0">
                <a:solidFill>
                  <a:srgbClr val="262626"/>
                </a:solidFill>
              </a:rPr>
              <a:t>特売・値引きの従来パターンのまま</a:t>
            </a:r>
            <a:endParaRPr lang="en-US" altLang="ja-JP" sz="1000" dirty="0">
              <a:solidFill>
                <a:srgbClr val="262626"/>
              </a:solidFill>
            </a:endParaRPr>
          </a:p>
          <a:p>
            <a:pPr marL="90488" indent="-90488">
              <a:spcAft>
                <a:spcPts val="500"/>
              </a:spcAft>
              <a:buClr>
                <a:srgbClr val="008D2E"/>
              </a:buClr>
              <a:buFont typeface="Arial" panose="020B0604020202020204" pitchFamily="34" charset="0"/>
              <a:buChar char="•"/>
            </a:pPr>
            <a:r>
              <a:rPr lang="en-US" altLang="ja-JP" sz="1000" dirty="0">
                <a:solidFill>
                  <a:srgbClr val="262626"/>
                </a:solidFill>
              </a:rPr>
              <a:t>AI・データ時代の勝ち方が会社標準のやり方として設計・言語化されていない（傾斜はしているが使い方は古いまま）</a:t>
            </a:r>
            <a:r>
              <a:rPr lang="ja-JP" altLang="en-US" sz="1000" dirty="0">
                <a:solidFill>
                  <a:srgbClr val="262626"/>
                </a:solidFill>
              </a:rPr>
              <a:t/>
            </a:r>
          </a:p>
        </p:txBody>
      </p:sp>
      <p:sp>
        <p:nvSpPr>
          <p:cNvPr id="43" name="正方形/長方形 42">
            <a:extLst>
              <a:ext uri="{FF2B5EF4-FFF2-40B4-BE49-F238E27FC236}">
                <a16:creationId xmlns:a16="http://schemas.microsoft.com/office/drawing/2014/main" id="{E6ADC0FE-9B17-A121-B49D-7DF74A93556E}"/>
              </a:ext>
            </a:extLst>
          </p:cNvPr>
          <p:cNvSpPr/>
          <p:nvPr/>
        </p:nvSpPr>
        <p:spPr>
          <a:xfrm>
            <a:off x="3235489" y="3909179"/>
            <a:ext cx="5719127" cy="1171872"/>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48000" tIns="36000" rIns="36000" bIns="36000" numCol="1" spcCol="0" rtlCol="0" fromWordArt="0" anchor="ctr" anchorCtr="0" forceAA="0" compatLnSpc="1">
            <a:prstTxWarp prst="textNoShape">
              <a:avLst/>
            </a:prstTxWarp>
            <a:noAutofit/>
          </a:bodyPr>
          <a:lstStyle/>
          <a:p>
            <a:pPr>
              <a:spcAft>
                <a:spcPts val="500"/>
              </a:spcAft>
            </a:pPr>
            <a:r>
              <a:rPr lang="ja-JP" altLang="en-US" sz="1300" b="1" dirty="0">
                <a:solidFill>
                  <a:srgbClr val="008D2E"/>
                </a:solidFill>
                <a:latin typeface="+mn-ea"/>
              </a:rPr>
              <a:t>真因</a:t>
            </a:r>
            <a:r>
              <a:rPr lang="en-US" altLang="ja-JP" sz="1300" b="1" dirty="0">
                <a:solidFill>
                  <a:srgbClr val="008D2E"/>
                </a:solidFill>
                <a:latin typeface="+mn-ea"/>
              </a:rPr>
              <a:t>2</a:t>
            </a:r>
            <a:r>
              <a:rPr lang="ja-JP" altLang="en-US" sz="1300" b="1" dirty="0">
                <a:solidFill>
                  <a:srgbClr val="008D2E"/>
                </a:solidFill>
                <a:latin typeface="+mn-ea"/>
              </a:rPr>
              <a:t>：値引きに代わる「提案の材料」がない</a:t>
            </a:r>
          </a:p>
          <a:p>
            <a:pPr marL="90488" indent="-90488">
              <a:spcAft>
                <a:spcPts val="500"/>
              </a:spcAft>
              <a:buClr>
                <a:srgbClr val="008D2E"/>
              </a:buClr>
              <a:buFont typeface="Arial" panose="020B0604020202020204" pitchFamily="34" charset="0"/>
              <a:buChar char="•"/>
            </a:pPr>
            <a:r>
              <a:rPr lang="ja-JP" altLang="en-US" sz="1000" dirty="0">
                <a:solidFill>
                  <a:schemeClr val="tx1"/>
                </a:solidFill>
                <a:latin typeface="+mn-ea"/>
              </a:rPr>
              <a:t>バイヤーが要求する「売れる根拠」（</a:t>
            </a:r>
            <a:r>
              <a:rPr lang="en-US" altLang="ja-JP" sz="1000" dirty="0">
                <a:solidFill>
                  <a:schemeClr val="tx1"/>
                </a:solidFill>
                <a:latin typeface="+mn-ea"/>
              </a:rPr>
              <a:t>LTV</a:t>
            </a:r>
            <a:r>
              <a:rPr lang="ja-JP" altLang="en-US" sz="1000" dirty="0">
                <a:solidFill>
                  <a:schemeClr val="tx1"/>
                </a:solidFill>
                <a:latin typeface="+mn-ea"/>
              </a:rPr>
              <a:t>予測・炭素効率）も、</a:t>
            </a:r>
            <a:r>
              <a:rPr lang="en-US" altLang="ja-JP" sz="1000" dirty="0">
                <a:solidFill>
                  <a:schemeClr val="tx1"/>
                </a:solidFill>
                <a:latin typeface="+mn-ea"/>
              </a:rPr>
              <a:t>AI</a:t>
            </a:r>
            <a:r>
              <a:rPr lang="ja-JP" altLang="en-US" sz="1000" dirty="0">
                <a:solidFill>
                  <a:schemeClr val="tx1"/>
                </a:solidFill>
                <a:latin typeface="+mn-ea"/>
              </a:rPr>
              <a:t>が要求する「読める情報」（属性データ・エビデンス）も、着手はあるが進捗が不十分で、商談・接点で使える形になっていない</a:t>
            </a:r>
            <a:endParaRPr lang="en-US" altLang="ja-JP" sz="1000" dirty="0">
              <a:solidFill>
                <a:schemeClr val="tx1"/>
              </a:solidFill>
              <a:latin typeface="+mn-ea"/>
            </a:endParaRPr>
          </a:p>
          <a:p>
            <a:pPr marL="90488" indent="-90488">
              <a:spcAft>
                <a:spcPts val="500"/>
              </a:spcAft>
              <a:buClr>
                <a:srgbClr val="008D2E"/>
              </a:buClr>
              <a:buFont typeface="Arial" panose="020B0604020202020204" pitchFamily="34" charset="0"/>
              <a:buChar char="•"/>
            </a:pPr>
            <a:r>
              <a:rPr lang="ja-JP" altLang="en-US" sz="1000" dirty="0">
                <a:solidFill>
                  <a:schemeClr val="tx1"/>
                </a:solidFill>
                <a:latin typeface="+mn-ea"/>
              </a:rPr>
              <a:t>他に出せる提案がなく、営業は値引きに頼らざるを得ない（</a:t>
            </a:r>
            <a:r>
              <a:rPr lang="en-US" altLang="ja-JP" sz="1000" dirty="0">
                <a:solidFill>
                  <a:schemeClr val="tx1"/>
                </a:solidFill>
                <a:latin typeface="+mn-ea"/>
              </a:rPr>
              <a:t>R&amp;D</a:t>
            </a:r>
            <a:r>
              <a:rPr lang="ja-JP" altLang="en-US" sz="1000" dirty="0">
                <a:solidFill>
                  <a:schemeClr val="tx1"/>
                </a:solidFill>
                <a:latin typeface="+mn-ea"/>
              </a:rPr>
              <a:t>・マーケの知見が営業の言葉に十分に活かし切れていない）</a:t>
            </a:r>
          </a:p>
        </p:txBody>
      </p:sp>
      <p:sp>
        <p:nvSpPr>
          <p:cNvPr id="44" name="正方形/長方形 43">
            <a:extLst>
              <a:ext uri="{FF2B5EF4-FFF2-40B4-BE49-F238E27FC236}">
                <a16:creationId xmlns:a16="http://schemas.microsoft.com/office/drawing/2014/main" id="{4E56282F-0A0A-E869-B013-0CEF1BF23E49}"/>
              </a:ext>
            </a:extLst>
          </p:cNvPr>
          <p:cNvSpPr/>
          <p:nvPr/>
        </p:nvSpPr>
        <p:spPr>
          <a:xfrm>
            <a:off x="3235489" y="5136853"/>
            <a:ext cx="5719127" cy="1171872"/>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48000" tIns="36000" rIns="36000" bIns="36000" numCol="1" spcCol="0" rtlCol="0" fromWordArt="0" anchor="ctr" anchorCtr="0" forceAA="0" compatLnSpc="1">
            <a:prstTxWarp prst="textNoShape">
              <a:avLst/>
            </a:prstTxWarp>
            <a:noAutofit/>
          </a:bodyPr>
          <a:lstStyle/>
          <a:p>
            <a:pPr>
              <a:spcAft>
                <a:spcPts val="500"/>
              </a:spcAft>
            </a:pPr>
            <a:r>
              <a:rPr lang="ja-JP" altLang="en-US" sz="1300" b="1" dirty="0">
                <a:solidFill>
                  <a:srgbClr val="008D2E"/>
                </a:solidFill>
                <a:latin typeface="+mn-ea"/>
              </a:rPr>
              <a:t>真因</a:t>
            </a:r>
            <a:r>
              <a:rPr lang="en-US" altLang="ja-JP" sz="1300" b="1" dirty="0">
                <a:solidFill>
                  <a:srgbClr val="008D2E"/>
                </a:solidFill>
                <a:latin typeface="+mn-ea"/>
              </a:rPr>
              <a:t>3 </a:t>
            </a:r>
            <a:r>
              <a:rPr lang="ja-JP" altLang="en-US" sz="1300" b="1" dirty="0">
                <a:solidFill>
                  <a:srgbClr val="008D2E"/>
                </a:solidFill>
                <a:latin typeface="+mn-ea"/>
              </a:rPr>
              <a:t>試す→検証→広げる「仕組み」がない</a:t>
            </a:r>
            <a:endParaRPr lang="en-US" altLang="ja-JP" sz="1300" b="1" dirty="0">
              <a:solidFill>
                <a:srgbClr val="008D2E"/>
              </a:solidFill>
              <a:latin typeface="+mn-ea"/>
            </a:endParaRPr>
          </a:p>
          <a:p>
            <a:pPr marL="90488" indent="-90488">
              <a:spcAft>
                <a:spcPts val="500"/>
              </a:spcAft>
              <a:buClr>
                <a:srgbClr val="008D2E"/>
              </a:buClr>
              <a:buFont typeface="Arial" panose="020B0604020202020204" pitchFamily="34" charset="0"/>
              <a:buChar char="•"/>
            </a:pPr>
            <a:r>
              <a:rPr lang="ja-JP" altLang="en-US" sz="1000" dirty="0">
                <a:solidFill>
                  <a:schemeClr val="tx1"/>
                </a:solidFill>
                <a:latin typeface="+mn-ea"/>
              </a:rPr>
              <a:t>提案材料を作る時間は事務作業に食われ、試した施策は検証されず、成功しても隣の売場・カテゴリに広がらない</a:t>
            </a:r>
            <a:endParaRPr lang="en-US" altLang="ja-JP" sz="1000" dirty="0">
              <a:solidFill>
                <a:schemeClr val="tx1"/>
              </a:solidFill>
              <a:latin typeface="+mn-ea"/>
            </a:endParaRPr>
          </a:p>
          <a:p>
            <a:pPr marL="90488" indent="-90488">
              <a:spcAft>
                <a:spcPts val="500"/>
              </a:spcAft>
              <a:buClr>
                <a:srgbClr val="008D2E"/>
              </a:buClr>
              <a:buFont typeface="Arial" panose="020B0604020202020204" pitchFamily="34" charset="0"/>
              <a:buChar char="•"/>
            </a:pPr>
            <a:r>
              <a:rPr lang="ja-JP" altLang="en-US" sz="1000" dirty="0">
                <a:solidFill>
                  <a:schemeClr val="tx1"/>
                </a:solidFill>
                <a:latin typeface="+mn-ea"/>
              </a:rPr>
              <a:t>営業</a:t>
            </a:r>
            <a:r>
              <a:rPr lang="en-US" altLang="ja-JP" sz="1000" dirty="0">
                <a:solidFill>
                  <a:schemeClr val="tx1"/>
                </a:solidFill>
                <a:latin typeface="+mn-ea"/>
              </a:rPr>
              <a:t>1</a:t>
            </a:r>
            <a:r>
              <a:rPr lang="ja-JP" altLang="en-US" sz="1000" dirty="0">
                <a:solidFill>
                  <a:schemeClr val="tx1"/>
                </a:solidFill>
                <a:latin typeface="+mn-ea"/>
              </a:rPr>
              <a:t>人がバイヤー</a:t>
            </a:r>
            <a:r>
              <a:rPr lang="en-US" altLang="ja-JP" sz="1000" dirty="0">
                <a:solidFill>
                  <a:schemeClr val="tx1"/>
                </a:solidFill>
                <a:latin typeface="+mn-ea"/>
              </a:rPr>
              <a:t>1</a:t>
            </a:r>
            <a:r>
              <a:rPr lang="ja-JP" altLang="en-US" sz="1000" dirty="0">
                <a:solidFill>
                  <a:schemeClr val="tx1"/>
                </a:solidFill>
                <a:latin typeface="+mn-ea"/>
              </a:rPr>
              <a:t>人に対する編成では、物流・環境・データを束ねた総力戦もできない </a:t>
            </a:r>
            <a:r>
              <a:rPr lang="en-US" altLang="ja-JP" sz="1000" dirty="0">
                <a:solidFill>
                  <a:schemeClr val="tx1"/>
                </a:solidFill>
                <a:latin typeface="+mn-ea"/>
              </a:rPr>
              <a:t>― </a:t>
            </a:r>
            <a:r>
              <a:rPr lang="ja-JP" altLang="en-US" sz="1000" dirty="0">
                <a:solidFill>
                  <a:schemeClr val="tx1"/>
                </a:solidFill>
                <a:latin typeface="+mn-ea"/>
              </a:rPr>
              <a:t>背景は部門別</a:t>
            </a:r>
            <a:r>
              <a:rPr lang="en-US" altLang="ja-JP" sz="1000" dirty="0">
                <a:solidFill>
                  <a:schemeClr val="tx1"/>
                </a:solidFill>
                <a:latin typeface="+mn-ea"/>
              </a:rPr>
              <a:t>KPI</a:t>
            </a:r>
            <a:r>
              <a:rPr lang="ja-JP" altLang="en-US" sz="1000" dirty="0">
                <a:solidFill>
                  <a:schemeClr val="tx1"/>
                </a:solidFill>
                <a:latin typeface="+mn-ea"/>
              </a:rPr>
              <a:t>とデータ基盤の分断：共通の検証インフラ（</a:t>
            </a:r>
            <a:r>
              <a:rPr lang="en-US" altLang="ja-JP" sz="1000" dirty="0">
                <a:solidFill>
                  <a:schemeClr val="tx1"/>
                </a:solidFill>
                <a:latin typeface="+mn-ea"/>
              </a:rPr>
              <a:t>GCP</a:t>
            </a:r>
            <a:r>
              <a:rPr lang="ja-JP" altLang="en-US" sz="1000" dirty="0">
                <a:solidFill>
                  <a:schemeClr val="tx1"/>
                </a:solidFill>
                <a:latin typeface="+mn-ea"/>
              </a:rPr>
              <a:t>統合）が無い</a:t>
            </a:r>
          </a:p>
        </p:txBody>
      </p:sp>
      <p:sp>
        <p:nvSpPr>
          <p:cNvPr id="10" name="正方形/長方形 9">
            <a:extLst>
              <a:ext uri="{FF2B5EF4-FFF2-40B4-BE49-F238E27FC236}">
                <a16:creationId xmlns:a16="http://schemas.microsoft.com/office/drawing/2014/main" id="{FF6B5DA5-BB40-B6D2-C0B5-5CB9C91FD3D6}"/>
              </a:ext>
            </a:extLst>
          </p:cNvPr>
          <p:cNvSpPr/>
          <p:nvPr/>
        </p:nvSpPr>
        <p:spPr>
          <a:xfrm>
            <a:off x="334963" y="2681504"/>
            <a:ext cx="2035704" cy="1703169"/>
          </a:xfrm>
          <a:prstGeom prst="rect">
            <a:avLst/>
          </a:prstGeom>
          <a:solidFill>
            <a:schemeClr val="bg1">
              <a:lumMod val="50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44000" rIns="36000" bIns="36000" numCol="1" spcCol="0" rtlCol="0" fromWordArt="0" anchor="ctr" anchorCtr="0" forceAA="0" compatLnSpc="1">
            <a:prstTxWarp prst="textNoShape">
              <a:avLst/>
            </a:prstTxWarp>
            <a:noAutofit/>
          </a:bodyPr>
          <a:lstStyle/>
          <a:p>
            <a:r>
              <a:rPr lang="ja-JP" altLang="ja-JP" sz="950" dirty="0">
                <a:solidFill>
                  <a:schemeClr val="tx1"/>
                </a:solidFill>
                <a:latin typeface="+mn-ea"/>
              </a:rPr>
              <a:t>洗剤領域での不毛な消耗戦から脱却</a:t>
            </a:r>
            <a:br>
              <a:rPr lang="en-US" altLang="ja-JP" sz="950" dirty="0">
                <a:solidFill>
                  <a:schemeClr val="tx1"/>
                </a:solidFill>
                <a:latin typeface="+mn-ea"/>
              </a:rPr>
            </a:br>
            <a:r>
              <a:rPr lang="ja-JP" altLang="ja-JP" sz="950" dirty="0">
                <a:solidFill>
                  <a:schemeClr val="tx1"/>
                </a:solidFill>
                <a:latin typeface="+mn-ea"/>
              </a:rPr>
              <a:t>できず、オーラルやキレイキレイ等の強み</a:t>
            </a:r>
            <a:br>
              <a:rPr lang="en-US" altLang="ja-JP" sz="950" dirty="0">
                <a:solidFill>
                  <a:schemeClr val="tx1"/>
                </a:solidFill>
                <a:latin typeface="+mn-ea"/>
              </a:rPr>
            </a:br>
            <a:r>
              <a:rPr lang="ja-JP" altLang="ja-JP" sz="950" dirty="0">
                <a:solidFill>
                  <a:schemeClr val="tx1"/>
                </a:solidFill>
                <a:latin typeface="+mn-ea"/>
              </a:rPr>
              <a:t>領域を未来のAI自動補充システムへ</a:t>
            </a:r>
            <a:br>
              <a:rPr lang="en-US" altLang="ja-JP" sz="950" dirty="0">
                <a:solidFill>
                  <a:schemeClr val="tx1"/>
                </a:solidFill>
                <a:latin typeface="+mn-ea"/>
              </a:rPr>
            </a:br>
            <a:r>
              <a:rPr lang="ja-JP" altLang="ja-JP" sz="950" dirty="0">
                <a:solidFill>
                  <a:schemeClr val="tx1"/>
                </a:solidFill>
                <a:latin typeface="+mn-ea"/>
              </a:rPr>
              <a:t>潜り込ませるための「製品属性データの</a:t>
            </a:r>
            <a:br>
              <a:rPr lang="en-US" altLang="ja-JP" sz="950" dirty="0">
                <a:solidFill>
                  <a:schemeClr val="tx1"/>
                </a:solidFill>
                <a:latin typeface="+mn-ea"/>
              </a:rPr>
            </a:br>
            <a:r>
              <a:rPr lang="ja-JP" altLang="ja-JP" sz="950" dirty="0">
                <a:solidFill>
                  <a:schemeClr val="tx1"/>
                </a:solidFill>
                <a:latin typeface="+mn-ea"/>
              </a:rPr>
              <a:t>構造化</a:t>
            </a:r>
            <a:r>
              <a:rPr lang="en-US" altLang="ja-JP" sz="950" dirty="0">
                <a:solidFill>
                  <a:schemeClr val="tx1"/>
                </a:solidFill>
                <a:latin typeface="+mn-ea"/>
              </a:rPr>
              <a:t> </a:t>
            </a:r>
            <a:r>
              <a:rPr lang="ja-JP" altLang="en-US" sz="950" dirty="0">
                <a:solidFill>
                  <a:schemeClr val="tx1"/>
                </a:solidFill>
                <a:latin typeface="+mn-ea"/>
              </a:rPr>
              <a:t>･ </a:t>
            </a:r>
            <a:r>
              <a:rPr lang="ja-JP" altLang="ja-JP" sz="950" dirty="0">
                <a:solidFill>
                  <a:schemeClr val="tx1"/>
                </a:solidFill>
                <a:latin typeface="+mn-ea"/>
              </a:rPr>
              <a:t>API化」に未着手である</a:t>
            </a:r>
            <a:endParaRPr kumimoji="1" lang="ja-JP" altLang="en-US" sz="950" dirty="0">
              <a:solidFill>
                <a:schemeClr val="tx1"/>
              </a:solidFill>
              <a:latin typeface="+mn-ea"/>
            </a:endParaRPr>
          </a:p>
        </p:txBody>
      </p:sp>
      <p:sp>
        <p:nvSpPr>
          <p:cNvPr id="15" name="四角形: 角を丸くする 14">
            <a:extLst>
              <a:ext uri="{FF2B5EF4-FFF2-40B4-BE49-F238E27FC236}">
                <a16:creationId xmlns:a16="http://schemas.microsoft.com/office/drawing/2014/main" id="{ACE527CA-409C-630C-8672-041428968DCD}"/>
              </a:ext>
            </a:extLst>
          </p:cNvPr>
          <p:cNvSpPr/>
          <p:nvPr/>
        </p:nvSpPr>
        <p:spPr>
          <a:xfrm>
            <a:off x="435606" y="2533435"/>
            <a:ext cx="1957589" cy="316127"/>
          </a:xfrm>
          <a:prstGeom prst="roundRect">
            <a:avLst>
              <a:gd name="adj" fmla="val 50000"/>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chemeClr val="bg1"/>
                </a:solidFill>
                <a:latin typeface="+mn-ea"/>
              </a:rPr>
              <a:t>GAP</a:t>
            </a:r>
            <a:r>
              <a:rPr lang="en-US" altLang="ja-JP" sz="1400" b="1" dirty="0">
                <a:solidFill>
                  <a:schemeClr val="bg1"/>
                </a:solidFill>
                <a:latin typeface="+mn-ea"/>
              </a:rPr>
              <a:t>1</a:t>
            </a:r>
            <a:r>
              <a:rPr lang="ja-JP" altLang="en-US" sz="1400" b="1" dirty="0">
                <a:solidFill>
                  <a:srgbClr val="FFFFFF"/>
                </a:solidFill>
              </a:rPr>
              <a:t>（</a:t>
            </a:r>
            <a:r>
              <a:rPr lang="en-US" altLang="ja-JP" sz="1400" b="1" dirty="0">
                <a:solidFill>
                  <a:srgbClr val="FFFFFF"/>
                </a:solidFill>
              </a:rPr>
              <a:t>T1 </a:t>
            </a:r>
            <a:r>
              <a:rPr lang="ja-JP" altLang="en-US" sz="1400" b="1" dirty="0">
                <a:solidFill>
                  <a:srgbClr val="FFFFFF"/>
                </a:solidFill>
              </a:rPr>
              <a:t>土俵）</a:t>
            </a:r>
            <a:endParaRPr kumimoji="1" lang="ja-JP" altLang="en-US" sz="1400" dirty="0">
              <a:solidFill>
                <a:schemeClr val="bg1"/>
              </a:solidFill>
              <a:latin typeface="+mn-ea"/>
            </a:endParaRPr>
          </a:p>
        </p:txBody>
      </p:sp>
      <p:pic>
        <p:nvPicPr>
          <p:cNvPr id="102" name="グラフィックス 101" descr="階層 単色塗りつぶし">
            <a:extLst>
              <a:ext uri="{FF2B5EF4-FFF2-40B4-BE49-F238E27FC236}">
                <a16:creationId xmlns:a16="http://schemas.microsoft.com/office/drawing/2014/main" id="{1C3061FE-C03C-A988-71E1-C9FC92A317E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010667" y="4024673"/>
            <a:ext cx="360000" cy="360000"/>
          </a:xfrm>
          <a:prstGeom prst="rect">
            <a:avLst/>
          </a:prstGeom>
        </p:spPr>
      </p:pic>
      <p:pic>
        <p:nvPicPr>
          <p:cNvPr id="104" name="グラフィックス 103" descr="上階 単色塗りつぶし">
            <a:extLst>
              <a:ext uri="{FF2B5EF4-FFF2-40B4-BE49-F238E27FC236}">
                <a16:creationId xmlns:a16="http://schemas.microsoft.com/office/drawing/2014/main" id="{02941425-0D92-878F-6708-ED264C9241E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497038" y="4024673"/>
            <a:ext cx="360000" cy="360000"/>
          </a:xfrm>
          <a:prstGeom prst="rect">
            <a:avLst/>
          </a:prstGeom>
        </p:spPr>
      </p:pic>
      <p:sp>
        <p:nvSpPr>
          <p:cNvPr id="14" name="正方形/長方形 13">
            <a:extLst>
              <a:ext uri="{FF2B5EF4-FFF2-40B4-BE49-F238E27FC236}">
                <a16:creationId xmlns:a16="http://schemas.microsoft.com/office/drawing/2014/main" id="{CB2EAD6E-72D5-0D5A-0AA6-15B7F5767709}"/>
              </a:ext>
            </a:extLst>
          </p:cNvPr>
          <p:cNvSpPr/>
          <p:nvPr/>
        </p:nvSpPr>
        <p:spPr>
          <a:xfrm>
            <a:off x="334963" y="4605556"/>
            <a:ext cx="2035704" cy="1703169"/>
          </a:xfrm>
          <a:prstGeom prst="rect">
            <a:avLst/>
          </a:prstGeom>
          <a:solidFill>
            <a:schemeClr val="bg1">
              <a:lumMod val="50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144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n-ea"/>
              </a:rPr>
              <a:t>データ</a:t>
            </a:r>
            <a:r>
              <a:rPr lang="ja-JP" altLang="ja-JP" sz="1000" dirty="0">
                <a:solidFill>
                  <a:schemeClr val="tx1"/>
                </a:solidFill>
                <a:latin typeface="+mn-ea"/>
              </a:rPr>
              <a:t>検証に怯えるバイヤーが最も欲している「</a:t>
            </a:r>
            <a:r>
              <a:rPr lang="ja-JP" altLang="en-US" sz="1000" dirty="0">
                <a:solidFill>
                  <a:schemeClr val="tx1"/>
                </a:solidFill>
                <a:latin typeface="+mn-ea"/>
              </a:rPr>
              <a:t>安心材料</a:t>
            </a:r>
            <a:r>
              <a:rPr lang="en-US" altLang="ja-JP" sz="1000" dirty="0">
                <a:solidFill>
                  <a:schemeClr val="tx1"/>
                </a:solidFill>
                <a:latin typeface="+mn-ea"/>
              </a:rPr>
              <a:t>(</a:t>
            </a:r>
            <a:r>
              <a:rPr lang="ja-JP" altLang="ja-JP" sz="1000" dirty="0">
                <a:solidFill>
                  <a:schemeClr val="tx1"/>
                </a:solidFill>
                <a:latin typeface="+mn-ea"/>
              </a:rPr>
              <a:t>チェーン全体のカテゴリLTVや炭素効率の予測データ</a:t>
            </a:r>
            <a:r>
              <a:rPr lang="en-US" altLang="ja-JP" sz="1000" dirty="0">
                <a:solidFill>
                  <a:schemeClr val="tx1"/>
                </a:solidFill>
                <a:latin typeface="+mn-ea"/>
              </a:rPr>
              <a:t>) </a:t>
            </a:r>
            <a:r>
              <a:rPr lang="ja-JP" altLang="ja-JP" sz="1000" dirty="0">
                <a:solidFill>
                  <a:schemeClr val="tx1"/>
                </a:solidFill>
                <a:latin typeface="+mn-ea"/>
              </a:rPr>
              <a:t>」ではなく、従来型の「目先の値引き</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特売条件」を提案し続けるという商談価値のミスマッチが起きている</a:t>
            </a:r>
            <a:endParaRPr lang="ja-JP" altLang="en-US" sz="1000" dirty="0">
              <a:solidFill>
                <a:schemeClr val="tx1"/>
              </a:solidFill>
              <a:latin typeface="+mn-ea"/>
            </a:endParaRPr>
          </a:p>
        </p:txBody>
      </p:sp>
      <p:sp>
        <p:nvSpPr>
          <p:cNvPr id="21" name="四角形: 角を丸くする 20">
            <a:extLst>
              <a:ext uri="{FF2B5EF4-FFF2-40B4-BE49-F238E27FC236}">
                <a16:creationId xmlns:a16="http://schemas.microsoft.com/office/drawing/2014/main" id="{F8F93723-17BB-4FD1-C916-521F39D875EA}"/>
              </a:ext>
            </a:extLst>
          </p:cNvPr>
          <p:cNvSpPr/>
          <p:nvPr/>
        </p:nvSpPr>
        <p:spPr>
          <a:xfrm>
            <a:off x="435606" y="4490163"/>
            <a:ext cx="1957589" cy="316127"/>
          </a:xfrm>
          <a:prstGeom prst="roundRect">
            <a:avLst>
              <a:gd name="adj" fmla="val 50000"/>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chemeClr val="bg1"/>
                </a:solidFill>
                <a:latin typeface="+mn-ea"/>
              </a:rPr>
              <a:t>GAP</a:t>
            </a:r>
            <a:r>
              <a:rPr lang="en-US" altLang="ja-JP" sz="1400" b="1" dirty="0">
                <a:solidFill>
                  <a:schemeClr val="bg1"/>
                </a:solidFill>
                <a:latin typeface="+mn-ea"/>
              </a:rPr>
              <a:t>3</a:t>
            </a:r>
            <a:r>
              <a:rPr lang="ja-JP" altLang="en-US" sz="1400" b="1" dirty="0">
                <a:solidFill>
                  <a:srgbClr val="FFFFFF"/>
                </a:solidFill>
              </a:rPr>
              <a:t>（</a:t>
            </a:r>
            <a:r>
              <a:rPr lang="en-US" altLang="ja-JP" sz="1400" b="1" dirty="0">
                <a:solidFill>
                  <a:srgbClr val="FFFFFF"/>
                </a:solidFill>
              </a:rPr>
              <a:t>T3 </a:t>
            </a:r>
            <a:r>
              <a:rPr lang="ja-JP" altLang="en-US" sz="1400" b="1" dirty="0">
                <a:solidFill>
                  <a:srgbClr val="FFFFFF"/>
                </a:solidFill>
              </a:rPr>
              <a:t>商談）</a:t>
            </a:r>
          </a:p>
        </p:txBody>
      </p:sp>
      <p:pic>
        <p:nvPicPr>
          <p:cNvPr id="106" name="グラフィックス 105" descr="クリップボード: 混合 単色塗りつぶし">
            <a:extLst>
              <a:ext uri="{FF2B5EF4-FFF2-40B4-BE49-F238E27FC236}">
                <a16:creationId xmlns:a16="http://schemas.microsoft.com/office/drawing/2014/main" id="{874DE686-3313-2D62-5331-C34B20E76D7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10667" y="5948725"/>
            <a:ext cx="360000" cy="360000"/>
          </a:xfrm>
          <a:prstGeom prst="rect">
            <a:avLst/>
          </a:prstGeom>
        </p:spPr>
      </p:pic>
      <p:sp>
        <p:nvSpPr>
          <p:cNvPr id="24" name="正方形/長方形 23">
            <a:extLst>
              <a:ext uri="{FF2B5EF4-FFF2-40B4-BE49-F238E27FC236}">
                <a16:creationId xmlns:a16="http://schemas.microsoft.com/office/drawing/2014/main" id="{74D2818D-FBDB-47FA-D2CC-4DFCA598CD77}"/>
              </a:ext>
            </a:extLst>
          </p:cNvPr>
          <p:cNvSpPr/>
          <p:nvPr/>
        </p:nvSpPr>
        <p:spPr>
          <a:xfrm>
            <a:off x="9819438" y="2681504"/>
            <a:ext cx="2037600" cy="1703169"/>
          </a:xfrm>
          <a:prstGeom prst="rect">
            <a:avLst/>
          </a:prstGeom>
          <a:solidFill>
            <a:schemeClr val="bg1">
              <a:lumMod val="50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ja-JP" sz="1000" dirty="0">
                <a:solidFill>
                  <a:schemeClr val="tx1"/>
                </a:solidFill>
                <a:latin typeface="+mn-ea"/>
              </a:rPr>
              <a:t>自社データ劣後の焦りから自前D2C</a:t>
            </a:r>
            <a:r>
              <a:rPr lang="en-US" altLang="ja-JP" sz="1000" dirty="0">
                <a:solidFill>
                  <a:schemeClr val="tx1"/>
                </a:solidFill>
                <a:latin typeface="+mn-ea"/>
              </a:rPr>
              <a:t> (</a:t>
            </a:r>
            <a:r>
              <a:rPr lang="ja-JP" altLang="ja-JP" sz="1000" dirty="0">
                <a:solidFill>
                  <a:schemeClr val="tx1"/>
                </a:solidFill>
                <a:latin typeface="+mn-ea"/>
              </a:rPr>
              <a:t>My Kaoの模倣</a:t>
            </a:r>
            <a:r>
              <a:rPr lang="en-US" altLang="ja-JP" sz="1000" dirty="0">
                <a:solidFill>
                  <a:schemeClr val="tx1"/>
                </a:solidFill>
                <a:latin typeface="+mn-ea"/>
              </a:rPr>
              <a:t>) </a:t>
            </a:r>
            <a:r>
              <a:rPr lang="ja-JP" altLang="ja-JP" sz="1000" dirty="0">
                <a:solidFill>
                  <a:schemeClr val="tx1"/>
                </a:solidFill>
                <a:latin typeface="+mn-ea"/>
              </a:rPr>
              <a:t>を追いかけるか、小売に振り回されるかの二極化に陥り</a:t>
            </a:r>
            <a:r>
              <a:rPr lang="ja-JP" altLang="en-US" sz="1000" dirty="0">
                <a:solidFill>
                  <a:schemeClr val="tx1"/>
                </a:solidFill>
                <a:latin typeface="+mn-ea"/>
              </a:rPr>
              <a:t>、</a:t>
            </a:r>
            <a:r>
              <a:rPr lang="ja-JP" altLang="ja-JP" sz="1000" dirty="0">
                <a:solidFill>
                  <a:schemeClr val="tx1"/>
                </a:solidFill>
                <a:latin typeface="+mn-ea"/>
              </a:rPr>
              <a:t>小売インフラを高度に利用する寄生型へシフトできていない</a:t>
            </a:r>
            <a:endParaRPr lang="ja-JP" altLang="en-US" sz="1000" dirty="0">
              <a:solidFill>
                <a:schemeClr val="tx1"/>
              </a:solidFill>
              <a:latin typeface="+mn-ea"/>
            </a:endParaRPr>
          </a:p>
        </p:txBody>
      </p:sp>
      <p:sp>
        <p:nvSpPr>
          <p:cNvPr id="26" name="四角形: 角を丸くする 25">
            <a:extLst>
              <a:ext uri="{FF2B5EF4-FFF2-40B4-BE49-F238E27FC236}">
                <a16:creationId xmlns:a16="http://schemas.microsoft.com/office/drawing/2014/main" id="{2BC3DE40-967B-2D41-84E7-E8480A908765}"/>
              </a:ext>
            </a:extLst>
          </p:cNvPr>
          <p:cNvSpPr/>
          <p:nvPr/>
        </p:nvSpPr>
        <p:spPr>
          <a:xfrm>
            <a:off x="9899447" y="2533435"/>
            <a:ext cx="1957589" cy="316127"/>
          </a:xfrm>
          <a:prstGeom prst="roundRect">
            <a:avLst>
              <a:gd name="adj" fmla="val 50000"/>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chemeClr val="bg1"/>
                </a:solidFill>
                <a:latin typeface="+mn-ea"/>
              </a:rPr>
              <a:t>GAP</a:t>
            </a:r>
            <a:r>
              <a:rPr lang="en-US" altLang="ja-JP" sz="1400" b="1" dirty="0">
                <a:solidFill>
                  <a:schemeClr val="bg1"/>
                </a:solidFill>
                <a:latin typeface="+mn-ea"/>
              </a:rPr>
              <a:t>2</a:t>
            </a:r>
            <a:r>
              <a:rPr lang="ja-JP" altLang="en-US" sz="1400" b="1" dirty="0">
                <a:solidFill>
                  <a:srgbClr val="FFFFFF"/>
                </a:solidFill>
              </a:rPr>
              <a:t>（</a:t>
            </a:r>
            <a:r>
              <a:rPr lang="en-US" altLang="ja-JP" sz="1400" b="1" dirty="0">
                <a:solidFill>
                  <a:srgbClr val="FFFFFF"/>
                </a:solidFill>
              </a:rPr>
              <a:t>T2 </a:t>
            </a:r>
            <a:r>
              <a:rPr lang="ja-JP" altLang="en-US" sz="1400" b="1" dirty="0">
                <a:solidFill>
                  <a:srgbClr val="FFFFFF"/>
                </a:solidFill>
              </a:rPr>
              <a:t>データ）</a:t>
            </a:r>
            <a:endParaRPr kumimoji="1" lang="ja-JP" altLang="en-US" sz="1400" dirty="0">
              <a:solidFill>
                <a:schemeClr val="bg1"/>
              </a:solidFill>
              <a:latin typeface="+mn-ea"/>
            </a:endParaRPr>
          </a:p>
        </p:txBody>
      </p:sp>
      <p:sp>
        <p:nvSpPr>
          <p:cNvPr id="25" name="正方形/長方形 24">
            <a:extLst>
              <a:ext uri="{FF2B5EF4-FFF2-40B4-BE49-F238E27FC236}">
                <a16:creationId xmlns:a16="http://schemas.microsoft.com/office/drawing/2014/main" id="{9A1E42BB-F4D4-699C-1CF3-45CA1CB0CE99}"/>
              </a:ext>
            </a:extLst>
          </p:cNvPr>
          <p:cNvSpPr/>
          <p:nvPr/>
        </p:nvSpPr>
        <p:spPr>
          <a:xfrm>
            <a:off x="9819438" y="4605556"/>
            <a:ext cx="2037600" cy="1703169"/>
          </a:xfrm>
          <a:prstGeom prst="rect">
            <a:avLst/>
          </a:prstGeom>
          <a:solidFill>
            <a:schemeClr val="bg1">
              <a:lumMod val="50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n-ea"/>
              </a:rPr>
              <a:t>人手不足と環境規制で店舗運営 </a:t>
            </a:r>
            <a:r>
              <a:rPr lang="en-US" altLang="ja-JP" sz="1000" dirty="0">
                <a:solidFill>
                  <a:schemeClr val="tx1"/>
                </a:solidFill>
                <a:latin typeface="+mn-ea"/>
              </a:rPr>
              <a:t>(</a:t>
            </a:r>
            <a:r>
              <a:rPr lang="ja-JP" altLang="en-US" sz="1000" dirty="0">
                <a:solidFill>
                  <a:schemeClr val="tx1"/>
                </a:solidFill>
                <a:latin typeface="+mn-ea"/>
              </a:rPr>
              <a:t>逆物流含む</a:t>
            </a:r>
            <a:r>
              <a:rPr lang="en-US" altLang="ja-JP" sz="1000" dirty="0">
                <a:solidFill>
                  <a:schemeClr val="tx1"/>
                </a:solidFill>
                <a:latin typeface="+mn-ea"/>
              </a:rPr>
              <a:t>) </a:t>
            </a:r>
            <a:r>
              <a:rPr lang="ja-JP" altLang="en-US" sz="1000" dirty="0">
                <a:solidFill>
                  <a:schemeClr val="tx1"/>
                </a:solidFill>
                <a:latin typeface="+mn-ea"/>
              </a:rPr>
              <a:t>が困難にある小売に対し、組織総力戦でのアプローチができず、営業個人のウェットな関係性 </a:t>
            </a:r>
            <a:r>
              <a:rPr lang="en-US" altLang="ja-JP" sz="1000" dirty="0">
                <a:solidFill>
                  <a:schemeClr val="tx1"/>
                </a:solidFill>
                <a:latin typeface="+mn-ea"/>
              </a:rPr>
              <a:t>(</a:t>
            </a:r>
            <a:r>
              <a:rPr lang="ja-JP" altLang="en-US" sz="1000" dirty="0">
                <a:solidFill>
                  <a:schemeClr val="tx1"/>
                </a:solidFill>
                <a:latin typeface="+mn-ea"/>
              </a:rPr>
              <a:t>属人化</a:t>
            </a:r>
            <a:r>
              <a:rPr lang="en-US" altLang="ja-JP" sz="1000" dirty="0">
                <a:solidFill>
                  <a:schemeClr val="tx1"/>
                </a:solidFill>
                <a:latin typeface="+mn-ea"/>
              </a:rPr>
              <a:t>)</a:t>
            </a:r>
            <a:r>
              <a:rPr lang="ja-JP" altLang="en-US" sz="1000" dirty="0">
                <a:solidFill>
                  <a:schemeClr val="tx1"/>
                </a:solidFill>
                <a:latin typeface="+mn-ea"/>
              </a:rPr>
              <a:t> で乗り切ろうとしている</a:t>
            </a:r>
            <a:r>
              <a:rPr lang="en-US" altLang="ja-JP" sz="1000" dirty="0">
                <a:solidFill>
                  <a:schemeClr val="tx1"/>
                </a:solidFill>
                <a:latin typeface="+mn-ea"/>
              </a:rPr>
              <a:t>​</a:t>
            </a:r>
            <a:endParaRPr lang="ja-JP" altLang="en-US" sz="1000" dirty="0">
              <a:solidFill>
                <a:schemeClr val="tx1"/>
              </a:solidFill>
              <a:latin typeface="+mn-ea"/>
            </a:endParaRPr>
          </a:p>
        </p:txBody>
      </p:sp>
      <p:sp>
        <p:nvSpPr>
          <p:cNvPr id="27" name="四角形: 角を丸くする 26">
            <a:extLst>
              <a:ext uri="{FF2B5EF4-FFF2-40B4-BE49-F238E27FC236}">
                <a16:creationId xmlns:a16="http://schemas.microsoft.com/office/drawing/2014/main" id="{337BF068-1735-7E63-1491-EF470B4A27B6}"/>
              </a:ext>
            </a:extLst>
          </p:cNvPr>
          <p:cNvSpPr/>
          <p:nvPr/>
        </p:nvSpPr>
        <p:spPr>
          <a:xfrm>
            <a:off x="9899447" y="4490163"/>
            <a:ext cx="1957589" cy="316127"/>
          </a:xfrm>
          <a:prstGeom prst="roundRect">
            <a:avLst>
              <a:gd name="adj" fmla="val 50000"/>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chemeClr val="bg1"/>
                </a:solidFill>
                <a:latin typeface="+mn-ea"/>
              </a:rPr>
              <a:t>GAP</a:t>
            </a:r>
            <a:r>
              <a:rPr lang="en-US" altLang="ja-JP" sz="1400" b="1" dirty="0">
                <a:solidFill>
                  <a:schemeClr val="bg1"/>
                </a:solidFill>
                <a:latin typeface="+mn-ea"/>
              </a:rPr>
              <a:t>4</a:t>
            </a:r>
            <a:r>
              <a:rPr lang="ja-JP" altLang="en-US" sz="1400" b="1" dirty="0">
                <a:solidFill>
                  <a:srgbClr val="FFFFFF"/>
                </a:solidFill>
              </a:rPr>
              <a:t>（</a:t>
            </a:r>
            <a:r>
              <a:rPr lang="en-US" altLang="ja-JP" sz="1400" b="1" dirty="0">
                <a:solidFill>
                  <a:srgbClr val="FFFFFF"/>
                </a:solidFill>
              </a:rPr>
              <a:t>T4 </a:t>
            </a:r>
            <a:r>
              <a:rPr lang="ja-JP" altLang="en-US" sz="1400" b="1" dirty="0">
                <a:solidFill>
                  <a:srgbClr val="FFFFFF"/>
                </a:solidFill>
              </a:rPr>
              <a:t>組織）</a:t>
            </a:r>
          </a:p>
        </p:txBody>
      </p:sp>
      <p:pic>
        <p:nvPicPr>
          <p:cNvPr id="108" name="グラフィックス 107" descr="中世の甲冑 単色塗りつぶし">
            <a:extLst>
              <a:ext uri="{FF2B5EF4-FFF2-40B4-BE49-F238E27FC236}">
                <a16:creationId xmlns:a16="http://schemas.microsoft.com/office/drawing/2014/main" id="{8F7161FF-D0B9-AC29-CF66-4F240430C15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97038" y="5948725"/>
            <a:ext cx="360000" cy="360000"/>
          </a:xfrm>
          <a:prstGeom prst="rect">
            <a:avLst/>
          </a:prstGeom>
        </p:spPr>
      </p:pic>
      <p:sp>
        <p:nvSpPr>
          <p:cNvPr id="16" name="background">
            <a:extLst>
              <a:ext uri="{FF2B5EF4-FFF2-40B4-BE49-F238E27FC236}">
                <a16:creationId xmlns:a16="http://schemas.microsoft.com/office/drawing/2014/main" id="{0CCE175C-C338-B319-0446-59D242859DC8}"/>
              </a:ext>
            </a:extLst>
          </p:cNvPr>
          <p:cNvSpPr>
            <a:spLocks noChangeAspect="1"/>
          </p:cNvSpPr>
          <p:nvPr>
            <p:custDataLst>
              <p:tags r:id="rId1"/>
            </p:custDataLst>
          </p:nvPr>
        </p:nvSpPr>
        <p:spPr>
          <a:xfrm>
            <a:off x="3428953" y="2852954"/>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lstStyle/>
          <a:p>
            <a:pPr algn="ctr">
              <a:buClr>
                <a:schemeClr val="accent1"/>
              </a:buClr>
            </a:pPr>
            <a:r>
              <a:rPr lang="en-US" altLang="ja-JP" sz="1400" dirty="0">
                <a:solidFill>
                  <a:schemeClr val="bg1"/>
                </a:solidFill>
                <a:latin typeface="+mn-ea"/>
              </a:rPr>
              <a:t>1</a:t>
            </a:r>
            <a:endParaRPr lang="ja-JP" altLang="en-US" sz="1400" dirty="0">
              <a:solidFill>
                <a:schemeClr val="bg1"/>
              </a:solidFill>
              <a:latin typeface="+mn-ea"/>
            </a:endParaRPr>
          </a:p>
        </p:txBody>
      </p:sp>
      <p:pic>
        <p:nvPicPr>
          <p:cNvPr id="18" name="グラフィックス 17" descr="マネジメント 単色塗りつぶし">
            <a:extLst>
              <a:ext uri="{FF2B5EF4-FFF2-40B4-BE49-F238E27FC236}">
                <a16:creationId xmlns:a16="http://schemas.microsoft.com/office/drawing/2014/main" id="{BED9AD71-8A75-D505-454B-1A2F506700C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302953" y="3181482"/>
            <a:ext cx="504000" cy="504000"/>
          </a:xfrm>
          <a:prstGeom prst="rect">
            <a:avLst/>
          </a:prstGeom>
        </p:spPr>
      </p:pic>
      <p:sp>
        <p:nvSpPr>
          <p:cNvPr id="20" name="background">
            <a:extLst>
              <a:ext uri="{FF2B5EF4-FFF2-40B4-BE49-F238E27FC236}">
                <a16:creationId xmlns:a16="http://schemas.microsoft.com/office/drawing/2014/main" id="{8BE0457B-A56E-55D2-85FB-FE1087A5D9C2}"/>
              </a:ext>
            </a:extLst>
          </p:cNvPr>
          <p:cNvSpPr>
            <a:spLocks noChangeAspect="1"/>
          </p:cNvSpPr>
          <p:nvPr>
            <p:custDataLst>
              <p:tags r:id="rId2"/>
            </p:custDataLst>
          </p:nvPr>
        </p:nvSpPr>
        <p:spPr>
          <a:xfrm>
            <a:off x="3428953" y="4111108"/>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lstStyle/>
          <a:p>
            <a:pPr algn="ctr">
              <a:buClr>
                <a:schemeClr val="accent1"/>
              </a:buClr>
            </a:pPr>
            <a:r>
              <a:rPr lang="en-US" altLang="ja-JP" sz="1400" dirty="0">
                <a:solidFill>
                  <a:schemeClr val="bg1"/>
                </a:solidFill>
                <a:latin typeface="+mn-ea"/>
              </a:rPr>
              <a:t>2</a:t>
            </a:r>
            <a:endParaRPr lang="ja-JP" altLang="en-US" sz="1400" dirty="0">
              <a:solidFill>
                <a:schemeClr val="bg1"/>
              </a:solidFill>
              <a:latin typeface="+mn-ea"/>
            </a:endParaRPr>
          </a:p>
        </p:txBody>
      </p:sp>
      <p:pic>
        <p:nvPicPr>
          <p:cNvPr id="28" name="グラフィックス 27" descr="ブリーフケース 単色塗りつぶし">
            <a:extLst>
              <a:ext uri="{FF2B5EF4-FFF2-40B4-BE49-F238E27FC236}">
                <a16:creationId xmlns:a16="http://schemas.microsoft.com/office/drawing/2014/main" id="{799A438A-3965-ADF8-7C87-04ECA0AFF22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02953" y="4433615"/>
            <a:ext cx="504000" cy="504000"/>
          </a:xfrm>
          <a:prstGeom prst="rect">
            <a:avLst/>
          </a:prstGeom>
        </p:spPr>
      </p:pic>
      <p:sp>
        <p:nvSpPr>
          <p:cNvPr id="33" name="background">
            <a:extLst>
              <a:ext uri="{FF2B5EF4-FFF2-40B4-BE49-F238E27FC236}">
                <a16:creationId xmlns:a16="http://schemas.microsoft.com/office/drawing/2014/main" id="{0CDBD66A-FC8E-C302-5C8B-740E0EE5038D}"/>
              </a:ext>
            </a:extLst>
          </p:cNvPr>
          <p:cNvSpPr>
            <a:spLocks noChangeAspect="1"/>
          </p:cNvSpPr>
          <p:nvPr>
            <p:custDataLst>
              <p:tags r:id="rId3"/>
            </p:custDataLst>
          </p:nvPr>
        </p:nvSpPr>
        <p:spPr>
          <a:xfrm>
            <a:off x="3428953" y="5282981"/>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0" rtlCol="0" anchor="ctr"/>
          <a:lstStyle/>
          <a:p>
            <a:pPr algn="ctr">
              <a:buClr>
                <a:schemeClr val="accent1"/>
              </a:buClr>
            </a:pPr>
            <a:r>
              <a:rPr lang="en-US" altLang="ja-JP" sz="1400" dirty="0">
                <a:solidFill>
                  <a:schemeClr val="bg1"/>
                </a:solidFill>
                <a:latin typeface="+mn-ea"/>
              </a:rPr>
              <a:t>3</a:t>
            </a:r>
            <a:endParaRPr lang="ja-JP" altLang="en-US" sz="1400" dirty="0">
              <a:solidFill>
                <a:schemeClr val="bg1"/>
              </a:solidFill>
              <a:latin typeface="+mn-ea"/>
            </a:endParaRPr>
          </a:p>
        </p:txBody>
      </p:sp>
      <p:pic>
        <p:nvPicPr>
          <p:cNvPr id="39" name="グラフィックス 38" descr="混乱した人 単色塗りつぶし">
            <a:extLst>
              <a:ext uri="{FF2B5EF4-FFF2-40B4-BE49-F238E27FC236}">
                <a16:creationId xmlns:a16="http://schemas.microsoft.com/office/drawing/2014/main" id="{E5C02EF5-7B1E-4BA4-A63D-28A0BBD46E7D}"/>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3302953" y="5672719"/>
            <a:ext cx="504000" cy="504000"/>
          </a:xfrm>
          <a:prstGeom prst="rect">
            <a:avLst/>
          </a:prstGeom>
        </p:spPr>
      </p:pic>
      <p:grpSp>
        <p:nvGrpSpPr>
          <p:cNvPr id="42" name="グループ化 41">
            <a:extLst>
              <a:ext uri="{FF2B5EF4-FFF2-40B4-BE49-F238E27FC236}">
                <a16:creationId xmlns:a16="http://schemas.microsoft.com/office/drawing/2014/main" id="{EEF3D26F-B2E4-F1CE-F76B-CD3D510E9ECB}"/>
              </a:ext>
            </a:extLst>
          </p:cNvPr>
          <p:cNvGrpSpPr/>
          <p:nvPr/>
        </p:nvGrpSpPr>
        <p:grpSpPr>
          <a:xfrm>
            <a:off x="9532620" y="1628775"/>
            <a:ext cx="2326322" cy="596265"/>
            <a:chOff x="8737600" y="1628775"/>
            <a:chExt cx="3119438" cy="596265"/>
          </a:xfrm>
        </p:grpSpPr>
        <p:sp>
          <p:nvSpPr>
            <p:cNvPr id="45" name="正方形/長方形 44">
              <a:extLst>
                <a:ext uri="{FF2B5EF4-FFF2-40B4-BE49-F238E27FC236}">
                  <a16:creationId xmlns:a16="http://schemas.microsoft.com/office/drawing/2014/main" id="{23188CFF-2DD4-DD82-89B3-B5FE2B4092AE}"/>
                </a:ext>
              </a:extLst>
            </p:cNvPr>
            <p:cNvSpPr/>
            <p:nvPr/>
          </p:nvSpPr>
          <p:spPr>
            <a:xfrm>
              <a:off x="8737600" y="1761897"/>
              <a:ext cx="3119438" cy="463143"/>
            </a:xfrm>
            <a:prstGeom prst="rect">
              <a:avLst/>
            </a:prstGeom>
            <a:no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nvGrpSpPr>
            <p:cNvPr id="47" name="グループ化 46">
              <a:extLst>
                <a:ext uri="{FF2B5EF4-FFF2-40B4-BE49-F238E27FC236}">
                  <a16:creationId xmlns:a16="http://schemas.microsoft.com/office/drawing/2014/main" id="{68ABDFE9-7F81-2C04-EF02-7895F7DD0D05}"/>
                </a:ext>
              </a:extLst>
            </p:cNvPr>
            <p:cNvGrpSpPr/>
            <p:nvPr/>
          </p:nvGrpSpPr>
          <p:grpSpPr>
            <a:xfrm>
              <a:off x="8909993" y="1628775"/>
              <a:ext cx="2780280" cy="549045"/>
              <a:chOff x="8909993" y="1628775"/>
              <a:chExt cx="2780280" cy="549045"/>
            </a:xfrm>
          </p:grpSpPr>
          <p:sp>
            <p:nvSpPr>
              <p:cNvPr id="48" name="正方形/長方形 47">
                <a:extLst>
                  <a:ext uri="{FF2B5EF4-FFF2-40B4-BE49-F238E27FC236}">
                    <a16:creationId xmlns:a16="http://schemas.microsoft.com/office/drawing/2014/main" id="{46E57BDD-EC05-09CF-3AA9-804EF437E55A}"/>
                  </a:ext>
                </a:extLst>
              </p:cNvPr>
              <p:cNvSpPr/>
              <p:nvPr/>
            </p:nvSpPr>
            <p:spPr>
              <a:xfrm>
                <a:off x="9008533" y="1628775"/>
                <a:ext cx="1803301" cy="281191"/>
              </a:xfrm>
              <a:prstGeom prst="rect">
                <a:avLst/>
              </a:prstGeom>
              <a:solidFill>
                <a:schemeClr val="bg1"/>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n-ea"/>
                  </a:rPr>
                  <a:t>真因へのつながり</a:t>
                </a:r>
              </a:p>
            </p:txBody>
          </p:sp>
          <p:grpSp>
            <p:nvGrpSpPr>
              <p:cNvPr id="49" name="グループ化 48">
                <a:extLst>
                  <a:ext uri="{FF2B5EF4-FFF2-40B4-BE49-F238E27FC236}">
                    <a16:creationId xmlns:a16="http://schemas.microsoft.com/office/drawing/2014/main" id="{D0ABEE52-A61E-CBFC-F627-8AB4BAE2EBA6}"/>
                  </a:ext>
                </a:extLst>
              </p:cNvPr>
              <p:cNvGrpSpPr/>
              <p:nvPr/>
            </p:nvGrpSpPr>
            <p:grpSpPr>
              <a:xfrm>
                <a:off x="8909993" y="1896629"/>
                <a:ext cx="2780280" cy="281191"/>
                <a:chOff x="9008533" y="1953846"/>
                <a:chExt cx="2780280" cy="281191"/>
              </a:xfrm>
            </p:grpSpPr>
            <p:grpSp>
              <p:nvGrpSpPr>
                <p:cNvPr id="52" name="グループ化 51">
                  <a:extLst>
                    <a:ext uri="{FF2B5EF4-FFF2-40B4-BE49-F238E27FC236}">
                      <a16:creationId xmlns:a16="http://schemas.microsoft.com/office/drawing/2014/main" id="{5DE6F6DB-E9FB-2A81-7A7C-38D26A2C72FF}"/>
                    </a:ext>
                  </a:extLst>
                </p:cNvPr>
                <p:cNvGrpSpPr/>
                <p:nvPr/>
              </p:nvGrpSpPr>
              <p:grpSpPr>
                <a:xfrm>
                  <a:off x="9008533" y="1953846"/>
                  <a:ext cx="1360289" cy="281191"/>
                  <a:chOff x="9008533" y="1953846"/>
                  <a:chExt cx="1360289" cy="281191"/>
                </a:xfrm>
              </p:grpSpPr>
              <p:sp>
                <p:nvSpPr>
                  <p:cNvPr id="58" name="正方形/長方形 57">
                    <a:extLst>
                      <a:ext uri="{FF2B5EF4-FFF2-40B4-BE49-F238E27FC236}">
                        <a16:creationId xmlns:a16="http://schemas.microsoft.com/office/drawing/2014/main" id="{813E1BB4-6093-986C-7F55-8215B539B0F0}"/>
                      </a:ext>
                    </a:extLst>
                  </p:cNvPr>
                  <p:cNvSpPr/>
                  <p:nvPr/>
                </p:nvSpPr>
                <p:spPr>
                  <a:xfrm>
                    <a:off x="9755634" y="1953846"/>
                    <a:ext cx="613188" cy="2811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rgbClr val="008D2E"/>
                        </a:solidFill>
                        <a:latin typeface="+mn-ea"/>
                      </a:rPr>
                      <a:t>主</a:t>
                    </a:r>
                  </a:p>
                </p:txBody>
              </p:sp>
              <p:cxnSp>
                <p:nvCxnSpPr>
                  <p:cNvPr id="59" name="直線矢印コネクタ 58">
                    <a:extLst>
                      <a:ext uri="{FF2B5EF4-FFF2-40B4-BE49-F238E27FC236}">
                        <a16:creationId xmlns:a16="http://schemas.microsoft.com/office/drawing/2014/main" id="{1C11176F-2390-8AE8-466A-9CDAD52DB9C6}"/>
                      </a:ext>
                    </a:extLst>
                  </p:cNvPr>
                  <p:cNvCxnSpPr>
                    <a:cxnSpLocks/>
                  </p:cNvCxnSpPr>
                  <p:nvPr/>
                </p:nvCxnSpPr>
                <p:spPr>
                  <a:xfrm flipH="1">
                    <a:off x="9008533" y="2099733"/>
                    <a:ext cx="423333" cy="0"/>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53" name="グループ化 52">
                  <a:extLst>
                    <a:ext uri="{FF2B5EF4-FFF2-40B4-BE49-F238E27FC236}">
                      <a16:creationId xmlns:a16="http://schemas.microsoft.com/office/drawing/2014/main" id="{A628F9FC-8781-7347-3C02-E84773E100F3}"/>
                    </a:ext>
                  </a:extLst>
                </p:cNvPr>
                <p:cNvGrpSpPr/>
                <p:nvPr/>
              </p:nvGrpSpPr>
              <p:grpSpPr>
                <a:xfrm>
                  <a:off x="10530699" y="1953846"/>
                  <a:ext cx="1258114" cy="281191"/>
                  <a:chOff x="10953485" y="1953846"/>
                  <a:chExt cx="1258114" cy="281191"/>
                </a:xfrm>
              </p:grpSpPr>
              <p:sp>
                <p:nvSpPr>
                  <p:cNvPr id="55" name="正方形/長方形 54">
                    <a:extLst>
                      <a:ext uri="{FF2B5EF4-FFF2-40B4-BE49-F238E27FC236}">
                        <a16:creationId xmlns:a16="http://schemas.microsoft.com/office/drawing/2014/main" id="{29EA6E44-6B94-B24F-BC33-1CB891E1D934}"/>
                      </a:ext>
                    </a:extLst>
                  </p:cNvPr>
                  <p:cNvSpPr/>
                  <p:nvPr/>
                </p:nvSpPr>
                <p:spPr>
                  <a:xfrm>
                    <a:off x="11598409" y="1953846"/>
                    <a:ext cx="613190" cy="28119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n-ea"/>
                      </a:rPr>
                      <a:t>副</a:t>
                    </a:r>
                  </a:p>
                </p:txBody>
              </p:sp>
              <p:cxnSp>
                <p:nvCxnSpPr>
                  <p:cNvPr id="56" name="直線矢印コネクタ 55">
                    <a:extLst>
                      <a:ext uri="{FF2B5EF4-FFF2-40B4-BE49-F238E27FC236}">
                        <a16:creationId xmlns:a16="http://schemas.microsoft.com/office/drawing/2014/main" id="{2723A8F6-4A30-CDC3-D28A-DE142689872E}"/>
                      </a:ext>
                    </a:extLst>
                  </p:cNvPr>
                  <p:cNvCxnSpPr>
                    <a:cxnSpLocks/>
                  </p:cNvCxnSpPr>
                  <p:nvPr/>
                </p:nvCxnSpPr>
                <p:spPr>
                  <a:xfrm flipH="1">
                    <a:off x="10953485" y="2094442"/>
                    <a:ext cx="423333" cy="0"/>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grpSp>
      </p:grpSp>
      <p:cxnSp>
        <p:nvCxnSpPr>
          <p:cNvPr id="62" name="コネクタ: カギ線 61">
            <a:extLst>
              <a:ext uri="{FF2B5EF4-FFF2-40B4-BE49-F238E27FC236}">
                <a16:creationId xmlns:a16="http://schemas.microsoft.com/office/drawing/2014/main" id="{963E3A35-90CC-52AA-BB74-356C5D7D200C}"/>
              </a:ext>
            </a:extLst>
          </p:cNvPr>
          <p:cNvCxnSpPr>
            <a:cxnSpLocks/>
            <a:stCxn id="10" idx="3"/>
            <a:endCxn id="43" idx="1"/>
          </p:cNvCxnSpPr>
          <p:nvPr/>
        </p:nvCxnSpPr>
        <p:spPr>
          <a:xfrm>
            <a:off x="2370667" y="3533089"/>
            <a:ext cx="864822" cy="962026"/>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9" name="コネクタ: カギ線 78">
            <a:extLst>
              <a:ext uri="{FF2B5EF4-FFF2-40B4-BE49-F238E27FC236}">
                <a16:creationId xmlns:a16="http://schemas.microsoft.com/office/drawing/2014/main" id="{013861CE-3E6A-E9DC-CDA8-294DF0F6BBB9}"/>
              </a:ext>
            </a:extLst>
          </p:cNvPr>
          <p:cNvCxnSpPr>
            <a:cxnSpLocks/>
            <a:stCxn id="10" idx="3"/>
            <a:endCxn id="22" idx="1"/>
          </p:cNvCxnSpPr>
          <p:nvPr/>
        </p:nvCxnSpPr>
        <p:spPr>
          <a:xfrm flipV="1">
            <a:off x="2370667" y="3267441"/>
            <a:ext cx="864822" cy="265648"/>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22" name="グループ化 121">
            <a:extLst>
              <a:ext uri="{FF2B5EF4-FFF2-40B4-BE49-F238E27FC236}">
                <a16:creationId xmlns:a16="http://schemas.microsoft.com/office/drawing/2014/main" id="{E5FDE108-6BF1-3BE0-99FA-EE38BEEA2A99}"/>
              </a:ext>
            </a:extLst>
          </p:cNvPr>
          <p:cNvGrpSpPr/>
          <p:nvPr/>
        </p:nvGrpSpPr>
        <p:grpSpPr>
          <a:xfrm>
            <a:off x="8954210" y="3368496"/>
            <a:ext cx="865228" cy="2647261"/>
            <a:chOff x="8954210" y="3368496"/>
            <a:chExt cx="865228" cy="2647261"/>
          </a:xfrm>
        </p:grpSpPr>
        <p:cxnSp>
          <p:nvCxnSpPr>
            <p:cNvPr id="69" name="コネクタ: カギ線 68">
              <a:extLst>
                <a:ext uri="{FF2B5EF4-FFF2-40B4-BE49-F238E27FC236}">
                  <a16:creationId xmlns:a16="http://schemas.microsoft.com/office/drawing/2014/main" id="{E1B3F07A-A3A0-C827-2DE8-D4843009CD89}"/>
                </a:ext>
              </a:extLst>
            </p:cNvPr>
            <p:cNvCxnSpPr>
              <a:cxnSpLocks/>
              <a:stCxn id="24" idx="1"/>
              <a:endCxn id="44" idx="3"/>
            </p:cNvCxnSpPr>
            <p:nvPr/>
          </p:nvCxnSpPr>
          <p:spPr>
            <a:xfrm rot="10800000" flipV="1">
              <a:off x="8954616" y="3533089"/>
              <a:ext cx="864822" cy="2189700"/>
            </a:xfrm>
            <a:prstGeom prst="bentConnector3">
              <a:avLst>
                <a:gd name="adj1" fmla="val 50000"/>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0" name="直線矢印コネクタ 69">
              <a:extLst>
                <a:ext uri="{FF2B5EF4-FFF2-40B4-BE49-F238E27FC236}">
                  <a16:creationId xmlns:a16="http://schemas.microsoft.com/office/drawing/2014/main" id="{DC77EBE0-E3D3-124D-A4E1-59A5C3A3CA04}"/>
                </a:ext>
              </a:extLst>
            </p:cNvPr>
            <p:cNvCxnSpPr>
              <a:cxnSpLocks/>
            </p:cNvCxnSpPr>
            <p:nvPr/>
          </p:nvCxnSpPr>
          <p:spPr>
            <a:xfrm flipH="1" flipV="1">
              <a:off x="8954616" y="3368496"/>
              <a:ext cx="864822" cy="1"/>
            </a:xfrm>
            <a:prstGeom prst="straightConnector1">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5" name="コネクタ: カギ線 104">
              <a:extLst>
                <a:ext uri="{FF2B5EF4-FFF2-40B4-BE49-F238E27FC236}">
                  <a16:creationId xmlns:a16="http://schemas.microsoft.com/office/drawing/2014/main" id="{0C406B83-4C0A-419C-4D66-5F6FFD807453}"/>
                </a:ext>
              </a:extLst>
            </p:cNvPr>
            <p:cNvCxnSpPr>
              <a:cxnSpLocks/>
              <a:stCxn id="25" idx="1"/>
              <a:endCxn id="43" idx="3"/>
            </p:cNvCxnSpPr>
            <p:nvPr/>
          </p:nvCxnSpPr>
          <p:spPr>
            <a:xfrm rot="10800000">
              <a:off x="8954616" y="4495115"/>
              <a:ext cx="864822" cy="962026"/>
            </a:xfrm>
            <a:prstGeom prst="bentConnector3">
              <a:avLst>
                <a:gd name="adj1" fmla="val 20923"/>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68AE1082-24CA-B45C-14D9-57B976BCBB6C}"/>
                </a:ext>
              </a:extLst>
            </p:cNvPr>
            <p:cNvCxnSpPr>
              <a:cxnSpLocks/>
            </p:cNvCxnSpPr>
            <p:nvPr/>
          </p:nvCxnSpPr>
          <p:spPr>
            <a:xfrm flipH="1" flipV="1">
              <a:off x="8954210" y="6015756"/>
              <a:ext cx="864822" cy="1"/>
            </a:xfrm>
            <a:prstGeom prst="straightConnector1">
              <a:avLst/>
            </a:prstGeom>
            <a:ln w="9525">
              <a:solidFill>
                <a:srgbClr val="008000"/>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21" name="円弧 120">
              <a:extLst>
                <a:ext uri="{FF2B5EF4-FFF2-40B4-BE49-F238E27FC236}">
                  <a16:creationId xmlns:a16="http://schemas.microsoft.com/office/drawing/2014/main" id="{0FCC7E6B-F2F6-AA79-9722-B88B67183405}"/>
                </a:ext>
              </a:extLst>
            </p:cNvPr>
            <p:cNvSpPr/>
            <p:nvPr/>
          </p:nvSpPr>
          <p:spPr>
            <a:xfrm>
              <a:off x="9332194" y="4448773"/>
              <a:ext cx="108745" cy="105917"/>
            </a:xfrm>
            <a:prstGeom prst="arc">
              <a:avLst>
                <a:gd name="adj1" fmla="val 10862459"/>
                <a:gd name="adj2" fmla="val 0"/>
              </a:avLst>
            </a:prstGeom>
            <a:solidFill>
              <a:schemeClr val="bg1"/>
            </a:solidFill>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ja-JP" altLang="en-US">
                <a:latin typeface="+mn-ea"/>
              </a:endParaRPr>
            </a:p>
          </p:txBody>
        </p:sp>
      </p:grpSp>
      <p:cxnSp>
        <p:nvCxnSpPr>
          <p:cNvPr id="7" name="コネクタ: カギ線 6">
            <a:extLst>
              <a:ext uri="{FF2B5EF4-FFF2-40B4-BE49-F238E27FC236}">
                <a16:creationId xmlns:a16="http://schemas.microsoft.com/office/drawing/2014/main" id="{2CFF727A-0F5F-E0EA-2493-DFB2FDC36B4F}"/>
              </a:ext>
            </a:extLst>
          </p:cNvPr>
          <p:cNvCxnSpPr>
            <a:cxnSpLocks/>
            <a:stCxn id="14" idx="3"/>
          </p:cNvCxnSpPr>
          <p:nvPr/>
        </p:nvCxnSpPr>
        <p:spPr>
          <a:xfrm flipV="1">
            <a:off x="2370667" y="4605556"/>
            <a:ext cx="864822" cy="851585"/>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 name="コネクタ: カギ線 11">
            <a:extLst>
              <a:ext uri="{FF2B5EF4-FFF2-40B4-BE49-F238E27FC236}">
                <a16:creationId xmlns:a16="http://schemas.microsoft.com/office/drawing/2014/main" id="{F37597EB-420F-BEC4-38CD-827C19E8DC34}"/>
              </a:ext>
            </a:extLst>
          </p:cNvPr>
          <p:cNvCxnSpPr>
            <a:cxnSpLocks/>
            <a:stCxn id="14" idx="3"/>
            <a:endCxn id="44" idx="1"/>
          </p:cNvCxnSpPr>
          <p:nvPr/>
        </p:nvCxnSpPr>
        <p:spPr>
          <a:xfrm>
            <a:off x="2370667" y="5457141"/>
            <a:ext cx="864822" cy="265648"/>
          </a:xfrm>
          <a:prstGeom prst="bentConnector3">
            <a:avLst>
              <a:gd name="adj1" fmla="val 50000"/>
            </a:avLst>
          </a:prstGeom>
          <a:ln w="9525">
            <a:solidFill>
              <a:srgbClr val="008D2E"/>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6" name="コネクタ: カギ線 35">
            <a:extLst>
              <a:ext uri="{FF2B5EF4-FFF2-40B4-BE49-F238E27FC236}">
                <a16:creationId xmlns:a16="http://schemas.microsoft.com/office/drawing/2014/main" id="{47C5B8F5-E2E1-1FCD-B911-F0C4A7100E30}"/>
              </a:ext>
            </a:extLst>
          </p:cNvPr>
          <p:cNvCxnSpPr>
            <a:cxnSpLocks/>
            <a:stCxn id="54" idx="3"/>
            <a:endCxn id="41" idx="1"/>
          </p:cNvCxnSpPr>
          <p:nvPr/>
        </p:nvCxnSpPr>
        <p:spPr>
          <a:xfrm flipV="1">
            <a:off x="2359403" y="3701207"/>
            <a:ext cx="876086" cy="1402960"/>
          </a:xfrm>
          <a:prstGeom prst="bentConnector3">
            <a:avLst>
              <a:gd name="adj1" fmla="val 31848"/>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1" name="正方形/長方形 40">
            <a:extLst>
              <a:ext uri="{FF2B5EF4-FFF2-40B4-BE49-F238E27FC236}">
                <a16:creationId xmlns:a16="http://schemas.microsoft.com/office/drawing/2014/main" id="{B18732F6-AB7C-1604-6373-BDA06F153BC4}"/>
              </a:ext>
            </a:extLst>
          </p:cNvPr>
          <p:cNvSpPr/>
          <p:nvPr/>
        </p:nvSpPr>
        <p:spPr>
          <a:xfrm>
            <a:off x="3235489" y="3522393"/>
            <a:ext cx="193464" cy="35762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54" name="正方形/長方形 53">
            <a:extLst>
              <a:ext uri="{FF2B5EF4-FFF2-40B4-BE49-F238E27FC236}">
                <a16:creationId xmlns:a16="http://schemas.microsoft.com/office/drawing/2014/main" id="{4A78751C-C1DD-B925-2277-9367C127C41D}"/>
              </a:ext>
            </a:extLst>
          </p:cNvPr>
          <p:cNvSpPr/>
          <p:nvPr/>
        </p:nvSpPr>
        <p:spPr>
          <a:xfrm>
            <a:off x="2165939" y="4925353"/>
            <a:ext cx="193464" cy="357628"/>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3945536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0EE71-D967-BA9D-5EC3-92DAC05D5F6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72D25B7-7C63-DEB6-7D12-55EF4251BC0E}"/>
              </a:ext>
            </a:extLst>
          </p:cNvPr>
          <p:cNvSpPr>
            <a:spLocks noGrp="1"/>
          </p:cNvSpPr>
          <p:nvPr>
            <p:ph type="title"/>
          </p:nvPr>
        </p:nvSpPr>
        <p:spPr>
          <a:xfrm>
            <a:off x="334963" y="1"/>
            <a:ext cx="11522075" cy="914400"/>
          </a:xfrm>
        </p:spPr>
        <p:txBody>
          <a:bodyPr/>
          <a:lstStyle/>
          <a:p>
            <a:r>
              <a:rPr lang="ja-JP" altLang="en-US" dirty="0">
                <a:latin typeface="メイリオ" panose="020B0604030504040204" pitchFamily="50" charset="-128"/>
                <a:ea typeface="メイリオ" panose="020B0604030504040204" pitchFamily="50" charset="-128"/>
              </a:rPr>
              <a:t>真因と解決策</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a16:creationId xmlns:a16="http://schemas.microsoft.com/office/drawing/2014/main" id="{0C888C94-7EBB-96D4-0EA0-316C02BBD147}"/>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1800" dirty="0">
                <a:latin typeface="+mn-ea"/>
                <a:ea typeface="+mn-ea"/>
              </a:rPr>
              <a:t>解決策は真因の裏返しで1対1に対応。★＝最初に動かす起点施策 ― B1「投資ROI可視化」が全ての起点になる</a:t>
            </a:r>
            <a:endParaRPr lang="ja-JP" altLang="en-US" sz="1800" dirty="0">
              <a:latin typeface="+mn-ea"/>
              <a:ea typeface="+mn-ea"/>
            </a:endParaRPr>
          </a:p>
        </p:txBody>
      </p:sp>
      <p:sp>
        <p:nvSpPr>
          <p:cNvPr id="5" name="正方形/長方形 4">
            <a:extLst>
              <a:ext uri="{FF2B5EF4-FFF2-40B4-BE49-F238E27FC236}">
                <a16:creationId xmlns:a16="http://schemas.microsoft.com/office/drawing/2014/main" id="{B74D2276-4C7D-036F-9B00-21EF4F004E42}"/>
              </a:ext>
            </a:extLst>
          </p:cNvPr>
          <p:cNvSpPr/>
          <p:nvPr/>
        </p:nvSpPr>
        <p:spPr>
          <a:xfrm>
            <a:off x="334961" y="1637495"/>
            <a:ext cx="957389" cy="522539"/>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真因</a:t>
            </a:r>
            <a:endParaRPr lang="en-US" altLang="ja-JP" sz="1400" dirty="0">
              <a:solidFill>
                <a:schemeClr val="bg1"/>
              </a:solidFill>
              <a:latin typeface="+mn-ea"/>
            </a:endParaRPr>
          </a:p>
        </p:txBody>
      </p:sp>
      <p:pic>
        <p:nvPicPr>
          <p:cNvPr id="82" name="グラフィックス 81" descr="No の記号 単色塗りつぶし">
            <a:extLst>
              <a:ext uri="{FF2B5EF4-FFF2-40B4-BE49-F238E27FC236}">
                <a16:creationId xmlns:a16="http://schemas.microsoft.com/office/drawing/2014/main" id="{0DBFEF41-22AA-A878-2269-2366F2CF32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589597" y="1574439"/>
            <a:ext cx="324568" cy="324568"/>
          </a:xfrm>
          <a:prstGeom prst="rect">
            <a:avLst/>
          </a:prstGeom>
        </p:spPr>
      </p:pic>
      <p:sp>
        <p:nvSpPr>
          <p:cNvPr id="8" name="正方形/長方形 7">
            <a:extLst>
              <a:ext uri="{FF2B5EF4-FFF2-40B4-BE49-F238E27FC236}">
                <a16:creationId xmlns:a16="http://schemas.microsoft.com/office/drawing/2014/main" id="{1B8223E7-E8E1-D3B9-4236-FB253121D1EC}"/>
              </a:ext>
            </a:extLst>
          </p:cNvPr>
          <p:cNvSpPr/>
          <p:nvPr/>
        </p:nvSpPr>
        <p:spPr>
          <a:xfrm>
            <a:off x="1356269" y="1637496"/>
            <a:ext cx="3455110" cy="522539"/>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92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増えた資源が「従来の使い方」のまま</a:t>
            </a:r>
            <a:endParaRPr lang="en-US" altLang="ja-JP" sz="1400" dirty="0">
              <a:solidFill>
                <a:schemeClr val="bg1"/>
              </a:solidFill>
              <a:latin typeface="+mn-ea"/>
            </a:endParaRPr>
          </a:p>
        </p:txBody>
      </p:sp>
      <p:sp>
        <p:nvSpPr>
          <p:cNvPr id="83" name="正方形/長方形 7">
            <a:extLst>
              <a:ext uri="{FF2B5EF4-FFF2-40B4-BE49-F238E27FC236}">
                <a16:creationId xmlns:a16="http://schemas.microsoft.com/office/drawing/2014/main" id="{1B8223E7-E8E1-D3B9-4236-FB253121D1EC}"/>
              </a:ext>
            </a:extLst>
          </p:cNvPr>
          <p:cNvSpPr/>
          <p:nvPr/>
        </p:nvSpPr>
        <p:spPr>
          <a:xfrm>
            <a:off x="4875298" y="1637496"/>
            <a:ext cx="3455110" cy="522539"/>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92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値引きに代わる「提案材料」がない</a:t>
            </a:r>
            <a:endParaRPr lang="en-US" altLang="ja-JP" sz="1400" dirty="0">
              <a:solidFill>
                <a:schemeClr val="bg1"/>
              </a:solidFill>
              <a:latin typeface="+mn-ea"/>
            </a:endParaRPr>
          </a:p>
        </p:txBody>
      </p:sp>
      <p:sp>
        <p:nvSpPr>
          <p:cNvPr id="84" name="正方形/長方形 7">
            <a:extLst>
              <a:ext uri="{FF2B5EF4-FFF2-40B4-BE49-F238E27FC236}">
                <a16:creationId xmlns:a16="http://schemas.microsoft.com/office/drawing/2014/main" id="{1B8223E7-E8E1-D3B9-4236-FB253121D1EC}"/>
              </a:ext>
            </a:extLst>
          </p:cNvPr>
          <p:cNvSpPr/>
          <p:nvPr/>
        </p:nvSpPr>
        <p:spPr>
          <a:xfrm>
            <a:off x="8394327" y="1637496"/>
            <a:ext cx="3455110" cy="522539"/>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792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試す→検証→広げる「仕組み」がない</a:t>
            </a:r>
            <a:endParaRPr lang="en-US" altLang="ja-JP" sz="1400" dirty="0">
              <a:solidFill>
                <a:schemeClr val="bg1"/>
              </a:solidFill>
              <a:latin typeface="+mn-ea"/>
            </a:endParaRPr>
          </a:p>
        </p:txBody>
      </p:sp>
      <p:sp>
        <p:nvSpPr>
          <p:cNvPr id="9" name="テキスト ボックス 8">
            <a:extLst>
              <a:ext uri="{FF2B5EF4-FFF2-40B4-BE49-F238E27FC236}">
                <a16:creationId xmlns:a16="http://schemas.microsoft.com/office/drawing/2014/main" id="{E9B7609B-D3E1-3DA0-FDB3-FDD33EC4615C}"/>
              </a:ext>
            </a:extLst>
          </p:cNvPr>
          <p:cNvSpPr txBox="1"/>
          <p:nvPr/>
        </p:nvSpPr>
        <p:spPr>
          <a:xfrm>
            <a:off x="334963" y="6079697"/>
            <a:ext cx="11522074" cy="229486"/>
          </a:xfrm>
          <a:prstGeom prst="rect">
            <a:avLst/>
          </a:prstGeom>
          <a:noFill/>
        </p:spPr>
        <p:txBody>
          <a:bodyPr wrap="square">
            <a:spAutoFit/>
          </a:bodyPr>
          <a:lstStyle/>
          <a:p>
            <a:pPr marL="171450" indent="-171450">
              <a:lnSpc>
                <a:spcPct val="110000"/>
              </a:lnSpc>
              <a:buClr>
                <a:schemeClr val="accent5"/>
              </a:buClr>
              <a:buFont typeface="BIZ UDPゴシック" panose="020B0400000000000000" pitchFamily="50" charset="-128"/>
              <a:buChar char="※"/>
            </a:pPr>
            <a:r>
              <a:rPr lang="ja-JP" altLang="en-US" sz="900" dirty="0">
                <a:solidFill>
                  <a:srgbClr val="008D2E"/>
                </a:solidFill>
                <a:latin typeface="+mn-ea"/>
              </a:rPr>
              <a:t>起点施策 </a:t>
            </a:r>
            <a:r>
              <a:rPr lang="en-US" altLang="ja-JP" sz="900" dirty="0">
                <a:solidFill>
                  <a:srgbClr val="008D2E"/>
                </a:solidFill>
                <a:latin typeface="+mn-ea"/>
              </a:rPr>
              <a:t>(</a:t>
            </a:r>
            <a:r>
              <a:rPr lang="ja-JP" altLang="en-US" sz="900" dirty="0">
                <a:solidFill>
                  <a:srgbClr val="008D2E"/>
                </a:solidFill>
                <a:latin typeface="+mn-ea"/>
              </a:rPr>
              <a:t>★</a:t>
            </a:r>
            <a:r>
              <a:rPr lang="en-US" altLang="ja-JP" sz="900" dirty="0">
                <a:solidFill>
                  <a:srgbClr val="008D2E"/>
                </a:solidFill>
                <a:latin typeface="+mn-ea"/>
              </a:rPr>
              <a:t>) </a:t>
            </a:r>
            <a:r>
              <a:rPr lang="ja-JP" altLang="en-US" sz="900" dirty="0">
                <a:solidFill>
                  <a:srgbClr val="008D2E"/>
                </a:solidFill>
                <a:latin typeface="+mn-ea"/>
              </a:rPr>
              <a:t>の連鎖 </a:t>
            </a:r>
            <a:r>
              <a:rPr lang="en-US" altLang="ja-JP" sz="900" dirty="0">
                <a:latin typeface="+mn-ea"/>
              </a:rPr>
              <a:t>: </a:t>
            </a:r>
            <a:r>
              <a:rPr lang="en-US" altLang="ja-JP" sz="900" b="0" dirty="0">
                <a:solidFill>
                  <a:srgbClr val="262626"/>
                </a:solidFill>
                <a:latin typeface="+mn-ea"/>
              </a:rPr>
              <a:t>B1</a:t>
            </a:r>
            <a:r>
              <a:rPr lang="ja-JP" altLang="en-US" sz="900" b="0" dirty="0">
                <a:solidFill>
                  <a:srgbClr val="262626"/>
                </a:solidFill>
                <a:latin typeface="+mn-ea"/>
              </a:rPr>
              <a:t> </a:t>
            </a:r>
            <a:r>
              <a:rPr lang="en-US" altLang="ja-JP" sz="900" b="0" dirty="0">
                <a:solidFill>
                  <a:srgbClr val="262626"/>
                </a:solidFill>
                <a:latin typeface="+mn-ea"/>
              </a:rPr>
              <a:t>(ROI</a:t>
            </a:r>
            <a:r>
              <a:rPr lang="ja-JP" altLang="en-US" sz="900" b="0" dirty="0">
                <a:solidFill>
                  <a:srgbClr val="262626"/>
                </a:solidFill>
                <a:latin typeface="+mn-ea"/>
              </a:rPr>
              <a:t>可視化</a:t>
            </a:r>
            <a:r>
              <a:rPr lang="en-US" altLang="ja-JP" sz="900" b="0" dirty="0">
                <a:solidFill>
                  <a:srgbClr val="262626"/>
                </a:solidFill>
                <a:latin typeface="+mn-ea"/>
              </a:rPr>
              <a:t>) </a:t>
            </a:r>
            <a:r>
              <a:rPr lang="ja-JP" altLang="en-US" sz="900" b="0" dirty="0">
                <a:solidFill>
                  <a:srgbClr val="262626"/>
                </a:solidFill>
                <a:latin typeface="+mn-ea"/>
              </a:rPr>
              <a:t>が投資対効果の測定基準を作り → </a:t>
            </a:r>
            <a:r>
              <a:rPr lang="en-US" altLang="ja-JP" sz="900" b="0" dirty="0">
                <a:solidFill>
                  <a:srgbClr val="262626"/>
                </a:solidFill>
                <a:latin typeface="+mn-ea"/>
              </a:rPr>
              <a:t>D1</a:t>
            </a:r>
            <a:r>
              <a:rPr lang="ja-JP" altLang="en-US" sz="900" b="0" dirty="0">
                <a:solidFill>
                  <a:srgbClr val="262626"/>
                </a:solidFill>
                <a:latin typeface="+mn-ea"/>
              </a:rPr>
              <a:t> </a:t>
            </a:r>
            <a:r>
              <a:rPr lang="en-US" altLang="ja-JP" sz="900" b="0" dirty="0">
                <a:solidFill>
                  <a:srgbClr val="262626"/>
                </a:solidFill>
                <a:latin typeface="+mn-ea"/>
              </a:rPr>
              <a:t>(</a:t>
            </a:r>
            <a:r>
              <a:rPr lang="ja-JP" altLang="en-US" sz="900" b="0" dirty="0">
                <a:solidFill>
                  <a:srgbClr val="262626"/>
                </a:solidFill>
                <a:latin typeface="+mn-ea"/>
              </a:rPr>
              <a:t>事務ゼロ化</a:t>
            </a:r>
            <a:r>
              <a:rPr lang="en-US" altLang="ja-JP" sz="900" b="0" dirty="0">
                <a:solidFill>
                  <a:srgbClr val="262626"/>
                </a:solidFill>
                <a:latin typeface="+mn-ea"/>
              </a:rPr>
              <a:t>) </a:t>
            </a:r>
            <a:r>
              <a:rPr lang="ja-JP" altLang="en-US" sz="900" b="0" dirty="0">
                <a:solidFill>
                  <a:srgbClr val="262626"/>
                </a:solidFill>
                <a:latin typeface="+mn-ea"/>
              </a:rPr>
              <a:t>が商談の時間を生み → </a:t>
            </a:r>
            <a:r>
              <a:rPr lang="en-US" altLang="ja-JP" sz="900" b="0" dirty="0">
                <a:solidFill>
                  <a:srgbClr val="262626"/>
                </a:solidFill>
                <a:latin typeface="+mn-ea"/>
              </a:rPr>
              <a:t>C1</a:t>
            </a:r>
            <a:r>
              <a:rPr lang="ja-JP" altLang="en-US" sz="900" b="0" dirty="0">
                <a:solidFill>
                  <a:srgbClr val="262626"/>
                </a:solidFill>
                <a:latin typeface="+mn-ea"/>
              </a:rPr>
              <a:t>・</a:t>
            </a:r>
            <a:r>
              <a:rPr lang="en-US" altLang="ja-JP" sz="900" b="0" dirty="0">
                <a:solidFill>
                  <a:srgbClr val="262626"/>
                </a:solidFill>
                <a:latin typeface="+mn-ea"/>
              </a:rPr>
              <a:t>A1</a:t>
            </a:r>
            <a:r>
              <a:rPr lang="ja-JP" altLang="en-US" sz="900" b="0" dirty="0">
                <a:solidFill>
                  <a:srgbClr val="262626"/>
                </a:solidFill>
                <a:latin typeface="+mn-ea"/>
              </a:rPr>
              <a:t>が提案の材料を揃え → 解決</a:t>
            </a:r>
            <a:r>
              <a:rPr lang="en-US" altLang="ja-JP" sz="900" b="0" dirty="0">
                <a:solidFill>
                  <a:srgbClr val="262626"/>
                </a:solidFill>
                <a:latin typeface="+mn-ea"/>
              </a:rPr>
              <a:t>1</a:t>
            </a:r>
            <a:r>
              <a:rPr lang="ja-JP" altLang="en-US" sz="900" b="0" dirty="0">
                <a:solidFill>
                  <a:srgbClr val="262626"/>
                </a:solidFill>
                <a:latin typeface="+mn-ea"/>
              </a:rPr>
              <a:t>の新しい使い方に流し込む。</a:t>
            </a:r>
            <a:r>
              <a:rPr lang="en-US" altLang="ja-JP" sz="900" b="0" dirty="0">
                <a:solidFill>
                  <a:srgbClr val="262626"/>
                </a:solidFill>
                <a:latin typeface="+mn-ea"/>
              </a:rPr>
              <a:t>ROI</a:t>
            </a:r>
            <a:r>
              <a:rPr lang="ja-JP" altLang="en-US" sz="900" b="0" dirty="0">
                <a:solidFill>
                  <a:srgbClr val="262626"/>
                </a:solidFill>
                <a:latin typeface="+mn-ea"/>
              </a:rPr>
              <a:t>計算式に紐づかない施策はやらない</a:t>
            </a:r>
          </a:p>
        </p:txBody>
      </p:sp>
      <p:sp>
        <p:nvSpPr>
          <p:cNvPr id="4" name="正方形/長方形 3">
            <a:extLst>
              <a:ext uri="{FF2B5EF4-FFF2-40B4-BE49-F238E27FC236}">
                <a16:creationId xmlns:a16="http://schemas.microsoft.com/office/drawing/2014/main" id="{39427BA7-4F9D-2CEC-6BE1-B4F33BB41994}"/>
              </a:ext>
            </a:extLst>
          </p:cNvPr>
          <p:cNvSpPr/>
          <p:nvPr/>
        </p:nvSpPr>
        <p:spPr>
          <a:xfrm>
            <a:off x="334961" y="2257549"/>
            <a:ext cx="957389" cy="2746161"/>
          </a:xfrm>
          <a:prstGeom prst="rect">
            <a:avLst/>
          </a:prstGeom>
          <a:solidFill>
            <a:srgbClr val="008D2E">
              <a:alpha val="30196"/>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解決</a:t>
            </a:r>
            <a:endParaRPr lang="en-US" altLang="ja-JP" sz="1400" dirty="0">
              <a:solidFill>
                <a:schemeClr val="tx1"/>
              </a:solidFill>
              <a:latin typeface="+mn-ea"/>
            </a:endParaRPr>
          </a:p>
        </p:txBody>
      </p:sp>
      <p:sp>
        <p:nvSpPr>
          <p:cNvPr id="14" name="正方形/長方形 13">
            <a:extLst>
              <a:ext uri="{FF2B5EF4-FFF2-40B4-BE49-F238E27FC236}">
                <a16:creationId xmlns:a16="http://schemas.microsoft.com/office/drawing/2014/main" id="{307A81E1-AE97-B48A-90EF-DEF1AFD1157F}"/>
              </a:ext>
            </a:extLst>
          </p:cNvPr>
          <p:cNvSpPr/>
          <p:nvPr/>
        </p:nvSpPr>
        <p:spPr>
          <a:xfrm>
            <a:off x="1356268" y="2831805"/>
            <a:ext cx="3455110" cy="217190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28600" lvl="0" indent="-228600">
              <a:buClr>
                <a:schemeClr val="accent5"/>
              </a:buClr>
              <a:buFont typeface="+mj-ea"/>
              <a:buAutoNum type="circleNumDbPlain"/>
              <a:defRPr/>
            </a:pPr>
            <a:r>
              <a:rPr lang="ja-JP" altLang="en-US" sz="1100" dirty="0">
                <a:solidFill>
                  <a:schemeClr val="accent5"/>
                </a:solidFill>
                <a:latin typeface="+mn-ea"/>
              </a:rPr>
              <a:t>市場 : OHCを補充買い (習慣の定番購買)、悩み (症状をセルフケアで解決) 、予防 (健診・啓発が起点)、口腔機能 (機能の維持・回復) に分け市場ごとに勝ち方とKPIを決める（予防市場の打ち手＝A2）※次頁詳細説明</a:t>
            </a:r>
            <a:r>
              <a:rPr lang="en-US" altLang="ja-JP" sz="1100" dirty="0">
                <a:solidFill>
                  <a:prstClr val="black"/>
                </a:solidFill>
                <a:latin typeface="+mn-ea"/>
              </a:rPr>
              <a:t/>
            </a:r>
            <a:r>
              <a:rPr lang="ja-JP" altLang="en-US" sz="1100" dirty="0">
                <a:solidFill>
                  <a:prstClr val="black"/>
                </a:solidFill>
                <a:latin typeface="+mn-ea"/>
              </a:rPr>
              <a:t/>
            </a:r>
            <a:r>
              <a:rPr lang="en-US" altLang="ja-JP" sz="1100" dirty="0">
                <a:solidFill>
                  <a:prstClr val="black"/>
                </a:solidFill>
                <a:latin typeface="+mn-ea"/>
              </a:rPr>
              <a:t/>
            </a:r>
            <a:r>
              <a:rPr lang="ja-JP" altLang="en-US" sz="1100" dirty="0">
                <a:solidFill>
                  <a:prstClr val="black"/>
                </a:solidFill>
                <a:latin typeface="+mn-ea"/>
              </a:rPr>
              <a:t/>
            </a:r>
            <a:r>
              <a:rPr lang="en-US" altLang="ja-JP" sz="1100" dirty="0">
                <a:solidFill>
                  <a:prstClr val="black"/>
                </a:solidFill>
                <a:latin typeface="+mn-ea"/>
              </a:rPr>
              <a:t/>
            </a:r>
            <a:r>
              <a:rPr lang="ja-JP" altLang="en-US" sz="1100" dirty="0">
                <a:solidFill>
                  <a:prstClr val="black"/>
                </a:solidFill>
                <a:latin typeface="+mn-ea"/>
              </a:rPr>
              <a:t/>
            </a:r>
            <a:br>
              <a:rPr lang="en-US" altLang="ja-JP" sz="1100" dirty="0">
                <a:solidFill>
                  <a:prstClr val="black"/>
                </a:solidFill>
                <a:latin typeface="+mn-ea"/>
              </a:rPr>
            </a:br>
            <a:r>
              <a:rPr lang="ja-JP" altLang="en-US" sz="1100" dirty="0">
                <a:solidFill>
                  <a:prstClr val="black"/>
                </a:solidFill>
                <a:latin typeface="+mn-ea"/>
              </a:rPr>
              <a:t/>
            </a:r>
            <a:r>
              <a:rPr lang="en-US" altLang="ja-JP" sz="1100" dirty="0">
                <a:solidFill>
                  <a:prstClr val="black"/>
                </a:solidFill>
                <a:latin typeface="+mn-ea"/>
              </a:rPr>
              <a:t/>
            </a:r>
            <a:r>
              <a:rPr lang="ja-JP" altLang="en-US" sz="1100" dirty="0">
                <a:solidFill>
                  <a:prstClr val="black"/>
                </a:solidFill>
                <a:latin typeface="+mn-ea"/>
              </a:rPr>
              <a:t/>
            </a:r>
            <a:r>
              <a:rPr lang="en-US" altLang="ja-JP" sz="1100" dirty="0">
                <a:solidFill>
                  <a:prstClr val="black"/>
                </a:solidFill>
                <a:latin typeface="+mn-ea"/>
              </a:rPr>
              <a:t/>
            </a:r>
            <a:r>
              <a:rPr lang="ja-JP" altLang="en-US" sz="1100" dirty="0">
                <a:solidFill>
                  <a:prstClr val="black"/>
                </a:solidFill>
                <a:latin typeface="+mn-ea"/>
              </a:rPr>
              <a:t/>
            </a:r>
            <a:r>
              <a:rPr lang="en-US" altLang="ja-JP" sz="1100" dirty="0">
                <a:solidFill>
                  <a:prstClr val="black"/>
                </a:solidFill>
                <a:latin typeface="+mn-ea"/>
              </a:rPr>
              <a:t/>
            </a:r>
            <a:r>
              <a:rPr lang="ja-JP" altLang="en-US" sz="1100" dirty="0">
                <a:solidFill>
                  <a:prstClr val="black"/>
                </a:solidFill>
                <a:latin typeface="+mn-ea"/>
              </a:rPr>
              <a:t/>
            </a:r>
            <a:br>
              <a:rPr lang="en-US" altLang="ja-JP" sz="1100" dirty="0">
                <a:solidFill>
                  <a:prstClr val="black"/>
                </a:solidFill>
                <a:latin typeface="+mn-ea"/>
              </a:rPr>
            </a:br>
            <a:r>
              <a:rPr lang="ja-JP" altLang="en-US" sz="1100" dirty="0">
                <a:solidFill>
                  <a:prstClr val="black"/>
                </a:solidFill>
                <a:latin typeface="+mn-ea"/>
              </a:rPr>
              <a:t/>
            </a:r>
            <a:r>
              <a:rPr lang="en-US" altLang="ja-JP" sz="1100" dirty="0">
                <a:solidFill>
                  <a:prstClr val="black"/>
                </a:solidFill>
                <a:latin typeface="+mn-ea"/>
              </a:rPr>
              <a:t/>
            </a:r>
            <a:r>
              <a:rPr lang="ja-JP" altLang="en-US" sz="1100" dirty="0">
                <a:solidFill>
                  <a:prstClr val="black"/>
                </a:solidFill>
                <a:latin typeface="+mn-ea"/>
              </a:rPr>
              <a:t/>
            </a:r>
            <a:r>
              <a:rPr lang="en-US" altLang="ja-JP" sz="1100" dirty="0">
                <a:solidFill>
                  <a:prstClr val="black"/>
                </a:solidFill>
                <a:latin typeface="+mn-ea"/>
              </a:rPr>
              <a:t/>
            </a:r>
            <a:r>
              <a:rPr lang="ja-JP" altLang="en-US" sz="1100" dirty="0">
                <a:solidFill>
                  <a:prstClr val="black"/>
                </a:solidFill>
                <a:latin typeface="+mn-ea"/>
              </a:rPr>
              <a:t/>
            </a:r>
            <a:r>
              <a:rPr lang="en-US" altLang="ja-JP" sz="1100" dirty="0">
                <a:solidFill>
                  <a:prstClr val="black"/>
                </a:solidFill>
                <a:latin typeface="+mn-ea"/>
              </a:rPr>
              <a:t/>
            </a:r>
            <a:r>
              <a:rPr lang="ja-JP" altLang="en-US" sz="1100" dirty="0">
                <a:solidFill>
                  <a:prstClr val="black"/>
                </a:solidFill>
                <a:latin typeface="+mn-ea"/>
              </a:rPr>
              <a:t/>
            </a:r>
            <a:br>
              <a:rPr lang="en-US" altLang="ja-JP" sz="1100" dirty="0">
                <a:solidFill>
                  <a:prstClr val="black"/>
                </a:solidFill>
                <a:latin typeface="+mn-ea"/>
              </a:rPr>
            </a:br>
            <a:r>
              <a:rPr lang="ja-JP" altLang="en-US" sz="1100" dirty="0">
                <a:solidFill>
                  <a:prstClr val="black"/>
                </a:solidFill>
                <a:latin typeface="+mn-ea"/>
              </a:rPr>
              <a:t/>
            </a:r>
            <a:r>
              <a:rPr lang="en-US" altLang="ja-JP" sz="1100" dirty="0">
                <a:solidFill>
                  <a:prstClr val="black"/>
                </a:solidFill>
                <a:latin typeface="+mn-ea"/>
              </a:rPr>
              <a:t/>
            </a:r>
            <a:r>
              <a:rPr lang="ja-JP" altLang="en-US" sz="1100" dirty="0">
                <a:solidFill>
                  <a:prstClr val="black"/>
                </a:solidFill>
                <a:latin typeface="+mn-ea"/>
              </a:rPr>
              <a:t/>
            </a:r>
            <a:r>
              <a:rPr lang="en-US" altLang="ja-JP" sz="1100" dirty="0">
                <a:solidFill>
                  <a:prstClr val="black"/>
                </a:solidFill>
                <a:latin typeface="+mn-ea"/>
              </a:rPr>
              <a:t/>
            </a:r>
            <a:r>
              <a:rPr lang="ja-JP" altLang="en-US" sz="1100" dirty="0">
                <a:solidFill>
                  <a:prstClr val="black"/>
                </a:solidFill>
                <a:latin typeface="+mn-ea"/>
              </a:rPr>
              <a:t/>
            </a:r>
            <a:endParaRPr lang="en-US" altLang="ja-JP" sz="1100" dirty="0">
              <a:solidFill>
                <a:prstClr val="black"/>
              </a:solidFill>
              <a:latin typeface="+mn-ea"/>
            </a:endParaRPr>
          </a:p>
          <a:p>
            <a:pPr marL="228600" lvl="0" indent="-228600">
              <a:buClr>
                <a:schemeClr val="accent5"/>
              </a:buClr>
              <a:buFont typeface="+mj-ea"/>
              <a:buAutoNum type="circleNumDbPlain"/>
              <a:defRPr/>
            </a:pPr>
            <a:r>
              <a:rPr lang="ja-JP" altLang="en-US" sz="1100" dirty="0">
                <a:solidFill>
                  <a:schemeClr val="accent5"/>
                </a:solidFill>
                <a:latin typeface="+mn-ea"/>
              </a:rPr>
              <a:t>接点 </a:t>
            </a:r>
            <a:r>
              <a:rPr lang="en-US" altLang="ja-JP" sz="1100" dirty="0">
                <a:solidFill>
                  <a:prstClr val="black"/>
                </a:solidFill>
                <a:latin typeface="+mn-ea"/>
              </a:rPr>
              <a:t>: </a:t>
            </a:r>
            <a:r>
              <a:rPr lang="ja-JP" altLang="en-US" sz="1100" dirty="0">
                <a:solidFill>
                  <a:prstClr val="black"/>
                </a:solidFill>
                <a:latin typeface="+mn-ea"/>
              </a:rPr>
              <a:t>特売・チラシ中心の販促メニューを、エビデンス商談・診断型売場・</a:t>
            </a:r>
            <a:r>
              <a:rPr lang="en-US" altLang="ja-JP" sz="1100" dirty="0">
                <a:solidFill>
                  <a:prstClr val="black"/>
                </a:solidFill>
                <a:latin typeface="+mn-ea"/>
              </a:rPr>
              <a:t>AI</a:t>
            </a:r>
            <a:r>
              <a:rPr lang="ja-JP" altLang="en-US" sz="1100" dirty="0">
                <a:solidFill>
                  <a:prstClr val="black"/>
                </a:solidFill>
                <a:latin typeface="+mn-ea"/>
              </a:rPr>
              <a:t>推奨対応に入れ替える</a:t>
            </a:r>
            <a:endParaRPr lang="en-US" altLang="ja-JP" sz="1100" dirty="0">
              <a:solidFill>
                <a:prstClr val="black"/>
              </a:solidFill>
              <a:latin typeface="+mn-ea"/>
            </a:endParaRPr>
          </a:p>
          <a:p>
            <a:pPr marL="228600" lvl="0" indent="-228600">
              <a:buClr>
                <a:schemeClr val="accent5"/>
              </a:buClr>
              <a:buFont typeface="+mj-ea"/>
              <a:buAutoNum type="circleNumDbPlain"/>
              <a:defRPr/>
            </a:pPr>
            <a:r>
              <a:rPr lang="ja-JP" altLang="en-US" sz="1100" dirty="0">
                <a:solidFill>
                  <a:prstClr val="black"/>
                </a:solidFill>
                <a:latin typeface="+mn-ea"/>
              </a:rPr>
              <a:t>商談の標準形を同じ販促原資のうち</a:t>
            </a:r>
            <a:r>
              <a:rPr lang="en-US" altLang="ja-JP" sz="1100" dirty="0">
                <a:solidFill>
                  <a:prstClr val="black"/>
                </a:solidFill>
                <a:latin typeface="+mn-ea"/>
              </a:rPr>
              <a:t>9</a:t>
            </a:r>
            <a:r>
              <a:rPr lang="ja-JP" altLang="en-US" sz="1100" dirty="0">
                <a:solidFill>
                  <a:prstClr val="black"/>
                </a:solidFill>
                <a:latin typeface="+mn-ea"/>
              </a:rPr>
              <a:t>割は従来通りの値引き、</a:t>
            </a:r>
            <a:r>
              <a:rPr lang="en-US" altLang="ja-JP" sz="1100" dirty="0">
                <a:solidFill>
                  <a:prstClr val="black"/>
                </a:solidFill>
                <a:latin typeface="+mn-ea"/>
              </a:rPr>
              <a:t>1</a:t>
            </a:r>
            <a:r>
              <a:rPr lang="ja-JP" altLang="en-US" sz="1100" dirty="0">
                <a:solidFill>
                  <a:prstClr val="black"/>
                </a:solidFill>
                <a:latin typeface="+mn-ea"/>
              </a:rPr>
              <a:t>割を売場・メディア等の施策に振替え、効果は小売データで共同検証。目標達成なら小売へ還元し翌期は施策比率を拡大、未達なら値引きに戻す</a:t>
            </a:r>
          </a:p>
          <a:p>
            <a:pPr marL="171450" lvl="0" indent="-171450">
              <a:buClr>
                <a:schemeClr val="accent5"/>
              </a:buClr>
              <a:buFont typeface="Yu Gothic UI" panose="020B0500000000000000" pitchFamily="50" charset="-128"/>
              <a:buChar char="▶"/>
              <a:defRPr/>
            </a:pPr>
            <a:r>
              <a:rPr lang="ja-JP" altLang="en-US" sz="1100" dirty="0">
                <a:solidFill>
                  <a:schemeClr val="accent5"/>
                </a:solidFill>
                <a:latin typeface="+mn-ea"/>
              </a:rPr>
              <a:t>同じ予算のまま、値引きに消えていたお金が検証可能</a:t>
            </a:r>
            <a:br>
              <a:rPr lang="en-US" altLang="ja-JP" sz="1100" dirty="0">
                <a:solidFill>
                  <a:schemeClr val="accent5"/>
                </a:solidFill>
                <a:latin typeface="+mn-ea"/>
              </a:rPr>
            </a:br>
            <a:r>
              <a:rPr lang="ja-JP" altLang="en-US" sz="1100" dirty="0">
                <a:solidFill>
                  <a:schemeClr val="accent5"/>
                </a:solidFill>
                <a:latin typeface="+mn-ea"/>
              </a:rPr>
              <a:t>な施策に回る</a:t>
            </a:r>
          </a:p>
        </p:txBody>
      </p:sp>
      <p:sp>
        <p:nvSpPr>
          <p:cNvPr id="16" name="正方形/長方形 15">
            <a:extLst>
              <a:ext uri="{FF2B5EF4-FFF2-40B4-BE49-F238E27FC236}">
                <a16:creationId xmlns:a16="http://schemas.microsoft.com/office/drawing/2014/main" id="{8BB981D5-A290-C8DB-BD7E-005C52F65EF8}"/>
              </a:ext>
            </a:extLst>
          </p:cNvPr>
          <p:cNvSpPr/>
          <p:nvPr/>
        </p:nvSpPr>
        <p:spPr>
          <a:xfrm>
            <a:off x="4875298" y="2831805"/>
            <a:ext cx="3455110" cy="217190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228600" lvl="0" indent="-228600">
              <a:spcAft>
                <a:spcPts val="300"/>
              </a:spcAft>
              <a:buClr>
                <a:schemeClr val="accent5"/>
              </a:buClr>
              <a:buFont typeface="+mj-ea"/>
              <a:buAutoNum type="circleNumDbPlain"/>
              <a:defRPr/>
            </a:pPr>
            <a:r>
              <a:rPr lang="ja-JP" altLang="en-US" sz="1100" dirty="0">
                <a:solidFill>
                  <a:schemeClr val="tx1"/>
                </a:solidFill>
                <a:latin typeface="+mn-ea"/>
              </a:rPr>
              <a:t>臨床データ</a:t>
            </a:r>
            <a:br>
              <a:rPr lang="en-US" altLang="ja-JP" sz="1100" dirty="0">
                <a:solidFill>
                  <a:schemeClr val="tx1"/>
                </a:solidFill>
                <a:latin typeface="+mn-ea"/>
              </a:rPr>
            </a:br>
            <a:r>
              <a:rPr lang="ja-JP" altLang="en-US" sz="1100" dirty="0">
                <a:solidFill>
                  <a:schemeClr val="tx1"/>
                </a:solidFill>
                <a:latin typeface="+mn-ea"/>
              </a:rPr>
              <a:t>→「この提案で棚の利益が何</a:t>
            </a:r>
            <a:r>
              <a:rPr lang="en-US" altLang="ja-JP" sz="1100" dirty="0">
                <a:solidFill>
                  <a:schemeClr val="tx1"/>
                </a:solidFill>
                <a:latin typeface="+mn-ea"/>
              </a:rPr>
              <a:t>%</a:t>
            </a:r>
            <a:r>
              <a:rPr lang="ja-JP" altLang="en-US" sz="1100" dirty="0">
                <a:solidFill>
                  <a:schemeClr val="tx1"/>
                </a:solidFill>
                <a:latin typeface="+mn-ea"/>
              </a:rPr>
              <a:t>上がるか」の</a:t>
            </a:r>
            <a:br>
              <a:rPr lang="en-US" altLang="ja-JP" sz="1100" dirty="0">
                <a:solidFill>
                  <a:schemeClr val="tx1"/>
                </a:solidFill>
                <a:latin typeface="+mn-ea"/>
              </a:rPr>
            </a:br>
            <a:r>
              <a:rPr lang="ja-JP" altLang="en-US" sz="1100" dirty="0">
                <a:solidFill>
                  <a:schemeClr val="tx1"/>
                </a:solidFill>
                <a:latin typeface="+mn-ea"/>
              </a:rPr>
              <a:t>バイヤー向け数値に自動変換 </a:t>
            </a:r>
            <a:r>
              <a:rPr lang="en-US" altLang="ja-JP" sz="1100" dirty="0">
                <a:solidFill>
                  <a:schemeClr val="tx1"/>
                </a:solidFill>
                <a:latin typeface="+mn-ea"/>
              </a:rPr>
              <a:t>(C1) </a:t>
            </a:r>
            <a:endParaRPr lang="ja-JP" altLang="en-US" sz="1100" dirty="0">
              <a:solidFill>
                <a:schemeClr val="tx1"/>
              </a:solidFill>
              <a:latin typeface="+mn-ea"/>
            </a:endParaRPr>
          </a:p>
          <a:p>
            <a:pPr marL="228600" lvl="0" indent="-228600">
              <a:spcAft>
                <a:spcPts val="300"/>
              </a:spcAft>
              <a:buClr>
                <a:schemeClr val="accent5"/>
              </a:buClr>
              <a:buFont typeface="+mj-ea"/>
              <a:buAutoNum type="circleNumDbPlain"/>
              <a:defRPr/>
            </a:pPr>
            <a:r>
              <a:rPr lang="ja-JP" altLang="en-US" sz="1100" dirty="0">
                <a:solidFill>
                  <a:schemeClr val="tx1"/>
                </a:solidFill>
                <a:latin typeface="+mn-ea"/>
              </a:rPr>
              <a:t>製品属性データ</a:t>
            </a:r>
            <a:br>
              <a:rPr lang="en-US" altLang="ja-JP" sz="1100" dirty="0">
                <a:solidFill>
                  <a:schemeClr val="tx1"/>
                </a:solidFill>
                <a:latin typeface="+mn-ea"/>
              </a:rPr>
            </a:br>
            <a:r>
              <a:rPr lang="ja-JP" altLang="en-US" sz="1100" dirty="0">
                <a:solidFill>
                  <a:schemeClr val="tx1"/>
                </a:solidFill>
                <a:latin typeface="+mn-ea"/>
              </a:rPr>
              <a:t>→</a:t>
            </a:r>
            <a:r>
              <a:rPr lang="en-US" altLang="ja-JP" sz="1100" dirty="0">
                <a:solidFill>
                  <a:schemeClr val="tx1"/>
                </a:solidFill>
                <a:latin typeface="+mn-ea"/>
              </a:rPr>
              <a:t>AI</a:t>
            </a:r>
            <a:r>
              <a:rPr lang="ja-JP" altLang="en-US" sz="1100" dirty="0">
                <a:solidFill>
                  <a:schemeClr val="tx1"/>
                </a:solidFill>
                <a:latin typeface="+mn-ea"/>
              </a:rPr>
              <a:t>自動補充が読める形式で</a:t>
            </a:r>
            <a:r>
              <a:rPr lang="en-US" altLang="ja-JP" sz="1100" dirty="0">
                <a:solidFill>
                  <a:schemeClr val="tx1"/>
                </a:solidFill>
                <a:latin typeface="+mn-ea"/>
              </a:rPr>
              <a:t>API</a:t>
            </a:r>
            <a:r>
              <a:rPr lang="ja-JP" altLang="en-US" sz="1100" dirty="0">
                <a:solidFill>
                  <a:schemeClr val="tx1"/>
                </a:solidFill>
                <a:latin typeface="+mn-ea"/>
              </a:rPr>
              <a:t>公開し、</a:t>
            </a:r>
            <a:br>
              <a:rPr lang="en-US" altLang="ja-JP" sz="1100" dirty="0">
                <a:solidFill>
                  <a:schemeClr val="tx1"/>
                </a:solidFill>
                <a:latin typeface="+mn-ea"/>
              </a:rPr>
            </a:br>
            <a:r>
              <a:rPr lang="en-US" altLang="ja-JP" sz="1100" dirty="0">
                <a:solidFill>
                  <a:schemeClr val="tx1"/>
                </a:solidFill>
                <a:latin typeface="+mn-ea"/>
              </a:rPr>
              <a:t>AI</a:t>
            </a:r>
            <a:r>
              <a:rPr lang="ja-JP" altLang="en-US" sz="1100" dirty="0">
                <a:solidFill>
                  <a:schemeClr val="tx1"/>
                </a:solidFill>
                <a:latin typeface="+mn-ea"/>
              </a:rPr>
              <a:t>推奨リストに載せる </a:t>
            </a:r>
            <a:r>
              <a:rPr lang="en-US" altLang="ja-JP" sz="1100" dirty="0">
                <a:solidFill>
                  <a:schemeClr val="tx1"/>
                </a:solidFill>
                <a:latin typeface="+mn-ea"/>
              </a:rPr>
              <a:t>(A1) </a:t>
            </a:r>
            <a:endParaRPr lang="ja-JP" altLang="en-US" sz="1100" dirty="0">
              <a:solidFill>
                <a:schemeClr val="tx1"/>
              </a:solidFill>
              <a:latin typeface="+mn-ea"/>
            </a:endParaRPr>
          </a:p>
          <a:p>
            <a:pPr marL="171450" lvl="0" indent="-171450">
              <a:spcAft>
                <a:spcPts val="300"/>
              </a:spcAft>
              <a:buClr>
                <a:schemeClr val="accent5"/>
              </a:buClr>
              <a:buFont typeface="Yu Gothic UI" panose="020B0500000000000000" pitchFamily="50" charset="-128"/>
              <a:buChar char="▶"/>
              <a:defRPr/>
            </a:pPr>
            <a:r>
              <a:rPr lang="ja-JP" altLang="en-US" sz="1100" dirty="0">
                <a:solidFill>
                  <a:schemeClr val="accent5"/>
                </a:solidFill>
                <a:latin typeface="+mn-ea"/>
              </a:rPr>
              <a:t>営業が値引き以外の提案を持って商談に</a:t>
            </a:r>
            <a:br>
              <a:rPr lang="en-US" altLang="ja-JP" sz="1100" dirty="0">
                <a:solidFill>
                  <a:schemeClr val="accent5"/>
                </a:solidFill>
                <a:latin typeface="+mn-ea"/>
              </a:rPr>
            </a:br>
            <a:r>
              <a:rPr lang="ja-JP" altLang="en-US" sz="1100" dirty="0">
                <a:solidFill>
                  <a:schemeClr val="accent5"/>
                </a:solidFill>
                <a:latin typeface="+mn-ea"/>
              </a:rPr>
              <a:t>行ける </a:t>
            </a:r>
            <a:r>
              <a:rPr lang="en-US" altLang="ja-JP" sz="1100" dirty="0">
                <a:solidFill>
                  <a:schemeClr val="accent5"/>
                </a:solidFill>
                <a:latin typeface="+mn-ea"/>
              </a:rPr>
              <a:t>(</a:t>
            </a:r>
            <a:r>
              <a:rPr lang="ja-JP" altLang="en-US" sz="1100" dirty="0">
                <a:solidFill>
                  <a:schemeClr val="accent5"/>
                </a:solidFill>
                <a:latin typeface="+mn-ea"/>
              </a:rPr>
              <a:t>完了条件は「作った」でなく「商談で使われた」</a:t>
            </a:r>
            <a:r>
              <a:rPr lang="en-US" altLang="ja-JP" sz="1100" dirty="0">
                <a:solidFill>
                  <a:schemeClr val="accent5"/>
                </a:solidFill>
                <a:latin typeface="+mn-ea"/>
              </a:rPr>
              <a:t>) </a:t>
            </a:r>
            <a:endParaRPr lang="ja-JP" altLang="en-US" sz="1100" dirty="0">
              <a:solidFill>
                <a:schemeClr val="accent5"/>
              </a:solidFill>
              <a:latin typeface="+mn-ea"/>
            </a:endParaRPr>
          </a:p>
        </p:txBody>
      </p:sp>
      <p:sp>
        <p:nvSpPr>
          <p:cNvPr id="18" name="正方形/長方形 17">
            <a:extLst>
              <a:ext uri="{FF2B5EF4-FFF2-40B4-BE49-F238E27FC236}">
                <a16:creationId xmlns:a16="http://schemas.microsoft.com/office/drawing/2014/main" id="{DBA2B06F-7F0D-60C3-9928-A2264FF8CCD3}"/>
              </a:ext>
            </a:extLst>
          </p:cNvPr>
          <p:cNvSpPr/>
          <p:nvPr/>
        </p:nvSpPr>
        <p:spPr>
          <a:xfrm>
            <a:off x="8394327" y="2831805"/>
            <a:ext cx="3455109" cy="217190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228600" lvl="0" indent="-228600">
              <a:spcAft>
                <a:spcPts val="300"/>
              </a:spcAft>
              <a:buClr>
                <a:schemeClr val="accent5"/>
              </a:buClr>
              <a:buFont typeface="+mj-ea"/>
              <a:buAutoNum type="circleNumDbPlain"/>
              <a:defRPr/>
            </a:pPr>
            <a:r>
              <a:rPr lang="ja-JP" altLang="en-US" sz="1100" dirty="0">
                <a:solidFill>
                  <a:schemeClr val="tx1"/>
                </a:solidFill>
                <a:latin typeface="+mn-ea"/>
              </a:rPr>
              <a:t>投資と店頭売上の因果を測る効果測定の仕組みを先に作る </a:t>
            </a:r>
            <a:r>
              <a:rPr lang="en-US" altLang="ja-JP" sz="1100" dirty="0">
                <a:solidFill>
                  <a:schemeClr val="tx1"/>
                </a:solidFill>
                <a:latin typeface="+mn-ea"/>
              </a:rPr>
              <a:t>(B1 MMM×DCR) </a:t>
            </a:r>
            <a:endParaRPr lang="ja-JP" altLang="en-US" sz="1100" dirty="0">
              <a:solidFill>
                <a:schemeClr val="tx1"/>
              </a:solidFill>
              <a:latin typeface="+mn-ea"/>
            </a:endParaRPr>
          </a:p>
          <a:p>
            <a:pPr marL="228600" lvl="0" indent="-228600">
              <a:spcAft>
                <a:spcPts val="300"/>
              </a:spcAft>
              <a:buClr>
                <a:schemeClr val="accent5"/>
              </a:buClr>
              <a:buFont typeface="+mj-ea"/>
              <a:buAutoNum type="circleNumDbPlain"/>
              <a:defRPr/>
            </a:pPr>
            <a:r>
              <a:rPr lang="ja-JP" altLang="en-US" sz="1100" dirty="0">
                <a:solidFill>
                  <a:schemeClr val="tx1"/>
                </a:solidFill>
                <a:latin typeface="+mn-ea"/>
              </a:rPr>
              <a:t>実験にあてる時間は事務作業の自動化で捻出する </a:t>
            </a:r>
            <a:r>
              <a:rPr lang="en-US" altLang="ja-JP" sz="1100" dirty="0">
                <a:solidFill>
                  <a:schemeClr val="tx1"/>
                </a:solidFill>
                <a:latin typeface="+mn-ea"/>
              </a:rPr>
              <a:t>(D1) </a:t>
            </a:r>
            <a:endParaRPr lang="ja-JP" altLang="en-US" sz="1100" dirty="0">
              <a:solidFill>
                <a:schemeClr val="tx1"/>
              </a:solidFill>
              <a:latin typeface="+mn-ea"/>
            </a:endParaRPr>
          </a:p>
          <a:p>
            <a:pPr marL="228600" lvl="0" indent="-228600">
              <a:spcAft>
                <a:spcPts val="300"/>
              </a:spcAft>
              <a:buClr>
                <a:schemeClr val="accent5"/>
              </a:buClr>
              <a:buFont typeface="+mj-ea"/>
              <a:buAutoNum type="circleNumDbPlain"/>
              <a:defRPr/>
            </a:pPr>
            <a:r>
              <a:rPr lang="ja-JP" altLang="en-US" sz="1100" dirty="0">
                <a:solidFill>
                  <a:schemeClr val="tx1"/>
                </a:solidFill>
                <a:latin typeface="+mn-ea"/>
              </a:rPr>
              <a:t>成功は手順書にして隣の小売・カテゴリへ広げ、失敗は撤退基準で止める </a:t>
            </a:r>
            <a:r>
              <a:rPr lang="en-US" altLang="ja-JP" sz="1100" dirty="0">
                <a:solidFill>
                  <a:schemeClr val="tx1"/>
                </a:solidFill>
                <a:latin typeface="+mn-ea"/>
              </a:rPr>
              <a:t>(D2</a:t>
            </a:r>
            <a:r>
              <a:rPr lang="ja-JP" altLang="en-US" sz="1100" dirty="0">
                <a:solidFill>
                  <a:schemeClr val="tx1"/>
                </a:solidFill>
                <a:latin typeface="+mn-ea"/>
              </a:rPr>
              <a:t>の組織対組織体制で</a:t>
            </a:r>
            <a:br>
              <a:rPr lang="en-US" altLang="ja-JP" sz="1100" dirty="0">
                <a:solidFill>
                  <a:schemeClr val="tx1"/>
                </a:solidFill>
                <a:latin typeface="+mn-ea"/>
              </a:rPr>
            </a:br>
            <a:r>
              <a:rPr lang="ja-JP" altLang="en-US" sz="1100" dirty="0">
                <a:solidFill>
                  <a:schemeClr val="tx1"/>
                </a:solidFill>
                <a:latin typeface="+mn-ea"/>
              </a:rPr>
              <a:t>拡大</a:t>
            </a:r>
            <a:r>
              <a:rPr lang="en-US" altLang="ja-JP" sz="1100" dirty="0">
                <a:solidFill>
                  <a:schemeClr val="tx1"/>
                </a:solidFill>
                <a:latin typeface="+mn-ea"/>
              </a:rPr>
              <a:t>) </a:t>
            </a:r>
            <a:endParaRPr lang="ja-JP" altLang="en-US" sz="1100" dirty="0">
              <a:solidFill>
                <a:schemeClr val="tx1"/>
              </a:solidFill>
              <a:latin typeface="+mn-ea"/>
            </a:endParaRPr>
          </a:p>
          <a:p>
            <a:pPr marL="171450" lvl="0" indent="-171450">
              <a:spcAft>
                <a:spcPts val="300"/>
              </a:spcAft>
              <a:buClr>
                <a:schemeClr val="accent5"/>
              </a:buClr>
              <a:buFont typeface="Yu Gothic UI" panose="020B0500000000000000" pitchFamily="50" charset="-128"/>
              <a:buChar char="▶"/>
              <a:defRPr/>
            </a:pPr>
            <a:r>
              <a:rPr lang="ja-JP" altLang="en-US" sz="1100" dirty="0">
                <a:solidFill>
                  <a:schemeClr val="accent5"/>
                </a:solidFill>
                <a:latin typeface="+mn-ea"/>
              </a:rPr>
              <a:t>一発勝負の大型投資がなくなり、検証済みの施策</a:t>
            </a:r>
            <a:br>
              <a:rPr lang="en-US" altLang="ja-JP" sz="1100" dirty="0">
                <a:solidFill>
                  <a:schemeClr val="accent5"/>
                </a:solidFill>
                <a:latin typeface="+mn-ea"/>
              </a:rPr>
            </a:br>
            <a:r>
              <a:rPr lang="ja-JP" altLang="en-US" sz="1100" dirty="0">
                <a:solidFill>
                  <a:schemeClr val="accent5"/>
                </a:solidFill>
                <a:latin typeface="+mn-ea"/>
              </a:rPr>
              <a:t>だけが広がる</a:t>
            </a:r>
          </a:p>
        </p:txBody>
      </p:sp>
      <p:grpSp>
        <p:nvGrpSpPr>
          <p:cNvPr id="6" name="グループ化 5">
            <a:extLst>
              <a:ext uri="{FF2B5EF4-FFF2-40B4-BE49-F238E27FC236}">
                <a16:creationId xmlns:a16="http://schemas.microsoft.com/office/drawing/2014/main" id="{8AB971F4-0906-9188-0583-783BA3BC3E13}"/>
              </a:ext>
            </a:extLst>
          </p:cNvPr>
          <p:cNvGrpSpPr/>
          <p:nvPr/>
        </p:nvGrpSpPr>
        <p:grpSpPr>
          <a:xfrm>
            <a:off x="334963" y="5123379"/>
            <a:ext cx="11514474" cy="933032"/>
            <a:chOff x="334963" y="5123379"/>
            <a:chExt cx="11514474" cy="1194062"/>
          </a:xfrm>
        </p:grpSpPr>
        <p:sp>
          <p:nvSpPr>
            <p:cNvPr id="12" name="正方形/長方形 11">
              <a:extLst>
                <a:ext uri="{FF2B5EF4-FFF2-40B4-BE49-F238E27FC236}">
                  <a16:creationId xmlns:a16="http://schemas.microsoft.com/office/drawing/2014/main" id="{CF05A527-ACEA-B528-50A5-3A57C9E56015}"/>
                </a:ext>
              </a:extLst>
            </p:cNvPr>
            <p:cNvSpPr/>
            <p:nvPr/>
          </p:nvSpPr>
          <p:spPr>
            <a:xfrm>
              <a:off x="334963" y="5123379"/>
              <a:ext cx="957389" cy="1194061"/>
            </a:xfrm>
            <a:prstGeom prst="rect">
              <a:avLst/>
            </a:prstGeom>
            <a:solidFill>
              <a:srgbClr val="008D2E">
                <a:alpha val="30196"/>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n-ea"/>
                </a:rPr>
                <a:t>対応する</a:t>
              </a:r>
              <a:br>
                <a:rPr lang="en-US" altLang="ja-JP" sz="1400" dirty="0">
                  <a:solidFill>
                    <a:schemeClr val="tx1"/>
                  </a:solidFill>
                  <a:latin typeface="+mn-ea"/>
                </a:rPr>
              </a:br>
              <a:r>
                <a:rPr lang="ja-JP" altLang="en-US" sz="1400" dirty="0">
                  <a:solidFill>
                    <a:schemeClr val="tx1"/>
                  </a:solidFill>
                  <a:latin typeface="+mn-ea"/>
                </a:rPr>
                <a:t>重点施策</a:t>
              </a:r>
            </a:p>
          </p:txBody>
        </p:sp>
        <p:sp>
          <p:nvSpPr>
            <p:cNvPr id="20" name="正方形/長方形 19">
              <a:extLst>
                <a:ext uri="{FF2B5EF4-FFF2-40B4-BE49-F238E27FC236}">
                  <a16:creationId xmlns:a16="http://schemas.microsoft.com/office/drawing/2014/main" id="{24DC8D24-5AE4-48B6-5A0F-75A2A9081490}"/>
                </a:ext>
              </a:extLst>
            </p:cNvPr>
            <p:cNvSpPr/>
            <p:nvPr/>
          </p:nvSpPr>
          <p:spPr>
            <a:xfrm>
              <a:off x="1356268" y="5123379"/>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C2</a:t>
              </a:r>
            </a:p>
          </p:txBody>
        </p:sp>
        <p:sp>
          <p:nvSpPr>
            <p:cNvPr id="21" name="正方形/長方形 20">
              <a:extLst>
                <a:ext uri="{FF2B5EF4-FFF2-40B4-BE49-F238E27FC236}">
                  <a16:creationId xmlns:a16="http://schemas.microsoft.com/office/drawing/2014/main" id="{29DA884F-C9ED-FE98-4A6E-952F809FACED}"/>
                </a:ext>
              </a:extLst>
            </p:cNvPr>
            <p:cNvSpPr/>
            <p:nvPr/>
          </p:nvSpPr>
          <p:spPr>
            <a:xfrm>
              <a:off x="1356268" y="5538332"/>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B2</a:t>
              </a:r>
            </a:p>
          </p:txBody>
        </p:sp>
        <p:sp>
          <p:nvSpPr>
            <p:cNvPr id="23" name="正方形/長方形 22">
              <a:extLst>
                <a:ext uri="{FF2B5EF4-FFF2-40B4-BE49-F238E27FC236}">
                  <a16:creationId xmlns:a16="http://schemas.microsoft.com/office/drawing/2014/main" id="{1F66CF32-0552-89F3-2558-D892A77D057E}"/>
                </a:ext>
              </a:extLst>
            </p:cNvPr>
            <p:cNvSpPr/>
            <p:nvPr/>
          </p:nvSpPr>
          <p:spPr>
            <a:xfrm>
              <a:off x="1961617" y="5123379"/>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accent5"/>
                  </a:solidFill>
                  <a:latin typeface="+mn-ea"/>
                </a:rPr>
                <a:t>成功した商談を型にして、誰でも再現できるようにする</a:t>
              </a:r>
              <a:br>
                <a:rPr lang="en-US" altLang="ja-JP" sz="1000" dirty="0">
                  <a:solidFill>
                    <a:schemeClr val="accent5"/>
                  </a:solidFill>
                  <a:latin typeface="+mn-ea"/>
                </a:rPr>
              </a:br>
              <a:r>
                <a:rPr lang="ja-JP" altLang="en-US" sz="1000" dirty="0">
                  <a:solidFill>
                    <a:schemeClr val="tx1"/>
                  </a:solidFill>
                  <a:latin typeface="+mn-ea"/>
                </a:rPr>
                <a:t>＝ロジック提案の標準化</a:t>
              </a:r>
            </a:p>
          </p:txBody>
        </p:sp>
        <p:sp>
          <p:nvSpPr>
            <p:cNvPr id="25" name="正方形/長方形 24">
              <a:extLst>
                <a:ext uri="{FF2B5EF4-FFF2-40B4-BE49-F238E27FC236}">
                  <a16:creationId xmlns:a16="http://schemas.microsoft.com/office/drawing/2014/main" id="{AA456AEA-2689-BD33-FB36-FD0001A53033}"/>
                </a:ext>
              </a:extLst>
            </p:cNvPr>
            <p:cNvSpPr/>
            <p:nvPr/>
          </p:nvSpPr>
          <p:spPr>
            <a:xfrm>
              <a:off x="1961617" y="5538332"/>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accent5"/>
                  </a:solidFill>
                  <a:latin typeface="+mn-ea"/>
                </a:rPr>
                <a:t>小売アプリ・サイト広告の運用を内製化</a:t>
              </a:r>
              <a:br>
                <a:rPr lang="en-US" altLang="ja-JP" sz="1000" dirty="0">
                  <a:solidFill>
                    <a:schemeClr val="accent5"/>
                  </a:solidFill>
                  <a:latin typeface="+mn-ea"/>
                </a:rPr>
              </a:br>
              <a:r>
                <a:rPr lang="ja-JP" altLang="en-US" sz="1000" dirty="0">
                  <a:solidFill>
                    <a:schemeClr val="tx1"/>
                  </a:solidFill>
                  <a:latin typeface="+mn-ea"/>
                </a:rPr>
                <a:t>＝リテールメディア投資の内製化</a:t>
              </a:r>
            </a:p>
          </p:txBody>
        </p:sp>
        <p:sp>
          <p:nvSpPr>
            <p:cNvPr id="27" name="正方形/長方形 26">
              <a:extLst>
                <a:ext uri="{FF2B5EF4-FFF2-40B4-BE49-F238E27FC236}">
                  <a16:creationId xmlns:a16="http://schemas.microsoft.com/office/drawing/2014/main" id="{FC9BD726-DF08-491F-B455-BF9DDCD124A3}"/>
                </a:ext>
              </a:extLst>
            </p:cNvPr>
            <p:cNvSpPr/>
            <p:nvPr/>
          </p:nvSpPr>
          <p:spPr>
            <a:xfrm>
              <a:off x="4875298" y="5123379"/>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C1★</a:t>
              </a:r>
            </a:p>
          </p:txBody>
        </p:sp>
        <p:sp>
          <p:nvSpPr>
            <p:cNvPr id="85" name="正方形/長方形 26">
              <a:extLst>
                <a:ext uri="{FF2B5EF4-FFF2-40B4-BE49-F238E27FC236}">
                  <a16:creationId xmlns:a16="http://schemas.microsoft.com/office/drawing/2014/main" id="{FC9BD726-DF08-491F-B455-BF9DDCD124A3}"/>
                </a:ext>
              </a:extLst>
            </p:cNvPr>
            <p:cNvSpPr/>
            <p:nvPr/>
          </p:nvSpPr>
          <p:spPr>
            <a:xfrm>
              <a:off x="4875298" y="5538333"/>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A1★</a:t>
              </a:r>
            </a:p>
          </p:txBody>
        </p:sp>
        <p:sp>
          <p:nvSpPr>
            <p:cNvPr id="86" name="正方形/長方形 26">
              <a:extLst>
                <a:ext uri="{FF2B5EF4-FFF2-40B4-BE49-F238E27FC236}">
                  <a16:creationId xmlns:a16="http://schemas.microsoft.com/office/drawing/2014/main" id="{FC9BD726-DF08-491F-B455-BF9DDCD124A3}"/>
                </a:ext>
              </a:extLst>
            </p:cNvPr>
            <p:cNvSpPr/>
            <p:nvPr/>
          </p:nvSpPr>
          <p:spPr>
            <a:xfrm>
              <a:off x="1356268" y="5953287"/>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A2</a:t>
              </a:r>
            </a:p>
          </p:txBody>
        </p:sp>
        <p:sp>
          <p:nvSpPr>
            <p:cNvPr id="17" name="正方形/長方形 16">
              <a:extLst>
                <a:ext uri="{FF2B5EF4-FFF2-40B4-BE49-F238E27FC236}">
                  <a16:creationId xmlns:a16="http://schemas.microsoft.com/office/drawing/2014/main" id="{1FE7D058-9892-16E2-54FF-851DA35B4572}"/>
                </a:ext>
              </a:extLst>
            </p:cNvPr>
            <p:cNvSpPr/>
            <p:nvPr/>
          </p:nvSpPr>
          <p:spPr>
            <a:xfrm>
              <a:off x="5480647" y="5123379"/>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accent5"/>
                  </a:solidFill>
                  <a:latin typeface="+mn-ea"/>
                </a:rPr>
                <a:t>研究・臨床データを、商談で使える数字に自動変換</a:t>
              </a:r>
              <a:br>
                <a:rPr lang="en-US" altLang="ja-JP" sz="1000" dirty="0">
                  <a:solidFill>
                    <a:schemeClr val="accent5"/>
                  </a:solidFill>
                  <a:latin typeface="+mn-ea"/>
                </a:rPr>
              </a:br>
              <a:r>
                <a:rPr lang="ja-JP" altLang="en-US" sz="1000" dirty="0">
                  <a:solidFill>
                    <a:schemeClr val="accent5"/>
                  </a:solidFill>
                  <a:latin typeface="+mn-ea"/>
                </a:rPr>
                <a:t>する</a:t>
              </a:r>
              <a:r>
                <a:rPr lang="ja-JP" altLang="en-US" sz="1000" dirty="0">
                  <a:solidFill>
                    <a:schemeClr val="tx1"/>
                  </a:solidFill>
                  <a:latin typeface="+mn-ea"/>
                </a:rPr>
                <a:t>＝臨床データの</a:t>
              </a:r>
              <a:r>
                <a:rPr lang="en-US" altLang="ja-JP" sz="1000" dirty="0">
                  <a:solidFill>
                    <a:schemeClr val="tx1"/>
                  </a:solidFill>
                  <a:latin typeface="+mn-ea"/>
                </a:rPr>
                <a:t>LTV</a:t>
              </a:r>
              <a:r>
                <a:rPr lang="ja-JP" altLang="en-US" sz="1000" dirty="0">
                  <a:solidFill>
                    <a:schemeClr val="tx1"/>
                  </a:solidFill>
                  <a:latin typeface="+mn-ea"/>
                </a:rPr>
                <a:t>・炭素効率変換</a:t>
              </a:r>
            </a:p>
          </p:txBody>
        </p:sp>
        <p:sp>
          <p:nvSpPr>
            <p:cNvPr id="22" name="正方形/長方形 21">
              <a:extLst>
                <a:ext uri="{FF2B5EF4-FFF2-40B4-BE49-F238E27FC236}">
                  <a16:creationId xmlns:a16="http://schemas.microsoft.com/office/drawing/2014/main" id="{CFAA8055-933A-E527-AEF3-189A72556CCA}"/>
                </a:ext>
              </a:extLst>
            </p:cNvPr>
            <p:cNvSpPr/>
            <p:nvPr/>
          </p:nvSpPr>
          <p:spPr>
            <a:xfrm>
              <a:off x="5480647" y="5538332"/>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accent5"/>
                  </a:solidFill>
                  <a:latin typeface="+mn-ea"/>
                </a:rPr>
                <a:t>商品データを</a:t>
              </a:r>
              <a:r>
                <a:rPr lang="en-US" altLang="ja-JP" sz="1000" dirty="0">
                  <a:solidFill>
                    <a:schemeClr val="accent5"/>
                  </a:solidFill>
                  <a:latin typeface="+mn-ea"/>
                </a:rPr>
                <a:t>AI</a:t>
              </a:r>
              <a:r>
                <a:rPr lang="ja-JP" altLang="en-US" sz="1000" dirty="0">
                  <a:solidFill>
                    <a:schemeClr val="accent5"/>
                  </a:solidFill>
                  <a:latin typeface="+mn-ea"/>
                </a:rPr>
                <a:t>が読める形にして小売システムへ</a:t>
              </a:r>
              <a:br>
                <a:rPr lang="en-US" altLang="ja-JP" sz="1000" dirty="0">
                  <a:solidFill>
                    <a:schemeClr val="accent5"/>
                  </a:solidFill>
                  <a:latin typeface="+mn-ea"/>
                </a:rPr>
              </a:br>
              <a:r>
                <a:rPr lang="ja-JP" altLang="en-US" sz="1000" dirty="0">
                  <a:solidFill>
                    <a:schemeClr val="accent5"/>
                  </a:solidFill>
                  <a:latin typeface="+mn-ea"/>
                </a:rPr>
                <a:t>直結する</a:t>
              </a:r>
              <a:r>
                <a:rPr lang="ja-JP" altLang="en-US" sz="1000" dirty="0">
                  <a:solidFill>
                    <a:schemeClr val="tx1"/>
                  </a:solidFill>
                  <a:latin typeface="+mn-ea"/>
                </a:rPr>
                <a:t>＝属性データの構造化・</a:t>
              </a:r>
              <a:r>
                <a:rPr lang="en-US" altLang="ja-JP" sz="1000" dirty="0">
                  <a:solidFill>
                    <a:schemeClr val="tx1"/>
                  </a:solidFill>
                  <a:latin typeface="+mn-ea"/>
                </a:rPr>
                <a:t>API</a:t>
              </a:r>
              <a:r>
                <a:rPr lang="ja-JP" altLang="en-US" sz="1000" dirty="0">
                  <a:solidFill>
                    <a:schemeClr val="tx1"/>
                  </a:solidFill>
                  <a:latin typeface="+mn-ea"/>
                </a:rPr>
                <a:t>化</a:t>
              </a:r>
            </a:p>
          </p:txBody>
        </p:sp>
        <p:sp>
          <p:nvSpPr>
            <p:cNvPr id="26" name="正方形/長方形 25">
              <a:extLst>
                <a:ext uri="{FF2B5EF4-FFF2-40B4-BE49-F238E27FC236}">
                  <a16:creationId xmlns:a16="http://schemas.microsoft.com/office/drawing/2014/main" id="{76D23AB5-8EF6-2E5B-87D6-014857CCA212}"/>
                </a:ext>
              </a:extLst>
            </p:cNvPr>
            <p:cNvSpPr/>
            <p:nvPr/>
          </p:nvSpPr>
          <p:spPr>
            <a:xfrm>
              <a:off x="1961617" y="5953287"/>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accent5"/>
                  </a:solidFill>
                  <a:latin typeface="+mn-ea"/>
                </a:rPr>
                <a:t>学校の歯みがき教育・自治体健診を、続くデジタル接点に変える</a:t>
              </a:r>
              <a:r>
                <a:rPr lang="ja-JP" altLang="en-US" sz="1000" dirty="0">
                  <a:solidFill>
                    <a:schemeClr val="tx1"/>
                  </a:solidFill>
                  <a:latin typeface="+mn-ea"/>
                </a:rPr>
                <a:t>＝学校・自治体ルートのデジタル化</a:t>
              </a:r>
            </a:p>
          </p:txBody>
        </p:sp>
        <p:sp>
          <p:nvSpPr>
            <p:cNvPr id="30" name="正方形/長方形 29">
              <a:extLst>
                <a:ext uri="{FF2B5EF4-FFF2-40B4-BE49-F238E27FC236}">
                  <a16:creationId xmlns:a16="http://schemas.microsoft.com/office/drawing/2014/main" id="{B18A487C-C684-14C8-C988-997CF4A29CC4}"/>
                </a:ext>
              </a:extLst>
            </p:cNvPr>
            <p:cNvSpPr/>
            <p:nvPr/>
          </p:nvSpPr>
          <p:spPr>
            <a:xfrm>
              <a:off x="8394327" y="5123379"/>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B1★</a:t>
              </a:r>
            </a:p>
          </p:txBody>
        </p:sp>
        <p:sp>
          <p:nvSpPr>
            <p:cNvPr id="31" name="正方形/長方形 26">
              <a:extLst>
                <a:ext uri="{FF2B5EF4-FFF2-40B4-BE49-F238E27FC236}">
                  <a16:creationId xmlns:a16="http://schemas.microsoft.com/office/drawing/2014/main" id="{F23CAF51-3370-A467-67B2-EF864DAD26F6}"/>
                </a:ext>
              </a:extLst>
            </p:cNvPr>
            <p:cNvSpPr/>
            <p:nvPr/>
          </p:nvSpPr>
          <p:spPr>
            <a:xfrm>
              <a:off x="8394327" y="5538333"/>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D1★</a:t>
              </a:r>
            </a:p>
          </p:txBody>
        </p:sp>
        <p:sp>
          <p:nvSpPr>
            <p:cNvPr id="32" name="正方形/長方形 26">
              <a:extLst>
                <a:ext uri="{FF2B5EF4-FFF2-40B4-BE49-F238E27FC236}">
                  <a16:creationId xmlns:a16="http://schemas.microsoft.com/office/drawing/2014/main" id="{A2D7E0D0-9DE8-0B2F-EBA6-5ABB642B331B}"/>
                </a:ext>
              </a:extLst>
            </p:cNvPr>
            <p:cNvSpPr/>
            <p:nvPr/>
          </p:nvSpPr>
          <p:spPr>
            <a:xfrm>
              <a:off x="8394327" y="5953287"/>
              <a:ext cx="605349" cy="36415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400" dirty="0">
                  <a:solidFill>
                    <a:srgbClr val="008D2E"/>
                  </a:solidFill>
                  <a:latin typeface="+mn-ea"/>
                </a:rPr>
                <a:t>D2</a:t>
              </a:r>
            </a:p>
          </p:txBody>
        </p:sp>
        <p:sp>
          <p:nvSpPr>
            <p:cNvPr id="33" name="正方形/長方形 32">
              <a:extLst>
                <a:ext uri="{FF2B5EF4-FFF2-40B4-BE49-F238E27FC236}">
                  <a16:creationId xmlns:a16="http://schemas.microsoft.com/office/drawing/2014/main" id="{6E2D5654-15D0-2D73-E3CE-B372E96B9D25}"/>
                </a:ext>
              </a:extLst>
            </p:cNvPr>
            <p:cNvSpPr/>
            <p:nvPr/>
          </p:nvSpPr>
          <p:spPr>
            <a:xfrm>
              <a:off x="8999676" y="5123379"/>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accent5"/>
                  </a:solidFill>
                  <a:latin typeface="+mn-ea"/>
                </a:rPr>
                <a:t>広告・販促の効果を金額で測る仕組みを作る</a:t>
              </a:r>
            </a:p>
            <a:p>
              <a:pPr lvl="0">
                <a:buClr>
                  <a:schemeClr val="accent5"/>
                </a:buClr>
                <a:defRPr/>
              </a:pPr>
              <a:r>
                <a:rPr lang="ja-JP" altLang="en-US" sz="1000" dirty="0">
                  <a:solidFill>
                    <a:schemeClr val="tx1"/>
                  </a:solidFill>
                  <a:latin typeface="+mn-ea"/>
                </a:rPr>
                <a:t>＝投資</a:t>
              </a:r>
              <a:r>
                <a:rPr lang="en-US" altLang="ja-JP" sz="1000" dirty="0">
                  <a:solidFill>
                    <a:schemeClr val="tx1"/>
                  </a:solidFill>
                  <a:latin typeface="+mn-ea"/>
                </a:rPr>
                <a:t>ROI</a:t>
              </a:r>
              <a:r>
                <a:rPr lang="ja-JP" altLang="en-US" sz="1000" dirty="0">
                  <a:solidFill>
                    <a:schemeClr val="tx1"/>
                  </a:solidFill>
                  <a:latin typeface="+mn-ea"/>
                </a:rPr>
                <a:t>可視化基盤 </a:t>
              </a:r>
              <a:r>
                <a:rPr lang="en-US" altLang="ja-JP" sz="1000" dirty="0">
                  <a:solidFill>
                    <a:schemeClr val="tx1"/>
                  </a:solidFill>
                  <a:latin typeface="+mn-ea"/>
                </a:rPr>
                <a:t>(MMM×DCR) </a:t>
              </a:r>
              <a:endParaRPr lang="ja-JP" altLang="en-US" sz="1000" dirty="0">
                <a:solidFill>
                  <a:schemeClr val="tx1"/>
                </a:solidFill>
                <a:latin typeface="+mn-ea"/>
              </a:endParaRPr>
            </a:p>
          </p:txBody>
        </p:sp>
        <p:sp>
          <p:nvSpPr>
            <p:cNvPr id="34" name="正方形/長方形 33">
              <a:extLst>
                <a:ext uri="{FF2B5EF4-FFF2-40B4-BE49-F238E27FC236}">
                  <a16:creationId xmlns:a16="http://schemas.microsoft.com/office/drawing/2014/main" id="{1C2D79B3-1F33-475F-D866-8F2F95B1EBEA}"/>
                </a:ext>
              </a:extLst>
            </p:cNvPr>
            <p:cNvSpPr/>
            <p:nvPr/>
          </p:nvSpPr>
          <p:spPr>
            <a:xfrm>
              <a:off x="8999676" y="5538332"/>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accent5"/>
                  </a:solidFill>
                  <a:latin typeface="+mn-ea"/>
                </a:rPr>
                <a:t>資料作成・集計を</a:t>
              </a:r>
              <a:r>
                <a:rPr lang="en-US" altLang="ja-JP" sz="1000" dirty="0">
                  <a:solidFill>
                    <a:schemeClr val="accent5"/>
                  </a:solidFill>
                  <a:latin typeface="+mn-ea"/>
                </a:rPr>
                <a:t>AI</a:t>
              </a:r>
              <a:r>
                <a:rPr lang="ja-JP" altLang="en-US" sz="1000" dirty="0">
                  <a:solidFill>
                    <a:schemeClr val="accent5"/>
                  </a:solidFill>
                  <a:latin typeface="+mn-ea"/>
                </a:rPr>
                <a:t>で自動化し、商談の時間を生み出す</a:t>
              </a:r>
              <a:r>
                <a:rPr lang="ja-JP" altLang="en-US" sz="1000" dirty="0">
                  <a:solidFill>
                    <a:schemeClr val="tx1"/>
                  </a:solidFill>
                  <a:latin typeface="+mn-ea"/>
                </a:rPr>
                <a:t>＝</a:t>
              </a:r>
              <a:r>
                <a:rPr lang="en-US" altLang="ja-JP" sz="1000" dirty="0">
                  <a:solidFill>
                    <a:schemeClr val="tx1"/>
                  </a:solidFill>
                  <a:latin typeface="+mn-ea"/>
                </a:rPr>
                <a:t>Input</a:t>
              </a:r>
              <a:r>
                <a:rPr lang="ja-JP" altLang="en-US" sz="1000" dirty="0">
                  <a:solidFill>
                    <a:schemeClr val="tx1"/>
                  </a:solidFill>
                  <a:latin typeface="+mn-ea"/>
                </a:rPr>
                <a:t>業務ゼロ化 </a:t>
              </a:r>
              <a:r>
                <a:rPr lang="en-US" altLang="ja-JP" sz="1000" dirty="0">
                  <a:solidFill>
                    <a:schemeClr val="tx1"/>
                  </a:solidFill>
                  <a:latin typeface="+mn-ea"/>
                </a:rPr>
                <a:t>(</a:t>
              </a:r>
              <a:r>
                <a:rPr lang="ja-JP" altLang="en-US" sz="1000" dirty="0">
                  <a:solidFill>
                    <a:schemeClr val="tx1"/>
                  </a:solidFill>
                  <a:latin typeface="+mn-ea"/>
                </a:rPr>
                <a:t>生成</a:t>
              </a:r>
              <a:r>
                <a:rPr lang="en-US" altLang="ja-JP" sz="1000" dirty="0">
                  <a:solidFill>
                    <a:schemeClr val="tx1"/>
                  </a:solidFill>
                  <a:latin typeface="+mn-ea"/>
                </a:rPr>
                <a:t>AI</a:t>
              </a:r>
              <a:r>
                <a:rPr lang="ja-JP" altLang="en-US" sz="1000" dirty="0">
                  <a:solidFill>
                    <a:schemeClr val="tx1"/>
                  </a:solidFill>
                  <a:latin typeface="+mn-ea"/>
                </a:rPr>
                <a:t>＋</a:t>
              </a:r>
              <a:r>
                <a:rPr lang="en-US" altLang="ja-JP" sz="1000" dirty="0">
                  <a:solidFill>
                    <a:schemeClr val="tx1"/>
                  </a:solidFill>
                  <a:latin typeface="+mn-ea"/>
                </a:rPr>
                <a:t>TPM)</a:t>
              </a:r>
              <a:endParaRPr lang="ja-JP" altLang="en-US" sz="1000" dirty="0">
                <a:solidFill>
                  <a:schemeClr val="tx1"/>
                </a:solidFill>
                <a:latin typeface="+mn-ea"/>
              </a:endParaRPr>
            </a:p>
          </p:txBody>
        </p:sp>
        <p:sp>
          <p:nvSpPr>
            <p:cNvPr id="35" name="正方形/長方形 34">
              <a:extLst>
                <a:ext uri="{FF2B5EF4-FFF2-40B4-BE49-F238E27FC236}">
                  <a16:creationId xmlns:a16="http://schemas.microsoft.com/office/drawing/2014/main" id="{C60FFB67-3464-0876-95A2-1783521A6B3A}"/>
                </a:ext>
              </a:extLst>
            </p:cNvPr>
            <p:cNvSpPr/>
            <p:nvPr/>
          </p:nvSpPr>
          <p:spPr>
            <a:xfrm>
              <a:off x="8999676" y="5953287"/>
              <a:ext cx="2849761" cy="364154"/>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en-US" altLang="ja-JP" sz="1000" dirty="0">
                  <a:solidFill>
                    <a:schemeClr val="accent5"/>
                  </a:solidFill>
                  <a:latin typeface="+mn-ea"/>
                </a:rPr>
                <a:t>1</a:t>
              </a:r>
              <a:r>
                <a:rPr lang="ja-JP" altLang="en-US" sz="1000" dirty="0">
                  <a:solidFill>
                    <a:schemeClr val="accent5"/>
                  </a:solidFill>
                  <a:latin typeface="+mn-ea"/>
                </a:rPr>
                <a:t>人で対応する営業をやめ、チーム対チームで小売と</a:t>
              </a:r>
              <a:br>
                <a:rPr lang="en-US" altLang="ja-JP" sz="1000" dirty="0">
                  <a:solidFill>
                    <a:schemeClr val="accent5"/>
                  </a:solidFill>
                  <a:latin typeface="+mn-ea"/>
                </a:rPr>
              </a:br>
              <a:r>
                <a:rPr lang="ja-JP" altLang="en-US" sz="1000" dirty="0">
                  <a:solidFill>
                    <a:schemeClr val="accent5"/>
                  </a:solidFill>
                  <a:latin typeface="+mn-ea"/>
                </a:rPr>
                <a:t>組む</a:t>
              </a:r>
              <a:r>
                <a:rPr lang="ja-JP" altLang="en-US" sz="1000" dirty="0">
                  <a:solidFill>
                    <a:schemeClr val="tx1"/>
                  </a:solidFill>
                  <a:latin typeface="+mn-ea"/>
                </a:rPr>
                <a:t>＝組織対組織の営業体制へ再編</a:t>
              </a:r>
            </a:p>
          </p:txBody>
        </p:sp>
      </p:grpSp>
      <p:cxnSp>
        <p:nvCxnSpPr>
          <p:cNvPr id="37" name="直線コネクタ 36">
            <a:extLst>
              <a:ext uri="{FF2B5EF4-FFF2-40B4-BE49-F238E27FC236}">
                <a16:creationId xmlns:a16="http://schemas.microsoft.com/office/drawing/2014/main" id="{1254090F-6A26-D441-7883-3ADEB692991A}"/>
              </a:ext>
            </a:extLst>
          </p:cNvPr>
          <p:cNvCxnSpPr>
            <a:cxnSpLocks/>
          </p:cNvCxnSpPr>
          <p:nvPr/>
        </p:nvCxnSpPr>
        <p:spPr>
          <a:xfrm>
            <a:off x="1356268" y="5063545"/>
            <a:ext cx="345511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C140F5B3-DB86-1A82-9C72-D7C2E338258B}"/>
              </a:ext>
            </a:extLst>
          </p:cNvPr>
          <p:cNvCxnSpPr>
            <a:cxnSpLocks/>
          </p:cNvCxnSpPr>
          <p:nvPr/>
        </p:nvCxnSpPr>
        <p:spPr>
          <a:xfrm>
            <a:off x="4875298" y="5063544"/>
            <a:ext cx="345511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a16:creationId xmlns:a16="http://schemas.microsoft.com/office/drawing/2014/main" id="{A3CE862D-A9B1-35C2-6E4D-04B615740A97}"/>
              </a:ext>
            </a:extLst>
          </p:cNvPr>
          <p:cNvCxnSpPr>
            <a:cxnSpLocks/>
          </p:cNvCxnSpPr>
          <p:nvPr/>
        </p:nvCxnSpPr>
        <p:spPr>
          <a:xfrm>
            <a:off x="8394327" y="5063544"/>
            <a:ext cx="3455110"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Text 20">
            <a:extLst>
              <a:ext uri="{FF2B5EF4-FFF2-40B4-BE49-F238E27FC236}">
                <a16:creationId xmlns:a16="http://schemas.microsoft.com/office/drawing/2014/main" id="{A7E55F49-4EDA-4987-0B77-6CB93E021CFF}"/>
              </a:ext>
            </a:extLst>
          </p:cNvPr>
          <p:cNvSpPr>
            <a:spLocks noChangeAspect="1"/>
          </p:cNvSpPr>
          <p:nvPr/>
        </p:nvSpPr>
        <p:spPr>
          <a:xfrm>
            <a:off x="1331216" y="1574050"/>
            <a:ext cx="277201" cy="277201"/>
          </a:xfrm>
          <a:prstGeom prst="ellipse">
            <a:avLst/>
          </a:prstGeom>
          <a:solidFill>
            <a:schemeClr val="bg1"/>
          </a:solidFill>
          <a:ln w="9525">
            <a:solidFill>
              <a:schemeClr val="accent5"/>
            </a:solidFill>
          </a:ln>
        </p:spPr>
        <p:txBody>
          <a:bodyPr wrap="square" lIns="36000" tIns="18000" rIns="36000" bIns="0" rtlCol="0" anchor="ctr" anchorCtr="0">
            <a:noAutofit/>
          </a:bodyPr>
          <a:lstStyle/>
          <a:p>
            <a:pPr algn="ctr" defTabSz="457200">
              <a:defRPr/>
            </a:pPr>
            <a:r>
              <a:rPr kumimoji="0" lang="en-US" sz="1400" dirty="0">
                <a:solidFill>
                  <a:schemeClr val="accent5"/>
                </a:solidFill>
                <a:latin typeface="+mn-ea"/>
              </a:rPr>
              <a:t>1</a:t>
            </a:r>
          </a:p>
        </p:txBody>
      </p:sp>
      <p:sp>
        <p:nvSpPr>
          <p:cNvPr id="43" name="Text 33">
            <a:extLst>
              <a:ext uri="{FF2B5EF4-FFF2-40B4-BE49-F238E27FC236}">
                <a16:creationId xmlns:a16="http://schemas.microsoft.com/office/drawing/2014/main" id="{C3E1428D-8E82-CAA6-7B17-CD21A0211359}"/>
              </a:ext>
            </a:extLst>
          </p:cNvPr>
          <p:cNvSpPr>
            <a:spLocks noChangeAspect="1"/>
          </p:cNvSpPr>
          <p:nvPr/>
        </p:nvSpPr>
        <p:spPr>
          <a:xfrm>
            <a:off x="4850246" y="1574051"/>
            <a:ext cx="277201" cy="277201"/>
          </a:xfrm>
          <a:prstGeom prst="ellipse">
            <a:avLst/>
          </a:prstGeom>
          <a:solidFill>
            <a:schemeClr val="bg1"/>
          </a:solidFill>
          <a:ln w="9525">
            <a:solidFill>
              <a:schemeClr val="accent5"/>
            </a:solidFill>
          </a:ln>
        </p:spPr>
        <p:txBody>
          <a:bodyPr wrap="square" lIns="36000" tIns="18000" rIns="36000" bIns="0" rtlCol="0" anchor="ctr" anchorCtr="0">
            <a:noAutofit/>
          </a:bodyPr>
          <a:lstStyle/>
          <a:p>
            <a:pPr algn="ctr" defTabSz="457200">
              <a:defRPr/>
            </a:pPr>
            <a:r>
              <a:rPr kumimoji="0" lang="en-US" sz="1400" dirty="0">
                <a:solidFill>
                  <a:schemeClr val="accent5"/>
                </a:solidFill>
                <a:latin typeface="+mn-ea"/>
              </a:rPr>
              <a:t>2</a:t>
            </a:r>
          </a:p>
        </p:txBody>
      </p:sp>
      <p:sp>
        <p:nvSpPr>
          <p:cNvPr id="45" name="Text 33">
            <a:extLst>
              <a:ext uri="{FF2B5EF4-FFF2-40B4-BE49-F238E27FC236}">
                <a16:creationId xmlns:a16="http://schemas.microsoft.com/office/drawing/2014/main" id="{8B9E06B3-F4FC-CE5C-5F41-6A2BF70E9135}"/>
              </a:ext>
            </a:extLst>
          </p:cNvPr>
          <p:cNvSpPr>
            <a:spLocks noChangeAspect="1"/>
          </p:cNvSpPr>
          <p:nvPr/>
        </p:nvSpPr>
        <p:spPr>
          <a:xfrm>
            <a:off x="8369275" y="1574050"/>
            <a:ext cx="277201" cy="277201"/>
          </a:xfrm>
          <a:prstGeom prst="ellipse">
            <a:avLst/>
          </a:prstGeom>
          <a:solidFill>
            <a:schemeClr val="bg1"/>
          </a:solidFill>
          <a:ln w="9525">
            <a:solidFill>
              <a:schemeClr val="accent5"/>
            </a:solidFill>
          </a:ln>
        </p:spPr>
        <p:txBody>
          <a:bodyPr wrap="square" lIns="36000" tIns="18000" rIns="36000" bIns="0" rtlCol="0" anchor="ctr" anchorCtr="0">
            <a:noAutofit/>
          </a:bodyPr>
          <a:lstStyle/>
          <a:p>
            <a:pPr algn="ctr" defTabSz="457200">
              <a:defRPr/>
            </a:pPr>
            <a:r>
              <a:rPr kumimoji="0" lang="en-US" sz="1400" dirty="0">
                <a:solidFill>
                  <a:schemeClr val="accent5"/>
                </a:solidFill>
                <a:latin typeface="+mn-ea"/>
              </a:rPr>
              <a:t>3</a:t>
            </a:r>
          </a:p>
        </p:txBody>
      </p:sp>
      <p:pic>
        <p:nvPicPr>
          <p:cNvPr id="47" name="グラフィックス 46" descr="環状の矢印 単色塗りつぶし">
            <a:extLst>
              <a:ext uri="{FF2B5EF4-FFF2-40B4-BE49-F238E27FC236}">
                <a16:creationId xmlns:a16="http://schemas.microsoft.com/office/drawing/2014/main" id="{90C7B7D7-673F-C654-41D5-3BDFA616EB4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730027" y="1714028"/>
            <a:ext cx="369474" cy="369474"/>
          </a:xfrm>
          <a:prstGeom prst="rect">
            <a:avLst/>
          </a:prstGeom>
        </p:spPr>
      </p:pic>
      <p:pic>
        <p:nvPicPr>
          <p:cNvPr id="49" name="グラフィックス 48" descr="的中 単色塗りつぶし">
            <a:extLst>
              <a:ext uri="{FF2B5EF4-FFF2-40B4-BE49-F238E27FC236}">
                <a16:creationId xmlns:a16="http://schemas.microsoft.com/office/drawing/2014/main" id="{56BFF963-A24C-D6E8-0E6F-EE5AEC79E0E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704725" y="1714028"/>
            <a:ext cx="369474" cy="369474"/>
          </a:xfrm>
          <a:prstGeom prst="rect">
            <a:avLst/>
          </a:prstGeom>
        </p:spPr>
      </p:pic>
      <p:pic>
        <p:nvPicPr>
          <p:cNvPr id="51" name="グラフィックス 50" descr="電球と鉛筆 単色塗りつぶし">
            <a:extLst>
              <a:ext uri="{FF2B5EF4-FFF2-40B4-BE49-F238E27FC236}">
                <a16:creationId xmlns:a16="http://schemas.microsoft.com/office/drawing/2014/main" id="{E330A2A6-C9B6-8244-A0F4-765C253FCA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14434" y="1714028"/>
            <a:ext cx="369474" cy="369474"/>
          </a:xfrm>
          <a:prstGeom prst="rect">
            <a:avLst/>
          </a:prstGeom>
        </p:spPr>
      </p:pic>
      <p:sp>
        <p:nvSpPr>
          <p:cNvPr id="19" name="テキスト ボックス 18">
            <a:extLst>
              <a:ext uri="{FF2B5EF4-FFF2-40B4-BE49-F238E27FC236}">
                <a16:creationId xmlns:a16="http://schemas.microsoft.com/office/drawing/2014/main" id="{7C6721A3-E1FB-C008-5C19-656A9B49CCBE}"/>
              </a:ext>
            </a:extLst>
          </p:cNvPr>
          <p:cNvSpPr txBox="1"/>
          <p:nvPr/>
        </p:nvSpPr>
        <p:spPr>
          <a:xfrm>
            <a:off x="1374606" y="2325643"/>
            <a:ext cx="3436772" cy="307777"/>
          </a:xfrm>
          <a:prstGeom prst="rect">
            <a:avLst/>
          </a:prstGeom>
          <a:noFill/>
        </p:spPr>
        <p:txBody>
          <a:bodyPr wrap="square">
            <a:spAutoFit/>
          </a:bodyPr>
          <a:lstStyle/>
          <a:p>
            <a:pPr algn="ctr"/>
            <a:r>
              <a:rPr lang="ja-JP" altLang="en-US" sz="1400" dirty="0">
                <a:solidFill>
                  <a:srgbClr val="008000"/>
                </a:solidFill>
                <a:latin typeface="+mn-ea"/>
              </a:rPr>
              <a:t>傾斜資源の「使い方」を決め直す</a:t>
            </a:r>
            <a:endParaRPr lang="en-US" altLang="ja-JP" sz="1400" dirty="0">
              <a:solidFill>
                <a:srgbClr val="008000"/>
              </a:solidFill>
              <a:latin typeface="+mn-ea"/>
            </a:endParaRPr>
          </a:p>
        </p:txBody>
      </p:sp>
      <p:sp>
        <p:nvSpPr>
          <p:cNvPr id="24" name="テキスト ボックス 23">
            <a:extLst>
              <a:ext uri="{FF2B5EF4-FFF2-40B4-BE49-F238E27FC236}">
                <a16:creationId xmlns:a16="http://schemas.microsoft.com/office/drawing/2014/main" id="{3278B275-79B6-758C-BC01-AC93D41E05F8}"/>
              </a:ext>
            </a:extLst>
          </p:cNvPr>
          <p:cNvSpPr txBox="1"/>
          <p:nvPr/>
        </p:nvSpPr>
        <p:spPr>
          <a:xfrm>
            <a:off x="4875298" y="2238093"/>
            <a:ext cx="3436772" cy="738664"/>
          </a:xfrm>
          <a:prstGeom prst="rect">
            <a:avLst/>
          </a:prstGeom>
          <a:noFill/>
        </p:spPr>
        <p:txBody>
          <a:bodyPr wrap="square">
            <a:spAutoFit/>
          </a:bodyPr>
          <a:lstStyle/>
          <a:p>
            <a:pPr algn="ctr"/>
            <a:r>
              <a:rPr lang="ja-JP" altLang="en-US" sz="1400" dirty="0">
                <a:solidFill>
                  <a:srgbClr val="008000"/>
                </a:solidFill>
                <a:latin typeface="+mn-ea"/>
              </a:rPr>
              <a:t>値引きに代わる「提案の材料」を、</a:t>
            </a:r>
            <a:br>
              <a:rPr lang="en-US" altLang="ja-JP" sz="1400" dirty="0">
                <a:solidFill>
                  <a:srgbClr val="008000"/>
                </a:solidFill>
                <a:latin typeface="+mn-ea"/>
              </a:rPr>
            </a:br>
            <a:r>
              <a:rPr lang="ja-JP" altLang="en-US" sz="1400" dirty="0">
                <a:solidFill>
                  <a:srgbClr val="008000"/>
                </a:solidFill>
                <a:latin typeface="+mn-ea"/>
              </a:rPr>
              <a:t>商談で使える形まで仕上げる</a:t>
            </a:r>
            <a:endParaRPr lang="en-US" altLang="ja-JP" sz="1400" dirty="0">
              <a:solidFill>
                <a:srgbClr val="008000"/>
              </a:solidFill>
              <a:latin typeface="+mn-ea"/>
            </a:endParaRPr>
          </a:p>
          <a:p>
            <a:pPr algn="ctr"/>
            <a:endParaRPr lang="en-US" altLang="ja-JP" sz="1400" dirty="0">
              <a:solidFill>
                <a:srgbClr val="008000"/>
              </a:solidFill>
              <a:latin typeface="+mn-ea"/>
            </a:endParaRPr>
          </a:p>
        </p:txBody>
      </p:sp>
      <p:sp>
        <p:nvSpPr>
          <p:cNvPr id="28" name="テキスト ボックス 27">
            <a:extLst>
              <a:ext uri="{FF2B5EF4-FFF2-40B4-BE49-F238E27FC236}">
                <a16:creationId xmlns:a16="http://schemas.microsoft.com/office/drawing/2014/main" id="{1CCEDD1B-3C4D-60C4-E722-5CBA8763AFBD}"/>
              </a:ext>
            </a:extLst>
          </p:cNvPr>
          <p:cNvSpPr txBox="1"/>
          <p:nvPr/>
        </p:nvSpPr>
        <p:spPr>
          <a:xfrm>
            <a:off x="8394327" y="2238093"/>
            <a:ext cx="3436772" cy="738664"/>
          </a:xfrm>
          <a:prstGeom prst="rect">
            <a:avLst/>
          </a:prstGeom>
          <a:noFill/>
        </p:spPr>
        <p:txBody>
          <a:bodyPr wrap="square">
            <a:spAutoFit/>
          </a:bodyPr>
          <a:lstStyle/>
          <a:p>
            <a:pPr algn="ctr"/>
            <a:r>
              <a:rPr lang="ja-JP" altLang="en-US" sz="1400" dirty="0">
                <a:solidFill>
                  <a:srgbClr val="008000"/>
                </a:solidFill>
                <a:latin typeface="+mn-ea"/>
              </a:rPr>
              <a:t>小さく試す→検証する</a:t>
            </a:r>
            <a:br>
              <a:rPr lang="en-US" altLang="ja-JP" sz="1400" dirty="0">
                <a:solidFill>
                  <a:srgbClr val="008000"/>
                </a:solidFill>
                <a:latin typeface="+mn-ea"/>
              </a:rPr>
            </a:br>
            <a:r>
              <a:rPr lang="ja-JP" altLang="en-US" sz="1400" dirty="0">
                <a:solidFill>
                  <a:srgbClr val="008000"/>
                </a:solidFill>
                <a:latin typeface="+mn-ea"/>
              </a:rPr>
              <a:t>→広げる「仕組み」を回し続ける</a:t>
            </a:r>
            <a:endParaRPr lang="en-US" altLang="ja-JP" sz="1400" dirty="0">
              <a:solidFill>
                <a:srgbClr val="008000"/>
              </a:solidFill>
              <a:latin typeface="+mn-ea"/>
            </a:endParaRPr>
          </a:p>
          <a:p>
            <a:pPr algn="ctr"/>
            <a:endParaRPr lang="en-US" altLang="ja-JP" sz="1400" dirty="0">
              <a:solidFill>
                <a:srgbClr val="008000"/>
              </a:solidFill>
              <a:latin typeface="+mn-ea"/>
            </a:endParaRPr>
          </a:p>
        </p:txBody>
      </p:sp>
    </p:spTree>
    <p:extLst>
      <p:ext uri="{BB962C8B-B14F-4D97-AF65-F5344CB8AC3E}">
        <p14:creationId xmlns:p14="http://schemas.microsoft.com/office/powerpoint/2010/main" val="16578415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10965A-3F34-9EBE-9419-E4B413033CA9}"/>
              </a:ext>
            </a:extLst>
          </p:cNvPr>
          <p:cNvSpPr>
            <a:spLocks noGrp="1"/>
          </p:cNvSpPr>
          <p:nvPr>
            <p:ph type="title"/>
          </p:nvPr>
        </p:nvSpPr>
        <p:spPr/>
        <p:txBody>
          <a:bodyPr/>
          <a:lstStyle/>
          <a:p>
            <a:r>
              <a:rPr kumimoji="1" lang="ja-JP" altLang="en-US" dirty="0"/>
              <a:t>解決</a:t>
            </a:r>
            <a:r>
              <a:rPr kumimoji="1" lang="en-US" altLang="ja-JP" dirty="0"/>
              <a:t>1</a:t>
            </a:r>
            <a:r>
              <a:rPr kumimoji="1" lang="ja-JP" altLang="en-US" dirty="0"/>
              <a:t>詳細</a:t>
            </a:r>
          </a:p>
        </p:txBody>
      </p:sp>
      <p:sp>
        <p:nvSpPr>
          <p:cNvPr id="3" name="テキスト プレースホルダー 2">
            <a:extLst>
              <a:ext uri="{FF2B5EF4-FFF2-40B4-BE49-F238E27FC236}">
                <a16:creationId xmlns:a16="http://schemas.microsoft.com/office/drawing/2014/main" id="{C170E81E-228C-D0B4-85F2-557E0B985130}"/>
              </a:ext>
            </a:extLst>
          </p:cNvPr>
          <p:cNvSpPr>
            <a:spLocks noGrp="1"/>
          </p:cNvSpPr>
          <p:nvPr>
            <p:ph type="body" sz="quarter" idx="13"/>
          </p:nvPr>
        </p:nvSpPr>
        <p:spPr/>
        <p:txBody>
          <a:bodyPr/>
          <a:lstStyle/>
          <a:p>
            <a:r>
              <a:rPr kumimoji="1" lang="en-US" altLang="ja-JP" sz="1800" dirty="0"/>
              <a:t>XX</a:t>
            </a:r>
            <a:endParaRPr kumimoji="1" lang="ja-JP" altLang="en-US" sz="1800" dirty="0"/>
          </a:p>
        </p:txBody>
      </p:sp>
      <p:sp>
        <p:nvSpPr>
          <p:cNvPr id="5" name="テキスト ボックス 4">
            <a:extLst>
              <a:ext uri="{FF2B5EF4-FFF2-40B4-BE49-F238E27FC236}">
                <a16:creationId xmlns:a16="http://schemas.microsoft.com/office/drawing/2014/main" id="{4131DE3C-614F-C221-C3B7-CD5CD10015A1}"/>
              </a:ext>
            </a:extLst>
          </p:cNvPr>
          <p:cNvSpPr txBox="1"/>
          <p:nvPr/>
        </p:nvSpPr>
        <p:spPr>
          <a:xfrm>
            <a:off x="5131341" y="6383203"/>
            <a:ext cx="6429982" cy="365934"/>
          </a:xfrm>
          <a:prstGeom prst="rect">
            <a:avLst/>
          </a:prstGeom>
          <a:noFill/>
        </p:spPr>
        <p:txBody>
          <a:bodyPr wrap="square">
            <a:spAutoFit/>
          </a:bodyPr>
          <a:lstStyle/>
          <a:p>
            <a:pPr>
              <a:lnSpc>
                <a:spcPct val="110000"/>
              </a:lnSpc>
            </a:pPr>
            <a:r>
              <a:rPr lang="ja-JP" altLang="en-US" sz="860" b="1" dirty="0">
                <a:solidFill>
                  <a:srgbClr val="008D2E"/>
                </a:solidFill>
                <a:latin typeface="Meiryo UI"/>
                <a:ea typeface="Meiryo UI"/>
              </a:rPr>
              <a:t>なぜ分けるのか：市場ごとに使う施策と測るKPIが違うから。分けた瞬間に、傾斜済み予算の使い先（前頁の使い先メニュー）と8施策（次頁）への配分が機械的に決まる。</a:t>
            </a:r>
            <a:r>
              <a:rPr lang="ja-JP" altLang="en-US" sz="840" b="0" dirty="0">
                <a:solidFill>
                  <a:srgbClr val="262626"/>
                </a:solidFill>
                <a:latin typeface="Meiryo UI"/>
                <a:ea typeface="Meiryo UI"/>
              </a:rPr>
              <a:t/>
            </a:r>
            <a:r>
              <a:rPr lang="en-US" altLang="ja-JP" sz="840" b="0" dirty="0">
                <a:solidFill>
                  <a:srgbClr val="262626"/>
                </a:solidFill>
                <a:latin typeface="Meiryo UI"/>
                <a:ea typeface="Meiryo UI"/>
              </a:rPr>
              <a:t/>
            </a:r>
            <a:r>
              <a:rPr lang="ja-JP" altLang="en-US" sz="840" b="0" dirty="0">
                <a:solidFill>
                  <a:srgbClr val="262626"/>
                </a:solidFill>
                <a:latin typeface="Meiryo UI"/>
                <a:ea typeface="Meiryo UI"/>
              </a:rPr>
              <a:t/>
            </a:r>
            <a:r>
              <a:rPr lang="en-US" altLang="ja-JP" sz="840" b="0" dirty="0">
                <a:solidFill>
                  <a:srgbClr val="262626"/>
                </a:solidFill>
                <a:latin typeface="Meiryo UI"/>
                <a:ea typeface="Meiryo UI"/>
              </a:rPr>
              <a:t/>
            </a:r>
            <a:r>
              <a:rPr lang="ja-JP" altLang="en-US" sz="840" b="0" dirty="0">
                <a:solidFill>
                  <a:srgbClr val="262626"/>
                </a:solidFill>
                <a:latin typeface="Meiryo UI"/>
                <a:ea typeface="Meiryo UI"/>
              </a:rPr>
              <a:t/>
            </a:r>
            <a:r>
              <a:rPr lang="en-US" altLang="ja-JP" sz="840" b="0" dirty="0">
                <a:solidFill>
                  <a:srgbClr val="262626"/>
                </a:solidFill>
                <a:latin typeface="Meiryo UI"/>
                <a:ea typeface="Meiryo UI"/>
              </a:rPr>
              <a:t/>
            </a:r>
            <a:r>
              <a:rPr lang="ja-JP" altLang="en-US" sz="840" b="0" dirty="0">
                <a:solidFill>
                  <a:srgbClr val="262626"/>
                </a:solidFill>
                <a:latin typeface="Meiryo UI"/>
                <a:ea typeface="Meiryo UI"/>
              </a:rPr>
              <a:t/>
            </a:r>
          </a:p>
        </p:txBody>
      </p:sp>
      <p:sp>
        <p:nvSpPr>
          <p:cNvPr id="6" name="Rectangle 13">
            <a:extLst>
              <a:ext uri="{FF2B5EF4-FFF2-40B4-BE49-F238E27FC236}">
                <a16:creationId xmlns:a16="http://schemas.microsoft.com/office/drawing/2014/main" id="{9EA79BFF-A71B-C7C4-F911-EC6A2729BF2B}"/>
              </a:ext>
            </a:extLst>
          </p:cNvPr>
          <p:cNvSpPr/>
          <p:nvPr/>
        </p:nvSpPr>
        <p:spPr>
          <a:xfrm>
            <a:off x="1371600" y="1628774"/>
            <a:ext cx="3154680" cy="340640"/>
          </a:xfrm>
          <a:prstGeom prst="rect">
            <a:avLst/>
          </a:prstGeom>
          <a:solidFill>
            <a:srgbClr val="008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400" dirty="0">
                <a:solidFill>
                  <a:schemeClr val="bg1"/>
                </a:solidFill>
              </a:rPr>
              <a:t>セルフ</a:t>
            </a:r>
            <a:r>
              <a:rPr lang="en-US" altLang="ja-JP" sz="1400" dirty="0">
                <a:solidFill>
                  <a:schemeClr val="bg1"/>
                </a:solidFill>
              </a:rPr>
              <a:t>(</a:t>
            </a:r>
            <a:r>
              <a:rPr lang="ja-JP" altLang="en-US" sz="1400" dirty="0">
                <a:solidFill>
                  <a:schemeClr val="bg1"/>
                </a:solidFill>
              </a:rPr>
              <a:t>自分で選んで買う</a:t>
            </a:r>
            <a:r>
              <a:rPr lang="en-US" altLang="ja-JP" sz="1400" dirty="0">
                <a:solidFill>
                  <a:schemeClr val="bg1"/>
                </a:solidFill>
              </a:rPr>
              <a:t>)</a:t>
            </a:r>
            <a:endParaRPr lang="ja-JP" altLang="en-US" sz="1400" dirty="0">
              <a:solidFill>
                <a:schemeClr val="bg1"/>
              </a:solidFill>
            </a:endParaRPr>
          </a:p>
        </p:txBody>
      </p:sp>
      <p:sp>
        <p:nvSpPr>
          <p:cNvPr id="8" name="Rectangle 15">
            <a:extLst>
              <a:ext uri="{FF2B5EF4-FFF2-40B4-BE49-F238E27FC236}">
                <a16:creationId xmlns:a16="http://schemas.microsoft.com/office/drawing/2014/main" id="{20FABF71-FCBC-607C-5BAD-186C74620F19}"/>
              </a:ext>
            </a:extLst>
          </p:cNvPr>
          <p:cNvSpPr/>
          <p:nvPr/>
        </p:nvSpPr>
        <p:spPr>
          <a:xfrm>
            <a:off x="4617720" y="1628774"/>
            <a:ext cx="3154680" cy="340640"/>
          </a:xfrm>
          <a:prstGeom prst="rect">
            <a:avLst/>
          </a:prstGeom>
          <a:solidFill>
            <a:srgbClr val="008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400" dirty="0">
                <a:solidFill>
                  <a:schemeClr val="bg1"/>
                </a:solidFill>
              </a:rPr>
              <a:t>専門職が主導（歯科・学校・健診）</a:t>
            </a:r>
          </a:p>
        </p:txBody>
      </p:sp>
      <p:sp>
        <p:nvSpPr>
          <p:cNvPr id="10" name="Rectangle 17">
            <a:extLst>
              <a:ext uri="{FF2B5EF4-FFF2-40B4-BE49-F238E27FC236}">
                <a16:creationId xmlns:a16="http://schemas.microsoft.com/office/drawing/2014/main" id="{90047DE3-C2B1-34BE-2B14-6A071B6C17C9}"/>
              </a:ext>
            </a:extLst>
          </p:cNvPr>
          <p:cNvSpPr/>
          <p:nvPr/>
        </p:nvSpPr>
        <p:spPr>
          <a:xfrm>
            <a:off x="320040" y="2080122"/>
            <a:ext cx="914400" cy="1958680"/>
          </a:xfrm>
          <a:prstGeom prst="rect">
            <a:avLst/>
          </a:prstGeom>
          <a:solidFill>
            <a:srgbClr val="008000"/>
          </a:solidFill>
          <a:ln w="635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400" dirty="0">
                <a:solidFill>
                  <a:schemeClr val="bg1"/>
                </a:solidFill>
              </a:rPr>
              <a:t>症状なし</a:t>
            </a:r>
          </a:p>
        </p:txBody>
      </p:sp>
      <p:sp>
        <p:nvSpPr>
          <p:cNvPr id="12" name="Rectangle 19">
            <a:extLst>
              <a:ext uri="{FF2B5EF4-FFF2-40B4-BE49-F238E27FC236}">
                <a16:creationId xmlns:a16="http://schemas.microsoft.com/office/drawing/2014/main" id="{E6E0FCB9-6E71-675E-7BE7-81CB1BDF9054}"/>
              </a:ext>
            </a:extLst>
          </p:cNvPr>
          <p:cNvSpPr/>
          <p:nvPr/>
        </p:nvSpPr>
        <p:spPr>
          <a:xfrm>
            <a:off x="320040" y="4149511"/>
            <a:ext cx="914400" cy="1958680"/>
          </a:xfrm>
          <a:prstGeom prst="rect">
            <a:avLst/>
          </a:prstGeom>
          <a:solidFill>
            <a:srgbClr val="008000"/>
          </a:solidFill>
          <a:ln w="635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400" dirty="0">
                <a:solidFill>
                  <a:schemeClr val="bg1"/>
                </a:solidFill>
              </a:rPr>
              <a:t>症状あり</a:t>
            </a:r>
          </a:p>
        </p:txBody>
      </p:sp>
      <p:sp>
        <p:nvSpPr>
          <p:cNvPr id="14" name="Rectangle 21">
            <a:extLst>
              <a:ext uri="{FF2B5EF4-FFF2-40B4-BE49-F238E27FC236}">
                <a16:creationId xmlns:a16="http://schemas.microsoft.com/office/drawing/2014/main" id="{AE2839C5-85D2-2C31-B04A-7D2732833E7B}"/>
              </a:ext>
            </a:extLst>
          </p:cNvPr>
          <p:cNvSpPr/>
          <p:nvPr/>
        </p:nvSpPr>
        <p:spPr>
          <a:xfrm>
            <a:off x="1371600" y="2080122"/>
            <a:ext cx="3154680" cy="1958680"/>
          </a:xfrm>
          <a:prstGeom prst="rect">
            <a:avLst/>
          </a:prstGeom>
          <a:solidFill>
            <a:schemeClr val="accent6">
              <a:lumMod val="20000"/>
              <a:lumOff val="80000"/>
            </a:schemeClr>
          </a:solidFill>
          <a:ln w="1524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solidFill>
                <a:schemeClr val="tx1"/>
              </a:solidFill>
            </a:endParaRPr>
          </a:p>
        </p:txBody>
      </p:sp>
      <p:sp>
        <p:nvSpPr>
          <p:cNvPr id="15" name="Rectangle 22">
            <a:extLst>
              <a:ext uri="{FF2B5EF4-FFF2-40B4-BE49-F238E27FC236}">
                <a16:creationId xmlns:a16="http://schemas.microsoft.com/office/drawing/2014/main" id="{805EC51D-8FB9-B01B-6FA1-AF1F47DE393D}"/>
              </a:ext>
            </a:extLst>
          </p:cNvPr>
          <p:cNvSpPr/>
          <p:nvPr/>
        </p:nvSpPr>
        <p:spPr>
          <a:xfrm>
            <a:off x="1371600" y="2080122"/>
            <a:ext cx="3154680" cy="306576"/>
          </a:xfrm>
          <a:prstGeom prst="rect">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solidFill>
                <a:schemeClr val="tx1"/>
              </a:solidFill>
            </a:endParaRPr>
          </a:p>
        </p:txBody>
      </p:sp>
      <p:sp>
        <p:nvSpPr>
          <p:cNvPr id="16" name="TextBox 23">
            <a:extLst>
              <a:ext uri="{FF2B5EF4-FFF2-40B4-BE49-F238E27FC236}">
                <a16:creationId xmlns:a16="http://schemas.microsoft.com/office/drawing/2014/main" id="{3507DE4F-EB8C-F2AF-2B51-80B84A4607C4}"/>
              </a:ext>
            </a:extLst>
          </p:cNvPr>
          <p:cNvSpPr txBox="1"/>
          <p:nvPr/>
        </p:nvSpPr>
        <p:spPr>
          <a:xfrm>
            <a:off x="1463040" y="2122702"/>
            <a:ext cx="2971800" cy="162480"/>
          </a:xfrm>
          <a:prstGeom prst="rect">
            <a:avLst/>
          </a:prstGeom>
          <a:solidFill>
            <a:schemeClr val="accent6">
              <a:lumMod val="20000"/>
              <a:lumOff val="80000"/>
            </a:schemeClr>
          </a:solidFill>
          <a:ln>
            <a:noFill/>
          </a:ln>
        </p:spPr>
        <p:txBody>
          <a:bodyPr wrap="square" lIns="0" tIns="0" rIns="0" bIns="0">
            <a:spAutoFit/>
          </a:bodyPr>
          <a:lstStyle/>
          <a:p>
            <a:pPr>
              <a:lnSpc>
                <a:spcPct val="112000"/>
              </a:lnSpc>
            </a:pPr>
            <a:r>
              <a:rPr sz="1050" b="1" dirty="0">
                <a:solidFill>
                  <a:srgbClr val="008000"/>
                </a:solidFill>
                <a:latin typeface="Meiryo UI"/>
                <a:ea typeface="Meiryo UI"/>
              </a:rPr>
              <a:t>① </a:t>
            </a:r>
            <a:r>
              <a:rPr sz="1050" b="1" dirty="0" err="1">
                <a:solidFill>
                  <a:srgbClr val="008000"/>
                </a:solidFill>
                <a:latin typeface="Meiryo UI"/>
                <a:ea typeface="Meiryo UI"/>
              </a:rPr>
              <a:t>補充買い</a:t>
            </a:r>
            <a:r>
              <a:rPr lang="ja-JP" altLang="en-US" sz="1050" b="1" dirty="0">
                <a:solidFill>
                  <a:srgbClr val="008000"/>
                </a:solidFill>
                <a:latin typeface="Meiryo UI"/>
                <a:ea typeface="Meiryo UI"/>
              </a:rPr>
              <a:t>（</a:t>
            </a:r>
            <a:r>
              <a:rPr sz="1050" b="1" dirty="0" err="1">
                <a:solidFill>
                  <a:srgbClr val="008000"/>
                </a:solidFill>
                <a:latin typeface="Meiryo UI"/>
                <a:ea typeface="Meiryo UI"/>
              </a:rPr>
              <a:t>習慣の定番購買</a:t>
            </a:r>
            <a:r>
              <a:rPr lang="ja-JP" altLang="en-US" sz="1050" b="1" dirty="0">
                <a:solidFill>
                  <a:srgbClr val="008000"/>
                </a:solidFill>
                <a:latin typeface="Meiryo UI"/>
                <a:ea typeface="Meiryo UI"/>
              </a:rPr>
              <a:t>）</a:t>
            </a:r>
            <a:endParaRPr sz="1050" b="1" dirty="0">
              <a:solidFill>
                <a:srgbClr val="008000"/>
              </a:solidFill>
              <a:latin typeface="Meiryo UI"/>
              <a:ea typeface="Meiryo UI"/>
            </a:endParaRPr>
          </a:p>
        </p:txBody>
      </p:sp>
      <p:sp>
        <p:nvSpPr>
          <p:cNvPr id="17" name="TextBox 24">
            <a:extLst>
              <a:ext uri="{FF2B5EF4-FFF2-40B4-BE49-F238E27FC236}">
                <a16:creationId xmlns:a16="http://schemas.microsoft.com/office/drawing/2014/main" id="{E57D28A8-222A-0CCD-0C4A-977814EF58EA}"/>
              </a:ext>
            </a:extLst>
          </p:cNvPr>
          <p:cNvSpPr txBox="1"/>
          <p:nvPr/>
        </p:nvSpPr>
        <p:spPr>
          <a:xfrm>
            <a:off x="1481328" y="2471858"/>
            <a:ext cx="2926080" cy="1051891"/>
          </a:xfrm>
          <a:prstGeom prst="rect">
            <a:avLst/>
          </a:prstGeom>
          <a:solidFill>
            <a:schemeClr val="accent6">
              <a:lumMod val="20000"/>
              <a:lumOff val="80000"/>
            </a:schemeClr>
          </a:solidFill>
          <a:ln>
            <a:noFill/>
          </a:ln>
        </p:spPr>
        <p:txBody>
          <a:bodyPr wrap="square" lIns="0" tIns="0" rIns="0" bIns="0">
            <a:spAutoFit/>
          </a:bodyPr>
          <a:lstStyle/>
          <a:p>
            <a:pPr>
              <a:lnSpc>
                <a:spcPct val="116000"/>
              </a:lnSpc>
            </a:pPr>
            <a:r>
              <a:rPr sz="1000" dirty="0">
                <a:latin typeface="Meiryo UI"/>
                <a:ea typeface="Meiryo UI"/>
              </a:rPr>
              <a:t>切れたから同じものを買う日用の定番購買（日用品購買の約9割は店頭）</a:t>
            </a:r>
          </a:p>
          <a:p>
            <a:pPr>
              <a:lnSpc>
                <a:spcPct val="116000"/>
              </a:lnSpc>
            </a:pPr>
            <a:r>
              <a:rPr sz="1000" dirty="0" err="1">
                <a:latin typeface="Meiryo UI"/>
                <a:ea typeface="Meiryo UI"/>
              </a:rPr>
              <a:t>勝ち方：AI自動補充・小売アルゴリズムの推奨リストに載り続け</a:t>
            </a:r>
            <a:r>
              <a:rPr sz="1000" dirty="0">
                <a:latin typeface="Meiryo UI"/>
                <a:ea typeface="Meiryo UI"/>
              </a:rPr>
              <a:t>、「</a:t>
            </a:r>
            <a:r>
              <a:rPr sz="1000" dirty="0" err="1">
                <a:latin typeface="Meiryo UI"/>
                <a:ea typeface="Meiryo UI"/>
              </a:rPr>
              <a:t>棚とAIの定番」の座を取る</a:t>
            </a:r>
            <a:endParaRPr sz="1000" dirty="0">
              <a:latin typeface="Meiryo UI"/>
              <a:ea typeface="Meiryo UI"/>
            </a:endParaRPr>
          </a:p>
          <a:p>
            <a:pPr>
              <a:lnSpc>
                <a:spcPct val="116000"/>
              </a:lnSpc>
            </a:pPr>
            <a:r>
              <a:rPr sz="1000" dirty="0">
                <a:latin typeface="Meiryo UI"/>
                <a:ea typeface="Meiryo UI"/>
              </a:rPr>
              <a:t>施策：A1★ </a:t>
            </a:r>
            <a:r>
              <a:rPr sz="1000" dirty="0" err="1">
                <a:latin typeface="Meiryo UI"/>
                <a:ea typeface="Meiryo UI"/>
              </a:rPr>
              <a:t>属性データの構造化・API化</a:t>
            </a:r>
            <a:endParaRPr sz="1000" dirty="0">
              <a:latin typeface="Meiryo UI"/>
              <a:ea typeface="Meiryo UI"/>
            </a:endParaRPr>
          </a:p>
          <a:p>
            <a:pPr>
              <a:lnSpc>
                <a:spcPct val="116000"/>
              </a:lnSpc>
            </a:pPr>
            <a:r>
              <a:rPr sz="1000" dirty="0" err="1">
                <a:latin typeface="Meiryo UI"/>
                <a:ea typeface="Meiryo UI"/>
              </a:rPr>
              <a:t>KPI：AI推奨リスト掲載率</a:t>
            </a:r>
            <a:endParaRPr sz="1000" dirty="0">
              <a:latin typeface="Meiryo UI"/>
              <a:ea typeface="Meiryo UI"/>
            </a:endParaRPr>
          </a:p>
        </p:txBody>
      </p:sp>
      <p:sp>
        <p:nvSpPr>
          <p:cNvPr id="18" name="Rectangle 25">
            <a:extLst>
              <a:ext uri="{FF2B5EF4-FFF2-40B4-BE49-F238E27FC236}">
                <a16:creationId xmlns:a16="http://schemas.microsoft.com/office/drawing/2014/main" id="{CB6C6CAC-B3FD-CD2D-04D8-70762132742E}"/>
              </a:ext>
            </a:extLst>
          </p:cNvPr>
          <p:cNvSpPr/>
          <p:nvPr/>
        </p:nvSpPr>
        <p:spPr>
          <a:xfrm>
            <a:off x="4617720" y="2080122"/>
            <a:ext cx="3154680" cy="1958680"/>
          </a:xfrm>
          <a:prstGeom prst="rect">
            <a:avLst/>
          </a:prstGeom>
          <a:solidFill>
            <a:schemeClr val="accent6">
              <a:lumMod val="20000"/>
              <a:lumOff val="80000"/>
            </a:schemeClr>
          </a:solidFill>
          <a:ln w="1524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solidFill>
                <a:schemeClr val="tx1"/>
              </a:solidFill>
            </a:endParaRPr>
          </a:p>
        </p:txBody>
      </p:sp>
      <p:sp>
        <p:nvSpPr>
          <p:cNvPr id="19" name="Rectangle 26">
            <a:extLst>
              <a:ext uri="{FF2B5EF4-FFF2-40B4-BE49-F238E27FC236}">
                <a16:creationId xmlns:a16="http://schemas.microsoft.com/office/drawing/2014/main" id="{C31171CA-072B-7925-3972-2CC50B3FCC3A}"/>
              </a:ext>
            </a:extLst>
          </p:cNvPr>
          <p:cNvSpPr/>
          <p:nvPr/>
        </p:nvSpPr>
        <p:spPr>
          <a:xfrm>
            <a:off x="4617720" y="2080122"/>
            <a:ext cx="3154680" cy="306576"/>
          </a:xfrm>
          <a:prstGeom prst="rect">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solidFill>
                <a:schemeClr val="tx1"/>
              </a:solidFill>
            </a:endParaRPr>
          </a:p>
        </p:txBody>
      </p:sp>
      <p:sp>
        <p:nvSpPr>
          <p:cNvPr id="20" name="TextBox 27">
            <a:extLst>
              <a:ext uri="{FF2B5EF4-FFF2-40B4-BE49-F238E27FC236}">
                <a16:creationId xmlns:a16="http://schemas.microsoft.com/office/drawing/2014/main" id="{34544655-C064-25EE-D871-B4EC45522756}"/>
              </a:ext>
            </a:extLst>
          </p:cNvPr>
          <p:cNvSpPr txBox="1"/>
          <p:nvPr/>
        </p:nvSpPr>
        <p:spPr>
          <a:xfrm>
            <a:off x="4709159" y="2122702"/>
            <a:ext cx="2971800" cy="162480"/>
          </a:xfrm>
          <a:prstGeom prst="rect">
            <a:avLst/>
          </a:prstGeom>
          <a:solidFill>
            <a:schemeClr val="accent6">
              <a:lumMod val="20000"/>
              <a:lumOff val="80000"/>
            </a:schemeClr>
          </a:solidFill>
          <a:ln>
            <a:noFill/>
          </a:ln>
        </p:spPr>
        <p:txBody>
          <a:bodyPr wrap="square" lIns="0" tIns="0" rIns="0" bIns="0">
            <a:spAutoFit/>
          </a:bodyPr>
          <a:lstStyle/>
          <a:p>
            <a:pPr>
              <a:lnSpc>
                <a:spcPct val="112000"/>
              </a:lnSpc>
            </a:pPr>
            <a:r>
              <a:rPr sz="1050" b="1" dirty="0">
                <a:solidFill>
                  <a:srgbClr val="008000"/>
                </a:solidFill>
                <a:latin typeface="Meiryo UI"/>
                <a:ea typeface="Meiryo UI"/>
              </a:rPr>
              <a:t>③ </a:t>
            </a:r>
            <a:r>
              <a:rPr sz="1050" b="1" dirty="0" err="1">
                <a:solidFill>
                  <a:srgbClr val="008000"/>
                </a:solidFill>
                <a:latin typeface="Meiryo UI"/>
                <a:ea typeface="Meiryo UI"/>
              </a:rPr>
              <a:t>予防</a:t>
            </a:r>
            <a:r>
              <a:rPr lang="ja-JP" altLang="en-US" sz="1050" b="1" dirty="0">
                <a:solidFill>
                  <a:srgbClr val="008000"/>
                </a:solidFill>
                <a:latin typeface="Meiryo UI"/>
                <a:ea typeface="Meiryo UI"/>
              </a:rPr>
              <a:t>（</a:t>
            </a:r>
            <a:r>
              <a:rPr sz="1050" b="1" dirty="0" err="1">
                <a:solidFill>
                  <a:srgbClr val="008000"/>
                </a:solidFill>
                <a:latin typeface="Meiryo UI"/>
                <a:ea typeface="Meiryo UI"/>
              </a:rPr>
              <a:t>健診・啓発が起点</a:t>
            </a:r>
            <a:r>
              <a:rPr lang="ja-JP" altLang="en-US" sz="1050" b="1" dirty="0">
                <a:solidFill>
                  <a:srgbClr val="008000"/>
                </a:solidFill>
                <a:latin typeface="Meiryo UI"/>
                <a:ea typeface="Meiryo UI"/>
              </a:rPr>
              <a:t>）</a:t>
            </a:r>
            <a:endParaRPr sz="1050" b="1" dirty="0">
              <a:solidFill>
                <a:srgbClr val="008000"/>
              </a:solidFill>
              <a:latin typeface="Meiryo UI"/>
              <a:ea typeface="Meiryo UI"/>
            </a:endParaRPr>
          </a:p>
        </p:txBody>
      </p:sp>
      <p:sp>
        <p:nvSpPr>
          <p:cNvPr id="21" name="TextBox 28">
            <a:extLst>
              <a:ext uri="{FF2B5EF4-FFF2-40B4-BE49-F238E27FC236}">
                <a16:creationId xmlns:a16="http://schemas.microsoft.com/office/drawing/2014/main" id="{1F2F897F-4A7B-5575-46D2-14338114D77C}"/>
              </a:ext>
            </a:extLst>
          </p:cNvPr>
          <p:cNvSpPr txBox="1"/>
          <p:nvPr/>
        </p:nvSpPr>
        <p:spPr>
          <a:xfrm>
            <a:off x="4727448" y="2471858"/>
            <a:ext cx="2926080" cy="1051891"/>
          </a:xfrm>
          <a:prstGeom prst="rect">
            <a:avLst/>
          </a:prstGeom>
          <a:solidFill>
            <a:schemeClr val="accent6">
              <a:lumMod val="20000"/>
              <a:lumOff val="80000"/>
            </a:schemeClr>
          </a:solidFill>
          <a:ln>
            <a:noFill/>
          </a:ln>
        </p:spPr>
        <p:txBody>
          <a:bodyPr wrap="square" lIns="0" tIns="0" rIns="0" bIns="0">
            <a:spAutoFit/>
          </a:bodyPr>
          <a:lstStyle/>
          <a:p>
            <a:pPr>
              <a:lnSpc>
                <a:spcPct val="116000"/>
              </a:lnSpc>
            </a:pPr>
            <a:r>
              <a:rPr sz="1000">
                <a:latin typeface="Meiryo UI"/>
                <a:ea typeface="Meiryo UI"/>
              </a:rPr>
              <a:t>症状が出る前の先行ケア。皆歯科健診（骨太2022明記）・学校啓発が需要を作る</a:t>
            </a:r>
          </a:p>
          <a:p>
            <a:pPr>
              <a:lnSpc>
                <a:spcPct val="116000"/>
              </a:lnSpc>
            </a:pPr>
            <a:r>
              <a:rPr sz="1000">
                <a:latin typeface="Meiryo UI"/>
                <a:ea typeface="Meiryo UI"/>
              </a:rPr>
              <a:t>勝ち方：学校・自治体・健診ルートを接点化し、若年層から習慣を定着させる</a:t>
            </a:r>
          </a:p>
          <a:p>
            <a:pPr>
              <a:lnSpc>
                <a:spcPct val="116000"/>
              </a:lnSpc>
            </a:pPr>
            <a:r>
              <a:rPr sz="1000">
                <a:latin typeface="Meiryo UI"/>
                <a:ea typeface="Meiryo UI"/>
              </a:rPr>
              <a:t>施策：A2 学校・自治体ルートのデジタル化</a:t>
            </a:r>
          </a:p>
          <a:p>
            <a:pPr>
              <a:lnSpc>
                <a:spcPct val="116000"/>
              </a:lnSpc>
            </a:pPr>
            <a:r>
              <a:rPr sz="1000">
                <a:latin typeface="Meiryo UI"/>
                <a:ea typeface="Meiryo UI"/>
              </a:rPr>
              <a:t>KPI：若年層習慣定着率</a:t>
            </a:r>
          </a:p>
        </p:txBody>
      </p:sp>
      <p:sp>
        <p:nvSpPr>
          <p:cNvPr id="22" name="Rectangle 29">
            <a:extLst>
              <a:ext uri="{FF2B5EF4-FFF2-40B4-BE49-F238E27FC236}">
                <a16:creationId xmlns:a16="http://schemas.microsoft.com/office/drawing/2014/main" id="{85CE7659-BF1E-6084-A520-85B9FD57E502}"/>
              </a:ext>
            </a:extLst>
          </p:cNvPr>
          <p:cNvSpPr/>
          <p:nvPr/>
        </p:nvSpPr>
        <p:spPr>
          <a:xfrm>
            <a:off x="1371600" y="4149511"/>
            <a:ext cx="3154680" cy="1958680"/>
          </a:xfrm>
          <a:prstGeom prst="rect">
            <a:avLst/>
          </a:prstGeom>
          <a:solidFill>
            <a:schemeClr val="accent6">
              <a:lumMod val="20000"/>
              <a:lumOff val="80000"/>
            </a:schemeClr>
          </a:solidFill>
          <a:ln w="1524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solidFill>
                <a:schemeClr val="tx1"/>
              </a:solidFill>
            </a:endParaRPr>
          </a:p>
        </p:txBody>
      </p:sp>
      <p:sp>
        <p:nvSpPr>
          <p:cNvPr id="23" name="Rectangle 30">
            <a:extLst>
              <a:ext uri="{FF2B5EF4-FFF2-40B4-BE49-F238E27FC236}">
                <a16:creationId xmlns:a16="http://schemas.microsoft.com/office/drawing/2014/main" id="{621AC2EC-BA59-97FC-95EC-95316D7168CE}"/>
              </a:ext>
            </a:extLst>
          </p:cNvPr>
          <p:cNvSpPr/>
          <p:nvPr/>
        </p:nvSpPr>
        <p:spPr>
          <a:xfrm>
            <a:off x="1371600" y="4149511"/>
            <a:ext cx="3154680" cy="306576"/>
          </a:xfrm>
          <a:prstGeom prst="rect">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solidFill>
                <a:schemeClr val="tx1"/>
              </a:solidFill>
            </a:endParaRPr>
          </a:p>
        </p:txBody>
      </p:sp>
      <p:sp>
        <p:nvSpPr>
          <p:cNvPr id="24" name="TextBox 31">
            <a:extLst>
              <a:ext uri="{FF2B5EF4-FFF2-40B4-BE49-F238E27FC236}">
                <a16:creationId xmlns:a16="http://schemas.microsoft.com/office/drawing/2014/main" id="{0EF43B9E-BD4F-127B-EE04-5DB891632AE9}"/>
              </a:ext>
            </a:extLst>
          </p:cNvPr>
          <p:cNvSpPr txBox="1"/>
          <p:nvPr/>
        </p:nvSpPr>
        <p:spPr>
          <a:xfrm>
            <a:off x="1463040" y="4192090"/>
            <a:ext cx="2971800" cy="162480"/>
          </a:xfrm>
          <a:prstGeom prst="rect">
            <a:avLst/>
          </a:prstGeom>
          <a:solidFill>
            <a:schemeClr val="accent6">
              <a:lumMod val="20000"/>
              <a:lumOff val="80000"/>
            </a:schemeClr>
          </a:solidFill>
          <a:ln>
            <a:noFill/>
          </a:ln>
        </p:spPr>
        <p:txBody>
          <a:bodyPr wrap="square" lIns="0" tIns="0" rIns="0" bIns="0">
            <a:spAutoFit/>
          </a:bodyPr>
          <a:lstStyle/>
          <a:p>
            <a:pPr>
              <a:lnSpc>
                <a:spcPct val="112000"/>
              </a:lnSpc>
            </a:pPr>
            <a:r>
              <a:rPr sz="1050" b="1" dirty="0">
                <a:solidFill>
                  <a:srgbClr val="008000"/>
                </a:solidFill>
                <a:latin typeface="Meiryo UI"/>
                <a:ea typeface="Meiryo UI"/>
              </a:rPr>
              <a:t>② </a:t>
            </a:r>
            <a:r>
              <a:rPr sz="1050" b="1" dirty="0" err="1">
                <a:solidFill>
                  <a:srgbClr val="008000"/>
                </a:solidFill>
                <a:latin typeface="Meiryo UI"/>
                <a:ea typeface="Meiryo UI"/>
              </a:rPr>
              <a:t>悩み</a:t>
            </a:r>
            <a:r>
              <a:rPr lang="en-US" altLang="ja-JP" sz="1050" b="1" dirty="0">
                <a:solidFill>
                  <a:srgbClr val="008000"/>
                </a:solidFill>
                <a:latin typeface="Meiryo UI"/>
                <a:ea typeface="Meiryo UI"/>
              </a:rPr>
              <a:t>(</a:t>
            </a:r>
            <a:r>
              <a:rPr sz="1050" b="1" dirty="0" err="1">
                <a:solidFill>
                  <a:srgbClr val="008000"/>
                </a:solidFill>
                <a:latin typeface="Meiryo UI"/>
                <a:ea typeface="Meiryo UI"/>
              </a:rPr>
              <a:t>症状をセルフケアで解決</a:t>
            </a:r>
            <a:r>
              <a:rPr lang="en-US" altLang="ja-JP" sz="1050" b="1" dirty="0">
                <a:solidFill>
                  <a:srgbClr val="008000"/>
                </a:solidFill>
                <a:latin typeface="Meiryo UI"/>
                <a:ea typeface="Meiryo UI"/>
              </a:rPr>
              <a:t>)</a:t>
            </a:r>
            <a:endParaRPr sz="1050" b="1" dirty="0">
              <a:solidFill>
                <a:srgbClr val="008000"/>
              </a:solidFill>
              <a:latin typeface="Meiryo UI"/>
              <a:ea typeface="Meiryo UI"/>
            </a:endParaRPr>
          </a:p>
        </p:txBody>
      </p:sp>
      <p:sp>
        <p:nvSpPr>
          <p:cNvPr id="25" name="TextBox 32">
            <a:extLst>
              <a:ext uri="{FF2B5EF4-FFF2-40B4-BE49-F238E27FC236}">
                <a16:creationId xmlns:a16="http://schemas.microsoft.com/office/drawing/2014/main" id="{131A2635-C729-46B1-DC2E-FC16D2956C27}"/>
              </a:ext>
            </a:extLst>
          </p:cNvPr>
          <p:cNvSpPr txBox="1"/>
          <p:nvPr/>
        </p:nvSpPr>
        <p:spPr>
          <a:xfrm>
            <a:off x="1481328" y="4541247"/>
            <a:ext cx="2926080" cy="1051891"/>
          </a:xfrm>
          <a:prstGeom prst="rect">
            <a:avLst/>
          </a:prstGeom>
          <a:solidFill>
            <a:schemeClr val="accent6">
              <a:lumMod val="20000"/>
              <a:lumOff val="80000"/>
            </a:schemeClr>
          </a:solidFill>
          <a:ln>
            <a:noFill/>
          </a:ln>
        </p:spPr>
        <p:txBody>
          <a:bodyPr wrap="square" lIns="0" tIns="0" rIns="0" bIns="0">
            <a:spAutoFit/>
          </a:bodyPr>
          <a:lstStyle/>
          <a:p>
            <a:pPr>
              <a:lnSpc>
                <a:spcPct val="116000"/>
              </a:lnSpc>
            </a:pPr>
            <a:r>
              <a:rPr sz="1000">
                <a:latin typeface="Meiryo UI"/>
                <a:ea typeface="Meiryo UI"/>
              </a:rPr>
              <a:t>知覚過敏・口臭・歯周などを店頭・ECで自分で解決する高関与購買</a:t>
            </a:r>
          </a:p>
          <a:p>
            <a:pPr>
              <a:lnSpc>
                <a:spcPct val="116000"/>
              </a:lnSpc>
            </a:pPr>
            <a:r>
              <a:rPr sz="1000">
                <a:latin typeface="Meiryo UI"/>
                <a:ea typeface="Meiryo UI"/>
              </a:rPr>
              <a:t>勝ち方：検索・AI回答に「効く根拠」を供給し、値引きではなく指名で選ばれる</a:t>
            </a:r>
          </a:p>
          <a:p>
            <a:pPr>
              <a:lnSpc>
                <a:spcPct val="116000"/>
              </a:lnSpc>
            </a:pPr>
            <a:r>
              <a:rPr sz="1000">
                <a:latin typeface="Meiryo UI"/>
                <a:ea typeface="Meiryo UI"/>
              </a:rPr>
              <a:t>施策：C1★ 臨床データ変換（消費者向け根拠）</a:t>
            </a:r>
          </a:p>
          <a:p>
            <a:pPr>
              <a:lnSpc>
                <a:spcPct val="116000"/>
              </a:lnSpc>
            </a:pPr>
            <a:r>
              <a:rPr sz="1000">
                <a:latin typeface="Meiryo UI"/>
                <a:ea typeface="Meiryo UI"/>
              </a:rPr>
              <a:t>KPI：AIEO Rate（AI推奨シェア）</a:t>
            </a:r>
          </a:p>
        </p:txBody>
      </p:sp>
      <p:sp>
        <p:nvSpPr>
          <p:cNvPr id="26" name="Rectangle 33">
            <a:extLst>
              <a:ext uri="{FF2B5EF4-FFF2-40B4-BE49-F238E27FC236}">
                <a16:creationId xmlns:a16="http://schemas.microsoft.com/office/drawing/2014/main" id="{1996C1AC-BB22-F44F-21DD-039CE2C25CEB}"/>
              </a:ext>
            </a:extLst>
          </p:cNvPr>
          <p:cNvSpPr/>
          <p:nvPr/>
        </p:nvSpPr>
        <p:spPr>
          <a:xfrm>
            <a:off x="4617720" y="4149511"/>
            <a:ext cx="3154680" cy="1958680"/>
          </a:xfrm>
          <a:prstGeom prst="rect">
            <a:avLst/>
          </a:prstGeom>
          <a:solidFill>
            <a:schemeClr val="accent6">
              <a:lumMod val="20000"/>
              <a:lumOff val="80000"/>
            </a:schemeClr>
          </a:solidFill>
          <a:ln w="1524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solidFill>
                <a:schemeClr val="tx1"/>
              </a:solidFill>
            </a:endParaRPr>
          </a:p>
        </p:txBody>
      </p:sp>
      <p:sp>
        <p:nvSpPr>
          <p:cNvPr id="27" name="Rectangle 34">
            <a:extLst>
              <a:ext uri="{FF2B5EF4-FFF2-40B4-BE49-F238E27FC236}">
                <a16:creationId xmlns:a16="http://schemas.microsoft.com/office/drawing/2014/main" id="{036CCBA7-5533-96FD-59CE-6AA7A7F42A6E}"/>
              </a:ext>
            </a:extLst>
          </p:cNvPr>
          <p:cNvSpPr/>
          <p:nvPr/>
        </p:nvSpPr>
        <p:spPr>
          <a:xfrm>
            <a:off x="4617720" y="4149511"/>
            <a:ext cx="3154680" cy="306576"/>
          </a:xfrm>
          <a:prstGeom prst="rect">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solidFill>
                <a:schemeClr val="tx1"/>
              </a:solidFill>
            </a:endParaRPr>
          </a:p>
        </p:txBody>
      </p:sp>
      <p:sp>
        <p:nvSpPr>
          <p:cNvPr id="28" name="TextBox 35">
            <a:extLst>
              <a:ext uri="{FF2B5EF4-FFF2-40B4-BE49-F238E27FC236}">
                <a16:creationId xmlns:a16="http://schemas.microsoft.com/office/drawing/2014/main" id="{C82523F4-7376-C1C2-D14C-14738BB659C8}"/>
              </a:ext>
            </a:extLst>
          </p:cNvPr>
          <p:cNvSpPr txBox="1"/>
          <p:nvPr/>
        </p:nvSpPr>
        <p:spPr>
          <a:xfrm>
            <a:off x="4709159" y="4192090"/>
            <a:ext cx="2971800" cy="162480"/>
          </a:xfrm>
          <a:prstGeom prst="rect">
            <a:avLst/>
          </a:prstGeom>
          <a:solidFill>
            <a:schemeClr val="accent6">
              <a:lumMod val="20000"/>
              <a:lumOff val="80000"/>
            </a:schemeClr>
          </a:solidFill>
          <a:ln>
            <a:noFill/>
          </a:ln>
        </p:spPr>
        <p:txBody>
          <a:bodyPr wrap="square" lIns="0" tIns="0" rIns="0" bIns="0">
            <a:spAutoFit/>
          </a:bodyPr>
          <a:lstStyle/>
          <a:p>
            <a:pPr>
              <a:lnSpc>
                <a:spcPct val="112000"/>
              </a:lnSpc>
            </a:pPr>
            <a:r>
              <a:rPr sz="1050" b="1" dirty="0">
                <a:solidFill>
                  <a:srgbClr val="008000"/>
                </a:solidFill>
                <a:latin typeface="Meiryo UI"/>
                <a:ea typeface="Meiryo UI"/>
              </a:rPr>
              <a:t>④ </a:t>
            </a:r>
            <a:r>
              <a:rPr sz="1050" b="1" dirty="0" err="1">
                <a:solidFill>
                  <a:srgbClr val="008000"/>
                </a:solidFill>
                <a:latin typeface="Meiryo UI"/>
                <a:ea typeface="Meiryo UI"/>
              </a:rPr>
              <a:t>口腔機能</a:t>
            </a:r>
            <a:r>
              <a:rPr lang="en-US" altLang="ja-JP" sz="1050" b="1" dirty="0">
                <a:solidFill>
                  <a:srgbClr val="008000"/>
                </a:solidFill>
                <a:latin typeface="Meiryo UI"/>
                <a:ea typeface="Meiryo UI"/>
              </a:rPr>
              <a:t>(</a:t>
            </a:r>
            <a:r>
              <a:rPr sz="1050" b="1" dirty="0" err="1">
                <a:solidFill>
                  <a:srgbClr val="008000"/>
                </a:solidFill>
                <a:latin typeface="Meiryo UI"/>
                <a:ea typeface="Meiryo UI"/>
              </a:rPr>
              <a:t>機能の維持・回復</a:t>
            </a:r>
            <a:r>
              <a:rPr lang="en-US" altLang="ja-JP" sz="1050" b="1" dirty="0">
                <a:solidFill>
                  <a:srgbClr val="008000"/>
                </a:solidFill>
                <a:latin typeface="Meiryo UI"/>
                <a:ea typeface="Meiryo UI"/>
              </a:rPr>
              <a:t>)</a:t>
            </a:r>
            <a:endParaRPr sz="1050" b="1" dirty="0">
              <a:solidFill>
                <a:srgbClr val="008000"/>
              </a:solidFill>
              <a:latin typeface="Meiryo UI"/>
              <a:ea typeface="Meiryo UI"/>
            </a:endParaRPr>
          </a:p>
        </p:txBody>
      </p:sp>
      <p:sp>
        <p:nvSpPr>
          <p:cNvPr id="29" name="TextBox 36">
            <a:extLst>
              <a:ext uri="{FF2B5EF4-FFF2-40B4-BE49-F238E27FC236}">
                <a16:creationId xmlns:a16="http://schemas.microsoft.com/office/drawing/2014/main" id="{960457F2-4F6C-74D2-7CEA-4879289A3369}"/>
              </a:ext>
            </a:extLst>
          </p:cNvPr>
          <p:cNvSpPr txBox="1"/>
          <p:nvPr/>
        </p:nvSpPr>
        <p:spPr>
          <a:xfrm>
            <a:off x="4727448" y="4541247"/>
            <a:ext cx="2926080" cy="1051891"/>
          </a:xfrm>
          <a:prstGeom prst="rect">
            <a:avLst/>
          </a:prstGeom>
          <a:solidFill>
            <a:schemeClr val="accent6">
              <a:lumMod val="20000"/>
              <a:lumOff val="80000"/>
            </a:schemeClr>
          </a:solidFill>
          <a:ln>
            <a:noFill/>
          </a:ln>
        </p:spPr>
        <p:txBody>
          <a:bodyPr wrap="square" lIns="0" tIns="0" rIns="0" bIns="0">
            <a:spAutoFit/>
          </a:bodyPr>
          <a:lstStyle/>
          <a:p>
            <a:pPr>
              <a:lnSpc>
                <a:spcPct val="116000"/>
              </a:lnSpc>
            </a:pPr>
            <a:r>
              <a:rPr sz="1000">
                <a:latin typeface="Meiryo UI"/>
                <a:ea typeface="Meiryo UI"/>
              </a:rPr>
              <a:t>加齢で落ちた機能の維持・回復。口腔機能低下症（2018年保険病名化）・介護連携</a:t>
            </a:r>
          </a:p>
          <a:p>
            <a:pPr>
              <a:lnSpc>
                <a:spcPct val="116000"/>
              </a:lnSpc>
            </a:pPr>
            <a:r>
              <a:rPr sz="1000">
                <a:latin typeface="Meiryo UI"/>
                <a:ea typeface="Meiryo UI"/>
              </a:rPr>
              <a:t>勝ち方：歯科・介護の専門職推奨で選ばれるB2B2C。推奨と購買はDCRで照合する</a:t>
            </a:r>
          </a:p>
          <a:p>
            <a:pPr>
              <a:lnSpc>
                <a:spcPct val="116000"/>
              </a:lnSpc>
            </a:pPr>
            <a:r>
              <a:rPr sz="1000">
                <a:latin typeface="Meiryo UI"/>
                <a:ea typeface="Meiryo UI"/>
              </a:rPr>
              <a:t>施策：C1★・DCR（小売データ照合）</a:t>
            </a:r>
          </a:p>
          <a:p>
            <a:pPr>
              <a:lnSpc>
                <a:spcPct val="116000"/>
              </a:lnSpc>
            </a:pPr>
            <a:r>
              <a:rPr sz="1000">
                <a:latin typeface="Meiryo UI"/>
                <a:ea typeface="Meiryo UI"/>
              </a:rPr>
              <a:t>KPI：B2B2C推奨起点売上比率</a:t>
            </a:r>
          </a:p>
        </p:txBody>
      </p:sp>
      <p:sp>
        <p:nvSpPr>
          <p:cNvPr id="38" name="Rectangle 37">
            <a:extLst>
              <a:ext uri="{FF2B5EF4-FFF2-40B4-BE49-F238E27FC236}">
                <a16:creationId xmlns:a16="http://schemas.microsoft.com/office/drawing/2014/main" id="{75D04BDB-1E70-7600-3383-F947CEAC5377}"/>
              </a:ext>
            </a:extLst>
          </p:cNvPr>
          <p:cNvSpPr/>
          <p:nvPr/>
        </p:nvSpPr>
        <p:spPr>
          <a:xfrm>
            <a:off x="7909560" y="1628774"/>
            <a:ext cx="3931920" cy="2410029"/>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40" name="TextBox 38">
            <a:extLst>
              <a:ext uri="{FF2B5EF4-FFF2-40B4-BE49-F238E27FC236}">
                <a16:creationId xmlns:a16="http://schemas.microsoft.com/office/drawing/2014/main" id="{8EDCE0E4-6D73-9B79-B6C0-CE71869897CD}"/>
              </a:ext>
            </a:extLst>
          </p:cNvPr>
          <p:cNvSpPr txBox="1"/>
          <p:nvPr/>
        </p:nvSpPr>
        <p:spPr>
          <a:xfrm>
            <a:off x="8046720" y="1713934"/>
            <a:ext cx="3657600" cy="170239"/>
          </a:xfrm>
          <a:prstGeom prst="rect">
            <a:avLst/>
          </a:prstGeom>
          <a:noFill/>
        </p:spPr>
        <p:txBody>
          <a:bodyPr wrap="square" lIns="0" tIns="0" rIns="0" bIns="0">
            <a:spAutoFit/>
          </a:bodyPr>
          <a:lstStyle/>
          <a:p>
            <a:pPr>
              <a:lnSpc>
                <a:spcPct val="112000"/>
              </a:lnSpc>
            </a:pPr>
            <a:r>
              <a:rPr sz="1100" b="1">
                <a:solidFill>
                  <a:srgbClr val="008D2E"/>
                </a:solidFill>
                <a:latin typeface="Meiryo UI"/>
                <a:ea typeface="Meiryo UI"/>
              </a:rPr>
              <a:t>分割の運用ルール（境界の決め方）</a:t>
            </a:r>
          </a:p>
        </p:txBody>
      </p:sp>
      <p:sp>
        <p:nvSpPr>
          <p:cNvPr id="42" name="TextBox 39">
            <a:extLst>
              <a:ext uri="{FF2B5EF4-FFF2-40B4-BE49-F238E27FC236}">
                <a16:creationId xmlns:a16="http://schemas.microsoft.com/office/drawing/2014/main" id="{E2FBFC6C-B8A2-36BA-2727-59DB77C45899}"/>
              </a:ext>
            </a:extLst>
          </p:cNvPr>
          <p:cNvSpPr txBox="1"/>
          <p:nvPr/>
        </p:nvSpPr>
        <p:spPr>
          <a:xfrm>
            <a:off x="8046720" y="2020510"/>
            <a:ext cx="3657600" cy="939168"/>
          </a:xfrm>
          <a:prstGeom prst="rect">
            <a:avLst/>
          </a:prstGeom>
          <a:noFill/>
        </p:spPr>
        <p:txBody>
          <a:bodyPr wrap="square" lIns="0" tIns="0" rIns="0" bIns="0">
            <a:spAutoFit/>
          </a:bodyPr>
          <a:lstStyle/>
          <a:p>
            <a:pPr>
              <a:lnSpc>
                <a:spcPct val="125000"/>
              </a:lnSpc>
            </a:pPr>
            <a:r>
              <a:rPr sz="1000" dirty="0">
                <a:solidFill>
                  <a:srgbClr val="262626"/>
                </a:solidFill>
                <a:latin typeface="Meiryo UI"/>
                <a:ea typeface="Meiryo UI"/>
              </a:rPr>
              <a:t>ルール1　</a:t>
            </a:r>
            <a:r>
              <a:rPr sz="1000" dirty="0" err="1">
                <a:solidFill>
                  <a:srgbClr val="262626"/>
                </a:solidFill>
                <a:latin typeface="Meiryo UI"/>
                <a:ea typeface="Meiryo UI"/>
              </a:rPr>
              <a:t>継続購買は「初回動機」の市場に留めて数える</a:t>
            </a:r>
            <a:r>
              <a:rPr sz="1000" dirty="0">
                <a:solidFill>
                  <a:srgbClr val="262626"/>
                </a:solidFill>
                <a:latin typeface="Meiryo UI"/>
                <a:ea typeface="Meiryo UI"/>
              </a:rPr>
              <a:t> ― </a:t>
            </a:r>
            <a:r>
              <a:rPr sz="1000" dirty="0" err="1">
                <a:solidFill>
                  <a:srgbClr val="262626"/>
                </a:solidFill>
                <a:latin typeface="Meiryo UI"/>
                <a:ea typeface="Meiryo UI"/>
              </a:rPr>
              <a:t>悩み→補充への移行率が、そのまま「習慣化」の成果指標になる</a:t>
            </a:r>
            <a:endParaRPr sz="1000" dirty="0">
              <a:solidFill>
                <a:srgbClr val="262626"/>
              </a:solidFill>
              <a:latin typeface="Meiryo UI"/>
              <a:ea typeface="Meiryo UI"/>
            </a:endParaRPr>
          </a:p>
          <a:p>
            <a:pPr>
              <a:lnSpc>
                <a:spcPct val="125000"/>
              </a:lnSpc>
            </a:pPr>
            <a:endParaRPr lang="en-US" sz="1000" dirty="0">
              <a:solidFill>
                <a:srgbClr val="262626"/>
              </a:solidFill>
              <a:latin typeface="Meiryo UI"/>
              <a:ea typeface="Meiryo UI"/>
            </a:endParaRPr>
          </a:p>
          <a:p>
            <a:pPr>
              <a:lnSpc>
                <a:spcPct val="125000"/>
              </a:lnSpc>
            </a:pPr>
            <a:r>
              <a:rPr sz="1000" dirty="0">
                <a:solidFill>
                  <a:srgbClr val="262626"/>
                </a:solidFill>
                <a:latin typeface="Meiryo UI"/>
                <a:ea typeface="Meiryo UI"/>
              </a:rPr>
              <a:t>ルール2　</a:t>
            </a:r>
            <a:r>
              <a:rPr sz="1000" dirty="0" err="1">
                <a:solidFill>
                  <a:srgbClr val="262626"/>
                </a:solidFill>
                <a:latin typeface="Meiryo UI"/>
                <a:ea typeface="Meiryo UI"/>
              </a:rPr>
              <a:t>専門職の推奨が意思決定を主導した購買は右側に分類する。特売・チラシでの購買は①の価格による加速として扱う</a:t>
            </a:r>
            <a:endParaRPr sz="1000" dirty="0">
              <a:solidFill>
                <a:srgbClr val="262626"/>
              </a:solidFill>
              <a:latin typeface="Meiryo UI"/>
              <a:ea typeface="Meiryo UI"/>
            </a:endParaRPr>
          </a:p>
        </p:txBody>
      </p:sp>
      <p:sp>
        <p:nvSpPr>
          <p:cNvPr id="44" name="Rectangle 40">
            <a:extLst>
              <a:ext uri="{FF2B5EF4-FFF2-40B4-BE49-F238E27FC236}">
                <a16:creationId xmlns:a16="http://schemas.microsoft.com/office/drawing/2014/main" id="{A12F0452-63C7-A4BE-EBB9-621650EC78FD}"/>
              </a:ext>
            </a:extLst>
          </p:cNvPr>
          <p:cNvSpPr/>
          <p:nvPr/>
        </p:nvSpPr>
        <p:spPr>
          <a:xfrm>
            <a:off x="7909560" y="4149511"/>
            <a:ext cx="3931920" cy="1958680"/>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46" name="TextBox 41">
            <a:extLst>
              <a:ext uri="{FF2B5EF4-FFF2-40B4-BE49-F238E27FC236}">
                <a16:creationId xmlns:a16="http://schemas.microsoft.com/office/drawing/2014/main" id="{E29E155C-7C59-D5F3-E8D1-0356A8EB0D79}"/>
              </a:ext>
            </a:extLst>
          </p:cNvPr>
          <p:cNvSpPr txBox="1"/>
          <p:nvPr/>
        </p:nvSpPr>
        <p:spPr>
          <a:xfrm>
            <a:off x="8046720" y="4234671"/>
            <a:ext cx="3657600" cy="170239"/>
          </a:xfrm>
          <a:prstGeom prst="rect">
            <a:avLst/>
          </a:prstGeom>
          <a:noFill/>
        </p:spPr>
        <p:txBody>
          <a:bodyPr wrap="square" lIns="0" tIns="0" rIns="0" bIns="0">
            <a:spAutoFit/>
          </a:bodyPr>
          <a:lstStyle/>
          <a:p>
            <a:pPr>
              <a:lnSpc>
                <a:spcPct val="112000"/>
              </a:lnSpc>
            </a:pPr>
            <a:r>
              <a:rPr sz="1100" b="1">
                <a:solidFill>
                  <a:srgbClr val="008D2E"/>
                </a:solidFill>
                <a:latin typeface="Meiryo UI"/>
                <a:ea typeface="Meiryo UI"/>
              </a:rPr>
              <a:t>実測で確定（仮説のまま使わない）</a:t>
            </a:r>
          </a:p>
        </p:txBody>
      </p:sp>
      <p:sp>
        <p:nvSpPr>
          <p:cNvPr id="48" name="TextBox 42">
            <a:extLst>
              <a:ext uri="{FF2B5EF4-FFF2-40B4-BE49-F238E27FC236}">
                <a16:creationId xmlns:a16="http://schemas.microsoft.com/office/drawing/2014/main" id="{4A1AFAD1-3C31-0DCC-6524-5EDB1BDD0414}"/>
              </a:ext>
            </a:extLst>
          </p:cNvPr>
          <p:cNvSpPr txBox="1"/>
          <p:nvPr/>
        </p:nvSpPr>
        <p:spPr>
          <a:xfrm>
            <a:off x="8046720" y="4541247"/>
            <a:ext cx="3657600" cy="554447"/>
          </a:xfrm>
          <a:prstGeom prst="rect">
            <a:avLst/>
          </a:prstGeom>
          <a:noFill/>
        </p:spPr>
        <p:txBody>
          <a:bodyPr wrap="square" lIns="0" tIns="0" rIns="0" bIns="0">
            <a:spAutoFit/>
          </a:bodyPr>
          <a:lstStyle/>
          <a:p>
            <a:pPr>
              <a:lnSpc>
                <a:spcPct val="125000"/>
              </a:lnSpc>
            </a:pPr>
            <a:r>
              <a:rPr sz="1000" b="0" dirty="0">
                <a:solidFill>
                  <a:srgbClr val="262626"/>
                </a:solidFill>
                <a:latin typeface="Meiryo UI"/>
                <a:ea typeface="Meiryo UI"/>
              </a:rPr>
              <a:t>4市場の構成比・市場サイズは、FY26上期にID-POS・購買経路データで実測する。結果次第で市場の統合・境界変更を行い、市場別KPIの目標値もそこで確定する ― </a:t>
            </a:r>
            <a:r>
              <a:rPr sz="1000" b="0" dirty="0" err="1">
                <a:solidFill>
                  <a:srgbClr val="262626"/>
                </a:solidFill>
                <a:latin typeface="Meiryo UI"/>
                <a:ea typeface="Meiryo UI"/>
              </a:rPr>
              <a:t>分割は検証対象であり、聖域ではない</a:t>
            </a:r>
            <a:endParaRPr sz="1000" b="0" dirty="0">
              <a:solidFill>
                <a:srgbClr val="262626"/>
              </a:solidFill>
              <a:latin typeface="Meiryo UI"/>
              <a:ea typeface="Meiryo UI"/>
            </a:endParaRPr>
          </a:p>
        </p:txBody>
      </p:sp>
    </p:spTree>
    <p:extLst>
      <p:ext uri="{BB962C8B-B14F-4D97-AF65-F5344CB8AC3E}">
        <p14:creationId xmlns:p14="http://schemas.microsoft.com/office/powerpoint/2010/main" val="28666011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A4C5E-7A5C-D4E8-A9FA-0F4FB28A2E8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48CC633-93E0-5AF6-C894-CB21B730CCEE}"/>
              </a:ext>
            </a:extLst>
          </p:cNvPr>
          <p:cNvSpPr>
            <a:spLocks noGrp="1"/>
          </p:cNvSpPr>
          <p:nvPr>
            <p:ph type="title"/>
          </p:nvPr>
        </p:nvSpPr>
        <p:spPr>
          <a:xfrm>
            <a:off x="334963" y="1"/>
            <a:ext cx="11522075" cy="914400"/>
          </a:xfrm>
        </p:spPr>
        <p:txBody>
          <a:bodyPr/>
          <a:lstStyle/>
          <a:p>
            <a:r>
              <a:rPr lang="en-US" altLang="ja-JP" dirty="0">
                <a:latin typeface="メイリオ" panose="020B0604030504040204" pitchFamily="50" charset="-128"/>
                <a:ea typeface="メイリオ" panose="020B0604030504040204" pitchFamily="50" charset="-128"/>
              </a:rPr>
              <a:t>4</a:t>
            </a:r>
            <a:r>
              <a:rPr lang="ja-JP" altLang="en-US" dirty="0">
                <a:latin typeface="メイリオ" panose="020B0604030504040204" pitchFamily="50" charset="-128"/>
                <a:ea typeface="メイリオ" panose="020B0604030504040204" pitchFamily="50" charset="-128"/>
              </a:rPr>
              <a:t>つの変革テーマ </a:t>
            </a:r>
            <a:r>
              <a:rPr lang="en-US" altLang="ja-JP" dirty="0">
                <a:latin typeface="メイリオ" panose="020B0604030504040204" pitchFamily="50" charset="-128"/>
                <a:ea typeface="メイリオ" panose="020B0604030504040204" pitchFamily="50" charset="-128"/>
              </a:rPr>
              <a:t>× 8</a:t>
            </a:r>
            <a:r>
              <a:rPr lang="ja-JP" altLang="en-US" dirty="0">
                <a:latin typeface="メイリオ" panose="020B0604030504040204" pitchFamily="50" charset="-128"/>
                <a:ea typeface="メイリオ" panose="020B0604030504040204" pitchFamily="50" charset="-128"/>
              </a:rPr>
              <a:t>つの重点施策 </a:t>
            </a:r>
            <a:r>
              <a:rPr lang="en-US" altLang="ja-JP" dirty="0">
                <a:latin typeface="メイリオ" panose="020B0604030504040204" pitchFamily="50" charset="-128"/>
                <a:ea typeface="メイリオ" panose="020B0604030504040204" pitchFamily="50" charset="-128"/>
              </a:rPr>
              <a:t>(A1〜D2) </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a16:creationId xmlns:a16="http://schemas.microsoft.com/office/drawing/2014/main" id="{78DD1FEB-8A99-1BD2-FCF5-122300380566}"/>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1800" dirty="0">
                <a:latin typeface="+mn-ea"/>
                <a:ea typeface="+mn-ea"/>
              </a:rPr>
              <a:t/>
            </a:r>
            <a:endParaRPr lang="ja-JP" altLang="en-US" sz="1800" dirty="0">
              <a:latin typeface="+mn-ea"/>
              <a:ea typeface="+mn-ea"/>
            </a:endParaRPr>
          </a:p>
        </p:txBody>
      </p:sp>
      <p:sp>
        <p:nvSpPr>
          <p:cNvPr id="6" name="テキスト ボックス 5">
            <a:extLst>
              <a:ext uri="{FF2B5EF4-FFF2-40B4-BE49-F238E27FC236}">
                <a16:creationId xmlns:a16="http://schemas.microsoft.com/office/drawing/2014/main" id="{391CD2E8-79B5-CE97-4F2F-12ED7F022DC7}"/>
              </a:ext>
            </a:extLst>
          </p:cNvPr>
          <p:cNvSpPr txBox="1"/>
          <p:nvPr/>
        </p:nvSpPr>
        <p:spPr>
          <a:xfrm>
            <a:off x="334962" y="5622163"/>
            <a:ext cx="11522075" cy="393954"/>
          </a:xfrm>
          <a:prstGeom prst="rect">
            <a:avLst/>
          </a:prstGeom>
          <a:noFill/>
        </p:spPr>
        <p:txBody>
          <a:bodyPr wrap="square">
            <a:spAutoFit/>
          </a:bodyPr>
          <a:lstStyle/>
          <a:p>
            <a:pPr defTabSz="628650">
              <a:lnSpc>
                <a:spcPct val="115000"/>
              </a:lnSpc>
            </a:pPr>
            <a:r>
              <a:rPr lang="ja-JP" altLang="en-US" sz="900" dirty="0">
                <a:solidFill>
                  <a:srgbClr val="008D2E"/>
                </a:solidFill>
                <a:latin typeface="+mn-ea"/>
              </a:rPr>
              <a:t>真因との対応と投資規律 :	資源の使い方 (真因1) ＝前頁・解決1の設計に従い（実行はA2・B2・C2）、提案の材料 (真因2) ＝A1・C1、改善の仕組み (真因3) ＝B1・D1・D2。</a:t>
            </a:r>
            <a:r>
              <a:rPr lang="en-US" altLang="ja-JP" sz="900" dirty="0">
                <a:latin typeface="+mn-ea"/>
              </a:rPr>
              <a:t/>
            </a:r>
            <a:r>
              <a:rPr lang="en-US" altLang="ja-JP" sz="900" dirty="0">
                <a:solidFill>
                  <a:srgbClr val="008D2E"/>
                </a:solidFill>
                <a:latin typeface="+mn-ea"/>
              </a:rPr>
              <a:t/>
            </a:r>
            <a:r>
              <a:rPr lang="ja-JP" altLang="en-US" sz="900" dirty="0">
                <a:solidFill>
                  <a:srgbClr val="262626"/>
                </a:solidFill>
                <a:latin typeface="+mn-ea"/>
              </a:rPr>
              <a:t/>
            </a:r>
            <a:r>
              <a:rPr lang="en-US" altLang="ja-JP" sz="900" dirty="0">
                <a:solidFill>
                  <a:srgbClr val="262626"/>
                </a:solidFill>
                <a:latin typeface="+mn-ea"/>
              </a:rPr>
              <a:t/>
            </a:r>
            <a:r>
              <a:rPr lang="ja-JP" altLang="en-US" sz="900" dirty="0">
                <a:solidFill>
                  <a:srgbClr val="262626"/>
                </a:solidFill>
                <a:latin typeface="+mn-ea"/>
              </a:rPr>
              <a:t/>
            </a:r>
            <a:r>
              <a:rPr lang="en-US" altLang="ja-JP" sz="900" dirty="0">
                <a:solidFill>
                  <a:srgbClr val="262626"/>
                </a:solidFill>
                <a:latin typeface="+mn-ea"/>
              </a:rPr>
              <a:t/>
            </a:r>
            <a:r>
              <a:rPr lang="ja-JP" altLang="en-US" sz="900" dirty="0">
                <a:solidFill>
                  <a:srgbClr val="262626"/>
                </a:solidFill>
                <a:latin typeface="+mn-ea"/>
              </a:rPr>
              <a:t/>
            </a:r>
            <a:r>
              <a:rPr lang="en-US" altLang="ja-JP" sz="900" dirty="0">
                <a:solidFill>
                  <a:srgbClr val="262626"/>
                </a:solidFill>
                <a:latin typeface="+mn-ea"/>
              </a:rPr>
              <a:t/>
            </a:r>
            <a:r>
              <a:rPr lang="ja-JP" altLang="en-US" sz="900" dirty="0">
                <a:solidFill>
                  <a:srgbClr val="262626"/>
                </a:solidFill>
                <a:latin typeface="+mn-ea"/>
              </a:rPr>
              <a:t/>
            </a:r>
            <a:r>
              <a:rPr lang="en-US" altLang="ja-JP" sz="900" dirty="0">
                <a:solidFill>
                  <a:srgbClr val="262626"/>
                </a:solidFill>
                <a:latin typeface="+mn-ea"/>
              </a:rPr>
              <a:t/>
            </a:r>
            <a:r>
              <a:rPr lang="ja-JP" altLang="en-US" sz="900" dirty="0">
                <a:solidFill>
                  <a:srgbClr val="262626"/>
                </a:solidFill>
                <a:latin typeface="+mn-ea"/>
              </a:rPr>
              <a:t/>
            </a:r>
            <a:r>
              <a:rPr lang="en-US" altLang="ja-JP" sz="900" dirty="0">
                <a:solidFill>
                  <a:srgbClr val="262626"/>
                </a:solidFill>
                <a:latin typeface="+mn-ea"/>
              </a:rPr>
              <a:t/>
            </a:r>
            <a:r>
              <a:rPr lang="ja-JP" altLang="en-US" sz="900" dirty="0">
                <a:solidFill>
                  <a:srgbClr val="262626"/>
                </a:solidFill>
                <a:latin typeface="+mn-ea"/>
              </a:rPr>
              <a:t/>
            </a:r>
            <a:r>
              <a:rPr lang="en-US" altLang="ja-JP" sz="900" dirty="0">
                <a:solidFill>
                  <a:srgbClr val="262626"/>
                </a:solidFill>
                <a:latin typeface="+mn-ea"/>
              </a:rPr>
              <a:t/>
            </a:r>
            <a:r>
              <a:rPr lang="ja-JP" altLang="en-US" sz="900" dirty="0">
                <a:solidFill>
                  <a:srgbClr val="262626"/>
                </a:solidFill>
                <a:latin typeface="+mn-ea"/>
              </a:rPr>
              <a:t/>
            </a:r>
            <a:r>
              <a:rPr lang="en-US" altLang="ja-JP" sz="900" dirty="0">
                <a:solidFill>
                  <a:srgbClr val="262626"/>
                </a:solidFill>
                <a:latin typeface="+mn-ea"/>
              </a:rPr>
              <a:t/>
            </a:r>
            <a:r>
              <a:rPr lang="ja-JP" altLang="en-US" sz="900" dirty="0">
                <a:solidFill>
                  <a:srgbClr val="262626"/>
                </a:solidFill>
                <a:latin typeface="+mn-ea"/>
              </a:rPr>
              <a:t/>
            </a:r>
            <a:r>
              <a:rPr lang="en-US" altLang="ja-JP" sz="900" dirty="0">
                <a:solidFill>
                  <a:srgbClr val="262626"/>
                </a:solidFill>
                <a:latin typeface="+mn-ea"/>
              </a:rPr>
              <a:t/>
            </a:r>
            <a:r>
              <a:rPr lang="ja-JP" altLang="en-US" sz="900" dirty="0">
                <a:solidFill>
                  <a:srgbClr val="262626"/>
                </a:solidFill>
                <a:latin typeface="+mn-ea"/>
              </a:rPr>
              <a:t/>
            </a:r>
            <a:r>
              <a:rPr lang="en-US" altLang="ja-JP" sz="900" dirty="0">
                <a:solidFill>
                  <a:srgbClr val="262626"/>
                </a:solidFill>
                <a:latin typeface="+mn-ea"/>
              </a:rPr>
              <a:t/>
            </a:r>
            <a:r>
              <a:rPr lang="ja-JP" altLang="en-US" sz="900" dirty="0">
                <a:solidFill>
                  <a:srgbClr val="262626"/>
                </a:solidFill>
                <a:latin typeface="+mn-ea"/>
              </a:rPr>
              <a:t/>
            </a:r>
            <a:r>
              <a:rPr lang="en-US" altLang="ja-JP" sz="900" dirty="0">
                <a:solidFill>
                  <a:srgbClr val="262626"/>
                </a:solidFill>
                <a:latin typeface="+mn-ea"/>
              </a:rPr>
              <a:t/>
            </a:r>
            <a:r>
              <a:rPr lang="ja-JP" altLang="en-US" sz="900" dirty="0">
                <a:solidFill>
                  <a:srgbClr val="262626"/>
                </a:solidFill>
                <a:latin typeface="+mn-ea"/>
              </a:rPr>
              <a:t/>
            </a:r>
            <a:r>
              <a:rPr lang="en-US" altLang="ja-JP" sz="900" dirty="0">
                <a:solidFill>
                  <a:srgbClr val="262626"/>
                </a:solidFill>
                <a:latin typeface="+mn-ea"/>
              </a:rPr>
              <a:t/>
            </a:r>
            <a:r>
              <a:rPr lang="ja-JP" altLang="en-US" sz="900" dirty="0">
                <a:solidFill>
                  <a:srgbClr val="262626"/>
                </a:solidFill>
                <a:latin typeface="+mn-ea"/>
              </a:rPr>
              <a:t/>
            </a:r>
            <a:r>
              <a:rPr lang="en-US" altLang="ja-JP" sz="900" dirty="0">
                <a:solidFill>
                  <a:srgbClr val="262626"/>
                </a:solidFill>
                <a:latin typeface="+mn-ea"/>
              </a:rPr>
              <a:t/>
            </a:r>
            <a:r>
              <a:rPr lang="ja-JP" altLang="en-US" sz="900" dirty="0">
                <a:solidFill>
                  <a:srgbClr val="262626"/>
                </a:solidFill>
                <a:latin typeface="+mn-ea"/>
              </a:rPr>
              <a:t/>
            </a:r>
            <a:r>
              <a:rPr lang="en-US" altLang="ja-JP" sz="900" dirty="0">
                <a:solidFill>
                  <a:srgbClr val="262626"/>
                </a:solidFill>
                <a:latin typeface="+mn-ea"/>
              </a:rPr>
              <a:t/>
            </a:r>
            <a:r>
              <a:rPr lang="ja-JP" altLang="en-US" sz="900" dirty="0">
                <a:solidFill>
                  <a:srgbClr val="262626"/>
                </a:solidFill>
                <a:latin typeface="+mn-ea"/>
              </a:rPr>
              <a:t/>
            </a:r>
            <a:r>
              <a:rPr lang="en-US" altLang="ja-JP" sz="900" dirty="0">
                <a:solidFill>
                  <a:srgbClr val="262626"/>
                </a:solidFill>
                <a:latin typeface="+mn-ea"/>
              </a:rPr>
              <a:t/>
            </a:r>
            <a:r>
              <a:rPr lang="ja-JP" altLang="en-US" sz="900" dirty="0">
                <a:solidFill>
                  <a:srgbClr val="262626"/>
                </a:solidFill>
                <a:latin typeface="+mn-ea"/>
              </a:rPr>
              <a:t/>
            </a:r>
            <a:endParaRPr lang="en-US" altLang="ja-JP" sz="900" dirty="0">
              <a:solidFill>
                <a:srgbClr val="262626"/>
              </a:solidFill>
              <a:latin typeface="+mn-ea"/>
            </a:endParaRPr>
          </a:p>
          <a:p>
            <a:pPr defTabSz="628650">
              <a:lnSpc>
                <a:spcPct val="115000"/>
              </a:lnSpc>
            </a:pPr>
            <a:r>
              <a:rPr lang="en-US" altLang="ja-JP" sz="900" dirty="0">
                <a:solidFill>
                  <a:srgbClr val="262626"/>
                </a:solidFill>
                <a:latin typeface="+mn-ea"/>
              </a:rPr>
              <a:t>		</a:t>
            </a:r>
            <a:r>
              <a:rPr lang="ja-JP" altLang="en-US" sz="900" dirty="0">
                <a:solidFill>
                  <a:srgbClr val="262626"/>
                </a:solidFill>
                <a:latin typeface="+mn-ea"/>
              </a:rPr>
              <a:t>各施策は</a:t>
            </a:r>
            <a:r>
              <a:rPr lang="en-US" altLang="ja-JP" sz="900" dirty="0">
                <a:solidFill>
                  <a:srgbClr val="262626"/>
                </a:solidFill>
                <a:latin typeface="+mn-ea"/>
              </a:rPr>
              <a:t>ROI</a:t>
            </a:r>
            <a:r>
              <a:rPr lang="ja-JP" altLang="en-US" sz="900" dirty="0">
                <a:solidFill>
                  <a:srgbClr val="262626"/>
                </a:solidFill>
                <a:latin typeface="+mn-ea"/>
              </a:rPr>
              <a:t>計算式 </a:t>
            </a:r>
            <a:r>
              <a:rPr lang="en-US" altLang="ja-JP" sz="900" dirty="0">
                <a:solidFill>
                  <a:srgbClr val="262626"/>
                </a:solidFill>
                <a:latin typeface="+mn-ea"/>
              </a:rPr>
              <a:t>(</a:t>
            </a:r>
            <a:r>
              <a:rPr lang="ja-JP" altLang="en-US" sz="900" dirty="0">
                <a:solidFill>
                  <a:srgbClr val="262626"/>
                </a:solidFill>
                <a:latin typeface="+mn-ea"/>
              </a:rPr>
              <a:t>分子＝売上増・時間削減・利益改善 </a:t>
            </a:r>
            <a:r>
              <a:rPr lang="en-US" altLang="ja-JP" sz="900" dirty="0">
                <a:solidFill>
                  <a:srgbClr val="262626"/>
                </a:solidFill>
                <a:latin typeface="+mn-ea"/>
              </a:rPr>
              <a:t>/ </a:t>
            </a:r>
            <a:r>
              <a:rPr lang="ja-JP" altLang="en-US" sz="900" dirty="0">
                <a:solidFill>
                  <a:srgbClr val="262626"/>
                </a:solidFill>
                <a:latin typeface="+mn-ea"/>
              </a:rPr>
              <a:t>分母＝投資</a:t>
            </a:r>
            <a:r>
              <a:rPr lang="en-US" altLang="ja-JP" sz="900" dirty="0">
                <a:solidFill>
                  <a:srgbClr val="262626"/>
                </a:solidFill>
                <a:latin typeface="+mn-ea"/>
              </a:rPr>
              <a:t>) </a:t>
            </a:r>
            <a:r>
              <a:rPr lang="ja-JP" altLang="en-US" sz="900" dirty="0">
                <a:solidFill>
                  <a:srgbClr val="262626"/>
                </a:solidFill>
                <a:latin typeface="+mn-ea"/>
              </a:rPr>
              <a:t>と撤退基準をセットで承認し、前提値は</a:t>
            </a:r>
            <a:r>
              <a:rPr lang="en-US" altLang="ja-JP" sz="900" dirty="0">
                <a:solidFill>
                  <a:srgbClr val="262626"/>
                </a:solidFill>
                <a:latin typeface="+mn-ea"/>
              </a:rPr>
              <a:t>FY26</a:t>
            </a:r>
            <a:r>
              <a:rPr lang="ja-JP" altLang="en-US" sz="900" dirty="0">
                <a:solidFill>
                  <a:srgbClr val="262626"/>
                </a:solidFill>
                <a:latin typeface="+mn-ea"/>
              </a:rPr>
              <a:t>上期に実測で確定する</a:t>
            </a:r>
            <a:endParaRPr lang="ja-JP" altLang="en-US" sz="900" b="1" dirty="0">
              <a:solidFill>
                <a:srgbClr val="262626"/>
              </a:solidFill>
              <a:latin typeface="+mn-ea"/>
            </a:endParaRPr>
          </a:p>
        </p:txBody>
      </p:sp>
      <p:sp>
        <p:nvSpPr>
          <p:cNvPr id="13" name="テキスト ボックス 12">
            <a:extLst>
              <a:ext uri="{FF2B5EF4-FFF2-40B4-BE49-F238E27FC236}">
                <a16:creationId xmlns:a16="http://schemas.microsoft.com/office/drawing/2014/main" id="{A999509A-7362-9692-ECF1-DD6638DAB1AB}"/>
              </a:ext>
            </a:extLst>
          </p:cNvPr>
          <p:cNvSpPr txBox="1"/>
          <p:nvPr/>
        </p:nvSpPr>
        <p:spPr>
          <a:xfrm>
            <a:off x="334963" y="6073601"/>
            <a:ext cx="11522074" cy="229486"/>
          </a:xfrm>
          <a:prstGeom prst="rect">
            <a:avLst/>
          </a:prstGeom>
          <a:noFill/>
        </p:spPr>
        <p:txBody>
          <a:bodyPr wrap="square">
            <a:spAutoFit/>
          </a:bodyPr>
          <a:lstStyle/>
          <a:p>
            <a:pPr marL="171450" indent="-171450">
              <a:lnSpc>
                <a:spcPct val="110000"/>
              </a:lnSpc>
              <a:buClr>
                <a:schemeClr val="accent5"/>
              </a:buClr>
              <a:buFont typeface="BIZ UDPゴシック" panose="020B0400000000000000" pitchFamily="50" charset="-128"/>
              <a:buChar char="※"/>
            </a:pPr>
            <a:r>
              <a:rPr lang="en-US" altLang="ja-JP" sz="900" dirty="0">
                <a:solidFill>
                  <a:srgbClr val="008D2E"/>
                </a:solidFill>
                <a:latin typeface="+mn-ea"/>
              </a:rPr>
              <a:t>8</a:t>
            </a:r>
            <a:r>
              <a:rPr lang="ja-JP" altLang="en-US" sz="900" dirty="0">
                <a:solidFill>
                  <a:srgbClr val="008D2E"/>
                </a:solidFill>
                <a:latin typeface="+mn-ea"/>
              </a:rPr>
              <a:t>施策は</a:t>
            </a:r>
            <a:r>
              <a:rPr lang="en-US" altLang="ja-JP" sz="900" dirty="0">
                <a:solidFill>
                  <a:srgbClr val="008D2E"/>
                </a:solidFill>
                <a:latin typeface="+mn-ea"/>
              </a:rPr>
              <a:t>3</a:t>
            </a:r>
            <a:r>
              <a:rPr lang="ja-JP" altLang="en-US" sz="900" dirty="0">
                <a:solidFill>
                  <a:srgbClr val="008D2E"/>
                </a:solidFill>
                <a:latin typeface="+mn-ea"/>
              </a:rPr>
              <a:t>つの解決を実行に落とした中身 </a:t>
            </a:r>
            <a:r>
              <a:rPr lang="en-US" altLang="ja-JP" sz="900" dirty="0">
                <a:solidFill>
                  <a:srgbClr val="008D2E"/>
                </a:solidFill>
                <a:latin typeface="+mn-ea"/>
              </a:rPr>
              <a:t>(</a:t>
            </a:r>
            <a:r>
              <a:rPr lang="ja-JP" altLang="en-US" sz="900" dirty="0">
                <a:solidFill>
                  <a:srgbClr val="008D2E"/>
                </a:solidFill>
                <a:latin typeface="+mn-ea"/>
              </a:rPr>
              <a:t>★＝最初に動かす起点施策</a:t>
            </a:r>
            <a:r>
              <a:rPr lang="en-US" altLang="ja-JP" sz="900" dirty="0">
                <a:solidFill>
                  <a:srgbClr val="008D2E"/>
                </a:solidFill>
                <a:latin typeface="+mn-ea"/>
              </a:rPr>
              <a:t>) </a:t>
            </a:r>
            <a:r>
              <a:rPr lang="ja-JP" altLang="en-US" sz="900" dirty="0">
                <a:solidFill>
                  <a:srgbClr val="008D2E"/>
                </a:solidFill>
                <a:latin typeface="+mn-ea"/>
              </a:rPr>
              <a:t>。中でも</a:t>
            </a:r>
            <a:r>
              <a:rPr lang="en-US" altLang="ja-JP" sz="900" dirty="0">
                <a:solidFill>
                  <a:srgbClr val="008D2E"/>
                </a:solidFill>
                <a:latin typeface="+mn-ea"/>
              </a:rPr>
              <a:t>B1</a:t>
            </a:r>
            <a:r>
              <a:rPr lang="ja-JP" altLang="en-US" sz="900" dirty="0">
                <a:solidFill>
                  <a:srgbClr val="008D2E"/>
                </a:solidFill>
                <a:latin typeface="+mn-ea"/>
              </a:rPr>
              <a:t>「投資</a:t>
            </a:r>
            <a:r>
              <a:rPr lang="en-US" altLang="ja-JP" sz="900" dirty="0">
                <a:solidFill>
                  <a:srgbClr val="008D2E"/>
                </a:solidFill>
                <a:latin typeface="+mn-ea"/>
              </a:rPr>
              <a:t>ROI</a:t>
            </a:r>
            <a:r>
              <a:rPr lang="ja-JP" altLang="en-US" sz="900" dirty="0">
                <a:solidFill>
                  <a:srgbClr val="008D2E"/>
                </a:solidFill>
                <a:latin typeface="+mn-ea"/>
              </a:rPr>
              <a:t>可視化」が全ての起点 </a:t>
            </a:r>
            <a:r>
              <a:rPr lang="en-US" altLang="ja-JP" sz="900" dirty="0">
                <a:solidFill>
                  <a:srgbClr val="008D2E"/>
                </a:solidFill>
                <a:latin typeface="+mn-ea"/>
              </a:rPr>
              <a:t>― </a:t>
            </a:r>
            <a:r>
              <a:rPr lang="ja-JP" altLang="en-US" sz="900" dirty="0">
                <a:solidFill>
                  <a:srgbClr val="008D2E"/>
                </a:solidFill>
                <a:latin typeface="+mn-ea"/>
              </a:rPr>
              <a:t>各施策は</a:t>
            </a:r>
            <a:r>
              <a:rPr lang="en-US" altLang="ja-JP" sz="900" dirty="0">
                <a:solidFill>
                  <a:srgbClr val="008D2E"/>
                </a:solidFill>
                <a:latin typeface="+mn-ea"/>
              </a:rPr>
              <a:t>ROI</a:t>
            </a:r>
            <a:r>
              <a:rPr lang="ja-JP" altLang="en-US" sz="900" dirty="0">
                <a:solidFill>
                  <a:srgbClr val="008D2E"/>
                </a:solidFill>
                <a:latin typeface="+mn-ea"/>
              </a:rPr>
              <a:t>計算式と指標で投資判断する</a:t>
            </a:r>
            <a:endParaRPr lang="ja-JP" altLang="en-US" sz="900" dirty="0">
              <a:solidFill>
                <a:srgbClr val="262626"/>
              </a:solidFill>
              <a:latin typeface="+mn-ea"/>
            </a:endParaRPr>
          </a:p>
        </p:txBody>
      </p:sp>
      <p:grpSp>
        <p:nvGrpSpPr>
          <p:cNvPr id="52" name="グループ化 51">
            <a:extLst>
              <a:ext uri="{FF2B5EF4-FFF2-40B4-BE49-F238E27FC236}">
                <a16:creationId xmlns:a16="http://schemas.microsoft.com/office/drawing/2014/main" id="{5751EA7B-A807-A056-187E-1C378A1717FC}"/>
              </a:ext>
            </a:extLst>
          </p:cNvPr>
          <p:cNvGrpSpPr/>
          <p:nvPr/>
        </p:nvGrpSpPr>
        <p:grpSpPr>
          <a:xfrm>
            <a:off x="2280104" y="1628776"/>
            <a:ext cx="4209229" cy="255823"/>
            <a:chOff x="1375749" y="1628776"/>
            <a:chExt cx="1303401" cy="255823"/>
          </a:xfrm>
        </p:grpSpPr>
        <p:sp>
          <p:nvSpPr>
            <p:cNvPr id="28" name="table_TWformat_txt_1_2">
              <a:extLst>
                <a:ext uri="{FF2B5EF4-FFF2-40B4-BE49-F238E27FC236}">
                  <a16:creationId xmlns:a16="http://schemas.microsoft.com/office/drawing/2014/main" id="{6A038C9F-1B86-C371-9405-3ED30DFE8352}"/>
                </a:ext>
              </a:extLst>
            </p:cNvPr>
            <p:cNvSpPr/>
            <p:nvPr/>
          </p:nvSpPr>
          <p:spPr>
            <a:xfrm>
              <a:off x="1375749" y="1628776"/>
              <a:ext cx="1303401" cy="234527"/>
            </a:xfrm>
            <a:prstGeom prst="roundRect">
              <a:avLst>
                <a:gd name="adj" fmla="val 0"/>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zh-CN" altLang="en-US" sz="1400" dirty="0">
                  <a:solidFill>
                    <a:prstClr val="black"/>
                  </a:solidFill>
                  <a:latin typeface="+mn-ea"/>
                </a:rPr>
                <a:t>重点施策 </a:t>
              </a:r>
              <a:r>
                <a:rPr lang="en-US" altLang="zh-CN" sz="1400" dirty="0">
                  <a:solidFill>
                    <a:prstClr val="black"/>
                  </a:solidFill>
                  <a:latin typeface="+mn-ea"/>
                </a:rPr>
                <a:t>(</a:t>
              </a:r>
              <a:r>
                <a:rPr lang="zh-CN" altLang="en-US" sz="1400" dirty="0">
                  <a:solidFill>
                    <a:prstClr val="black"/>
                  </a:solidFill>
                  <a:latin typeface="+mn-ea"/>
                </a:rPr>
                <a:t>★＝起点施策</a:t>
              </a:r>
              <a:r>
                <a:rPr lang="en-US" altLang="zh-CN" sz="1400" dirty="0">
                  <a:solidFill>
                    <a:prstClr val="black"/>
                  </a:solidFill>
                  <a:latin typeface="+mn-ea"/>
                </a:rPr>
                <a:t>)</a:t>
              </a:r>
              <a:endParaRPr lang="zh-CN" altLang="en-US" sz="1400" dirty="0">
                <a:solidFill>
                  <a:prstClr val="black"/>
                </a:solidFill>
                <a:latin typeface="+mn-ea"/>
              </a:endParaRPr>
            </a:p>
          </p:txBody>
        </p:sp>
        <p:cxnSp>
          <p:nvCxnSpPr>
            <p:cNvPr id="29" name="table_TWformat_line_2_2">
              <a:extLst>
                <a:ext uri="{FF2B5EF4-FFF2-40B4-BE49-F238E27FC236}">
                  <a16:creationId xmlns:a16="http://schemas.microsoft.com/office/drawing/2014/main" id="{71ABB664-7D7F-8A15-7F10-5B57DF962A98}"/>
                </a:ext>
              </a:extLst>
            </p:cNvPr>
            <p:cNvCxnSpPr/>
            <p:nvPr/>
          </p:nvCxnSpPr>
          <p:spPr>
            <a:xfrm>
              <a:off x="1375749" y="1884599"/>
              <a:ext cx="1303401"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51" name="グループ化 50">
            <a:extLst>
              <a:ext uri="{FF2B5EF4-FFF2-40B4-BE49-F238E27FC236}">
                <a16:creationId xmlns:a16="http://schemas.microsoft.com/office/drawing/2014/main" id="{6806A3E4-E2DD-F788-BD88-4C6D54B59704}"/>
              </a:ext>
            </a:extLst>
          </p:cNvPr>
          <p:cNvGrpSpPr/>
          <p:nvPr/>
        </p:nvGrpSpPr>
        <p:grpSpPr>
          <a:xfrm>
            <a:off x="6694979" y="1628776"/>
            <a:ext cx="3162456" cy="255823"/>
            <a:chOff x="2739179" y="1628776"/>
            <a:chExt cx="1303402" cy="255823"/>
          </a:xfrm>
        </p:grpSpPr>
        <p:sp>
          <p:nvSpPr>
            <p:cNvPr id="36" name="table_TWformat_txt_1_3">
              <a:extLst>
                <a:ext uri="{FF2B5EF4-FFF2-40B4-BE49-F238E27FC236}">
                  <a16:creationId xmlns:a16="http://schemas.microsoft.com/office/drawing/2014/main" id="{A35522A8-6F1B-D5CA-82C6-644C29B7A028}"/>
                </a:ext>
              </a:extLst>
            </p:cNvPr>
            <p:cNvSpPr/>
            <p:nvPr/>
          </p:nvSpPr>
          <p:spPr>
            <a:xfrm>
              <a:off x="2739179" y="1628776"/>
              <a:ext cx="1303402" cy="234527"/>
            </a:xfrm>
            <a:prstGeom prst="roundRect">
              <a:avLst>
                <a:gd name="adj" fmla="val 0"/>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400" dirty="0">
                  <a:solidFill>
                    <a:prstClr val="black"/>
                  </a:solidFill>
                  <a:latin typeface="+mn-ea"/>
                </a:rPr>
                <a:t>ねらい</a:t>
              </a:r>
            </a:p>
          </p:txBody>
        </p:sp>
        <p:cxnSp>
          <p:nvCxnSpPr>
            <p:cNvPr id="40" name="table_TWformat_line_2_3">
              <a:extLst>
                <a:ext uri="{FF2B5EF4-FFF2-40B4-BE49-F238E27FC236}">
                  <a16:creationId xmlns:a16="http://schemas.microsoft.com/office/drawing/2014/main" id="{915BE79F-5C7D-23E6-84DB-DFA521F4FF00}"/>
                </a:ext>
              </a:extLst>
            </p:cNvPr>
            <p:cNvCxnSpPr/>
            <p:nvPr/>
          </p:nvCxnSpPr>
          <p:spPr>
            <a:xfrm>
              <a:off x="2739179" y="1884599"/>
              <a:ext cx="130340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50" name="グループ化 49">
            <a:extLst>
              <a:ext uri="{FF2B5EF4-FFF2-40B4-BE49-F238E27FC236}">
                <a16:creationId xmlns:a16="http://schemas.microsoft.com/office/drawing/2014/main" id="{69F1DEBB-F61B-2E35-D47E-2FC71A5CFDC5}"/>
              </a:ext>
            </a:extLst>
          </p:cNvPr>
          <p:cNvGrpSpPr/>
          <p:nvPr/>
        </p:nvGrpSpPr>
        <p:grpSpPr>
          <a:xfrm>
            <a:off x="10063082" y="1628776"/>
            <a:ext cx="1785124" cy="255823"/>
            <a:chOff x="4102610" y="1628776"/>
            <a:chExt cx="1303402" cy="255823"/>
          </a:xfrm>
        </p:grpSpPr>
        <p:sp>
          <p:nvSpPr>
            <p:cNvPr id="42" name="table_TWformat_txt_1_4">
              <a:extLst>
                <a:ext uri="{FF2B5EF4-FFF2-40B4-BE49-F238E27FC236}">
                  <a16:creationId xmlns:a16="http://schemas.microsoft.com/office/drawing/2014/main" id="{4E43D043-D845-8957-D033-59FDF1A3D35A}"/>
                </a:ext>
              </a:extLst>
            </p:cNvPr>
            <p:cNvSpPr/>
            <p:nvPr/>
          </p:nvSpPr>
          <p:spPr>
            <a:xfrm>
              <a:off x="4102610" y="1628776"/>
              <a:ext cx="1303402" cy="234527"/>
            </a:xfrm>
            <a:prstGeom prst="roundRect">
              <a:avLst>
                <a:gd name="adj" fmla="val 0"/>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400" dirty="0">
                  <a:solidFill>
                    <a:prstClr val="black"/>
                  </a:solidFill>
                  <a:latin typeface="+mn-ea"/>
                </a:rPr>
                <a:t>主な指標</a:t>
              </a:r>
            </a:p>
          </p:txBody>
        </p:sp>
        <p:cxnSp>
          <p:nvCxnSpPr>
            <p:cNvPr id="44" name="table_TWformat_line_2_4">
              <a:extLst>
                <a:ext uri="{FF2B5EF4-FFF2-40B4-BE49-F238E27FC236}">
                  <a16:creationId xmlns:a16="http://schemas.microsoft.com/office/drawing/2014/main" id="{CDABF741-F844-CE36-F48E-16C70EB3B556}"/>
                </a:ext>
              </a:extLst>
            </p:cNvPr>
            <p:cNvCxnSpPr/>
            <p:nvPr/>
          </p:nvCxnSpPr>
          <p:spPr>
            <a:xfrm>
              <a:off x="4102610" y="1884599"/>
              <a:ext cx="130340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53" name="グループ化 52">
            <a:extLst>
              <a:ext uri="{FF2B5EF4-FFF2-40B4-BE49-F238E27FC236}">
                <a16:creationId xmlns:a16="http://schemas.microsoft.com/office/drawing/2014/main" id="{B2C6025D-003F-A499-7D56-CF710E42CC82}"/>
              </a:ext>
            </a:extLst>
          </p:cNvPr>
          <p:cNvGrpSpPr/>
          <p:nvPr/>
        </p:nvGrpSpPr>
        <p:grpSpPr>
          <a:xfrm>
            <a:off x="334961" y="1628775"/>
            <a:ext cx="1739497" cy="255824"/>
            <a:chOff x="334963" y="1628775"/>
            <a:chExt cx="982662" cy="255824"/>
          </a:xfrm>
        </p:grpSpPr>
        <p:sp>
          <p:nvSpPr>
            <p:cNvPr id="24" name="table_TWformat_txt_1_1">
              <a:extLst>
                <a:ext uri="{FF2B5EF4-FFF2-40B4-BE49-F238E27FC236}">
                  <a16:creationId xmlns:a16="http://schemas.microsoft.com/office/drawing/2014/main" id="{E7B83E91-AF6B-AB63-9A9E-AF440D04F6DF}"/>
                </a:ext>
              </a:extLst>
            </p:cNvPr>
            <p:cNvSpPr/>
            <p:nvPr/>
          </p:nvSpPr>
          <p:spPr>
            <a:xfrm>
              <a:off x="334963" y="1628775"/>
              <a:ext cx="980757" cy="234528"/>
            </a:xfrm>
            <a:prstGeom prst="roundRect">
              <a:avLst>
                <a:gd name="adj" fmla="val 0"/>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400" dirty="0">
                  <a:solidFill>
                    <a:prstClr val="black"/>
                  </a:solidFill>
                  <a:latin typeface="+mn-ea"/>
                </a:rPr>
                <a:t>テーマ</a:t>
              </a:r>
            </a:p>
          </p:txBody>
        </p:sp>
        <p:cxnSp>
          <p:nvCxnSpPr>
            <p:cNvPr id="48" name="table_TWformat_line_2_2">
              <a:extLst>
                <a:ext uri="{FF2B5EF4-FFF2-40B4-BE49-F238E27FC236}">
                  <a16:creationId xmlns:a16="http://schemas.microsoft.com/office/drawing/2014/main" id="{658C4356-281F-3F69-DB20-0184DBE315B4}"/>
                </a:ext>
              </a:extLst>
            </p:cNvPr>
            <p:cNvCxnSpPr>
              <a:cxnSpLocks/>
            </p:cNvCxnSpPr>
            <p:nvPr/>
          </p:nvCxnSpPr>
          <p:spPr>
            <a:xfrm>
              <a:off x="334963" y="1884599"/>
              <a:ext cx="98266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23" name="グループ化 22">
            <a:extLst>
              <a:ext uri="{FF2B5EF4-FFF2-40B4-BE49-F238E27FC236}">
                <a16:creationId xmlns:a16="http://schemas.microsoft.com/office/drawing/2014/main" id="{25566BE7-2029-8C2A-496A-F12784C3E167}"/>
              </a:ext>
            </a:extLst>
          </p:cNvPr>
          <p:cNvGrpSpPr/>
          <p:nvPr/>
        </p:nvGrpSpPr>
        <p:grpSpPr>
          <a:xfrm>
            <a:off x="334961" y="2005842"/>
            <a:ext cx="11522075" cy="3564376"/>
            <a:chOff x="334961" y="2005842"/>
            <a:chExt cx="11522075" cy="3564376"/>
          </a:xfrm>
        </p:grpSpPr>
        <p:grpSp>
          <p:nvGrpSpPr>
            <p:cNvPr id="20" name="グループ化 19">
              <a:extLst>
                <a:ext uri="{FF2B5EF4-FFF2-40B4-BE49-F238E27FC236}">
                  <a16:creationId xmlns:a16="http://schemas.microsoft.com/office/drawing/2014/main" id="{1337F69D-7089-059A-3AD9-4A9CB49FA941}"/>
                </a:ext>
              </a:extLst>
            </p:cNvPr>
            <p:cNvGrpSpPr/>
            <p:nvPr/>
          </p:nvGrpSpPr>
          <p:grpSpPr>
            <a:xfrm>
              <a:off x="334961" y="2005842"/>
              <a:ext cx="11522075" cy="3564376"/>
              <a:chOff x="334961" y="2005842"/>
              <a:chExt cx="11522075" cy="3908924"/>
            </a:xfrm>
          </p:grpSpPr>
          <p:sp>
            <p:nvSpPr>
              <p:cNvPr id="111" name="正方形/長方形 110">
                <a:extLst>
                  <a:ext uri="{FF2B5EF4-FFF2-40B4-BE49-F238E27FC236}">
                    <a16:creationId xmlns:a16="http://schemas.microsoft.com/office/drawing/2014/main" id="{D7980947-581C-46E9-9E8C-0AA3927C066E}"/>
                  </a:ext>
                </a:extLst>
              </p:cNvPr>
              <p:cNvSpPr/>
              <p:nvPr/>
            </p:nvSpPr>
            <p:spPr>
              <a:xfrm>
                <a:off x="6694978" y="5483300"/>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tx1"/>
                    </a:solidFill>
                    <a:latin typeface="+mn-ea"/>
                  </a:rPr>
                  <a:t>営業</a:t>
                </a:r>
                <a:r>
                  <a:rPr lang="en-US" altLang="ja-JP" sz="1100" dirty="0">
                    <a:solidFill>
                      <a:schemeClr val="tx1"/>
                    </a:solidFill>
                    <a:latin typeface="+mn-ea"/>
                  </a:rPr>
                  <a:t>1</a:t>
                </a:r>
                <a:r>
                  <a:rPr lang="ja-JP" altLang="en-US" sz="1100" dirty="0">
                    <a:solidFill>
                      <a:schemeClr val="tx1"/>
                    </a:solidFill>
                    <a:latin typeface="+mn-ea"/>
                  </a:rPr>
                  <a:t>人対バイヤー</a:t>
                </a:r>
                <a:r>
                  <a:rPr lang="en-US" altLang="ja-JP" sz="1100" dirty="0">
                    <a:solidFill>
                      <a:schemeClr val="tx1"/>
                    </a:solidFill>
                    <a:latin typeface="+mn-ea"/>
                  </a:rPr>
                  <a:t>1</a:t>
                </a:r>
                <a:r>
                  <a:rPr lang="ja-JP" altLang="en-US" sz="1100" dirty="0">
                    <a:solidFill>
                      <a:schemeClr val="tx1"/>
                    </a:solidFill>
                    <a:latin typeface="+mn-ea"/>
                  </a:rPr>
                  <a:t>人の分断をやめ、組織対組織の</a:t>
                </a:r>
                <a:br>
                  <a:rPr lang="en-US" altLang="ja-JP" sz="1100" dirty="0">
                    <a:solidFill>
                      <a:schemeClr val="tx1"/>
                    </a:solidFill>
                    <a:latin typeface="+mn-ea"/>
                  </a:rPr>
                </a:br>
                <a:r>
                  <a:rPr lang="en-US" altLang="ja-JP" sz="1100" dirty="0">
                    <a:solidFill>
                      <a:schemeClr val="tx1"/>
                    </a:solidFill>
                    <a:latin typeface="+mn-ea"/>
                  </a:rPr>
                  <a:t>JBP</a:t>
                </a:r>
                <a:r>
                  <a:rPr lang="ja-JP" altLang="en-US" sz="1100" dirty="0">
                    <a:solidFill>
                      <a:schemeClr val="tx1"/>
                    </a:solidFill>
                    <a:latin typeface="+mn-ea"/>
                  </a:rPr>
                  <a:t>体制へ</a:t>
                </a:r>
              </a:p>
            </p:txBody>
          </p:sp>
          <p:sp>
            <p:nvSpPr>
              <p:cNvPr id="113" name="正方形/長方形 112">
                <a:extLst>
                  <a:ext uri="{FF2B5EF4-FFF2-40B4-BE49-F238E27FC236}">
                    <a16:creationId xmlns:a16="http://schemas.microsoft.com/office/drawing/2014/main" id="{202E4713-8060-4217-13EE-6E50E2F22A5C}"/>
                  </a:ext>
                </a:extLst>
              </p:cNvPr>
              <p:cNvSpPr/>
              <p:nvPr/>
            </p:nvSpPr>
            <p:spPr>
              <a:xfrm>
                <a:off x="10063081" y="5483300"/>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altLang="ja-JP" sz="1100" dirty="0">
                    <a:solidFill>
                      <a:schemeClr val="accent5"/>
                    </a:solidFill>
                    <a:latin typeface="+mn-ea"/>
                  </a:rPr>
                  <a:t>JBP</a:t>
                </a:r>
                <a:r>
                  <a:rPr lang="ja-JP" altLang="en-US" sz="1100" dirty="0">
                    <a:solidFill>
                      <a:schemeClr val="accent5"/>
                    </a:solidFill>
                    <a:latin typeface="+mn-ea"/>
                  </a:rPr>
                  <a:t>締結チェーン数</a:t>
                </a:r>
              </a:p>
            </p:txBody>
          </p:sp>
          <p:sp>
            <p:nvSpPr>
              <p:cNvPr id="108" name="正方形/長方形 16">
                <a:extLst>
                  <a:ext uri="{FF2B5EF4-FFF2-40B4-BE49-F238E27FC236}">
                    <a16:creationId xmlns:a16="http://schemas.microsoft.com/office/drawing/2014/main" id="{D627CEBD-CC51-C707-C6BE-07CC7F58BECC}"/>
                  </a:ext>
                </a:extLst>
              </p:cNvPr>
              <p:cNvSpPr/>
              <p:nvPr/>
            </p:nvSpPr>
            <p:spPr>
              <a:xfrm>
                <a:off x="2269039" y="5483301"/>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D2</a:t>
                </a:r>
              </a:p>
            </p:txBody>
          </p:sp>
          <p:sp>
            <p:nvSpPr>
              <p:cNvPr id="109" name="正方形/長方形 108">
                <a:extLst>
                  <a:ext uri="{FF2B5EF4-FFF2-40B4-BE49-F238E27FC236}">
                    <a16:creationId xmlns:a16="http://schemas.microsoft.com/office/drawing/2014/main" id="{DAC72122-CED6-5BDF-006D-893AAAF051AC}"/>
                  </a:ext>
                </a:extLst>
              </p:cNvPr>
              <p:cNvSpPr/>
              <p:nvPr/>
            </p:nvSpPr>
            <p:spPr>
              <a:xfrm>
                <a:off x="2764484" y="5483301"/>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en-US" altLang="ja-JP" sz="1100" dirty="0">
                    <a:solidFill>
                      <a:schemeClr val="accent5"/>
                    </a:solidFill>
                    <a:latin typeface="+mn-ea"/>
                  </a:rPr>
                  <a:t>1</a:t>
                </a:r>
                <a:r>
                  <a:rPr lang="ja-JP" altLang="en-US" sz="1100" dirty="0">
                    <a:solidFill>
                      <a:schemeClr val="accent5"/>
                    </a:solidFill>
                    <a:latin typeface="+mn-ea"/>
                  </a:rPr>
                  <a:t>人で対応する営業をやめ、チーム対チームで小売と組む</a:t>
                </a:r>
              </a:p>
              <a:p>
                <a:pPr lvl="0">
                  <a:defRPr/>
                </a:pPr>
                <a:r>
                  <a:rPr lang="ja-JP" altLang="en-US" sz="1100" dirty="0">
                    <a:solidFill>
                      <a:schemeClr val="tx1"/>
                    </a:solidFill>
                    <a:latin typeface="+mn-ea"/>
                  </a:rPr>
                  <a:t>＝組織対組織の営業体制へ再編</a:t>
                </a:r>
              </a:p>
            </p:txBody>
          </p:sp>
          <p:sp>
            <p:nvSpPr>
              <p:cNvPr id="58" name="正方形/長方形 54">
                <a:extLst>
                  <a:ext uri="{FF2B5EF4-FFF2-40B4-BE49-F238E27FC236}">
                    <a16:creationId xmlns:a16="http://schemas.microsoft.com/office/drawing/2014/main" id="{A0CBE225-7ED1-17E4-19E0-23F4EF8D1DA2}"/>
                  </a:ext>
                </a:extLst>
              </p:cNvPr>
              <p:cNvSpPr/>
              <p:nvPr/>
            </p:nvSpPr>
            <p:spPr>
              <a:xfrm>
                <a:off x="334961" y="4975635"/>
                <a:ext cx="1739499" cy="93913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88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組織・生産性</a:t>
                </a:r>
                <a:br>
                  <a:rPr lang="en-US" altLang="ja-JP" sz="1050" dirty="0">
                    <a:solidFill>
                      <a:schemeClr val="bg1"/>
                    </a:solidFill>
                    <a:latin typeface="+mn-ea"/>
                  </a:rPr>
                </a:br>
                <a:r>
                  <a:rPr lang="en-US" altLang="ja-JP" sz="1050" dirty="0">
                    <a:solidFill>
                      <a:schemeClr val="bg1"/>
                    </a:solidFill>
                    <a:latin typeface="+mn-ea"/>
                  </a:rPr>
                  <a:t>(</a:t>
                </a:r>
                <a:r>
                  <a:rPr lang="ja-JP" altLang="en-US" sz="1050" dirty="0">
                    <a:solidFill>
                      <a:schemeClr val="bg1"/>
                    </a:solidFill>
                    <a:latin typeface="+mn-ea"/>
                  </a:rPr>
                  <a:t>業務ゼロ化</a:t>
                </a:r>
                <a:r>
                  <a:rPr lang="en-US" altLang="ja-JP" sz="1050" dirty="0">
                    <a:solidFill>
                      <a:schemeClr val="bg1"/>
                    </a:solidFill>
                    <a:latin typeface="+mn-ea"/>
                  </a:rPr>
                  <a:t>×</a:t>
                </a:r>
                <a:r>
                  <a:rPr lang="ja-JP" altLang="en-US" sz="1050" dirty="0">
                    <a:solidFill>
                      <a:schemeClr val="bg1"/>
                    </a:solidFill>
                    <a:latin typeface="+mn-ea"/>
                  </a:rPr>
                  <a:t>回収物流</a:t>
                </a:r>
                <a:r>
                  <a:rPr lang="en-US" altLang="ja-JP" sz="1050" dirty="0">
                    <a:solidFill>
                      <a:schemeClr val="bg1"/>
                    </a:solidFill>
                    <a:latin typeface="+mn-ea"/>
                  </a:rPr>
                  <a:t>)</a:t>
                </a:r>
                <a:endParaRPr lang="ja-JP" altLang="en-US" sz="1050" dirty="0">
                  <a:solidFill>
                    <a:schemeClr val="bg1"/>
                  </a:solidFill>
                  <a:latin typeface="+mn-ea"/>
                </a:endParaRPr>
              </a:p>
            </p:txBody>
          </p:sp>
          <p:sp>
            <p:nvSpPr>
              <p:cNvPr id="55" name="正方形/長方形 54">
                <a:extLst>
                  <a:ext uri="{FF2B5EF4-FFF2-40B4-BE49-F238E27FC236}">
                    <a16:creationId xmlns:a16="http://schemas.microsoft.com/office/drawing/2014/main" id="{A0CBE225-7ED1-17E4-19E0-23F4EF8D1DA2}"/>
                  </a:ext>
                </a:extLst>
              </p:cNvPr>
              <p:cNvSpPr/>
              <p:nvPr/>
            </p:nvSpPr>
            <p:spPr>
              <a:xfrm>
                <a:off x="334961" y="2005842"/>
                <a:ext cx="1739499" cy="93913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88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勝てる土俵の再定義</a:t>
                </a:r>
                <a:endParaRPr lang="en-US" altLang="ja-JP" sz="1050" dirty="0">
                  <a:solidFill>
                    <a:schemeClr val="bg1"/>
                  </a:solidFill>
                  <a:latin typeface="+mn-ea"/>
                </a:endParaRPr>
              </a:p>
              <a:p>
                <a:pPr algn="ctr"/>
                <a:r>
                  <a:rPr lang="en-US" altLang="ja-JP" sz="1050" dirty="0">
                    <a:solidFill>
                      <a:schemeClr val="bg1"/>
                    </a:solidFill>
                    <a:latin typeface="+mn-ea"/>
                  </a:rPr>
                  <a:t>(</a:t>
                </a:r>
                <a:r>
                  <a:rPr lang="ja-JP" altLang="en-US" sz="1050" dirty="0">
                    <a:solidFill>
                      <a:schemeClr val="bg1"/>
                    </a:solidFill>
                    <a:latin typeface="+mn-ea"/>
                  </a:rPr>
                  <a:t>予防医療</a:t>
                </a:r>
                <a:r>
                  <a:rPr lang="en-US" altLang="ja-JP" sz="1050" dirty="0">
                    <a:solidFill>
                      <a:schemeClr val="bg1"/>
                    </a:solidFill>
                    <a:latin typeface="+mn-ea"/>
                  </a:rPr>
                  <a:t>×</a:t>
                </a:r>
                <a:r>
                  <a:rPr lang="ja-JP" altLang="en-US" sz="1050" dirty="0">
                    <a:solidFill>
                      <a:schemeClr val="bg1"/>
                    </a:solidFill>
                    <a:latin typeface="+mn-ea"/>
                  </a:rPr>
                  <a:t>資源循環</a:t>
                </a:r>
                <a:r>
                  <a:rPr lang="en-US" altLang="ja-JP" sz="1050" dirty="0">
                    <a:solidFill>
                      <a:schemeClr val="bg1"/>
                    </a:solidFill>
                    <a:latin typeface="+mn-ea"/>
                  </a:rPr>
                  <a:t>)</a:t>
                </a:r>
                <a:endParaRPr lang="ja-JP" altLang="en-US" sz="1050" dirty="0">
                  <a:solidFill>
                    <a:schemeClr val="bg1"/>
                  </a:solidFill>
                  <a:latin typeface="+mn-ea"/>
                </a:endParaRPr>
              </a:p>
            </p:txBody>
          </p:sp>
          <p:sp>
            <p:nvSpPr>
              <p:cNvPr id="56" name="正方形/長方形 54">
                <a:extLst>
                  <a:ext uri="{FF2B5EF4-FFF2-40B4-BE49-F238E27FC236}">
                    <a16:creationId xmlns:a16="http://schemas.microsoft.com/office/drawing/2014/main" id="{A0CBE225-7ED1-17E4-19E0-23F4EF8D1DA2}"/>
                  </a:ext>
                </a:extLst>
              </p:cNvPr>
              <p:cNvSpPr/>
              <p:nvPr/>
            </p:nvSpPr>
            <p:spPr>
              <a:xfrm>
                <a:off x="334961" y="2995773"/>
                <a:ext cx="1739499" cy="93913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88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データ戦略</a:t>
                </a:r>
                <a:br>
                  <a:rPr lang="en-US" altLang="ja-JP" sz="1400" dirty="0">
                    <a:solidFill>
                      <a:schemeClr val="bg1"/>
                    </a:solidFill>
                    <a:latin typeface="+mn-ea"/>
                  </a:rPr>
                </a:br>
                <a:r>
                  <a:rPr lang="en-US" altLang="ja-JP" sz="1050" dirty="0">
                    <a:solidFill>
                      <a:schemeClr val="bg1"/>
                    </a:solidFill>
                    <a:latin typeface="+mn-ea"/>
                  </a:rPr>
                  <a:t>(</a:t>
                </a:r>
                <a:r>
                  <a:rPr lang="ja-JP" altLang="en-US" sz="1050" dirty="0">
                    <a:solidFill>
                      <a:schemeClr val="bg1"/>
                    </a:solidFill>
                    <a:latin typeface="+mn-ea"/>
                  </a:rPr>
                  <a:t>小売データ</a:t>
                </a:r>
                <a:r>
                  <a:rPr lang="en-US" altLang="ja-JP" sz="1050" dirty="0">
                    <a:solidFill>
                      <a:schemeClr val="bg1"/>
                    </a:solidFill>
                    <a:latin typeface="+mn-ea"/>
                  </a:rPr>
                  <a:t>×</a:t>
                </a:r>
                <a:r>
                  <a:rPr lang="ja-JP" altLang="en-US" sz="1050" dirty="0">
                    <a:solidFill>
                      <a:schemeClr val="bg1"/>
                    </a:solidFill>
                    <a:latin typeface="+mn-ea"/>
                  </a:rPr>
                  <a:t>自社専門データ</a:t>
                </a:r>
                <a:r>
                  <a:rPr lang="en-US" altLang="ja-JP" sz="1050" dirty="0">
                    <a:solidFill>
                      <a:schemeClr val="bg1"/>
                    </a:solidFill>
                    <a:latin typeface="+mn-ea"/>
                  </a:rPr>
                  <a:t>)</a:t>
                </a:r>
                <a:endParaRPr lang="ja-JP" altLang="en-US" sz="1400" dirty="0">
                  <a:solidFill>
                    <a:schemeClr val="bg1"/>
                  </a:solidFill>
                  <a:latin typeface="+mn-ea"/>
                </a:endParaRPr>
              </a:p>
            </p:txBody>
          </p:sp>
          <p:sp>
            <p:nvSpPr>
              <p:cNvPr id="57" name="正方形/長方形 54">
                <a:extLst>
                  <a:ext uri="{FF2B5EF4-FFF2-40B4-BE49-F238E27FC236}">
                    <a16:creationId xmlns:a16="http://schemas.microsoft.com/office/drawing/2014/main" id="{A0CBE225-7ED1-17E4-19E0-23F4EF8D1DA2}"/>
                  </a:ext>
                </a:extLst>
              </p:cNvPr>
              <p:cNvSpPr/>
              <p:nvPr/>
            </p:nvSpPr>
            <p:spPr>
              <a:xfrm>
                <a:off x="334961" y="3985704"/>
                <a:ext cx="1739499" cy="93913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88000" rIns="36000" bIns="36000" numCol="1" spcCol="0" rtlCol="0" fromWordArt="0" anchor="ctr" anchorCtr="0" forceAA="0" compatLnSpc="1">
                <a:prstTxWarp prst="textNoShape">
                  <a:avLst/>
                </a:prstTxWarp>
                <a:noAutofit/>
              </a:bodyPr>
              <a:lstStyle/>
              <a:p>
                <a:pPr algn="ctr"/>
                <a:r>
                  <a:rPr lang="ja-JP" altLang="en-US" sz="1400" dirty="0">
                    <a:solidFill>
                      <a:schemeClr val="bg1"/>
                    </a:solidFill>
                    <a:latin typeface="+mn-ea"/>
                  </a:rPr>
                  <a:t>商談価値</a:t>
                </a:r>
                <a:br>
                  <a:rPr lang="en-US" altLang="ja-JP" sz="1050" dirty="0">
                    <a:solidFill>
                      <a:schemeClr val="bg1"/>
                    </a:solidFill>
                    <a:latin typeface="+mn-ea"/>
                  </a:rPr>
                </a:br>
                <a:r>
                  <a:rPr lang="en-US" altLang="ja-JP" sz="1050" dirty="0">
                    <a:solidFill>
                      <a:schemeClr val="bg1"/>
                    </a:solidFill>
                    <a:latin typeface="+mn-ea"/>
                  </a:rPr>
                  <a:t>(</a:t>
                </a:r>
                <a:r>
                  <a:rPr lang="ja-JP" altLang="en-US" sz="1050" dirty="0">
                    <a:solidFill>
                      <a:schemeClr val="bg1"/>
                    </a:solidFill>
                    <a:latin typeface="+mn-ea"/>
                  </a:rPr>
                  <a:t>臨床データで裏付ける提案</a:t>
                </a:r>
                <a:r>
                  <a:rPr lang="en-US" altLang="ja-JP" sz="1050" dirty="0">
                    <a:solidFill>
                      <a:schemeClr val="bg1"/>
                    </a:solidFill>
                    <a:latin typeface="+mn-ea"/>
                  </a:rPr>
                  <a:t>)</a:t>
                </a:r>
                <a:endParaRPr lang="ja-JP" altLang="en-US" sz="1050" dirty="0">
                  <a:solidFill>
                    <a:schemeClr val="bg1"/>
                  </a:solidFill>
                  <a:latin typeface="+mn-ea"/>
                </a:endParaRPr>
              </a:p>
            </p:txBody>
          </p:sp>
          <p:sp>
            <p:nvSpPr>
              <p:cNvPr id="15" name="正方形/長方形 14">
                <a:extLst>
                  <a:ext uri="{FF2B5EF4-FFF2-40B4-BE49-F238E27FC236}">
                    <a16:creationId xmlns:a16="http://schemas.microsoft.com/office/drawing/2014/main" id="{C0766FCA-55A0-2F26-173C-AC804F031A41}"/>
                  </a:ext>
                </a:extLst>
              </p:cNvPr>
              <p:cNvSpPr/>
              <p:nvPr/>
            </p:nvSpPr>
            <p:spPr>
              <a:xfrm>
                <a:off x="2764485" y="2005842"/>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accent5"/>
                    </a:solidFill>
                    <a:latin typeface="+mn-ea"/>
                  </a:rPr>
                  <a:t>商品データを</a:t>
                </a:r>
                <a:r>
                  <a:rPr lang="en-US" altLang="ja-JP" sz="1100" dirty="0">
                    <a:solidFill>
                      <a:schemeClr val="accent5"/>
                    </a:solidFill>
                    <a:latin typeface="+mn-ea"/>
                  </a:rPr>
                  <a:t>AI</a:t>
                </a:r>
                <a:r>
                  <a:rPr lang="ja-JP" altLang="en-US" sz="1100" dirty="0">
                    <a:solidFill>
                      <a:schemeClr val="accent5"/>
                    </a:solidFill>
                    <a:latin typeface="+mn-ea"/>
                  </a:rPr>
                  <a:t>が読める形にして小売システムへ直結する</a:t>
                </a:r>
              </a:p>
              <a:p>
                <a:pPr lvl="0">
                  <a:defRPr/>
                </a:pPr>
                <a:r>
                  <a:rPr lang="ja-JP" altLang="en-US" sz="1100" dirty="0">
                    <a:solidFill>
                      <a:prstClr val="black"/>
                    </a:solidFill>
                    <a:latin typeface="+mn-ea"/>
                  </a:rPr>
                  <a:t>＝属性データの構造化・</a:t>
                </a:r>
                <a:r>
                  <a:rPr lang="en-US" altLang="ja-JP" sz="1100" dirty="0">
                    <a:solidFill>
                      <a:prstClr val="black"/>
                    </a:solidFill>
                    <a:latin typeface="+mn-ea"/>
                  </a:rPr>
                  <a:t>API</a:t>
                </a:r>
                <a:r>
                  <a:rPr lang="ja-JP" altLang="en-US" sz="1100" dirty="0">
                    <a:solidFill>
                      <a:prstClr val="black"/>
                    </a:solidFill>
                    <a:latin typeface="+mn-ea"/>
                  </a:rPr>
                  <a:t>化</a:t>
                </a:r>
              </a:p>
            </p:txBody>
          </p:sp>
          <p:sp>
            <p:nvSpPr>
              <p:cNvPr id="17" name="正方形/長方形 16">
                <a:extLst>
                  <a:ext uri="{FF2B5EF4-FFF2-40B4-BE49-F238E27FC236}">
                    <a16:creationId xmlns:a16="http://schemas.microsoft.com/office/drawing/2014/main" id="{1CD96274-1DAF-9F38-9D59-097D4AE2C64D}"/>
                  </a:ext>
                </a:extLst>
              </p:cNvPr>
              <p:cNvSpPr/>
              <p:nvPr/>
            </p:nvSpPr>
            <p:spPr>
              <a:xfrm>
                <a:off x="2269040" y="2005842"/>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A1★</a:t>
                </a:r>
              </a:p>
            </p:txBody>
          </p:sp>
          <p:sp>
            <p:nvSpPr>
              <p:cNvPr id="59" name="正方形/長方形 16">
                <a:extLst>
                  <a:ext uri="{FF2B5EF4-FFF2-40B4-BE49-F238E27FC236}">
                    <a16:creationId xmlns:a16="http://schemas.microsoft.com/office/drawing/2014/main" id="{1CD96274-1DAF-9F38-9D59-097D4AE2C64D}"/>
                  </a:ext>
                </a:extLst>
              </p:cNvPr>
              <p:cNvSpPr/>
              <p:nvPr/>
            </p:nvSpPr>
            <p:spPr>
              <a:xfrm>
                <a:off x="2269040" y="2513507"/>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A2</a:t>
                </a:r>
              </a:p>
            </p:txBody>
          </p:sp>
          <p:sp>
            <p:nvSpPr>
              <p:cNvPr id="5" name="正方形/長方形 4">
                <a:extLst>
                  <a:ext uri="{FF2B5EF4-FFF2-40B4-BE49-F238E27FC236}">
                    <a16:creationId xmlns:a16="http://schemas.microsoft.com/office/drawing/2014/main" id="{74CEC26A-0DC0-3BAD-98C0-56A142404471}"/>
                  </a:ext>
                </a:extLst>
              </p:cNvPr>
              <p:cNvSpPr/>
              <p:nvPr/>
            </p:nvSpPr>
            <p:spPr>
              <a:xfrm>
                <a:off x="2764485" y="2513507"/>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accent5"/>
                    </a:solidFill>
                    <a:latin typeface="+mn-ea"/>
                  </a:rPr>
                  <a:t>学校の歯みがき教育・自治体健診を、続くデジタル接点に変える</a:t>
                </a:r>
              </a:p>
              <a:p>
                <a:pPr lvl="0">
                  <a:defRPr/>
                </a:pPr>
                <a:r>
                  <a:rPr lang="ja-JP" altLang="en-US" sz="1100" dirty="0">
                    <a:solidFill>
                      <a:prstClr val="black"/>
                    </a:solidFill>
                    <a:latin typeface="+mn-ea"/>
                  </a:rPr>
                  <a:t>＝学校・自治体ルートのデジタル化</a:t>
                </a:r>
              </a:p>
            </p:txBody>
          </p:sp>
          <p:sp>
            <p:nvSpPr>
              <p:cNvPr id="12" name="正方形/長方形 11">
                <a:extLst>
                  <a:ext uri="{FF2B5EF4-FFF2-40B4-BE49-F238E27FC236}">
                    <a16:creationId xmlns:a16="http://schemas.microsoft.com/office/drawing/2014/main" id="{2A613F37-60C1-9417-95D3-48E55A6DB4D1}"/>
                  </a:ext>
                </a:extLst>
              </p:cNvPr>
              <p:cNvSpPr/>
              <p:nvPr/>
            </p:nvSpPr>
            <p:spPr>
              <a:xfrm>
                <a:off x="6694979" y="2005842"/>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en-US" altLang="ja-JP" sz="1100" dirty="0">
                    <a:solidFill>
                      <a:schemeClr val="tx1"/>
                    </a:solidFill>
                    <a:latin typeface="+mn-ea"/>
                  </a:rPr>
                  <a:t>AI</a:t>
                </a:r>
                <a:r>
                  <a:rPr lang="ja-JP" altLang="en-US" sz="1100" dirty="0">
                    <a:solidFill>
                      <a:schemeClr val="tx1"/>
                    </a:solidFill>
                    <a:latin typeface="+mn-ea"/>
                  </a:rPr>
                  <a:t>自動補充・小売アルゴリズムの「足切り」を回避し、</a:t>
                </a:r>
                <a:br>
                  <a:rPr lang="en-US" altLang="ja-JP" sz="1100" dirty="0">
                    <a:solidFill>
                      <a:schemeClr val="tx1"/>
                    </a:solidFill>
                    <a:latin typeface="+mn-ea"/>
                  </a:rPr>
                </a:br>
                <a:r>
                  <a:rPr lang="en-US" altLang="ja-JP" sz="1100" dirty="0">
                    <a:solidFill>
                      <a:schemeClr val="tx1"/>
                    </a:solidFill>
                    <a:latin typeface="+mn-ea"/>
                  </a:rPr>
                  <a:t>AI</a:t>
                </a:r>
                <a:r>
                  <a:rPr lang="ja-JP" altLang="en-US" sz="1100" dirty="0">
                    <a:solidFill>
                      <a:schemeClr val="tx1"/>
                    </a:solidFill>
                    <a:latin typeface="+mn-ea"/>
                  </a:rPr>
                  <a:t>の推奨リストに載る</a:t>
                </a:r>
              </a:p>
            </p:txBody>
          </p:sp>
          <p:sp>
            <p:nvSpPr>
              <p:cNvPr id="16" name="正方形/長方形 15">
                <a:extLst>
                  <a:ext uri="{FF2B5EF4-FFF2-40B4-BE49-F238E27FC236}">
                    <a16:creationId xmlns:a16="http://schemas.microsoft.com/office/drawing/2014/main" id="{3BC90306-3426-EECF-9D5A-BDE1CB6FB5B8}"/>
                  </a:ext>
                </a:extLst>
              </p:cNvPr>
              <p:cNvSpPr/>
              <p:nvPr/>
            </p:nvSpPr>
            <p:spPr>
              <a:xfrm>
                <a:off x="6694979" y="2513506"/>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050" dirty="0">
                    <a:solidFill>
                      <a:schemeClr val="tx1"/>
                    </a:solidFill>
                    <a:latin typeface="+mn-ea"/>
                  </a:rPr>
                  <a:t>紙と単発イベントの啓発を、アプリ・デジタル教材の継続</a:t>
                </a:r>
                <a:br>
                  <a:rPr lang="en-US" altLang="ja-JP" sz="1050" dirty="0">
                    <a:solidFill>
                      <a:schemeClr val="tx1"/>
                    </a:solidFill>
                    <a:latin typeface="+mn-ea"/>
                  </a:rPr>
                </a:br>
                <a:r>
                  <a:rPr lang="ja-JP" altLang="en-US" sz="1050" dirty="0">
                    <a:solidFill>
                      <a:schemeClr val="tx1"/>
                    </a:solidFill>
                    <a:latin typeface="+mn-ea"/>
                  </a:rPr>
                  <a:t>接点にし、子どものうちからの習慣づくりを測れる資産にする</a:t>
                </a:r>
              </a:p>
            </p:txBody>
          </p:sp>
          <p:sp>
            <p:nvSpPr>
              <p:cNvPr id="18" name="正方形/長方形 17">
                <a:extLst>
                  <a:ext uri="{FF2B5EF4-FFF2-40B4-BE49-F238E27FC236}">
                    <a16:creationId xmlns:a16="http://schemas.microsoft.com/office/drawing/2014/main" id="{2AEAFF7D-18D0-9E48-50B9-45C77FF42AE1}"/>
                  </a:ext>
                </a:extLst>
              </p:cNvPr>
              <p:cNvSpPr/>
              <p:nvPr/>
            </p:nvSpPr>
            <p:spPr>
              <a:xfrm>
                <a:off x="10063082" y="2005842"/>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lvl="0" indent="-171450">
                  <a:buClr>
                    <a:schemeClr val="accent5"/>
                  </a:buClr>
                  <a:buFont typeface="Arial" panose="020B0604020202020204" pitchFamily="34" charset="0"/>
                  <a:buChar char="•"/>
                  <a:defRPr/>
                </a:pPr>
                <a:r>
                  <a:rPr lang="en-US" altLang="ja-JP" sz="1100" dirty="0">
                    <a:solidFill>
                      <a:schemeClr val="accent5"/>
                    </a:solidFill>
                    <a:latin typeface="+mn-ea"/>
                  </a:rPr>
                  <a:t>API</a:t>
                </a:r>
                <a:r>
                  <a:rPr lang="ja-JP" altLang="en-US" sz="1100" dirty="0">
                    <a:solidFill>
                      <a:schemeClr val="accent5"/>
                    </a:solidFill>
                    <a:latin typeface="+mn-ea"/>
                  </a:rPr>
                  <a:t>開放</a:t>
                </a:r>
                <a:r>
                  <a:rPr lang="en-US" altLang="ja-JP" sz="1100" dirty="0">
                    <a:solidFill>
                      <a:schemeClr val="accent5"/>
                    </a:solidFill>
                    <a:latin typeface="+mn-ea"/>
                  </a:rPr>
                  <a:t>SKU</a:t>
                </a:r>
                <a:r>
                  <a:rPr lang="ja-JP" altLang="en-US" sz="1100" dirty="0">
                    <a:solidFill>
                      <a:schemeClr val="accent5"/>
                    </a:solidFill>
                    <a:latin typeface="+mn-ea"/>
                  </a:rPr>
                  <a:t>比率</a:t>
                </a:r>
                <a:endParaRPr lang="en-US" altLang="ja-JP" sz="1100" dirty="0">
                  <a:solidFill>
                    <a:schemeClr val="accent5"/>
                  </a:solidFill>
                  <a:latin typeface="+mn-ea"/>
                </a:endParaRPr>
              </a:p>
              <a:p>
                <a:pPr marL="171450" lvl="0" indent="-171450">
                  <a:buClr>
                    <a:schemeClr val="accent5"/>
                  </a:buClr>
                  <a:buFont typeface="Arial" panose="020B0604020202020204" pitchFamily="34" charset="0"/>
                  <a:buChar char="•"/>
                  <a:defRPr/>
                </a:pPr>
                <a:r>
                  <a:rPr lang="en-US" altLang="ja-JP" sz="1100" dirty="0">
                    <a:solidFill>
                      <a:schemeClr val="accent5"/>
                    </a:solidFill>
                    <a:latin typeface="+mn-ea"/>
                  </a:rPr>
                  <a:t>AI</a:t>
                </a:r>
                <a:r>
                  <a:rPr lang="ja-JP" altLang="en-US" sz="1100" dirty="0">
                    <a:solidFill>
                      <a:schemeClr val="accent5"/>
                    </a:solidFill>
                    <a:latin typeface="+mn-ea"/>
                  </a:rPr>
                  <a:t>推奨リスト掲載率</a:t>
                </a:r>
              </a:p>
            </p:txBody>
          </p:sp>
          <p:sp>
            <p:nvSpPr>
              <p:cNvPr id="19" name="正方形/長方形 18">
                <a:extLst>
                  <a:ext uri="{FF2B5EF4-FFF2-40B4-BE49-F238E27FC236}">
                    <a16:creationId xmlns:a16="http://schemas.microsoft.com/office/drawing/2014/main" id="{E8E42F8F-6B7D-8442-0E51-B193F4004778}"/>
                  </a:ext>
                </a:extLst>
              </p:cNvPr>
              <p:cNvSpPr/>
              <p:nvPr/>
            </p:nvSpPr>
            <p:spPr>
              <a:xfrm>
                <a:off x="10063082" y="2513506"/>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100" dirty="0">
                    <a:solidFill>
                      <a:schemeClr val="accent5"/>
                    </a:solidFill>
                    <a:latin typeface="+mn-ea"/>
                  </a:rPr>
                  <a:t>デジタル化率</a:t>
                </a:r>
                <a:endParaRPr lang="en-US" altLang="ja-JP" sz="1100" dirty="0">
                  <a:solidFill>
                    <a:schemeClr val="accent5"/>
                  </a:solidFill>
                  <a:latin typeface="+mn-ea"/>
                </a:endParaRPr>
              </a:p>
              <a:p>
                <a:pPr marL="171450" indent="-171450">
                  <a:buClr>
                    <a:schemeClr val="accent5"/>
                  </a:buClr>
                  <a:buFont typeface="Arial" panose="020B0604020202020204" pitchFamily="34" charset="0"/>
                  <a:buChar char="•"/>
                </a:pPr>
                <a:r>
                  <a:rPr lang="ja-JP" altLang="en-US" sz="1100" dirty="0">
                    <a:solidFill>
                      <a:schemeClr val="accent5"/>
                    </a:solidFill>
                    <a:latin typeface="+mn-ea"/>
                  </a:rPr>
                  <a:t>若年層習慣定着率</a:t>
                </a:r>
              </a:p>
            </p:txBody>
          </p:sp>
          <p:cxnSp>
            <p:nvCxnSpPr>
              <p:cNvPr id="21" name="コネクタ: カギ線 20">
                <a:extLst>
                  <a:ext uri="{FF2B5EF4-FFF2-40B4-BE49-F238E27FC236}">
                    <a16:creationId xmlns:a16="http://schemas.microsoft.com/office/drawing/2014/main" id="{40D2548B-11C5-C37B-11B1-0C62E92D53A7}"/>
                  </a:ext>
                </a:extLst>
              </p:cNvPr>
              <p:cNvCxnSpPr>
                <a:stCxn id="55" idx="3"/>
                <a:endCxn id="17" idx="1"/>
              </p:cNvCxnSpPr>
              <p:nvPr/>
            </p:nvCxnSpPr>
            <p:spPr>
              <a:xfrm flipV="1">
                <a:off x="2074460" y="2221575"/>
                <a:ext cx="194580" cy="253833"/>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コネクタ: カギ線 21">
                <a:extLst>
                  <a:ext uri="{FF2B5EF4-FFF2-40B4-BE49-F238E27FC236}">
                    <a16:creationId xmlns:a16="http://schemas.microsoft.com/office/drawing/2014/main" id="{6C81C7A7-17D8-2C50-2F51-3FC035E6902E}"/>
                  </a:ext>
                </a:extLst>
              </p:cNvPr>
              <p:cNvCxnSpPr>
                <a:cxnSpLocks/>
                <a:stCxn id="55" idx="3"/>
                <a:endCxn id="59" idx="1"/>
              </p:cNvCxnSpPr>
              <p:nvPr/>
            </p:nvCxnSpPr>
            <p:spPr>
              <a:xfrm>
                <a:off x="2074460" y="2475408"/>
                <a:ext cx="194580" cy="25383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EFF4474A-AEDF-DC2D-8033-04FAC34432D5}"/>
                  </a:ext>
                </a:extLst>
              </p:cNvPr>
              <p:cNvCxnSpPr/>
              <p:nvPr/>
            </p:nvCxnSpPr>
            <p:spPr>
              <a:xfrm>
                <a:off x="6694979" y="2475406"/>
                <a:ext cx="316245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397F3CB2-6755-AE19-9E4D-EFA05ADE0ABF}"/>
                  </a:ext>
                </a:extLst>
              </p:cNvPr>
              <p:cNvCxnSpPr/>
              <p:nvPr/>
            </p:nvCxnSpPr>
            <p:spPr>
              <a:xfrm>
                <a:off x="10063082" y="2475406"/>
                <a:ext cx="179395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正方形/長方形 79">
                <a:extLst>
                  <a:ext uri="{FF2B5EF4-FFF2-40B4-BE49-F238E27FC236}">
                    <a16:creationId xmlns:a16="http://schemas.microsoft.com/office/drawing/2014/main" id="{71051519-B6A8-EF91-2EC8-0895A7012B4D}"/>
                  </a:ext>
                </a:extLst>
              </p:cNvPr>
              <p:cNvSpPr/>
              <p:nvPr/>
            </p:nvSpPr>
            <p:spPr>
              <a:xfrm>
                <a:off x="2764484" y="2995774"/>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accent5"/>
                    </a:solidFill>
                    <a:latin typeface="+mn-ea"/>
                  </a:rPr>
                  <a:t>広告・販促の効果を金額で測る仕組みを作る</a:t>
                </a:r>
                <a:endParaRPr lang="ja-JP" altLang="en-US" sz="1100" dirty="0">
                  <a:solidFill>
                    <a:schemeClr val="tx1"/>
                  </a:solidFill>
                  <a:latin typeface="+mn-ea"/>
                </a:endParaRPr>
              </a:p>
              <a:p>
                <a:pPr lvl="0">
                  <a:defRPr/>
                </a:pPr>
                <a:r>
                  <a:rPr lang="ja-JP" altLang="en-US" sz="1100" dirty="0">
                    <a:solidFill>
                      <a:schemeClr val="tx1"/>
                    </a:solidFill>
                    <a:latin typeface="+mn-ea"/>
                  </a:rPr>
                  <a:t>＝投資</a:t>
                </a:r>
                <a:r>
                  <a:rPr lang="en-US" altLang="ja-JP" sz="1100" dirty="0">
                    <a:solidFill>
                      <a:schemeClr val="tx1"/>
                    </a:solidFill>
                    <a:latin typeface="+mn-ea"/>
                  </a:rPr>
                  <a:t>ROI</a:t>
                </a:r>
                <a:r>
                  <a:rPr lang="ja-JP" altLang="en-US" sz="1100" dirty="0">
                    <a:solidFill>
                      <a:schemeClr val="tx1"/>
                    </a:solidFill>
                    <a:latin typeface="+mn-ea"/>
                  </a:rPr>
                  <a:t>可視化基盤 </a:t>
                </a:r>
                <a:r>
                  <a:rPr lang="en-US" altLang="ja-JP" sz="1100" dirty="0">
                    <a:solidFill>
                      <a:schemeClr val="tx1"/>
                    </a:solidFill>
                    <a:latin typeface="+mn-ea"/>
                  </a:rPr>
                  <a:t>(MMM×DCR)</a:t>
                </a:r>
                <a:endParaRPr lang="ja-JP" altLang="en-US" sz="1100" dirty="0">
                  <a:solidFill>
                    <a:schemeClr val="tx1"/>
                  </a:solidFill>
                  <a:latin typeface="+mn-ea"/>
                </a:endParaRPr>
              </a:p>
            </p:txBody>
          </p:sp>
          <p:sp>
            <p:nvSpPr>
              <p:cNvPr id="81" name="正方形/長方形 80">
                <a:extLst>
                  <a:ext uri="{FF2B5EF4-FFF2-40B4-BE49-F238E27FC236}">
                    <a16:creationId xmlns:a16="http://schemas.microsoft.com/office/drawing/2014/main" id="{B025A400-5558-2893-D34C-6BE30BB60B2B}"/>
                  </a:ext>
                </a:extLst>
              </p:cNvPr>
              <p:cNvSpPr/>
              <p:nvPr/>
            </p:nvSpPr>
            <p:spPr>
              <a:xfrm>
                <a:off x="2269039" y="2995774"/>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B1★</a:t>
                </a:r>
              </a:p>
            </p:txBody>
          </p:sp>
          <p:sp>
            <p:nvSpPr>
              <p:cNvPr id="82" name="正方形/長方形 16">
                <a:extLst>
                  <a:ext uri="{FF2B5EF4-FFF2-40B4-BE49-F238E27FC236}">
                    <a16:creationId xmlns:a16="http://schemas.microsoft.com/office/drawing/2014/main" id="{188C9419-39BC-A877-8190-EDD34E55B156}"/>
                  </a:ext>
                </a:extLst>
              </p:cNvPr>
              <p:cNvSpPr/>
              <p:nvPr/>
            </p:nvSpPr>
            <p:spPr>
              <a:xfrm>
                <a:off x="2269039" y="3503439"/>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B2</a:t>
                </a:r>
              </a:p>
            </p:txBody>
          </p:sp>
          <p:sp>
            <p:nvSpPr>
              <p:cNvPr id="83" name="正方形/長方形 82">
                <a:extLst>
                  <a:ext uri="{FF2B5EF4-FFF2-40B4-BE49-F238E27FC236}">
                    <a16:creationId xmlns:a16="http://schemas.microsoft.com/office/drawing/2014/main" id="{741269FD-1730-F038-E2F8-66FA894BA52E}"/>
                  </a:ext>
                </a:extLst>
              </p:cNvPr>
              <p:cNvSpPr/>
              <p:nvPr/>
            </p:nvSpPr>
            <p:spPr>
              <a:xfrm>
                <a:off x="2764484" y="3503439"/>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accent5"/>
                    </a:solidFill>
                    <a:latin typeface="+mn-ea"/>
                  </a:rPr>
                  <a:t>小売アプリ・サイト広告の運用を自社の手に取り戻す</a:t>
                </a:r>
              </a:p>
              <a:p>
                <a:pPr lvl="0">
                  <a:defRPr/>
                </a:pPr>
                <a:r>
                  <a:rPr lang="ja-JP" altLang="en-US" sz="1100" dirty="0">
                    <a:solidFill>
                      <a:schemeClr val="tx1"/>
                    </a:solidFill>
                    <a:latin typeface="+mn-ea"/>
                  </a:rPr>
                  <a:t>＝リテールメディア投資の内製化</a:t>
                </a:r>
              </a:p>
            </p:txBody>
          </p:sp>
          <p:sp>
            <p:nvSpPr>
              <p:cNvPr id="84" name="正方形/長方形 83">
                <a:extLst>
                  <a:ext uri="{FF2B5EF4-FFF2-40B4-BE49-F238E27FC236}">
                    <a16:creationId xmlns:a16="http://schemas.microsoft.com/office/drawing/2014/main" id="{7931A7E5-B604-A09B-DE95-E527296991F4}"/>
                  </a:ext>
                </a:extLst>
              </p:cNvPr>
              <p:cNvSpPr/>
              <p:nvPr/>
            </p:nvSpPr>
            <p:spPr>
              <a:xfrm>
                <a:off x="6694978" y="2995773"/>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tx1"/>
                    </a:solidFill>
                    <a:latin typeface="+mn-ea"/>
                  </a:rPr>
                  <a:t>投資と店頭売上の因果を可視化 ― 全施策の投資判断の基準になる起点</a:t>
                </a:r>
                <a:r>
                  <a:rPr lang="en-US" altLang="ja-JP" sz="1100" dirty="0">
                    <a:solidFill>
                      <a:schemeClr val="tx1"/>
                    </a:solidFill>
                    <a:latin typeface="+mn-ea"/>
                  </a:rPr>
                  <a:t/>
                </a:r>
                <a:r>
                  <a:rPr lang="ja-JP" altLang="en-US" sz="1100" dirty="0">
                    <a:solidFill>
                      <a:schemeClr val="tx1"/>
                    </a:solidFill>
                    <a:latin typeface="+mn-ea"/>
                  </a:rPr>
                  <a:t/>
                </a:r>
                <a:br>
                  <a:rPr lang="en-US" altLang="ja-JP" sz="1100" dirty="0">
                    <a:solidFill>
                      <a:schemeClr val="tx1"/>
                    </a:solidFill>
                    <a:latin typeface="+mn-ea"/>
                  </a:rPr>
                </a:br>
                <a:r>
                  <a:rPr lang="ja-JP" altLang="en-US" sz="1100" dirty="0">
                    <a:solidFill>
                      <a:schemeClr val="tx1"/>
                    </a:solidFill>
                    <a:latin typeface="+mn-ea"/>
                  </a:rPr>
                  <a:t/>
                </a:r>
              </a:p>
            </p:txBody>
          </p:sp>
          <p:sp>
            <p:nvSpPr>
              <p:cNvPr id="85" name="正方形/長方形 84">
                <a:extLst>
                  <a:ext uri="{FF2B5EF4-FFF2-40B4-BE49-F238E27FC236}">
                    <a16:creationId xmlns:a16="http://schemas.microsoft.com/office/drawing/2014/main" id="{A814CE81-7ED0-3934-DE0B-1269C80869E6}"/>
                  </a:ext>
                </a:extLst>
              </p:cNvPr>
              <p:cNvSpPr/>
              <p:nvPr/>
            </p:nvSpPr>
            <p:spPr>
              <a:xfrm>
                <a:off x="6694978" y="3503438"/>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tx1"/>
                    </a:solidFill>
                    <a:latin typeface="+mn-ea"/>
                  </a:rPr>
                  <a:t>その場限りの広告購入をやめ、一元管理・自社運用で手数料と効果の薄い出稿を削減</a:t>
                </a:r>
                <a:br>
                  <a:rPr lang="en-US" altLang="ja-JP" sz="1100" dirty="0">
                    <a:solidFill>
                      <a:schemeClr val="tx1"/>
                    </a:solidFill>
                    <a:latin typeface="+mn-ea"/>
                  </a:rPr>
                </a:br>
                <a:r>
                  <a:rPr lang="ja-JP" altLang="en-US" sz="1100" dirty="0">
                    <a:solidFill>
                      <a:schemeClr val="tx1"/>
                    </a:solidFill>
                    <a:latin typeface="+mn-ea"/>
                  </a:rPr>
                  <a:t/>
                </a:r>
              </a:p>
            </p:txBody>
          </p:sp>
          <p:sp>
            <p:nvSpPr>
              <p:cNvPr id="86" name="正方形/長方形 85">
                <a:extLst>
                  <a:ext uri="{FF2B5EF4-FFF2-40B4-BE49-F238E27FC236}">
                    <a16:creationId xmlns:a16="http://schemas.microsoft.com/office/drawing/2014/main" id="{E1B4AA7B-DB0B-C757-6BD5-3AF2CC0EAD88}"/>
                  </a:ext>
                </a:extLst>
              </p:cNvPr>
              <p:cNvSpPr/>
              <p:nvPr/>
            </p:nvSpPr>
            <p:spPr>
              <a:xfrm>
                <a:off x="10063081" y="2995774"/>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lvl="0" indent="-171450">
                  <a:buClr>
                    <a:schemeClr val="accent5"/>
                  </a:buClr>
                  <a:buFont typeface="Arial" panose="020B0604020202020204" pitchFamily="34" charset="0"/>
                  <a:buChar char="•"/>
                  <a:defRPr/>
                </a:pPr>
                <a:r>
                  <a:rPr lang="ja-JP" altLang="en-US" sz="1100" dirty="0">
                    <a:solidFill>
                      <a:schemeClr val="accent5"/>
                    </a:solidFill>
                    <a:latin typeface="+mn-ea"/>
                  </a:rPr>
                  <a:t>売上寄与可視化率</a:t>
                </a:r>
                <a:endParaRPr lang="en-US" altLang="ja-JP" sz="1100" dirty="0">
                  <a:solidFill>
                    <a:schemeClr val="accent5"/>
                  </a:solidFill>
                  <a:latin typeface="+mn-ea"/>
                </a:endParaRPr>
              </a:p>
              <a:p>
                <a:pPr marL="171450" lvl="0" indent="-171450">
                  <a:buClr>
                    <a:schemeClr val="accent5"/>
                  </a:buClr>
                  <a:buFont typeface="Arial" panose="020B0604020202020204" pitchFamily="34" charset="0"/>
                  <a:buChar char="•"/>
                  <a:defRPr/>
                </a:pPr>
                <a:r>
                  <a:rPr lang="ja-JP" altLang="en-US" sz="1100" dirty="0">
                    <a:solidFill>
                      <a:schemeClr val="accent5"/>
                    </a:solidFill>
                    <a:latin typeface="+mn-ea"/>
                  </a:rPr>
                  <a:t>加重</a:t>
                </a:r>
                <a:r>
                  <a:rPr lang="en-US" altLang="ja-JP" sz="1100" dirty="0">
                    <a:solidFill>
                      <a:schemeClr val="accent5"/>
                    </a:solidFill>
                    <a:latin typeface="+mn-ea"/>
                  </a:rPr>
                  <a:t>ROAS</a:t>
                </a:r>
              </a:p>
            </p:txBody>
          </p:sp>
          <p:sp>
            <p:nvSpPr>
              <p:cNvPr id="87" name="正方形/長方形 86">
                <a:extLst>
                  <a:ext uri="{FF2B5EF4-FFF2-40B4-BE49-F238E27FC236}">
                    <a16:creationId xmlns:a16="http://schemas.microsoft.com/office/drawing/2014/main" id="{D6D91900-1436-A893-AA4F-31972483CC06}"/>
                  </a:ext>
                </a:extLst>
              </p:cNvPr>
              <p:cNvSpPr/>
              <p:nvPr/>
            </p:nvSpPr>
            <p:spPr>
              <a:xfrm>
                <a:off x="10063081" y="3503438"/>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100" dirty="0">
                    <a:solidFill>
                      <a:schemeClr val="accent5"/>
                    </a:solidFill>
                    <a:latin typeface="+mn-ea"/>
                  </a:rPr>
                  <a:t>内製化率 </a:t>
                </a:r>
                <a:r>
                  <a:rPr lang="en-US" altLang="ja-JP" sz="1100" dirty="0">
                    <a:solidFill>
                      <a:schemeClr val="accent5"/>
                    </a:solidFill>
                    <a:latin typeface="+mn-ea"/>
                  </a:rPr>
                  <a:t>(P&amp;G</a:t>
                </a:r>
                <a:r>
                  <a:rPr lang="ja-JP" altLang="en-US" sz="1100" dirty="0">
                    <a:solidFill>
                      <a:schemeClr val="accent5"/>
                    </a:solidFill>
                    <a:latin typeface="+mn-ea"/>
                  </a:rPr>
                  <a:t>比 約</a:t>
                </a:r>
                <a:r>
                  <a:rPr lang="en-US" altLang="ja-JP" sz="1100" dirty="0">
                    <a:solidFill>
                      <a:schemeClr val="accent5"/>
                    </a:solidFill>
                    <a:latin typeface="+mn-ea"/>
                  </a:rPr>
                  <a:t>85</a:t>
                </a:r>
                <a:r>
                  <a:rPr lang="ja-JP" altLang="en-US" sz="1100" dirty="0">
                    <a:solidFill>
                      <a:schemeClr val="accent5"/>
                    </a:solidFill>
                    <a:latin typeface="+mn-ea"/>
                  </a:rPr>
                  <a:t>億円</a:t>
                </a:r>
                <a:r>
                  <a:rPr lang="en-US" altLang="ja-JP" sz="1100" dirty="0">
                    <a:solidFill>
                      <a:schemeClr val="accent5"/>
                    </a:solidFill>
                    <a:latin typeface="+mn-ea"/>
                  </a:rPr>
                  <a:t>/</a:t>
                </a:r>
                <a:r>
                  <a:rPr lang="ja-JP" altLang="en-US" sz="1100" dirty="0">
                    <a:solidFill>
                      <a:schemeClr val="accent5"/>
                    </a:solidFill>
                    <a:latin typeface="+mn-ea"/>
                  </a:rPr>
                  <a:t>年削減の先行例</a:t>
                </a:r>
                <a:r>
                  <a:rPr lang="en-US" altLang="ja-JP" sz="1100" dirty="0">
                    <a:solidFill>
                      <a:schemeClr val="accent5"/>
                    </a:solidFill>
                    <a:latin typeface="+mn-ea"/>
                  </a:rPr>
                  <a:t>)</a:t>
                </a:r>
                <a:endParaRPr lang="ja-JP" altLang="en-US" sz="1100" dirty="0">
                  <a:solidFill>
                    <a:schemeClr val="accent5"/>
                  </a:solidFill>
                  <a:latin typeface="+mn-ea"/>
                </a:endParaRPr>
              </a:p>
            </p:txBody>
          </p:sp>
          <p:cxnSp>
            <p:nvCxnSpPr>
              <p:cNvPr id="88" name="コネクタ: カギ線 87">
                <a:extLst>
                  <a:ext uri="{FF2B5EF4-FFF2-40B4-BE49-F238E27FC236}">
                    <a16:creationId xmlns:a16="http://schemas.microsoft.com/office/drawing/2014/main" id="{58765A65-C0EE-9B3E-C58C-9A1037AEE7AB}"/>
                  </a:ext>
                </a:extLst>
              </p:cNvPr>
              <p:cNvCxnSpPr>
                <a:endCxn id="81" idx="1"/>
              </p:cNvCxnSpPr>
              <p:nvPr/>
            </p:nvCxnSpPr>
            <p:spPr>
              <a:xfrm flipV="1">
                <a:off x="2074459" y="3211507"/>
                <a:ext cx="194580" cy="253833"/>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コネクタ: カギ線 88">
                <a:extLst>
                  <a:ext uri="{FF2B5EF4-FFF2-40B4-BE49-F238E27FC236}">
                    <a16:creationId xmlns:a16="http://schemas.microsoft.com/office/drawing/2014/main" id="{27B39C7F-882A-3C5F-7C00-EE320E7A67F0}"/>
                  </a:ext>
                </a:extLst>
              </p:cNvPr>
              <p:cNvCxnSpPr>
                <a:cxnSpLocks/>
                <a:endCxn id="82" idx="1"/>
              </p:cNvCxnSpPr>
              <p:nvPr/>
            </p:nvCxnSpPr>
            <p:spPr>
              <a:xfrm>
                <a:off x="2074459" y="3465340"/>
                <a:ext cx="194580" cy="25383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E9A02F68-9606-9B06-37D1-ECD478D6DA07}"/>
                  </a:ext>
                </a:extLst>
              </p:cNvPr>
              <p:cNvCxnSpPr/>
              <p:nvPr/>
            </p:nvCxnSpPr>
            <p:spPr>
              <a:xfrm>
                <a:off x="6694978" y="3465338"/>
                <a:ext cx="316245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a16:creationId xmlns:a16="http://schemas.microsoft.com/office/drawing/2014/main" id="{D774E3D4-5160-CC1C-6081-A171D8178703}"/>
                  </a:ext>
                </a:extLst>
              </p:cNvPr>
              <p:cNvCxnSpPr/>
              <p:nvPr/>
            </p:nvCxnSpPr>
            <p:spPr>
              <a:xfrm>
                <a:off x="10063081" y="3465338"/>
                <a:ext cx="179395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3" name="正方形/長方形 92">
                <a:extLst>
                  <a:ext uri="{FF2B5EF4-FFF2-40B4-BE49-F238E27FC236}">
                    <a16:creationId xmlns:a16="http://schemas.microsoft.com/office/drawing/2014/main" id="{3B673E4D-CA78-0B75-96FF-97F67FA7505A}"/>
                  </a:ext>
                </a:extLst>
              </p:cNvPr>
              <p:cNvSpPr/>
              <p:nvPr/>
            </p:nvSpPr>
            <p:spPr>
              <a:xfrm>
                <a:off x="2764484" y="3985704"/>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accent5"/>
                    </a:solidFill>
                    <a:latin typeface="+mn-ea"/>
                  </a:rPr>
                  <a:t>研究・臨床データを、商談で使える数字に自動変換する</a:t>
                </a:r>
              </a:p>
              <a:p>
                <a:pPr lvl="0">
                  <a:defRPr/>
                </a:pPr>
                <a:r>
                  <a:rPr lang="ja-JP" altLang="en-US" sz="1100" dirty="0">
                    <a:solidFill>
                      <a:schemeClr val="tx1"/>
                    </a:solidFill>
                    <a:latin typeface="+mn-ea"/>
                  </a:rPr>
                  <a:t>＝臨床データの</a:t>
                </a:r>
                <a:r>
                  <a:rPr lang="en-US" altLang="ja-JP" sz="1100" dirty="0">
                    <a:solidFill>
                      <a:schemeClr val="tx1"/>
                    </a:solidFill>
                    <a:latin typeface="+mn-ea"/>
                  </a:rPr>
                  <a:t>LTV</a:t>
                </a:r>
                <a:r>
                  <a:rPr lang="ja-JP" altLang="en-US" sz="1100" dirty="0">
                    <a:solidFill>
                      <a:schemeClr val="tx1"/>
                    </a:solidFill>
                    <a:latin typeface="+mn-ea"/>
                  </a:rPr>
                  <a:t>・炭素効率変換</a:t>
                </a:r>
              </a:p>
            </p:txBody>
          </p:sp>
          <p:sp>
            <p:nvSpPr>
              <p:cNvPr id="94" name="正方形/長方形 93">
                <a:extLst>
                  <a:ext uri="{FF2B5EF4-FFF2-40B4-BE49-F238E27FC236}">
                    <a16:creationId xmlns:a16="http://schemas.microsoft.com/office/drawing/2014/main" id="{5A612DE7-FD2E-FB12-EBFA-3229352A0E8B}"/>
                  </a:ext>
                </a:extLst>
              </p:cNvPr>
              <p:cNvSpPr/>
              <p:nvPr/>
            </p:nvSpPr>
            <p:spPr>
              <a:xfrm>
                <a:off x="2269039" y="3985704"/>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C1★</a:t>
                </a:r>
              </a:p>
            </p:txBody>
          </p:sp>
          <p:sp>
            <p:nvSpPr>
              <p:cNvPr id="95" name="正方形/長方形 16">
                <a:extLst>
                  <a:ext uri="{FF2B5EF4-FFF2-40B4-BE49-F238E27FC236}">
                    <a16:creationId xmlns:a16="http://schemas.microsoft.com/office/drawing/2014/main" id="{7F78F13F-7E4E-B02B-CF4B-758EEAB60E63}"/>
                  </a:ext>
                </a:extLst>
              </p:cNvPr>
              <p:cNvSpPr/>
              <p:nvPr/>
            </p:nvSpPr>
            <p:spPr>
              <a:xfrm>
                <a:off x="2269039" y="4493369"/>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C2</a:t>
                </a:r>
              </a:p>
            </p:txBody>
          </p:sp>
          <p:sp>
            <p:nvSpPr>
              <p:cNvPr id="96" name="正方形/長方形 95">
                <a:extLst>
                  <a:ext uri="{FF2B5EF4-FFF2-40B4-BE49-F238E27FC236}">
                    <a16:creationId xmlns:a16="http://schemas.microsoft.com/office/drawing/2014/main" id="{037BFD0C-FA2F-4005-9F27-EB70E27EC95F}"/>
                  </a:ext>
                </a:extLst>
              </p:cNvPr>
              <p:cNvSpPr/>
              <p:nvPr/>
            </p:nvSpPr>
            <p:spPr>
              <a:xfrm>
                <a:off x="2764484" y="4493369"/>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accent5"/>
                    </a:solidFill>
                    <a:latin typeface="+mn-ea"/>
                  </a:rPr>
                  <a:t>成功した商談を型にして、誰でも再現できるようにする</a:t>
                </a:r>
              </a:p>
              <a:p>
                <a:pPr lvl="0">
                  <a:defRPr/>
                </a:pPr>
                <a:r>
                  <a:rPr lang="ja-JP" altLang="en-US" sz="1100" dirty="0">
                    <a:solidFill>
                      <a:schemeClr val="tx1"/>
                    </a:solidFill>
                    <a:latin typeface="+mn-ea"/>
                  </a:rPr>
                  <a:t>＝ロジック提案の標準化</a:t>
                </a:r>
              </a:p>
            </p:txBody>
          </p:sp>
          <p:sp>
            <p:nvSpPr>
              <p:cNvPr id="97" name="正方形/長方形 96">
                <a:extLst>
                  <a:ext uri="{FF2B5EF4-FFF2-40B4-BE49-F238E27FC236}">
                    <a16:creationId xmlns:a16="http://schemas.microsoft.com/office/drawing/2014/main" id="{DFA6D89C-BFA7-8415-6A2E-951A7F3B5542}"/>
                  </a:ext>
                </a:extLst>
              </p:cNvPr>
              <p:cNvSpPr/>
              <p:nvPr/>
            </p:nvSpPr>
            <p:spPr>
              <a:xfrm>
                <a:off x="6694978" y="3985703"/>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tx1"/>
                    </a:solidFill>
                    <a:latin typeface="+mn-ea"/>
                  </a:rPr>
                  <a:t>バイヤーが本部監査を突破できる数値根拠へ自動変換</a:t>
                </a:r>
                <a:br>
                  <a:rPr lang="en-US" altLang="ja-JP" sz="1100" dirty="0">
                    <a:solidFill>
                      <a:schemeClr val="tx1"/>
                    </a:solidFill>
                    <a:latin typeface="+mn-ea"/>
                  </a:rPr>
                </a:br>
                <a:r>
                  <a:rPr lang="ja-JP" altLang="en-US" sz="1100" dirty="0">
                    <a:solidFill>
                      <a:schemeClr val="tx1"/>
                    </a:solidFill>
                    <a:latin typeface="+mn-ea"/>
                  </a:rPr>
                  <a:t>し商談当日に供給</a:t>
                </a:r>
              </a:p>
            </p:txBody>
          </p:sp>
          <p:sp>
            <p:nvSpPr>
              <p:cNvPr id="98" name="正方形/長方形 97">
                <a:extLst>
                  <a:ext uri="{FF2B5EF4-FFF2-40B4-BE49-F238E27FC236}">
                    <a16:creationId xmlns:a16="http://schemas.microsoft.com/office/drawing/2014/main" id="{B40F2514-CEB5-3516-16E5-D77CDFB30A08}"/>
                  </a:ext>
                </a:extLst>
              </p:cNvPr>
              <p:cNvSpPr/>
              <p:nvPr/>
            </p:nvSpPr>
            <p:spPr>
              <a:xfrm>
                <a:off x="6694978" y="4493368"/>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tx1"/>
                    </a:solidFill>
                    <a:latin typeface="+mn-ea"/>
                  </a:rPr>
                  <a:t>ベテランの暗黙知を形式知化し、提案の質を人に</a:t>
                </a:r>
                <a:br>
                  <a:rPr lang="en-US" altLang="ja-JP" sz="1100" dirty="0">
                    <a:solidFill>
                      <a:schemeClr val="tx1"/>
                    </a:solidFill>
                    <a:latin typeface="+mn-ea"/>
                  </a:rPr>
                </a:br>
                <a:r>
                  <a:rPr lang="ja-JP" altLang="en-US" sz="1100" dirty="0">
                    <a:solidFill>
                      <a:schemeClr val="tx1"/>
                    </a:solidFill>
                    <a:latin typeface="+mn-ea"/>
                  </a:rPr>
                  <a:t>依存させない</a:t>
                </a:r>
              </a:p>
            </p:txBody>
          </p:sp>
          <p:sp>
            <p:nvSpPr>
              <p:cNvPr id="99" name="正方形/長方形 98">
                <a:extLst>
                  <a:ext uri="{FF2B5EF4-FFF2-40B4-BE49-F238E27FC236}">
                    <a16:creationId xmlns:a16="http://schemas.microsoft.com/office/drawing/2014/main" id="{09941D76-59EE-4BA7-2555-5FB72344FB62}"/>
                  </a:ext>
                </a:extLst>
              </p:cNvPr>
              <p:cNvSpPr/>
              <p:nvPr/>
            </p:nvSpPr>
            <p:spPr>
              <a:xfrm>
                <a:off x="10063081" y="3985704"/>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lvl="0" indent="-171450">
                  <a:buClr>
                    <a:schemeClr val="accent5"/>
                  </a:buClr>
                  <a:buFont typeface="Arial" panose="020B0604020202020204" pitchFamily="34" charset="0"/>
                  <a:buChar char="•"/>
                  <a:defRPr/>
                </a:pPr>
                <a:r>
                  <a:rPr lang="zh-TW" altLang="en-US" sz="1100" dirty="0">
                    <a:solidFill>
                      <a:schemeClr val="accent5"/>
                    </a:solidFill>
                    <a:latin typeface="+mn-ea"/>
                  </a:rPr>
                  <a:t>提案採用率</a:t>
                </a:r>
                <a:endParaRPr lang="en-US" altLang="zh-TW" sz="1100" dirty="0">
                  <a:solidFill>
                    <a:schemeClr val="accent5"/>
                  </a:solidFill>
                  <a:latin typeface="+mn-ea"/>
                </a:endParaRPr>
              </a:p>
              <a:p>
                <a:pPr marL="171450" lvl="0" indent="-171450">
                  <a:buClr>
                    <a:schemeClr val="accent5"/>
                  </a:buClr>
                  <a:buFont typeface="Arial" panose="020B0604020202020204" pitchFamily="34" charset="0"/>
                  <a:buChar char="•"/>
                  <a:defRPr/>
                </a:pPr>
                <a:r>
                  <a:rPr lang="zh-TW" altLang="en-US" sz="1100" dirty="0">
                    <a:solidFill>
                      <a:schemeClr val="accent5"/>
                    </a:solidFill>
                    <a:latin typeface="+mn-ea"/>
                  </a:rPr>
                  <a:t>審査突破率</a:t>
                </a:r>
              </a:p>
            </p:txBody>
          </p:sp>
          <p:sp>
            <p:nvSpPr>
              <p:cNvPr id="100" name="正方形/長方形 99">
                <a:extLst>
                  <a:ext uri="{FF2B5EF4-FFF2-40B4-BE49-F238E27FC236}">
                    <a16:creationId xmlns:a16="http://schemas.microsoft.com/office/drawing/2014/main" id="{FAFBA673-1096-F650-9486-527BCC9979A7}"/>
                  </a:ext>
                </a:extLst>
              </p:cNvPr>
              <p:cNvSpPr/>
              <p:nvPr/>
            </p:nvSpPr>
            <p:spPr>
              <a:xfrm>
                <a:off x="10063081" y="4493368"/>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100" dirty="0">
                    <a:solidFill>
                      <a:schemeClr val="accent5"/>
                    </a:solidFill>
                    <a:latin typeface="+mn-ea"/>
                  </a:rPr>
                  <a:t>テンプレ活用率</a:t>
                </a:r>
                <a:endParaRPr lang="en-US" altLang="ja-JP" sz="1100" dirty="0">
                  <a:solidFill>
                    <a:schemeClr val="accent5"/>
                  </a:solidFill>
                  <a:latin typeface="+mn-ea"/>
                </a:endParaRPr>
              </a:p>
              <a:p>
                <a:pPr marL="171450" indent="-171450">
                  <a:buClr>
                    <a:schemeClr val="accent5"/>
                  </a:buClr>
                  <a:buFont typeface="Arial" panose="020B0604020202020204" pitchFamily="34" charset="0"/>
                  <a:buChar char="•"/>
                </a:pPr>
                <a:r>
                  <a:rPr lang="ja-JP" altLang="en-US" sz="1100" dirty="0">
                    <a:solidFill>
                      <a:schemeClr val="accent5"/>
                    </a:solidFill>
                    <a:latin typeface="+mn-ea"/>
                  </a:rPr>
                  <a:t>標準提案採用率</a:t>
                </a:r>
              </a:p>
            </p:txBody>
          </p:sp>
          <p:cxnSp>
            <p:nvCxnSpPr>
              <p:cNvPr id="101" name="コネクタ: カギ線 100">
                <a:extLst>
                  <a:ext uri="{FF2B5EF4-FFF2-40B4-BE49-F238E27FC236}">
                    <a16:creationId xmlns:a16="http://schemas.microsoft.com/office/drawing/2014/main" id="{EB0AE6E7-B00B-9DA9-4A25-AE55AD4F5CBB}"/>
                  </a:ext>
                </a:extLst>
              </p:cNvPr>
              <p:cNvCxnSpPr>
                <a:endCxn id="94" idx="1"/>
              </p:cNvCxnSpPr>
              <p:nvPr/>
            </p:nvCxnSpPr>
            <p:spPr>
              <a:xfrm flipV="1">
                <a:off x="2074459" y="4201437"/>
                <a:ext cx="194580" cy="253833"/>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コネクタ: カギ線 101">
                <a:extLst>
                  <a:ext uri="{FF2B5EF4-FFF2-40B4-BE49-F238E27FC236}">
                    <a16:creationId xmlns:a16="http://schemas.microsoft.com/office/drawing/2014/main" id="{9D9B662C-2078-2644-B354-C34CCBED76F9}"/>
                  </a:ext>
                </a:extLst>
              </p:cNvPr>
              <p:cNvCxnSpPr>
                <a:cxnSpLocks/>
                <a:endCxn id="95" idx="1"/>
              </p:cNvCxnSpPr>
              <p:nvPr/>
            </p:nvCxnSpPr>
            <p:spPr>
              <a:xfrm>
                <a:off x="2074459" y="4455270"/>
                <a:ext cx="194580" cy="25383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DEF1DE3B-9A02-DEBD-324C-11019EBDB557}"/>
                  </a:ext>
                </a:extLst>
              </p:cNvPr>
              <p:cNvCxnSpPr/>
              <p:nvPr/>
            </p:nvCxnSpPr>
            <p:spPr>
              <a:xfrm>
                <a:off x="6694978" y="4455268"/>
                <a:ext cx="316245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4" name="直線コネクタ 103">
                <a:extLst>
                  <a:ext uri="{FF2B5EF4-FFF2-40B4-BE49-F238E27FC236}">
                    <a16:creationId xmlns:a16="http://schemas.microsoft.com/office/drawing/2014/main" id="{68A01A9B-CD6E-0A1E-B20A-93786AD25E3E}"/>
                  </a:ext>
                </a:extLst>
              </p:cNvPr>
              <p:cNvCxnSpPr/>
              <p:nvPr/>
            </p:nvCxnSpPr>
            <p:spPr>
              <a:xfrm>
                <a:off x="10063081" y="4455268"/>
                <a:ext cx="179395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8137483E-6437-D4F3-4D89-637CCB7628A2}"/>
                  </a:ext>
                </a:extLst>
              </p:cNvPr>
              <p:cNvSpPr/>
              <p:nvPr/>
            </p:nvSpPr>
            <p:spPr>
              <a:xfrm>
                <a:off x="2764484" y="4975636"/>
                <a:ext cx="3713783" cy="431465"/>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accent5"/>
                    </a:solidFill>
                    <a:latin typeface="+mn-ea"/>
                  </a:rPr>
                  <a:t>資料作成・集計を</a:t>
                </a:r>
                <a:r>
                  <a:rPr lang="en-US" altLang="ja-JP" sz="1100" dirty="0">
                    <a:solidFill>
                      <a:schemeClr val="accent5"/>
                    </a:solidFill>
                    <a:latin typeface="+mn-ea"/>
                  </a:rPr>
                  <a:t>AI</a:t>
                </a:r>
                <a:r>
                  <a:rPr lang="ja-JP" altLang="en-US" sz="1100" dirty="0">
                    <a:solidFill>
                      <a:schemeClr val="accent5"/>
                    </a:solidFill>
                    <a:latin typeface="+mn-ea"/>
                  </a:rPr>
                  <a:t>で自動化し、商談の時間を生み出す</a:t>
                </a:r>
              </a:p>
              <a:p>
                <a:pPr lvl="0">
                  <a:defRPr/>
                </a:pPr>
                <a:r>
                  <a:rPr lang="ja-JP" altLang="en-US" sz="1100" dirty="0">
                    <a:solidFill>
                      <a:schemeClr val="tx1"/>
                    </a:solidFill>
                    <a:latin typeface="+mn-ea"/>
                  </a:rPr>
                  <a:t>＝</a:t>
                </a:r>
                <a:r>
                  <a:rPr lang="en-US" altLang="ja-JP" sz="1100" dirty="0">
                    <a:solidFill>
                      <a:schemeClr val="tx1"/>
                    </a:solidFill>
                    <a:latin typeface="+mn-ea"/>
                  </a:rPr>
                  <a:t>Input</a:t>
                </a:r>
                <a:r>
                  <a:rPr lang="ja-JP" altLang="en-US" sz="1100" dirty="0">
                    <a:solidFill>
                      <a:schemeClr val="tx1"/>
                    </a:solidFill>
                    <a:latin typeface="+mn-ea"/>
                  </a:rPr>
                  <a:t>業務ゼロ化 </a:t>
                </a:r>
                <a:r>
                  <a:rPr lang="en-US" altLang="ja-JP" sz="1100" dirty="0">
                    <a:solidFill>
                      <a:schemeClr val="tx1"/>
                    </a:solidFill>
                    <a:latin typeface="+mn-ea"/>
                  </a:rPr>
                  <a:t>(</a:t>
                </a:r>
                <a:r>
                  <a:rPr lang="ja-JP" altLang="en-US" sz="1100" dirty="0">
                    <a:solidFill>
                      <a:schemeClr val="tx1"/>
                    </a:solidFill>
                    <a:latin typeface="+mn-ea"/>
                  </a:rPr>
                  <a:t>生成</a:t>
                </a:r>
                <a:r>
                  <a:rPr lang="en-US" altLang="ja-JP" sz="1100" dirty="0">
                    <a:solidFill>
                      <a:schemeClr val="tx1"/>
                    </a:solidFill>
                    <a:latin typeface="+mn-ea"/>
                  </a:rPr>
                  <a:t>AI</a:t>
                </a:r>
                <a:r>
                  <a:rPr lang="ja-JP" altLang="en-US" sz="1100" dirty="0">
                    <a:solidFill>
                      <a:schemeClr val="tx1"/>
                    </a:solidFill>
                    <a:latin typeface="+mn-ea"/>
                  </a:rPr>
                  <a:t>＋</a:t>
                </a:r>
                <a:r>
                  <a:rPr lang="en-US" altLang="ja-JP" sz="1100" dirty="0">
                    <a:solidFill>
                      <a:schemeClr val="tx1"/>
                    </a:solidFill>
                    <a:latin typeface="+mn-ea"/>
                  </a:rPr>
                  <a:t>TPM)</a:t>
                </a:r>
                <a:endParaRPr lang="ja-JP" altLang="en-US" sz="1100" dirty="0">
                  <a:solidFill>
                    <a:schemeClr val="tx1"/>
                  </a:solidFill>
                  <a:latin typeface="+mn-ea"/>
                </a:endParaRPr>
              </a:p>
            </p:txBody>
          </p:sp>
          <p:sp>
            <p:nvSpPr>
              <p:cNvPr id="107" name="正方形/長方形 106">
                <a:extLst>
                  <a:ext uri="{FF2B5EF4-FFF2-40B4-BE49-F238E27FC236}">
                    <a16:creationId xmlns:a16="http://schemas.microsoft.com/office/drawing/2014/main" id="{B535F162-DAA4-8CA0-8375-0E04C8AD5E27}"/>
                  </a:ext>
                </a:extLst>
              </p:cNvPr>
              <p:cNvSpPr/>
              <p:nvPr/>
            </p:nvSpPr>
            <p:spPr>
              <a:xfrm>
                <a:off x="2269039" y="4975636"/>
                <a:ext cx="495445" cy="431465"/>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D1★</a:t>
                </a:r>
              </a:p>
            </p:txBody>
          </p:sp>
          <p:sp>
            <p:nvSpPr>
              <p:cNvPr id="110" name="正方形/長方形 109">
                <a:extLst>
                  <a:ext uri="{FF2B5EF4-FFF2-40B4-BE49-F238E27FC236}">
                    <a16:creationId xmlns:a16="http://schemas.microsoft.com/office/drawing/2014/main" id="{A2E60FFE-C4B6-6C6C-663F-C0C848DCA0FB}"/>
                  </a:ext>
                </a:extLst>
              </p:cNvPr>
              <p:cNvSpPr/>
              <p:nvPr/>
            </p:nvSpPr>
            <p:spPr>
              <a:xfrm>
                <a:off x="6694978" y="4975635"/>
                <a:ext cx="3162456"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defRPr/>
                </a:pPr>
                <a:r>
                  <a:rPr lang="ja-JP" altLang="en-US" sz="1100" dirty="0">
                    <a:solidFill>
                      <a:schemeClr val="tx1"/>
                    </a:solidFill>
                    <a:latin typeface="+mn-ea"/>
                  </a:rPr>
                  <a:t>資料・集計の事務時間を構造的に削減し、時間を</a:t>
                </a:r>
                <a:br>
                  <a:rPr lang="en-US" altLang="ja-JP" sz="1100" dirty="0">
                    <a:solidFill>
                      <a:schemeClr val="tx1"/>
                    </a:solidFill>
                    <a:latin typeface="+mn-ea"/>
                  </a:rPr>
                </a:br>
                <a:r>
                  <a:rPr lang="ja-JP" altLang="en-US" sz="1100" dirty="0">
                    <a:solidFill>
                      <a:schemeClr val="tx1"/>
                    </a:solidFill>
                    <a:latin typeface="+mn-ea"/>
                  </a:rPr>
                  <a:t>商談・共同設計へ</a:t>
                </a:r>
              </a:p>
            </p:txBody>
          </p:sp>
          <p:sp>
            <p:nvSpPr>
              <p:cNvPr id="112" name="正方形/長方形 111">
                <a:extLst>
                  <a:ext uri="{FF2B5EF4-FFF2-40B4-BE49-F238E27FC236}">
                    <a16:creationId xmlns:a16="http://schemas.microsoft.com/office/drawing/2014/main" id="{CA9185F3-40DE-3A32-9EFE-42CD97C42BFB}"/>
                  </a:ext>
                </a:extLst>
              </p:cNvPr>
              <p:cNvSpPr/>
              <p:nvPr/>
            </p:nvSpPr>
            <p:spPr>
              <a:xfrm>
                <a:off x="10063081" y="4975636"/>
                <a:ext cx="1793954" cy="431465"/>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lvl="0" indent="-171450">
                  <a:buClr>
                    <a:schemeClr val="accent5"/>
                  </a:buClr>
                  <a:buFont typeface="Arial" panose="020B0604020202020204" pitchFamily="34" charset="0"/>
                  <a:buChar char="•"/>
                  <a:defRPr/>
                </a:pPr>
                <a:r>
                  <a:rPr lang="zh-TW" altLang="en-US" sz="1100" dirty="0">
                    <a:solidFill>
                      <a:schemeClr val="accent5"/>
                    </a:solidFill>
                    <a:latin typeface="+mn-ea"/>
                  </a:rPr>
                  <a:t>事務時間削減率</a:t>
                </a:r>
                <a:endParaRPr lang="en-US" altLang="zh-TW" sz="1100" dirty="0">
                  <a:solidFill>
                    <a:schemeClr val="accent5"/>
                  </a:solidFill>
                  <a:latin typeface="+mn-ea"/>
                </a:endParaRPr>
              </a:p>
              <a:p>
                <a:pPr marL="171450" lvl="0" indent="-171450">
                  <a:buClr>
                    <a:schemeClr val="accent5"/>
                  </a:buClr>
                  <a:buFont typeface="Arial" panose="020B0604020202020204" pitchFamily="34" charset="0"/>
                  <a:buChar char="•"/>
                  <a:defRPr/>
                </a:pPr>
                <a:r>
                  <a:rPr lang="zh-TW" altLang="en-US" sz="1100" dirty="0">
                    <a:solidFill>
                      <a:schemeClr val="accent5"/>
                    </a:solidFill>
                    <a:latin typeface="+mn-ea"/>
                  </a:rPr>
                  <a:t>対</a:t>
                </a:r>
                <a:r>
                  <a:rPr lang="en-US" altLang="zh-TW" sz="1100" dirty="0">
                    <a:solidFill>
                      <a:schemeClr val="accent5"/>
                    </a:solidFill>
                    <a:latin typeface="+mn-ea"/>
                  </a:rPr>
                  <a:t>P&amp;G</a:t>
                </a:r>
                <a:r>
                  <a:rPr lang="zh-TW" altLang="en-US" sz="1100" dirty="0">
                    <a:solidFill>
                      <a:schemeClr val="accent5"/>
                    </a:solidFill>
                    <a:latin typeface="+mn-ea"/>
                  </a:rPr>
                  <a:t>格差 </a:t>
                </a:r>
                <a:r>
                  <a:rPr lang="en-US" altLang="zh-TW" sz="1100" dirty="0">
                    <a:solidFill>
                      <a:schemeClr val="accent5"/>
                    </a:solidFill>
                    <a:latin typeface="+mn-ea"/>
                  </a:rPr>
                  <a:t>7.6</a:t>
                </a:r>
                <a:r>
                  <a:rPr lang="zh-TW" altLang="en-US" sz="1100" dirty="0">
                    <a:solidFill>
                      <a:schemeClr val="accent5"/>
                    </a:solidFill>
                    <a:latin typeface="+mn-ea"/>
                  </a:rPr>
                  <a:t>倍→半減</a:t>
                </a:r>
              </a:p>
            </p:txBody>
          </p:sp>
          <p:cxnSp>
            <p:nvCxnSpPr>
              <p:cNvPr id="114" name="コネクタ: カギ線 113">
                <a:extLst>
                  <a:ext uri="{FF2B5EF4-FFF2-40B4-BE49-F238E27FC236}">
                    <a16:creationId xmlns:a16="http://schemas.microsoft.com/office/drawing/2014/main" id="{DB43AF2A-C40D-39A1-1C3C-6E9E2DF5E376}"/>
                  </a:ext>
                </a:extLst>
              </p:cNvPr>
              <p:cNvCxnSpPr>
                <a:endCxn id="107" idx="1"/>
              </p:cNvCxnSpPr>
              <p:nvPr/>
            </p:nvCxnSpPr>
            <p:spPr>
              <a:xfrm flipV="1">
                <a:off x="2074459" y="5191369"/>
                <a:ext cx="194580" cy="253833"/>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コネクタ: カギ線 114">
                <a:extLst>
                  <a:ext uri="{FF2B5EF4-FFF2-40B4-BE49-F238E27FC236}">
                    <a16:creationId xmlns:a16="http://schemas.microsoft.com/office/drawing/2014/main" id="{23FF74AC-CB9A-85E5-152E-2CE4744D8F25}"/>
                  </a:ext>
                </a:extLst>
              </p:cNvPr>
              <p:cNvCxnSpPr>
                <a:cxnSpLocks/>
                <a:endCxn id="108" idx="1"/>
              </p:cNvCxnSpPr>
              <p:nvPr/>
            </p:nvCxnSpPr>
            <p:spPr>
              <a:xfrm>
                <a:off x="2074459" y="5445202"/>
                <a:ext cx="194580" cy="253832"/>
              </a:xfrm>
              <a:prstGeom prst="bentConnector3">
                <a:avLst>
                  <a:gd name="adj1" fmla="val 5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直線コネクタ 115">
                <a:extLst>
                  <a:ext uri="{FF2B5EF4-FFF2-40B4-BE49-F238E27FC236}">
                    <a16:creationId xmlns:a16="http://schemas.microsoft.com/office/drawing/2014/main" id="{CFD622E8-EA12-49EB-C3DE-7CAABC278AA2}"/>
                  </a:ext>
                </a:extLst>
              </p:cNvPr>
              <p:cNvCxnSpPr/>
              <p:nvPr/>
            </p:nvCxnSpPr>
            <p:spPr>
              <a:xfrm>
                <a:off x="6694978" y="5445200"/>
                <a:ext cx="3162456"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a16:creationId xmlns:a16="http://schemas.microsoft.com/office/drawing/2014/main" id="{72D31210-C189-4E07-488F-6F8737044AA1}"/>
                  </a:ext>
                </a:extLst>
              </p:cNvPr>
              <p:cNvCxnSpPr/>
              <p:nvPr/>
            </p:nvCxnSpPr>
            <p:spPr>
              <a:xfrm>
                <a:off x="10063081" y="5445200"/>
                <a:ext cx="179395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8" name="直線コネクタ 117">
                <a:extLst>
                  <a:ext uri="{FF2B5EF4-FFF2-40B4-BE49-F238E27FC236}">
                    <a16:creationId xmlns:a16="http://schemas.microsoft.com/office/drawing/2014/main" id="{969A2FC2-693C-B669-7658-8C81BC958167}"/>
                  </a:ext>
                </a:extLst>
              </p:cNvPr>
              <p:cNvCxnSpPr/>
              <p:nvPr/>
            </p:nvCxnSpPr>
            <p:spPr>
              <a:xfrm>
                <a:off x="6694979" y="2970372"/>
                <a:ext cx="5162056" cy="0"/>
              </a:xfrm>
              <a:prstGeom prst="line">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 name="直線コネクタ 118">
                <a:extLst>
                  <a:ext uri="{FF2B5EF4-FFF2-40B4-BE49-F238E27FC236}">
                    <a16:creationId xmlns:a16="http://schemas.microsoft.com/office/drawing/2014/main" id="{0D9598DA-B744-782A-2CF3-A5ED9D7866F2}"/>
                  </a:ext>
                </a:extLst>
              </p:cNvPr>
              <p:cNvCxnSpPr/>
              <p:nvPr/>
            </p:nvCxnSpPr>
            <p:spPr>
              <a:xfrm>
                <a:off x="6694977" y="3960303"/>
                <a:ext cx="5162056" cy="0"/>
              </a:xfrm>
              <a:prstGeom prst="line">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a16:creationId xmlns:a16="http://schemas.microsoft.com/office/drawing/2014/main" id="{BE46BBAC-5ACA-3C80-38B4-9A2318862F7B}"/>
                  </a:ext>
                </a:extLst>
              </p:cNvPr>
              <p:cNvCxnSpPr/>
              <p:nvPr/>
            </p:nvCxnSpPr>
            <p:spPr>
              <a:xfrm>
                <a:off x="6694977" y="4950234"/>
                <a:ext cx="5162056" cy="0"/>
              </a:xfrm>
              <a:prstGeom prst="line">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2" name="二等辺三角形 121">
                <a:extLst>
                  <a:ext uri="{FF2B5EF4-FFF2-40B4-BE49-F238E27FC236}">
                    <a16:creationId xmlns:a16="http://schemas.microsoft.com/office/drawing/2014/main" id="{F4140C22-6A77-468C-493C-D0F0D76E4920}"/>
                  </a:ext>
                </a:extLst>
              </p:cNvPr>
              <p:cNvSpPr/>
              <p:nvPr/>
            </p:nvSpPr>
            <p:spPr>
              <a:xfrm rot="5400000">
                <a:off x="6403810" y="2149116"/>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24" name="二等辺三角形 123">
                <a:extLst>
                  <a:ext uri="{FF2B5EF4-FFF2-40B4-BE49-F238E27FC236}">
                    <a16:creationId xmlns:a16="http://schemas.microsoft.com/office/drawing/2014/main" id="{E6C9A553-93F4-0B44-1269-0D520C18781F}"/>
                  </a:ext>
                </a:extLst>
              </p:cNvPr>
              <p:cNvSpPr/>
              <p:nvPr/>
            </p:nvSpPr>
            <p:spPr>
              <a:xfrm rot="16200000" flipH="1">
                <a:off x="9763797" y="2149116"/>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27" name="二等辺三角形 126">
                <a:extLst>
                  <a:ext uri="{FF2B5EF4-FFF2-40B4-BE49-F238E27FC236}">
                    <a16:creationId xmlns:a16="http://schemas.microsoft.com/office/drawing/2014/main" id="{EC88CC33-EC89-B57F-DA12-BBB965443FFB}"/>
                  </a:ext>
                </a:extLst>
              </p:cNvPr>
              <p:cNvSpPr/>
              <p:nvPr/>
            </p:nvSpPr>
            <p:spPr>
              <a:xfrm rot="5400000">
                <a:off x="6403810" y="2656780"/>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28" name="二等辺三角形 127">
                <a:extLst>
                  <a:ext uri="{FF2B5EF4-FFF2-40B4-BE49-F238E27FC236}">
                    <a16:creationId xmlns:a16="http://schemas.microsoft.com/office/drawing/2014/main" id="{69C96EB1-686D-3B9B-D396-F1A452B137BD}"/>
                  </a:ext>
                </a:extLst>
              </p:cNvPr>
              <p:cNvSpPr/>
              <p:nvPr/>
            </p:nvSpPr>
            <p:spPr>
              <a:xfrm rot="16200000" flipH="1">
                <a:off x="9763797" y="2656780"/>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0" name="二等辺三角形 129">
                <a:extLst>
                  <a:ext uri="{FF2B5EF4-FFF2-40B4-BE49-F238E27FC236}">
                    <a16:creationId xmlns:a16="http://schemas.microsoft.com/office/drawing/2014/main" id="{0B1BB3D1-B009-5933-7F67-2DC21F77942A}"/>
                  </a:ext>
                </a:extLst>
              </p:cNvPr>
              <p:cNvSpPr/>
              <p:nvPr/>
            </p:nvSpPr>
            <p:spPr>
              <a:xfrm rot="5400000">
                <a:off x="6403810" y="3139047"/>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1" name="二等辺三角形 130">
                <a:extLst>
                  <a:ext uri="{FF2B5EF4-FFF2-40B4-BE49-F238E27FC236}">
                    <a16:creationId xmlns:a16="http://schemas.microsoft.com/office/drawing/2014/main" id="{31A3739D-89FB-9DE3-5246-BAB27E70D17A}"/>
                  </a:ext>
                </a:extLst>
              </p:cNvPr>
              <p:cNvSpPr/>
              <p:nvPr/>
            </p:nvSpPr>
            <p:spPr>
              <a:xfrm rot="16200000" flipH="1">
                <a:off x="9763797" y="3139047"/>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3" name="二等辺三角形 132">
                <a:extLst>
                  <a:ext uri="{FF2B5EF4-FFF2-40B4-BE49-F238E27FC236}">
                    <a16:creationId xmlns:a16="http://schemas.microsoft.com/office/drawing/2014/main" id="{27516CCF-1794-7633-3F92-C2C83230E81F}"/>
                  </a:ext>
                </a:extLst>
              </p:cNvPr>
              <p:cNvSpPr/>
              <p:nvPr/>
            </p:nvSpPr>
            <p:spPr>
              <a:xfrm rot="5400000">
                <a:off x="6403810" y="3646712"/>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4" name="二等辺三角形 133">
                <a:extLst>
                  <a:ext uri="{FF2B5EF4-FFF2-40B4-BE49-F238E27FC236}">
                    <a16:creationId xmlns:a16="http://schemas.microsoft.com/office/drawing/2014/main" id="{70CE24B0-D99D-89DC-9804-F0E9D30B1DBB}"/>
                  </a:ext>
                </a:extLst>
              </p:cNvPr>
              <p:cNvSpPr/>
              <p:nvPr/>
            </p:nvSpPr>
            <p:spPr>
              <a:xfrm rot="16200000" flipH="1">
                <a:off x="9763797" y="3646712"/>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6" name="二等辺三角形 135">
                <a:extLst>
                  <a:ext uri="{FF2B5EF4-FFF2-40B4-BE49-F238E27FC236}">
                    <a16:creationId xmlns:a16="http://schemas.microsoft.com/office/drawing/2014/main" id="{80A392A2-DBA1-F09A-8BEB-431B34E6174C}"/>
                  </a:ext>
                </a:extLst>
              </p:cNvPr>
              <p:cNvSpPr/>
              <p:nvPr/>
            </p:nvSpPr>
            <p:spPr>
              <a:xfrm rot="5400000">
                <a:off x="6403810" y="4150908"/>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7" name="二等辺三角形 136">
                <a:extLst>
                  <a:ext uri="{FF2B5EF4-FFF2-40B4-BE49-F238E27FC236}">
                    <a16:creationId xmlns:a16="http://schemas.microsoft.com/office/drawing/2014/main" id="{DFE8BB02-8717-37CF-4C5D-8BA012BAFD11}"/>
                  </a:ext>
                </a:extLst>
              </p:cNvPr>
              <p:cNvSpPr/>
              <p:nvPr/>
            </p:nvSpPr>
            <p:spPr>
              <a:xfrm rot="16200000" flipH="1">
                <a:off x="9763797" y="4150908"/>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9" name="二等辺三角形 138">
                <a:extLst>
                  <a:ext uri="{FF2B5EF4-FFF2-40B4-BE49-F238E27FC236}">
                    <a16:creationId xmlns:a16="http://schemas.microsoft.com/office/drawing/2014/main" id="{FA539C9F-C740-48D8-7F29-643A0AB250E7}"/>
                  </a:ext>
                </a:extLst>
              </p:cNvPr>
              <p:cNvSpPr/>
              <p:nvPr/>
            </p:nvSpPr>
            <p:spPr>
              <a:xfrm rot="5400000">
                <a:off x="6403810" y="4636642"/>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40" name="二等辺三角形 139">
                <a:extLst>
                  <a:ext uri="{FF2B5EF4-FFF2-40B4-BE49-F238E27FC236}">
                    <a16:creationId xmlns:a16="http://schemas.microsoft.com/office/drawing/2014/main" id="{720EBCE4-684F-890B-932E-AB79C7314A41}"/>
                  </a:ext>
                </a:extLst>
              </p:cNvPr>
              <p:cNvSpPr/>
              <p:nvPr/>
            </p:nvSpPr>
            <p:spPr>
              <a:xfrm rot="16200000" flipH="1">
                <a:off x="9763797" y="4636642"/>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42" name="二等辺三角形 141">
                <a:extLst>
                  <a:ext uri="{FF2B5EF4-FFF2-40B4-BE49-F238E27FC236}">
                    <a16:creationId xmlns:a16="http://schemas.microsoft.com/office/drawing/2014/main" id="{F88217A4-211D-A9B4-BEE6-984D3CC4AC58}"/>
                  </a:ext>
                </a:extLst>
              </p:cNvPr>
              <p:cNvSpPr/>
              <p:nvPr/>
            </p:nvSpPr>
            <p:spPr>
              <a:xfrm rot="5400000">
                <a:off x="6403810" y="5118909"/>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43" name="二等辺三角形 142">
                <a:extLst>
                  <a:ext uri="{FF2B5EF4-FFF2-40B4-BE49-F238E27FC236}">
                    <a16:creationId xmlns:a16="http://schemas.microsoft.com/office/drawing/2014/main" id="{44B0F34A-93CC-5F38-949C-B857A1FEE2D5}"/>
                  </a:ext>
                </a:extLst>
              </p:cNvPr>
              <p:cNvSpPr/>
              <p:nvPr/>
            </p:nvSpPr>
            <p:spPr>
              <a:xfrm rot="16200000" flipH="1">
                <a:off x="9763797" y="5118909"/>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45" name="二等辺三角形 144">
                <a:extLst>
                  <a:ext uri="{FF2B5EF4-FFF2-40B4-BE49-F238E27FC236}">
                    <a16:creationId xmlns:a16="http://schemas.microsoft.com/office/drawing/2014/main" id="{CB12C39B-6CEA-FA68-928B-39D23854FF02}"/>
                  </a:ext>
                </a:extLst>
              </p:cNvPr>
              <p:cNvSpPr/>
              <p:nvPr/>
            </p:nvSpPr>
            <p:spPr>
              <a:xfrm rot="5400000">
                <a:off x="6403810" y="5626573"/>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46" name="二等辺三角形 145">
                <a:extLst>
                  <a:ext uri="{FF2B5EF4-FFF2-40B4-BE49-F238E27FC236}">
                    <a16:creationId xmlns:a16="http://schemas.microsoft.com/office/drawing/2014/main" id="{55A1B841-37C0-1353-85D3-90369DA90E49}"/>
                  </a:ext>
                </a:extLst>
              </p:cNvPr>
              <p:cNvSpPr/>
              <p:nvPr/>
            </p:nvSpPr>
            <p:spPr>
              <a:xfrm rot="16200000" flipH="1">
                <a:off x="9763797" y="5626573"/>
                <a:ext cx="392923" cy="144917"/>
              </a:xfrm>
              <a:prstGeom prst="triangle">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4" name="正方形/長方形 62">
                <a:extLst>
                  <a:ext uri="{FF2B5EF4-FFF2-40B4-BE49-F238E27FC236}">
                    <a16:creationId xmlns:a16="http://schemas.microsoft.com/office/drawing/2014/main" id="{7EDCD7AF-F89D-E505-71BD-BCC0C0E30D70}"/>
                  </a:ext>
                </a:extLst>
              </p:cNvPr>
              <p:cNvSpPr/>
              <p:nvPr/>
            </p:nvSpPr>
            <p:spPr>
              <a:xfrm>
                <a:off x="649079" y="2084270"/>
                <a:ext cx="571713" cy="259493"/>
              </a:xfrm>
              <a:prstGeom prst="roundRect">
                <a:avLst>
                  <a:gd name="adj" fmla="val 13873"/>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rgbClr val="008D2E"/>
                    </a:solidFill>
                    <a:latin typeface="+mn-ea"/>
                  </a:rPr>
                  <a:t>T1</a:t>
                </a:r>
                <a:endParaRPr kumimoji="1" lang="en-US" altLang="ja-JP" sz="1200" b="0" i="0" u="none" strike="noStrike" kern="1200" cap="none" spc="0" normalizeH="0" baseline="0" noProof="0" dirty="0">
                  <a:ln>
                    <a:noFill/>
                  </a:ln>
                  <a:solidFill>
                    <a:srgbClr val="008D2E"/>
                  </a:solidFill>
                  <a:effectLst/>
                  <a:uLnTx/>
                  <a:uFillTx/>
                  <a:latin typeface="+mn-ea"/>
                </a:endParaRPr>
              </a:p>
            </p:txBody>
          </p:sp>
          <p:sp>
            <p:nvSpPr>
              <p:cNvPr id="8" name="正方形/長方形 62">
                <a:extLst>
                  <a:ext uri="{FF2B5EF4-FFF2-40B4-BE49-F238E27FC236}">
                    <a16:creationId xmlns:a16="http://schemas.microsoft.com/office/drawing/2014/main" id="{ADE22D3F-359E-22A9-DFD6-105202A9F9F1}"/>
                  </a:ext>
                </a:extLst>
              </p:cNvPr>
              <p:cNvSpPr/>
              <p:nvPr/>
            </p:nvSpPr>
            <p:spPr>
              <a:xfrm>
                <a:off x="649079" y="3085817"/>
                <a:ext cx="571713" cy="259493"/>
              </a:xfrm>
              <a:prstGeom prst="roundRect">
                <a:avLst>
                  <a:gd name="adj" fmla="val 13873"/>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rgbClr val="008D2E"/>
                    </a:solidFill>
                    <a:latin typeface="+mn-ea"/>
                  </a:rPr>
                  <a:t>T2</a:t>
                </a:r>
                <a:endParaRPr kumimoji="1" lang="en-US" altLang="ja-JP" sz="1200" b="0" i="0" u="none" strike="noStrike" kern="1200" cap="none" spc="0" normalizeH="0" baseline="0" noProof="0" dirty="0">
                  <a:ln>
                    <a:noFill/>
                  </a:ln>
                  <a:solidFill>
                    <a:srgbClr val="008D2E"/>
                  </a:solidFill>
                  <a:effectLst/>
                  <a:uLnTx/>
                  <a:uFillTx/>
                  <a:latin typeface="+mn-ea"/>
                </a:endParaRPr>
              </a:p>
            </p:txBody>
          </p:sp>
          <p:sp>
            <p:nvSpPr>
              <p:cNvPr id="9" name="正方形/長方形 62">
                <a:extLst>
                  <a:ext uri="{FF2B5EF4-FFF2-40B4-BE49-F238E27FC236}">
                    <a16:creationId xmlns:a16="http://schemas.microsoft.com/office/drawing/2014/main" id="{84F1F9F5-A081-93CB-948B-902C63E78646}"/>
                  </a:ext>
                </a:extLst>
              </p:cNvPr>
              <p:cNvSpPr/>
              <p:nvPr/>
            </p:nvSpPr>
            <p:spPr>
              <a:xfrm>
                <a:off x="649079" y="4060068"/>
                <a:ext cx="571713" cy="259493"/>
              </a:xfrm>
              <a:prstGeom prst="roundRect">
                <a:avLst>
                  <a:gd name="adj" fmla="val 13873"/>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rgbClr val="008D2E"/>
                    </a:solidFill>
                    <a:latin typeface="+mn-ea"/>
                  </a:rPr>
                  <a:t>T3</a:t>
                </a:r>
                <a:endParaRPr kumimoji="1" lang="en-US" altLang="ja-JP" sz="1200" b="0" i="0" u="none" strike="noStrike" kern="1200" cap="none" spc="0" normalizeH="0" baseline="0" noProof="0" dirty="0">
                  <a:ln>
                    <a:noFill/>
                  </a:ln>
                  <a:solidFill>
                    <a:srgbClr val="008D2E"/>
                  </a:solidFill>
                  <a:effectLst/>
                  <a:uLnTx/>
                  <a:uFillTx/>
                  <a:latin typeface="+mn-ea"/>
                </a:endParaRPr>
              </a:p>
            </p:txBody>
          </p:sp>
          <p:sp>
            <p:nvSpPr>
              <p:cNvPr id="10" name="正方形/長方形 62">
                <a:extLst>
                  <a:ext uri="{FF2B5EF4-FFF2-40B4-BE49-F238E27FC236}">
                    <a16:creationId xmlns:a16="http://schemas.microsoft.com/office/drawing/2014/main" id="{EBA4E46F-8F55-7742-F7D6-6DC831E975D1}"/>
                  </a:ext>
                </a:extLst>
              </p:cNvPr>
              <p:cNvSpPr/>
              <p:nvPr/>
            </p:nvSpPr>
            <p:spPr>
              <a:xfrm>
                <a:off x="649079" y="5061615"/>
                <a:ext cx="571713" cy="259493"/>
              </a:xfrm>
              <a:prstGeom prst="roundRect">
                <a:avLst>
                  <a:gd name="adj" fmla="val 13873"/>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rgbClr val="008D2E"/>
                    </a:solidFill>
                    <a:latin typeface="+mn-ea"/>
                  </a:rPr>
                  <a:t>T4</a:t>
                </a:r>
                <a:endParaRPr kumimoji="1" lang="en-US" altLang="ja-JP" sz="1200" b="0" i="0" u="none" strike="noStrike" kern="1200" cap="none" spc="0" normalizeH="0" baseline="0" noProof="0" dirty="0">
                  <a:ln>
                    <a:noFill/>
                  </a:ln>
                  <a:solidFill>
                    <a:srgbClr val="008D2E"/>
                  </a:solidFill>
                  <a:effectLst/>
                  <a:uLnTx/>
                  <a:uFillTx/>
                  <a:latin typeface="+mn-ea"/>
                </a:endParaRPr>
              </a:p>
            </p:txBody>
          </p:sp>
        </p:grpSp>
        <p:pic>
          <p:nvPicPr>
            <p:cNvPr id="148" name="グラフィックス 147" descr="フローチャート 単色塗りつぶし">
              <a:extLst>
                <a:ext uri="{FF2B5EF4-FFF2-40B4-BE49-F238E27FC236}">
                  <a16:creationId xmlns:a16="http://schemas.microsoft.com/office/drawing/2014/main" id="{DF0B5B21-2CD0-1BAF-46AA-77BCFA81463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87679" y="4783989"/>
              <a:ext cx="252000" cy="252000"/>
            </a:xfrm>
            <a:prstGeom prst="rect">
              <a:avLst/>
            </a:prstGeom>
          </p:spPr>
        </p:pic>
        <p:pic>
          <p:nvPicPr>
            <p:cNvPr id="150" name="グラフィックス 149" descr="棒グラフ (上昇) 単色塗りつぶし">
              <a:extLst>
                <a:ext uri="{FF2B5EF4-FFF2-40B4-BE49-F238E27FC236}">
                  <a16:creationId xmlns:a16="http://schemas.microsoft.com/office/drawing/2014/main" id="{92F9ACF6-F93C-4A20-C2B5-F83DC90D3E1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87679" y="2977538"/>
              <a:ext cx="252000" cy="252000"/>
            </a:xfrm>
            <a:prstGeom prst="rect">
              <a:avLst/>
            </a:prstGeom>
          </p:spPr>
        </p:pic>
        <p:pic>
          <p:nvPicPr>
            <p:cNvPr id="152" name="グラフィックス 151" descr="役員室 単色塗りつぶし">
              <a:extLst>
                <a:ext uri="{FF2B5EF4-FFF2-40B4-BE49-F238E27FC236}">
                  <a16:creationId xmlns:a16="http://schemas.microsoft.com/office/drawing/2014/main" id="{121F91A6-764B-BBF1-AE98-7C9A10F2639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87679" y="3880763"/>
              <a:ext cx="252000" cy="252000"/>
            </a:xfrm>
            <a:prstGeom prst="rect">
              <a:avLst/>
            </a:prstGeom>
          </p:spPr>
        </p:pic>
        <p:pic>
          <p:nvPicPr>
            <p:cNvPr id="154" name="グラフィックス 153" descr="コンパス 単色塗りつぶし">
              <a:extLst>
                <a:ext uri="{FF2B5EF4-FFF2-40B4-BE49-F238E27FC236}">
                  <a16:creationId xmlns:a16="http://schemas.microsoft.com/office/drawing/2014/main" id="{0810FA5E-FD5A-0765-5341-362E12998229}"/>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287679" y="2074313"/>
              <a:ext cx="252000" cy="252000"/>
            </a:xfrm>
            <a:prstGeom prst="rect">
              <a:avLst/>
            </a:prstGeom>
          </p:spPr>
        </p:pic>
      </p:grpSp>
    </p:spTree>
    <p:extLst>
      <p:ext uri="{BB962C8B-B14F-4D97-AF65-F5344CB8AC3E}">
        <p14:creationId xmlns:p14="http://schemas.microsoft.com/office/powerpoint/2010/main" val="39321964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4A1C6-7429-17FA-20D6-5E22AEF76F86}"/>
            </a:ext>
          </a:extLst>
        </p:cNvPr>
        <p:cNvGrpSpPr/>
        <p:nvPr/>
      </p:nvGrpSpPr>
      <p:grpSpPr>
        <a:xfrm>
          <a:off x="0" y="0"/>
          <a:ext cx="0" cy="0"/>
          <a:chOff x="0" y="0"/>
          <a:chExt cx="0" cy="0"/>
        </a:xfrm>
      </p:grpSpPr>
      <p:sp>
        <p:nvSpPr>
          <p:cNvPr id="7" name="タイトル 1">
            <a:extLst>
              <a:ext uri="{FF2B5EF4-FFF2-40B4-BE49-F238E27FC236}">
                <a16:creationId xmlns:a16="http://schemas.microsoft.com/office/drawing/2014/main" id="{7F410D9A-E3DA-9565-E786-25A234B3CDF9}"/>
              </a:ext>
            </a:extLst>
          </p:cNvPr>
          <p:cNvSpPr>
            <a:spLocks noGrp="1"/>
          </p:cNvSpPr>
          <p:nvPr>
            <p:ph type="title"/>
          </p:nvPr>
        </p:nvSpPr>
        <p:spPr>
          <a:xfrm>
            <a:off x="334961" y="1"/>
            <a:ext cx="11522077" cy="914400"/>
          </a:xfrm>
        </p:spPr>
        <p:txBody>
          <a:bodyPr/>
          <a:lstStyle/>
          <a:p>
            <a:br>
              <a:rPr lang="en-US" altLang="ja-JP" dirty="0">
                <a:latin typeface="+mn-ea"/>
                <a:ea typeface="+mn-ea"/>
              </a:rPr>
            </a:br>
            <a:r>
              <a:rPr lang="ja-JP" altLang="en-US" dirty="0">
                <a:latin typeface="+mn-ea"/>
                <a:ea typeface="+mn-ea"/>
              </a:rPr>
              <a:t>解決の方向（4つの変革テーマ）</a:t>
            </a:r>
            <a:endParaRPr kumimoji="1" lang="ja-JP" altLang="en-US" dirty="0">
              <a:latin typeface="+mn-ea"/>
              <a:ea typeface="+mn-ea"/>
            </a:endParaRPr>
          </a:p>
        </p:txBody>
      </p:sp>
      <p:sp>
        <p:nvSpPr>
          <p:cNvPr id="5" name="テキスト プレースホルダー 2">
            <a:extLst>
              <a:ext uri="{FF2B5EF4-FFF2-40B4-BE49-F238E27FC236}">
                <a16:creationId xmlns:a16="http://schemas.microsoft.com/office/drawing/2014/main" id="{818418C2-0FA5-4E5C-1836-660430BAD9EC}"/>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ja-JP" sz="1800" dirty="0">
                <a:latin typeface="+mn-ea"/>
                <a:ea typeface="+mn-ea"/>
              </a:rPr>
              <a:t>消耗戦から脱却し、小売のデータ</a:t>
            </a:r>
            <a:r>
              <a:rPr lang="en-US" altLang="ja-JP" sz="1800" dirty="0">
                <a:latin typeface="+mn-ea"/>
                <a:ea typeface="+mn-ea"/>
              </a:rPr>
              <a:t> </a:t>
            </a:r>
            <a:r>
              <a:rPr lang="ja-JP" altLang="en-US" sz="1800" dirty="0">
                <a:latin typeface="+mn-ea"/>
                <a:ea typeface="+mn-ea"/>
              </a:rPr>
              <a:t>･ </a:t>
            </a:r>
            <a:r>
              <a:rPr lang="ja-JP" altLang="ja-JP" sz="1800" dirty="0">
                <a:latin typeface="+mn-ea"/>
                <a:ea typeface="+mn-ea"/>
              </a:rPr>
              <a:t>環境課題を組織総力戦で解決するパートナーへ転換すること</a:t>
            </a:r>
            <a:r>
              <a:rPr lang="ja-JP" altLang="en-US" sz="1800" dirty="0">
                <a:latin typeface="+mn-ea"/>
                <a:ea typeface="+mn-ea"/>
              </a:rPr>
              <a:t>が必要</a:t>
            </a:r>
          </a:p>
        </p:txBody>
      </p:sp>
      <p:sp>
        <p:nvSpPr>
          <p:cNvPr id="80" name="正方形/長方形 79">
            <a:extLst>
              <a:ext uri="{FF2B5EF4-FFF2-40B4-BE49-F238E27FC236}">
                <a16:creationId xmlns:a16="http://schemas.microsoft.com/office/drawing/2014/main" id="{56772CD2-B7C6-4AB0-E0AB-741CD3A19637}"/>
              </a:ext>
            </a:extLst>
          </p:cNvPr>
          <p:cNvSpPr/>
          <p:nvPr/>
        </p:nvSpPr>
        <p:spPr>
          <a:xfrm>
            <a:off x="334963" y="1773627"/>
            <a:ext cx="1344168" cy="63627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rgbClr val="008D2E"/>
                </a:solidFill>
                <a:latin typeface="+mn-ea"/>
              </a:rPr>
              <a:t>テーマ</a:t>
            </a:r>
            <a:endParaRPr kumimoji="1" lang="ja-JP" altLang="en-US" sz="1400" dirty="0">
              <a:solidFill>
                <a:srgbClr val="008D2E"/>
              </a:solidFill>
              <a:latin typeface="+mn-ea"/>
            </a:endParaRPr>
          </a:p>
        </p:txBody>
      </p:sp>
      <p:sp>
        <p:nvSpPr>
          <p:cNvPr id="81" name="正方形/長方形 80">
            <a:extLst>
              <a:ext uri="{FF2B5EF4-FFF2-40B4-BE49-F238E27FC236}">
                <a16:creationId xmlns:a16="http://schemas.microsoft.com/office/drawing/2014/main" id="{E63C99E9-17B5-809F-C4E8-220A832EA476}"/>
              </a:ext>
            </a:extLst>
          </p:cNvPr>
          <p:cNvSpPr/>
          <p:nvPr/>
        </p:nvSpPr>
        <p:spPr>
          <a:xfrm>
            <a:off x="1745673"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200" b="1" dirty="0">
                <a:solidFill>
                  <a:srgbClr val="008D2E"/>
                </a:solidFill>
                <a:latin typeface="+mn-ea"/>
              </a:rPr>
              <a:t>勝てる土俵の再定義</a:t>
            </a:r>
            <a:br>
              <a:rPr lang="en-US" altLang="ja-JP" sz="1100" b="1" dirty="0">
                <a:solidFill>
                  <a:srgbClr val="008D2E"/>
                </a:solidFill>
                <a:latin typeface="+mn-ea"/>
              </a:rPr>
            </a:br>
            <a:r>
              <a:rPr lang="en-US" altLang="ja-JP" sz="1000" b="1" dirty="0">
                <a:solidFill>
                  <a:srgbClr val="008D2E"/>
                </a:solidFill>
                <a:latin typeface="+mn-ea"/>
              </a:rPr>
              <a:t>(</a:t>
            </a:r>
            <a:r>
              <a:rPr lang="ja-JP" altLang="ja-JP" sz="1000" b="1" dirty="0">
                <a:solidFill>
                  <a:srgbClr val="008D2E"/>
                </a:solidFill>
                <a:latin typeface="+mn-ea"/>
              </a:rPr>
              <a:t>予防医療×資源循環のインフラ化</a:t>
            </a:r>
            <a:r>
              <a:rPr lang="en-US" altLang="ja-JP" sz="1000" b="1" dirty="0">
                <a:solidFill>
                  <a:srgbClr val="008D2E"/>
                </a:solidFill>
                <a:latin typeface="+mn-ea"/>
              </a:rPr>
              <a:t>) </a:t>
            </a:r>
            <a:endParaRPr lang="ja-JP" altLang="ja-JP" sz="1000" b="1" dirty="0">
              <a:solidFill>
                <a:srgbClr val="008D2E"/>
              </a:solidFill>
              <a:latin typeface="+mn-ea"/>
            </a:endParaRPr>
          </a:p>
        </p:txBody>
      </p:sp>
      <p:sp>
        <p:nvSpPr>
          <p:cNvPr id="82" name="background">
            <a:extLst>
              <a:ext uri="{FF2B5EF4-FFF2-40B4-BE49-F238E27FC236}">
                <a16:creationId xmlns:a16="http://schemas.microsoft.com/office/drawing/2014/main" id="{6CC377FD-5E6C-082A-73AC-A9DCDEB184CF}"/>
              </a:ext>
            </a:extLst>
          </p:cNvPr>
          <p:cNvSpPr>
            <a:spLocks noChangeAspect="1"/>
          </p:cNvSpPr>
          <p:nvPr>
            <p:custDataLst>
              <p:tags r:id="rId1"/>
            </p:custDataLst>
          </p:nvPr>
        </p:nvSpPr>
        <p:spPr>
          <a:xfrm>
            <a:off x="1745673"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1</a:t>
            </a:r>
            <a:endParaRPr lang="ja-JP" altLang="en-US" sz="1400" dirty="0">
              <a:solidFill>
                <a:schemeClr val="bg1"/>
              </a:solidFill>
              <a:latin typeface="+mn-ea"/>
            </a:endParaRPr>
          </a:p>
        </p:txBody>
      </p:sp>
      <p:pic>
        <p:nvPicPr>
          <p:cNvPr id="83" name="グラフィックス 82" descr="救急箱 単色塗りつぶし">
            <a:extLst>
              <a:ext uri="{FF2B5EF4-FFF2-40B4-BE49-F238E27FC236}">
                <a16:creationId xmlns:a16="http://schemas.microsoft.com/office/drawing/2014/main" id="{3889AE31-E3FD-D487-FE37-C9009D14FA65}"/>
              </a:ext>
            </a:extLst>
          </p:cNvPr>
          <p:cNvPicPr preferRelativeResize="0">
            <a:picLocks/>
          </p:cNvPicPr>
          <p:nvPr/>
        </p:nvPicPr>
        <p:blipFill>
          <a:blip>
            <a:extLst>
              <a:ext uri="{96DAC541-7B7A-43D3-8B79-37D633B846F1}">
                <asvg:svgBlip xmlns:asvg="http://schemas.microsoft.com/office/drawing/2016/SVG/main" r:embed="rId6"/>
              </a:ext>
            </a:extLst>
          </a:blip>
          <a:stretch>
            <a:fillRect/>
          </a:stretch>
        </p:blipFill>
        <p:spPr>
          <a:xfrm>
            <a:off x="1745673" y="1893767"/>
            <a:ext cx="360000" cy="360000"/>
          </a:xfrm>
          <a:prstGeom prst="rect">
            <a:avLst/>
          </a:prstGeom>
        </p:spPr>
      </p:pic>
      <p:sp>
        <p:nvSpPr>
          <p:cNvPr id="84" name="正方形/長方形 83">
            <a:extLst>
              <a:ext uri="{FF2B5EF4-FFF2-40B4-BE49-F238E27FC236}">
                <a16:creationId xmlns:a16="http://schemas.microsoft.com/office/drawing/2014/main" id="{C5772F10-97DF-EBF2-D7CA-5BF123E9B9D3}"/>
              </a:ext>
            </a:extLst>
          </p:cNvPr>
          <p:cNvSpPr/>
          <p:nvPr/>
        </p:nvSpPr>
        <p:spPr>
          <a:xfrm>
            <a:off x="4290150"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200" b="1" dirty="0">
                <a:solidFill>
                  <a:srgbClr val="008D2E"/>
                </a:solidFill>
                <a:latin typeface="+mn-ea"/>
              </a:rPr>
              <a:t>データ戦略</a:t>
            </a:r>
            <a:br>
              <a:rPr lang="en-US" altLang="ja-JP" sz="1000" b="1" dirty="0">
                <a:solidFill>
                  <a:srgbClr val="008D2E"/>
                </a:solidFill>
                <a:latin typeface="+mn-ea"/>
              </a:rPr>
            </a:br>
            <a:r>
              <a:rPr lang="en-US" altLang="ja-JP" sz="1000" b="1" dirty="0">
                <a:solidFill>
                  <a:srgbClr val="008D2E"/>
                </a:solidFill>
                <a:latin typeface="+mn-ea"/>
              </a:rPr>
              <a:t>(</a:t>
            </a:r>
            <a:r>
              <a:rPr lang="ja-JP" altLang="ja-JP" sz="1000" b="1" dirty="0">
                <a:solidFill>
                  <a:srgbClr val="008D2E"/>
                </a:solidFill>
                <a:latin typeface="+mn-ea"/>
              </a:rPr>
              <a:t>リテールメディアのハッキングと</a:t>
            </a:r>
            <a:r>
              <a:rPr lang="ja-JP" altLang="en-US" sz="1000" b="1" dirty="0">
                <a:solidFill>
                  <a:srgbClr val="008D2E"/>
                </a:solidFill>
                <a:latin typeface="+mn-ea"/>
              </a:rPr>
              <a:t>専門データの組み合わせの</a:t>
            </a:r>
            <a:r>
              <a:rPr lang="en-US" altLang="ja-JP" sz="1000" b="1" dirty="0">
                <a:solidFill>
                  <a:srgbClr val="008D2E"/>
                </a:solidFill>
                <a:latin typeface="+mn-ea"/>
              </a:rPr>
              <a:t>2</a:t>
            </a:r>
            <a:r>
              <a:rPr lang="ja-JP" altLang="en-US" sz="1000" b="1" dirty="0">
                <a:solidFill>
                  <a:srgbClr val="008D2E"/>
                </a:solidFill>
                <a:latin typeface="+mn-ea"/>
              </a:rPr>
              <a:t>段構え</a:t>
            </a:r>
            <a:r>
              <a:rPr lang="en-US" altLang="ja-JP" sz="1000" b="1" dirty="0">
                <a:solidFill>
                  <a:srgbClr val="008D2E"/>
                </a:solidFill>
                <a:latin typeface="+mn-ea"/>
              </a:rPr>
              <a:t>)</a:t>
            </a:r>
          </a:p>
        </p:txBody>
      </p:sp>
      <p:sp>
        <p:nvSpPr>
          <p:cNvPr id="85" name="background">
            <a:extLst>
              <a:ext uri="{FF2B5EF4-FFF2-40B4-BE49-F238E27FC236}">
                <a16:creationId xmlns:a16="http://schemas.microsoft.com/office/drawing/2014/main" id="{4304AD61-4FD2-B00A-D582-8B5B18E21372}"/>
              </a:ext>
            </a:extLst>
          </p:cNvPr>
          <p:cNvSpPr>
            <a:spLocks noChangeAspect="1"/>
          </p:cNvSpPr>
          <p:nvPr>
            <p:custDataLst>
              <p:tags r:id="rId2"/>
            </p:custDataLst>
          </p:nvPr>
        </p:nvSpPr>
        <p:spPr>
          <a:xfrm>
            <a:off x="4290150"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2</a:t>
            </a:r>
            <a:endParaRPr lang="ja-JP" altLang="en-US" sz="1400" dirty="0">
              <a:solidFill>
                <a:schemeClr val="bg1"/>
              </a:solidFill>
              <a:latin typeface="+mn-ea"/>
            </a:endParaRPr>
          </a:p>
        </p:txBody>
      </p:sp>
      <p:pic>
        <p:nvPicPr>
          <p:cNvPr id="86" name="グラフィックス 85" descr="パズルのピース 単色塗りつぶし">
            <a:extLst>
              <a:ext uri="{FF2B5EF4-FFF2-40B4-BE49-F238E27FC236}">
                <a16:creationId xmlns:a16="http://schemas.microsoft.com/office/drawing/2014/main" id="{AA9D07A9-11F2-969D-14F2-A6AA1A3F0458}"/>
              </a:ext>
            </a:extLst>
          </p:cNvPr>
          <p:cNvPicPr preferRelativeResize="0">
            <a:picLocks/>
          </p:cNvPicPr>
          <p:nvPr/>
        </p:nvPicPr>
        <p:blipFill>
          <a:blip>
            <a:extLst>
              <a:ext uri="{96DAC541-7B7A-43D3-8B79-37D633B846F1}">
                <asvg:svgBlip xmlns:asvg="http://schemas.microsoft.com/office/drawing/2016/SVG/main" r:embed="rId7"/>
              </a:ext>
            </a:extLst>
          </a:blip>
          <a:stretch>
            <a:fillRect/>
          </a:stretch>
        </p:blipFill>
        <p:spPr>
          <a:xfrm>
            <a:off x="4290150" y="1893767"/>
            <a:ext cx="360000" cy="360000"/>
          </a:xfrm>
          <a:prstGeom prst="rect">
            <a:avLst/>
          </a:prstGeom>
        </p:spPr>
      </p:pic>
      <p:sp>
        <p:nvSpPr>
          <p:cNvPr id="87" name="正方形/長方形 86">
            <a:extLst>
              <a:ext uri="{FF2B5EF4-FFF2-40B4-BE49-F238E27FC236}">
                <a16:creationId xmlns:a16="http://schemas.microsoft.com/office/drawing/2014/main" id="{E6B39EAC-8CDD-6A68-D803-D720F421E951}"/>
              </a:ext>
            </a:extLst>
          </p:cNvPr>
          <p:cNvSpPr/>
          <p:nvPr/>
        </p:nvSpPr>
        <p:spPr>
          <a:xfrm>
            <a:off x="6834627"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200" b="1" dirty="0">
                <a:solidFill>
                  <a:srgbClr val="008D2E"/>
                </a:solidFill>
                <a:latin typeface="+mn-ea"/>
              </a:rPr>
              <a:t>商談価値</a:t>
            </a:r>
            <a:r>
              <a:rPr lang="en-US" altLang="ja-JP" sz="1200" b="1" dirty="0">
                <a:solidFill>
                  <a:srgbClr val="008D2E"/>
                </a:solidFill>
                <a:latin typeface="+mn-ea"/>
              </a:rPr>
              <a:t> (</a:t>
            </a:r>
            <a:r>
              <a:rPr lang="ja-JP" altLang="ja-JP" sz="1200" b="1" dirty="0">
                <a:solidFill>
                  <a:srgbClr val="008D2E"/>
                </a:solidFill>
                <a:latin typeface="+mn-ea"/>
              </a:rPr>
              <a:t>バイヤー向けロジック化</a:t>
            </a:r>
            <a:r>
              <a:rPr lang="en-US" altLang="ja-JP" sz="1200" b="1" dirty="0">
                <a:solidFill>
                  <a:srgbClr val="008D2E"/>
                </a:solidFill>
                <a:latin typeface="+mn-ea"/>
              </a:rPr>
              <a:t>)</a:t>
            </a:r>
          </a:p>
        </p:txBody>
      </p:sp>
      <p:sp>
        <p:nvSpPr>
          <p:cNvPr id="88" name="background">
            <a:extLst>
              <a:ext uri="{FF2B5EF4-FFF2-40B4-BE49-F238E27FC236}">
                <a16:creationId xmlns:a16="http://schemas.microsoft.com/office/drawing/2014/main" id="{102EA56E-91AB-1BC6-322A-068D7F764686}"/>
              </a:ext>
            </a:extLst>
          </p:cNvPr>
          <p:cNvSpPr>
            <a:spLocks noChangeAspect="1"/>
          </p:cNvSpPr>
          <p:nvPr>
            <p:custDataLst>
              <p:tags r:id="rId3"/>
            </p:custDataLst>
          </p:nvPr>
        </p:nvSpPr>
        <p:spPr>
          <a:xfrm>
            <a:off x="6834625"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3</a:t>
            </a:r>
            <a:endParaRPr lang="ja-JP" altLang="en-US" sz="1400" dirty="0">
              <a:solidFill>
                <a:schemeClr val="bg1"/>
              </a:solidFill>
              <a:latin typeface="+mn-ea"/>
            </a:endParaRPr>
          </a:p>
        </p:txBody>
      </p:sp>
      <p:pic>
        <p:nvPicPr>
          <p:cNvPr id="89" name="グラフィックス 88" descr="手のひらと植物 単色塗りつぶし">
            <a:extLst>
              <a:ext uri="{FF2B5EF4-FFF2-40B4-BE49-F238E27FC236}">
                <a16:creationId xmlns:a16="http://schemas.microsoft.com/office/drawing/2014/main" id="{EECBEA3E-AE19-DC1E-A48B-B4E0C57AFB8E}"/>
              </a:ext>
            </a:extLst>
          </p:cNvPr>
          <p:cNvPicPr preferRelativeResize="0">
            <a:picLocks/>
          </p:cNvPicPr>
          <p:nvPr/>
        </p:nvPicPr>
        <p:blipFill>
          <a:blip>
            <a:extLst>
              <a:ext uri="{96DAC541-7B7A-43D3-8B79-37D633B846F1}">
                <asvg:svgBlip xmlns:asvg="http://schemas.microsoft.com/office/drawing/2016/SVG/main" r:embed="rId8"/>
              </a:ext>
            </a:extLst>
          </a:blip>
          <a:stretch>
            <a:fillRect/>
          </a:stretch>
        </p:blipFill>
        <p:spPr>
          <a:xfrm>
            <a:off x="6834626" y="1893767"/>
            <a:ext cx="360000" cy="360000"/>
          </a:xfrm>
          <a:prstGeom prst="rect">
            <a:avLst/>
          </a:prstGeom>
        </p:spPr>
      </p:pic>
      <p:sp>
        <p:nvSpPr>
          <p:cNvPr id="90" name="正方形/長方形 89">
            <a:extLst>
              <a:ext uri="{FF2B5EF4-FFF2-40B4-BE49-F238E27FC236}">
                <a16:creationId xmlns:a16="http://schemas.microsoft.com/office/drawing/2014/main" id="{E10EC928-88C7-D1C8-FAFF-3BE3DC3B5E76}"/>
              </a:ext>
            </a:extLst>
          </p:cNvPr>
          <p:cNvSpPr/>
          <p:nvPr/>
        </p:nvSpPr>
        <p:spPr>
          <a:xfrm>
            <a:off x="9379103"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200" b="1" dirty="0">
                <a:solidFill>
                  <a:srgbClr val="008D2E"/>
                </a:solidFill>
                <a:latin typeface="+mn-ea"/>
              </a:rPr>
              <a:t>組織・生産性</a:t>
            </a:r>
            <a:r>
              <a:rPr lang="en-US" altLang="ja-JP" sz="1200" b="1" dirty="0">
                <a:solidFill>
                  <a:srgbClr val="008D2E"/>
                </a:solidFill>
                <a:latin typeface="+mn-ea"/>
              </a:rPr>
              <a:t> </a:t>
            </a:r>
            <a:br>
              <a:rPr lang="en-US" altLang="ja-JP" sz="1200" b="1" dirty="0">
                <a:solidFill>
                  <a:srgbClr val="008D2E"/>
                </a:solidFill>
                <a:latin typeface="+mn-ea"/>
              </a:rPr>
            </a:br>
            <a:r>
              <a:rPr lang="en-US" altLang="ja-JP" sz="1000" b="1" dirty="0">
                <a:solidFill>
                  <a:srgbClr val="008D2E"/>
                </a:solidFill>
                <a:latin typeface="+mn-ea"/>
              </a:rPr>
              <a:t>(</a:t>
            </a:r>
            <a:r>
              <a:rPr lang="ja-JP" altLang="ja-JP" sz="1000" b="1" dirty="0">
                <a:solidFill>
                  <a:srgbClr val="008D2E"/>
                </a:solidFill>
                <a:latin typeface="+mn-ea"/>
              </a:rPr>
              <a:t>Input業務ゼロ化とリバース</a:t>
            </a:r>
            <a:r>
              <a:rPr lang="en-US" altLang="ja-JP" sz="1000" b="1" dirty="0">
                <a:solidFill>
                  <a:srgbClr val="008D2E"/>
                </a:solidFill>
                <a:latin typeface="+mn-ea"/>
              </a:rPr>
              <a:t> </a:t>
            </a:r>
            <a:r>
              <a:rPr lang="ja-JP" altLang="en-US" sz="1000" b="1" dirty="0">
                <a:solidFill>
                  <a:srgbClr val="008D2E"/>
                </a:solidFill>
                <a:latin typeface="+mn-ea"/>
              </a:rPr>
              <a:t>･ </a:t>
            </a:r>
            <a:br>
              <a:rPr lang="en-US" altLang="ja-JP" sz="1000" b="1" dirty="0">
                <a:solidFill>
                  <a:srgbClr val="008D2E"/>
                </a:solidFill>
                <a:latin typeface="+mn-ea"/>
              </a:rPr>
            </a:br>
            <a:r>
              <a:rPr lang="ja-JP" altLang="ja-JP" sz="1000" b="1" dirty="0">
                <a:solidFill>
                  <a:srgbClr val="008D2E"/>
                </a:solidFill>
                <a:latin typeface="+mn-ea"/>
              </a:rPr>
              <a:t>ロジスティクス対応</a:t>
            </a:r>
            <a:r>
              <a:rPr lang="en-US" altLang="ja-JP" sz="1000" b="1" dirty="0">
                <a:solidFill>
                  <a:srgbClr val="008D2E"/>
                </a:solidFill>
                <a:latin typeface="+mn-ea"/>
              </a:rPr>
              <a:t>) </a:t>
            </a:r>
            <a:endParaRPr lang="ja-JP" altLang="ja-JP" sz="1000" b="1" dirty="0">
              <a:solidFill>
                <a:srgbClr val="008D2E"/>
              </a:solidFill>
              <a:latin typeface="+mn-ea"/>
            </a:endParaRPr>
          </a:p>
        </p:txBody>
      </p:sp>
      <p:sp>
        <p:nvSpPr>
          <p:cNvPr id="91" name="background">
            <a:extLst>
              <a:ext uri="{FF2B5EF4-FFF2-40B4-BE49-F238E27FC236}">
                <a16:creationId xmlns:a16="http://schemas.microsoft.com/office/drawing/2014/main" id="{BE8DE641-4921-4C97-6634-1409D83EA1B3}"/>
              </a:ext>
            </a:extLst>
          </p:cNvPr>
          <p:cNvSpPr>
            <a:spLocks noChangeAspect="1"/>
          </p:cNvSpPr>
          <p:nvPr>
            <p:custDataLst>
              <p:tags r:id="rId4"/>
            </p:custDataLst>
          </p:nvPr>
        </p:nvSpPr>
        <p:spPr>
          <a:xfrm>
            <a:off x="9379103"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4</a:t>
            </a:r>
            <a:endParaRPr lang="ja-JP" altLang="en-US" sz="1400" dirty="0">
              <a:solidFill>
                <a:schemeClr val="bg1"/>
              </a:solidFill>
              <a:latin typeface="+mn-ea"/>
            </a:endParaRPr>
          </a:p>
        </p:txBody>
      </p:sp>
      <p:pic>
        <p:nvPicPr>
          <p:cNvPr id="92" name="グラフィックス 91" descr="階層 単色塗りつぶし">
            <a:extLst>
              <a:ext uri="{FF2B5EF4-FFF2-40B4-BE49-F238E27FC236}">
                <a16:creationId xmlns:a16="http://schemas.microsoft.com/office/drawing/2014/main" id="{125BBAE5-3962-A8DB-B6FB-AE4C18B667DF}"/>
              </a:ext>
            </a:extLst>
          </p:cNvPr>
          <p:cNvPicPr preferRelativeResize="0">
            <a:picLocks/>
          </p:cNvPicPr>
          <p:nvPr/>
        </p:nvPicPr>
        <p:blipFill>
          <a:blip>
            <a:extLst>
              <a:ext uri="{96DAC541-7B7A-43D3-8B79-37D633B846F1}">
                <asvg:svgBlip xmlns:asvg="http://schemas.microsoft.com/office/drawing/2016/SVG/main" r:embed="rId9"/>
              </a:ext>
            </a:extLst>
          </a:blip>
          <a:stretch>
            <a:fillRect/>
          </a:stretch>
        </p:blipFill>
        <p:spPr>
          <a:xfrm>
            <a:off x="9379102" y="1893767"/>
            <a:ext cx="360000" cy="360000"/>
          </a:xfrm>
          <a:prstGeom prst="rect">
            <a:avLst/>
          </a:prstGeom>
        </p:spPr>
      </p:pic>
      <p:grpSp>
        <p:nvGrpSpPr>
          <p:cNvPr id="113" name="グループ化 112">
            <a:extLst>
              <a:ext uri="{FF2B5EF4-FFF2-40B4-BE49-F238E27FC236}">
                <a16:creationId xmlns:a16="http://schemas.microsoft.com/office/drawing/2014/main" id="{D9253D03-D92F-C6AD-81A5-A2BA83DC9945}"/>
              </a:ext>
            </a:extLst>
          </p:cNvPr>
          <p:cNvGrpSpPr/>
          <p:nvPr/>
        </p:nvGrpSpPr>
        <p:grpSpPr>
          <a:xfrm>
            <a:off x="334963" y="2514167"/>
            <a:ext cx="11522075" cy="1502997"/>
            <a:chOff x="334963" y="2514168"/>
            <a:chExt cx="11522075" cy="1348384"/>
          </a:xfrm>
        </p:grpSpPr>
        <p:sp>
          <p:nvSpPr>
            <p:cNvPr id="54" name="正方形/長方形 53">
              <a:extLst>
                <a:ext uri="{FF2B5EF4-FFF2-40B4-BE49-F238E27FC236}">
                  <a16:creationId xmlns:a16="http://schemas.microsoft.com/office/drawing/2014/main" id="{E750A228-B3C3-6372-A1CF-58CEB81133B8}"/>
                </a:ext>
              </a:extLst>
            </p:cNvPr>
            <p:cNvSpPr/>
            <p:nvPr/>
          </p:nvSpPr>
          <p:spPr>
            <a:xfrm>
              <a:off x="334963" y="2514168"/>
              <a:ext cx="1242377"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600" b="1" dirty="0">
                  <a:solidFill>
                    <a:srgbClr val="008D2E"/>
                  </a:solidFill>
                  <a:latin typeface="+mn-ea"/>
                </a:rPr>
                <a:t>本質的な</a:t>
              </a:r>
              <a:endParaRPr lang="en-US" altLang="ja-JP" sz="1600" b="1" dirty="0">
                <a:solidFill>
                  <a:srgbClr val="008D2E"/>
                </a:solidFill>
                <a:latin typeface="+mn-ea"/>
              </a:endParaRPr>
            </a:p>
            <a:p>
              <a:pPr algn="ctr"/>
              <a:r>
                <a:rPr lang="ja-JP" altLang="ja-JP" sz="1600" b="1" dirty="0">
                  <a:solidFill>
                    <a:srgbClr val="008D2E"/>
                  </a:solidFill>
                  <a:latin typeface="+mn-ea"/>
                </a:rPr>
                <a:t>背景</a:t>
              </a:r>
              <a:endParaRPr lang="ja-JP" altLang="en-US" sz="1600" dirty="0">
                <a:solidFill>
                  <a:srgbClr val="008D2E"/>
                </a:solidFill>
                <a:latin typeface="+mn-ea"/>
              </a:endParaRPr>
            </a:p>
          </p:txBody>
        </p:sp>
        <p:sp>
          <p:nvSpPr>
            <p:cNvPr id="93" name="正方形/長方形 92">
              <a:extLst>
                <a:ext uri="{FF2B5EF4-FFF2-40B4-BE49-F238E27FC236}">
                  <a16:creationId xmlns:a16="http://schemas.microsoft.com/office/drawing/2014/main" id="{41F86437-264D-A2AF-70A5-C1BA99E7589F}"/>
                </a:ext>
              </a:extLst>
            </p:cNvPr>
            <p:cNvSpPr/>
            <p:nvPr/>
          </p:nvSpPr>
          <p:spPr>
            <a:xfrm>
              <a:off x="1745673" y="2520086"/>
              <a:ext cx="2477935"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buClr>
                  <a:srgbClr val="2E7D32"/>
                </a:buClr>
              </a:pPr>
              <a:r>
                <a:rPr lang="ja-JP" altLang="ja-JP" sz="1050" b="1" dirty="0">
                  <a:solidFill>
                    <a:srgbClr val="008D2E"/>
                  </a:solidFill>
                  <a:latin typeface="+mn-ea"/>
                </a:rPr>
                <a:t>S1</a:t>
              </a:r>
              <a:r>
                <a:rPr lang="en-US" altLang="ja-JP" sz="1050" b="1" dirty="0">
                  <a:solidFill>
                    <a:srgbClr val="008D2E"/>
                  </a:solidFill>
                  <a:latin typeface="+mn-ea"/>
                </a:rPr>
                <a:t> </a:t>
              </a:r>
              <a:r>
                <a:rPr lang="ja-JP" altLang="en-US" sz="1050" b="1" dirty="0">
                  <a:solidFill>
                    <a:srgbClr val="008D2E"/>
                  </a:solidFill>
                  <a:latin typeface="+mn-ea"/>
                </a:rPr>
                <a:t>･ </a:t>
              </a:r>
              <a:r>
                <a:rPr lang="ja-JP" altLang="ja-JP" sz="1050" b="1" dirty="0">
                  <a:solidFill>
                    <a:srgbClr val="008D2E"/>
                  </a:solidFill>
                  <a:latin typeface="+mn-ea"/>
                </a:rPr>
                <a:t>S2 × O1 × T2</a:t>
              </a:r>
              <a:endParaRPr lang="en-US" altLang="ja-JP" sz="1050" b="1" dirty="0">
                <a:solidFill>
                  <a:srgbClr val="008D2E"/>
                </a:solidFill>
                <a:latin typeface="+mn-ea"/>
              </a:endParaRPr>
            </a:p>
            <a:p>
              <a:pPr marL="171450" indent="-171450">
                <a:spcBef>
                  <a:spcPts val="600"/>
                </a:spcBef>
                <a:buClr>
                  <a:srgbClr val="008D2E"/>
                </a:buClr>
                <a:buFont typeface="Arial" panose="020B0604020202020204" pitchFamily="34" charset="0"/>
                <a:buChar char="•"/>
              </a:pPr>
              <a:r>
                <a:rPr lang="ja-JP" altLang="ja-JP" sz="1050" dirty="0">
                  <a:solidFill>
                    <a:schemeClr val="tx1"/>
                  </a:solidFill>
                  <a:latin typeface="+mn-ea"/>
                </a:rPr>
                <a:t>P&amp;G等の巨人が量とコストで支配し、</a:t>
              </a:r>
              <a:br>
                <a:rPr lang="en-US" altLang="ja-JP" sz="1050" dirty="0">
                  <a:solidFill>
                    <a:schemeClr val="tx1"/>
                  </a:solidFill>
                  <a:latin typeface="+mn-ea"/>
                </a:rPr>
              </a:br>
              <a:r>
                <a:rPr lang="ja-JP" altLang="ja-JP" sz="1050" dirty="0">
                  <a:solidFill>
                    <a:schemeClr val="tx1"/>
                  </a:solidFill>
                  <a:latin typeface="+mn-ea"/>
                </a:rPr>
                <a:t>AIが自動補充</a:t>
              </a:r>
              <a:r>
                <a:rPr lang="ja-JP" altLang="en-US" sz="1050" dirty="0">
                  <a:solidFill>
                    <a:schemeClr val="tx1"/>
                  </a:solidFill>
                  <a:latin typeface="+mn-ea"/>
                </a:rPr>
                <a:t> </a:t>
              </a:r>
              <a:r>
                <a:rPr lang="en-US" altLang="ja-JP" sz="1050" dirty="0">
                  <a:solidFill>
                    <a:schemeClr val="tx1"/>
                  </a:solidFill>
                  <a:latin typeface="+mn-ea"/>
                </a:rPr>
                <a:t>(</a:t>
              </a:r>
              <a:r>
                <a:rPr lang="ja-JP" altLang="ja-JP" sz="1050" dirty="0">
                  <a:solidFill>
                    <a:schemeClr val="tx1"/>
                  </a:solidFill>
                  <a:latin typeface="+mn-ea"/>
                </a:rPr>
                <a:t>T2</a:t>
              </a:r>
              <a:r>
                <a:rPr lang="en-US" altLang="ja-JP" sz="1050" dirty="0">
                  <a:solidFill>
                    <a:schemeClr val="tx1"/>
                  </a:solidFill>
                  <a:latin typeface="+mn-ea"/>
                </a:rPr>
                <a:t>)</a:t>
              </a:r>
              <a:r>
                <a:rPr lang="ja-JP" altLang="en-US" sz="1050" dirty="0">
                  <a:solidFill>
                    <a:schemeClr val="tx1"/>
                  </a:solidFill>
                  <a:latin typeface="+mn-ea"/>
                </a:rPr>
                <a:t> </a:t>
              </a:r>
              <a:r>
                <a:rPr lang="ja-JP" altLang="ja-JP" sz="1050" dirty="0">
                  <a:solidFill>
                    <a:schemeClr val="tx1"/>
                  </a:solidFill>
                  <a:latin typeface="+mn-ea"/>
                </a:rPr>
                <a:t>を行う洗剤領域での消耗戦は財務構造上不利</a:t>
              </a:r>
              <a:endParaRPr lang="en-US" altLang="ja-JP" sz="1050" dirty="0">
                <a:solidFill>
                  <a:schemeClr val="tx1"/>
                </a:solidFill>
                <a:latin typeface="+mn-ea"/>
              </a:endParaRPr>
            </a:p>
            <a:p>
              <a:pPr marL="171450" indent="-171450">
                <a:spcBef>
                  <a:spcPts val="600"/>
                </a:spcBef>
                <a:buClr>
                  <a:srgbClr val="008D2E"/>
                </a:buClr>
                <a:buFont typeface="Arial" panose="020B0604020202020204" pitchFamily="34" charset="0"/>
                <a:buChar char="•"/>
              </a:pPr>
              <a:r>
                <a:rPr lang="ja-JP" altLang="ja-JP" sz="1050" dirty="0">
                  <a:solidFill>
                    <a:schemeClr val="tx1"/>
                  </a:solidFill>
                  <a:latin typeface="+mn-ea"/>
                </a:rPr>
                <a:t>ライオンが勝てる唯一の土俵は、他社が</a:t>
              </a:r>
              <a:br>
                <a:rPr lang="en-US" altLang="ja-JP" sz="1050" dirty="0">
                  <a:solidFill>
                    <a:schemeClr val="tx1"/>
                  </a:solidFill>
                  <a:latin typeface="+mn-ea"/>
                </a:rPr>
              </a:br>
              <a:r>
                <a:rPr lang="ja-JP" altLang="ja-JP" sz="1050" dirty="0">
                  <a:solidFill>
                    <a:schemeClr val="tx1"/>
                  </a:solidFill>
                  <a:latin typeface="+mn-ea"/>
                </a:rPr>
                <a:t>侵入できない「歯科医師会</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学校</a:t>
              </a:r>
              <a:r>
                <a:rPr lang="en-US" altLang="ja-JP" sz="1050" dirty="0">
                  <a:solidFill>
                    <a:schemeClr val="tx1"/>
                  </a:solidFill>
                  <a:latin typeface="+mn-ea"/>
                </a:rPr>
                <a:t> (</a:t>
              </a:r>
              <a:r>
                <a:rPr lang="ja-JP" altLang="ja-JP" sz="1050" dirty="0">
                  <a:solidFill>
                    <a:schemeClr val="tx1"/>
                  </a:solidFill>
                  <a:latin typeface="+mn-ea"/>
                </a:rPr>
                <a:t>S1</a:t>
              </a:r>
              <a:r>
                <a:rPr lang="en-US" altLang="ja-JP" sz="1050" dirty="0">
                  <a:solidFill>
                    <a:schemeClr val="tx1"/>
                  </a:solidFill>
                  <a:latin typeface="+mn-ea"/>
                </a:rPr>
                <a:t>) </a:t>
              </a:r>
              <a:r>
                <a:rPr lang="ja-JP" altLang="ja-JP" sz="1050" dirty="0">
                  <a:solidFill>
                    <a:schemeClr val="tx1"/>
                  </a:solidFill>
                  <a:latin typeface="+mn-ea"/>
                </a:rPr>
                <a:t>」や「幼稚園</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自治体</a:t>
              </a:r>
              <a:r>
                <a:rPr lang="ja-JP" altLang="en-US" sz="1050" dirty="0">
                  <a:solidFill>
                    <a:schemeClr val="tx1"/>
                  </a:solidFill>
                  <a:latin typeface="+mn-ea"/>
                </a:rPr>
                <a:t> </a:t>
              </a:r>
              <a:r>
                <a:rPr lang="en-US" altLang="ja-JP" sz="1050" dirty="0">
                  <a:solidFill>
                    <a:schemeClr val="tx1"/>
                  </a:solidFill>
                  <a:latin typeface="+mn-ea"/>
                </a:rPr>
                <a:t>(</a:t>
              </a:r>
              <a:r>
                <a:rPr lang="ja-JP" altLang="ja-JP" sz="1050" dirty="0">
                  <a:solidFill>
                    <a:schemeClr val="tx1"/>
                  </a:solidFill>
                  <a:latin typeface="+mn-ea"/>
                </a:rPr>
                <a:t>S2</a:t>
              </a:r>
              <a:r>
                <a:rPr lang="en-US" altLang="ja-JP" sz="1050" dirty="0">
                  <a:solidFill>
                    <a:schemeClr val="tx1"/>
                  </a:solidFill>
                  <a:latin typeface="+mn-ea"/>
                </a:rPr>
                <a:t>)</a:t>
              </a:r>
              <a:r>
                <a:rPr lang="ja-JP" altLang="en-US" sz="1050" dirty="0">
                  <a:solidFill>
                    <a:schemeClr val="tx1"/>
                  </a:solidFill>
                  <a:latin typeface="+mn-ea"/>
                </a:rPr>
                <a:t> </a:t>
              </a:r>
              <a:r>
                <a:rPr lang="ja-JP" altLang="ja-JP" sz="1050" dirty="0">
                  <a:solidFill>
                    <a:schemeClr val="tx1"/>
                  </a:solidFill>
                  <a:latin typeface="+mn-ea"/>
                </a:rPr>
                <a:t>」との排他的な啓発ルート</a:t>
              </a:r>
              <a:endParaRPr kumimoji="1" lang="ja-JP" altLang="en-US" sz="1050" dirty="0">
                <a:solidFill>
                  <a:schemeClr val="tx1"/>
                </a:solidFill>
                <a:latin typeface="+mn-ea"/>
              </a:endParaRPr>
            </a:p>
          </p:txBody>
        </p:sp>
        <p:sp>
          <p:nvSpPr>
            <p:cNvPr id="94" name="正方形/長方形 93">
              <a:extLst>
                <a:ext uri="{FF2B5EF4-FFF2-40B4-BE49-F238E27FC236}">
                  <a16:creationId xmlns:a16="http://schemas.microsoft.com/office/drawing/2014/main" id="{3646968B-E766-88E1-B5C3-B8074F2BC537}"/>
                </a:ext>
              </a:extLst>
            </p:cNvPr>
            <p:cNvSpPr/>
            <p:nvPr/>
          </p:nvSpPr>
          <p:spPr>
            <a:xfrm>
              <a:off x="4290150" y="2520086"/>
              <a:ext cx="2477935"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buClr>
                  <a:srgbClr val="2E7D32"/>
                </a:buClr>
              </a:pPr>
              <a:r>
                <a:rPr lang="ja-JP" altLang="ja-JP" sz="1050" b="1" dirty="0">
                  <a:solidFill>
                    <a:srgbClr val="008D2E"/>
                  </a:solidFill>
                  <a:latin typeface="+mn-ea"/>
                </a:rPr>
                <a:t>W3 × O2</a:t>
              </a:r>
              <a:r>
                <a:rPr lang="en-US" altLang="ja-JP" sz="1050" b="1" dirty="0">
                  <a:solidFill>
                    <a:srgbClr val="008D2E"/>
                  </a:solidFill>
                  <a:latin typeface="+mn-ea"/>
                </a:rPr>
                <a:t> </a:t>
              </a:r>
              <a:r>
                <a:rPr lang="ja-JP" altLang="en-US" sz="1050" b="1" dirty="0">
                  <a:solidFill>
                    <a:srgbClr val="008D2E"/>
                  </a:solidFill>
                  <a:latin typeface="+mn-ea"/>
                </a:rPr>
                <a:t>･ </a:t>
              </a:r>
              <a:r>
                <a:rPr lang="ja-JP" altLang="ja-JP" sz="1050" b="1" dirty="0">
                  <a:solidFill>
                    <a:srgbClr val="008D2E"/>
                  </a:solidFill>
                  <a:latin typeface="+mn-ea"/>
                </a:rPr>
                <a:t>O3 × T1</a:t>
              </a:r>
              <a:endParaRPr lang="en-US" altLang="ja-JP" sz="1050" b="1" dirty="0">
                <a:solidFill>
                  <a:srgbClr val="008D2E"/>
                </a:solidFill>
                <a:latin typeface="+mn-ea"/>
              </a:endParaRPr>
            </a:p>
            <a:p>
              <a:pPr marL="171450" indent="-171450">
                <a:spcBef>
                  <a:spcPts val="600"/>
                </a:spcBef>
                <a:buClr>
                  <a:srgbClr val="008D2E"/>
                </a:buClr>
                <a:buFont typeface="Arial" panose="020B0604020202020204" pitchFamily="34" charset="0"/>
                <a:buChar char="•"/>
              </a:pPr>
              <a:r>
                <a:rPr lang="ja-JP" altLang="ja-JP" sz="1050" dirty="0">
                  <a:solidFill>
                    <a:schemeClr val="tx1"/>
                  </a:solidFill>
                  <a:latin typeface="+mn-ea"/>
                </a:rPr>
                <a:t>データ基盤の遅れ</a:t>
              </a:r>
              <a:r>
                <a:rPr lang="en-US" altLang="ja-JP" sz="1050" dirty="0">
                  <a:solidFill>
                    <a:schemeClr val="tx1"/>
                  </a:solidFill>
                  <a:latin typeface="+mn-ea"/>
                </a:rPr>
                <a:t> (</a:t>
              </a:r>
              <a:r>
                <a:rPr lang="ja-JP" altLang="ja-JP" sz="1050" dirty="0">
                  <a:solidFill>
                    <a:schemeClr val="tx1"/>
                  </a:solidFill>
                  <a:latin typeface="+mn-ea"/>
                </a:rPr>
                <a:t>W3</a:t>
              </a:r>
              <a:r>
                <a:rPr lang="en-US" altLang="ja-JP" sz="1050" dirty="0">
                  <a:solidFill>
                    <a:schemeClr val="tx1"/>
                  </a:solidFill>
                  <a:latin typeface="+mn-ea"/>
                </a:rPr>
                <a:t>) </a:t>
              </a:r>
              <a:r>
                <a:rPr lang="ja-JP" altLang="ja-JP" sz="1050" dirty="0">
                  <a:solidFill>
                    <a:schemeClr val="tx1"/>
                  </a:solidFill>
                  <a:latin typeface="+mn-ea"/>
                </a:rPr>
                <a:t>やCookie消滅</a:t>
              </a:r>
              <a:r>
                <a:rPr lang="en-US" altLang="ja-JP" sz="1050" dirty="0">
                  <a:solidFill>
                    <a:schemeClr val="tx1"/>
                  </a:solidFill>
                  <a:latin typeface="+mn-ea"/>
                </a:rPr>
                <a:t> </a:t>
              </a:r>
              <a:br>
                <a:rPr lang="en-US" altLang="ja-JP" sz="1050" dirty="0">
                  <a:solidFill>
                    <a:schemeClr val="tx1"/>
                  </a:solidFill>
                  <a:latin typeface="+mn-ea"/>
                </a:rPr>
              </a:br>
              <a:r>
                <a:rPr lang="en-US" altLang="ja-JP" sz="1050" dirty="0">
                  <a:solidFill>
                    <a:schemeClr val="tx1"/>
                  </a:solidFill>
                  <a:latin typeface="+mn-ea"/>
                </a:rPr>
                <a:t>(</a:t>
              </a:r>
              <a:r>
                <a:rPr lang="ja-JP" altLang="ja-JP" sz="1050" dirty="0">
                  <a:solidFill>
                    <a:schemeClr val="tx1"/>
                  </a:solidFill>
                  <a:latin typeface="+mn-ea"/>
                </a:rPr>
                <a:t>T1</a:t>
              </a:r>
              <a:r>
                <a:rPr lang="en-US" altLang="ja-JP" sz="1050" dirty="0">
                  <a:solidFill>
                    <a:schemeClr val="tx1"/>
                  </a:solidFill>
                  <a:latin typeface="+mn-ea"/>
                </a:rPr>
                <a:t>) </a:t>
              </a:r>
              <a:r>
                <a:rPr lang="ja-JP" altLang="ja-JP" sz="1050" dirty="0">
                  <a:solidFill>
                    <a:schemeClr val="tx1"/>
                  </a:solidFill>
                  <a:latin typeface="+mn-ea"/>
                </a:rPr>
                <a:t>のなか、他社を模倣して全方位D2Cをゼロから構築してもROIが合わず</a:t>
              </a:r>
              <a:br>
                <a:rPr lang="en-US" altLang="ja-JP" sz="1050" dirty="0">
                  <a:solidFill>
                    <a:schemeClr val="tx1"/>
                  </a:solidFill>
                  <a:latin typeface="+mn-ea"/>
                </a:rPr>
              </a:br>
              <a:r>
                <a:rPr lang="ja-JP" altLang="ja-JP" sz="1050" dirty="0">
                  <a:solidFill>
                    <a:schemeClr val="tx1"/>
                  </a:solidFill>
                  <a:latin typeface="+mn-ea"/>
                </a:rPr>
                <a:t>泥沼化する</a:t>
              </a:r>
              <a:endParaRPr lang="en-US" altLang="ja-JP" sz="1050" dirty="0">
                <a:solidFill>
                  <a:schemeClr val="tx1"/>
                </a:solidFill>
                <a:latin typeface="+mn-ea"/>
              </a:endParaRPr>
            </a:p>
            <a:p>
              <a:pPr marL="171450" indent="-171450">
                <a:spcBef>
                  <a:spcPts val="600"/>
                </a:spcBef>
                <a:buClr>
                  <a:srgbClr val="008D2E"/>
                </a:buClr>
                <a:buFont typeface="Arial" panose="020B0604020202020204" pitchFamily="34" charset="0"/>
                <a:buChar char="•"/>
              </a:pPr>
              <a:r>
                <a:rPr lang="ja-JP" altLang="ja-JP" sz="1050" dirty="0">
                  <a:solidFill>
                    <a:schemeClr val="tx1"/>
                  </a:solidFill>
                  <a:latin typeface="+mn-ea"/>
                </a:rPr>
                <a:t>持たざる者としての冷徹な割り切りが必要</a:t>
              </a:r>
              <a:endParaRPr kumimoji="1" lang="ja-JP" altLang="en-US" sz="1050" dirty="0">
                <a:solidFill>
                  <a:schemeClr val="tx1"/>
                </a:solidFill>
                <a:latin typeface="+mn-ea"/>
              </a:endParaRPr>
            </a:p>
          </p:txBody>
        </p:sp>
        <p:sp>
          <p:nvSpPr>
            <p:cNvPr id="95" name="正方形/長方形 94">
              <a:extLst>
                <a:ext uri="{FF2B5EF4-FFF2-40B4-BE49-F238E27FC236}">
                  <a16:creationId xmlns:a16="http://schemas.microsoft.com/office/drawing/2014/main" id="{0C9334E9-CFA4-68CD-1505-3E5A789711D6}"/>
                </a:ext>
              </a:extLst>
            </p:cNvPr>
            <p:cNvSpPr/>
            <p:nvPr/>
          </p:nvSpPr>
          <p:spPr>
            <a:xfrm>
              <a:off x="6834626" y="2520086"/>
              <a:ext cx="2477935"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2E7D32"/>
                </a:buClr>
              </a:pPr>
              <a:r>
                <a:rPr lang="ja-JP" altLang="ja-JP" sz="1050" b="1" dirty="0">
                  <a:solidFill>
                    <a:srgbClr val="008D2E"/>
                  </a:solidFill>
                  <a:latin typeface="+mn-ea"/>
                </a:rPr>
                <a:t>S1</a:t>
              </a:r>
              <a:r>
                <a:rPr lang="en-US" altLang="ja-JP" sz="1050" b="1" dirty="0">
                  <a:solidFill>
                    <a:srgbClr val="008D2E"/>
                  </a:solidFill>
                  <a:latin typeface="+mn-ea"/>
                </a:rPr>
                <a:t> </a:t>
              </a:r>
              <a:r>
                <a:rPr lang="ja-JP" altLang="en-US" sz="1050" b="1" dirty="0">
                  <a:solidFill>
                    <a:srgbClr val="008D2E"/>
                  </a:solidFill>
                  <a:latin typeface="+mn-ea"/>
                </a:rPr>
                <a:t>･ </a:t>
              </a:r>
              <a:r>
                <a:rPr lang="ja-JP" altLang="ja-JP" sz="1050" b="1" dirty="0">
                  <a:solidFill>
                    <a:srgbClr val="008D2E"/>
                  </a:solidFill>
                  <a:latin typeface="+mn-ea"/>
                </a:rPr>
                <a:t>S2</a:t>
              </a:r>
              <a:r>
                <a:rPr lang="en-US" altLang="ja-JP" sz="1050" b="1" dirty="0">
                  <a:solidFill>
                    <a:srgbClr val="008D2E"/>
                  </a:solidFill>
                  <a:latin typeface="+mn-ea"/>
                </a:rPr>
                <a:t> </a:t>
              </a:r>
              <a:r>
                <a:rPr lang="ja-JP" altLang="en-US" sz="1050" b="1" dirty="0">
                  <a:solidFill>
                    <a:srgbClr val="008D2E"/>
                  </a:solidFill>
                  <a:latin typeface="+mn-ea"/>
                </a:rPr>
                <a:t>･ </a:t>
              </a:r>
              <a:r>
                <a:rPr lang="ja-JP" altLang="ja-JP" sz="1050" b="1" dirty="0">
                  <a:solidFill>
                    <a:srgbClr val="008D2E"/>
                  </a:solidFill>
                  <a:latin typeface="+mn-ea"/>
                </a:rPr>
                <a:t>S4 × W2 × T4</a:t>
              </a:r>
              <a:endParaRPr lang="en-US" altLang="ja-JP" sz="1050" b="1" dirty="0">
                <a:solidFill>
                  <a:srgbClr val="008D2E"/>
                </a:solidFill>
                <a:latin typeface="+mn-ea"/>
              </a:endParaRPr>
            </a:p>
            <a:p>
              <a:pPr marL="171450" indent="-171450">
                <a:buClr>
                  <a:srgbClr val="008D2E"/>
                </a:buClr>
                <a:buFont typeface="Arial" panose="020B0604020202020204" pitchFamily="34" charset="0"/>
                <a:buChar char="•"/>
              </a:pPr>
              <a:r>
                <a:rPr lang="ja-JP" altLang="ja-JP" sz="1050" dirty="0">
                  <a:solidFill>
                    <a:schemeClr val="tx1"/>
                  </a:solidFill>
                  <a:latin typeface="+mn-ea"/>
                </a:rPr>
                <a:t>社内に眠る「生活行動</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習慣化の臨床</a:t>
              </a:r>
              <a:br>
                <a:rPr lang="en-US" altLang="ja-JP" sz="1050" dirty="0">
                  <a:solidFill>
                    <a:schemeClr val="tx1"/>
                  </a:solidFill>
                  <a:latin typeface="+mn-ea"/>
                </a:rPr>
              </a:br>
              <a:r>
                <a:rPr lang="ja-JP" altLang="ja-JP" sz="1050" dirty="0">
                  <a:solidFill>
                    <a:schemeClr val="tx1"/>
                  </a:solidFill>
                  <a:latin typeface="+mn-ea"/>
                </a:rPr>
                <a:t>データ</a:t>
              </a:r>
              <a:r>
                <a:rPr lang="en-US" altLang="ja-JP" sz="1050" dirty="0">
                  <a:solidFill>
                    <a:schemeClr val="tx1"/>
                  </a:solidFill>
                  <a:latin typeface="+mn-ea"/>
                </a:rPr>
                <a:t> (</a:t>
              </a:r>
              <a:r>
                <a:rPr lang="ja-JP" altLang="ja-JP" sz="1050" dirty="0">
                  <a:solidFill>
                    <a:schemeClr val="tx1"/>
                  </a:solidFill>
                  <a:latin typeface="+mn-ea"/>
                </a:rPr>
                <a:t>S</a:t>
              </a:r>
              <a:r>
                <a:rPr lang="en-US" altLang="ja-JP" sz="1050" dirty="0">
                  <a:solidFill>
                    <a:schemeClr val="tx1"/>
                  </a:solidFill>
                  <a:latin typeface="+mn-ea"/>
                </a:rPr>
                <a:t>) </a:t>
              </a:r>
              <a:r>
                <a:rPr lang="ja-JP" altLang="ja-JP" sz="1050" dirty="0">
                  <a:solidFill>
                    <a:schemeClr val="tx1"/>
                  </a:solidFill>
                  <a:latin typeface="+mn-ea"/>
                </a:rPr>
                <a:t>」が営業の言葉に翻訳されて</a:t>
              </a:r>
              <a:br>
                <a:rPr lang="en-US" altLang="ja-JP" sz="1050" dirty="0">
                  <a:solidFill>
                    <a:schemeClr val="tx1"/>
                  </a:solidFill>
                  <a:latin typeface="+mn-ea"/>
                </a:rPr>
              </a:br>
              <a:r>
                <a:rPr lang="ja-JP" altLang="ja-JP" sz="1050" dirty="0">
                  <a:solidFill>
                    <a:schemeClr val="tx1"/>
                  </a:solidFill>
                  <a:latin typeface="+mn-ea"/>
                </a:rPr>
                <a:t>いない</a:t>
              </a:r>
              <a:r>
                <a:rPr lang="en-US" altLang="ja-JP" sz="1050" dirty="0">
                  <a:solidFill>
                    <a:schemeClr val="tx1"/>
                  </a:solidFill>
                  <a:latin typeface="+mn-ea"/>
                </a:rPr>
                <a:t> (</a:t>
              </a:r>
              <a:r>
                <a:rPr lang="ja-JP" altLang="ja-JP" sz="1050" dirty="0">
                  <a:solidFill>
                    <a:schemeClr val="tx1"/>
                  </a:solidFill>
                  <a:latin typeface="+mn-ea"/>
                </a:rPr>
                <a:t>W2</a:t>
              </a:r>
              <a:r>
                <a:rPr lang="en-US" altLang="ja-JP" sz="1050" dirty="0">
                  <a:solidFill>
                    <a:schemeClr val="tx1"/>
                  </a:solidFill>
                  <a:latin typeface="+mn-ea"/>
                </a:rPr>
                <a:t>) </a:t>
              </a:r>
              <a:r>
                <a:rPr lang="ja-JP" altLang="ja-JP" sz="1050" dirty="0">
                  <a:solidFill>
                    <a:schemeClr val="tx1"/>
                  </a:solidFill>
                  <a:latin typeface="+mn-ea"/>
                </a:rPr>
                <a:t>ため現場は値引き交渉に</a:t>
              </a:r>
              <a:br>
                <a:rPr lang="en-US" altLang="ja-JP" sz="1050" dirty="0">
                  <a:solidFill>
                    <a:schemeClr val="tx1"/>
                  </a:solidFill>
                  <a:latin typeface="+mn-ea"/>
                </a:rPr>
              </a:br>
              <a:r>
                <a:rPr lang="ja-JP" altLang="ja-JP" sz="1050" dirty="0">
                  <a:solidFill>
                    <a:schemeClr val="tx1"/>
                  </a:solidFill>
                  <a:latin typeface="+mn-ea"/>
                </a:rPr>
                <a:t>終始</a:t>
              </a:r>
              <a:endParaRPr lang="en-US" altLang="ja-JP" sz="1050" dirty="0">
                <a:solidFill>
                  <a:schemeClr val="tx1"/>
                </a:solidFill>
                <a:latin typeface="+mn-ea"/>
              </a:endParaRPr>
            </a:p>
            <a:p>
              <a:pPr marL="171450" indent="-171450">
                <a:buClr>
                  <a:srgbClr val="008D2E"/>
                </a:buClr>
                <a:buFont typeface="Arial" panose="020B0604020202020204" pitchFamily="34" charset="0"/>
                <a:buChar char="•"/>
              </a:pPr>
              <a:r>
                <a:rPr lang="ja-JP" altLang="ja-JP" sz="1050" dirty="0">
                  <a:solidFill>
                    <a:schemeClr val="tx1"/>
                  </a:solidFill>
                  <a:latin typeface="+mn-ea"/>
                </a:rPr>
                <a:t>一方、小売バイヤーは本部システムのデータ監査</a:t>
              </a:r>
              <a:r>
                <a:rPr lang="en-US" altLang="ja-JP" sz="1050" dirty="0">
                  <a:solidFill>
                    <a:schemeClr val="tx1"/>
                  </a:solidFill>
                  <a:latin typeface="+mn-ea"/>
                </a:rPr>
                <a:t> (</a:t>
              </a:r>
              <a:r>
                <a:rPr lang="ja-JP" altLang="ja-JP" sz="1050" dirty="0">
                  <a:solidFill>
                    <a:schemeClr val="tx1"/>
                  </a:solidFill>
                  <a:latin typeface="+mn-ea"/>
                </a:rPr>
                <a:t>T4</a:t>
              </a:r>
              <a:r>
                <a:rPr lang="en-US" altLang="ja-JP" sz="1050" dirty="0">
                  <a:solidFill>
                    <a:schemeClr val="tx1"/>
                  </a:solidFill>
                  <a:latin typeface="+mn-ea"/>
                </a:rPr>
                <a:t>) </a:t>
              </a:r>
              <a:r>
                <a:rPr lang="ja-JP" altLang="ja-JP" sz="1050" dirty="0">
                  <a:solidFill>
                    <a:schemeClr val="tx1"/>
                  </a:solidFill>
                  <a:latin typeface="+mn-ea"/>
                </a:rPr>
                <a:t>の高度化により、利益率や環境負荷の「説明責任」の恐怖に晒されている</a:t>
              </a:r>
            </a:p>
          </p:txBody>
        </p:sp>
        <p:sp>
          <p:nvSpPr>
            <p:cNvPr id="96" name="正方形/長方形 95">
              <a:extLst>
                <a:ext uri="{FF2B5EF4-FFF2-40B4-BE49-F238E27FC236}">
                  <a16:creationId xmlns:a16="http://schemas.microsoft.com/office/drawing/2014/main" id="{75428A12-D674-238B-D8E3-B62BE9E6F87D}"/>
                </a:ext>
              </a:extLst>
            </p:cNvPr>
            <p:cNvSpPr/>
            <p:nvPr/>
          </p:nvSpPr>
          <p:spPr>
            <a:xfrm>
              <a:off x="9379103" y="2520086"/>
              <a:ext cx="2477935"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2E7D32"/>
                </a:buClr>
              </a:pPr>
              <a:r>
                <a:rPr lang="ja-JP" altLang="ja-JP" sz="1050" b="1" dirty="0">
                  <a:solidFill>
                    <a:srgbClr val="008D2E"/>
                  </a:solidFill>
                  <a:latin typeface="+mn-ea"/>
                </a:rPr>
                <a:t>W1</a:t>
              </a:r>
              <a:r>
                <a:rPr lang="en-US" altLang="ja-JP" sz="1050" b="1" dirty="0">
                  <a:solidFill>
                    <a:srgbClr val="008D2E"/>
                  </a:solidFill>
                  <a:latin typeface="+mn-ea"/>
                </a:rPr>
                <a:t> </a:t>
              </a:r>
              <a:r>
                <a:rPr lang="ja-JP" altLang="en-US" sz="1050" b="1" dirty="0">
                  <a:solidFill>
                    <a:srgbClr val="008D2E"/>
                  </a:solidFill>
                  <a:latin typeface="+mn-ea"/>
                </a:rPr>
                <a:t>･ </a:t>
              </a:r>
              <a:r>
                <a:rPr lang="ja-JP" altLang="ja-JP" sz="1050" b="1" dirty="0">
                  <a:solidFill>
                    <a:srgbClr val="008D2E"/>
                  </a:solidFill>
                  <a:latin typeface="+mn-ea"/>
                </a:rPr>
                <a:t>W4 × T3</a:t>
              </a:r>
              <a:endParaRPr lang="en-US" altLang="ja-JP" sz="1050" b="1" dirty="0">
                <a:solidFill>
                  <a:srgbClr val="008D2E"/>
                </a:solidFill>
                <a:latin typeface="+mn-ea"/>
              </a:endParaRPr>
            </a:p>
            <a:p>
              <a:pPr marL="171450" indent="-171450">
                <a:buClr>
                  <a:srgbClr val="008D2E"/>
                </a:buClr>
                <a:buFont typeface="Arial" panose="020B0604020202020204" pitchFamily="34" charset="0"/>
                <a:buChar char="•"/>
              </a:pPr>
              <a:r>
                <a:rPr lang="ja-JP" altLang="ja-JP" sz="1050" dirty="0">
                  <a:solidFill>
                    <a:schemeClr val="tx1"/>
                  </a:solidFill>
                  <a:latin typeface="+mn-ea"/>
                </a:rPr>
                <a:t>対P&amp;G比7.6倍の営業生産性格差</a:t>
              </a:r>
              <a:r>
                <a:rPr lang="en-US" altLang="ja-JP" sz="1050" dirty="0">
                  <a:solidFill>
                    <a:schemeClr val="tx1"/>
                  </a:solidFill>
                  <a:latin typeface="+mn-ea"/>
                </a:rPr>
                <a:t> (</a:t>
              </a:r>
              <a:r>
                <a:rPr lang="ja-JP" altLang="ja-JP" sz="1050" dirty="0">
                  <a:solidFill>
                    <a:schemeClr val="tx1"/>
                  </a:solidFill>
                  <a:latin typeface="+mn-ea"/>
                </a:rPr>
                <a:t>W1</a:t>
              </a:r>
              <a:r>
                <a:rPr lang="en-US" altLang="ja-JP" sz="1050" dirty="0">
                  <a:solidFill>
                    <a:schemeClr val="tx1"/>
                  </a:solidFill>
                  <a:latin typeface="+mn-ea"/>
                </a:rPr>
                <a:t>) </a:t>
              </a:r>
              <a:r>
                <a:rPr lang="ja-JP" altLang="ja-JP" sz="1050" dirty="0">
                  <a:solidFill>
                    <a:schemeClr val="tx1"/>
                  </a:solidFill>
                  <a:latin typeface="+mn-ea"/>
                </a:rPr>
                <a:t>のなか、2040年は「容器包装の完全回収義務化</a:t>
              </a:r>
              <a:r>
                <a:rPr lang="en-US" altLang="ja-JP" sz="1050" dirty="0">
                  <a:solidFill>
                    <a:schemeClr val="tx1"/>
                  </a:solidFill>
                  <a:latin typeface="+mn-ea"/>
                </a:rPr>
                <a:t> (</a:t>
              </a:r>
              <a:r>
                <a:rPr lang="ja-JP" altLang="ja-JP" sz="1050" dirty="0">
                  <a:solidFill>
                    <a:schemeClr val="tx1"/>
                  </a:solidFill>
                  <a:latin typeface="+mn-ea"/>
                </a:rPr>
                <a:t>サスタナビリティ</a:t>
              </a:r>
              <a:r>
                <a:rPr lang="en-US" altLang="ja-JP" sz="1050" dirty="0">
                  <a:solidFill>
                    <a:schemeClr val="tx1"/>
                  </a:solidFill>
                  <a:latin typeface="+mn-ea"/>
                </a:rPr>
                <a:t>) </a:t>
              </a:r>
              <a:r>
                <a:rPr lang="ja-JP" altLang="ja-JP" sz="1050" dirty="0">
                  <a:solidFill>
                    <a:schemeClr val="tx1"/>
                  </a:solidFill>
                  <a:latin typeface="+mn-ea"/>
                </a:rPr>
                <a:t>」と人手不足</a:t>
              </a:r>
              <a:r>
                <a:rPr lang="en-US" altLang="ja-JP" sz="1050" dirty="0">
                  <a:solidFill>
                    <a:schemeClr val="tx1"/>
                  </a:solidFill>
                  <a:latin typeface="+mn-ea"/>
                </a:rPr>
                <a:t> (</a:t>
              </a:r>
              <a:r>
                <a:rPr lang="ja-JP" altLang="ja-JP" sz="1050" dirty="0">
                  <a:solidFill>
                    <a:schemeClr val="tx1"/>
                  </a:solidFill>
                  <a:latin typeface="+mn-ea"/>
                </a:rPr>
                <a:t>E</a:t>
              </a:r>
              <a:r>
                <a:rPr lang="en-US" altLang="ja-JP" sz="1050" dirty="0">
                  <a:solidFill>
                    <a:schemeClr val="tx1"/>
                  </a:solidFill>
                  <a:latin typeface="+mn-ea"/>
                </a:rPr>
                <a:t>) </a:t>
              </a:r>
              <a:r>
                <a:rPr lang="ja-JP" altLang="ja-JP" sz="1050" dirty="0">
                  <a:solidFill>
                    <a:schemeClr val="tx1"/>
                  </a:solidFill>
                  <a:latin typeface="+mn-ea"/>
                </a:rPr>
                <a:t>により、小売実店舗の現場オペレーションは崩壊寸前になる</a:t>
              </a:r>
              <a:endParaRPr lang="en-US" altLang="ja-JP" sz="1050" dirty="0">
                <a:solidFill>
                  <a:schemeClr val="tx1"/>
                </a:solidFill>
                <a:latin typeface="+mn-ea"/>
              </a:endParaRPr>
            </a:p>
            <a:p>
              <a:pPr marL="171450" indent="-171450">
                <a:buClr>
                  <a:srgbClr val="008D2E"/>
                </a:buClr>
                <a:buFont typeface="Arial" panose="020B0604020202020204" pitchFamily="34" charset="0"/>
                <a:buChar char="•"/>
              </a:pPr>
              <a:r>
                <a:rPr lang="ja-JP" altLang="ja-JP" sz="1050" dirty="0">
                  <a:solidFill>
                    <a:schemeClr val="tx1"/>
                  </a:solidFill>
                  <a:latin typeface="+mn-ea"/>
                </a:rPr>
                <a:t>営業員が資料作成等の事務</a:t>
              </a:r>
              <a:r>
                <a:rPr lang="en-US" altLang="ja-JP" sz="1050" dirty="0">
                  <a:solidFill>
                    <a:schemeClr val="tx1"/>
                  </a:solidFill>
                  <a:latin typeface="+mn-ea"/>
                </a:rPr>
                <a:t> (</a:t>
              </a:r>
              <a:r>
                <a:rPr lang="ja-JP" altLang="ja-JP" sz="1050" dirty="0">
                  <a:solidFill>
                    <a:schemeClr val="tx1"/>
                  </a:solidFill>
                  <a:latin typeface="+mn-ea"/>
                </a:rPr>
                <a:t>W4</a:t>
              </a:r>
              <a:r>
                <a:rPr lang="en-US" altLang="ja-JP" sz="1050" dirty="0">
                  <a:solidFill>
                    <a:schemeClr val="tx1"/>
                  </a:solidFill>
                  <a:latin typeface="+mn-ea"/>
                </a:rPr>
                <a:t>) </a:t>
              </a:r>
              <a:r>
                <a:rPr lang="ja-JP" altLang="ja-JP" sz="1050" dirty="0">
                  <a:solidFill>
                    <a:schemeClr val="tx1"/>
                  </a:solidFill>
                  <a:latin typeface="+mn-ea"/>
                </a:rPr>
                <a:t>に</a:t>
              </a:r>
              <a:br>
                <a:rPr lang="en-US" altLang="ja-JP" sz="1050" dirty="0">
                  <a:solidFill>
                    <a:schemeClr val="tx1"/>
                  </a:solidFill>
                  <a:latin typeface="+mn-ea"/>
                </a:rPr>
              </a:br>
              <a:r>
                <a:rPr lang="ja-JP" altLang="ja-JP" sz="1050" dirty="0">
                  <a:solidFill>
                    <a:schemeClr val="tx1"/>
                  </a:solidFill>
                  <a:latin typeface="+mn-ea"/>
                </a:rPr>
                <a:t>忙殺されていては、小売の最大課題に</a:t>
              </a:r>
              <a:br>
                <a:rPr lang="en-US" altLang="ja-JP" sz="1050" dirty="0">
                  <a:solidFill>
                    <a:schemeClr val="tx1"/>
                  </a:solidFill>
                  <a:latin typeface="+mn-ea"/>
                </a:rPr>
              </a:br>
              <a:r>
                <a:rPr lang="ja-JP" altLang="ja-JP" sz="1050" dirty="0">
                  <a:solidFill>
                    <a:schemeClr val="tx1"/>
                  </a:solidFill>
                  <a:latin typeface="+mn-ea"/>
                </a:rPr>
                <a:t>アプローチできない</a:t>
              </a:r>
              <a:endParaRPr kumimoji="1" lang="ja-JP" altLang="en-US" sz="1050" dirty="0">
                <a:solidFill>
                  <a:schemeClr val="tx1"/>
                </a:solidFill>
                <a:latin typeface="+mn-ea"/>
              </a:endParaRPr>
            </a:p>
          </p:txBody>
        </p:sp>
        <p:cxnSp>
          <p:nvCxnSpPr>
            <p:cNvPr id="110" name="直線コネクタ 109">
              <a:extLst>
                <a:ext uri="{FF2B5EF4-FFF2-40B4-BE49-F238E27FC236}">
                  <a16:creationId xmlns:a16="http://schemas.microsoft.com/office/drawing/2014/main" id="{5D645080-14EA-BE6B-612D-798DE1927B1B}"/>
                </a:ext>
              </a:extLst>
            </p:cNvPr>
            <p:cNvCxnSpPr/>
            <p:nvPr/>
          </p:nvCxnSpPr>
          <p:spPr>
            <a:xfrm>
              <a:off x="1652808" y="2520086"/>
              <a:ext cx="0" cy="1342466"/>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2" name="グループ化 111">
            <a:extLst>
              <a:ext uri="{FF2B5EF4-FFF2-40B4-BE49-F238E27FC236}">
                <a16:creationId xmlns:a16="http://schemas.microsoft.com/office/drawing/2014/main" id="{5B15D2DD-D8F6-C123-6BBF-87D708A410B4}"/>
              </a:ext>
            </a:extLst>
          </p:cNvPr>
          <p:cNvGrpSpPr/>
          <p:nvPr/>
        </p:nvGrpSpPr>
        <p:grpSpPr>
          <a:xfrm>
            <a:off x="334963" y="4092468"/>
            <a:ext cx="11522076" cy="2216251"/>
            <a:chOff x="334963" y="3884297"/>
            <a:chExt cx="11522076" cy="2424428"/>
          </a:xfrm>
        </p:grpSpPr>
        <p:sp>
          <p:nvSpPr>
            <p:cNvPr id="75" name="正方形/長方形 74">
              <a:extLst>
                <a:ext uri="{FF2B5EF4-FFF2-40B4-BE49-F238E27FC236}">
                  <a16:creationId xmlns:a16="http://schemas.microsoft.com/office/drawing/2014/main" id="{0D9FEB9A-E28B-CBF4-7470-C010F471880D}"/>
                </a:ext>
              </a:extLst>
            </p:cNvPr>
            <p:cNvSpPr/>
            <p:nvPr/>
          </p:nvSpPr>
          <p:spPr>
            <a:xfrm>
              <a:off x="334963" y="3972733"/>
              <a:ext cx="1242377"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600" b="1" dirty="0">
                  <a:solidFill>
                    <a:srgbClr val="008D2E"/>
                  </a:solidFill>
                  <a:latin typeface="+mn-ea"/>
                </a:rPr>
                <a:t>具体的な</a:t>
              </a:r>
              <a:br>
                <a:rPr lang="en-US" altLang="ja-JP" sz="1600" b="1" dirty="0">
                  <a:solidFill>
                    <a:srgbClr val="008D2E"/>
                  </a:solidFill>
                  <a:latin typeface="+mn-ea"/>
                </a:rPr>
              </a:br>
              <a:r>
                <a:rPr lang="ja-JP" altLang="ja-JP" sz="1600" b="1" dirty="0">
                  <a:solidFill>
                    <a:srgbClr val="008D2E"/>
                  </a:solidFill>
                  <a:latin typeface="+mn-ea"/>
                </a:rPr>
                <a:t>変革内容</a:t>
              </a:r>
              <a:endParaRPr lang="ja-JP" altLang="en-US" sz="1600" dirty="0">
                <a:solidFill>
                  <a:srgbClr val="008D2E"/>
                </a:solidFill>
                <a:latin typeface="+mn-ea"/>
              </a:endParaRPr>
            </a:p>
          </p:txBody>
        </p:sp>
        <p:sp>
          <p:nvSpPr>
            <p:cNvPr id="101" name="正方形/長方形 100">
              <a:extLst>
                <a:ext uri="{FF2B5EF4-FFF2-40B4-BE49-F238E27FC236}">
                  <a16:creationId xmlns:a16="http://schemas.microsoft.com/office/drawing/2014/main" id="{CEEC7F09-5A83-434D-6A3F-3573F88EA831}"/>
                </a:ext>
              </a:extLst>
            </p:cNvPr>
            <p:cNvSpPr/>
            <p:nvPr/>
          </p:nvSpPr>
          <p:spPr>
            <a:xfrm>
              <a:off x="1745673" y="3972733"/>
              <a:ext cx="2477935"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洗剤の標準品投資を縮小し、オーラルケアやキレイキレイ等の高関与ヘルスケア</a:t>
              </a:r>
              <a:r>
                <a:rPr lang="en-US" altLang="ja-JP" sz="1050" dirty="0">
                  <a:solidFill>
                    <a:schemeClr val="tx1"/>
                  </a:solidFill>
                  <a:latin typeface="+mn-ea"/>
                </a:rPr>
                <a:t> </a:t>
              </a:r>
              <a:r>
                <a:rPr lang="ja-JP" altLang="en-US" sz="1050" dirty="0">
                  <a:solidFill>
                    <a:schemeClr val="tx1"/>
                  </a:solidFill>
                  <a:latin typeface="+mn-ea"/>
                </a:rPr>
                <a:t>･</a:t>
              </a:r>
              <a:br>
                <a:rPr lang="en-US" altLang="ja-JP" sz="1050" dirty="0">
                  <a:solidFill>
                    <a:schemeClr val="tx1"/>
                  </a:solidFill>
                  <a:latin typeface="+mn-ea"/>
                </a:rPr>
              </a:br>
              <a:r>
                <a:rPr lang="ja-JP" altLang="en-US" sz="1050" dirty="0">
                  <a:solidFill>
                    <a:schemeClr val="tx1"/>
                  </a:solidFill>
                  <a:latin typeface="+mn-ea"/>
                </a:rPr>
                <a:t> </a:t>
              </a:r>
              <a:r>
                <a:rPr lang="en-US" altLang="ja-JP" sz="1050" dirty="0">
                  <a:solidFill>
                    <a:schemeClr val="tx1"/>
                  </a:solidFill>
                  <a:latin typeface="+mn-ea"/>
                </a:rPr>
                <a:t>ESG</a:t>
              </a:r>
              <a:r>
                <a:rPr lang="ja-JP" altLang="en-US" sz="1050" dirty="0">
                  <a:solidFill>
                    <a:schemeClr val="tx1"/>
                  </a:solidFill>
                  <a:latin typeface="+mn-ea"/>
                </a:rPr>
                <a:t>貢献</a:t>
              </a:r>
              <a:r>
                <a:rPr lang="ja-JP" altLang="ja-JP" sz="1050" dirty="0">
                  <a:solidFill>
                    <a:schemeClr val="tx1"/>
                  </a:solidFill>
                  <a:latin typeface="+mn-ea"/>
                </a:rPr>
                <a:t>領域へ資源を集中</a:t>
              </a:r>
            </a:p>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「国民皆歯科健診</a:t>
              </a:r>
              <a:r>
                <a:rPr lang="en-US" altLang="ja-JP" sz="1050" dirty="0">
                  <a:solidFill>
                    <a:schemeClr val="tx1"/>
                  </a:solidFill>
                  <a:latin typeface="+mn-ea"/>
                </a:rPr>
                <a:t> (</a:t>
              </a:r>
              <a:r>
                <a:rPr lang="ja-JP" altLang="ja-JP" sz="1050" dirty="0">
                  <a:solidFill>
                    <a:schemeClr val="tx1"/>
                  </a:solidFill>
                  <a:latin typeface="+mn-ea"/>
                </a:rPr>
                <a:t>O1</a:t>
              </a:r>
              <a:r>
                <a:rPr lang="en-US" altLang="ja-JP" sz="1050" dirty="0">
                  <a:solidFill>
                    <a:schemeClr val="tx1"/>
                  </a:solidFill>
                  <a:latin typeface="+mn-ea"/>
                </a:rPr>
                <a:t>) </a:t>
              </a:r>
              <a:r>
                <a:rPr lang="ja-JP" altLang="ja-JP" sz="1050" dirty="0">
                  <a:solidFill>
                    <a:schemeClr val="tx1"/>
                  </a:solidFill>
                  <a:latin typeface="+mn-ea"/>
                </a:rPr>
                <a:t>」および「超炭</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Scope 3開示義務化」の波を捉え、アナログな学校</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自治体ルートをデジタル化</a:t>
              </a:r>
              <a:endParaRPr lang="en-US" altLang="ja-JP" sz="1050" dirty="0">
                <a:solidFill>
                  <a:schemeClr val="tx1"/>
                </a:solidFill>
                <a:latin typeface="+mn-ea"/>
              </a:endParaRPr>
            </a:p>
            <a:p>
              <a:pPr marL="358775" lvl="1" indent="-176213">
                <a:spcAft>
                  <a:spcPts val="200"/>
                </a:spcAft>
                <a:buClr>
                  <a:srgbClr val="008D2E"/>
                </a:buClr>
                <a:buFont typeface="メイリオ" panose="020B0604030504040204" pitchFamily="50" charset="-128"/>
                <a:buChar char="▶"/>
              </a:pPr>
              <a:r>
                <a:rPr lang="ja-JP" altLang="ja-JP" sz="1050" dirty="0">
                  <a:solidFill>
                    <a:schemeClr val="tx1"/>
                  </a:solidFill>
                  <a:latin typeface="+mn-ea"/>
                </a:rPr>
                <a:t>生活者の「予防</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衛生</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エコ習慣」の初期設定に潜り込み、AI調達システムが判定する「環境</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健康スコア」をクリアした自動補充のAI推奨リストに標準搭載される</a:t>
              </a:r>
            </a:p>
          </p:txBody>
        </p:sp>
        <p:sp>
          <p:nvSpPr>
            <p:cNvPr id="102" name="正方形/長方形 101">
              <a:extLst>
                <a:ext uri="{FF2B5EF4-FFF2-40B4-BE49-F238E27FC236}">
                  <a16:creationId xmlns:a16="http://schemas.microsoft.com/office/drawing/2014/main" id="{BBD44E6F-9F8B-8387-0017-EA55DAADF7CA}"/>
                </a:ext>
              </a:extLst>
            </p:cNvPr>
            <p:cNvSpPr/>
            <p:nvPr/>
          </p:nvSpPr>
          <p:spPr>
            <a:xfrm>
              <a:off x="4290150" y="3972733"/>
              <a:ext cx="2477935"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一般消費者のデータは自前で抱えず、</a:t>
              </a:r>
              <a:br>
                <a:rPr lang="en-US" altLang="ja-JP" sz="1050" dirty="0">
                  <a:solidFill>
                    <a:schemeClr val="tx1"/>
                  </a:solidFill>
                  <a:latin typeface="+mn-ea"/>
                </a:rPr>
              </a:br>
              <a:r>
                <a:rPr lang="ja-JP" altLang="ja-JP" sz="1050" dirty="0">
                  <a:solidFill>
                    <a:schemeClr val="tx1"/>
                  </a:solidFill>
                  <a:latin typeface="+mn-ea"/>
                </a:rPr>
                <a:t>すでに最強のID-POSを握る小売の</a:t>
              </a:r>
              <a:br>
                <a:rPr lang="en-US" altLang="ja-JP" sz="1050" dirty="0">
                  <a:solidFill>
                    <a:schemeClr val="tx1"/>
                  </a:solidFill>
                  <a:latin typeface="+mn-ea"/>
                </a:rPr>
              </a:br>
              <a:r>
                <a:rPr lang="ja-JP" altLang="ja-JP" sz="1050" dirty="0">
                  <a:solidFill>
                    <a:schemeClr val="tx1"/>
                  </a:solidFill>
                  <a:latin typeface="+mn-ea"/>
                </a:rPr>
                <a:t>「リテールメディア</a:t>
              </a:r>
              <a:r>
                <a:rPr lang="en-US" altLang="ja-JP" sz="1050" dirty="0">
                  <a:solidFill>
                    <a:schemeClr val="tx1"/>
                  </a:solidFill>
                  <a:latin typeface="+mn-ea"/>
                </a:rPr>
                <a:t> (</a:t>
              </a:r>
              <a:r>
                <a:rPr lang="ja-JP" altLang="ja-JP" sz="1050" dirty="0">
                  <a:solidFill>
                    <a:schemeClr val="tx1"/>
                  </a:solidFill>
                  <a:latin typeface="+mn-ea"/>
                </a:rPr>
                <a:t>O2</a:t>
              </a:r>
              <a:r>
                <a:rPr lang="en-US" altLang="ja-JP" sz="1050" dirty="0">
                  <a:solidFill>
                    <a:schemeClr val="tx1"/>
                  </a:solidFill>
                  <a:latin typeface="+mn-ea"/>
                </a:rPr>
                <a:t>) </a:t>
              </a:r>
              <a:r>
                <a:rPr lang="ja-JP" altLang="ja-JP" sz="1050" dirty="0">
                  <a:solidFill>
                    <a:schemeClr val="tx1"/>
                  </a:solidFill>
                  <a:latin typeface="+mn-ea"/>
                </a:rPr>
                <a:t>」に販促費を</a:t>
              </a:r>
              <a:br>
                <a:rPr lang="en-US" altLang="ja-JP" sz="1050" dirty="0">
                  <a:solidFill>
                    <a:schemeClr val="tx1"/>
                  </a:solidFill>
                  <a:latin typeface="+mn-ea"/>
                </a:rPr>
              </a:br>
              <a:r>
                <a:rPr lang="ja-JP" altLang="ja-JP" sz="1050" dirty="0">
                  <a:solidFill>
                    <a:schemeClr val="tx1"/>
                  </a:solidFill>
                  <a:latin typeface="+mn-ea"/>
                </a:rPr>
                <a:t>全投資して「乗っかる」戦略へ転換</a:t>
              </a:r>
            </a:p>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DCR等の秘匿接合技術</a:t>
              </a:r>
              <a:r>
                <a:rPr lang="en-US" altLang="ja-JP" sz="1050" dirty="0">
                  <a:solidFill>
                    <a:schemeClr val="tx1"/>
                  </a:solidFill>
                  <a:latin typeface="+mn-ea"/>
                </a:rPr>
                <a:t> (</a:t>
              </a:r>
              <a:r>
                <a:rPr lang="ja-JP" altLang="ja-JP" sz="1050" dirty="0">
                  <a:solidFill>
                    <a:schemeClr val="tx1"/>
                  </a:solidFill>
                  <a:latin typeface="+mn-ea"/>
                </a:rPr>
                <a:t>O3</a:t>
              </a:r>
              <a:r>
                <a:rPr lang="en-US" altLang="ja-JP" sz="1050" dirty="0">
                  <a:solidFill>
                    <a:schemeClr val="tx1"/>
                  </a:solidFill>
                  <a:latin typeface="+mn-ea"/>
                </a:rPr>
                <a:t>) </a:t>
              </a:r>
              <a:r>
                <a:rPr lang="ja-JP" altLang="ja-JP" sz="1050" dirty="0">
                  <a:solidFill>
                    <a:schemeClr val="tx1"/>
                  </a:solidFill>
                  <a:latin typeface="+mn-ea"/>
                </a:rPr>
                <a:t>で</a:t>
              </a:r>
              <a:br>
                <a:rPr lang="en-US" altLang="ja-JP" sz="1050" dirty="0">
                  <a:solidFill>
                    <a:schemeClr val="tx1"/>
                  </a:solidFill>
                  <a:latin typeface="+mn-ea"/>
                </a:rPr>
              </a:br>
              <a:r>
                <a:rPr lang="ja-JP" altLang="ja-JP" sz="1050" dirty="0">
                  <a:solidFill>
                    <a:schemeClr val="tx1"/>
                  </a:solidFill>
                  <a:latin typeface="+mn-ea"/>
                </a:rPr>
                <a:t>小売データをハッキングしつつ、自社は</a:t>
              </a:r>
              <a:br>
                <a:rPr lang="en-US" altLang="ja-JP" sz="1050" dirty="0">
                  <a:solidFill>
                    <a:schemeClr val="tx1"/>
                  </a:solidFill>
                  <a:latin typeface="+mn-ea"/>
                </a:rPr>
              </a:br>
              <a:r>
                <a:rPr lang="ja-JP" altLang="ja-JP" sz="1050" dirty="0">
                  <a:solidFill>
                    <a:schemeClr val="tx1"/>
                  </a:solidFill>
                  <a:latin typeface="+mn-ea"/>
                </a:rPr>
                <a:t>「歯科医院連携アプリ」や</a:t>
              </a:r>
              <a:br>
                <a:rPr lang="en-US" altLang="ja-JP" sz="1050" dirty="0">
                  <a:solidFill>
                    <a:schemeClr val="tx1"/>
                  </a:solidFill>
                  <a:latin typeface="+mn-ea"/>
                </a:rPr>
              </a:br>
              <a:r>
                <a:rPr lang="ja-JP" altLang="ja-JP" sz="1050" dirty="0">
                  <a:solidFill>
                    <a:schemeClr val="tx1"/>
                  </a:solidFill>
                  <a:latin typeface="+mn-ea"/>
                </a:rPr>
                <a:t>「OTCの薬事エビデンス」など、ライオン固有</a:t>
              </a:r>
              <a:br>
                <a:rPr lang="en-US" altLang="ja-JP" sz="1050" dirty="0">
                  <a:solidFill>
                    <a:schemeClr val="tx1"/>
                  </a:solidFill>
                  <a:latin typeface="+mn-ea"/>
                </a:rPr>
              </a:br>
              <a:r>
                <a:rPr lang="ja-JP" altLang="ja-JP" sz="1050" dirty="0">
                  <a:solidFill>
                    <a:schemeClr val="tx1"/>
                  </a:solidFill>
                  <a:latin typeface="+mn-ea"/>
                </a:rPr>
                <a:t>の専門ニッチデータのみを直接蓄積</a:t>
              </a:r>
              <a:endParaRPr lang="en-US" altLang="ja-JP" sz="1050" dirty="0">
                <a:solidFill>
                  <a:schemeClr val="tx1"/>
                </a:solidFill>
                <a:latin typeface="+mn-ea"/>
              </a:endParaRPr>
            </a:p>
            <a:p>
              <a:pPr marL="357188" lvl="1" indent="-176213">
                <a:spcAft>
                  <a:spcPts val="200"/>
                </a:spcAft>
                <a:buClr>
                  <a:srgbClr val="008D2E"/>
                </a:buClr>
                <a:buFont typeface="メイリオ" panose="020B0604030504040204" pitchFamily="50" charset="-128"/>
                <a:buChar char="▶"/>
                <a:tabLst>
                  <a:tab pos="357188" algn="l"/>
                </a:tabLst>
              </a:pPr>
              <a:r>
                <a:rPr lang="ja-JP" altLang="ja-JP" sz="1050" dirty="0">
                  <a:solidFill>
                    <a:schemeClr val="tx1"/>
                  </a:solidFill>
                  <a:latin typeface="+mn-ea"/>
                </a:rPr>
                <a:t>この「小売連携×専門医」の</a:t>
              </a:r>
              <a:br>
                <a:rPr lang="en-US" altLang="ja-JP" sz="1050" dirty="0">
                  <a:solidFill>
                    <a:schemeClr val="tx1"/>
                  </a:solidFill>
                  <a:latin typeface="+mn-ea"/>
                </a:rPr>
              </a:br>
              <a:r>
                <a:rPr lang="ja-JP" altLang="ja-JP" sz="1050" dirty="0">
                  <a:solidFill>
                    <a:schemeClr val="tx1"/>
                  </a:solidFill>
                  <a:latin typeface="+mn-ea"/>
                </a:rPr>
                <a:t>二階建て共生モデルを構築する</a:t>
              </a:r>
            </a:p>
            <a:p>
              <a:pPr marL="171450" indent="-171450" algn="ctr">
                <a:spcAft>
                  <a:spcPts val="200"/>
                </a:spcAft>
                <a:buClr>
                  <a:srgbClr val="008D2E"/>
                </a:buClr>
                <a:buFont typeface="Arial" panose="020B0604020202020204" pitchFamily="34" charset="0"/>
                <a:buChar char="•"/>
              </a:pPr>
              <a:endParaRPr kumimoji="1" lang="ja-JP" altLang="en-US" sz="1050" dirty="0">
                <a:solidFill>
                  <a:schemeClr val="tx1"/>
                </a:solidFill>
                <a:latin typeface="+mn-ea"/>
              </a:endParaRPr>
            </a:p>
          </p:txBody>
        </p:sp>
        <p:sp>
          <p:nvSpPr>
            <p:cNvPr id="103" name="正方形/長方形 102">
              <a:extLst>
                <a:ext uri="{FF2B5EF4-FFF2-40B4-BE49-F238E27FC236}">
                  <a16:creationId xmlns:a16="http://schemas.microsoft.com/office/drawing/2014/main" id="{A529DD17-9464-542F-93DD-2175F3F74008}"/>
                </a:ext>
              </a:extLst>
            </p:cNvPr>
            <p:cNvSpPr/>
            <p:nvPr/>
          </p:nvSpPr>
          <p:spPr>
            <a:xfrm>
              <a:off x="6834626" y="3972733"/>
              <a:ext cx="2477935"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営業の役割を「値引き</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条件交渉」</a:t>
              </a:r>
              <a:br>
                <a:rPr lang="en-US" altLang="ja-JP" sz="1050" dirty="0">
                  <a:solidFill>
                    <a:schemeClr val="tx1"/>
                  </a:solidFill>
                  <a:latin typeface="+mn-ea"/>
                </a:rPr>
              </a:br>
              <a:r>
                <a:rPr lang="ja-JP" altLang="ja-JP" sz="1050" dirty="0">
                  <a:solidFill>
                    <a:schemeClr val="tx1"/>
                  </a:solidFill>
                  <a:latin typeface="+mn-ea"/>
                </a:rPr>
                <a:t>から、バイヤーの社内政治を生き残ら</a:t>
              </a:r>
              <a:br>
                <a:rPr lang="en-US" altLang="ja-JP" sz="1050" dirty="0">
                  <a:solidFill>
                    <a:schemeClr val="tx1"/>
                  </a:solidFill>
                  <a:latin typeface="+mn-ea"/>
                </a:rPr>
              </a:br>
              <a:r>
                <a:rPr lang="ja-JP" altLang="ja-JP" sz="1050" dirty="0">
                  <a:solidFill>
                    <a:schemeClr val="tx1"/>
                  </a:solidFill>
                  <a:latin typeface="+mn-ea"/>
                </a:rPr>
                <a:t>せるための「ソリューション提案」へ転換</a:t>
              </a:r>
            </a:p>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臨床</a:t>
              </a:r>
              <a:r>
                <a:rPr lang="ja-JP" altLang="en-US" sz="1050" dirty="0">
                  <a:solidFill>
                    <a:schemeClr val="tx1"/>
                  </a:solidFill>
                  <a:latin typeface="+mn-ea"/>
                </a:rPr>
                <a:t>･</a:t>
              </a:r>
              <a:r>
                <a:rPr lang="ja-JP" altLang="ja-JP" sz="1050" dirty="0">
                  <a:solidFill>
                    <a:schemeClr val="tx1"/>
                  </a:solidFill>
                  <a:latin typeface="+mn-ea"/>
                </a:rPr>
                <a:t>お悩み解決データをGCP</a:t>
              </a:r>
              <a:r>
                <a:rPr lang="ja-JP" altLang="en-US" sz="1050" dirty="0">
                  <a:solidFill>
                    <a:schemeClr val="tx1"/>
                  </a:solidFill>
                  <a:latin typeface="+mn-ea"/>
                </a:rPr>
                <a:t>に</a:t>
              </a:r>
              <a:r>
                <a:rPr lang="ja-JP" altLang="ja-JP" sz="1050" dirty="0">
                  <a:solidFill>
                    <a:schemeClr val="tx1"/>
                  </a:solidFill>
                  <a:latin typeface="+mn-ea"/>
                </a:rPr>
                <a:t>統合</a:t>
              </a:r>
              <a:endParaRPr lang="en-US" altLang="ja-JP" sz="1050" dirty="0">
                <a:solidFill>
                  <a:schemeClr val="tx1"/>
                </a:solidFill>
                <a:latin typeface="+mn-ea"/>
              </a:endParaRPr>
            </a:p>
            <a:p>
              <a:pPr marL="357188" lvl="1" indent="-179388">
                <a:spcAft>
                  <a:spcPts val="200"/>
                </a:spcAft>
                <a:buClr>
                  <a:srgbClr val="008D2E"/>
                </a:buClr>
                <a:buFont typeface="メイリオ" panose="020B0604030504040204" pitchFamily="50" charset="-128"/>
                <a:buChar char="▶"/>
              </a:pPr>
              <a:r>
                <a:rPr lang="ja-JP" altLang="ja-JP" sz="1050" dirty="0">
                  <a:solidFill>
                    <a:schemeClr val="tx1"/>
                  </a:solidFill>
                  <a:latin typeface="+mn-ea"/>
                </a:rPr>
                <a:t>売場構築による「チェーン全体の</a:t>
              </a:r>
              <a:br>
                <a:rPr lang="en-US" altLang="ja-JP" sz="1050" dirty="0">
                  <a:solidFill>
                    <a:schemeClr val="tx1"/>
                  </a:solidFill>
                  <a:latin typeface="+mn-ea"/>
                </a:rPr>
              </a:br>
              <a:r>
                <a:rPr lang="ja-JP" altLang="ja-JP" sz="1050" dirty="0">
                  <a:solidFill>
                    <a:schemeClr val="tx1"/>
                  </a:solidFill>
                  <a:latin typeface="+mn-ea"/>
                </a:rPr>
                <a:t>カテゴリLTV</a:t>
              </a:r>
              <a:r>
                <a:rPr lang="en-US" altLang="ja-JP" sz="1050" dirty="0">
                  <a:solidFill>
                    <a:schemeClr val="tx1"/>
                  </a:solidFill>
                  <a:latin typeface="+mn-ea"/>
                </a:rPr>
                <a:t> (</a:t>
              </a:r>
              <a:r>
                <a:rPr lang="ja-JP" altLang="ja-JP" sz="1050" dirty="0">
                  <a:solidFill>
                    <a:schemeClr val="tx1"/>
                  </a:solidFill>
                  <a:latin typeface="+mn-ea"/>
                </a:rPr>
                <a:t>客単価×継続年数</a:t>
              </a:r>
              <a:r>
                <a:rPr lang="en-US" altLang="ja-JP" sz="1050" dirty="0">
                  <a:solidFill>
                    <a:schemeClr val="tx1"/>
                  </a:solidFill>
                  <a:latin typeface="+mn-ea"/>
                </a:rPr>
                <a:t>) </a:t>
              </a:r>
              <a:r>
                <a:rPr lang="ja-JP" altLang="ja-JP" sz="1050" dirty="0">
                  <a:solidFill>
                    <a:schemeClr val="tx1"/>
                  </a:solidFill>
                  <a:latin typeface="+mn-ea"/>
                </a:rPr>
                <a:t>の向上予測」や「炭素効率」を瞬時に自動変換し、バイヤーが小売本部</a:t>
              </a:r>
              <a:br>
                <a:rPr lang="en-US" altLang="ja-JP" sz="1050" dirty="0">
                  <a:solidFill>
                    <a:schemeClr val="tx1"/>
                  </a:solidFill>
                  <a:latin typeface="+mn-ea"/>
                </a:rPr>
              </a:br>
              <a:r>
                <a:rPr lang="ja-JP" altLang="ja-JP" sz="1050" dirty="0">
                  <a:solidFill>
                    <a:schemeClr val="tx1"/>
                  </a:solidFill>
                  <a:latin typeface="+mn-ea"/>
                </a:rPr>
                <a:t>システムを論破し自らの身を守る</a:t>
              </a:r>
              <a:br>
                <a:rPr lang="en-US" altLang="ja-JP" sz="1050" dirty="0">
                  <a:solidFill>
                    <a:schemeClr val="tx1"/>
                  </a:solidFill>
                  <a:latin typeface="+mn-ea"/>
                </a:rPr>
              </a:br>
              <a:r>
                <a:rPr lang="ja-JP" altLang="ja-JP" sz="1050" dirty="0">
                  <a:solidFill>
                    <a:schemeClr val="tx1"/>
                  </a:solidFill>
                  <a:latin typeface="+mn-ea"/>
                </a:rPr>
                <a:t>ための完璧な実証データとして</a:t>
              </a:r>
              <a:br>
                <a:rPr lang="en-US" altLang="ja-JP" sz="1050" dirty="0">
                  <a:solidFill>
                    <a:schemeClr val="tx1"/>
                  </a:solidFill>
                  <a:latin typeface="+mn-ea"/>
                </a:rPr>
              </a:br>
              <a:r>
                <a:rPr lang="ja-JP" altLang="ja-JP" sz="1050" dirty="0">
                  <a:solidFill>
                    <a:schemeClr val="tx1"/>
                  </a:solidFill>
                  <a:latin typeface="+mn-ea"/>
                </a:rPr>
                <a:t>現場へ供給</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標準化する</a:t>
              </a:r>
            </a:p>
            <a:p>
              <a:pPr marL="171450" indent="-171450" algn="ctr">
                <a:spcAft>
                  <a:spcPts val="200"/>
                </a:spcAft>
                <a:buClr>
                  <a:srgbClr val="2E7D32"/>
                </a:buClr>
                <a:buFont typeface="Arial" panose="020B0604020202020204" pitchFamily="34" charset="0"/>
                <a:buChar char="•"/>
              </a:pPr>
              <a:endParaRPr kumimoji="1" lang="ja-JP" altLang="en-US" sz="1050" dirty="0">
                <a:solidFill>
                  <a:schemeClr val="tx1"/>
                </a:solidFill>
                <a:latin typeface="+mn-ea"/>
              </a:endParaRPr>
            </a:p>
          </p:txBody>
        </p:sp>
        <p:sp>
          <p:nvSpPr>
            <p:cNvPr id="104" name="正方形/長方形 103">
              <a:extLst>
                <a:ext uri="{FF2B5EF4-FFF2-40B4-BE49-F238E27FC236}">
                  <a16:creationId xmlns:a16="http://schemas.microsoft.com/office/drawing/2014/main" id="{2E199674-1175-538E-2161-FBD170370BFB}"/>
                </a:ext>
              </a:extLst>
            </p:cNvPr>
            <p:cNvSpPr/>
            <p:nvPr/>
          </p:nvSpPr>
          <p:spPr>
            <a:xfrm>
              <a:off x="9379103" y="3972733"/>
              <a:ext cx="2477935"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資料作成、実績集計等のすべての</a:t>
              </a:r>
              <a:br>
                <a:rPr lang="en-US" altLang="ja-JP" sz="1050" dirty="0">
                  <a:solidFill>
                    <a:schemeClr val="tx1"/>
                  </a:solidFill>
                  <a:latin typeface="+mn-ea"/>
                </a:rPr>
              </a:br>
              <a:r>
                <a:rPr lang="ja-JP" altLang="ja-JP" sz="1050" dirty="0">
                  <a:solidFill>
                    <a:schemeClr val="tx1"/>
                  </a:solidFill>
                  <a:latin typeface="+mn-ea"/>
                </a:rPr>
                <a:t>内向き業務</a:t>
              </a:r>
              <a:r>
                <a:rPr lang="en-US" altLang="ja-JP" sz="1050" dirty="0">
                  <a:solidFill>
                    <a:schemeClr val="tx1"/>
                  </a:solidFill>
                  <a:latin typeface="+mn-ea"/>
                </a:rPr>
                <a:t> (</a:t>
              </a:r>
              <a:r>
                <a:rPr lang="ja-JP" altLang="ja-JP" sz="1050" dirty="0">
                  <a:solidFill>
                    <a:schemeClr val="tx1"/>
                  </a:solidFill>
                  <a:latin typeface="+mn-ea"/>
                </a:rPr>
                <a:t>Input</a:t>
              </a:r>
              <a:r>
                <a:rPr lang="en-US" altLang="ja-JP" sz="1050" dirty="0">
                  <a:solidFill>
                    <a:schemeClr val="tx1"/>
                  </a:solidFill>
                  <a:latin typeface="+mn-ea"/>
                </a:rPr>
                <a:t>) </a:t>
              </a:r>
              <a:r>
                <a:rPr lang="ja-JP" altLang="ja-JP" sz="1050" dirty="0">
                  <a:solidFill>
                    <a:schemeClr val="tx1"/>
                  </a:solidFill>
                  <a:latin typeface="+mn-ea"/>
                </a:rPr>
                <a:t>を生成AI</a:t>
              </a:r>
              <a:r>
                <a:rPr lang="en-US" altLang="ja-JP" sz="1050" dirty="0">
                  <a:solidFill>
                    <a:schemeClr val="tx1"/>
                  </a:solidFill>
                  <a:latin typeface="+mn-ea"/>
                </a:rPr>
                <a:t> (</a:t>
              </a:r>
              <a:r>
                <a:rPr lang="ja-JP" altLang="ja-JP" sz="1050" dirty="0">
                  <a:solidFill>
                    <a:schemeClr val="tx1"/>
                  </a:solidFill>
                  <a:latin typeface="+mn-ea"/>
                </a:rPr>
                <a:t>Libra等</a:t>
              </a:r>
              <a:r>
                <a:rPr lang="en-US" altLang="ja-JP" sz="1050" dirty="0">
                  <a:solidFill>
                    <a:schemeClr val="tx1"/>
                  </a:solidFill>
                  <a:latin typeface="+mn-ea"/>
                </a:rPr>
                <a:t>) </a:t>
              </a:r>
              <a:r>
                <a:rPr lang="ja-JP" altLang="ja-JP" sz="1050" dirty="0">
                  <a:solidFill>
                    <a:schemeClr val="tx1"/>
                  </a:solidFill>
                  <a:latin typeface="+mn-ea"/>
                </a:rPr>
                <a:t>やSalesforce TPMへ代替し、作業時間を構造的に「ゼロ」化</a:t>
              </a:r>
            </a:p>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営業担当1人が対峙する属人対応を解体</a:t>
              </a:r>
              <a:r>
                <a:rPr lang="ja-JP" altLang="en-US" sz="1050" dirty="0">
                  <a:solidFill>
                    <a:schemeClr val="tx1"/>
                  </a:solidFill>
                  <a:latin typeface="+mn-ea"/>
                </a:rPr>
                <a:t>し、</a:t>
              </a:r>
              <a:r>
                <a:rPr lang="ja-JP" altLang="ja-JP" sz="1050" dirty="0">
                  <a:solidFill>
                    <a:schemeClr val="tx1"/>
                  </a:solidFill>
                  <a:latin typeface="+mn-ea"/>
                </a:rPr>
                <a:t>営業をハブに、自社の物流</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環境</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R&amp;Dの専門家</a:t>
              </a:r>
              <a:r>
                <a:rPr lang="ja-JP" altLang="en-US" sz="1050" dirty="0">
                  <a:solidFill>
                    <a:schemeClr val="tx1"/>
                  </a:solidFill>
                  <a:latin typeface="+mn-ea"/>
                </a:rPr>
                <a:t>をタッグに</a:t>
              </a:r>
              <a:r>
                <a:rPr lang="ja-JP" altLang="ja-JP" sz="1050" dirty="0">
                  <a:solidFill>
                    <a:schemeClr val="tx1"/>
                  </a:solidFill>
                  <a:latin typeface="+mn-ea"/>
                </a:rPr>
                <a:t>小売側の「環境</a:t>
              </a:r>
              <a:r>
                <a:rPr lang="ja-JP" altLang="en-US" sz="1050" dirty="0">
                  <a:solidFill>
                    <a:schemeClr val="tx1"/>
                  </a:solidFill>
                  <a:latin typeface="+mn-ea"/>
                </a:rPr>
                <a:t>･</a:t>
              </a:r>
              <a:r>
                <a:rPr lang="ja-JP" altLang="ja-JP" sz="1050" dirty="0">
                  <a:solidFill>
                    <a:schemeClr val="tx1"/>
                  </a:solidFill>
                  <a:latin typeface="+mn-ea"/>
                </a:rPr>
                <a:t>物流」を直結させる「組織対組織」への移行</a:t>
              </a:r>
              <a:endParaRPr lang="en-US" altLang="ja-JP" sz="1050" dirty="0">
                <a:solidFill>
                  <a:schemeClr val="tx1"/>
                </a:solidFill>
                <a:latin typeface="+mn-ea"/>
              </a:endParaRPr>
            </a:p>
            <a:p>
              <a:pPr marL="357188" lvl="1" indent="-179388">
                <a:spcAft>
                  <a:spcPts val="200"/>
                </a:spcAft>
                <a:buClr>
                  <a:srgbClr val="008D2E"/>
                </a:buClr>
                <a:buFont typeface="メイリオ" panose="020B0604030504040204" pitchFamily="50" charset="-128"/>
                <a:buChar char="▶"/>
              </a:pPr>
              <a:r>
                <a:rPr lang="ja-JP" altLang="ja-JP" sz="1050" dirty="0">
                  <a:solidFill>
                    <a:schemeClr val="tx1"/>
                  </a:solidFill>
                  <a:latin typeface="+mn-ea"/>
                </a:rPr>
                <a:t>実店舗が強制的に担わされる</a:t>
              </a:r>
              <a:br>
                <a:rPr lang="en-US" altLang="ja-JP" sz="1050" dirty="0">
                  <a:solidFill>
                    <a:schemeClr val="tx1"/>
                  </a:solidFill>
                  <a:latin typeface="+mn-ea"/>
                </a:rPr>
              </a:br>
              <a:r>
                <a:rPr lang="ja-JP" altLang="ja-JP" sz="1050" dirty="0">
                  <a:solidFill>
                    <a:schemeClr val="tx1"/>
                  </a:solidFill>
                  <a:latin typeface="+mn-ea"/>
                </a:rPr>
                <a:t>「店頭での資源回収オペレーション</a:t>
              </a:r>
              <a:br>
                <a:rPr lang="en-US" altLang="ja-JP" sz="1050" dirty="0">
                  <a:solidFill>
                    <a:schemeClr val="tx1"/>
                  </a:solidFill>
                  <a:latin typeface="+mn-ea"/>
                </a:rPr>
              </a:br>
              <a:r>
                <a:rPr lang="ja-JP" altLang="ja-JP" sz="1050" dirty="0">
                  <a:solidFill>
                    <a:schemeClr val="tx1"/>
                  </a:solidFill>
                  <a:latin typeface="+mn-ea"/>
                </a:rPr>
                <a:t>の重圧」を自社の組織力で解決する、</a:t>
              </a:r>
              <a:br>
                <a:rPr lang="en-US" altLang="ja-JP" sz="1050" dirty="0">
                  <a:solidFill>
                    <a:schemeClr val="tx1"/>
                  </a:solidFill>
                  <a:latin typeface="+mn-ea"/>
                </a:rPr>
              </a:br>
              <a:r>
                <a:rPr lang="ja-JP" altLang="ja-JP" sz="1050" dirty="0">
                  <a:solidFill>
                    <a:schemeClr val="tx1"/>
                  </a:solidFill>
                  <a:latin typeface="+mn-ea"/>
                </a:rPr>
                <a:t>代えがたいパートナーへと進化する</a:t>
              </a:r>
            </a:p>
          </p:txBody>
        </p:sp>
        <p:cxnSp>
          <p:nvCxnSpPr>
            <p:cNvPr id="105" name="直線コネクタ 104">
              <a:extLst>
                <a:ext uri="{FF2B5EF4-FFF2-40B4-BE49-F238E27FC236}">
                  <a16:creationId xmlns:a16="http://schemas.microsoft.com/office/drawing/2014/main" id="{552A0009-4FD8-B8E8-F5BE-FF7159E645AC}"/>
                </a:ext>
              </a:extLst>
            </p:cNvPr>
            <p:cNvCxnSpPr/>
            <p:nvPr/>
          </p:nvCxnSpPr>
          <p:spPr>
            <a:xfrm>
              <a:off x="1745673" y="3884297"/>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338D269F-03B6-F8AC-AC1D-C84D6D3D15CC}"/>
                </a:ext>
              </a:extLst>
            </p:cNvPr>
            <p:cNvCxnSpPr/>
            <p:nvPr/>
          </p:nvCxnSpPr>
          <p:spPr>
            <a:xfrm>
              <a:off x="4290149" y="3884304"/>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直線コネクタ 106">
              <a:extLst>
                <a:ext uri="{FF2B5EF4-FFF2-40B4-BE49-F238E27FC236}">
                  <a16:creationId xmlns:a16="http://schemas.microsoft.com/office/drawing/2014/main" id="{FE3162F6-7F88-0FA0-6D1A-94FB223042E7}"/>
                </a:ext>
              </a:extLst>
            </p:cNvPr>
            <p:cNvCxnSpPr/>
            <p:nvPr/>
          </p:nvCxnSpPr>
          <p:spPr>
            <a:xfrm>
              <a:off x="6834626" y="3884304"/>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a16:creationId xmlns:a16="http://schemas.microsoft.com/office/drawing/2014/main" id="{10D66114-D809-4912-E9BA-6C965637890A}"/>
                </a:ext>
              </a:extLst>
            </p:cNvPr>
            <p:cNvCxnSpPr/>
            <p:nvPr/>
          </p:nvCxnSpPr>
          <p:spPr>
            <a:xfrm>
              <a:off x="9379103" y="3884302"/>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a16:creationId xmlns:a16="http://schemas.microsoft.com/office/drawing/2014/main" id="{D8910321-E825-DBE0-1DD7-CE2351CEDF47}"/>
                </a:ext>
              </a:extLst>
            </p:cNvPr>
            <p:cNvCxnSpPr/>
            <p:nvPr/>
          </p:nvCxnSpPr>
          <p:spPr>
            <a:xfrm>
              <a:off x="1652808" y="3972733"/>
              <a:ext cx="0" cy="2335992"/>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4862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9D4A1-D0CA-2C3A-CAB1-E831DDB7FE0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21F4DD9-9F1C-95E5-9FA9-37305C2E955B}"/>
              </a:ext>
            </a:extLst>
          </p:cNvPr>
          <p:cNvSpPr>
            <a:spLocks noGrp="1"/>
          </p:cNvSpPr>
          <p:nvPr>
            <p:ph type="title"/>
          </p:nvPr>
        </p:nvSpPr>
        <p:spPr>
          <a:xfrm>
            <a:off x="334963" y="1"/>
            <a:ext cx="11522075" cy="914400"/>
          </a:xfrm>
        </p:spPr>
        <p:txBody>
          <a:bodyPr/>
          <a:lstStyle/>
          <a:p>
            <a:r>
              <a:rPr lang="en-US" altLang="ja-JP" dirty="0">
                <a:latin typeface="メイリオ" panose="020B0604030504040204" pitchFamily="50" charset="-128"/>
                <a:ea typeface="メイリオ" panose="020B0604030504040204" pitchFamily="50" charset="-128"/>
              </a:rPr>
              <a:t>How</a:t>
            </a:r>
            <a:r>
              <a:rPr lang="ja-JP" altLang="en-US" dirty="0">
                <a:latin typeface="メイリオ" panose="020B0604030504040204" pitchFamily="50" charset="-128"/>
                <a:ea typeface="メイリオ" panose="020B0604030504040204" pitchFamily="50" charset="-128"/>
              </a:rPr>
              <a:t>の全体構造</a:t>
            </a:r>
            <a:br>
              <a:rPr lang="en-US" altLang="ja-JP" dirty="0">
                <a:latin typeface="メイリオ" panose="020B0604030504040204" pitchFamily="50" charset="-128"/>
                <a:ea typeface="メイリオ" panose="020B0604030504040204" pitchFamily="50" charset="-128"/>
              </a:rPr>
            </a:br>
            <a:r>
              <a:rPr lang="en-US" altLang="ja-JP" dirty="0">
                <a:latin typeface="メイリオ" panose="020B0604030504040204" pitchFamily="50" charset="-128"/>
                <a:ea typeface="メイリオ" panose="020B0604030504040204" pitchFamily="50" charset="-128"/>
              </a:rPr>
              <a:t>5</a:t>
            </a:r>
            <a:r>
              <a:rPr lang="ja-JP" altLang="en-US" dirty="0">
                <a:latin typeface="メイリオ" panose="020B0604030504040204" pitchFamily="50" charset="-128"/>
                <a:ea typeface="メイリオ" panose="020B0604030504040204" pitchFamily="50" charset="-128"/>
              </a:rPr>
              <a:t>つの経営テーマへの</a:t>
            </a:r>
            <a:r>
              <a:rPr lang="en-US" altLang="ja-JP" dirty="0">
                <a:latin typeface="メイリオ" panose="020B0604030504040204" pitchFamily="50" charset="-128"/>
                <a:ea typeface="メイリオ" panose="020B0604030504040204" pitchFamily="50" charset="-128"/>
              </a:rPr>
              <a:t>MECE</a:t>
            </a:r>
            <a:r>
              <a:rPr lang="ja-JP" altLang="en-US" dirty="0">
                <a:latin typeface="メイリオ" panose="020B0604030504040204" pitchFamily="50" charset="-128"/>
                <a:ea typeface="メイリオ" panose="020B0604030504040204" pitchFamily="50" charset="-128"/>
              </a:rPr>
              <a:t>接続</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a16:creationId xmlns:a16="http://schemas.microsoft.com/office/drawing/2014/main" id="{136025C7-5857-2254-D57B-C3EE2B7B9C4F}"/>
              </a:ext>
            </a:extLst>
          </p:cNvPr>
          <p:cNvSpPr txBox="1">
            <a:spLocks/>
          </p:cNvSpPr>
          <p:nvPr/>
        </p:nvSpPr>
        <p:spPr>
          <a:xfrm>
            <a:off x="223044" y="914399"/>
            <a:ext cx="11745912" cy="569675"/>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1800" dirty="0">
                <a:latin typeface="+mn-ea"/>
                <a:ea typeface="+mn-ea"/>
              </a:rPr>
              <a:t>ここまでの「4テーマ・3真因」は現場が設計する切り口。ここからは同じ8施策を、経営が意思決定する5つの問いに漏れなく・重複なく翻訳し直す</a:t>
            </a:r>
            <a:endParaRPr lang="ja-JP" altLang="en-US" sz="1800" dirty="0">
              <a:latin typeface="+mn-ea"/>
              <a:ea typeface="+mn-ea"/>
            </a:endParaRPr>
          </a:p>
        </p:txBody>
      </p:sp>
      <p:sp>
        <p:nvSpPr>
          <p:cNvPr id="5" name="正方形/長方形 4">
            <a:extLst>
              <a:ext uri="{FF2B5EF4-FFF2-40B4-BE49-F238E27FC236}">
                <a16:creationId xmlns:a16="http://schemas.microsoft.com/office/drawing/2014/main" id="{4239289E-709C-FB86-9AB7-D4FEE8119A10}"/>
              </a:ext>
            </a:extLst>
          </p:cNvPr>
          <p:cNvSpPr/>
          <p:nvPr/>
        </p:nvSpPr>
        <p:spPr>
          <a:xfrm>
            <a:off x="334961" y="1705591"/>
            <a:ext cx="1273457" cy="608389"/>
          </a:xfrm>
          <a:prstGeom prst="rect">
            <a:avLst/>
          </a:prstGeom>
          <a:solidFill>
            <a:schemeClr val="accent5"/>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経営テーマ</a:t>
            </a:r>
            <a:br>
              <a:rPr lang="en-US" altLang="ja-JP" sz="1200" dirty="0">
                <a:solidFill>
                  <a:schemeClr val="bg1"/>
                </a:solidFill>
                <a:latin typeface="+mn-ea"/>
              </a:rPr>
            </a:br>
            <a:r>
              <a:rPr lang="en-US" altLang="ja-JP" sz="1200" dirty="0">
                <a:solidFill>
                  <a:schemeClr val="bg1"/>
                </a:solidFill>
                <a:latin typeface="+mn-ea"/>
              </a:rPr>
              <a:t>(</a:t>
            </a:r>
            <a:r>
              <a:rPr lang="ja-JP" altLang="en-US" sz="1200" dirty="0">
                <a:solidFill>
                  <a:schemeClr val="bg1"/>
                </a:solidFill>
                <a:latin typeface="+mn-ea"/>
              </a:rPr>
              <a:t>問い</a:t>
            </a:r>
            <a:r>
              <a:rPr lang="en-US" altLang="ja-JP" sz="1200" dirty="0">
                <a:solidFill>
                  <a:schemeClr val="bg1"/>
                </a:solidFill>
                <a:latin typeface="+mn-ea"/>
              </a:rPr>
              <a:t>)</a:t>
            </a:r>
            <a:endParaRPr lang="ja-JP" altLang="en-US" sz="1200" dirty="0">
              <a:solidFill>
                <a:schemeClr val="bg1"/>
              </a:solidFill>
              <a:latin typeface="+mn-ea"/>
            </a:endParaRPr>
          </a:p>
        </p:txBody>
      </p:sp>
      <p:pic>
        <p:nvPicPr>
          <p:cNvPr id="82" name="グラフィックス 81" descr="No の記号 単色塗りつぶし">
            <a:extLst>
              <a:ext uri="{FF2B5EF4-FFF2-40B4-BE49-F238E27FC236}">
                <a16:creationId xmlns:a16="http://schemas.microsoft.com/office/drawing/2014/main" id="{B8AE6F2C-37C7-F8A9-F9F1-41C4AF3214E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589597" y="1642535"/>
            <a:ext cx="324568" cy="324568"/>
          </a:xfrm>
          <a:prstGeom prst="rect">
            <a:avLst/>
          </a:prstGeom>
        </p:spPr>
      </p:pic>
      <p:sp>
        <p:nvSpPr>
          <p:cNvPr id="8" name="正方形/長方形 7">
            <a:extLst>
              <a:ext uri="{FF2B5EF4-FFF2-40B4-BE49-F238E27FC236}">
                <a16:creationId xmlns:a16="http://schemas.microsoft.com/office/drawing/2014/main" id="{8F17E7D9-E9EC-58AB-44CF-E01A49FCFB89}"/>
              </a:ext>
            </a:extLst>
          </p:cNvPr>
          <p:cNvSpPr/>
          <p:nvPr/>
        </p:nvSpPr>
        <p:spPr>
          <a:xfrm>
            <a:off x="1724624" y="1705592"/>
            <a:ext cx="1964002" cy="608389"/>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indent="273050" algn="ctr"/>
            <a:r>
              <a:rPr lang="ja-JP" altLang="en-US" sz="1200" dirty="0">
                <a:solidFill>
                  <a:schemeClr val="accent5"/>
                </a:solidFill>
                <a:latin typeface="+mn-ea"/>
              </a:rPr>
              <a:t>市場機会の選択</a:t>
            </a:r>
            <a:endParaRPr lang="en-US" altLang="ja-JP" sz="1200" dirty="0">
              <a:solidFill>
                <a:schemeClr val="accent5"/>
              </a:solidFill>
              <a:latin typeface="+mn-ea"/>
            </a:endParaRPr>
          </a:p>
          <a:p>
            <a:pPr algn="ctr"/>
            <a:r>
              <a:rPr lang="ja-JP" altLang="en-US" sz="1100" dirty="0">
                <a:solidFill>
                  <a:schemeClr val="tx1"/>
                </a:solidFill>
                <a:latin typeface="+mn-ea"/>
              </a:rPr>
              <a:t>どの市場・顧客を重点化するか</a:t>
            </a:r>
            <a:endParaRPr lang="en-US" altLang="ja-JP" sz="1100" dirty="0">
              <a:solidFill>
                <a:schemeClr val="tx1"/>
              </a:solidFill>
              <a:latin typeface="+mn-ea"/>
            </a:endParaRPr>
          </a:p>
        </p:txBody>
      </p:sp>
      <p:sp>
        <p:nvSpPr>
          <p:cNvPr id="12" name="正方形/長方形 11">
            <a:extLst>
              <a:ext uri="{FF2B5EF4-FFF2-40B4-BE49-F238E27FC236}">
                <a16:creationId xmlns:a16="http://schemas.microsoft.com/office/drawing/2014/main" id="{1B409267-A72A-6B81-15AC-E59E57C75962}"/>
              </a:ext>
            </a:extLst>
          </p:cNvPr>
          <p:cNvSpPr/>
          <p:nvPr/>
        </p:nvSpPr>
        <p:spPr>
          <a:xfrm>
            <a:off x="334961" y="2439732"/>
            <a:ext cx="1273456" cy="840722"/>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何を受けるか </a:t>
            </a:r>
            <a:r>
              <a:rPr lang="en-US" altLang="ja-JP" sz="1200" dirty="0">
                <a:solidFill>
                  <a:schemeClr val="bg1"/>
                </a:solidFill>
                <a:latin typeface="+mn-ea"/>
              </a:rPr>
              <a:t>(GAP</a:t>
            </a:r>
            <a:r>
              <a:rPr lang="ja-JP" altLang="en-US" sz="1200" dirty="0">
                <a:solidFill>
                  <a:schemeClr val="bg1"/>
                </a:solidFill>
                <a:latin typeface="+mn-ea"/>
              </a:rPr>
              <a:t>・真因・</a:t>
            </a:r>
            <a:br>
              <a:rPr lang="en-US" altLang="ja-JP" sz="1200" dirty="0">
                <a:solidFill>
                  <a:schemeClr val="bg1"/>
                </a:solidFill>
                <a:latin typeface="+mn-ea"/>
              </a:rPr>
            </a:br>
            <a:r>
              <a:rPr lang="ja-JP" altLang="en-US" sz="1200" dirty="0">
                <a:solidFill>
                  <a:schemeClr val="bg1"/>
                </a:solidFill>
                <a:latin typeface="+mn-ea"/>
              </a:rPr>
              <a:t>公開データ</a:t>
            </a:r>
            <a:r>
              <a:rPr lang="en-US" altLang="ja-JP" sz="1200" dirty="0">
                <a:solidFill>
                  <a:schemeClr val="bg1"/>
                </a:solidFill>
                <a:latin typeface="+mn-ea"/>
              </a:rPr>
              <a:t>)</a:t>
            </a:r>
            <a:endParaRPr lang="ja-JP" altLang="en-US" sz="1200" dirty="0">
              <a:solidFill>
                <a:schemeClr val="bg1"/>
              </a:solidFill>
              <a:latin typeface="+mn-ea"/>
            </a:endParaRPr>
          </a:p>
        </p:txBody>
      </p:sp>
      <p:sp>
        <p:nvSpPr>
          <p:cNvPr id="20" name="正方形/長方形 19">
            <a:extLst>
              <a:ext uri="{FF2B5EF4-FFF2-40B4-BE49-F238E27FC236}">
                <a16:creationId xmlns:a16="http://schemas.microsoft.com/office/drawing/2014/main" id="{697A882E-E589-8F03-ACA1-EABEB15DF90D}"/>
              </a:ext>
            </a:extLst>
          </p:cNvPr>
          <p:cNvSpPr/>
          <p:nvPr/>
        </p:nvSpPr>
        <p:spPr>
          <a:xfrm>
            <a:off x="1724624" y="4458578"/>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100" dirty="0">
                <a:solidFill>
                  <a:srgbClr val="008D2E"/>
                </a:solidFill>
                <a:latin typeface="+mn-ea"/>
              </a:rPr>
              <a:t>解決</a:t>
            </a:r>
            <a:r>
              <a:rPr lang="en-US" altLang="ja-JP" sz="1100" dirty="0">
                <a:solidFill>
                  <a:srgbClr val="008D2E"/>
                </a:solidFill>
                <a:latin typeface="+mn-ea"/>
              </a:rPr>
              <a:t>1</a:t>
            </a:r>
          </a:p>
        </p:txBody>
      </p:sp>
      <p:sp>
        <p:nvSpPr>
          <p:cNvPr id="21" name="正方形/長方形 20">
            <a:extLst>
              <a:ext uri="{FF2B5EF4-FFF2-40B4-BE49-F238E27FC236}">
                <a16:creationId xmlns:a16="http://schemas.microsoft.com/office/drawing/2014/main" id="{7B21A692-34F2-4DDB-C9BB-66D6FE9315B3}"/>
              </a:ext>
            </a:extLst>
          </p:cNvPr>
          <p:cNvSpPr/>
          <p:nvPr/>
        </p:nvSpPr>
        <p:spPr>
          <a:xfrm>
            <a:off x="1724624" y="4917491"/>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A2</a:t>
            </a:r>
          </a:p>
        </p:txBody>
      </p:sp>
      <p:sp>
        <p:nvSpPr>
          <p:cNvPr id="23" name="正方形/長方形 22">
            <a:extLst>
              <a:ext uri="{FF2B5EF4-FFF2-40B4-BE49-F238E27FC236}">
                <a16:creationId xmlns:a16="http://schemas.microsoft.com/office/drawing/2014/main" id="{D07E98FC-150E-EEB2-DA07-DE8F77617F0D}"/>
              </a:ext>
            </a:extLst>
          </p:cNvPr>
          <p:cNvSpPr/>
          <p:nvPr/>
        </p:nvSpPr>
        <p:spPr>
          <a:xfrm>
            <a:off x="2224912" y="4458578"/>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100" dirty="0">
                <a:solidFill>
                  <a:schemeClr val="accent5"/>
                </a:solidFill>
                <a:latin typeface="+mn-ea"/>
              </a:rPr>
              <a:t>使い方の再設計</a:t>
            </a:r>
            <a:endParaRPr lang="ja-JP" altLang="en-US" sz="1100" dirty="0">
              <a:solidFill>
                <a:schemeClr val="tx1"/>
              </a:solidFill>
              <a:latin typeface="+mn-ea"/>
            </a:endParaRPr>
          </a:p>
        </p:txBody>
      </p:sp>
      <p:sp>
        <p:nvSpPr>
          <p:cNvPr id="25" name="正方形/長方形 24">
            <a:extLst>
              <a:ext uri="{FF2B5EF4-FFF2-40B4-BE49-F238E27FC236}">
                <a16:creationId xmlns:a16="http://schemas.microsoft.com/office/drawing/2014/main" id="{62456155-87A9-5444-2128-4ED6BDA1E940}"/>
              </a:ext>
            </a:extLst>
          </p:cNvPr>
          <p:cNvSpPr/>
          <p:nvPr/>
        </p:nvSpPr>
        <p:spPr>
          <a:xfrm>
            <a:off x="2224912" y="4917491"/>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100" dirty="0">
                <a:solidFill>
                  <a:schemeClr val="accent5"/>
                </a:solidFill>
                <a:latin typeface="+mn-ea"/>
              </a:rPr>
              <a:t>学校・自治体ルートの</a:t>
            </a:r>
            <a:br>
              <a:rPr lang="en-US" altLang="ja-JP" sz="1100" dirty="0">
                <a:solidFill>
                  <a:schemeClr val="accent5"/>
                </a:solidFill>
                <a:latin typeface="+mn-ea"/>
              </a:rPr>
            </a:br>
            <a:r>
              <a:rPr lang="ja-JP" altLang="en-US" sz="1100" dirty="0">
                <a:solidFill>
                  <a:schemeClr val="accent5"/>
                </a:solidFill>
                <a:latin typeface="+mn-ea"/>
              </a:rPr>
              <a:t>デジタル化</a:t>
            </a:r>
            <a:endParaRPr lang="ja-JP" altLang="en-US" sz="1100" dirty="0">
              <a:solidFill>
                <a:schemeClr val="tx1"/>
              </a:solidFill>
              <a:latin typeface="+mn-ea"/>
            </a:endParaRPr>
          </a:p>
        </p:txBody>
      </p:sp>
      <p:sp>
        <p:nvSpPr>
          <p:cNvPr id="41" name="Text 20">
            <a:extLst>
              <a:ext uri="{FF2B5EF4-FFF2-40B4-BE49-F238E27FC236}">
                <a16:creationId xmlns:a16="http://schemas.microsoft.com/office/drawing/2014/main" id="{C3245934-2909-C8E0-A57D-979E2BE5479C}"/>
              </a:ext>
            </a:extLst>
          </p:cNvPr>
          <p:cNvSpPr>
            <a:spLocks noChangeAspect="1"/>
          </p:cNvSpPr>
          <p:nvPr/>
        </p:nvSpPr>
        <p:spPr>
          <a:xfrm>
            <a:off x="1642348" y="1634301"/>
            <a:ext cx="229092" cy="229092"/>
          </a:xfrm>
          <a:prstGeom prst="ellipse">
            <a:avLst/>
          </a:prstGeom>
          <a:solidFill>
            <a:schemeClr val="accent5"/>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schemeClr val="bg1"/>
                </a:solidFill>
                <a:latin typeface="+mn-ea"/>
              </a:rPr>
              <a:t>1</a:t>
            </a:r>
          </a:p>
        </p:txBody>
      </p:sp>
      <p:sp>
        <p:nvSpPr>
          <p:cNvPr id="87" name="正方形/長方形 7">
            <a:extLst>
              <a:ext uri="{FF2B5EF4-FFF2-40B4-BE49-F238E27FC236}">
                <a16:creationId xmlns:a16="http://schemas.microsoft.com/office/drawing/2014/main" id="{8F17E7D9-E9EC-58AB-44CF-E01A49FCFB89}"/>
              </a:ext>
            </a:extLst>
          </p:cNvPr>
          <p:cNvSpPr/>
          <p:nvPr/>
        </p:nvSpPr>
        <p:spPr>
          <a:xfrm>
            <a:off x="3764826" y="1705592"/>
            <a:ext cx="1964002" cy="608389"/>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indent="273050" algn="ctr"/>
            <a:r>
              <a:rPr lang="ja-JP" altLang="en-US" sz="1200" dirty="0">
                <a:solidFill>
                  <a:schemeClr val="accent5"/>
                </a:solidFill>
                <a:latin typeface="+mn-ea"/>
              </a:rPr>
              <a:t>選ばれる価値の創造</a:t>
            </a:r>
            <a:endParaRPr lang="en-US" altLang="ja-JP" sz="1200" dirty="0">
              <a:solidFill>
                <a:schemeClr val="accent5"/>
              </a:solidFill>
              <a:latin typeface="+mn-ea"/>
            </a:endParaRPr>
          </a:p>
          <a:p>
            <a:pPr algn="ctr"/>
            <a:r>
              <a:rPr lang="ja-JP" altLang="en-US" sz="1100" dirty="0">
                <a:solidFill>
                  <a:schemeClr val="tx1"/>
                </a:solidFill>
                <a:latin typeface="+mn-ea"/>
              </a:rPr>
              <a:t>何を理由に選ばれる会社になるか</a:t>
            </a:r>
            <a:endParaRPr lang="en-US" altLang="ja-JP" sz="1100" dirty="0">
              <a:solidFill>
                <a:schemeClr val="tx1"/>
              </a:solidFill>
              <a:latin typeface="+mn-ea"/>
            </a:endParaRPr>
          </a:p>
        </p:txBody>
      </p:sp>
      <p:sp>
        <p:nvSpPr>
          <p:cNvPr id="88" name="正方形/長方形 7">
            <a:extLst>
              <a:ext uri="{FF2B5EF4-FFF2-40B4-BE49-F238E27FC236}">
                <a16:creationId xmlns:a16="http://schemas.microsoft.com/office/drawing/2014/main" id="{8F17E7D9-E9EC-58AB-44CF-E01A49FCFB89}"/>
              </a:ext>
            </a:extLst>
          </p:cNvPr>
          <p:cNvSpPr/>
          <p:nvPr/>
        </p:nvSpPr>
        <p:spPr>
          <a:xfrm>
            <a:off x="5805028" y="1705592"/>
            <a:ext cx="1964002" cy="608389"/>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indent="273050" algn="ctr"/>
            <a:r>
              <a:rPr lang="ja-JP" altLang="en-US" sz="1200" dirty="0">
                <a:solidFill>
                  <a:schemeClr val="accent5"/>
                </a:solidFill>
                <a:latin typeface="+mn-ea"/>
              </a:rPr>
              <a:t>顧客接点の統合</a:t>
            </a:r>
            <a:endParaRPr lang="en-US" altLang="ja-JP" sz="1200" dirty="0">
              <a:solidFill>
                <a:schemeClr val="accent5"/>
              </a:solidFill>
              <a:latin typeface="+mn-ea"/>
            </a:endParaRPr>
          </a:p>
          <a:p>
            <a:pPr algn="ctr"/>
            <a:r>
              <a:rPr lang="ja-JP" altLang="en-US" sz="1100" dirty="0">
                <a:solidFill>
                  <a:schemeClr val="tx1"/>
                </a:solidFill>
                <a:latin typeface="+mn-ea"/>
              </a:rPr>
              <a:t>認知から受注、</a:t>
            </a:r>
            <a:br>
              <a:rPr lang="en-US" altLang="ja-JP" sz="1100" dirty="0">
                <a:solidFill>
                  <a:schemeClr val="tx1"/>
                </a:solidFill>
                <a:latin typeface="+mn-ea"/>
              </a:rPr>
            </a:br>
            <a:r>
              <a:rPr lang="ja-JP" altLang="en-US" sz="1100" dirty="0">
                <a:solidFill>
                  <a:schemeClr val="tx1"/>
                </a:solidFill>
                <a:latin typeface="+mn-ea"/>
              </a:rPr>
              <a:t>継続までをどうつなぐか</a:t>
            </a:r>
            <a:endParaRPr lang="en-US" altLang="ja-JP" sz="1100" dirty="0">
              <a:solidFill>
                <a:schemeClr val="tx1"/>
              </a:solidFill>
              <a:latin typeface="+mn-ea"/>
            </a:endParaRPr>
          </a:p>
        </p:txBody>
      </p:sp>
      <p:sp>
        <p:nvSpPr>
          <p:cNvPr id="89" name="正方形/長方形 7">
            <a:extLst>
              <a:ext uri="{FF2B5EF4-FFF2-40B4-BE49-F238E27FC236}">
                <a16:creationId xmlns:a16="http://schemas.microsoft.com/office/drawing/2014/main" id="{8F17E7D9-E9EC-58AB-44CF-E01A49FCFB89}"/>
              </a:ext>
            </a:extLst>
          </p:cNvPr>
          <p:cNvSpPr/>
          <p:nvPr/>
        </p:nvSpPr>
        <p:spPr>
          <a:xfrm>
            <a:off x="7845230" y="1705592"/>
            <a:ext cx="1964002" cy="608389"/>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indent="273050" algn="ctr"/>
            <a:r>
              <a:rPr lang="ja-JP" altLang="en-US" sz="1200" dirty="0">
                <a:solidFill>
                  <a:schemeClr val="accent5"/>
                </a:solidFill>
                <a:latin typeface="+mn-ea"/>
              </a:rPr>
              <a:t>顧客資本の蓄積</a:t>
            </a:r>
            <a:endParaRPr lang="en-US" altLang="ja-JP" sz="1200" dirty="0">
              <a:solidFill>
                <a:schemeClr val="accent5"/>
              </a:solidFill>
              <a:latin typeface="+mn-ea"/>
            </a:endParaRPr>
          </a:p>
          <a:p>
            <a:pPr algn="ctr"/>
            <a:r>
              <a:rPr lang="ja-JP" altLang="en-US" sz="1100" dirty="0">
                <a:solidFill>
                  <a:schemeClr val="tx1"/>
                </a:solidFill>
                <a:latin typeface="+mn-ea"/>
              </a:rPr>
              <a:t>顧客との関係を</a:t>
            </a:r>
            <a:br>
              <a:rPr lang="en-US" altLang="ja-JP" sz="1100" dirty="0">
                <a:solidFill>
                  <a:schemeClr val="tx1"/>
                </a:solidFill>
                <a:latin typeface="+mn-ea"/>
              </a:rPr>
            </a:br>
            <a:r>
              <a:rPr lang="ja-JP" altLang="en-US" sz="1100" dirty="0">
                <a:solidFill>
                  <a:schemeClr val="tx1"/>
                </a:solidFill>
                <a:latin typeface="+mn-ea"/>
              </a:rPr>
              <a:t>企業資産にできているか</a:t>
            </a:r>
            <a:endParaRPr lang="en-US" altLang="ja-JP" sz="1100" dirty="0">
              <a:solidFill>
                <a:schemeClr val="tx1"/>
              </a:solidFill>
              <a:latin typeface="+mn-ea"/>
            </a:endParaRPr>
          </a:p>
        </p:txBody>
      </p:sp>
      <p:sp>
        <p:nvSpPr>
          <p:cNvPr id="90" name="正方形/長方形 7">
            <a:extLst>
              <a:ext uri="{FF2B5EF4-FFF2-40B4-BE49-F238E27FC236}">
                <a16:creationId xmlns:a16="http://schemas.microsoft.com/office/drawing/2014/main" id="{8F17E7D9-E9EC-58AB-44CF-E01A49FCFB89}"/>
              </a:ext>
            </a:extLst>
          </p:cNvPr>
          <p:cNvSpPr/>
          <p:nvPr/>
        </p:nvSpPr>
        <p:spPr>
          <a:xfrm>
            <a:off x="9885432" y="1705592"/>
            <a:ext cx="1964002" cy="608389"/>
          </a:xfrm>
          <a:prstGeom prst="rect">
            <a:avLst/>
          </a:prstGeom>
          <a:solidFill>
            <a:schemeClr val="bg1"/>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indent="273050" algn="ctr"/>
            <a:r>
              <a:rPr lang="ja-JP" altLang="en-US" sz="1200" dirty="0">
                <a:solidFill>
                  <a:schemeClr val="accent5"/>
                </a:solidFill>
                <a:latin typeface="+mn-ea"/>
              </a:rPr>
              <a:t>実行能力と成果管理</a:t>
            </a:r>
            <a:endParaRPr lang="en-US" altLang="ja-JP" sz="1200" dirty="0">
              <a:solidFill>
                <a:schemeClr val="accent5"/>
              </a:solidFill>
              <a:latin typeface="+mn-ea"/>
            </a:endParaRPr>
          </a:p>
          <a:p>
            <a:pPr algn="ctr"/>
            <a:r>
              <a:rPr lang="ja-JP" altLang="en-US" sz="1100" dirty="0">
                <a:solidFill>
                  <a:schemeClr val="tx1"/>
                </a:solidFill>
                <a:latin typeface="+mn-ea"/>
              </a:rPr>
              <a:t>誰が、何を担い、</a:t>
            </a:r>
            <a:endParaRPr lang="en-US" altLang="ja-JP" sz="1100" dirty="0">
              <a:solidFill>
                <a:schemeClr val="tx1"/>
              </a:solidFill>
              <a:latin typeface="+mn-ea"/>
            </a:endParaRPr>
          </a:p>
          <a:p>
            <a:pPr algn="ctr"/>
            <a:r>
              <a:rPr lang="ja-JP" altLang="en-US" sz="1100" dirty="0">
                <a:solidFill>
                  <a:schemeClr val="tx1"/>
                </a:solidFill>
                <a:latin typeface="+mn-ea"/>
              </a:rPr>
              <a:t>どの指標で評価するか</a:t>
            </a:r>
            <a:endParaRPr lang="en-US" altLang="ja-JP" sz="1100" dirty="0">
              <a:solidFill>
                <a:schemeClr val="tx1"/>
              </a:solidFill>
              <a:latin typeface="+mn-ea"/>
            </a:endParaRPr>
          </a:p>
        </p:txBody>
      </p:sp>
      <p:sp>
        <p:nvSpPr>
          <p:cNvPr id="43" name="Text 33">
            <a:extLst>
              <a:ext uri="{FF2B5EF4-FFF2-40B4-BE49-F238E27FC236}">
                <a16:creationId xmlns:a16="http://schemas.microsoft.com/office/drawing/2014/main" id="{61002DEF-584C-5487-023D-B693E0E098B5}"/>
              </a:ext>
            </a:extLst>
          </p:cNvPr>
          <p:cNvSpPr>
            <a:spLocks noChangeAspect="1"/>
          </p:cNvSpPr>
          <p:nvPr/>
        </p:nvSpPr>
        <p:spPr>
          <a:xfrm>
            <a:off x="3715341" y="1634302"/>
            <a:ext cx="229092" cy="229092"/>
          </a:xfrm>
          <a:prstGeom prst="ellipse">
            <a:avLst/>
          </a:prstGeom>
          <a:solidFill>
            <a:schemeClr val="accent5"/>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schemeClr val="bg1"/>
                </a:solidFill>
                <a:latin typeface="+mn-ea"/>
              </a:rPr>
              <a:t>2</a:t>
            </a:r>
          </a:p>
        </p:txBody>
      </p:sp>
      <p:sp>
        <p:nvSpPr>
          <p:cNvPr id="45" name="Text 33">
            <a:extLst>
              <a:ext uri="{FF2B5EF4-FFF2-40B4-BE49-F238E27FC236}">
                <a16:creationId xmlns:a16="http://schemas.microsoft.com/office/drawing/2014/main" id="{18AF6B34-6F0F-F848-17B5-D46200BF30ED}"/>
              </a:ext>
            </a:extLst>
          </p:cNvPr>
          <p:cNvSpPr>
            <a:spLocks noChangeAspect="1"/>
          </p:cNvSpPr>
          <p:nvPr/>
        </p:nvSpPr>
        <p:spPr>
          <a:xfrm>
            <a:off x="5777711" y="1634301"/>
            <a:ext cx="229092" cy="229092"/>
          </a:xfrm>
          <a:prstGeom prst="ellipse">
            <a:avLst/>
          </a:prstGeom>
          <a:solidFill>
            <a:schemeClr val="accent5"/>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schemeClr val="bg1"/>
                </a:solidFill>
                <a:latin typeface="+mn-ea"/>
              </a:rPr>
              <a:t>3</a:t>
            </a:r>
          </a:p>
        </p:txBody>
      </p:sp>
      <p:sp>
        <p:nvSpPr>
          <p:cNvPr id="3" name="Text 33">
            <a:extLst>
              <a:ext uri="{FF2B5EF4-FFF2-40B4-BE49-F238E27FC236}">
                <a16:creationId xmlns:a16="http://schemas.microsoft.com/office/drawing/2014/main" id="{F19D6F53-35E3-0D02-CB59-4044A1BFDCB2}"/>
              </a:ext>
            </a:extLst>
          </p:cNvPr>
          <p:cNvSpPr>
            <a:spLocks noChangeAspect="1"/>
          </p:cNvSpPr>
          <p:nvPr/>
        </p:nvSpPr>
        <p:spPr>
          <a:xfrm>
            <a:off x="7797539" y="1634300"/>
            <a:ext cx="229092" cy="229092"/>
          </a:xfrm>
          <a:prstGeom prst="ellipse">
            <a:avLst/>
          </a:prstGeom>
          <a:solidFill>
            <a:schemeClr val="accent5"/>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schemeClr val="bg1"/>
                </a:solidFill>
                <a:latin typeface="+mn-ea"/>
              </a:rPr>
              <a:t>4</a:t>
            </a:r>
          </a:p>
        </p:txBody>
      </p:sp>
      <p:sp>
        <p:nvSpPr>
          <p:cNvPr id="4" name="Text 33">
            <a:extLst>
              <a:ext uri="{FF2B5EF4-FFF2-40B4-BE49-F238E27FC236}">
                <a16:creationId xmlns:a16="http://schemas.microsoft.com/office/drawing/2014/main" id="{E3388164-C7EB-8B4A-C986-7062A94C7302}"/>
              </a:ext>
            </a:extLst>
          </p:cNvPr>
          <p:cNvSpPr>
            <a:spLocks noChangeAspect="1"/>
          </p:cNvSpPr>
          <p:nvPr/>
        </p:nvSpPr>
        <p:spPr>
          <a:xfrm>
            <a:off x="9849276" y="1634300"/>
            <a:ext cx="229092" cy="229092"/>
          </a:xfrm>
          <a:prstGeom prst="ellipse">
            <a:avLst/>
          </a:prstGeom>
          <a:solidFill>
            <a:schemeClr val="accent5"/>
          </a:solidFill>
          <a:ln w="9525">
            <a:solidFill>
              <a:schemeClr val="bg1"/>
            </a:solidFill>
          </a:ln>
        </p:spPr>
        <p:txBody>
          <a:bodyPr wrap="square" lIns="36000" tIns="18000" rIns="36000" bIns="0" rtlCol="0" anchor="ctr" anchorCtr="0">
            <a:noAutofit/>
          </a:bodyPr>
          <a:lstStyle/>
          <a:p>
            <a:pPr algn="ctr" defTabSz="457200">
              <a:defRPr/>
            </a:pPr>
            <a:r>
              <a:rPr kumimoji="0" lang="en-US" sz="1200" dirty="0">
                <a:solidFill>
                  <a:schemeClr val="bg1"/>
                </a:solidFill>
                <a:latin typeface="+mn-ea"/>
              </a:rPr>
              <a:t>5</a:t>
            </a:r>
          </a:p>
        </p:txBody>
      </p:sp>
      <p:sp>
        <p:nvSpPr>
          <p:cNvPr id="91" name="正方形/長方形 11">
            <a:extLst>
              <a:ext uri="{FF2B5EF4-FFF2-40B4-BE49-F238E27FC236}">
                <a16:creationId xmlns:a16="http://schemas.microsoft.com/office/drawing/2014/main" id="{1B409267-A72A-6B81-15AC-E59E57C75962}"/>
              </a:ext>
            </a:extLst>
          </p:cNvPr>
          <p:cNvSpPr/>
          <p:nvPr/>
        </p:nvSpPr>
        <p:spPr>
          <a:xfrm>
            <a:off x="334961" y="3449155"/>
            <a:ext cx="1273456" cy="840722"/>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答え</a:t>
            </a:r>
            <a:br>
              <a:rPr lang="en-US" altLang="ja-JP" sz="1200" dirty="0">
                <a:solidFill>
                  <a:schemeClr val="bg1"/>
                </a:solidFill>
                <a:latin typeface="+mn-ea"/>
              </a:rPr>
            </a:br>
            <a:r>
              <a:rPr lang="en-US" altLang="ja-JP" sz="1200" dirty="0">
                <a:solidFill>
                  <a:schemeClr val="bg1"/>
                </a:solidFill>
                <a:latin typeface="+mn-ea"/>
              </a:rPr>
              <a:t>(</a:t>
            </a:r>
            <a:r>
              <a:rPr lang="ja-JP" altLang="en-US" sz="1200" dirty="0">
                <a:solidFill>
                  <a:schemeClr val="bg1"/>
                </a:solidFill>
                <a:latin typeface="+mn-ea"/>
              </a:rPr>
              <a:t>ソリューション</a:t>
            </a:r>
            <a:r>
              <a:rPr lang="en-US" altLang="ja-JP" sz="1200" dirty="0">
                <a:solidFill>
                  <a:schemeClr val="bg1"/>
                </a:solidFill>
                <a:latin typeface="+mn-ea"/>
              </a:rPr>
              <a:t>)</a:t>
            </a:r>
            <a:endParaRPr lang="ja-JP" altLang="en-US" sz="1200" dirty="0">
              <a:solidFill>
                <a:schemeClr val="bg1"/>
              </a:solidFill>
              <a:latin typeface="+mn-ea"/>
            </a:endParaRPr>
          </a:p>
        </p:txBody>
      </p:sp>
      <p:sp>
        <p:nvSpPr>
          <p:cNvPr id="92" name="正方形/長方形 11">
            <a:extLst>
              <a:ext uri="{FF2B5EF4-FFF2-40B4-BE49-F238E27FC236}">
                <a16:creationId xmlns:a16="http://schemas.microsoft.com/office/drawing/2014/main" id="{1B409267-A72A-6B81-15AC-E59E57C75962}"/>
              </a:ext>
            </a:extLst>
          </p:cNvPr>
          <p:cNvSpPr/>
          <p:nvPr/>
        </p:nvSpPr>
        <p:spPr>
          <a:xfrm>
            <a:off x="334961" y="4458578"/>
            <a:ext cx="1273456" cy="840722"/>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重点施策</a:t>
            </a:r>
          </a:p>
        </p:txBody>
      </p:sp>
      <p:sp>
        <p:nvSpPr>
          <p:cNvPr id="93" name="正方形/長方形 11">
            <a:extLst>
              <a:ext uri="{FF2B5EF4-FFF2-40B4-BE49-F238E27FC236}">
                <a16:creationId xmlns:a16="http://schemas.microsoft.com/office/drawing/2014/main" id="{1B409267-A72A-6B81-15AC-E59E57C75962}"/>
              </a:ext>
            </a:extLst>
          </p:cNvPr>
          <p:cNvSpPr/>
          <p:nvPr/>
        </p:nvSpPr>
        <p:spPr>
          <a:xfrm>
            <a:off x="334961" y="5468003"/>
            <a:ext cx="1273456" cy="840722"/>
          </a:xfrm>
          <a:prstGeom prst="rect">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bg1"/>
                </a:solidFill>
                <a:latin typeface="+mn-ea"/>
              </a:rPr>
              <a:t>つながる</a:t>
            </a:r>
            <a:r>
              <a:rPr lang="en-US" altLang="ja-JP" sz="1200" dirty="0">
                <a:solidFill>
                  <a:schemeClr val="bg1"/>
                </a:solidFill>
                <a:latin typeface="+mn-ea"/>
              </a:rPr>
              <a:t>KPI</a:t>
            </a:r>
          </a:p>
        </p:txBody>
      </p:sp>
      <p:sp>
        <p:nvSpPr>
          <p:cNvPr id="9" name="二等辺三角形 8">
            <a:extLst>
              <a:ext uri="{FF2B5EF4-FFF2-40B4-BE49-F238E27FC236}">
                <a16:creationId xmlns:a16="http://schemas.microsoft.com/office/drawing/2014/main" id="{60B3E160-E77D-C2D9-084F-265AAFA19088}"/>
              </a:ext>
            </a:extLst>
          </p:cNvPr>
          <p:cNvSpPr/>
          <p:nvPr/>
        </p:nvSpPr>
        <p:spPr>
          <a:xfrm rot="10800000">
            <a:off x="588840" y="3292346"/>
            <a:ext cx="765697" cy="144917"/>
          </a:xfrm>
          <a:prstGeom prst="triangle">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0" name="二等辺三角形 9">
            <a:extLst>
              <a:ext uri="{FF2B5EF4-FFF2-40B4-BE49-F238E27FC236}">
                <a16:creationId xmlns:a16="http://schemas.microsoft.com/office/drawing/2014/main" id="{46E1887A-D8F0-4233-DC8A-FFC9188B71B2}"/>
              </a:ext>
            </a:extLst>
          </p:cNvPr>
          <p:cNvSpPr/>
          <p:nvPr/>
        </p:nvSpPr>
        <p:spPr>
          <a:xfrm rot="10800000">
            <a:off x="588840" y="4301770"/>
            <a:ext cx="765697" cy="144917"/>
          </a:xfrm>
          <a:prstGeom prst="triangle">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1" name="二等辺三角形 10">
            <a:extLst>
              <a:ext uri="{FF2B5EF4-FFF2-40B4-BE49-F238E27FC236}">
                <a16:creationId xmlns:a16="http://schemas.microsoft.com/office/drawing/2014/main" id="{65787AD7-95E4-A33E-7063-DB092E7BB3EE}"/>
              </a:ext>
            </a:extLst>
          </p:cNvPr>
          <p:cNvSpPr/>
          <p:nvPr/>
        </p:nvSpPr>
        <p:spPr>
          <a:xfrm rot="10800000">
            <a:off x="588840" y="5311193"/>
            <a:ext cx="765697" cy="144917"/>
          </a:xfrm>
          <a:prstGeom prst="triangle">
            <a:avLst/>
          </a:prstGeom>
          <a:solidFill>
            <a:schemeClr val="accent3">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3" name="Text 20">
            <a:extLst>
              <a:ext uri="{FF2B5EF4-FFF2-40B4-BE49-F238E27FC236}">
                <a16:creationId xmlns:a16="http://schemas.microsoft.com/office/drawing/2014/main" id="{920898FF-7965-4A67-C26C-E95712EC85D0}"/>
              </a:ext>
            </a:extLst>
          </p:cNvPr>
          <p:cNvSpPr>
            <a:spLocks noChangeAspect="1"/>
          </p:cNvSpPr>
          <p:nvPr/>
        </p:nvSpPr>
        <p:spPr>
          <a:xfrm>
            <a:off x="334961" y="2345413"/>
            <a:ext cx="252001" cy="252001"/>
          </a:xfrm>
          <a:prstGeom prst="ellipse">
            <a:avLst/>
          </a:prstGeom>
          <a:solidFill>
            <a:schemeClr val="bg1"/>
          </a:solidFill>
          <a:ln w="9525">
            <a:solidFill>
              <a:schemeClr val="accent5"/>
            </a:solidFill>
          </a:ln>
        </p:spPr>
        <p:txBody>
          <a:bodyPr wrap="square" lIns="36000" tIns="0" rIns="36000" bIns="0" rtlCol="0" anchor="ctr" anchorCtr="0">
            <a:noAutofit/>
          </a:bodyPr>
          <a:lstStyle/>
          <a:p>
            <a:pPr algn="ctr" defTabSz="457200">
              <a:defRPr/>
            </a:pPr>
            <a:r>
              <a:rPr kumimoji="0" lang="ja-JP" altLang="en-US" sz="1200" dirty="0">
                <a:solidFill>
                  <a:schemeClr val="accent5"/>
                </a:solidFill>
                <a:latin typeface="+mn-ea"/>
              </a:rPr>
              <a:t>前</a:t>
            </a:r>
            <a:endParaRPr kumimoji="0" lang="en-US" sz="1200" dirty="0">
              <a:solidFill>
                <a:schemeClr val="accent5"/>
              </a:solidFill>
              <a:latin typeface="+mn-ea"/>
            </a:endParaRPr>
          </a:p>
        </p:txBody>
      </p:sp>
      <p:sp>
        <p:nvSpPr>
          <p:cNvPr id="14" name="Text 20">
            <a:extLst>
              <a:ext uri="{FF2B5EF4-FFF2-40B4-BE49-F238E27FC236}">
                <a16:creationId xmlns:a16="http://schemas.microsoft.com/office/drawing/2014/main" id="{D5EBD982-6985-AD4C-6454-27B073625352}"/>
              </a:ext>
            </a:extLst>
          </p:cNvPr>
          <p:cNvSpPr>
            <a:spLocks noChangeAspect="1"/>
          </p:cNvSpPr>
          <p:nvPr/>
        </p:nvSpPr>
        <p:spPr>
          <a:xfrm>
            <a:off x="334961" y="5389118"/>
            <a:ext cx="252001" cy="252001"/>
          </a:xfrm>
          <a:prstGeom prst="ellipse">
            <a:avLst/>
          </a:prstGeom>
          <a:solidFill>
            <a:schemeClr val="bg1"/>
          </a:solidFill>
          <a:ln w="9525">
            <a:solidFill>
              <a:schemeClr val="accent5"/>
            </a:solidFill>
          </a:ln>
        </p:spPr>
        <p:txBody>
          <a:bodyPr wrap="square" lIns="36000" tIns="0" rIns="36000" bIns="0" rtlCol="0" anchor="ctr" anchorCtr="0">
            <a:noAutofit/>
          </a:bodyPr>
          <a:lstStyle/>
          <a:p>
            <a:pPr algn="ctr" defTabSz="457200">
              <a:defRPr/>
            </a:pPr>
            <a:r>
              <a:rPr kumimoji="0" lang="ja-JP" altLang="en-US" sz="1200" dirty="0">
                <a:solidFill>
                  <a:schemeClr val="accent5"/>
                </a:solidFill>
                <a:latin typeface="+mn-ea"/>
              </a:rPr>
              <a:t>後</a:t>
            </a:r>
            <a:endParaRPr kumimoji="0" lang="en-US" sz="1200" dirty="0">
              <a:solidFill>
                <a:schemeClr val="accent5"/>
              </a:solidFill>
              <a:latin typeface="+mn-ea"/>
            </a:endParaRPr>
          </a:p>
        </p:txBody>
      </p:sp>
      <p:cxnSp>
        <p:nvCxnSpPr>
          <p:cNvPr id="37" name="直線コネクタ 36">
            <a:extLst>
              <a:ext uri="{FF2B5EF4-FFF2-40B4-BE49-F238E27FC236}">
                <a16:creationId xmlns:a16="http://schemas.microsoft.com/office/drawing/2014/main" id="{6EF67C1B-3AAE-197A-D2B9-BD12951CDBC7}"/>
              </a:ext>
            </a:extLst>
          </p:cNvPr>
          <p:cNvCxnSpPr/>
          <p:nvPr/>
        </p:nvCxnSpPr>
        <p:spPr>
          <a:xfrm>
            <a:off x="1724624" y="3364804"/>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C742A7DC-5EBC-0762-C8D4-37080C8CE458}"/>
              </a:ext>
            </a:extLst>
          </p:cNvPr>
          <p:cNvSpPr/>
          <p:nvPr/>
        </p:nvSpPr>
        <p:spPr>
          <a:xfrm>
            <a:off x="1724624" y="2439732"/>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altLang="ja-JP" sz="1100" dirty="0">
                <a:solidFill>
                  <a:schemeClr val="tx1"/>
                </a:solidFill>
                <a:latin typeface="+mn-ea"/>
              </a:rPr>
              <a:t>GAP1</a:t>
            </a:r>
            <a:r>
              <a:rPr lang="ja-JP" altLang="en-US" sz="1100" dirty="0">
                <a:solidFill>
                  <a:schemeClr val="tx1"/>
                </a:solidFill>
                <a:latin typeface="+mn-ea"/>
              </a:rPr>
              <a:t> </a:t>
            </a:r>
            <a:r>
              <a:rPr lang="en-US" altLang="ja-JP" sz="1100" dirty="0">
                <a:solidFill>
                  <a:schemeClr val="tx1"/>
                </a:solidFill>
                <a:latin typeface="+mn-ea"/>
              </a:rPr>
              <a:t>(</a:t>
            </a:r>
            <a:r>
              <a:rPr lang="ja-JP" altLang="en-US" sz="1100" dirty="0">
                <a:solidFill>
                  <a:schemeClr val="tx1"/>
                </a:solidFill>
                <a:latin typeface="+mn-ea"/>
              </a:rPr>
              <a:t>消耗戦</a:t>
            </a:r>
            <a:r>
              <a:rPr lang="en-US" altLang="ja-JP" sz="1100" dirty="0">
                <a:solidFill>
                  <a:schemeClr val="tx1"/>
                </a:solidFill>
                <a:latin typeface="+mn-ea"/>
              </a:rPr>
              <a:t>)</a:t>
            </a:r>
          </a:p>
          <a:p>
            <a:pPr marL="171450" indent="-171450">
              <a:buClr>
                <a:schemeClr val="accent5"/>
              </a:buClr>
              <a:buFont typeface="Arial" panose="020B0604020202020204" pitchFamily="34" charset="0"/>
              <a:buChar char="•"/>
            </a:pPr>
            <a:r>
              <a:rPr lang="ja-JP" altLang="en-US" sz="1100" dirty="0">
                <a:solidFill>
                  <a:schemeClr val="tx1"/>
                </a:solidFill>
                <a:latin typeface="+mn-ea"/>
              </a:rPr>
              <a:t>決定と傾斜配分は実行済み</a:t>
            </a:r>
            <a:endParaRPr lang="en-US" altLang="ja-JP" sz="1100" dirty="0">
              <a:solidFill>
                <a:schemeClr val="tx1"/>
              </a:solidFill>
              <a:latin typeface="+mn-ea"/>
            </a:endParaRPr>
          </a:p>
          <a:p>
            <a:pPr marL="171450" indent="-171450">
              <a:buClr>
                <a:schemeClr val="accent5"/>
              </a:buClr>
              <a:buFont typeface="Arial" panose="020B0604020202020204" pitchFamily="34" charset="0"/>
              <a:buChar char="•"/>
            </a:pPr>
            <a:r>
              <a:rPr lang="ja-JP" altLang="en-US" sz="1100" dirty="0">
                <a:solidFill>
                  <a:schemeClr val="tx1"/>
                </a:solidFill>
                <a:latin typeface="+mn-ea"/>
              </a:rPr>
              <a:t>残るは資源の使い方 </a:t>
            </a:r>
            <a:r>
              <a:rPr lang="en-US" altLang="ja-JP" sz="1100" dirty="0">
                <a:solidFill>
                  <a:schemeClr val="tx1"/>
                </a:solidFill>
                <a:latin typeface="+mn-ea"/>
              </a:rPr>
              <a:t>(</a:t>
            </a:r>
            <a:r>
              <a:rPr lang="ja-JP" altLang="en-US" sz="1100" dirty="0">
                <a:solidFill>
                  <a:schemeClr val="tx1"/>
                </a:solidFill>
                <a:latin typeface="+mn-ea"/>
              </a:rPr>
              <a:t>真因</a:t>
            </a:r>
            <a:r>
              <a:rPr lang="en-US" altLang="ja-JP" sz="1100" dirty="0">
                <a:solidFill>
                  <a:schemeClr val="tx1"/>
                </a:solidFill>
                <a:latin typeface="+mn-ea"/>
              </a:rPr>
              <a:t>1)</a:t>
            </a:r>
          </a:p>
          <a:p>
            <a:pPr marL="171450" indent="-171450">
              <a:buClr>
                <a:schemeClr val="accent5"/>
              </a:buClr>
              <a:buFont typeface="Arial" panose="020B0604020202020204" pitchFamily="34" charset="0"/>
              <a:buChar char="•"/>
            </a:pPr>
            <a:r>
              <a:rPr lang="ja-JP" altLang="en-US" sz="1100" dirty="0">
                <a:solidFill>
                  <a:schemeClr val="tx1"/>
                </a:solidFill>
                <a:latin typeface="+mn-ea"/>
              </a:rPr>
              <a:t>皆歯科健診は骨太</a:t>
            </a:r>
            <a:r>
              <a:rPr lang="en-US" altLang="ja-JP" sz="1100" dirty="0">
                <a:solidFill>
                  <a:schemeClr val="tx1"/>
                </a:solidFill>
                <a:latin typeface="+mn-ea"/>
              </a:rPr>
              <a:t>2022</a:t>
            </a:r>
            <a:r>
              <a:rPr lang="ja-JP" altLang="en-US" sz="1100" dirty="0">
                <a:solidFill>
                  <a:schemeClr val="tx1"/>
                </a:solidFill>
                <a:latin typeface="+mn-ea"/>
              </a:rPr>
              <a:t>に</a:t>
            </a:r>
            <a:br>
              <a:rPr lang="en-US" altLang="ja-JP" sz="1100" dirty="0">
                <a:solidFill>
                  <a:schemeClr val="tx1"/>
                </a:solidFill>
                <a:latin typeface="+mn-ea"/>
              </a:rPr>
            </a:br>
            <a:r>
              <a:rPr lang="ja-JP" altLang="en-US" sz="1100" dirty="0">
                <a:solidFill>
                  <a:schemeClr val="tx1"/>
                </a:solidFill>
                <a:latin typeface="+mn-ea"/>
              </a:rPr>
              <a:t>明記済み</a:t>
            </a:r>
          </a:p>
        </p:txBody>
      </p:sp>
      <p:sp>
        <p:nvSpPr>
          <p:cNvPr id="16" name="正方形/長方形 7">
            <a:extLst>
              <a:ext uri="{FF2B5EF4-FFF2-40B4-BE49-F238E27FC236}">
                <a16:creationId xmlns:a16="http://schemas.microsoft.com/office/drawing/2014/main" id="{54048B0A-2FE0-8CB9-9D28-BC736911FA35}"/>
              </a:ext>
            </a:extLst>
          </p:cNvPr>
          <p:cNvSpPr/>
          <p:nvPr/>
        </p:nvSpPr>
        <p:spPr>
          <a:xfrm>
            <a:off x="3764826" y="2439732"/>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100" dirty="0">
                <a:solidFill>
                  <a:schemeClr val="tx1"/>
                </a:solidFill>
                <a:latin typeface="+mn-ea"/>
              </a:rPr>
              <a:t>真因</a:t>
            </a:r>
            <a:r>
              <a:rPr lang="en-US" altLang="ja-JP" sz="1100" dirty="0">
                <a:solidFill>
                  <a:schemeClr val="tx1"/>
                </a:solidFill>
                <a:latin typeface="+mn-ea"/>
              </a:rPr>
              <a:t>2</a:t>
            </a:r>
            <a:r>
              <a:rPr lang="ja-JP" altLang="en-US" sz="1100" dirty="0">
                <a:solidFill>
                  <a:schemeClr val="tx1"/>
                </a:solidFill>
                <a:latin typeface="+mn-ea"/>
              </a:rPr>
              <a:t> </a:t>
            </a:r>
            <a:r>
              <a:rPr lang="en-US" altLang="ja-JP" sz="1100" dirty="0">
                <a:solidFill>
                  <a:schemeClr val="tx1"/>
                </a:solidFill>
                <a:latin typeface="+mn-ea"/>
              </a:rPr>
              <a:t>(</a:t>
            </a:r>
            <a:r>
              <a:rPr lang="ja-JP" altLang="en-US" sz="1100" dirty="0">
                <a:solidFill>
                  <a:schemeClr val="tx1"/>
                </a:solidFill>
                <a:latin typeface="+mn-ea"/>
              </a:rPr>
              <a:t>提案材料の不足</a:t>
            </a:r>
            <a:r>
              <a:rPr lang="en-US" altLang="ja-JP" sz="1100" dirty="0">
                <a:solidFill>
                  <a:schemeClr val="tx1"/>
                </a:solidFill>
                <a:latin typeface="+mn-ea"/>
              </a:rPr>
              <a:t>)</a:t>
            </a:r>
          </a:p>
          <a:p>
            <a:pPr marL="171450" indent="-171450">
              <a:buClr>
                <a:schemeClr val="accent5"/>
              </a:buClr>
              <a:buFont typeface="Arial" panose="020B0604020202020204" pitchFamily="34" charset="0"/>
              <a:buChar char="•"/>
            </a:pPr>
            <a:r>
              <a:rPr lang="ja-JP" altLang="en-US" sz="1100" dirty="0">
                <a:solidFill>
                  <a:schemeClr val="tx1"/>
                </a:solidFill>
                <a:latin typeface="+mn-ea"/>
              </a:rPr>
              <a:t>ゼロクリック</a:t>
            </a:r>
            <a:r>
              <a:rPr lang="en-US" altLang="ja-JP" sz="1100" dirty="0">
                <a:solidFill>
                  <a:schemeClr val="tx1"/>
                </a:solidFill>
                <a:latin typeface="+mn-ea"/>
              </a:rPr>
              <a:t>66.4%</a:t>
            </a:r>
            <a:br>
              <a:rPr lang="en-US" altLang="ja-JP" sz="1100" dirty="0">
                <a:solidFill>
                  <a:schemeClr val="tx1"/>
                </a:solidFill>
                <a:latin typeface="+mn-ea"/>
              </a:rPr>
            </a:br>
            <a:r>
              <a:rPr lang="en-US" altLang="ja-JP" sz="1100" dirty="0">
                <a:solidFill>
                  <a:schemeClr val="tx1"/>
                </a:solidFill>
                <a:latin typeface="+mn-ea"/>
              </a:rPr>
              <a:t>〔</a:t>
            </a:r>
            <a:r>
              <a:rPr lang="ja-JP" altLang="en-US" sz="1100" dirty="0">
                <a:solidFill>
                  <a:schemeClr val="tx1"/>
                </a:solidFill>
                <a:latin typeface="+mn-ea"/>
              </a:rPr>
              <a:t>ヴァリューズ</a:t>
            </a:r>
            <a:r>
              <a:rPr lang="en-US" altLang="ja-JP" sz="1100" dirty="0">
                <a:solidFill>
                  <a:schemeClr val="tx1"/>
                </a:solidFill>
                <a:latin typeface="+mn-ea"/>
              </a:rPr>
              <a:t>〕</a:t>
            </a:r>
          </a:p>
          <a:p>
            <a:pPr marL="171450" indent="-171450">
              <a:buClr>
                <a:schemeClr val="accent5"/>
              </a:buClr>
              <a:buFont typeface="Arial" panose="020B0604020202020204" pitchFamily="34" charset="0"/>
              <a:buChar char="•"/>
            </a:pPr>
            <a:r>
              <a:rPr lang="en-US" altLang="ja-JP" sz="1100" dirty="0">
                <a:solidFill>
                  <a:schemeClr val="tx1"/>
                </a:solidFill>
                <a:latin typeface="+mn-ea"/>
              </a:rPr>
              <a:t>AI</a:t>
            </a:r>
            <a:r>
              <a:rPr lang="ja-JP" altLang="en-US" sz="1100" dirty="0">
                <a:solidFill>
                  <a:schemeClr val="tx1"/>
                </a:solidFill>
                <a:latin typeface="+mn-ea"/>
              </a:rPr>
              <a:t>の引用元は自社サイト</a:t>
            </a:r>
            <a:r>
              <a:rPr lang="en-US" altLang="ja-JP" sz="1100" dirty="0">
                <a:solidFill>
                  <a:schemeClr val="tx1"/>
                </a:solidFill>
                <a:latin typeface="+mn-ea"/>
              </a:rPr>
              <a:t>1%</a:t>
            </a:r>
            <a:r>
              <a:rPr lang="ja-JP" altLang="en-US" sz="1100" dirty="0">
                <a:solidFill>
                  <a:schemeClr val="tx1"/>
                </a:solidFill>
                <a:latin typeface="+mn-ea"/>
              </a:rPr>
              <a:t>・小売</a:t>
            </a:r>
            <a:r>
              <a:rPr lang="en-US" altLang="ja-JP" sz="1100" dirty="0">
                <a:solidFill>
                  <a:schemeClr val="tx1"/>
                </a:solidFill>
                <a:latin typeface="+mn-ea"/>
              </a:rPr>
              <a:t>EC17%〔XEO360〕</a:t>
            </a:r>
          </a:p>
        </p:txBody>
      </p:sp>
      <p:sp>
        <p:nvSpPr>
          <p:cNvPr id="18" name="正方形/長方形 7">
            <a:extLst>
              <a:ext uri="{FF2B5EF4-FFF2-40B4-BE49-F238E27FC236}">
                <a16:creationId xmlns:a16="http://schemas.microsoft.com/office/drawing/2014/main" id="{A653D8D2-D4AC-0B26-C432-C6048353C8E1}"/>
              </a:ext>
            </a:extLst>
          </p:cNvPr>
          <p:cNvSpPr/>
          <p:nvPr/>
        </p:nvSpPr>
        <p:spPr>
          <a:xfrm>
            <a:off x="5805028" y="2439732"/>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altLang="ja-JP" sz="1100" dirty="0">
                <a:solidFill>
                  <a:schemeClr val="tx1"/>
                </a:solidFill>
                <a:latin typeface="+mn-ea"/>
              </a:rPr>
              <a:t>GAP2</a:t>
            </a:r>
            <a:r>
              <a:rPr lang="ja-JP" altLang="en-US" sz="1100" dirty="0">
                <a:solidFill>
                  <a:schemeClr val="tx1"/>
                </a:solidFill>
                <a:latin typeface="+mn-ea"/>
              </a:rPr>
              <a:t>・</a:t>
            </a:r>
            <a:r>
              <a:rPr lang="en-US" altLang="ja-JP" sz="1100" dirty="0">
                <a:solidFill>
                  <a:schemeClr val="tx1"/>
                </a:solidFill>
                <a:latin typeface="+mn-ea"/>
              </a:rPr>
              <a:t>3</a:t>
            </a:r>
          </a:p>
          <a:p>
            <a:pPr marL="171450" indent="-171450">
              <a:buClr>
                <a:schemeClr val="accent5"/>
              </a:buClr>
              <a:buFont typeface="Arial" panose="020B0604020202020204" pitchFamily="34" charset="0"/>
              <a:buChar char="•"/>
            </a:pPr>
            <a:r>
              <a:rPr lang="ja-JP" altLang="en-US" sz="1100" dirty="0">
                <a:solidFill>
                  <a:schemeClr val="tx1"/>
                </a:solidFill>
                <a:latin typeface="+mn-ea"/>
              </a:rPr>
              <a:t>リテールメディア</a:t>
            </a:r>
            <a:r>
              <a:rPr lang="en-US" altLang="ja-JP" sz="1100" dirty="0">
                <a:solidFill>
                  <a:schemeClr val="tx1"/>
                </a:solidFill>
                <a:latin typeface="+mn-ea"/>
              </a:rPr>
              <a:t>2029</a:t>
            </a:r>
            <a:r>
              <a:rPr lang="ja-JP" altLang="en-US" sz="1100" dirty="0">
                <a:solidFill>
                  <a:schemeClr val="tx1"/>
                </a:solidFill>
                <a:latin typeface="+mn-ea"/>
              </a:rPr>
              <a:t>年</a:t>
            </a:r>
            <a:br>
              <a:rPr lang="en-US" altLang="ja-JP" sz="1100" dirty="0">
                <a:solidFill>
                  <a:schemeClr val="tx1"/>
                </a:solidFill>
                <a:latin typeface="+mn-ea"/>
              </a:rPr>
            </a:br>
            <a:r>
              <a:rPr lang="en-US" altLang="ja-JP" sz="1100" dirty="0">
                <a:solidFill>
                  <a:schemeClr val="tx1"/>
                </a:solidFill>
                <a:latin typeface="+mn-ea"/>
              </a:rPr>
              <a:t>1.3</a:t>
            </a:r>
            <a:r>
              <a:rPr lang="ja-JP" altLang="en-US" sz="1100" dirty="0">
                <a:solidFill>
                  <a:schemeClr val="tx1"/>
                </a:solidFill>
                <a:latin typeface="+mn-ea"/>
              </a:rPr>
              <a:t>兆円 </a:t>
            </a:r>
            <a:r>
              <a:rPr lang="en-US" altLang="ja-JP" sz="1100" dirty="0">
                <a:solidFill>
                  <a:schemeClr val="tx1"/>
                </a:solidFill>
                <a:latin typeface="+mn-ea"/>
              </a:rPr>
              <a:t>〔CARTA〕</a:t>
            </a:r>
          </a:p>
          <a:p>
            <a:pPr marL="171450" indent="-171450">
              <a:buClr>
                <a:schemeClr val="accent5"/>
              </a:buClr>
              <a:buFont typeface="Arial" panose="020B0604020202020204" pitchFamily="34" charset="0"/>
              <a:buChar char="•"/>
            </a:pPr>
            <a:r>
              <a:rPr lang="ja-JP" altLang="en-US" sz="1100" dirty="0">
                <a:solidFill>
                  <a:schemeClr val="tx1"/>
                </a:solidFill>
                <a:latin typeface="+mn-ea"/>
              </a:rPr>
              <a:t>日用品購買の約</a:t>
            </a:r>
            <a:r>
              <a:rPr lang="en-US" altLang="ja-JP" sz="1100" dirty="0">
                <a:solidFill>
                  <a:schemeClr val="tx1"/>
                </a:solidFill>
                <a:latin typeface="+mn-ea"/>
              </a:rPr>
              <a:t>9</a:t>
            </a:r>
            <a:r>
              <a:rPr lang="ja-JP" altLang="en-US" sz="1100" dirty="0">
                <a:solidFill>
                  <a:schemeClr val="tx1"/>
                </a:solidFill>
                <a:latin typeface="+mn-ea"/>
              </a:rPr>
              <a:t>割は店頭</a:t>
            </a:r>
            <a:r>
              <a:rPr lang="en-US" altLang="ja-JP" sz="1100" dirty="0">
                <a:solidFill>
                  <a:schemeClr val="tx1"/>
                </a:solidFill>
                <a:latin typeface="+mn-ea"/>
              </a:rPr>
              <a:t>〔</a:t>
            </a:r>
            <a:r>
              <a:rPr lang="ja-JP" altLang="en-US" sz="1100" dirty="0">
                <a:solidFill>
                  <a:schemeClr val="tx1"/>
                </a:solidFill>
                <a:latin typeface="+mn-ea"/>
              </a:rPr>
              <a:t>経産省</a:t>
            </a:r>
            <a:r>
              <a:rPr lang="en-US" altLang="ja-JP" sz="1100" dirty="0">
                <a:solidFill>
                  <a:schemeClr val="tx1"/>
                </a:solidFill>
                <a:latin typeface="+mn-ea"/>
              </a:rPr>
              <a:t>EC</a:t>
            </a:r>
            <a:r>
              <a:rPr lang="ja-JP" altLang="en-US" sz="1100" dirty="0">
                <a:solidFill>
                  <a:schemeClr val="tx1"/>
                </a:solidFill>
                <a:latin typeface="+mn-ea"/>
              </a:rPr>
              <a:t>化率</a:t>
            </a:r>
            <a:r>
              <a:rPr lang="en-US" altLang="ja-JP" sz="1100" dirty="0">
                <a:solidFill>
                  <a:schemeClr val="tx1"/>
                </a:solidFill>
                <a:latin typeface="+mn-ea"/>
              </a:rPr>
              <a:t>9.78%〕</a:t>
            </a:r>
          </a:p>
        </p:txBody>
      </p:sp>
      <p:sp>
        <p:nvSpPr>
          <p:cNvPr id="19" name="正方形/長方形 7">
            <a:extLst>
              <a:ext uri="{FF2B5EF4-FFF2-40B4-BE49-F238E27FC236}">
                <a16:creationId xmlns:a16="http://schemas.microsoft.com/office/drawing/2014/main" id="{97BAEED4-70D3-5CC4-2290-128CA652832C}"/>
              </a:ext>
            </a:extLst>
          </p:cNvPr>
          <p:cNvSpPr/>
          <p:nvPr/>
        </p:nvSpPr>
        <p:spPr>
          <a:xfrm>
            <a:off x="7845230" y="2439732"/>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en-US" altLang="ja-JP" sz="1100" dirty="0">
                <a:solidFill>
                  <a:schemeClr val="tx1"/>
                </a:solidFill>
                <a:latin typeface="+mn-ea"/>
              </a:rPr>
              <a:t>Cookie</a:t>
            </a:r>
            <a:r>
              <a:rPr lang="ja-JP" altLang="en-US" sz="1100" dirty="0">
                <a:solidFill>
                  <a:schemeClr val="tx1"/>
                </a:solidFill>
                <a:latin typeface="+mn-ea"/>
              </a:rPr>
              <a:t>消滅・自前データ劣後</a:t>
            </a:r>
            <a:endParaRPr lang="en-US" altLang="ja-JP" sz="1100" dirty="0">
              <a:solidFill>
                <a:schemeClr val="tx1"/>
              </a:solidFill>
              <a:latin typeface="+mn-ea"/>
            </a:endParaRPr>
          </a:p>
          <a:p>
            <a:pPr marL="171450" indent="-171450">
              <a:buClr>
                <a:schemeClr val="accent5"/>
              </a:buClr>
              <a:buFont typeface="Arial" panose="020B0604020202020204" pitchFamily="34" charset="0"/>
              <a:buChar char="•"/>
            </a:pPr>
            <a:r>
              <a:rPr lang="en-US" altLang="ja-JP" sz="1100" dirty="0">
                <a:solidFill>
                  <a:schemeClr val="tx1"/>
                </a:solidFill>
                <a:latin typeface="+mn-ea"/>
              </a:rPr>
              <a:t>AI</a:t>
            </a:r>
            <a:r>
              <a:rPr lang="ja-JP" altLang="en-US" sz="1100" dirty="0">
                <a:solidFill>
                  <a:schemeClr val="tx1"/>
                </a:solidFill>
                <a:latin typeface="+mn-ea"/>
              </a:rPr>
              <a:t>回答への信頼は低く </a:t>
            </a:r>
            <a:r>
              <a:rPr lang="en-US" altLang="ja-JP" sz="1100" dirty="0">
                <a:solidFill>
                  <a:schemeClr val="tx1"/>
                </a:solidFill>
                <a:latin typeface="+mn-ea"/>
              </a:rPr>
              <a:t>(37 vs </a:t>
            </a:r>
            <a:r>
              <a:rPr lang="ja-JP" altLang="en-US" sz="1100" dirty="0">
                <a:solidFill>
                  <a:schemeClr val="tx1"/>
                </a:solidFill>
                <a:latin typeface="+mn-ea"/>
              </a:rPr>
              <a:t>家族</a:t>
            </a:r>
            <a:r>
              <a:rPr lang="en-US" altLang="ja-JP" sz="1100" dirty="0">
                <a:solidFill>
                  <a:schemeClr val="tx1"/>
                </a:solidFill>
                <a:latin typeface="+mn-ea"/>
              </a:rPr>
              <a:t>86 〔McKinsey〕)</a:t>
            </a:r>
            <a:r>
              <a:rPr lang="ja-JP" altLang="en-US" sz="1100" dirty="0">
                <a:solidFill>
                  <a:schemeClr val="tx1"/>
                </a:solidFill>
                <a:latin typeface="+mn-ea"/>
              </a:rPr>
              <a:t>、</a:t>
            </a:r>
            <a:br>
              <a:rPr lang="en-US" altLang="ja-JP" sz="1100" dirty="0">
                <a:solidFill>
                  <a:schemeClr val="tx1"/>
                </a:solidFill>
                <a:latin typeface="+mn-ea"/>
              </a:rPr>
            </a:br>
            <a:r>
              <a:rPr lang="ja-JP" altLang="en-US" sz="1100" dirty="0">
                <a:solidFill>
                  <a:schemeClr val="tx1"/>
                </a:solidFill>
                <a:latin typeface="+mn-ea"/>
              </a:rPr>
              <a:t>信頼確認は人へ回帰</a:t>
            </a:r>
          </a:p>
        </p:txBody>
      </p:sp>
      <p:sp>
        <p:nvSpPr>
          <p:cNvPr id="24" name="正方形/長方形 7">
            <a:extLst>
              <a:ext uri="{FF2B5EF4-FFF2-40B4-BE49-F238E27FC236}">
                <a16:creationId xmlns:a16="http://schemas.microsoft.com/office/drawing/2014/main" id="{177F58AC-B853-B3C0-4585-346F7A4DA97A}"/>
              </a:ext>
            </a:extLst>
          </p:cNvPr>
          <p:cNvSpPr/>
          <p:nvPr/>
        </p:nvSpPr>
        <p:spPr>
          <a:xfrm>
            <a:off x="9885432" y="2439732"/>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Clr>
                <a:schemeClr val="accent5"/>
              </a:buClr>
              <a:buFont typeface="Arial" panose="020B0604020202020204" pitchFamily="34" charset="0"/>
              <a:buChar char="•"/>
            </a:pPr>
            <a:r>
              <a:rPr lang="ja-JP" altLang="en-US" sz="1100" dirty="0">
                <a:solidFill>
                  <a:schemeClr val="tx1"/>
                </a:solidFill>
                <a:latin typeface="+mn-ea"/>
              </a:rPr>
              <a:t>真因</a:t>
            </a:r>
            <a:r>
              <a:rPr lang="en-US" altLang="ja-JP" sz="1100" dirty="0">
                <a:solidFill>
                  <a:schemeClr val="tx1"/>
                </a:solidFill>
                <a:latin typeface="+mn-ea"/>
              </a:rPr>
              <a:t>3</a:t>
            </a:r>
            <a:r>
              <a:rPr lang="ja-JP" altLang="en-US" sz="1100" dirty="0">
                <a:solidFill>
                  <a:schemeClr val="tx1"/>
                </a:solidFill>
                <a:latin typeface="+mn-ea"/>
              </a:rPr>
              <a:t> </a:t>
            </a:r>
            <a:r>
              <a:rPr lang="en-US" altLang="ja-JP" sz="1100" dirty="0">
                <a:solidFill>
                  <a:schemeClr val="tx1"/>
                </a:solidFill>
                <a:latin typeface="+mn-ea"/>
              </a:rPr>
              <a:t>(</a:t>
            </a:r>
            <a:r>
              <a:rPr lang="ja-JP" altLang="en-US" sz="1100" dirty="0">
                <a:solidFill>
                  <a:schemeClr val="tx1"/>
                </a:solidFill>
                <a:latin typeface="+mn-ea"/>
              </a:rPr>
              <a:t>仕組みの不在</a:t>
            </a:r>
            <a:r>
              <a:rPr lang="en-US" altLang="ja-JP" sz="1100" dirty="0">
                <a:solidFill>
                  <a:schemeClr val="tx1"/>
                </a:solidFill>
                <a:latin typeface="+mn-ea"/>
              </a:rPr>
              <a:t>)</a:t>
            </a:r>
          </a:p>
          <a:p>
            <a:pPr marL="171450" indent="-171450">
              <a:buClr>
                <a:schemeClr val="accent5"/>
              </a:buClr>
              <a:buFont typeface="Arial" panose="020B0604020202020204" pitchFamily="34" charset="0"/>
              <a:buChar char="•"/>
            </a:pPr>
            <a:r>
              <a:rPr lang="ja-JP" altLang="en-US" sz="1100" dirty="0">
                <a:solidFill>
                  <a:schemeClr val="tx1"/>
                </a:solidFill>
                <a:latin typeface="+mn-ea"/>
              </a:rPr>
              <a:t>生成</a:t>
            </a:r>
            <a:r>
              <a:rPr lang="en-US" altLang="ja-JP" sz="1100" dirty="0">
                <a:solidFill>
                  <a:schemeClr val="tx1"/>
                </a:solidFill>
                <a:latin typeface="+mn-ea"/>
              </a:rPr>
              <a:t>AI</a:t>
            </a:r>
            <a:r>
              <a:rPr lang="ja-JP" altLang="en-US" sz="1100" dirty="0">
                <a:solidFill>
                  <a:schemeClr val="tx1"/>
                </a:solidFill>
                <a:latin typeface="+mn-ea"/>
              </a:rPr>
              <a:t>普及は</a:t>
            </a:r>
            <a:r>
              <a:rPr lang="en-US" altLang="ja-JP" sz="1100" dirty="0">
                <a:solidFill>
                  <a:schemeClr val="tx1"/>
                </a:solidFill>
                <a:latin typeface="+mn-ea"/>
              </a:rPr>
              <a:t>1</a:t>
            </a:r>
            <a:r>
              <a:rPr lang="ja-JP" altLang="en-US" sz="1100" dirty="0">
                <a:solidFill>
                  <a:schemeClr val="tx1"/>
                </a:solidFill>
                <a:latin typeface="+mn-ea"/>
              </a:rPr>
              <a:t>年で約</a:t>
            </a:r>
            <a:r>
              <a:rPr lang="en-US" altLang="ja-JP" sz="1100" dirty="0">
                <a:solidFill>
                  <a:schemeClr val="tx1"/>
                </a:solidFill>
                <a:latin typeface="+mn-ea"/>
              </a:rPr>
              <a:t>3</a:t>
            </a:r>
            <a:r>
              <a:rPr lang="ja-JP" altLang="en-US" sz="1100" dirty="0">
                <a:solidFill>
                  <a:schemeClr val="tx1"/>
                </a:solidFill>
                <a:latin typeface="+mn-ea"/>
              </a:rPr>
              <a:t>倍</a:t>
            </a:r>
            <a:r>
              <a:rPr lang="en-US" altLang="ja-JP" sz="1100" dirty="0">
                <a:solidFill>
                  <a:schemeClr val="tx1"/>
                </a:solidFill>
                <a:latin typeface="+mn-ea"/>
              </a:rPr>
              <a:t>〔</a:t>
            </a:r>
            <a:r>
              <a:rPr lang="ja-JP" altLang="en-US" sz="1100" dirty="0">
                <a:solidFill>
                  <a:schemeClr val="tx1"/>
                </a:solidFill>
                <a:latin typeface="+mn-ea"/>
              </a:rPr>
              <a:t>総務省白書</a:t>
            </a:r>
            <a:r>
              <a:rPr lang="en-US" altLang="ja-JP" sz="1100" dirty="0">
                <a:solidFill>
                  <a:schemeClr val="tx1"/>
                </a:solidFill>
                <a:latin typeface="+mn-ea"/>
              </a:rPr>
              <a:t>〕</a:t>
            </a:r>
            <a:r>
              <a:rPr lang="ja-JP" altLang="en-US" sz="1100" dirty="0">
                <a:solidFill>
                  <a:schemeClr val="tx1"/>
                </a:solidFill>
                <a:latin typeface="+mn-ea"/>
              </a:rPr>
              <a:t>＝期限は自社で選べない</a:t>
            </a:r>
            <a:endParaRPr lang="en-US" altLang="ja-JP" sz="1100" dirty="0">
              <a:solidFill>
                <a:schemeClr val="tx1"/>
              </a:solidFill>
              <a:latin typeface="+mn-ea"/>
            </a:endParaRPr>
          </a:p>
          <a:p>
            <a:pPr marL="171450" indent="-171450">
              <a:buClr>
                <a:schemeClr val="accent5"/>
              </a:buClr>
              <a:buFont typeface="Arial" panose="020B0604020202020204" pitchFamily="34" charset="0"/>
              <a:buChar char="•"/>
            </a:pPr>
            <a:r>
              <a:rPr lang="ja-JP" altLang="en-US" sz="1100" dirty="0">
                <a:solidFill>
                  <a:schemeClr val="tx1"/>
                </a:solidFill>
                <a:latin typeface="+mn-ea"/>
              </a:rPr>
              <a:t>対</a:t>
            </a:r>
            <a:r>
              <a:rPr lang="en-US" altLang="ja-JP" sz="1100" dirty="0">
                <a:solidFill>
                  <a:schemeClr val="tx1"/>
                </a:solidFill>
                <a:latin typeface="+mn-ea"/>
              </a:rPr>
              <a:t>P&amp;G</a:t>
            </a:r>
            <a:r>
              <a:rPr lang="ja-JP" altLang="en-US" sz="1100" dirty="0">
                <a:solidFill>
                  <a:schemeClr val="tx1"/>
                </a:solidFill>
                <a:latin typeface="+mn-ea"/>
              </a:rPr>
              <a:t>生産性</a:t>
            </a:r>
            <a:r>
              <a:rPr lang="en-US" altLang="ja-JP" sz="1100" dirty="0">
                <a:solidFill>
                  <a:schemeClr val="tx1"/>
                </a:solidFill>
                <a:latin typeface="+mn-ea"/>
              </a:rPr>
              <a:t>7.6</a:t>
            </a:r>
            <a:r>
              <a:rPr lang="ja-JP" altLang="en-US" sz="1100" dirty="0">
                <a:solidFill>
                  <a:schemeClr val="tx1"/>
                </a:solidFill>
                <a:latin typeface="+mn-ea"/>
              </a:rPr>
              <a:t>倍差</a:t>
            </a:r>
          </a:p>
        </p:txBody>
      </p:sp>
      <p:cxnSp>
        <p:nvCxnSpPr>
          <p:cNvPr id="28" name="直線コネクタ 27">
            <a:extLst>
              <a:ext uri="{FF2B5EF4-FFF2-40B4-BE49-F238E27FC236}">
                <a16:creationId xmlns:a16="http://schemas.microsoft.com/office/drawing/2014/main" id="{72DFB624-0A35-A012-50FD-5385C1C2D462}"/>
              </a:ext>
            </a:extLst>
          </p:cNvPr>
          <p:cNvCxnSpPr/>
          <p:nvPr/>
        </p:nvCxnSpPr>
        <p:spPr>
          <a:xfrm>
            <a:off x="3764825" y="3364804"/>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25ED8667-0A98-EFF2-0F63-AA06CE31C65E}"/>
              </a:ext>
            </a:extLst>
          </p:cNvPr>
          <p:cNvCxnSpPr/>
          <p:nvPr/>
        </p:nvCxnSpPr>
        <p:spPr>
          <a:xfrm>
            <a:off x="5805028" y="3364804"/>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1FAFA9B6-0C3E-A623-E8BB-40D965DF8215}"/>
              </a:ext>
            </a:extLst>
          </p:cNvPr>
          <p:cNvCxnSpPr/>
          <p:nvPr/>
        </p:nvCxnSpPr>
        <p:spPr>
          <a:xfrm>
            <a:off x="7845229" y="3364804"/>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903D051D-A927-F641-CB2B-170E6003433E}"/>
              </a:ext>
            </a:extLst>
          </p:cNvPr>
          <p:cNvCxnSpPr/>
          <p:nvPr/>
        </p:nvCxnSpPr>
        <p:spPr>
          <a:xfrm>
            <a:off x="9885432" y="3364804"/>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1CDFBA8C-199A-0867-FC84-58EA8D4E2A63}"/>
              </a:ext>
            </a:extLst>
          </p:cNvPr>
          <p:cNvSpPr/>
          <p:nvPr/>
        </p:nvSpPr>
        <p:spPr>
          <a:xfrm>
            <a:off x="1724624" y="3449155"/>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100" dirty="0">
                <a:solidFill>
                  <a:schemeClr val="tx1"/>
                </a:solidFill>
                <a:latin typeface="+mn-ea"/>
              </a:rPr>
              <a:t>傾斜した資源を新しい使い方に</a:t>
            </a:r>
            <a:br>
              <a:rPr lang="en-US" altLang="ja-JP" sz="1100" dirty="0">
                <a:solidFill>
                  <a:schemeClr val="tx1"/>
                </a:solidFill>
                <a:latin typeface="+mn-ea"/>
              </a:rPr>
            </a:br>
            <a:r>
              <a:rPr lang="ja-JP" altLang="en-US" sz="1100" dirty="0">
                <a:solidFill>
                  <a:schemeClr val="tx1"/>
                </a:solidFill>
                <a:latin typeface="+mn-ea"/>
              </a:rPr>
              <a:t>流し込む。オーラルケアを</a:t>
            </a:r>
            <a:r>
              <a:rPr lang="en-US" altLang="ja-JP" sz="1100" dirty="0">
                <a:solidFill>
                  <a:schemeClr val="tx1"/>
                </a:solidFill>
                <a:latin typeface="+mn-ea"/>
              </a:rPr>
              <a:t>4</a:t>
            </a:r>
            <a:r>
              <a:rPr lang="ja-JP" altLang="en-US" sz="1100" dirty="0">
                <a:solidFill>
                  <a:schemeClr val="tx1"/>
                </a:solidFill>
                <a:latin typeface="+mn-ea"/>
              </a:rPr>
              <a:t>分割し、分割別</a:t>
            </a:r>
            <a:r>
              <a:rPr lang="en-US" altLang="ja-JP" sz="1100" dirty="0">
                <a:solidFill>
                  <a:schemeClr val="tx1"/>
                </a:solidFill>
                <a:latin typeface="+mn-ea"/>
              </a:rPr>
              <a:t>KPI</a:t>
            </a:r>
            <a:r>
              <a:rPr lang="ja-JP" altLang="en-US" sz="1100" dirty="0">
                <a:solidFill>
                  <a:schemeClr val="tx1"/>
                </a:solidFill>
                <a:latin typeface="+mn-ea"/>
              </a:rPr>
              <a:t>と</a:t>
            </a:r>
            <a:r>
              <a:rPr lang="en-US" altLang="ja-JP" sz="1100" dirty="0">
                <a:solidFill>
                  <a:schemeClr val="tx1"/>
                </a:solidFill>
                <a:latin typeface="+mn-ea"/>
              </a:rPr>
              <a:t>ROIC</a:t>
            </a:r>
            <a:r>
              <a:rPr lang="ja-JP" altLang="en-US" sz="1100" dirty="0">
                <a:solidFill>
                  <a:schemeClr val="tx1"/>
                </a:solidFill>
                <a:latin typeface="+mn-ea"/>
              </a:rPr>
              <a:t>基準で使い方を裁く</a:t>
            </a:r>
          </a:p>
        </p:txBody>
      </p:sp>
      <p:sp>
        <p:nvSpPr>
          <p:cNvPr id="48" name="正方形/長方形 7">
            <a:extLst>
              <a:ext uri="{FF2B5EF4-FFF2-40B4-BE49-F238E27FC236}">
                <a16:creationId xmlns:a16="http://schemas.microsoft.com/office/drawing/2014/main" id="{789EC63F-9E09-33CB-1764-3380FFCB372B}"/>
              </a:ext>
            </a:extLst>
          </p:cNvPr>
          <p:cNvSpPr/>
          <p:nvPr/>
        </p:nvSpPr>
        <p:spPr>
          <a:xfrm>
            <a:off x="3764826" y="3449155"/>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ja-JP" sz="1100" dirty="0">
                <a:solidFill>
                  <a:schemeClr val="tx1"/>
                </a:solidFill>
                <a:latin typeface="+mn-ea"/>
              </a:rPr>
              <a:t>30</a:t>
            </a:r>
            <a:r>
              <a:rPr lang="ja-JP" altLang="en-US" sz="1100" dirty="0">
                <a:solidFill>
                  <a:schemeClr val="tx1"/>
                </a:solidFill>
                <a:latin typeface="+mn-ea"/>
              </a:rPr>
              <a:t>年の臨床データを「人に伝わる根拠」と「</a:t>
            </a:r>
            <a:r>
              <a:rPr lang="en-US" altLang="ja-JP" sz="1100" dirty="0">
                <a:solidFill>
                  <a:schemeClr val="tx1"/>
                </a:solidFill>
                <a:latin typeface="+mn-ea"/>
              </a:rPr>
              <a:t>AI</a:t>
            </a:r>
            <a:r>
              <a:rPr lang="ja-JP" altLang="en-US" sz="1100" dirty="0">
                <a:solidFill>
                  <a:schemeClr val="tx1"/>
                </a:solidFill>
                <a:latin typeface="+mn-ea"/>
              </a:rPr>
              <a:t>に引用される構造化知識」の両形式に変換。健康の成果に責任を持つ</a:t>
            </a:r>
          </a:p>
        </p:txBody>
      </p:sp>
      <p:sp>
        <p:nvSpPr>
          <p:cNvPr id="49" name="正方形/長方形 7">
            <a:extLst>
              <a:ext uri="{FF2B5EF4-FFF2-40B4-BE49-F238E27FC236}">
                <a16:creationId xmlns:a16="http://schemas.microsoft.com/office/drawing/2014/main" id="{69CF5B6B-19F9-49FC-61D2-E3796902EBBB}"/>
              </a:ext>
            </a:extLst>
          </p:cNvPr>
          <p:cNvSpPr/>
          <p:nvPr/>
        </p:nvSpPr>
        <p:spPr>
          <a:xfrm>
            <a:off x="5805028" y="3449155"/>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100" dirty="0">
                <a:solidFill>
                  <a:schemeClr val="tx1"/>
                </a:solidFill>
                <a:latin typeface="+mn-ea"/>
              </a:rPr>
              <a:t>棚・</a:t>
            </a:r>
            <a:r>
              <a:rPr lang="en-US" altLang="ja-JP" sz="1100" dirty="0">
                <a:solidFill>
                  <a:schemeClr val="tx1"/>
                </a:solidFill>
                <a:latin typeface="+mn-ea"/>
              </a:rPr>
              <a:t>EC</a:t>
            </a:r>
            <a:r>
              <a:rPr lang="ja-JP" altLang="en-US" sz="1100" dirty="0">
                <a:solidFill>
                  <a:schemeClr val="tx1"/>
                </a:solidFill>
                <a:latin typeface="+mn-ea"/>
              </a:rPr>
              <a:t>・</a:t>
            </a:r>
            <a:r>
              <a:rPr lang="en-US" altLang="ja-JP" sz="1100" dirty="0">
                <a:solidFill>
                  <a:schemeClr val="tx1"/>
                </a:solidFill>
                <a:latin typeface="+mn-ea"/>
              </a:rPr>
              <a:t>AI</a:t>
            </a:r>
            <a:r>
              <a:rPr lang="ja-JP" altLang="en-US" sz="1100" dirty="0">
                <a:solidFill>
                  <a:schemeClr val="tx1"/>
                </a:solidFill>
                <a:latin typeface="+mn-ea"/>
              </a:rPr>
              <a:t>推奨・歯科接点を</a:t>
            </a:r>
            <a:r>
              <a:rPr lang="en-US" altLang="ja-JP" sz="1100" dirty="0">
                <a:solidFill>
                  <a:schemeClr val="tx1"/>
                </a:solidFill>
                <a:latin typeface="+mn-ea"/>
              </a:rPr>
              <a:t>TA</a:t>
            </a:r>
            <a:br>
              <a:rPr lang="en-US" altLang="ja-JP" sz="1100" dirty="0">
                <a:solidFill>
                  <a:schemeClr val="tx1"/>
                </a:solidFill>
                <a:latin typeface="+mn-ea"/>
              </a:rPr>
            </a:br>
            <a:r>
              <a:rPr lang="ja-JP" altLang="en-US" sz="1100" dirty="0">
                <a:solidFill>
                  <a:schemeClr val="tx1"/>
                </a:solidFill>
                <a:latin typeface="+mn-ea"/>
              </a:rPr>
              <a:t>の</a:t>
            </a:r>
            <a:r>
              <a:rPr lang="en-US" altLang="ja-JP" sz="1100" dirty="0">
                <a:solidFill>
                  <a:schemeClr val="tx1"/>
                </a:solidFill>
                <a:latin typeface="+mn-ea"/>
              </a:rPr>
              <a:t>1</a:t>
            </a:r>
            <a:r>
              <a:rPr lang="ja-JP" altLang="en-US" sz="1100" dirty="0">
                <a:solidFill>
                  <a:schemeClr val="tx1"/>
                </a:solidFill>
                <a:latin typeface="+mn-ea"/>
              </a:rPr>
              <a:t>スコアで統合。小売とは共同</a:t>
            </a:r>
            <a:r>
              <a:rPr lang="en-US" altLang="ja-JP" sz="1100" dirty="0">
                <a:solidFill>
                  <a:schemeClr val="tx1"/>
                </a:solidFill>
                <a:latin typeface="+mn-ea"/>
              </a:rPr>
              <a:t>KPI</a:t>
            </a:r>
            <a:r>
              <a:rPr lang="ja-JP" altLang="en-US" sz="1100" dirty="0">
                <a:solidFill>
                  <a:schemeClr val="tx1"/>
                </a:solidFill>
                <a:latin typeface="+mn-ea"/>
              </a:rPr>
              <a:t>の</a:t>
            </a:r>
            <a:r>
              <a:rPr lang="en-US" altLang="ja-JP" sz="1100" dirty="0">
                <a:solidFill>
                  <a:schemeClr val="tx1"/>
                </a:solidFill>
                <a:latin typeface="+mn-ea"/>
              </a:rPr>
              <a:t>JBP</a:t>
            </a:r>
            <a:r>
              <a:rPr lang="ja-JP" altLang="en-US" sz="1100" dirty="0">
                <a:solidFill>
                  <a:schemeClr val="tx1"/>
                </a:solidFill>
                <a:latin typeface="+mn-ea"/>
              </a:rPr>
              <a:t>、商談は「値引き</a:t>
            </a:r>
            <a:r>
              <a:rPr lang="en-US" altLang="ja-JP" sz="1100" dirty="0">
                <a:solidFill>
                  <a:schemeClr val="tx1"/>
                </a:solidFill>
                <a:latin typeface="+mn-ea"/>
              </a:rPr>
              <a:t>70</a:t>
            </a:r>
            <a:r>
              <a:rPr lang="ja-JP" altLang="en-US" sz="1100" dirty="0">
                <a:solidFill>
                  <a:schemeClr val="tx1"/>
                </a:solidFill>
                <a:latin typeface="+mn-ea"/>
              </a:rPr>
              <a:t>＋施策</a:t>
            </a:r>
            <a:r>
              <a:rPr lang="en-US" altLang="ja-JP" sz="1100" dirty="0">
                <a:solidFill>
                  <a:schemeClr val="tx1"/>
                </a:solidFill>
                <a:latin typeface="+mn-ea"/>
              </a:rPr>
              <a:t>30</a:t>
            </a:r>
            <a:r>
              <a:rPr lang="ja-JP" altLang="en-US" sz="1100" dirty="0">
                <a:solidFill>
                  <a:schemeClr val="tx1"/>
                </a:solidFill>
                <a:latin typeface="+mn-ea"/>
              </a:rPr>
              <a:t>＋成果連動」で</a:t>
            </a:r>
          </a:p>
        </p:txBody>
      </p:sp>
      <p:sp>
        <p:nvSpPr>
          <p:cNvPr id="50" name="正方形/長方形 7">
            <a:extLst>
              <a:ext uri="{FF2B5EF4-FFF2-40B4-BE49-F238E27FC236}">
                <a16:creationId xmlns:a16="http://schemas.microsoft.com/office/drawing/2014/main" id="{AC369819-B7E9-3C98-6C81-E6AF5DC56A2D}"/>
              </a:ext>
            </a:extLst>
          </p:cNvPr>
          <p:cNvSpPr/>
          <p:nvPr/>
        </p:nvSpPr>
        <p:spPr>
          <a:xfrm>
            <a:off x="7845230" y="3449155"/>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ja-JP" sz="1050" dirty="0">
                <a:solidFill>
                  <a:schemeClr val="tx1"/>
                </a:solidFill>
                <a:latin typeface="+mn-ea"/>
              </a:rPr>
              <a:t>LION ID</a:t>
            </a:r>
            <a:r>
              <a:rPr lang="ja-JP" altLang="en-US" sz="1050" dirty="0">
                <a:solidFill>
                  <a:schemeClr val="tx1"/>
                </a:solidFill>
                <a:latin typeface="+mn-ea"/>
              </a:rPr>
              <a:t>を口腔健康</a:t>
            </a:r>
            <a:r>
              <a:rPr lang="en-US" altLang="ja-JP" sz="1050" dirty="0">
                <a:solidFill>
                  <a:schemeClr val="tx1"/>
                </a:solidFill>
                <a:latin typeface="+mn-ea"/>
              </a:rPr>
              <a:t>OS</a:t>
            </a:r>
            <a:r>
              <a:rPr lang="ja-JP" altLang="en-US" sz="1050" dirty="0">
                <a:solidFill>
                  <a:schemeClr val="tx1"/>
                </a:solidFill>
                <a:latin typeface="+mn-ea"/>
              </a:rPr>
              <a:t>へ転換。測るのは行動。リピート・定期登録・</a:t>
            </a:r>
            <a:br>
              <a:rPr lang="en-US" altLang="ja-JP" sz="1050" dirty="0">
                <a:solidFill>
                  <a:schemeClr val="tx1"/>
                </a:solidFill>
                <a:latin typeface="+mn-ea"/>
              </a:rPr>
            </a:br>
            <a:r>
              <a:rPr lang="en-US" altLang="ja-JP" sz="1050" dirty="0">
                <a:solidFill>
                  <a:schemeClr val="tx1"/>
                </a:solidFill>
                <a:latin typeface="+mn-ea"/>
              </a:rPr>
              <a:t>90</a:t>
            </a:r>
            <a:r>
              <a:rPr lang="ja-JP" altLang="en-US" sz="1050" dirty="0">
                <a:solidFill>
                  <a:schemeClr val="tx1"/>
                </a:solidFill>
                <a:latin typeface="+mn-ea"/>
              </a:rPr>
              <a:t>日継続 </a:t>
            </a:r>
            <a:r>
              <a:rPr lang="en-US" altLang="ja-JP" sz="1050" dirty="0">
                <a:solidFill>
                  <a:schemeClr val="tx1"/>
                </a:solidFill>
                <a:latin typeface="+mn-ea"/>
              </a:rPr>
              <a:t>/ </a:t>
            </a:r>
            <a:r>
              <a:rPr lang="ja-JP" altLang="en-US" sz="1050" dirty="0">
                <a:solidFill>
                  <a:schemeClr val="tx1"/>
                </a:solidFill>
                <a:latin typeface="+mn-ea"/>
              </a:rPr>
              <a:t>共同事業件数 </a:t>
            </a:r>
            <a:r>
              <a:rPr lang="en-US" altLang="ja-JP" sz="1050" dirty="0">
                <a:solidFill>
                  <a:schemeClr val="tx1"/>
                </a:solidFill>
                <a:latin typeface="+mn-ea"/>
              </a:rPr>
              <a:t>/ </a:t>
            </a:r>
            <a:br>
              <a:rPr lang="en-US" altLang="ja-JP" sz="1050" dirty="0">
                <a:solidFill>
                  <a:schemeClr val="tx1"/>
                </a:solidFill>
                <a:latin typeface="+mn-ea"/>
              </a:rPr>
            </a:br>
            <a:r>
              <a:rPr lang="ja-JP" altLang="en-US" sz="1050" dirty="0">
                <a:solidFill>
                  <a:schemeClr val="tx1"/>
                </a:solidFill>
                <a:latin typeface="+mn-ea"/>
              </a:rPr>
              <a:t>推奨起点売上</a:t>
            </a:r>
          </a:p>
        </p:txBody>
      </p:sp>
      <p:sp>
        <p:nvSpPr>
          <p:cNvPr id="51" name="正方形/長方形 7">
            <a:extLst>
              <a:ext uri="{FF2B5EF4-FFF2-40B4-BE49-F238E27FC236}">
                <a16:creationId xmlns:a16="http://schemas.microsoft.com/office/drawing/2014/main" id="{5E5A9093-9B56-28B0-D0DC-242255515075}"/>
              </a:ext>
            </a:extLst>
          </p:cNvPr>
          <p:cNvSpPr/>
          <p:nvPr/>
        </p:nvSpPr>
        <p:spPr>
          <a:xfrm>
            <a:off x="9885432" y="3449155"/>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050" dirty="0">
                <a:solidFill>
                  <a:schemeClr val="tx1"/>
                </a:solidFill>
                <a:latin typeface="+mn-ea"/>
              </a:rPr>
              <a:t>ゼロ化で時間を生み、混成チーム</a:t>
            </a:r>
            <a:r>
              <a:rPr lang="en-US" altLang="ja-JP" sz="1050" dirty="0">
                <a:solidFill>
                  <a:schemeClr val="tx1"/>
                </a:solidFill>
                <a:latin typeface="+mn-ea"/>
              </a:rPr>
              <a:t>×</a:t>
            </a:r>
            <a:br>
              <a:rPr lang="en-US" altLang="ja-JP" sz="1050" dirty="0">
                <a:solidFill>
                  <a:schemeClr val="tx1"/>
                </a:solidFill>
                <a:latin typeface="+mn-ea"/>
              </a:rPr>
            </a:br>
            <a:r>
              <a:rPr lang="ja-JP" altLang="en-US" sz="1050" dirty="0">
                <a:solidFill>
                  <a:schemeClr val="tx1"/>
                </a:solidFill>
                <a:latin typeface="+mn-ea"/>
              </a:rPr>
              <a:t>最上位</a:t>
            </a:r>
            <a:r>
              <a:rPr lang="en-US" altLang="ja-JP" sz="1050" dirty="0">
                <a:solidFill>
                  <a:schemeClr val="tx1"/>
                </a:solidFill>
                <a:latin typeface="+mn-ea"/>
              </a:rPr>
              <a:t>KPI</a:t>
            </a:r>
            <a:r>
              <a:rPr lang="ja-JP" altLang="en-US" sz="1050" dirty="0">
                <a:solidFill>
                  <a:schemeClr val="tx1"/>
                </a:solidFill>
                <a:latin typeface="+mn-ea"/>
              </a:rPr>
              <a:t> </a:t>
            </a:r>
            <a:r>
              <a:rPr lang="en-US" altLang="ja-JP" sz="1050" dirty="0">
                <a:solidFill>
                  <a:schemeClr val="tx1"/>
                </a:solidFill>
                <a:latin typeface="+mn-ea"/>
              </a:rPr>
              <a:t>(</a:t>
            </a:r>
            <a:r>
              <a:rPr lang="ja-JP" altLang="en-US" sz="1050" dirty="0">
                <a:solidFill>
                  <a:schemeClr val="tx1"/>
                </a:solidFill>
                <a:latin typeface="+mn-ea"/>
              </a:rPr>
              <a:t>増分粗利</a:t>
            </a:r>
            <a:r>
              <a:rPr lang="en-US" altLang="ja-JP" sz="1050" dirty="0">
                <a:solidFill>
                  <a:schemeClr val="tx1"/>
                </a:solidFill>
                <a:latin typeface="+mn-ea"/>
              </a:rPr>
              <a:t>) </a:t>
            </a:r>
            <a:r>
              <a:rPr lang="ja-JP" altLang="en-US" sz="1050" dirty="0">
                <a:solidFill>
                  <a:schemeClr val="tx1"/>
                </a:solidFill>
                <a:latin typeface="+mn-ea"/>
              </a:rPr>
              <a:t>で束ねる。役員オーナー制＋撤退基準＋</a:t>
            </a:r>
            <a:br>
              <a:rPr lang="en-US" altLang="ja-JP" sz="1050" dirty="0">
                <a:solidFill>
                  <a:schemeClr val="tx1"/>
                </a:solidFill>
                <a:latin typeface="+mn-ea"/>
              </a:rPr>
            </a:br>
            <a:r>
              <a:rPr lang="ja-JP" altLang="en-US" sz="1050" dirty="0">
                <a:solidFill>
                  <a:schemeClr val="tx1"/>
                </a:solidFill>
                <a:latin typeface="+mn-ea"/>
              </a:rPr>
              <a:t>検証責任は提案側</a:t>
            </a:r>
          </a:p>
        </p:txBody>
      </p:sp>
      <p:cxnSp>
        <p:nvCxnSpPr>
          <p:cNvPr id="46" name="直線コネクタ 45">
            <a:extLst>
              <a:ext uri="{FF2B5EF4-FFF2-40B4-BE49-F238E27FC236}">
                <a16:creationId xmlns:a16="http://schemas.microsoft.com/office/drawing/2014/main" id="{4D30A997-6B0D-76B3-162A-426A80084A13}"/>
              </a:ext>
            </a:extLst>
          </p:cNvPr>
          <p:cNvCxnSpPr/>
          <p:nvPr/>
        </p:nvCxnSpPr>
        <p:spPr>
          <a:xfrm>
            <a:off x="1724624" y="4374227"/>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74B9108-E403-43A6-0222-633F287ADE9D}"/>
              </a:ext>
            </a:extLst>
          </p:cNvPr>
          <p:cNvCxnSpPr/>
          <p:nvPr/>
        </p:nvCxnSpPr>
        <p:spPr>
          <a:xfrm>
            <a:off x="3764825" y="4374227"/>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8F4F9D1F-996C-1D16-7208-AF4FF39B6A2E}"/>
              </a:ext>
            </a:extLst>
          </p:cNvPr>
          <p:cNvCxnSpPr/>
          <p:nvPr/>
        </p:nvCxnSpPr>
        <p:spPr>
          <a:xfrm>
            <a:off x="5805028" y="4374227"/>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1082CFBC-D4D0-1379-943B-F1EFED612EA9}"/>
              </a:ext>
            </a:extLst>
          </p:cNvPr>
          <p:cNvCxnSpPr/>
          <p:nvPr/>
        </p:nvCxnSpPr>
        <p:spPr>
          <a:xfrm>
            <a:off x="7845229" y="4374227"/>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CCC4D143-9709-2C21-6434-B6D4258A6D6C}"/>
              </a:ext>
            </a:extLst>
          </p:cNvPr>
          <p:cNvCxnSpPr/>
          <p:nvPr/>
        </p:nvCxnSpPr>
        <p:spPr>
          <a:xfrm>
            <a:off x="9885432" y="4374227"/>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a16:creationId xmlns:a16="http://schemas.microsoft.com/office/drawing/2014/main" id="{B4D85B65-1884-95EB-9BF3-9826623C5649}"/>
              </a:ext>
            </a:extLst>
          </p:cNvPr>
          <p:cNvCxnSpPr/>
          <p:nvPr/>
        </p:nvCxnSpPr>
        <p:spPr>
          <a:xfrm>
            <a:off x="1724624" y="5383652"/>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1BD6EF0E-1CD8-381A-A540-9CF5F96592CC}"/>
              </a:ext>
            </a:extLst>
          </p:cNvPr>
          <p:cNvCxnSpPr/>
          <p:nvPr/>
        </p:nvCxnSpPr>
        <p:spPr>
          <a:xfrm>
            <a:off x="3764825" y="5383652"/>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E9377F23-1098-D9E0-27EC-7F6853ACE490}"/>
              </a:ext>
            </a:extLst>
          </p:cNvPr>
          <p:cNvCxnSpPr/>
          <p:nvPr/>
        </p:nvCxnSpPr>
        <p:spPr>
          <a:xfrm>
            <a:off x="5805028" y="5383652"/>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a16:creationId xmlns:a16="http://schemas.microsoft.com/office/drawing/2014/main" id="{B5EA363B-1B52-EF1B-E557-92B7BB1080D6}"/>
              </a:ext>
            </a:extLst>
          </p:cNvPr>
          <p:cNvCxnSpPr/>
          <p:nvPr/>
        </p:nvCxnSpPr>
        <p:spPr>
          <a:xfrm>
            <a:off x="7845229" y="5383652"/>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a16:creationId xmlns:a16="http://schemas.microsoft.com/office/drawing/2014/main" id="{5FBF3820-7835-D7F0-2842-A2017F49A044}"/>
              </a:ext>
            </a:extLst>
          </p:cNvPr>
          <p:cNvCxnSpPr/>
          <p:nvPr/>
        </p:nvCxnSpPr>
        <p:spPr>
          <a:xfrm>
            <a:off x="9885432" y="5383652"/>
            <a:ext cx="196400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64" name="グループ化 63">
            <a:extLst>
              <a:ext uri="{FF2B5EF4-FFF2-40B4-BE49-F238E27FC236}">
                <a16:creationId xmlns:a16="http://schemas.microsoft.com/office/drawing/2014/main" id="{947B2C45-095A-5205-00C0-1E5F136A4FBE}"/>
              </a:ext>
            </a:extLst>
          </p:cNvPr>
          <p:cNvGrpSpPr/>
          <p:nvPr/>
        </p:nvGrpSpPr>
        <p:grpSpPr>
          <a:xfrm>
            <a:off x="3764825" y="4458578"/>
            <a:ext cx="1964001" cy="840722"/>
            <a:chOff x="1724624" y="4458578"/>
            <a:chExt cx="1964001" cy="840722"/>
          </a:xfrm>
        </p:grpSpPr>
        <p:sp>
          <p:nvSpPr>
            <p:cNvPr id="65" name="正方形/長方形 64">
              <a:extLst>
                <a:ext uri="{FF2B5EF4-FFF2-40B4-BE49-F238E27FC236}">
                  <a16:creationId xmlns:a16="http://schemas.microsoft.com/office/drawing/2014/main" id="{0136B857-17EA-F66C-ECB8-65EF35290CE9}"/>
                </a:ext>
              </a:extLst>
            </p:cNvPr>
            <p:cNvSpPr/>
            <p:nvPr/>
          </p:nvSpPr>
          <p:spPr>
            <a:xfrm>
              <a:off x="1724624" y="4458578"/>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A1★</a:t>
              </a:r>
            </a:p>
          </p:txBody>
        </p:sp>
        <p:sp>
          <p:nvSpPr>
            <p:cNvPr id="66" name="正方形/長方形 65">
              <a:extLst>
                <a:ext uri="{FF2B5EF4-FFF2-40B4-BE49-F238E27FC236}">
                  <a16:creationId xmlns:a16="http://schemas.microsoft.com/office/drawing/2014/main" id="{4A460744-F96D-FE19-8F0F-0EB8850B68CD}"/>
                </a:ext>
              </a:extLst>
            </p:cNvPr>
            <p:cNvSpPr/>
            <p:nvPr/>
          </p:nvSpPr>
          <p:spPr>
            <a:xfrm>
              <a:off x="1724624" y="4917491"/>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C1★</a:t>
              </a:r>
            </a:p>
          </p:txBody>
        </p:sp>
        <p:sp>
          <p:nvSpPr>
            <p:cNvPr id="67" name="正方形/長方形 66">
              <a:extLst>
                <a:ext uri="{FF2B5EF4-FFF2-40B4-BE49-F238E27FC236}">
                  <a16:creationId xmlns:a16="http://schemas.microsoft.com/office/drawing/2014/main" id="{F8D3D7AC-AE4C-F36A-4320-D7B917416B87}"/>
                </a:ext>
              </a:extLst>
            </p:cNvPr>
            <p:cNvSpPr/>
            <p:nvPr/>
          </p:nvSpPr>
          <p:spPr>
            <a:xfrm>
              <a:off x="2224912" y="4458578"/>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100" dirty="0">
                  <a:solidFill>
                    <a:schemeClr val="accent5"/>
                  </a:solidFill>
                  <a:latin typeface="+mn-ea"/>
                </a:rPr>
                <a:t>属性データの構造化・</a:t>
              </a:r>
              <a:r>
                <a:rPr lang="en-US" altLang="ja-JP" sz="1100" dirty="0">
                  <a:solidFill>
                    <a:schemeClr val="accent5"/>
                  </a:solidFill>
                  <a:latin typeface="+mn-ea"/>
                </a:rPr>
                <a:t>API</a:t>
              </a:r>
              <a:r>
                <a:rPr lang="ja-JP" altLang="en-US" sz="1100" dirty="0">
                  <a:solidFill>
                    <a:schemeClr val="accent5"/>
                  </a:solidFill>
                  <a:latin typeface="+mn-ea"/>
                </a:rPr>
                <a:t>化</a:t>
              </a:r>
              <a:endParaRPr lang="ja-JP" altLang="en-US" sz="1100" dirty="0">
                <a:solidFill>
                  <a:schemeClr val="tx1"/>
                </a:solidFill>
                <a:latin typeface="+mn-ea"/>
              </a:endParaRPr>
            </a:p>
          </p:txBody>
        </p:sp>
        <p:sp>
          <p:nvSpPr>
            <p:cNvPr id="68" name="正方形/長方形 67">
              <a:extLst>
                <a:ext uri="{FF2B5EF4-FFF2-40B4-BE49-F238E27FC236}">
                  <a16:creationId xmlns:a16="http://schemas.microsoft.com/office/drawing/2014/main" id="{C7C3C9B5-7B0A-914A-B6D0-31A1FB7A14AC}"/>
                </a:ext>
              </a:extLst>
            </p:cNvPr>
            <p:cNvSpPr/>
            <p:nvPr/>
          </p:nvSpPr>
          <p:spPr>
            <a:xfrm>
              <a:off x="2224912" y="4917491"/>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100" dirty="0">
                  <a:solidFill>
                    <a:schemeClr val="accent5"/>
                  </a:solidFill>
                  <a:latin typeface="+mn-ea"/>
                </a:rPr>
                <a:t>臨床データ変換</a:t>
              </a:r>
              <a:endParaRPr lang="ja-JP" altLang="en-US" sz="1100" dirty="0">
                <a:solidFill>
                  <a:schemeClr val="tx1"/>
                </a:solidFill>
                <a:latin typeface="+mn-ea"/>
              </a:endParaRPr>
            </a:p>
          </p:txBody>
        </p:sp>
      </p:grpSp>
      <p:grpSp>
        <p:nvGrpSpPr>
          <p:cNvPr id="69" name="グループ化 68">
            <a:extLst>
              <a:ext uri="{FF2B5EF4-FFF2-40B4-BE49-F238E27FC236}">
                <a16:creationId xmlns:a16="http://schemas.microsoft.com/office/drawing/2014/main" id="{AEAB4CE7-F65C-B306-6D80-4D88785AD0CC}"/>
              </a:ext>
            </a:extLst>
          </p:cNvPr>
          <p:cNvGrpSpPr/>
          <p:nvPr/>
        </p:nvGrpSpPr>
        <p:grpSpPr>
          <a:xfrm>
            <a:off x="5805028" y="4458578"/>
            <a:ext cx="1964001" cy="840722"/>
            <a:chOff x="1724624" y="4458578"/>
            <a:chExt cx="1964001" cy="840722"/>
          </a:xfrm>
        </p:grpSpPr>
        <p:sp>
          <p:nvSpPr>
            <p:cNvPr id="70" name="正方形/長方形 69">
              <a:extLst>
                <a:ext uri="{FF2B5EF4-FFF2-40B4-BE49-F238E27FC236}">
                  <a16:creationId xmlns:a16="http://schemas.microsoft.com/office/drawing/2014/main" id="{BD0842E9-F50B-8CD6-85BF-8FAC1C0CA815}"/>
                </a:ext>
              </a:extLst>
            </p:cNvPr>
            <p:cNvSpPr/>
            <p:nvPr/>
          </p:nvSpPr>
          <p:spPr>
            <a:xfrm>
              <a:off x="1724624" y="4458578"/>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B2</a:t>
              </a:r>
            </a:p>
          </p:txBody>
        </p:sp>
        <p:sp>
          <p:nvSpPr>
            <p:cNvPr id="71" name="正方形/長方形 70">
              <a:extLst>
                <a:ext uri="{FF2B5EF4-FFF2-40B4-BE49-F238E27FC236}">
                  <a16:creationId xmlns:a16="http://schemas.microsoft.com/office/drawing/2014/main" id="{7324C4F5-0CDA-CEC4-BF87-01D24590F2F8}"/>
                </a:ext>
              </a:extLst>
            </p:cNvPr>
            <p:cNvSpPr/>
            <p:nvPr/>
          </p:nvSpPr>
          <p:spPr>
            <a:xfrm>
              <a:off x="1724624" y="4917491"/>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C2</a:t>
              </a:r>
            </a:p>
          </p:txBody>
        </p:sp>
        <p:sp>
          <p:nvSpPr>
            <p:cNvPr id="72" name="正方形/長方形 71">
              <a:extLst>
                <a:ext uri="{FF2B5EF4-FFF2-40B4-BE49-F238E27FC236}">
                  <a16:creationId xmlns:a16="http://schemas.microsoft.com/office/drawing/2014/main" id="{4252C5CD-68EF-D542-514F-F0BDC825504D}"/>
                </a:ext>
              </a:extLst>
            </p:cNvPr>
            <p:cNvSpPr/>
            <p:nvPr/>
          </p:nvSpPr>
          <p:spPr>
            <a:xfrm>
              <a:off x="2224912" y="4458578"/>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100" dirty="0">
                  <a:solidFill>
                    <a:schemeClr val="accent5"/>
                  </a:solidFill>
                  <a:latin typeface="+mn-ea"/>
                </a:rPr>
                <a:t>リテールメディア投資の</a:t>
              </a:r>
              <a:br>
                <a:rPr lang="en-US" altLang="ja-JP" sz="1100" dirty="0">
                  <a:solidFill>
                    <a:schemeClr val="accent5"/>
                  </a:solidFill>
                  <a:latin typeface="+mn-ea"/>
                </a:rPr>
              </a:br>
              <a:r>
                <a:rPr lang="ja-JP" altLang="en-US" sz="1100" dirty="0">
                  <a:solidFill>
                    <a:schemeClr val="accent5"/>
                  </a:solidFill>
                  <a:latin typeface="+mn-ea"/>
                </a:rPr>
                <a:t>内製化</a:t>
              </a:r>
              <a:endParaRPr lang="ja-JP" altLang="en-US" sz="1100" dirty="0">
                <a:solidFill>
                  <a:schemeClr val="tx1"/>
                </a:solidFill>
                <a:latin typeface="+mn-ea"/>
              </a:endParaRPr>
            </a:p>
          </p:txBody>
        </p:sp>
        <p:sp>
          <p:nvSpPr>
            <p:cNvPr id="73" name="正方形/長方形 72">
              <a:extLst>
                <a:ext uri="{FF2B5EF4-FFF2-40B4-BE49-F238E27FC236}">
                  <a16:creationId xmlns:a16="http://schemas.microsoft.com/office/drawing/2014/main" id="{B6913427-5FF4-A748-31AC-1D9E1307BAF6}"/>
                </a:ext>
              </a:extLst>
            </p:cNvPr>
            <p:cNvSpPr/>
            <p:nvPr/>
          </p:nvSpPr>
          <p:spPr>
            <a:xfrm>
              <a:off x="2224912" y="4917491"/>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100" dirty="0">
                  <a:solidFill>
                    <a:schemeClr val="accent5"/>
                  </a:solidFill>
                  <a:latin typeface="+mn-ea"/>
                </a:rPr>
                <a:t>提案の標準化</a:t>
              </a:r>
              <a:endParaRPr lang="ja-JP" altLang="en-US" sz="1100" dirty="0">
                <a:solidFill>
                  <a:schemeClr val="tx1"/>
                </a:solidFill>
                <a:latin typeface="+mn-ea"/>
              </a:endParaRPr>
            </a:p>
          </p:txBody>
        </p:sp>
      </p:grpSp>
      <p:grpSp>
        <p:nvGrpSpPr>
          <p:cNvPr id="74" name="グループ化 73">
            <a:extLst>
              <a:ext uri="{FF2B5EF4-FFF2-40B4-BE49-F238E27FC236}">
                <a16:creationId xmlns:a16="http://schemas.microsoft.com/office/drawing/2014/main" id="{D68187D1-74BA-1C13-F8B3-B58F59606048}"/>
              </a:ext>
            </a:extLst>
          </p:cNvPr>
          <p:cNvGrpSpPr/>
          <p:nvPr/>
        </p:nvGrpSpPr>
        <p:grpSpPr>
          <a:xfrm>
            <a:off x="7845229" y="4458578"/>
            <a:ext cx="1964001" cy="840722"/>
            <a:chOff x="1724624" y="4458578"/>
            <a:chExt cx="1964001" cy="840722"/>
          </a:xfrm>
        </p:grpSpPr>
        <p:sp>
          <p:nvSpPr>
            <p:cNvPr id="75" name="正方形/長方形 74">
              <a:extLst>
                <a:ext uri="{FF2B5EF4-FFF2-40B4-BE49-F238E27FC236}">
                  <a16:creationId xmlns:a16="http://schemas.microsoft.com/office/drawing/2014/main" id="{652DC64F-1D04-F46F-3D46-6B33A0C21419}"/>
                </a:ext>
              </a:extLst>
            </p:cNvPr>
            <p:cNvSpPr/>
            <p:nvPr/>
          </p:nvSpPr>
          <p:spPr>
            <a:xfrm>
              <a:off x="1724624" y="4458578"/>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B1★</a:t>
              </a:r>
            </a:p>
          </p:txBody>
        </p:sp>
        <p:sp>
          <p:nvSpPr>
            <p:cNvPr id="77" name="正方形/長方形 76">
              <a:extLst>
                <a:ext uri="{FF2B5EF4-FFF2-40B4-BE49-F238E27FC236}">
                  <a16:creationId xmlns:a16="http://schemas.microsoft.com/office/drawing/2014/main" id="{7BF6D256-2D0A-03D0-CCC5-6B924139290F}"/>
                </a:ext>
              </a:extLst>
            </p:cNvPr>
            <p:cNvSpPr/>
            <p:nvPr/>
          </p:nvSpPr>
          <p:spPr>
            <a:xfrm>
              <a:off x="2224912" y="4458578"/>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zh-TW" altLang="en-US" sz="1100" dirty="0">
                  <a:solidFill>
                    <a:schemeClr val="accent5"/>
                  </a:solidFill>
                  <a:latin typeface="+mn-ea"/>
                </a:rPr>
                <a:t>投資</a:t>
              </a:r>
              <a:r>
                <a:rPr lang="en-US" altLang="zh-TW" sz="1100" dirty="0">
                  <a:solidFill>
                    <a:schemeClr val="accent5"/>
                  </a:solidFill>
                  <a:latin typeface="+mn-ea"/>
                </a:rPr>
                <a:t>ROI</a:t>
              </a:r>
              <a:r>
                <a:rPr lang="zh-TW" altLang="en-US" sz="1100" dirty="0">
                  <a:solidFill>
                    <a:schemeClr val="accent5"/>
                  </a:solidFill>
                  <a:latin typeface="+mn-ea"/>
                </a:rPr>
                <a:t>可視化</a:t>
              </a:r>
              <a:r>
                <a:rPr lang="en-US" altLang="zh-TW" sz="1100" dirty="0">
                  <a:solidFill>
                    <a:schemeClr val="accent5"/>
                  </a:solidFill>
                  <a:latin typeface="+mn-ea"/>
                </a:rPr>
                <a:t>(MMM×DCR)</a:t>
              </a:r>
              <a:endParaRPr lang="ja-JP" altLang="en-US" sz="1100" dirty="0">
                <a:solidFill>
                  <a:schemeClr val="tx1"/>
                </a:solidFill>
                <a:latin typeface="+mn-ea"/>
              </a:endParaRPr>
            </a:p>
          </p:txBody>
        </p:sp>
        <p:sp>
          <p:nvSpPr>
            <p:cNvPr id="78" name="正方形/長方形 77">
              <a:extLst>
                <a:ext uri="{FF2B5EF4-FFF2-40B4-BE49-F238E27FC236}">
                  <a16:creationId xmlns:a16="http://schemas.microsoft.com/office/drawing/2014/main" id="{9CB5AAC0-A93B-D195-E39C-294A6A290F17}"/>
                </a:ext>
              </a:extLst>
            </p:cNvPr>
            <p:cNvSpPr/>
            <p:nvPr/>
          </p:nvSpPr>
          <p:spPr>
            <a:xfrm>
              <a:off x="1724624" y="4917491"/>
              <a:ext cx="1964000"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buClr>
                  <a:schemeClr val="accent5"/>
                </a:buClr>
                <a:defRPr/>
              </a:pPr>
              <a:r>
                <a:rPr lang="en-US" altLang="zh-TW" sz="1100" dirty="0">
                  <a:solidFill>
                    <a:schemeClr val="accent5"/>
                  </a:solidFill>
                  <a:latin typeface="+mn-ea"/>
                </a:rPr>
                <a:t>ID</a:t>
              </a:r>
              <a:r>
                <a:rPr lang="zh-TW" altLang="en-US" sz="1100" dirty="0">
                  <a:solidFill>
                    <a:schemeClr val="accent5"/>
                  </a:solidFill>
                  <a:latin typeface="+mn-ea"/>
                </a:rPr>
                <a:t>再設計 </a:t>
              </a:r>
              <a:r>
                <a:rPr lang="en-US" altLang="zh-TW" sz="1100" dirty="0">
                  <a:solidFill>
                    <a:schemeClr val="accent5"/>
                  </a:solidFill>
                  <a:latin typeface="+mn-ea"/>
                </a:rPr>
                <a:t>(</a:t>
              </a:r>
              <a:r>
                <a:rPr lang="zh-TW" altLang="en-US" sz="1100" dirty="0">
                  <a:solidFill>
                    <a:schemeClr val="accent5"/>
                  </a:solidFill>
                  <a:latin typeface="+mn-ea"/>
                </a:rPr>
                <a:t>候補</a:t>
              </a:r>
              <a:r>
                <a:rPr lang="en-US" altLang="zh-TW" sz="1100" dirty="0">
                  <a:solidFill>
                    <a:schemeClr val="accent5"/>
                  </a:solidFill>
                  <a:latin typeface="+mn-ea"/>
                </a:rPr>
                <a:t>)</a:t>
              </a:r>
              <a:endParaRPr lang="ja-JP" altLang="en-US" sz="1100" dirty="0">
                <a:solidFill>
                  <a:schemeClr val="tx1"/>
                </a:solidFill>
                <a:latin typeface="+mn-ea"/>
              </a:endParaRPr>
            </a:p>
          </p:txBody>
        </p:sp>
      </p:grpSp>
      <p:grpSp>
        <p:nvGrpSpPr>
          <p:cNvPr id="79" name="グループ化 78">
            <a:extLst>
              <a:ext uri="{FF2B5EF4-FFF2-40B4-BE49-F238E27FC236}">
                <a16:creationId xmlns:a16="http://schemas.microsoft.com/office/drawing/2014/main" id="{E62933C5-294F-D7EF-8E39-70873D538BB0}"/>
              </a:ext>
            </a:extLst>
          </p:cNvPr>
          <p:cNvGrpSpPr/>
          <p:nvPr/>
        </p:nvGrpSpPr>
        <p:grpSpPr>
          <a:xfrm>
            <a:off x="9885432" y="4458578"/>
            <a:ext cx="1964001" cy="840722"/>
            <a:chOff x="1724624" y="4458578"/>
            <a:chExt cx="1964001" cy="840722"/>
          </a:xfrm>
        </p:grpSpPr>
        <p:sp>
          <p:nvSpPr>
            <p:cNvPr id="80" name="正方形/長方形 79">
              <a:extLst>
                <a:ext uri="{FF2B5EF4-FFF2-40B4-BE49-F238E27FC236}">
                  <a16:creationId xmlns:a16="http://schemas.microsoft.com/office/drawing/2014/main" id="{54F6840E-82AD-BF7A-0A41-535E103DC60A}"/>
                </a:ext>
              </a:extLst>
            </p:cNvPr>
            <p:cNvSpPr/>
            <p:nvPr/>
          </p:nvSpPr>
          <p:spPr>
            <a:xfrm>
              <a:off x="1724624" y="4458578"/>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D1★</a:t>
              </a:r>
            </a:p>
          </p:txBody>
        </p:sp>
        <p:sp>
          <p:nvSpPr>
            <p:cNvPr id="81" name="正方形/長方形 80">
              <a:extLst>
                <a:ext uri="{FF2B5EF4-FFF2-40B4-BE49-F238E27FC236}">
                  <a16:creationId xmlns:a16="http://schemas.microsoft.com/office/drawing/2014/main" id="{38175FD3-6F41-0763-3295-7B2E15CC78F4}"/>
                </a:ext>
              </a:extLst>
            </p:cNvPr>
            <p:cNvSpPr/>
            <p:nvPr/>
          </p:nvSpPr>
          <p:spPr>
            <a:xfrm>
              <a:off x="1724624" y="4917491"/>
              <a:ext cx="500288" cy="381809"/>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D2</a:t>
              </a:r>
            </a:p>
          </p:txBody>
        </p:sp>
        <p:sp>
          <p:nvSpPr>
            <p:cNvPr id="83" name="正方形/長方形 82">
              <a:extLst>
                <a:ext uri="{FF2B5EF4-FFF2-40B4-BE49-F238E27FC236}">
                  <a16:creationId xmlns:a16="http://schemas.microsoft.com/office/drawing/2014/main" id="{51FDE547-0C13-2F7D-0091-63B10798C5B8}"/>
                </a:ext>
              </a:extLst>
            </p:cNvPr>
            <p:cNvSpPr/>
            <p:nvPr/>
          </p:nvSpPr>
          <p:spPr>
            <a:xfrm>
              <a:off x="2224912" y="4458578"/>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en-US" altLang="ja-JP" sz="1100" dirty="0">
                  <a:solidFill>
                    <a:schemeClr val="accent5"/>
                  </a:solidFill>
                  <a:latin typeface="+mn-ea"/>
                </a:rPr>
                <a:t>Input</a:t>
              </a:r>
              <a:r>
                <a:rPr lang="ja-JP" altLang="en-US" sz="1100" dirty="0">
                  <a:solidFill>
                    <a:schemeClr val="accent5"/>
                  </a:solidFill>
                  <a:latin typeface="+mn-ea"/>
                </a:rPr>
                <a:t>業務ゼロ化</a:t>
              </a:r>
              <a:endParaRPr lang="ja-JP" altLang="en-US" sz="1100" dirty="0">
                <a:solidFill>
                  <a:schemeClr val="tx1"/>
                </a:solidFill>
                <a:latin typeface="+mn-ea"/>
              </a:endParaRPr>
            </a:p>
          </p:txBody>
        </p:sp>
        <p:sp>
          <p:nvSpPr>
            <p:cNvPr id="84" name="正方形/長方形 83">
              <a:extLst>
                <a:ext uri="{FF2B5EF4-FFF2-40B4-BE49-F238E27FC236}">
                  <a16:creationId xmlns:a16="http://schemas.microsoft.com/office/drawing/2014/main" id="{9C82D933-64A1-316F-5325-501D8C96EC85}"/>
                </a:ext>
              </a:extLst>
            </p:cNvPr>
            <p:cNvSpPr/>
            <p:nvPr/>
          </p:nvSpPr>
          <p:spPr>
            <a:xfrm>
              <a:off x="2224912" y="4917491"/>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100" dirty="0">
                  <a:solidFill>
                    <a:schemeClr val="accent5"/>
                  </a:solidFill>
                  <a:latin typeface="+mn-ea"/>
                </a:rPr>
                <a:t>組織対組織の体制</a:t>
              </a:r>
              <a:endParaRPr lang="ja-JP" altLang="en-US" sz="1100" dirty="0">
                <a:solidFill>
                  <a:schemeClr val="tx1"/>
                </a:solidFill>
                <a:latin typeface="+mn-ea"/>
              </a:endParaRPr>
            </a:p>
          </p:txBody>
        </p:sp>
      </p:grpSp>
      <p:sp>
        <p:nvSpPr>
          <p:cNvPr id="94" name="正方形/長方形 93">
            <a:extLst>
              <a:ext uri="{FF2B5EF4-FFF2-40B4-BE49-F238E27FC236}">
                <a16:creationId xmlns:a16="http://schemas.microsoft.com/office/drawing/2014/main" id="{78AE4A5F-B0EB-D558-8A10-EBD0DFD4B900}"/>
              </a:ext>
            </a:extLst>
          </p:cNvPr>
          <p:cNvSpPr/>
          <p:nvPr/>
        </p:nvSpPr>
        <p:spPr>
          <a:xfrm>
            <a:off x="1732228" y="5456110"/>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200" dirty="0">
                <a:solidFill>
                  <a:schemeClr val="accent5"/>
                </a:solidFill>
                <a:latin typeface="+mn-ea"/>
              </a:rPr>
              <a:t>強み領域売上比率</a:t>
            </a:r>
            <a:br>
              <a:rPr lang="en-US" altLang="ja-JP" sz="1200" dirty="0">
                <a:solidFill>
                  <a:schemeClr val="accent5"/>
                </a:solidFill>
                <a:latin typeface="+mn-ea"/>
              </a:rPr>
            </a:br>
            <a:r>
              <a:rPr lang="en-US" altLang="ja-JP" sz="1200" dirty="0">
                <a:solidFill>
                  <a:schemeClr val="accent5"/>
                </a:solidFill>
                <a:latin typeface="+mn-ea"/>
              </a:rPr>
              <a:t>65→80%</a:t>
            </a:r>
            <a:r>
              <a:rPr lang="ja-JP" altLang="en-US" sz="1200" dirty="0">
                <a:solidFill>
                  <a:schemeClr val="accent5"/>
                </a:solidFill>
                <a:latin typeface="+mn-ea"/>
              </a:rPr>
              <a:t> </a:t>
            </a:r>
            <a:r>
              <a:rPr lang="en-US" altLang="ja-JP" sz="1200" dirty="0">
                <a:solidFill>
                  <a:schemeClr val="accent5"/>
                </a:solidFill>
                <a:latin typeface="+mn-ea"/>
              </a:rPr>
              <a:t>(FY30)</a:t>
            </a:r>
            <a:endParaRPr lang="ja-JP" altLang="en-US" sz="1200" dirty="0">
              <a:solidFill>
                <a:schemeClr val="accent5"/>
              </a:solidFill>
              <a:latin typeface="+mn-ea"/>
            </a:endParaRPr>
          </a:p>
        </p:txBody>
      </p:sp>
      <p:sp>
        <p:nvSpPr>
          <p:cNvPr id="95" name="正方形/長方形 7">
            <a:extLst>
              <a:ext uri="{FF2B5EF4-FFF2-40B4-BE49-F238E27FC236}">
                <a16:creationId xmlns:a16="http://schemas.microsoft.com/office/drawing/2014/main" id="{074A91E9-5235-5596-29C0-976FD955B843}"/>
              </a:ext>
            </a:extLst>
          </p:cNvPr>
          <p:cNvSpPr/>
          <p:nvPr/>
        </p:nvSpPr>
        <p:spPr>
          <a:xfrm>
            <a:off x="3772430" y="5456110"/>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ja-JP" sz="1200" dirty="0">
                <a:solidFill>
                  <a:schemeClr val="accent5"/>
                </a:solidFill>
                <a:latin typeface="+mn-ea"/>
              </a:rPr>
              <a:t>AIEO Rate 30→50%</a:t>
            </a:r>
            <a:br>
              <a:rPr lang="en-US" altLang="ja-JP" sz="1200" dirty="0">
                <a:solidFill>
                  <a:schemeClr val="accent5"/>
                </a:solidFill>
                <a:latin typeface="+mn-ea"/>
              </a:rPr>
            </a:br>
            <a:r>
              <a:rPr lang="ja-JP" altLang="en-US" sz="1200" dirty="0">
                <a:solidFill>
                  <a:schemeClr val="accent5"/>
                </a:solidFill>
                <a:latin typeface="+mn-ea"/>
              </a:rPr>
              <a:t>根拠データ付き商談</a:t>
            </a:r>
            <a:r>
              <a:rPr lang="en-US" altLang="ja-JP" sz="1200" dirty="0">
                <a:solidFill>
                  <a:schemeClr val="accent5"/>
                </a:solidFill>
                <a:latin typeface="+mn-ea"/>
              </a:rPr>
              <a:t>80%</a:t>
            </a:r>
          </a:p>
        </p:txBody>
      </p:sp>
      <p:sp>
        <p:nvSpPr>
          <p:cNvPr id="96" name="正方形/長方形 7">
            <a:extLst>
              <a:ext uri="{FF2B5EF4-FFF2-40B4-BE49-F238E27FC236}">
                <a16:creationId xmlns:a16="http://schemas.microsoft.com/office/drawing/2014/main" id="{5E8751B5-5829-7CF1-72BA-4A9BE446C8D2}"/>
              </a:ext>
            </a:extLst>
          </p:cNvPr>
          <p:cNvSpPr/>
          <p:nvPr/>
        </p:nvSpPr>
        <p:spPr>
          <a:xfrm>
            <a:off x="5812632" y="5456110"/>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ja-JP" sz="1200" dirty="0">
                <a:solidFill>
                  <a:schemeClr val="accent5"/>
                </a:solidFill>
                <a:latin typeface="+mn-ea"/>
              </a:rPr>
              <a:t>TA</a:t>
            </a:r>
            <a:r>
              <a:rPr lang="ja-JP" altLang="en-US" sz="1200" dirty="0">
                <a:solidFill>
                  <a:schemeClr val="accent5"/>
                </a:solidFill>
                <a:latin typeface="+mn-ea"/>
              </a:rPr>
              <a:t>スコア </a:t>
            </a:r>
            <a:r>
              <a:rPr lang="en-US" altLang="ja-JP" sz="1200" dirty="0">
                <a:solidFill>
                  <a:schemeClr val="accent5"/>
                </a:solidFill>
                <a:latin typeface="+mn-ea"/>
              </a:rPr>
              <a:t>70→90%</a:t>
            </a:r>
          </a:p>
          <a:p>
            <a:pPr>
              <a:buClr>
                <a:schemeClr val="accent5"/>
              </a:buClr>
            </a:pPr>
            <a:r>
              <a:rPr lang="en-US" altLang="ja-JP" sz="1200" dirty="0">
                <a:solidFill>
                  <a:schemeClr val="accent5"/>
                </a:solidFill>
                <a:latin typeface="+mn-ea"/>
              </a:rPr>
              <a:t>B2B2C</a:t>
            </a:r>
            <a:r>
              <a:rPr lang="ja-JP" altLang="en-US" sz="1200" dirty="0">
                <a:solidFill>
                  <a:schemeClr val="accent5"/>
                </a:solidFill>
                <a:latin typeface="+mn-ea"/>
              </a:rPr>
              <a:t>売上 </a:t>
            </a:r>
            <a:r>
              <a:rPr lang="en-US" altLang="ja-JP" sz="1200" dirty="0">
                <a:solidFill>
                  <a:schemeClr val="accent5"/>
                </a:solidFill>
                <a:latin typeface="+mn-ea"/>
              </a:rPr>
              <a:t>5→15%</a:t>
            </a:r>
          </a:p>
        </p:txBody>
      </p:sp>
      <p:sp>
        <p:nvSpPr>
          <p:cNvPr id="97" name="正方形/長方形 7">
            <a:extLst>
              <a:ext uri="{FF2B5EF4-FFF2-40B4-BE49-F238E27FC236}">
                <a16:creationId xmlns:a16="http://schemas.microsoft.com/office/drawing/2014/main" id="{52E1C043-20B8-BC52-01EC-668738753B16}"/>
              </a:ext>
            </a:extLst>
          </p:cNvPr>
          <p:cNvSpPr/>
          <p:nvPr/>
        </p:nvSpPr>
        <p:spPr>
          <a:xfrm>
            <a:off x="7852834" y="5456110"/>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200" dirty="0">
                <a:solidFill>
                  <a:schemeClr val="accent5"/>
                </a:solidFill>
                <a:latin typeface="+mn-ea"/>
              </a:rPr>
              <a:t>アクティブ</a:t>
            </a:r>
            <a:r>
              <a:rPr lang="en-US" altLang="ja-JP" sz="1200" dirty="0">
                <a:solidFill>
                  <a:schemeClr val="accent5"/>
                </a:solidFill>
                <a:latin typeface="+mn-ea"/>
              </a:rPr>
              <a:t>ID</a:t>
            </a:r>
            <a:r>
              <a:rPr lang="ja-JP" altLang="en-US" sz="1200" dirty="0">
                <a:solidFill>
                  <a:schemeClr val="accent5"/>
                </a:solidFill>
                <a:latin typeface="+mn-ea"/>
              </a:rPr>
              <a:t> </a:t>
            </a:r>
            <a:r>
              <a:rPr lang="en-US" altLang="ja-JP" sz="1200" dirty="0">
                <a:solidFill>
                  <a:schemeClr val="accent5"/>
                </a:solidFill>
                <a:latin typeface="+mn-ea"/>
              </a:rPr>
              <a:t>/ KOIC</a:t>
            </a:r>
          </a:p>
          <a:p>
            <a:pPr>
              <a:buClr>
                <a:schemeClr val="accent5"/>
              </a:buClr>
            </a:pPr>
            <a:r>
              <a:rPr lang="en-US" altLang="ja-JP" sz="1200" dirty="0">
                <a:solidFill>
                  <a:schemeClr val="accent5"/>
                </a:solidFill>
                <a:latin typeface="+mn-ea"/>
              </a:rPr>
              <a:t>90</a:t>
            </a:r>
            <a:r>
              <a:rPr lang="ja-JP" altLang="en-US" sz="1200" dirty="0">
                <a:solidFill>
                  <a:schemeClr val="accent5"/>
                </a:solidFill>
                <a:latin typeface="+mn-ea"/>
              </a:rPr>
              <a:t>日継続・定期登録</a:t>
            </a:r>
          </a:p>
        </p:txBody>
      </p:sp>
      <p:sp>
        <p:nvSpPr>
          <p:cNvPr id="98" name="正方形/長方形 7">
            <a:extLst>
              <a:ext uri="{FF2B5EF4-FFF2-40B4-BE49-F238E27FC236}">
                <a16:creationId xmlns:a16="http://schemas.microsoft.com/office/drawing/2014/main" id="{3572ADE3-EA14-8697-63D9-3FE145A7A051}"/>
              </a:ext>
            </a:extLst>
          </p:cNvPr>
          <p:cNvSpPr/>
          <p:nvPr/>
        </p:nvSpPr>
        <p:spPr>
          <a:xfrm>
            <a:off x="9893036" y="5456110"/>
            <a:ext cx="1964002" cy="840721"/>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zh-TW" sz="1200" dirty="0">
                <a:solidFill>
                  <a:schemeClr val="accent5"/>
                </a:solidFill>
                <a:latin typeface="+mn-ea"/>
              </a:rPr>
              <a:t>Input</a:t>
            </a:r>
            <a:r>
              <a:rPr lang="zh-TW" altLang="en-US" sz="1200" dirty="0">
                <a:solidFill>
                  <a:schemeClr val="accent5"/>
                </a:solidFill>
                <a:latin typeface="+mn-ea"/>
              </a:rPr>
              <a:t>削減 </a:t>
            </a:r>
            <a:r>
              <a:rPr lang="en-US" altLang="zh-TW" sz="1200" dirty="0">
                <a:solidFill>
                  <a:schemeClr val="accent5"/>
                </a:solidFill>
                <a:latin typeface="+mn-ea"/>
              </a:rPr>
              <a:t>50→80%</a:t>
            </a:r>
          </a:p>
          <a:p>
            <a:pPr>
              <a:buClr>
                <a:schemeClr val="accent5"/>
              </a:buClr>
            </a:pPr>
            <a:r>
              <a:rPr lang="zh-TW" altLang="en-US" sz="1200" dirty="0">
                <a:solidFill>
                  <a:schemeClr val="accent5"/>
                </a:solidFill>
                <a:latin typeface="+mn-ea"/>
              </a:rPr>
              <a:t>共有</a:t>
            </a:r>
            <a:r>
              <a:rPr lang="en-US" altLang="zh-TW" sz="1200" dirty="0">
                <a:solidFill>
                  <a:schemeClr val="accent5"/>
                </a:solidFill>
                <a:latin typeface="+mn-ea"/>
              </a:rPr>
              <a:t>KPI</a:t>
            </a:r>
            <a:r>
              <a:rPr lang="zh-TW" altLang="en-US" sz="1200" dirty="0">
                <a:solidFill>
                  <a:schemeClr val="accent5"/>
                </a:solidFill>
                <a:latin typeface="+mn-ea"/>
              </a:rPr>
              <a:t>達成率</a:t>
            </a:r>
          </a:p>
        </p:txBody>
      </p:sp>
      <p:sp>
        <p:nvSpPr>
          <p:cNvPr id="99" name="加算記号 98">
            <a:extLst>
              <a:ext uri="{FF2B5EF4-FFF2-40B4-BE49-F238E27FC236}">
                <a16:creationId xmlns:a16="http://schemas.microsoft.com/office/drawing/2014/main" id="{B0E208D2-321C-7725-1FF9-260CDE1151C0}"/>
              </a:ext>
            </a:extLst>
          </p:cNvPr>
          <p:cNvSpPr/>
          <p:nvPr/>
        </p:nvSpPr>
        <p:spPr>
          <a:xfrm>
            <a:off x="2627424" y="4799739"/>
            <a:ext cx="158400" cy="158400"/>
          </a:xfrm>
          <a:prstGeom prst="mathPlus">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00" name="加算記号 99">
            <a:extLst>
              <a:ext uri="{FF2B5EF4-FFF2-40B4-BE49-F238E27FC236}">
                <a16:creationId xmlns:a16="http://schemas.microsoft.com/office/drawing/2014/main" id="{D6911B98-131E-7636-4AA1-618A614FDCED}"/>
              </a:ext>
            </a:extLst>
          </p:cNvPr>
          <p:cNvSpPr/>
          <p:nvPr/>
        </p:nvSpPr>
        <p:spPr>
          <a:xfrm>
            <a:off x="8748029" y="4799738"/>
            <a:ext cx="158400" cy="158400"/>
          </a:xfrm>
          <a:prstGeom prst="mathPlus">
            <a:avLst/>
          </a:prstGeom>
          <a:solidFill>
            <a:schemeClr val="accent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pic>
        <p:nvPicPr>
          <p:cNvPr id="112" name="グラフィックス 111" descr="ターゲット 単色塗りつぶし">
            <a:extLst>
              <a:ext uri="{FF2B5EF4-FFF2-40B4-BE49-F238E27FC236}">
                <a16:creationId xmlns:a16="http://schemas.microsoft.com/office/drawing/2014/main" id="{086D6088-2286-E606-5844-151CB05EC51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21056" y="1713313"/>
            <a:ext cx="288000" cy="288000"/>
          </a:xfrm>
          <a:prstGeom prst="rect">
            <a:avLst/>
          </a:prstGeom>
        </p:spPr>
      </p:pic>
      <p:pic>
        <p:nvPicPr>
          <p:cNvPr id="114" name="グラフィックス 113" descr="ユーザー 単色塗りつぶし">
            <a:extLst>
              <a:ext uri="{FF2B5EF4-FFF2-40B4-BE49-F238E27FC236}">
                <a16:creationId xmlns:a16="http://schemas.microsoft.com/office/drawing/2014/main" id="{976649D4-993C-133C-5C84-1EED3503A70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52199" y="1713313"/>
            <a:ext cx="288000" cy="288000"/>
          </a:xfrm>
          <a:prstGeom prst="rect">
            <a:avLst/>
          </a:prstGeom>
        </p:spPr>
      </p:pic>
      <p:pic>
        <p:nvPicPr>
          <p:cNvPr id="116" name="グラフィックス 115" descr="受信箱 単色塗りつぶし">
            <a:extLst>
              <a:ext uri="{FF2B5EF4-FFF2-40B4-BE49-F238E27FC236}">
                <a16:creationId xmlns:a16="http://schemas.microsoft.com/office/drawing/2014/main" id="{A30534B7-F81F-BA04-26A2-208A8AE45F9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115097" y="1713313"/>
            <a:ext cx="288000" cy="288000"/>
          </a:xfrm>
          <a:prstGeom prst="rect">
            <a:avLst/>
          </a:prstGeom>
        </p:spPr>
      </p:pic>
      <p:pic>
        <p:nvPicPr>
          <p:cNvPr id="118" name="グラフィックス 117" descr="クリップボード 単色塗りつぶし">
            <a:extLst>
              <a:ext uri="{FF2B5EF4-FFF2-40B4-BE49-F238E27FC236}">
                <a16:creationId xmlns:a16="http://schemas.microsoft.com/office/drawing/2014/main" id="{FECBDEBD-B964-686F-0BC1-8CE0B0B13B4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46284" y="1713314"/>
            <a:ext cx="288000" cy="288000"/>
          </a:xfrm>
          <a:prstGeom prst="rect">
            <a:avLst/>
          </a:prstGeom>
        </p:spPr>
      </p:pic>
      <p:pic>
        <p:nvPicPr>
          <p:cNvPr id="120" name="グラフィックス 119" descr="手のひらと植物 単色塗りつぶし">
            <a:extLst>
              <a:ext uri="{FF2B5EF4-FFF2-40B4-BE49-F238E27FC236}">
                <a16:creationId xmlns:a16="http://schemas.microsoft.com/office/drawing/2014/main" id="{F3776044-522D-3ED6-603C-0CCEEAE076E6}"/>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3932587" y="1713313"/>
            <a:ext cx="288000" cy="288000"/>
          </a:xfrm>
          <a:prstGeom prst="rect">
            <a:avLst/>
          </a:prstGeom>
        </p:spPr>
      </p:pic>
    </p:spTree>
    <p:extLst>
      <p:ext uri="{BB962C8B-B14F-4D97-AF65-F5344CB8AC3E}">
        <p14:creationId xmlns:p14="http://schemas.microsoft.com/office/powerpoint/2010/main" val="2516368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DD66C-EB2B-CBF6-981C-871A2DB44D5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4DBFD18-805B-C703-0F04-E53DEC57B066}"/>
              </a:ext>
            </a:extLst>
          </p:cNvPr>
          <p:cNvSpPr>
            <a:spLocks noGrp="1"/>
          </p:cNvSpPr>
          <p:nvPr>
            <p:ph type="title"/>
          </p:nvPr>
        </p:nvSpPr>
        <p:spPr>
          <a:xfrm>
            <a:off x="334963" y="1"/>
            <a:ext cx="11522075" cy="914400"/>
          </a:xfrm>
        </p:spPr>
        <p:txBody>
          <a:bodyPr/>
          <a:lstStyle/>
          <a:p>
            <a:r>
              <a:rPr lang="ja-JP" altLang="en-US" dirty="0">
                <a:latin typeface="メイリオ" panose="020B0604030504040204" pitchFamily="50" charset="-128"/>
                <a:ea typeface="メイリオ" panose="020B0604030504040204" pitchFamily="50" charset="-128"/>
              </a:rPr>
              <a:t>出口 ― </a:t>
            </a:r>
            <a:br>
              <a:rPr lang="ja-JP" altLang="en-US" dirty="0">
                <a:latin typeface="メイリオ" panose="020B0604030504040204" pitchFamily="50" charset="-128"/>
                <a:ea typeface="メイリオ" panose="020B0604030504040204" pitchFamily="50" charset="-128"/>
              </a:rPr>
            </a:br>
            <a:r>
              <a:rPr lang="ja-JP" altLang="en-US" dirty="0">
                <a:latin typeface="メイリオ" panose="020B0604030504040204" pitchFamily="50" charset="-128"/>
                <a:ea typeface="メイリオ" panose="020B0604030504040204" pitchFamily="50" charset="-128"/>
              </a:rPr>
              <a:t>マーケティング・営業</a:t>
            </a:r>
            <a:r>
              <a:rPr lang="en-US" altLang="ja-JP" dirty="0">
                <a:latin typeface="メイリオ" panose="020B0604030504040204" pitchFamily="50" charset="-128"/>
                <a:ea typeface="メイリオ" panose="020B0604030504040204" pitchFamily="50" charset="-128"/>
              </a:rPr>
              <a:t>DX</a:t>
            </a:r>
            <a:r>
              <a:rPr lang="ja-JP" altLang="en-US" dirty="0">
                <a:latin typeface="メイリオ" panose="020B0604030504040204" pitchFamily="50" charset="-128"/>
                <a:ea typeface="メイリオ" panose="020B0604030504040204" pitchFamily="50" charset="-128"/>
              </a:rPr>
              <a:t>の姿 </a:t>
            </a:r>
            <a:r>
              <a:rPr lang="en-US" altLang="ja-JP" dirty="0">
                <a:latin typeface="メイリオ" panose="020B0604030504040204" pitchFamily="50" charset="-128"/>
                <a:ea typeface="メイリオ" panose="020B0604030504040204" pitchFamily="50" charset="-128"/>
              </a:rPr>
              <a:t>(Before → After)</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a16:creationId xmlns:a16="http://schemas.microsoft.com/office/drawing/2014/main" id="{96358F60-1D5C-D723-EE7C-DABE59EDD19A}"/>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1800" dirty="0">
                <a:latin typeface="+mn-ea"/>
                <a:ea typeface="+mn-ea"/>
              </a:rPr>
              <a:t>出口は戦略文書ではなく、現場の仕事の新しい姿が回っている状態。5つの経営テーマの答えを、誰の・どの業務が・どのデジタルで変わるかに着地させる</a:t>
            </a:r>
            <a:endParaRPr lang="ja-JP" altLang="en-US" sz="1800" dirty="0">
              <a:latin typeface="+mn-ea"/>
              <a:ea typeface="+mn-ea"/>
            </a:endParaRPr>
          </a:p>
        </p:txBody>
      </p:sp>
      <p:pic>
        <p:nvPicPr>
          <p:cNvPr id="82" name="グラフィックス 81" descr="No の記号 単色塗りつぶし">
            <a:extLst>
              <a:ext uri="{FF2B5EF4-FFF2-40B4-BE49-F238E27FC236}">
                <a16:creationId xmlns:a16="http://schemas.microsoft.com/office/drawing/2014/main" id="{3DDDA49F-2537-2DAC-7900-D265298AED4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589597" y="1642535"/>
            <a:ext cx="324568" cy="324568"/>
          </a:xfrm>
          <a:prstGeom prst="rect">
            <a:avLst/>
          </a:prstGeom>
        </p:spPr>
      </p:pic>
      <p:sp>
        <p:nvSpPr>
          <p:cNvPr id="83" name="正方形/長方形 7">
            <a:extLst>
              <a:ext uri="{FF2B5EF4-FFF2-40B4-BE49-F238E27FC236}">
                <a16:creationId xmlns:a16="http://schemas.microsoft.com/office/drawing/2014/main" id="{EFF5F7DC-E6D3-EFDF-191A-59184A467F7C}"/>
              </a:ext>
            </a:extLst>
          </p:cNvPr>
          <p:cNvSpPr/>
          <p:nvPr/>
        </p:nvSpPr>
        <p:spPr>
          <a:xfrm>
            <a:off x="3248922" y="1633400"/>
            <a:ext cx="4311691" cy="333703"/>
          </a:xfrm>
          <a:prstGeom prst="homePlate">
            <a:avLst>
              <a:gd name="adj" fmla="val 28868"/>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r>
              <a:rPr lang="en-US" altLang="ja-JP" sz="1600" dirty="0">
                <a:solidFill>
                  <a:schemeClr val="tx1"/>
                </a:solidFill>
                <a:latin typeface="+mn-ea"/>
              </a:rPr>
              <a:t>Before</a:t>
            </a:r>
          </a:p>
        </p:txBody>
      </p:sp>
      <p:sp>
        <p:nvSpPr>
          <p:cNvPr id="84" name="正方形/長方形 7">
            <a:extLst>
              <a:ext uri="{FF2B5EF4-FFF2-40B4-BE49-F238E27FC236}">
                <a16:creationId xmlns:a16="http://schemas.microsoft.com/office/drawing/2014/main" id="{27CEF53D-7E7B-C637-4E25-5699FDCD60DB}"/>
              </a:ext>
            </a:extLst>
          </p:cNvPr>
          <p:cNvSpPr/>
          <p:nvPr/>
        </p:nvSpPr>
        <p:spPr>
          <a:xfrm>
            <a:off x="7536947" y="1633400"/>
            <a:ext cx="4311691" cy="333703"/>
          </a:xfrm>
          <a:prstGeom prst="chevron">
            <a:avLst>
              <a:gd name="adj" fmla="val 28868"/>
            </a:avLst>
          </a:prstGeom>
          <a:solidFill>
            <a:srgbClr val="008D2E"/>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52000" tIns="36000" rIns="36000" bIns="36000" numCol="1" spcCol="0" rtlCol="0" fromWordArt="0" anchor="ctr" anchorCtr="0" forceAA="0" compatLnSpc="1">
            <a:prstTxWarp prst="textNoShape">
              <a:avLst/>
            </a:prstTxWarp>
            <a:noAutofit/>
          </a:bodyPr>
          <a:lstStyle/>
          <a:p>
            <a:pPr algn="ctr"/>
            <a:r>
              <a:rPr lang="en-US" altLang="ja-JP" sz="1600" dirty="0">
                <a:solidFill>
                  <a:schemeClr val="bg1"/>
                </a:solidFill>
                <a:latin typeface="+mn-ea"/>
              </a:rPr>
              <a:t>After</a:t>
            </a:r>
          </a:p>
        </p:txBody>
      </p:sp>
      <p:sp>
        <p:nvSpPr>
          <p:cNvPr id="4" name="正方形/長方形 3">
            <a:extLst>
              <a:ext uri="{FF2B5EF4-FFF2-40B4-BE49-F238E27FC236}">
                <a16:creationId xmlns:a16="http://schemas.microsoft.com/office/drawing/2014/main" id="{3D4A1A41-8D7C-F81D-920A-E50D055E5C78}"/>
              </a:ext>
            </a:extLst>
          </p:cNvPr>
          <p:cNvSpPr/>
          <p:nvPr/>
        </p:nvSpPr>
        <p:spPr>
          <a:xfrm>
            <a:off x="334961" y="2027262"/>
            <a:ext cx="1096797" cy="2086207"/>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432000" rIns="36000" bIns="36000" numCol="1" spcCol="0" rtlCol="0" fromWordArt="0" anchor="ctr" anchorCtr="0" forceAA="0" compatLnSpc="1">
            <a:prstTxWarp prst="textNoShape">
              <a:avLst/>
            </a:prstTxWarp>
            <a:noAutofit/>
          </a:bodyPr>
          <a:lstStyle/>
          <a:p>
            <a:pPr algn="ctr">
              <a:spcAft>
                <a:spcPts val="600"/>
              </a:spcAft>
            </a:pPr>
            <a:r>
              <a:rPr lang="ja-JP" altLang="en-US" sz="1400" dirty="0">
                <a:solidFill>
                  <a:schemeClr val="accent5"/>
                </a:solidFill>
                <a:latin typeface="+mn-ea"/>
              </a:rPr>
              <a:t>マーケティングの</a:t>
            </a:r>
            <a:r>
              <a:rPr lang="en-US" altLang="ja-JP" sz="1400" dirty="0">
                <a:solidFill>
                  <a:schemeClr val="accent5"/>
                </a:solidFill>
                <a:latin typeface="+mn-ea"/>
              </a:rPr>
              <a:t>DX</a:t>
            </a:r>
          </a:p>
          <a:p>
            <a:pPr algn="ctr">
              <a:spcAft>
                <a:spcPts val="600"/>
              </a:spcAft>
            </a:pPr>
            <a:r>
              <a:rPr lang="ja-JP" altLang="en-US" sz="1200" dirty="0">
                <a:solidFill>
                  <a:schemeClr val="tx1"/>
                </a:solidFill>
                <a:latin typeface="+mn-ea"/>
              </a:rPr>
              <a:t>投資・コンテンツ・顧客基盤</a:t>
            </a:r>
          </a:p>
        </p:txBody>
      </p:sp>
      <p:sp>
        <p:nvSpPr>
          <p:cNvPr id="12" name="正方形/長方形 11">
            <a:extLst>
              <a:ext uri="{FF2B5EF4-FFF2-40B4-BE49-F238E27FC236}">
                <a16:creationId xmlns:a16="http://schemas.microsoft.com/office/drawing/2014/main" id="{411560C0-5F1C-0332-3D47-25F692B94299}"/>
              </a:ext>
            </a:extLst>
          </p:cNvPr>
          <p:cNvSpPr/>
          <p:nvPr/>
        </p:nvSpPr>
        <p:spPr>
          <a:xfrm>
            <a:off x="334963" y="4223085"/>
            <a:ext cx="1096797" cy="2086207"/>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432000" rIns="36000" bIns="36000" numCol="1" spcCol="0" rtlCol="0" fromWordArt="0" anchor="ctr" anchorCtr="0" forceAA="0" compatLnSpc="1">
            <a:prstTxWarp prst="textNoShape">
              <a:avLst/>
            </a:prstTxWarp>
            <a:noAutofit/>
          </a:bodyPr>
          <a:lstStyle/>
          <a:p>
            <a:pPr algn="ctr">
              <a:spcAft>
                <a:spcPts val="600"/>
              </a:spcAft>
            </a:pPr>
            <a:r>
              <a:rPr lang="ja-JP" altLang="en-US" sz="1400" dirty="0">
                <a:solidFill>
                  <a:schemeClr val="accent5"/>
                </a:solidFill>
                <a:latin typeface="+mn-ea"/>
              </a:rPr>
              <a:t>営業の</a:t>
            </a:r>
            <a:r>
              <a:rPr lang="en-US" altLang="ja-JP" sz="1400" dirty="0">
                <a:solidFill>
                  <a:schemeClr val="accent5"/>
                </a:solidFill>
                <a:latin typeface="+mn-ea"/>
              </a:rPr>
              <a:t>DX</a:t>
            </a:r>
          </a:p>
          <a:p>
            <a:pPr algn="ctr">
              <a:spcAft>
                <a:spcPts val="600"/>
              </a:spcAft>
            </a:pPr>
            <a:r>
              <a:rPr lang="ja-JP" altLang="en-US" sz="1200" dirty="0">
                <a:solidFill>
                  <a:schemeClr val="tx1"/>
                </a:solidFill>
                <a:latin typeface="+mn-ea"/>
              </a:rPr>
              <a:t>商談・売場・</a:t>
            </a:r>
            <a:br>
              <a:rPr lang="en-US" altLang="ja-JP" sz="1200" dirty="0">
                <a:solidFill>
                  <a:schemeClr val="tx1"/>
                </a:solidFill>
                <a:latin typeface="+mn-ea"/>
              </a:rPr>
            </a:br>
            <a:r>
              <a:rPr lang="ja-JP" altLang="en-US" sz="1200" dirty="0">
                <a:solidFill>
                  <a:schemeClr val="tx1"/>
                </a:solidFill>
                <a:latin typeface="+mn-ea"/>
              </a:rPr>
              <a:t>体制</a:t>
            </a:r>
          </a:p>
        </p:txBody>
      </p:sp>
      <p:cxnSp>
        <p:nvCxnSpPr>
          <p:cNvPr id="37" name="直線コネクタ 36">
            <a:extLst>
              <a:ext uri="{FF2B5EF4-FFF2-40B4-BE49-F238E27FC236}">
                <a16:creationId xmlns:a16="http://schemas.microsoft.com/office/drawing/2014/main" id="{A86EA956-A1EF-31DC-7297-CDC6BACA89FF}"/>
              </a:ext>
            </a:extLst>
          </p:cNvPr>
          <p:cNvCxnSpPr/>
          <p:nvPr/>
        </p:nvCxnSpPr>
        <p:spPr>
          <a:xfrm>
            <a:off x="3248922" y="4168275"/>
            <a:ext cx="8607811" cy="0"/>
          </a:xfrm>
          <a:prstGeom prst="line">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正方形/長方形 5">
            <a:extLst>
              <a:ext uri="{FF2B5EF4-FFF2-40B4-BE49-F238E27FC236}">
                <a16:creationId xmlns:a16="http://schemas.microsoft.com/office/drawing/2014/main" id="{D1236018-239E-CA22-AB59-3BF23A6D7DC6}"/>
              </a:ext>
            </a:extLst>
          </p:cNvPr>
          <p:cNvSpPr/>
          <p:nvPr/>
        </p:nvSpPr>
        <p:spPr>
          <a:xfrm>
            <a:off x="1520954" y="2027261"/>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メディア投資</a:t>
            </a:r>
          </a:p>
        </p:txBody>
      </p:sp>
      <p:sp>
        <p:nvSpPr>
          <p:cNvPr id="85" name="正方形/長方形 5">
            <a:extLst>
              <a:ext uri="{FF2B5EF4-FFF2-40B4-BE49-F238E27FC236}">
                <a16:creationId xmlns:a16="http://schemas.microsoft.com/office/drawing/2014/main" id="{F384B340-A5F0-672D-C819-4AA50BD7711A}"/>
              </a:ext>
            </a:extLst>
          </p:cNvPr>
          <p:cNvSpPr/>
          <p:nvPr/>
        </p:nvSpPr>
        <p:spPr>
          <a:xfrm>
            <a:off x="1520954" y="2567862"/>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コンテンツ</a:t>
            </a:r>
          </a:p>
        </p:txBody>
      </p:sp>
      <p:sp>
        <p:nvSpPr>
          <p:cNvPr id="86" name="正方形/長方形 5">
            <a:extLst>
              <a:ext uri="{FF2B5EF4-FFF2-40B4-BE49-F238E27FC236}">
                <a16:creationId xmlns:a16="http://schemas.microsoft.com/office/drawing/2014/main" id="{8E973141-AA7E-432A-738B-AF0550DFCFDB}"/>
              </a:ext>
            </a:extLst>
          </p:cNvPr>
          <p:cNvSpPr/>
          <p:nvPr/>
        </p:nvSpPr>
        <p:spPr>
          <a:xfrm>
            <a:off x="1520954" y="3108463"/>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顧客基盤</a:t>
            </a:r>
          </a:p>
        </p:txBody>
      </p:sp>
      <p:sp>
        <p:nvSpPr>
          <p:cNvPr id="87" name="正方形/長方形 5">
            <a:extLst>
              <a:ext uri="{FF2B5EF4-FFF2-40B4-BE49-F238E27FC236}">
                <a16:creationId xmlns:a16="http://schemas.microsoft.com/office/drawing/2014/main" id="{C92E80F2-A387-162A-684C-583427B2EA84}"/>
              </a:ext>
            </a:extLst>
          </p:cNvPr>
          <p:cNvSpPr/>
          <p:nvPr/>
        </p:nvSpPr>
        <p:spPr>
          <a:xfrm>
            <a:off x="1520954" y="3649064"/>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en-US" altLang="ja-JP" sz="1400" dirty="0">
                <a:solidFill>
                  <a:schemeClr val="bg1"/>
                </a:solidFill>
                <a:latin typeface="+mn-ea"/>
              </a:rPr>
              <a:t>AI</a:t>
            </a:r>
            <a:r>
              <a:rPr lang="ja-JP" altLang="en-US" sz="1400" dirty="0">
                <a:solidFill>
                  <a:schemeClr val="bg1"/>
                </a:solidFill>
                <a:latin typeface="+mn-ea"/>
              </a:rPr>
              <a:t>接点の運用</a:t>
            </a:r>
          </a:p>
        </p:txBody>
      </p:sp>
      <p:sp>
        <p:nvSpPr>
          <p:cNvPr id="8" name="正方形/長方形 7">
            <a:extLst>
              <a:ext uri="{FF2B5EF4-FFF2-40B4-BE49-F238E27FC236}">
                <a16:creationId xmlns:a16="http://schemas.microsoft.com/office/drawing/2014/main" id="{ED9AF771-5D82-84BC-228A-3E62802DCE1E}"/>
              </a:ext>
            </a:extLst>
          </p:cNvPr>
          <p:cNvSpPr/>
          <p:nvPr/>
        </p:nvSpPr>
        <p:spPr>
          <a:xfrm>
            <a:off x="1520953" y="4223085"/>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商談の準備</a:t>
            </a:r>
          </a:p>
        </p:txBody>
      </p:sp>
      <p:sp>
        <p:nvSpPr>
          <p:cNvPr id="10" name="正方形/長方形 5">
            <a:extLst>
              <a:ext uri="{FF2B5EF4-FFF2-40B4-BE49-F238E27FC236}">
                <a16:creationId xmlns:a16="http://schemas.microsoft.com/office/drawing/2014/main" id="{DCD79D67-4D06-F00F-3625-023B96E5A1E5}"/>
              </a:ext>
            </a:extLst>
          </p:cNvPr>
          <p:cNvSpPr/>
          <p:nvPr/>
        </p:nvSpPr>
        <p:spPr>
          <a:xfrm>
            <a:off x="1520953" y="4763686"/>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商談の中身</a:t>
            </a:r>
          </a:p>
        </p:txBody>
      </p:sp>
      <p:sp>
        <p:nvSpPr>
          <p:cNvPr id="11" name="正方形/長方形 5">
            <a:extLst>
              <a:ext uri="{FF2B5EF4-FFF2-40B4-BE49-F238E27FC236}">
                <a16:creationId xmlns:a16="http://schemas.microsoft.com/office/drawing/2014/main" id="{FE8FB7A7-A3DF-E186-54F2-76659F01A2A3}"/>
              </a:ext>
            </a:extLst>
          </p:cNvPr>
          <p:cNvSpPr/>
          <p:nvPr/>
        </p:nvSpPr>
        <p:spPr>
          <a:xfrm>
            <a:off x="1520953" y="5304287"/>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売場・接点</a:t>
            </a:r>
          </a:p>
        </p:txBody>
      </p:sp>
      <p:sp>
        <p:nvSpPr>
          <p:cNvPr id="13" name="正方形/長方形 5">
            <a:extLst>
              <a:ext uri="{FF2B5EF4-FFF2-40B4-BE49-F238E27FC236}">
                <a16:creationId xmlns:a16="http://schemas.microsoft.com/office/drawing/2014/main" id="{F14AF146-FFD4-2763-2FDA-4782B9B38434}"/>
              </a:ext>
            </a:extLst>
          </p:cNvPr>
          <p:cNvSpPr/>
          <p:nvPr/>
        </p:nvSpPr>
        <p:spPr>
          <a:xfrm>
            <a:off x="1520953" y="5844888"/>
            <a:ext cx="1655386" cy="464401"/>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r>
              <a:rPr lang="ja-JP" altLang="en-US" sz="1400" dirty="0">
                <a:solidFill>
                  <a:schemeClr val="bg1"/>
                </a:solidFill>
                <a:latin typeface="+mn-ea"/>
              </a:rPr>
              <a:t>体制・評価</a:t>
            </a:r>
          </a:p>
        </p:txBody>
      </p:sp>
      <p:cxnSp>
        <p:nvCxnSpPr>
          <p:cNvPr id="38" name="直線コネクタ 37">
            <a:extLst>
              <a:ext uri="{FF2B5EF4-FFF2-40B4-BE49-F238E27FC236}">
                <a16:creationId xmlns:a16="http://schemas.microsoft.com/office/drawing/2014/main" id="{7999F28F-E444-6497-EF87-A0622792B36F}"/>
              </a:ext>
            </a:extLst>
          </p:cNvPr>
          <p:cNvCxnSpPr/>
          <p:nvPr/>
        </p:nvCxnSpPr>
        <p:spPr>
          <a:xfrm>
            <a:off x="3248922" y="2529762"/>
            <a:ext cx="419862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79310CE-70F3-ED12-BB50-186AE95F30CB}"/>
              </a:ext>
            </a:extLst>
          </p:cNvPr>
          <p:cNvSpPr/>
          <p:nvPr/>
        </p:nvSpPr>
        <p:spPr>
          <a:xfrm>
            <a:off x="3248922" y="2027261"/>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400" dirty="0">
                <a:solidFill>
                  <a:schemeClr val="tx1"/>
                </a:solidFill>
                <a:latin typeface="+mn-ea"/>
              </a:rPr>
              <a:t>マス広告中心。効果測定は認知調査どまり</a:t>
            </a:r>
          </a:p>
        </p:txBody>
      </p:sp>
      <p:sp>
        <p:nvSpPr>
          <p:cNvPr id="18" name="正方形/長方形 17">
            <a:extLst>
              <a:ext uri="{FF2B5EF4-FFF2-40B4-BE49-F238E27FC236}">
                <a16:creationId xmlns:a16="http://schemas.microsoft.com/office/drawing/2014/main" id="{26B187F7-AB10-44A0-F66B-56ACEBACE031}"/>
              </a:ext>
            </a:extLst>
          </p:cNvPr>
          <p:cNvSpPr/>
          <p:nvPr/>
        </p:nvSpPr>
        <p:spPr>
          <a:xfrm>
            <a:off x="7536946" y="2027261"/>
            <a:ext cx="4311691"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n-ea"/>
              </a:rPr>
              <a:t>リテールメディア・</a:t>
            </a:r>
            <a:r>
              <a:rPr lang="en-US" altLang="ja-JP" sz="1400" dirty="0">
                <a:solidFill>
                  <a:schemeClr val="accent5"/>
                </a:solidFill>
                <a:latin typeface="+mn-ea"/>
              </a:rPr>
              <a:t>AIEO</a:t>
            </a:r>
            <a:r>
              <a:rPr lang="ja-JP" altLang="en-US" sz="1400" dirty="0">
                <a:solidFill>
                  <a:schemeClr val="accent5"/>
                </a:solidFill>
                <a:latin typeface="+mn-ea"/>
              </a:rPr>
              <a:t>へ再配分し、</a:t>
            </a:r>
            <a:br>
              <a:rPr lang="en-US" altLang="ja-JP" sz="1400" dirty="0">
                <a:solidFill>
                  <a:schemeClr val="accent5"/>
                </a:solidFill>
                <a:latin typeface="+mn-ea"/>
              </a:rPr>
            </a:br>
            <a:r>
              <a:rPr lang="en-US" altLang="ja-JP" sz="1400" dirty="0">
                <a:solidFill>
                  <a:schemeClr val="accent5"/>
                </a:solidFill>
                <a:latin typeface="+mn-ea"/>
              </a:rPr>
              <a:t>MMM</a:t>
            </a:r>
            <a:r>
              <a:rPr lang="ja-JP" altLang="en-US" sz="1400" dirty="0">
                <a:solidFill>
                  <a:schemeClr val="accent5"/>
                </a:solidFill>
                <a:latin typeface="+mn-ea"/>
              </a:rPr>
              <a:t>＋増分実験で</a:t>
            </a:r>
            <a:r>
              <a:rPr lang="en-US" altLang="ja-JP" sz="1400" dirty="0">
                <a:solidFill>
                  <a:schemeClr val="accent5"/>
                </a:solidFill>
                <a:latin typeface="+mn-ea"/>
              </a:rPr>
              <a:t>ROI</a:t>
            </a:r>
            <a:r>
              <a:rPr lang="ja-JP" altLang="en-US" sz="1400" dirty="0">
                <a:solidFill>
                  <a:schemeClr val="accent5"/>
                </a:solidFill>
                <a:latin typeface="+mn-ea"/>
              </a:rPr>
              <a:t>を毎月運用　</a:t>
            </a:r>
          </a:p>
        </p:txBody>
      </p:sp>
      <p:cxnSp>
        <p:nvCxnSpPr>
          <p:cNvPr id="19" name="直線コネクタ 18">
            <a:extLst>
              <a:ext uri="{FF2B5EF4-FFF2-40B4-BE49-F238E27FC236}">
                <a16:creationId xmlns:a16="http://schemas.microsoft.com/office/drawing/2014/main" id="{148FFF15-3D4A-B10D-3B7C-E16C1EEEF861}"/>
              </a:ext>
            </a:extLst>
          </p:cNvPr>
          <p:cNvCxnSpPr/>
          <p:nvPr/>
        </p:nvCxnSpPr>
        <p:spPr>
          <a:xfrm>
            <a:off x="7536946" y="2529762"/>
            <a:ext cx="4311691"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BEB45291-C844-459F-5ACC-CF8F614DB5E6}"/>
              </a:ext>
            </a:extLst>
          </p:cNvPr>
          <p:cNvCxnSpPr/>
          <p:nvPr/>
        </p:nvCxnSpPr>
        <p:spPr>
          <a:xfrm>
            <a:off x="3248922" y="3070363"/>
            <a:ext cx="419862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3" name="正方形/長方形 22">
            <a:extLst>
              <a:ext uri="{FF2B5EF4-FFF2-40B4-BE49-F238E27FC236}">
                <a16:creationId xmlns:a16="http://schemas.microsoft.com/office/drawing/2014/main" id="{18B9046A-3DEC-E832-D8E6-5A85C52B7B6E}"/>
              </a:ext>
            </a:extLst>
          </p:cNvPr>
          <p:cNvSpPr/>
          <p:nvPr/>
        </p:nvSpPr>
        <p:spPr>
          <a:xfrm>
            <a:off x="3248922" y="2567862"/>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400" dirty="0">
                <a:solidFill>
                  <a:schemeClr val="tx1"/>
                </a:solidFill>
                <a:latin typeface="+mn-ea"/>
              </a:rPr>
              <a:t>広告クリエイティブの制作が中心</a:t>
            </a:r>
          </a:p>
        </p:txBody>
      </p:sp>
      <p:sp>
        <p:nvSpPr>
          <p:cNvPr id="24" name="正方形/長方形 23">
            <a:extLst>
              <a:ext uri="{FF2B5EF4-FFF2-40B4-BE49-F238E27FC236}">
                <a16:creationId xmlns:a16="http://schemas.microsoft.com/office/drawing/2014/main" id="{4B61D769-E0D8-1082-F685-6C53E1AA67D2}"/>
              </a:ext>
            </a:extLst>
          </p:cNvPr>
          <p:cNvSpPr/>
          <p:nvPr/>
        </p:nvSpPr>
        <p:spPr>
          <a:xfrm>
            <a:off x="7536946" y="2567862"/>
            <a:ext cx="4311691"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n-ea"/>
              </a:rPr>
              <a:t>臨床エビデンスを「人向け」と「</a:t>
            </a:r>
            <a:r>
              <a:rPr lang="en-US" altLang="ja-JP" sz="1400" dirty="0">
                <a:solidFill>
                  <a:schemeClr val="accent5"/>
                </a:solidFill>
                <a:latin typeface="+mn-ea"/>
              </a:rPr>
              <a:t>AI</a:t>
            </a:r>
            <a:r>
              <a:rPr lang="ja-JP" altLang="en-US" sz="1400" dirty="0">
                <a:solidFill>
                  <a:schemeClr val="accent5"/>
                </a:solidFill>
                <a:latin typeface="+mn-ea"/>
              </a:rPr>
              <a:t>が引用する</a:t>
            </a:r>
            <a:br>
              <a:rPr lang="en-US" altLang="ja-JP" sz="1400" dirty="0">
                <a:solidFill>
                  <a:schemeClr val="accent5"/>
                </a:solidFill>
                <a:latin typeface="+mn-ea"/>
              </a:rPr>
            </a:br>
            <a:r>
              <a:rPr lang="ja-JP" altLang="en-US" sz="1400" dirty="0">
                <a:solidFill>
                  <a:schemeClr val="accent5"/>
                </a:solidFill>
                <a:latin typeface="+mn-ea"/>
              </a:rPr>
              <a:t>構造化データ」の両輪で生産　</a:t>
            </a:r>
          </a:p>
        </p:txBody>
      </p:sp>
      <p:cxnSp>
        <p:nvCxnSpPr>
          <p:cNvPr id="25" name="直線コネクタ 24">
            <a:extLst>
              <a:ext uri="{FF2B5EF4-FFF2-40B4-BE49-F238E27FC236}">
                <a16:creationId xmlns:a16="http://schemas.microsoft.com/office/drawing/2014/main" id="{66B5C44B-3193-891E-0791-1A55E9FEA215}"/>
              </a:ext>
            </a:extLst>
          </p:cNvPr>
          <p:cNvCxnSpPr/>
          <p:nvPr/>
        </p:nvCxnSpPr>
        <p:spPr>
          <a:xfrm>
            <a:off x="7536946" y="3070363"/>
            <a:ext cx="4319787"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A2286AE6-E2D9-F042-A022-B2E519538743}"/>
              </a:ext>
            </a:extLst>
          </p:cNvPr>
          <p:cNvCxnSpPr/>
          <p:nvPr/>
        </p:nvCxnSpPr>
        <p:spPr>
          <a:xfrm>
            <a:off x="3248922" y="3610963"/>
            <a:ext cx="419862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正方形/長方形 27">
            <a:extLst>
              <a:ext uri="{FF2B5EF4-FFF2-40B4-BE49-F238E27FC236}">
                <a16:creationId xmlns:a16="http://schemas.microsoft.com/office/drawing/2014/main" id="{596C8542-12A1-E8EA-1B3F-7F032BC2DA49}"/>
              </a:ext>
            </a:extLst>
          </p:cNvPr>
          <p:cNvSpPr/>
          <p:nvPr/>
        </p:nvSpPr>
        <p:spPr>
          <a:xfrm>
            <a:off x="3248922" y="3108462"/>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400" dirty="0">
                <a:solidFill>
                  <a:schemeClr val="tx1"/>
                </a:solidFill>
                <a:latin typeface="+mn-ea"/>
              </a:rPr>
              <a:t>クーポン型</a:t>
            </a:r>
            <a:r>
              <a:rPr lang="en-US" altLang="ja-JP" sz="1400" dirty="0">
                <a:solidFill>
                  <a:schemeClr val="tx1"/>
                </a:solidFill>
                <a:latin typeface="+mn-ea"/>
              </a:rPr>
              <a:t>ID</a:t>
            </a:r>
            <a:r>
              <a:rPr lang="ja-JP" altLang="en-US" sz="1400" dirty="0">
                <a:solidFill>
                  <a:schemeClr val="tx1"/>
                </a:solidFill>
                <a:latin typeface="+mn-ea"/>
              </a:rPr>
              <a:t>・キャンペーン単位の</a:t>
            </a:r>
            <a:r>
              <a:rPr lang="en-US" altLang="ja-JP" sz="1400" dirty="0">
                <a:solidFill>
                  <a:schemeClr val="tx1"/>
                </a:solidFill>
                <a:latin typeface="+mn-ea"/>
              </a:rPr>
              <a:t>CRM</a:t>
            </a:r>
            <a:endParaRPr lang="ja-JP" altLang="en-US" sz="1400" dirty="0">
              <a:solidFill>
                <a:schemeClr val="tx1"/>
              </a:solidFill>
              <a:latin typeface="+mn-ea"/>
            </a:endParaRPr>
          </a:p>
        </p:txBody>
      </p:sp>
      <p:sp>
        <p:nvSpPr>
          <p:cNvPr id="29" name="正方形/長方形 28">
            <a:extLst>
              <a:ext uri="{FF2B5EF4-FFF2-40B4-BE49-F238E27FC236}">
                <a16:creationId xmlns:a16="http://schemas.microsoft.com/office/drawing/2014/main" id="{0B74F1DC-EE7D-9D6B-3D5D-ED44B85C6EF3}"/>
              </a:ext>
            </a:extLst>
          </p:cNvPr>
          <p:cNvSpPr/>
          <p:nvPr/>
        </p:nvSpPr>
        <p:spPr>
          <a:xfrm>
            <a:off x="7536946" y="3108462"/>
            <a:ext cx="4319787"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n-ea"/>
              </a:rPr>
              <a:t>口腔健康</a:t>
            </a:r>
            <a:r>
              <a:rPr lang="en-US" altLang="ja-JP" sz="1400" dirty="0">
                <a:solidFill>
                  <a:schemeClr val="accent5"/>
                </a:solidFill>
                <a:latin typeface="+mn-ea"/>
              </a:rPr>
              <a:t>OS</a:t>
            </a:r>
            <a:r>
              <a:rPr lang="ja-JP" altLang="en-US" sz="1400" dirty="0">
                <a:solidFill>
                  <a:schemeClr val="accent5"/>
                </a:solidFill>
                <a:latin typeface="+mn-ea"/>
              </a:rPr>
              <a:t>としての</a:t>
            </a:r>
            <a:r>
              <a:rPr lang="en-US" altLang="ja-JP" sz="1400" dirty="0">
                <a:solidFill>
                  <a:schemeClr val="accent5"/>
                </a:solidFill>
                <a:latin typeface="+mn-ea"/>
              </a:rPr>
              <a:t>ID</a:t>
            </a:r>
            <a:r>
              <a:rPr lang="ja-JP" altLang="en-US" sz="1400" dirty="0">
                <a:solidFill>
                  <a:schemeClr val="accent5"/>
                </a:solidFill>
                <a:latin typeface="+mn-ea"/>
              </a:rPr>
              <a:t>運用。リピート・継続を</a:t>
            </a:r>
            <a:br>
              <a:rPr lang="en-US" altLang="ja-JP" sz="1400" dirty="0">
                <a:solidFill>
                  <a:schemeClr val="accent5"/>
                </a:solidFill>
                <a:latin typeface="+mn-ea"/>
              </a:rPr>
            </a:br>
            <a:r>
              <a:rPr lang="ja-JP" altLang="en-US" sz="1400" dirty="0">
                <a:solidFill>
                  <a:schemeClr val="accent5"/>
                </a:solidFill>
                <a:latin typeface="+mn-ea"/>
              </a:rPr>
              <a:t>行動データで追い</a:t>
            </a:r>
            <a:r>
              <a:rPr lang="en-US" altLang="ja-JP" sz="1400" dirty="0">
                <a:solidFill>
                  <a:schemeClr val="accent5"/>
                </a:solidFill>
                <a:latin typeface="+mn-ea"/>
              </a:rPr>
              <a:t>DCR</a:t>
            </a:r>
            <a:r>
              <a:rPr lang="ja-JP" altLang="en-US" sz="1400" dirty="0">
                <a:solidFill>
                  <a:schemeClr val="accent5"/>
                </a:solidFill>
                <a:latin typeface="+mn-ea"/>
              </a:rPr>
              <a:t>で接続　</a:t>
            </a:r>
          </a:p>
        </p:txBody>
      </p:sp>
      <p:cxnSp>
        <p:nvCxnSpPr>
          <p:cNvPr id="30" name="直線コネクタ 29">
            <a:extLst>
              <a:ext uri="{FF2B5EF4-FFF2-40B4-BE49-F238E27FC236}">
                <a16:creationId xmlns:a16="http://schemas.microsoft.com/office/drawing/2014/main" id="{675AA85E-D616-7278-48A1-CC6808255D6C}"/>
              </a:ext>
            </a:extLst>
          </p:cNvPr>
          <p:cNvCxnSpPr/>
          <p:nvPr/>
        </p:nvCxnSpPr>
        <p:spPr>
          <a:xfrm>
            <a:off x="7536946" y="3610963"/>
            <a:ext cx="4319787"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3" name="正方形/長方形 32">
            <a:extLst>
              <a:ext uri="{FF2B5EF4-FFF2-40B4-BE49-F238E27FC236}">
                <a16:creationId xmlns:a16="http://schemas.microsoft.com/office/drawing/2014/main" id="{4FB9CDF0-C48F-AD48-FF0A-FD3CA9E3650C}"/>
              </a:ext>
            </a:extLst>
          </p:cNvPr>
          <p:cNvSpPr/>
          <p:nvPr/>
        </p:nvSpPr>
        <p:spPr>
          <a:xfrm>
            <a:off x="3248922" y="3649064"/>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ja-JP" sz="1400" dirty="0">
                <a:solidFill>
                  <a:schemeClr val="tx1"/>
                </a:solidFill>
                <a:latin typeface="+mn-ea"/>
              </a:rPr>
              <a:t>AI</a:t>
            </a:r>
            <a:r>
              <a:rPr lang="ja-JP" altLang="en-US" sz="1400" dirty="0">
                <a:solidFill>
                  <a:schemeClr val="tx1"/>
                </a:solidFill>
                <a:latin typeface="+mn-ea"/>
              </a:rPr>
              <a:t>にどう扱われるか未計測・未対応</a:t>
            </a:r>
          </a:p>
        </p:txBody>
      </p:sp>
      <p:sp>
        <p:nvSpPr>
          <p:cNvPr id="34" name="正方形/長方形 33">
            <a:extLst>
              <a:ext uri="{FF2B5EF4-FFF2-40B4-BE49-F238E27FC236}">
                <a16:creationId xmlns:a16="http://schemas.microsoft.com/office/drawing/2014/main" id="{210972AD-EC3B-D5C4-9234-2210F714B10A}"/>
              </a:ext>
            </a:extLst>
          </p:cNvPr>
          <p:cNvSpPr/>
          <p:nvPr/>
        </p:nvSpPr>
        <p:spPr>
          <a:xfrm>
            <a:off x="7536946" y="3649064"/>
            <a:ext cx="4319787"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en-US" altLang="ja-JP" sz="1400" dirty="0">
                <a:solidFill>
                  <a:schemeClr val="accent5"/>
                </a:solidFill>
                <a:latin typeface="+mn-ea"/>
              </a:rPr>
              <a:t>AIEO Rate</a:t>
            </a:r>
            <a:r>
              <a:rPr lang="ja-JP" altLang="en-US" sz="1400" dirty="0">
                <a:solidFill>
                  <a:schemeClr val="accent5"/>
                </a:solidFill>
                <a:latin typeface="+mn-ea"/>
              </a:rPr>
              <a:t>月次監査</a:t>
            </a:r>
            <a:br>
              <a:rPr lang="en-US" altLang="ja-JP" sz="1400" dirty="0">
                <a:solidFill>
                  <a:schemeClr val="accent5"/>
                </a:solidFill>
                <a:latin typeface="+mn-ea"/>
              </a:rPr>
            </a:br>
            <a:r>
              <a:rPr lang="ja-JP" altLang="en-US" sz="1400" dirty="0">
                <a:solidFill>
                  <a:schemeClr val="accent5"/>
                </a:solidFill>
                <a:latin typeface="+mn-ea"/>
              </a:rPr>
              <a:t>→原因特定→情報修正のループを運用</a:t>
            </a:r>
          </a:p>
        </p:txBody>
      </p:sp>
      <p:cxnSp>
        <p:nvCxnSpPr>
          <p:cNvPr id="40" name="直線コネクタ 39">
            <a:extLst>
              <a:ext uri="{FF2B5EF4-FFF2-40B4-BE49-F238E27FC236}">
                <a16:creationId xmlns:a16="http://schemas.microsoft.com/office/drawing/2014/main" id="{67E68ABE-6377-5CB2-DE88-4E29634CE331}"/>
              </a:ext>
            </a:extLst>
          </p:cNvPr>
          <p:cNvCxnSpPr/>
          <p:nvPr/>
        </p:nvCxnSpPr>
        <p:spPr>
          <a:xfrm>
            <a:off x="3250827" y="4725586"/>
            <a:ext cx="419862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正方形/長方形 40">
            <a:extLst>
              <a:ext uri="{FF2B5EF4-FFF2-40B4-BE49-F238E27FC236}">
                <a16:creationId xmlns:a16="http://schemas.microsoft.com/office/drawing/2014/main" id="{AF63DD0C-F1F9-79B4-8CFE-28247F86C575}"/>
              </a:ext>
            </a:extLst>
          </p:cNvPr>
          <p:cNvSpPr/>
          <p:nvPr/>
        </p:nvSpPr>
        <p:spPr>
          <a:xfrm>
            <a:off x="3250827" y="4223085"/>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400" dirty="0">
                <a:solidFill>
                  <a:schemeClr val="tx1"/>
                </a:solidFill>
                <a:latin typeface="+mn-ea"/>
              </a:rPr>
              <a:t>提案資料・実績集計を手作業で数時間</a:t>
            </a:r>
          </a:p>
        </p:txBody>
      </p:sp>
      <p:sp>
        <p:nvSpPr>
          <p:cNvPr id="42" name="正方形/長方形 41">
            <a:extLst>
              <a:ext uri="{FF2B5EF4-FFF2-40B4-BE49-F238E27FC236}">
                <a16:creationId xmlns:a16="http://schemas.microsoft.com/office/drawing/2014/main" id="{2F61CAE8-1EDB-F423-4597-16DC0AC02FD7}"/>
              </a:ext>
            </a:extLst>
          </p:cNvPr>
          <p:cNvSpPr/>
          <p:nvPr/>
        </p:nvSpPr>
        <p:spPr>
          <a:xfrm>
            <a:off x="7538851" y="4223085"/>
            <a:ext cx="4317882"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n-ea"/>
              </a:rPr>
              <a:t>生成</a:t>
            </a:r>
            <a:r>
              <a:rPr lang="en-US" altLang="ja-JP" sz="1400" dirty="0">
                <a:solidFill>
                  <a:schemeClr val="accent5"/>
                </a:solidFill>
                <a:latin typeface="+mn-ea"/>
              </a:rPr>
              <a:t>AI×TPM</a:t>
            </a:r>
            <a:r>
              <a:rPr lang="ja-JP" altLang="en-US" sz="1400" dirty="0">
                <a:solidFill>
                  <a:schemeClr val="accent5"/>
                </a:solidFill>
                <a:latin typeface="+mn-ea"/>
              </a:rPr>
              <a:t>が提案書・</a:t>
            </a:r>
            <a:r>
              <a:rPr lang="en-US" altLang="ja-JP" sz="1400" dirty="0">
                <a:solidFill>
                  <a:schemeClr val="accent5"/>
                </a:solidFill>
                <a:latin typeface="+mn-ea"/>
              </a:rPr>
              <a:t>LTV</a:t>
            </a:r>
            <a:r>
              <a:rPr lang="ja-JP" altLang="en-US" sz="1400" dirty="0">
                <a:solidFill>
                  <a:schemeClr val="accent5"/>
                </a:solidFill>
                <a:latin typeface="+mn-ea"/>
              </a:rPr>
              <a:t>予測・炭素効率を自動生成。</a:t>
            </a:r>
            <a:br>
              <a:rPr lang="en-US" altLang="ja-JP" sz="1400" dirty="0">
                <a:solidFill>
                  <a:schemeClr val="accent5"/>
                </a:solidFill>
                <a:latin typeface="+mn-ea"/>
              </a:rPr>
            </a:br>
            <a:r>
              <a:rPr lang="ja-JP" altLang="en-US" sz="1400" dirty="0">
                <a:solidFill>
                  <a:schemeClr val="accent5"/>
                </a:solidFill>
                <a:latin typeface="+mn-ea"/>
              </a:rPr>
              <a:t>営業はレビューのみ　</a:t>
            </a:r>
          </a:p>
        </p:txBody>
      </p:sp>
      <p:cxnSp>
        <p:nvCxnSpPr>
          <p:cNvPr id="43" name="直線コネクタ 42">
            <a:extLst>
              <a:ext uri="{FF2B5EF4-FFF2-40B4-BE49-F238E27FC236}">
                <a16:creationId xmlns:a16="http://schemas.microsoft.com/office/drawing/2014/main" id="{50C40851-1539-5113-AED6-FF0C4A651E75}"/>
              </a:ext>
            </a:extLst>
          </p:cNvPr>
          <p:cNvCxnSpPr/>
          <p:nvPr/>
        </p:nvCxnSpPr>
        <p:spPr>
          <a:xfrm>
            <a:off x="7538851" y="4725586"/>
            <a:ext cx="431788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a16:creationId xmlns:a16="http://schemas.microsoft.com/office/drawing/2014/main" id="{D2741AAD-EAA5-EC11-CB4B-5A3B5536F4D3}"/>
              </a:ext>
            </a:extLst>
          </p:cNvPr>
          <p:cNvCxnSpPr/>
          <p:nvPr/>
        </p:nvCxnSpPr>
        <p:spPr>
          <a:xfrm>
            <a:off x="3250827" y="5266187"/>
            <a:ext cx="419862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6" name="正方形/長方形 45">
            <a:extLst>
              <a:ext uri="{FF2B5EF4-FFF2-40B4-BE49-F238E27FC236}">
                <a16:creationId xmlns:a16="http://schemas.microsoft.com/office/drawing/2014/main" id="{8D3FDCEF-CD3B-2004-F5DF-C704E8B619A4}"/>
              </a:ext>
            </a:extLst>
          </p:cNvPr>
          <p:cNvSpPr/>
          <p:nvPr/>
        </p:nvSpPr>
        <p:spPr>
          <a:xfrm>
            <a:off x="3250827" y="4763686"/>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400" dirty="0">
                <a:solidFill>
                  <a:schemeClr val="tx1"/>
                </a:solidFill>
                <a:latin typeface="+mn-ea"/>
              </a:rPr>
              <a:t>値引き・特売の条件交渉が中心</a:t>
            </a:r>
          </a:p>
        </p:txBody>
      </p:sp>
      <p:sp>
        <p:nvSpPr>
          <p:cNvPr id="47" name="正方形/長方形 46">
            <a:extLst>
              <a:ext uri="{FF2B5EF4-FFF2-40B4-BE49-F238E27FC236}">
                <a16:creationId xmlns:a16="http://schemas.microsoft.com/office/drawing/2014/main" id="{046DD78E-0F15-1EB7-D5F6-5340B59B6E2C}"/>
              </a:ext>
            </a:extLst>
          </p:cNvPr>
          <p:cNvSpPr/>
          <p:nvPr/>
        </p:nvSpPr>
        <p:spPr>
          <a:xfrm>
            <a:off x="7538851" y="4763686"/>
            <a:ext cx="4317882"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n-ea"/>
              </a:rPr>
              <a:t>「値引き</a:t>
            </a:r>
            <a:r>
              <a:rPr lang="en-US" altLang="ja-JP" sz="1400" dirty="0">
                <a:solidFill>
                  <a:schemeClr val="accent5"/>
                </a:solidFill>
                <a:latin typeface="+mn-ea"/>
              </a:rPr>
              <a:t>70</a:t>
            </a:r>
            <a:r>
              <a:rPr lang="ja-JP" altLang="en-US" sz="1400" dirty="0">
                <a:solidFill>
                  <a:schemeClr val="accent5"/>
                </a:solidFill>
                <a:latin typeface="+mn-ea"/>
              </a:rPr>
              <a:t>＋施策</a:t>
            </a:r>
            <a:r>
              <a:rPr lang="en-US" altLang="ja-JP" sz="1400" dirty="0">
                <a:solidFill>
                  <a:schemeClr val="accent5"/>
                </a:solidFill>
                <a:latin typeface="+mn-ea"/>
              </a:rPr>
              <a:t>30</a:t>
            </a:r>
            <a:r>
              <a:rPr lang="ja-JP" altLang="en-US" sz="1400" dirty="0">
                <a:solidFill>
                  <a:schemeClr val="accent5"/>
                </a:solidFill>
                <a:latin typeface="+mn-ea"/>
              </a:rPr>
              <a:t>＋成果連動」</a:t>
            </a:r>
            <a:br>
              <a:rPr lang="en-US" altLang="ja-JP" sz="1400" dirty="0">
                <a:solidFill>
                  <a:schemeClr val="accent5"/>
                </a:solidFill>
                <a:latin typeface="+mn-ea"/>
              </a:rPr>
            </a:br>
            <a:r>
              <a:rPr lang="ja-JP" altLang="en-US" sz="1400" dirty="0">
                <a:solidFill>
                  <a:schemeClr val="accent5"/>
                </a:solidFill>
                <a:latin typeface="+mn-ea"/>
              </a:rPr>
              <a:t>＋小売データ共同検証の</a:t>
            </a:r>
            <a:r>
              <a:rPr lang="en-US" altLang="ja-JP" sz="1400" dirty="0">
                <a:solidFill>
                  <a:schemeClr val="accent5"/>
                </a:solidFill>
                <a:latin typeface="+mn-ea"/>
              </a:rPr>
              <a:t>JBP</a:t>
            </a:r>
            <a:r>
              <a:rPr lang="ja-JP" altLang="en-US" sz="1400" dirty="0">
                <a:solidFill>
                  <a:schemeClr val="accent5"/>
                </a:solidFill>
                <a:latin typeface="+mn-ea"/>
              </a:rPr>
              <a:t>商談へ　</a:t>
            </a:r>
          </a:p>
        </p:txBody>
      </p:sp>
      <p:cxnSp>
        <p:nvCxnSpPr>
          <p:cNvPr id="48" name="直線コネクタ 47">
            <a:extLst>
              <a:ext uri="{FF2B5EF4-FFF2-40B4-BE49-F238E27FC236}">
                <a16:creationId xmlns:a16="http://schemas.microsoft.com/office/drawing/2014/main" id="{E62B543E-AD9D-2CDB-1CCD-9AC7001186DC}"/>
              </a:ext>
            </a:extLst>
          </p:cNvPr>
          <p:cNvCxnSpPr/>
          <p:nvPr/>
        </p:nvCxnSpPr>
        <p:spPr>
          <a:xfrm>
            <a:off x="7538851" y="5266187"/>
            <a:ext cx="431788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3DB11183-FC8A-25BB-9956-16FBAC724364}"/>
              </a:ext>
            </a:extLst>
          </p:cNvPr>
          <p:cNvCxnSpPr/>
          <p:nvPr/>
        </p:nvCxnSpPr>
        <p:spPr>
          <a:xfrm>
            <a:off x="3250827" y="5806787"/>
            <a:ext cx="4198624"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373A47FE-EC51-324A-5200-A29E2AB2B943}"/>
              </a:ext>
            </a:extLst>
          </p:cNvPr>
          <p:cNvSpPr/>
          <p:nvPr/>
        </p:nvSpPr>
        <p:spPr>
          <a:xfrm>
            <a:off x="3250827" y="5304286"/>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ja-JP" altLang="en-US" sz="1400" dirty="0">
                <a:solidFill>
                  <a:schemeClr val="tx1"/>
                </a:solidFill>
                <a:latin typeface="+mn-ea"/>
              </a:rPr>
              <a:t>棚取り・チラシ枠交渉。店頭と</a:t>
            </a:r>
            <a:r>
              <a:rPr lang="en-US" altLang="ja-JP" sz="1400" dirty="0">
                <a:solidFill>
                  <a:schemeClr val="tx1"/>
                </a:solidFill>
                <a:latin typeface="+mn-ea"/>
              </a:rPr>
              <a:t>EC</a:t>
            </a:r>
            <a:r>
              <a:rPr lang="ja-JP" altLang="en-US" sz="1400" dirty="0">
                <a:solidFill>
                  <a:schemeClr val="tx1"/>
                </a:solidFill>
                <a:latin typeface="+mn-ea"/>
              </a:rPr>
              <a:t>は別管理</a:t>
            </a:r>
          </a:p>
        </p:txBody>
      </p:sp>
      <p:sp>
        <p:nvSpPr>
          <p:cNvPr id="52" name="正方形/長方形 51">
            <a:extLst>
              <a:ext uri="{FF2B5EF4-FFF2-40B4-BE49-F238E27FC236}">
                <a16:creationId xmlns:a16="http://schemas.microsoft.com/office/drawing/2014/main" id="{8FF590DE-35D4-541D-D0B3-AA13AFD35463}"/>
              </a:ext>
            </a:extLst>
          </p:cNvPr>
          <p:cNvSpPr/>
          <p:nvPr/>
        </p:nvSpPr>
        <p:spPr>
          <a:xfrm>
            <a:off x="7538851" y="5304286"/>
            <a:ext cx="4317882"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n-ea"/>
              </a:rPr>
              <a:t>診断型売場</a:t>
            </a:r>
            <a:r>
              <a:rPr lang="en-US" altLang="ja-JP" sz="1400" dirty="0">
                <a:solidFill>
                  <a:schemeClr val="accent5"/>
                </a:solidFill>
                <a:latin typeface="+mn-ea"/>
              </a:rPr>
              <a:t>×</a:t>
            </a:r>
            <a:r>
              <a:rPr lang="ja-JP" altLang="en-US" sz="1400" dirty="0">
                <a:solidFill>
                  <a:schemeClr val="accent5"/>
                </a:solidFill>
                <a:latin typeface="+mn-ea"/>
              </a:rPr>
              <a:t>リテールメディアを共同運用。</a:t>
            </a:r>
            <a:br>
              <a:rPr lang="en-US" altLang="ja-JP" sz="1400" dirty="0">
                <a:solidFill>
                  <a:schemeClr val="accent5"/>
                </a:solidFill>
                <a:latin typeface="+mn-ea"/>
              </a:rPr>
            </a:br>
            <a:r>
              <a:rPr lang="ja-JP" altLang="en-US" sz="1400" dirty="0">
                <a:solidFill>
                  <a:schemeClr val="accent5"/>
                </a:solidFill>
                <a:latin typeface="+mn-ea"/>
              </a:rPr>
              <a:t>棚・</a:t>
            </a:r>
            <a:r>
              <a:rPr lang="en-US" altLang="ja-JP" sz="1400" dirty="0">
                <a:solidFill>
                  <a:schemeClr val="accent5"/>
                </a:solidFill>
                <a:latin typeface="+mn-ea"/>
              </a:rPr>
              <a:t>EC</a:t>
            </a:r>
            <a:r>
              <a:rPr lang="ja-JP" altLang="en-US" sz="1400" dirty="0">
                <a:solidFill>
                  <a:schemeClr val="accent5"/>
                </a:solidFill>
                <a:latin typeface="+mn-ea"/>
              </a:rPr>
              <a:t>・</a:t>
            </a:r>
            <a:r>
              <a:rPr lang="en-US" altLang="ja-JP" sz="1400" dirty="0">
                <a:solidFill>
                  <a:schemeClr val="accent5"/>
                </a:solidFill>
                <a:latin typeface="+mn-ea"/>
              </a:rPr>
              <a:t>AI</a:t>
            </a:r>
            <a:r>
              <a:rPr lang="ja-JP" altLang="en-US" sz="1400" dirty="0">
                <a:solidFill>
                  <a:schemeClr val="accent5"/>
                </a:solidFill>
                <a:latin typeface="+mn-ea"/>
              </a:rPr>
              <a:t>推奨を</a:t>
            </a:r>
            <a:r>
              <a:rPr lang="en-US" altLang="ja-JP" sz="1400" dirty="0">
                <a:solidFill>
                  <a:schemeClr val="accent5"/>
                </a:solidFill>
                <a:latin typeface="+mn-ea"/>
              </a:rPr>
              <a:t>TA</a:t>
            </a:r>
            <a:r>
              <a:rPr lang="ja-JP" altLang="en-US" sz="1400" dirty="0">
                <a:solidFill>
                  <a:schemeClr val="accent5"/>
                </a:solidFill>
                <a:latin typeface="+mn-ea"/>
              </a:rPr>
              <a:t>で一体管理　</a:t>
            </a:r>
          </a:p>
        </p:txBody>
      </p:sp>
      <p:cxnSp>
        <p:nvCxnSpPr>
          <p:cNvPr id="53" name="直線コネクタ 52">
            <a:extLst>
              <a:ext uri="{FF2B5EF4-FFF2-40B4-BE49-F238E27FC236}">
                <a16:creationId xmlns:a16="http://schemas.microsoft.com/office/drawing/2014/main" id="{3325BF83-CAEF-5DDD-E2FA-46F1C7DF6A9A}"/>
              </a:ext>
            </a:extLst>
          </p:cNvPr>
          <p:cNvCxnSpPr/>
          <p:nvPr/>
        </p:nvCxnSpPr>
        <p:spPr>
          <a:xfrm>
            <a:off x="7538851" y="5806787"/>
            <a:ext cx="4317882" cy="0"/>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6" name="正方形/長方形 55">
            <a:extLst>
              <a:ext uri="{FF2B5EF4-FFF2-40B4-BE49-F238E27FC236}">
                <a16:creationId xmlns:a16="http://schemas.microsoft.com/office/drawing/2014/main" id="{5CE55DBD-061C-86B9-6082-26EF9A05D0C4}"/>
              </a:ext>
            </a:extLst>
          </p:cNvPr>
          <p:cNvSpPr/>
          <p:nvPr/>
        </p:nvSpPr>
        <p:spPr>
          <a:xfrm>
            <a:off x="3250827" y="5844887"/>
            <a:ext cx="4198625"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chemeClr val="accent5"/>
              </a:buClr>
            </a:pPr>
            <a:r>
              <a:rPr lang="en-US" altLang="ja-JP" sz="1400" dirty="0">
                <a:solidFill>
                  <a:schemeClr val="tx1"/>
                </a:solidFill>
                <a:latin typeface="+mn-ea"/>
              </a:rPr>
              <a:t>1</a:t>
            </a:r>
            <a:r>
              <a:rPr lang="ja-JP" altLang="en-US" sz="1400" dirty="0">
                <a:solidFill>
                  <a:schemeClr val="tx1"/>
                </a:solidFill>
                <a:latin typeface="+mn-ea"/>
              </a:rPr>
              <a:t>人</a:t>
            </a:r>
            <a:r>
              <a:rPr lang="en-US" altLang="ja-JP" sz="1400" dirty="0">
                <a:solidFill>
                  <a:schemeClr val="tx1"/>
                </a:solidFill>
                <a:latin typeface="+mn-ea"/>
              </a:rPr>
              <a:t>1</a:t>
            </a:r>
            <a:r>
              <a:rPr lang="ja-JP" altLang="en-US" sz="1400" dirty="0">
                <a:solidFill>
                  <a:schemeClr val="tx1"/>
                </a:solidFill>
                <a:latin typeface="+mn-ea"/>
              </a:rPr>
              <a:t>バイヤーの属人営業・売上評価のみ</a:t>
            </a:r>
          </a:p>
        </p:txBody>
      </p:sp>
      <p:sp>
        <p:nvSpPr>
          <p:cNvPr id="57" name="正方形/長方形 56">
            <a:extLst>
              <a:ext uri="{FF2B5EF4-FFF2-40B4-BE49-F238E27FC236}">
                <a16:creationId xmlns:a16="http://schemas.microsoft.com/office/drawing/2014/main" id="{9052E24B-A60B-7E29-63AE-F6863C37BA12}"/>
              </a:ext>
            </a:extLst>
          </p:cNvPr>
          <p:cNvSpPr/>
          <p:nvPr/>
        </p:nvSpPr>
        <p:spPr>
          <a:xfrm>
            <a:off x="7538851" y="5844887"/>
            <a:ext cx="4317882" cy="464401"/>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chemeClr val="accent5"/>
              </a:buClr>
            </a:pPr>
            <a:r>
              <a:rPr lang="ja-JP" altLang="en-US" sz="1400" dirty="0">
                <a:solidFill>
                  <a:schemeClr val="accent5"/>
                </a:solidFill>
                <a:latin typeface="+mn-ea"/>
              </a:rPr>
              <a:t>混成チーム </a:t>
            </a:r>
            <a:r>
              <a:rPr lang="en-US" altLang="ja-JP" sz="1400" dirty="0">
                <a:solidFill>
                  <a:schemeClr val="accent5"/>
                </a:solidFill>
                <a:latin typeface="+mn-ea"/>
              </a:rPr>
              <a:t>(</a:t>
            </a:r>
            <a:r>
              <a:rPr lang="ja-JP" altLang="en-US" sz="1400" dirty="0">
                <a:solidFill>
                  <a:schemeClr val="accent5"/>
                </a:solidFill>
                <a:latin typeface="+mn-ea"/>
              </a:rPr>
              <a:t>営業・ブランド・データ・</a:t>
            </a:r>
            <a:r>
              <a:rPr lang="en-US" altLang="ja-JP" sz="1400" dirty="0">
                <a:solidFill>
                  <a:schemeClr val="accent5"/>
                </a:solidFill>
                <a:latin typeface="+mn-ea"/>
              </a:rPr>
              <a:t>EC</a:t>
            </a:r>
            <a:r>
              <a:rPr lang="ja-JP" altLang="en-US" sz="1400" dirty="0">
                <a:solidFill>
                  <a:schemeClr val="accent5"/>
                </a:solidFill>
                <a:latin typeface="+mn-ea"/>
              </a:rPr>
              <a:t>・</a:t>
            </a:r>
            <a:r>
              <a:rPr lang="en-US" altLang="ja-JP" sz="1400" dirty="0">
                <a:solidFill>
                  <a:schemeClr val="accent5"/>
                </a:solidFill>
                <a:latin typeface="+mn-ea"/>
              </a:rPr>
              <a:t>SCM) </a:t>
            </a:r>
            <a:r>
              <a:rPr lang="ja-JP" altLang="en-US" sz="1400" dirty="0">
                <a:solidFill>
                  <a:schemeClr val="accent5"/>
                </a:solidFill>
                <a:latin typeface="+mn-ea"/>
              </a:rPr>
              <a:t>で</a:t>
            </a:r>
            <a:br>
              <a:rPr lang="en-US" altLang="ja-JP" sz="1400" dirty="0">
                <a:solidFill>
                  <a:schemeClr val="accent5"/>
                </a:solidFill>
                <a:latin typeface="+mn-ea"/>
              </a:rPr>
            </a:br>
            <a:r>
              <a:rPr lang="ja-JP" altLang="en-US" sz="1400" dirty="0">
                <a:solidFill>
                  <a:schemeClr val="accent5"/>
                </a:solidFill>
                <a:latin typeface="+mn-ea"/>
              </a:rPr>
              <a:t>増分粗利を共有</a:t>
            </a:r>
            <a:r>
              <a:rPr lang="en-US" altLang="ja-JP" sz="1400" dirty="0">
                <a:solidFill>
                  <a:schemeClr val="accent5"/>
                </a:solidFill>
                <a:latin typeface="+mn-ea"/>
              </a:rPr>
              <a:t>KPI</a:t>
            </a:r>
            <a:r>
              <a:rPr lang="ja-JP" altLang="en-US" sz="1400" dirty="0">
                <a:solidFill>
                  <a:schemeClr val="accent5"/>
                </a:solidFill>
                <a:latin typeface="+mn-ea"/>
              </a:rPr>
              <a:t>に　</a:t>
            </a:r>
          </a:p>
        </p:txBody>
      </p:sp>
      <p:grpSp>
        <p:nvGrpSpPr>
          <p:cNvPr id="65" name="グループ化 64">
            <a:extLst>
              <a:ext uri="{FF2B5EF4-FFF2-40B4-BE49-F238E27FC236}">
                <a16:creationId xmlns:a16="http://schemas.microsoft.com/office/drawing/2014/main" id="{20A9D84D-B2C5-C5DD-1163-6595CADCA25D}"/>
              </a:ext>
            </a:extLst>
          </p:cNvPr>
          <p:cNvGrpSpPr/>
          <p:nvPr/>
        </p:nvGrpSpPr>
        <p:grpSpPr>
          <a:xfrm>
            <a:off x="10853742" y="2288975"/>
            <a:ext cx="1002992" cy="207483"/>
            <a:chOff x="10821979" y="2288975"/>
            <a:chExt cx="1002992" cy="207483"/>
          </a:xfrm>
        </p:grpSpPr>
        <p:sp>
          <p:nvSpPr>
            <p:cNvPr id="60" name="正方形/長方形 59">
              <a:extLst>
                <a:ext uri="{FF2B5EF4-FFF2-40B4-BE49-F238E27FC236}">
                  <a16:creationId xmlns:a16="http://schemas.microsoft.com/office/drawing/2014/main" id="{0F85CB3D-E68C-A9F7-1DCA-C56D9066B226}"/>
                </a:ext>
              </a:extLst>
            </p:cNvPr>
            <p:cNvSpPr/>
            <p:nvPr/>
          </p:nvSpPr>
          <p:spPr>
            <a:xfrm>
              <a:off x="10821979" y="2288976"/>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B1</a:t>
              </a:r>
            </a:p>
          </p:txBody>
        </p:sp>
        <p:sp>
          <p:nvSpPr>
            <p:cNvPr id="61" name="正方形/長方形 60">
              <a:extLst>
                <a:ext uri="{FF2B5EF4-FFF2-40B4-BE49-F238E27FC236}">
                  <a16:creationId xmlns:a16="http://schemas.microsoft.com/office/drawing/2014/main" id="{177CDE5D-E054-ADFF-32B7-5BD80BAF32ED}"/>
                </a:ext>
              </a:extLst>
            </p:cNvPr>
            <p:cNvSpPr/>
            <p:nvPr/>
          </p:nvSpPr>
          <p:spPr>
            <a:xfrm>
              <a:off x="11370164" y="2288975"/>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B2</a:t>
              </a:r>
            </a:p>
          </p:txBody>
        </p:sp>
      </p:grpSp>
      <p:grpSp>
        <p:nvGrpSpPr>
          <p:cNvPr id="64" name="グループ化 63">
            <a:extLst>
              <a:ext uri="{FF2B5EF4-FFF2-40B4-BE49-F238E27FC236}">
                <a16:creationId xmlns:a16="http://schemas.microsoft.com/office/drawing/2014/main" id="{3E663364-4916-3656-162B-D29855157859}"/>
              </a:ext>
            </a:extLst>
          </p:cNvPr>
          <p:cNvGrpSpPr/>
          <p:nvPr/>
        </p:nvGrpSpPr>
        <p:grpSpPr>
          <a:xfrm>
            <a:off x="10853742" y="2846170"/>
            <a:ext cx="1002992" cy="207483"/>
            <a:chOff x="10853742" y="2846170"/>
            <a:chExt cx="1002992" cy="207483"/>
          </a:xfrm>
        </p:grpSpPr>
        <p:sp>
          <p:nvSpPr>
            <p:cNvPr id="62" name="正方形/長方形 61">
              <a:extLst>
                <a:ext uri="{FF2B5EF4-FFF2-40B4-BE49-F238E27FC236}">
                  <a16:creationId xmlns:a16="http://schemas.microsoft.com/office/drawing/2014/main" id="{89AE3FD2-BDCF-15B3-F0F0-50395FDBEE4F}"/>
                </a:ext>
              </a:extLst>
            </p:cNvPr>
            <p:cNvSpPr/>
            <p:nvPr/>
          </p:nvSpPr>
          <p:spPr>
            <a:xfrm>
              <a:off x="10853742" y="2846171"/>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A1</a:t>
              </a:r>
            </a:p>
          </p:txBody>
        </p:sp>
        <p:sp>
          <p:nvSpPr>
            <p:cNvPr id="63" name="正方形/長方形 62">
              <a:extLst>
                <a:ext uri="{FF2B5EF4-FFF2-40B4-BE49-F238E27FC236}">
                  <a16:creationId xmlns:a16="http://schemas.microsoft.com/office/drawing/2014/main" id="{7302B83E-C8BF-FE88-49D8-DC8B41873995}"/>
                </a:ext>
              </a:extLst>
            </p:cNvPr>
            <p:cNvSpPr/>
            <p:nvPr/>
          </p:nvSpPr>
          <p:spPr>
            <a:xfrm>
              <a:off x="11401927" y="2846170"/>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C1</a:t>
              </a:r>
            </a:p>
          </p:txBody>
        </p:sp>
      </p:grpSp>
      <p:grpSp>
        <p:nvGrpSpPr>
          <p:cNvPr id="66" name="グループ化 65">
            <a:extLst>
              <a:ext uri="{FF2B5EF4-FFF2-40B4-BE49-F238E27FC236}">
                <a16:creationId xmlns:a16="http://schemas.microsoft.com/office/drawing/2014/main" id="{E22ED955-1043-CF10-AB0D-DC0FED43DBE2}"/>
              </a:ext>
            </a:extLst>
          </p:cNvPr>
          <p:cNvGrpSpPr/>
          <p:nvPr/>
        </p:nvGrpSpPr>
        <p:grpSpPr>
          <a:xfrm>
            <a:off x="10853742" y="3373735"/>
            <a:ext cx="1002992" cy="207483"/>
            <a:chOff x="10853742" y="2846170"/>
            <a:chExt cx="1002992" cy="207483"/>
          </a:xfrm>
        </p:grpSpPr>
        <p:sp>
          <p:nvSpPr>
            <p:cNvPr id="67" name="正方形/長方形 66">
              <a:extLst>
                <a:ext uri="{FF2B5EF4-FFF2-40B4-BE49-F238E27FC236}">
                  <a16:creationId xmlns:a16="http://schemas.microsoft.com/office/drawing/2014/main" id="{CA11DDF0-5FB4-1800-D3C4-35BEC2336FB4}"/>
                </a:ext>
              </a:extLst>
            </p:cNvPr>
            <p:cNvSpPr/>
            <p:nvPr/>
          </p:nvSpPr>
          <p:spPr>
            <a:xfrm>
              <a:off x="10853742" y="2846171"/>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A2</a:t>
              </a:r>
            </a:p>
          </p:txBody>
        </p:sp>
        <p:sp>
          <p:nvSpPr>
            <p:cNvPr id="68" name="正方形/長方形 67">
              <a:extLst>
                <a:ext uri="{FF2B5EF4-FFF2-40B4-BE49-F238E27FC236}">
                  <a16:creationId xmlns:a16="http://schemas.microsoft.com/office/drawing/2014/main" id="{1CA2F5E0-661F-C5F5-F227-18C78D69E9D3}"/>
                </a:ext>
              </a:extLst>
            </p:cNvPr>
            <p:cNvSpPr/>
            <p:nvPr/>
          </p:nvSpPr>
          <p:spPr>
            <a:xfrm>
              <a:off x="11401927" y="2846170"/>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DCR</a:t>
              </a:r>
            </a:p>
          </p:txBody>
        </p:sp>
      </p:grpSp>
      <p:sp>
        <p:nvSpPr>
          <p:cNvPr id="71" name="正方形/長方形 70">
            <a:extLst>
              <a:ext uri="{FF2B5EF4-FFF2-40B4-BE49-F238E27FC236}">
                <a16:creationId xmlns:a16="http://schemas.microsoft.com/office/drawing/2014/main" id="{8FE63632-A084-E1F7-3624-187063F8591F}"/>
              </a:ext>
            </a:extLst>
          </p:cNvPr>
          <p:cNvSpPr/>
          <p:nvPr/>
        </p:nvSpPr>
        <p:spPr>
          <a:xfrm>
            <a:off x="11401927" y="3938170"/>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A1</a:t>
            </a:r>
          </a:p>
        </p:txBody>
      </p:sp>
      <p:grpSp>
        <p:nvGrpSpPr>
          <p:cNvPr id="72" name="グループ化 71">
            <a:extLst>
              <a:ext uri="{FF2B5EF4-FFF2-40B4-BE49-F238E27FC236}">
                <a16:creationId xmlns:a16="http://schemas.microsoft.com/office/drawing/2014/main" id="{128CE4D7-5E01-11AB-5ADF-71D4807F3012}"/>
              </a:ext>
            </a:extLst>
          </p:cNvPr>
          <p:cNvGrpSpPr/>
          <p:nvPr/>
        </p:nvGrpSpPr>
        <p:grpSpPr>
          <a:xfrm>
            <a:off x="10853742" y="4495231"/>
            <a:ext cx="1002992" cy="207483"/>
            <a:chOff x="10853742" y="2846170"/>
            <a:chExt cx="1002992" cy="207483"/>
          </a:xfrm>
        </p:grpSpPr>
        <p:sp>
          <p:nvSpPr>
            <p:cNvPr id="73" name="正方形/長方形 72">
              <a:extLst>
                <a:ext uri="{FF2B5EF4-FFF2-40B4-BE49-F238E27FC236}">
                  <a16:creationId xmlns:a16="http://schemas.microsoft.com/office/drawing/2014/main" id="{F55623EA-27B0-4033-BED1-DC831409203F}"/>
                </a:ext>
              </a:extLst>
            </p:cNvPr>
            <p:cNvSpPr/>
            <p:nvPr/>
          </p:nvSpPr>
          <p:spPr>
            <a:xfrm>
              <a:off x="10853742" y="2846171"/>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C1</a:t>
              </a:r>
            </a:p>
          </p:txBody>
        </p:sp>
        <p:sp>
          <p:nvSpPr>
            <p:cNvPr id="74" name="正方形/長方形 73">
              <a:extLst>
                <a:ext uri="{FF2B5EF4-FFF2-40B4-BE49-F238E27FC236}">
                  <a16:creationId xmlns:a16="http://schemas.microsoft.com/office/drawing/2014/main" id="{CCAA1DA1-A150-81BA-0B8F-FE147A81A1CF}"/>
                </a:ext>
              </a:extLst>
            </p:cNvPr>
            <p:cNvSpPr/>
            <p:nvPr/>
          </p:nvSpPr>
          <p:spPr>
            <a:xfrm>
              <a:off x="11401927" y="2846170"/>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D1</a:t>
              </a:r>
            </a:p>
          </p:txBody>
        </p:sp>
      </p:grpSp>
      <p:grpSp>
        <p:nvGrpSpPr>
          <p:cNvPr id="75" name="グループ化 74">
            <a:extLst>
              <a:ext uri="{FF2B5EF4-FFF2-40B4-BE49-F238E27FC236}">
                <a16:creationId xmlns:a16="http://schemas.microsoft.com/office/drawing/2014/main" id="{22519801-59DA-CDF0-C762-39BFBC341A48}"/>
              </a:ext>
            </a:extLst>
          </p:cNvPr>
          <p:cNvGrpSpPr/>
          <p:nvPr/>
        </p:nvGrpSpPr>
        <p:grpSpPr>
          <a:xfrm>
            <a:off x="10853742" y="5037544"/>
            <a:ext cx="1002992" cy="207483"/>
            <a:chOff x="10853742" y="2846170"/>
            <a:chExt cx="1002992" cy="207483"/>
          </a:xfrm>
        </p:grpSpPr>
        <p:sp>
          <p:nvSpPr>
            <p:cNvPr id="76" name="正方形/長方形 75">
              <a:extLst>
                <a:ext uri="{FF2B5EF4-FFF2-40B4-BE49-F238E27FC236}">
                  <a16:creationId xmlns:a16="http://schemas.microsoft.com/office/drawing/2014/main" id="{58225DC6-719F-EF0B-2B1E-92F926A71DC9}"/>
                </a:ext>
              </a:extLst>
            </p:cNvPr>
            <p:cNvSpPr/>
            <p:nvPr/>
          </p:nvSpPr>
          <p:spPr>
            <a:xfrm>
              <a:off x="10853742" y="2846171"/>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C2</a:t>
              </a:r>
            </a:p>
          </p:txBody>
        </p:sp>
        <p:sp>
          <p:nvSpPr>
            <p:cNvPr id="77" name="正方形/長方形 76">
              <a:extLst>
                <a:ext uri="{FF2B5EF4-FFF2-40B4-BE49-F238E27FC236}">
                  <a16:creationId xmlns:a16="http://schemas.microsoft.com/office/drawing/2014/main" id="{9434DE05-2A8F-9897-5ADB-D2AADD106B8D}"/>
                </a:ext>
              </a:extLst>
            </p:cNvPr>
            <p:cNvSpPr/>
            <p:nvPr/>
          </p:nvSpPr>
          <p:spPr>
            <a:xfrm>
              <a:off x="11401927" y="2846170"/>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B1</a:t>
              </a:r>
            </a:p>
          </p:txBody>
        </p:sp>
      </p:grpSp>
      <p:sp>
        <p:nvSpPr>
          <p:cNvPr id="80" name="正方形/長方形 79">
            <a:extLst>
              <a:ext uri="{FF2B5EF4-FFF2-40B4-BE49-F238E27FC236}">
                <a16:creationId xmlns:a16="http://schemas.microsoft.com/office/drawing/2014/main" id="{262F5253-BF4D-63E5-073D-D2773F6BB270}"/>
              </a:ext>
            </a:extLst>
          </p:cNvPr>
          <p:cNvSpPr/>
          <p:nvPr/>
        </p:nvSpPr>
        <p:spPr>
          <a:xfrm>
            <a:off x="11401927" y="5565110"/>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B2</a:t>
            </a:r>
          </a:p>
        </p:txBody>
      </p:sp>
      <p:sp>
        <p:nvSpPr>
          <p:cNvPr id="89" name="正方形/長方形 88">
            <a:extLst>
              <a:ext uri="{FF2B5EF4-FFF2-40B4-BE49-F238E27FC236}">
                <a16:creationId xmlns:a16="http://schemas.microsoft.com/office/drawing/2014/main" id="{A9E7AA4C-C514-2F5C-DA7E-6C142441F28C}"/>
              </a:ext>
            </a:extLst>
          </p:cNvPr>
          <p:cNvSpPr/>
          <p:nvPr/>
        </p:nvSpPr>
        <p:spPr>
          <a:xfrm>
            <a:off x="11401927" y="6100050"/>
            <a:ext cx="454807" cy="207482"/>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en-US" altLang="ja-JP" sz="1100" dirty="0">
                <a:solidFill>
                  <a:srgbClr val="008D2E"/>
                </a:solidFill>
                <a:latin typeface="+mn-ea"/>
              </a:rPr>
              <a:t>D2</a:t>
            </a:r>
          </a:p>
        </p:txBody>
      </p:sp>
      <p:pic>
        <p:nvPicPr>
          <p:cNvPr id="5" name="グラフィックス 4" descr="メガホン 単色塗りつぶし">
            <a:extLst>
              <a:ext uri="{FF2B5EF4-FFF2-40B4-BE49-F238E27FC236}">
                <a16:creationId xmlns:a16="http://schemas.microsoft.com/office/drawing/2014/main" id="{9AF3401B-778E-A0E3-1ED5-39B87465CD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5282" y="2270165"/>
            <a:ext cx="516155" cy="516155"/>
          </a:xfrm>
          <a:prstGeom prst="rect">
            <a:avLst/>
          </a:prstGeom>
        </p:spPr>
      </p:pic>
      <p:pic>
        <p:nvPicPr>
          <p:cNvPr id="14" name="グラフィックス 13" descr="役員室 単色塗りつぶし">
            <a:extLst>
              <a:ext uri="{FF2B5EF4-FFF2-40B4-BE49-F238E27FC236}">
                <a16:creationId xmlns:a16="http://schemas.microsoft.com/office/drawing/2014/main" id="{4040CBC7-3E50-F8C8-805F-D30295246B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282" y="4631115"/>
            <a:ext cx="516155" cy="516155"/>
          </a:xfrm>
          <a:prstGeom prst="rect">
            <a:avLst/>
          </a:prstGeom>
        </p:spPr>
      </p:pic>
      <p:pic>
        <p:nvPicPr>
          <p:cNvPr id="16" name="グラフィックス 15" descr="リボン 単色塗りつぶし">
            <a:extLst>
              <a:ext uri="{FF2B5EF4-FFF2-40B4-BE49-F238E27FC236}">
                <a16:creationId xmlns:a16="http://schemas.microsoft.com/office/drawing/2014/main" id="{D5352E7C-6D66-F393-6B9C-D645F0DA35C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81539" y="5883190"/>
            <a:ext cx="387795" cy="387795"/>
          </a:xfrm>
          <a:prstGeom prst="rect">
            <a:avLst/>
          </a:prstGeom>
        </p:spPr>
      </p:pic>
      <p:pic>
        <p:nvPicPr>
          <p:cNvPr id="21" name="グラフィックス 20" descr="チャット 単色塗りつぶし">
            <a:extLst>
              <a:ext uri="{FF2B5EF4-FFF2-40B4-BE49-F238E27FC236}">
                <a16:creationId xmlns:a16="http://schemas.microsoft.com/office/drawing/2014/main" id="{9406F728-E6F7-8797-F3DE-B621C470AC2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81539" y="5342589"/>
            <a:ext cx="387795" cy="387795"/>
          </a:xfrm>
          <a:prstGeom prst="rect">
            <a:avLst/>
          </a:prstGeom>
        </p:spPr>
      </p:pic>
      <p:pic>
        <p:nvPicPr>
          <p:cNvPr id="31" name="グラフィックス 30" descr="会議 単色塗りつぶし">
            <a:extLst>
              <a:ext uri="{FF2B5EF4-FFF2-40B4-BE49-F238E27FC236}">
                <a16:creationId xmlns:a16="http://schemas.microsoft.com/office/drawing/2014/main" id="{011B3D79-0D75-EFF2-F8F0-2A9979B71E8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81539" y="4801989"/>
            <a:ext cx="387795" cy="387795"/>
          </a:xfrm>
          <a:prstGeom prst="rect">
            <a:avLst/>
          </a:prstGeom>
        </p:spPr>
      </p:pic>
      <p:pic>
        <p:nvPicPr>
          <p:cNvPr id="35" name="グラフィックス 34" descr="ドキュメント 単色塗りつぶし">
            <a:extLst>
              <a:ext uri="{FF2B5EF4-FFF2-40B4-BE49-F238E27FC236}">
                <a16:creationId xmlns:a16="http://schemas.microsoft.com/office/drawing/2014/main" id="{A72183A0-7107-1BEB-F3BB-9AE760DA9CB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581539" y="4261388"/>
            <a:ext cx="387795" cy="387795"/>
          </a:xfrm>
          <a:prstGeom prst="rect">
            <a:avLst/>
          </a:prstGeom>
        </p:spPr>
      </p:pic>
      <p:pic>
        <p:nvPicPr>
          <p:cNvPr id="39" name="グラフィックス 38" descr="データベース 単色塗りつぶし">
            <a:extLst>
              <a:ext uri="{FF2B5EF4-FFF2-40B4-BE49-F238E27FC236}">
                <a16:creationId xmlns:a16="http://schemas.microsoft.com/office/drawing/2014/main" id="{04A96F3A-D071-3E8A-299A-863C72D9E23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581539" y="3146765"/>
            <a:ext cx="387795" cy="387795"/>
          </a:xfrm>
          <a:prstGeom prst="rect">
            <a:avLst/>
          </a:prstGeom>
        </p:spPr>
      </p:pic>
      <p:pic>
        <p:nvPicPr>
          <p:cNvPr id="49" name="グラフィックス 48" descr="人工知能 単色塗りつぶし">
            <a:extLst>
              <a:ext uri="{FF2B5EF4-FFF2-40B4-BE49-F238E27FC236}">
                <a16:creationId xmlns:a16="http://schemas.microsoft.com/office/drawing/2014/main" id="{40CA3202-DF7C-DB21-D1AB-1EAED3B8A97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581539" y="3687367"/>
            <a:ext cx="387795" cy="387795"/>
          </a:xfrm>
          <a:prstGeom prst="rect">
            <a:avLst/>
          </a:prstGeom>
        </p:spPr>
      </p:pic>
      <p:pic>
        <p:nvPicPr>
          <p:cNvPr id="55" name="グラフィックス 54" descr="イラストレーター 単色塗りつぶし">
            <a:extLst>
              <a:ext uri="{FF2B5EF4-FFF2-40B4-BE49-F238E27FC236}">
                <a16:creationId xmlns:a16="http://schemas.microsoft.com/office/drawing/2014/main" id="{ADA89BDE-4A51-AC60-F87B-712087684175}"/>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581539" y="2606165"/>
            <a:ext cx="387795" cy="387795"/>
          </a:xfrm>
          <a:prstGeom prst="rect">
            <a:avLst/>
          </a:prstGeom>
        </p:spPr>
      </p:pic>
      <p:pic>
        <p:nvPicPr>
          <p:cNvPr id="59" name="グラフィックス 58" descr="硬貨 単色塗りつぶし">
            <a:extLst>
              <a:ext uri="{FF2B5EF4-FFF2-40B4-BE49-F238E27FC236}">
                <a16:creationId xmlns:a16="http://schemas.microsoft.com/office/drawing/2014/main" id="{EB5774B1-5D71-2E2B-42FA-DD3AEE086FD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581539" y="2062386"/>
            <a:ext cx="387795" cy="387795"/>
          </a:xfrm>
          <a:prstGeom prst="rect">
            <a:avLst/>
          </a:prstGeom>
        </p:spPr>
      </p:pic>
    </p:spTree>
    <p:extLst>
      <p:ext uri="{BB962C8B-B14F-4D97-AF65-F5344CB8AC3E}">
        <p14:creationId xmlns:p14="http://schemas.microsoft.com/office/powerpoint/2010/main" val="1711964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41545-8B1B-F96B-C9E8-60A3111ECE6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84C45A6-4E43-FD66-E0D3-531E51460818}"/>
              </a:ext>
            </a:extLst>
          </p:cNvPr>
          <p:cNvSpPr>
            <a:spLocks noGrp="1"/>
          </p:cNvSpPr>
          <p:nvPr>
            <p:ph type="title"/>
          </p:nvPr>
        </p:nvSpPr>
        <p:spPr>
          <a:xfrm>
            <a:off x="334963" y="1"/>
            <a:ext cx="11522075" cy="914400"/>
          </a:xfrm>
        </p:spPr>
        <p:txBody>
          <a:bodyPr/>
          <a:lstStyle/>
          <a:p>
            <a:r>
              <a:rPr lang="en-US" altLang="ja-JP" dirty="0">
                <a:latin typeface="メイリオ" panose="020B0604030504040204" pitchFamily="50" charset="-128"/>
                <a:ea typeface="メイリオ" panose="020B0604030504040204" pitchFamily="50" charset="-128"/>
              </a:rPr>
              <a:t>KGI / KPI</a:t>
            </a:r>
            <a:r>
              <a:rPr lang="ja-JP" altLang="en-US" dirty="0">
                <a:latin typeface="メイリオ" panose="020B0604030504040204" pitchFamily="50" charset="-128"/>
                <a:ea typeface="メイリオ" panose="020B0604030504040204" pitchFamily="50" charset="-128"/>
              </a:rPr>
              <a:t>体系 </a:t>
            </a:r>
            <a:r>
              <a:rPr lang="en-US" altLang="ja-JP" dirty="0">
                <a:latin typeface="メイリオ" panose="020B0604030504040204" pitchFamily="50" charset="-128"/>
                <a:ea typeface="メイリオ" panose="020B0604030504040204" pitchFamily="50" charset="-128"/>
              </a:rPr>
              <a:t>― </a:t>
            </a:r>
            <a:r>
              <a:rPr lang="ja-JP" altLang="en-US" dirty="0">
                <a:latin typeface="メイリオ" panose="020B0604030504040204" pitchFamily="50" charset="-128"/>
                <a:ea typeface="メイリオ" panose="020B0604030504040204" pitchFamily="50" charset="-128"/>
              </a:rPr>
              <a:t>最上位</a:t>
            </a:r>
            <a:r>
              <a:rPr lang="en-US" altLang="ja-JP" dirty="0">
                <a:latin typeface="メイリオ" panose="020B0604030504040204" pitchFamily="50" charset="-128"/>
                <a:ea typeface="メイリオ" panose="020B0604030504040204" pitchFamily="50" charset="-128"/>
              </a:rPr>
              <a:t>KPI</a:t>
            </a:r>
            <a:r>
              <a:rPr lang="ja-JP" altLang="en-US" dirty="0">
                <a:latin typeface="メイリオ" panose="020B0604030504040204" pitchFamily="50" charset="-128"/>
                <a:ea typeface="メイリオ" panose="020B0604030504040204" pitchFamily="50" charset="-128"/>
              </a:rPr>
              <a:t>とライオン固有のユニーク</a:t>
            </a:r>
            <a:r>
              <a:rPr lang="en-US" altLang="ja-JP" dirty="0">
                <a:latin typeface="メイリオ" panose="020B0604030504040204" pitchFamily="50" charset="-128"/>
                <a:ea typeface="メイリオ" panose="020B0604030504040204" pitchFamily="50" charset="-128"/>
              </a:rPr>
              <a:t>KPI</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a16:creationId xmlns:a16="http://schemas.microsoft.com/office/drawing/2014/main" id="{877CEB09-5098-E0AC-DB46-F41967373C96}"/>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latin typeface="+mn-ea"/>
                <a:ea typeface="+mn-ea"/>
              </a:rPr>
              <a:t>頂点は「増分粗利 </a:t>
            </a:r>
            <a:r>
              <a:rPr lang="en-US" altLang="ja-JP" sz="1800" dirty="0">
                <a:latin typeface="+mn-ea"/>
                <a:ea typeface="+mn-ea"/>
              </a:rPr>
              <a:t>(</a:t>
            </a:r>
            <a:r>
              <a:rPr lang="ja-JP" altLang="en-US" sz="1800" dirty="0">
                <a:latin typeface="+mn-ea"/>
                <a:ea typeface="+mn-ea"/>
              </a:rPr>
              <a:t>オーラルケア</a:t>
            </a:r>
            <a:r>
              <a:rPr lang="en-US" altLang="ja-JP" sz="1800" dirty="0">
                <a:latin typeface="+mn-ea"/>
                <a:ea typeface="+mn-ea"/>
              </a:rPr>
              <a:t>) </a:t>
            </a:r>
            <a:r>
              <a:rPr lang="ja-JP" altLang="en-US" sz="1800" dirty="0">
                <a:latin typeface="+mn-ea"/>
                <a:ea typeface="+mn-ea"/>
              </a:rPr>
              <a:t>」＝施策がなかった場合との差分で測る変革の正味効果。新規 </a:t>
            </a:r>
            <a:r>
              <a:rPr lang="en-US" altLang="ja-JP" sz="1800" dirty="0">
                <a:latin typeface="+mn-ea"/>
                <a:ea typeface="+mn-ea"/>
              </a:rPr>
              <a:t>(N-t-C) </a:t>
            </a:r>
            <a:r>
              <a:rPr lang="ja-JP" altLang="en-US" sz="1800" dirty="0">
                <a:latin typeface="+mn-ea"/>
                <a:ea typeface="+mn-ea"/>
              </a:rPr>
              <a:t>と継続 </a:t>
            </a:r>
            <a:r>
              <a:rPr lang="en-US" altLang="ja-JP" sz="1800" dirty="0">
                <a:latin typeface="+mn-ea"/>
                <a:ea typeface="+mn-ea"/>
              </a:rPr>
              <a:t>(LTV) </a:t>
            </a:r>
            <a:r>
              <a:rPr lang="ja-JP" altLang="en-US" sz="1800" dirty="0">
                <a:latin typeface="+mn-ea"/>
                <a:ea typeface="+mn-ea"/>
              </a:rPr>
              <a:t>の</a:t>
            </a:r>
            <a:r>
              <a:rPr lang="en-US" altLang="ja-JP" sz="1800" dirty="0">
                <a:latin typeface="+mn-ea"/>
                <a:ea typeface="+mn-ea"/>
              </a:rPr>
              <a:t>2</a:t>
            </a:r>
            <a:r>
              <a:rPr lang="ja-JP" altLang="en-US" sz="1800" dirty="0">
                <a:latin typeface="+mn-ea"/>
                <a:ea typeface="+mn-ea"/>
              </a:rPr>
              <a:t>本の枝に、固有</a:t>
            </a:r>
            <a:r>
              <a:rPr lang="en-US" altLang="ja-JP" sz="1800" dirty="0">
                <a:latin typeface="+mn-ea"/>
                <a:ea typeface="+mn-ea"/>
              </a:rPr>
              <a:t>KPI</a:t>
            </a:r>
            <a:r>
              <a:rPr lang="ja-JP" altLang="en-US" sz="1800" dirty="0">
                <a:latin typeface="+mn-ea"/>
                <a:ea typeface="+mn-ea"/>
              </a:rPr>
              <a:t>をぶら下げる</a:t>
            </a:r>
          </a:p>
        </p:txBody>
      </p:sp>
      <p:grpSp>
        <p:nvGrpSpPr>
          <p:cNvPr id="17" name="グループ化 16">
            <a:extLst>
              <a:ext uri="{FF2B5EF4-FFF2-40B4-BE49-F238E27FC236}">
                <a16:creationId xmlns:a16="http://schemas.microsoft.com/office/drawing/2014/main" id="{7633E5AF-3F16-2578-2767-3DB2D4F34F5B}"/>
              </a:ext>
            </a:extLst>
          </p:cNvPr>
          <p:cNvGrpSpPr/>
          <p:nvPr/>
        </p:nvGrpSpPr>
        <p:grpSpPr>
          <a:xfrm>
            <a:off x="334962" y="1628776"/>
            <a:ext cx="11522074" cy="4673635"/>
            <a:chOff x="334962" y="1628776"/>
            <a:chExt cx="11522074" cy="4673635"/>
          </a:xfrm>
        </p:grpSpPr>
        <p:sp>
          <p:nvSpPr>
            <p:cNvPr id="6" name="テキスト ボックス 5">
              <a:extLst>
                <a:ext uri="{FF2B5EF4-FFF2-40B4-BE49-F238E27FC236}">
                  <a16:creationId xmlns:a16="http://schemas.microsoft.com/office/drawing/2014/main" id="{02540A15-5A9D-F6E5-B526-6A96538F6DFF}"/>
                </a:ext>
              </a:extLst>
            </p:cNvPr>
            <p:cNvSpPr txBox="1"/>
            <p:nvPr/>
          </p:nvSpPr>
          <p:spPr>
            <a:xfrm>
              <a:off x="334962" y="6095247"/>
              <a:ext cx="11522072" cy="207164"/>
            </a:xfrm>
            <a:prstGeom prst="rect">
              <a:avLst/>
            </a:prstGeom>
            <a:noFill/>
          </p:spPr>
          <p:txBody>
            <a:bodyPr wrap="square" lIns="36000" tIns="36000" rIns="0" bIns="36000">
              <a:spAutoFit/>
            </a:bodyPr>
            <a:lstStyle/>
            <a:p>
              <a:pPr>
                <a:lnSpc>
                  <a:spcPct val="115000"/>
                </a:lnSpc>
              </a:pPr>
              <a:r>
                <a:rPr lang="ja-JP" altLang="en-US" sz="850" dirty="0">
                  <a:solidFill>
                    <a:srgbClr val="008D2E"/>
                  </a:solidFill>
                  <a:latin typeface="+mn-ea"/>
                </a:rPr>
                <a:t>測定ルール</a:t>
              </a:r>
              <a:r>
                <a:rPr lang="ja-JP" altLang="en-US" sz="850" b="1" dirty="0">
                  <a:solidFill>
                    <a:srgbClr val="008D2E"/>
                  </a:solidFill>
                  <a:latin typeface="+mn-ea"/>
                </a:rPr>
                <a:t> </a:t>
              </a:r>
              <a:r>
                <a:rPr lang="en-US" altLang="ja-JP" sz="850" dirty="0">
                  <a:latin typeface="+mn-ea"/>
                </a:rPr>
                <a:t>:</a:t>
              </a:r>
              <a:r>
                <a:rPr lang="en-US" altLang="ja-JP" sz="850" b="1" dirty="0">
                  <a:solidFill>
                    <a:srgbClr val="008D2E"/>
                  </a:solidFill>
                  <a:latin typeface="+mn-ea"/>
                </a:rPr>
                <a:t> </a:t>
              </a:r>
              <a:r>
                <a:rPr lang="ja-JP" altLang="en-US" sz="850" dirty="0">
                  <a:solidFill>
                    <a:srgbClr val="262626"/>
                  </a:solidFill>
                  <a:latin typeface="+mn-ea"/>
                </a:rPr>
                <a:t>①金額の合算は</a:t>
              </a:r>
              <a:r>
                <a:rPr lang="en-US" altLang="ja-JP" sz="850" dirty="0">
                  <a:solidFill>
                    <a:srgbClr val="262626"/>
                  </a:solidFill>
                  <a:latin typeface="+mn-ea"/>
                </a:rPr>
                <a:t>KGI</a:t>
              </a:r>
              <a:r>
                <a:rPr lang="ja-JP" altLang="en-US" sz="850" dirty="0">
                  <a:solidFill>
                    <a:srgbClr val="262626"/>
                  </a:solidFill>
                  <a:latin typeface="+mn-ea"/>
                </a:rPr>
                <a:t>一本 </a:t>
              </a:r>
              <a:r>
                <a:rPr lang="en-US" altLang="ja-JP" sz="850" dirty="0">
                  <a:solidFill>
                    <a:srgbClr val="262626"/>
                  </a:solidFill>
                  <a:latin typeface="+mn-ea"/>
                </a:rPr>
                <a:t>(</a:t>
              </a:r>
              <a:r>
                <a:rPr lang="ja-JP" altLang="en-US" sz="850" dirty="0">
                  <a:solidFill>
                    <a:srgbClr val="262626"/>
                  </a:solidFill>
                  <a:latin typeface="+mn-ea"/>
                </a:rPr>
                <a:t>あり </a:t>
              </a:r>
              <a:r>
                <a:rPr lang="en-US" altLang="ja-JP" sz="850" dirty="0">
                  <a:solidFill>
                    <a:srgbClr val="262626"/>
                  </a:solidFill>
                  <a:latin typeface="+mn-ea"/>
                </a:rPr>
                <a:t>/ </a:t>
              </a:r>
              <a:r>
                <a:rPr lang="ja-JP" altLang="en-US" sz="850" dirty="0">
                  <a:solidFill>
                    <a:srgbClr val="262626"/>
                  </a:solidFill>
                  <a:latin typeface="+mn-ea"/>
                </a:rPr>
                <a:t>なし実験＋</a:t>
              </a:r>
              <a:r>
                <a:rPr lang="en-US" altLang="ja-JP" sz="850" dirty="0">
                  <a:solidFill>
                    <a:srgbClr val="262626"/>
                  </a:solidFill>
                  <a:latin typeface="+mn-ea"/>
                </a:rPr>
                <a:t>MMM</a:t>
              </a:r>
              <a:r>
                <a:rPr lang="ja-JP" altLang="en-US" sz="850" dirty="0">
                  <a:solidFill>
                    <a:srgbClr val="262626"/>
                  </a:solidFill>
                  <a:latin typeface="+mn-ea"/>
                </a:rPr>
                <a:t>のみ</a:t>
              </a:r>
              <a:r>
                <a:rPr lang="en-US" altLang="ja-JP" sz="850" dirty="0">
                  <a:solidFill>
                    <a:srgbClr val="262626"/>
                  </a:solidFill>
                  <a:latin typeface="+mn-ea"/>
                </a:rPr>
                <a:t>) </a:t>
              </a:r>
              <a:r>
                <a:rPr lang="ja-JP" altLang="en-US" sz="850" dirty="0">
                  <a:solidFill>
                    <a:srgbClr val="262626"/>
                  </a:solidFill>
                  <a:latin typeface="+mn-ea"/>
                </a:rPr>
                <a:t>②顧客は</a:t>
              </a:r>
              <a:r>
                <a:rPr lang="en-US" altLang="ja-JP" sz="850" dirty="0">
                  <a:solidFill>
                    <a:srgbClr val="262626"/>
                  </a:solidFill>
                  <a:latin typeface="+mn-ea"/>
                </a:rPr>
                <a:t>12</a:t>
              </a:r>
              <a:r>
                <a:rPr lang="ja-JP" altLang="en-US" sz="850" dirty="0">
                  <a:solidFill>
                    <a:srgbClr val="262626"/>
                  </a:solidFill>
                  <a:latin typeface="+mn-ea"/>
                </a:rPr>
                <a:t>カ月ルールで排他分類　③</a:t>
              </a:r>
              <a:r>
                <a:rPr lang="en-US" altLang="ja-JP" sz="850" dirty="0">
                  <a:solidFill>
                    <a:srgbClr val="262626"/>
                  </a:solidFill>
                  <a:latin typeface="+mn-ea"/>
                </a:rPr>
                <a:t>KPI</a:t>
              </a:r>
              <a:r>
                <a:rPr lang="ja-JP" altLang="en-US" sz="850" dirty="0">
                  <a:solidFill>
                    <a:srgbClr val="262626"/>
                  </a:solidFill>
                  <a:latin typeface="+mn-ea"/>
                </a:rPr>
                <a:t>は実データから機械的に算出 </a:t>
              </a:r>
              <a:r>
                <a:rPr lang="en-US" altLang="ja-JP" sz="850" dirty="0">
                  <a:solidFill>
                    <a:srgbClr val="262626"/>
                  </a:solidFill>
                  <a:latin typeface="+mn-ea"/>
                </a:rPr>
                <a:t>(</a:t>
              </a:r>
              <a:r>
                <a:rPr lang="ja-JP" altLang="en-US" sz="850" dirty="0">
                  <a:solidFill>
                    <a:srgbClr val="262626"/>
                  </a:solidFill>
                  <a:latin typeface="+mn-ea"/>
                </a:rPr>
                <a:t>推計なし</a:t>
              </a:r>
              <a:r>
                <a:rPr lang="en-US" altLang="ja-JP" sz="850" dirty="0">
                  <a:solidFill>
                    <a:srgbClr val="262626"/>
                  </a:solidFill>
                  <a:latin typeface="+mn-ea"/>
                </a:rPr>
                <a:t>) </a:t>
              </a:r>
              <a:r>
                <a:rPr lang="ja-JP" altLang="en-US" sz="850" dirty="0">
                  <a:solidFill>
                    <a:srgbClr val="262626"/>
                  </a:solidFill>
                  <a:latin typeface="+mn-ea"/>
                </a:rPr>
                <a:t>④</a:t>
              </a:r>
              <a:r>
                <a:rPr lang="en-US" altLang="ja-JP" sz="850" dirty="0">
                  <a:solidFill>
                    <a:srgbClr val="262626"/>
                  </a:solidFill>
                  <a:latin typeface="+mn-ea"/>
                </a:rPr>
                <a:t>K7</a:t>
              </a:r>
              <a:r>
                <a:rPr lang="ja-JP" altLang="en-US" sz="850" dirty="0">
                  <a:solidFill>
                    <a:srgbClr val="262626"/>
                  </a:solidFill>
                  <a:latin typeface="+mn-ea"/>
                </a:rPr>
                <a:t>・</a:t>
              </a:r>
              <a:r>
                <a:rPr lang="en-US" altLang="ja-JP" sz="850" dirty="0">
                  <a:solidFill>
                    <a:srgbClr val="262626"/>
                  </a:solidFill>
                  <a:latin typeface="+mn-ea"/>
                </a:rPr>
                <a:t>K8</a:t>
              </a:r>
              <a:r>
                <a:rPr lang="ja-JP" altLang="en-US" sz="850" dirty="0">
                  <a:solidFill>
                    <a:srgbClr val="262626"/>
                  </a:solidFill>
                  <a:latin typeface="+mn-ea"/>
                </a:rPr>
                <a:t>は仕掛けの実装完了をもって正式昇格。計器盤は月次 </a:t>
              </a:r>
              <a:r>
                <a:rPr lang="en-US" altLang="ja-JP" sz="850" dirty="0">
                  <a:solidFill>
                    <a:srgbClr val="262626"/>
                  </a:solidFill>
                  <a:latin typeface="+mn-ea"/>
                </a:rPr>
                <a:t>/ </a:t>
              </a:r>
              <a:r>
                <a:rPr lang="ja-JP" altLang="en-US" sz="850" dirty="0">
                  <a:solidFill>
                    <a:srgbClr val="262626"/>
                  </a:solidFill>
                  <a:latin typeface="+mn-ea"/>
                </a:rPr>
                <a:t>四半期、</a:t>
              </a:r>
              <a:r>
                <a:rPr lang="en-US" altLang="ja-JP" sz="850" dirty="0">
                  <a:solidFill>
                    <a:srgbClr val="262626"/>
                  </a:solidFill>
                  <a:latin typeface="+mn-ea"/>
                </a:rPr>
                <a:t>KGI</a:t>
              </a:r>
              <a:r>
                <a:rPr lang="ja-JP" altLang="en-US" sz="850" dirty="0">
                  <a:solidFill>
                    <a:srgbClr val="262626"/>
                  </a:solidFill>
                  <a:latin typeface="+mn-ea"/>
                </a:rPr>
                <a:t>は年次で確定</a:t>
              </a:r>
              <a:endParaRPr lang="ja-JP" altLang="en-US" sz="850" b="1" dirty="0">
                <a:solidFill>
                  <a:srgbClr val="262626"/>
                </a:solidFill>
                <a:latin typeface="+mn-ea"/>
              </a:endParaRPr>
            </a:p>
          </p:txBody>
        </p:sp>
        <p:grpSp>
          <p:nvGrpSpPr>
            <p:cNvPr id="51" name="グループ化 50">
              <a:extLst>
                <a:ext uri="{FF2B5EF4-FFF2-40B4-BE49-F238E27FC236}">
                  <a16:creationId xmlns:a16="http://schemas.microsoft.com/office/drawing/2014/main" id="{5F830AFF-51B1-A72E-A90B-82E90A211261}"/>
                </a:ext>
              </a:extLst>
            </p:cNvPr>
            <p:cNvGrpSpPr/>
            <p:nvPr/>
          </p:nvGrpSpPr>
          <p:grpSpPr>
            <a:xfrm>
              <a:off x="4378848" y="1628776"/>
              <a:ext cx="6380307" cy="255823"/>
              <a:chOff x="2739179" y="1628776"/>
              <a:chExt cx="1303402" cy="255823"/>
            </a:xfrm>
          </p:grpSpPr>
          <p:sp>
            <p:nvSpPr>
              <p:cNvPr id="36" name="table_TWformat_txt_1_3">
                <a:extLst>
                  <a:ext uri="{FF2B5EF4-FFF2-40B4-BE49-F238E27FC236}">
                    <a16:creationId xmlns:a16="http://schemas.microsoft.com/office/drawing/2014/main" id="{D7919EFD-2D49-71BD-4319-36D44DE57AF3}"/>
                  </a:ext>
                </a:extLst>
              </p:cNvPr>
              <p:cNvSpPr/>
              <p:nvPr/>
            </p:nvSpPr>
            <p:spPr>
              <a:xfrm>
                <a:off x="2739179" y="1628776"/>
                <a:ext cx="1303402" cy="234527"/>
              </a:xfrm>
              <a:prstGeom prst="roundRect">
                <a:avLst>
                  <a:gd name="adj" fmla="val 0"/>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200" dirty="0">
                    <a:solidFill>
                      <a:prstClr val="black"/>
                    </a:solidFill>
                    <a:latin typeface="+mn-ea"/>
                  </a:rPr>
                  <a:t>ドライバー</a:t>
                </a:r>
                <a:r>
                  <a:rPr lang="en-US" altLang="ja-JP" sz="1200" dirty="0">
                    <a:solidFill>
                      <a:prstClr val="black"/>
                    </a:solidFill>
                    <a:latin typeface="+mn-ea"/>
                  </a:rPr>
                  <a:t>KPI</a:t>
                </a:r>
                <a:r>
                  <a:rPr lang="ja-JP" altLang="en-US" sz="1200" dirty="0">
                    <a:solidFill>
                      <a:prstClr val="black"/>
                    </a:solidFill>
                    <a:latin typeface="+mn-ea"/>
                  </a:rPr>
                  <a:t> </a:t>
                </a:r>
                <a:r>
                  <a:rPr lang="en-US" altLang="ja-JP" sz="1200" dirty="0">
                    <a:solidFill>
                      <a:prstClr val="black"/>
                    </a:solidFill>
                    <a:latin typeface="+mn-ea"/>
                  </a:rPr>
                  <a:t>(</a:t>
                </a:r>
                <a:r>
                  <a:rPr lang="ja-JP" altLang="en-US" sz="1200" dirty="0">
                    <a:solidFill>
                      <a:prstClr val="black"/>
                    </a:solidFill>
                    <a:latin typeface="+mn-ea"/>
                  </a:rPr>
                  <a:t>先行指標</a:t>
                </a:r>
                <a:r>
                  <a:rPr lang="en-US" altLang="ja-JP" sz="1200" dirty="0">
                    <a:solidFill>
                      <a:prstClr val="black"/>
                    </a:solidFill>
                    <a:latin typeface="+mn-ea"/>
                  </a:rPr>
                  <a:t>) ― </a:t>
                </a:r>
                <a:r>
                  <a:rPr lang="ja-JP" altLang="en-US" sz="1200" dirty="0">
                    <a:solidFill>
                      <a:prstClr val="black"/>
                    </a:solidFill>
                    <a:latin typeface="+mn-ea"/>
                  </a:rPr>
                  <a:t>全て実データから機械的に算出。金額換算・合算はしない</a:t>
                </a:r>
              </a:p>
            </p:txBody>
          </p:sp>
          <p:cxnSp>
            <p:nvCxnSpPr>
              <p:cNvPr id="40" name="table_TWformat_line_2_3">
                <a:extLst>
                  <a:ext uri="{FF2B5EF4-FFF2-40B4-BE49-F238E27FC236}">
                    <a16:creationId xmlns:a16="http://schemas.microsoft.com/office/drawing/2014/main" id="{8C921690-4FA1-8E0A-C5AC-3A196FCA90F9}"/>
                  </a:ext>
                </a:extLst>
              </p:cNvPr>
              <p:cNvCxnSpPr/>
              <p:nvPr/>
            </p:nvCxnSpPr>
            <p:spPr>
              <a:xfrm>
                <a:off x="2739179" y="1884599"/>
                <a:ext cx="130340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grpSp>
          <p:nvGrpSpPr>
            <p:cNvPr id="50" name="グループ化 49">
              <a:extLst>
                <a:ext uri="{FF2B5EF4-FFF2-40B4-BE49-F238E27FC236}">
                  <a16:creationId xmlns:a16="http://schemas.microsoft.com/office/drawing/2014/main" id="{E614BE61-650A-B614-3732-24574B4BFE63}"/>
                </a:ext>
              </a:extLst>
            </p:cNvPr>
            <p:cNvGrpSpPr/>
            <p:nvPr/>
          </p:nvGrpSpPr>
          <p:grpSpPr>
            <a:xfrm>
              <a:off x="10924674" y="1628776"/>
              <a:ext cx="913007" cy="255823"/>
              <a:chOff x="4102610" y="1628776"/>
              <a:chExt cx="1303402" cy="255823"/>
            </a:xfrm>
          </p:grpSpPr>
          <p:sp>
            <p:nvSpPr>
              <p:cNvPr id="42" name="table_TWformat_txt_1_4">
                <a:extLst>
                  <a:ext uri="{FF2B5EF4-FFF2-40B4-BE49-F238E27FC236}">
                    <a16:creationId xmlns:a16="http://schemas.microsoft.com/office/drawing/2014/main" id="{073DC833-91AE-8764-FD90-67BD1B1B7F03}"/>
                  </a:ext>
                </a:extLst>
              </p:cNvPr>
              <p:cNvSpPr/>
              <p:nvPr/>
            </p:nvSpPr>
            <p:spPr>
              <a:xfrm>
                <a:off x="4102610" y="1628776"/>
                <a:ext cx="1303402" cy="234527"/>
              </a:xfrm>
              <a:prstGeom prst="roundRect">
                <a:avLst>
                  <a:gd name="adj" fmla="val 0"/>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buClr>
                    <a:srgbClr val="5B9BD5"/>
                  </a:buClr>
                  <a:defRPr/>
                </a:pPr>
                <a:r>
                  <a:rPr lang="ja-JP" altLang="en-US" sz="1200" dirty="0">
                    <a:solidFill>
                      <a:prstClr val="black"/>
                    </a:solidFill>
                    <a:latin typeface="+mn-ea"/>
                  </a:rPr>
                  <a:t>照らす枝</a:t>
                </a:r>
              </a:p>
            </p:txBody>
          </p:sp>
          <p:cxnSp>
            <p:nvCxnSpPr>
              <p:cNvPr id="44" name="table_TWformat_line_2_4">
                <a:extLst>
                  <a:ext uri="{FF2B5EF4-FFF2-40B4-BE49-F238E27FC236}">
                    <a16:creationId xmlns:a16="http://schemas.microsoft.com/office/drawing/2014/main" id="{87417F05-98F1-701C-C0A0-16565321F0AB}"/>
                  </a:ext>
                </a:extLst>
              </p:cNvPr>
              <p:cNvCxnSpPr/>
              <p:nvPr/>
            </p:nvCxnSpPr>
            <p:spPr>
              <a:xfrm>
                <a:off x="4102610" y="1884599"/>
                <a:ext cx="1303402" cy="0"/>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sp>
          <p:nvSpPr>
            <p:cNvPr id="11" name="正方形/長方形 10">
              <a:extLst>
                <a:ext uri="{FF2B5EF4-FFF2-40B4-BE49-F238E27FC236}">
                  <a16:creationId xmlns:a16="http://schemas.microsoft.com/office/drawing/2014/main" id="{C7E950FC-7097-05BA-FE3D-F9752A5FF71A}"/>
                </a:ext>
              </a:extLst>
            </p:cNvPr>
            <p:cNvSpPr/>
            <p:nvPr/>
          </p:nvSpPr>
          <p:spPr>
            <a:xfrm>
              <a:off x="334963" y="2544975"/>
              <a:ext cx="1739499" cy="1955219"/>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24000" rIns="72000" bIns="36000" numCol="1" spcCol="0" rtlCol="0" fromWordArt="0" anchor="ctr" anchorCtr="0" forceAA="0" compatLnSpc="1">
              <a:prstTxWarp prst="textNoShape">
                <a:avLst/>
              </a:prstTxWarp>
              <a:noAutofit/>
            </a:bodyPr>
            <a:lstStyle/>
            <a:p>
              <a:pPr algn="ctr">
                <a:spcAft>
                  <a:spcPts val="600"/>
                </a:spcAft>
              </a:pPr>
              <a:r>
                <a:rPr lang="ja-JP" altLang="en-US" sz="1200" dirty="0">
                  <a:solidFill>
                    <a:schemeClr val="accent5"/>
                  </a:solidFill>
                  <a:latin typeface="+mn-ea"/>
                </a:rPr>
                <a:t>増分粗利</a:t>
              </a:r>
              <a:br>
                <a:rPr lang="en-US" altLang="ja-JP" sz="1200" dirty="0">
                  <a:solidFill>
                    <a:schemeClr val="accent5"/>
                  </a:solidFill>
                  <a:latin typeface="+mn-ea"/>
                </a:rPr>
              </a:br>
              <a:r>
                <a:rPr lang="en-US" altLang="ja-JP" sz="1200" dirty="0">
                  <a:solidFill>
                    <a:schemeClr val="accent5"/>
                  </a:solidFill>
                  <a:latin typeface="+mn-ea"/>
                </a:rPr>
                <a:t>(</a:t>
              </a:r>
              <a:r>
                <a:rPr lang="ja-JP" altLang="en-US" sz="1200" dirty="0">
                  <a:solidFill>
                    <a:schemeClr val="accent5"/>
                  </a:solidFill>
                  <a:latin typeface="+mn-ea"/>
                </a:rPr>
                <a:t>オーラルケア事業</a:t>
              </a:r>
              <a:r>
                <a:rPr lang="en-US" altLang="ja-JP" sz="1200" dirty="0">
                  <a:solidFill>
                    <a:schemeClr val="accent5"/>
                  </a:solidFill>
                  <a:latin typeface="+mn-ea"/>
                </a:rPr>
                <a:t>)</a:t>
              </a:r>
            </a:p>
            <a:p>
              <a:r>
                <a:rPr lang="ja-JP" altLang="en-US" sz="1000" dirty="0">
                  <a:solidFill>
                    <a:schemeClr val="tx1"/>
                  </a:solidFill>
                  <a:latin typeface="+mn-ea"/>
                </a:rPr>
                <a:t>測り方＝施策あり店舗と</a:t>
              </a:r>
              <a:br>
                <a:rPr lang="en-US" altLang="ja-JP" sz="1000" dirty="0">
                  <a:solidFill>
                    <a:schemeClr val="tx1"/>
                  </a:solidFill>
                  <a:latin typeface="+mn-ea"/>
                </a:rPr>
              </a:br>
              <a:r>
                <a:rPr lang="ja-JP" altLang="en-US" sz="1000" dirty="0">
                  <a:solidFill>
                    <a:schemeClr val="tx1"/>
                  </a:solidFill>
                  <a:latin typeface="+mn-ea"/>
                </a:rPr>
                <a:t>なし店舗の粗利差 </a:t>
              </a:r>
              <a:r>
                <a:rPr lang="en-US" altLang="ja-JP" sz="1000" dirty="0">
                  <a:solidFill>
                    <a:schemeClr val="tx1"/>
                  </a:solidFill>
                  <a:latin typeface="+mn-ea"/>
                </a:rPr>
                <a:t>(B1</a:t>
              </a:r>
              <a:r>
                <a:rPr lang="ja-JP" altLang="en-US" sz="1000" dirty="0">
                  <a:solidFill>
                    <a:schemeClr val="tx1"/>
                  </a:solidFill>
                  <a:latin typeface="+mn-ea"/>
                </a:rPr>
                <a:t>で実験</a:t>
              </a:r>
              <a:br>
                <a:rPr lang="en-US" altLang="ja-JP" sz="1000" dirty="0">
                  <a:solidFill>
                    <a:schemeClr val="tx1"/>
                  </a:solidFill>
                  <a:latin typeface="+mn-ea"/>
                </a:rPr>
              </a:br>
              <a:r>
                <a:rPr lang="ja-JP" altLang="en-US" sz="1000" dirty="0">
                  <a:solidFill>
                    <a:schemeClr val="tx1"/>
                  </a:solidFill>
                  <a:latin typeface="+mn-ea"/>
                </a:rPr>
                <a:t>設計</a:t>
              </a:r>
              <a:r>
                <a:rPr lang="en-US" altLang="ja-JP" sz="1000" dirty="0">
                  <a:solidFill>
                    <a:schemeClr val="tx1"/>
                  </a:solidFill>
                  <a:latin typeface="+mn-ea"/>
                </a:rPr>
                <a:t>)</a:t>
              </a:r>
              <a:r>
                <a:rPr lang="ja-JP" altLang="en-US" sz="1000" dirty="0">
                  <a:solidFill>
                    <a:schemeClr val="tx1"/>
                  </a:solidFill>
                  <a:latin typeface="+mn-ea"/>
                </a:rPr>
                <a:t>＋</a:t>
              </a:r>
              <a:r>
                <a:rPr lang="en-US" altLang="ja-JP" sz="1000" dirty="0">
                  <a:solidFill>
                    <a:schemeClr val="tx1"/>
                  </a:solidFill>
                  <a:latin typeface="+mn-ea"/>
                </a:rPr>
                <a:t>MMM</a:t>
              </a:r>
              <a:r>
                <a:rPr lang="ja-JP" altLang="en-US" sz="1000" dirty="0">
                  <a:solidFill>
                    <a:schemeClr val="tx1"/>
                  </a:solidFill>
                  <a:latin typeface="+mn-ea"/>
                </a:rPr>
                <a:t>寄与。年</a:t>
              </a:r>
              <a:r>
                <a:rPr lang="en-US" altLang="ja-JP" sz="1000" dirty="0">
                  <a:solidFill>
                    <a:schemeClr val="tx1"/>
                  </a:solidFill>
                  <a:latin typeface="+mn-ea"/>
                </a:rPr>
                <a:t>1</a:t>
              </a:r>
              <a:r>
                <a:rPr lang="ja-JP" altLang="en-US" sz="1000" dirty="0">
                  <a:solidFill>
                    <a:schemeClr val="tx1"/>
                  </a:solidFill>
                  <a:latin typeface="+mn-ea"/>
                </a:rPr>
                <a:t>回・幅 </a:t>
              </a:r>
              <a:r>
                <a:rPr lang="en-US" altLang="ja-JP" sz="1000" dirty="0">
                  <a:solidFill>
                    <a:schemeClr val="tx1"/>
                  </a:solidFill>
                  <a:latin typeface="+mn-ea"/>
                </a:rPr>
                <a:t>(</a:t>
              </a:r>
              <a:r>
                <a:rPr lang="ja-JP" altLang="en-US" sz="1000" dirty="0">
                  <a:solidFill>
                    <a:schemeClr val="tx1"/>
                  </a:solidFill>
                  <a:latin typeface="+mn-ea"/>
                </a:rPr>
                <a:t>レンジ</a:t>
              </a:r>
              <a:r>
                <a:rPr lang="en-US" altLang="ja-JP" sz="1000" dirty="0">
                  <a:solidFill>
                    <a:schemeClr val="tx1"/>
                  </a:solidFill>
                  <a:latin typeface="+mn-ea"/>
                </a:rPr>
                <a:t>)</a:t>
              </a:r>
              <a:r>
                <a:rPr lang="ja-JP" altLang="en-US" sz="1000" dirty="0">
                  <a:solidFill>
                    <a:schemeClr val="tx1"/>
                  </a:solidFill>
                  <a:latin typeface="+mn-ea"/>
                </a:rPr>
                <a:t> で確定し、重点</a:t>
              </a:r>
              <a:br>
                <a:rPr lang="en-US" altLang="ja-JP" sz="1000" dirty="0">
                  <a:solidFill>
                    <a:schemeClr val="tx1"/>
                  </a:solidFill>
                  <a:latin typeface="+mn-ea"/>
                </a:rPr>
              </a:br>
              <a:r>
                <a:rPr lang="ja-JP" altLang="en-US" sz="1000" dirty="0">
                  <a:solidFill>
                    <a:schemeClr val="tx1"/>
                  </a:solidFill>
                  <a:latin typeface="+mn-ea"/>
                </a:rPr>
                <a:t>小売別・</a:t>
              </a:r>
              <a:r>
                <a:rPr lang="en-US" altLang="ja-JP" sz="1000" dirty="0">
                  <a:solidFill>
                    <a:schemeClr val="tx1"/>
                  </a:solidFill>
                  <a:latin typeface="+mn-ea"/>
                </a:rPr>
                <a:t>4</a:t>
              </a:r>
              <a:r>
                <a:rPr lang="ja-JP" altLang="en-US" sz="1000" dirty="0">
                  <a:solidFill>
                    <a:schemeClr val="tx1"/>
                  </a:solidFill>
                  <a:latin typeface="+mn-ea"/>
                </a:rPr>
                <a:t>市場別の内訳を</a:t>
              </a:r>
              <a:br>
                <a:rPr lang="en-US" altLang="ja-JP" sz="1000" dirty="0">
                  <a:solidFill>
                    <a:schemeClr val="tx1"/>
                  </a:solidFill>
                  <a:latin typeface="+mn-ea"/>
                </a:rPr>
              </a:br>
              <a:r>
                <a:rPr lang="ja-JP" altLang="en-US" sz="1000" dirty="0">
                  <a:solidFill>
                    <a:schemeClr val="tx1"/>
                  </a:solidFill>
                  <a:latin typeface="+mn-ea"/>
                </a:rPr>
                <a:t>表示</a:t>
              </a:r>
            </a:p>
          </p:txBody>
        </p:sp>
        <p:sp>
          <p:nvSpPr>
            <p:cNvPr id="20" name="正方形/長方形 62">
              <a:extLst>
                <a:ext uri="{FF2B5EF4-FFF2-40B4-BE49-F238E27FC236}">
                  <a16:creationId xmlns:a16="http://schemas.microsoft.com/office/drawing/2014/main" id="{A085AE73-D76A-277D-14F8-6245A05F98D3}"/>
                </a:ext>
              </a:extLst>
            </p:cNvPr>
            <p:cNvSpPr/>
            <p:nvPr/>
          </p:nvSpPr>
          <p:spPr>
            <a:xfrm>
              <a:off x="698300" y="2657626"/>
              <a:ext cx="1012823" cy="259493"/>
            </a:xfrm>
            <a:prstGeom prst="roundRect">
              <a:avLst>
                <a:gd name="adj" fmla="val 13873"/>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400" dirty="0">
                  <a:solidFill>
                    <a:schemeClr val="accent5"/>
                  </a:solidFill>
                  <a:latin typeface="+mn-ea"/>
                </a:rPr>
                <a:t>KGI</a:t>
              </a:r>
              <a:endParaRPr kumimoji="1" lang="en-US" altLang="ja-JP" sz="1400" b="0" i="0" u="none" strike="noStrike" kern="1200" cap="none" spc="0" normalizeH="0" baseline="0" noProof="0" dirty="0">
                <a:ln>
                  <a:noFill/>
                </a:ln>
                <a:solidFill>
                  <a:schemeClr val="accent5"/>
                </a:solidFill>
                <a:effectLst/>
                <a:uLnTx/>
                <a:uFillTx/>
                <a:latin typeface="+mn-ea"/>
              </a:endParaRPr>
            </a:p>
          </p:txBody>
        </p:sp>
        <p:sp>
          <p:nvSpPr>
            <p:cNvPr id="25" name="テキスト ボックス 24">
              <a:extLst>
                <a:ext uri="{FF2B5EF4-FFF2-40B4-BE49-F238E27FC236}">
                  <a16:creationId xmlns:a16="http://schemas.microsoft.com/office/drawing/2014/main" id="{A545142F-6D2D-8FFB-54F9-96B9BAB42371}"/>
                </a:ext>
              </a:extLst>
            </p:cNvPr>
            <p:cNvSpPr txBox="1"/>
            <p:nvPr/>
          </p:nvSpPr>
          <p:spPr>
            <a:xfrm>
              <a:off x="334962" y="5720922"/>
              <a:ext cx="11522074" cy="374324"/>
            </a:xfrm>
            <a:prstGeom prst="rect">
              <a:avLst/>
            </a:prstGeom>
            <a:noFill/>
          </p:spPr>
          <p:txBody>
            <a:bodyPr wrap="square" lIns="36000" tIns="36000" rIns="0" bIns="36000">
              <a:spAutoFit/>
            </a:bodyPr>
            <a:lstStyle/>
            <a:p>
              <a:pPr>
                <a:lnSpc>
                  <a:spcPct val="115000"/>
                </a:lnSpc>
              </a:pPr>
              <a:r>
                <a:rPr lang="ja-JP" altLang="en-US" sz="900" dirty="0">
                  <a:solidFill>
                    <a:srgbClr val="008D2E"/>
                  </a:solidFill>
                  <a:latin typeface="+mn-ea"/>
                </a:rPr>
                <a:t>測れる形に変える計器 </a:t>
              </a:r>
              <a:r>
                <a:rPr lang="en-US" altLang="ja-JP" sz="900" dirty="0">
                  <a:solidFill>
                    <a:srgbClr val="008D2E"/>
                  </a:solidFill>
                  <a:latin typeface="+mn-ea"/>
                </a:rPr>
                <a:t>(</a:t>
              </a:r>
              <a:r>
                <a:rPr lang="ja-JP" altLang="en-US" sz="900" dirty="0">
                  <a:solidFill>
                    <a:srgbClr val="008D2E"/>
                  </a:solidFill>
                  <a:latin typeface="+mn-ea"/>
                </a:rPr>
                <a:t>計測の仕掛けを実装し、</a:t>
              </a:r>
              <a:r>
                <a:rPr lang="en-US" altLang="ja-JP" sz="900" dirty="0">
                  <a:solidFill>
                    <a:srgbClr val="008D2E"/>
                  </a:solidFill>
                  <a:latin typeface="+mn-ea"/>
                </a:rPr>
                <a:t>FY27</a:t>
              </a:r>
              <a:r>
                <a:rPr lang="ja-JP" altLang="en-US" sz="900" dirty="0">
                  <a:solidFill>
                    <a:srgbClr val="008D2E"/>
                  </a:solidFill>
                  <a:latin typeface="+mn-ea"/>
                </a:rPr>
                <a:t>に正式昇格</a:t>
              </a:r>
              <a:r>
                <a:rPr lang="en-US" altLang="ja-JP" sz="900" dirty="0">
                  <a:solidFill>
                    <a:srgbClr val="008D2E"/>
                  </a:solidFill>
                  <a:latin typeface="+mn-ea"/>
                </a:rPr>
                <a:t>) </a:t>
              </a:r>
              <a:r>
                <a:rPr lang="en-US" altLang="ja-JP" sz="900" dirty="0">
                  <a:latin typeface="+mn-ea"/>
                </a:rPr>
                <a:t>:</a:t>
              </a:r>
              <a:r>
                <a:rPr lang="ja-JP" altLang="en-US" sz="900" dirty="0">
                  <a:solidFill>
                    <a:srgbClr val="008D2E"/>
                  </a:solidFill>
                  <a:latin typeface="+mn-ea"/>
                </a:rPr>
                <a:t> </a:t>
              </a:r>
              <a:r>
                <a:rPr lang="en-US" altLang="ja-JP" sz="900" dirty="0">
                  <a:latin typeface="+mn-ea"/>
                </a:rPr>
                <a:t>K7 </a:t>
              </a:r>
              <a:r>
                <a:rPr lang="ja-JP" altLang="en-US" sz="900" dirty="0">
                  <a:latin typeface="+mn-ea"/>
                </a:rPr>
                <a:t>歯科推奨経由の購買＝推奨</a:t>
              </a:r>
              <a:r>
                <a:rPr lang="en-US" altLang="ja-JP" sz="900" dirty="0">
                  <a:latin typeface="+mn-ea"/>
                </a:rPr>
                <a:t>QR</a:t>
              </a:r>
              <a:r>
                <a:rPr lang="ja-JP" altLang="en-US" sz="900" dirty="0">
                  <a:latin typeface="+mn-ea"/>
                </a:rPr>
                <a:t>・専用</a:t>
              </a:r>
              <a:r>
                <a:rPr lang="en-US" altLang="ja-JP" sz="900" dirty="0">
                  <a:latin typeface="+mn-ea"/>
                </a:rPr>
                <a:t>SKU</a:t>
              </a:r>
              <a:r>
                <a:rPr lang="ja-JP" altLang="en-US" sz="900" dirty="0">
                  <a:latin typeface="+mn-ea"/>
                </a:rPr>
                <a:t>を歯科接点で発行し、小売購買データと機械照合した実数。計測カバー率 </a:t>
              </a:r>
              <a:r>
                <a:rPr lang="en-US" altLang="ja-JP" sz="900" dirty="0">
                  <a:latin typeface="+mn-ea"/>
                </a:rPr>
                <a:t>(</a:t>
              </a:r>
              <a:r>
                <a:rPr lang="ja-JP" altLang="en-US" sz="900" dirty="0">
                  <a:latin typeface="+mn-ea"/>
                </a:rPr>
                <a:t>推奨</a:t>
              </a:r>
              <a:r>
                <a:rPr lang="en-US" altLang="ja-JP" sz="900" dirty="0">
                  <a:latin typeface="+mn-ea"/>
                </a:rPr>
                <a:t>ID</a:t>
              </a:r>
              <a:r>
                <a:rPr lang="ja-JP" altLang="en-US" sz="900" dirty="0">
                  <a:latin typeface="+mn-ea"/>
                </a:rPr>
                <a:t>を発行できている歯科接点の割合</a:t>
              </a:r>
              <a:r>
                <a:rPr lang="en-US" altLang="ja-JP" sz="900" dirty="0">
                  <a:latin typeface="+mn-ea"/>
                </a:rPr>
                <a:t>) </a:t>
              </a:r>
              <a:r>
                <a:rPr lang="ja-JP" altLang="en-US" sz="900" dirty="0">
                  <a:latin typeface="+mn-ea"/>
                </a:rPr>
                <a:t>とセットで</a:t>
              </a:r>
              <a:br>
                <a:rPr lang="en-US" altLang="ja-JP" sz="900" dirty="0">
                  <a:latin typeface="+mn-ea"/>
                </a:rPr>
              </a:br>
              <a:r>
                <a:rPr lang="ja-JP" altLang="en-US" sz="900" dirty="0">
                  <a:latin typeface="+mn-ea"/>
                </a:rPr>
                <a:t>追い、カバー率の拡大自体を</a:t>
              </a:r>
              <a:r>
                <a:rPr lang="en-US" altLang="ja-JP" sz="900" dirty="0">
                  <a:latin typeface="+mn-ea"/>
                </a:rPr>
                <a:t>K7</a:t>
              </a:r>
              <a:r>
                <a:rPr lang="ja-JP" altLang="en-US" sz="900" dirty="0">
                  <a:latin typeface="+mn-ea"/>
                </a:rPr>
                <a:t>の前提</a:t>
              </a:r>
              <a:r>
                <a:rPr lang="en-US" altLang="ja-JP" sz="900" dirty="0">
                  <a:latin typeface="+mn-ea"/>
                </a:rPr>
                <a:t>KPI</a:t>
              </a:r>
              <a:r>
                <a:rPr lang="ja-JP" altLang="en-US" sz="900" dirty="0">
                  <a:latin typeface="+mn-ea"/>
                </a:rPr>
                <a:t>にする </a:t>
              </a:r>
              <a:r>
                <a:rPr lang="en-US" altLang="ja-JP" sz="900" dirty="0">
                  <a:latin typeface="+mn-ea"/>
                </a:rPr>
                <a:t>/ K8 </a:t>
              </a:r>
              <a:r>
                <a:rPr lang="ja-JP" altLang="en-US" sz="900" dirty="0">
                  <a:latin typeface="+mn-ea"/>
                </a:rPr>
                <a:t>健康改善差＝習慣プログラム申込者の開始を</a:t>
              </a:r>
              <a:r>
                <a:rPr lang="en-US" altLang="ja-JP" sz="900" dirty="0">
                  <a:latin typeface="+mn-ea"/>
                </a:rPr>
                <a:t>4</a:t>
              </a:r>
              <a:r>
                <a:rPr lang="ja-JP" altLang="en-US" sz="900" dirty="0">
                  <a:latin typeface="+mn-ea"/>
                </a:rPr>
                <a:t>週ずらす待機群方式で、開始群と待機群のセルフチェック改善差を測る </a:t>
              </a:r>
              <a:r>
                <a:rPr lang="en-US" altLang="ja-JP" sz="900" dirty="0">
                  <a:latin typeface="+mn-ea"/>
                </a:rPr>
                <a:t>(</a:t>
              </a:r>
              <a:r>
                <a:rPr lang="ja-JP" altLang="en-US" sz="900" dirty="0">
                  <a:latin typeface="+mn-ea"/>
                </a:rPr>
                <a:t>比較群をプログラム設計で作る</a:t>
              </a:r>
              <a:r>
                <a:rPr lang="en-US" altLang="ja-JP" sz="900" dirty="0">
                  <a:latin typeface="+mn-ea"/>
                </a:rPr>
                <a:t>) </a:t>
              </a:r>
              <a:r>
                <a:rPr lang="ja-JP" altLang="en-US" sz="900" dirty="0">
                  <a:latin typeface="+mn-ea"/>
                </a:rPr>
                <a:t>。それまで投資判断には使わない</a:t>
              </a:r>
              <a:endParaRPr lang="ja-JP" altLang="en-US" sz="900" b="1" dirty="0">
                <a:latin typeface="+mn-ea"/>
              </a:endParaRPr>
            </a:p>
          </p:txBody>
        </p:sp>
        <p:sp>
          <p:nvSpPr>
            <p:cNvPr id="27" name="正方形/長方形 26">
              <a:extLst>
                <a:ext uri="{FF2B5EF4-FFF2-40B4-BE49-F238E27FC236}">
                  <a16:creationId xmlns:a16="http://schemas.microsoft.com/office/drawing/2014/main" id="{97C2D954-A18D-3D38-DE29-A8CFC7038C3F}"/>
                </a:ext>
              </a:extLst>
            </p:cNvPr>
            <p:cNvSpPr/>
            <p:nvPr/>
          </p:nvSpPr>
          <p:spPr>
            <a:xfrm>
              <a:off x="2292100" y="2036969"/>
              <a:ext cx="1739499" cy="1608598"/>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spcAft>
                  <a:spcPts val="600"/>
                </a:spcAft>
              </a:pPr>
              <a:r>
                <a:rPr lang="ja-JP" altLang="en-US" sz="1400" dirty="0">
                  <a:solidFill>
                    <a:schemeClr val="accent5"/>
                  </a:solidFill>
                  <a:latin typeface="+mn-ea"/>
                </a:rPr>
                <a:t>新規からの増分粗利</a:t>
              </a:r>
              <a:endParaRPr lang="en-US" altLang="ja-JP" sz="1400" dirty="0">
                <a:solidFill>
                  <a:schemeClr val="accent5"/>
                </a:solidFill>
                <a:latin typeface="+mn-ea"/>
              </a:endParaRPr>
            </a:p>
            <a:p>
              <a:r>
                <a:rPr lang="ja-JP" altLang="en-US" sz="1100" dirty="0">
                  <a:solidFill>
                    <a:schemeClr val="tx1"/>
                  </a:solidFill>
                  <a:latin typeface="+mn-ea"/>
                </a:rPr>
                <a:t>初回購入から</a:t>
              </a:r>
              <a:r>
                <a:rPr lang="en-US" altLang="ja-JP" sz="1100" dirty="0">
                  <a:solidFill>
                    <a:schemeClr val="tx1"/>
                  </a:solidFill>
                  <a:latin typeface="+mn-ea"/>
                </a:rPr>
                <a:t>12</a:t>
              </a:r>
              <a:r>
                <a:rPr lang="ja-JP" altLang="en-US" sz="1100" dirty="0">
                  <a:solidFill>
                    <a:schemeClr val="tx1"/>
                  </a:solidFill>
                  <a:latin typeface="+mn-ea"/>
                </a:rPr>
                <a:t>カ月の顧客</a:t>
              </a:r>
              <a:r>
                <a:rPr lang="en-US" altLang="ja-JP" sz="1100" dirty="0">
                  <a:solidFill>
                    <a:schemeClr val="tx1"/>
                  </a:solidFill>
                  <a:latin typeface="+mn-ea"/>
                </a:rPr>
                <a:t>(N-t-C)</a:t>
              </a:r>
              <a:endParaRPr lang="ja-JP" altLang="en-US" sz="1400" dirty="0">
                <a:solidFill>
                  <a:schemeClr val="bg1"/>
                </a:solidFill>
                <a:latin typeface="+mn-ea"/>
              </a:endParaRPr>
            </a:p>
          </p:txBody>
        </p:sp>
        <p:grpSp>
          <p:nvGrpSpPr>
            <p:cNvPr id="39" name="グループ化 38">
              <a:extLst>
                <a:ext uri="{FF2B5EF4-FFF2-40B4-BE49-F238E27FC236}">
                  <a16:creationId xmlns:a16="http://schemas.microsoft.com/office/drawing/2014/main" id="{29E46D91-D769-924E-CA7A-A94FBF916DD0}"/>
                </a:ext>
              </a:extLst>
            </p:cNvPr>
            <p:cNvGrpSpPr/>
            <p:nvPr/>
          </p:nvGrpSpPr>
          <p:grpSpPr>
            <a:xfrm>
              <a:off x="334963" y="4574019"/>
              <a:ext cx="1739499" cy="1113423"/>
              <a:chOff x="334963" y="4537923"/>
              <a:chExt cx="1739499" cy="1113423"/>
            </a:xfrm>
          </p:grpSpPr>
          <p:sp>
            <p:nvSpPr>
              <p:cNvPr id="31" name="正方形/長方形 62">
                <a:extLst>
                  <a:ext uri="{FF2B5EF4-FFF2-40B4-BE49-F238E27FC236}">
                    <a16:creationId xmlns:a16="http://schemas.microsoft.com/office/drawing/2014/main" id="{E8182A1D-96AA-943E-6BED-7DFDE2D2C58E}"/>
                  </a:ext>
                </a:extLst>
              </p:cNvPr>
              <p:cNvSpPr/>
              <p:nvPr/>
            </p:nvSpPr>
            <p:spPr>
              <a:xfrm>
                <a:off x="334963" y="4620126"/>
                <a:ext cx="1739499" cy="1031220"/>
              </a:xfrm>
              <a:prstGeom prst="roundRect">
                <a:avLst>
                  <a:gd name="adj" fmla="val 6141"/>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defRPr/>
                </a:pPr>
                <a:r>
                  <a:rPr lang="ja-JP" altLang="en-US" sz="900" dirty="0">
                    <a:solidFill>
                      <a:schemeClr val="tx1"/>
                    </a:solidFill>
                    <a:latin typeface="+mn-ea"/>
                  </a:rPr>
                  <a:t>マーケティング・ミックス・モデリング</a:t>
                </a:r>
                <a:r>
                  <a:rPr lang="en-US" altLang="ja-JP" sz="900" dirty="0">
                    <a:solidFill>
                      <a:schemeClr val="tx1"/>
                    </a:solidFill>
                    <a:latin typeface="+mn-ea"/>
                  </a:rPr>
                  <a:t>(Marketing Mix Modeling) </a:t>
                </a:r>
                <a:r>
                  <a:rPr lang="ja-JP" altLang="en-US" sz="900" dirty="0">
                    <a:solidFill>
                      <a:schemeClr val="tx1"/>
                    </a:solidFill>
                    <a:latin typeface="+mn-ea"/>
                  </a:rPr>
                  <a:t>です。一言でいうと、「過去の売上</a:t>
                </a:r>
                <a:br>
                  <a:rPr lang="en-US" altLang="ja-JP" sz="900" dirty="0">
                    <a:solidFill>
                      <a:schemeClr val="tx1"/>
                    </a:solidFill>
                    <a:latin typeface="+mn-ea"/>
                  </a:rPr>
                </a:br>
                <a:r>
                  <a:rPr lang="ja-JP" altLang="en-US" sz="900" dirty="0">
                    <a:solidFill>
                      <a:schemeClr val="tx1"/>
                    </a:solidFill>
                    <a:latin typeface="+mn-ea"/>
                  </a:rPr>
                  <a:t>データを統計的に分解して、どの</a:t>
                </a:r>
                <a:br>
                  <a:rPr lang="en-US" altLang="ja-JP" sz="900" dirty="0">
                    <a:solidFill>
                      <a:schemeClr val="tx1"/>
                    </a:solidFill>
                    <a:latin typeface="+mn-ea"/>
                  </a:rPr>
                </a:br>
                <a:r>
                  <a:rPr lang="ja-JP" altLang="en-US" sz="900" dirty="0">
                    <a:solidFill>
                      <a:schemeClr val="tx1"/>
                    </a:solidFill>
                    <a:latin typeface="+mn-ea"/>
                  </a:rPr>
                  <a:t>販促・広告が売上を何円押し上げたかを推定する手法」</a:t>
                </a:r>
                <a:endParaRPr kumimoji="1" lang="en-US" altLang="ja-JP" sz="900" b="0" i="0" u="none" strike="noStrike" kern="1200" cap="none" spc="0" normalizeH="0" baseline="0" noProof="0" dirty="0">
                  <a:ln>
                    <a:noFill/>
                  </a:ln>
                  <a:solidFill>
                    <a:schemeClr val="tx1"/>
                  </a:solidFill>
                  <a:effectLst/>
                  <a:uLnTx/>
                  <a:uFillTx/>
                  <a:latin typeface="+mn-ea"/>
                </a:endParaRPr>
              </a:p>
            </p:txBody>
          </p:sp>
          <p:sp>
            <p:nvSpPr>
              <p:cNvPr id="33" name="正方形/長方形 32">
                <a:extLst>
                  <a:ext uri="{FF2B5EF4-FFF2-40B4-BE49-F238E27FC236}">
                    <a16:creationId xmlns:a16="http://schemas.microsoft.com/office/drawing/2014/main" id="{D57AD93B-913E-5159-78A9-94E40A9A92AA}"/>
                  </a:ext>
                </a:extLst>
              </p:cNvPr>
              <p:cNvSpPr/>
              <p:nvPr/>
            </p:nvSpPr>
            <p:spPr>
              <a:xfrm>
                <a:off x="432183" y="4537923"/>
                <a:ext cx="609685" cy="162043"/>
              </a:xfrm>
              <a:prstGeom prst="rect">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lvl="0" algn="ctr">
                  <a:defRPr/>
                </a:pPr>
                <a:r>
                  <a:rPr lang="en-US" altLang="ja-JP" sz="900" dirty="0">
                    <a:solidFill>
                      <a:prstClr val="black"/>
                    </a:solidFill>
                    <a:latin typeface="+mn-ea"/>
                  </a:rPr>
                  <a:t>MMM</a:t>
                </a:r>
                <a:endParaRPr kumimoji="1" lang="ja-JP" altLang="en-US" sz="900" b="0" i="0" u="none" strike="noStrike" kern="1200" cap="none" spc="0" normalizeH="0" baseline="0" noProof="0" dirty="0">
                  <a:ln>
                    <a:noFill/>
                  </a:ln>
                  <a:solidFill>
                    <a:prstClr val="black"/>
                  </a:solidFill>
                  <a:effectLst/>
                  <a:uLnTx/>
                  <a:uFillTx/>
                  <a:latin typeface="+mn-ea"/>
                </a:endParaRPr>
              </a:p>
            </p:txBody>
          </p:sp>
        </p:grpSp>
        <p:sp>
          <p:nvSpPr>
            <p:cNvPr id="35" name="正方形/長方形 34">
              <a:extLst>
                <a:ext uri="{FF2B5EF4-FFF2-40B4-BE49-F238E27FC236}">
                  <a16:creationId xmlns:a16="http://schemas.microsoft.com/office/drawing/2014/main" id="{1CEABE95-5F9D-6701-946F-13A77C18C994}"/>
                </a:ext>
              </a:extLst>
            </p:cNvPr>
            <p:cNvSpPr/>
            <p:nvPr/>
          </p:nvSpPr>
          <p:spPr>
            <a:xfrm>
              <a:off x="2292100" y="3645567"/>
              <a:ext cx="1739499" cy="43658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spcAft>
                  <a:spcPts val="600"/>
                </a:spcAft>
              </a:pPr>
              <a:r>
                <a:rPr lang="en-US" altLang="ja-JP" sz="1050" dirty="0">
                  <a:solidFill>
                    <a:schemeClr val="accent5"/>
                  </a:solidFill>
                  <a:latin typeface="+mn-ea"/>
                </a:rPr>
                <a:t>12</a:t>
              </a:r>
              <a:r>
                <a:rPr lang="ja-JP" altLang="en-US" sz="1050" dirty="0">
                  <a:solidFill>
                    <a:schemeClr val="accent5"/>
                  </a:solidFill>
                  <a:latin typeface="+mn-ea"/>
                </a:rPr>
                <a:t>カ月ルールで排他分類</a:t>
              </a:r>
              <a:br>
                <a:rPr lang="en-US" altLang="ja-JP" sz="1050" dirty="0">
                  <a:solidFill>
                    <a:schemeClr val="accent5"/>
                  </a:solidFill>
                  <a:latin typeface="+mn-ea"/>
                </a:rPr>
              </a:br>
              <a:r>
                <a:rPr lang="ja-JP" altLang="en-US" sz="1050" dirty="0">
                  <a:solidFill>
                    <a:schemeClr val="accent5"/>
                  </a:solidFill>
                  <a:latin typeface="+mn-ea"/>
                </a:rPr>
                <a:t>＝同じ顧客を二度数えない</a:t>
              </a:r>
            </a:p>
          </p:txBody>
        </p:sp>
        <p:sp>
          <p:nvSpPr>
            <p:cNvPr id="38" name="正方形/長方形 37">
              <a:extLst>
                <a:ext uri="{FF2B5EF4-FFF2-40B4-BE49-F238E27FC236}">
                  <a16:creationId xmlns:a16="http://schemas.microsoft.com/office/drawing/2014/main" id="{51AA3F9C-0019-F0C1-5968-B396C9148105}"/>
                </a:ext>
              </a:extLst>
            </p:cNvPr>
            <p:cNvSpPr/>
            <p:nvPr/>
          </p:nvSpPr>
          <p:spPr>
            <a:xfrm>
              <a:off x="2292100" y="4082156"/>
              <a:ext cx="1739499" cy="1608598"/>
            </a:xfrm>
            <a:prstGeom prst="rect">
              <a:avLst/>
            </a:prstGeom>
            <a:solidFill>
              <a:srgbClr val="008D2E">
                <a:alpha val="2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spcAft>
                  <a:spcPts val="600"/>
                </a:spcAft>
              </a:pPr>
              <a:r>
                <a:rPr lang="ja-JP" altLang="en-US" sz="1400" dirty="0">
                  <a:solidFill>
                    <a:schemeClr val="accent5"/>
                  </a:solidFill>
                  <a:latin typeface="+mn-ea"/>
                </a:rPr>
                <a:t>継続からの増分粗利</a:t>
              </a:r>
              <a:endParaRPr lang="en-US" altLang="ja-JP" sz="1400" dirty="0">
                <a:solidFill>
                  <a:schemeClr val="accent5"/>
                </a:solidFill>
                <a:latin typeface="+mn-ea"/>
              </a:endParaRPr>
            </a:p>
            <a:p>
              <a:r>
                <a:rPr lang="en-US" altLang="ja-JP" sz="1100" dirty="0">
                  <a:solidFill>
                    <a:schemeClr val="tx1"/>
                  </a:solidFill>
                  <a:latin typeface="+mn-ea"/>
                </a:rPr>
                <a:t>13</a:t>
              </a:r>
              <a:r>
                <a:rPr lang="ja-JP" altLang="en-US" sz="1100" dirty="0">
                  <a:solidFill>
                    <a:schemeClr val="tx1"/>
                  </a:solidFill>
                  <a:latin typeface="+mn-ea"/>
                </a:rPr>
                <a:t>カ月目以降の顧客</a:t>
              </a:r>
              <a:r>
                <a:rPr lang="en-US" altLang="ja-JP" sz="1100" dirty="0">
                  <a:solidFill>
                    <a:schemeClr val="tx1"/>
                  </a:solidFill>
                  <a:latin typeface="+mn-ea"/>
                </a:rPr>
                <a:t>(LTV)</a:t>
              </a:r>
              <a:endParaRPr lang="ja-JP" altLang="en-US" sz="1400" dirty="0">
                <a:solidFill>
                  <a:schemeClr val="bg1"/>
                </a:solidFill>
                <a:latin typeface="+mn-ea"/>
              </a:endParaRPr>
            </a:p>
          </p:txBody>
        </p:sp>
        <p:sp>
          <p:nvSpPr>
            <p:cNvPr id="43" name="正方形/長方形 42">
              <a:extLst>
                <a:ext uri="{FF2B5EF4-FFF2-40B4-BE49-F238E27FC236}">
                  <a16:creationId xmlns:a16="http://schemas.microsoft.com/office/drawing/2014/main" id="{3E931F60-593F-746C-4DEE-0C7F4F1608C6}"/>
                </a:ext>
              </a:extLst>
            </p:cNvPr>
            <p:cNvSpPr/>
            <p:nvPr/>
          </p:nvSpPr>
          <p:spPr>
            <a:xfrm>
              <a:off x="5918296" y="2036969"/>
              <a:ext cx="4840859" cy="503999"/>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spcAft>
                  <a:spcPts val="300"/>
                </a:spcAft>
                <a:defRPr/>
              </a:pPr>
              <a:r>
                <a:rPr lang="ja-JP" altLang="en-US" sz="1000" dirty="0">
                  <a:solidFill>
                    <a:schemeClr val="tx1"/>
                  </a:solidFill>
                  <a:latin typeface="+mn-ea"/>
                </a:rPr>
                <a:t>固定の質問</a:t>
              </a:r>
              <a:r>
                <a:rPr lang="en-US" altLang="ja-JP" sz="1000" dirty="0">
                  <a:solidFill>
                    <a:schemeClr val="tx1"/>
                  </a:solidFill>
                  <a:latin typeface="+mn-ea"/>
                </a:rPr>
                <a:t>200</a:t>
              </a:r>
              <a:r>
                <a:rPr lang="ja-JP" altLang="en-US" sz="1000" dirty="0">
                  <a:solidFill>
                    <a:schemeClr val="tx1"/>
                  </a:solidFill>
                  <a:latin typeface="+mn-ea"/>
                </a:rPr>
                <a:t>問を月次で各</a:t>
              </a:r>
              <a:r>
                <a:rPr lang="en-US" altLang="ja-JP" sz="1000" dirty="0">
                  <a:solidFill>
                    <a:schemeClr val="tx1"/>
                  </a:solidFill>
                  <a:latin typeface="+mn-ea"/>
                </a:rPr>
                <a:t>AI</a:t>
              </a:r>
              <a:r>
                <a:rPr lang="ja-JP" altLang="en-US" sz="1000" dirty="0">
                  <a:solidFill>
                    <a:schemeClr val="tx1"/>
                  </a:solidFill>
                  <a:latin typeface="+mn-ea"/>
                </a:rPr>
                <a:t>に</a:t>
              </a:r>
              <a:r>
                <a:rPr lang="en-US" altLang="ja-JP" sz="1000" dirty="0">
                  <a:solidFill>
                    <a:schemeClr val="tx1"/>
                  </a:solidFill>
                  <a:latin typeface="+mn-ea"/>
                </a:rPr>
                <a:t>3</a:t>
              </a:r>
              <a:r>
                <a:rPr lang="ja-JP" altLang="en-US" sz="1000" dirty="0">
                  <a:solidFill>
                    <a:schemeClr val="tx1"/>
                  </a:solidFill>
                  <a:latin typeface="+mn-ea"/>
                </a:rPr>
                <a:t>回ずつ投げ、ライオンが推奨・引用された割合の平均</a:t>
              </a:r>
            </a:p>
            <a:p>
              <a:pPr lvl="0">
                <a:spcAft>
                  <a:spcPts val="300"/>
                </a:spcAft>
                <a:defRPr/>
              </a:pPr>
              <a:r>
                <a:rPr lang="zh-TW" altLang="en-US" sz="1000" dirty="0">
                  <a:solidFill>
                    <a:schemeClr val="accent5"/>
                  </a:solidFill>
                  <a:latin typeface="+mn-ea"/>
                </a:rPr>
                <a:t>自社測定 </a:t>
              </a:r>
              <a:r>
                <a:rPr lang="en-US" altLang="zh-TW" sz="1000" dirty="0">
                  <a:solidFill>
                    <a:schemeClr val="accent5"/>
                  </a:solidFill>
                  <a:latin typeface="+mn-ea"/>
                </a:rPr>
                <a:t>/ </a:t>
              </a:r>
              <a:r>
                <a:rPr lang="zh-TW" altLang="en-US" sz="1000" dirty="0">
                  <a:solidFill>
                    <a:schemeClr val="accent5"/>
                  </a:solidFill>
                  <a:latin typeface="+mn-ea"/>
                </a:rPr>
                <a:t>月次 </a:t>
              </a:r>
              <a:r>
                <a:rPr lang="en-US" altLang="zh-TW" sz="1000" dirty="0">
                  <a:solidFill>
                    <a:schemeClr val="accent5"/>
                  </a:solidFill>
                  <a:latin typeface="+mn-ea"/>
                </a:rPr>
                <a:t>/ IR : </a:t>
              </a:r>
              <a:r>
                <a:rPr lang="zh-TW" altLang="en-US" sz="1000" dirty="0">
                  <a:solidFill>
                    <a:schemeClr val="accent5"/>
                  </a:solidFill>
                  <a:latin typeface="+mn-ea"/>
                </a:rPr>
                <a:t>高</a:t>
              </a:r>
            </a:p>
          </p:txBody>
        </p:sp>
        <p:sp>
          <p:nvSpPr>
            <p:cNvPr id="46" name="正方形/長方形 45">
              <a:extLst>
                <a:ext uri="{FF2B5EF4-FFF2-40B4-BE49-F238E27FC236}">
                  <a16:creationId xmlns:a16="http://schemas.microsoft.com/office/drawing/2014/main" id="{416341F0-61F9-2B9E-BEF4-E449C37B0B52}"/>
                </a:ext>
              </a:extLst>
            </p:cNvPr>
            <p:cNvSpPr/>
            <p:nvPr/>
          </p:nvSpPr>
          <p:spPr>
            <a:xfrm>
              <a:off x="4378847" y="2036969"/>
              <a:ext cx="1539450" cy="504000"/>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en-US" altLang="ja-JP" sz="1050" dirty="0">
                  <a:solidFill>
                    <a:schemeClr val="bg1"/>
                  </a:solidFill>
                  <a:latin typeface="+mn-ea"/>
                </a:rPr>
                <a:t>AI</a:t>
              </a:r>
              <a:r>
                <a:rPr lang="ja-JP" altLang="en-US" sz="1050" dirty="0">
                  <a:solidFill>
                    <a:schemeClr val="bg1"/>
                  </a:solidFill>
                  <a:latin typeface="+mn-ea"/>
                </a:rPr>
                <a:t>推奨シェア</a:t>
              </a:r>
              <a:r>
                <a:rPr lang="en-US" altLang="ja-JP" sz="1050" dirty="0">
                  <a:solidFill>
                    <a:schemeClr val="bg1"/>
                  </a:solidFill>
                  <a:latin typeface="+mn-ea"/>
                </a:rPr>
                <a:t>(AIEO Rate)</a:t>
              </a:r>
            </a:p>
          </p:txBody>
        </p:sp>
        <p:sp>
          <p:nvSpPr>
            <p:cNvPr id="52" name="正方形/長方形 45">
              <a:extLst>
                <a:ext uri="{FF2B5EF4-FFF2-40B4-BE49-F238E27FC236}">
                  <a16:creationId xmlns:a16="http://schemas.microsoft.com/office/drawing/2014/main" id="{416341F0-61F9-2B9E-BEF4-E449C37B0B52}"/>
                </a:ext>
              </a:extLst>
            </p:cNvPr>
            <p:cNvSpPr/>
            <p:nvPr/>
          </p:nvSpPr>
          <p:spPr>
            <a:xfrm>
              <a:off x="4378847" y="2589268"/>
              <a:ext cx="1539450" cy="504000"/>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ja-JP" altLang="en-US" sz="1050" dirty="0">
                  <a:solidFill>
                    <a:schemeClr val="bg1"/>
                  </a:solidFill>
                  <a:latin typeface="+mn-ea"/>
                </a:rPr>
                <a:t>カテゴリ新規客数</a:t>
              </a:r>
              <a:r>
                <a:rPr lang="en-US" altLang="ja-JP" sz="1050" dirty="0">
                  <a:solidFill>
                    <a:schemeClr val="bg1"/>
                  </a:solidFill>
                  <a:latin typeface="+mn-ea"/>
                </a:rPr>
                <a:t>(N-t-C)</a:t>
              </a:r>
            </a:p>
          </p:txBody>
        </p:sp>
        <p:sp>
          <p:nvSpPr>
            <p:cNvPr id="53" name="正方形/長方形 45">
              <a:extLst>
                <a:ext uri="{FF2B5EF4-FFF2-40B4-BE49-F238E27FC236}">
                  <a16:creationId xmlns:a16="http://schemas.microsoft.com/office/drawing/2014/main" id="{416341F0-61F9-2B9E-BEF4-E449C37B0B52}"/>
                </a:ext>
              </a:extLst>
            </p:cNvPr>
            <p:cNvSpPr/>
            <p:nvPr/>
          </p:nvSpPr>
          <p:spPr>
            <a:xfrm>
              <a:off x="4378847" y="3141567"/>
              <a:ext cx="1539450" cy="504000"/>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ja-JP" altLang="en-US" sz="1050" dirty="0">
                  <a:solidFill>
                    <a:schemeClr val="bg1"/>
                  </a:solidFill>
                  <a:latin typeface="+mn-ea"/>
                </a:rPr>
                <a:t>意向把握の有効登録者数</a:t>
              </a:r>
              <a:endParaRPr lang="en-US" altLang="ja-JP" sz="1050" dirty="0">
                <a:solidFill>
                  <a:schemeClr val="bg1"/>
                </a:solidFill>
                <a:latin typeface="+mn-ea"/>
              </a:endParaRPr>
            </a:p>
          </p:txBody>
        </p:sp>
        <p:sp>
          <p:nvSpPr>
            <p:cNvPr id="10" name="正方形/長方形 62">
              <a:extLst>
                <a:ext uri="{FF2B5EF4-FFF2-40B4-BE49-F238E27FC236}">
                  <a16:creationId xmlns:a16="http://schemas.microsoft.com/office/drawing/2014/main" id="{68B759BC-AA5E-54CA-6D67-60181C12D376}"/>
                </a:ext>
              </a:extLst>
            </p:cNvPr>
            <p:cNvSpPr/>
            <p:nvPr/>
          </p:nvSpPr>
          <p:spPr>
            <a:xfrm>
              <a:off x="4419423" y="2101055"/>
              <a:ext cx="381492" cy="340294"/>
            </a:xfrm>
            <a:prstGeom prst="roundRect">
              <a:avLst>
                <a:gd name="adj" fmla="val 10579"/>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n-ea"/>
                </a:rPr>
                <a:t>K1</a:t>
              </a:r>
              <a:endParaRPr kumimoji="1" lang="en-US" altLang="ja-JP" sz="1200" b="0" i="0" u="none" strike="noStrike" kern="1200" cap="none" spc="0" normalizeH="0" baseline="0" noProof="0" dirty="0">
                <a:ln>
                  <a:noFill/>
                </a:ln>
                <a:solidFill>
                  <a:schemeClr val="accent5"/>
                </a:solidFill>
                <a:effectLst/>
                <a:uLnTx/>
                <a:uFillTx/>
                <a:latin typeface="+mn-ea"/>
              </a:endParaRPr>
            </a:p>
          </p:txBody>
        </p:sp>
        <p:sp>
          <p:nvSpPr>
            <p:cNvPr id="12" name="正方形/長方形 11">
              <a:extLst>
                <a:ext uri="{FF2B5EF4-FFF2-40B4-BE49-F238E27FC236}">
                  <a16:creationId xmlns:a16="http://schemas.microsoft.com/office/drawing/2014/main" id="{64F1D6C8-EFE2-2976-6243-D57AD87DEE80}"/>
                </a:ext>
              </a:extLst>
            </p:cNvPr>
            <p:cNvSpPr/>
            <p:nvPr/>
          </p:nvSpPr>
          <p:spPr>
            <a:xfrm>
              <a:off x="5918296" y="2589267"/>
              <a:ext cx="4840859" cy="504000"/>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spcAft>
                  <a:spcPts val="300"/>
                </a:spcAft>
                <a:defRPr/>
              </a:pPr>
              <a:r>
                <a:rPr lang="ja-JP" altLang="en-US" sz="1000" dirty="0">
                  <a:solidFill>
                    <a:schemeClr val="tx1"/>
                  </a:solidFill>
                  <a:latin typeface="+mn-ea"/>
                </a:rPr>
                <a:t>過去</a:t>
              </a:r>
              <a:r>
                <a:rPr lang="en-US" altLang="ja-JP" sz="1000" dirty="0">
                  <a:solidFill>
                    <a:schemeClr val="tx1"/>
                  </a:solidFill>
                  <a:latin typeface="+mn-ea"/>
                </a:rPr>
                <a:t>24</a:t>
              </a:r>
              <a:r>
                <a:rPr lang="ja-JP" altLang="en-US" sz="1000" dirty="0">
                  <a:solidFill>
                    <a:schemeClr val="tx1"/>
                  </a:solidFill>
                  <a:latin typeface="+mn-ea"/>
                </a:rPr>
                <a:t>カ月オーラル購買のない人が初回購買した人数。データ連携済みの重点小売で数える</a:t>
              </a:r>
            </a:p>
            <a:p>
              <a:pPr lvl="0">
                <a:spcAft>
                  <a:spcPts val="300"/>
                </a:spcAft>
                <a:defRPr/>
              </a:pPr>
              <a:r>
                <a:rPr lang="zh-TW" altLang="en-US" sz="1000" dirty="0">
                  <a:solidFill>
                    <a:schemeClr val="accent5"/>
                  </a:solidFill>
                  <a:latin typeface="+mn-ea"/>
                </a:rPr>
                <a:t>重点小売</a:t>
              </a:r>
              <a:r>
                <a:rPr lang="en-US" altLang="zh-TW" sz="1000" dirty="0">
                  <a:solidFill>
                    <a:schemeClr val="accent5"/>
                  </a:solidFill>
                  <a:latin typeface="+mn-ea"/>
                </a:rPr>
                <a:t>ID-POS</a:t>
              </a:r>
              <a:r>
                <a:rPr lang="zh-TW" altLang="en-US" sz="1000" dirty="0">
                  <a:solidFill>
                    <a:schemeClr val="accent5"/>
                  </a:solidFill>
                  <a:latin typeface="+mn-ea"/>
                </a:rPr>
                <a:t> </a:t>
              </a:r>
              <a:r>
                <a:rPr lang="en-US" altLang="zh-TW" sz="1000" dirty="0">
                  <a:solidFill>
                    <a:schemeClr val="accent5"/>
                  </a:solidFill>
                  <a:latin typeface="+mn-ea"/>
                </a:rPr>
                <a:t>/ </a:t>
              </a:r>
              <a:r>
                <a:rPr lang="zh-TW" altLang="en-US" sz="1000" dirty="0">
                  <a:solidFill>
                    <a:schemeClr val="accent5"/>
                  </a:solidFill>
                  <a:latin typeface="+mn-ea"/>
                </a:rPr>
                <a:t>四半期 </a:t>
              </a:r>
              <a:r>
                <a:rPr lang="en-US" altLang="zh-TW" sz="1000" dirty="0">
                  <a:solidFill>
                    <a:schemeClr val="accent5"/>
                  </a:solidFill>
                  <a:latin typeface="+mn-ea"/>
                </a:rPr>
                <a:t>/ IR : </a:t>
              </a:r>
              <a:r>
                <a:rPr lang="zh-TW" altLang="en-US" sz="1000" dirty="0">
                  <a:solidFill>
                    <a:schemeClr val="accent5"/>
                  </a:solidFill>
                  <a:latin typeface="+mn-ea"/>
                </a:rPr>
                <a:t>高</a:t>
              </a:r>
            </a:p>
          </p:txBody>
        </p:sp>
        <p:sp>
          <p:nvSpPr>
            <p:cNvPr id="13" name="正方形/長方形 12">
              <a:extLst>
                <a:ext uri="{FF2B5EF4-FFF2-40B4-BE49-F238E27FC236}">
                  <a16:creationId xmlns:a16="http://schemas.microsoft.com/office/drawing/2014/main" id="{ECA8A068-9514-B07A-173E-E896E329C143}"/>
                </a:ext>
              </a:extLst>
            </p:cNvPr>
            <p:cNvSpPr/>
            <p:nvPr/>
          </p:nvSpPr>
          <p:spPr>
            <a:xfrm>
              <a:off x="5918296" y="3141567"/>
              <a:ext cx="4840859" cy="504000"/>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spcAft>
                  <a:spcPts val="300"/>
                </a:spcAft>
                <a:defRPr/>
              </a:pPr>
              <a:r>
                <a:rPr lang="ja-JP" altLang="en-US" sz="1000" dirty="0">
                  <a:solidFill>
                    <a:schemeClr val="tx1"/>
                  </a:solidFill>
                  <a:latin typeface="+mn-ea"/>
                </a:rPr>
                <a:t>アプリ・</a:t>
              </a:r>
              <a:r>
                <a:rPr lang="en-US" altLang="ja-JP" sz="1000" dirty="0">
                  <a:solidFill>
                    <a:schemeClr val="tx1"/>
                  </a:solidFill>
                  <a:latin typeface="+mn-ea"/>
                </a:rPr>
                <a:t>LINE</a:t>
              </a:r>
              <a:r>
                <a:rPr lang="ja-JP" altLang="en-US" sz="1000" dirty="0">
                  <a:solidFill>
                    <a:schemeClr val="tx1"/>
                  </a:solidFill>
                  <a:latin typeface="+mn-ea"/>
                </a:rPr>
                <a:t>・診断ツールで口腔の悩み・意向を登録し、</a:t>
              </a:r>
              <a:r>
                <a:rPr lang="en-US" altLang="ja-JP" sz="1000" dirty="0">
                  <a:solidFill>
                    <a:schemeClr val="tx1"/>
                  </a:solidFill>
                  <a:latin typeface="+mn-ea"/>
                </a:rPr>
                <a:t>12</a:t>
              </a:r>
              <a:r>
                <a:rPr lang="ja-JP" altLang="en-US" sz="1000" dirty="0">
                  <a:solidFill>
                    <a:schemeClr val="tx1"/>
                  </a:solidFill>
                  <a:latin typeface="+mn-ea"/>
                </a:rPr>
                <a:t>カ月以内に更新がある人数 </a:t>
              </a:r>
              <a:r>
                <a:rPr lang="en-US" altLang="ja-JP" sz="1000" dirty="0">
                  <a:solidFill>
                    <a:schemeClr val="tx1"/>
                  </a:solidFill>
                  <a:latin typeface="+mn-ea"/>
                </a:rPr>
                <a:t>(</a:t>
              </a:r>
              <a:r>
                <a:rPr lang="ja-JP" altLang="en-US" sz="1000" dirty="0">
                  <a:solidFill>
                    <a:schemeClr val="tx1"/>
                  </a:solidFill>
                  <a:latin typeface="+mn-ea"/>
                </a:rPr>
                <a:t>実数</a:t>
              </a:r>
              <a:r>
                <a:rPr lang="en-US" altLang="ja-JP" sz="1000" dirty="0">
                  <a:solidFill>
                    <a:schemeClr val="tx1"/>
                  </a:solidFill>
                  <a:latin typeface="+mn-ea"/>
                </a:rPr>
                <a:t>)</a:t>
              </a:r>
              <a:endParaRPr lang="ja-JP" altLang="en-US" sz="1000" dirty="0">
                <a:solidFill>
                  <a:schemeClr val="tx1"/>
                </a:solidFill>
                <a:latin typeface="+mn-ea"/>
              </a:endParaRPr>
            </a:p>
            <a:p>
              <a:pPr lvl="0">
                <a:spcAft>
                  <a:spcPts val="300"/>
                </a:spcAft>
                <a:defRPr/>
              </a:pPr>
              <a:r>
                <a:rPr lang="zh-TW" altLang="en-US" sz="1000" dirty="0">
                  <a:solidFill>
                    <a:schemeClr val="accent5"/>
                  </a:solidFill>
                  <a:latin typeface="+mn-ea"/>
                </a:rPr>
                <a:t>自社顧客基盤 </a:t>
              </a:r>
              <a:r>
                <a:rPr lang="en-US" altLang="zh-TW" sz="1000" dirty="0">
                  <a:solidFill>
                    <a:schemeClr val="accent5"/>
                  </a:solidFill>
                  <a:latin typeface="+mn-ea"/>
                </a:rPr>
                <a:t>/ </a:t>
              </a:r>
              <a:r>
                <a:rPr lang="zh-TW" altLang="en-US" sz="1000" dirty="0">
                  <a:solidFill>
                    <a:schemeClr val="accent5"/>
                  </a:solidFill>
                  <a:latin typeface="+mn-ea"/>
                </a:rPr>
                <a:t>月次 </a:t>
              </a:r>
              <a:r>
                <a:rPr lang="en-US" altLang="zh-TW" sz="1000" dirty="0">
                  <a:solidFill>
                    <a:schemeClr val="accent5"/>
                  </a:solidFill>
                  <a:latin typeface="+mn-ea"/>
                </a:rPr>
                <a:t>/ IR : </a:t>
              </a:r>
              <a:r>
                <a:rPr lang="zh-TW" altLang="en-US" sz="1000" dirty="0">
                  <a:solidFill>
                    <a:schemeClr val="accent5"/>
                  </a:solidFill>
                  <a:latin typeface="+mn-ea"/>
                </a:rPr>
                <a:t>高</a:t>
              </a:r>
            </a:p>
          </p:txBody>
        </p:sp>
        <p:sp>
          <p:nvSpPr>
            <p:cNvPr id="14" name="正方形/長方形 62">
              <a:extLst>
                <a:ext uri="{FF2B5EF4-FFF2-40B4-BE49-F238E27FC236}">
                  <a16:creationId xmlns:a16="http://schemas.microsoft.com/office/drawing/2014/main" id="{73036C6B-ED2F-2FA2-C782-0842C86B7EF7}"/>
                </a:ext>
              </a:extLst>
            </p:cNvPr>
            <p:cNvSpPr/>
            <p:nvPr/>
          </p:nvSpPr>
          <p:spPr>
            <a:xfrm>
              <a:off x="4419423" y="2671120"/>
              <a:ext cx="381492" cy="340294"/>
            </a:xfrm>
            <a:prstGeom prst="roundRect">
              <a:avLst>
                <a:gd name="adj" fmla="val 10579"/>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n-ea"/>
                </a:rPr>
                <a:t>K2</a:t>
              </a:r>
              <a:endParaRPr kumimoji="1" lang="en-US" altLang="ja-JP" sz="1200" b="0" i="0" u="none" strike="noStrike" kern="1200" cap="none" spc="0" normalizeH="0" baseline="0" noProof="0" dirty="0">
                <a:ln>
                  <a:noFill/>
                </a:ln>
                <a:solidFill>
                  <a:schemeClr val="accent5"/>
                </a:solidFill>
                <a:effectLst/>
                <a:uLnTx/>
                <a:uFillTx/>
                <a:latin typeface="+mn-ea"/>
              </a:endParaRPr>
            </a:p>
          </p:txBody>
        </p:sp>
        <p:sp>
          <p:nvSpPr>
            <p:cNvPr id="15" name="正方形/長方形 62">
              <a:extLst>
                <a:ext uri="{FF2B5EF4-FFF2-40B4-BE49-F238E27FC236}">
                  <a16:creationId xmlns:a16="http://schemas.microsoft.com/office/drawing/2014/main" id="{4715315B-2229-ED92-99BF-314E057FD7F7}"/>
                </a:ext>
              </a:extLst>
            </p:cNvPr>
            <p:cNvSpPr/>
            <p:nvPr/>
          </p:nvSpPr>
          <p:spPr>
            <a:xfrm>
              <a:off x="4419423" y="3223420"/>
              <a:ext cx="381492" cy="340294"/>
            </a:xfrm>
            <a:prstGeom prst="roundRect">
              <a:avLst>
                <a:gd name="adj" fmla="val 10579"/>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n-ea"/>
                </a:rPr>
                <a:t>K3</a:t>
              </a:r>
              <a:endParaRPr kumimoji="1" lang="en-US" altLang="ja-JP" sz="1200" b="0" i="0" u="none" strike="noStrike" kern="1200" cap="none" spc="0" normalizeH="0" baseline="0" noProof="0" dirty="0">
                <a:ln>
                  <a:noFill/>
                </a:ln>
                <a:solidFill>
                  <a:schemeClr val="accent5"/>
                </a:solidFill>
                <a:effectLst/>
                <a:uLnTx/>
                <a:uFillTx/>
                <a:latin typeface="+mn-ea"/>
              </a:endParaRPr>
            </a:p>
          </p:txBody>
        </p:sp>
        <p:sp>
          <p:nvSpPr>
            <p:cNvPr id="18" name="正方形/長方形 17">
              <a:extLst>
                <a:ext uri="{FF2B5EF4-FFF2-40B4-BE49-F238E27FC236}">
                  <a16:creationId xmlns:a16="http://schemas.microsoft.com/office/drawing/2014/main" id="{0AB091B4-6483-15F7-B4AD-71F306FCC4D5}"/>
                </a:ext>
              </a:extLst>
            </p:cNvPr>
            <p:cNvSpPr/>
            <p:nvPr/>
          </p:nvSpPr>
          <p:spPr>
            <a:xfrm>
              <a:off x="5918296" y="4082156"/>
              <a:ext cx="4840859" cy="468000"/>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spcAft>
                  <a:spcPts val="300"/>
                </a:spcAft>
                <a:defRPr/>
              </a:pPr>
              <a:r>
                <a:rPr lang="ja-JP" altLang="en-US" sz="1000" dirty="0">
                  <a:solidFill>
                    <a:schemeClr val="tx1"/>
                  </a:solidFill>
                  <a:latin typeface="+mn-ea"/>
                </a:rPr>
                <a:t>初回購買者のうち、</a:t>
              </a:r>
              <a:r>
                <a:rPr lang="en-US" altLang="ja-JP" sz="1000" dirty="0">
                  <a:solidFill>
                    <a:schemeClr val="tx1"/>
                  </a:solidFill>
                  <a:latin typeface="+mn-ea"/>
                </a:rPr>
                <a:t>12</a:t>
              </a:r>
              <a:r>
                <a:rPr lang="ja-JP" altLang="en-US" sz="1000" dirty="0">
                  <a:solidFill>
                    <a:schemeClr val="tx1"/>
                  </a:solidFill>
                  <a:latin typeface="+mn-ea"/>
                </a:rPr>
                <a:t>カ月以内に同カテゴリを再購買した人の比率</a:t>
              </a:r>
            </a:p>
            <a:p>
              <a:pPr lvl="0">
                <a:spcAft>
                  <a:spcPts val="300"/>
                </a:spcAft>
                <a:defRPr/>
              </a:pPr>
              <a:r>
                <a:rPr lang="zh-TW" altLang="en-US" sz="1000" dirty="0">
                  <a:solidFill>
                    <a:schemeClr val="accent5"/>
                  </a:solidFill>
                  <a:latin typeface="+mn-ea"/>
                </a:rPr>
                <a:t>重点小売</a:t>
              </a:r>
              <a:r>
                <a:rPr lang="en-US" altLang="zh-TW" sz="1000" dirty="0">
                  <a:solidFill>
                    <a:schemeClr val="accent5"/>
                  </a:solidFill>
                  <a:latin typeface="+mn-ea"/>
                </a:rPr>
                <a:t>ID-POS</a:t>
              </a:r>
              <a:r>
                <a:rPr lang="zh-TW" altLang="en-US" sz="1000" dirty="0">
                  <a:solidFill>
                    <a:schemeClr val="accent5"/>
                  </a:solidFill>
                  <a:latin typeface="+mn-ea"/>
                </a:rPr>
                <a:t> </a:t>
              </a:r>
              <a:r>
                <a:rPr lang="en-US" altLang="zh-TW" sz="1000" dirty="0">
                  <a:solidFill>
                    <a:schemeClr val="accent5"/>
                  </a:solidFill>
                  <a:latin typeface="+mn-ea"/>
                </a:rPr>
                <a:t>/ </a:t>
              </a:r>
              <a:r>
                <a:rPr lang="zh-TW" altLang="en-US" sz="1000" dirty="0">
                  <a:solidFill>
                    <a:schemeClr val="accent5"/>
                  </a:solidFill>
                  <a:latin typeface="+mn-ea"/>
                </a:rPr>
                <a:t>四半期 </a:t>
              </a:r>
              <a:r>
                <a:rPr lang="en-US" altLang="zh-TW" sz="1000" dirty="0">
                  <a:solidFill>
                    <a:schemeClr val="accent5"/>
                  </a:solidFill>
                  <a:latin typeface="+mn-ea"/>
                </a:rPr>
                <a:t>/ IR : </a:t>
              </a:r>
              <a:r>
                <a:rPr lang="zh-TW" altLang="en-US" sz="1000" dirty="0">
                  <a:solidFill>
                    <a:schemeClr val="accent5"/>
                  </a:solidFill>
                  <a:latin typeface="+mn-ea"/>
                </a:rPr>
                <a:t>中</a:t>
              </a:r>
            </a:p>
          </p:txBody>
        </p:sp>
        <p:sp>
          <p:nvSpPr>
            <p:cNvPr id="19" name="正方形/長方形 18">
              <a:extLst>
                <a:ext uri="{FF2B5EF4-FFF2-40B4-BE49-F238E27FC236}">
                  <a16:creationId xmlns:a16="http://schemas.microsoft.com/office/drawing/2014/main" id="{3865B654-1B2A-639E-5980-937A748D1722}"/>
                </a:ext>
              </a:extLst>
            </p:cNvPr>
            <p:cNvSpPr/>
            <p:nvPr/>
          </p:nvSpPr>
          <p:spPr>
            <a:xfrm>
              <a:off x="4378847" y="4082156"/>
              <a:ext cx="1539450" cy="504000"/>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en-US" altLang="ja-JP" sz="1050" dirty="0">
                  <a:solidFill>
                    <a:schemeClr val="bg1"/>
                  </a:solidFill>
                  <a:latin typeface="+mn-ea"/>
                </a:rPr>
                <a:t>12</a:t>
              </a:r>
              <a:r>
                <a:rPr lang="ja-JP" altLang="en-US" sz="1050" dirty="0">
                  <a:solidFill>
                    <a:schemeClr val="bg1"/>
                  </a:solidFill>
                  <a:latin typeface="+mn-ea"/>
                </a:rPr>
                <a:t>カ月リピート率</a:t>
              </a:r>
              <a:endParaRPr lang="en-US" altLang="ja-JP" sz="1050" dirty="0">
                <a:solidFill>
                  <a:schemeClr val="bg1"/>
                </a:solidFill>
                <a:latin typeface="+mn-ea"/>
              </a:endParaRPr>
            </a:p>
          </p:txBody>
        </p:sp>
        <p:sp>
          <p:nvSpPr>
            <p:cNvPr id="21" name="正方形/長方形 45">
              <a:extLst>
                <a:ext uri="{FF2B5EF4-FFF2-40B4-BE49-F238E27FC236}">
                  <a16:creationId xmlns:a16="http://schemas.microsoft.com/office/drawing/2014/main" id="{6E740225-826E-9C2C-4619-BB164462D83A}"/>
                </a:ext>
              </a:extLst>
            </p:cNvPr>
            <p:cNvSpPr/>
            <p:nvPr/>
          </p:nvSpPr>
          <p:spPr>
            <a:xfrm>
              <a:off x="4378847" y="4634455"/>
              <a:ext cx="1539450" cy="504000"/>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ja-JP" altLang="en-US" sz="1050" dirty="0">
                  <a:solidFill>
                    <a:schemeClr val="bg1"/>
                  </a:solidFill>
                  <a:latin typeface="+mn-ea"/>
                </a:rPr>
                <a:t>習慣プログラム</a:t>
              </a:r>
              <a:br>
                <a:rPr lang="en-US" altLang="ja-JP" sz="1050" dirty="0">
                  <a:solidFill>
                    <a:schemeClr val="bg1"/>
                  </a:solidFill>
                  <a:latin typeface="+mn-ea"/>
                </a:rPr>
              </a:br>
              <a:r>
                <a:rPr lang="en-US" altLang="ja-JP" sz="1050" dirty="0">
                  <a:solidFill>
                    <a:schemeClr val="bg1"/>
                  </a:solidFill>
                  <a:latin typeface="+mn-ea"/>
                </a:rPr>
                <a:t>90</a:t>
              </a:r>
              <a:r>
                <a:rPr lang="ja-JP" altLang="en-US" sz="1050" dirty="0">
                  <a:solidFill>
                    <a:schemeClr val="bg1"/>
                  </a:solidFill>
                  <a:latin typeface="+mn-ea"/>
                </a:rPr>
                <a:t>日継続率</a:t>
              </a:r>
              <a:endParaRPr lang="en-US" altLang="ja-JP" sz="1050" dirty="0">
                <a:solidFill>
                  <a:schemeClr val="bg1"/>
                </a:solidFill>
                <a:latin typeface="+mn-ea"/>
              </a:endParaRPr>
            </a:p>
          </p:txBody>
        </p:sp>
        <p:sp>
          <p:nvSpPr>
            <p:cNvPr id="22" name="正方形/長方形 45">
              <a:extLst>
                <a:ext uri="{FF2B5EF4-FFF2-40B4-BE49-F238E27FC236}">
                  <a16:creationId xmlns:a16="http://schemas.microsoft.com/office/drawing/2014/main" id="{170868D9-0796-B819-7A6D-6F5212E0408F}"/>
                </a:ext>
              </a:extLst>
            </p:cNvPr>
            <p:cNvSpPr/>
            <p:nvPr/>
          </p:nvSpPr>
          <p:spPr>
            <a:xfrm>
              <a:off x="4378847" y="5186754"/>
              <a:ext cx="1539450" cy="504000"/>
            </a:xfrm>
            <a:prstGeom prst="rect">
              <a:avLst/>
            </a:prstGeom>
            <a:solidFill>
              <a:srgbClr val="008D2E"/>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04000" tIns="36000" rIns="36000" bIns="36000" numCol="1" spcCol="0" rtlCol="0" fromWordArt="0" anchor="ctr" anchorCtr="0" forceAA="0" compatLnSpc="1">
              <a:prstTxWarp prst="textNoShape">
                <a:avLst/>
              </a:prstTxWarp>
              <a:noAutofit/>
            </a:bodyPr>
            <a:lstStyle/>
            <a:p>
              <a:r>
                <a:rPr lang="ja-JP" altLang="en-US" sz="1050" dirty="0">
                  <a:solidFill>
                    <a:schemeClr val="bg1"/>
                  </a:solidFill>
                  <a:latin typeface="+mn-ea"/>
                </a:rPr>
                <a:t>特売依存度</a:t>
              </a:r>
              <a:br>
                <a:rPr lang="en-US" altLang="ja-JP" sz="1050" dirty="0">
                  <a:solidFill>
                    <a:schemeClr val="bg1"/>
                  </a:solidFill>
                  <a:latin typeface="+mn-ea"/>
                </a:rPr>
              </a:br>
              <a:r>
                <a:rPr lang="en-US" altLang="ja-JP" sz="1050" dirty="0">
                  <a:solidFill>
                    <a:schemeClr val="bg1"/>
                  </a:solidFill>
                  <a:latin typeface="+mn-ea"/>
                </a:rPr>
                <a:t>(</a:t>
              </a:r>
              <a:r>
                <a:rPr lang="ja-JP" altLang="en-US" sz="1050" dirty="0">
                  <a:solidFill>
                    <a:schemeClr val="bg1"/>
                  </a:solidFill>
                  <a:latin typeface="+mn-ea"/>
                </a:rPr>
                <a:t>値引き率</a:t>
              </a:r>
              <a:r>
                <a:rPr lang="en-US" altLang="ja-JP" sz="1050" dirty="0">
                  <a:solidFill>
                    <a:schemeClr val="bg1"/>
                  </a:solidFill>
                  <a:latin typeface="+mn-ea"/>
                </a:rPr>
                <a:t>)</a:t>
              </a:r>
            </a:p>
          </p:txBody>
        </p:sp>
        <p:sp>
          <p:nvSpPr>
            <p:cNvPr id="23" name="正方形/長方形 62">
              <a:extLst>
                <a:ext uri="{FF2B5EF4-FFF2-40B4-BE49-F238E27FC236}">
                  <a16:creationId xmlns:a16="http://schemas.microsoft.com/office/drawing/2014/main" id="{141AB981-5328-DC89-9EBC-45CFBC08BFE6}"/>
                </a:ext>
              </a:extLst>
            </p:cNvPr>
            <p:cNvSpPr/>
            <p:nvPr/>
          </p:nvSpPr>
          <p:spPr>
            <a:xfrm>
              <a:off x="4419423" y="4146242"/>
              <a:ext cx="381492" cy="340294"/>
            </a:xfrm>
            <a:prstGeom prst="roundRect">
              <a:avLst>
                <a:gd name="adj" fmla="val 10579"/>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n-ea"/>
                </a:rPr>
                <a:t>K4</a:t>
              </a:r>
              <a:endParaRPr kumimoji="1" lang="en-US" altLang="ja-JP" sz="1200" b="0" i="0" u="none" strike="noStrike" kern="1200" cap="none" spc="0" normalizeH="0" baseline="0" noProof="0" dirty="0">
                <a:ln>
                  <a:noFill/>
                </a:ln>
                <a:solidFill>
                  <a:schemeClr val="accent5"/>
                </a:solidFill>
                <a:effectLst/>
                <a:uLnTx/>
                <a:uFillTx/>
                <a:latin typeface="+mn-ea"/>
              </a:endParaRPr>
            </a:p>
          </p:txBody>
        </p:sp>
        <p:sp>
          <p:nvSpPr>
            <p:cNvPr id="24" name="正方形/長方形 23">
              <a:extLst>
                <a:ext uri="{FF2B5EF4-FFF2-40B4-BE49-F238E27FC236}">
                  <a16:creationId xmlns:a16="http://schemas.microsoft.com/office/drawing/2014/main" id="{703FE62E-337E-F11E-7F08-CAF7530885FB}"/>
                </a:ext>
              </a:extLst>
            </p:cNvPr>
            <p:cNvSpPr/>
            <p:nvPr/>
          </p:nvSpPr>
          <p:spPr>
            <a:xfrm>
              <a:off x="5918296" y="4634454"/>
              <a:ext cx="4840859" cy="504000"/>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spcAft>
                  <a:spcPts val="300"/>
                </a:spcAft>
                <a:defRPr/>
              </a:pPr>
              <a:r>
                <a:rPr lang="ja-JP" altLang="en-US" sz="1000" dirty="0">
                  <a:solidFill>
                    <a:schemeClr val="tx1"/>
                  </a:solidFill>
                  <a:latin typeface="+mn-ea"/>
                </a:rPr>
                <a:t>習慣プログラム開始者のうち、</a:t>
              </a:r>
              <a:r>
                <a:rPr lang="en-US" altLang="ja-JP" sz="1000" dirty="0">
                  <a:solidFill>
                    <a:schemeClr val="tx1"/>
                  </a:solidFill>
                  <a:latin typeface="+mn-ea"/>
                </a:rPr>
                <a:t>90</a:t>
              </a:r>
              <a:r>
                <a:rPr lang="ja-JP" altLang="en-US" sz="1000" dirty="0">
                  <a:solidFill>
                    <a:schemeClr val="tx1"/>
                  </a:solidFill>
                  <a:latin typeface="+mn-ea"/>
                </a:rPr>
                <a:t>日後も記録・利用が続いている人の比率</a:t>
              </a:r>
            </a:p>
            <a:p>
              <a:pPr lvl="0">
                <a:spcAft>
                  <a:spcPts val="300"/>
                </a:spcAft>
                <a:defRPr/>
              </a:pPr>
              <a:r>
                <a:rPr lang="ja-JP" altLang="en-US" sz="1000" dirty="0">
                  <a:solidFill>
                    <a:schemeClr val="accent5"/>
                  </a:solidFill>
                  <a:latin typeface="+mn-ea"/>
                </a:rPr>
                <a:t>自社アプリ </a:t>
              </a:r>
              <a:r>
                <a:rPr lang="en-US" altLang="ja-JP" sz="1000" dirty="0">
                  <a:solidFill>
                    <a:schemeClr val="accent5"/>
                  </a:solidFill>
                  <a:latin typeface="+mn-ea"/>
                </a:rPr>
                <a:t>/ </a:t>
              </a:r>
              <a:r>
                <a:rPr lang="ja-JP" altLang="en-US" sz="1000" dirty="0">
                  <a:solidFill>
                    <a:schemeClr val="accent5"/>
                  </a:solidFill>
                  <a:latin typeface="+mn-ea"/>
                </a:rPr>
                <a:t>月次 </a:t>
              </a:r>
              <a:r>
                <a:rPr lang="en-US" altLang="ja-JP" sz="1000" dirty="0">
                  <a:solidFill>
                    <a:schemeClr val="accent5"/>
                  </a:solidFill>
                  <a:latin typeface="+mn-ea"/>
                </a:rPr>
                <a:t>/ IR : </a:t>
              </a:r>
              <a:r>
                <a:rPr lang="ja-JP" altLang="en-US" sz="1000" dirty="0">
                  <a:solidFill>
                    <a:schemeClr val="accent5"/>
                  </a:solidFill>
                  <a:latin typeface="+mn-ea"/>
                </a:rPr>
                <a:t>高</a:t>
              </a:r>
            </a:p>
          </p:txBody>
        </p:sp>
        <p:sp>
          <p:nvSpPr>
            <p:cNvPr id="26" name="正方形/長方形 25">
              <a:extLst>
                <a:ext uri="{FF2B5EF4-FFF2-40B4-BE49-F238E27FC236}">
                  <a16:creationId xmlns:a16="http://schemas.microsoft.com/office/drawing/2014/main" id="{F290643F-1C09-E67F-9121-1C92EA06C3BF}"/>
                </a:ext>
              </a:extLst>
            </p:cNvPr>
            <p:cNvSpPr/>
            <p:nvPr/>
          </p:nvSpPr>
          <p:spPr>
            <a:xfrm>
              <a:off x="5918296" y="5186754"/>
              <a:ext cx="4840859" cy="504000"/>
            </a:xfrm>
            <a:prstGeom prst="rect">
              <a:avLst/>
            </a:prstGeom>
            <a:noFill/>
            <a:ln w="9525">
              <a:solidFill>
                <a:schemeClr val="accent5"/>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36000" bIns="36000" numCol="1" spcCol="0" rtlCol="0" fromWordArt="0" anchor="ctr" anchorCtr="0" forceAA="0" compatLnSpc="1">
              <a:prstTxWarp prst="textNoShape">
                <a:avLst/>
              </a:prstTxWarp>
              <a:noAutofit/>
            </a:bodyPr>
            <a:lstStyle/>
            <a:p>
              <a:pPr lvl="0">
                <a:defRPr/>
              </a:pPr>
              <a:r>
                <a:rPr lang="ja-JP" altLang="en-US" sz="1000" dirty="0">
                  <a:solidFill>
                    <a:schemeClr val="tx1"/>
                  </a:solidFill>
                  <a:latin typeface="+mn-ea"/>
                </a:rPr>
                <a:t>重点小売</a:t>
              </a:r>
              <a:r>
                <a:rPr lang="en-US" altLang="ja-JP" sz="1000" dirty="0">
                  <a:solidFill>
                    <a:schemeClr val="tx1"/>
                  </a:solidFill>
                  <a:latin typeface="+mn-ea"/>
                </a:rPr>
                <a:t>×</a:t>
              </a:r>
              <a:r>
                <a:rPr lang="ja-JP" altLang="en-US" sz="1000" dirty="0">
                  <a:solidFill>
                    <a:schemeClr val="tx1"/>
                  </a:solidFill>
                  <a:latin typeface="+mn-ea"/>
                </a:rPr>
                <a:t>オーラル売上に占める値引き・特売原資の構成比％。</a:t>
              </a:r>
              <a:br>
                <a:rPr lang="en-US" altLang="ja-JP" sz="1000" dirty="0">
                  <a:solidFill>
                    <a:schemeClr val="tx1"/>
                  </a:solidFill>
                  <a:latin typeface="+mn-ea"/>
                </a:rPr>
              </a:br>
              <a:r>
                <a:rPr lang="ja-JP" altLang="en-US" sz="1000" dirty="0">
                  <a:solidFill>
                    <a:schemeClr val="tx1"/>
                  </a:solidFill>
                  <a:latin typeface="+mn-ea"/>
                </a:rPr>
                <a:t>金額は</a:t>
              </a:r>
              <a:r>
                <a:rPr lang="en-US" altLang="ja-JP" sz="1000" dirty="0">
                  <a:solidFill>
                    <a:schemeClr val="tx1"/>
                  </a:solidFill>
                  <a:latin typeface="+mn-ea"/>
                </a:rPr>
                <a:t>KGI</a:t>
              </a:r>
              <a:r>
                <a:rPr lang="ja-JP" altLang="en-US" sz="1000" dirty="0">
                  <a:solidFill>
                    <a:schemeClr val="tx1"/>
                  </a:solidFill>
                  <a:latin typeface="+mn-ea"/>
                </a:rPr>
                <a:t>側で一回だけ計上</a:t>
              </a:r>
            </a:p>
            <a:p>
              <a:pPr lvl="0">
                <a:defRPr/>
              </a:pPr>
              <a:r>
                <a:rPr lang="zh-TW" altLang="en-US" sz="1000" dirty="0">
                  <a:solidFill>
                    <a:schemeClr val="accent5"/>
                  </a:solidFill>
                  <a:latin typeface="+mn-ea"/>
                </a:rPr>
                <a:t>自社販促費＋小売</a:t>
              </a:r>
              <a:r>
                <a:rPr lang="en-US" altLang="zh-TW" sz="1000" dirty="0">
                  <a:solidFill>
                    <a:schemeClr val="accent5"/>
                  </a:solidFill>
                  <a:latin typeface="+mn-ea"/>
                </a:rPr>
                <a:t>POS</a:t>
              </a:r>
              <a:r>
                <a:rPr lang="zh-TW" altLang="en-US" sz="1000" dirty="0">
                  <a:solidFill>
                    <a:schemeClr val="accent5"/>
                  </a:solidFill>
                  <a:latin typeface="+mn-ea"/>
                </a:rPr>
                <a:t> </a:t>
              </a:r>
              <a:r>
                <a:rPr lang="en-US" altLang="zh-TW" sz="1000" dirty="0">
                  <a:solidFill>
                    <a:schemeClr val="accent5"/>
                  </a:solidFill>
                  <a:latin typeface="+mn-ea"/>
                </a:rPr>
                <a:t>/ </a:t>
              </a:r>
              <a:r>
                <a:rPr lang="zh-TW" altLang="en-US" sz="1000" dirty="0">
                  <a:solidFill>
                    <a:schemeClr val="accent5"/>
                  </a:solidFill>
                  <a:latin typeface="+mn-ea"/>
                </a:rPr>
                <a:t>四半期 </a:t>
              </a:r>
              <a:r>
                <a:rPr lang="en-US" altLang="zh-TW" sz="1000" dirty="0">
                  <a:solidFill>
                    <a:schemeClr val="accent5"/>
                  </a:solidFill>
                  <a:latin typeface="+mn-ea"/>
                </a:rPr>
                <a:t>/ IR : </a:t>
              </a:r>
              <a:r>
                <a:rPr lang="zh-TW" altLang="en-US" sz="1000" dirty="0">
                  <a:solidFill>
                    <a:schemeClr val="accent5"/>
                  </a:solidFill>
                  <a:latin typeface="+mn-ea"/>
                </a:rPr>
                <a:t>中</a:t>
              </a:r>
            </a:p>
          </p:txBody>
        </p:sp>
        <p:sp>
          <p:nvSpPr>
            <p:cNvPr id="28" name="正方形/長方形 62">
              <a:extLst>
                <a:ext uri="{FF2B5EF4-FFF2-40B4-BE49-F238E27FC236}">
                  <a16:creationId xmlns:a16="http://schemas.microsoft.com/office/drawing/2014/main" id="{2B2FF8B0-AD7A-BFA8-5303-5E37AA056431}"/>
                </a:ext>
              </a:extLst>
            </p:cNvPr>
            <p:cNvSpPr/>
            <p:nvPr/>
          </p:nvSpPr>
          <p:spPr>
            <a:xfrm>
              <a:off x="4419423" y="4716307"/>
              <a:ext cx="381492" cy="340294"/>
            </a:xfrm>
            <a:prstGeom prst="roundRect">
              <a:avLst>
                <a:gd name="adj" fmla="val 10579"/>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n-ea"/>
                </a:rPr>
                <a:t>K5</a:t>
              </a:r>
              <a:endParaRPr kumimoji="1" lang="en-US" altLang="ja-JP" sz="1200" b="0" i="0" u="none" strike="noStrike" kern="1200" cap="none" spc="0" normalizeH="0" baseline="0" noProof="0" dirty="0">
                <a:ln>
                  <a:noFill/>
                </a:ln>
                <a:solidFill>
                  <a:schemeClr val="accent5"/>
                </a:solidFill>
                <a:effectLst/>
                <a:uLnTx/>
                <a:uFillTx/>
                <a:latin typeface="+mn-ea"/>
              </a:endParaRPr>
            </a:p>
          </p:txBody>
        </p:sp>
        <p:sp>
          <p:nvSpPr>
            <p:cNvPr id="29" name="正方形/長方形 62">
              <a:extLst>
                <a:ext uri="{FF2B5EF4-FFF2-40B4-BE49-F238E27FC236}">
                  <a16:creationId xmlns:a16="http://schemas.microsoft.com/office/drawing/2014/main" id="{57E1DA9F-2426-A8C1-3055-821405D80FB6}"/>
                </a:ext>
              </a:extLst>
            </p:cNvPr>
            <p:cNvSpPr/>
            <p:nvPr/>
          </p:nvSpPr>
          <p:spPr>
            <a:xfrm>
              <a:off x="4419423" y="5268607"/>
              <a:ext cx="381492" cy="340294"/>
            </a:xfrm>
            <a:prstGeom prst="roundRect">
              <a:avLst>
                <a:gd name="adj" fmla="val 10579"/>
              </a:avLst>
            </a:prstGeom>
            <a:solidFill>
              <a:schemeClr val="bg1"/>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lvl="0" algn="ctr">
                <a:defRPr/>
              </a:pPr>
              <a:r>
                <a:rPr lang="en-US" altLang="ja-JP" sz="1200" dirty="0">
                  <a:solidFill>
                    <a:schemeClr val="accent5"/>
                  </a:solidFill>
                  <a:latin typeface="+mn-ea"/>
                </a:rPr>
                <a:t>K6</a:t>
              </a:r>
              <a:endParaRPr kumimoji="1" lang="en-US" altLang="ja-JP" sz="1200" b="0" i="0" u="none" strike="noStrike" kern="1200" cap="none" spc="0" normalizeH="0" baseline="0" noProof="0" dirty="0">
                <a:ln>
                  <a:noFill/>
                </a:ln>
                <a:solidFill>
                  <a:schemeClr val="accent5"/>
                </a:solidFill>
                <a:effectLst/>
                <a:uLnTx/>
                <a:uFillTx/>
                <a:latin typeface="+mn-ea"/>
              </a:endParaRPr>
            </a:p>
          </p:txBody>
        </p:sp>
        <p:sp>
          <p:nvSpPr>
            <p:cNvPr id="30" name="右中かっこ 29">
              <a:extLst>
                <a:ext uri="{FF2B5EF4-FFF2-40B4-BE49-F238E27FC236}">
                  <a16:creationId xmlns:a16="http://schemas.microsoft.com/office/drawing/2014/main" id="{90DAB45B-0E3E-F33C-6248-A70D35A51DD6}"/>
                </a:ext>
              </a:extLst>
            </p:cNvPr>
            <p:cNvSpPr/>
            <p:nvPr/>
          </p:nvSpPr>
          <p:spPr>
            <a:xfrm>
              <a:off x="10924673" y="2036969"/>
              <a:ext cx="162370" cy="1056297"/>
            </a:xfrm>
            <a:prstGeom prst="rightBrac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32" name="右中かっこ 31">
              <a:extLst>
                <a:ext uri="{FF2B5EF4-FFF2-40B4-BE49-F238E27FC236}">
                  <a16:creationId xmlns:a16="http://schemas.microsoft.com/office/drawing/2014/main" id="{A0096624-DCE8-DA70-B7C4-148C011BEC44}"/>
                </a:ext>
              </a:extLst>
            </p:cNvPr>
            <p:cNvSpPr/>
            <p:nvPr/>
          </p:nvSpPr>
          <p:spPr>
            <a:xfrm>
              <a:off x="10924673" y="3141567"/>
              <a:ext cx="162370" cy="503999"/>
            </a:xfrm>
            <a:prstGeom prst="rightBrac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34" name="右中かっこ 33">
              <a:extLst>
                <a:ext uri="{FF2B5EF4-FFF2-40B4-BE49-F238E27FC236}">
                  <a16:creationId xmlns:a16="http://schemas.microsoft.com/office/drawing/2014/main" id="{98C9BBCF-0002-E0AF-D6BE-C95B220F4E6C}"/>
                </a:ext>
              </a:extLst>
            </p:cNvPr>
            <p:cNvSpPr/>
            <p:nvPr/>
          </p:nvSpPr>
          <p:spPr>
            <a:xfrm>
              <a:off x="10924673" y="4082156"/>
              <a:ext cx="162370" cy="1608598"/>
            </a:xfrm>
            <a:prstGeom prst="rightBrac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41" name="正方形/長方形 40">
              <a:extLst>
                <a:ext uri="{FF2B5EF4-FFF2-40B4-BE49-F238E27FC236}">
                  <a16:creationId xmlns:a16="http://schemas.microsoft.com/office/drawing/2014/main" id="{C802E3AA-E60B-CC4C-F59B-754E1299D6E8}"/>
                </a:ext>
              </a:extLst>
            </p:cNvPr>
            <p:cNvSpPr/>
            <p:nvPr/>
          </p:nvSpPr>
          <p:spPr>
            <a:xfrm>
              <a:off x="11130301" y="2346823"/>
              <a:ext cx="707379" cy="43658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spcAft>
                  <a:spcPts val="600"/>
                </a:spcAft>
              </a:pPr>
              <a:r>
                <a:rPr lang="ja-JP" altLang="en-US" sz="1050" dirty="0">
                  <a:solidFill>
                    <a:schemeClr val="tx1"/>
                  </a:solidFill>
                  <a:latin typeface="+mn-ea"/>
                </a:rPr>
                <a:t>新規</a:t>
              </a:r>
            </a:p>
          </p:txBody>
        </p:sp>
        <p:sp>
          <p:nvSpPr>
            <p:cNvPr id="45" name="正方形/長方形 44">
              <a:extLst>
                <a:ext uri="{FF2B5EF4-FFF2-40B4-BE49-F238E27FC236}">
                  <a16:creationId xmlns:a16="http://schemas.microsoft.com/office/drawing/2014/main" id="{EEF8D3F7-28A3-3FD9-7B8C-D9797978D4DB}"/>
                </a:ext>
              </a:extLst>
            </p:cNvPr>
            <p:cNvSpPr/>
            <p:nvPr/>
          </p:nvSpPr>
          <p:spPr>
            <a:xfrm>
              <a:off x="11130301" y="3175272"/>
              <a:ext cx="707379" cy="43658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spcAft>
                  <a:spcPts val="600"/>
                </a:spcAft>
              </a:pPr>
              <a:r>
                <a:rPr lang="ja-JP" altLang="en-US" sz="1050" dirty="0">
                  <a:solidFill>
                    <a:schemeClr val="tx1"/>
                  </a:solidFill>
                  <a:latin typeface="+mn-ea"/>
                </a:rPr>
                <a:t>両方</a:t>
              </a:r>
            </a:p>
          </p:txBody>
        </p:sp>
        <p:sp>
          <p:nvSpPr>
            <p:cNvPr id="47" name="正方形/長方形 46">
              <a:extLst>
                <a:ext uri="{FF2B5EF4-FFF2-40B4-BE49-F238E27FC236}">
                  <a16:creationId xmlns:a16="http://schemas.microsoft.com/office/drawing/2014/main" id="{10CC8580-9B08-0BB5-E4CB-2EBFD79DF864}"/>
                </a:ext>
              </a:extLst>
            </p:cNvPr>
            <p:cNvSpPr/>
            <p:nvPr/>
          </p:nvSpPr>
          <p:spPr>
            <a:xfrm>
              <a:off x="11130301" y="4668160"/>
              <a:ext cx="707379" cy="436589"/>
            </a:xfrm>
            <a:prstGeom prst="rect">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pPr algn="ctr">
                <a:spcAft>
                  <a:spcPts val="600"/>
                </a:spcAft>
              </a:pPr>
              <a:r>
                <a:rPr lang="ja-JP" altLang="en-US" sz="1050" dirty="0">
                  <a:solidFill>
                    <a:schemeClr val="tx1"/>
                  </a:solidFill>
                  <a:latin typeface="+mn-ea"/>
                </a:rPr>
                <a:t>継続</a:t>
              </a:r>
            </a:p>
          </p:txBody>
        </p:sp>
        <p:cxnSp>
          <p:nvCxnSpPr>
            <p:cNvPr id="48" name="コネクタ: カギ線 47">
              <a:extLst>
                <a:ext uri="{FF2B5EF4-FFF2-40B4-BE49-F238E27FC236}">
                  <a16:creationId xmlns:a16="http://schemas.microsoft.com/office/drawing/2014/main" id="{B7D62C57-D33B-A1B1-F367-60DE2A96868E}"/>
                </a:ext>
              </a:extLst>
            </p:cNvPr>
            <p:cNvCxnSpPr>
              <a:cxnSpLocks/>
              <a:stCxn id="27" idx="3"/>
              <a:endCxn id="46" idx="1"/>
            </p:cNvCxnSpPr>
            <p:nvPr/>
          </p:nvCxnSpPr>
          <p:spPr>
            <a:xfrm flipV="1">
              <a:off x="4031599" y="2288969"/>
              <a:ext cx="347248" cy="552299"/>
            </a:xfrm>
            <a:prstGeom prst="bentConnector3">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コネクタ: カギ線 58">
              <a:extLst>
                <a:ext uri="{FF2B5EF4-FFF2-40B4-BE49-F238E27FC236}">
                  <a16:creationId xmlns:a16="http://schemas.microsoft.com/office/drawing/2014/main" id="{50210AEF-DC1C-0885-FD3F-AC5D69C2CB6D}"/>
                </a:ext>
              </a:extLst>
            </p:cNvPr>
            <p:cNvCxnSpPr>
              <a:cxnSpLocks/>
              <a:stCxn id="27" idx="3"/>
              <a:endCxn id="53" idx="1"/>
            </p:cNvCxnSpPr>
            <p:nvPr/>
          </p:nvCxnSpPr>
          <p:spPr>
            <a:xfrm>
              <a:off x="4031599" y="2841268"/>
              <a:ext cx="347248" cy="552299"/>
            </a:xfrm>
            <a:prstGeom prst="bentConnector3">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09FD8549-199A-F5D5-C018-EFEFDDF90992}"/>
                </a:ext>
              </a:extLst>
            </p:cNvPr>
            <p:cNvCxnSpPr>
              <a:cxnSpLocks/>
              <a:stCxn id="38" idx="3"/>
              <a:endCxn id="19" idx="1"/>
            </p:cNvCxnSpPr>
            <p:nvPr/>
          </p:nvCxnSpPr>
          <p:spPr>
            <a:xfrm flipV="1">
              <a:off x="4031599" y="4334156"/>
              <a:ext cx="347248" cy="552299"/>
            </a:xfrm>
            <a:prstGeom prst="bentConnector3">
              <a:avLst>
                <a:gd name="adj1" fmla="val 50000"/>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510A6237-7CC5-0D77-450C-EDB9C495254C}"/>
                </a:ext>
              </a:extLst>
            </p:cNvPr>
            <p:cNvCxnSpPr>
              <a:cxnSpLocks/>
              <a:stCxn id="38" idx="3"/>
              <a:endCxn id="22" idx="1"/>
            </p:cNvCxnSpPr>
            <p:nvPr/>
          </p:nvCxnSpPr>
          <p:spPr>
            <a:xfrm>
              <a:off x="4031599" y="4886455"/>
              <a:ext cx="347248" cy="552299"/>
            </a:xfrm>
            <a:prstGeom prst="bentConnector3">
              <a:avLst>
                <a:gd name="adj1" fmla="val 50000"/>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コネクタ: カギ線 68">
              <a:extLst>
                <a:ext uri="{FF2B5EF4-FFF2-40B4-BE49-F238E27FC236}">
                  <a16:creationId xmlns:a16="http://schemas.microsoft.com/office/drawing/2014/main" id="{08324EEE-D50B-2E36-99E4-5F540140076F}"/>
                </a:ext>
              </a:extLst>
            </p:cNvPr>
            <p:cNvCxnSpPr>
              <a:cxnSpLocks/>
              <a:stCxn id="11" idx="3"/>
              <a:endCxn id="27" idx="1"/>
            </p:cNvCxnSpPr>
            <p:nvPr/>
          </p:nvCxnSpPr>
          <p:spPr>
            <a:xfrm flipV="1">
              <a:off x="2074462" y="2841268"/>
              <a:ext cx="217638" cy="681317"/>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コネクタ: カギ線 71">
              <a:extLst>
                <a:ext uri="{FF2B5EF4-FFF2-40B4-BE49-F238E27FC236}">
                  <a16:creationId xmlns:a16="http://schemas.microsoft.com/office/drawing/2014/main" id="{85408FC4-AACB-6487-E1F0-F5BF2498E892}"/>
                </a:ext>
              </a:extLst>
            </p:cNvPr>
            <p:cNvCxnSpPr>
              <a:cxnSpLocks/>
              <a:stCxn id="11" idx="3"/>
              <a:endCxn id="38" idx="1"/>
            </p:cNvCxnSpPr>
            <p:nvPr/>
          </p:nvCxnSpPr>
          <p:spPr>
            <a:xfrm>
              <a:off x="2074462" y="3522585"/>
              <a:ext cx="217638" cy="1363870"/>
            </a:xfrm>
            <a:prstGeom prst="bentConnector3">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6" name="正方形/長方形 75">
              <a:extLst>
                <a:ext uri="{FF2B5EF4-FFF2-40B4-BE49-F238E27FC236}">
                  <a16:creationId xmlns:a16="http://schemas.microsoft.com/office/drawing/2014/main" id="{58F6032E-F5C9-CAE7-CB90-4BC315042F2F}"/>
                </a:ext>
              </a:extLst>
            </p:cNvPr>
            <p:cNvSpPr/>
            <p:nvPr/>
          </p:nvSpPr>
          <p:spPr>
            <a:xfrm>
              <a:off x="354319" y="1634154"/>
              <a:ext cx="500288" cy="381809"/>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050" dirty="0">
                  <a:solidFill>
                    <a:schemeClr val="tx1"/>
                  </a:solidFill>
                  <a:latin typeface="+mn-ea"/>
                </a:rPr>
                <a:t>実線</a:t>
              </a:r>
              <a:endParaRPr lang="en-US" altLang="ja-JP" sz="1050" dirty="0">
                <a:solidFill>
                  <a:schemeClr val="tx1"/>
                </a:solidFill>
                <a:latin typeface="+mn-ea"/>
              </a:endParaRPr>
            </a:p>
          </p:txBody>
        </p:sp>
        <p:sp>
          <p:nvSpPr>
            <p:cNvPr id="78" name="正方形/長方形 77">
              <a:extLst>
                <a:ext uri="{FF2B5EF4-FFF2-40B4-BE49-F238E27FC236}">
                  <a16:creationId xmlns:a16="http://schemas.microsoft.com/office/drawing/2014/main" id="{F8B93D2A-A191-78FF-9E44-124C218F6AD7}"/>
                </a:ext>
              </a:extLst>
            </p:cNvPr>
            <p:cNvSpPr/>
            <p:nvPr/>
          </p:nvSpPr>
          <p:spPr>
            <a:xfrm>
              <a:off x="854607" y="1634154"/>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tx1"/>
                  </a:solidFill>
                  <a:latin typeface="+mn-ea"/>
                </a:rPr>
                <a:t>金額を合算する線</a:t>
              </a:r>
              <a:br>
                <a:rPr lang="en-US" altLang="ja-JP" sz="1000" dirty="0">
                  <a:solidFill>
                    <a:schemeClr val="tx1"/>
                  </a:solidFill>
                  <a:latin typeface="+mn-ea"/>
                </a:rPr>
              </a:br>
              <a:r>
                <a:rPr lang="en-US" altLang="ja-JP" sz="1000" dirty="0">
                  <a:solidFill>
                    <a:schemeClr val="tx1"/>
                  </a:solidFill>
                  <a:latin typeface="+mn-ea"/>
                </a:rPr>
                <a:t>(</a:t>
              </a:r>
              <a:r>
                <a:rPr lang="ja-JP" altLang="en-US" sz="1000" dirty="0">
                  <a:solidFill>
                    <a:schemeClr val="tx1"/>
                  </a:solidFill>
                  <a:latin typeface="+mn-ea"/>
                </a:rPr>
                <a:t>この</a:t>
              </a:r>
              <a:r>
                <a:rPr lang="en-US" altLang="ja-JP" sz="1000" dirty="0">
                  <a:solidFill>
                    <a:schemeClr val="tx1"/>
                  </a:solidFill>
                  <a:latin typeface="+mn-ea"/>
                </a:rPr>
                <a:t>2</a:t>
              </a:r>
              <a:r>
                <a:rPr lang="ja-JP" altLang="en-US" sz="1000" dirty="0">
                  <a:solidFill>
                    <a:schemeClr val="tx1"/>
                  </a:solidFill>
                  <a:latin typeface="+mn-ea"/>
                </a:rPr>
                <a:t>本だけ</a:t>
              </a:r>
              <a:r>
                <a:rPr lang="en-US" altLang="ja-JP" sz="1000" dirty="0">
                  <a:solidFill>
                    <a:schemeClr val="tx1"/>
                  </a:solidFill>
                  <a:latin typeface="+mn-ea"/>
                </a:rPr>
                <a:t>)</a:t>
              </a:r>
              <a:endParaRPr lang="ja-JP" altLang="en-US" sz="1000" dirty="0">
                <a:solidFill>
                  <a:schemeClr val="tx1"/>
                </a:solidFill>
                <a:latin typeface="+mn-ea"/>
              </a:endParaRPr>
            </a:p>
          </p:txBody>
        </p:sp>
        <p:sp>
          <p:nvSpPr>
            <p:cNvPr id="79" name="正方形/長方形 78">
              <a:extLst>
                <a:ext uri="{FF2B5EF4-FFF2-40B4-BE49-F238E27FC236}">
                  <a16:creationId xmlns:a16="http://schemas.microsoft.com/office/drawing/2014/main" id="{D8C0D617-858D-F6BB-B698-F1759B94517F}"/>
                </a:ext>
              </a:extLst>
            </p:cNvPr>
            <p:cNvSpPr/>
            <p:nvPr/>
          </p:nvSpPr>
          <p:spPr>
            <a:xfrm>
              <a:off x="354318" y="2085544"/>
              <a:ext cx="500288" cy="381809"/>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lgn="ctr">
                <a:defRPr/>
              </a:pPr>
              <a:r>
                <a:rPr lang="ja-JP" altLang="en-US" sz="1050" dirty="0">
                  <a:solidFill>
                    <a:schemeClr val="tx1"/>
                  </a:solidFill>
                  <a:latin typeface="+mn-ea"/>
                </a:rPr>
                <a:t>破線</a:t>
              </a:r>
              <a:endParaRPr lang="en-US" altLang="ja-JP" sz="1050" dirty="0">
                <a:solidFill>
                  <a:schemeClr val="tx1"/>
                </a:solidFill>
                <a:latin typeface="+mn-ea"/>
              </a:endParaRPr>
            </a:p>
          </p:txBody>
        </p:sp>
        <p:sp>
          <p:nvSpPr>
            <p:cNvPr id="80" name="正方形/長方形 79">
              <a:extLst>
                <a:ext uri="{FF2B5EF4-FFF2-40B4-BE49-F238E27FC236}">
                  <a16:creationId xmlns:a16="http://schemas.microsoft.com/office/drawing/2014/main" id="{9B120080-3BE1-FC2C-959F-FC9D7CBFD152}"/>
                </a:ext>
              </a:extLst>
            </p:cNvPr>
            <p:cNvSpPr/>
            <p:nvPr/>
          </p:nvSpPr>
          <p:spPr>
            <a:xfrm>
              <a:off x="835251" y="2085544"/>
              <a:ext cx="1463713" cy="381809"/>
            </a:xfrm>
            <a:prstGeom prst="rect">
              <a:avLst/>
            </a:prstGeom>
            <a:noFill/>
            <a:ln w="9525">
              <a:no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buClr>
                  <a:schemeClr val="accent5"/>
                </a:buClr>
                <a:defRPr/>
              </a:pPr>
              <a:r>
                <a:rPr lang="ja-JP" altLang="en-US" sz="1000" dirty="0">
                  <a:solidFill>
                    <a:schemeClr val="tx1"/>
                  </a:solidFill>
                  <a:latin typeface="+mn-ea"/>
                </a:rPr>
                <a:t>先行指標の対応</a:t>
              </a:r>
              <a:br>
                <a:rPr lang="en-US" altLang="ja-JP" sz="1000" dirty="0">
                  <a:solidFill>
                    <a:schemeClr val="tx1"/>
                  </a:solidFill>
                  <a:latin typeface="+mn-ea"/>
                </a:rPr>
              </a:br>
              <a:r>
                <a:rPr lang="en-US" altLang="ja-JP" sz="1000" dirty="0">
                  <a:solidFill>
                    <a:schemeClr val="tx1"/>
                  </a:solidFill>
                  <a:latin typeface="+mn-ea"/>
                </a:rPr>
                <a:t>(</a:t>
              </a:r>
              <a:r>
                <a:rPr lang="ja-JP" altLang="en-US" sz="1000" dirty="0">
                  <a:solidFill>
                    <a:schemeClr val="tx1"/>
                  </a:solidFill>
                  <a:latin typeface="+mn-ea"/>
                </a:rPr>
                <a:t>金額は流れない</a:t>
              </a:r>
              <a:r>
                <a:rPr lang="en-US" altLang="ja-JP" sz="1000" dirty="0">
                  <a:solidFill>
                    <a:schemeClr val="tx1"/>
                  </a:solidFill>
                  <a:latin typeface="+mn-ea"/>
                </a:rPr>
                <a:t>)</a:t>
              </a:r>
              <a:endParaRPr lang="ja-JP" altLang="en-US" sz="1000" dirty="0">
                <a:solidFill>
                  <a:schemeClr val="tx1"/>
                </a:solidFill>
                <a:latin typeface="+mn-ea"/>
              </a:endParaRPr>
            </a:p>
          </p:txBody>
        </p:sp>
        <p:cxnSp>
          <p:nvCxnSpPr>
            <p:cNvPr id="81" name="コネクタ: カギ線 80">
              <a:extLst>
                <a:ext uri="{FF2B5EF4-FFF2-40B4-BE49-F238E27FC236}">
                  <a16:creationId xmlns:a16="http://schemas.microsoft.com/office/drawing/2014/main" id="{B2B31E21-5148-0591-DFF7-EC292602C15A}"/>
                </a:ext>
              </a:extLst>
            </p:cNvPr>
            <p:cNvCxnSpPr>
              <a:cxnSpLocks/>
              <a:stCxn id="27" idx="3"/>
              <a:endCxn id="52" idx="1"/>
            </p:cNvCxnSpPr>
            <p:nvPr/>
          </p:nvCxnSpPr>
          <p:spPr>
            <a:xfrm>
              <a:off x="4031599" y="2841268"/>
              <a:ext cx="347248" cy="0"/>
            </a:xfrm>
            <a:prstGeom prst="straightConnector1">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コネクタ: カギ線 80">
              <a:extLst>
                <a:ext uri="{FF2B5EF4-FFF2-40B4-BE49-F238E27FC236}">
                  <a16:creationId xmlns:a16="http://schemas.microsoft.com/office/drawing/2014/main" id="{8E455AF6-A0D6-AE34-A779-B3B08FAC9FBC}"/>
                </a:ext>
              </a:extLst>
            </p:cNvPr>
            <p:cNvCxnSpPr>
              <a:cxnSpLocks/>
              <a:stCxn id="38" idx="3"/>
              <a:endCxn id="21" idx="1"/>
            </p:cNvCxnSpPr>
            <p:nvPr/>
          </p:nvCxnSpPr>
          <p:spPr>
            <a:xfrm>
              <a:off x="4031599" y="4886455"/>
              <a:ext cx="347248" cy="0"/>
            </a:xfrm>
            <a:prstGeom prst="straightConnector1">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 name="コネクタ: カギ線 2">
              <a:extLst>
                <a:ext uri="{FF2B5EF4-FFF2-40B4-BE49-F238E27FC236}">
                  <a16:creationId xmlns:a16="http://schemas.microsoft.com/office/drawing/2014/main" id="{43A34051-31B3-CDEE-5264-56AF1802A8A5}"/>
                </a:ext>
              </a:extLst>
            </p:cNvPr>
            <p:cNvCxnSpPr>
              <a:cxnSpLocks/>
            </p:cNvCxnSpPr>
            <p:nvPr/>
          </p:nvCxnSpPr>
          <p:spPr>
            <a:xfrm rot="5400000" flipH="1" flipV="1">
              <a:off x="3895046" y="3810427"/>
              <a:ext cx="786360" cy="166002"/>
            </a:xfrm>
            <a:prstGeom prst="bentConnector3">
              <a:avLst>
                <a:gd name="adj1" fmla="val 100066"/>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579873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D31C4-AD8F-5F56-5050-CBFA32F273D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6D62D29-F25C-9CD0-8CD3-8D0F1B0FDA2F}"/>
              </a:ext>
            </a:extLst>
          </p:cNvPr>
          <p:cNvSpPr>
            <a:spLocks noGrp="1"/>
          </p:cNvSpPr>
          <p:nvPr>
            <p:ph type="title"/>
          </p:nvPr>
        </p:nvSpPr>
        <p:spPr>
          <a:xfrm>
            <a:off x="334963" y="1"/>
            <a:ext cx="11522075" cy="914400"/>
          </a:xfrm>
        </p:spPr>
        <p:txBody>
          <a:bodyPr/>
          <a:lstStyle/>
          <a:p>
            <a:r>
              <a:rPr lang="ja-JP" altLang="en-US" dirty="0">
                <a:latin typeface="メイリオ" panose="020B0604030504040204" pitchFamily="50" charset="-128"/>
                <a:ea typeface="メイリオ" panose="020B0604030504040204" pitchFamily="50" charset="-128"/>
              </a:rPr>
              <a:t>マイルストーン </a:t>
            </a:r>
            <a:r>
              <a:rPr lang="en-US" altLang="ja-JP" dirty="0">
                <a:latin typeface="メイリオ" panose="020B0604030504040204" pitchFamily="50" charset="-128"/>
                <a:ea typeface="メイリオ" panose="020B0604030504040204" pitchFamily="50" charset="-128"/>
              </a:rPr>
              <a:t>(FY26–FY30)</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a16:creationId xmlns:a16="http://schemas.microsoft.com/office/drawing/2014/main" id="{E90ACD8C-0CF4-A5E3-A512-6035CCC0E571}"/>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1800" dirty="0">
                <a:latin typeface="+mn-ea"/>
                <a:ea typeface="+mn-ea"/>
              </a:rPr>
              <a:t>FY30</a:t>
            </a:r>
            <a:r>
              <a:rPr lang="ja-JP" altLang="en-US" sz="1800" dirty="0">
                <a:latin typeface="+mn-ea"/>
                <a:ea typeface="+mn-ea"/>
              </a:rPr>
              <a:t> </a:t>
            </a:r>
            <a:r>
              <a:rPr lang="en-US" altLang="ja-JP" sz="1800" dirty="0">
                <a:latin typeface="+mn-ea"/>
                <a:ea typeface="+mn-ea"/>
              </a:rPr>
              <a:t>(3rd Stage</a:t>
            </a:r>
            <a:r>
              <a:rPr lang="ja-JP" altLang="en-US" sz="1800" dirty="0">
                <a:latin typeface="+mn-ea"/>
                <a:ea typeface="+mn-ea"/>
              </a:rPr>
              <a:t>完了・統合報告書での</a:t>
            </a:r>
            <a:r>
              <a:rPr lang="en-US" altLang="ja-JP" sz="1800" dirty="0">
                <a:latin typeface="+mn-ea"/>
                <a:ea typeface="+mn-ea"/>
              </a:rPr>
              <a:t>KPI</a:t>
            </a:r>
            <a:r>
              <a:rPr lang="ja-JP" altLang="en-US" sz="1800" dirty="0">
                <a:latin typeface="+mn-ea"/>
                <a:ea typeface="+mn-ea"/>
              </a:rPr>
              <a:t>開示</a:t>
            </a:r>
            <a:r>
              <a:rPr lang="en-US" altLang="ja-JP" sz="1800" dirty="0">
                <a:latin typeface="+mn-ea"/>
                <a:ea typeface="+mn-ea"/>
              </a:rPr>
              <a:t>) </a:t>
            </a:r>
            <a:r>
              <a:rPr lang="ja-JP" altLang="en-US" sz="1800" dirty="0">
                <a:latin typeface="+mn-ea"/>
                <a:ea typeface="+mn-ea"/>
              </a:rPr>
              <a:t>に向けた段階実装。確認ゲートに合格したときだけ投資と組織変更を</a:t>
            </a:r>
            <a:br>
              <a:rPr lang="en-US" altLang="ja-JP" sz="1800" dirty="0">
                <a:latin typeface="+mn-ea"/>
                <a:ea typeface="+mn-ea"/>
              </a:rPr>
            </a:br>
            <a:r>
              <a:rPr lang="ja-JP" altLang="en-US" sz="1800" dirty="0">
                <a:latin typeface="+mn-ea"/>
                <a:ea typeface="+mn-ea"/>
              </a:rPr>
              <a:t>拡大する</a:t>
            </a:r>
          </a:p>
        </p:txBody>
      </p:sp>
      <p:grpSp>
        <p:nvGrpSpPr>
          <p:cNvPr id="9" name="グループ化 8">
            <a:extLst>
              <a:ext uri="{FF2B5EF4-FFF2-40B4-BE49-F238E27FC236}">
                <a16:creationId xmlns:a16="http://schemas.microsoft.com/office/drawing/2014/main" id="{E07892E0-F1AB-901D-712C-09C42C3E0934}"/>
              </a:ext>
            </a:extLst>
          </p:cNvPr>
          <p:cNvGrpSpPr/>
          <p:nvPr/>
        </p:nvGrpSpPr>
        <p:grpSpPr>
          <a:xfrm>
            <a:off x="348854" y="1633399"/>
            <a:ext cx="11508184" cy="4675324"/>
            <a:chOff x="348854" y="1633399"/>
            <a:chExt cx="11508184" cy="4675324"/>
          </a:xfrm>
        </p:grpSpPr>
        <p:sp>
          <p:nvSpPr>
            <p:cNvPr id="83" name="正方形/長方形 7">
              <a:extLst>
                <a:ext uri="{FF2B5EF4-FFF2-40B4-BE49-F238E27FC236}">
                  <a16:creationId xmlns:a16="http://schemas.microsoft.com/office/drawing/2014/main" id="{3F62044F-8E1E-D94E-9168-A61DC4798749}"/>
                </a:ext>
              </a:extLst>
            </p:cNvPr>
            <p:cNvSpPr/>
            <p:nvPr/>
          </p:nvSpPr>
          <p:spPr>
            <a:xfrm>
              <a:off x="2899609" y="1633400"/>
              <a:ext cx="1800000" cy="333703"/>
            </a:xfrm>
            <a:prstGeom prst="homePlate">
              <a:avLst>
                <a:gd name="adj" fmla="val 28868"/>
              </a:avLst>
            </a:prstGeom>
            <a:solidFill>
              <a:srgbClr val="008D2E">
                <a:alpha val="6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FY26</a:t>
              </a:r>
              <a:r>
                <a:rPr lang="ja-JP" altLang="en-US" sz="1400" dirty="0">
                  <a:solidFill>
                    <a:schemeClr val="bg1"/>
                  </a:solidFill>
                  <a:latin typeface="+mn-ea"/>
                </a:rPr>
                <a:t>下期</a:t>
              </a:r>
            </a:p>
          </p:txBody>
        </p:sp>
        <p:sp>
          <p:nvSpPr>
            <p:cNvPr id="84" name="正方形/長方形 7">
              <a:extLst>
                <a:ext uri="{FF2B5EF4-FFF2-40B4-BE49-F238E27FC236}">
                  <a16:creationId xmlns:a16="http://schemas.microsoft.com/office/drawing/2014/main" id="{8BB0B9EF-4907-F013-964D-CE89BD76EB31}"/>
                </a:ext>
              </a:extLst>
            </p:cNvPr>
            <p:cNvSpPr/>
            <p:nvPr/>
          </p:nvSpPr>
          <p:spPr>
            <a:xfrm>
              <a:off x="10057038" y="1633399"/>
              <a:ext cx="1800000" cy="333703"/>
            </a:xfrm>
            <a:prstGeom prst="chevron">
              <a:avLst>
                <a:gd name="adj" fmla="val 28868"/>
              </a:avLst>
            </a:prstGeom>
            <a:solidFill>
              <a:schemeClr val="accent5"/>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FY30</a:t>
              </a:r>
            </a:p>
          </p:txBody>
        </p:sp>
        <p:sp>
          <p:nvSpPr>
            <p:cNvPr id="6" name="正方形/長方形 5">
              <a:extLst>
                <a:ext uri="{FF2B5EF4-FFF2-40B4-BE49-F238E27FC236}">
                  <a16:creationId xmlns:a16="http://schemas.microsoft.com/office/drawing/2014/main" id="{668EE5ED-4868-94C6-A4E8-8FFDE28AD206}"/>
                </a:ext>
              </a:extLst>
            </p:cNvPr>
            <p:cNvSpPr/>
            <p:nvPr/>
          </p:nvSpPr>
          <p:spPr>
            <a:xfrm>
              <a:off x="348854" y="2027261"/>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A1★ </a:t>
              </a:r>
              <a:r>
                <a:rPr lang="ja-JP" altLang="en-US" sz="1200" dirty="0">
                  <a:solidFill>
                    <a:schemeClr val="tx1"/>
                  </a:solidFill>
                  <a:latin typeface="+mn-ea"/>
                </a:rPr>
                <a:t>商品データを</a:t>
              </a:r>
              <a:r>
                <a:rPr lang="en-US" altLang="ja-JP" sz="1200" dirty="0">
                  <a:solidFill>
                    <a:schemeClr val="tx1"/>
                  </a:solidFill>
                  <a:latin typeface="+mn-ea"/>
                </a:rPr>
                <a:t>AI</a:t>
              </a:r>
              <a:r>
                <a:rPr lang="ja-JP" altLang="en-US" sz="1200" dirty="0">
                  <a:solidFill>
                    <a:schemeClr val="tx1"/>
                  </a:solidFill>
                  <a:latin typeface="+mn-ea"/>
                </a:rPr>
                <a:t>・小売へ提供</a:t>
              </a:r>
            </a:p>
          </p:txBody>
        </p:sp>
        <p:sp>
          <p:nvSpPr>
            <p:cNvPr id="90" name="正方形/長方形 5">
              <a:extLst>
                <a:ext uri="{FF2B5EF4-FFF2-40B4-BE49-F238E27FC236}">
                  <a16:creationId xmlns:a16="http://schemas.microsoft.com/office/drawing/2014/main" id="{668EE5ED-4868-94C6-A4E8-8FFDE28AD206}"/>
                </a:ext>
              </a:extLst>
            </p:cNvPr>
            <p:cNvSpPr/>
            <p:nvPr/>
          </p:nvSpPr>
          <p:spPr>
            <a:xfrm>
              <a:off x="348854" y="2511445"/>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A2 </a:t>
              </a:r>
              <a:r>
                <a:rPr lang="ja-JP" altLang="en-US" sz="1200" dirty="0">
                  <a:solidFill>
                    <a:schemeClr val="tx1"/>
                  </a:solidFill>
                  <a:latin typeface="+mn-ea"/>
                </a:rPr>
                <a:t>学校・健診のデジタル接点化</a:t>
              </a:r>
            </a:p>
          </p:txBody>
        </p:sp>
        <p:sp>
          <p:nvSpPr>
            <p:cNvPr id="91" name="正方形/長方形 5">
              <a:extLst>
                <a:ext uri="{FF2B5EF4-FFF2-40B4-BE49-F238E27FC236}">
                  <a16:creationId xmlns:a16="http://schemas.microsoft.com/office/drawing/2014/main" id="{668EE5ED-4868-94C6-A4E8-8FFDE28AD206}"/>
                </a:ext>
              </a:extLst>
            </p:cNvPr>
            <p:cNvSpPr/>
            <p:nvPr/>
          </p:nvSpPr>
          <p:spPr>
            <a:xfrm>
              <a:off x="348854" y="2995629"/>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B1★ </a:t>
              </a:r>
              <a:r>
                <a:rPr lang="ja-JP" altLang="en-US" sz="1200" dirty="0">
                  <a:solidFill>
                    <a:schemeClr val="tx1"/>
                  </a:solidFill>
                  <a:latin typeface="+mn-ea"/>
                </a:rPr>
                <a:t>投資効果を金額で測定</a:t>
              </a:r>
            </a:p>
          </p:txBody>
        </p:sp>
        <p:sp>
          <p:nvSpPr>
            <p:cNvPr id="92" name="正方形/長方形 5">
              <a:extLst>
                <a:ext uri="{FF2B5EF4-FFF2-40B4-BE49-F238E27FC236}">
                  <a16:creationId xmlns:a16="http://schemas.microsoft.com/office/drawing/2014/main" id="{668EE5ED-4868-94C6-A4E8-8FFDE28AD206}"/>
                </a:ext>
              </a:extLst>
            </p:cNvPr>
            <p:cNvSpPr/>
            <p:nvPr/>
          </p:nvSpPr>
          <p:spPr>
            <a:xfrm>
              <a:off x="348854" y="3479813"/>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B2 </a:t>
              </a:r>
              <a:r>
                <a:rPr lang="ja-JP" altLang="en-US" sz="1200" dirty="0">
                  <a:solidFill>
                    <a:schemeClr val="tx1"/>
                  </a:solidFill>
                  <a:latin typeface="+mn-ea"/>
                </a:rPr>
                <a:t>小売広告の自社運用化</a:t>
              </a:r>
            </a:p>
          </p:txBody>
        </p:sp>
        <p:sp>
          <p:nvSpPr>
            <p:cNvPr id="93" name="正方形/長方形 5">
              <a:extLst>
                <a:ext uri="{FF2B5EF4-FFF2-40B4-BE49-F238E27FC236}">
                  <a16:creationId xmlns:a16="http://schemas.microsoft.com/office/drawing/2014/main" id="{668EE5ED-4868-94C6-A4E8-8FFDE28AD206}"/>
                </a:ext>
              </a:extLst>
            </p:cNvPr>
            <p:cNvSpPr/>
            <p:nvPr/>
          </p:nvSpPr>
          <p:spPr>
            <a:xfrm>
              <a:off x="348854" y="3963997"/>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C1★ </a:t>
              </a:r>
              <a:r>
                <a:rPr lang="ja-JP" altLang="en-US" sz="1200" dirty="0">
                  <a:solidFill>
                    <a:schemeClr val="tx1"/>
                  </a:solidFill>
                  <a:latin typeface="+mn-ea"/>
                </a:rPr>
                <a:t>臨床データを商談の数字に</a:t>
              </a:r>
            </a:p>
          </p:txBody>
        </p:sp>
        <p:sp>
          <p:nvSpPr>
            <p:cNvPr id="94" name="正方形/長方形 5">
              <a:extLst>
                <a:ext uri="{FF2B5EF4-FFF2-40B4-BE49-F238E27FC236}">
                  <a16:creationId xmlns:a16="http://schemas.microsoft.com/office/drawing/2014/main" id="{668EE5ED-4868-94C6-A4E8-8FFDE28AD206}"/>
                </a:ext>
              </a:extLst>
            </p:cNvPr>
            <p:cNvSpPr/>
            <p:nvPr/>
          </p:nvSpPr>
          <p:spPr>
            <a:xfrm>
              <a:off x="348854" y="4448181"/>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C2 </a:t>
              </a:r>
              <a:r>
                <a:rPr lang="ja-JP" altLang="en-US" sz="1200" dirty="0">
                  <a:solidFill>
                    <a:schemeClr val="tx1"/>
                  </a:solidFill>
                  <a:latin typeface="+mn-ea"/>
                </a:rPr>
                <a:t>成功商談の標準形づくり</a:t>
              </a:r>
            </a:p>
          </p:txBody>
        </p:sp>
        <p:sp>
          <p:nvSpPr>
            <p:cNvPr id="95" name="正方形/長方形 5">
              <a:extLst>
                <a:ext uri="{FF2B5EF4-FFF2-40B4-BE49-F238E27FC236}">
                  <a16:creationId xmlns:a16="http://schemas.microsoft.com/office/drawing/2014/main" id="{668EE5ED-4868-94C6-A4E8-8FFDE28AD206}"/>
                </a:ext>
              </a:extLst>
            </p:cNvPr>
            <p:cNvSpPr/>
            <p:nvPr/>
          </p:nvSpPr>
          <p:spPr>
            <a:xfrm>
              <a:off x="360886" y="4932365"/>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D1★ </a:t>
              </a:r>
              <a:r>
                <a:rPr lang="ja-JP" altLang="en-US" sz="1200" dirty="0">
                  <a:solidFill>
                    <a:schemeClr val="tx1"/>
                  </a:solidFill>
                  <a:latin typeface="+mn-ea"/>
                </a:rPr>
                <a:t>資料作成の</a:t>
              </a:r>
              <a:r>
                <a:rPr lang="en-US" altLang="ja-JP" sz="1200" dirty="0">
                  <a:solidFill>
                    <a:schemeClr val="tx1"/>
                  </a:solidFill>
                  <a:latin typeface="+mn-ea"/>
                </a:rPr>
                <a:t>AI</a:t>
              </a:r>
              <a:r>
                <a:rPr lang="ja-JP" altLang="en-US" sz="1200" dirty="0">
                  <a:solidFill>
                    <a:schemeClr val="tx1"/>
                  </a:solidFill>
                  <a:latin typeface="+mn-ea"/>
                </a:rPr>
                <a:t>自動化</a:t>
              </a:r>
            </a:p>
          </p:txBody>
        </p:sp>
        <p:sp>
          <p:nvSpPr>
            <p:cNvPr id="96" name="正方形/長方形 5">
              <a:extLst>
                <a:ext uri="{FF2B5EF4-FFF2-40B4-BE49-F238E27FC236}">
                  <a16:creationId xmlns:a16="http://schemas.microsoft.com/office/drawing/2014/main" id="{668EE5ED-4868-94C6-A4E8-8FFDE28AD206}"/>
                </a:ext>
              </a:extLst>
            </p:cNvPr>
            <p:cNvSpPr/>
            <p:nvPr/>
          </p:nvSpPr>
          <p:spPr>
            <a:xfrm>
              <a:off x="348854" y="5416549"/>
              <a:ext cx="2502629" cy="407984"/>
            </a:xfrm>
            <a:prstGeom prst="rect">
              <a:avLst/>
            </a:prstGeom>
            <a:solidFill>
              <a:schemeClr val="accent3">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en-US" altLang="ja-JP" sz="1200" dirty="0">
                  <a:solidFill>
                    <a:schemeClr val="tx1"/>
                  </a:solidFill>
                  <a:latin typeface="+mn-ea"/>
                </a:rPr>
                <a:t>D2 </a:t>
              </a:r>
              <a:r>
                <a:rPr lang="ja-JP" altLang="en-US" sz="1200" dirty="0">
                  <a:solidFill>
                    <a:schemeClr val="tx1"/>
                  </a:solidFill>
                  <a:latin typeface="+mn-ea"/>
                </a:rPr>
                <a:t>チーム対チーム営業へ再編</a:t>
              </a:r>
            </a:p>
          </p:txBody>
        </p:sp>
        <p:sp>
          <p:nvSpPr>
            <p:cNvPr id="97" name="正方形/長方形 5">
              <a:extLst>
                <a:ext uri="{FF2B5EF4-FFF2-40B4-BE49-F238E27FC236}">
                  <a16:creationId xmlns:a16="http://schemas.microsoft.com/office/drawing/2014/main" id="{668EE5ED-4868-94C6-A4E8-8FFDE28AD206}"/>
                </a:ext>
              </a:extLst>
            </p:cNvPr>
            <p:cNvSpPr/>
            <p:nvPr/>
          </p:nvSpPr>
          <p:spPr>
            <a:xfrm>
              <a:off x="348854" y="5900733"/>
              <a:ext cx="2502629" cy="407984"/>
            </a:xfrm>
            <a:prstGeom prst="rect">
              <a:avLst/>
            </a:prstGeom>
            <a:solidFill>
              <a:schemeClr val="accent6">
                <a:lumMod val="20000"/>
                <a:lumOff val="80000"/>
              </a:scheme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200" dirty="0">
                  <a:solidFill>
                    <a:schemeClr val="tx1"/>
                  </a:solidFill>
                  <a:latin typeface="+mn-ea"/>
                </a:rPr>
                <a:t>確認</a:t>
              </a:r>
            </a:p>
          </p:txBody>
        </p:sp>
        <p:sp>
          <p:nvSpPr>
            <p:cNvPr id="3" name="正方形/長方形 7">
              <a:extLst>
                <a:ext uri="{FF2B5EF4-FFF2-40B4-BE49-F238E27FC236}">
                  <a16:creationId xmlns:a16="http://schemas.microsoft.com/office/drawing/2014/main" id="{D67CFBC4-0BCC-3121-679A-19A7FFFC79E6}"/>
                </a:ext>
              </a:extLst>
            </p:cNvPr>
            <p:cNvSpPr/>
            <p:nvPr/>
          </p:nvSpPr>
          <p:spPr>
            <a:xfrm>
              <a:off x="4688966" y="1633399"/>
              <a:ext cx="1800000" cy="333703"/>
            </a:xfrm>
            <a:prstGeom prst="chevron">
              <a:avLst>
                <a:gd name="adj" fmla="val 28868"/>
              </a:avLst>
            </a:prstGeom>
            <a:solidFill>
              <a:srgbClr val="008D2E">
                <a:alpha val="69804"/>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FY27</a:t>
              </a:r>
            </a:p>
          </p:txBody>
        </p:sp>
        <p:sp>
          <p:nvSpPr>
            <p:cNvPr id="4" name="正方形/長方形 7">
              <a:extLst>
                <a:ext uri="{FF2B5EF4-FFF2-40B4-BE49-F238E27FC236}">
                  <a16:creationId xmlns:a16="http://schemas.microsoft.com/office/drawing/2014/main" id="{82027C6A-5F96-B79B-401C-179F2B5C17E4}"/>
                </a:ext>
              </a:extLst>
            </p:cNvPr>
            <p:cNvSpPr/>
            <p:nvPr/>
          </p:nvSpPr>
          <p:spPr>
            <a:xfrm>
              <a:off x="6478322" y="1633399"/>
              <a:ext cx="1800000" cy="333703"/>
            </a:xfrm>
            <a:prstGeom prst="chevron">
              <a:avLst>
                <a:gd name="adj" fmla="val 28868"/>
              </a:avLst>
            </a:prstGeom>
            <a:solidFill>
              <a:srgbClr val="008D2E">
                <a:alpha val="8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FY28</a:t>
              </a:r>
            </a:p>
          </p:txBody>
        </p:sp>
        <p:sp>
          <p:nvSpPr>
            <p:cNvPr id="5" name="正方形/長方形 7">
              <a:extLst>
                <a:ext uri="{FF2B5EF4-FFF2-40B4-BE49-F238E27FC236}">
                  <a16:creationId xmlns:a16="http://schemas.microsoft.com/office/drawing/2014/main" id="{BDE6167D-8AA3-C9B0-709A-B43260C8C199}"/>
                </a:ext>
              </a:extLst>
            </p:cNvPr>
            <p:cNvSpPr/>
            <p:nvPr/>
          </p:nvSpPr>
          <p:spPr>
            <a:xfrm>
              <a:off x="8267679" y="1633399"/>
              <a:ext cx="1800000" cy="333703"/>
            </a:xfrm>
            <a:prstGeom prst="chevron">
              <a:avLst>
                <a:gd name="adj" fmla="val 28868"/>
              </a:avLst>
            </a:prstGeom>
            <a:solidFill>
              <a:srgbClr val="008D2E">
                <a:alpha val="89804"/>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1400" dirty="0">
                  <a:solidFill>
                    <a:schemeClr val="bg1"/>
                  </a:solidFill>
                  <a:latin typeface="+mn-ea"/>
                </a:rPr>
                <a:t>FY29</a:t>
              </a:r>
            </a:p>
          </p:txBody>
        </p:sp>
        <p:cxnSp>
          <p:nvCxnSpPr>
            <p:cNvPr id="21" name="直線コネクタ 20">
              <a:extLst>
                <a:ext uri="{FF2B5EF4-FFF2-40B4-BE49-F238E27FC236}">
                  <a16:creationId xmlns:a16="http://schemas.microsoft.com/office/drawing/2014/main" id="{EFA3BF36-3CBF-E89B-B546-C89A996007D6}"/>
                </a:ext>
              </a:extLst>
            </p:cNvPr>
            <p:cNvCxnSpPr/>
            <p:nvPr/>
          </p:nvCxnSpPr>
          <p:spPr>
            <a:xfrm>
              <a:off x="8273000" y="2027261"/>
              <a:ext cx="0" cy="4281455"/>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32D73C8C-3DFB-FD38-5E5D-629E15F154C3}"/>
                </a:ext>
              </a:extLst>
            </p:cNvPr>
            <p:cNvCxnSpPr/>
            <p:nvPr/>
          </p:nvCxnSpPr>
          <p:spPr>
            <a:xfrm>
              <a:off x="11857038" y="2027261"/>
              <a:ext cx="0" cy="4281455"/>
            </a:xfrm>
            <a:prstGeom prst="line">
              <a:avLst/>
            </a:prstGeom>
            <a:ln w="952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14932DE2-B89C-DCC7-31EC-B4C63548B848}"/>
                </a:ext>
              </a:extLst>
            </p:cNvPr>
            <p:cNvCxnSpPr/>
            <p:nvPr/>
          </p:nvCxnSpPr>
          <p:spPr>
            <a:xfrm>
              <a:off x="5588966" y="2027261"/>
              <a:ext cx="0" cy="4281455"/>
            </a:xfrm>
            <a:prstGeom prst="line">
              <a:avLst/>
            </a:prstGeom>
            <a:ln w="9525">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四角形: 角を丸くする 38">
              <a:extLst>
                <a:ext uri="{FF2B5EF4-FFF2-40B4-BE49-F238E27FC236}">
                  <a16:creationId xmlns:a16="http://schemas.microsoft.com/office/drawing/2014/main" id="{4844624C-E5E2-D87D-7433-403200CC0877}"/>
                </a:ext>
              </a:extLst>
            </p:cNvPr>
            <p:cNvSpPr/>
            <p:nvPr/>
          </p:nvSpPr>
          <p:spPr>
            <a:xfrm>
              <a:off x="3219808" y="2068880"/>
              <a:ext cx="2114890" cy="199306"/>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商品データを整備し</a:t>
              </a:r>
              <a:r>
                <a:rPr lang="en-US" altLang="ja-JP" sz="1050" dirty="0">
                  <a:solidFill>
                    <a:schemeClr val="accent5"/>
                  </a:solidFill>
                  <a:latin typeface="+mn-ea"/>
                </a:rPr>
                <a:t>API</a:t>
              </a:r>
              <a:r>
                <a:rPr lang="ja-JP" altLang="en-US" sz="1050" dirty="0">
                  <a:solidFill>
                    <a:schemeClr val="accent5"/>
                  </a:solidFill>
                  <a:latin typeface="+mn-ea"/>
                </a:rPr>
                <a:t>で公開</a:t>
              </a:r>
            </a:p>
          </p:txBody>
        </p:sp>
        <p:sp>
          <p:nvSpPr>
            <p:cNvPr id="55" name="四角形: 角を丸くする 54">
              <a:extLst>
                <a:ext uri="{FF2B5EF4-FFF2-40B4-BE49-F238E27FC236}">
                  <a16:creationId xmlns:a16="http://schemas.microsoft.com/office/drawing/2014/main" id="{3CA24D9B-BC6A-2C3D-B04F-A9FE1BEE8FFB}"/>
                </a:ext>
              </a:extLst>
            </p:cNvPr>
            <p:cNvSpPr/>
            <p:nvPr/>
          </p:nvSpPr>
          <p:spPr>
            <a:xfrm>
              <a:off x="5588963" y="2064543"/>
              <a:ext cx="2502628" cy="199306"/>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小売・</a:t>
              </a:r>
              <a:r>
                <a:rPr lang="en-US" altLang="ja-JP" sz="1050" dirty="0">
                  <a:solidFill>
                    <a:schemeClr val="accent5"/>
                  </a:solidFill>
                  <a:latin typeface="+mn-ea"/>
                </a:rPr>
                <a:t>AI</a:t>
              </a:r>
              <a:r>
                <a:rPr lang="ja-JP" altLang="en-US" sz="1050" dirty="0">
                  <a:solidFill>
                    <a:schemeClr val="accent5"/>
                  </a:solidFill>
                  <a:latin typeface="+mn-ea"/>
                </a:rPr>
                <a:t>への提供開始と効果の実測</a:t>
              </a:r>
            </a:p>
          </p:txBody>
        </p:sp>
        <p:sp>
          <p:nvSpPr>
            <p:cNvPr id="69" name="四角形: 角を丸くする 68">
              <a:extLst>
                <a:ext uri="{FF2B5EF4-FFF2-40B4-BE49-F238E27FC236}">
                  <a16:creationId xmlns:a16="http://schemas.microsoft.com/office/drawing/2014/main" id="{B5ABEC6C-44CB-9497-18FF-8D9988C95C3E}"/>
                </a:ext>
              </a:extLst>
            </p:cNvPr>
            <p:cNvSpPr/>
            <p:nvPr/>
          </p:nvSpPr>
          <p:spPr>
            <a:xfrm>
              <a:off x="8267679" y="2071628"/>
              <a:ext cx="3589357" cy="199306"/>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対象小売を順次拡大</a:t>
              </a:r>
            </a:p>
          </p:txBody>
        </p:sp>
        <p:sp>
          <p:nvSpPr>
            <p:cNvPr id="79" name="四角形: 角を丸くする 78">
              <a:extLst>
                <a:ext uri="{FF2B5EF4-FFF2-40B4-BE49-F238E27FC236}">
                  <a16:creationId xmlns:a16="http://schemas.microsoft.com/office/drawing/2014/main" id="{2173AD22-9C8E-8C2C-7CB4-407D674D4767}"/>
                </a:ext>
              </a:extLst>
            </p:cNvPr>
            <p:cNvSpPr/>
            <p:nvPr/>
          </p:nvSpPr>
          <p:spPr>
            <a:xfrm>
              <a:off x="3799608" y="2511445"/>
              <a:ext cx="900000" cy="280943"/>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設計</a:t>
              </a:r>
            </a:p>
          </p:txBody>
        </p:sp>
        <p:sp>
          <p:nvSpPr>
            <p:cNvPr id="88" name="四角形: 角を丸くする 87">
              <a:extLst>
                <a:ext uri="{FF2B5EF4-FFF2-40B4-BE49-F238E27FC236}">
                  <a16:creationId xmlns:a16="http://schemas.microsoft.com/office/drawing/2014/main" id="{A56781C4-DC26-589A-CCBC-1233A621FB08}"/>
                </a:ext>
              </a:extLst>
            </p:cNvPr>
            <p:cNvSpPr/>
            <p:nvPr/>
          </p:nvSpPr>
          <p:spPr>
            <a:xfrm>
              <a:off x="4805845" y="2511446"/>
              <a:ext cx="3285745" cy="280406"/>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学校・健診でデジタル教材と診断アプリを試験導入</a:t>
              </a:r>
            </a:p>
          </p:txBody>
        </p:sp>
        <p:sp>
          <p:nvSpPr>
            <p:cNvPr id="100" name="四角形: 角を丸くする 99">
              <a:extLst>
                <a:ext uri="{FF2B5EF4-FFF2-40B4-BE49-F238E27FC236}">
                  <a16:creationId xmlns:a16="http://schemas.microsoft.com/office/drawing/2014/main" id="{B744F7EB-BACA-3D38-58B6-6F9AA4C4509A}"/>
                </a:ext>
              </a:extLst>
            </p:cNvPr>
            <p:cNvSpPr/>
            <p:nvPr/>
          </p:nvSpPr>
          <p:spPr>
            <a:xfrm>
              <a:off x="8267677" y="2511445"/>
              <a:ext cx="3589357" cy="333703"/>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自治体・学校へ拡大</a:t>
              </a:r>
            </a:p>
          </p:txBody>
        </p:sp>
        <p:sp>
          <p:nvSpPr>
            <p:cNvPr id="103" name="四角形: 角を丸くする 102">
              <a:extLst>
                <a:ext uri="{FF2B5EF4-FFF2-40B4-BE49-F238E27FC236}">
                  <a16:creationId xmlns:a16="http://schemas.microsoft.com/office/drawing/2014/main" id="{2A338C9E-0ED2-8BCB-E027-6BE4EB0C37D7}"/>
                </a:ext>
              </a:extLst>
            </p:cNvPr>
            <p:cNvSpPr/>
            <p:nvPr/>
          </p:nvSpPr>
          <p:spPr>
            <a:xfrm>
              <a:off x="2899609" y="2995628"/>
              <a:ext cx="1800000" cy="322023"/>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en-US" altLang="ja-JP" sz="1050" dirty="0">
                  <a:solidFill>
                    <a:schemeClr val="accent5"/>
                  </a:solidFill>
                  <a:latin typeface="+mn-ea"/>
                </a:rPr>
                <a:t>AI</a:t>
              </a:r>
              <a:r>
                <a:rPr lang="ja-JP" altLang="en-US" sz="1050" dirty="0">
                  <a:solidFill>
                    <a:schemeClr val="accent5"/>
                  </a:solidFill>
                  <a:latin typeface="+mn-ea"/>
                </a:rPr>
                <a:t>推奨シェアの測定開始・</a:t>
              </a:r>
              <a:br>
                <a:rPr lang="en-US" altLang="ja-JP" sz="1050" dirty="0">
                  <a:solidFill>
                    <a:schemeClr val="accent5"/>
                  </a:solidFill>
                  <a:latin typeface="+mn-ea"/>
                </a:rPr>
              </a:br>
              <a:r>
                <a:rPr lang="ja-JP" altLang="en-US" sz="1050" dirty="0">
                  <a:solidFill>
                    <a:schemeClr val="accent5"/>
                  </a:solidFill>
                  <a:latin typeface="+mn-ea"/>
                </a:rPr>
                <a:t>基準値づくり</a:t>
              </a:r>
            </a:p>
          </p:txBody>
        </p:sp>
        <p:sp>
          <p:nvSpPr>
            <p:cNvPr id="106" name="四角形: 角を丸くする 105">
              <a:extLst>
                <a:ext uri="{FF2B5EF4-FFF2-40B4-BE49-F238E27FC236}">
                  <a16:creationId xmlns:a16="http://schemas.microsoft.com/office/drawing/2014/main" id="{6F67D7AC-5CC3-BB2E-DEAF-E0F608941ADA}"/>
                </a:ext>
              </a:extLst>
            </p:cNvPr>
            <p:cNvSpPr/>
            <p:nvPr/>
          </p:nvSpPr>
          <p:spPr>
            <a:xfrm>
              <a:off x="4805842" y="2995628"/>
              <a:ext cx="3285748" cy="322023"/>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広告・販促の効果測定の仕組みを確立</a:t>
              </a:r>
            </a:p>
          </p:txBody>
        </p:sp>
        <p:sp>
          <p:nvSpPr>
            <p:cNvPr id="109" name="四角形: 角を丸くする 108">
              <a:extLst>
                <a:ext uri="{FF2B5EF4-FFF2-40B4-BE49-F238E27FC236}">
                  <a16:creationId xmlns:a16="http://schemas.microsoft.com/office/drawing/2014/main" id="{9CC29322-9A3A-ED60-F386-CE4BB5DCDB64}"/>
                </a:ext>
              </a:extLst>
            </p:cNvPr>
            <p:cNvSpPr/>
            <p:nvPr/>
          </p:nvSpPr>
          <p:spPr>
            <a:xfrm>
              <a:off x="8267677" y="2995628"/>
              <a:ext cx="3589357" cy="322023"/>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全施策の投資判断に適用</a:t>
              </a:r>
            </a:p>
          </p:txBody>
        </p:sp>
        <p:sp>
          <p:nvSpPr>
            <p:cNvPr id="112" name="四角形: 角を丸くする 111">
              <a:extLst>
                <a:ext uri="{FF2B5EF4-FFF2-40B4-BE49-F238E27FC236}">
                  <a16:creationId xmlns:a16="http://schemas.microsoft.com/office/drawing/2014/main" id="{7F36A064-5931-CA2D-B159-5699B9ADB21C}"/>
                </a:ext>
              </a:extLst>
            </p:cNvPr>
            <p:cNvSpPr/>
            <p:nvPr/>
          </p:nvSpPr>
          <p:spPr>
            <a:xfrm>
              <a:off x="6539679" y="3479810"/>
              <a:ext cx="3527999" cy="309166"/>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自社運用に切り替え</a:t>
              </a:r>
            </a:p>
          </p:txBody>
        </p:sp>
        <p:sp>
          <p:nvSpPr>
            <p:cNvPr id="115" name="四角形: 角を丸くする 114">
              <a:extLst>
                <a:ext uri="{FF2B5EF4-FFF2-40B4-BE49-F238E27FC236}">
                  <a16:creationId xmlns:a16="http://schemas.microsoft.com/office/drawing/2014/main" id="{842FDE00-E998-A54A-623C-A3A6CC69A96D}"/>
                </a:ext>
              </a:extLst>
            </p:cNvPr>
            <p:cNvSpPr/>
            <p:nvPr/>
          </p:nvSpPr>
          <p:spPr>
            <a:xfrm>
              <a:off x="4805842" y="3479812"/>
              <a:ext cx="1559462" cy="309164"/>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小売サイト広告の運用を</a:t>
              </a:r>
              <a:br>
                <a:rPr lang="en-US" altLang="ja-JP" sz="1050" dirty="0">
                  <a:solidFill>
                    <a:schemeClr val="accent5"/>
                  </a:solidFill>
                  <a:latin typeface="+mn-ea"/>
                </a:rPr>
              </a:br>
              <a:r>
                <a:rPr lang="ja-JP" altLang="en-US" sz="1050" dirty="0">
                  <a:solidFill>
                    <a:schemeClr val="accent5"/>
                  </a:solidFill>
                  <a:latin typeface="+mn-ea"/>
                </a:rPr>
                <a:t>一元管理</a:t>
              </a:r>
            </a:p>
          </p:txBody>
        </p:sp>
        <p:sp>
          <p:nvSpPr>
            <p:cNvPr id="118" name="四角形: 角を丸くする 117">
              <a:extLst>
                <a:ext uri="{FF2B5EF4-FFF2-40B4-BE49-F238E27FC236}">
                  <a16:creationId xmlns:a16="http://schemas.microsoft.com/office/drawing/2014/main" id="{06FED931-72F1-C199-F6ED-422AF417F344}"/>
                </a:ext>
              </a:extLst>
            </p:cNvPr>
            <p:cNvSpPr/>
            <p:nvPr/>
          </p:nvSpPr>
          <p:spPr>
            <a:xfrm>
              <a:off x="5588963" y="3963996"/>
              <a:ext cx="2492914" cy="322019"/>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値引きに頼らない商談と、</a:t>
              </a:r>
              <a:br>
                <a:rPr lang="en-US" altLang="ja-JP" sz="1050" dirty="0">
                  <a:solidFill>
                    <a:schemeClr val="accent5"/>
                  </a:solidFill>
                  <a:latin typeface="+mn-ea"/>
                </a:rPr>
              </a:br>
              <a:r>
                <a:rPr lang="ja-JP" altLang="en-US" sz="1050" dirty="0">
                  <a:solidFill>
                    <a:schemeClr val="accent5"/>
                  </a:solidFill>
                  <a:latin typeface="+mn-ea"/>
                </a:rPr>
                <a:t>歯科経由の販売を実証</a:t>
              </a:r>
            </a:p>
          </p:txBody>
        </p:sp>
        <p:sp>
          <p:nvSpPr>
            <p:cNvPr id="121" name="四角形: 角を丸くする 120">
              <a:extLst>
                <a:ext uri="{FF2B5EF4-FFF2-40B4-BE49-F238E27FC236}">
                  <a16:creationId xmlns:a16="http://schemas.microsoft.com/office/drawing/2014/main" id="{871E195B-92DF-D0B2-A938-89E461C0E098}"/>
                </a:ext>
              </a:extLst>
            </p:cNvPr>
            <p:cNvSpPr/>
            <p:nvPr/>
          </p:nvSpPr>
          <p:spPr>
            <a:xfrm>
              <a:off x="3799608" y="3963996"/>
              <a:ext cx="1800000" cy="322019"/>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重点小売</a:t>
              </a:r>
              <a:r>
                <a:rPr lang="en-US" altLang="ja-JP" sz="1050" dirty="0">
                  <a:solidFill>
                    <a:schemeClr val="accent5"/>
                  </a:solidFill>
                  <a:latin typeface="+mn-ea"/>
                </a:rPr>
                <a:t>2</a:t>
              </a:r>
              <a:r>
                <a:rPr lang="ja-JP" altLang="en-US" sz="1050" dirty="0">
                  <a:solidFill>
                    <a:schemeClr val="accent5"/>
                  </a:solidFill>
                  <a:latin typeface="+mn-ea"/>
                </a:rPr>
                <a:t>社で歯ぐきケアの</a:t>
              </a:r>
              <a:br>
                <a:rPr lang="en-US" altLang="ja-JP" sz="1050" dirty="0">
                  <a:solidFill>
                    <a:schemeClr val="accent5"/>
                  </a:solidFill>
                  <a:latin typeface="+mn-ea"/>
                </a:rPr>
              </a:br>
              <a:r>
                <a:rPr lang="ja-JP" altLang="en-US" sz="1050" dirty="0">
                  <a:solidFill>
                    <a:schemeClr val="accent5"/>
                  </a:solidFill>
                  <a:latin typeface="+mn-ea"/>
                </a:rPr>
                <a:t>共同事業を開始</a:t>
              </a:r>
            </a:p>
          </p:txBody>
        </p:sp>
        <p:sp>
          <p:nvSpPr>
            <p:cNvPr id="124" name="四角形: 角を丸くする 123">
              <a:extLst>
                <a:ext uri="{FF2B5EF4-FFF2-40B4-BE49-F238E27FC236}">
                  <a16:creationId xmlns:a16="http://schemas.microsoft.com/office/drawing/2014/main" id="{9DEB6235-8543-9F6C-7B91-D549F596D1E4}"/>
                </a:ext>
              </a:extLst>
            </p:cNvPr>
            <p:cNvSpPr/>
            <p:nvPr/>
          </p:nvSpPr>
          <p:spPr>
            <a:xfrm>
              <a:off x="4805842" y="4448181"/>
              <a:ext cx="3285748" cy="322018"/>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成功した商談を標準の提案書式として整備</a:t>
              </a:r>
            </a:p>
          </p:txBody>
        </p:sp>
        <p:sp>
          <p:nvSpPr>
            <p:cNvPr id="127" name="四角形: 角を丸くする 126">
              <a:extLst>
                <a:ext uri="{FF2B5EF4-FFF2-40B4-BE49-F238E27FC236}">
                  <a16:creationId xmlns:a16="http://schemas.microsoft.com/office/drawing/2014/main" id="{40EFD74F-88BA-3A85-20ED-DFFE4B25B5C7}"/>
                </a:ext>
              </a:extLst>
            </p:cNvPr>
            <p:cNvSpPr/>
            <p:nvPr/>
          </p:nvSpPr>
          <p:spPr>
            <a:xfrm>
              <a:off x="2899609" y="4940457"/>
              <a:ext cx="1800000" cy="309166"/>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生成</a:t>
              </a:r>
              <a:r>
                <a:rPr lang="en-US" altLang="ja-JP" sz="1050" dirty="0">
                  <a:solidFill>
                    <a:schemeClr val="accent5"/>
                  </a:solidFill>
                  <a:latin typeface="+mn-ea"/>
                </a:rPr>
                <a:t>AI</a:t>
              </a:r>
              <a:r>
                <a:rPr lang="ja-JP" altLang="en-US" sz="1050" dirty="0">
                  <a:solidFill>
                    <a:schemeClr val="accent5"/>
                  </a:solidFill>
                  <a:latin typeface="+mn-ea"/>
                </a:rPr>
                <a:t>で資料作成を</a:t>
              </a:r>
              <a:br>
                <a:rPr lang="en-US" altLang="ja-JP" sz="1050" dirty="0">
                  <a:solidFill>
                    <a:schemeClr val="accent5"/>
                  </a:solidFill>
                  <a:latin typeface="+mn-ea"/>
                </a:rPr>
              </a:br>
              <a:r>
                <a:rPr lang="en-US" altLang="ja-JP" sz="1050" dirty="0">
                  <a:solidFill>
                    <a:schemeClr val="accent5"/>
                  </a:solidFill>
                  <a:latin typeface="+mn-ea"/>
                </a:rPr>
                <a:t>3</a:t>
              </a:r>
              <a:r>
                <a:rPr lang="ja-JP" altLang="en-US" sz="1050" dirty="0">
                  <a:solidFill>
                    <a:schemeClr val="accent5"/>
                  </a:solidFill>
                  <a:latin typeface="+mn-ea"/>
                </a:rPr>
                <a:t>割削減</a:t>
              </a:r>
            </a:p>
          </p:txBody>
        </p:sp>
        <p:sp>
          <p:nvSpPr>
            <p:cNvPr id="130" name="四角形: 角を丸くする 129">
              <a:extLst>
                <a:ext uri="{FF2B5EF4-FFF2-40B4-BE49-F238E27FC236}">
                  <a16:creationId xmlns:a16="http://schemas.microsoft.com/office/drawing/2014/main" id="{D81DFDF8-624A-5463-C8DA-E8495988DA43}"/>
                </a:ext>
              </a:extLst>
            </p:cNvPr>
            <p:cNvSpPr/>
            <p:nvPr/>
          </p:nvSpPr>
          <p:spPr>
            <a:xfrm>
              <a:off x="4805842" y="4940457"/>
              <a:ext cx="3285748" cy="309166"/>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事務時間を半分まで削減</a:t>
              </a:r>
            </a:p>
          </p:txBody>
        </p:sp>
        <p:sp>
          <p:nvSpPr>
            <p:cNvPr id="133" name="四角形: 角を丸くする 132">
              <a:extLst>
                <a:ext uri="{FF2B5EF4-FFF2-40B4-BE49-F238E27FC236}">
                  <a16:creationId xmlns:a16="http://schemas.microsoft.com/office/drawing/2014/main" id="{63294086-9828-3AF0-CDFD-B88EEEACEC45}"/>
                </a:ext>
              </a:extLst>
            </p:cNvPr>
            <p:cNvSpPr/>
            <p:nvPr/>
          </p:nvSpPr>
          <p:spPr>
            <a:xfrm>
              <a:off x="6539679" y="5416548"/>
              <a:ext cx="1738642" cy="317255"/>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確認</a:t>
              </a:r>
              <a:r>
                <a:rPr lang="en-US" altLang="ja-JP" sz="1050" dirty="0">
                  <a:solidFill>
                    <a:schemeClr val="accent5"/>
                  </a:solidFill>
                  <a:latin typeface="+mn-ea"/>
                </a:rPr>
                <a:t>2</a:t>
              </a:r>
              <a:r>
                <a:rPr lang="ja-JP" altLang="en-US" sz="1050" dirty="0">
                  <a:solidFill>
                    <a:schemeClr val="accent5"/>
                  </a:solidFill>
                  <a:latin typeface="+mn-ea"/>
                </a:rPr>
                <a:t>合格後に正式組織化</a:t>
              </a:r>
            </a:p>
          </p:txBody>
        </p:sp>
        <p:sp>
          <p:nvSpPr>
            <p:cNvPr id="136" name="四角形: 角を丸くする 135">
              <a:extLst>
                <a:ext uri="{FF2B5EF4-FFF2-40B4-BE49-F238E27FC236}">
                  <a16:creationId xmlns:a16="http://schemas.microsoft.com/office/drawing/2014/main" id="{F04401F9-1C51-7485-66B9-4F91EBB62042}"/>
                </a:ext>
              </a:extLst>
            </p:cNvPr>
            <p:cNvSpPr/>
            <p:nvPr/>
          </p:nvSpPr>
          <p:spPr>
            <a:xfrm>
              <a:off x="4805842" y="5416549"/>
              <a:ext cx="1559460" cy="317255"/>
            </a:xfrm>
            <a:prstGeom prst="roundRect">
              <a:avLst>
                <a:gd name="adj" fmla="val 0"/>
              </a:avLst>
            </a:prstGeom>
            <a:solidFill>
              <a:schemeClr val="bg1"/>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accent5"/>
                  </a:solidFill>
                  <a:latin typeface="+mn-ea"/>
                </a:rPr>
                <a:t>営業・ブランド・データの</a:t>
              </a:r>
              <a:br>
                <a:rPr lang="en-US" altLang="ja-JP" sz="1050" dirty="0">
                  <a:solidFill>
                    <a:schemeClr val="accent5"/>
                  </a:solidFill>
                  <a:latin typeface="+mn-ea"/>
                </a:rPr>
              </a:br>
              <a:r>
                <a:rPr lang="ja-JP" altLang="en-US" sz="1050" dirty="0">
                  <a:solidFill>
                    <a:schemeClr val="accent5"/>
                  </a:solidFill>
                  <a:latin typeface="+mn-ea"/>
                </a:rPr>
                <a:t>混成チームを先行編成</a:t>
              </a:r>
            </a:p>
          </p:txBody>
        </p:sp>
        <p:sp>
          <p:nvSpPr>
            <p:cNvPr id="139" name="四角形: 角を丸くする 138">
              <a:extLst>
                <a:ext uri="{FF2B5EF4-FFF2-40B4-BE49-F238E27FC236}">
                  <a16:creationId xmlns:a16="http://schemas.microsoft.com/office/drawing/2014/main" id="{5FFBF55A-0674-B0C9-26AF-201B78C3420D}"/>
                </a:ext>
              </a:extLst>
            </p:cNvPr>
            <p:cNvSpPr/>
            <p:nvPr/>
          </p:nvSpPr>
          <p:spPr>
            <a:xfrm>
              <a:off x="10057038" y="3479810"/>
              <a:ext cx="1800000" cy="309166"/>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標準化</a:t>
              </a:r>
            </a:p>
          </p:txBody>
        </p:sp>
        <p:sp>
          <p:nvSpPr>
            <p:cNvPr id="142" name="四角形: 角を丸くする 141">
              <a:extLst>
                <a:ext uri="{FF2B5EF4-FFF2-40B4-BE49-F238E27FC236}">
                  <a16:creationId xmlns:a16="http://schemas.microsoft.com/office/drawing/2014/main" id="{29B37CF9-FB90-0887-D972-836E768226BC}"/>
                </a:ext>
              </a:extLst>
            </p:cNvPr>
            <p:cNvSpPr/>
            <p:nvPr/>
          </p:nvSpPr>
          <p:spPr>
            <a:xfrm>
              <a:off x="8267677" y="3963996"/>
              <a:ext cx="3589357" cy="322019"/>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臨床データ基盤の本格稼働</a:t>
              </a:r>
              <a:endParaRPr lang="en-US" altLang="ja-JP" sz="1050" dirty="0">
                <a:solidFill>
                  <a:schemeClr val="tx1"/>
                </a:solidFill>
                <a:latin typeface="+mn-ea"/>
              </a:endParaRPr>
            </a:p>
            <a:p>
              <a:r>
                <a:rPr lang="ja-JP" altLang="en-US" sz="1050" dirty="0">
                  <a:solidFill>
                    <a:schemeClr val="tx1"/>
                  </a:solidFill>
                  <a:latin typeface="+mn-ea"/>
                </a:rPr>
                <a:t>・対象拡大</a:t>
              </a:r>
            </a:p>
          </p:txBody>
        </p:sp>
        <p:sp>
          <p:nvSpPr>
            <p:cNvPr id="145" name="四角形: 角を丸くする 144">
              <a:extLst>
                <a:ext uri="{FF2B5EF4-FFF2-40B4-BE49-F238E27FC236}">
                  <a16:creationId xmlns:a16="http://schemas.microsoft.com/office/drawing/2014/main" id="{3DC0A0B6-84A0-4F5C-54C8-78A3B7ECF9DC}"/>
                </a:ext>
              </a:extLst>
            </p:cNvPr>
            <p:cNvSpPr/>
            <p:nvPr/>
          </p:nvSpPr>
          <p:spPr>
            <a:xfrm>
              <a:off x="8267677" y="4448181"/>
              <a:ext cx="3589357" cy="322018"/>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全営業の標準装備にする</a:t>
              </a:r>
            </a:p>
          </p:txBody>
        </p:sp>
        <p:sp>
          <p:nvSpPr>
            <p:cNvPr id="148" name="四角形: 角を丸くする 147">
              <a:extLst>
                <a:ext uri="{FF2B5EF4-FFF2-40B4-BE49-F238E27FC236}">
                  <a16:creationId xmlns:a16="http://schemas.microsoft.com/office/drawing/2014/main" id="{B033F442-155D-D921-3B6B-10CB29C8056C}"/>
                </a:ext>
              </a:extLst>
            </p:cNvPr>
            <p:cNvSpPr/>
            <p:nvPr/>
          </p:nvSpPr>
          <p:spPr>
            <a:xfrm>
              <a:off x="8267677" y="4940457"/>
              <a:ext cx="3589357" cy="309166"/>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削減した状態を運用に定着</a:t>
              </a:r>
            </a:p>
          </p:txBody>
        </p:sp>
        <p:grpSp>
          <p:nvGrpSpPr>
            <p:cNvPr id="8" name="グループ化 7">
              <a:extLst>
                <a:ext uri="{FF2B5EF4-FFF2-40B4-BE49-F238E27FC236}">
                  <a16:creationId xmlns:a16="http://schemas.microsoft.com/office/drawing/2014/main" id="{EAB1FDB6-793F-1BE3-E4E1-E54E58797BC1}"/>
                </a:ext>
              </a:extLst>
            </p:cNvPr>
            <p:cNvGrpSpPr/>
            <p:nvPr/>
          </p:nvGrpSpPr>
          <p:grpSpPr>
            <a:xfrm>
              <a:off x="2899609" y="2344951"/>
              <a:ext cx="8957429" cy="3415793"/>
              <a:chOff x="2899609" y="2344951"/>
              <a:chExt cx="8957429" cy="3415793"/>
            </a:xfrm>
          </p:grpSpPr>
          <p:cxnSp>
            <p:nvCxnSpPr>
              <p:cNvPr id="32" name="直線コネクタ 31">
                <a:extLst>
                  <a:ext uri="{FF2B5EF4-FFF2-40B4-BE49-F238E27FC236}">
                    <a16:creationId xmlns:a16="http://schemas.microsoft.com/office/drawing/2014/main" id="{59D81797-52C6-0051-D18B-2EB6F3BF393F}"/>
                  </a:ext>
                </a:extLst>
              </p:cNvPr>
              <p:cNvCxnSpPr/>
              <p:nvPr/>
            </p:nvCxnSpPr>
            <p:spPr>
              <a:xfrm>
                <a:off x="2899609" y="2349288"/>
                <a:ext cx="2689356"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E75FADB7-92AE-7439-D392-D29937291683}"/>
                  </a:ext>
                </a:extLst>
              </p:cNvPr>
              <p:cNvCxnSpPr/>
              <p:nvPr/>
            </p:nvCxnSpPr>
            <p:spPr>
              <a:xfrm>
                <a:off x="5588963" y="2344951"/>
                <a:ext cx="2628000"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ADD43D71-3874-F5FF-1889-95DE552B9299}"/>
                  </a:ext>
                </a:extLst>
              </p:cNvPr>
              <p:cNvCxnSpPr/>
              <p:nvPr/>
            </p:nvCxnSpPr>
            <p:spPr>
              <a:xfrm>
                <a:off x="8267679" y="2352036"/>
                <a:ext cx="358935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3A45F340-6A0D-CFF9-BBEF-92CCCF49A66D}"/>
                  </a:ext>
                </a:extLst>
              </p:cNvPr>
              <p:cNvCxnSpPr>
                <a:cxnSpLocks/>
              </p:cNvCxnSpPr>
              <p:nvPr/>
            </p:nvCxnSpPr>
            <p:spPr>
              <a:xfrm>
                <a:off x="3799609" y="2846913"/>
                <a:ext cx="900000"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C4825989-21C1-84B5-DFDB-1665F036EC0C}"/>
                  </a:ext>
                </a:extLst>
              </p:cNvPr>
              <p:cNvCxnSpPr>
                <a:cxnSpLocks/>
              </p:cNvCxnSpPr>
              <p:nvPr/>
            </p:nvCxnSpPr>
            <p:spPr>
              <a:xfrm>
                <a:off x="4750329" y="2855641"/>
                <a:ext cx="3466634"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a16:creationId xmlns:a16="http://schemas.microsoft.com/office/drawing/2014/main" id="{636140AE-395D-25B6-AA52-437E58F8E29A}"/>
                  </a:ext>
                </a:extLst>
              </p:cNvPr>
              <p:cNvCxnSpPr/>
              <p:nvPr/>
            </p:nvCxnSpPr>
            <p:spPr>
              <a:xfrm>
                <a:off x="8267678" y="2855641"/>
                <a:ext cx="358935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a16:creationId xmlns:a16="http://schemas.microsoft.com/office/drawing/2014/main" id="{C4C8DDE9-AD87-7993-50B8-ACA580F18348}"/>
                  </a:ext>
                </a:extLst>
              </p:cNvPr>
              <p:cNvCxnSpPr/>
              <p:nvPr/>
            </p:nvCxnSpPr>
            <p:spPr>
              <a:xfrm>
                <a:off x="2899609" y="3339824"/>
                <a:ext cx="1800000"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直線コネクタ 104">
                <a:extLst>
                  <a:ext uri="{FF2B5EF4-FFF2-40B4-BE49-F238E27FC236}">
                    <a16:creationId xmlns:a16="http://schemas.microsoft.com/office/drawing/2014/main" id="{971826FA-1E44-F0B4-B634-AACA7D273F7C}"/>
                  </a:ext>
                </a:extLst>
              </p:cNvPr>
              <p:cNvCxnSpPr>
                <a:cxnSpLocks/>
              </p:cNvCxnSpPr>
              <p:nvPr/>
            </p:nvCxnSpPr>
            <p:spPr>
              <a:xfrm>
                <a:off x="4750328" y="3339824"/>
                <a:ext cx="3466634"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a16:creationId xmlns:a16="http://schemas.microsoft.com/office/drawing/2014/main" id="{3FA9FA01-9FEB-A8E8-E58E-3B8D54B57486}"/>
                  </a:ext>
                </a:extLst>
              </p:cNvPr>
              <p:cNvCxnSpPr/>
              <p:nvPr/>
            </p:nvCxnSpPr>
            <p:spPr>
              <a:xfrm>
                <a:off x="8267677" y="3339823"/>
                <a:ext cx="358935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a16:creationId xmlns:a16="http://schemas.microsoft.com/office/drawing/2014/main" id="{1B75D5B5-76A9-782E-83C0-CC39C9AA2463}"/>
                  </a:ext>
                </a:extLst>
              </p:cNvPr>
              <p:cNvCxnSpPr/>
              <p:nvPr/>
            </p:nvCxnSpPr>
            <p:spPr>
              <a:xfrm>
                <a:off x="6539679" y="3824008"/>
                <a:ext cx="3528000"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0DCE4CE8-4972-4BF7-E3DE-D47F4C8F8CA0}"/>
                  </a:ext>
                </a:extLst>
              </p:cNvPr>
              <p:cNvCxnSpPr/>
              <p:nvPr/>
            </p:nvCxnSpPr>
            <p:spPr>
              <a:xfrm>
                <a:off x="4750324" y="3824007"/>
                <a:ext cx="1738641"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a16:creationId xmlns:a16="http://schemas.microsoft.com/office/drawing/2014/main" id="{DF22CEE2-A240-2C85-9ECB-C1FB0ED4589F}"/>
                  </a:ext>
                </a:extLst>
              </p:cNvPr>
              <p:cNvCxnSpPr/>
              <p:nvPr/>
            </p:nvCxnSpPr>
            <p:spPr>
              <a:xfrm>
                <a:off x="5588963" y="4308192"/>
                <a:ext cx="262799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a16:creationId xmlns:a16="http://schemas.microsoft.com/office/drawing/2014/main" id="{A65E10E0-F675-E2BB-1E58-327EC49AB680}"/>
                  </a:ext>
                </a:extLst>
              </p:cNvPr>
              <p:cNvCxnSpPr/>
              <p:nvPr/>
            </p:nvCxnSpPr>
            <p:spPr>
              <a:xfrm>
                <a:off x="3799608" y="4308192"/>
                <a:ext cx="1800000"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3" name="直線コネクタ 122">
                <a:extLst>
                  <a:ext uri="{FF2B5EF4-FFF2-40B4-BE49-F238E27FC236}">
                    <a16:creationId xmlns:a16="http://schemas.microsoft.com/office/drawing/2014/main" id="{2E6DCD5A-90FE-B34E-3EF4-636F492F06BD}"/>
                  </a:ext>
                </a:extLst>
              </p:cNvPr>
              <p:cNvCxnSpPr>
                <a:cxnSpLocks/>
              </p:cNvCxnSpPr>
              <p:nvPr/>
            </p:nvCxnSpPr>
            <p:spPr>
              <a:xfrm>
                <a:off x="4750328" y="4792377"/>
                <a:ext cx="3466634"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6" name="直線コネクタ 125">
                <a:extLst>
                  <a:ext uri="{FF2B5EF4-FFF2-40B4-BE49-F238E27FC236}">
                    <a16:creationId xmlns:a16="http://schemas.microsoft.com/office/drawing/2014/main" id="{AF56DA3E-52E2-F4CC-A671-011DF0DCA1A1}"/>
                  </a:ext>
                </a:extLst>
              </p:cNvPr>
              <p:cNvCxnSpPr/>
              <p:nvPr/>
            </p:nvCxnSpPr>
            <p:spPr>
              <a:xfrm>
                <a:off x="2899609" y="5276561"/>
                <a:ext cx="1800000"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線コネクタ 128">
                <a:extLst>
                  <a:ext uri="{FF2B5EF4-FFF2-40B4-BE49-F238E27FC236}">
                    <a16:creationId xmlns:a16="http://schemas.microsoft.com/office/drawing/2014/main" id="{F43B353D-5E46-1C4E-2EE8-E0F1D0682285}"/>
                  </a:ext>
                </a:extLst>
              </p:cNvPr>
              <p:cNvCxnSpPr>
                <a:cxnSpLocks/>
              </p:cNvCxnSpPr>
              <p:nvPr/>
            </p:nvCxnSpPr>
            <p:spPr>
              <a:xfrm>
                <a:off x="4750328" y="5276561"/>
                <a:ext cx="3466634"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2" name="直線コネクタ 131">
                <a:extLst>
                  <a:ext uri="{FF2B5EF4-FFF2-40B4-BE49-F238E27FC236}">
                    <a16:creationId xmlns:a16="http://schemas.microsoft.com/office/drawing/2014/main" id="{EDA6F674-D5D3-0D2F-60E6-AFF83CD5A0E1}"/>
                  </a:ext>
                </a:extLst>
              </p:cNvPr>
              <p:cNvCxnSpPr/>
              <p:nvPr/>
            </p:nvCxnSpPr>
            <p:spPr>
              <a:xfrm>
                <a:off x="6539679" y="5760744"/>
                <a:ext cx="1677282"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線コネクタ 134">
                <a:extLst>
                  <a:ext uri="{FF2B5EF4-FFF2-40B4-BE49-F238E27FC236}">
                    <a16:creationId xmlns:a16="http://schemas.microsoft.com/office/drawing/2014/main" id="{C5FD7467-E88E-C0E2-2ADD-1FAE7943B53F}"/>
                  </a:ext>
                </a:extLst>
              </p:cNvPr>
              <p:cNvCxnSpPr/>
              <p:nvPr/>
            </p:nvCxnSpPr>
            <p:spPr>
              <a:xfrm>
                <a:off x="4750324" y="5760744"/>
                <a:ext cx="1738641"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8" name="直線コネクタ 137">
                <a:extLst>
                  <a:ext uri="{FF2B5EF4-FFF2-40B4-BE49-F238E27FC236}">
                    <a16:creationId xmlns:a16="http://schemas.microsoft.com/office/drawing/2014/main" id="{D01C953C-8F67-02DD-C3EC-A1B6EBFFE681}"/>
                  </a:ext>
                </a:extLst>
              </p:cNvPr>
              <p:cNvCxnSpPr/>
              <p:nvPr/>
            </p:nvCxnSpPr>
            <p:spPr>
              <a:xfrm>
                <a:off x="10057038" y="3824007"/>
                <a:ext cx="1800000"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a16:creationId xmlns:a16="http://schemas.microsoft.com/office/drawing/2014/main" id="{63ADAF45-21A6-3976-385A-4936467B45DD}"/>
                  </a:ext>
                </a:extLst>
              </p:cNvPr>
              <p:cNvCxnSpPr/>
              <p:nvPr/>
            </p:nvCxnSpPr>
            <p:spPr>
              <a:xfrm>
                <a:off x="8267677" y="4308192"/>
                <a:ext cx="358935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4" name="直線コネクタ 143">
                <a:extLst>
                  <a:ext uri="{FF2B5EF4-FFF2-40B4-BE49-F238E27FC236}">
                    <a16:creationId xmlns:a16="http://schemas.microsoft.com/office/drawing/2014/main" id="{5345291C-C39E-D044-119B-E699486C7789}"/>
                  </a:ext>
                </a:extLst>
              </p:cNvPr>
              <p:cNvCxnSpPr/>
              <p:nvPr/>
            </p:nvCxnSpPr>
            <p:spPr>
              <a:xfrm>
                <a:off x="8267677" y="4792376"/>
                <a:ext cx="358935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7" name="直線コネクタ 146">
                <a:extLst>
                  <a:ext uri="{FF2B5EF4-FFF2-40B4-BE49-F238E27FC236}">
                    <a16:creationId xmlns:a16="http://schemas.microsoft.com/office/drawing/2014/main" id="{144967DF-4BBC-56D3-7D2E-9B79B17BEE4D}"/>
                  </a:ext>
                </a:extLst>
              </p:cNvPr>
              <p:cNvCxnSpPr/>
              <p:nvPr/>
            </p:nvCxnSpPr>
            <p:spPr>
              <a:xfrm>
                <a:off x="8267677" y="5276561"/>
                <a:ext cx="358935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a16:creationId xmlns:a16="http://schemas.microsoft.com/office/drawing/2014/main" id="{727E7F05-FBA8-4F25-63A2-9DE3BD1F8720}"/>
                  </a:ext>
                </a:extLst>
              </p:cNvPr>
              <p:cNvCxnSpPr/>
              <p:nvPr/>
            </p:nvCxnSpPr>
            <p:spPr>
              <a:xfrm>
                <a:off x="8267677" y="5760743"/>
                <a:ext cx="3589358" cy="0"/>
              </a:xfrm>
              <a:prstGeom prst="line">
                <a:avLst/>
              </a:prstGeom>
              <a:ln w="12700">
                <a:solidFill>
                  <a:schemeClr val="bg1">
                    <a:lumMod val="50000"/>
                  </a:schemeClr>
                </a:solidFill>
                <a:prstDash val="solid"/>
                <a:headEnd type="oval"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51" name="四角形: 角を丸くする 150">
              <a:extLst>
                <a:ext uri="{FF2B5EF4-FFF2-40B4-BE49-F238E27FC236}">
                  <a16:creationId xmlns:a16="http://schemas.microsoft.com/office/drawing/2014/main" id="{1780910A-420B-CE58-E317-440FF6495104}"/>
                </a:ext>
              </a:extLst>
            </p:cNvPr>
            <p:cNvSpPr/>
            <p:nvPr/>
          </p:nvSpPr>
          <p:spPr>
            <a:xfrm>
              <a:off x="8267677" y="5416548"/>
              <a:ext cx="3589357" cy="317255"/>
            </a:xfrm>
            <a:prstGeom prst="roundRect">
              <a:avLst>
                <a:gd name="adj" fmla="val 0"/>
              </a:avLst>
            </a:prstGeom>
            <a:no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p>
              <a:r>
                <a:rPr lang="ja-JP" altLang="en-US" sz="1050" dirty="0">
                  <a:solidFill>
                    <a:schemeClr val="tx1"/>
                  </a:solidFill>
                  <a:latin typeface="+mn-ea"/>
                </a:rPr>
                <a:t>全社展開・評価制度の切替</a:t>
              </a:r>
            </a:p>
          </p:txBody>
        </p:sp>
        <p:sp>
          <p:nvSpPr>
            <p:cNvPr id="11" name="四角形: 角を丸くする 10">
              <a:extLst>
                <a:ext uri="{FF2B5EF4-FFF2-40B4-BE49-F238E27FC236}">
                  <a16:creationId xmlns:a16="http://schemas.microsoft.com/office/drawing/2014/main" id="{17AF19D1-9198-6D6B-9280-829304990E09}"/>
                </a:ext>
              </a:extLst>
            </p:cNvPr>
            <p:cNvSpPr/>
            <p:nvPr/>
          </p:nvSpPr>
          <p:spPr>
            <a:xfrm>
              <a:off x="10587791" y="2975316"/>
              <a:ext cx="1094872" cy="2739353"/>
            </a:xfrm>
            <a:prstGeom prst="roundRect">
              <a:avLst>
                <a:gd name="adj" fmla="val 2497"/>
              </a:avLst>
            </a:prstGeom>
            <a:solidFill>
              <a:srgbClr val="FFFFFF"/>
            </a:solidFill>
            <a:ln w="9525">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spcAft>
                  <a:spcPts val="500"/>
                </a:spcAft>
              </a:pPr>
              <a:r>
                <a:rPr lang="en-US" altLang="ja-JP" sz="1000" dirty="0">
                  <a:solidFill>
                    <a:schemeClr val="accent5"/>
                  </a:solidFill>
                  <a:latin typeface="+mn-ea"/>
                </a:rPr>
                <a:t>2030年以降 :確立した勝ち方を全カテゴリ・主要小売へ標準展開し、2035年に新規領域が収益の柱、2040年に「予防習慣インフラ企業」(制度とAIの初期設定を握る) へ </a:t>
              </a:r>
              <a:r>
                <a:rPr lang="ja-JP" altLang="en-US" sz="1000" dirty="0">
                  <a:solidFill>
                    <a:schemeClr val="accent5"/>
                  </a:solidFill>
                  <a:latin typeface="+mn-ea"/>
                </a:rPr>
                <a:t/>
              </a:r>
              <a:r>
                <a:rPr lang="en-US" altLang="ja-JP" sz="1000" dirty="0">
                  <a:solidFill>
                    <a:schemeClr val="tx1"/>
                  </a:solidFill>
                  <a:latin typeface="+mn-ea"/>
                </a:rPr>
                <a:t/>
              </a:r>
              <a:br>
                <a:rPr lang="en-US" altLang="ja-JP" sz="1000" dirty="0">
                  <a:solidFill>
                    <a:schemeClr val="accent5"/>
                  </a:solidFill>
                  <a:latin typeface="+mn-ea"/>
                </a:rPr>
              </a:br>
              <a:r>
                <a:rPr lang="ja-JP" altLang="en-US" sz="1000" dirty="0">
                  <a:solidFill>
                    <a:schemeClr val="tx1"/>
                  </a:solidFill>
                  <a:latin typeface="+mn-ea"/>
                </a:rPr>
                <a:t/>
              </a:r>
              <a:br>
                <a:rPr lang="en-US" altLang="ja-JP" sz="1000" dirty="0">
                  <a:solidFill>
                    <a:schemeClr val="tx1"/>
                  </a:solidFill>
                  <a:latin typeface="+mn-ea"/>
                </a:rPr>
              </a:br>
              <a:r>
                <a:rPr lang="ja-JP" altLang="en-US" sz="1000" dirty="0">
                  <a:solidFill>
                    <a:schemeClr val="tx1"/>
                  </a:solidFill>
                  <a:latin typeface="+mn-ea"/>
                </a:rPr>
                <a:t/>
              </a:r>
              <a:r>
                <a:rPr lang="en-US" altLang="ja-JP" sz="1000" dirty="0">
                  <a:solidFill>
                    <a:schemeClr val="tx1"/>
                  </a:solidFill>
                  <a:latin typeface="+mn-ea"/>
                </a:rPr>
                <a:t/>
              </a:r>
              <a:r>
                <a:rPr lang="ja-JP" altLang="en-US" sz="1000" dirty="0">
                  <a:solidFill>
                    <a:schemeClr val="tx1"/>
                  </a:solidFill>
                  <a:latin typeface="+mn-ea"/>
                </a:rPr>
                <a:t/>
              </a:r>
              <a:br>
                <a:rPr lang="en-US" altLang="ja-JP" sz="1000" dirty="0">
                  <a:solidFill>
                    <a:schemeClr val="tx1"/>
                  </a:solidFill>
                  <a:latin typeface="+mn-ea"/>
                </a:rPr>
              </a:br>
              <a:r>
                <a:rPr lang="ja-JP" altLang="en-US" sz="1000" dirty="0">
                  <a:solidFill>
                    <a:schemeClr val="tx1"/>
                  </a:solidFill>
                  <a:latin typeface="+mn-ea"/>
                </a:rPr>
                <a:t/>
              </a:r>
              <a:r>
                <a:rPr lang="en-US" altLang="ja-JP" sz="1000" dirty="0">
                  <a:solidFill>
                    <a:schemeClr val="tx1"/>
                  </a:solidFill>
                  <a:latin typeface="+mn-ea"/>
                </a:rPr>
                <a:t/>
              </a:r>
              <a:r>
                <a:rPr lang="ja-JP" altLang="en-US" sz="1000" dirty="0">
                  <a:solidFill>
                    <a:schemeClr val="tx1"/>
                  </a:solidFill>
                  <a:latin typeface="+mn-ea"/>
                </a:rPr>
                <a:t/>
              </a:r>
              <a:br>
                <a:rPr lang="en-US" altLang="ja-JP" sz="1000" dirty="0">
                  <a:solidFill>
                    <a:schemeClr val="tx1"/>
                  </a:solidFill>
                  <a:latin typeface="+mn-ea"/>
                </a:rPr>
              </a:br>
              <a:r>
                <a:rPr lang="ja-JP" altLang="en-US" sz="1000" dirty="0">
                  <a:solidFill>
                    <a:schemeClr val="tx1"/>
                  </a:solidFill>
                  <a:latin typeface="+mn-ea"/>
                </a:rPr>
                <a:t/>
              </a:r>
              <a:r>
                <a:rPr lang="en-US" altLang="ja-JP" sz="1000" dirty="0">
                  <a:solidFill>
                    <a:schemeClr val="tx1"/>
                  </a:solidFill>
                  <a:latin typeface="+mn-ea"/>
                </a:rPr>
                <a:t/>
              </a:r>
              <a:r>
                <a:rPr lang="ja-JP" altLang="en-US" sz="1000" dirty="0">
                  <a:solidFill>
                    <a:schemeClr val="tx1"/>
                  </a:solidFill>
                  <a:latin typeface="+mn-ea"/>
                </a:rPr>
                <a:t/>
              </a:r>
              <a:r>
                <a:rPr lang="en-US" altLang="ja-JP" sz="1000" dirty="0">
                  <a:solidFill>
                    <a:schemeClr val="tx1"/>
                  </a:solidFill>
                  <a:latin typeface="+mn-ea"/>
                </a:rPr>
                <a:t/>
              </a:r>
              <a:r>
                <a:rPr lang="ja-JP" altLang="en-US" sz="1000" dirty="0">
                  <a:solidFill>
                    <a:schemeClr val="tx1"/>
                  </a:solidFill>
                  <a:latin typeface="+mn-ea"/>
                </a:rPr>
                <a:t/>
              </a:r>
              <a:r>
                <a:rPr lang="en-US" altLang="ja-JP" sz="1000" dirty="0">
                  <a:solidFill>
                    <a:schemeClr val="tx1"/>
                  </a:solidFill>
                  <a:latin typeface="+mn-ea"/>
                </a:rPr>
                <a:t/>
              </a:r>
              <a:r>
                <a:rPr lang="ja-JP" altLang="en-US" sz="1000" dirty="0">
                  <a:solidFill>
                    <a:schemeClr val="tx1"/>
                  </a:solidFill>
                  <a:latin typeface="+mn-ea"/>
                </a:rPr>
                <a:t/>
              </a:r>
              <a:endParaRPr lang="en-US" altLang="ja-JP" sz="1000" dirty="0">
                <a:solidFill>
                  <a:schemeClr val="tx1"/>
                </a:solidFill>
                <a:latin typeface="+mn-ea"/>
              </a:endParaRPr>
            </a:p>
            <a:p>
              <a:pPr>
                <a:spcAft>
                  <a:spcPts val="500"/>
                </a:spcAft>
              </a:pPr>
              <a:r>
                <a:rPr lang="ja-JP" altLang="en-US" sz="1000" dirty="0">
                  <a:solidFill>
                    <a:schemeClr val="tx1"/>
                  </a:solidFill>
                  <a:latin typeface="+mn-ea"/>
                </a:rPr>
                <a:t>ゲート不合格なら</a:t>
              </a:r>
              <a:br>
                <a:rPr lang="en-US" altLang="ja-JP" sz="1000" dirty="0">
                  <a:solidFill>
                    <a:schemeClr val="tx1"/>
                  </a:solidFill>
                  <a:latin typeface="+mn-ea"/>
                </a:rPr>
              </a:br>
              <a:r>
                <a:rPr lang="ja-JP" altLang="en-US" sz="1000" dirty="0">
                  <a:solidFill>
                    <a:schemeClr val="tx1"/>
                  </a:solidFill>
                  <a:latin typeface="+mn-ea"/>
                </a:rPr>
                <a:t>拡大せず、詰まった手順を直して</a:t>
              </a:r>
              <a:br>
                <a:rPr lang="en-US" altLang="ja-JP" sz="1000" dirty="0">
                  <a:solidFill>
                    <a:schemeClr val="tx1"/>
                  </a:solidFill>
                  <a:latin typeface="+mn-ea"/>
                </a:rPr>
              </a:br>
              <a:r>
                <a:rPr lang="ja-JP" altLang="en-US" sz="1000" dirty="0">
                  <a:solidFill>
                    <a:schemeClr val="tx1"/>
                  </a:solidFill>
                  <a:latin typeface="+mn-ea"/>
                </a:rPr>
                <a:t>再挑戦</a:t>
              </a:r>
            </a:p>
          </p:txBody>
        </p:sp>
        <p:sp>
          <p:nvSpPr>
            <p:cNvPr id="160" name="吹き出し: 四角形 159">
              <a:extLst>
                <a:ext uri="{FF2B5EF4-FFF2-40B4-BE49-F238E27FC236}">
                  <a16:creationId xmlns:a16="http://schemas.microsoft.com/office/drawing/2014/main" id="{967442E0-8687-8FC5-351F-5FC568819762}"/>
                </a:ext>
              </a:extLst>
            </p:cNvPr>
            <p:cNvSpPr/>
            <p:nvPr/>
          </p:nvSpPr>
          <p:spPr>
            <a:xfrm>
              <a:off x="2899608" y="5900732"/>
              <a:ext cx="2506443" cy="403080"/>
            </a:xfrm>
            <a:prstGeom prst="wedgeRectCallout">
              <a:avLst>
                <a:gd name="adj1" fmla="val 57270"/>
                <a:gd name="adj2" fmla="val -41972"/>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n-ea"/>
                </a:rPr>
                <a:t>①</a:t>
              </a:r>
              <a:r>
                <a:rPr lang="en-US" altLang="ja-JP" sz="1000" dirty="0">
                  <a:solidFill>
                    <a:schemeClr val="tx1"/>
                  </a:solidFill>
                  <a:latin typeface="+mn-ea"/>
                </a:rPr>
                <a:t> FY27</a:t>
              </a:r>
              <a:r>
                <a:rPr lang="ja-JP" altLang="en-US" sz="1000" dirty="0">
                  <a:solidFill>
                    <a:schemeClr val="tx1"/>
                  </a:solidFill>
                  <a:latin typeface="+mn-ea"/>
                </a:rPr>
                <a:t>夏 </a:t>
              </a:r>
              <a:r>
                <a:rPr lang="en-US" altLang="ja-JP" sz="1000" dirty="0">
                  <a:solidFill>
                    <a:schemeClr val="tx1"/>
                  </a:solidFill>
                  <a:latin typeface="+mn-ea"/>
                </a:rPr>
                <a:t>: </a:t>
              </a:r>
              <a:r>
                <a:rPr lang="ja-JP" altLang="en-US" sz="1000" dirty="0">
                  <a:solidFill>
                    <a:schemeClr val="tx1"/>
                  </a:solidFill>
                  <a:latin typeface="+mn-ea"/>
                </a:rPr>
                <a:t>値引きに頼らない商談の成立＋事務</a:t>
              </a:r>
              <a:r>
                <a:rPr lang="en-US" altLang="ja-JP" sz="1000" dirty="0">
                  <a:solidFill>
                    <a:schemeClr val="tx1"/>
                  </a:solidFill>
                  <a:latin typeface="+mn-ea"/>
                </a:rPr>
                <a:t>3</a:t>
              </a:r>
              <a:r>
                <a:rPr lang="ja-JP" altLang="en-US" sz="1000" dirty="0">
                  <a:solidFill>
                    <a:schemeClr val="tx1"/>
                  </a:solidFill>
                  <a:latin typeface="+mn-ea"/>
                </a:rPr>
                <a:t>割減→ 合格なら拡大投資を解禁</a:t>
              </a:r>
            </a:p>
          </p:txBody>
        </p:sp>
        <p:sp>
          <p:nvSpPr>
            <p:cNvPr id="161" name="吹き出し: 四角形 160">
              <a:extLst>
                <a:ext uri="{FF2B5EF4-FFF2-40B4-BE49-F238E27FC236}">
                  <a16:creationId xmlns:a16="http://schemas.microsoft.com/office/drawing/2014/main" id="{D59DF97E-AA3C-9560-9F08-ED45330ABA14}"/>
                </a:ext>
              </a:extLst>
            </p:cNvPr>
            <p:cNvSpPr/>
            <p:nvPr/>
          </p:nvSpPr>
          <p:spPr>
            <a:xfrm>
              <a:off x="5660319" y="5900732"/>
              <a:ext cx="2506443" cy="407991"/>
            </a:xfrm>
            <a:prstGeom prst="wedgeRectCallout">
              <a:avLst>
                <a:gd name="adj1" fmla="val 55350"/>
                <a:gd name="adj2" fmla="val -41973"/>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950" dirty="0">
                  <a:solidFill>
                    <a:schemeClr val="tx1"/>
                  </a:solidFill>
                  <a:latin typeface="+mn-ea"/>
                </a:rPr>
                <a:t>②</a:t>
              </a:r>
              <a:r>
                <a:rPr lang="en-US" altLang="ja-JP" sz="950" dirty="0">
                  <a:solidFill>
                    <a:schemeClr val="tx1"/>
                  </a:solidFill>
                  <a:latin typeface="+mn-ea"/>
                </a:rPr>
                <a:t>FY28</a:t>
              </a:r>
              <a:r>
                <a:rPr lang="ja-JP" altLang="en-US" sz="950" dirty="0">
                  <a:solidFill>
                    <a:schemeClr val="tx1"/>
                  </a:solidFill>
                  <a:latin typeface="+mn-ea"/>
                </a:rPr>
                <a:t>末 </a:t>
              </a:r>
              <a:r>
                <a:rPr lang="en-US" altLang="ja-JP" sz="950" dirty="0">
                  <a:solidFill>
                    <a:schemeClr val="tx1"/>
                  </a:solidFill>
                  <a:latin typeface="+mn-ea"/>
                </a:rPr>
                <a:t>: </a:t>
              </a:r>
              <a:r>
                <a:rPr lang="ja-JP" altLang="en-US" sz="950" dirty="0">
                  <a:solidFill>
                    <a:schemeClr val="tx1"/>
                  </a:solidFill>
                  <a:latin typeface="+mn-ea"/>
                </a:rPr>
                <a:t>共同事業を他社でも再現＋</a:t>
              </a:r>
              <a:br>
                <a:rPr lang="en-US" altLang="ja-JP" sz="950" dirty="0">
                  <a:solidFill>
                    <a:schemeClr val="tx1"/>
                  </a:solidFill>
                  <a:latin typeface="+mn-ea"/>
                </a:rPr>
              </a:br>
              <a:r>
                <a:rPr lang="ja-JP" altLang="en-US" sz="950" dirty="0">
                  <a:solidFill>
                    <a:schemeClr val="tx1"/>
                  </a:solidFill>
                  <a:latin typeface="+mn-ea"/>
                </a:rPr>
                <a:t>歯科経由販売の実証→ 合格なら組織を正式化</a:t>
              </a:r>
              <a:br>
                <a:rPr lang="en-US" altLang="ja-JP" sz="950" dirty="0">
                  <a:solidFill>
                    <a:schemeClr val="tx1"/>
                  </a:solidFill>
                  <a:latin typeface="+mn-ea"/>
                </a:rPr>
              </a:br>
              <a:r>
                <a:rPr lang="ja-JP" altLang="en-US" sz="950" dirty="0">
                  <a:solidFill>
                    <a:schemeClr val="tx1"/>
                  </a:solidFill>
                  <a:latin typeface="+mn-ea"/>
                </a:rPr>
                <a:t>し、データ基盤に本格投資</a:t>
              </a:r>
            </a:p>
          </p:txBody>
        </p:sp>
        <p:sp>
          <p:nvSpPr>
            <p:cNvPr id="162" name="吹き出し: 四角形 161">
              <a:extLst>
                <a:ext uri="{FF2B5EF4-FFF2-40B4-BE49-F238E27FC236}">
                  <a16:creationId xmlns:a16="http://schemas.microsoft.com/office/drawing/2014/main" id="{7C4F9913-3686-C5E4-B5D2-3D5D7A68F635}"/>
                </a:ext>
              </a:extLst>
            </p:cNvPr>
            <p:cNvSpPr/>
            <p:nvPr/>
          </p:nvSpPr>
          <p:spPr>
            <a:xfrm>
              <a:off x="9182147" y="5900732"/>
              <a:ext cx="2506443" cy="404164"/>
            </a:xfrm>
            <a:prstGeom prst="wedgeRectCallout">
              <a:avLst>
                <a:gd name="adj1" fmla="val 55350"/>
                <a:gd name="adj2" fmla="val -41973"/>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000" dirty="0">
                  <a:solidFill>
                    <a:schemeClr val="tx1"/>
                  </a:solidFill>
                  <a:latin typeface="+mn-ea"/>
                </a:rPr>
                <a:t>③</a:t>
              </a:r>
              <a:r>
                <a:rPr lang="en-US" altLang="ja-JP" sz="1000" dirty="0">
                  <a:solidFill>
                    <a:schemeClr val="tx1"/>
                  </a:solidFill>
                  <a:latin typeface="+mn-ea"/>
                </a:rPr>
                <a:t> FY30</a:t>
              </a:r>
              <a:r>
                <a:rPr lang="ja-JP" altLang="en-US" sz="1000" dirty="0">
                  <a:solidFill>
                    <a:schemeClr val="tx1"/>
                  </a:solidFill>
                  <a:latin typeface="+mn-ea"/>
                </a:rPr>
                <a:t>：統合報告書で</a:t>
              </a:r>
              <a:r>
                <a:rPr lang="en-US" altLang="ja-JP" sz="1000" dirty="0">
                  <a:solidFill>
                    <a:schemeClr val="tx1"/>
                  </a:solidFill>
                  <a:latin typeface="+mn-ea"/>
                </a:rPr>
                <a:t>KPI</a:t>
              </a:r>
              <a:r>
                <a:rPr lang="ja-JP" altLang="en-US" sz="1000" dirty="0">
                  <a:solidFill>
                    <a:schemeClr val="tx1"/>
                  </a:solidFill>
                  <a:latin typeface="+mn-ea"/>
                </a:rPr>
                <a:t>を開示</a:t>
              </a:r>
              <a:br>
                <a:rPr lang="en-US" altLang="ja-JP" sz="1000" dirty="0">
                  <a:solidFill>
                    <a:schemeClr val="tx1"/>
                  </a:solidFill>
                  <a:latin typeface="+mn-ea"/>
                </a:rPr>
              </a:br>
              <a:r>
                <a:rPr lang="ja-JP" altLang="en-US" sz="1000" dirty="0">
                  <a:solidFill>
                    <a:schemeClr val="tx1"/>
                  </a:solidFill>
                  <a:latin typeface="+mn-ea"/>
                </a:rPr>
                <a:t>→ 全社標準化・評価制度の切替</a:t>
              </a:r>
            </a:p>
          </p:txBody>
        </p:sp>
        <p:pic>
          <p:nvPicPr>
            <p:cNvPr id="164" name="グラフィックス 163" descr="フローチャート 単色塗りつぶし">
              <a:extLst>
                <a:ext uri="{FF2B5EF4-FFF2-40B4-BE49-F238E27FC236}">
                  <a16:creationId xmlns:a16="http://schemas.microsoft.com/office/drawing/2014/main" id="{2779BB29-4C2F-27F3-BA39-C37535C8ECE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510986" y="5460294"/>
              <a:ext cx="320492" cy="320492"/>
            </a:xfrm>
            <a:prstGeom prst="rect">
              <a:avLst/>
            </a:prstGeom>
          </p:spPr>
        </p:pic>
        <p:pic>
          <p:nvPicPr>
            <p:cNvPr id="166" name="グラフィックス 165" descr="ロボット 単色塗りつぶし">
              <a:extLst>
                <a:ext uri="{FF2B5EF4-FFF2-40B4-BE49-F238E27FC236}">
                  <a16:creationId xmlns:a16="http://schemas.microsoft.com/office/drawing/2014/main" id="{2CFF18BF-5D81-DCB9-ABB0-247171F0078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3018" y="4976110"/>
              <a:ext cx="320492" cy="320492"/>
            </a:xfrm>
            <a:prstGeom prst="rect">
              <a:avLst/>
            </a:prstGeom>
          </p:spPr>
        </p:pic>
        <p:pic>
          <p:nvPicPr>
            <p:cNvPr id="170" name="グラフィックス 169" descr="ドキュメント 単色塗りつぶし">
              <a:extLst>
                <a:ext uri="{FF2B5EF4-FFF2-40B4-BE49-F238E27FC236}">
                  <a16:creationId xmlns:a16="http://schemas.microsoft.com/office/drawing/2014/main" id="{84A5E526-F7B0-A6C9-BD5B-ABD8B865D2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10986" y="4491926"/>
              <a:ext cx="320492" cy="320492"/>
            </a:xfrm>
            <a:prstGeom prst="rect">
              <a:avLst/>
            </a:prstGeom>
          </p:spPr>
        </p:pic>
        <p:pic>
          <p:nvPicPr>
            <p:cNvPr id="172" name="グラフィックス 171" descr="統計 単色塗りつぶし">
              <a:extLst>
                <a:ext uri="{FF2B5EF4-FFF2-40B4-BE49-F238E27FC236}">
                  <a16:creationId xmlns:a16="http://schemas.microsoft.com/office/drawing/2014/main" id="{CBC9C2BE-A3C4-664F-585D-C7D18323777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510986" y="4007742"/>
              <a:ext cx="320492" cy="320492"/>
            </a:xfrm>
            <a:prstGeom prst="rect">
              <a:avLst/>
            </a:prstGeom>
          </p:spPr>
        </p:pic>
        <p:pic>
          <p:nvPicPr>
            <p:cNvPr id="174" name="グラフィックス 173" descr="環状の矢印 単色塗りつぶし">
              <a:extLst>
                <a:ext uri="{FF2B5EF4-FFF2-40B4-BE49-F238E27FC236}">
                  <a16:creationId xmlns:a16="http://schemas.microsoft.com/office/drawing/2014/main" id="{B9AE1B7C-22FC-6C76-9BFA-F5E90D3D16E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10986" y="3523558"/>
              <a:ext cx="320492" cy="320492"/>
            </a:xfrm>
            <a:prstGeom prst="rect">
              <a:avLst/>
            </a:prstGeom>
          </p:spPr>
        </p:pic>
        <p:pic>
          <p:nvPicPr>
            <p:cNvPr id="176" name="グラフィックス 175" descr="硬貨 単色塗りつぶし">
              <a:extLst>
                <a:ext uri="{FF2B5EF4-FFF2-40B4-BE49-F238E27FC236}">
                  <a16:creationId xmlns:a16="http://schemas.microsoft.com/office/drawing/2014/main" id="{4AA07B0D-4DC5-BF74-2D5E-34B4892E1C6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510986" y="3039374"/>
              <a:ext cx="320492" cy="320492"/>
            </a:xfrm>
            <a:prstGeom prst="rect">
              <a:avLst/>
            </a:prstGeom>
          </p:spPr>
        </p:pic>
        <p:pic>
          <p:nvPicPr>
            <p:cNvPr id="178" name="グラフィックス 177" descr="受信箱 単色塗りつぶし">
              <a:extLst>
                <a:ext uri="{FF2B5EF4-FFF2-40B4-BE49-F238E27FC236}">
                  <a16:creationId xmlns:a16="http://schemas.microsoft.com/office/drawing/2014/main" id="{1CBF9439-E3C5-D1D8-2360-A9B9270ECDF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510986" y="2071006"/>
              <a:ext cx="320492" cy="320492"/>
            </a:xfrm>
            <a:prstGeom prst="rect">
              <a:avLst/>
            </a:prstGeom>
          </p:spPr>
        </p:pic>
        <p:pic>
          <p:nvPicPr>
            <p:cNvPr id="180" name="グラフィックス 179" descr="校舎 単色塗りつぶし">
              <a:extLst>
                <a:ext uri="{FF2B5EF4-FFF2-40B4-BE49-F238E27FC236}">
                  <a16:creationId xmlns:a16="http://schemas.microsoft.com/office/drawing/2014/main" id="{1E3AB65F-34D3-59E0-3FFB-A72846C9A0F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510986" y="2555190"/>
              <a:ext cx="320492" cy="320492"/>
            </a:xfrm>
            <a:prstGeom prst="rect">
              <a:avLst/>
            </a:prstGeom>
          </p:spPr>
        </p:pic>
      </p:grpSp>
    </p:spTree>
    <p:extLst>
      <p:ext uri="{BB962C8B-B14F-4D97-AF65-F5344CB8AC3E}">
        <p14:creationId xmlns:p14="http://schemas.microsoft.com/office/powerpoint/2010/main" val="3229771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90984-84C4-7A60-2D16-DACFBBC6E714}"/>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D0017C01-ABD6-85C7-0C29-F432205BD96F}"/>
              </a:ext>
            </a:extLst>
          </p:cNvPr>
          <p:cNvSpPr>
            <a:spLocks noGrp="1"/>
          </p:cNvSpPr>
          <p:nvPr>
            <p:ph type="body" sz="quarter" idx="13"/>
          </p:nvPr>
        </p:nvSpPr>
        <p:spPr/>
        <p:txBody>
          <a:bodyPr/>
          <a:lstStyle/>
          <a:p>
            <a:r>
              <a:rPr kumimoji="1" lang="ja-JP" altLang="en-US" sz="1800" dirty="0"/>
              <a:t>本体制は、意思決定層、プロジェクト管理、実務実行、の</a:t>
            </a:r>
            <a:r>
              <a:rPr lang="en-US" altLang="ja-JP" sz="1800" dirty="0"/>
              <a:t>3</a:t>
            </a:r>
            <a:r>
              <a:rPr kumimoji="1" lang="ja-JP" altLang="en-US" sz="1800" dirty="0"/>
              <a:t>つの階層で構成する</a:t>
            </a:r>
            <a:endParaRPr kumimoji="1" lang="en-US" altLang="ja-JP" sz="1800" dirty="0"/>
          </a:p>
          <a:p>
            <a:r>
              <a:rPr kumimoji="1" lang="ja-JP" altLang="en-US" sz="1800" dirty="0"/>
              <a:t>報告はサス協議会及び進捗報告会</a:t>
            </a:r>
            <a:r>
              <a:rPr lang="ja-JP" altLang="en-US" sz="1800" dirty="0"/>
              <a:t>（月</a:t>
            </a:r>
            <a:r>
              <a:rPr lang="en-US" altLang="ja-JP" sz="1800" dirty="0"/>
              <a:t>1</a:t>
            </a:r>
            <a:r>
              <a:rPr lang="ja-JP" altLang="en-US" sz="1800" dirty="0"/>
              <a:t>回）で実施、関連部門へ共有する</a:t>
            </a:r>
            <a:endParaRPr kumimoji="1" lang="ja-JP" altLang="en-US" sz="1800" dirty="0"/>
          </a:p>
        </p:txBody>
      </p:sp>
      <p:grpSp>
        <p:nvGrpSpPr>
          <p:cNvPr id="271" name="グループ化 270">
            <a:extLst>
              <a:ext uri="{FF2B5EF4-FFF2-40B4-BE49-F238E27FC236}">
                <a16:creationId xmlns:a16="http://schemas.microsoft.com/office/drawing/2014/main" id="{4B486C56-E546-8EE7-51D1-4FCFA9F42D1C}"/>
              </a:ext>
            </a:extLst>
          </p:cNvPr>
          <p:cNvGrpSpPr/>
          <p:nvPr/>
        </p:nvGrpSpPr>
        <p:grpSpPr>
          <a:xfrm>
            <a:off x="6143615" y="2318611"/>
            <a:ext cx="1988708" cy="279271"/>
            <a:chOff x="6606682" y="2090011"/>
            <a:chExt cx="1988708" cy="279271"/>
          </a:xfrm>
        </p:grpSpPr>
        <p:sp>
          <p:nvSpPr>
            <p:cNvPr id="10" name="table_TWformat_1_1">
              <a:extLst>
                <a:ext uri="{FF2B5EF4-FFF2-40B4-BE49-F238E27FC236}">
                  <a16:creationId xmlns:a16="http://schemas.microsoft.com/office/drawing/2014/main" id="{B086F2C5-6B28-2DAB-2B21-AB972545926B}"/>
                </a:ext>
              </a:extLst>
            </p:cNvPr>
            <p:cNvSpPr txBox="1"/>
            <p:nvPr/>
          </p:nvSpPr>
          <p:spPr>
            <a:xfrm>
              <a:off x="6606682" y="2090011"/>
              <a:ext cx="1980000" cy="216479"/>
            </a:xfrm>
            <a:prstGeom prst="rect">
              <a:avLst/>
            </a:prstGeom>
            <a:noFill/>
          </p:spPr>
          <p:txBody>
            <a:bodyPr vert="horz" wrap="square" lIns="36000" tIns="36000" rIns="36000" bIns="36000" rtlCol="0" anchor="ctr">
              <a:noAutofit/>
            </a:bodyPr>
            <a:lstStyle>
              <a:defPPr>
                <a:defRPr lang="ja-JP"/>
              </a:defPPr>
              <a:lvl1pPr algn="ctr">
                <a:buClr>
                  <a:schemeClr val="accent1"/>
                </a:buClr>
                <a:defRPr sz="1400">
                  <a:solidFill>
                    <a:srgbClr val="414141"/>
                  </a:solidFill>
                  <a:latin typeface="Trebuchet MS" panose="020B0703020202090204" pitchFamily="34" charset="0"/>
                  <a:ea typeface="Meiryo" panose="020B0604030504040204" pitchFamily="34" charset="-128"/>
                </a:defRPr>
              </a:lvl1p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a:ea typeface="Meiryo UI"/>
                  <a:cs typeface="+mn-cs"/>
                </a:rPr>
                <a:t>ロール</a:t>
              </a:r>
            </a:p>
          </p:txBody>
        </p:sp>
        <p:cxnSp>
          <p:nvCxnSpPr>
            <p:cNvPr id="11" name="Straight Connector 50">
              <a:extLst>
                <a:ext uri="{FF2B5EF4-FFF2-40B4-BE49-F238E27FC236}">
                  <a16:creationId xmlns:a16="http://schemas.microsoft.com/office/drawing/2014/main" id="{9DF6B33D-6BC7-2A65-018D-E086827403E2}"/>
                </a:ext>
              </a:extLst>
            </p:cNvPr>
            <p:cNvCxnSpPr/>
            <p:nvPr/>
          </p:nvCxnSpPr>
          <p:spPr>
            <a:xfrm>
              <a:off x="6615390" y="2369282"/>
              <a:ext cx="1980000" cy="0"/>
            </a:xfrm>
            <a:prstGeom prst="line">
              <a:avLst/>
            </a:prstGeom>
            <a:ln w="9525">
              <a:solidFill>
                <a:srgbClr val="414141"/>
              </a:solidFill>
              <a:prstDash val="solid"/>
            </a:ln>
          </p:spPr>
          <p:style>
            <a:lnRef idx="1">
              <a:schemeClr val="accent1"/>
            </a:lnRef>
            <a:fillRef idx="0">
              <a:schemeClr val="accent1"/>
            </a:fillRef>
            <a:effectRef idx="0">
              <a:schemeClr val="accent1"/>
            </a:effectRef>
            <a:fontRef idx="minor">
              <a:schemeClr val="tx1"/>
            </a:fontRef>
          </p:style>
        </p:cxnSp>
      </p:grpSp>
      <p:grpSp>
        <p:nvGrpSpPr>
          <p:cNvPr id="312" name="グループ化 311">
            <a:extLst>
              <a:ext uri="{FF2B5EF4-FFF2-40B4-BE49-F238E27FC236}">
                <a16:creationId xmlns:a16="http://schemas.microsoft.com/office/drawing/2014/main" id="{5306495B-1B37-6CC1-9BA5-1C3A29C3F422}"/>
              </a:ext>
            </a:extLst>
          </p:cNvPr>
          <p:cNvGrpSpPr/>
          <p:nvPr/>
        </p:nvGrpSpPr>
        <p:grpSpPr>
          <a:xfrm>
            <a:off x="6143615" y="5795514"/>
            <a:ext cx="2016002" cy="752832"/>
            <a:chOff x="6143615" y="5566914"/>
            <a:chExt cx="2016002" cy="752832"/>
          </a:xfrm>
        </p:grpSpPr>
        <p:sp>
          <p:nvSpPr>
            <p:cNvPr id="9" name="table_TWformat_5_1">
              <a:extLst>
                <a:ext uri="{FF2B5EF4-FFF2-40B4-BE49-F238E27FC236}">
                  <a16:creationId xmlns:a16="http://schemas.microsoft.com/office/drawing/2014/main" id="{6DC20D93-BF4A-77EC-16C9-47C80EF2E63E}"/>
                </a:ext>
              </a:extLst>
            </p:cNvPr>
            <p:cNvSpPr txBox="1"/>
            <p:nvPr/>
          </p:nvSpPr>
          <p:spPr>
            <a:xfrm>
              <a:off x="6143617" y="5566914"/>
              <a:ext cx="2016000" cy="741839"/>
            </a:xfrm>
            <a:prstGeom prst="rect">
              <a:avLst/>
            </a:prstGeom>
            <a:solidFill>
              <a:srgbClr val="008000">
                <a:alpha val="11000"/>
              </a:srgbClr>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100" b="0" i="0" u="none" strike="noStrike" kern="1200" cap="none" spc="0" normalizeH="0" baseline="0" noProof="0">
                <a:ln>
                  <a:noFill/>
                </a:ln>
                <a:solidFill>
                  <a:prstClr val="black"/>
                </a:solidFill>
                <a:effectLst/>
                <a:uLnTx/>
                <a:uFillTx/>
                <a:latin typeface="Meiryo UI"/>
                <a:ea typeface="Meiryo UI"/>
                <a:cs typeface="+mn-cs"/>
              </a:endParaRPr>
            </a:p>
          </p:txBody>
        </p:sp>
        <p:sp>
          <p:nvSpPr>
            <p:cNvPr id="135" name="table_TWformat_5_1">
              <a:extLst>
                <a:ext uri="{FF2B5EF4-FFF2-40B4-BE49-F238E27FC236}">
                  <a16:creationId xmlns:a16="http://schemas.microsoft.com/office/drawing/2014/main" id="{F97A9108-7B28-A36A-032B-E9C7C5C90298}"/>
                </a:ext>
              </a:extLst>
            </p:cNvPr>
            <p:cNvSpPr txBox="1"/>
            <p:nvPr/>
          </p:nvSpPr>
          <p:spPr>
            <a:xfrm>
              <a:off x="6143615" y="6053668"/>
              <a:ext cx="612000" cy="266078"/>
            </a:xfrm>
            <a:prstGeom prst="rect">
              <a:avLst/>
            </a:prstGeom>
            <a:noFill/>
          </p:spPr>
          <p:txBody>
            <a:bodyPr vert="horz" wrap="square" lIns="0" tIns="0" rIns="0" bIns="36000" rtlCol="0" anchor="ctr">
              <a:noAutofit/>
            </a:bodyPr>
            <a:lstStyle/>
            <a:p>
              <a:pPr marL="0" marR="0" lvl="0" indent="0" algn="ctr" defTabSz="914400" rtl="0" eaLnBrk="1" fontAlgn="auto" latinLnBrk="0" hangingPunct="1">
                <a:lnSpc>
                  <a:spcPct val="90000"/>
                </a:lnSpc>
                <a:spcBef>
                  <a:spcPts val="0"/>
                </a:spcBef>
                <a:spcAft>
                  <a:spcPts val="0"/>
                </a:spcAft>
                <a:buClr>
                  <a:srgbClr val="5B9BD5"/>
                </a:buClr>
                <a:buSzTx/>
                <a:buFontTx/>
                <a:buNone/>
                <a:tabLst/>
                <a:defRPr/>
              </a:pPr>
              <a:r>
                <a:rPr kumimoji="1" lang="ja-JP" altLang="en-US" sz="1100" b="0" i="0" u="none" strike="noStrike" kern="1200" cap="none" spc="0" normalizeH="0" baseline="0" noProof="0">
                  <a:ln>
                    <a:noFill/>
                  </a:ln>
                  <a:solidFill>
                    <a:srgbClr val="008000"/>
                  </a:solidFill>
                  <a:effectLst/>
                  <a:uLnTx/>
                  <a:uFillTx/>
                  <a:latin typeface="Meiryo UI"/>
                  <a:ea typeface="Meiryo UI"/>
                  <a:cs typeface="+mn-cs"/>
                </a:rPr>
                <a:t>メンバー</a:t>
              </a:r>
            </a:p>
          </p:txBody>
        </p:sp>
        <p:sp>
          <p:nvSpPr>
            <p:cNvPr id="136" name="table_TWformat_3_1">
              <a:extLst>
                <a:ext uri="{FF2B5EF4-FFF2-40B4-BE49-F238E27FC236}">
                  <a16:creationId xmlns:a16="http://schemas.microsoft.com/office/drawing/2014/main" id="{BFFE8C0F-B95E-30A3-2003-12B6272A3DC4}"/>
                </a:ext>
              </a:extLst>
            </p:cNvPr>
            <p:cNvSpPr txBox="1"/>
            <p:nvPr/>
          </p:nvSpPr>
          <p:spPr>
            <a:xfrm>
              <a:off x="6782207" y="5613833"/>
              <a:ext cx="1314000" cy="648000"/>
            </a:xfrm>
            <a:prstGeom prst="roundRect">
              <a:avLst>
                <a:gd name="adj" fmla="val 7065"/>
              </a:avLst>
            </a:prstGeom>
            <a:solidFill>
              <a:schemeClr val="bg1"/>
            </a:solidFill>
          </p:spPr>
          <p:txBody>
            <a:bodyPr vert="horz" wrap="square" lIns="36000" tIns="36000" rIns="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各専門領域において、データの収集、連携、</a:t>
              </a:r>
              <a:br>
                <a:rPr kumimoji="1" lang="en-US" altLang="ja-JP" sz="10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算定、活用を実行する</a:t>
              </a:r>
            </a:p>
          </p:txBody>
        </p:sp>
        <p:pic>
          <p:nvPicPr>
            <p:cNvPr id="166" name="グラフィックス 165" descr="ユーザー 単色塗りつぶし">
              <a:extLst>
                <a:ext uri="{FF2B5EF4-FFF2-40B4-BE49-F238E27FC236}">
                  <a16:creationId xmlns:a16="http://schemas.microsoft.com/office/drawing/2014/main" id="{3AEF1E91-FC16-EDA4-754B-A4C4C21FB50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51616" y="5668927"/>
              <a:ext cx="396000" cy="396000"/>
            </a:xfrm>
            <a:prstGeom prst="rect">
              <a:avLst/>
            </a:prstGeom>
          </p:spPr>
        </p:pic>
      </p:grpSp>
      <p:grpSp>
        <p:nvGrpSpPr>
          <p:cNvPr id="310" name="グループ化 309">
            <a:extLst>
              <a:ext uri="{FF2B5EF4-FFF2-40B4-BE49-F238E27FC236}">
                <a16:creationId xmlns:a16="http://schemas.microsoft.com/office/drawing/2014/main" id="{A8BE0B23-B33B-1CAA-946E-544E85E5D9FC}"/>
              </a:ext>
            </a:extLst>
          </p:cNvPr>
          <p:cNvGrpSpPr/>
          <p:nvPr/>
        </p:nvGrpSpPr>
        <p:grpSpPr>
          <a:xfrm>
            <a:off x="6143615" y="5011860"/>
            <a:ext cx="2016000" cy="750705"/>
            <a:chOff x="6143615" y="4783260"/>
            <a:chExt cx="2016000" cy="750705"/>
          </a:xfrm>
        </p:grpSpPr>
        <p:sp>
          <p:nvSpPr>
            <p:cNvPr id="184" name="table_TWformat_5_1">
              <a:extLst>
                <a:ext uri="{FF2B5EF4-FFF2-40B4-BE49-F238E27FC236}">
                  <a16:creationId xmlns:a16="http://schemas.microsoft.com/office/drawing/2014/main" id="{3BE31D70-B815-AC3C-C86E-3978E00AB36A}"/>
                </a:ext>
              </a:extLst>
            </p:cNvPr>
            <p:cNvSpPr txBox="1"/>
            <p:nvPr/>
          </p:nvSpPr>
          <p:spPr>
            <a:xfrm>
              <a:off x="6143615" y="4783260"/>
              <a:ext cx="2016000" cy="750409"/>
            </a:xfrm>
            <a:prstGeom prst="rect">
              <a:avLst/>
            </a:prstGeom>
            <a:solidFill>
              <a:srgbClr val="008000">
                <a:alpha val="11000"/>
              </a:srgbClr>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100" b="0" i="0" u="none" strike="noStrike" kern="1200" cap="none" spc="0" normalizeH="0" baseline="0" noProof="0">
                <a:ln>
                  <a:noFill/>
                </a:ln>
                <a:solidFill>
                  <a:prstClr val="black"/>
                </a:solidFill>
                <a:effectLst/>
                <a:uLnTx/>
                <a:uFillTx/>
                <a:latin typeface="Meiryo UI"/>
                <a:ea typeface="Meiryo UI"/>
                <a:cs typeface="+mn-cs"/>
              </a:endParaRPr>
            </a:p>
          </p:txBody>
        </p:sp>
        <p:sp>
          <p:nvSpPr>
            <p:cNvPr id="185" name="table_TWformat_3_1">
              <a:extLst>
                <a:ext uri="{FF2B5EF4-FFF2-40B4-BE49-F238E27FC236}">
                  <a16:creationId xmlns:a16="http://schemas.microsoft.com/office/drawing/2014/main" id="{86B231AA-5457-3CDD-29E3-5D4AFFFEB450}"/>
                </a:ext>
              </a:extLst>
            </p:cNvPr>
            <p:cNvSpPr txBox="1"/>
            <p:nvPr/>
          </p:nvSpPr>
          <p:spPr>
            <a:xfrm>
              <a:off x="6782205" y="4834464"/>
              <a:ext cx="1314000" cy="648000"/>
            </a:xfrm>
            <a:prstGeom prst="roundRect">
              <a:avLst>
                <a:gd name="adj" fmla="val 7065"/>
              </a:avLst>
            </a:prstGeom>
            <a:solidFill>
              <a:schemeClr val="bg1"/>
            </a:solidFill>
          </p:spPr>
          <p:txBody>
            <a:bodyPr vert="horz" wrap="square" lIns="36000" tIns="36000" rIns="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特定領域における</a:t>
              </a:r>
              <a:br>
                <a:rPr kumimoji="1" lang="en-US" altLang="ja-JP" sz="10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実務執行および</a:t>
              </a:r>
              <a:br>
                <a:rPr kumimoji="1" lang="en-US" altLang="ja-JP" sz="10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成果物の品質責任者</a:t>
              </a:r>
              <a:endParaRPr kumimoji="1" lang="en-US" altLang="ja-JP" sz="1000" b="0" i="0" u="none" strike="noStrike" kern="1200" cap="none" spc="0" normalizeH="0" baseline="0" noProof="0">
                <a:ln>
                  <a:noFill/>
                </a:ln>
                <a:solidFill>
                  <a:prstClr val="black"/>
                </a:solidFill>
                <a:effectLst/>
                <a:uLnTx/>
                <a:uFillTx/>
                <a:latin typeface="Meiryo UI"/>
                <a:ea typeface="Meiryo UI"/>
                <a:cs typeface="+mn-cs"/>
              </a:endParaRPr>
            </a:p>
          </p:txBody>
        </p:sp>
        <p:pic>
          <p:nvPicPr>
            <p:cNvPr id="193" name="グラフィックス 192" descr="ユーザー 単色塗りつぶし">
              <a:extLst>
                <a:ext uri="{FF2B5EF4-FFF2-40B4-BE49-F238E27FC236}">
                  <a16:creationId xmlns:a16="http://schemas.microsoft.com/office/drawing/2014/main" id="{932D4DFD-A7F3-DAD9-3271-94DD84A6A83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14" y="4844820"/>
              <a:ext cx="396000" cy="396000"/>
            </a:xfrm>
            <a:prstGeom prst="rect">
              <a:avLst/>
            </a:prstGeom>
          </p:spPr>
        </p:pic>
        <p:sp>
          <p:nvSpPr>
            <p:cNvPr id="194" name="table_TWformat_5_1">
              <a:extLst>
                <a:ext uri="{FF2B5EF4-FFF2-40B4-BE49-F238E27FC236}">
                  <a16:creationId xmlns:a16="http://schemas.microsoft.com/office/drawing/2014/main" id="{3493F7D7-C849-1C4A-4A31-D9B1A6678A02}"/>
                </a:ext>
              </a:extLst>
            </p:cNvPr>
            <p:cNvSpPr txBox="1"/>
            <p:nvPr/>
          </p:nvSpPr>
          <p:spPr>
            <a:xfrm>
              <a:off x="6143615" y="5267887"/>
              <a:ext cx="612000" cy="266078"/>
            </a:xfrm>
            <a:prstGeom prst="rect">
              <a:avLst/>
            </a:prstGeom>
            <a:noFill/>
          </p:spPr>
          <p:txBody>
            <a:bodyPr vert="horz" wrap="square" lIns="0" tIns="0" rIns="0" bIns="36000" rtlCol="0" anchor="ctr">
              <a:noAutofit/>
            </a:bodyPr>
            <a:lstStyle/>
            <a:p>
              <a:pPr marL="0" marR="0" lvl="0" indent="0" algn="ctr" defTabSz="914400" rtl="0" eaLnBrk="1" fontAlgn="auto" latinLnBrk="0" hangingPunct="1">
                <a:lnSpc>
                  <a:spcPct val="90000"/>
                </a:lnSpc>
                <a:spcBef>
                  <a:spcPts val="0"/>
                </a:spcBef>
                <a:spcAft>
                  <a:spcPts val="0"/>
                </a:spcAft>
                <a:buClr>
                  <a:srgbClr val="5B9BD5"/>
                </a:buClr>
                <a:buSzTx/>
                <a:buFontTx/>
                <a:buNone/>
                <a:tabLst/>
                <a:defRPr/>
              </a:pPr>
              <a:r>
                <a:rPr kumimoji="1" lang="en-US" altLang="ja-JP" sz="1100" b="0" i="0" u="none" strike="noStrike" kern="1200" cap="none" spc="0" normalizeH="0" baseline="0" noProof="0">
                  <a:ln>
                    <a:noFill/>
                  </a:ln>
                  <a:solidFill>
                    <a:srgbClr val="008000"/>
                  </a:solidFill>
                  <a:effectLst/>
                  <a:uLnTx/>
                  <a:uFillTx/>
                  <a:latin typeface="Meiryo UI"/>
                  <a:ea typeface="Meiryo UI"/>
                  <a:cs typeface="+mn-cs"/>
                </a:rPr>
                <a:t>PL</a:t>
              </a:r>
            </a:p>
            <a:p>
              <a:pPr marL="0" marR="0" lvl="0" indent="0" algn="ctr" defTabSz="914400" rtl="0" eaLnBrk="1" fontAlgn="auto" latinLnBrk="0" hangingPunct="1">
                <a:lnSpc>
                  <a:spcPct val="90000"/>
                </a:lnSpc>
                <a:spcBef>
                  <a:spcPts val="0"/>
                </a:spcBef>
                <a:spcAft>
                  <a:spcPts val="0"/>
                </a:spcAft>
                <a:buClr>
                  <a:srgbClr val="5B9BD5"/>
                </a:buClr>
                <a:buSzTx/>
                <a:buFontTx/>
                <a:buNone/>
                <a:tabLst/>
                <a:defRPr/>
              </a:pPr>
              <a:r>
                <a:rPr kumimoji="1" lang="en-US" altLang="ja-JP" sz="600" b="0" i="0" u="none" strike="noStrike" kern="1200" cap="none" spc="0" normalizeH="0" baseline="0" noProof="0">
                  <a:ln>
                    <a:noFill/>
                  </a:ln>
                  <a:solidFill>
                    <a:srgbClr val="008000"/>
                  </a:solidFill>
                  <a:effectLst/>
                  <a:uLnTx/>
                  <a:uFillTx/>
                  <a:latin typeface="Meiryo UI"/>
                  <a:ea typeface="Meiryo UI"/>
                  <a:cs typeface="+mn-cs"/>
                </a:rPr>
                <a:t>(Project Leader)</a:t>
              </a:r>
              <a:endParaRPr kumimoji="1" lang="ja-JP" altLang="en-US" sz="600" b="0" i="0" u="none" strike="noStrike" kern="1200" cap="none" spc="0" normalizeH="0" baseline="0" noProof="0">
                <a:ln>
                  <a:noFill/>
                </a:ln>
                <a:solidFill>
                  <a:srgbClr val="008000"/>
                </a:solidFill>
                <a:effectLst/>
                <a:uLnTx/>
                <a:uFillTx/>
                <a:latin typeface="Meiryo UI"/>
                <a:ea typeface="Meiryo UI"/>
                <a:cs typeface="+mn-cs"/>
              </a:endParaRPr>
            </a:p>
          </p:txBody>
        </p:sp>
      </p:grpSp>
      <p:grpSp>
        <p:nvGrpSpPr>
          <p:cNvPr id="308" name="グループ化 307">
            <a:extLst>
              <a:ext uri="{FF2B5EF4-FFF2-40B4-BE49-F238E27FC236}">
                <a16:creationId xmlns:a16="http://schemas.microsoft.com/office/drawing/2014/main" id="{4437899E-EA20-7FAE-5B51-EDDEDC50DB08}"/>
              </a:ext>
            </a:extLst>
          </p:cNvPr>
          <p:cNvGrpSpPr/>
          <p:nvPr/>
        </p:nvGrpSpPr>
        <p:grpSpPr>
          <a:xfrm>
            <a:off x="6143615" y="4227936"/>
            <a:ext cx="2029618" cy="750475"/>
            <a:chOff x="6143615" y="3999336"/>
            <a:chExt cx="2029618" cy="750475"/>
          </a:xfrm>
        </p:grpSpPr>
        <p:sp>
          <p:nvSpPr>
            <p:cNvPr id="196" name="table_TWformat_5_1">
              <a:extLst>
                <a:ext uri="{FF2B5EF4-FFF2-40B4-BE49-F238E27FC236}">
                  <a16:creationId xmlns:a16="http://schemas.microsoft.com/office/drawing/2014/main" id="{F3E462AE-AA15-42DC-FCB0-75668DA2847B}"/>
                </a:ext>
              </a:extLst>
            </p:cNvPr>
            <p:cNvSpPr txBox="1"/>
            <p:nvPr/>
          </p:nvSpPr>
          <p:spPr>
            <a:xfrm>
              <a:off x="6157233" y="3999336"/>
              <a:ext cx="2016000" cy="750475"/>
            </a:xfrm>
            <a:prstGeom prst="rect">
              <a:avLst/>
            </a:prstGeom>
            <a:solidFill>
              <a:srgbClr val="008000">
                <a:alpha val="11000"/>
              </a:srgbClr>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100" b="0" i="0" u="none" strike="noStrike" kern="1200" cap="none" spc="0" normalizeH="0" baseline="0" noProof="0">
                <a:ln>
                  <a:noFill/>
                </a:ln>
                <a:solidFill>
                  <a:prstClr val="black"/>
                </a:solidFill>
                <a:effectLst/>
                <a:uLnTx/>
                <a:uFillTx/>
                <a:latin typeface="Meiryo UI"/>
                <a:ea typeface="Meiryo UI"/>
                <a:cs typeface="+mn-cs"/>
              </a:endParaRPr>
            </a:p>
          </p:txBody>
        </p:sp>
        <p:sp>
          <p:nvSpPr>
            <p:cNvPr id="14" name="table_TWformat_4_1">
              <a:extLst>
                <a:ext uri="{FF2B5EF4-FFF2-40B4-BE49-F238E27FC236}">
                  <a16:creationId xmlns:a16="http://schemas.microsoft.com/office/drawing/2014/main" id="{1B9B0897-2680-4661-9387-716404B4F8A2}"/>
                </a:ext>
              </a:extLst>
            </p:cNvPr>
            <p:cNvSpPr txBox="1"/>
            <p:nvPr/>
          </p:nvSpPr>
          <p:spPr>
            <a:xfrm>
              <a:off x="6143615" y="4465488"/>
              <a:ext cx="612000" cy="266078"/>
            </a:xfrm>
            <a:prstGeom prst="rect">
              <a:avLst/>
            </a:prstGeom>
            <a:noFill/>
          </p:spPr>
          <p:txBody>
            <a:bodyPr vert="horz" wrap="square" lIns="0" tIns="0" rIns="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a:ln>
                    <a:noFill/>
                  </a:ln>
                  <a:solidFill>
                    <a:srgbClr val="008000"/>
                  </a:solidFill>
                  <a:effectLst/>
                  <a:uLnTx/>
                  <a:uFillTx/>
                  <a:latin typeface="Meiryo UI"/>
                  <a:ea typeface="Meiryo UI"/>
                  <a:cs typeface="+mn-cs"/>
                </a:rPr>
                <a:t>PM / PMO</a:t>
              </a:r>
              <a:endParaRPr kumimoji="1" lang="ja-JP" altLang="en-US" sz="1000" b="0" i="0" u="none" strike="noStrike" kern="1200" cap="none" spc="0" normalizeH="0" baseline="0" noProof="0">
                <a:ln>
                  <a:noFill/>
                </a:ln>
                <a:solidFill>
                  <a:srgbClr val="008000"/>
                </a:solidFill>
                <a:effectLst/>
                <a:uLnTx/>
                <a:uFillTx/>
                <a:latin typeface="Meiryo UI"/>
                <a:ea typeface="Meiryo UI"/>
                <a:cs typeface="+mn-cs"/>
              </a:endParaRPr>
            </a:p>
          </p:txBody>
        </p:sp>
        <p:pic>
          <p:nvPicPr>
            <p:cNvPr id="197" name="グラフィックス 196" descr="ユーザー 単色塗りつぶし">
              <a:extLst>
                <a:ext uri="{FF2B5EF4-FFF2-40B4-BE49-F238E27FC236}">
                  <a16:creationId xmlns:a16="http://schemas.microsoft.com/office/drawing/2014/main" id="{02665501-E096-4A46-63DE-D3CBE29F09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16" y="4069621"/>
              <a:ext cx="396000" cy="396000"/>
            </a:xfrm>
            <a:prstGeom prst="rect">
              <a:avLst/>
            </a:prstGeom>
          </p:spPr>
        </p:pic>
        <p:sp>
          <p:nvSpPr>
            <p:cNvPr id="26" name="table_TWformat_3_1">
              <a:extLst>
                <a:ext uri="{FF2B5EF4-FFF2-40B4-BE49-F238E27FC236}">
                  <a16:creationId xmlns:a16="http://schemas.microsoft.com/office/drawing/2014/main" id="{9EDE74E4-414E-3F0E-1D6B-1F0D274D5AEB}"/>
                </a:ext>
              </a:extLst>
            </p:cNvPr>
            <p:cNvSpPr txBox="1"/>
            <p:nvPr/>
          </p:nvSpPr>
          <p:spPr>
            <a:xfrm>
              <a:off x="6795823" y="4066247"/>
              <a:ext cx="1314000" cy="616653"/>
            </a:xfrm>
            <a:prstGeom prst="roundRect">
              <a:avLst>
                <a:gd name="adj" fmla="val 7065"/>
              </a:avLst>
            </a:prstGeom>
            <a:solidFill>
              <a:schemeClr val="bg1"/>
            </a:solidFill>
          </p:spPr>
          <p:txBody>
            <a:bodyPr vert="horz" wrap="square" lIns="36000" tIns="36000" rIns="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プロジェクトの全体管理</a:t>
              </a:r>
              <a:br>
                <a:rPr kumimoji="1" lang="en-US" altLang="ja-JP" sz="10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および遂行支援を実施</a:t>
              </a:r>
            </a:p>
          </p:txBody>
        </p:sp>
      </p:grpSp>
      <p:grpSp>
        <p:nvGrpSpPr>
          <p:cNvPr id="306" name="グループ化 305">
            <a:extLst>
              <a:ext uri="{FF2B5EF4-FFF2-40B4-BE49-F238E27FC236}">
                <a16:creationId xmlns:a16="http://schemas.microsoft.com/office/drawing/2014/main" id="{B65324BA-3CEC-2C03-602E-9BF3B80F26F7}"/>
              </a:ext>
            </a:extLst>
          </p:cNvPr>
          <p:cNvGrpSpPr/>
          <p:nvPr/>
        </p:nvGrpSpPr>
        <p:grpSpPr>
          <a:xfrm>
            <a:off x="6143615" y="3443940"/>
            <a:ext cx="2016000" cy="750613"/>
            <a:chOff x="6143615" y="3215340"/>
            <a:chExt cx="2016000" cy="750613"/>
          </a:xfrm>
        </p:grpSpPr>
        <p:sp>
          <p:nvSpPr>
            <p:cNvPr id="199" name="table_TWformat_5_1">
              <a:extLst>
                <a:ext uri="{FF2B5EF4-FFF2-40B4-BE49-F238E27FC236}">
                  <a16:creationId xmlns:a16="http://schemas.microsoft.com/office/drawing/2014/main" id="{A6E48DCA-9E32-8EE2-94CB-A9F86F8C2E3E}"/>
                </a:ext>
              </a:extLst>
            </p:cNvPr>
            <p:cNvSpPr txBox="1"/>
            <p:nvPr/>
          </p:nvSpPr>
          <p:spPr>
            <a:xfrm>
              <a:off x="6143615" y="3215340"/>
              <a:ext cx="2016000" cy="750613"/>
            </a:xfrm>
            <a:prstGeom prst="rect">
              <a:avLst/>
            </a:prstGeom>
            <a:solidFill>
              <a:srgbClr val="008000">
                <a:alpha val="11000"/>
              </a:srgbClr>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100" b="0" i="0" u="none" strike="noStrike" kern="1200" cap="none" spc="0" normalizeH="0" baseline="0" noProof="0">
                <a:ln>
                  <a:noFill/>
                </a:ln>
                <a:solidFill>
                  <a:prstClr val="black"/>
                </a:solidFill>
                <a:effectLst/>
                <a:uLnTx/>
                <a:uFillTx/>
                <a:latin typeface="Meiryo UI"/>
                <a:ea typeface="Meiryo UI"/>
                <a:cs typeface="+mn-cs"/>
              </a:endParaRPr>
            </a:p>
          </p:txBody>
        </p:sp>
        <p:sp>
          <p:nvSpPr>
            <p:cNvPr id="13" name="table_TWformat_3_1">
              <a:extLst>
                <a:ext uri="{FF2B5EF4-FFF2-40B4-BE49-F238E27FC236}">
                  <a16:creationId xmlns:a16="http://schemas.microsoft.com/office/drawing/2014/main" id="{F1F1C1FA-80C0-B129-F3F5-92070145D238}"/>
                </a:ext>
              </a:extLst>
            </p:cNvPr>
            <p:cNvSpPr txBox="1"/>
            <p:nvPr/>
          </p:nvSpPr>
          <p:spPr>
            <a:xfrm>
              <a:off x="6143615" y="3696327"/>
              <a:ext cx="612000" cy="266078"/>
            </a:xfrm>
            <a:prstGeom prst="rect">
              <a:avLst/>
            </a:prstGeom>
            <a:noFill/>
          </p:spPr>
          <p:txBody>
            <a:bodyPr vert="horz" wrap="square" lIns="0" tIns="0" rIns="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a:ln>
                    <a:noFill/>
                  </a:ln>
                  <a:solidFill>
                    <a:srgbClr val="008000"/>
                  </a:solidFill>
                  <a:effectLst/>
                  <a:uLnTx/>
                  <a:uFillTx/>
                  <a:latin typeface="Meiryo UI"/>
                  <a:ea typeface="Meiryo UI"/>
                  <a:cs typeface="+mn-cs"/>
                </a:rPr>
                <a:t>責任者</a:t>
              </a:r>
            </a:p>
          </p:txBody>
        </p:sp>
        <p:sp>
          <p:nvSpPr>
            <p:cNvPr id="201" name="table_TWformat_3_1">
              <a:extLst>
                <a:ext uri="{FF2B5EF4-FFF2-40B4-BE49-F238E27FC236}">
                  <a16:creationId xmlns:a16="http://schemas.microsoft.com/office/drawing/2014/main" id="{F6E52FDB-36EF-49EA-3BB5-94474977EE21}"/>
                </a:ext>
              </a:extLst>
            </p:cNvPr>
            <p:cNvSpPr txBox="1"/>
            <p:nvPr/>
          </p:nvSpPr>
          <p:spPr>
            <a:xfrm>
              <a:off x="6782205" y="3266647"/>
              <a:ext cx="1314000" cy="648000"/>
            </a:xfrm>
            <a:prstGeom prst="roundRect">
              <a:avLst>
                <a:gd name="adj" fmla="val 7065"/>
              </a:avLst>
            </a:prstGeom>
            <a:solidFill>
              <a:schemeClr val="bg1"/>
            </a:solidFill>
          </p:spPr>
          <p:txBody>
            <a:bodyPr vert="horz" wrap="square" lIns="36000" tIns="36000" rIns="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サステナビリティ開示の「中身 </a:t>
              </a:r>
              <a:r>
                <a:rPr kumimoji="1" lang="en-US" altLang="ja-JP" sz="1000" b="0" i="0" u="none" strike="noStrike" kern="1200" cap="none" spc="0" normalizeH="0" baseline="0" noProof="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専門性・要件</a:t>
              </a:r>
              <a:br>
                <a:rPr kumimoji="1" lang="fr-FR" altLang="ja-JP" sz="10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定義</a:t>
              </a:r>
              <a:r>
                <a:rPr kumimoji="1" lang="en-US" altLang="ja-JP" sz="1000" b="0" i="0" u="none" strike="noStrike" kern="1200" cap="none" spc="0" normalizeH="0" baseline="0" noProof="0">
                  <a:ln>
                    <a:noFill/>
                  </a:ln>
                  <a:solidFill>
                    <a:prstClr val="black"/>
                  </a:solidFill>
                  <a:effectLst/>
                  <a:uLnTx/>
                  <a:uFillTx/>
                  <a:latin typeface="Meiryo UI"/>
                  <a:ea typeface="Meiryo UI"/>
                  <a:cs typeface="+mn-cs"/>
                </a:rPr>
                <a:t>)</a:t>
              </a: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」を保証する</a:t>
              </a:r>
              <a:br>
                <a:rPr kumimoji="1" lang="fr-FR" altLang="ja-JP" sz="10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責任者</a:t>
              </a:r>
            </a:p>
          </p:txBody>
        </p:sp>
        <p:pic>
          <p:nvPicPr>
            <p:cNvPr id="204" name="グラフィックス 203" descr="オフィス ワーカー (男性) 単色塗りつぶし">
              <a:extLst>
                <a:ext uri="{FF2B5EF4-FFF2-40B4-BE49-F238E27FC236}">
                  <a16:creationId xmlns:a16="http://schemas.microsoft.com/office/drawing/2014/main" id="{2F00649F-B77E-FB48-2192-D57248DAD7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14" y="3271447"/>
              <a:ext cx="396000" cy="396000"/>
            </a:xfrm>
            <a:prstGeom prst="rect">
              <a:avLst/>
            </a:prstGeom>
          </p:spPr>
        </p:pic>
      </p:grpSp>
      <p:grpSp>
        <p:nvGrpSpPr>
          <p:cNvPr id="304" name="グループ化 303">
            <a:extLst>
              <a:ext uri="{FF2B5EF4-FFF2-40B4-BE49-F238E27FC236}">
                <a16:creationId xmlns:a16="http://schemas.microsoft.com/office/drawing/2014/main" id="{C67D6F52-99F7-73F9-6F62-360A06ED341E}"/>
              </a:ext>
            </a:extLst>
          </p:cNvPr>
          <p:cNvGrpSpPr/>
          <p:nvPr/>
        </p:nvGrpSpPr>
        <p:grpSpPr>
          <a:xfrm>
            <a:off x="6143613" y="2668856"/>
            <a:ext cx="2016003" cy="741839"/>
            <a:chOff x="6143613" y="2440256"/>
            <a:chExt cx="2016003" cy="741839"/>
          </a:xfrm>
        </p:grpSpPr>
        <p:sp>
          <p:nvSpPr>
            <p:cNvPr id="206" name="table_TWformat_5_1">
              <a:extLst>
                <a:ext uri="{FF2B5EF4-FFF2-40B4-BE49-F238E27FC236}">
                  <a16:creationId xmlns:a16="http://schemas.microsoft.com/office/drawing/2014/main" id="{CE826774-EDEC-3510-A6D1-DC217DED8736}"/>
                </a:ext>
              </a:extLst>
            </p:cNvPr>
            <p:cNvSpPr txBox="1"/>
            <p:nvPr/>
          </p:nvSpPr>
          <p:spPr>
            <a:xfrm>
              <a:off x="6143616" y="2440256"/>
              <a:ext cx="2016000" cy="741839"/>
            </a:xfrm>
            <a:prstGeom prst="rect">
              <a:avLst/>
            </a:prstGeom>
            <a:solidFill>
              <a:srgbClr val="008000">
                <a:alpha val="11000"/>
              </a:srgbClr>
            </a:solid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endParaRPr kumimoji="1" lang="ja-JP" altLang="en-US" sz="1100" b="0" i="0" u="none" strike="noStrike" kern="1200" cap="none" spc="0" normalizeH="0" baseline="0" noProof="0">
                <a:ln>
                  <a:noFill/>
                </a:ln>
                <a:solidFill>
                  <a:prstClr val="black"/>
                </a:solidFill>
                <a:effectLst/>
                <a:uLnTx/>
                <a:uFillTx/>
                <a:latin typeface="Meiryo UI"/>
                <a:ea typeface="Meiryo UI"/>
                <a:cs typeface="+mn-cs"/>
              </a:endParaRPr>
            </a:p>
          </p:txBody>
        </p:sp>
        <p:sp>
          <p:nvSpPr>
            <p:cNvPr id="207" name="table_TWformat_3_1">
              <a:extLst>
                <a:ext uri="{FF2B5EF4-FFF2-40B4-BE49-F238E27FC236}">
                  <a16:creationId xmlns:a16="http://schemas.microsoft.com/office/drawing/2014/main" id="{63FB5C2C-2F61-631F-F77F-43967AF59793}"/>
                </a:ext>
              </a:extLst>
            </p:cNvPr>
            <p:cNvSpPr txBox="1"/>
            <p:nvPr/>
          </p:nvSpPr>
          <p:spPr>
            <a:xfrm>
              <a:off x="6782208" y="2487176"/>
              <a:ext cx="1314000" cy="648000"/>
            </a:xfrm>
            <a:prstGeom prst="roundRect">
              <a:avLst>
                <a:gd name="adj" fmla="val 7065"/>
              </a:avLst>
            </a:prstGeom>
            <a:solidFill>
              <a:schemeClr val="bg1"/>
            </a:solidFill>
          </p:spPr>
          <p:txBody>
            <a:bodyPr vert="horz" wrap="square" lIns="36000" tIns="36000" rIns="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1000" b="0" i="0" u="none" strike="noStrike" kern="1200" cap="none" spc="0" normalizeH="0" baseline="0" noProof="0">
                  <a:ln>
                    <a:noFill/>
                  </a:ln>
                  <a:solidFill>
                    <a:prstClr val="black"/>
                  </a:solidFill>
                  <a:effectLst/>
                  <a:uLnTx/>
                  <a:uFillTx/>
                  <a:latin typeface="Meiryo UI"/>
                  <a:ea typeface="Meiryo UI"/>
                  <a:cs typeface="+mn-cs"/>
                </a:rPr>
                <a:t>SSBJ</a:t>
              </a: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対応</a:t>
              </a:r>
              <a:r>
                <a:rPr kumimoji="1" lang="en-US" altLang="ja-JP" sz="1000" b="0" i="0" u="none" strike="noStrike" kern="1200" cap="none" spc="0" normalizeH="0" baseline="0" noProof="0">
                  <a:ln>
                    <a:noFill/>
                  </a:ln>
                  <a:solidFill>
                    <a:prstClr val="black"/>
                  </a:solidFill>
                  <a:effectLst/>
                  <a:uLnTx/>
                  <a:uFillTx/>
                  <a:latin typeface="Meiryo UI"/>
                  <a:ea typeface="Meiryo UI"/>
                  <a:cs typeface="+mn-cs"/>
                </a:rPr>
                <a:t>PJT</a:t>
              </a: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における最終責任を負い、意思決定とリソース配分を</a:t>
              </a:r>
              <a:br>
                <a:rPr kumimoji="1" lang="en-US" altLang="ja-JP" sz="10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実施</a:t>
              </a:r>
              <a:endParaRPr kumimoji="1" lang="en-US" altLang="ja-JP" sz="1000" b="0" i="0" u="none" strike="noStrike" kern="1200" cap="none" spc="0" normalizeH="0" baseline="0" noProof="0">
                <a:ln>
                  <a:noFill/>
                </a:ln>
                <a:solidFill>
                  <a:prstClr val="black"/>
                </a:solidFill>
                <a:effectLst/>
                <a:uLnTx/>
                <a:uFillTx/>
                <a:latin typeface="Meiryo UI"/>
                <a:ea typeface="Meiryo UI"/>
                <a:cs typeface="+mn-cs"/>
              </a:endParaRPr>
            </a:p>
          </p:txBody>
        </p:sp>
        <p:grpSp>
          <p:nvGrpSpPr>
            <p:cNvPr id="303" name="グループ化 302">
              <a:extLst>
                <a:ext uri="{FF2B5EF4-FFF2-40B4-BE49-F238E27FC236}">
                  <a16:creationId xmlns:a16="http://schemas.microsoft.com/office/drawing/2014/main" id="{1971ECF1-4B78-AAD4-B5C4-F5B00C81F124}"/>
                </a:ext>
              </a:extLst>
            </p:cNvPr>
            <p:cNvGrpSpPr/>
            <p:nvPr/>
          </p:nvGrpSpPr>
          <p:grpSpPr>
            <a:xfrm>
              <a:off x="6143613" y="2543908"/>
              <a:ext cx="612000" cy="622153"/>
              <a:chOff x="6143613" y="2543908"/>
              <a:chExt cx="612000" cy="622153"/>
            </a:xfrm>
          </p:grpSpPr>
          <p:grpSp>
            <p:nvGrpSpPr>
              <p:cNvPr id="272" name="グループ化 271">
                <a:extLst>
                  <a:ext uri="{FF2B5EF4-FFF2-40B4-BE49-F238E27FC236}">
                    <a16:creationId xmlns:a16="http://schemas.microsoft.com/office/drawing/2014/main" id="{C150D8B2-F831-80FD-E355-600405CD3CA3}"/>
                  </a:ext>
                </a:extLst>
              </p:cNvPr>
              <p:cNvGrpSpPr/>
              <p:nvPr/>
            </p:nvGrpSpPr>
            <p:grpSpPr>
              <a:xfrm>
                <a:off x="6316659" y="2543908"/>
                <a:ext cx="265909" cy="299106"/>
                <a:chOff x="7091964" y="2543908"/>
                <a:chExt cx="292500" cy="299106"/>
              </a:xfrm>
            </p:grpSpPr>
            <p:sp>
              <p:nvSpPr>
                <p:cNvPr id="219" name="フリーフォーム: 図形 218">
                  <a:extLst>
                    <a:ext uri="{FF2B5EF4-FFF2-40B4-BE49-F238E27FC236}">
                      <a16:creationId xmlns:a16="http://schemas.microsoft.com/office/drawing/2014/main" id="{4EAD066A-8FAC-A2B1-4C43-61C55A28CB62}"/>
                    </a:ext>
                  </a:extLst>
                </p:cNvPr>
                <p:cNvSpPr/>
                <p:nvPr/>
              </p:nvSpPr>
              <p:spPr>
                <a:xfrm>
                  <a:off x="7160214" y="2543908"/>
                  <a:ext cx="156000" cy="145529"/>
                </a:xfrm>
                <a:custGeom>
                  <a:avLst/>
                  <a:gdLst>
                    <a:gd name="csX0" fmla="*/ 156000 w 156000"/>
                    <a:gd name="csY0" fmla="*/ 39332 h 145529"/>
                    <a:gd name="csX1" fmla="*/ 107250 w 156000"/>
                    <a:gd name="csY1" fmla="*/ 0 h 145529"/>
                    <a:gd name="csX2" fmla="*/ 48750 w 156000"/>
                    <a:gd name="csY2" fmla="*/ 0 h 145529"/>
                    <a:gd name="csX3" fmla="*/ 0 w 156000"/>
                    <a:gd name="csY3" fmla="*/ 39332 h 145529"/>
                    <a:gd name="csX4" fmla="*/ 0 w 156000"/>
                    <a:gd name="csY4" fmla="*/ 145529 h 145529"/>
                    <a:gd name="csX5" fmla="*/ 156000 w 156000"/>
                    <a:gd name="csY5" fmla="*/ 145529 h 145529"/>
                  </a:gdLst>
                  <a:ahLst/>
                  <a:cxnLst>
                    <a:cxn ang="0">
                      <a:pos x="csX0" y="csY0"/>
                    </a:cxn>
                    <a:cxn ang="0">
                      <a:pos x="csX1" y="csY1"/>
                    </a:cxn>
                    <a:cxn ang="0">
                      <a:pos x="csX2" y="csY2"/>
                    </a:cxn>
                    <a:cxn ang="0">
                      <a:pos x="csX3" y="csY3"/>
                    </a:cxn>
                    <a:cxn ang="0">
                      <a:pos x="csX4" y="csY4"/>
                    </a:cxn>
                    <a:cxn ang="0">
                      <a:pos x="csX5" y="csY5"/>
                    </a:cxn>
                  </a:cxnLst>
                  <a:rect l="l" t="t" r="r" b="b"/>
                  <a:pathLst>
                    <a:path w="156000" h="145529">
                      <a:moveTo>
                        <a:pt x="156000" y="39332"/>
                      </a:moveTo>
                      <a:cubicBezTo>
                        <a:pt x="156000" y="17610"/>
                        <a:pt x="134174" y="0"/>
                        <a:pt x="107250" y="0"/>
                      </a:cubicBezTo>
                      <a:lnTo>
                        <a:pt x="48750" y="0"/>
                      </a:lnTo>
                      <a:cubicBezTo>
                        <a:pt x="21826" y="0"/>
                        <a:pt x="0" y="17610"/>
                        <a:pt x="0" y="39332"/>
                      </a:cubicBezTo>
                      <a:lnTo>
                        <a:pt x="0" y="145529"/>
                      </a:lnTo>
                      <a:lnTo>
                        <a:pt x="156000" y="145529"/>
                      </a:lnTo>
                      <a:close/>
                    </a:path>
                  </a:pathLst>
                </a:custGeom>
                <a:solidFill>
                  <a:srgbClr val="008000"/>
                </a:solidFill>
                <a:ln w="486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Meiryo UI"/>
                    <a:ea typeface="Meiryo UI"/>
                    <a:cs typeface="+mn-cs"/>
                  </a:endParaRPr>
                </a:p>
              </p:txBody>
            </p:sp>
            <p:sp>
              <p:nvSpPr>
                <p:cNvPr id="220" name="フリーフォーム: 図形 219">
                  <a:extLst>
                    <a:ext uri="{FF2B5EF4-FFF2-40B4-BE49-F238E27FC236}">
                      <a16:creationId xmlns:a16="http://schemas.microsoft.com/office/drawing/2014/main" id="{4AB46AAF-44F0-99E3-1D28-144E079E0D06}"/>
                    </a:ext>
                  </a:extLst>
                </p:cNvPr>
                <p:cNvSpPr/>
                <p:nvPr/>
              </p:nvSpPr>
              <p:spPr>
                <a:xfrm>
                  <a:off x="7091964" y="2642238"/>
                  <a:ext cx="292500" cy="200776"/>
                </a:xfrm>
                <a:custGeom>
                  <a:avLst/>
                  <a:gdLst>
                    <a:gd name="csX0" fmla="*/ 277875 w 292500"/>
                    <a:gd name="csY0" fmla="*/ 0 h 200776"/>
                    <a:gd name="csX1" fmla="*/ 253500 w 292500"/>
                    <a:gd name="csY1" fmla="*/ 0 h 200776"/>
                    <a:gd name="csX2" fmla="*/ 238875 w 292500"/>
                    <a:gd name="csY2" fmla="*/ 11800 h 200776"/>
                    <a:gd name="csX3" fmla="*/ 238875 w 292500"/>
                    <a:gd name="csY3" fmla="*/ 11800 h 200776"/>
                    <a:gd name="csX4" fmla="*/ 248625 w 292500"/>
                    <a:gd name="csY4" fmla="*/ 22876 h 200776"/>
                    <a:gd name="csX5" fmla="*/ 248625 w 292500"/>
                    <a:gd name="csY5" fmla="*/ 63101 h 200776"/>
                    <a:gd name="csX6" fmla="*/ 241751 w 292500"/>
                    <a:gd name="csY6" fmla="*/ 72969 h 200776"/>
                    <a:gd name="csX7" fmla="*/ 222646 w 292500"/>
                    <a:gd name="csY7" fmla="*/ 63077 h 200776"/>
                    <a:gd name="csX8" fmla="*/ 69849 w 292500"/>
                    <a:gd name="csY8" fmla="*/ 63077 h 200776"/>
                    <a:gd name="csX9" fmla="*/ 50749 w 292500"/>
                    <a:gd name="csY9" fmla="*/ 72969 h 200776"/>
                    <a:gd name="csX10" fmla="*/ 43875 w 292500"/>
                    <a:gd name="csY10" fmla="*/ 63101 h 200776"/>
                    <a:gd name="csX11" fmla="*/ 43875 w 292500"/>
                    <a:gd name="csY11" fmla="*/ 22876 h 200776"/>
                    <a:gd name="csX12" fmla="*/ 53625 w 292500"/>
                    <a:gd name="csY12" fmla="*/ 11800 h 200776"/>
                    <a:gd name="csX13" fmla="*/ 53625 w 292500"/>
                    <a:gd name="csY13" fmla="*/ 11800 h 200776"/>
                    <a:gd name="csX14" fmla="*/ 39000 w 292500"/>
                    <a:gd name="csY14" fmla="*/ 0 h 200776"/>
                    <a:gd name="csX15" fmla="*/ 14625 w 292500"/>
                    <a:gd name="csY15" fmla="*/ 0 h 200776"/>
                    <a:gd name="csX16" fmla="*/ 0 w 292500"/>
                    <a:gd name="csY16" fmla="*/ 11800 h 200776"/>
                    <a:gd name="csX17" fmla="*/ 0 w 292500"/>
                    <a:gd name="csY17" fmla="*/ 11800 h 200776"/>
                    <a:gd name="csX18" fmla="*/ 14625 w 292500"/>
                    <a:gd name="csY18" fmla="*/ 23599 h 200776"/>
                    <a:gd name="csX19" fmla="*/ 24375 w 292500"/>
                    <a:gd name="csY19" fmla="*/ 23599 h 200776"/>
                    <a:gd name="csX20" fmla="*/ 24375 w 292500"/>
                    <a:gd name="csY20" fmla="*/ 63101 h 200776"/>
                    <a:gd name="csX21" fmla="*/ 51758 w 292500"/>
                    <a:gd name="csY21" fmla="*/ 89945 h 200776"/>
                    <a:gd name="csX22" fmla="*/ 69849 w 292500"/>
                    <a:gd name="csY22" fmla="*/ 98330 h 200776"/>
                    <a:gd name="csX23" fmla="*/ 136500 w 292500"/>
                    <a:gd name="csY23" fmla="*/ 98330 h 200776"/>
                    <a:gd name="csX24" fmla="*/ 136500 w 292500"/>
                    <a:gd name="csY24" fmla="*/ 145529 h 200776"/>
                    <a:gd name="csX25" fmla="*/ 98036 w 292500"/>
                    <a:gd name="csY25" fmla="*/ 145529 h 200776"/>
                    <a:gd name="csX26" fmla="*/ 59821 w 292500"/>
                    <a:gd name="csY26" fmla="*/ 170733 h 200776"/>
                    <a:gd name="csX27" fmla="*/ 50687 w 292500"/>
                    <a:gd name="csY27" fmla="*/ 191727 h 200776"/>
                    <a:gd name="csX28" fmla="*/ 76708 w 292500"/>
                    <a:gd name="csY28" fmla="*/ 199096 h 200776"/>
                    <a:gd name="csX29" fmla="*/ 85842 w 292500"/>
                    <a:gd name="csY29" fmla="*/ 178102 h 200776"/>
                    <a:gd name="csX30" fmla="*/ 79594 w 292500"/>
                    <a:gd name="csY30" fmla="*/ 172110 h 200776"/>
                    <a:gd name="csX31" fmla="*/ 98036 w 292500"/>
                    <a:gd name="csY31" fmla="*/ 161262 h 200776"/>
                    <a:gd name="csX32" fmla="*/ 136500 w 292500"/>
                    <a:gd name="csY32" fmla="*/ 161262 h 200776"/>
                    <a:gd name="csX33" fmla="*/ 136500 w 292500"/>
                    <a:gd name="csY33" fmla="*/ 171311 h 200776"/>
                    <a:gd name="csX34" fmla="*/ 129363 w 292500"/>
                    <a:gd name="csY34" fmla="*/ 192803 h 200776"/>
                    <a:gd name="csX35" fmla="*/ 156000 w 292500"/>
                    <a:gd name="csY35" fmla="*/ 198561 h 200776"/>
                    <a:gd name="csX36" fmla="*/ 163137 w 292500"/>
                    <a:gd name="csY36" fmla="*/ 177070 h 200776"/>
                    <a:gd name="csX37" fmla="*/ 156000 w 292500"/>
                    <a:gd name="csY37" fmla="*/ 171311 h 200776"/>
                    <a:gd name="csX38" fmla="*/ 156000 w 292500"/>
                    <a:gd name="csY38" fmla="*/ 161262 h 200776"/>
                    <a:gd name="csX39" fmla="*/ 195000 w 292500"/>
                    <a:gd name="csY39" fmla="*/ 161262 h 200776"/>
                    <a:gd name="csX40" fmla="*/ 213330 w 292500"/>
                    <a:gd name="csY40" fmla="*/ 171827 h 200776"/>
                    <a:gd name="csX41" fmla="*/ 207869 w 292500"/>
                    <a:gd name="csY41" fmla="*/ 193726 h 200776"/>
                    <a:gd name="csX42" fmla="*/ 235013 w 292500"/>
                    <a:gd name="csY42" fmla="*/ 198132 h 200776"/>
                    <a:gd name="csX43" fmla="*/ 240474 w 292500"/>
                    <a:gd name="csY43" fmla="*/ 176233 h 200776"/>
                    <a:gd name="csX44" fmla="*/ 233269 w 292500"/>
                    <a:gd name="csY44" fmla="*/ 170993 h 200776"/>
                    <a:gd name="csX45" fmla="*/ 195000 w 292500"/>
                    <a:gd name="csY45" fmla="*/ 145529 h 200776"/>
                    <a:gd name="csX46" fmla="*/ 156000 w 292500"/>
                    <a:gd name="csY46" fmla="*/ 145529 h 200776"/>
                    <a:gd name="csX47" fmla="*/ 156000 w 292500"/>
                    <a:gd name="csY47" fmla="*/ 98330 h 200776"/>
                    <a:gd name="csX48" fmla="*/ 222646 w 292500"/>
                    <a:gd name="csY48" fmla="*/ 98330 h 200776"/>
                    <a:gd name="csX49" fmla="*/ 240737 w 292500"/>
                    <a:gd name="csY49" fmla="*/ 89945 h 200776"/>
                    <a:gd name="csX50" fmla="*/ 268125 w 292500"/>
                    <a:gd name="csY50" fmla="*/ 63101 h 200776"/>
                    <a:gd name="csX51" fmla="*/ 268125 w 292500"/>
                    <a:gd name="csY51" fmla="*/ 23599 h 200776"/>
                    <a:gd name="csX52" fmla="*/ 277875 w 292500"/>
                    <a:gd name="csY52" fmla="*/ 23599 h 200776"/>
                    <a:gd name="csX53" fmla="*/ 292500 w 292500"/>
                    <a:gd name="csY53" fmla="*/ 11800 h 200776"/>
                    <a:gd name="csX54" fmla="*/ 292500 w 292500"/>
                    <a:gd name="csY54" fmla="*/ 11800 h 200776"/>
                    <a:gd name="csX55" fmla="*/ 277875 w 292500"/>
                    <a:gd name="csY55" fmla="*/ 0 h 200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Lst>
                  <a:rect l="l" t="t" r="r" b="b"/>
                  <a:pathLst>
                    <a:path w="292500" h="200776">
                      <a:moveTo>
                        <a:pt x="277875" y="0"/>
                      </a:moveTo>
                      <a:lnTo>
                        <a:pt x="253500" y="0"/>
                      </a:lnTo>
                      <a:cubicBezTo>
                        <a:pt x="245423" y="0"/>
                        <a:pt x="238875" y="5283"/>
                        <a:pt x="238875" y="11800"/>
                      </a:cubicBezTo>
                      <a:lnTo>
                        <a:pt x="238875" y="11800"/>
                      </a:lnTo>
                      <a:cubicBezTo>
                        <a:pt x="238886" y="16786"/>
                        <a:pt x="242794" y="21224"/>
                        <a:pt x="248625" y="22876"/>
                      </a:cubicBezTo>
                      <a:lnTo>
                        <a:pt x="248625" y="63101"/>
                      </a:lnTo>
                      <a:cubicBezTo>
                        <a:pt x="248614" y="67130"/>
                        <a:pt x="246012" y="70866"/>
                        <a:pt x="241751" y="72969"/>
                      </a:cubicBezTo>
                      <a:cubicBezTo>
                        <a:pt x="238320" y="66947"/>
                        <a:pt x="230861" y="63085"/>
                        <a:pt x="222646" y="63077"/>
                      </a:cubicBezTo>
                      <a:lnTo>
                        <a:pt x="69849" y="63077"/>
                      </a:lnTo>
                      <a:cubicBezTo>
                        <a:pt x="61636" y="63086"/>
                        <a:pt x="54179" y="66949"/>
                        <a:pt x="50749" y="72969"/>
                      </a:cubicBezTo>
                      <a:cubicBezTo>
                        <a:pt x="46488" y="70866"/>
                        <a:pt x="43886" y="67130"/>
                        <a:pt x="43875" y="63101"/>
                      </a:cubicBezTo>
                      <a:lnTo>
                        <a:pt x="43875" y="22876"/>
                      </a:lnTo>
                      <a:cubicBezTo>
                        <a:pt x="49705" y="21222"/>
                        <a:pt x="53611" y="16785"/>
                        <a:pt x="53625" y="11800"/>
                      </a:cubicBezTo>
                      <a:lnTo>
                        <a:pt x="53625" y="11800"/>
                      </a:lnTo>
                      <a:cubicBezTo>
                        <a:pt x="53625" y="5283"/>
                        <a:pt x="47077" y="0"/>
                        <a:pt x="39000" y="0"/>
                      </a:cubicBezTo>
                      <a:lnTo>
                        <a:pt x="14625" y="0"/>
                      </a:lnTo>
                      <a:cubicBezTo>
                        <a:pt x="6548" y="0"/>
                        <a:pt x="0" y="5283"/>
                        <a:pt x="0" y="11800"/>
                      </a:cubicBezTo>
                      <a:lnTo>
                        <a:pt x="0" y="11800"/>
                      </a:lnTo>
                      <a:cubicBezTo>
                        <a:pt x="0" y="18317"/>
                        <a:pt x="6548" y="23599"/>
                        <a:pt x="14625" y="23599"/>
                      </a:cubicBezTo>
                      <a:lnTo>
                        <a:pt x="24375" y="23599"/>
                      </a:lnTo>
                      <a:lnTo>
                        <a:pt x="24375" y="63101"/>
                      </a:lnTo>
                      <a:cubicBezTo>
                        <a:pt x="24396" y="76173"/>
                        <a:pt x="35861" y="87413"/>
                        <a:pt x="51758" y="89945"/>
                      </a:cubicBezTo>
                      <a:cubicBezTo>
                        <a:pt x="55522" y="95128"/>
                        <a:pt x="62403" y="98317"/>
                        <a:pt x="69849" y="98330"/>
                      </a:cubicBezTo>
                      <a:lnTo>
                        <a:pt x="136500" y="98330"/>
                      </a:lnTo>
                      <a:lnTo>
                        <a:pt x="136500" y="145529"/>
                      </a:lnTo>
                      <a:lnTo>
                        <a:pt x="98036" y="145529"/>
                      </a:lnTo>
                      <a:cubicBezTo>
                        <a:pt x="79499" y="145549"/>
                        <a:pt x="63532" y="156080"/>
                        <a:pt x="59821" y="170733"/>
                      </a:cubicBezTo>
                      <a:cubicBezTo>
                        <a:pt x="50114" y="174495"/>
                        <a:pt x="46024" y="183895"/>
                        <a:pt x="50687" y="191727"/>
                      </a:cubicBezTo>
                      <a:cubicBezTo>
                        <a:pt x="55350" y="199559"/>
                        <a:pt x="67000" y="202859"/>
                        <a:pt x="76708" y="199096"/>
                      </a:cubicBezTo>
                      <a:cubicBezTo>
                        <a:pt x="86415" y="195334"/>
                        <a:pt x="90505" y="185935"/>
                        <a:pt x="85842" y="178102"/>
                      </a:cubicBezTo>
                      <a:cubicBezTo>
                        <a:pt x="84418" y="175712"/>
                        <a:pt x="82270" y="173650"/>
                        <a:pt x="79594" y="172110"/>
                      </a:cubicBezTo>
                      <a:cubicBezTo>
                        <a:pt x="82193" y="165660"/>
                        <a:pt x="89630" y="161285"/>
                        <a:pt x="98036" y="161262"/>
                      </a:cubicBezTo>
                      <a:lnTo>
                        <a:pt x="136500" y="161262"/>
                      </a:lnTo>
                      <a:lnTo>
                        <a:pt x="136500" y="171311"/>
                      </a:lnTo>
                      <a:cubicBezTo>
                        <a:pt x="127173" y="175656"/>
                        <a:pt x="123978" y="185278"/>
                        <a:pt x="129363" y="192803"/>
                      </a:cubicBezTo>
                      <a:cubicBezTo>
                        <a:pt x="134747" y="200328"/>
                        <a:pt x="146673" y="202906"/>
                        <a:pt x="156000" y="198561"/>
                      </a:cubicBezTo>
                      <a:cubicBezTo>
                        <a:pt x="165327" y="194217"/>
                        <a:pt x="168522" y="184595"/>
                        <a:pt x="163137" y="177070"/>
                      </a:cubicBezTo>
                      <a:cubicBezTo>
                        <a:pt x="161426" y="174678"/>
                        <a:pt x="158964" y="172692"/>
                        <a:pt x="156000" y="171311"/>
                      </a:cubicBezTo>
                      <a:lnTo>
                        <a:pt x="156000" y="161262"/>
                      </a:lnTo>
                      <a:lnTo>
                        <a:pt x="195000" y="161262"/>
                      </a:lnTo>
                      <a:cubicBezTo>
                        <a:pt x="203272" y="161281"/>
                        <a:pt x="210625" y="165519"/>
                        <a:pt x="213330" y="171827"/>
                      </a:cubicBezTo>
                      <a:cubicBezTo>
                        <a:pt x="204326" y="176657"/>
                        <a:pt x="201882" y="186462"/>
                        <a:pt x="207869" y="193726"/>
                      </a:cubicBezTo>
                      <a:cubicBezTo>
                        <a:pt x="213856" y="200991"/>
                        <a:pt x="226009" y="202963"/>
                        <a:pt x="235013" y="198132"/>
                      </a:cubicBezTo>
                      <a:cubicBezTo>
                        <a:pt x="244016" y="193302"/>
                        <a:pt x="246461" y="183497"/>
                        <a:pt x="240474" y="176233"/>
                      </a:cubicBezTo>
                      <a:cubicBezTo>
                        <a:pt x="238655" y="174026"/>
                        <a:pt x="236177" y="172224"/>
                        <a:pt x="233269" y="170993"/>
                      </a:cubicBezTo>
                      <a:cubicBezTo>
                        <a:pt x="229689" y="156219"/>
                        <a:pt x="213658" y="145552"/>
                        <a:pt x="195000" y="145529"/>
                      </a:cubicBezTo>
                      <a:lnTo>
                        <a:pt x="156000" y="145529"/>
                      </a:lnTo>
                      <a:lnTo>
                        <a:pt x="156000" y="98330"/>
                      </a:lnTo>
                      <a:lnTo>
                        <a:pt x="222646" y="98330"/>
                      </a:lnTo>
                      <a:cubicBezTo>
                        <a:pt x="230092" y="98318"/>
                        <a:pt x="236974" y="95128"/>
                        <a:pt x="240737" y="89945"/>
                      </a:cubicBezTo>
                      <a:cubicBezTo>
                        <a:pt x="256634" y="87412"/>
                        <a:pt x="268100" y="76173"/>
                        <a:pt x="268125" y="63101"/>
                      </a:cubicBezTo>
                      <a:lnTo>
                        <a:pt x="268125" y="23599"/>
                      </a:lnTo>
                      <a:lnTo>
                        <a:pt x="277875" y="23599"/>
                      </a:lnTo>
                      <a:cubicBezTo>
                        <a:pt x="285952" y="23599"/>
                        <a:pt x="292500" y="18317"/>
                        <a:pt x="292500" y="11800"/>
                      </a:cubicBezTo>
                      <a:lnTo>
                        <a:pt x="292500" y="11800"/>
                      </a:lnTo>
                      <a:cubicBezTo>
                        <a:pt x="292500" y="5283"/>
                        <a:pt x="285952" y="0"/>
                        <a:pt x="277875" y="0"/>
                      </a:cubicBezTo>
                      <a:close/>
                    </a:path>
                  </a:pathLst>
                </a:custGeom>
                <a:solidFill>
                  <a:srgbClr val="008000"/>
                </a:solidFill>
                <a:ln w="486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Meiryo UI"/>
                    <a:ea typeface="Meiryo UI"/>
                    <a:cs typeface="+mn-cs"/>
                  </a:endParaRPr>
                </a:p>
              </p:txBody>
            </p:sp>
          </p:grpSp>
          <p:sp>
            <p:nvSpPr>
              <p:cNvPr id="211" name="table_TWformat_2_1">
                <a:extLst>
                  <a:ext uri="{FF2B5EF4-FFF2-40B4-BE49-F238E27FC236}">
                    <a16:creationId xmlns:a16="http://schemas.microsoft.com/office/drawing/2014/main" id="{9BC47E8E-0E69-22C3-0A64-EDA197FE3809}"/>
                  </a:ext>
                </a:extLst>
              </p:cNvPr>
              <p:cNvSpPr txBox="1"/>
              <p:nvPr/>
            </p:nvSpPr>
            <p:spPr>
              <a:xfrm>
                <a:off x="6143613" y="2899983"/>
                <a:ext cx="612000" cy="266078"/>
              </a:xfrm>
              <a:prstGeom prst="rect">
                <a:avLst/>
              </a:prstGeom>
              <a:noFill/>
            </p:spPr>
            <p:txBody>
              <a:bodyPr vert="horz" wrap="square" lIns="0" tIns="0" rIns="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000" b="0" i="0" u="none" strike="noStrike" kern="1200" cap="none" spc="0" normalizeH="0" baseline="0" noProof="0">
                    <a:ln>
                      <a:noFill/>
                    </a:ln>
                    <a:solidFill>
                      <a:srgbClr val="008000"/>
                    </a:solidFill>
                    <a:effectLst/>
                    <a:uLnTx/>
                    <a:uFillTx/>
                    <a:latin typeface="Meiryo UI"/>
                    <a:ea typeface="Meiryo UI"/>
                    <a:cs typeface="+mn-cs"/>
                  </a:rPr>
                  <a:t>オーナー</a:t>
                </a:r>
              </a:p>
            </p:txBody>
          </p:sp>
        </p:grpSp>
      </p:grpSp>
      <p:sp>
        <p:nvSpPr>
          <p:cNvPr id="29" name="table_TWformat_1_3">
            <a:extLst>
              <a:ext uri="{FF2B5EF4-FFF2-40B4-BE49-F238E27FC236}">
                <a16:creationId xmlns:a16="http://schemas.microsoft.com/office/drawing/2014/main" id="{5706A809-BDDD-5076-4DAC-8914A8FA4C78}"/>
              </a:ext>
            </a:extLst>
          </p:cNvPr>
          <p:cNvSpPr txBox="1"/>
          <p:nvPr/>
        </p:nvSpPr>
        <p:spPr>
          <a:xfrm>
            <a:off x="8195822" y="2318611"/>
            <a:ext cx="3663818" cy="216479"/>
          </a:xfrm>
          <a:prstGeom prst="rect">
            <a:avLst/>
          </a:prstGeom>
          <a:noFill/>
        </p:spPr>
        <p:txBody>
          <a:bodyPr vert="horz"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a:ea typeface="Meiryo UI"/>
                <a:cs typeface="+mn-cs"/>
              </a:rPr>
              <a:t>主な役割 </a:t>
            </a:r>
            <a:r>
              <a:rPr kumimoji="1" lang="en-US" altLang="ja-JP" sz="1400" b="0" i="0" u="none" strike="noStrike" kern="1200" cap="none" spc="0" normalizeH="0" baseline="0" noProof="0">
                <a:ln>
                  <a:noFill/>
                </a:ln>
                <a:solidFill>
                  <a:prstClr val="black"/>
                </a:solidFill>
                <a:effectLst/>
                <a:uLnTx/>
                <a:uFillTx/>
                <a:latin typeface="Meiryo UI"/>
                <a:ea typeface="Meiryo UI"/>
                <a:cs typeface="+mn-cs"/>
              </a:rPr>
              <a:t>(</a:t>
            </a:r>
            <a:r>
              <a:rPr kumimoji="1" lang="ja-JP" altLang="en-US" sz="1400" b="0" i="0" u="none" strike="noStrike" kern="1200" cap="none" spc="0" normalizeH="0" baseline="0" noProof="0">
                <a:ln>
                  <a:noFill/>
                </a:ln>
                <a:solidFill>
                  <a:prstClr val="black"/>
                </a:solidFill>
                <a:effectLst/>
                <a:uLnTx/>
                <a:uFillTx/>
                <a:latin typeface="Meiryo UI"/>
                <a:ea typeface="Meiryo UI"/>
                <a:cs typeface="+mn-cs"/>
              </a:rPr>
              <a:t>例</a:t>
            </a:r>
            <a:r>
              <a:rPr kumimoji="1" lang="en-US" altLang="ja-JP" sz="1400" b="0" i="0" u="none" strike="noStrike" kern="1200" cap="none" spc="0" normalizeH="0" baseline="0" noProof="0">
                <a:ln>
                  <a:noFill/>
                </a:ln>
                <a:solidFill>
                  <a:prstClr val="black"/>
                </a:solidFill>
                <a:effectLst/>
                <a:uLnTx/>
                <a:uFillTx/>
                <a:latin typeface="Meiryo UI"/>
                <a:ea typeface="Meiryo UI"/>
                <a:cs typeface="+mn-cs"/>
              </a:rPr>
              <a:t>)</a:t>
            </a:r>
            <a:endParaRPr kumimoji="1" lang="ja-JP" altLang="en-US" sz="1400" b="0" i="0" u="none" strike="noStrike" kern="1200" cap="none" spc="0" normalizeH="0" baseline="0" noProof="0">
              <a:ln>
                <a:noFill/>
              </a:ln>
              <a:solidFill>
                <a:prstClr val="black"/>
              </a:solidFill>
              <a:effectLst/>
              <a:uLnTx/>
              <a:uFillTx/>
              <a:latin typeface="Meiryo UI"/>
              <a:ea typeface="Meiryo UI"/>
              <a:cs typeface="+mn-cs"/>
            </a:endParaRPr>
          </a:p>
        </p:txBody>
      </p:sp>
      <p:sp>
        <p:nvSpPr>
          <p:cNvPr id="49" name="テキスト ボックス 18">
            <a:extLst>
              <a:ext uri="{FF2B5EF4-FFF2-40B4-BE49-F238E27FC236}">
                <a16:creationId xmlns:a16="http://schemas.microsoft.com/office/drawing/2014/main" id="{D28537D4-A7E6-0EF1-3119-BB6CEC65C9E1}"/>
              </a:ext>
            </a:extLst>
          </p:cNvPr>
          <p:cNvSpPr txBox="1"/>
          <p:nvPr/>
        </p:nvSpPr>
        <p:spPr>
          <a:xfrm>
            <a:off x="9202760" y="4227798"/>
            <a:ext cx="2664595" cy="227903"/>
          </a:xfrm>
          <a:prstGeom prst="rect">
            <a:avLst/>
          </a:prstGeom>
          <a:noFill/>
        </p:spPr>
        <p:txBody>
          <a:bodyPr wrap="square" lIns="36000" tIns="54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スケジュール、予算、品質、リスクの統合管理を行い、</a:t>
            </a:r>
            <a:br>
              <a:rPr kumimoji="1" lang="en-US" altLang="ja-JP" sz="8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計画通りの完遂を指揮する</a:t>
            </a:r>
          </a:p>
        </p:txBody>
      </p:sp>
      <p:sp>
        <p:nvSpPr>
          <p:cNvPr id="52" name="テキスト ボックス 18">
            <a:extLst>
              <a:ext uri="{FF2B5EF4-FFF2-40B4-BE49-F238E27FC236}">
                <a16:creationId xmlns:a16="http://schemas.microsoft.com/office/drawing/2014/main" id="{A7B02814-894A-D0C3-4F0B-990B4BC637F7}"/>
              </a:ext>
            </a:extLst>
          </p:cNvPr>
          <p:cNvSpPr txBox="1"/>
          <p:nvPr/>
        </p:nvSpPr>
        <p:spPr>
          <a:xfrm>
            <a:off x="9202760" y="4489084"/>
            <a:ext cx="2664595" cy="227631"/>
          </a:xfrm>
          <a:prstGeom prst="rect">
            <a:avLst/>
          </a:prstGeom>
          <a:noFill/>
        </p:spPr>
        <p:txBody>
          <a:bodyPr wrap="square" lIns="36000" tIns="54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発生した課題の集約・分析を行い、意思決定層への</a:t>
            </a:r>
            <a:br>
              <a:rPr kumimoji="1" lang="en-US" altLang="ja-JP" sz="8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迅速な報告と対策案の提示を行う</a:t>
            </a:r>
          </a:p>
        </p:txBody>
      </p:sp>
      <p:grpSp>
        <p:nvGrpSpPr>
          <p:cNvPr id="307" name="グループ化 306">
            <a:extLst>
              <a:ext uri="{FF2B5EF4-FFF2-40B4-BE49-F238E27FC236}">
                <a16:creationId xmlns:a16="http://schemas.microsoft.com/office/drawing/2014/main" id="{3D9D568A-1316-71EF-8F4E-24763CBFCAE4}"/>
              </a:ext>
            </a:extLst>
          </p:cNvPr>
          <p:cNvGrpSpPr/>
          <p:nvPr/>
        </p:nvGrpSpPr>
        <p:grpSpPr>
          <a:xfrm>
            <a:off x="8217857" y="4227936"/>
            <a:ext cx="915954" cy="750475"/>
            <a:chOff x="8217857" y="3999336"/>
            <a:chExt cx="915954" cy="750475"/>
          </a:xfrm>
        </p:grpSpPr>
        <p:sp>
          <p:nvSpPr>
            <p:cNvPr id="47" name="テキスト ボックス 18">
              <a:extLst>
                <a:ext uri="{FF2B5EF4-FFF2-40B4-BE49-F238E27FC236}">
                  <a16:creationId xmlns:a16="http://schemas.microsoft.com/office/drawing/2014/main" id="{91263A66-41BE-F5DF-40E2-1658C52690F0}"/>
                </a:ext>
              </a:extLst>
            </p:cNvPr>
            <p:cNvSpPr txBox="1"/>
            <p:nvPr/>
          </p:nvSpPr>
          <p:spPr>
            <a:xfrm>
              <a:off x="8217857" y="3999336"/>
              <a:ext cx="915954" cy="227903"/>
            </a:xfrm>
            <a:prstGeom prst="rect">
              <a:avLst/>
            </a:prstGeom>
            <a:noFill/>
            <a:ln>
              <a:solidFill>
                <a:srgbClr val="008000"/>
              </a:solidFill>
            </a:ln>
          </p:spPr>
          <p:txBody>
            <a:bodyPr wrap="none" lIns="18000" tIns="54000" rIns="18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a:ea typeface="Meiryo UI"/>
                  <a:cs typeface="+mn-cs"/>
                </a:rPr>
                <a:t>実行計画の管理</a:t>
              </a:r>
            </a:p>
          </p:txBody>
        </p:sp>
        <p:sp>
          <p:nvSpPr>
            <p:cNvPr id="50" name="テキスト ボックス 18">
              <a:extLst>
                <a:ext uri="{FF2B5EF4-FFF2-40B4-BE49-F238E27FC236}">
                  <a16:creationId xmlns:a16="http://schemas.microsoft.com/office/drawing/2014/main" id="{84425557-4942-73B4-E21F-86EC0FCA3FCE}"/>
                </a:ext>
              </a:extLst>
            </p:cNvPr>
            <p:cNvSpPr txBox="1"/>
            <p:nvPr/>
          </p:nvSpPr>
          <p:spPr>
            <a:xfrm>
              <a:off x="8217857" y="4260894"/>
              <a:ext cx="915954" cy="227631"/>
            </a:xfrm>
            <a:prstGeom prst="rect">
              <a:avLst/>
            </a:prstGeom>
            <a:noFill/>
            <a:ln>
              <a:solidFill>
                <a:srgbClr val="008000"/>
              </a:solidFill>
            </a:ln>
          </p:spPr>
          <p:txBody>
            <a:bodyPr wrap="none" lIns="18000" tIns="54000" rIns="18000" bIns="36000" rtlCol="0" anchor="ctr">
              <a:noAutofit/>
            </a:bodyPr>
            <a:lstStyle>
              <a:defPPr>
                <a:defRPr lang="ja-JP"/>
              </a:defPPr>
              <a:lvl1pPr algn="ctr">
                <a:buClr>
                  <a:schemeClr val="accent1"/>
                </a:buClr>
                <a:defRPr sz="900">
                  <a:solidFill>
                    <a:srgbClr val="008000"/>
                  </a:solidFill>
                </a:defRPr>
              </a:lvl1p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a:ea typeface="Meiryo UI"/>
                  <a:cs typeface="+mn-cs"/>
                </a:rPr>
                <a:t>課題解決の推進</a:t>
              </a:r>
            </a:p>
          </p:txBody>
        </p:sp>
        <p:sp>
          <p:nvSpPr>
            <p:cNvPr id="53" name="テキスト ボックス 18">
              <a:extLst>
                <a:ext uri="{FF2B5EF4-FFF2-40B4-BE49-F238E27FC236}">
                  <a16:creationId xmlns:a16="http://schemas.microsoft.com/office/drawing/2014/main" id="{37BCD3EF-2C28-38A6-95C0-28B30DC065F7}"/>
                </a:ext>
              </a:extLst>
            </p:cNvPr>
            <p:cNvSpPr txBox="1"/>
            <p:nvPr/>
          </p:nvSpPr>
          <p:spPr>
            <a:xfrm>
              <a:off x="8217857" y="4522077"/>
              <a:ext cx="915954" cy="227734"/>
            </a:xfrm>
            <a:prstGeom prst="rect">
              <a:avLst/>
            </a:prstGeom>
            <a:noFill/>
            <a:ln>
              <a:solidFill>
                <a:srgbClr val="008000"/>
              </a:solidFill>
            </a:ln>
          </p:spPr>
          <p:txBody>
            <a:bodyPr wrap="none" lIns="18000" tIns="54000" rIns="18000" bIns="36000" rtlCol="0" anchor="ctr">
              <a:noAutofit/>
            </a:bodyPr>
            <a:lstStyle>
              <a:defPPr>
                <a:defRPr lang="ja-JP"/>
              </a:defPPr>
              <a:lvl1pPr algn="ctr">
                <a:buClr>
                  <a:schemeClr val="accent1"/>
                </a:buClr>
                <a:defRPr sz="900">
                  <a:solidFill>
                    <a:srgbClr val="008000"/>
                  </a:solidFill>
                </a:defRPr>
              </a:lvl1p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a:ea typeface="Meiryo UI"/>
                  <a:cs typeface="+mn-cs"/>
                </a:rPr>
                <a:t>多角的な連携</a:t>
              </a:r>
            </a:p>
          </p:txBody>
        </p:sp>
      </p:grpSp>
      <p:sp>
        <p:nvSpPr>
          <p:cNvPr id="55" name="テキスト ボックス 18">
            <a:extLst>
              <a:ext uri="{FF2B5EF4-FFF2-40B4-BE49-F238E27FC236}">
                <a16:creationId xmlns:a16="http://schemas.microsoft.com/office/drawing/2014/main" id="{818FD8EA-4776-90F6-01A5-54E5070A8CA6}"/>
              </a:ext>
            </a:extLst>
          </p:cNvPr>
          <p:cNvSpPr txBox="1"/>
          <p:nvPr/>
        </p:nvSpPr>
        <p:spPr>
          <a:xfrm>
            <a:off x="9202760" y="4750370"/>
            <a:ext cx="2664595" cy="227734"/>
          </a:xfrm>
          <a:prstGeom prst="rect">
            <a:avLst/>
          </a:prstGeom>
          <a:noFill/>
        </p:spPr>
        <p:txBody>
          <a:bodyPr wrap="square" lIns="36000" tIns="54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各部門と外部パートナー間のコミュニケーションを構造化し、連携を最適化する</a:t>
            </a:r>
          </a:p>
        </p:txBody>
      </p:sp>
      <p:sp>
        <p:nvSpPr>
          <p:cNvPr id="58" name="テキスト ボックス 18">
            <a:extLst>
              <a:ext uri="{FF2B5EF4-FFF2-40B4-BE49-F238E27FC236}">
                <a16:creationId xmlns:a16="http://schemas.microsoft.com/office/drawing/2014/main" id="{EF921D17-53A6-7981-5317-813D22DD8646}"/>
              </a:ext>
            </a:extLst>
          </p:cNvPr>
          <p:cNvSpPr txBox="1"/>
          <p:nvPr/>
        </p:nvSpPr>
        <p:spPr>
          <a:xfrm>
            <a:off x="9202760" y="5011656"/>
            <a:ext cx="2664595" cy="227837"/>
          </a:xfrm>
          <a:prstGeom prst="rect">
            <a:avLst/>
          </a:prstGeom>
          <a:noFill/>
        </p:spPr>
        <p:txBody>
          <a:bodyPr wrap="square" lIns="36000" tIns="54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800" b="0" i="0" u="none" strike="noStrike" kern="1200" cap="none" spc="0" normalizeH="0" baseline="0" noProof="0">
                <a:ln>
                  <a:noFill/>
                </a:ln>
                <a:solidFill>
                  <a:prstClr val="black"/>
                </a:solidFill>
                <a:effectLst/>
                <a:uLnTx/>
                <a:uFillTx/>
                <a:latin typeface="Meiryo UI"/>
                <a:ea typeface="Meiryo UI"/>
                <a:cs typeface="+mn-cs"/>
              </a:rPr>
              <a:t>SSBJ</a:t>
            </a: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基準の解釈、開示戦略の策定、</a:t>
            </a:r>
            <a:r>
              <a:rPr kumimoji="1" lang="en-US" altLang="ja-JP" sz="800" b="0" i="0" u="none" strike="noStrike" kern="1200" cap="none" spc="0" normalizeH="0" baseline="0" noProof="0">
                <a:ln>
                  <a:noFill/>
                </a:ln>
                <a:solidFill>
                  <a:prstClr val="black"/>
                </a:solidFill>
                <a:effectLst/>
                <a:uLnTx/>
                <a:uFillTx/>
                <a:latin typeface="Meiryo UI"/>
                <a:ea typeface="Meiryo UI"/>
                <a:cs typeface="+mn-cs"/>
              </a:rPr>
              <a:t>Scope </a:t>
            </a:r>
            <a:br>
              <a:rPr kumimoji="1" lang="en-US" altLang="ja-JP" sz="800" b="0" i="0" u="none" strike="noStrike" kern="1200" cap="none" spc="0" normalizeH="0" baseline="0" noProof="0">
                <a:ln>
                  <a:noFill/>
                </a:ln>
                <a:solidFill>
                  <a:prstClr val="black"/>
                </a:solidFill>
                <a:effectLst/>
                <a:uLnTx/>
                <a:uFillTx/>
                <a:latin typeface="Meiryo UI"/>
                <a:ea typeface="Meiryo UI"/>
                <a:cs typeface="+mn-cs"/>
              </a:rPr>
            </a:br>
            <a:r>
              <a:rPr kumimoji="1" lang="en-US" altLang="ja-JP" sz="800" b="0" i="0" u="none" strike="noStrike" kern="1200" cap="none" spc="0" normalizeH="0" baseline="0" noProof="0">
                <a:ln>
                  <a:noFill/>
                </a:ln>
                <a:solidFill>
                  <a:prstClr val="black"/>
                </a:solidFill>
                <a:effectLst/>
                <a:uLnTx/>
                <a:uFillTx/>
                <a:latin typeface="Meiryo UI"/>
                <a:ea typeface="Meiryo UI"/>
                <a:cs typeface="+mn-cs"/>
              </a:rPr>
              <a:t>3</a:t>
            </a: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カテゴリ定義の決定、サプライヤー連携の主導</a:t>
            </a:r>
          </a:p>
        </p:txBody>
      </p:sp>
      <p:sp>
        <p:nvSpPr>
          <p:cNvPr id="61" name="テキスト ボックス 18">
            <a:extLst>
              <a:ext uri="{FF2B5EF4-FFF2-40B4-BE49-F238E27FC236}">
                <a16:creationId xmlns:a16="http://schemas.microsoft.com/office/drawing/2014/main" id="{0DC4E79F-89BE-BE54-20DA-C9C1BFFD3F04}"/>
              </a:ext>
            </a:extLst>
          </p:cNvPr>
          <p:cNvSpPr txBox="1"/>
          <p:nvPr/>
        </p:nvSpPr>
        <p:spPr>
          <a:xfrm>
            <a:off x="9202760" y="5272942"/>
            <a:ext cx="2664595" cy="227940"/>
          </a:xfrm>
          <a:prstGeom prst="rect">
            <a:avLst/>
          </a:prstGeom>
          <a:noFill/>
        </p:spPr>
        <p:txBody>
          <a:bodyPr wrap="square" lIns="36000" tIns="54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国内拠点における一次データの入力・承認、</a:t>
            </a:r>
            <a:r>
              <a:rPr kumimoji="1" lang="en-US" altLang="ja-JP" sz="800" b="0" i="0" u="none" strike="noStrike" kern="1200" cap="none" spc="0" normalizeH="0" baseline="0" noProof="0">
                <a:ln>
                  <a:noFill/>
                </a:ln>
                <a:solidFill>
                  <a:prstClr val="black"/>
                </a:solidFill>
                <a:effectLst/>
                <a:uLnTx/>
                <a:uFillTx/>
                <a:latin typeface="Meiryo UI"/>
                <a:ea typeface="Meiryo UI"/>
                <a:cs typeface="+mn-cs"/>
              </a:rPr>
              <a:t>Scope 3</a:t>
            </a: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削減施策の推進、証憑のデジタル紐付け</a:t>
            </a:r>
          </a:p>
        </p:txBody>
      </p:sp>
      <p:grpSp>
        <p:nvGrpSpPr>
          <p:cNvPr id="309" name="グループ化 308">
            <a:extLst>
              <a:ext uri="{FF2B5EF4-FFF2-40B4-BE49-F238E27FC236}">
                <a16:creationId xmlns:a16="http://schemas.microsoft.com/office/drawing/2014/main" id="{13F21DAD-7479-C717-C55D-677FCA725C4E}"/>
              </a:ext>
            </a:extLst>
          </p:cNvPr>
          <p:cNvGrpSpPr/>
          <p:nvPr/>
        </p:nvGrpSpPr>
        <p:grpSpPr>
          <a:xfrm>
            <a:off x="8217857" y="5011860"/>
            <a:ext cx="915954" cy="750409"/>
            <a:chOff x="8217857" y="4783260"/>
            <a:chExt cx="915954" cy="750409"/>
          </a:xfrm>
        </p:grpSpPr>
        <p:sp>
          <p:nvSpPr>
            <p:cNvPr id="56" name="テキスト ボックス 18">
              <a:extLst>
                <a:ext uri="{FF2B5EF4-FFF2-40B4-BE49-F238E27FC236}">
                  <a16:creationId xmlns:a16="http://schemas.microsoft.com/office/drawing/2014/main" id="{B98BB26A-630A-53BE-E3A1-3BCBAAE9D4CD}"/>
                </a:ext>
              </a:extLst>
            </p:cNvPr>
            <p:cNvSpPr txBox="1"/>
            <p:nvPr/>
          </p:nvSpPr>
          <p:spPr>
            <a:xfrm>
              <a:off x="8217857" y="4783260"/>
              <a:ext cx="915954" cy="227837"/>
            </a:xfrm>
            <a:prstGeom prst="rect">
              <a:avLst/>
            </a:prstGeom>
            <a:noFill/>
            <a:ln>
              <a:solidFill>
                <a:srgbClr val="008000"/>
              </a:solidFill>
            </a:ln>
          </p:spPr>
          <p:txBody>
            <a:bodyPr wrap="none" lIns="18000" tIns="54000" rIns="18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900" b="0" i="0" u="none" strike="noStrike" kern="1200" cap="none" spc="0" normalizeH="0" baseline="0" noProof="0">
                  <a:ln>
                    <a:noFill/>
                  </a:ln>
                  <a:solidFill>
                    <a:srgbClr val="000000"/>
                  </a:solidFill>
                  <a:effectLst/>
                  <a:uLnTx/>
                  <a:uFillTx/>
                  <a:latin typeface="Meiryo UI"/>
                  <a:ea typeface="Meiryo UI"/>
                  <a:cs typeface="+mn-cs"/>
                </a:rPr>
                <a:t>ESG</a:t>
              </a:r>
              <a:r>
                <a:rPr kumimoji="1" lang="ja-JP" altLang="en-US" sz="900" b="0" i="0" u="none" strike="noStrike" kern="1200" cap="none" spc="0" normalizeH="0" baseline="0" noProof="0">
                  <a:ln>
                    <a:noFill/>
                  </a:ln>
                  <a:solidFill>
                    <a:srgbClr val="000000"/>
                  </a:solidFill>
                  <a:effectLst/>
                  <a:uLnTx/>
                  <a:uFillTx/>
                  <a:latin typeface="Meiryo UI"/>
                  <a:ea typeface="Meiryo UI"/>
                  <a:cs typeface="+mn-cs"/>
                </a:rPr>
                <a:t>企画室</a:t>
              </a:r>
            </a:p>
          </p:txBody>
        </p:sp>
        <p:sp>
          <p:nvSpPr>
            <p:cNvPr id="59" name="テキスト ボックス 18">
              <a:extLst>
                <a:ext uri="{FF2B5EF4-FFF2-40B4-BE49-F238E27FC236}">
                  <a16:creationId xmlns:a16="http://schemas.microsoft.com/office/drawing/2014/main" id="{00F39B3B-400B-3323-F524-6B580750F19C}"/>
                </a:ext>
              </a:extLst>
            </p:cNvPr>
            <p:cNvSpPr txBox="1"/>
            <p:nvPr/>
          </p:nvSpPr>
          <p:spPr>
            <a:xfrm>
              <a:off x="8217857" y="5044443"/>
              <a:ext cx="915954" cy="227940"/>
            </a:xfrm>
            <a:prstGeom prst="rect">
              <a:avLst/>
            </a:prstGeom>
            <a:noFill/>
            <a:ln>
              <a:solidFill>
                <a:srgbClr val="008000"/>
              </a:solidFill>
            </a:ln>
          </p:spPr>
          <p:txBody>
            <a:bodyPr wrap="none" lIns="18000" tIns="54000" rIns="18000" bIns="36000" rtlCol="0" anchor="ctr">
              <a:noAutofit/>
            </a:bodyPr>
            <a:lstStyle>
              <a:defPPr>
                <a:defRPr lang="ja-JP"/>
              </a:defPPr>
              <a:lvl1pPr algn="ctr">
                <a:buClr>
                  <a:schemeClr val="accent1"/>
                </a:buClr>
                <a:defRPr sz="900">
                  <a:solidFill>
                    <a:srgbClr val="008000"/>
                  </a:solidFill>
                </a:defRPr>
              </a:lvl1p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900" b="0" i="0" u="none" strike="noStrike" kern="1200" cap="none" spc="0" normalizeH="0" baseline="0" noProof="0" dirty="0">
                  <a:ln>
                    <a:noFill/>
                  </a:ln>
                  <a:solidFill>
                    <a:srgbClr val="000000"/>
                  </a:solidFill>
                  <a:effectLst/>
                  <a:uLnTx/>
                  <a:uFillTx/>
                  <a:latin typeface="Meiryo UI"/>
                  <a:ea typeface="Meiryo UI"/>
                  <a:cs typeface="+mn-cs"/>
                </a:rPr>
                <a:t>国内</a:t>
              </a:r>
              <a:r>
                <a:rPr kumimoji="1" lang="en-US" altLang="ja-JP" sz="900" b="0" i="0" u="none" strike="noStrike" kern="1200" cap="none" spc="0" normalizeH="0" baseline="0" noProof="0" dirty="0">
                  <a:ln>
                    <a:noFill/>
                  </a:ln>
                  <a:solidFill>
                    <a:srgbClr val="000000"/>
                  </a:solidFill>
                  <a:effectLst/>
                  <a:uLnTx/>
                  <a:uFillTx/>
                  <a:latin typeface="Meiryo UI"/>
                  <a:ea typeface="Meiryo UI"/>
                  <a:cs typeface="+mn-cs"/>
                </a:rPr>
                <a:t>BU</a:t>
              </a:r>
              <a:endParaRPr kumimoji="1" lang="ja-JP" altLang="en-US" sz="900" b="0" i="0" u="none" strike="noStrike" kern="1200" cap="none" spc="0" normalizeH="0" baseline="0" noProof="0" dirty="0">
                <a:ln>
                  <a:noFill/>
                </a:ln>
                <a:solidFill>
                  <a:srgbClr val="000000"/>
                </a:solidFill>
                <a:effectLst/>
                <a:uLnTx/>
                <a:uFillTx/>
                <a:latin typeface="Meiryo UI"/>
                <a:ea typeface="Meiryo UI"/>
                <a:cs typeface="+mn-cs"/>
              </a:endParaRPr>
            </a:p>
          </p:txBody>
        </p:sp>
        <p:sp>
          <p:nvSpPr>
            <p:cNvPr id="62" name="テキスト ボックス 18">
              <a:extLst>
                <a:ext uri="{FF2B5EF4-FFF2-40B4-BE49-F238E27FC236}">
                  <a16:creationId xmlns:a16="http://schemas.microsoft.com/office/drawing/2014/main" id="{218CC1BF-A2F9-883E-3BAD-2883227816DF}"/>
                </a:ext>
              </a:extLst>
            </p:cNvPr>
            <p:cNvSpPr txBox="1"/>
            <p:nvPr/>
          </p:nvSpPr>
          <p:spPr>
            <a:xfrm>
              <a:off x="8217857" y="5305628"/>
              <a:ext cx="915954" cy="228041"/>
            </a:xfrm>
            <a:prstGeom prst="rect">
              <a:avLst/>
            </a:prstGeom>
            <a:noFill/>
            <a:ln>
              <a:solidFill>
                <a:srgbClr val="008000"/>
              </a:solidFill>
            </a:ln>
          </p:spPr>
          <p:txBody>
            <a:bodyPr wrap="none" lIns="18000" tIns="54000" rIns="18000" bIns="36000" rtlCol="0" anchor="ctr">
              <a:noAutofit/>
            </a:bodyPr>
            <a:lstStyle>
              <a:defPPr>
                <a:defRPr lang="ja-JP"/>
              </a:defPPr>
              <a:lvl1pPr algn="ctr">
                <a:buClr>
                  <a:schemeClr val="accent1"/>
                </a:buClr>
                <a:defRPr sz="900">
                  <a:solidFill>
                    <a:srgbClr val="008000"/>
                  </a:solidFill>
                </a:defRPr>
              </a:lvl1p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a:ea typeface="Meiryo UI"/>
                  <a:cs typeface="+mn-cs"/>
                </a:rPr>
                <a:t>海外</a:t>
              </a:r>
              <a:r>
                <a:rPr kumimoji="1" lang="en-US" altLang="ja-JP" sz="900" b="0" i="0" u="none" strike="noStrike" kern="1200" cap="none" spc="0" normalizeH="0" baseline="0" noProof="0">
                  <a:ln>
                    <a:noFill/>
                  </a:ln>
                  <a:solidFill>
                    <a:srgbClr val="000000"/>
                  </a:solidFill>
                  <a:effectLst/>
                  <a:uLnTx/>
                  <a:uFillTx/>
                  <a:latin typeface="Meiryo UI"/>
                  <a:ea typeface="Meiryo UI"/>
                  <a:cs typeface="+mn-cs"/>
                </a:rPr>
                <a:t>BU</a:t>
              </a:r>
              <a:endParaRPr kumimoji="1" lang="ja-JP" altLang="en-US" sz="900" b="0" i="0" u="none" strike="noStrike" kern="1200" cap="none" spc="0" normalizeH="0" baseline="0" noProof="0">
                <a:ln>
                  <a:noFill/>
                </a:ln>
                <a:solidFill>
                  <a:srgbClr val="000000"/>
                </a:solidFill>
                <a:effectLst/>
                <a:uLnTx/>
                <a:uFillTx/>
                <a:latin typeface="Meiryo UI"/>
                <a:ea typeface="Meiryo UI"/>
                <a:cs typeface="+mn-cs"/>
              </a:endParaRPr>
            </a:p>
          </p:txBody>
        </p:sp>
      </p:grpSp>
      <p:sp>
        <p:nvSpPr>
          <p:cNvPr id="128" name="テキスト ボックス 18">
            <a:extLst>
              <a:ext uri="{FF2B5EF4-FFF2-40B4-BE49-F238E27FC236}">
                <a16:creationId xmlns:a16="http://schemas.microsoft.com/office/drawing/2014/main" id="{735FFF0F-6DD1-2D25-F8DE-8D8C76E9A88F}"/>
              </a:ext>
            </a:extLst>
          </p:cNvPr>
          <p:cNvSpPr txBox="1"/>
          <p:nvPr/>
        </p:nvSpPr>
        <p:spPr>
          <a:xfrm>
            <a:off x="9202760" y="5534228"/>
            <a:ext cx="2664595" cy="228041"/>
          </a:xfrm>
          <a:prstGeom prst="rect">
            <a:avLst/>
          </a:prstGeom>
          <a:noFill/>
        </p:spPr>
        <p:txBody>
          <a:bodyPr wrap="square" lIns="36000" tIns="54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海外拠点のデータ収集・拠点承認、多言語・多通貨ベースでの活動データの報告、現地監査対応</a:t>
            </a:r>
          </a:p>
        </p:txBody>
      </p:sp>
      <p:sp>
        <p:nvSpPr>
          <p:cNvPr id="131" name="テキスト ボックス 18">
            <a:extLst>
              <a:ext uri="{FF2B5EF4-FFF2-40B4-BE49-F238E27FC236}">
                <a16:creationId xmlns:a16="http://schemas.microsoft.com/office/drawing/2014/main" id="{1580C66E-B23A-99E1-F4AA-60EA393DCC47}"/>
              </a:ext>
            </a:extLst>
          </p:cNvPr>
          <p:cNvSpPr txBox="1"/>
          <p:nvPr/>
        </p:nvSpPr>
        <p:spPr>
          <a:xfrm>
            <a:off x="9202760" y="5795514"/>
            <a:ext cx="2664595" cy="354297"/>
          </a:xfrm>
          <a:prstGeom prst="rect">
            <a:avLst/>
          </a:prstGeom>
          <a:noFill/>
        </p:spPr>
        <p:txBody>
          <a:bodyPr wrap="square" lIns="36000" tIns="54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有報における財務・非財務情報の同時開示の実現、財務データとの整合性検証、財務的影響の試算</a:t>
            </a:r>
          </a:p>
        </p:txBody>
      </p:sp>
      <p:grpSp>
        <p:nvGrpSpPr>
          <p:cNvPr id="311" name="グループ化 310">
            <a:extLst>
              <a:ext uri="{FF2B5EF4-FFF2-40B4-BE49-F238E27FC236}">
                <a16:creationId xmlns:a16="http://schemas.microsoft.com/office/drawing/2014/main" id="{ED69BB8A-144A-C509-A21A-6475204D2F45}"/>
              </a:ext>
            </a:extLst>
          </p:cNvPr>
          <p:cNvGrpSpPr/>
          <p:nvPr/>
        </p:nvGrpSpPr>
        <p:grpSpPr>
          <a:xfrm>
            <a:off x="8217857" y="5795514"/>
            <a:ext cx="915954" cy="741839"/>
            <a:chOff x="8217857" y="5566914"/>
            <a:chExt cx="915954" cy="741839"/>
          </a:xfrm>
        </p:grpSpPr>
        <p:sp>
          <p:nvSpPr>
            <p:cNvPr id="129" name="テキスト ボックス 18">
              <a:extLst>
                <a:ext uri="{FF2B5EF4-FFF2-40B4-BE49-F238E27FC236}">
                  <a16:creationId xmlns:a16="http://schemas.microsoft.com/office/drawing/2014/main" id="{B28CD704-BFA7-236E-7BC2-A7A97EA2A1BD}"/>
                </a:ext>
              </a:extLst>
            </p:cNvPr>
            <p:cNvSpPr txBox="1"/>
            <p:nvPr/>
          </p:nvSpPr>
          <p:spPr>
            <a:xfrm>
              <a:off x="8217857" y="5566914"/>
              <a:ext cx="915954" cy="354297"/>
            </a:xfrm>
            <a:prstGeom prst="rect">
              <a:avLst/>
            </a:prstGeom>
            <a:noFill/>
            <a:ln>
              <a:solidFill>
                <a:srgbClr val="008000"/>
              </a:solidFill>
            </a:ln>
          </p:spPr>
          <p:txBody>
            <a:bodyPr wrap="none" lIns="18000" tIns="54000" rIns="18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a:ea typeface="Meiryo UI"/>
                  <a:cs typeface="+mn-cs"/>
                </a:rPr>
                <a:t>経理部</a:t>
              </a:r>
            </a:p>
          </p:txBody>
        </p:sp>
        <p:sp>
          <p:nvSpPr>
            <p:cNvPr id="132" name="テキスト ボックス 18">
              <a:extLst>
                <a:ext uri="{FF2B5EF4-FFF2-40B4-BE49-F238E27FC236}">
                  <a16:creationId xmlns:a16="http://schemas.microsoft.com/office/drawing/2014/main" id="{8D98BF17-F628-2F67-4113-8BB8D3512122}"/>
                </a:ext>
              </a:extLst>
            </p:cNvPr>
            <p:cNvSpPr txBox="1"/>
            <p:nvPr/>
          </p:nvSpPr>
          <p:spPr>
            <a:xfrm>
              <a:off x="8217857" y="5954457"/>
              <a:ext cx="915954" cy="354296"/>
            </a:xfrm>
            <a:prstGeom prst="rect">
              <a:avLst/>
            </a:prstGeom>
            <a:noFill/>
            <a:ln>
              <a:solidFill>
                <a:srgbClr val="008000"/>
              </a:solidFill>
            </a:ln>
          </p:spPr>
          <p:txBody>
            <a:bodyPr wrap="none" lIns="18000" tIns="54000" rIns="18000" bIns="36000" rtlCol="0" anchor="ctr">
              <a:noAutofit/>
            </a:bodyPr>
            <a:lstStyle>
              <a:defPPr>
                <a:defRPr lang="ja-JP"/>
              </a:defPPr>
              <a:lvl1pPr algn="ctr">
                <a:buClr>
                  <a:schemeClr val="accent1"/>
                </a:buClr>
                <a:defRPr sz="900">
                  <a:solidFill>
                    <a:srgbClr val="008000"/>
                  </a:solidFill>
                </a:defRPr>
              </a:lvl1p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a:ea typeface="Meiryo UI"/>
                  <a:cs typeface="+mn-cs"/>
                </a:rPr>
                <a:t>デジタル戦略部</a:t>
              </a:r>
            </a:p>
          </p:txBody>
        </p:sp>
      </p:grpSp>
      <p:sp>
        <p:nvSpPr>
          <p:cNvPr id="134" name="テキスト ボックス 18">
            <a:extLst>
              <a:ext uri="{FF2B5EF4-FFF2-40B4-BE49-F238E27FC236}">
                <a16:creationId xmlns:a16="http://schemas.microsoft.com/office/drawing/2014/main" id="{5C4F7CC5-9E14-B39A-2725-8AE0975DEEA9}"/>
              </a:ext>
            </a:extLst>
          </p:cNvPr>
          <p:cNvSpPr txBox="1"/>
          <p:nvPr/>
        </p:nvSpPr>
        <p:spPr>
          <a:xfrm>
            <a:off x="9190676" y="6183058"/>
            <a:ext cx="2664595" cy="354296"/>
          </a:xfrm>
          <a:prstGeom prst="rect">
            <a:avLst/>
          </a:prstGeom>
          <a:noFill/>
        </p:spPr>
        <p:txBody>
          <a:bodyPr wrap="square" lIns="36000" tIns="54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非財務情報管理プラットフォーム導入、データ自動収集、内部</a:t>
            </a:r>
            <a:br>
              <a:rPr kumimoji="1" lang="fr-FR" altLang="ja-JP" sz="8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統制実装、</a:t>
            </a:r>
            <a:r>
              <a:rPr kumimoji="1" lang="en-US" altLang="ja-JP" sz="800" b="0" i="0" u="none" strike="noStrike" kern="1200" cap="none" spc="0" normalizeH="0" baseline="0" noProof="0">
                <a:ln>
                  <a:noFill/>
                </a:ln>
                <a:solidFill>
                  <a:prstClr val="black"/>
                </a:solidFill>
                <a:effectLst/>
                <a:uLnTx/>
                <a:uFillTx/>
                <a:latin typeface="Meiryo UI"/>
                <a:ea typeface="Meiryo UI"/>
                <a:cs typeface="+mn-cs"/>
              </a:rPr>
              <a:t>AI</a:t>
            </a: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予測・シミュレーション実装</a:t>
            </a:r>
          </a:p>
        </p:txBody>
      </p:sp>
      <p:sp>
        <p:nvSpPr>
          <p:cNvPr id="39" name="テキスト ボックス 18">
            <a:extLst>
              <a:ext uri="{FF2B5EF4-FFF2-40B4-BE49-F238E27FC236}">
                <a16:creationId xmlns:a16="http://schemas.microsoft.com/office/drawing/2014/main" id="{DA7C1D11-5E1E-7894-2857-495827642598}"/>
              </a:ext>
            </a:extLst>
          </p:cNvPr>
          <p:cNvSpPr txBox="1"/>
          <p:nvPr/>
        </p:nvSpPr>
        <p:spPr>
          <a:xfrm>
            <a:off x="9202760" y="3443940"/>
            <a:ext cx="2664595" cy="228041"/>
          </a:xfrm>
          <a:prstGeom prst="rect">
            <a:avLst/>
          </a:prstGeom>
          <a:noFill/>
        </p:spPr>
        <p:txBody>
          <a:bodyPr wrap="square" lIns="36000" tIns="54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800" b="0" i="0" u="none" strike="noStrike" kern="1200" cap="none" spc="0" normalizeH="0" baseline="0" noProof="0">
                <a:ln>
                  <a:noFill/>
                </a:ln>
                <a:solidFill>
                  <a:prstClr val="black"/>
                </a:solidFill>
                <a:effectLst/>
                <a:uLnTx/>
                <a:uFillTx/>
                <a:latin typeface="Meiryo UI"/>
                <a:ea typeface="Meiryo UI"/>
                <a:cs typeface="+mn-cs"/>
              </a:rPr>
              <a:t>SSBJ</a:t>
            </a: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基準の解釈、開示戦略の策定、</a:t>
            </a:r>
            <a:r>
              <a:rPr kumimoji="1" lang="en-US" altLang="ja-JP" sz="800" b="0" i="0" u="none" strike="noStrike" kern="1200" cap="none" spc="0" normalizeH="0" baseline="0" noProof="0">
                <a:ln>
                  <a:noFill/>
                </a:ln>
                <a:solidFill>
                  <a:prstClr val="black"/>
                </a:solidFill>
                <a:effectLst/>
                <a:uLnTx/>
                <a:uFillTx/>
                <a:latin typeface="Meiryo UI"/>
                <a:ea typeface="Meiryo UI"/>
                <a:cs typeface="+mn-cs"/>
              </a:rPr>
              <a:t>S3</a:t>
            </a: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算定カテゴリ定義決定など、サステナ領域の要件を決定する</a:t>
            </a:r>
            <a:endParaRPr kumimoji="1" lang="ja-JP" altLang="en-US" sz="800" b="0" i="0" u="none" strike="noStrike" kern="1200" cap="none" spc="0" normalizeH="0" baseline="0" noProof="0">
              <a:ln>
                <a:noFill/>
              </a:ln>
              <a:solidFill>
                <a:prstClr val="black">
                  <a:lumMod val="75000"/>
                </a:prstClr>
              </a:solidFill>
              <a:effectLst/>
              <a:uLnTx/>
              <a:uFillTx/>
              <a:latin typeface="Meiryo UI"/>
              <a:ea typeface="Meiryo UI"/>
              <a:cs typeface="+mn-cs"/>
            </a:endParaRPr>
          </a:p>
        </p:txBody>
      </p:sp>
      <p:sp>
        <p:nvSpPr>
          <p:cNvPr id="42" name="テキスト ボックス 18">
            <a:extLst>
              <a:ext uri="{FF2B5EF4-FFF2-40B4-BE49-F238E27FC236}">
                <a16:creationId xmlns:a16="http://schemas.microsoft.com/office/drawing/2014/main" id="{4631730C-A7A6-076F-033E-F6F7399C328C}"/>
              </a:ext>
            </a:extLst>
          </p:cNvPr>
          <p:cNvSpPr txBox="1"/>
          <p:nvPr/>
        </p:nvSpPr>
        <p:spPr>
          <a:xfrm>
            <a:off x="9176404" y="3705226"/>
            <a:ext cx="2664595" cy="227869"/>
          </a:xfrm>
          <a:prstGeom prst="rect">
            <a:avLst/>
          </a:prstGeom>
          <a:noFill/>
        </p:spPr>
        <p:txBody>
          <a:bodyPr wrap="square" lIns="36000" tIns="54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800" b="0" i="0" u="none" strike="noStrike" kern="1200" cap="none" spc="0" normalizeH="0" baseline="0" noProof="0">
                <a:ln>
                  <a:noFill/>
                </a:ln>
                <a:solidFill>
                  <a:prstClr val="black"/>
                </a:solidFill>
                <a:effectLst/>
                <a:uLnTx/>
                <a:uFillTx/>
                <a:latin typeface="Meiryo UI"/>
                <a:ea typeface="Meiryo UI"/>
                <a:cs typeface="+mn-cs"/>
              </a:rPr>
              <a:t>S3</a:t>
            </a: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算定においてサプライヤーから実測値 </a:t>
            </a:r>
            <a:r>
              <a:rPr kumimoji="1" lang="en-US" altLang="ja-JP" sz="800" b="0" i="0" u="none" strike="noStrike" kern="1200" cap="none" spc="0" normalizeH="0" baseline="0" noProof="0">
                <a:ln>
                  <a:noFill/>
                </a:ln>
                <a:solidFill>
                  <a:prstClr val="black"/>
                </a:solidFill>
                <a:effectLst/>
                <a:uLnTx/>
                <a:uFillTx/>
                <a:latin typeface="Meiryo UI"/>
                <a:ea typeface="Meiryo UI"/>
                <a:cs typeface="+mn-cs"/>
              </a:rPr>
              <a:t>(</a:t>
            </a: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一次データを入手するための協力要請を主導する</a:t>
            </a:r>
            <a:endParaRPr kumimoji="1" lang="ja-JP" altLang="en-US" sz="800" b="0" i="0" u="none" strike="noStrike" kern="1200" cap="none" spc="0" normalizeH="0" baseline="0" noProof="0">
              <a:ln>
                <a:noFill/>
              </a:ln>
              <a:solidFill>
                <a:prstClr val="black">
                  <a:lumMod val="75000"/>
                </a:prstClr>
              </a:solidFill>
              <a:effectLst/>
              <a:uLnTx/>
              <a:uFillTx/>
              <a:latin typeface="Meiryo UI"/>
              <a:ea typeface="Meiryo UI"/>
              <a:cs typeface="+mn-cs"/>
            </a:endParaRPr>
          </a:p>
        </p:txBody>
      </p:sp>
      <p:sp>
        <p:nvSpPr>
          <p:cNvPr id="44" name="テキスト ボックス 18">
            <a:extLst>
              <a:ext uri="{FF2B5EF4-FFF2-40B4-BE49-F238E27FC236}">
                <a16:creationId xmlns:a16="http://schemas.microsoft.com/office/drawing/2014/main" id="{C8038F3B-A367-71C3-8B25-526EA7C111D8}"/>
              </a:ext>
            </a:extLst>
          </p:cNvPr>
          <p:cNvSpPr txBox="1"/>
          <p:nvPr/>
        </p:nvSpPr>
        <p:spPr>
          <a:xfrm>
            <a:off x="9202760" y="3966512"/>
            <a:ext cx="2664595" cy="228041"/>
          </a:xfrm>
          <a:prstGeom prst="rect">
            <a:avLst/>
          </a:prstGeom>
          <a:noFill/>
        </p:spPr>
        <p:txBody>
          <a:bodyPr wrap="square" lIns="36000" tIns="54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デジタルプラットフォームの構築を推進し、財務情報と</a:t>
            </a:r>
            <a:br>
              <a:rPr kumimoji="1" lang="en-US" altLang="ja-JP" sz="8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同等の品質・スピードでの開示体制を確立する</a:t>
            </a:r>
            <a:endParaRPr kumimoji="1" lang="ja-JP" altLang="en-US" sz="800" b="0" i="0" u="none" strike="noStrike" kern="1200" cap="none" spc="0" normalizeH="0" baseline="0" noProof="0">
              <a:ln>
                <a:noFill/>
              </a:ln>
              <a:solidFill>
                <a:prstClr val="black">
                  <a:lumMod val="75000"/>
                </a:prstClr>
              </a:solidFill>
              <a:effectLst/>
              <a:uLnTx/>
              <a:uFillTx/>
              <a:latin typeface="Meiryo UI"/>
              <a:ea typeface="Meiryo UI"/>
              <a:cs typeface="+mn-cs"/>
            </a:endParaRPr>
          </a:p>
        </p:txBody>
      </p:sp>
      <p:grpSp>
        <p:nvGrpSpPr>
          <p:cNvPr id="305" name="グループ化 304">
            <a:extLst>
              <a:ext uri="{FF2B5EF4-FFF2-40B4-BE49-F238E27FC236}">
                <a16:creationId xmlns:a16="http://schemas.microsoft.com/office/drawing/2014/main" id="{72BA50BB-C66D-B172-D2CA-F2AFF9CBC558}"/>
              </a:ext>
            </a:extLst>
          </p:cNvPr>
          <p:cNvGrpSpPr/>
          <p:nvPr/>
        </p:nvGrpSpPr>
        <p:grpSpPr>
          <a:xfrm>
            <a:off x="8217857" y="3443940"/>
            <a:ext cx="915954" cy="750613"/>
            <a:chOff x="8217857" y="3215340"/>
            <a:chExt cx="915954" cy="750613"/>
          </a:xfrm>
        </p:grpSpPr>
        <p:sp>
          <p:nvSpPr>
            <p:cNvPr id="37" name="テキスト ボックス 18">
              <a:extLst>
                <a:ext uri="{FF2B5EF4-FFF2-40B4-BE49-F238E27FC236}">
                  <a16:creationId xmlns:a16="http://schemas.microsoft.com/office/drawing/2014/main" id="{4B515B1C-3A14-A993-03D3-8661BB5AC606}"/>
                </a:ext>
              </a:extLst>
            </p:cNvPr>
            <p:cNvSpPr txBox="1"/>
            <p:nvPr/>
          </p:nvSpPr>
          <p:spPr>
            <a:xfrm>
              <a:off x="8217857" y="3215340"/>
              <a:ext cx="915954" cy="228041"/>
            </a:xfrm>
            <a:prstGeom prst="rect">
              <a:avLst/>
            </a:prstGeom>
            <a:noFill/>
            <a:ln>
              <a:solidFill>
                <a:srgbClr val="008000"/>
              </a:solidFill>
            </a:ln>
          </p:spPr>
          <p:txBody>
            <a:bodyPr wrap="none" lIns="18000" tIns="54000" rIns="18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a:ea typeface="Meiryo UI"/>
                  <a:cs typeface="+mn-cs"/>
                </a:rPr>
                <a:t>基準の解釈</a:t>
              </a:r>
            </a:p>
          </p:txBody>
        </p:sp>
        <p:sp>
          <p:nvSpPr>
            <p:cNvPr id="40" name="テキスト ボックス 18">
              <a:extLst>
                <a:ext uri="{FF2B5EF4-FFF2-40B4-BE49-F238E27FC236}">
                  <a16:creationId xmlns:a16="http://schemas.microsoft.com/office/drawing/2014/main" id="{DCB09F56-0CDE-7903-BA20-C3FC715E8CD8}"/>
                </a:ext>
              </a:extLst>
            </p:cNvPr>
            <p:cNvSpPr txBox="1"/>
            <p:nvPr/>
          </p:nvSpPr>
          <p:spPr>
            <a:xfrm>
              <a:off x="8217857" y="3476798"/>
              <a:ext cx="915954" cy="227869"/>
            </a:xfrm>
            <a:prstGeom prst="rect">
              <a:avLst/>
            </a:prstGeom>
            <a:noFill/>
            <a:ln>
              <a:solidFill>
                <a:srgbClr val="008000"/>
              </a:solidFill>
            </a:ln>
          </p:spPr>
          <p:txBody>
            <a:bodyPr wrap="none" lIns="18000" tIns="54000" rIns="18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900" b="0" i="0" u="none" strike="noStrike" kern="1200" cap="none" spc="0" normalizeH="0" baseline="0" noProof="0">
                  <a:ln>
                    <a:noFill/>
                  </a:ln>
                  <a:solidFill>
                    <a:srgbClr val="000000"/>
                  </a:solidFill>
                  <a:effectLst/>
                  <a:uLnTx/>
                  <a:uFillTx/>
                  <a:latin typeface="Meiryo UI"/>
                  <a:ea typeface="Meiryo UI"/>
                  <a:cs typeface="+mn-cs"/>
                </a:rPr>
                <a:t>SC</a:t>
              </a:r>
              <a:r>
                <a:rPr kumimoji="1" lang="ja-JP" altLang="en-US" sz="900" b="0" i="0" u="none" strike="noStrike" kern="1200" cap="none" spc="0" normalizeH="0" baseline="0" noProof="0">
                  <a:ln>
                    <a:noFill/>
                  </a:ln>
                  <a:solidFill>
                    <a:srgbClr val="000000"/>
                  </a:solidFill>
                  <a:effectLst/>
                  <a:uLnTx/>
                  <a:uFillTx/>
                  <a:latin typeface="Meiryo UI"/>
                  <a:ea typeface="Meiryo UI"/>
                  <a:cs typeface="+mn-cs"/>
                </a:rPr>
                <a:t>連携</a:t>
              </a:r>
            </a:p>
          </p:txBody>
        </p:sp>
        <p:sp>
          <p:nvSpPr>
            <p:cNvPr id="137" name="テキスト ボックス 18">
              <a:extLst>
                <a:ext uri="{FF2B5EF4-FFF2-40B4-BE49-F238E27FC236}">
                  <a16:creationId xmlns:a16="http://schemas.microsoft.com/office/drawing/2014/main" id="{CD7FE514-5F93-4259-6AF8-E5AB4851DB3A}"/>
                </a:ext>
              </a:extLst>
            </p:cNvPr>
            <p:cNvSpPr txBox="1"/>
            <p:nvPr/>
          </p:nvSpPr>
          <p:spPr>
            <a:xfrm>
              <a:off x="8217857" y="3737912"/>
              <a:ext cx="915954" cy="228041"/>
            </a:xfrm>
            <a:prstGeom prst="rect">
              <a:avLst/>
            </a:prstGeom>
            <a:noFill/>
            <a:ln>
              <a:solidFill>
                <a:srgbClr val="008000"/>
              </a:solidFill>
            </a:ln>
          </p:spPr>
          <p:txBody>
            <a:bodyPr wrap="none" lIns="18000" tIns="54000" rIns="18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900" b="0" i="0" u="none" strike="noStrike" kern="1200" cap="none" spc="0" normalizeH="0" baseline="0" noProof="0" dirty="0">
                  <a:ln>
                    <a:noFill/>
                  </a:ln>
                  <a:solidFill>
                    <a:srgbClr val="000000"/>
                  </a:solidFill>
                  <a:effectLst/>
                  <a:uLnTx/>
                  <a:uFillTx/>
                  <a:latin typeface="Meiryo UI"/>
                  <a:ea typeface="Meiryo UI"/>
                  <a:cs typeface="+mn-cs"/>
                </a:rPr>
                <a:t>デジタル対応</a:t>
              </a:r>
            </a:p>
          </p:txBody>
        </p:sp>
      </p:grpSp>
      <p:cxnSp>
        <p:nvCxnSpPr>
          <p:cNvPr id="30" name="Straight Connector 49">
            <a:extLst>
              <a:ext uri="{FF2B5EF4-FFF2-40B4-BE49-F238E27FC236}">
                <a16:creationId xmlns:a16="http://schemas.microsoft.com/office/drawing/2014/main" id="{320AD208-F9BA-2DA7-677C-C44E177DF2E1}"/>
              </a:ext>
            </a:extLst>
          </p:cNvPr>
          <p:cNvCxnSpPr/>
          <p:nvPr/>
        </p:nvCxnSpPr>
        <p:spPr>
          <a:xfrm>
            <a:off x="8195822" y="2597882"/>
            <a:ext cx="3663818" cy="0"/>
          </a:xfrm>
          <a:prstGeom prst="line">
            <a:avLst/>
          </a:prstGeom>
          <a:ln w="9525">
            <a:solidFill>
              <a:srgbClr val="414141"/>
            </a:solidFill>
            <a:prstDash val="solid"/>
          </a:ln>
        </p:spPr>
        <p:style>
          <a:lnRef idx="1">
            <a:schemeClr val="accent1"/>
          </a:lnRef>
          <a:fillRef idx="0">
            <a:schemeClr val="accent1"/>
          </a:fillRef>
          <a:effectRef idx="0">
            <a:schemeClr val="accent1"/>
          </a:effectRef>
          <a:fontRef idx="minor">
            <a:schemeClr val="tx1"/>
          </a:fontRef>
        </p:style>
      </p:cxnSp>
      <p:sp>
        <p:nvSpPr>
          <p:cNvPr id="33" name="テキスト ボックス 18">
            <a:extLst>
              <a:ext uri="{FF2B5EF4-FFF2-40B4-BE49-F238E27FC236}">
                <a16:creationId xmlns:a16="http://schemas.microsoft.com/office/drawing/2014/main" id="{3F2B3A6B-0219-BA45-BE94-BA59551B0F6D}"/>
              </a:ext>
            </a:extLst>
          </p:cNvPr>
          <p:cNvSpPr txBox="1"/>
          <p:nvPr/>
        </p:nvSpPr>
        <p:spPr>
          <a:xfrm>
            <a:off x="9202760" y="2668856"/>
            <a:ext cx="2664595" cy="354297"/>
          </a:xfrm>
          <a:prstGeom prst="rect">
            <a:avLst/>
          </a:prstGeom>
          <a:noFill/>
        </p:spPr>
        <p:txBody>
          <a:bodyPr wrap="square" lIns="36000" tIns="54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800" b="0" i="0" u="none" strike="noStrike" kern="1200" cap="none" spc="0" normalizeH="0" baseline="0" noProof="0">
                <a:ln>
                  <a:noFill/>
                </a:ln>
                <a:solidFill>
                  <a:prstClr val="black"/>
                </a:solidFill>
                <a:effectLst/>
                <a:uLnTx/>
                <a:uFillTx/>
                <a:latin typeface="Meiryo UI"/>
                <a:ea typeface="Meiryo UI"/>
                <a:cs typeface="+mn-cs"/>
              </a:rPr>
              <a:t>SSBJ</a:t>
            </a: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義務化への確実な対応に向け、</a:t>
            </a:r>
            <a:r>
              <a:rPr kumimoji="1" lang="en-US" altLang="ja-JP" sz="800" b="0" i="0" u="none" strike="noStrike" kern="1200" cap="none" spc="0" normalizeH="0" baseline="0" noProof="0">
                <a:ln>
                  <a:noFill/>
                </a:ln>
                <a:solidFill>
                  <a:prstClr val="black"/>
                </a:solidFill>
                <a:effectLst/>
                <a:uLnTx/>
                <a:uFillTx/>
                <a:latin typeface="Meiryo UI"/>
                <a:ea typeface="Meiryo UI"/>
                <a:cs typeface="+mn-cs"/>
              </a:rPr>
              <a:t>PJT</a:t>
            </a: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全体進捗と品質</a:t>
            </a:r>
            <a:br>
              <a:rPr kumimoji="1" lang="fr-FR" altLang="ja-JP" sz="8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管理・統制する最終的な意思決定を行う</a:t>
            </a:r>
            <a:endParaRPr kumimoji="1" lang="ja-JP" altLang="en-US" sz="800" b="0" i="0" u="none" strike="noStrike" kern="1200" cap="none" spc="0" normalizeH="0" baseline="0" noProof="0">
              <a:ln>
                <a:noFill/>
              </a:ln>
              <a:solidFill>
                <a:prstClr val="black">
                  <a:lumMod val="75000"/>
                </a:prstClr>
              </a:solidFill>
              <a:effectLst/>
              <a:uLnTx/>
              <a:uFillTx/>
              <a:latin typeface="Meiryo UI"/>
              <a:ea typeface="Meiryo UI"/>
              <a:cs typeface="+mn-cs"/>
            </a:endParaRPr>
          </a:p>
        </p:txBody>
      </p:sp>
      <p:sp>
        <p:nvSpPr>
          <p:cNvPr id="31" name="テキスト ボックス 18">
            <a:extLst>
              <a:ext uri="{FF2B5EF4-FFF2-40B4-BE49-F238E27FC236}">
                <a16:creationId xmlns:a16="http://schemas.microsoft.com/office/drawing/2014/main" id="{EE3B8269-53E5-57C6-31FE-AD24319D670E}"/>
              </a:ext>
            </a:extLst>
          </p:cNvPr>
          <p:cNvSpPr txBox="1"/>
          <p:nvPr/>
        </p:nvSpPr>
        <p:spPr>
          <a:xfrm>
            <a:off x="8217857" y="2668856"/>
            <a:ext cx="915954" cy="354297"/>
          </a:xfrm>
          <a:prstGeom prst="rect">
            <a:avLst/>
          </a:prstGeom>
          <a:noFill/>
          <a:ln>
            <a:solidFill>
              <a:srgbClr val="008000"/>
            </a:solidFill>
          </a:ln>
        </p:spPr>
        <p:txBody>
          <a:bodyPr wrap="none" lIns="18000" tIns="54000" rIns="18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a:ea typeface="Meiryo UI"/>
                <a:cs typeface="+mn-cs"/>
              </a:rPr>
              <a:t>意思決定</a:t>
            </a:r>
          </a:p>
        </p:txBody>
      </p:sp>
      <p:sp>
        <p:nvSpPr>
          <p:cNvPr id="34" name="テキスト ボックス 18">
            <a:extLst>
              <a:ext uri="{FF2B5EF4-FFF2-40B4-BE49-F238E27FC236}">
                <a16:creationId xmlns:a16="http://schemas.microsoft.com/office/drawing/2014/main" id="{E6417C1C-776E-7AC8-12CB-03573FFAE5BF}"/>
              </a:ext>
            </a:extLst>
          </p:cNvPr>
          <p:cNvSpPr txBox="1"/>
          <p:nvPr/>
        </p:nvSpPr>
        <p:spPr>
          <a:xfrm>
            <a:off x="8217857" y="3056398"/>
            <a:ext cx="915954" cy="354297"/>
          </a:xfrm>
          <a:prstGeom prst="rect">
            <a:avLst/>
          </a:prstGeom>
          <a:noFill/>
          <a:ln>
            <a:solidFill>
              <a:srgbClr val="008000"/>
            </a:solidFill>
          </a:ln>
        </p:spPr>
        <p:txBody>
          <a:bodyPr wrap="none" lIns="18000" tIns="54000" rIns="18000" bIns="36000" rtlCol="0" anchor="ctr">
            <a:noAutofit/>
          </a:bodyPr>
          <a:lstStyle/>
          <a:p>
            <a:pPr marL="0" marR="0" lvl="0" indent="0" algn="ctr" defTabSz="914400" rtl="0" eaLnBrk="1" fontAlgn="auto" latinLnBrk="0" hangingPunct="1">
              <a:lnSpc>
                <a:spcPct val="100000"/>
              </a:lnSpc>
              <a:spcBef>
                <a:spcPts val="0"/>
              </a:spcBef>
              <a:spcAft>
                <a:spcPts val="0"/>
              </a:spcAft>
              <a:buClr>
                <a:srgbClr val="5B9BD5"/>
              </a:buClr>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a:ea typeface="Meiryo UI"/>
                <a:cs typeface="+mn-cs"/>
              </a:rPr>
              <a:t>リソース最適化</a:t>
            </a:r>
          </a:p>
        </p:txBody>
      </p:sp>
      <p:sp>
        <p:nvSpPr>
          <p:cNvPr id="36" name="テキスト ボックス 18">
            <a:extLst>
              <a:ext uri="{FF2B5EF4-FFF2-40B4-BE49-F238E27FC236}">
                <a16:creationId xmlns:a16="http://schemas.microsoft.com/office/drawing/2014/main" id="{87699F1D-D321-532F-5CF9-A88DA06F164E}"/>
              </a:ext>
            </a:extLst>
          </p:cNvPr>
          <p:cNvSpPr txBox="1"/>
          <p:nvPr/>
        </p:nvSpPr>
        <p:spPr>
          <a:xfrm>
            <a:off x="9202760" y="3056398"/>
            <a:ext cx="2664595" cy="354297"/>
          </a:xfrm>
          <a:prstGeom prst="rect">
            <a:avLst/>
          </a:prstGeom>
          <a:noFill/>
        </p:spPr>
        <p:txBody>
          <a:bodyPr wrap="square" lIns="36000" tIns="54000" rIns="36000" bIns="36000" rtlCol="0" anchor="ctr">
            <a:noAutofit/>
          </a:bodyPr>
          <a:lstStyle/>
          <a:p>
            <a:pPr marL="0" marR="0" lvl="0" indent="0" algn="l" defTabSz="914400" rtl="0" eaLnBrk="1" fontAlgn="auto" latinLnBrk="0" hangingPunct="1">
              <a:lnSpc>
                <a:spcPct val="100000"/>
              </a:lnSpc>
              <a:spcBef>
                <a:spcPts val="0"/>
              </a:spcBef>
              <a:spcAft>
                <a:spcPts val="0"/>
              </a:spcAft>
              <a:buClr>
                <a:srgbClr val="5B9BD5"/>
              </a:buClr>
              <a:buSzTx/>
              <a:buFontTx/>
              <a:buNone/>
              <a:tabLst/>
              <a:defRPr/>
            </a:pPr>
            <a:r>
              <a:rPr kumimoji="1" lang="en-US" altLang="ja-JP" sz="800" b="0" i="0" u="none" strike="noStrike" kern="1200" cap="none" spc="0" normalizeH="0" baseline="0" noProof="0">
                <a:ln>
                  <a:noFill/>
                </a:ln>
                <a:solidFill>
                  <a:prstClr val="black"/>
                </a:solidFill>
                <a:effectLst/>
                <a:uLnTx/>
                <a:uFillTx/>
                <a:latin typeface="Meiryo UI"/>
                <a:ea typeface="Meiryo UI"/>
                <a:cs typeface="+mn-cs"/>
              </a:rPr>
              <a:t>SSBJ</a:t>
            </a: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対応プロジェクト全体の進行、重要な課題解決、および</a:t>
            </a:r>
            <a:br>
              <a:rPr kumimoji="1" lang="fr-FR" altLang="ja-JP" sz="8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800" b="0" i="0" u="none" strike="noStrike" kern="1200" cap="none" spc="0" normalizeH="0" baseline="0" noProof="0">
                <a:ln>
                  <a:noFill/>
                </a:ln>
                <a:solidFill>
                  <a:prstClr val="black"/>
                </a:solidFill>
                <a:effectLst/>
                <a:uLnTx/>
                <a:uFillTx/>
                <a:latin typeface="Meiryo UI"/>
                <a:ea typeface="Meiryo UI"/>
                <a:cs typeface="+mn-cs"/>
              </a:rPr>
              <a:t>部門間調整のハブとしての役割を担う</a:t>
            </a:r>
            <a:endParaRPr kumimoji="1" lang="ja-JP" altLang="en-US" sz="800" b="0" i="0" u="none" strike="noStrike" kern="1200" cap="none" spc="0" normalizeH="0" baseline="0" noProof="0">
              <a:ln>
                <a:noFill/>
              </a:ln>
              <a:solidFill>
                <a:prstClr val="black">
                  <a:lumMod val="75000"/>
                </a:prstClr>
              </a:solidFill>
              <a:effectLst/>
              <a:uLnTx/>
              <a:uFillTx/>
              <a:latin typeface="Meiryo UI"/>
              <a:ea typeface="Meiryo UI"/>
              <a:cs typeface="+mn-cs"/>
            </a:endParaRPr>
          </a:p>
        </p:txBody>
      </p:sp>
      <p:cxnSp>
        <p:nvCxnSpPr>
          <p:cNvPr id="250" name="直線コネクタ 249">
            <a:extLst>
              <a:ext uri="{FF2B5EF4-FFF2-40B4-BE49-F238E27FC236}">
                <a16:creationId xmlns:a16="http://schemas.microsoft.com/office/drawing/2014/main" id="{C245D743-BEA6-ED89-407B-E168DE8019C4}"/>
              </a:ext>
            </a:extLst>
          </p:cNvPr>
          <p:cNvCxnSpPr>
            <a:cxnSpLocks/>
          </p:cNvCxnSpPr>
          <p:nvPr/>
        </p:nvCxnSpPr>
        <p:spPr>
          <a:xfrm>
            <a:off x="9192352" y="3036255"/>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2" name="グループ化 21">
            <a:extLst>
              <a:ext uri="{FF2B5EF4-FFF2-40B4-BE49-F238E27FC236}">
                <a16:creationId xmlns:a16="http://schemas.microsoft.com/office/drawing/2014/main" id="{6141AA91-8200-FB71-21AD-D902D78685DF}"/>
              </a:ext>
            </a:extLst>
          </p:cNvPr>
          <p:cNvGrpSpPr/>
          <p:nvPr/>
        </p:nvGrpSpPr>
        <p:grpSpPr>
          <a:xfrm>
            <a:off x="6143615" y="1857375"/>
            <a:ext cx="5723740" cy="396000"/>
            <a:chOff x="6143615" y="1628775"/>
            <a:chExt cx="5723740" cy="396000"/>
          </a:xfrm>
        </p:grpSpPr>
        <p:sp>
          <p:nvSpPr>
            <p:cNvPr id="15" name="正方形/長方形 14">
              <a:extLst>
                <a:ext uri="{FF2B5EF4-FFF2-40B4-BE49-F238E27FC236}">
                  <a16:creationId xmlns:a16="http://schemas.microsoft.com/office/drawing/2014/main" id="{3315E40E-07A1-D5C9-B6B9-194A327BBA07}"/>
                </a:ext>
              </a:extLst>
            </p:cNvPr>
            <p:cNvSpPr/>
            <p:nvPr/>
          </p:nvSpPr>
          <p:spPr>
            <a:xfrm>
              <a:off x="6143615" y="1628775"/>
              <a:ext cx="5723740" cy="39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solidFill>
                    <a:prstClr val="white"/>
                  </a:solidFill>
                  <a:effectLst/>
                  <a:uLnTx/>
                  <a:uFillTx/>
                  <a:latin typeface="Meiryo UI"/>
                  <a:ea typeface="Meiryo UI"/>
                  <a:cs typeface="+mn-cs"/>
                </a:rPr>
                <a:t>役割</a:t>
              </a:r>
            </a:p>
          </p:txBody>
        </p:sp>
        <p:pic>
          <p:nvPicPr>
            <p:cNvPr id="264" name="グラフィックス 263" descr="性別 単色塗りつぶし">
              <a:extLst>
                <a:ext uri="{FF2B5EF4-FFF2-40B4-BE49-F238E27FC236}">
                  <a16:creationId xmlns:a16="http://schemas.microsoft.com/office/drawing/2014/main" id="{D5070FA0-27CD-B696-4E88-4BE35008EFF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75982" y="1649044"/>
              <a:ext cx="360000" cy="360000"/>
            </a:xfrm>
            <a:prstGeom prst="rect">
              <a:avLst/>
            </a:prstGeom>
          </p:spPr>
        </p:pic>
      </p:grpSp>
      <p:cxnSp>
        <p:nvCxnSpPr>
          <p:cNvPr id="290" name="直線コネクタ 289">
            <a:extLst>
              <a:ext uri="{FF2B5EF4-FFF2-40B4-BE49-F238E27FC236}">
                <a16:creationId xmlns:a16="http://schemas.microsoft.com/office/drawing/2014/main" id="{1AA1E1F4-D97F-B5FA-D4E3-C2D178335CC4}"/>
              </a:ext>
            </a:extLst>
          </p:cNvPr>
          <p:cNvCxnSpPr>
            <a:cxnSpLocks/>
          </p:cNvCxnSpPr>
          <p:nvPr/>
        </p:nvCxnSpPr>
        <p:spPr>
          <a:xfrm>
            <a:off x="9192352" y="3423797"/>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直線コネクタ 290">
            <a:extLst>
              <a:ext uri="{FF2B5EF4-FFF2-40B4-BE49-F238E27FC236}">
                <a16:creationId xmlns:a16="http://schemas.microsoft.com/office/drawing/2014/main" id="{24C90620-9520-59EB-96FE-553780C4382E}"/>
              </a:ext>
            </a:extLst>
          </p:cNvPr>
          <p:cNvCxnSpPr>
            <a:cxnSpLocks/>
          </p:cNvCxnSpPr>
          <p:nvPr/>
        </p:nvCxnSpPr>
        <p:spPr>
          <a:xfrm>
            <a:off x="9192352" y="3685082"/>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直線コネクタ 291">
            <a:extLst>
              <a:ext uri="{FF2B5EF4-FFF2-40B4-BE49-F238E27FC236}">
                <a16:creationId xmlns:a16="http://schemas.microsoft.com/office/drawing/2014/main" id="{44148408-859C-F393-38EC-19B86BB6EE30}"/>
              </a:ext>
            </a:extLst>
          </p:cNvPr>
          <p:cNvCxnSpPr>
            <a:cxnSpLocks/>
          </p:cNvCxnSpPr>
          <p:nvPr/>
        </p:nvCxnSpPr>
        <p:spPr>
          <a:xfrm>
            <a:off x="9192352" y="3946368"/>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直線コネクタ 292">
            <a:extLst>
              <a:ext uri="{FF2B5EF4-FFF2-40B4-BE49-F238E27FC236}">
                <a16:creationId xmlns:a16="http://schemas.microsoft.com/office/drawing/2014/main" id="{E4521170-11ED-BF54-690F-53C8A47390A3}"/>
              </a:ext>
            </a:extLst>
          </p:cNvPr>
          <p:cNvCxnSpPr>
            <a:cxnSpLocks/>
          </p:cNvCxnSpPr>
          <p:nvPr/>
        </p:nvCxnSpPr>
        <p:spPr>
          <a:xfrm>
            <a:off x="9192352" y="4207654"/>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直線コネクタ 293">
            <a:extLst>
              <a:ext uri="{FF2B5EF4-FFF2-40B4-BE49-F238E27FC236}">
                <a16:creationId xmlns:a16="http://schemas.microsoft.com/office/drawing/2014/main" id="{060606A7-885A-49F6-2D44-82022A6F647A}"/>
              </a:ext>
            </a:extLst>
          </p:cNvPr>
          <p:cNvCxnSpPr>
            <a:cxnSpLocks/>
          </p:cNvCxnSpPr>
          <p:nvPr/>
        </p:nvCxnSpPr>
        <p:spPr>
          <a:xfrm>
            <a:off x="9192352" y="4468940"/>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直線コネクタ 294">
            <a:extLst>
              <a:ext uri="{FF2B5EF4-FFF2-40B4-BE49-F238E27FC236}">
                <a16:creationId xmlns:a16="http://schemas.microsoft.com/office/drawing/2014/main" id="{530E674D-F568-3B04-A3F0-9A41382E6F0F}"/>
              </a:ext>
            </a:extLst>
          </p:cNvPr>
          <p:cNvCxnSpPr>
            <a:cxnSpLocks/>
          </p:cNvCxnSpPr>
          <p:nvPr/>
        </p:nvCxnSpPr>
        <p:spPr>
          <a:xfrm>
            <a:off x="9192352" y="4991512"/>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直線コネクタ 295">
            <a:extLst>
              <a:ext uri="{FF2B5EF4-FFF2-40B4-BE49-F238E27FC236}">
                <a16:creationId xmlns:a16="http://schemas.microsoft.com/office/drawing/2014/main" id="{EA5345AB-89DD-9FFB-381E-EF0E2F1606C3}"/>
              </a:ext>
            </a:extLst>
          </p:cNvPr>
          <p:cNvCxnSpPr>
            <a:cxnSpLocks/>
          </p:cNvCxnSpPr>
          <p:nvPr/>
        </p:nvCxnSpPr>
        <p:spPr>
          <a:xfrm>
            <a:off x="9192352" y="4730227"/>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直線コネクタ 296">
            <a:extLst>
              <a:ext uri="{FF2B5EF4-FFF2-40B4-BE49-F238E27FC236}">
                <a16:creationId xmlns:a16="http://schemas.microsoft.com/office/drawing/2014/main" id="{90BCD50E-8412-F632-6E55-FE641799D65C}"/>
              </a:ext>
            </a:extLst>
          </p:cNvPr>
          <p:cNvCxnSpPr>
            <a:cxnSpLocks/>
          </p:cNvCxnSpPr>
          <p:nvPr/>
        </p:nvCxnSpPr>
        <p:spPr>
          <a:xfrm>
            <a:off x="9192352" y="5252798"/>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直線コネクタ 297">
            <a:extLst>
              <a:ext uri="{FF2B5EF4-FFF2-40B4-BE49-F238E27FC236}">
                <a16:creationId xmlns:a16="http://schemas.microsoft.com/office/drawing/2014/main" id="{9F12BCB5-2ED0-A3E4-A782-EABD89C938BE}"/>
              </a:ext>
            </a:extLst>
          </p:cNvPr>
          <p:cNvCxnSpPr>
            <a:cxnSpLocks/>
          </p:cNvCxnSpPr>
          <p:nvPr/>
        </p:nvCxnSpPr>
        <p:spPr>
          <a:xfrm>
            <a:off x="9192352" y="5514084"/>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直線コネクタ 298">
            <a:extLst>
              <a:ext uri="{FF2B5EF4-FFF2-40B4-BE49-F238E27FC236}">
                <a16:creationId xmlns:a16="http://schemas.microsoft.com/office/drawing/2014/main" id="{5D0174F3-1BAE-0A67-808E-72F532CCE766}"/>
              </a:ext>
            </a:extLst>
          </p:cNvPr>
          <p:cNvCxnSpPr>
            <a:cxnSpLocks/>
          </p:cNvCxnSpPr>
          <p:nvPr/>
        </p:nvCxnSpPr>
        <p:spPr>
          <a:xfrm>
            <a:off x="9192352" y="5775370"/>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直線コネクタ 299">
            <a:extLst>
              <a:ext uri="{FF2B5EF4-FFF2-40B4-BE49-F238E27FC236}">
                <a16:creationId xmlns:a16="http://schemas.microsoft.com/office/drawing/2014/main" id="{02FAB3D7-8DD5-37BB-BDC4-D8A7D662C0B7}"/>
              </a:ext>
            </a:extLst>
          </p:cNvPr>
          <p:cNvCxnSpPr>
            <a:cxnSpLocks/>
          </p:cNvCxnSpPr>
          <p:nvPr/>
        </p:nvCxnSpPr>
        <p:spPr>
          <a:xfrm>
            <a:off x="9192352" y="6162913"/>
            <a:ext cx="2685412" cy="7042"/>
          </a:xfrm>
          <a:prstGeom prst="line">
            <a:avLst/>
          </a:prstGeom>
          <a:ln w="9525">
            <a:solidFill>
              <a:schemeClr val="bg1">
                <a:lumMod val="6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28" name="グループ化 327">
            <a:extLst>
              <a:ext uri="{FF2B5EF4-FFF2-40B4-BE49-F238E27FC236}">
                <a16:creationId xmlns:a16="http://schemas.microsoft.com/office/drawing/2014/main" id="{5748302D-731E-BA2F-C378-294F345513BF}"/>
              </a:ext>
            </a:extLst>
          </p:cNvPr>
          <p:cNvGrpSpPr/>
          <p:nvPr/>
        </p:nvGrpSpPr>
        <p:grpSpPr>
          <a:xfrm>
            <a:off x="334962" y="1857373"/>
            <a:ext cx="5723741" cy="4421921"/>
            <a:chOff x="334962" y="1628773"/>
            <a:chExt cx="5723741" cy="3637765"/>
          </a:xfrm>
        </p:grpSpPr>
        <p:sp>
          <p:nvSpPr>
            <p:cNvPr id="222" name="矢印: 左右 221">
              <a:extLst>
                <a:ext uri="{FF2B5EF4-FFF2-40B4-BE49-F238E27FC236}">
                  <a16:creationId xmlns:a16="http://schemas.microsoft.com/office/drawing/2014/main" id="{B890631F-C3E3-6D6E-F85C-B3C170AF24CF}"/>
                </a:ext>
              </a:extLst>
            </p:cNvPr>
            <p:cNvSpPr/>
            <p:nvPr/>
          </p:nvSpPr>
          <p:spPr>
            <a:xfrm>
              <a:off x="1797799" y="2762507"/>
              <a:ext cx="2569921" cy="601384"/>
            </a:xfrm>
            <a:prstGeom prst="leftRightArrow">
              <a:avLst>
                <a:gd name="adj1" fmla="val 54224"/>
                <a:gd name="adj2" fmla="val 28882"/>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ja-JP" altLang="en-US" sz="1200" b="0" i="0" u="none" strike="noStrike" kern="1200" cap="none" spc="0" normalizeH="0" baseline="0" noProof="0" dirty="0">
                <a:ln>
                  <a:noFill/>
                </a:ln>
                <a:solidFill>
                  <a:prstClr val="black"/>
                </a:solidFill>
                <a:effectLst/>
                <a:uLnTx/>
                <a:uFillTx/>
                <a:latin typeface="Meiryo UI"/>
                <a:ea typeface="Meiryo UI"/>
                <a:cs typeface="+mn-cs"/>
              </a:endParaRPr>
            </a:p>
          </p:txBody>
        </p:sp>
        <p:cxnSp>
          <p:nvCxnSpPr>
            <p:cNvPr id="224" name="直線コネクタ 223">
              <a:extLst>
                <a:ext uri="{FF2B5EF4-FFF2-40B4-BE49-F238E27FC236}">
                  <a16:creationId xmlns:a16="http://schemas.microsoft.com/office/drawing/2014/main" id="{9FC09A05-6436-AE67-42E4-64D73B5797B2}"/>
                </a:ext>
              </a:extLst>
            </p:cNvPr>
            <p:cNvCxnSpPr>
              <a:cxnSpLocks/>
              <a:stCxn id="153" idx="0"/>
              <a:endCxn id="139" idx="2"/>
            </p:cNvCxnSpPr>
            <p:nvPr/>
          </p:nvCxnSpPr>
          <p:spPr>
            <a:xfrm flipV="1">
              <a:off x="3064172" y="2603813"/>
              <a:ext cx="0" cy="1154754"/>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7" name="グループ化 16">
              <a:extLst>
                <a:ext uri="{FF2B5EF4-FFF2-40B4-BE49-F238E27FC236}">
                  <a16:creationId xmlns:a16="http://schemas.microsoft.com/office/drawing/2014/main" id="{80D12BC0-B14E-645A-1966-849CFF8B9AE8}"/>
                </a:ext>
              </a:extLst>
            </p:cNvPr>
            <p:cNvGrpSpPr/>
            <p:nvPr/>
          </p:nvGrpSpPr>
          <p:grpSpPr>
            <a:xfrm>
              <a:off x="2344172" y="2066000"/>
              <a:ext cx="1440000" cy="537813"/>
              <a:chOff x="2596677" y="2142200"/>
              <a:chExt cx="1440000" cy="537813"/>
            </a:xfrm>
          </p:grpSpPr>
          <p:sp>
            <p:nvSpPr>
              <p:cNvPr id="138" name="正方形/長方形 137">
                <a:extLst>
                  <a:ext uri="{FF2B5EF4-FFF2-40B4-BE49-F238E27FC236}">
                    <a16:creationId xmlns:a16="http://schemas.microsoft.com/office/drawing/2014/main" id="{E187F953-4A23-2706-9B9E-3E78F3539F5F}"/>
                  </a:ext>
                </a:extLst>
              </p:cNvPr>
              <p:cNvSpPr/>
              <p:nvPr/>
            </p:nvSpPr>
            <p:spPr>
              <a:xfrm>
                <a:off x="2596677" y="2142200"/>
                <a:ext cx="1440000" cy="216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プロジェクトオーナー</a:t>
                </a:r>
              </a:p>
            </p:txBody>
          </p:sp>
          <p:sp>
            <p:nvSpPr>
              <p:cNvPr id="139" name="正方形/長方形 138">
                <a:extLst>
                  <a:ext uri="{FF2B5EF4-FFF2-40B4-BE49-F238E27FC236}">
                    <a16:creationId xmlns:a16="http://schemas.microsoft.com/office/drawing/2014/main" id="{0BB58740-B691-2E29-3FA9-C90ECDDF720F}"/>
                  </a:ext>
                </a:extLst>
              </p:cNvPr>
              <p:cNvSpPr/>
              <p:nvPr/>
            </p:nvSpPr>
            <p:spPr>
              <a:xfrm>
                <a:off x="2596677" y="2358200"/>
                <a:ext cx="1440000" cy="321813"/>
              </a:xfrm>
              <a:prstGeom prst="rect">
                <a:avLst/>
              </a:prstGeom>
              <a:solidFill>
                <a:schemeClr val="bg1"/>
              </a:solidFill>
              <a:ln w="9525" cap="flat" cmpd="sng" algn="ctr">
                <a:solidFill>
                  <a:srgbClr val="008000"/>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新井執行役員</a:t>
                </a:r>
                <a:endParaRPr kumimoji="0" lang="en-US" altLang="ja-JP" sz="1050" b="0"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endParaRPr>
              </a:p>
            </p:txBody>
          </p:sp>
        </p:grpSp>
        <p:grpSp>
          <p:nvGrpSpPr>
            <p:cNvPr id="18" name="グループ化 17">
              <a:extLst>
                <a:ext uri="{FF2B5EF4-FFF2-40B4-BE49-F238E27FC236}">
                  <a16:creationId xmlns:a16="http://schemas.microsoft.com/office/drawing/2014/main" id="{FF8F8555-2DF1-DC03-2D01-71E2C29AE131}"/>
                </a:ext>
              </a:extLst>
            </p:cNvPr>
            <p:cNvGrpSpPr/>
            <p:nvPr/>
          </p:nvGrpSpPr>
          <p:grpSpPr>
            <a:xfrm>
              <a:off x="2344172" y="2736075"/>
              <a:ext cx="1440000" cy="537813"/>
              <a:chOff x="2596677" y="2786875"/>
              <a:chExt cx="1440000" cy="537813"/>
            </a:xfrm>
          </p:grpSpPr>
          <p:sp>
            <p:nvSpPr>
              <p:cNvPr id="142" name="正方形/長方形 141">
                <a:extLst>
                  <a:ext uri="{FF2B5EF4-FFF2-40B4-BE49-F238E27FC236}">
                    <a16:creationId xmlns:a16="http://schemas.microsoft.com/office/drawing/2014/main" id="{51F48DEF-2C51-7A60-8720-62E967040D12}"/>
                  </a:ext>
                </a:extLst>
              </p:cNvPr>
              <p:cNvSpPr/>
              <p:nvPr/>
            </p:nvSpPr>
            <p:spPr>
              <a:xfrm>
                <a:off x="2596677" y="2786875"/>
                <a:ext cx="1440000" cy="216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推進責任者</a:t>
                </a:r>
              </a:p>
            </p:txBody>
          </p:sp>
          <p:sp>
            <p:nvSpPr>
              <p:cNvPr id="143" name="正方形/長方形 142">
                <a:extLst>
                  <a:ext uri="{FF2B5EF4-FFF2-40B4-BE49-F238E27FC236}">
                    <a16:creationId xmlns:a16="http://schemas.microsoft.com/office/drawing/2014/main" id="{FC2E4A67-C3A2-4943-BA71-1936B7649909}"/>
                  </a:ext>
                </a:extLst>
              </p:cNvPr>
              <p:cNvSpPr/>
              <p:nvPr/>
            </p:nvSpPr>
            <p:spPr>
              <a:xfrm>
                <a:off x="2596677" y="3002875"/>
                <a:ext cx="1440000" cy="321813"/>
              </a:xfrm>
              <a:prstGeom prst="rect">
                <a:avLst/>
              </a:prstGeom>
              <a:solidFill>
                <a:schemeClr val="bg1"/>
              </a:solidFill>
              <a:ln w="9525" cap="flat" cmpd="sng" algn="ctr">
                <a:solidFill>
                  <a:srgbClr val="008000"/>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千葉室長</a:t>
                </a:r>
                <a:endParaRPr kumimoji="0" lang="en-US" altLang="ja-JP" sz="1050" b="0"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endParaRPr>
              </a:p>
            </p:txBody>
          </p:sp>
        </p:grpSp>
        <p:grpSp>
          <p:nvGrpSpPr>
            <p:cNvPr id="16" name="グループ化 15">
              <a:extLst>
                <a:ext uri="{FF2B5EF4-FFF2-40B4-BE49-F238E27FC236}">
                  <a16:creationId xmlns:a16="http://schemas.microsoft.com/office/drawing/2014/main" id="{D27F558B-3AD3-0406-F054-E72FB13B968A}"/>
                </a:ext>
              </a:extLst>
            </p:cNvPr>
            <p:cNvGrpSpPr/>
            <p:nvPr/>
          </p:nvGrpSpPr>
          <p:grpSpPr>
            <a:xfrm>
              <a:off x="4618703" y="2223238"/>
              <a:ext cx="1440000" cy="537813"/>
              <a:chOff x="4733003" y="2377526"/>
              <a:chExt cx="1440000" cy="537813"/>
            </a:xfrm>
          </p:grpSpPr>
          <p:sp>
            <p:nvSpPr>
              <p:cNvPr id="145" name="正方形/長方形 144">
                <a:extLst>
                  <a:ext uri="{FF2B5EF4-FFF2-40B4-BE49-F238E27FC236}">
                    <a16:creationId xmlns:a16="http://schemas.microsoft.com/office/drawing/2014/main" id="{81A7775A-A1C6-EF6C-8EFA-4C365F777FD1}"/>
                  </a:ext>
                </a:extLst>
              </p:cNvPr>
              <p:cNvSpPr/>
              <p:nvPr/>
            </p:nvSpPr>
            <p:spPr>
              <a:xfrm>
                <a:off x="4733003" y="2377526"/>
                <a:ext cx="1440000" cy="216000"/>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PM/PMO</a:t>
                </a:r>
                <a:r>
                  <a:rPr kumimoji="0" lang="ja-JP" altLang="en-US"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リーダ</a:t>
                </a:r>
              </a:p>
            </p:txBody>
          </p:sp>
          <p:sp>
            <p:nvSpPr>
              <p:cNvPr id="146" name="正方形/長方形 145">
                <a:extLst>
                  <a:ext uri="{FF2B5EF4-FFF2-40B4-BE49-F238E27FC236}">
                    <a16:creationId xmlns:a16="http://schemas.microsoft.com/office/drawing/2014/main" id="{175456BD-2B92-8BF5-9BDB-C9AF8E2E3743}"/>
                  </a:ext>
                </a:extLst>
              </p:cNvPr>
              <p:cNvSpPr/>
              <p:nvPr/>
            </p:nvSpPr>
            <p:spPr>
              <a:xfrm>
                <a:off x="4733003" y="2593526"/>
                <a:ext cx="1440000" cy="321813"/>
              </a:xfrm>
              <a:prstGeom prst="rect">
                <a:avLst/>
              </a:prstGeom>
              <a:solidFill>
                <a:schemeClr val="bg1"/>
              </a:solidFill>
              <a:ln w="9525" cap="flat" cmpd="sng" algn="ctr">
                <a:solidFill>
                  <a:srgbClr val="008000"/>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経企 </a:t>
                </a:r>
                <a:r>
                  <a:rPr kumimoji="0" lang="en-US" altLang="ja-JP" sz="1050" b="0"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 </a:t>
                </a:r>
                <a:r>
                  <a:rPr kumimoji="0" lang="ja-JP" altLang="en-US" sz="1050" b="0"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デジ戦 菊池</a:t>
                </a:r>
                <a:endParaRPr kumimoji="0" lang="en-US" altLang="ja-JP" sz="1050" b="1"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endParaRPr>
              </a:p>
            </p:txBody>
          </p:sp>
        </p:grpSp>
        <p:grpSp>
          <p:nvGrpSpPr>
            <p:cNvPr id="12" name="グループ化 11">
              <a:extLst>
                <a:ext uri="{FF2B5EF4-FFF2-40B4-BE49-F238E27FC236}">
                  <a16:creationId xmlns:a16="http://schemas.microsoft.com/office/drawing/2014/main" id="{652532C6-5032-62DC-7D8C-D23148FDDB5A}"/>
                </a:ext>
              </a:extLst>
            </p:cNvPr>
            <p:cNvGrpSpPr/>
            <p:nvPr/>
          </p:nvGrpSpPr>
          <p:grpSpPr>
            <a:xfrm>
              <a:off x="4618703" y="2857101"/>
              <a:ext cx="1440000" cy="641486"/>
              <a:chOff x="4733003" y="3022201"/>
              <a:chExt cx="1440000" cy="641486"/>
            </a:xfrm>
          </p:grpSpPr>
          <p:sp>
            <p:nvSpPr>
              <p:cNvPr id="149" name="正方形/長方形 148">
                <a:extLst>
                  <a:ext uri="{FF2B5EF4-FFF2-40B4-BE49-F238E27FC236}">
                    <a16:creationId xmlns:a16="http://schemas.microsoft.com/office/drawing/2014/main" id="{DC1FD695-D20A-15D5-5334-8B39BFCE1000}"/>
                  </a:ext>
                </a:extLst>
              </p:cNvPr>
              <p:cNvSpPr/>
              <p:nvPr/>
            </p:nvSpPr>
            <p:spPr>
              <a:xfrm>
                <a:off x="4733003" y="3022201"/>
                <a:ext cx="1440000" cy="257638"/>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PM/PMO</a:t>
                </a:r>
                <a:r>
                  <a:rPr kumimoji="0" lang="ja-JP" altLang="en-US"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補佐</a:t>
                </a:r>
              </a:p>
            </p:txBody>
          </p:sp>
          <p:sp>
            <p:nvSpPr>
              <p:cNvPr id="150" name="正方形/長方形 149">
                <a:extLst>
                  <a:ext uri="{FF2B5EF4-FFF2-40B4-BE49-F238E27FC236}">
                    <a16:creationId xmlns:a16="http://schemas.microsoft.com/office/drawing/2014/main" id="{6305A7CB-3349-4A2B-BBB6-46657A800888}"/>
                  </a:ext>
                </a:extLst>
              </p:cNvPr>
              <p:cNvSpPr/>
              <p:nvPr/>
            </p:nvSpPr>
            <p:spPr>
              <a:xfrm>
                <a:off x="4733003" y="3279839"/>
                <a:ext cx="1440000" cy="383848"/>
              </a:xfrm>
              <a:prstGeom prst="rect">
                <a:avLst/>
              </a:prstGeom>
              <a:solidFill>
                <a:schemeClr val="bg1"/>
              </a:solidFill>
              <a:ln w="9525" cap="flat" cmpd="sng" algn="ctr">
                <a:solidFill>
                  <a:srgbClr val="008000"/>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tab pos="1612900" algn="l"/>
                  </a:tabLst>
                  <a:defRPr/>
                </a:pPr>
                <a:r>
                  <a:rPr kumimoji="0" lang="ja-JP" altLang="en-US" sz="1050" b="0" i="0" u="none" strike="noStrike" kern="0" cap="none" spc="0" normalizeH="0" baseline="0" noProof="0" dirty="0">
                    <a:ln>
                      <a:noFill/>
                    </a:ln>
                    <a:solidFill>
                      <a:srgbClr val="FF0000"/>
                    </a:solidFill>
                    <a:effectLst/>
                    <a:uLnTx/>
                    <a:uFillTx/>
                    <a:latin typeface="Meiryo UI" panose="020B0604030504040204" pitchFamily="50" charset="-128"/>
                    <a:ea typeface="Meiryo UI" panose="020B0604030504040204" pitchFamily="50" charset="-128"/>
                    <a:cs typeface="+mn-cs"/>
                  </a:rPr>
                  <a:t>外部コンサル </a:t>
                </a:r>
                <a:r>
                  <a:rPr kumimoji="0" lang="en-US" altLang="ja-JP" sz="1050" kern="0" dirty="0">
                    <a:solidFill>
                      <a:srgbClr val="FF0000"/>
                    </a:solidFill>
                    <a:latin typeface="Meiryo UI" panose="020B0604030504040204" pitchFamily="50" charset="-128"/>
                    <a:ea typeface="Meiryo UI" panose="020B0604030504040204" pitchFamily="50" charset="-128"/>
                  </a:rPr>
                  <a:t>TBA</a:t>
                </a:r>
                <a:endParaRPr kumimoji="0" lang="en-US" altLang="ja-JP" sz="1050" b="0" i="0" u="none" strike="noStrike" kern="0" cap="none" spc="0" normalizeH="0" baseline="0" noProof="0" dirty="0">
                  <a:ln>
                    <a:noFill/>
                  </a:ln>
                  <a:solidFill>
                    <a:srgbClr val="FF0000"/>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tab pos="1612900" algn="l"/>
                  </a:tabLst>
                  <a:defRPr/>
                </a:pPr>
                <a:r>
                  <a:rPr kumimoji="0" lang="en-US" altLang="ja-JP" sz="1050" b="0" i="0" u="none" strike="noStrike" kern="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ESG</a:t>
                </a:r>
                <a:r>
                  <a:rPr kumimoji="0" lang="ja-JP" altLang="en-US" sz="1050" b="0" i="0" u="none" strike="noStrike" kern="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室  南</a:t>
                </a:r>
                <a:endParaRPr kumimoji="0" lang="ja-JP" altLang="en-US" sz="1050" b="1" i="0" u="none" strike="noStrike" kern="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p:txBody>
          </p:sp>
        </p:grpSp>
        <p:sp>
          <p:nvSpPr>
            <p:cNvPr id="151" name="正方形/長方形 150">
              <a:extLst>
                <a:ext uri="{FF2B5EF4-FFF2-40B4-BE49-F238E27FC236}">
                  <a16:creationId xmlns:a16="http://schemas.microsoft.com/office/drawing/2014/main" id="{0C324B92-9E80-654A-9B9C-89644605D650}"/>
                </a:ext>
              </a:extLst>
            </p:cNvPr>
            <p:cNvSpPr/>
            <p:nvPr/>
          </p:nvSpPr>
          <p:spPr>
            <a:xfrm>
              <a:off x="933784" y="3758568"/>
              <a:ext cx="828000" cy="43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050" b="0" i="0" u="none" strike="noStrike" kern="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ESG</a:t>
              </a:r>
              <a:br>
                <a:rPr kumimoji="0" lang="en-US" altLang="ja-JP" sz="1050" b="0" i="0" u="none" strike="noStrike" kern="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br>
              <a:r>
                <a:rPr kumimoji="0" lang="en-US" altLang="ja-JP" sz="1050" b="0" i="0" u="none" strike="noStrike" kern="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a:t>
              </a:r>
              <a:r>
                <a:rPr kumimoji="0" lang="ja-JP" altLang="en-US" sz="1050" b="0" i="0" u="none" strike="noStrike" kern="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事務局</a:t>
              </a:r>
              <a:r>
                <a:rPr kumimoji="0" lang="en-US" altLang="ja-JP" sz="1050" b="0" i="0" u="none" strike="noStrike" kern="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rPr>
                <a:t>)</a:t>
              </a:r>
              <a:endParaRPr kumimoji="0" lang="ja-JP" altLang="en-US" sz="1050" b="0" i="0" u="none" strike="noStrike" kern="0" cap="none" spc="0" normalizeH="0" baseline="0" noProof="0" dirty="0">
                <a:ln>
                  <a:noFill/>
                </a:ln>
                <a:solidFill>
                  <a:srgbClr val="008000"/>
                </a:solidFill>
                <a:effectLst/>
                <a:uLnTx/>
                <a:uFillTx/>
                <a:latin typeface="Meiryo UI" panose="020B0604030504040204" pitchFamily="50" charset="-128"/>
                <a:ea typeface="Meiryo UI" panose="020B0604030504040204" pitchFamily="50" charset="-128"/>
                <a:cs typeface="+mn-cs"/>
              </a:endParaRPr>
            </a:p>
          </p:txBody>
        </p:sp>
        <p:grpSp>
          <p:nvGrpSpPr>
            <p:cNvPr id="6" name="グループ化 5">
              <a:extLst>
                <a:ext uri="{FF2B5EF4-FFF2-40B4-BE49-F238E27FC236}">
                  <a16:creationId xmlns:a16="http://schemas.microsoft.com/office/drawing/2014/main" id="{C5B5D66A-3CE6-68C8-4FAC-CB5CAB27FBB2}"/>
                </a:ext>
              </a:extLst>
            </p:cNvPr>
            <p:cNvGrpSpPr/>
            <p:nvPr/>
          </p:nvGrpSpPr>
          <p:grpSpPr>
            <a:xfrm>
              <a:off x="334963" y="4841199"/>
              <a:ext cx="504000" cy="422292"/>
              <a:chOff x="334961" y="4841199"/>
              <a:chExt cx="540000" cy="422292"/>
            </a:xfrm>
          </p:grpSpPr>
          <p:sp>
            <p:nvSpPr>
              <p:cNvPr id="157" name="正方形/長方形 156">
                <a:extLst>
                  <a:ext uri="{FF2B5EF4-FFF2-40B4-BE49-F238E27FC236}">
                    <a16:creationId xmlns:a16="http://schemas.microsoft.com/office/drawing/2014/main" id="{567DB070-890A-857A-CADD-DAB560B4BD22}"/>
                  </a:ext>
                </a:extLst>
              </p:cNvPr>
              <p:cNvSpPr/>
              <p:nvPr/>
            </p:nvSpPr>
            <p:spPr>
              <a:xfrm>
                <a:off x="334961" y="4868549"/>
                <a:ext cx="540000" cy="39494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ja-JP" sz="1100" b="0" i="0" u="none" strike="noStrike" kern="1200" cap="none" spc="0" normalizeH="0" baseline="0" noProof="0" dirty="0">
                    <a:ln>
                      <a:noFill/>
                    </a:ln>
                    <a:solidFill>
                      <a:srgbClr val="008000"/>
                    </a:solidFill>
                    <a:effectLst/>
                    <a:uLnTx/>
                    <a:uFillTx/>
                    <a:latin typeface="Meiryo UI"/>
                    <a:ea typeface="Meiryo UI"/>
                    <a:cs typeface="+mn-cs"/>
                  </a:rPr>
                  <a:t>PL</a:t>
                </a:r>
                <a:endParaRPr kumimoji="0" lang="ja-JP" altLang="en-US" sz="1100" b="0" i="0" u="none" strike="noStrike" kern="1200" cap="none" spc="0" normalizeH="0" baseline="0" noProof="0" dirty="0">
                  <a:ln>
                    <a:noFill/>
                  </a:ln>
                  <a:solidFill>
                    <a:srgbClr val="008000"/>
                  </a:solidFill>
                  <a:effectLst/>
                  <a:uLnTx/>
                  <a:uFillTx/>
                  <a:latin typeface="Meiryo UI"/>
                  <a:ea typeface="Meiryo UI"/>
                  <a:cs typeface="+mn-cs"/>
                </a:endParaRPr>
              </a:p>
            </p:txBody>
          </p:sp>
          <p:cxnSp>
            <p:nvCxnSpPr>
              <p:cNvPr id="161" name="直線コネクタ 160">
                <a:extLst>
                  <a:ext uri="{FF2B5EF4-FFF2-40B4-BE49-F238E27FC236}">
                    <a16:creationId xmlns:a16="http://schemas.microsoft.com/office/drawing/2014/main" id="{AABD04BD-366B-8C3F-A857-7E32DBF5CB6F}"/>
                  </a:ext>
                </a:extLst>
              </p:cNvPr>
              <p:cNvCxnSpPr>
                <a:cxnSpLocks/>
              </p:cNvCxnSpPr>
              <p:nvPr/>
            </p:nvCxnSpPr>
            <p:spPr>
              <a:xfrm>
                <a:off x="874961" y="4841199"/>
                <a:ext cx="0" cy="422291"/>
              </a:xfrm>
              <a:prstGeom prst="line">
                <a:avLst/>
              </a:prstGeom>
              <a:ln w="38100">
                <a:solidFill>
                  <a:srgbClr val="008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69" name="正方形/長方形 168">
              <a:extLst>
                <a:ext uri="{FF2B5EF4-FFF2-40B4-BE49-F238E27FC236}">
                  <a16:creationId xmlns:a16="http://schemas.microsoft.com/office/drawing/2014/main" id="{138A2BCA-968F-1717-F050-1ECF1B8B0044}"/>
                </a:ext>
              </a:extLst>
            </p:cNvPr>
            <p:cNvSpPr/>
            <p:nvPr/>
          </p:nvSpPr>
          <p:spPr>
            <a:xfrm>
              <a:off x="939734" y="4836103"/>
              <a:ext cx="828000" cy="430435"/>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二宮</a:t>
              </a:r>
              <a:endPar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千葉</a:t>
              </a:r>
              <a:r>
                <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a:t>
              </a:r>
              <a:endPar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152" name="正方形/長方形 151">
              <a:extLst>
                <a:ext uri="{FF2B5EF4-FFF2-40B4-BE49-F238E27FC236}">
                  <a16:creationId xmlns:a16="http://schemas.microsoft.com/office/drawing/2014/main" id="{88B6FB1C-FB38-B8D9-37B9-8C767E9E96E9}"/>
                </a:ext>
              </a:extLst>
            </p:cNvPr>
            <p:cNvSpPr/>
            <p:nvPr/>
          </p:nvSpPr>
          <p:spPr>
            <a:xfrm>
              <a:off x="1791978" y="3758568"/>
              <a:ext cx="828000" cy="43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国内対応</a:t>
              </a:r>
            </a:p>
          </p:txBody>
        </p:sp>
        <p:sp>
          <p:nvSpPr>
            <p:cNvPr id="170" name="正方形/長方形 169">
              <a:extLst>
                <a:ext uri="{FF2B5EF4-FFF2-40B4-BE49-F238E27FC236}">
                  <a16:creationId xmlns:a16="http://schemas.microsoft.com/office/drawing/2014/main" id="{95B34ACB-924B-193E-DCEF-216E794A9A55}"/>
                </a:ext>
              </a:extLst>
            </p:cNvPr>
            <p:cNvSpPr/>
            <p:nvPr/>
          </p:nvSpPr>
          <p:spPr>
            <a:xfrm>
              <a:off x="1797928" y="4836103"/>
              <a:ext cx="828000" cy="430435"/>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横山</a:t>
              </a:r>
              <a:endPar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押塚</a:t>
              </a:r>
              <a:r>
                <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a:t>
              </a:r>
              <a:endPar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153" name="正方形/長方形 152">
              <a:extLst>
                <a:ext uri="{FF2B5EF4-FFF2-40B4-BE49-F238E27FC236}">
                  <a16:creationId xmlns:a16="http://schemas.microsoft.com/office/drawing/2014/main" id="{24513E36-4837-F080-39AA-8C44610FD62F}"/>
                </a:ext>
              </a:extLst>
            </p:cNvPr>
            <p:cNvSpPr/>
            <p:nvPr/>
          </p:nvSpPr>
          <p:spPr>
            <a:xfrm>
              <a:off x="2650172" y="3758568"/>
              <a:ext cx="828000" cy="43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海外対応</a:t>
              </a:r>
            </a:p>
          </p:txBody>
        </p:sp>
        <p:sp>
          <p:nvSpPr>
            <p:cNvPr id="171" name="正方形/長方形 170">
              <a:extLst>
                <a:ext uri="{FF2B5EF4-FFF2-40B4-BE49-F238E27FC236}">
                  <a16:creationId xmlns:a16="http://schemas.microsoft.com/office/drawing/2014/main" id="{05B91140-39EA-64D5-FEBA-05DE505E7A99}"/>
                </a:ext>
              </a:extLst>
            </p:cNvPr>
            <p:cNvSpPr/>
            <p:nvPr/>
          </p:nvSpPr>
          <p:spPr>
            <a:xfrm>
              <a:off x="2656122" y="4836103"/>
              <a:ext cx="828000" cy="430435"/>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西ヶ谷</a:t>
              </a:r>
              <a:endPar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神宮</a:t>
              </a:r>
              <a:r>
                <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a:t>
              </a:r>
              <a:endPar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154" name="正方形/長方形 153">
              <a:extLst>
                <a:ext uri="{FF2B5EF4-FFF2-40B4-BE49-F238E27FC236}">
                  <a16:creationId xmlns:a16="http://schemas.microsoft.com/office/drawing/2014/main" id="{131AC263-0B89-F7F0-30A7-F0388E1C6434}"/>
                </a:ext>
              </a:extLst>
            </p:cNvPr>
            <p:cNvSpPr/>
            <p:nvPr/>
          </p:nvSpPr>
          <p:spPr>
            <a:xfrm>
              <a:off x="3508366" y="3758568"/>
              <a:ext cx="828000" cy="43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経理</a:t>
              </a:r>
            </a:p>
          </p:txBody>
        </p:sp>
        <p:sp>
          <p:nvSpPr>
            <p:cNvPr id="172" name="正方形/長方形 171">
              <a:extLst>
                <a:ext uri="{FF2B5EF4-FFF2-40B4-BE49-F238E27FC236}">
                  <a16:creationId xmlns:a16="http://schemas.microsoft.com/office/drawing/2014/main" id="{FFF4D562-3551-6984-2519-28EDD434AB64}"/>
                </a:ext>
              </a:extLst>
            </p:cNvPr>
            <p:cNvSpPr/>
            <p:nvPr/>
          </p:nvSpPr>
          <p:spPr>
            <a:xfrm>
              <a:off x="3514316" y="4836103"/>
              <a:ext cx="828000" cy="430435"/>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西沼</a:t>
              </a:r>
              <a:endPar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竹生</a:t>
              </a:r>
              <a:r>
                <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a:t>
              </a:r>
              <a:endPar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155" name="正方形/長方形 154">
              <a:extLst>
                <a:ext uri="{FF2B5EF4-FFF2-40B4-BE49-F238E27FC236}">
                  <a16:creationId xmlns:a16="http://schemas.microsoft.com/office/drawing/2014/main" id="{1D71DB2F-F726-D076-6525-A46B92763A7F}"/>
                </a:ext>
              </a:extLst>
            </p:cNvPr>
            <p:cNvSpPr/>
            <p:nvPr/>
          </p:nvSpPr>
          <p:spPr>
            <a:xfrm>
              <a:off x="4366560" y="3758568"/>
              <a:ext cx="828000" cy="43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システム対応</a:t>
              </a:r>
            </a:p>
          </p:txBody>
        </p:sp>
        <p:sp>
          <p:nvSpPr>
            <p:cNvPr id="173" name="正方形/長方形 172">
              <a:extLst>
                <a:ext uri="{FF2B5EF4-FFF2-40B4-BE49-F238E27FC236}">
                  <a16:creationId xmlns:a16="http://schemas.microsoft.com/office/drawing/2014/main" id="{80E2F5A4-FDD4-50C5-9A71-62DF85251404}"/>
                </a:ext>
              </a:extLst>
            </p:cNvPr>
            <p:cNvSpPr/>
            <p:nvPr/>
          </p:nvSpPr>
          <p:spPr>
            <a:xfrm>
              <a:off x="4372509" y="4836103"/>
              <a:ext cx="828000" cy="430435"/>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岡田</a:t>
              </a:r>
              <a:endPar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a:t>
              </a:r>
              <a:r>
                <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木下</a:t>
              </a:r>
              <a:r>
                <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a:t>
              </a:r>
              <a:endPar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sp>
          <p:nvSpPr>
            <p:cNvPr id="156" name="正方形/長方形 155">
              <a:extLst>
                <a:ext uri="{FF2B5EF4-FFF2-40B4-BE49-F238E27FC236}">
                  <a16:creationId xmlns:a16="http://schemas.microsoft.com/office/drawing/2014/main" id="{CA7B1D66-1B88-1162-9CCE-D8A90AB3B68A}"/>
                </a:ext>
              </a:extLst>
            </p:cNvPr>
            <p:cNvSpPr/>
            <p:nvPr/>
          </p:nvSpPr>
          <p:spPr>
            <a:xfrm>
              <a:off x="5224753" y="3758568"/>
              <a:ext cx="828000" cy="432000"/>
            </a:xfrm>
            <a:prstGeom prst="rect">
              <a:avLst/>
            </a:prstGeom>
            <a:no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a:ln>
                    <a:noFill/>
                  </a:ln>
                  <a:solidFill>
                    <a:srgbClr val="008000"/>
                  </a:solidFill>
                  <a:effectLst/>
                  <a:uLnTx/>
                  <a:uFillTx/>
                  <a:latin typeface="Meiryo UI" panose="020B0604030504040204" pitchFamily="50" charset="-128"/>
                  <a:ea typeface="Meiryo UI" panose="020B0604030504040204" pitchFamily="50" charset="-128"/>
                  <a:cs typeface="+mn-cs"/>
                </a:rPr>
                <a:t>外部ベンダー</a:t>
              </a:r>
            </a:p>
          </p:txBody>
        </p:sp>
        <p:sp>
          <p:nvSpPr>
            <p:cNvPr id="174" name="正方形/長方形 173">
              <a:extLst>
                <a:ext uri="{FF2B5EF4-FFF2-40B4-BE49-F238E27FC236}">
                  <a16:creationId xmlns:a16="http://schemas.microsoft.com/office/drawing/2014/main" id="{A2D0C40F-8106-6902-34D0-DC6CBDCA33F8}"/>
                </a:ext>
              </a:extLst>
            </p:cNvPr>
            <p:cNvSpPr/>
            <p:nvPr/>
          </p:nvSpPr>
          <p:spPr>
            <a:xfrm>
              <a:off x="5230703" y="4836103"/>
              <a:ext cx="828000" cy="430435"/>
            </a:xfrm>
            <a:prstGeom prst="rect">
              <a:avLst/>
            </a:prstGeom>
            <a:solidFill>
              <a:srgbClr val="008000">
                <a:alpha val="3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8000" tIns="36000" rIns="18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選定前のため</a:t>
              </a:r>
              <a:endPar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ja-JP"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rPr>
                <a:t>TBA</a:t>
              </a:r>
              <a:endParaRPr kumimoji="0" lang="ja-JP" altLang="en-US" sz="1050" b="0" i="0" u="none" strike="noStrike" kern="0" cap="none" spc="0" normalizeH="0" baseline="0" noProof="0" dirty="0">
                <a:ln>
                  <a:noFill/>
                </a:ln>
                <a:solidFill>
                  <a:srgbClr val="000000"/>
                </a:solidFill>
                <a:effectLst/>
                <a:uLnTx/>
                <a:uFillTx/>
                <a:latin typeface="Meiryo UI" panose="020B0604030504040204" pitchFamily="50" charset="-128"/>
                <a:ea typeface="Meiryo UI" panose="020B0604030504040204" pitchFamily="50" charset="-128"/>
                <a:cs typeface="+mn-cs"/>
              </a:endParaRPr>
            </a:p>
          </p:txBody>
        </p:sp>
        <p:grpSp>
          <p:nvGrpSpPr>
            <p:cNvPr id="317" name="グループ化 316">
              <a:extLst>
                <a:ext uri="{FF2B5EF4-FFF2-40B4-BE49-F238E27FC236}">
                  <a16:creationId xmlns:a16="http://schemas.microsoft.com/office/drawing/2014/main" id="{E80F0DA9-CE70-0054-6B2A-7F58303FE640}"/>
                </a:ext>
              </a:extLst>
            </p:cNvPr>
            <p:cNvGrpSpPr/>
            <p:nvPr/>
          </p:nvGrpSpPr>
          <p:grpSpPr>
            <a:xfrm>
              <a:off x="334963" y="2066000"/>
              <a:ext cx="1368000" cy="760562"/>
              <a:chOff x="334963" y="2066000"/>
              <a:chExt cx="1368000" cy="760562"/>
            </a:xfrm>
          </p:grpSpPr>
          <p:sp>
            <p:nvSpPr>
              <p:cNvPr id="200" name="正方形/長方形 199">
                <a:extLst>
                  <a:ext uri="{FF2B5EF4-FFF2-40B4-BE49-F238E27FC236}">
                    <a16:creationId xmlns:a16="http://schemas.microsoft.com/office/drawing/2014/main" id="{FFD0CD45-ACCA-FA14-4C51-7D2F9E78ED64}"/>
                  </a:ext>
                </a:extLst>
              </p:cNvPr>
              <p:cNvSpPr/>
              <p:nvPr/>
            </p:nvSpPr>
            <p:spPr>
              <a:xfrm>
                <a:off x="334963" y="2066000"/>
                <a:ext cx="1368000" cy="374256"/>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サス協議会</a:t>
                </a:r>
                <a:endParaRPr kumimoji="0" lang="en-US" altLang="ja-JP"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（半期</a:t>
                </a:r>
                <a:r>
                  <a:rPr kumimoji="0" lang="en-US" altLang="ja-JP"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1</a:t>
                </a:r>
                <a:r>
                  <a:rPr kumimoji="0" lang="ja-JP" altLang="en-US"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回）</a:t>
                </a:r>
              </a:p>
            </p:txBody>
          </p:sp>
          <p:sp>
            <p:nvSpPr>
              <p:cNvPr id="208" name="正方形/長方形 207">
                <a:extLst>
                  <a:ext uri="{FF2B5EF4-FFF2-40B4-BE49-F238E27FC236}">
                    <a16:creationId xmlns:a16="http://schemas.microsoft.com/office/drawing/2014/main" id="{E4C1D335-11D0-A953-078D-D63DBBE49F0F}"/>
                  </a:ext>
                </a:extLst>
              </p:cNvPr>
              <p:cNvSpPr/>
              <p:nvPr/>
            </p:nvSpPr>
            <p:spPr>
              <a:xfrm>
                <a:off x="334963" y="2377568"/>
                <a:ext cx="1368000" cy="448994"/>
              </a:xfrm>
              <a:prstGeom prst="rect">
                <a:avLst/>
              </a:prstGeom>
              <a:solidFill>
                <a:schemeClr val="bg1"/>
              </a:solidFill>
              <a:ln w="9525" cap="flat" cmpd="sng" algn="ctr">
                <a:solidFill>
                  <a:srgbClr val="008000"/>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dirty="0">
                    <a:ln>
                      <a:noFill/>
                    </a:ln>
                    <a:effectLst/>
                    <a:uLnTx/>
                    <a:uFillTx/>
                    <a:latin typeface="Meiryo UI" panose="020B0604030504040204" pitchFamily="50" charset="-128"/>
                    <a:ea typeface="Meiryo UI" panose="020B0604030504040204" pitchFamily="50" charset="-128"/>
                    <a:cs typeface="+mn-cs"/>
                  </a:rPr>
                  <a:t>協議会メンバー</a:t>
                </a:r>
                <a:endParaRPr kumimoji="0" lang="en-US" altLang="ja-JP" sz="1050" b="0" i="0" u="none" strike="noStrike" kern="0" cap="none" spc="0" normalizeH="0" baseline="0" noProof="0" dirty="0">
                  <a:ln>
                    <a:noFill/>
                  </a:ln>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dirty="0">
                    <a:ln>
                      <a:noFill/>
                    </a:ln>
                    <a:effectLst/>
                    <a:uLnTx/>
                    <a:uFillTx/>
                    <a:latin typeface="Meiryo UI" panose="020B0604030504040204" pitchFamily="50" charset="-128"/>
                    <a:ea typeface="Meiryo UI" panose="020B0604030504040204" pitchFamily="50" charset="-128"/>
                    <a:cs typeface="+mn-cs"/>
                  </a:rPr>
                  <a:t>＋中林執行役員</a:t>
                </a:r>
                <a:endParaRPr kumimoji="0" lang="en-US" altLang="ja-JP" sz="1050" b="0" i="0" u="none" strike="noStrike" kern="0" cap="none" spc="0" normalizeH="0" baseline="0" noProof="0" dirty="0">
                  <a:ln>
                    <a:noFill/>
                  </a:ln>
                  <a:effectLst/>
                  <a:uLnTx/>
                  <a:uFillTx/>
                  <a:latin typeface="Meiryo UI" panose="020B0604030504040204" pitchFamily="50" charset="-128"/>
                  <a:ea typeface="Meiryo UI" panose="020B0604030504040204" pitchFamily="50" charset="-128"/>
                  <a:cs typeface="+mn-cs"/>
                </a:endParaRPr>
              </a:p>
            </p:txBody>
          </p:sp>
        </p:grpSp>
        <p:grpSp>
          <p:nvGrpSpPr>
            <p:cNvPr id="20" name="グループ化 19">
              <a:extLst>
                <a:ext uri="{FF2B5EF4-FFF2-40B4-BE49-F238E27FC236}">
                  <a16:creationId xmlns:a16="http://schemas.microsoft.com/office/drawing/2014/main" id="{C9876634-41A0-3777-FE10-AF7190CC8D69}"/>
                </a:ext>
              </a:extLst>
            </p:cNvPr>
            <p:cNvGrpSpPr/>
            <p:nvPr/>
          </p:nvGrpSpPr>
          <p:grpSpPr>
            <a:xfrm>
              <a:off x="334962" y="1628773"/>
              <a:ext cx="5723740" cy="396000"/>
              <a:chOff x="334962" y="1628773"/>
              <a:chExt cx="5723740" cy="396000"/>
            </a:xfrm>
          </p:grpSpPr>
          <p:sp>
            <p:nvSpPr>
              <p:cNvPr id="7" name="正方形/長方形 6">
                <a:extLst>
                  <a:ext uri="{FF2B5EF4-FFF2-40B4-BE49-F238E27FC236}">
                    <a16:creationId xmlns:a16="http://schemas.microsoft.com/office/drawing/2014/main" id="{A8317C3F-8DFC-1A6D-9AAE-2D0C411B128A}"/>
                  </a:ext>
                </a:extLst>
              </p:cNvPr>
              <p:cNvSpPr/>
              <p:nvPr/>
            </p:nvSpPr>
            <p:spPr>
              <a:xfrm>
                <a:off x="334962" y="1628773"/>
                <a:ext cx="5723740" cy="396000"/>
              </a:xfrm>
              <a:prstGeom prst="rect">
                <a:avLst/>
              </a:prstGeom>
              <a:solidFill>
                <a:srgbClr val="008000"/>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468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solidFill>
                      <a:prstClr val="white"/>
                    </a:solidFill>
                    <a:effectLst/>
                    <a:uLnTx/>
                    <a:uFillTx/>
                    <a:latin typeface="Meiryo UI"/>
                    <a:ea typeface="Meiryo UI"/>
                    <a:cs typeface="+mn-cs"/>
                  </a:rPr>
                  <a:t>プロジェクト体制</a:t>
                </a:r>
              </a:p>
            </p:txBody>
          </p:sp>
          <p:pic>
            <p:nvPicPr>
              <p:cNvPr id="210" name="グラフィックス 209" descr="フローチャート 単色塗りつぶし">
                <a:extLst>
                  <a:ext uri="{FF2B5EF4-FFF2-40B4-BE49-F238E27FC236}">
                    <a16:creationId xmlns:a16="http://schemas.microsoft.com/office/drawing/2014/main" id="{C85088D3-0CF9-EB35-D030-3AAB1710228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408715" y="1634342"/>
                <a:ext cx="360000" cy="360000"/>
              </a:xfrm>
              <a:prstGeom prst="rect">
                <a:avLst/>
              </a:prstGeom>
            </p:spPr>
          </p:pic>
        </p:grpSp>
        <p:cxnSp>
          <p:nvCxnSpPr>
            <p:cNvPr id="225" name="直線コネクタ 224">
              <a:extLst>
                <a:ext uri="{FF2B5EF4-FFF2-40B4-BE49-F238E27FC236}">
                  <a16:creationId xmlns:a16="http://schemas.microsoft.com/office/drawing/2014/main" id="{5F99990F-ECF0-458E-4789-8F6A4F7BFFFE}"/>
                </a:ext>
              </a:extLst>
            </p:cNvPr>
            <p:cNvCxnSpPr>
              <a:cxnSpLocks/>
              <a:stCxn id="146" idx="2"/>
              <a:endCxn id="149" idx="0"/>
            </p:cNvCxnSpPr>
            <p:nvPr/>
          </p:nvCxnSpPr>
          <p:spPr>
            <a:xfrm>
              <a:off x="5338703" y="2761051"/>
              <a:ext cx="0" cy="96050"/>
            </a:xfrm>
            <a:prstGeom prst="line">
              <a:avLst/>
            </a:prstGeom>
            <a:ln w="9525">
              <a:solidFill>
                <a:srgbClr val="0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9" name="コネクタ: カギ線 318">
              <a:extLst>
                <a:ext uri="{FF2B5EF4-FFF2-40B4-BE49-F238E27FC236}">
                  <a16:creationId xmlns:a16="http://schemas.microsoft.com/office/drawing/2014/main" id="{8C7BBC9F-C43E-D4DA-EE21-06562D1FF981}"/>
                </a:ext>
              </a:extLst>
            </p:cNvPr>
            <p:cNvCxnSpPr>
              <a:cxnSpLocks/>
              <a:stCxn id="151" idx="0"/>
              <a:endCxn id="155" idx="0"/>
            </p:cNvCxnSpPr>
            <p:nvPr/>
          </p:nvCxnSpPr>
          <p:spPr>
            <a:xfrm rot="5400000" flipH="1" flipV="1">
              <a:off x="3065298" y="2042180"/>
              <a:ext cx="10448" cy="3432776"/>
            </a:xfrm>
            <a:prstGeom prst="bentConnector3">
              <a:avLst>
                <a:gd name="adj1" fmla="val 180000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1" name="コネクタ: カギ線 320">
              <a:extLst>
                <a:ext uri="{FF2B5EF4-FFF2-40B4-BE49-F238E27FC236}">
                  <a16:creationId xmlns:a16="http://schemas.microsoft.com/office/drawing/2014/main" id="{B4E357D0-3690-1114-BA11-A2CDCB1117A0}"/>
                </a:ext>
              </a:extLst>
            </p:cNvPr>
            <p:cNvCxnSpPr>
              <a:cxnSpLocks/>
              <a:stCxn id="152" idx="0"/>
              <a:endCxn id="154" idx="0"/>
            </p:cNvCxnSpPr>
            <p:nvPr/>
          </p:nvCxnSpPr>
          <p:spPr>
            <a:xfrm rot="5400000" flipH="1" flipV="1">
              <a:off x="3064172" y="2900374"/>
              <a:ext cx="12700" cy="1716388"/>
            </a:xfrm>
            <a:prstGeom prst="bentConnector3">
              <a:avLst>
                <a:gd name="adj1" fmla="val 1429810"/>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直線コネクタ 326">
              <a:extLst>
                <a:ext uri="{FF2B5EF4-FFF2-40B4-BE49-F238E27FC236}">
                  <a16:creationId xmlns:a16="http://schemas.microsoft.com/office/drawing/2014/main" id="{BD282B91-D768-9EDE-12F4-EFB0201DB4CB}"/>
                </a:ext>
              </a:extLst>
            </p:cNvPr>
            <p:cNvCxnSpPr>
              <a:cxnSpLocks/>
            </p:cNvCxnSpPr>
            <p:nvPr/>
          </p:nvCxnSpPr>
          <p:spPr>
            <a:xfrm flipH="1">
              <a:off x="3064172" y="3363813"/>
              <a:ext cx="1554531"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35" name="正方形/長方形 234">
            <a:extLst>
              <a:ext uri="{FF2B5EF4-FFF2-40B4-BE49-F238E27FC236}">
                <a16:creationId xmlns:a16="http://schemas.microsoft.com/office/drawing/2014/main" id="{26FFC353-76E9-AAF4-AD8D-37D4E8098026}"/>
              </a:ext>
            </a:extLst>
          </p:cNvPr>
          <p:cNvSpPr/>
          <p:nvPr/>
        </p:nvSpPr>
        <p:spPr>
          <a:xfrm>
            <a:off x="334963" y="3223567"/>
            <a:ext cx="1368000" cy="374256"/>
          </a:xfrm>
          <a:prstGeom prst="rect">
            <a:avLst/>
          </a:prstGeom>
          <a:solidFill>
            <a:srgbClr val="008000"/>
          </a:solidFill>
          <a:ln w="9525">
            <a:solidFill>
              <a:srgbClr val="008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進捗報告会</a:t>
            </a:r>
            <a:endParaRPr kumimoji="0" lang="en-US" altLang="ja-JP"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（月</a:t>
            </a:r>
            <a:r>
              <a:rPr kumimoji="0" lang="en-US" altLang="ja-JP"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1</a:t>
            </a:r>
            <a:r>
              <a:rPr kumimoji="0" lang="ja-JP" altLang="en-US" sz="1100" b="1" i="0" u="none" strike="noStrike" kern="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回）</a:t>
            </a:r>
          </a:p>
        </p:txBody>
      </p:sp>
      <p:sp>
        <p:nvSpPr>
          <p:cNvPr id="236" name="正方形/長方形 235">
            <a:extLst>
              <a:ext uri="{FF2B5EF4-FFF2-40B4-BE49-F238E27FC236}">
                <a16:creationId xmlns:a16="http://schemas.microsoft.com/office/drawing/2014/main" id="{A13C8E44-3FEB-F8B6-04F3-ED69115D4887}"/>
              </a:ext>
            </a:extLst>
          </p:cNvPr>
          <p:cNvSpPr/>
          <p:nvPr/>
        </p:nvSpPr>
        <p:spPr>
          <a:xfrm>
            <a:off x="351001" y="3582179"/>
            <a:ext cx="1368000" cy="374256"/>
          </a:xfrm>
          <a:prstGeom prst="rect">
            <a:avLst/>
          </a:prstGeom>
          <a:solidFill>
            <a:schemeClr val="bg1"/>
          </a:solidFill>
          <a:ln w="9525" cap="flat" cmpd="sng" algn="ctr">
            <a:solidFill>
              <a:srgbClr val="008000"/>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dirty="0">
                <a:ln>
                  <a:noFill/>
                </a:ln>
                <a:effectLst/>
                <a:uLnTx/>
                <a:uFillTx/>
                <a:latin typeface="Meiryo UI" panose="020B0604030504040204" pitchFamily="50" charset="-128"/>
                <a:ea typeface="Meiryo UI" panose="020B0604030504040204" pitchFamily="50" charset="-128"/>
                <a:cs typeface="+mn-cs"/>
              </a:rPr>
              <a:t>新井執行役員</a:t>
            </a:r>
            <a:endParaRPr kumimoji="0" lang="en-US" altLang="ja-JP" sz="1050" b="0" i="0" u="none" strike="noStrike" kern="0" cap="none" spc="0" normalizeH="0" baseline="0" noProof="0" dirty="0">
              <a:ln>
                <a:noFill/>
              </a:ln>
              <a:effectLst/>
              <a:uLnTx/>
              <a:uFillTx/>
              <a:latin typeface="Meiryo UI" panose="020B0604030504040204" pitchFamily="50" charset="-128"/>
              <a:ea typeface="Meiryo UI" panose="020B0604030504040204"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dirty="0">
                <a:ln>
                  <a:noFill/>
                </a:ln>
                <a:effectLst/>
                <a:uLnTx/>
                <a:uFillTx/>
                <a:latin typeface="Meiryo UI" panose="020B0604030504040204" pitchFamily="50" charset="-128"/>
                <a:ea typeface="Meiryo UI" panose="020B0604030504040204" pitchFamily="50" charset="-128"/>
                <a:cs typeface="+mn-cs"/>
              </a:rPr>
              <a:t>中林執行役員</a:t>
            </a:r>
            <a:endParaRPr kumimoji="0" lang="en-US" altLang="ja-JP" sz="1050" b="0" i="0" u="none" strike="noStrike" kern="0" cap="none" spc="0" normalizeH="0" baseline="0" noProof="0" dirty="0">
              <a:ln>
                <a:noFill/>
              </a:ln>
              <a:effectLst/>
              <a:uLnTx/>
              <a:uFillTx/>
              <a:latin typeface="Meiryo UI" panose="020B0604030504040204" pitchFamily="50" charset="-128"/>
              <a:ea typeface="Meiryo UI" panose="020B0604030504040204" pitchFamily="50" charset="-128"/>
              <a:cs typeface="+mn-cs"/>
            </a:endParaRPr>
          </a:p>
        </p:txBody>
      </p:sp>
      <p:sp>
        <p:nvSpPr>
          <p:cNvPr id="4" name="テキスト ボックス 3">
            <a:extLst>
              <a:ext uri="{FF2B5EF4-FFF2-40B4-BE49-F238E27FC236}">
                <a16:creationId xmlns:a16="http://schemas.microsoft.com/office/drawing/2014/main" id="{5CE64360-D43F-89E9-C2A6-E24B5595A0A1}"/>
              </a:ext>
            </a:extLst>
          </p:cNvPr>
          <p:cNvSpPr txBox="1"/>
          <p:nvPr/>
        </p:nvSpPr>
        <p:spPr>
          <a:xfrm>
            <a:off x="838252" y="5023845"/>
            <a:ext cx="902811" cy="523220"/>
          </a:xfrm>
          <a:prstGeom prst="rect">
            <a:avLst/>
          </a:prstGeom>
          <a:noFill/>
        </p:spPr>
        <p:txBody>
          <a:bodyPr wrap="none" rtlCol="0">
            <a:spAutoFit/>
          </a:bodyPr>
          <a:lstStyle/>
          <a:p>
            <a:pPr algn="ctr"/>
            <a:r>
              <a:rPr kumimoji="1" lang="ja-JP" altLang="en-US" sz="1400" dirty="0"/>
              <a:t>新井</a:t>
            </a:r>
            <a:endParaRPr kumimoji="1" lang="en-US" altLang="ja-JP" sz="1400" dirty="0"/>
          </a:p>
          <a:p>
            <a:pPr algn="ctr"/>
            <a:r>
              <a:rPr lang="ja-JP" altLang="en-US" sz="1400" dirty="0"/>
              <a:t>執行役員</a:t>
            </a:r>
            <a:endParaRPr kumimoji="1" lang="ja-JP" altLang="en-US" sz="1400" dirty="0"/>
          </a:p>
        </p:txBody>
      </p:sp>
      <p:sp>
        <p:nvSpPr>
          <p:cNvPr id="5" name="テキスト ボックス 4">
            <a:extLst>
              <a:ext uri="{FF2B5EF4-FFF2-40B4-BE49-F238E27FC236}">
                <a16:creationId xmlns:a16="http://schemas.microsoft.com/office/drawing/2014/main" id="{8949CEF4-A2B2-E975-260A-BCA7764C0694}"/>
              </a:ext>
            </a:extLst>
          </p:cNvPr>
          <p:cNvSpPr txBox="1"/>
          <p:nvPr/>
        </p:nvSpPr>
        <p:spPr>
          <a:xfrm>
            <a:off x="1725150" y="5023845"/>
            <a:ext cx="902811" cy="523220"/>
          </a:xfrm>
          <a:prstGeom prst="rect">
            <a:avLst/>
          </a:prstGeom>
          <a:noFill/>
        </p:spPr>
        <p:txBody>
          <a:bodyPr wrap="none" rtlCol="0">
            <a:spAutoFit/>
          </a:bodyPr>
          <a:lstStyle/>
          <a:p>
            <a:pPr algn="ctr"/>
            <a:r>
              <a:rPr kumimoji="1" lang="ja-JP" altLang="en-US" sz="1400"/>
              <a:t>浦尾</a:t>
            </a:r>
            <a:endParaRPr kumimoji="1" lang="en-US" altLang="ja-JP" sz="1400"/>
          </a:p>
          <a:p>
            <a:pPr algn="ctr"/>
            <a:r>
              <a:rPr lang="ja-JP" altLang="en-US" sz="1400"/>
              <a:t>執行役員</a:t>
            </a:r>
            <a:endParaRPr kumimoji="1" lang="ja-JP" altLang="en-US" sz="1400"/>
          </a:p>
        </p:txBody>
      </p:sp>
      <p:sp>
        <p:nvSpPr>
          <p:cNvPr id="19" name="テキスト ボックス 18">
            <a:extLst>
              <a:ext uri="{FF2B5EF4-FFF2-40B4-BE49-F238E27FC236}">
                <a16:creationId xmlns:a16="http://schemas.microsoft.com/office/drawing/2014/main" id="{8DB63052-B200-D24B-5DA0-377D0CA3C24A}"/>
              </a:ext>
            </a:extLst>
          </p:cNvPr>
          <p:cNvSpPr txBox="1"/>
          <p:nvPr/>
        </p:nvSpPr>
        <p:spPr>
          <a:xfrm>
            <a:off x="2577996" y="5023845"/>
            <a:ext cx="902811" cy="523220"/>
          </a:xfrm>
          <a:prstGeom prst="rect">
            <a:avLst/>
          </a:prstGeom>
          <a:noFill/>
        </p:spPr>
        <p:txBody>
          <a:bodyPr wrap="none" rtlCol="0">
            <a:spAutoFit/>
          </a:bodyPr>
          <a:lstStyle/>
          <a:p>
            <a:pPr algn="ctr"/>
            <a:r>
              <a:rPr kumimoji="1" lang="ja-JP" altLang="en-US" sz="1400"/>
              <a:t>一谷</a:t>
            </a:r>
            <a:endParaRPr kumimoji="1" lang="en-US" altLang="ja-JP" sz="1400"/>
          </a:p>
          <a:p>
            <a:pPr algn="ctr"/>
            <a:r>
              <a:rPr lang="ja-JP" altLang="en-US" sz="1400"/>
              <a:t>執行役員</a:t>
            </a:r>
            <a:endParaRPr kumimoji="1" lang="ja-JP" altLang="en-US" sz="1400"/>
          </a:p>
        </p:txBody>
      </p:sp>
      <p:sp>
        <p:nvSpPr>
          <p:cNvPr id="23" name="テキスト ボックス 22">
            <a:extLst>
              <a:ext uri="{FF2B5EF4-FFF2-40B4-BE49-F238E27FC236}">
                <a16:creationId xmlns:a16="http://schemas.microsoft.com/office/drawing/2014/main" id="{3F21737A-D400-6848-A524-DABDAC5225B3}"/>
              </a:ext>
            </a:extLst>
          </p:cNvPr>
          <p:cNvSpPr txBox="1"/>
          <p:nvPr/>
        </p:nvSpPr>
        <p:spPr>
          <a:xfrm>
            <a:off x="3384765" y="5023845"/>
            <a:ext cx="1107996" cy="523220"/>
          </a:xfrm>
          <a:prstGeom prst="rect">
            <a:avLst/>
          </a:prstGeom>
          <a:noFill/>
        </p:spPr>
        <p:txBody>
          <a:bodyPr wrap="square" rtlCol="0">
            <a:spAutoFit/>
          </a:bodyPr>
          <a:lstStyle/>
          <a:p>
            <a:pPr algn="ctr"/>
            <a:r>
              <a:rPr kumimoji="1" lang="ja-JP" altLang="en-US" sz="1400" dirty="0"/>
              <a:t>竹生</a:t>
            </a:r>
            <a:endParaRPr kumimoji="1" lang="en-US" altLang="ja-JP" sz="1400" dirty="0"/>
          </a:p>
          <a:p>
            <a:pPr algn="ctr"/>
            <a:r>
              <a:rPr lang="ja-JP" altLang="en-US" sz="1400" dirty="0"/>
              <a:t>執行役員</a:t>
            </a:r>
            <a:endParaRPr kumimoji="1" lang="ja-JP" altLang="en-US" sz="1400" dirty="0"/>
          </a:p>
        </p:txBody>
      </p:sp>
      <p:sp>
        <p:nvSpPr>
          <p:cNvPr id="25" name="テキスト ボックス 24">
            <a:extLst>
              <a:ext uri="{FF2B5EF4-FFF2-40B4-BE49-F238E27FC236}">
                <a16:creationId xmlns:a16="http://schemas.microsoft.com/office/drawing/2014/main" id="{BE63BB3E-9EDD-6720-9B77-311F06778095}"/>
              </a:ext>
            </a:extLst>
          </p:cNvPr>
          <p:cNvSpPr txBox="1"/>
          <p:nvPr/>
        </p:nvSpPr>
        <p:spPr>
          <a:xfrm>
            <a:off x="4655094" y="5023845"/>
            <a:ext cx="1107996" cy="523220"/>
          </a:xfrm>
          <a:prstGeom prst="rect">
            <a:avLst/>
          </a:prstGeom>
          <a:noFill/>
        </p:spPr>
        <p:txBody>
          <a:bodyPr wrap="square" rtlCol="0">
            <a:spAutoFit/>
          </a:bodyPr>
          <a:lstStyle/>
          <a:p>
            <a:pPr algn="ctr"/>
            <a:r>
              <a:rPr kumimoji="1" lang="ja-JP" altLang="en-US" sz="1400"/>
              <a:t>中林</a:t>
            </a:r>
            <a:endParaRPr kumimoji="1" lang="en-US" altLang="ja-JP" sz="1400"/>
          </a:p>
          <a:p>
            <a:pPr algn="ctr"/>
            <a:r>
              <a:rPr lang="ja-JP" altLang="en-US" sz="1400"/>
              <a:t>執行役員</a:t>
            </a:r>
            <a:endParaRPr kumimoji="1" lang="ja-JP" altLang="en-US" sz="1400"/>
          </a:p>
        </p:txBody>
      </p:sp>
      <p:sp>
        <p:nvSpPr>
          <p:cNvPr id="8" name="タイトル 1">
            <a:extLst>
              <a:ext uri="{FF2B5EF4-FFF2-40B4-BE49-F238E27FC236}">
                <a16:creationId xmlns:a16="http://schemas.microsoft.com/office/drawing/2014/main" id="{EF8A5C1E-E701-5CFA-26AF-5B71F671698A}"/>
              </a:ext>
            </a:extLst>
          </p:cNvPr>
          <p:cNvSpPr txBox="1">
            <a:spLocks/>
          </p:cNvSpPr>
          <p:nvPr/>
        </p:nvSpPr>
        <p:spPr>
          <a:xfrm>
            <a:off x="223045" y="1"/>
            <a:ext cx="11745912" cy="9144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2400" kern="1200" baseline="0">
                <a:solidFill>
                  <a:schemeClr val="tx1"/>
                </a:solidFill>
                <a:latin typeface="Meiryo UI" panose="020B0604030504040204" pitchFamily="50" charset="-128"/>
                <a:ea typeface="Meiryo UI" panose="020B0604030504040204" pitchFamily="50" charset="-128"/>
                <a:cs typeface="+mj-cs"/>
              </a:defRPr>
            </a:lvl1pPr>
          </a:lstStyle>
          <a:p>
            <a:r>
              <a:rPr lang="ja-JP" altLang="en-US" dirty="0"/>
              <a:t>推進体制図</a:t>
            </a:r>
          </a:p>
        </p:txBody>
      </p:sp>
      <p:sp>
        <p:nvSpPr>
          <p:cNvPr id="2" name="正方形/長方形 1">
            <a:extLst>
              <a:ext uri="{FF2B5EF4-FFF2-40B4-BE49-F238E27FC236}">
                <a16:creationId xmlns:a16="http://schemas.microsoft.com/office/drawing/2014/main" id="{D63B3377-8639-7F8B-E770-11ACB0573207}"/>
              </a:ext>
            </a:extLst>
          </p:cNvPr>
          <p:cNvSpPr/>
          <p:nvPr/>
        </p:nvSpPr>
        <p:spPr>
          <a:xfrm>
            <a:off x="9133811" y="68094"/>
            <a:ext cx="2721460" cy="758486"/>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1400" dirty="0">
                <a:solidFill>
                  <a:schemeClr val="tx1"/>
                </a:solidFill>
                <a:latin typeface="Meiryo UI" panose="020B0604030504040204" pitchFamily="50" charset="-128"/>
                <a:ea typeface="Meiryo UI" panose="020B0604030504040204" pitchFamily="50" charset="-128"/>
              </a:rPr>
              <a:t>実態に合わせ作成する</a:t>
            </a:r>
            <a:endParaRPr lang="en-US" altLang="ja-JP" sz="1400" dirty="0">
              <a:solidFill>
                <a:schemeClr val="tx1"/>
              </a:solidFill>
              <a:latin typeface="Meiryo UI" panose="020B0604030504040204" pitchFamily="50" charset="-128"/>
              <a:ea typeface="Meiryo UI" panose="020B0604030504040204" pitchFamily="50" charset="-128"/>
            </a:endParaRPr>
          </a:p>
          <a:p>
            <a:pPr algn="ctr"/>
            <a:r>
              <a:rPr lang="ja-JP" altLang="en-US" sz="1400" dirty="0">
                <a:solidFill>
                  <a:schemeClr val="tx1"/>
                </a:solidFill>
                <a:latin typeface="Meiryo UI" panose="020B0604030504040204" pitchFamily="50" charset="-128"/>
                <a:ea typeface="Meiryo UI" panose="020B0604030504040204" pitchFamily="50" charset="-128"/>
              </a:rPr>
              <a:t>下記はテンプレ</a:t>
            </a: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1611528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27C613B-89F9-D5E0-1AFF-0BF6349113CE}"/>
              </a:ext>
            </a:extLst>
          </p:cNvPr>
          <p:cNvSpPr>
            <a:spLocks noGrp="1"/>
          </p:cNvSpPr>
          <p:nvPr>
            <p:ph type="title"/>
          </p:nvPr>
        </p:nvSpPr>
        <p:spPr/>
        <p:txBody>
          <a:bodyPr/>
          <a:lstStyle/>
          <a:p>
            <a:r>
              <a:rPr kumimoji="1" lang="ja-JP" altLang="en-US" dirty="0"/>
              <a:t>投資・体制観点の主要論点</a:t>
            </a:r>
          </a:p>
        </p:txBody>
      </p:sp>
      <p:sp>
        <p:nvSpPr>
          <p:cNvPr id="3" name="テキスト プレースホルダー 2">
            <a:extLst>
              <a:ext uri="{FF2B5EF4-FFF2-40B4-BE49-F238E27FC236}">
                <a16:creationId xmlns:a16="http://schemas.microsoft.com/office/drawing/2014/main" id="{106AC829-E0F5-1CBD-21C6-DEA886F1F2E4}"/>
              </a:ext>
            </a:extLst>
          </p:cNvPr>
          <p:cNvSpPr>
            <a:spLocks noGrp="1"/>
          </p:cNvSpPr>
          <p:nvPr>
            <p:ph type="body" sz="quarter" idx="13"/>
          </p:nvPr>
        </p:nvSpPr>
        <p:spPr/>
        <p:txBody>
          <a:bodyPr/>
          <a:lstStyle/>
          <a:p>
            <a:r>
              <a:rPr kumimoji="1" lang="ja-JP" altLang="en-US" sz="1800" dirty="0"/>
              <a:t>優先度は真因・</a:t>
            </a:r>
            <a:r>
              <a:rPr kumimoji="1" lang="en-US" altLang="ja-JP" sz="1800" dirty="0"/>
              <a:t>GAP</a:t>
            </a:r>
            <a:r>
              <a:rPr kumimoji="1" lang="ja-JP" altLang="en-US" sz="1800" dirty="0"/>
              <a:t>への直接性で決定。</a:t>
            </a:r>
            <a:r>
              <a:rPr kumimoji="1" lang="en-US" altLang="ja-JP" sz="1800" dirty="0"/>
              <a:t>5</a:t>
            </a:r>
            <a:r>
              <a:rPr kumimoji="1" lang="ja-JP" altLang="en-US" sz="1800" dirty="0"/>
              <a:t>年累計</a:t>
            </a:r>
            <a:r>
              <a:rPr kumimoji="1" lang="en-US" altLang="ja-JP" sz="1800" dirty="0"/>
              <a:t>30〜50</a:t>
            </a:r>
            <a:r>
              <a:rPr kumimoji="1" lang="ja-JP" altLang="en-US" sz="1800" dirty="0"/>
              <a:t>億円に対し効果は年</a:t>
            </a:r>
            <a:r>
              <a:rPr kumimoji="1" lang="en-US" altLang="ja-JP" sz="1800" dirty="0"/>
              <a:t>45〜95</a:t>
            </a:r>
            <a:r>
              <a:rPr kumimoji="1" lang="ja-JP" altLang="en-US" sz="1800" dirty="0"/>
              <a:t>億円＋売上防衛 </a:t>
            </a:r>
            <a:r>
              <a:rPr kumimoji="1" lang="en-US" altLang="ja-JP" sz="1800" dirty="0"/>
              <a:t>― </a:t>
            </a:r>
            <a:r>
              <a:rPr kumimoji="1" lang="ja-JP" altLang="en-US" sz="1800" dirty="0"/>
              <a:t>前提は</a:t>
            </a:r>
            <a:r>
              <a:rPr kumimoji="1" lang="en-US" altLang="ja-JP" sz="1800" dirty="0"/>
              <a:t>FY26</a:t>
            </a:r>
            <a:r>
              <a:rPr kumimoji="1" lang="ja-JP" altLang="en-US" sz="1800" dirty="0"/>
              <a:t>上期に実測して確定</a:t>
            </a:r>
          </a:p>
        </p:txBody>
      </p:sp>
      <p:sp>
        <p:nvSpPr>
          <p:cNvPr id="5" name="Rectangle 13">
            <a:extLst>
              <a:ext uri="{FF2B5EF4-FFF2-40B4-BE49-F238E27FC236}">
                <a16:creationId xmlns:a16="http://schemas.microsoft.com/office/drawing/2014/main" id="{843EAB70-C91D-008C-10A0-194A66D6E1AE}"/>
              </a:ext>
            </a:extLst>
          </p:cNvPr>
          <p:cNvSpPr/>
          <p:nvPr/>
        </p:nvSpPr>
        <p:spPr>
          <a:xfrm>
            <a:off x="320040" y="1628774"/>
            <a:ext cx="2834640" cy="60036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6" name="TextBox 14">
            <a:extLst>
              <a:ext uri="{FF2B5EF4-FFF2-40B4-BE49-F238E27FC236}">
                <a16:creationId xmlns:a16="http://schemas.microsoft.com/office/drawing/2014/main" id="{373D5477-1F1D-B769-15F8-C0A6BAEB1775}"/>
              </a:ext>
            </a:extLst>
          </p:cNvPr>
          <p:cNvSpPr txBox="1"/>
          <p:nvPr/>
        </p:nvSpPr>
        <p:spPr>
          <a:xfrm>
            <a:off x="411480" y="1672919"/>
            <a:ext cx="2651760" cy="180114"/>
          </a:xfrm>
          <a:prstGeom prst="rect">
            <a:avLst/>
          </a:prstGeom>
          <a:noFill/>
        </p:spPr>
        <p:txBody>
          <a:bodyPr wrap="square" lIns="0" tIns="0" rIns="0" bIns="0">
            <a:spAutoFit/>
          </a:bodyPr>
          <a:lstStyle/>
          <a:p>
            <a:pPr>
              <a:lnSpc>
                <a:spcPct val="108000"/>
              </a:lnSpc>
            </a:pPr>
            <a:r>
              <a:rPr sz="1200" b="1">
                <a:solidFill>
                  <a:srgbClr val="262626"/>
                </a:solidFill>
                <a:latin typeface="Meiryo UI"/>
                <a:ea typeface="Meiryo UI"/>
              </a:rPr>
              <a:t>AIEO・Oral Evidence Hub</a:t>
            </a:r>
          </a:p>
        </p:txBody>
      </p:sp>
      <p:sp>
        <p:nvSpPr>
          <p:cNvPr id="7" name="Rectangle 15">
            <a:extLst>
              <a:ext uri="{FF2B5EF4-FFF2-40B4-BE49-F238E27FC236}">
                <a16:creationId xmlns:a16="http://schemas.microsoft.com/office/drawing/2014/main" id="{07846021-E94D-998D-216D-83113E2ECCFC}"/>
              </a:ext>
            </a:extLst>
          </p:cNvPr>
          <p:cNvSpPr/>
          <p:nvPr/>
        </p:nvSpPr>
        <p:spPr>
          <a:xfrm>
            <a:off x="3172968" y="1628774"/>
            <a:ext cx="7589520" cy="60036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8" name="TextBox 16">
            <a:extLst>
              <a:ext uri="{FF2B5EF4-FFF2-40B4-BE49-F238E27FC236}">
                <a16:creationId xmlns:a16="http://schemas.microsoft.com/office/drawing/2014/main" id="{1CC01C92-EE8A-CF3F-D6D9-CA6E38A1DAF3}"/>
              </a:ext>
            </a:extLst>
          </p:cNvPr>
          <p:cNvSpPr txBox="1"/>
          <p:nvPr/>
        </p:nvSpPr>
        <p:spPr>
          <a:xfrm>
            <a:off x="3291840" y="1672919"/>
            <a:ext cx="7360920" cy="180114"/>
          </a:xfrm>
          <a:prstGeom prst="rect">
            <a:avLst/>
          </a:prstGeom>
          <a:noFill/>
        </p:spPr>
        <p:txBody>
          <a:bodyPr wrap="square" lIns="0" tIns="0" rIns="0" bIns="0">
            <a:spAutoFit/>
          </a:bodyPr>
          <a:lstStyle/>
          <a:p>
            <a:pPr>
              <a:lnSpc>
                <a:spcPct val="108000"/>
              </a:lnSpc>
            </a:pPr>
            <a:r>
              <a:rPr sz="1200" b="0">
                <a:solidFill>
                  <a:srgbClr val="262626"/>
                </a:solidFill>
                <a:latin typeface="Meiryo UI"/>
                <a:ea typeface="Meiryo UI"/>
              </a:rPr>
              <a:t>GAP1解消の中核。構造化データ整備・AI推奨モニタリング。外部委託vs内製の選択</a:t>
            </a:r>
          </a:p>
        </p:txBody>
      </p:sp>
      <p:sp>
        <p:nvSpPr>
          <p:cNvPr id="9" name="Rectangle 17">
            <a:extLst>
              <a:ext uri="{FF2B5EF4-FFF2-40B4-BE49-F238E27FC236}">
                <a16:creationId xmlns:a16="http://schemas.microsoft.com/office/drawing/2014/main" id="{2EADE8F7-2A1E-36E6-0F81-48A81175B722}"/>
              </a:ext>
            </a:extLst>
          </p:cNvPr>
          <p:cNvSpPr/>
          <p:nvPr/>
        </p:nvSpPr>
        <p:spPr>
          <a:xfrm>
            <a:off x="10780776" y="1628774"/>
            <a:ext cx="1060704" cy="600366"/>
          </a:xfrm>
          <a:prstGeom prst="rect">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solidFill>
                <a:srgbClr val="008000"/>
              </a:solidFill>
            </a:endParaRPr>
          </a:p>
        </p:txBody>
      </p:sp>
      <p:sp>
        <p:nvSpPr>
          <p:cNvPr id="10" name="TextBox 18">
            <a:extLst>
              <a:ext uri="{FF2B5EF4-FFF2-40B4-BE49-F238E27FC236}">
                <a16:creationId xmlns:a16="http://schemas.microsoft.com/office/drawing/2014/main" id="{6893CD03-9CA6-41AE-C529-7E9523DB197B}"/>
              </a:ext>
            </a:extLst>
          </p:cNvPr>
          <p:cNvSpPr txBox="1"/>
          <p:nvPr/>
        </p:nvSpPr>
        <p:spPr>
          <a:xfrm>
            <a:off x="10835640" y="1796523"/>
            <a:ext cx="950976" cy="247568"/>
          </a:xfrm>
          <a:prstGeom prst="rect">
            <a:avLst/>
          </a:prstGeom>
          <a:solidFill>
            <a:schemeClr val="accent6">
              <a:lumMod val="20000"/>
              <a:lumOff val="80000"/>
            </a:schemeClr>
          </a:solidFill>
        </p:spPr>
        <p:txBody>
          <a:bodyPr wrap="square" lIns="0" tIns="0" rIns="0" bIns="0">
            <a:spAutoFit/>
          </a:bodyPr>
          <a:lstStyle/>
          <a:p>
            <a:pPr>
              <a:lnSpc>
                <a:spcPct val="112000"/>
              </a:lnSpc>
            </a:pPr>
            <a:r>
              <a:rPr sz="1600" b="1">
                <a:solidFill>
                  <a:srgbClr val="008000"/>
                </a:solidFill>
                <a:latin typeface="Meiryo UI"/>
                <a:ea typeface="Meiryo UI"/>
              </a:rPr>
              <a:t>最高</a:t>
            </a:r>
          </a:p>
        </p:txBody>
      </p:sp>
      <p:sp>
        <p:nvSpPr>
          <p:cNvPr id="11" name="Rectangle 19">
            <a:extLst>
              <a:ext uri="{FF2B5EF4-FFF2-40B4-BE49-F238E27FC236}">
                <a16:creationId xmlns:a16="http://schemas.microsoft.com/office/drawing/2014/main" id="{2B556D98-3BB5-B98F-C6E5-109B94665B21}"/>
              </a:ext>
            </a:extLst>
          </p:cNvPr>
          <p:cNvSpPr/>
          <p:nvPr/>
        </p:nvSpPr>
        <p:spPr>
          <a:xfrm>
            <a:off x="320040" y="2290943"/>
            <a:ext cx="2834640" cy="60036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2" name="TextBox 20">
            <a:extLst>
              <a:ext uri="{FF2B5EF4-FFF2-40B4-BE49-F238E27FC236}">
                <a16:creationId xmlns:a16="http://schemas.microsoft.com/office/drawing/2014/main" id="{7628A673-4D89-4043-5FFA-983C31E8101A}"/>
              </a:ext>
            </a:extLst>
          </p:cNvPr>
          <p:cNvSpPr txBox="1"/>
          <p:nvPr/>
        </p:nvSpPr>
        <p:spPr>
          <a:xfrm>
            <a:off x="411480" y="2335087"/>
            <a:ext cx="2651760" cy="180114"/>
          </a:xfrm>
          <a:prstGeom prst="rect">
            <a:avLst/>
          </a:prstGeom>
          <a:noFill/>
        </p:spPr>
        <p:txBody>
          <a:bodyPr wrap="square" lIns="0" tIns="0" rIns="0" bIns="0">
            <a:spAutoFit/>
          </a:bodyPr>
          <a:lstStyle/>
          <a:p>
            <a:pPr>
              <a:lnSpc>
                <a:spcPct val="108000"/>
              </a:lnSpc>
            </a:pPr>
            <a:r>
              <a:rPr sz="1200" b="1">
                <a:solidFill>
                  <a:srgbClr val="262626"/>
                </a:solidFill>
                <a:latin typeface="Meiryo UI"/>
                <a:ea typeface="Meiryo UI"/>
              </a:rPr>
              <a:t>GCP統合データ基盤</a:t>
            </a:r>
          </a:p>
        </p:txBody>
      </p:sp>
      <p:sp>
        <p:nvSpPr>
          <p:cNvPr id="13" name="Rectangle 21">
            <a:extLst>
              <a:ext uri="{FF2B5EF4-FFF2-40B4-BE49-F238E27FC236}">
                <a16:creationId xmlns:a16="http://schemas.microsoft.com/office/drawing/2014/main" id="{F056600A-6E2E-803A-DD50-8E318425D4AD}"/>
              </a:ext>
            </a:extLst>
          </p:cNvPr>
          <p:cNvSpPr/>
          <p:nvPr/>
        </p:nvSpPr>
        <p:spPr>
          <a:xfrm>
            <a:off x="3172968" y="2290943"/>
            <a:ext cx="7589520" cy="60036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4" name="TextBox 22">
            <a:extLst>
              <a:ext uri="{FF2B5EF4-FFF2-40B4-BE49-F238E27FC236}">
                <a16:creationId xmlns:a16="http://schemas.microsoft.com/office/drawing/2014/main" id="{C179A538-9492-F23D-2CAA-1AF2902149E6}"/>
              </a:ext>
            </a:extLst>
          </p:cNvPr>
          <p:cNvSpPr txBox="1"/>
          <p:nvPr/>
        </p:nvSpPr>
        <p:spPr>
          <a:xfrm>
            <a:off x="3291840" y="2335087"/>
            <a:ext cx="7360920" cy="180114"/>
          </a:xfrm>
          <a:prstGeom prst="rect">
            <a:avLst/>
          </a:prstGeom>
          <a:noFill/>
        </p:spPr>
        <p:txBody>
          <a:bodyPr wrap="square" lIns="0" tIns="0" rIns="0" bIns="0">
            <a:spAutoFit/>
          </a:bodyPr>
          <a:lstStyle/>
          <a:p>
            <a:pPr>
              <a:lnSpc>
                <a:spcPct val="108000"/>
              </a:lnSpc>
            </a:pPr>
            <a:r>
              <a:rPr sz="1200" b="0">
                <a:solidFill>
                  <a:srgbClr val="262626"/>
                </a:solidFill>
                <a:latin typeface="Meiryo UI"/>
                <a:ea typeface="Meiryo UI"/>
              </a:rPr>
              <a:t>真因①の直接解消。ID・購買・診断・習慣データの統合。DX投資の最大項目 ― 確認2合格後に本格投資</a:t>
            </a:r>
          </a:p>
        </p:txBody>
      </p:sp>
      <p:sp>
        <p:nvSpPr>
          <p:cNvPr id="15" name="Rectangle 23">
            <a:extLst>
              <a:ext uri="{FF2B5EF4-FFF2-40B4-BE49-F238E27FC236}">
                <a16:creationId xmlns:a16="http://schemas.microsoft.com/office/drawing/2014/main" id="{C028F82F-D1DF-E955-783C-B9D4738432B3}"/>
              </a:ext>
            </a:extLst>
          </p:cNvPr>
          <p:cNvSpPr/>
          <p:nvPr/>
        </p:nvSpPr>
        <p:spPr>
          <a:xfrm>
            <a:off x="10780776" y="2290943"/>
            <a:ext cx="1060704" cy="600366"/>
          </a:xfrm>
          <a:prstGeom prst="rect">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solidFill>
                <a:srgbClr val="008000"/>
              </a:solidFill>
            </a:endParaRPr>
          </a:p>
        </p:txBody>
      </p:sp>
      <p:sp>
        <p:nvSpPr>
          <p:cNvPr id="16" name="TextBox 24">
            <a:extLst>
              <a:ext uri="{FF2B5EF4-FFF2-40B4-BE49-F238E27FC236}">
                <a16:creationId xmlns:a16="http://schemas.microsoft.com/office/drawing/2014/main" id="{D7E90CC3-59A7-F099-98B2-8A6500153281}"/>
              </a:ext>
            </a:extLst>
          </p:cNvPr>
          <p:cNvSpPr txBox="1"/>
          <p:nvPr/>
        </p:nvSpPr>
        <p:spPr>
          <a:xfrm>
            <a:off x="10835640" y="2458692"/>
            <a:ext cx="950976" cy="247568"/>
          </a:xfrm>
          <a:prstGeom prst="rect">
            <a:avLst/>
          </a:prstGeom>
          <a:solidFill>
            <a:schemeClr val="accent6">
              <a:lumMod val="20000"/>
              <a:lumOff val="80000"/>
            </a:schemeClr>
          </a:solidFill>
        </p:spPr>
        <p:txBody>
          <a:bodyPr wrap="square" lIns="0" tIns="0" rIns="0" bIns="0">
            <a:spAutoFit/>
          </a:bodyPr>
          <a:lstStyle/>
          <a:p>
            <a:pPr>
              <a:lnSpc>
                <a:spcPct val="112000"/>
              </a:lnSpc>
            </a:pPr>
            <a:r>
              <a:rPr sz="1600" b="1">
                <a:solidFill>
                  <a:srgbClr val="008000"/>
                </a:solidFill>
                <a:latin typeface="Meiryo UI"/>
                <a:ea typeface="Meiryo UI"/>
              </a:rPr>
              <a:t>最高</a:t>
            </a:r>
          </a:p>
        </p:txBody>
      </p:sp>
      <p:sp>
        <p:nvSpPr>
          <p:cNvPr id="17" name="Rectangle 25">
            <a:extLst>
              <a:ext uri="{FF2B5EF4-FFF2-40B4-BE49-F238E27FC236}">
                <a16:creationId xmlns:a16="http://schemas.microsoft.com/office/drawing/2014/main" id="{12257370-E6AF-B59A-2CD7-173FF8C58F81}"/>
              </a:ext>
            </a:extLst>
          </p:cNvPr>
          <p:cNvSpPr/>
          <p:nvPr/>
        </p:nvSpPr>
        <p:spPr>
          <a:xfrm>
            <a:off x="320040" y="2953111"/>
            <a:ext cx="2834640" cy="60036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8" name="TextBox 26">
            <a:extLst>
              <a:ext uri="{FF2B5EF4-FFF2-40B4-BE49-F238E27FC236}">
                <a16:creationId xmlns:a16="http://schemas.microsoft.com/office/drawing/2014/main" id="{682DC386-16A6-5FD9-C037-AF9AAAE19435}"/>
              </a:ext>
            </a:extLst>
          </p:cNvPr>
          <p:cNvSpPr txBox="1"/>
          <p:nvPr/>
        </p:nvSpPr>
        <p:spPr>
          <a:xfrm>
            <a:off x="411480" y="2997256"/>
            <a:ext cx="2651760" cy="180114"/>
          </a:xfrm>
          <a:prstGeom prst="rect">
            <a:avLst/>
          </a:prstGeom>
          <a:noFill/>
        </p:spPr>
        <p:txBody>
          <a:bodyPr wrap="square" lIns="0" tIns="0" rIns="0" bIns="0">
            <a:spAutoFit/>
          </a:bodyPr>
          <a:lstStyle/>
          <a:p>
            <a:pPr>
              <a:lnSpc>
                <a:spcPct val="108000"/>
              </a:lnSpc>
            </a:pPr>
            <a:r>
              <a:rPr sz="1200" b="1">
                <a:solidFill>
                  <a:srgbClr val="262626"/>
                </a:solidFill>
                <a:latin typeface="Meiryo UI"/>
                <a:ea typeface="Meiryo UI"/>
              </a:rPr>
              <a:t>生成AI（Libra）×Salesforce TPM</a:t>
            </a:r>
          </a:p>
        </p:txBody>
      </p:sp>
      <p:sp>
        <p:nvSpPr>
          <p:cNvPr id="19" name="Rectangle 27">
            <a:extLst>
              <a:ext uri="{FF2B5EF4-FFF2-40B4-BE49-F238E27FC236}">
                <a16:creationId xmlns:a16="http://schemas.microsoft.com/office/drawing/2014/main" id="{17037CFD-DABB-E53B-EDAB-3C8EE17CD151}"/>
              </a:ext>
            </a:extLst>
          </p:cNvPr>
          <p:cNvSpPr/>
          <p:nvPr/>
        </p:nvSpPr>
        <p:spPr>
          <a:xfrm>
            <a:off x="3172968" y="2953111"/>
            <a:ext cx="7589520" cy="60036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0" name="TextBox 28">
            <a:extLst>
              <a:ext uri="{FF2B5EF4-FFF2-40B4-BE49-F238E27FC236}">
                <a16:creationId xmlns:a16="http://schemas.microsoft.com/office/drawing/2014/main" id="{0F2E34F0-143F-FE39-F260-E9BD665A9921}"/>
              </a:ext>
            </a:extLst>
          </p:cNvPr>
          <p:cNvSpPr txBox="1"/>
          <p:nvPr/>
        </p:nvSpPr>
        <p:spPr>
          <a:xfrm>
            <a:off x="3291840" y="2997256"/>
            <a:ext cx="7360920" cy="180114"/>
          </a:xfrm>
          <a:prstGeom prst="rect">
            <a:avLst/>
          </a:prstGeom>
          <a:noFill/>
        </p:spPr>
        <p:txBody>
          <a:bodyPr wrap="square" lIns="0" tIns="0" rIns="0" bIns="0">
            <a:spAutoFit/>
          </a:bodyPr>
          <a:lstStyle/>
          <a:p>
            <a:pPr>
              <a:lnSpc>
                <a:spcPct val="108000"/>
              </a:lnSpc>
            </a:pPr>
            <a:r>
              <a:rPr sz="1200" b="0">
                <a:solidFill>
                  <a:srgbClr val="262626"/>
                </a:solidFill>
                <a:latin typeface="Meiryo UI"/>
                <a:ea typeface="Meiryo UI"/>
              </a:rPr>
              <a:t>GAP4解消。Input業務ゼロ化の実装。1〜2年でROI回収見込み</a:t>
            </a:r>
          </a:p>
        </p:txBody>
      </p:sp>
      <p:sp>
        <p:nvSpPr>
          <p:cNvPr id="21" name="Rectangle 29">
            <a:extLst>
              <a:ext uri="{FF2B5EF4-FFF2-40B4-BE49-F238E27FC236}">
                <a16:creationId xmlns:a16="http://schemas.microsoft.com/office/drawing/2014/main" id="{D7AFCFB7-7125-7F9A-7AAF-68DC2CFABD59}"/>
              </a:ext>
            </a:extLst>
          </p:cNvPr>
          <p:cNvSpPr/>
          <p:nvPr/>
        </p:nvSpPr>
        <p:spPr>
          <a:xfrm>
            <a:off x="10780776" y="2953111"/>
            <a:ext cx="1060704" cy="600366"/>
          </a:xfrm>
          <a:prstGeom prst="rect">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solidFill>
                <a:srgbClr val="008000"/>
              </a:solidFill>
            </a:endParaRPr>
          </a:p>
        </p:txBody>
      </p:sp>
      <p:sp>
        <p:nvSpPr>
          <p:cNvPr id="22" name="TextBox 30">
            <a:extLst>
              <a:ext uri="{FF2B5EF4-FFF2-40B4-BE49-F238E27FC236}">
                <a16:creationId xmlns:a16="http://schemas.microsoft.com/office/drawing/2014/main" id="{B24886ED-B6ED-CE32-AEEE-7DF5EE320BEE}"/>
              </a:ext>
            </a:extLst>
          </p:cNvPr>
          <p:cNvSpPr txBox="1"/>
          <p:nvPr/>
        </p:nvSpPr>
        <p:spPr>
          <a:xfrm>
            <a:off x="10835640" y="3120861"/>
            <a:ext cx="950976" cy="247568"/>
          </a:xfrm>
          <a:prstGeom prst="rect">
            <a:avLst/>
          </a:prstGeom>
          <a:solidFill>
            <a:schemeClr val="accent6">
              <a:lumMod val="20000"/>
              <a:lumOff val="80000"/>
            </a:schemeClr>
          </a:solidFill>
        </p:spPr>
        <p:txBody>
          <a:bodyPr wrap="square" lIns="0" tIns="0" rIns="0" bIns="0">
            <a:spAutoFit/>
          </a:bodyPr>
          <a:lstStyle/>
          <a:p>
            <a:pPr>
              <a:lnSpc>
                <a:spcPct val="112000"/>
              </a:lnSpc>
            </a:pPr>
            <a:r>
              <a:rPr sz="1600" b="1">
                <a:solidFill>
                  <a:srgbClr val="008000"/>
                </a:solidFill>
                <a:latin typeface="Meiryo UI"/>
                <a:ea typeface="Meiryo UI"/>
              </a:rPr>
              <a:t>高</a:t>
            </a:r>
          </a:p>
        </p:txBody>
      </p:sp>
      <p:sp>
        <p:nvSpPr>
          <p:cNvPr id="23" name="Rectangle 31">
            <a:extLst>
              <a:ext uri="{FF2B5EF4-FFF2-40B4-BE49-F238E27FC236}">
                <a16:creationId xmlns:a16="http://schemas.microsoft.com/office/drawing/2014/main" id="{668B42FF-75A9-1439-2913-2D2A0CCB8A39}"/>
              </a:ext>
            </a:extLst>
          </p:cNvPr>
          <p:cNvSpPr/>
          <p:nvPr/>
        </p:nvSpPr>
        <p:spPr>
          <a:xfrm>
            <a:off x="320040" y="3615280"/>
            <a:ext cx="2834640" cy="60036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4" name="TextBox 32">
            <a:extLst>
              <a:ext uri="{FF2B5EF4-FFF2-40B4-BE49-F238E27FC236}">
                <a16:creationId xmlns:a16="http://schemas.microsoft.com/office/drawing/2014/main" id="{E1EFB585-E841-9668-1C31-B3287E9F0E87}"/>
              </a:ext>
            </a:extLst>
          </p:cNvPr>
          <p:cNvSpPr txBox="1"/>
          <p:nvPr/>
        </p:nvSpPr>
        <p:spPr>
          <a:xfrm>
            <a:off x="411480" y="3659424"/>
            <a:ext cx="2651760" cy="180114"/>
          </a:xfrm>
          <a:prstGeom prst="rect">
            <a:avLst/>
          </a:prstGeom>
          <a:noFill/>
        </p:spPr>
        <p:txBody>
          <a:bodyPr wrap="square" lIns="0" tIns="0" rIns="0" bIns="0">
            <a:spAutoFit/>
          </a:bodyPr>
          <a:lstStyle/>
          <a:p>
            <a:pPr>
              <a:lnSpc>
                <a:spcPct val="108000"/>
              </a:lnSpc>
            </a:pPr>
            <a:r>
              <a:rPr sz="1200" b="1">
                <a:solidFill>
                  <a:srgbClr val="262626"/>
                </a:solidFill>
                <a:latin typeface="Meiryo UI"/>
                <a:ea typeface="Meiryo UI"/>
              </a:rPr>
              <a:t>混成チーム体制への移行</a:t>
            </a:r>
          </a:p>
        </p:txBody>
      </p:sp>
      <p:sp>
        <p:nvSpPr>
          <p:cNvPr id="25" name="Rectangle 33">
            <a:extLst>
              <a:ext uri="{FF2B5EF4-FFF2-40B4-BE49-F238E27FC236}">
                <a16:creationId xmlns:a16="http://schemas.microsoft.com/office/drawing/2014/main" id="{09F45494-F82E-4E10-C48D-32BC0FE1726B}"/>
              </a:ext>
            </a:extLst>
          </p:cNvPr>
          <p:cNvSpPr/>
          <p:nvPr/>
        </p:nvSpPr>
        <p:spPr>
          <a:xfrm>
            <a:off x="3172968" y="3615280"/>
            <a:ext cx="7589520" cy="60036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6" name="TextBox 34">
            <a:extLst>
              <a:ext uri="{FF2B5EF4-FFF2-40B4-BE49-F238E27FC236}">
                <a16:creationId xmlns:a16="http://schemas.microsoft.com/office/drawing/2014/main" id="{54042427-F901-3345-241F-3549CE896076}"/>
              </a:ext>
            </a:extLst>
          </p:cNvPr>
          <p:cNvSpPr txBox="1"/>
          <p:nvPr/>
        </p:nvSpPr>
        <p:spPr>
          <a:xfrm>
            <a:off x="3291840" y="3659424"/>
            <a:ext cx="7360920" cy="180114"/>
          </a:xfrm>
          <a:prstGeom prst="rect">
            <a:avLst/>
          </a:prstGeom>
          <a:noFill/>
        </p:spPr>
        <p:txBody>
          <a:bodyPr wrap="square" lIns="0" tIns="0" rIns="0" bIns="0">
            <a:spAutoFit/>
          </a:bodyPr>
          <a:lstStyle/>
          <a:p>
            <a:pPr>
              <a:lnSpc>
                <a:spcPct val="108000"/>
              </a:lnSpc>
            </a:pPr>
            <a:r>
              <a:rPr sz="1200" b="0">
                <a:solidFill>
                  <a:srgbClr val="262626"/>
                </a:solidFill>
                <a:latin typeface="Meiryo UI"/>
                <a:ea typeface="Meiryo UI"/>
              </a:rPr>
              <a:t>組織対組織への移行。評価制度（訪問件数→JBP達成率）の同時変更が必須。内部調整が最大リスク</a:t>
            </a:r>
          </a:p>
        </p:txBody>
      </p:sp>
      <p:sp>
        <p:nvSpPr>
          <p:cNvPr id="27" name="Rectangle 35">
            <a:extLst>
              <a:ext uri="{FF2B5EF4-FFF2-40B4-BE49-F238E27FC236}">
                <a16:creationId xmlns:a16="http://schemas.microsoft.com/office/drawing/2014/main" id="{C1AC240F-28C4-00FC-9D14-F3E4AA1A6E93}"/>
              </a:ext>
            </a:extLst>
          </p:cNvPr>
          <p:cNvSpPr/>
          <p:nvPr/>
        </p:nvSpPr>
        <p:spPr>
          <a:xfrm>
            <a:off x="10780776" y="3615280"/>
            <a:ext cx="1060704" cy="600366"/>
          </a:xfrm>
          <a:prstGeom prst="rect">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solidFill>
                <a:srgbClr val="008000"/>
              </a:solidFill>
            </a:endParaRPr>
          </a:p>
        </p:txBody>
      </p:sp>
      <p:sp>
        <p:nvSpPr>
          <p:cNvPr id="28" name="TextBox 36">
            <a:extLst>
              <a:ext uri="{FF2B5EF4-FFF2-40B4-BE49-F238E27FC236}">
                <a16:creationId xmlns:a16="http://schemas.microsoft.com/office/drawing/2014/main" id="{D98902DA-50BC-3E84-CC15-9F4C54A35F5F}"/>
              </a:ext>
            </a:extLst>
          </p:cNvPr>
          <p:cNvSpPr txBox="1"/>
          <p:nvPr/>
        </p:nvSpPr>
        <p:spPr>
          <a:xfrm>
            <a:off x="10835640" y="3783029"/>
            <a:ext cx="950976" cy="247568"/>
          </a:xfrm>
          <a:prstGeom prst="rect">
            <a:avLst/>
          </a:prstGeom>
          <a:solidFill>
            <a:schemeClr val="accent6">
              <a:lumMod val="20000"/>
              <a:lumOff val="80000"/>
            </a:schemeClr>
          </a:solidFill>
        </p:spPr>
        <p:txBody>
          <a:bodyPr wrap="square" lIns="0" tIns="0" rIns="0" bIns="0">
            <a:spAutoFit/>
          </a:bodyPr>
          <a:lstStyle/>
          <a:p>
            <a:pPr>
              <a:lnSpc>
                <a:spcPct val="112000"/>
              </a:lnSpc>
            </a:pPr>
            <a:r>
              <a:rPr sz="1600" b="1">
                <a:solidFill>
                  <a:srgbClr val="008000"/>
                </a:solidFill>
                <a:latin typeface="Meiryo UI"/>
                <a:ea typeface="Meiryo UI"/>
              </a:rPr>
              <a:t>高</a:t>
            </a:r>
          </a:p>
        </p:txBody>
      </p:sp>
      <p:sp>
        <p:nvSpPr>
          <p:cNvPr id="29" name="Rectangle 37">
            <a:extLst>
              <a:ext uri="{FF2B5EF4-FFF2-40B4-BE49-F238E27FC236}">
                <a16:creationId xmlns:a16="http://schemas.microsoft.com/office/drawing/2014/main" id="{F804E600-1BD2-DC73-4D43-699A6E0DB6FB}"/>
              </a:ext>
            </a:extLst>
          </p:cNvPr>
          <p:cNvSpPr/>
          <p:nvPr/>
        </p:nvSpPr>
        <p:spPr>
          <a:xfrm>
            <a:off x="320040" y="4277448"/>
            <a:ext cx="2834640" cy="60036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0" name="TextBox 38">
            <a:extLst>
              <a:ext uri="{FF2B5EF4-FFF2-40B4-BE49-F238E27FC236}">
                <a16:creationId xmlns:a16="http://schemas.microsoft.com/office/drawing/2014/main" id="{2AC6E14C-BBB7-DC13-C3C2-133E369FD87D}"/>
              </a:ext>
            </a:extLst>
          </p:cNvPr>
          <p:cNvSpPr txBox="1"/>
          <p:nvPr/>
        </p:nvSpPr>
        <p:spPr>
          <a:xfrm>
            <a:off x="411480" y="4321592"/>
            <a:ext cx="2651760" cy="180114"/>
          </a:xfrm>
          <a:prstGeom prst="rect">
            <a:avLst/>
          </a:prstGeom>
          <a:noFill/>
        </p:spPr>
        <p:txBody>
          <a:bodyPr wrap="square" lIns="0" tIns="0" rIns="0" bIns="0">
            <a:spAutoFit/>
          </a:bodyPr>
          <a:lstStyle/>
          <a:p>
            <a:pPr>
              <a:lnSpc>
                <a:spcPct val="108000"/>
              </a:lnSpc>
            </a:pPr>
            <a:r>
              <a:rPr sz="1200" b="1">
                <a:solidFill>
                  <a:srgbClr val="262626"/>
                </a:solidFill>
                <a:latin typeface="Meiryo UI"/>
                <a:ea typeface="Meiryo UI"/>
              </a:rPr>
              <a:t>MMM・増分測定体制</a:t>
            </a:r>
          </a:p>
        </p:txBody>
      </p:sp>
      <p:sp>
        <p:nvSpPr>
          <p:cNvPr id="31" name="Rectangle 39">
            <a:extLst>
              <a:ext uri="{FF2B5EF4-FFF2-40B4-BE49-F238E27FC236}">
                <a16:creationId xmlns:a16="http://schemas.microsoft.com/office/drawing/2014/main" id="{60E6598A-CF50-535E-3075-21F3D5C528E9}"/>
              </a:ext>
            </a:extLst>
          </p:cNvPr>
          <p:cNvSpPr/>
          <p:nvPr/>
        </p:nvSpPr>
        <p:spPr>
          <a:xfrm>
            <a:off x="3172968" y="4277448"/>
            <a:ext cx="7589520" cy="60036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2" name="TextBox 40">
            <a:extLst>
              <a:ext uri="{FF2B5EF4-FFF2-40B4-BE49-F238E27FC236}">
                <a16:creationId xmlns:a16="http://schemas.microsoft.com/office/drawing/2014/main" id="{D931B7B0-5973-EBC2-48B3-E301D8DE7104}"/>
              </a:ext>
            </a:extLst>
          </p:cNvPr>
          <p:cNvSpPr txBox="1"/>
          <p:nvPr/>
        </p:nvSpPr>
        <p:spPr>
          <a:xfrm>
            <a:off x="3291840" y="4321592"/>
            <a:ext cx="7360920" cy="180114"/>
          </a:xfrm>
          <a:prstGeom prst="rect">
            <a:avLst/>
          </a:prstGeom>
          <a:noFill/>
        </p:spPr>
        <p:txBody>
          <a:bodyPr wrap="square" lIns="0" tIns="0" rIns="0" bIns="0">
            <a:spAutoFit/>
          </a:bodyPr>
          <a:lstStyle/>
          <a:p>
            <a:pPr>
              <a:lnSpc>
                <a:spcPct val="108000"/>
              </a:lnSpc>
            </a:pPr>
            <a:r>
              <a:rPr sz="1200" b="0">
                <a:solidFill>
                  <a:srgbClr val="262626"/>
                </a:solidFill>
                <a:latin typeface="Meiryo UI"/>
                <a:ea typeface="Meiryo UI"/>
              </a:rPr>
              <a:t>GAP3解消。無駄なマス投資の排除。重点1小売×1施策から開始可能</a:t>
            </a:r>
          </a:p>
        </p:txBody>
      </p:sp>
      <p:sp>
        <p:nvSpPr>
          <p:cNvPr id="33" name="Rectangle 41">
            <a:extLst>
              <a:ext uri="{FF2B5EF4-FFF2-40B4-BE49-F238E27FC236}">
                <a16:creationId xmlns:a16="http://schemas.microsoft.com/office/drawing/2014/main" id="{DB0A3AAC-779C-3A15-8CA7-CCD8793C2DEF}"/>
              </a:ext>
            </a:extLst>
          </p:cNvPr>
          <p:cNvSpPr/>
          <p:nvPr/>
        </p:nvSpPr>
        <p:spPr>
          <a:xfrm>
            <a:off x="10780776" y="4277448"/>
            <a:ext cx="1060704" cy="600366"/>
          </a:xfrm>
          <a:prstGeom prst="rect">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solidFill>
                <a:srgbClr val="008000"/>
              </a:solidFill>
            </a:endParaRPr>
          </a:p>
        </p:txBody>
      </p:sp>
      <p:sp>
        <p:nvSpPr>
          <p:cNvPr id="34" name="TextBox 42">
            <a:extLst>
              <a:ext uri="{FF2B5EF4-FFF2-40B4-BE49-F238E27FC236}">
                <a16:creationId xmlns:a16="http://schemas.microsoft.com/office/drawing/2014/main" id="{FA5177A9-AF12-9F4A-E7C1-E8C2B06C6314}"/>
              </a:ext>
            </a:extLst>
          </p:cNvPr>
          <p:cNvSpPr txBox="1"/>
          <p:nvPr/>
        </p:nvSpPr>
        <p:spPr>
          <a:xfrm>
            <a:off x="10835640" y="4445198"/>
            <a:ext cx="950976" cy="247568"/>
          </a:xfrm>
          <a:prstGeom prst="rect">
            <a:avLst/>
          </a:prstGeom>
          <a:solidFill>
            <a:schemeClr val="accent6">
              <a:lumMod val="20000"/>
              <a:lumOff val="80000"/>
            </a:schemeClr>
          </a:solidFill>
        </p:spPr>
        <p:txBody>
          <a:bodyPr wrap="square" lIns="0" tIns="0" rIns="0" bIns="0">
            <a:spAutoFit/>
          </a:bodyPr>
          <a:lstStyle/>
          <a:p>
            <a:pPr>
              <a:lnSpc>
                <a:spcPct val="112000"/>
              </a:lnSpc>
            </a:pPr>
            <a:r>
              <a:rPr sz="1600" b="1">
                <a:solidFill>
                  <a:srgbClr val="008000"/>
                </a:solidFill>
                <a:latin typeface="Meiryo UI"/>
                <a:ea typeface="Meiryo UI"/>
              </a:rPr>
              <a:t>中</a:t>
            </a:r>
          </a:p>
        </p:txBody>
      </p:sp>
      <p:sp>
        <p:nvSpPr>
          <p:cNvPr id="35" name="Rectangle 43">
            <a:extLst>
              <a:ext uri="{FF2B5EF4-FFF2-40B4-BE49-F238E27FC236}">
                <a16:creationId xmlns:a16="http://schemas.microsoft.com/office/drawing/2014/main" id="{1ADB46A9-6963-3B55-7333-E7BE92B2DA06}"/>
              </a:ext>
            </a:extLst>
          </p:cNvPr>
          <p:cNvSpPr/>
          <p:nvPr/>
        </p:nvSpPr>
        <p:spPr>
          <a:xfrm>
            <a:off x="320040" y="4939617"/>
            <a:ext cx="2834640" cy="60036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6" name="TextBox 44">
            <a:extLst>
              <a:ext uri="{FF2B5EF4-FFF2-40B4-BE49-F238E27FC236}">
                <a16:creationId xmlns:a16="http://schemas.microsoft.com/office/drawing/2014/main" id="{A1D3D24D-80B7-0D56-3A2A-64F77B6AC6D7}"/>
              </a:ext>
            </a:extLst>
          </p:cNvPr>
          <p:cNvSpPr txBox="1"/>
          <p:nvPr/>
        </p:nvSpPr>
        <p:spPr>
          <a:xfrm>
            <a:off x="411480" y="4983761"/>
            <a:ext cx="2651760" cy="180114"/>
          </a:xfrm>
          <a:prstGeom prst="rect">
            <a:avLst/>
          </a:prstGeom>
          <a:noFill/>
        </p:spPr>
        <p:txBody>
          <a:bodyPr wrap="square" lIns="0" tIns="0" rIns="0" bIns="0">
            <a:spAutoFit/>
          </a:bodyPr>
          <a:lstStyle/>
          <a:p>
            <a:pPr>
              <a:lnSpc>
                <a:spcPct val="108000"/>
              </a:lnSpc>
            </a:pPr>
            <a:r>
              <a:rPr sz="1200" b="1">
                <a:solidFill>
                  <a:srgbClr val="262626"/>
                </a:solidFill>
                <a:latin typeface="Meiryo UI"/>
                <a:ea typeface="Meiryo UI"/>
              </a:rPr>
              <a:t>DCR・小売データ協業基盤</a:t>
            </a:r>
          </a:p>
        </p:txBody>
      </p:sp>
      <p:sp>
        <p:nvSpPr>
          <p:cNvPr id="37" name="Rectangle 45">
            <a:extLst>
              <a:ext uri="{FF2B5EF4-FFF2-40B4-BE49-F238E27FC236}">
                <a16:creationId xmlns:a16="http://schemas.microsoft.com/office/drawing/2014/main" id="{B025F76E-2451-AD9A-E070-5FF216969798}"/>
              </a:ext>
            </a:extLst>
          </p:cNvPr>
          <p:cNvSpPr/>
          <p:nvPr/>
        </p:nvSpPr>
        <p:spPr>
          <a:xfrm>
            <a:off x="3172968" y="4939617"/>
            <a:ext cx="7589520" cy="60036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8" name="TextBox 46">
            <a:extLst>
              <a:ext uri="{FF2B5EF4-FFF2-40B4-BE49-F238E27FC236}">
                <a16:creationId xmlns:a16="http://schemas.microsoft.com/office/drawing/2014/main" id="{CC042EBF-7198-051E-3F6B-5D7DB327BF2C}"/>
              </a:ext>
            </a:extLst>
          </p:cNvPr>
          <p:cNvSpPr txBox="1"/>
          <p:nvPr/>
        </p:nvSpPr>
        <p:spPr>
          <a:xfrm>
            <a:off x="3291840" y="4983761"/>
            <a:ext cx="7360920" cy="180114"/>
          </a:xfrm>
          <a:prstGeom prst="rect">
            <a:avLst/>
          </a:prstGeom>
          <a:noFill/>
        </p:spPr>
        <p:txBody>
          <a:bodyPr wrap="square" lIns="0" tIns="0" rIns="0" bIns="0">
            <a:spAutoFit/>
          </a:bodyPr>
          <a:lstStyle/>
          <a:p>
            <a:pPr>
              <a:lnSpc>
                <a:spcPct val="108000"/>
              </a:lnSpc>
            </a:pPr>
            <a:r>
              <a:rPr sz="1200" b="0">
                <a:solidFill>
                  <a:srgbClr val="262626"/>
                </a:solidFill>
                <a:latin typeface="Meiryo UI"/>
                <a:ea typeface="Meiryo UI"/>
              </a:rPr>
              <a:t>法務・技術・小売交渉の3条件が前提。個人情報保護法の確認を先行タスク化（FY26年内）</a:t>
            </a:r>
          </a:p>
        </p:txBody>
      </p:sp>
      <p:sp>
        <p:nvSpPr>
          <p:cNvPr id="39" name="Rectangle 47">
            <a:extLst>
              <a:ext uri="{FF2B5EF4-FFF2-40B4-BE49-F238E27FC236}">
                <a16:creationId xmlns:a16="http://schemas.microsoft.com/office/drawing/2014/main" id="{8FFA0D77-ADA8-7768-BEB6-B2F56FBB3C34}"/>
              </a:ext>
            </a:extLst>
          </p:cNvPr>
          <p:cNvSpPr/>
          <p:nvPr/>
        </p:nvSpPr>
        <p:spPr>
          <a:xfrm>
            <a:off x="10780776" y="4939617"/>
            <a:ext cx="1060704" cy="600366"/>
          </a:xfrm>
          <a:prstGeom prst="rect">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solidFill>
                <a:srgbClr val="008000"/>
              </a:solidFill>
            </a:endParaRPr>
          </a:p>
        </p:txBody>
      </p:sp>
      <p:sp>
        <p:nvSpPr>
          <p:cNvPr id="40" name="TextBox 48">
            <a:extLst>
              <a:ext uri="{FF2B5EF4-FFF2-40B4-BE49-F238E27FC236}">
                <a16:creationId xmlns:a16="http://schemas.microsoft.com/office/drawing/2014/main" id="{08A20C53-B321-655F-0345-66771211648A}"/>
              </a:ext>
            </a:extLst>
          </p:cNvPr>
          <p:cNvSpPr txBox="1"/>
          <p:nvPr/>
        </p:nvSpPr>
        <p:spPr>
          <a:xfrm>
            <a:off x="10835640" y="5107366"/>
            <a:ext cx="950976" cy="247568"/>
          </a:xfrm>
          <a:prstGeom prst="rect">
            <a:avLst/>
          </a:prstGeom>
          <a:solidFill>
            <a:schemeClr val="accent6">
              <a:lumMod val="20000"/>
              <a:lumOff val="80000"/>
            </a:schemeClr>
          </a:solidFill>
        </p:spPr>
        <p:txBody>
          <a:bodyPr wrap="square" lIns="0" tIns="0" rIns="0" bIns="0">
            <a:spAutoFit/>
          </a:bodyPr>
          <a:lstStyle/>
          <a:p>
            <a:pPr>
              <a:lnSpc>
                <a:spcPct val="112000"/>
              </a:lnSpc>
            </a:pPr>
            <a:r>
              <a:rPr sz="1600" b="1">
                <a:solidFill>
                  <a:srgbClr val="008000"/>
                </a:solidFill>
                <a:latin typeface="Meiryo UI"/>
                <a:ea typeface="Meiryo UI"/>
              </a:rPr>
              <a:t>中</a:t>
            </a:r>
          </a:p>
        </p:txBody>
      </p:sp>
      <p:sp>
        <p:nvSpPr>
          <p:cNvPr id="41" name="Rectangle 49">
            <a:extLst>
              <a:ext uri="{FF2B5EF4-FFF2-40B4-BE49-F238E27FC236}">
                <a16:creationId xmlns:a16="http://schemas.microsoft.com/office/drawing/2014/main" id="{C92E98BA-A8D6-C164-31D8-095E29429F20}"/>
              </a:ext>
            </a:extLst>
          </p:cNvPr>
          <p:cNvSpPr/>
          <p:nvPr/>
        </p:nvSpPr>
        <p:spPr>
          <a:xfrm>
            <a:off x="320040" y="5637101"/>
            <a:ext cx="11521440" cy="635682"/>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2" name="TextBox 50">
            <a:extLst>
              <a:ext uri="{FF2B5EF4-FFF2-40B4-BE49-F238E27FC236}">
                <a16:creationId xmlns:a16="http://schemas.microsoft.com/office/drawing/2014/main" id="{E6BAFEB4-83C9-26DD-A417-93B4B29A463E}"/>
              </a:ext>
            </a:extLst>
          </p:cNvPr>
          <p:cNvSpPr txBox="1"/>
          <p:nvPr/>
        </p:nvSpPr>
        <p:spPr>
          <a:xfrm>
            <a:off x="457200" y="5690074"/>
            <a:ext cx="11292840" cy="402161"/>
          </a:xfrm>
          <a:prstGeom prst="rect">
            <a:avLst/>
          </a:prstGeom>
          <a:noFill/>
        </p:spPr>
        <p:txBody>
          <a:bodyPr wrap="square" lIns="0" tIns="0" rIns="0" bIns="0">
            <a:spAutoFit/>
          </a:bodyPr>
          <a:lstStyle/>
          <a:p>
            <a:pPr>
              <a:lnSpc>
                <a:spcPct val="115000"/>
              </a:lnSpc>
            </a:pPr>
            <a:r>
              <a:rPr sz="1200" b="1" dirty="0" err="1">
                <a:solidFill>
                  <a:srgbClr val="008D2E"/>
                </a:solidFill>
                <a:latin typeface="Meiryo UI"/>
                <a:ea typeface="Meiryo UI"/>
              </a:rPr>
              <a:t>投資対効果の全体観（仮・要実測</a:t>
            </a:r>
            <a:r>
              <a:rPr sz="1200" b="1" dirty="0">
                <a:solidFill>
                  <a:srgbClr val="008D2E"/>
                </a:solidFill>
                <a:latin typeface="Meiryo UI"/>
                <a:ea typeface="Meiryo UI"/>
              </a:rPr>
              <a:t>）：</a:t>
            </a:r>
            <a:r>
              <a:rPr sz="1200" b="0" dirty="0">
                <a:solidFill>
                  <a:srgbClr val="262626"/>
                </a:solidFill>
                <a:latin typeface="Meiryo UI"/>
                <a:ea typeface="Meiryo UI"/>
              </a:rPr>
              <a:t>5年累計30〜50億円（最初の3年は年3〜5億円と小さく始める）に対し、効果は年45〜95億円（時間価値15〜25億＋値引き費用の転換20〜40億＋広告最適化10〜30億）で2〜3年回収。最大のリターンは金額化しにくい「棚・AIから外されない＝売上の生存」。</a:t>
            </a:r>
          </a:p>
        </p:txBody>
      </p:sp>
    </p:spTree>
    <p:extLst>
      <p:ext uri="{BB962C8B-B14F-4D97-AF65-F5344CB8AC3E}">
        <p14:creationId xmlns:p14="http://schemas.microsoft.com/office/powerpoint/2010/main" val="35470398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5D4F63-F0E8-7795-FB8B-712F77B12D97}"/>
              </a:ext>
            </a:extLst>
          </p:cNvPr>
          <p:cNvSpPr>
            <a:spLocks noGrp="1"/>
          </p:cNvSpPr>
          <p:nvPr>
            <p:ph type="title"/>
          </p:nvPr>
        </p:nvSpPr>
        <p:spPr/>
        <p:txBody>
          <a:bodyPr/>
          <a:lstStyle/>
          <a:p>
            <a:endParaRPr kumimoji="1" lang="ja-JP" altLang="en-US"/>
          </a:p>
        </p:txBody>
      </p:sp>
      <p:sp>
        <p:nvSpPr>
          <p:cNvPr id="3" name="テキスト プレースホルダー 2">
            <a:extLst>
              <a:ext uri="{FF2B5EF4-FFF2-40B4-BE49-F238E27FC236}">
                <a16:creationId xmlns:a16="http://schemas.microsoft.com/office/drawing/2014/main" id="{C81A75EC-AA79-5E45-4A8E-EE1A9719C0A5}"/>
              </a:ext>
            </a:extLst>
          </p:cNvPr>
          <p:cNvSpPr>
            <a:spLocks noGrp="1"/>
          </p:cNvSpPr>
          <p:nvPr>
            <p:ph type="body" sz="quarter" idx="13"/>
          </p:nvPr>
        </p:nvSpPr>
        <p:spPr/>
        <p:txBody>
          <a:bodyPr/>
          <a:lstStyle/>
          <a:p>
            <a:r>
              <a:rPr kumimoji="1" lang="en-US" altLang="ja-JP" dirty="0"/>
              <a:t>AI</a:t>
            </a:r>
            <a:r>
              <a:rPr kumimoji="1" lang="ja-JP" altLang="en-US" dirty="0"/>
              <a:t>エージェント技術・実装もデジ戦デジタル対応する場所を明確化</a:t>
            </a:r>
          </a:p>
          <a:p>
            <a:endParaRPr kumimoji="1" lang="ja-JP" altLang="en-US" dirty="0"/>
          </a:p>
        </p:txBody>
      </p:sp>
    </p:spTree>
    <p:extLst>
      <p:ext uri="{BB962C8B-B14F-4D97-AF65-F5344CB8AC3E}">
        <p14:creationId xmlns:p14="http://schemas.microsoft.com/office/powerpoint/2010/main" val="263507458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f547d190-3668-41f7-8510-759a08b5278f"/>
</p:tagLst>
</file>

<file path=ppt/tags/tag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6.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0.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1.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1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heme/theme1.xml><?xml version="1.0" encoding="utf-8"?>
<a:theme xmlns:a="http://schemas.openxmlformats.org/drawingml/2006/main" name="Office テーマ">
  <a:themeElements>
    <a:clrScheme name="ユーザー定義 3">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008D2E"/>
      </a:accent5>
      <a:accent6>
        <a:srgbClr val="70AD47"/>
      </a:accent6>
      <a:hlink>
        <a:srgbClr val="0563C1"/>
      </a:hlink>
      <a:folHlink>
        <a:srgbClr val="954F72"/>
      </a:folHlink>
    </a:clrScheme>
    <a:fontScheme name="Meiryo UI">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6">
            <a:lumMod val="20000"/>
            <a:lumOff val="80000"/>
          </a:schemeClr>
        </a:solidFill>
        <a:ln w="3175">
          <a:noFill/>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algn="ctr">
          <a:defRPr sz="1400" dirty="0" smtClean="0">
            <a:solidFill>
              <a:schemeClr val="tx1"/>
            </a:solidFill>
            <a:latin typeface="Meiryo UI" panose="020B0604030504040204" pitchFamily="50" charset="-128"/>
            <a:ea typeface="Meiryo UI" panose="020B0604030504040204" pitchFamily="50" charset="-128"/>
          </a:defRPr>
        </a:defPPr>
      </a:lstStyle>
      <a:style>
        <a:lnRef idx="1">
          <a:schemeClr val="accent1"/>
        </a:lnRef>
        <a:fillRef idx="3">
          <a:schemeClr val="accent1"/>
        </a:fillRef>
        <a:effectRef idx="2">
          <a:schemeClr val="accent1"/>
        </a:effectRef>
        <a:fontRef idx="minor">
          <a:schemeClr val="lt1"/>
        </a:fontRef>
      </a:style>
    </a:spDef>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プレゼンテーション1" id="{C55E6A12-3EF5-4C74-A9A5-996A9174E5AC}" vid="{AED920B8-8640-468C-970B-65DAA56A6812}"/>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667F58365028D544AA740988642801B7" ma:contentTypeVersion="4" ma:contentTypeDescription="新しいドキュメントを作成します。" ma:contentTypeScope="" ma:versionID="bc76c07572b860ace8224c0271b6bb96">
  <xsd:schema xmlns:xsd="http://www.w3.org/2001/XMLSchema" xmlns:xs="http://www.w3.org/2001/XMLSchema" xmlns:p="http://schemas.microsoft.com/office/2006/metadata/properties" xmlns:ns2="8c1c9407-4680-4b4c-ac14-d1d287827f86" targetNamespace="http://schemas.microsoft.com/office/2006/metadata/properties" ma:root="true" ma:fieldsID="47583ab8e31be7e5044b872c9e9c7599" ns2:_="">
    <xsd:import namespace="8c1c9407-4680-4b4c-ac14-d1d287827f8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c1c9407-4680-4b4c-ac14-d1d287827f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BCB0E288-7022-488F-A212-4A370D1C7B0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c1c9407-4680-4b4c-ac14-d1d287827f8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0A7C669-CC4B-4827-97C7-09376F99CD13}">
  <ds:schemaRefs>
    <ds:schemaRef ds:uri="http://schemas.microsoft.com/sharepoint/v3/contenttype/forms"/>
  </ds:schemaRefs>
</ds:datastoreItem>
</file>

<file path=customXml/itemProps3.xml><?xml version="1.0" encoding="utf-8"?>
<ds:datastoreItem xmlns:ds="http://schemas.openxmlformats.org/officeDocument/2006/customXml" ds:itemID="{88FA6147-ADCB-432E-B533-0080162DBFA4}">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074f2a35-8cc4-4ad1-b0b6-60fb064ecec5"/>
    <ds:schemaRef ds:uri="http://purl.org/dc/elements/1.1/"/>
    <ds:schemaRef ds:uri="http://schemas.microsoft.com/office/2006/metadata/properties"/>
    <ds:schemaRef ds:uri="5a302c2d-1787-4a6f-b546-2016f8a66a26"/>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20241120_パワポテンプレ</Template>
  <TotalTime>4035</TotalTime>
  <Words>8464</Words>
  <Application>Microsoft Office PowerPoint</Application>
  <PresentationFormat>ワイド画面</PresentationFormat>
  <Paragraphs>710</Paragraphs>
  <Slides>16</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16</vt:i4>
      </vt:variant>
    </vt:vector>
  </HeadingPairs>
  <TitlesOfParts>
    <vt:vector size="24" baseType="lpstr">
      <vt:lpstr>BIZ UDPゴシック</vt:lpstr>
      <vt:lpstr>Meiryo UI</vt:lpstr>
      <vt:lpstr>Yu Gothic UI</vt:lpstr>
      <vt:lpstr>メイリオ</vt:lpstr>
      <vt:lpstr>Arial</vt:lpstr>
      <vt:lpstr>Calibri</vt:lpstr>
      <vt:lpstr>Wingdings</vt:lpstr>
      <vt:lpstr>Office テーマ</vt:lpstr>
      <vt:lpstr>製造業を取り巻くマクロ環境変化 (PEST分析) </vt:lpstr>
      <vt:lpstr> 顧客 ･ 取引先 ･ 競合の変化</vt:lpstr>
      <vt:lpstr>自社の強み・弱み・機会・脅威（SWOT）</vt:lpstr>
      <vt:lpstr>理想（勝ち筋）と現状とのGAP</vt:lpstr>
      <vt:lpstr>ギャップと真因</vt:lpstr>
      <vt:lpstr>真因と解決策</vt:lpstr>
      <vt:lpstr>4つの変革テーマ × 8つの重点施策 (A1〜D2) </vt:lpstr>
      <vt:lpstr>解決1詳細</vt:lpstr>
      <vt:lpstr> 解決の方向（4つの変革テーマ）</vt:lpstr>
      <vt:lpstr>Howの全体構造 5つの経営テーマへのMECE接続</vt:lpstr>
      <vt:lpstr>出口 マーケティング・営業DXの姿 (Before → After)</vt:lpstr>
      <vt:lpstr>KGI / KPI体系 ― 最上位KPIとライオン固有のユニークKPI</vt:lpstr>
      <vt:lpstr>マイルストーン (FY26–FY30)</vt:lpstr>
      <vt:lpstr>PowerPoint プレゼンテーション</vt:lpstr>
      <vt:lpstr>投資・体制観点の主要論点</vt:lpstr>
      <vt:lpstr>PowerPoint プレゼンテーション</vt:lpstr>
    </vt:vector>
  </TitlesOfParts>
  <Company>lion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本日の目的</dc:title>
  <dc:creator>菊池;智裕</dc:creator>
  <cp:lastModifiedBy>菊池　智裕</cp:lastModifiedBy>
  <cp:revision>95</cp:revision>
  <dcterms:created xsi:type="dcterms:W3CDTF">2024-12-27T03:42:11Z</dcterms:created>
  <dcterms:modified xsi:type="dcterms:W3CDTF">2026-08-17T12:33:06Z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0x010100667F58365028D544AA740988642801B7</vt:lpwstr>
  </property>
</Properties>
</file>