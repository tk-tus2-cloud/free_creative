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45" r:id="rId42"/>
    <p:sldId id="2147483646" r:id="rId43"/>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北極星</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①投資と店頭売上の因果を測る効果測定の仕組みを先に作る（B1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B1（ROI可視化）が投資対効果の測定基準を作り → D1（資料作成の自動化）が商談の時間を生み → C1・A1が提案の材料を揃え → 解決1の新しい使い方で使う。ROI計算式に紐づかない施策はやらない。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0020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商品データをAIが読める形にして小売システムへ直結する</a:t>
            </a:r>
          </a:p>
          <a:p>
            <a:pPr>
              <a:lnSpc>
                <a:spcPct val="108000"/>
              </a:lnSpc>
            </a:pPr>
            <a:r>
              <a:rPr sz="640" b="0">
                <a:solidFill>
                  <a:srgbClr val="595959"/>
                </a:solidFill>
                <a:latin typeface="Meiryo UI"/>
                <a:ea typeface="Meiryo UI"/>
              </a:rPr>
              <a:t>＝属性データの構造化・API化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5798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学校の歯みがき教育・自治体健診を、続くデジタル接点に変える</a:t>
            </a:r>
          </a:p>
          <a:p>
            <a:pPr>
              <a:lnSpc>
                <a:spcPct val="108000"/>
              </a:lnSpc>
            </a:pPr>
            <a:r>
              <a:rPr sz="640" b="0">
                <a:solidFill>
                  <a:srgbClr val="595959"/>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紙と単発イベントの啓発を、アプリ・デジタル教材の継続接点にし、子どものうちからの習慣づくりを測れる資産にする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24912"/>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広告・販促の効果を金額で測る仕組みを作る</a:t>
            </a:r>
          </a:p>
          <a:p>
            <a:pPr>
              <a:lnSpc>
                <a:spcPct val="108000"/>
              </a:lnSpc>
            </a:pPr>
            <a:r>
              <a:rPr sz="640" b="0">
                <a:solidFill>
                  <a:srgbClr val="595959"/>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全施策の投資判断の基準になる起点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28269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小売アプリ・サイト広告の運用を自社の手に取り戻す</a:t>
            </a:r>
          </a:p>
          <a:p>
            <a:pPr>
              <a:lnSpc>
                <a:spcPct val="108000"/>
              </a:lnSpc>
            </a:pPr>
            <a:r>
              <a:rPr sz="640" b="0">
                <a:solidFill>
                  <a:srgbClr val="595959"/>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その場限りの広告購入をやめ、一元管理・自社運用で手数料と効果の薄い出稿を削減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4962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研究・臨床データを、商談で使える数字に自動変換する</a:t>
            </a:r>
          </a:p>
          <a:p>
            <a:pPr>
              <a:lnSpc>
                <a:spcPct val="108000"/>
              </a:lnSpc>
            </a:pPr>
            <a:r>
              <a:rPr sz="640" b="0">
                <a:solidFill>
                  <a:srgbClr val="595959"/>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07408"/>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成功した商談を型にして、誰でも再現できるようにする</a:t>
            </a:r>
          </a:p>
          <a:p>
            <a:pPr>
              <a:lnSpc>
                <a:spcPct val="108000"/>
              </a:lnSpc>
            </a:pPr>
            <a:r>
              <a:rPr sz="640" b="0">
                <a:solidFill>
                  <a:srgbClr val="595959"/>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ベテランの暗黙知を形式知化し、提案の質を人に依存させない</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7433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資料作成・集計をAIで自動化し、商談の時間を生み出す</a:t>
            </a:r>
          </a:p>
          <a:p>
            <a:pPr>
              <a:lnSpc>
                <a:spcPct val="108000"/>
              </a:lnSpc>
            </a:pPr>
            <a:r>
              <a:rPr sz="640" b="0">
                <a:solidFill>
                  <a:srgbClr val="595959"/>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3212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1人で対応する営業をやめ、チーム対チームで小売と組む</a:t>
            </a:r>
          </a:p>
          <a:p>
            <a:pPr>
              <a:lnSpc>
                <a:spcPct val="108000"/>
              </a:lnSpc>
            </a:pPr>
            <a:r>
              <a:rPr sz="640" b="0">
                <a:solidFill>
                  <a:srgbClr val="595959"/>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営業1人対バイヤー1人の分断をやめ、小売と組織対組織で共同事業計画（JBP）を回す体制へ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共同事業計画の締結チェーン数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意思決定・プロジェクト管理・実務実行の3階層で構成する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報告はデジタル戦略会議（四半期）と確認ゲート（FY27夏・FY28末・FY30）で実施 ― 検証責任と撤退基準は提案側が持つ</a:t>
            </a:r>
          </a:p>
        </p:txBody>
      </p:sp>
      <p:sp>
        <p:nvSpPr>
          <p:cNvPr id="14" name="Rectangle 13"/>
          <p:cNvSpPr/>
          <p:nvPr/>
        </p:nvSpPr>
        <p:spPr>
          <a:xfrm>
            <a:off x="320040" y="1298448"/>
            <a:ext cx="608076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335024"/>
            <a:ext cx="585216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プロジェクト体制</a:t>
            </a:r>
          </a:p>
        </p:txBody>
      </p:sp>
      <p:sp>
        <p:nvSpPr>
          <p:cNvPr id="16" name="Rectangle 15"/>
          <p:cNvSpPr/>
          <p:nvPr/>
        </p:nvSpPr>
        <p:spPr>
          <a:xfrm>
            <a:off x="411480" y="1755648"/>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1801368"/>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デジタル戦略会議</a:t>
            </a:r>
          </a:p>
          <a:p>
            <a:pPr>
              <a:lnSpc>
                <a:spcPct val="112000"/>
              </a:lnSpc>
            </a:pPr>
            <a:r>
              <a:rPr sz="660" b="0">
                <a:solidFill>
                  <a:srgbClr val="262626"/>
                </a:solidFill>
                <a:latin typeface="Meiryo UI"/>
                <a:ea typeface="Meiryo UI"/>
              </a:rPr>
              <a:t>（四半期）役員オーナー5名＋PJリーダーで報告・意思決定</a:t>
            </a:r>
          </a:p>
        </p:txBody>
      </p:sp>
      <p:sp>
        <p:nvSpPr>
          <p:cNvPr id="18" name="Rectangle 17"/>
          <p:cNvSpPr/>
          <p:nvPr/>
        </p:nvSpPr>
        <p:spPr>
          <a:xfrm>
            <a:off x="411480" y="2615184"/>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2660904"/>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確認ゲートレビュー</a:t>
            </a:r>
          </a:p>
          <a:p>
            <a:pPr>
              <a:lnSpc>
                <a:spcPct val="112000"/>
              </a:lnSpc>
            </a:pPr>
            <a:r>
              <a:rPr sz="660" b="0">
                <a:solidFill>
                  <a:srgbClr val="262626"/>
                </a:solidFill>
                <a:latin typeface="Meiryo UI"/>
                <a:ea typeface="Meiryo UI"/>
              </a:rPr>
              <a:t>FY27夏・FY28末・FY30 ― 合否と撤退を判定</a:t>
            </a:r>
          </a:p>
        </p:txBody>
      </p:sp>
      <p:sp>
        <p:nvSpPr>
          <p:cNvPr id="20" name="Rectangle 19"/>
          <p:cNvSpPr/>
          <p:nvPr/>
        </p:nvSpPr>
        <p:spPr>
          <a:xfrm>
            <a:off x="2148840" y="1755648"/>
            <a:ext cx="2148840" cy="65836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01368"/>
            <a:ext cx="1965960" cy="566928"/>
          </a:xfrm>
          <a:prstGeom prst="rect">
            <a:avLst/>
          </a:prstGeom>
          <a:noFill/>
        </p:spPr>
        <p:txBody>
          <a:bodyPr wrap="square" lIns="0" rIns="0" tIns="0" bIns="0">
            <a:spAutoFit/>
          </a:bodyPr>
          <a:lstStyle/>
          <a:p>
            <a:pPr>
              <a:lnSpc>
                <a:spcPct val="115000"/>
              </a:lnSpc>
            </a:pPr>
            <a:r>
              <a:rPr sz="819" b="1">
                <a:solidFill>
                  <a:srgbClr val="FFFFFF"/>
                </a:solidFill>
                <a:latin typeface="Meiryo UI"/>
                <a:ea typeface="Meiryo UI"/>
              </a:rPr>
              <a:t>プロジェクトオーナー</a:t>
            </a:r>
          </a:p>
          <a:p>
            <a:pPr>
              <a:lnSpc>
                <a:spcPct val="115000"/>
              </a:lnSpc>
            </a:pPr>
            <a:r>
              <a:rPr sz="680" b="0">
                <a:solidFill>
                  <a:srgbClr val="FFFFFF"/>
                </a:solidFill>
                <a:latin typeface="Meiryo UI"/>
                <a:ea typeface="Meiryo UI"/>
              </a:rPr>
              <a:t>担当役員 ― 次回会議で任命（決定3）</a:t>
            </a:r>
          </a:p>
        </p:txBody>
      </p:sp>
      <p:sp>
        <p:nvSpPr>
          <p:cNvPr id="22" name="Rectangle 21"/>
          <p:cNvSpPr/>
          <p:nvPr/>
        </p:nvSpPr>
        <p:spPr>
          <a:xfrm>
            <a:off x="2148840" y="2670048"/>
            <a:ext cx="2148840" cy="65836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2715768"/>
            <a:ext cx="1965960" cy="566928"/>
          </a:xfrm>
          <a:prstGeom prst="rect">
            <a:avLst/>
          </a:prstGeom>
          <a:noFill/>
        </p:spPr>
        <p:txBody>
          <a:bodyPr wrap="square" lIns="0" rIns="0" tIns="0" bIns="0">
            <a:spAutoFit/>
          </a:bodyPr>
          <a:lstStyle/>
          <a:p>
            <a:pPr>
              <a:lnSpc>
                <a:spcPct val="115000"/>
              </a:lnSpc>
            </a:pPr>
            <a:r>
              <a:rPr sz="819" b="1">
                <a:solidFill>
                  <a:srgbClr val="16233A"/>
                </a:solidFill>
                <a:latin typeface="Meiryo UI"/>
                <a:ea typeface="Meiryo UI"/>
              </a:rPr>
              <a:t>推進責任者</a:t>
            </a:r>
          </a:p>
          <a:p>
            <a:pPr>
              <a:lnSpc>
                <a:spcPct val="115000"/>
              </a:lnSpc>
            </a:pPr>
            <a:r>
              <a:rPr sz="680" b="0">
                <a:solidFill>
                  <a:srgbClr val="262626"/>
                </a:solidFill>
                <a:latin typeface="Meiryo UI"/>
                <a:ea typeface="Meiryo UI"/>
              </a:rPr>
              <a:t>国内BU変革PJ専任リーダー（部長級・社内公募含む）</a:t>
            </a:r>
          </a:p>
        </p:txBody>
      </p:sp>
      <p:sp>
        <p:nvSpPr>
          <p:cNvPr id="24" name="Rectangle 23"/>
          <p:cNvSpPr/>
          <p:nvPr/>
        </p:nvSpPr>
        <p:spPr>
          <a:xfrm>
            <a:off x="4572000" y="1755648"/>
            <a:ext cx="1828800" cy="65836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801368"/>
            <a:ext cx="1645920" cy="566928"/>
          </a:xfrm>
          <a:prstGeom prst="rect">
            <a:avLst/>
          </a:prstGeom>
          <a:noFill/>
        </p:spPr>
        <p:txBody>
          <a:bodyPr wrap="square" lIns="0" rIns="0" tIns="0" bIns="0">
            <a:spAutoFit/>
          </a:bodyPr>
          <a:lstStyle/>
          <a:p>
            <a:pPr>
              <a:lnSpc>
                <a:spcPct val="115000"/>
              </a:lnSpc>
            </a:pPr>
            <a:r>
              <a:rPr sz="819" b="1">
                <a:solidFill>
                  <a:srgbClr val="0F5E87"/>
                </a:solidFill>
                <a:latin typeface="Meiryo UI"/>
                <a:ea typeface="Meiryo UI"/>
              </a:rPr>
              <a:t>PM/PMO</a:t>
            </a:r>
          </a:p>
          <a:p>
            <a:pPr>
              <a:lnSpc>
                <a:spcPct val="115000"/>
              </a:lnSpc>
            </a:pPr>
            <a:r>
              <a:rPr sz="680" b="0">
                <a:solidFill>
                  <a:srgbClr val="262626"/>
                </a:solidFill>
                <a:latin typeface="Meiryo UI"/>
                <a:ea typeface="Meiryo UI"/>
              </a:rPr>
              <a:t>デジタル戦略部 ― リーダーとペア運営</a:t>
            </a:r>
          </a:p>
        </p:txBody>
      </p:sp>
      <p:sp>
        <p:nvSpPr>
          <p:cNvPr id="26" name="Rectangle 25"/>
          <p:cNvSpPr/>
          <p:nvPr/>
        </p:nvSpPr>
        <p:spPr>
          <a:xfrm>
            <a:off x="4572000" y="2670048"/>
            <a:ext cx="1828800" cy="658368"/>
          </a:xfrm>
          <a:prstGeom prst="rect">
            <a:avLst/>
          </a:prstGeom>
          <a:solidFill>
            <a:srgbClr val="FFFFFF"/>
          </a:solidFill>
          <a:ln w="1143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15768"/>
            <a:ext cx="1645920" cy="566928"/>
          </a:xfrm>
          <a:prstGeom prst="rect">
            <a:avLst/>
          </a:prstGeom>
          <a:noFill/>
        </p:spPr>
        <p:txBody>
          <a:bodyPr wrap="square" lIns="0" rIns="0" tIns="0" bIns="0">
            <a:spAutoFit/>
          </a:bodyPr>
          <a:lstStyle/>
          <a:p>
            <a:pPr>
              <a:lnSpc>
                <a:spcPct val="115000"/>
              </a:lnSpc>
            </a:pPr>
            <a:r>
              <a:rPr sz="819" b="1">
                <a:solidFill>
                  <a:srgbClr val="595959"/>
                </a:solidFill>
                <a:latin typeface="Meiryo UI"/>
                <a:ea typeface="Meiryo UI"/>
              </a:rPr>
              <a:t>外部支援</a:t>
            </a:r>
          </a:p>
          <a:p>
            <a:pPr>
              <a:lnSpc>
                <a:spcPct val="115000"/>
              </a:lnSpc>
            </a:pPr>
            <a:r>
              <a:rPr sz="680" b="0">
                <a:solidFill>
                  <a:srgbClr val="262626"/>
                </a:solidFill>
                <a:latin typeface="Meiryo UI"/>
                <a:ea typeface="Meiryo UI"/>
              </a:rPr>
              <a:t>MMM・DCRベンダー ― FY26上期に選定（TBA）</a:t>
            </a:r>
          </a:p>
        </p:txBody>
      </p:sp>
      <p:cxnSp>
        <p:nvCxnSpPr>
          <p:cNvPr id="28" name="Connector 27"/>
          <p:cNvCxnSpPr/>
          <p:nvPr/>
        </p:nvCxnSpPr>
        <p:spPr>
          <a:xfrm>
            <a:off x="1874519" y="2112264"/>
            <a:ext cx="274321" cy="0"/>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74519" y="2971800"/>
            <a:ext cx="274321" cy="27432"/>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18688" y="24140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97680" y="2999232"/>
            <a:ext cx="274320" cy="0"/>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18688" y="33284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11480"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B1★</a:t>
            </a:r>
            <a:r>
              <a:rPr sz="740" b="1">
                <a:solidFill>
                  <a:srgbClr val="262626"/>
                </a:solidFill>
                <a:latin typeface="Meiryo UI"/>
                <a:ea typeface="Meiryo UI"/>
              </a:rPr>
              <a:t>　効果測定</a:t>
            </a:r>
          </a:p>
          <a:p>
            <a:pPr>
              <a:lnSpc>
                <a:spcPct val="115000"/>
              </a:lnSpc>
            </a:pPr>
            <a:r>
              <a:rPr sz="660" b="0">
                <a:solidFill>
                  <a:srgbClr val="595959"/>
                </a:solidFill>
                <a:latin typeface="Meiryo UI"/>
                <a:ea typeface="Meiryo UI"/>
              </a:rPr>
              <a:t>PL：TBA</a:t>
            </a:r>
          </a:p>
        </p:txBody>
      </p:sp>
      <p:sp>
        <p:nvSpPr>
          <p:cNvPr id="35" name="Rectangle 34"/>
          <p:cNvSpPr/>
          <p:nvPr/>
        </p:nvSpPr>
        <p:spPr>
          <a:xfrm>
            <a:off x="1618488"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73352"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A1★</a:t>
            </a:r>
            <a:r>
              <a:rPr sz="740" b="1">
                <a:solidFill>
                  <a:srgbClr val="262626"/>
                </a:solidFill>
                <a:latin typeface="Meiryo UI"/>
                <a:ea typeface="Meiryo UI"/>
              </a:rPr>
              <a:t>　商品データ提供</a:t>
            </a:r>
          </a:p>
          <a:p>
            <a:pPr>
              <a:lnSpc>
                <a:spcPct val="115000"/>
              </a:lnSpc>
            </a:pPr>
            <a:r>
              <a:rPr sz="660" b="0">
                <a:solidFill>
                  <a:srgbClr val="595959"/>
                </a:solidFill>
                <a:latin typeface="Meiryo UI"/>
                <a:ea typeface="Meiryo UI"/>
              </a:rPr>
              <a:t>PL：TBA</a:t>
            </a:r>
          </a:p>
        </p:txBody>
      </p:sp>
      <p:sp>
        <p:nvSpPr>
          <p:cNvPr id="37" name="Rectangle 36"/>
          <p:cNvSpPr/>
          <p:nvPr/>
        </p:nvSpPr>
        <p:spPr>
          <a:xfrm>
            <a:off x="2825496"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C1★C2</a:t>
            </a:r>
            <a:r>
              <a:rPr sz="740" b="1">
                <a:solidFill>
                  <a:srgbClr val="262626"/>
                </a:solidFill>
                <a:latin typeface="Meiryo UI"/>
                <a:ea typeface="Meiryo UI"/>
              </a:rPr>
              <a:t>　商談の材料</a:t>
            </a:r>
          </a:p>
          <a:p>
            <a:pPr>
              <a:lnSpc>
                <a:spcPct val="115000"/>
              </a:lnSpc>
            </a:pPr>
            <a:r>
              <a:rPr sz="660" b="0">
                <a:solidFill>
                  <a:srgbClr val="595959"/>
                </a:solidFill>
                <a:latin typeface="Meiryo UI"/>
                <a:ea typeface="Meiryo UI"/>
              </a:rPr>
              <a:t>PL：TBA</a:t>
            </a:r>
          </a:p>
        </p:txBody>
      </p:sp>
      <p:sp>
        <p:nvSpPr>
          <p:cNvPr id="39" name="Rectangle 38"/>
          <p:cNvSpPr/>
          <p:nvPr/>
        </p:nvSpPr>
        <p:spPr>
          <a:xfrm>
            <a:off x="4032504"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87368"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B2</a:t>
            </a:r>
            <a:r>
              <a:rPr sz="740" b="1">
                <a:solidFill>
                  <a:srgbClr val="262626"/>
                </a:solidFill>
                <a:latin typeface="Meiryo UI"/>
                <a:ea typeface="Meiryo UI"/>
              </a:rPr>
              <a:t>　広告自社運用</a:t>
            </a:r>
          </a:p>
          <a:p>
            <a:pPr>
              <a:lnSpc>
                <a:spcPct val="115000"/>
              </a:lnSpc>
            </a:pPr>
            <a:r>
              <a:rPr sz="660" b="0">
                <a:solidFill>
                  <a:srgbClr val="595959"/>
                </a:solidFill>
                <a:latin typeface="Meiryo UI"/>
                <a:ea typeface="Meiryo UI"/>
              </a:rPr>
              <a:t>PL：TBA</a:t>
            </a:r>
          </a:p>
        </p:txBody>
      </p:sp>
      <p:sp>
        <p:nvSpPr>
          <p:cNvPr id="41" name="Rectangle 40"/>
          <p:cNvSpPr/>
          <p:nvPr/>
        </p:nvSpPr>
        <p:spPr>
          <a:xfrm>
            <a:off x="5239512"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D1★D2</a:t>
            </a:r>
            <a:r>
              <a:rPr sz="740" b="1">
                <a:solidFill>
                  <a:srgbClr val="262626"/>
                </a:solidFill>
                <a:latin typeface="Meiryo UI"/>
                <a:ea typeface="Meiryo UI"/>
              </a:rPr>
              <a:t>　時間と体制</a:t>
            </a:r>
          </a:p>
          <a:p>
            <a:pPr>
              <a:lnSpc>
                <a:spcPct val="115000"/>
              </a:lnSpc>
            </a:pPr>
            <a:r>
              <a:rPr sz="660" b="0">
                <a:solidFill>
                  <a:srgbClr val="595959"/>
                </a:solidFill>
                <a:latin typeface="Meiryo UI"/>
                <a:ea typeface="Meiryo UI"/>
              </a:rPr>
              <a:t>PL：TBA</a:t>
            </a:r>
          </a:p>
        </p:txBody>
      </p:sp>
      <p:sp>
        <p:nvSpPr>
          <p:cNvPr id="43" name="Rectangle 42"/>
          <p:cNvSpPr/>
          <p:nvPr/>
        </p:nvSpPr>
        <p:spPr>
          <a:xfrm>
            <a:off x="411480" y="4334256"/>
            <a:ext cx="5897880" cy="658368"/>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389120"/>
            <a:ext cx="5715000" cy="566928"/>
          </a:xfrm>
          <a:prstGeom prst="rect">
            <a:avLst/>
          </a:prstGeom>
          <a:noFill/>
        </p:spPr>
        <p:txBody>
          <a:bodyPr wrap="square" lIns="0" rIns="0" tIns="0" bIns="0">
            <a:spAutoFit/>
          </a:bodyPr>
          <a:lstStyle/>
          <a:p>
            <a:pPr>
              <a:lnSpc>
                <a:spcPct val="118000"/>
              </a:lnSpc>
            </a:pPr>
            <a:r>
              <a:rPr sz="780" b="1">
                <a:solidFill>
                  <a:srgbClr val="008D2E"/>
                </a:solidFill>
                <a:latin typeface="Meiryo UI"/>
                <a:ea typeface="Meiryo UI"/>
              </a:rPr>
              <a:t>実務実行：混成チーム</a:t>
            </a:r>
            <a:r>
              <a:rPr sz="740" b="0">
                <a:solidFill>
                  <a:srgbClr val="262626"/>
                </a:solidFill>
                <a:latin typeface="Meiryo UI"/>
                <a:ea typeface="Meiryo UI"/>
              </a:rPr>
              <a:t>（営業・ブランド・データ・EC・SCM）― 重点1小売×オーラルケアで先行編成。確認ゲート合格ごとにD2のチーム対チーム体制へ拡大</a:t>
            </a:r>
          </a:p>
        </p:txBody>
      </p:sp>
      <p:sp>
        <p:nvSpPr>
          <p:cNvPr id="45" name="TextBox 44"/>
          <p:cNvSpPr txBox="1"/>
          <p:nvPr/>
        </p:nvSpPr>
        <p:spPr>
          <a:xfrm>
            <a:off x="411480" y="5102352"/>
            <a:ext cx="5897880" cy="457200"/>
          </a:xfrm>
          <a:prstGeom prst="rect">
            <a:avLst/>
          </a:prstGeom>
          <a:noFill/>
        </p:spPr>
        <p:txBody>
          <a:bodyPr wrap="square" lIns="0" rIns="0" tIns="0" bIns="0">
            <a:spAutoFit/>
          </a:bodyPr>
          <a:lstStyle/>
          <a:p>
            <a:pPr>
              <a:lnSpc>
                <a:spcPct val="115000"/>
              </a:lnSpc>
            </a:pPr>
            <a:r>
              <a:rPr sz="740" b="1">
                <a:solidFill>
                  <a:srgbClr val="262626"/>
                </a:solidFill>
                <a:latin typeface="Meiryo UI"/>
                <a:ea typeface="Meiryo UI"/>
              </a:rPr>
              <a:t>PLの人選基準：</a:t>
            </a:r>
            <a:r>
              <a:rPr sz="720" b="0">
                <a:solidFill>
                  <a:srgbClr val="595959"/>
                </a:solidFill>
                <a:latin typeface="Meiryo UI"/>
                <a:ea typeface="Meiryo UI"/>
              </a:rPr>
              <a:t>小売との信頼 × データ理解 × 社内を動かせる実績（部長級・社内公募含む）― 選定前のためTBA表記</a:t>
            </a:r>
          </a:p>
        </p:txBody>
      </p:sp>
      <p:sp>
        <p:nvSpPr>
          <p:cNvPr id="46" name="Rectangle 45"/>
          <p:cNvSpPr/>
          <p:nvPr/>
        </p:nvSpPr>
        <p:spPr>
          <a:xfrm>
            <a:off x="6537960" y="1298448"/>
            <a:ext cx="530352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1335024"/>
            <a:ext cx="502920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役割</a:t>
            </a:r>
          </a:p>
        </p:txBody>
      </p:sp>
      <p:sp>
        <p:nvSpPr>
          <p:cNvPr id="48" name="Rectangle 47"/>
          <p:cNvSpPr/>
          <p:nvPr/>
        </p:nvSpPr>
        <p:spPr>
          <a:xfrm>
            <a:off x="6537960" y="175564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181965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オーナー
（担当役員）</a:t>
            </a:r>
          </a:p>
        </p:txBody>
      </p:sp>
      <p:sp>
        <p:nvSpPr>
          <p:cNvPr id="50" name="Rectangle 49"/>
          <p:cNvSpPr/>
          <p:nvPr/>
        </p:nvSpPr>
        <p:spPr>
          <a:xfrm>
            <a:off x="8028431" y="175564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181051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ROI計算式＋撤退基準セットの最終承認。確認ゲートでの合否・撤退の意思決定</a:t>
            </a:r>
          </a:p>
        </p:txBody>
      </p:sp>
      <p:sp>
        <p:nvSpPr>
          <p:cNvPr id="52" name="Rectangle 51"/>
          <p:cNvSpPr/>
          <p:nvPr/>
        </p:nvSpPr>
        <p:spPr>
          <a:xfrm>
            <a:off x="6537960" y="2432304"/>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11112" y="2496312"/>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テーマ別役員
オーナー（5名）</a:t>
            </a:r>
          </a:p>
        </p:txBody>
      </p:sp>
      <p:sp>
        <p:nvSpPr>
          <p:cNvPr id="54" name="Rectangle 53"/>
          <p:cNvSpPr/>
          <p:nvPr/>
        </p:nvSpPr>
        <p:spPr>
          <a:xfrm>
            <a:off x="8028431" y="2432304"/>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19872" y="2487168"/>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5経営テーマに各1名。最上位KPI（増分粗利）に接続しない施策の追加を却下 ― 手段の目的化を防ぐ</a:t>
            </a:r>
          </a:p>
        </p:txBody>
      </p:sp>
      <p:sp>
        <p:nvSpPr>
          <p:cNvPr id="56" name="Rectangle 55"/>
          <p:cNvSpPr/>
          <p:nvPr/>
        </p:nvSpPr>
        <p:spPr>
          <a:xfrm>
            <a:off x="6537960" y="3108960"/>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11112" y="3172968"/>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推進責任者</a:t>
            </a:r>
          </a:p>
        </p:txBody>
      </p:sp>
      <p:sp>
        <p:nvSpPr>
          <p:cNvPr id="58" name="Rectangle 57"/>
          <p:cNvSpPr/>
          <p:nvPr/>
        </p:nvSpPr>
        <p:spPr>
          <a:xfrm>
            <a:off x="8028431" y="3108960"/>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19872" y="3163824"/>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4市場の型（P.9）の設計、実行計画と課題解決、四半期検証レポートの報告</a:t>
            </a:r>
          </a:p>
        </p:txBody>
      </p:sp>
      <p:sp>
        <p:nvSpPr>
          <p:cNvPr id="60" name="Rectangle 59"/>
          <p:cNvSpPr/>
          <p:nvPr/>
        </p:nvSpPr>
        <p:spPr>
          <a:xfrm>
            <a:off x="6537960" y="3785616"/>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11112" y="3849624"/>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PM/PMO
（デジタル戦略部）</a:t>
            </a:r>
          </a:p>
        </p:txBody>
      </p:sp>
      <p:sp>
        <p:nvSpPr>
          <p:cNvPr id="62" name="Rectangle 61"/>
          <p:cNvSpPr/>
          <p:nvPr/>
        </p:nvSpPr>
        <p:spPr>
          <a:xfrm>
            <a:off x="8028431" y="3785616"/>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19872" y="3840480"/>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B1（効果測定基盤）の実測運用、進捗・品質・リスク管理、部門・外部ベンダー間の連携構築</a:t>
            </a:r>
          </a:p>
        </p:txBody>
      </p:sp>
      <p:sp>
        <p:nvSpPr>
          <p:cNvPr id="64" name="Rectangle 63"/>
          <p:cNvSpPr/>
          <p:nvPr/>
        </p:nvSpPr>
        <p:spPr>
          <a:xfrm>
            <a:off x="6537960" y="4462272"/>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11112" y="4526280"/>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PL
（施策リーダー）</a:t>
            </a:r>
          </a:p>
        </p:txBody>
      </p:sp>
      <p:sp>
        <p:nvSpPr>
          <p:cNvPr id="66" name="Rectangle 65"/>
          <p:cNvSpPr/>
          <p:nvPr/>
        </p:nvSpPr>
        <p:spPr>
          <a:xfrm>
            <a:off x="8028431" y="4462272"/>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19872" y="4517136"/>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担当施策のROI計算式・撤退基準の起案と効果検証 ― 検証責任は提案側が持つ</a:t>
            </a:r>
          </a:p>
        </p:txBody>
      </p:sp>
      <p:sp>
        <p:nvSpPr>
          <p:cNvPr id="68" name="Rectangle 67"/>
          <p:cNvSpPr/>
          <p:nvPr/>
        </p:nvSpPr>
        <p:spPr>
          <a:xfrm>
            <a:off x="6537960" y="513892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11112" y="520293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メンバー
（混成チーム）</a:t>
            </a:r>
          </a:p>
        </p:txBody>
      </p:sp>
      <p:sp>
        <p:nvSpPr>
          <p:cNvPr id="70" name="Rectangle 69"/>
          <p:cNvSpPr/>
          <p:nvPr/>
        </p:nvSpPr>
        <p:spPr>
          <a:xfrm>
            <a:off x="8028431" y="513892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19379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重点1小売×オーラルでの実行・共同事業の商談。評価は訪問件数から共同事業の達成率・増分粗利へ</a:t>
            </a:r>
          </a:p>
        </p:txBody>
      </p:sp>
      <p:sp>
        <p:nvSpPr>
          <p:cNvPr id="72" name="Rectangle 71"/>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マイルストーン（FY26–FY30）― 変革テーマ別ロードマップ</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確認ゲート（赤の縦破線）に合格したときだけ投資と組織変更を拡大する ― 不合格なら拡大せず、手順を直して再挑戦する</a:t>
            </a:r>
          </a:p>
        </p:txBody>
      </p:sp>
      <p:sp>
        <p:nvSpPr>
          <p:cNvPr id="14" name="Rectangle 13"/>
          <p:cNvSpPr/>
          <p:nvPr/>
        </p:nvSpPr>
        <p:spPr>
          <a:xfrm>
            <a:off x="2514600" y="1298448"/>
            <a:ext cx="14356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1335024"/>
            <a:ext cx="13258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FY26下期</a:t>
            </a:r>
          </a:p>
        </p:txBody>
      </p:sp>
      <p:sp>
        <p:nvSpPr>
          <p:cNvPr id="16" name="Rectangle 15"/>
          <p:cNvSpPr/>
          <p:nvPr/>
        </p:nvSpPr>
        <p:spPr>
          <a:xfrm>
            <a:off x="397763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250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FY27</a:t>
            </a:r>
          </a:p>
        </p:txBody>
      </p:sp>
      <p:sp>
        <p:nvSpPr>
          <p:cNvPr id="18" name="Rectangle 17"/>
          <p:cNvSpPr/>
          <p:nvPr/>
        </p:nvSpPr>
        <p:spPr>
          <a:xfrm>
            <a:off x="589787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5274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FY28</a:t>
            </a:r>
          </a:p>
        </p:txBody>
      </p:sp>
      <p:sp>
        <p:nvSpPr>
          <p:cNvPr id="20" name="Rectangle 19"/>
          <p:cNvSpPr/>
          <p:nvPr/>
        </p:nvSpPr>
        <p:spPr>
          <a:xfrm>
            <a:off x="781811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298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FY29</a:t>
            </a:r>
          </a:p>
        </p:txBody>
      </p:sp>
      <p:sp>
        <p:nvSpPr>
          <p:cNvPr id="22" name="Rectangle 21"/>
          <p:cNvSpPr/>
          <p:nvPr/>
        </p:nvSpPr>
        <p:spPr>
          <a:xfrm>
            <a:off x="973835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3224"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FY30</a:t>
            </a:r>
          </a:p>
        </p:txBody>
      </p:sp>
      <p:cxnSp>
        <p:nvCxnSpPr>
          <p:cNvPr id="24" name="Connector 23"/>
          <p:cNvCxnSpPr/>
          <p:nvPr/>
        </p:nvCxnSpPr>
        <p:spPr>
          <a:xfrm>
            <a:off x="397763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7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812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73836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20040" y="1627632"/>
            <a:ext cx="146304" cy="1005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168249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A1★ 商品データを
AI・小売へ提供</a:t>
            </a:r>
          </a:p>
        </p:txBody>
      </p:sp>
      <p:sp>
        <p:nvSpPr>
          <p:cNvPr id="30" name="Rectangle 29"/>
          <p:cNvSpPr/>
          <p:nvPr/>
        </p:nvSpPr>
        <p:spPr>
          <a:xfrm>
            <a:off x="2532888" y="1700784"/>
            <a:ext cx="236829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06040" y="1764792"/>
            <a:ext cx="224027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商品データを整備しAPIで公開</a:t>
            </a:r>
          </a:p>
        </p:txBody>
      </p:sp>
      <p:sp>
        <p:nvSpPr>
          <p:cNvPr id="32" name="Rectangle 31"/>
          <p:cNvSpPr/>
          <p:nvPr/>
        </p:nvSpPr>
        <p:spPr>
          <a:xfrm>
            <a:off x="4956047" y="1700784"/>
            <a:ext cx="282549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199" y="1764792"/>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小売・AIへの提供開始と効果の実測</a:t>
            </a:r>
          </a:p>
        </p:txBody>
      </p:sp>
      <p:sp>
        <p:nvSpPr>
          <p:cNvPr id="34" name="Rectangle 33"/>
          <p:cNvSpPr/>
          <p:nvPr/>
        </p:nvSpPr>
        <p:spPr>
          <a:xfrm>
            <a:off x="7836408" y="1700784"/>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1764792"/>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対象小売を順次拡大</a:t>
            </a:r>
          </a:p>
        </p:txBody>
      </p:sp>
      <p:sp>
        <p:nvSpPr>
          <p:cNvPr id="36" name="TextBox 35"/>
          <p:cNvSpPr txBox="1"/>
          <p:nvPr/>
        </p:nvSpPr>
        <p:spPr>
          <a:xfrm>
            <a:off x="548640" y="221284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A2 学校・健診の
デジタル接点化</a:t>
            </a:r>
          </a:p>
        </p:txBody>
      </p:sp>
      <p:sp>
        <p:nvSpPr>
          <p:cNvPr id="37" name="Rectangle 36"/>
          <p:cNvSpPr/>
          <p:nvPr/>
        </p:nvSpPr>
        <p:spPr>
          <a:xfrm>
            <a:off x="3264408" y="2231136"/>
            <a:ext cx="67665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2295144"/>
            <a:ext cx="54863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設計</a:t>
            </a:r>
          </a:p>
        </p:txBody>
      </p:sp>
      <p:sp>
        <p:nvSpPr>
          <p:cNvPr id="39" name="Rectangle 38"/>
          <p:cNvSpPr/>
          <p:nvPr/>
        </p:nvSpPr>
        <p:spPr>
          <a:xfrm>
            <a:off x="3995927" y="2231136"/>
            <a:ext cx="378561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69079" y="229514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学校・健診でデジタル教材と診断アプリを試験導入</a:t>
            </a:r>
          </a:p>
        </p:txBody>
      </p:sp>
      <p:sp>
        <p:nvSpPr>
          <p:cNvPr id="41" name="Rectangle 40"/>
          <p:cNvSpPr/>
          <p:nvPr/>
        </p:nvSpPr>
        <p:spPr>
          <a:xfrm>
            <a:off x="7836408" y="2231136"/>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9560" y="2295144"/>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自治体・学校へ拡大</a:t>
            </a:r>
          </a:p>
        </p:txBody>
      </p:sp>
      <p:sp>
        <p:nvSpPr>
          <p:cNvPr id="43" name="Rectangle 42"/>
          <p:cNvSpPr/>
          <p:nvPr/>
        </p:nvSpPr>
        <p:spPr>
          <a:xfrm>
            <a:off x="320040" y="2688336"/>
            <a:ext cx="146304" cy="100584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274320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B1★ 投資効果を
金額で測定</a:t>
            </a:r>
          </a:p>
        </p:txBody>
      </p:sp>
      <p:sp>
        <p:nvSpPr>
          <p:cNvPr id="45" name="Rectangle 44"/>
          <p:cNvSpPr/>
          <p:nvPr/>
        </p:nvSpPr>
        <p:spPr>
          <a:xfrm>
            <a:off x="2532888" y="2761488"/>
            <a:ext cx="14081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06040" y="2825496"/>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AI推奨シェアの測定開始・基準値づくり</a:t>
            </a:r>
          </a:p>
        </p:txBody>
      </p:sp>
      <p:sp>
        <p:nvSpPr>
          <p:cNvPr id="47" name="Rectangle 46"/>
          <p:cNvSpPr/>
          <p:nvPr/>
        </p:nvSpPr>
        <p:spPr>
          <a:xfrm>
            <a:off x="3995927" y="2761488"/>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69079" y="2825496"/>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広告・販促の効果測定の仕組みを確立</a:t>
            </a:r>
          </a:p>
        </p:txBody>
      </p:sp>
      <p:sp>
        <p:nvSpPr>
          <p:cNvPr id="49" name="Rectangle 48"/>
          <p:cNvSpPr/>
          <p:nvPr/>
        </p:nvSpPr>
        <p:spPr>
          <a:xfrm>
            <a:off x="7836408" y="2761488"/>
            <a:ext cx="378561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09560" y="2825496"/>
            <a:ext cx="365759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全施策の投資判断に適用</a:t>
            </a:r>
          </a:p>
        </p:txBody>
      </p:sp>
      <p:sp>
        <p:nvSpPr>
          <p:cNvPr id="51" name="TextBox 50"/>
          <p:cNvSpPr txBox="1"/>
          <p:nvPr/>
        </p:nvSpPr>
        <p:spPr>
          <a:xfrm>
            <a:off x="548640" y="3273552"/>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B2 小売広告の
自社運用化</a:t>
            </a:r>
          </a:p>
        </p:txBody>
      </p:sp>
      <p:sp>
        <p:nvSpPr>
          <p:cNvPr id="52" name="Rectangle 51"/>
          <p:cNvSpPr/>
          <p:nvPr/>
        </p:nvSpPr>
        <p:spPr>
          <a:xfrm>
            <a:off x="3995927" y="3291840"/>
            <a:ext cx="18653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69079" y="3355848"/>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小売サイト広告の運用を一元管理</a:t>
            </a:r>
          </a:p>
        </p:txBody>
      </p:sp>
      <p:sp>
        <p:nvSpPr>
          <p:cNvPr id="54" name="Rectangle 53"/>
          <p:cNvSpPr/>
          <p:nvPr/>
        </p:nvSpPr>
        <p:spPr>
          <a:xfrm>
            <a:off x="5916167" y="3291840"/>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89319" y="3355848"/>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自社運用に切り替え</a:t>
            </a:r>
          </a:p>
        </p:txBody>
      </p:sp>
      <p:sp>
        <p:nvSpPr>
          <p:cNvPr id="56" name="Rectangle 55"/>
          <p:cNvSpPr/>
          <p:nvPr/>
        </p:nvSpPr>
        <p:spPr>
          <a:xfrm>
            <a:off x="9756648" y="3291840"/>
            <a:ext cx="186537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29800" y="3355848"/>
            <a:ext cx="173735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標準化</a:t>
            </a:r>
          </a:p>
        </p:txBody>
      </p:sp>
      <p:sp>
        <p:nvSpPr>
          <p:cNvPr id="58" name="Rectangle 57"/>
          <p:cNvSpPr/>
          <p:nvPr/>
        </p:nvSpPr>
        <p:spPr>
          <a:xfrm>
            <a:off x="320040" y="3749040"/>
            <a:ext cx="146304" cy="100584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3803904"/>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C1★ 臨床データを
商談の数字に</a:t>
            </a:r>
          </a:p>
        </p:txBody>
      </p:sp>
      <p:sp>
        <p:nvSpPr>
          <p:cNvPr id="60" name="Rectangle 59"/>
          <p:cNvSpPr/>
          <p:nvPr/>
        </p:nvSpPr>
        <p:spPr>
          <a:xfrm>
            <a:off x="3264408" y="3822192"/>
            <a:ext cx="1636775"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37560" y="3886200"/>
            <a:ext cx="15087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重点小売2社で歯ぐきケアの共同事業を開始</a:t>
            </a:r>
          </a:p>
        </p:txBody>
      </p:sp>
      <p:sp>
        <p:nvSpPr>
          <p:cNvPr id="62" name="Rectangle 61"/>
          <p:cNvSpPr/>
          <p:nvPr/>
        </p:nvSpPr>
        <p:spPr>
          <a:xfrm>
            <a:off x="4956047" y="3822192"/>
            <a:ext cx="282549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199" y="3886200"/>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値引きに頼らない商談と、歯科経由の販売を実証</a:t>
            </a:r>
          </a:p>
        </p:txBody>
      </p:sp>
      <p:sp>
        <p:nvSpPr>
          <p:cNvPr id="64" name="Rectangle 63"/>
          <p:cNvSpPr/>
          <p:nvPr/>
        </p:nvSpPr>
        <p:spPr>
          <a:xfrm>
            <a:off x="7836408" y="3822192"/>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09560" y="3886200"/>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臨床データ基盤の本格稼働・対象拡大</a:t>
            </a:r>
          </a:p>
        </p:txBody>
      </p:sp>
      <p:sp>
        <p:nvSpPr>
          <p:cNvPr id="66" name="TextBox 65"/>
          <p:cNvSpPr txBox="1"/>
          <p:nvPr/>
        </p:nvSpPr>
        <p:spPr>
          <a:xfrm>
            <a:off x="548640" y="433425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C2 成功商談の
標準形づくり</a:t>
            </a:r>
          </a:p>
        </p:txBody>
      </p:sp>
      <p:sp>
        <p:nvSpPr>
          <p:cNvPr id="67" name="Rectangle 66"/>
          <p:cNvSpPr/>
          <p:nvPr/>
        </p:nvSpPr>
        <p:spPr>
          <a:xfrm>
            <a:off x="3995927" y="4352544"/>
            <a:ext cx="378561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69079" y="4416552"/>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成功した商談を標準の提案書式として整備</a:t>
            </a:r>
          </a:p>
        </p:txBody>
      </p:sp>
      <p:sp>
        <p:nvSpPr>
          <p:cNvPr id="69" name="Rectangle 68"/>
          <p:cNvSpPr/>
          <p:nvPr/>
        </p:nvSpPr>
        <p:spPr>
          <a:xfrm>
            <a:off x="7836408" y="4352544"/>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09560" y="4416552"/>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全営業の標準装備にする</a:t>
            </a:r>
          </a:p>
        </p:txBody>
      </p:sp>
      <p:sp>
        <p:nvSpPr>
          <p:cNvPr id="71" name="Rectangle 70"/>
          <p:cNvSpPr/>
          <p:nvPr/>
        </p:nvSpPr>
        <p:spPr>
          <a:xfrm>
            <a:off x="320040" y="4809744"/>
            <a:ext cx="146304" cy="100584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486460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D1★ 資料作成の
AI自動化</a:t>
            </a:r>
          </a:p>
        </p:txBody>
      </p:sp>
      <p:sp>
        <p:nvSpPr>
          <p:cNvPr id="73" name="Rectangle 72"/>
          <p:cNvSpPr/>
          <p:nvPr/>
        </p:nvSpPr>
        <p:spPr>
          <a:xfrm>
            <a:off x="2532888" y="4882896"/>
            <a:ext cx="14081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06040" y="4946904"/>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生成AIで資料作成を3割削減</a:t>
            </a:r>
          </a:p>
        </p:txBody>
      </p:sp>
      <p:sp>
        <p:nvSpPr>
          <p:cNvPr id="75" name="Rectangle 74"/>
          <p:cNvSpPr/>
          <p:nvPr/>
        </p:nvSpPr>
        <p:spPr>
          <a:xfrm>
            <a:off x="3995927" y="4882896"/>
            <a:ext cx="378561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069079" y="494690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事務時間を半分まで削減</a:t>
            </a:r>
          </a:p>
        </p:txBody>
      </p:sp>
      <p:sp>
        <p:nvSpPr>
          <p:cNvPr id="77" name="Rectangle 76"/>
          <p:cNvSpPr/>
          <p:nvPr/>
        </p:nvSpPr>
        <p:spPr>
          <a:xfrm>
            <a:off x="7836408" y="4882896"/>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09560" y="4946904"/>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削減した状態を運用に定着</a:t>
            </a:r>
          </a:p>
        </p:txBody>
      </p:sp>
      <p:sp>
        <p:nvSpPr>
          <p:cNvPr id="79" name="TextBox 78"/>
          <p:cNvSpPr txBox="1"/>
          <p:nvPr/>
        </p:nvSpPr>
        <p:spPr>
          <a:xfrm>
            <a:off x="548640" y="539496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D2 チーム対チーム
営業へ再編</a:t>
            </a:r>
          </a:p>
        </p:txBody>
      </p:sp>
      <p:sp>
        <p:nvSpPr>
          <p:cNvPr id="80" name="Rectangle 79"/>
          <p:cNvSpPr/>
          <p:nvPr/>
        </p:nvSpPr>
        <p:spPr>
          <a:xfrm>
            <a:off x="3995927" y="5413248"/>
            <a:ext cx="18653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069079" y="5477256"/>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営業・ブランド・データの混成チームを先行編成</a:t>
            </a:r>
          </a:p>
        </p:txBody>
      </p:sp>
      <p:sp>
        <p:nvSpPr>
          <p:cNvPr id="82" name="Rectangle 81"/>
          <p:cNvSpPr/>
          <p:nvPr/>
        </p:nvSpPr>
        <p:spPr>
          <a:xfrm>
            <a:off x="5916167" y="5413248"/>
            <a:ext cx="186537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89319" y="5477256"/>
            <a:ext cx="173736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確認2合格後に正式組織化</a:t>
            </a:r>
          </a:p>
        </p:txBody>
      </p:sp>
      <p:sp>
        <p:nvSpPr>
          <p:cNvPr id="84" name="Rectangle 83"/>
          <p:cNvSpPr/>
          <p:nvPr/>
        </p:nvSpPr>
        <p:spPr>
          <a:xfrm>
            <a:off x="7836408" y="5413248"/>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09560" y="5477256"/>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全社展開・評価制度の切替</a:t>
            </a:r>
          </a:p>
        </p:txBody>
      </p:sp>
      <p:cxnSp>
        <p:nvCxnSpPr>
          <p:cNvPr id="86" name="Connector 85"/>
          <p:cNvCxnSpPr/>
          <p:nvPr/>
        </p:nvCxnSpPr>
        <p:spPr>
          <a:xfrm>
            <a:off x="4937759"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2461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確認1 FY27夏：値引きに頼らない商談の成立＋事務3割減
→ 合格なら拡大投資を解禁</a:t>
            </a:r>
          </a:p>
        </p:txBody>
      </p:sp>
      <p:cxnSp>
        <p:nvCxnSpPr>
          <p:cNvPr id="88" name="Connector 87"/>
          <p:cNvCxnSpPr/>
          <p:nvPr/>
        </p:nvCxnSpPr>
        <p:spPr>
          <a:xfrm>
            <a:off x="7818120"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17220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確認2 FY28末：共同事業を他社でも再現＋歯科経由販売の実証
→ 合格なら組織を正式化し、データ基盤に本格投資</a:t>
            </a:r>
          </a:p>
        </p:txBody>
      </p:sp>
      <p:cxnSp>
        <p:nvCxnSpPr>
          <p:cNvPr id="90" name="Connector 89"/>
          <p:cNvCxnSpPr/>
          <p:nvPr/>
        </p:nvCxnSpPr>
        <p:spPr>
          <a:xfrm>
            <a:off x="11600992"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897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確認3 FY30：統合報告書でKPIを開示
→ 全社標準化・評価制度の切替</a:t>
            </a:r>
          </a:p>
        </p:txBody>
      </p:sp>
      <p:sp>
        <p:nvSpPr>
          <p:cNvPr id="92" name="Rectangle 91"/>
          <p:cNvSpPr/>
          <p:nvPr/>
        </p:nvSpPr>
        <p:spPr>
          <a:xfrm>
            <a:off x="320040" y="6355080"/>
            <a:ext cx="11521440" cy="38404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391656"/>
            <a:ext cx="11292840" cy="310896"/>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2030年以降：</a:t>
            </a:r>
            <a:r>
              <a:rPr sz="800" b="0">
                <a:solidFill>
                  <a:srgbClr val="262626"/>
                </a:solidFill>
                <a:latin typeface="Meiryo UI"/>
                <a:ea typeface="Meiryo UI"/>
              </a:rPr>
              <a:t>確立した勝ち方を全カテゴリ・主要小売へ標準展開し、2035年に新規領域が収益の柱、2040年に「予防習慣のインフラ企業」へ ― ゲート不合格なら拡大せず、詰まった手順を直して再挑戦する。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KGI/KPI体系 ― 金額はKGI一本で数え、KPIは先行きを照らす計器盤</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二重計上を設計で排除：増分粗利は「施策あり/なし店舗の比較＋MMM」でのみ計上し、顧客は12カ月ルールで新規/継続に排他分類。KPIは金額換算しない</a:t>
            </a:r>
          </a:p>
        </p:txBody>
      </p:sp>
      <p:sp>
        <p:nvSpPr>
          <p:cNvPr id="14" name="TextBox 13"/>
          <p:cNvSpPr txBox="1"/>
          <p:nvPr/>
        </p:nvSpPr>
        <p:spPr>
          <a:xfrm>
            <a:off x="7315200" y="1207008"/>
            <a:ext cx="4526280" cy="219456"/>
          </a:xfrm>
          <a:prstGeom prst="rect">
            <a:avLst/>
          </a:prstGeom>
          <a:noFill/>
        </p:spPr>
        <p:txBody>
          <a:bodyPr wrap="square" lIns="0" rIns="0" tIns="0" bIns="0">
            <a:spAutoFit/>
          </a:bodyPr>
          <a:lstStyle/>
          <a:p>
            <a:pPr>
              <a:lnSpc>
                <a:spcPct val="112000"/>
              </a:lnSpc>
            </a:pPr>
            <a:r>
              <a:rPr sz="720" b="1">
                <a:solidFill>
                  <a:srgbClr val="595959"/>
                </a:solidFill>
                <a:latin typeface="Meiryo UI"/>
                <a:ea typeface="Meiryo UI"/>
              </a:rPr>
              <a:t>実線＝金額を合算する線（この2本だけ）／破線＝先行指標の対応（金額は流れない）</a:t>
            </a:r>
          </a:p>
        </p:txBody>
      </p:sp>
      <p:sp>
        <p:nvSpPr>
          <p:cNvPr id="15" name="Rectangle 14"/>
          <p:cNvSpPr/>
          <p:nvPr/>
        </p:nvSpPr>
        <p:spPr>
          <a:xfrm>
            <a:off x="3566160" y="1481328"/>
            <a:ext cx="5029200" cy="786384"/>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1554480"/>
            <a:ext cx="4754880" cy="676656"/>
          </a:xfrm>
          <a:prstGeom prst="rect">
            <a:avLst/>
          </a:prstGeom>
          <a:noFill/>
        </p:spPr>
        <p:txBody>
          <a:bodyPr wrap="square" lIns="0" rIns="0" tIns="0" bIns="0">
            <a:spAutoFit/>
          </a:bodyPr>
          <a:lstStyle/>
          <a:p>
            <a:pPr>
              <a:lnSpc>
                <a:spcPct val="118000"/>
              </a:lnSpc>
            </a:pPr>
            <a:r>
              <a:rPr sz="1100" b="1">
                <a:solidFill>
                  <a:srgbClr val="FFFFFF"/>
                </a:solidFill>
                <a:latin typeface="Meiryo UI"/>
                <a:ea typeface="Meiryo UI"/>
              </a:rPr>
              <a:t>KGI：増分粗利（オーラルケア事業）</a:t>
            </a:r>
          </a:p>
          <a:p>
            <a:pPr>
              <a:lnSpc>
                <a:spcPct val="118000"/>
              </a:lnSpc>
            </a:pPr>
            <a:r>
              <a:rPr sz="720" b="0">
                <a:solidFill>
                  <a:srgbClr val="FFFFFF"/>
                </a:solidFill>
                <a:latin typeface="Meiryo UI"/>
                <a:ea typeface="Meiryo UI"/>
              </a:rPr>
              <a:t>計上＝施策あり/なし店舗の比較＋MMMで測れた増分のみ。年1回・幅（レンジ）で確定し、重点小売別・4市場別の内訳を表示（旧U4はこの内訳に統合）</a:t>
            </a:r>
          </a:p>
        </p:txBody>
      </p:sp>
      <p:sp>
        <p:nvSpPr>
          <p:cNvPr id="17" name="Rectangle 16"/>
          <p:cNvSpPr/>
          <p:nvPr/>
        </p:nvSpPr>
        <p:spPr>
          <a:xfrm>
            <a:off x="914400" y="2697480"/>
            <a:ext cx="4206240" cy="5669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761488"/>
            <a:ext cx="3931920" cy="45720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新規からの増分粗利</a:t>
            </a:r>
            <a:r>
              <a:rPr sz="740" b="0">
                <a:solidFill>
                  <a:srgbClr val="FFFFFF"/>
                </a:solidFill>
                <a:latin typeface="Meiryo UI"/>
                <a:ea typeface="Meiryo UI"/>
              </a:rPr>
              <a:t>　初回購入から12カ月の顧客（N-t-C）</a:t>
            </a:r>
          </a:p>
        </p:txBody>
      </p:sp>
      <p:sp>
        <p:nvSpPr>
          <p:cNvPr id="19" name="Rectangle 18"/>
          <p:cNvSpPr/>
          <p:nvPr/>
        </p:nvSpPr>
        <p:spPr>
          <a:xfrm>
            <a:off x="7086600" y="2697480"/>
            <a:ext cx="4206240" cy="5669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0" y="2761488"/>
            <a:ext cx="3931920" cy="45720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継続からの増分粗利</a:t>
            </a:r>
            <a:r>
              <a:rPr sz="740" b="0">
                <a:solidFill>
                  <a:srgbClr val="FFFFFF"/>
                </a:solidFill>
                <a:latin typeface="Meiryo UI"/>
                <a:ea typeface="Meiryo UI"/>
              </a:rPr>
              <a:t>　13カ月目以降の顧客（LTV）</a:t>
            </a:r>
          </a:p>
        </p:txBody>
      </p:sp>
      <p:sp>
        <p:nvSpPr>
          <p:cNvPr id="21" name="TextBox 20"/>
          <p:cNvSpPr txBox="1"/>
          <p:nvPr/>
        </p:nvSpPr>
        <p:spPr>
          <a:xfrm>
            <a:off x="5212080" y="2798064"/>
            <a:ext cx="1828800" cy="365760"/>
          </a:xfrm>
          <a:prstGeom prst="rect">
            <a:avLst/>
          </a:prstGeom>
          <a:noFill/>
        </p:spPr>
        <p:txBody>
          <a:bodyPr wrap="square" lIns="0" rIns="0" tIns="0" bIns="0">
            <a:spAutoFit/>
          </a:bodyPr>
          <a:lstStyle/>
          <a:p>
            <a:pPr>
              <a:lnSpc>
                <a:spcPct val="115000"/>
              </a:lnSpc>
            </a:pPr>
            <a:r>
              <a:rPr sz="680" b="1">
                <a:solidFill>
                  <a:srgbClr val="C8102E"/>
                </a:solidFill>
                <a:latin typeface="Meiryo UI"/>
                <a:ea typeface="Meiryo UI"/>
              </a:rPr>
              <a:t>12カ月ルールで排他分類
＝同じ顧客を二度数えない</a:t>
            </a:r>
          </a:p>
        </p:txBody>
      </p:sp>
      <p:cxnSp>
        <p:nvCxnSpPr>
          <p:cNvPr id="22" name="Connector 21"/>
          <p:cNvCxnSpPr/>
          <p:nvPr/>
        </p:nvCxnSpPr>
        <p:spPr>
          <a:xfrm flipH="1">
            <a:off x="3017520" y="2267712"/>
            <a:ext cx="3063240" cy="429768"/>
          </a:xfrm>
          <a:prstGeom prst="line">
            <a:avLst/>
          </a:prstGeom>
          <a:ln w="20320">
            <a:solidFill>
              <a:srgbClr val="26262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80760" y="2267712"/>
            <a:ext cx="3108960" cy="429768"/>
          </a:xfrm>
          <a:prstGeom prst="line">
            <a:avLst/>
          </a:prstGeom>
          <a:ln w="20320">
            <a:solidFill>
              <a:srgbClr val="26262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0040" y="3429000"/>
            <a:ext cx="7315200" cy="219456"/>
          </a:xfrm>
          <a:prstGeom prst="rect">
            <a:avLst/>
          </a:prstGeom>
          <a:noFill/>
        </p:spPr>
        <p:txBody>
          <a:bodyPr wrap="square" lIns="0" rIns="0" tIns="0" bIns="0">
            <a:spAutoFit/>
          </a:bodyPr>
          <a:lstStyle/>
          <a:p>
            <a:pPr>
              <a:lnSpc>
                <a:spcPct val="112000"/>
              </a:lnSpc>
            </a:pPr>
            <a:r>
              <a:rPr sz="850" b="1">
                <a:solidFill>
                  <a:srgbClr val="595959"/>
                </a:solidFill>
                <a:latin typeface="Meiryo UI"/>
                <a:ea typeface="Meiryo UI"/>
              </a:rPr>
              <a:t>ドライバーKPI（先行指標）― 金額換算・合算はしない。破線の先の「枝の伸び」を先回りで照らす</a:t>
            </a:r>
          </a:p>
        </p:txBody>
      </p:sp>
      <p:cxnSp>
        <p:nvCxnSpPr>
          <p:cNvPr id="25" name="Connector 24"/>
          <p:cNvCxnSpPr/>
          <p:nvPr/>
        </p:nvCxnSpPr>
        <p:spPr>
          <a:xfrm flipH="1">
            <a:off x="1431036" y="3264408"/>
            <a:ext cx="1586484" cy="530352"/>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20040" y="3794760"/>
            <a:ext cx="2221992" cy="192024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794760"/>
            <a:ext cx="2221992" cy="4572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3192" y="3840480"/>
            <a:ext cx="2075688" cy="384048"/>
          </a:xfrm>
          <a:prstGeom prst="rect">
            <a:avLst/>
          </a:prstGeom>
          <a:noFill/>
        </p:spPr>
        <p:txBody>
          <a:bodyPr wrap="square" lIns="0" rIns="0" tIns="0" bIns="0">
            <a:spAutoFit/>
          </a:bodyPr>
          <a:lstStyle/>
          <a:p>
            <a:pPr>
              <a:lnSpc>
                <a:spcPct val="110000"/>
              </a:lnSpc>
            </a:pPr>
            <a:r>
              <a:rPr sz="819" b="1">
                <a:solidFill>
                  <a:srgbClr val="FFFFFF"/>
                </a:solidFill>
                <a:latin typeface="Meiryo UI"/>
                <a:ea typeface="Meiryo UI"/>
              </a:rPr>
              <a:t>K1 AI推奨シェア
（AIEO Rate）</a:t>
            </a:r>
          </a:p>
        </p:txBody>
      </p:sp>
      <p:sp>
        <p:nvSpPr>
          <p:cNvPr id="29" name="TextBox 28"/>
          <p:cNvSpPr txBox="1"/>
          <p:nvPr/>
        </p:nvSpPr>
        <p:spPr>
          <a:xfrm>
            <a:off x="411479" y="4325112"/>
            <a:ext cx="2039112" cy="1042415"/>
          </a:xfrm>
          <a:prstGeom prst="rect">
            <a:avLst/>
          </a:prstGeom>
          <a:noFill/>
        </p:spPr>
        <p:txBody>
          <a:bodyPr wrap="square" lIns="0" rIns="0" tIns="0" bIns="0">
            <a:spAutoFit/>
          </a:bodyPr>
          <a:lstStyle/>
          <a:p>
            <a:pPr>
              <a:lnSpc>
                <a:spcPct val="116000"/>
              </a:lnSpc>
            </a:pPr>
            <a:r>
              <a:rPr sz="690" b="0">
                <a:solidFill>
                  <a:srgbClr val="262626"/>
                </a:solidFill>
                <a:latin typeface="Meiryo UI"/>
                <a:ea typeface="Meiryo UI"/>
              </a:rPr>
              <a:t>固定の質問200問を月次で各AIに3回ずつ投げ、ライオンが推奨・引用された割合の平均（IR開示：高）</a:t>
            </a:r>
          </a:p>
        </p:txBody>
      </p:sp>
      <p:sp>
        <p:nvSpPr>
          <p:cNvPr id="30" name="Rectangle 29"/>
          <p:cNvSpPr/>
          <p:nvPr/>
        </p:nvSpPr>
        <p:spPr>
          <a:xfrm>
            <a:off x="411479" y="5422392"/>
            <a:ext cx="987552"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4" y="5458968"/>
            <a:ext cx="914400" cy="164592"/>
          </a:xfrm>
          <a:prstGeom prst="rect">
            <a:avLst/>
          </a:prstGeom>
          <a:noFill/>
        </p:spPr>
        <p:txBody>
          <a:bodyPr wrap="square" lIns="0" rIns="0" tIns="0" bIns="0">
            <a:spAutoFit/>
          </a:bodyPr>
          <a:lstStyle/>
          <a:p>
            <a:pPr>
              <a:lnSpc>
                <a:spcPct val="112000"/>
              </a:lnSpc>
            </a:pPr>
            <a:r>
              <a:rPr sz="640" b="1">
                <a:solidFill>
                  <a:srgbClr val="262626"/>
                </a:solidFill>
                <a:latin typeface="Meiryo UI"/>
                <a:ea typeface="Meiryo UI"/>
              </a:rPr>
              <a:t>測定：◎直接測定</a:t>
            </a:r>
          </a:p>
        </p:txBody>
      </p:sp>
      <p:sp>
        <p:nvSpPr>
          <p:cNvPr id="32" name="Rectangle 31"/>
          <p:cNvSpPr/>
          <p:nvPr/>
        </p:nvSpPr>
        <p:spPr>
          <a:xfrm>
            <a:off x="1472184" y="5422392"/>
            <a:ext cx="969264" cy="219456"/>
          </a:xfrm>
          <a:prstGeom prst="rect">
            <a:avLst/>
          </a:prstGeom>
          <a:solidFill>
            <a:srgbClr val="FFFFFF"/>
          </a:solidFill>
          <a:ln w="1016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7048" y="5458968"/>
            <a:ext cx="896112" cy="164592"/>
          </a:xfrm>
          <a:prstGeom prst="rect">
            <a:avLst/>
          </a:prstGeom>
          <a:noFill/>
        </p:spPr>
        <p:txBody>
          <a:bodyPr wrap="square" lIns="0" rIns="0" tIns="0" bIns="0">
            <a:spAutoFit/>
          </a:bodyPr>
          <a:lstStyle/>
          <a:p>
            <a:pPr>
              <a:lnSpc>
                <a:spcPct val="112000"/>
              </a:lnSpc>
            </a:pPr>
            <a:r>
              <a:rPr sz="640" b="1">
                <a:solidFill>
                  <a:srgbClr val="0F5E87"/>
                </a:solidFill>
                <a:latin typeface="Meiryo UI"/>
                <a:ea typeface="Meiryo UI"/>
              </a:rPr>
              <a:t>照らす枝：新規</a:t>
            </a:r>
          </a:p>
        </p:txBody>
      </p:sp>
      <p:cxnSp>
        <p:nvCxnSpPr>
          <p:cNvPr id="34" name="Connector 33"/>
          <p:cNvCxnSpPr/>
          <p:nvPr/>
        </p:nvCxnSpPr>
        <p:spPr>
          <a:xfrm>
            <a:off x="3017520" y="3264408"/>
            <a:ext cx="745236" cy="530352"/>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651760" y="3794760"/>
            <a:ext cx="2221992" cy="192024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651760" y="3794760"/>
            <a:ext cx="2221992" cy="4572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24912" y="3840480"/>
            <a:ext cx="2075688" cy="384048"/>
          </a:xfrm>
          <a:prstGeom prst="rect">
            <a:avLst/>
          </a:prstGeom>
          <a:noFill/>
        </p:spPr>
        <p:txBody>
          <a:bodyPr wrap="square" lIns="0" rIns="0" tIns="0" bIns="0">
            <a:spAutoFit/>
          </a:bodyPr>
          <a:lstStyle/>
          <a:p>
            <a:pPr>
              <a:lnSpc>
                <a:spcPct val="110000"/>
              </a:lnSpc>
            </a:pPr>
            <a:r>
              <a:rPr sz="819" b="1">
                <a:solidFill>
                  <a:srgbClr val="FFFFFF"/>
                </a:solidFill>
                <a:latin typeface="Meiryo UI"/>
                <a:ea typeface="Meiryo UI"/>
              </a:rPr>
              <a:t>K2 推奨起点の
照合売上</a:t>
            </a:r>
          </a:p>
        </p:txBody>
      </p:sp>
      <p:sp>
        <p:nvSpPr>
          <p:cNvPr id="38" name="TextBox 37"/>
          <p:cNvSpPr txBox="1"/>
          <p:nvPr/>
        </p:nvSpPr>
        <p:spPr>
          <a:xfrm>
            <a:off x="2743200" y="4325112"/>
            <a:ext cx="2039112" cy="1042415"/>
          </a:xfrm>
          <a:prstGeom prst="rect">
            <a:avLst/>
          </a:prstGeom>
          <a:noFill/>
        </p:spPr>
        <p:txBody>
          <a:bodyPr wrap="square" lIns="0" rIns="0" tIns="0" bIns="0">
            <a:spAutoFit/>
          </a:bodyPr>
          <a:lstStyle/>
          <a:p>
            <a:pPr>
              <a:lnSpc>
                <a:spcPct val="116000"/>
              </a:lnSpc>
            </a:pPr>
            <a:r>
              <a:rPr sz="690" b="0">
                <a:solidFill>
                  <a:srgbClr val="262626"/>
                </a:solidFill>
                <a:latin typeface="Meiryo UI"/>
                <a:ea typeface="Meiryo UI"/>
              </a:rPr>
              <a:t>クーポン・専用SKU・小売データ照合を仕込んだプログラム内で、歯科等の推奨から購買まで追えた実額。追跡範囲のみ・外挿禁止・KGIには足さない（IR開示：中）</a:t>
            </a:r>
          </a:p>
        </p:txBody>
      </p:sp>
      <p:sp>
        <p:nvSpPr>
          <p:cNvPr id="39" name="Rectangle 38"/>
          <p:cNvSpPr/>
          <p:nvPr/>
        </p:nvSpPr>
        <p:spPr>
          <a:xfrm>
            <a:off x="2743200" y="5422392"/>
            <a:ext cx="987552"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98064" y="5458968"/>
            <a:ext cx="914400" cy="164592"/>
          </a:xfrm>
          <a:prstGeom prst="rect">
            <a:avLst/>
          </a:prstGeom>
          <a:noFill/>
        </p:spPr>
        <p:txBody>
          <a:bodyPr wrap="square" lIns="0" rIns="0" tIns="0" bIns="0">
            <a:spAutoFit/>
          </a:bodyPr>
          <a:lstStyle/>
          <a:p>
            <a:pPr>
              <a:lnSpc>
                <a:spcPct val="112000"/>
              </a:lnSpc>
            </a:pPr>
            <a:r>
              <a:rPr sz="640" b="1">
                <a:solidFill>
                  <a:srgbClr val="262626"/>
                </a:solidFill>
                <a:latin typeface="Meiryo UI"/>
                <a:ea typeface="Meiryo UI"/>
              </a:rPr>
              <a:t>測定：△追跡範囲のみ</a:t>
            </a:r>
          </a:p>
        </p:txBody>
      </p:sp>
      <p:sp>
        <p:nvSpPr>
          <p:cNvPr id="41" name="Rectangle 40"/>
          <p:cNvSpPr/>
          <p:nvPr/>
        </p:nvSpPr>
        <p:spPr>
          <a:xfrm>
            <a:off x="3803904" y="5422392"/>
            <a:ext cx="969264" cy="219456"/>
          </a:xfrm>
          <a:prstGeom prst="rect">
            <a:avLst/>
          </a:prstGeom>
          <a:solidFill>
            <a:srgbClr val="FFFFFF"/>
          </a:solidFill>
          <a:ln w="1016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58768" y="5458968"/>
            <a:ext cx="896112" cy="164592"/>
          </a:xfrm>
          <a:prstGeom prst="rect">
            <a:avLst/>
          </a:prstGeom>
          <a:noFill/>
        </p:spPr>
        <p:txBody>
          <a:bodyPr wrap="square" lIns="0" rIns="0" tIns="0" bIns="0">
            <a:spAutoFit/>
          </a:bodyPr>
          <a:lstStyle/>
          <a:p>
            <a:pPr>
              <a:lnSpc>
                <a:spcPct val="112000"/>
              </a:lnSpc>
            </a:pPr>
            <a:r>
              <a:rPr sz="640" b="1">
                <a:solidFill>
                  <a:srgbClr val="0F5E87"/>
                </a:solidFill>
                <a:latin typeface="Meiryo UI"/>
                <a:ea typeface="Meiryo UI"/>
              </a:rPr>
              <a:t>照らす枝：新規</a:t>
            </a:r>
          </a:p>
        </p:txBody>
      </p:sp>
      <p:cxnSp>
        <p:nvCxnSpPr>
          <p:cNvPr id="43" name="Connector 42"/>
          <p:cNvCxnSpPr/>
          <p:nvPr/>
        </p:nvCxnSpPr>
        <p:spPr>
          <a:xfrm>
            <a:off x="3017520" y="3264408"/>
            <a:ext cx="3076956" cy="530352"/>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094476" y="3264408"/>
            <a:ext cx="3095244" cy="530352"/>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983480" y="3794760"/>
            <a:ext cx="2221992" cy="192024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83480" y="3794760"/>
            <a:ext cx="2221992" cy="4572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56632" y="3840480"/>
            <a:ext cx="2075688" cy="384048"/>
          </a:xfrm>
          <a:prstGeom prst="rect">
            <a:avLst/>
          </a:prstGeom>
          <a:noFill/>
        </p:spPr>
        <p:txBody>
          <a:bodyPr wrap="square" lIns="0" rIns="0" tIns="0" bIns="0">
            <a:spAutoFit/>
          </a:bodyPr>
          <a:lstStyle/>
          <a:p>
            <a:pPr>
              <a:lnSpc>
                <a:spcPct val="110000"/>
              </a:lnSpc>
            </a:pPr>
            <a:r>
              <a:rPr sz="819" b="1">
                <a:solidFill>
                  <a:srgbClr val="FFFFFF"/>
                </a:solidFill>
                <a:latin typeface="Meiryo UI"/>
                <a:ea typeface="Meiryo UI"/>
              </a:rPr>
              <a:t>K3 意向把握
カバレッジ（KOIC）</a:t>
            </a:r>
          </a:p>
        </p:txBody>
      </p:sp>
      <p:sp>
        <p:nvSpPr>
          <p:cNvPr id="48" name="TextBox 47"/>
          <p:cNvSpPr txBox="1"/>
          <p:nvPr/>
        </p:nvSpPr>
        <p:spPr>
          <a:xfrm>
            <a:off x="5074920" y="4325112"/>
            <a:ext cx="2039112" cy="1042415"/>
          </a:xfrm>
          <a:prstGeom prst="rect">
            <a:avLst/>
          </a:prstGeom>
          <a:noFill/>
        </p:spPr>
        <p:txBody>
          <a:bodyPr wrap="square" lIns="0" rIns="0" tIns="0" bIns="0">
            <a:spAutoFit/>
          </a:bodyPr>
          <a:lstStyle/>
          <a:p>
            <a:pPr>
              <a:lnSpc>
                <a:spcPct val="116000"/>
              </a:lnSpc>
            </a:pPr>
            <a:r>
              <a:rPr sz="690" b="0">
                <a:solidFill>
                  <a:srgbClr val="262626"/>
                </a:solidFill>
                <a:latin typeface="Meiryo UI"/>
                <a:ea typeface="Meiryo UI"/>
              </a:rPr>
              <a:t>自前の接点で口腔の悩み・意向を把握できている人数 ÷ 対象人口。分母は人口統計×カテゴリ購入率で推計し、前提を開示（IR開示：高）</a:t>
            </a:r>
          </a:p>
        </p:txBody>
      </p:sp>
      <p:sp>
        <p:nvSpPr>
          <p:cNvPr id="49" name="Rectangle 48"/>
          <p:cNvSpPr/>
          <p:nvPr/>
        </p:nvSpPr>
        <p:spPr>
          <a:xfrm>
            <a:off x="5074920" y="5422392"/>
            <a:ext cx="987552"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29784" y="5458968"/>
            <a:ext cx="914400" cy="164592"/>
          </a:xfrm>
          <a:prstGeom prst="rect">
            <a:avLst/>
          </a:prstGeom>
          <a:noFill/>
        </p:spPr>
        <p:txBody>
          <a:bodyPr wrap="square" lIns="0" rIns="0" tIns="0" bIns="0">
            <a:spAutoFit/>
          </a:bodyPr>
          <a:lstStyle/>
          <a:p>
            <a:pPr>
              <a:lnSpc>
                <a:spcPct val="112000"/>
              </a:lnSpc>
            </a:pPr>
            <a:r>
              <a:rPr sz="640" b="1">
                <a:solidFill>
                  <a:srgbClr val="262626"/>
                </a:solidFill>
                <a:latin typeface="Meiryo UI"/>
                <a:ea typeface="Meiryo UI"/>
              </a:rPr>
              <a:t>測定：△分母は推計</a:t>
            </a:r>
          </a:p>
        </p:txBody>
      </p:sp>
      <p:sp>
        <p:nvSpPr>
          <p:cNvPr id="51" name="Rectangle 50"/>
          <p:cNvSpPr/>
          <p:nvPr/>
        </p:nvSpPr>
        <p:spPr>
          <a:xfrm>
            <a:off x="6135624" y="5422392"/>
            <a:ext cx="969264" cy="219456"/>
          </a:xfrm>
          <a:prstGeom prst="rect">
            <a:avLst/>
          </a:prstGeom>
          <a:solidFill>
            <a:srgbClr val="FFFFFF"/>
          </a:solidFill>
          <a:ln w="1016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90488" y="5458968"/>
            <a:ext cx="896112" cy="164592"/>
          </a:xfrm>
          <a:prstGeom prst="rect">
            <a:avLst/>
          </a:prstGeom>
          <a:noFill/>
        </p:spPr>
        <p:txBody>
          <a:bodyPr wrap="square" lIns="0" rIns="0" tIns="0" bIns="0">
            <a:spAutoFit/>
          </a:bodyPr>
          <a:lstStyle/>
          <a:p>
            <a:pPr>
              <a:lnSpc>
                <a:spcPct val="112000"/>
              </a:lnSpc>
            </a:pPr>
            <a:r>
              <a:rPr sz="640" b="1">
                <a:solidFill>
                  <a:srgbClr val="16233A"/>
                </a:solidFill>
                <a:latin typeface="Meiryo UI"/>
                <a:ea typeface="Meiryo UI"/>
              </a:rPr>
              <a:t>照らす枝：両方</a:t>
            </a:r>
          </a:p>
        </p:txBody>
      </p:sp>
      <p:cxnSp>
        <p:nvCxnSpPr>
          <p:cNvPr id="53" name="Connector 52"/>
          <p:cNvCxnSpPr/>
          <p:nvPr/>
        </p:nvCxnSpPr>
        <p:spPr>
          <a:xfrm flipH="1">
            <a:off x="8426196" y="3264408"/>
            <a:ext cx="763524" cy="530352"/>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315200" y="3794760"/>
            <a:ext cx="2221992" cy="192024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315200" y="3794760"/>
            <a:ext cx="2221992" cy="4572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8352" y="3840480"/>
            <a:ext cx="2075688" cy="384048"/>
          </a:xfrm>
          <a:prstGeom prst="rect">
            <a:avLst/>
          </a:prstGeom>
          <a:noFill/>
        </p:spPr>
        <p:txBody>
          <a:bodyPr wrap="square" lIns="0" rIns="0" tIns="0" bIns="0">
            <a:spAutoFit/>
          </a:bodyPr>
          <a:lstStyle/>
          <a:p>
            <a:pPr>
              <a:lnSpc>
                <a:spcPct val="110000"/>
              </a:lnSpc>
            </a:pPr>
            <a:r>
              <a:rPr sz="819" b="1">
                <a:solidFill>
                  <a:srgbClr val="FFFFFF"/>
                </a:solidFill>
                <a:latin typeface="Meiryo UI"/>
                <a:ea typeface="Meiryo UI"/>
              </a:rPr>
              <a:t>K4 口腔健康
アウトカムの改善差</a:t>
            </a:r>
          </a:p>
        </p:txBody>
      </p:sp>
      <p:sp>
        <p:nvSpPr>
          <p:cNvPr id="57" name="TextBox 56"/>
          <p:cNvSpPr txBox="1"/>
          <p:nvPr/>
        </p:nvSpPr>
        <p:spPr>
          <a:xfrm>
            <a:off x="7406640" y="4325112"/>
            <a:ext cx="2039112" cy="1042415"/>
          </a:xfrm>
          <a:prstGeom prst="rect">
            <a:avLst/>
          </a:prstGeom>
          <a:noFill/>
        </p:spPr>
        <p:txBody>
          <a:bodyPr wrap="square" lIns="0" rIns="0" tIns="0" bIns="0">
            <a:spAutoFit/>
          </a:bodyPr>
          <a:lstStyle/>
          <a:p>
            <a:pPr>
              <a:lnSpc>
                <a:spcPct val="116000"/>
              </a:lnSpc>
            </a:pPr>
            <a:r>
              <a:rPr sz="690" b="0">
                <a:solidFill>
                  <a:srgbClr val="262626"/>
                </a:solidFill>
                <a:latin typeface="Meiryo UI"/>
                <a:ea typeface="Meiryo UI"/>
              </a:rPr>
              <a:t>習慣プログラム参加者と、参加していない類似の人（比較群）との口腔状態改善の差。比較群必須（IR開示：高）</a:t>
            </a:r>
          </a:p>
        </p:txBody>
      </p:sp>
      <p:sp>
        <p:nvSpPr>
          <p:cNvPr id="58" name="Rectangle 57"/>
          <p:cNvSpPr/>
          <p:nvPr/>
        </p:nvSpPr>
        <p:spPr>
          <a:xfrm>
            <a:off x="7406640" y="5422392"/>
            <a:ext cx="987552"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61504" y="5458968"/>
            <a:ext cx="914400" cy="164592"/>
          </a:xfrm>
          <a:prstGeom prst="rect">
            <a:avLst/>
          </a:prstGeom>
          <a:noFill/>
        </p:spPr>
        <p:txBody>
          <a:bodyPr wrap="square" lIns="0" rIns="0" tIns="0" bIns="0">
            <a:spAutoFit/>
          </a:bodyPr>
          <a:lstStyle/>
          <a:p>
            <a:pPr>
              <a:lnSpc>
                <a:spcPct val="112000"/>
              </a:lnSpc>
            </a:pPr>
            <a:r>
              <a:rPr sz="640" b="1">
                <a:solidFill>
                  <a:srgbClr val="262626"/>
                </a:solidFill>
                <a:latin typeface="Meiryo UI"/>
                <a:ea typeface="Meiryo UI"/>
              </a:rPr>
              <a:t>測定：◎差で測定</a:t>
            </a:r>
          </a:p>
        </p:txBody>
      </p:sp>
      <p:sp>
        <p:nvSpPr>
          <p:cNvPr id="60" name="Rectangle 59"/>
          <p:cNvSpPr/>
          <p:nvPr/>
        </p:nvSpPr>
        <p:spPr>
          <a:xfrm>
            <a:off x="8467344" y="5422392"/>
            <a:ext cx="969264" cy="219456"/>
          </a:xfrm>
          <a:prstGeom prst="rect">
            <a:avLst/>
          </a:prstGeom>
          <a:solidFill>
            <a:srgbClr val="FFFFFF"/>
          </a:solidFill>
          <a:ln w="1016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22208" y="5458968"/>
            <a:ext cx="896112" cy="164592"/>
          </a:xfrm>
          <a:prstGeom prst="rect">
            <a:avLst/>
          </a:prstGeom>
          <a:noFill/>
        </p:spPr>
        <p:txBody>
          <a:bodyPr wrap="square" lIns="0" rIns="0" tIns="0" bIns="0">
            <a:spAutoFit/>
          </a:bodyPr>
          <a:lstStyle/>
          <a:p>
            <a:pPr>
              <a:lnSpc>
                <a:spcPct val="112000"/>
              </a:lnSpc>
            </a:pPr>
            <a:r>
              <a:rPr sz="640" b="1">
                <a:solidFill>
                  <a:srgbClr val="008D2E"/>
                </a:solidFill>
                <a:latin typeface="Meiryo UI"/>
                <a:ea typeface="Meiryo UI"/>
              </a:rPr>
              <a:t>照らす枝：継続</a:t>
            </a:r>
          </a:p>
        </p:txBody>
      </p:sp>
      <p:cxnSp>
        <p:nvCxnSpPr>
          <p:cNvPr id="62" name="Connector 61"/>
          <p:cNvCxnSpPr/>
          <p:nvPr/>
        </p:nvCxnSpPr>
        <p:spPr>
          <a:xfrm>
            <a:off x="9189720" y="3264408"/>
            <a:ext cx="1568196" cy="530352"/>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646920" y="3794760"/>
            <a:ext cx="2221992" cy="192024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646920" y="3794760"/>
            <a:ext cx="2221992" cy="4572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20072" y="3840480"/>
            <a:ext cx="2075688" cy="384048"/>
          </a:xfrm>
          <a:prstGeom prst="rect">
            <a:avLst/>
          </a:prstGeom>
          <a:noFill/>
        </p:spPr>
        <p:txBody>
          <a:bodyPr wrap="square" lIns="0" rIns="0" tIns="0" bIns="0">
            <a:spAutoFit/>
          </a:bodyPr>
          <a:lstStyle/>
          <a:p>
            <a:pPr>
              <a:lnSpc>
                <a:spcPct val="110000"/>
              </a:lnSpc>
            </a:pPr>
            <a:r>
              <a:rPr sz="819" b="1">
                <a:solidFill>
                  <a:srgbClr val="FFFFFF"/>
                </a:solidFill>
                <a:latin typeface="Meiryo UI"/>
                <a:ea typeface="Meiryo UI"/>
              </a:rPr>
              <a:t>K5 特売依存度
（値引き率）</a:t>
            </a:r>
          </a:p>
        </p:txBody>
      </p:sp>
      <p:sp>
        <p:nvSpPr>
          <p:cNvPr id="66" name="TextBox 65"/>
          <p:cNvSpPr txBox="1"/>
          <p:nvPr/>
        </p:nvSpPr>
        <p:spPr>
          <a:xfrm>
            <a:off x="9738360" y="4325112"/>
            <a:ext cx="2039112" cy="1042415"/>
          </a:xfrm>
          <a:prstGeom prst="rect">
            <a:avLst/>
          </a:prstGeom>
          <a:noFill/>
        </p:spPr>
        <p:txBody>
          <a:bodyPr wrap="square" lIns="0" rIns="0" tIns="0" bIns="0">
            <a:spAutoFit/>
          </a:bodyPr>
          <a:lstStyle/>
          <a:p>
            <a:pPr>
              <a:lnSpc>
                <a:spcPct val="116000"/>
              </a:lnSpc>
            </a:pPr>
            <a:r>
              <a:rPr sz="690" b="0">
                <a:solidFill>
                  <a:srgbClr val="262626"/>
                </a:solidFill>
                <a:latin typeface="Meiryo UI"/>
                <a:ea typeface="Meiryo UI"/>
              </a:rPr>
              <a:t>重点小売×オーラル売上に占める値引き・特売原資の構成比％。％のみで語り、金額はKGI側で一回だけ計上（IR開示：中）</a:t>
            </a:r>
          </a:p>
        </p:txBody>
      </p:sp>
      <p:sp>
        <p:nvSpPr>
          <p:cNvPr id="67" name="Rectangle 66"/>
          <p:cNvSpPr/>
          <p:nvPr/>
        </p:nvSpPr>
        <p:spPr>
          <a:xfrm>
            <a:off x="9738360" y="5422392"/>
            <a:ext cx="987552" cy="219456"/>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793224" y="5458968"/>
            <a:ext cx="914400" cy="164592"/>
          </a:xfrm>
          <a:prstGeom prst="rect">
            <a:avLst/>
          </a:prstGeom>
          <a:noFill/>
        </p:spPr>
        <p:txBody>
          <a:bodyPr wrap="square" lIns="0" rIns="0" tIns="0" bIns="0">
            <a:spAutoFit/>
          </a:bodyPr>
          <a:lstStyle/>
          <a:p>
            <a:pPr>
              <a:lnSpc>
                <a:spcPct val="112000"/>
              </a:lnSpc>
            </a:pPr>
            <a:r>
              <a:rPr sz="640" b="1">
                <a:solidFill>
                  <a:srgbClr val="262626"/>
                </a:solidFill>
                <a:latin typeface="Meiryo UI"/>
                <a:ea typeface="Meiryo UI"/>
              </a:rPr>
              <a:t>測定：◎直接測定</a:t>
            </a:r>
          </a:p>
        </p:txBody>
      </p:sp>
      <p:sp>
        <p:nvSpPr>
          <p:cNvPr id="69" name="Rectangle 68"/>
          <p:cNvSpPr/>
          <p:nvPr/>
        </p:nvSpPr>
        <p:spPr>
          <a:xfrm>
            <a:off x="10799064" y="5422392"/>
            <a:ext cx="969264" cy="219456"/>
          </a:xfrm>
          <a:prstGeom prst="rect">
            <a:avLst/>
          </a:prstGeom>
          <a:solidFill>
            <a:srgbClr val="FFFFFF"/>
          </a:solidFill>
          <a:ln w="1016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853928" y="5458968"/>
            <a:ext cx="896112" cy="164592"/>
          </a:xfrm>
          <a:prstGeom prst="rect">
            <a:avLst/>
          </a:prstGeom>
          <a:noFill/>
        </p:spPr>
        <p:txBody>
          <a:bodyPr wrap="square" lIns="0" rIns="0" tIns="0" bIns="0">
            <a:spAutoFit/>
          </a:bodyPr>
          <a:lstStyle/>
          <a:p>
            <a:pPr>
              <a:lnSpc>
                <a:spcPct val="112000"/>
              </a:lnSpc>
            </a:pPr>
            <a:r>
              <a:rPr sz="640" b="1">
                <a:solidFill>
                  <a:srgbClr val="008D2E"/>
                </a:solidFill>
                <a:latin typeface="Meiryo UI"/>
                <a:ea typeface="Meiryo UI"/>
              </a:rPr>
              <a:t>照らす枝：継続</a:t>
            </a:r>
          </a:p>
        </p:txBody>
      </p:sp>
      <p:sp>
        <p:nvSpPr>
          <p:cNvPr id="71" name="Rectangle 70"/>
          <p:cNvSpPr/>
          <p:nvPr/>
        </p:nvSpPr>
        <p:spPr>
          <a:xfrm>
            <a:off x="320040" y="598932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7200" y="6035040"/>
            <a:ext cx="11292840" cy="493776"/>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測定の規律：</a:t>
            </a:r>
            <a:r>
              <a:rPr sz="819" b="0">
                <a:solidFill>
                  <a:srgbClr val="262626"/>
                </a:solidFill>
                <a:latin typeface="Meiryo UI"/>
                <a:ea typeface="Meiryo UI"/>
              </a:rPr>
              <a:t>①金額の合算はKGI一本 ― 実験とMMMで測れた増分だけを計上し、各施策の自己申告は足さない　②顧客は12カ月ルールで新規/継続に排他分類　③破線のKPIは金額換算・合算禁止。現場KPI（P.11の施策別指標）は四半期、この計器盤は半期でレビューし、FY30に統合報告書で開示する。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