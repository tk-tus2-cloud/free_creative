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10.svg" ContentType="image/svg+xml"/>
  <Override PartName="/ppt/media/image11.svg" ContentType="image/svg+xml"/>
  <Override PartName="/ppt/media/image12.svg" ContentType="image/svg+xml"/>
  <Override PartName="/ppt/media/image13.svg" ContentType="image/svg+xml"/>
  <Override PartName="/ppt/media/image14.svg" ContentType="image/svg+xml"/>
  <Override PartName="/ppt/media/image15.svg" ContentType="image/svg+xml"/>
  <Override PartName="/ppt/media/image16.svg" ContentType="image/svg+xml"/>
  <Override PartName="/ppt/media/image17.svg" ContentType="image/svg+xml"/>
  <Override PartName="/ppt/media/image18.svg" ContentType="image/svg+xml"/>
  <Override PartName="/ppt/media/image19.svg" ContentType="image/svg+xml"/>
  <Override PartName="/ppt/media/image20.svg" ContentType="image/svg+xml"/>
  <Override PartName="/ppt/media/image21.svg" ContentType="image/svg+xml"/>
  <Override PartName="/ppt/media/image22.svg" ContentType="image/svg+xml"/>
  <Override PartName="/ppt/media/image23.svg" ContentType="image/svg+xml"/>
  <Override PartName="/ppt/media/image24.svg" ContentType="image/svg+xml"/>
  <Override PartName="/ppt/media/image25.svg" ContentType="image/svg+xml"/>
  <Override PartName="/ppt/media/image26.svg" ContentType="image/svg+xml"/>
  <Override PartName="/ppt/media/image27.svg" ContentType="image/svg+xml"/>
  <Override PartName="/ppt/media/image28.svg" ContentType="image/svg+xml"/>
  <Override PartName="/ppt/media/image29.svg" ContentType="image/svg+xml"/>
  <Override PartName="/ppt/media/image3.svg" ContentType="image/svg+xml"/>
  <Override PartName="/ppt/media/image30.svg" ContentType="image/svg+xml"/>
  <Override PartName="/ppt/media/image31.svg" ContentType="image/svg+xml"/>
  <Override PartName="/ppt/media/image32.svg" ContentType="image/svg+xml"/>
  <Override PartName="/ppt/media/image33.svg" ContentType="image/svg+xml"/>
  <Override PartName="/ppt/media/image34.svg" ContentType="image/svg+xml"/>
  <Override PartName="/ppt/media/image35.svg" ContentType="image/svg+xml"/>
  <Override PartName="/ppt/media/image36.svg" ContentType="image/svg+xml"/>
  <Override PartName="/ppt/media/image4.svg" ContentType="image/svg+xml"/>
  <Override PartName="/ppt/media/image5.svg" ContentType="image/svg+xml"/>
  <Override PartName="/ppt/media/image6.svg" ContentType="image/svg+xml"/>
  <Override PartName="/ppt/media/image7.svg" ContentType="image/svg+xml"/>
  <Override PartName="/ppt/media/image8.svg" ContentType="image/svg+xml"/>
  <Override PartName="/ppt/media/image9.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9"/>
  </p:notesMasterIdLst>
  <p:handoutMasterIdLst>
    <p:handoutMasterId r:id="rId30"/>
  </p:handoutMasterIdLst>
  <p:sldIdLst>
    <p:sldId id="2147483620" r:id="rId5"/>
    <p:sldId id="2147483612" r:id="rId6"/>
    <p:sldId id="2147483613" r:id="rId7"/>
    <p:sldId id="2147483614" r:id="rId8"/>
    <p:sldId id="2147483616" r:id="rId9"/>
    <p:sldId id="2147483639" r:id="rId36"/>
    <p:sldId id="2147483640" r:id="rId37"/>
    <p:sldId id="2147483619" r:id="rId12"/>
    <p:sldId id="2147483641" r:id="rId38"/>
    <p:sldId id="2147483633" r:id="rId23"/>
    <p:sldId id="2147483634" r:id="rId24"/>
    <p:sldId id="2147483635" r:id="rId25"/>
    <p:sldId id="2147483636" r:id="rId26"/>
    <p:sldId id="2147483637" r:id="rId27"/>
    <p:sldId id="2147483638" r:id="rId28"/>
  </p:sldIdLst>
  <p:sldSz cx="12192000" cy="6858000"/>
  <p:notesSz cx="6858000" cy="9144000"/>
  <p:custDataLst>
    <p:tags r:id="rId31"/>
  </p:custDataLst>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既定のセクション" id="{D4120086-D7F6-43B7-9BBE-7F91A996C7FC}">
          <p14:sldIdLst>
            <p14:sldId id="2147483620"/>
            <p14:sldId id="2147483612"/>
            <p14:sldId id="2147483613"/>
            <p14:sldId id="2147483614"/>
            <p14:sldId id="2147483616"/>
            <p14:sldId id="2147483622"/>
            <p14:sldId id="2147483623"/>
            <p14:sldId id="2147483619"/>
            <p14:sldId id="2147483624"/>
            <p14:sldId id="2147483625"/>
            <p14:sldId id="2147483626"/>
            <p14:sldId id="2147483627"/>
            <p14:sldId id="2147483628"/>
            <p14:sldId id="2147483629"/>
            <p14:sldId id="2147483621"/>
          </p14:sldIdLst>
        </p14:section>
        <p14:section name="作成" id="{C741977A-D2A6-49B2-955D-F2AE528CD877}">
          <p14:sldIdLst>
            <p14:sldId id="2147483630"/>
            <p14:sldId id="2147483631"/>
            <p14:sldId id="2147483632"/>
            <p14:sldId id="2147483633"/>
            <p14:sldId id="2147483634"/>
            <p14:sldId id="2147483635"/>
            <p14:sldId id="2147483636"/>
            <p14:sldId id="2147483637"/>
            <p14:sldId id="2147483638"/>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000"/>
    <a:srgbClr val="969696"/>
    <a:srgbClr val="008D2E"/>
    <a:srgbClr val="E2F0D9"/>
    <a:srgbClr val="01953D"/>
    <a:srgbClr val="D9D9D9"/>
    <a:srgbClr val="FFF2CC"/>
    <a:srgbClr val="5B9BD5"/>
    <a:srgbClr val="595959"/>
    <a:srgbClr val="407FA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中間スタイル 2 - アクセント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79" d="100"/>
          <a:sy n="79" d="100"/>
        </p:scale>
        <p:origin x="773" y="67"/>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notesMaster" Target="notesMasters/notesMaster1.xml"/><Relationship Id="rId30" Type="http://schemas.openxmlformats.org/officeDocument/2006/relationships/handoutMaster" Target="handoutMasters/handoutMaster1.xml"/><Relationship Id="rId31" Type="http://schemas.openxmlformats.org/officeDocument/2006/relationships/tags" Target="tags/tag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 Id="rId36" Type="http://schemas.openxmlformats.org/officeDocument/2006/relationships/slide" Target="slides/slide25.xml"/><Relationship Id="rId37" Type="http://schemas.openxmlformats.org/officeDocument/2006/relationships/slide" Target="slides/slide26.xml"/><Relationship Id="rId38" Type="http://schemas.openxmlformats.org/officeDocument/2006/relationships/slide" Target="slides/slide2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8C87EA5-B015-4E39-A84B-A594D563A58F}" type="datetimeFigureOut">
              <a:rPr kumimoji="1" lang="ja-JP" altLang="en-US" smtClean="0"/>
              <a:t>2026/8/16</a:t>
            </a:fld>
            <a:endParaRPr kumimoji="1" lang="ja-JP" altLang="en-US"/>
          </a:p>
        </p:txBody>
      </p:sp>
      <p:sp>
        <p:nvSpPr>
          <p:cNvPr id="4" name="フッター プレースホルダー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9D636F3-8413-4B74-BB00-76FFFF969883}" type="slidenum">
              <a:rPr kumimoji="1" lang="ja-JP" altLang="en-US" smtClean="0"/>
              <a:t>‹#›</a:t>
            </a:fld>
            <a:endParaRPr kumimoji="1" lang="ja-JP" altLang="en-US"/>
          </a:p>
        </p:txBody>
      </p:sp>
    </p:spTree>
    <p:extLst>
      <p:ext uri="{BB962C8B-B14F-4D97-AF65-F5344CB8AC3E}">
        <p14:creationId xmlns:p14="http://schemas.microsoft.com/office/powerpoint/2010/main" val="3428091743"/>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B1B69A8-C8FA-4C38-B005-FB4A7565DD38}" type="datetimeFigureOut">
              <a:rPr kumimoji="1" lang="ja-JP" altLang="en-US" smtClean="0"/>
              <a:t>2026/8/16</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02A0D92-6B77-46DB-8A11-5C7100D44DD0}" type="slidenum">
              <a:rPr kumimoji="1" lang="ja-JP" altLang="en-US" smtClean="0"/>
              <a:t>‹#›</a:t>
            </a:fld>
            <a:endParaRPr kumimoji="1" lang="ja-JP" altLang="en-US"/>
          </a:p>
        </p:txBody>
      </p:sp>
    </p:spTree>
    <p:extLst>
      <p:ext uri="{BB962C8B-B14F-4D97-AF65-F5344CB8AC3E}">
        <p14:creationId xmlns:p14="http://schemas.microsoft.com/office/powerpoint/2010/main" val="3741069878"/>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gi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1524000" y="1122363"/>
            <a:ext cx="9144000" cy="2387600"/>
          </a:xfrm>
        </p:spPr>
        <p:txBody>
          <a:bodyPr anchor="b"/>
          <a:lstStyle>
            <a:lvl1pPr algn="ctr">
              <a:defRPr sz="6000"/>
            </a:lvl1pPr>
          </a:lstStyle>
          <a:p>
            <a:r>
              <a:rPr kumimoji="1" lang="ja-JP" altLang="en-US" dirty="0"/>
              <a:t>マスター タイトルの書式設定</a:t>
            </a:r>
          </a:p>
        </p:txBody>
      </p:sp>
      <p:sp>
        <p:nvSpPr>
          <p:cNvPr id="3" name="サブタイトル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p:cNvSpPr>
            <a:spLocks noGrp="1"/>
          </p:cNvSpPr>
          <p:nvPr>
            <p:ph type="dt" sz="half" idx="10"/>
          </p:nvPr>
        </p:nvSpPr>
        <p:spPr>
          <a:xfrm>
            <a:off x="838200" y="6356350"/>
            <a:ext cx="2743200" cy="365125"/>
          </a:xfrm>
          <a:prstGeom prst="rect">
            <a:avLst/>
          </a:prstGeom>
        </p:spPr>
        <p:txBody>
          <a:bodyPr/>
          <a:lstStyle/>
          <a:p>
            <a:endParaRPr kumimoji="1" lang="ja-JP" altLang="en-US"/>
          </a:p>
        </p:txBody>
      </p:sp>
      <p:sp>
        <p:nvSpPr>
          <p:cNvPr id="5" name="フッター プレースホルダー 4"/>
          <p:cNvSpPr>
            <a:spLocks noGrp="1"/>
          </p:cNvSpPr>
          <p:nvPr>
            <p:ph type="ftr" sz="quarter" idx="11"/>
          </p:nvPr>
        </p:nvSpPr>
        <p:spPr>
          <a:xfrm>
            <a:off x="4038600" y="6356350"/>
            <a:ext cx="4114800" cy="365125"/>
          </a:xfrm>
          <a:prstGeom prst="rect">
            <a:avLst/>
          </a:prstGeom>
        </p:spPr>
        <p:txBody>
          <a:bodyPr/>
          <a:lstStyle/>
          <a:p>
            <a:endParaRPr kumimoji="1" lang="ja-JP" altLang="en-US"/>
          </a:p>
        </p:txBody>
      </p:sp>
      <p:sp>
        <p:nvSpPr>
          <p:cNvPr id="6" name="スライド番号プレースホルダー 5"/>
          <p:cNvSpPr>
            <a:spLocks noGrp="1"/>
          </p:cNvSpPr>
          <p:nvPr>
            <p:ph type="sldNum" sz="quarter" idx="12"/>
          </p:nvPr>
        </p:nvSpPr>
        <p:spPr>
          <a:xfrm>
            <a:off x="8610600" y="6356350"/>
            <a:ext cx="2743200" cy="365125"/>
          </a:xfrm>
          <a:prstGeom prst="rect">
            <a:avLst/>
          </a:prstGeom>
        </p:spPr>
        <p:txBody>
          <a:bodyPr/>
          <a:lstStyle/>
          <a:p>
            <a:fld id="{AE9BC486-A67F-4F3D-8FA3-20FB0639ABC0}" type="slidenum">
              <a:rPr kumimoji="1" lang="ja-JP" altLang="en-US" smtClean="0"/>
              <a:t>‹#›</a:t>
            </a:fld>
            <a:endParaRPr kumimoji="1" lang="ja-JP" altLang="en-US"/>
          </a:p>
        </p:txBody>
      </p:sp>
    </p:spTree>
    <p:extLst>
      <p:ext uri="{BB962C8B-B14F-4D97-AF65-F5344CB8AC3E}">
        <p14:creationId xmlns:p14="http://schemas.microsoft.com/office/powerpoint/2010/main" val="30671790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a:xfrm>
            <a:off x="223045" y="1"/>
            <a:ext cx="11745912" cy="914400"/>
          </a:xfrm>
        </p:spPr>
        <p:txBody>
          <a:bodyPr anchor="b">
            <a:normAutofit/>
          </a:bodyPr>
          <a:lstStyle>
            <a:lvl1pPr>
              <a:defRPr sz="2400" baseline="0">
                <a:latin typeface="Meiryo UI" panose="020B0604030504040204" pitchFamily="50" charset="-128"/>
                <a:ea typeface="Meiryo UI" panose="020B0604030504040204" pitchFamily="50" charset="-128"/>
              </a:defRPr>
            </a:lvl1pPr>
          </a:lstStyle>
          <a:p>
            <a:r>
              <a:rPr kumimoji="1" lang="ja-JP" altLang="en-US"/>
              <a:t>スライドタイトル</a:t>
            </a:r>
          </a:p>
        </p:txBody>
      </p:sp>
      <p:cxnSp>
        <p:nvCxnSpPr>
          <p:cNvPr id="8" name="直線コネクタ 7"/>
          <p:cNvCxnSpPr/>
          <p:nvPr userDrawn="1"/>
        </p:nvCxnSpPr>
        <p:spPr>
          <a:xfrm>
            <a:off x="0" y="914400"/>
            <a:ext cx="12192000" cy="0"/>
          </a:xfrm>
          <a:prstGeom prst="line">
            <a:avLst/>
          </a:prstGeom>
          <a:ln w="28575">
            <a:solidFill>
              <a:srgbClr val="008000"/>
            </a:solidFill>
          </a:ln>
        </p:spPr>
        <p:style>
          <a:lnRef idx="1">
            <a:schemeClr val="accent1"/>
          </a:lnRef>
          <a:fillRef idx="0">
            <a:schemeClr val="accent1"/>
          </a:fillRef>
          <a:effectRef idx="0">
            <a:schemeClr val="accent1"/>
          </a:effectRef>
          <a:fontRef idx="minor">
            <a:schemeClr val="tx1"/>
          </a:fontRef>
        </p:style>
      </p:cxnSp>
      <p:sp>
        <p:nvSpPr>
          <p:cNvPr id="12" name="テキスト プレースホルダー 11"/>
          <p:cNvSpPr>
            <a:spLocks noGrp="1"/>
          </p:cNvSpPr>
          <p:nvPr>
            <p:ph type="body" sz="quarter" idx="13" hasCustomPrompt="1"/>
          </p:nvPr>
        </p:nvSpPr>
        <p:spPr>
          <a:xfrm>
            <a:off x="223044" y="914400"/>
            <a:ext cx="11745912" cy="427038"/>
          </a:xfrm>
        </p:spPr>
        <p:txBody>
          <a:bodyPr>
            <a:noAutofit/>
          </a:bodyPr>
          <a:lstStyle>
            <a:lvl1pPr marL="342900" indent="-342900">
              <a:buClr>
                <a:srgbClr val="008000"/>
              </a:buClr>
              <a:buFont typeface="Wingdings" panose="05000000000000000000" pitchFamily="2" charset="2"/>
              <a:buChar char="n"/>
              <a:defRPr sz="2000">
                <a:latin typeface="Meiryo UI" panose="020B0604030504040204" pitchFamily="50" charset="-128"/>
                <a:ea typeface="Meiryo UI" panose="020B0604030504040204" pitchFamily="50" charset="-128"/>
              </a:defRPr>
            </a:lvl1pPr>
          </a:lstStyle>
          <a:p>
            <a:pPr lvl="0"/>
            <a:r>
              <a:rPr kumimoji="1" lang="ja-JP" altLang="en-US"/>
              <a:t>スライドメッセージ</a:t>
            </a:r>
          </a:p>
        </p:txBody>
      </p:sp>
      <p:pic>
        <p:nvPicPr>
          <p:cNvPr id="7" name="Picture 2" descr="今日を愛する。ライオン。"/>
          <p:cNvPicPr>
            <a:picLocks noChangeAspect="1" noChangeArrowheads="1"/>
          </p:cNvPicPr>
          <p:nvPr userDrawn="1"/>
        </p:nvPicPr>
        <p:blipFill rotWithShape="1">
          <a:blip r:embed="rId2">
            <a:extLst>
              <a:ext uri="{28A0092B-C50C-407E-A947-70E740481C1C}">
                <a14:useLocalDpi xmlns:a14="http://schemas.microsoft.com/office/drawing/2010/main"/>
              </a:ext>
            </a:extLst>
          </a:blip>
          <a:srcRect t="13567" b="11841"/>
          <a:stretch/>
        </p:blipFill>
        <p:spPr bwMode="auto">
          <a:xfrm>
            <a:off x="10752012" y="284692"/>
            <a:ext cx="1102101" cy="5399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9722408"/>
      </p:ext>
    </p:extLst>
  </p:cSld>
  <p:clrMapOvr>
    <a:masterClrMapping/>
  </p:clrMapOvr>
  <p:extLst>
    <p:ext uri="{DCECCB84-F9BA-43D5-87BE-67443E8EF086}">
      <p15:sldGuideLst xmlns:p15="http://schemas.microsoft.com/office/powerpoint/2012/main">
        <p15:guide id="1" orient="horz" pos="1026" userDrawn="1">
          <p15:clr>
            <a:srgbClr val="FBAE40"/>
          </p15:clr>
        </p15:guide>
        <p15:guide id="2" pos="211" userDrawn="1">
          <p15:clr>
            <a:srgbClr val="FBAE40"/>
          </p15:clr>
        </p15:guide>
        <p15:guide id="3" orient="horz" pos="3974" userDrawn="1">
          <p15:clr>
            <a:srgbClr val="FBAE40"/>
          </p15:clr>
        </p15:guide>
        <p15:guide id="4" pos="7469" userDrawn="1">
          <p15:clr>
            <a:srgbClr val="FBAE40"/>
          </p15:clr>
        </p15:guide>
        <p15:guide id="5" orient="horz" pos="182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タイトルとコンテンツ">
    <p:spTree>
      <p:nvGrpSpPr>
        <p:cNvPr id="1" name=""/>
        <p:cNvGrpSpPr/>
        <p:nvPr/>
      </p:nvGrpSpPr>
      <p:grpSpPr>
        <a:xfrm>
          <a:off x="0" y="0"/>
          <a:ext cx="0" cy="0"/>
          <a:chOff x="0" y="0"/>
          <a:chExt cx="0" cy="0"/>
        </a:xfrm>
      </p:grpSpPr>
      <p:sp>
        <p:nvSpPr>
          <p:cNvPr id="9" name="図プレースホルダー 8">
            <a:extLst>
              <a:ext uri="{FF2B5EF4-FFF2-40B4-BE49-F238E27FC236}">
                <a16:creationId xmlns:a16="http://schemas.microsoft.com/office/drawing/2014/main" id="{769171BB-12EF-D7D1-8CAA-8B54FA9AFE5D}"/>
              </a:ext>
            </a:extLst>
          </p:cNvPr>
          <p:cNvSpPr>
            <a:spLocks noGrp="1"/>
          </p:cNvSpPr>
          <p:nvPr>
            <p:ph type="pic" sz="quarter" idx="15"/>
          </p:nvPr>
        </p:nvSpPr>
        <p:spPr>
          <a:xfrm>
            <a:off x="6651413" y="8878"/>
            <a:ext cx="5540587" cy="6849121"/>
          </a:xfrm>
        </p:spPr>
        <p:txBody>
          <a:bodyPr/>
          <a:lstStyle/>
          <a:p>
            <a:r>
              <a:rPr kumimoji="1" lang="ja-JP" altLang="en-US"/>
              <a:t>図を追加</a:t>
            </a:r>
          </a:p>
        </p:txBody>
      </p:sp>
      <p:sp>
        <p:nvSpPr>
          <p:cNvPr id="2" name="タイトル 1"/>
          <p:cNvSpPr>
            <a:spLocks noGrp="1"/>
          </p:cNvSpPr>
          <p:nvPr>
            <p:ph type="title" hasCustomPrompt="1"/>
          </p:nvPr>
        </p:nvSpPr>
        <p:spPr>
          <a:xfrm>
            <a:off x="142875" y="136525"/>
            <a:ext cx="6508538" cy="692457"/>
          </a:xfrm>
        </p:spPr>
        <p:txBody>
          <a:bodyPr anchor="ctr">
            <a:normAutofit/>
          </a:bodyPr>
          <a:lstStyle>
            <a:lvl1pPr>
              <a:defRPr sz="3200" b="1" baseline="0">
                <a:solidFill>
                  <a:srgbClr val="595959"/>
                </a:solidFill>
                <a:latin typeface="Meiryo UI" panose="020B0604030504040204" pitchFamily="50" charset="-128"/>
                <a:ea typeface="Meiryo UI" panose="020B0604030504040204" pitchFamily="50" charset="-128"/>
              </a:defRPr>
            </a:lvl1pPr>
          </a:lstStyle>
          <a:p>
            <a:r>
              <a:rPr kumimoji="1" lang="ja-JP" altLang="en-US"/>
              <a:t>スライドタイトル</a:t>
            </a:r>
          </a:p>
        </p:txBody>
      </p:sp>
      <p:sp>
        <p:nvSpPr>
          <p:cNvPr id="4" name="日付プレースホルダー 3"/>
          <p:cNvSpPr>
            <a:spLocks noGrp="1"/>
          </p:cNvSpPr>
          <p:nvPr>
            <p:ph type="dt" sz="half" idx="10"/>
          </p:nvPr>
        </p:nvSpPr>
        <p:spPr>
          <a:xfrm>
            <a:off x="0" y="6356350"/>
            <a:ext cx="3581400" cy="365125"/>
          </a:xfrm>
          <a:prstGeom prst="rect">
            <a:avLst/>
          </a:prstGeom>
        </p:spPr>
        <p:txBody>
          <a:bodyPr/>
          <a:lstStyle>
            <a:lvl1pPr>
              <a:defRPr sz="1000">
                <a:latin typeface="Meiryo UI" panose="020B0604030504040204" pitchFamily="50" charset="-128"/>
                <a:ea typeface="Meiryo UI" panose="020B0604030504040204" pitchFamily="50" charset="-128"/>
              </a:defRPr>
            </a:lvl1pPr>
          </a:lstStyle>
          <a:p>
            <a:endParaRPr lang="ja-JP" altLang="en-US"/>
          </a:p>
        </p:txBody>
      </p:sp>
      <p:sp>
        <p:nvSpPr>
          <p:cNvPr id="12" name="テキスト プレースホルダー 11"/>
          <p:cNvSpPr>
            <a:spLocks noGrp="1"/>
          </p:cNvSpPr>
          <p:nvPr>
            <p:ph type="body" sz="quarter" idx="13" hasCustomPrompt="1"/>
          </p:nvPr>
        </p:nvSpPr>
        <p:spPr>
          <a:xfrm>
            <a:off x="1019175" y="1384919"/>
            <a:ext cx="5076825" cy="692457"/>
          </a:xfrm>
        </p:spPr>
        <p:txBody>
          <a:bodyPr anchor="ctr">
            <a:normAutofit/>
          </a:bodyPr>
          <a:lstStyle>
            <a:lvl1pPr marL="0" indent="0">
              <a:buClr>
                <a:srgbClr val="008000"/>
              </a:buClr>
              <a:buFont typeface="Wingdings" panose="05000000000000000000" pitchFamily="2" charset="2"/>
              <a:buNone/>
              <a:defRPr sz="1800" b="1">
                <a:solidFill>
                  <a:srgbClr val="407FA2"/>
                </a:solidFill>
                <a:latin typeface="Meiryo UI" panose="020B0604030504040204" pitchFamily="50" charset="-128"/>
                <a:ea typeface="Meiryo UI" panose="020B0604030504040204" pitchFamily="50" charset="-128"/>
              </a:defRPr>
            </a:lvl1pPr>
          </a:lstStyle>
          <a:p>
            <a:pPr lvl="0"/>
            <a:r>
              <a:rPr kumimoji="1" lang="ja-JP" altLang="en-US"/>
              <a:t>見出し</a:t>
            </a:r>
          </a:p>
        </p:txBody>
      </p:sp>
      <p:sp>
        <p:nvSpPr>
          <p:cNvPr id="11" name="テキスト プレースホルダー 11">
            <a:extLst>
              <a:ext uri="{FF2B5EF4-FFF2-40B4-BE49-F238E27FC236}">
                <a16:creationId xmlns:a16="http://schemas.microsoft.com/office/drawing/2014/main" id="{AA811C02-548F-41AB-8518-014E4587611A}"/>
              </a:ext>
            </a:extLst>
          </p:cNvPr>
          <p:cNvSpPr>
            <a:spLocks noGrp="1"/>
          </p:cNvSpPr>
          <p:nvPr>
            <p:ph type="body" sz="quarter" idx="16" hasCustomPrompt="1"/>
          </p:nvPr>
        </p:nvSpPr>
        <p:spPr>
          <a:xfrm>
            <a:off x="1019175" y="2116348"/>
            <a:ext cx="5076825" cy="365125"/>
          </a:xfrm>
        </p:spPr>
        <p:txBody>
          <a:bodyPr anchor="ctr">
            <a:normAutofit/>
          </a:bodyPr>
          <a:lstStyle>
            <a:lvl1pPr marL="0" indent="0">
              <a:buClr>
                <a:srgbClr val="008000"/>
              </a:buClr>
              <a:buFont typeface="Wingdings" panose="05000000000000000000" pitchFamily="2" charset="2"/>
              <a:buNone/>
              <a:defRPr sz="1800" b="0">
                <a:solidFill>
                  <a:srgbClr val="407FA2"/>
                </a:solidFill>
                <a:latin typeface="Meiryo UI" panose="020B0604030504040204" pitchFamily="50" charset="-128"/>
                <a:ea typeface="Meiryo UI" panose="020B0604030504040204" pitchFamily="50" charset="-128"/>
              </a:defRPr>
            </a:lvl1pPr>
          </a:lstStyle>
          <a:p>
            <a:pPr lvl="0"/>
            <a:r>
              <a:rPr kumimoji="1" lang="ja-JP" altLang="en-US"/>
              <a:t>本文</a:t>
            </a:r>
          </a:p>
        </p:txBody>
      </p:sp>
      <p:sp>
        <p:nvSpPr>
          <p:cNvPr id="21" name="テキスト プレースホルダー 11">
            <a:extLst>
              <a:ext uri="{FF2B5EF4-FFF2-40B4-BE49-F238E27FC236}">
                <a16:creationId xmlns:a16="http://schemas.microsoft.com/office/drawing/2014/main" id="{D0945B70-3014-AE59-0012-E35A46BA111B}"/>
              </a:ext>
            </a:extLst>
          </p:cNvPr>
          <p:cNvSpPr>
            <a:spLocks noGrp="1"/>
          </p:cNvSpPr>
          <p:nvPr>
            <p:ph type="body" sz="quarter" idx="20" hasCustomPrompt="1"/>
          </p:nvPr>
        </p:nvSpPr>
        <p:spPr>
          <a:xfrm>
            <a:off x="7116418" y="3261321"/>
            <a:ext cx="4500438" cy="365125"/>
          </a:xfrm>
        </p:spPr>
        <p:txBody>
          <a:bodyPr>
            <a:normAutofit/>
          </a:bodyPr>
          <a:lstStyle>
            <a:lvl1pPr marL="285750" indent="-285750">
              <a:buClr>
                <a:schemeClr val="bg1"/>
              </a:buClr>
              <a:buFont typeface="Arial" panose="020B0604020202020204" pitchFamily="34" charset="0"/>
              <a:buChar char="•"/>
              <a:defRPr sz="1800" b="0">
                <a:solidFill>
                  <a:schemeClr val="bg1"/>
                </a:solidFill>
                <a:latin typeface="Meiryo UI" panose="020B0604030504040204" pitchFamily="50" charset="-128"/>
                <a:ea typeface="Meiryo UI" panose="020B0604030504040204" pitchFamily="50" charset="-128"/>
              </a:defRPr>
            </a:lvl1pPr>
          </a:lstStyle>
          <a:p>
            <a:pPr lvl="0"/>
            <a:r>
              <a:rPr kumimoji="1" lang="ja-JP" altLang="en-US"/>
              <a:t>本文</a:t>
            </a:r>
          </a:p>
        </p:txBody>
      </p:sp>
      <p:sp>
        <p:nvSpPr>
          <p:cNvPr id="20" name="図プレースホルダー 19">
            <a:extLst>
              <a:ext uri="{FF2B5EF4-FFF2-40B4-BE49-F238E27FC236}">
                <a16:creationId xmlns:a16="http://schemas.microsoft.com/office/drawing/2014/main" id="{B53DC72C-2BC8-F8E4-ECCF-7A9BA48790DE}"/>
              </a:ext>
            </a:extLst>
          </p:cNvPr>
          <p:cNvSpPr>
            <a:spLocks noGrp="1"/>
          </p:cNvSpPr>
          <p:nvPr>
            <p:ph type="pic" sz="quarter" idx="19"/>
          </p:nvPr>
        </p:nvSpPr>
        <p:spPr>
          <a:xfrm>
            <a:off x="8579458" y="1361786"/>
            <a:ext cx="1633787" cy="1633787"/>
          </a:xfrm>
        </p:spPr>
        <p:txBody>
          <a:bodyPr/>
          <a:lstStyle/>
          <a:p>
            <a:r>
              <a:rPr kumimoji="1" lang="ja-JP" altLang="en-US"/>
              <a:t>図を追加</a:t>
            </a:r>
          </a:p>
        </p:txBody>
      </p:sp>
      <p:sp>
        <p:nvSpPr>
          <p:cNvPr id="6" name="スライド番号プレースホルダー 5"/>
          <p:cNvSpPr>
            <a:spLocks noGrp="1"/>
          </p:cNvSpPr>
          <p:nvPr>
            <p:ph type="sldNum" sz="quarter" idx="12"/>
          </p:nvPr>
        </p:nvSpPr>
        <p:spPr>
          <a:xfrm>
            <a:off x="7898860" y="6356350"/>
            <a:ext cx="3958178" cy="365125"/>
          </a:xfrm>
          <a:prstGeom prst="rect">
            <a:avLst/>
          </a:prstGeom>
        </p:spPr>
        <p:txBody>
          <a:bodyPr/>
          <a:lstStyle>
            <a:lvl1pPr>
              <a:defRPr>
                <a:solidFill>
                  <a:schemeClr val="bg1"/>
                </a:solidFill>
              </a:defRPr>
            </a:lvl1pPr>
          </a:lstStyle>
          <a:p>
            <a:pPr algn="l"/>
            <a:r>
              <a:rPr lang="en-US" altLang="ja-JP"/>
              <a:t>©LION Corporation All rights reserved                                   </a:t>
            </a:r>
            <a:fld id="{AE9BC486-A67F-4F3D-8FA3-20FB0639ABC0}" type="slidenum">
              <a:rPr lang="ja-JP" altLang="en-US" smtClean="0"/>
              <a:pPr algn="l"/>
              <a:t>‹#›</a:t>
            </a:fld>
            <a:endParaRPr lang="ja-JP" altLang="en-US"/>
          </a:p>
        </p:txBody>
      </p:sp>
      <p:sp>
        <p:nvSpPr>
          <p:cNvPr id="5" name="テキスト プレースホルダー 11">
            <a:extLst>
              <a:ext uri="{FF2B5EF4-FFF2-40B4-BE49-F238E27FC236}">
                <a16:creationId xmlns:a16="http://schemas.microsoft.com/office/drawing/2014/main" id="{4ED55D75-A3D4-A129-D2FC-3108681FBD81}"/>
              </a:ext>
            </a:extLst>
          </p:cNvPr>
          <p:cNvSpPr>
            <a:spLocks noGrp="1"/>
          </p:cNvSpPr>
          <p:nvPr>
            <p:ph type="body" sz="quarter" idx="21" hasCustomPrompt="1"/>
          </p:nvPr>
        </p:nvSpPr>
        <p:spPr>
          <a:xfrm>
            <a:off x="1019175" y="4121758"/>
            <a:ext cx="5076825" cy="692457"/>
          </a:xfrm>
        </p:spPr>
        <p:txBody>
          <a:bodyPr anchor="ctr">
            <a:normAutofit/>
          </a:bodyPr>
          <a:lstStyle>
            <a:lvl1pPr marL="0" indent="0">
              <a:buClr>
                <a:srgbClr val="008000"/>
              </a:buClr>
              <a:buFont typeface="Wingdings" panose="05000000000000000000" pitchFamily="2" charset="2"/>
              <a:buNone/>
              <a:defRPr sz="1800" b="1">
                <a:solidFill>
                  <a:srgbClr val="407FA2"/>
                </a:solidFill>
                <a:latin typeface="Meiryo UI" panose="020B0604030504040204" pitchFamily="50" charset="-128"/>
                <a:ea typeface="Meiryo UI" panose="020B0604030504040204" pitchFamily="50" charset="-128"/>
              </a:defRPr>
            </a:lvl1pPr>
          </a:lstStyle>
          <a:p>
            <a:pPr lvl="0"/>
            <a:r>
              <a:rPr kumimoji="1" lang="ja-JP" altLang="en-US"/>
              <a:t>見出し</a:t>
            </a:r>
          </a:p>
        </p:txBody>
      </p:sp>
      <p:sp>
        <p:nvSpPr>
          <p:cNvPr id="7" name="テキスト プレースホルダー 11">
            <a:extLst>
              <a:ext uri="{FF2B5EF4-FFF2-40B4-BE49-F238E27FC236}">
                <a16:creationId xmlns:a16="http://schemas.microsoft.com/office/drawing/2014/main" id="{E28757FD-1708-EB5C-375D-071B3DC61F16}"/>
              </a:ext>
            </a:extLst>
          </p:cNvPr>
          <p:cNvSpPr>
            <a:spLocks noGrp="1"/>
          </p:cNvSpPr>
          <p:nvPr>
            <p:ph type="body" sz="quarter" idx="22" hasCustomPrompt="1"/>
          </p:nvPr>
        </p:nvSpPr>
        <p:spPr>
          <a:xfrm>
            <a:off x="1019175" y="4853187"/>
            <a:ext cx="5076825" cy="365125"/>
          </a:xfrm>
        </p:spPr>
        <p:txBody>
          <a:bodyPr anchor="ctr">
            <a:normAutofit/>
          </a:bodyPr>
          <a:lstStyle>
            <a:lvl1pPr marL="0" indent="0">
              <a:buClr>
                <a:srgbClr val="008000"/>
              </a:buClr>
              <a:buFont typeface="Wingdings" panose="05000000000000000000" pitchFamily="2" charset="2"/>
              <a:buNone/>
              <a:defRPr sz="1800" b="0">
                <a:solidFill>
                  <a:srgbClr val="407FA2"/>
                </a:solidFill>
                <a:latin typeface="Meiryo UI" panose="020B0604030504040204" pitchFamily="50" charset="-128"/>
                <a:ea typeface="Meiryo UI" panose="020B0604030504040204" pitchFamily="50" charset="-128"/>
              </a:defRPr>
            </a:lvl1pPr>
          </a:lstStyle>
          <a:p>
            <a:pPr lvl="0"/>
            <a:r>
              <a:rPr kumimoji="1" lang="ja-JP" altLang="en-US"/>
              <a:t>本文</a:t>
            </a:r>
          </a:p>
        </p:txBody>
      </p:sp>
    </p:spTree>
    <p:extLst>
      <p:ext uri="{BB962C8B-B14F-4D97-AF65-F5344CB8AC3E}">
        <p14:creationId xmlns:p14="http://schemas.microsoft.com/office/powerpoint/2010/main" val="1439624796"/>
      </p:ext>
    </p:extLst>
  </p:cSld>
  <p:clrMapOvr>
    <a:masterClrMapping/>
  </p:clrMapOvr>
  <p:extLst>
    <p:ext uri="{DCECCB84-F9BA-43D5-87BE-67443E8EF086}">
      <p15:sldGuideLst xmlns:p15="http://schemas.microsoft.com/office/powerpoint/2012/main">
        <p15:guide id="1" orient="horz" pos="1026">
          <p15:clr>
            <a:srgbClr val="FBAE40"/>
          </p15:clr>
        </p15:guide>
        <p15:guide id="2" pos="211">
          <p15:clr>
            <a:srgbClr val="FBAE40"/>
          </p15:clr>
        </p15:guide>
        <p15:guide id="3" orient="horz" pos="3974">
          <p15:clr>
            <a:srgbClr val="FBAE40"/>
          </p15:clr>
        </p15:guide>
        <p15:guide id="4" pos="7469">
          <p15:clr>
            <a:srgbClr val="FBAE40"/>
          </p15:clr>
        </p15:guide>
        <p15:guide id="5" orient="horz" pos="1820">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pic>
        <p:nvPicPr>
          <p:cNvPr id="13" name="図 12">
            <a:extLst>
              <a:ext uri="{FF2B5EF4-FFF2-40B4-BE49-F238E27FC236}">
                <a16:creationId xmlns:a16="http://schemas.microsoft.com/office/drawing/2014/main" id="{2B8A581B-A44C-1A50-AA22-A78798A438A5}"/>
              </a:ext>
            </a:extLst>
          </p:cNvPr>
          <p:cNvPicPr>
            <a:picLocks noChangeAspect="1"/>
          </p:cNvPicPr>
          <p:nvPr userDrawn="1"/>
        </p:nvPicPr>
        <p:blipFill>
          <a:blip r:embed="rId5"/>
          <a:stretch>
            <a:fillRect/>
          </a:stretch>
        </p:blipFill>
        <p:spPr>
          <a:xfrm>
            <a:off x="-644057" y="6492208"/>
            <a:ext cx="4115157" cy="365792"/>
          </a:xfrm>
          <a:prstGeom prst="rect">
            <a:avLst/>
          </a:prstGeom>
        </p:spPr>
      </p:pic>
      <p:sp>
        <p:nvSpPr>
          <p:cNvPr id="4" name="テキスト ボックス 3"/>
          <p:cNvSpPr txBox="1"/>
          <p:nvPr userDrawn="1"/>
        </p:nvSpPr>
        <p:spPr>
          <a:xfrm>
            <a:off x="11353800" y="6544299"/>
            <a:ext cx="659524" cy="276999"/>
          </a:xfrm>
          <a:prstGeom prst="rect">
            <a:avLst/>
          </a:prstGeom>
          <a:noFill/>
        </p:spPr>
        <p:txBody>
          <a:bodyPr wrap="square" rtlCol="0">
            <a:spAutoFit/>
          </a:bodyPr>
          <a:lstStyle/>
          <a:p>
            <a:pPr algn="ctr"/>
            <a:fld id="{159CA7EA-7377-4C6F-958C-65E49E0817CC}" type="slidenum">
              <a:rPr kumimoji="1" lang="ja-JP" altLang="en-US" sz="1200" smtClean="0">
                <a:solidFill>
                  <a:srgbClr val="969696"/>
                </a:solidFill>
              </a:rPr>
              <a:pPr algn="ctr"/>
              <a:t>‹#›</a:t>
            </a:fld>
            <a:endParaRPr kumimoji="1" lang="ja-JP" altLang="en-US" sz="1200" dirty="0">
              <a:solidFill>
                <a:srgbClr val="969696"/>
              </a:solidFill>
            </a:endParaRPr>
          </a:p>
        </p:txBody>
      </p:sp>
    </p:spTree>
    <p:extLst>
      <p:ext uri="{BB962C8B-B14F-4D97-AF65-F5344CB8AC3E}">
        <p14:creationId xmlns:p14="http://schemas.microsoft.com/office/powerpoint/2010/main" val="36801052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Lst>
  <p:hf sldNum="0" hdr="0" ft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svg"/><Relationship Id="rId3" Type="http://schemas.openxmlformats.org/officeDocument/2006/relationships/image" Target="../media/image4.svg"/><Relationship Id="rId4" Type="http://schemas.openxmlformats.org/officeDocument/2006/relationships/image" Target="../media/image5.svg"/><Relationship Id="rId5" Type="http://schemas.openxmlformats.org/officeDocument/2006/relationships/image" Target="../media/image6.svg"/><Relationship Id="rId6" Type="http://schemas.openxmlformats.org/officeDocument/2006/relationships/image" Target="../media/image7.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svg"/><Relationship Id="rId3" Type="http://schemas.openxmlformats.org/officeDocument/2006/relationships/image" Target="../media/image8.svg"/><Relationship Id="rId4" Type="http://schemas.openxmlformats.org/officeDocument/2006/relationships/image" Target="../media/image9.svg"/><Relationship Id="rId5" Type="http://schemas.openxmlformats.org/officeDocument/2006/relationships/image" Target="../media/image10.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svg"/><Relationship Id="rId3" Type="http://schemas.openxmlformats.org/officeDocument/2006/relationships/image" Target="../media/image12.svg"/><Relationship Id="rId4" Type="http://schemas.openxmlformats.org/officeDocument/2006/relationships/image" Target="../media/image13.svg"/><Relationship Id="rId5" Type="http://schemas.openxmlformats.org/officeDocument/2006/relationships/image" Target="../media/image14.svg"/><Relationship Id="rId6" Type="http://schemas.openxmlformats.org/officeDocument/2006/relationships/image" Target="../media/image15.svg"/><Relationship Id="rId7" Type="http://schemas.openxmlformats.org/officeDocument/2006/relationships/image" Target="../media/image16.svg"/><Relationship Id="rId8" Type="http://schemas.openxmlformats.org/officeDocument/2006/relationships/image" Target="../media/image17.svg"/><Relationship Id="rId9" Type="http://schemas.openxmlformats.org/officeDocument/2006/relationships/image" Target="../media/image18.svg"/><Relationship Id="rId10" Type="http://schemas.openxmlformats.org/officeDocument/2006/relationships/image" Target="../media/image19.svg"/><Relationship Id="rId11" Type="http://schemas.openxmlformats.org/officeDocument/2006/relationships/image" Target="../media/image20.svg"/><Relationship Id="rId12" Type="http://schemas.openxmlformats.org/officeDocument/2006/relationships/image" Target="../media/image21.svg"/><Relationship Id="rId13" Type="http://schemas.openxmlformats.org/officeDocument/2006/relationships/image" Target="../media/image22.svg"/><Relationship Id="rId14" Type="http://schemas.openxmlformats.org/officeDocument/2006/relationships/image" Target="../media/image23.svg"/><Relationship Id="rId15" Type="http://schemas.openxmlformats.org/officeDocument/2006/relationships/image" Target="../media/image24.svg"/><Relationship Id="rId16" Type="http://schemas.openxmlformats.org/officeDocument/2006/relationships/image" Target="../media/image25.svg"/><Relationship Id="rId17" Type="http://schemas.openxmlformats.org/officeDocument/2006/relationships/image" Target="../media/image26.svg"/><Relationship Id="rId18" Type="http://schemas.openxmlformats.org/officeDocument/2006/relationships/image" Target="../media/image27.svg"/><Relationship Id="rId19" Type="http://schemas.openxmlformats.org/officeDocument/2006/relationships/image" Target="../media/image28.svg"/></Relationships>
</file>

<file path=ppt/slides/_rels/slide5.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tags" Target="../tags/tag3.xml"/><Relationship Id="rId3" Type="http://schemas.openxmlformats.org/officeDocument/2006/relationships/tags" Target="../tags/tag4.xml"/><Relationship Id="rId4" Type="http://schemas.openxmlformats.org/officeDocument/2006/relationships/tags" Target="../tags/tag5.xml"/><Relationship Id="rId5" Type="http://schemas.openxmlformats.org/officeDocument/2006/relationships/slideLayout" Target="../slideLayouts/slideLayout2.xml"/><Relationship Id="rId6" Type="http://schemas.openxmlformats.org/officeDocument/2006/relationships/image" Target="../media/image29.svg"/><Relationship Id="rId7" Type="http://schemas.openxmlformats.org/officeDocument/2006/relationships/image" Target="../media/image30.svg"/><Relationship Id="rId8" Type="http://schemas.openxmlformats.org/officeDocument/2006/relationships/image" Target="../media/image31.svg"/><Relationship Id="rId9" Type="http://schemas.openxmlformats.org/officeDocument/2006/relationships/image" Target="../media/image32.svg"/><Relationship Id="rId10" Type="http://schemas.openxmlformats.org/officeDocument/2006/relationships/image" Target="../media/image33.svg"/><Relationship Id="rId11" Type="http://schemas.openxmlformats.org/officeDocument/2006/relationships/image" Target="../media/image34.svg"/><Relationship Id="rId12" Type="http://schemas.openxmlformats.org/officeDocument/2006/relationships/image" Target="../media/image35.svg"/><Relationship Id="rId13" Type="http://schemas.openxmlformats.org/officeDocument/2006/relationships/image" Target="../media/image36.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tags" Target="../tags/tag7.xml"/><Relationship Id="rId3" Type="http://schemas.openxmlformats.org/officeDocument/2006/relationships/tags" Target="../tags/tag8.xml"/><Relationship Id="rId4" Type="http://schemas.openxmlformats.org/officeDocument/2006/relationships/tags" Target="../tags/tag9.xml"/><Relationship Id="rId5" Type="http://schemas.openxmlformats.org/officeDocument/2006/relationships/slideLayout" Target="../slideLayouts/slideLayout2.xml"/><Relationship Id="rId6" Type="http://schemas.openxmlformats.org/officeDocument/2006/relationships/image" Target="../media/image29.svg"/><Relationship Id="rId7" Type="http://schemas.openxmlformats.org/officeDocument/2006/relationships/image" Target="../media/image30.svg"/><Relationship Id="rId8" Type="http://schemas.openxmlformats.org/officeDocument/2006/relationships/image" Target="../media/image31.svg"/><Relationship Id="rId9" Type="http://schemas.openxmlformats.org/officeDocument/2006/relationships/image" Target="../media/image32.sv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8686800" cy="457200"/>
          </a:xfrm>
          <a:prstGeom prst="rect">
            <a:avLst/>
          </a:prstGeom>
          <a:noFill/>
        </p:spPr>
        <p:txBody>
          <a:bodyPr wrap="square" lIns="0" tIns="0" rIns="0" bIns="0">
            <a:spAutoFit/>
          </a:bodyPr>
          <a:lstStyle/>
          <a:p>
            <a:pPr>
              <a:lnSpc>
                <a:spcPct val="115000"/>
              </a:lnSpc>
            </a:pPr>
            <a:r>
              <a:rPr sz="2000" b="1">
                <a:solidFill>
                  <a:srgbClr val="262626"/>
                </a:solidFill>
                <a:latin typeface="Meiryo UI"/>
                <a:ea typeface="Meiryo UI"/>
              </a:rPr>
              <a:t>本資料の結論（先出し）</a:t>
            </a:r>
          </a:p>
        </p:txBody>
      </p:sp>
      <p:sp>
        <p:nvSpPr>
          <p:cNvPr id="11" name="Rectangle 10"/>
          <p:cNvSpPr/>
          <p:nvPr/>
        </p:nvSpPr>
        <p:spPr>
          <a:xfrm>
            <a:off x="320040" y="658368"/>
            <a:ext cx="11521440" cy="2286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68096"/>
            <a:ext cx="274320" cy="274320"/>
          </a:xfrm>
          <a:prstGeom prst="rect">
            <a:avLst/>
          </a:prstGeom>
          <a:noFill/>
        </p:spPr>
        <p:txBody>
          <a:bodyPr wrap="square" lIns="0" tIns="0" rIns="0" bIns="0">
            <a:spAutoFit/>
          </a:bodyPr>
          <a:lstStyle/>
          <a:p>
            <a:pPr>
              <a:lnSpc>
                <a:spcPct val="115000"/>
              </a:lnSpc>
            </a:pPr>
            <a:r>
              <a:rPr sz="1100" b="1">
                <a:solidFill>
                  <a:srgbClr val="008D2E"/>
                </a:solidFill>
                <a:latin typeface="Meiryo UI"/>
                <a:ea typeface="Meiryo UI"/>
              </a:rPr>
              <a:t>■</a:t>
            </a:r>
          </a:p>
        </p:txBody>
      </p:sp>
      <p:sp>
        <p:nvSpPr>
          <p:cNvPr id="13" name="TextBox 12"/>
          <p:cNvSpPr txBox="1"/>
          <p:nvPr/>
        </p:nvSpPr>
        <p:spPr>
          <a:xfrm>
            <a:off x="621792" y="749808"/>
            <a:ext cx="11155680" cy="566928"/>
          </a:xfrm>
          <a:prstGeom prst="rect">
            <a:avLst/>
          </a:prstGeom>
          <a:noFill/>
        </p:spPr>
        <p:txBody>
          <a:bodyPr wrap="square" lIns="0" tIns="0" rIns="0" bIns="0">
            <a:spAutoFit/>
          </a:bodyPr>
          <a:lstStyle/>
          <a:p>
            <a:pPr>
              <a:lnSpc>
                <a:spcPct val="120000"/>
              </a:lnSpc>
            </a:pPr>
            <a:r>
              <a:rPr sz="1250" b="1">
                <a:solidFill>
                  <a:srgbClr val="262626"/>
                </a:solidFill>
                <a:latin typeface="Meiryo UI"/>
                <a:ea typeface="Meiryo UI"/>
              </a:rPr>
              <a:t>環境変化は2040年の予測ではなく既に進行中。安売り消耗戦からの脱却は、4つの変革テーマと新しい「進め方」で、FY26から段階的に着手する</a:t>
            </a:r>
          </a:p>
        </p:txBody>
      </p:sp>
      <p:sp>
        <p:nvSpPr>
          <p:cNvPr id="14" name="Rectangle 13"/>
          <p:cNvSpPr/>
          <p:nvPr/>
        </p:nvSpPr>
        <p:spPr>
          <a:xfrm>
            <a:off x="320040" y="1600200"/>
            <a:ext cx="2788920" cy="4297680"/>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320040" y="1600200"/>
            <a:ext cx="2788920" cy="38404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29768" y="1636776"/>
            <a:ext cx="2560320" cy="320040"/>
          </a:xfrm>
          <a:prstGeom prst="rect">
            <a:avLst/>
          </a:prstGeom>
          <a:noFill/>
        </p:spPr>
        <p:txBody>
          <a:bodyPr wrap="square" lIns="0" tIns="0" rIns="0" bIns="0">
            <a:spAutoFit/>
          </a:bodyPr>
          <a:lstStyle/>
          <a:p>
            <a:pPr>
              <a:lnSpc>
                <a:spcPct val="115000"/>
              </a:lnSpc>
            </a:pPr>
            <a:r>
              <a:rPr sz="1100" b="1">
                <a:solidFill>
                  <a:srgbClr val="FFFFFF"/>
                </a:solidFill>
                <a:latin typeface="Meiryo UI"/>
                <a:ea typeface="Meiryo UI"/>
              </a:rPr>
              <a:t>1  変化は既に始まっている</a:t>
            </a:r>
          </a:p>
        </p:txBody>
      </p:sp>
      <p:sp>
        <p:nvSpPr>
          <p:cNvPr id="17" name="TextBox 16"/>
          <p:cNvSpPr txBox="1"/>
          <p:nvPr/>
        </p:nvSpPr>
        <p:spPr>
          <a:xfrm>
            <a:off x="448056" y="2148840"/>
            <a:ext cx="2532888" cy="3611880"/>
          </a:xfrm>
          <a:prstGeom prst="rect">
            <a:avLst/>
          </a:prstGeom>
          <a:noFill/>
        </p:spPr>
        <p:txBody>
          <a:bodyPr wrap="square" lIns="0" tIns="0" rIns="0" bIns="0">
            <a:spAutoFit/>
          </a:bodyPr>
          <a:lstStyle/>
          <a:p>
            <a:pPr>
              <a:lnSpc>
                <a:spcPct val="130000"/>
              </a:lnSpc>
            </a:pPr>
            <a:r>
              <a:rPr sz="950" b="0">
                <a:solidFill>
                  <a:srgbClr val="262626"/>
                </a:solidFill>
                <a:latin typeface="Meiryo UI"/>
                <a:ea typeface="Meiryo UI"/>
              </a:rPr>
              <a:t>検索の66.4%はサイトを開かず完結（ゼロクリック）。米国ではAI画面内での購入代行が開始。小売の広告事業は2029年1.3兆円へ急成長。国民皆歯科健診は政府方針に明記済み ― 対応の期限は自社では動かせない</a:t>
            </a:r>
          </a:p>
        </p:txBody>
      </p:sp>
      <p:sp>
        <p:nvSpPr>
          <p:cNvPr id="18" name="Rectangle 17"/>
          <p:cNvSpPr/>
          <p:nvPr/>
        </p:nvSpPr>
        <p:spPr>
          <a:xfrm>
            <a:off x="3227832" y="1600200"/>
            <a:ext cx="2788920" cy="4297680"/>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3227832" y="1600200"/>
            <a:ext cx="2788920" cy="38404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337560" y="1636776"/>
            <a:ext cx="2560320" cy="320040"/>
          </a:xfrm>
          <a:prstGeom prst="rect">
            <a:avLst/>
          </a:prstGeom>
          <a:noFill/>
        </p:spPr>
        <p:txBody>
          <a:bodyPr wrap="square" lIns="0" tIns="0" rIns="0" bIns="0">
            <a:spAutoFit/>
          </a:bodyPr>
          <a:lstStyle/>
          <a:p>
            <a:pPr>
              <a:lnSpc>
                <a:spcPct val="115000"/>
              </a:lnSpc>
            </a:pPr>
            <a:r>
              <a:rPr sz="1100" b="1">
                <a:solidFill>
                  <a:srgbClr val="FFFFFF"/>
                </a:solidFill>
                <a:latin typeface="Meiryo UI"/>
                <a:ea typeface="Meiryo UI"/>
              </a:rPr>
              <a:t>2  真因は「型・武器・回路」の3つ</a:t>
            </a:r>
          </a:p>
        </p:txBody>
      </p:sp>
      <p:sp>
        <p:nvSpPr>
          <p:cNvPr id="21" name="TextBox 20"/>
          <p:cNvSpPr txBox="1"/>
          <p:nvPr/>
        </p:nvSpPr>
        <p:spPr>
          <a:xfrm>
            <a:off x="3355848" y="2148840"/>
            <a:ext cx="2532888" cy="3611880"/>
          </a:xfrm>
          <a:prstGeom prst="rect">
            <a:avLst/>
          </a:prstGeom>
          <a:noFill/>
        </p:spPr>
        <p:txBody>
          <a:bodyPr wrap="square" lIns="0" tIns="0" rIns="0" bIns="0">
            <a:spAutoFit/>
          </a:bodyPr>
          <a:lstStyle/>
          <a:p>
            <a:pPr>
              <a:lnSpc>
                <a:spcPct val="130000"/>
              </a:lnSpc>
            </a:pPr>
            <a:r>
              <a:rPr sz="950" b="0">
                <a:solidFill>
                  <a:srgbClr val="262626"/>
                </a:solidFill>
                <a:latin typeface="Meiryo UI"/>
                <a:ea typeface="Meiryo UI"/>
              </a:rPr>
              <a:t>中計の決定も宣伝・販促の傾斜配分も実行済み。それでもギャップが残る原因は、①増えた資源の「使い方の型」が従来の勝ちパターンのまま ②新しい型で戦う「武器」（データ・根拠）が揃っていない ③作る→試す→検証→広げる「回路」がない ― 量でなく質の問題</a:t>
            </a:r>
          </a:p>
        </p:txBody>
      </p:sp>
      <p:sp>
        <p:nvSpPr>
          <p:cNvPr id="22" name="Rectangle 21"/>
          <p:cNvSpPr/>
          <p:nvPr/>
        </p:nvSpPr>
        <p:spPr>
          <a:xfrm>
            <a:off x="6135623" y="1600200"/>
            <a:ext cx="2788920" cy="4297680"/>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6135623" y="1600200"/>
            <a:ext cx="2788920" cy="38404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245351" y="1636776"/>
            <a:ext cx="2560320" cy="320040"/>
          </a:xfrm>
          <a:prstGeom prst="rect">
            <a:avLst/>
          </a:prstGeom>
          <a:noFill/>
        </p:spPr>
        <p:txBody>
          <a:bodyPr wrap="square" lIns="0" tIns="0" rIns="0" bIns="0">
            <a:spAutoFit/>
          </a:bodyPr>
          <a:lstStyle/>
          <a:p>
            <a:pPr>
              <a:lnSpc>
                <a:spcPct val="115000"/>
              </a:lnSpc>
            </a:pPr>
            <a:r>
              <a:rPr sz="1100" b="1">
                <a:solidFill>
                  <a:srgbClr val="FFFFFF"/>
                </a:solidFill>
                <a:latin typeface="Meiryo UI"/>
                <a:ea typeface="Meiryo UI"/>
              </a:rPr>
              <a:t>3  解決は4テーマ＋進め方</a:t>
            </a:r>
          </a:p>
        </p:txBody>
      </p:sp>
      <p:sp>
        <p:nvSpPr>
          <p:cNvPr id="25" name="TextBox 24"/>
          <p:cNvSpPr txBox="1"/>
          <p:nvPr/>
        </p:nvSpPr>
        <p:spPr>
          <a:xfrm>
            <a:off x="6263639" y="2148840"/>
            <a:ext cx="2532888" cy="3611880"/>
          </a:xfrm>
          <a:prstGeom prst="rect">
            <a:avLst/>
          </a:prstGeom>
          <a:noFill/>
        </p:spPr>
        <p:txBody>
          <a:bodyPr wrap="square" lIns="0" tIns="0" rIns="0" bIns="0">
            <a:spAutoFit/>
          </a:bodyPr>
          <a:lstStyle/>
          <a:p>
            <a:pPr>
              <a:lnSpc>
                <a:spcPct val="130000"/>
              </a:lnSpc>
            </a:pPr>
            <a:r>
              <a:rPr sz="950" b="0">
                <a:solidFill>
                  <a:srgbClr val="262626"/>
                </a:solidFill>
                <a:latin typeface="Meiryo UI"/>
                <a:ea typeface="Meiryo UI"/>
              </a:rPr>
              <a:t>型＝傾斜した資源の新しい使い方を設計（4分割・エビデンス商談・値引き70＋施策30）／武器＝8つの重点施策で供給／回路＝時間・編成・確認ゲート・撤退基準。小さく実証→検証→拡大の順で諮る</a:t>
            </a:r>
          </a:p>
        </p:txBody>
      </p:sp>
      <p:sp>
        <p:nvSpPr>
          <p:cNvPr id="26" name="Rectangle 25"/>
          <p:cNvSpPr/>
          <p:nvPr/>
        </p:nvSpPr>
        <p:spPr>
          <a:xfrm>
            <a:off x="9043415" y="1600200"/>
            <a:ext cx="2788920" cy="4297680"/>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9043415" y="1600200"/>
            <a:ext cx="2788920" cy="38404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153143" y="1636776"/>
            <a:ext cx="2560320" cy="320040"/>
          </a:xfrm>
          <a:prstGeom prst="rect">
            <a:avLst/>
          </a:prstGeom>
          <a:noFill/>
        </p:spPr>
        <p:txBody>
          <a:bodyPr wrap="square" lIns="0" tIns="0" rIns="0" bIns="0">
            <a:spAutoFit/>
          </a:bodyPr>
          <a:lstStyle/>
          <a:p>
            <a:pPr>
              <a:lnSpc>
                <a:spcPct val="115000"/>
              </a:lnSpc>
            </a:pPr>
            <a:r>
              <a:rPr sz="1100" b="1">
                <a:solidFill>
                  <a:srgbClr val="FFFFFF"/>
                </a:solidFill>
                <a:latin typeface="Meiryo UI"/>
                <a:ea typeface="Meiryo UI"/>
              </a:rPr>
              <a:t>4  時間軸（バックキャスト）</a:t>
            </a:r>
          </a:p>
        </p:txBody>
      </p:sp>
      <p:sp>
        <p:nvSpPr>
          <p:cNvPr id="29" name="TextBox 28"/>
          <p:cNvSpPr txBox="1"/>
          <p:nvPr/>
        </p:nvSpPr>
        <p:spPr>
          <a:xfrm>
            <a:off x="9171432" y="2148840"/>
            <a:ext cx="2532888" cy="3611880"/>
          </a:xfrm>
          <a:prstGeom prst="rect">
            <a:avLst/>
          </a:prstGeom>
          <a:noFill/>
        </p:spPr>
        <p:txBody>
          <a:bodyPr wrap="square" lIns="0" tIns="0" rIns="0" bIns="0">
            <a:spAutoFit/>
          </a:bodyPr>
          <a:lstStyle/>
          <a:p>
            <a:pPr>
              <a:lnSpc>
                <a:spcPct val="130000"/>
              </a:lnSpc>
            </a:pPr>
            <a:r>
              <a:rPr sz="950" b="0">
                <a:solidFill>
                  <a:srgbClr val="262626"/>
                </a:solidFill>
                <a:latin typeface="Meiryo UI"/>
                <a:ea typeface="Meiryo UI"/>
              </a:rPr>
              <a:t>FY26：布石（AI推奨シェアの実測・重点小売とのJBP・Input業務削減）→ FY30：統合報告書でのKPI開示 → 2040：予防習慣のインフラ企業（制度とAIの初期設定を握る）</a:t>
            </a:r>
          </a:p>
        </p:txBody>
      </p:sp>
      <p:sp>
        <p:nvSpPr>
          <p:cNvPr id="30" name="Rectangle 29"/>
          <p:cNvSpPr/>
          <p:nvPr/>
        </p:nvSpPr>
        <p:spPr>
          <a:xfrm>
            <a:off x="320040" y="6108192"/>
            <a:ext cx="11521440" cy="4572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02920" y="6163056"/>
            <a:ext cx="11155680" cy="365760"/>
          </a:xfrm>
          <a:prstGeom prst="rect">
            <a:avLst/>
          </a:prstGeom>
          <a:noFill/>
        </p:spPr>
        <p:txBody>
          <a:bodyPr wrap="square" lIns="0" tIns="0" rIns="0" bIns="0">
            <a:spAutoFit/>
          </a:bodyPr>
          <a:lstStyle/>
          <a:p>
            <a:pPr>
              <a:lnSpc>
                <a:spcPct val="110000"/>
              </a:lnSpc>
            </a:pPr>
            <a:r>
              <a:rPr sz="1000" b="1">
                <a:solidFill>
                  <a:srgbClr val="008D2E"/>
                </a:solidFill>
                <a:latin typeface="Meiryo UI"/>
                <a:ea typeface="Meiryo UI"/>
              </a:rPr>
              <a:t>読み方：</a:t>
            </a:r>
            <a:r>
              <a:rPr sz="1000" b="0">
                <a:solidFill>
                  <a:srgbClr val="262626"/>
                </a:solidFill>
                <a:latin typeface="Meiryo UI"/>
                <a:ea typeface="Meiryo UI"/>
              </a:rPr>
              <a:t>以降、環境変化（PEST・3C）→ 自社（SWOT）→ 目指す姿とギャップ → 真因（型・武器・回路）→ 解決策の対応 → 4テーマ×8施策 → 5経営テーマへのMECE接続 → 出口（業務の変化）→ マイルストーン → KGI/KPI → 投資 → 次のアクション、の順で論証する</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772010-A30B-E11C-5AC9-872EF547CA8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4F7ADEF-9E6F-471F-FAEE-D19106D47A7D}"/>
              </a:ext>
            </a:extLst>
          </p:cNvPr>
          <p:cNvSpPr>
            <a:spLocks noGrp="1"/>
          </p:cNvSpPr>
          <p:nvPr>
            <p:ph type="title"/>
          </p:nvPr>
        </p:nvSpPr>
        <p:spPr>
          <a:xfrm>
            <a:off x="334963" y="1"/>
            <a:ext cx="11522075" cy="914400"/>
          </a:xfrm>
        </p:spPr>
        <p:txBody>
          <a:bodyPr/>
          <a:lstStyle/>
          <a:p>
            <a:r>
              <a:rPr kumimoji="1" lang="ja-JP" altLang="en-US" dirty="0">
                <a:latin typeface="メイリオ" panose="020B0604030504040204" pitchFamily="50" charset="-128"/>
                <a:ea typeface="メイリオ" panose="020B0604030504040204" pitchFamily="50" charset="-128"/>
              </a:rPr>
              <a:t>製造業を取り巻くマクロ環境変化 </a:t>
            </a:r>
            <a:r>
              <a:rPr kumimoji="1" lang="en-US" altLang="ja-JP" dirty="0">
                <a:latin typeface="メイリオ" panose="020B0604030504040204" pitchFamily="50" charset="-128"/>
                <a:ea typeface="メイリオ" panose="020B0604030504040204" pitchFamily="50" charset="-128"/>
              </a:rPr>
              <a:t>(PEST</a:t>
            </a:r>
            <a:r>
              <a:rPr lang="ja-JP" altLang="en-US" dirty="0">
                <a:latin typeface="メイリオ" panose="020B0604030504040204" pitchFamily="50" charset="-128"/>
                <a:ea typeface="メイリオ" panose="020B0604030504040204" pitchFamily="50" charset="-128"/>
              </a:rPr>
              <a:t>分析</a:t>
            </a:r>
            <a:r>
              <a:rPr lang="en-US" altLang="ja-JP" dirty="0">
                <a:latin typeface="メイリオ" panose="020B0604030504040204" pitchFamily="50" charset="-128"/>
                <a:ea typeface="メイリオ" panose="020B0604030504040204" pitchFamily="50" charset="-128"/>
              </a:rPr>
              <a:t>)</a:t>
            </a:r>
            <a:r>
              <a:rPr lang="ja-JP" altLang="en-US" dirty="0">
                <a:latin typeface="メイリオ" panose="020B0604030504040204" pitchFamily="50" charset="-128"/>
                <a:ea typeface="メイリオ" panose="020B0604030504040204" pitchFamily="50" charset="-128"/>
              </a:rPr>
              <a:t> </a:t>
            </a:r>
            <a:endParaRPr kumimoji="1" lang="ja-JP" altLang="en-US" dirty="0">
              <a:latin typeface="メイリオ" panose="020B0604030504040204" pitchFamily="50" charset="-128"/>
              <a:ea typeface="メイリオ" panose="020B0604030504040204" pitchFamily="50" charset="-128"/>
            </a:endParaRPr>
          </a:p>
        </p:txBody>
      </p:sp>
      <p:sp>
        <p:nvSpPr>
          <p:cNvPr id="7" name="テキスト プレースホルダー 2">
            <a:extLst>
              <a:ext uri="{FF2B5EF4-FFF2-40B4-BE49-F238E27FC236}">
                <a16:creationId xmlns:a16="http://schemas.microsoft.com/office/drawing/2014/main" id="{9A7C79BF-563D-BF7B-D7CF-34D8FDBBC68C}"/>
              </a:ext>
            </a:extLst>
          </p:cNvPr>
          <p:cNvSpPr txBox="1">
            <a:spLocks/>
          </p:cNvSpPr>
          <p:nvPr/>
        </p:nvSpPr>
        <p:spPr>
          <a:xfrm>
            <a:off x="223044" y="914400"/>
            <a:ext cx="11745912" cy="427038"/>
          </a:xfrm>
          <a:prstGeom prst="rect">
            <a:avLst/>
          </a:prstGeom>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08000"/>
              </a:buClr>
              <a:buFont typeface="Wingdings" panose="05000000000000000000" pitchFamily="2" charset="2"/>
              <a:buChar char="n"/>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1800" dirty="0">
                <a:latin typeface="+mn-ea"/>
                <a:ea typeface="+mn-ea"/>
              </a:rPr>
              <a:t>人口減少や環境規制によってこれまでの大量生産 ･ 安売りが通用しなくなる一方、消費者の健康 ･ エコ意識の高まりや</a:t>
            </a:r>
            <a:br>
              <a:rPr lang="en-US" altLang="ja-JP" sz="1800" dirty="0">
                <a:latin typeface="+mn-ea"/>
                <a:ea typeface="+mn-ea"/>
              </a:rPr>
            </a:br>
            <a:r>
              <a:rPr lang="en-US" altLang="ja-JP" sz="1800" dirty="0">
                <a:latin typeface="+mn-ea"/>
                <a:ea typeface="+mn-ea"/>
              </a:rPr>
              <a:t>AI</a:t>
            </a:r>
            <a:r>
              <a:rPr lang="ja-JP" altLang="en-US" sz="1800" dirty="0">
                <a:latin typeface="+mn-ea"/>
                <a:ea typeface="+mn-ea"/>
              </a:rPr>
              <a:t>の普及により、日用品ビジネスは「製品を売る」ことから「健康や環境を支える仕組みを作る」ことへ変化する</a:t>
            </a:r>
          </a:p>
        </p:txBody>
      </p:sp>
      <p:sp>
        <p:nvSpPr>
          <p:cNvPr id="5" name="正方形/長方形 4">
            <a:extLst>
              <a:ext uri="{FF2B5EF4-FFF2-40B4-BE49-F238E27FC236}">
                <a16:creationId xmlns:a16="http://schemas.microsoft.com/office/drawing/2014/main" id="{7C250FBD-8227-81B3-5858-FD88C533D587}"/>
              </a:ext>
            </a:extLst>
          </p:cNvPr>
          <p:cNvSpPr/>
          <p:nvPr/>
        </p:nvSpPr>
        <p:spPr>
          <a:xfrm>
            <a:off x="334963" y="1637964"/>
            <a:ext cx="5579700" cy="427038"/>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a:solidFill>
                  <a:schemeClr val="bg1"/>
                </a:solidFill>
                <a:latin typeface="+mn-ea"/>
              </a:rPr>
              <a:t>P</a:t>
            </a:r>
            <a:r>
              <a:rPr lang="en-US" altLang="ja-JP" sz="1600" dirty="0">
                <a:solidFill>
                  <a:schemeClr val="bg1"/>
                </a:solidFill>
                <a:latin typeface="+mn-ea"/>
              </a:rPr>
              <a:t>olitical : </a:t>
            </a:r>
            <a:r>
              <a:rPr lang="ja-JP" altLang="en-US" sz="1600" dirty="0">
                <a:solidFill>
                  <a:schemeClr val="bg1"/>
                </a:solidFill>
                <a:latin typeface="+mn-ea"/>
              </a:rPr>
              <a:t>政治 ･ 規制</a:t>
            </a:r>
            <a:endParaRPr lang="en-US" altLang="ja-JP" sz="1600" dirty="0">
              <a:solidFill>
                <a:schemeClr val="bg1"/>
              </a:solidFill>
              <a:latin typeface="+mn-ea"/>
            </a:endParaRPr>
          </a:p>
        </p:txBody>
      </p:sp>
      <p:sp>
        <p:nvSpPr>
          <p:cNvPr id="11" name="正方形/長方形 10">
            <a:extLst>
              <a:ext uri="{FF2B5EF4-FFF2-40B4-BE49-F238E27FC236}">
                <a16:creationId xmlns:a16="http://schemas.microsoft.com/office/drawing/2014/main" id="{396CEF30-DE7A-1971-08B4-DF7109B823D6}"/>
              </a:ext>
            </a:extLst>
          </p:cNvPr>
          <p:cNvSpPr/>
          <p:nvPr/>
        </p:nvSpPr>
        <p:spPr>
          <a:xfrm>
            <a:off x="334963" y="2065002"/>
            <a:ext cx="5579700" cy="1705616"/>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600" dirty="0">
              <a:solidFill>
                <a:schemeClr val="tx1"/>
              </a:solidFill>
              <a:latin typeface="+mn-ea"/>
            </a:endParaRPr>
          </a:p>
        </p:txBody>
      </p:sp>
      <p:grpSp>
        <p:nvGrpSpPr>
          <p:cNvPr id="24" name="グループ化 23">
            <a:extLst>
              <a:ext uri="{FF2B5EF4-FFF2-40B4-BE49-F238E27FC236}">
                <a16:creationId xmlns:a16="http://schemas.microsoft.com/office/drawing/2014/main" id="{AD86F886-F4FB-B975-1A68-6721CB6590D2}"/>
              </a:ext>
            </a:extLst>
          </p:cNvPr>
          <p:cNvGrpSpPr/>
          <p:nvPr/>
        </p:nvGrpSpPr>
        <p:grpSpPr>
          <a:xfrm>
            <a:off x="381616" y="2161566"/>
            <a:ext cx="5486394" cy="1515563"/>
            <a:chOff x="381616" y="2161566"/>
            <a:chExt cx="5486394" cy="1515563"/>
          </a:xfrm>
        </p:grpSpPr>
        <p:sp>
          <p:nvSpPr>
            <p:cNvPr id="20" name="正方形/長方形 19">
              <a:extLst>
                <a:ext uri="{FF2B5EF4-FFF2-40B4-BE49-F238E27FC236}">
                  <a16:creationId xmlns:a16="http://schemas.microsoft.com/office/drawing/2014/main" id="{F03F9789-C361-75AB-993B-3ABDB38D7EE3}"/>
                </a:ext>
              </a:extLst>
            </p:cNvPr>
            <p:cNvSpPr/>
            <p:nvPr/>
          </p:nvSpPr>
          <p:spPr>
            <a:xfrm>
              <a:off x="381616" y="2161566"/>
              <a:ext cx="1778935"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環境規制の厳格化</a:t>
              </a:r>
              <a:endParaRPr lang="en-US" altLang="ja-JP" sz="1050" b="1" dirty="0">
                <a:solidFill>
                  <a:srgbClr val="008D2E"/>
                </a:solidFill>
                <a:latin typeface="+mn-ea"/>
              </a:endParaRPr>
            </a:p>
            <a:p>
              <a:r>
                <a:rPr lang="ja-JP" altLang="ja-JP" sz="1050" dirty="0">
                  <a:solidFill>
                    <a:schemeClr val="tx1"/>
                  </a:solidFill>
                  <a:latin typeface="+mn-ea"/>
                </a:rPr>
                <a:t>炭素税の高額化、プラスチック容器の完全回収</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再利用の法的な義務化</a:t>
              </a:r>
              <a:endParaRPr lang="en-US" altLang="ja-JP" sz="1050" dirty="0">
                <a:solidFill>
                  <a:schemeClr val="tx1"/>
                </a:solidFill>
                <a:latin typeface="+mn-ea"/>
              </a:endParaRPr>
            </a:p>
          </p:txBody>
        </p:sp>
        <p:sp>
          <p:nvSpPr>
            <p:cNvPr id="22" name="正方形/長方形 21">
              <a:extLst>
                <a:ext uri="{FF2B5EF4-FFF2-40B4-BE49-F238E27FC236}">
                  <a16:creationId xmlns:a16="http://schemas.microsoft.com/office/drawing/2014/main" id="{79313EAB-2BFD-DE15-FBF8-39FEF254D150}"/>
                </a:ext>
              </a:extLst>
            </p:cNvPr>
            <p:cNvSpPr/>
            <p:nvPr/>
          </p:nvSpPr>
          <p:spPr>
            <a:xfrm>
              <a:off x="2235346" y="2161566"/>
              <a:ext cx="1778935"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Scope 3の開示義務化</a:t>
              </a:r>
              <a:endParaRPr lang="en-US" altLang="ja-JP" sz="1050" b="1" dirty="0">
                <a:solidFill>
                  <a:srgbClr val="008D2E"/>
                </a:solidFill>
                <a:latin typeface="+mn-ea"/>
              </a:endParaRPr>
            </a:p>
            <a:p>
              <a:r>
                <a:rPr lang="ja-JP" altLang="ja-JP" sz="1050" dirty="0">
                  <a:solidFill>
                    <a:schemeClr val="tx1"/>
                  </a:solidFill>
                  <a:latin typeface="+mn-ea"/>
                </a:rPr>
                <a:t>原材料調達から配送</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廃棄に</a:t>
              </a:r>
              <a:br>
                <a:rPr lang="en-US" altLang="ja-JP" sz="1050" dirty="0">
                  <a:solidFill>
                    <a:schemeClr val="tx1"/>
                  </a:solidFill>
                  <a:latin typeface="+mn-ea"/>
                </a:rPr>
              </a:br>
              <a:r>
                <a:rPr lang="ja-JP" altLang="ja-JP" sz="1050" dirty="0">
                  <a:solidFill>
                    <a:schemeClr val="tx1"/>
                  </a:solidFill>
                  <a:latin typeface="+mn-ea"/>
                </a:rPr>
                <a:t>至るGHG排出量算定の国際</a:t>
              </a:r>
              <a:br>
                <a:rPr lang="en-US" altLang="ja-JP" sz="1050" dirty="0">
                  <a:solidFill>
                    <a:schemeClr val="tx1"/>
                  </a:solidFill>
                  <a:latin typeface="+mn-ea"/>
                </a:rPr>
              </a:br>
              <a:r>
                <a:rPr lang="ja-JP" altLang="ja-JP" sz="1050" dirty="0">
                  <a:solidFill>
                    <a:schemeClr val="tx1"/>
                  </a:solidFill>
                  <a:latin typeface="+mn-ea"/>
                </a:rPr>
                <a:t>標準化</a:t>
              </a:r>
              <a:endParaRPr lang="en-US" altLang="ja-JP" sz="1050" dirty="0">
                <a:solidFill>
                  <a:schemeClr val="tx1"/>
                </a:solidFill>
                <a:latin typeface="+mn-ea"/>
              </a:endParaRPr>
            </a:p>
          </p:txBody>
        </p:sp>
        <p:sp>
          <p:nvSpPr>
            <p:cNvPr id="23" name="正方形/長方形 22">
              <a:extLst>
                <a:ext uri="{FF2B5EF4-FFF2-40B4-BE49-F238E27FC236}">
                  <a16:creationId xmlns:a16="http://schemas.microsoft.com/office/drawing/2014/main" id="{7D660D86-2806-BEE3-1105-AE123A7EAEBF}"/>
                </a:ext>
              </a:extLst>
            </p:cNvPr>
            <p:cNvSpPr/>
            <p:nvPr/>
          </p:nvSpPr>
          <p:spPr>
            <a:xfrm>
              <a:off x="4089075" y="2161566"/>
              <a:ext cx="1778935"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プライバシー規制の強化</a:t>
              </a:r>
              <a:endParaRPr lang="en-US" altLang="ja-JP" sz="1050" b="1" dirty="0">
                <a:solidFill>
                  <a:srgbClr val="008D2E"/>
                </a:solidFill>
                <a:latin typeface="+mn-ea"/>
              </a:endParaRPr>
            </a:p>
            <a:p>
              <a:r>
                <a:rPr lang="ja-JP" altLang="ja-JP" sz="1050" dirty="0">
                  <a:solidFill>
                    <a:schemeClr val="tx1"/>
                  </a:solidFill>
                  <a:latin typeface="+mn-ea"/>
                </a:rPr>
                <a:t>Cookie規制定着によるサードパーティデータの完全消滅とデータ権利の厳格化</a:t>
              </a:r>
              <a:endParaRPr lang="en-US" altLang="ja-JP" sz="1050" dirty="0">
                <a:solidFill>
                  <a:schemeClr val="tx1"/>
                </a:solidFill>
                <a:latin typeface="+mn-ea"/>
              </a:endParaRPr>
            </a:p>
          </p:txBody>
        </p:sp>
        <p:sp>
          <p:nvSpPr>
            <p:cNvPr id="27" name="正方形/長方形 26">
              <a:extLst>
                <a:ext uri="{FF2B5EF4-FFF2-40B4-BE49-F238E27FC236}">
                  <a16:creationId xmlns:a16="http://schemas.microsoft.com/office/drawing/2014/main" id="{A494D783-3976-38D2-FAA5-9C380704719A}"/>
                </a:ext>
              </a:extLst>
            </p:cNvPr>
            <p:cNvSpPr/>
            <p:nvPr/>
          </p:nvSpPr>
          <p:spPr>
            <a:xfrm>
              <a:off x="381616" y="2964277"/>
              <a:ext cx="1778935"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労働法制の全業種的強化</a:t>
              </a:r>
              <a:endParaRPr lang="en-US" altLang="ja-JP" sz="1050" b="1" dirty="0">
                <a:solidFill>
                  <a:srgbClr val="008D2E"/>
                </a:solidFill>
                <a:latin typeface="+mn-ea"/>
              </a:endParaRPr>
            </a:p>
            <a:p>
              <a:r>
                <a:rPr lang="ja-JP" altLang="ja-JP" sz="1050" dirty="0">
                  <a:solidFill>
                    <a:schemeClr val="tx1"/>
                  </a:solidFill>
                  <a:latin typeface="+mn-ea"/>
                </a:rPr>
                <a:t>勤務間インターバル制度の</a:t>
              </a:r>
              <a:br>
                <a:rPr lang="en-US" altLang="ja-JP" sz="1050" dirty="0">
                  <a:solidFill>
                    <a:schemeClr val="tx1"/>
                  </a:solidFill>
                  <a:latin typeface="+mn-ea"/>
                </a:rPr>
              </a:br>
              <a:r>
                <a:rPr lang="ja-JP" altLang="ja-JP" sz="1050" dirty="0">
                  <a:solidFill>
                    <a:schemeClr val="tx1"/>
                  </a:solidFill>
                  <a:latin typeface="+mn-ea"/>
                </a:rPr>
                <a:t>義務化議論、物流</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サービス業の労働時間制限</a:t>
              </a:r>
              <a:endParaRPr lang="en-US" altLang="ja-JP" sz="1050" dirty="0">
                <a:solidFill>
                  <a:schemeClr val="tx1"/>
                </a:solidFill>
                <a:latin typeface="+mn-ea"/>
              </a:endParaRPr>
            </a:p>
          </p:txBody>
        </p:sp>
        <p:sp>
          <p:nvSpPr>
            <p:cNvPr id="28" name="正方形/長方形 27">
              <a:extLst>
                <a:ext uri="{FF2B5EF4-FFF2-40B4-BE49-F238E27FC236}">
                  <a16:creationId xmlns:a16="http://schemas.microsoft.com/office/drawing/2014/main" id="{626E8488-76AA-E135-159C-4FD27A876663}"/>
                </a:ext>
              </a:extLst>
            </p:cNvPr>
            <p:cNvSpPr/>
            <p:nvPr/>
          </p:nvSpPr>
          <p:spPr>
            <a:xfrm>
              <a:off x="2235346" y="2964274"/>
              <a:ext cx="1778935"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地政学リスクの常態化</a:t>
              </a:r>
              <a:endParaRPr lang="en-US" altLang="ja-JP" sz="1050" b="1" dirty="0">
                <a:solidFill>
                  <a:srgbClr val="008D2E"/>
                </a:solidFill>
                <a:latin typeface="+mn-ea"/>
              </a:endParaRPr>
            </a:p>
            <a:p>
              <a:r>
                <a:rPr lang="ja-JP" altLang="ja-JP" sz="1050" dirty="0">
                  <a:solidFill>
                    <a:schemeClr val="tx1"/>
                  </a:solidFill>
                  <a:latin typeface="+mn-ea"/>
                </a:rPr>
                <a:t>自国第一主義、経済ブロック化に伴う追加関税措置、供給網</a:t>
              </a:r>
              <a:br>
                <a:rPr lang="en-US" altLang="ja-JP" sz="1050" dirty="0">
                  <a:solidFill>
                    <a:schemeClr val="tx1"/>
                  </a:solidFill>
                  <a:latin typeface="+mn-ea"/>
                </a:rPr>
              </a:br>
              <a:r>
                <a:rPr lang="ja-JP" altLang="ja-JP" sz="1050" dirty="0">
                  <a:solidFill>
                    <a:schemeClr val="tx1"/>
                  </a:solidFill>
                  <a:latin typeface="+mn-ea"/>
                </a:rPr>
                <a:t>継続的な分断</a:t>
              </a:r>
            </a:p>
          </p:txBody>
        </p:sp>
      </p:grpSp>
      <p:pic>
        <p:nvPicPr>
          <p:cNvPr id="82" name="グラフィックス 81" descr="No の記号 単色塗りつぶし">
            <a:extLst>
              <a:ext uri="{FF2B5EF4-FFF2-40B4-BE49-F238E27FC236}">
                <a16:creationId xmlns:a16="http://schemas.microsoft.com/office/drawing/2014/main" id="{12DEEBCC-5628-5CD0-6360-C0E5C9EC739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79447" y="1635483"/>
            <a:ext cx="432000" cy="432000"/>
          </a:xfrm>
          <a:prstGeom prst="rect">
            <a:avLst/>
          </a:prstGeom>
        </p:spPr>
      </p:pic>
      <p:sp>
        <p:nvSpPr>
          <p:cNvPr id="14" name="正方形/長方形 13">
            <a:extLst>
              <a:ext uri="{FF2B5EF4-FFF2-40B4-BE49-F238E27FC236}">
                <a16:creationId xmlns:a16="http://schemas.microsoft.com/office/drawing/2014/main" id="{269863C5-A678-C388-0DF1-44C3D0AA9526}"/>
              </a:ext>
            </a:extLst>
          </p:cNvPr>
          <p:cNvSpPr/>
          <p:nvPr/>
        </p:nvSpPr>
        <p:spPr>
          <a:xfrm>
            <a:off x="334963" y="5878051"/>
            <a:ext cx="5579700" cy="428400"/>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a:solidFill>
                  <a:schemeClr val="bg1"/>
                </a:solidFill>
                <a:latin typeface="+mn-ea"/>
              </a:rPr>
              <a:t>S</a:t>
            </a:r>
            <a:r>
              <a:rPr lang="en-US" altLang="ja-JP" sz="1600" dirty="0">
                <a:solidFill>
                  <a:schemeClr val="bg1"/>
                </a:solidFill>
                <a:latin typeface="+mn-ea"/>
              </a:rPr>
              <a:t>ociety : </a:t>
            </a:r>
            <a:r>
              <a:rPr lang="ja-JP" altLang="en-US" sz="1600" dirty="0">
                <a:solidFill>
                  <a:schemeClr val="bg1"/>
                </a:solidFill>
                <a:latin typeface="+mn-ea"/>
              </a:rPr>
              <a:t>社会</a:t>
            </a:r>
          </a:p>
        </p:txBody>
      </p:sp>
      <p:sp>
        <p:nvSpPr>
          <p:cNvPr id="16" name="正方形/長方形 15">
            <a:extLst>
              <a:ext uri="{FF2B5EF4-FFF2-40B4-BE49-F238E27FC236}">
                <a16:creationId xmlns:a16="http://schemas.microsoft.com/office/drawing/2014/main" id="{5B224985-FBA4-3F61-0403-FA7F4E387C21}"/>
              </a:ext>
            </a:extLst>
          </p:cNvPr>
          <p:cNvSpPr/>
          <p:nvPr/>
        </p:nvSpPr>
        <p:spPr>
          <a:xfrm>
            <a:off x="334963" y="4105107"/>
            <a:ext cx="5579700" cy="1795804"/>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grpSp>
        <p:nvGrpSpPr>
          <p:cNvPr id="86" name="グループ化 85">
            <a:extLst>
              <a:ext uri="{FF2B5EF4-FFF2-40B4-BE49-F238E27FC236}">
                <a16:creationId xmlns:a16="http://schemas.microsoft.com/office/drawing/2014/main" id="{062FECDE-F3BC-C469-F079-54C15D0A3754}"/>
              </a:ext>
            </a:extLst>
          </p:cNvPr>
          <p:cNvGrpSpPr/>
          <p:nvPr/>
        </p:nvGrpSpPr>
        <p:grpSpPr>
          <a:xfrm>
            <a:off x="381616" y="4239689"/>
            <a:ext cx="5486394" cy="1515563"/>
            <a:chOff x="381616" y="4435035"/>
            <a:chExt cx="5486394" cy="1271404"/>
          </a:xfrm>
        </p:grpSpPr>
        <p:sp>
          <p:nvSpPr>
            <p:cNvPr id="41" name="正方形/長方形 40">
              <a:extLst>
                <a:ext uri="{FF2B5EF4-FFF2-40B4-BE49-F238E27FC236}">
                  <a16:creationId xmlns:a16="http://schemas.microsoft.com/office/drawing/2014/main" id="{2F7D83E6-0AE8-CDBA-DAA1-E2D34D0849B3}"/>
                </a:ext>
              </a:extLst>
            </p:cNvPr>
            <p:cNvSpPr/>
            <p:nvPr/>
          </p:nvSpPr>
          <p:spPr>
            <a:xfrm>
              <a:off x="381616" y="4435035"/>
              <a:ext cx="1778935" cy="598010"/>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超高齢・単身世帯の一般化</a:t>
              </a:r>
              <a:endParaRPr lang="en-US" altLang="ja-JP" sz="1050" b="1" dirty="0">
                <a:solidFill>
                  <a:srgbClr val="008D2E"/>
                </a:solidFill>
                <a:latin typeface="+mn-ea"/>
              </a:endParaRPr>
            </a:p>
            <a:p>
              <a:r>
                <a:rPr lang="ja-JP" altLang="ja-JP" sz="1050" dirty="0">
                  <a:solidFill>
                    <a:schemeClr val="tx1"/>
                  </a:solidFill>
                  <a:latin typeface="+mn-ea"/>
                </a:rPr>
                <a:t>65歳以上が人口の34.8%を</a:t>
              </a:r>
              <a:br>
                <a:rPr lang="en-US" altLang="ja-JP" sz="1050" dirty="0">
                  <a:solidFill>
                    <a:schemeClr val="tx1"/>
                  </a:solidFill>
                  <a:latin typeface="+mn-ea"/>
                </a:rPr>
              </a:br>
              <a:r>
                <a:rPr lang="ja-JP" altLang="ja-JP" sz="1050" dirty="0">
                  <a:solidFill>
                    <a:schemeClr val="tx1"/>
                  </a:solidFill>
                  <a:latin typeface="+mn-ea"/>
                </a:rPr>
                <a:t>占め、単身世帯比率が約4割に</a:t>
              </a:r>
              <a:br>
                <a:rPr lang="en-US" altLang="ja-JP" sz="1050" dirty="0">
                  <a:solidFill>
                    <a:schemeClr val="tx1"/>
                  </a:solidFill>
                  <a:latin typeface="+mn-ea"/>
                </a:rPr>
              </a:br>
              <a:r>
                <a:rPr lang="ja-JP" altLang="ja-JP" sz="1050" dirty="0">
                  <a:solidFill>
                    <a:schemeClr val="tx1"/>
                  </a:solidFill>
                  <a:latin typeface="+mn-ea"/>
                </a:rPr>
                <a:t>到達する構造変化</a:t>
              </a:r>
              <a:endParaRPr lang="en-US" altLang="ja-JP" sz="1050" dirty="0">
                <a:solidFill>
                  <a:schemeClr val="tx1"/>
                </a:solidFill>
                <a:latin typeface="+mn-ea"/>
              </a:endParaRPr>
            </a:p>
          </p:txBody>
        </p:sp>
        <p:sp>
          <p:nvSpPr>
            <p:cNvPr id="42" name="正方形/長方形 41">
              <a:extLst>
                <a:ext uri="{FF2B5EF4-FFF2-40B4-BE49-F238E27FC236}">
                  <a16:creationId xmlns:a16="http://schemas.microsoft.com/office/drawing/2014/main" id="{A6A2347C-A259-5920-7CD1-E7AB84889A57}"/>
                </a:ext>
              </a:extLst>
            </p:cNvPr>
            <p:cNvSpPr/>
            <p:nvPr/>
          </p:nvSpPr>
          <p:spPr>
            <a:xfrm>
              <a:off x="2235346" y="4435035"/>
              <a:ext cx="1778935" cy="598010"/>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購買・消費のミニマム化</a:t>
              </a:r>
              <a:endParaRPr lang="en-US" altLang="ja-JP" sz="1050" b="1" dirty="0">
                <a:solidFill>
                  <a:srgbClr val="008D2E"/>
                </a:solidFill>
                <a:latin typeface="+mn-ea"/>
              </a:endParaRPr>
            </a:p>
            <a:p>
              <a:r>
                <a:rPr lang="ja-JP" altLang="ja-JP" sz="1050" dirty="0">
                  <a:solidFill>
                    <a:schemeClr val="tx1"/>
                  </a:solidFill>
                  <a:latin typeface="+mn-ea"/>
                </a:rPr>
                <a:t>世帯人数の減少に伴う、大量</a:t>
              </a:r>
              <a:br>
                <a:rPr lang="en-US" altLang="ja-JP" sz="1050" dirty="0">
                  <a:solidFill>
                    <a:schemeClr val="tx1"/>
                  </a:solidFill>
                  <a:latin typeface="+mn-ea"/>
                </a:rPr>
              </a:br>
              <a:r>
                <a:rPr lang="ja-JP" altLang="ja-JP" sz="1050" dirty="0">
                  <a:solidFill>
                    <a:schemeClr val="tx1"/>
                  </a:solidFill>
                  <a:latin typeface="+mn-ea"/>
                </a:rPr>
                <a:t>まとめ買いの衰退と「小容量</a:t>
              </a:r>
              <a:r>
                <a:rPr lang="en-US" altLang="ja-JP" sz="1050" dirty="0">
                  <a:solidFill>
                    <a:schemeClr val="tx1"/>
                  </a:solidFill>
                  <a:latin typeface="+mn-ea"/>
                </a:rPr>
                <a:t> </a:t>
              </a:r>
              <a:r>
                <a:rPr lang="ja-JP" altLang="en-US" sz="1050" dirty="0">
                  <a:solidFill>
                    <a:schemeClr val="tx1"/>
                  </a:solidFill>
                  <a:latin typeface="+mn-ea"/>
                </a:rPr>
                <a:t>･ </a:t>
              </a:r>
              <a:br>
                <a:rPr lang="en-US" altLang="ja-JP" sz="1050" dirty="0">
                  <a:solidFill>
                    <a:schemeClr val="tx1"/>
                  </a:solidFill>
                  <a:latin typeface="+mn-ea"/>
                </a:rPr>
              </a:br>
              <a:r>
                <a:rPr lang="ja-JP" altLang="ja-JP" sz="1050" dirty="0">
                  <a:solidFill>
                    <a:schemeClr val="tx1"/>
                  </a:solidFill>
                  <a:latin typeface="+mn-ea"/>
                </a:rPr>
                <a:t>高頻度」消費への移行</a:t>
              </a:r>
              <a:endParaRPr lang="en-US" altLang="ja-JP" sz="1050" dirty="0">
                <a:solidFill>
                  <a:schemeClr val="tx1"/>
                </a:solidFill>
                <a:latin typeface="+mn-ea"/>
              </a:endParaRPr>
            </a:p>
          </p:txBody>
        </p:sp>
        <p:sp>
          <p:nvSpPr>
            <p:cNvPr id="35" name="正方形/長方形 34">
              <a:extLst>
                <a:ext uri="{FF2B5EF4-FFF2-40B4-BE49-F238E27FC236}">
                  <a16:creationId xmlns:a16="http://schemas.microsoft.com/office/drawing/2014/main" id="{825342C4-800E-6247-1017-A8CCA1F70D48}"/>
                </a:ext>
              </a:extLst>
            </p:cNvPr>
            <p:cNvSpPr/>
            <p:nvPr/>
          </p:nvSpPr>
          <p:spPr>
            <a:xfrm>
              <a:off x="381616" y="5108429"/>
              <a:ext cx="1778935" cy="598010"/>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タイパ</a:t>
              </a:r>
              <a:r>
                <a:rPr lang="en-US" altLang="ja-JP" sz="1050" b="1" dirty="0">
                  <a:solidFill>
                    <a:srgbClr val="008D2E"/>
                  </a:solidFill>
                  <a:latin typeface="+mn-ea"/>
                </a:rPr>
                <a:t> (</a:t>
              </a:r>
              <a:r>
                <a:rPr lang="ja-JP" altLang="ja-JP" sz="1050" b="1" dirty="0">
                  <a:solidFill>
                    <a:srgbClr val="008D2E"/>
                  </a:solidFill>
                  <a:latin typeface="+mn-ea"/>
                </a:rPr>
                <a:t>手間抜き</a:t>
              </a:r>
              <a:r>
                <a:rPr lang="en-US" altLang="ja-JP" sz="1050" b="1" dirty="0">
                  <a:solidFill>
                    <a:srgbClr val="008D2E"/>
                  </a:solidFill>
                  <a:latin typeface="+mn-ea"/>
                </a:rPr>
                <a:t>) </a:t>
              </a:r>
              <a:r>
                <a:rPr lang="ja-JP" altLang="ja-JP" sz="1050" b="1" dirty="0">
                  <a:solidFill>
                    <a:srgbClr val="008D2E"/>
                  </a:solidFill>
                  <a:latin typeface="+mn-ea"/>
                </a:rPr>
                <a:t>需要の定着</a:t>
              </a:r>
              <a:endParaRPr lang="en-US" altLang="ja-JP" sz="1050" b="1" dirty="0">
                <a:solidFill>
                  <a:srgbClr val="008D2E"/>
                </a:solidFill>
                <a:latin typeface="+mn-ea"/>
              </a:endParaRPr>
            </a:p>
            <a:p>
              <a:r>
                <a:rPr lang="ja-JP" altLang="ja-JP" sz="1050" dirty="0">
                  <a:solidFill>
                    <a:schemeClr val="tx1"/>
                  </a:solidFill>
                  <a:latin typeface="+mn-ea"/>
                </a:rPr>
                <a:t>共働き世帯の一般化による家事</a:t>
              </a:r>
              <a:endParaRPr lang="en-US" altLang="ja-JP" sz="1050" dirty="0">
                <a:solidFill>
                  <a:schemeClr val="tx1"/>
                </a:solidFill>
                <a:latin typeface="+mn-ea"/>
              </a:endParaRPr>
            </a:p>
            <a:p>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買い物時間を極小化する</a:t>
              </a:r>
              <a:endParaRPr lang="en-US" altLang="ja-JP" sz="1050" dirty="0">
                <a:solidFill>
                  <a:schemeClr val="tx1"/>
                </a:solidFill>
                <a:latin typeface="+mn-ea"/>
              </a:endParaRPr>
            </a:p>
            <a:p>
              <a:r>
                <a:rPr lang="ja-JP" altLang="ja-JP" sz="1050" dirty="0">
                  <a:solidFill>
                    <a:schemeClr val="tx1"/>
                  </a:solidFill>
                  <a:latin typeface="+mn-ea"/>
                </a:rPr>
                <a:t>製品の主流化</a:t>
              </a:r>
              <a:endParaRPr lang="en-US" altLang="ja-JP" sz="1050" dirty="0">
                <a:solidFill>
                  <a:schemeClr val="tx1"/>
                </a:solidFill>
                <a:latin typeface="+mn-ea"/>
              </a:endParaRPr>
            </a:p>
          </p:txBody>
        </p:sp>
        <p:sp>
          <p:nvSpPr>
            <p:cNvPr id="36" name="正方形/長方形 35">
              <a:extLst>
                <a:ext uri="{FF2B5EF4-FFF2-40B4-BE49-F238E27FC236}">
                  <a16:creationId xmlns:a16="http://schemas.microsoft.com/office/drawing/2014/main" id="{A90C979F-D148-9FF9-78AF-60FAE34AC7C1}"/>
                </a:ext>
              </a:extLst>
            </p:cNvPr>
            <p:cNvSpPr/>
            <p:nvPr/>
          </p:nvSpPr>
          <p:spPr>
            <a:xfrm>
              <a:off x="2235346" y="5108429"/>
              <a:ext cx="1778935" cy="598010"/>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エシカル消費の定着</a:t>
              </a:r>
              <a:endParaRPr lang="en-US" altLang="ja-JP" sz="1050" b="1" dirty="0">
                <a:solidFill>
                  <a:srgbClr val="008D2E"/>
                </a:solidFill>
                <a:latin typeface="+mn-ea"/>
              </a:endParaRPr>
            </a:p>
            <a:p>
              <a:r>
                <a:rPr lang="ja-JP" altLang="ja-JP" sz="1050" dirty="0">
                  <a:solidFill>
                    <a:schemeClr val="tx1"/>
                  </a:solidFill>
                  <a:latin typeface="+mn-ea"/>
                </a:rPr>
                <a:t>Z世代以降の消費主軸化に伴う</a:t>
              </a:r>
              <a:r>
                <a:rPr lang="ja-JP" altLang="en-US" sz="1050" dirty="0">
                  <a:solidFill>
                    <a:schemeClr val="tx1"/>
                  </a:solidFill>
                  <a:latin typeface="+mn-ea"/>
                </a:rPr>
                <a:t>、</a:t>
              </a:r>
              <a:r>
                <a:rPr lang="ja-JP" altLang="ja-JP" sz="1050" dirty="0">
                  <a:solidFill>
                    <a:schemeClr val="tx1"/>
                  </a:solidFill>
                  <a:latin typeface="+mn-ea"/>
                </a:rPr>
                <a:t>環境配慮や企業の誠実さを重視する社会心理の一般化</a:t>
              </a:r>
            </a:p>
          </p:txBody>
        </p:sp>
        <p:sp>
          <p:nvSpPr>
            <p:cNvPr id="38" name="正方形/長方形 37">
              <a:extLst>
                <a:ext uri="{FF2B5EF4-FFF2-40B4-BE49-F238E27FC236}">
                  <a16:creationId xmlns:a16="http://schemas.microsoft.com/office/drawing/2014/main" id="{49092C6F-AA3A-2AE5-3627-8AAA473D922E}"/>
                </a:ext>
              </a:extLst>
            </p:cNvPr>
            <p:cNvSpPr/>
            <p:nvPr/>
          </p:nvSpPr>
          <p:spPr>
            <a:xfrm>
              <a:off x="4089075" y="5108429"/>
              <a:ext cx="1778935" cy="598010"/>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未病</a:t>
              </a:r>
              <a:r>
                <a:rPr lang="en-US" altLang="ja-JP" sz="1050" b="1" dirty="0">
                  <a:solidFill>
                    <a:srgbClr val="008D2E"/>
                  </a:solidFill>
                  <a:latin typeface="+mn-ea"/>
                </a:rPr>
                <a:t> </a:t>
              </a:r>
              <a:r>
                <a:rPr lang="ja-JP" altLang="en-US" sz="1050" b="1" dirty="0">
                  <a:solidFill>
                    <a:srgbClr val="008D2E"/>
                  </a:solidFill>
                  <a:latin typeface="+mn-ea"/>
                </a:rPr>
                <a:t>･ </a:t>
              </a:r>
              <a:r>
                <a:rPr lang="ja-JP" altLang="ja-JP" sz="1050" b="1" dirty="0">
                  <a:solidFill>
                    <a:srgbClr val="008D2E"/>
                  </a:solidFill>
                  <a:latin typeface="+mn-ea"/>
                </a:rPr>
                <a:t>予防ニーズの増大</a:t>
              </a:r>
              <a:endParaRPr lang="en-US" altLang="ja-JP" sz="1050" b="1" dirty="0">
                <a:solidFill>
                  <a:srgbClr val="008D2E"/>
                </a:solidFill>
                <a:latin typeface="+mn-ea"/>
              </a:endParaRPr>
            </a:p>
            <a:p>
              <a:r>
                <a:rPr lang="ja-JP" altLang="ja-JP" sz="1050" dirty="0">
                  <a:solidFill>
                    <a:schemeClr val="tx1"/>
                  </a:solidFill>
                  <a:latin typeface="+mn-ea"/>
                </a:rPr>
                <a:t>社会保障費抑制を背景とした</a:t>
              </a:r>
              <a:br>
                <a:rPr lang="en-US" altLang="ja-JP" sz="1050" dirty="0">
                  <a:solidFill>
                    <a:schemeClr val="tx1"/>
                  </a:solidFill>
                  <a:latin typeface="+mn-ea"/>
                </a:rPr>
              </a:br>
              <a:r>
                <a:rPr lang="ja-JP" altLang="ja-JP" sz="1050" dirty="0">
                  <a:solidFill>
                    <a:schemeClr val="tx1"/>
                  </a:solidFill>
                  <a:latin typeface="+mn-ea"/>
                </a:rPr>
                <a:t>健康寿命延伸やセルフケア需要の拡大</a:t>
              </a:r>
              <a:endParaRPr lang="en-US" altLang="ja-JP" sz="1050" dirty="0">
                <a:solidFill>
                  <a:schemeClr val="tx1"/>
                </a:solidFill>
                <a:latin typeface="+mn-ea"/>
              </a:endParaRPr>
            </a:p>
          </p:txBody>
        </p:sp>
      </p:grpSp>
      <p:pic>
        <p:nvPicPr>
          <p:cNvPr id="84" name="グラフィックス 83" descr="接続 単色塗りつぶし">
            <a:extLst>
              <a:ext uri="{FF2B5EF4-FFF2-40B4-BE49-F238E27FC236}">
                <a16:creationId xmlns:a16="http://schemas.microsoft.com/office/drawing/2014/main" id="{9D2591C6-C8DA-56A7-B105-2C28676B034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96439" y="5889289"/>
            <a:ext cx="432000" cy="432000"/>
          </a:xfrm>
          <a:prstGeom prst="rect">
            <a:avLst/>
          </a:prstGeom>
        </p:spPr>
      </p:pic>
      <p:sp>
        <p:nvSpPr>
          <p:cNvPr id="90" name="正方形/長方形 89">
            <a:extLst>
              <a:ext uri="{FF2B5EF4-FFF2-40B4-BE49-F238E27FC236}">
                <a16:creationId xmlns:a16="http://schemas.microsoft.com/office/drawing/2014/main" id="{CA96123D-3DFA-9731-9BF5-9FC6A305B933}"/>
              </a:ext>
            </a:extLst>
          </p:cNvPr>
          <p:cNvSpPr/>
          <p:nvPr/>
        </p:nvSpPr>
        <p:spPr>
          <a:xfrm>
            <a:off x="6277338" y="1637964"/>
            <a:ext cx="5579700" cy="427038"/>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a:solidFill>
                  <a:schemeClr val="bg1"/>
                </a:solidFill>
                <a:latin typeface="+mn-ea"/>
              </a:rPr>
              <a:t>E</a:t>
            </a:r>
            <a:r>
              <a:rPr lang="en-US" altLang="ja-JP" sz="1600" dirty="0">
                <a:solidFill>
                  <a:schemeClr val="bg1"/>
                </a:solidFill>
                <a:latin typeface="+mn-ea"/>
              </a:rPr>
              <a:t>conomy : </a:t>
            </a:r>
            <a:r>
              <a:rPr lang="ja-JP" altLang="en-US" sz="1600" dirty="0">
                <a:solidFill>
                  <a:schemeClr val="bg1"/>
                </a:solidFill>
                <a:latin typeface="+mn-ea"/>
              </a:rPr>
              <a:t>経済</a:t>
            </a:r>
          </a:p>
        </p:txBody>
      </p:sp>
      <p:sp>
        <p:nvSpPr>
          <p:cNvPr id="91" name="正方形/長方形 90">
            <a:extLst>
              <a:ext uri="{FF2B5EF4-FFF2-40B4-BE49-F238E27FC236}">
                <a16:creationId xmlns:a16="http://schemas.microsoft.com/office/drawing/2014/main" id="{857193B1-BF54-9665-442C-D7980EFC7C8D}"/>
              </a:ext>
            </a:extLst>
          </p:cNvPr>
          <p:cNvSpPr/>
          <p:nvPr/>
        </p:nvSpPr>
        <p:spPr>
          <a:xfrm>
            <a:off x="6277338" y="2065002"/>
            <a:ext cx="5579700" cy="1705616"/>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grpSp>
        <p:nvGrpSpPr>
          <p:cNvPr id="19" name="グループ化 18">
            <a:extLst>
              <a:ext uri="{FF2B5EF4-FFF2-40B4-BE49-F238E27FC236}">
                <a16:creationId xmlns:a16="http://schemas.microsoft.com/office/drawing/2014/main" id="{A1DE9F2F-A459-7363-AC5C-AB3BD928E937}"/>
              </a:ext>
            </a:extLst>
          </p:cNvPr>
          <p:cNvGrpSpPr/>
          <p:nvPr/>
        </p:nvGrpSpPr>
        <p:grpSpPr>
          <a:xfrm>
            <a:off x="6323990" y="2161566"/>
            <a:ext cx="5486395" cy="1515560"/>
            <a:chOff x="6323990" y="2161566"/>
            <a:chExt cx="5486395" cy="1515560"/>
          </a:xfrm>
        </p:grpSpPr>
        <p:sp>
          <p:nvSpPr>
            <p:cNvPr id="94" name="正方形/長方形 93">
              <a:extLst>
                <a:ext uri="{FF2B5EF4-FFF2-40B4-BE49-F238E27FC236}">
                  <a16:creationId xmlns:a16="http://schemas.microsoft.com/office/drawing/2014/main" id="{D150FEB5-9A80-708D-9FFA-CB7A2322674B}"/>
                </a:ext>
              </a:extLst>
            </p:cNvPr>
            <p:cNvSpPr/>
            <p:nvPr/>
          </p:nvSpPr>
          <p:spPr>
            <a:xfrm>
              <a:off x="6323990" y="2161566"/>
              <a:ext cx="1778400"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国内労働人口の激減</a:t>
              </a:r>
              <a:endParaRPr lang="en-US" altLang="ja-JP" sz="1050" b="1" dirty="0">
                <a:solidFill>
                  <a:srgbClr val="008D2E"/>
                </a:solidFill>
                <a:latin typeface="+mn-ea"/>
              </a:endParaRPr>
            </a:p>
            <a:p>
              <a:r>
                <a:rPr lang="ja-JP" altLang="ja-JP" sz="1050" dirty="0">
                  <a:solidFill>
                    <a:schemeClr val="tx1"/>
                  </a:solidFill>
                  <a:latin typeface="+mn-ea"/>
                </a:rPr>
                <a:t>少子高齢化・生産年齢人口減少に伴う、国内労働人口減少</a:t>
              </a:r>
              <a:br>
                <a:rPr lang="en-US" altLang="ja-JP" sz="1050" dirty="0">
                  <a:solidFill>
                    <a:schemeClr val="tx1"/>
                  </a:solidFill>
                  <a:latin typeface="+mn-ea"/>
                </a:rPr>
              </a:br>
              <a:r>
                <a:rPr lang="en-US" altLang="ja-JP" sz="1050" dirty="0">
                  <a:solidFill>
                    <a:schemeClr val="tx1"/>
                  </a:solidFill>
                  <a:latin typeface="+mn-ea"/>
                </a:rPr>
                <a:t>(</a:t>
              </a:r>
              <a:r>
                <a:rPr lang="ja-JP" altLang="ja-JP" sz="1050" dirty="0">
                  <a:solidFill>
                    <a:schemeClr val="tx1"/>
                  </a:solidFill>
                  <a:latin typeface="+mn-ea"/>
                </a:rPr>
                <a:t>▲956万人</a:t>
              </a:r>
              <a:r>
                <a:rPr lang="en-US" altLang="ja-JP" sz="1050" dirty="0">
                  <a:solidFill>
                    <a:schemeClr val="tx1"/>
                  </a:solidFill>
                  <a:latin typeface="+mn-ea"/>
                </a:rPr>
                <a:t>)</a:t>
              </a:r>
            </a:p>
          </p:txBody>
        </p:sp>
        <p:sp>
          <p:nvSpPr>
            <p:cNvPr id="95" name="正方形/長方形 94">
              <a:extLst>
                <a:ext uri="{FF2B5EF4-FFF2-40B4-BE49-F238E27FC236}">
                  <a16:creationId xmlns:a16="http://schemas.microsoft.com/office/drawing/2014/main" id="{C8E0131B-C9CC-23A7-6201-D9624F560267}"/>
                </a:ext>
              </a:extLst>
            </p:cNvPr>
            <p:cNvSpPr/>
            <p:nvPr/>
          </p:nvSpPr>
          <p:spPr>
            <a:xfrm>
              <a:off x="8178256" y="2161566"/>
              <a:ext cx="1778400"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日雑市場の数量的縮小</a:t>
              </a:r>
              <a:endParaRPr lang="en-US" altLang="ja-JP" sz="1050" b="1" dirty="0">
                <a:solidFill>
                  <a:srgbClr val="008D2E"/>
                </a:solidFill>
                <a:latin typeface="+mn-ea"/>
              </a:endParaRPr>
            </a:p>
            <a:p>
              <a:r>
                <a:rPr lang="ja-JP" altLang="ja-JP" sz="1050" dirty="0">
                  <a:solidFill>
                    <a:schemeClr val="tx1"/>
                  </a:solidFill>
                  <a:latin typeface="+mn-ea"/>
                </a:rPr>
                <a:t>国内市場全体における</a:t>
              </a:r>
              <a:br>
                <a:rPr lang="en-US" altLang="ja-JP" sz="1050" dirty="0">
                  <a:solidFill>
                    <a:schemeClr val="tx1"/>
                  </a:solidFill>
                  <a:latin typeface="+mn-ea"/>
                </a:rPr>
              </a:br>
              <a:r>
                <a:rPr lang="ja-JP" altLang="ja-JP" sz="1050" dirty="0">
                  <a:solidFill>
                    <a:schemeClr val="tx1"/>
                  </a:solidFill>
                  <a:latin typeface="+mn-ea"/>
                </a:rPr>
                <a:t>数量ベースの10〜15%構造縮小</a:t>
              </a:r>
              <a:r>
                <a:rPr lang="en-US" altLang="ja-JP" sz="1050" dirty="0">
                  <a:solidFill>
                    <a:schemeClr val="tx1"/>
                  </a:solidFill>
                  <a:latin typeface="+mn-ea"/>
                </a:rPr>
                <a:t> (</a:t>
              </a:r>
              <a:r>
                <a:rPr lang="ja-JP" altLang="ja-JP" sz="1050" dirty="0">
                  <a:solidFill>
                    <a:schemeClr val="tx1"/>
                  </a:solidFill>
                  <a:latin typeface="+mn-ea"/>
                </a:rPr>
                <a:t>数量消費の停滞</a:t>
              </a:r>
              <a:r>
                <a:rPr lang="en-US" altLang="ja-JP" sz="1050" dirty="0">
                  <a:solidFill>
                    <a:schemeClr val="tx1"/>
                  </a:solidFill>
                  <a:latin typeface="+mn-ea"/>
                </a:rPr>
                <a:t>) </a:t>
              </a:r>
            </a:p>
          </p:txBody>
        </p:sp>
        <p:sp>
          <p:nvSpPr>
            <p:cNvPr id="96" name="正方形/長方形 95">
              <a:extLst>
                <a:ext uri="{FF2B5EF4-FFF2-40B4-BE49-F238E27FC236}">
                  <a16:creationId xmlns:a16="http://schemas.microsoft.com/office/drawing/2014/main" id="{1698167D-3269-EB00-BAD4-3884806D676B}"/>
                </a:ext>
              </a:extLst>
            </p:cNvPr>
            <p:cNvSpPr/>
            <p:nvPr/>
          </p:nvSpPr>
          <p:spPr>
            <a:xfrm>
              <a:off x="10031985" y="2161566"/>
              <a:ext cx="1778400"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価格のK字化固定</a:t>
              </a:r>
              <a:endParaRPr lang="en-US" altLang="ja-JP" sz="1050" b="1" dirty="0">
                <a:solidFill>
                  <a:srgbClr val="008D2E"/>
                </a:solidFill>
                <a:latin typeface="+mn-ea"/>
              </a:endParaRPr>
            </a:p>
            <a:p>
              <a:r>
                <a:rPr lang="ja-JP" altLang="ja-JP" sz="1050" dirty="0">
                  <a:solidFill>
                    <a:schemeClr val="tx1"/>
                  </a:solidFill>
                  <a:latin typeface="+mn-ea"/>
                </a:rPr>
                <a:t>インフレと税負担増による、「低価格</a:t>
              </a:r>
              <a:r>
                <a:rPr lang="en-US" altLang="ja-JP" sz="1050" dirty="0">
                  <a:solidFill>
                    <a:schemeClr val="tx1"/>
                  </a:solidFill>
                  <a:latin typeface="+mn-ea"/>
                </a:rPr>
                <a:t> (</a:t>
              </a:r>
              <a:r>
                <a:rPr lang="ja-JP" altLang="ja-JP" sz="1050" dirty="0">
                  <a:solidFill>
                    <a:schemeClr val="tx1"/>
                  </a:solidFill>
                  <a:latin typeface="+mn-ea"/>
                </a:rPr>
                <a:t>PB</a:t>
              </a:r>
              <a:r>
                <a:rPr lang="en-US" altLang="ja-JP" sz="1050" dirty="0">
                  <a:solidFill>
                    <a:schemeClr val="tx1"/>
                  </a:solidFill>
                  <a:latin typeface="+mn-ea"/>
                </a:rPr>
                <a:t>)</a:t>
              </a:r>
              <a:r>
                <a:rPr lang="ja-JP" altLang="ja-JP" sz="1050" dirty="0">
                  <a:solidFill>
                    <a:schemeClr val="tx1"/>
                  </a:solidFill>
                  <a:latin typeface="+mn-ea"/>
                </a:rPr>
                <a:t>」と「プレミアム」への二極化</a:t>
              </a:r>
              <a:r>
                <a:rPr lang="ja-JP" altLang="en-US" sz="1050" dirty="0">
                  <a:solidFill>
                    <a:schemeClr val="tx1"/>
                  </a:solidFill>
                  <a:latin typeface="+mn-ea"/>
                </a:rPr>
                <a:t>と</a:t>
              </a:r>
              <a:r>
                <a:rPr lang="ja-JP" altLang="ja-JP" sz="1050" dirty="0">
                  <a:solidFill>
                    <a:schemeClr val="tx1"/>
                  </a:solidFill>
                  <a:latin typeface="+mn-ea"/>
                </a:rPr>
                <a:t>NB中価格帯空洞化</a:t>
              </a:r>
              <a:endParaRPr lang="en-US" altLang="ja-JP" sz="1050" dirty="0">
                <a:solidFill>
                  <a:schemeClr val="tx1"/>
                </a:solidFill>
                <a:latin typeface="+mn-ea"/>
              </a:endParaRPr>
            </a:p>
          </p:txBody>
        </p:sp>
        <p:grpSp>
          <p:nvGrpSpPr>
            <p:cNvPr id="4" name="グループ化 3">
              <a:extLst>
                <a:ext uri="{FF2B5EF4-FFF2-40B4-BE49-F238E27FC236}">
                  <a16:creationId xmlns:a16="http://schemas.microsoft.com/office/drawing/2014/main" id="{7142F099-10F6-B9B5-AD47-B2BD18D44691}"/>
                </a:ext>
              </a:extLst>
            </p:cNvPr>
            <p:cNvGrpSpPr/>
            <p:nvPr/>
          </p:nvGrpSpPr>
          <p:grpSpPr>
            <a:xfrm>
              <a:off x="8177721" y="2964273"/>
              <a:ext cx="3632664" cy="712853"/>
              <a:chOff x="7690647" y="2979513"/>
              <a:chExt cx="4119738" cy="712853"/>
            </a:xfrm>
          </p:grpSpPr>
          <p:sp>
            <p:nvSpPr>
              <p:cNvPr id="98" name="正方形/長方形 97">
                <a:extLst>
                  <a:ext uri="{FF2B5EF4-FFF2-40B4-BE49-F238E27FC236}">
                    <a16:creationId xmlns:a16="http://schemas.microsoft.com/office/drawing/2014/main" id="{6B06F52B-97B3-EC2E-2A16-CE2ECF11E5B8}"/>
                  </a:ext>
                </a:extLst>
              </p:cNvPr>
              <p:cNvSpPr/>
              <p:nvPr/>
            </p:nvSpPr>
            <p:spPr>
              <a:xfrm>
                <a:off x="7690647" y="2979514"/>
                <a:ext cx="2029837"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フィジカルインターネットの進展</a:t>
                </a:r>
                <a:endParaRPr lang="en-US" altLang="ja-JP" sz="1050" b="1" dirty="0">
                  <a:solidFill>
                    <a:srgbClr val="008D2E"/>
                  </a:solidFill>
                  <a:latin typeface="+mn-ea"/>
                </a:endParaRPr>
              </a:p>
              <a:p>
                <a:r>
                  <a:rPr lang="ja-JP" altLang="ja-JP" sz="1050" dirty="0">
                    <a:solidFill>
                      <a:schemeClr val="tx1"/>
                    </a:solidFill>
                    <a:latin typeface="+mn-ea"/>
                  </a:rPr>
                  <a:t>ドライバー不足への対抗策としての、競合</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異業種間での物流網</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倉庫の共同共有化</a:t>
                </a:r>
                <a:endParaRPr lang="en-US" altLang="ja-JP" sz="1050" dirty="0">
                  <a:solidFill>
                    <a:schemeClr val="tx1"/>
                  </a:solidFill>
                  <a:latin typeface="+mn-ea"/>
                </a:endParaRPr>
              </a:p>
            </p:txBody>
          </p:sp>
          <p:sp>
            <p:nvSpPr>
              <p:cNvPr id="109" name="正方形/長方形 108">
                <a:extLst>
                  <a:ext uri="{FF2B5EF4-FFF2-40B4-BE49-F238E27FC236}">
                    <a16:creationId xmlns:a16="http://schemas.microsoft.com/office/drawing/2014/main" id="{B16E099D-03F2-9CCB-7D6C-992464995C30}"/>
                  </a:ext>
                </a:extLst>
              </p:cNvPr>
              <p:cNvSpPr/>
              <p:nvPr/>
            </p:nvSpPr>
            <p:spPr>
              <a:xfrm>
                <a:off x="9780548" y="2979513"/>
                <a:ext cx="2029837"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コストのボラティリティ高止まり</a:t>
                </a:r>
                <a:endParaRPr lang="en-US" altLang="ja-JP" sz="1050" b="1" dirty="0">
                  <a:solidFill>
                    <a:srgbClr val="008D2E"/>
                  </a:solidFill>
                  <a:latin typeface="+mn-ea"/>
                </a:endParaRPr>
              </a:p>
              <a:p>
                <a:r>
                  <a:rPr lang="ja-JP" altLang="ja-JP" sz="1050" dirty="0">
                    <a:solidFill>
                      <a:schemeClr val="tx1"/>
                    </a:solidFill>
                    <a:latin typeface="+mn-ea"/>
                  </a:rPr>
                  <a:t>油脂類等の原材料価格、化石燃料、為替レートの恒常的な乱高下リスク</a:t>
                </a:r>
              </a:p>
            </p:txBody>
          </p:sp>
        </p:grpSp>
      </p:grpSp>
      <p:pic>
        <p:nvPicPr>
          <p:cNvPr id="126" name="グラフィックス 125" descr="棒グラフ (上昇) 単色塗りつぶし">
            <a:extLst>
              <a:ext uri="{FF2B5EF4-FFF2-40B4-BE49-F238E27FC236}">
                <a16:creationId xmlns:a16="http://schemas.microsoft.com/office/drawing/2014/main" id="{829275FB-5B6E-8898-C6F2-A155D6413D1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732985" y="1635483"/>
            <a:ext cx="432000" cy="432000"/>
          </a:xfrm>
          <a:prstGeom prst="rect">
            <a:avLst/>
          </a:prstGeom>
        </p:spPr>
      </p:pic>
      <p:sp>
        <p:nvSpPr>
          <p:cNvPr id="100" name="正方形/長方形 99">
            <a:extLst>
              <a:ext uri="{FF2B5EF4-FFF2-40B4-BE49-F238E27FC236}">
                <a16:creationId xmlns:a16="http://schemas.microsoft.com/office/drawing/2014/main" id="{5BBB3517-E699-94F2-9D4E-B2B6AFB4C29E}"/>
              </a:ext>
            </a:extLst>
          </p:cNvPr>
          <p:cNvSpPr/>
          <p:nvPr/>
        </p:nvSpPr>
        <p:spPr>
          <a:xfrm>
            <a:off x="6277338" y="5878051"/>
            <a:ext cx="5579700" cy="428400"/>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a:solidFill>
                  <a:schemeClr val="bg1"/>
                </a:solidFill>
                <a:latin typeface="+mn-ea"/>
              </a:rPr>
              <a:t>T</a:t>
            </a:r>
            <a:r>
              <a:rPr lang="en-US" altLang="ja-JP" sz="1600" dirty="0">
                <a:solidFill>
                  <a:schemeClr val="bg1"/>
                </a:solidFill>
                <a:latin typeface="+mn-ea"/>
              </a:rPr>
              <a:t>echnology : </a:t>
            </a:r>
            <a:r>
              <a:rPr lang="ja-JP" altLang="en-US" sz="1600" dirty="0">
                <a:solidFill>
                  <a:schemeClr val="bg1"/>
                </a:solidFill>
                <a:latin typeface="+mn-ea"/>
              </a:rPr>
              <a:t>技術</a:t>
            </a:r>
          </a:p>
        </p:txBody>
      </p:sp>
      <p:sp>
        <p:nvSpPr>
          <p:cNvPr id="101" name="正方形/長方形 100">
            <a:extLst>
              <a:ext uri="{FF2B5EF4-FFF2-40B4-BE49-F238E27FC236}">
                <a16:creationId xmlns:a16="http://schemas.microsoft.com/office/drawing/2014/main" id="{75E6AB61-891C-ED79-5CDF-6F6D3A98EA4C}"/>
              </a:ext>
            </a:extLst>
          </p:cNvPr>
          <p:cNvSpPr/>
          <p:nvPr/>
        </p:nvSpPr>
        <p:spPr>
          <a:xfrm>
            <a:off x="6277338" y="4105107"/>
            <a:ext cx="5579700" cy="1795804"/>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grpSp>
        <p:nvGrpSpPr>
          <p:cNvPr id="21" name="グループ化 20">
            <a:extLst>
              <a:ext uri="{FF2B5EF4-FFF2-40B4-BE49-F238E27FC236}">
                <a16:creationId xmlns:a16="http://schemas.microsoft.com/office/drawing/2014/main" id="{D89AF5F6-6E64-3443-B367-A6185930EAD1}"/>
              </a:ext>
            </a:extLst>
          </p:cNvPr>
          <p:cNvGrpSpPr/>
          <p:nvPr/>
        </p:nvGrpSpPr>
        <p:grpSpPr>
          <a:xfrm>
            <a:off x="6323991" y="4239689"/>
            <a:ext cx="5486394" cy="1515563"/>
            <a:chOff x="6323991" y="4239689"/>
            <a:chExt cx="5486394" cy="1515563"/>
          </a:xfrm>
        </p:grpSpPr>
        <p:sp>
          <p:nvSpPr>
            <p:cNvPr id="106" name="正方形/長方形 105">
              <a:extLst>
                <a:ext uri="{FF2B5EF4-FFF2-40B4-BE49-F238E27FC236}">
                  <a16:creationId xmlns:a16="http://schemas.microsoft.com/office/drawing/2014/main" id="{1FA5B1F4-E272-6764-6311-499E6FD23AAF}"/>
                </a:ext>
              </a:extLst>
            </p:cNvPr>
            <p:cNvSpPr/>
            <p:nvPr/>
          </p:nvSpPr>
          <p:spPr>
            <a:xfrm>
              <a:off x="6323991" y="5042401"/>
              <a:ext cx="1778935" cy="712851"/>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全商品のRFID</a:t>
              </a:r>
              <a:r>
                <a:rPr lang="en-US" altLang="ja-JP" sz="1050" b="1" dirty="0">
                  <a:solidFill>
                    <a:srgbClr val="008D2E"/>
                  </a:solidFill>
                  <a:latin typeface="+mn-ea"/>
                </a:rPr>
                <a:t> </a:t>
              </a:r>
              <a:r>
                <a:rPr lang="ja-JP" altLang="ja-JP" sz="1050" b="1" dirty="0">
                  <a:solidFill>
                    <a:srgbClr val="008D2E"/>
                  </a:solidFill>
                  <a:latin typeface="+mn-ea"/>
                </a:rPr>
                <a:t>/</a:t>
              </a:r>
              <a:r>
                <a:rPr lang="en-US" altLang="ja-JP" sz="1050" b="1" dirty="0">
                  <a:solidFill>
                    <a:srgbClr val="008D2E"/>
                  </a:solidFill>
                  <a:latin typeface="+mn-ea"/>
                </a:rPr>
                <a:t> </a:t>
              </a:r>
              <a:r>
                <a:rPr lang="ja-JP" altLang="ja-JP" sz="1050" b="1" dirty="0">
                  <a:solidFill>
                    <a:srgbClr val="008D2E"/>
                  </a:solidFill>
                  <a:latin typeface="+mn-ea"/>
                </a:rPr>
                <a:t>IoP装着</a:t>
              </a:r>
              <a:endParaRPr lang="en-US" altLang="ja-JP" sz="1050" b="1" dirty="0">
                <a:solidFill>
                  <a:srgbClr val="008D2E"/>
                </a:solidFill>
                <a:latin typeface="+mn-ea"/>
              </a:endParaRPr>
            </a:p>
            <a:p>
              <a:r>
                <a:rPr lang="ja-JP" altLang="ja-JP" sz="1050" dirty="0">
                  <a:solidFill>
                    <a:schemeClr val="tx1"/>
                  </a:solidFill>
                  <a:latin typeface="+mn-ea"/>
                </a:rPr>
                <a:t>ICタグ等の超低コスト化による、</a:t>
              </a:r>
              <a:br>
                <a:rPr lang="en-US" altLang="ja-JP" sz="1050" dirty="0">
                  <a:solidFill>
                    <a:schemeClr val="tx1"/>
                  </a:solidFill>
                  <a:latin typeface="+mn-ea"/>
                </a:rPr>
              </a:br>
              <a:r>
                <a:rPr lang="ja-JP" altLang="ja-JP" sz="1050" dirty="0">
                  <a:solidFill>
                    <a:schemeClr val="tx1"/>
                  </a:solidFill>
                  <a:latin typeface="+mn-ea"/>
                </a:rPr>
                <a:t>全商品のリアルタイム個体識別</a:t>
              </a:r>
              <a:br>
                <a:rPr lang="en-US" altLang="ja-JP" sz="1050" dirty="0">
                  <a:solidFill>
                    <a:schemeClr val="tx1"/>
                  </a:solidFill>
                  <a:latin typeface="+mn-ea"/>
                </a:rPr>
              </a:br>
              <a:r>
                <a:rPr lang="ja-JP" altLang="ja-JP" sz="1050" dirty="0">
                  <a:solidFill>
                    <a:schemeClr val="tx1"/>
                  </a:solidFill>
                  <a:latin typeface="+mn-ea"/>
                </a:rPr>
                <a:t>インフラの完成</a:t>
              </a:r>
              <a:endParaRPr lang="en-US" altLang="ja-JP" sz="1050" dirty="0">
                <a:solidFill>
                  <a:schemeClr val="tx1"/>
                </a:solidFill>
                <a:latin typeface="+mn-ea"/>
              </a:endParaRPr>
            </a:p>
          </p:txBody>
        </p:sp>
        <p:sp>
          <p:nvSpPr>
            <p:cNvPr id="107" name="正方形/長方形 106">
              <a:extLst>
                <a:ext uri="{FF2B5EF4-FFF2-40B4-BE49-F238E27FC236}">
                  <a16:creationId xmlns:a16="http://schemas.microsoft.com/office/drawing/2014/main" id="{1A906BBE-9061-2696-AB5D-02554793377C}"/>
                </a:ext>
              </a:extLst>
            </p:cNvPr>
            <p:cNvSpPr/>
            <p:nvPr/>
          </p:nvSpPr>
          <p:spPr>
            <a:xfrm>
              <a:off x="8177721" y="5042401"/>
              <a:ext cx="1778935" cy="712851"/>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店頭のスマートストア化</a:t>
              </a:r>
              <a:endParaRPr lang="en-US" altLang="ja-JP" sz="1050" b="1" dirty="0">
                <a:solidFill>
                  <a:srgbClr val="008D2E"/>
                </a:solidFill>
                <a:latin typeface="+mn-ea"/>
              </a:endParaRPr>
            </a:p>
            <a:p>
              <a:r>
                <a:rPr lang="ja-JP" altLang="ja-JP" sz="1050" dirty="0">
                  <a:solidFill>
                    <a:schemeClr val="tx1"/>
                  </a:solidFill>
                  <a:latin typeface="+mn-ea"/>
                </a:rPr>
                <a:t>電子棚札、AIカメラ、レジレス化による売場運用のリアルタイムデータ化</a:t>
              </a:r>
            </a:p>
          </p:txBody>
        </p:sp>
        <p:sp>
          <p:nvSpPr>
            <p:cNvPr id="108" name="正方形/長方形 107">
              <a:extLst>
                <a:ext uri="{FF2B5EF4-FFF2-40B4-BE49-F238E27FC236}">
                  <a16:creationId xmlns:a16="http://schemas.microsoft.com/office/drawing/2014/main" id="{18071604-B325-37DD-566A-EFD428467F10}"/>
                </a:ext>
              </a:extLst>
            </p:cNvPr>
            <p:cNvSpPr/>
            <p:nvPr/>
          </p:nvSpPr>
          <p:spPr>
            <a:xfrm>
              <a:off x="10031450" y="5042401"/>
              <a:ext cx="1778935" cy="712851"/>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国内リテールメディア市場拡大</a:t>
              </a:r>
              <a:endParaRPr lang="en-US" altLang="ja-JP" sz="1050" b="1" dirty="0">
                <a:solidFill>
                  <a:srgbClr val="008D2E"/>
                </a:solidFill>
                <a:latin typeface="+mn-ea"/>
              </a:endParaRPr>
            </a:p>
            <a:p>
              <a:r>
                <a:rPr lang="ja-JP" altLang="ja-JP" sz="1050" dirty="0">
                  <a:solidFill>
                    <a:schemeClr val="tx1"/>
                  </a:solidFill>
                  <a:latin typeface="+mn-ea"/>
                </a:rPr>
                <a:t>ID-POS連動のデジタル広告</a:t>
              </a:r>
              <a:r>
                <a:rPr lang="en-US" altLang="ja-JP" sz="1050" dirty="0">
                  <a:solidFill>
                    <a:schemeClr val="tx1"/>
                  </a:solidFill>
                  <a:latin typeface="+mn-ea"/>
                </a:rPr>
                <a:t> </a:t>
              </a:r>
              <a:r>
                <a:rPr lang="ja-JP" altLang="en-US" sz="1050" dirty="0">
                  <a:solidFill>
                    <a:schemeClr val="tx1"/>
                  </a:solidFill>
                  <a:latin typeface="+mn-ea"/>
                </a:rPr>
                <a:t>･ </a:t>
              </a:r>
              <a:br>
                <a:rPr lang="en-US" altLang="ja-JP" sz="1050" dirty="0">
                  <a:solidFill>
                    <a:schemeClr val="tx1"/>
                  </a:solidFill>
                  <a:latin typeface="+mn-ea"/>
                </a:rPr>
              </a:br>
              <a:r>
                <a:rPr lang="ja-JP" altLang="ja-JP" sz="1050" dirty="0">
                  <a:solidFill>
                    <a:schemeClr val="tx1"/>
                  </a:solidFill>
                  <a:latin typeface="+mn-ea"/>
                </a:rPr>
                <a:t>サイネージ枠の拡大</a:t>
              </a:r>
              <a:endParaRPr lang="en-US" altLang="ja-JP" sz="1050" dirty="0">
                <a:solidFill>
                  <a:schemeClr val="tx1"/>
                </a:solidFill>
                <a:latin typeface="+mn-ea"/>
              </a:endParaRPr>
            </a:p>
            <a:p>
              <a:r>
                <a:rPr lang="en-US" altLang="ja-JP" sz="1050" dirty="0">
                  <a:solidFill>
                    <a:schemeClr val="tx1"/>
                  </a:solidFill>
                  <a:latin typeface="+mn-ea"/>
                </a:rPr>
                <a:t> (</a:t>
              </a:r>
              <a:r>
                <a:rPr lang="ja-JP" altLang="ja-JP" sz="1050" dirty="0">
                  <a:solidFill>
                    <a:schemeClr val="tx1"/>
                  </a:solidFill>
                  <a:latin typeface="+mn-ea"/>
                </a:rPr>
                <a:t>2029年に1.3兆円規模予測</a:t>
              </a:r>
              <a:r>
                <a:rPr lang="en-US" altLang="ja-JP" sz="1050" dirty="0">
                  <a:solidFill>
                    <a:schemeClr val="tx1"/>
                  </a:solidFill>
                  <a:latin typeface="+mn-ea"/>
                </a:rPr>
                <a:t>) </a:t>
              </a:r>
              <a:endParaRPr lang="ja-JP" altLang="ja-JP" sz="1050" dirty="0">
                <a:solidFill>
                  <a:schemeClr val="tx1"/>
                </a:solidFill>
                <a:latin typeface="+mn-ea"/>
              </a:endParaRPr>
            </a:p>
          </p:txBody>
        </p:sp>
        <p:grpSp>
          <p:nvGrpSpPr>
            <p:cNvPr id="6" name="グループ化 5">
              <a:extLst>
                <a:ext uri="{FF2B5EF4-FFF2-40B4-BE49-F238E27FC236}">
                  <a16:creationId xmlns:a16="http://schemas.microsoft.com/office/drawing/2014/main" id="{327B143F-BB6A-9B33-D766-42FF7A434980}"/>
                </a:ext>
              </a:extLst>
            </p:cNvPr>
            <p:cNvGrpSpPr/>
            <p:nvPr/>
          </p:nvGrpSpPr>
          <p:grpSpPr>
            <a:xfrm>
              <a:off x="8177721" y="4239689"/>
              <a:ext cx="3632663" cy="712851"/>
              <a:chOff x="7690647" y="4224449"/>
              <a:chExt cx="4119737" cy="712851"/>
            </a:xfrm>
          </p:grpSpPr>
          <p:sp>
            <p:nvSpPr>
              <p:cNvPr id="105" name="正方形/長方形 104">
                <a:extLst>
                  <a:ext uri="{FF2B5EF4-FFF2-40B4-BE49-F238E27FC236}">
                    <a16:creationId xmlns:a16="http://schemas.microsoft.com/office/drawing/2014/main" id="{FDBEA838-2AE7-79CF-D3F6-FC7BA89D3B27}"/>
                  </a:ext>
                </a:extLst>
              </p:cNvPr>
              <p:cNvSpPr/>
              <p:nvPr/>
            </p:nvSpPr>
            <p:spPr>
              <a:xfrm>
                <a:off x="7690647" y="4224449"/>
                <a:ext cx="2029837" cy="712851"/>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自律型AIエージェントの浸透</a:t>
                </a:r>
                <a:endParaRPr lang="en-US" altLang="ja-JP" sz="1050" b="1" dirty="0">
                  <a:solidFill>
                    <a:srgbClr val="008D2E"/>
                  </a:solidFill>
                  <a:latin typeface="+mn-ea"/>
                </a:endParaRPr>
              </a:p>
              <a:p>
                <a:r>
                  <a:rPr lang="ja-JP" altLang="ja-JP" sz="1050" dirty="0">
                    <a:solidFill>
                      <a:schemeClr val="tx1"/>
                    </a:solidFill>
                    <a:latin typeface="+mn-ea"/>
                  </a:rPr>
                  <a:t>購買、情報探索、生活の意思決定アルゴリズムへの生成AI技術の介在</a:t>
                </a:r>
                <a:endParaRPr lang="en-US" altLang="ja-JP" sz="1050" dirty="0">
                  <a:solidFill>
                    <a:schemeClr val="tx1"/>
                  </a:solidFill>
                  <a:latin typeface="+mn-ea"/>
                </a:endParaRPr>
              </a:p>
            </p:txBody>
          </p:sp>
          <p:sp>
            <p:nvSpPr>
              <p:cNvPr id="111" name="正方形/長方形 110">
                <a:extLst>
                  <a:ext uri="{FF2B5EF4-FFF2-40B4-BE49-F238E27FC236}">
                    <a16:creationId xmlns:a16="http://schemas.microsoft.com/office/drawing/2014/main" id="{F4390C16-F07D-8FD0-EA3A-66C2582BE791}"/>
                  </a:ext>
                </a:extLst>
              </p:cNvPr>
              <p:cNvSpPr/>
              <p:nvPr/>
            </p:nvSpPr>
            <p:spPr>
              <a:xfrm>
                <a:off x="9780547" y="4224449"/>
                <a:ext cx="2029837" cy="712851"/>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r>
                  <a:rPr lang="ja-JP" altLang="ja-JP" sz="1050" b="1" dirty="0">
                    <a:solidFill>
                      <a:schemeClr val="accent5"/>
                    </a:solidFill>
                    <a:latin typeface="+mn-ea"/>
                  </a:rPr>
                  <a:t>対話型検索による情報探索変容</a:t>
                </a:r>
                <a:endParaRPr lang="en-US" altLang="ja-JP" sz="1050" b="1" dirty="0">
                  <a:solidFill>
                    <a:schemeClr val="accent5"/>
                  </a:solidFill>
                  <a:latin typeface="+mn-ea"/>
                </a:endParaRPr>
              </a:p>
              <a:p>
                <a:r>
                  <a:rPr lang="ja-JP" altLang="ja-JP" sz="1050" dirty="0">
                    <a:solidFill>
                      <a:schemeClr val="tx1"/>
                    </a:solidFill>
                    <a:latin typeface="+mn-ea"/>
                  </a:rPr>
                  <a:t>キーワード検索からAI要約への</a:t>
                </a:r>
                <a:endParaRPr lang="en-US" altLang="ja-JP" sz="1050" dirty="0">
                  <a:solidFill>
                    <a:schemeClr val="tx1"/>
                  </a:solidFill>
                  <a:latin typeface="+mn-ea"/>
                </a:endParaRPr>
              </a:p>
              <a:p>
                <a:r>
                  <a:rPr lang="ja-JP" altLang="ja-JP" sz="1050" dirty="0">
                    <a:solidFill>
                      <a:schemeClr val="tx1"/>
                    </a:solidFill>
                    <a:latin typeface="+mn-ea"/>
                  </a:rPr>
                  <a:t>シフト、Webサイト</a:t>
                </a:r>
                <a:endParaRPr lang="en-US" altLang="ja-JP" sz="1050" dirty="0">
                  <a:solidFill>
                    <a:schemeClr val="tx1"/>
                  </a:solidFill>
                  <a:latin typeface="+mn-ea"/>
                </a:endParaRPr>
              </a:p>
              <a:p>
                <a:r>
                  <a:rPr lang="ja-JP" altLang="ja-JP" sz="1050" dirty="0">
                    <a:solidFill>
                      <a:schemeClr val="tx1"/>
                    </a:solidFill>
                    <a:latin typeface="+mn-ea"/>
                  </a:rPr>
                  <a:t>「ゼロクリック率」の増加</a:t>
                </a:r>
                <a:endParaRPr lang="en-US" altLang="ja-JP" sz="1050" dirty="0">
                  <a:solidFill>
                    <a:schemeClr val="tx1"/>
                  </a:solidFill>
                  <a:latin typeface="+mn-ea"/>
                </a:endParaRPr>
              </a:p>
            </p:txBody>
          </p:sp>
        </p:grpSp>
      </p:grpSp>
      <p:pic>
        <p:nvPicPr>
          <p:cNvPr id="128" name="グラフィックス 127" descr="モノのインターネット 単色塗りつぶし">
            <a:extLst>
              <a:ext uri="{FF2B5EF4-FFF2-40B4-BE49-F238E27FC236}">
                <a16:creationId xmlns:a16="http://schemas.microsoft.com/office/drawing/2014/main" id="{C57784E2-A0BF-8879-B72A-E9FE381499C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665928" y="5889289"/>
            <a:ext cx="432000" cy="432000"/>
          </a:xfrm>
          <a:prstGeom prst="rect">
            <a:avLst/>
          </a:prstGeom>
        </p:spPr>
      </p:pic>
      <p:grpSp>
        <p:nvGrpSpPr>
          <p:cNvPr id="137" name="グループ化 136">
            <a:extLst>
              <a:ext uri="{FF2B5EF4-FFF2-40B4-BE49-F238E27FC236}">
                <a16:creationId xmlns:a16="http://schemas.microsoft.com/office/drawing/2014/main" id="{933472D2-C4C0-2136-C00E-D75A14AE6000}"/>
              </a:ext>
            </a:extLst>
          </p:cNvPr>
          <p:cNvGrpSpPr/>
          <p:nvPr/>
        </p:nvGrpSpPr>
        <p:grpSpPr>
          <a:xfrm>
            <a:off x="5247865" y="3081546"/>
            <a:ext cx="1709412" cy="1709412"/>
            <a:chOff x="5301205" y="3081546"/>
            <a:chExt cx="1709412" cy="1709412"/>
          </a:xfrm>
        </p:grpSpPr>
        <p:sp>
          <p:nvSpPr>
            <p:cNvPr id="18" name="楕円 17">
              <a:extLst>
                <a:ext uri="{FF2B5EF4-FFF2-40B4-BE49-F238E27FC236}">
                  <a16:creationId xmlns:a16="http://schemas.microsoft.com/office/drawing/2014/main" id="{65BDFF7F-4152-F202-1221-9DFC66052CD7}"/>
                </a:ext>
              </a:extLst>
            </p:cNvPr>
            <p:cNvSpPr/>
            <p:nvPr/>
          </p:nvSpPr>
          <p:spPr>
            <a:xfrm>
              <a:off x="5301205" y="3081546"/>
              <a:ext cx="1709412" cy="1709412"/>
            </a:xfrm>
            <a:prstGeom prst="ellipse">
              <a:avLst/>
            </a:prstGeom>
            <a:solidFill>
              <a:srgbClr val="E5F2E5"/>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720000" rIns="36000" bIns="36000" numCol="1" spcCol="0" rtlCol="0" fromWordArt="0" anchor="ctr" anchorCtr="0" forceAA="0" compatLnSpc="1">
              <a:prstTxWarp prst="textNoShape">
                <a:avLst/>
              </a:prstTxWarp>
              <a:noAutofit/>
            </a:bodyPr>
            <a:lstStyle/>
            <a:p>
              <a:pPr algn="ctr"/>
              <a:r>
                <a:rPr kumimoji="1" lang="ja-JP" altLang="en-US" sz="1400" dirty="0">
                  <a:solidFill>
                    <a:srgbClr val="008D2E"/>
                  </a:solidFill>
                  <a:latin typeface="+mn-ea"/>
                </a:rPr>
                <a:t>製造業</a:t>
              </a:r>
            </a:p>
          </p:txBody>
        </p:sp>
        <p:pic>
          <p:nvPicPr>
            <p:cNvPr id="122" name="グラフィックス 121" descr="工場 単色塗りつぶし">
              <a:extLst>
                <a:ext uri="{FF2B5EF4-FFF2-40B4-BE49-F238E27FC236}">
                  <a16:creationId xmlns:a16="http://schemas.microsoft.com/office/drawing/2014/main" id="{9434EFE6-F7D1-CBA5-B1A4-BFB6053FAE58}"/>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698711" y="3229668"/>
              <a:ext cx="914400" cy="914400"/>
            </a:xfrm>
            <a:prstGeom prst="rect">
              <a:avLst/>
            </a:prstGeom>
          </p:spPr>
        </p:pic>
      </p:grpSp>
      <p:grpSp>
        <p:nvGrpSpPr>
          <p:cNvPr id="12" name="グループ化 11">
            <a:extLst>
              <a:ext uri="{FF2B5EF4-FFF2-40B4-BE49-F238E27FC236}">
                <a16:creationId xmlns:a16="http://schemas.microsoft.com/office/drawing/2014/main" id="{812454BB-E749-2F4D-F827-21BA83C5E3BB}"/>
              </a:ext>
            </a:extLst>
          </p:cNvPr>
          <p:cNvGrpSpPr/>
          <p:nvPr/>
        </p:nvGrpSpPr>
        <p:grpSpPr>
          <a:xfrm>
            <a:off x="5177073" y="3064586"/>
            <a:ext cx="1856091" cy="612126"/>
            <a:chOff x="5177073" y="3087736"/>
            <a:chExt cx="1856091" cy="612126"/>
          </a:xfrm>
        </p:grpSpPr>
        <p:sp>
          <p:nvSpPr>
            <p:cNvPr id="117" name="二等辺三角形 116">
              <a:extLst>
                <a:ext uri="{FF2B5EF4-FFF2-40B4-BE49-F238E27FC236}">
                  <a16:creationId xmlns:a16="http://schemas.microsoft.com/office/drawing/2014/main" id="{44DBCDA5-327E-2A0E-FB2A-2CCB99FAEF60}"/>
                </a:ext>
              </a:extLst>
            </p:cNvPr>
            <p:cNvSpPr>
              <a:spLocks/>
            </p:cNvSpPr>
            <p:nvPr/>
          </p:nvSpPr>
          <p:spPr>
            <a:xfrm rot="18127443" flipV="1">
              <a:off x="4949909" y="3320164"/>
              <a:ext cx="606862" cy="152533"/>
            </a:xfrm>
            <a:prstGeom prst="triangle">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sp>
          <p:nvSpPr>
            <p:cNvPr id="10" name="二等辺三角形 9">
              <a:extLst>
                <a:ext uri="{FF2B5EF4-FFF2-40B4-BE49-F238E27FC236}">
                  <a16:creationId xmlns:a16="http://schemas.microsoft.com/office/drawing/2014/main" id="{F0951A5C-B8E7-DAD8-920B-3DA4BB3B7E56}"/>
                </a:ext>
              </a:extLst>
            </p:cNvPr>
            <p:cNvSpPr>
              <a:spLocks/>
            </p:cNvSpPr>
            <p:nvPr/>
          </p:nvSpPr>
          <p:spPr>
            <a:xfrm rot="3298923" flipV="1">
              <a:off x="6653467" y="3314900"/>
              <a:ext cx="606862" cy="152533"/>
            </a:xfrm>
            <a:prstGeom prst="triangle">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grpSp>
      <p:grpSp>
        <p:nvGrpSpPr>
          <p:cNvPr id="13" name="グループ化 12">
            <a:extLst>
              <a:ext uri="{FF2B5EF4-FFF2-40B4-BE49-F238E27FC236}">
                <a16:creationId xmlns:a16="http://schemas.microsoft.com/office/drawing/2014/main" id="{86BB042D-F4B2-5739-88EC-89A85FC80A6B}"/>
              </a:ext>
            </a:extLst>
          </p:cNvPr>
          <p:cNvGrpSpPr/>
          <p:nvPr/>
        </p:nvGrpSpPr>
        <p:grpSpPr>
          <a:xfrm flipV="1">
            <a:off x="5177073" y="4178376"/>
            <a:ext cx="1856091" cy="612126"/>
            <a:chOff x="5177073" y="3087736"/>
            <a:chExt cx="1856091" cy="612126"/>
          </a:xfrm>
        </p:grpSpPr>
        <p:sp>
          <p:nvSpPr>
            <p:cNvPr id="15" name="二等辺三角形 14">
              <a:extLst>
                <a:ext uri="{FF2B5EF4-FFF2-40B4-BE49-F238E27FC236}">
                  <a16:creationId xmlns:a16="http://schemas.microsoft.com/office/drawing/2014/main" id="{FC001319-C5BE-6A5F-F7B1-5B408E22142B}"/>
                </a:ext>
              </a:extLst>
            </p:cNvPr>
            <p:cNvSpPr>
              <a:spLocks/>
            </p:cNvSpPr>
            <p:nvPr/>
          </p:nvSpPr>
          <p:spPr>
            <a:xfrm rot="18127443" flipV="1">
              <a:off x="4949909" y="3320164"/>
              <a:ext cx="606862" cy="152533"/>
            </a:xfrm>
            <a:prstGeom prst="triangle">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sp>
          <p:nvSpPr>
            <p:cNvPr id="17" name="二等辺三角形 16">
              <a:extLst>
                <a:ext uri="{FF2B5EF4-FFF2-40B4-BE49-F238E27FC236}">
                  <a16:creationId xmlns:a16="http://schemas.microsoft.com/office/drawing/2014/main" id="{17601921-A2FF-C533-DD61-B0903C0349CF}"/>
                </a:ext>
              </a:extLst>
            </p:cNvPr>
            <p:cNvSpPr>
              <a:spLocks/>
            </p:cNvSpPr>
            <p:nvPr/>
          </p:nvSpPr>
          <p:spPr>
            <a:xfrm rot="3298923" flipV="1">
              <a:off x="6653467" y="3314900"/>
              <a:ext cx="606862" cy="152533"/>
            </a:xfrm>
            <a:prstGeom prst="triangle">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grpSp>
    </p:spTree>
    <p:extLst>
      <p:ext uri="{BB962C8B-B14F-4D97-AF65-F5344CB8AC3E}">
        <p14:creationId xmlns:p14="http://schemas.microsoft.com/office/powerpoint/2010/main" val="38857146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FB3972-761C-9BE8-26D6-8419E15B2917}"/>
            </a:ext>
          </a:extLst>
        </p:cNvPr>
        <p:cNvGrpSpPr/>
        <p:nvPr/>
      </p:nvGrpSpPr>
      <p:grpSpPr>
        <a:xfrm>
          <a:off x="0" y="0"/>
          <a:ext cx="0" cy="0"/>
          <a:chOff x="0" y="0"/>
          <a:chExt cx="0" cy="0"/>
        </a:xfrm>
      </p:grpSpPr>
      <p:grpSp>
        <p:nvGrpSpPr>
          <p:cNvPr id="15" name="グループ化 14">
            <a:extLst>
              <a:ext uri="{FF2B5EF4-FFF2-40B4-BE49-F238E27FC236}">
                <a16:creationId xmlns:a16="http://schemas.microsoft.com/office/drawing/2014/main" id="{A1281D45-C029-8B7A-0702-36D4B0064085}"/>
              </a:ext>
            </a:extLst>
          </p:cNvPr>
          <p:cNvGrpSpPr/>
          <p:nvPr/>
        </p:nvGrpSpPr>
        <p:grpSpPr>
          <a:xfrm>
            <a:off x="5247865" y="3081546"/>
            <a:ext cx="1709412" cy="1709412"/>
            <a:chOff x="5301205" y="3081546"/>
            <a:chExt cx="1709412" cy="1709412"/>
          </a:xfrm>
        </p:grpSpPr>
        <p:sp>
          <p:nvSpPr>
            <p:cNvPr id="16" name="楕円 15">
              <a:extLst>
                <a:ext uri="{FF2B5EF4-FFF2-40B4-BE49-F238E27FC236}">
                  <a16:creationId xmlns:a16="http://schemas.microsoft.com/office/drawing/2014/main" id="{94236885-6FF4-2CB1-935A-D06E91293F0B}"/>
                </a:ext>
              </a:extLst>
            </p:cNvPr>
            <p:cNvSpPr/>
            <p:nvPr/>
          </p:nvSpPr>
          <p:spPr>
            <a:xfrm>
              <a:off x="5301205" y="3081546"/>
              <a:ext cx="1709412" cy="1709412"/>
            </a:xfrm>
            <a:prstGeom prst="ellipse">
              <a:avLst/>
            </a:prstGeom>
            <a:solidFill>
              <a:srgbClr val="E5F2E5"/>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720000" rIns="36000" bIns="36000" numCol="1" spcCol="0" rtlCol="0" fromWordArt="0" anchor="ctr" anchorCtr="0" forceAA="0" compatLnSpc="1">
              <a:prstTxWarp prst="textNoShape">
                <a:avLst/>
              </a:prstTxWarp>
              <a:noAutofit/>
            </a:bodyPr>
            <a:lstStyle/>
            <a:p>
              <a:pPr algn="ctr"/>
              <a:r>
                <a:rPr kumimoji="1" lang="ja-JP" altLang="en-US" sz="1400" dirty="0">
                  <a:solidFill>
                    <a:srgbClr val="008D2E"/>
                  </a:solidFill>
                  <a:latin typeface="+mn-ea"/>
                </a:rPr>
                <a:t>製造業</a:t>
              </a:r>
            </a:p>
          </p:txBody>
        </p:sp>
        <p:pic>
          <p:nvPicPr>
            <p:cNvPr id="17" name="グラフィックス 16" descr="工場 単色塗りつぶし">
              <a:extLst>
                <a:ext uri="{FF2B5EF4-FFF2-40B4-BE49-F238E27FC236}">
                  <a16:creationId xmlns:a16="http://schemas.microsoft.com/office/drawing/2014/main" id="{C53AFD50-68FE-56C4-75C4-E09F2080AF6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698711" y="3229668"/>
              <a:ext cx="914400" cy="914400"/>
            </a:xfrm>
            <a:prstGeom prst="rect">
              <a:avLst/>
            </a:prstGeom>
          </p:spPr>
        </p:pic>
      </p:grpSp>
      <p:sp>
        <p:nvSpPr>
          <p:cNvPr id="2" name="タイトル 1">
            <a:extLst>
              <a:ext uri="{FF2B5EF4-FFF2-40B4-BE49-F238E27FC236}">
                <a16:creationId xmlns:a16="http://schemas.microsoft.com/office/drawing/2014/main" id="{EC202FDE-3F8A-4276-9FBF-05A6C4A87263}"/>
              </a:ext>
            </a:extLst>
          </p:cNvPr>
          <p:cNvSpPr>
            <a:spLocks noGrp="1"/>
          </p:cNvSpPr>
          <p:nvPr>
            <p:ph type="title"/>
          </p:nvPr>
        </p:nvSpPr>
        <p:spPr>
          <a:xfrm>
            <a:off x="334963" y="1"/>
            <a:ext cx="11522075" cy="914400"/>
          </a:xfrm>
        </p:spPr>
        <p:txBody>
          <a:bodyPr/>
          <a:lstStyle/>
          <a:p>
            <a:br>
              <a:rPr lang="ja-JP" altLang="en-US" sz="1600" dirty="0">
                <a:solidFill>
                  <a:schemeClr val="tx1">
                    <a:lumMod val="50000"/>
                    <a:lumOff val="50000"/>
                  </a:schemeClr>
                </a:solidFill>
                <a:latin typeface="+mn-ea"/>
                <a:ea typeface="+mn-ea"/>
              </a:rPr>
            </a:br>
            <a:r>
              <a:rPr lang="ja-JP" altLang="en-US" dirty="0">
                <a:latin typeface="+mn-ea"/>
                <a:ea typeface="+mn-ea"/>
              </a:rPr>
              <a:t>顧客 ･ 取引先 ･ 競合の変化</a:t>
            </a:r>
            <a:endParaRPr kumimoji="1" lang="ja-JP" altLang="en-US" dirty="0">
              <a:latin typeface="+mn-ea"/>
              <a:ea typeface="+mn-ea"/>
            </a:endParaRPr>
          </a:p>
        </p:txBody>
      </p:sp>
      <p:grpSp>
        <p:nvGrpSpPr>
          <p:cNvPr id="14" name="グループ化 13">
            <a:extLst>
              <a:ext uri="{FF2B5EF4-FFF2-40B4-BE49-F238E27FC236}">
                <a16:creationId xmlns:a16="http://schemas.microsoft.com/office/drawing/2014/main" id="{916BF50D-A441-589A-C975-AC6E64402CE6}"/>
              </a:ext>
            </a:extLst>
          </p:cNvPr>
          <p:cNvGrpSpPr/>
          <p:nvPr/>
        </p:nvGrpSpPr>
        <p:grpSpPr>
          <a:xfrm>
            <a:off x="1436972" y="1637964"/>
            <a:ext cx="9318056" cy="1886394"/>
            <a:chOff x="2802000" y="1637964"/>
            <a:chExt cx="8008753" cy="1886394"/>
          </a:xfrm>
        </p:grpSpPr>
        <p:sp>
          <p:nvSpPr>
            <p:cNvPr id="5" name="正方形/長方形 4">
              <a:extLst>
                <a:ext uri="{FF2B5EF4-FFF2-40B4-BE49-F238E27FC236}">
                  <a16:creationId xmlns:a16="http://schemas.microsoft.com/office/drawing/2014/main" id="{5CDAE3DC-9636-4FC0-F179-96FFEA21ECF1}"/>
                </a:ext>
              </a:extLst>
            </p:cNvPr>
            <p:cNvSpPr/>
            <p:nvPr/>
          </p:nvSpPr>
          <p:spPr>
            <a:xfrm>
              <a:off x="2802000" y="1637964"/>
              <a:ext cx="8008753" cy="376869"/>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a:solidFill>
                    <a:srgbClr val="FFFFFF"/>
                  </a:solidFill>
                  <a:latin typeface="+mn-ea"/>
                  <a:cs typeface="Meiryo" pitchFamily="34" charset="-120"/>
                </a:rPr>
                <a:t>Customer : </a:t>
              </a:r>
              <a:r>
                <a:rPr lang="ja-JP" altLang="en-US" b="1" dirty="0">
                  <a:solidFill>
                    <a:srgbClr val="FFFFFF"/>
                  </a:solidFill>
                  <a:latin typeface="+mn-ea"/>
                  <a:cs typeface="Meiryo" pitchFamily="34" charset="-120"/>
                </a:rPr>
                <a:t>消費者</a:t>
              </a:r>
              <a:endParaRPr lang="en-US" altLang="ja-JP" dirty="0">
                <a:latin typeface="+mn-ea"/>
              </a:endParaRPr>
            </a:p>
          </p:txBody>
        </p:sp>
        <p:sp>
          <p:nvSpPr>
            <p:cNvPr id="11" name="正方形/長方形 10">
              <a:extLst>
                <a:ext uri="{FF2B5EF4-FFF2-40B4-BE49-F238E27FC236}">
                  <a16:creationId xmlns:a16="http://schemas.microsoft.com/office/drawing/2014/main" id="{8C050FDE-CB5B-47FC-DFDC-495CB8793A6E}"/>
                </a:ext>
              </a:extLst>
            </p:cNvPr>
            <p:cNvSpPr/>
            <p:nvPr/>
          </p:nvSpPr>
          <p:spPr>
            <a:xfrm>
              <a:off x="2802000" y="2011481"/>
              <a:ext cx="8008753" cy="1512877"/>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108000" rIns="36000" bIns="36000" numCol="1" spcCol="0" rtlCol="0" fromWordArt="0" anchor="t" anchorCtr="0" forceAA="0" compatLnSpc="1">
              <a:prstTxWarp prst="textNoShape">
                <a:avLst/>
              </a:prstTxWarp>
              <a:noAutofit/>
            </a:bodyPr>
            <a:lstStyle/>
            <a:p>
              <a:pPr algn="ctr"/>
              <a:r>
                <a:rPr lang="ja-JP" altLang="en-US" sz="1200" b="1" dirty="0">
                  <a:solidFill>
                    <a:srgbClr val="008D2E"/>
                  </a:solidFill>
                  <a:latin typeface="+mn-ea"/>
                  <a:cs typeface="Meiryo" pitchFamily="34" charset="-120"/>
                </a:rPr>
                <a:t>環境・健康前提のもと、価値観は二極化し、購買は</a:t>
              </a:r>
              <a:r>
                <a:rPr lang="en-US" altLang="ja-JP" sz="1200" b="1" dirty="0">
                  <a:solidFill>
                    <a:srgbClr val="008D2E"/>
                  </a:solidFill>
                  <a:latin typeface="+mn-ea"/>
                  <a:cs typeface="Meiryo" pitchFamily="34" charset="-120"/>
                </a:rPr>
                <a:t>AI</a:t>
              </a:r>
              <a:r>
                <a:rPr lang="ja-JP" altLang="en-US" sz="1200" b="1" dirty="0">
                  <a:solidFill>
                    <a:srgbClr val="008D2E"/>
                  </a:solidFill>
                  <a:latin typeface="+mn-ea"/>
                  <a:cs typeface="Meiryo" pitchFamily="34" charset="-120"/>
                </a:rPr>
                <a:t>へ委ねられる</a:t>
              </a:r>
              <a:endParaRPr lang="en-US" altLang="ja-JP" sz="1200" dirty="0">
                <a:solidFill>
                  <a:srgbClr val="008D2E"/>
                </a:solidFill>
                <a:latin typeface="+mn-ea"/>
              </a:endParaRPr>
            </a:p>
          </p:txBody>
        </p:sp>
        <p:grpSp>
          <p:nvGrpSpPr>
            <p:cNvPr id="50" name="グループ化 49">
              <a:extLst>
                <a:ext uri="{FF2B5EF4-FFF2-40B4-BE49-F238E27FC236}">
                  <a16:creationId xmlns:a16="http://schemas.microsoft.com/office/drawing/2014/main" id="{BE397CC9-B2B1-A074-304C-F866502D33A0}"/>
                </a:ext>
              </a:extLst>
            </p:cNvPr>
            <p:cNvGrpSpPr/>
            <p:nvPr/>
          </p:nvGrpSpPr>
          <p:grpSpPr>
            <a:xfrm>
              <a:off x="2940667" y="2340788"/>
              <a:ext cx="7773053" cy="1112171"/>
              <a:chOff x="2921822" y="2112260"/>
              <a:chExt cx="4200652" cy="1337513"/>
            </a:xfrm>
            <a:solidFill>
              <a:srgbClr val="008D2E">
                <a:alpha val="10000"/>
              </a:srgbClr>
            </a:solidFill>
          </p:grpSpPr>
          <p:sp>
            <p:nvSpPr>
              <p:cNvPr id="20" name="正方形/長方形 19">
                <a:extLst>
                  <a:ext uri="{FF2B5EF4-FFF2-40B4-BE49-F238E27FC236}">
                    <a16:creationId xmlns:a16="http://schemas.microsoft.com/office/drawing/2014/main" id="{C5473F1B-183F-7873-D750-81E56E6DEF94}"/>
                  </a:ext>
                </a:extLst>
              </p:cNvPr>
              <p:cNvSpPr/>
              <p:nvPr/>
            </p:nvSpPr>
            <p:spPr>
              <a:xfrm>
                <a:off x="2921822" y="2112260"/>
                <a:ext cx="2057081" cy="629105"/>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00" b="1" dirty="0">
                    <a:solidFill>
                      <a:srgbClr val="008D2E"/>
                    </a:solidFill>
                    <a:latin typeface="+mn-ea"/>
                  </a:rPr>
                  <a:t>環境配慮の足切り前提化</a:t>
                </a:r>
                <a:r>
                  <a:rPr lang="en-US" altLang="ja-JP" sz="1000" b="1" dirty="0">
                    <a:solidFill>
                      <a:srgbClr val="008D2E"/>
                    </a:solidFill>
                    <a:latin typeface="+mn-ea"/>
                  </a:rPr>
                  <a:t> (</a:t>
                </a:r>
                <a:r>
                  <a:rPr lang="ja-JP" altLang="ja-JP" sz="1000" b="1" dirty="0">
                    <a:solidFill>
                      <a:srgbClr val="008D2E"/>
                    </a:solidFill>
                    <a:latin typeface="+mn-ea"/>
                  </a:rPr>
                  <a:t>P</a:t>
                </a:r>
                <a:r>
                  <a:rPr lang="en-US" altLang="ja-JP" sz="1000" b="1" dirty="0">
                    <a:solidFill>
                      <a:srgbClr val="008D2E"/>
                    </a:solidFill>
                    <a:latin typeface="+mn-ea"/>
                  </a:rPr>
                  <a:t>)</a:t>
                </a:r>
              </a:p>
              <a:p>
                <a:r>
                  <a:rPr lang="ja-JP" altLang="ja-JP" sz="1000" dirty="0">
                    <a:solidFill>
                      <a:schemeClr val="tx1"/>
                    </a:solidFill>
                    <a:latin typeface="+mn-ea"/>
                  </a:rPr>
                  <a:t>超炭素社会化・環境規制強化により、環境要件を満たさない商品は検討の土俵から無条件で排除するスクリーニングが標準化</a:t>
                </a:r>
                <a:endParaRPr lang="en-US" altLang="ja-JP" sz="1000" dirty="0">
                  <a:solidFill>
                    <a:schemeClr val="tx1"/>
                  </a:solidFill>
                  <a:latin typeface="+mn-ea"/>
                </a:endParaRPr>
              </a:p>
            </p:txBody>
          </p:sp>
          <p:sp>
            <p:nvSpPr>
              <p:cNvPr id="22" name="正方形/長方形 21">
                <a:extLst>
                  <a:ext uri="{FF2B5EF4-FFF2-40B4-BE49-F238E27FC236}">
                    <a16:creationId xmlns:a16="http://schemas.microsoft.com/office/drawing/2014/main" id="{D4C1964C-81B0-1D7D-0661-C775A8C8E921}"/>
                  </a:ext>
                </a:extLst>
              </p:cNvPr>
              <p:cNvSpPr/>
              <p:nvPr/>
            </p:nvSpPr>
            <p:spPr>
              <a:xfrm>
                <a:off x="5065393" y="2112260"/>
                <a:ext cx="2057081" cy="629105"/>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00" b="1" dirty="0">
                    <a:solidFill>
                      <a:srgbClr val="008000"/>
                    </a:solidFill>
                    <a:latin typeface="+mn-ea"/>
                  </a:rPr>
                  <a:t>選択水準のK字二極化</a:t>
                </a:r>
                <a:r>
                  <a:rPr lang="en-US" altLang="ja-JP" sz="1000" b="1" dirty="0">
                    <a:solidFill>
                      <a:srgbClr val="008000"/>
                    </a:solidFill>
                    <a:latin typeface="+mn-ea"/>
                  </a:rPr>
                  <a:t> (</a:t>
                </a:r>
                <a:r>
                  <a:rPr lang="ja-JP" altLang="ja-JP" sz="1000" b="1" dirty="0">
                    <a:solidFill>
                      <a:srgbClr val="008000"/>
                    </a:solidFill>
                    <a:latin typeface="+mn-ea"/>
                  </a:rPr>
                  <a:t>E</a:t>
                </a:r>
                <a:r>
                  <a:rPr lang="en-US" altLang="ja-JP" sz="1000" b="1" dirty="0">
                    <a:solidFill>
                      <a:srgbClr val="008000"/>
                    </a:solidFill>
                    <a:latin typeface="+mn-ea"/>
                  </a:rPr>
                  <a:t> </a:t>
                </a:r>
                <a:r>
                  <a:rPr lang="ja-JP" altLang="en-US" sz="1000" b="1" dirty="0">
                    <a:solidFill>
                      <a:srgbClr val="008000"/>
                    </a:solidFill>
                    <a:latin typeface="+mn-ea"/>
                  </a:rPr>
                  <a:t>･ </a:t>
                </a:r>
                <a:r>
                  <a:rPr lang="ja-JP" altLang="ja-JP" sz="1000" b="1" dirty="0">
                    <a:solidFill>
                      <a:srgbClr val="008000"/>
                    </a:solidFill>
                    <a:latin typeface="+mn-ea"/>
                  </a:rPr>
                  <a:t>S</a:t>
                </a:r>
                <a:r>
                  <a:rPr lang="en-US" altLang="ja-JP" sz="1000" b="1" dirty="0">
                    <a:solidFill>
                      <a:srgbClr val="008000"/>
                    </a:solidFill>
                    <a:latin typeface="+mn-ea"/>
                  </a:rPr>
                  <a:t>) </a:t>
                </a:r>
              </a:p>
              <a:p>
                <a:r>
                  <a:rPr lang="ja-JP" altLang="ja-JP" sz="1000" dirty="0">
                    <a:solidFill>
                      <a:schemeClr val="tx1"/>
                    </a:solidFill>
                    <a:latin typeface="+mn-ea"/>
                  </a:rPr>
                  <a:t>生活防衛のための「徹底的な低価格</a:t>
                </a:r>
                <a:r>
                  <a:rPr lang="en-US" altLang="ja-JP" sz="1000" dirty="0">
                    <a:solidFill>
                      <a:schemeClr val="tx1"/>
                    </a:solidFill>
                    <a:latin typeface="+mn-ea"/>
                  </a:rPr>
                  <a:t> (</a:t>
                </a:r>
                <a:r>
                  <a:rPr lang="ja-JP" altLang="ja-JP" sz="1000" dirty="0">
                    <a:solidFill>
                      <a:schemeClr val="tx1"/>
                    </a:solidFill>
                    <a:latin typeface="+mn-ea"/>
                  </a:rPr>
                  <a:t>PB</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特売</a:t>
                </a:r>
                <a:r>
                  <a:rPr lang="en-US" altLang="ja-JP" sz="1000" dirty="0">
                    <a:solidFill>
                      <a:schemeClr val="tx1"/>
                    </a:solidFill>
                    <a:latin typeface="+mn-ea"/>
                  </a:rPr>
                  <a:t>) </a:t>
                </a:r>
                <a:r>
                  <a:rPr lang="ja-JP" altLang="ja-JP" sz="1000" dirty="0">
                    <a:solidFill>
                      <a:schemeClr val="tx1"/>
                    </a:solidFill>
                    <a:latin typeface="+mn-ea"/>
                  </a:rPr>
                  <a:t>」と、QOL</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健康を追求する</a:t>
                </a:r>
                <a:br>
                  <a:rPr lang="en-US" altLang="ja-JP" sz="1000" dirty="0">
                    <a:solidFill>
                      <a:schemeClr val="tx1"/>
                    </a:solidFill>
                    <a:latin typeface="+mn-ea"/>
                  </a:rPr>
                </a:br>
                <a:r>
                  <a:rPr lang="ja-JP" altLang="ja-JP" sz="1000" dirty="0">
                    <a:solidFill>
                      <a:schemeClr val="tx1"/>
                    </a:solidFill>
                    <a:latin typeface="+mn-ea"/>
                  </a:rPr>
                  <a:t>「プレミアム投資」へ消費行動が完全に分断</a:t>
                </a:r>
                <a:endParaRPr lang="en-US" altLang="ja-JP" sz="1000" dirty="0">
                  <a:solidFill>
                    <a:schemeClr val="tx1"/>
                  </a:solidFill>
                  <a:latin typeface="+mn-ea"/>
                </a:endParaRPr>
              </a:p>
            </p:txBody>
          </p:sp>
          <p:sp>
            <p:nvSpPr>
              <p:cNvPr id="27" name="正方形/長方形 26">
                <a:extLst>
                  <a:ext uri="{FF2B5EF4-FFF2-40B4-BE49-F238E27FC236}">
                    <a16:creationId xmlns:a16="http://schemas.microsoft.com/office/drawing/2014/main" id="{217ABBB8-A1B0-4F6E-B968-8F8718F01B80}"/>
                  </a:ext>
                </a:extLst>
              </p:cNvPr>
              <p:cNvSpPr/>
              <p:nvPr/>
            </p:nvSpPr>
            <p:spPr>
              <a:xfrm>
                <a:off x="2921822" y="2820668"/>
                <a:ext cx="2057081" cy="629105"/>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00" b="1" dirty="0">
                    <a:solidFill>
                      <a:srgbClr val="008D2E"/>
                    </a:solidFill>
                    <a:latin typeface="+mn-ea"/>
                  </a:rPr>
                  <a:t>低関与品の購買管理外部化</a:t>
                </a:r>
                <a:r>
                  <a:rPr lang="en-US" altLang="ja-JP" sz="1000" b="1" dirty="0">
                    <a:solidFill>
                      <a:srgbClr val="008D2E"/>
                    </a:solidFill>
                    <a:latin typeface="+mn-ea"/>
                  </a:rPr>
                  <a:t> (</a:t>
                </a:r>
                <a:r>
                  <a:rPr lang="ja-JP" altLang="ja-JP" sz="1000" b="1" dirty="0">
                    <a:solidFill>
                      <a:srgbClr val="008D2E"/>
                    </a:solidFill>
                    <a:latin typeface="+mn-ea"/>
                  </a:rPr>
                  <a:t>S</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 </a:t>
                </a:r>
              </a:p>
              <a:p>
                <a:r>
                  <a:rPr lang="ja-JP" altLang="ja-JP" sz="1000" dirty="0">
                    <a:solidFill>
                      <a:schemeClr val="tx1"/>
                    </a:solidFill>
                    <a:latin typeface="+mn-ea"/>
                  </a:rPr>
                  <a:t>消耗品カテゴリでは「検討</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比較</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購入」自体が認知負荷となりAI自動補充や</a:t>
                </a:r>
                <a:br>
                  <a:rPr lang="en-US" altLang="ja-JP" sz="1000" dirty="0">
                    <a:solidFill>
                      <a:schemeClr val="tx1"/>
                    </a:solidFill>
                    <a:latin typeface="+mn-ea"/>
                  </a:rPr>
                </a:br>
                <a:r>
                  <a:rPr lang="ja-JP" altLang="ja-JP" sz="1000" dirty="0">
                    <a:solidFill>
                      <a:schemeClr val="tx1"/>
                    </a:solidFill>
                    <a:latin typeface="+mn-ea"/>
                  </a:rPr>
                  <a:t>プラットフォームのデフォルト設定への完全委任が定着</a:t>
                </a:r>
                <a:endParaRPr lang="en-US" altLang="ja-JP" sz="1000" dirty="0">
                  <a:solidFill>
                    <a:schemeClr val="tx1"/>
                  </a:solidFill>
                  <a:latin typeface="+mn-ea"/>
                </a:endParaRPr>
              </a:p>
            </p:txBody>
          </p:sp>
          <p:sp>
            <p:nvSpPr>
              <p:cNvPr id="28" name="正方形/長方形 27">
                <a:extLst>
                  <a:ext uri="{FF2B5EF4-FFF2-40B4-BE49-F238E27FC236}">
                    <a16:creationId xmlns:a16="http://schemas.microsoft.com/office/drawing/2014/main" id="{54764F69-4049-D116-90C4-531F91CA978C}"/>
                  </a:ext>
                </a:extLst>
              </p:cNvPr>
              <p:cNvSpPr/>
              <p:nvPr/>
            </p:nvSpPr>
            <p:spPr>
              <a:xfrm>
                <a:off x="5065393" y="2820665"/>
                <a:ext cx="2057081" cy="629105"/>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高関与品の能動的スイッチ</a:t>
                </a:r>
                <a:r>
                  <a:rPr lang="en-US" altLang="ja-JP" sz="1000" b="1" dirty="0">
                    <a:solidFill>
                      <a:srgbClr val="008D2E"/>
                    </a:solidFill>
                    <a:latin typeface="+mn-ea"/>
                  </a:rPr>
                  <a:t> (</a:t>
                </a:r>
                <a:r>
                  <a:rPr lang="ja-JP" altLang="ja-JP" sz="1000" b="1" dirty="0">
                    <a:solidFill>
                      <a:srgbClr val="008D2E"/>
                    </a:solidFill>
                    <a:latin typeface="+mn-ea"/>
                  </a:rPr>
                  <a:t>E</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S</a:t>
                </a:r>
                <a:r>
                  <a:rPr lang="en-US" altLang="ja-JP" sz="1000" b="1" dirty="0">
                    <a:solidFill>
                      <a:srgbClr val="008D2E"/>
                    </a:solidFill>
                    <a:latin typeface="+mn-ea"/>
                  </a:rPr>
                  <a:t>) </a:t>
                </a:r>
              </a:p>
              <a:p>
                <a:pPr>
                  <a:buClr>
                    <a:srgbClr val="008D2E"/>
                  </a:buClr>
                </a:pPr>
                <a:r>
                  <a:rPr lang="ja-JP" altLang="ja-JP" sz="1000" dirty="0">
                    <a:solidFill>
                      <a:schemeClr val="tx1"/>
                    </a:solidFill>
                    <a:latin typeface="+mn-ea"/>
                  </a:rPr>
                  <a:t>身体</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健康に直結する領域では、失敗回避のため能動的に情報探索</a:t>
                </a:r>
                <a:r>
                  <a:rPr lang="ja-JP" altLang="en-US" sz="1000" dirty="0">
                    <a:solidFill>
                      <a:schemeClr val="tx1"/>
                    </a:solidFill>
                    <a:latin typeface="+mn-ea"/>
                  </a:rPr>
                  <a:t>。</a:t>
                </a:r>
                <a:r>
                  <a:rPr lang="ja-JP" altLang="ja-JP" sz="1000" dirty="0">
                    <a:solidFill>
                      <a:schemeClr val="tx1"/>
                    </a:solidFill>
                    <a:latin typeface="+mn-ea"/>
                  </a:rPr>
                  <a:t>情緒的欲求からAI推奨を裏切るブランドスイッチ</a:t>
                </a:r>
                <a:r>
                  <a:rPr lang="en-US" altLang="ja-JP" sz="1000" dirty="0">
                    <a:solidFill>
                      <a:schemeClr val="tx1"/>
                    </a:solidFill>
                    <a:latin typeface="+mn-ea"/>
                  </a:rPr>
                  <a:t> (</a:t>
                </a:r>
                <a:r>
                  <a:rPr lang="ja-JP" altLang="ja-JP" sz="1000" dirty="0">
                    <a:solidFill>
                      <a:schemeClr val="tx1"/>
                    </a:solidFill>
                    <a:latin typeface="+mn-ea"/>
                  </a:rPr>
                  <a:t>浮気</a:t>
                </a:r>
                <a:r>
                  <a:rPr lang="en-US" altLang="ja-JP" sz="1000" dirty="0">
                    <a:solidFill>
                      <a:schemeClr val="tx1"/>
                    </a:solidFill>
                    <a:latin typeface="+mn-ea"/>
                  </a:rPr>
                  <a:t>) </a:t>
                </a:r>
                <a:r>
                  <a:rPr lang="ja-JP" altLang="ja-JP" sz="1000" dirty="0">
                    <a:solidFill>
                      <a:schemeClr val="tx1"/>
                    </a:solidFill>
                    <a:latin typeface="+mn-ea"/>
                  </a:rPr>
                  <a:t>が継続</a:t>
                </a:r>
              </a:p>
            </p:txBody>
          </p:sp>
        </p:grpSp>
        <p:pic>
          <p:nvPicPr>
            <p:cNvPr id="112" name="グラフィックス 111" descr="ユーザー 単色塗りつぶし">
              <a:extLst>
                <a:ext uri="{FF2B5EF4-FFF2-40B4-BE49-F238E27FC236}">
                  <a16:creationId xmlns:a16="http://schemas.microsoft.com/office/drawing/2014/main" id="{0C6B4CE6-6729-5D9D-EA6A-0272B07D04F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517824" y="1663958"/>
              <a:ext cx="278474" cy="324000"/>
            </a:xfrm>
            <a:prstGeom prst="rect">
              <a:avLst/>
            </a:prstGeom>
          </p:spPr>
        </p:pic>
      </p:grpSp>
      <p:grpSp>
        <p:nvGrpSpPr>
          <p:cNvPr id="4" name="グループ化 3">
            <a:extLst>
              <a:ext uri="{FF2B5EF4-FFF2-40B4-BE49-F238E27FC236}">
                <a16:creationId xmlns:a16="http://schemas.microsoft.com/office/drawing/2014/main" id="{F3B7C747-C6F0-7C21-0EAE-7D2175CE814B}"/>
              </a:ext>
            </a:extLst>
          </p:cNvPr>
          <p:cNvGrpSpPr/>
          <p:nvPr/>
        </p:nvGrpSpPr>
        <p:grpSpPr>
          <a:xfrm>
            <a:off x="334964" y="3871576"/>
            <a:ext cx="5223170" cy="2441372"/>
            <a:chOff x="334964" y="3871576"/>
            <a:chExt cx="5223170" cy="2441372"/>
          </a:xfrm>
        </p:grpSpPr>
        <p:sp>
          <p:nvSpPr>
            <p:cNvPr id="69" name="正方形/長方形 68">
              <a:extLst>
                <a:ext uri="{FF2B5EF4-FFF2-40B4-BE49-F238E27FC236}">
                  <a16:creationId xmlns:a16="http://schemas.microsoft.com/office/drawing/2014/main" id="{FEEAD587-F873-99F4-E83C-AFACED97C0C7}"/>
                </a:ext>
              </a:extLst>
            </p:cNvPr>
            <p:cNvSpPr/>
            <p:nvPr/>
          </p:nvSpPr>
          <p:spPr>
            <a:xfrm>
              <a:off x="334964" y="3871576"/>
              <a:ext cx="5223170" cy="378000"/>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err="1">
                  <a:solidFill>
                    <a:srgbClr val="FFFFFF"/>
                  </a:solidFill>
                  <a:latin typeface="+mn-ea"/>
                  <a:cs typeface="Meiryo" pitchFamily="34" charset="-120"/>
                </a:rPr>
                <a:t>CoOperator</a:t>
              </a:r>
              <a:r>
                <a:rPr lang="en-US" altLang="ja-JP" b="1" dirty="0">
                  <a:solidFill>
                    <a:srgbClr val="FFFFFF"/>
                  </a:solidFill>
                  <a:latin typeface="+mn-ea"/>
                  <a:cs typeface="Meiryo" pitchFamily="34" charset="-120"/>
                </a:rPr>
                <a:t> : </a:t>
              </a:r>
              <a:r>
                <a:rPr lang="ja-JP" altLang="en-US" b="1" dirty="0">
                  <a:solidFill>
                    <a:srgbClr val="FFFFFF"/>
                  </a:solidFill>
                  <a:latin typeface="+mn-ea"/>
                  <a:cs typeface="Meiryo" pitchFamily="34" charset="-120"/>
                </a:rPr>
                <a:t>小売 ･ 卸</a:t>
              </a:r>
              <a:endParaRPr lang="en-US" altLang="ja-JP" dirty="0">
                <a:latin typeface="+mn-ea"/>
              </a:endParaRPr>
            </a:p>
          </p:txBody>
        </p:sp>
        <p:sp>
          <p:nvSpPr>
            <p:cNvPr id="70" name="正方形/長方形 69">
              <a:extLst>
                <a:ext uri="{FF2B5EF4-FFF2-40B4-BE49-F238E27FC236}">
                  <a16:creationId xmlns:a16="http://schemas.microsoft.com/office/drawing/2014/main" id="{29E66271-CCB3-E260-1C6B-FF67493208C4}"/>
                </a:ext>
              </a:extLst>
            </p:cNvPr>
            <p:cNvSpPr/>
            <p:nvPr/>
          </p:nvSpPr>
          <p:spPr>
            <a:xfrm>
              <a:off x="334964" y="4249576"/>
              <a:ext cx="5223170" cy="2063372"/>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108000" rIns="36000" bIns="36000" numCol="1" spcCol="0" rtlCol="0" fromWordArt="0" anchor="t" anchorCtr="0" forceAA="0" compatLnSpc="1">
              <a:prstTxWarp prst="textNoShape">
                <a:avLst/>
              </a:prstTxWarp>
              <a:noAutofit/>
            </a:bodyPr>
            <a:lstStyle/>
            <a:p>
              <a:pPr algn="ctr"/>
              <a:r>
                <a:rPr lang="ja-JP" altLang="ja-JP" sz="1200" b="1" dirty="0">
                  <a:solidFill>
                    <a:srgbClr val="008D2E"/>
                  </a:solidFill>
                  <a:latin typeface="+mn-ea"/>
                </a:rPr>
                <a:t>環境・データ</a:t>
              </a:r>
              <a:r>
                <a:rPr lang="ja-JP" altLang="en-US" sz="1200" b="1" dirty="0">
                  <a:solidFill>
                    <a:srgbClr val="008D2E"/>
                  </a:solidFill>
                  <a:latin typeface="+mn-ea"/>
                </a:rPr>
                <a:t>は</a:t>
              </a:r>
              <a:r>
                <a:rPr lang="ja-JP" altLang="ja-JP" sz="1200" b="1" dirty="0">
                  <a:solidFill>
                    <a:srgbClr val="008D2E"/>
                  </a:solidFill>
                  <a:latin typeface="+mn-ea"/>
                </a:rPr>
                <a:t>取引条件化し、物販から「データ＆メディア業」へ転換</a:t>
              </a:r>
              <a:endParaRPr lang="en-US" altLang="ja-JP" sz="1200" b="1" dirty="0">
                <a:solidFill>
                  <a:srgbClr val="008D2E"/>
                </a:solidFill>
                <a:latin typeface="+mn-ea"/>
              </a:endParaRPr>
            </a:p>
          </p:txBody>
        </p:sp>
        <p:grpSp>
          <p:nvGrpSpPr>
            <p:cNvPr id="19" name="グループ化 18">
              <a:extLst>
                <a:ext uri="{FF2B5EF4-FFF2-40B4-BE49-F238E27FC236}">
                  <a16:creationId xmlns:a16="http://schemas.microsoft.com/office/drawing/2014/main" id="{AC411CAD-38F5-AC20-2CD9-A503A6878E87}"/>
                </a:ext>
              </a:extLst>
            </p:cNvPr>
            <p:cNvGrpSpPr/>
            <p:nvPr/>
          </p:nvGrpSpPr>
          <p:grpSpPr>
            <a:xfrm>
              <a:off x="444903" y="4547545"/>
              <a:ext cx="5003293" cy="1700855"/>
              <a:chOff x="444903" y="4478323"/>
              <a:chExt cx="5003293" cy="1800581"/>
            </a:xfrm>
          </p:grpSpPr>
          <p:sp>
            <p:nvSpPr>
              <p:cNvPr id="72" name="正方形/長方形 71">
                <a:extLst>
                  <a:ext uri="{FF2B5EF4-FFF2-40B4-BE49-F238E27FC236}">
                    <a16:creationId xmlns:a16="http://schemas.microsoft.com/office/drawing/2014/main" id="{EEF54428-CEC4-DE9A-C5C8-683FEA83DF93}"/>
                  </a:ext>
                </a:extLst>
              </p:cNvPr>
              <p:cNvSpPr/>
              <p:nvPr/>
            </p:nvSpPr>
            <p:spPr>
              <a:xfrm>
                <a:off x="444903" y="4478323"/>
                <a:ext cx="2450138" cy="808494"/>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「グリーン監査」の自動化</a:t>
                </a:r>
                <a:r>
                  <a:rPr lang="en-US" altLang="ja-JP" sz="1000" b="1" dirty="0">
                    <a:solidFill>
                      <a:srgbClr val="008D2E"/>
                    </a:solidFill>
                    <a:latin typeface="+mn-ea"/>
                  </a:rPr>
                  <a:t> (</a:t>
                </a:r>
                <a:r>
                  <a:rPr lang="ja-JP" altLang="ja-JP" sz="1000" b="1" dirty="0">
                    <a:solidFill>
                      <a:srgbClr val="008D2E"/>
                    </a:solidFill>
                    <a:latin typeface="+mn-ea"/>
                  </a:rPr>
                  <a:t>P</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a:t>
                </a:r>
              </a:p>
              <a:p>
                <a:pPr>
                  <a:buClr>
                    <a:srgbClr val="008D2E"/>
                  </a:buClr>
                </a:pPr>
                <a:r>
                  <a:rPr lang="ja-JP" altLang="ja-JP" sz="1000" dirty="0">
                    <a:solidFill>
                      <a:schemeClr val="tx1"/>
                    </a:solidFill>
                    <a:latin typeface="+mn-ea"/>
                  </a:rPr>
                  <a:t> 自社Scope 3削減のため、メーカーに環境スコア提示を義務化</a:t>
                </a:r>
                <a:r>
                  <a:rPr lang="ja-JP" altLang="en-US" sz="1000" dirty="0">
                    <a:solidFill>
                      <a:schemeClr val="tx1"/>
                    </a:solidFill>
                    <a:latin typeface="+mn-ea"/>
                  </a:rPr>
                  <a:t>。</a:t>
                </a:r>
                <a:r>
                  <a:rPr lang="ja-JP" altLang="ja-JP" sz="1000" dirty="0">
                    <a:solidFill>
                      <a:schemeClr val="tx1"/>
                    </a:solidFill>
                    <a:latin typeface="+mn-ea"/>
                  </a:rPr>
                  <a:t>基準未達商品はアルゴリズムが自動棚落ち</a:t>
                </a:r>
                <a:r>
                  <a:rPr lang="en-US" altLang="ja-JP" sz="1000" dirty="0">
                    <a:solidFill>
                      <a:schemeClr val="tx1"/>
                    </a:solidFill>
                    <a:latin typeface="+mn-ea"/>
                  </a:rPr>
                  <a:t> (</a:t>
                </a:r>
                <a:r>
                  <a:rPr lang="ja-JP" altLang="ja-JP" sz="1000" dirty="0">
                    <a:solidFill>
                      <a:schemeClr val="tx1"/>
                    </a:solidFill>
                    <a:latin typeface="+mn-ea"/>
                  </a:rPr>
                  <a:t>排除</a:t>
                </a:r>
                <a:r>
                  <a:rPr lang="en-US" altLang="ja-JP" sz="1000" dirty="0">
                    <a:solidFill>
                      <a:schemeClr val="tx1"/>
                    </a:solidFill>
                    <a:latin typeface="+mn-ea"/>
                  </a:rPr>
                  <a:t>)</a:t>
                </a:r>
                <a:r>
                  <a:rPr lang="ja-JP" altLang="ja-JP" sz="1000" dirty="0">
                    <a:solidFill>
                      <a:schemeClr val="tx1"/>
                    </a:solidFill>
                    <a:latin typeface="+mn-ea"/>
                  </a:rPr>
                  <a:t>する冷徹な取引基準へ移行</a:t>
                </a:r>
              </a:p>
            </p:txBody>
          </p:sp>
          <p:sp>
            <p:nvSpPr>
              <p:cNvPr id="73" name="正方形/長方形 72">
                <a:extLst>
                  <a:ext uri="{FF2B5EF4-FFF2-40B4-BE49-F238E27FC236}">
                    <a16:creationId xmlns:a16="http://schemas.microsoft.com/office/drawing/2014/main" id="{9BC5C485-DB24-08A3-A4BE-19F2B37D8159}"/>
                  </a:ext>
                </a:extLst>
              </p:cNvPr>
              <p:cNvSpPr/>
              <p:nvPr/>
            </p:nvSpPr>
            <p:spPr>
              <a:xfrm>
                <a:off x="2998058" y="4478323"/>
                <a:ext cx="2450138" cy="808494"/>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店舗システム化による作業</a:t>
                </a:r>
                <a:r>
                  <a:rPr lang="ja-JP" altLang="en-US" sz="1000" b="1" dirty="0">
                    <a:solidFill>
                      <a:srgbClr val="008D2E"/>
                    </a:solidFill>
                    <a:latin typeface="+mn-ea"/>
                  </a:rPr>
                  <a:t>減削減</a:t>
                </a:r>
                <a:r>
                  <a:rPr lang="en-US" altLang="ja-JP" sz="1000" b="1" dirty="0">
                    <a:solidFill>
                      <a:srgbClr val="008D2E"/>
                    </a:solidFill>
                    <a:latin typeface="+mn-ea"/>
                  </a:rPr>
                  <a:t> (</a:t>
                </a:r>
                <a:r>
                  <a:rPr lang="ja-JP" altLang="ja-JP" sz="1000" b="1" dirty="0">
                    <a:solidFill>
                      <a:srgbClr val="008D2E"/>
                    </a:solidFill>
                    <a:latin typeface="+mn-ea"/>
                  </a:rPr>
                  <a:t>E</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 </a:t>
                </a:r>
              </a:p>
              <a:p>
                <a:pPr>
                  <a:buClr>
                    <a:srgbClr val="008D2E"/>
                  </a:buClr>
                </a:pPr>
                <a:r>
                  <a:rPr lang="ja-JP" altLang="ja-JP" sz="1000" dirty="0">
                    <a:solidFill>
                      <a:schemeClr val="tx1"/>
                    </a:solidFill>
                    <a:latin typeface="+mn-ea"/>
                  </a:rPr>
                  <a:t>人手不足と自動発注</a:t>
                </a:r>
                <a:r>
                  <a:rPr lang="ja-JP" altLang="en-US" sz="1000" dirty="0">
                    <a:solidFill>
                      <a:schemeClr val="tx1"/>
                    </a:solidFill>
                    <a:latin typeface="+mn-ea"/>
                  </a:rPr>
                  <a:t>･</a:t>
                </a:r>
                <a:r>
                  <a:rPr lang="ja-JP" altLang="ja-JP" sz="1000" dirty="0">
                    <a:solidFill>
                      <a:schemeClr val="tx1"/>
                    </a:solidFill>
                    <a:latin typeface="+mn-ea"/>
                  </a:rPr>
                  <a:t>棚割導入により店舗を完全自動管理</a:t>
                </a:r>
                <a:r>
                  <a:rPr lang="ja-JP" altLang="en-US" sz="1000" dirty="0">
                    <a:solidFill>
                      <a:schemeClr val="tx1"/>
                    </a:solidFill>
                    <a:latin typeface="+mn-ea"/>
                  </a:rPr>
                  <a:t>。</a:t>
                </a:r>
                <a:r>
                  <a:rPr lang="ja-JP" altLang="ja-JP" sz="1000" dirty="0">
                    <a:solidFill>
                      <a:schemeClr val="tx1"/>
                    </a:solidFill>
                    <a:latin typeface="+mn-ea"/>
                  </a:rPr>
                  <a:t>現場の手間</a:t>
                </a:r>
                <a:r>
                  <a:rPr lang="en-US" altLang="ja-JP" sz="1000" dirty="0">
                    <a:solidFill>
                      <a:schemeClr val="tx1"/>
                    </a:solidFill>
                    <a:latin typeface="+mn-ea"/>
                  </a:rPr>
                  <a:t> (</a:t>
                </a:r>
                <a:r>
                  <a:rPr lang="ja-JP" altLang="ja-JP" sz="1000" dirty="0">
                    <a:solidFill>
                      <a:schemeClr val="tx1"/>
                    </a:solidFill>
                    <a:latin typeface="+mn-ea"/>
                  </a:rPr>
                  <a:t>品出し等</a:t>
                </a:r>
                <a:r>
                  <a:rPr lang="en-US" altLang="ja-JP" sz="1000" dirty="0">
                    <a:solidFill>
                      <a:schemeClr val="tx1"/>
                    </a:solidFill>
                    <a:latin typeface="+mn-ea"/>
                  </a:rPr>
                  <a:t>) </a:t>
                </a:r>
                <a:r>
                  <a:rPr lang="ja-JP" altLang="ja-JP" sz="1000" dirty="0">
                    <a:solidFill>
                      <a:schemeClr val="tx1"/>
                    </a:solidFill>
                    <a:latin typeface="+mn-ea"/>
                  </a:rPr>
                  <a:t>を極嫌し、付き合いによる棚融通はシステム的に完全ブロック</a:t>
                </a:r>
              </a:p>
            </p:txBody>
          </p:sp>
          <p:sp>
            <p:nvSpPr>
              <p:cNvPr id="74" name="正方形/長方形 73">
                <a:extLst>
                  <a:ext uri="{FF2B5EF4-FFF2-40B4-BE49-F238E27FC236}">
                    <a16:creationId xmlns:a16="http://schemas.microsoft.com/office/drawing/2014/main" id="{70B1BE70-56AA-DFC9-1E7D-9C76079CA10C}"/>
                  </a:ext>
                </a:extLst>
              </p:cNvPr>
              <p:cNvSpPr/>
              <p:nvPr/>
            </p:nvSpPr>
            <p:spPr>
              <a:xfrm>
                <a:off x="444903" y="5369461"/>
                <a:ext cx="2450138" cy="909443"/>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収益モデルの「多角化</a:t>
                </a:r>
                <a:r>
                  <a:rPr lang="en-US" altLang="ja-JP" sz="1000" b="1" dirty="0">
                    <a:solidFill>
                      <a:srgbClr val="008D2E"/>
                    </a:solidFill>
                    <a:latin typeface="+mn-ea"/>
                  </a:rPr>
                  <a:t> (</a:t>
                </a:r>
                <a:r>
                  <a:rPr lang="ja-JP" altLang="ja-JP" sz="1000" b="1" dirty="0">
                    <a:solidFill>
                      <a:srgbClr val="008D2E"/>
                    </a:solidFill>
                    <a:latin typeface="+mn-ea"/>
                  </a:rPr>
                  <a:t>メディア化</a:t>
                </a:r>
                <a:r>
                  <a:rPr lang="en-US" altLang="ja-JP" sz="1000" b="1" dirty="0">
                    <a:solidFill>
                      <a:srgbClr val="008D2E"/>
                    </a:solidFill>
                    <a:latin typeface="+mn-ea"/>
                  </a:rPr>
                  <a:t>)</a:t>
                </a:r>
                <a:r>
                  <a:rPr lang="ja-JP" altLang="ja-JP" sz="1000" b="1" dirty="0">
                    <a:solidFill>
                      <a:srgbClr val="008D2E"/>
                    </a:solidFill>
                    <a:latin typeface="+mn-ea"/>
                  </a:rPr>
                  <a:t>」</a:t>
                </a:r>
                <a:r>
                  <a:rPr lang="en-US" altLang="ja-JP" sz="1000" b="1" dirty="0">
                    <a:solidFill>
                      <a:srgbClr val="008D2E"/>
                    </a:solidFill>
                    <a:latin typeface="+mn-ea"/>
                  </a:rPr>
                  <a:t> (</a:t>
                </a:r>
                <a:r>
                  <a:rPr lang="ja-JP" altLang="ja-JP" sz="1000" b="1" dirty="0">
                    <a:solidFill>
                      <a:srgbClr val="008D2E"/>
                    </a:solidFill>
                    <a:latin typeface="+mn-ea"/>
                  </a:rPr>
                  <a:t>E</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 </a:t>
                </a:r>
              </a:p>
              <a:p>
                <a:pPr>
                  <a:buClr>
                    <a:srgbClr val="008D2E"/>
                  </a:buClr>
                </a:pPr>
                <a:r>
                  <a:rPr lang="ja-JP" altLang="ja-JP" sz="1000" dirty="0">
                    <a:solidFill>
                      <a:schemeClr val="tx1"/>
                    </a:solidFill>
                    <a:latin typeface="+mn-ea"/>
                  </a:rPr>
                  <a:t>物販の限界から、ID-POSをマネタイズする</a:t>
                </a:r>
                <a:br>
                  <a:rPr lang="en-US" altLang="ja-JP" sz="1000" dirty="0">
                    <a:solidFill>
                      <a:schemeClr val="tx1"/>
                    </a:solidFill>
                    <a:latin typeface="+mn-ea"/>
                  </a:rPr>
                </a:br>
                <a:r>
                  <a:rPr lang="ja-JP" altLang="ja-JP" sz="1000" dirty="0">
                    <a:solidFill>
                      <a:schemeClr val="tx1"/>
                    </a:solidFill>
                    <a:latin typeface="+mn-ea"/>
                  </a:rPr>
                  <a:t>「リテールメディア事業」が最大利益源に取引基準は「仕入れ値」から「メディア投資</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協働度」へ移行</a:t>
                </a:r>
              </a:p>
            </p:txBody>
          </p:sp>
          <p:sp>
            <p:nvSpPr>
              <p:cNvPr id="75" name="正方形/長方形 74">
                <a:extLst>
                  <a:ext uri="{FF2B5EF4-FFF2-40B4-BE49-F238E27FC236}">
                    <a16:creationId xmlns:a16="http://schemas.microsoft.com/office/drawing/2014/main" id="{29C79079-7F05-884E-79B9-C7A852375CED}"/>
                  </a:ext>
                </a:extLst>
              </p:cNvPr>
              <p:cNvSpPr/>
              <p:nvPr/>
            </p:nvSpPr>
            <p:spPr>
              <a:xfrm>
                <a:off x="2998058" y="5369457"/>
                <a:ext cx="2450138" cy="909443"/>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バイヤーの「保身</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説明責任」の肥大化</a:t>
                </a:r>
                <a:r>
                  <a:rPr lang="en-US" altLang="ja-JP"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 </a:t>
                </a:r>
              </a:p>
              <a:p>
                <a:pPr>
                  <a:buClr>
                    <a:srgbClr val="008D2E"/>
                  </a:buClr>
                </a:pPr>
                <a:r>
                  <a:rPr lang="ja-JP" altLang="ja-JP" sz="1000" dirty="0">
                    <a:solidFill>
                      <a:schemeClr val="tx1"/>
                    </a:solidFill>
                    <a:latin typeface="+mn-ea"/>
                  </a:rPr>
                  <a:t>本部のデータ監査強化により、事後検証を突破する「定量ロジック</a:t>
                </a:r>
                <a:r>
                  <a:rPr lang="en-US" altLang="ja-JP" sz="1000" dirty="0">
                    <a:solidFill>
                      <a:schemeClr val="tx1"/>
                    </a:solidFill>
                    <a:latin typeface="+mn-ea"/>
                  </a:rPr>
                  <a:t>(</a:t>
                </a:r>
                <a:r>
                  <a:rPr lang="ja-JP" altLang="ja-JP" sz="1000" dirty="0">
                    <a:solidFill>
                      <a:schemeClr val="tx1"/>
                    </a:solidFill>
                    <a:latin typeface="+mn-ea"/>
                  </a:rPr>
                  <a:t>盾</a:t>
                </a:r>
                <a:r>
                  <a:rPr lang="en-US" altLang="ja-JP" sz="1000" dirty="0">
                    <a:solidFill>
                      <a:schemeClr val="tx1"/>
                    </a:solidFill>
                    <a:latin typeface="+mn-ea"/>
                  </a:rPr>
                  <a:t>)</a:t>
                </a:r>
                <a:r>
                  <a:rPr lang="ja-JP" altLang="ja-JP" sz="1000" dirty="0">
                    <a:solidFill>
                      <a:schemeClr val="tx1"/>
                    </a:solidFill>
                    <a:latin typeface="+mn-ea"/>
                  </a:rPr>
                  <a:t>」が必須に</a:t>
                </a:r>
                <a:r>
                  <a:rPr lang="ja-JP" altLang="en-US" sz="1000" dirty="0">
                    <a:solidFill>
                      <a:schemeClr val="tx1"/>
                    </a:solidFill>
                    <a:latin typeface="+mn-ea"/>
                  </a:rPr>
                  <a:t>。</a:t>
                </a:r>
                <a:r>
                  <a:rPr lang="ja-JP" altLang="ja-JP" sz="1000" dirty="0">
                    <a:solidFill>
                      <a:schemeClr val="tx1"/>
                    </a:solidFill>
                    <a:latin typeface="+mn-ea"/>
                  </a:rPr>
                  <a:t>社内評価と保身へのプレッシャーから、システムを納得させ自分の立場を守ってくれるメーカーへの「ウェットな安心感</a:t>
                </a:r>
                <a:r>
                  <a:rPr lang="ja-JP" altLang="en-US" sz="1000" dirty="0">
                    <a:solidFill>
                      <a:schemeClr val="tx1"/>
                    </a:solidFill>
                    <a:latin typeface="+mn-ea"/>
                  </a:rPr>
                  <a:t> </a:t>
                </a:r>
                <a:r>
                  <a:rPr lang="en-US" altLang="ja-JP" sz="1000" dirty="0">
                    <a:solidFill>
                      <a:schemeClr val="tx1"/>
                    </a:solidFill>
                    <a:latin typeface="+mn-ea"/>
                  </a:rPr>
                  <a:t>(</a:t>
                </a:r>
                <a:r>
                  <a:rPr lang="ja-JP" altLang="ja-JP" sz="1000" dirty="0">
                    <a:solidFill>
                      <a:schemeClr val="tx1"/>
                    </a:solidFill>
                    <a:latin typeface="+mn-ea"/>
                  </a:rPr>
                  <a:t>信頼</a:t>
                </a:r>
                <a:r>
                  <a:rPr lang="en-US" altLang="ja-JP" sz="1000" dirty="0">
                    <a:solidFill>
                      <a:schemeClr val="tx1"/>
                    </a:solidFill>
                    <a:latin typeface="+mn-ea"/>
                  </a:rPr>
                  <a:t>)</a:t>
                </a:r>
                <a:r>
                  <a:rPr lang="ja-JP" altLang="en-US" sz="1000" dirty="0">
                    <a:solidFill>
                      <a:schemeClr val="tx1"/>
                    </a:solidFill>
                    <a:latin typeface="+mn-ea"/>
                  </a:rPr>
                  <a:t> </a:t>
                </a:r>
                <a:r>
                  <a:rPr lang="ja-JP" altLang="ja-JP" sz="1000" dirty="0">
                    <a:solidFill>
                      <a:schemeClr val="tx1"/>
                    </a:solidFill>
                    <a:latin typeface="+mn-ea"/>
                  </a:rPr>
                  <a:t>」を渇望</a:t>
                </a:r>
              </a:p>
            </p:txBody>
          </p:sp>
        </p:grpSp>
        <p:pic>
          <p:nvPicPr>
            <p:cNvPr id="114" name="グラフィックス 113" descr="コール センター 単色塗りつぶし">
              <a:extLst>
                <a:ext uri="{FF2B5EF4-FFF2-40B4-BE49-F238E27FC236}">
                  <a16:creationId xmlns:a16="http://schemas.microsoft.com/office/drawing/2014/main" id="{1240C693-F15D-8004-841D-21AC0360394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55236" y="3898576"/>
              <a:ext cx="324000" cy="324000"/>
            </a:xfrm>
            <a:prstGeom prst="rect">
              <a:avLst/>
            </a:prstGeom>
          </p:spPr>
        </p:pic>
      </p:grpSp>
      <p:grpSp>
        <p:nvGrpSpPr>
          <p:cNvPr id="3" name="グループ化 2">
            <a:extLst>
              <a:ext uri="{FF2B5EF4-FFF2-40B4-BE49-F238E27FC236}">
                <a16:creationId xmlns:a16="http://schemas.microsoft.com/office/drawing/2014/main" id="{95E5F90A-3C30-E82B-B58A-CCE8E7090033}"/>
              </a:ext>
            </a:extLst>
          </p:cNvPr>
          <p:cNvGrpSpPr/>
          <p:nvPr/>
        </p:nvGrpSpPr>
        <p:grpSpPr>
          <a:xfrm>
            <a:off x="6630718" y="3871576"/>
            <a:ext cx="5223170" cy="2441372"/>
            <a:chOff x="6630718" y="3871576"/>
            <a:chExt cx="5223170" cy="2441372"/>
          </a:xfrm>
        </p:grpSpPr>
        <p:sp>
          <p:nvSpPr>
            <p:cNvPr id="89" name="正方形/長方形 88">
              <a:extLst>
                <a:ext uri="{FF2B5EF4-FFF2-40B4-BE49-F238E27FC236}">
                  <a16:creationId xmlns:a16="http://schemas.microsoft.com/office/drawing/2014/main" id="{DDF3E598-C587-6221-9FC0-A5779BDA6C7B}"/>
                </a:ext>
              </a:extLst>
            </p:cNvPr>
            <p:cNvSpPr/>
            <p:nvPr/>
          </p:nvSpPr>
          <p:spPr>
            <a:xfrm>
              <a:off x="6630718" y="3871576"/>
              <a:ext cx="5223170" cy="378000"/>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a:solidFill>
                    <a:srgbClr val="FFFFFF"/>
                  </a:solidFill>
                  <a:latin typeface="+mn-ea"/>
                  <a:cs typeface="Meiryo" pitchFamily="34" charset="-120"/>
                </a:rPr>
                <a:t>Competitor : </a:t>
              </a:r>
              <a:r>
                <a:rPr lang="ja-JP" altLang="en-US" b="1" dirty="0">
                  <a:solidFill>
                    <a:srgbClr val="FFFFFF"/>
                  </a:solidFill>
                  <a:latin typeface="+mn-ea"/>
                  <a:cs typeface="Meiryo" pitchFamily="34" charset="-120"/>
                </a:rPr>
                <a:t>競合</a:t>
              </a:r>
              <a:endParaRPr lang="en-US" altLang="ja-JP" dirty="0">
                <a:latin typeface="+mn-ea"/>
              </a:endParaRPr>
            </a:p>
          </p:txBody>
        </p:sp>
        <p:sp>
          <p:nvSpPr>
            <p:cNvPr id="92" name="正方形/長方形 91">
              <a:extLst>
                <a:ext uri="{FF2B5EF4-FFF2-40B4-BE49-F238E27FC236}">
                  <a16:creationId xmlns:a16="http://schemas.microsoft.com/office/drawing/2014/main" id="{6DD06F41-F6D0-0A26-C4DA-956E406E85C0}"/>
                </a:ext>
              </a:extLst>
            </p:cNvPr>
            <p:cNvSpPr/>
            <p:nvPr/>
          </p:nvSpPr>
          <p:spPr>
            <a:xfrm>
              <a:off x="6630718" y="4249576"/>
              <a:ext cx="5223170" cy="2063372"/>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108000" rIns="36000" bIns="36000" numCol="1" spcCol="0" rtlCol="0" fromWordArt="0" anchor="t" anchorCtr="0" forceAA="0" compatLnSpc="1">
              <a:prstTxWarp prst="textNoShape">
                <a:avLst/>
              </a:prstTxWarp>
              <a:noAutofit/>
            </a:bodyPr>
            <a:lstStyle/>
            <a:p>
              <a:pPr algn="ctr"/>
              <a:r>
                <a:rPr lang="ja-JP" altLang="ja-JP" sz="1100" b="1" dirty="0">
                  <a:solidFill>
                    <a:srgbClr val="008D2E"/>
                  </a:solidFill>
                  <a:latin typeface="+mn-ea"/>
                </a:rPr>
                <a:t>消費者</a:t>
              </a:r>
              <a:r>
                <a:rPr lang="ja-JP" altLang="en-US" sz="1100" b="1" dirty="0">
                  <a:solidFill>
                    <a:srgbClr val="008D2E"/>
                  </a:solidFill>
                  <a:latin typeface="+mn-ea"/>
                </a:rPr>
                <a:t>･</a:t>
              </a:r>
              <a:r>
                <a:rPr lang="ja-JP" altLang="ja-JP" sz="1100" b="1" dirty="0">
                  <a:solidFill>
                    <a:srgbClr val="008D2E"/>
                  </a:solidFill>
                  <a:latin typeface="+mn-ea"/>
                </a:rPr>
                <a:t>取引先変化を先取りし、環境対応×高付加価値×AIで模倣困難な優位を確立</a:t>
              </a:r>
              <a:endParaRPr lang="en-US" altLang="ja-JP" sz="1100" b="1" dirty="0">
                <a:solidFill>
                  <a:srgbClr val="008D2E"/>
                </a:solidFill>
                <a:latin typeface="+mn-ea"/>
              </a:endParaRPr>
            </a:p>
          </p:txBody>
        </p:sp>
        <p:grpSp>
          <p:nvGrpSpPr>
            <p:cNvPr id="21" name="グループ化 20">
              <a:extLst>
                <a:ext uri="{FF2B5EF4-FFF2-40B4-BE49-F238E27FC236}">
                  <a16:creationId xmlns:a16="http://schemas.microsoft.com/office/drawing/2014/main" id="{43199BFA-8F2D-3542-3029-BEFFEFEB2E59}"/>
                </a:ext>
              </a:extLst>
            </p:cNvPr>
            <p:cNvGrpSpPr/>
            <p:nvPr/>
          </p:nvGrpSpPr>
          <p:grpSpPr>
            <a:xfrm>
              <a:off x="6740657" y="4544971"/>
              <a:ext cx="5003293" cy="1700851"/>
              <a:chOff x="6740657" y="4475749"/>
              <a:chExt cx="5003293" cy="1800577"/>
            </a:xfrm>
          </p:grpSpPr>
          <p:sp>
            <p:nvSpPr>
              <p:cNvPr id="97" name="正方形/長方形 96">
                <a:extLst>
                  <a:ext uri="{FF2B5EF4-FFF2-40B4-BE49-F238E27FC236}">
                    <a16:creationId xmlns:a16="http://schemas.microsoft.com/office/drawing/2014/main" id="{E07C7EEB-319B-FC2D-4FAE-EA6F4B0C4608}"/>
                  </a:ext>
                </a:extLst>
              </p:cNvPr>
              <p:cNvSpPr/>
              <p:nvPr/>
            </p:nvSpPr>
            <p:spPr>
              <a:xfrm>
                <a:off x="6740657" y="4475749"/>
                <a:ext cx="2450138" cy="808494"/>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SCM自律同期によるコスト優位</a:t>
                </a:r>
                <a:r>
                  <a:rPr lang="en-US" altLang="ja-JP" sz="1000" b="1" dirty="0">
                    <a:solidFill>
                      <a:srgbClr val="008D2E"/>
                    </a:solidFill>
                    <a:latin typeface="+mn-ea"/>
                  </a:rPr>
                  <a:t> (</a:t>
                </a:r>
                <a:r>
                  <a:rPr lang="ja-JP" altLang="ja-JP" sz="1000" b="1" dirty="0">
                    <a:solidFill>
                      <a:srgbClr val="008D2E"/>
                    </a:solidFill>
                    <a:latin typeface="+mn-ea"/>
                  </a:rPr>
                  <a:t>P</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E</a:t>
                </a:r>
                <a:r>
                  <a:rPr lang="en-US" altLang="ja-JP" sz="1000" b="1" dirty="0">
                    <a:solidFill>
                      <a:srgbClr val="008D2E"/>
                    </a:solidFill>
                    <a:latin typeface="+mn-ea"/>
                  </a:rPr>
                  <a:t>)</a:t>
                </a:r>
              </a:p>
              <a:p>
                <a:pPr>
                  <a:buClr>
                    <a:srgbClr val="008D2E"/>
                  </a:buClr>
                </a:pPr>
                <a:r>
                  <a:rPr lang="ja-JP" altLang="ja-JP" sz="1000" dirty="0">
                    <a:solidFill>
                      <a:schemeClr val="tx1"/>
                    </a:solidFill>
                    <a:latin typeface="+mn-ea"/>
                  </a:rPr>
                  <a:t>炭素税や物流制限に対応し、需要予測〜生産</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在庫</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物流をリアルタイム同期</a:t>
                </a:r>
                <a:r>
                  <a:rPr lang="en-US" altLang="ja-JP" sz="1000" dirty="0">
                    <a:solidFill>
                      <a:schemeClr val="tx1"/>
                    </a:solidFill>
                    <a:latin typeface="+mn-ea"/>
                  </a:rPr>
                  <a:t> (</a:t>
                </a:r>
                <a:r>
                  <a:rPr lang="ja-JP" altLang="ja-JP" sz="1000" dirty="0">
                    <a:solidFill>
                      <a:schemeClr val="tx1"/>
                    </a:solidFill>
                    <a:latin typeface="+mn-ea"/>
                  </a:rPr>
                  <a:t>自律型SCM</a:t>
                </a:r>
                <a:r>
                  <a:rPr lang="en-US" altLang="ja-JP" sz="1000" dirty="0">
                    <a:solidFill>
                      <a:schemeClr val="tx1"/>
                    </a:solidFill>
                    <a:latin typeface="+mn-ea"/>
                  </a:rPr>
                  <a:t>)</a:t>
                </a:r>
                <a:r>
                  <a:rPr lang="ja-JP" altLang="en-US" sz="1000" dirty="0">
                    <a:solidFill>
                      <a:schemeClr val="tx1"/>
                    </a:solidFill>
                    <a:latin typeface="+mn-ea"/>
                  </a:rPr>
                  <a:t>。</a:t>
                </a:r>
                <a:r>
                  <a:rPr lang="ja-JP" altLang="ja-JP" sz="1000" dirty="0">
                    <a:solidFill>
                      <a:schemeClr val="tx1"/>
                    </a:solidFill>
                    <a:latin typeface="+mn-ea"/>
                  </a:rPr>
                  <a:t>小売の自動発注に選ばれる「低欠品</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低コスト」を死守</a:t>
                </a:r>
              </a:p>
            </p:txBody>
          </p:sp>
          <p:sp>
            <p:nvSpPr>
              <p:cNvPr id="99" name="正方形/長方形 98">
                <a:extLst>
                  <a:ext uri="{FF2B5EF4-FFF2-40B4-BE49-F238E27FC236}">
                    <a16:creationId xmlns:a16="http://schemas.microsoft.com/office/drawing/2014/main" id="{55FBC544-FFD7-0776-0702-5235F629E27A}"/>
                  </a:ext>
                </a:extLst>
              </p:cNvPr>
              <p:cNvSpPr/>
              <p:nvPr/>
            </p:nvSpPr>
            <p:spPr>
              <a:xfrm>
                <a:off x="9293812" y="4475749"/>
                <a:ext cx="2450138" cy="808494"/>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機械アルゴリズム向け属性データの完備</a:t>
                </a:r>
                <a:r>
                  <a:rPr lang="en-US" altLang="ja-JP"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a:t>
                </a:r>
              </a:p>
              <a:p>
                <a:pPr>
                  <a:buClr>
                    <a:srgbClr val="008D2E"/>
                  </a:buClr>
                </a:pPr>
                <a:r>
                  <a:rPr lang="ja-JP" altLang="ja-JP" sz="1000" dirty="0">
                    <a:solidFill>
                      <a:schemeClr val="tx1"/>
                    </a:solidFill>
                    <a:latin typeface="+mn-ea"/>
                  </a:rPr>
                  <a:t>消費者の自動補充や小売の自動棚割りに適応</a:t>
                </a:r>
                <a:r>
                  <a:rPr lang="ja-JP" altLang="en-US" sz="1000" dirty="0">
                    <a:solidFill>
                      <a:schemeClr val="tx1"/>
                    </a:solidFill>
                    <a:latin typeface="+mn-ea"/>
                  </a:rPr>
                  <a:t>。</a:t>
                </a:r>
                <a:r>
                  <a:rPr lang="ja-JP" altLang="ja-JP" sz="1000" dirty="0">
                    <a:solidFill>
                      <a:schemeClr val="tx1"/>
                    </a:solidFill>
                    <a:latin typeface="+mn-ea"/>
                  </a:rPr>
                  <a:t>仕様</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成分</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環境スコアを機械が解釈できる「構造化属性データ</a:t>
                </a:r>
                <a:r>
                  <a:rPr lang="en-US" altLang="ja-JP" sz="1000" dirty="0">
                    <a:solidFill>
                      <a:schemeClr val="tx1"/>
                    </a:solidFill>
                    <a:latin typeface="+mn-ea"/>
                  </a:rPr>
                  <a:t> (</a:t>
                </a:r>
                <a:r>
                  <a:rPr lang="ja-JP" altLang="ja-JP" sz="1000" dirty="0">
                    <a:solidFill>
                      <a:schemeClr val="tx1"/>
                    </a:solidFill>
                    <a:latin typeface="+mn-ea"/>
                  </a:rPr>
                  <a:t>API等</a:t>
                </a:r>
                <a:r>
                  <a:rPr lang="en-US" altLang="ja-JP" sz="1000" dirty="0">
                    <a:solidFill>
                      <a:schemeClr val="tx1"/>
                    </a:solidFill>
                    <a:latin typeface="+mn-ea"/>
                  </a:rPr>
                  <a:t>) </a:t>
                </a:r>
                <a:r>
                  <a:rPr lang="ja-JP" altLang="ja-JP" sz="1000" dirty="0">
                    <a:solidFill>
                      <a:schemeClr val="tx1"/>
                    </a:solidFill>
                    <a:latin typeface="+mn-ea"/>
                  </a:rPr>
                  <a:t>」として完全開放し、自動足切りを回避</a:t>
                </a:r>
              </a:p>
            </p:txBody>
          </p:sp>
          <p:sp>
            <p:nvSpPr>
              <p:cNvPr id="102" name="正方形/長方形 101">
                <a:extLst>
                  <a:ext uri="{FF2B5EF4-FFF2-40B4-BE49-F238E27FC236}">
                    <a16:creationId xmlns:a16="http://schemas.microsoft.com/office/drawing/2014/main" id="{D8249405-D2D8-2801-CF52-DF5668662CE7}"/>
                  </a:ext>
                </a:extLst>
              </p:cNvPr>
              <p:cNvSpPr/>
              <p:nvPr/>
            </p:nvSpPr>
            <p:spPr>
              <a:xfrm>
                <a:off x="6740657" y="5366883"/>
                <a:ext cx="2450138" cy="909443"/>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en-US" sz="800" b="1" dirty="0">
                    <a:solidFill>
                      <a:srgbClr val="008D2E"/>
                    </a:solidFill>
                    <a:latin typeface="+mn-ea"/>
                  </a:rPr>
                  <a:t>小売依存を脱する「独自データ」の直接蓄積 </a:t>
                </a:r>
                <a:br>
                  <a:rPr lang="en-US" altLang="ja-JP" sz="800" b="1" dirty="0">
                    <a:solidFill>
                      <a:srgbClr val="008D2E"/>
                    </a:solidFill>
                    <a:latin typeface="+mn-ea"/>
                  </a:rPr>
                </a:br>
                <a:r>
                  <a:rPr lang="en-US" altLang="ja-JP" sz="800" b="1" dirty="0">
                    <a:solidFill>
                      <a:srgbClr val="008D2E"/>
                    </a:solidFill>
                    <a:latin typeface="+mn-ea"/>
                  </a:rPr>
                  <a:t>(P </a:t>
                </a:r>
                <a:r>
                  <a:rPr lang="ja-JP" altLang="en-US" sz="800" b="1" dirty="0">
                    <a:solidFill>
                      <a:srgbClr val="008D2E"/>
                    </a:solidFill>
                    <a:latin typeface="+mn-ea"/>
                  </a:rPr>
                  <a:t>･ </a:t>
                </a:r>
                <a:r>
                  <a:rPr lang="en-US" altLang="ja-JP" sz="800" b="1" dirty="0">
                    <a:solidFill>
                      <a:srgbClr val="008D2E"/>
                    </a:solidFill>
                    <a:latin typeface="+mn-ea"/>
                  </a:rPr>
                  <a:t>T</a:t>
                </a:r>
                <a:r>
                  <a:rPr lang="ja-JP" altLang="en-US" sz="800" b="1" dirty="0">
                    <a:solidFill>
                      <a:srgbClr val="008D2E"/>
                    </a:solidFill>
                    <a:latin typeface="+mn-ea"/>
                  </a:rPr>
                  <a:t>の影響</a:t>
                </a:r>
                <a:r>
                  <a:rPr lang="en-US" altLang="ja-JP" sz="800" b="1" dirty="0">
                    <a:solidFill>
                      <a:srgbClr val="008D2E"/>
                    </a:solidFill>
                    <a:latin typeface="+mn-ea"/>
                  </a:rPr>
                  <a:t>)</a:t>
                </a:r>
              </a:p>
              <a:p>
                <a:pPr>
                  <a:buClr>
                    <a:srgbClr val="008D2E"/>
                  </a:buClr>
                </a:pPr>
                <a:r>
                  <a:rPr lang="en-US" altLang="ja-JP" sz="750" dirty="0">
                    <a:solidFill>
                      <a:schemeClr val="tx1"/>
                    </a:solidFill>
                    <a:latin typeface="+mn-ea"/>
                  </a:rPr>
                  <a:t>Cookie</a:t>
                </a:r>
                <a:r>
                  <a:rPr lang="ja-JP" altLang="en-US" sz="750" dirty="0">
                    <a:solidFill>
                      <a:schemeClr val="tx1"/>
                    </a:solidFill>
                    <a:latin typeface="+mn-ea"/>
                  </a:rPr>
                  <a:t>規制や</a:t>
                </a:r>
                <a:r>
                  <a:rPr lang="en-US" altLang="ja-JP" sz="750" dirty="0">
                    <a:solidFill>
                      <a:schemeClr val="tx1"/>
                    </a:solidFill>
                    <a:latin typeface="+mn-ea"/>
                  </a:rPr>
                  <a:t>AI</a:t>
                </a:r>
                <a:r>
                  <a:rPr lang="ja-JP" altLang="en-US" sz="750" dirty="0">
                    <a:solidFill>
                      <a:schemeClr val="tx1"/>
                    </a:solidFill>
                    <a:latin typeface="+mn-ea"/>
                  </a:rPr>
                  <a:t>検索による情報遮断を見据え、自社</a:t>
                </a:r>
                <a:br>
                  <a:rPr lang="en-US" altLang="ja-JP" sz="750" dirty="0">
                    <a:solidFill>
                      <a:schemeClr val="tx1"/>
                    </a:solidFill>
                    <a:latin typeface="+mn-ea"/>
                  </a:rPr>
                </a:br>
                <a:r>
                  <a:rPr lang="ja-JP" altLang="en-US" sz="750" dirty="0">
                    <a:solidFill>
                      <a:schemeClr val="tx1"/>
                    </a:solidFill>
                    <a:latin typeface="+mn-ea"/>
                  </a:rPr>
                  <a:t>コミュニティや直販 </a:t>
                </a:r>
                <a:r>
                  <a:rPr lang="en-US" altLang="ja-JP" sz="750" dirty="0">
                    <a:solidFill>
                      <a:schemeClr val="tx1"/>
                    </a:solidFill>
                    <a:latin typeface="+mn-ea"/>
                  </a:rPr>
                  <a:t>(My Kao</a:t>
                </a:r>
                <a:r>
                  <a:rPr lang="ja-JP" altLang="en-US" sz="750" dirty="0">
                    <a:solidFill>
                      <a:schemeClr val="tx1"/>
                    </a:solidFill>
                    <a:latin typeface="+mn-ea"/>
                  </a:rPr>
                  <a:t>等</a:t>
                </a:r>
                <a:r>
                  <a:rPr lang="en-US" altLang="ja-JP" sz="750" dirty="0">
                    <a:solidFill>
                      <a:schemeClr val="tx1"/>
                    </a:solidFill>
                    <a:latin typeface="+mn-ea"/>
                  </a:rPr>
                  <a:t>) </a:t>
                </a:r>
                <a:r>
                  <a:rPr lang="ja-JP" altLang="en-US" sz="750" dirty="0">
                    <a:solidFill>
                      <a:schemeClr val="tx1"/>
                    </a:solidFill>
                    <a:latin typeface="+mn-ea"/>
                  </a:rPr>
                  <a:t>を確立。</a:t>
                </a:r>
                <a:br>
                  <a:rPr lang="en-US" altLang="ja-JP" sz="750" dirty="0">
                    <a:solidFill>
                      <a:schemeClr val="tx1"/>
                    </a:solidFill>
                    <a:latin typeface="+mn-ea"/>
                  </a:rPr>
                </a:br>
                <a:r>
                  <a:rPr lang="ja-JP" altLang="en-US" sz="750" dirty="0">
                    <a:solidFill>
                      <a:schemeClr val="tx1"/>
                    </a:solidFill>
                    <a:latin typeface="+mn-ea"/>
                  </a:rPr>
                  <a:t>生活者から「ゼロパーティデータ」を直接取得 ･ </a:t>
                </a:r>
                <a:br>
                  <a:rPr lang="en-US" altLang="ja-JP" sz="750" dirty="0">
                    <a:solidFill>
                      <a:schemeClr val="tx1"/>
                    </a:solidFill>
                    <a:latin typeface="+mn-ea"/>
                  </a:rPr>
                </a:br>
                <a:r>
                  <a:rPr lang="ja-JP" altLang="en-US" sz="750" dirty="0">
                    <a:solidFill>
                      <a:schemeClr val="tx1"/>
                    </a:solidFill>
                    <a:latin typeface="+mn-ea"/>
                  </a:rPr>
                  <a:t>蓄積し小売に主導権を握らせない情報取得方法を構築</a:t>
                </a:r>
                <a:endParaRPr lang="en-US" altLang="ja-JP" sz="750" dirty="0">
                  <a:solidFill>
                    <a:schemeClr val="tx1"/>
                  </a:solidFill>
                  <a:latin typeface="+mn-ea"/>
                </a:endParaRPr>
              </a:p>
            </p:txBody>
          </p:sp>
          <p:sp>
            <p:nvSpPr>
              <p:cNvPr id="103" name="正方形/長方形 102">
                <a:extLst>
                  <a:ext uri="{FF2B5EF4-FFF2-40B4-BE49-F238E27FC236}">
                    <a16:creationId xmlns:a16="http://schemas.microsoft.com/office/drawing/2014/main" id="{4F3FC5EC-D380-E1A1-22F4-D8C20BCB5F0F}"/>
                  </a:ext>
                </a:extLst>
              </p:cNvPr>
              <p:cNvSpPr/>
              <p:nvPr/>
            </p:nvSpPr>
            <p:spPr>
              <a:xfrm>
                <a:off x="9293812" y="5366883"/>
                <a:ext cx="2450138" cy="909443"/>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営業の「バイヤー</a:t>
                </a:r>
                <a:r>
                  <a:rPr lang="ja-JP" altLang="en-US" sz="1000" b="1" dirty="0">
                    <a:solidFill>
                      <a:srgbClr val="008D2E"/>
                    </a:solidFill>
                    <a:latin typeface="+mn-ea"/>
                  </a:rPr>
                  <a:t>向け</a:t>
                </a:r>
                <a:r>
                  <a:rPr lang="ja-JP" altLang="ja-JP" sz="1000" b="1" dirty="0">
                    <a:solidFill>
                      <a:srgbClr val="008D2E"/>
                    </a:solidFill>
                    <a:latin typeface="+mn-ea"/>
                  </a:rPr>
                  <a:t>組織戦」へのシフト</a:t>
                </a:r>
                <a:r>
                  <a:rPr lang="en-US" altLang="ja-JP"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a:t>
                </a:r>
              </a:p>
              <a:p>
                <a:pPr>
                  <a:buClr>
                    <a:srgbClr val="008D2E"/>
                  </a:buClr>
                </a:pPr>
                <a:r>
                  <a:rPr lang="ja-JP" altLang="ja-JP" sz="1000" dirty="0">
                    <a:solidFill>
                      <a:schemeClr val="tx1"/>
                    </a:solidFill>
                    <a:latin typeface="+mn-ea"/>
                  </a:rPr>
                  <a:t>生成AI等で事務作業を「ゼロ化」し人を解放</a:t>
                </a:r>
                <a:r>
                  <a:rPr lang="ja-JP" altLang="en-US" sz="1000" dirty="0">
                    <a:solidFill>
                      <a:schemeClr val="tx1"/>
                    </a:solidFill>
                    <a:latin typeface="+mn-ea"/>
                  </a:rPr>
                  <a:t>。</a:t>
                </a:r>
                <a:endParaRPr lang="en-US" altLang="ja-JP" sz="1000" dirty="0">
                  <a:solidFill>
                    <a:schemeClr val="tx1"/>
                  </a:solidFill>
                  <a:latin typeface="+mn-ea"/>
                </a:endParaRPr>
              </a:p>
              <a:p>
                <a:pPr>
                  <a:buClr>
                    <a:srgbClr val="008D2E"/>
                  </a:buClr>
                </a:pPr>
                <a:r>
                  <a:rPr lang="ja-JP" altLang="ja-JP" sz="1000" dirty="0">
                    <a:solidFill>
                      <a:schemeClr val="tx1"/>
                    </a:solidFill>
                    <a:latin typeface="+mn-ea"/>
                  </a:rPr>
                  <a:t>保身に悩むバイヤーの社内説明データを先回り構築するJBPへリソースを集中</a:t>
                </a:r>
                <a:r>
                  <a:rPr lang="ja-JP" altLang="en-US" sz="1000" dirty="0">
                    <a:solidFill>
                      <a:schemeClr val="tx1"/>
                    </a:solidFill>
                    <a:latin typeface="+mn-ea"/>
                  </a:rPr>
                  <a:t>。</a:t>
                </a:r>
                <a:r>
                  <a:rPr lang="ja-JP" altLang="ja-JP" sz="1000" dirty="0">
                    <a:solidFill>
                      <a:schemeClr val="tx1"/>
                    </a:solidFill>
                    <a:latin typeface="+mn-ea"/>
                  </a:rPr>
                  <a:t>1対1から「組織対組織」の体制へ標準化</a:t>
                </a:r>
              </a:p>
            </p:txBody>
          </p:sp>
        </p:grpSp>
        <p:pic>
          <p:nvPicPr>
            <p:cNvPr id="120" name="グラフィックス 119" descr="都市 単色塗りつぶし">
              <a:extLst>
                <a:ext uri="{FF2B5EF4-FFF2-40B4-BE49-F238E27FC236}">
                  <a16:creationId xmlns:a16="http://schemas.microsoft.com/office/drawing/2014/main" id="{D33B1EAB-8B37-B890-1813-474438F6845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769094" y="3898576"/>
              <a:ext cx="324000" cy="324000"/>
            </a:xfrm>
            <a:prstGeom prst="rect">
              <a:avLst/>
            </a:prstGeom>
          </p:spPr>
        </p:pic>
      </p:grpSp>
      <p:sp>
        <p:nvSpPr>
          <p:cNvPr id="6" name="テキスト プレースホルダー 2">
            <a:extLst>
              <a:ext uri="{FF2B5EF4-FFF2-40B4-BE49-F238E27FC236}">
                <a16:creationId xmlns:a16="http://schemas.microsoft.com/office/drawing/2014/main" id="{2A44B7A3-76D4-AD25-E7E6-E19FAF640202}"/>
              </a:ext>
            </a:extLst>
          </p:cNvPr>
          <p:cNvSpPr txBox="1">
            <a:spLocks/>
          </p:cNvSpPr>
          <p:nvPr/>
        </p:nvSpPr>
        <p:spPr>
          <a:xfrm>
            <a:off x="223044" y="914400"/>
            <a:ext cx="11745912" cy="427038"/>
          </a:xfrm>
          <a:prstGeom prst="rect">
            <a:avLst/>
          </a:prstGeom>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08000"/>
              </a:buClr>
              <a:buFont typeface="Wingdings" panose="05000000000000000000" pitchFamily="2" charset="2"/>
              <a:buChar char="n"/>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ja-JP" sz="1800" dirty="0">
                <a:latin typeface="+mn-ea"/>
                <a:ea typeface="+mn-ea"/>
              </a:rPr>
              <a:t>消費者のAI購入や小売の環境</a:t>
            </a:r>
            <a:r>
              <a:rPr lang="en-US" altLang="ja-JP" sz="1800" dirty="0">
                <a:latin typeface="+mn-ea"/>
                <a:ea typeface="+mn-ea"/>
              </a:rPr>
              <a:t> </a:t>
            </a:r>
            <a:r>
              <a:rPr lang="ja-JP" altLang="en-US" sz="1800" dirty="0">
                <a:latin typeface="+mn-ea"/>
                <a:ea typeface="+mn-ea"/>
              </a:rPr>
              <a:t>･ </a:t>
            </a:r>
            <a:r>
              <a:rPr lang="ja-JP" altLang="ja-JP" sz="1800" dirty="0">
                <a:latin typeface="+mn-ea"/>
                <a:ea typeface="+mn-ea"/>
              </a:rPr>
              <a:t>データ監査に対し、競合もこれらを見据えた先手を打ち始めて</a:t>
            </a:r>
            <a:r>
              <a:rPr lang="ja-JP" altLang="en-US" sz="1800" dirty="0">
                <a:latin typeface="+mn-ea"/>
                <a:ea typeface="+mn-ea"/>
              </a:rPr>
              <a:t>おり</a:t>
            </a:r>
            <a:r>
              <a:rPr lang="ja-JP" altLang="ja-JP" sz="1800" dirty="0">
                <a:latin typeface="+mn-ea"/>
                <a:ea typeface="+mn-ea"/>
              </a:rPr>
              <a:t>ライオンにとっても、</a:t>
            </a:r>
            <a:br>
              <a:rPr lang="en-US" altLang="ja-JP" sz="1800" dirty="0">
                <a:latin typeface="+mn-ea"/>
                <a:ea typeface="+mn-ea"/>
              </a:rPr>
            </a:br>
            <a:r>
              <a:rPr lang="ja-JP" altLang="ja-JP" sz="1800" dirty="0">
                <a:latin typeface="+mn-ea"/>
                <a:ea typeface="+mn-ea"/>
              </a:rPr>
              <a:t>従来の営業</a:t>
            </a:r>
            <a:r>
              <a:rPr lang="en-US" altLang="ja-JP" sz="1800" dirty="0">
                <a:latin typeface="+mn-ea"/>
                <a:ea typeface="+mn-ea"/>
              </a:rPr>
              <a:t> </a:t>
            </a:r>
            <a:r>
              <a:rPr lang="ja-JP" altLang="en-US" sz="1800" dirty="0">
                <a:latin typeface="+mn-ea"/>
                <a:ea typeface="+mn-ea"/>
              </a:rPr>
              <a:t>･ </a:t>
            </a:r>
            <a:r>
              <a:rPr lang="ja-JP" altLang="ja-JP" sz="1800" dirty="0">
                <a:latin typeface="+mn-ea"/>
                <a:ea typeface="+mn-ea"/>
              </a:rPr>
              <a:t>マーケティング体制からの脱却は急務</a:t>
            </a:r>
            <a:endParaRPr lang="ja-JP" altLang="en-US" sz="1800" dirty="0">
              <a:latin typeface="+mn-ea"/>
              <a:ea typeface="+mn-ea"/>
            </a:endParaRPr>
          </a:p>
        </p:txBody>
      </p:sp>
    </p:spTree>
    <p:extLst>
      <p:ext uri="{BB962C8B-B14F-4D97-AF65-F5344CB8AC3E}">
        <p14:creationId xmlns:p14="http://schemas.microsoft.com/office/powerpoint/2010/main" val="28496751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54702E-CAD9-BABA-0354-7FA09EFCDC6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310A14D-C505-FC2A-0EB5-453D0C84EE42}"/>
              </a:ext>
            </a:extLst>
          </p:cNvPr>
          <p:cNvSpPr>
            <a:spLocks noGrp="1"/>
          </p:cNvSpPr>
          <p:nvPr>
            <p:ph type="title"/>
          </p:nvPr>
        </p:nvSpPr>
        <p:spPr>
          <a:xfrm>
            <a:off x="334963" y="1"/>
            <a:ext cx="11522075" cy="914400"/>
          </a:xfrm>
        </p:spPr>
        <p:txBody>
          <a:bodyPr/>
          <a:lstStyle/>
          <a:p>
            <a:r>
              <a:rPr lang="ja-JP" altLang="en-US" dirty="0">
                <a:latin typeface="+mn-ea"/>
                <a:ea typeface="+mn-ea"/>
              </a:rPr>
              <a:t>自社の強み・弱み・機会・脅威（SWOT）</a:t>
            </a:r>
            <a:endParaRPr kumimoji="1" lang="ja-JP" altLang="en-US" dirty="0">
              <a:latin typeface="+mn-ea"/>
              <a:ea typeface="+mn-ea"/>
            </a:endParaRPr>
          </a:p>
        </p:txBody>
      </p:sp>
      <p:grpSp>
        <p:nvGrpSpPr>
          <p:cNvPr id="17" name="グループ化 16">
            <a:extLst>
              <a:ext uri="{FF2B5EF4-FFF2-40B4-BE49-F238E27FC236}">
                <a16:creationId xmlns:a16="http://schemas.microsoft.com/office/drawing/2014/main" id="{F6675D07-3353-91E0-0FD9-78B4EE43EE13}"/>
              </a:ext>
            </a:extLst>
          </p:cNvPr>
          <p:cNvGrpSpPr/>
          <p:nvPr/>
        </p:nvGrpSpPr>
        <p:grpSpPr>
          <a:xfrm>
            <a:off x="334962" y="1628774"/>
            <a:ext cx="11522075" cy="1279520"/>
            <a:chOff x="334962" y="1628774"/>
            <a:chExt cx="11522075" cy="1279520"/>
          </a:xfrm>
        </p:grpSpPr>
        <p:sp>
          <p:nvSpPr>
            <p:cNvPr id="13" name="正方形/長方形 12">
              <a:extLst>
                <a:ext uri="{FF2B5EF4-FFF2-40B4-BE49-F238E27FC236}">
                  <a16:creationId xmlns:a16="http://schemas.microsoft.com/office/drawing/2014/main" id="{00D8072C-F526-0B7E-4B71-29C3A734E6B9}"/>
                </a:ext>
              </a:extLst>
            </p:cNvPr>
            <p:cNvSpPr/>
            <p:nvPr/>
          </p:nvSpPr>
          <p:spPr>
            <a:xfrm>
              <a:off x="1949834" y="1628774"/>
              <a:ext cx="2424359" cy="1279520"/>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52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オーラルケア市場の圧倒的シェアと</a:t>
              </a:r>
              <a:br>
                <a:rPr lang="en-US" altLang="ja-JP" sz="1200" b="1" dirty="0">
                  <a:solidFill>
                    <a:srgbClr val="008D2E"/>
                  </a:solidFill>
                  <a:latin typeface="+mn-ea"/>
                </a:rPr>
              </a:br>
              <a:r>
                <a:rPr lang="ja-JP" altLang="en-US" sz="1200" b="1" dirty="0">
                  <a:solidFill>
                    <a:srgbClr val="008D2E"/>
                  </a:solidFill>
                  <a:latin typeface="+mn-ea"/>
                </a:rPr>
                <a:t>「制度 ･ 職能ネットワーク」</a:t>
              </a:r>
              <a:endParaRPr lang="en-US" altLang="ja-JP" sz="1200" b="1" dirty="0">
                <a:solidFill>
                  <a:srgbClr val="008D2E"/>
                </a:solidFill>
                <a:latin typeface="+mn-ea"/>
              </a:endParaRPr>
            </a:p>
            <a:p>
              <a:pPr marL="87313" indent="-87313">
                <a:spcAft>
                  <a:spcPts val="200"/>
                </a:spcAft>
                <a:buClr>
                  <a:srgbClr val="008D2E"/>
                </a:buClr>
                <a:buFont typeface="Arial" panose="020B0604020202020204" pitchFamily="34" charset="0"/>
                <a:buChar char="•"/>
              </a:pPr>
              <a:r>
                <a:rPr lang="ja-JP" altLang="en-US" sz="1000" dirty="0">
                  <a:solidFill>
                    <a:schemeClr val="tx1"/>
                  </a:solidFill>
                  <a:latin typeface="+mn-ea"/>
                </a:rPr>
                <a:t>ハミガキ ･ ハブラシ国内トップシェア</a:t>
              </a:r>
              <a:endParaRPr lang="en-US" altLang="ja-JP" sz="1000" dirty="0">
                <a:solidFill>
                  <a:schemeClr val="tx1"/>
                </a:solidFill>
                <a:latin typeface="+mn-ea"/>
              </a:endParaRPr>
            </a:p>
            <a:p>
              <a:pPr marL="87313" indent="-87313">
                <a:spcAft>
                  <a:spcPts val="200"/>
                </a:spcAft>
                <a:buClr>
                  <a:srgbClr val="008D2E"/>
                </a:buClr>
                <a:buFont typeface="Arial" panose="020B0604020202020204" pitchFamily="34" charset="0"/>
                <a:buChar char="•"/>
              </a:pPr>
              <a:r>
                <a:rPr lang="ja-JP" altLang="en-US" sz="1000" dirty="0">
                  <a:solidFill>
                    <a:schemeClr val="tx1"/>
                  </a:solidFill>
                  <a:latin typeface="+mn-ea"/>
                </a:rPr>
                <a:t>歯科医師会、歯科医院、学校保健 </a:t>
              </a:r>
              <a:r>
                <a:rPr lang="en-US" altLang="ja-JP" sz="1000" dirty="0">
                  <a:solidFill>
                    <a:schemeClr val="tx1"/>
                  </a:solidFill>
                  <a:latin typeface="+mn-ea"/>
                </a:rPr>
                <a:t> (</a:t>
              </a:r>
              <a:r>
                <a:rPr lang="ja-JP" altLang="en-US" sz="1000" dirty="0">
                  <a:solidFill>
                    <a:schemeClr val="tx1"/>
                  </a:solidFill>
                  <a:latin typeface="+mn-ea"/>
                </a:rPr>
                <a:t>小学生歯みがき大会等</a:t>
              </a:r>
              <a:r>
                <a:rPr lang="en-US" altLang="ja-JP" sz="1000" dirty="0">
                  <a:solidFill>
                    <a:schemeClr val="tx1"/>
                  </a:solidFill>
                  <a:latin typeface="+mn-ea"/>
                </a:rPr>
                <a:t>) </a:t>
              </a:r>
              <a:r>
                <a:rPr lang="ja-JP" altLang="en-US" sz="1000" dirty="0">
                  <a:solidFill>
                    <a:schemeClr val="tx1"/>
                  </a:solidFill>
                  <a:latin typeface="+mn-ea"/>
                </a:rPr>
                <a:t>と構築した「啓発 ･ 教育インフラ」を公式掌握</a:t>
              </a:r>
              <a:endParaRPr kumimoji="1" lang="ja-JP" altLang="en-US" sz="1000" dirty="0">
                <a:solidFill>
                  <a:schemeClr val="tx1"/>
                </a:solidFill>
                <a:latin typeface="+mn-ea"/>
              </a:endParaRPr>
            </a:p>
          </p:txBody>
        </p:sp>
        <p:sp>
          <p:nvSpPr>
            <p:cNvPr id="33" name="正方形/長方形 32">
              <a:extLst>
                <a:ext uri="{FF2B5EF4-FFF2-40B4-BE49-F238E27FC236}">
                  <a16:creationId xmlns:a16="http://schemas.microsoft.com/office/drawing/2014/main" id="{23948BB1-A85B-0D3B-0C1A-4C3B6DA04871}"/>
                </a:ext>
              </a:extLst>
            </p:cNvPr>
            <p:cNvSpPr/>
            <p:nvPr/>
          </p:nvSpPr>
          <p:spPr>
            <a:xfrm>
              <a:off x="1949834" y="1628774"/>
              <a:ext cx="38281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S1</a:t>
              </a:r>
              <a:endParaRPr kumimoji="1" lang="ja-JP" altLang="en-US" sz="900" dirty="0">
                <a:solidFill>
                  <a:schemeClr val="bg1"/>
                </a:solidFill>
                <a:latin typeface="+mn-ea"/>
              </a:endParaRPr>
            </a:p>
          </p:txBody>
        </p:sp>
        <p:pic>
          <p:nvPicPr>
            <p:cNvPr id="38" name="グラフィックス 37" descr="ユーザー ネットワーク 単色塗りつぶし">
              <a:extLst>
                <a:ext uri="{FF2B5EF4-FFF2-40B4-BE49-F238E27FC236}">
                  <a16:creationId xmlns:a16="http://schemas.microsoft.com/office/drawing/2014/main" id="{8E362467-7E49-A4C7-D98F-D272E8681EF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014193" y="2548294"/>
              <a:ext cx="360000" cy="360000"/>
            </a:xfrm>
            <a:prstGeom prst="rect">
              <a:avLst/>
            </a:prstGeom>
          </p:spPr>
        </p:pic>
        <p:sp>
          <p:nvSpPr>
            <p:cNvPr id="18" name="正方形/長方形 17">
              <a:extLst>
                <a:ext uri="{FF2B5EF4-FFF2-40B4-BE49-F238E27FC236}">
                  <a16:creationId xmlns:a16="http://schemas.microsoft.com/office/drawing/2014/main" id="{9701455C-0D20-E133-211E-105FA035C501}"/>
                </a:ext>
              </a:extLst>
            </p:cNvPr>
            <p:cNvSpPr/>
            <p:nvPr/>
          </p:nvSpPr>
          <p:spPr>
            <a:xfrm>
              <a:off x="4444115" y="1628774"/>
              <a:ext cx="2424359" cy="1279520"/>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52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ハンドソープ </a:t>
              </a:r>
              <a:r>
                <a:rPr lang="en-US" altLang="ja-JP" sz="1200" b="1" dirty="0">
                  <a:solidFill>
                    <a:srgbClr val="008D2E"/>
                  </a:solidFill>
                  <a:latin typeface="+mn-ea"/>
                </a:rPr>
                <a:t>(</a:t>
              </a:r>
              <a:r>
                <a:rPr lang="ja-JP" altLang="en-US" sz="1200" b="1" dirty="0">
                  <a:solidFill>
                    <a:srgbClr val="008D2E"/>
                  </a:solidFill>
                  <a:latin typeface="+mn-ea"/>
                </a:rPr>
                <a:t>キレイキレイ</a:t>
              </a:r>
              <a:r>
                <a:rPr lang="en-US" altLang="ja-JP" sz="1200" b="1" dirty="0">
                  <a:solidFill>
                    <a:srgbClr val="008D2E"/>
                  </a:solidFill>
                  <a:latin typeface="+mn-ea"/>
                </a:rPr>
                <a:t>)</a:t>
              </a:r>
              <a:r>
                <a:rPr lang="ja-JP" altLang="en-US" sz="1200" b="1" dirty="0">
                  <a:solidFill>
                    <a:srgbClr val="008D2E"/>
                  </a:solidFill>
                  <a:latin typeface="+mn-ea"/>
                </a:rPr>
                <a:t> の圧倒的</a:t>
              </a:r>
              <a:r>
                <a:rPr lang="en-US" altLang="ja-JP" sz="1200" b="1" dirty="0">
                  <a:solidFill>
                    <a:srgbClr val="008D2E"/>
                  </a:solidFill>
                  <a:latin typeface="+mn-ea"/>
                </a:rPr>
                <a:t>No.1</a:t>
              </a:r>
              <a:r>
                <a:rPr lang="ja-JP" altLang="en-US" sz="1200" b="1" dirty="0">
                  <a:solidFill>
                    <a:srgbClr val="008D2E"/>
                  </a:solidFill>
                  <a:latin typeface="+mn-ea"/>
                </a:rPr>
                <a:t>シェアと「社会衛生インフラ」</a:t>
              </a:r>
              <a:endParaRPr lang="en-US" altLang="ja-JP" sz="1200" b="1" dirty="0">
                <a:solidFill>
                  <a:srgbClr val="008D2E"/>
                </a:solidFill>
                <a:latin typeface="+mn-ea"/>
              </a:endParaRPr>
            </a:p>
            <a:p>
              <a:pPr marL="88900" indent="-88900">
                <a:spcAft>
                  <a:spcPts val="200"/>
                </a:spcAft>
                <a:buClr>
                  <a:srgbClr val="008D2E"/>
                </a:buClr>
                <a:buFont typeface="Arial" panose="020B0604020202020204" pitchFamily="34" charset="0"/>
                <a:buChar char="•"/>
              </a:pPr>
              <a:r>
                <a:rPr lang="ja-JP" altLang="en-US" sz="1000" dirty="0">
                  <a:solidFill>
                    <a:schemeClr val="tx1"/>
                  </a:solidFill>
                  <a:latin typeface="+mn-ea"/>
                </a:rPr>
                <a:t>国内</a:t>
              </a:r>
              <a:r>
                <a:rPr lang="en-US" altLang="ja-JP" sz="1000" dirty="0">
                  <a:solidFill>
                    <a:schemeClr val="tx1"/>
                  </a:solidFill>
                  <a:latin typeface="+mn-ea"/>
                </a:rPr>
                <a:t>20</a:t>
              </a:r>
              <a:r>
                <a:rPr lang="ja-JP" altLang="en-US" sz="1000" dirty="0">
                  <a:solidFill>
                    <a:schemeClr val="tx1"/>
                  </a:solidFill>
                  <a:latin typeface="+mn-ea"/>
                </a:rPr>
                <a:t>年連続シェア</a:t>
              </a:r>
              <a:r>
                <a:rPr lang="en-US" altLang="ja-JP" sz="1000" dirty="0">
                  <a:solidFill>
                    <a:schemeClr val="tx1"/>
                  </a:solidFill>
                  <a:latin typeface="+mn-ea"/>
                </a:rPr>
                <a:t>No.1</a:t>
              </a:r>
            </a:p>
            <a:p>
              <a:pPr marL="88900" indent="-88900">
                <a:spcAft>
                  <a:spcPts val="200"/>
                </a:spcAft>
                <a:buClr>
                  <a:srgbClr val="008D2E"/>
                </a:buClr>
                <a:buFont typeface="Arial" panose="020B0604020202020204" pitchFamily="34" charset="0"/>
                <a:buChar char="•"/>
              </a:pPr>
              <a:r>
                <a:rPr lang="ja-JP" altLang="en-US" sz="1000" dirty="0">
                  <a:solidFill>
                    <a:schemeClr val="tx1"/>
                  </a:solidFill>
                  <a:latin typeface="+mn-ea"/>
                </a:rPr>
                <a:t>幼稚園・保育園、自治体への啓発活動を通じ幼少期から「キレイキレイ」の習慣 ･ 認知を</a:t>
              </a:r>
              <a:br>
                <a:rPr lang="en-US" altLang="ja-JP" sz="1000" dirty="0">
                  <a:solidFill>
                    <a:schemeClr val="tx1"/>
                  </a:solidFill>
                  <a:latin typeface="+mn-ea"/>
                </a:rPr>
              </a:br>
              <a:r>
                <a:rPr lang="ja-JP" altLang="en-US" sz="1000" dirty="0">
                  <a:solidFill>
                    <a:schemeClr val="tx1"/>
                  </a:solidFill>
                  <a:latin typeface="+mn-ea"/>
                </a:rPr>
                <a:t>社会に定着</a:t>
              </a:r>
              <a:endParaRPr kumimoji="1" lang="ja-JP" altLang="en-US" sz="1000" dirty="0">
                <a:solidFill>
                  <a:schemeClr val="tx1"/>
                </a:solidFill>
                <a:latin typeface="+mn-ea"/>
              </a:endParaRPr>
            </a:p>
          </p:txBody>
        </p:sp>
        <p:sp>
          <p:nvSpPr>
            <p:cNvPr id="34" name="正方形/長方形 33">
              <a:extLst>
                <a:ext uri="{FF2B5EF4-FFF2-40B4-BE49-F238E27FC236}">
                  <a16:creationId xmlns:a16="http://schemas.microsoft.com/office/drawing/2014/main" id="{DABBF581-0BDD-19BE-477F-6E3E00B0A1C1}"/>
                </a:ext>
              </a:extLst>
            </p:cNvPr>
            <p:cNvSpPr/>
            <p:nvPr/>
          </p:nvSpPr>
          <p:spPr>
            <a:xfrm>
              <a:off x="4444115" y="1628774"/>
              <a:ext cx="38281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S2</a:t>
              </a:r>
              <a:endParaRPr kumimoji="1" lang="ja-JP" altLang="en-US" sz="900" dirty="0">
                <a:solidFill>
                  <a:schemeClr val="bg1"/>
                </a:solidFill>
                <a:latin typeface="+mn-ea"/>
              </a:endParaRPr>
            </a:p>
          </p:txBody>
        </p:sp>
        <p:pic>
          <p:nvPicPr>
            <p:cNvPr id="40" name="グラフィックス 39" descr="泡 単色塗りつぶし">
              <a:extLst>
                <a:ext uri="{FF2B5EF4-FFF2-40B4-BE49-F238E27FC236}">
                  <a16:creationId xmlns:a16="http://schemas.microsoft.com/office/drawing/2014/main" id="{8A17C725-F8A6-C7A6-0619-3A62C497084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508474" y="2548294"/>
              <a:ext cx="360000" cy="360000"/>
            </a:xfrm>
            <a:prstGeom prst="rect">
              <a:avLst/>
            </a:prstGeom>
          </p:spPr>
        </p:pic>
        <p:sp>
          <p:nvSpPr>
            <p:cNvPr id="23" name="正方形/長方形 22">
              <a:extLst>
                <a:ext uri="{FF2B5EF4-FFF2-40B4-BE49-F238E27FC236}">
                  <a16:creationId xmlns:a16="http://schemas.microsoft.com/office/drawing/2014/main" id="{E3A0482C-16B1-1F76-4DFF-0E181D2DB701}"/>
                </a:ext>
              </a:extLst>
            </p:cNvPr>
            <p:cNvSpPr/>
            <p:nvPr/>
          </p:nvSpPr>
          <p:spPr>
            <a:xfrm>
              <a:off x="6938396" y="1628774"/>
              <a:ext cx="2424359" cy="1279520"/>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52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日雑メーカーでありながら「</a:t>
              </a:r>
              <a:r>
                <a:rPr lang="en-US" altLang="ja-JP" sz="1200" b="1" dirty="0">
                  <a:solidFill>
                    <a:srgbClr val="008D2E"/>
                  </a:solidFill>
                  <a:latin typeface="+mn-ea"/>
                </a:rPr>
                <a:t>OTC</a:t>
              </a:r>
              <a:r>
                <a:rPr lang="ja-JP" altLang="en-US" sz="1200" b="1" dirty="0">
                  <a:solidFill>
                    <a:srgbClr val="008D2E"/>
                  </a:solidFill>
                  <a:latin typeface="+mn-ea"/>
                </a:rPr>
                <a:t>医薬品」を展開するハイブリッド構造</a:t>
              </a:r>
              <a:endParaRPr lang="en-US" altLang="ja-JP" sz="1200" b="1" dirty="0">
                <a:solidFill>
                  <a:srgbClr val="008D2E"/>
                </a:solidFill>
                <a:latin typeface="+mn-ea"/>
              </a:endParaRPr>
            </a:p>
            <a:p>
              <a:pPr marL="87313" indent="-87313">
                <a:spcAft>
                  <a:spcPts val="200"/>
                </a:spcAft>
                <a:buClr>
                  <a:srgbClr val="008D2E"/>
                </a:buClr>
                <a:buFont typeface="Arial" panose="020B0604020202020204" pitchFamily="34" charset="0"/>
                <a:buChar char="•"/>
              </a:pPr>
              <a:r>
                <a:rPr lang="ja-JP" altLang="en-US" sz="1000" dirty="0">
                  <a:solidFill>
                    <a:schemeClr val="tx1"/>
                  </a:solidFill>
                  <a:latin typeface="+mn-ea"/>
                </a:rPr>
                <a:t>「バファリン」「スマイル」「ペア」等、競合 </a:t>
              </a:r>
              <a:r>
                <a:rPr lang="en-US" altLang="ja-JP" sz="1000" dirty="0">
                  <a:solidFill>
                    <a:schemeClr val="tx1"/>
                  </a:solidFill>
                  <a:latin typeface="+mn-ea"/>
                </a:rPr>
                <a:t>(</a:t>
              </a:r>
              <a:r>
                <a:rPr lang="ja-JP" altLang="en-US" sz="1000" dirty="0">
                  <a:solidFill>
                    <a:schemeClr val="tx1"/>
                  </a:solidFill>
                  <a:latin typeface="+mn-ea"/>
                </a:rPr>
                <a:t>特に花王</a:t>
              </a:r>
              <a:r>
                <a:rPr lang="en-US" altLang="ja-JP" sz="1000" dirty="0">
                  <a:solidFill>
                    <a:schemeClr val="tx1"/>
                  </a:solidFill>
                  <a:latin typeface="+mn-ea"/>
                </a:rPr>
                <a:t>) </a:t>
              </a:r>
              <a:r>
                <a:rPr lang="ja-JP" altLang="en-US" sz="1000" dirty="0">
                  <a:solidFill>
                    <a:schemeClr val="tx1"/>
                  </a:solidFill>
                  <a:latin typeface="+mn-ea"/>
                </a:rPr>
                <a:t>にない強力な医薬品ブランドと薬事知見を保有メディカル ･ ヘルスケアの土俵で高い信頼性を発揮</a:t>
              </a:r>
              <a:endParaRPr lang="en-US" altLang="ja-JP" sz="1000" dirty="0">
                <a:solidFill>
                  <a:schemeClr val="tx1"/>
                </a:solidFill>
                <a:latin typeface="+mn-ea"/>
              </a:endParaRPr>
            </a:p>
            <a:p>
              <a:pPr>
                <a:spcAft>
                  <a:spcPts val="200"/>
                </a:spcAft>
              </a:pPr>
              <a:endParaRPr kumimoji="1" lang="ja-JP" altLang="en-US" sz="1000" dirty="0">
                <a:solidFill>
                  <a:schemeClr val="tx1"/>
                </a:solidFill>
                <a:latin typeface="+mn-ea"/>
              </a:endParaRPr>
            </a:p>
          </p:txBody>
        </p:sp>
        <p:sp>
          <p:nvSpPr>
            <p:cNvPr id="35" name="正方形/長方形 34">
              <a:extLst>
                <a:ext uri="{FF2B5EF4-FFF2-40B4-BE49-F238E27FC236}">
                  <a16:creationId xmlns:a16="http://schemas.microsoft.com/office/drawing/2014/main" id="{C80A90BE-E387-CB1B-4B5E-B33AB9EB00D3}"/>
                </a:ext>
              </a:extLst>
            </p:cNvPr>
            <p:cNvSpPr/>
            <p:nvPr/>
          </p:nvSpPr>
          <p:spPr>
            <a:xfrm>
              <a:off x="6938395" y="1628774"/>
              <a:ext cx="38281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S3</a:t>
              </a:r>
              <a:endParaRPr kumimoji="1" lang="ja-JP" altLang="en-US" sz="900" dirty="0">
                <a:solidFill>
                  <a:schemeClr val="bg1"/>
                </a:solidFill>
                <a:latin typeface="+mn-ea"/>
              </a:endParaRPr>
            </a:p>
          </p:txBody>
        </p:sp>
        <p:pic>
          <p:nvPicPr>
            <p:cNvPr id="42" name="グラフィックス 41" descr="分岐路 単色塗りつぶし">
              <a:extLst>
                <a:ext uri="{FF2B5EF4-FFF2-40B4-BE49-F238E27FC236}">
                  <a16:creationId xmlns:a16="http://schemas.microsoft.com/office/drawing/2014/main" id="{92C690CD-3B3A-6E2E-D720-BE4D4455275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002755" y="2548294"/>
              <a:ext cx="360000" cy="360000"/>
            </a:xfrm>
            <a:prstGeom prst="rect">
              <a:avLst/>
            </a:prstGeom>
          </p:spPr>
        </p:pic>
        <p:sp>
          <p:nvSpPr>
            <p:cNvPr id="28" name="正方形/長方形 27">
              <a:extLst>
                <a:ext uri="{FF2B5EF4-FFF2-40B4-BE49-F238E27FC236}">
                  <a16:creationId xmlns:a16="http://schemas.microsoft.com/office/drawing/2014/main" id="{056D15EF-932E-4AB4-621B-695DDD0F421E}"/>
                </a:ext>
              </a:extLst>
            </p:cNvPr>
            <p:cNvSpPr/>
            <p:nvPr/>
          </p:nvSpPr>
          <p:spPr>
            <a:xfrm>
              <a:off x="9432678" y="1628774"/>
              <a:ext cx="2424359" cy="1279520"/>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52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ファブリック ･ ホームケアにおける「特定のお悩み解決型」ブランドアセット</a:t>
              </a:r>
              <a:endParaRPr lang="en-US" altLang="ja-JP" sz="1200" b="1" dirty="0">
                <a:solidFill>
                  <a:srgbClr val="008D2E"/>
                </a:solidFill>
                <a:latin typeface="+mn-ea"/>
              </a:endParaRPr>
            </a:p>
            <a:p>
              <a:pPr marL="92075" indent="-92075">
                <a:spcAft>
                  <a:spcPts val="200"/>
                </a:spcAft>
                <a:buClr>
                  <a:srgbClr val="008D2E"/>
                </a:buClr>
                <a:buFont typeface="Arial" panose="020B0604020202020204" pitchFamily="34" charset="0"/>
                <a:buChar char="•"/>
              </a:pPr>
              <a:r>
                <a:rPr lang="ja-JP" altLang="en-US" sz="1000" dirty="0">
                  <a:solidFill>
                    <a:schemeClr val="tx1"/>
                  </a:solidFill>
                  <a:latin typeface="+mn-ea"/>
                </a:rPr>
                <a:t>「ソフラン」「アクロン」「ルックプラス </a:t>
              </a:r>
              <a:r>
                <a:rPr lang="en-US" altLang="ja-JP" sz="1000" dirty="0">
                  <a:solidFill>
                    <a:schemeClr val="tx1"/>
                  </a:solidFill>
                  <a:latin typeface="+mn-ea"/>
                </a:rPr>
                <a:t>(</a:t>
              </a:r>
              <a:r>
                <a:rPr lang="ja-JP" altLang="en-US" sz="1000" dirty="0">
                  <a:solidFill>
                    <a:schemeClr val="tx1"/>
                  </a:solidFill>
                  <a:latin typeface="+mn-ea"/>
                </a:rPr>
                <a:t>こすらず洗う浴室洗剤</a:t>
              </a:r>
              <a:r>
                <a:rPr lang="en-US" altLang="ja-JP" sz="1000" dirty="0">
                  <a:solidFill>
                    <a:schemeClr val="tx1"/>
                  </a:solidFill>
                  <a:latin typeface="+mn-ea"/>
                </a:rPr>
                <a:t>) </a:t>
              </a:r>
              <a:r>
                <a:rPr lang="ja-JP" altLang="en-US" sz="1000" dirty="0">
                  <a:solidFill>
                    <a:schemeClr val="tx1"/>
                  </a:solidFill>
                  <a:latin typeface="+mn-ea"/>
                </a:rPr>
                <a:t>」等、特定のストレス </a:t>
              </a:r>
              <a:r>
                <a:rPr lang="en-US" altLang="ja-JP" sz="1000" dirty="0">
                  <a:solidFill>
                    <a:schemeClr val="tx1"/>
                  </a:solidFill>
                  <a:latin typeface="+mn-ea"/>
                </a:rPr>
                <a:t>(</a:t>
              </a:r>
              <a:r>
                <a:rPr lang="ja-JP" altLang="en-US" sz="1000" dirty="0">
                  <a:solidFill>
                    <a:schemeClr val="tx1"/>
                  </a:solidFill>
                  <a:latin typeface="+mn-ea"/>
                </a:rPr>
                <a:t>ニオイ ･ 洗濯型崩れ ･ 掃除の重労働</a:t>
              </a:r>
              <a:r>
                <a:rPr lang="en-US" altLang="ja-JP" sz="1000" dirty="0">
                  <a:solidFill>
                    <a:schemeClr val="tx1"/>
                  </a:solidFill>
                  <a:latin typeface="+mn-ea"/>
                </a:rPr>
                <a:t>) </a:t>
              </a:r>
              <a:r>
                <a:rPr lang="ja-JP" altLang="en-US" sz="1000" dirty="0">
                  <a:solidFill>
                    <a:schemeClr val="tx1"/>
                  </a:solidFill>
                  <a:latin typeface="+mn-ea"/>
                </a:rPr>
                <a:t>を解消し市場を牽引</a:t>
              </a:r>
              <a:endParaRPr lang="en-US" altLang="ja-JP" sz="1000" dirty="0">
                <a:solidFill>
                  <a:schemeClr val="tx1"/>
                </a:solidFill>
                <a:latin typeface="+mn-ea"/>
              </a:endParaRPr>
            </a:p>
            <a:p>
              <a:pPr>
                <a:spcAft>
                  <a:spcPts val="200"/>
                </a:spcAft>
              </a:pPr>
              <a:endParaRPr kumimoji="1" lang="ja-JP" altLang="en-US" sz="1000" dirty="0">
                <a:solidFill>
                  <a:schemeClr val="tx1"/>
                </a:solidFill>
                <a:latin typeface="+mn-ea"/>
              </a:endParaRPr>
            </a:p>
          </p:txBody>
        </p:sp>
        <p:sp>
          <p:nvSpPr>
            <p:cNvPr id="36" name="正方形/長方形 35">
              <a:extLst>
                <a:ext uri="{FF2B5EF4-FFF2-40B4-BE49-F238E27FC236}">
                  <a16:creationId xmlns:a16="http://schemas.microsoft.com/office/drawing/2014/main" id="{ACE911CC-6567-0B9C-58D4-0509A8533192}"/>
                </a:ext>
              </a:extLst>
            </p:cNvPr>
            <p:cNvSpPr/>
            <p:nvPr/>
          </p:nvSpPr>
          <p:spPr>
            <a:xfrm>
              <a:off x="9432678" y="1628774"/>
              <a:ext cx="38281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S1</a:t>
              </a:r>
              <a:endParaRPr kumimoji="1" lang="ja-JP" altLang="en-US" sz="900" dirty="0">
                <a:solidFill>
                  <a:schemeClr val="bg1"/>
                </a:solidFill>
                <a:latin typeface="+mn-ea"/>
              </a:endParaRPr>
            </a:p>
          </p:txBody>
        </p:sp>
        <p:pic>
          <p:nvPicPr>
            <p:cNvPr id="44" name="グラフィックス 43" descr="右脳と左脳 単色塗りつぶし">
              <a:extLst>
                <a:ext uri="{FF2B5EF4-FFF2-40B4-BE49-F238E27FC236}">
                  <a16:creationId xmlns:a16="http://schemas.microsoft.com/office/drawing/2014/main" id="{D9951147-FC5F-7C59-F2D0-5BCFD68B8B8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497037" y="2548294"/>
              <a:ext cx="360000" cy="360000"/>
            </a:xfrm>
            <a:prstGeom prst="rect">
              <a:avLst/>
            </a:prstGeom>
          </p:spPr>
        </p:pic>
        <p:sp>
          <p:nvSpPr>
            <p:cNvPr id="5" name="正方形/長方形 4">
              <a:extLst>
                <a:ext uri="{FF2B5EF4-FFF2-40B4-BE49-F238E27FC236}">
                  <a16:creationId xmlns:a16="http://schemas.microsoft.com/office/drawing/2014/main" id="{1B884078-6497-AF51-B841-06845A20E513}"/>
                </a:ext>
              </a:extLst>
            </p:cNvPr>
            <p:cNvSpPr/>
            <p:nvPr/>
          </p:nvSpPr>
          <p:spPr>
            <a:xfrm>
              <a:off x="334962" y="1628774"/>
              <a:ext cx="1544951" cy="1279520"/>
            </a:xfrm>
            <a:prstGeom prst="rect">
              <a:avLst/>
            </a:prstGeom>
            <a:solidFill>
              <a:srgbClr val="008D2E">
                <a:alpha val="7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2400" dirty="0">
                  <a:solidFill>
                    <a:schemeClr val="bg1"/>
                  </a:solidFill>
                  <a:latin typeface="+mn-ea"/>
                </a:rPr>
                <a:t>S</a:t>
              </a:r>
              <a:r>
                <a:rPr lang="en-US" altLang="ja-JP" dirty="0">
                  <a:solidFill>
                    <a:schemeClr val="bg1"/>
                  </a:solidFill>
                  <a:latin typeface="+mn-ea"/>
                </a:rPr>
                <a:t>trength : </a:t>
              </a:r>
              <a:br>
                <a:rPr lang="en-US" altLang="ja-JP" dirty="0">
                  <a:solidFill>
                    <a:schemeClr val="bg1"/>
                  </a:solidFill>
                  <a:latin typeface="+mn-ea"/>
                </a:rPr>
              </a:br>
              <a:r>
                <a:rPr lang="ja-JP" altLang="en-US" dirty="0">
                  <a:solidFill>
                    <a:schemeClr val="bg1"/>
                  </a:solidFill>
                  <a:latin typeface="+mn-ea"/>
                </a:rPr>
                <a:t>強み</a:t>
              </a:r>
              <a:endParaRPr kumimoji="1" lang="ja-JP" altLang="en-US" dirty="0">
                <a:solidFill>
                  <a:schemeClr val="bg1"/>
                </a:solidFill>
                <a:latin typeface="+mn-ea"/>
              </a:endParaRPr>
            </a:p>
          </p:txBody>
        </p:sp>
        <p:pic>
          <p:nvPicPr>
            <p:cNvPr id="46" name="グラフィックス 45" descr="ニヤリとした顔 (塗りつぶし) 単色塗りつぶし">
              <a:extLst>
                <a:ext uri="{FF2B5EF4-FFF2-40B4-BE49-F238E27FC236}">
                  <a16:creationId xmlns:a16="http://schemas.microsoft.com/office/drawing/2014/main" id="{2423BD32-267A-E8FE-8349-02720CE10480}"/>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1544873" y="2580502"/>
              <a:ext cx="324000" cy="324000"/>
            </a:xfrm>
            <a:prstGeom prst="rect">
              <a:avLst/>
            </a:prstGeom>
          </p:spPr>
        </p:pic>
      </p:grpSp>
      <p:grpSp>
        <p:nvGrpSpPr>
          <p:cNvPr id="12" name="グループ化 11">
            <a:extLst>
              <a:ext uri="{FF2B5EF4-FFF2-40B4-BE49-F238E27FC236}">
                <a16:creationId xmlns:a16="http://schemas.microsoft.com/office/drawing/2014/main" id="{C013258B-561C-9E00-EFE5-D0C45471BFA5}"/>
              </a:ext>
            </a:extLst>
          </p:cNvPr>
          <p:cNvGrpSpPr/>
          <p:nvPr/>
        </p:nvGrpSpPr>
        <p:grpSpPr>
          <a:xfrm>
            <a:off x="334962" y="2962720"/>
            <a:ext cx="11522075" cy="763924"/>
            <a:chOff x="334962" y="2989933"/>
            <a:chExt cx="11522075" cy="763924"/>
          </a:xfrm>
        </p:grpSpPr>
        <p:pic>
          <p:nvPicPr>
            <p:cNvPr id="62" name="グラフィックス 61" descr="シャッフル 単色塗りつぶし">
              <a:extLst>
                <a:ext uri="{FF2B5EF4-FFF2-40B4-BE49-F238E27FC236}">
                  <a16:creationId xmlns:a16="http://schemas.microsoft.com/office/drawing/2014/main" id="{2C9D404E-7FD4-26CF-F0BF-50BFFF335DC4}"/>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829936" y="3393857"/>
              <a:ext cx="360000" cy="360000"/>
            </a:xfrm>
            <a:prstGeom prst="rect">
              <a:avLst/>
            </a:prstGeom>
          </p:spPr>
        </p:pic>
        <p:pic>
          <p:nvPicPr>
            <p:cNvPr id="64" name="グラフィックス 63" descr="レーダー チャート 単色塗りつぶし">
              <a:extLst>
                <a:ext uri="{FF2B5EF4-FFF2-40B4-BE49-F238E27FC236}">
                  <a16:creationId xmlns:a16="http://schemas.microsoft.com/office/drawing/2014/main" id="{B0EFB6AC-B96A-F086-AE0D-A158D7249F27}"/>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163486" y="3393857"/>
              <a:ext cx="360000" cy="360000"/>
            </a:xfrm>
            <a:prstGeom prst="rect">
              <a:avLst/>
            </a:prstGeom>
          </p:spPr>
        </p:pic>
        <p:sp>
          <p:nvSpPr>
            <p:cNvPr id="8" name="正方形/長方形 7">
              <a:extLst>
                <a:ext uri="{FF2B5EF4-FFF2-40B4-BE49-F238E27FC236}">
                  <a16:creationId xmlns:a16="http://schemas.microsoft.com/office/drawing/2014/main" id="{CCBA2799-F0EC-A6FA-B277-0B2F1BBDB32C}"/>
                </a:ext>
              </a:extLst>
            </p:cNvPr>
            <p:cNvSpPr/>
            <p:nvPr/>
          </p:nvSpPr>
          <p:spPr>
            <a:xfrm>
              <a:off x="334962" y="2989933"/>
              <a:ext cx="1544951" cy="763924"/>
            </a:xfrm>
            <a:prstGeom prst="rect">
              <a:avLst/>
            </a:prstGeom>
            <a:solidFill>
              <a:schemeClr val="bg1">
                <a:lumMod val="75000"/>
                <a:alpha val="1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2400" dirty="0">
                  <a:solidFill>
                    <a:schemeClr val="bg1">
                      <a:lumMod val="50000"/>
                    </a:schemeClr>
                  </a:solidFill>
                  <a:latin typeface="+mn-ea"/>
                </a:rPr>
                <a:t>W</a:t>
              </a:r>
              <a:r>
                <a:rPr lang="en-US" altLang="ja-JP" dirty="0">
                  <a:solidFill>
                    <a:schemeClr val="bg1">
                      <a:lumMod val="50000"/>
                    </a:schemeClr>
                  </a:solidFill>
                  <a:latin typeface="+mn-ea"/>
                </a:rPr>
                <a:t>eakness : </a:t>
              </a:r>
              <a:br>
                <a:rPr lang="en-US" altLang="ja-JP" dirty="0">
                  <a:solidFill>
                    <a:schemeClr val="bg1">
                      <a:lumMod val="50000"/>
                    </a:schemeClr>
                  </a:solidFill>
                  <a:latin typeface="+mn-ea"/>
                </a:rPr>
              </a:br>
              <a:r>
                <a:rPr lang="ja-JP" altLang="en-US" dirty="0">
                  <a:solidFill>
                    <a:schemeClr val="bg1">
                      <a:lumMod val="50000"/>
                    </a:schemeClr>
                  </a:solidFill>
                  <a:latin typeface="+mn-ea"/>
                </a:rPr>
                <a:t>弱み</a:t>
              </a:r>
              <a:endParaRPr kumimoji="1" lang="ja-JP" altLang="en-US" dirty="0">
                <a:solidFill>
                  <a:schemeClr val="bg1">
                    <a:lumMod val="50000"/>
                  </a:schemeClr>
                </a:solidFill>
                <a:latin typeface="+mn-ea"/>
              </a:endParaRPr>
            </a:p>
          </p:txBody>
        </p:sp>
        <p:pic>
          <p:nvPicPr>
            <p:cNvPr id="50" name="グラフィックス 49" descr="悲しそうな顔 (塗りつぶし) 単色塗りつぶし">
              <a:extLst>
                <a:ext uri="{FF2B5EF4-FFF2-40B4-BE49-F238E27FC236}">
                  <a16:creationId xmlns:a16="http://schemas.microsoft.com/office/drawing/2014/main" id="{64A7A08B-435C-43CA-A90F-8323DA205898}"/>
                </a:ext>
              </a:extLst>
            </p:cNvPr>
            <p:cNvPicPr>
              <a:picLocks noChangeAspect="1"/>
            </p:cNvPicPr>
            <p:nvPr/>
          </p:nvPicPr>
          <p:blipFill>
            <a:blip>
              <a:extLst>
                <a:ext uri="{96DAC541-7B7A-43D3-8B79-37D633B846F1}">
                  <asvg:svgBlip xmlns:asvg="http://schemas.microsoft.com/office/drawing/2016/SVG/main" r:embed="rId9"/>
                </a:ext>
              </a:extLst>
            </a:blip>
            <a:srcRect/>
            <a:stretch/>
          </p:blipFill>
          <p:spPr>
            <a:xfrm>
              <a:off x="1544873" y="3429857"/>
              <a:ext cx="324000" cy="324000"/>
            </a:xfrm>
            <a:prstGeom prst="rect">
              <a:avLst/>
            </a:prstGeom>
          </p:spPr>
        </p:pic>
        <p:sp>
          <p:nvSpPr>
            <p:cNvPr id="14" name="正方形/長方形 13">
              <a:extLst>
                <a:ext uri="{FF2B5EF4-FFF2-40B4-BE49-F238E27FC236}">
                  <a16:creationId xmlns:a16="http://schemas.microsoft.com/office/drawing/2014/main" id="{A7EEAA5E-A35E-A2BC-9A6C-610969C62DDC}"/>
                </a:ext>
              </a:extLst>
            </p:cNvPr>
            <p:cNvSpPr/>
            <p:nvPr/>
          </p:nvSpPr>
          <p:spPr>
            <a:xfrm>
              <a:off x="1949834" y="2989933"/>
              <a:ext cx="3240102" cy="763924"/>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36000" tIns="180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chemeClr val="bg1">
                      <a:lumMod val="50000"/>
                    </a:schemeClr>
                  </a:solidFill>
                  <a:latin typeface="+mn-ea"/>
                </a:rPr>
                <a:t>低粗利日雑への高い依存度</a:t>
              </a:r>
              <a:endParaRPr lang="en-US" altLang="ja-JP" sz="1200" b="1" dirty="0">
                <a:solidFill>
                  <a:schemeClr val="bg1">
                    <a:lumMod val="50000"/>
                  </a:schemeClr>
                </a:solidFill>
                <a:latin typeface="+mn-ea"/>
              </a:endParaRPr>
            </a:p>
            <a:p>
              <a:pPr>
                <a:spcAft>
                  <a:spcPts val="200"/>
                </a:spcAft>
              </a:pPr>
              <a:r>
                <a:rPr lang="ja-JP" altLang="en-US" sz="1000" dirty="0">
                  <a:solidFill>
                    <a:schemeClr val="bg1">
                      <a:lumMod val="50000"/>
                    </a:schemeClr>
                  </a:solidFill>
                  <a:latin typeface="+mn-ea"/>
                </a:rPr>
                <a:t>花王</a:t>
              </a:r>
              <a:r>
                <a:rPr lang="en-US" altLang="ja-JP" sz="1000" dirty="0">
                  <a:solidFill>
                    <a:schemeClr val="bg1">
                      <a:lumMod val="50000"/>
                    </a:schemeClr>
                  </a:solidFill>
                  <a:latin typeface="+mn-ea"/>
                </a:rPr>
                <a:t>(</a:t>
              </a:r>
              <a:r>
                <a:rPr lang="ja-JP" altLang="en-US" sz="1000" dirty="0">
                  <a:solidFill>
                    <a:schemeClr val="bg1">
                      <a:lumMod val="50000"/>
                    </a:schemeClr>
                  </a:solidFill>
                  <a:latin typeface="+mn-ea"/>
                </a:rPr>
                <a:t>産業用･ ビューティ等</a:t>
              </a:r>
              <a:r>
                <a:rPr lang="en-US" altLang="ja-JP" sz="1000" dirty="0">
                  <a:solidFill>
                    <a:schemeClr val="bg1">
                      <a:lumMod val="50000"/>
                    </a:schemeClr>
                  </a:solidFill>
                  <a:latin typeface="+mn-ea"/>
                </a:rPr>
                <a:t>) </a:t>
              </a:r>
              <a:r>
                <a:rPr lang="ja-JP" altLang="en-US" sz="1000" dirty="0">
                  <a:solidFill>
                    <a:schemeClr val="bg1">
                      <a:lumMod val="50000"/>
                    </a:schemeClr>
                  </a:solidFill>
                  <a:latin typeface="+mn-ea"/>
                </a:rPr>
                <a:t>や</a:t>
              </a:r>
              <a:r>
                <a:rPr lang="en-US" altLang="ja-JP" sz="1000" dirty="0">
                  <a:solidFill>
                    <a:schemeClr val="bg1">
                      <a:lumMod val="50000"/>
                    </a:schemeClr>
                  </a:solidFill>
                  <a:latin typeface="+mn-ea"/>
                </a:rPr>
                <a:t>P&amp;G (</a:t>
              </a:r>
              <a:r>
                <a:rPr lang="ja-JP" altLang="en-US" sz="1000" dirty="0">
                  <a:solidFill>
                    <a:schemeClr val="bg1">
                      <a:lumMod val="50000"/>
                    </a:schemeClr>
                  </a:solidFill>
                  <a:latin typeface="+mn-ea"/>
                </a:rPr>
                <a:t>プレミアムビューティ等</a:t>
              </a:r>
              <a:r>
                <a:rPr lang="en-US" altLang="ja-JP" sz="1000" dirty="0">
                  <a:solidFill>
                    <a:schemeClr val="bg1">
                      <a:lumMod val="50000"/>
                    </a:schemeClr>
                  </a:solidFill>
                  <a:latin typeface="+mn-ea"/>
                </a:rPr>
                <a:t>) </a:t>
              </a:r>
              <a:r>
                <a:rPr lang="ja-JP" altLang="en-US" sz="1000" dirty="0">
                  <a:solidFill>
                    <a:schemeClr val="bg1">
                      <a:lumMod val="50000"/>
                    </a:schemeClr>
                  </a:solidFill>
                  <a:latin typeface="+mn-ea"/>
                </a:rPr>
                <a:t>の</a:t>
              </a:r>
              <a:endParaRPr lang="en-US" altLang="ja-JP" sz="1000" dirty="0">
                <a:solidFill>
                  <a:schemeClr val="bg1">
                    <a:lumMod val="50000"/>
                  </a:schemeClr>
                </a:solidFill>
                <a:latin typeface="+mn-ea"/>
              </a:endParaRPr>
            </a:p>
            <a:p>
              <a:pPr>
                <a:spcAft>
                  <a:spcPts val="200"/>
                </a:spcAft>
              </a:pPr>
              <a:r>
                <a:rPr lang="ja-JP" altLang="en-US" sz="1000" dirty="0">
                  <a:solidFill>
                    <a:schemeClr val="bg1">
                      <a:lumMod val="50000"/>
                    </a:schemeClr>
                  </a:solidFill>
                  <a:latin typeface="+mn-ea"/>
                </a:rPr>
                <a:t>ような高粗利事業を欠き、原材料･為替高騰影響を受けやすい</a:t>
              </a:r>
              <a:endParaRPr lang="en-US" altLang="ja-JP" sz="1000" dirty="0">
                <a:solidFill>
                  <a:schemeClr val="bg1">
                    <a:lumMod val="50000"/>
                  </a:schemeClr>
                </a:solidFill>
                <a:latin typeface="+mn-ea"/>
              </a:endParaRPr>
            </a:p>
          </p:txBody>
        </p:sp>
        <p:sp>
          <p:nvSpPr>
            <p:cNvPr id="53" name="正方形/長方形 52">
              <a:extLst>
                <a:ext uri="{FF2B5EF4-FFF2-40B4-BE49-F238E27FC236}">
                  <a16:creationId xmlns:a16="http://schemas.microsoft.com/office/drawing/2014/main" id="{2D778D13-D2E2-3A78-C15B-59BFC6F89BED}"/>
                </a:ext>
              </a:extLst>
            </p:cNvPr>
            <p:cNvSpPr/>
            <p:nvPr/>
          </p:nvSpPr>
          <p:spPr>
            <a:xfrm>
              <a:off x="1949834" y="2989933"/>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W1</a:t>
              </a:r>
              <a:endParaRPr kumimoji="1" lang="ja-JP" altLang="en-US" sz="900" dirty="0">
                <a:solidFill>
                  <a:schemeClr val="bg1"/>
                </a:solidFill>
                <a:latin typeface="+mn-ea"/>
              </a:endParaRPr>
            </a:p>
          </p:txBody>
        </p:sp>
        <p:sp>
          <p:nvSpPr>
            <p:cNvPr id="19" name="正方形/長方形 18">
              <a:extLst>
                <a:ext uri="{FF2B5EF4-FFF2-40B4-BE49-F238E27FC236}">
                  <a16:creationId xmlns:a16="http://schemas.microsoft.com/office/drawing/2014/main" id="{720343ED-A068-E76C-D165-62789F8EBF01}"/>
                </a:ext>
              </a:extLst>
            </p:cNvPr>
            <p:cNvSpPr/>
            <p:nvPr/>
          </p:nvSpPr>
          <p:spPr>
            <a:xfrm>
              <a:off x="5283385" y="2989933"/>
              <a:ext cx="3240102" cy="763924"/>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180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chemeClr val="bg1">
                      <a:lumMod val="50000"/>
                    </a:schemeClr>
                  </a:solidFill>
                  <a:latin typeface="+mn-ea"/>
                </a:rPr>
                <a:t>グローバルスケール </a:t>
              </a:r>
              <a:r>
                <a:rPr lang="en-US" altLang="ja-JP" sz="1200" b="1" dirty="0">
                  <a:solidFill>
                    <a:schemeClr val="bg1">
                      <a:lumMod val="50000"/>
                    </a:schemeClr>
                  </a:solidFill>
                  <a:latin typeface="+mn-ea"/>
                </a:rPr>
                <a:t>(</a:t>
              </a:r>
              <a:r>
                <a:rPr lang="ja-JP" altLang="en-US" sz="1200" b="1" dirty="0">
                  <a:solidFill>
                    <a:schemeClr val="bg1">
                      <a:lumMod val="50000"/>
                    </a:schemeClr>
                  </a:solidFill>
                  <a:latin typeface="+mn-ea"/>
                </a:rPr>
                <a:t>規模の経済</a:t>
              </a:r>
              <a:r>
                <a:rPr lang="en-US" altLang="ja-JP" sz="1200" b="1" dirty="0">
                  <a:solidFill>
                    <a:schemeClr val="bg1">
                      <a:lumMod val="50000"/>
                    </a:schemeClr>
                  </a:solidFill>
                  <a:latin typeface="+mn-ea"/>
                </a:rPr>
                <a:t>) </a:t>
              </a:r>
              <a:r>
                <a:rPr lang="ja-JP" altLang="en-US" sz="1200" b="1" dirty="0">
                  <a:solidFill>
                    <a:schemeClr val="bg1">
                      <a:lumMod val="50000"/>
                    </a:schemeClr>
                  </a:solidFill>
                  <a:latin typeface="+mn-ea"/>
                </a:rPr>
                <a:t>の欠如</a:t>
              </a:r>
              <a:endParaRPr lang="en-US" altLang="ja-JP" sz="1200" b="1" dirty="0">
                <a:solidFill>
                  <a:schemeClr val="bg1">
                    <a:lumMod val="50000"/>
                  </a:schemeClr>
                </a:solidFill>
                <a:latin typeface="+mn-ea"/>
              </a:endParaRPr>
            </a:p>
            <a:p>
              <a:pPr>
                <a:spcAft>
                  <a:spcPts val="200"/>
                </a:spcAft>
              </a:pPr>
              <a:r>
                <a:rPr lang="ja-JP" altLang="en-US" sz="1000" dirty="0">
                  <a:solidFill>
                    <a:schemeClr val="bg1">
                      <a:lumMod val="50000"/>
                    </a:schemeClr>
                  </a:solidFill>
                  <a:latin typeface="+mn-ea"/>
                </a:rPr>
                <a:t>海外展開がアジア圏依存度が高く、</a:t>
              </a:r>
              <a:r>
                <a:rPr lang="en-US" altLang="ja-JP" sz="1000" dirty="0">
                  <a:solidFill>
                    <a:schemeClr val="bg1">
                      <a:lumMod val="50000"/>
                    </a:schemeClr>
                  </a:solidFill>
                  <a:latin typeface="+mn-ea"/>
                </a:rPr>
                <a:t>P&amp;G</a:t>
              </a:r>
              <a:r>
                <a:rPr lang="ja-JP" altLang="en-US" sz="1000" dirty="0">
                  <a:solidFill>
                    <a:schemeClr val="bg1">
                      <a:lumMod val="50000"/>
                    </a:schemeClr>
                  </a:solidFill>
                  <a:latin typeface="+mn-ea"/>
                </a:rPr>
                <a:t>等のメガブランドに対して</a:t>
              </a:r>
              <a:r>
                <a:rPr lang="en-US" altLang="ja-JP" sz="1000" dirty="0">
                  <a:solidFill>
                    <a:schemeClr val="bg1">
                      <a:lumMod val="50000"/>
                    </a:schemeClr>
                  </a:solidFill>
                  <a:latin typeface="+mn-ea"/>
                </a:rPr>
                <a:t>R&amp;D</a:t>
              </a:r>
              <a:r>
                <a:rPr lang="ja-JP" altLang="en-US" sz="1000" dirty="0">
                  <a:solidFill>
                    <a:schemeClr val="bg1">
                      <a:lumMod val="50000"/>
                    </a:schemeClr>
                  </a:solidFill>
                  <a:latin typeface="+mn-ea"/>
                </a:rPr>
                <a:t>費の絶対額や広告投資効率で構造的に劣後</a:t>
              </a:r>
              <a:endParaRPr lang="en-US" altLang="ja-JP" sz="1000" dirty="0">
                <a:solidFill>
                  <a:schemeClr val="bg1">
                    <a:lumMod val="50000"/>
                  </a:schemeClr>
                </a:solidFill>
                <a:latin typeface="+mn-ea"/>
              </a:endParaRPr>
            </a:p>
            <a:p>
              <a:pPr>
                <a:spcAft>
                  <a:spcPts val="200"/>
                </a:spcAft>
              </a:pPr>
              <a:endParaRPr kumimoji="1" lang="ja-JP" altLang="en-US" sz="1000" dirty="0">
                <a:solidFill>
                  <a:schemeClr val="bg1">
                    <a:lumMod val="50000"/>
                  </a:schemeClr>
                </a:solidFill>
                <a:latin typeface="+mn-ea"/>
              </a:endParaRPr>
            </a:p>
          </p:txBody>
        </p:sp>
        <p:sp>
          <p:nvSpPr>
            <p:cNvPr id="54" name="正方形/長方形 53">
              <a:extLst>
                <a:ext uri="{FF2B5EF4-FFF2-40B4-BE49-F238E27FC236}">
                  <a16:creationId xmlns:a16="http://schemas.microsoft.com/office/drawing/2014/main" id="{7955D6C2-FDED-4D5B-98E5-D0975DDC459E}"/>
                </a:ext>
              </a:extLst>
            </p:cNvPr>
            <p:cNvSpPr/>
            <p:nvPr/>
          </p:nvSpPr>
          <p:spPr>
            <a:xfrm>
              <a:off x="5283386" y="2989933"/>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W2</a:t>
              </a:r>
              <a:endParaRPr kumimoji="1" lang="ja-JP" altLang="en-US" sz="900" dirty="0">
                <a:solidFill>
                  <a:schemeClr val="bg1"/>
                </a:solidFill>
                <a:latin typeface="+mn-ea"/>
              </a:endParaRPr>
            </a:p>
          </p:txBody>
        </p:sp>
        <p:sp>
          <p:nvSpPr>
            <p:cNvPr id="24" name="正方形/長方形 23">
              <a:extLst>
                <a:ext uri="{FF2B5EF4-FFF2-40B4-BE49-F238E27FC236}">
                  <a16:creationId xmlns:a16="http://schemas.microsoft.com/office/drawing/2014/main" id="{EF549E32-CB56-E94D-72B6-3C245DD52EDD}"/>
                </a:ext>
              </a:extLst>
            </p:cNvPr>
            <p:cNvSpPr/>
            <p:nvPr/>
          </p:nvSpPr>
          <p:spPr>
            <a:xfrm>
              <a:off x="8616935" y="2989933"/>
              <a:ext cx="3240102" cy="763924"/>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180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chemeClr val="bg1">
                      <a:lumMod val="50000"/>
                    </a:schemeClr>
                  </a:solidFill>
                  <a:latin typeface="+mn-ea"/>
                </a:rPr>
                <a:t>デジタル顧客基盤の構築遅れ</a:t>
              </a:r>
              <a:endParaRPr lang="en-US" altLang="ja-JP" sz="1200" b="1" dirty="0">
                <a:solidFill>
                  <a:schemeClr val="bg1">
                    <a:lumMod val="50000"/>
                  </a:schemeClr>
                </a:solidFill>
                <a:latin typeface="+mn-ea"/>
              </a:endParaRPr>
            </a:p>
            <a:p>
              <a:pPr>
                <a:spcAft>
                  <a:spcPts val="200"/>
                </a:spcAft>
              </a:pPr>
              <a:r>
                <a:rPr lang="ja-JP" altLang="en-US" sz="1000" dirty="0">
                  <a:solidFill>
                    <a:schemeClr val="bg1">
                      <a:lumMod val="50000"/>
                    </a:schemeClr>
                  </a:solidFill>
                  <a:latin typeface="+mn-ea"/>
                </a:rPr>
                <a:t>花王 </a:t>
              </a:r>
              <a:r>
                <a:rPr lang="en-US" altLang="ja-JP" sz="1000" dirty="0">
                  <a:solidFill>
                    <a:schemeClr val="bg1">
                      <a:lumMod val="50000"/>
                    </a:schemeClr>
                  </a:solidFill>
                  <a:latin typeface="+mn-ea"/>
                </a:rPr>
                <a:t>(My Kao</a:t>
              </a:r>
              <a:r>
                <a:rPr lang="ja-JP" altLang="en-US" sz="1000" dirty="0">
                  <a:solidFill>
                    <a:schemeClr val="bg1">
                      <a:lumMod val="50000"/>
                    </a:schemeClr>
                  </a:solidFill>
                  <a:latin typeface="+mn-ea"/>
                </a:rPr>
                <a:t>等</a:t>
              </a:r>
              <a:r>
                <a:rPr lang="en-US" altLang="ja-JP" sz="1000" dirty="0">
                  <a:solidFill>
                    <a:schemeClr val="bg1">
                      <a:lumMod val="50000"/>
                    </a:schemeClr>
                  </a:solidFill>
                  <a:latin typeface="+mn-ea"/>
                </a:rPr>
                <a:t>) </a:t>
              </a:r>
              <a:r>
                <a:rPr lang="ja-JP" altLang="en-US" sz="1000" dirty="0">
                  <a:solidFill>
                    <a:schemeClr val="bg1">
                      <a:lumMod val="50000"/>
                    </a:schemeClr>
                  </a:solidFill>
                  <a:latin typeface="+mn-ea"/>
                </a:rPr>
                <a:t>に比べ、全社ブランドを統合したファーストデータ蓄積が遅れ、消費者データの多くを小売</a:t>
              </a:r>
              <a:r>
                <a:rPr lang="en-US" altLang="ja-JP" sz="1000" dirty="0">
                  <a:solidFill>
                    <a:schemeClr val="bg1">
                      <a:lumMod val="50000"/>
                    </a:schemeClr>
                  </a:solidFill>
                  <a:latin typeface="+mn-ea"/>
                </a:rPr>
                <a:t>ID-POS</a:t>
              </a:r>
              <a:r>
                <a:rPr lang="ja-JP" altLang="en-US" sz="1000" dirty="0">
                  <a:solidFill>
                    <a:schemeClr val="bg1">
                      <a:lumMod val="50000"/>
                    </a:schemeClr>
                  </a:solidFill>
                  <a:latin typeface="+mn-ea"/>
                </a:rPr>
                <a:t>に依存</a:t>
              </a:r>
              <a:endParaRPr lang="en-US" altLang="ja-JP" sz="1000" dirty="0">
                <a:solidFill>
                  <a:schemeClr val="bg1">
                    <a:lumMod val="50000"/>
                  </a:schemeClr>
                </a:solidFill>
                <a:latin typeface="+mn-ea"/>
              </a:endParaRPr>
            </a:p>
          </p:txBody>
        </p:sp>
        <p:sp>
          <p:nvSpPr>
            <p:cNvPr id="55" name="正方形/長方形 54">
              <a:extLst>
                <a:ext uri="{FF2B5EF4-FFF2-40B4-BE49-F238E27FC236}">
                  <a16:creationId xmlns:a16="http://schemas.microsoft.com/office/drawing/2014/main" id="{6BE48E30-F8FB-E2BD-AD03-469DABE9BEAE}"/>
                </a:ext>
              </a:extLst>
            </p:cNvPr>
            <p:cNvSpPr/>
            <p:nvPr/>
          </p:nvSpPr>
          <p:spPr>
            <a:xfrm>
              <a:off x="8616935" y="2989933"/>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W3</a:t>
              </a:r>
              <a:endParaRPr kumimoji="1" lang="ja-JP" altLang="en-US" sz="900" dirty="0">
                <a:solidFill>
                  <a:schemeClr val="bg1"/>
                </a:solidFill>
                <a:latin typeface="+mn-ea"/>
              </a:endParaRPr>
            </a:p>
          </p:txBody>
        </p:sp>
        <p:pic>
          <p:nvPicPr>
            <p:cNvPr id="66" name="グラフィックス 65" descr="速度計: 低速 単色塗りつぶし">
              <a:extLst>
                <a:ext uri="{FF2B5EF4-FFF2-40B4-BE49-F238E27FC236}">
                  <a16:creationId xmlns:a16="http://schemas.microsoft.com/office/drawing/2014/main" id="{B9457F69-DF79-9BBE-6C95-7074FEEA3D06}"/>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1497037" y="3393857"/>
              <a:ext cx="360000" cy="360000"/>
            </a:xfrm>
            <a:prstGeom prst="rect">
              <a:avLst/>
            </a:prstGeom>
          </p:spPr>
        </p:pic>
      </p:grpSp>
      <p:grpSp>
        <p:nvGrpSpPr>
          <p:cNvPr id="22" name="グループ化 21">
            <a:extLst>
              <a:ext uri="{FF2B5EF4-FFF2-40B4-BE49-F238E27FC236}">
                <a16:creationId xmlns:a16="http://schemas.microsoft.com/office/drawing/2014/main" id="{D86436D7-4162-EC63-CA23-6A84F3740A91}"/>
              </a:ext>
            </a:extLst>
          </p:cNvPr>
          <p:cNvGrpSpPr/>
          <p:nvPr/>
        </p:nvGrpSpPr>
        <p:grpSpPr>
          <a:xfrm>
            <a:off x="334962" y="3781070"/>
            <a:ext cx="11522077" cy="1193708"/>
            <a:chOff x="334962" y="3772907"/>
            <a:chExt cx="11522077" cy="1193708"/>
          </a:xfrm>
        </p:grpSpPr>
        <p:sp>
          <p:nvSpPr>
            <p:cNvPr id="9" name="正方形/長方形 8">
              <a:extLst>
                <a:ext uri="{FF2B5EF4-FFF2-40B4-BE49-F238E27FC236}">
                  <a16:creationId xmlns:a16="http://schemas.microsoft.com/office/drawing/2014/main" id="{E386C424-F8E4-E0D1-1161-76CD6A388F24}"/>
                </a:ext>
              </a:extLst>
            </p:cNvPr>
            <p:cNvSpPr/>
            <p:nvPr/>
          </p:nvSpPr>
          <p:spPr>
            <a:xfrm>
              <a:off x="334962" y="3772907"/>
              <a:ext cx="1544951" cy="1174658"/>
            </a:xfrm>
            <a:prstGeom prst="rect">
              <a:avLst/>
            </a:prstGeom>
            <a:solidFill>
              <a:srgbClr val="008D2E">
                <a:alpha val="7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0" rIns="36000" bIns="252000" numCol="1" spcCol="0" rtlCol="0" fromWordArt="0" anchor="ctr" anchorCtr="0" forceAA="0" compatLnSpc="1">
              <a:prstTxWarp prst="textNoShape">
                <a:avLst/>
              </a:prstTxWarp>
              <a:noAutofit/>
            </a:bodyPr>
            <a:lstStyle/>
            <a:p>
              <a:pPr algn="ctr"/>
              <a:r>
                <a:rPr lang="en-US" altLang="ja-JP" sz="2000" dirty="0">
                  <a:solidFill>
                    <a:schemeClr val="bg1"/>
                  </a:solidFill>
                  <a:latin typeface="+mn-ea"/>
                </a:rPr>
                <a:t>O</a:t>
              </a:r>
              <a:r>
                <a:rPr lang="en-US" altLang="ja-JP" sz="1600" dirty="0">
                  <a:solidFill>
                    <a:schemeClr val="bg1"/>
                  </a:solidFill>
                  <a:latin typeface="+mn-ea"/>
                </a:rPr>
                <a:t>pportunity :  </a:t>
              </a:r>
              <a:br>
                <a:rPr lang="en-US" altLang="ja-JP" sz="1600" dirty="0">
                  <a:solidFill>
                    <a:schemeClr val="bg1"/>
                  </a:solidFill>
                  <a:latin typeface="+mn-ea"/>
                </a:rPr>
              </a:br>
              <a:r>
                <a:rPr lang="ja-JP" altLang="en-US" sz="1600" dirty="0">
                  <a:solidFill>
                    <a:schemeClr val="bg1"/>
                  </a:solidFill>
                  <a:latin typeface="+mn-ea"/>
                </a:rPr>
                <a:t>機会</a:t>
              </a:r>
              <a:endParaRPr kumimoji="1" lang="ja-JP" altLang="en-US" sz="1600" dirty="0">
                <a:solidFill>
                  <a:schemeClr val="bg1"/>
                </a:solidFill>
                <a:latin typeface="+mn-ea"/>
              </a:endParaRPr>
            </a:p>
          </p:txBody>
        </p:sp>
        <p:pic>
          <p:nvPicPr>
            <p:cNvPr id="48" name="グラフィックス 47" descr="手のひら 単色塗りつぶし">
              <a:extLst>
                <a:ext uri="{FF2B5EF4-FFF2-40B4-BE49-F238E27FC236}">
                  <a16:creationId xmlns:a16="http://schemas.microsoft.com/office/drawing/2014/main" id="{16BC251B-CF05-B069-DAF2-8B5C52BD4ED5}"/>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544873" y="4619773"/>
              <a:ext cx="324000" cy="324000"/>
            </a:xfrm>
            <a:prstGeom prst="rect">
              <a:avLst/>
            </a:prstGeom>
          </p:spPr>
        </p:pic>
        <p:sp>
          <p:nvSpPr>
            <p:cNvPr id="67" name="正方形/長方形 66">
              <a:extLst>
                <a:ext uri="{FF2B5EF4-FFF2-40B4-BE49-F238E27FC236}">
                  <a16:creationId xmlns:a16="http://schemas.microsoft.com/office/drawing/2014/main" id="{16FDFEFC-EC23-143A-D7EA-09E9E8C7A9A1}"/>
                </a:ext>
              </a:extLst>
            </p:cNvPr>
            <p:cNvSpPr/>
            <p:nvPr/>
          </p:nvSpPr>
          <p:spPr>
            <a:xfrm>
              <a:off x="334962" y="4544434"/>
              <a:ext cx="1544951" cy="33074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900" dirty="0">
                  <a:solidFill>
                    <a:schemeClr val="bg1"/>
                  </a:solidFill>
                  <a:latin typeface="+mn-ea"/>
                </a:rPr>
                <a:t>マーケティング ･ 営業の追い風</a:t>
              </a:r>
              <a:br>
                <a:rPr lang="en-US" altLang="ja-JP" sz="900" dirty="0">
                  <a:solidFill>
                    <a:schemeClr val="bg1"/>
                  </a:solidFill>
                  <a:latin typeface="+mn-ea"/>
                </a:rPr>
              </a:br>
              <a:r>
                <a:rPr lang="ja-JP" altLang="en-US" sz="900" dirty="0">
                  <a:solidFill>
                    <a:schemeClr val="bg1"/>
                  </a:solidFill>
                  <a:latin typeface="+mn-ea"/>
                </a:rPr>
                <a:t>となる構造変化</a:t>
              </a:r>
              <a:endParaRPr lang="en-US" altLang="ja-JP" sz="900" dirty="0">
                <a:solidFill>
                  <a:schemeClr val="bg1"/>
                </a:solidFill>
                <a:latin typeface="+mn-ea"/>
              </a:endParaRPr>
            </a:p>
          </p:txBody>
        </p:sp>
        <p:sp>
          <p:nvSpPr>
            <p:cNvPr id="15" name="正方形/長方形 14">
              <a:extLst>
                <a:ext uri="{FF2B5EF4-FFF2-40B4-BE49-F238E27FC236}">
                  <a16:creationId xmlns:a16="http://schemas.microsoft.com/office/drawing/2014/main" id="{56C4E6F9-C800-D1E1-691B-68B3EF85F0F0}"/>
                </a:ext>
              </a:extLst>
            </p:cNvPr>
            <p:cNvSpPr/>
            <p:nvPr/>
          </p:nvSpPr>
          <p:spPr>
            <a:xfrm>
              <a:off x="1949834" y="3772907"/>
              <a:ext cx="3240102" cy="1174658"/>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「国家財政」に紐づくヘルスケア ･ 予防医療の義務化と「社会インフラ化」</a:t>
              </a:r>
              <a:endParaRPr lang="en-US" altLang="ja-JP" sz="1200" b="1" dirty="0">
                <a:solidFill>
                  <a:srgbClr val="008D2E"/>
                </a:solidFill>
                <a:latin typeface="+mn-ea"/>
              </a:endParaRPr>
            </a:p>
            <a:p>
              <a:pPr marL="85725" indent="-85725">
                <a:spcAft>
                  <a:spcPts val="200"/>
                </a:spcAft>
                <a:buClr>
                  <a:srgbClr val="008D2E"/>
                </a:buClr>
                <a:buFont typeface="Arial" panose="020B0604020202020204" pitchFamily="34" charset="0"/>
                <a:buChar char="•"/>
              </a:pPr>
              <a:r>
                <a:rPr lang="ja-JP" altLang="en-US" sz="1000" dirty="0">
                  <a:solidFill>
                    <a:schemeClr val="tx1"/>
                  </a:solidFill>
                  <a:latin typeface="+mn-ea"/>
                </a:rPr>
                <a:t>社会保障費抑制に向けた未病対策の国策化、健診義務化</a:t>
              </a:r>
              <a:endParaRPr lang="en-US" altLang="ja-JP" sz="1000" dirty="0">
                <a:solidFill>
                  <a:schemeClr val="tx1"/>
                </a:solidFill>
                <a:latin typeface="+mn-ea"/>
              </a:endParaRPr>
            </a:p>
            <a:p>
              <a:pPr marL="85725" indent="-85725">
                <a:spcAft>
                  <a:spcPts val="200"/>
                </a:spcAft>
                <a:buClr>
                  <a:srgbClr val="008D2E"/>
                </a:buClr>
                <a:buFont typeface="Arial" panose="020B0604020202020204" pitchFamily="34" charset="0"/>
                <a:buChar char="•"/>
              </a:pPr>
              <a:r>
                <a:rPr lang="ja-JP" altLang="en-US" sz="1000" dirty="0">
                  <a:solidFill>
                    <a:schemeClr val="tx1"/>
                  </a:solidFill>
                  <a:latin typeface="+mn-ea"/>
                </a:rPr>
                <a:t>製品が「日雑消耗品」から「医療費抑制の社会インフラ」へ格上げされ、市場 ･ 顧客内価値が中長期に拡大</a:t>
              </a:r>
              <a:endParaRPr lang="en-US" altLang="ja-JP" sz="1000" dirty="0">
                <a:solidFill>
                  <a:schemeClr val="tx1"/>
                </a:solidFill>
                <a:latin typeface="+mn-ea"/>
              </a:endParaRPr>
            </a:p>
            <a:p>
              <a:pPr>
                <a:spcAft>
                  <a:spcPts val="200"/>
                </a:spcAft>
              </a:pPr>
              <a:endParaRPr kumimoji="1" lang="ja-JP" altLang="en-US" sz="1000" dirty="0">
                <a:solidFill>
                  <a:schemeClr val="tx1"/>
                </a:solidFill>
                <a:latin typeface="+mn-ea"/>
              </a:endParaRPr>
            </a:p>
          </p:txBody>
        </p:sp>
        <p:sp>
          <p:nvSpPr>
            <p:cNvPr id="68" name="正方形/長方形 67">
              <a:extLst>
                <a:ext uri="{FF2B5EF4-FFF2-40B4-BE49-F238E27FC236}">
                  <a16:creationId xmlns:a16="http://schemas.microsoft.com/office/drawing/2014/main" id="{C572CE4F-7209-D532-9786-4014103B4EF0}"/>
                </a:ext>
              </a:extLst>
            </p:cNvPr>
            <p:cNvSpPr/>
            <p:nvPr/>
          </p:nvSpPr>
          <p:spPr>
            <a:xfrm>
              <a:off x="1949834" y="3772907"/>
              <a:ext cx="51162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800" dirty="0">
                  <a:solidFill>
                    <a:schemeClr val="bg1"/>
                  </a:solidFill>
                  <a:latin typeface="+mn-ea"/>
                </a:rPr>
                <a:t>O1</a:t>
              </a:r>
              <a:endParaRPr kumimoji="1" lang="ja-JP" altLang="en-US" sz="800" dirty="0">
                <a:solidFill>
                  <a:schemeClr val="bg1"/>
                </a:solidFill>
                <a:latin typeface="+mn-ea"/>
              </a:endParaRPr>
            </a:p>
          </p:txBody>
        </p:sp>
        <p:pic>
          <p:nvPicPr>
            <p:cNvPr id="73" name="グラフィックス 72" descr="チェックマークの付いた盾 単色塗りつぶし">
              <a:extLst>
                <a:ext uri="{FF2B5EF4-FFF2-40B4-BE49-F238E27FC236}">
                  <a16:creationId xmlns:a16="http://schemas.microsoft.com/office/drawing/2014/main" id="{596AA132-A0BC-B801-B28E-F1D2FB2732C4}"/>
                </a:ext>
              </a:extLst>
            </p:cNvPr>
            <p:cNvPicPr>
              <a:picLocks noChangeAspect="1"/>
            </p:cNvPicPr>
            <p:nvPr/>
          </p:nvPicPr>
          <p:blipFill>
            <a:blip>
              <a:extLst>
                <a:ext uri="{96DAC541-7B7A-43D3-8B79-37D633B846F1}">
                  <asvg:svgBlip xmlns:asvg="http://schemas.microsoft.com/office/drawing/2016/SVG/main" r:embed="rId12"/>
                </a:ext>
              </a:extLst>
            </a:blip>
            <a:srcRect/>
            <a:stretch/>
          </p:blipFill>
          <p:spPr>
            <a:xfrm>
              <a:off x="4829936" y="4606615"/>
              <a:ext cx="360000" cy="360000"/>
            </a:xfrm>
            <a:prstGeom prst="rect">
              <a:avLst/>
            </a:prstGeom>
          </p:spPr>
        </p:pic>
        <p:sp>
          <p:nvSpPr>
            <p:cNvPr id="20" name="正方形/長方形 19">
              <a:extLst>
                <a:ext uri="{FF2B5EF4-FFF2-40B4-BE49-F238E27FC236}">
                  <a16:creationId xmlns:a16="http://schemas.microsoft.com/office/drawing/2014/main" id="{584DAFFC-81D4-D5DC-D865-F50C17587A3B}"/>
                </a:ext>
              </a:extLst>
            </p:cNvPr>
            <p:cNvSpPr/>
            <p:nvPr/>
          </p:nvSpPr>
          <p:spPr>
            <a:xfrm>
              <a:off x="5283385" y="3772907"/>
              <a:ext cx="3240102" cy="1174658"/>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小売の「リテール・アズ ･ ア・サービス </a:t>
              </a:r>
              <a:r>
                <a:rPr lang="en-US" altLang="ja-JP" sz="1200" b="1" dirty="0">
                  <a:solidFill>
                    <a:srgbClr val="008D2E"/>
                  </a:solidFill>
                  <a:latin typeface="+mn-ea"/>
                </a:rPr>
                <a:t>(RaaS)</a:t>
              </a:r>
              <a:r>
                <a:rPr lang="ja-JP" altLang="en-US" sz="1200" b="1" dirty="0">
                  <a:solidFill>
                    <a:srgbClr val="008D2E"/>
                  </a:solidFill>
                  <a:latin typeface="+mn-ea"/>
                </a:rPr>
                <a:t> </a:t>
              </a:r>
              <a:r>
                <a:rPr lang="en-US" altLang="ja-JP" sz="1200" b="1" dirty="0">
                  <a:solidFill>
                    <a:srgbClr val="008D2E"/>
                  </a:solidFill>
                  <a:latin typeface="+mn-ea"/>
                </a:rPr>
                <a:t>/</a:t>
              </a:r>
              <a:r>
                <a:rPr lang="ja-JP" altLang="en-US" sz="1200" b="1" dirty="0">
                  <a:solidFill>
                    <a:srgbClr val="008D2E"/>
                  </a:solidFill>
                  <a:latin typeface="+mn-ea"/>
                </a:rPr>
                <a:t>メディア業」への本質的転換</a:t>
              </a:r>
              <a:endParaRPr lang="en-US" altLang="ja-JP" sz="1200" b="1" dirty="0">
                <a:solidFill>
                  <a:srgbClr val="008D2E"/>
                </a:solidFill>
                <a:latin typeface="+mn-ea"/>
              </a:endParaRPr>
            </a:p>
            <a:p>
              <a:pPr marL="92075" indent="-92075">
                <a:spcAft>
                  <a:spcPts val="200"/>
                </a:spcAft>
                <a:buClr>
                  <a:srgbClr val="008D2E"/>
                </a:buClr>
                <a:buFont typeface="Arial" panose="020B0604020202020204" pitchFamily="34" charset="0"/>
                <a:buChar char="•"/>
              </a:pPr>
              <a:r>
                <a:rPr lang="ja-JP" altLang="en-US" sz="1000" dirty="0">
                  <a:solidFill>
                    <a:schemeClr val="tx1"/>
                  </a:solidFill>
                  <a:latin typeface="+mn-ea"/>
                </a:rPr>
                <a:t>人口減少に伴う物販マージンの限界を受け、小売が購買データ ･ 接点を広告事業へ完全転換</a:t>
              </a:r>
              <a:endParaRPr lang="en-US" altLang="ja-JP" sz="1000" dirty="0">
                <a:solidFill>
                  <a:schemeClr val="tx1"/>
                </a:solidFill>
                <a:latin typeface="+mn-ea"/>
              </a:endParaRPr>
            </a:p>
            <a:p>
              <a:pPr marL="92075" indent="-92075">
                <a:spcAft>
                  <a:spcPts val="200"/>
                </a:spcAft>
                <a:buClr>
                  <a:srgbClr val="008D2E"/>
                </a:buClr>
                <a:buFont typeface="Arial" panose="020B0604020202020204" pitchFamily="34" charset="0"/>
                <a:buChar char="•"/>
              </a:pPr>
              <a:r>
                <a:rPr lang="ja-JP" altLang="en-US" sz="1000" dirty="0">
                  <a:solidFill>
                    <a:schemeClr val="tx1"/>
                  </a:solidFill>
                  <a:latin typeface="+mn-ea"/>
                </a:rPr>
                <a:t>販促費が「後ろ向きな値引き」から「</a:t>
              </a:r>
              <a:r>
                <a:rPr lang="en-US" altLang="ja-JP" sz="1000" dirty="0">
                  <a:solidFill>
                    <a:schemeClr val="tx1"/>
                  </a:solidFill>
                  <a:latin typeface="+mn-ea"/>
                </a:rPr>
                <a:t>ROI</a:t>
              </a:r>
              <a:r>
                <a:rPr lang="ja-JP" altLang="en-US" sz="1000" dirty="0">
                  <a:solidFill>
                    <a:schemeClr val="tx1"/>
                  </a:solidFill>
                  <a:latin typeface="+mn-ea"/>
                </a:rPr>
                <a:t>が可視化されたプログラマティック投資」へ進化</a:t>
              </a:r>
              <a:endParaRPr kumimoji="1" lang="ja-JP" altLang="en-US" sz="1000" dirty="0">
                <a:solidFill>
                  <a:schemeClr val="tx1"/>
                </a:solidFill>
                <a:latin typeface="+mn-ea"/>
              </a:endParaRPr>
            </a:p>
          </p:txBody>
        </p:sp>
        <p:sp>
          <p:nvSpPr>
            <p:cNvPr id="69" name="正方形/長方形 68">
              <a:extLst>
                <a:ext uri="{FF2B5EF4-FFF2-40B4-BE49-F238E27FC236}">
                  <a16:creationId xmlns:a16="http://schemas.microsoft.com/office/drawing/2014/main" id="{02A48B56-51DE-4095-06E1-4163FDA56430}"/>
                </a:ext>
              </a:extLst>
            </p:cNvPr>
            <p:cNvSpPr/>
            <p:nvPr/>
          </p:nvSpPr>
          <p:spPr>
            <a:xfrm>
              <a:off x="5283385" y="3772907"/>
              <a:ext cx="51162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800" dirty="0">
                  <a:solidFill>
                    <a:schemeClr val="bg1"/>
                  </a:solidFill>
                  <a:latin typeface="+mn-ea"/>
                </a:rPr>
                <a:t>O2</a:t>
              </a:r>
              <a:endParaRPr kumimoji="1" lang="ja-JP" altLang="en-US" sz="800" dirty="0">
                <a:solidFill>
                  <a:schemeClr val="bg1"/>
                </a:solidFill>
                <a:latin typeface="+mn-ea"/>
              </a:endParaRPr>
            </a:p>
          </p:txBody>
        </p:sp>
        <p:pic>
          <p:nvPicPr>
            <p:cNvPr id="75" name="グラフィックス 74" descr="電球と鉛筆 単色塗りつぶし">
              <a:extLst>
                <a:ext uri="{FF2B5EF4-FFF2-40B4-BE49-F238E27FC236}">
                  <a16:creationId xmlns:a16="http://schemas.microsoft.com/office/drawing/2014/main" id="{D1DDCBA5-1A62-399D-8A07-B57CFB0F4467}"/>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8163488" y="4587565"/>
              <a:ext cx="360000" cy="360000"/>
            </a:xfrm>
            <a:prstGeom prst="rect">
              <a:avLst/>
            </a:prstGeom>
          </p:spPr>
        </p:pic>
        <p:sp>
          <p:nvSpPr>
            <p:cNvPr id="25" name="正方形/長方形 24">
              <a:extLst>
                <a:ext uri="{FF2B5EF4-FFF2-40B4-BE49-F238E27FC236}">
                  <a16:creationId xmlns:a16="http://schemas.microsoft.com/office/drawing/2014/main" id="{95CD4966-1E97-3597-87B4-97CF82B11B08}"/>
                </a:ext>
              </a:extLst>
            </p:cNvPr>
            <p:cNvSpPr/>
            <p:nvPr/>
          </p:nvSpPr>
          <p:spPr>
            <a:xfrm>
              <a:off x="8616935" y="3772907"/>
              <a:ext cx="3240102" cy="1174658"/>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企業間データ分散秘匿接合 </a:t>
              </a:r>
              <a:r>
                <a:rPr lang="en-US" altLang="ja-JP" sz="1200" b="1" dirty="0">
                  <a:solidFill>
                    <a:srgbClr val="008D2E"/>
                  </a:solidFill>
                  <a:latin typeface="+mn-ea"/>
                </a:rPr>
                <a:t>(DCR</a:t>
              </a:r>
              <a:r>
                <a:rPr lang="ja-JP" altLang="en-US" sz="1200" b="1" dirty="0">
                  <a:solidFill>
                    <a:srgbClr val="008D2E"/>
                  </a:solidFill>
                  <a:latin typeface="+mn-ea"/>
                </a:rPr>
                <a:t>等</a:t>
              </a:r>
              <a:r>
                <a:rPr lang="en-US" altLang="ja-JP" sz="1200" b="1" dirty="0">
                  <a:solidFill>
                    <a:srgbClr val="008D2E"/>
                  </a:solidFill>
                  <a:latin typeface="+mn-ea"/>
                </a:rPr>
                <a:t>) </a:t>
              </a:r>
              <a:r>
                <a:rPr lang="ja-JP" altLang="en-US" sz="1200" b="1" dirty="0">
                  <a:solidFill>
                    <a:srgbClr val="008D2E"/>
                  </a:solidFill>
                  <a:latin typeface="+mn-ea"/>
                </a:rPr>
                <a:t>の標準化による「空中戦と地上戦の完全同期」</a:t>
              </a:r>
              <a:endParaRPr lang="en-US" altLang="ja-JP" sz="1200" b="1" dirty="0">
                <a:solidFill>
                  <a:srgbClr val="008D2E"/>
                </a:solidFill>
                <a:latin typeface="+mn-ea"/>
              </a:endParaRPr>
            </a:p>
            <a:p>
              <a:pPr marL="92075" indent="-92075">
                <a:spcAft>
                  <a:spcPts val="200"/>
                </a:spcAft>
                <a:buClr>
                  <a:srgbClr val="008D2E"/>
                </a:buClr>
                <a:buFont typeface="Arial" panose="020B0604020202020204" pitchFamily="34" charset="0"/>
                <a:buChar char="•"/>
              </a:pPr>
              <a:r>
                <a:rPr lang="ja-JP" altLang="en-US" sz="1000" dirty="0">
                  <a:solidFill>
                    <a:schemeClr val="tx1"/>
                  </a:solidFill>
                  <a:latin typeface="+mn-ea"/>
                </a:rPr>
                <a:t>秘匿データ掛け合わせ技術のインフラ化</a:t>
              </a:r>
              <a:endParaRPr lang="en-US" altLang="ja-JP" sz="1000" dirty="0">
                <a:solidFill>
                  <a:schemeClr val="tx1"/>
                </a:solidFill>
                <a:latin typeface="+mn-ea"/>
              </a:endParaRPr>
            </a:p>
            <a:p>
              <a:pPr marL="92075" indent="-92075">
                <a:spcAft>
                  <a:spcPts val="200"/>
                </a:spcAft>
                <a:buClr>
                  <a:srgbClr val="008D2E"/>
                </a:buClr>
                <a:buFont typeface="Arial" panose="020B0604020202020204" pitchFamily="34" charset="0"/>
                <a:buChar char="•"/>
              </a:pPr>
              <a:r>
                <a:rPr lang="ja-JP" altLang="en-US" sz="1000" dirty="0">
                  <a:solidFill>
                    <a:schemeClr val="tx1"/>
                  </a:solidFill>
                  <a:latin typeface="+mn-ea"/>
                </a:rPr>
                <a:t>認知施策から各チェーンの実購買までの因果関係が</a:t>
              </a:r>
              <a:r>
                <a:rPr lang="en-US" altLang="ja-JP" sz="1000" dirty="0">
                  <a:solidFill>
                    <a:schemeClr val="tx1"/>
                  </a:solidFill>
                  <a:latin typeface="+mn-ea"/>
                </a:rPr>
                <a:t>100%</a:t>
              </a:r>
              <a:r>
                <a:rPr lang="ja-JP" altLang="en-US" sz="1000" dirty="0">
                  <a:solidFill>
                    <a:schemeClr val="tx1"/>
                  </a:solidFill>
                  <a:latin typeface="+mn-ea"/>
                </a:rPr>
                <a:t>定量化され、無駄なマス投資を完全排除 ･ 最適化できる</a:t>
              </a:r>
              <a:endParaRPr kumimoji="1" lang="ja-JP" altLang="en-US" sz="1000" dirty="0">
                <a:solidFill>
                  <a:schemeClr val="tx1"/>
                </a:solidFill>
                <a:latin typeface="+mn-ea"/>
              </a:endParaRPr>
            </a:p>
          </p:txBody>
        </p:sp>
        <p:sp>
          <p:nvSpPr>
            <p:cNvPr id="70" name="正方形/長方形 69">
              <a:extLst>
                <a:ext uri="{FF2B5EF4-FFF2-40B4-BE49-F238E27FC236}">
                  <a16:creationId xmlns:a16="http://schemas.microsoft.com/office/drawing/2014/main" id="{6B2F0DCC-088E-596F-22D8-5FD3ABDFF2BC}"/>
                </a:ext>
              </a:extLst>
            </p:cNvPr>
            <p:cNvSpPr/>
            <p:nvPr/>
          </p:nvSpPr>
          <p:spPr>
            <a:xfrm>
              <a:off x="8616934" y="3772907"/>
              <a:ext cx="51162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800" dirty="0">
                  <a:solidFill>
                    <a:schemeClr val="bg1"/>
                  </a:solidFill>
                  <a:latin typeface="+mn-ea"/>
                </a:rPr>
                <a:t>O3</a:t>
              </a:r>
              <a:endParaRPr kumimoji="1" lang="ja-JP" altLang="en-US" sz="800" dirty="0">
                <a:solidFill>
                  <a:schemeClr val="bg1"/>
                </a:solidFill>
                <a:latin typeface="+mn-ea"/>
              </a:endParaRPr>
            </a:p>
          </p:txBody>
        </p:sp>
        <p:pic>
          <p:nvPicPr>
            <p:cNvPr id="77" name="グラフィックス 76" descr="棒グラフ 単色塗りつぶし">
              <a:extLst>
                <a:ext uri="{FF2B5EF4-FFF2-40B4-BE49-F238E27FC236}">
                  <a16:creationId xmlns:a16="http://schemas.microsoft.com/office/drawing/2014/main" id="{FC2CD1BE-3352-F7E7-B946-046488C0977C}"/>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11497039" y="4587565"/>
              <a:ext cx="360000" cy="360000"/>
            </a:xfrm>
            <a:prstGeom prst="rect">
              <a:avLst/>
            </a:prstGeom>
          </p:spPr>
        </p:pic>
      </p:grpSp>
      <p:grpSp>
        <p:nvGrpSpPr>
          <p:cNvPr id="27" name="グループ化 26">
            <a:extLst>
              <a:ext uri="{FF2B5EF4-FFF2-40B4-BE49-F238E27FC236}">
                <a16:creationId xmlns:a16="http://schemas.microsoft.com/office/drawing/2014/main" id="{3979FD61-97B1-1EA7-3666-C78372A9FE08}"/>
              </a:ext>
            </a:extLst>
          </p:cNvPr>
          <p:cNvGrpSpPr/>
          <p:nvPr/>
        </p:nvGrpSpPr>
        <p:grpSpPr>
          <a:xfrm>
            <a:off x="334962" y="5029205"/>
            <a:ext cx="11522075" cy="1279520"/>
            <a:chOff x="334962" y="5029205"/>
            <a:chExt cx="11522075" cy="1279520"/>
          </a:xfrm>
        </p:grpSpPr>
        <p:sp>
          <p:nvSpPr>
            <p:cNvPr id="16" name="正方形/長方形 15">
              <a:extLst>
                <a:ext uri="{FF2B5EF4-FFF2-40B4-BE49-F238E27FC236}">
                  <a16:creationId xmlns:a16="http://schemas.microsoft.com/office/drawing/2014/main" id="{3BD2338E-2279-B004-A79F-7AAB45527B3D}"/>
                </a:ext>
              </a:extLst>
            </p:cNvPr>
            <p:cNvSpPr/>
            <p:nvPr/>
          </p:nvSpPr>
          <p:spPr>
            <a:xfrm>
              <a:off x="1949834" y="5029205"/>
              <a:ext cx="2424359" cy="1279520"/>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chemeClr val="bg1">
                      <a:lumMod val="50000"/>
                    </a:schemeClr>
                  </a:solidFill>
                  <a:latin typeface="+mn-ea"/>
                </a:rPr>
                <a:t>プライバシー ･ ガバナンスの極限化による「サードパーティデータ消滅」</a:t>
              </a:r>
              <a:endParaRPr lang="en-US" altLang="ja-JP" sz="1200" b="1" dirty="0">
                <a:solidFill>
                  <a:schemeClr val="bg1">
                    <a:lumMod val="50000"/>
                  </a:schemeClr>
                </a:solidFill>
                <a:latin typeface="+mn-ea"/>
              </a:endParaRPr>
            </a:p>
            <a:p>
              <a:pPr marL="92075" indent="-92075">
                <a:spcAft>
                  <a:spcPts val="200"/>
                </a:spcAft>
                <a:buClr>
                  <a:schemeClr val="bg1">
                    <a:lumMod val="50000"/>
                  </a:schemeClr>
                </a:buClr>
                <a:buFont typeface="Arial" panose="020B0604020202020204" pitchFamily="34" charset="0"/>
                <a:buChar char="•"/>
              </a:pPr>
              <a:r>
                <a:rPr lang="ja-JP" altLang="en-US" sz="1000" dirty="0">
                  <a:solidFill>
                    <a:schemeClr val="bg1">
                      <a:lumMod val="50000"/>
                    </a:schemeClr>
                  </a:solidFill>
                  <a:latin typeface="+mn-ea"/>
                </a:rPr>
                <a:t>データ規制による外部データの利用不能化</a:t>
              </a:r>
              <a:endParaRPr lang="en-US" altLang="ja-JP" sz="1000" dirty="0">
                <a:solidFill>
                  <a:schemeClr val="bg1">
                    <a:lumMod val="50000"/>
                  </a:schemeClr>
                </a:solidFill>
                <a:latin typeface="+mn-ea"/>
              </a:endParaRPr>
            </a:p>
            <a:p>
              <a:pPr marL="92075" indent="-92075">
                <a:spcAft>
                  <a:spcPts val="200"/>
                </a:spcAft>
                <a:buClr>
                  <a:schemeClr val="bg1">
                    <a:lumMod val="50000"/>
                  </a:schemeClr>
                </a:buClr>
                <a:buFont typeface="Arial" panose="020B0604020202020204" pitchFamily="34" charset="0"/>
                <a:buChar char="•"/>
              </a:pPr>
              <a:r>
                <a:rPr lang="ja-JP" altLang="en-US" sz="1000" dirty="0">
                  <a:solidFill>
                    <a:schemeClr val="bg1">
                      <a:lumMod val="50000"/>
                    </a:schemeClr>
                  </a:solidFill>
                  <a:latin typeface="+mn-ea"/>
                </a:rPr>
                <a:t>自社で顧客データを直接捕捉・維持する仕組みを持たないメーカーは、アプローチ手段を喪失</a:t>
              </a:r>
              <a:endParaRPr lang="en-US" altLang="ja-JP" sz="1000" dirty="0">
                <a:solidFill>
                  <a:schemeClr val="bg1">
                    <a:lumMod val="50000"/>
                  </a:schemeClr>
                </a:solidFill>
                <a:latin typeface="+mn-ea"/>
              </a:endParaRPr>
            </a:p>
            <a:p>
              <a:pPr>
                <a:spcAft>
                  <a:spcPts val="200"/>
                </a:spcAft>
              </a:pPr>
              <a:endParaRPr kumimoji="1" lang="ja-JP" altLang="en-US" sz="1000" dirty="0">
                <a:solidFill>
                  <a:schemeClr val="bg1">
                    <a:lumMod val="50000"/>
                  </a:schemeClr>
                </a:solidFill>
                <a:latin typeface="+mn-ea"/>
              </a:endParaRPr>
            </a:p>
          </p:txBody>
        </p:sp>
        <p:sp>
          <p:nvSpPr>
            <p:cNvPr id="79" name="正方形/長方形 78">
              <a:extLst>
                <a:ext uri="{FF2B5EF4-FFF2-40B4-BE49-F238E27FC236}">
                  <a16:creationId xmlns:a16="http://schemas.microsoft.com/office/drawing/2014/main" id="{A7D09C33-4395-E81A-6FBE-106E2C2E4126}"/>
                </a:ext>
              </a:extLst>
            </p:cNvPr>
            <p:cNvSpPr/>
            <p:nvPr/>
          </p:nvSpPr>
          <p:spPr>
            <a:xfrm>
              <a:off x="1949834" y="5029205"/>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T1</a:t>
              </a:r>
              <a:endParaRPr kumimoji="1" lang="ja-JP" altLang="en-US" sz="900" dirty="0">
                <a:solidFill>
                  <a:schemeClr val="bg1"/>
                </a:solidFill>
                <a:latin typeface="+mn-ea"/>
              </a:endParaRPr>
            </a:p>
          </p:txBody>
        </p:sp>
        <p:pic>
          <p:nvPicPr>
            <p:cNvPr id="84" name="グラフィックス 83" descr="下降基調のグラフ 単色塗りつぶし">
              <a:extLst>
                <a:ext uri="{FF2B5EF4-FFF2-40B4-BE49-F238E27FC236}">
                  <a16:creationId xmlns:a16="http://schemas.microsoft.com/office/drawing/2014/main" id="{7DED8AC0-38A8-463B-905D-2ACAC9218951}"/>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4014193" y="5948725"/>
              <a:ext cx="360000" cy="360000"/>
            </a:xfrm>
            <a:prstGeom prst="rect">
              <a:avLst/>
            </a:prstGeom>
          </p:spPr>
        </p:pic>
        <p:sp>
          <p:nvSpPr>
            <p:cNvPr id="21" name="正方形/長方形 20">
              <a:extLst>
                <a:ext uri="{FF2B5EF4-FFF2-40B4-BE49-F238E27FC236}">
                  <a16:creationId xmlns:a16="http://schemas.microsoft.com/office/drawing/2014/main" id="{93728904-AB70-3C6C-7039-4D117F480E51}"/>
                </a:ext>
              </a:extLst>
            </p:cNvPr>
            <p:cNvSpPr/>
            <p:nvPr/>
          </p:nvSpPr>
          <p:spPr>
            <a:xfrm>
              <a:off x="4444115" y="5029205"/>
              <a:ext cx="2424359" cy="1279520"/>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a:spcAft>
                  <a:spcPts val="200"/>
                </a:spcAft>
              </a:pPr>
              <a:r>
                <a:rPr lang="en-US" altLang="ja-JP" sz="1200" b="1" dirty="0">
                  <a:solidFill>
                    <a:schemeClr val="bg1">
                      <a:lumMod val="50000"/>
                    </a:schemeClr>
                  </a:solidFill>
                  <a:latin typeface="+mn-ea"/>
                </a:rPr>
                <a:t>AI</a:t>
              </a:r>
              <a:r>
                <a:rPr lang="ja-JP" altLang="en-US" sz="1200" b="1" dirty="0">
                  <a:solidFill>
                    <a:schemeClr val="bg1">
                      <a:lumMod val="50000"/>
                    </a:schemeClr>
                  </a:solidFill>
                  <a:latin typeface="+mn-ea"/>
                </a:rPr>
                <a:t>エージェントと空間センサーによる</a:t>
              </a:r>
              <a:br>
                <a:rPr lang="en-US" altLang="ja-JP" sz="1200" b="1" dirty="0">
                  <a:solidFill>
                    <a:schemeClr val="bg1">
                      <a:lumMod val="50000"/>
                    </a:schemeClr>
                  </a:solidFill>
                  <a:latin typeface="+mn-ea"/>
                </a:rPr>
              </a:br>
              <a:r>
                <a:rPr lang="ja-JP" altLang="en-US" sz="1200" b="1" dirty="0">
                  <a:solidFill>
                    <a:schemeClr val="bg1">
                      <a:lumMod val="50000"/>
                    </a:schemeClr>
                  </a:solidFill>
                  <a:latin typeface="+mn-ea"/>
                </a:rPr>
                <a:t>「買い場およびブランド想起の消滅」</a:t>
              </a:r>
              <a:endParaRPr lang="en-US" altLang="ja-JP" sz="1200" b="1" dirty="0">
                <a:solidFill>
                  <a:schemeClr val="bg1">
                    <a:lumMod val="50000"/>
                  </a:schemeClr>
                </a:solidFill>
                <a:latin typeface="+mn-ea"/>
              </a:endParaRPr>
            </a:p>
            <a:p>
              <a:pPr marL="92075" indent="-92075">
                <a:spcAft>
                  <a:spcPts val="200"/>
                </a:spcAft>
                <a:buClr>
                  <a:schemeClr val="bg1">
                    <a:lumMod val="50000"/>
                  </a:schemeClr>
                </a:buClr>
                <a:buFont typeface="Arial" panose="020B0604020202020204" pitchFamily="34" charset="0"/>
                <a:buChar char="•"/>
              </a:pPr>
              <a:r>
                <a:rPr lang="ja-JP" altLang="en-US" sz="1000" dirty="0">
                  <a:solidFill>
                    <a:schemeClr val="bg1">
                      <a:lumMod val="50000"/>
                    </a:schemeClr>
                  </a:solidFill>
                  <a:latin typeface="+mn-ea"/>
                </a:rPr>
                <a:t>対話型</a:t>
              </a:r>
              <a:r>
                <a:rPr lang="en-US" altLang="ja-JP" sz="1000" dirty="0">
                  <a:solidFill>
                    <a:schemeClr val="bg1">
                      <a:lumMod val="50000"/>
                    </a:schemeClr>
                  </a:solidFill>
                  <a:latin typeface="+mn-ea"/>
                </a:rPr>
                <a:t>AI</a:t>
              </a:r>
              <a:r>
                <a:rPr lang="ja-JP" altLang="en-US" sz="1000" dirty="0">
                  <a:solidFill>
                    <a:schemeClr val="bg1">
                      <a:lumMod val="50000"/>
                    </a:schemeClr>
                  </a:solidFill>
                  <a:latin typeface="+mn-ea"/>
                </a:rPr>
                <a:t>やスマートホームへの購買委任に伴う自動補充の定着</a:t>
              </a:r>
              <a:endParaRPr lang="en-US" altLang="ja-JP" sz="1000" dirty="0">
                <a:solidFill>
                  <a:schemeClr val="bg1">
                    <a:lumMod val="50000"/>
                  </a:schemeClr>
                </a:solidFill>
                <a:latin typeface="+mn-ea"/>
              </a:endParaRPr>
            </a:p>
            <a:p>
              <a:pPr marL="92075" indent="-92075">
                <a:spcAft>
                  <a:spcPts val="200"/>
                </a:spcAft>
                <a:buClr>
                  <a:schemeClr val="bg1">
                    <a:lumMod val="50000"/>
                  </a:schemeClr>
                </a:buClr>
                <a:buFont typeface="Arial" panose="020B0604020202020204" pitchFamily="34" charset="0"/>
                <a:buChar char="•"/>
              </a:pPr>
              <a:r>
                <a:rPr lang="ja-JP" altLang="en-US" sz="1000" dirty="0">
                  <a:solidFill>
                    <a:schemeClr val="bg1">
                      <a:lumMod val="50000"/>
                    </a:schemeClr>
                  </a:solidFill>
                  <a:latin typeface="+mn-ea"/>
                </a:rPr>
                <a:t>「棚で迷う ･ 調べる」プロセスが消え、人間向けの</a:t>
              </a:r>
              <a:r>
                <a:rPr lang="en-US" altLang="ja-JP" sz="1000" dirty="0">
                  <a:solidFill>
                    <a:schemeClr val="bg1">
                      <a:lumMod val="50000"/>
                    </a:schemeClr>
                  </a:solidFill>
                  <a:latin typeface="+mn-ea"/>
                </a:rPr>
                <a:t>TVCM</a:t>
              </a:r>
              <a:r>
                <a:rPr lang="ja-JP" altLang="en-US" sz="1000" dirty="0">
                  <a:solidFill>
                    <a:schemeClr val="bg1">
                      <a:lumMod val="50000"/>
                    </a:schemeClr>
                  </a:solidFill>
                  <a:latin typeface="+mn-ea"/>
                </a:rPr>
                <a:t>や店頭</a:t>
              </a:r>
              <a:r>
                <a:rPr lang="en-US" altLang="ja-JP" sz="1000" dirty="0">
                  <a:solidFill>
                    <a:schemeClr val="bg1">
                      <a:lumMod val="50000"/>
                    </a:schemeClr>
                  </a:solidFill>
                  <a:latin typeface="+mn-ea"/>
                </a:rPr>
                <a:t>POP</a:t>
              </a:r>
              <a:r>
                <a:rPr lang="ja-JP" altLang="en-US" sz="1000" dirty="0">
                  <a:solidFill>
                    <a:schemeClr val="bg1">
                      <a:lumMod val="50000"/>
                    </a:schemeClr>
                  </a:solidFill>
                  <a:latin typeface="+mn-ea"/>
                </a:rPr>
                <a:t>が機能不全に</a:t>
              </a:r>
              <a:endParaRPr lang="en-US" altLang="ja-JP" sz="1000" dirty="0">
                <a:solidFill>
                  <a:schemeClr val="bg1">
                    <a:lumMod val="50000"/>
                  </a:schemeClr>
                </a:solidFill>
                <a:latin typeface="+mn-ea"/>
              </a:endParaRPr>
            </a:p>
          </p:txBody>
        </p:sp>
        <p:sp>
          <p:nvSpPr>
            <p:cNvPr id="82" name="正方形/長方形 81">
              <a:extLst>
                <a:ext uri="{FF2B5EF4-FFF2-40B4-BE49-F238E27FC236}">
                  <a16:creationId xmlns:a16="http://schemas.microsoft.com/office/drawing/2014/main" id="{7DD6BCC0-1C47-8104-090F-C1622F73CFA5}"/>
                </a:ext>
              </a:extLst>
            </p:cNvPr>
            <p:cNvSpPr/>
            <p:nvPr/>
          </p:nvSpPr>
          <p:spPr>
            <a:xfrm>
              <a:off x="4444116" y="5029205"/>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T2</a:t>
              </a:r>
              <a:endParaRPr kumimoji="1" lang="ja-JP" altLang="en-US" sz="900" dirty="0">
                <a:solidFill>
                  <a:schemeClr val="bg1"/>
                </a:solidFill>
                <a:latin typeface="+mn-ea"/>
              </a:endParaRPr>
            </a:p>
          </p:txBody>
        </p:sp>
        <p:pic>
          <p:nvPicPr>
            <p:cNvPr id="86" name="グラフィックス 85" descr="人工知能 単色塗りつぶし">
              <a:extLst>
                <a:ext uri="{FF2B5EF4-FFF2-40B4-BE49-F238E27FC236}">
                  <a16:creationId xmlns:a16="http://schemas.microsoft.com/office/drawing/2014/main" id="{48CC6952-AEC5-7F48-676E-F9C62EBD0C53}"/>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6508474" y="5948725"/>
              <a:ext cx="360000" cy="360000"/>
            </a:xfrm>
            <a:prstGeom prst="rect">
              <a:avLst/>
            </a:prstGeom>
          </p:spPr>
        </p:pic>
        <p:sp>
          <p:nvSpPr>
            <p:cNvPr id="26" name="正方形/長方形 25">
              <a:extLst>
                <a:ext uri="{FF2B5EF4-FFF2-40B4-BE49-F238E27FC236}">
                  <a16:creationId xmlns:a16="http://schemas.microsoft.com/office/drawing/2014/main" id="{61B7E7A1-147C-63C4-ED4C-5894ABC23903}"/>
                </a:ext>
              </a:extLst>
            </p:cNvPr>
            <p:cNvSpPr/>
            <p:nvPr/>
          </p:nvSpPr>
          <p:spPr>
            <a:xfrm>
              <a:off x="6938396" y="5029205"/>
              <a:ext cx="2424359" cy="1279520"/>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marL="0" lvl="1">
                <a:spcAft>
                  <a:spcPts val="200"/>
                </a:spcAft>
              </a:pPr>
              <a:r>
                <a:rPr lang="ja-JP" altLang="en-US" sz="1200" b="1" dirty="0">
                  <a:solidFill>
                    <a:schemeClr val="bg1">
                      <a:lumMod val="50000"/>
                    </a:schemeClr>
                  </a:solidFill>
                  <a:latin typeface="+mn-ea"/>
                </a:rPr>
                <a:t>自律型スマートストア化に伴う</a:t>
              </a:r>
              <a:br>
                <a:rPr lang="en-US" altLang="ja-JP" sz="1200" b="1" dirty="0">
                  <a:solidFill>
                    <a:schemeClr val="bg1">
                      <a:lumMod val="50000"/>
                    </a:schemeClr>
                  </a:solidFill>
                  <a:latin typeface="+mn-ea"/>
                </a:rPr>
              </a:br>
              <a:r>
                <a:rPr lang="ja-JP" altLang="en-US" sz="1200" b="1" dirty="0">
                  <a:solidFill>
                    <a:schemeClr val="bg1">
                      <a:lumMod val="50000"/>
                    </a:schemeClr>
                  </a:solidFill>
                  <a:latin typeface="+mn-ea"/>
                </a:rPr>
                <a:t>「小売実店舗の人的作業拒絶」</a:t>
              </a:r>
              <a:endParaRPr lang="en-US" altLang="ja-JP" sz="1200" b="1" dirty="0">
                <a:solidFill>
                  <a:schemeClr val="bg1">
                    <a:lumMod val="50000"/>
                  </a:schemeClr>
                </a:solidFill>
                <a:latin typeface="+mn-ea"/>
              </a:endParaRPr>
            </a:p>
            <a:p>
              <a:pPr marL="87313" lvl="1" indent="-87313">
                <a:spcAft>
                  <a:spcPts val="200"/>
                </a:spcAft>
                <a:buClr>
                  <a:schemeClr val="bg1">
                    <a:lumMod val="50000"/>
                  </a:schemeClr>
                </a:buClr>
                <a:buFont typeface="Arial" panose="020B0604020202020204" pitchFamily="34" charset="0"/>
                <a:buChar char="•"/>
              </a:pPr>
              <a:r>
                <a:rPr lang="ja-JP" altLang="en-US" sz="1000" dirty="0">
                  <a:solidFill>
                    <a:schemeClr val="bg1">
                      <a:lumMod val="50000"/>
                    </a:schemeClr>
                  </a:solidFill>
                  <a:latin typeface="+mn-ea"/>
                </a:rPr>
                <a:t>労働人口激減と、</a:t>
              </a:r>
              <a:r>
                <a:rPr lang="en-US" altLang="ja-JP" sz="1000" dirty="0">
                  <a:solidFill>
                    <a:schemeClr val="bg1">
                      <a:lumMod val="50000"/>
                    </a:schemeClr>
                  </a:solidFill>
                  <a:latin typeface="+mn-ea"/>
                </a:rPr>
                <a:t>AI</a:t>
              </a:r>
              <a:r>
                <a:rPr lang="ja-JP" altLang="en-US" sz="1000" dirty="0">
                  <a:solidFill>
                    <a:schemeClr val="bg1">
                      <a:lumMod val="50000"/>
                    </a:schemeClr>
                  </a:solidFill>
                  <a:latin typeface="+mn-ea"/>
                </a:rPr>
                <a:t>需要予測 ･ 電子棚札等の定着による店舗運営の無人化</a:t>
              </a:r>
              <a:endParaRPr lang="en-US" altLang="ja-JP" sz="1000" dirty="0">
                <a:solidFill>
                  <a:schemeClr val="bg1">
                    <a:lumMod val="50000"/>
                  </a:schemeClr>
                </a:solidFill>
                <a:latin typeface="+mn-ea"/>
              </a:endParaRPr>
            </a:p>
            <a:p>
              <a:pPr marL="87313" lvl="1" indent="-87313">
                <a:spcAft>
                  <a:spcPts val="200"/>
                </a:spcAft>
                <a:buClr>
                  <a:schemeClr val="bg1">
                    <a:lumMod val="50000"/>
                  </a:schemeClr>
                </a:buClr>
                <a:buFont typeface="Arial" panose="020B0604020202020204" pitchFamily="34" charset="0"/>
                <a:buChar char="•"/>
              </a:pPr>
              <a:r>
                <a:rPr lang="ja-JP" altLang="en-US" sz="1000" dirty="0">
                  <a:solidFill>
                    <a:schemeClr val="bg1">
                      <a:lumMod val="50000"/>
                    </a:schemeClr>
                  </a:solidFill>
                  <a:latin typeface="+mn-ea"/>
                </a:rPr>
                <a:t>品出し･棚替え等、人的を要する提案は、調達アルゴリズムが自動で足切り </a:t>
              </a:r>
              <a:r>
                <a:rPr lang="en-US" altLang="ja-JP" sz="1000" dirty="0">
                  <a:solidFill>
                    <a:schemeClr val="bg1">
                      <a:lumMod val="50000"/>
                    </a:schemeClr>
                  </a:solidFill>
                  <a:latin typeface="+mn-ea"/>
                </a:rPr>
                <a:t>(</a:t>
              </a:r>
              <a:r>
                <a:rPr lang="ja-JP" altLang="en-US" sz="1000" dirty="0">
                  <a:solidFill>
                    <a:schemeClr val="bg1">
                      <a:lumMod val="50000"/>
                    </a:schemeClr>
                  </a:solidFill>
                  <a:latin typeface="+mn-ea"/>
                </a:rPr>
                <a:t>棚落ち</a:t>
              </a:r>
              <a:r>
                <a:rPr lang="en-US" altLang="ja-JP" sz="1000" dirty="0">
                  <a:solidFill>
                    <a:schemeClr val="bg1">
                      <a:lumMod val="50000"/>
                    </a:schemeClr>
                  </a:solidFill>
                  <a:latin typeface="+mn-ea"/>
                </a:rPr>
                <a:t>)</a:t>
              </a:r>
              <a:r>
                <a:rPr lang="ja-JP" altLang="en-US" sz="1000" dirty="0">
                  <a:solidFill>
                    <a:schemeClr val="bg1">
                      <a:lumMod val="50000"/>
                    </a:schemeClr>
                  </a:solidFill>
                  <a:latin typeface="+mn-ea"/>
                </a:rPr>
                <a:t> する</a:t>
              </a:r>
              <a:endParaRPr lang="en-US" altLang="ja-JP" sz="1000" dirty="0">
                <a:solidFill>
                  <a:schemeClr val="bg1">
                    <a:lumMod val="50000"/>
                  </a:schemeClr>
                </a:solidFill>
                <a:latin typeface="+mn-ea"/>
              </a:endParaRPr>
            </a:p>
          </p:txBody>
        </p:sp>
        <p:pic>
          <p:nvPicPr>
            <p:cNvPr id="88" name="グラフィックス 87" descr="キオスク 単色塗りつぶし">
              <a:extLst>
                <a:ext uri="{FF2B5EF4-FFF2-40B4-BE49-F238E27FC236}">
                  <a16:creationId xmlns:a16="http://schemas.microsoft.com/office/drawing/2014/main" id="{77C98077-E48E-59AC-A90D-68A281195C10}"/>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9002754" y="5948725"/>
              <a:ext cx="360000" cy="360000"/>
            </a:xfrm>
            <a:prstGeom prst="rect">
              <a:avLst/>
            </a:prstGeom>
          </p:spPr>
        </p:pic>
        <p:sp>
          <p:nvSpPr>
            <p:cNvPr id="91" name="正方形/長方形 90">
              <a:extLst>
                <a:ext uri="{FF2B5EF4-FFF2-40B4-BE49-F238E27FC236}">
                  <a16:creationId xmlns:a16="http://schemas.microsoft.com/office/drawing/2014/main" id="{847C15CE-295F-2483-C61A-A0CC7C9EAEF2}"/>
                </a:ext>
              </a:extLst>
            </p:cNvPr>
            <p:cNvSpPr/>
            <p:nvPr/>
          </p:nvSpPr>
          <p:spPr>
            <a:xfrm>
              <a:off x="6938396" y="5029205"/>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T3</a:t>
              </a:r>
              <a:endParaRPr kumimoji="1" lang="ja-JP" altLang="en-US" sz="900" dirty="0">
                <a:solidFill>
                  <a:schemeClr val="bg1"/>
                </a:solidFill>
                <a:latin typeface="+mn-ea"/>
              </a:endParaRPr>
            </a:p>
          </p:txBody>
        </p:sp>
        <p:sp>
          <p:nvSpPr>
            <p:cNvPr id="31" name="正方形/長方形 30">
              <a:extLst>
                <a:ext uri="{FF2B5EF4-FFF2-40B4-BE49-F238E27FC236}">
                  <a16:creationId xmlns:a16="http://schemas.microsoft.com/office/drawing/2014/main" id="{0D7A5E77-733A-E6FA-C94F-52CE5DD29F57}"/>
                </a:ext>
              </a:extLst>
            </p:cNvPr>
            <p:cNvSpPr/>
            <p:nvPr/>
          </p:nvSpPr>
          <p:spPr>
            <a:xfrm>
              <a:off x="9432678" y="5029205"/>
              <a:ext cx="2424359" cy="1279520"/>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chemeClr val="bg1">
                      <a:lumMod val="50000"/>
                    </a:schemeClr>
                  </a:solidFill>
                  <a:latin typeface="+mn-ea"/>
                </a:rPr>
                <a:t>卸・小売りの冷徹な合理化定量化</a:t>
              </a:r>
              <a:endParaRPr lang="en-US" altLang="ja-JP" sz="1200" b="1" dirty="0">
                <a:solidFill>
                  <a:schemeClr val="bg1">
                    <a:lumMod val="50000"/>
                  </a:schemeClr>
                </a:solidFill>
                <a:latin typeface="+mn-ea"/>
              </a:endParaRPr>
            </a:p>
            <a:p>
              <a:pPr marL="87313" indent="-87313">
                <a:spcAft>
                  <a:spcPts val="200"/>
                </a:spcAft>
                <a:buFont typeface="Arial" panose="020B0604020202020204" pitchFamily="34" charset="0"/>
                <a:buChar char="•"/>
              </a:pPr>
              <a:r>
                <a:rPr lang="en-US" altLang="ja-JP" sz="1000" dirty="0">
                  <a:solidFill>
                    <a:schemeClr val="bg1">
                      <a:lumMod val="50000"/>
                    </a:schemeClr>
                  </a:solidFill>
                  <a:latin typeface="+mn-ea"/>
                </a:rPr>
                <a:t>AI</a:t>
              </a:r>
              <a:r>
                <a:rPr lang="ja-JP" altLang="en-US" sz="1000" dirty="0">
                  <a:solidFill>
                    <a:schemeClr val="bg1">
                      <a:lumMod val="50000"/>
                    </a:schemeClr>
                  </a:solidFill>
                  <a:latin typeface="+mn-ea"/>
                </a:rPr>
                <a:t>による棚割最適化と本部システムの冷徹な</a:t>
              </a:r>
              <a:br>
                <a:rPr lang="en-US" altLang="ja-JP" sz="1000" dirty="0">
                  <a:solidFill>
                    <a:schemeClr val="bg1">
                      <a:lumMod val="50000"/>
                    </a:schemeClr>
                  </a:solidFill>
                  <a:latin typeface="+mn-ea"/>
                </a:rPr>
              </a:br>
              <a:r>
                <a:rPr lang="ja-JP" altLang="en-US" sz="1000" dirty="0">
                  <a:solidFill>
                    <a:schemeClr val="bg1">
                      <a:lumMod val="50000"/>
                    </a:schemeClr>
                  </a:solidFill>
                  <a:latin typeface="+mn-ea"/>
                </a:rPr>
                <a:t>データ監査 </a:t>
              </a:r>
              <a:r>
                <a:rPr lang="en-US" altLang="ja-JP" sz="1000" dirty="0">
                  <a:solidFill>
                    <a:schemeClr val="bg1">
                      <a:lumMod val="50000"/>
                    </a:schemeClr>
                  </a:solidFill>
                  <a:latin typeface="+mn-ea"/>
                </a:rPr>
                <a:t>(</a:t>
              </a:r>
              <a:r>
                <a:rPr lang="ja-JP" altLang="en-US" sz="1000" dirty="0">
                  <a:solidFill>
                    <a:schemeClr val="bg1">
                      <a:lumMod val="50000"/>
                    </a:schemeClr>
                  </a:solidFill>
                  <a:latin typeface="+mn-ea"/>
                </a:rPr>
                <a:t>利益率 ･ 回転率 ･ 環境 ･ </a:t>
              </a:r>
              <a:br>
                <a:rPr lang="en-US" altLang="ja-JP" sz="1000" dirty="0">
                  <a:solidFill>
                    <a:schemeClr val="bg1">
                      <a:lumMod val="50000"/>
                    </a:schemeClr>
                  </a:solidFill>
                  <a:latin typeface="+mn-ea"/>
                </a:rPr>
              </a:br>
              <a:r>
                <a:rPr lang="ja-JP" altLang="en-US" sz="1000" dirty="0">
                  <a:solidFill>
                    <a:schemeClr val="bg1">
                      <a:lumMod val="50000"/>
                    </a:schemeClr>
                  </a:solidFill>
                  <a:latin typeface="+mn-ea"/>
                </a:rPr>
                <a:t>広告貢献度</a:t>
              </a:r>
              <a:r>
                <a:rPr lang="en-US" altLang="ja-JP" sz="1000" dirty="0">
                  <a:solidFill>
                    <a:schemeClr val="bg1">
                      <a:lumMod val="50000"/>
                    </a:schemeClr>
                  </a:solidFill>
                  <a:latin typeface="+mn-ea"/>
                </a:rPr>
                <a:t>) </a:t>
              </a:r>
              <a:r>
                <a:rPr lang="ja-JP" altLang="en-US" sz="1000" dirty="0">
                  <a:solidFill>
                    <a:schemeClr val="bg1">
                      <a:lumMod val="50000"/>
                    </a:schemeClr>
                  </a:solidFill>
                  <a:latin typeface="+mn-ea"/>
                </a:rPr>
                <a:t>の高度化</a:t>
              </a:r>
              <a:endParaRPr lang="en-US" altLang="ja-JP" sz="1000" dirty="0">
                <a:solidFill>
                  <a:schemeClr val="bg1">
                    <a:lumMod val="50000"/>
                  </a:schemeClr>
                </a:solidFill>
                <a:latin typeface="+mn-ea"/>
              </a:endParaRPr>
            </a:p>
            <a:p>
              <a:pPr marL="87313" indent="-87313">
                <a:spcAft>
                  <a:spcPts val="200"/>
                </a:spcAft>
                <a:buFont typeface="Arial" panose="020B0604020202020204" pitchFamily="34" charset="0"/>
                <a:buChar char="•"/>
              </a:pPr>
              <a:r>
                <a:rPr lang="ja-JP" altLang="en-US" sz="1000" dirty="0">
                  <a:solidFill>
                    <a:schemeClr val="bg1">
                      <a:lumMod val="50000"/>
                    </a:schemeClr>
                  </a:solidFill>
                  <a:latin typeface="+mn-ea"/>
                </a:rPr>
                <a:t>付き合いでの棚融通は崩壊し、バイヤーは</a:t>
              </a:r>
              <a:br>
                <a:rPr lang="en-US" altLang="ja-JP" sz="1000" dirty="0">
                  <a:solidFill>
                    <a:schemeClr val="bg1">
                      <a:lumMod val="50000"/>
                    </a:schemeClr>
                  </a:solidFill>
                  <a:latin typeface="+mn-ea"/>
                </a:rPr>
              </a:br>
              <a:r>
                <a:rPr lang="ja-JP" altLang="en-US" sz="1000" dirty="0">
                  <a:solidFill>
                    <a:schemeClr val="bg1">
                      <a:lumMod val="50000"/>
                    </a:schemeClr>
                  </a:solidFill>
                  <a:latin typeface="+mn-ea"/>
                </a:rPr>
                <a:t>リスク回避のため完璧な定量根拠を要求</a:t>
              </a:r>
              <a:endParaRPr kumimoji="1" lang="ja-JP" altLang="en-US" sz="1000" dirty="0">
                <a:solidFill>
                  <a:schemeClr val="bg1">
                    <a:lumMod val="50000"/>
                  </a:schemeClr>
                </a:solidFill>
                <a:latin typeface="+mn-ea"/>
              </a:endParaRPr>
            </a:p>
          </p:txBody>
        </p:sp>
        <p:pic>
          <p:nvPicPr>
            <p:cNvPr id="90" name="グラフィックス 89" descr="高電圧 単色塗りつぶし">
              <a:extLst>
                <a:ext uri="{FF2B5EF4-FFF2-40B4-BE49-F238E27FC236}">
                  <a16:creationId xmlns:a16="http://schemas.microsoft.com/office/drawing/2014/main" id="{07E23B18-45AE-97A4-7F8C-EDBE19C65947}"/>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11497037" y="5948725"/>
              <a:ext cx="360000" cy="360000"/>
            </a:xfrm>
            <a:prstGeom prst="rect">
              <a:avLst/>
            </a:prstGeom>
          </p:spPr>
        </p:pic>
        <p:sp>
          <p:nvSpPr>
            <p:cNvPr id="92" name="正方形/長方形 91">
              <a:extLst>
                <a:ext uri="{FF2B5EF4-FFF2-40B4-BE49-F238E27FC236}">
                  <a16:creationId xmlns:a16="http://schemas.microsoft.com/office/drawing/2014/main" id="{C5D7CF7A-0BFF-E1EA-CA1A-EDC7200465EF}"/>
                </a:ext>
              </a:extLst>
            </p:cNvPr>
            <p:cNvSpPr/>
            <p:nvPr/>
          </p:nvSpPr>
          <p:spPr>
            <a:xfrm>
              <a:off x="9432678" y="5029205"/>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T4</a:t>
              </a:r>
              <a:endParaRPr kumimoji="1" lang="ja-JP" altLang="en-US" sz="900" dirty="0">
                <a:solidFill>
                  <a:schemeClr val="bg1"/>
                </a:solidFill>
                <a:latin typeface="+mn-ea"/>
              </a:endParaRPr>
            </a:p>
          </p:txBody>
        </p:sp>
        <p:sp>
          <p:nvSpPr>
            <p:cNvPr id="10" name="正方形/長方形 9">
              <a:extLst>
                <a:ext uri="{FF2B5EF4-FFF2-40B4-BE49-F238E27FC236}">
                  <a16:creationId xmlns:a16="http://schemas.microsoft.com/office/drawing/2014/main" id="{323091F9-3E7C-FFDD-87F4-85552AD616E0}"/>
                </a:ext>
              </a:extLst>
            </p:cNvPr>
            <p:cNvSpPr/>
            <p:nvPr/>
          </p:nvSpPr>
          <p:spPr>
            <a:xfrm>
              <a:off x="334962" y="5029205"/>
              <a:ext cx="1544951" cy="1279520"/>
            </a:xfrm>
            <a:prstGeom prst="rect">
              <a:avLst/>
            </a:prstGeom>
            <a:solidFill>
              <a:schemeClr val="bg1">
                <a:lumMod val="75000"/>
                <a:alpha val="1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96000" numCol="1" spcCol="0" rtlCol="0" fromWordArt="0" anchor="ctr" anchorCtr="0" forceAA="0" compatLnSpc="1">
              <a:prstTxWarp prst="textNoShape">
                <a:avLst/>
              </a:prstTxWarp>
              <a:noAutofit/>
            </a:bodyPr>
            <a:lstStyle/>
            <a:p>
              <a:pPr algn="ctr"/>
              <a:r>
                <a:rPr lang="en-US" altLang="ja-JP" sz="2400" dirty="0">
                  <a:solidFill>
                    <a:schemeClr val="bg1">
                      <a:lumMod val="50000"/>
                    </a:schemeClr>
                  </a:solidFill>
                  <a:latin typeface="+mn-ea"/>
                </a:rPr>
                <a:t>T</a:t>
              </a:r>
              <a:r>
                <a:rPr lang="en-US" altLang="ja-JP" dirty="0">
                  <a:solidFill>
                    <a:schemeClr val="bg1">
                      <a:lumMod val="50000"/>
                    </a:schemeClr>
                  </a:solidFill>
                  <a:latin typeface="+mn-ea"/>
                </a:rPr>
                <a:t>hreat : </a:t>
              </a:r>
              <a:br>
                <a:rPr lang="en-US" altLang="ja-JP" dirty="0">
                  <a:solidFill>
                    <a:schemeClr val="bg1">
                      <a:lumMod val="50000"/>
                    </a:schemeClr>
                  </a:solidFill>
                  <a:latin typeface="+mn-ea"/>
                </a:rPr>
              </a:br>
              <a:r>
                <a:rPr lang="ja-JP" altLang="en-US" dirty="0">
                  <a:solidFill>
                    <a:schemeClr val="bg1">
                      <a:lumMod val="50000"/>
                    </a:schemeClr>
                  </a:solidFill>
                  <a:latin typeface="+mn-ea"/>
                </a:rPr>
                <a:t>脅威</a:t>
              </a:r>
              <a:endParaRPr kumimoji="1" lang="ja-JP" altLang="en-US" dirty="0">
                <a:solidFill>
                  <a:schemeClr val="bg1">
                    <a:lumMod val="50000"/>
                  </a:schemeClr>
                </a:solidFill>
                <a:latin typeface="+mn-ea"/>
              </a:endParaRPr>
            </a:p>
          </p:txBody>
        </p:sp>
        <p:pic>
          <p:nvPicPr>
            <p:cNvPr id="52" name="グラフィックス 51" descr="警告 単色塗りつぶし">
              <a:extLst>
                <a:ext uri="{FF2B5EF4-FFF2-40B4-BE49-F238E27FC236}">
                  <a16:creationId xmlns:a16="http://schemas.microsoft.com/office/drawing/2014/main" id="{D8A4FA49-EDAC-BDB5-1075-130D40F4C3E1}"/>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1544873" y="5980933"/>
              <a:ext cx="324000" cy="324000"/>
            </a:xfrm>
            <a:prstGeom prst="rect">
              <a:avLst/>
            </a:prstGeom>
          </p:spPr>
        </p:pic>
        <p:sp>
          <p:nvSpPr>
            <p:cNvPr id="98" name="正方形/長方形 97">
              <a:extLst>
                <a:ext uri="{FF2B5EF4-FFF2-40B4-BE49-F238E27FC236}">
                  <a16:creationId xmlns:a16="http://schemas.microsoft.com/office/drawing/2014/main" id="{B2F57AB9-EA5A-04D5-3B10-BBA0A36B1993}"/>
                </a:ext>
              </a:extLst>
            </p:cNvPr>
            <p:cNvSpPr/>
            <p:nvPr/>
          </p:nvSpPr>
          <p:spPr>
            <a:xfrm>
              <a:off x="334962" y="5779865"/>
              <a:ext cx="1544951" cy="33074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900" dirty="0">
                  <a:solidFill>
                    <a:schemeClr val="bg1">
                      <a:lumMod val="50000"/>
                    </a:schemeClr>
                  </a:solidFill>
                  <a:latin typeface="+mn-ea"/>
                </a:rPr>
                <a:t>マーケティング ･ 営業の前提を</a:t>
              </a:r>
              <a:br>
                <a:rPr lang="en-US" altLang="ja-JP" sz="900" dirty="0">
                  <a:solidFill>
                    <a:schemeClr val="bg1">
                      <a:lumMod val="50000"/>
                    </a:schemeClr>
                  </a:solidFill>
                  <a:latin typeface="+mn-ea"/>
                </a:rPr>
              </a:br>
              <a:r>
                <a:rPr lang="ja-JP" altLang="en-US" sz="900" dirty="0">
                  <a:solidFill>
                    <a:schemeClr val="bg1">
                      <a:lumMod val="50000"/>
                    </a:schemeClr>
                  </a:solidFill>
                  <a:latin typeface="+mn-ea"/>
                </a:rPr>
                <a:t>破壊する逆風</a:t>
              </a:r>
              <a:endParaRPr lang="en-US" altLang="ja-JP" sz="900" dirty="0">
                <a:solidFill>
                  <a:schemeClr val="bg1">
                    <a:lumMod val="50000"/>
                  </a:schemeClr>
                </a:solidFill>
                <a:latin typeface="+mn-ea"/>
              </a:endParaRPr>
            </a:p>
          </p:txBody>
        </p:sp>
      </p:grpSp>
      <p:sp>
        <p:nvSpPr>
          <p:cNvPr id="6" name="テキスト プレースホルダー 2">
            <a:extLst>
              <a:ext uri="{FF2B5EF4-FFF2-40B4-BE49-F238E27FC236}">
                <a16:creationId xmlns:a16="http://schemas.microsoft.com/office/drawing/2014/main" id="{B4DE0A68-4505-7553-BBE2-8AAFC2321128}"/>
              </a:ext>
            </a:extLst>
          </p:cNvPr>
          <p:cNvSpPr txBox="1">
            <a:spLocks/>
          </p:cNvSpPr>
          <p:nvPr/>
        </p:nvSpPr>
        <p:spPr>
          <a:xfrm>
            <a:off x="223044" y="914400"/>
            <a:ext cx="11745912" cy="427038"/>
          </a:xfrm>
          <a:prstGeom prst="rect">
            <a:avLst/>
          </a:prstGeom>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08000"/>
              </a:buClr>
              <a:buFont typeface="Wingdings" panose="05000000000000000000" pitchFamily="2" charset="2"/>
              <a:buChar char="n"/>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ja-JP" sz="1800" dirty="0">
                <a:latin typeface="+mn-ea"/>
                <a:ea typeface="+mn-ea"/>
              </a:rPr>
              <a:t>独自の医療</a:t>
            </a:r>
            <a:r>
              <a:rPr lang="en-US" altLang="ja-JP" sz="1800" dirty="0">
                <a:latin typeface="+mn-ea"/>
                <a:ea typeface="+mn-ea"/>
              </a:rPr>
              <a:t> </a:t>
            </a:r>
            <a:r>
              <a:rPr lang="ja-JP" altLang="en-US" sz="1800" dirty="0">
                <a:latin typeface="+mn-ea"/>
                <a:ea typeface="+mn-ea"/>
              </a:rPr>
              <a:t>･ </a:t>
            </a:r>
            <a:r>
              <a:rPr lang="ja-JP" altLang="ja-JP" sz="1800" dirty="0">
                <a:latin typeface="+mn-ea"/>
                <a:ea typeface="+mn-ea"/>
              </a:rPr>
              <a:t>衛生アセットを持つ一方、データ基盤に課題を抱える中、未来のデータ規制やAI補充を</a:t>
            </a:r>
            <a:br>
              <a:rPr lang="en-US" altLang="ja-JP" sz="1800" dirty="0">
                <a:latin typeface="+mn-ea"/>
                <a:ea typeface="+mn-ea"/>
              </a:rPr>
            </a:br>
            <a:r>
              <a:rPr lang="ja-JP" altLang="ja-JP" sz="1800" dirty="0">
                <a:latin typeface="+mn-ea"/>
                <a:ea typeface="+mn-ea"/>
              </a:rPr>
              <a:t>乗り越えるには、予防医療の国策化や小売のメディア化を捉えた「戦い方の刷新」が急務</a:t>
            </a:r>
            <a:endParaRPr lang="ja-JP" altLang="en-US" sz="1800" dirty="0">
              <a:latin typeface="+mn-ea"/>
              <a:ea typeface="+mn-ea"/>
            </a:endParaRPr>
          </a:p>
        </p:txBody>
      </p:sp>
    </p:spTree>
    <p:extLst>
      <p:ext uri="{BB962C8B-B14F-4D97-AF65-F5344CB8AC3E}">
        <p14:creationId xmlns:p14="http://schemas.microsoft.com/office/powerpoint/2010/main" val="4674128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5A528C-8F57-C6E2-9DB1-49FF3BB10F4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815F12C-8F05-8589-D24E-3F0C59E08606}"/>
              </a:ext>
            </a:extLst>
          </p:cNvPr>
          <p:cNvSpPr>
            <a:spLocks noGrp="1"/>
          </p:cNvSpPr>
          <p:nvPr>
            <p:ph type="title"/>
          </p:nvPr>
        </p:nvSpPr>
        <p:spPr>
          <a:xfrm>
            <a:off x="334963" y="1"/>
            <a:ext cx="11522075" cy="914400"/>
          </a:xfrm>
        </p:spPr>
        <p:txBody>
          <a:bodyPr/>
          <a:lstStyle/>
          <a:p>
            <a:r>
              <a:rPr kumimoji="1" lang="ja-JP" altLang="en-US" dirty="0">
                <a:latin typeface="+mn-ea"/>
                <a:ea typeface="+mn-ea"/>
              </a:rPr>
              <a:t>目指す姿と現状のギャップ</a:t>
            </a:r>
          </a:p>
        </p:txBody>
      </p:sp>
      <p:grpSp>
        <p:nvGrpSpPr>
          <p:cNvPr id="113" name="グループ化 112">
            <a:extLst>
              <a:ext uri="{FF2B5EF4-FFF2-40B4-BE49-F238E27FC236}">
                <a16:creationId xmlns:a16="http://schemas.microsoft.com/office/drawing/2014/main" id="{6C4399B2-69B9-7BD9-3EBD-96A1CD39601B}"/>
              </a:ext>
            </a:extLst>
          </p:cNvPr>
          <p:cNvGrpSpPr/>
          <p:nvPr/>
        </p:nvGrpSpPr>
        <p:grpSpPr>
          <a:xfrm>
            <a:off x="334963" y="1628775"/>
            <a:ext cx="11522075" cy="781131"/>
            <a:chOff x="334963" y="1628775"/>
            <a:chExt cx="11522075" cy="781131"/>
          </a:xfrm>
        </p:grpSpPr>
        <p:sp>
          <p:nvSpPr>
            <p:cNvPr id="50" name="正方形/長方形 49">
              <a:extLst>
                <a:ext uri="{FF2B5EF4-FFF2-40B4-BE49-F238E27FC236}">
                  <a16:creationId xmlns:a16="http://schemas.microsoft.com/office/drawing/2014/main" id="{8E8E8589-9E40-A510-9D6A-58662BBE87FB}"/>
                </a:ext>
              </a:extLst>
            </p:cNvPr>
            <p:cNvSpPr/>
            <p:nvPr/>
          </p:nvSpPr>
          <p:spPr>
            <a:xfrm>
              <a:off x="334963" y="1773627"/>
              <a:ext cx="1344168" cy="636279"/>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600" b="1" dirty="0">
                  <a:solidFill>
                    <a:srgbClr val="008D2E"/>
                  </a:solidFill>
                  <a:latin typeface="+mn-ea"/>
                </a:rPr>
                <a:t>テーマ</a:t>
              </a:r>
              <a:endParaRPr kumimoji="1" lang="ja-JP" altLang="en-US" sz="1600" dirty="0">
                <a:solidFill>
                  <a:srgbClr val="008D2E"/>
                </a:solidFill>
                <a:latin typeface="+mn-ea"/>
              </a:endParaRPr>
            </a:p>
          </p:txBody>
        </p:sp>
        <p:sp>
          <p:nvSpPr>
            <p:cNvPr id="47" name="正方形/長方形 46">
              <a:extLst>
                <a:ext uri="{FF2B5EF4-FFF2-40B4-BE49-F238E27FC236}">
                  <a16:creationId xmlns:a16="http://schemas.microsoft.com/office/drawing/2014/main" id="{2C3BA922-37F0-E989-B07F-2C2AE344C3B9}"/>
                </a:ext>
              </a:extLst>
            </p:cNvPr>
            <p:cNvSpPr/>
            <p:nvPr/>
          </p:nvSpPr>
          <p:spPr>
            <a:xfrm>
              <a:off x="1745673"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勝てる土俵の再定義</a:t>
              </a:r>
              <a:br>
                <a:rPr lang="en-US" altLang="ja-JP" sz="1050" b="1" dirty="0">
                  <a:solidFill>
                    <a:srgbClr val="008D2E"/>
                  </a:solidFill>
                  <a:latin typeface="+mn-ea"/>
                </a:rPr>
              </a:br>
              <a:r>
                <a:rPr lang="en-US" altLang="ja-JP" sz="1050" b="1" dirty="0">
                  <a:solidFill>
                    <a:srgbClr val="008D2E"/>
                  </a:solidFill>
                  <a:latin typeface="+mn-ea"/>
                </a:rPr>
                <a:t>(</a:t>
              </a:r>
              <a:r>
                <a:rPr lang="ja-JP" altLang="ja-JP" sz="1050" b="1" dirty="0">
                  <a:solidFill>
                    <a:srgbClr val="008D2E"/>
                  </a:solidFill>
                  <a:latin typeface="+mn-ea"/>
                </a:rPr>
                <a:t>予防医療×資源循環インフラ化</a:t>
              </a:r>
              <a:r>
                <a:rPr lang="en-US" altLang="ja-JP" sz="1050" b="1" dirty="0">
                  <a:solidFill>
                    <a:srgbClr val="008D2E"/>
                  </a:solidFill>
                  <a:latin typeface="+mn-ea"/>
                </a:rPr>
                <a:t>) </a:t>
              </a:r>
              <a:endParaRPr lang="ja-JP" altLang="ja-JP" sz="1050" b="1" dirty="0">
                <a:solidFill>
                  <a:srgbClr val="008D2E"/>
                </a:solidFill>
                <a:latin typeface="+mn-ea"/>
              </a:endParaRPr>
            </a:p>
          </p:txBody>
        </p:sp>
        <p:sp>
          <p:nvSpPr>
            <p:cNvPr id="48" name="background">
              <a:extLst>
                <a:ext uri="{FF2B5EF4-FFF2-40B4-BE49-F238E27FC236}">
                  <a16:creationId xmlns:a16="http://schemas.microsoft.com/office/drawing/2014/main" id="{31802255-9C2D-5D02-C7F2-3A5FAC7EE30C}"/>
                </a:ext>
              </a:extLst>
            </p:cNvPr>
            <p:cNvSpPr>
              <a:spLocks noChangeAspect="1"/>
            </p:cNvSpPr>
            <p:nvPr>
              <p:custDataLst>
                <p:tags r:id="rId1"/>
              </p:custDataLst>
            </p:nvPr>
          </p:nvSpPr>
          <p:spPr>
            <a:xfrm>
              <a:off x="1745673"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600" dirty="0">
                  <a:solidFill>
                    <a:schemeClr val="bg1"/>
                  </a:solidFill>
                  <a:latin typeface="+mn-ea"/>
                </a:rPr>
                <a:t>1</a:t>
              </a:r>
              <a:endParaRPr lang="ja-JP" altLang="en-US" sz="1600" dirty="0">
                <a:solidFill>
                  <a:schemeClr val="bg1"/>
                </a:solidFill>
                <a:latin typeface="+mn-ea"/>
              </a:endParaRPr>
            </a:p>
          </p:txBody>
        </p:sp>
        <p:pic>
          <p:nvPicPr>
            <p:cNvPr id="49" name="グラフィックス 48" descr="救急箱 単色塗りつぶし">
              <a:extLst>
                <a:ext uri="{FF2B5EF4-FFF2-40B4-BE49-F238E27FC236}">
                  <a16:creationId xmlns:a16="http://schemas.microsoft.com/office/drawing/2014/main" id="{75568D5E-A237-D33E-E948-20E5823CFB50}"/>
                </a:ext>
              </a:extLst>
            </p:cNvPr>
            <p:cNvPicPr preferRelativeResize="0">
              <a:picLocks/>
            </p:cNvPicPr>
            <p:nvPr/>
          </p:nvPicPr>
          <p:blipFill>
            <a:blip>
              <a:extLst>
                <a:ext uri="{96DAC541-7B7A-43D3-8B79-37D633B846F1}">
                  <asvg:svgBlip xmlns:asvg="http://schemas.microsoft.com/office/drawing/2016/SVG/main" r:embed="rId6"/>
                </a:ext>
              </a:extLst>
            </a:blip>
            <a:stretch>
              <a:fillRect/>
            </a:stretch>
          </p:blipFill>
          <p:spPr>
            <a:xfrm>
              <a:off x="1745673" y="1893767"/>
              <a:ext cx="360000" cy="360000"/>
            </a:xfrm>
            <a:prstGeom prst="rect">
              <a:avLst/>
            </a:prstGeom>
          </p:spPr>
        </p:pic>
        <p:sp>
          <p:nvSpPr>
            <p:cNvPr id="44" name="正方形/長方形 43">
              <a:extLst>
                <a:ext uri="{FF2B5EF4-FFF2-40B4-BE49-F238E27FC236}">
                  <a16:creationId xmlns:a16="http://schemas.microsoft.com/office/drawing/2014/main" id="{2E22F90D-F856-5FC0-40B8-CBDBD4532DD0}"/>
                </a:ext>
              </a:extLst>
            </p:cNvPr>
            <p:cNvSpPr/>
            <p:nvPr/>
          </p:nvSpPr>
          <p:spPr>
            <a:xfrm>
              <a:off x="4290150"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データ戦略</a:t>
              </a:r>
              <a:br>
                <a:rPr lang="en-US" altLang="ja-JP" sz="1050" b="1" dirty="0">
                  <a:solidFill>
                    <a:srgbClr val="008D2E"/>
                  </a:solidFill>
                  <a:latin typeface="+mn-ea"/>
                </a:rPr>
              </a:br>
              <a:r>
                <a:rPr lang="en-US" altLang="ja-JP" sz="1050" b="1" dirty="0">
                  <a:solidFill>
                    <a:srgbClr val="008D2E"/>
                  </a:solidFill>
                  <a:latin typeface="+mn-ea"/>
                </a:rPr>
                <a:t>(</a:t>
              </a:r>
              <a:r>
                <a:rPr lang="ja-JP" altLang="ja-JP" sz="1050" b="1" dirty="0">
                  <a:solidFill>
                    <a:srgbClr val="008D2E"/>
                  </a:solidFill>
                  <a:latin typeface="+mn-ea"/>
                </a:rPr>
                <a:t>リテールメディアのハッキングと</a:t>
              </a:r>
              <a:br>
                <a:rPr lang="en-US" altLang="ja-JP" sz="1050" b="1" dirty="0">
                  <a:solidFill>
                    <a:srgbClr val="008D2E"/>
                  </a:solidFill>
                  <a:latin typeface="+mn-ea"/>
                </a:rPr>
              </a:br>
              <a:r>
                <a:rPr lang="ja-JP" altLang="ja-JP" sz="1050" b="1" dirty="0">
                  <a:solidFill>
                    <a:srgbClr val="008D2E"/>
                  </a:solidFill>
                  <a:latin typeface="+mn-ea"/>
                </a:rPr>
                <a:t>二階建てデータ</a:t>
              </a:r>
              <a:r>
                <a:rPr lang="en-US" altLang="ja-JP" sz="1050" b="1" dirty="0">
                  <a:solidFill>
                    <a:srgbClr val="008D2E"/>
                  </a:solidFill>
                  <a:latin typeface="+mn-ea"/>
                </a:rPr>
                <a:t>)</a:t>
              </a:r>
            </a:p>
          </p:txBody>
        </p:sp>
        <p:sp>
          <p:nvSpPr>
            <p:cNvPr id="45" name="background">
              <a:extLst>
                <a:ext uri="{FF2B5EF4-FFF2-40B4-BE49-F238E27FC236}">
                  <a16:creationId xmlns:a16="http://schemas.microsoft.com/office/drawing/2014/main" id="{CC302DCF-38C6-AC56-D2D0-94F021197C0A}"/>
                </a:ext>
              </a:extLst>
            </p:cNvPr>
            <p:cNvSpPr>
              <a:spLocks noChangeAspect="1"/>
            </p:cNvSpPr>
            <p:nvPr>
              <p:custDataLst>
                <p:tags r:id="rId2"/>
              </p:custDataLst>
            </p:nvPr>
          </p:nvSpPr>
          <p:spPr>
            <a:xfrm>
              <a:off x="4290150"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600" dirty="0">
                  <a:solidFill>
                    <a:schemeClr val="bg1"/>
                  </a:solidFill>
                  <a:latin typeface="+mn-ea"/>
                </a:rPr>
                <a:t>2</a:t>
              </a:r>
              <a:endParaRPr lang="ja-JP" altLang="en-US" sz="1600" dirty="0">
                <a:solidFill>
                  <a:schemeClr val="bg1"/>
                </a:solidFill>
                <a:latin typeface="+mn-ea"/>
              </a:endParaRPr>
            </a:p>
          </p:txBody>
        </p:sp>
        <p:pic>
          <p:nvPicPr>
            <p:cNvPr id="46" name="グラフィックス 45" descr="パズルのピース 単色塗りつぶし">
              <a:extLst>
                <a:ext uri="{FF2B5EF4-FFF2-40B4-BE49-F238E27FC236}">
                  <a16:creationId xmlns:a16="http://schemas.microsoft.com/office/drawing/2014/main" id="{12F9CA41-9DB6-EFD3-1FF4-761CF8229C23}"/>
                </a:ext>
              </a:extLst>
            </p:cNvPr>
            <p:cNvPicPr preferRelativeResize="0">
              <a:picLocks/>
            </p:cNvPicPr>
            <p:nvPr/>
          </p:nvPicPr>
          <p:blipFill>
            <a:blip>
              <a:extLst>
                <a:ext uri="{96DAC541-7B7A-43D3-8B79-37D633B846F1}">
                  <asvg:svgBlip xmlns:asvg="http://schemas.microsoft.com/office/drawing/2016/SVG/main" r:embed="rId7"/>
                </a:ext>
              </a:extLst>
            </a:blip>
            <a:stretch>
              <a:fillRect/>
            </a:stretch>
          </p:blipFill>
          <p:spPr>
            <a:xfrm>
              <a:off x="4290150" y="1893767"/>
              <a:ext cx="360000" cy="360000"/>
            </a:xfrm>
            <a:prstGeom prst="rect">
              <a:avLst/>
            </a:prstGeom>
          </p:spPr>
        </p:pic>
        <p:sp>
          <p:nvSpPr>
            <p:cNvPr id="41" name="正方形/長方形 40">
              <a:extLst>
                <a:ext uri="{FF2B5EF4-FFF2-40B4-BE49-F238E27FC236}">
                  <a16:creationId xmlns:a16="http://schemas.microsoft.com/office/drawing/2014/main" id="{5EB8A744-3DD8-BD1E-6123-66741FD93F66}"/>
                </a:ext>
              </a:extLst>
            </p:cNvPr>
            <p:cNvSpPr/>
            <p:nvPr/>
          </p:nvSpPr>
          <p:spPr>
            <a:xfrm>
              <a:off x="6834627"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商談価値</a:t>
              </a:r>
              <a:r>
                <a:rPr lang="ja-JP" altLang="en-US" sz="1050" b="1" dirty="0">
                  <a:solidFill>
                    <a:srgbClr val="008D2E"/>
                  </a:solidFill>
                  <a:latin typeface="+mn-ea"/>
                </a:rPr>
                <a:t> </a:t>
              </a:r>
              <a:r>
                <a:rPr lang="en-US" altLang="ja-JP" sz="1050" b="1" dirty="0">
                  <a:solidFill>
                    <a:srgbClr val="008D2E"/>
                  </a:solidFill>
                  <a:latin typeface="+mn-ea"/>
                </a:rPr>
                <a:t>(</a:t>
              </a:r>
              <a:r>
                <a:rPr lang="ja-JP" altLang="ja-JP" sz="1050" b="1" dirty="0">
                  <a:solidFill>
                    <a:srgbClr val="008D2E"/>
                  </a:solidFill>
                  <a:latin typeface="+mn-ea"/>
                </a:rPr>
                <a:t>臨床データの</a:t>
              </a:r>
              <a:br>
                <a:rPr lang="en-US" altLang="ja-JP" sz="1050" b="1" dirty="0">
                  <a:solidFill>
                    <a:srgbClr val="008D2E"/>
                  </a:solidFill>
                  <a:latin typeface="+mn-ea"/>
                </a:rPr>
              </a:br>
              <a:r>
                <a:rPr lang="ja-JP" altLang="ja-JP" sz="1050" b="1" dirty="0">
                  <a:solidFill>
                    <a:srgbClr val="008D2E"/>
                  </a:solidFill>
                  <a:latin typeface="+mn-ea"/>
                </a:rPr>
                <a:t>バイヤー向け防弾ロジック化</a:t>
              </a:r>
              <a:r>
                <a:rPr lang="en-US" altLang="ja-JP" sz="1050" b="1" dirty="0">
                  <a:solidFill>
                    <a:srgbClr val="008D2E"/>
                  </a:solidFill>
                  <a:latin typeface="+mn-ea"/>
                </a:rPr>
                <a:t>)</a:t>
              </a:r>
            </a:p>
          </p:txBody>
        </p:sp>
        <p:sp>
          <p:nvSpPr>
            <p:cNvPr id="42" name="background">
              <a:extLst>
                <a:ext uri="{FF2B5EF4-FFF2-40B4-BE49-F238E27FC236}">
                  <a16:creationId xmlns:a16="http://schemas.microsoft.com/office/drawing/2014/main" id="{D0F71352-B684-5C85-94E1-A1254A0D51CE}"/>
                </a:ext>
              </a:extLst>
            </p:cNvPr>
            <p:cNvSpPr>
              <a:spLocks noChangeAspect="1"/>
            </p:cNvSpPr>
            <p:nvPr>
              <p:custDataLst>
                <p:tags r:id="rId3"/>
              </p:custDataLst>
            </p:nvPr>
          </p:nvSpPr>
          <p:spPr>
            <a:xfrm>
              <a:off x="6834625"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600" dirty="0">
                  <a:solidFill>
                    <a:schemeClr val="bg1"/>
                  </a:solidFill>
                  <a:latin typeface="+mn-ea"/>
                </a:rPr>
                <a:t>3</a:t>
              </a:r>
              <a:endParaRPr lang="ja-JP" altLang="en-US" sz="1600" dirty="0">
                <a:solidFill>
                  <a:schemeClr val="bg1"/>
                </a:solidFill>
                <a:latin typeface="+mn-ea"/>
              </a:endParaRPr>
            </a:p>
          </p:txBody>
        </p:sp>
        <p:pic>
          <p:nvPicPr>
            <p:cNvPr id="43" name="グラフィックス 42" descr="手のひらと植物 単色塗りつぶし">
              <a:extLst>
                <a:ext uri="{FF2B5EF4-FFF2-40B4-BE49-F238E27FC236}">
                  <a16:creationId xmlns:a16="http://schemas.microsoft.com/office/drawing/2014/main" id="{AA98900B-8D3A-A66A-6DF3-7703945EFA42}"/>
                </a:ext>
              </a:extLst>
            </p:cNvPr>
            <p:cNvPicPr preferRelativeResize="0">
              <a:picLocks/>
            </p:cNvPicPr>
            <p:nvPr/>
          </p:nvPicPr>
          <p:blipFill>
            <a:blip>
              <a:extLst>
                <a:ext uri="{96DAC541-7B7A-43D3-8B79-37D633B846F1}">
                  <asvg:svgBlip xmlns:asvg="http://schemas.microsoft.com/office/drawing/2016/SVG/main" r:embed="rId8"/>
                </a:ext>
              </a:extLst>
            </a:blip>
            <a:stretch>
              <a:fillRect/>
            </a:stretch>
          </p:blipFill>
          <p:spPr>
            <a:xfrm>
              <a:off x="6834626" y="1893767"/>
              <a:ext cx="360000" cy="360000"/>
            </a:xfrm>
            <a:prstGeom prst="rect">
              <a:avLst/>
            </a:prstGeom>
          </p:spPr>
        </p:pic>
        <p:sp>
          <p:nvSpPr>
            <p:cNvPr id="38" name="正方形/長方形 37">
              <a:extLst>
                <a:ext uri="{FF2B5EF4-FFF2-40B4-BE49-F238E27FC236}">
                  <a16:creationId xmlns:a16="http://schemas.microsoft.com/office/drawing/2014/main" id="{5F81C745-784F-31BF-4FBA-2B844E9731A0}"/>
                </a:ext>
              </a:extLst>
            </p:cNvPr>
            <p:cNvSpPr/>
            <p:nvPr/>
          </p:nvSpPr>
          <p:spPr>
            <a:xfrm>
              <a:off x="9379103"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組織・生産性</a:t>
              </a:r>
              <a:r>
                <a:rPr lang="en-US" altLang="ja-JP" sz="1050" b="1" dirty="0">
                  <a:solidFill>
                    <a:srgbClr val="008D2E"/>
                  </a:solidFill>
                  <a:latin typeface="+mn-ea"/>
                </a:rPr>
                <a:t> </a:t>
              </a:r>
              <a:br>
                <a:rPr lang="en-US" altLang="ja-JP" sz="1050" b="1" dirty="0">
                  <a:solidFill>
                    <a:srgbClr val="008D2E"/>
                  </a:solidFill>
                  <a:latin typeface="+mn-ea"/>
                </a:rPr>
              </a:br>
              <a:r>
                <a:rPr lang="en-US" altLang="ja-JP" sz="1050" b="1" dirty="0">
                  <a:solidFill>
                    <a:srgbClr val="008D2E"/>
                  </a:solidFill>
                  <a:latin typeface="+mn-ea"/>
                </a:rPr>
                <a:t>(</a:t>
              </a:r>
              <a:r>
                <a:rPr lang="ja-JP" altLang="ja-JP" sz="1050" b="1" dirty="0">
                  <a:solidFill>
                    <a:srgbClr val="008D2E"/>
                  </a:solidFill>
                  <a:latin typeface="+mn-ea"/>
                </a:rPr>
                <a:t>Input業務ゼロ化とリバース</a:t>
              </a:r>
              <a:r>
                <a:rPr lang="en-US" altLang="ja-JP" sz="1050" b="1" dirty="0">
                  <a:solidFill>
                    <a:srgbClr val="008D2E"/>
                  </a:solidFill>
                  <a:latin typeface="+mn-ea"/>
                </a:rPr>
                <a:t> </a:t>
              </a:r>
              <a:r>
                <a:rPr lang="ja-JP" altLang="en-US" sz="1050" b="1" dirty="0">
                  <a:solidFill>
                    <a:srgbClr val="008D2E"/>
                  </a:solidFill>
                  <a:latin typeface="+mn-ea"/>
                </a:rPr>
                <a:t>･ </a:t>
              </a:r>
              <a:br>
                <a:rPr lang="en-US" altLang="ja-JP" sz="1050" b="1" dirty="0">
                  <a:solidFill>
                    <a:srgbClr val="008D2E"/>
                  </a:solidFill>
                  <a:latin typeface="+mn-ea"/>
                </a:rPr>
              </a:br>
              <a:r>
                <a:rPr lang="ja-JP" altLang="ja-JP" sz="1050" b="1" dirty="0">
                  <a:solidFill>
                    <a:srgbClr val="008D2E"/>
                  </a:solidFill>
                  <a:latin typeface="+mn-ea"/>
                </a:rPr>
                <a:t>ロジスティクス対応</a:t>
              </a:r>
              <a:r>
                <a:rPr lang="en-US" altLang="ja-JP" sz="1050" b="1" dirty="0">
                  <a:solidFill>
                    <a:srgbClr val="008D2E"/>
                  </a:solidFill>
                  <a:latin typeface="+mn-ea"/>
                </a:rPr>
                <a:t>) </a:t>
              </a:r>
              <a:endParaRPr lang="ja-JP" altLang="ja-JP" sz="1050" b="1" dirty="0">
                <a:solidFill>
                  <a:srgbClr val="008D2E"/>
                </a:solidFill>
                <a:latin typeface="+mn-ea"/>
              </a:endParaRPr>
            </a:p>
          </p:txBody>
        </p:sp>
        <p:sp>
          <p:nvSpPr>
            <p:cNvPr id="39" name="background">
              <a:extLst>
                <a:ext uri="{FF2B5EF4-FFF2-40B4-BE49-F238E27FC236}">
                  <a16:creationId xmlns:a16="http://schemas.microsoft.com/office/drawing/2014/main" id="{CCD74816-9A37-0E53-714C-5FF8D614FF68}"/>
                </a:ext>
              </a:extLst>
            </p:cNvPr>
            <p:cNvSpPr>
              <a:spLocks noChangeAspect="1"/>
            </p:cNvSpPr>
            <p:nvPr>
              <p:custDataLst>
                <p:tags r:id="rId4"/>
              </p:custDataLst>
            </p:nvPr>
          </p:nvSpPr>
          <p:spPr>
            <a:xfrm>
              <a:off x="9379103"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600" dirty="0">
                  <a:solidFill>
                    <a:schemeClr val="bg1"/>
                  </a:solidFill>
                  <a:latin typeface="+mn-ea"/>
                </a:rPr>
                <a:t>4</a:t>
              </a:r>
              <a:endParaRPr lang="ja-JP" altLang="en-US" sz="1600" dirty="0">
                <a:solidFill>
                  <a:schemeClr val="bg1"/>
                </a:solidFill>
                <a:latin typeface="+mn-ea"/>
              </a:endParaRPr>
            </a:p>
          </p:txBody>
        </p:sp>
        <p:pic>
          <p:nvPicPr>
            <p:cNvPr id="40" name="グラフィックス 39" descr="階層 単色塗りつぶし">
              <a:extLst>
                <a:ext uri="{FF2B5EF4-FFF2-40B4-BE49-F238E27FC236}">
                  <a16:creationId xmlns:a16="http://schemas.microsoft.com/office/drawing/2014/main" id="{18F41BBC-EB2B-A8F0-1B42-0E4436455678}"/>
                </a:ext>
              </a:extLst>
            </p:cNvPr>
            <p:cNvPicPr preferRelativeResize="0">
              <a:picLocks/>
            </p:cNvPicPr>
            <p:nvPr/>
          </p:nvPicPr>
          <p:blipFill>
            <a:blip>
              <a:extLst>
                <a:ext uri="{96DAC541-7B7A-43D3-8B79-37D633B846F1}">
                  <asvg:svgBlip xmlns:asvg="http://schemas.microsoft.com/office/drawing/2016/SVG/main" r:embed="rId9"/>
                </a:ext>
              </a:extLst>
            </a:blip>
            <a:stretch>
              <a:fillRect/>
            </a:stretch>
          </p:blipFill>
          <p:spPr>
            <a:xfrm>
              <a:off x="9379102" y="1893767"/>
              <a:ext cx="360000" cy="360000"/>
            </a:xfrm>
            <a:prstGeom prst="rect">
              <a:avLst/>
            </a:prstGeom>
          </p:spPr>
        </p:pic>
      </p:grpSp>
      <p:grpSp>
        <p:nvGrpSpPr>
          <p:cNvPr id="116" name="グループ化 115">
            <a:extLst>
              <a:ext uri="{FF2B5EF4-FFF2-40B4-BE49-F238E27FC236}">
                <a16:creationId xmlns:a16="http://schemas.microsoft.com/office/drawing/2014/main" id="{019480D1-5240-CADE-5E41-030BA39552BF}"/>
              </a:ext>
            </a:extLst>
          </p:cNvPr>
          <p:cNvGrpSpPr/>
          <p:nvPr/>
        </p:nvGrpSpPr>
        <p:grpSpPr>
          <a:xfrm>
            <a:off x="334963" y="4917482"/>
            <a:ext cx="11522074" cy="1391243"/>
            <a:chOff x="334963" y="5062955"/>
            <a:chExt cx="11522074" cy="1245770"/>
          </a:xfrm>
        </p:grpSpPr>
        <p:sp>
          <p:nvSpPr>
            <p:cNvPr id="56" name="正方形/長方形 55">
              <a:extLst>
                <a:ext uri="{FF2B5EF4-FFF2-40B4-BE49-F238E27FC236}">
                  <a16:creationId xmlns:a16="http://schemas.microsoft.com/office/drawing/2014/main" id="{BACA8BBC-ED99-1585-77AD-14A0F2EB4502}"/>
                </a:ext>
              </a:extLst>
            </p:cNvPr>
            <p:cNvSpPr/>
            <p:nvPr/>
          </p:nvSpPr>
          <p:spPr>
            <a:xfrm>
              <a:off x="334963" y="5062955"/>
              <a:ext cx="1344168" cy="1245770"/>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600" b="1" dirty="0">
                  <a:solidFill>
                    <a:srgbClr val="008D2E"/>
                  </a:solidFill>
                  <a:latin typeface="+mn-ea"/>
                </a:rPr>
                <a:t>理想</a:t>
              </a:r>
              <a:br>
                <a:rPr lang="en-US" altLang="ja-JP" sz="1600" b="1" dirty="0">
                  <a:solidFill>
                    <a:srgbClr val="008D2E"/>
                  </a:solidFill>
                  <a:latin typeface="+mn-ea"/>
                </a:rPr>
              </a:br>
              <a:r>
                <a:rPr lang="en-US" altLang="ja-JP" sz="1600" b="1" dirty="0">
                  <a:solidFill>
                    <a:srgbClr val="008D2E"/>
                  </a:solidFill>
                  <a:latin typeface="+mn-ea"/>
                </a:rPr>
                <a:t>(</a:t>
              </a:r>
              <a:r>
                <a:rPr lang="ja-JP" altLang="ja-JP" sz="1600" b="1" dirty="0">
                  <a:solidFill>
                    <a:srgbClr val="008D2E"/>
                  </a:solidFill>
                  <a:latin typeface="+mn-ea"/>
                </a:rPr>
                <a:t>Agenda</a:t>
              </a:r>
              <a:r>
                <a:rPr lang="en-US" altLang="ja-JP" sz="1600" b="1" dirty="0">
                  <a:solidFill>
                    <a:srgbClr val="008D2E"/>
                  </a:solidFill>
                  <a:latin typeface="+mn-ea"/>
                </a:rPr>
                <a:t>)</a:t>
              </a:r>
              <a:endParaRPr kumimoji="1" lang="ja-JP" altLang="en-US" sz="1600" dirty="0">
                <a:solidFill>
                  <a:srgbClr val="008D2E"/>
                </a:solidFill>
                <a:latin typeface="+mn-ea"/>
              </a:endParaRPr>
            </a:p>
          </p:txBody>
        </p:sp>
        <p:sp>
          <p:nvSpPr>
            <p:cNvPr id="78" name="正方形/長方形 77">
              <a:extLst>
                <a:ext uri="{FF2B5EF4-FFF2-40B4-BE49-F238E27FC236}">
                  <a16:creationId xmlns:a16="http://schemas.microsoft.com/office/drawing/2014/main" id="{3F35813D-1D93-64CE-6930-99FE0F11230F}"/>
                </a:ext>
              </a:extLst>
            </p:cNvPr>
            <p:cNvSpPr/>
            <p:nvPr/>
          </p:nvSpPr>
          <p:spPr>
            <a:xfrm>
              <a:off x="1745672" y="5062955"/>
              <a:ext cx="2477935" cy="124577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72000" rIns="36000" bIns="36000" numCol="1" spcCol="0" rtlCol="0" fromWordArt="0" anchor="t" anchorCtr="0" forceAA="0" compatLnSpc="1">
              <a:prstTxWarp prst="textNoShape">
                <a:avLst/>
              </a:prstTxWarp>
              <a:noAutofit/>
            </a:bodyPr>
            <a:lstStyle/>
            <a:p>
              <a:pPr marL="92075" indent="-92075">
                <a:spcAft>
                  <a:spcPts val="200"/>
                </a:spcAft>
                <a:buClr>
                  <a:srgbClr val="008D2E"/>
                </a:buClr>
                <a:buFont typeface="Arial" panose="020B0604020202020204" pitchFamily="34" charset="0"/>
                <a:buChar char="•"/>
              </a:pPr>
              <a:r>
                <a:rPr lang="ja-JP" altLang="ja-JP" sz="1050" dirty="0">
                  <a:solidFill>
                    <a:schemeClr val="tx1"/>
                  </a:solidFill>
                  <a:latin typeface="+mn-ea"/>
                </a:rPr>
                <a:t>洗剤消耗戦を脱し、オーラル・キレイキレイ・OTC医薬品の強み領域へ資源を全集中</a:t>
              </a:r>
              <a:endParaRPr lang="en-US" altLang="ja-JP" sz="1050" dirty="0">
                <a:solidFill>
                  <a:schemeClr val="tx1"/>
                </a:solidFill>
                <a:latin typeface="+mn-ea"/>
              </a:endParaRPr>
            </a:p>
            <a:p>
              <a:pPr marL="92075" indent="-92075">
                <a:spcAft>
                  <a:spcPts val="200"/>
                </a:spcAft>
                <a:buClr>
                  <a:srgbClr val="008D2E"/>
                </a:buClr>
                <a:buFont typeface="Arial" panose="020B0604020202020204" pitchFamily="34" charset="0"/>
                <a:buChar char="•"/>
              </a:pPr>
              <a:r>
                <a:rPr lang="ja-JP" altLang="ja-JP" sz="1050" dirty="0">
                  <a:solidFill>
                    <a:schemeClr val="tx1"/>
                  </a:solidFill>
                  <a:latin typeface="+mn-ea"/>
                </a:rPr>
                <a:t>「国民皆歯科健診」や「Scope 3開示義務」の波を捉えて学校・自治体ルートをデジタル化し、2040年のAI自動補充システムのホワイトリストを独占する</a:t>
              </a:r>
              <a:endParaRPr lang="en-US" altLang="ja-JP" sz="1050" dirty="0">
                <a:solidFill>
                  <a:schemeClr val="tx1"/>
                </a:solidFill>
                <a:latin typeface="+mn-ea"/>
              </a:endParaRPr>
            </a:p>
          </p:txBody>
        </p:sp>
        <p:sp>
          <p:nvSpPr>
            <p:cNvPr id="80" name="正方形/長方形 79">
              <a:extLst>
                <a:ext uri="{FF2B5EF4-FFF2-40B4-BE49-F238E27FC236}">
                  <a16:creationId xmlns:a16="http://schemas.microsoft.com/office/drawing/2014/main" id="{F5B8296B-A69D-D38D-3D23-4A4A80826F7F}"/>
                </a:ext>
              </a:extLst>
            </p:cNvPr>
            <p:cNvSpPr/>
            <p:nvPr/>
          </p:nvSpPr>
          <p:spPr>
            <a:xfrm>
              <a:off x="4290148" y="5062955"/>
              <a:ext cx="2477935" cy="124577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72000" rIns="36000" bIns="36000" numCol="1" spcCol="0" rtlCol="0" fromWordArt="0" anchor="t" anchorCtr="0" forceAA="0" compatLnSpc="1">
              <a:prstTxWarp prst="textNoShape">
                <a:avLst/>
              </a:prstTxWarp>
              <a:noAutofit/>
            </a:bodyPr>
            <a:lstStyle/>
            <a:p>
              <a:pPr marL="90488" indent="-90488">
                <a:spcAft>
                  <a:spcPts val="200"/>
                </a:spcAft>
                <a:buClr>
                  <a:srgbClr val="008D2E"/>
                </a:buClr>
                <a:buFont typeface="Arial" panose="020B0604020202020204" pitchFamily="34" charset="0"/>
                <a:buChar char="•"/>
              </a:pPr>
              <a:r>
                <a:rPr lang="ja-JP" altLang="ja-JP" sz="1050" dirty="0">
                  <a:solidFill>
                    <a:schemeClr val="tx1"/>
                  </a:solidFill>
                  <a:latin typeface="+mn-ea"/>
                </a:rPr>
                <a:t>全方位D2Cの幻影を放棄し、購買データは</a:t>
              </a:r>
              <a:br>
                <a:rPr lang="en-US" altLang="ja-JP" sz="1050" dirty="0">
                  <a:solidFill>
                    <a:schemeClr val="tx1"/>
                  </a:solidFill>
                  <a:latin typeface="+mn-ea"/>
                </a:rPr>
              </a:br>
              <a:r>
                <a:rPr lang="ja-JP" altLang="ja-JP" sz="1050" dirty="0">
                  <a:solidFill>
                    <a:schemeClr val="tx1"/>
                  </a:solidFill>
                  <a:latin typeface="+mn-ea"/>
                </a:rPr>
                <a:t>最強のID-POSを握る小売のリテールメディアに「乗っかる」戦略へ転換</a:t>
              </a:r>
              <a:endParaRPr lang="en-US" altLang="ja-JP" sz="1050" dirty="0">
                <a:solidFill>
                  <a:schemeClr val="tx1"/>
                </a:solidFill>
                <a:latin typeface="+mn-ea"/>
              </a:endParaRPr>
            </a:p>
            <a:p>
              <a:pPr marL="90488" indent="-90488">
                <a:spcAft>
                  <a:spcPts val="200"/>
                </a:spcAft>
                <a:buClr>
                  <a:srgbClr val="008D2E"/>
                </a:buClr>
                <a:buFont typeface="Arial" panose="020B0604020202020204" pitchFamily="34" charset="0"/>
                <a:buChar char="•"/>
              </a:pPr>
              <a:r>
                <a:rPr lang="ja-JP" altLang="ja-JP" sz="1050" dirty="0">
                  <a:solidFill>
                    <a:schemeClr val="tx1"/>
                  </a:solidFill>
                  <a:latin typeface="+mn-ea"/>
                </a:rPr>
                <a:t>DCR</a:t>
              </a:r>
              <a:r>
                <a:rPr lang="en-US" altLang="ja-JP" sz="1050" dirty="0">
                  <a:solidFill>
                    <a:schemeClr val="tx1"/>
                  </a:solidFill>
                  <a:latin typeface="+mn-ea"/>
                </a:rPr>
                <a:t> (</a:t>
              </a:r>
              <a:r>
                <a:rPr lang="ja-JP" altLang="ja-JP" sz="1050" dirty="0">
                  <a:solidFill>
                    <a:schemeClr val="tx1"/>
                  </a:solidFill>
                  <a:latin typeface="+mn-ea"/>
                </a:rPr>
                <a:t>データクリーンルーム</a:t>
              </a:r>
              <a:r>
                <a:rPr lang="en-US" altLang="ja-JP" sz="1050" dirty="0">
                  <a:solidFill>
                    <a:schemeClr val="tx1"/>
                  </a:solidFill>
                  <a:latin typeface="+mn-ea"/>
                </a:rPr>
                <a:t>) </a:t>
              </a:r>
              <a:r>
                <a:rPr lang="ja-JP" altLang="ja-JP" sz="1050" dirty="0">
                  <a:solidFill>
                    <a:schemeClr val="tx1"/>
                  </a:solidFill>
                  <a:latin typeface="+mn-ea"/>
                </a:rPr>
                <a:t>で小売データを</a:t>
              </a:r>
              <a:br>
                <a:rPr lang="en-US" altLang="ja-JP" sz="1050" dirty="0">
                  <a:solidFill>
                    <a:schemeClr val="tx1"/>
                  </a:solidFill>
                  <a:latin typeface="+mn-ea"/>
                </a:rPr>
              </a:br>
              <a:r>
                <a:rPr lang="ja-JP" altLang="ja-JP" sz="1050" dirty="0">
                  <a:solidFill>
                    <a:schemeClr val="tx1"/>
                  </a:solidFill>
                  <a:latin typeface="+mn-ea"/>
                </a:rPr>
                <a:t>高度利用しつつ、自社は「歯科アプリ」等の</a:t>
              </a:r>
              <a:br>
                <a:rPr lang="en-US" altLang="ja-JP" sz="1050" dirty="0">
                  <a:solidFill>
                    <a:schemeClr val="tx1"/>
                  </a:solidFill>
                  <a:latin typeface="+mn-ea"/>
                </a:rPr>
              </a:br>
              <a:r>
                <a:rPr lang="ja-JP" altLang="ja-JP" sz="1050" dirty="0">
                  <a:solidFill>
                    <a:schemeClr val="tx1"/>
                  </a:solidFill>
                  <a:latin typeface="+mn-ea"/>
                </a:rPr>
                <a:t>専門ニッチデータのみを直接蓄積</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独占する</a:t>
              </a:r>
              <a:endParaRPr kumimoji="1" lang="ja-JP" altLang="en-US" sz="1050" dirty="0">
                <a:solidFill>
                  <a:srgbClr val="2E7D32"/>
                </a:solidFill>
                <a:latin typeface="+mn-ea"/>
              </a:endParaRPr>
            </a:p>
          </p:txBody>
        </p:sp>
        <p:sp>
          <p:nvSpPr>
            <p:cNvPr id="82" name="正方形/長方形 81">
              <a:extLst>
                <a:ext uri="{FF2B5EF4-FFF2-40B4-BE49-F238E27FC236}">
                  <a16:creationId xmlns:a16="http://schemas.microsoft.com/office/drawing/2014/main" id="{0DB8FCAC-2825-11E9-8918-3F1D3030F5E4}"/>
                </a:ext>
              </a:extLst>
            </p:cNvPr>
            <p:cNvSpPr/>
            <p:nvPr/>
          </p:nvSpPr>
          <p:spPr>
            <a:xfrm>
              <a:off x="6834624" y="5062955"/>
              <a:ext cx="2477935" cy="124577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72000" rIns="36000" bIns="36000" numCol="1" spcCol="0" rtlCol="0" fromWordArt="0" anchor="t" anchorCtr="0" forceAA="0" compatLnSpc="1">
              <a:prstTxWarp prst="textNoShape">
                <a:avLst/>
              </a:prstTxWarp>
              <a:noAutofit/>
            </a:bodyPr>
            <a:lstStyle/>
            <a:p>
              <a:pPr marL="87313" indent="-87313">
                <a:spcAft>
                  <a:spcPts val="200"/>
                </a:spcAft>
                <a:buClr>
                  <a:srgbClr val="008D2E"/>
                </a:buClr>
                <a:buFont typeface="Arial" panose="020B0604020202020204" pitchFamily="34" charset="0"/>
                <a:buChar char="•"/>
              </a:pPr>
              <a:r>
                <a:rPr lang="ja-JP" altLang="ja-JP" sz="1050" dirty="0">
                  <a:solidFill>
                    <a:schemeClr val="tx1"/>
                  </a:solidFill>
                  <a:latin typeface="+mn-ea"/>
                </a:rPr>
                <a:t>営業を「値引き交渉」からバイヤーの社内政治を生き残らせるソリューション提案へシフト</a:t>
              </a:r>
              <a:endParaRPr lang="en-US" altLang="ja-JP" sz="1050" dirty="0">
                <a:solidFill>
                  <a:schemeClr val="tx1"/>
                </a:solidFill>
                <a:latin typeface="+mn-ea"/>
              </a:endParaRPr>
            </a:p>
            <a:p>
              <a:pPr marL="87313" indent="-87313">
                <a:spcAft>
                  <a:spcPts val="200"/>
                </a:spcAft>
                <a:buClr>
                  <a:srgbClr val="008D2E"/>
                </a:buClr>
                <a:buFont typeface="Arial" panose="020B0604020202020204" pitchFamily="34" charset="0"/>
                <a:buChar char="•"/>
              </a:pPr>
              <a:r>
                <a:rPr lang="ja-JP" altLang="ja-JP" sz="1050" dirty="0">
                  <a:solidFill>
                    <a:schemeClr val="tx1"/>
                  </a:solidFill>
                  <a:latin typeface="+mn-ea"/>
                </a:rPr>
                <a:t>社内の臨床</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行動データをGCPで統合し</a:t>
              </a:r>
              <a:br>
                <a:rPr lang="en-US" altLang="ja-JP" sz="1050" dirty="0">
                  <a:solidFill>
                    <a:schemeClr val="tx1"/>
                  </a:solidFill>
                  <a:latin typeface="+mn-ea"/>
                </a:rPr>
              </a:br>
              <a:r>
                <a:rPr lang="ja-JP" altLang="ja-JP" sz="1050" dirty="0">
                  <a:solidFill>
                    <a:schemeClr val="tx1"/>
                  </a:solidFill>
                  <a:latin typeface="+mn-ea"/>
                </a:rPr>
                <a:t>バイヤーが小売の本部システム監査を論破</a:t>
              </a:r>
              <a:br>
                <a:rPr lang="en-US" altLang="ja-JP" sz="1050" dirty="0">
                  <a:solidFill>
                    <a:schemeClr val="tx1"/>
                  </a:solidFill>
                  <a:latin typeface="+mn-ea"/>
                </a:rPr>
              </a:br>
              <a:r>
                <a:rPr lang="ja-JP" altLang="ja-JP" sz="1050" dirty="0">
                  <a:solidFill>
                    <a:schemeClr val="tx1"/>
                  </a:solidFill>
                  <a:latin typeface="+mn-ea"/>
                </a:rPr>
                <a:t>するための「カテゴリLTV</a:t>
              </a:r>
              <a:r>
                <a:rPr lang="en-US" altLang="ja-JP" sz="1050" dirty="0">
                  <a:solidFill>
                    <a:schemeClr val="tx1"/>
                  </a:solidFill>
                  <a:latin typeface="+mn-ea"/>
                </a:rPr>
                <a:t> (</a:t>
              </a:r>
              <a:r>
                <a:rPr lang="ja-JP" altLang="ja-JP" sz="1050" dirty="0">
                  <a:solidFill>
                    <a:schemeClr val="tx1"/>
                  </a:solidFill>
                  <a:latin typeface="+mn-ea"/>
                </a:rPr>
                <a:t>客単価×継続</a:t>
              </a:r>
              <a:br>
                <a:rPr lang="en-US" altLang="ja-JP" sz="1050" dirty="0">
                  <a:solidFill>
                    <a:schemeClr val="tx1"/>
                  </a:solidFill>
                  <a:latin typeface="+mn-ea"/>
                </a:rPr>
              </a:br>
              <a:r>
                <a:rPr lang="ja-JP" altLang="ja-JP" sz="1050" dirty="0">
                  <a:solidFill>
                    <a:schemeClr val="tx1"/>
                  </a:solidFill>
                  <a:latin typeface="+mn-ea"/>
                </a:rPr>
                <a:t>年数</a:t>
              </a:r>
              <a:r>
                <a:rPr lang="en-US" altLang="ja-JP" sz="1050" dirty="0">
                  <a:solidFill>
                    <a:schemeClr val="tx1"/>
                  </a:solidFill>
                  <a:latin typeface="+mn-ea"/>
                </a:rPr>
                <a:t>) </a:t>
              </a:r>
              <a:r>
                <a:rPr lang="ja-JP" altLang="ja-JP" sz="1050" dirty="0">
                  <a:solidFill>
                    <a:schemeClr val="tx1"/>
                  </a:solidFill>
                  <a:latin typeface="+mn-ea"/>
                </a:rPr>
                <a:t>向上予測」や「炭素効率」へ瞬時に</a:t>
              </a:r>
              <a:br>
                <a:rPr lang="en-US" altLang="ja-JP" sz="1050" dirty="0">
                  <a:solidFill>
                    <a:schemeClr val="tx1"/>
                  </a:solidFill>
                  <a:latin typeface="+mn-ea"/>
                </a:rPr>
              </a:br>
              <a:r>
                <a:rPr lang="ja-JP" altLang="ja-JP" sz="1050" dirty="0">
                  <a:solidFill>
                    <a:schemeClr val="tx1"/>
                  </a:solidFill>
                  <a:latin typeface="+mn-ea"/>
                </a:rPr>
                <a:t>自動変換して現場へ供給する</a:t>
              </a:r>
            </a:p>
          </p:txBody>
        </p:sp>
        <p:sp>
          <p:nvSpPr>
            <p:cNvPr id="84" name="正方形/長方形 83">
              <a:extLst>
                <a:ext uri="{FF2B5EF4-FFF2-40B4-BE49-F238E27FC236}">
                  <a16:creationId xmlns:a16="http://schemas.microsoft.com/office/drawing/2014/main" id="{AAF95FBD-F02E-C5D6-3ED8-4CF64AD37936}"/>
                </a:ext>
              </a:extLst>
            </p:cNvPr>
            <p:cNvSpPr/>
            <p:nvPr/>
          </p:nvSpPr>
          <p:spPr>
            <a:xfrm>
              <a:off x="9379102" y="5062955"/>
              <a:ext cx="2477935" cy="124577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72000" rIns="36000" bIns="36000" numCol="1" spcCol="0" rtlCol="0" fromWordArt="0" anchor="t" anchorCtr="0" forceAA="0" compatLnSpc="1">
              <a:prstTxWarp prst="textNoShape">
                <a:avLst/>
              </a:prstTxWarp>
              <a:noAutofit/>
            </a:bodyPr>
            <a:lstStyle/>
            <a:p>
              <a:pPr marL="92075" indent="-87313">
                <a:spcAft>
                  <a:spcPts val="200"/>
                </a:spcAft>
                <a:buClr>
                  <a:srgbClr val="008D2E"/>
                </a:buClr>
                <a:buFont typeface="Arial" panose="020B0604020202020204" pitchFamily="34" charset="0"/>
                <a:buChar char="•"/>
              </a:pPr>
              <a:r>
                <a:rPr lang="ja-JP" altLang="ja-JP" sz="1050" dirty="0">
                  <a:solidFill>
                    <a:schemeClr val="tx1"/>
                  </a:solidFill>
                  <a:latin typeface="+mn-ea"/>
                </a:rPr>
                <a:t>生成AI</a:t>
              </a:r>
              <a:r>
                <a:rPr lang="en-US" altLang="ja-JP" sz="1050" dirty="0">
                  <a:solidFill>
                    <a:schemeClr val="tx1"/>
                  </a:solidFill>
                  <a:latin typeface="+mn-ea"/>
                </a:rPr>
                <a:t>(</a:t>
              </a:r>
              <a:r>
                <a:rPr lang="ja-JP" altLang="ja-JP" sz="1050" dirty="0">
                  <a:solidFill>
                    <a:schemeClr val="tx1"/>
                  </a:solidFill>
                  <a:latin typeface="+mn-ea"/>
                </a:rPr>
                <a:t>Libra等</a:t>
              </a:r>
              <a:r>
                <a:rPr lang="en-US" altLang="ja-JP" sz="1050" dirty="0">
                  <a:solidFill>
                    <a:schemeClr val="tx1"/>
                  </a:solidFill>
                  <a:latin typeface="+mn-ea"/>
                </a:rPr>
                <a:t>)</a:t>
              </a:r>
              <a:r>
                <a:rPr lang="ja-JP" altLang="ja-JP" sz="1050" dirty="0">
                  <a:solidFill>
                    <a:schemeClr val="tx1"/>
                  </a:solidFill>
                  <a:latin typeface="+mn-ea"/>
                </a:rPr>
                <a:t>やSalesforce TPMで</a:t>
              </a:r>
              <a:br>
                <a:rPr lang="en-US" altLang="ja-JP" sz="1050" dirty="0">
                  <a:solidFill>
                    <a:schemeClr val="tx1"/>
                  </a:solidFill>
                  <a:latin typeface="+mn-ea"/>
                </a:rPr>
              </a:br>
              <a:r>
                <a:rPr lang="ja-JP" altLang="ja-JP" sz="1050" dirty="0">
                  <a:solidFill>
                    <a:schemeClr val="tx1"/>
                  </a:solidFill>
                  <a:latin typeface="+mn-ea"/>
                </a:rPr>
                <a:t>内向き業務</a:t>
              </a:r>
              <a:r>
                <a:rPr lang="en-US" altLang="ja-JP" sz="1050" dirty="0">
                  <a:solidFill>
                    <a:schemeClr val="tx1"/>
                  </a:solidFill>
                  <a:latin typeface="+mn-ea"/>
                </a:rPr>
                <a:t>(</a:t>
              </a:r>
              <a:r>
                <a:rPr lang="ja-JP" altLang="ja-JP" sz="1050" dirty="0">
                  <a:solidFill>
                    <a:schemeClr val="tx1"/>
                  </a:solidFill>
                  <a:latin typeface="+mn-ea"/>
                </a:rPr>
                <a:t>Input業務</a:t>
              </a:r>
              <a:r>
                <a:rPr lang="en-US" altLang="ja-JP" sz="1050" dirty="0">
                  <a:solidFill>
                    <a:schemeClr val="tx1"/>
                  </a:solidFill>
                  <a:latin typeface="+mn-ea"/>
                </a:rPr>
                <a:t>)</a:t>
              </a:r>
              <a:r>
                <a:rPr lang="ja-JP" altLang="ja-JP" sz="1050" dirty="0">
                  <a:solidFill>
                    <a:schemeClr val="tx1"/>
                  </a:solidFill>
                  <a:latin typeface="+mn-ea"/>
                </a:rPr>
                <a:t>を完全自動化し、現場の事務作業時間を構造的に「ゼロ」化</a:t>
              </a:r>
              <a:endParaRPr lang="en-US" altLang="ja-JP" sz="1050" dirty="0">
                <a:solidFill>
                  <a:schemeClr val="tx1"/>
                </a:solidFill>
                <a:latin typeface="+mn-ea"/>
              </a:endParaRPr>
            </a:p>
            <a:p>
              <a:pPr marL="92075" indent="-87313">
                <a:spcAft>
                  <a:spcPts val="200"/>
                </a:spcAft>
                <a:buClr>
                  <a:srgbClr val="008D2E"/>
                </a:buClr>
                <a:buFont typeface="Arial" panose="020B0604020202020204" pitchFamily="34" charset="0"/>
                <a:buChar char="•"/>
              </a:pPr>
              <a:r>
                <a:rPr lang="ja-JP" altLang="ja-JP" sz="1050" dirty="0">
                  <a:solidFill>
                    <a:schemeClr val="tx1"/>
                  </a:solidFill>
                  <a:latin typeface="+mn-ea"/>
                </a:rPr>
                <a:t>創出した時間で、小売の「環境対策部</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物流部」と自社専門集団を直結させ、実店舗が抱える「店頭での資源回収オペレーション」の重圧を組織総力戦で解決するサステナパートナーへ進化する</a:t>
              </a:r>
            </a:p>
          </p:txBody>
        </p:sp>
      </p:grpSp>
      <p:grpSp>
        <p:nvGrpSpPr>
          <p:cNvPr id="14" name="グループ化 13">
            <a:extLst>
              <a:ext uri="{FF2B5EF4-FFF2-40B4-BE49-F238E27FC236}">
                <a16:creationId xmlns:a16="http://schemas.microsoft.com/office/drawing/2014/main" id="{132865CB-58CB-092F-EDC0-63740432DCF0}"/>
              </a:ext>
            </a:extLst>
          </p:cNvPr>
          <p:cNvGrpSpPr/>
          <p:nvPr/>
        </p:nvGrpSpPr>
        <p:grpSpPr>
          <a:xfrm>
            <a:off x="334963" y="2514168"/>
            <a:ext cx="11522074" cy="1053281"/>
            <a:chOff x="334963" y="2514168"/>
            <a:chExt cx="11522074" cy="1053281"/>
          </a:xfrm>
        </p:grpSpPr>
        <p:sp>
          <p:nvSpPr>
            <p:cNvPr id="77" name="正方形/長方形 76">
              <a:extLst>
                <a:ext uri="{FF2B5EF4-FFF2-40B4-BE49-F238E27FC236}">
                  <a16:creationId xmlns:a16="http://schemas.microsoft.com/office/drawing/2014/main" id="{F81D3A30-DD09-1AF7-8B9E-45051C248BF0}"/>
                </a:ext>
              </a:extLst>
            </p:cNvPr>
            <p:cNvSpPr/>
            <p:nvPr/>
          </p:nvSpPr>
          <p:spPr>
            <a:xfrm>
              <a:off x="334963" y="2514168"/>
              <a:ext cx="1344168" cy="1053281"/>
            </a:xfrm>
            <a:prstGeom prst="rect">
              <a:avLst/>
            </a:prstGeom>
            <a:solidFill>
              <a:schemeClr val="bg1">
                <a:lumMod val="50000"/>
                <a:alpha val="1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600" b="1" dirty="0">
                  <a:solidFill>
                    <a:schemeClr val="bg1">
                      <a:lumMod val="50000"/>
                    </a:schemeClr>
                  </a:solidFill>
                  <a:latin typeface="+mn-ea"/>
                </a:rPr>
                <a:t>現状</a:t>
              </a:r>
              <a:r>
                <a:rPr lang="en-US" altLang="ja-JP" sz="1600" b="1" dirty="0">
                  <a:solidFill>
                    <a:schemeClr val="bg1">
                      <a:lumMod val="50000"/>
                    </a:schemeClr>
                  </a:solidFill>
                  <a:latin typeface="+mn-ea"/>
                </a:rPr>
                <a:t> </a:t>
              </a:r>
              <a:br>
                <a:rPr lang="en-US" altLang="ja-JP" sz="1600" b="1" dirty="0">
                  <a:solidFill>
                    <a:schemeClr val="bg1">
                      <a:lumMod val="50000"/>
                    </a:schemeClr>
                  </a:solidFill>
                  <a:latin typeface="+mn-ea"/>
                </a:rPr>
              </a:br>
              <a:r>
                <a:rPr lang="en-US" altLang="ja-JP" sz="1600" b="1" dirty="0">
                  <a:solidFill>
                    <a:schemeClr val="bg1">
                      <a:lumMod val="50000"/>
                    </a:schemeClr>
                  </a:solidFill>
                  <a:latin typeface="+mn-ea"/>
                </a:rPr>
                <a:t>(</a:t>
              </a:r>
              <a:r>
                <a:rPr lang="ja-JP" altLang="ja-JP" sz="1600" b="1" dirty="0">
                  <a:solidFill>
                    <a:schemeClr val="bg1">
                      <a:lumMod val="50000"/>
                    </a:schemeClr>
                  </a:solidFill>
                  <a:latin typeface="+mn-ea"/>
                </a:rPr>
                <a:t>As-Is</a:t>
              </a:r>
              <a:r>
                <a:rPr lang="en-US" altLang="ja-JP" sz="1600" b="1" dirty="0">
                  <a:solidFill>
                    <a:schemeClr val="bg1">
                      <a:lumMod val="50000"/>
                    </a:schemeClr>
                  </a:solidFill>
                  <a:latin typeface="+mn-ea"/>
                </a:rPr>
                <a:t>)</a:t>
              </a:r>
              <a:endParaRPr kumimoji="1" lang="ja-JP" altLang="en-US" sz="1600" dirty="0">
                <a:solidFill>
                  <a:schemeClr val="bg1">
                    <a:lumMod val="50000"/>
                  </a:schemeClr>
                </a:solidFill>
                <a:latin typeface="+mn-ea"/>
              </a:endParaRPr>
            </a:p>
          </p:txBody>
        </p:sp>
        <p:sp>
          <p:nvSpPr>
            <p:cNvPr id="79" name="正方形/長方形 78">
              <a:extLst>
                <a:ext uri="{FF2B5EF4-FFF2-40B4-BE49-F238E27FC236}">
                  <a16:creationId xmlns:a16="http://schemas.microsoft.com/office/drawing/2014/main" id="{D7E21CF5-C409-5B24-C69D-4CF4A5D33D4F}"/>
                </a:ext>
              </a:extLst>
            </p:cNvPr>
            <p:cNvSpPr/>
            <p:nvPr/>
          </p:nvSpPr>
          <p:spPr>
            <a:xfrm>
              <a:off x="1745672" y="2514168"/>
              <a:ext cx="2477935" cy="1053281"/>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87313" indent="-87313">
                <a:spcAft>
                  <a:spcPts val="200"/>
                </a:spcAft>
                <a:buClr>
                  <a:srgbClr val="008D2E"/>
                </a:buClr>
                <a:buFont typeface="Arial" panose="020B0604020202020204" pitchFamily="34" charset="0"/>
                <a:buChar char="•"/>
              </a:pPr>
              <a:r>
                <a:rPr lang="ja-JP" altLang="ja-JP" sz="1050" dirty="0">
                  <a:solidFill>
                    <a:schemeClr val="tx1"/>
                  </a:solidFill>
                  <a:latin typeface="+mn-ea"/>
                </a:rPr>
                <a:t>P&amp;G</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花王が量とコストで圧倒的優位に</a:t>
              </a:r>
              <a:br>
                <a:rPr lang="en-US" altLang="ja-JP" sz="1050" dirty="0">
                  <a:solidFill>
                    <a:schemeClr val="tx1"/>
                  </a:solidFill>
                  <a:latin typeface="+mn-ea"/>
                </a:rPr>
              </a:br>
              <a:r>
                <a:rPr lang="ja-JP" altLang="ja-JP" sz="1050" dirty="0">
                  <a:solidFill>
                    <a:schemeClr val="tx1"/>
                  </a:solidFill>
                  <a:latin typeface="+mn-ea"/>
                </a:rPr>
                <a:t>立つ衣料用洗剤等のコモディティ領域で、</a:t>
              </a:r>
              <a:br>
                <a:rPr lang="en-US" altLang="ja-JP" sz="1050" dirty="0">
                  <a:solidFill>
                    <a:schemeClr val="tx1"/>
                  </a:solidFill>
                  <a:latin typeface="+mn-ea"/>
                </a:rPr>
              </a:br>
              <a:r>
                <a:rPr lang="ja-JP" altLang="ja-JP" sz="1050" dirty="0">
                  <a:solidFill>
                    <a:schemeClr val="tx1"/>
                  </a:solidFill>
                  <a:latin typeface="+mn-ea"/>
                </a:rPr>
                <a:t>いまだ目先の特売や値引きの条件交渉に</a:t>
              </a:r>
              <a:br>
                <a:rPr lang="en-US" altLang="ja-JP" sz="1050" dirty="0">
                  <a:solidFill>
                    <a:schemeClr val="tx1"/>
                  </a:solidFill>
                  <a:latin typeface="+mn-ea"/>
                </a:rPr>
              </a:br>
              <a:r>
                <a:rPr lang="ja-JP" altLang="ja-JP" sz="1050" dirty="0">
                  <a:solidFill>
                    <a:schemeClr val="tx1"/>
                  </a:solidFill>
                  <a:latin typeface="+mn-ea"/>
                </a:rPr>
                <a:t>多くの経営資源を割かれ続けている</a:t>
              </a:r>
              <a:endParaRPr kumimoji="1" lang="ja-JP" altLang="en-US" sz="1050" dirty="0">
                <a:solidFill>
                  <a:schemeClr val="tx1"/>
                </a:solidFill>
                <a:latin typeface="+mn-ea"/>
              </a:endParaRPr>
            </a:p>
          </p:txBody>
        </p:sp>
        <p:sp>
          <p:nvSpPr>
            <p:cNvPr id="81" name="正方形/長方形 80">
              <a:extLst>
                <a:ext uri="{FF2B5EF4-FFF2-40B4-BE49-F238E27FC236}">
                  <a16:creationId xmlns:a16="http://schemas.microsoft.com/office/drawing/2014/main" id="{83F05736-B027-090A-9768-EB73FEAF52A6}"/>
                </a:ext>
              </a:extLst>
            </p:cNvPr>
            <p:cNvSpPr/>
            <p:nvPr/>
          </p:nvSpPr>
          <p:spPr>
            <a:xfrm>
              <a:off x="4290148" y="2514168"/>
              <a:ext cx="2477935" cy="1053281"/>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92075" indent="-92075">
                <a:spcAft>
                  <a:spcPts val="200"/>
                </a:spcAft>
                <a:buClr>
                  <a:srgbClr val="008D2E"/>
                </a:buClr>
                <a:buFont typeface="Arial" panose="020B0604020202020204" pitchFamily="34" charset="0"/>
                <a:buChar char="•"/>
              </a:pPr>
              <a:r>
                <a:rPr lang="ja-JP" altLang="ja-JP" sz="1050" dirty="0">
                  <a:solidFill>
                    <a:schemeClr val="tx1"/>
                  </a:solidFill>
                  <a:latin typeface="+mn-ea"/>
                </a:rPr>
                <a:t>全社統合のデジタル顧客基盤を持たず、</a:t>
              </a:r>
              <a:br>
                <a:rPr lang="en-US" altLang="ja-JP" sz="1050" dirty="0">
                  <a:solidFill>
                    <a:schemeClr val="tx1"/>
                  </a:solidFill>
                  <a:latin typeface="+mn-ea"/>
                </a:rPr>
              </a:br>
              <a:r>
                <a:rPr lang="ja-JP" altLang="ja-JP" sz="1050" dirty="0">
                  <a:solidFill>
                    <a:schemeClr val="tx1"/>
                  </a:solidFill>
                  <a:latin typeface="+mn-ea"/>
                </a:rPr>
                <a:t>購買データを小売のID-POSに100%依存</a:t>
              </a:r>
              <a:endParaRPr lang="en-US" altLang="ja-JP" sz="1050" dirty="0">
                <a:solidFill>
                  <a:schemeClr val="tx1"/>
                </a:solidFill>
                <a:latin typeface="+mn-ea"/>
              </a:endParaRPr>
            </a:p>
            <a:p>
              <a:pPr marL="92075" indent="-92075">
                <a:spcAft>
                  <a:spcPts val="200"/>
                </a:spcAft>
                <a:buClr>
                  <a:srgbClr val="008D2E"/>
                </a:buClr>
                <a:buFont typeface="Arial" panose="020B0604020202020204" pitchFamily="34" charset="0"/>
                <a:buChar char="•"/>
              </a:pPr>
              <a:r>
                <a:rPr lang="ja-JP" altLang="ja-JP" sz="1050" dirty="0">
                  <a:solidFill>
                    <a:schemeClr val="tx1"/>
                  </a:solidFill>
                  <a:latin typeface="+mn-ea"/>
                </a:rPr>
                <a:t>リテールメディアの活用も、単発の販促枠を</a:t>
              </a:r>
              <a:br>
                <a:rPr lang="en-US" altLang="ja-JP" sz="1050" dirty="0">
                  <a:solidFill>
                    <a:schemeClr val="tx1"/>
                  </a:solidFill>
                  <a:latin typeface="+mn-ea"/>
                </a:rPr>
              </a:br>
              <a:r>
                <a:rPr lang="ja-JP" altLang="ja-JP" sz="1050" dirty="0">
                  <a:solidFill>
                    <a:schemeClr val="tx1"/>
                  </a:solidFill>
                  <a:latin typeface="+mn-ea"/>
                </a:rPr>
                <a:t>スポットで買い付ける「従来型の広告枠買い</a:t>
              </a:r>
              <a:r>
                <a:rPr lang="en-US" altLang="ja-JP" sz="1050" dirty="0">
                  <a:solidFill>
                    <a:schemeClr val="tx1"/>
                  </a:solidFill>
                  <a:latin typeface="+mn-ea"/>
                </a:rPr>
                <a:t> </a:t>
              </a:r>
              <a:br>
                <a:rPr lang="en-US" altLang="ja-JP" sz="1050" dirty="0">
                  <a:solidFill>
                    <a:schemeClr val="tx1"/>
                  </a:solidFill>
                  <a:latin typeface="+mn-ea"/>
                </a:rPr>
              </a:br>
              <a:r>
                <a:rPr lang="en-US" altLang="ja-JP" sz="1050" dirty="0">
                  <a:solidFill>
                    <a:schemeClr val="tx1"/>
                  </a:solidFill>
                  <a:latin typeface="+mn-ea"/>
                </a:rPr>
                <a:t>(</a:t>
              </a:r>
              <a:r>
                <a:rPr lang="ja-JP" altLang="ja-JP" sz="1050" dirty="0">
                  <a:solidFill>
                    <a:schemeClr val="tx1"/>
                  </a:solidFill>
                  <a:latin typeface="+mn-ea"/>
                </a:rPr>
                <a:t>部分最適</a:t>
              </a:r>
              <a:r>
                <a:rPr lang="en-US" altLang="ja-JP" sz="1050" dirty="0">
                  <a:solidFill>
                    <a:schemeClr val="tx1"/>
                  </a:solidFill>
                  <a:latin typeface="+mn-ea"/>
                </a:rPr>
                <a:t>) </a:t>
              </a:r>
              <a:r>
                <a:rPr lang="ja-JP" altLang="ja-JP" sz="1050" dirty="0">
                  <a:solidFill>
                    <a:schemeClr val="tx1"/>
                  </a:solidFill>
                  <a:latin typeface="+mn-ea"/>
                </a:rPr>
                <a:t>」の域を出ていない</a:t>
              </a:r>
              <a:endParaRPr kumimoji="1" lang="ja-JP" altLang="en-US" sz="1050" dirty="0">
                <a:solidFill>
                  <a:schemeClr val="tx1"/>
                </a:solidFill>
                <a:latin typeface="+mn-ea"/>
              </a:endParaRPr>
            </a:p>
          </p:txBody>
        </p:sp>
        <p:sp>
          <p:nvSpPr>
            <p:cNvPr id="83" name="正方形/長方形 82">
              <a:extLst>
                <a:ext uri="{FF2B5EF4-FFF2-40B4-BE49-F238E27FC236}">
                  <a16:creationId xmlns:a16="http://schemas.microsoft.com/office/drawing/2014/main" id="{F2EE5E42-D662-4D6C-D882-D47DD2157E8A}"/>
                </a:ext>
              </a:extLst>
            </p:cNvPr>
            <p:cNvSpPr/>
            <p:nvPr/>
          </p:nvSpPr>
          <p:spPr>
            <a:xfrm>
              <a:off x="6834624" y="2514168"/>
              <a:ext cx="2477935" cy="1053281"/>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92075" indent="-92075">
                <a:spcAft>
                  <a:spcPts val="200"/>
                </a:spcAft>
                <a:buClr>
                  <a:srgbClr val="008D2E"/>
                </a:buClr>
                <a:buFont typeface="Arial" panose="020B0604020202020204" pitchFamily="34" charset="0"/>
                <a:buChar char="•"/>
              </a:pPr>
              <a:r>
                <a:rPr lang="ja-JP" altLang="ja-JP" sz="1050" dirty="0">
                  <a:solidFill>
                    <a:schemeClr val="tx1"/>
                  </a:solidFill>
                  <a:latin typeface="+mn-ea"/>
                </a:rPr>
                <a:t>R&amp;Dやマーケが持つ豊富な「臨床データ」</a:t>
              </a:r>
              <a:br>
                <a:rPr lang="en-US" altLang="ja-JP" sz="1050" dirty="0">
                  <a:solidFill>
                    <a:schemeClr val="tx1"/>
                  </a:solidFill>
                  <a:latin typeface="+mn-ea"/>
                </a:rPr>
              </a:br>
              <a:r>
                <a:rPr lang="ja-JP" altLang="ja-JP" sz="1050" dirty="0">
                  <a:solidFill>
                    <a:schemeClr val="tx1"/>
                  </a:solidFill>
                  <a:latin typeface="+mn-ea"/>
                </a:rPr>
                <a:t>や「習慣化インサイト」が、営業が商談で使う</a:t>
              </a:r>
              <a:br>
                <a:rPr lang="en-US" altLang="ja-JP" sz="1050" dirty="0">
                  <a:solidFill>
                    <a:schemeClr val="tx1"/>
                  </a:solidFill>
                  <a:latin typeface="+mn-ea"/>
                </a:rPr>
              </a:br>
              <a:r>
                <a:rPr lang="ja-JP" altLang="ja-JP" sz="1050" dirty="0">
                  <a:solidFill>
                    <a:schemeClr val="tx1"/>
                  </a:solidFill>
                  <a:latin typeface="+mn-ea"/>
                </a:rPr>
                <a:t>流通言語に翻訳されておらず、価値ある</a:t>
              </a:r>
              <a:br>
                <a:rPr lang="en-US" altLang="ja-JP" sz="1050" dirty="0">
                  <a:solidFill>
                    <a:schemeClr val="tx1"/>
                  </a:solidFill>
                  <a:latin typeface="+mn-ea"/>
                </a:rPr>
              </a:br>
              <a:r>
                <a:rPr lang="ja-JP" altLang="ja-JP" sz="1050" dirty="0">
                  <a:solidFill>
                    <a:schemeClr val="tx1"/>
                  </a:solidFill>
                  <a:latin typeface="+mn-ea"/>
                </a:rPr>
                <a:t>科学的エビデンスが社内に眠ったままである</a:t>
              </a:r>
              <a:endParaRPr kumimoji="1" lang="ja-JP" altLang="en-US" sz="1050" dirty="0">
                <a:solidFill>
                  <a:schemeClr val="tx1"/>
                </a:solidFill>
                <a:latin typeface="+mn-ea"/>
              </a:endParaRPr>
            </a:p>
          </p:txBody>
        </p:sp>
        <p:sp>
          <p:nvSpPr>
            <p:cNvPr id="85" name="正方形/長方形 84">
              <a:extLst>
                <a:ext uri="{FF2B5EF4-FFF2-40B4-BE49-F238E27FC236}">
                  <a16:creationId xmlns:a16="http://schemas.microsoft.com/office/drawing/2014/main" id="{225273A0-6211-C9A2-9BAF-993CC548551A}"/>
                </a:ext>
              </a:extLst>
            </p:cNvPr>
            <p:cNvSpPr/>
            <p:nvPr/>
          </p:nvSpPr>
          <p:spPr>
            <a:xfrm>
              <a:off x="9379102" y="2514168"/>
              <a:ext cx="2477935" cy="1053281"/>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87313" indent="-87313">
                <a:spcAft>
                  <a:spcPts val="200"/>
                </a:spcAft>
                <a:buClr>
                  <a:srgbClr val="008D2E"/>
                </a:buClr>
                <a:buFont typeface="Arial" panose="020B0604020202020204" pitchFamily="34" charset="0"/>
                <a:buChar char="•"/>
              </a:pPr>
              <a:r>
                <a:rPr lang="ja-JP" altLang="ja-JP" sz="1050" dirty="0">
                  <a:solidFill>
                    <a:schemeClr val="tx1"/>
                  </a:solidFill>
                  <a:latin typeface="+mn-ea"/>
                </a:rPr>
                <a:t>現場の営業員が資料作成や実績集計に</a:t>
              </a:r>
              <a:br>
                <a:rPr lang="en-US" altLang="ja-JP" sz="1050" dirty="0">
                  <a:solidFill>
                    <a:schemeClr val="tx1"/>
                  </a:solidFill>
                  <a:latin typeface="+mn-ea"/>
                </a:rPr>
              </a:br>
              <a:r>
                <a:rPr lang="ja-JP" altLang="ja-JP" sz="1050" dirty="0">
                  <a:solidFill>
                    <a:schemeClr val="tx1"/>
                  </a:solidFill>
                  <a:latin typeface="+mn-ea"/>
                </a:rPr>
                <a:t>忙殺されている</a:t>
              </a:r>
              <a:endParaRPr lang="en-US" altLang="ja-JP" sz="1050" dirty="0">
                <a:solidFill>
                  <a:schemeClr val="tx1"/>
                </a:solidFill>
                <a:latin typeface="+mn-ea"/>
              </a:endParaRPr>
            </a:p>
            <a:p>
              <a:pPr marL="87313" indent="-87313">
                <a:spcAft>
                  <a:spcPts val="200"/>
                </a:spcAft>
                <a:buClr>
                  <a:srgbClr val="008D2E"/>
                </a:buClr>
                <a:buFont typeface="Arial" panose="020B0604020202020204" pitchFamily="34" charset="0"/>
                <a:buChar char="•"/>
              </a:pPr>
              <a:r>
                <a:rPr lang="ja-JP" altLang="ja-JP" sz="1050" dirty="0">
                  <a:solidFill>
                    <a:schemeClr val="tx1"/>
                  </a:solidFill>
                  <a:latin typeface="+mn-ea"/>
                </a:rPr>
                <a:t>営業1人がバイヤー1人と対峙する従来の</a:t>
              </a:r>
              <a:br>
                <a:rPr lang="en-US" altLang="ja-JP" sz="1050" dirty="0">
                  <a:solidFill>
                    <a:schemeClr val="tx1"/>
                  </a:solidFill>
                  <a:latin typeface="+mn-ea"/>
                </a:rPr>
              </a:br>
              <a:r>
                <a:rPr lang="ja-JP" altLang="ja-JP" sz="1050" dirty="0">
                  <a:solidFill>
                    <a:schemeClr val="tx1"/>
                  </a:solidFill>
                  <a:latin typeface="+mn-ea"/>
                </a:rPr>
                <a:t>「バタフライ型営業」のままであり、対P&amp;G</a:t>
              </a:r>
              <a:br>
                <a:rPr lang="en-US" altLang="ja-JP" sz="1050" dirty="0">
                  <a:solidFill>
                    <a:schemeClr val="tx1"/>
                  </a:solidFill>
                  <a:latin typeface="+mn-ea"/>
                </a:rPr>
              </a:br>
              <a:r>
                <a:rPr lang="ja-JP" altLang="ja-JP" sz="1050" dirty="0">
                  <a:solidFill>
                    <a:schemeClr val="tx1"/>
                  </a:solidFill>
                  <a:latin typeface="+mn-ea"/>
                </a:rPr>
                <a:t>比7.6倍の生産性格差を放置したまま、</a:t>
              </a:r>
              <a:br>
                <a:rPr lang="en-US" altLang="ja-JP" sz="1050" dirty="0">
                  <a:solidFill>
                    <a:schemeClr val="tx1"/>
                  </a:solidFill>
                  <a:latin typeface="+mn-ea"/>
                </a:rPr>
              </a:br>
              <a:r>
                <a:rPr lang="ja-JP" altLang="ja-JP" sz="1050" dirty="0">
                  <a:solidFill>
                    <a:schemeClr val="tx1"/>
                  </a:solidFill>
                  <a:latin typeface="+mn-ea"/>
                </a:rPr>
                <a:t>小売現場のサステナ課題に対応できていない</a:t>
              </a:r>
              <a:endParaRPr kumimoji="1" lang="ja-JP" altLang="en-US" sz="1050" dirty="0">
                <a:solidFill>
                  <a:schemeClr val="tx1"/>
                </a:solidFill>
                <a:latin typeface="+mn-ea"/>
              </a:endParaRPr>
            </a:p>
          </p:txBody>
        </p:sp>
      </p:grpSp>
      <p:grpSp>
        <p:nvGrpSpPr>
          <p:cNvPr id="13" name="グループ化 12">
            <a:extLst>
              <a:ext uri="{FF2B5EF4-FFF2-40B4-BE49-F238E27FC236}">
                <a16:creationId xmlns:a16="http://schemas.microsoft.com/office/drawing/2014/main" id="{D7FBF67C-DC54-88C0-D734-4A0FB3693DC1}"/>
              </a:ext>
            </a:extLst>
          </p:cNvPr>
          <p:cNvGrpSpPr/>
          <p:nvPr/>
        </p:nvGrpSpPr>
        <p:grpSpPr>
          <a:xfrm>
            <a:off x="1745673" y="3641637"/>
            <a:ext cx="10111365" cy="0"/>
            <a:chOff x="1745673" y="3567449"/>
            <a:chExt cx="10111365" cy="0"/>
          </a:xfrm>
        </p:grpSpPr>
        <p:cxnSp>
          <p:nvCxnSpPr>
            <p:cNvPr id="58" name="直線コネクタ 57">
              <a:extLst>
                <a:ext uri="{FF2B5EF4-FFF2-40B4-BE49-F238E27FC236}">
                  <a16:creationId xmlns:a16="http://schemas.microsoft.com/office/drawing/2014/main" id="{99CC1704-B313-2618-27DD-6AB0ED4300D1}"/>
                </a:ext>
              </a:extLst>
            </p:cNvPr>
            <p:cNvCxnSpPr/>
            <p:nvPr/>
          </p:nvCxnSpPr>
          <p:spPr>
            <a:xfrm>
              <a:off x="1745673" y="3567449"/>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6" name="直線コネクタ 85">
              <a:extLst>
                <a:ext uri="{FF2B5EF4-FFF2-40B4-BE49-F238E27FC236}">
                  <a16:creationId xmlns:a16="http://schemas.microsoft.com/office/drawing/2014/main" id="{FC7754E2-9676-51A3-D630-B06B9B9D1E02}"/>
                </a:ext>
              </a:extLst>
            </p:cNvPr>
            <p:cNvCxnSpPr/>
            <p:nvPr/>
          </p:nvCxnSpPr>
          <p:spPr>
            <a:xfrm>
              <a:off x="4290149" y="3567449"/>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7" name="直線コネクタ 86">
              <a:extLst>
                <a:ext uri="{FF2B5EF4-FFF2-40B4-BE49-F238E27FC236}">
                  <a16:creationId xmlns:a16="http://schemas.microsoft.com/office/drawing/2014/main" id="{773F0416-7EB3-CF15-91CC-883307205683}"/>
                </a:ext>
              </a:extLst>
            </p:cNvPr>
            <p:cNvCxnSpPr/>
            <p:nvPr/>
          </p:nvCxnSpPr>
          <p:spPr>
            <a:xfrm>
              <a:off x="6834626" y="3567449"/>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8" name="直線コネクタ 87">
              <a:extLst>
                <a:ext uri="{FF2B5EF4-FFF2-40B4-BE49-F238E27FC236}">
                  <a16:creationId xmlns:a16="http://schemas.microsoft.com/office/drawing/2014/main" id="{3F3E1DEA-7F4C-7510-5A66-09CCAEC28F22}"/>
                </a:ext>
              </a:extLst>
            </p:cNvPr>
            <p:cNvCxnSpPr/>
            <p:nvPr/>
          </p:nvCxnSpPr>
          <p:spPr>
            <a:xfrm>
              <a:off x="9379102" y="3567449"/>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0" name="グループ化 9">
            <a:extLst>
              <a:ext uri="{FF2B5EF4-FFF2-40B4-BE49-F238E27FC236}">
                <a16:creationId xmlns:a16="http://schemas.microsoft.com/office/drawing/2014/main" id="{5153AA0E-7890-502B-5056-7F2D73676C61}"/>
              </a:ext>
            </a:extLst>
          </p:cNvPr>
          <p:cNvGrpSpPr/>
          <p:nvPr/>
        </p:nvGrpSpPr>
        <p:grpSpPr>
          <a:xfrm>
            <a:off x="1745673" y="4843295"/>
            <a:ext cx="10111365" cy="0"/>
            <a:chOff x="1745673" y="5071508"/>
            <a:chExt cx="10111365" cy="0"/>
          </a:xfrm>
        </p:grpSpPr>
        <p:cxnSp>
          <p:nvCxnSpPr>
            <p:cNvPr id="97" name="直線コネクタ 96">
              <a:extLst>
                <a:ext uri="{FF2B5EF4-FFF2-40B4-BE49-F238E27FC236}">
                  <a16:creationId xmlns:a16="http://schemas.microsoft.com/office/drawing/2014/main" id="{6B3EB5BB-98F1-5957-84BF-2B52E47952D9}"/>
                </a:ext>
              </a:extLst>
            </p:cNvPr>
            <p:cNvCxnSpPr>
              <a:cxnSpLocks/>
            </p:cNvCxnSpPr>
            <p:nvPr/>
          </p:nvCxnSpPr>
          <p:spPr>
            <a:xfrm>
              <a:off x="1745673" y="5071508"/>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8" name="直線コネクタ 97">
              <a:extLst>
                <a:ext uri="{FF2B5EF4-FFF2-40B4-BE49-F238E27FC236}">
                  <a16:creationId xmlns:a16="http://schemas.microsoft.com/office/drawing/2014/main" id="{A0CC7C45-AA60-C271-DF74-3372B9BC6BE0}"/>
                </a:ext>
              </a:extLst>
            </p:cNvPr>
            <p:cNvCxnSpPr>
              <a:cxnSpLocks/>
            </p:cNvCxnSpPr>
            <p:nvPr/>
          </p:nvCxnSpPr>
          <p:spPr>
            <a:xfrm>
              <a:off x="4290149" y="5071508"/>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9" name="直線コネクタ 98">
              <a:extLst>
                <a:ext uri="{FF2B5EF4-FFF2-40B4-BE49-F238E27FC236}">
                  <a16:creationId xmlns:a16="http://schemas.microsoft.com/office/drawing/2014/main" id="{AD5B5F43-6E44-D156-0197-D9A4A85A2561}"/>
                </a:ext>
              </a:extLst>
            </p:cNvPr>
            <p:cNvCxnSpPr>
              <a:cxnSpLocks/>
            </p:cNvCxnSpPr>
            <p:nvPr/>
          </p:nvCxnSpPr>
          <p:spPr>
            <a:xfrm>
              <a:off x="6834626" y="5071508"/>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0" name="直線コネクタ 99">
              <a:extLst>
                <a:ext uri="{FF2B5EF4-FFF2-40B4-BE49-F238E27FC236}">
                  <a16:creationId xmlns:a16="http://schemas.microsoft.com/office/drawing/2014/main" id="{39B896DC-D6FC-B805-3C83-6C09B65FA4ED}"/>
                </a:ext>
              </a:extLst>
            </p:cNvPr>
            <p:cNvCxnSpPr>
              <a:cxnSpLocks/>
            </p:cNvCxnSpPr>
            <p:nvPr/>
          </p:nvCxnSpPr>
          <p:spPr>
            <a:xfrm>
              <a:off x="9379102" y="5071508"/>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2" name="グループ化 11">
            <a:extLst>
              <a:ext uri="{FF2B5EF4-FFF2-40B4-BE49-F238E27FC236}">
                <a16:creationId xmlns:a16="http://schemas.microsoft.com/office/drawing/2014/main" id="{2DFF3864-6947-9670-03F8-875B2A7E7810}"/>
              </a:ext>
            </a:extLst>
          </p:cNvPr>
          <p:cNvGrpSpPr/>
          <p:nvPr/>
        </p:nvGrpSpPr>
        <p:grpSpPr>
          <a:xfrm>
            <a:off x="1007045" y="3715825"/>
            <a:ext cx="10849993" cy="1053282"/>
            <a:chOff x="1007045" y="3759939"/>
            <a:chExt cx="10849993" cy="1053282"/>
          </a:xfrm>
        </p:grpSpPr>
        <p:cxnSp>
          <p:nvCxnSpPr>
            <p:cNvPr id="94" name="直線矢印コネクタ 93">
              <a:extLst>
                <a:ext uri="{FF2B5EF4-FFF2-40B4-BE49-F238E27FC236}">
                  <a16:creationId xmlns:a16="http://schemas.microsoft.com/office/drawing/2014/main" id="{D25A830E-3061-B873-0984-BBF8D7F31CC6}"/>
                </a:ext>
              </a:extLst>
            </p:cNvPr>
            <p:cNvCxnSpPr>
              <a:cxnSpLocks/>
            </p:cNvCxnSpPr>
            <p:nvPr/>
          </p:nvCxnSpPr>
          <p:spPr>
            <a:xfrm>
              <a:off x="1007047" y="3828327"/>
              <a:ext cx="0" cy="964909"/>
            </a:xfrm>
            <a:prstGeom prst="straightConnector1">
              <a:avLst/>
            </a:prstGeom>
            <a:ln w="9525">
              <a:solidFill>
                <a:schemeClr val="bg1">
                  <a:lumMod val="50000"/>
                </a:schemeClr>
              </a:solidFill>
              <a:headEnd type="triangle" w="med" len="med"/>
              <a:tailEnd type="triangle"/>
            </a:ln>
          </p:spPr>
          <p:style>
            <a:lnRef idx="1">
              <a:schemeClr val="accent1"/>
            </a:lnRef>
            <a:fillRef idx="0">
              <a:schemeClr val="accent1"/>
            </a:fillRef>
            <a:effectRef idx="0">
              <a:schemeClr val="accent1"/>
            </a:effectRef>
            <a:fontRef idx="minor">
              <a:schemeClr val="tx1"/>
            </a:fontRef>
          </p:style>
        </p:cxnSp>
        <p:sp>
          <p:nvSpPr>
            <p:cNvPr id="96" name="正方形/長方形 95">
              <a:extLst>
                <a:ext uri="{FF2B5EF4-FFF2-40B4-BE49-F238E27FC236}">
                  <a16:creationId xmlns:a16="http://schemas.microsoft.com/office/drawing/2014/main" id="{446FDBA6-03D5-4A1E-C1B7-E6CD998DBD0B}"/>
                </a:ext>
              </a:extLst>
            </p:cNvPr>
            <p:cNvSpPr/>
            <p:nvPr/>
          </p:nvSpPr>
          <p:spPr>
            <a:xfrm>
              <a:off x="1007045" y="3759939"/>
              <a:ext cx="672087" cy="105328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en-US" altLang="ja-JP" sz="1600" dirty="0">
                  <a:solidFill>
                    <a:schemeClr val="bg1">
                      <a:lumMod val="50000"/>
                    </a:schemeClr>
                  </a:solidFill>
                  <a:latin typeface="+mn-ea"/>
                </a:rPr>
                <a:t>GAP</a:t>
              </a:r>
              <a:endParaRPr kumimoji="1" lang="ja-JP" altLang="en-US" sz="1600" dirty="0">
                <a:solidFill>
                  <a:schemeClr val="bg1">
                    <a:lumMod val="50000"/>
                  </a:schemeClr>
                </a:solidFill>
                <a:latin typeface="+mn-ea"/>
              </a:endParaRPr>
            </a:p>
          </p:txBody>
        </p:sp>
        <p:sp>
          <p:nvSpPr>
            <p:cNvPr id="101" name="正方形/長方形 100">
              <a:extLst>
                <a:ext uri="{FF2B5EF4-FFF2-40B4-BE49-F238E27FC236}">
                  <a16:creationId xmlns:a16="http://schemas.microsoft.com/office/drawing/2014/main" id="{0DEBD7B0-AAF5-2C31-B10D-578CE449A1C6}"/>
                </a:ext>
              </a:extLst>
            </p:cNvPr>
            <p:cNvSpPr/>
            <p:nvPr/>
          </p:nvSpPr>
          <p:spPr>
            <a:xfrm>
              <a:off x="1745672" y="3759939"/>
              <a:ext cx="2477934" cy="105328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r>
                <a:rPr lang="ja-JP" altLang="ja-JP" sz="1050" dirty="0">
                  <a:solidFill>
                    <a:srgbClr val="008000"/>
                  </a:solidFill>
                  <a:latin typeface="+mn-ea"/>
                </a:rPr>
                <a:t>洗剤領域での不毛な消耗戦から脱却できず</a:t>
              </a:r>
              <a:br>
                <a:rPr lang="en-US" altLang="ja-JP" sz="1050" dirty="0">
                  <a:solidFill>
                    <a:srgbClr val="008000"/>
                  </a:solidFill>
                  <a:latin typeface="+mn-ea"/>
                </a:rPr>
              </a:br>
              <a:r>
                <a:rPr lang="ja-JP" altLang="ja-JP" sz="1050" dirty="0">
                  <a:solidFill>
                    <a:srgbClr val="008000"/>
                  </a:solidFill>
                  <a:latin typeface="+mn-ea"/>
                </a:rPr>
                <a:t>オーラルやキレイキレイ等の強み領域を未来の</a:t>
              </a:r>
              <a:br>
                <a:rPr lang="en-US" altLang="ja-JP" sz="1050" dirty="0">
                  <a:solidFill>
                    <a:srgbClr val="008000"/>
                  </a:solidFill>
                  <a:latin typeface="+mn-ea"/>
                </a:rPr>
              </a:br>
              <a:r>
                <a:rPr lang="ja-JP" altLang="ja-JP" sz="1050" dirty="0">
                  <a:solidFill>
                    <a:srgbClr val="008000"/>
                  </a:solidFill>
                  <a:latin typeface="+mn-ea"/>
                </a:rPr>
                <a:t>AI自動補充システムへ潜り込ませるための</a:t>
              </a:r>
              <a:br>
                <a:rPr lang="en-US" altLang="ja-JP" sz="1050" dirty="0">
                  <a:solidFill>
                    <a:srgbClr val="008000"/>
                  </a:solidFill>
                  <a:latin typeface="+mn-ea"/>
                </a:rPr>
              </a:br>
              <a:r>
                <a:rPr lang="ja-JP" altLang="ja-JP" sz="1050" dirty="0">
                  <a:solidFill>
                    <a:srgbClr val="008000"/>
                  </a:solidFill>
                  <a:latin typeface="+mn-ea"/>
                </a:rPr>
                <a:t>「製品属性データの構造化</a:t>
              </a:r>
              <a:r>
                <a:rPr lang="en-US" altLang="ja-JP" sz="1050" dirty="0">
                  <a:solidFill>
                    <a:srgbClr val="008000"/>
                  </a:solidFill>
                  <a:latin typeface="+mn-ea"/>
                </a:rPr>
                <a:t> </a:t>
              </a:r>
              <a:r>
                <a:rPr lang="ja-JP" altLang="en-US" sz="1050" dirty="0">
                  <a:solidFill>
                    <a:srgbClr val="008000"/>
                  </a:solidFill>
                  <a:latin typeface="+mn-ea"/>
                </a:rPr>
                <a:t>･ </a:t>
              </a:r>
              <a:r>
                <a:rPr lang="ja-JP" altLang="ja-JP" sz="1050" dirty="0">
                  <a:solidFill>
                    <a:srgbClr val="008000"/>
                  </a:solidFill>
                  <a:latin typeface="+mn-ea"/>
                </a:rPr>
                <a:t>API化」に</a:t>
              </a:r>
              <a:br>
                <a:rPr lang="en-US" altLang="ja-JP" sz="1050" dirty="0">
                  <a:solidFill>
                    <a:srgbClr val="008000"/>
                  </a:solidFill>
                  <a:latin typeface="+mn-ea"/>
                </a:rPr>
              </a:br>
              <a:r>
                <a:rPr lang="ja-JP" altLang="ja-JP" sz="1050" dirty="0">
                  <a:solidFill>
                    <a:srgbClr val="008000"/>
                  </a:solidFill>
                  <a:latin typeface="+mn-ea"/>
                </a:rPr>
                <a:t>未着手である</a:t>
              </a:r>
              <a:endParaRPr kumimoji="1" lang="ja-JP" altLang="en-US" sz="1050" dirty="0">
                <a:solidFill>
                  <a:srgbClr val="008000"/>
                </a:solidFill>
                <a:latin typeface="+mn-ea"/>
              </a:endParaRPr>
            </a:p>
          </p:txBody>
        </p:sp>
        <p:sp>
          <p:nvSpPr>
            <p:cNvPr id="102" name="正方形/長方形 101">
              <a:extLst>
                <a:ext uri="{FF2B5EF4-FFF2-40B4-BE49-F238E27FC236}">
                  <a16:creationId xmlns:a16="http://schemas.microsoft.com/office/drawing/2014/main" id="{84C91D0F-C6C1-FB90-5560-51CB419848D5}"/>
                </a:ext>
              </a:extLst>
            </p:cNvPr>
            <p:cNvSpPr/>
            <p:nvPr/>
          </p:nvSpPr>
          <p:spPr>
            <a:xfrm>
              <a:off x="4290148" y="3759939"/>
              <a:ext cx="2477935" cy="105328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r>
                <a:rPr lang="ja-JP" altLang="ja-JP" sz="1050" dirty="0">
                  <a:solidFill>
                    <a:srgbClr val="008000"/>
                  </a:solidFill>
                  <a:latin typeface="+mn-ea"/>
                </a:rPr>
                <a:t>自社データ劣後の焦りから自前D2C</a:t>
              </a:r>
              <a:r>
                <a:rPr lang="en-US" altLang="ja-JP" sz="1050" dirty="0">
                  <a:solidFill>
                    <a:srgbClr val="008000"/>
                  </a:solidFill>
                  <a:latin typeface="+mn-ea"/>
                </a:rPr>
                <a:t> (</a:t>
              </a:r>
              <a:r>
                <a:rPr lang="ja-JP" altLang="ja-JP" sz="1050" dirty="0">
                  <a:solidFill>
                    <a:srgbClr val="008000"/>
                  </a:solidFill>
                  <a:latin typeface="+mn-ea"/>
                </a:rPr>
                <a:t>My Kaoの模倣</a:t>
              </a:r>
              <a:r>
                <a:rPr lang="en-US" altLang="ja-JP" sz="1050" dirty="0">
                  <a:solidFill>
                    <a:srgbClr val="008000"/>
                  </a:solidFill>
                  <a:latin typeface="+mn-ea"/>
                </a:rPr>
                <a:t>) </a:t>
              </a:r>
              <a:r>
                <a:rPr lang="ja-JP" altLang="ja-JP" sz="1050" dirty="0">
                  <a:solidFill>
                    <a:srgbClr val="008000"/>
                  </a:solidFill>
                  <a:latin typeface="+mn-ea"/>
                </a:rPr>
                <a:t>を追いかけるか、小売に振り回されるかの二極化に陥り</a:t>
              </a:r>
              <a:r>
                <a:rPr lang="ja-JP" altLang="en-US" sz="1050" dirty="0">
                  <a:solidFill>
                    <a:srgbClr val="008000"/>
                  </a:solidFill>
                  <a:latin typeface="+mn-ea"/>
                </a:rPr>
                <a:t>、</a:t>
              </a:r>
              <a:r>
                <a:rPr lang="ja-JP" altLang="ja-JP" sz="1050" dirty="0">
                  <a:solidFill>
                    <a:srgbClr val="008000"/>
                  </a:solidFill>
                  <a:latin typeface="+mn-ea"/>
                </a:rPr>
                <a:t>小売インフラを高度に利用する寄生型へシフトできていない</a:t>
              </a:r>
              <a:endParaRPr kumimoji="1" lang="ja-JP" altLang="en-US" sz="1050" dirty="0">
                <a:solidFill>
                  <a:srgbClr val="008000"/>
                </a:solidFill>
                <a:latin typeface="+mn-ea"/>
              </a:endParaRPr>
            </a:p>
          </p:txBody>
        </p:sp>
        <p:sp>
          <p:nvSpPr>
            <p:cNvPr id="103" name="正方形/長方形 102">
              <a:extLst>
                <a:ext uri="{FF2B5EF4-FFF2-40B4-BE49-F238E27FC236}">
                  <a16:creationId xmlns:a16="http://schemas.microsoft.com/office/drawing/2014/main" id="{AF221220-E2F8-7CDA-1DCC-140869DD8117}"/>
                </a:ext>
              </a:extLst>
            </p:cNvPr>
            <p:cNvSpPr/>
            <p:nvPr/>
          </p:nvSpPr>
          <p:spPr>
            <a:xfrm>
              <a:off x="6834623" y="3759939"/>
              <a:ext cx="2477935" cy="105328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r>
                <a:rPr lang="ja-JP" altLang="en-US" sz="1050" dirty="0">
                  <a:solidFill>
                    <a:srgbClr val="008000"/>
                  </a:solidFill>
                  <a:latin typeface="+mn-ea"/>
                </a:rPr>
                <a:t>データ</a:t>
              </a:r>
              <a:r>
                <a:rPr lang="ja-JP" altLang="ja-JP" sz="1050" dirty="0">
                  <a:solidFill>
                    <a:srgbClr val="008000"/>
                  </a:solidFill>
                  <a:latin typeface="+mn-ea"/>
                </a:rPr>
                <a:t>検証に怯えるバイヤーが最も欲している「</a:t>
              </a:r>
              <a:r>
                <a:rPr lang="ja-JP" altLang="en-US" sz="1050" dirty="0">
                  <a:solidFill>
                    <a:srgbClr val="008000"/>
                  </a:solidFill>
                  <a:latin typeface="+mn-ea"/>
                </a:rPr>
                <a:t>安心材料</a:t>
              </a:r>
              <a:r>
                <a:rPr lang="en-US" altLang="ja-JP" sz="1050" dirty="0">
                  <a:solidFill>
                    <a:srgbClr val="008000"/>
                  </a:solidFill>
                  <a:latin typeface="+mn-ea"/>
                </a:rPr>
                <a:t>(</a:t>
              </a:r>
              <a:r>
                <a:rPr lang="ja-JP" altLang="ja-JP" sz="1050" dirty="0">
                  <a:solidFill>
                    <a:srgbClr val="008000"/>
                  </a:solidFill>
                  <a:latin typeface="+mn-ea"/>
                </a:rPr>
                <a:t>チェーン全体のカテゴリLTVや炭素効率の予測データ</a:t>
              </a:r>
              <a:r>
                <a:rPr lang="en-US" altLang="ja-JP" sz="1050" dirty="0">
                  <a:solidFill>
                    <a:srgbClr val="008000"/>
                  </a:solidFill>
                  <a:latin typeface="+mn-ea"/>
                </a:rPr>
                <a:t>) </a:t>
              </a:r>
              <a:r>
                <a:rPr lang="ja-JP" altLang="ja-JP" sz="1050" dirty="0">
                  <a:solidFill>
                    <a:srgbClr val="008000"/>
                  </a:solidFill>
                  <a:latin typeface="+mn-ea"/>
                </a:rPr>
                <a:t>」ではなく、従来型の「目先の値引き</a:t>
              </a:r>
              <a:r>
                <a:rPr lang="en-US" altLang="ja-JP" sz="1050" dirty="0">
                  <a:solidFill>
                    <a:srgbClr val="008000"/>
                  </a:solidFill>
                  <a:latin typeface="+mn-ea"/>
                </a:rPr>
                <a:t> </a:t>
              </a:r>
              <a:r>
                <a:rPr lang="ja-JP" altLang="en-US" sz="1050" dirty="0">
                  <a:solidFill>
                    <a:srgbClr val="008000"/>
                  </a:solidFill>
                  <a:latin typeface="+mn-ea"/>
                </a:rPr>
                <a:t>･ </a:t>
              </a:r>
              <a:r>
                <a:rPr lang="ja-JP" altLang="ja-JP" sz="1050" dirty="0">
                  <a:solidFill>
                    <a:srgbClr val="008000"/>
                  </a:solidFill>
                  <a:latin typeface="+mn-ea"/>
                </a:rPr>
                <a:t>特売条件」を提案し続けるという商談価値のミスマッチが起きている</a:t>
              </a:r>
              <a:endParaRPr kumimoji="1" lang="ja-JP" altLang="en-US" sz="1050" dirty="0">
                <a:solidFill>
                  <a:srgbClr val="008000"/>
                </a:solidFill>
                <a:latin typeface="+mn-ea"/>
              </a:endParaRPr>
            </a:p>
          </p:txBody>
        </p:sp>
        <p:sp>
          <p:nvSpPr>
            <p:cNvPr id="104" name="正方形/長方形 103">
              <a:extLst>
                <a:ext uri="{FF2B5EF4-FFF2-40B4-BE49-F238E27FC236}">
                  <a16:creationId xmlns:a16="http://schemas.microsoft.com/office/drawing/2014/main" id="{A4B58C97-2CC4-7068-C79E-0417BE0273A2}"/>
                </a:ext>
              </a:extLst>
            </p:cNvPr>
            <p:cNvSpPr/>
            <p:nvPr/>
          </p:nvSpPr>
          <p:spPr>
            <a:xfrm>
              <a:off x="9379103" y="3759939"/>
              <a:ext cx="2477935" cy="105328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r>
                <a:rPr lang="ja-JP" altLang="en-US" sz="1050" dirty="0">
                  <a:solidFill>
                    <a:srgbClr val="008000"/>
                  </a:solidFill>
                  <a:latin typeface="+mn-ea"/>
                </a:rPr>
                <a:t>人手不足と環境規制で店舗運営 </a:t>
              </a:r>
              <a:r>
                <a:rPr lang="en-US" altLang="ja-JP" sz="1050" dirty="0">
                  <a:solidFill>
                    <a:srgbClr val="008000"/>
                  </a:solidFill>
                  <a:latin typeface="+mn-ea"/>
                </a:rPr>
                <a:t>(</a:t>
              </a:r>
              <a:r>
                <a:rPr lang="ja-JP" altLang="en-US" sz="1050" dirty="0">
                  <a:solidFill>
                    <a:srgbClr val="008000"/>
                  </a:solidFill>
                  <a:latin typeface="+mn-ea"/>
                </a:rPr>
                <a:t>逆物流含む</a:t>
              </a:r>
              <a:r>
                <a:rPr lang="en-US" altLang="ja-JP" sz="1050" dirty="0">
                  <a:solidFill>
                    <a:srgbClr val="008000"/>
                  </a:solidFill>
                  <a:latin typeface="+mn-ea"/>
                </a:rPr>
                <a:t>) </a:t>
              </a:r>
              <a:r>
                <a:rPr lang="ja-JP" altLang="en-US" sz="1050" dirty="0">
                  <a:solidFill>
                    <a:srgbClr val="008000"/>
                  </a:solidFill>
                  <a:latin typeface="+mn-ea"/>
                </a:rPr>
                <a:t>が困難にある小売に対し、組織総力戦でのアプローチができず、営業個人のウェットな</a:t>
              </a:r>
              <a:br>
                <a:rPr lang="en-US" altLang="ja-JP" sz="1050" dirty="0">
                  <a:solidFill>
                    <a:srgbClr val="008000"/>
                  </a:solidFill>
                  <a:latin typeface="+mn-ea"/>
                </a:rPr>
              </a:br>
              <a:r>
                <a:rPr lang="ja-JP" altLang="en-US" sz="1050" dirty="0">
                  <a:solidFill>
                    <a:srgbClr val="008000"/>
                  </a:solidFill>
                  <a:latin typeface="+mn-ea"/>
                </a:rPr>
                <a:t>関係性 </a:t>
              </a:r>
              <a:r>
                <a:rPr lang="en-US" altLang="ja-JP" sz="1050" dirty="0">
                  <a:solidFill>
                    <a:srgbClr val="008000"/>
                  </a:solidFill>
                  <a:latin typeface="+mn-ea"/>
                </a:rPr>
                <a:t>(</a:t>
              </a:r>
              <a:r>
                <a:rPr lang="ja-JP" altLang="en-US" sz="1050" dirty="0">
                  <a:solidFill>
                    <a:srgbClr val="008000"/>
                  </a:solidFill>
                  <a:latin typeface="+mn-ea"/>
                </a:rPr>
                <a:t>属人化</a:t>
              </a:r>
              <a:r>
                <a:rPr lang="en-US" altLang="ja-JP" sz="1050" dirty="0">
                  <a:solidFill>
                    <a:srgbClr val="008000"/>
                  </a:solidFill>
                  <a:latin typeface="+mn-ea"/>
                </a:rPr>
                <a:t>)</a:t>
              </a:r>
              <a:r>
                <a:rPr lang="ja-JP" altLang="en-US" sz="1050" dirty="0">
                  <a:solidFill>
                    <a:srgbClr val="008000"/>
                  </a:solidFill>
                  <a:latin typeface="+mn-ea"/>
                </a:rPr>
                <a:t> で乗り切ろうとしている</a:t>
              </a:r>
              <a:r>
                <a:rPr lang="en-US" sz="1050" dirty="0">
                  <a:solidFill>
                    <a:srgbClr val="008000"/>
                  </a:solidFill>
                  <a:latin typeface="+mn-ea"/>
                </a:rPr>
                <a:t>​</a:t>
              </a:r>
              <a:endParaRPr kumimoji="1" lang="ja-JP" altLang="en-US" sz="1050" dirty="0">
                <a:solidFill>
                  <a:srgbClr val="008000"/>
                </a:solidFill>
                <a:latin typeface="+mn-ea"/>
              </a:endParaRPr>
            </a:p>
          </p:txBody>
        </p:sp>
        <p:grpSp>
          <p:nvGrpSpPr>
            <p:cNvPr id="11" name="グループ化 10">
              <a:extLst>
                <a:ext uri="{FF2B5EF4-FFF2-40B4-BE49-F238E27FC236}">
                  <a16:creationId xmlns:a16="http://schemas.microsoft.com/office/drawing/2014/main" id="{3A1C6CF2-C1FD-5F2B-24DE-0E4D22CF5ED3}"/>
                </a:ext>
              </a:extLst>
            </p:cNvPr>
            <p:cNvGrpSpPr/>
            <p:nvPr/>
          </p:nvGrpSpPr>
          <p:grpSpPr>
            <a:xfrm>
              <a:off x="3863606" y="4453221"/>
              <a:ext cx="7993432" cy="360000"/>
              <a:chOff x="3863606" y="4453221"/>
              <a:chExt cx="7993432" cy="360000"/>
            </a:xfrm>
          </p:grpSpPr>
          <p:pic>
            <p:nvPicPr>
              <p:cNvPr id="106" name="グラフィックス 105" descr="階層 単色塗りつぶし">
                <a:extLst>
                  <a:ext uri="{FF2B5EF4-FFF2-40B4-BE49-F238E27FC236}">
                    <a16:creationId xmlns:a16="http://schemas.microsoft.com/office/drawing/2014/main" id="{DC770076-9742-9356-220A-20D687C9B1D8}"/>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3863606" y="4453221"/>
                <a:ext cx="360000" cy="360000"/>
              </a:xfrm>
              <a:prstGeom prst="rect">
                <a:avLst/>
              </a:prstGeom>
            </p:spPr>
          </p:pic>
          <p:pic>
            <p:nvPicPr>
              <p:cNvPr id="108" name="グラフィックス 107" descr="上階 単色塗りつぶし">
                <a:extLst>
                  <a:ext uri="{FF2B5EF4-FFF2-40B4-BE49-F238E27FC236}">
                    <a16:creationId xmlns:a16="http://schemas.microsoft.com/office/drawing/2014/main" id="{3A47F035-D05C-7793-24B3-2C6C17EE934D}"/>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6408083" y="4453221"/>
                <a:ext cx="360000" cy="360000"/>
              </a:xfrm>
              <a:prstGeom prst="rect">
                <a:avLst/>
              </a:prstGeom>
            </p:spPr>
          </p:pic>
          <p:pic>
            <p:nvPicPr>
              <p:cNvPr id="110" name="グラフィックス 109" descr="クリップボード: 混合 単色塗りつぶし">
                <a:extLst>
                  <a:ext uri="{FF2B5EF4-FFF2-40B4-BE49-F238E27FC236}">
                    <a16:creationId xmlns:a16="http://schemas.microsoft.com/office/drawing/2014/main" id="{0DF9941B-C198-D67E-3689-603500B1A1C8}"/>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8952559" y="4453221"/>
                <a:ext cx="360000" cy="360000"/>
              </a:xfrm>
              <a:prstGeom prst="rect">
                <a:avLst/>
              </a:prstGeom>
            </p:spPr>
          </p:pic>
          <p:pic>
            <p:nvPicPr>
              <p:cNvPr id="112" name="グラフィックス 111" descr="中世の甲冑 単色塗りつぶし">
                <a:extLst>
                  <a:ext uri="{FF2B5EF4-FFF2-40B4-BE49-F238E27FC236}">
                    <a16:creationId xmlns:a16="http://schemas.microsoft.com/office/drawing/2014/main" id="{21ADB8D6-D048-A987-0754-30F771B078AA}"/>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11497038" y="4453221"/>
                <a:ext cx="360000" cy="360000"/>
              </a:xfrm>
              <a:prstGeom prst="rect">
                <a:avLst/>
              </a:prstGeom>
            </p:spPr>
          </p:pic>
        </p:grpSp>
      </p:grpSp>
      <p:sp>
        <p:nvSpPr>
          <p:cNvPr id="5" name="テキスト プレースホルダー 2">
            <a:extLst>
              <a:ext uri="{FF2B5EF4-FFF2-40B4-BE49-F238E27FC236}">
                <a16:creationId xmlns:a16="http://schemas.microsoft.com/office/drawing/2014/main" id="{193C79D5-A6CD-EC85-EF81-C921294225D3}"/>
              </a:ext>
            </a:extLst>
          </p:cNvPr>
          <p:cNvSpPr txBox="1">
            <a:spLocks/>
          </p:cNvSpPr>
          <p:nvPr/>
        </p:nvSpPr>
        <p:spPr>
          <a:xfrm>
            <a:off x="223044" y="914400"/>
            <a:ext cx="11745912" cy="427038"/>
          </a:xfrm>
          <a:prstGeom prst="rect">
            <a:avLst/>
          </a:prstGeom>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08000"/>
              </a:buClr>
              <a:buFont typeface="Wingdings" panose="05000000000000000000" pitchFamily="2" charset="2"/>
              <a:buChar char="n"/>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1800" dirty="0">
                <a:latin typeface="+mn-ea"/>
                <a:ea typeface="+mn-ea"/>
              </a:rPr>
              <a:t>安売り消耗戦や属人営業といった現状から、強みを活かしたデータ連携や組織戦へ移行する上で、データ構造の遅れや</a:t>
            </a:r>
            <a:br>
              <a:rPr lang="en-US" altLang="ja-JP" sz="1800" dirty="0">
                <a:latin typeface="+mn-ea"/>
                <a:ea typeface="+mn-ea"/>
              </a:rPr>
            </a:br>
            <a:r>
              <a:rPr lang="ja-JP" altLang="en-US" sz="1800" dirty="0">
                <a:latin typeface="+mn-ea"/>
                <a:ea typeface="+mn-ea"/>
              </a:rPr>
              <a:t>商談価値のミスマッチが解消すべき致命的なギャップとなっている</a:t>
            </a:r>
          </a:p>
        </p:txBody>
      </p:sp>
    </p:spTree>
    <p:extLst>
      <p:ext uri="{BB962C8B-B14F-4D97-AF65-F5344CB8AC3E}">
        <p14:creationId xmlns:p14="http://schemas.microsoft.com/office/powerpoint/2010/main" val="2783826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10972800" cy="457200"/>
          </a:xfrm>
          <a:prstGeom prst="rect">
            <a:avLst/>
          </a:prstGeom>
          <a:noFill/>
        </p:spPr>
        <p:txBody>
          <a:bodyPr wrap="square" lIns="0" tIns="0" rIns="0" bIns="0">
            <a:spAutoFit/>
          </a:bodyPr>
          <a:lstStyle/>
          <a:p>
            <a:pPr>
              <a:lnSpc>
                <a:spcPct val="112000"/>
              </a:lnSpc>
            </a:pPr>
            <a:r>
              <a:rPr sz="1800" b="1">
                <a:solidFill>
                  <a:srgbClr val="262626"/>
                </a:solidFill>
                <a:latin typeface="Meiryo UI"/>
                <a:ea typeface="Meiryo UI"/>
              </a:rPr>
              <a:t>ギャップから真因へ ― 4つのギャップは、3つの真因で説明できる</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49808"/>
            <a:ext cx="274320" cy="274320"/>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tIns="0" rIns="0" bIns="0">
            <a:spAutoFit/>
          </a:bodyPr>
          <a:lstStyle/>
          <a:p>
            <a:pPr>
              <a:lnSpc>
                <a:spcPct val="118000"/>
              </a:lnSpc>
            </a:pPr>
            <a:r>
              <a:rPr sz="1100" b="1">
                <a:solidFill>
                  <a:srgbClr val="262626"/>
                </a:solidFill>
                <a:latin typeface="Meiryo UI"/>
                <a:ea typeface="Meiryo UI"/>
              </a:rPr>
              <a:t>前頁の4つのギャップから演繹する。共通するのは組織や意識の問題ではなく、「決めていない・持っていない・回っていない」の3つ ― ●＝主要因、○＝副次要因</a:t>
            </a:r>
          </a:p>
        </p:txBody>
      </p:sp>
      <p:sp>
        <p:nvSpPr>
          <p:cNvPr id="14" name="Rectangle 13"/>
          <p:cNvSpPr/>
          <p:nvPr/>
        </p:nvSpPr>
        <p:spPr>
          <a:xfrm>
            <a:off x="320040" y="1463040"/>
            <a:ext cx="3566160" cy="310896"/>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11480" y="1499616"/>
            <a:ext cx="3383280" cy="256032"/>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ギャップ（前頁の要約）</a:t>
            </a:r>
          </a:p>
        </p:txBody>
      </p:sp>
      <p:sp>
        <p:nvSpPr>
          <p:cNvPr id="16" name="Rectangle 15"/>
          <p:cNvSpPr/>
          <p:nvPr/>
        </p:nvSpPr>
        <p:spPr>
          <a:xfrm>
            <a:off x="3922776" y="1463040"/>
            <a:ext cx="548640" cy="310896"/>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941063" y="1472184"/>
            <a:ext cx="512064" cy="292608"/>
          </a:xfrm>
          <a:prstGeom prst="rect">
            <a:avLst/>
          </a:prstGeom>
          <a:noFill/>
        </p:spPr>
        <p:txBody>
          <a:bodyPr wrap="square" lIns="0" tIns="0" rIns="0" bIns="0">
            <a:spAutoFit/>
          </a:bodyPr>
          <a:lstStyle/>
          <a:p>
            <a:pPr>
              <a:lnSpc>
                <a:spcPct val="95000"/>
              </a:lnSpc>
            </a:pPr>
            <a:r>
              <a:rPr sz="620" b="1">
                <a:solidFill>
                  <a:srgbClr val="FFFFFF"/>
                </a:solidFill>
                <a:latin typeface="Meiryo UI"/>
                <a:ea typeface="Meiryo UI"/>
              </a:rPr>
              <a:t>真因1
決める</a:t>
            </a:r>
          </a:p>
        </p:txBody>
      </p:sp>
      <p:sp>
        <p:nvSpPr>
          <p:cNvPr id="18" name="Rectangle 17"/>
          <p:cNvSpPr/>
          <p:nvPr/>
        </p:nvSpPr>
        <p:spPr>
          <a:xfrm>
            <a:off x="4489704" y="1463040"/>
            <a:ext cx="548640" cy="310896"/>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07992" y="1472184"/>
            <a:ext cx="512064" cy="292608"/>
          </a:xfrm>
          <a:prstGeom prst="rect">
            <a:avLst/>
          </a:prstGeom>
          <a:noFill/>
        </p:spPr>
        <p:txBody>
          <a:bodyPr wrap="square" lIns="0" tIns="0" rIns="0" bIns="0">
            <a:spAutoFit/>
          </a:bodyPr>
          <a:lstStyle/>
          <a:p>
            <a:pPr>
              <a:lnSpc>
                <a:spcPct val="95000"/>
              </a:lnSpc>
            </a:pPr>
            <a:r>
              <a:rPr sz="620" b="1">
                <a:solidFill>
                  <a:srgbClr val="FFFFFF"/>
                </a:solidFill>
                <a:latin typeface="Meiryo UI"/>
                <a:ea typeface="Meiryo UI"/>
              </a:rPr>
              <a:t>真因2
持つ</a:t>
            </a:r>
          </a:p>
        </p:txBody>
      </p:sp>
      <p:sp>
        <p:nvSpPr>
          <p:cNvPr id="20" name="Rectangle 19"/>
          <p:cNvSpPr/>
          <p:nvPr/>
        </p:nvSpPr>
        <p:spPr>
          <a:xfrm>
            <a:off x="5056632" y="1463040"/>
            <a:ext cx="548640" cy="31089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074920" y="1472184"/>
            <a:ext cx="512064" cy="292608"/>
          </a:xfrm>
          <a:prstGeom prst="rect">
            <a:avLst/>
          </a:prstGeom>
          <a:noFill/>
        </p:spPr>
        <p:txBody>
          <a:bodyPr wrap="square" lIns="0" tIns="0" rIns="0" bIns="0">
            <a:spAutoFit/>
          </a:bodyPr>
          <a:lstStyle/>
          <a:p>
            <a:pPr>
              <a:lnSpc>
                <a:spcPct val="95000"/>
              </a:lnSpc>
            </a:pPr>
            <a:r>
              <a:rPr sz="620" b="1">
                <a:solidFill>
                  <a:srgbClr val="FFFFFF"/>
                </a:solidFill>
                <a:latin typeface="Meiryo UI"/>
                <a:ea typeface="Meiryo UI"/>
              </a:rPr>
              <a:t>真因3
回す</a:t>
            </a:r>
          </a:p>
        </p:txBody>
      </p:sp>
      <p:sp>
        <p:nvSpPr>
          <p:cNvPr id="22" name="Rectangle 21"/>
          <p:cNvSpPr/>
          <p:nvPr/>
        </p:nvSpPr>
        <p:spPr>
          <a:xfrm>
            <a:off x="320040" y="1810512"/>
            <a:ext cx="3566160" cy="60350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11480" y="1847088"/>
            <a:ext cx="3401568" cy="530352"/>
          </a:xfrm>
          <a:prstGeom prst="rect">
            <a:avLst/>
          </a:prstGeom>
          <a:noFill/>
        </p:spPr>
        <p:txBody>
          <a:bodyPr wrap="square" lIns="0" tIns="0" rIns="0" bIns="0">
            <a:spAutoFit/>
          </a:bodyPr>
          <a:lstStyle/>
          <a:p>
            <a:pPr>
              <a:lnSpc>
                <a:spcPct val="105000"/>
              </a:lnSpc>
            </a:pPr>
            <a:r>
              <a:rPr sz="740" b="0">
                <a:solidFill>
                  <a:srgbClr val="262626"/>
                </a:solidFill>
                <a:latin typeface="Meiryo UI"/>
                <a:ea typeface="Meiryo UI"/>
              </a:rPr>
              <a:t>GAP1 洗剤消耗戦から脱却できず、属性データの構造化・API化に未着手</a:t>
            </a:r>
          </a:p>
        </p:txBody>
      </p:sp>
      <p:sp>
        <p:nvSpPr>
          <p:cNvPr id="24" name="Rectangle 23"/>
          <p:cNvSpPr/>
          <p:nvPr/>
        </p:nvSpPr>
        <p:spPr>
          <a:xfrm>
            <a:off x="3922776" y="1810512"/>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922776" y="1947672"/>
            <a:ext cx="548640" cy="329184"/>
          </a:xfrm>
          <a:prstGeom prst="rect">
            <a:avLst/>
          </a:prstGeom>
          <a:noFill/>
        </p:spPr>
        <p:txBody>
          <a:bodyPr wrap="square" lIns="0" tIns="0" rIns="0" bIns="0">
            <a:spAutoFit/>
          </a:bodyPr>
          <a:lstStyle/>
          <a:p>
            <a:pPr>
              <a:lnSpc>
                <a:spcPct val="100000"/>
              </a:lnSpc>
            </a:pPr>
            <a:r>
              <a:rPr sz="1200" b="1">
                <a:solidFill>
                  <a:srgbClr val="C8102E"/>
                </a:solidFill>
                <a:latin typeface="Meiryo UI"/>
                <a:ea typeface="Meiryo UI"/>
              </a:rPr>
              <a:t>●</a:t>
            </a:r>
          </a:p>
        </p:txBody>
      </p:sp>
      <p:sp>
        <p:nvSpPr>
          <p:cNvPr id="26" name="Rectangle 25"/>
          <p:cNvSpPr/>
          <p:nvPr/>
        </p:nvSpPr>
        <p:spPr>
          <a:xfrm>
            <a:off x="4489704" y="1810512"/>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489704" y="1947672"/>
            <a:ext cx="548640" cy="329184"/>
          </a:xfrm>
          <a:prstGeom prst="rect">
            <a:avLst/>
          </a:prstGeom>
          <a:noFill/>
        </p:spPr>
        <p:txBody>
          <a:bodyPr wrap="square" lIns="0" tIns="0" rIns="0" bIns="0">
            <a:spAutoFit/>
          </a:bodyPr>
          <a:lstStyle/>
          <a:p>
            <a:pPr>
              <a:lnSpc>
                <a:spcPct val="100000"/>
              </a:lnSpc>
            </a:pPr>
            <a:r>
              <a:rPr sz="1200" b="1">
                <a:solidFill>
                  <a:srgbClr val="0F5E87"/>
                </a:solidFill>
                <a:latin typeface="Meiryo UI"/>
                <a:ea typeface="Meiryo UI"/>
              </a:rPr>
              <a:t>●</a:t>
            </a:r>
          </a:p>
        </p:txBody>
      </p:sp>
      <p:sp>
        <p:nvSpPr>
          <p:cNvPr id="28" name="Rectangle 27"/>
          <p:cNvSpPr/>
          <p:nvPr/>
        </p:nvSpPr>
        <p:spPr>
          <a:xfrm>
            <a:off x="5056632" y="1810512"/>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320040" y="2468880"/>
            <a:ext cx="3566160" cy="60350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11480" y="2505456"/>
            <a:ext cx="3401568" cy="530352"/>
          </a:xfrm>
          <a:prstGeom prst="rect">
            <a:avLst/>
          </a:prstGeom>
          <a:noFill/>
        </p:spPr>
        <p:txBody>
          <a:bodyPr wrap="square" lIns="0" tIns="0" rIns="0" bIns="0">
            <a:spAutoFit/>
          </a:bodyPr>
          <a:lstStyle/>
          <a:p>
            <a:pPr>
              <a:lnSpc>
                <a:spcPct val="105000"/>
              </a:lnSpc>
            </a:pPr>
            <a:r>
              <a:rPr sz="740" b="0">
                <a:solidFill>
                  <a:srgbClr val="262626"/>
                </a:solidFill>
                <a:latin typeface="Meiryo UI"/>
                <a:ea typeface="Meiryo UI"/>
              </a:rPr>
              <a:t>GAP2 自前D2Cか小売依存かの二極化に陥り、路線を選べていない</a:t>
            </a:r>
          </a:p>
        </p:txBody>
      </p:sp>
      <p:sp>
        <p:nvSpPr>
          <p:cNvPr id="31" name="Rectangle 30"/>
          <p:cNvSpPr/>
          <p:nvPr/>
        </p:nvSpPr>
        <p:spPr>
          <a:xfrm>
            <a:off x="3922776" y="2468880"/>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922776" y="2606040"/>
            <a:ext cx="548640" cy="329184"/>
          </a:xfrm>
          <a:prstGeom prst="rect">
            <a:avLst/>
          </a:prstGeom>
          <a:noFill/>
        </p:spPr>
        <p:txBody>
          <a:bodyPr wrap="square" lIns="0" tIns="0" rIns="0" bIns="0">
            <a:spAutoFit/>
          </a:bodyPr>
          <a:lstStyle/>
          <a:p>
            <a:pPr>
              <a:lnSpc>
                <a:spcPct val="100000"/>
              </a:lnSpc>
            </a:pPr>
            <a:r>
              <a:rPr sz="1200" b="1">
                <a:solidFill>
                  <a:srgbClr val="C8102E"/>
                </a:solidFill>
                <a:latin typeface="Meiryo UI"/>
                <a:ea typeface="Meiryo UI"/>
              </a:rPr>
              <a:t>●</a:t>
            </a:r>
          </a:p>
        </p:txBody>
      </p:sp>
      <p:sp>
        <p:nvSpPr>
          <p:cNvPr id="33" name="Rectangle 32"/>
          <p:cNvSpPr/>
          <p:nvPr/>
        </p:nvSpPr>
        <p:spPr>
          <a:xfrm>
            <a:off x="4489704" y="2468880"/>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5056632" y="2468880"/>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056632" y="2606040"/>
            <a:ext cx="548640" cy="329184"/>
          </a:xfrm>
          <a:prstGeom prst="rect">
            <a:avLst/>
          </a:prstGeom>
          <a:noFill/>
        </p:spPr>
        <p:txBody>
          <a:bodyPr wrap="square" lIns="0" tIns="0" rIns="0" bIns="0">
            <a:spAutoFit/>
          </a:bodyPr>
          <a:lstStyle/>
          <a:p>
            <a:pPr>
              <a:lnSpc>
                <a:spcPct val="100000"/>
              </a:lnSpc>
            </a:pPr>
            <a:r>
              <a:rPr sz="1000" b="1">
                <a:solidFill>
                  <a:srgbClr val="008D2E"/>
                </a:solidFill>
                <a:latin typeface="Meiryo UI"/>
                <a:ea typeface="Meiryo UI"/>
              </a:rPr>
              <a:t>○</a:t>
            </a:r>
          </a:p>
        </p:txBody>
      </p:sp>
      <p:sp>
        <p:nvSpPr>
          <p:cNvPr id="36" name="Rectangle 35"/>
          <p:cNvSpPr/>
          <p:nvPr/>
        </p:nvSpPr>
        <p:spPr>
          <a:xfrm>
            <a:off x="320040" y="3127248"/>
            <a:ext cx="3566160" cy="60350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11480" y="3163824"/>
            <a:ext cx="3401568" cy="530352"/>
          </a:xfrm>
          <a:prstGeom prst="rect">
            <a:avLst/>
          </a:prstGeom>
          <a:noFill/>
        </p:spPr>
        <p:txBody>
          <a:bodyPr wrap="square" lIns="0" tIns="0" rIns="0" bIns="0">
            <a:spAutoFit/>
          </a:bodyPr>
          <a:lstStyle/>
          <a:p>
            <a:pPr>
              <a:lnSpc>
                <a:spcPct val="105000"/>
              </a:lnSpc>
            </a:pPr>
            <a:r>
              <a:rPr sz="740" b="0">
                <a:solidFill>
                  <a:srgbClr val="262626"/>
                </a:solidFill>
                <a:latin typeface="Meiryo UI"/>
                <a:ea typeface="Meiryo UI"/>
              </a:rPr>
              <a:t>GAP3 バイヤーが欲するLTV・炭素効率の予測でなく、値引き提案が続く</a:t>
            </a:r>
          </a:p>
        </p:txBody>
      </p:sp>
      <p:sp>
        <p:nvSpPr>
          <p:cNvPr id="38" name="Rectangle 37"/>
          <p:cNvSpPr/>
          <p:nvPr/>
        </p:nvSpPr>
        <p:spPr>
          <a:xfrm>
            <a:off x="3922776" y="3127248"/>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3922776" y="3264408"/>
            <a:ext cx="548640" cy="329184"/>
          </a:xfrm>
          <a:prstGeom prst="rect">
            <a:avLst/>
          </a:prstGeom>
          <a:noFill/>
        </p:spPr>
        <p:txBody>
          <a:bodyPr wrap="square" lIns="0" tIns="0" rIns="0" bIns="0">
            <a:spAutoFit/>
          </a:bodyPr>
          <a:lstStyle/>
          <a:p>
            <a:pPr>
              <a:lnSpc>
                <a:spcPct val="100000"/>
              </a:lnSpc>
            </a:pPr>
            <a:r>
              <a:rPr sz="1000" b="1">
                <a:solidFill>
                  <a:srgbClr val="C8102E"/>
                </a:solidFill>
                <a:latin typeface="Meiryo UI"/>
                <a:ea typeface="Meiryo UI"/>
              </a:rPr>
              <a:t>○</a:t>
            </a:r>
          </a:p>
        </p:txBody>
      </p:sp>
      <p:sp>
        <p:nvSpPr>
          <p:cNvPr id="40" name="Rectangle 39"/>
          <p:cNvSpPr/>
          <p:nvPr/>
        </p:nvSpPr>
        <p:spPr>
          <a:xfrm>
            <a:off x="4489704" y="3127248"/>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4489704" y="3264408"/>
            <a:ext cx="548640" cy="329184"/>
          </a:xfrm>
          <a:prstGeom prst="rect">
            <a:avLst/>
          </a:prstGeom>
          <a:noFill/>
        </p:spPr>
        <p:txBody>
          <a:bodyPr wrap="square" lIns="0" tIns="0" rIns="0" bIns="0">
            <a:spAutoFit/>
          </a:bodyPr>
          <a:lstStyle/>
          <a:p>
            <a:pPr>
              <a:lnSpc>
                <a:spcPct val="100000"/>
              </a:lnSpc>
            </a:pPr>
            <a:r>
              <a:rPr sz="1200" b="1">
                <a:solidFill>
                  <a:srgbClr val="0F5E87"/>
                </a:solidFill>
                <a:latin typeface="Meiryo UI"/>
                <a:ea typeface="Meiryo UI"/>
              </a:rPr>
              <a:t>●</a:t>
            </a:r>
          </a:p>
        </p:txBody>
      </p:sp>
      <p:sp>
        <p:nvSpPr>
          <p:cNvPr id="42" name="Rectangle 41"/>
          <p:cNvSpPr/>
          <p:nvPr/>
        </p:nvSpPr>
        <p:spPr>
          <a:xfrm>
            <a:off x="5056632" y="3127248"/>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5056632" y="3264408"/>
            <a:ext cx="548640" cy="329184"/>
          </a:xfrm>
          <a:prstGeom prst="rect">
            <a:avLst/>
          </a:prstGeom>
          <a:noFill/>
        </p:spPr>
        <p:txBody>
          <a:bodyPr wrap="square" lIns="0" tIns="0" rIns="0" bIns="0">
            <a:spAutoFit/>
          </a:bodyPr>
          <a:lstStyle/>
          <a:p>
            <a:pPr>
              <a:lnSpc>
                <a:spcPct val="100000"/>
              </a:lnSpc>
            </a:pPr>
            <a:r>
              <a:rPr sz="1200" b="1">
                <a:solidFill>
                  <a:srgbClr val="008D2E"/>
                </a:solidFill>
                <a:latin typeface="Meiryo UI"/>
                <a:ea typeface="Meiryo UI"/>
              </a:rPr>
              <a:t>●</a:t>
            </a:r>
          </a:p>
        </p:txBody>
      </p:sp>
      <p:sp>
        <p:nvSpPr>
          <p:cNvPr id="44" name="Rectangle 43"/>
          <p:cNvSpPr/>
          <p:nvPr/>
        </p:nvSpPr>
        <p:spPr>
          <a:xfrm>
            <a:off x="320040" y="3785615"/>
            <a:ext cx="3566160" cy="60350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411480" y="3822191"/>
            <a:ext cx="3401568" cy="530352"/>
          </a:xfrm>
          <a:prstGeom prst="rect">
            <a:avLst/>
          </a:prstGeom>
          <a:noFill/>
        </p:spPr>
        <p:txBody>
          <a:bodyPr wrap="square" lIns="0" tIns="0" rIns="0" bIns="0">
            <a:spAutoFit/>
          </a:bodyPr>
          <a:lstStyle/>
          <a:p>
            <a:pPr>
              <a:lnSpc>
                <a:spcPct val="105000"/>
              </a:lnSpc>
            </a:pPr>
            <a:r>
              <a:rPr sz="740" b="0">
                <a:solidFill>
                  <a:srgbClr val="262626"/>
                </a:solidFill>
                <a:latin typeface="Meiryo UI"/>
                <a:ea typeface="Meiryo UI"/>
              </a:rPr>
              <a:t>GAP4 小売の構造課題に組織総力戦で当たれず、属人的関係に依存</a:t>
            </a:r>
          </a:p>
        </p:txBody>
      </p:sp>
      <p:sp>
        <p:nvSpPr>
          <p:cNvPr id="46" name="Rectangle 45"/>
          <p:cNvSpPr/>
          <p:nvPr/>
        </p:nvSpPr>
        <p:spPr>
          <a:xfrm>
            <a:off x="3922776" y="3785615"/>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4489704" y="3785615"/>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4489704" y="3922776"/>
            <a:ext cx="548640" cy="329184"/>
          </a:xfrm>
          <a:prstGeom prst="rect">
            <a:avLst/>
          </a:prstGeom>
          <a:noFill/>
        </p:spPr>
        <p:txBody>
          <a:bodyPr wrap="square" lIns="0" tIns="0" rIns="0" bIns="0">
            <a:spAutoFit/>
          </a:bodyPr>
          <a:lstStyle/>
          <a:p>
            <a:pPr>
              <a:lnSpc>
                <a:spcPct val="100000"/>
              </a:lnSpc>
            </a:pPr>
            <a:r>
              <a:rPr sz="1000" b="1">
                <a:solidFill>
                  <a:srgbClr val="0F5E87"/>
                </a:solidFill>
                <a:latin typeface="Meiryo UI"/>
                <a:ea typeface="Meiryo UI"/>
              </a:rPr>
              <a:t>○</a:t>
            </a:r>
          </a:p>
        </p:txBody>
      </p:sp>
      <p:sp>
        <p:nvSpPr>
          <p:cNvPr id="49" name="Rectangle 48"/>
          <p:cNvSpPr/>
          <p:nvPr/>
        </p:nvSpPr>
        <p:spPr>
          <a:xfrm>
            <a:off x="5056632" y="3785615"/>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5056632" y="3922776"/>
            <a:ext cx="548640" cy="329184"/>
          </a:xfrm>
          <a:prstGeom prst="rect">
            <a:avLst/>
          </a:prstGeom>
          <a:noFill/>
        </p:spPr>
        <p:txBody>
          <a:bodyPr wrap="square" lIns="0" tIns="0" rIns="0" bIns="0">
            <a:spAutoFit/>
          </a:bodyPr>
          <a:lstStyle/>
          <a:p>
            <a:pPr>
              <a:lnSpc>
                <a:spcPct val="100000"/>
              </a:lnSpc>
            </a:pPr>
            <a:r>
              <a:rPr sz="1200" b="1">
                <a:solidFill>
                  <a:srgbClr val="008D2E"/>
                </a:solidFill>
                <a:latin typeface="Meiryo UI"/>
                <a:ea typeface="Meiryo UI"/>
              </a:rPr>
              <a:t>●</a:t>
            </a:r>
          </a:p>
        </p:txBody>
      </p:sp>
      <p:sp>
        <p:nvSpPr>
          <p:cNvPr id="51" name="Rectangle 50"/>
          <p:cNvSpPr/>
          <p:nvPr/>
        </p:nvSpPr>
        <p:spPr>
          <a:xfrm>
            <a:off x="5806440" y="1463040"/>
            <a:ext cx="6035040" cy="1481328"/>
          </a:xfrm>
          <a:prstGeom prst="rect">
            <a:avLst/>
          </a:prstGeom>
          <a:solidFill>
            <a:srgbClr val="FFFFFF"/>
          </a:solidFill>
          <a:ln w="1524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5806440" y="1463040"/>
            <a:ext cx="82296" cy="148132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5989320" y="1517904"/>
            <a:ext cx="5760720" cy="274320"/>
          </a:xfrm>
          <a:prstGeom prst="rect">
            <a:avLst/>
          </a:prstGeom>
          <a:noFill/>
        </p:spPr>
        <p:txBody>
          <a:bodyPr wrap="square" lIns="0" tIns="0" rIns="0" bIns="0">
            <a:spAutoFit/>
          </a:bodyPr>
          <a:lstStyle/>
          <a:p>
            <a:pPr>
              <a:lnSpc>
                <a:spcPct val="112000"/>
              </a:lnSpc>
            </a:pPr>
            <a:r>
              <a:rPr sz="880" b="1">
                <a:solidFill>
                  <a:srgbClr val="C8102E"/>
                </a:solidFill>
                <a:latin typeface="Meiryo UI"/>
                <a:ea typeface="Meiryo UI"/>
              </a:rPr>
              <a:t>真因1 「決めていない」 ― 戦い方の選択が未決定のまま、各論が走っている</a:t>
            </a:r>
          </a:p>
        </p:txBody>
      </p:sp>
      <p:sp>
        <p:nvSpPr>
          <p:cNvPr id="54" name="TextBox 53"/>
          <p:cNvSpPr txBox="1"/>
          <p:nvPr/>
        </p:nvSpPr>
        <p:spPr>
          <a:xfrm>
            <a:off x="5989320" y="1828800"/>
            <a:ext cx="5760720" cy="658368"/>
          </a:xfrm>
          <a:prstGeom prst="rect">
            <a:avLst/>
          </a:prstGeom>
          <a:noFill/>
        </p:spPr>
        <p:txBody>
          <a:bodyPr wrap="square" lIns="0" tIns="0" rIns="0" bIns="0">
            <a:spAutoFit/>
          </a:bodyPr>
          <a:lstStyle/>
          <a:p>
            <a:pPr>
              <a:lnSpc>
                <a:spcPct val="112000"/>
              </a:lnSpc>
            </a:pPr>
            <a:r>
              <a:rPr sz="780" b="0">
                <a:solidFill>
                  <a:srgbClr val="262626"/>
                </a:solidFill>
                <a:latin typeface="Meiryo UI"/>
                <a:ea typeface="Meiryo UI"/>
              </a:rPr>
              <a:t>主戦場（洗剤をどこまで守り、強み領域にいくら寄せるか）、データの路線（自前D2Cか小売連携か）、商談の路線（値引きをどこまで使うか）― いずれも会社としての選択が明文化されておらず、現場は従来のやり方を続けるしかない。</a:t>
            </a:r>
          </a:p>
        </p:txBody>
      </p:sp>
      <p:sp>
        <p:nvSpPr>
          <p:cNvPr id="55" name="TextBox 54"/>
          <p:cNvSpPr txBox="1"/>
          <p:nvPr/>
        </p:nvSpPr>
        <p:spPr>
          <a:xfrm>
            <a:off x="5989320" y="2505456"/>
            <a:ext cx="5760720" cy="402336"/>
          </a:xfrm>
          <a:prstGeom prst="rect">
            <a:avLst/>
          </a:prstGeom>
          <a:noFill/>
        </p:spPr>
        <p:txBody>
          <a:bodyPr wrap="square" lIns="0" tIns="0" rIns="0" bIns="0">
            <a:spAutoFit/>
          </a:bodyPr>
          <a:lstStyle/>
          <a:p>
            <a:pPr>
              <a:lnSpc>
                <a:spcPct val="105000"/>
              </a:lnSpc>
            </a:pPr>
            <a:r>
              <a:rPr sz="720" b="1">
                <a:solidFill>
                  <a:srgbClr val="595959"/>
                </a:solidFill>
                <a:latin typeface="Meiryo UI"/>
                <a:ea typeface="Meiryo UI"/>
              </a:rPr>
              <a:t>根拠：GAP1・2は「できていない」ではなく「どちらに行くか決まっていない」形をしている。決めない限り、どの施策も中途半端に終わる</a:t>
            </a:r>
          </a:p>
        </p:txBody>
      </p:sp>
      <p:sp>
        <p:nvSpPr>
          <p:cNvPr id="56" name="Rectangle 55"/>
          <p:cNvSpPr/>
          <p:nvPr/>
        </p:nvSpPr>
        <p:spPr>
          <a:xfrm>
            <a:off x="5806440" y="3035808"/>
            <a:ext cx="6035040" cy="1481328"/>
          </a:xfrm>
          <a:prstGeom prst="rect">
            <a:avLst/>
          </a:prstGeom>
          <a:solidFill>
            <a:srgbClr val="FFFFFF"/>
          </a:solidFill>
          <a:ln w="1524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p:cNvSpPr/>
          <p:nvPr/>
        </p:nvSpPr>
        <p:spPr>
          <a:xfrm>
            <a:off x="5806440" y="3035808"/>
            <a:ext cx="82296" cy="1481328"/>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5989320" y="3090672"/>
            <a:ext cx="5760720" cy="274320"/>
          </a:xfrm>
          <a:prstGeom prst="rect">
            <a:avLst/>
          </a:prstGeom>
          <a:noFill/>
        </p:spPr>
        <p:txBody>
          <a:bodyPr wrap="square" lIns="0" tIns="0" rIns="0" bIns="0">
            <a:spAutoFit/>
          </a:bodyPr>
          <a:lstStyle/>
          <a:p>
            <a:pPr>
              <a:lnSpc>
                <a:spcPct val="112000"/>
              </a:lnSpc>
            </a:pPr>
            <a:r>
              <a:rPr sz="880" b="1">
                <a:solidFill>
                  <a:srgbClr val="0F5E87"/>
                </a:solidFill>
                <a:latin typeface="Meiryo UI"/>
                <a:ea typeface="Meiryo UI"/>
              </a:rPr>
              <a:t>真因2 「持っていない」 ― 選ばれるための武器が、現場に供給されていない</a:t>
            </a:r>
          </a:p>
        </p:txBody>
      </p:sp>
      <p:sp>
        <p:nvSpPr>
          <p:cNvPr id="59" name="TextBox 58"/>
          <p:cNvSpPr txBox="1"/>
          <p:nvPr/>
        </p:nvSpPr>
        <p:spPr>
          <a:xfrm>
            <a:off x="5989320" y="3401568"/>
            <a:ext cx="5760720" cy="658368"/>
          </a:xfrm>
          <a:prstGeom prst="rect">
            <a:avLst/>
          </a:prstGeom>
          <a:noFill/>
        </p:spPr>
        <p:txBody>
          <a:bodyPr wrap="square" lIns="0" tIns="0" rIns="0" bIns="0">
            <a:spAutoFit/>
          </a:bodyPr>
          <a:lstStyle/>
          <a:p>
            <a:pPr>
              <a:lnSpc>
                <a:spcPct val="112000"/>
              </a:lnSpc>
            </a:pPr>
            <a:r>
              <a:rPr sz="780" b="0">
                <a:solidFill>
                  <a:srgbClr val="262626"/>
                </a:solidFill>
                <a:latin typeface="Meiryo UI"/>
                <a:ea typeface="Meiryo UI"/>
              </a:rPr>
              <a:t>バイヤーが要求する「売れる根拠」（LTV予測・炭素効率）も、AIが要求する「読める情報」（属性データ・エビデンス）も存在しない。営業が値引きに頼るのは怠慢ではなく合理 ― 他に出せる球がない。</a:t>
            </a:r>
          </a:p>
        </p:txBody>
      </p:sp>
      <p:sp>
        <p:nvSpPr>
          <p:cNvPr id="60" name="TextBox 59"/>
          <p:cNvSpPr txBox="1"/>
          <p:nvPr/>
        </p:nvSpPr>
        <p:spPr>
          <a:xfrm>
            <a:off x="5989320" y="4078224"/>
            <a:ext cx="5760720" cy="402336"/>
          </a:xfrm>
          <a:prstGeom prst="rect">
            <a:avLst/>
          </a:prstGeom>
          <a:noFill/>
        </p:spPr>
        <p:txBody>
          <a:bodyPr wrap="square" lIns="0" tIns="0" rIns="0" bIns="0">
            <a:spAutoFit/>
          </a:bodyPr>
          <a:lstStyle/>
          <a:p>
            <a:pPr>
              <a:lnSpc>
                <a:spcPct val="105000"/>
              </a:lnSpc>
            </a:pPr>
            <a:r>
              <a:rPr sz="720" b="1">
                <a:solidFill>
                  <a:srgbClr val="595959"/>
                </a:solidFill>
                <a:latin typeface="Meiryo UI"/>
                <a:ea typeface="Meiryo UI"/>
              </a:rPr>
              <a:t>根拠：GAP1（データ未着手）・GAP3（値引き継続）。武器が供給された商談だけ提案の中身が変わる ― 供給の問題であって人の問題ではない</a:t>
            </a:r>
          </a:p>
        </p:txBody>
      </p:sp>
      <p:sp>
        <p:nvSpPr>
          <p:cNvPr id="61" name="Rectangle 60"/>
          <p:cNvSpPr/>
          <p:nvPr/>
        </p:nvSpPr>
        <p:spPr>
          <a:xfrm>
            <a:off x="5806440" y="4608576"/>
            <a:ext cx="6035040" cy="1481328"/>
          </a:xfrm>
          <a:prstGeom prst="rect">
            <a:avLst/>
          </a:prstGeom>
          <a:solidFill>
            <a:srgbClr val="FFFFFF"/>
          </a:solidFill>
          <a:ln w="1524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Rectangle 61"/>
          <p:cNvSpPr/>
          <p:nvPr/>
        </p:nvSpPr>
        <p:spPr>
          <a:xfrm>
            <a:off x="5806440" y="4608576"/>
            <a:ext cx="82296" cy="148132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5989320" y="4663440"/>
            <a:ext cx="5760720" cy="274320"/>
          </a:xfrm>
          <a:prstGeom prst="rect">
            <a:avLst/>
          </a:prstGeom>
          <a:noFill/>
        </p:spPr>
        <p:txBody>
          <a:bodyPr wrap="square" lIns="0" tIns="0" rIns="0" bIns="0">
            <a:spAutoFit/>
          </a:bodyPr>
          <a:lstStyle/>
          <a:p>
            <a:pPr>
              <a:lnSpc>
                <a:spcPct val="112000"/>
              </a:lnSpc>
            </a:pPr>
            <a:r>
              <a:rPr sz="880" b="1">
                <a:solidFill>
                  <a:srgbClr val="008D2E"/>
                </a:solidFill>
                <a:latin typeface="Meiryo UI"/>
                <a:ea typeface="Meiryo UI"/>
              </a:rPr>
              <a:t>真因3 「回っていない」 ― 作る→試す→検証する→広げる、の回路がない</a:t>
            </a:r>
          </a:p>
        </p:txBody>
      </p:sp>
      <p:sp>
        <p:nvSpPr>
          <p:cNvPr id="64" name="TextBox 63"/>
          <p:cNvSpPr txBox="1"/>
          <p:nvPr/>
        </p:nvSpPr>
        <p:spPr>
          <a:xfrm>
            <a:off x="5989320" y="4974336"/>
            <a:ext cx="5760720" cy="658368"/>
          </a:xfrm>
          <a:prstGeom prst="rect">
            <a:avLst/>
          </a:prstGeom>
          <a:noFill/>
        </p:spPr>
        <p:txBody>
          <a:bodyPr wrap="square" lIns="0" tIns="0" rIns="0" bIns="0">
            <a:spAutoFit/>
          </a:bodyPr>
          <a:lstStyle/>
          <a:p>
            <a:pPr>
              <a:lnSpc>
                <a:spcPct val="112000"/>
              </a:lnSpc>
            </a:pPr>
            <a:r>
              <a:rPr sz="780" b="0">
                <a:solidFill>
                  <a:srgbClr val="262626"/>
                </a:solidFill>
                <a:latin typeface="Meiryo UI"/>
                <a:ea typeface="Meiryo UI"/>
              </a:rPr>
              <a:t>武器を作る時間は事務に食われ、試した施策は検証されず、成功しても隣に広がらない。単独営業の編成では、物流・環境・データを束ねた総力戦もできない。</a:t>
            </a:r>
          </a:p>
        </p:txBody>
      </p:sp>
      <p:sp>
        <p:nvSpPr>
          <p:cNvPr id="65" name="TextBox 64"/>
          <p:cNvSpPr txBox="1"/>
          <p:nvPr/>
        </p:nvSpPr>
        <p:spPr>
          <a:xfrm>
            <a:off x="5989320" y="5650992"/>
            <a:ext cx="5760720" cy="402336"/>
          </a:xfrm>
          <a:prstGeom prst="rect">
            <a:avLst/>
          </a:prstGeom>
          <a:noFill/>
        </p:spPr>
        <p:txBody>
          <a:bodyPr wrap="square" lIns="0" tIns="0" rIns="0" bIns="0">
            <a:spAutoFit/>
          </a:bodyPr>
          <a:lstStyle/>
          <a:p>
            <a:pPr>
              <a:lnSpc>
                <a:spcPct val="105000"/>
              </a:lnSpc>
            </a:pPr>
            <a:r>
              <a:rPr sz="720" b="1">
                <a:solidFill>
                  <a:srgbClr val="595959"/>
                </a:solidFill>
                <a:latin typeface="Meiryo UI"/>
                <a:ea typeface="Meiryo UI"/>
              </a:rPr>
              <a:t>根拠：GAP3・4に加え、過去のツール導入が「入れたのに変わらない」で終わった事実。回路がなければ、決めても・持っても、成果は一度きりで消える</a:t>
            </a:r>
          </a:p>
        </p:txBody>
      </p:sp>
      <p:sp>
        <p:nvSpPr>
          <p:cNvPr id="66" name="Rectangle 65"/>
          <p:cNvSpPr/>
          <p:nvPr/>
        </p:nvSpPr>
        <p:spPr>
          <a:xfrm>
            <a:off x="320040" y="6126480"/>
            <a:ext cx="11521440" cy="420624"/>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457200" y="6163056"/>
            <a:ext cx="11292840" cy="347472"/>
          </a:xfrm>
          <a:prstGeom prst="rect">
            <a:avLst/>
          </a:prstGeom>
          <a:noFill/>
        </p:spPr>
        <p:txBody>
          <a:bodyPr wrap="square" lIns="0" tIns="0" rIns="0" bIns="0">
            <a:spAutoFit/>
          </a:bodyPr>
          <a:lstStyle/>
          <a:p>
            <a:pPr>
              <a:lnSpc>
                <a:spcPct val="112000"/>
              </a:lnSpc>
            </a:pPr>
            <a:r>
              <a:rPr sz="860" b="1">
                <a:solidFill>
                  <a:srgbClr val="008D2E"/>
                </a:solidFill>
                <a:latin typeface="Meiryo UI"/>
                <a:ea typeface="Meiryo UI"/>
              </a:rPr>
              <a:t>蓋然性のテスト：</a:t>
            </a:r>
            <a:r>
              <a:rPr sz="819" b="0">
                <a:solidFill>
                  <a:srgbClr val="262626"/>
                </a:solidFill>
                <a:latin typeface="Meiryo UI"/>
                <a:ea typeface="Meiryo UI"/>
              </a:rPr>
              <a:t>3つが解ければ4つのギャップはすべて閉じる（表の●○が全行を被覆）。逆にどれか1つでも残せばギャップは再発する ― 決めずに武器だけ作れば迷走し、武器なしで回せば値引きに戻り、回さなければ一度きりで終わる。</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10972800" cy="457200"/>
          </a:xfrm>
          <a:prstGeom prst="rect">
            <a:avLst/>
          </a:prstGeom>
          <a:noFill/>
        </p:spPr>
        <p:txBody>
          <a:bodyPr wrap="square" lIns="0" tIns="0" rIns="0" bIns="0">
            <a:spAutoFit/>
          </a:bodyPr>
          <a:lstStyle/>
          <a:p>
            <a:pPr>
              <a:lnSpc>
                <a:spcPct val="112000"/>
              </a:lnSpc>
            </a:pPr>
            <a:r>
              <a:rPr sz="1800" b="1">
                <a:solidFill>
                  <a:srgbClr val="262626"/>
                </a:solidFill>
                <a:latin typeface="Meiryo UI"/>
                <a:ea typeface="Meiryo UI"/>
              </a:rPr>
              <a:t>真因と解決策 ―「決める・持つ・回す」に1対1で答える</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49808"/>
            <a:ext cx="274320" cy="274320"/>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tIns="0" rIns="0" bIns="0">
            <a:spAutoFit/>
          </a:bodyPr>
          <a:lstStyle/>
          <a:p>
            <a:pPr>
              <a:lnSpc>
                <a:spcPct val="118000"/>
              </a:lnSpc>
            </a:pPr>
            <a:r>
              <a:rPr sz="1100" b="1">
                <a:solidFill>
                  <a:srgbClr val="262626"/>
                </a:solidFill>
                <a:latin typeface="Meiryo UI"/>
                <a:ea typeface="Meiryo UI"/>
              </a:rPr>
              <a:t>解決策は真因の裏返しでなければ効かない。決める（経営の選択）→ 持つ（武器の供給）→ 回す（実行の回路）の3点セットで、以降のページすべてがこのどれかに属する</a:t>
            </a:r>
          </a:p>
        </p:txBody>
      </p:sp>
      <p:sp>
        <p:nvSpPr>
          <p:cNvPr id="14" name="Rectangle 13"/>
          <p:cNvSpPr/>
          <p:nvPr/>
        </p:nvSpPr>
        <p:spPr>
          <a:xfrm>
            <a:off x="320040" y="1463040"/>
            <a:ext cx="1371600" cy="14173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11480" y="1865376"/>
            <a:ext cx="1207008" cy="640080"/>
          </a:xfrm>
          <a:prstGeom prst="rect">
            <a:avLst/>
          </a:prstGeom>
          <a:noFill/>
        </p:spPr>
        <p:txBody>
          <a:bodyPr wrap="square" lIns="0" tIns="0" rIns="0" bIns="0">
            <a:spAutoFit/>
          </a:bodyPr>
          <a:lstStyle/>
          <a:p>
            <a:pPr>
              <a:lnSpc>
                <a:spcPct val="110000"/>
              </a:lnSpc>
            </a:pPr>
            <a:r>
              <a:rPr sz="950" b="1">
                <a:solidFill>
                  <a:srgbClr val="FFFFFF"/>
                </a:solidFill>
                <a:latin typeface="Meiryo UI"/>
                <a:ea typeface="Meiryo UI"/>
              </a:rPr>
              <a:t>真因1
決めていない</a:t>
            </a:r>
          </a:p>
        </p:txBody>
      </p:sp>
      <p:sp>
        <p:nvSpPr>
          <p:cNvPr id="16" name="TextBox 15"/>
          <p:cNvSpPr txBox="1"/>
          <p:nvPr/>
        </p:nvSpPr>
        <p:spPr>
          <a:xfrm>
            <a:off x="1764792" y="2029968"/>
            <a:ext cx="274320" cy="274320"/>
          </a:xfrm>
          <a:prstGeom prst="rect">
            <a:avLst/>
          </a:prstGeom>
          <a:noFill/>
        </p:spPr>
        <p:txBody>
          <a:bodyPr wrap="square" lIns="0" tIns="0" rIns="0" bIns="0">
            <a:spAutoFit/>
          </a:bodyPr>
          <a:lstStyle/>
          <a:p>
            <a:pPr>
              <a:lnSpc>
                <a:spcPct val="112000"/>
              </a:lnSpc>
            </a:pPr>
            <a:r>
              <a:rPr sz="1200" b="1">
                <a:solidFill>
                  <a:srgbClr val="595959"/>
                </a:solidFill>
                <a:latin typeface="Meiryo UI"/>
                <a:ea typeface="Meiryo UI"/>
              </a:rPr>
              <a:t>→</a:t>
            </a:r>
          </a:p>
        </p:txBody>
      </p:sp>
      <p:sp>
        <p:nvSpPr>
          <p:cNvPr id="17" name="Rectangle 16"/>
          <p:cNvSpPr/>
          <p:nvPr/>
        </p:nvSpPr>
        <p:spPr>
          <a:xfrm>
            <a:off x="2057400" y="1463040"/>
            <a:ext cx="6949440" cy="1417320"/>
          </a:xfrm>
          <a:prstGeom prst="rect">
            <a:avLst/>
          </a:prstGeom>
          <a:solidFill>
            <a:srgbClr val="FFFFFF"/>
          </a:solidFill>
          <a:ln w="1397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194560" y="1527048"/>
            <a:ext cx="6675120" cy="292608"/>
          </a:xfrm>
          <a:prstGeom prst="rect">
            <a:avLst/>
          </a:prstGeom>
          <a:noFill/>
        </p:spPr>
        <p:txBody>
          <a:bodyPr wrap="square" lIns="0" tIns="0" rIns="0" bIns="0">
            <a:spAutoFit/>
          </a:bodyPr>
          <a:lstStyle/>
          <a:p>
            <a:pPr>
              <a:lnSpc>
                <a:spcPct val="112000"/>
              </a:lnSpc>
            </a:pPr>
            <a:r>
              <a:rPr sz="980" b="1">
                <a:solidFill>
                  <a:srgbClr val="C8102E"/>
                </a:solidFill>
                <a:latin typeface="Meiryo UI"/>
                <a:ea typeface="Meiryo UI"/>
              </a:rPr>
              <a:t>解決1 「決める」 ― 3つの選択を明文化する</a:t>
            </a:r>
          </a:p>
        </p:txBody>
      </p:sp>
      <p:sp>
        <p:nvSpPr>
          <p:cNvPr id="19" name="TextBox 18"/>
          <p:cNvSpPr txBox="1"/>
          <p:nvPr/>
        </p:nvSpPr>
        <p:spPr>
          <a:xfrm>
            <a:off x="2194560" y="1865376"/>
            <a:ext cx="6675120" cy="960120"/>
          </a:xfrm>
          <a:prstGeom prst="rect">
            <a:avLst/>
          </a:prstGeom>
          <a:noFill/>
        </p:spPr>
        <p:txBody>
          <a:bodyPr wrap="square" lIns="0" tIns="0" rIns="0" bIns="0">
            <a:spAutoFit/>
          </a:bodyPr>
          <a:lstStyle/>
          <a:p>
            <a:pPr>
              <a:lnSpc>
                <a:spcPct val="116000"/>
              </a:lnSpc>
            </a:pPr>
            <a:r>
              <a:rPr sz="819" b="0">
                <a:solidFill>
                  <a:srgbClr val="262626"/>
                </a:solidFill>
                <a:latin typeface="Meiryo UI"/>
                <a:ea typeface="Meiryo UI"/>
              </a:rPr>
              <a:t>①主戦場：オーラル・衛生・OTCへ資源集中、洗剤等はROIC基準で段階判断　②データ路線：自前D2Cは追わず「小売連携×専門データ」の二階建て　③商談路線：値引き全廃ではなく「値引き70＋施策30＋成果連動」へ段階転換</a:t>
            </a:r>
          </a:p>
        </p:txBody>
      </p:sp>
      <p:sp>
        <p:nvSpPr>
          <p:cNvPr id="20" name="Rectangle 19"/>
          <p:cNvSpPr/>
          <p:nvPr/>
        </p:nvSpPr>
        <p:spPr>
          <a:xfrm>
            <a:off x="9098280" y="1463040"/>
            <a:ext cx="2743200" cy="141732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217152" y="1554480"/>
            <a:ext cx="2523744" cy="1261872"/>
          </a:xfrm>
          <a:prstGeom prst="rect">
            <a:avLst/>
          </a:prstGeom>
          <a:noFill/>
        </p:spPr>
        <p:txBody>
          <a:bodyPr wrap="square" lIns="0" tIns="0" rIns="0" bIns="0">
            <a:spAutoFit/>
          </a:bodyPr>
          <a:lstStyle/>
          <a:p>
            <a:pPr>
              <a:lnSpc>
                <a:spcPct val="115000"/>
              </a:lnSpc>
            </a:pPr>
            <a:r>
              <a:rPr sz="760" b="1">
                <a:solidFill>
                  <a:srgbClr val="595959"/>
                </a:solidFill>
                <a:latin typeface="Meiryo UI"/>
                <a:ea typeface="Meiryo UI"/>
              </a:rPr>
              <a:t>どこで具体化するか
</a:t>
            </a:r>
            <a:r>
              <a:rPr sz="780" b="1">
                <a:solidFill>
                  <a:srgbClr val="262626"/>
                </a:solidFill>
                <a:latin typeface="Meiryo UI"/>
                <a:ea typeface="Meiryo UI"/>
              </a:rPr>
              <a:t>→ 4つの変革テーマの背景（P.9）・施策①
→ 次回デジタル戦略会議の決定事項（P.15）</a:t>
            </a:r>
          </a:p>
        </p:txBody>
      </p:sp>
      <p:sp>
        <p:nvSpPr>
          <p:cNvPr id="22" name="Rectangle 21"/>
          <p:cNvSpPr/>
          <p:nvPr/>
        </p:nvSpPr>
        <p:spPr>
          <a:xfrm>
            <a:off x="320040" y="2999232"/>
            <a:ext cx="1371600" cy="1417320"/>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11480" y="3401568"/>
            <a:ext cx="1207008" cy="640080"/>
          </a:xfrm>
          <a:prstGeom prst="rect">
            <a:avLst/>
          </a:prstGeom>
          <a:noFill/>
        </p:spPr>
        <p:txBody>
          <a:bodyPr wrap="square" lIns="0" tIns="0" rIns="0" bIns="0">
            <a:spAutoFit/>
          </a:bodyPr>
          <a:lstStyle/>
          <a:p>
            <a:pPr>
              <a:lnSpc>
                <a:spcPct val="110000"/>
              </a:lnSpc>
            </a:pPr>
            <a:r>
              <a:rPr sz="950" b="1">
                <a:solidFill>
                  <a:srgbClr val="FFFFFF"/>
                </a:solidFill>
                <a:latin typeface="Meiryo UI"/>
                <a:ea typeface="Meiryo UI"/>
              </a:rPr>
              <a:t>真因2
持っていない</a:t>
            </a:r>
          </a:p>
        </p:txBody>
      </p:sp>
      <p:sp>
        <p:nvSpPr>
          <p:cNvPr id="24" name="TextBox 23"/>
          <p:cNvSpPr txBox="1"/>
          <p:nvPr/>
        </p:nvSpPr>
        <p:spPr>
          <a:xfrm>
            <a:off x="1764792" y="3566160"/>
            <a:ext cx="274320" cy="274320"/>
          </a:xfrm>
          <a:prstGeom prst="rect">
            <a:avLst/>
          </a:prstGeom>
          <a:noFill/>
        </p:spPr>
        <p:txBody>
          <a:bodyPr wrap="square" lIns="0" tIns="0" rIns="0" bIns="0">
            <a:spAutoFit/>
          </a:bodyPr>
          <a:lstStyle/>
          <a:p>
            <a:pPr>
              <a:lnSpc>
                <a:spcPct val="112000"/>
              </a:lnSpc>
            </a:pPr>
            <a:r>
              <a:rPr sz="1200" b="1">
                <a:solidFill>
                  <a:srgbClr val="595959"/>
                </a:solidFill>
                <a:latin typeface="Meiryo UI"/>
                <a:ea typeface="Meiryo UI"/>
              </a:rPr>
              <a:t>→</a:t>
            </a:r>
          </a:p>
        </p:txBody>
      </p:sp>
      <p:sp>
        <p:nvSpPr>
          <p:cNvPr id="25" name="Rectangle 24"/>
          <p:cNvSpPr/>
          <p:nvPr/>
        </p:nvSpPr>
        <p:spPr>
          <a:xfrm>
            <a:off x="2057400" y="2999232"/>
            <a:ext cx="6949440" cy="1417320"/>
          </a:xfrm>
          <a:prstGeom prst="rect">
            <a:avLst/>
          </a:prstGeom>
          <a:solidFill>
            <a:srgbClr val="FFFFFF"/>
          </a:solidFill>
          <a:ln w="1397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2194560" y="3063240"/>
            <a:ext cx="6675120" cy="292608"/>
          </a:xfrm>
          <a:prstGeom prst="rect">
            <a:avLst/>
          </a:prstGeom>
          <a:noFill/>
        </p:spPr>
        <p:txBody>
          <a:bodyPr wrap="square" lIns="0" tIns="0" rIns="0" bIns="0">
            <a:spAutoFit/>
          </a:bodyPr>
          <a:lstStyle/>
          <a:p>
            <a:pPr>
              <a:lnSpc>
                <a:spcPct val="112000"/>
              </a:lnSpc>
            </a:pPr>
            <a:r>
              <a:rPr sz="980" b="1">
                <a:solidFill>
                  <a:srgbClr val="0F5E87"/>
                </a:solidFill>
                <a:latin typeface="Meiryo UI"/>
                <a:ea typeface="Meiryo UI"/>
              </a:rPr>
              <a:t>解決2 「武器を作る」 ― バイヤーとAIに出せる球を供給する</a:t>
            </a:r>
          </a:p>
        </p:txBody>
      </p:sp>
      <p:sp>
        <p:nvSpPr>
          <p:cNvPr id="27" name="TextBox 26"/>
          <p:cNvSpPr txBox="1"/>
          <p:nvPr/>
        </p:nvSpPr>
        <p:spPr>
          <a:xfrm>
            <a:off x="2194560" y="3401568"/>
            <a:ext cx="6675120" cy="960120"/>
          </a:xfrm>
          <a:prstGeom prst="rect">
            <a:avLst/>
          </a:prstGeom>
          <a:noFill/>
        </p:spPr>
        <p:txBody>
          <a:bodyPr wrap="square" lIns="0" tIns="0" rIns="0" bIns="0">
            <a:spAutoFit/>
          </a:bodyPr>
          <a:lstStyle/>
          <a:p>
            <a:pPr>
              <a:lnSpc>
                <a:spcPct val="116000"/>
              </a:lnSpc>
            </a:pPr>
            <a:r>
              <a:rPr sz="819" b="0">
                <a:solidFill>
                  <a:srgbClr val="262626"/>
                </a:solidFill>
                <a:latin typeface="Meiryo UI"/>
                <a:ea typeface="Meiryo UI"/>
              </a:rPr>
              <a:t>バイヤー向け＝LTV予測・炭素効率（施策⑤）／AI向け＝属性データAPI・Oral Evidence Hub（施策②）／接点の武器＝診断型売場・B2B2C推奨（施策③⑥）／計器＝AIEO Rate・KOIC（施策②④）</a:t>
            </a:r>
          </a:p>
        </p:txBody>
      </p:sp>
      <p:sp>
        <p:nvSpPr>
          <p:cNvPr id="28" name="Rectangle 27"/>
          <p:cNvSpPr/>
          <p:nvPr/>
        </p:nvSpPr>
        <p:spPr>
          <a:xfrm>
            <a:off x="9098280" y="2999232"/>
            <a:ext cx="2743200" cy="141732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217152" y="3090672"/>
            <a:ext cx="2523744" cy="1261872"/>
          </a:xfrm>
          <a:prstGeom prst="rect">
            <a:avLst/>
          </a:prstGeom>
          <a:noFill/>
        </p:spPr>
        <p:txBody>
          <a:bodyPr wrap="square" lIns="0" tIns="0" rIns="0" bIns="0">
            <a:spAutoFit/>
          </a:bodyPr>
          <a:lstStyle/>
          <a:p>
            <a:pPr>
              <a:lnSpc>
                <a:spcPct val="115000"/>
              </a:lnSpc>
            </a:pPr>
            <a:r>
              <a:rPr sz="760" b="1">
                <a:solidFill>
                  <a:srgbClr val="595959"/>
                </a:solidFill>
                <a:latin typeface="Meiryo UI"/>
                <a:ea typeface="Meiryo UI"/>
              </a:rPr>
              <a:t>どこで具体化するか
</a:t>
            </a:r>
            <a:r>
              <a:rPr sz="780" b="1">
                <a:solidFill>
                  <a:srgbClr val="262626"/>
                </a:solidFill>
                <a:latin typeface="Meiryo UI"/>
                <a:ea typeface="Meiryo UI"/>
              </a:rPr>
              <a:t>→ 8つの重点施策（P.10）
→ 5経営テーマへのMECE接続（P.11）</a:t>
            </a:r>
          </a:p>
        </p:txBody>
      </p:sp>
      <p:sp>
        <p:nvSpPr>
          <p:cNvPr id="30" name="Rectangle 29"/>
          <p:cNvSpPr/>
          <p:nvPr/>
        </p:nvSpPr>
        <p:spPr>
          <a:xfrm>
            <a:off x="320040" y="4535424"/>
            <a:ext cx="1371600" cy="1417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11480" y="4937760"/>
            <a:ext cx="1207008" cy="640080"/>
          </a:xfrm>
          <a:prstGeom prst="rect">
            <a:avLst/>
          </a:prstGeom>
          <a:noFill/>
        </p:spPr>
        <p:txBody>
          <a:bodyPr wrap="square" lIns="0" tIns="0" rIns="0" bIns="0">
            <a:spAutoFit/>
          </a:bodyPr>
          <a:lstStyle/>
          <a:p>
            <a:pPr>
              <a:lnSpc>
                <a:spcPct val="110000"/>
              </a:lnSpc>
            </a:pPr>
            <a:r>
              <a:rPr sz="950" b="1">
                <a:solidFill>
                  <a:srgbClr val="FFFFFF"/>
                </a:solidFill>
                <a:latin typeface="Meiryo UI"/>
                <a:ea typeface="Meiryo UI"/>
              </a:rPr>
              <a:t>真因3
回っていない</a:t>
            </a:r>
          </a:p>
        </p:txBody>
      </p:sp>
      <p:sp>
        <p:nvSpPr>
          <p:cNvPr id="32" name="TextBox 31"/>
          <p:cNvSpPr txBox="1"/>
          <p:nvPr/>
        </p:nvSpPr>
        <p:spPr>
          <a:xfrm>
            <a:off x="1764792" y="5102352"/>
            <a:ext cx="274320" cy="274320"/>
          </a:xfrm>
          <a:prstGeom prst="rect">
            <a:avLst/>
          </a:prstGeom>
          <a:noFill/>
        </p:spPr>
        <p:txBody>
          <a:bodyPr wrap="square" lIns="0" tIns="0" rIns="0" bIns="0">
            <a:spAutoFit/>
          </a:bodyPr>
          <a:lstStyle/>
          <a:p>
            <a:pPr>
              <a:lnSpc>
                <a:spcPct val="112000"/>
              </a:lnSpc>
            </a:pPr>
            <a:r>
              <a:rPr sz="1200" b="1">
                <a:solidFill>
                  <a:srgbClr val="595959"/>
                </a:solidFill>
                <a:latin typeface="Meiryo UI"/>
                <a:ea typeface="Meiryo UI"/>
              </a:rPr>
              <a:t>→</a:t>
            </a:r>
          </a:p>
        </p:txBody>
      </p:sp>
      <p:sp>
        <p:nvSpPr>
          <p:cNvPr id="33" name="Rectangle 32"/>
          <p:cNvSpPr/>
          <p:nvPr/>
        </p:nvSpPr>
        <p:spPr>
          <a:xfrm>
            <a:off x="2057400" y="4535424"/>
            <a:ext cx="6949440" cy="1417320"/>
          </a:xfrm>
          <a:prstGeom prst="rect">
            <a:avLst/>
          </a:prstGeom>
          <a:solidFill>
            <a:srgbClr val="FFFFFF"/>
          </a:solidFill>
          <a:ln w="1397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2194560" y="4599432"/>
            <a:ext cx="6675120" cy="292608"/>
          </a:xfrm>
          <a:prstGeom prst="rect">
            <a:avLst/>
          </a:prstGeom>
          <a:noFill/>
        </p:spPr>
        <p:txBody>
          <a:bodyPr wrap="square" lIns="0" tIns="0" rIns="0" bIns="0">
            <a:spAutoFit/>
          </a:bodyPr>
          <a:lstStyle/>
          <a:p>
            <a:pPr>
              <a:lnSpc>
                <a:spcPct val="112000"/>
              </a:lnSpc>
            </a:pPr>
            <a:r>
              <a:rPr sz="980" b="1">
                <a:solidFill>
                  <a:srgbClr val="008D2E"/>
                </a:solidFill>
                <a:latin typeface="Meiryo UI"/>
                <a:ea typeface="Meiryo UI"/>
              </a:rPr>
              <a:t>解決3 「回路を作る」 ― 作る→試す→検証する→広げる、を仕組みにする</a:t>
            </a:r>
          </a:p>
        </p:txBody>
      </p:sp>
      <p:sp>
        <p:nvSpPr>
          <p:cNvPr id="35" name="TextBox 34"/>
          <p:cNvSpPr txBox="1"/>
          <p:nvPr/>
        </p:nvSpPr>
        <p:spPr>
          <a:xfrm>
            <a:off x="2194560" y="4937760"/>
            <a:ext cx="6675120" cy="960120"/>
          </a:xfrm>
          <a:prstGeom prst="rect">
            <a:avLst/>
          </a:prstGeom>
          <a:noFill/>
        </p:spPr>
        <p:txBody>
          <a:bodyPr wrap="square" lIns="0" tIns="0" rIns="0" bIns="0">
            <a:spAutoFit/>
          </a:bodyPr>
          <a:lstStyle/>
          <a:p>
            <a:pPr>
              <a:lnSpc>
                <a:spcPct val="116000"/>
              </a:lnSpc>
            </a:pPr>
            <a:r>
              <a:rPr sz="819" b="0">
                <a:solidFill>
                  <a:srgbClr val="262626"/>
                </a:solidFill>
                <a:latin typeface="Meiryo UI"/>
                <a:ea typeface="Meiryo UI"/>
              </a:rPr>
              <a:t>時間＝Input業務ゼロ化（施策⑦）／編成＝アカウントスクワッド・BU変革プロジェクト（施策⑧）／検証＝北極星KPI・確認ゲート・撤退基準／広げ方＝重点1小売×オーラルケアで実証→手順書化→展開</a:t>
            </a:r>
          </a:p>
        </p:txBody>
      </p:sp>
      <p:sp>
        <p:nvSpPr>
          <p:cNvPr id="36" name="Rectangle 35"/>
          <p:cNvSpPr/>
          <p:nvPr/>
        </p:nvSpPr>
        <p:spPr>
          <a:xfrm>
            <a:off x="9098280" y="4535424"/>
            <a:ext cx="2743200" cy="141732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9217152" y="4626864"/>
            <a:ext cx="2523744" cy="1261872"/>
          </a:xfrm>
          <a:prstGeom prst="rect">
            <a:avLst/>
          </a:prstGeom>
          <a:noFill/>
        </p:spPr>
        <p:txBody>
          <a:bodyPr wrap="square" lIns="0" tIns="0" rIns="0" bIns="0">
            <a:spAutoFit/>
          </a:bodyPr>
          <a:lstStyle/>
          <a:p>
            <a:pPr>
              <a:lnSpc>
                <a:spcPct val="115000"/>
              </a:lnSpc>
            </a:pPr>
            <a:r>
              <a:rPr sz="760" b="1">
                <a:solidFill>
                  <a:srgbClr val="595959"/>
                </a:solidFill>
                <a:latin typeface="Meiryo UI"/>
                <a:ea typeface="Meiryo UI"/>
              </a:rPr>
              <a:t>どこで具体化するか
</a:t>
            </a:r>
            <a:r>
              <a:rPr sz="780" b="1">
                <a:solidFill>
                  <a:srgbClr val="262626"/>
                </a:solidFill>
                <a:latin typeface="Meiryo UI"/>
                <a:ea typeface="Meiryo UI"/>
              </a:rPr>
              <a:t>→ 出口：業務のBefore→After（P.12）
→ マイルストーンとゲート（P.13）・KGI/KPI（P.14）</a:t>
            </a:r>
          </a:p>
        </p:txBody>
      </p:sp>
      <p:sp>
        <p:nvSpPr>
          <p:cNvPr id="38" name="Rectangle 37"/>
          <p:cNvSpPr/>
          <p:nvPr/>
        </p:nvSpPr>
        <p:spPr>
          <a:xfrm>
            <a:off x="320040" y="6053328"/>
            <a:ext cx="11521440" cy="45720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57200" y="6099048"/>
            <a:ext cx="11292840" cy="365760"/>
          </a:xfrm>
          <a:prstGeom prst="rect">
            <a:avLst/>
          </a:prstGeom>
          <a:noFill/>
        </p:spPr>
        <p:txBody>
          <a:bodyPr wrap="square" lIns="0" tIns="0" rIns="0" bIns="0">
            <a:spAutoFit/>
          </a:bodyPr>
          <a:lstStyle/>
          <a:p>
            <a:pPr>
              <a:lnSpc>
                <a:spcPct val="114000"/>
              </a:lnSpc>
            </a:pPr>
            <a:r>
              <a:rPr sz="860" b="1">
                <a:solidFill>
                  <a:srgbClr val="008D2E"/>
                </a:solidFill>
                <a:latin typeface="Meiryo UI"/>
                <a:ea typeface="Meiryo UI"/>
              </a:rPr>
              <a:t>順序と規律：</a:t>
            </a:r>
            <a:r>
              <a:rPr sz="819" b="0">
                <a:solidFill>
                  <a:srgbClr val="262626"/>
                </a:solidFill>
                <a:latin typeface="Meiryo UI"/>
                <a:ea typeface="Meiryo UI"/>
              </a:rPr>
              <a:t>「決める」は次回会議で即（お金はかからない）。「持つ」「回す」はFY26から並行で始め、確認ゲートで拡大する。以降のすべての施策は3つの真因のどれかに紐づく ― 紐づかない施策は、この計画ではやらない。</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44A1C6-7429-17FA-20D6-5E22AEF76F86}"/>
            </a:ext>
          </a:extLst>
        </p:cNvPr>
        <p:cNvGrpSpPr/>
        <p:nvPr/>
      </p:nvGrpSpPr>
      <p:grpSpPr>
        <a:xfrm>
          <a:off x="0" y="0"/>
          <a:ext cx="0" cy="0"/>
          <a:chOff x="0" y="0"/>
          <a:chExt cx="0" cy="0"/>
        </a:xfrm>
      </p:grpSpPr>
      <p:sp>
        <p:nvSpPr>
          <p:cNvPr id="7" name="タイトル 1">
            <a:extLst>
              <a:ext uri="{FF2B5EF4-FFF2-40B4-BE49-F238E27FC236}">
                <a16:creationId xmlns:a16="http://schemas.microsoft.com/office/drawing/2014/main" id="{7F410D9A-E3DA-9565-E786-25A234B3CDF9}"/>
              </a:ext>
            </a:extLst>
          </p:cNvPr>
          <p:cNvSpPr>
            <a:spLocks noGrp="1"/>
          </p:cNvSpPr>
          <p:nvPr>
            <p:ph type="title"/>
          </p:nvPr>
        </p:nvSpPr>
        <p:spPr>
          <a:xfrm>
            <a:off x="334961" y="1"/>
            <a:ext cx="11522077" cy="914400"/>
          </a:xfrm>
        </p:spPr>
        <p:txBody>
          <a:bodyPr/>
          <a:lstStyle/>
          <a:p>
            <a:br>
              <a:rPr lang="en-US" altLang="ja-JP" dirty="0">
                <a:latin typeface="+mn-ea"/>
                <a:ea typeface="+mn-ea"/>
              </a:rPr>
            </a:br>
            <a:r>
              <a:rPr lang="ja-JP" altLang="en-US" dirty="0">
                <a:latin typeface="+mn-ea"/>
                <a:ea typeface="+mn-ea"/>
              </a:rPr>
              <a:t>解決の方向 ― 4つの変革テーマ</a:t>
            </a:r>
            <a:endParaRPr kumimoji="1" lang="ja-JP" altLang="en-US" dirty="0">
              <a:latin typeface="+mn-ea"/>
              <a:ea typeface="+mn-ea"/>
            </a:endParaRPr>
          </a:p>
        </p:txBody>
      </p:sp>
      <p:sp>
        <p:nvSpPr>
          <p:cNvPr id="5" name="テキスト プレースホルダー 2">
            <a:extLst>
              <a:ext uri="{FF2B5EF4-FFF2-40B4-BE49-F238E27FC236}">
                <a16:creationId xmlns:a16="http://schemas.microsoft.com/office/drawing/2014/main" id="{818418C2-0FA5-4E5C-1836-660430BAD9EC}"/>
              </a:ext>
            </a:extLst>
          </p:cNvPr>
          <p:cNvSpPr txBox="1">
            <a:spLocks/>
          </p:cNvSpPr>
          <p:nvPr/>
        </p:nvSpPr>
        <p:spPr>
          <a:xfrm>
            <a:off x="223044" y="914400"/>
            <a:ext cx="11745912" cy="427038"/>
          </a:xfrm>
          <a:prstGeom prst="rect">
            <a:avLst/>
          </a:prstGeom>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08000"/>
              </a:buClr>
              <a:buFont typeface="Wingdings" panose="05000000000000000000" pitchFamily="2" charset="2"/>
              <a:buChar char="n"/>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ja-JP" sz="1800" dirty="0">
                <a:latin typeface="+mn-ea"/>
                <a:ea typeface="+mn-ea"/>
              </a:rPr>
              <a:t>安売りの消耗戦から完全に脱却し、デジタルと自社の強みを活かして小売のデータ</a:t>
            </a:r>
            <a:r>
              <a:rPr lang="en-US" altLang="ja-JP" sz="1800" dirty="0">
                <a:latin typeface="+mn-ea"/>
                <a:ea typeface="+mn-ea"/>
              </a:rPr>
              <a:t> </a:t>
            </a:r>
            <a:r>
              <a:rPr lang="ja-JP" altLang="en-US" sz="1800" dirty="0">
                <a:latin typeface="+mn-ea"/>
                <a:ea typeface="+mn-ea"/>
              </a:rPr>
              <a:t>･ </a:t>
            </a:r>
            <a:r>
              <a:rPr lang="ja-JP" altLang="ja-JP" sz="1800" dirty="0">
                <a:latin typeface="+mn-ea"/>
                <a:ea typeface="+mn-ea"/>
              </a:rPr>
              <a:t>環境課題を組織総力戦</a:t>
            </a:r>
            <a:br>
              <a:rPr lang="en-US" altLang="ja-JP" sz="1800" dirty="0">
                <a:latin typeface="+mn-ea"/>
                <a:ea typeface="+mn-ea"/>
              </a:rPr>
            </a:br>
            <a:r>
              <a:rPr lang="ja-JP" altLang="ja-JP" sz="1800" dirty="0">
                <a:latin typeface="+mn-ea"/>
                <a:ea typeface="+mn-ea"/>
              </a:rPr>
              <a:t>で解決するパートナーへとビジネス構造を転換すること</a:t>
            </a:r>
            <a:r>
              <a:rPr lang="ja-JP" altLang="en-US" sz="1800" dirty="0">
                <a:latin typeface="+mn-ea"/>
                <a:ea typeface="+mn-ea"/>
              </a:rPr>
              <a:t>が必要</a:t>
            </a:r>
          </a:p>
        </p:txBody>
      </p:sp>
      <p:sp>
        <p:nvSpPr>
          <p:cNvPr id="80" name="正方形/長方形 79">
            <a:extLst>
              <a:ext uri="{FF2B5EF4-FFF2-40B4-BE49-F238E27FC236}">
                <a16:creationId xmlns:a16="http://schemas.microsoft.com/office/drawing/2014/main" id="{56772CD2-B7C6-4AB0-E0AB-741CD3A19637}"/>
              </a:ext>
            </a:extLst>
          </p:cNvPr>
          <p:cNvSpPr/>
          <p:nvPr/>
        </p:nvSpPr>
        <p:spPr>
          <a:xfrm>
            <a:off x="334963" y="1773627"/>
            <a:ext cx="1344168" cy="636279"/>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400" b="1" dirty="0">
                <a:solidFill>
                  <a:srgbClr val="008D2E"/>
                </a:solidFill>
                <a:latin typeface="+mn-ea"/>
              </a:rPr>
              <a:t>テーマ</a:t>
            </a:r>
            <a:endParaRPr kumimoji="1" lang="ja-JP" altLang="en-US" sz="1400" dirty="0">
              <a:solidFill>
                <a:srgbClr val="008D2E"/>
              </a:solidFill>
              <a:latin typeface="+mn-ea"/>
            </a:endParaRPr>
          </a:p>
        </p:txBody>
      </p:sp>
      <p:sp>
        <p:nvSpPr>
          <p:cNvPr id="81" name="正方形/長方形 80">
            <a:extLst>
              <a:ext uri="{FF2B5EF4-FFF2-40B4-BE49-F238E27FC236}">
                <a16:creationId xmlns:a16="http://schemas.microsoft.com/office/drawing/2014/main" id="{E63C99E9-17B5-809F-C4E8-220A832EA476}"/>
              </a:ext>
            </a:extLst>
          </p:cNvPr>
          <p:cNvSpPr/>
          <p:nvPr/>
        </p:nvSpPr>
        <p:spPr>
          <a:xfrm>
            <a:off x="1745673"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200" b="1" dirty="0">
                <a:solidFill>
                  <a:srgbClr val="008D2E"/>
                </a:solidFill>
                <a:latin typeface="+mn-ea"/>
              </a:rPr>
              <a:t>勝てる土俵の再定義</a:t>
            </a:r>
            <a:br>
              <a:rPr lang="en-US" altLang="ja-JP" sz="1100" b="1" dirty="0">
                <a:solidFill>
                  <a:srgbClr val="008D2E"/>
                </a:solidFill>
                <a:latin typeface="+mn-ea"/>
              </a:rPr>
            </a:br>
            <a:r>
              <a:rPr lang="en-US" altLang="ja-JP" sz="1000" b="1" dirty="0">
                <a:solidFill>
                  <a:srgbClr val="008D2E"/>
                </a:solidFill>
                <a:latin typeface="+mn-ea"/>
              </a:rPr>
              <a:t>(</a:t>
            </a:r>
            <a:r>
              <a:rPr lang="ja-JP" altLang="ja-JP" sz="1000" b="1" dirty="0">
                <a:solidFill>
                  <a:srgbClr val="008D2E"/>
                </a:solidFill>
                <a:latin typeface="+mn-ea"/>
              </a:rPr>
              <a:t>予防医療×資源循環のインフラ化</a:t>
            </a:r>
            <a:r>
              <a:rPr lang="en-US" altLang="ja-JP" sz="1000" b="1" dirty="0">
                <a:solidFill>
                  <a:srgbClr val="008D2E"/>
                </a:solidFill>
                <a:latin typeface="+mn-ea"/>
              </a:rPr>
              <a:t>) </a:t>
            </a:r>
            <a:endParaRPr lang="ja-JP" altLang="ja-JP" sz="1000" b="1" dirty="0">
              <a:solidFill>
                <a:srgbClr val="008D2E"/>
              </a:solidFill>
              <a:latin typeface="+mn-ea"/>
            </a:endParaRPr>
          </a:p>
        </p:txBody>
      </p:sp>
      <p:sp>
        <p:nvSpPr>
          <p:cNvPr id="82" name="background">
            <a:extLst>
              <a:ext uri="{FF2B5EF4-FFF2-40B4-BE49-F238E27FC236}">
                <a16:creationId xmlns:a16="http://schemas.microsoft.com/office/drawing/2014/main" id="{6CC377FD-5E6C-082A-73AC-A9DCDEB184CF}"/>
              </a:ext>
            </a:extLst>
          </p:cNvPr>
          <p:cNvSpPr>
            <a:spLocks noChangeAspect="1"/>
          </p:cNvSpPr>
          <p:nvPr>
            <p:custDataLst>
              <p:tags r:id="rId1"/>
            </p:custDataLst>
          </p:nvPr>
        </p:nvSpPr>
        <p:spPr>
          <a:xfrm>
            <a:off x="1745673"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400" dirty="0">
                <a:solidFill>
                  <a:schemeClr val="bg1"/>
                </a:solidFill>
                <a:latin typeface="+mn-ea"/>
              </a:rPr>
              <a:t>1</a:t>
            </a:r>
            <a:endParaRPr lang="ja-JP" altLang="en-US" sz="1400" dirty="0">
              <a:solidFill>
                <a:schemeClr val="bg1"/>
              </a:solidFill>
              <a:latin typeface="+mn-ea"/>
            </a:endParaRPr>
          </a:p>
        </p:txBody>
      </p:sp>
      <p:pic>
        <p:nvPicPr>
          <p:cNvPr id="83" name="グラフィックス 82" descr="救急箱 単色塗りつぶし">
            <a:extLst>
              <a:ext uri="{FF2B5EF4-FFF2-40B4-BE49-F238E27FC236}">
                <a16:creationId xmlns:a16="http://schemas.microsoft.com/office/drawing/2014/main" id="{3889AE31-E3FD-D487-FE37-C9009D14FA65}"/>
              </a:ext>
            </a:extLst>
          </p:cNvPr>
          <p:cNvPicPr preferRelativeResize="0">
            <a:picLocks/>
          </p:cNvPicPr>
          <p:nvPr/>
        </p:nvPicPr>
        <p:blipFill>
          <a:blip>
            <a:extLst>
              <a:ext uri="{96DAC541-7B7A-43D3-8B79-37D633B846F1}">
                <asvg:svgBlip xmlns:asvg="http://schemas.microsoft.com/office/drawing/2016/SVG/main" r:embed="rId6"/>
              </a:ext>
            </a:extLst>
          </a:blip>
          <a:stretch>
            <a:fillRect/>
          </a:stretch>
        </p:blipFill>
        <p:spPr>
          <a:xfrm>
            <a:off x="1745673" y="1893767"/>
            <a:ext cx="360000" cy="360000"/>
          </a:xfrm>
          <a:prstGeom prst="rect">
            <a:avLst/>
          </a:prstGeom>
        </p:spPr>
      </p:pic>
      <p:sp>
        <p:nvSpPr>
          <p:cNvPr id="84" name="正方形/長方形 83">
            <a:extLst>
              <a:ext uri="{FF2B5EF4-FFF2-40B4-BE49-F238E27FC236}">
                <a16:creationId xmlns:a16="http://schemas.microsoft.com/office/drawing/2014/main" id="{C5772F10-97DF-EBF2-D7CA-5BF123E9B9D3}"/>
              </a:ext>
            </a:extLst>
          </p:cNvPr>
          <p:cNvSpPr/>
          <p:nvPr/>
        </p:nvSpPr>
        <p:spPr>
          <a:xfrm>
            <a:off x="4290150"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200" b="1" dirty="0">
                <a:solidFill>
                  <a:srgbClr val="008D2E"/>
                </a:solidFill>
                <a:latin typeface="+mn-ea"/>
              </a:rPr>
              <a:t>データ戦略</a:t>
            </a:r>
            <a:br>
              <a:rPr lang="en-US" altLang="ja-JP" sz="1000" b="1" dirty="0">
                <a:solidFill>
                  <a:srgbClr val="008D2E"/>
                </a:solidFill>
                <a:latin typeface="+mn-ea"/>
              </a:rPr>
            </a:br>
            <a:r>
              <a:rPr lang="en-US" altLang="ja-JP" sz="1000" b="1" dirty="0">
                <a:solidFill>
                  <a:srgbClr val="008D2E"/>
                </a:solidFill>
                <a:latin typeface="+mn-ea"/>
              </a:rPr>
              <a:t>(</a:t>
            </a:r>
            <a:r>
              <a:rPr lang="ja-JP" altLang="ja-JP" sz="1000" b="1" dirty="0">
                <a:solidFill>
                  <a:srgbClr val="008D2E"/>
                </a:solidFill>
                <a:latin typeface="+mn-ea"/>
              </a:rPr>
              <a:t>リテールメディアのハッキングと</a:t>
            </a:r>
            <a:r>
              <a:rPr lang="ja-JP" altLang="en-US" sz="1000" b="1" dirty="0">
                <a:solidFill>
                  <a:srgbClr val="008D2E"/>
                </a:solidFill>
                <a:latin typeface="+mn-ea"/>
              </a:rPr>
              <a:t>専門データの組み合わせの</a:t>
            </a:r>
            <a:r>
              <a:rPr lang="en-US" altLang="ja-JP" sz="1000" b="1" dirty="0">
                <a:solidFill>
                  <a:srgbClr val="008D2E"/>
                </a:solidFill>
                <a:latin typeface="+mn-ea"/>
              </a:rPr>
              <a:t>2</a:t>
            </a:r>
            <a:r>
              <a:rPr lang="ja-JP" altLang="en-US" sz="1000" b="1" dirty="0">
                <a:solidFill>
                  <a:srgbClr val="008D2E"/>
                </a:solidFill>
                <a:latin typeface="+mn-ea"/>
              </a:rPr>
              <a:t>段構え</a:t>
            </a:r>
            <a:r>
              <a:rPr lang="en-US" altLang="ja-JP" sz="1000" b="1" dirty="0">
                <a:solidFill>
                  <a:srgbClr val="008D2E"/>
                </a:solidFill>
                <a:latin typeface="+mn-ea"/>
              </a:rPr>
              <a:t>)</a:t>
            </a:r>
          </a:p>
        </p:txBody>
      </p:sp>
      <p:sp>
        <p:nvSpPr>
          <p:cNvPr id="85" name="background">
            <a:extLst>
              <a:ext uri="{FF2B5EF4-FFF2-40B4-BE49-F238E27FC236}">
                <a16:creationId xmlns:a16="http://schemas.microsoft.com/office/drawing/2014/main" id="{4304AD61-4FD2-B00A-D582-8B5B18E21372}"/>
              </a:ext>
            </a:extLst>
          </p:cNvPr>
          <p:cNvSpPr>
            <a:spLocks noChangeAspect="1"/>
          </p:cNvSpPr>
          <p:nvPr>
            <p:custDataLst>
              <p:tags r:id="rId2"/>
            </p:custDataLst>
          </p:nvPr>
        </p:nvSpPr>
        <p:spPr>
          <a:xfrm>
            <a:off x="4290150"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400" dirty="0">
                <a:solidFill>
                  <a:schemeClr val="bg1"/>
                </a:solidFill>
                <a:latin typeface="+mn-ea"/>
              </a:rPr>
              <a:t>2</a:t>
            </a:r>
            <a:endParaRPr lang="ja-JP" altLang="en-US" sz="1400" dirty="0">
              <a:solidFill>
                <a:schemeClr val="bg1"/>
              </a:solidFill>
              <a:latin typeface="+mn-ea"/>
            </a:endParaRPr>
          </a:p>
        </p:txBody>
      </p:sp>
      <p:pic>
        <p:nvPicPr>
          <p:cNvPr id="86" name="グラフィックス 85" descr="パズルのピース 単色塗りつぶし">
            <a:extLst>
              <a:ext uri="{FF2B5EF4-FFF2-40B4-BE49-F238E27FC236}">
                <a16:creationId xmlns:a16="http://schemas.microsoft.com/office/drawing/2014/main" id="{AA9D07A9-11F2-969D-14F2-A6AA1A3F0458}"/>
              </a:ext>
            </a:extLst>
          </p:cNvPr>
          <p:cNvPicPr preferRelativeResize="0">
            <a:picLocks/>
          </p:cNvPicPr>
          <p:nvPr/>
        </p:nvPicPr>
        <p:blipFill>
          <a:blip>
            <a:extLst>
              <a:ext uri="{96DAC541-7B7A-43D3-8B79-37D633B846F1}">
                <asvg:svgBlip xmlns:asvg="http://schemas.microsoft.com/office/drawing/2016/SVG/main" r:embed="rId7"/>
              </a:ext>
            </a:extLst>
          </a:blip>
          <a:stretch>
            <a:fillRect/>
          </a:stretch>
        </p:blipFill>
        <p:spPr>
          <a:xfrm>
            <a:off x="4290150" y="1893767"/>
            <a:ext cx="360000" cy="360000"/>
          </a:xfrm>
          <a:prstGeom prst="rect">
            <a:avLst/>
          </a:prstGeom>
        </p:spPr>
      </p:pic>
      <p:sp>
        <p:nvSpPr>
          <p:cNvPr id="87" name="正方形/長方形 86">
            <a:extLst>
              <a:ext uri="{FF2B5EF4-FFF2-40B4-BE49-F238E27FC236}">
                <a16:creationId xmlns:a16="http://schemas.microsoft.com/office/drawing/2014/main" id="{E6B39EAC-8CDD-6A68-D803-D720F421E951}"/>
              </a:ext>
            </a:extLst>
          </p:cNvPr>
          <p:cNvSpPr/>
          <p:nvPr/>
        </p:nvSpPr>
        <p:spPr>
          <a:xfrm>
            <a:off x="6834627"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200" b="1" dirty="0">
                <a:solidFill>
                  <a:srgbClr val="008D2E"/>
                </a:solidFill>
                <a:latin typeface="+mn-ea"/>
              </a:rPr>
              <a:t>商談価値</a:t>
            </a:r>
            <a:r>
              <a:rPr lang="en-US" altLang="ja-JP" sz="1200" b="1" dirty="0">
                <a:solidFill>
                  <a:srgbClr val="008D2E"/>
                </a:solidFill>
                <a:latin typeface="+mn-ea"/>
              </a:rPr>
              <a:t> (</a:t>
            </a:r>
            <a:r>
              <a:rPr lang="ja-JP" altLang="ja-JP" sz="1200" b="1" dirty="0">
                <a:solidFill>
                  <a:srgbClr val="008D2E"/>
                </a:solidFill>
                <a:latin typeface="+mn-ea"/>
              </a:rPr>
              <a:t>バイヤー向けロジック化</a:t>
            </a:r>
            <a:r>
              <a:rPr lang="en-US" altLang="ja-JP" sz="1200" b="1" dirty="0">
                <a:solidFill>
                  <a:srgbClr val="008D2E"/>
                </a:solidFill>
                <a:latin typeface="+mn-ea"/>
              </a:rPr>
              <a:t>)</a:t>
            </a:r>
          </a:p>
        </p:txBody>
      </p:sp>
      <p:sp>
        <p:nvSpPr>
          <p:cNvPr id="88" name="background">
            <a:extLst>
              <a:ext uri="{FF2B5EF4-FFF2-40B4-BE49-F238E27FC236}">
                <a16:creationId xmlns:a16="http://schemas.microsoft.com/office/drawing/2014/main" id="{102EA56E-91AB-1BC6-322A-068D7F764686}"/>
              </a:ext>
            </a:extLst>
          </p:cNvPr>
          <p:cNvSpPr>
            <a:spLocks noChangeAspect="1"/>
          </p:cNvSpPr>
          <p:nvPr>
            <p:custDataLst>
              <p:tags r:id="rId3"/>
            </p:custDataLst>
          </p:nvPr>
        </p:nvSpPr>
        <p:spPr>
          <a:xfrm>
            <a:off x="6834625"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400" dirty="0">
                <a:solidFill>
                  <a:schemeClr val="bg1"/>
                </a:solidFill>
                <a:latin typeface="+mn-ea"/>
              </a:rPr>
              <a:t>3</a:t>
            </a:r>
            <a:endParaRPr lang="ja-JP" altLang="en-US" sz="1400" dirty="0">
              <a:solidFill>
                <a:schemeClr val="bg1"/>
              </a:solidFill>
              <a:latin typeface="+mn-ea"/>
            </a:endParaRPr>
          </a:p>
        </p:txBody>
      </p:sp>
      <p:pic>
        <p:nvPicPr>
          <p:cNvPr id="89" name="グラフィックス 88" descr="手のひらと植物 単色塗りつぶし">
            <a:extLst>
              <a:ext uri="{FF2B5EF4-FFF2-40B4-BE49-F238E27FC236}">
                <a16:creationId xmlns:a16="http://schemas.microsoft.com/office/drawing/2014/main" id="{EECBEA3E-AE19-DC1E-A48B-B4E0C57AFB8E}"/>
              </a:ext>
            </a:extLst>
          </p:cNvPr>
          <p:cNvPicPr preferRelativeResize="0">
            <a:picLocks/>
          </p:cNvPicPr>
          <p:nvPr/>
        </p:nvPicPr>
        <p:blipFill>
          <a:blip>
            <a:extLst>
              <a:ext uri="{96DAC541-7B7A-43D3-8B79-37D633B846F1}">
                <asvg:svgBlip xmlns:asvg="http://schemas.microsoft.com/office/drawing/2016/SVG/main" r:embed="rId8"/>
              </a:ext>
            </a:extLst>
          </a:blip>
          <a:stretch>
            <a:fillRect/>
          </a:stretch>
        </p:blipFill>
        <p:spPr>
          <a:xfrm>
            <a:off x="6834626" y="1893767"/>
            <a:ext cx="360000" cy="360000"/>
          </a:xfrm>
          <a:prstGeom prst="rect">
            <a:avLst/>
          </a:prstGeom>
        </p:spPr>
      </p:pic>
      <p:sp>
        <p:nvSpPr>
          <p:cNvPr id="90" name="正方形/長方形 89">
            <a:extLst>
              <a:ext uri="{FF2B5EF4-FFF2-40B4-BE49-F238E27FC236}">
                <a16:creationId xmlns:a16="http://schemas.microsoft.com/office/drawing/2014/main" id="{E10EC928-88C7-D1C8-FAFF-3BE3DC3B5E76}"/>
              </a:ext>
            </a:extLst>
          </p:cNvPr>
          <p:cNvSpPr/>
          <p:nvPr/>
        </p:nvSpPr>
        <p:spPr>
          <a:xfrm>
            <a:off x="9379103"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200" b="1" dirty="0">
                <a:solidFill>
                  <a:srgbClr val="008D2E"/>
                </a:solidFill>
                <a:latin typeface="+mn-ea"/>
              </a:rPr>
              <a:t>組織・生産性</a:t>
            </a:r>
            <a:r>
              <a:rPr lang="en-US" altLang="ja-JP" sz="1200" b="1" dirty="0">
                <a:solidFill>
                  <a:srgbClr val="008D2E"/>
                </a:solidFill>
                <a:latin typeface="+mn-ea"/>
              </a:rPr>
              <a:t> </a:t>
            </a:r>
            <a:br>
              <a:rPr lang="en-US" altLang="ja-JP" sz="1200" b="1" dirty="0">
                <a:solidFill>
                  <a:srgbClr val="008D2E"/>
                </a:solidFill>
                <a:latin typeface="+mn-ea"/>
              </a:rPr>
            </a:br>
            <a:r>
              <a:rPr lang="en-US" altLang="ja-JP" sz="1000" b="1" dirty="0">
                <a:solidFill>
                  <a:srgbClr val="008D2E"/>
                </a:solidFill>
                <a:latin typeface="+mn-ea"/>
              </a:rPr>
              <a:t>(</a:t>
            </a:r>
            <a:r>
              <a:rPr lang="ja-JP" altLang="ja-JP" sz="1000" b="1" dirty="0">
                <a:solidFill>
                  <a:srgbClr val="008D2E"/>
                </a:solidFill>
                <a:latin typeface="+mn-ea"/>
              </a:rPr>
              <a:t>Input業務ゼロ化とリバース</a:t>
            </a:r>
            <a:r>
              <a:rPr lang="en-US" altLang="ja-JP" sz="1000" b="1" dirty="0">
                <a:solidFill>
                  <a:srgbClr val="008D2E"/>
                </a:solidFill>
                <a:latin typeface="+mn-ea"/>
              </a:rPr>
              <a:t> </a:t>
            </a:r>
            <a:r>
              <a:rPr lang="ja-JP" altLang="en-US" sz="1000" b="1" dirty="0">
                <a:solidFill>
                  <a:srgbClr val="008D2E"/>
                </a:solidFill>
                <a:latin typeface="+mn-ea"/>
              </a:rPr>
              <a:t>･ </a:t>
            </a:r>
            <a:br>
              <a:rPr lang="en-US" altLang="ja-JP" sz="1000" b="1" dirty="0">
                <a:solidFill>
                  <a:srgbClr val="008D2E"/>
                </a:solidFill>
                <a:latin typeface="+mn-ea"/>
              </a:rPr>
            </a:br>
            <a:r>
              <a:rPr lang="ja-JP" altLang="ja-JP" sz="1000" b="1" dirty="0">
                <a:solidFill>
                  <a:srgbClr val="008D2E"/>
                </a:solidFill>
                <a:latin typeface="+mn-ea"/>
              </a:rPr>
              <a:t>ロジスティクス対応</a:t>
            </a:r>
            <a:r>
              <a:rPr lang="en-US" altLang="ja-JP" sz="1000" b="1" dirty="0">
                <a:solidFill>
                  <a:srgbClr val="008D2E"/>
                </a:solidFill>
                <a:latin typeface="+mn-ea"/>
              </a:rPr>
              <a:t>) </a:t>
            </a:r>
            <a:endParaRPr lang="ja-JP" altLang="ja-JP" sz="1000" b="1" dirty="0">
              <a:solidFill>
                <a:srgbClr val="008D2E"/>
              </a:solidFill>
              <a:latin typeface="+mn-ea"/>
            </a:endParaRPr>
          </a:p>
        </p:txBody>
      </p:sp>
      <p:sp>
        <p:nvSpPr>
          <p:cNvPr id="91" name="background">
            <a:extLst>
              <a:ext uri="{FF2B5EF4-FFF2-40B4-BE49-F238E27FC236}">
                <a16:creationId xmlns:a16="http://schemas.microsoft.com/office/drawing/2014/main" id="{BE8DE641-4921-4C97-6634-1409D83EA1B3}"/>
              </a:ext>
            </a:extLst>
          </p:cNvPr>
          <p:cNvSpPr>
            <a:spLocks noChangeAspect="1"/>
          </p:cNvSpPr>
          <p:nvPr>
            <p:custDataLst>
              <p:tags r:id="rId4"/>
            </p:custDataLst>
          </p:nvPr>
        </p:nvSpPr>
        <p:spPr>
          <a:xfrm>
            <a:off x="9379103"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400" dirty="0">
                <a:solidFill>
                  <a:schemeClr val="bg1"/>
                </a:solidFill>
                <a:latin typeface="+mn-ea"/>
              </a:rPr>
              <a:t>4</a:t>
            </a:r>
            <a:endParaRPr lang="ja-JP" altLang="en-US" sz="1400" dirty="0">
              <a:solidFill>
                <a:schemeClr val="bg1"/>
              </a:solidFill>
              <a:latin typeface="+mn-ea"/>
            </a:endParaRPr>
          </a:p>
        </p:txBody>
      </p:sp>
      <p:pic>
        <p:nvPicPr>
          <p:cNvPr id="92" name="グラフィックス 91" descr="階層 単色塗りつぶし">
            <a:extLst>
              <a:ext uri="{FF2B5EF4-FFF2-40B4-BE49-F238E27FC236}">
                <a16:creationId xmlns:a16="http://schemas.microsoft.com/office/drawing/2014/main" id="{125BBAE5-3962-A8DB-B6FB-AE4C18B667DF}"/>
              </a:ext>
            </a:extLst>
          </p:cNvPr>
          <p:cNvPicPr preferRelativeResize="0">
            <a:picLocks/>
          </p:cNvPicPr>
          <p:nvPr/>
        </p:nvPicPr>
        <p:blipFill>
          <a:blip>
            <a:extLst>
              <a:ext uri="{96DAC541-7B7A-43D3-8B79-37D633B846F1}">
                <asvg:svgBlip xmlns:asvg="http://schemas.microsoft.com/office/drawing/2016/SVG/main" r:embed="rId9"/>
              </a:ext>
            </a:extLst>
          </a:blip>
          <a:stretch>
            <a:fillRect/>
          </a:stretch>
        </p:blipFill>
        <p:spPr>
          <a:xfrm>
            <a:off x="9379102" y="1893767"/>
            <a:ext cx="360000" cy="360000"/>
          </a:xfrm>
          <a:prstGeom prst="rect">
            <a:avLst/>
          </a:prstGeom>
        </p:spPr>
      </p:pic>
      <p:grpSp>
        <p:nvGrpSpPr>
          <p:cNvPr id="113" name="グループ化 112">
            <a:extLst>
              <a:ext uri="{FF2B5EF4-FFF2-40B4-BE49-F238E27FC236}">
                <a16:creationId xmlns:a16="http://schemas.microsoft.com/office/drawing/2014/main" id="{D9253D03-D92F-C6AD-81A5-A2BA83DC9945}"/>
              </a:ext>
            </a:extLst>
          </p:cNvPr>
          <p:cNvGrpSpPr/>
          <p:nvPr/>
        </p:nvGrpSpPr>
        <p:grpSpPr>
          <a:xfrm>
            <a:off x="334963" y="2514167"/>
            <a:ext cx="11522075" cy="1502997"/>
            <a:chOff x="334963" y="2514168"/>
            <a:chExt cx="11522075" cy="1348384"/>
          </a:xfrm>
        </p:grpSpPr>
        <p:sp>
          <p:nvSpPr>
            <p:cNvPr id="54" name="正方形/長方形 53">
              <a:extLst>
                <a:ext uri="{FF2B5EF4-FFF2-40B4-BE49-F238E27FC236}">
                  <a16:creationId xmlns:a16="http://schemas.microsoft.com/office/drawing/2014/main" id="{E750A228-B3C3-6372-A1CF-58CEB81133B8}"/>
                </a:ext>
              </a:extLst>
            </p:cNvPr>
            <p:cNvSpPr/>
            <p:nvPr/>
          </p:nvSpPr>
          <p:spPr>
            <a:xfrm>
              <a:off x="334963" y="2514168"/>
              <a:ext cx="1242377" cy="1342466"/>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600" b="1" dirty="0">
                  <a:solidFill>
                    <a:srgbClr val="008D2E"/>
                  </a:solidFill>
                  <a:latin typeface="+mn-ea"/>
                </a:rPr>
                <a:t>本質的な</a:t>
              </a:r>
              <a:endParaRPr lang="en-US" altLang="ja-JP" sz="1600" b="1" dirty="0">
                <a:solidFill>
                  <a:srgbClr val="008D2E"/>
                </a:solidFill>
                <a:latin typeface="+mn-ea"/>
              </a:endParaRPr>
            </a:p>
            <a:p>
              <a:pPr algn="ctr"/>
              <a:r>
                <a:rPr lang="ja-JP" altLang="ja-JP" sz="1600" b="1" dirty="0">
                  <a:solidFill>
                    <a:srgbClr val="008D2E"/>
                  </a:solidFill>
                  <a:latin typeface="+mn-ea"/>
                </a:rPr>
                <a:t>背景</a:t>
              </a:r>
              <a:endParaRPr lang="ja-JP" altLang="en-US" sz="1600" dirty="0">
                <a:solidFill>
                  <a:srgbClr val="008D2E"/>
                </a:solidFill>
                <a:latin typeface="+mn-ea"/>
              </a:endParaRPr>
            </a:p>
          </p:txBody>
        </p:sp>
        <p:sp>
          <p:nvSpPr>
            <p:cNvPr id="93" name="正方形/長方形 92">
              <a:extLst>
                <a:ext uri="{FF2B5EF4-FFF2-40B4-BE49-F238E27FC236}">
                  <a16:creationId xmlns:a16="http://schemas.microsoft.com/office/drawing/2014/main" id="{41F86437-264D-A2AF-70A5-C1BA99E7589F}"/>
                </a:ext>
              </a:extLst>
            </p:cNvPr>
            <p:cNvSpPr/>
            <p:nvPr/>
          </p:nvSpPr>
          <p:spPr>
            <a:xfrm>
              <a:off x="1745673" y="2520086"/>
              <a:ext cx="2477935" cy="1342466"/>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spcBef>
                  <a:spcPts val="600"/>
                </a:spcBef>
                <a:buClr>
                  <a:srgbClr val="2E7D32"/>
                </a:buClr>
              </a:pPr>
              <a:r>
                <a:rPr lang="ja-JP" altLang="ja-JP" sz="1050" b="1" dirty="0">
                  <a:solidFill>
                    <a:srgbClr val="008D2E"/>
                  </a:solidFill>
                  <a:latin typeface="+mn-ea"/>
                </a:rPr>
                <a:t>S1</a:t>
              </a:r>
              <a:r>
                <a:rPr lang="en-US" altLang="ja-JP" sz="1050" b="1" dirty="0">
                  <a:solidFill>
                    <a:srgbClr val="008D2E"/>
                  </a:solidFill>
                  <a:latin typeface="+mn-ea"/>
                </a:rPr>
                <a:t> </a:t>
              </a:r>
              <a:r>
                <a:rPr lang="ja-JP" altLang="en-US" sz="1050" b="1" dirty="0">
                  <a:solidFill>
                    <a:srgbClr val="008D2E"/>
                  </a:solidFill>
                  <a:latin typeface="+mn-ea"/>
                </a:rPr>
                <a:t>･ </a:t>
              </a:r>
              <a:r>
                <a:rPr lang="ja-JP" altLang="ja-JP" sz="1050" b="1" dirty="0">
                  <a:solidFill>
                    <a:srgbClr val="008D2E"/>
                  </a:solidFill>
                  <a:latin typeface="+mn-ea"/>
                </a:rPr>
                <a:t>S2 × O1 × T2</a:t>
              </a:r>
              <a:endParaRPr lang="en-US" altLang="ja-JP" sz="1050" b="1" dirty="0">
                <a:solidFill>
                  <a:srgbClr val="008D2E"/>
                </a:solidFill>
                <a:latin typeface="+mn-ea"/>
              </a:endParaRPr>
            </a:p>
            <a:p>
              <a:pPr marL="171450" indent="-171450">
                <a:spcBef>
                  <a:spcPts val="600"/>
                </a:spcBef>
                <a:buClr>
                  <a:srgbClr val="008D2E"/>
                </a:buClr>
                <a:buFont typeface="Arial" panose="020B0604020202020204" pitchFamily="34" charset="0"/>
                <a:buChar char="•"/>
              </a:pPr>
              <a:r>
                <a:rPr lang="ja-JP" altLang="ja-JP" sz="1050" dirty="0">
                  <a:solidFill>
                    <a:schemeClr val="tx1"/>
                  </a:solidFill>
                  <a:latin typeface="+mn-ea"/>
                </a:rPr>
                <a:t>P&amp;G等の巨人が量とコストで支配し、</a:t>
              </a:r>
              <a:br>
                <a:rPr lang="en-US" altLang="ja-JP" sz="1050" dirty="0">
                  <a:solidFill>
                    <a:schemeClr val="tx1"/>
                  </a:solidFill>
                  <a:latin typeface="+mn-ea"/>
                </a:rPr>
              </a:br>
              <a:r>
                <a:rPr lang="ja-JP" altLang="ja-JP" sz="1050" dirty="0">
                  <a:solidFill>
                    <a:schemeClr val="tx1"/>
                  </a:solidFill>
                  <a:latin typeface="+mn-ea"/>
                </a:rPr>
                <a:t>AIが自動補充</a:t>
              </a:r>
              <a:r>
                <a:rPr lang="ja-JP" altLang="en-US" sz="1050" dirty="0">
                  <a:solidFill>
                    <a:schemeClr val="tx1"/>
                  </a:solidFill>
                  <a:latin typeface="+mn-ea"/>
                </a:rPr>
                <a:t> </a:t>
              </a:r>
              <a:r>
                <a:rPr lang="en-US" altLang="ja-JP" sz="1050" dirty="0">
                  <a:solidFill>
                    <a:schemeClr val="tx1"/>
                  </a:solidFill>
                  <a:latin typeface="+mn-ea"/>
                </a:rPr>
                <a:t>(</a:t>
              </a:r>
              <a:r>
                <a:rPr lang="ja-JP" altLang="ja-JP" sz="1050" dirty="0">
                  <a:solidFill>
                    <a:schemeClr val="tx1"/>
                  </a:solidFill>
                  <a:latin typeface="+mn-ea"/>
                </a:rPr>
                <a:t>T2</a:t>
              </a:r>
              <a:r>
                <a:rPr lang="en-US" altLang="ja-JP" sz="1050" dirty="0">
                  <a:solidFill>
                    <a:schemeClr val="tx1"/>
                  </a:solidFill>
                  <a:latin typeface="+mn-ea"/>
                </a:rPr>
                <a:t>)</a:t>
              </a:r>
              <a:r>
                <a:rPr lang="ja-JP" altLang="en-US" sz="1050" dirty="0">
                  <a:solidFill>
                    <a:schemeClr val="tx1"/>
                  </a:solidFill>
                  <a:latin typeface="+mn-ea"/>
                </a:rPr>
                <a:t> </a:t>
              </a:r>
              <a:r>
                <a:rPr lang="ja-JP" altLang="ja-JP" sz="1050" dirty="0">
                  <a:solidFill>
                    <a:schemeClr val="tx1"/>
                  </a:solidFill>
                  <a:latin typeface="+mn-ea"/>
                </a:rPr>
                <a:t>を行う洗剤領域での消耗戦は財務構造上不利</a:t>
              </a:r>
              <a:endParaRPr lang="en-US" altLang="ja-JP" sz="1050" dirty="0">
                <a:solidFill>
                  <a:schemeClr val="tx1"/>
                </a:solidFill>
                <a:latin typeface="+mn-ea"/>
              </a:endParaRPr>
            </a:p>
            <a:p>
              <a:pPr marL="171450" indent="-171450">
                <a:spcBef>
                  <a:spcPts val="600"/>
                </a:spcBef>
                <a:buClr>
                  <a:srgbClr val="008D2E"/>
                </a:buClr>
                <a:buFont typeface="Arial" panose="020B0604020202020204" pitchFamily="34" charset="0"/>
                <a:buChar char="•"/>
              </a:pPr>
              <a:r>
                <a:rPr lang="ja-JP" altLang="ja-JP" sz="1050" dirty="0">
                  <a:solidFill>
                    <a:schemeClr val="tx1"/>
                  </a:solidFill>
                  <a:latin typeface="+mn-ea"/>
                </a:rPr>
                <a:t>ライオンが勝てる唯一の土俵は、他社が</a:t>
              </a:r>
              <a:br>
                <a:rPr lang="en-US" altLang="ja-JP" sz="1050" dirty="0">
                  <a:solidFill>
                    <a:schemeClr val="tx1"/>
                  </a:solidFill>
                  <a:latin typeface="+mn-ea"/>
                </a:rPr>
              </a:br>
              <a:r>
                <a:rPr lang="ja-JP" altLang="ja-JP" sz="1050" dirty="0">
                  <a:solidFill>
                    <a:schemeClr val="tx1"/>
                  </a:solidFill>
                  <a:latin typeface="+mn-ea"/>
                </a:rPr>
                <a:t>侵入できない「歯科医師会</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学校</a:t>
              </a:r>
              <a:r>
                <a:rPr lang="en-US" altLang="ja-JP" sz="1050" dirty="0">
                  <a:solidFill>
                    <a:schemeClr val="tx1"/>
                  </a:solidFill>
                  <a:latin typeface="+mn-ea"/>
                </a:rPr>
                <a:t> (</a:t>
              </a:r>
              <a:r>
                <a:rPr lang="ja-JP" altLang="ja-JP" sz="1050" dirty="0">
                  <a:solidFill>
                    <a:schemeClr val="tx1"/>
                  </a:solidFill>
                  <a:latin typeface="+mn-ea"/>
                </a:rPr>
                <a:t>S1</a:t>
              </a:r>
              <a:r>
                <a:rPr lang="en-US" altLang="ja-JP" sz="1050" dirty="0">
                  <a:solidFill>
                    <a:schemeClr val="tx1"/>
                  </a:solidFill>
                  <a:latin typeface="+mn-ea"/>
                </a:rPr>
                <a:t>) </a:t>
              </a:r>
              <a:r>
                <a:rPr lang="ja-JP" altLang="ja-JP" sz="1050" dirty="0">
                  <a:solidFill>
                    <a:schemeClr val="tx1"/>
                  </a:solidFill>
                  <a:latin typeface="+mn-ea"/>
                </a:rPr>
                <a:t>」や「幼稚園</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自治体</a:t>
              </a:r>
              <a:r>
                <a:rPr lang="ja-JP" altLang="en-US" sz="1050" dirty="0">
                  <a:solidFill>
                    <a:schemeClr val="tx1"/>
                  </a:solidFill>
                  <a:latin typeface="+mn-ea"/>
                </a:rPr>
                <a:t> </a:t>
              </a:r>
              <a:r>
                <a:rPr lang="en-US" altLang="ja-JP" sz="1050" dirty="0">
                  <a:solidFill>
                    <a:schemeClr val="tx1"/>
                  </a:solidFill>
                  <a:latin typeface="+mn-ea"/>
                </a:rPr>
                <a:t>(</a:t>
              </a:r>
              <a:r>
                <a:rPr lang="ja-JP" altLang="ja-JP" sz="1050" dirty="0">
                  <a:solidFill>
                    <a:schemeClr val="tx1"/>
                  </a:solidFill>
                  <a:latin typeface="+mn-ea"/>
                </a:rPr>
                <a:t>S2</a:t>
              </a:r>
              <a:r>
                <a:rPr lang="en-US" altLang="ja-JP" sz="1050" dirty="0">
                  <a:solidFill>
                    <a:schemeClr val="tx1"/>
                  </a:solidFill>
                  <a:latin typeface="+mn-ea"/>
                </a:rPr>
                <a:t>)</a:t>
              </a:r>
              <a:r>
                <a:rPr lang="ja-JP" altLang="en-US" sz="1050" dirty="0">
                  <a:solidFill>
                    <a:schemeClr val="tx1"/>
                  </a:solidFill>
                  <a:latin typeface="+mn-ea"/>
                </a:rPr>
                <a:t> </a:t>
              </a:r>
              <a:r>
                <a:rPr lang="ja-JP" altLang="ja-JP" sz="1050" dirty="0">
                  <a:solidFill>
                    <a:schemeClr val="tx1"/>
                  </a:solidFill>
                  <a:latin typeface="+mn-ea"/>
                </a:rPr>
                <a:t>」との排他的な啓発ルート</a:t>
              </a:r>
              <a:endParaRPr kumimoji="1" lang="ja-JP" altLang="en-US" sz="1050" dirty="0">
                <a:solidFill>
                  <a:schemeClr val="tx1"/>
                </a:solidFill>
                <a:latin typeface="+mn-ea"/>
              </a:endParaRPr>
            </a:p>
          </p:txBody>
        </p:sp>
        <p:sp>
          <p:nvSpPr>
            <p:cNvPr id="94" name="正方形/長方形 93">
              <a:extLst>
                <a:ext uri="{FF2B5EF4-FFF2-40B4-BE49-F238E27FC236}">
                  <a16:creationId xmlns:a16="http://schemas.microsoft.com/office/drawing/2014/main" id="{3646968B-E766-88E1-B5C3-B8074F2BC537}"/>
                </a:ext>
              </a:extLst>
            </p:cNvPr>
            <p:cNvSpPr/>
            <p:nvPr/>
          </p:nvSpPr>
          <p:spPr>
            <a:xfrm>
              <a:off x="4290150" y="2520086"/>
              <a:ext cx="2477935" cy="1342466"/>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spcBef>
                  <a:spcPts val="600"/>
                </a:spcBef>
                <a:buClr>
                  <a:srgbClr val="2E7D32"/>
                </a:buClr>
              </a:pPr>
              <a:r>
                <a:rPr lang="ja-JP" altLang="ja-JP" sz="1050" b="1" dirty="0">
                  <a:solidFill>
                    <a:srgbClr val="008D2E"/>
                  </a:solidFill>
                  <a:latin typeface="+mn-ea"/>
                </a:rPr>
                <a:t>W3 × O2</a:t>
              </a:r>
              <a:r>
                <a:rPr lang="en-US" altLang="ja-JP" sz="1050" b="1" dirty="0">
                  <a:solidFill>
                    <a:srgbClr val="008D2E"/>
                  </a:solidFill>
                  <a:latin typeface="+mn-ea"/>
                </a:rPr>
                <a:t> </a:t>
              </a:r>
              <a:r>
                <a:rPr lang="ja-JP" altLang="en-US" sz="1050" b="1" dirty="0">
                  <a:solidFill>
                    <a:srgbClr val="008D2E"/>
                  </a:solidFill>
                  <a:latin typeface="+mn-ea"/>
                </a:rPr>
                <a:t>･ </a:t>
              </a:r>
              <a:r>
                <a:rPr lang="ja-JP" altLang="ja-JP" sz="1050" b="1" dirty="0">
                  <a:solidFill>
                    <a:srgbClr val="008D2E"/>
                  </a:solidFill>
                  <a:latin typeface="+mn-ea"/>
                </a:rPr>
                <a:t>O3 × T1</a:t>
              </a:r>
              <a:endParaRPr lang="en-US" altLang="ja-JP" sz="1050" b="1" dirty="0">
                <a:solidFill>
                  <a:srgbClr val="008D2E"/>
                </a:solidFill>
                <a:latin typeface="+mn-ea"/>
              </a:endParaRPr>
            </a:p>
            <a:p>
              <a:pPr marL="171450" indent="-171450">
                <a:spcBef>
                  <a:spcPts val="600"/>
                </a:spcBef>
                <a:buClr>
                  <a:srgbClr val="008D2E"/>
                </a:buClr>
                <a:buFont typeface="Arial" panose="020B0604020202020204" pitchFamily="34" charset="0"/>
                <a:buChar char="•"/>
              </a:pPr>
              <a:r>
                <a:rPr lang="ja-JP" altLang="ja-JP" sz="1050" dirty="0">
                  <a:solidFill>
                    <a:schemeClr val="tx1"/>
                  </a:solidFill>
                  <a:latin typeface="+mn-ea"/>
                </a:rPr>
                <a:t>データ基盤の遅れ</a:t>
              </a:r>
              <a:r>
                <a:rPr lang="en-US" altLang="ja-JP" sz="1050" dirty="0">
                  <a:solidFill>
                    <a:schemeClr val="tx1"/>
                  </a:solidFill>
                  <a:latin typeface="+mn-ea"/>
                </a:rPr>
                <a:t> (</a:t>
              </a:r>
              <a:r>
                <a:rPr lang="ja-JP" altLang="ja-JP" sz="1050" dirty="0">
                  <a:solidFill>
                    <a:schemeClr val="tx1"/>
                  </a:solidFill>
                  <a:latin typeface="+mn-ea"/>
                </a:rPr>
                <a:t>W3</a:t>
              </a:r>
              <a:r>
                <a:rPr lang="en-US" altLang="ja-JP" sz="1050" dirty="0">
                  <a:solidFill>
                    <a:schemeClr val="tx1"/>
                  </a:solidFill>
                  <a:latin typeface="+mn-ea"/>
                </a:rPr>
                <a:t>) </a:t>
              </a:r>
              <a:r>
                <a:rPr lang="ja-JP" altLang="ja-JP" sz="1050" dirty="0">
                  <a:solidFill>
                    <a:schemeClr val="tx1"/>
                  </a:solidFill>
                  <a:latin typeface="+mn-ea"/>
                </a:rPr>
                <a:t>やCookie消滅</a:t>
              </a:r>
              <a:r>
                <a:rPr lang="en-US" altLang="ja-JP" sz="1050" dirty="0">
                  <a:solidFill>
                    <a:schemeClr val="tx1"/>
                  </a:solidFill>
                  <a:latin typeface="+mn-ea"/>
                </a:rPr>
                <a:t> </a:t>
              </a:r>
              <a:br>
                <a:rPr lang="en-US" altLang="ja-JP" sz="1050" dirty="0">
                  <a:solidFill>
                    <a:schemeClr val="tx1"/>
                  </a:solidFill>
                  <a:latin typeface="+mn-ea"/>
                </a:rPr>
              </a:br>
              <a:r>
                <a:rPr lang="en-US" altLang="ja-JP" sz="1050" dirty="0">
                  <a:solidFill>
                    <a:schemeClr val="tx1"/>
                  </a:solidFill>
                  <a:latin typeface="+mn-ea"/>
                </a:rPr>
                <a:t>(</a:t>
              </a:r>
              <a:r>
                <a:rPr lang="ja-JP" altLang="ja-JP" sz="1050" dirty="0">
                  <a:solidFill>
                    <a:schemeClr val="tx1"/>
                  </a:solidFill>
                  <a:latin typeface="+mn-ea"/>
                </a:rPr>
                <a:t>T1</a:t>
              </a:r>
              <a:r>
                <a:rPr lang="en-US" altLang="ja-JP" sz="1050" dirty="0">
                  <a:solidFill>
                    <a:schemeClr val="tx1"/>
                  </a:solidFill>
                  <a:latin typeface="+mn-ea"/>
                </a:rPr>
                <a:t>) </a:t>
              </a:r>
              <a:r>
                <a:rPr lang="ja-JP" altLang="ja-JP" sz="1050" dirty="0">
                  <a:solidFill>
                    <a:schemeClr val="tx1"/>
                  </a:solidFill>
                  <a:latin typeface="+mn-ea"/>
                </a:rPr>
                <a:t>のなか、他社を模倣して全方位D2Cをゼロから構築してもROIが合わず</a:t>
              </a:r>
              <a:br>
                <a:rPr lang="en-US" altLang="ja-JP" sz="1050" dirty="0">
                  <a:solidFill>
                    <a:schemeClr val="tx1"/>
                  </a:solidFill>
                  <a:latin typeface="+mn-ea"/>
                </a:rPr>
              </a:br>
              <a:r>
                <a:rPr lang="ja-JP" altLang="ja-JP" sz="1050" dirty="0">
                  <a:solidFill>
                    <a:schemeClr val="tx1"/>
                  </a:solidFill>
                  <a:latin typeface="+mn-ea"/>
                </a:rPr>
                <a:t>泥沼化する</a:t>
              </a:r>
              <a:endParaRPr lang="en-US" altLang="ja-JP" sz="1050" dirty="0">
                <a:solidFill>
                  <a:schemeClr val="tx1"/>
                </a:solidFill>
                <a:latin typeface="+mn-ea"/>
              </a:endParaRPr>
            </a:p>
            <a:p>
              <a:pPr marL="171450" indent="-171450">
                <a:spcBef>
                  <a:spcPts val="600"/>
                </a:spcBef>
                <a:buClr>
                  <a:srgbClr val="008D2E"/>
                </a:buClr>
                <a:buFont typeface="Arial" panose="020B0604020202020204" pitchFamily="34" charset="0"/>
                <a:buChar char="•"/>
              </a:pPr>
              <a:r>
                <a:rPr lang="ja-JP" altLang="ja-JP" sz="1050" dirty="0">
                  <a:solidFill>
                    <a:schemeClr val="tx1"/>
                  </a:solidFill>
                  <a:latin typeface="+mn-ea"/>
                </a:rPr>
                <a:t>持たざる者としての冷徹な割り切りが必要</a:t>
              </a:r>
              <a:endParaRPr kumimoji="1" lang="ja-JP" altLang="en-US" sz="1050" dirty="0">
                <a:solidFill>
                  <a:schemeClr val="tx1"/>
                </a:solidFill>
                <a:latin typeface="+mn-ea"/>
              </a:endParaRPr>
            </a:p>
          </p:txBody>
        </p:sp>
        <p:sp>
          <p:nvSpPr>
            <p:cNvPr id="95" name="正方形/長方形 94">
              <a:extLst>
                <a:ext uri="{FF2B5EF4-FFF2-40B4-BE49-F238E27FC236}">
                  <a16:creationId xmlns:a16="http://schemas.microsoft.com/office/drawing/2014/main" id="{0C9334E9-CFA4-68CD-1505-3E5A789711D6}"/>
                </a:ext>
              </a:extLst>
            </p:cNvPr>
            <p:cNvSpPr/>
            <p:nvPr/>
          </p:nvSpPr>
          <p:spPr>
            <a:xfrm>
              <a:off x="6834626" y="2520086"/>
              <a:ext cx="2477935" cy="1342466"/>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buClr>
                  <a:srgbClr val="2E7D32"/>
                </a:buClr>
              </a:pPr>
              <a:r>
                <a:rPr lang="ja-JP" altLang="ja-JP" sz="1050" b="1" dirty="0">
                  <a:solidFill>
                    <a:srgbClr val="008D2E"/>
                  </a:solidFill>
                  <a:latin typeface="+mn-ea"/>
                </a:rPr>
                <a:t>S1</a:t>
              </a:r>
              <a:r>
                <a:rPr lang="en-US" altLang="ja-JP" sz="1050" b="1" dirty="0">
                  <a:solidFill>
                    <a:srgbClr val="008D2E"/>
                  </a:solidFill>
                  <a:latin typeface="+mn-ea"/>
                </a:rPr>
                <a:t> </a:t>
              </a:r>
              <a:r>
                <a:rPr lang="ja-JP" altLang="en-US" sz="1050" b="1" dirty="0">
                  <a:solidFill>
                    <a:srgbClr val="008D2E"/>
                  </a:solidFill>
                  <a:latin typeface="+mn-ea"/>
                </a:rPr>
                <a:t>･ </a:t>
              </a:r>
              <a:r>
                <a:rPr lang="ja-JP" altLang="ja-JP" sz="1050" b="1" dirty="0">
                  <a:solidFill>
                    <a:srgbClr val="008D2E"/>
                  </a:solidFill>
                  <a:latin typeface="+mn-ea"/>
                </a:rPr>
                <a:t>S2</a:t>
              </a:r>
              <a:r>
                <a:rPr lang="en-US" altLang="ja-JP" sz="1050" b="1" dirty="0">
                  <a:solidFill>
                    <a:srgbClr val="008D2E"/>
                  </a:solidFill>
                  <a:latin typeface="+mn-ea"/>
                </a:rPr>
                <a:t> </a:t>
              </a:r>
              <a:r>
                <a:rPr lang="ja-JP" altLang="en-US" sz="1050" b="1" dirty="0">
                  <a:solidFill>
                    <a:srgbClr val="008D2E"/>
                  </a:solidFill>
                  <a:latin typeface="+mn-ea"/>
                </a:rPr>
                <a:t>･ </a:t>
              </a:r>
              <a:r>
                <a:rPr lang="ja-JP" altLang="ja-JP" sz="1050" b="1" dirty="0">
                  <a:solidFill>
                    <a:srgbClr val="008D2E"/>
                  </a:solidFill>
                  <a:latin typeface="+mn-ea"/>
                </a:rPr>
                <a:t>S4 × W2 × T4</a:t>
              </a:r>
              <a:endParaRPr lang="en-US" altLang="ja-JP" sz="1050" b="1" dirty="0">
                <a:solidFill>
                  <a:srgbClr val="008D2E"/>
                </a:solidFill>
                <a:latin typeface="+mn-ea"/>
              </a:endParaRPr>
            </a:p>
            <a:p>
              <a:pPr marL="171450" indent="-171450">
                <a:buClr>
                  <a:srgbClr val="008D2E"/>
                </a:buClr>
                <a:buFont typeface="Arial" panose="020B0604020202020204" pitchFamily="34" charset="0"/>
                <a:buChar char="•"/>
              </a:pPr>
              <a:r>
                <a:rPr lang="ja-JP" altLang="ja-JP" sz="1050" dirty="0">
                  <a:solidFill>
                    <a:schemeClr val="tx1"/>
                  </a:solidFill>
                  <a:latin typeface="+mn-ea"/>
                </a:rPr>
                <a:t>社内に眠る「生活行動</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習慣化の臨床</a:t>
              </a:r>
              <a:br>
                <a:rPr lang="en-US" altLang="ja-JP" sz="1050" dirty="0">
                  <a:solidFill>
                    <a:schemeClr val="tx1"/>
                  </a:solidFill>
                  <a:latin typeface="+mn-ea"/>
                </a:rPr>
              </a:br>
              <a:r>
                <a:rPr lang="ja-JP" altLang="ja-JP" sz="1050" dirty="0">
                  <a:solidFill>
                    <a:schemeClr val="tx1"/>
                  </a:solidFill>
                  <a:latin typeface="+mn-ea"/>
                </a:rPr>
                <a:t>データ</a:t>
              </a:r>
              <a:r>
                <a:rPr lang="en-US" altLang="ja-JP" sz="1050" dirty="0">
                  <a:solidFill>
                    <a:schemeClr val="tx1"/>
                  </a:solidFill>
                  <a:latin typeface="+mn-ea"/>
                </a:rPr>
                <a:t> (</a:t>
              </a:r>
              <a:r>
                <a:rPr lang="ja-JP" altLang="ja-JP" sz="1050" dirty="0">
                  <a:solidFill>
                    <a:schemeClr val="tx1"/>
                  </a:solidFill>
                  <a:latin typeface="+mn-ea"/>
                </a:rPr>
                <a:t>S</a:t>
              </a:r>
              <a:r>
                <a:rPr lang="en-US" altLang="ja-JP" sz="1050" dirty="0">
                  <a:solidFill>
                    <a:schemeClr val="tx1"/>
                  </a:solidFill>
                  <a:latin typeface="+mn-ea"/>
                </a:rPr>
                <a:t>) </a:t>
              </a:r>
              <a:r>
                <a:rPr lang="ja-JP" altLang="ja-JP" sz="1050" dirty="0">
                  <a:solidFill>
                    <a:schemeClr val="tx1"/>
                  </a:solidFill>
                  <a:latin typeface="+mn-ea"/>
                </a:rPr>
                <a:t>」が営業の言葉に翻訳されて</a:t>
              </a:r>
              <a:br>
                <a:rPr lang="en-US" altLang="ja-JP" sz="1050" dirty="0">
                  <a:solidFill>
                    <a:schemeClr val="tx1"/>
                  </a:solidFill>
                  <a:latin typeface="+mn-ea"/>
                </a:rPr>
              </a:br>
              <a:r>
                <a:rPr lang="ja-JP" altLang="ja-JP" sz="1050" dirty="0">
                  <a:solidFill>
                    <a:schemeClr val="tx1"/>
                  </a:solidFill>
                  <a:latin typeface="+mn-ea"/>
                </a:rPr>
                <a:t>いない</a:t>
              </a:r>
              <a:r>
                <a:rPr lang="en-US" altLang="ja-JP" sz="1050" dirty="0">
                  <a:solidFill>
                    <a:schemeClr val="tx1"/>
                  </a:solidFill>
                  <a:latin typeface="+mn-ea"/>
                </a:rPr>
                <a:t> (</a:t>
              </a:r>
              <a:r>
                <a:rPr lang="ja-JP" altLang="ja-JP" sz="1050" dirty="0">
                  <a:solidFill>
                    <a:schemeClr val="tx1"/>
                  </a:solidFill>
                  <a:latin typeface="+mn-ea"/>
                </a:rPr>
                <a:t>W2</a:t>
              </a:r>
              <a:r>
                <a:rPr lang="en-US" altLang="ja-JP" sz="1050" dirty="0">
                  <a:solidFill>
                    <a:schemeClr val="tx1"/>
                  </a:solidFill>
                  <a:latin typeface="+mn-ea"/>
                </a:rPr>
                <a:t>) </a:t>
              </a:r>
              <a:r>
                <a:rPr lang="ja-JP" altLang="ja-JP" sz="1050" dirty="0">
                  <a:solidFill>
                    <a:schemeClr val="tx1"/>
                  </a:solidFill>
                  <a:latin typeface="+mn-ea"/>
                </a:rPr>
                <a:t>ため現場は値引き交渉に</a:t>
              </a:r>
              <a:br>
                <a:rPr lang="en-US" altLang="ja-JP" sz="1050" dirty="0">
                  <a:solidFill>
                    <a:schemeClr val="tx1"/>
                  </a:solidFill>
                  <a:latin typeface="+mn-ea"/>
                </a:rPr>
              </a:br>
              <a:r>
                <a:rPr lang="ja-JP" altLang="ja-JP" sz="1050" dirty="0">
                  <a:solidFill>
                    <a:schemeClr val="tx1"/>
                  </a:solidFill>
                  <a:latin typeface="+mn-ea"/>
                </a:rPr>
                <a:t>終始</a:t>
              </a:r>
              <a:endParaRPr lang="en-US" altLang="ja-JP" sz="1050" dirty="0">
                <a:solidFill>
                  <a:schemeClr val="tx1"/>
                </a:solidFill>
                <a:latin typeface="+mn-ea"/>
              </a:endParaRPr>
            </a:p>
            <a:p>
              <a:pPr marL="171450" indent="-171450">
                <a:buClr>
                  <a:srgbClr val="008D2E"/>
                </a:buClr>
                <a:buFont typeface="Arial" panose="020B0604020202020204" pitchFamily="34" charset="0"/>
                <a:buChar char="•"/>
              </a:pPr>
              <a:r>
                <a:rPr lang="ja-JP" altLang="ja-JP" sz="1050" dirty="0">
                  <a:solidFill>
                    <a:schemeClr val="tx1"/>
                  </a:solidFill>
                  <a:latin typeface="+mn-ea"/>
                </a:rPr>
                <a:t>一方、小売バイヤーは本部システムのデータ監査</a:t>
              </a:r>
              <a:r>
                <a:rPr lang="en-US" altLang="ja-JP" sz="1050" dirty="0">
                  <a:solidFill>
                    <a:schemeClr val="tx1"/>
                  </a:solidFill>
                  <a:latin typeface="+mn-ea"/>
                </a:rPr>
                <a:t> (</a:t>
              </a:r>
              <a:r>
                <a:rPr lang="ja-JP" altLang="ja-JP" sz="1050" dirty="0">
                  <a:solidFill>
                    <a:schemeClr val="tx1"/>
                  </a:solidFill>
                  <a:latin typeface="+mn-ea"/>
                </a:rPr>
                <a:t>T4</a:t>
              </a:r>
              <a:r>
                <a:rPr lang="en-US" altLang="ja-JP" sz="1050" dirty="0">
                  <a:solidFill>
                    <a:schemeClr val="tx1"/>
                  </a:solidFill>
                  <a:latin typeface="+mn-ea"/>
                </a:rPr>
                <a:t>) </a:t>
              </a:r>
              <a:r>
                <a:rPr lang="ja-JP" altLang="ja-JP" sz="1050" dirty="0">
                  <a:solidFill>
                    <a:schemeClr val="tx1"/>
                  </a:solidFill>
                  <a:latin typeface="+mn-ea"/>
                </a:rPr>
                <a:t>の高度化により、利益率や環境負荷の「説明責任」の恐怖に晒されている</a:t>
              </a:r>
            </a:p>
          </p:txBody>
        </p:sp>
        <p:sp>
          <p:nvSpPr>
            <p:cNvPr id="96" name="正方形/長方形 95">
              <a:extLst>
                <a:ext uri="{FF2B5EF4-FFF2-40B4-BE49-F238E27FC236}">
                  <a16:creationId xmlns:a16="http://schemas.microsoft.com/office/drawing/2014/main" id="{75428A12-D674-238B-D8E3-B62BE9E6F87D}"/>
                </a:ext>
              </a:extLst>
            </p:cNvPr>
            <p:cNvSpPr/>
            <p:nvPr/>
          </p:nvSpPr>
          <p:spPr>
            <a:xfrm>
              <a:off x="9379103" y="2520086"/>
              <a:ext cx="2477935" cy="1342466"/>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buClr>
                  <a:srgbClr val="2E7D32"/>
                </a:buClr>
              </a:pPr>
              <a:r>
                <a:rPr lang="ja-JP" altLang="ja-JP" sz="1050" b="1" dirty="0">
                  <a:solidFill>
                    <a:srgbClr val="008D2E"/>
                  </a:solidFill>
                  <a:latin typeface="+mn-ea"/>
                </a:rPr>
                <a:t>W1</a:t>
              </a:r>
              <a:r>
                <a:rPr lang="en-US" altLang="ja-JP" sz="1050" b="1" dirty="0">
                  <a:solidFill>
                    <a:srgbClr val="008D2E"/>
                  </a:solidFill>
                  <a:latin typeface="+mn-ea"/>
                </a:rPr>
                <a:t> </a:t>
              </a:r>
              <a:r>
                <a:rPr lang="ja-JP" altLang="en-US" sz="1050" b="1" dirty="0">
                  <a:solidFill>
                    <a:srgbClr val="008D2E"/>
                  </a:solidFill>
                  <a:latin typeface="+mn-ea"/>
                </a:rPr>
                <a:t>･ </a:t>
              </a:r>
              <a:r>
                <a:rPr lang="ja-JP" altLang="ja-JP" sz="1050" b="1" dirty="0">
                  <a:solidFill>
                    <a:srgbClr val="008D2E"/>
                  </a:solidFill>
                  <a:latin typeface="+mn-ea"/>
                </a:rPr>
                <a:t>W4 × T3</a:t>
              </a:r>
              <a:endParaRPr lang="en-US" altLang="ja-JP" sz="1050" b="1" dirty="0">
                <a:solidFill>
                  <a:srgbClr val="008D2E"/>
                </a:solidFill>
                <a:latin typeface="+mn-ea"/>
              </a:endParaRPr>
            </a:p>
            <a:p>
              <a:pPr marL="171450" indent="-171450">
                <a:buClr>
                  <a:srgbClr val="008D2E"/>
                </a:buClr>
                <a:buFont typeface="Arial" panose="020B0604020202020204" pitchFamily="34" charset="0"/>
                <a:buChar char="•"/>
              </a:pPr>
              <a:r>
                <a:rPr lang="ja-JP" altLang="ja-JP" sz="1050" dirty="0">
                  <a:solidFill>
                    <a:schemeClr val="tx1"/>
                  </a:solidFill>
                  <a:latin typeface="+mn-ea"/>
                </a:rPr>
                <a:t>対P&amp;G比7.6倍の営業生産性格差</a:t>
              </a:r>
              <a:r>
                <a:rPr lang="en-US" altLang="ja-JP" sz="1050" dirty="0">
                  <a:solidFill>
                    <a:schemeClr val="tx1"/>
                  </a:solidFill>
                  <a:latin typeface="+mn-ea"/>
                </a:rPr>
                <a:t> (</a:t>
              </a:r>
              <a:r>
                <a:rPr lang="ja-JP" altLang="ja-JP" sz="1050" dirty="0">
                  <a:solidFill>
                    <a:schemeClr val="tx1"/>
                  </a:solidFill>
                  <a:latin typeface="+mn-ea"/>
                </a:rPr>
                <a:t>W1</a:t>
              </a:r>
              <a:r>
                <a:rPr lang="en-US" altLang="ja-JP" sz="1050" dirty="0">
                  <a:solidFill>
                    <a:schemeClr val="tx1"/>
                  </a:solidFill>
                  <a:latin typeface="+mn-ea"/>
                </a:rPr>
                <a:t>) </a:t>
              </a:r>
              <a:r>
                <a:rPr lang="ja-JP" altLang="ja-JP" sz="1050" dirty="0">
                  <a:solidFill>
                    <a:schemeClr val="tx1"/>
                  </a:solidFill>
                  <a:latin typeface="+mn-ea"/>
                </a:rPr>
                <a:t>のなか、2040年は「容器包装の完全回収義務化</a:t>
              </a:r>
              <a:r>
                <a:rPr lang="en-US" altLang="ja-JP" sz="1050" dirty="0">
                  <a:solidFill>
                    <a:schemeClr val="tx1"/>
                  </a:solidFill>
                  <a:latin typeface="+mn-ea"/>
                </a:rPr>
                <a:t> (</a:t>
              </a:r>
              <a:r>
                <a:rPr lang="ja-JP" altLang="ja-JP" sz="1050" dirty="0">
                  <a:solidFill>
                    <a:schemeClr val="tx1"/>
                  </a:solidFill>
                  <a:latin typeface="+mn-ea"/>
                </a:rPr>
                <a:t>サスタナビリティ</a:t>
              </a:r>
              <a:r>
                <a:rPr lang="en-US" altLang="ja-JP" sz="1050" dirty="0">
                  <a:solidFill>
                    <a:schemeClr val="tx1"/>
                  </a:solidFill>
                  <a:latin typeface="+mn-ea"/>
                </a:rPr>
                <a:t>) </a:t>
              </a:r>
              <a:r>
                <a:rPr lang="ja-JP" altLang="ja-JP" sz="1050" dirty="0">
                  <a:solidFill>
                    <a:schemeClr val="tx1"/>
                  </a:solidFill>
                  <a:latin typeface="+mn-ea"/>
                </a:rPr>
                <a:t>」と人手不足</a:t>
              </a:r>
              <a:r>
                <a:rPr lang="en-US" altLang="ja-JP" sz="1050" dirty="0">
                  <a:solidFill>
                    <a:schemeClr val="tx1"/>
                  </a:solidFill>
                  <a:latin typeface="+mn-ea"/>
                </a:rPr>
                <a:t> (</a:t>
              </a:r>
              <a:r>
                <a:rPr lang="ja-JP" altLang="ja-JP" sz="1050" dirty="0">
                  <a:solidFill>
                    <a:schemeClr val="tx1"/>
                  </a:solidFill>
                  <a:latin typeface="+mn-ea"/>
                </a:rPr>
                <a:t>E</a:t>
              </a:r>
              <a:r>
                <a:rPr lang="en-US" altLang="ja-JP" sz="1050" dirty="0">
                  <a:solidFill>
                    <a:schemeClr val="tx1"/>
                  </a:solidFill>
                  <a:latin typeface="+mn-ea"/>
                </a:rPr>
                <a:t>) </a:t>
              </a:r>
              <a:r>
                <a:rPr lang="ja-JP" altLang="ja-JP" sz="1050" dirty="0">
                  <a:solidFill>
                    <a:schemeClr val="tx1"/>
                  </a:solidFill>
                  <a:latin typeface="+mn-ea"/>
                </a:rPr>
                <a:t>により、小売実店舗の現場オペレーションは崩壊寸前になる</a:t>
              </a:r>
              <a:endParaRPr lang="en-US" altLang="ja-JP" sz="1050" dirty="0">
                <a:solidFill>
                  <a:schemeClr val="tx1"/>
                </a:solidFill>
                <a:latin typeface="+mn-ea"/>
              </a:endParaRPr>
            </a:p>
            <a:p>
              <a:pPr marL="171450" indent="-171450">
                <a:buClr>
                  <a:srgbClr val="008D2E"/>
                </a:buClr>
                <a:buFont typeface="Arial" panose="020B0604020202020204" pitchFamily="34" charset="0"/>
                <a:buChar char="•"/>
              </a:pPr>
              <a:r>
                <a:rPr lang="ja-JP" altLang="ja-JP" sz="1050" dirty="0">
                  <a:solidFill>
                    <a:schemeClr val="tx1"/>
                  </a:solidFill>
                  <a:latin typeface="+mn-ea"/>
                </a:rPr>
                <a:t>営業員が資料作成等の事務</a:t>
              </a:r>
              <a:r>
                <a:rPr lang="en-US" altLang="ja-JP" sz="1050" dirty="0">
                  <a:solidFill>
                    <a:schemeClr val="tx1"/>
                  </a:solidFill>
                  <a:latin typeface="+mn-ea"/>
                </a:rPr>
                <a:t> (</a:t>
              </a:r>
              <a:r>
                <a:rPr lang="ja-JP" altLang="ja-JP" sz="1050" dirty="0">
                  <a:solidFill>
                    <a:schemeClr val="tx1"/>
                  </a:solidFill>
                  <a:latin typeface="+mn-ea"/>
                </a:rPr>
                <a:t>W4</a:t>
              </a:r>
              <a:r>
                <a:rPr lang="en-US" altLang="ja-JP" sz="1050" dirty="0">
                  <a:solidFill>
                    <a:schemeClr val="tx1"/>
                  </a:solidFill>
                  <a:latin typeface="+mn-ea"/>
                </a:rPr>
                <a:t>) </a:t>
              </a:r>
              <a:r>
                <a:rPr lang="ja-JP" altLang="ja-JP" sz="1050" dirty="0">
                  <a:solidFill>
                    <a:schemeClr val="tx1"/>
                  </a:solidFill>
                  <a:latin typeface="+mn-ea"/>
                </a:rPr>
                <a:t>に</a:t>
              </a:r>
              <a:br>
                <a:rPr lang="en-US" altLang="ja-JP" sz="1050" dirty="0">
                  <a:solidFill>
                    <a:schemeClr val="tx1"/>
                  </a:solidFill>
                  <a:latin typeface="+mn-ea"/>
                </a:rPr>
              </a:br>
              <a:r>
                <a:rPr lang="ja-JP" altLang="ja-JP" sz="1050" dirty="0">
                  <a:solidFill>
                    <a:schemeClr val="tx1"/>
                  </a:solidFill>
                  <a:latin typeface="+mn-ea"/>
                </a:rPr>
                <a:t>忙殺されていては、小売の最大課題に</a:t>
              </a:r>
              <a:br>
                <a:rPr lang="en-US" altLang="ja-JP" sz="1050" dirty="0">
                  <a:solidFill>
                    <a:schemeClr val="tx1"/>
                  </a:solidFill>
                  <a:latin typeface="+mn-ea"/>
                </a:rPr>
              </a:br>
              <a:r>
                <a:rPr lang="ja-JP" altLang="ja-JP" sz="1050" dirty="0">
                  <a:solidFill>
                    <a:schemeClr val="tx1"/>
                  </a:solidFill>
                  <a:latin typeface="+mn-ea"/>
                </a:rPr>
                <a:t>アプローチできない</a:t>
              </a:r>
              <a:endParaRPr kumimoji="1" lang="ja-JP" altLang="en-US" sz="1050" dirty="0">
                <a:solidFill>
                  <a:schemeClr val="tx1"/>
                </a:solidFill>
                <a:latin typeface="+mn-ea"/>
              </a:endParaRPr>
            </a:p>
          </p:txBody>
        </p:sp>
        <p:cxnSp>
          <p:nvCxnSpPr>
            <p:cNvPr id="110" name="直線コネクタ 109">
              <a:extLst>
                <a:ext uri="{FF2B5EF4-FFF2-40B4-BE49-F238E27FC236}">
                  <a16:creationId xmlns:a16="http://schemas.microsoft.com/office/drawing/2014/main" id="{5D645080-14EA-BE6B-612D-798DE1927B1B}"/>
                </a:ext>
              </a:extLst>
            </p:cNvPr>
            <p:cNvCxnSpPr/>
            <p:nvPr/>
          </p:nvCxnSpPr>
          <p:spPr>
            <a:xfrm>
              <a:off x="1652808" y="2520086"/>
              <a:ext cx="0" cy="1342466"/>
            </a:xfrm>
            <a:prstGeom prst="line">
              <a:avLst/>
            </a:prstGeom>
            <a:ln w="38100">
              <a:solidFill>
                <a:srgbClr val="008D2E"/>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12" name="グループ化 111">
            <a:extLst>
              <a:ext uri="{FF2B5EF4-FFF2-40B4-BE49-F238E27FC236}">
                <a16:creationId xmlns:a16="http://schemas.microsoft.com/office/drawing/2014/main" id="{5B15D2DD-D8F6-C123-6BBF-87D708A410B4}"/>
              </a:ext>
            </a:extLst>
          </p:cNvPr>
          <p:cNvGrpSpPr/>
          <p:nvPr/>
        </p:nvGrpSpPr>
        <p:grpSpPr>
          <a:xfrm>
            <a:off x="334963" y="4092468"/>
            <a:ext cx="11522076" cy="2216251"/>
            <a:chOff x="334963" y="3884297"/>
            <a:chExt cx="11522076" cy="2424428"/>
          </a:xfrm>
        </p:grpSpPr>
        <p:sp>
          <p:nvSpPr>
            <p:cNvPr id="75" name="正方形/長方形 74">
              <a:extLst>
                <a:ext uri="{FF2B5EF4-FFF2-40B4-BE49-F238E27FC236}">
                  <a16:creationId xmlns:a16="http://schemas.microsoft.com/office/drawing/2014/main" id="{0D9FEB9A-E28B-CBF4-7470-C010F471880D}"/>
                </a:ext>
              </a:extLst>
            </p:cNvPr>
            <p:cNvSpPr/>
            <p:nvPr/>
          </p:nvSpPr>
          <p:spPr>
            <a:xfrm>
              <a:off x="334963" y="3972733"/>
              <a:ext cx="1242377" cy="233599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600" b="1" dirty="0">
                  <a:solidFill>
                    <a:srgbClr val="008D2E"/>
                  </a:solidFill>
                  <a:latin typeface="+mn-ea"/>
                </a:rPr>
                <a:t>具体的な</a:t>
              </a:r>
              <a:br>
                <a:rPr lang="en-US" altLang="ja-JP" sz="1600" b="1" dirty="0">
                  <a:solidFill>
                    <a:srgbClr val="008D2E"/>
                  </a:solidFill>
                  <a:latin typeface="+mn-ea"/>
                </a:rPr>
              </a:br>
              <a:r>
                <a:rPr lang="ja-JP" altLang="ja-JP" sz="1600" b="1" dirty="0">
                  <a:solidFill>
                    <a:srgbClr val="008D2E"/>
                  </a:solidFill>
                  <a:latin typeface="+mn-ea"/>
                </a:rPr>
                <a:t>変革内容</a:t>
              </a:r>
              <a:endParaRPr lang="ja-JP" altLang="en-US" sz="1600" dirty="0">
                <a:solidFill>
                  <a:srgbClr val="008D2E"/>
                </a:solidFill>
                <a:latin typeface="+mn-ea"/>
              </a:endParaRPr>
            </a:p>
          </p:txBody>
        </p:sp>
        <p:sp>
          <p:nvSpPr>
            <p:cNvPr id="101" name="正方形/長方形 100">
              <a:extLst>
                <a:ext uri="{FF2B5EF4-FFF2-40B4-BE49-F238E27FC236}">
                  <a16:creationId xmlns:a16="http://schemas.microsoft.com/office/drawing/2014/main" id="{CEEC7F09-5A83-434D-6A3F-3573F88EA831}"/>
                </a:ext>
              </a:extLst>
            </p:cNvPr>
            <p:cNvSpPr/>
            <p:nvPr/>
          </p:nvSpPr>
          <p:spPr>
            <a:xfrm>
              <a:off x="1745673" y="3972733"/>
              <a:ext cx="2477935" cy="233599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洗剤の標準品投資を縮小し、オーラルケアやキレイキレイ等の高関与ヘルスケア</a:t>
              </a:r>
              <a:r>
                <a:rPr lang="en-US" altLang="ja-JP" sz="1050" dirty="0">
                  <a:solidFill>
                    <a:schemeClr val="tx1"/>
                  </a:solidFill>
                  <a:latin typeface="+mn-ea"/>
                </a:rPr>
                <a:t> </a:t>
              </a:r>
              <a:r>
                <a:rPr lang="ja-JP" altLang="en-US" sz="1050" dirty="0">
                  <a:solidFill>
                    <a:schemeClr val="tx1"/>
                  </a:solidFill>
                  <a:latin typeface="+mn-ea"/>
                </a:rPr>
                <a:t>･</a:t>
              </a:r>
              <a:br>
                <a:rPr lang="en-US" altLang="ja-JP" sz="1050" dirty="0">
                  <a:solidFill>
                    <a:schemeClr val="tx1"/>
                  </a:solidFill>
                  <a:latin typeface="+mn-ea"/>
                </a:rPr>
              </a:br>
              <a:r>
                <a:rPr lang="ja-JP" altLang="en-US" sz="1050" dirty="0">
                  <a:solidFill>
                    <a:schemeClr val="tx1"/>
                  </a:solidFill>
                  <a:latin typeface="+mn-ea"/>
                </a:rPr>
                <a:t> </a:t>
              </a:r>
              <a:r>
                <a:rPr lang="en-US" altLang="ja-JP" sz="1050" dirty="0">
                  <a:solidFill>
                    <a:schemeClr val="tx1"/>
                  </a:solidFill>
                  <a:latin typeface="+mn-ea"/>
                </a:rPr>
                <a:t>ESG</a:t>
              </a:r>
              <a:r>
                <a:rPr lang="ja-JP" altLang="en-US" sz="1050" dirty="0">
                  <a:solidFill>
                    <a:schemeClr val="tx1"/>
                  </a:solidFill>
                  <a:latin typeface="+mn-ea"/>
                </a:rPr>
                <a:t>貢献</a:t>
              </a:r>
              <a:r>
                <a:rPr lang="ja-JP" altLang="ja-JP" sz="1050" dirty="0">
                  <a:solidFill>
                    <a:schemeClr val="tx1"/>
                  </a:solidFill>
                  <a:latin typeface="+mn-ea"/>
                </a:rPr>
                <a:t>領域へ資源を集中</a:t>
              </a:r>
            </a:p>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「国民皆歯科健診</a:t>
              </a:r>
              <a:r>
                <a:rPr lang="en-US" altLang="ja-JP" sz="1050" dirty="0">
                  <a:solidFill>
                    <a:schemeClr val="tx1"/>
                  </a:solidFill>
                  <a:latin typeface="+mn-ea"/>
                </a:rPr>
                <a:t> (</a:t>
              </a:r>
              <a:r>
                <a:rPr lang="ja-JP" altLang="ja-JP" sz="1050" dirty="0">
                  <a:solidFill>
                    <a:schemeClr val="tx1"/>
                  </a:solidFill>
                  <a:latin typeface="+mn-ea"/>
                </a:rPr>
                <a:t>O1</a:t>
              </a:r>
              <a:r>
                <a:rPr lang="en-US" altLang="ja-JP" sz="1050" dirty="0">
                  <a:solidFill>
                    <a:schemeClr val="tx1"/>
                  </a:solidFill>
                  <a:latin typeface="+mn-ea"/>
                </a:rPr>
                <a:t>) </a:t>
              </a:r>
              <a:r>
                <a:rPr lang="ja-JP" altLang="ja-JP" sz="1050" dirty="0">
                  <a:solidFill>
                    <a:schemeClr val="tx1"/>
                  </a:solidFill>
                  <a:latin typeface="+mn-ea"/>
                </a:rPr>
                <a:t>」および「超炭</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Scope 3開示義務化」の波を捉え、アナログな学校</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自治体ルートをデジタル化</a:t>
              </a:r>
              <a:endParaRPr lang="en-US" altLang="ja-JP" sz="1050" dirty="0">
                <a:solidFill>
                  <a:schemeClr val="tx1"/>
                </a:solidFill>
                <a:latin typeface="+mn-ea"/>
              </a:endParaRPr>
            </a:p>
            <a:p>
              <a:pPr marL="358775" lvl="1" indent="-176213">
                <a:spcAft>
                  <a:spcPts val="200"/>
                </a:spcAft>
                <a:buClr>
                  <a:srgbClr val="008D2E"/>
                </a:buClr>
                <a:buFont typeface="メイリオ" panose="020B0604030504040204" pitchFamily="50" charset="-128"/>
                <a:buChar char="▶"/>
              </a:pPr>
              <a:r>
                <a:rPr lang="ja-JP" altLang="ja-JP" sz="1050" dirty="0">
                  <a:solidFill>
                    <a:schemeClr val="tx1"/>
                  </a:solidFill>
                  <a:latin typeface="+mn-ea"/>
                </a:rPr>
                <a:t>生活者の「予防</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衛生</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エコ習慣」の初期設定に潜り込み、AI調達システムが判定する「環境</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健康スコア」をクリアした自動補充のホワイトリストを独占する</a:t>
              </a:r>
            </a:p>
          </p:txBody>
        </p:sp>
        <p:sp>
          <p:nvSpPr>
            <p:cNvPr id="102" name="正方形/長方形 101">
              <a:extLst>
                <a:ext uri="{FF2B5EF4-FFF2-40B4-BE49-F238E27FC236}">
                  <a16:creationId xmlns:a16="http://schemas.microsoft.com/office/drawing/2014/main" id="{BBD44E6F-9F8B-8387-0017-EA55DAADF7CA}"/>
                </a:ext>
              </a:extLst>
            </p:cNvPr>
            <p:cNvSpPr/>
            <p:nvPr/>
          </p:nvSpPr>
          <p:spPr>
            <a:xfrm>
              <a:off x="4290150" y="3972733"/>
              <a:ext cx="2477935" cy="233599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一般消費者のデータは自前で抱えず、</a:t>
              </a:r>
              <a:br>
                <a:rPr lang="en-US" altLang="ja-JP" sz="1050" dirty="0">
                  <a:solidFill>
                    <a:schemeClr val="tx1"/>
                  </a:solidFill>
                  <a:latin typeface="+mn-ea"/>
                </a:rPr>
              </a:br>
              <a:r>
                <a:rPr lang="ja-JP" altLang="ja-JP" sz="1050" dirty="0">
                  <a:solidFill>
                    <a:schemeClr val="tx1"/>
                  </a:solidFill>
                  <a:latin typeface="+mn-ea"/>
                </a:rPr>
                <a:t>すでに最強のID-POSを握る小売の</a:t>
              </a:r>
              <a:br>
                <a:rPr lang="en-US" altLang="ja-JP" sz="1050" dirty="0">
                  <a:solidFill>
                    <a:schemeClr val="tx1"/>
                  </a:solidFill>
                  <a:latin typeface="+mn-ea"/>
                </a:rPr>
              </a:br>
              <a:r>
                <a:rPr lang="ja-JP" altLang="ja-JP" sz="1050" dirty="0">
                  <a:solidFill>
                    <a:schemeClr val="tx1"/>
                  </a:solidFill>
                  <a:latin typeface="+mn-ea"/>
                </a:rPr>
                <a:t>「リテールメディア</a:t>
              </a:r>
              <a:r>
                <a:rPr lang="en-US" altLang="ja-JP" sz="1050" dirty="0">
                  <a:solidFill>
                    <a:schemeClr val="tx1"/>
                  </a:solidFill>
                  <a:latin typeface="+mn-ea"/>
                </a:rPr>
                <a:t> (</a:t>
              </a:r>
              <a:r>
                <a:rPr lang="ja-JP" altLang="ja-JP" sz="1050" dirty="0">
                  <a:solidFill>
                    <a:schemeClr val="tx1"/>
                  </a:solidFill>
                  <a:latin typeface="+mn-ea"/>
                </a:rPr>
                <a:t>O2</a:t>
              </a:r>
              <a:r>
                <a:rPr lang="en-US" altLang="ja-JP" sz="1050" dirty="0">
                  <a:solidFill>
                    <a:schemeClr val="tx1"/>
                  </a:solidFill>
                  <a:latin typeface="+mn-ea"/>
                </a:rPr>
                <a:t>) </a:t>
              </a:r>
              <a:r>
                <a:rPr lang="ja-JP" altLang="ja-JP" sz="1050" dirty="0">
                  <a:solidFill>
                    <a:schemeClr val="tx1"/>
                  </a:solidFill>
                  <a:latin typeface="+mn-ea"/>
                </a:rPr>
                <a:t>」に販促費を</a:t>
              </a:r>
              <a:br>
                <a:rPr lang="en-US" altLang="ja-JP" sz="1050" dirty="0">
                  <a:solidFill>
                    <a:schemeClr val="tx1"/>
                  </a:solidFill>
                  <a:latin typeface="+mn-ea"/>
                </a:rPr>
              </a:br>
              <a:r>
                <a:rPr lang="ja-JP" altLang="ja-JP" sz="1050" dirty="0">
                  <a:solidFill>
                    <a:schemeClr val="tx1"/>
                  </a:solidFill>
                  <a:latin typeface="+mn-ea"/>
                </a:rPr>
                <a:t>全投資して「乗っかる」戦略へ転換</a:t>
              </a:r>
            </a:p>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DCR等の秘匿接合技術</a:t>
              </a:r>
              <a:r>
                <a:rPr lang="en-US" altLang="ja-JP" sz="1050" dirty="0">
                  <a:solidFill>
                    <a:schemeClr val="tx1"/>
                  </a:solidFill>
                  <a:latin typeface="+mn-ea"/>
                </a:rPr>
                <a:t> (</a:t>
              </a:r>
              <a:r>
                <a:rPr lang="ja-JP" altLang="ja-JP" sz="1050" dirty="0">
                  <a:solidFill>
                    <a:schemeClr val="tx1"/>
                  </a:solidFill>
                  <a:latin typeface="+mn-ea"/>
                </a:rPr>
                <a:t>O3</a:t>
              </a:r>
              <a:r>
                <a:rPr lang="en-US" altLang="ja-JP" sz="1050" dirty="0">
                  <a:solidFill>
                    <a:schemeClr val="tx1"/>
                  </a:solidFill>
                  <a:latin typeface="+mn-ea"/>
                </a:rPr>
                <a:t>) </a:t>
              </a:r>
              <a:r>
                <a:rPr lang="ja-JP" altLang="ja-JP" sz="1050" dirty="0">
                  <a:solidFill>
                    <a:schemeClr val="tx1"/>
                  </a:solidFill>
                  <a:latin typeface="+mn-ea"/>
                </a:rPr>
                <a:t>で</a:t>
              </a:r>
              <a:br>
                <a:rPr lang="en-US" altLang="ja-JP" sz="1050" dirty="0">
                  <a:solidFill>
                    <a:schemeClr val="tx1"/>
                  </a:solidFill>
                  <a:latin typeface="+mn-ea"/>
                </a:rPr>
              </a:br>
              <a:r>
                <a:rPr lang="ja-JP" altLang="ja-JP" sz="1050" dirty="0">
                  <a:solidFill>
                    <a:schemeClr val="tx1"/>
                  </a:solidFill>
                  <a:latin typeface="+mn-ea"/>
                </a:rPr>
                <a:t>小売データをハッキングしつつ、自社は</a:t>
              </a:r>
              <a:br>
                <a:rPr lang="en-US" altLang="ja-JP" sz="1050" dirty="0">
                  <a:solidFill>
                    <a:schemeClr val="tx1"/>
                  </a:solidFill>
                  <a:latin typeface="+mn-ea"/>
                </a:rPr>
              </a:br>
              <a:r>
                <a:rPr lang="ja-JP" altLang="ja-JP" sz="1050" dirty="0">
                  <a:solidFill>
                    <a:schemeClr val="tx1"/>
                  </a:solidFill>
                  <a:latin typeface="+mn-ea"/>
                </a:rPr>
                <a:t>「歯科医院連携アプリ」や</a:t>
              </a:r>
              <a:br>
                <a:rPr lang="en-US" altLang="ja-JP" sz="1050" dirty="0">
                  <a:solidFill>
                    <a:schemeClr val="tx1"/>
                  </a:solidFill>
                  <a:latin typeface="+mn-ea"/>
                </a:rPr>
              </a:br>
              <a:r>
                <a:rPr lang="ja-JP" altLang="ja-JP" sz="1050" dirty="0">
                  <a:solidFill>
                    <a:schemeClr val="tx1"/>
                  </a:solidFill>
                  <a:latin typeface="+mn-ea"/>
                </a:rPr>
                <a:t>「OTCの薬事エビデンス」など、ライオン固有</a:t>
              </a:r>
              <a:br>
                <a:rPr lang="en-US" altLang="ja-JP" sz="1050" dirty="0">
                  <a:solidFill>
                    <a:schemeClr val="tx1"/>
                  </a:solidFill>
                  <a:latin typeface="+mn-ea"/>
                </a:rPr>
              </a:br>
              <a:r>
                <a:rPr lang="ja-JP" altLang="ja-JP" sz="1050" dirty="0">
                  <a:solidFill>
                    <a:schemeClr val="tx1"/>
                  </a:solidFill>
                  <a:latin typeface="+mn-ea"/>
                </a:rPr>
                <a:t>の専門ニッチデータのみを直接蓄積</a:t>
              </a:r>
              <a:endParaRPr lang="en-US" altLang="ja-JP" sz="1050" dirty="0">
                <a:solidFill>
                  <a:schemeClr val="tx1"/>
                </a:solidFill>
                <a:latin typeface="+mn-ea"/>
              </a:endParaRPr>
            </a:p>
            <a:p>
              <a:pPr marL="357188" lvl="1" indent="-176213">
                <a:spcAft>
                  <a:spcPts val="200"/>
                </a:spcAft>
                <a:buClr>
                  <a:srgbClr val="008D2E"/>
                </a:buClr>
                <a:buFont typeface="メイリオ" panose="020B0604030504040204" pitchFamily="50" charset="-128"/>
                <a:buChar char="▶"/>
                <a:tabLst>
                  <a:tab pos="357188" algn="l"/>
                </a:tabLst>
              </a:pPr>
              <a:r>
                <a:rPr lang="ja-JP" altLang="ja-JP" sz="1050" dirty="0">
                  <a:solidFill>
                    <a:schemeClr val="tx1"/>
                  </a:solidFill>
                  <a:latin typeface="+mn-ea"/>
                </a:rPr>
                <a:t>この「小売連携×専門医」の</a:t>
              </a:r>
              <a:br>
                <a:rPr lang="en-US" altLang="ja-JP" sz="1050" dirty="0">
                  <a:solidFill>
                    <a:schemeClr val="tx1"/>
                  </a:solidFill>
                  <a:latin typeface="+mn-ea"/>
                </a:rPr>
              </a:br>
              <a:r>
                <a:rPr lang="ja-JP" altLang="ja-JP" sz="1050" dirty="0">
                  <a:solidFill>
                    <a:schemeClr val="tx1"/>
                  </a:solidFill>
                  <a:latin typeface="+mn-ea"/>
                </a:rPr>
                <a:t>二階建て共生モデルを構築する</a:t>
              </a:r>
            </a:p>
            <a:p>
              <a:pPr marL="171450" indent="-171450" algn="ctr">
                <a:spcAft>
                  <a:spcPts val="200"/>
                </a:spcAft>
                <a:buClr>
                  <a:srgbClr val="008D2E"/>
                </a:buClr>
                <a:buFont typeface="Arial" panose="020B0604020202020204" pitchFamily="34" charset="0"/>
                <a:buChar char="•"/>
              </a:pPr>
              <a:endParaRPr kumimoji="1" lang="ja-JP" altLang="en-US" sz="1050" dirty="0">
                <a:solidFill>
                  <a:schemeClr val="tx1"/>
                </a:solidFill>
                <a:latin typeface="+mn-ea"/>
              </a:endParaRPr>
            </a:p>
          </p:txBody>
        </p:sp>
        <p:sp>
          <p:nvSpPr>
            <p:cNvPr id="103" name="正方形/長方形 102">
              <a:extLst>
                <a:ext uri="{FF2B5EF4-FFF2-40B4-BE49-F238E27FC236}">
                  <a16:creationId xmlns:a16="http://schemas.microsoft.com/office/drawing/2014/main" id="{A529DD17-9464-542F-93DD-2175F3F74008}"/>
                </a:ext>
              </a:extLst>
            </p:cNvPr>
            <p:cNvSpPr/>
            <p:nvPr/>
          </p:nvSpPr>
          <p:spPr>
            <a:xfrm>
              <a:off x="6834626" y="3972733"/>
              <a:ext cx="2477935" cy="233599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営業の役割を「値引き</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条件交渉」</a:t>
              </a:r>
              <a:br>
                <a:rPr lang="en-US" altLang="ja-JP" sz="1050" dirty="0">
                  <a:solidFill>
                    <a:schemeClr val="tx1"/>
                  </a:solidFill>
                  <a:latin typeface="+mn-ea"/>
                </a:rPr>
              </a:br>
              <a:r>
                <a:rPr lang="ja-JP" altLang="ja-JP" sz="1050" dirty="0">
                  <a:solidFill>
                    <a:schemeClr val="tx1"/>
                  </a:solidFill>
                  <a:latin typeface="+mn-ea"/>
                </a:rPr>
                <a:t>から、バイヤーの社内政治を生き残ら</a:t>
              </a:r>
              <a:br>
                <a:rPr lang="en-US" altLang="ja-JP" sz="1050" dirty="0">
                  <a:solidFill>
                    <a:schemeClr val="tx1"/>
                  </a:solidFill>
                  <a:latin typeface="+mn-ea"/>
                </a:rPr>
              </a:br>
              <a:r>
                <a:rPr lang="ja-JP" altLang="ja-JP" sz="1050" dirty="0">
                  <a:solidFill>
                    <a:schemeClr val="tx1"/>
                  </a:solidFill>
                  <a:latin typeface="+mn-ea"/>
                </a:rPr>
                <a:t>せるための「ソリューション提案」へ転換</a:t>
              </a:r>
            </a:p>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臨床</a:t>
              </a:r>
              <a:r>
                <a:rPr lang="ja-JP" altLang="en-US" sz="1050" dirty="0">
                  <a:solidFill>
                    <a:schemeClr val="tx1"/>
                  </a:solidFill>
                  <a:latin typeface="+mn-ea"/>
                </a:rPr>
                <a:t>･</a:t>
              </a:r>
              <a:r>
                <a:rPr lang="ja-JP" altLang="ja-JP" sz="1050" dirty="0">
                  <a:solidFill>
                    <a:schemeClr val="tx1"/>
                  </a:solidFill>
                  <a:latin typeface="+mn-ea"/>
                </a:rPr>
                <a:t>お悩み解決データをGCP</a:t>
              </a:r>
              <a:r>
                <a:rPr lang="ja-JP" altLang="en-US" sz="1050" dirty="0">
                  <a:solidFill>
                    <a:schemeClr val="tx1"/>
                  </a:solidFill>
                  <a:latin typeface="+mn-ea"/>
                </a:rPr>
                <a:t>に</a:t>
              </a:r>
              <a:r>
                <a:rPr lang="ja-JP" altLang="ja-JP" sz="1050" dirty="0">
                  <a:solidFill>
                    <a:schemeClr val="tx1"/>
                  </a:solidFill>
                  <a:latin typeface="+mn-ea"/>
                </a:rPr>
                <a:t>統合</a:t>
              </a:r>
              <a:endParaRPr lang="en-US" altLang="ja-JP" sz="1050" dirty="0">
                <a:solidFill>
                  <a:schemeClr val="tx1"/>
                </a:solidFill>
                <a:latin typeface="+mn-ea"/>
              </a:endParaRPr>
            </a:p>
            <a:p>
              <a:pPr marL="357188" lvl="1" indent="-179388">
                <a:spcAft>
                  <a:spcPts val="200"/>
                </a:spcAft>
                <a:buClr>
                  <a:srgbClr val="008D2E"/>
                </a:buClr>
                <a:buFont typeface="メイリオ" panose="020B0604030504040204" pitchFamily="50" charset="-128"/>
                <a:buChar char="▶"/>
              </a:pPr>
              <a:r>
                <a:rPr lang="ja-JP" altLang="ja-JP" sz="1050" dirty="0">
                  <a:solidFill>
                    <a:schemeClr val="tx1"/>
                  </a:solidFill>
                  <a:latin typeface="+mn-ea"/>
                </a:rPr>
                <a:t>売場構築による「チェーン全体の</a:t>
              </a:r>
              <a:br>
                <a:rPr lang="en-US" altLang="ja-JP" sz="1050" dirty="0">
                  <a:solidFill>
                    <a:schemeClr val="tx1"/>
                  </a:solidFill>
                  <a:latin typeface="+mn-ea"/>
                </a:rPr>
              </a:br>
              <a:r>
                <a:rPr lang="ja-JP" altLang="ja-JP" sz="1050" dirty="0">
                  <a:solidFill>
                    <a:schemeClr val="tx1"/>
                  </a:solidFill>
                  <a:latin typeface="+mn-ea"/>
                </a:rPr>
                <a:t>カテゴリLTV</a:t>
              </a:r>
              <a:r>
                <a:rPr lang="en-US" altLang="ja-JP" sz="1050" dirty="0">
                  <a:solidFill>
                    <a:schemeClr val="tx1"/>
                  </a:solidFill>
                  <a:latin typeface="+mn-ea"/>
                </a:rPr>
                <a:t> (</a:t>
              </a:r>
              <a:r>
                <a:rPr lang="ja-JP" altLang="ja-JP" sz="1050" dirty="0">
                  <a:solidFill>
                    <a:schemeClr val="tx1"/>
                  </a:solidFill>
                  <a:latin typeface="+mn-ea"/>
                </a:rPr>
                <a:t>客単価×継続年数</a:t>
              </a:r>
              <a:r>
                <a:rPr lang="en-US" altLang="ja-JP" sz="1050" dirty="0">
                  <a:solidFill>
                    <a:schemeClr val="tx1"/>
                  </a:solidFill>
                  <a:latin typeface="+mn-ea"/>
                </a:rPr>
                <a:t>) </a:t>
              </a:r>
              <a:r>
                <a:rPr lang="ja-JP" altLang="ja-JP" sz="1050" dirty="0">
                  <a:solidFill>
                    <a:schemeClr val="tx1"/>
                  </a:solidFill>
                  <a:latin typeface="+mn-ea"/>
                </a:rPr>
                <a:t>の向上予測」や「炭素効率」を瞬時に自動変換し、バイヤーが小売本部</a:t>
              </a:r>
              <a:br>
                <a:rPr lang="en-US" altLang="ja-JP" sz="1050" dirty="0">
                  <a:solidFill>
                    <a:schemeClr val="tx1"/>
                  </a:solidFill>
                  <a:latin typeface="+mn-ea"/>
                </a:rPr>
              </a:br>
              <a:r>
                <a:rPr lang="ja-JP" altLang="ja-JP" sz="1050" dirty="0">
                  <a:solidFill>
                    <a:schemeClr val="tx1"/>
                  </a:solidFill>
                  <a:latin typeface="+mn-ea"/>
                </a:rPr>
                <a:t>システムを論破し自らの身を守る</a:t>
              </a:r>
              <a:br>
                <a:rPr lang="en-US" altLang="ja-JP" sz="1050" dirty="0">
                  <a:solidFill>
                    <a:schemeClr val="tx1"/>
                  </a:solidFill>
                  <a:latin typeface="+mn-ea"/>
                </a:rPr>
              </a:br>
              <a:r>
                <a:rPr lang="ja-JP" altLang="ja-JP" sz="1050" dirty="0">
                  <a:solidFill>
                    <a:schemeClr val="tx1"/>
                  </a:solidFill>
                  <a:latin typeface="+mn-ea"/>
                </a:rPr>
                <a:t>ための完璧な実証データとして</a:t>
              </a:r>
              <a:br>
                <a:rPr lang="en-US" altLang="ja-JP" sz="1050" dirty="0">
                  <a:solidFill>
                    <a:schemeClr val="tx1"/>
                  </a:solidFill>
                  <a:latin typeface="+mn-ea"/>
                </a:rPr>
              </a:br>
              <a:r>
                <a:rPr lang="ja-JP" altLang="ja-JP" sz="1050" dirty="0">
                  <a:solidFill>
                    <a:schemeClr val="tx1"/>
                  </a:solidFill>
                  <a:latin typeface="+mn-ea"/>
                </a:rPr>
                <a:t>現場へ供給</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標準化する</a:t>
              </a:r>
            </a:p>
            <a:p>
              <a:pPr marL="171450" indent="-171450" algn="ctr">
                <a:spcAft>
                  <a:spcPts val="200"/>
                </a:spcAft>
                <a:buClr>
                  <a:srgbClr val="2E7D32"/>
                </a:buClr>
                <a:buFont typeface="Arial" panose="020B0604020202020204" pitchFamily="34" charset="0"/>
                <a:buChar char="•"/>
              </a:pPr>
              <a:endParaRPr kumimoji="1" lang="ja-JP" altLang="en-US" sz="1050" dirty="0">
                <a:solidFill>
                  <a:schemeClr val="tx1"/>
                </a:solidFill>
                <a:latin typeface="+mn-ea"/>
              </a:endParaRPr>
            </a:p>
          </p:txBody>
        </p:sp>
        <p:sp>
          <p:nvSpPr>
            <p:cNvPr id="104" name="正方形/長方形 103">
              <a:extLst>
                <a:ext uri="{FF2B5EF4-FFF2-40B4-BE49-F238E27FC236}">
                  <a16:creationId xmlns:a16="http://schemas.microsoft.com/office/drawing/2014/main" id="{2E199674-1175-538E-2161-FBD170370BFB}"/>
                </a:ext>
              </a:extLst>
            </p:cNvPr>
            <p:cNvSpPr/>
            <p:nvPr/>
          </p:nvSpPr>
          <p:spPr>
            <a:xfrm>
              <a:off x="9379103" y="3972733"/>
              <a:ext cx="2477935" cy="233599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資料作成、実績集計等のすべての</a:t>
              </a:r>
              <a:br>
                <a:rPr lang="en-US" altLang="ja-JP" sz="1050" dirty="0">
                  <a:solidFill>
                    <a:schemeClr val="tx1"/>
                  </a:solidFill>
                  <a:latin typeface="+mn-ea"/>
                </a:rPr>
              </a:br>
              <a:r>
                <a:rPr lang="ja-JP" altLang="ja-JP" sz="1050" dirty="0">
                  <a:solidFill>
                    <a:schemeClr val="tx1"/>
                  </a:solidFill>
                  <a:latin typeface="+mn-ea"/>
                </a:rPr>
                <a:t>内向き業務</a:t>
              </a:r>
              <a:r>
                <a:rPr lang="en-US" altLang="ja-JP" sz="1050" dirty="0">
                  <a:solidFill>
                    <a:schemeClr val="tx1"/>
                  </a:solidFill>
                  <a:latin typeface="+mn-ea"/>
                </a:rPr>
                <a:t> (</a:t>
              </a:r>
              <a:r>
                <a:rPr lang="ja-JP" altLang="ja-JP" sz="1050" dirty="0">
                  <a:solidFill>
                    <a:schemeClr val="tx1"/>
                  </a:solidFill>
                  <a:latin typeface="+mn-ea"/>
                </a:rPr>
                <a:t>Input</a:t>
              </a:r>
              <a:r>
                <a:rPr lang="en-US" altLang="ja-JP" sz="1050" dirty="0">
                  <a:solidFill>
                    <a:schemeClr val="tx1"/>
                  </a:solidFill>
                  <a:latin typeface="+mn-ea"/>
                </a:rPr>
                <a:t>) </a:t>
              </a:r>
              <a:r>
                <a:rPr lang="ja-JP" altLang="ja-JP" sz="1050" dirty="0">
                  <a:solidFill>
                    <a:schemeClr val="tx1"/>
                  </a:solidFill>
                  <a:latin typeface="+mn-ea"/>
                </a:rPr>
                <a:t>を生成AI</a:t>
              </a:r>
              <a:r>
                <a:rPr lang="en-US" altLang="ja-JP" sz="1050" dirty="0">
                  <a:solidFill>
                    <a:schemeClr val="tx1"/>
                  </a:solidFill>
                  <a:latin typeface="+mn-ea"/>
                </a:rPr>
                <a:t> (</a:t>
              </a:r>
              <a:r>
                <a:rPr lang="ja-JP" altLang="ja-JP" sz="1050" dirty="0">
                  <a:solidFill>
                    <a:schemeClr val="tx1"/>
                  </a:solidFill>
                  <a:latin typeface="+mn-ea"/>
                </a:rPr>
                <a:t>Libra等</a:t>
              </a:r>
              <a:r>
                <a:rPr lang="en-US" altLang="ja-JP" sz="1050" dirty="0">
                  <a:solidFill>
                    <a:schemeClr val="tx1"/>
                  </a:solidFill>
                  <a:latin typeface="+mn-ea"/>
                </a:rPr>
                <a:t>) </a:t>
              </a:r>
              <a:r>
                <a:rPr lang="ja-JP" altLang="ja-JP" sz="1050" dirty="0">
                  <a:solidFill>
                    <a:schemeClr val="tx1"/>
                  </a:solidFill>
                  <a:latin typeface="+mn-ea"/>
                </a:rPr>
                <a:t>やSalesforce TPMへ代替し、作業時間を構造的に「ゼロ」化</a:t>
              </a:r>
            </a:p>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営業担当1人が対峙する属人対応を解体</a:t>
              </a:r>
              <a:r>
                <a:rPr lang="ja-JP" altLang="en-US" sz="1050" dirty="0">
                  <a:solidFill>
                    <a:schemeClr val="tx1"/>
                  </a:solidFill>
                  <a:latin typeface="+mn-ea"/>
                </a:rPr>
                <a:t>し、</a:t>
              </a:r>
              <a:r>
                <a:rPr lang="ja-JP" altLang="ja-JP" sz="1050" dirty="0">
                  <a:solidFill>
                    <a:schemeClr val="tx1"/>
                  </a:solidFill>
                  <a:latin typeface="+mn-ea"/>
                </a:rPr>
                <a:t>営業をハブに、自社の物流</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環境</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R&amp;Dの専門家</a:t>
              </a:r>
              <a:r>
                <a:rPr lang="ja-JP" altLang="en-US" sz="1050" dirty="0">
                  <a:solidFill>
                    <a:schemeClr val="tx1"/>
                  </a:solidFill>
                  <a:latin typeface="+mn-ea"/>
                </a:rPr>
                <a:t>をタッグに</a:t>
              </a:r>
              <a:r>
                <a:rPr lang="ja-JP" altLang="ja-JP" sz="1050" dirty="0">
                  <a:solidFill>
                    <a:schemeClr val="tx1"/>
                  </a:solidFill>
                  <a:latin typeface="+mn-ea"/>
                </a:rPr>
                <a:t>小売側の「環境</a:t>
              </a:r>
              <a:r>
                <a:rPr lang="ja-JP" altLang="en-US" sz="1050" dirty="0">
                  <a:solidFill>
                    <a:schemeClr val="tx1"/>
                  </a:solidFill>
                  <a:latin typeface="+mn-ea"/>
                </a:rPr>
                <a:t>･</a:t>
              </a:r>
              <a:r>
                <a:rPr lang="ja-JP" altLang="ja-JP" sz="1050" dirty="0">
                  <a:solidFill>
                    <a:schemeClr val="tx1"/>
                  </a:solidFill>
                  <a:latin typeface="+mn-ea"/>
                </a:rPr>
                <a:t>物流」を直結させる「組織対組織」への移行</a:t>
              </a:r>
              <a:endParaRPr lang="en-US" altLang="ja-JP" sz="1050" dirty="0">
                <a:solidFill>
                  <a:schemeClr val="tx1"/>
                </a:solidFill>
                <a:latin typeface="+mn-ea"/>
              </a:endParaRPr>
            </a:p>
            <a:p>
              <a:pPr marL="357188" lvl="1" indent="-179388">
                <a:spcAft>
                  <a:spcPts val="200"/>
                </a:spcAft>
                <a:buClr>
                  <a:srgbClr val="008D2E"/>
                </a:buClr>
                <a:buFont typeface="メイリオ" panose="020B0604030504040204" pitchFamily="50" charset="-128"/>
                <a:buChar char="▶"/>
              </a:pPr>
              <a:r>
                <a:rPr lang="ja-JP" altLang="ja-JP" sz="1050" dirty="0">
                  <a:solidFill>
                    <a:schemeClr val="tx1"/>
                  </a:solidFill>
                  <a:latin typeface="+mn-ea"/>
                </a:rPr>
                <a:t>実店舗が強制的に担わされる</a:t>
              </a:r>
              <a:br>
                <a:rPr lang="en-US" altLang="ja-JP" sz="1050" dirty="0">
                  <a:solidFill>
                    <a:schemeClr val="tx1"/>
                  </a:solidFill>
                  <a:latin typeface="+mn-ea"/>
                </a:rPr>
              </a:br>
              <a:r>
                <a:rPr lang="ja-JP" altLang="ja-JP" sz="1050" dirty="0">
                  <a:solidFill>
                    <a:schemeClr val="tx1"/>
                  </a:solidFill>
                  <a:latin typeface="+mn-ea"/>
                </a:rPr>
                <a:t>「店頭での資源回収オペレーション</a:t>
              </a:r>
              <a:br>
                <a:rPr lang="en-US" altLang="ja-JP" sz="1050" dirty="0">
                  <a:solidFill>
                    <a:schemeClr val="tx1"/>
                  </a:solidFill>
                  <a:latin typeface="+mn-ea"/>
                </a:rPr>
              </a:br>
              <a:r>
                <a:rPr lang="ja-JP" altLang="ja-JP" sz="1050" dirty="0">
                  <a:solidFill>
                    <a:schemeClr val="tx1"/>
                  </a:solidFill>
                  <a:latin typeface="+mn-ea"/>
                </a:rPr>
                <a:t>の重圧」を自社の組織力で解決する、</a:t>
              </a:r>
              <a:br>
                <a:rPr lang="en-US" altLang="ja-JP" sz="1050" dirty="0">
                  <a:solidFill>
                    <a:schemeClr val="tx1"/>
                  </a:solidFill>
                  <a:latin typeface="+mn-ea"/>
                </a:rPr>
              </a:br>
              <a:r>
                <a:rPr lang="ja-JP" altLang="ja-JP" sz="1050" dirty="0">
                  <a:solidFill>
                    <a:schemeClr val="tx1"/>
                  </a:solidFill>
                  <a:latin typeface="+mn-ea"/>
                </a:rPr>
                <a:t>代えがたいパートナーへと進化する</a:t>
              </a:r>
            </a:p>
          </p:txBody>
        </p:sp>
        <p:cxnSp>
          <p:nvCxnSpPr>
            <p:cNvPr id="105" name="直線コネクタ 104">
              <a:extLst>
                <a:ext uri="{FF2B5EF4-FFF2-40B4-BE49-F238E27FC236}">
                  <a16:creationId xmlns:a16="http://schemas.microsoft.com/office/drawing/2014/main" id="{552A0009-4FD8-B8E8-F5BE-FF7159E645AC}"/>
                </a:ext>
              </a:extLst>
            </p:cNvPr>
            <p:cNvCxnSpPr/>
            <p:nvPr/>
          </p:nvCxnSpPr>
          <p:spPr>
            <a:xfrm>
              <a:off x="1745673" y="3884297"/>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6" name="直線コネクタ 105">
              <a:extLst>
                <a:ext uri="{FF2B5EF4-FFF2-40B4-BE49-F238E27FC236}">
                  <a16:creationId xmlns:a16="http://schemas.microsoft.com/office/drawing/2014/main" id="{338D269F-03B6-F8AC-AC1D-C84D6D3D15CC}"/>
                </a:ext>
              </a:extLst>
            </p:cNvPr>
            <p:cNvCxnSpPr/>
            <p:nvPr/>
          </p:nvCxnSpPr>
          <p:spPr>
            <a:xfrm>
              <a:off x="4290149" y="3884304"/>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7" name="直線コネクタ 106">
              <a:extLst>
                <a:ext uri="{FF2B5EF4-FFF2-40B4-BE49-F238E27FC236}">
                  <a16:creationId xmlns:a16="http://schemas.microsoft.com/office/drawing/2014/main" id="{FE3162F6-7F88-0FA0-6D1A-94FB223042E7}"/>
                </a:ext>
              </a:extLst>
            </p:cNvPr>
            <p:cNvCxnSpPr/>
            <p:nvPr/>
          </p:nvCxnSpPr>
          <p:spPr>
            <a:xfrm>
              <a:off x="6834626" y="3884304"/>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8" name="直線コネクタ 107">
              <a:extLst>
                <a:ext uri="{FF2B5EF4-FFF2-40B4-BE49-F238E27FC236}">
                  <a16:creationId xmlns:a16="http://schemas.microsoft.com/office/drawing/2014/main" id="{10D66114-D809-4912-E9BA-6C965637890A}"/>
                </a:ext>
              </a:extLst>
            </p:cNvPr>
            <p:cNvCxnSpPr/>
            <p:nvPr/>
          </p:nvCxnSpPr>
          <p:spPr>
            <a:xfrm>
              <a:off x="9379103" y="3884302"/>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1" name="直線コネクタ 110">
              <a:extLst>
                <a:ext uri="{FF2B5EF4-FFF2-40B4-BE49-F238E27FC236}">
                  <a16:creationId xmlns:a16="http://schemas.microsoft.com/office/drawing/2014/main" id="{D8910321-E825-DBE0-1DD7-CE2351CEDF47}"/>
                </a:ext>
              </a:extLst>
            </p:cNvPr>
            <p:cNvCxnSpPr/>
            <p:nvPr/>
          </p:nvCxnSpPr>
          <p:spPr>
            <a:xfrm>
              <a:off x="1652808" y="3972733"/>
              <a:ext cx="0" cy="2335992"/>
            </a:xfrm>
            <a:prstGeom prst="line">
              <a:avLst/>
            </a:prstGeom>
            <a:ln w="38100">
              <a:solidFill>
                <a:srgbClr val="008D2E"/>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2" name="正方形/長方形 1">
            <a:extLst>
              <a:ext uri="{FF2B5EF4-FFF2-40B4-BE49-F238E27FC236}">
                <a16:creationId xmlns:a16="http://schemas.microsoft.com/office/drawing/2014/main" id="{62CF88EF-DAD5-2F80-96A9-C0FA35EA7350}"/>
              </a:ext>
            </a:extLst>
          </p:cNvPr>
          <p:cNvSpPr/>
          <p:nvPr/>
        </p:nvSpPr>
        <p:spPr>
          <a:xfrm>
            <a:off x="12330858" y="4173310"/>
            <a:ext cx="2409737" cy="666719"/>
          </a:xfrm>
          <a:prstGeom prst="rect">
            <a:avLst/>
          </a:prstGeom>
          <a:solidFill>
            <a:schemeClr val="accent6">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100" dirty="0">
                <a:solidFill>
                  <a:schemeClr val="tx1"/>
                </a:solidFill>
                <a:latin typeface="Meiryo UI" panose="020B0604030504040204" pitchFamily="50" charset="-128"/>
                <a:ea typeface="Meiryo UI" panose="020B0604030504040204" pitchFamily="50" charset="-128"/>
              </a:rPr>
              <a:t>メモ</a:t>
            </a:r>
            <a:endParaRPr kumimoji="1" lang="en-US" altLang="ja-JP" sz="1100" dirty="0">
              <a:solidFill>
                <a:schemeClr val="tx1"/>
              </a:solidFill>
              <a:latin typeface="Meiryo UI" panose="020B0604030504040204" pitchFamily="50" charset="-128"/>
              <a:ea typeface="Meiryo UI" panose="020B0604030504040204" pitchFamily="50" charset="-128"/>
            </a:endParaRPr>
          </a:p>
          <a:p>
            <a:pPr algn="ctr"/>
            <a:r>
              <a:rPr kumimoji="1" lang="ja-JP" altLang="en-US" sz="1100" dirty="0">
                <a:solidFill>
                  <a:schemeClr val="tx1"/>
                </a:solidFill>
                <a:latin typeface="Meiryo UI" panose="020B0604030504040204" pitchFamily="50" charset="-128"/>
                <a:ea typeface="Meiryo UI" panose="020B0604030504040204" pitchFamily="50" charset="-128"/>
              </a:rPr>
              <a:t>個人からＡＢＭアカウント単位で活動する</a:t>
            </a:r>
            <a:endParaRPr kumimoji="1" lang="en-US" altLang="ja-JP" sz="1100" dirty="0">
              <a:solidFill>
                <a:schemeClr val="tx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7997355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10972800" cy="457200"/>
          </a:xfrm>
          <a:prstGeom prst="rect">
            <a:avLst/>
          </a:prstGeom>
          <a:noFill/>
        </p:spPr>
        <p:txBody>
          <a:bodyPr wrap="square" lIns="0" tIns="0" rIns="0" bIns="0">
            <a:spAutoFit/>
          </a:bodyPr>
          <a:lstStyle/>
          <a:p>
            <a:pPr>
              <a:lnSpc>
                <a:spcPct val="112000"/>
              </a:lnSpc>
            </a:pPr>
            <a:r>
              <a:rPr sz="1800" b="1">
                <a:solidFill>
                  <a:srgbClr val="262626"/>
                </a:solidFill>
                <a:latin typeface="Meiryo UI"/>
                <a:ea typeface="Meiryo UI"/>
              </a:rPr>
              <a:t>4つの変革テーマ × 8つの重点施策</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49808"/>
            <a:ext cx="274320" cy="274320"/>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tIns="0" rIns="0" bIns="0">
            <a:spAutoFit/>
          </a:bodyPr>
          <a:lstStyle/>
          <a:p>
            <a:pPr>
              <a:lnSpc>
                <a:spcPct val="118000"/>
              </a:lnSpc>
            </a:pPr>
            <a:r>
              <a:rPr sz="1100" b="1">
                <a:solidFill>
                  <a:srgbClr val="262626"/>
                </a:solidFill>
                <a:latin typeface="Meiryo UI"/>
                <a:ea typeface="Meiryo UI"/>
              </a:rPr>
              <a:t>8施策は真因2「持っていない」と真因3「回っていない」への答え（武器＝①〜⑥、回路＝⑦⑧）。何に張るか（真因1）は前々頁の「決める」に従う</a:t>
            </a:r>
          </a:p>
        </p:txBody>
      </p:sp>
      <p:sp>
        <p:nvSpPr>
          <p:cNvPr id="14" name="Rectangle 13"/>
          <p:cNvSpPr/>
          <p:nvPr/>
        </p:nvSpPr>
        <p:spPr>
          <a:xfrm>
            <a:off x="320040" y="1426464"/>
            <a:ext cx="21031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74904" y="1453896"/>
            <a:ext cx="1993391"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テーマ</a:t>
            </a:r>
          </a:p>
        </p:txBody>
      </p:sp>
      <p:sp>
        <p:nvSpPr>
          <p:cNvPr id="16" name="Rectangle 15"/>
          <p:cNvSpPr/>
          <p:nvPr/>
        </p:nvSpPr>
        <p:spPr>
          <a:xfrm>
            <a:off x="2441448" y="1426464"/>
            <a:ext cx="265176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496312" y="1453896"/>
            <a:ext cx="2542032"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アプローチ（戦略基本方針）</a:t>
            </a:r>
          </a:p>
        </p:txBody>
      </p:sp>
      <p:sp>
        <p:nvSpPr>
          <p:cNvPr id="18" name="Rectangle 17"/>
          <p:cNvSpPr/>
          <p:nvPr/>
        </p:nvSpPr>
        <p:spPr>
          <a:xfrm>
            <a:off x="5111496" y="1426464"/>
            <a:ext cx="30175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166359" y="1453896"/>
            <a:ext cx="2907791"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重点施策（What）</a:t>
            </a:r>
          </a:p>
        </p:txBody>
      </p:sp>
      <p:sp>
        <p:nvSpPr>
          <p:cNvPr id="20" name="Rectangle 19"/>
          <p:cNvSpPr/>
          <p:nvPr/>
        </p:nvSpPr>
        <p:spPr>
          <a:xfrm>
            <a:off x="8147304" y="1426464"/>
            <a:ext cx="237744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202168" y="1453896"/>
            <a:ext cx="2267712"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KPI</a:t>
            </a:r>
          </a:p>
        </p:txBody>
      </p:sp>
      <p:sp>
        <p:nvSpPr>
          <p:cNvPr id="22" name="Rectangle 21"/>
          <p:cNvSpPr/>
          <p:nvPr/>
        </p:nvSpPr>
        <p:spPr>
          <a:xfrm>
            <a:off x="10543032" y="1426464"/>
            <a:ext cx="11887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0597896" y="1453896"/>
            <a:ext cx="1078992"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時期</a:t>
            </a:r>
          </a:p>
        </p:txBody>
      </p:sp>
      <p:sp>
        <p:nvSpPr>
          <p:cNvPr id="24" name="Rectangle 23"/>
          <p:cNvSpPr/>
          <p:nvPr/>
        </p:nvSpPr>
        <p:spPr>
          <a:xfrm>
            <a:off x="320040" y="1755648"/>
            <a:ext cx="2103120" cy="96926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93192" y="1810512"/>
            <a:ext cx="1975104" cy="859536"/>
          </a:xfrm>
          <a:prstGeom prst="rect">
            <a:avLst/>
          </a:prstGeom>
          <a:noFill/>
        </p:spPr>
        <p:txBody>
          <a:bodyPr wrap="square" lIns="0" tIns="0" rIns="0" bIns="0">
            <a:spAutoFit/>
          </a:bodyPr>
          <a:lstStyle/>
          <a:p>
            <a:pPr>
              <a:lnSpc>
                <a:spcPct val="112000"/>
              </a:lnSpc>
            </a:pPr>
            <a:r>
              <a:rPr sz="860" b="1">
                <a:solidFill>
                  <a:srgbClr val="FFFFFF"/>
                </a:solidFill>
                <a:latin typeface="Meiryo UI"/>
                <a:ea typeface="Meiryo UI"/>
              </a:rPr>
              <a:t>T1 勝てる土俵の再定義×AI時代のブランド生存権</a:t>
            </a:r>
          </a:p>
        </p:txBody>
      </p:sp>
      <p:sp>
        <p:nvSpPr>
          <p:cNvPr id="26" name="Rectangle 25"/>
          <p:cNvSpPr/>
          <p:nvPr/>
        </p:nvSpPr>
        <p:spPr>
          <a:xfrm>
            <a:off x="2441448" y="1755648"/>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514600" y="1810512"/>
            <a:ext cx="2523744" cy="932688"/>
          </a:xfrm>
          <a:prstGeom prst="rect">
            <a:avLst/>
          </a:prstGeom>
          <a:noFill/>
        </p:spPr>
        <p:txBody>
          <a:bodyPr wrap="square" lIns="0" tIns="0" rIns="0" bIns="0">
            <a:spAutoFit/>
          </a:bodyPr>
          <a:lstStyle/>
          <a:p>
            <a:pPr>
              <a:lnSpc>
                <a:spcPct val="115000"/>
              </a:lnSpc>
            </a:pPr>
            <a:r>
              <a:rPr sz="819" b="0">
                <a:solidFill>
                  <a:srgbClr val="262626"/>
                </a:solidFill>
                <a:latin typeface="Meiryo UI"/>
                <a:ea typeface="Meiryo UI"/>
              </a:rPr>
              <a:t>データに基づく選択と集中＋AI購買インフラへの先行参入</a:t>
            </a:r>
          </a:p>
        </p:txBody>
      </p:sp>
      <p:sp>
        <p:nvSpPr>
          <p:cNvPr id="28" name="Rectangle 27"/>
          <p:cNvSpPr/>
          <p:nvPr/>
        </p:nvSpPr>
        <p:spPr>
          <a:xfrm>
            <a:off x="5111496" y="1755648"/>
            <a:ext cx="3017520" cy="969264"/>
          </a:xfrm>
          <a:prstGeom prst="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184648" y="1810512"/>
            <a:ext cx="2889504" cy="932688"/>
          </a:xfrm>
          <a:prstGeom prst="rect">
            <a:avLst/>
          </a:prstGeom>
          <a:noFill/>
        </p:spPr>
        <p:txBody>
          <a:bodyPr wrap="square" lIns="0" tIns="0" rIns="0" bIns="0">
            <a:spAutoFit/>
          </a:bodyPr>
          <a:lstStyle/>
          <a:p>
            <a:pPr>
              <a:lnSpc>
                <a:spcPct val="115000"/>
              </a:lnSpc>
            </a:pPr>
            <a:r>
              <a:rPr sz="790" b="1">
                <a:solidFill>
                  <a:srgbClr val="262626"/>
                </a:solidFill>
                <a:latin typeface="Meiryo UI"/>
                <a:ea typeface="Meiryo UI"/>
              </a:rPr>
              <a:t>① 経営管理高度化と連携したデータ活用（ポートフォリオ再編）
② AIEO・エージェントコマース対応（Oral Evidence Hub）</a:t>
            </a:r>
          </a:p>
        </p:txBody>
      </p:sp>
      <p:sp>
        <p:nvSpPr>
          <p:cNvPr id="30" name="Rectangle 29"/>
          <p:cNvSpPr/>
          <p:nvPr/>
        </p:nvSpPr>
        <p:spPr>
          <a:xfrm>
            <a:off x="8147304" y="1755648"/>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220456" y="1810512"/>
            <a:ext cx="2249424" cy="932688"/>
          </a:xfrm>
          <a:prstGeom prst="rect">
            <a:avLst/>
          </a:prstGeom>
          <a:noFill/>
        </p:spPr>
        <p:txBody>
          <a:bodyPr wrap="square" lIns="0" tIns="0" rIns="0" bIns="0">
            <a:spAutoFit/>
          </a:bodyPr>
          <a:lstStyle/>
          <a:p>
            <a:pPr>
              <a:lnSpc>
                <a:spcPct val="115000"/>
              </a:lnSpc>
            </a:pPr>
            <a:r>
              <a:rPr sz="790" b="1">
                <a:solidFill>
                  <a:srgbClr val="0F5E87"/>
                </a:solidFill>
                <a:latin typeface="Meiryo UI"/>
                <a:ea typeface="Meiryo UI"/>
              </a:rPr>
              <a:t>強み領域売上比率 65→80%（FY30）
AIEO Rate 30→50%（FY30）</a:t>
            </a:r>
          </a:p>
        </p:txBody>
      </p:sp>
      <p:sp>
        <p:nvSpPr>
          <p:cNvPr id="32" name="Rectangle 31"/>
          <p:cNvSpPr/>
          <p:nvPr/>
        </p:nvSpPr>
        <p:spPr>
          <a:xfrm>
            <a:off x="10543032" y="1755648"/>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0616184" y="1810512"/>
            <a:ext cx="1060704" cy="932688"/>
          </a:xfrm>
          <a:prstGeom prst="rect">
            <a:avLst/>
          </a:prstGeom>
          <a:noFill/>
        </p:spPr>
        <p:txBody>
          <a:bodyPr wrap="square" lIns="0" tIns="0" rIns="0" bIns="0">
            <a:spAutoFit/>
          </a:bodyPr>
          <a:lstStyle/>
          <a:p>
            <a:pPr>
              <a:lnSpc>
                <a:spcPct val="110000"/>
              </a:lnSpc>
            </a:pPr>
            <a:r>
              <a:rPr sz="819" b="1">
                <a:solidFill>
                  <a:srgbClr val="262626"/>
                </a:solidFill>
                <a:latin typeface="Meiryo UI"/>
                <a:ea typeface="Meiryo UI"/>
              </a:rPr>
              <a:t>FY26–28</a:t>
            </a:r>
          </a:p>
        </p:txBody>
      </p:sp>
      <p:sp>
        <p:nvSpPr>
          <p:cNvPr id="34" name="Rectangle 33"/>
          <p:cNvSpPr/>
          <p:nvPr/>
        </p:nvSpPr>
        <p:spPr>
          <a:xfrm>
            <a:off x="320040" y="2779776"/>
            <a:ext cx="2103120" cy="969264"/>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93192" y="2834640"/>
            <a:ext cx="1975104" cy="859536"/>
          </a:xfrm>
          <a:prstGeom prst="rect">
            <a:avLst/>
          </a:prstGeom>
          <a:noFill/>
        </p:spPr>
        <p:txBody>
          <a:bodyPr wrap="square" lIns="0" tIns="0" rIns="0" bIns="0">
            <a:spAutoFit/>
          </a:bodyPr>
          <a:lstStyle/>
          <a:p>
            <a:pPr>
              <a:lnSpc>
                <a:spcPct val="112000"/>
              </a:lnSpc>
            </a:pPr>
            <a:r>
              <a:rPr sz="860" b="1">
                <a:solidFill>
                  <a:srgbClr val="FFFFFF"/>
                </a:solidFill>
                <a:latin typeface="Meiryo UI"/>
                <a:ea typeface="Meiryo UI"/>
              </a:rPr>
              <a:t>T2 小売との共創型データ戦略</a:t>
            </a:r>
          </a:p>
        </p:txBody>
      </p:sp>
      <p:sp>
        <p:nvSpPr>
          <p:cNvPr id="36" name="Rectangle 35"/>
          <p:cNvSpPr/>
          <p:nvPr/>
        </p:nvSpPr>
        <p:spPr>
          <a:xfrm>
            <a:off x="2441448" y="2779776"/>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514600" y="2834640"/>
            <a:ext cx="2523744" cy="932688"/>
          </a:xfrm>
          <a:prstGeom prst="rect">
            <a:avLst/>
          </a:prstGeom>
          <a:noFill/>
        </p:spPr>
        <p:txBody>
          <a:bodyPr wrap="square" lIns="0" tIns="0" rIns="0" bIns="0">
            <a:spAutoFit/>
          </a:bodyPr>
          <a:lstStyle/>
          <a:p>
            <a:pPr>
              <a:lnSpc>
                <a:spcPct val="115000"/>
              </a:lnSpc>
            </a:pPr>
            <a:r>
              <a:rPr sz="819" b="0">
                <a:solidFill>
                  <a:srgbClr val="262626"/>
                </a:solidFill>
                <a:latin typeface="Meiryo UI"/>
                <a:ea typeface="Meiryo UI"/>
              </a:rPr>
              <a:t>リテールメディア投資転換＋専門ニッチデータ直接蓄積の二階建て</a:t>
            </a:r>
          </a:p>
        </p:txBody>
      </p:sp>
      <p:sp>
        <p:nvSpPr>
          <p:cNvPr id="38" name="Rectangle 37"/>
          <p:cNvSpPr/>
          <p:nvPr/>
        </p:nvSpPr>
        <p:spPr>
          <a:xfrm>
            <a:off x="5111496" y="2779776"/>
            <a:ext cx="3017520" cy="969264"/>
          </a:xfrm>
          <a:prstGeom prst="rect">
            <a:avLst/>
          </a:prstGeom>
          <a:solidFill>
            <a:srgbClr val="FFFFFF"/>
          </a:solidFill>
          <a:ln w="1270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5184648" y="2834640"/>
            <a:ext cx="2889504" cy="932688"/>
          </a:xfrm>
          <a:prstGeom prst="rect">
            <a:avLst/>
          </a:prstGeom>
          <a:noFill/>
        </p:spPr>
        <p:txBody>
          <a:bodyPr wrap="square" lIns="0" tIns="0" rIns="0" bIns="0">
            <a:spAutoFit/>
          </a:bodyPr>
          <a:lstStyle/>
          <a:p>
            <a:pPr>
              <a:lnSpc>
                <a:spcPct val="115000"/>
              </a:lnSpc>
            </a:pPr>
            <a:r>
              <a:rPr sz="790" b="1">
                <a:solidFill>
                  <a:srgbClr val="262626"/>
                </a:solidFill>
                <a:latin typeface="Meiryo UI"/>
                <a:ea typeface="Meiryo UI"/>
              </a:rPr>
              <a:t>③ リテールメディアJBP化×Total Availability
④ LION ID「口腔健康OS化」×Oral Health Graph</a:t>
            </a:r>
          </a:p>
        </p:txBody>
      </p:sp>
      <p:sp>
        <p:nvSpPr>
          <p:cNvPr id="40" name="Rectangle 39"/>
          <p:cNvSpPr/>
          <p:nvPr/>
        </p:nvSpPr>
        <p:spPr>
          <a:xfrm>
            <a:off x="8147304" y="2779776"/>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8220456" y="2834640"/>
            <a:ext cx="2249424" cy="932688"/>
          </a:xfrm>
          <a:prstGeom prst="rect">
            <a:avLst/>
          </a:prstGeom>
          <a:noFill/>
        </p:spPr>
        <p:txBody>
          <a:bodyPr wrap="square" lIns="0" tIns="0" rIns="0" bIns="0">
            <a:spAutoFit/>
          </a:bodyPr>
          <a:lstStyle/>
          <a:p>
            <a:pPr>
              <a:lnSpc>
                <a:spcPct val="115000"/>
              </a:lnSpc>
            </a:pPr>
            <a:r>
              <a:rPr sz="790" b="1">
                <a:solidFill>
                  <a:srgbClr val="0F5E87"/>
                </a:solidFill>
                <a:latin typeface="Meiryo UI"/>
                <a:ea typeface="Meiryo UI"/>
              </a:rPr>
              <a:t>TAスコア 70→90%（FY30）
アクティブID／KOIC／90日継続率</a:t>
            </a:r>
          </a:p>
        </p:txBody>
      </p:sp>
      <p:sp>
        <p:nvSpPr>
          <p:cNvPr id="42" name="Rectangle 41"/>
          <p:cNvSpPr/>
          <p:nvPr/>
        </p:nvSpPr>
        <p:spPr>
          <a:xfrm>
            <a:off x="10543032" y="2779776"/>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10616184" y="2834640"/>
            <a:ext cx="1060704" cy="932688"/>
          </a:xfrm>
          <a:prstGeom prst="rect">
            <a:avLst/>
          </a:prstGeom>
          <a:noFill/>
        </p:spPr>
        <p:txBody>
          <a:bodyPr wrap="square" lIns="0" tIns="0" rIns="0" bIns="0">
            <a:spAutoFit/>
          </a:bodyPr>
          <a:lstStyle/>
          <a:p>
            <a:pPr>
              <a:lnSpc>
                <a:spcPct val="110000"/>
              </a:lnSpc>
            </a:pPr>
            <a:r>
              <a:rPr sz="819" b="1">
                <a:solidFill>
                  <a:srgbClr val="262626"/>
                </a:solidFill>
                <a:latin typeface="Meiryo UI"/>
                <a:ea typeface="Meiryo UI"/>
              </a:rPr>
              <a:t>FY26–29</a:t>
            </a:r>
          </a:p>
        </p:txBody>
      </p:sp>
      <p:sp>
        <p:nvSpPr>
          <p:cNvPr id="44" name="Rectangle 43"/>
          <p:cNvSpPr/>
          <p:nvPr/>
        </p:nvSpPr>
        <p:spPr>
          <a:xfrm>
            <a:off x="320040" y="3803904"/>
            <a:ext cx="2103120" cy="969264"/>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393192" y="3858768"/>
            <a:ext cx="1975104" cy="859536"/>
          </a:xfrm>
          <a:prstGeom prst="rect">
            <a:avLst/>
          </a:prstGeom>
          <a:noFill/>
        </p:spPr>
        <p:txBody>
          <a:bodyPr wrap="square" lIns="0" tIns="0" rIns="0" bIns="0">
            <a:spAutoFit/>
          </a:bodyPr>
          <a:lstStyle/>
          <a:p>
            <a:pPr>
              <a:lnSpc>
                <a:spcPct val="112000"/>
              </a:lnSpc>
            </a:pPr>
            <a:r>
              <a:rPr sz="860" b="1">
                <a:solidFill>
                  <a:srgbClr val="FFFFFF"/>
                </a:solidFill>
                <a:latin typeface="Meiryo UI"/>
                <a:ea typeface="Meiryo UI"/>
              </a:rPr>
              <a:t>T3 商談価値の革新</a:t>
            </a:r>
          </a:p>
        </p:txBody>
      </p:sp>
      <p:sp>
        <p:nvSpPr>
          <p:cNvPr id="46" name="Rectangle 45"/>
          <p:cNvSpPr/>
          <p:nvPr/>
        </p:nvSpPr>
        <p:spPr>
          <a:xfrm>
            <a:off x="2441448" y="3803904"/>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2514600" y="3858768"/>
            <a:ext cx="2523744" cy="932688"/>
          </a:xfrm>
          <a:prstGeom prst="rect">
            <a:avLst/>
          </a:prstGeom>
          <a:noFill/>
        </p:spPr>
        <p:txBody>
          <a:bodyPr wrap="square" lIns="0" tIns="0" rIns="0" bIns="0">
            <a:spAutoFit/>
          </a:bodyPr>
          <a:lstStyle/>
          <a:p>
            <a:pPr>
              <a:lnSpc>
                <a:spcPct val="115000"/>
              </a:lnSpc>
            </a:pPr>
            <a:r>
              <a:rPr sz="819" b="0">
                <a:solidFill>
                  <a:srgbClr val="262626"/>
                </a:solidFill>
                <a:latin typeface="Meiryo UI"/>
                <a:ea typeface="Meiryo UI"/>
              </a:rPr>
              <a:t>臨床・行動データを統合し、付加価値データをバイヤーへ供給</a:t>
            </a:r>
          </a:p>
        </p:txBody>
      </p:sp>
      <p:sp>
        <p:nvSpPr>
          <p:cNvPr id="48" name="Rectangle 47"/>
          <p:cNvSpPr/>
          <p:nvPr/>
        </p:nvSpPr>
        <p:spPr>
          <a:xfrm>
            <a:off x="5111496" y="3803904"/>
            <a:ext cx="3017520" cy="969264"/>
          </a:xfrm>
          <a:prstGeom prst="rect">
            <a:avLst/>
          </a:prstGeom>
          <a:solidFill>
            <a:srgbClr val="FFFFFF"/>
          </a:solidFill>
          <a:ln w="1270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5184648" y="3858768"/>
            <a:ext cx="2889504" cy="932688"/>
          </a:xfrm>
          <a:prstGeom prst="rect">
            <a:avLst/>
          </a:prstGeom>
          <a:noFill/>
        </p:spPr>
        <p:txBody>
          <a:bodyPr wrap="square" lIns="0" tIns="0" rIns="0" bIns="0">
            <a:spAutoFit/>
          </a:bodyPr>
          <a:lstStyle/>
          <a:p>
            <a:pPr>
              <a:lnSpc>
                <a:spcPct val="115000"/>
              </a:lnSpc>
            </a:pPr>
            <a:r>
              <a:rPr sz="790" b="1">
                <a:solidFill>
                  <a:srgbClr val="262626"/>
                </a:solidFill>
                <a:latin typeface="Meiryo UI"/>
                <a:ea typeface="Meiryo UI"/>
              </a:rPr>
              <a:t>⑤ 付加価値創出のためのデータ統合・分析
⑥ B2B2C商談モデル（歯科→消費者→小売）</a:t>
            </a:r>
          </a:p>
        </p:txBody>
      </p:sp>
      <p:sp>
        <p:nvSpPr>
          <p:cNvPr id="50" name="Rectangle 49"/>
          <p:cNvSpPr/>
          <p:nvPr/>
        </p:nvSpPr>
        <p:spPr>
          <a:xfrm>
            <a:off x="8147304" y="3803904"/>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8220456" y="3858768"/>
            <a:ext cx="2249424" cy="932688"/>
          </a:xfrm>
          <a:prstGeom prst="rect">
            <a:avLst/>
          </a:prstGeom>
          <a:noFill/>
        </p:spPr>
        <p:txBody>
          <a:bodyPr wrap="square" lIns="0" tIns="0" rIns="0" bIns="0">
            <a:spAutoFit/>
          </a:bodyPr>
          <a:lstStyle/>
          <a:p>
            <a:pPr>
              <a:lnSpc>
                <a:spcPct val="115000"/>
              </a:lnSpc>
            </a:pPr>
            <a:r>
              <a:rPr sz="790" b="1">
                <a:solidFill>
                  <a:srgbClr val="0F5E87"/>
                </a:solidFill>
                <a:latin typeface="Meiryo UI"/>
                <a:ea typeface="Meiryo UI"/>
              </a:rPr>
              <a:t>データ武装型商談比率 80%（FY28）
B2B2C推奨起点売上 5→15%</a:t>
            </a:r>
          </a:p>
        </p:txBody>
      </p:sp>
      <p:sp>
        <p:nvSpPr>
          <p:cNvPr id="52" name="Rectangle 51"/>
          <p:cNvSpPr/>
          <p:nvPr/>
        </p:nvSpPr>
        <p:spPr>
          <a:xfrm>
            <a:off x="10543032" y="3803904"/>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10616184" y="3858768"/>
            <a:ext cx="1060704" cy="932688"/>
          </a:xfrm>
          <a:prstGeom prst="rect">
            <a:avLst/>
          </a:prstGeom>
          <a:noFill/>
        </p:spPr>
        <p:txBody>
          <a:bodyPr wrap="square" lIns="0" tIns="0" rIns="0" bIns="0">
            <a:spAutoFit/>
          </a:bodyPr>
          <a:lstStyle/>
          <a:p>
            <a:pPr>
              <a:lnSpc>
                <a:spcPct val="110000"/>
              </a:lnSpc>
            </a:pPr>
            <a:r>
              <a:rPr sz="819" b="1">
                <a:solidFill>
                  <a:srgbClr val="262626"/>
                </a:solidFill>
                <a:latin typeface="Meiryo UI"/>
                <a:ea typeface="Meiryo UI"/>
              </a:rPr>
              <a:t>FY26–28</a:t>
            </a:r>
          </a:p>
        </p:txBody>
      </p:sp>
      <p:sp>
        <p:nvSpPr>
          <p:cNvPr id="54" name="Rectangle 53"/>
          <p:cNvSpPr/>
          <p:nvPr/>
        </p:nvSpPr>
        <p:spPr>
          <a:xfrm>
            <a:off x="320040" y="4828032"/>
            <a:ext cx="2103120" cy="969264"/>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393192" y="4882896"/>
            <a:ext cx="1975104" cy="859536"/>
          </a:xfrm>
          <a:prstGeom prst="rect">
            <a:avLst/>
          </a:prstGeom>
          <a:noFill/>
        </p:spPr>
        <p:txBody>
          <a:bodyPr wrap="square" lIns="0" tIns="0" rIns="0" bIns="0">
            <a:spAutoFit/>
          </a:bodyPr>
          <a:lstStyle/>
          <a:p>
            <a:pPr>
              <a:lnSpc>
                <a:spcPct val="112000"/>
              </a:lnSpc>
            </a:pPr>
            <a:r>
              <a:rPr sz="860" b="1">
                <a:solidFill>
                  <a:srgbClr val="FFFFFF"/>
                </a:solidFill>
                <a:latin typeface="Meiryo UI"/>
                <a:ea typeface="Meiryo UI"/>
              </a:rPr>
              <a:t>T4 組織・実行力の変革</a:t>
            </a:r>
          </a:p>
        </p:txBody>
      </p:sp>
      <p:sp>
        <p:nvSpPr>
          <p:cNvPr id="56" name="Rectangle 55"/>
          <p:cNvSpPr/>
          <p:nvPr/>
        </p:nvSpPr>
        <p:spPr>
          <a:xfrm>
            <a:off x="2441448" y="4828032"/>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2514600" y="4882896"/>
            <a:ext cx="2523744" cy="932688"/>
          </a:xfrm>
          <a:prstGeom prst="rect">
            <a:avLst/>
          </a:prstGeom>
          <a:noFill/>
        </p:spPr>
        <p:txBody>
          <a:bodyPr wrap="square" lIns="0" tIns="0" rIns="0" bIns="0">
            <a:spAutoFit/>
          </a:bodyPr>
          <a:lstStyle/>
          <a:p>
            <a:pPr>
              <a:lnSpc>
                <a:spcPct val="115000"/>
              </a:lnSpc>
            </a:pPr>
            <a:r>
              <a:rPr sz="819" b="0">
                <a:solidFill>
                  <a:srgbClr val="262626"/>
                </a:solidFill>
                <a:latin typeface="Meiryo UI"/>
                <a:ea typeface="Meiryo UI"/>
              </a:rPr>
              <a:t>生成AI×Salesforce TPMでInput業務自動化＋アカウントスクワッド化</a:t>
            </a:r>
          </a:p>
        </p:txBody>
      </p:sp>
      <p:sp>
        <p:nvSpPr>
          <p:cNvPr id="58" name="Rectangle 57"/>
          <p:cNvSpPr/>
          <p:nvPr/>
        </p:nvSpPr>
        <p:spPr>
          <a:xfrm>
            <a:off x="5111496" y="4828032"/>
            <a:ext cx="3017520" cy="969264"/>
          </a:xfrm>
          <a:prstGeom prst="rect">
            <a:avLst/>
          </a:prstGeom>
          <a:solidFill>
            <a:srgbClr val="FFFFFF"/>
          </a:solidFill>
          <a:ln w="12700">
            <a:solidFill>
              <a:srgbClr val="B87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5184648" y="4882896"/>
            <a:ext cx="2889504" cy="932688"/>
          </a:xfrm>
          <a:prstGeom prst="rect">
            <a:avLst/>
          </a:prstGeom>
          <a:noFill/>
        </p:spPr>
        <p:txBody>
          <a:bodyPr wrap="square" lIns="0" tIns="0" rIns="0" bIns="0">
            <a:spAutoFit/>
          </a:bodyPr>
          <a:lstStyle/>
          <a:p>
            <a:pPr>
              <a:lnSpc>
                <a:spcPct val="115000"/>
              </a:lnSpc>
            </a:pPr>
            <a:r>
              <a:rPr sz="790" b="1">
                <a:solidFill>
                  <a:srgbClr val="262626"/>
                </a:solidFill>
                <a:latin typeface="Meiryo UI"/>
                <a:ea typeface="Meiryo UI"/>
              </a:rPr>
              <a:t>⑦ Input業務ゼロ化による戦略時間の創出
⑧ RevOps型KPIマネジメント（増分粗利を共有KPIに）</a:t>
            </a:r>
          </a:p>
        </p:txBody>
      </p:sp>
      <p:sp>
        <p:nvSpPr>
          <p:cNvPr id="60" name="Rectangle 59"/>
          <p:cNvSpPr/>
          <p:nvPr/>
        </p:nvSpPr>
        <p:spPr>
          <a:xfrm>
            <a:off x="8147304" y="4828032"/>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8220456" y="4882896"/>
            <a:ext cx="2249424" cy="932688"/>
          </a:xfrm>
          <a:prstGeom prst="rect">
            <a:avLst/>
          </a:prstGeom>
          <a:noFill/>
        </p:spPr>
        <p:txBody>
          <a:bodyPr wrap="square" lIns="0" tIns="0" rIns="0" bIns="0">
            <a:spAutoFit/>
          </a:bodyPr>
          <a:lstStyle/>
          <a:p>
            <a:pPr>
              <a:lnSpc>
                <a:spcPct val="115000"/>
              </a:lnSpc>
            </a:pPr>
            <a:r>
              <a:rPr sz="790" b="1">
                <a:solidFill>
                  <a:srgbClr val="0F5E87"/>
                </a:solidFill>
                <a:latin typeface="Meiryo UI"/>
                <a:ea typeface="Meiryo UI"/>
              </a:rPr>
              <a:t>Input業務削減 50→80%
RevOps共有KPI達成率</a:t>
            </a:r>
          </a:p>
        </p:txBody>
      </p:sp>
      <p:sp>
        <p:nvSpPr>
          <p:cNvPr id="62" name="Rectangle 61"/>
          <p:cNvSpPr/>
          <p:nvPr/>
        </p:nvSpPr>
        <p:spPr>
          <a:xfrm>
            <a:off x="10543032" y="4828032"/>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10616184" y="4882896"/>
            <a:ext cx="1060704" cy="932688"/>
          </a:xfrm>
          <a:prstGeom prst="rect">
            <a:avLst/>
          </a:prstGeom>
          <a:noFill/>
        </p:spPr>
        <p:txBody>
          <a:bodyPr wrap="square" lIns="0" tIns="0" rIns="0" bIns="0">
            <a:spAutoFit/>
          </a:bodyPr>
          <a:lstStyle/>
          <a:p>
            <a:pPr>
              <a:lnSpc>
                <a:spcPct val="110000"/>
              </a:lnSpc>
            </a:pPr>
            <a:r>
              <a:rPr sz="819" b="1">
                <a:solidFill>
                  <a:srgbClr val="262626"/>
                </a:solidFill>
                <a:latin typeface="Meiryo UI"/>
                <a:ea typeface="Meiryo UI"/>
              </a:rPr>
              <a:t>FY26–28
（最速）</a:t>
            </a:r>
          </a:p>
        </p:txBody>
      </p:sp>
      <p:sp>
        <p:nvSpPr>
          <p:cNvPr id="64" name="Rectangle 63"/>
          <p:cNvSpPr/>
          <p:nvPr/>
        </p:nvSpPr>
        <p:spPr>
          <a:xfrm>
            <a:off x="320040" y="5888736"/>
            <a:ext cx="11521440" cy="50292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457200" y="5943600"/>
            <a:ext cx="11292840" cy="411480"/>
          </a:xfrm>
          <a:prstGeom prst="rect">
            <a:avLst/>
          </a:prstGeom>
          <a:noFill/>
        </p:spPr>
        <p:txBody>
          <a:bodyPr wrap="square" lIns="0" tIns="0" rIns="0" bIns="0">
            <a:spAutoFit/>
          </a:bodyPr>
          <a:lstStyle/>
          <a:p>
            <a:pPr>
              <a:lnSpc>
                <a:spcPct val="115000"/>
              </a:lnSpc>
            </a:pPr>
            <a:r>
              <a:rPr sz="880" b="1">
                <a:solidFill>
                  <a:srgbClr val="008D2E"/>
                </a:solidFill>
                <a:latin typeface="Meiryo UI"/>
                <a:ea typeface="Meiryo UI"/>
              </a:rPr>
              <a:t>処方との対応：</a:t>
            </a:r>
            <a:r>
              <a:rPr sz="830" b="0">
                <a:solidFill>
                  <a:srgbClr val="262626"/>
                </a:solidFill>
                <a:latin typeface="Meiryo UI"/>
                <a:ea typeface="Meiryo UI"/>
              </a:rPr>
              <a:t>変換の工程＝⑤⑥／廃止→自動化＝⑦／計測＝②④／選ばれる基盤＝①③（以上、処方D）。⑧は処方B（場）と処方C（動機）を実装する施策。承認は処方A（作法）に従い、撤退基準・検証計画をセットで諮る ― 次頁で経営の問いに接続する。</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28016"/>
            <a:ext cx="10972800" cy="320040"/>
          </a:xfrm>
          <a:prstGeom prst="rect">
            <a:avLst/>
          </a:prstGeom>
          <a:noFill/>
        </p:spPr>
        <p:txBody>
          <a:bodyPr wrap="square" lIns="0" tIns="0" rIns="0" bIns="0">
            <a:spAutoFit/>
          </a:bodyPr>
          <a:lstStyle/>
          <a:p>
            <a:pPr>
              <a:lnSpc>
                <a:spcPct val="112000"/>
              </a:lnSpc>
            </a:pPr>
            <a:r>
              <a:rPr sz="1800" b="1">
                <a:solidFill>
                  <a:srgbClr val="262626"/>
                </a:solidFill>
                <a:latin typeface="Meiryo UI"/>
                <a:ea typeface="Meiryo UI"/>
              </a:rPr>
              <a:t>Howの全体構造 ― 5つの経営テーマへのMECE接続</a:t>
            </a:r>
          </a:p>
        </p:txBody>
      </p:sp>
      <p:sp>
        <p:nvSpPr>
          <p:cNvPr id="11" name="Rectangle 10"/>
          <p:cNvSpPr/>
          <p:nvPr/>
        </p:nvSpPr>
        <p:spPr>
          <a:xfrm>
            <a:off x="320040" y="603504"/>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676656"/>
            <a:ext cx="274320" cy="274320"/>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658368"/>
            <a:ext cx="11155680" cy="457200"/>
          </a:xfrm>
          <a:prstGeom prst="rect">
            <a:avLst/>
          </a:prstGeom>
          <a:noFill/>
        </p:spPr>
        <p:txBody>
          <a:bodyPr wrap="square" lIns="0" tIns="0" rIns="0" bIns="0">
            <a:spAutoFit/>
          </a:bodyPr>
          <a:lstStyle/>
          <a:p>
            <a:pPr>
              <a:lnSpc>
                <a:spcPct val="115000"/>
              </a:lnSpc>
            </a:pPr>
            <a:r>
              <a:rPr sz="1100" b="1">
                <a:solidFill>
                  <a:srgbClr val="262626"/>
                </a:solidFill>
                <a:latin typeface="Meiryo UI"/>
                <a:ea typeface="Meiryo UI"/>
              </a:rPr>
              <a:t>8施策を、経営の問いに漏れなく・重複なく割当て直す。各行は「前（GAP・真因・公開データ）→ 答え → 施策 → 後（KPI）」の一本の線で読む</a:t>
            </a:r>
          </a:p>
        </p:txBody>
      </p:sp>
      <p:sp>
        <p:nvSpPr>
          <p:cNvPr id="14" name="Rectangle 13"/>
          <p:cNvSpPr/>
          <p:nvPr/>
        </p:nvSpPr>
        <p:spPr>
          <a:xfrm>
            <a:off x="320040" y="1225296"/>
            <a:ext cx="182880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74904" y="1252728"/>
            <a:ext cx="1719072" cy="237744"/>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経営テーマ（問い）</a:t>
            </a:r>
          </a:p>
        </p:txBody>
      </p:sp>
      <p:sp>
        <p:nvSpPr>
          <p:cNvPr id="16" name="Rectangle 15"/>
          <p:cNvSpPr/>
          <p:nvPr/>
        </p:nvSpPr>
        <p:spPr>
          <a:xfrm>
            <a:off x="2167128" y="1225296"/>
            <a:ext cx="288036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221992" y="1252728"/>
            <a:ext cx="2770632" cy="237744"/>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前 ― 何を受けるか（GAP・真因・公開データ）</a:t>
            </a:r>
          </a:p>
        </p:txBody>
      </p:sp>
      <p:sp>
        <p:nvSpPr>
          <p:cNvPr id="18" name="Rectangle 17"/>
          <p:cNvSpPr/>
          <p:nvPr/>
        </p:nvSpPr>
        <p:spPr>
          <a:xfrm>
            <a:off x="5065776" y="1225296"/>
            <a:ext cx="320040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120640" y="1252728"/>
            <a:ext cx="3090672" cy="237744"/>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答え（ソリューション）</a:t>
            </a:r>
          </a:p>
        </p:txBody>
      </p:sp>
      <p:sp>
        <p:nvSpPr>
          <p:cNvPr id="20" name="Rectangle 19"/>
          <p:cNvSpPr/>
          <p:nvPr/>
        </p:nvSpPr>
        <p:spPr>
          <a:xfrm>
            <a:off x="8284464" y="1225296"/>
            <a:ext cx="14173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339328" y="1252728"/>
            <a:ext cx="1307592" cy="237744"/>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重点施策</a:t>
            </a:r>
          </a:p>
        </p:txBody>
      </p:sp>
      <p:sp>
        <p:nvSpPr>
          <p:cNvPr id="22" name="Rectangle 21"/>
          <p:cNvSpPr/>
          <p:nvPr/>
        </p:nvSpPr>
        <p:spPr>
          <a:xfrm>
            <a:off x="9720072" y="1225296"/>
            <a:ext cx="214884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774936" y="1252728"/>
            <a:ext cx="2039112" cy="237744"/>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後 ― つながるKPI</a:t>
            </a:r>
          </a:p>
        </p:txBody>
      </p:sp>
      <p:sp>
        <p:nvSpPr>
          <p:cNvPr id="24" name="Rectangle 23"/>
          <p:cNvSpPr/>
          <p:nvPr/>
        </p:nvSpPr>
        <p:spPr>
          <a:xfrm>
            <a:off x="320040" y="1554480"/>
            <a:ext cx="1828800" cy="80467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84048" y="1609344"/>
            <a:ext cx="1700784" cy="694944"/>
          </a:xfrm>
          <a:prstGeom prst="rect">
            <a:avLst/>
          </a:prstGeom>
          <a:noFill/>
        </p:spPr>
        <p:txBody>
          <a:bodyPr wrap="square" lIns="0" tIns="0" rIns="0" bIns="0">
            <a:spAutoFit/>
          </a:bodyPr>
          <a:lstStyle/>
          <a:p>
            <a:pPr>
              <a:lnSpc>
                <a:spcPct val="110000"/>
              </a:lnSpc>
            </a:pPr>
            <a:r>
              <a:rPr sz="880" b="1">
                <a:solidFill>
                  <a:srgbClr val="FFFFFF"/>
                </a:solidFill>
                <a:latin typeface="Meiryo UI"/>
                <a:ea typeface="Meiryo UI"/>
              </a:rPr>
              <a:t>1. 市場機会の選択
</a:t>
            </a:r>
            <a:r>
              <a:rPr sz="720" b="0">
                <a:solidFill>
                  <a:srgbClr val="FFFFFF"/>
                </a:solidFill>
                <a:latin typeface="Meiryo UI"/>
                <a:ea typeface="Meiryo UI"/>
              </a:rPr>
              <a:t>どの市場・顧客を重点化するか</a:t>
            </a:r>
          </a:p>
        </p:txBody>
      </p:sp>
      <p:sp>
        <p:nvSpPr>
          <p:cNvPr id="26" name="Rectangle 25"/>
          <p:cNvSpPr/>
          <p:nvPr/>
        </p:nvSpPr>
        <p:spPr>
          <a:xfrm>
            <a:off x="2167128" y="1554480"/>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231136" y="1600200"/>
            <a:ext cx="2743200"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GAP1（消耗戦）。日雑市場は数量▲10〜15%の構造縮小。国民皆歯科健診は政府方針（骨太2022）に明記済み</a:t>
            </a:r>
          </a:p>
        </p:txBody>
      </p:sp>
      <p:sp>
        <p:nvSpPr>
          <p:cNvPr id="28" name="Rectangle 27"/>
          <p:cNvSpPr/>
          <p:nvPr/>
        </p:nvSpPr>
        <p:spPr>
          <a:xfrm>
            <a:off x="5065776" y="1554480"/>
            <a:ext cx="3200400" cy="804672"/>
          </a:xfrm>
          <a:prstGeom prst="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129784" y="1600200"/>
            <a:ext cx="3072384"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縮む数量市場でなく「拡がる予防・健康市場」へ重心移動。オーラルケアを4分割し、撤退はROIC基準で機械的に裁く</a:t>
            </a:r>
          </a:p>
        </p:txBody>
      </p:sp>
      <p:sp>
        <p:nvSpPr>
          <p:cNvPr id="30" name="Rectangle 29"/>
          <p:cNvSpPr/>
          <p:nvPr/>
        </p:nvSpPr>
        <p:spPr>
          <a:xfrm>
            <a:off x="8284464" y="1554480"/>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348472" y="1600200"/>
            <a:ext cx="1289304" cy="713232"/>
          </a:xfrm>
          <a:prstGeom prst="rect">
            <a:avLst/>
          </a:prstGeom>
          <a:noFill/>
        </p:spPr>
        <p:txBody>
          <a:bodyPr wrap="square" lIns="0" tIns="0" rIns="0" bIns="0">
            <a:spAutoFit/>
          </a:bodyPr>
          <a:lstStyle/>
          <a:p>
            <a:pPr>
              <a:lnSpc>
                <a:spcPct val="105000"/>
              </a:lnSpc>
            </a:pPr>
            <a:r>
              <a:rPr sz="720" b="1">
                <a:solidFill>
                  <a:srgbClr val="262626"/>
                </a:solidFill>
                <a:latin typeface="Meiryo UI"/>
                <a:ea typeface="Meiryo UI"/>
              </a:rPr>
              <a:t>① 経営管理連携
データ活用（T1）</a:t>
            </a:r>
          </a:p>
        </p:txBody>
      </p:sp>
      <p:sp>
        <p:nvSpPr>
          <p:cNvPr id="32" name="Rectangle 31"/>
          <p:cNvSpPr/>
          <p:nvPr/>
        </p:nvSpPr>
        <p:spPr>
          <a:xfrm>
            <a:off x="9720072" y="1554480"/>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9784080" y="1600200"/>
            <a:ext cx="2020824" cy="713232"/>
          </a:xfrm>
          <a:prstGeom prst="rect">
            <a:avLst/>
          </a:prstGeom>
          <a:noFill/>
        </p:spPr>
        <p:txBody>
          <a:bodyPr wrap="square" lIns="0" tIns="0" rIns="0" bIns="0">
            <a:spAutoFit/>
          </a:bodyPr>
          <a:lstStyle/>
          <a:p>
            <a:pPr>
              <a:lnSpc>
                <a:spcPct val="105000"/>
              </a:lnSpc>
            </a:pPr>
            <a:r>
              <a:rPr sz="720" b="1">
                <a:solidFill>
                  <a:srgbClr val="0F5E87"/>
                </a:solidFill>
                <a:latin typeface="Meiryo UI"/>
                <a:ea typeface="Meiryo UI"/>
              </a:rPr>
              <a:t>強み領域売上比率
65→80%（FY30）</a:t>
            </a:r>
          </a:p>
        </p:txBody>
      </p:sp>
      <p:sp>
        <p:nvSpPr>
          <p:cNvPr id="34" name="Rectangle 33"/>
          <p:cNvSpPr/>
          <p:nvPr/>
        </p:nvSpPr>
        <p:spPr>
          <a:xfrm>
            <a:off x="320040" y="2395728"/>
            <a:ext cx="1828800" cy="804672"/>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84048" y="2450592"/>
            <a:ext cx="1700784" cy="694944"/>
          </a:xfrm>
          <a:prstGeom prst="rect">
            <a:avLst/>
          </a:prstGeom>
          <a:noFill/>
        </p:spPr>
        <p:txBody>
          <a:bodyPr wrap="square" lIns="0" tIns="0" rIns="0" bIns="0">
            <a:spAutoFit/>
          </a:bodyPr>
          <a:lstStyle/>
          <a:p>
            <a:pPr>
              <a:lnSpc>
                <a:spcPct val="110000"/>
              </a:lnSpc>
            </a:pPr>
            <a:r>
              <a:rPr sz="880" b="1">
                <a:solidFill>
                  <a:srgbClr val="FFFFFF"/>
                </a:solidFill>
                <a:latin typeface="Meiryo UI"/>
                <a:ea typeface="Meiryo UI"/>
              </a:rPr>
              <a:t>2. 選ばれる価値の創造
</a:t>
            </a:r>
            <a:r>
              <a:rPr sz="720" b="0">
                <a:solidFill>
                  <a:srgbClr val="FFFFFF"/>
                </a:solidFill>
                <a:latin typeface="Meiryo UI"/>
                <a:ea typeface="Meiryo UI"/>
              </a:rPr>
              <a:t>何を理由に選ばれる会社になるか</a:t>
            </a:r>
          </a:p>
        </p:txBody>
      </p:sp>
      <p:sp>
        <p:nvSpPr>
          <p:cNvPr id="36" name="Rectangle 35"/>
          <p:cNvSpPr/>
          <p:nvPr/>
        </p:nvSpPr>
        <p:spPr>
          <a:xfrm>
            <a:off x="2167128" y="2395728"/>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231136" y="2441448"/>
            <a:ext cx="2743200"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真因①（知見の非換金）。ゼロクリック66.4%〔ヴァリューズ〕。AIの引用元は自社サイト1%・小売EC17%〔XEO360〕</a:t>
            </a:r>
          </a:p>
        </p:txBody>
      </p:sp>
      <p:sp>
        <p:nvSpPr>
          <p:cNvPr id="38" name="Rectangle 37"/>
          <p:cNvSpPr/>
          <p:nvPr/>
        </p:nvSpPr>
        <p:spPr>
          <a:xfrm>
            <a:off x="5065776" y="2395728"/>
            <a:ext cx="3200400" cy="804672"/>
          </a:xfrm>
          <a:prstGeom prst="rect">
            <a:avLst/>
          </a:prstGeom>
          <a:solidFill>
            <a:srgbClr val="FFFFFF"/>
          </a:solidFill>
          <a:ln w="1270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5129784" y="2441448"/>
            <a:ext cx="3072384"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30年の臨床データを「人に伝わる根拠」と「AIに引用される構造化知識」の両形式に変換。健康の成果に責任を持つ</a:t>
            </a:r>
          </a:p>
        </p:txBody>
      </p:sp>
      <p:sp>
        <p:nvSpPr>
          <p:cNvPr id="40" name="Rectangle 39"/>
          <p:cNvSpPr/>
          <p:nvPr/>
        </p:nvSpPr>
        <p:spPr>
          <a:xfrm>
            <a:off x="8284464" y="2395728"/>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8348472" y="2441448"/>
            <a:ext cx="1289304" cy="713232"/>
          </a:xfrm>
          <a:prstGeom prst="rect">
            <a:avLst/>
          </a:prstGeom>
          <a:noFill/>
        </p:spPr>
        <p:txBody>
          <a:bodyPr wrap="square" lIns="0" tIns="0" rIns="0" bIns="0">
            <a:spAutoFit/>
          </a:bodyPr>
          <a:lstStyle/>
          <a:p>
            <a:pPr>
              <a:lnSpc>
                <a:spcPct val="105000"/>
              </a:lnSpc>
            </a:pPr>
            <a:r>
              <a:rPr sz="720" b="1">
                <a:solidFill>
                  <a:srgbClr val="262626"/>
                </a:solidFill>
                <a:latin typeface="Meiryo UI"/>
                <a:ea typeface="Meiryo UI"/>
              </a:rPr>
              <a:t>② AIEO対応
⑤ データ統合
（T1・T3）</a:t>
            </a:r>
          </a:p>
        </p:txBody>
      </p:sp>
      <p:sp>
        <p:nvSpPr>
          <p:cNvPr id="42" name="Rectangle 41"/>
          <p:cNvSpPr/>
          <p:nvPr/>
        </p:nvSpPr>
        <p:spPr>
          <a:xfrm>
            <a:off x="9720072" y="2395728"/>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9784080" y="2441448"/>
            <a:ext cx="2020824" cy="713232"/>
          </a:xfrm>
          <a:prstGeom prst="rect">
            <a:avLst/>
          </a:prstGeom>
          <a:noFill/>
        </p:spPr>
        <p:txBody>
          <a:bodyPr wrap="square" lIns="0" tIns="0" rIns="0" bIns="0">
            <a:spAutoFit/>
          </a:bodyPr>
          <a:lstStyle/>
          <a:p>
            <a:pPr>
              <a:lnSpc>
                <a:spcPct val="105000"/>
              </a:lnSpc>
            </a:pPr>
            <a:r>
              <a:rPr sz="720" b="1">
                <a:solidFill>
                  <a:srgbClr val="0F5E87"/>
                </a:solidFill>
                <a:latin typeface="Meiryo UI"/>
                <a:ea typeface="Meiryo UI"/>
              </a:rPr>
              <a:t>AIEO Rate 30→50%
データ武装型商談80%</a:t>
            </a:r>
          </a:p>
        </p:txBody>
      </p:sp>
      <p:sp>
        <p:nvSpPr>
          <p:cNvPr id="44" name="Rectangle 43"/>
          <p:cNvSpPr/>
          <p:nvPr/>
        </p:nvSpPr>
        <p:spPr>
          <a:xfrm>
            <a:off x="320040" y="3236976"/>
            <a:ext cx="1828800" cy="804672"/>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384048" y="3291840"/>
            <a:ext cx="1700784" cy="694944"/>
          </a:xfrm>
          <a:prstGeom prst="rect">
            <a:avLst/>
          </a:prstGeom>
          <a:noFill/>
        </p:spPr>
        <p:txBody>
          <a:bodyPr wrap="square" lIns="0" tIns="0" rIns="0" bIns="0">
            <a:spAutoFit/>
          </a:bodyPr>
          <a:lstStyle/>
          <a:p>
            <a:pPr>
              <a:lnSpc>
                <a:spcPct val="110000"/>
              </a:lnSpc>
            </a:pPr>
            <a:r>
              <a:rPr sz="880" b="1">
                <a:solidFill>
                  <a:srgbClr val="FFFFFF"/>
                </a:solidFill>
                <a:latin typeface="Meiryo UI"/>
                <a:ea typeface="Meiryo UI"/>
              </a:rPr>
              <a:t>3. 顧客接点の統合
</a:t>
            </a:r>
            <a:r>
              <a:rPr sz="720" b="0">
                <a:solidFill>
                  <a:srgbClr val="FFFFFF"/>
                </a:solidFill>
                <a:latin typeface="Meiryo UI"/>
                <a:ea typeface="Meiryo UI"/>
              </a:rPr>
              <a:t>認知から受注、継続までをどうつなぐか</a:t>
            </a:r>
          </a:p>
        </p:txBody>
      </p:sp>
      <p:sp>
        <p:nvSpPr>
          <p:cNvPr id="46" name="Rectangle 45"/>
          <p:cNvSpPr/>
          <p:nvPr/>
        </p:nvSpPr>
        <p:spPr>
          <a:xfrm>
            <a:off x="2167128" y="3236976"/>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2231136" y="3282696"/>
            <a:ext cx="2743200"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GAP2・3。リテールメディア2029年1.3兆円〔CARTA〕。日用品購買の約9割は店頭〔経産省EC化率9.78%〕</a:t>
            </a:r>
          </a:p>
        </p:txBody>
      </p:sp>
      <p:sp>
        <p:nvSpPr>
          <p:cNvPr id="48" name="Rectangle 47"/>
          <p:cNvSpPr/>
          <p:nvPr/>
        </p:nvSpPr>
        <p:spPr>
          <a:xfrm>
            <a:off x="5065776" y="3236976"/>
            <a:ext cx="3200400" cy="804672"/>
          </a:xfrm>
          <a:prstGeom prst="rect">
            <a:avLst/>
          </a:prstGeom>
          <a:solidFill>
            <a:srgbClr val="FFFFFF"/>
          </a:solidFill>
          <a:ln w="1270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5129784" y="3282696"/>
            <a:ext cx="3072384"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棚・EC・AI推奨・歯科接点をTAの1スコアで統合。小売とは共同KPIのJBP、商談は「値引き70＋施策30＋成果連動」で</a:t>
            </a:r>
          </a:p>
        </p:txBody>
      </p:sp>
      <p:sp>
        <p:nvSpPr>
          <p:cNvPr id="50" name="Rectangle 49"/>
          <p:cNvSpPr/>
          <p:nvPr/>
        </p:nvSpPr>
        <p:spPr>
          <a:xfrm>
            <a:off x="8284464" y="3236976"/>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8348472" y="3282696"/>
            <a:ext cx="1289304" cy="713232"/>
          </a:xfrm>
          <a:prstGeom prst="rect">
            <a:avLst/>
          </a:prstGeom>
          <a:noFill/>
        </p:spPr>
        <p:txBody>
          <a:bodyPr wrap="square" lIns="0" tIns="0" rIns="0" bIns="0">
            <a:spAutoFit/>
          </a:bodyPr>
          <a:lstStyle/>
          <a:p>
            <a:pPr>
              <a:lnSpc>
                <a:spcPct val="105000"/>
              </a:lnSpc>
            </a:pPr>
            <a:r>
              <a:rPr sz="720" b="1">
                <a:solidFill>
                  <a:srgbClr val="262626"/>
                </a:solidFill>
                <a:latin typeface="Meiryo UI"/>
                <a:ea typeface="Meiryo UI"/>
              </a:rPr>
              <a:t>③ JBP化×TA
⑥ B2B2C商談
（T2・T3）</a:t>
            </a:r>
          </a:p>
        </p:txBody>
      </p:sp>
      <p:sp>
        <p:nvSpPr>
          <p:cNvPr id="52" name="Rectangle 51"/>
          <p:cNvSpPr/>
          <p:nvPr/>
        </p:nvSpPr>
        <p:spPr>
          <a:xfrm>
            <a:off x="9720072" y="3236976"/>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9784080" y="3282696"/>
            <a:ext cx="2020824" cy="713232"/>
          </a:xfrm>
          <a:prstGeom prst="rect">
            <a:avLst/>
          </a:prstGeom>
          <a:noFill/>
        </p:spPr>
        <p:txBody>
          <a:bodyPr wrap="square" lIns="0" tIns="0" rIns="0" bIns="0">
            <a:spAutoFit/>
          </a:bodyPr>
          <a:lstStyle/>
          <a:p>
            <a:pPr>
              <a:lnSpc>
                <a:spcPct val="105000"/>
              </a:lnSpc>
            </a:pPr>
            <a:r>
              <a:rPr sz="720" b="1">
                <a:solidFill>
                  <a:srgbClr val="0F5E87"/>
                </a:solidFill>
                <a:latin typeface="Meiryo UI"/>
                <a:ea typeface="Meiryo UI"/>
              </a:rPr>
              <a:t>TAスコア 70→90%
B2B2C売上 5→15%</a:t>
            </a:r>
          </a:p>
        </p:txBody>
      </p:sp>
      <p:sp>
        <p:nvSpPr>
          <p:cNvPr id="54" name="Rectangle 53"/>
          <p:cNvSpPr/>
          <p:nvPr/>
        </p:nvSpPr>
        <p:spPr>
          <a:xfrm>
            <a:off x="320040" y="4078224"/>
            <a:ext cx="1828800" cy="804672"/>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384048" y="4133087"/>
            <a:ext cx="1700784" cy="694944"/>
          </a:xfrm>
          <a:prstGeom prst="rect">
            <a:avLst/>
          </a:prstGeom>
          <a:noFill/>
        </p:spPr>
        <p:txBody>
          <a:bodyPr wrap="square" lIns="0" tIns="0" rIns="0" bIns="0">
            <a:spAutoFit/>
          </a:bodyPr>
          <a:lstStyle/>
          <a:p>
            <a:pPr>
              <a:lnSpc>
                <a:spcPct val="110000"/>
              </a:lnSpc>
            </a:pPr>
            <a:r>
              <a:rPr sz="880" b="1">
                <a:solidFill>
                  <a:srgbClr val="FFFFFF"/>
                </a:solidFill>
                <a:latin typeface="Meiryo UI"/>
                <a:ea typeface="Meiryo UI"/>
              </a:rPr>
              <a:t>4. 顧客資本の蓄積
</a:t>
            </a:r>
            <a:r>
              <a:rPr sz="720" b="0">
                <a:solidFill>
                  <a:srgbClr val="FFFFFF"/>
                </a:solidFill>
                <a:latin typeface="Meiryo UI"/>
                <a:ea typeface="Meiryo UI"/>
              </a:rPr>
              <a:t>顧客との関係を企業資産にできているか</a:t>
            </a:r>
          </a:p>
        </p:txBody>
      </p:sp>
      <p:sp>
        <p:nvSpPr>
          <p:cNvPr id="56" name="Rectangle 55"/>
          <p:cNvSpPr/>
          <p:nvPr/>
        </p:nvSpPr>
        <p:spPr>
          <a:xfrm>
            <a:off x="2167128" y="4078224"/>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2231136" y="4123944"/>
            <a:ext cx="2743200"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Cookie消滅・自前データ劣後。AI回答への信頼は低く（37 vs 家族86〔McKinsey〕）、信頼確認は人へ回帰</a:t>
            </a:r>
          </a:p>
        </p:txBody>
      </p:sp>
      <p:sp>
        <p:nvSpPr>
          <p:cNvPr id="58" name="Rectangle 57"/>
          <p:cNvSpPr/>
          <p:nvPr/>
        </p:nvSpPr>
        <p:spPr>
          <a:xfrm>
            <a:off x="5065776" y="4078224"/>
            <a:ext cx="3200400" cy="804672"/>
          </a:xfrm>
          <a:prstGeom prst="rect">
            <a:avLst/>
          </a:prstGeom>
          <a:solidFill>
            <a:srgbClr val="FFFFFF"/>
          </a:solidFill>
          <a:ln w="12700">
            <a:solidFill>
              <a:srgbClr val="B87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5129784" y="4123944"/>
            <a:ext cx="3072384"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LION IDを口腔健康OSへ転換。測るのは行動 ― リピート・定期登録・90日継続／共同事業件数／推奨起点売上</a:t>
            </a:r>
          </a:p>
        </p:txBody>
      </p:sp>
      <p:sp>
        <p:nvSpPr>
          <p:cNvPr id="60" name="Rectangle 59"/>
          <p:cNvSpPr/>
          <p:nvPr/>
        </p:nvSpPr>
        <p:spPr>
          <a:xfrm>
            <a:off x="8284464" y="4078224"/>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8348472" y="4123944"/>
            <a:ext cx="1289304" cy="713232"/>
          </a:xfrm>
          <a:prstGeom prst="rect">
            <a:avLst/>
          </a:prstGeom>
          <a:noFill/>
        </p:spPr>
        <p:txBody>
          <a:bodyPr wrap="square" lIns="0" tIns="0" rIns="0" bIns="0">
            <a:spAutoFit/>
          </a:bodyPr>
          <a:lstStyle/>
          <a:p>
            <a:pPr>
              <a:lnSpc>
                <a:spcPct val="105000"/>
              </a:lnSpc>
            </a:pPr>
            <a:r>
              <a:rPr sz="720" b="1">
                <a:solidFill>
                  <a:srgbClr val="262626"/>
                </a:solidFill>
                <a:latin typeface="Meiryo UI"/>
                <a:ea typeface="Meiryo UI"/>
              </a:rPr>
              <a:t>④ LION ID OS化
＋顧客資本KPI
（T2）</a:t>
            </a:r>
          </a:p>
        </p:txBody>
      </p:sp>
      <p:sp>
        <p:nvSpPr>
          <p:cNvPr id="62" name="Rectangle 61"/>
          <p:cNvSpPr/>
          <p:nvPr/>
        </p:nvSpPr>
        <p:spPr>
          <a:xfrm>
            <a:off x="9720072" y="4078224"/>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9784080" y="4123944"/>
            <a:ext cx="2020824" cy="713232"/>
          </a:xfrm>
          <a:prstGeom prst="rect">
            <a:avLst/>
          </a:prstGeom>
          <a:noFill/>
        </p:spPr>
        <p:txBody>
          <a:bodyPr wrap="square" lIns="0" tIns="0" rIns="0" bIns="0">
            <a:spAutoFit/>
          </a:bodyPr>
          <a:lstStyle/>
          <a:p>
            <a:pPr>
              <a:lnSpc>
                <a:spcPct val="105000"/>
              </a:lnSpc>
            </a:pPr>
            <a:r>
              <a:rPr sz="720" b="1">
                <a:solidFill>
                  <a:srgbClr val="0F5E87"/>
                </a:solidFill>
                <a:latin typeface="Meiryo UI"/>
                <a:ea typeface="Meiryo UI"/>
              </a:rPr>
              <a:t>アクティブID／KOIC
90日継続・定期登録</a:t>
            </a:r>
          </a:p>
        </p:txBody>
      </p:sp>
      <p:sp>
        <p:nvSpPr>
          <p:cNvPr id="64" name="Rectangle 63"/>
          <p:cNvSpPr/>
          <p:nvPr/>
        </p:nvSpPr>
        <p:spPr>
          <a:xfrm>
            <a:off x="320040" y="4919472"/>
            <a:ext cx="1828800" cy="804672"/>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384048" y="4974336"/>
            <a:ext cx="1700784" cy="694944"/>
          </a:xfrm>
          <a:prstGeom prst="rect">
            <a:avLst/>
          </a:prstGeom>
          <a:noFill/>
        </p:spPr>
        <p:txBody>
          <a:bodyPr wrap="square" lIns="0" tIns="0" rIns="0" bIns="0">
            <a:spAutoFit/>
          </a:bodyPr>
          <a:lstStyle/>
          <a:p>
            <a:pPr>
              <a:lnSpc>
                <a:spcPct val="110000"/>
              </a:lnSpc>
            </a:pPr>
            <a:r>
              <a:rPr sz="880" b="1">
                <a:solidFill>
                  <a:srgbClr val="FFFFFF"/>
                </a:solidFill>
                <a:latin typeface="Meiryo UI"/>
                <a:ea typeface="Meiryo UI"/>
              </a:rPr>
              <a:t>5. 実行能力と成果管理
</a:t>
            </a:r>
            <a:r>
              <a:rPr sz="720" b="0">
                <a:solidFill>
                  <a:srgbClr val="FFFFFF"/>
                </a:solidFill>
                <a:latin typeface="Meiryo UI"/>
                <a:ea typeface="Meiryo UI"/>
              </a:rPr>
              <a:t>誰が、何を担い、どの指標で評価するか</a:t>
            </a:r>
          </a:p>
        </p:txBody>
      </p:sp>
      <p:sp>
        <p:nvSpPr>
          <p:cNvPr id="66" name="Rectangle 65"/>
          <p:cNvSpPr/>
          <p:nvPr/>
        </p:nvSpPr>
        <p:spPr>
          <a:xfrm>
            <a:off x="2167128" y="4919472"/>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2231136" y="4965192"/>
            <a:ext cx="2743200"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真因3（回路の不在）。生成AI普及は1年で約3倍〔総務省白書〕＝期限は自社で選べない。対P&amp;G生産性7.6倍差</a:t>
            </a:r>
          </a:p>
        </p:txBody>
      </p:sp>
      <p:sp>
        <p:nvSpPr>
          <p:cNvPr id="68" name="Rectangle 67"/>
          <p:cNvSpPr/>
          <p:nvPr/>
        </p:nvSpPr>
        <p:spPr>
          <a:xfrm>
            <a:off x="5065776" y="4919472"/>
            <a:ext cx="3200400" cy="804672"/>
          </a:xfrm>
          <a:prstGeom prst="rect">
            <a:avLst/>
          </a:prstGeom>
          <a:solidFill>
            <a:srgbClr val="FFFFFF"/>
          </a:solidFill>
          <a:ln w="12700">
            <a:solidFill>
              <a:srgbClr val="1623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5129784" y="4965192"/>
            <a:ext cx="3072384"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ゼロ化で時間を生み、スクワッド×北極星KPI（増分粗利）で束ねる。役員オーナー制＋撤退基準＋検証責任は提案側</a:t>
            </a:r>
          </a:p>
        </p:txBody>
      </p:sp>
      <p:sp>
        <p:nvSpPr>
          <p:cNvPr id="70" name="Rectangle 69"/>
          <p:cNvSpPr/>
          <p:nvPr/>
        </p:nvSpPr>
        <p:spPr>
          <a:xfrm>
            <a:off x="8284464" y="4919472"/>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8348472" y="4965192"/>
            <a:ext cx="1289304" cy="713232"/>
          </a:xfrm>
          <a:prstGeom prst="rect">
            <a:avLst/>
          </a:prstGeom>
          <a:noFill/>
        </p:spPr>
        <p:txBody>
          <a:bodyPr wrap="square" lIns="0" tIns="0" rIns="0" bIns="0">
            <a:spAutoFit/>
          </a:bodyPr>
          <a:lstStyle/>
          <a:p>
            <a:pPr>
              <a:lnSpc>
                <a:spcPct val="105000"/>
              </a:lnSpc>
            </a:pPr>
            <a:r>
              <a:rPr sz="720" b="1">
                <a:solidFill>
                  <a:srgbClr val="262626"/>
                </a:solidFill>
                <a:latin typeface="Meiryo UI"/>
                <a:ea typeface="Meiryo UI"/>
              </a:rPr>
              <a:t>⑦ ゼロ化
⑧ RevOps（T4）</a:t>
            </a:r>
          </a:p>
        </p:txBody>
      </p:sp>
      <p:sp>
        <p:nvSpPr>
          <p:cNvPr id="72" name="Rectangle 71"/>
          <p:cNvSpPr/>
          <p:nvPr/>
        </p:nvSpPr>
        <p:spPr>
          <a:xfrm>
            <a:off x="9720072" y="4919472"/>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9784080" y="4965192"/>
            <a:ext cx="2020824" cy="713232"/>
          </a:xfrm>
          <a:prstGeom prst="rect">
            <a:avLst/>
          </a:prstGeom>
          <a:noFill/>
        </p:spPr>
        <p:txBody>
          <a:bodyPr wrap="square" lIns="0" tIns="0" rIns="0" bIns="0">
            <a:spAutoFit/>
          </a:bodyPr>
          <a:lstStyle/>
          <a:p>
            <a:pPr>
              <a:lnSpc>
                <a:spcPct val="105000"/>
              </a:lnSpc>
            </a:pPr>
            <a:r>
              <a:rPr sz="720" b="1">
                <a:solidFill>
                  <a:srgbClr val="0F5E87"/>
                </a:solidFill>
                <a:latin typeface="Meiryo UI"/>
                <a:ea typeface="Meiryo UI"/>
              </a:rPr>
              <a:t>Input削減 50→80%
共有KPI達成率</a:t>
            </a:r>
          </a:p>
        </p:txBody>
      </p:sp>
      <p:sp>
        <p:nvSpPr>
          <p:cNvPr id="74" name="Rectangle 73"/>
          <p:cNvSpPr/>
          <p:nvPr/>
        </p:nvSpPr>
        <p:spPr>
          <a:xfrm>
            <a:off x="320040" y="5779007"/>
            <a:ext cx="11521440" cy="54864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457200" y="5824728"/>
            <a:ext cx="11292840" cy="475488"/>
          </a:xfrm>
          <a:prstGeom prst="rect">
            <a:avLst/>
          </a:prstGeom>
          <a:noFill/>
        </p:spPr>
        <p:txBody>
          <a:bodyPr wrap="square" lIns="0" tIns="0" rIns="0" bIns="0">
            <a:spAutoFit/>
          </a:bodyPr>
          <a:lstStyle/>
          <a:p>
            <a:pPr>
              <a:lnSpc>
                <a:spcPct val="116000"/>
              </a:lnSpc>
            </a:pPr>
            <a:r>
              <a:rPr sz="880" b="1">
                <a:solidFill>
                  <a:srgbClr val="008D2E"/>
                </a:solidFill>
                <a:latin typeface="Meiryo UI"/>
                <a:ea typeface="Meiryo UI"/>
              </a:rPr>
              <a:t>MECEの根拠と「線」の設計：</a:t>
            </a:r>
            <a:r>
              <a:rPr sz="819" b="0">
                <a:solidFill>
                  <a:srgbClr val="262626"/>
                </a:solidFill>
                <a:latin typeface="Meiryo UI"/>
                <a:ea typeface="Meiryo UI"/>
              </a:rPr>
              <a:t>5テーマは「選ぶ→定める→届ける→蓄える→回す」の完全分割（漏れ・重複なし）。8施策は排他的に割当てつつ、②の根拠が③の商談武器に、③の接点が④のID獲得口に、⑤が全体の時間と評価を支える ― という受け渡しを「線」として設計。出口＝業務の変化は次頁。</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10972800" cy="457200"/>
          </a:xfrm>
          <a:prstGeom prst="rect">
            <a:avLst/>
          </a:prstGeom>
          <a:noFill/>
        </p:spPr>
        <p:txBody>
          <a:bodyPr wrap="square" lIns="0" tIns="0" rIns="0" bIns="0">
            <a:spAutoFit/>
          </a:bodyPr>
          <a:lstStyle/>
          <a:p>
            <a:pPr>
              <a:lnSpc>
                <a:spcPct val="112000"/>
              </a:lnSpc>
            </a:pPr>
            <a:r>
              <a:rPr sz="1800" b="1">
                <a:solidFill>
                  <a:srgbClr val="262626"/>
                </a:solidFill>
                <a:latin typeface="Meiryo UI"/>
                <a:ea typeface="Meiryo UI"/>
              </a:rPr>
              <a:t>出口 ― マーケティング・営業DXの姿（Before → After）</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49808"/>
            <a:ext cx="274320" cy="274320"/>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tIns="0" rIns="0" bIns="0">
            <a:spAutoFit/>
          </a:bodyPr>
          <a:lstStyle/>
          <a:p>
            <a:pPr>
              <a:lnSpc>
                <a:spcPct val="118000"/>
              </a:lnSpc>
            </a:pPr>
            <a:r>
              <a:rPr sz="1100" b="1">
                <a:solidFill>
                  <a:srgbClr val="262626"/>
                </a:solidFill>
                <a:latin typeface="Meiryo UI"/>
                <a:ea typeface="Meiryo UI"/>
              </a:rPr>
              <a:t>出口は戦略文書ではなく、現場の仕事の新しい姿が回っている状態。5つの経営テーマの答えを、誰の・どの業務が・どのデジタルで変わるかに着地させる</a:t>
            </a:r>
          </a:p>
        </p:txBody>
      </p:sp>
      <p:sp>
        <p:nvSpPr>
          <p:cNvPr id="14" name="Rectangle 13"/>
          <p:cNvSpPr/>
          <p:nvPr/>
        </p:nvSpPr>
        <p:spPr>
          <a:xfrm>
            <a:off x="320040" y="1463040"/>
            <a:ext cx="5669280" cy="329184"/>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29768" y="1499616"/>
            <a:ext cx="5440680" cy="274320"/>
          </a:xfrm>
          <a:prstGeom prst="rect">
            <a:avLst/>
          </a:prstGeom>
          <a:noFill/>
        </p:spPr>
        <p:txBody>
          <a:bodyPr wrap="square" lIns="0" tIns="0" rIns="0" bIns="0">
            <a:spAutoFit/>
          </a:bodyPr>
          <a:lstStyle/>
          <a:p>
            <a:pPr>
              <a:lnSpc>
                <a:spcPct val="112000"/>
              </a:lnSpc>
            </a:pPr>
            <a:r>
              <a:rPr sz="1050" b="1">
                <a:solidFill>
                  <a:srgbClr val="FFFFFF"/>
                </a:solidFill>
                <a:latin typeface="Meiryo UI"/>
                <a:ea typeface="Meiryo UI"/>
              </a:rPr>
              <a:t>営業のDX ― 商談・売場・体制</a:t>
            </a:r>
          </a:p>
        </p:txBody>
      </p:sp>
      <p:sp>
        <p:nvSpPr>
          <p:cNvPr id="16" name="Rectangle 15"/>
          <p:cNvSpPr/>
          <p:nvPr/>
        </p:nvSpPr>
        <p:spPr>
          <a:xfrm>
            <a:off x="320040" y="1847088"/>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93192" y="1892807"/>
            <a:ext cx="1097280" cy="822960"/>
          </a:xfrm>
          <a:prstGeom prst="rect">
            <a:avLst/>
          </a:prstGeom>
          <a:noFill/>
        </p:spPr>
        <p:txBody>
          <a:bodyPr wrap="square" lIns="0" tIns="0" rIns="0" bIns="0">
            <a:spAutoFit/>
          </a:bodyPr>
          <a:lstStyle/>
          <a:p>
            <a:pPr>
              <a:lnSpc>
                <a:spcPct val="108000"/>
              </a:lnSpc>
            </a:pPr>
            <a:r>
              <a:rPr sz="819" b="1">
                <a:solidFill>
                  <a:srgbClr val="008D2E"/>
                </a:solidFill>
                <a:latin typeface="Meiryo UI"/>
                <a:ea typeface="Meiryo UI"/>
              </a:rPr>
              <a:t>商談の準備</a:t>
            </a:r>
          </a:p>
        </p:txBody>
      </p:sp>
      <p:sp>
        <p:nvSpPr>
          <p:cNvPr id="18" name="TextBox 17"/>
          <p:cNvSpPr txBox="1"/>
          <p:nvPr/>
        </p:nvSpPr>
        <p:spPr>
          <a:xfrm>
            <a:off x="1536192" y="1892807"/>
            <a:ext cx="2084831" cy="822960"/>
          </a:xfrm>
          <a:prstGeom prst="rect">
            <a:avLst/>
          </a:prstGeom>
          <a:noFill/>
        </p:spPr>
        <p:txBody>
          <a:bodyPr wrap="square" lIns="0" tIns="0" r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提案資料・実績集計を手作業で数時間</a:t>
            </a:r>
          </a:p>
        </p:txBody>
      </p:sp>
      <p:sp>
        <p:nvSpPr>
          <p:cNvPr id="19" name="TextBox 18"/>
          <p:cNvSpPr txBox="1"/>
          <p:nvPr/>
        </p:nvSpPr>
        <p:spPr>
          <a:xfrm>
            <a:off x="3703320" y="1892807"/>
            <a:ext cx="2212848" cy="822960"/>
          </a:xfrm>
          <a:prstGeom prst="rect">
            <a:avLst/>
          </a:prstGeom>
          <a:noFill/>
        </p:spPr>
        <p:txBody>
          <a:bodyPr wrap="square" lIns="0" tIns="0" rIns="0" bIns="0">
            <a:spAutoFit/>
          </a:bodyPr>
          <a:lstStyle/>
          <a:p>
            <a:pPr>
              <a:lnSpc>
                <a:spcPct val="110000"/>
              </a:lnSpc>
            </a:pPr>
            <a:r>
              <a:rPr sz="700" b="1">
                <a:solidFill>
                  <a:srgbClr val="008D2E"/>
                </a:solidFill>
                <a:latin typeface="Meiryo UI"/>
                <a:ea typeface="Meiryo UI"/>
              </a:rPr>
              <a:t>After　</a:t>
            </a:r>
            <a:r>
              <a:rPr sz="730" b="1">
                <a:solidFill>
                  <a:srgbClr val="262626"/>
                </a:solidFill>
                <a:latin typeface="Meiryo UI"/>
                <a:ea typeface="Meiryo UI"/>
              </a:rPr>
              <a:t>生成AI×TPMが提案書・LTV予測・炭素効率を自動生成。営業はレビューのみ　</a:t>
            </a:r>
            <a:r>
              <a:rPr sz="660" b="0">
                <a:solidFill>
                  <a:srgbClr val="595959"/>
                </a:solidFill>
                <a:latin typeface="Meiryo UI"/>
                <a:ea typeface="Meiryo UI"/>
              </a:rPr>
              <a:t>（⑤⑦）</a:t>
            </a:r>
          </a:p>
        </p:txBody>
      </p:sp>
      <p:sp>
        <p:nvSpPr>
          <p:cNvPr id="20" name="Rectangle 19"/>
          <p:cNvSpPr/>
          <p:nvPr/>
        </p:nvSpPr>
        <p:spPr>
          <a:xfrm>
            <a:off x="320040" y="2834640"/>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93192" y="2880360"/>
            <a:ext cx="1097280" cy="822960"/>
          </a:xfrm>
          <a:prstGeom prst="rect">
            <a:avLst/>
          </a:prstGeom>
          <a:noFill/>
        </p:spPr>
        <p:txBody>
          <a:bodyPr wrap="square" lIns="0" tIns="0" rIns="0" bIns="0">
            <a:spAutoFit/>
          </a:bodyPr>
          <a:lstStyle/>
          <a:p>
            <a:pPr>
              <a:lnSpc>
                <a:spcPct val="108000"/>
              </a:lnSpc>
            </a:pPr>
            <a:r>
              <a:rPr sz="819" b="1">
                <a:solidFill>
                  <a:srgbClr val="008D2E"/>
                </a:solidFill>
                <a:latin typeface="Meiryo UI"/>
                <a:ea typeface="Meiryo UI"/>
              </a:rPr>
              <a:t>商談の中身</a:t>
            </a:r>
          </a:p>
        </p:txBody>
      </p:sp>
      <p:sp>
        <p:nvSpPr>
          <p:cNvPr id="22" name="TextBox 21"/>
          <p:cNvSpPr txBox="1"/>
          <p:nvPr/>
        </p:nvSpPr>
        <p:spPr>
          <a:xfrm>
            <a:off x="1536192" y="2880360"/>
            <a:ext cx="2084831" cy="822960"/>
          </a:xfrm>
          <a:prstGeom prst="rect">
            <a:avLst/>
          </a:prstGeom>
          <a:noFill/>
        </p:spPr>
        <p:txBody>
          <a:bodyPr wrap="square" lIns="0" tIns="0" r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値引き・特売の条件交渉が中心</a:t>
            </a:r>
          </a:p>
        </p:txBody>
      </p:sp>
      <p:sp>
        <p:nvSpPr>
          <p:cNvPr id="23" name="TextBox 22"/>
          <p:cNvSpPr txBox="1"/>
          <p:nvPr/>
        </p:nvSpPr>
        <p:spPr>
          <a:xfrm>
            <a:off x="3703320" y="2880360"/>
            <a:ext cx="2212848" cy="822960"/>
          </a:xfrm>
          <a:prstGeom prst="rect">
            <a:avLst/>
          </a:prstGeom>
          <a:noFill/>
        </p:spPr>
        <p:txBody>
          <a:bodyPr wrap="square" lIns="0" tIns="0" rIns="0" bIns="0">
            <a:spAutoFit/>
          </a:bodyPr>
          <a:lstStyle/>
          <a:p>
            <a:pPr>
              <a:lnSpc>
                <a:spcPct val="110000"/>
              </a:lnSpc>
            </a:pPr>
            <a:r>
              <a:rPr sz="700" b="1">
                <a:solidFill>
                  <a:srgbClr val="008D2E"/>
                </a:solidFill>
                <a:latin typeface="Meiryo UI"/>
                <a:ea typeface="Meiryo UI"/>
              </a:rPr>
              <a:t>After　</a:t>
            </a:r>
            <a:r>
              <a:rPr sz="730" b="1">
                <a:solidFill>
                  <a:srgbClr val="262626"/>
                </a:solidFill>
                <a:latin typeface="Meiryo UI"/>
                <a:ea typeface="Meiryo UI"/>
              </a:rPr>
              <a:t>「値引き70＋施策30＋成果連動」＋小売データ共同検証のJBP商談へ　</a:t>
            </a:r>
            <a:r>
              <a:rPr sz="660" b="0">
                <a:solidFill>
                  <a:srgbClr val="595959"/>
                </a:solidFill>
                <a:latin typeface="Meiryo UI"/>
                <a:ea typeface="Meiryo UI"/>
              </a:rPr>
              <a:t>（③⑥）</a:t>
            </a:r>
          </a:p>
        </p:txBody>
      </p:sp>
      <p:sp>
        <p:nvSpPr>
          <p:cNvPr id="24" name="Rectangle 23"/>
          <p:cNvSpPr/>
          <p:nvPr/>
        </p:nvSpPr>
        <p:spPr>
          <a:xfrm>
            <a:off x="320040" y="3822191"/>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93192" y="3867911"/>
            <a:ext cx="1097280" cy="822960"/>
          </a:xfrm>
          <a:prstGeom prst="rect">
            <a:avLst/>
          </a:prstGeom>
          <a:noFill/>
        </p:spPr>
        <p:txBody>
          <a:bodyPr wrap="square" lIns="0" tIns="0" rIns="0" bIns="0">
            <a:spAutoFit/>
          </a:bodyPr>
          <a:lstStyle/>
          <a:p>
            <a:pPr>
              <a:lnSpc>
                <a:spcPct val="108000"/>
              </a:lnSpc>
            </a:pPr>
            <a:r>
              <a:rPr sz="819" b="1">
                <a:solidFill>
                  <a:srgbClr val="008D2E"/>
                </a:solidFill>
                <a:latin typeface="Meiryo UI"/>
                <a:ea typeface="Meiryo UI"/>
              </a:rPr>
              <a:t>売場・接点</a:t>
            </a:r>
          </a:p>
        </p:txBody>
      </p:sp>
      <p:sp>
        <p:nvSpPr>
          <p:cNvPr id="26" name="TextBox 25"/>
          <p:cNvSpPr txBox="1"/>
          <p:nvPr/>
        </p:nvSpPr>
        <p:spPr>
          <a:xfrm>
            <a:off x="1536192" y="3867911"/>
            <a:ext cx="2084831" cy="822960"/>
          </a:xfrm>
          <a:prstGeom prst="rect">
            <a:avLst/>
          </a:prstGeom>
          <a:noFill/>
        </p:spPr>
        <p:txBody>
          <a:bodyPr wrap="square" lIns="0" tIns="0" r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棚取り・チラシ枠交渉。店頭とECは別管理</a:t>
            </a:r>
          </a:p>
        </p:txBody>
      </p:sp>
      <p:sp>
        <p:nvSpPr>
          <p:cNvPr id="27" name="TextBox 26"/>
          <p:cNvSpPr txBox="1"/>
          <p:nvPr/>
        </p:nvSpPr>
        <p:spPr>
          <a:xfrm>
            <a:off x="3703320" y="3867911"/>
            <a:ext cx="2212848" cy="822960"/>
          </a:xfrm>
          <a:prstGeom prst="rect">
            <a:avLst/>
          </a:prstGeom>
          <a:noFill/>
        </p:spPr>
        <p:txBody>
          <a:bodyPr wrap="square" lIns="0" tIns="0" rIns="0" bIns="0">
            <a:spAutoFit/>
          </a:bodyPr>
          <a:lstStyle/>
          <a:p>
            <a:pPr>
              <a:lnSpc>
                <a:spcPct val="110000"/>
              </a:lnSpc>
            </a:pPr>
            <a:r>
              <a:rPr sz="700" b="1">
                <a:solidFill>
                  <a:srgbClr val="008D2E"/>
                </a:solidFill>
                <a:latin typeface="Meiryo UI"/>
                <a:ea typeface="Meiryo UI"/>
              </a:rPr>
              <a:t>After　</a:t>
            </a:r>
            <a:r>
              <a:rPr sz="730" b="1">
                <a:solidFill>
                  <a:srgbClr val="262626"/>
                </a:solidFill>
                <a:latin typeface="Meiryo UI"/>
                <a:ea typeface="Meiryo UI"/>
              </a:rPr>
              <a:t>診断型売場×リテールメディアを共同運用。棚・EC・AI推奨をTAで一体管理　</a:t>
            </a:r>
            <a:r>
              <a:rPr sz="660" b="0">
                <a:solidFill>
                  <a:srgbClr val="595959"/>
                </a:solidFill>
                <a:latin typeface="Meiryo UI"/>
                <a:ea typeface="Meiryo UI"/>
              </a:rPr>
              <a:t>（③）</a:t>
            </a:r>
          </a:p>
        </p:txBody>
      </p:sp>
      <p:sp>
        <p:nvSpPr>
          <p:cNvPr id="28" name="Rectangle 27"/>
          <p:cNvSpPr/>
          <p:nvPr/>
        </p:nvSpPr>
        <p:spPr>
          <a:xfrm>
            <a:off x="320040" y="4809744"/>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393192" y="4855464"/>
            <a:ext cx="1097280" cy="822960"/>
          </a:xfrm>
          <a:prstGeom prst="rect">
            <a:avLst/>
          </a:prstGeom>
          <a:noFill/>
        </p:spPr>
        <p:txBody>
          <a:bodyPr wrap="square" lIns="0" tIns="0" rIns="0" bIns="0">
            <a:spAutoFit/>
          </a:bodyPr>
          <a:lstStyle/>
          <a:p>
            <a:pPr>
              <a:lnSpc>
                <a:spcPct val="108000"/>
              </a:lnSpc>
            </a:pPr>
            <a:r>
              <a:rPr sz="819" b="1">
                <a:solidFill>
                  <a:srgbClr val="008D2E"/>
                </a:solidFill>
                <a:latin typeface="Meiryo UI"/>
                <a:ea typeface="Meiryo UI"/>
              </a:rPr>
              <a:t>体制・評価</a:t>
            </a:r>
          </a:p>
        </p:txBody>
      </p:sp>
      <p:sp>
        <p:nvSpPr>
          <p:cNvPr id="30" name="TextBox 29"/>
          <p:cNvSpPr txBox="1"/>
          <p:nvPr/>
        </p:nvSpPr>
        <p:spPr>
          <a:xfrm>
            <a:off x="1536192" y="4855464"/>
            <a:ext cx="2084831" cy="822960"/>
          </a:xfrm>
          <a:prstGeom prst="rect">
            <a:avLst/>
          </a:prstGeom>
          <a:noFill/>
        </p:spPr>
        <p:txBody>
          <a:bodyPr wrap="square" lIns="0" tIns="0" r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1人1バイヤーの属人営業・売上評価のみ</a:t>
            </a:r>
          </a:p>
        </p:txBody>
      </p:sp>
      <p:sp>
        <p:nvSpPr>
          <p:cNvPr id="31" name="TextBox 30"/>
          <p:cNvSpPr txBox="1"/>
          <p:nvPr/>
        </p:nvSpPr>
        <p:spPr>
          <a:xfrm>
            <a:off x="3703320" y="4855464"/>
            <a:ext cx="2212848" cy="822960"/>
          </a:xfrm>
          <a:prstGeom prst="rect">
            <a:avLst/>
          </a:prstGeom>
          <a:noFill/>
        </p:spPr>
        <p:txBody>
          <a:bodyPr wrap="square" lIns="0" tIns="0" rIns="0" bIns="0">
            <a:spAutoFit/>
          </a:bodyPr>
          <a:lstStyle/>
          <a:p>
            <a:pPr>
              <a:lnSpc>
                <a:spcPct val="110000"/>
              </a:lnSpc>
            </a:pPr>
            <a:r>
              <a:rPr sz="700" b="1">
                <a:solidFill>
                  <a:srgbClr val="008D2E"/>
                </a:solidFill>
                <a:latin typeface="Meiryo UI"/>
                <a:ea typeface="Meiryo UI"/>
              </a:rPr>
              <a:t>After　</a:t>
            </a:r>
            <a:r>
              <a:rPr sz="730" b="1">
                <a:solidFill>
                  <a:srgbClr val="262626"/>
                </a:solidFill>
                <a:latin typeface="Meiryo UI"/>
                <a:ea typeface="Meiryo UI"/>
              </a:rPr>
              <a:t>スクワッド（営業・ブランド・データ・EC・SCM）で増分粗利を共有KPIに　</a:t>
            </a:r>
            <a:r>
              <a:rPr sz="660" b="0">
                <a:solidFill>
                  <a:srgbClr val="595959"/>
                </a:solidFill>
                <a:latin typeface="Meiryo UI"/>
                <a:ea typeface="Meiryo UI"/>
              </a:rPr>
              <a:t>（⑧）</a:t>
            </a:r>
          </a:p>
        </p:txBody>
      </p:sp>
      <p:sp>
        <p:nvSpPr>
          <p:cNvPr id="32" name="Rectangle 31"/>
          <p:cNvSpPr/>
          <p:nvPr/>
        </p:nvSpPr>
        <p:spPr>
          <a:xfrm>
            <a:off x="6172200" y="1463040"/>
            <a:ext cx="5669280" cy="329184"/>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281928" y="1499616"/>
            <a:ext cx="5440680" cy="274320"/>
          </a:xfrm>
          <a:prstGeom prst="rect">
            <a:avLst/>
          </a:prstGeom>
          <a:noFill/>
        </p:spPr>
        <p:txBody>
          <a:bodyPr wrap="square" lIns="0" tIns="0" rIns="0" bIns="0">
            <a:spAutoFit/>
          </a:bodyPr>
          <a:lstStyle/>
          <a:p>
            <a:pPr>
              <a:lnSpc>
                <a:spcPct val="112000"/>
              </a:lnSpc>
            </a:pPr>
            <a:r>
              <a:rPr sz="1050" b="1">
                <a:solidFill>
                  <a:srgbClr val="FFFFFF"/>
                </a:solidFill>
                <a:latin typeface="Meiryo UI"/>
                <a:ea typeface="Meiryo UI"/>
              </a:rPr>
              <a:t>マーケティングのDX ― 投資・コンテンツ・顧客基盤</a:t>
            </a:r>
          </a:p>
        </p:txBody>
      </p:sp>
      <p:sp>
        <p:nvSpPr>
          <p:cNvPr id="34" name="Rectangle 33"/>
          <p:cNvSpPr/>
          <p:nvPr/>
        </p:nvSpPr>
        <p:spPr>
          <a:xfrm>
            <a:off x="6172200" y="1847088"/>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245352" y="1892807"/>
            <a:ext cx="1097280" cy="822960"/>
          </a:xfrm>
          <a:prstGeom prst="rect">
            <a:avLst/>
          </a:prstGeom>
          <a:noFill/>
        </p:spPr>
        <p:txBody>
          <a:bodyPr wrap="square" lIns="0" tIns="0" rIns="0" bIns="0">
            <a:spAutoFit/>
          </a:bodyPr>
          <a:lstStyle/>
          <a:p>
            <a:pPr>
              <a:lnSpc>
                <a:spcPct val="108000"/>
              </a:lnSpc>
            </a:pPr>
            <a:r>
              <a:rPr sz="819" b="1">
                <a:solidFill>
                  <a:srgbClr val="0F5E87"/>
                </a:solidFill>
                <a:latin typeface="Meiryo UI"/>
                <a:ea typeface="Meiryo UI"/>
              </a:rPr>
              <a:t>メディア投資</a:t>
            </a:r>
          </a:p>
        </p:txBody>
      </p:sp>
      <p:sp>
        <p:nvSpPr>
          <p:cNvPr id="36" name="TextBox 35"/>
          <p:cNvSpPr txBox="1"/>
          <p:nvPr/>
        </p:nvSpPr>
        <p:spPr>
          <a:xfrm>
            <a:off x="7388352" y="1892807"/>
            <a:ext cx="2084831" cy="822960"/>
          </a:xfrm>
          <a:prstGeom prst="rect">
            <a:avLst/>
          </a:prstGeom>
          <a:noFill/>
        </p:spPr>
        <p:txBody>
          <a:bodyPr wrap="square" lIns="0" tIns="0" r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マス広告中心。効果測定は認知調査どまり</a:t>
            </a:r>
          </a:p>
        </p:txBody>
      </p:sp>
      <p:sp>
        <p:nvSpPr>
          <p:cNvPr id="37" name="TextBox 36"/>
          <p:cNvSpPr txBox="1"/>
          <p:nvPr/>
        </p:nvSpPr>
        <p:spPr>
          <a:xfrm>
            <a:off x="9555480" y="1892807"/>
            <a:ext cx="2212848" cy="822960"/>
          </a:xfrm>
          <a:prstGeom prst="rect">
            <a:avLst/>
          </a:prstGeom>
          <a:noFill/>
        </p:spPr>
        <p:txBody>
          <a:bodyPr wrap="square" lIns="0" tIns="0" rIns="0" bIns="0">
            <a:spAutoFit/>
          </a:bodyPr>
          <a:lstStyle/>
          <a:p>
            <a:pPr>
              <a:lnSpc>
                <a:spcPct val="110000"/>
              </a:lnSpc>
            </a:pPr>
            <a:r>
              <a:rPr sz="700" b="1">
                <a:solidFill>
                  <a:srgbClr val="0F5E87"/>
                </a:solidFill>
                <a:latin typeface="Meiryo UI"/>
                <a:ea typeface="Meiryo UI"/>
              </a:rPr>
              <a:t>After　</a:t>
            </a:r>
            <a:r>
              <a:rPr sz="730" b="1">
                <a:solidFill>
                  <a:srgbClr val="262626"/>
                </a:solidFill>
                <a:latin typeface="Meiryo UI"/>
                <a:ea typeface="Meiryo UI"/>
              </a:rPr>
              <a:t>リテールメディア・AIEOへ再配分し、MMM＋増分実験でROIを毎月運用　</a:t>
            </a:r>
            <a:r>
              <a:rPr sz="660" b="0">
                <a:solidFill>
                  <a:srgbClr val="595959"/>
                </a:solidFill>
                <a:latin typeface="Meiryo UI"/>
                <a:ea typeface="Meiryo UI"/>
              </a:rPr>
              <a:t>（②③）</a:t>
            </a:r>
          </a:p>
        </p:txBody>
      </p:sp>
      <p:sp>
        <p:nvSpPr>
          <p:cNvPr id="38" name="Rectangle 37"/>
          <p:cNvSpPr/>
          <p:nvPr/>
        </p:nvSpPr>
        <p:spPr>
          <a:xfrm>
            <a:off x="6172200" y="2834640"/>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245352" y="2880360"/>
            <a:ext cx="1097280" cy="822960"/>
          </a:xfrm>
          <a:prstGeom prst="rect">
            <a:avLst/>
          </a:prstGeom>
          <a:noFill/>
        </p:spPr>
        <p:txBody>
          <a:bodyPr wrap="square" lIns="0" tIns="0" rIns="0" bIns="0">
            <a:spAutoFit/>
          </a:bodyPr>
          <a:lstStyle/>
          <a:p>
            <a:pPr>
              <a:lnSpc>
                <a:spcPct val="108000"/>
              </a:lnSpc>
            </a:pPr>
            <a:r>
              <a:rPr sz="819" b="1">
                <a:solidFill>
                  <a:srgbClr val="0F5E87"/>
                </a:solidFill>
                <a:latin typeface="Meiryo UI"/>
                <a:ea typeface="Meiryo UI"/>
              </a:rPr>
              <a:t>コンテンツ</a:t>
            </a:r>
          </a:p>
        </p:txBody>
      </p:sp>
      <p:sp>
        <p:nvSpPr>
          <p:cNvPr id="40" name="TextBox 39"/>
          <p:cNvSpPr txBox="1"/>
          <p:nvPr/>
        </p:nvSpPr>
        <p:spPr>
          <a:xfrm>
            <a:off x="7388352" y="2880360"/>
            <a:ext cx="2084831" cy="822960"/>
          </a:xfrm>
          <a:prstGeom prst="rect">
            <a:avLst/>
          </a:prstGeom>
          <a:noFill/>
        </p:spPr>
        <p:txBody>
          <a:bodyPr wrap="square" lIns="0" tIns="0" r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広告クリエイティブの制作が中心</a:t>
            </a:r>
          </a:p>
        </p:txBody>
      </p:sp>
      <p:sp>
        <p:nvSpPr>
          <p:cNvPr id="41" name="TextBox 40"/>
          <p:cNvSpPr txBox="1"/>
          <p:nvPr/>
        </p:nvSpPr>
        <p:spPr>
          <a:xfrm>
            <a:off x="9555480" y="2880360"/>
            <a:ext cx="2212848" cy="822960"/>
          </a:xfrm>
          <a:prstGeom prst="rect">
            <a:avLst/>
          </a:prstGeom>
          <a:noFill/>
        </p:spPr>
        <p:txBody>
          <a:bodyPr wrap="square" lIns="0" tIns="0" rIns="0" bIns="0">
            <a:spAutoFit/>
          </a:bodyPr>
          <a:lstStyle/>
          <a:p>
            <a:pPr>
              <a:lnSpc>
                <a:spcPct val="110000"/>
              </a:lnSpc>
            </a:pPr>
            <a:r>
              <a:rPr sz="700" b="1">
                <a:solidFill>
                  <a:srgbClr val="0F5E87"/>
                </a:solidFill>
                <a:latin typeface="Meiryo UI"/>
                <a:ea typeface="Meiryo UI"/>
              </a:rPr>
              <a:t>After　</a:t>
            </a:r>
            <a:r>
              <a:rPr sz="730" b="1">
                <a:solidFill>
                  <a:srgbClr val="262626"/>
                </a:solidFill>
                <a:latin typeface="Meiryo UI"/>
                <a:ea typeface="Meiryo UI"/>
              </a:rPr>
              <a:t>臨床エビデンスを「人向け」と「AIが引用する構造化データ」の両輪で生産　</a:t>
            </a:r>
            <a:r>
              <a:rPr sz="660" b="0">
                <a:solidFill>
                  <a:srgbClr val="595959"/>
                </a:solidFill>
                <a:latin typeface="Meiryo UI"/>
                <a:ea typeface="Meiryo UI"/>
              </a:rPr>
              <a:t>（②⑤）</a:t>
            </a:r>
          </a:p>
        </p:txBody>
      </p:sp>
      <p:sp>
        <p:nvSpPr>
          <p:cNvPr id="42" name="Rectangle 41"/>
          <p:cNvSpPr/>
          <p:nvPr/>
        </p:nvSpPr>
        <p:spPr>
          <a:xfrm>
            <a:off x="6172200" y="3822191"/>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6245352" y="3867911"/>
            <a:ext cx="1097280" cy="822960"/>
          </a:xfrm>
          <a:prstGeom prst="rect">
            <a:avLst/>
          </a:prstGeom>
          <a:noFill/>
        </p:spPr>
        <p:txBody>
          <a:bodyPr wrap="square" lIns="0" tIns="0" rIns="0" bIns="0">
            <a:spAutoFit/>
          </a:bodyPr>
          <a:lstStyle/>
          <a:p>
            <a:pPr>
              <a:lnSpc>
                <a:spcPct val="108000"/>
              </a:lnSpc>
            </a:pPr>
            <a:r>
              <a:rPr sz="819" b="1">
                <a:solidFill>
                  <a:srgbClr val="0F5E87"/>
                </a:solidFill>
                <a:latin typeface="Meiryo UI"/>
                <a:ea typeface="Meiryo UI"/>
              </a:rPr>
              <a:t>顧客基盤</a:t>
            </a:r>
          </a:p>
        </p:txBody>
      </p:sp>
      <p:sp>
        <p:nvSpPr>
          <p:cNvPr id="44" name="TextBox 43"/>
          <p:cNvSpPr txBox="1"/>
          <p:nvPr/>
        </p:nvSpPr>
        <p:spPr>
          <a:xfrm>
            <a:off x="7388352" y="3867911"/>
            <a:ext cx="2084831" cy="822960"/>
          </a:xfrm>
          <a:prstGeom prst="rect">
            <a:avLst/>
          </a:prstGeom>
          <a:noFill/>
        </p:spPr>
        <p:txBody>
          <a:bodyPr wrap="square" lIns="0" tIns="0" r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クーポン型ID・キャンペーン単位のCRM</a:t>
            </a:r>
          </a:p>
        </p:txBody>
      </p:sp>
      <p:sp>
        <p:nvSpPr>
          <p:cNvPr id="45" name="TextBox 44"/>
          <p:cNvSpPr txBox="1"/>
          <p:nvPr/>
        </p:nvSpPr>
        <p:spPr>
          <a:xfrm>
            <a:off x="9555480" y="3867911"/>
            <a:ext cx="2212848" cy="822960"/>
          </a:xfrm>
          <a:prstGeom prst="rect">
            <a:avLst/>
          </a:prstGeom>
          <a:noFill/>
        </p:spPr>
        <p:txBody>
          <a:bodyPr wrap="square" lIns="0" tIns="0" rIns="0" bIns="0">
            <a:spAutoFit/>
          </a:bodyPr>
          <a:lstStyle/>
          <a:p>
            <a:pPr>
              <a:lnSpc>
                <a:spcPct val="110000"/>
              </a:lnSpc>
            </a:pPr>
            <a:r>
              <a:rPr sz="700" b="1">
                <a:solidFill>
                  <a:srgbClr val="0F5E87"/>
                </a:solidFill>
                <a:latin typeface="Meiryo UI"/>
                <a:ea typeface="Meiryo UI"/>
              </a:rPr>
              <a:t>After　</a:t>
            </a:r>
            <a:r>
              <a:rPr sz="730" b="1">
                <a:solidFill>
                  <a:srgbClr val="262626"/>
                </a:solidFill>
                <a:latin typeface="Meiryo UI"/>
                <a:ea typeface="Meiryo UI"/>
              </a:rPr>
              <a:t>口腔健康OSとしてのID運用。リピート・継続を行動データで追いDCRで接続　</a:t>
            </a:r>
            <a:r>
              <a:rPr sz="660" b="0">
                <a:solidFill>
                  <a:srgbClr val="595959"/>
                </a:solidFill>
                <a:latin typeface="Meiryo UI"/>
                <a:ea typeface="Meiryo UI"/>
              </a:rPr>
              <a:t>（④）</a:t>
            </a:r>
          </a:p>
        </p:txBody>
      </p:sp>
      <p:sp>
        <p:nvSpPr>
          <p:cNvPr id="46" name="Rectangle 45"/>
          <p:cNvSpPr/>
          <p:nvPr/>
        </p:nvSpPr>
        <p:spPr>
          <a:xfrm>
            <a:off x="6172200" y="4809744"/>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6245352" y="4855464"/>
            <a:ext cx="1097280" cy="822960"/>
          </a:xfrm>
          <a:prstGeom prst="rect">
            <a:avLst/>
          </a:prstGeom>
          <a:noFill/>
        </p:spPr>
        <p:txBody>
          <a:bodyPr wrap="square" lIns="0" tIns="0" rIns="0" bIns="0">
            <a:spAutoFit/>
          </a:bodyPr>
          <a:lstStyle/>
          <a:p>
            <a:pPr>
              <a:lnSpc>
                <a:spcPct val="108000"/>
              </a:lnSpc>
            </a:pPr>
            <a:r>
              <a:rPr sz="819" b="1">
                <a:solidFill>
                  <a:srgbClr val="0F5E87"/>
                </a:solidFill>
                <a:latin typeface="Meiryo UI"/>
                <a:ea typeface="Meiryo UI"/>
              </a:rPr>
              <a:t>AI接点の運用</a:t>
            </a:r>
          </a:p>
        </p:txBody>
      </p:sp>
      <p:sp>
        <p:nvSpPr>
          <p:cNvPr id="48" name="TextBox 47"/>
          <p:cNvSpPr txBox="1"/>
          <p:nvPr/>
        </p:nvSpPr>
        <p:spPr>
          <a:xfrm>
            <a:off x="7388352" y="4855464"/>
            <a:ext cx="2084831" cy="822960"/>
          </a:xfrm>
          <a:prstGeom prst="rect">
            <a:avLst/>
          </a:prstGeom>
          <a:noFill/>
        </p:spPr>
        <p:txBody>
          <a:bodyPr wrap="square" lIns="0" tIns="0" r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AIにどう扱われるか未計測・未対応</a:t>
            </a:r>
          </a:p>
        </p:txBody>
      </p:sp>
      <p:sp>
        <p:nvSpPr>
          <p:cNvPr id="49" name="TextBox 48"/>
          <p:cNvSpPr txBox="1"/>
          <p:nvPr/>
        </p:nvSpPr>
        <p:spPr>
          <a:xfrm>
            <a:off x="9555480" y="4855464"/>
            <a:ext cx="2212848" cy="822960"/>
          </a:xfrm>
          <a:prstGeom prst="rect">
            <a:avLst/>
          </a:prstGeom>
          <a:noFill/>
        </p:spPr>
        <p:txBody>
          <a:bodyPr wrap="square" lIns="0" tIns="0" rIns="0" bIns="0">
            <a:spAutoFit/>
          </a:bodyPr>
          <a:lstStyle/>
          <a:p>
            <a:pPr>
              <a:lnSpc>
                <a:spcPct val="110000"/>
              </a:lnSpc>
            </a:pPr>
            <a:r>
              <a:rPr sz="700" b="1">
                <a:solidFill>
                  <a:srgbClr val="0F5E87"/>
                </a:solidFill>
                <a:latin typeface="Meiryo UI"/>
                <a:ea typeface="Meiryo UI"/>
              </a:rPr>
              <a:t>After　</a:t>
            </a:r>
            <a:r>
              <a:rPr sz="730" b="1">
                <a:solidFill>
                  <a:srgbClr val="262626"/>
                </a:solidFill>
                <a:latin typeface="Meiryo UI"/>
                <a:ea typeface="Meiryo UI"/>
              </a:rPr>
              <a:t>AIEO Rate月次監査→原因特定→情報修正のループを運用　</a:t>
            </a:r>
            <a:r>
              <a:rPr sz="660" b="0">
                <a:solidFill>
                  <a:srgbClr val="595959"/>
                </a:solidFill>
                <a:latin typeface="Meiryo UI"/>
                <a:ea typeface="Meiryo UI"/>
              </a:rPr>
              <a:t>（②）</a:t>
            </a:r>
          </a:p>
        </p:txBody>
      </p:sp>
      <p:sp>
        <p:nvSpPr>
          <p:cNvPr id="50" name="Rectangle 49"/>
          <p:cNvSpPr/>
          <p:nvPr/>
        </p:nvSpPr>
        <p:spPr>
          <a:xfrm>
            <a:off x="320040" y="5943600"/>
            <a:ext cx="11521440" cy="530352"/>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457200" y="5998464"/>
            <a:ext cx="11292840" cy="438912"/>
          </a:xfrm>
          <a:prstGeom prst="rect">
            <a:avLst/>
          </a:prstGeom>
          <a:noFill/>
        </p:spPr>
        <p:txBody>
          <a:bodyPr wrap="square" lIns="0" tIns="0" rIns="0" bIns="0">
            <a:spAutoFit/>
          </a:bodyPr>
          <a:lstStyle/>
          <a:p>
            <a:pPr>
              <a:lnSpc>
                <a:spcPct val="115000"/>
              </a:lnSpc>
            </a:pPr>
            <a:r>
              <a:rPr sz="880" b="1">
                <a:solidFill>
                  <a:srgbClr val="008D2E"/>
                </a:solidFill>
                <a:latin typeface="Meiryo UI"/>
                <a:ea typeface="Meiryo UI"/>
              </a:rPr>
              <a:t>出口の定義：</a:t>
            </a:r>
            <a:r>
              <a:rPr sz="830" b="0">
                <a:solidFill>
                  <a:srgbClr val="262626"/>
                </a:solidFill>
                <a:latin typeface="Meiryo UI"/>
                <a:ea typeface="Meiryo UI"/>
              </a:rPr>
              <a:t>基盤はGCP統合・Salesforce TPM・生成AI（Libra）・CDP/DCR・AIEO監査の5点で新規購入は最小。確認1（FY27夏）の合格＝この表のAfterが最初の1件（重点小売×オーラルケア）で実際に回った状態。</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10972800" cy="457200"/>
          </a:xfrm>
          <a:prstGeom prst="rect">
            <a:avLst/>
          </a:prstGeom>
          <a:noFill/>
        </p:spPr>
        <p:txBody>
          <a:bodyPr wrap="square" lIns="0" tIns="0" rIns="0" bIns="0">
            <a:spAutoFit/>
          </a:bodyPr>
          <a:lstStyle/>
          <a:p>
            <a:pPr>
              <a:lnSpc>
                <a:spcPct val="112000"/>
              </a:lnSpc>
            </a:pPr>
            <a:r>
              <a:rPr sz="1800" b="1">
                <a:solidFill>
                  <a:srgbClr val="262626"/>
                </a:solidFill>
                <a:latin typeface="Meiryo UI"/>
                <a:ea typeface="Meiryo UI"/>
              </a:rPr>
              <a:t>マイルストーン（FY26–FY30）</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49808"/>
            <a:ext cx="274320" cy="274320"/>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tIns="0" rIns="0" bIns="0">
            <a:spAutoFit/>
          </a:bodyPr>
          <a:lstStyle/>
          <a:p>
            <a:pPr>
              <a:lnSpc>
                <a:spcPct val="118000"/>
              </a:lnSpc>
            </a:pPr>
            <a:r>
              <a:rPr sz="1100" b="1">
                <a:solidFill>
                  <a:srgbClr val="262626"/>
                </a:solidFill>
                <a:latin typeface="Meiryo UI"/>
                <a:ea typeface="Meiryo UI"/>
              </a:rPr>
              <a:t>FY30（3rd Stage完了・統合報告書でのKPI開示）に向けた段階実装。確認ゲートに合格したときだけ投資と組織変更を拡大する</a:t>
            </a:r>
          </a:p>
        </p:txBody>
      </p:sp>
      <p:sp>
        <p:nvSpPr>
          <p:cNvPr id="14" name="Rectangle 13"/>
          <p:cNvSpPr/>
          <p:nvPr/>
        </p:nvSpPr>
        <p:spPr>
          <a:xfrm>
            <a:off x="320040" y="1463040"/>
            <a:ext cx="1828800" cy="65836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11480" y="1508760"/>
            <a:ext cx="1645920" cy="566928"/>
          </a:xfrm>
          <a:prstGeom prst="rect">
            <a:avLst/>
          </a:prstGeom>
          <a:noFill/>
        </p:spPr>
        <p:txBody>
          <a:bodyPr wrap="square" lIns="0" tIns="0" rIns="0" bIns="0">
            <a:spAutoFit/>
          </a:bodyPr>
          <a:lstStyle/>
          <a:p>
            <a:pPr>
              <a:lnSpc>
                <a:spcPct val="110000"/>
              </a:lnSpc>
            </a:pPr>
            <a:r>
              <a:rPr sz="930" b="1">
                <a:solidFill>
                  <a:srgbClr val="FFFFFF"/>
                </a:solidFill>
                <a:latin typeface="Meiryo UI"/>
                <a:ea typeface="Meiryo UI"/>
              </a:rPr>
              <a:t>FY26 Q3–Q4</a:t>
            </a:r>
          </a:p>
        </p:txBody>
      </p:sp>
      <p:sp>
        <p:nvSpPr>
          <p:cNvPr id="16" name="Rectangle 15"/>
          <p:cNvSpPr/>
          <p:nvPr/>
        </p:nvSpPr>
        <p:spPr>
          <a:xfrm>
            <a:off x="2167128" y="1463040"/>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286000" y="1508760"/>
            <a:ext cx="9418320" cy="566928"/>
          </a:xfrm>
          <a:prstGeom prst="rect">
            <a:avLst/>
          </a:prstGeom>
          <a:noFill/>
        </p:spPr>
        <p:txBody>
          <a:bodyPr wrap="square" lIns="0" tIns="0" rIns="0" bIns="0">
            <a:spAutoFit/>
          </a:bodyPr>
          <a:lstStyle/>
          <a:p>
            <a:pPr>
              <a:lnSpc>
                <a:spcPct val="112000"/>
              </a:lnSpc>
            </a:pPr>
            <a:r>
              <a:rPr sz="840" b="0">
                <a:solidFill>
                  <a:srgbClr val="262626"/>
                </a:solidFill>
                <a:latin typeface="Meiryo UI"/>
                <a:ea typeface="Meiryo UI"/>
              </a:rPr>
              <a:t>AIEO監査開始・AI推奨シェアのベースライン確立／生成AIでInput業務30%削減を先行実装</a:t>
            </a:r>
          </a:p>
        </p:txBody>
      </p:sp>
      <p:sp>
        <p:nvSpPr>
          <p:cNvPr id="18" name="Rectangle 17"/>
          <p:cNvSpPr/>
          <p:nvPr/>
        </p:nvSpPr>
        <p:spPr>
          <a:xfrm>
            <a:off x="320040" y="2185416"/>
            <a:ext cx="1828800" cy="65836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11480" y="2231136"/>
            <a:ext cx="1645920" cy="566928"/>
          </a:xfrm>
          <a:prstGeom prst="rect">
            <a:avLst/>
          </a:prstGeom>
          <a:noFill/>
        </p:spPr>
        <p:txBody>
          <a:bodyPr wrap="square" lIns="0" tIns="0" rIns="0" bIns="0">
            <a:spAutoFit/>
          </a:bodyPr>
          <a:lstStyle/>
          <a:p>
            <a:pPr>
              <a:lnSpc>
                <a:spcPct val="110000"/>
              </a:lnSpc>
            </a:pPr>
            <a:r>
              <a:rPr sz="930" b="1">
                <a:solidFill>
                  <a:srgbClr val="FFFFFF"/>
                </a:solidFill>
                <a:latin typeface="Meiryo UI"/>
                <a:ea typeface="Meiryo UI"/>
              </a:rPr>
              <a:t>FY26 Q4–FY27 Q1</a:t>
            </a:r>
          </a:p>
        </p:txBody>
      </p:sp>
      <p:sp>
        <p:nvSpPr>
          <p:cNvPr id="20" name="Rectangle 19"/>
          <p:cNvSpPr/>
          <p:nvPr/>
        </p:nvSpPr>
        <p:spPr>
          <a:xfrm>
            <a:off x="2167128" y="2185416"/>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286000" y="2231136"/>
            <a:ext cx="9418320" cy="566928"/>
          </a:xfrm>
          <a:prstGeom prst="rect">
            <a:avLst/>
          </a:prstGeom>
          <a:noFill/>
        </p:spPr>
        <p:txBody>
          <a:bodyPr wrap="square" lIns="0" tIns="0" rIns="0" bIns="0">
            <a:spAutoFit/>
          </a:bodyPr>
          <a:lstStyle/>
          <a:p>
            <a:pPr>
              <a:lnSpc>
                <a:spcPct val="112000"/>
              </a:lnSpc>
            </a:pPr>
            <a:r>
              <a:rPr sz="840" b="0">
                <a:solidFill>
                  <a:srgbClr val="262626"/>
                </a:solidFill>
                <a:latin typeface="Meiryo UI"/>
                <a:ea typeface="Meiryo UI"/>
              </a:rPr>
              <a:t>重点小売2社で歯ぐきケアJBP開始（N-t-Cを共同KPI）／匿名診断PoC実施 ― 最初の実証</a:t>
            </a:r>
          </a:p>
        </p:txBody>
      </p:sp>
      <p:sp>
        <p:nvSpPr>
          <p:cNvPr id="22" name="Rectangle 21"/>
          <p:cNvSpPr/>
          <p:nvPr/>
        </p:nvSpPr>
        <p:spPr>
          <a:xfrm>
            <a:off x="320040" y="2907792"/>
            <a:ext cx="1828800" cy="658368"/>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11480" y="2953512"/>
            <a:ext cx="1645920" cy="566928"/>
          </a:xfrm>
          <a:prstGeom prst="rect">
            <a:avLst/>
          </a:prstGeom>
          <a:noFill/>
        </p:spPr>
        <p:txBody>
          <a:bodyPr wrap="square" lIns="0" tIns="0" rIns="0" bIns="0">
            <a:spAutoFit/>
          </a:bodyPr>
          <a:lstStyle/>
          <a:p>
            <a:pPr>
              <a:lnSpc>
                <a:spcPct val="110000"/>
              </a:lnSpc>
            </a:pPr>
            <a:r>
              <a:rPr sz="930" b="1">
                <a:solidFill>
                  <a:srgbClr val="FFFFFF"/>
                </a:solidFill>
                <a:latin typeface="Meiryo UI"/>
                <a:ea typeface="Meiryo UI"/>
              </a:rPr>
              <a:t>FY27</a:t>
            </a:r>
          </a:p>
        </p:txBody>
      </p:sp>
      <p:sp>
        <p:nvSpPr>
          <p:cNvPr id="24" name="Rectangle 23"/>
          <p:cNvSpPr/>
          <p:nvPr/>
        </p:nvSpPr>
        <p:spPr>
          <a:xfrm>
            <a:off x="2167128" y="2907792"/>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2286000" y="2953512"/>
            <a:ext cx="9418320" cy="566928"/>
          </a:xfrm>
          <a:prstGeom prst="rect">
            <a:avLst/>
          </a:prstGeom>
          <a:noFill/>
        </p:spPr>
        <p:txBody>
          <a:bodyPr wrap="square" lIns="0" tIns="0" rIns="0" bIns="0">
            <a:spAutoFit/>
          </a:bodyPr>
          <a:lstStyle/>
          <a:p>
            <a:pPr>
              <a:lnSpc>
                <a:spcPct val="112000"/>
              </a:lnSpc>
            </a:pPr>
            <a:r>
              <a:rPr sz="840" b="0">
                <a:solidFill>
                  <a:srgbClr val="262626"/>
                </a:solidFill>
                <a:latin typeface="Meiryo UI"/>
                <a:ea typeface="Meiryo UI"/>
              </a:rPr>
              <a:t>Oral Evidence Hub公開・属性データAPI化／LION ID価値再設計　【確認1：小売データで値引き超えの商談＋事務3割減＋AIEO改善 → 拡大投資解禁】</a:t>
            </a:r>
          </a:p>
        </p:txBody>
      </p:sp>
      <p:sp>
        <p:nvSpPr>
          <p:cNvPr id="26" name="Rectangle 25"/>
          <p:cNvSpPr/>
          <p:nvPr/>
        </p:nvSpPr>
        <p:spPr>
          <a:xfrm>
            <a:off x="320040" y="3630168"/>
            <a:ext cx="1828800" cy="658368"/>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11480" y="3675888"/>
            <a:ext cx="1645920" cy="566928"/>
          </a:xfrm>
          <a:prstGeom prst="rect">
            <a:avLst/>
          </a:prstGeom>
          <a:noFill/>
        </p:spPr>
        <p:txBody>
          <a:bodyPr wrap="square" lIns="0" tIns="0" rIns="0" bIns="0">
            <a:spAutoFit/>
          </a:bodyPr>
          <a:lstStyle/>
          <a:p>
            <a:pPr>
              <a:lnSpc>
                <a:spcPct val="110000"/>
              </a:lnSpc>
            </a:pPr>
            <a:r>
              <a:rPr sz="930" b="1">
                <a:solidFill>
                  <a:srgbClr val="FFFFFF"/>
                </a:solidFill>
                <a:latin typeface="Meiryo UI"/>
                <a:ea typeface="Meiryo UI"/>
              </a:rPr>
              <a:t>FY27–FY28</a:t>
            </a:r>
          </a:p>
        </p:txBody>
      </p:sp>
      <p:sp>
        <p:nvSpPr>
          <p:cNvPr id="28" name="Rectangle 27"/>
          <p:cNvSpPr/>
          <p:nvPr/>
        </p:nvSpPr>
        <p:spPr>
          <a:xfrm>
            <a:off x="2167128" y="3630168"/>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2286000" y="3675888"/>
            <a:ext cx="9418320" cy="566928"/>
          </a:xfrm>
          <a:prstGeom prst="rect">
            <a:avLst/>
          </a:prstGeom>
          <a:noFill/>
        </p:spPr>
        <p:txBody>
          <a:bodyPr wrap="square" lIns="0" tIns="0" rIns="0" bIns="0">
            <a:spAutoFit/>
          </a:bodyPr>
          <a:lstStyle/>
          <a:p>
            <a:pPr>
              <a:lnSpc>
                <a:spcPct val="112000"/>
              </a:lnSpc>
            </a:pPr>
            <a:r>
              <a:rPr sz="840" b="0">
                <a:solidFill>
                  <a:srgbClr val="262626"/>
                </a:solidFill>
                <a:latin typeface="Meiryo UI"/>
                <a:ea typeface="Meiryo UI"/>
              </a:rPr>
              <a:t>Total Availabilityダッシュボード展開／MMM＋増分実験体制の確立</a:t>
            </a:r>
          </a:p>
        </p:txBody>
      </p:sp>
      <p:sp>
        <p:nvSpPr>
          <p:cNvPr id="30" name="Rectangle 29"/>
          <p:cNvSpPr/>
          <p:nvPr/>
        </p:nvSpPr>
        <p:spPr>
          <a:xfrm>
            <a:off x="320040" y="4352544"/>
            <a:ext cx="1828800" cy="65836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11480" y="4398264"/>
            <a:ext cx="1645920" cy="566928"/>
          </a:xfrm>
          <a:prstGeom prst="rect">
            <a:avLst/>
          </a:prstGeom>
          <a:noFill/>
        </p:spPr>
        <p:txBody>
          <a:bodyPr wrap="square" lIns="0" tIns="0" rIns="0" bIns="0">
            <a:spAutoFit/>
          </a:bodyPr>
          <a:lstStyle/>
          <a:p>
            <a:pPr>
              <a:lnSpc>
                <a:spcPct val="110000"/>
              </a:lnSpc>
            </a:pPr>
            <a:r>
              <a:rPr sz="930" b="1">
                <a:solidFill>
                  <a:srgbClr val="FFFFFF"/>
                </a:solidFill>
                <a:latin typeface="Meiryo UI"/>
                <a:ea typeface="Meiryo UI"/>
              </a:rPr>
              <a:t>FY28</a:t>
            </a:r>
          </a:p>
        </p:txBody>
      </p:sp>
      <p:sp>
        <p:nvSpPr>
          <p:cNvPr id="32" name="Rectangle 31"/>
          <p:cNvSpPr/>
          <p:nvPr/>
        </p:nvSpPr>
        <p:spPr>
          <a:xfrm>
            <a:off x="2167128" y="4352544"/>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2286000" y="4398264"/>
            <a:ext cx="9418320" cy="566928"/>
          </a:xfrm>
          <a:prstGeom prst="rect">
            <a:avLst/>
          </a:prstGeom>
          <a:noFill/>
        </p:spPr>
        <p:txBody>
          <a:bodyPr wrap="square" lIns="0" tIns="0" rIns="0" bIns="0">
            <a:spAutoFit/>
          </a:bodyPr>
          <a:lstStyle/>
          <a:p>
            <a:pPr>
              <a:lnSpc>
                <a:spcPct val="112000"/>
              </a:lnSpc>
            </a:pPr>
            <a:r>
              <a:rPr sz="840" b="0">
                <a:solidFill>
                  <a:srgbClr val="262626"/>
                </a:solidFill>
                <a:latin typeface="Meiryo UI"/>
                <a:ea typeface="Meiryo UI"/>
              </a:rPr>
              <a:t>B2B2C（歯科→小売）接続実証完了／Oral Health Graph限定稼働　【確認2：JBP再現・B2B2C実証 → 組織正式化・GCP本格投資】</a:t>
            </a:r>
          </a:p>
        </p:txBody>
      </p:sp>
      <p:sp>
        <p:nvSpPr>
          <p:cNvPr id="34" name="Rectangle 33"/>
          <p:cNvSpPr/>
          <p:nvPr/>
        </p:nvSpPr>
        <p:spPr>
          <a:xfrm>
            <a:off x="320040" y="5074920"/>
            <a:ext cx="1828800" cy="65836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11480" y="5120640"/>
            <a:ext cx="1645920" cy="566928"/>
          </a:xfrm>
          <a:prstGeom prst="rect">
            <a:avLst/>
          </a:prstGeom>
          <a:noFill/>
        </p:spPr>
        <p:txBody>
          <a:bodyPr wrap="square" lIns="0" tIns="0" rIns="0" bIns="0">
            <a:spAutoFit/>
          </a:bodyPr>
          <a:lstStyle/>
          <a:p>
            <a:pPr>
              <a:lnSpc>
                <a:spcPct val="110000"/>
              </a:lnSpc>
            </a:pPr>
            <a:r>
              <a:rPr sz="930" b="1">
                <a:solidFill>
                  <a:srgbClr val="FFFFFF"/>
                </a:solidFill>
                <a:latin typeface="Meiryo UI"/>
                <a:ea typeface="Meiryo UI"/>
              </a:rPr>
              <a:t>FY29–FY30</a:t>
            </a:r>
          </a:p>
        </p:txBody>
      </p:sp>
      <p:sp>
        <p:nvSpPr>
          <p:cNvPr id="36" name="Rectangle 35"/>
          <p:cNvSpPr/>
          <p:nvPr/>
        </p:nvSpPr>
        <p:spPr>
          <a:xfrm>
            <a:off x="2167128" y="5074920"/>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286000" y="5120640"/>
            <a:ext cx="9418320" cy="566928"/>
          </a:xfrm>
          <a:prstGeom prst="rect">
            <a:avLst/>
          </a:prstGeom>
          <a:noFill/>
        </p:spPr>
        <p:txBody>
          <a:bodyPr wrap="square" lIns="0" tIns="0" rIns="0" bIns="0">
            <a:spAutoFit/>
          </a:bodyPr>
          <a:lstStyle/>
          <a:p>
            <a:pPr>
              <a:lnSpc>
                <a:spcPct val="112000"/>
              </a:lnSpc>
            </a:pPr>
            <a:r>
              <a:rPr sz="840" b="0">
                <a:solidFill>
                  <a:srgbClr val="262626"/>
                </a:solidFill>
                <a:latin typeface="Meiryo UI"/>
                <a:ea typeface="Meiryo UI"/>
              </a:rPr>
              <a:t>LION IDアクティブ目標達成／AIEO Rate目標達成／統合報告書へ顧客資本KPI開示　【確認3 → 全社標準化・評価の全面切替】</a:t>
            </a:r>
          </a:p>
        </p:txBody>
      </p:sp>
      <p:sp>
        <p:nvSpPr>
          <p:cNvPr id="38" name="Rectangle 37"/>
          <p:cNvSpPr/>
          <p:nvPr/>
        </p:nvSpPr>
        <p:spPr>
          <a:xfrm>
            <a:off x="320040" y="5833872"/>
            <a:ext cx="11521440" cy="50292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57200" y="5888736"/>
            <a:ext cx="11292840" cy="411480"/>
          </a:xfrm>
          <a:prstGeom prst="rect">
            <a:avLst/>
          </a:prstGeom>
          <a:noFill/>
        </p:spPr>
        <p:txBody>
          <a:bodyPr wrap="square" lIns="0" tIns="0" rIns="0" bIns="0">
            <a:spAutoFit/>
          </a:bodyPr>
          <a:lstStyle/>
          <a:p>
            <a:pPr>
              <a:lnSpc>
                <a:spcPct val="115000"/>
              </a:lnSpc>
            </a:pPr>
            <a:r>
              <a:rPr sz="880" b="1">
                <a:solidFill>
                  <a:srgbClr val="008D2E"/>
                </a:solidFill>
                <a:latin typeface="Meiryo UI"/>
                <a:ea typeface="Meiryo UI"/>
              </a:rPr>
              <a:t>2030年以降：</a:t>
            </a:r>
            <a:r>
              <a:rPr sz="830" b="0">
                <a:solidFill>
                  <a:srgbClr val="262626"/>
                </a:solidFill>
                <a:latin typeface="Meiryo UI"/>
                <a:ea typeface="Meiryo UI"/>
              </a:rPr>
              <a:t>確立した型を全カテゴリ・主要小売へ標準展開し、2035年に賭けが収益の柱、2040年に「予防習慣インフラ企業」（制度とAIの初期設定を握る）へ ― ゲート不合格なら拡大せず、詰まった手順を直して再挑戦。</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10972800" cy="457200"/>
          </a:xfrm>
          <a:prstGeom prst="rect">
            <a:avLst/>
          </a:prstGeom>
          <a:noFill/>
        </p:spPr>
        <p:txBody>
          <a:bodyPr wrap="square" lIns="0" tIns="0" rIns="0" bIns="0">
            <a:spAutoFit/>
          </a:bodyPr>
          <a:lstStyle/>
          <a:p>
            <a:pPr>
              <a:lnSpc>
                <a:spcPct val="112000"/>
              </a:lnSpc>
            </a:pPr>
            <a:r>
              <a:rPr sz="1800" b="1">
                <a:solidFill>
                  <a:srgbClr val="262626"/>
                </a:solidFill>
                <a:latin typeface="Meiryo UI"/>
                <a:ea typeface="Meiryo UI"/>
              </a:rPr>
              <a:t>KGI/KPI体系 ― 北極星KPIとライオン固有のユニークKPI</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49808"/>
            <a:ext cx="274320" cy="274320"/>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tIns="0" rIns="0" bIns="0">
            <a:spAutoFit/>
          </a:bodyPr>
          <a:lstStyle/>
          <a:p>
            <a:pPr>
              <a:lnSpc>
                <a:spcPct val="118000"/>
              </a:lnSpc>
            </a:pPr>
            <a:r>
              <a:rPr sz="1100" b="1">
                <a:solidFill>
                  <a:srgbClr val="262626"/>
                </a:solidFill>
                <a:latin typeface="Meiryo UI"/>
                <a:ea typeface="Meiryo UI"/>
              </a:rPr>
              <a:t>頂点は「増分粗利（オーラルケア）」＝施策がなかった場合との差分で測る変革の正味効果。新規（N-t-C）と継続（LTV）の2本の枝に、固有KPIをぶら下げる</a:t>
            </a:r>
          </a:p>
        </p:txBody>
      </p:sp>
      <p:sp>
        <p:nvSpPr>
          <p:cNvPr id="14" name="Rectangle 13"/>
          <p:cNvSpPr/>
          <p:nvPr/>
        </p:nvSpPr>
        <p:spPr>
          <a:xfrm>
            <a:off x="3931920" y="1426464"/>
            <a:ext cx="4297680" cy="5029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069080" y="1481328"/>
            <a:ext cx="4023360" cy="411480"/>
          </a:xfrm>
          <a:prstGeom prst="rect">
            <a:avLst/>
          </a:prstGeom>
          <a:noFill/>
        </p:spPr>
        <p:txBody>
          <a:bodyPr wrap="square" lIns="0" tIns="0" rIns="0" bIns="0">
            <a:spAutoFit/>
          </a:bodyPr>
          <a:lstStyle/>
          <a:p>
            <a:pPr>
              <a:lnSpc>
                <a:spcPct val="112000"/>
              </a:lnSpc>
            </a:pPr>
            <a:r>
              <a:rPr sz="1100" b="1">
                <a:solidFill>
                  <a:srgbClr val="FFFFFF"/>
                </a:solidFill>
                <a:latin typeface="Meiryo UI"/>
                <a:ea typeface="Meiryo UI"/>
              </a:rPr>
              <a:t>北極星KPI：増分粗利（オーラルケア事業）</a:t>
            </a:r>
          </a:p>
        </p:txBody>
      </p:sp>
      <p:sp>
        <p:nvSpPr>
          <p:cNvPr id="16" name="Rectangle 15"/>
          <p:cNvSpPr/>
          <p:nvPr/>
        </p:nvSpPr>
        <p:spPr>
          <a:xfrm>
            <a:off x="2011680" y="2066543"/>
            <a:ext cx="3840480" cy="365760"/>
          </a:xfrm>
          <a:prstGeom prst="rect">
            <a:avLst/>
          </a:prstGeom>
          <a:solidFill>
            <a:srgbClr val="F2F7F3"/>
          </a:solidFill>
          <a:ln w="9525">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148840" y="2130552"/>
            <a:ext cx="3566160" cy="274320"/>
          </a:xfrm>
          <a:prstGeom prst="rect">
            <a:avLst/>
          </a:prstGeom>
          <a:noFill/>
        </p:spPr>
        <p:txBody>
          <a:bodyPr wrap="square" lIns="0" tIns="0" rIns="0" bIns="0">
            <a:spAutoFit/>
          </a:bodyPr>
          <a:lstStyle/>
          <a:p>
            <a:pPr>
              <a:lnSpc>
                <a:spcPct val="112000"/>
              </a:lnSpc>
            </a:pPr>
            <a:r>
              <a:rPr sz="900" b="1">
                <a:solidFill>
                  <a:srgbClr val="0F5E87"/>
                </a:solidFill>
                <a:latin typeface="Meiryo UI"/>
                <a:ea typeface="Meiryo UI"/>
              </a:rPr>
              <a:t>枝1：新規顧客の獲得（N-t-C＝カテゴリ新規客）</a:t>
            </a:r>
          </a:p>
        </p:txBody>
      </p:sp>
      <p:sp>
        <p:nvSpPr>
          <p:cNvPr id="18" name="Rectangle 17"/>
          <p:cNvSpPr/>
          <p:nvPr/>
        </p:nvSpPr>
        <p:spPr>
          <a:xfrm>
            <a:off x="6309360" y="2066543"/>
            <a:ext cx="3840480" cy="365760"/>
          </a:xfrm>
          <a:prstGeom prst="rect">
            <a:avLst/>
          </a:prstGeom>
          <a:solidFill>
            <a:srgbClr val="F2F7F3"/>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46520" y="2130552"/>
            <a:ext cx="3566160" cy="274320"/>
          </a:xfrm>
          <a:prstGeom prst="rect">
            <a:avLst/>
          </a:prstGeom>
          <a:noFill/>
        </p:spPr>
        <p:txBody>
          <a:bodyPr wrap="square" lIns="0" tIns="0" rIns="0" bIns="0">
            <a:spAutoFit/>
          </a:bodyPr>
          <a:lstStyle/>
          <a:p>
            <a:pPr>
              <a:lnSpc>
                <a:spcPct val="112000"/>
              </a:lnSpc>
            </a:pPr>
            <a:r>
              <a:rPr sz="900" b="1">
                <a:solidFill>
                  <a:srgbClr val="008D2E"/>
                </a:solidFill>
                <a:latin typeface="Meiryo UI"/>
                <a:ea typeface="Meiryo UI"/>
              </a:rPr>
              <a:t>枝2：継続顧客の深化（LTV＝習慣化・再購買・推奨）</a:t>
            </a:r>
          </a:p>
        </p:txBody>
      </p:sp>
      <p:sp>
        <p:nvSpPr>
          <p:cNvPr id="20" name="Rectangle 19"/>
          <p:cNvSpPr/>
          <p:nvPr/>
        </p:nvSpPr>
        <p:spPr>
          <a:xfrm>
            <a:off x="320040" y="2523744"/>
            <a:ext cx="265176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74904" y="2551175"/>
            <a:ext cx="2542032" cy="219456"/>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ユニークKPI</a:t>
            </a:r>
          </a:p>
        </p:txBody>
      </p:sp>
      <p:sp>
        <p:nvSpPr>
          <p:cNvPr id="22" name="Rectangle 21"/>
          <p:cNvSpPr/>
          <p:nvPr/>
        </p:nvSpPr>
        <p:spPr>
          <a:xfrm>
            <a:off x="2990088" y="2523744"/>
            <a:ext cx="630936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044952" y="2551175"/>
            <a:ext cx="6199632" cy="219456"/>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定義・測り方</a:t>
            </a:r>
          </a:p>
        </p:txBody>
      </p:sp>
      <p:sp>
        <p:nvSpPr>
          <p:cNvPr id="24" name="Rectangle 23"/>
          <p:cNvSpPr/>
          <p:nvPr/>
        </p:nvSpPr>
        <p:spPr>
          <a:xfrm>
            <a:off x="9317736" y="2523744"/>
            <a:ext cx="82296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372600" y="2551175"/>
            <a:ext cx="713232" cy="219456"/>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接続</a:t>
            </a:r>
          </a:p>
        </p:txBody>
      </p:sp>
      <p:sp>
        <p:nvSpPr>
          <p:cNvPr id="26" name="Rectangle 25"/>
          <p:cNvSpPr/>
          <p:nvPr/>
        </p:nvSpPr>
        <p:spPr>
          <a:xfrm>
            <a:off x="10158984" y="2523744"/>
            <a:ext cx="77724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0213848" y="2551175"/>
            <a:ext cx="667512" cy="219456"/>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IR開示</a:t>
            </a:r>
          </a:p>
        </p:txBody>
      </p:sp>
      <p:sp>
        <p:nvSpPr>
          <p:cNvPr id="28" name="Rectangle 27"/>
          <p:cNvSpPr/>
          <p:nvPr/>
        </p:nvSpPr>
        <p:spPr>
          <a:xfrm>
            <a:off x="320040" y="2834639"/>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384048" y="2880359"/>
            <a:ext cx="2523744" cy="402336"/>
          </a:xfrm>
          <a:prstGeom prst="rect">
            <a:avLst/>
          </a:prstGeom>
          <a:noFill/>
        </p:spPr>
        <p:txBody>
          <a:bodyPr wrap="square" lIns="0" tIns="0" rIns="0" bIns="0">
            <a:spAutoFit/>
          </a:bodyPr>
          <a:lstStyle/>
          <a:p>
            <a:pPr>
              <a:lnSpc>
                <a:spcPct val="105000"/>
              </a:lnSpc>
            </a:pPr>
            <a:r>
              <a:rPr sz="810" b="1">
                <a:solidFill>
                  <a:srgbClr val="262626"/>
                </a:solidFill>
                <a:latin typeface="Meiryo UI"/>
                <a:ea typeface="Meiryo UI"/>
              </a:rPr>
              <a:t>U1 AI推奨シェア（AIEO Rate）</a:t>
            </a:r>
          </a:p>
        </p:txBody>
      </p:sp>
      <p:sp>
        <p:nvSpPr>
          <p:cNvPr id="30" name="Rectangle 29"/>
          <p:cNvSpPr/>
          <p:nvPr/>
        </p:nvSpPr>
        <p:spPr>
          <a:xfrm>
            <a:off x="2990088" y="2834639"/>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3054096" y="2880359"/>
            <a:ext cx="6181344" cy="402336"/>
          </a:xfrm>
          <a:prstGeom prst="rect">
            <a:avLst/>
          </a:prstGeom>
          <a:noFill/>
        </p:spPr>
        <p:txBody>
          <a:bodyPr wrap="square" lIns="0" tIns="0" rIns="0" bIns="0">
            <a:spAutoFit/>
          </a:bodyPr>
          <a:lstStyle/>
          <a:p>
            <a:pPr>
              <a:lnSpc>
                <a:spcPct val="108000"/>
              </a:lnSpc>
            </a:pPr>
            <a:r>
              <a:rPr sz="780" b="0">
                <a:solidFill>
                  <a:srgbClr val="262626"/>
                </a:solidFill>
                <a:latin typeface="Meiryo UI"/>
                <a:ea typeface="Meiryo UI"/>
              </a:rPr>
              <a:t>主要な口腔ケア・OTC質問へのAI回答でライオンが推奨・引用される割合（月次監査100〜200問×AI別）</a:t>
            </a:r>
          </a:p>
        </p:txBody>
      </p:sp>
      <p:sp>
        <p:nvSpPr>
          <p:cNvPr id="32" name="Rectangle 31"/>
          <p:cNvSpPr/>
          <p:nvPr/>
        </p:nvSpPr>
        <p:spPr>
          <a:xfrm>
            <a:off x="9317736" y="2834639"/>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9372600" y="2953511"/>
            <a:ext cx="713232" cy="274320"/>
          </a:xfrm>
          <a:prstGeom prst="rect">
            <a:avLst/>
          </a:prstGeom>
          <a:noFill/>
        </p:spPr>
        <p:txBody>
          <a:bodyPr wrap="square" lIns="0" tIns="0" rIns="0" bIns="0">
            <a:spAutoFit/>
          </a:bodyPr>
          <a:lstStyle/>
          <a:p>
            <a:pPr>
              <a:lnSpc>
                <a:spcPct val="112000"/>
              </a:lnSpc>
            </a:pPr>
            <a:r>
              <a:rPr sz="819" b="1">
                <a:solidFill>
                  <a:srgbClr val="0F5E87"/>
                </a:solidFill>
                <a:latin typeface="Meiryo UI"/>
                <a:ea typeface="Meiryo UI"/>
              </a:rPr>
              <a:t>枝1</a:t>
            </a:r>
          </a:p>
        </p:txBody>
      </p:sp>
      <p:sp>
        <p:nvSpPr>
          <p:cNvPr id="34" name="Rectangle 33"/>
          <p:cNvSpPr/>
          <p:nvPr/>
        </p:nvSpPr>
        <p:spPr>
          <a:xfrm>
            <a:off x="10158984" y="2834639"/>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10213848" y="2953511"/>
            <a:ext cx="667512" cy="274320"/>
          </a:xfrm>
          <a:prstGeom prst="rect">
            <a:avLst/>
          </a:prstGeom>
          <a:noFill/>
        </p:spPr>
        <p:txBody>
          <a:bodyPr wrap="square" lIns="0" tIns="0" rIns="0" bIns="0">
            <a:spAutoFit/>
          </a:bodyPr>
          <a:lstStyle/>
          <a:p>
            <a:pPr>
              <a:lnSpc>
                <a:spcPct val="112000"/>
              </a:lnSpc>
            </a:pPr>
            <a:r>
              <a:rPr sz="850" b="1">
                <a:solidFill>
                  <a:srgbClr val="C8102E"/>
                </a:solidFill>
                <a:latin typeface="Meiryo UI"/>
                <a:ea typeface="Meiryo UI"/>
              </a:rPr>
              <a:t>高</a:t>
            </a:r>
          </a:p>
        </p:txBody>
      </p:sp>
      <p:sp>
        <p:nvSpPr>
          <p:cNvPr id="36" name="Rectangle 35"/>
          <p:cNvSpPr/>
          <p:nvPr/>
        </p:nvSpPr>
        <p:spPr>
          <a:xfrm>
            <a:off x="320040" y="3364991"/>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384048" y="3410711"/>
            <a:ext cx="2523744" cy="402336"/>
          </a:xfrm>
          <a:prstGeom prst="rect">
            <a:avLst/>
          </a:prstGeom>
          <a:noFill/>
        </p:spPr>
        <p:txBody>
          <a:bodyPr wrap="square" lIns="0" tIns="0" rIns="0" bIns="0">
            <a:spAutoFit/>
          </a:bodyPr>
          <a:lstStyle/>
          <a:p>
            <a:pPr>
              <a:lnSpc>
                <a:spcPct val="105000"/>
              </a:lnSpc>
            </a:pPr>
            <a:r>
              <a:rPr sz="810" b="1">
                <a:solidFill>
                  <a:srgbClr val="262626"/>
                </a:solidFill>
                <a:latin typeface="Meiryo UI"/>
                <a:ea typeface="Meiryo UI"/>
              </a:rPr>
              <a:t>U2 KOIC（意向把握カバレッジ）</a:t>
            </a:r>
          </a:p>
        </p:txBody>
      </p:sp>
      <p:sp>
        <p:nvSpPr>
          <p:cNvPr id="38" name="Rectangle 37"/>
          <p:cNvSpPr/>
          <p:nvPr/>
        </p:nvSpPr>
        <p:spPr>
          <a:xfrm>
            <a:off x="2990088" y="3364991"/>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3054096" y="3410711"/>
            <a:ext cx="6181344" cy="402336"/>
          </a:xfrm>
          <a:prstGeom prst="rect">
            <a:avLst/>
          </a:prstGeom>
          <a:noFill/>
        </p:spPr>
        <p:txBody>
          <a:bodyPr wrap="square" lIns="0" tIns="0" rIns="0" bIns="0">
            <a:spAutoFit/>
          </a:bodyPr>
          <a:lstStyle/>
          <a:p>
            <a:pPr>
              <a:lnSpc>
                <a:spcPct val="108000"/>
              </a:lnSpc>
            </a:pPr>
            <a:r>
              <a:rPr sz="780" b="0">
                <a:solidFill>
                  <a:srgbClr val="262626"/>
                </a:solidFill>
                <a:latin typeface="Meiryo UI"/>
                <a:ea typeface="Meiryo UI"/>
              </a:rPr>
              <a:t>購入前の口腔課題・意向を継続把握できる対象者比率 ― Cookie消滅への自前対応の進捗</a:t>
            </a:r>
          </a:p>
        </p:txBody>
      </p:sp>
      <p:sp>
        <p:nvSpPr>
          <p:cNvPr id="40" name="Rectangle 39"/>
          <p:cNvSpPr/>
          <p:nvPr/>
        </p:nvSpPr>
        <p:spPr>
          <a:xfrm>
            <a:off x="9317736" y="3364991"/>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9372600" y="3483863"/>
            <a:ext cx="713232" cy="274320"/>
          </a:xfrm>
          <a:prstGeom prst="rect">
            <a:avLst/>
          </a:prstGeom>
          <a:noFill/>
        </p:spPr>
        <p:txBody>
          <a:bodyPr wrap="square" lIns="0" tIns="0" rIns="0" bIns="0">
            <a:spAutoFit/>
          </a:bodyPr>
          <a:lstStyle/>
          <a:p>
            <a:pPr>
              <a:lnSpc>
                <a:spcPct val="112000"/>
              </a:lnSpc>
            </a:pPr>
            <a:r>
              <a:rPr sz="819" b="1">
                <a:solidFill>
                  <a:srgbClr val="0F5E87"/>
                </a:solidFill>
                <a:latin typeface="Meiryo UI"/>
                <a:ea typeface="Meiryo UI"/>
              </a:rPr>
              <a:t>枝1・2</a:t>
            </a:r>
          </a:p>
        </p:txBody>
      </p:sp>
      <p:sp>
        <p:nvSpPr>
          <p:cNvPr id="42" name="Rectangle 41"/>
          <p:cNvSpPr/>
          <p:nvPr/>
        </p:nvSpPr>
        <p:spPr>
          <a:xfrm>
            <a:off x="10158984" y="3364991"/>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10213848" y="3483863"/>
            <a:ext cx="667512" cy="274320"/>
          </a:xfrm>
          <a:prstGeom prst="rect">
            <a:avLst/>
          </a:prstGeom>
          <a:noFill/>
        </p:spPr>
        <p:txBody>
          <a:bodyPr wrap="square" lIns="0" tIns="0" rIns="0" bIns="0">
            <a:spAutoFit/>
          </a:bodyPr>
          <a:lstStyle/>
          <a:p>
            <a:pPr>
              <a:lnSpc>
                <a:spcPct val="112000"/>
              </a:lnSpc>
            </a:pPr>
            <a:r>
              <a:rPr sz="850" b="1">
                <a:solidFill>
                  <a:srgbClr val="C8102E"/>
                </a:solidFill>
                <a:latin typeface="Meiryo UI"/>
                <a:ea typeface="Meiryo UI"/>
              </a:rPr>
              <a:t>高</a:t>
            </a:r>
          </a:p>
        </p:txBody>
      </p:sp>
      <p:sp>
        <p:nvSpPr>
          <p:cNvPr id="44" name="Rectangle 43"/>
          <p:cNvSpPr/>
          <p:nvPr/>
        </p:nvSpPr>
        <p:spPr>
          <a:xfrm>
            <a:off x="320040" y="3895344"/>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384048" y="3941063"/>
            <a:ext cx="2523744" cy="402336"/>
          </a:xfrm>
          <a:prstGeom prst="rect">
            <a:avLst/>
          </a:prstGeom>
          <a:noFill/>
        </p:spPr>
        <p:txBody>
          <a:bodyPr wrap="square" lIns="0" tIns="0" rIns="0" bIns="0">
            <a:spAutoFit/>
          </a:bodyPr>
          <a:lstStyle/>
          <a:p>
            <a:pPr>
              <a:lnSpc>
                <a:spcPct val="105000"/>
              </a:lnSpc>
            </a:pPr>
            <a:r>
              <a:rPr sz="810" b="1">
                <a:solidFill>
                  <a:srgbClr val="262626"/>
                </a:solidFill>
                <a:latin typeface="Meiryo UI"/>
                <a:ea typeface="Meiryo UI"/>
              </a:rPr>
              <a:t>U3 B2B2C推奨起点売上比率</a:t>
            </a:r>
          </a:p>
        </p:txBody>
      </p:sp>
      <p:sp>
        <p:nvSpPr>
          <p:cNvPr id="46" name="Rectangle 45"/>
          <p:cNvSpPr/>
          <p:nvPr/>
        </p:nvSpPr>
        <p:spPr>
          <a:xfrm>
            <a:off x="2990088" y="3895344"/>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3054096" y="3941063"/>
            <a:ext cx="6181344" cy="402336"/>
          </a:xfrm>
          <a:prstGeom prst="rect">
            <a:avLst/>
          </a:prstGeom>
          <a:noFill/>
        </p:spPr>
        <p:txBody>
          <a:bodyPr wrap="square" lIns="0" tIns="0" rIns="0" bIns="0">
            <a:spAutoFit/>
          </a:bodyPr>
          <a:lstStyle/>
          <a:p>
            <a:pPr>
              <a:lnSpc>
                <a:spcPct val="108000"/>
              </a:lnSpc>
            </a:pPr>
            <a:r>
              <a:rPr sz="780" b="0">
                <a:solidFill>
                  <a:srgbClr val="262626"/>
                </a:solidFill>
                <a:latin typeface="Meiryo UI"/>
                <a:ea typeface="Meiryo UI"/>
              </a:rPr>
              <a:t>歯科医院・衛生士・保険者の推奨を経由した売上÷カテゴリ売上（DCRで購買照合）</a:t>
            </a:r>
          </a:p>
        </p:txBody>
      </p:sp>
      <p:sp>
        <p:nvSpPr>
          <p:cNvPr id="48" name="Rectangle 47"/>
          <p:cNvSpPr/>
          <p:nvPr/>
        </p:nvSpPr>
        <p:spPr>
          <a:xfrm>
            <a:off x="9317736" y="3895344"/>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9372600" y="4014215"/>
            <a:ext cx="713232" cy="274320"/>
          </a:xfrm>
          <a:prstGeom prst="rect">
            <a:avLst/>
          </a:prstGeom>
          <a:noFill/>
        </p:spPr>
        <p:txBody>
          <a:bodyPr wrap="square" lIns="0" tIns="0" rIns="0" bIns="0">
            <a:spAutoFit/>
          </a:bodyPr>
          <a:lstStyle/>
          <a:p>
            <a:pPr>
              <a:lnSpc>
                <a:spcPct val="112000"/>
              </a:lnSpc>
            </a:pPr>
            <a:r>
              <a:rPr sz="819" b="1">
                <a:solidFill>
                  <a:srgbClr val="0F5E87"/>
                </a:solidFill>
                <a:latin typeface="Meiryo UI"/>
                <a:ea typeface="Meiryo UI"/>
              </a:rPr>
              <a:t>枝1</a:t>
            </a:r>
          </a:p>
        </p:txBody>
      </p:sp>
      <p:sp>
        <p:nvSpPr>
          <p:cNvPr id="50" name="Rectangle 49"/>
          <p:cNvSpPr/>
          <p:nvPr/>
        </p:nvSpPr>
        <p:spPr>
          <a:xfrm>
            <a:off x="10158984" y="3895344"/>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10213848" y="4014215"/>
            <a:ext cx="667512" cy="274320"/>
          </a:xfrm>
          <a:prstGeom prst="rect">
            <a:avLst/>
          </a:prstGeom>
          <a:noFill/>
        </p:spPr>
        <p:txBody>
          <a:bodyPr wrap="square" lIns="0" tIns="0" rIns="0" bIns="0">
            <a:spAutoFit/>
          </a:bodyPr>
          <a:lstStyle/>
          <a:p>
            <a:pPr>
              <a:lnSpc>
                <a:spcPct val="112000"/>
              </a:lnSpc>
            </a:pPr>
            <a:r>
              <a:rPr sz="850" b="1">
                <a:solidFill>
                  <a:srgbClr val="C8102E"/>
                </a:solidFill>
                <a:latin typeface="Meiryo UI"/>
                <a:ea typeface="Meiryo UI"/>
              </a:rPr>
              <a:t>高</a:t>
            </a:r>
          </a:p>
        </p:txBody>
      </p:sp>
      <p:sp>
        <p:nvSpPr>
          <p:cNvPr id="52" name="Rectangle 51"/>
          <p:cNvSpPr/>
          <p:nvPr/>
        </p:nvSpPr>
        <p:spPr>
          <a:xfrm>
            <a:off x="320040" y="4425696"/>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384048" y="4471416"/>
            <a:ext cx="2523744" cy="402336"/>
          </a:xfrm>
          <a:prstGeom prst="rect">
            <a:avLst/>
          </a:prstGeom>
          <a:noFill/>
        </p:spPr>
        <p:txBody>
          <a:bodyPr wrap="square" lIns="0" tIns="0" rIns="0" bIns="0">
            <a:spAutoFit/>
          </a:bodyPr>
          <a:lstStyle/>
          <a:p>
            <a:pPr>
              <a:lnSpc>
                <a:spcPct val="105000"/>
              </a:lnSpc>
            </a:pPr>
            <a:r>
              <a:rPr sz="810" b="1">
                <a:solidFill>
                  <a:srgbClr val="262626"/>
                </a:solidFill>
                <a:latin typeface="Meiryo UI"/>
                <a:ea typeface="Meiryo UI"/>
              </a:rPr>
              <a:t>U4 カテゴリーLTV向上貢献指数</a:t>
            </a:r>
          </a:p>
        </p:txBody>
      </p:sp>
      <p:sp>
        <p:nvSpPr>
          <p:cNvPr id="54" name="Rectangle 53"/>
          <p:cNvSpPr/>
          <p:nvPr/>
        </p:nvSpPr>
        <p:spPr>
          <a:xfrm>
            <a:off x="2990088" y="4425696"/>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3054096" y="4471416"/>
            <a:ext cx="6181344" cy="402336"/>
          </a:xfrm>
          <a:prstGeom prst="rect">
            <a:avLst/>
          </a:prstGeom>
          <a:noFill/>
        </p:spPr>
        <p:txBody>
          <a:bodyPr wrap="square" lIns="0" tIns="0" rIns="0" bIns="0">
            <a:spAutoFit/>
          </a:bodyPr>
          <a:lstStyle/>
          <a:p>
            <a:pPr>
              <a:lnSpc>
                <a:spcPct val="108000"/>
              </a:lnSpc>
            </a:pPr>
            <a:r>
              <a:rPr sz="780" b="0">
                <a:solidFill>
                  <a:srgbClr val="262626"/>
                </a:solidFill>
                <a:latin typeface="Meiryo UI"/>
                <a:ea typeface="Meiryo UI"/>
              </a:rPr>
              <a:t>ライオン施策により重点小売のカテゴリ粗利が前年比何%向上したか（Test&amp;Control比較）</a:t>
            </a:r>
          </a:p>
        </p:txBody>
      </p:sp>
      <p:sp>
        <p:nvSpPr>
          <p:cNvPr id="56" name="Rectangle 55"/>
          <p:cNvSpPr/>
          <p:nvPr/>
        </p:nvSpPr>
        <p:spPr>
          <a:xfrm>
            <a:off x="9317736" y="4425696"/>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9372600" y="4544568"/>
            <a:ext cx="713232" cy="274320"/>
          </a:xfrm>
          <a:prstGeom prst="rect">
            <a:avLst/>
          </a:prstGeom>
          <a:noFill/>
        </p:spPr>
        <p:txBody>
          <a:bodyPr wrap="square" lIns="0" tIns="0" rIns="0" bIns="0">
            <a:spAutoFit/>
          </a:bodyPr>
          <a:lstStyle/>
          <a:p>
            <a:pPr>
              <a:lnSpc>
                <a:spcPct val="112000"/>
              </a:lnSpc>
            </a:pPr>
            <a:r>
              <a:rPr sz="819" b="1">
                <a:solidFill>
                  <a:srgbClr val="0F5E87"/>
                </a:solidFill>
                <a:latin typeface="Meiryo UI"/>
                <a:ea typeface="Meiryo UI"/>
              </a:rPr>
              <a:t>枝2</a:t>
            </a:r>
          </a:p>
        </p:txBody>
      </p:sp>
      <p:sp>
        <p:nvSpPr>
          <p:cNvPr id="58" name="Rectangle 57"/>
          <p:cNvSpPr/>
          <p:nvPr/>
        </p:nvSpPr>
        <p:spPr>
          <a:xfrm>
            <a:off x="10158984" y="4425696"/>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10213848" y="4544568"/>
            <a:ext cx="667512" cy="274320"/>
          </a:xfrm>
          <a:prstGeom prst="rect">
            <a:avLst/>
          </a:prstGeom>
          <a:noFill/>
        </p:spPr>
        <p:txBody>
          <a:bodyPr wrap="square" lIns="0" tIns="0" rIns="0" bIns="0">
            <a:spAutoFit/>
          </a:bodyPr>
          <a:lstStyle/>
          <a:p>
            <a:pPr>
              <a:lnSpc>
                <a:spcPct val="112000"/>
              </a:lnSpc>
            </a:pPr>
            <a:r>
              <a:rPr sz="850" b="1">
                <a:solidFill>
                  <a:srgbClr val="C8102E"/>
                </a:solidFill>
                <a:latin typeface="Meiryo UI"/>
                <a:ea typeface="Meiryo UI"/>
              </a:rPr>
              <a:t>中</a:t>
            </a:r>
          </a:p>
        </p:txBody>
      </p:sp>
      <p:sp>
        <p:nvSpPr>
          <p:cNvPr id="60" name="Rectangle 59"/>
          <p:cNvSpPr/>
          <p:nvPr/>
        </p:nvSpPr>
        <p:spPr>
          <a:xfrm>
            <a:off x="320040" y="4956048"/>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384048" y="5001768"/>
            <a:ext cx="2523744" cy="402336"/>
          </a:xfrm>
          <a:prstGeom prst="rect">
            <a:avLst/>
          </a:prstGeom>
          <a:noFill/>
        </p:spPr>
        <p:txBody>
          <a:bodyPr wrap="square" lIns="0" tIns="0" rIns="0" bIns="0">
            <a:spAutoFit/>
          </a:bodyPr>
          <a:lstStyle/>
          <a:p>
            <a:pPr>
              <a:lnSpc>
                <a:spcPct val="105000"/>
              </a:lnSpc>
            </a:pPr>
            <a:r>
              <a:rPr sz="810" b="1">
                <a:solidFill>
                  <a:srgbClr val="262626"/>
                </a:solidFill>
                <a:latin typeface="Meiryo UI"/>
                <a:ea typeface="Meiryo UI"/>
              </a:rPr>
              <a:t>U5 口腔健康アウトカム改善率</a:t>
            </a:r>
          </a:p>
        </p:txBody>
      </p:sp>
      <p:sp>
        <p:nvSpPr>
          <p:cNvPr id="62" name="Rectangle 61"/>
          <p:cNvSpPr/>
          <p:nvPr/>
        </p:nvSpPr>
        <p:spPr>
          <a:xfrm>
            <a:off x="2990088" y="4956048"/>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3054096" y="5001768"/>
            <a:ext cx="6181344" cy="402336"/>
          </a:xfrm>
          <a:prstGeom prst="rect">
            <a:avLst/>
          </a:prstGeom>
          <a:noFill/>
        </p:spPr>
        <p:txBody>
          <a:bodyPr wrap="square" lIns="0" tIns="0" rIns="0" bIns="0">
            <a:spAutoFit/>
          </a:bodyPr>
          <a:lstStyle/>
          <a:p>
            <a:pPr>
              <a:lnSpc>
                <a:spcPct val="108000"/>
              </a:lnSpc>
            </a:pPr>
            <a:r>
              <a:rPr sz="780" b="0">
                <a:solidFill>
                  <a:srgbClr val="262626"/>
                </a:solidFill>
                <a:latin typeface="Meiryo UI"/>
                <a:ea typeface="Meiryo UI"/>
              </a:rPr>
              <a:t>製品・習慣プログラム参加者の口腔状態の事前事後改善比率 ―「健康の成果に責任を持つ」証明</a:t>
            </a:r>
          </a:p>
        </p:txBody>
      </p:sp>
      <p:sp>
        <p:nvSpPr>
          <p:cNvPr id="64" name="Rectangle 63"/>
          <p:cNvSpPr/>
          <p:nvPr/>
        </p:nvSpPr>
        <p:spPr>
          <a:xfrm>
            <a:off x="9317736" y="4956048"/>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9372600" y="5074920"/>
            <a:ext cx="713232" cy="274320"/>
          </a:xfrm>
          <a:prstGeom prst="rect">
            <a:avLst/>
          </a:prstGeom>
          <a:noFill/>
        </p:spPr>
        <p:txBody>
          <a:bodyPr wrap="square" lIns="0" tIns="0" rIns="0" bIns="0">
            <a:spAutoFit/>
          </a:bodyPr>
          <a:lstStyle/>
          <a:p>
            <a:pPr>
              <a:lnSpc>
                <a:spcPct val="112000"/>
              </a:lnSpc>
            </a:pPr>
            <a:r>
              <a:rPr sz="819" b="1">
                <a:solidFill>
                  <a:srgbClr val="0F5E87"/>
                </a:solidFill>
                <a:latin typeface="Meiryo UI"/>
                <a:ea typeface="Meiryo UI"/>
              </a:rPr>
              <a:t>枝2</a:t>
            </a:r>
          </a:p>
        </p:txBody>
      </p:sp>
      <p:sp>
        <p:nvSpPr>
          <p:cNvPr id="66" name="Rectangle 65"/>
          <p:cNvSpPr/>
          <p:nvPr/>
        </p:nvSpPr>
        <p:spPr>
          <a:xfrm>
            <a:off x="10158984" y="4956048"/>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10213848" y="5074920"/>
            <a:ext cx="667512" cy="274320"/>
          </a:xfrm>
          <a:prstGeom prst="rect">
            <a:avLst/>
          </a:prstGeom>
          <a:noFill/>
        </p:spPr>
        <p:txBody>
          <a:bodyPr wrap="square" lIns="0" tIns="0" rIns="0" bIns="0">
            <a:spAutoFit/>
          </a:bodyPr>
          <a:lstStyle/>
          <a:p>
            <a:pPr>
              <a:lnSpc>
                <a:spcPct val="112000"/>
              </a:lnSpc>
            </a:pPr>
            <a:r>
              <a:rPr sz="850" b="1">
                <a:solidFill>
                  <a:srgbClr val="C8102E"/>
                </a:solidFill>
                <a:latin typeface="Meiryo UI"/>
                <a:ea typeface="Meiryo UI"/>
              </a:rPr>
              <a:t>高</a:t>
            </a:r>
          </a:p>
        </p:txBody>
      </p:sp>
      <p:sp>
        <p:nvSpPr>
          <p:cNvPr id="68" name="Rectangle 67"/>
          <p:cNvSpPr/>
          <p:nvPr/>
        </p:nvSpPr>
        <p:spPr>
          <a:xfrm>
            <a:off x="320040" y="5486400"/>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384048" y="5532120"/>
            <a:ext cx="2523744" cy="402336"/>
          </a:xfrm>
          <a:prstGeom prst="rect">
            <a:avLst/>
          </a:prstGeom>
          <a:noFill/>
        </p:spPr>
        <p:txBody>
          <a:bodyPr wrap="square" lIns="0" tIns="0" rIns="0" bIns="0">
            <a:spAutoFit/>
          </a:bodyPr>
          <a:lstStyle/>
          <a:p>
            <a:pPr>
              <a:lnSpc>
                <a:spcPct val="105000"/>
              </a:lnSpc>
            </a:pPr>
            <a:r>
              <a:rPr sz="810" b="1">
                <a:solidFill>
                  <a:srgbClr val="262626"/>
                </a:solidFill>
                <a:latin typeface="Meiryo UI"/>
                <a:ea typeface="Meiryo UI"/>
              </a:rPr>
              <a:t>U6 特売依存度（値引き率）の低下</a:t>
            </a:r>
          </a:p>
        </p:txBody>
      </p:sp>
      <p:sp>
        <p:nvSpPr>
          <p:cNvPr id="70" name="Rectangle 69"/>
          <p:cNvSpPr/>
          <p:nvPr/>
        </p:nvSpPr>
        <p:spPr>
          <a:xfrm>
            <a:off x="2990088" y="5486400"/>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3054096" y="5532120"/>
            <a:ext cx="6181344" cy="402336"/>
          </a:xfrm>
          <a:prstGeom prst="rect">
            <a:avLst/>
          </a:prstGeom>
          <a:noFill/>
        </p:spPr>
        <p:txBody>
          <a:bodyPr wrap="square" lIns="0" tIns="0" rIns="0" bIns="0">
            <a:spAutoFit/>
          </a:bodyPr>
          <a:lstStyle/>
          <a:p>
            <a:pPr>
              <a:lnSpc>
                <a:spcPct val="108000"/>
              </a:lnSpc>
            </a:pPr>
            <a:r>
              <a:rPr sz="780" b="0">
                <a:solidFill>
                  <a:srgbClr val="262626"/>
                </a:solidFill>
                <a:latin typeface="Meiryo UI"/>
                <a:ea typeface="Meiryo UI"/>
              </a:rPr>
              <a:t>重点小売×オーラルケアの売上に占める値引き・特売原資の比率 ―「脱・値引き」を金額で証明</a:t>
            </a:r>
          </a:p>
        </p:txBody>
      </p:sp>
      <p:sp>
        <p:nvSpPr>
          <p:cNvPr id="72" name="Rectangle 71"/>
          <p:cNvSpPr/>
          <p:nvPr/>
        </p:nvSpPr>
        <p:spPr>
          <a:xfrm>
            <a:off x="9317736" y="5486400"/>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9372600" y="5605272"/>
            <a:ext cx="713232" cy="274320"/>
          </a:xfrm>
          <a:prstGeom prst="rect">
            <a:avLst/>
          </a:prstGeom>
          <a:noFill/>
        </p:spPr>
        <p:txBody>
          <a:bodyPr wrap="square" lIns="0" tIns="0" rIns="0" bIns="0">
            <a:spAutoFit/>
          </a:bodyPr>
          <a:lstStyle/>
          <a:p>
            <a:pPr>
              <a:lnSpc>
                <a:spcPct val="112000"/>
              </a:lnSpc>
            </a:pPr>
            <a:r>
              <a:rPr sz="819" b="1">
                <a:solidFill>
                  <a:srgbClr val="0F5E87"/>
                </a:solidFill>
                <a:latin typeface="Meiryo UI"/>
                <a:ea typeface="Meiryo UI"/>
              </a:rPr>
              <a:t>枝2</a:t>
            </a:r>
          </a:p>
        </p:txBody>
      </p:sp>
      <p:sp>
        <p:nvSpPr>
          <p:cNvPr id="74" name="Rectangle 73"/>
          <p:cNvSpPr/>
          <p:nvPr/>
        </p:nvSpPr>
        <p:spPr>
          <a:xfrm>
            <a:off x="10158984" y="5486400"/>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10213848" y="5605272"/>
            <a:ext cx="667512" cy="274320"/>
          </a:xfrm>
          <a:prstGeom prst="rect">
            <a:avLst/>
          </a:prstGeom>
          <a:noFill/>
        </p:spPr>
        <p:txBody>
          <a:bodyPr wrap="square" lIns="0" tIns="0" rIns="0" bIns="0">
            <a:spAutoFit/>
          </a:bodyPr>
          <a:lstStyle/>
          <a:p>
            <a:pPr>
              <a:lnSpc>
                <a:spcPct val="112000"/>
              </a:lnSpc>
            </a:pPr>
            <a:r>
              <a:rPr sz="850" b="1">
                <a:solidFill>
                  <a:srgbClr val="C8102E"/>
                </a:solidFill>
                <a:latin typeface="Meiryo UI"/>
                <a:ea typeface="Meiryo UI"/>
              </a:rPr>
              <a:t>中</a:t>
            </a:r>
          </a:p>
        </p:txBody>
      </p:sp>
      <p:sp>
        <p:nvSpPr>
          <p:cNvPr id="76" name="Rectangle 75"/>
          <p:cNvSpPr/>
          <p:nvPr/>
        </p:nvSpPr>
        <p:spPr>
          <a:xfrm>
            <a:off x="320040" y="6053328"/>
            <a:ext cx="11521440" cy="475488"/>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457200" y="6099048"/>
            <a:ext cx="11292840" cy="384048"/>
          </a:xfrm>
          <a:prstGeom prst="rect">
            <a:avLst/>
          </a:prstGeom>
          <a:noFill/>
        </p:spPr>
        <p:txBody>
          <a:bodyPr wrap="square" lIns="0" tIns="0" rIns="0" bIns="0">
            <a:spAutoFit/>
          </a:bodyPr>
          <a:lstStyle/>
          <a:p>
            <a:pPr>
              <a:lnSpc>
                <a:spcPct val="115000"/>
              </a:lnSpc>
            </a:pPr>
            <a:r>
              <a:rPr sz="880" b="1">
                <a:solidFill>
                  <a:srgbClr val="008D2E"/>
                </a:solidFill>
                <a:latin typeface="Meiryo UI"/>
                <a:ea typeface="Meiryo UI"/>
              </a:rPr>
              <a:t>運用ルール：</a:t>
            </a:r>
            <a:r>
              <a:rPr sz="830" b="0">
                <a:solidFill>
                  <a:srgbClr val="262626"/>
                </a:solidFill>
                <a:latin typeface="Meiryo UI"/>
                <a:ea typeface="Meiryo UI"/>
              </a:rPr>
              <a:t>現場KPIは四半期・ユニークKPIは半期でオーナー役員がレビュー。北極星に接続しない施策の追加は原則却下 ― 手段の目的化を防ぐ。FY30に統合報告書で開示し、変革を企業価値の言葉に翻訳する。</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10972800" cy="457200"/>
          </a:xfrm>
          <a:prstGeom prst="rect">
            <a:avLst/>
          </a:prstGeom>
          <a:noFill/>
        </p:spPr>
        <p:txBody>
          <a:bodyPr wrap="square" lIns="0" tIns="0" rIns="0" bIns="0">
            <a:spAutoFit/>
          </a:bodyPr>
          <a:lstStyle/>
          <a:p>
            <a:pPr>
              <a:lnSpc>
                <a:spcPct val="112000"/>
              </a:lnSpc>
            </a:pPr>
            <a:r>
              <a:rPr sz="1800" b="1">
                <a:solidFill>
                  <a:srgbClr val="262626"/>
                </a:solidFill>
                <a:latin typeface="Meiryo UI"/>
                <a:ea typeface="Meiryo UI"/>
              </a:rPr>
              <a:t>投資・体制観点の主要論点</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49808"/>
            <a:ext cx="274320" cy="274320"/>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tIns="0" rIns="0" bIns="0">
            <a:spAutoFit/>
          </a:bodyPr>
          <a:lstStyle/>
          <a:p>
            <a:pPr>
              <a:lnSpc>
                <a:spcPct val="118000"/>
              </a:lnSpc>
            </a:pPr>
            <a:r>
              <a:rPr sz="1100" b="1">
                <a:solidFill>
                  <a:srgbClr val="262626"/>
                </a:solidFill>
                <a:latin typeface="Meiryo UI"/>
                <a:ea typeface="Meiryo UI"/>
              </a:rPr>
              <a:t>優先度は真因・GAPへの直接性で決定。5年累計30〜50億円に対し効果は年45〜95億円＋売上防衛 ― 前提はFY26上期に実測して確定</a:t>
            </a:r>
          </a:p>
        </p:txBody>
      </p:sp>
      <p:sp>
        <p:nvSpPr>
          <p:cNvPr id="14" name="Rectangle 13"/>
          <p:cNvSpPr/>
          <p:nvPr/>
        </p:nvSpPr>
        <p:spPr>
          <a:xfrm>
            <a:off x="320040" y="14630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11480" y="1508760"/>
            <a:ext cx="2651760" cy="530352"/>
          </a:xfrm>
          <a:prstGeom prst="rect">
            <a:avLst/>
          </a:prstGeom>
          <a:noFill/>
        </p:spPr>
        <p:txBody>
          <a:bodyPr wrap="square" lIns="0" tIns="0" rIns="0" bIns="0">
            <a:spAutoFit/>
          </a:bodyPr>
          <a:lstStyle/>
          <a:p>
            <a:pPr>
              <a:lnSpc>
                <a:spcPct val="108000"/>
              </a:lnSpc>
            </a:pPr>
            <a:r>
              <a:rPr sz="860" b="1">
                <a:solidFill>
                  <a:srgbClr val="262626"/>
                </a:solidFill>
                <a:latin typeface="Meiryo UI"/>
                <a:ea typeface="Meiryo UI"/>
              </a:rPr>
              <a:t>AIEO・Oral Evidence Hub</a:t>
            </a:r>
          </a:p>
        </p:txBody>
      </p:sp>
      <p:sp>
        <p:nvSpPr>
          <p:cNvPr id="16" name="Rectangle 15"/>
          <p:cNvSpPr/>
          <p:nvPr/>
        </p:nvSpPr>
        <p:spPr>
          <a:xfrm>
            <a:off x="3172968" y="14630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291840" y="1508760"/>
            <a:ext cx="7360920" cy="530352"/>
          </a:xfrm>
          <a:prstGeom prst="rect">
            <a:avLst/>
          </a:prstGeom>
          <a:noFill/>
        </p:spPr>
        <p:txBody>
          <a:bodyPr wrap="square" lIns="0" tIns="0" rIns="0" bIns="0">
            <a:spAutoFit/>
          </a:bodyPr>
          <a:lstStyle/>
          <a:p>
            <a:pPr>
              <a:lnSpc>
                <a:spcPct val="108000"/>
              </a:lnSpc>
            </a:pPr>
            <a:r>
              <a:rPr sz="819" b="0">
                <a:solidFill>
                  <a:srgbClr val="262626"/>
                </a:solidFill>
                <a:latin typeface="Meiryo UI"/>
                <a:ea typeface="Meiryo UI"/>
              </a:rPr>
              <a:t>GAP1解消の中核。構造化データ整備・AI推奨モニタリング。外部委託vs内製の選択</a:t>
            </a:r>
          </a:p>
        </p:txBody>
      </p:sp>
      <p:sp>
        <p:nvSpPr>
          <p:cNvPr id="18" name="Rectangle 17"/>
          <p:cNvSpPr/>
          <p:nvPr/>
        </p:nvSpPr>
        <p:spPr>
          <a:xfrm>
            <a:off x="10780776" y="1463040"/>
            <a:ext cx="1060704" cy="6217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0835640" y="1636776"/>
            <a:ext cx="950976" cy="274320"/>
          </a:xfrm>
          <a:prstGeom prst="rect">
            <a:avLst/>
          </a:prstGeom>
          <a:noFill/>
        </p:spPr>
        <p:txBody>
          <a:bodyPr wrap="square" lIns="0" tIns="0" rIns="0" bIns="0">
            <a:spAutoFit/>
          </a:bodyPr>
          <a:lstStyle/>
          <a:p>
            <a:pPr>
              <a:lnSpc>
                <a:spcPct val="112000"/>
              </a:lnSpc>
            </a:pPr>
            <a:r>
              <a:rPr sz="1000" b="1">
                <a:solidFill>
                  <a:srgbClr val="FFFFFF"/>
                </a:solidFill>
                <a:latin typeface="Meiryo UI"/>
                <a:ea typeface="Meiryo UI"/>
              </a:rPr>
              <a:t>最高</a:t>
            </a:r>
          </a:p>
        </p:txBody>
      </p:sp>
      <p:sp>
        <p:nvSpPr>
          <p:cNvPr id="20" name="Rectangle 19"/>
          <p:cNvSpPr/>
          <p:nvPr/>
        </p:nvSpPr>
        <p:spPr>
          <a:xfrm>
            <a:off x="320040" y="21488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11480" y="2194560"/>
            <a:ext cx="2651760" cy="530352"/>
          </a:xfrm>
          <a:prstGeom prst="rect">
            <a:avLst/>
          </a:prstGeom>
          <a:noFill/>
        </p:spPr>
        <p:txBody>
          <a:bodyPr wrap="square" lIns="0" tIns="0" rIns="0" bIns="0">
            <a:spAutoFit/>
          </a:bodyPr>
          <a:lstStyle/>
          <a:p>
            <a:pPr>
              <a:lnSpc>
                <a:spcPct val="108000"/>
              </a:lnSpc>
            </a:pPr>
            <a:r>
              <a:rPr sz="860" b="1">
                <a:solidFill>
                  <a:srgbClr val="262626"/>
                </a:solidFill>
                <a:latin typeface="Meiryo UI"/>
                <a:ea typeface="Meiryo UI"/>
              </a:rPr>
              <a:t>GCP統合データ基盤</a:t>
            </a:r>
          </a:p>
        </p:txBody>
      </p:sp>
      <p:sp>
        <p:nvSpPr>
          <p:cNvPr id="22" name="Rectangle 21"/>
          <p:cNvSpPr/>
          <p:nvPr/>
        </p:nvSpPr>
        <p:spPr>
          <a:xfrm>
            <a:off x="3172968" y="21488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291840" y="2194560"/>
            <a:ext cx="7360920" cy="530352"/>
          </a:xfrm>
          <a:prstGeom prst="rect">
            <a:avLst/>
          </a:prstGeom>
          <a:noFill/>
        </p:spPr>
        <p:txBody>
          <a:bodyPr wrap="square" lIns="0" tIns="0" rIns="0" bIns="0">
            <a:spAutoFit/>
          </a:bodyPr>
          <a:lstStyle/>
          <a:p>
            <a:pPr>
              <a:lnSpc>
                <a:spcPct val="108000"/>
              </a:lnSpc>
            </a:pPr>
            <a:r>
              <a:rPr sz="819" b="0">
                <a:solidFill>
                  <a:srgbClr val="262626"/>
                </a:solidFill>
                <a:latin typeface="Meiryo UI"/>
                <a:ea typeface="Meiryo UI"/>
              </a:rPr>
              <a:t>真因①の直接解消。ID・購買・診断・習慣データの統合。DX投資の最大項目 ― 確認2合格後に本格投資</a:t>
            </a:r>
          </a:p>
        </p:txBody>
      </p:sp>
      <p:sp>
        <p:nvSpPr>
          <p:cNvPr id="24" name="Rectangle 23"/>
          <p:cNvSpPr/>
          <p:nvPr/>
        </p:nvSpPr>
        <p:spPr>
          <a:xfrm>
            <a:off x="10780776" y="2148840"/>
            <a:ext cx="1060704" cy="6217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0835640" y="2322576"/>
            <a:ext cx="950976" cy="274320"/>
          </a:xfrm>
          <a:prstGeom prst="rect">
            <a:avLst/>
          </a:prstGeom>
          <a:noFill/>
        </p:spPr>
        <p:txBody>
          <a:bodyPr wrap="square" lIns="0" tIns="0" rIns="0" bIns="0">
            <a:spAutoFit/>
          </a:bodyPr>
          <a:lstStyle/>
          <a:p>
            <a:pPr>
              <a:lnSpc>
                <a:spcPct val="112000"/>
              </a:lnSpc>
            </a:pPr>
            <a:r>
              <a:rPr sz="1000" b="1">
                <a:solidFill>
                  <a:srgbClr val="FFFFFF"/>
                </a:solidFill>
                <a:latin typeface="Meiryo UI"/>
                <a:ea typeface="Meiryo UI"/>
              </a:rPr>
              <a:t>最高</a:t>
            </a:r>
          </a:p>
        </p:txBody>
      </p:sp>
      <p:sp>
        <p:nvSpPr>
          <p:cNvPr id="26" name="Rectangle 25"/>
          <p:cNvSpPr/>
          <p:nvPr/>
        </p:nvSpPr>
        <p:spPr>
          <a:xfrm>
            <a:off x="320040" y="28346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11480" y="2880360"/>
            <a:ext cx="2651760" cy="530352"/>
          </a:xfrm>
          <a:prstGeom prst="rect">
            <a:avLst/>
          </a:prstGeom>
          <a:noFill/>
        </p:spPr>
        <p:txBody>
          <a:bodyPr wrap="square" lIns="0" tIns="0" rIns="0" bIns="0">
            <a:spAutoFit/>
          </a:bodyPr>
          <a:lstStyle/>
          <a:p>
            <a:pPr>
              <a:lnSpc>
                <a:spcPct val="108000"/>
              </a:lnSpc>
            </a:pPr>
            <a:r>
              <a:rPr sz="860" b="1">
                <a:solidFill>
                  <a:srgbClr val="262626"/>
                </a:solidFill>
                <a:latin typeface="Meiryo UI"/>
                <a:ea typeface="Meiryo UI"/>
              </a:rPr>
              <a:t>生成AI（Libra）×Salesforce TPM</a:t>
            </a:r>
          </a:p>
        </p:txBody>
      </p:sp>
      <p:sp>
        <p:nvSpPr>
          <p:cNvPr id="28" name="Rectangle 27"/>
          <p:cNvSpPr/>
          <p:nvPr/>
        </p:nvSpPr>
        <p:spPr>
          <a:xfrm>
            <a:off x="3172968" y="28346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3291840" y="2880360"/>
            <a:ext cx="7360920" cy="530352"/>
          </a:xfrm>
          <a:prstGeom prst="rect">
            <a:avLst/>
          </a:prstGeom>
          <a:noFill/>
        </p:spPr>
        <p:txBody>
          <a:bodyPr wrap="square" lIns="0" tIns="0" rIns="0" bIns="0">
            <a:spAutoFit/>
          </a:bodyPr>
          <a:lstStyle/>
          <a:p>
            <a:pPr>
              <a:lnSpc>
                <a:spcPct val="108000"/>
              </a:lnSpc>
            </a:pPr>
            <a:r>
              <a:rPr sz="819" b="0">
                <a:solidFill>
                  <a:srgbClr val="262626"/>
                </a:solidFill>
                <a:latin typeface="Meiryo UI"/>
                <a:ea typeface="Meiryo UI"/>
              </a:rPr>
              <a:t>GAP4解消。Input業務ゼロ化の実装。1〜2年でROI回収見込み</a:t>
            </a:r>
          </a:p>
        </p:txBody>
      </p:sp>
      <p:sp>
        <p:nvSpPr>
          <p:cNvPr id="30" name="Rectangle 29"/>
          <p:cNvSpPr/>
          <p:nvPr/>
        </p:nvSpPr>
        <p:spPr>
          <a:xfrm>
            <a:off x="10780776" y="2834640"/>
            <a:ext cx="1060704" cy="621792"/>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0835640" y="3008376"/>
            <a:ext cx="950976" cy="274320"/>
          </a:xfrm>
          <a:prstGeom prst="rect">
            <a:avLst/>
          </a:prstGeom>
          <a:noFill/>
        </p:spPr>
        <p:txBody>
          <a:bodyPr wrap="square" lIns="0" tIns="0" rIns="0" bIns="0">
            <a:spAutoFit/>
          </a:bodyPr>
          <a:lstStyle/>
          <a:p>
            <a:pPr>
              <a:lnSpc>
                <a:spcPct val="112000"/>
              </a:lnSpc>
            </a:pPr>
            <a:r>
              <a:rPr sz="1000" b="1">
                <a:solidFill>
                  <a:srgbClr val="FFFFFF"/>
                </a:solidFill>
                <a:latin typeface="Meiryo UI"/>
                <a:ea typeface="Meiryo UI"/>
              </a:rPr>
              <a:t>高</a:t>
            </a:r>
          </a:p>
        </p:txBody>
      </p:sp>
      <p:sp>
        <p:nvSpPr>
          <p:cNvPr id="32" name="Rectangle 31"/>
          <p:cNvSpPr/>
          <p:nvPr/>
        </p:nvSpPr>
        <p:spPr>
          <a:xfrm>
            <a:off x="320040" y="35204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11480" y="3566160"/>
            <a:ext cx="2651760" cy="530352"/>
          </a:xfrm>
          <a:prstGeom prst="rect">
            <a:avLst/>
          </a:prstGeom>
          <a:noFill/>
        </p:spPr>
        <p:txBody>
          <a:bodyPr wrap="square" lIns="0" tIns="0" rIns="0" bIns="0">
            <a:spAutoFit/>
          </a:bodyPr>
          <a:lstStyle/>
          <a:p>
            <a:pPr>
              <a:lnSpc>
                <a:spcPct val="108000"/>
              </a:lnSpc>
            </a:pPr>
            <a:r>
              <a:rPr sz="860" b="1">
                <a:solidFill>
                  <a:srgbClr val="262626"/>
                </a:solidFill>
                <a:latin typeface="Meiryo UI"/>
                <a:ea typeface="Meiryo UI"/>
              </a:rPr>
              <a:t>アカウントスクワッド移行</a:t>
            </a:r>
          </a:p>
        </p:txBody>
      </p:sp>
      <p:sp>
        <p:nvSpPr>
          <p:cNvPr id="34" name="Rectangle 33"/>
          <p:cNvSpPr/>
          <p:nvPr/>
        </p:nvSpPr>
        <p:spPr>
          <a:xfrm>
            <a:off x="3172968" y="35204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291840" y="3566160"/>
            <a:ext cx="7360920" cy="530352"/>
          </a:xfrm>
          <a:prstGeom prst="rect">
            <a:avLst/>
          </a:prstGeom>
          <a:noFill/>
        </p:spPr>
        <p:txBody>
          <a:bodyPr wrap="square" lIns="0" tIns="0" rIns="0" bIns="0">
            <a:spAutoFit/>
          </a:bodyPr>
          <a:lstStyle/>
          <a:p>
            <a:pPr>
              <a:lnSpc>
                <a:spcPct val="108000"/>
              </a:lnSpc>
            </a:pPr>
            <a:r>
              <a:rPr sz="819" b="0">
                <a:solidFill>
                  <a:srgbClr val="262626"/>
                </a:solidFill>
                <a:latin typeface="Meiryo UI"/>
                <a:ea typeface="Meiryo UI"/>
              </a:rPr>
              <a:t>組織対組織への移行。評価制度（訪問件数→JBP達成率）の同時変更が必須。内部調整が最大リスク</a:t>
            </a:r>
          </a:p>
        </p:txBody>
      </p:sp>
      <p:sp>
        <p:nvSpPr>
          <p:cNvPr id="36" name="Rectangle 35"/>
          <p:cNvSpPr/>
          <p:nvPr/>
        </p:nvSpPr>
        <p:spPr>
          <a:xfrm>
            <a:off x="10780776" y="3520440"/>
            <a:ext cx="1060704" cy="621792"/>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10835640" y="3694176"/>
            <a:ext cx="950976" cy="274320"/>
          </a:xfrm>
          <a:prstGeom prst="rect">
            <a:avLst/>
          </a:prstGeom>
          <a:noFill/>
        </p:spPr>
        <p:txBody>
          <a:bodyPr wrap="square" lIns="0" tIns="0" rIns="0" bIns="0">
            <a:spAutoFit/>
          </a:bodyPr>
          <a:lstStyle/>
          <a:p>
            <a:pPr>
              <a:lnSpc>
                <a:spcPct val="112000"/>
              </a:lnSpc>
            </a:pPr>
            <a:r>
              <a:rPr sz="1000" b="1">
                <a:solidFill>
                  <a:srgbClr val="FFFFFF"/>
                </a:solidFill>
                <a:latin typeface="Meiryo UI"/>
                <a:ea typeface="Meiryo UI"/>
              </a:rPr>
              <a:t>高</a:t>
            </a:r>
          </a:p>
        </p:txBody>
      </p:sp>
      <p:sp>
        <p:nvSpPr>
          <p:cNvPr id="38" name="Rectangle 37"/>
          <p:cNvSpPr/>
          <p:nvPr/>
        </p:nvSpPr>
        <p:spPr>
          <a:xfrm>
            <a:off x="320040" y="42062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11480" y="4251959"/>
            <a:ext cx="2651760" cy="530352"/>
          </a:xfrm>
          <a:prstGeom prst="rect">
            <a:avLst/>
          </a:prstGeom>
          <a:noFill/>
        </p:spPr>
        <p:txBody>
          <a:bodyPr wrap="square" lIns="0" tIns="0" rIns="0" bIns="0">
            <a:spAutoFit/>
          </a:bodyPr>
          <a:lstStyle/>
          <a:p>
            <a:pPr>
              <a:lnSpc>
                <a:spcPct val="108000"/>
              </a:lnSpc>
            </a:pPr>
            <a:r>
              <a:rPr sz="860" b="1">
                <a:solidFill>
                  <a:srgbClr val="262626"/>
                </a:solidFill>
                <a:latin typeface="Meiryo UI"/>
                <a:ea typeface="Meiryo UI"/>
              </a:rPr>
              <a:t>MMM・増分測定体制</a:t>
            </a:r>
          </a:p>
        </p:txBody>
      </p:sp>
      <p:sp>
        <p:nvSpPr>
          <p:cNvPr id="40" name="Rectangle 39"/>
          <p:cNvSpPr/>
          <p:nvPr/>
        </p:nvSpPr>
        <p:spPr>
          <a:xfrm>
            <a:off x="3172968" y="42062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3291840" y="4251959"/>
            <a:ext cx="7360920" cy="530352"/>
          </a:xfrm>
          <a:prstGeom prst="rect">
            <a:avLst/>
          </a:prstGeom>
          <a:noFill/>
        </p:spPr>
        <p:txBody>
          <a:bodyPr wrap="square" lIns="0" tIns="0" rIns="0" bIns="0">
            <a:spAutoFit/>
          </a:bodyPr>
          <a:lstStyle/>
          <a:p>
            <a:pPr>
              <a:lnSpc>
                <a:spcPct val="108000"/>
              </a:lnSpc>
            </a:pPr>
            <a:r>
              <a:rPr sz="819" b="0">
                <a:solidFill>
                  <a:srgbClr val="262626"/>
                </a:solidFill>
                <a:latin typeface="Meiryo UI"/>
                <a:ea typeface="Meiryo UI"/>
              </a:rPr>
              <a:t>GAP3解消。無駄なマス投資の排除。重点1小売×1施策から開始可能</a:t>
            </a:r>
          </a:p>
        </p:txBody>
      </p:sp>
      <p:sp>
        <p:nvSpPr>
          <p:cNvPr id="42" name="Rectangle 41"/>
          <p:cNvSpPr/>
          <p:nvPr/>
        </p:nvSpPr>
        <p:spPr>
          <a:xfrm>
            <a:off x="10780776" y="4206240"/>
            <a:ext cx="1060704" cy="621792"/>
          </a:xfrm>
          <a:prstGeom prst="rect">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10835640" y="4379976"/>
            <a:ext cx="950976" cy="274320"/>
          </a:xfrm>
          <a:prstGeom prst="rect">
            <a:avLst/>
          </a:prstGeom>
          <a:noFill/>
        </p:spPr>
        <p:txBody>
          <a:bodyPr wrap="square" lIns="0" tIns="0" rIns="0" bIns="0">
            <a:spAutoFit/>
          </a:bodyPr>
          <a:lstStyle/>
          <a:p>
            <a:pPr>
              <a:lnSpc>
                <a:spcPct val="112000"/>
              </a:lnSpc>
            </a:pPr>
            <a:r>
              <a:rPr sz="1000" b="1">
                <a:solidFill>
                  <a:srgbClr val="FFFFFF"/>
                </a:solidFill>
                <a:latin typeface="Meiryo UI"/>
                <a:ea typeface="Meiryo UI"/>
              </a:rPr>
              <a:t>中</a:t>
            </a:r>
          </a:p>
        </p:txBody>
      </p:sp>
      <p:sp>
        <p:nvSpPr>
          <p:cNvPr id="44" name="Rectangle 43"/>
          <p:cNvSpPr/>
          <p:nvPr/>
        </p:nvSpPr>
        <p:spPr>
          <a:xfrm>
            <a:off x="320040" y="48920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411480" y="4937759"/>
            <a:ext cx="2651760" cy="530352"/>
          </a:xfrm>
          <a:prstGeom prst="rect">
            <a:avLst/>
          </a:prstGeom>
          <a:noFill/>
        </p:spPr>
        <p:txBody>
          <a:bodyPr wrap="square" lIns="0" tIns="0" rIns="0" bIns="0">
            <a:spAutoFit/>
          </a:bodyPr>
          <a:lstStyle/>
          <a:p>
            <a:pPr>
              <a:lnSpc>
                <a:spcPct val="108000"/>
              </a:lnSpc>
            </a:pPr>
            <a:r>
              <a:rPr sz="860" b="1">
                <a:solidFill>
                  <a:srgbClr val="262626"/>
                </a:solidFill>
                <a:latin typeface="Meiryo UI"/>
                <a:ea typeface="Meiryo UI"/>
              </a:rPr>
              <a:t>DCR・小売データ協業基盤</a:t>
            </a:r>
          </a:p>
        </p:txBody>
      </p:sp>
      <p:sp>
        <p:nvSpPr>
          <p:cNvPr id="46" name="Rectangle 45"/>
          <p:cNvSpPr/>
          <p:nvPr/>
        </p:nvSpPr>
        <p:spPr>
          <a:xfrm>
            <a:off x="3172968" y="48920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3291840" y="4937759"/>
            <a:ext cx="7360920" cy="530352"/>
          </a:xfrm>
          <a:prstGeom prst="rect">
            <a:avLst/>
          </a:prstGeom>
          <a:noFill/>
        </p:spPr>
        <p:txBody>
          <a:bodyPr wrap="square" lIns="0" tIns="0" rIns="0" bIns="0">
            <a:spAutoFit/>
          </a:bodyPr>
          <a:lstStyle/>
          <a:p>
            <a:pPr>
              <a:lnSpc>
                <a:spcPct val="108000"/>
              </a:lnSpc>
            </a:pPr>
            <a:r>
              <a:rPr sz="819" b="0">
                <a:solidFill>
                  <a:srgbClr val="262626"/>
                </a:solidFill>
                <a:latin typeface="Meiryo UI"/>
                <a:ea typeface="Meiryo UI"/>
              </a:rPr>
              <a:t>法務・技術・小売交渉の3条件が前提。個人情報保護法の確認を先行タスク化（FY26年内）</a:t>
            </a:r>
          </a:p>
        </p:txBody>
      </p:sp>
      <p:sp>
        <p:nvSpPr>
          <p:cNvPr id="48" name="Rectangle 47"/>
          <p:cNvSpPr/>
          <p:nvPr/>
        </p:nvSpPr>
        <p:spPr>
          <a:xfrm>
            <a:off x="10780776" y="4892040"/>
            <a:ext cx="1060704" cy="621792"/>
          </a:xfrm>
          <a:prstGeom prst="rect">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10835640" y="5065776"/>
            <a:ext cx="950976" cy="274320"/>
          </a:xfrm>
          <a:prstGeom prst="rect">
            <a:avLst/>
          </a:prstGeom>
          <a:noFill/>
        </p:spPr>
        <p:txBody>
          <a:bodyPr wrap="square" lIns="0" tIns="0" rIns="0" bIns="0">
            <a:spAutoFit/>
          </a:bodyPr>
          <a:lstStyle/>
          <a:p>
            <a:pPr>
              <a:lnSpc>
                <a:spcPct val="112000"/>
              </a:lnSpc>
            </a:pPr>
            <a:r>
              <a:rPr sz="1000" b="1">
                <a:solidFill>
                  <a:srgbClr val="FFFFFF"/>
                </a:solidFill>
                <a:latin typeface="Meiryo UI"/>
                <a:ea typeface="Meiryo UI"/>
              </a:rPr>
              <a:t>中</a:t>
            </a:r>
          </a:p>
        </p:txBody>
      </p:sp>
      <p:sp>
        <p:nvSpPr>
          <p:cNvPr id="50" name="Rectangle 49"/>
          <p:cNvSpPr/>
          <p:nvPr/>
        </p:nvSpPr>
        <p:spPr>
          <a:xfrm>
            <a:off x="320040" y="5614416"/>
            <a:ext cx="11521440" cy="658368"/>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457200" y="5669279"/>
            <a:ext cx="11292840" cy="548640"/>
          </a:xfrm>
          <a:prstGeom prst="rect">
            <a:avLst/>
          </a:prstGeom>
          <a:noFill/>
        </p:spPr>
        <p:txBody>
          <a:bodyPr wrap="square" lIns="0" tIns="0" rIns="0" bIns="0">
            <a:spAutoFit/>
          </a:bodyPr>
          <a:lstStyle/>
          <a:p>
            <a:pPr>
              <a:lnSpc>
                <a:spcPct val="115000"/>
              </a:lnSpc>
            </a:pPr>
            <a:r>
              <a:rPr sz="880" b="1">
                <a:solidFill>
                  <a:srgbClr val="008D2E"/>
                </a:solidFill>
                <a:latin typeface="Meiryo UI"/>
                <a:ea typeface="Meiryo UI"/>
              </a:rPr>
              <a:t>投資対効果の全体観（仮・要実測）：</a:t>
            </a:r>
            <a:r>
              <a:rPr sz="830" b="0">
                <a:solidFill>
                  <a:srgbClr val="262626"/>
                </a:solidFill>
                <a:latin typeface="Meiryo UI"/>
                <a:ea typeface="Meiryo UI"/>
              </a:rPr>
              <a:t>5年累計30〜50億円（最初の3年は年3〜5億円と小さく始める）に対し、効果は年45〜95億円（時間価値15〜25億＋値引き費用の転換20〜40億＋広告最適化10〜30億）で2〜3年回収。最大のリターンは金額化しにくい「棚・AIから外されない＝売上の生存権」。</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8686800" cy="457200"/>
          </a:xfrm>
          <a:prstGeom prst="rect">
            <a:avLst/>
          </a:prstGeom>
          <a:noFill/>
        </p:spPr>
        <p:txBody>
          <a:bodyPr wrap="square" lIns="0" tIns="0" rIns="0" bIns="0">
            <a:spAutoFit/>
          </a:bodyPr>
          <a:lstStyle/>
          <a:p>
            <a:pPr>
              <a:lnSpc>
                <a:spcPct val="115000"/>
              </a:lnSpc>
            </a:pPr>
            <a:r>
              <a:rPr sz="2000" b="1">
                <a:solidFill>
                  <a:srgbClr val="262626"/>
                </a:solidFill>
                <a:latin typeface="Meiryo UI"/>
                <a:ea typeface="Meiryo UI"/>
              </a:rPr>
              <a:t>真因を受けた「進め方」と次のアクション</a:t>
            </a:r>
          </a:p>
        </p:txBody>
      </p:sp>
      <p:sp>
        <p:nvSpPr>
          <p:cNvPr id="11" name="Rectangle 10"/>
          <p:cNvSpPr/>
          <p:nvPr/>
        </p:nvSpPr>
        <p:spPr>
          <a:xfrm>
            <a:off x="320040" y="658368"/>
            <a:ext cx="11521440" cy="2286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68096"/>
            <a:ext cx="274320" cy="274320"/>
          </a:xfrm>
          <a:prstGeom prst="rect">
            <a:avLst/>
          </a:prstGeom>
          <a:noFill/>
        </p:spPr>
        <p:txBody>
          <a:bodyPr wrap="square" lIns="0" tIns="0" rIns="0" bIns="0">
            <a:spAutoFit/>
          </a:bodyPr>
          <a:lstStyle/>
          <a:p>
            <a:pPr>
              <a:lnSpc>
                <a:spcPct val="115000"/>
              </a:lnSpc>
            </a:pPr>
            <a:r>
              <a:rPr sz="1100" b="1">
                <a:solidFill>
                  <a:srgbClr val="008D2E"/>
                </a:solidFill>
                <a:latin typeface="Meiryo UI"/>
                <a:ea typeface="Meiryo UI"/>
              </a:rPr>
              <a:t>■</a:t>
            </a:r>
          </a:p>
        </p:txBody>
      </p:sp>
      <p:sp>
        <p:nvSpPr>
          <p:cNvPr id="13" name="TextBox 12"/>
          <p:cNvSpPr txBox="1"/>
          <p:nvPr/>
        </p:nvSpPr>
        <p:spPr>
          <a:xfrm>
            <a:off x="621792" y="749808"/>
            <a:ext cx="11155680" cy="566928"/>
          </a:xfrm>
          <a:prstGeom prst="rect">
            <a:avLst/>
          </a:prstGeom>
          <a:noFill/>
        </p:spPr>
        <p:txBody>
          <a:bodyPr wrap="square" lIns="0" tIns="0" rIns="0" bIns="0">
            <a:spAutoFit/>
          </a:bodyPr>
          <a:lstStyle/>
          <a:p>
            <a:pPr>
              <a:lnSpc>
                <a:spcPct val="120000"/>
              </a:lnSpc>
            </a:pPr>
            <a:r>
              <a:rPr sz="1250" b="1">
                <a:solidFill>
                  <a:srgbClr val="262626"/>
                </a:solidFill>
                <a:latin typeface="Meiryo UI"/>
                <a:ea typeface="Meiryo UI"/>
              </a:rPr>
              <a:t>3つの真因（決めていない・持っていない・回っていない）のうち、最初の一歩はお金のかからない「決める」。次回デジタル戦略会議では決めることを3つに絞って諮る</a:t>
            </a:r>
          </a:p>
        </p:txBody>
      </p:sp>
      <p:sp>
        <p:nvSpPr>
          <p:cNvPr id="14" name="Rectangle 13"/>
          <p:cNvSpPr/>
          <p:nvPr/>
        </p:nvSpPr>
        <p:spPr>
          <a:xfrm>
            <a:off x="320040" y="1600200"/>
            <a:ext cx="5577840" cy="38404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7200" y="1636776"/>
            <a:ext cx="5303520" cy="320040"/>
          </a:xfrm>
          <a:prstGeom prst="rect">
            <a:avLst/>
          </a:prstGeom>
          <a:noFill/>
        </p:spPr>
        <p:txBody>
          <a:bodyPr wrap="square" lIns="0" tIns="0" rIns="0" bIns="0">
            <a:spAutoFit/>
          </a:bodyPr>
          <a:lstStyle/>
          <a:p>
            <a:pPr>
              <a:lnSpc>
                <a:spcPct val="115000"/>
              </a:lnSpc>
            </a:pPr>
            <a:r>
              <a:rPr sz="1150" b="1">
                <a:solidFill>
                  <a:srgbClr val="FFFFFF"/>
                </a:solidFill>
                <a:latin typeface="Meiryo UI"/>
                <a:ea typeface="Meiryo UI"/>
              </a:rPr>
              <a:t>解決3「回路を作る」の運営原則 ― 過去の新規投資と今回が違う理由（P.8）</a:t>
            </a:r>
          </a:p>
        </p:txBody>
      </p:sp>
      <p:sp>
        <p:nvSpPr>
          <p:cNvPr id="16" name="Rectangle 15"/>
          <p:cNvSpPr/>
          <p:nvPr/>
        </p:nvSpPr>
        <p:spPr>
          <a:xfrm>
            <a:off x="320040" y="2103120"/>
            <a:ext cx="5577840" cy="1170432"/>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57200" y="2176272"/>
            <a:ext cx="5303520" cy="274320"/>
          </a:xfrm>
          <a:prstGeom prst="rect">
            <a:avLst/>
          </a:prstGeom>
          <a:noFill/>
        </p:spPr>
        <p:txBody>
          <a:bodyPr wrap="square" lIns="0" tIns="0" rIns="0" bIns="0">
            <a:spAutoFit/>
          </a:bodyPr>
          <a:lstStyle/>
          <a:p>
            <a:pPr>
              <a:lnSpc>
                <a:spcPct val="115000"/>
              </a:lnSpc>
            </a:pPr>
            <a:r>
              <a:rPr sz="1050" b="1">
                <a:solidFill>
                  <a:srgbClr val="008D2E"/>
                </a:solidFill>
                <a:latin typeface="Meiryo UI"/>
                <a:ea typeface="Meiryo UI"/>
              </a:rPr>
              <a:t>① 全体最適の計画</a:t>
            </a:r>
          </a:p>
        </p:txBody>
      </p:sp>
      <p:sp>
        <p:nvSpPr>
          <p:cNvPr id="18" name="TextBox 17"/>
          <p:cNvSpPr txBox="1"/>
          <p:nvPr/>
        </p:nvSpPr>
        <p:spPr>
          <a:xfrm>
            <a:off x="457200" y="2505456"/>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部門別の点の施策ではなく、4テーマを線・面に束ねた1つの計画として投資を諮る（本資料と別冊の構造そのもの）</a:t>
            </a:r>
          </a:p>
        </p:txBody>
      </p:sp>
      <p:sp>
        <p:nvSpPr>
          <p:cNvPr id="19" name="Rectangle 18"/>
          <p:cNvSpPr/>
          <p:nvPr/>
        </p:nvSpPr>
        <p:spPr>
          <a:xfrm>
            <a:off x="320040" y="3383279"/>
            <a:ext cx="5577840" cy="1170432"/>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57200" y="3456432"/>
            <a:ext cx="5303520" cy="274320"/>
          </a:xfrm>
          <a:prstGeom prst="rect">
            <a:avLst/>
          </a:prstGeom>
          <a:noFill/>
        </p:spPr>
        <p:txBody>
          <a:bodyPr wrap="square" lIns="0" tIns="0" rIns="0" bIns="0">
            <a:spAutoFit/>
          </a:bodyPr>
          <a:lstStyle/>
          <a:p>
            <a:pPr>
              <a:lnSpc>
                <a:spcPct val="115000"/>
              </a:lnSpc>
            </a:pPr>
            <a:r>
              <a:rPr sz="1050" b="1">
                <a:solidFill>
                  <a:srgbClr val="008D2E"/>
                </a:solidFill>
                <a:latin typeface="Meiryo UI"/>
                <a:ea typeface="Meiryo UI"/>
              </a:rPr>
              <a:t>② 小さく実証 → 確認ゲート → 段階拡大</a:t>
            </a:r>
          </a:p>
        </p:txBody>
      </p:sp>
      <p:sp>
        <p:nvSpPr>
          <p:cNvPr id="21" name="TextBox 20"/>
          <p:cNvSpPr txBox="1"/>
          <p:nvPr/>
        </p:nvSpPr>
        <p:spPr>
          <a:xfrm>
            <a:off x="457200" y="3785615"/>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いきなり大きな投資は求めない。重点小売1社×オーラルケアで実証し、合格したときだけ広げる（FY27夏／FY28末／FY30の3回）</a:t>
            </a:r>
          </a:p>
        </p:txBody>
      </p:sp>
      <p:sp>
        <p:nvSpPr>
          <p:cNvPr id="22" name="Rectangle 21"/>
          <p:cNvSpPr/>
          <p:nvPr/>
        </p:nvSpPr>
        <p:spPr>
          <a:xfrm>
            <a:off x="320040" y="4663440"/>
            <a:ext cx="5577840" cy="1170432"/>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57200" y="4736592"/>
            <a:ext cx="5303520" cy="274320"/>
          </a:xfrm>
          <a:prstGeom prst="rect">
            <a:avLst/>
          </a:prstGeom>
          <a:noFill/>
        </p:spPr>
        <p:txBody>
          <a:bodyPr wrap="square" lIns="0" tIns="0" rIns="0" bIns="0">
            <a:spAutoFit/>
          </a:bodyPr>
          <a:lstStyle/>
          <a:p>
            <a:pPr>
              <a:lnSpc>
                <a:spcPct val="115000"/>
              </a:lnSpc>
            </a:pPr>
            <a:r>
              <a:rPr sz="1050" b="1">
                <a:solidFill>
                  <a:srgbClr val="008D2E"/>
                </a:solidFill>
                <a:latin typeface="Meiryo UI"/>
                <a:ea typeface="Meiryo UI"/>
              </a:rPr>
              <a:t>③ 検証責任と撤退基準を提案側が持つ</a:t>
            </a:r>
          </a:p>
        </p:txBody>
      </p:sp>
      <p:sp>
        <p:nvSpPr>
          <p:cNvPr id="24" name="TextBox 23"/>
          <p:cNvSpPr txBox="1"/>
          <p:nvPr/>
        </p:nvSpPr>
        <p:spPr>
          <a:xfrm>
            <a:off x="457200" y="5065776"/>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北極星KPI＝増分粗利（オーラルケア）。施策ごとに撤退基準と検証計画を先に置き、効果検証まで提案側の責任とする</a:t>
            </a:r>
          </a:p>
        </p:txBody>
      </p:sp>
      <p:sp>
        <p:nvSpPr>
          <p:cNvPr id="25" name="Rectangle 24"/>
          <p:cNvSpPr/>
          <p:nvPr/>
        </p:nvSpPr>
        <p:spPr>
          <a:xfrm>
            <a:off x="6263640" y="1600200"/>
            <a:ext cx="5577840" cy="384048"/>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400800" y="1636776"/>
            <a:ext cx="5303520" cy="320040"/>
          </a:xfrm>
          <a:prstGeom prst="rect">
            <a:avLst/>
          </a:prstGeom>
          <a:noFill/>
        </p:spPr>
        <p:txBody>
          <a:bodyPr wrap="square" lIns="0" tIns="0" rIns="0" bIns="0">
            <a:spAutoFit/>
          </a:bodyPr>
          <a:lstStyle/>
          <a:p>
            <a:pPr>
              <a:lnSpc>
                <a:spcPct val="115000"/>
              </a:lnSpc>
            </a:pPr>
            <a:r>
              <a:rPr sz="1150" b="1">
                <a:solidFill>
                  <a:srgbClr val="FFFFFF"/>
                </a:solidFill>
                <a:latin typeface="Meiryo UI"/>
                <a:ea typeface="Meiryo UI"/>
              </a:rPr>
              <a:t>次回デジタル戦略会議で決めること（3つ）＝解決1「決める」の実行</a:t>
            </a:r>
          </a:p>
        </p:txBody>
      </p:sp>
      <p:sp>
        <p:nvSpPr>
          <p:cNvPr id="27" name="Rectangle 26"/>
          <p:cNvSpPr/>
          <p:nvPr/>
        </p:nvSpPr>
        <p:spPr>
          <a:xfrm>
            <a:off x="6263640" y="2103120"/>
            <a:ext cx="5577840" cy="11704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400800" y="2176272"/>
            <a:ext cx="5303520" cy="274320"/>
          </a:xfrm>
          <a:prstGeom prst="rect">
            <a:avLst/>
          </a:prstGeom>
          <a:noFill/>
        </p:spPr>
        <p:txBody>
          <a:bodyPr wrap="square" lIns="0" tIns="0" rIns="0" bIns="0">
            <a:spAutoFit/>
          </a:bodyPr>
          <a:lstStyle/>
          <a:p>
            <a:pPr>
              <a:lnSpc>
                <a:spcPct val="115000"/>
              </a:lnSpc>
            </a:pPr>
            <a:r>
              <a:rPr sz="1050" b="1">
                <a:solidFill>
                  <a:srgbClr val="262626"/>
                </a:solidFill>
                <a:latin typeface="Meiryo UI"/>
                <a:ea typeface="Meiryo UI"/>
              </a:rPr>
              <a:t>決定1  国内BU変革プロジェクトの組成</a:t>
            </a:r>
          </a:p>
        </p:txBody>
      </p:sp>
      <p:sp>
        <p:nvSpPr>
          <p:cNvPr id="29" name="TextBox 28"/>
          <p:cNvSpPr txBox="1"/>
          <p:nvPr/>
        </p:nvSpPr>
        <p:spPr>
          <a:xfrm>
            <a:off x="6400800" y="2505456"/>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専任リーダー（部長級・社内公募含む）を置き、デジタル戦略部とペアで運営。人選基準＝小売との信頼×データ理解×社内を動かせる実績</a:t>
            </a:r>
          </a:p>
        </p:txBody>
      </p:sp>
      <p:sp>
        <p:nvSpPr>
          <p:cNvPr id="30" name="Rectangle 29"/>
          <p:cNvSpPr/>
          <p:nvPr/>
        </p:nvSpPr>
        <p:spPr>
          <a:xfrm>
            <a:off x="6263640" y="3383279"/>
            <a:ext cx="5577840" cy="11704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400800" y="3456432"/>
            <a:ext cx="5303520" cy="274320"/>
          </a:xfrm>
          <a:prstGeom prst="rect">
            <a:avLst/>
          </a:prstGeom>
          <a:noFill/>
        </p:spPr>
        <p:txBody>
          <a:bodyPr wrap="square" lIns="0" tIns="0" rIns="0" bIns="0">
            <a:spAutoFit/>
          </a:bodyPr>
          <a:lstStyle/>
          <a:p>
            <a:pPr>
              <a:lnSpc>
                <a:spcPct val="115000"/>
              </a:lnSpc>
            </a:pPr>
            <a:r>
              <a:rPr sz="1050" b="1">
                <a:solidFill>
                  <a:srgbClr val="262626"/>
                </a:solidFill>
                <a:latin typeface="Meiryo UI"/>
                <a:ea typeface="Meiryo UI"/>
              </a:rPr>
              <a:t>決定2  AI推奨シェア（AIEO）実測の即時開始</a:t>
            </a:r>
          </a:p>
        </p:txBody>
      </p:sp>
      <p:sp>
        <p:nvSpPr>
          <p:cNvPr id="32" name="TextBox 31"/>
          <p:cNvSpPr txBox="1"/>
          <p:nvPr/>
        </p:nvSpPr>
        <p:spPr>
          <a:xfrm>
            <a:off x="6400800" y="3785615"/>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主要AIに生活者の質問を投げ、自社と競合の紹介のされ方を90日で初回報告・以後月次。危機と成果を数字にする第一歩</a:t>
            </a:r>
          </a:p>
        </p:txBody>
      </p:sp>
      <p:sp>
        <p:nvSpPr>
          <p:cNvPr id="33" name="Rectangle 32"/>
          <p:cNvSpPr/>
          <p:nvPr/>
        </p:nvSpPr>
        <p:spPr>
          <a:xfrm>
            <a:off x="6263640" y="4663440"/>
            <a:ext cx="5577840" cy="11704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400800" y="4736592"/>
            <a:ext cx="5303520" cy="274320"/>
          </a:xfrm>
          <a:prstGeom prst="rect">
            <a:avLst/>
          </a:prstGeom>
          <a:noFill/>
        </p:spPr>
        <p:txBody>
          <a:bodyPr wrap="square" lIns="0" tIns="0" rIns="0" bIns="0">
            <a:spAutoFit/>
          </a:bodyPr>
          <a:lstStyle/>
          <a:p>
            <a:pPr>
              <a:lnSpc>
                <a:spcPct val="115000"/>
              </a:lnSpc>
            </a:pPr>
            <a:r>
              <a:rPr sz="1050" b="1">
                <a:solidFill>
                  <a:srgbClr val="262626"/>
                </a:solidFill>
                <a:latin typeface="Meiryo UI"/>
                <a:ea typeface="Meiryo UI"/>
              </a:rPr>
              <a:t>決定3  テーマ別役員オーナーの任命</a:t>
            </a:r>
          </a:p>
        </p:txBody>
      </p:sp>
      <p:sp>
        <p:nvSpPr>
          <p:cNvPr id="35" name="TextBox 34"/>
          <p:cNvSpPr txBox="1"/>
          <p:nvPr/>
        </p:nvSpPr>
        <p:spPr>
          <a:xfrm>
            <a:off x="6400800" y="5065776"/>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5つの経営テーマに役員オーナーを1名ずつ。施策ごとの撤退基準・検証計画とセットで承認し、責任と検証を制度で明確にする</a:t>
            </a:r>
          </a:p>
        </p:txBody>
      </p:sp>
      <p:sp>
        <p:nvSpPr>
          <p:cNvPr id="36" name="Rectangle 35"/>
          <p:cNvSpPr/>
          <p:nvPr/>
        </p:nvSpPr>
        <p:spPr>
          <a:xfrm>
            <a:off x="320040" y="6108192"/>
            <a:ext cx="11521440" cy="457200"/>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502920" y="6163056"/>
            <a:ext cx="11155680" cy="365760"/>
          </a:xfrm>
          <a:prstGeom prst="rect">
            <a:avLst/>
          </a:prstGeom>
          <a:noFill/>
        </p:spPr>
        <p:txBody>
          <a:bodyPr wrap="square" lIns="0" tIns="0" rIns="0" bIns="0">
            <a:spAutoFit/>
          </a:bodyPr>
          <a:lstStyle/>
          <a:p>
            <a:pPr>
              <a:lnSpc>
                <a:spcPct val="110000"/>
              </a:lnSpc>
            </a:pPr>
            <a:r>
              <a:rPr sz="1000" b="1">
                <a:solidFill>
                  <a:srgbClr val="008D2E"/>
                </a:solidFill>
                <a:latin typeface="Meiryo UI"/>
                <a:ea typeface="Meiryo UI"/>
              </a:rPr>
              <a:t>接続：</a:t>
            </a:r>
            <a:r>
              <a:rPr sz="1000" b="0">
                <a:solidFill>
                  <a:srgbClr val="262626"/>
                </a:solidFill>
                <a:latin typeface="Meiryo UI"/>
                <a:ea typeface="Meiryo UI"/>
              </a:rPr>
              <a:t>How（どう解くか）・Who（体制）・When（時間割）・How Much（投資対効果・KGI/KPI）の詳細は、別冊「経営テーマ起点 実行構想」（全20枚）に展開済み</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6E018AC-90D3-A308-01BB-F9D051DEEABA}"/>
              </a:ext>
            </a:extLst>
          </p:cNvPr>
          <p:cNvSpPr>
            <a:spLocks noGrp="1"/>
          </p:cNvSpPr>
          <p:nvPr>
            <p:ph type="title"/>
          </p:nvPr>
        </p:nvSpPr>
        <p:spPr/>
        <p:txBody>
          <a:bodyPr/>
          <a:lstStyle/>
          <a:p>
            <a:r>
              <a:rPr kumimoji="1" lang="en-US" altLang="ja-JP" dirty="0"/>
              <a:t>GAP</a:t>
            </a:r>
            <a:r>
              <a:rPr kumimoji="1" lang="ja-JP" altLang="en-US" dirty="0"/>
              <a:t>から真因</a:t>
            </a:r>
          </a:p>
        </p:txBody>
      </p:sp>
      <p:sp>
        <p:nvSpPr>
          <p:cNvPr id="3" name="テキスト プレースホルダー 2">
            <a:extLst>
              <a:ext uri="{FF2B5EF4-FFF2-40B4-BE49-F238E27FC236}">
                <a16:creationId xmlns:a16="http://schemas.microsoft.com/office/drawing/2014/main" id="{0DCFACD0-4636-FA2C-39DF-93646077D1F0}"/>
              </a:ext>
            </a:extLst>
          </p:cNvPr>
          <p:cNvSpPr>
            <a:spLocks noGrp="1"/>
          </p:cNvSpPr>
          <p:nvPr>
            <p:ph type="body" sz="quarter" idx="13"/>
          </p:nvPr>
        </p:nvSpPr>
        <p:spPr/>
        <p:txBody>
          <a:bodyPr/>
          <a:lstStyle/>
          <a:p>
            <a:r>
              <a:rPr lang="ja-JP" altLang="en-US" sz="1800" dirty="0">
                <a:solidFill>
                  <a:srgbClr val="262626"/>
                </a:solidFill>
                <a:latin typeface="Meiryo UI"/>
                <a:ea typeface="Meiryo UI"/>
              </a:rPr>
              <a:t>既にオーラル最重点を決定済み、宣伝・販促の傾斜配分も実行済み</a:t>
            </a:r>
            <a:endParaRPr lang="en-US" altLang="ja-JP" sz="1800" dirty="0">
              <a:solidFill>
                <a:srgbClr val="262626"/>
              </a:solidFill>
              <a:latin typeface="Meiryo UI"/>
              <a:ea typeface="Meiryo UI"/>
            </a:endParaRPr>
          </a:p>
          <a:p>
            <a:r>
              <a:rPr lang="ja-JP" altLang="en-US" sz="1800" dirty="0">
                <a:solidFill>
                  <a:srgbClr val="262626"/>
                </a:solidFill>
                <a:latin typeface="Meiryo UI"/>
                <a:ea typeface="Meiryo UI"/>
              </a:rPr>
              <a:t>それでもギャップが残る原因は量（カネ・ヒト）ではなく質：「型・武器・回路」の</a:t>
            </a:r>
            <a:r>
              <a:rPr lang="en-US" altLang="ja-JP" sz="1800" dirty="0">
                <a:solidFill>
                  <a:srgbClr val="262626"/>
                </a:solidFill>
                <a:latin typeface="Meiryo UI"/>
                <a:ea typeface="Meiryo UI"/>
              </a:rPr>
              <a:t>3</a:t>
            </a:r>
            <a:r>
              <a:rPr lang="ja-JP" altLang="en-US" sz="1800" dirty="0">
                <a:solidFill>
                  <a:srgbClr val="262626"/>
                </a:solidFill>
                <a:latin typeface="Meiryo UI"/>
                <a:ea typeface="Meiryo UI"/>
              </a:rPr>
              <a:t>つ</a:t>
            </a:r>
            <a:endParaRPr kumimoji="1" lang="ja-JP" altLang="en-US" sz="1800" dirty="0"/>
          </a:p>
        </p:txBody>
      </p:sp>
      <p:sp>
        <p:nvSpPr>
          <p:cNvPr id="59" name="TextBox 66">
            <a:extLst>
              <a:ext uri="{FF2B5EF4-FFF2-40B4-BE49-F238E27FC236}">
                <a16:creationId xmlns:a16="http://schemas.microsoft.com/office/drawing/2014/main" id="{D0D8ED33-66A4-540B-B237-2051F9390AF5}"/>
              </a:ext>
            </a:extLst>
          </p:cNvPr>
          <p:cNvSpPr txBox="1"/>
          <p:nvPr/>
        </p:nvSpPr>
        <p:spPr>
          <a:xfrm>
            <a:off x="457200" y="5965298"/>
            <a:ext cx="11292840" cy="343427"/>
          </a:xfrm>
          <a:prstGeom prst="rect">
            <a:avLst/>
          </a:prstGeom>
          <a:solidFill>
            <a:schemeClr val="accent6">
              <a:lumMod val="20000"/>
              <a:lumOff val="80000"/>
            </a:schemeClr>
          </a:solidFill>
        </p:spPr>
        <p:txBody>
          <a:bodyPr wrap="square" lIns="0" tIns="0" rIns="0" bIns="0">
            <a:spAutoFit/>
          </a:bodyPr>
          <a:lstStyle/>
          <a:p>
            <a:pPr>
              <a:lnSpc>
                <a:spcPct val="112000"/>
              </a:lnSpc>
            </a:pPr>
            <a:r>
              <a:rPr lang="ja-JP" altLang="en-US" sz="1050" b="0" dirty="0">
                <a:solidFill>
                  <a:srgbClr val="262626"/>
                </a:solidFill>
                <a:latin typeface="Meiryo UI"/>
                <a:ea typeface="Meiryo UI"/>
              </a:rPr>
              <a:t>➡</a:t>
            </a:r>
            <a:r>
              <a:rPr sz="1050" b="0" dirty="0">
                <a:solidFill>
                  <a:srgbClr val="262626"/>
                </a:solidFill>
                <a:latin typeface="Meiryo UI"/>
                <a:ea typeface="Meiryo UI"/>
              </a:rPr>
              <a:t>3つが解ければ4つのギャップはすべて閉じる。逆にどれか1つでも残せば再発する ― 型がなければ増えた資源は従来のやり方を拡大再生産し、型があっても武器がなければ絵に描いた餅、武器があっても回さなければ一度きりで終わる。</a:t>
            </a:r>
          </a:p>
        </p:txBody>
      </p:sp>
      <p:grpSp>
        <p:nvGrpSpPr>
          <p:cNvPr id="65" name="グループ化 64">
            <a:extLst>
              <a:ext uri="{FF2B5EF4-FFF2-40B4-BE49-F238E27FC236}">
                <a16:creationId xmlns:a16="http://schemas.microsoft.com/office/drawing/2014/main" id="{0723DAF3-F357-813C-8A94-CA68CDE75BDD}"/>
              </a:ext>
            </a:extLst>
          </p:cNvPr>
          <p:cNvGrpSpPr/>
          <p:nvPr/>
        </p:nvGrpSpPr>
        <p:grpSpPr>
          <a:xfrm>
            <a:off x="320040" y="1963882"/>
            <a:ext cx="11521440" cy="3845284"/>
            <a:chOff x="320040" y="1963882"/>
            <a:chExt cx="11521440" cy="4213102"/>
          </a:xfrm>
        </p:grpSpPr>
        <p:sp>
          <p:nvSpPr>
            <p:cNvPr id="5" name="TextBox 12">
              <a:extLst>
                <a:ext uri="{FF2B5EF4-FFF2-40B4-BE49-F238E27FC236}">
                  <a16:creationId xmlns:a16="http://schemas.microsoft.com/office/drawing/2014/main" id="{6428E61E-00B5-F014-5B23-F84ADD7FF9C6}"/>
                </a:ext>
              </a:extLst>
            </p:cNvPr>
            <p:cNvSpPr txBox="1"/>
            <p:nvPr/>
          </p:nvSpPr>
          <p:spPr>
            <a:xfrm>
              <a:off x="3730752" y="2057454"/>
              <a:ext cx="2578608" cy="177869"/>
            </a:xfrm>
            <a:prstGeom prst="rect">
              <a:avLst/>
            </a:prstGeom>
            <a:noFill/>
          </p:spPr>
          <p:txBody>
            <a:bodyPr wrap="square" lIns="0" tIns="0" rIns="0" bIns="0">
              <a:spAutoFit/>
            </a:bodyPr>
            <a:lstStyle/>
            <a:p>
              <a:pPr>
                <a:lnSpc>
                  <a:spcPct val="118000"/>
                </a:lnSpc>
              </a:pPr>
              <a:r>
                <a:rPr sz="1100" b="1" dirty="0">
                  <a:solidFill>
                    <a:srgbClr val="262626"/>
                  </a:solidFill>
                  <a:latin typeface="Meiryo UI"/>
                  <a:ea typeface="Meiryo UI"/>
                </a:rPr>
                <a:t>― ●＝</a:t>
              </a:r>
              <a:r>
                <a:rPr sz="1100" b="1" dirty="0" err="1">
                  <a:solidFill>
                    <a:srgbClr val="262626"/>
                  </a:solidFill>
                  <a:latin typeface="Meiryo UI"/>
                  <a:ea typeface="Meiryo UI"/>
                </a:rPr>
                <a:t>主要因</a:t>
              </a:r>
              <a:r>
                <a:rPr sz="1100" b="1" dirty="0">
                  <a:solidFill>
                    <a:srgbClr val="262626"/>
                  </a:solidFill>
                  <a:latin typeface="Meiryo UI"/>
                  <a:ea typeface="Meiryo UI"/>
                </a:rPr>
                <a:t>、○＝</a:t>
              </a:r>
              <a:r>
                <a:rPr sz="1100" b="1" dirty="0" err="1">
                  <a:solidFill>
                    <a:srgbClr val="262626"/>
                  </a:solidFill>
                  <a:latin typeface="Meiryo UI"/>
                  <a:ea typeface="Meiryo UI"/>
                </a:rPr>
                <a:t>副次要因</a:t>
              </a:r>
              <a:endParaRPr sz="1100" b="1" dirty="0">
                <a:solidFill>
                  <a:srgbClr val="262626"/>
                </a:solidFill>
                <a:latin typeface="Meiryo UI"/>
                <a:ea typeface="Meiryo UI"/>
              </a:endParaRPr>
            </a:p>
          </p:txBody>
        </p:sp>
        <p:grpSp>
          <p:nvGrpSpPr>
            <p:cNvPr id="63" name="グループ化 62">
              <a:extLst>
                <a:ext uri="{FF2B5EF4-FFF2-40B4-BE49-F238E27FC236}">
                  <a16:creationId xmlns:a16="http://schemas.microsoft.com/office/drawing/2014/main" id="{0C8E0C9F-E89C-EA9A-90E2-AA11B2D768E4}"/>
                </a:ext>
              </a:extLst>
            </p:cNvPr>
            <p:cNvGrpSpPr/>
            <p:nvPr/>
          </p:nvGrpSpPr>
          <p:grpSpPr>
            <a:xfrm>
              <a:off x="320040" y="2431380"/>
              <a:ext cx="5285232" cy="3584956"/>
              <a:chOff x="320040" y="2431380"/>
              <a:chExt cx="5285232" cy="2368761"/>
            </a:xfrm>
          </p:grpSpPr>
          <p:sp>
            <p:nvSpPr>
              <p:cNvPr id="6" name="Rectangle 13">
                <a:extLst>
                  <a:ext uri="{FF2B5EF4-FFF2-40B4-BE49-F238E27FC236}">
                    <a16:creationId xmlns:a16="http://schemas.microsoft.com/office/drawing/2014/main" id="{0AA2A850-CE00-620E-E539-456ADAF85E09}"/>
                  </a:ext>
                </a:extLst>
              </p:cNvPr>
              <p:cNvSpPr/>
              <p:nvPr/>
            </p:nvSpPr>
            <p:spPr>
              <a:xfrm>
                <a:off x="320040" y="2431380"/>
                <a:ext cx="3566160" cy="251681"/>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7" name="TextBox 14">
                <a:extLst>
                  <a:ext uri="{FF2B5EF4-FFF2-40B4-BE49-F238E27FC236}">
                    <a16:creationId xmlns:a16="http://schemas.microsoft.com/office/drawing/2014/main" id="{C5CC152E-29C4-1932-12F0-B283C105C430}"/>
                  </a:ext>
                </a:extLst>
              </p:cNvPr>
              <p:cNvSpPr txBox="1"/>
              <p:nvPr/>
            </p:nvSpPr>
            <p:spPr>
              <a:xfrm>
                <a:off x="411480" y="2460990"/>
                <a:ext cx="3383280" cy="162480"/>
              </a:xfrm>
              <a:prstGeom prst="rect">
                <a:avLst/>
              </a:prstGeom>
              <a:noFill/>
            </p:spPr>
            <p:txBody>
              <a:bodyPr wrap="square" lIns="0" tIns="0" rIns="0" bIns="0">
                <a:spAutoFit/>
              </a:bodyPr>
              <a:lstStyle/>
              <a:p>
                <a:pPr>
                  <a:lnSpc>
                    <a:spcPct val="112000"/>
                  </a:lnSpc>
                </a:pPr>
                <a:r>
                  <a:rPr sz="1050" b="1">
                    <a:solidFill>
                      <a:srgbClr val="FFFFFF"/>
                    </a:solidFill>
                    <a:latin typeface="+mn-ea"/>
                  </a:rPr>
                  <a:t>ギャップ（前頁の要約）</a:t>
                </a:r>
              </a:p>
            </p:txBody>
          </p:sp>
          <p:sp>
            <p:nvSpPr>
              <p:cNvPr id="8" name="Rectangle 15">
                <a:extLst>
                  <a:ext uri="{FF2B5EF4-FFF2-40B4-BE49-F238E27FC236}">
                    <a16:creationId xmlns:a16="http://schemas.microsoft.com/office/drawing/2014/main" id="{51A7E736-2D3B-535F-D574-AE80D693BCEB}"/>
                  </a:ext>
                </a:extLst>
              </p:cNvPr>
              <p:cNvSpPr/>
              <p:nvPr/>
            </p:nvSpPr>
            <p:spPr>
              <a:xfrm>
                <a:off x="3922776" y="2431380"/>
                <a:ext cx="548640" cy="251681"/>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9" name="TextBox 16">
                <a:extLst>
                  <a:ext uri="{FF2B5EF4-FFF2-40B4-BE49-F238E27FC236}">
                    <a16:creationId xmlns:a16="http://schemas.microsoft.com/office/drawing/2014/main" id="{3766E181-0334-339F-083B-7817CBD53100}"/>
                  </a:ext>
                </a:extLst>
              </p:cNvPr>
              <p:cNvSpPr txBox="1"/>
              <p:nvPr/>
            </p:nvSpPr>
            <p:spPr>
              <a:xfrm>
                <a:off x="3941063" y="2438783"/>
                <a:ext cx="512064" cy="307007"/>
              </a:xfrm>
              <a:prstGeom prst="rect">
                <a:avLst/>
              </a:prstGeom>
              <a:noFill/>
            </p:spPr>
            <p:txBody>
              <a:bodyPr wrap="square" lIns="0" tIns="0" rIns="0" bIns="0">
                <a:spAutoFit/>
              </a:bodyPr>
              <a:lstStyle/>
              <a:p>
                <a:pPr>
                  <a:lnSpc>
                    <a:spcPct val="95000"/>
                  </a:lnSpc>
                </a:pPr>
                <a:r>
                  <a:rPr sz="1050" b="1">
                    <a:solidFill>
                      <a:srgbClr val="FFFFFF"/>
                    </a:solidFill>
                    <a:latin typeface="+mn-ea"/>
                  </a:rPr>
                  <a:t>真因1
型</a:t>
                </a:r>
              </a:p>
            </p:txBody>
          </p:sp>
          <p:sp>
            <p:nvSpPr>
              <p:cNvPr id="10" name="Rectangle 17">
                <a:extLst>
                  <a:ext uri="{FF2B5EF4-FFF2-40B4-BE49-F238E27FC236}">
                    <a16:creationId xmlns:a16="http://schemas.microsoft.com/office/drawing/2014/main" id="{F7506083-E132-940E-0275-EBC0641204FC}"/>
                  </a:ext>
                </a:extLst>
              </p:cNvPr>
              <p:cNvSpPr/>
              <p:nvPr/>
            </p:nvSpPr>
            <p:spPr>
              <a:xfrm>
                <a:off x="4489704" y="2431380"/>
                <a:ext cx="548640" cy="251681"/>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11" name="TextBox 18">
                <a:extLst>
                  <a:ext uri="{FF2B5EF4-FFF2-40B4-BE49-F238E27FC236}">
                    <a16:creationId xmlns:a16="http://schemas.microsoft.com/office/drawing/2014/main" id="{DBCA0DC7-72BD-5FD3-6C50-40F2BF8E6E1E}"/>
                  </a:ext>
                </a:extLst>
              </p:cNvPr>
              <p:cNvSpPr txBox="1"/>
              <p:nvPr/>
            </p:nvSpPr>
            <p:spPr>
              <a:xfrm>
                <a:off x="4507992" y="2438783"/>
                <a:ext cx="512064" cy="307007"/>
              </a:xfrm>
              <a:prstGeom prst="rect">
                <a:avLst/>
              </a:prstGeom>
              <a:noFill/>
            </p:spPr>
            <p:txBody>
              <a:bodyPr wrap="square" lIns="0" tIns="0" rIns="0" bIns="0">
                <a:spAutoFit/>
              </a:bodyPr>
              <a:lstStyle/>
              <a:p>
                <a:pPr>
                  <a:lnSpc>
                    <a:spcPct val="95000"/>
                  </a:lnSpc>
                </a:pPr>
                <a:r>
                  <a:rPr sz="1050" b="1">
                    <a:solidFill>
                      <a:srgbClr val="FFFFFF"/>
                    </a:solidFill>
                    <a:latin typeface="+mn-ea"/>
                  </a:rPr>
                  <a:t>真因2
武器</a:t>
                </a:r>
              </a:p>
            </p:txBody>
          </p:sp>
          <p:sp>
            <p:nvSpPr>
              <p:cNvPr id="12" name="Rectangle 19">
                <a:extLst>
                  <a:ext uri="{FF2B5EF4-FFF2-40B4-BE49-F238E27FC236}">
                    <a16:creationId xmlns:a16="http://schemas.microsoft.com/office/drawing/2014/main" id="{803FE5AB-5DD0-D855-413C-0E0C4FBC3763}"/>
                  </a:ext>
                </a:extLst>
              </p:cNvPr>
              <p:cNvSpPr/>
              <p:nvPr/>
            </p:nvSpPr>
            <p:spPr>
              <a:xfrm>
                <a:off x="5056632" y="2431380"/>
                <a:ext cx="548640" cy="251681"/>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13" name="TextBox 20">
                <a:extLst>
                  <a:ext uri="{FF2B5EF4-FFF2-40B4-BE49-F238E27FC236}">
                    <a16:creationId xmlns:a16="http://schemas.microsoft.com/office/drawing/2014/main" id="{6AB203D3-84F0-E3CE-0A79-2C09B03C40D8}"/>
                  </a:ext>
                </a:extLst>
              </p:cNvPr>
              <p:cNvSpPr txBox="1"/>
              <p:nvPr/>
            </p:nvSpPr>
            <p:spPr>
              <a:xfrm>
                <a:off x="5074920" y="2438783"/>
                <a:ext cx="512064" cy="307007"/>
              </a:xfrm>
              <a:prstGeom prst="rect">
                <a:avLst/>
              </a:prstGeom>
              <a:noFill/>
            </p:spPr>
            <p:txBody>
              <a:bodyPr wrap="square" lIns="0" tIns="0" rIns="0" bIns="0">
                <a:spAutoFit/>
              </a:bodyPr>
              <a:lstStyle/>
              <a:p>
                <a:pPr>
                  <a:lnSpc>
                    <a:spcPct val="95000"/>
                  </a:lnSpc>
                </a:pPr>
                <a:r>
                  <a:rPr sz="1050" b="1">
                    <a:solidFill>
                      <a:srgbClr val="FFFFFF"/>
                    </a:solidFill>
                    <a:latin typeface="+mn-ea"/>
                  </a:rPr>
                  <a:t>真因3
回路</a:t>
                </a:r>
              </a:p>
            </p:txBody>
          </p:sp>
          <p:sp>
            <p:nvSpPr>
              <p:cNvPr id="14" name="Rectangle 21">
                <a:extLst>
                  <a:ext uri="{FF2B5EF4-FFF2-40B4-BE49-F238E27FC236}">
                    <a16:creationId xmlns:a16="http://schemas.microsoft.com/office/drawing/2014/main" id="{FE39C56C-2926-1C1D-87FA-6118A01A21E9}"/>
                  </a:ext>
                </a:extLst>
              </p:cNvPr>
              <p:cNvSpPr/>
              <p:nvPr/>
            </p:nvSpPr>
            <p:spPr>
              <a:xfrm>
                <a:off x="320040" y="2712671"/>
                <a:ext cx="3566160" cy="48855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15" name="TextBox 22">
                <a:extLst>
                  <a:ext uri="{FF2B5EF4-FFF2-40B4-BE49-F238E27FC236}">
                    <a16:creationId xmlns:a16="http://schemas.microsoft.com/office/drawing/2014/main" id="{DB30D06C-3265-EA5D-8F78-B1BE7BA2C907}"/>
                  </a:ext>
                </a:extLst>
              </p:cNvPr>
              <p:cNvSpPr txBox="1"/>
              <p:nvPr/>
            </p:nvSpPr>
            <p:spPr>
              <a:xfrm>
                <a:off x="411480" y="2742280"/>
                <a:ext cx="3401568" cy="323678"/>
              </a:xfrm>
              <a:prstGeom prst="rect">
                <a:avLst/>
              </a:prstGeom>
              <a:noFill/>
            </p:spPr>
            <p:txBody>
              <a:bodyPr wrap="square" lIns="0" tIns="0" rIns="0" bIns="0">
                <a:spAutoFit/>
              </a:bodyPr>
              <a:lstStyle/>
              <a:p>
                <a:pPr>
                  <a:lnSpc>
                    <a:spcPct val="105000"/>
                  </a:lnSpc>
                </a:pPr>
                <a:r>
                  <a:rPr sz="1050" b="0" dirty="0">
                    <a:solidFill>
                      <a:srgbClr val="262626"/>
                    </a:solidFill>
                    <a:latin typeface="+mn-ea"/>
                  </a:rPr>
                  <a:t>GAP1 </a:t>
                </a:r>
                <a:r>
                  <a:rPr sz="1050" b="0" dirty="0" err="1">
                    <a:solidFill>
                      <a:srgbClr val="262626"/>
                    </a:solidFill>
                    <a:latin typeface="+mn-ea"/>
                  </a:rPr>
                  <a:t>洗剤消耗戦から脱却できず、属性データの構造化・API化に未着手</a:t>
                </a:r>
                <a:endParaRPr sz="1050" b="0" dirty="0">
                  <a:solidFill>
                    <a:srgbClr val="262626"/>
                  </a:solidFill>
                  <a:latin typeface="+mn-ea"/>
                </a:endParaRPr>
              </a:p>
            </p:txBody>
          </p:sp>
          <p:sp>
            <p:nvSpPr>
              <p:cNvPr id="16" name="Rectangle 23">
                <a:extLst>
                  <a:ext uri="{FF2B5EF4-FFF2-40B4-BE49-F238E27FC236}">
                    <a16:creationId xmlns:a16="http://schemas.microsoft.com/office/drawing/2014/main" id="{03A2EF96-8EFA-5277-35F4-71D3322BC8BD}"/>
                  </a:ext>
                </a:extLst>
              </p:cNvPr>
              <p:cNvSpPr/>
              <p:nvPr/>
            </p:nvSpPr>
            <p:spPr>
              <a:xfrm>
                <a:off x="3922776" y="2712671"/>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17" name="TextBox 24">
                <a:extLst>
                  <a:ext uri="{FF2B5EF4-FFF2-40B4-BE49-F238E27FC236}">
                    <a16:creationId xmlns:a16="http://schemas.microsoft.com/office/drawing/2014/main" id="{E00AE3EF-ED27-D00F-F3CA-FEC72E2897C4}"/>
                  </a:ext>
                </a:extLst>
              </p:cNvPr>
              <p:cNvSpPr txBox="1"/>
              <p:nvPr/>
            </p:nvSpPr>
            <p:spPr>
              <a:xfrm>
                <a:off x="3922776" y="2823706"/>
                <a:ext cx="548640" cy="161583"/>
              </a:xfrm>
              <a:prstGeom prst="rect">
                <a:avLst/>
              </a:prstGeom>
              <a:noFill/>
            </p:spPr>
            <p:txBody>
              <a:bodyPr wrap="square" lIns="0" tIns="0" rIns="0" bIns="0">
                <a:spAutoFit/>
              </a:bodyPr>
              <a:lstStyle/>
              <a:p>
                <a:pPr>
                  <a:lnSpc>
                    <a:spcPct val="100000"/>
                  </a:lnSpc>
                </a:pPr>
                <a:r>
                  <a:rPr sz="1050" b="1">
                    <a:solidFill>
                      <a:srgbClr val="C8102E"/>
                    </a:solidFill>
                    <a:latin typeface="+mn-ea"/>
                  </a:rPr>
                  <a:t>●</a:t>
                </a:r>
              </a:p>
            </p:txBody>
          </p:sp>
          <p:sp>
            <p:nvSpPr>
              <p:cNvPr id="18" name="Rectangle 25">
                <a:extLst>
                  <a:ext uri="{FF2B5EF4-FFF2-40B4-BE49-F238E27FC236}">
                    <a16:creationId xmlns:a16="http://schemas.microsoft.com/office/drawing/2014/main" id="{BEE416C6-D8F9-30A1-D998-9E18441CB1FF}"/>
                  </a:ext>
                </a:extLst>
              </p:cNvPr>
              <p:cNvSpPr/>
              <p:nvPr/>
            </p:nvSpPr>
            <p:spPr>
              <a:xfrm>
                <a:off x="4489704" y="2712671"/>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19" name="TextBox 26">
                <a:extLst>
                  <a:ext uri="{FF2B5EF4-FFF2-40B4-BE49-F238E27FC236}">
                    <a16:creationId xmlns:a16="http://schemas.microsoft.com/office/drawing/2014/main" id="{EF82B8BB-F84B-52E2-48DD-EE122557B804}"/>
                  </a:ext>
                </a:extLst>
              </p:cNvPr>
              <p:cNvSpPr txBox="1"/>
              <p:nvPr/>
            </p:nvSpPr>
            <p:spPr>
              <a:xfrm>
                <a:off x="4489704" y="2823706"/>
                <a:ext cx="548640" cy="161583"/>
              </a:xfrm>
              <a:prstGeom prst="rect">
                <a:avLst/>
              </a:prstGeom>
              <a:noFill/>
            </p:spPr>
            <p:txBody>
              <a:bodyPr wrap="square" lIns="0" tIns="0" rIns="0" bIns="0">
                <a:spAutoFit/>
              </a:bodyPr>
              <a:lstStyle/>
              <a:p>
                <a:pPr>
                  <a:lnSpc>
                    <a:spcPct val="100000"/>
                  </a:lnSpc>
                </a:pPr>
                <a:r>
                  <a:rPr sz="1050" b="1">
                    <a:solidFill>
                      <a:srgbClr val="0F5E87"/>
                    </a:solidFill>
                    <a:latin typeface="+mn-ea"/>
                  </a:rPr>
                  <a:t>●</a:t>
                </a:r>
              </a:p>
            </p:txBody>
          </p:sp>
          <p:sp>
            <p:nvSpPr>
              <p:cNvPr id="20" name="Rectangle 27">
                <a:extLst>
                  <a:ext uri="{FF2B5EF4-FFF2-40B4-BE49-F238E27FC236}">
                    <a16:creationId xmlns:a16="http://schemas.microsoft.com/office/drawing/2014/main" id="{B0008E4A-925B-8D97-1CB9-ACE561788144}"/>
                  </a:ext>
                </a:extLst>
              </p:cNvPr>
              <p:cNvSpPr/>
              <p:nvPr/>
            </p:nvSpPr>
            <p:spPr>
              <a:xfrm>
                <a:off x="5056632" y="2712671"/>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21" name="Rectangle 28">
                <a:extLst>
                  <a:ext uri="{FF2B5EF4-FFF2-40B4-BE49-F238E27FC236}">
                    <a16:creationId xmlns:a16="http://schemas.microsoft.com/office/drawing/2014/main" id="{08997F39-DD7B-3463-45C9-0D0AA6FA131D}"/>
                  </a:ext>
                </a:extLst>
              </p:cNvPr>
              <p:cNvSpPr/>
              <p:nvPr/>
            </p:nvSpPr>
            <p:spPr>
              <a:xfrm>
                <a:off x="320040" y="3245642"/>
                <a:ext cx="3566160" cy="48855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22" name="TextBox 29">
                <a:extLst>
                  <a:ext uri="{FF2B5EF4-FFF2-40B4-BE49-F238E27FC236}">
                    <a16:creationId xmlns:a16="http://schemas.microsoft.com/office/drawing/2014/main" id="{C111A0A4-6BC6-3745-3961-3B8A3223A449}"/>
                  </a:ext>
                </a:extLst>
              </p:cNvPr>
              <p:cNvSpPr txBox="1"/>
              <p:nvPr/>
            </p:nvSpPr>
            <p:spPr>
              <a:xfrm>
                <a:off x="411480" y="3275252"/>
                <a:ext cx="3401568" cy="323678"/>
              </a:xfrm>
              <a:prstGeom prst="rect">
                <a:avLst/>
              </a:prstGeom>
              <a:noFill/>
            </p:spPr>
            <p:txBody>
              <a:bodyPr wrap="square" lIns="0" tIns="0" rIns="0" bIns="0">
                <a:spAutoFit/>
              </a:bodyPr>
              <a:lstStyle/>
              <a:p>
                <a:pPr>
                  <a:lnSpc>
                    <a:spcPct val="105000"/>
                  </a:lnSpc>
                </a:pPr>
                <a:r>
                  <a:rPr sz="1050" b="0">
                    <a:solidFill>
                      <a:srgbClr val="262626"/>
                    </a:solidFill>
                    <a:latin typeface="+mn-ea"/>
                  </a:rPr>
                  <a:t>GAP2 自前D2Cか小売依存かの二極化に陥り、路線を選べていない</a:t>
                </a:r>
              </a:p>
            </p:txBody>
          </p:sp>
          <p:sp>
            <p:nvSpPr>
              <p:cNvPr id="23" name="Rectangle 30">
                <a:extLst>
                  <a:ext uri="{FF2B5EF4-FFF2-40B4-BE49-F238E27FC236}">
                    <a16:creationId xmlns:a16="http://schemas.microsoft.com/office/drawing/2014/main" id="{23A1141F-94C8-7882-C5FD-CA1774A21873}"/>
                  </a:ext>
                </a:extLst>
              </p:cNvPr>
              <p:cNvSpPr/>
              <p:nvPr/>
            </p:nvSpPr>
            <p:spPr>
              <a:xfrm>
                <a:off x="3922776" y="3245642"/>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24" name="TextBox 31">
                <a:extLst>
                  <a:ext uri="{FF2B5EF4-FFF2-40B4-BE49-F238E27FC236}">
                    <a16:creationId xmlns:a16="http://schemas.microsoft.com/office/drawing/2014/main" id="{6BB9FC92-7629-4C7E-097F-931AC5D3F4AE}"/>
                  </a:ext>
                </a:extLst>
              </p:cNvPr>
              <p:cNvSpPr txBox="1"/>
              <p:nvPr/>
            </p:nvSpPr>
            <p:spPr>
              <a:xfrm>
                <a:off x="3922776" y="3356678"/>
                <a:ext cx="548640" cy="161583"/>
              </a:xfrm>
              <a:prstGeom prst="rect">
                <a:avLst/>
              </a:prstGeom>
              <a:noFill/>
            </p:spPr>
            <p:txBody>
              <a:bodyPr wrap="square" lIns="0" tIns="0" rIns="0" bIns="0">
                <a:spAutoFit/>
              </a:bodyPr>
              <a:lstStyle/>
              <a:p>
                <a:pPr>
                  <a:lnSpc>
                    <a:spcPct val="100000"/>
                  </a:lnSpc>
                </a:pPr>
                <a:r>
                  <a:rPr sz="1050" b="1">
                    <a:solidFill>
                      <a:srgbClr val="C8102E"/>
                    </a:solidFill>
                    <a:latin typeface="+mn-ea"/>
                  </a:rPr>
                  <a:t>●</a:t>
                </a:r>
              </a:p>
            </p:txBody>
          </p:sp>
          <p:sp>
            <p:nvSpPr>
              <p:cNvPr id="25" name="Rectangle 32">
                <a:extLst>
                  <a:ext uri="{FF2B5EF4-FFF2-40B4-BE49-F238E27FC236}">
                    <a16:creationId xmlns:a16="http://schemas.microsoft.com/office/drawing/2014/main" id="{9B4E9D25-B742-ABDA-9518-6B59B7584E4A}"/>
                  </a:ext>
                </a:extLst>
              </p:cNvPr>
              <p:cNvSpPr/>
              <p:nvPr/>
            </p:nvSpPr>
            <p:spPr>
              <a:xfrm>
                <a:off x="4489704" y="3245642"/>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26" name="Rectangle 33">
                <a:extLst>
                  <a:ext uri="{FF2B5EF4-FFF2-40B4-BE49-F238E27FC236}">
                    <a16:creationId xmlns:a16="http://schemas.microsoft.com/office/drawing/2014/main" id="{B079360A-B983-C1C1-5C4F-597D69209430}"/>
                  </a:ext>
                </a:extLst>
              </p:cNvPr>
              <p:cNvSpPr/>
              <p:nvPr/>
            </p:nvSpPr>
            <p:spPr>
              <a:xfrm>
                <a:off x="5056632" y="3245642"/>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27" name="TextBox 34">
                <a:extLst>
                  <a:ext uri="{FF2B5EF4-FFF2-40B4-BE49-F238E27FC236}">
                    <a16:creationId xmlns:a16="http://schemas.microsoft.com/office/drawing/2014/main" id="{5031097F-5F74-7828-D020-97FF79B9744D}"/>
                  </a:ext>
                </a:extLst>
              </p:cNvPr>
              <p:cNvSpPr txBox="1"/>
              <p:nvPr/>
            </p:nvSpPr>
            <p:spPr>
              <a:xfrm>
                <a:off x="5056632" y="3356678"/>
                <a:ext cx="548640" cy="161583"/>
              </a:xfrm>
              <a:prstGeom prst="rect">
                <a:avLst/>
              </a:prstGeom>
              <a:noFill/>
            </p:spPr>
            <p:txBody>
              <a:bodyPr wrap="square" lIns="0" tIns="0" rIns="0" bIns="0">
                <a:spAutoFit/>
              </a:bodyPr>
              <a:lstStyle/>
              <a:p>
                <a:pPr>
                  <a:lnSpc>
                    <a:spcPct val="100000"/>
                  </a:lnSpc>
                </a:pPr>
                <a:r>
                  <a:rPr sz="1050" b="1">
                    <a:solidFill>
                      <a:srgbClr val="008D2E"/>
                    </a:solidFill>
                    <a:latin typeface="+mn-ea"/>
                  </a:rPr>
                  <a:t>○</a:t>
                </a:r>
              </a:p>
            </p:txBody>
          </p:sp>
          <p:sp>
            <p:nvSpPr>
              <p:cNvPr id="28" name="Rectangle 35">
                <a:extLst>
                  <a:ext uri="{FF2B5EF4-FFF2-40B4-BE49-F238E27FC236}">
                    <a16:creationId xmlns:a16="http://schemas.microsoft.com/office/drawing/2014/main" id="{45A5985D-BF0A-D89F-C1A8-2AF14DA41BC0}"/>
                  </a:ext>
                </a:extLst>
              </p:cNvPr>
              <p:cNvSpPr/>
              <p:nvPr/>
            </p:nvSpPr>
            <p:spPr>
              <a:xfrm>
                <a:off x="320040" y="3778613"/>
                <a:ext cx="3566160" cy="48855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29" name="TextBox 36">
                <a:extLst>
                  <a:ext uri="{FF2B5EF4-FFF2-40B4-BE49-F238E27FC236}">
                    <a16:creationId xmlns:a16="http://schemas.microsoft.com/office/drawing/2014/main" id="{203A822C-AFEC-10E5-EE59-88FFF0E6C810}"/>
                  </a:ext>
                </a:extLst>
              </p:cNvPr>
              <p:cNvSpPr txBox="1"/>
              <p:nvPr/>
            </p:nvSpPr>
            <p:spPr>
              <a:xfrm>
                <a:off x="411480" y="3808223"/>
                <a:ext cx="3401568" cy="323678"/>
              </a:xfrm>
              <a:prstGeom prst="rect">
                <a:avLst/>
              </a:prstGeom>
              <a:noFill/>
            </p:spPr>
            <p:txBody>
              <a:bodyPr wrap="square" lIns="0" tIns="0" rIns="0" bIns="0">
                <a:spAutoFit/>
              </a:bodyPr>
              <a:lstStyle/>
              <a:p>
                <a:pPr>
                  <a:lnSpc>
                    <a:spcPct val="105000"/>
                  </a:lnSpc>
                </a:pPr>
                <a:r>
                  <a:rPr sz="1050" b="0">
                    <a:solidFill>
                      <a:srgbClr val="262626"/>
                    </a:solidFill>
                    <a:latin typeface="+mn-ea"/>
                  </a:rPr>
                  <a:t>GAP3 バイヤーが欲するLTV・炭素効率の予測でなく、値引き提案が続く</a:t>
                </a:r>
              </a:p>
            </p:txBody>
          </p:sp>
          <p:sp>
            <p:nvSpPr>
              <p:cNvPr id="30" name="Rectangle 37">
                <a:extLst>
                  <a:ext uri="{FF2B5EF4-FFF2-40B4-BE49-F238E27FC236}">
                    <a16:creationId xmlns:a16="http://schemas.microsoft.com/office/drawing/2014/main" id="{DE309181-D627-F5A5-65CA-8E12F33C0199}"/>
                  </a:ext>
                </a:extLst>
              </p:cNvPr>
              <p:cNvSpPr/>
              <p:nvPr/>
            </p:nvSpPr>
            <p:spPr>
              <a:xfrm>
                <a:off x="3922776" y="3778613"/>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31" name="TextBox 38">
                <a:extLst>
                  <a:ext uri="{FF2B5EF4-FFF2-40B4-BE49-F238E27FC236}">
                    <a16:creationId xmlns:a16="http://schemas.microsoft.com/office/drawing/2014/main" id="{22656355-028B-FA6D-926D-42FFD875D3AD}"/>
                  </a:ext>
                </a:extLst>
              </p:cNvPr>
              <p:cNvSpPr txBox="1"/>
              <p:nvPr/>
            </p:nvSpPr>
            <p:spPr>
              <a:xfrm>
                <a:off x="3922776" y="3889649"/>
                <a:ext cx="548640" cy="161583"/>
              </a:xfrm>
              <a:prstGeom prst="rect">
                <a:avLst/>
              </a:prstGeom>
              <a:noFill/>
            </p:spPr>
            <p:txBody>
              <a:bodyPr wrap="square" lIns="0" tIns="0" rIns="0" bIns="0">
                <a:spAutoFit/>
              </a:bodyPr>
              <a:lstStyle/>
              <a:p>
                <a:pPr>
                  <a:lnSpc>
                    <a:spcPct val="100000"/>
                  </a:lnSpc>
                </a:pPr>
                <a:r>
                  <a:rPr sz="1050" b="1">
                    <a:solidFill>
                      <a:srgbClr val="C8102E"/>
                    </a:solidFill>
                    <a:latin typeface="+mn-ea"/>
                  </a:rPr>
                  <a:t>○</a:t>
                </a:r>
              </a:p>
            </p:txBody>
          </p:sp>
          <p:sp>
            <p:nvSpPr>
              <p:cNvPr id="32" name="Rectangle 39">
                <a:extLst>
                  <a:ext uri="{FF2B5EF4-FFF2-40B4-BE49-F238E27FC236}">
                    <a16:creationId xmlns:a16="http://schemas.microsoft.com/office/drawing/2014/main" id="{159E2FC0-1884-5DE2-3806-D1593BD84D75}"/>
                  </a:ext>
                </a:extLst>
              </p:cNvPr>
              <p:cNvSpPr/>
              <p:nvPr/>
            </p:nvSpPr>
            <p:spPr>
              <a:xfrm>
                <a:off x="4489704" y="3778613"/>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33" name="TextBox 40">
                <a:extLst>
                  <a:ext uri="{FF2B5EF4-FFF2-40B4-BE49-F238E27FC236}">
                    <a16:creationId xmlns:a16="http://schemas.microsoft.com/office/drawing/2014/main" id="{393E8492-21E3-01D2-1DA8-54CEDD2311A0}"/>
                  </a:ext>
                </a:extLst>
              </p:cNvPr>
              <p:cNvSpPr txBox="1"/>
              <p:nvPr/>
            </p:nvSpPr>
            <p:spPr>
              <a:xfrm>
                <a:off x="4489704" y="3889649"/>
                <a:ext cx="548640" cy="161583"/>
              </a:xfrm>
              <a:prstGeom prst="rect">
                <a:avLst/>
              </a:prstGeom>
              <a:noFill/>
            </p:spPr>
            <p:txBody>
              <a:bodyPr wrap="square" lIns="0" tIns="0" rIns="0" bIns="0">
                <a:spAutoFit/>
              </a:bodyPr>
              <a:lstStyle/>
              <a:p>
                <a:pPr>
                  <a:lnSpc>
                    <a:spcPct val="100000"/>
                  </a:lnSpc>
                </a:pPr>
                <a:r>
                  <a:rPr sz="1050" b="1">
                    <a:solidFill>
                      <a:srgbClr val="0F5E87"/>
                    </a:solidFill>
                    <a:latin typeface="+mn-ea"/>
                  </a:rPr>
                  <a:t>●</a:t>
                </a:r>
              </a:p>
            </p:txBody>
          </p:sp>
          <p:sp>
            <p:nvSpPr>
              <p:cNvPr id="34" name="Rectangle 41">
                <a:extLst>
                  <a:ext uri="{FF2B5EF4-FFF2-40B4-BE49-F238E27FC236}">
                    <a16:creationId xmlns:a16="http://schemas.microsoft.com/office/drawing/2014/main" id="{1B231E81-86CD-A205-B88B-93E55E352413}"/>
                  </a:ext>
                </a:extLst>
              </p:cNvPr>
              <p:cNvSpPr/>
              <p:nvPr/>
            </p:nvSpPr>
            <p:spPr>
              <a:xfrm>
                <a:off x="5056632" y="3778613"/>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35" name="TextBox 42">
                <a:extLst>
                  <a:ext uri="{FF2B5EF4-FFF2-40B4-BE49-F238E27FC236}">
                    <a16:creationId xmlns:a16="http://schemas.microsoft.com/office/drawing/2014/main" id="{86DE14A2-5627-E91F-B2B9-4826C9648F3C}"/>
                  </a:ext>
                </a:extLst>
              </p:cNvPr>
              <p:cNvSpPr txBox="1"/>
              <p:nvPr/>
            </p:nvSpPr>
            <p:spPr>
              <a:xfrm>
                <a:off x="5056632" y="3889649"/>
                <a:ext cx="548640" cy="161583"/>
              </a:xfrm>
              <a:prstGeom prst="rect">
                <a:avLst/>
              </a:prstGeom>
              <a:noFill/>
            </p:spPr>
            <p:txBody>
              <a:bodyPr wrap="square" lIns="0" tIns="0" rIns="0" bIns="0">
                <a:spAutoFit/>
              </a:bodyPr>
              <a:lstStyle/>
              <a:p>
                <a:pPr>
                  <a:lnSpc>
                    <a:spcPct val="100000"/>
                  </a:lnSpc>
                </a:pPr>
                <a:r>
                  <a:rPr sz="1050" b="1">
                    <a:solidFill>
                      <a:srgbClr val="008D2E"/>
                    </a:solidFill>
                    <a:latin typeface="+mn-ea"/>
                  </a:rPr>
                  <a:t>●</a:t>
                </a:r>
              </a:p>
            </p:txBody>
          </p:sp>
          <p:sp>
            <p:nvSpPr>
              <p:cNvPr id="36" name="Rectangle 43">
                <a:extLst>
                  <a:ext uri="{FF2B5EF4-FFF2-40B4-BE49-F238E27FC236}">
                    <a16:creationId xmlns:a16="http://schemas.microsoft.com/office/drawing/2014/main" id="{8CA9D0FD-EEF8-7F19-A3E0-C9EF924A450D}"/>
                  </a:ext>
                </a:extLst>
              </p:cNvPr>
              <p:cNvSpPr/>
              <p:nvPr/>
            </p:nvSpPr>
            <p:spPr>
              <a:xfrm>
                <a:off x="320040" y="4311584"/>
                <a:ext cx="3566160" cy="48855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37" name="TextBox 44">
                <a:extLst>
                  <a:ext uri="{FF2B5EF4-FFF2-40B4-BE49-F238E27FC236}">
                    <a16:creationId xmlns:a16="http://schemas.microsoft.com/office/drawing/2014/main" id="{9B5B8EDB-CC42-EEB7-2EE8-38AA46EAA2FB}"/>
                  </a:ext>
                </a:extLst>
              </p:cNvPr>
              <p:cNvSpPr txBox="1"/>
              <p:nvPr/>
            </p:nvSpPr>
            <p:spPr>
              <a:xfrm>
                <a:off x="411480" y="4341193"/>
                <a:ext cx="3401568" cy="323678"/>
              </a:xfrm>
              <a:prstGeom prst="rect">
                <a:avLst/>
              </a:prstGeom>
              <a:noFill/>
            </p:spPr>
            <p:txBody>
              <a:bodyPr wrap="square" lIns="0" tIns="0" rIns="0" bIns="0">
                <a:spAutoFit/>
              </a:bodyPr>
              <a:lstStyle/>
              <a:p>
                <a:pPr>
                  <a:lnSpc>
                    <a:spcPct val="105000"/>
                  </a:lnSpc>
                </a:pPr>
                <a:r>
                  <a:rPr sz="1050" b="0">
                    <a:solidFill>
                      <a:srgbClr val="262626"/>
                    </a:solidFill>
                    <a:latin typeface="+mn-ea"/>
                  </a:rPr>
                  <a:t>GAP4 小売の構造課題に組織総力戦で当たれず、属人的関係に依存</a:t>
                </a:r>
              </a:p>
            </p:txBody>
          </p:sp>
          <p:sp>
            <p:nvSpPr>
              <p:cNvPr id="38" name="Rectangle 45">
                <a:extLst>
                  <a:ext uri="{FF2B5EF4-FFF2-40B4-BE49-F238E27FC236}">
                    <a16:creationId xmlns:a16="http://schemas.microsoft.com/office/drawing/2014/main" id="{065B899E-9FC0-A675-1055-37BB7B119B6E}"/>
                  </a:ext>
                </a:extLst>
              </p:cNvPr>
              <p:cNvSpPr/>
              <p:nvPr/>
            </p:nvSpPr>
            <p:spPr>
              <a:xfrm>
                <a:off x="3922776" y="4311584"/>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39" name="Rectangle 46">
                <a:extLst>
                  <a:ext uri="{FF2B5EF4-FFF2-40B4-BE49-F238E27FC236}">
                    <a16:creationId xmlns:a16="http://schemas.microsoft.com/office/drawing/2014/main" id="{2F6C0F3E-9331-3B56-8601-C5EACA459188}"/>
                  </a:ext>
                </a:extLst>
              </p:cNvPr>
              <p:cNvSpPr/>
              <p:nvPr/>
            </p:nvSpPr>
            <p:spPr>
              <a:xfrm>
                <a:off x="4489704" y="4311584"/>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40" name="TextBox 47">
                <a:extLst>
                  <a:ext uri="{FF2B5EF4-FFF2-40B4-BE49-F238E27FC236}">
                    <a16:creationId xmlns:a16="http://schemas.microsoft.com/office/drawing/2014/main" id="{6E0EC7C5-642C-E68F-0DA1-E6072E4A443B}"/>
                  </a:ext>
                </a:extLst>
              </p:cNvPr>
              <p:cNvSpPr txBox="1"/>
              <p:nvPr/>
            </p:nvSpPr>
            <p:spPr>
              <a:xfrm>
                <a:off x="4489704" y="4422620"/>
                <a:ext cx="548640" cy="161583"/>
              </a:xfrm>
              <a:prstGeom prst="rect">
                <a:avLst/>
              </a:prstGeom>
              <a:noFill/>
            </p:spPr>
            <p:txBody>
              <a:bodyPr wrap="square" lIns="0" tIns="0" rIns="0" bIns="0">
                <a:spAutoFit/>
              </a:bodyPr>
              <a:lstStyle/>
              <a:p>
                <a:pPr>
                  <a:lnSpc>
                    <a:spcPct val="100000"/>
                  </a:lnSpc>
                </a:pPr>
                <a:r>
                  <a:rPr sz="1050" b="1">
                    <a:solidFill>
                      <a:srgbClr val="0F5E87"/>
                    </a:solidFill>
                    <a:latin typeface="+mn-ea"/>
                  </a:rPr>
                  <a:t>○</a:t>
                </a:r>
              </a:p>
            </p:txBody>
          </p:sp>
          <p:sp>
            <p:nvSpPr>
              <p:cNvPr id="41" name="Rectangle 48">
                <a:extLst>
                  <a:ext uri="{FF2B5EF4-FFF2-40B4-BE49-F238E27FC236}">
                    <a16:creationId xmlns:a16="http://schemas.microsoft.com/office/drawing/2014/main" id="{9BC4E27D-1E20-F0B1-91F3-08C157E0E3F5}"/>
                  </a:ext>
                </a:extLst>
              </p:cNvPr>
              <p:cNvSpPr/>
              <p:nvPr/>
            </p:nvSpPr>
            <p:spPr>
              <a:xfrm>
                <a:off x="5056632" y="4311584"/>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42" name="TextBox 49">
                <a:extLst>
                  <a:ext uri="{FF2B5EF4-FFF2-40B4-BE49-F238E27FC236}">
                    <a16:creationId xmlns:a16="http://schemas.microsoft.com/office/drawing/2014/main" id="{28F1FAF4-785C-9C1B-F83A-DAD7E0865023}"/>
                  </a:ext>
                </a:extLst>
              </p:cNvPr>
              <p:cNvSpPr txBox="1"/>
              <p:nvPr/>
            </p:nvSpPr>
            <p:spPr>
              <a:xfrm>
                <a:off x="5056632" y="4422620"/>
                <a:ext cx="548640" cy="161583"/>
              </a:xfrm>
              <a:prstGeom prst="rect">
                <a:avLst/>
              </a:prstGeom>
              <a:noFill/>
            </p:spPr>
            <p:txBody>
              <a:bodyPr wrap="square" lIns="0" tIns="0" rIns="0" bIns="0">
                <a:spAutoFit/>
              </a:bodyPr>
              <a:lstStyle/>
              <a:p>
                <a:pPr>
                  <a:lnSpc>
                    <a:spcPct val="100000"/>
                  </a:lnSpc>
                </a:pPr>
                <a:r>
                  <a:rPr sz="1050" b="1">
                    <a:solidFill>
                      <a:srgbClr val="008D2E"/>
                    </a:solidFill>
                    <a:latin typeface="+mn-ea"/>
                  </a:rPr>
                  <a:t>●</a:t>
                </a:r>
              </a:p>
            </p:txBody>
          </p:sp>
        </p:grpSp>
        <p:grpSp>
          <p:nvGrpSpPr>
            <p:cNvPr id="64" name="グループ化 63">
              <a:extLst>
                <a:ext uri="{FF2B5EF4-FFF2-40B4-BE49-F238E27FC236}">
                  <a16:creationId xmlns:a16="http://schemas.microsoft.com/office/drawing/2014/main" id="{A1099A48-F654-069E-7222-A6AAE4FCB296}"/>
                </a:ext>
              </a:extLst>
            </p:cNvPr>
            <p:cNvGrpSpPr/>
            <p:nvPr/>
          </p:nvGrpSpPr>
          <p:grpSpPr>
            <a:xfrm>
              <a:off x="5806440" y="1984664"/>
              <a:ext cx="6035040" cy="4192320"/>
              <a:chOff x="5806440" y="2431380"/>
              <a:chExt cx="6035040" cy="3745604"/>
            </a:xfrm>
          </p:grpSpPr>
          <p:sp>
            <p:nvSpPr>
              <p:cNvPr id="43" name="Rectangle 50">
                <a:extLst>
                  <a:ext uri="{FF2B5EF4-FFF2-40B4-BE49-F238E27FC236}">
                    <a16:creationId xmlns:a16="http://schemas.microsoft.com/office/drawing/2014/main" id="{39C75713-0148-BFC2-1BC1-90459AF59AF2}"/>
                  </a:ext>
                </a:extLst>
              </p:cNvPr>
              <p:cNvSpPr/>
              <p:nvPr/>
            </p:nvSpPr>
            <p:spPr>
              <a:xfrm>
                <a:off x="5806440" y="2431380"/>
                <a:ext cx="6035040" cy="1199185"/>
              </a:xfrm>
              <a:prstGeom prst="rect">
                <a:avLst/>
              </a:prstGeom>
              <a:solidFill>
                <a:srgbClr val="FFFFFF"/>
              </a:solidFill>
              <a:ln w="1524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44" name="Rectangle 51">
                <a:extLst>
                  <a:ext uri="{FF2B5EF4-FFF2-40B4-BE49-F238E27FC236}">
                    <a16:creationId xmlns:a16="http://schemas.microsoft.com/office/drawing/2014/main" id="{F626094D-5DAC-D701-18F3-CE3ABF1750E5}"/>
                  </a:ext>
                </a:extLst>
              </p:cNvPr>
              <p:cNvSpPr/>
              <p:nvPr/>
            </p:nvSpPr>
            <p:spPr>
              <a:xfrm>
                <a:off x="5806440" y="2431380"/>
                <a:ext cx="82296" cy="1199185"/>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45" name="TextBox 52">
                <a:extLst>
                  <a:ext uri="{FF2B5EF4-FFF2-40B4-BE49-F238E27FC236}">
                    <a16:creationId xmlns:a16="http://schemas.microsoft.com/office/drawing/2014/main" id="{10FA65C0-45D2-FEA6-FF42-6C9D09233B85}"/>
                  </a:ext>
                </a:extLst>
              </p:cNvPr>
              <p:cNvSpPr txBox="1"/>
              <p:nvPr/>
            </p:nvSpPr>
            <p:spPr>
              <a:xfrm>
                <a:off x="5989320" y="2475795"/>
                <a:ext cx="5760720" cy="170239"/>
              </a:xfrm>
              <a:prstGeom prst="rect">
                <a:avLst/>
              </a:prstGeom>
              <a:noFill/>
            </p:spPr>
            <p:txBody>
              <a:bodyPr wrap="square" lIns="0" tIns="0" rIns="0" bIns="0">
                <a:spAutoFit/>
              </a:bodyPr>
              <a:lstStyle/>
              <a:p>
                <a:pPr>
                  <a:lnSpc>
                    <a:spcPct val="112000"/>
                  </a:lnSpc>
                </a:pPr>
                <a:r>
                  <a:rPr sz="1100" b="1">
                    <a:solidFill>
                      <a:srgbClr val="C8102E"/>
                    </a:solidFill>
                    <a:latin typeface="Meiryo UI"/>
                    <a:ea typeface="Meiryo UI"/>
                  </a:rPr>
                  <a:t>真因1 「型が定まっていない」 ― 増えた資源が、従来の勝ちパターンで使われている</a:t>
                </a:r>
              </a:p>
            </p:txBody>
          </p:sp>
          <p:sp>
            <p:nvSpPr>
              <p:cNvPr id="46" name="TextBox 53">
                <a:extLst>
                  <a:ext uri="{FF2B5EF4-FFF2-40B4-BE49-F238E27FC236}">
                    <a16:creationId xmlns:a16="http://schemas.microsoft.com/office/drawing/2014/main" id="{A821B364-F112-7D09-82AF-991B03997358}"/>
                  </a:ext>
                </a:extLst>
              </p:cNvPr>
              <p:cNvSpPr txBox="1"/>
              <p:nvPr/>
            </p:nvSpPr>
            <p:spPr>
              <a:xfrm>
                <a:off x="5989320" y="2727475"/>
                <a:ext cx="5760720" cy="660298"/>
              </a:xfrm>
              <a:prstGeom prst="rect">
                <a:avLst/>
              </a:prstGeom>
              <a:noFill/>
            </p:spPr>
            <p:txBody>
              <a:bodyPr wrap="square" lIns="0" tIns="0" rIns="0" bIns="0">
                <a:spAutoFit/>
              </a:bodyPr>
              <a:lstStyle/>
              <a:p>
                <a:pPr>
                  <a:lnSpc>
                    <a:spcPct val="112000"/>
                  </a:lnSpc>
                </a:pPr>
                <a:r>
                  <a:rPr lang="en-US" altLang="ja-JP" sz="1100" b="0" dirty="0">
                    <a:solidFill>
                      <a:srgbClr val="262626"/>
                    </a:solidFill>
                    <a:latin typeface="Meiryo UI"/>
                    <a:ea typeface="Meiryo UI"/>
                  </a:rPr>
                  <a:t>OHC</a:t>
                </a:r>
                <a:r>
                  <a:rPr lang="ja-JP" altLang="en-US" sz="1100" b="0" dirty="0">
                    <a:solidFill>
                      <a:srgbClr val="262626"/>
                    </a:solidFill>
                    <a:latin typeface="Meiryo UI"/>
                    <a:ea typeface="Meiryo UI"/>
                  </a:rPr>
                  <a:t>注力</a:t>
                </a:r>
                <a:r>
                  <a:rPr lang="ja-JP" altLang="en-US" sz="1100" dirty="0">
                    <a:solidFill>
                      <a:srgbClr val="262626"/>
                    </a:solidFill>
                    <a:latin typeface="Meiryo UI"/>
                    <a:ea typeface="Meiryo UI"/>
                  </a:rPr>
                  <a:t>の意思決定</a:t>
                </a:r>
                <a:r>
                  <a:rPr sz="1100" b="0" dirty="0" err="1">
                    <a:solidFill>
                      <a:srgbClr val="262626"/>
                    </a:solidFill>
                    <a:latin typeface="Meiryo UI"/>
                    <a:ea typeface="Meiryo UI"/>
                  </a:rPr>
                  <a:t>も配分の傾斜も</a:t>
                </a:r>
                <a:r>
                  <a:rPr lang="ja-JP" altLang="en-US" sz="1100" b="0" dirty="0">
                    <a:solidFill>
                      <a:srgbClr val="262626"/>
                    </a:solidFill>
                    <a:latin typeface="Meiryo UI"/>
                    <a:ea typeface="Meiryo UI"/>
                  </a:rPr>
                  <a:t>行っている</a:t>
                </a:r>
                <a:r>
                  <a:rPr sz="1100" b="0" dirty="0">
                    <a:solidFill>
                      <a:srgbClr val="262626"/>
                    </a:solidFill>
                    <a:latin typeface="Meiryo UI"/>
                    <a:ea typeface="Meiryo UI"/>
                  </a:rPr>
                  <a:t>。</a:t>
                </a:r>
                <a:r>
                  <a:rPr sz="1100" b="0" dirty="0" err="1">
                    <a:solidFill>
                      <a:srgbClr val="262626"/>
                    </a:solidFill>
                    <a:latin typeface="Meiryo UI"/>
                    <a:ea typeface="Meiryo UI"/>
                  </a:rPr>
                  <a:t>しかし傾斜した宣伝・販促費の「使い方」は従来の勝ちパターン</a:t>
                </a:r>
                <a:r>
                  <a:rPr lang="ja-JP" altLang="en-US" sz="1100" dirty="0">
                    <a:solidFill>
                      <a:srgbClr val="262626"/>
                    </a:solidFill>
                    <a:latin typeface="Meiryo UI"/>
                    <a:ea typeface="Meiryo UI"/>
                  </a:rPr>
                  <a:t>（</a:t>
                </a:r>
                <a:r>
                  <a:rPr sz="1100" b="0" dirty="0" err="1">
                    <a:solidFill>
                      <a:srgbClr val="262626"/>
                    </a:solidFill>
                    <a:latin typeface="Meiryo UI"/>
                    <a:ea typeface="Meiryo UI"/>
                  </a:rPr>
                  <a:t>マス認知×棚×特売・値引き</a:t>
                </a:r>
                <a:r>
                  <a:rPr lang="ja-JP" altLang="en-US" sz="1100" b="0" dirty="0">
                    <a:solidFill>
                      <a:srgbClr val="262626"/>
                    </a:solidFill>
                    <a:latin typeface="Meiryo UI"/>
                    <a:ea typeface="Meiryo UI"/>
                  </a:rPr>
                  <a:t>）</a:t>
                </a:r>
                <a:r>
                  <a:rPr lang="ja-JP" altLang="en-US" sz="1100" dirty="0">
                    <a:solidFill>
                      <a:srgbClr val="262626"/>
                    </a:solidFill>
                    <a:latin typeface="Meiryo UI"/>
                    <a:ea typeface="Meiryo UI"/>
                  </a:rPr>
                  <a:t>が多く</a:t>
                </a:r>
                <a:r>
                  <a:rPr sz="1100" b="0" dirty="0" err="1">
                    <a:solidFill>
                      <a:srgbClr val="262626"/>
                    </a:solidFill>
                    <a:latin typeface="Meiryo UI"/>
                    <a:ea typeface="Meiryo UI"/>
                  </a:rPr>
                  <a:t>AI・データ時代の新しい勝ち方（エビデンス商談・Total</a:t>
                </a:r>
                <a:r>
                  <a:rPr sz="1100" b="0" dirty="0">
                    <a:solidFill>
                      <a:srgbClr val="262626"/>
                    </a:solidFill>
                    <a:latin typeface="Meiryo UI"/>
                    <a:ea typeface="Meiryo UI"/>
                  </a:rPr>
                  <a:t> Availability・B2B2C・AI推奨対応）が「型」として設計・言語化されていないため、資源は新しい土俵に、</a:t>
                </a:r>
                <a:r>
                  <a:rPr lang="ja-JP" altLang="en-US" sz="1100" dirty="0">
                    <a:solidFill>
                      <a:srgbClr val="262626"/>
                    </a:solidFill>
                    <a:latin typeface="Meiryo UI"/>
                    <a:ea typeface="Meiryo UI"/>
                  </a:rPr>
                  <a:t>戦術</a:t>
                </a:r>
                <a:r>
                  <a:rPr sz="1100" b="0" dirty="0" err="1">
                    <a:solidFill>
                      <a:srgbClr val="262626"/>
                    </a:solidFill>
                    <a:latin typeface="Meiryo UI"/>
                    <a:ea typeface="Meiryo UI"/>
                  </a:rPr>
                  <a:t>は古いままで流れ込</a:t>
                </a:r>
                <a:r>
                  <a:rPr lang="ja-JP" altLang="en-US" sz="1100" b="0" dirty="0">
                    <a:solidFill>
                      <a:srgbClr val="262626"/>
                    </a:solidFill>
                    <a:latin typeface="Meiryo UI"/>
                    <a:ea typeface="Meiryo UI"/>
                  </a:rPr>
                  <a:t>んでいる</a:t>
                </a:r>
                <a:r>
                  <a:rPr sz="1100" b="0" dirty="0">
                    <a:solidFill>
                      <a:srgbClr val="262626"/>
                    </a:solidFill>
                    <a:latin typeface="Meiryo UI"/>
                    <a:ea typeface="Meiryo UI"/>
                  </a:rPr>
                  <a:t>。</a:t>
                </a:r>
                <a:endParaRPr lang="en-US" sz="1100" b="0" dirty="0">
                  <a:solidFill>
                    <a:srgbClr val="262626"/>
                  </a:solidFill>
                  <a:latin typeface="Meiryo UI"/>
                  <a:ea typeface="Meiryo UI"/>
                </a:endParaRPr>
              </a:p>
            </p:txBody>
          </p:sp>
          <p:sp>
            <p:nvSpPr>
              <p:cNvPr id="48" name="Rectangle 55">
                <a:extLst>
                  <a:ext uri="{FF2B5EF4-FFF2-40B4-BE49-F238E27FC236}">
                    <a16:creationId xmlns:a16="http://schemas.microsoft.com/office/drawing/2014/main" id="{AACD7959-7FD2-272D-92EA-BA1DC4477E7B}"/>
                  </a:ext>
                </a:extLst>
              </p:cNvPr>
              <p:cNvSpPr/>
              <p:nvPr/>
            </p:nvSpPr>
            <p:spPr>
              <a:xfrm>
                <a:off x="5806440" y="3704589"/>
                <a:ext cx="6035040" cy="1199185"/>
              </a:xfrm>
              <a:prstGeom prst="rect">
                <a:avLst/>
              </a:prstGeom>
              <a:solidFill>
                <a:srgbClr val="FFFFFF"/>
              </a:solidFill>
              <a:ln w="1524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49" name="Rectangle 56">
                <a:extLst>
                  <a:ext uri="{FF2B5EF4-FFF2-40B4-BE49-F238E27FC236}">
                    <a16:creationId xmlns:a16="http://schemas.microsoft.com/office/drawing/2014/main" id="{74F20488-35D8-4788-9E25-73B8E73FE8B6}"/>
                  </a:ext>
                </a:extLst>
              </p:cNvPr>
              <p:cNvSpPr/>
              <p:nvPr/>
            </p:nvSpPr>
            <p:spPr>
              <a:xfrm>
                <a:off x="5806440" y="3704589"/>
                <a:ext cx="82296" cy="1199185"/>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50" name="TextBox 57">
                <a:extLst>
                  <a:ext uri="{FF2B5EF4-FFF2-40B4-BE49-F238E27FC236}">
                    <a16:creationId xmlns:a16="http://schemas.microsoft.com/office/drawing/2014/main" id="{0CDCEF05-A6A6-59F8-6AA6-8AB72F021D27}"/>
                  </a:ext>
                </a:extLst>
              </p:cNvPr>
              <p:cNvSpPr txBox="1"/>
              <p:nvPr/>
            </p:nvSpPr>
            <p:spPr>
              <a:xfrm>
                <a:off x="5989320" y="3749004"/>
                <a:ext cx="5760720" cy="170239"/>
              </a:xfrm>
              <a:prstGeom prst="rect">
                <a:avLst/>
              </a:prstGeom>
              <a:noFill/>
            </p:spPr>
            <p:txBody>
              <a:bodyPr wrap="square" lIns="0" tIns="0" rIns="0" bIns="0">
                <a:spAutoFit/>
              </a:bodyPr>
              <a:lstStyle/>
              <a:p>
                <a:pPr>
                  <a:lnSpc>
                    <a:spcPct val="112000"/>
                  </a:lnSpc>
                </a:pPr>
                <a:r>
                  <a:rPr sz="1100" b="1">
                    <a:solidFill>
                      <a:srgbClr val="0F5E87"/>
                    </a:solidFill>
                    <a:latin typeface="Meiryo UI"/>
                    <a:ea typeface="Meiryo UI"/>
                  </a:rPr>
                  <a:t>真因2 「持っていない」 ― 選ばれるための武器が、現場に供給されていない</a:t>
                </a:r>
              </a:p>
            </p:txBody>
          </p:sp>
          <p:sp>
            <p:nvSpPr>
              <p:cNvPr id="51" name="TextBox 58">
                <a:extLst>
                  <a:ext uri="{FF2B5EF4-FFF2-40B4-BE49-F238E27FC236}">
                    <a16:creationId xmlns:a16="http://schemas.microsoft.com/office/drawing/2014/main" id="{504E30C7-E106-5A54-0600-E047569F5A6C}"/>
                  </a:ext>
                </a:extLst>
              </p:cNvPr>
              <p:cNvSpPr txBox="1"/>
              <p:nvPr/>
            </p:nvSpPr>
            <p:spPr>
              <a:xfrm>
                <a:off x="5989320" y="4000685"/>
                <a:ext cx="5760720" cy="352252"/>
              </a:xfrm>
              <a:prstGeom prst="rect">
                <a:avLst/>
              </a:prstGeom>
              <a:noFill/>
            </p:spPr>
            <p:txBody>
              <a:bodyPr wrap="square" lIns="0" tIns="0" rIns="0" bIns="0">
                <a:spAutoFit/>
              </a:bodyPr>
              <a:lstStyle/>
              <a:p>
                <a:pPr>
                  <a:lnSpc>
                    <a:spcPct val="112000"/>
                  </a:lnSpc>
                </a:pPr>
                <a:r>
                  <a:rPr sz="1100" b="0" dirty="0" err="1">
                    <a:solidFill>
                      <a:srgbClr val="262626"/>
                    </a:solidFill>
                    <a:latin typeface="Meiryo UI"/>
                    <a:ea typeface="Meiryo UI"/>
                  </a:rPr>
                  <a:t>バイヤーが要求する「売れる根拠</a:t>
                </a:r>
                <a:r>
                  <a:rPr sz="1100" b="0" dirty="0">
                    <a:solidFill>
                      <a:srgbClr val="262626"/>
                    </a:solidFill>
                    <a:latin typeface="Meiryo UI"/>
                    <a:ea typeface="Meiryo UI"/>
                  </a:rPr>
                  <a:t>」（</a:t>
                </a:r>
                <a:r>
                  <a:rPr sz="1100" b="0" dirty="0" err="1">
                    <a:solidFill>
                      <a:srgbClr val="262626"/>
                    </a:solidFill>
                    <a:latin typeface="Meiryo UI"/>
                    <a:ea typeface="Meiryo UI"/>
                  </a:rPr>
                  <a:t>LTV予測・炭素効率）も、AIが要求する「読める情報</a:t>
                </a:r>
                <a:r>
                  <a:rPr sz="1100" b="0" dirty="0">
                    <a:solidFill>
                      <a:srgbClr val="262626"/>
                    </a:solidFill>
                    <a:latin typeface="Meiryo UI"/>
                    <a:ea typeface="Meiryo UI"/>
                  </a:rPr>
                  <a:t>」（</a:t>
                </a:r>
                <a:r>
                  <a:rPr sz="1100" b="0" dirty="0" err="1">
                    <a:solidFill>
                      <a:srgbClr val="262626"/>
                    </a:solidFill>
                    <a:latin typeface="Meiryo UI"/>
                    <a:ea typeface="Meiryo UI"/>
                  </a:rPr>
                  <a:t>属性データ・エビデンス</a:t>
                </a:r>
                <a:r>
                  <a:rPr sz="1100" b="0" dirty="0">
                    <a:solidFill>
                      <a:srgbClr val="262626"/>
                    </a:solidFill>
                    <a:latin typeface="Meiryo UI"/>
                    <a:ea typeface="Meiryo UI"/>
                  </a:rPr>
                  <a:t>）</a:t>
                </a:r>
                <a:r>
                  <a:rPr lang="ja-JP" altLang="en-US" sz="1100" dirty="0">
                    <a:solidFill>
                      <a:srgbClr val="262626"/>
                    </a:solidFill>
                    <a:latin typeface="Meiryo UI"/>
                    <a:ea typeface="Meiryo UI"/>
                  </a:rPr>
                  <a:t>の進捗は不十分。</a:t>
                </a:r>
                <a:r>
                  <a:rPr sz="1100" b="0" dirty="0" err="1">
                    <a:solidFill>
                      <a:srgbClr val="262626"/>
                    </a:solidFill>
                    <a:latin typeface="Meiryo UI"/>
                    <a:ea typeface="Meiryo UI"/>
                  </a:rPr>
                  <a:t>営業が値引きに頼</a:t>
                </a:r>
                <a:r>
                  <a:rPr lang="ja-JP" altLang="en-US" sz="1100" b="0" dirty="0">
                    <a:solidFill>
                      <a:srgbClr val="262626"/>
                    </a:solidFill>
                    <a:latin typeface="Meiryo UI"/>
                    <a:ea typeface="Meiryo UI"/>
                  </a:rPr>
                  <a:t>らざる負えない（</a:t>
                </a:r>
                <a:r>
                  <a:rPr sz="1100" b="0" dirty="0" err="1">
                    <a:solidFill>
                      <a:srgbClr val="262626"/>
                    </a:solidFill>
                    <a:latin typeface="Meiryo UI"/>
                    <a:ea typeface="Meiryo UI"/>
                  </a:rPr>
                  <a:t>他に出せる球がない</a:t>
                </a:r>
                <a:r>
                  <a:rPr lang="ja-JP" altLang="en-US" sz="1100" dirty="0">
                    <a:solidFill>
                      <a:srgbClr val="262626"/>
                    </a:solidFill>
                    <a:latin typeface="Meiryo UI"/>
                    <a:ea typeface="Meiryo UI"/>
                  </a:rPr>
                  <a:t>）</a:t>
                </a:r>
                <a:endParaRPr sz="1100" b="0" dirty="0">
                  <a:solidFill>
                    <a:srgbClr val="262626"/>
                  </a:solidFill>
                  <a:latin typeface="Meiryo UI"/>
                  <a:ea typeface="Meiryo UI"/>
                </a:endParaRPr>
              </a:p>
            </p:txBody>
          </p:sp>
          <p:sp>
            <p:nvSpPr>
              <p:cNvPr id="53" name="Rectangle 60">
                <a:extLst>
                  <a:ext uri="{FF2B5EF4-FFF2-40B4-BE49-F238E27FC236}">
                    <a16:creationId xmlns:a16="http://schemas.microsoft.com/office/drawing/2014/main" id="{A17BEDB9-6477-949C-1EC3-321ABF3D541D}"/>
                  </a:ext>
                </a:extLst>
              </p:cNvPr>
              <p:cNvSpPr/>
              <p:nvPr/>
            </p:nvSpPr>
            <p:spPr>
              <a:xfrm>
                <a:off x="5806440" y="4977799"/>
                <a:ext cx="6035040" cy="1199185"/>
              </a:xfrm>
              <a:prstGeom prst="rect">
                <a:avLst/>
              </a:prstGeom>
              <a:solidFill>
                <a:srgbClr val="FFFFFF"/>
              </a:solidFill>
              <a:ln w="1524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54" name="Rectangle 61">
                <a:extLst>
                  <a:ext uri="{FF2B5EF4-FFF2-40B4-BE49-F238E27FC236}">
                    <a16:creationId xmlns:a16="http://schemas.microsoft.com/office/drawing/2014/main" id="{34F6BA35-317D-DFAF-5BD8-EB18EE8319B1}"/>
                  </a:ext>
                </a:extLst>
              </p:cNvPr>
              <p:cNvSpPr/>
              <p:nvPr/>
            </p:nvSpPr>
            <p:spPr>
              <a:xfrm>
                <a:off x="5806440" y="4977799"/>
                <a:ext cx="82296" cy="1199185"/>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55" name="TextBox 62">
                <a:extLst>
                  <a:ext uri="{FF2B5EF4-FFF2-40B4-BE49-F238E27FC236}">
                    <a16:creationId xmlns:a16="http://schemas.microsoft.com/office/drawing/2014/main" id="{24370BB6-C991-0CCC-5650-A65E634A135B}"/>
                  </a:ext>
                </a:extLst>
              </p:cNvPr>
              <p:cNvSpPr txBox="1"/>
              <p:nvPr/>
            </p:nvSpPr>
            <p:spPr>
              <a:xfrm>
                <a:off x="5989320" y="5022213"/>
                <a:ext cx="5760720" cy="170239"/>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真因3 「回っていない」 ― 作る→試す→検証する→広げる、の回路がない</a:t>
                </a:r>
              </a:p>
            </p:txBody>
          </p:sp>
          <p:sp>
            <p:nvSpPr>
              <p:cNvPr id="56" name="TextBox 63">
                <a:extLst>
                  <a:ext uri="{FF2B5EF4-FFF2-40B4-BE49-F238E27FC236}">
                    <a16:creationId xmlns:a16="http://schemas.microsoft.com/office/drawing/2014/main" id="{523EEEAC-7D1B-7499-3371-774A923D259E}"/>
                  </a:ext>
                </a:extLst>
              </p:cNvPr>
              <p:cNvSpPr txBox="1"/>
              <p:nvPr/>
            </p:nvSpPr>
            <p:spPr>
              <a:xfrm>
                <a:off x="5989320" y="5273894"/>
                <a:ext cx="5760720" cy="359842"/>
              </a:xfrm>
              <a:prstGeom prst="rect">
                <a:avLst/>
              </a:prstGeom>
              <a:noFill/>
            </p:spPr>
            <p:txBody>
              <a:bodyPr wrap="square" lIns="0" tIns="0" rIns="0" bIns="0">
                <a:spAutoFit/>
              </a:bodyPr>
              <a:lstStyle/>
              <a:p>
                <a:pPr>
                  <a:lnSpc>
                    <a:spcPct val="112000"/>
                  </a:lnSpc>
                </a:pPr>
                <a:r>
                  <a:rPr sz="1100" b="0" dirty="0">
                    <a:solidFill>
                      <a:srgbClr val="262626"/>
                    </a:solidFill>
                    <a:latin typeface="Meiryo UI"/>
                    <a:ea typeface="Meiryo UI"/>
                  </a:rPr>
                  <a:t>武器を作る時間は事務に食われ、試した施策は検証されず、成功しても隣に広がらない。単独営業の編成では、物流・環境・データを束ねた総力戦もできない。</a:t>
                </a:r>
              </a:p>
            </p:txBody>
          </p:sp>
        </p:grpSp>
        <p:sp>
          <p:nvSpPr>
            <p:cNvPr id="61" name="正方形/長方形 60">
              <a:extLst>
                <a:ext uri="{FF2B5EF4-FFF2-40B4-BE49-F238E27FC236}">
                  <a16:creationId xmlns:a16="http://schemas.microsoft.com/office/drawing/2014/main" id="{29EB0BDB-9EE0-B183-D647-34218ACAC3C0}"/>
                </a:ext>
              </a:extLst>
            </p:cNvPr>
            <p:cNvSpPr/>
            <p:nvPr/>
          </p:nvSpPr>
          <p:spPr>
            <a:xfrm>
              <a:off x="3096491" y="1984664"/>
              <a:ext cx="488373" cy="33619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100" dirty="0">
                  <a:solidFill>
                    <a:schemeClr val="tx1"/>
                  </a:solidFill>
                  <a:latin typeface="Meiryo UI" panose="020B0604030504040204" pitchFamily="50" charset="-128"/>
                  <a:ea typeface="Meiryo UI" panose="020B0604030504040204" pitchFamily="50" charset="-128"/>
                </a:rPr>
                <a:t>凡例</a:t>
              </a:r>
            </a:p>
          </p:txBody>
        </p:sp>
        <p:sp>
          <p:nvSpPr>
            <p:cNvPr id="62" name="正方形/長方形 61">
              <a:extLst>
                <a:ext uri="{FF2B5EF4-FFF2-40B4-BE49-F238E27FC236}">
                  <a16:creationId xmlns:a16="http://schemas.microsoft.com/office/drawing/2014/main" id="{E1570E7A-2483-3BEF-5E98-484FDAAA0ECB}"/>
                </a:ext>
              </a:extLst>
            </p:cNvPr>
            <p:cNvSpPr/>
            <p:nvPr/>
          </p:nvSpPr>
          <p:spPr>
            <a:xfrm>
              <a:off x="3034145" y="1963882"/>
              <a:ext cx="2643864" cy="365290"/>
            </a:xfrm>
            <a:prstGeom prst="rect">
              <a:avLst/>
            </a:prstGeom>
            <a:no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eiryo UI" panose="020B0604030504040204" pitchFamily="50" charset="-128"/>
                <a:ea typeface="Meiryo UI" panose="020B0604030504040204" pitchFamily="50" charset="-128"/>
              </a:endParaRPr>
            </a:p>
          </p:txBody>
        </p:sp>
      </p:grpSp>
      <p:sp>
        <p:nvSpPr>
          <p:cNvPr id="85" name="正方形/長方形 84">
            <a:extLst>
              <a:ext uri="{FF2B5EF4-FFF2-40B4-BE49-F238E27FC236}">
                <a16:creationId xmlns:a16="http://schemas.microsoft.com/office/drawing/2014/main" id="{9F28CED1-B943-01AA-491E-3AB0E6106742}"/>
              </a:ext>
            </a:extLst>
          </p:cNvPr>
          <p:cNvSpPr/>
          <p:nvPr/>
        </p:nvSpPr>
        <p:spPr>
          <a:xfrm>
            <a:off x="6170537" y="177730"/>
            <a:ext cx="4012554" cy="573789"/>
          </a:xfrm>
          <a:prstGeom prst="rect">
            <a:avLst/>
          </a:prstGeom>
          <a:solidFill>
            <a:schemeClr val="accent6">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en-US" sz="1100" dirty="0">
                <a:solidFill>
                  <a:schemeClr val="tx1"/>
                </a:solidFill>
                <a:latin typeface="Meiryo UI" panose="020B0604030504040204" pitchFamily="50" charset="-128"/>
                <a:ea typeface="Meiryo UI" panose="020B0604030504040204" pitchFamily="50" charset="-128"/>
              </a:rPr>
              <a:t>ギャップと真因は矢印で繋いだ方が</a:t>
            </a:r>
            <a:r>
              <a:rPr kumimoji="1" lang="ja-JP" altLang="en-US" sz="1100" dirty="0">
                <a:solidFill>
                  <a:schemeClr val="tx1"/>
                </a:solidFill>
                <a:latin typeface="Meiryo UI" panose="020B0604030504040204" pitchFamily="50" charset="-128"/>
                <a:ea typeface="Meiryo UI" panose="020B0604030504040204" pitchFamily="50" charset="-128"/>
              </a:rPr>
              <a:t>つながりがわかりやすい。</a:t>
            </a:r>
            <a:r>
              <a:rPr lang="ja-JP" altLang="en-US" sz="1100" dirty="0">
                <a:solidFill>
                  <a:schemeClr val="tx1"/>
                </a:solidFill>
                <a:latin typeface="Meiryo UI" panose="020B0604030504040204" pitchFamily="50" charset="-128"/>
                <a:ea typeface="Meiryo UI" panose="020B0604030504040204" pitchFamily="50" charset="-128"/>
              </a:rPr>
              <a:t>左右共にレイアウト・ビジュアル化は工夫ください</a:t>
            </a:r>
            <a:endParaRPr kumimoji="1" lang="ja-JP" altLang="en-US" sz="1100" dirty="0">
              <a:solidFill>
                <a:schemeClr val="tx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8024620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86586EF-CCEB-BE92-6D31-768A9EAF5DDD}"/>
              </a:ext>
            </a:extLst>
          </p:cNvPr>
          <p:cNvSpPr>
            <a:spLocks noGrp="1"/>
          </p:cNvSpPr>
          <p:nvPr>
            <p:ph type="title"/>
          </p:nvPr>
        </p:nvSpPr>
        <p:spPr/>
        <p:txBody>
          <a:bodyPr/>
          <a:lstStyle/>
          <a:p>
            <a:r>
              <a:rPr lang="ja-JP" altLang="en-US" dirty="0"/>
              <a:t>真因と解決策 </a:t>
            </a:r>
            <a:r>
              <a:rPr lang="en-US" altLang="ja-JP" dirty="0"/>
              <a:t>―</a:t>
            </a:r>
            <a:r>
              <a:rPr lang="ja-JP" altLang="en-US" dirty="0"/>
              <a:t>「型を定める・武器を持つ・回路を回す」に</a:t>
            </a:r>
            <a:r>
              <a:rPr lang="en-US" altLang="ja-JP" dirty="0"/>
              <a:t>1</a:t>
            </a:r>
            <a:r>
              <a:rPr lang="ja-JP" altLang="en-US" dirty="0"/>
              <a:t>対</a:t>
            </a:r>
            <a:r>
              <a:rPr lang="en-US" altLang="ja-JP" dirty="0"/>
              <a:t>1</a:t>
            </a:r>
            <a:r>
              <a:rPr lang="ja-JP" altLang="en-US" dirty="0"/>
              <a:t>で答える</a:t>
            </a:r>
            <a:endParaRPr kumimoji="1" lang="ja-JP" altLang="en-US" dirty="0"/>
          </a:p>
        </p:txBody>
      </p:sp>
      <p:sp>
        <p:nvSpPr>
          <p:cNvPr id="3" name="テキスト プレースホルダー 2">
            <a:extLst>
              <a:ext uri="{FF2B5EF4-FFF2-40B4-BE49-F238E27FC236}">
                <a16:creationId xmlns:a16="http://schemas.microsoft.com/office/drawing/2014/main" id="{9B316ECC-1821-DB0B-6CAA-67A0A5F7E7AB}"/>
              </a:ext>
            </a:extLst>
          </p:cNvPr>
          <p:cNvSpPr>
            <a:spLocks noGrp="1"/>
          </p:cNvSpPr>
          <p:nvPr>
            <p:ph type="body" sz="quarter" idx="13"/>
          </p:nvPr>
        </p:nvSpPr>
        <p:spPr/>
        <p:txBody>
          <a:bodyPr/>
          <a:lstStyle/>
          <a:p>
            <a:r>
              <a:rPr lang="ja-JP" altLang="en-US" b="1" dirty="0">
                <a:solidFill>
                  <a:srgbClr val="262626"/>
                </a:solidFill>
                <a:latin typeface="Meiryo UI"/>
                <a:ea typeface="Meiryo UI"/>
              </a:rPr>
              <a:t>解決策は真因の裏返しでなければ効かない。型（新しい勝ち方の設計）→ 武器（道具の供給）→ 回路（実行の仕組み）の</a:t>
            </a:r>
            <a:r>
              <a:rPr lang="en-US" altLang="ja-JP" b="1" dirty="0">
                <a:solidFill>
                  <a:srgbClr val="262626"/>
                </a:solidFill>
                <a:latin typeface="Meiryo UI"/>
                <a:ea typeface="Meiryo UI"/>
              </a:rPr>
              <a:t>3</a:t>
            </a:r>
            <a:r>
              <a:rPr lang="ja-JP" altLang="en-US" b="1" dirty="0">
                <a:solidFill>
                  <a:srgbClr val="262626"/>
                </a:solidFill>
                <a:latin typeface="Meiryo UI"/>
                <a:ea typeface="Meiryo UI"/>
              </a:rPr>
              <a:t>点セットで、以降のページすべてがこのどれかに属する</a:t>
            </a:r>
          </a:p>
          <a:p>
            <a:endParaRPr kumimoji="1" lang="ja-JP" altLang="en-US" dirty="0"/>
          </a:p>
        </p:txBody>
      </p:sp>
      <p:grpSp>
        <p:nvGrpSpPr>
          <p:cNvPr id="4" name="グループ化 3">
            <a:extLst>
              <a:ext uri="{FF2B5EF4-FFF2-40B4-BE49-F238E27FC236}">
                <a16:creationId xmlns:a16="http://schemas.microsoft.com/office/drawing/2014/main" id="{5AD27C26-7B26-54C0-8952-73581EFC430D}"/>
              </a:ext>
            </a:extLst>
          </p:cNvPr>
          <p:cNvGrpSpPr/>
          <p:nvPr/>
        </p:nvGrpSpPr>
        <p:grpSpPr>
          <a:xfrm>
            <a:off x="320040" y="1628774"/>
            <a:ext cx="11521440" cy="4323969"/>
            <a:chOff x="320040" y="1463040"/>
            <a:chExt cx="11521440" cy="4489704"/>
          </a:xfrm>
        </p:grpSpPr>
        <p:sp>
          <p:nvSpPr>
            <p:cNvPr id="14" name="Rectangle 13"/>
            <p:cNvSpPr/>
            <p:nvPr/>
          </p:nvSpPr>
          <p:spPr>
            <a:xfrm>
              <a:off x="320040" y="1463040"/>
              <a:ext cx="1371600" cy="14173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11480" y="1865376"/>
              <a:ext cx="1207008" cy="640080"/>
            </a:xfrm>
            <a:prstGeom prst="rect">
              <a:avLst/>
            </a:prstGeom>
            <a:noFill/>
          </p:spPr>
          <p:txBody>
            <a:bodyPr wrap="square" lIns="0" tIns="0" rIns="0" bIns="0">
              <a:spAutoFit/>
            </a:bodyPr>
            <a:lstStyle/>
            <a:p>
              <a:pPr>
                <a:lnSpc>
                  <a:spcPct val="110000"/>
                </a:lnSpc>
              </a:pPr>
              <a:r>
                <a:rPr sz="950" b="1">
                  <a:solidFill>
                    <a:srgbClr val="FFFFFF"/>
                  </a:solidFill>
                  <a:latin typeface="Meiryo UI"/>
                  <a:ea typeface="Meiryo UI"/>
                </a:rPr>
                <a:t>真因1
型がない</a:t>
              </a:r>
            </a:p>
          </p:txBody>
        </p:sp>
        <p:sp>
          <p:nvSpPr>
            <p:cNvPr id="16" name="TextBox 15"/>
            <p:cNvSpPr txBox="1"/>
            <p:nvPr/>
          </p:nvSpPr>
          <p:spPr>
            <a:xfrm>
              <a:off x="1764792" y="2029968"/>
              <a:ext cx="274320" cy="274320"/>
            </a:xfrm>
            <a:prstGeom prst="rect">
              <a:avLst/>
            </a:prstGeom>
            <a:noFill/>
          </p:spPr>
          <p:txBody>
            <a:bodyPr wrap="square" lIns="0" tIns="0" rIns="0" bIns="0">
              <a:spAutoFit/>
            </a:bodyPr>
            <a:lstStyle/>
            <a:p>
              <a:pPr>
                <a:lnSpc>
                  <a:spcPct val="112000"/>
                </a:lnSpc>
              </a:pPr>
              <a:r>
                <a:rPr sz="1200" b="1">
                  <a:solidFill>
                    <a:srgbClr val="595959"/>
                  </a:solidFill>
                  <a:latin typeface="Meiryo UI"/>
                  <a:ea typeface="Meiryo UI"/>
                </a:rPr>
                <a:t>→</a:t>
              </a:r>
            </a:p>
          </p:txBody>
        </p:sp>
        <p:sp>
          <p:nvSpPr>
            <p:cNvPr id="17" name="Rectangle 16"/>
            <p:cNvSpPr/>
            <p:nvPr/>
          </p:nvSpPr>
          <p:spPr>
            <a:xfrm>
              <a:off x="2057400" y="1463040"/>
              <a:ext cx="6949440" cy="1417320"/>
            </a:xfrm>
            <a:prstGeom prst="rect">
              <a:avLst/>
            </a:prstGeom>
            <a:solidFill>
              <a:srgbClr val="FFFFFF"/>
            </a:solidFill>
            <a:ln w="1397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194560" y="1527048"/>
              <a:ext cx="6675120" cy="292608"/>
            </a:xfrm>
            <a:prstGeom prst="rect">
              <a:avLst/>
            </a:prstGeom>
            <a:noFill/>
          </p:spPr>
          <p:txBody>
            <a:bodyPr wrap="square" lIns="0" tIns="0" rIns="0" bIns="0">
              <a:spAutoFit/>
            </a:bodyPr>
            <a:lstStyle/>
            <a:p>
              <a:pPr>
                <a:lnSpc>
                  <a:spcPct val="112000"/>
                </a:lnSpc>
              </a:pPr>
              <a:r>
                <a:rPr sz="980" b="1">
                  <a:solidFill>
                    <a:srgbClr val="C8102E"/>
                  </a:solidFill>
                  <a:latin typeface="Meiryo UI"/>
                  <a:ea typeface="Meiryo UI"/>
                </a:rPr>
                <a:t>解決1 「型を定める」 ― 傾斜した資源の、新しい使い方を設計する</a:t>
              </a:r>
            </a:p>
          </p:txBody>
        </p:sp>
        <p:sp>
          <p:nvSpPr>
            <p:cNvPr id="19" name="TextBox 18"/>
            <p:cNvSpPr txBox="1"/>
            <p:nvPr/>
          </p:nvSpPr>
          <p:spPr>
            <a:xfrm>
              <a:off x="2194560" y="1865376"/>
              <a:ext cx="6675120" cy="960120"/>
            </a:xfrm>
            <a:prstGeom prst="rect">
              <a:avLst/>
            </a:prstGeom>
            <a:noFill/>
          </p:spPr>
          <p:txBody>
            <a:bodyPr wrap="square" lIns="0" tIns="0" rIns="0" bIns="0">
              <a:spAutoFit/>
            </a:bodyPr>
            <a:lstStyle/>
            <a:p>
              <a:pPr>
                <a:lnSpc>
                  <a:spcPct val="116000"/>
                </a:lnSpc>
              </a:pPr>
              <a:r>
                <a:rPr sz="819" b="0">
                  <a:solidFill>
                    <a:srgbClr val="262626"/>
                  </a:solidFill>
                  <a:latin typeface="Meiryo UI"/>
                  <a:ea typeface="Meiryo UI"/>
                </a:rPr>
                <a:t>①市場の型：オーラルケアを4分割（補充・悩み・予防・口腔機能）し、分割別に勝ち方とKPIを定義（施策①）　②接点の型：マス×特売中心から、エビデンス商談・診断型売場・B2B2C・AI推奨対応へ販促の中身を組み替え　③商談の型：「値引き70＋施策30＋成果連動」を標準パッケージに ― いずれも追加予算でなく、傾斜済み資源の使い方の再設計</a:t>
              </a:r>
            </a:p>
          </p:txBody>
        </p:sp>
        <p:sp>
          <p:nvSpPr>
            <p:cNvPr id="20" name="Rectangle 19"/>
            <p:cNvSpPr/>
            <p:nvPr/>
          </p:nvSpPr>
          <p:spPr>
            <a:xfrm>
              <a:off x="9098280" y="1463040"/>
              <a:ext cx="2743200" cy="141732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217152" y="1554480"/>
              <a:ext cx="2523744" cy="1261872"/>
            </a:xfrm>
            <a:prstGeom prst="rect">
              <a:avLst/>
            </a:prstGeom>
            <a:noFill/>
          </p:spPr>
          <p:txBody>
            <a:bodyPr wrap="square" lIns="0" tIns="0" rIns="0" bIns="0">
              <a:spAutoFit/>
            </a:bodyPr>
            <a:lstStyle/>
            <a:p>
              <a:pPr>
                <a:lnSpc>
                  <a:spcPct val="115000"/>
                </a:lnSpc>
              </a:pPr>
              <a:r>
                <a:rPr sz="760" b="1">
                  <a:solidFill>
                    <a:srgbClr val="595959"/>
                  </a:solidFill>
                  <a:latin typeface="Meiryo UI"/>
                  <a:ea typeface="Meiryo UI"/>
                </a:rPr>
                <a:t>どこで具体化するか
</a:t>
              </a:r>
              <a:r>
                <a:rPr sz="780" b="1">
                  <a:solidFill>
                    <a:srgbClr val="262626"/>
                  </a:solidFill>
                  <a:latin typeface="Meiryo UI"/>
                  <a:ea typeface="Meiryo UI"/>
                </a:rPr>
                <a:t>→ 4つの変革テーマの背景（P.5）・施策①
→ 次回デジタル戦略会議の決定事項（P.15）</a:t>
              </a:r>
            </a:p>
          </p:txBody>
        </p:sp>
        <p:sp>
          <p:nvSpPr>
            <p:cNvPr id="22" name="Rectangle 21"/>
            <p:cNvSpPr/>
            <p:nvPr/>
          </p:nvSpPr>
          <p:spPr>
            <a:xfrm>
              <a:off x="320040" y="2999232"/>
              <a:ext cx="1371600" cy="1417320"/>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11480" y="3401568"/>
              <a:ext cx="1207008" cy="640080"/>
            </a:xfrm>
            <a:prstGeom prst="rect">
              <a:avLst/>
            </a:prstGeom>
            <a:noFill/>
          </p:spPr>
          <p:txBody>
            <a:bodyPr wrap="square" lIns="0" tIns="0" rIns="0" bIns="0">
              <a:spAutoFit/>
            </a:bodyPr>
            <a:lstStyle/>
            <a:p>
              <a:pPr>
                <a:lnSpc>
                  <a:spcPct val="110000"/>
                </a:lnSpc>
              </a:pPr>
              <a:r>
                <a:rPr sz="950" b="1">
                  <a:solidFill>
                    <a:srgbClr val="FFFFFF"/>
                  </a:solidFill>
                  <a:latin typeface="Meiryo UI"/>
                  <a:ea typeface="Meiryo UI"/>
                </a:rPr>
                <a:t>真因2
持っていない</a:t>
              </a:r>
            </a:p>
          </p:txBody>
        </p:sp>
        <p:sp>
          <p:nvSpPr>
            <p:cNvPr id="24" name="TextBox 23"/>
            <p:cNvSpPr txBox="1"/>
            <p:nvPr/>
          </p:nvSpPr>
          <p:spPr>
            <a:xfrm>
              <a:off x="1764792" y="3566160"/>
              <a:ext cx="274320" cy="274320"/>
            </a:xfrm>
            <a:prstGeom prst="rect">
              <a:avLst/>
            </a:prstGeom>
            <a:noFill/>
          </p:spPr>
          <p:txBody>
            <a:bodyPr wrap="square" lIns="0" tIns="0" rIns="0" bIns="0">
              <a:spAutoFit/>
            </a:bodyPr>
            <a:lstStyle/>
            <a:p>
              <a:pPr>
                <a:lnSpc>
                  <a:spcPct val="112000"/>
                </a:lnSpc>
              </a:pPr>
              <a:r>
                <a:rPr sz="1200" b="1">
                  <a:solidFill>
                    <a:srgbClr val="595959"/>
                  </a:solidFill>
                  <a:latin typeface="Meiryo UI"/>
                  <a:ea typeface="Meiryo UI"/>
                </a:rPr>
                <a:t>→</a:t>
              </a:r>
            </a:p>
          </p:txBody>
        </p:sp>
        <p:sp>
          <p:nvSpPr>
            <p:cNvPr id="25" name="Rectangle 24"/>
            <p:cNvSpPr/>
            <p:nvPr/>
          </p:nvSpPr>
          <p:spPr>
            <a:xfrm>
              <a:off x="2057400" y="2999232"/>
              <a:ext cx="6949440" cy="1417320"/>
            </a:xfrm>
            <a:prstGeom prst="rect">
              <a:avLst/>
            </a:prstGeom>
            <a:solidFill>
              <a:srgbClr val="FFFFFF"/>
            </a:solidFill>
            <a:ln w="1397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2194560" y="3063240"/>
              <a:ext cx="6675120" cy="292608"/>
            </a:xfrm>
            <a:prstGeom prst="rect">
              <a:avLst/>
            </a:prstGeom>
            <a:noFill/>
          </p:spPr>
          <p:txBody>
            <a:bodyPr wrap="square" lIns="0" tIns="0" rIns="0" bIns="0">
              <a:spAutoFit/>
            </a:bodyPr>
            <a:lstStyle/>
            <a:p>
              <a:pPr>
                <a:lnSpc>
                  <a:spcPct val="112000"/>
                </a:lnSpc>
              </a:pPr>
              <a:r>
                <a:rPr sz="980" b="1">
                  <a:solidFill>
                    <a:srgbClr val="0F5E87"/>
                  </a:solidFill>
                  <a:latin typeface="Meiryo UI"/>
                  <a:ea typeface="Meiryo UI"/>
                </a:rPr>
                <a:t>解決2 「武器を作る」 ― バイヤーとAIに出せる球を供給する</a:t>
              </a:r>
            </a:p>
          </p:txBody>
        </p:sp>
        <p:sp>
          <p:nvSpPr>
            <p:cNvPr id="27" name="TextBox 26"/>
            <p:cNvSpPr txBox="1"/>
            <p:nvPr/>
          </p:nvSpPr>
          <p:spPr>
            <a:xfrm>
              <a:off x="2194560" y="3401568"/>
              <a:ext cx="6675120" cy="960120"/>
            </a:xfrm>
            <a:prstGeom prst="rect">
              <a:avLst/>
            </a:prstGeom>
            <a:noFill/>
          </p:spPr>
          <p:txBody>
            <a:bodyPr wrap="square" lIns="0" tIns="0" rIns="0" bIns="0">
              <a:spAutoFit/>
            </a:bodyPr>
            <a:lstStyle/>
            <a:p>
              <a:pPr>
                <a:lnSpc>
                  <a:spcPct val="116000"/>
                </a:lnSpc>
              </a:pPr>
              <a:r>
                <a:rPr sz="819" b="0">
                  <a:solidFill>
                    <a:srgbClr val="262626"/>
                  </a:solidFill>
                  <a:latin typeface="Meiryo UI"/>
                  <a:ea typeface="Meiryo UI"/>
                </a:rPr>
                <a:t>バイヤー向け＝LTV予測・炭素効率（施策⑤）／AI向け＝属性データAPI・Oral Evidence Hub（施策②）／接点の武器＝診断型売場・B2B2C推奨（施策③⑥）／計器＝AIEO Rate・KOIC（施策②④）</a:t>
              </a:r>
            </a:p>
          </p:txBody>
        </p:sp>
        <p:sp>
          <p:nvSpPr>
            <p:cNvPr id="28" name="Rectangle 27"/>
            <p:cNvSpPr/>
            <p:nvPr/>
          </p:nvSpPr>
          <p:spPr>
            <a:xfrm>
              <a:off x="9098280" y="2999232"/>
              <a:ext cx="2743200" cy="141732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217152" y="3090672"/>
              <a:ext cx="2523744" cy="1261872"/>
            </a:xfrm>
            <a:prstGeom prst="rect">
              <a:avLst/>
            </a:prstGeom>
            <a:noFill/>
          </p:spPr>
          <p:txBody>
            <a:bodyPr wrap="square" lIns="0" tIns="0" rIns="0" bIns="0">
              <a:spAutoFit/>
            </a:bodyPr>
            <a:lstStyle/>
            <a:p>
              <a:pPr>
                <a:lnSpc>
                  <a:spcPct val="115000"/>
                </a:lnSpc>
              </a:pPr>
              <a:r>
                <a:rPr sz="760" b="1">
                  <a:solidFill>
                    <a:srgbClr val="595959"/>
                  </a:solidFill>
                  <a:latin typeface="Meiryo UI"/>
                  <a:ea typeface="Meiryo UI"/>
                </a:rPr>
                <a:t>どこで具体化するか
</a:t>
              </a:r>
              <a:r>
                <a:rPr sz="780" b="1">
                  <a:solidFill>
                    <a:srgbClr val="262626"/>
                  </a:solidFill>
                  <a:latin typeface="Meiryo UI"/>
                  <a:ea typeface="Meiryo UI"/>
                </a:rPr>
                <a:t>→ 8つの重点施策（P.9）
→ 5経営テーマへのMECE接続（P.10）</a:t>
              </a:r>
            </a:p>
          </p:txBody>
        </p:sp>
        <p:sp>
          <p:nvSpPr>
            <p:cNvPr id="30" name="Rectangle 29"/>
            <p:cNvSpPr/>
            <p:nvPr/>
          </p:nvSpPr>
          <p:spPr>
            <a:xfrm>
              <a:off x="320040" y="4535424"/>
              <a:ext cx="1371600" cy="1417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11480" y="4937760"/>
              <a:ext cx="1207008" cy="640080"/>
            </a:xfrm>
            <a:prstGeom prst="rect">
              <a:avLst/>
            </a:prstGeom>
            <a:noFill/>
          </p:spPr>
          <p:txBody>
            <a:bodyPr wrap="square" lIns="0" tIns="0" rIns="0" bIns="0">
              <a:spAutoFit/>
            </a:bodyPr>
            <a:lstStyle/>
            <a:p>
              <a:pPr>
                <a:lnSpc>
                  <a:spcPct val="110000"/>
                </a:lnSpc>
              </a:pPr>
              <a:r>
                <a:rPr sz="950" b="1">
                  <a:solidFill>
                    <a:srgbClr val="FFFFFF"/>
                  </a:solidFill>
                  <a:latin typeface="Meiryo UI"/>
                  <a:ea typeface="Meiryo UI"/>
                </a:rPr>
                <a:t>真因3
回っていない</a:t>
              </a:r>
            </a:p>
          </p:txBody>
        </p:sp>
        <p:sp>
          <p:nvSpPr>
            <p:cNvPr id="32" name="TextBox 31"/>
            <p:cNvSpPr txBox="1"/>
            <p:nvPr/>
          </p:nvSpPr>
          <p:spPr>
            <a:xfrm>
              <a:off x="1764792" y="5102352"/>
              <a:ext cx="274320" cy="274320"/>
            </a:xfrm>
            <a:prstGeom prst="rect">
              <a:avLst/>
            </a:prstGeom>
            <a:noFill/>
          </p:spPr>
          <p:txBody>
            <a:bodyPr wrap="square" lIns="0" tIns="0" rIns="0" bIns="0">
              <a:spAutoFit/>
            </a:bodyPr>
            <a:lstStyle/>
            <a:p>
              <a:pPr>
                <a:lnSpc>
                  <a:spcPct val="112000"/>
                </a:lnSpc>
              </a:pPr>
              <a:r>
                <a:rPr sz="1200" b="1">
                  <a:solidFill>
                    <a:srgbClr val="595959"/>
                  </a:solidFill>
                  <a:latin typeface="Meiryo UI"/>
                  <a:ea typeface="Meiryo UI"/>
                </a:rPr>
                <a:t>→</a:t>
              </a:r>
            </a:p>
          </p:txBody>
        </p:sp>
        <p:sp>
          <p:nvSpPr>
            <p:cNvPr id="33" name="Rectangle 32"/>
            <p:cNvSpPr/>
            <p:nvPr/>
          </p:nvSpPr>
          <p:spPr>
            <a:xfrm>
              <a:off x="2057400" y="4535424"/>
              <a:ext cx="6949440" cy="1417320"/>
            </a:xfrm>
            <a:prstGeom prst="rect">
              <a:avLst/>
            </a:prstGeom>
            <a:solidFill>
              <a:srgbClr val="FFFFFF"/>
            </a:solidFill>
            <a:ln w="1397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2194560" y="4599432"/>
              <a:ext cx="6675120" cy="292608"/>
            </a:xfrm>
            <a:prstGeom prst="rect">
              <a:avLst/>
            </a:prstGeom>
            <a:noFill/>
          </p:spPr>
          <p:txBody>
            <a:bodyPr wrap="square" lIns="0" tIns="0" rIns="0" bIns="0">
              <a:spAutoFit/>
            </a:bodyPr>
            <a:lstStyle/>
            <a:p>
              <a:pPr>
                <a:lnSpc>
                  <a:spcPct val="112000"/>
                </a:lnSpc>
              </a:pPr>
              <a:r>
                <a:rPr sz="980" b="1">
                  <a:solidFill>
                    <a:srgbClr val="008D2E"/>
                  </a:solidFill>
                  <a:latin typeface="Meiryo UI"/>
                  <a:ea typeface="Meiryo UI"/>
                </a:rPr>
                <a:t>解決3 「回路を作る」 ― 作る→試す→検証する→広げる、を仕組みにする</a:t>
              </a:r>
            </a:p>
          </p:txBody>
        </p:sp>
        <p:sp>
          <p:nvSpPr>
            <p:cNvPr id="35" name="TextBox 34"/>
            <p:cNvSpPr txBox="1"/>
            <p:nvPr/>
          </p:nvSpPr>
          <p:spPr>
            <a:xfrm>
              <a:off x="2194560" y="4937760"/>
              <a:ext cx="6675120" cy="960120"/>
            </a:xfrm>
            <a:prstGeom prst="rect">
              <a:avLst/>
            </a:prstGeom>
            <a:noFill/>
          </p:spPr>
          <p:txBody>
            <a:bodyPr wrap="square" lIns="0" tIns="0" rIns="0" bIns="0">
              <a:spAutoFit/>
            </a:bodyPr>
            <a:lstStyle/>
            <a:p>
              <a:pPr>
                <a:lnSpc>
                  <a:spcPct val="116000"/>
                </a:lnSpc>
              </a:pPr>
              <a:r>
                <a:rPr sz="819" b="0">
                  <a:solidFill>
                    <a:srgbClr val="262626"/>
                  </a:solidFill>
                  <a:latin typeface="Meiryo UI"/>
                  <a:ea typeface="Meiryo UI"/>
                </a:rPr>
                <a:t>時間＝Input業務ゼロ化（施策⑦）／編成＝アカウントスクワッド・BU変革プロジェクト（施策⑧）／検証＝北極星KPI・確認ゲート・撤退基準／広げ方＝重点1小売×オーラルケアで実証→手順書化→展開</a:t>
              </a:r>
            </a:p>
          </p:txBody>
        </p:sp>
        <p:sp>
          <p:nvSpPr>
            <p:cNvPr id="36" name="Rectangle 35"/>
            <p:cNvSpPr/>
            <p:nvPr/>
          </p:nvSpPr>
          <p:spPr>
            <a:xfrm>
              <a:off x="9098280" y="4535424"/>
              <a:ext cx="2743200" cy="141732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9217152" y="4626864"/>
              <a:ext cx="2523744" cy="1261872"/>
            </a:xfrm>
            <a:prstGeom prst="rect">
              <a:avLst/>
            </a:prstGeom>
            <a:noFill/>
          </p:spPr>
          <p:txBody>
            <a:bodyPr wrap="square" lIns="0" tIns="0" rIns="0" bIns="0">
              <a:spAutoFit/>
            </a:bodyPr>
            <a:lstStyle/>
            <a:p>
              <a:pPr>
                <a:lnSpc>
                  <a:spcPct val="115000"/>
                </a:lnSpc>
              </a:pPr>
              <a:r>
                <a:rPr sz="760" b="1">
                  <a:solidFill>
                    <a:srgbClr val="595959"/>
                  </a:solidFill>
                  <a:latin typeface="Meiryo UI"/>
                  <a:ea typeface="Meiryo UI"/>
                </a:rPr>
                <a:t>どこで具体化するか
</a:t>
              </a:r>
              <a:r>
                <a:rPr sz="780" b="1">
                  <a:solidFill>
                    <a:srgbClr val="262626"/>
                  </a:solidFill>
                  <a:latin typeface="Meiryo UI"/>
                  <a:ea typeface="Meiryo UI"/>
                </a:rPr>
                <a:t>→ 出口：業務のBefore→After（P.11）
→ マイルストーンとゲート（P.12）・KGI/KPI（P.13）</a:t>
              </a:r>
            </a:p>
          </p:txBody>
        </p:sp>
      </p:grpSp>
      <p:sp>
        <p:nvSpPr>
          <p:cNvPr id="6" name="Rectangle 37">
            <a:extLst>
              <a:ext uri="{FF2B5EF4-FFF2-40B4-BE49-F238E27FC236}">
                <a16:creationId xmlns:a16="http://schemas.microsoft.com/office/drawing/2014/main" id="{B6A3D9D0-9D8C-8131-9793-BB6279452180}"/>
              </a:ext>
            </a:extLst>
          </p:cNvPr>
          <p:cNvSpPr/>
          <p:nvPr/>
        </p:nvSpPr>
        <p:spPr>
          <a:xfrm>
            <a:off x="320040" y="6053328"/>
            <a:ext cx="11521440" cy="45720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38">
            <a:extLst>
              <a:ext uri="{FF2B5EF4-FFF2-40B4-BE49-F238E27FC236}">
                <a16:creationId xmlns:a16="http://schemas.microsoft.com/office/drawing/2014/main" id="{015D3F7E-81E5-6B48-91E3-9295E0C1226E}"/>
              </a:ext>
            </a:extLst>
          </p:cNvPr>
          <p:cNvSpPr txBox="1"/>
          <p:nvPr/>
        </p:nvSpPr>
        <p:spPr>
          <a:xfrm>
            <a:off x="457200" y="6099048"/>
            <a:ext cx="11292840" cy="365760"/>
          </a:xfrm>
          <a:prstGeom prst="rect">
            <a:avLst/>
          </a:prstGeom>
          <a:noFill/>
        </p:spPr>
        <p:txBody>
          <a:bodyPr wrap="square" lIns="0" tIns="0" rIns="0" bIns="0">
            <a:spAutoFit/>
          </a:bodyPr>
          <a:lstStyle/>
          <a:p>
            <a:pPr>
              <a:lnSpc>
                <a:spcPct val="114000"/>
              </a:lnSpc>
            </a:pPr>
            <a:r>
              <a:rPr sz="860" b="1">
                <a:solidFill>
                  <a:srgbClr val="008D2E"/>
                </a:solidFill>
                <a:latin typeface="Meiryo UI"/>
                <a:ea typeface="Meiryo UI"/>
              </a:rPr>
              <a:t>順序と規律：</a:t>
            </a:r>
            <a:r>
              <a:rPr sz="819" b="0">
                <a:solidFill>
                  <a:srgbClr val="262626"/>
                </a:solidFill>
                <a:latin typeface="Meiryo UI"/>
                <a:ea typeface="Meiryo UI"/>
              </a:rPr>
              <a:t>「型を定める」は次回会議から着手できる（追加予算不要 ― 傾斜済み資源の使い方の設計だから）。「武器」「回路」はFY26から並行で始め、確認ゲートで拡大する。すべての施策は3つの真因のどれかに紐づく ― 紐づかない施策は、この計画ではやらない。</a:t>
            </a:r>
          </a:p>
        </p:txBody>
      </p:sp>
    </p:spTree>
    <p:extLst>
      <p:ext uri="{BB962C8B-B14F-4D97-AF65-F5344CB8AC3E}">
        <p14:creationId xmlns:p14="http://schemas.microsoft.com/office/powerpoint/2010/main" val="15934060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0CA9F24-7C26-26B0-6EAF-7869023A3467}"/>
              </a:ext>
            </a:extLst>
          </p:cNvPr>
          <p:cNvSpPr>
            <a:spLocks noGrp="1"/>
          </p:cNvSpPr>
          <p:nvPr>
            <p:ph type="title"/>
          </p:nvPr>
        </p:nvSpPr>
        <p:spPr/>
        <p:txBody>
          <a:bodyPr/>
          <a:lstStyle/>
          <a:p>
            <a:r>
              <a:rPr lang="en-US" altLang="ja-JP" b="1" dirty="0">
                <a:solidFill>
                  <a:srgbClr val="262626"/>
                </a:solidFill>
                <a:latin typeface="Meiryo UI"/>
                <a:ea typeface="Meiryo UI"/>
              </a:rPr>
              <a:t>4</a:t>
            </a:r>
            <a:r>
              <a:rPr lang="ja-JP" altLang="en-US" b="1" dirty="0">
                <a:solidFill>
                  <a:srgbClr val="262626"/>
                </a:solidFill>
                <a:latin typeface="Meiryo UI"/>
                <a:ea typeface="Meiryo UI"/>
              </a:rPr>
              <a:t>つの変革テーマ </a:t>
            </a:r>
            <a:r>
              <a:rPr lang="en-US" altLang="ja-JP" b="1" dirty="0">
                <a:solidFill>
                  <a:srgbClr val="262626"/>
                </a:solidFill>
                <a:latin typeface="Meiryo UI"/>
                <a:ea typeface="Meiryo UI"/>
              </a:rPr>
              <a:t>× 8</a:t>
            </a:r>
            <a:r>
              <a:rPr lang="ja-JP" altLang="en-US" b="1" dirty="0">
                <a:solidFill>
                  <a:srgbClr val="262626"/>
                </a:solidFill>
                <a:latin typeface="Meiryo UI"/>
                <a:ea typeface="Meiryo UI"/>
              </a:rPr>
              <a:t>つの重点施策</a:t>
            </a:r>
            <a:endParaRPr kumimoji="1" lang="ja-JP" altLang="en-US" dirty="0"/>
          </a:p>
        </p:txBody>
      </p:sp>
      <p:sp>
        <p:nvSpPr>
          <p:cNvPr id="3" name="テキスト プレースホルダー 2">
            <a:extLst>
              <a:ext uri="{FF2B5EF4-FFF2-40B4-BE49-F238E27FC236}">
                <a16:creationId xmlns:a16="http://schemas.microsoft.com/office/drawing/2014/main" id="{05F9F228-39E8-D051-7705-78C67B7FCCDD}"/>
              </a:ext>
            </a:extLst>
          </p:cNvPr>
          <p:cNvSpPr>
            <a:spLocks noGrp="1"/>
          </p:cNvSpPr>
          <p:nvPr>
            <p:ph type="body" sz="quarter" idx="13"/>
          </p:nvPr>
        </p:nvSpPr>
        <p:spPr/>
        <p:txBody>
          <a:bodyPr/>
          <a:lstStyle/>
          <a:p>
            <a:r>
              <a:rPr lang="en-US" altLang="ja-JP" b="1" dirty="0">
                <a:solidFill>
                  <a:srgbClr val="262626"/>
                </a:solidFill>
                <a:latin typeface="Meiryo UI"/>
                <a:ea typeface="Meiryo UI"/>
              </a:rPr>
              <a:t>8</a:t>
            </a:r>
            <a:r>
              <a:rPr lang="ja-JP" altLang="en-US" b="1" dirty="0">
                <a:solidFill>
                  <a:srgbClr val="262626"/>
                </a:solidFill>
                <a:latin typeface="Meiryo UI"/>
                <a:ea typeface="Meiryo UI"/>
              </a:rPr>
              <a:t>施策は真因</a:t>
            </a:r>
            <a:r>
              <a:rPr lang="en-US" altLang="ja-JP" b="1" dirty="0">
                <a:solidFill>
                  <a:srgbClr val="262626"/>
                </a:solidFill>
                <a:latin typeface="Meiryo UI"/>
                <a:ea typeface="Meiryo UI"/>
              </a:rPr>
              <a:t>2</a:t>
            </a:r>
            <a:r>
              <a:rPr lang="ja-JP" altLang="en-US" b="1" dirty="0">
                <a:solidFill>
                  <a:srgbClr val="262626"/>
                </a:solidFill>
                <a:latin typeface="Meiryo UI"/>
                <a:ea typeface="Meiryo UI"/>
              </a:rPr>
              <a:t>「武器」と真因</a:t>
            </a:r>
            <a:r>
              <a:rPr lang="en-US" altLang="ja-JP" b="1" dirty="0">
                <a:solidFill>
                  <a:srgbClr val="262626"/>
                </a:solidFill>
                <a:latin typeface="Meiryo UI"/>
                <a:ea typeface="Meiryo UI"/>
              </a:rPr>
              <a:t>3</a:t>
            </a:r>
            <a:r>
              <a:rPr lang="ja-JP" altLang="en-US" b="1" dirty="0">
                <a:solidFill>
                  <a:srgbClr val="262626"/>
                </a:solidFill>
                <a:latin typeface="Meiryo UI"/>
                <a:ea typeface="Meiryo UI"/>
              </a:rPr>
              <a:t>「回路」への答え（武器＝②</a:t>
            </a:r>
            <a:r>
              <a:rPr lang="en-US" altLang="ja-JP" b="1" dirty="0">
                <a:solidFill>
                  <a:srgbClr val="262626"/>
                </a:solidFill>
                <a:latin typeface="Meiryo UI"/>
                <a:ea typeface="Meiryo UI"/>
              </a:rPr>
              <a:t>〜⑥</a:t>
            </a:r>
            <a:r>
              <a:rPr lang="ja-JP" altLang="en-US" b="1" dirty="0">
                <a:solidFill>
                  <a:srgbClr val="262626"/>
                </a:solidFill>
                <a:latin typeface="Meiryo UI"/>
                <a:ea typeface="Meiryo UI"/>
              </a:rPr>
              <a:t>、回路＝⑦⑧）。施策①は真因</a:t>
            </a:r>
            <a:r>
              <a:rPr lang="en-US" altLang="ja-JP" b="1" dirty="0">
                <a:solidFill>
                  <a:srgbClr val="262626"/>
                </a:solidFill>
                <a:latin typeface="Meiryo UI"/>
                <a:ea typeface="Meiryo UI"/>
              </a:rPr>
              <a:t>1</a:t>
            </a:r>
            <a:r>
              <a:rPr lang="ja-JP" altLang="en-US" b="1" dirty="0">
                <a:solidFill>
                  <a:srgbClr val="262626"/>
                </a:solidFill>
                <a:latin typeface="Meiryo UI"/>
                <a:ea typeface="Meiryo UI"/>
              </a:rPr>
              <a:t>「型」</a:t>
            </a:r>
            <a:r>
              <a:rPr lang="en-US" altLang="ja-JP" b="1" dirty="0">
                <a:solidFill>
                  <a:srgbClr val="262626"/>
                </a:solidFill>
                <a:latin typeface="Meiryo UI"/>
                <a:ea typeface="Meiryo UI"/>
              </a:rPr>
              <a:t>― </a:t>
            </a:r>
            <a:r>
              <a:rPr lang="ja-JP" altLang="en-US" b="1" dirty="0">
                <a:solidFill>
                  <a:srgbClr val="262626"/>
                </a:solidFill>
                <a:latin typeface="Meiryo UI"/>
                <a:ea typeface="Meiryo UI"/>
              </a:rPr>
              <a:t>傾斜済み資源の使い方を</a:t>
            </a:r>
            <a:r>
              <a:rPr lang="en-US" altLang="ja-JP" b="1" dirty="0">
                <a:solidFill>
                  <a:srgbClr val="262626"/>
                </a:solidFill>
                <a:latin typeface="Meiryo UI"/>
                <a:ea typeface="Meiryo UI"/>
              </a:rPr>
              <a:t>4</a:t>
            </a:r>
            <a:r>
              <a:rPr lang="ja-JP" altLang="en-US" b="1" dirty="0">
                <a:solidFill>
                  <a:srgbClr val="262626"/>
                </a:solidFill>
                <a:latin typeface="Meiryo UI"/>
                <a:ea typeface="Meiryo UI"/>
              </a:rPr>
              <a:t>分割</a:t>
            </a:r>
            <a:r>
              <a:rPr lang="en-US" altLang="ja-JP" b="1" dirty="0">
                <a:solidFill>
                  <a:srgbClr val="262626"/>
                </a:solidFill>
                <a:latin typeface="Meiryo UI"/>
                <a:ea typeface="Meiryo UI"/>
              </a:rPr>
              <a:t>×ROIC</a:t>
            </a:r>
            <a:r>
              <a:rPr lang="ja-JP" altLang="en-US" b="1" dirty="0">
                <a:solidFill>
                  <a:srgbClr val="262626"/>
                </a:solidFill>
                <a:latin typeface="Meiryo UI"/>
                <a:ea typeface="Meiryo UI"/>
              </a:rPr>
              <a:t>で設計し直す</a:t>
            </a:r>
          </a:p>
        </p:txBody>
      </p:sp>
      <p:grpSp>
        <p:nvGrpSpPr>
          <p:cNvPr id="4" name="グループ化 3">
            <a:extLst>
              <a:ext uri="{FF2B5EF4-FFF2-40B4-BE49-F238E27FC236}">
                <a16:creationId xmlns:a16="http://schemas.microsoft.com/office/drawing/2014/main" id="{878DF85A-8E7B-1559-B8D6-0ED20A79E67D}"/>
              </a:ext>
            </a:extLst>
          </p:cNvPr>
          <p:cNvGrpSpPr/>
          <p:nvPr/>
        </p:nvGrpSpPr>
        <p:grpSpPr>
          <a:xfrm>
            <a:off x="320040" y="1628774"/>
            <a:ext cx="11521440" cy="4762881"/>
            <a:chOff x="320040" y="1426464"/>
            <a:chExt cx="11521440" cy="4965192"/>
          </a:xfrm>
        </p:grpSpPr>
        <p:sp>
          <p:nvSpPr>
            <p:cNvPr id="14" name="Rectangle 13"/>
            <p:cNvSpPr/>
            <p:nvPr/>
          </p:nvSpPr>
          <p:spPr>
            <a:xfrm>
              <a:off x="320040" y="1426464"/>
              <a:ext cx="21031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74904" y="1453896"/>
              <a:ext cx="1993391"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テーマ</a:t>
              </a:r>
            </a:p>
          </p:txBody>
        </p:sp>
        <p:sp>
          <p:nvSpPr>
            <p:cNvPr id="16" name="Rectangle 15"/>
            <p:cNvSpPr/>
            <p:nvPr/>
          </p:nvSpPr>
          <p:spPr>
            <a:xfrm>
              <a:off x="2441448" y="1426464"/>
              <a:ext cx="265176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496312" y="1453896"/>
              <a:ext cx="2542032"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アプローチ（戦略基本方針）</a:t>
              </a:r>
            </a:p>
          </p:txBody>
        </p:sp>
        <p:sp>
          <p:nvSpPr>
            <p:cNvPr id="18" name="Rectangle 17"/>
            <p:cNvSpPr/>
            <p:nvPr/>
          </p:nvSpPr>
          <p:spPr>
            <a:xfrm>
              <a:off x="5111496" y="1426464"/>
              <a:ext cx="30175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166359" y="1453896"/>
              <a:ext cx="2907791"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重点施策（What）</a:t>
              </a:r>
            </a:p>
          </p:txBody>
        </p:sp>
        <p:sp>
          <p:nvSpPr>
            <p:cNvPr id="20" name="Rectangle 19"/>
            <p:cNvSpPr/>
            <p:nvPr/>
          </p:nvSpPr>
          <p:spPr>
            <a:xfrm>
              <a:off x="8147304" y="1426464"/>
              <a:ext cx="237744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202168" y="1453896"/>
              <a:ext cx="2267712"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KPI</a:t>
              </a:r>
            </a:p>
          </p:txBody>
        </p:sp>
        <p:sp>
          <p:nvSpPr>
            <p:cNvPr id="22" name="Rectangle 21"/>
            <p:cNvSpPr/>
            <p:nvPr/>
          </p:nvSpPr>
          <p:spPr>
            <a:xfrm>
              <a:off x="10543032" y="1426464"/>
              <a:ext cx="11887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0597896" y="1453896"/>
              <a:ext cx="1078992"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時期</a:t>
              </a:r>
            </a:p>
          </p:txBody>
        </p:sp>
        <p:sp>
          <p:nvSpPr>
            <p:cNvPr id="24" name="Rectangle 23"/>
            <p:cNvSpPr/>
            <p:nvPr/>
          </p:nvSpPr>
          <p:spPr>
            <a:xfrm>
              <a:off x="320040" y="1755648"/>
              <a:ext cx="2103120" cy="96926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93192" y="1810512"/>
              <a:ext cx="1975104" cy="859536"/>
            </a:xfrm>
            <a:prstGeom prst="rect">
              <a:avLst/>
            </a:prstGeom>
            <a:noFill/>
          </p:spPr>
          <p:txBody>
            <a:bodyPr wrap="square" lIns="0" tIns="0" rIns="0" bIns="0">
              <a:spAutoFit/>
            </a:bodyPr>
            <a:lstStyle/>
            <a:p>
              <a:pPr>
                <a:lnSpc>
                  <a:spcPct val="112000"/>
                </a:lnSpc>
              </a:pPr>
              <a:r>
                <a:rPr sz="860" b="1">
                  <a:solidFill>
                    <a:srgbClr val="FFFFFF"/>
                  </a:solidFill>
                  <a:latin typeface="Meiryo UI"/>
                  <a:ea typeface="Meiryo UI"/>
                </a:rPr>
                <a:t>T1 勝てる土俵の再定義×AI時代のブランド生存権</a:t>
              </a:r>
            </a:p>
          </p:txBody>
        </p:sp>
        <p:sp>
          <p:nvSpPr>
            <p:cNvPr id="26" name="Rectangle 25"/>
            <p:cNvSpPr/>
            <p:nvPr/>
          </p:nvSpPr>
          <p:spPr>
            <a:xfrm>
              <a:off x="2441448" y="1755648"/>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514600" y="1810512"/>
              <a:ext cx="2523744" cy="932688"/>
            </a:xfrm>
            <a:prstGeom prst="rect">
              <a:avLst/>
            </a:prstGeom>
            <a:noFill/>
          </p:spPr>
          <p:txBody>
            <a:bodyPr wrap="square" lIns="0" tIns="0" rIns="0" bIns="0">
              <a:spAutoFit/>
            </a:bodyPr>
            <a:lstStyle/>
            <a:p>
              <a:pPr>
                <a:lnSpc>
                  <a:spcPct val="115000"/>
                </a:lnSpc>
              </a:pPr>
              <a:r>
                <a:rPr sz="819" b="0">
                  <a:solidFill>
                    <a:srgbClr val="262626"/>
                  </a:solidFill>
                  <a:latin typeface="Meiryo UI"/>
                  <a:ea typeface="Meiryo UI"/>
                </a:rPr>
                <a:t>データに基づく選択と集中＋AI購買インフラへの先行参入</a:t>
              </a:r>
            </a:p>
          </p:txBody>
        </p:sp>
        <p:sp>
          <p:nvSpPr>
            <p:cNvPr id="28" name="Rectangle 27"/>
            <p:cNvSpPr/>
            <p:nvPr/>
          </p:nvSpPr>
          <p:spPr>
            <a:xfrm>
              <a:off x="5111496" y="1755648"/>
              <a:ext cx="3017520" cy="969264"/>
            </a:xfrm>
            <a:prstGeom prst="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184648" y="1810512"/>
              <a:ext cx="2889504" cy="932688"/>
            </a:xfrm>
            <a:prstGeom prst="rect">
              <a:avLst/>
            </a:prstGeom>
            <a:noFill/>
          </p:spPr>
          <p:txBody>
            <a:bodyPr wrap="square" lIns="0" tIns="0" rIns="0" bIns="0">
              <a:spAutoFit/>
            </a:bodyPr>
            <a:lstStyle/>
            <a:p>
              <a:pPr>
                <a:lnSpc>
                  <a:spcPct val="115000"/>
                </a:lnSpc>
              </a:pPr>
              <a:r>
                <a:rPr sz="790" b="1">
                  <a:solidFill>
                    <a:srgbClr val="262626"/>
                  </a:solidFill>
                  <a:latin typeface="Meiryo UI"/>
                  <a:ea typeface="Meiryo UI"/>
                </a:rPr>
                <a:t>① 経営管理高度化と連携したデータ活用（ポートフォリオ再編）
② AIEO・エージェントコマース対応（Oral Evidence Hub）</a:t>
              </a:r>
            </a:p>
          </p:txBody>
        </p:sp>
        <p:sp>
          <p:nvSpPr>
            <p:cNvPr id="30" name="Rectangle 29"/>
            <p:cNvSpPr/>
            <p:nvPr/>
          </p:nvSpPr>
          <p:spPr>
            <a:xfrm>
              <a:off x="8147304" y="1755648"/>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220456" y="1810512"/>
              <a:ext cx="2249424" cy="932688"/>
            </a:xfrm>
            <a:prstGeom prst="rect">
              <a:avLst/>
            </a:prstGeom>
            <a:noFill/>
          </p:spPr>
          <p:txBody>
            <a:bodyPr wrap="square" lIns="0" tIns="0" rIns="0" bIns="0">
              <a:spAutoFit/>
            </a:bodyPr>
            <a:lstStyle/>
            <a:p>
              <a:pPr>
                <a:lnSpc>
                  <a:spcPct val="115000"/>
                </a:lnSpc>
              </a:pPr>
              <a:r>
                <a:rPr sz="790" b="1">
                  <a:solidFill>
                    <a:srgbClr val="0F5E87"/>
                  </a:solidFill>
                  <a:latin typeface="Meiryo UI"/>
                  <a:ea typeface="Meiryo UI"/>
                </a:rPr>
                <a:t>強み領域売上比率 65→80%（FY30）
AIEO Rate 30→50%（FY30）</a:t>
              </a:r>
            </a:p>
          </p:txBody>
        </p:sp>
        <p:sp>
          <p:nvSpPr>
            <p:cNvPr id="32" name="Rectangle 31"/>
            <p:cNvSpPr/>
            <p:nvPr/>
          </p:nvSpPr>
          <p:spPr>
            <a:xfrm>
              <a:off x="10543032" y="1755648"/>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0616184" y="1810512"/>
              <a:ext cx="1060704" cy="932688"/>
            </a:xfrm>
            <a:prstGeom prst="rect">
              <a:avLst/>
            </a:prstGeom>
            <a:noFill/>
          </p:spPr>
          <p:txBody>
            <a:bodyPr wrap="square" lIns="0" tIns="0" rIns="0" bIns="0">
              <a:spAutoFit/>
            </a:bodyPr>
            <a:lstStyle/>
            <a:p>
              <a:pPr>
                <a:lnSpc>
                  <a:spcPct val="110000"/>
                </a:lnSpc>
              </a:pPr>
              <a:r>
                <a:rPr sz="819" b="1">
                  <a:solidFill>
                    <a:srgbClr val="262626"/>
                  </a:solidFill>
                  <a:latin typeface="Meiryo UI"/>
                  <a:ea typeface="Meiryo UI"/>
                </a:rPr>
                <a:t>FY26–28</a:t>
              </a:r>
            </a:p>
          </p:txBody>
        </p:sp>
        <p:sp>
          <p:nvSpPr>
            <p:cNvPr id="34" name="Rectangle 33"/>
            <p:cNvSpPr/>
            <p:nvPr/>
          </p:nvSpPr>
          <p:spPr>
            <a:xfrm>
              <a:off x="320040" y="2779776"/>
              <a:ext cx="2103120" cy="969264"/>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93192" y="2834640"/>
              <a:ext cx="1975104" cy="859536"/>
            </a:xfrm>
            <a:prstGeom prst="rect">
              <a:avLst/>
            </a:prstGeom>
            <a:noFill/>
          </p:spPr>
          <p:txBody>
            <a:bodyPr wrap="square" lIns="0" tIns="0" rIns="0" bIns="0">
              <a:spAutoFit/>
            </a:bodyPr>
            <a:lstStyle/>
            <a:p>
              <a:pPr>
                <a:lnSpc>
                  <a:spcPct val="112000"/>
                </a:lnSpc>
              </a:pPr>
              <a:r>
                <a:rPr sz="860" b="1">
                  <a:solidFill>
                    <a:srgbClr val="FFFFFF"/>
                  </a:solidFill>
                  <a:latin typeface="Meiryo UI"/>
                  <a:ea typeface="Meiryo UI"/>
                </a:rPr>
                <a:t>T2 小売との共創型データ戦略</a:t>
              </a:r>
            </a:p>
          </p:txBody>
        </p:sp>
        <p:sp>
          <p:nvSpPr>
            <p:cNvPr id="36" name="Rectangle 35"/>
            <p:cNvSpPr/>
            <p:nvPr/>
          </p:nvSpPr>
          <p:spPr>
            <a:xfrm>
              <a:off x="2441448" y="2779776"/>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514600" y="2834640"/>
              <a:ext cx="2523744" cy="932688"/>
            </a:xfrm>
            <a:prstGeom prst="rect">
              <a:avLst/>
            </a:prstGeom>
            <a:noFill/>
          </p:spPr>
          <p:txBody>
            <a:bodyPr wrap="square" lIns="0" tIns="0" rIns="0" bIns="0">
              <a:spAutoFit/>
            </a:bodyPr>
            <a:lstStyle/>
            <a:p>
              <a:pPr>
                <a:lnSpc>
                  <a:spcPct val="115000"/>
                </a:lnSpc>
              </a:pPr>
              <a:r>
                <a:rPr sz="819" b="0">
                  <a:solidFill>
                    <a:srgbClr val="262626"/>
                  </a:solidFill>
                  <a:latin typeface="Meiryo UI"/>
                  <a:ea typeface="Meiryo UI"/>
                </a:rPr>
                <a:t>リテールメディア投資転換＋専門ニッチデータ直接蓄積の二階建て</a:t>
              </a:r>
            </a:p>
          </p:txBody>
        </p:sp>
        <p:sp>
          <p:nvSpPr>
            <p:cNvPr id="38" name="Rectangle 37"/>
            <p:cNvSpPr/>
            <p:nvPr/>
          </p:nvSpPr>
          <p:spPr>
            <a:xfrm>
              <a:off x="5111496" y="2779776"/>
              <a:ext cx="3017520" cy="969264"/>
            </a:xfrm>
            <a:prstGeom prst="rect">
              <a:avLst/>
            </a:prstGeom>
            <a:solidFill>
              <a:srgbClr val="FFFFFF"/>
            </a:solidFill>
            <a:ln w="1270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5184648" y="2834640"/>
              <a:ext cx="2889504" cy="932688"/>
            </a:xfrm>
            <a:prstGeom prst="rect">
              <a:avLst/>
            </a:prstGeom>
            <a:noFill/>
          </p:spPr>
          <p:txBody>
            <a:bodyPr wrap="square" lIns="0" tIns="0" rIns="0" bIns="0">
              <a:spAutoFit/>
            </a:bodyPr>
            <a:lstStyle/>
            <a:p>
              <a:pPr>
                <a:lnSpc>
                  <a:spcPct val="115000"/>
                </a:lnSpc>
              </a:pPr>
              <a:r>
                <a:rPr sz="790" b="1">
                  <a:solidFill>
                    <a:srgbClr val="262626"/>
                  </a:solidFill>
                  <a:latin typeface="Meiryo UI"/>
                  <a:ea typeface="Meiryo UI"/>
                </a:rPr>
                <a:t>③ リテールメディアJBP化×Total Availability
④ LION ID「口腔健康OS化」×Oral Health Graph</a:t>
              </a:r>
            </a:p>
          </p:txBody>
        </p:sp>
        <p:sp>
          <p:nvSpPr>
            <p:cNvPr id="40" name="Rectangle 39"/>
            <p:cNvSpPr/>
            <p:nvPr/>
          </p:nvSpPr>
          <p:spPr>
            <a:xfrm>
              <a:off x="8147304" y="2779776"/>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8220456" y="2834640"/>
              <a:ext cx="2249424" cy="932688"/>
            </a:xfrm>
            <a:prstGeom prst="rect">
              <a:avLst/>
            </a:prstGeom>
            <a:noFill/>
          </p:spPr>
          <p:txBody>
            <a:bodyPr wrap="square" lIns="0" tIns="0" rIns="0" bIns="0">
              <a:spAutoFit/>
            </a:bodyPr>
            <a:lstStyle/>
            <a:p>
              <a:pPr>
                <a:lnSpc>
                  <a:spcPct val="115000"/>
                </a:lnSpc>
              </a:pPr>
              <a:r>
                <a:rPr sz="790" b="1">
                  <a:solidFill>
                    <a:srgbClr val="0F5E87"/>
                  </a:solidFill>
                  <a:latin typeface="Meiryo UI"/>
                  <a:ea typeface="Meiryo UI"/>
                </a:rPr>
                <a:t>TAスコア 70→90%（FY30）
アクティブID／KOIC／90日継続率</a:t>
              </a:r>
            </a:p>
          </p:txBody>
        </p:sp>
        <p:sp>
          <p:nvSpPr>
            <p:cNvPr id="42" name="Rectangle 41"/>
            <p:cNvSpPr/>
            <p:nvPr/>
          </p:nvSpPr>
          <p:spPr>
            <a:xfrm>
              <a:off x="10543032" y="2779776"/>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10616184" y="2834640"/>
              <a:ext cx="1060704" cy="932688"/>
            </a:xfrm>
            <a:prstGeom prst="rect">
              <a:avLst/>
            </a:prstGeom>
            <a:noFill/>
          </p:spPr>
          <p:txBody>
            <a:bodyPr wrap="square" lIns="0" tIns="0" rIns="0" bIns="0">
              <a:spAutoFit/>
            </a:bodyPr>
            <a:lstStyle/>
            <a:p>
              <a:pPr>
                <a:lnSpc>
                  <a:spcPct val="110000"/>
                </a:lnSpc>
              </a:pPr>
              <a:r>
                <a:rPr sz="819" b="1">
                  <a:solidFill>
                    <a:srgbClr val="262626"/>
                  </a:solidFill>
                  <a:latin typeface="Meiryo UI"/>
                  <a:ea typeface="Meiryo UI"/>
                </a:rPr>
                <a:t>FY26–29</a:t>
              </a:r>
            </a:p>
          </p:txBody>
        </p:sp>
        <p:sp>
          <p:nvSpPr>
            <p:cNvPr id="44" name="Rectangle 43"/>
            <p:cNvSpPr/>
            <p:nvPr/>
          </p:nvSpPr>
          <p:spPr>
            <a:xfrm>
              <a:off x="320040" y="3803904"/>
              <a:ext cx="2103120" cy="969264"/>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393192" y="3858768"/>
              <a:ext cx="1975104" cy="859536"/>
            </a:xfrm>
            <a:prstGeom prst="rect">
              <a:avLst/>
            </a:prstGeom>
            <a:noFill/>
          </p:spPr>
          <p:txBody>
            <a:bodyPr wrap="square" lIns="0" tIns="0" rIns="0" bIns="0">
              <a:spAutoFit/>
            </a:bodyPr>
            <a:lstStyle/>
            <a:p>
              <a:pPr>
                <a:lnSpc>
                  <a:spcPct val="112000"/>
                </a:lnSpc>
              </a:pPr>
              <a:r>
                <a:rPr sz="860" b="1">
                  <a:solidFill>
                    <a:srgbClr val="FFFFFF"/>
                  </a:solidFill>
                  <a:latin typeface="Meiryo UI"/>
                  <a:ea typeface="Meiryo UI"/>
                </a:rPr>
                <a:t>T3 商談価値の革新</a:t>
              </a:r>
            </a:p>
          </p:txBody>
        </p:sp>
        <p:sp>
          <p:nvSpPr>
            <p:cNvPr id="46" name="Rectangle 45"/>
            <p:cNvSpPr/>
            <p:nvPr/>
          </p:nvSpPr>
          <p:spPr>
            <a:xfrm>
              <a:off x="2441448" y="3803904"/>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2514600" y="3858768"/>
              <a:ext cx="2523744" cy="932688"/>
            </a:xfrm>
            <a:prstGeom prst="rect">
              <a:avLst/>
            </a:prstGeom>
            <a:noFill/>
          </p:spPr>
          <p:txBody>
            <a:bodyPr wrap="square" lIns="0" tIns="0" rIns="0" bIns="0">
              <a:spAutoFit/>
            </a:bodyPr>
            <a:lstStyle/>
            <a:p>
              <a:pPr>
                <a:lnSpc>
                  <a:spcPct val="115000"/>
                </a:lnSpc>
              </a:pPr>
              <a:r>
                <a:rPr sz="819" b="0">
                  <a:solidFill>
                    <a:srgbClr val="262626"/>
                  </a:solidFill>
                  <a:latin typeface="Meiryo UI"/>
                  <a:ea typeface="Meiryo UI"/>
                </a:rPr>
                <a:t>臨床・行動データを統合し、付加価値データをバイヤーへ供給</a:t>
              </a:r>
            </a:p>
          </p:txBody>
        </p:sp>
        <p:sp>
          <p:nvSpPr>
            <p:cNvPr id="48" name="Rectangle 47"/>
            <p:cNvSpPr/>
            <p:nvPr/>
          </p:nvSpPr>
          <p:spPr>
            <a:xfrm>
              <a:off x="5111496" y="3803904"/>
              <a:ext cx="3017520" cy="969264"/>
            </a:xfrm>
            <a:prstGeom prst="rect">
              <a:avLst/>
            </a:prstGeom>
            <a:solidFill>
              <a:srgbClr val="FFFFFF"/>
            </a:solidFill>
            <a:ln w="1270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5184648" y="3858768"/>
              <a:ext cx="2889504" cy="932688"/>
            </a:xfrm>
            <a:prstGeom prst="rect">
              <a:avLst/>
            </a:prstGeom>
            <a:noFill/>
          </p:spPr>
          <p:txBody>
            <a:bodyPr wrap="square" lIns="0" tIns="0" rIns="0" bIns="0">
              <a:spAutoFit/>
            </a:bodyPr>
            <a:lstStyle/>
            <a:p>
              <a:pPr>
                <a:lnSpc>
                  <a:spcPct val="115000"/>
                </a:lnSpc>
              </a:pPr>
              <a:r>
                <a:rPr sz="790" b="1">
                  <a:solidFill>
                    <a:srgbClr val="262626"/>
                  </a:solidFill>
                  <a:latin typeface="Meiryo UI"/>
                  <a:ea typeface="Meiryo UI"/>
                </a:rPr>
                <a:t>⑤ 付加価値創出のためのデータ統合・分析
⑥ B2B2C商談モデル（歯科→消費者→小売）</a:t>
              </a:r>
            </a:p>
          </p:txBody>
        </p:sp>
        <p:sp>
          <p:nvSpPr>
            <p:cNvPr id="50" name="Rectangle 49"/>
            <p:cNvSpPr/>
            <p:nvPr/>
          </p:nvSpPr>
          <p:spPr>
            <a:xfrm>
              <a:off x="8147304" y="3803904"/>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8220456" y="3858768"/>
              <a:ext cx="2249424" cy="932688"/>
            </a:xfrm>
            <a:prstGeom prst="rect">
              <a:avLst/>
            </a:prstGeom>
            <a:noFill/>
          </p:spPr>
          <p:txBody>
            <a:bodyPr wrap="square" lIns="0" tIns="0" rIns="0" bIns="0">
              <a:spAutoFit/>
            </a:bodyPr>
            <a:lstStyle/>
            <a:p>
              <a:pPr>
                <a:lnSpc>
                  <a:spcPct val="115000"/>
                </a:lnSpc>
              </a:pPr>
              <a:r>
                <a:rPr sz="790" b="1">
                  <a:solidFill>
                    <a:srgbClr val="0F5E87"/>
                  </a:solidFill>
                  <a:latin typeface="Meiryo UI"/>
                  <a:ea typeface="Meiryo UI"/>
                </a:rPr>
                <a:t>データ武装型商談比率 80%（FY28）
B2B2C推奨起点売上 5→15%</a:t>
              </a:r>
            </a:p>
          </p:txBody>
        </p:sp>
        <p:sp>
          <p:nvSpPr>
            <p:cNvPr id="52" name="Rectangle 51"/>
            <p:cNvSpPr/>
            <p:nvPr/>
          </p:nvSpPr>
          <p:spPr>
            <a:xfrm>
              <a:off x="10543032" y="3803904"/>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10616184" y="3858768"/>
              <a:ext cx="1060704" cy="932688"/>
            </a:xfrm>
            <a:prstGeom prst="rect">
              <a:avLst/>
            </a:prstGeom>
            <a:noFill/>
          </p:spPr>
          <p:txBody>
            <a:bodyPr wrap="square" lIns="0" tIns="0" rIns="0" bIns="0">
              <a:spAutoFit/>
            </a:bodyPr>
            <a:lstStyle/>
            <a:p>
              <a:pPr>
                <a:lnSpc>
                  <a:spcPct val="110000"/>
                </a:lnSpc>
              </a:pPr>
              <a:r>
                <a:rPr sz="819" b="1">
                  <a:solidFill>
                    <a:srgbClr val="262626"/>
                  </a:solidFill>
                  <a:latin typeface="Meiryo UI"/>
                  <a:ea typeface="Meiryo UI"/>
                </a:rPr>
                <a:t>FY26–28</a:t>
              </a:r>
            </a:p>
          </p:txBody>
        </p:sp>
        <p:sp>
          <p:nvSpPr>
            <p:cNvPr id="54" name="Rectangle 53"/>
            <p:cNvSpPr/>
            <p:nvPr/>
          </p:nvSpPr>
          <p:spPr>
            <a:xfrm>
              <a:off x="320040" y="4828032"/>
              <a:ext cx="2103120" cy="969264"/>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393192" y="4882896"/>
              <a:ext cx="1975104" cy="859536"/>
            </a:xfrm>
            <a:prstGeom prst="rect">
              <a:avLst/>
            </a:prstGeom>
            <a:noFill/>
          </p:spPr>
          <p:txBody>
            <a:bodyPr wrap="square" lIns="0" tIns="0" rIns="0" bIns="0">
              <a:spAutoFit/>
            </a:bodyPr>
            <a:lstStyle/>
            <a:p>
              <a:pPr>
                <a:lnSpc>
                  <a:spcPct val="112000"/>
                </a:lnSpc>
              </a:pPr>
              <a:r>
                <a:rPr sz="860" b="1">
                  <a:solidFill>
                    <a:srgbClr val="FFFFFF"/>
                  </a:solidFill>
                  <a:latin typeface="Meiryo UI"/>
                  <a:ea typeface="Meiryo UI"/>
                </a:rPr>
                <a:t>T4 組織・実行力の変革</a:t>
              </a:r>
            </a:p>
          </p:txBody>
        </p:sp>
        <p:sp>
          <p:nvSpPr>
            <p:cNvPr id="56" name="Rectangle 55"/>
            <p:cNvSpPr/>
            <p:nvPr/>
          </p:nvSpPr>
          <p:spPr>
            <a:xfrm>
              <a:off x="2441448" y="4828032"/>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2514600" y="4882896"/>
              <a:ext cx="2523744" cy="932688"/>
            </a:xfrm>
            <a:prstGeom prst="rect">
              <a:avLst/>
            </a:prstGeom>
            <a:noFill/>
          </p:spPr>
          <p:txBody>
            <a:bodyPr wrap="square" lIns="0" tIns="0" rIns="0" bIns="0">
              <a:spAutoFit/>
            </a:bodyPr>
            <a:lstStyle/>
            <a:p>
              <a:pPr>
                <a:lnSpc>
                  <a:spcPct val="115000"/>
                </a:lnSpc>
              </a:pPr>
              <a:r>
                <a:rPr sz="819" b="0">
                  <a:solidFill>
                    <a:srgbClr val="262626"/>
                  </a:solidFill>
                  <a:latin typeface="Meiryo UI"/>
                  <a:ea typeface="Meiryo UI"/>
                </a:rPr>
                <a:t>生成AI×Salesforce TPMでInput業務自動化＋アカウントスクワッド化</a:t>
              </a:r>
            </a:p>
          </p:txBody>
        </p:sp>
        <p:sp>
          <p:nvSpPr>
            <p:cNvPr id="58" name="Rectangle 57"/>
            <p:cNvSpPr/>
            <p:nvPr/>
          </p:nvSpPr>
          <p:spPr>
            <a:xfrm>
              <a:off x="5111496" y="4828032"/>
              <a:ext cx="3017520" cy="969264"/>
            </a:xfrm>
            <a:prstGeom prst="rect">
              <a:avLst/>
            </a:prstGeom>
            <a:solidFill>
              <a:srgbClr val="FFFFFF"/>
            </a:solidFill>
            <a:ln w="12700">
              <a:solidFill>
                <a:srgbClr val="B87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5184648" y="4882896"/>
              <a:ext cx="2889504" cy="932688"/>
            </a:xfrm>
            <a:prstGeom prst="rect">
              <a:avLst/>
            </a:prstGeom>
            <a:noFill/>
          </p:spPr>
          <p:txBody>
            <a:bodyPr wrap="square" lIns="0" tIns="0" rIns="0" bIns="0">
              <a:spAutoFit/>
            </a:bodyPr>
            <a:lstStyle/>
            <a:p>
              <a:pPr>
                <a:lnSpc>
                  <a:spcPct val="115000"/>
                </a:lnSpc>
              </a:pPr>
              <a:r>
                <a:rPr sz="790" b="1">
                  <a:solidFill>
                    <a:srgbClr val="262626"/>
                  </a:solidFill>
                  <a:latin typeface="Meiryo UI"/>
                  <a:ea typeface="Meiryo UI"/>
                </a:rPr>
                <a:t>⑦ Input業務ゼロ化による戦略時間の創出
⑧ RevOps型KPIマネジメント（増分粗利を共有KPIに）</a:t>
              </a:r>
            </a:p>
          </p:txBody>
        </p:sp>
        <p:sp>
          <p:nvSpPr>
            <p:cNvPr id="60" name="Rectangle 59"/>
            <p:cNvSpPr/>
            <p:nvPr/>
          </p:nvSpPr>
          <p:spPr>
            <a:xfrm>
              <a:off x="8147304" y="4828032"/>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8220456" y="4882896"/>
              <a:ext cx="2249424" cy="932688"/>
            </a:xfrm>
            <a:prstGeom prst="rect">
              <a:avLst/>
            </a:prstGeom>
            <a:noFill/>
          </p:spPr>
          <p:txBody>
            <a:bodyPr wrap="square" lIns="0" tIns="0" rIns="0" bIns="0">
              <a:spAutoFit/>
            </a:bodyPr>
            <a:lstStyle/>
            <a:p>
              <a:pPr>
                <a:lnSpc>
                  <a:spcPct val="115000"/>
                </a:lnSpc>
              </a:pPr>
              <a:r>
                <a:rPr sz="790" b="1">
                  <a:solidFill>
                    <a:srgbClr val="0F5E87"/>
                  </a:solidFill>
                  <a:latin typeface="Meiryo UI"/>
                  <a:ea typeface="Meiryo UI"/>
                </a:rPr>
                <a:t>Input業務削減 50→80%
RevOps共有KPI達成率</a:t>
              </a:r>
            </a:p>
          </p:txBody>
        </p:sp>
        <p:sp>
          <p:nvSpPr>
            <p:cNvPr id="62" name="Rectangle 61"/>
            <p:cNvSpPr/>
            <p:nvPr/>
          </p:nvSpPr>
          <p:spPr>
            <a:xfrm>
              <a:off x="10543032" y="4828032"/>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10616184" y="4882896"/>
              <a:ext cx="1060704" cy="932688"/>
            </a:xfrm>
            <a:prstGeom prst="rect">
              <a:avLst/>
            </a:prstGeom>
            <a:noFill/>
          </p:spPr>
          <p:txBody>
            <a:bodyPr wrap="square" lIns="0" tIns="0" rIns="0" bIns="0">
              <a:spAutoFit/>
            </a:bodyPr>
            <a:lstStyle/>
            <a:p>
              <a:pPr>
                <a:lnSpc>
                  <a:spcPct val="110000"/>
                </a:lnSpc>
              </a:pPr>
              <a:r>
                <a:rPr sz="819" b="1">
                  <a:solidFill>
                    <a:srgbClr val="262626"/>
                  </a:solidFill>
                  <a:latin typeface="Meiryo UI"/>
                  <a:ea typeface="Meiryo UI"/>
                </a:rPr>
                <a:t>FY26–28
（最速）</a:t>
              </a:r>
            </a:p>
          </p:txBody>
        </p:sp>
        <p:sp>
          <p:nvSpPr>
            <p:cNvPr id="64" name="Rectangle 63"/>
            <p:cNvSpPr/>
            <p:nvPr/>
          </p:nvSpPr>
          <p:spPr>
            <a:xfrm>
              <a:off x="320040" y="5888736"/>
              <a:ext cx="11521440" cy="50292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457200" y="5943600"/>
              <a:ext cx="11292840" cy="411480"/>
            </a:xfrm>
            <a:prstGeom prst="rect">
              <a:avLst/>
            </a:prstGeom>
            <a:noFill/>
          </p:spPr>
          <p:txBody>
            <a:bodyPr wrap="square" lIns="0" tIns="0" rIns="0" bIns="0">
              <a:spAutoFit/>
            </a:bodyPr>
            <a:lstStyle/>
            <a:p>
              <a:pPr>
                <a:lnSpc>
                  <a:spcPct val="115000"/>
                </a:lnSpc>
              </a:pPr>
              <a:r>
                <a:rPr sz="880" b="1">
                  <a:solidFill>
                    <a:srgbClr val="008D2E"/>
                  </a:solidFill>
                  <a:latin typeface="Meiryo UI"/>
                  <a:ea typeface="Meiryo UI"/>
                </a:rPr>
                <a:t>真因との対応：</a:t>
              </a:r>
              <a:r>
                <a:rPr sz="830" b="0">
                  <a:solidFill>
                    <a:srgbClr val="262626"/>
                  </a:solidFill>
                  <a:latin typeface="Meiryo UI"/>
                  <a:ea typeface="Meiryo UI"/>
                </a:rPr>
                <a:t>武器（真因2）＝バイヤー向け⑤／AI向け②／接点③⑥／計器④。回路（真因3）＝時間⑦・編成と検証⑧。型（真因1）＝①の4分割と使い方の再設計。承認は施策ごとに撤退基準・検証計画をセットで諮り、次頁で経営の問いに接続する。</a:t>
              </a:r>
            </a:p>
          </p:txBody>
        </p:sp>
      </p:grpSp>
    </p:spTree>
    <p:extLst>
      <p:ext uri="{BB962C8B-B14F-4D97-AF65-F5344CB8AC3E}">
        <p14:creationId xmlns:p14="http://schemas.microsoft.com/office/powerpoint/2010/main" val="4008966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B8B9D2D-5FC3-3F82-2649-4EBE1B2FD577}"/>
              </a:ext>
            </a:extLst>
          </p:cNvPr>
          <p:cNvSpPr>
            <a:spLocks noGrp="1"/>
          </p:cNvSpPr>
          <p:nvPr>
            <p:ph type="title"/>
          </p:nvPr>
        </p:nvSpPr>
        <p:spPr/>
        <p:txBody>
          <a:bodyPr/>
          <a:lstStyle/>
          <a:p>
            <a:r>
              <a:rPr kumimoji="1" lang="en-US" altLang="ja-JP" dirty="0"/>
              <a:t>How</a:t>
            </a:r>
            <a:r>
              <a:rPr kumimoji="1" lang="ja-JP" altLang="en-US" dirty="0"/>
              <a:t>の全体構造 </a:t>
            </a:r>
            <a:r>
              <a:rPr kumimoji="1" lang="en-US" altLang="ja-JP" dirty="0"/>
              <a:t>― 5</a:t>
            </a:r>
            <a:r>
              <a:rPr kumimoji="1" lang="ja-JP" altLang="en-US" dirty="0"/>
              <a:t>つの経営テーマへの</a:t>
            </a:r>
            <a:r>
              <a:rPr kumimoji="1" lang="en-US" altLang="ja-JP" dirty="0"/>
              <a:t>MECE</a:t>
            </a:r>
            <a:r>
              <a:rPr kumimoji="1" lang="ja-JP" altLang="en-US" dirty="0"/>
              <a:t>接続</a:t>
            </a:r>
          </a:p>
        </p:txBody>
      </p:sp>
      <p:sp>
        <p:nvSpPr>
          <p:cNvPr id="3" name="テキスト プレースホルダー 2">
            <a:extLst>
              <a:ext uri="{FF2B5EF4-FFF2-40B4-BE49-F238E27FC236}">
                <a16:creationId xmlns:a16="http://schemas.microsoft.com/office/drawing/2014/main" id="{84A0BABB-EF04-F0A6-0C92-00EA65ADA0A8}"/>
              </a:ext>
            </a:extLst>
          </p:cNvPr>
          <p:cNvSpPr>
            <a:spLocks noGrp="1"/>
          </p:cNvSpPr>
          <p:nvPr>
            <p:ph type="body" sz="quarter" idx="13"/>
          </p:nvPr>
        </p:nvSpPr>
        <p:spPr/>
        <p:txBody>
          <a:bodyPr/>
          <a:lstStyle/>
          <a:p>
            <a:r>
              <a:rPr kumimoji="1" lang="ja-JP" altLang="en-US" dirty="0"/>
              <a:t>ここまでの「</a:t>
            </a:r>
            <a:r>
              <a:rPr kumimoji="1" lang="en-US" altLang="ja-JP" dirty="0"/>
              <a:t>4</a:t>
            </a:r>
            <a:r>
              <a:rPr kumimoji="1" lang="ja-JP" altLang="en-US" dirty="0"/>
              <a:t>テーマ・</a:t>
            </a:r>
            <a:r>
              <a:rPr kumimoji="1" lang="en-US" altLang="ja-JP" dirty="0"/>
              <a:t>3</a:t>
            </a:r>
            <a:r>
              <a:rPr kumimoji="1" lang="ja-JP" altLang="en-US" dirty="0"/>
              <a:t>真因」は現場が設計する切り口。ここからは同じ</a:t>
            </a:r>
            <a:r>
              <a:rPr kumimoji="1" lang="en-US" altLang="ja-JP" dirty="0"/>
              <a:t>8</a:t>
            </a:r>
            <a:r>
              <a:rPr kumimoji="1" lang="ja-JP" altLang="en-US" dirty="0"/>
              <a:t>施策を、経営が意思決定する</a:t>
            </a:r>
            <a:r>
              <a:rPr kumimoji="1" lang="en-US" altLang="ja-JP" dirty="0"/>
              <a:t>5</a:t>
            </a:r>
            <a:r>
              <a:rPr kumimoji="1" lang="ja-JP" altLang="en-US" dirty="0"/>
              <a:t>つの問いに漏れなく・重複なく翻訳し直す</a:t>
            </a:r>
          </a:p>
          <a:p>
            <a:endParaRPr kumimoji="1" lang="ja-JP" altLang="en-US" dirty="0"/>
          </a:p>
        </p:txBody>
      </p:sp>
      <p:grpSp>
        <p:nvGrpSpPr>
          <p:cNvPr id="4" name="グループ化 3">
            <a:extLst>
              <a:ext uri="{FF2B5EF4-FFF2-40B4-BE49-F238E27FC236}">
                <a16:creationId xmlns:a16="http://schemas.microsoft.com/office/drawing/2014/main" id="{59730B40-FFF7-8ED8-53CE-722635A85A68}"/>
              </a:ext>
            </a:extLst>
          </p:cNvPr>
          <p:cNvGrpSpPr/>
          <p:nvPr/>
        </p:nvGrpSpPr>
        <p:grpSpPr>
          <a:xfrm>
            <a:off x="320040" y="1628775"/>
            <a:ext cx="11548872" cy="4698872"/>
            <a:chOff x="320040" y="1225296"/>
            <a:chExt cx="11548872" cy="5102351"/>
          </a:xfrm>
        </p:grpSpPr>
        <p:sp>
          <p:nvSpPr>
            <p:cNvPr id="14" name="Rectangle 13"/>
            <p:cNvSpPr/>
            <p:nvPr/>
          </p:nvSpPr>
          <p:spPr>
            <a:xfrm>
              <a:off x="320040" y="1225296"/>
              <a:ext cx="182880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5" name="TextBox 14"/>
            <p:cNvSpPr txBox="1"/>
            <p:nvPr/>
          </p:nvSpPr>
          <p:spPr>
            <a:xfrm>
              <a:off x="374904" y="1252728"/>
              <a:ext cx="1719072" cy="176432"/>
            </a:xfrm>
            <a:prstGeom prst="rect">
              <a:avLst/>
            </a:prstGeom>
            <a:noFill/>
          </p:spPr>
          <p:txBody>
            <a:bodyPr wrap="square" lIns="0" tIns="0" rIns="0" bIns="0">
              <a:spAutoFit/>
            </a:bodyPr>
            <a:lstStyle/>
            <a:p>
              <a:pPr>
                <a:lnSpc>
                  <a:spcPct val="112000"/>
                </a:lnSpc>
              </a:pPr>
              <a:r>
                <a:rPr sz="1050" b="1">
                  <a:solidFill>
                    <a:srgbClr val="FFFFFF"/>
                  </a:solidFill>
                  <a:latin typeface="Meiryo UI"/>
                  <a:ea typeface="Meiryo UI"/>
                </a:rPr>
                <a:t>経営テーマ（問い）</a:t>
              </a:r>
            </a:p>
          </p:txBody>
        </p:sp>
        <p:sp>
          <p:nvSpPr>
            <p:cNvPr id="16" name="Rectangle 15"/>
            <p:cNvSpPr/>
            <p:nvPr/>
          </p:nvSpPr>
          <p:spPr>
            <a:xfrm>
              <a:off x="2167128" y="1225296"/>
              <a:ext cx="288036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7" name="TextBox 16"/>
            <p:cNvSpPr txBox="1"/>
            <p:nvPr/>
          </p:nvSpPr>
          <p:spPr>
            <a:xfrm>
              <a:off x="2221992" y="1252728"/>
              <a:ext cx="2770632" cy="176432"/>
            </a:xfrm>
            <a:prstGeom prst="rect">
              <a:avLst/>
            </a:prstGeom>
            <a:noFill/>
          </p:spPr>
          <p:txBody>
            <a:bodyPr wrap="square" lIns="0" tIns="0" rIns="0" bIns="0">
              <a:spAutoFit/>
            </a:bodyPr>
            <a:lstStyle/>
            <a:p>
              <a:pPr>
                <a:lnSpc>
                  <a:spcPct val="112000"/>
                </a:lnSpc>
              </a:pPr>
              <a:r>
                <a:rPr sz="900" b="1" dirty="0">
                  <a:solidFill>
                    <a:srgbClr val="FFFFFF"/>
                  </a:solidFill>
                  <a:latin typeface="Meiryo UI"/>
                  <a:ea typeface="Meiryo UI"/>
                </a:rPr>
                <a:t>前 ― </a:t>
              </a:r>
              <a:r>
                <a:rPr sz="900" b="1" dirty="0" err="1">
                  <a:solidFill>
                    <a:srgbClr val="FFFFFF"/>
                  </a:solidFill>
                  <a:latin typeface="Meiryo UI"/>
                  <a:ea typeface="Meiryo UI"/>
                </a:rPr>
                <a:t>何を受けるか（GAP・真因・公開データ</a:t>
              </a:r>
              <a:r>
                <a:rPr sz="900" b="1" dirty="0">
                  <a:solidFill>
                    <a:srgbClr val="FFFFFF"/>
                  </a:solidFill>
                  <a:latin typeface="Meiryo UI"/>
                  <a:ea typeface="Meiryo UI"/>
                </a:rPr>
                <a:t>）</a:t>
              </a:r>
            </a:p>
          </p:txBody>
        </p:sp>
        <p:sp>
          <p:nvSpPr>
            <p:cNvPr id="18" name="Rectangle 17"/>
            <p:cNvSpPr/>
            <p:nvPr/>
          </p:nvSpPr>
          <p:spPr>
            <a:xfrm>
              <a:off x="5065776" y="1225296"/>
              <a:ext cx="320040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9" name="TextBox 18"/>
            <p:cNvSpPr txBox="1"/>
            <p:nvPr/>
          </p:nvSpPr>
          <p:spPr>
            <a:xfrm>
              <a:off x="5120640" y="1252728"/>
              <a:ext cx="3090672" cy="176432"/>
            </a:xfrm>
            <a:prstGeom prst="rect">
              <a:avLst/>
            </a:prstGeom>
            <a:noFill/>
          </p:spPr>
          <p:txBody>
            <a:bodyPr wrap="square" lIns="0" tIns="0" rIns="0" bIns="0">
              <a:spAutoFit/>
            </a:bodyPr>
            <a:lstStyle/>
            <a:p>
              <a:pPr>
                <a:lnSpc>
                  <a:spcPct val="112000"/>
                </a:lnSpc>
              </a:pPr>
              <a:r>
                <a:rPr sz="1050" b="1">
                  <a:solidFill>
                    <a:srgbClr val="FFFFFF"/>
                  </a:solidFill>
                  <a:latin typeface="Meiryo UI"/>
                  <a:ea typeface="Meiryo UI"/>
                </a:rPr>
                <a:t>答え（ソリューション）</a:t>
              </a:r>
            </a:p>
          </p:txBody>
        </p:sp>
        <p:sp>
          <p:nvSpPr>
            <p:cNvPr id="20" name="Rectangle 19"/>
            <p:cNvSpPr/>
            <p:nvPr/>
          </p:nvSpPr>
          <p:spPr>
            <a:xfrm>
              <a:off x="8284464" y="1225296"/>
              <a:ext cx="14173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1" name="TextBox 20"/>
            <p:cNvSpPr txBox="1"/>
            <p:nvPr/>
          </p:nvSpPr>
          <p:spPr>
            <a:xfrm>
              <a:off x="8339328" y="1252728"/>
              <a:ext cx="1307592" cy="176432"/>
            </a:xfrm>
            <a:prstGeom prst="rect">
              <a:avLst/>
            </a:prstGeom>
            <a:noFill/>
          </p:spPr>
          <p:txBody>
            <a:bodyPr wrap="square" lIns="0" tIns="0" rIns="0" bIns="0">
              <a:spAutoFit/>
            </a:bodyPr>
            <a:lstStyle/>
            <a:p>
              <a:pPr>
                <a:lnSpc>
                  <a:spcPct val="112000"/>
                </a:lnSpc>
              </a:pPr>
              <a:r>
                <a:rPr sz="1050" b="1">
                  <a:solidFill>
                    <a:srgbClr val="FFFFFF"/>
                  </a:solidFill>
                  <a:latin typeface="Meiryo UI"/>
                  <a:ea typeface="Meiryo UI"/>
                </a:rPr>
                <a:t>重点施策</a:t>
              </a:r>
            </a:p>
          </p:txBody>
        </p:sp>
        <p:sp>
          <p:nvSpPr>
            <p:cNvPr id="22" name="Rectangle 21"/>
            <p:cNvSpPr/>
            <p:nvPr/>
          </p:nvSpPr>
          <p:spPr>
            <a:xfrm>
              <a:off x="9720072" y="1225296"/>
              <a:ext cx="214884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3" name="TextBox 22"/>
            <p:cNvSpPr txBox="1"/>
            <p:nvPr/>
          </p:nvSpPr>
          <p:spPr>
            <a:xfrm>
              <a:off x="9774936" y="1252728"/>
              <a:ext cx="2039112" cy="176432"/>
            </a:xfrm>
            <a:prstGeom prst="rect">
              <a:avLst/>
            </a:prstGeom>
            <a:noFill/>
          </p:spPr>
          <p:txBody>
            <a:bodyPr wrap="square" lIns="0" tIns="0" rIns="0" bIns="0">
              <a:spAutoFit/>
            </a:bodyPr>
            <a:lstStyle/>
            <a:p>
              <a:pPr>
                <a:lnSpc>
                  <a:spcPct val="112000"/>
                </a:lnSpc>
              </a:pPr>
              <a:r>
                <a:rPr sz="1050" b="1">
                  <a:solidFill>
                    <a:srgbClr val="FFFFFF"/>
                  </a:solidFill>
                  <a:latin typeface="Meiryo UI"/>
                  <a:ea typeface="Meiryo UI"/>
                </a:rPr>
                <a:t>後 ― つながるKPI</a:t>
              </a:r>
            </a:p>
          </p:txBody>
        </p:sp>
        <p:sp>
          <p:nvSpPr>
            <p:cNvPr id="24" name="Rectangle 23"/>
            <p:cNvSpPr/>
            <p:nvPr/>
          </p:nvSpPr>
          <p:spPr>
            <a:xfrm>
              <a:off x="320040" y="1554480"/>
              <a:ext cx="1828800" cy="80467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5" name="TextBox 24"/>
            <p:cNvSpPr txBox="1"/>
            <p:nvPr/>
          </p:nvSpPr>
          <p:spPr>
            <a:xfrm>
              <a:off x="384048" y="1609344"/>
              <a:ext cx="1700784" cy="358504"/>
            </a:xfrm>
            <a:prstGeom prst="rect">
              <a:avLst/>
            </a:prstGeom>
            <a:noFill/>
          </p:spPr>
          <p:txBody>
            <a:bodyPr wrap="square" lIns="0" tIns="0" rIns="0" bIns="0">
              <a:spAutoFit/>
            </a:bodyPr>
            <a:lstStyle/>
            <a:p>
              <a:pPr>
                <a:lnSpc>
                  <a:spcPct val="110000"/>
                </a:lnSpc>
              </a:pPr>
              <a:r>
                <a:rPr sz="1050" b="1">
                  <a:solidFill>
                    <a:srgbClr val="FFFFFF"/>
                  </a:solidFill>
                  <a:latin typeface="Meiryo UI"/>
                  <a:ea typeface="Meiryo UI"/>
                </a:rPr>
                <a:t>1. 市場機会の選択
</a:t>
              </a:r>
              <a:r>
                <a:rPr sz="1000" b="0">
                  <a:solidFill>
                    <a:srgbClr val="FFFFFF"/>
                  </a:solidFill>
                  <a:latin typeface="Meiryo UI"/>
                  <a:ea typeface="Meiryo UI"/>
                </a:rPr>
                <a:t>どの市場・顧客を重点化するか</a:t>
              </a:r>
            </a:p>
          </p:txBody>
        </p:sp>
        <p:sp>
          <p:nvSpPr>
            <p:cNvPr id="26" name="Rectangle 25"/>
            <p:cNvSpPr/>
            <p:nvPr/>
          </p:nvSpPr>
          <p:spPr>
            <a:xfrm>
              <a:off x="2167128" y="1554480"/>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7" name="TextBox 26"/>
            <p:cNvSpPr txBox="1"/>
            <p:nvPr/>
          </p:nvSpPr>
          <p:spPr>
            <a:xfrm>
              <a:off x="2231136" y="1600200"/>
              <a:ext cx="2743200" cy="533126"/>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GAP1（消耗戦）。決定と傾斜配分は実行済み ― 残るは使い方の型（真因1）。皆歯科健診は骨太2022に明記済み</a:t>
              </a:r>
            </a:p>
          </p:txBody>
        </p:sp>
        <p:sp>
          <p:nvSpPr>
            <p:cNvPr id="28" name="Rectangle 27"/>
            <p:cNvSpPr/>
            <p:nvPr/>
          </p:nvSpPr>
          <p:spPr>
            <a:xfrm>
              <a:off x="5065776" y="1554480"/>
              <a:ext cx="3200400" cy="804672"/>
            </a:xfrm>
            <a:prstGeom prst="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9" name="TextBox 28"/>
            <p:cNvSpPr txBox="1"/>
            <p:nvPr/>
          </p:nvSpPr>
          <p:spPr>
            <a:xfrm>
              <a:off x="5129784" y="1600200"/>
              <a:ext cx="3072384" cy="349314"/>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傾斜した資源を新しい勝ち方の型に流し込む ― オーラルケアを4分割し、分割別KPIとROIC基準で使い方を裁く</a:t>
              </a:r>
            </a:p>
          </p:txBody>
        </p:sp>
        <p:sp>
          <p:nvSpPr>
            <p:cNvPr id="30" name="Rectangle 29"/>
            <p:cNvSpPr/>
            <p:nvPr/>
          </p:nvSpPr>
          <p:spPr>
            <a:xfrm>
              <a:off x="8284464" y="1554480"/>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1" name="TextBox 30"/>
            <p:cNvSpPr txBox="1"/>
            <p:nvPr/>
          </p:nvSpPr>
          <p:spPr>
            <a:xfrm>
              <a:off x="8348472" y="1600200"/>
              <a:ext cx="1289304" cy="334693"/>
            </a:xfrm>
            <a:prstGeom prst="rect">
              <a:avLst/>
            </a:prstGeom>
            <a:noFill/>
          </p:spPr>
          <p:txBody>
            <a:bodyPr wrap="square" lIns="0" tIns="0" rIns="0" bIns="0">
              <a:spAutoFit/>
            </a:bodyPr>
            <a:lstStyle/>
            <a:p>
              <a:pPr>
                <a:lnSpc>
                  <a:spcPct val="105000"/>
                </a:lnSpc>
              </a:pPr>
              <a:r>
                <a:rPr sz="1000" b="1">
                  <a:solidFill>
                    <a:srgbClr val="262626"/>
                  </a:solidFill>
                  <a:latin typeface="Meiryo UI"/>
                  <a:ea typeface="Meiryo UI"/>
                </a:rPr>
                <a:t>解決1「型」の設計
＋A2 学校・自治体
ルートのデジタル化</a:t>
              </a:r>
            </a:p>
          </p:txBody>
        </p:sp>
        <p:sp>
          <p:nvSpPr>
            <p:cNvPr id="32" name="Rectangle 31"/>
            <p:cNvSpPr/>
            <p:nvPr/>
          </p:nvSpPr>
          <p:spPr>
            <a:xfrm>
              <a:off x="9720072" y="1554480"/>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3" name="TextBox 32"/>
            <p:cNvSpPr txBox="1"/>
            <p:nvPr/>
          </p:nvSpPr>
          <p:spPr>
            <a:xfrm>
              <a:off x="9784080" y="1600200"/>
              <a:ext cx="2020824" cy="334693"/>
            </a:xfrm>
            <a:prstGeom prst="rect">
              <a:avLst/>
            </a:prstGeom>
            <a:noFill/>
          </p:spPr>
          <p:txBody>
            <a:bodyPr wrap="square" lIns="0" tIns="0" rIns="0" bIns="0">
              <a:spAutoFit/>
            </a:bodyPr>
            <a:lstStyle/>
            <a:p>
              <a:pPr>
                <a:lnSpc>
                  <a:spcPct val="105000"/>
                </a:lnSpc>
              </a:pPr>
              <a:r>
                <a:rPr sz="1000" b="1">
                  <a:solidFill>
                    <a:srgbClr val="0F5E87"/>
                  </a:solidFill>
                  <a:latin typeface="Meiryo UI"/>
                  <a:ea typeface="Meiryo UI"/>
                </a:rPr>
                <a:t>強み領域売上比率
65→80%（FY30）</a:t>
              </a:r>
            </a:p>
          </p:txBody>
        </p:sp>
        <p:sp>
          <p:nvSpPr>
            <p:cNvPr id="34" name="Rectangle 33"/>
            <p:cNvSpPr/>
            <p:nvPr/>
          </p:nvSpPr>
          <p:spPr>
            <a:xfrm>
              <a:off x="320040" y="2395728"/>
              <a:ext cx="1828800" cy="804672"/>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5" name="TextBox 34"/>
            <p:cNvSpPr txBox="1"/>
            <p:nvPr/>
          </p:nvSpPr>
          <p:spPr>
            <a:xfrm>
              <a:off x="384048" y="2450592"/>
              <a:ext cx="1700784" cy="358504"/>
            </a:xfrm>
            <a:prstGeom prst="rect">
              <a:avLst/>
            </a:prstGeom>
            <a:noFill/>
          </p:spPr>
          <p:txBody>
            <a:bodyPr wrap="square" lIns="0" tIns="0" rIns="0" bIns="0">
              <a:spAutoFit/>
            </a:bodyPr>
            <a:lstStyle/>
            <a:p>
              <a:pPr>
                <a:lnSpc>
                  <a:spcPct val="110000"/>
                </a:lnSpc>
              </a:pPr>
              <a:r>
                <a:rPr sz="1050" b="1">
                  <a:solidFill>
                    <a:srgbClr val="FFFFFF"/>
                  </a:solidFill>
                  <a:latin typeface="Meiryo UI"/>
                  <a:ea typeface="Meiryo UI"/>
                </a:rPr>
                <a:t>2. 選ばれる価値の創造
</a:t>
              </a:r>
              <a:r>
                <a:rPr sz="1000" b="0">
                  <a:solidFill>
                    <a:srgbClr val="FFFFFF"/>
                  </a:solidFill>
                  <a:latin typeface="Meiryo UI"/>
                  <a:ea typeface="Meiryo UI"/>
                </a:rPr>
                <a:t>何を理由に選ばれる会社になるか</a:t>
              </a:r>
            </a:p>
          </p:txBody>
        </p:sp>
        <p:sp>
          <p:nvSpPr>
            <p:cNvPr id="36" name="Rectangle 35"/>
            <p:cNvSpPr/>
            <p:nvPr/>
          </p:nvSpPr>
          <p:spPr>
            <a:xfrm>
              <a:off x="2167128" y="2395728"/>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7" name="TextBox 36"/>
            <p:cNvSpPr txBox="1"/>
            <p:nvPr/>
          </p:nvSpPr>
          <p:spPr>
            <a:xfrm>
              <a:off x="2231136" y="2441448"/>
              <a:ext cx="2743200" cy="533126"/>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真因2「武器」。ゼロクリック66.4%〔ヴァリューズ〕。AIの引用元は自社サイト1%・小売EC17%〔XEO360〕</a:t>
              </a:r>
            </a:p>
          </p:txBody>
        </p:sp>
        <p:sp>
          <p:nvSpPr>
            <p:cNvPr id="38" name="Rectangle 37"/>
            <p:cNvSpPr/>
            <p:nvPr/>
          </p:nvSpPr>
          <p:spPr>
            <a:xfrm>
              <a:off x="5065776" y="2395728"/>
              <a:ext cx="3200400" cy="804672"/>
            </a:xfrm>
            <a:prstGeom prst="rect">
              <a:avLst/>
            </a:prstGeom>
            <a:solidFill>
              <a:srgbClr val="FFFFFF"/>
            </a:solidFill>
            <a:ln w="1270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9" name="TextBox 38"/>
            <p:cNvSpPr txBox="1"/>
            <p:nvPr/>
          </p:nvSpPr>
          <p:spPr>
            <a:xfrm>
              <a:off x="5129784" y="2441448"/>
              <a:ext cx="3072384" cy="349314"/>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30年の臨床データを「人に伝わる根拠」と「AIに引用される構造化知識」の両形式に変換。健康の成果に責任を持つ</a:t>
              </a:r>
            </a:p>
          </p:txBody>
        </p:sp>
        <p:sp>
          <p:nvSpPr>
            <p:cNvPr id="40" name="Rectangle 39"/>
            <p:cNvSpPr/>
            <p:nvPr/>
          </p:nvSpPr>
          <p:spPr>
            <a:xfrm>
              <a:off x="8284464" y="2395728"/>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41" name="TextBox 40"/>
            <p:cNvSpPr txBox="1"/>
            <p:nvPr/>
          </p:nvSpPr>
          <p:spPr>
            <a:xfrm>
              <a:off x="8348472" y="2441448"/>
              <a:ext cx="1289304" cy="510150"/>
            </a:xfrm>
            <a:prstGeom prst="rect">
              <a:avLst/>
            </a:prstGeom>
            <a:noFill/>
          </p:spPr>
          <p:txBody>
            <a:bodyPr wrap="square" lIns="0" tIns="0" rIns="0" bIns="0">
              <a:spAutoFit/>
            </a:bodyPr>
            <a:lstStyle/>
            <a:p>
              <a:pPr>
                <a:lnSpc>
                  <a:spcPct val="105000"/>
                </a:lnSpc>
              </a:pPr>
              <a:r>
                <a:rPr sz="1000" b="1">
                  <a:solidFill>
                    <a:srgbClr val="262626"/>
                  </a:solidFill>
                  <a:latin typeface="Meiryo UI"/>
                  <a:ea typeface="Meiryo UI"/>
                </a:rPr>
                <a:t>A1★ 属性データの
構造化・API化
C1★ 臨床データ変換</a:t>
              </a:r>
            </a:p>
          </p:txBody>
        </p:sp>
        <p:sp>
          <p:nvSpPr>
            <p:cNvPr id="42" name="Rectangle 41"/>
            <p:cNvSpPr/>
            <p:nvPr/>
          </p:nvSpPr>
          <p:spPr>
            <a:xfrm>
              <a:off x="9720072" y="2395728"/>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43" name="TextBox 42"/>
            <p:cNvSpPr txBox="1"/>
            <p:nvPr/>
          </p:nvSpPr>
          <p:spPr>
            <a:xfrm>
              <a:off x="9784080" y="2441448"/>
              <a:ext cx="2020824" cy="334693"/>
            </a:xfrm>
            <a:prstGeom prst="rect">
              <a:avLst/>
            </a:prstGeom>
            <a:noFill/>
          </p:spPr>
          <p:txBody>
            <a:bodyPr wrap="square" lIns="0" tIns="0" rIns="0" bIns="0">
              <a:spAutoFit/>
            </a:bodyPr>
            <a:lstStyle/>
            <a:p>
              <a:pPr>
                <a:lnSpc>
                  <a:spcPct val="105000"/>
                </a:lnSpc>
              </a:pPr>
              <a:r>
                <a:rPr sz="1000" b="1">
                  <a:solidFill>
                    <a:srgbClr val="0F5E87"/>
                  </a:solidFill>
                  <a:latin typeface="Meiryo UI"/>
                  <a:ea typeface="Meiryo UI"/>
                </a:rPr>
                <a:t>AIEO Rate 30→50%
データ武装型商談80%</a:t>
              </a:r>
            </a:p>
          </p:txBody>
        </p:sp>
        <p:sp>
          <p:nvSpPr>
            <p:cNvPr id="44" name="Rectangle 43"/>
            <p:cNvSpPr/>
            <p:nvPr/>
          </p:nvSpPr>
          <p:spPr>
            <a:xfrm>
              <a:off x="320040" y="3236976"/>
              <a:ext cx="1828800" cy="804672"/>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45" name="TextBox 44"/>
            <p:cNvSpPr txBox="1"/>
            <p:nvPr/>
          </p:nvSpPr>
          <p:spPr>
            <a:xfrm>
              <a:off x="384048" y="3291840"/>
              <a:ext cx="1700784" cy="542317"/>
            </a:xfrm>
            <a:prstGeom prst="rect">
              <a:avLst/>
            </a:prstGeom>
            <a:noFill/>
          </p:spPr>
          <p:txBody>
            <a:bodyPr wrap="square" lIns="0" tIns="0" rIns="0" bIns="0">
              <a:spAutoFit/>
            </a:bodyPr>
            <a:lstStyle/>
            <a:p>
              <a:pPr>
                <a:lnSpc>
                  <a:spcPct val="110000"/>
                </a:lnSpc>
              </a:pPr>
              <a:r>
                <a:rPr sz="1050" b="1">
                  <a:solidFill>
                    <a:srgbClr val="FFFFFF"/>
                  </a:solidFill>
                  <a:latin typeface="Meiryo UI"/>
                  <a:ea typeface="Meiryo UI"/>
                </a:rPr>
                <a:t>3. 顧客接点の統合
</a:t>
              </a:r>
              <a:r>
                <a:rPr sz="1000" b="0">
                  <a:solidFill>
                    <a:srgbClr val="FFFFFF"/>
                  </a:solidFill>
                  <a:latin typeface="Meiryo UI"/>
                  <a:ea typeface="Meiryo UI"/>
                </a:rPr>
                <a:t>認知から受注、継続までをどうつなぐか</a:t>
              </a:r>
            </a:p>
          </p:txBody>
        </p:sp>
        <p:sp>
          <p:nvSpPr>
            <p:cNvPr id="46" name="Rectangle 45"/>
            <p:cNvSpPr/>
            <p:nvPr/>
          </p:nvSpPr>
          <p:spPr>
            <a:xfrm>
              <a:off x="2167128" y="3236976"/>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47" name="TextBox 46"/>
            <p:cNvSpPr txBox="1"/>
            <p:nvPr/>
          </p:nvSpPr>
          <p:spPr>
            <a:xfrm>
              <a:off x="2231136" y="3282696"/>
              <a:ext cx="2743200" cy="533126"/>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GAP2・3。リテールメディア2029年1.3兆円〔CARTA〕。日用品購買の約9割は店頭〔経産省EC化率9.78%〕</a:t>
              </a:r>
            </a:p>
          </p:txBody>
        </p:sp>
        <p:sp>
          <p:nvSpPr>
            <p:cNvPr id="48" name="Rectangle 47"/>
            <p:cNvSpPr/>
            <p:nvPr/>
          </p:nvSpPr>
          <p:spPr>
            <a:xfrm>
              <a:off x="5065776" y="3236976"/>
              <a:ext cx="3200400" cy="804672"/>
            </a:xfrm>
            <a:prstGeom prst="rect">
              <a:avLst/>
            </a:prstGeom>
            <a:solidFill>
              <a:srgbClr val="FFFFFF"/>
            </a:solidFill>
            <a:ln w="1270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49" name="TextBox 48"/>
            <p:cNvSpPr txBox="1"/>
            <p:nvPr/>
          </p:nvSpPr>
          <p:spPr>
            <a:xfrm>
              <a:off x="5129784" y="3282696"/>
              <a:ext cx="3072384" cy="533126"/>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棚・EC・AI推奨・歯科接点をTAの1スコアで統合。小売とは共同KPIのJBP、商談は「値引き70＋施策30＋成果連動」で</a:t>
              </a:r>
            </a:p>
          </p:txBody>
        </p:sp>
        <p:sp>
          <p:nvSpPr>
            <p:cNvPr id="50" name="Rectangle 49"/>
            <p:cNvSpPr/>
            <p:nvPr/>
          </p:nvSpPr>
          <p:spPr>
            <a:xfrm>
              <a:off x="8284464" y="3236976"/>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1" name="TextBox 50"/>
            <p:cNvSpPr txBox="1"/>
            <p:nvPr/>
          </p:nvSpPr>
          <p:spPr>
            <a:xfrm>
              <a:off x="8348472" y="3282696"/>
              <a:ext cx="1289304" cy="510150"/>
            </a:xfrm>
            <a:prstGeom prst="rect">
              <a:avLst/>
            </a:prstGeom>
            <a:noFill/>
          </p:spPr>
          <p:txBody>
            <a:bodyPr wrap="square" lIns="0" tIns="0" rIns="0" bIns="0">
              <a:spAutoFit/>
            </a:bodyPr>
            <a:lstStyle/>
            <a:p>
              <a:pPr>
                <a:lnSpc>
                  <a:spcPct val="105000"/>
                </a:lnSpc>
              </a:pPr>
              <a:r>
                <a:rPr sz="1000" b="1">
                  <a:solidFill>
                    <a:srgbClr val="262626"/>
                  </a:solidFill>
                  <a:latin typeface="Meiryo UI"/>
                  <a:ea typeface="Meiryo UI"/>
                </a:rPr>
                <a:t>B2 リテールメディア
投資の内製化
C2 提案の標準化</a:t>
              </a:r>
            </a:p>
          </p:txBody>
        </p:sp>
        <p:sp>
          <p:nvSpPr>
            <p:cNvPr id="52" name="Rectangle 51"/>
            <p:cNvSpPr/>
            <p:nvPr/>
          </p:nvSpPr>
          <p:spPr>
            <a:xfrm>
              <a:off x="9720072" y="3236976"/>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3" name="TextBox 52"/>
            <p:cNvSpPr txBox="1"/>
            <p:nvPr/>
          </p:nvSpPr>
          <p:spPr>
            <a:xfrm>
              <a:off x="9784080" y="3282696"/>
              <a:ext cx="2020824" cy="334693"/>
            </a:xfrm>
            <a:prstGeom prst="rect">
              <a:avLst/>
            </a:prstGeom>
            <a:noFill/>
          </p:spPr>
          <p:txBody>
            <a:bodyPr wrap="square" lIns="0" tIns="0" rIns="0" bIns="0">
              <a:spAutoFit/>
            </a:bodyPr>
            <a:lstStyle/>
            <a:p>
              <a:pPr>
                <a:lnSpc>
                  <a:spcPct val="105000"/>
                </a:lnSpc>
              </a:pPr>
              <a:r>
                <a:rPr sz="1000" b="1">
                  <a:solidFill>
                    <a:srgbClr val="0F5E87"/>
                  </a:solidFill>
                  <a:latin typeface="Meiryo UI"/>
                  <a:ea typeface="Meiryo UI"/>
                </a:rPr>
                <a:t>TAスコア 70→90%
B2B2C売上 5→15%</a:t>
              </a:r>
            </a:p>
          </p:txBody>
        </p:sp>
        <p:sp>
          <p:nvSpPr>
            <p:cNvPr id="54" name="Rectangle 53"/>
            <p:cNvSpPr/>
            <p:nvPr/>
          </p:nvSpPr>
          <p:spPr>
            <a:xfrm>
              <a:off x="320040" y="4078224"/>
              <a:ext cx="1828800" cy="804672"/>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5" name="TextBox 54"/>
            <p:cNvSpPr txBox="1"/>
            <p:nvPr/>
          </p:nvSpPr>
          <p:spPr>
            <a:xfrm>
              <a:off x="384048" y="4133087"/>
              <a:ext cx="1700784" cy="542317"/>
            </a:xfrm>
            <a:prstGeom prst="rect">
              <a:avLst/>
            </a:prstGeom>
            <a:noFill/>
          </p:spPr>
          <p:txBody>
            <a:bodyPr wrap="square" lIns="0" tIns="0" rIns="0" bIns="0">
              <a:spAutoFit/>
            </a:bodyPr>
            <a:lstStyle/>
            <a:p>
              <a:pPr>
                <a:lnSpc>
                  <a:spcPct val="110000"/>
                </a:lnSpc>
              </a:pPr>
              <a:r>
                <a:rPr sz="1050" b="1">
                  <a:solidFill>
                    <a:srgbClr val="FFFFFF"/>
                  </a:solidFill>
                  <a:latin typeface="Meiryo UI"/>
                  <a:ea typeface="Meiryo UI"/>
                </a:rPr>
                <a:t>4. 顧客資本の蓄積
</a:t>
              </a:r>
              <a:r>
                <a:rPr sz="1000" b="0">
                  <a:solidFill>
                    <a:srgbClr val="FFFFFF"/>
                  </a:solidFill>
                  <a:latin typeface="Meiryo UI"/>
                  <a:ea typeface="Meiryo UI"/>
                </a:rPr>
                <a:t>顧客との関係を企業資産にできているか</a:t>
              </a:r>
            </a:p>
          </p:txBody>
        </p:sp>
        <p:sp>
          <p:nvSpPr>
            <p:cNvPr id="56" name="Rectangle 55"/>
            <p:cNvSpPr/>
            <p:nvPr/>
          </p:nvSpPr>
          <p:spPr>
            <a:xfrm>
              <a:off x="2167128" y="4078224"/>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7" name="TextBox 56"/>
            <p:cNvSpPr txBox="1"/>
            <p:nvPr/>
          </p:nvSpPr>
          <p:spPr>
            <a:xfrm>
              <a:off x="2231136" y="4123944"/>
              <a:ext cx="2743200" cy="533126"/>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Cookie消滅・自前データ劣後。AI回答への信頼は低く（37 vs 家族86〔McKinsey〕）、信頼確認は人へ回帰</a:t>
              </a:r>
            </a:p>
          </p:txBody>
        </p:sp>
        <p:sp>
          <p:nvSpPr>
            <p:cNvPr id="58" name="Rectangle 57"/>
            <p:cNvSpPr/>
            <p:nvPr/>
          </p:nvSpPr>
          <p:spPr>
            <a:xfrm>
              <a:off x="5065776" y="4078224"/>
              <a:ext cx="3200400" cy="804672"/>
            </a:xfrm>
            <a:prstGeom prst="rect">
              <a:avLst/>
            </a:prstGeom>
            <a:solidFill>
              <a:srgbClr val="FFFFFF"/>
            </a:solidFill>
            <a:ln w="12700">
              <a:solidFill>
                <a:srgbClr val="B87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9" name="TextBox 58"/>
            <p:cNvSpPr txBox="1"/>
            <p:nvPr/>
          </p:nvSpPr>
          <p:spPr>
            <a:xfrm>
              <a:off x="5129784" y="4123944"/>
              <a:ext cx="3072384" cy="349314"/>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LION IDを口腔健康OSへ転換。測るのは行動 ― リピート・定期登録・90日継続／共同事業件数／推奨起点売上</a:t>
              </a:r>
            </a:p>
          </p:txBody>
        </p:sp>
        <p:sp>
          <p:nvSpPr>
            <p:cNvPr id="60" name="Rectangle 59"/>
            <p:cNvSpPr/>
            <p:nvPr/>
          </p:nvSpPr>
          <p:spPr>
            <a:xfrm>
              <a:off x="8284464" y="4078224"/>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1" name="TextBox 60"/>
            <p:cNvSpPr txBox="1"/>
            <p:nvPr/>
          </p:nvSpPr>
          <p:spPr>
            <a:xfrm>
              <a:off x="8348472" y="4123944"/>
              <a:ext cx="1289304" cy="510150"/>
            </a:xfrm>
            <a:prstGeom prst="rect">
              <a:avLst/>
            </a:prstGeom>
            <a:noFill/>
          </p:spPr>
          <p:txBody>
            <a:bodyPr wrap="square" lIns="0" tIns="0" rIns="0" bIns="0">
              <a:spAutoFit/>
            </a:bodyPr>
            <a:lstStyle/>
            <a:p>
              <a:pPr>
                <a:lnSpc>
                  <a:spcPct val="105000"/>
                </a:lnSpc>
              </a:pPr>
              <a:r>
                <a:rPr sz="900" b="1">
                  <a:solidFill>
                    <a:srgbClr val="262626"/>
                  </a:solidFill>
                  <a:latin typeface="Meiryo UI"/>
                  <a:ea typeface="Meiryo UI"/>
                </a:rPr>
                <a:t>B1★ 投資ROI可視化
（MMM×DCR）
＋ID再設計（候補）</a:t>
              </a:r>
            </a:p>
          </p:txBody>
        </p:sp>
        <p:sp>
          <p:nvSpPr>
            <p:cNvPr id="62" name="Rectangle 61"/>
            <p:cNvSpPr/>
            <p:nvPr/>
          </p:nvSpPr>
          <p:spPr>
            <a:xfrm>
              <a:off x="9720072" y="4078224"/>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3" name="TextBox 62"/>
            <p:cNvSpPr txBox="1"/>
            <p:nvPr/>
          </p:nvSpPr>
          <p:spPr>
            <a:xfrm>
              <a:off x="9784080" y="4123944"/>
              <a:ext cx="2020824" cy="334693"/>
            </a:xfrm>
            <a:prstGeom prst="rect">
              <a:avLst/>
            </a:prstGeom>
            <a:noFill/>
          </p:spPr>
          <p:txBody>
            <a:bodyPr wrap="square" lIns="0" tIns="0" rIns="0" bIns="0">
              <a:spAutoFit/>
            </a:bodyPr>
            <a:lstStyle/>
            <a:p>
              <a:pPr>
                <a:lnSpc>
                  <a:spcPct val="105000"/>
                </a:lnSpc>
              </a:pPr>
              <a:r>
                <a:rPr sz="1000" b="1">
                  <a:solidFill>
                    <a:srgbClr val="0F5E87"/>
                  </a:solidFill>
                  <a:latin typeface="Meiryo UI"/>
                  <a:ea typeface="Meiryo UI"/>
                </a:rPr>
                <a:t>アクティブID／KOIC
90日継続・定期登録</a:t>
              </a:r>
            </a:p>
          </p:txBody>
        </p:sp>
        <p:sp>
          <p:nvSpPr>
            <p:cNvPr id="64" name="Rectangle 63"/>
            <p:cNvSpPr/>
            <p:nvPr/>
          </p:nvSpPr>
          <p:spPr>
            <a:xfrm>
              <a:off x="320040" y="4919472"/>
              <a:ext cx="1828800" cy="804672"/>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5" name="TextBox 64"/>
            <p:cNvSpPr txBox="1"/>
            <p:nvPr/>
          </p:nvSpPr>
          <p:spPr>
            <a:xfrm>
              <a:off x="384048" y="4974336"/>
              <a:ext cx="1700784" cy="542317"/>
            </a:xfrm>
            <a:prstGeom prst="rect">
              <a:avLst/>
            </a:prstGeom>
            <a:noFill/>
          </p:spPr>
          <p:txBody>
            <a:bodyPr wrap="square" lIns="0" tIns="0" rIns="0" bIns="0">
              <a:spAutoFit/>
            </a:bodyPr>
            <a:lstStyle/>
            <a:p>
              <a:pPr>
                <a:lnSpc>
                  <a:spcPct val="110000"/>
                </a:lnSpc>
              </a:pPr>
              <a:r>
                <a:rPr sz="1050" b="1">
                  <a:solidFill>
                    <a:srgbClr val="FFFFFF"/>
                  </a:solidFill>
                  <a:latin typeface="Meiryo UI"/>
                  <a:ea typeface="Meiryo UI"/>
                </a:rPr>
                <a:t>5. 実行能力と成果管理
</a:t>
              </a:r>
              <a:r>
                <a:rPr sz="1000" b="0">
                  <a:solidFill>
                    <a:srgbClr val="FFFFFF"/>
                  </a:solidFill>
                  <a:latin typeface="Meiryo UI"/>
                  <a:ea typeface="Meiryo UI"/>
                </a:rPr>
                <a:t>誰が、何を担い、どの指標で評価するか</a:t>
              </a:r>
            </a:p>
          </p:txBody>
        </p:sp>
        <p:sp>
          <p:nvSpPr>
            <p:cNvPr id="66" name="Rectangle 65"/>
            <p:cNvSpPr/>
            <p:nvPr/>
          </p:nvSpPr>
          <p:spPr>
            <a:xfrm>
              <a:off x="2167128" y="4919472"/>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7" name="TextBox 66"/>
            <p:cNvSpPr txBox="1"/>
            <p:nvPr/>
          </p:nvSpPr>
          <p:spPr>
            <a:xfrm>
              <a:off x="2231136" y="4965192"/>
              <a:ext cx="2743200" cy="533126"/>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真因3「回路」。生成AI普及は1年で約3倍〔総務省白書〕＝期限は自社で選べない。対P&amp;G生産性7.6倍差</a:t>
              </a:r>
            </a:p>
          </p:txBody>
        </p:sp>
        <p:sp>
          <p:nvSpPr>
            <p:cNvPr id="68" name="Rectangle 67"/>
            <p:cNvSpPr/>
            <p:nvPr/>
          </p:nvSpPr>
          <p:spPr>
            <a:xfrm>
              <a:off x="5065776" y="4919472"/>
              <a:ext cx="3200400" cy="804672"/>
            </a:xfrm>
            <a:prstGeom prst="rect">
              <a:avLst/>
            </a:prstGeom>
            <a:solidFill>
              <a:srgbClr val="FFFFFF"/>
            </a:solidFill>
            <a:ln w="12700">
              <a:solidFill>
                <a:srgbClr val="1623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9" name="TextBox 68"/>
            <p:cNvSpPr txBox="1"/>
            <p:nvPr/>
          </p:nvSpPr>
          <p:spPr>
            <a:xfrm>
              <a:off x="5129784" y="4965192"/>
              <a:ext cx="3072384" cy="349314"/>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ゼロ化で時間を生み、スクワッド×北極星KPI（増分粗利）で束ねる。役員オーナー制＋撤退基準＋検証責任は提案側</a:t>
              </a:r>
            </a:p>
          </p:txBody>
        </p:sp>
        <p:sp>
          <p:nvSpPr>
            <p:cNvPr id="70" name="Rectangle 69"/>
            <p:cNvSpPr/>
            <p:nvPr/>
          </p:nvSpPr>
          <p:spPr>
            <a:xfrm>
              <a:off x="8284464" y="4919472"/>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71" name="TextBox 70"/>
            <p:cNvSpPr txBox="1"/>
            <p:nvPr/>
          </p:nvSpPr>
          <p:spPr>
            <a:xfrm>
              <a:off x="8348472" y="4965192"/>
              <a:ext cx="1289304" cy="334693"/>
            </a:xfrm>
            <a:prstGeom prst="rect">
              <a:avLst/>
            </a:prstGeom>
            <a:noFill/>
          </p:spPr>
          <p:txBody>
            <a:bodyPr wrap="square" lIns="0" tIns="0" rIns="0" bIns="0">
              <a:spAutoFit/>
            </a:bodyPr>
            <a:lstStyle/>
            <a:p>
              <a:pPr>
                <a:lnSpc>
                  <a:spcPct val="105000"/>
                </a:lnSpc>
              </a:pPr>
              <a:r>
                <a:rPr sz="1000" b="1">
                  <a:solidFill>
                    <a:srgbClr val="262626"/>
                  </a:solidFill>
                  <a:latin typeface="Meiryo UI"/>
                  <a:ea typeface="Meiryo UI"/>
                </a:rPr>
                <a:t>D1★ Input業務ゼロ化
D2 ダイヤモンド型組織</a:t>
              </a:r>
            </a:p>
          </p:txBody>
        </p:sp>
        <p:sp>
          <p:nvSpPr>
            <p:cNvPr id="72" name="Rectangle 71"/>
            <p:cNvSpPr/>
            <p:nvPr/>
          </p:nvSpPr>
          <p:spPr>
            <a:xfrm>
              <a:off x="9720072" y="4919472"/>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73" name="TextBox 72"/>
            <p:cNvSpPr txBox="1"/>
            <p:nvPr/>
          </p:nvSpPr>
          <p:spPr>
            <a:xfrm>
              <a:off x="9784080" y="4965192"/>
              <a:ext cx="2020824" cy="334693"/>
            </a:xfrm>
            <a:prstGeom prst="rect">
              <a:avLst/>
            </a:prstGeom>
            <a:noFill/>
          </p:spPr>
          <p:txBody>
            <a:bodyPr wrap="square" lIns="0" tIns="0" rIns="0" bIns="0">
              <a:spAutoFit/>
            </a:bodyPr>
            <a:lstStyle/>
            <a:p>
              <a:pPr>
                <a:lnSpc>
                  <a:spcPct val="105000"/>
                </a:lnSpc>
              </a:pPr>
              <a:r>
                <a:rPr sz="1000" b="1">
                  <a:solidFill>
                    <a:srgbClr val="0F5E87"/>
                  </a:solidFill>
                  <a:latin typeface="Meiryo UI"/>
                  <a:ea typeface="Meiryo UI"/>
                </a:rPr>
                <a:t>Input削減 50→80%
共有KPI達成率</a:t>
              </a:r>
            </a:p>
          </p:txBody>
        </p:sp>
        <p:sp>
          <p:nvSpPr>
            <p:cNvPr id="74" name="Rectangle 73"/>
            <p:cNvSpPr/>
            <p:nvPr/>
          </p:nvSpPr>
          <p:spPr>
            <a:xfrm>
              <a:off x="320040" y="5779007"/>
              <a:ext cx="11521440" cy="54864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75" name="TextBox 74"/>
            <p:cNvSpPr txBox="1"/>
            <p:nvPr/>
          </p:nvSpPr>
          <p:spPr>
            <a:xfrm>
              <a:off x="457200" y="5824728"/>
              <a:ext cx="11292840" cy="385241"/>
            </a:xfrm>
            <a:prstGeom prst="rect">
              <a:avLst/>
            </a:prstGeom>
            <a:noFill/>
          </p:spPr>
          <p:txBody>
            <a:bodyPr wrap="square" lIns="0" tIns="0" rIns="0" bIns="0">
              <a:spAutoFit/>
            </a:bodyPr>
            <a:lstStyle/>
            <a:p>
              <a:pPr>
                <a:lnSpc>
                  <a:spcPct val="116000"/>
                </a:lnSpc>
              </a:pPr>
              <a:r>
                <a:rPr sz="1050" b="1">
                  <a:solidFill>
                    <a:srgbClr val="008D2E"/>
                  </a:solidFill>
                  <a:latin typeface="Meiryo UI"/>
                  <a:ea typeface="Meiryo UI"/>
                </a:rPr>
                <a:t>MECEの根拠と「線」の設計：</a:t>
              </a:r>
              <a:r>
                <a:rPr sz="1050" b="0">
                  <a:solidFill>
                    <a:srgbClr val="262626"/>
                  </a:solidFill>
                  <a:latin typeface="Meiryo UI"/>
                  <a:ea typeface="Meiryo UI"/>
                </a:rPr>
                <a:t>5テーマは「選ぶ→定める→届ける→蓄える→回す」の完全分割（漏れ・重複なし）。8施策は排他的に割当てつつ、C1の根拠がC2の標準提案に、B2の接点がB1の計測を強くし、D1が全体の時間を支える ― という受け渡しを「線」として設計。出口＝業務の変化は次頁。</a:t>
              </a:r>
            </a:p>
          </p:txBody>
        </p:sp>
      </p:grpSp>
    </p:spTree>
    <p:extLst>
      <p:ext uri="{BB962C8B-B14F-4D97-AF65-F5344CB8AC3E}">
        <p14:creationId xmlns:p14="http://schemas.microsoft.com/office/powerpoint/2010/main" val="20861300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6ADF409-8DDB-ACBD-4A9B-371D1BC9D71D}"/>
              </a:ext>
            </a:extLst>
          </p:cNvPr>
          <p:cNvSpPr>
            <a:spLocks noGrp="1"/>
          </p:cNvSpPr>
          <p:nvPr>
            <p:ph type="title"/>
          </p:nvPr>
        </p:nvSpPr>
        <p:spPr/>
        <p:txBody>
          <a:bodyPr/>
          <a:lstStyle/>
          <a:p>
            <a:r>
              <a:rPr lang="ja-JP" altLang="en-US" b="1" dirty="0">
                <a:solidFill>
                  <a:srgbClr val="262626"/>
                </a:solidFill>
                <a:latin typeface="Meiryo UI"/>
                <a:ea typeface="Meiryo UI"/>
              </a:rPr>
              <a:t>出口 </a:t>
            </a:r>
            <a:r>
              <a:rPr lang="en-US" altLang="ja-JP" b="1" dirty="0">
                <a:solidFill>
                  <a:srgbClr val="262626"/>
                </a:solidFill>
                <a:latin typeface="Meiryo UI"/>
                <a:ea typeface="Meiryo UI"/>
              </a:rPr>
              <a:t>― </a:t>
            </a:r>
            <a:r>
              <a:rPr lang="ja-JP" altLang="en-US" b="1" dirty="0">
                <a:solidFill>
                  <a:srgbClr val="262626"/>
                </a:solidFill>
                <a:latin typeface="Meiryo UI"/>
                <a:ea typeface="Meiryo UI"/>
              </a:rPr>
              <a:t>マーケティング・営業</a:t>
            </a:r>
            <a:r>
              <a:rPr lang="en-US" altLang="ja-JP" b="1" dirty="0">
                <a:solidFill>
                  <a:srgbClr val="262626"/>
                </a:solidFill>
                <a:latin typeface="Meiryo UI"/>
                <a:ea typeface="Meiryo UI"/>
              </a:rPr>
              <a:t>DX</a:t>
            </a:r>
            <a:r>
              <a:rPr lang="ja-JP" altLang="en-US" b="1" dirty="0">
                <a:solidFill>
                  <a:srgbClr val="262626"/>
                </a:solidFill>
                <a:latin typeface="Meiryo UI"/>
                <a:ea typeface="Meiryo UI"/>
              </a:rPr>
              <a:t>の姿（</a:t>
            </a:r>
            <a:r>
              <a:rPr lang="en-US" altLang="ja-JP" b="1" dirty="0">
                <a:solidFill>
                  <a:srgbClr val="262626"/>
                </a:solidFill>
                <a:latin typeface="Meiryo UI"/>
                <a:ea typeface="Meiryo UI"/>
              </a:rPr>
              <a:t>Before</a:t>
            </a:r>
            <a:r>
              <a:rPr lang="ja-JP" altLang="en-US" b="1" dirty="0">
                <a:solidFill>
                  <a:srgbClr val="262626"/>
                </a:solidFill>
                <a:latin typeface="Meiryo UI"/>
                <a:ea typeface="Meiryo UI"/>
              </a:rPr>
              <a:t> → </a:t>
            </a:r>
            <a:r>
              <a:rPr lang="en-US" altLang="ja-JP" b="1" dirty="0">
                <a:solidFill>
                  <a:srgbClr val="262626"/>
                </a:solidFill>
                <a:latin typeface="Meiryo UI"/>
                <a:ea typeface="Meiryo UI"/>
              </a:rPr>
              <a:t>After</a:t>
            </a:r>
            <a:r>
              <a:rPr lang="ja-JP" altLang="en-US" b="1" dirty="0">
                <a:solidFill>
                  <a:srgbClr val="262626"/>
                </a:solidFill>
                <a:latin typeface="Meiryo UI"/>
                <a:ea typeface="Meiryo UI"/>
              </a:rPr>
              <a:t>）</a:t>
            </a:r>
            <a:endParaRPr kumimoji="1" lang="ja-JP" altLang="en-US" dirty="0"/>
          </a:p>
        </p:txBody>
      </p:sp>
      <p:sp>
        <p:nvSpPr>
          <p:cNvPr id="3" name="テキスト プレースホルダー 2">
            <a:extLst>
              <a:ext uri="{FF2B5EF4-FFF2-40B4-BE49-F238E27FC236}">
                <a16:creationId xmlns:a16="http://schemas.microsoft.com/office/drawing/2014/main" id="{010C1949-5B5C-DE15-DC7A-7ADC3430AEBA}"/>
              </a:ext>
            </a:extLst>
          </p:cNvPr>
          <p:cNvSpPr>
            <a:spLocks noGrp="1"/>
          </p:cNvSpPr>
          <p:nvPr>
            <p:ph type="body" sz="quarter" idx="13"/>
          </p:nvPr>
        </p:nvSpPr>
        <p:spPr/>
        <p:txBody>
          <a:bodyPr/>
          <a:lstStyle/>
          <a:p>
            <a:r>
              <a:rPr lang="ja-JP" altLang="en-US" b="1" dirty="0">
                <a:solidFill>
                  <a:srgbClr val="262626"/>
                </a:solidFill>
                <a:latin typeface="Meiryo UI"/>
                <a:ea typeface="Meiryo UI"/>
              </a:rPr>
              <a:t>出口は戦略文書ではなく、現場の仕事の新しい姿が回っている状態。</a:t>
            </a:r>
            <a:r>
              <a:rPr lang="en-US" altLang="ja-JP" b="1" dirty="0">
                <a:solidFill>
                  <a:srgbClr val="262626"/>
                </a:solidFill>
                <a:latin typeface="Meiryo UI"/>
                <a:ea typeface="Meiryo UI"/>
              </a:rPr>
              <a:t>5</a:t>
            </a:r>
            <a:r>
              <a:rPr lang="ja-JP" altLang="en-US" b="1" dirty="0">
                <a:solidFill>
                  <a:srgbClr val="262626"/>
                </a:solidFill>
                <a:latin typeface="Meiryo UI"/>
                <a:ea typeface="Meiryo UI"/>
              </a:rPr>
              <a:t>つの経営テーマの答えを、誰の・どの業務が・どのデジタルで変わるかに着地させる</a:t>
            </a:r>
          </a:p>
        </p:txBody>
      </p:sp>
      <p:grpSp>
        <p:nvGrpSpPr>
          <p:cNvPr id="4" name="グループ化 3">
            <a:extLst>
              <a:ext uri="{FF2B5EF4-FFF2-40B4-BE49-F238E27FC236}">
                <a16:creationId xmlns:a16="http://schemas.microsoft.com/office/drawing/2014/main" id="{1CB1FD51-8D26-5B02-E709-5CCBC7D770DA}"/>
              </a:ext>
            </a:extLst>
          </p:cNvPr>
          <p:cNvGrpSpPr/>
          <p:nvPr/>
        </p:nvGrpSpPr>
        <p:grpSpPr>
          <a:xfrm>
            <a:off x="320040" y="1628774"/>
            <a:ext cx="11521440" cy="4845177"/>
            <a:chOff x="320040" y="1463040"/>
            <a:chExt cx="11521440" cy="5010912"/>
          </a:xfrm>
        </p:grpSpPr>
        <p:sp>
          <p:nvSpPr>
            <p:cNvPr id="14" name="Rectangle 13"/>
            <p:cNvSpPr/>
            <p:nvPr/>
          </p:nvSpPr>
          <p:spPr>
            <a:xfrm>
              <a:off x="320040" y="1463040"/>
              <a:ext cx="5669280" cy="329184"/>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15" name="TextBox 14"/>
            <p:cNvSpPr txBox="1"/>
            <p:nvPr/>
          </p:nvSpPr>
          <p:spPr>
            <a:xfrm>
              <a:off x="429768" y="1499616"/>
              <a:ext cx="5440680" cy="256036"/>
            </a:xfrm>
            <a:prstGeom prst="rect">
              <a:avLst/>
            </a:prstGeom>
            <a:noFill/>
          </p:spPr>
          <p:txBody>
            <a:bodyPr wrap="square" lIns="0" tIns="0" rIns="0" bIns="0">
              <a:spAutoFit/>
            </a:bodyPr>
            <a:lstStyle/>
            <a:p>
              <a:pPr>
                <a:lnSpc>
                  <a:spcPct val="112000"/>
                </a:lnSpc>
              </a:pPr>
              <a:r>
                <a:rPr sz="1600" b="1">
                  <a:solidFill>
                    <a:srgbClr val="FFFFFF"/>
                  </a:solidFill>
                  <a:latin typeface="Meiryo UI"/>
                  <a:ea typeface="Meiryo UI"/>
                </a:rPr>
                <a:t>営業のDX ― 商談・売場・体制</a:t>
              </a:r>
            </a:p>
          </p:txBody>
        </p:sp>
        <p:sp>
          <p:nvSpPr>
            <p:cNvPr id="16" name="Rectangle 15"/>
            <p:cNvSpPr/>
            <p:nvPr/>
          </p:nvSpPr>
          <p:spPr>
            <a:xfrm>
              <a:off x="320040" y="1847088"/>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17" name="TextBox 16"/>
            <p:cNvSpPr txBox="1"/>
            <p:nvPr/>
          </p:nvSpPr>
          <p:spPr>
            <a:xfrm>
              <a:off x="393192" y="1892807"/>
              <a:ext cx="1097280" cy="170823"/>
            </a:xfrm>
            <a:prstGeom prst="rect">
              <a:avLst/>
            </a:prstGeom>
            <a:noFill/>
          </p:spPr>
          <p:txBody>
            <a:bodyPr wrap="square" lIns="0" tIns="0" rIns="0" bIns="0">
              <a:spAutoFit/>
            </a:bodyPr>
            <a:lstStyle/>
            <a:p>
              <a:pPr>
                <a:lnSpc>
                  <a:spcPct val="108000"/>
                </a:lnSpc>
              </a:pPr>
              <a:r>
                <a:rPr sz="1100" b="1">
                  <a:solidFill>
                    <a:srgbClr val="008D2E"/>
                  </a:solidFill>
                  <a:latin typeface="Meiryo UI"/>
                  <a:ea typeface="Meiryo UI"/>
                </a:rPr>
                <a:t>商談の準備</a:t>
              </a:r>
            </a:p>
          </p:txBody>
        </p:sp>
        <p:sp>
          <p:nvSpPr>
            <p:cNvPr id="18" name="TextBox 17"/>
            <p:cNvSpPr txBox="1"/>
            <p:nvPr/>
          </p:nvSpPr>
          <p:spPr>
            <a:xfrm>
              <a:off x="1536192" y="1892807"/>
              <a:ext cx="2084831" cy="349339"/>
            </a:xfrm>
            <a:prstGeom prst="rect">
              <a:avLst/>
            </a:prstGeom>
            <a:noFill/>
          </p:spPr>
          <p:txBody>
            <a:bodyPr wrap="square" lIns="0" tIns="0" rIns="0" bIns="0">
              <a:spAutoFit/>
            </a:bodyPr>
            <a:lstStyle/>
            <a:p>
              <a:pPr>
                <a:lnSpc>
                  <a:spcPct val="110000"/>
                </a:lnSpc>
              </a:pPr>
              <a:r>
                <a:rPr sz="1050" b="1">
                  <a:solidFill>
                    <a:srgbClr val="595959"/>
                  </a:solidFill>
                  <a:latin typeface="Meiryo UI"/>
                  <a:ea typeface="Meiryo UI"/>
                </a:rPr>
                <a:t>Before　</a:t>
              </a:r>
              <a:r>
                <a:rPr sz="1050" b="0">
                  <a:solidFill>
                    <a:srgbClr val="262626"/>
                  </a:solidFill>
                  <a:latin typeface="Meiryo UI"/>
                  <a:ea typeface="Meiryo UI"/>
                </a:rPr>
                <a:t>提案資料・実績集計を手作業で数時間</a:t>
              </a:r>
            </a:p>
          </p:txBody>
        </p:sp>
        <p:sp>
          <p:nvSpPr>
            <p:cNvPr id="19" name="TextBox 18"/>
            <p:cNvSpPr txBox="1"/>
            <p:nvPr/>
          </p:nvSpPr>
          <p:spPr>
            <a:xfrm>
              <a:off x="3703320" y="1892807"/>
              <a:ext cx="2212848" cy="533160"/>
            </a:xfrm>
            <a:prstGeom prst="rect">
              <a:avLst/>
            </a:prstGeom>
            <a:noFill/>
          </p:spPr>
          <p:txBody>
            <a:bodyPr wrap="square" lIns="0" tIns="0" rIns="0" bIns="0">
              <a:spAutoFit/>
            </a:bodyPr>
            <a:lstStyle/>
            <a:p>
              <a:pPr>
                <a:lnSpc>
                  <a:spcPct val="110000"/>
                </a:lnSpc>
              </a:pPr>
              <a:r>
                <a:rPr sz="1050" b="1">
                  <a:solidFill>
                    <a:srgbClr val="008D2E"/>
                  </a:solidFill>
                  <a:latin typeface="Meiryo UI"/>
                  <a:ea typeface="Meiryo UI"/>
                </a:rPr>
                <a:t>After　</a:t>
              </a:r>
              <a:r>
                <a:rPr sz="1050" b="1">
                  <a:solidFill>
                    <a:srgbClr val="262626"/>
                  </a:solidFill>
                  <a:latin typeface="Meiryo UI"/>
                  <a:ea typeface="Meiryo UI"/>
                </a:rPr>
                <a:t>生成AI×TPMが提案書・LTV予測・炭素効率を自動生成。営業はレビューのみ　</a:t>
              </a:r>
              <a:r>
                <a:rPr sz="1050" b="0">
                  <a:solidFill>
                    <a:srgbClr val="595959"/>
                  </a:solidFill>
                  <a:latin typeface="Meiryo UI"/>
                  <a:ea typeface="Meiryo UI"/>
                </a:rPr>
                <a:t>（C1・D1）</a:t>
              </a:r>
            </a:p>
          </p:txBody>
        </p:sp>
        <p:sp>
          <p:nvSpPr>
            <p:cNvPr id="20" name="Rectangle 19"/>
            <p:cNvSpPr/>
            <p:nvPr/>
          </p:nvSpPr>
          <p:spPr>
            <a:xfrm>
              <a:off x="320040" y="2834640"/>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21" name="TextBox 20"/>
            <p:cNvSpPr txBox="1"/>
            <p:nvPr/>
          </p:nvSpPr>
          <p:spPr>
            <a:xfrm>
              <a:off x="393192" y="2880360"/>
              <a:ext cx="1097280" cy="170823"/>
            </a:xfrm>
            <a:prstGeom prst="rect">
              <a:avLst/>
            </a:prstGeom>
            <a:noFill/>
          </p:spPr>
          <p:txBody>
            <a:bodyPr wrap="square" lIns="0" tIns="0" rIns="0" bIns="0">
              <a:spAutoFit/>
            </a:bodyPr>
            <a:lstStyle/>
            <a:p>
              <a:pPr>
                <a:lnSpc>
                  <a:spcPct val="108000"/>
                </a:lnSpc>
              </a:pPr>
              <a:r>
                <a:rPr sz="1100" b="1">
                  <a:solidFill>
                    <a:srgbClr val="008D2E"/>
                  </a:solidFill>
                  <a:latin typeface="Meiryo UI"/>
                  <a:ea typeface="Meiryo UI"/>
                </a:rPr>
                <a:t>商談の中身</a:t>
              </a:r>
            </a:p>
          </p:txBody>
        </p:sp>
        <p:sp>
          <p:nvSpPr>
            <p:cNvPr id="22" name="TextBox 21"/>
            <p:cNvSpPr txBox="1"/>
            <p:nvPr/>
          </p:nvSpPr>
          <p:spPr>
            <a:xfrm>
              <a:off x="1536192" y="2880360"/>
              <a:ext cx="2084831" cy="349339"/>
            </a:xfrm>
            <a:prstGeom prst="rect">
              <a:avLst/>
            </a:prstGeom>
            <a:noFill/>
          </p:spPr>
          <p:txBody>
            <a:bodyPr wrap="square" lIns="0" tIns="0" rIns="0" bIns="0">
              <a:spAutoFit/>
            </a:bodyPr>
            <a:lstStyle/>
            <a:p>
              <a:pPr>
                <a:lnSpc>
                  <a:spcPct val="110000"/>
                </a:lnSpc>
              </a:pPr>
              <a:r>
                <a:rPr sz="1050" b="1">
                  <a:solidFill>
                    <a:srgbClr val="595959"/>
                  </a:solidFill>
                  <a:latin typeface="Meiryo UI"/>
                  <a:ea typeface="Meiryo UI"/>
                </a:rPr>
                <a:t>Before　</a:t>
              </a:r>
              <a:r>
                <a:rPr sz="1050" b="0">
                  <a:solidFill>
                    <a:srgbClr val="262626"/>
                  </a:solidFill>
                  <a:latin typeface="Meiryo UI"/>
                  <a:ea typeface="Meiryo UI"/>
                </a:rPr>
                <a:t>値引き・特売の条件交渉が中心</a:t>
              </a:r>
            </a:p>
          </p:txBody>
        </p:sp>
        <p:sp>
          <p:nvSpPr>
            <p:cNvPr id="23" name="TextBox 22"/>
            <p:cNvSpPr txBox="1"/>
            <p:nvPr/>
          </p:nvSpPr>
          <p:spPr>
            <a:xfrm>
              <a:off x="3703320" y="2880360"/>
              <a:ext cx="2212848" cy="533160"/>
            </a:xfrm>
            <a:prstGeom prst="rect">
              <a:avLst/>
            </a:prstGeom>
            <a:noFill/>
          </p:spPr>
          <p:txBody>
            <a:bodyPr wrap="square" lIns="0" tIns="0" rIns="0" bIns="0">
              <a:spAutoFit/>
            </a:bodyPr>
            <a:lstStyle/>
            <a:p>
              <a:pPr>
                <a:lnSpc>
                  <a:spcPct val="110000"/>
                </a:lnSpc>
              </a:pPr>
              <a:r>
                <a:rPr sz="1050" b="1">
                  <a:solidFill>
                    <a:srgbClr val="008D2E"/>
                  </a:solidFill>
                  <a:latin typeface="Meiryo UI"/>
                  <a:ea typeface="Meiryo UI"/>
                </a:rPr>
                <a:t>After　</a:t>
              </a:r>
              <a:r>
                <a:rPr sz="1050" b="1">
                  <a:solidFill>
                    <a:srgbClr val="262626"/>
                  </a:solidFill>
                  <a:latin typeface="Meiryo UI"/>
                  <a:ea typeface="Meiryo UI"/>
                </a:rPr>
                <a:t>「値引き70＋施策30＋成果連動」＋小売データ共同検証のJBP商談へ　</a:t>
              </a:r>
              <a:r>
                <a:rPr sz="1050" b="0">
                  <a:solidFill>
                    <a:srgbClr val="595959"/>
                  </a:solidFill>
                  <a:latin typeface="Meiryo UI"/>
                  <a:ea typeface="Meiryo UI"/>
                </a:rPr>
                <a:t>（C2・B1）</a:t>
              </a:r>
            </a:p>
          </p:txBody>
        </p:sp>
        <p:sp>
          <p:nvSpPr>
            <p:cNvPr id="24" name="Rectangle 23"/>
            <p:cNvSpPr/>
            <p:nvPr/>
          </p:nvSpPr>
          <p:spPr>
            <a:xfrm>
              <a:off x="320040" y="3822191"/>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25" name="TextBox 24"/>
            <p:cNvSpPr txBox="1"/>
            <p:nvPr/>
          </p:nvSpPr>
          <p:spPr>
            <a:xfrm>
              <a:off x="393192" y="3867911"/>
              <a:ext cx="1097280" cy="170823"/>
            </a:xfrm>
            <a:prstGeom prst="rect">
              <a:avLst/>
            </a:prstGeom>
            <a:noFill/>
          </p:spPr>
          <p:txBody>
            <a:bodyPr wrap="square" lIns="0" tIns="0" rIns="0" bIns="0">
              <a:spAutoFit/>
            </a:bodyPr>
            <a:lstStyle/>
            <a:p>
              <a:pPr>
                <a:lnSpc>
                  <a:spcPct val="108000"/>
                </a:lnSpc>
              </a:pPr>
              <a:r>
                <a:rPr sz="1100" b="1">
                  <a:solidFill>
                    <a:srgbClr val="008D2E"/>
                  </a:solidFill>
                  <a:latin typeface="Meiryo UI"/>
                  <a:ea typeface="Meiryo UI"/>
                </a:rPr>
                <a:t>売場・接点</a:t>
              </a:r>
            </a:p>
          </p:txBody>
        </p:sp>
        <p:sp>
          <p:nvSpPr>
            <p:cNvPr id="26" name="TextBox 25"/>
            <p:cNvSpPr txBox="1"/>
            <p:nvPr/>
          </p:nvSpPr>
          <p:spPr>
            <a:xfrm>
              <a:off x="1536192" y="3867911"/>
              <a:ext cx="2084831" cy="349339"/>
            </a:xfrm>
            <a:prstGeom prst="rect">
              <a:avLst/>
            </a:prstGeom>
            <a:noFill/>
          </p:spPr>
          <p:txBody>
            <a:bodyPr wrap="square" lIns="0" tIns="0" rIns="0" bIns="0">
              <a:spAutoFit/>
            </a:bodyPr>
            <a:lstStyle/>
            <a:p>
              <a:pPr>
                <a:lnSpc>
                  <a:spcPct val="110000"/>
                </a:lnSpc>
              </a:pPr>
              <a:r>
                <a:rPr sz="1050" b="1">
                  <a:solidFill>
                    <a:srgbClr val="595959"/>
                  </a:solidFill>
                  <a:latin typeface="Meiryo UI"/>
                  <a:ea typeface="Meiryo UI"/>
                </a:rPr>
                <a:t>Before　</a:t>
              </a:r>
              <a:r>
                <a:rPr sz="1050" b="0">
                  <a:solidFill>
                    <a:srgbClr val="262626"/>
                  </a:solidFill>
                  <a:latin typeface="Meiryo UI"/>
                  <a:ea typeface="Meiryo UI"/>
                </a:rPr>
                <a:t>棚取り・チラシ枠交渉。店頭とECは別管理</a:t>
              </a:r>
            </a:p>
          </p:txBody>
        </p:sp>
        <p:sp>
          <p:nvSpPr>
            <p:cNvPr id="27" name="TextBox 26"/>
            <p:cNvSpPr txBox="1"/>
            <p:nvPr/>
          </p:nvSpPr>
          <p:spPr>
            <a:xfrm>
              <a:off x="3703320" y="3867911"/>
              <a:ext cx="2212848" cy="533160"/>
            </a:xfrm>
            <a:prstGeom prst="rect">
              <a:avLst/>
            </a:prstGeom>
            <a:noFill/>
          </p:spPr>
          <p:txBody>
            <a:bodyPr wrap="square" lIns="0" tIns="0" rIns="0" bIns="0">
              <a:spAutoFit/>
            </a:bodyPr>
            <a:lstStyle/>
            <a:p>
              <a:pPr>
                <a:lnSpc>
                  <a:spcPct val="110000"/>
                </a:lnSpc>
              </a:pPr>
              <a:r>
                <a:rPr sz="1050" b="1">
                  <a:solidFill>
                    <a:srgbClr val="008D2E"/>
                  </a:solidFill>
                  <a:latin typeface="Meiryo UI"/>
                  <a:ea typeface="Meiryo UI"/>
                </a:rPr>
                <a:t>After　</a:t>
              </a:r>
              <a:r>
                <a:rPr sz="1050" b="1">
                  <a:solidFill>
                    <a:srgbClr val="262626"/>
                  </a:solidFill>
                  <a:latin typeface="Meiryo UI"/>
                  <a:ea typeface="Meiryo UI"/>
                </a:rPr>
                <a:t>診断型売場×リテールメディアを共同運用。棚・EC・AI推奨をTAで一体管理　</a:t>
              </a:r>
              <a:r>
                <a:rPr sz="1050" b="0">
                  <a:solidFill>
                    <a:srgbClr val="595959"/>
                  </a:solidFill>
                  <a:latin typeface="Meiryo UI"/>
                  <a:ea typeface="Meiryo UI"/>
                </a:rPr>
                <a:t>（B2）</a:t>
              </a:r>
            </a:p>
          </p:txBody>
        </p:sp>
        <p:sp>
          <p:nvSpPr>
            <p:cNvPr id="28" name="Rectangle 27"/>
            <p:cNvSpPr/>
            <p:nvPr/>
          </p:nvSpPr>
          <p:spPr>
            <a:xfrm>
              <a:off x="320040" y="4809744"/>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29" name="TextBox 28"/>
            <p:cNvSpPr txBox="1"/>
            <p:nvPr/>
          </p:nvSpPr>
          <p:spPr>
            <a:xfrm>
              <a:off x="393192" y="4855464"/>
              <a:ext cx="1097280" cy="170823"/>
            </a:xfrm>
            <a:prstGeom prst="rect">
              <a:avLst/>
            </a:prstGeom>
            <a:noFill/>
          </p:spPr>
          <p:txBody>
            <a:bodyPr wrap="square" lIns="0" tIns="0" rIns="0" bIns="0">
              <a:spAutoFit/>
            </a:bodyPr>
            <a:lstStyle/>
            <a:p>
              <a:pPr>
                <a:lnSpc>
                  <a:spcPct val="108000"/>
                </a:lnSpc>
              </a:pPr>
              <a:r>
                <a:rPr sz="1100" b="1">
                  <a:solidFill>
                    <a:srgbClr val="008D2E"/>
                  </a:solidFill>
                  <a:latin typeface="Meiryo UI"/>
                  <a:ea typeface="Meiryo UI"/>
                </a:rPr>
                <a:t>体制・評価</a:t>
              </a:r>
            </a:p>
          </p:txBody>
        </p:sp>
        <p:sp>
          <p:nvSpPr>
            <p:cNvPr id="30" name="TextBox 29"/>
            <p:cNvSpPr txBox="1"/>
            <p:nvPr/>
          </p:nvSpPr>
          <p:spPr>
            <a:xfrm>
              <a:off x="1536192" y="4855464"/>
              <a:ext cx="2084831" cy="349339"/>
            </a:xfrm>
            <a:prstGeom prst="rect">
              <a:avLst/>
            </a:prstGeom>
            <a:noFill/>
          </p:spPr>
          <p:txBody>
            <a:bodyPr wrap="square" lIns="0" tIns="0" rIns="0" bIns="0">
              <a:spAutoFit/>
            </a:bodyPr>
            <a:lstStyle/>
            <a:p>
              <a:pPr>
                <a:lnSpc>
                  <a:spcPct val="110000"/>
                </a:lnSpc>
              </a:pPr>
              <a:r>
                <a:rPr sz="1050" b="1">
                  <a:solidFill>
                    <a:srgbClr val="595959"/>
                  </a:solidFill>
                  <a:latin typeface="Meiryo UI"/>
                  <a:ea typeface="Meiryo UI"/>
                </a:rPr>
                <a:t>Before　</a:t>
              </a:r>
              <a:r>
                <a:rPr sz="1050" b="0">
                  <a:solidFill>
                    <a:srgbClr val="262626"/>
                  </a:solidFill>
                  <a:latin typeface="Meiryo UI"/>
                  <a:ea typeface="Meiryo UI"/>
                </a:rPr>
                <a:t>1人1バイヤーの属人営業・売上評価のみ</a:t>
              </a:r>
            </a:p>
          </p:txBody>
        </p:sp>
        <p:sp>
          <p:nvSpPr>
            <p:cNvPr id="31" name="TextBox 30"/>
            <p:cNvSpPr txBox="1"/>
            <p:nvPr/>
          </p:nvSpPr>
          <p:spPr>
            <a:xfrm>
              <a:off x="3703320" y="4855464"/>
              <a:ext cx="2212848" cy="533160"/>
            </a:xfrm>
            <a:prstGeom prst="rect">
              <a:avLst/>
            </a:prstGeom>
            <a:noFill/>
          </p:spPr>
          <p:txBody>
            <a:bodyPr wrap="square" lIns="0" tIns="0" rIns="0" bIns="0">
              <a:spAutoFit/>
            </a:bodyPr>
            <a:lstStyle/>
            <a:p>
              <a:pPr>
                <a:lnSpc>
                  <a:spcPct val="110000"/>
                </a:lnSpc>
              </a:pPr>
              <a:r>
                <a:rPr sz="1050" b="1">
                  <a:solidFill>
                    <a:srgbClr val="008D2E"/>
                  </a:solidFill>
                  <a:latin typeface="Meiryo UI"/>
                  <a:ea typeface="Meiryo UI"/>
                </a:rPr>
                <a:t>After　</a:t>
              </a:r>
              <a:r>
                <a:rPr sz="1050" b="1">
                  <a:solidFill>
                    <a:srgbClr val="262626"/>
                  </a:solidFill>
                  <a:latin typeface="Meiryo UI"/>
                  <a:ea typeface="Meiryo UI"/>
                </a:rPr>
                <a:t>スクワッド（営業・ブランド・データ・EC・SCM）で増分粗利を共有KPIに　</a:t>
              </a:r>
              <a:r>
                <a:rPr sz="1050" b="0">
                  <a:solidFill>
                    <a:srgbClr val="595959"/>
                  </a:solidFill>
                  <a:latin typeface="Meiryo UI"/>
                  <a:ea typeface="Meiryo UI"/>
                </a:rPr>
                <a:t>（D2）</a:t>
              </a:r>
            </a:p>
          </p:txBody>
        </p:sp>
        <p:sp>
          <p:nvSpPr>
            <p:cNvPr id="32" name="Rectangle 31"/>
            <p:cNvSpPr/>
            <p:nvPr/>
          </p:nvSpPr>
          <p:spPr>
            <a:xfrm>
              <a:off x="6172200" y="1463040"/>
              <a:ext cx="5669280" cy="329184"/>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33" name="TextBox 32"/>
            <p:cNvSpPr txBox="1"/>
            <p:nvPr/>
          </p:nvSpPr>
          <p:spPr>
            <a:xfrm>
              <a:off x="6281928" y="1499616"/>
              <a:ext cx="5440680" cy="256036"/>
            </a:xfrm>
            <a:prstGeom prst="rect">
              <a:avLst/>
            </a:prstGeom>
            <a:noFill/>
          </p:spPr>
          <p:txBody>
            <a:bodyPr wrap="square" lIns="0" tIns="0" rIns="0" bIns="0">
              <a:spAutoFit/>
            </a:bodyPr>
            <a:lstStyle/>
            <a:p>
              <a:pPr>
                <a:lnSpc>
                  <a:spcPct val="112000"/>
                </a:lnSpc>
              </a:pPr>
              <a:r>
                <a:rPr sz="1600" b="1">
                  <a:solidFill>
                    <a:srgbClr val="FFFFFF"/>
                  </a:solidFill>
                  <a:latin typeface="Meiryo UI"/>
                  <a:ea typeface="Meiryo UI"/>
                </a:rPr>
                <a:t>マーケティングのDX ― 投資・コンテンツ・顧客基盤</a:t>
              </a:r>
            </a:p>
          </p:txBody>
        </p:sp>
        <p:sp>
          <p:nvSpPr>
            <p:cNvPr id="34" name="Rectangle 33"/>
            <p:cNvSpPr/>
            <p:nvPr/>
          </p:nvSpPr>
          <p:spPr>
            <a:xfrm>
              <a:off x="6172200" y="1847088"/>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35" name="TextBox 34"/>
            <p:cNvSpPr txBox="1"/>
            <p:nvPr/>
          </p:nvSpPr>
          <p:spPr>
            <a:xfrm>
              <a:off x="6245352" y="1892807"/>
              <a:ext cx="1097280" cy="170823"/>
            </a:xfrm>
            <a:prstGeom prst="rect">
              <a:avLst/>
            </a:prstGeom>
            <a:noFill/>
          </p:spPr>
          <p:txBody>
            <a:bodyPr wrap="square" lIns="0" tIns="0" rIns="0" bIns="0">
              <a:spAutoFit/>
            </a:bodyPr>
            <a:lstStyle/>
            <a:p>
              <a:pPr>
                <a:lnSpc>
                  <a:spcPct val="108000"/>
                </a:lnSpc>
              </a:pPr>
              <a:r>
                <a:rPr sz="1100" b="1">
                  <a:solidFill>
                    <a:srgbClr val="0F5E87"/>
                  </a:solidFill>
                  <a:latin typeface="Meiryo UI"/>
                  <a:ea typeface="Meiryo UI"/>
                </a:rPr>
                <a:t>メディア投資</a:t>
              </a:r>
            </a:p>
          </p:txBody>
        </p:sp>
        <p:sp>
          <p:nvSpPr>
            <p:cNvPr id="36" name="TextBox 35"/>
            <p:cNvSpPr txBox="1"/>
            <p:nvPr/>
          </p:nvSpPr>
          <p:spPr>
            <a:xfrm>
              <a:off x="7388352" y="1892807"/>
              <a:ext cx="2084831" cy="349339"/>
            </a:xfrm>
            <a:prstGeom prst="rect">
              <a:avLst/>
            </a:prstGeom>
            <a:noFill/>
          </p:spPr>
          <p:txBody>
            <a:bodyPr wrap="square" lIns="0" tIns="0" rIns="0" bIns="0">
              <a:spAutoFit/>
            </a:bodyPr>
            <a:lstStyle/>
            <a:p>
              <a:pPr>
                <a:lnSpc>
                  <a:spcPct val="110000"/>
                </a:lnSpc>
              </a:pPr>
              <a:r>
                <a:rPr sz="1050" b="1">
                  <a:solidFill>
                    <a:srgbClr val="595959"/>
                  </a:solidFill>
                  <a:latin typeface="Meiryo UI"/>
                  <a:ea typeface="Meiryo UI"/>
                </a:rPr>
                <a:t>Before　</a:t>
              </a:r>
              <a:r>
                <a:rPr sz="1050" b="0">
                  <a:solidFill>
                    <a:srgbClr val="262626"/>
                  </a:solidFill>
                  <a:latin typeface="Meiryo UI"/>
                  <a:ea typeface="Meiryo UI"/>
                </a:rPr>
                <a:t>マス広告中心。効果測定は認知調査どまり</a:t>
              </a:r>
            </a:p>
          </p:txBody>
        </p:sp>
        <p:sp>
          <p:nvSpPr>
            <p:cNvPr id="37" name="TextBox 36"/>
            <p:cNvSpPr txBox="1"/>
            <p:nvPr/>
          </p:nvSpPr>
          <p:spPr>
            <a:xfrm>
              <a:off x="9555480" y="1892807"/>
              <a:ext cx="2212848" cy="533160"/>
            </a:xfrm>
            <a:prstGeom prst="rect">
              <a:avLst/>
            </a:prstGeom>
            <a:noFill/>
          </p:spPr>
          <p:txBody>
            <a:bodyPr wrap="square" lIns="0" tIns="0" rIns="0" bIns="0">
              <a:spAutoFit/>
            </a:bodyPr>
            <a:lstStyle/>
            <a:p>
              <a:pPr>
                <a:lnSpc>
                  <a:spcPct val="110000"/>
                </a:lnSpc>
              </a:pPr>
              <a:r>
                <a:rPr sz="1050" b="1">
                  <a:solidFill>
                    <a:srgbClr val="0F5E87"/>
                  </a:solidFill>
                  <a:latin typeface="Meiryo UI"/>
                  <a:ea typeface="Meiryo UI"/>
                </a:rPr>
                <a:t>After　</a:t>
              </a:r>
              <a:r>
                <a:rPr sz="1050" b="1">
                  <a:solidFill>
                    <a:srgbClr val="262626"/>
                  </a:solidFill>
                  <a:latin typeface="Meiryo UI"/>
                  <a:ea typeface="Meiryo UI"/>
                </a:rPr>
                <a:t>リテールメディア・AIEOへ再配分し、MMM＋増分実験でROIを毎月運用　</a:t>
              </a:r>
              <a:r>
                <a:rPr sz="1050" b="0">
                  <a:solidFill>
                    <a:srgbClr val="595959"/>
                  </a:solidFill>
                  <a:latin typeface="Meiryo UI"/>
                  <a:ea typeface="Meiryo UI"/>
                </a:rPr>
                <a:t>（B1・B2）</a:t>
              </a:r>
            </a:p>
          </p:txBody>
        </p:sp>
        <p:sp>
          <p:nvSpPr>
            <p:cNvPr id="38" name="Rectangle 37"/>
            <p:cNvSpPr/>
            <p:nvPr/>
          </p:nvSpPr>
          <p:spPr>
            <a:xfrm>
              <a:off x="6172200" y="2834640"/>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39" name="TextBox 38"/>
            <p:cNvSpPr txBox="1"/>
            <p:nvPr/>
          </p:nvSpPr>
          <p:spPr>
            <a:xfrm>
              <a:off x="6245352" y="2880360"/>
              <a:ext cx="1097280" cy="170823"/>
            </a:xfrm>
            <a:prstGeom prst="rect">
              <a:avLst/>
            </a:prstGeom>
            <a:noFill/>
          </p:spPr>
          <p:txBody>
            <a:bodyPr wrap="square" lIns="0" tIns="0" rIns="0" bIns="0">
              <a:spAutoFit/>
            </a:bodyPr>
            <a:lstStyle/>
            <a:p>
              <a:pPr>
                <a:lnSpc>
                  <a:spcPct val="108000"/>
                </a:lnSpc>
              </a:pPr>
              <a:r>
                <a:rPr sz="1100" b="1">
                  <a:solidFill>
                    <a:srgbClr val="0F5E87"/>
                  </a:solidFill>
                  <a:latin typeface="Meiryo UI"/>
                  <a:ea typeface="Meiryo UI"/>
                </a:rPr>
                <a:t>コンテンツ</a:t>
              </a:r>
            </a:p>
          </p:txBody>
        </p:sp>
        <p:sp>
          <p:nvSpPr>
            <p:cNvPr id="40" name="TextBox 39"/>
            <p:cNvSpPr txBox="1"/>
            <p:nvPr/>
          </p:nvSpPr>
          <p:spPr>
            <a:xfrm>
              <a:off x="7388352" y="2880360"/>
              <a:ext cx="2084831" cy="349339"/>
            </a:xfrm>
            <a:prstGeom prst="rect">
              <a:avLst/>
            </a:prstGeom>
            <a:noFill/>
          </p:spPr>
          <p:txBody>
            <a:bodyPr wrap="square" lIns="0" tIns="0" rIns="0" bIns="0">
              <a:spAutoFit/>
            </a:bodyPr>
            <a:lstStyle/>
            <a:p>
              <a:pPr>
                <a:lnSpc>
                  <a:spcPct val="110000"/>
                </a:lnSpc>
              </a:pPr>
              <a:r>
                <a:rPr sz="1050" b="1">
                  <a:solidFill>
                    <a:srgbClr val="595959"/>
                  </a:solidFill>
                  <a:latin typeface="Meiryo UI"/>
                  <a:ea typeface="Meiryo UI"/>
                </a:rPr>
                <a:t>Before　</a:t>
              </a:r>
              <a:r>
                <a:rPr sz="1050" b="0">
                  <a:solidFill>
                    <a:srgbClr val="262626"/>
                  </a:solidFill>
                  <a:latin typeface="Meiryo UI"/>
                  <a:ea typeface="Meiryo UI"/>
                </a:rPr>
                <a:t>広告クリエイティブの制作が中心</a:t>
              </a:r>
            </a:p>
          </p:txBody>
        </p:sp>
        <p:sp>
          <p:nvSpPr>
            <p:cNvPr id="41" name="TextBox 40"/>
            <p:cNvSpPr txBox="1"/>
            <p:nvPr/>
          </p:nvSpPr>
          <p:spPr>
            <a:xfrm>
              <a:off x="9555480" y="2880360"/>
              <a:ext cx="2212848" cy="533160"/>
            </a:xfrm>
            <a:prstGeom prst="rect">
              <a:avLst/>
            </a:prstGeom>
            <a:noFill/>
          </p:spPr>
          <p:txBody>
            <a:bodyPr wrap="square" lIns="0" tIns="0" rIns="0" bIns="0">
              <a:spAutoFit/>
            </a:bodyPr>
            <a:lstStyle/>
            <a:p>
              <a:pPr>
                <a:lnSpc>
                  <a:spcPct val="110000"/>
                </a:lnSpc>
              </a:pPr>
              <a:r>
                <a:rPr sz="1050" b="1">
                  <a:solidFill>
                    <a:srgbClr val="0F5E87"/>
                  </a:solidFill>
                  <a:latin typeface="Meiryo UI"/>
                  <a:ea typeface="Meiryo UI"/>
                </a:rPr>
                <a:t>After　</a:t>
              </a:r>
              <a:r>
                <a:rPr sz="1050" b="1">
                  <a:solidFill>
                    <a:srgbClr val="262626"/>
                  </a:solidFill>
                  <a:latin typeface="Meiryo UI"/>
                  <a:ea typeface="Meiryo UI"/>
                </a:rPr>
                <a:t>臨床エビデンスを「人向け」と「AIが引用する構造化データ」の両輪で生産　</a:t>
              </a:r>
              <a:r>
                <a:rPr sz="1050" b="0">
                  <a:solidFill>
                    <a:srgbClr val="595959"/>
                  </a:solidFill>
                  <a:latin typeface="Meiryo UI"/>
                  <a:ea typeface="Meiryo UI"/>
                </a:rPr>
                <a:t>（A1・C1）</a:t>
              </a:r>
            </a:p>
          </p:txBody>
        </p:sp>
        <p:sp>
          <p:nvSpPr>
            <p:cNvPr id="42" name="Rectangle 41"/>
            <p:cNvSpPr/>
            <p:nvPr/>
          </p:nvSpPr>
          <p:spPr>
            <a:xfrm>
              <a:off x="6172200" y="3822191"/>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43" name="TextBox 42"/>
            <p:cNvSpPr txBox="1"/>
            <p:nvPr/>
          </p:nvSpPr>
          <p:spPr>
            <a:xfrm>
              <a:off x="6245352" y="3867911"/>
              <a:ext cx="1097280" cy="170823"/>
            </a:xfrm>
            <a:prstGeom prst="rect">
              <a:avLst/>
            </a:prstGeom>
            <a:noFill/>
          </p:spPr>
          <p:txBody>
            <a:bodyPr wrap="square" lIns="0" tIns="0" rIns="0" bIns="0">
              <a:spAutoFit/>
            </a:bodyPr>
            <a:lstStyle/>
            <a:p>
              <a:pPr>
                <a:lnSpc>
                  <a:spcPct val="108000"/>
                </a:lnSpc>
              </a:pPr>
              <a:r>
                <a:rPr sz="1100" b="1">
                  <a:solidFill>
                    <a:srgbClr val="0F5E87"/>
                  </a:solidFill>
                  <a:latin typeface="Meiryo UI"/>
                  <a:ea typeface="Meiryo UI"/>
                </a:rPr>
                <a:t>顧客基盤</a:t>
              </a:r>
            </a:p>
          </p:txBody>
        </p:sp>
        <p:sp>
          <p:nvSpPr>
            <p:cNvPr id="44" name="TextBox 43"/>
            <p:cNvSpPr txBox="1"/>
            <p:nvPr/>
          </p:nvSpPr>
          <p:spPr>
            <a:xfrm>
              <a:off x="7388352" y="3867911"/>
              <a:ext cx="2084831" cy="349339"/>
            </a:xfrm>
            <a:prstGeom prst="rect">
              <a:avLst/>
            </a:prstGeom>
            <a:noFill/>
          </p:spPr>
          <p:txBody>
            <a:bodyPr wrap="square" lIns="0" tIns="0" rIns="0" bIns="0">
              <a:spAutoFit/>
            </a:bodyPr>
            <a:lstStyle/>
            <a:p>
              <a:pPr>
                <a:lnSpc>
                  <a:spcPct val="110000"/>
                </a:lnSpc>
              </a:pPr>
              <a:r>
                <a:rPr sz="1050" b="1">
                  <a:solidFill>
                    <a:srgbClr val="595959"/>
                  </a:solidFill>
                  <a:latin typeface="Meiryo UI"/>
                  <a:ea typeface="Meiryo UI"/>
                </a:rPr>
                <a:t>Before　</a:t>
              </a:r>
              <a:r>
                <a:rPr sz="1050" b="0">
                  <a:solidFill>
                    <a:srgbClr val="262626"/>
                  </a:solidFill>
                  <a:latin typeface="Meiryo UI"/>
                  <a:ea typeface="Meiryo UI"/>
                </a:rPr>
                <a:t>クーポン型ID・キャンペーン単位のCRM</a:t>
              </a:r>
            </a:p>
          </p:txBody>
        </p:sp>
        <p:sp>
          <p:nvSpPr>
            <p:cNvPr id="45" name="TextBox 44"/>
            <p:cNvSpPr txBox="1"/>
            <p:nvPr/>
          </p:nvSpPr>
          <p:spPr>
            <a:xfrm>
              <a:off x="9555480" y="3867911"/>
              <a:ext cx="2212848" cy="533160"/>
            </a:xfrm>
            <a:prstGeom prst="rect">
              <a:avLst/>
            </a:prstGeom>
            <a:noFill/>
          </p:spPr>
          <p:txBody>
            <a:bodyPr wrap="square" lIns="0" tIns="0" rIns="0" bIns="0">
              <a:spAutoFit/>
            </a:bodyPr>
            <a:lstStyle/>
            <a:p>
              <a:pPr>
                <a:lnSpc>
                  <a:spcPct val="110000"/>
                </a:lnSpc>
              </a:pPr>
              <a:r>
                <a:rPr sz="1050" b="1">
                  <a:solidFill>
                    <a:srgbClr val="0F5E87"/>
                  </a:solidFill>
                  <a:latin typeface="Meiryo UI"/>
                  <a:ea typeface="Meiryo UI"/>
                </a:rPr>
                <a:t>After　</a:t>
              </a:r>
              <a:r>
                <a:rPr sz="1050" b="1">
                  <a:solidFill>
                    <a:srgbClr val="262626"/>
                  </a:solidFill>
                  <a:latin typeface="Meiryo UI"/>
                  <a:ea typeface="Meiryo UI"/>
                </a:rPr>
                <a:t>口腔健康OSとしてのID運用。リピート・継続を行動データで追いDCRで接続　</a:t>
              </a:r>
              <a:r>
                <a:rPr sz="1050" b="0">
                  <a:solidFill>
                    <a:srgbClr val="595959"/>
                  </a:solidFill>
                  <a:latin typeface="Meiryo UI"/>
                  <a:ea typeface="Meiryo UI"/>
                </a:rPr>
                <a:t>（A2・DCR）</a:t>
              </a:r>
            </a:p>
          </p:txBody>
        </p:sp>
        <p:sp>
          <p:nvSpPr>
            <p:cNvPr id="46" name="Rectangle 45"/>
            <p:cNvSpPr/>
            <p:nvPr/>
          </p:nvSpPr>
          <p:spPr>
            <a:xfrm>
              <a:off x="6172200" y="4809744"/>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47" name="TextBox 46"/>
            <p:cNvSpPr txBox="1"/>
            <p:nvPr/>
          </p:nvSpPr>
          <p:spPr>
            <a:xfrm>
              <a:off x="6245352" y="4855464"/>
              <a:ext cx="1097280" cy="170823"/>
            </a:xfrm>
            <a:prstGeom prst="rect">
              <a:avLst/>
            </a:prstGeom>
            <a:noFill/>
          </p:spPr>
          <p:txBody>
            <a:bodyPr wrap="square" lIns="0" tIns="0" rIns="0" bIns="0">
              <a:spAutoFit/>
            </a:bodyPr>
            <a:lstStyle/>
            <a:p>
              <a:pPr>
                <a:lnSpc>
                  <a:spcPct val="108000"/>
                </a:lnSpc>
              </a:pPr>
              <a:r>
                <a:rPr sz="1100" b="1">
                  <a:solidFill>
                    <a:srgbClr val="0F5E87"/>
                  </a:solidFill>
                  <a:latin typeface="Meiryo UI"/>
                  <a:ea typeface="Meiryo UI"/>
                </a:rPr>
                <a:t>AI接点の運用</a:t>
              </a:r>
            </a:p>
          </p:txBody>
        </p:sp>
        <p:sp>
          <p:nvSpPr>
            <p:cNvPr id="48" name="TextBox 47"/>
            <p:cNvSpPr txBox="1"/>
            <p:nvPr/>
          </p:nvSpPr>
          <p:spPr>
            <a:xfrm>
              <a:off x="7388352" y="4855464"/>
              <a:ext cx="2084831" cy="349339"/>
            </a:xfrm>
            <a:prstGeom prst="rect">
              <a:avLst/>
            </a:prstGeom>
            <a:noFill/>
          </p:spPr>
          <p:txBody>
            <a:bodyPr wrap="square" lIns="0" tIns="0" rIns="0" bIns="0">
              <a:spAutoFit/>
            </a:bodyPr>
            <a:lstStyle/>
            <a:p>
              <a:pPr>
                <a:lnSpc>
                  <a:spcPct val="110000"/>
                </a:lnSpc>
              </a:pPr>
              <a:r>
                <a:rPr sz="1050" b="1">
                  <a:solidFill>
                    <a:srgbClr val="595959"/>
                  </a:solidFill>
                  <a:latin typeface="Meiryo UI"/>
                  <a:ea typeface="Meiryo UI"/>
                </a:rPr>
                <a:t>Before　</a:t>
              </a:r>
              <a:r>
                <a:rPr sz="1050" b="0">
                  <a:solidFill>
                    <a:srgbClr val="262626"/>
                  </a:solidFill>
                  <a:latin typeface="Meiryo UI"/>
                  <a:ea typeface="Meiryo UI"/>
                </a:rPr>
                <a:t>AIにどう扱われるか未計測・未対応</a:t>
              </a:r>
            </a:p>
          </p:txBody>
        </p:sp>
        <p:sp>
          <p:nvSpPr>
            <p:cNvPr id="49" name="TextBox 48"/>
            <p:cNvSpPr txBox="1"/>
            <p:nvPr/>
          </p:nvSpPr>
          <p:spPr>
            <a:xfrm>
              <a:off x="9555480" y="4855464"/>
              <a:ext cx="2212848" cy="533160"/>
            </a:xfrm>
            <a:prstGeom prst="rect">
              <a:avLst/>
            </a:prstGeom>
            <a:noFill/>
          </p:spPr>
          <p:txBody>
            <a:bodyPr wrap="square" lIns="0" tIns="0" rIns="0" bIns="0">
              <a:spAutoFit/>
            </a:bodyPr>
            <a:lstStyle/>
            <a:p>
              <a:pPr>
                <a:lnSpc>
                  <a:spcPct val="110000"/>
                </a:lnSpc>
              </a:pPr>
              <a:r>
                <a:rPr sz="1050" b="1">
                  <a:solidFill>
                    <a:srgbClr val="0F5E87"/>
                  </a:solidFill>
                  <a:latin typeface="Meiryo UI"/>
                  <a:ea typeface="Meiryo UI"/>
                </a:rPr>
                <a:t>After　</a:t>
              </a:r>
              <a:r>
                <a:rPr sz="1050" b="1">
                  <a:solidFill>
                    <a:srgbClr val="262626"/>
                  </a:solidFill>
                  <a:latin typeface="Meiryo UI"/>
                  <a:ea typeface="Meiryo UI"/>
                </a:rPr>
                <a:t>AIEO Rate月次監査→原因特定→情報修正のループを運用　</a:t>
              </a:r>
              <a:r>
                <a:rPr sz="1050" b="0">
                  <a:solidFill>
                    <a:srgbClr val="595959"/>
                  </a:solidFill>
                  <a:latin typeface="Meiryo UI"/>
                  <a:ea typeface="Meiryo UI"/>
                </a:rPr>
                <a:t>（A1）</a:t>
              </a:r>
            </a:p>
          </p:txBody>
        </p:sp>
        <p:sp>
          <p:nvSpPr>
            <p:cNvPr id="50" name="Rectangle 49"/>
            <p:cNvSpPr/>
            <p:nvPr/>
          </p:nvSpPr>
          <p:spPr>
            <a:xfrm>
              <a:off x="320040" y="5943600"/>
              <a:ext cx="11521440" cy="530352"/>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51" name="TextBox 50"/>
            <p:cNvSpPr txBox="1"/>
            <p:nvPr/>
          </p:nvSpPr>
          <p:spPr>
            <a:xfrm>
              <a:off x="457200" y="5998464"/>
              <a:ext cx="11292840" cy="381303"/>
            </a:xfrm>
            <a:prstGeom prst="rect">
              <a:avLst/>
            </a:prstGeom>
            <a:noFill/>
          </p:spPr>
          <p:txBody>
            <a:bodyPr wrap="square" lIns="0" tIns="0" rIns="0" bIns="0">
              <a:spAutoFit/>
            </a:bodyPr>
            <a:lstStyle/>
            <a:p>
              <a:pPr>
                <a:lnSpc>
                  <a:spcPct val="115000"/>
                </a:lnSpc>
              </a:pPr>
              <a:r>
                <a:rPr sz="1100" b="1">
                  <a:solidFill>
                    <a:srgbClr val="008D2E"/>
                  </a:solidFill>
                  <a:latin typeface="Meiryo UI"/>
                  <a:ea typeface="Meiryo UI"/>
                </a:rPr>
                <a:t>出口の定義：</a:t>
              </a:r>
              <a:r>
                <a:rPr sz="1100" b="0">
                  <a:solidFill>
                    <a:srgbClr val="262626"/>
                  </a:solidFill>
                  <a:latin typeface="Meiryo UI"/>
                  <a:ea typeface="Meiryo UI"/>
                </a:rPr>
                <a:t>基盤はGCP統合・Salesforce TPM・生成AI（Libra）・CDP/DCR・AIEO監査の5点で新規購入は最小。確認1（FY27夏）の合格＝この表のAfterが最初の1件（重点小売×オーラルケア）で実際に回った状態。</a:t>
              </a:r>
            </a:p>
          </p:txBody>
        </p:sp>
      </p:grpSp>
    </p:spTree>
    <p:extLst>
      <p:ext uri="{BB962C8B-B14F-4D97-AF65-F5344CB8AC3E}">
        <p14:creationId xmlns:p14="http://schemas.microsoft.com/office/powerpoint/2010/main" val="34871426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C842818-3760-E498-9FBC-D727664C4258}"/>
              </a:ext>
            </a:extLst>
          </p:cNvPr>
          <p:cNvSpPr>
            <a:spLocks noGrp="1"/>
          </p:cNvSpPr>
          <p:nvPr>
            <p:ph type="title"/>
          </p:nvPr>
        </p:nvSpPr>
        <p:spPr/>
        <p:txBody>
          <a:bodyPr/>
          <a:lstStyle/>
          <a:p>
            <a:r>
              <a:rPr lang="ja-JP" altLang="en-US" b="1" dirty="0">
                <a:solidFill>
                  <a:srgbClr val="262626"/>
                </a:solidFill>
                <a:latin typeface="Meiryo UI"/>
                <a:ea typeface="Meiryo UI"/>
              </a:rPr>
              <a:t>マイルストーン（</a:t>
            </a:r>
            <a:r>
              <a:rPr lang="en-US" altLang="ja-JP" b="1" dirty="0">
                <a:solidFill>
                  <a:srgbClr val="262626"/>
                </a:solidFill>
                <a:latin typeface="Meiryo UI"/>
                <a:ea typeface="Meiryo UI"/>
              </a:rPr>
              <a:t>FY26–FY30</a:t>
            </a:r>
            <a:r>
              <a:rPr lang="ja-JP" altLang="en-US" b="1" dirty="0">
                <a:solidFill>
                  <a:srgbClr val="262626"/>
                </a:solidFill>
                <a:latin typeface="Meiryo UI"/>
                <a:ea typeface="Meiryo UI"/>
              </a:rPr>
              <a:t>）</a:t>
            </a:r>
            <a:endParaRPr kumimoji="1" lang="ja-JP" altLang="en-US" dirty="0"/>
          </a:p>
        </p:txBody>
      </p:sp>
      <p:sp>
        <p:nvSpPr>
          <p:cNvPr id="3" name="テキスト プレースホルダー 2">
            <a:extLst>
              <a:ext uri="{FF2B5EF4-FFF2-40B4-BE49-F238E27FC236}">
                <a16:creationId xmlns:a16="http://schemas.microsoft.com/office/drawing/2014/main" id="{2FF04164-7F2E-2DD2-AB0D-F05AC9156912}"/>
              </a:ext>
            </a:extLst>
          </p:cNvPr>
          <p:cNvSpPr>
            <a:spLocks noGrp="1"/>
          </p:cNvSpPr>
          <p:nvPr>
            <p:ph type="body" sz="quarter" idx="13"/>
          </p:nvPr>
        </p:nvSpPr>
        <p:spPr/>
        <p:txBody>
          <a:bodyPr/>
          <a:lstStyle/>
          <a:p>
            <a:r>
              <a:rPr lang="en-US" altLang="ja-JP" b="1" dirty="0">
                <a:solidFill>
                  <a:srgbClr val="262626"/>
                </a:solidFill>
                <a:latin typeface="Meiryo UI"/>
                <a:ea typeface="Meiryo UI"/>
              </a:rPr>
              <a:t>FY30</a:t>
            </a:r>
            <a:r>
              <a:rPr lang="ja-JP" altLang="en-US" b="1" dirty="0">
                <a:solidFill>
                  <a:srgbClr val="262626"/>
                </a:solidFill>
                <a:latin typeface="Meiryo UI"/>
                <a:ea typeface="Meiryo UI"/>
              </a:rPr>
              <a:t>（</a:t>
            </a:r>
            <a:r>
              <a:rPr lang="en-US" altLang="ja-JP" b="1" dirty="0">
                <a:solidFill>
                  <a:srgbClr val="262626"/>
                </a:solidFill>
                <a:latin typeface="Meiryo UI"/>
                <a:ea typeface="Meiryo UI"/>
              </a:rPr>
              <a:t>3rd Stage</a:t>
            </a:r>
            <a:r>
              <a:rPr lang="ja-JP" altLang="en-US" b="1" dirty="0">
                <a:solidFill>
                  <a:srgbClr val="262626"/>
                </a:solidFill>
                <a:latin typeface="Meiryo UI"/>
                <a:ea typeface="Meiryo UI"/>
              </a:rPr>
              <a:t>完了・統合報告書での</a:t>
            </a:r>
            <a:r>
              <a:rPr lang="en-US" altLang="ja-JP" b="1" dirty="0">
                <a:solidFill>
                  <a:srgbClr val="262626"/>
                </a:solidFill>
                <a:latin typeface="Meiryo UI"/>
                <a:ea typeface="Meiryo UI"/>
              </a:rPr>
              <a:t>KPI</a:t>
            </a:r>
            <a:r>
              <a:rPr lang="ja-JP" altLang="en-US" b="1" dirty="0">
                <a:solidFill>
                  <a:srgbClr val="262626"/>
                </a:solidFill>
                <a:latin typeface="Meiryo UI"/>
                <a:ea typeface="Meiryo UI"/>
              </a:rPr>
              <a:t>開示）に向けた段階実装。確認ゲートに合格したときだけ投資と組織変更を拡大する</a:t>
            </a:r>
          </a:p>
        </p:txBody>
      </p:sp>
      <p:grpSp>
        <p:nvGrpSpPr>
          <p:cNvPr id="4" name="グループ化 3">
            <a:extLst>
              <a:ext uri="{FF2B5EF4-FFF2-40B4-BE49-F238E27FC236}">
                <a16:creationId xmlns:a16="http://schemas.microsoft.com/office/drawing/2014/main" id="{C491619A-3C71-6214-EA58-A20EED49291A}"/>
              </a:ext>
            </a:extLst>
          </p:cNvPr>
          <p:cNvGrpSpPr/>
          <p:nvPr/>
        </p:nvGrpSpPr>
        <p:grpSpPr>
          <a:xfrm>
            <a:off x="320040" y="1628774"/>
            <a:ext cx="11521440" cy="4708017"/>
            <a:chOff x="320040" y="1463040"/>
            <a:chExt cx="11521440" cy="4873752"/>
          </a:xfrm>
        </p:grpSpPr>
        <p:sp>
          <p:nvSpPr>
            <p:cNvPr id="14" name="Rectangle 13"/>
            <p:cNvSpPr/>
            <p:nvPr/>
          </p:nvSpPr>
          <p:spPr>
            <a:xfrm>
              <a:off x="320040" y="1463040"/>
              <a:ext cx="1828800" cy="65836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5" name="TextBox 14"/>
            <p:cNvSpPr txBox="1"/>
            <p:nvPr/>
          </p:nvSpPr>
          <p:spPr>
            <a:xfrm>
              <a:off x="411480" y="1508760"/>
              <a:ext cx="1645920" cy="220904"/>
            </a:xfrm>
            <a:prstGeom prst="rect">
              <a:avLst/>
            </a:prstGeom>
            <a:noFill/>
          </p:spPr>
          <p:txBody>
            <a:bodyPr wrap="square" lIns="0" tIns="0" rIns="0" bIns="0">
              <a:spAutoFit/>
            </a:bodyPr>
            <a:lstStyle/>
            <a:p>
              <a:pPr>
                <a:lnSpc>
                  <a:spcPct val="110000"/>
                </a:lnSpc>
              </a:pPr>
              <a:r>
                <a:rPr sz="1400" b="1">
                  <a:solidFill>
                    <a:srgbClr val="FFFFFF"/>
                  </a:solidFill>
                  <a:latin typeface="Meiryo UI"/>
                  <a:ea typeface="Meiryo UI"/>
                </a:rPr>
                <a:t>FY26 Q3–Q4</a:t>
              </a:r>
            </a:p>
          </p:txBody>
        </p:sp>
        <p:sp>
          <p:nvSpPr>
            <p:cNvPr id="16" name="Rectangle 15"/>
            <p:cNvSpPr/>
            <p:nvPr/>
          </p:nvSpPr>
          <p:spPr>
            <a:xfrm>
              <a:off x="2167128" y="1463040"/>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7" name="TextBox 16"/>
            <p:cNvSpPr txBox="1"/>
            <p:nvPr/>
          </p:nvSpPr>
          <p:spPr>
            <a:xfrm>
              <a:off x="2286000" y="1508760"/>
              <a:ext cx="9418320" cy="192229"/>
            </a:xfrm>
            <a:prstGeom prst="rect">
              <a:avLst/>
            </a:prstGeom>
            <a:noFill/>
          </p:spPr>
          <p:txBody>
            <a:bodyPr wrap="square" lIns="0" tIns="0" rIns="0" bIns="0">
              <a:spAutoFit/>
            </a:bodyPr>
            <a:lstStyle/>
            <a:p>
              <a:pPr>
                <a:lnSpc>
                  <a:spcPct val="112000"/>
                </a:lnSpc>
              </a:pPr>
              <a:r>
                <a:rPr sz="1200" b="0">
                  <a:solidFill>
                    <a:srgbClr val="262626"/>
                  </a:solidFill>
                  <a:latin typeface="Meiryo UI"/>
                  <a:ea typeface="Meiryo UI"/>
                </a:rPr>
                <a:t>AIEO監査開始・AI推奨シェアのベースライン確立／生成AIでInput業務30%削減を先行実装</a:t>
              </a:r>
            </a:p>
          </p:txBody>
        </p:sp>
        <p:sp>
          <p:nvSpPr>
            <p:cNvPr id="18" name="Rectangle 17"/>
            <p:cNvSpPr/>
            <p:nvPr/>
          </p:nvSpPr>
          <p:spPr>
            <a:xfrm>
              <a:off x="320040" y="2185416"/>
              <a:ext cx="1828800" cy="65836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9" name="TextBox 18"/>
            <p:cNvSpPr txBox="1"/>
            <p:nvPr/>
          </p:nvSpPr>
          <p:spPr>
            <a:xfrm>
              <a:off x="411480" y="2231136"/>
              <a:ext cx="1645920" cy="466235"/>
            </a:xfrm>
            <a:prstGeom prst="rect">
              <a:avLst/>
            </a:prstGeom>
            <a:noFill/>
          </p:spPr>
          <p:txBody>
            <a:bodyPr wrap="square" lIns="0" tIns="0" rIns="0" bIns="0">
              <a:spAutoFit/>
            </a:bodyPr>
            <a:lstStyle/>
            <a:p>
              <a:pPr>
                <a:lnSpc>
                  <a:spcPct val="110000"/>
                </a:lnSpc>
              </a:pPr>
              <a:r>
                <a:rPr sz="1400" b="1">
                  <a:solidFill>
                    <a:srgbClr val="FFFFFF"/>
                  </a:solidFill>
                  <a:latin typeface="Meiryo UI"/>
                  <a:ea typeface="Meiryo UI"/>
                </a:rPr>
                <a:t>FY26 Q4–FY27 Q1</a:t>
              </a:r>
            </a:p>
          </p:txBody>
        </p:sp>
        <p:sp>
          <p:nvSpPr>
            <p:cNvPr id="20" name="Rectangle 19"/>
            <p:cNvSpPr/>
            <p:nvPr/>
          </p:nvSpPr>
          <p:spPr>
            <a:xfrm>
              <a:off x="2167128" y="2185416"/>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1" name="TextBox 20"/>
            <p:cNvSpPr txBox="1"/>
            <p:nvPr/>
          </p:nvSpPr>
          <p:spPr>
            <a:xfrm>
              <a:off x="2286000" y="2231136"/>
              <a:ext cx="9418320" cy="192229"/>
            </a:xfrm>
            <a:prstGeom prst="rect">
              <a:avLst/>
            </a:prstGeom>
            <a:noFill/>
          </p:spPr>
          <p:txBody>
            <a:bodyPr wrap="square" lIns="0" tIns="0" rIns="0" bIns="0">
              <a:spAutoFit/>
            </a:bodyPr>
            <a:lstStyle/>
            <a:p>
              <a:pPr>
                <a:lnSpc>
                  <a:spcPct val="112000"/>
                </a:lnSpc>
              </a:pPr>
              <a:r>
                <a:rPr sz="1200" b="0">
                  <a:solidFill>
                    <a:srgbClr val="262626"/>
                  </a:solidFill>
                  <a:latin typeface="Meiryo UI"/>
                  <a:ea typeface="Meiryo UI"/>
                </a:rPr>
                <a:t>重点小売2社で歯ぐきケアJBP開始（N-t-Cを共同KPI）／匿名診断PoC実施 ― 最初の実証</a:t>
              </a:r>
            </a:p>
          </p:txBody>
        </p:sp>
        <p:sp>
          <p:nvSpPr>
            <p:cNvPr id="22" name="Rectangle 21"/>
            <p:cNvSpPr/>
            <p:nvPr/>
          </p:nvSpPr>
          <p:spPr>
            <a:xfrm>
              <a:off x="320040" y="2907792"/>
              <a:ext cx="1828800" cy="658368"/>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3" name="TextBox 22"/>
            <p:cNvSpPr txBox="1"/>
            <p:nvPr/>
          </p:nvSpPr>
          <p:spPr>
            <a:xfrm>
              <a:off x="411480" y="2953511"/>
              <a:ext cx="1645920" cy="220904"/>
            </a:xfrm>
            <a:prstGeom prst="rect">
              <a:avLst/>
            </a:prstGeom>
            <a:noFill/>
          </p:spPr>
          <p:txBody>
            <a:bodyPr wrap="square" lIns="0" tIns="0" rIns="0" bIns="0">
              <a:spAutoFit/>
            </a:bodyPr>
            <a:lstStyle/>
            <a:p>
              <a:pPr>
                <a:lnSpc>
                  <a:spcPct val="110000"/>
                </a:lnSpc>
              </a:pPr>
              <a:r>
                <a:rPr sz="1400" b="1">
                  <a:solidFill>
                    <a:srgbClr val="FFFFFF"/>
                  </a:solidFill>
                  <a:latin typeface="Meiryo UI"/>
                  <a:ea typeface="Meiryo UI"/>
                </a:rPr>
                <a:t>FY27</a:t>
              </a:r>
            </a:p>
          </p:txBody>
        </p:sp>
        <p:sp>
          <p:nvSpPr>
            <p:cNvPr id="24" name="Rectangle 23"/>
            <p:cNvSpPr/>
            <p:nvPr/>
          </p:nvSpPr>
          <p:spPr>
            <a:xfrm>
              <a:off x="2167128" y="2907792"/>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5" name="TextBox 24"/>
            <p:cNvSpPr txBox="1"/>
            <p:nvPr/>
          </p:nvSpPr>
          <p:spPr>
            <a:xfrm>
              <a:off x="2286000" y="2953511"/>
              <a:ext cx="9418320" cy="406362"/>
            </a:xfrm>
            <a:prstGeom prst="rect">
              <a:avLst/>
            </a:prstGeom>
            <a:noFill/>
          </p:spPr>
          <p:txBody>
            <a:bodyPr wrap="square" lIns="0" tIns="0" rIns="0" bIns="0">
              <a:spAutoFit/>
            </a:bodyPr>
            <a:lstStyle/>
            <a:p>
              <a:pPr>
                <a:lnSpc>
                  <a:spcPct val="112000"/>
                </a:lnSpc>
              </a:pPr>
              <a:r>
                <a:rPr sz="1200" b="0">
                  <a:solidFill>
                    <a:srgbClr val="262626"/>
                  </a:solidFill>
                  <a:latin typeface="Meiryo UI"/>
                  <a:ea typeface="Meiryo UI"/>
                </a:rPr>
                <a:t>Oral Evidence Hub公開・属性データAPI化／LION ID価値再設計　【確認1：小売データで値引き超えの商談＋事務3割減＋AIEO改善 → 拡大投資解禁】</a:t>
              </a:r>
            </a:p>
          </p:txBody>
        </p:sp>
        <p:sp>
          <p:nvSpPr>
            <p:cNvPr id="26" name="Rectangle 25"/>
            <p:cNvSpPr/>
            <p:nvPr/>
          </p:nvSpPr>
          <p:spPr>
            <a:xfrm>
              <a:off x="320040" y="3630168"/>
              <a:ext cx="1828800" cy="658368"/>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7" name="TextBox 26"/>
            <p:cNvSpPr txBox="1"/>
            <p:nvPr/>
          </p:nvSpPr>
          <p:spPr>
            <a:xfrm>
              <a:off x="411480" y="3675888"/>
              <a:ext cx="1645920" cy="220904"/>
            </a:xfrm>
            <a:prstGeom prst="rect">
              <a:avLst/>
            </a:prstGeom>
            <a:noFill/>
          </p:spPr>
          <p:txBody>
            <a:bodyPr wrap="square" lIns="0" tIns="0" rIns="0" bIns="0">
              <a:spAutoFit/>
            </a:bodyPr>
            <a:lstStyle/>
            <a:p>
              <a:pPr>
                <a:lnSpc>
                  <a:spcPct val="110000"/>
                </a:lnSpc>
              </a:pPr>
              <a:r>
                <a:rPr sz="1400" b="1">
                  <a:solidFill>
                    <a:srgbClr val="FFFFFF"/>
                  </a:solidFill>
                  <a:latin typeface="Meiryo UI"/>
                  <a:ea typeface="Meiryo UI"/>
                </a:rPr>
                <a:t>FY27–FY28</a:t>
              </a:r>
            </a:p>
          </p:txBody>
        </p:sp>
        <p:sp>
          <p:nvSpPr>
            <p:cNvPr id="28" name="Rectangle 27"/>
            <p:cNvSpPr/>
            <p:nvPr/>
          </p:nvSpPr>
          <p:spPr>
            <a:xfrm>
              <a:off x="2167128" y="3630168"/>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9" name="TextBox 28"/>
            <p:cNvSpPr txBox="1"/>
            <p:nvPr/>
          </p:nvSpPr>
          <p:spPr>
            <a:xfrm>
              <a:off x="2286000" y="3675888"/>
              <a:ext cx="9418320" cy="192229"/>
            </a:xfrm>
            <a:prstGeom prst="rect">
              <a:avLst/>
            </a:prstGeom>
            <a:noFill/>
          </p:spPr>
          <p:txBody>
            <a:bodyPr wrap="square" lIns="0" tIns="0" rIns="0" bIns="0">
              <a:spAutoFit/>
            </a:bodyPr>
            <a:lstStyle/>
            <a:p>
              <a:pPr>
                <a:lnSpc>
                  <a:spcPct val="112000"/>
                </a:lnSpc>
              </a:pPr>
              <a:r>
                <a:rPr sz="1200" b="0">
                  <a:solidFill>
                    <a:srgbClr val="262626"/>
                  </a:solidFill>
                  <a:latin typeface="Meiryo UI"/>
                  <a:ea typeface="Meiryo UI"/>
                </a:rPr>
                <a:t>Total Availabilityダッシュボード展開／MMM＋増分実験体制の確立</a:t>
              </a:r>
            </a:p>
          </p:txBody>
        </p:sp>
        <p:sp>
          <p:nvSpPr>
            <p:cNvPr id="30" name="Rectangle 29"/>
            <p:cNvSpPr/>
            <p:nvPr/>
          </p:nvSpPr>
          <p:spPr>
            <a:xfrm>
              <a:off x="320040" y="4352544"/>
              <a:ext cx="1828800" cy="65836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1" name="TextBox 30"/>
            <p:cNvSpPr txBox="1"/>
            <p:nvPr/>
          </p:nvSpPr>
          <p:spPr>
            <a:xfrm>
              <a:off x="411480" y="4398264"/>
              <a:ext cx="1645920" cy="220904"/>
            </a:xfrm>
            <a:prstGeom prst="rect">
              <a:avLst/>
            </a:prstGeom>
            <a:noFill/>
          </p:spPr>
          <p:txBody>
            <a:bodyPr wrap="square" lIns="0" tIns="0" rIns="0" bIns="0">
              <a:spAutoFit/>
            </a:bodyPr>
            <a:lstStyle/>
            <a:p>
              <a:pPr>
                <a:lnSpc>
                  <a:spcPct val="110000"/>
                </a:lnSpc>
              </a:pPr>
              <a:r>
                <a:rPr sz="1400" b="1">
                  <a:solidFill>
                    <a:srgbClr val="FFFFFF"/>
                  </a:solidFill>
                  <a:latin typeface="Meiryo UI"/>
                  <a:ea typeface="Meiryo UI"/>
                </a:rPr>
                <a:t>FY28</a:t>
              </a:r>
            </a:p>
          </p:txBody>
        </p:sp>
        <p:sp>
          <p:nvSpPr>
            <p:cNvPr id="32" name="Rectangle 31"/>
            <p:cNvSpPr/>
            <p:nvPr/>
          </p:nvSpPr>
          <p:spPr>
            <a:xfrm>
              <a:off x="2167128" y="4352544"/>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3" name="TextBox 32"/>
            <p:cNvSpPr txBox="1"/>
            <p:nvPr/>
          </p:nvSpPr>
          <p:spPr>
            <a:xfrm>
              <a:off x="2286000" y="4398264"/>
              <a:ext cx="9418320" cy="192229"/>
            </a:xfrm>
            <a:prstGeom prst="rect">
              <a:avLst/>
            </a:prstGeom>
            <a:noFill/>
          </p:spPr>
          <p:txBody>
            <a:bodyPr wrap="square" lIns="0" tIns="0" rIns="0" bIns="0">
              <a:spAutoFit/>
            </a:bodyPr>
            <a:lstStyle/>
            <a:p>
              <a:pPr>
                <a:lnSpc>
                  <a:spcPct val="112000"/>
                </a:lnSpc>
              </a:pPr>
              <a:r>
                <a:rPr sz="1200" b="0">
                  <a:solidFill>
                    <a:srgbClr val="262626"/>
                  </a:solidFill>
                  <a:latin typeface="Meiryo UI"/>
                  <a:ea typeface="Meiryo UI"/>
                </a:rPr>
                <a:t>B2B2C（歯科→小売）接続実証完了／Oral Health Graph限定稼働　【確認2：JBP再現・B2B2C実証 → 組織正式化・GCP本格投資】</a:t>
              </a:r>
            </a:p>
          </p:txBody>
        </p:sp>
        <p:sp>
          <p:nvSpPr>
            <p:cNvPr id="34" name="Rectangle 33"/>
            <p:cNvSpPr/>
            <p:nvPr/>
          </p:nvSpPr>
          <p:spPr>
            <a:xfrm>
              <a:off x="320040" y="5074920"/>
              <a:ext cx="1828800" cy="65836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5" name="TextBox 34"/>
            <p:cNvSpPr txBox="1"/>
            <p:nvPr/>
          </p:nvSpPr>
          <p:spPr>
            <a:xfrm>
              <a:off x="411480" y="5120640"/>
              <a:ext cx="1645920" cy="220904"/>
            </a:xfrm>
            <a:prstGeom prst="rect">
              <a:avLst/>
            </a:prstGeom>
            <a:noFill/>
          </p:spPr>
          <p:txBody>
            <a:bodyPr wrap="square" lIns="0" tIns="0" rIns="0" bIns="0">
              <a:spAutoFit/>
            </a:bodyPr>
            <a:lstStyle/>
            <a:p>
              <a:pPr>
                <a:lnSpc>
                  <a:spcPct val="110000"/>
                </a:lnSpc>
              </a:pPr>
              <a:r>
                <a:rPr sz="1400" b="1">
                  <a:solidFill>
                    <a:srgbClr val="FFFFFF"/>
                  </a:solidFill>
                  <a:latin typeface="Meiryo UI"/>
                  <a:ea typeface="Meiryo UI"/>
                </a:rPr>
                <a:t>FY29–FY30</a:t>
              </a:r>
            </a:p>
          </p:txBody>
        </p:sp>
        <p:sp>
          <p:nvSpPr>
            <p:cNvPr id="36" name="Rectangle 35"/>
            <p:cNvSpPr/>
            <p:nvPr/>
          </p:nvSpPr>
          <p:spPr>
            <a:xfrm>
              <a:off x="2167128" y="5074920"/>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7" name="TextBox 36"/>
            <p:cNvSpPr txBox="1"/>
            <p:nvPr/>
          </p:nvSpPr>
          <p:spPr>
            <a:xfrm>
              <a:off x="2286000" y="5120640"/>
              <a:ext cx="9418320" cy="192229"/>
            </a:xfrm>
            <a:prstGeom prst="rect">
              <a:avLst/>
            </a:prstGeom>
            <a:noFill/>
          </p:spPr>
          <p:txBody>
            <a:bodyPr wrap="square" lIns="0" tIns="0" rIns="0" bIns="0">
              <a:spAutoFit/>
            </a:bodyPr>
            <a:lstStyle/>
            <a:p>
              <a:pPr>
                <a:lnSpc>
                  <a:spcPct val="112000"/>
                </a:lnSpc>
              </a:pPr>
              <a:r>
                <a:rPr sz="1200" b="0">
                  <a:solidFill>
                    <a:srgbClr val="262626"/>
                  </a:solidFill>
                  <a:latin typeface="Meiryo UI"/>
                  <a:ea typeface="Meiryo UI"/>
                </a:rPr>
                <a:t>LION IDアクティブ目標達成／AIEO Rate目標達成／統合報告書へ顧客資本KPI開示　【確認3 → 全社標準化・評価の全面切替】</a:t>
              </a:r>
            </a:p>
          </p:txBody>
        </p:sp>
        <p:sp>
          <p:nvSpPr>
            <p:cNvPr id="38" name="Rectangle 37"/>
            <p:cNvSpPr/>
            <p:nvPr/>
          </p:nvSpPr>
          <p:spPr>
            <a:xfrm>
              <a:off x="320040" y="5833872"/>
              <a:ext cx="11521440" cy="50292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9" name="TextBox 38"/>
            <p:cNvSpPr txBox="1"/>
            <p:nvPr/>
          </p:nvSpPr>
          <p:spPr>
            <a:xfrm>
              <a:off x="457200" y="5888736"/>
              <a:ext cx="11292840" cy="416318"/>
            </a:xfrm>
            <a:prstGeom prst="rect">
              <a:avLst/>
            </a:prstGeom>
            <a:noFill/>
          </p:spPr>
          <p:txBody>
            <a:bodyPr wrap="square" lIns="0" tIns="0" rIns="0" bIns="0">
              <a:spAutoFit/>
            </a:bodyPr>
            <a:lstStyle/>
            <a:p>
              <a:pPr>
                <a:lnSpc>
                  <a:spcPct val="115000"/>
                </a:lnSpc>
              </a:pPr>
              <a:r>
                <a:rPr sz="1200" b="1">
                  <a:solidFill>
                    <a:srgbClr val="008D2E"/>
                  </a:solidFill>
                  <a:latin typeface="Meiryo UI"/>
                  <a:ea typeface="Meiryo UI"/>
                </a:rPr>
                <a:t>2030年以降：</a:t>
              </a:r>
              <a:r>
                <a:rPr sz="1200" b="0">
                  <a:solidFill>
                    <a:srgbClr val="262626"/>
                  </a:solidFill>
                  <a:latin typeface="Meiryo UI"/>
                  <a:ea typeface="Meiryo UI"/>
                </a:rPr>
                <a:t>確立した型を全カテゴリ・主要小売へ標準展開し、2035年に賭けが収益の柱、2040年に「予防習慣インフラ企業」（制度とAIの初期設定を握る）へ ― ゲート不合格なら拡大せず、詰まった手順を直して再挑戦。</a:t>
              </a:r>
            </a:p>
          </p:txBody>
        </p:sp>
      </p:grpSp>
    </p:spTree>
    <p:extLst>
      <p:ext uri="{BB962C8B-B14F-4D97-AF65-F5344CB8AC3E}">
        <p14:creationId xmlns:p14="http://schemas.microsoft.com/office/powerpoint/2010/main" val="20953616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32BBFB5-B5F2-82BA-D9CA-1C7002F6ECE9}"/>
              </a:ext>
            </a:extLst>
          </p:cNvPr>
          <p:cNvSpPr>
            <a:spLocks noGrp="1"/>
          </p:cNvSpPr>
          <p:nvPr>
            <p:ph type="title"/>
          </p:nvPr>
        </p:nvSpPr>
        <p:spPr/>
        <p:txBody>
          <a:bodyPr/>
          <a:lstStyle/>
          <a:p>
            <a:r>
              <a:rPr lang="en-US" altLang="ja-JP" b="1" dirty="0">
                <a:solidFill>
                  <a:srgbClr val="262626"/>
                </a:solidFill>
                <a:latin typeface="Meiryo UI"/>
                <a:ea typeface="Meiryo UI"/>
              </a:rPr>
              <a:t>KGI/KPI</a:t>
            </a:r>
            <a:r>
              <a:rPr lang="ja-JP" altLang="en-US" b="1" dirty="0">
                <a:solidFill>
                  <a:srgbClr val="262626"/>
                </a:solidFill>
                <a:latin typeface="Meiryo UI"/>
                <a:ea typeface="Meiryo UI"/>
              </a:rPr>
              <a:t>体系 </a:t>
            </a:r>
            <a:r>
              <a:rPr lang="en-US" altLang="ja-JP" b="1" dirty="0">
                <a:solidFill>
                  <a:srgbClr val="262626"/>
                </a:solidFill>
                <a:latin typeface="Meiryo UI"/>
                <a:ea typeface="Meiryo UI"/>
              </a:rPr>
              <a:t>― </a:t>
            </a:r>
            <a:r>
              <a:rPr lang="ja-JP" altLang="en-US" b="1" dirty="0">
                <a:solidFill>
                  <a:srgbClr val="262626"/>
                </a:solidFill>
                <a:latin typeface="Meiryo UI"/>
                <a:ea typeface="Meiryo UI"/>
              </a:rPr>
              <a:t>北極星</a:t>
            </a:r>
            <a:r>
              <a:rPr lang="en-US" altLang="ja-JP" b="1" dirty="0">
                <a:solidFill>
                  <a:srgbClr val="262626"/>
                </a:solidFill>
                <a:latin typeface="Meiryo UI"/>
                <a:ea typeface="Meiryo UI"/>
              </a:rPr>
              <a:t>KPI</a:t>
            </a:r>
            <a:r>
              <a:rPr lang="ja-JP" altLang="en-US" b="1" dirty="0">
                <a:solidFill>
                  <a:srgbClr val="262626"/>
                </a:solidFill>
                <a:latin typeface="Meiryo UI"/>
                <a:ea typeface="Meiryo UI"/>
              </a:rPr>
              <a:t>とライオン固有のユニーク</a:t>
            </a:r>
            <a:r>
              <a:rPr lang="en-US" altLang="ja-JP" b="1" dirty="0">
                <a:solidFill>
                  <a:srgbClr val="262626"/>
                </a:solidFill>
                <a:latin typeface="Meiryo UI"/>
                <a:ea typeface="Meiryo UI"/>
              </a:rPr>
              <a:t>KPI</a:t>
            </a:r>
            <a:endParaRPr kumimoji="1" lang="ja-JP" altLang="en-US" dirty="0"/>
          </a:p>
        </p:txBody>
      </p:sp>
      <p:sp>
        <p:nvSpPr>
          <p:cNvPr id="3" name="テキスト プレースホルダー 2">
            <a:extLst>
              <a:ext uri="{FF2B5EF4-FFF2-40B4-BE49-F238E27FC236}">
                <a16:creationId xmlns:a16="http://schemas.microsoft.com/office/drawing/2014/main" id="{FE36CEB5-2574-1A9C-BA40-070EF3998CBF}"/>
              </a:ext>
            </a:extLst>
          </p:cNvPr>
          <p:cNvSpPr>
            <a:spLocks noGrp="1"/>
          </p:cNvSpPr>
          <p:nvPr>
            <p:ph type="body" sz="quarter" idx="13"/>
          </p:nvPr>
        </p:nvSpPr>
        <p:spPr/>
        <p:txBody>
          <a:bodyPr/>
          <a:lstStyle/>
          <a:p>
            <a:r>
              <a:rPr lang="ja-JP" altLang="en-US" b="1" dirty="0">
                <a:solidFill>
                  <a:srgbClr val="262626"/>
                </a:solidFill>
                <a:latin typeface="Meiryo UI"/>
                <a:ea typeface="Meiryo UI"/>
              </a:rPr>
              <a:t>頂点は「増分粗利（オーラルケア）」＝施策がなかった場合との差分で測る変革の正味効果。新規（</a:t>
            </a:r>
            <a:r>
              <a:rPr lang="en-US" altLang="ja-JP" b="1" dirty="0">
                <a:solidFill>
                  <a:srgbClr val="262626"/>
                </a:solidFill>
                <a:latin typeface="Meiryo UI"/>
                <a:ea typeface="Meiryo UI"/>
              </a:rPr>
              <a:t>N-t-C</a:t>
            </a:r>
            <a:r>
              <a:rPr lang="ja-JP" altLang="en-US" b="1" dirty="0">
                <a:solidFill>
                  <a:srgbClr val="262626"/>
                </a:solidFill>
                <a:latin typeface="Meiryo UI"/>
                <a:ea typeface="Meiryo UI"/>
              </a:rPr>
              <a:t>）と継続（</a:t>
            </a:r>
            <a:r>
              <a:rPr lang="en-US" altLang="ja-JP" b="1" dirty="0">
                <a:solidFill>
                  <a:srgbClr val="262626"/>
                </a:solidFill>
                <a:latin typeface="Meiryo UI"/>
                <a:ea typeface="Meiryo UI"/>
              </a:rPr>
              <a:t>LTV</a:t>
            </a:r>
            <a:r>
              <a:rPr lang="ja-JP" altLang="en-US" b="1" dirty="0">
                <a:solidFill>
                  <a:srgbClr val="262626"/>
                </a:solidFill>
                <a:latin typeface="Meiryo UI"/>
                <a:ea typeface="Meiryo UI"/>
              </a:rPr>
              <a:t>）の</a:t>
            </a:r>
            <a:r>
              <a:rPr lang="en-US" altLang="ja-JP" b="1" dirty="0">
                <a:solidFill>
                  <a:srgbClr val="262626"/>
                </a:solidFill>
                <a:latin typeface="Meiryo UI"/>
                <a:ea typeface="Meiryo UI"/>
              </a:rPr>
              <a:t>2</a:t>
            </a:r>
            <a:r>
              <a:rPr lang="ja-JP" altLang="en-US" b="1" dirty="0">
                <a:solidFill>
                  <a:srgbClr val="262626"/>
                </a:solidFill>
                <a:latin typeface="Meiryo UI"/>
                <a:ea typeface="Meiryo UI"/>
              </a:rPr>
              <a:t>本の枝に、固有</a:t>
            </a:r>
            <a:r>
              <a:rPr lang="en-US" altLang="ja-JP" b="1" dirty="0">
                <a:solidFill>
                  <a:srgbClr val="262626"/>
                </a:solidFill>
                <a:latin typeface="Meiryo UI"/>
                <a:ea typeface="Meiryo UI"/>
              </a:rPr>
              <a:t>KPI</a:t>
            </a:r>
            <a:r>
              <a:rPr lang="ja-JP" altLang="en-US" b="1" dirty="0">
                <a:solidFill>
                  <a:srgbClr val="262626"/>
                </a:solidFill>
                <a:latin typeface="Meiryo UI"/>
                <a:ea typeface="Meiryo UI"/>
              </a:rPr>
              <a:t>をぶら下げる</a:t>
            </a:r>
          </a:p>
        </p:txBody>
      </p:sp>
      <p:grpSp>
        <p:nvGrpSpPr>
          <p:cNvPr id="4" name="グループ化 3">
            <a:extLst>
              <a:ext uri="{FF2B5EF4-FFF2-40B4-BE49-F238E27FC236}">
                <a16:creationId xmlns:a16="http://schemas.microsoft.com/office/drawing/2014/main" id="{CB76AB41-207F-5434-465F-89744C0E6964}"/>
              </a:ext>
            </a:extLst>
          </p:cNvPr>
          <p:cNvGrpSpPr/>
          <p:nvPr/>
        </p:nvGrpSpPr>
        <p:grpSpPr>
          <a:xfrm>
            <a:off x="320040" y="1628774"/>
            <a:ext cx="11521440" cy="4900041"/>
            <a:chOff x="320040" y="1426464"/>
            <a:chExt cx="11521440" cy="5102352"/>
          </a:xfrm>
        </p:grpSpPr>
        <p:sp>
          <p:nvSpPr>
            <p:cNvPr id="14" name="Rectangle 13"/>
            <p:cNvSpPr/>
            <p:nvPr/>
          </p:nvSpPr>
          <p:spPr>
            <a:xfrm>
              <a:off x="3931920" y="1426464"/>
              <a:ext cx="4297680" cy="5029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5" name="TextBox 14"/>
            <p:cNvSpPr txBox="1"/>
            <p:nvPr/>
          </p:nvSpPr>
          <p:spPr>
            <a:xfrm>
              <a:off x="4069080" y="1481328"/>
              <a:ext cx="4023360" cy="289972"/>
            </a:xfrm>
            <a:prstGeom prst="rect">
              <a:avLst/>
            </a:prstGeom>
            <a:noFill/>
          </p:spPr>
          <p:txBody>
            <a:bodyPr wrap="square" lIns="0" tIns="0" rIns="0" bIns="0">
              <a:spAutoFit/>
            </a:bodyPr>
            <a:lstStyle/>
            <a:p>
              <a:pPr>
                <a:lnSpc>
                  <a:spcPct val="112000"/>
                </a:lnSpc>
              </a:pPr>
              <a:r>
                <a:rPr b="1" dirty="0" err="1">
                  <a:solidFill>
                    <a:srgbClr val="FFFFFF"/>
                  </a:solidFill>
                  <a:latin typeface="Meiryo UI"/>
                  <a:ea typeface="Meiryo UI"/>
                </a:rPr>
                <a:t>K</a:t>
              </a:r>
              <a:r>
                <a:rPr lang="en-US" altLang="ja-JP" b="1" dirty="0" err="1">
                  <a:solidFill>
                    <a:srgbClr val="FFFFFF"/>
                  </a:solidFill>
                  <a:latin typeface="Meiryo UI"/>
                  <a:ea typeface="Meiryo UI"/>
                </a:rPr>
                <a:t>G</a:t>
              </a:r>
              <a:r>
                <a:rPr b="1" dirty="0" err="1">
                  <a:solidFill>
                    <a:srgbClr val="FFFFFF"/>
                  </a:solidFill>
                  <a:latin typeface="Meiryo UI"/>
                  <a:ea typeface="Meiryo UI"/>
                </a:rPr>
                <a:t>I：増分粗利（オーラルケア事業</a:t>
              </a:r>
              <a:r>
                <a:rPr b="1" dirty="0">
                  <a:solidFill>
                    <a:srgbClr val="FFFFFF"/>
                  </a:solidFill>
                  <a:latin typeface="Meiryo UI"/>
                  <a:ea typeface="Meiryo UI"/>
                </a:rPr>
                <a:t>）</a:t>
              </a:r>
            </a:p>
          </p:txBody>
        </p:sp>
        <p:sp>
          <p:nvSpPr>
            <p:cNvPr id="16" name="Rectangle 15"/>
            <p:cNvSpPr/>
            <p:nvPr/>
          </p:nvSpPr>
          <p:spPr>
            <a:xfrm>
              <a:off x="2011680" y="2066543"/>
              <a:ext cx="3840480" cy="365760"/>
            </a:xfrm>
            <a:prstGeom prst="rect">
              <a:avLst/>
            </a:prstGeom>
            <a:solidFill>
              <a:srgbClr val="F2F7F3"/>
            </a:solidFill>
            <a:ln w="9525">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7" name="TextBox 16"/>
            <p:cNvSpPr txBox="1"/>
            <p:nvPr/>
          </p:nvSpPr>
          <p:spPr>
            <a:xfrm>
              <a:off x="2148840" y="2130552"/>
              <a:ext cx="3566160" cy="193359"/>
            </a:xfrm>
            <a:prstGeom prst="rect">
              <a:avLst/>
            </a:prstGeom>
            <a:noFill/>
          </p:spPr>
          <p:txBody>
            <a:bodyPr wrap="square" lIns="0" tIns="0" rIns="0" bIns="0">
              <a:spAutoFit/>
            </a:bodyPr>
            <a:lstStyle/>
            <a:p>
              <a:pPr>
                <a:lnSpc>
                  <a:spcPct val="112000"/>
                </a:lnSpc>
              </a:pPr>
              <a:r>
                <a:rPr sz="1200" b="1">
                  <a:solidFill>
                    <a:srgbClr val="0F5E87"/>
                  </a:solidFill>
                  <a:latin typeface="Meiryo UI"/>
                  <a:ea typeface="Meiryo UI"/>
                </a:rPr>
                <a:t>枝1：新規顧客の獲得（N-t-C＝カテゴリ新規客）</a:t>
              </a:r>
            </a:p>
          </p:txBody>
        </p:sp>
        <p:sp>
          <p:nvSpPr>
            <p:cNvPr id="18" name="Rectangle 17"/>
            <p:cNvSpPr/>
            <p:nvPr/>
          </p:nvSpPr>
          <p:spPr>
            <a:xfrm>
              <a:off x="6309360" y="2066543"/>
              <a:ext cx="3840480" cy="365760"/>
            </a:xfrm>
            <a:prstGeom prst="rect">
              <a:avLst/>
            </a:prstGeom>
            <a:solidFill>
              <a:srgbClr val="F2F7F3"/>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19" name="TextBox 18"/>
            <p:cNvSpPr txBox="1"/>
            <p:nvPr/>
          </p:nvSpPr>
          <p:spPr>
            <a:xfrm>
              <a:off x="6446520" y="2130552"/>
              <a:ext cx="3566160" cy="408750"/>
            </a:xfrm>
            <a:prstGeom prst="rect">
              <a:avLst/>
            </a:prstGeom>
            <a:noFill/>
          </p:spPr>
          <p:txBody>
            <a:bodyPr wrap="square" lIns="0" tIns="0" rIns="0" bIns="0">
              <a:spAutoFit/>
            </a:bodyPr>
            <a:lstStyle/>
            <a:p>
              <a:pPr>
                <a:lnSpc>
                  <a:spcPct val="112000"/>
                </a:lnSpc>
              </a:pPr>
              <a:r>
                <a:rPr sz="1200" b="1" dirty="0">
                  <a:solidFill>
                    <a:srgbClr val="008D2E"/>
                  </a:solidFill>
                  <a:latin typeface="Meiryo UI"/>
                  <a:ea typeface="Meiryo UI"/>
                </a:rPr>
                <a:t>枝2：継続顧客の深化（LTV＝習慣化・再購買・推奨）</a:t>
              </a:r>
            </a:p>
          </p:txBody>
        </p:sp>
        <p:sp>
          <p:nvSpPr>
            <p:cNvPr id="20" name="Rectangle 19"/>
            <p:cNvSpPr/>
            <p:nvPr/>
          </p:nvSpPr>
          <p:spPr>
            <a:xfrm>
              <a:off x="320040" y="2523744"/>
              <a:ext cx="265176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1" name="TextBox 20"/>
            <p:cNvSpPr txBox="1"/>
            <p:nvPr/>
          </p:nvSpPr>
          <p:spPr>
            <a:xfrm>
              <a:off x="374904" y="2551175"/>
              <a:ext cx="2542032" cy="193359"/>
            </a:xfrm>
            <a:prstGeom prst="rect">
              <a:avLst/>
            </a:prstGeom>
            <a:noFill/>
          </p:spPr>
          <p:txBody>
            <a:bodyPr wrap="square" lIns="0" tIns="0" rIns="0" bIns="0">
              <a:spAutoFit/>
            </a:bodyPr>
            <a:lstStyle/>
            <a:p>
              <a:pPr>
                <a:lnSpc>
                  <a:spcPct val="112000"/>
                </a:lnSpc>
              </a:pPr>
              <a:r>
                <a:rPr sz="1200" b="1">
                  <a:solidFill>
                    <a:srgbClr val="FFFFFF"/>
                  </a:solidFill>
                  <a:latin typeface="Meiryo UI"/>
                  <a:ea typeface="Meiryo UI"/>
                </a:rPr>
                <a:t>ユニークKPI</a:t>
              </a:r>
            </a:p>
          </p:txBody>
        </p:sp>
        <p:sp>
          <p:nvSpPr>
            <p:cNvPr id="22" name="Rectangle 21"/>
            <p:cNvSpPr/>
            <p:nvPr/>
          </p:nvSpPr>
          <p:spPr>
            <a:xfrm>
              <a:off x="2990088" y="2523744"/>
              <a:ext cx="630936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3" name="TextBox 22"/>
            <p:cNvSpPr txBox="1"/>
            <p:nvPr/>
          </p:nvSpPr>
          <p:spPr>
            <a:xfrm>
              <a:off x="3044952" y="2551175"/>
              <a:ext cx="6199632" cy="193359"/>
            </a:xfrm>
            <a:prstGeom prst="rect">
              <a:avLst/>
            </a:prstGeom>
            <a:noFill/>
          </p:spPr>
          <p:txBody>
            <a:bodyPr wrap="square" lIns="0" tIns="0" rIns="0" bIns="0">
              <a:spAutoFit/>
            </a:bodyPr>
            <a:lstStyle/>
            <a:p>
              <a:pPr>
                <a:lnSpc>
                  <a:spcPct val="112000"/>
                </a:lnSpc>
              </a:pPr>
              <a:r>
                <a:rPr sz="1200" b="1">
                  <a:solidFill>
                    <a:srgbClr val="FFFFFF"/>
                  </a:solidFill>
                  <a:latin typeface="Meiryo UI"/>
                  <a:ea typeface="Meiryo UI"/>
                </a:rPr>
                <a:t>定義・測り方</a:t>
              </a:r>
            </a:p>
          </p:txBody>
        </p:sp>
        <p:sp>
          <p:nvSpPr>
            <p:cNvPr id="24" name="Rectangle 23"/>
            <p:cNvSpPr/>
            <p:nvPr/>
          </p:nvSpPr>
          <p:spPr>
            <a:xfrm>
              <a:off x="9317736" y="2523744"/>
              <a:ext cx="82296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5" name="TextBox 24"/>
            <p:cNvSpPr txBox="1"/>
            <p:nvPr/>
          </p:nvSpPr>
          <p:spPr>
            <a:xfrm>
              <a:off x="9372600" y="2551175"/>
              <a:ext cx="713232" cy="193359"/>
            </a:xfrm>
            <a:prstGeom prst="rect">
              <a:avLst/>
            </a:prstGeom>
            <a:noFill/>
          </p:spPr>
          <p:txBody>
            <a:bodyPr wrap="square" lIns="0" tIns="0" rIns="0" bIns="0">
              <a:spAutoFit/>
            </a:bodyPr>
            <a:lstStyle/>
            <a:p>
              <a:pPr>
                <a:lnSpc>
                  <a:spcPct val="112000"/>
                </a:lnSpc>
              </a:pPr>
              <a:r>
                <a:rPr sz="1200" b="1">
                  <a:solidFill>
                    <a:srgbClr val="FFFFFF"/>
                  </a:solidFill>
                  <a:latin typeface="Meiryo UI"/>
                  <a:ea typeface="Meiryo UI"/>
                </a:rPr>
                <a:t>接続</a:t>
              </a:r>
            </a:p>
          </p:txBody>
        </p:sp>
        <p:sp>
          <p:nvSpPr>
            <p:cNvPr id="26" name="Rectangle 25"/>
            <p:cNvSpPr/>
            <p:nvPr/>
          </p:nvSpPr>
          <p:spPr>
            <a:xfrm>
              <a:off x="10158984" y="2523744"/>
              <a:ext cx="77724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7" name="TextBox 26"/>
            <p:cNvSpPr txBox="1"/>
            <p:nvPr/>
          </p:nvSpPr>
          <p:spPr>
            <a:xfrm>
              <a:off x="10213848" y="2551175"/>
              <a:ext cx="667512" cy="193359"/>
            </a:xfrm>
            <a:prstGeom prst="rect">
              <a:avLst/>
            </a:prstGeom>
            <a:noFill/>
          </p:spPr>
          <p:txBody>
            <a:bodyPr wrap="square" lIns="0" tIns="0" rIns="0" bIns="0">
              <a:spAutoFit/>
            </a:bodyPr>
            <a:lstStyle/>
            <a:p>
              <a:pPr>
                <a:lnSpc>
                  <a:spcPct val="112000"/>
                </a:lnSpc>
              </a:pPr>
              <a:r>
                <a:rPr sz="1200" b="1">
                  <a:solidFill>
                    <a:srgbClr val="FFFFFF"/>
                  </a:solidFill>
                  <a:latin typeface="Meiryo UI"/>
                  <a:ea typeface="Meiryo UI"/>
                </a:rPr>
                <a:t>IR開示</a:t>
              </a:r>
            </a:p>
          </p:txBody>
        </p:sp>
        <p:sp>
          <p:nvSpPr>
            <p:cNvPr id="28" name="Rectangle 27"/>
            <p:cNvSpPr/>
            <p:nvPr/>
          </p:nvSpPr>
          <p:spPr>
            <a:xfrm>
              <a:off x="320040" y="2834639"/>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9" name="TextBox 28"/>
            <p:cNvSpPr txBox="1"/>
            <p:nvPr/>
          </p:nvSpPr>
          <p:spPr>
            <a:xfrm>
              <a:off x="384048" y="2880359"/>
              <a:ext cx="2523744" cy="183210"/>
            </a:xfrm>
            <a:prstGeom prst="rect">
              <a:avLst/>
            </a:prstGeom>
            <a:noFill/>
          </p:spPr>
          <p:txBody>
            <a:bodyPr wrap="square" lIns="0" tIns="0" rIns="0" bIns="0">
              <a:spAutoFit/>
            </a:bodyPr>
            <a:lstStyle/>
            <a:p>
              <a:pPr>
                <a:lnSpc>
                  <a:spcPct val="105000"/>
                </a:lnSpc>
              </a:pPr>
              <a:r>
                <a:rPr sz="1200" b="1">
                  <a:solidFill>
                    <a:srgbClr val="262626"/>
                  </a:solidFill>
                  <a:latin typeface="Meiryo UI"/>
                  <a:ea typeface="Meiryo UI"/>
                </a:rPr>
                <a:t>U1 AI推奨シェア（AIEO Rate）</a:t>
              </a:r>
            </a:p>
          </p:txBody>
        </p:sp>
        <p:sp>
          <p:nvSpPr>
            <p:cNvPr id="30" name="Rectangle 29"/>
            <p:cNvSpPr/>
            <p:nvPr/>
          </p:nvSpPr>
          <p:spPr>
            <a:xfrm>
              <a:off x="2990088" y="2834639"/>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1" name="TextBox 30"/>
            <p:cNvSpPr txBox="1"/>
            <p:nvPr/>
          </p:nvSpPr>
          <p:spPr>
            <a:xfrm>
              <a:off x="3054096" y="2880359"/>
              <a:ext cx="6181344" cy="171993"/>
            </a:xfrm>
            <a:prstGeom prst="rect">
              <a:avLst/>
            </a:prstGeom>
            <a:noFill/>
          </p:spPr>
          <p:txBody>
            <a:bodyPr wrap="square" lIns="0" tIns="0" rIns="0" bIns="0">
              <a:spAutoFit/>
            </a:bodyPr>
            <a:lstStyle/>
            <a:p>
              <a:pPr>
                <a:lnSpc>
                  <a:spcPct val="108000"/>
                </a:lnSpc>
              </a:pPr>
              <a:r>
                <a:rPr sz="1100" b="0">
                  <a:solidFill>
                    <a:srgbClr val="262626"/>
                  </a:solidFill>
                  <a:latin typeface="Meiryo UI"/>
                  <a:ea typeface="Meiryo UI"/>
                </a:rPr>
                <a:t>主要な口腔ケア・OTC質問へのAI回答でライオンが推奨・引用される割合（月次監査100〜200問×AI別）</a:t>
              </a:r>
            </a:p>
          </p:txBody>
        </p:sp>
        <p:sp>
          <p:nvSpPr>
            <p:cNvPr id="32" name="Rectangle 31"/>
            <p:cNvSpPr/>
            <p:nvPr/>
          </p:nvSpPr>
          <p:spPr>
            <a:xfrm>
              <a:off x="9317736" y="2834639"/>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3" name="TextBox 32"/>
            <p:cNvSpPr txBox="1"/>
            <p:nvPr/>
          </p:nvSpPr>
          <p:spPr>
            <a:xfrm>
              <a:off x="9372600" y="2953511"/>
              <a:ext cx="713232" cy="193359"/>
            </a:xfrm>
            <a:prstGeom prst="rect">
              <a:avLst/>
            </a:prstGeom>
            <a:noFill/>
          </p:spPr>
          <p:txBody>
            <a:bodyPr wrap="square" lIns="0" tIns="0" rIns="0" bIns="0">
              <a:spAutoFit/>
            </a:bodyPr>
            <a:lstStyle/>
            <a:p>
              <a:pPr>
                <a:lnSpc>
                  <a:spcPct val="112000"/>
                </a:lnSpc>
              </a:pPr>
              <a:r>
                <a:rPr sz="1200" b="1">
                  <a:solidFill>
                    <a:srgbClr val="0F5E87"/>
                  </a:solidFill>
                  <a:latin typeface="Meiryo UI"/>
                  <a:ea typeface="Meiryo UI"/>
                </a:rPr>
                <a:t>枝1</a:t>
              </a:r>
            </a:p>
          </p:txBody>
        </p:sp>
        <p:sp>
          <p:nvSpPr>
            <p:cNvPr id="34" name="Rectangle 33"/>
            <p:cNvSpPr/>
            <p:nvPr/>
          </p:nvSpPr>
          <p:spPr>
            <a:xfrm>
              <a:off x="10158984" y="2834639"/>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5" name="TextBox 34"/>
            <p:cNvSpPr txBox="1"/>
            <p:nvPr/>
          </p:nvSpPr>
          <p:spPr>
            <a:xfrm>
              <a:off x="10213848" y="2953511"/>
              <a:ext cx="667512" cy="193359"/>
            </a:xfrm>
            <a:prstGeom prst="rect">
              <a:avLst/>
            </a:prstGeom>
            <a:noFill/>
          </p:spPr>
          <p:txBody>
            <a:bodyPr wrap="square" lIns="0" tIns="0" rIns="0" bIns="0">
              <a:spAutoFit/>
            </a:bodyPr>
            <a:lstStyle/>
            <a:p>
              <a:pPr>
                <a:lnSpc>
                  <a:spcPct val="112000"/>
                </a:lnSpc>
              </a:pPr>
              <a:r>
                <a:rPr sz="1200" b="1">
                  <a:solidFill>
                    <a:srgbClr val="C8102E"/>
                  </a:solidFill>
                  <a:latin typeface="Meiryo UI"/>
                  <a:ea typeface="Meiryo UI"/>
                </a:rPr>
                <a:t>高</a:t>
              </a:r>
            </a:p>
          </p:txBody>
        </p:sp>
        <p:sp>
          <p:nvSpPr>
            <p:cNvPr id="36" name="Rectangle 35"/>
            <p:cNvSpPr/>
            <p:nvPr/>
          </p:nvSpPr>
          <p:spPr>
            <a:xfrm>
              <a:off x="320040" y="3364991"/>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7" name="TextBox 36"/>
            <p:cNvSpPr txBox="1"/>
            <p:nvPr/>
          </p:nvSpPr>
          <p:spPr>
            <a:xfrm>
              <a:off x="384048" y="3410711"/>
              <a:ext cx="2523744" cy="183210"/>
            </a:xfrm>
            <a:prstGeom prst="rect">
              <a:avLst/>
            </a:prstGeom>
            <a:noFill/>
          </p:spPr>
          <p:txBody>
            <a:bodyPr wrap="square" lIns="0" tIns="0" rIns="0" bIns="0">
              <a:spAutoFit/>
            </a:bodyPr>
            <a:lstStyle/>
            <a:p>
              <a:pPr>
                <a:lnSpc>
                  <a:spcPct val="105000"/>
                </a:lnSpc>
              </a:pPr>
              <a:r>
                <a:rPr sz="1200" b="1">
                  <a:solidFill>
                    <a:srgbClr val="262626"/>
                  </a:solidFill>
                  <a:latin typeface="Meiryo UI"/>
                  <a:ea typeface="Meiryo UI"/>
                </a:rPr>
                <a:t>U2 KOIC（意向把握カバレッジ）</a:t>
              </a:r>
            </a:p>
          </p:txBody>
        </p:sp>
        <p:sp>
          <p:nvSpPr>
            <p:cNvPr id="38" name="Rectangle 37"/>
            <p:cNvSpPr/>
            <p:nvPr/>
          </p:nvSpPr>
          <p:spPr>
            <a:xfrm>
              <a:off x="2990088" y="3364991"/>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9" name="TextBox 38"/>
            <p:cNvSpPr txBox="1"/>
            <p:nvPr/>
          </p:nvSpPr>
          <p:spPr>
            <a:xfrm>
              <a:off x="3054096" y="3410711"/>
              <a:ext cx="6181344" cy="171993"/>
            </a:xfrm>
            <a:prstGeom prst="rect">
              <a:avLst/>
            </a:prstGeom>
            <a:noFill/>
          </p:spPr>
          <p:txBody>
            <a:bodyPr wrap="square" lIns="0" tIns="0" rIns="0" bIns="0">
              <a:spAutoFit/>
            </a:bodyPr>
            <a:lstStyle/>
            <a:p>
              <a:pPr>
                <a:lnSpc>
                  <a:spcPct val="108000"/>
                </a:lnSpc>
              </a:pPr>
              <a:r>
                <a:rPr sz="1100" b="0">
                  <a:solidFill>
                    <a:srgbClr val="262626"/>
                  </a:solidFill>
                  <a:latin typeface="Meiryo UI"/>
                  <a:ea typeface="Meiryo UI"/>
                </a:rPr>
                <a:t>購入前の口腔課題・意向を継続把握できる対象者比率 ― Cookie消滅への自前対応の進捗</a:t>
              </a:r>
            </a:p>
          </p:txBody>
        </p:sp>
        <p:sp>
          <p:nvSpPr>
            <p:cNvPr id="40" name="Rectangle 39"/>
            <p:cNvSpPr/>
            <p:nvPr/>
          </p:nvSpPr>
          <p:spPr>
            <a:xfrm>
              <a:off x="9317736" y="3364991"/>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1" name="TextBox 40"/>
            <p:cNvSpPr txBox="1"/>
            <p:nvPr/>
          </p:nvSpPr>
          <p:spPr>
            <a:xfrm>
              <a:off x="9372600" y="3483863"/>
              <a:ext cx="713232" cy="193359"/>
            </a:xfrm>
            <a:prstGeom prst="rect">
              <a:avLst/>
            </a:prstGeom>
            <a:noFill/>
          </p:spPr>
          <p:txBody>
            <a:bodyPr wrap="square" lIns="0" tIns="0" rIns="0" bIns="0">
              <a:spAutoFit/>
            </a:bodyPr>
            <a:lstStyle/>
            <a:p>
              <a:pPr>
                <a:lnSpc>
                  <a:spcPct val="112000"/>
                </a:lnSpc>
              </a:pPr>
              <a:r>
                <a:rPr sz="1200" b="1">
                  <a:solidFill>
                    <a:srgbClr val="0F5E87"/>
                  </a:solidFill>
                  <a:latin typeface="Meiryo UI"/>
                  <a:ea typeface="Meiryo UI"/>
                </a:rPr>
                <a:t>枝1・2</a:t>
              </a:r>
            </a:p>
          </p:txBody>
        </p:sp>
        <p:sp>
          <p:nvSpPr>
            <p:cNvPr id="42" name="Rectangle 41"/>
            <p:cNvSpPr/>
            <p:nvPr/>
          </p:nvSpPr>
          <p:spPr>
            <a:xfrm>
              <a:off x="10158984" y="3364991"/>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3" name="TextBox 42"/>
            <p:cNvSpPr txBox="1"/>
            <p:nvPr/>
          </p:nvSpPr>
          <p:spPr>
            <a:xfrm>
              <a:off x="10213848" y="3483863"/>
              <a:ext cx="667512" cy="193359"/>
            </a:xfrm>
            <a:prstGeom prst="rect">
              <a:avLst/>
            </a:prstGeom>
            <a:noFill/>
          </p:spPr>
          <p:txBody>
            <a:bodyPr wrap="square" lIns="0" tIns="0" rIns="0" bIns="0">
              <a:spAutoFit/>
            </a:bodyPr>
            <a:lstStyle/>
            <a:p>
              <a:pPr>
                <a:lnSpc>
                  <a:spcPct val="112000"/>
                </a:lnSpc>
              </a:pPr>
              <a:r>
                <a:rPr sz="1200" b="1">
                  <a:solidFill>
                    <a:srgbClr val="C8102E"/>
                  </a:solidFill>
                  <a:latin typeface="Meiryo UI"/>
                  <a:ea typeface="Meiryo UI"/>
                </a:rPr>
                <a:t>高</a:t>
              </a:r>
            </a:p>
          </p:txBody>
        </p:sp>
        <p:sp>
          <p:nvSpPr>
            <p:cNvPr id="44" name="Rectangle 43"/>
            <p:cNvSpPr/>
            <p:nvPr/>
          </p:nvSpPr>
          <p:spPr>
            <a:xfrm>
              <a:off x="320040" y="3895344"/>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5" name="TextBox 44"/>
            <p:cNvSpPr txBox="1"/>
            <p:nvPr/>
          </p:nvSpPr>
          <p:spPr>
            <a:xfrm>
              <a:off x="384048" y="3941063"/>
              <a:ext cx="2523744" cy="183210"/>
            </a:xfrm>
            <a:prstGeom prst="rect">
              <a:avLst/>
            </a:prstGeom>
            <a:noFill/>
          </p:spPr>
          <p:txBody>
            <a:bodyPr wrap="square" lIns="0" tIns="0" rIns="0" bIns="0">
              <a:spAutoFit/>
            </a:bodyPr>
            <a:lstStyle/>
            <a:p>
              <a:pPr>
                <a:lnSpc>
                  <a:spcPct val="105000"/>
                </a:lnSpc>
              </a:pPr>
              <a:r>
                <a:rPr sz="1200" b="1">
                  <a:solidFill>
                    <a:srgbClr val="262626"/>
                  </a:solidFill>
                  <a:latin typeface="Meiryo UI"/>
                  <a:ea typeface="Meiryo UI"/>
                </a:rPr>
                <a:t>U3 B2B2C推奨起点売上比率</a:t>
              </a:r>
            </a:p>
          </p:txBody>
        </p:sp>
        <p:sp>
          <p:nvSpPr>
            <p:cNvPr id="46" name="Rectangle 45"/>
            <p:cNvSpPr/>
            <p:nvPr/>
          </p:nvSpPr>
          <p:spPr>
            <a:xfrm>
              <a:off x="2990088" y="3895344"/>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7" name="TextBox 46"/>
            <p:cNvSpPr txBox="1"/>
            <p:nvPr/>
          </p:nvSpPr>
          <p:spPr>
            <a:xfrm>
              <a:off x="3054096" y="3941063"/>
              <a:ext cx="6181344" cy="171993"/>
            </a:xfrm>
            <a:prstGeom prst="rect">
              <a:avLst/>
            </a:prstGeom>
            <a:noFill/>
          </p:spPr>
          <p:txBody>
            <a:bodyPr wrap="square" lIns="0" tIns="0" rIns="0" bIns="0">
              <a:spAutoFit/>
            </a:bodyPr>
            <a:lstStyle/>
            <a:p>
              <a:pPr>
                <a:lnSpc>
                  <a:spcPct val="108000"/>
                </a:lnSpc>
              </a:pPr>
              <a:r>
                <a:rPr sz="1100" b="0">
                  <a:solidFill>
                    <a:srgbClr val="262626"/>
                  </a:solidFill>
                  <a:latin typeface="Meiryo UI"/>
                  <a:ea typeface="Meiryo UI"/>
                </a:rPr>
                <a:t>歯科医院・衛生士・保険者の推奨を経由した売上÷カテゴリ売上（DCRで購買照合）</a:t>
              </a:r>
            </a:p>
          </p:txBody>
        </p:sp>
        <p:sp>
          <p:nvSpPr>
            <p:cNvPr id="48" name="Rectangle 47"/>
            <p:cNvSpPr/>
            <p:nvPr/>
          </p:nvSpPr>
          <p:spPr>
            <a:xfrm>
              <a:off x="9317736" y="3895344"/>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9" name="TextBox 48"/>
            <p:cNvSpPr txBox="1"/>
            <p:nvPr/>
          </p:nvSpPr>
          <p:spPr>
            <a:xfrm>
              <a:off x="9372600" y="4014215"/>
              <a:ext cx="713232" cy="193359"/>
            </a:xfrm>
            <a:prstGeom prst="rect">
              <a:avLst/>
            </a:prstGeom>
            <a:noFill/>
          </p:spPr>
          <p:txBody>
            <a:bodyPr wrap="square" lIns="0" tIns="0" rIns="0" bIns="0">
              <a:spAutoFit/>
            </a:bodyPr>
            <a:lstStyle/>
            <a:p>
              <a:pPr>
                <a:lnSpc>
                  <a:spcPct val="112000"/>
                </a:lnSpc>
              </a:pPr>
              <a:r>
                <a:rPr sz="1200" b="1">
                  <a:solidFill>
                    <a:srgbClr val="0F5E87"/>
                  </a:solidFill>
                  <a:latin typeface="Meiryo UI"/>
                  <a:ea typeface="Meiryo UI"/>
                </a:rPr>
                <a:t>枝1</a:t>
              </a:r>
            </a:p>
          </p:txBody>
        </p:sp>
        <p:sp>
          <p:nvSpPr>
            <p:cNvPr id="50" name="Rectangle 49"/>
            <p:cNvSpPr/>
            <p:nvPr/>
          </p:nvSpPr>
          <p:spPr>
            <a:xfrm>
              <a:off x="10158984" y="3895344"/>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51" name="TextBox 50"/>
            <p:cNvSpPr txBox="1"/>
            <p:nvPr/>
          </p:nvSpPr>
          <p:spPr>
            <a:xfrm>
              <a:off x="10213848" y="4014215"/>
              <a:ext cx="667512" cy="193359"/>
            </a:xfrm>
            <a:prstGeom prst="rect">
              <a:avLst/>
            </a:prstGeom>
            <a:noFill/>
          </p:spPr>
          <p:txBody>
            <a:bodyPr wrap="square" lIns="0" tIns="0" rIns="0" bIns="0">
              <a:spAutoFit/>
            </a:bodyPr>
            <a:lstStyle/>
            <a:p>
              <a:pPr>
                <a:lnSpc>
                  <a:spcPct val="112000"/>
                </a:lnSpc>
              </a:pPr>
              <a:r>
                <a:rPr sz="1200" b="1">
                  <a:solidFill>
                    <a:srgbClr val="C8102E"/>
                  </a:solidFill>
                  <a:latin typeface="Meiryo UI"/>
                  <a:ea typeface="Meiryo UI"/>
                </a:rPr>
                <a:t>高</a:t>
              </a:r>
            </a:p>
          </p:txBody>
        </p:sp>
        <p:sp>
          <p:nvSpPr>
            <p:cNvPr id="52" name="Rectangle 51"/>
            <p:cNvSpPr/>
            <p:nvPr/>
          </p:nvSpPr>
          <p:spPr>
            <a:xfrm>
              <a:off x="320040" y="4425696"/>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53" name="TextBox 52"/>
            <p:cNvSpPr txBox="1"/>
            <p:nvPr/>
          </p:nvSpPr>
          <p:spPr>
            <a:xfrm>
              <a:off x="384048" y="4471416"/>
              <a:ext cx="2523744" cy="183210"/>
            </a:xfrm>
            <a:prstGeom prst="rect">
              <a:avLst/>
            </a:prstGeom>
            <a:noFill/>
          </p:spPr>
          <p:txBody>
            <a:bodyPr wrap="square" lIns="0" tIns="0" rIns="0" bIns="0">
              <a:spAutoFit/>
            </a:bodyPr>
            <a:lstStyle/>
            <a:p>
              <a:pPr>
                <a:lnSpc>
                  <a:spcPct val="105000"/>
                </a:lnSpc>
              </a:pPr>
              <a:r>
                <a:rPr sz="1200" b="1">
                  <a:solidFill>
                    <a:srgbClr val="262626"/>
                  </a:solidFill>
                  <a:latin typeface="Meiryo UI"/>
                  <a:ea typeface="Meiryo UI"/>
                </a:rPr>
                <a:t>U4 カテゴリーLTV向上貢献指数</a:t>
              </a:r>
            </a:p>
          </p:txBody>
        </p:sp>
        <p:sp>
          <p:nvSpPr>
            <p:cNvPr id="54" name="Rectangle 53"/>
            <p:cNvSpPr/>
            <p:nvPr/>
          </p:nvSpPr>
          <p:spPr>
            <a:xfrm>
              <a:off x="2990088" y="4425696"/>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55" name="TextBox 54"/>
            <p:cNvSpPr txBox="1"/>
            <p:nvPr/>
          </p:nvSpPr>
          <p:spPr>
            <a:xfrm>
              <a:off x="3054096" y="4471416"/>
              <a:ext cx="6181344" cy="171993"/>
            </a:xfrm>
            <a:prstGeom prst="rect">
              <a:avLst/>
            </a:prstGeom>
            <a:noFill/>
          </p:spPr>
          <p:txBody>
            <a:bodyPr wrap="square" lIns="0" tIns="0" rIns="0" bIns="0">
              <a:spAutoFit/>
            </a:bodyPr>
            <a:lstStyle/>
            <a:p>
              <a:pPr>
                <a:lnSpc>
                  <a:spcPct val="108000"/>
                </a:lnSpc>
              </a:pPr>
              <a:r>
                <a:rPr sz="1100" b="0">
                  <a:solidFill>
                    <a:srgbClr val="262626"/>
                  </a:solidFill>
                  <a:latin typeface="Meiryo UI"/>
                  <a:ea typeface="Meiryo UI"/>
                </a:rPr>
                <a:t>ライオン施策により重点小売のカテゴリ粗利が前年比何%向上したか（Test&amp;Control比較）</a:t>
              </a:r>
            </a:p>
          </p:txBody>
        </p:sp>
        <p:sp>
          <p:nvSpPr>
            <p:cNvPr id="56" name="Rectangle 55"/>
            <p:cNvSpPr/>
            <p:nvPr/>
          </p:nvSpPr>
          <p:spPr>
            <a:xfrm>
              <a:off x="9317736" y="4425696"/>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57" name="TextBox 56"/>
            <p:cNvSpPr txBox="1"/>
            <p:nvPr/>
          </p:nvSpPr>
          <p:spPr>
            <a:xfrm>
              <a:off x="9372600" y="4544569"/>
              <a:ext cx="713232" cy="193359"/>
            </a:xfrm>
            <a:prstGeom prst="rect">
              <a:avLst/>
            </a:prstGeom>
            <a:noFill/>
          </p:spPr>
          <p:txBody>
            <a:bodyPr wrap="square" lIns="0" tIns="0" rIns="0" bIns="0">
              <a:spAutoFit/>
            </a:bodyPr>
            <a:lstStyle/>
            <a:p>
              <a:pPr>
                <a:lnSpc>
                  <a:spcPct val="112000"/>
                </a:lnSpc>
              </a:pPr>
              <a:r>
                <a:rPr sz="1200" b="1">
                  <a:solidFill>
                    <a:srgbClr val="0F5E87"/>
                  </a:solidFill>
                  <a:latin typeface="Meiryo UI"/>
                  <a:ea typeface="Meiryo UI"/>
                </a:rPr>
                <a:t>枝2</a:t>
              </a:r>
            </a:p>
          </p:txBody>
        </p:sp>
        <p:sp>
          <p:nvSpPr>
            <p:cNvPr id="58" name="Rectangle 57"/>
            <p:cNvSpPr/>
            <p:nvPr/>
          </p:nvSpPr>
          <p:spPr>
            <a:xfrm>
              <a:off x="10158984" y="4425696"/>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59" name="TextBox 58"/>
            <p:cNvSpPr txBox="1"/>
            <p:nvPr/>
          </p:nvSpPr>
          <p:spPr>
            <a:xfrm>
              <a:off x="10213848" y="4544569"/>
              <a:ext cx="667512" cy="193359"/>
            </a:xfrm>
            <a:prstGeom prst="rect">
              <a:avLst/>
            </a:prstGeom>
            <a:noFill/>
          </p:spPr>
          <p:txBody>
            <a:bodyPr wrap="square" lIns="0" tIns="0" rIns="0" bIns="0">
              <a:spAutoFit/>
            </a:bodyPr>
            <a:lstStyle/>
            <a:p>
              <a:pPr>
                <a:lnSpc>
                  <a:spcPct val="112000"/>
                </a:lnSpc>
              </a:pPr>
              <a:r>
                <a:rPr sz="1200" b="1">
                  <a:solidFill>
                    <a:srgbClr val="C8102E"/>
                  </a:solidFill>
                  <a:latin typeface="Meiryo UI"/>
                  <a:ea typeface="Meiryo UI"/>
                </a:rPr>
                <a:t>中</a:t>
              </a:r>
            </a:p>
          </p:txBody>
        </p:sp>
        <p:sp>
          <p:nvSpPr>
            <p:cNvPr id="60" name="Rectangle 59"/>
            <p:cNvSpPr/>
            <p:nvPr/>
          </p:nvSpPr>
          <p:spPr>
            <a:xfrm>
              <a:off x="320040" y="4956048"/>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61" name="TextBox 60"/>
            <p:cNvSpPr txBox="1"/>
            <p:nvPr/>
          </p:nvSpPr>
          <p:spPr>
            <a:xfrm>
              <a:off x="384048" y="5001768"/>
              <a:ext cx="2523744" cy="183210"/>
            </a:xfrm>
            <a:prstGeom prst="rect">
              <a:avLst/>
            </a:prstGeom>
            <a:noFill/>
          </p:spPr>
          <p:txBody>
            <a:bodyPr wrap="square" lIns="0" tIns="0" rIns="0" bIns="0">
              <a:spAutoFit/>
            </a:bodyPr>
            <a:lstStyle/>
            <a:p>
              <a:pPr>
                <a:lnSpc>
                  <a:spcPct val="105000"/>
                </a:lnSpc>
              </a:pPr>
              <a:r>
                <a:rPr sz="1200" b="1">
                  <a:solidFill>
                    <a:srgbClr val="262626"/>
                  </a:solidFill>
                  <a:latin typeface="Meiryo UI"/>
                  <a:ea typeface="Meiryo UI"/>
                </a:rPr>
                <a:t>U5 口腔健康アウトカム改善率</a:t>
              </a:r>
            </a:p>
          </p:txBody>
        </p:sp>
        <p:sp>
          <p:nvSpPr>
            <p:cNvPr id="62" name="Rectangle 61"/>
            <p:cNvSpPr/>
            <p:nvPr/>
          </p:nvSpPr>
          <p:spPr>
            <a:xfrm>
              <a:off x="2990088" y="4956048"/>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63" name="TextBox 62"/>
            <p:cNvSpPr txBox="1"/>
            <p:nvPr/>
          </p:nvSpPr>
          <p:spPr>
            <a:xfrm>
              <a:off x="3054096" y="5001768"/>
              <a:ext cx="6181344" cy="171993"/>
            </a:xfrm>
            <a:prstGeom prst="rect">
              <a:avLst/>
            </a:prstGeom>
            <a:noFill/>
          </p:spPr>
          <p:txBody>
            <a:bodyPr wrap="square" lIns="0" tIns="0" rIns="0" bIns="0">
              <a:spAutoFit/>
            </a:bodyPr>
            <a:lstStyle/>
            <a:p>
              <a:pPr>
                <a:lnSpc>
                  <a:spcPct val="108000"/>
                </a:lnSpc>
              </a:pPr>
              <a:r>
                <a:rPr sz="1100" b="0">
                  <a:solidFill>
                    <a:srgbClr val="262626"/>
                  </a:solidFill>
                  <a:latin typeface="Meiryo UI"/>
                  <a:ea typeface="Meiryo UI"/>
                </a:rPr>
                <a:t>製品・習慣プログラム参加者の口腔状態の事前事後改善比率 ―「健康の成果に責任を持つ」証明</a:t>
              </a:r>
            </a:p>
          </p:txBody>
        </p:sp>
        <p:sp>
          <p:nvSpPr>
            <p:cNvPr id="64" name="Rectangle 63"/>
            <p:cNvSpPr/>
            <p:nvPr/>
          </p:nvSpPr>
          <p:spPr>
            <a:xfrm>
              <a:off x="9317736" y="4956048"/>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65" name="TextBox 64"/>
            <p:cNvSpPr txBox="1"/>
            <p:nvPr/>
          </p:nvSpPr>
          <p:spPr>
            <a:xfrm>
              <a:off x="9372600" y="5074920"/>
              <a:ext cx="713232" cy="193359"/>
            </a:xfrm>
            <a:prstGeom prst="rect">
              <a:avLst/>
            </a:prstGeom>
            <a:noFill/>
          </p:spPr>
          <p:txBody>
            <a:bodyPr wrap="square" lIns="0" tIns="0" rIns="0" bIns="0">
              <a:spAutoFit/>
            </a:bodyPr>
            <a:lstStyle/>
            <a:p>
              <a:pPr>
                <a:lnSpc>
                  <a:spcPct val="112000"/>
                </a:lnSpc>
              </a:pPr>
              <a:r>
                <a:rPr sz="1200" b="1">
                  <a:solidFill>
                    <a:srgbClr val="0F5E87"/>
                  </a:solidFill>
                  <a:latin typeface="Meiryo UI"/>
                  <a:ea typeface="Meiryo UI"/>
                </a:rPr>
                <a:t>枝2</a:t>
              </a:r>
            </a:p>
          </p:txBody>
        </p:sp>
        <p:sp>
          <p:nvSpPr>
            <p:cNvPr id="66" name="Rectangle 65"/>
            <p:cNvSpPr/>
            <p:nvPr/>
          </p:nvSpPr>
          <p:spPr>
            <a:xfrm>
              <a:off x="10158984" y="4956048"/>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67" name="TextBox 66"/>
            <p:cNvSpPr txBox="1"/>
            <p:nvPr/>
          </p:nvSpPr>
          <p:spPr>
            <a:xfrm>
              <a:off x="10213848" y="5074920"/>
              <a:ext cx="667512" cy="193359"/>
            </a:xfrm>
            <a:prstGeom prst="rect">
              <a:avLst/>
            </a:prstGeom>
            <a:noFill/>
          </p:spPr>
          <p:txBody>
            <a:bodyPr wrap="square" lIns="0" tIns="0" rIns="0" bIns="0">
              <a:spAutoFit/>
            </a:bodyPr>
            <a:lstStyle/>
            <a:p>
              <a:pPr>
                <a:lnSpc>
                  <a:spcPct val="112000"/>
                </a:lnSpc>
              </a:pPr>
              <a:r>
                <a:rPr sz="1200" b="1">
                  <a:solidFill>
                    <a:srgbClr val="C8102E"/>
                  </a:solidFill>
                  <a:latin typeface="Meiryo UI"/>
                  <a:ea typeface="Meiryo UI"/>
                </a:rPr>
                <a:t>高</a:t>
              </a:r>
            </a:p>
          </p:txBody>
        </p:sp>
        <p:sp>
          <p:nvSpPr>
            <p:cNvPr id="68" name="Rectangle 67"/>
            <p:cNvSpPr/>
            <p:nvPr/>
          </p:nvSpPr>
          <p:spPr>
            <a:xfrm>
              <a:off x="320040" y="5486400"/>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69" name="TextBox 68"/>
            <p:cNvSpPr txBox="1"/>
            <p:nvPr/>
          </p:nvSpPr>
          <p:spPr>
            <a:xfrm>
              <a:off x="384048" y="5532120"/>
              <a:ext cx="2523744" cy="183210"/>
            </a:xfrm>
            <a:prstGeom prst="rect">
              <a:avLst/>
            </a:prstGeom>
            <a:noFill/>
          </p:spPr>
          <p:txBody>
            <a:bodyPr wrap="square" lIns="0" tIns="0" rIns="0" bIns="0">
              <a:spAutoFit/>
            </a:bodyPr>
            <a:lstStyle/>
            <a:p>
              <a:pPr>
                <a:lnSpc>
                  <a:spcPct val="105000"/>
                </a:lnSpc>
              </a:pPr>
              <a:r>
                <a:rPr sz="1200" b="1">
                  <a:solidFill>
                    <a:srgbClr val="262626"/>
                  </a:solidFill>
                  <a:latin typeface="Meiryo UI"/>
                  <a:ea typeface="Meiryo UI"/>
                </a:rPr>
                <a:t>U6 特売依存度（値引き率）の低下</a:t>
              </a:r>
            </a:p>
          </p:txBody>
        </p:sp>
        <p:sp>
          <p:nvSpPr>
            <p:cNvPr id="70" name="Rectangle 69"/>
            <p:cNvSpPr/>
            <p:nvPr/>
          </p:nvSpPr>
          <p:spPr>
            <a:xfrm>
              <a:off x="2990088" y="5486400"/>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71" name="TextBox 70"/>
            <p:cNvSpPr txBox="1"/>
            <p:nvPr/>
          </p:nvSpPr>
          <p:spPr>
            <a:xfrm>
              <a:off x="3054096" y="5532120"/>
              <a:ext cx="6181344" cy="171993"/>
            </a:xfrm>
            <a:prstGeom prst="rect">
              <a:avLst/>
            </a:prstGeom>
            <a:noFill/>
          </p:spPr>
          <p:txBody>
            <a:bodyPr wrap="square" lIns="0" tIns="0" rIns="0" bIns="0">
              <a:spAutoFit/>
            </a:bodyPr>
            <a:lstStyle/>
            <a:p>
              <a:pPr>
                <a:lnSpc>
                  <a:spcPct val="108000"/>
                </a:lnSpc>
              </a:pPr>
              <a:r>
                <a:rPr sz="1100" b="0">
                  <a:solidFill>
                    <a:srgbClr val="262626"/>
                  </a:solidFill>
                  <a:latin typeface="Meiryo UI"/>
                  <a:ea typeface="Meiryo UI"/>
                </a:rPr>
                <a:t>重点小売×オーラルケアの売上に占める値引き・特売原資の比率 ―「脱・値引き」を金額で証明</a:t>
              </a:r>
            </a:p>
          </p:txBody>
        </p:sp>
        <p:sp>
          <p:nvSpPr>
            <p:cNvPr id="72" name="Rectangle 71"/>
            <p:cNvSpPr/>
            <p:nvPr/>
          </p:nvSpPr>
          <p:spPr>
            <a:xfrm>
              <a:off x="9317736" y="5486400"/>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73" name="TextBox 72"/>
            <p:cNvSpPr txBox="1"/>
            <p:nvPr/>
          </p:nvSpPr>
          <p:spPr>
            <a:xfrm>
              <a:off x="9372600" y="5605272"/>
              <a:ext cx="713232" cy="193359"/>
            </a:xfrm>
            <a:prstGeom prst="rect">
              <a:avLst/>
            </a:prstGeom>
            <a:noFill/>
          </p:spPr>
          <p:txBody>
            <a:bodyPr wrap="square" lIns="0" tIns="0" rIns="0" bIns="0">
              <a:spAutoFit/>
            </a:bodyPr>
            <a:lstStyle/>
            <a:p>
              <a:pPr>
                <a:lnSpc>
                  <a:spcPct val="112000"/>
                </a:lnSpc>
              </a:pPr>
              <a:r>
                <a:rPr sz="1200" b="1">
                  <a:solidFill>
                    <a:srgbClr val="0F5E87"/>
                  </a:solidFill>
                  <a:latin typeface="Meiryo UI"/>
                  <a:ea typeface="Meiryo UI"/>
                </a:rPr>
                <a:t>枝2</a:t>
              </a:r>
            </a:p>
          </p:txBody>
        </p:sp>
        <p:sp>
          <p:nvSpPr>
            <p:cNvPr id="74" name="Rectangle 73"/>
            <p:cNvSpPr/>
            <p:nvPr/>
          </p:nvSpPr>
          <p:spPr>
            <a:xfrm>
              <a:off x="10158984" y="5486400"/>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75" name="TextBox 74"/>
            <p:cNvSpPr txBox="1"/>
            <p:nvPr/>
          </p:nvSpPr>
          <p:spPr>
            <a:xfrm>
              <a:off x="10213848" y="5605272"/>
              <a:ext cx="667512" cy="193359"/>
            </a:xfrm>
            <a:prstGeom prst="rect">
              <a:avLst/>
            </a:prstGeom>
            <a:noFill/>
          </p:spPr>
          <p:txBody>
            <a:bodyPr wrap="square" lIns="0" tIns="0" rIns="0" bIns="0">
              <a:spAutoFit/>
            </a:bodyPr>
            <a:lstStyle/>
            <a:p>
              <a:pPr>
                <a:lnSpc>
                  <a:spcPct val="112000"/>
                </a:lnSpc>
              </a:pPr>
              <a:r>
                <a:rPr sz="1200" b="1">
                  <a:solidFill>
                    <a:srgbClr val="C8102E"/>
                  </a:solidFill>
                  <a:latin typeface="Meiryo UI"/>
                  <a:ea typeface="Meiryo UI"/>
                </a:rPr>
                <a:t>中</a:t>
              </a:r>
            </a:p>
          </p:txBody>
        </p:sp>
        <p:sp>
          <p:nvSpPr>
            <p:cNvPr id="76" name="Rectangle 75"/>
            <p:cNvSpPr/>
            <p:nvPr/>
          </p:nvSpPr>
          <p:spPr>
            <a:xfrm>
              <a:off x="320040" y="6053328"/>
              <a:ext cx="11521440" cy="475488"/>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77" name="TextBox 76"/>
            <p:cNvSpPr txBox="1"/>
            <p:nvPr/>
          </p:nvSpPr>
          <p:spPr>
            <a:xfrm>
              <a:off x="457200" y="6099048"/>
              <a:ext cx="11292840" cy="418765"/>
            </a:xfrm>
            <a:prstGeom prst="rect">
              <a:avLst/>
            </a:prstGeom>
            <a:noFill/>
          </p:spPr>
          <p:txBody>
            <a:bodyPr wrap="square" lIns="0" tIns="0" rIns="0" bIns="0">
              <a:spAutoFit/>
            </a:bodyPr>
            <a:lstStyle/>
            <a:p>
              <a:pPr>
                <a:lnSpc>
                  <a:spcPct val="115000"/>
                </a:lnSpc>
              </a:pPr>
              <a:r>
                <a:rPr sz="1200" b="1">
                  <a:solidFill>
                    <a:srgbClr val="008D2E"/>
                  </a:solidFill>
                  <a:latin typeface="Meiryo UI"/>
                  <a:ea typeface="Meiryo UI"/>
                </a:rPr>
                <a:t>運用ルール：</a:t>
              </a:r>
              <a:r>
                <a:rPr sz="1200" b="0">
                  <a:solidFill>
                    <a:srgbClr val="262626"/>
                  </a:solidFill>
                  <a:latin typeface="Meiryo UI"/>
                  <a:ea typeface="Meiryo UI"/>
                </a:rPr>
                <a:t>現場KPIは四半期・ユニークKPIは半期でオーナー役員がレビュー。北極星に接続しない施策の追加は原則却下 ― 手段の目的化を防ぐ。FY30に統合報告書で開示し、変革を企業価値の言葉に翻訳する。</a:t>
              </a:r>
            </a:p>
          </p:txBody>
        </p:sp>
      </p:grpSp>
    </p:spTree>
    <p:extLst>
      <p:ext uri="{BB962C8B-B14F-4D97-AF65-F5344CB8AC3E}">
        <p14:creationId xmlns:p14="http://schemas.microsoft.com/office/powerpoint/2010/main" val="23613795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DA65287-D920-4697-5FC1-42DB425331D0}"/>
              </a:ext>
            </a:extLst>
          </p:cNvPr>
          <p:cNvSpPr>
            <a:spLocks noGrp="1"/>
          </p:cNvSpPr>
          <p:nvPr>
            <p:ph type="title"/>
          </p:nvPr>
        </p:nvSpPr>
        <p:spPr/>
        <p:txBody>
          <a:bodyPr/>
          <a:lstStyle/>
          <a:p>
            <a:r>
              <a:rPr lang="ja-JP" altLang="en-US" b="1" dirty="0">
                <a:solidFill>
                  <a:srgbClr val="262626"/>
                </a:solidFill>
                <a:latin typeface="Meiryo UI"/>
                <a:ea typeface="Meiryo UI"/>
              </a:rPr>
              <a:t>投資・体制観点の主要論点</a:t>
            </a:r>
            <a:endParaRPr kumimoji="1" lang="ja-JP" altLang="en-US" dirty="0"/>
          </a:p>
        </p:txBody>
      </p:sp>
      <p:sp>
        <p:nvSpPr>
          <p:cNvPr id="3" name="テキスト プレースホルダー 2">
            <a:extLst>
              <a:ext uri="{FF2B5EF4-FFF2-40B4-BE49-F238E27FC236}">
                <a16:creationId xmlns:a16="http://schemas.microsoft.com/office/drawing/2014/main" id="{C9C78C20-4B2B-87E4-5303-EA006F29FA78}"/>
              </a:ext>
            </a:extLst>
          </p:cNvPr>
          <p:cNvSpPr>
            <a:spLocks noGrp="1"/>
          </p:cNvSpPr>
          <p:nvPr>
            <p:ph type="body" sz="quarter" idx="13"/>
          </p:nvPr>
        </p:nvSpPr>
        <p:spPr/>
        <p:txBody>
          <a:bodyPr/>
          <a:lstStyle/>
          <a:p>
            <a:r>
              <a:rPr lang="ja-JP" altLang="en-US" b="1" dirty="0">
                <a:solidFill>
                  <a:srgbClr val="262626"/>
                </a:solidFill>
                <a:latin typeface="Meiryo UI"/>
                <a:ea typeface="Meiryo UI"/>
              </a:rPr>
              <a:t>優先度は真因・</a:t>
            </a:r>
            <a:r>
              <a:rPr lang="en-US" altLang="ja-JP" b="1" dirty="0">
                <a:solidFill>
                  <a:srgbClr val="262626"/>
                </a:solidFill>
                <a:latin typeface="Meiryo UI"/>
                <a:ea typeface="Meiryo UI"/>
              </a:rPr>
              <a:t>GAP</a:t>
            </a:r>
            <a:r>
              <a:rPr lang="ja-JP" altLang="en-US" b="1" dirty="0">
                <a:solidFill>
                  <a:srgbClr val="262626"/>
                </a:solidFill>
                <a:latin typeface="Meiryo UI"/>
                <a:ea typeface="Meiryo UI"/>
              </a:rPr>
              <a:t>への直接性で決定。</a:t>
            </a:r>
            <a:r>
              <a:rPr lang="en-US" altLang="ja-JP" b="1" dirty="0">
                <a:solidFill>
                  <a:srgbClr val="262626"/>
                </a:solidFill>
                <a:latin typeface="Meiryo UI"/>
                <a:ea typeface="Meiryo UI"/>
              </a:rPr>
              <a:t>5</a:t>
            </a:r>
            <a:r>
              <a:rPr lang="ja-JP" altLang="en-US" b="1" dirty="0">
                <a:solidFill>
                  <a:srgbClr val="262626"/>
                </a:solidFill>
                <a:latin typeface="Meiryo UI"/>
                <a:ea typeface="Meiryo UI"/>
              </a:rPr>
              <a:t>年累計</a:t>
            </a:r>
            <a:r>
              <a:rPr lang="en-US" altLang="ja-JP" b="1" dirty="0">
                <a:solidFill>
                  <a:srgbClr val="262626"/>
                </a:solidFill>
                <a:latin typeface="Meiryo UI"/>
                <a:ea typeface="Meiryo UI"/>
              </a:rPr>
              <a:t>30〜50</a:t>
            </a:r>
            <a:r>
              <a:rPr lang="ja-JP" altLang="en-US" b="1" dirty="0">
                <a:solidFill>
                  <a:srgbClr val="262626"/>
                </a:solidFill>
                <a:latin typeface="Meiryo UI"/>
                <a:ea typeface="Meiryo UI"/>
              </a:rPr>
              <a:t>億円に対し効果は年</a:t>
            </a:r>
            <a:r>
              <a:rPr lang="en-US" altLang="ja-JP" b="1" dirty="0">
                <a:solidFill>
                  <a:srgbClr val="262626"/>
                </a:solidFill>
                <a:latin typeface="Meiryo UI"/>
                <a:ea typeface="Meiryo UI"/>
              </a:rPr>
              <a:t>45〜95</a:t>
            </a:r>
            <a:r>
              <a:rPr lang="ja-JP" altLang="en-US" b="1" dirty="0">
                <a:solidFill>
                  <a:srgbClr val="262626"/>
                </a:solidFill>
                <a:latin typeface="Meiryo UI"/>
                <a:ea typeface="Meiryo UI"/>
              </a:rPr>
              <a:t>億円＋売上防衛 </a:t>
            </a:r>
            <a:r>
              <a:rPr lang="en-US" altLang="ja-JP" b="1" dirty="0">
                <a:solidFill>
                  <a:srgbClr val="262626"/>
                </a:solidFill>
                <a:latin typeface="Meiryo UI"/>
                <a:ea typeface="Meiryo UI"/>
              </a:rPr>
              <a:t>― </a:t>
            </a:r>
            <a:r>
              <a:rPr lang="ja-JP" altLang="en-US" b="1" dirty="0">
                <a:solidFill>
                  <a:srgbClr val="262626"/>
                </a:solidFill>
                <a:latin typeface="Meiryo UI"/>
                <a:ea typeface="Meiryo UI"/>
              </a:rPr>
              <a:t>前提は</a:t>
            </a:r>
            <a:r>
              <a:rPr lang="en-US" altLang="ja-JP" b="1" dirty="0">
                <a:solidFill>
                  <a:srgbClr val="262626"/>
                </a:solidFill>
                <a:latin typeface="Meiryo UI"/>
                <a:ea typeface="Meiryo UI"/>
              </a:rPr>
              <a:t>FY26</a:t>
            </a:r>
            <a:r>
              <a:rPr lang="ja-JP" altLang="en-US" b="1" dirty="0">
                <a:solidFill>
                  <a:srgbClr val="262626"/>
                </a:solidFill>
                <a:latin typeface="Meiryo UI"/>
                <a:ea typeface="Meiryo UI"/>
              </a:rPr>
              <a:t>上期に実測して確定</a:t>
            </a:r>
          </a:p>
        </p:txBody>
      </p:sp>
      <p:grpSp>
        <p:nvGrpSpPr>
          <p:cNvPr id="4" name="グループ化 3">
            <a:extLst>
              <a:ext uri="{FF2B5EF4-FFF2-40B4-BE49-F238E27FC236}">
                <a16:creationId xmlns:a16="http://schemas.microsoft.com/office/drawing/2014/main" id="{781CA8C1-8418-CA50-1970-61A26C3BD3A3}"/>
              </a:ext>
            </a:extLst>
          </p:cNvPr>
          <p:cNvGrpSpPr/>
          <p:nvPr/>
        </p:nvGrpSpPr>
        <p:grpSpPr>
          <a:xfrm>
            <a:off x="320040" y="1628774"/>
            <a:ext cx="11521440" cy="4644009"/>
            <a:chOff x="320040" y="1463040"/>
            <a:chExt cx="11521440" cy="4809744"/>
          </a:xfrm>
        </p:grpSpPr>
        <p:sp>
          <p:nvSpPr>
            <p:cNvPr id="14" name="Rectangle 13"/>
            <p:cNvSpPr/>
            <p:nvPr/>
          </p:nvSpPr>
          <p:spPr>
            <a:xfrm>
              <a:off x="320040" y="14630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5" name="TextBox 14"/>
            <p:cNvSpPr txBox="1"/>
            <p:nvPr/>
          </p:nvSpPr>
          <p:spPr>
            <a:xfrm>
              <a:off x="411480" y="1508760"/>
              <a:ext cx="2651760" cy="186542"/>
            </a:xfrm>
            <a:prstGeom prst="rect">
              <a:avLst/>
            </a:prstGeom>
            <a:noFill/>
          </p:spPr>
          <p:txBody>
            <a:bodyPr wrap="square" lIns="0" tIns="0" rIns="0" bIns="0">
              <a:spAutoFit/>
            </a:bodyPr>
            <a:lstStyle/>
            <a:p>
              <a:pPr>
                <a:lnSpc>
                  <a:spcPct val="108000"/>
                </a:lnSpc>
              </a:pPr>
              <a:r>
                <a:rPr sz="1200" b="1">
                  <a:solidFill>
                    <a:srgbClr val="262626"/>
                  </a:solidFill>
                  <a:latin typeface="Meiryo UI"/>
                  <a:ea typeface="Meiryo UI"/>
                </a:rPr>
                <a:t>AIEO・Oral Evidence Hub</a:t>
              </a:r>
            </a:p>
          </p:txBody>
        </p:sp>
        <p:sp>
          <p:nvSpPr>
            <p:cNvPr id="16" name="Rectangle 15"/>
            <p:cNvSpPr/>
            <p:nvPr/>
          </p:nvSpPr>
          <p:spPr>
            <a:xfrm>
              <a:off x="3172968" y="14630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7" name="TextBox 16"/>
            <p:cNvSpPr txBox="1"/>
            <p:nvPr/>
          </p:nvSpPr>
          <p:spPr>
            <a:xfrm>
              <a:off x="3291840" y="1508760"/>
              <a:ext cx="7360920" cy="186542"/>
            </a:xfrm>
            <a:prstGeom prst="rect">
              <a:avLst/>
            </a:prstGeom>
            <a:noFill/>
          </p:spPr>
          <p:txBody>
            <a:bodyPr wrap="square" lIns="0" tIns="0" rIns="0" bIns="0">
              <a:spAutoFit/>
            </a:bodyPr>
            <a:lstStyle/>
            <a:p>
              <a:pPr>
                <a:lnSpc>
                  <a:spcPct val="108000"/>
                </a:lnSpc>
              </a:pPr>
              <a:r>
                <a:rPr sz="1200" b="0">
                  <a:solidFill>
                    <a:srgbClr val="262626"/>
                  </a:solidFill>
                  <a:latin typeface="Meiryo UI"/>
                  <a:ea typeface="Meiryo UI"/>
                </a:rPr>
                <a:t>GAP1解消の中核。構造化データ整備・AI推奨モニタリング。外部委託vs内製の選択</a:t>
              </a:r>
            </a:p>
          </p:txBody>
        </p:sp>
        <p:sp>
          <p:nvSpPr>
            <p:cNvPr id="18" name="Rectangle 17"/>
            <p:cNvSpPr/>
            <p:nvPr/>
          </p:nvSpPr>
          <p:spPr>
            <a:xfrm>
              <a:off x="10780776" y="1463040"/>
              <a:ext cx="1060704" cy="6217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9" name="TextBox 18"/>
            <p:cNvSpPr txBox="1"/>
            <p:nvPr/>
          </p:nvSpPr>
          <p:spPr>
            <a:xfrm>
              <a:off x="10835640" y="1636776"/>
              <a:ext cx="950976" cy="256403"/>
            </a:xfrm>
            <a:prstGeom prst="rect">
              <a:avLst/>
            </a:prstGeom>
            <a:noFill/>
          </p:spPr>
          <p:txBody>
            <a:bodyPr wrap="square" lIns="0" tIns="0" rIns="0" bIns="0">
              <a:spAutoFit/>
            </a:bodyPr>
            <a:lstStyle/>
            <a:p>
              <a:pPr>
                <a:lnSpc>
                  <a:spcPct val="112000"/>
                </a:lnSpc>
              </a:pPr>
              <a:r>
                <a:rPr sz="1600" b="1">
                  <a:solidFill>
                    <a:srgbClr val="FFFFFF"/>
                  </a:solidFill>
                  <a:latin typeface="Meiryo UI"/>
                  <a:ea typeface="Meiryo UI"/>
                </a:rPr>
                <a:t>最高</a:t>
              </a:r>
            </a:p>
          </p:txBody>
        </p:sp>
        <p:sp>
          <p:nvSpPr>
            <p:cNvPr id="20" name="Rectangle 19"/>
            <p:cNvSpPr/>
            <p:nvPr/>
          </p:nvSpPr>
          <p:spPr>
            <a:xfrm>
              <a:off x="320040" y="21488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1" name="TextBox 20"/>
            <p:cNvSpPr txBox="1"/>
            <p:nvPr/>
          </p:nvSpPr>
          <p:spPr>
            <a:xfrm>
              <a:off x="411480" y="2194560"/>
              <a:ext cx="2651760" cy="186542"/>
            </a:xfrm>
            <a:prstGeom prst="rect">
              <a:avLst/>
            </a:prstGeom>
            <a:noFill/>
          </p:spPr>
          <p:txBody>
            <a:bodyPr wrap="square" lIns="0" tIns="0" rIns="0" bIns="0">
              <a:spAutoFit/>
            </a:bodyPr>
            <a:lstStyle/>
            <a:p>
              <a:pPr>
                <a:lnSpc>
                  <a:spcPct val="108000"/>
                </a:lnSpc>
              </a:pPr>
              <a:r>
                <a:rPr sz="1200" b="1">
                  <a:solidFill>
                    <a:srgbClr val="262626"/>
                  </a:solidFill>
                  <a:latin typeface="Meiryo UI"/>
                  <a:ea typeface="Meiryo UI"/>
                </a:rPr>
                <a:t>GCP統合データ基盤</a:t>
              </a:r>
            </a:p>
          </p:txBody>
        </p:sp>
        <p:sp>
          <p:nvSpPr>
            <p:cNvPr id="22" name="Rectangle 21"/>
            <p:cNvSpPr/>
            <p:nvPr/>
          </p:nvSpPr>
          <p:spPr>
            <a:xfrm>
              <a:off x="3172968" y="21488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3" name="TextBox 22"/>
            <p:cNvSpPr txBox="1"/>
            <p:nvPr/>
          </p:nvSpPr>
          <p:spPr>
            <a:xfrm>
              <a:off x="3291840" y="2194560"/>
              <a:ext cx="7360920" cy="186542"/>
            </a:xfrm>
            <a:prstGeom prst="rect">
              <a:avLst/>
            </a:prstGeom>
            <a:noFill/>
          </p:spPr>
          <p:txBody>
            <a:bodyPr wrap="square" lIns="0" tIns="0" rIns="0" bIns="0">
              <a:spAutoFit/>
            </a:bodyPr>
            <a:lstStyle/>
            <a:p>
              <a:pPr>
                <a:lnSpc>
                  <a:spcPct val="108000"/>
                </a:lnSpc>
              </a:pPr>
              <a:r>
                <a:rPr sz="1200" b="0">
                  <a:solidFill>
                    <a:srgbClr val="262626"/>
                  </a:solidFill>
                  <a:latin typeface="Meiryo UI"/>
                  <a:ea typeface="Meiryo UI"/>
                </a:rPr>
                <a:t>真因①の直接解消。ID・購買・診断・習慣データの統合。DX投資の最大項目 ― 確認2合格後に本格投資</a:t>
              </a:r>
            </a:p>
          </p:txBody>
        </p:sp>
        <p:sp>
          <p:nvSpPr>
            <p:cNvPr id="24" name="Rectangle 23"/>
            <p:cNvSpPr/>
            <p:nvPr/>
          </p:nvSpPr>
          <p:spPr>
            <a:xfrm>
              <a:off x="10780776" y="2148840"/>
              <a:ext cx="1060704" cy="6217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5" name="TextBox 24"/>
            <p:cNvSpPr txBox="1"/>
            <p:nvPr/>
          </p:nvSpPr>
          <p:spPr>
            <a:xfrm>
              <a:off x="10835640" y="2322576"/>
              <a:ext cx="950976" cy="256403"/>
            </a:xfrm>
            <a:prstGeom prst="rect">
              <a:avLst/>
            </a:prstGeom>
            <a:noFill/>
          </p:spPr>
          <p:txBody>
            <a:bodyPr wrap="square" lIns="0" tIns="0" rIns="0" bIns="0">
              <a:spAutoFit/>
            </a:bodyPr>
            <a:lstStyle/>
            <a:p>
              <a:pPr>
                <a:lnSpc>
                  <a:spcPct val="112000"/>
                </a:lnSpc>
              </a:pPr>
              <a:r>
                <a:rPr sz="1600" b="1">
                  <a:solidFill>
                    <a:srgbClr val="FFFFFF"/>
                  </a:solidFill>
                  <a:latin typeface="Meiryo UI"/>
                  <a:ea typeface="Meiryo UI"/>
                </a:rPr>
                <a:t>最高</a:t>
              </a:r>
            </a:p>
          </p:txBody>
        </p:sp>
        <p:sp>
          <p:nvSpPr>
            <p:cNvPr id="26" name="Rectangle 25"/>
            <p:cNvSpPr/>
            <p:nvPr/>
          </p:nvSpPr>
          <p:spPr>
            <a:xfrm>
              <a:off x="320040" y="28346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7" name="TextBox 26"/>
            <p:cNvSpPr txBox="1"/>
            <p:nvPr/>
          </p:nvSpPr>
          <p:spPr>
            <a:xfrm>
              <a:off x="411480" y="2880360"/>
              <a:ext cx="2651760" cy="186542"/>
            </a:xfrm>
            <a:prstGeom prst="rect">
              <a:avLst/>
            </a:prstGeom>
            <a:noFill/>
          </p:spPr>
          <p:txBody>
            <a:bodyPr wrap="square" lIns="0" tIns="0" rIns="0" bIns="0">
              <a:spAutoFit/>
            </a:bodyPr>
            <a:lstStyle/>
            <a:p>
              <a:pPr>
                <a:lnSpc>
                  <a:spcPct val="108000"/>
                </a:lnSpc>
              </a:pPr>
              <a:r>
                <a:rPr sz="1200" b="1">
                  <a:solidFill>
                    <a:srgbClr val="262626"/>
                  </a:solidFill>
                  <a:latin typeface="Meiryo UI"/>
                  <a:ea typeface="Meiryo UI"/>
                </a:rPr>
                <a:t>生成AI（Libra）×Salesforce TPM</a:t>
              </a:r>
            </a:p>
          </p:txBody>
        </p:sp>
        <p:sp>
          <p:nvSpPr>
            <p:cNvPr id="28" name="Rectangle 27"/>
            <p:cNvSpPr/>
            <p:nvPr/>
          </p:nvSpPr>
          <p:spPr>
            <a:xfrm>
              <a:off x="3172968" y="28346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9" name="TextBox 28"/>
            <p:cNvSpPr txBox="1"/>
            <p:nvPr/>
          </p:nvSpPr>
          <p:spPr>
            <a:xfrm>
              <a:off x="3291840" y="2880360"/>
              <a:ext cx="7360920" cy="186542"/>
            </a:xfrm>
            <a:prstGeom prst="rect">
              <a:avLst/>
            </a:prstGeom>
            <a:noFill/>
          </p:spPr>
          <p:txBody>
            <a:bodyPr wrap="square" lIns="0" tIns="0" rIns="0" bIns="0">
              <a:spAutoFit/>
            </a:bodyPr>
            <a:lstStyle/>
            <a:p>
              <a:pPr>
                <a:lnSpc>
                  <a:spcPct val="108000"/>
                </a:lnSpc>
              </a:pPr>
              <a:r>
                <a:rPr sz="1200" b="0">
                  <a:solidFill>
                    <a:srgbClr val="262626"/>
                  </a:solidFill>
                  <a:latin typeface="Meiryo UI"/>
                  <a:ea typeface="Meiryo UI"/>
                </a:rPr>
                <a:t>GAP4解消。Input業務ゼロ化の実装。1〜2年でROI回収見込み</a:t>
              </a:r>
            </a:p>
          </p:txBody>
        </p:sp>
        <p:sp>
          <p:nvSpPr>
            <p:cNvPr id="30" name="Rectangle 29"/>
            <p:cNvSpPr/>
            <p:nvPr/>
          </p:nvSpPr>
          <p:spPr>
            <a:xfrm>
              <a:off x="10780776" y="2834640"/>
              <a:ext cx="1060704" cy="621792"/>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1" name="TextBox 30"/>
            <p:cNvSpPr txBox="1"/>
            <p:nvPr/>
          </p:nvSpPr>
          <p:spPr>
            <a:xfrm>
              <a:off x="10835640" y="3008376"/>
              <a:ext cx="950976" cy="256403"/>
            </a:xfrm>
            <a:prstGeom prst="rect">
              <a:avLst/>
            </a:prstGeom>
            <a:noFill/>
          </p:spPr>
          <p:txBody>
            <a:bodyPr wrap="square" lIns="0" tIns="0" rIns="0" bIns="0">
              <a:spAutoFit/>
            </a:bodyPr>
            <a:lstStyle/>
            <a:p>
              <a:pPr>
                <a:lnSpc>
                  <a:spcPct val="112000"/>
                </a:lnSpc>
              </a:pPr>
              <a:r>
                <a:rPr sz="1600" b="1">
                  <a:solidFill>
                    <a:srgbClr val="FFFFFF"/>
                  </a:solidFill>
                  <a:latin typeface="Meiryo UI"/>
                  <a:ea typeface="Meiryo UI"/>
                </a:rPr>
                <a:t>高</a:t>
              </a:r>
            </a:p>
          </p:txBody>
        </p:sp>
        <p:sp>
          <p:nvSpPr>
            <p:cNvPr id="32" name="Rectangle 31"/>
            <p:cNvSpPr/>
            <p:nvPr/>
          </p:nvSpPr>
          <p:spPr>
            <a:xfrm>
              <a:off x="320040" y="35204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3" name="TextBox 32"/>
            <p:cNvSpPr txBox="1"/>
            <p:nvPr/>
          </p:nvSpPr>
          <p:spPr>
            <a:xfrm>
              <a:off x="411480" y="3566160"/>
              <a:ext cx="2651760" cy="186542"/>
            </a:xfrm>
            <a:prstGeom prst="rect">
              <a:avLst/>
            </a:prstGeom>
            <a:noFill/>
          </p:spPr>
          <p:txBody>
            <a:bodyPr wrap="square" lIns="0" tIns="0" rIns="0" bIns="0">
              <a:spAutoFit/>
            </a:bodyPr>
            <a:lstStyle/>
            <a:p>
              <a:pPr>
                <a:lnSpc>
                  <a:spcPct val="108000"/>
                </a:lnSpc>
              </a:pPr>
              <a:r>
                <a:rPr sz="1200" b="1">
                  <a:solidFill>
                    <a:srgbClr val="262626"/>
                  </a:solidFill>
                  <a:latin typeface="Meiryo UI"/>
                  <a:ea typeface="Meiryo UI"/>
                </a:rPr>
                <a:t>アカウントスクワッド移行</a:t>
              </a:r>
            </a:p>
          </p:txBody>
        </p:sp>
        <p:sp>
          <p:nvSpPr>
            <p:cNvPr id="34" name="Rectangle 33"/>
            <p:cNvSpPr/>
            <p:nvPr/>
          </p:nvSpPr>
          <p:spPr>
            <a:xfrm>
              <a:off x="3172968" y="35204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5" name="TextBox 34"/>
            <p:cNvSpPr txBox="1"/>
            <p:nvPr/>
          </p:nvSpPr>
          <p:spPr>
            <a:xfrm>
              <a:off x="3291840" y="3566160"/>
              <a:ext cx="7360920" cy="186542"/>
            </a:xfrm>
            <a:prstGeom prst="rect">
              <a:avLst/>
            </a:prstGeom>
            <a:noFill/>
          </p:spPr>
          <p:txBody>
            <a:bodyPr wrap="square" lIns="0" tIns="0" rIns="0" bIns="0">
              <a:spAutoFit/>
            </a:bodyPr>
            <a:lstStyle/>
            <a:p>
              <a:pPr>
                <a:lnSpc>
                  <a:spcPct val="108000"/>
                </a:lnSpc>
              </a:pPr>
              <a:r>
                <a:rPr sz="1200" b="0">
                  <a:solidFill>
                    <a:srgbClr val="262626"/>
                  </a:solidFill>
                  <a:latin typeface="Meiryo UI"/>
                  <a:ea typeface="Meiryo UI"/>
                </a:rPr>
                <a:t>組織対組織への移行。評価制度（訪問件数→JBP達成率）の同時変更が必須。内部調整が最大リスク</a:t>
              </a:r>
            </a:p>
          </p:txBody>
        </p:sp>
        <p:sp>
          <p:nvSpPr>
            <p:cNvPr id="36" name="Rectangle 35"/>
            <p:cNvSpPr/>
            <p:nvPr/>
          </p:nvSpPr>
          <p:spPr>
            <a:xfrm>
              <a:off x="10780776" y="3520440"/>
              <a:ext cx="1060704" cy="621792"/>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7" name="TextBox 36"/>
            <p:cNvSpPr txBox="1"/>
            <p:nvPr/>
          </p:nvSpPr>
          <p:spPr>
            <a:xfrm>
              <a:off x="10835640" y="3694176"/>
              <a:ext cx="950976" cy="256403"/>
            </a:xfrm>
            <a:prstGeom prst="rect">
              <a:avLst/>
            </a:prstGeom>
            <a:noFill/>
          </p:spPr>
          <p:txBody>
            <a:bodyPr wrap="square" lIns="0" tIns="0" rIns="0" bIns="0">
              <a:spAutoFit/>
            </a:bodyPr>
            <a:lstStyle/>
            <a:p>
              <a:pPr>
                <a:lnSpc>
                  <a:spcPct val="112000"/>
                </a:lnSpc>
              </a:pPr>
              <a:r>
                <a:rPr sz="1600" b="1">
                  <a:solidFill>
                    <a:srgbClr val="FFFFFF"/>
                  </a:solidFill>
                  <a:latin typeface="Meiryo UI"/>
                  <a:ea typeface="Meiryo UI"/>
                </a:rPr>
                <a:t>高</a:t>
              </a:r>
            </a:p>
          </p:txBody>
        </p:sp>
        <p:sp>
          <p:nvSpPr>
            <p:cNvPr id="38" name="Rectangle 37"/>
            <p:cNvSpPr/>
            <p:nvPr/>
          </p:nvSpPr>
          <p:spPr>
            <a:xfrm>
              <a:off x="320040" y="42062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9" name="TextBox 38"/>
            <p:cNvSpPr txBox="1"/>
            <p:nvPr/>
          </p:nvSpPr>
          <p:spPr>
            <a:xfrm>
              <a:off x="411480" y="4251959"/>
              <a:ext cx="2651760" cy="186542"/>
            </a:xfrm>
            <a:prstGeom prst="rect">
              <a:avLst/>
            </a:prstGeom>
            <a:noFill/>
          </p:spPr>
          <p:txBody>
            <a:bodyPr wrap="square" lIns="0" tIns="0" rIns="0" bIns="0">
              <a:spAutoFit/>
            </a:bodyPr>
            <a:lstStyle/>
            <a:p>
              <a:pPr>
                <a:lnSpc>
                  <a:spcPct val="108000"/>
                </a:lnSpc>
              </a:pPr>
              <a:r>
                <a:rPr sz="1200" b="1">
                  <a:solidFill>
                    <a:srgbClr val="262626"/>
                  </a:solidFill>
                  <a:latin typeface="Meiryo UI"/>
                  <a:ea typeface="Meiryo UI"/>
                </a:rPr>
                <a:t>MMM・増分測定体制</a:t>
              </a:r>
            </a:p>
          </p:txBody>
        </p:sp>
        <p:sp>
          <p:nvSpPr>
            <p:cNvPr id="40" name="Rectangle 39"/>
            <p:cNvSpPr/>
            <p:nvPr/>
          </p:nvSpPr>
          <p:spPr>
            <a:xfrm>
              <a:off x="3172968" y="42062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1" name="TextBox 40"/>
            <p:cNvSpPr txBox="1"/>
            <p:nvPr/>
          </p:nvSpPr>
          <p:spPr>
            <a:xfrm>
              <a:off x="3291840" y="4251959"/>
              <a:ext cx="7360920" cy="186542"/>
            </a:xfrm>
            <a:prstGeom prst="rect">
              <a:avLst/>
            </a:prstGeom>
            <a:noFill/>
          </p:spPr>
          <p:txBody>
            <a:bodyPr wrap="square" lIns="0" tIns="0" rIns="0" bIns="0">
              <a:spAutoFit/>
            </a:bodyPr>
            <a:lstStyle/>
            <a:p>
              <a:pPr>
                <a:lnSpc>
                  <a:spcPct val="108000"/>
                </a:lnSpc>
              </a:pPr>
              <a:r>
                <a:rPr sz="1200" b="0">
                  <a:solidFill>
                    <a:srgbClr val="262626"/>
                  </a:solidFill>
                  <a:latin typeface="Meiryo UI"/>
                  <a:ea typeface="Meiryo UI"/>
                </a:rPr>
                <a:t>GAP3解消。無駄なマス投資の排除。重点1小売×1施策から開始可能</a:t>
              </a:r>
            </a:p>
          </p:txBody>
        </p:sp>
        <p:sp>
          <p:nvSpPr>
            <p:cNvPr id="42" name="Rectangle 41"/>
            <p:cNvSpPr/>
            <p:nvPr/>
          </p:nvSpPr>
          <p:spPr>
            <a:xfrm>
              <a:off x="10780776" y="4206240"/>
              <a:ext cx="1060704" cy="621792"/>
            </a:xfrm>
            <a:prstGeom prst="rect">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3" name="TextBox 42"/>
            <p:cNvSpPr txBox="1"/>
            <p:nvPr/>
          </p:nvSpPr>
          <p:spPr>
            <a:xfrm>
              <a:off x="10835640" y="4379976"/>
              <a:ext cx="950976" cy="256403"/>
            </a:xfrm>
            <a:prstGeom prst="rect">
              <a:avLst/>
            </a:prstGeom>
            <a:noFill/>
          </p:spPr>
          <p:txBody>
            <a:bodyPr wrap="square" lIns="0" tIns="0" rIns="0" bIns="0">
              <a:spAutoFit/>
            </a:bodyPr>
            <a:lstStyle/>
            <a:p>
              <a:pPr>
                <a:lnSpc>
                  <a:spcPct val="112000"/>
                </a:lnSpc>
              </a:pPr>
              <a:r>
                <a:rPr sz="1600" b="1">
                  <a:solidFill>
                    <a:srgbClr val="FFFFFF"/>
                  </a:solidFill>
                  <a:latin typeface="Meiryo UI"/>
                  <a:ea typeface="Meiryo UI"/>
                </a:rPr>
                <a:t>中</a:t>
              </a:r>
            </a:p>
          </p:txBody>
        </p:sp>
        <p:sp>
          <p:nvSpPr>
            <p:cNvPr id="44" name="Rectangle 43"/>
            <p:cNvSpPr/>
            <p:nvPr/>
          </p:nvSpPr>
          <p:spPr>
            <a:xfrm>
              <a:off x="320040" y="48920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5" name="TextBox 44"/>
            <p:cNvSpPr txBox="1"/>
            <p:nvPr/>
          </p:nvSpPr>
          <p:spPr>
            <a:xfrm>
              <a:off x="411480" y="4937759"/>
              <a:ext cx="2651760" cy="186542"/>
            </a:xfrm>
            <a:prstGeom prst="rect">
              <a:avLst/>
            </a:prstGeom>
            <a:noFill/>
          </p:spPr>
          <p:txBody>
            <a:bodyPr wrap="square" lIns="0" tIns="0" rIns="0" bIns="0">
              <a:spAutoFit/>
            </a:bodyPr>
            <a:lstStyle/>
            <a:p>
              <a:pPr>
                <a:lnSpc>
                  <a:spcPct val="108000"/>
                </a:lnSpc>
              </a:pPr>
              <a:r>
                <a:rPr sz="1200" b="1">
                  <a:solidFill>
                    <a:srgbClr val="262626"/>
                  </a:solidFill>
                  <a:latin typeface="Meiryo UI"/>
                  <a:ea typeface="Meiryo UI"/>
                </a:rPr>
                <a:t>DCR・小売データ協業基盤</a:t>
              </a:r>
            </a:p>
          </p:txBody>
        </p:sp>
        <p:sp>
          <p:nvSpPr>
            <p:cNvPr id="46" name="Rectangle 45"/>
            <p:cNvSpPr/>
            <p:nvPr/>
          </p:nvSpPr>
          <p:spPr>
            <a:xfrm>
              <a:off x="3172968" y="48920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7" name="TextBox 46"/>
            <p:cNvSpPr txBox="1"/>
            <p:nvPr/>
          </p:nvSpPr>
          <p:spPr>
            <a:xfrm>
              <a:off x="3291840" y="4937759"/>
              <a:ext cx="7360920" cy="186542"/>
            </a:xfrm>
            <a:prstGeom prst="rect">
              <a:avLst/>
            </a:prstGeom>
            <a:noFill/>
          </p:spPr>
          <p:txBody>
            <a:bodyPr wrap="square" lIns="0" tIns="0" rIns="0" bIns="0">
              <a:spAutoFit/>
            </a:bodyPr>
            <a:lstStyle/>
            <a:p>
              <a:pPr>
                <a:lnSpc>
                  <a:spcPct val="108000"/>
                </a:lnSpc>
              </a:pPr>
              <a:r>
                <a:rPr sz="1200" b="0">
                  <a:solidFill>
                    <a:srgbClr val="262626"/>
                  </a:solidFill>
                  <a:latin typeface="Meiryo UI"/>
                  <a:ea typeface="Meiryo UI"/>
                </a:rPr>
                <a:t>法務・技術・小売交渉の3条件が前提。個人情報保護法の確認を先行タスク化（FY26年内）</a:t>
              </a:r>
            </a:p>
          </p:txBody>
        </p:sp>
        <p:sp>
          <p:nvSpPr>
            <p:cNvPr id="48" name="Rectangle 47"/>
            <p:cNvSpPr/>
            <p:nvPr/>
          </p:nvSpPr>
          <p:spPr>
            <a:xfrm>
              <a:off x="10780776" y="4892040"/>
              <a:ext cx="1060704" cy="621792"/>
            </a:xfrm>
            <a:prstGeom prst="rect">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9" name="TextBox 48"/>
            <p:cNvSpPr txBox="1"/>
            <p:nvPr/>
          </p:nvSpPr>
          <p:spPr>
            <a:xfrm>
              <a:off x="10835640" y="5065776"/>
              <a:ext cx="950976" cy="256403"/>
            </a:xfrm>
            <a:prstGeom prst="rect">
              <a:avLst/>
            </a:prstGeom>
            <a:noFill/>
          </p:spPr>
          <p:txBody>
            <a:bodyPr wrap="square" lIns="0" tIns="0" rIns="0" bIns="0">
              <a:spAutoFit/>
            </a:bodyPr>
            <a:lstStyle/>
            <a:p>
              <a:pPr>
                <a:lnSpc>
                  <a:spcPct val="112000"/>
                </a:lnSpc>
              </a:pPr>
              <a:r>
                <a:rPr sz="1600" b="1">
                  <a:solidFill>
                    <a:srgbClr val="FFFFFF"/>
                  </a:solidFill>
                  <a:latin typeface="Meiryo UI"/>
                  <a:ea typeface="Meiryo UI"/>
                </a:rPr>
                <a:t>中</a:t>
              </a:r>
            </a:p>
          </p:txBody>
        </p:sp>
        <p:sp>
          <p:nvSpPr>
            <p:cNvPr id="50" name="Rectangle 49"/>
            <p:cNvSpPr/>
            <p:nvPr/>
          </p:nvSpPr>
          <p:spPr>
            <a:xfrm>
              <a:off x="320040" y="5614416"/>
              <a:ext cx="11521440" cy="658368"/>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51" name="TextBox 50"/>
            <p:cNvSpPr txBox="1"/>
            <p:nvPr/>
          </p:nvSpPr>
          <p:spPr>
            <a:xfrm>
              <a:off x="457200" y="5669279"/>
              <a:ext cx="11292840" cy="416513"/>
            </a:xfrm>
            <a:prstGeom prst="rect">
              <a:avLst/>
            </a:prstGeom>
            <a:noFill/>
          </p:spPr>
          <p:txBody>
            <a:bodyPr wrap="square" lIns="0" tIns="0" rIns="0" bIns="0">
              <a:spAutoFit/>
            </a:bodyPr>
            <a:lstStyle/>
            <a:p>
              <a:pPr>
                <a:lnSpc>
                  <a:spcPct val="115000"/>
                </a:lnSpc>
              </a:pPr>
              <a:r>
                <a:rPr sz="1200" b="1">
                  <a:solidFill>
                    <a:srgbClr val="008D2E"/>
                  </a:solidFill>
                  <a:latin typeface="Meiryo UI"/>
                  <a:ea typeface="Meiryo UI"/>
                </a:rPr>
                <a:t>投資対効果の全体観（仮・要実測）：</a:t>
              </a:r>
              <a:r>
                <a:rPr sz="1200" b="0">
                  <a:solidFill>
                    <a:srgbClr val="262626"/>
                  </a:solidFill>
                  <a:latin typeface="Meiryo UI"/>
                  <a:ea typeface="Meiryo UI"/>
                </a:rPr>
                <a:t>5年累計30〜50億円（最初の3年は年3〜5億円と小さく始める）に対し、効果は年45〜95億円（時間価値15〜25億＋値引き費用の転換20〜40億＋広告最適化10〜30億）で2〜3年回収。最大のリターンは金額化しにくい「棚・AIから外されない＝売上の生存権」。</a:t>
              </a:r>
            </a:p>
          </p:txBody>
        </p:sp>
      </p:grpSp>
    </p:spTree>
    <p:extLst>
      <p:ext uri="{BB962C8B-B14F-4D97-AF65-F5344CB8AC3E}">
        <p14:creationId xmlns:p14="http://schemas.microsoft.com/office/powerpoint/2010/main" val="39662383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E350DBC-5987-49DD-B662-8FEB76485A86}"/>
              </a:ext>
            </a:extLst>
          </p:cNvPr>
          <p:cNvSpPr>
            <a:spLocks noGrp="1"/>
          </p:cNvSpPr>
          <p:nvPr>
            <p:ph type="title"/>
          </p:nvPr>
        </p:nvSpPr>
        <p:spPr/>
        <p:txBody>
          <a:bodyPr/>
          <a:lstStyle/>
          <a:p>
            <a:r>
              <a:rPr lang="ja-JP" altLang="en-US" b="1" dirty="0">
                <a:solidFill>
                  <a:srgbClr val="262626"/>
                </a:solidFill>
                <a:latin typeface="Meiryo UI"/>
                <a:ea typeface="Meiryo UI"/>
              </a:rPr>
              <a:t>真因を受けた「進め方」と次のアクション</a:t>
            </a:r>
            <a:endParaRPr kumimoji="1" lang="ja-JP" altLang="en-US" dirty="0"/>
          </a:p>
        </p:txBody>
      </p:sp>
      <p:sp>
        <p:nvSpPr>
          <p:cNvPr id="3" name="テキスト プレースホルダー 2">
            <a:extLst>
              <a:ext uri="{FF2B5EF4-FFF2-40B4-BE49-F238E27FC236}">
                <a16:creationId xmlns:a16="http://schemas.microsoft.com/office/drawing/2014/main" id="{BFE0F729-5660-CA15-A2DD-246676A04B76}"/>
              </a:ext>
            </a:extLst>
          </p:cNvPr>
          <p:cNvSpPr>
            <a:spLocks noGrp="1"/>
          </p:cNvSpPr>
          <p:nvPr>
            <p:ph type="body" sz="quarter" idx="13"/>
          </p:nvPr>
        </p:nvSpPr>
        <p:spPr/>
        <p:txBody>
          <a:bodyPr/>
          <a:lstStyle/>
          <a:p>
            <a:r>
              <a:rPr lang="en-US" altLang="ja-JP" b="1" dirty="0">
                <a:solidFill>
                  <a:srgbClr val="262626"/>
                </a:solidFill>
                <a:latin typeface="Meiryo UI"/>
                <a:ea typeface="Meiryo UI"/>
              </a:rPr>
              <a:t>3</a:t>
            </a:r>
            <a:r>
              <a:rPr lang="ja-JP" altLang="en-US" b="1" dirty="0">
                <a:solidFill>
                  <a:srgbClr val="262626"/>
                </a:solidFill>
                <a:latin typeface="Meiryo UI"/>
                <a:ea typeface="Meiryo UI"/>
              </a:rPr>
              <a:t>つの真因のうち、最初の一歩は追加予算のいらない「型を定める」＝傾斜済み資源の使い方の再設計。次回デジタル戦略会議では決めることを</a:t>
            </a:r>
            <a:r>
              <a:rPr lang="en-US" altLang="ja-JP" b="1" dirty="0">
                <a:solidFill>
                  <a:srgbClr val="262626"/>
                </a:solidFill>
                <a:latin typeface="Meiryo UI"/>
                <a:ea typeface="Meiryo UI"/>
              </a:rPr>
              <a:t>3</a:t>
            </a:r>
            <a:r>
              <a:rPr lang="ja-JP" altLang="en-US" b="1" dirty="0">
                <a:solidFill>
                  <a:srgbClr val="262626"/>
                </a:solidFill>
                <a:latin typeface="Meiryo UI"/>
                <a:ea typeface="Meiryo UI"/>
              </a:rPr>
              <a:t>つに絞って諮る</a:t>
            </a:r>
          </a:p>
        </p:txBody>
      </p:sp>
      <p:grpSp>
        <p:nvGrpSpPr>
          <p:cNvPr id="4" name="グループ化 3">
            <a:extLst>
              <a:ext uri="{FF2B5EF4-FFF2-40B4-BE49-F238E27FC236}">
                <a16:creationId xmlns:a16="http://schemas.microsoft.com/office/drawing/2014/main" id="{F0CFE18E-2AC7-DCED-256A-638735747A11}"/>
              </a:ext>
            </a:extLst>
          </p:cNvPr>
          <p:cNvGrpSpPr/>
          <p:nvPr/>
        </p:nvGrpSpPr>
        <p:grpSpPr>
          <a:xfrm>
            <a:off x="320040" y="1600200"/>
            <a:ext cx="11521440" cy="4965192"/>
            <a:chOff x="320040" y="1600200"/>
            <a:chExt cx="11521440" cy="4965192"/>
          </a:xfrm>
        </p:grpSpPr>
        <p:sp>
          <p:nvSpPr>
            <p:cNvPr id="14" name="Rectangle 13"/>
            <p:cNvSpPr/>
            <p:nvPr/>
          </p:nvSpPr>
          <p:spPr>
            <a:xfrm>
              <a:off x="320040" y="1600200"/>
              <a:ext cx="5577840" cy="38404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7200" y="1636776"/>
              <a:ext cx="5303520" cy="320040"/>
            </a:xfrm>
            <a:prstGeom prst="rect">
              <a:avLst/>
            </a:prstGeom>
            <a:noFill/>
          </p:spPr>
          <p:txBody>
            <a:bodyPr wrap="square" lIns="0" tIns="0" rIns="0" bIns="0">
              <a:spAutoFit/>
            </a:bodyPr>
            <a:lstStyle/>
            <a:p>
              <a:pPr>
                <a:lnSpc>
                  <a:spcPct val="115000"/>
                </a:lnSpc>
              </a:pPr>
              <a:r>
                <a:rPr sz="1150" b="1">
                  <a:solidFill>
                    <a:srgbClr val="FFFFFF"/>
                  </a:solidFill>
                  <a:latin typeface="Meiryo UI"/>
                  <a:ea typeface="Meiryo UI"/>
                </a:rPr>
                <a:t>解決3「回路を作る」の運営原則 ― 過去の新規投資と今回が違う理由（P.7）</a:t>
              </a:r>
            </a:p>
          </p:txBody>
        </p:sp>
        <p:sp>
          <p:nvSpPr>
            <p:cNvPr id="16" name="Rectangle 15"/>
            <p:cNvSpPr/>
            <p:nvPr/>
          </p:nvSpPr>
          <p:spPr>
            <a:xfrm>
              <a:off x="320040" y="2103120"/>
              <a:ext cx="5577840" cy="1170432"/>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57200" y="2176272"/>
              <a:ext cx="5303520" cy="274320"/>
            </a:xfrm>
            <a:prstGeom prst="rect">
              <a:avLst/>
            </a:prstGeom>
            <a:noFill/>
          </p:spPr>
          <p:txBody>
            <a:bodyPr wrap="square" lIns="0" tIns="0" rIns="0" bIns="0">
              <a:spAutoFit/>
            </a:bodyPr>
            <a:lstStyle/>
            <a:p>
              <a:pPr>
                <a:lnSpc>
                  <a:spcPct val="115000"/>
                </a:lnSpc>
              </a:pPr>
              <a:r>
                <a:rPr sz="1050" b="1">
                  <a:solidFill>
                    <a:srgbClr val="008D2E"/>
                  </a:solidFill>
                  <a:latin typeface="Meiryo UI"/>
                  <a:ea typeface="Meiryo UI"/>
                </a:rPr>
                <a:t>① 全体最適の計画</a:t>
              </a:r>
            </a:p>
          </p:txBody>
        </p:sp>
        <p:sp>
          <p:nvSpPr>
            <p:cNvPr id="18" name="TextBox 17"/>
            <p:cNvSpPr txBox="1"/>
            <p:nvPr/>
          </p:nvSpPr>
          <p:spPr>
            <a:xfrm>
              <a:off x="457200" y="2505456"/>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部門別の点の施策ではなく、4テーマを線・面に束ねた1つの計画として投資を諮る（本資料と別冊の構造そのもの）</a:t>
              </a:r>
            </a:p>
          </p:txBody>
        </p:sp>
        <p:sp>
          <p:nvSpPr>
            <p:cNvPr id="19" name="Rectangle 18"/>
            <p:cNvSpPr/>
            <p:nvPr/>
          </p:nvSpPr>
          <p:spPr>
            <a:xfrm>
              <a:off x="320040" y="3383279"/>
              <a:ext cx="5577840" cy="1170432"/>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57200" y="3456432"/>
              <a:ext cx="5303520" cy="274320"/>
            </a:xfrm>
            <a:prstGeom prst="rect">
              <a:avLst/>
            </a:prstGeom>
            <a:noFill/>
          </p:spPr>
          <p:txBody>
            <a:bodyPr wrap="square" lIns="0" tIns="0" rIns="0" bIns="0">
              <a:spAutoFit/>
            </a:bodyPr>
            <a:lstStyle/>
            <a:p>
              <a:pPr>
                <a:lnSpc>
                  <a:spcPct val="115000"/>
                </a:lnSpc>
              </a:pPr>
              <a:r>
                <a:rPr sz="1050" b="1">
                  <a:solidFill>
                    <a:srgbClr val="008D2E"/>
                  </a:solidFill>
                  <a:latin typeface="Meiryo UI"/>
                  <a:ea typeface="Meiryo UI"/>
                </a:rPr>
                <a:t>② 小さく実証 → 確認ゲート → 段階拡大</a:t>
              </a:r>
            </a:p>
          </p:txBody>
        </p:sp>
        <p:sp>
          <p:nvSpPr>
            <p:cNvPr id="21" name="TextBox 20"/>
            <p:cNvSpPr txBox="1"/>
            <p:nvPr/>
          </p:nvSpPr>
          <p:spPr>
            <a:xfrm>
              <a:off x="457200" y="3785615"/>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いきなり大きな投資は求めない。重点小売1社×オーラルケアで実証し、合格したときだけ広げる（FY27夏／FY28末／FY30の3回）</a:t>
              </a:r>
            </a:p>
          </p:txBody>
        </p:sp>
        <p:sp>
          <p:nvSpPr>
            <p:cNvPr id="22" name="Rectangle 21"/>
            <p:cNvSpPr/>
            <p:nvPr/>
          </p:nvSpPr>
          <p:spPr>
            <a:xfrm>
              <a:off x="320040" y="4663440"/>
              <a:ext cx="5577840" cy="1170432"/>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57200" y="4736592"/>
              <a:ext cx="5303520" cy="274320"/>
            </a:xfrm>
            <a:prstGeom prst="rect">
              <a:avLst/>
            </a:prstGeom>
            <a:noFill/>
          </p:spPr>
          <p:txBody>
            <a:bodyPr wrap="square" lIns="0" tIns="0" rIns="0" bIns="0">
              <a:spAutoFit/>
            </a:bodyPr>
            <a:lstStyle/>
            <a:p>
              <a:pPr>
                <a:lnSpc>
                  <a:spcPct val="115000"/>
                </a:lnSpc>
              </a:pPr>
              <a:r>
                <a:rPr sz="1050" b="1">
                  <a:solidFill>
                    <a:srgbClr val="008D2E"/>
                  </a:solidFill>
                  <a:latin typeface="Meiryo UI"/>
                  <a:ea typeface="Meiryo UI"/>
                </a:rPr>
                <a:t>③ 検証責任と撤退基準を提案側が持つ</a:t>
              </a:r>
            </a:p>
          </p:txBody>
        </p:sp>
        <p:sp>
          <p:nvSpPr>
            <p:cNvPr id="24" name="TextBox 23"/>
            <p:cNvSpPr txBox="1"/>
            <p:nvPr/>
          </p:nvSpPr>
          <p:spPr>
            <a:xfrm>
              <a:off x="457200" y="5065776"/>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北極星KPI＝増分粗利（オーラルケア）。施策ごとに撤退基準と検証計画を先に置き、効果検証まで提案側の責任とする</a:t>
              </a:r>
            </a:p>
          </p:txBody>
        </p:sp>
        <p:sp>
          <p:nvSpPr>
            <p:cNvPr id="25" name="Rectangle 24"/>
            <p:cNvSpPr/>
            <p:nvPr/>
          </p:nvSpPr>
          <p:spPr>
            <a:xfrm>
              <a:off x="6263640" y="1600200"/>
              <a:ext cx="5577840" cy="384048"/>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400800" y="1636776"/>
              <a:ext cx="5303520" cy="320040"/>
            </a:xfrm>
            <a:prstGeom prst="rect">
              <a:avLst/>
            </a:prstGeom>
            <a:noFill/>
          </p:spPr>
          <p:txBody>
            <a:bodyPr wrap="square" lIns="0" tIns="0" rIns="0" bIns="0">
              <a:spAutoFit/>
            </a:bodyPr>
            <a:lstStyle/>
            <a:p>
              <a:pPr>
                <a:lnSpc>
                  <a:spcPct val="115000"/>
                </a:lnSpc>
              </a:pPr>
              <a:r>
                <a:rPr sz="1150" b="1">
                  <a:solidFill>
                    <a:srgbClr val="FFFFFF"/>
                  </a:solidFill>
                  <a:latin typeface="Meiryo UI"/>
                  <a:ea typeface="Meiryo UI"/>
                </a:rPr>
                <a:t>次回デジタル戦略会議で決めること（3つ）＝解決1「型を定める」の起動</a:t>
              </a:r>
            </a:p>
          </p:txBody>
        </p:sp>
        <p:sp>
          <p:nvSpPr>
            <p:cNvPr id="27" name="Rectangle 26"/>
            <p:cNvSpPr/>
            <p:nvPr/>
          </p:nvSpPr>
          <p:spPr>
            <a:xfrm>
              <a:off x="6263640" y="2103120"/>
              <a:ext cx="5577840" cy="11704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400800" y="2176272"/>
              <a:ext cx="5303520" cy="274320"/>
            </a:xfrm>
            <a:prstGeom prst="rect">
              <a:avLst/>
            </a:prstGeom>
            <a:noFill/>
          </p:spPr>
          <p:txBody>
            <a:bodyPr wrap="square" lIns="0" tIns="0" rIns="0" bIns="0">
              <a:spAutoFit/>
            </a:bodyPr>
            <a:lstStyle/>
            <a:p>
              <a:pPr>
                <a:lnSpc>
                  <a:spcPct val="115000"/>
                </a:lnSpc>
              </a:pPr>
              <a:r>
                <a:rPr sz="1050" b="1">
                  <a:solidFill>
                    <a:srgbClr val="262626"/>
                  </a:solidFill>
                  <a:latin typeface="Meiryo UI"/>
                  <a:ea typeface="Meiryo UI"/>
                </a:rPr>
                <a:t>決定1  国内BU変革プロジェクトの組成</a:t>
              </a:r>
            </a:p>
          </p:txBody>
        </p:sp>
        <p:sp>
          <p:nvSpPr>
            <p:cNvPr id="29" name="TextBox 28"/>
            <p:cNvSpPr txBox="1"/>
            <p:nvPr/>
          </p:nvSpPr>
          <p:spPr>
            <a:xfrm>
              <a:off x="6400800" y="2505456"/>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専任リーダー（部長級・社内公募含む）を置き、デジタル戦略部とペアで運営。人選基準＝小売との信頼×データ理解×社内を動かせる実績</a:t>
              </a:r>
            </a:p>
          </p:txBody>
        </p:sp>
        <p:sp>
          <p:nvSpPr>
            <p:cNvPr id="30" name="Rectangle 29"/>
            <p:cNvSpPr/>
            <p:nvPr/>
          </p:nvSpPr>
          <p:spPr>
            <a:xfrm>
              <a:off x="6263640" y="3383279"/>
              <a:ext cx="5577840" cy="11704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400800" y="3456432"/>
              <a:ext cx="5303520" cy="274320"/>
            </a:xfrm>
            <a:prstGeom prst="rect">
              <a:avLst/>
            </a:prstGeom>
            <a:noFill/>
          </p:spPr>
          <p:txBody>
            <a:bodyPr wrap="square" lIns="0" tIns="0" rIns="0" bIns="0">
              <a:spAutoFit/>
            </a:bodyPr>
            <a:lstStyle/>
            <a:p>
              <a:pPr>
                <a:lnSpc>
                  <a:spcPct val="115000"/>
                </a:lnSpc>
              </a:pPr>
              <a:r>
                <a:rPr sz="1050" b="1">
                  <a:solidFill>
                    <a:srgbClr val="262626"/>
                  </a:solidFill>
                  <a:latin typeface="Meiryo UI"/>
                  <a:ea typeface="Meiryo UI"/>
                </a:rPr>
                <a:t>決定2  AI推奨シェア（AIEO）実測の即時開始</a:t>
              </a:r>
            </a:p>
          </p:txBody>
        </p:sp>
        <p:sp>
          <p:nvSpPr>
            <p:cNvPr id="32" name="TextBox 31"/>
            <p:cNvSpPr txBox="1"/>
            <p:nvPr/>
          </p:nvSpPr>
          <p:spPr>
            <a:xfrm>
              <a:off x="6400800" y="3785615"/>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主要AIに生活者の質問を投げ、自社と競合の紹介のされ方を90日で初回報告・以後月次。危機と成果を数字にする第一歩</a:t>
              </a:r>
            </a:p>
          </p:txBody>
        </p:sp>
        <p:sp>
          <p:nvSpPr>
            <p:cNvPr id="33" name="Rectangle 32"/>
            <p:cNvSpPr/>
            <p:nvPr/>
          </p:nvSpPr>
          <p:spPr>
            <a:xfrm>
              <a:off x="6263640" y="4663440"/>
              <a:ext cx="5577840" cy="11704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400800" y="4736592"/>
              <a:ext cx="5303520" cy="274320"/>
            </a:xfrm>
            <a:prstGeom prst="rect">
              <a:avLst/>
            </a:prstGeom>
            <a:noFill/>
          </p:spPr>
          <p:txBody>
            <a:bodyPr wrap="square" lIns="0" tIns="0" rIns="0" bIns="0">
              <a:spAutoFit/>
            </a:bodyPr>
            <a:lstStyle/>
            <a:p>
              <a:pPr>
                <a:lnSpc>
                  <a:spcPct val="115000"/>
                </a:lnSpc>
              </a:pPr>
              <a:r>
                <a:rPr sz="1050" b="1">
                  <a:solidFill>
                    <a:srgbClr val="262626"/>
                  </a:solidFill>
                  <a:latin typeface="Meiryo UI"/>
                  <a:ea typeface="Meiryo UI"/>
                </a:rPr>
                <a:t>決定3  テーマ別役員オーナーの任命</a:t>
              </a:r>
            </a:p>
          </p:txBody>
        </p:sp>
        <p:sp>
          <p:nvSpPr>
            <p:cNvPr id="35" name="TextBox 34"/>
            <p:cNvSpPr txBox="1"/>
            <p:nvPr/>
          </p:nvSpPr>
          <p:spPr>
            <a:xfrm>
              <a:off x="6400800" y="5065776"/>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5つの経営テーマに役員オーナーを1名ずつ。施策ごとの撤退基準・検証計画とセットで承認し、責任と検証を制度で明確にする</a:t>
              </a:r>
            </a:p>
          </p:txBody>
        </p:sp>
        <p:sp>
          <p:nvSpPr>
            <p:cNvPr id="36" name="Rectangle 35"/>
            <p:cNvSpPr/>
            <p:nvPr/>
          </p:nvSpPr>
          <p:spPr>
            <a:xfrm>
              <a:off x="320040" y="6108192"/>
              <a:ext cx="11521440" cy="457200"/>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502920" y="6163056"/>
              <a:ext cx="11155680" cy="365760"/>
            </a:xfrm>
            <a:prstGeom prst="rect">
              <a:avLst/>
            </a:prstGeom>
            <a:noFill/>
          </p:spPr>
          <p:txBody>
            <a:bodyPr wrap="square" lIns="0" tIns="0" rIns="0" bIns="0">
              <a:spAutoFit/>
            </a:bodyPr>
            <a:lstStyle/>
            <a:p>
              <a:pPr>
                <a:lnSpc>
                  <a:spcPct val="110000"/>
                </a:lnSpc>
              </a:pPr>
              <a:r>
                <a:rPr sz="1000" b="1">
                  <a:solidFill>
                    <a:srgbClr val="008D2E"/>
                  </a:solidFill>
                  <a:latin typeface="Meiryo UI"/>
                  <a:ea typeface="Meiryo UI"/>
                </a:rPr>
                <a:t>接続：</a:t>
              </a:r>
              <a:r>
                <a:rPr sz="1000" b="0">
                  <a:solidFill>
                    <a:srgbClr val="262626"/>
                  </a:solidFill>
                  <a:latin typeface="Meiryo UI"/>
                  <a:ea typeface="Meiryo UI"/>
                </a:rPr>
                <a:t>How（どう解くか）・Who（体制）・When（時間割）・How Much（投資対効果・KGI/KPI）の詳細は、別冊「経営テーマ起点 実行構想」（全20枚）に展開済み</a:t>
              </a:r>
            </a:p>
          </p:txBody>
        </p:sp>
      </p:grpSp>
    </p:spTree>
    <p:extLst>
      <p:ext uri="{BB962C8B-B14F-4D97-AF65-F5344CB8AC3E}">
        <p14:creationId xmlns:p14="http://schemas.microsoft.com/office/powerpoint/2010/main" val="3771752968"/>
      </p:ext>
    </p:extLst>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txBody>
          <a:bodyPr/>
          <a:p/>
        </p:txBody>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txBody>
          <a:bodyPr/>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28016"/>
            <a:ext cx="11338560" cy="365760"/>
          </a:xfrm>
          <a:prstGeom prst="rect">
            <a:avLst/>
          </a:prstGeom>
          <a:noFill/>
        </p:spPr>
        <p:txBody>
          <a:bodyPr wrap="square" lIns="0" rIns="0" tIns="0" bIns="0">
            <a:spAutoFit/>
          </a:bodyPr>
          <a:lstStyle/>
          <a:p>
            <a:pPr>
              <a:lnSpc>
                <a:spcPct val="112000"/>
              </a:lnSpc>
            </a:pPr>
            <a:r>
              <a:rPr sz="1700" b="1">
                <a:solidFill>
                  <a:srgbClr val="262626"/>
                </a:solidFill>
                <a:latin typeface="Meiryo UI"/>
                <a:ea typeface="Meiryo UI"/>
              </a:rPr>
              <a:t>現状とのギャップと真因 ― 4つのギャップは、3つの真因に収束する</a:t>
            </a:r>
          </a:p>
        </p:txBody>
      </p:sp>
      <p:sp>
        <p:nvSpPr>
          <p:cNvPr id="11" name="Rectangle 10"/>
          <p:cNvSpPr/>
          <p:nvPr/>
        </p:nvSpPr>
        <p:spPr>
          <a:xfrm>
            <a:off x="320040" y="56692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640080"/>
            <a:ext cx="256032" cy="274320"/>
          </a:xfrm>
          <a:prstGeom prst="rect">
            <a:avLst/>
          </a:prstGeom>
          <a:noFill/>
        </p:spPr>
        <p:txBody>
          <a:bodyPr wrap="square" lIns="0" rIns="0" tIns="0" bIns="0">
            <a:spAutoFit/>
          </a:bodyPr>
          <a:lstStyle/>
          <a:p>
            <a:pPr>
              <a:lnSpc>
                <a:spcPct val="112000"/>
              </a:lnSpc>
            </a:pPr>
            <a:r>
              <a:rPr sz="1000" b="1">
                <a:solidFill>
                  <a:srgbClr val="008D2E"/>
                </a:solidFill>
                <a:latin typeface="Meiryo UI"/>
                <a:ea typeface="Meiryo UI"/>
              </a:rPr>
              <a:t>■</a:t>
            </a:r>
          </a:p>
        </p:txBody>
      </p:sp>
      <p:sp>
        <p:nvSpPr>
          <p:cNvPr id="13" name="TextBox 12"/>
          <p:cNvSpPr txBox="1"/>
          <p:nvPr/>
        </p:nvSpPr>
        <p:spPr>
          <a:xfrm>
            <a:off x="603504" y="621792"/>
            <a:ext cx="11201400" cy="502920"/>
          </a:xfrm>
          <a:prstGeom prst="rect">
            <a:avLst/>
          </a:prstGeom>
          <a:noFill/>
        </p:spPr>
        <p:txBody>
          <a:bodyPr wrap="square" lIns="0" rIns="0" tIns="0" bIns="0">
            <a:spAutoFit/>
          </a:bodyPr>
          <a:lstStyle/>
          <a:p>
            <a:pPr>
              <a:lnSpc>
                <a:spcPct val="115000"/>
              </a:lnSpc>
            </a:pPr>
            <a:r>
              <a:rPr sz="1050" b="1">
                <a:solidFill>
                  <a:srgbClr val="262626"/>
                </a:solidFill>
                <a:latin typeface="Meiryo UI"/>
                <a:ea typeface="Meiryo UI"/>
              </a:rPr>
              <a:t>オーラル最重点の決定も宣伝・販促の傾斜配分も実行済み ― それでもギャップが残る原因は量（カネ・ヒト）ではなく質：「型・武器・回路」の3つ</a:t>
            </a:r>
          </a:p>
        </p:txBody>
      </p:sp>
      <p:sp>
        <p:nvSpPr>
          <p:cNvPr id="14" name="TextBox 13"/>
          <p:cNvSpPr txBox="1"/>
          <p:nvPr/>
        </p:nvSpPr>
        <p:spPr>
          <a:xfrm>
            <a:off x="9418320" y="1170432"/>
            <a:ext cx="1005840" cy="219456"/>
          </a:xfrm>
          <a:prstGeom prst="rect">
            <a:avLst/>
          </a:prstGeom>
          <a:noFill/>
        </p:spPr>
        <p:txBody>
          <a:bodyPr wrap="square" lIns="0" rIns="0" tIns="0" bIns="0">
            <a:spAutoFit/>
          </a:bodyPr>
          <a:lstStyle/>
          <a:p>
            <a:pPr>
              <a:lnSpc>
                <a:spcPct val="112000"/>
              </a:lnSpc>
            </a:pPr>
            <a:r>
              <a:rPr sz="750" b="1">
                <a:solidFill>
                  <a:srgbClr val="595959"/>
                </a:solidFill>
                <a:latin typeface="Meiryo UI"/>
                <a:ea typeface="Meiryo UI"/>
              </a:rPr>
              <a:t>真因へのつながり</a:t>
            </a:r>
          </a:p>
        </p:txBody>
      </p:sp>
      <p:cxnSp>
        <p:nvCxnSpPr>
          <p:cNvPr id="15" name="Connector 14"/>
          <p:cNvCxnSpPr/>
          <p:nvPr/>
        </p:nvCxnSpPr>
        <p:spPr>
          <a:xfrm>
            <a:off x="10469880" y="1298448"/>
            <a:ext cx="457200" cy="0"/>
          </a:xfrm>
          <a:prstGeom prst="line">
            <a:avLst/>
          </a:prstGeom>
          <a:ln w="2286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10972800" y="1188720"/>
            <a:ext cx="457200" cy="219456"/>
          </a:xfrm>
          <a:prstGeom prst="rect">
            <a:avLst/>
          </a:prstGeom>
          <a:noFill/>
        </p:spPr>
        <p:txBody>
          <a:bodyPr wrap="square" lIns="0" rIns="0" tIns="0" bIns="0">
            <a:spAutoFit/>
          </a:bodyPr>
          <a:lstStyle/>
          <a:p>
            <a:pPr>
              <a:lnSpc>
                <a:spcPct val="112000"/>
              </a:lnSpc>
            </a:pPr>
            <a:r>
              <a:rPr sz="800" b="1">
                <a:solidFill>
                  <a:srgbClr val="262626"/>
                </a:solidFill>
                <a:latin typeface="Meiryo UI"/>
                <a:ea typeface="Meiryo UI"/>
              </a:rPr>
              <a:t>主</a:t>
            </a:r>
          </a:p>
        </p:txBody>
      </p:sp>
      <p:cxnSp>
        <p:nvCxnSpPr>
          <p:cNvPr id="17" name="Connector 16"/>
          <p:cNvCxnSpPr/>
          <p:nvPr/>
        </p:nvCxnSpPr>
        <p:spPr>
          <a:xfrm>
            <a:off x="11292840" y="1298448"/>
            <a:ext cx="365760" cy="0"/>
          </a:xfrm>
          <a:prstGeom prst="line">
            <a:avLst/>
          </a:prstGeom>
          <a:ln w="15240">
            <a:solidFill>
              <a:srgbClr val="595959"/>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11704320" y="1188720"/>
            <a:ext cx="274320" cy="219456"/>
          </a:xfrm>
          <a:prstGeom prst="rect">
            <a:avLst/>
          </a:prstGeom>
          <a:noFill/>
        </p:spPr>
        <p:txBody>
          <a:bodyPr wrap="square" lIns="0" rIns="0" tIns="0" bIns="0">
            <a:spAutoFit/>
          </a:bodyPr>
          <a:lstStyle/>
          <a:p>
            <a:pPr>
              <a:lnSpc>
                <a:spcPct val="112000"/>
              </a:lnSpc>
            </a:pPr>
            <a:r>
              <a:rPr sz="800" b="1">
                <a:solidFill>
                  <a:srgbClr val="262626"/>
                </a:solidFill>
                <a:latin typeface="Meiryo UI"/>
                <a:ea typeface="Meiryo UI"/>
              </a:rPr>
              <a:t>副</a:t>
            </a:r>
          </a:p>
        </p:txBody>
      </p:sp>
      <p:sp>
        <p:nvSpPr>
          <p:cNvPr id="19" name="Rectangle 18"/>
          <p:cNvSpPr/>
          <p:nvPr/>
        </p:nvSpPr>
        <p:spPr>
          <a:xfrm>
            <a:off x="320040" y="1600200"/>
            <a:ext cx="3017520" cy="173736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20040" y="1600200"/>
            <a:ext cx="914400" cy="310896"/>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11480" y="1636776"/>
            <a:ext cx="777240" cy="256032"/>
          </a:xfrm>
          <a:prstGeom prst="rect">
            <a:avLst/>
          </a:prstGeom>
          <a:noFill/>
        </p:spPr>
        <p:txBody>
          <a:bodyPr wrap="square" lIns="0" rIns="0" tIns="0" bIns="0">
            <a:spAutoFit/>
          </a:bodyPr>
          <a:lstStyle/>
          <a:p>
            <a:pPr>
              <a:lnSpc>
                <a:spcPct val="112000"/>
              </a:lnSpc>
            </a:pPr>
            <a:r>
              <a:rPr sz="950" b="1">
                <a:solidFill>
                  <a:srgbClr val="FFFFFF"/>
                </a:solidFill>
                <a:latin typeface="Meiryo UI"/>
                <a:ea typeface="Meiryo UI"/>
              </a:rPr>
              <a:t>GAP1</a:t>
            </a:r>
          </a:p>
        </p:txBody>
      </p:sp>
      <p:sp>
        <p:nvSpPr>
          <p:cNvPr id="22" name="TextBox 21"/>
          <p:cNvSpPr txBox="1"/>
          <p:nvPr/>
        </p:nvSpPr>
        <p:spPr>
          <a:xfrm>
            <a:off x="429768" y="2002536"/>
            <a:ext cx="2798064" cy="1280160"/>
          </a:xfrm>
          <a:prstGeom prst="rect">
            <a:avLst/>
          </a:prstGeom>
          <a:noFill/>
        </p:spPr>
        <p:txBody>
          <a:bodyPr wrap="square" lIns="0" rIns="0" tIns="0" bIns="0">
            <a:spAutoFit/>
          </a:bodyPr>
          <a:lstStyle/>
          <a:p>
            <a:pPr>
              <a:lnSpc>
                <a:spcPct val="115000"/>
              </a:lnSpc>
            </a:pPr>
            <a:r>
              <a:rPr sz="819" b="0">
                <a:solidFill>
                  <a:srgbClr val="262626"/>
                </a:solidFill>
                <a:latin typeface="Meiryo UI"/>
                <a:ea typeface="Meiryo UI"/>
              </a:rPr>
              <a:t>洗剤消耗戦から脱却できず、強み領域をAI自動補充へ潜り込ませる「属性データの構造化・API化」が道半ば</a:t>
            </a:r>
          </a:p>
        </p:txBody>
      </p:sp>
      <p:sp>
        <p:nvSpPr>
          <p:cNvPr id="23" name="Rectangle 22"/>
          <p:cNvSpPr/>
          <p:nvPr/>
        </p:nvSpPr>
        <p:spPr>
          <a:xfrm>
            <a:off x="320040" y="3703320"/>
            <a:ext cx="3017520" cy="173736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20040" y="3703320"/>
            <a:ext cx="914400" cy="310896"/>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11480" y="3739896"/>
            <a:ext cx="777240" cy="256032"/>
          </a:xfrm>
          <a:prstGeom prst="rect">
            <a:avLst/>
          </a:prstGeom>
          <a:noFill/>
        </p:spPr>
        <p:txBody>
          <a:bodyPr wrap="square" lIns="0" rIns="0" tIns="0" bIns="0">
            <a:spAutoFit/>
          </a:bodyPr>
          <a:lstStyle/>
          <a:p>
            <a:pPr>
              <a:lnSpc>
                <a:spcPct val="112000"/>
              </a:lnSpc>
            </a:pPr>
            <a:r>
              <a:rPr sz="950" b="1">
                <a:solidFill>
                  <a:srgbClr val="FFFFFF"/>
                </a:solidFill>
                <a:latin typeface="Meiryo UI"/>
                <a:ea typeface="Meiryo UI"/>
              </a:rPr>
              <a:t>GAP2</a:t>
            </a:r>
          </a:p>
        </p:txBody>
      </p:sp>
      <p:sp>
        <p:nvSpPr>
          <p:cNvPr id="26" name="TextBox 25"/>
          <p:cNvSpPr txBox="1"/>
          <p:nvPr/>
        </p:nvSpPr>
        <p:spPr>
          <a:xfrm>
            <a:off x="429768" y="4105656"/>
            <a:ext cx="2798064" cy="1280160"/>
          </a:xfrm>
          <a:prstGeom prst="rect">
            <a:avLst/>
          </a:prstGeom>
          <a:noFill/>
        </p:spPr>
        <p:txBody>
          <a:bodyPr wrap="square" lIns="0" rIns="0" tIns="0" bIns="0">
            <a:spAutoFit/>
          </a:bodyPr>
          <a:lstStyle/>
          <a:p>
            <a:pPr>
              <a:lnSpc>
                <a:spcPct val="115000"/>
              </a:lnSpc>
            </a:pPr>
            <a:r>
              <a:rPr sz="819" b="0">
                <a:solidFill>
                  <a:srgbClr val="262626"/>
                </a:solidFill>
                <a:latin typeface="Meiryo UI"/>
                <a:ea typeface="Meiryo UI"/>
              </a:rPr>
              <a:t>自前D2C追随か小売依存かの二極化に陥り、小売インフラを高度利用する路線へ踏み切れていない</a:t>
            </a:r>
          </a:p>
        </p:txBody>
      </p:sp>
      <p:sp>
        <p:nvSpPr>
          <p:cNvPr id="27" name="Rectangle 26"/>
          <p:cNvSpPr/>
          <p:nvPr/>
        </p:nvSpPr>
        <p:spPr>
          <a:xfrm>
            <a:off x="8823960" y="1600200"/>
            <a:ext cx="3017520" cy="173736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823960" y="1600200"/>
            <a:ext cx="914400" cy="310896"/>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915400" y="1636776"/>
            <a:ext cx="777240" cy="256032"/>
          </a:xfrm>
          <a:prstGeom prst="rect">
            <a:avLst/>
          </a:prstGeom>
          <a:noFill/>
        </p:spPr>
        <p:txBody>
          <a:bodyPr wrap="square" lIns="0" rIns="0" tIns="0" bIns="0">
            <a:spAutoFit/>
          </a:bodyPr>
          <a:lstStyle/>
          <a:p>
            <a:pPr>
              <a:lnSpc>
                <a:spcPct val="112000"/>
              </a:lnSpc>
            </a:pPr>
            <a:r>
              <a:rPr sz="950" b="1">
                <a:solidFill>
                  <a:srgbClr val="FFFFFF"/>
                </a:solidFill>
                <a:latin typeface="Meiryo UI"/>
                <a:ea typeface="Meiryo UI"/>
              </a:rPr>
              <a:t>GAP3</a:t>
            </a:r>
          </a:p>
        </p:txBody>
      </p:sp>
      <p:sp>
        <p:nvSpPr>
          <p:cNvPr id="30" name="TextBox 29"/>
          <p:cNvSpPr txBox="1"/>
          <p:nvPr/>
        </p:nvSpPr>
        <p:spPr>
          <a:xfrm>
            <a:off x="8933688" y="2002536"/>
            <a:ext cx="2798064" cy="1280160"/>
          </a:xfrm>
          <a:prstGeom prst="rect">
            <a:avLst/>
          </a:prstGeom>
          <a:noFill/>
        </p:spPr>
        <p:txBody>
          <a:bodyPr wrap="square" lIns="0" rIns="0" tIns="0" bIns="0">
            <a:spAutoFit/>
          </a:bodyPr>
          <a:lstStyle/>
          <a:p>
            <a:pPr>
              <a:lnSpc>
                <a:spcPct val="115000"/>
              </a:lnSpc>
            </a:pPr>
            <a:r>
              <a:rPr sz="819" b="0">
                <a:solidFill>
                  <a:srgbClr val="262626"/>
                </a:solidFill>
                <a:latin typeface="Meiryo UI"/>
                <a:ea typeface="Meiryo UI"/>
              </a:rPr>
              <a:t>バイヤーが最も欲する「カテゴリLTV・炭素効率の予測」ではなく、目先の値引き・特売条件を提案し続けている</a:t>
            </a:r>
          </a:p>
        </p:txBody>
      </p:sp>
      <p:sp>
        <p:nvSpPr>
          <p:cNvPr id="31" name="Rectangle 30"/>
          <p:cNvSpPr/>
          <p:nvPr/>
        </p:nvSpPr>
        <p:spPr>
          <a:xfrm>
            <a:off x="8823960" y="3703320"/>
            <a:ext cx="3017520" cy="173736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823960" y="3703320"/>
            <a:ext cx="914400" cy="310896"/>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915400" y="3739896"/>
            <a:ext cx="777240" cy="256032"/>
          </a:xfrm>
          <a:prstGeom prst="rect">
            <a:avLst/>
          </a:prstGeom>
          <a:noFill/>
        </p:spPr>
        <p:txBody>
          <a:bodyPr wrap="square" lIns="0" rIns="0" tIns="0" bIns="0">
            <a:spAutoFit/>
          </a:bodyPr>
          <a:lstStyle/>
          <a:p>
            <a:pPr>
              <a:lnSpc>
                <a:spcPct val="112000"/>
              </a:lnSpc>
            </a:pPr>
            <a:r>
              <a:rPr sz="950" b="1">
                <a:solidFill>
                  <a:srgbClr val="FFFFFF"/>
                </a:solidFill>
                <a:latin typeface="Meiryo UI"/>
                <a:ea typeface="Meiryo UI"/>
              </a:rPr>
              <a:t>GAP4</a:t>
            </a:r>
          </a:p>
        </p:txBody>
      </p:sp>
      <p:sp>
        <p:nvSpPr>
          <p:cNvPr id="34" name="TextBox 33"/>
          <p:cNvSpPr txBox="1"/>
          <p:nvPr/>
        </p:nvSpPr>
        <p:spPr>
          <a:xfrm>
            <a:off x="8933688" y="4105656"/>
            <a:ext cx="2798064" cy="1280160"/>
          </a:xfrm>
          <a:prstGeom prst="rect">
            <a:avLst/>
          </a:prstGeom>
          <a:noFill/>
        </p:spPr>
        <p:txBody>
          <a:bodyPr wrap="square" lIns="0" rIns="0" tIns="0" bIns="0">
            <a:spAutoFit/>
          </a:bodyPr>
          <a:lstStyle/>
          <a:p>
            <a:pPr>
              <a:lnSpc>
                <a:spcPct val="115000"/>
              </a:lnSpc>
            </a:pPr>
            <a:r>
              <a:rPr sz="819" b="0">
                <a:solidFill>
                  <a:srgbClr val="262626"/>
                </a:solidFill>
                <a:latin typeface="Meiryo UI"/>
                <a:ea typeface="Meiryo UI"/>
              </a:rPr>
              <a:t>人手不足・環境規制で困窮する小売に組織総力戦で当たれず、営業個人の属人的関係で乗り切ろうとしている</a:t>
            </a:r>
          </a:p>
        </p:txBody>
      </p:sp>
      <p:sp>
        <p:nvSpPr>
          <p:cNvPr id="35" name="Rectangle 34"/>
          <p:cNvSpPr/>
          <p:nvPr/>
        </p:nvSpPr>
        <p:spPr>
          <a:xfrm>
            <a:off x="3840480" y="1463040"/>
            <a:ext cx="4480560" cy="1481328"/>
          </a:xfrm>
          <a:prstGeom prst="rect">
            <a:avLst/>
          </a:prstGeom>
          <a:solidFill>
            <a:srgbClr val="FFFFFF"/>
          </a:solidFill>
          <a:ln w="1651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840480" y="1463040"/>
            <a:ext cx="82296" cy="148132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023360" y="1517904"/>
            <a:ext cx="4206240" cy="256032"/>
          </a:xfrm>
          <a:prstGeom prst="rect">
            <a:avLst/>
          </a:prstGeom>
          <a:noFill/>
        </p:spPr>
        <p:txBody>
          <a:bodyPr wrap="square" lIns="0" rIns="0" tIns="0" bIns="0">
            <a:spAutoFit/>
          </a:bodyPr>
          <a:lstStyle/>
          <a:p>
            <a:pPr>
              <a:lnSpc>
                <a:spcPct val="112000"/>
              </a:lnSpc>
            </a:pPr>
            <a:r>
              <a:rPr sz="980" b="1">
                <a:solidFill>
                  <a:srgbClr val="C8102E"/>
                </a:solidFill>
                <a:latin typeface="Meiryo UI"/>
                <a:ea typeface="Meiryo UI"/>
              </a:rPr>
              <a:t>真因1 「型が定まっていない」</a:t>
            </a:r>
          </a:p>
        </p:txBody>
      </p:sp>
      <p:sp>
        <p:nvSpPr>
          <p:cNvPr id="38" name="TextBox 37"/>
          <p:cNvSpPr txBox="1"/>
          <p:nvPr/>
        </p:nvSpPr>
        <p:spPr>
          <a:xfrm>
            <a:off x="4023360" y="1810512"/>
            <a:ext cx="4206240" cy="1097280"/>
          </a:xfrm>
          <a:prstGeom prst="rect">
            <a:avLst/>
          </a:prstGeom>
          <a:noFill/>
        </p:spPr>
        <p:txBody>
          <a:bodyPr wrap="square" lIns="0" rIns="0" tIns="0" bIns="0">
            <a:spAutoFit/>
          </a:bodyPr>
          <a:lstStyle/>
          <a:p>
            <a:pPr>
              <a:lnSpc>
                <a:spcPct val="110000"/>
              </a:lnSpc>
            </a:pPr>
            <a:r>
              <a:rPr sz="760" b="0">
                <a:solidFill>
                  <a:srgbClr val="262626"/>
                </a:solidFill>
                <a:latin typeface="Meiryo UI"/>
                <a:ea typeface="Meiryo UI"/>
              </a:rPr>
              <a:t>増えた資源が、従来の勝ちパターンで使われている。傾斜した宣伝・販促費の使い方はマス認知×棚×特売・値引きが中心のまま。AI・データ時代の勝ち方（エビデンス商談・Total Availability・B2B2C・AI推奨対応）が「型」として設計・言語化されていない ― 資源は新しい土俵に、戦術は古いままで流れ込む</a:t>
            </a:r>
          </a:p>
        </p:txBody>
      </p:sp>
      <p:sp>
        <p:nvSpPr>
          <p:cNvPr id="39" name="Rectangle 38"/>
          <p:cNvSpPr/>
          <p:nvPr/>
        </p:nvSpPr>
        <p:spPr>
          <a:xfrm>
            <a:off x="3840480" y="3063240"/>
            <a:ext cx="4480560" cy="1481328"/>
          </a:xfrm>
          <a:prstGeom prst="rect">
            <a:avLst/>
          </a:prstGeom>
          <a:solidFill>
            <a:srgbClr val="FFFFFF"/>
          </a:solidFill>
          <a:ln w="1651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3840480" y="3063240"/>
            <a:ext cx="82296" cy="1481328"/>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023360" y="3118104"/>
            <a:ext cx="4206240" cy="256032"/>
          </a:xfrm>
          <a:prstGeom prst="rect">
            <a:avLst/>
          </a:prstGeom>
          <a:noFill/>
        </p:spPr>
        <p:txBody>
          <a:bodyPr wrap="square" lIns="0" rIns="0" tIns="0" bIns="0">
            <a:spAutoFit/>
          </a:bodyPr>
          <a:lstStyle/>
          <a:p>
            <a:pPr>
              <a:lnSpc>
                <a:spcPct val="112000"/>
              </a:lnSpc>
            </a:pPr>
            <a:r>
              <a:rPr sz="980" b="1">
                <a:solidFill>
                  <a:srgbClr val="0F5E87"/>
                </a:solidFill>
                <a:latin typeface="Meiryo UI"/>
                <a:ea typeface="Meiryo UI"/>
              </a:rPr>
              <a:t>真因2 「武器が揃っていない」</a:t>
            </a:r>
          </a:p>
        </p:txBody>
      </p:sp>
      <p:sp>
        <p:nvSpPr>
          <p:cNvPr id="42" name="TextBox 41"/>
          <p:cNvSpPr txBox="1"/>
          <p:nvPr/>
        </p:nvSpPr>
        <p:spPr>
          <a:xfrm>
            <a:off x="4023360" y="3410712"/>
            <a:ext cx="4206240" cy="1097280"/>
          </a:xfrm>
          <a:prstGeom prst="rect">
            <a:avLst/>
          </a:prstGeom>
          <a:noFill/>
        </p:spPr>
        <p:txBody>
          <a:bodyPr wrap="square" lIns="0" rIns="0" tIns="0" bIns="0">
            <a:spAutoFit/>
          </a:bodyPr>
          <a:lstStyle/>
          <a:p>
            <a:pPr>
              <a:lnSpc>
                <a:spcPct val="110000"/>
              </a:lnSpc>
            </a:pPr>
            <a:r>
              <a:rPr sz="760" b="0">
                <a:solidFill>
                  <a:srgbClr val="262626"/>
                </a:solidFill>
                <a:latin typeface="Meiryo UI"/>
                <a:ea typeface="Meiryo UI"/>
              </a:rPr>
              <a:t>バイヤーが要求する「売れる根拠」（LTV予測・炭素効率）も、AIが要求する「読める情報」（属性データ・エビデンス）も、着手はあるが進捗が不十分で、商談・接点で使える形になっていない。営業が値引きに頼らざるを得ない ― 他に出せる球がない</a:t>
            </a:r>
          </a:p>
        </p:txBody>
      </p:sp>
      <p:sp>
        <p:nvSpPr>
          <p:cNvPr id="43" name="Rectangle 42"/>
          <p:cNvSpPr/>
          <p:nvPr/>
        </p:nvSpPr>
        <p:spPr>
          <a:xfrm>
            <a:off x="3840480" y="4663440"/>
            <a:ext cx="4480560" cy="1481328"/>
          </a:xfrm>
          <a:prstGeom prst="rect">
            <a:avLst/>
          </a:prstGeom>
          <a:solidFill>
            <a:srgbClr val="FFFFFF"/>
          </a:solidFill>
          <a:ln w="1651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3840480" y="4663440"/>
            <a:ext cx="82296" cy="148132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023360" y="4718303"/>
            <a:ext cx="4206240" cy="256032"/>
          </a:xfrm>
          <a:prstGeom prst="rect">
            <a:avLst/>
          </a:prstGeom>
          <a:noFill/>
        </p:spPr>
        <p:txBody>
          <a:bodyPr wrap="square" lIns="0" rIns="0" tIns="0" bIns="0">
            <a:spAutoFit/>
          </a:bodyPr>
          <a:lstStyle/>
          <a:p>
            <a:pPr>
              <a:lnSpc>
                <a:spcPct val="112000"/>
              </a:lnSpc>
            </a:pPr>
            <a:r>
              <a:rPr sz="980" b="1">
                <a:solidFill>
                  <a:srgbClr val="008D2E"/>
                </a:solidFill>
                <a:latin typeface="Meiryo UI"/>
                <a:ea typeface="Meiryo UI"/>
              </a:rPr>
              <a:t>真因3 「回路が回っていない」</a:t>
            </a:r>
          </a:p>
        </p:txBody>
      </p:sp>
      <p:sp>
        <p:nvSpPr>
          <p:cNvPr id="46" name="TextBox 45"/>
          <p:cNvSpPr txBox="1"/>
          <p:nvPr/>
        </p:nvSpPr>
        <p:spPr>
          <a:xfrm>
            <a:off x="4023360" y="5010912"/>
            <a:ext cx="4206240" cy="1097280"/>
          </a:xfrm>
          <a:prstGeom prst="rect">
            <a:avLst/>
          </a:prstGeom>
          <a:noFill/>
        </p:spPr>
        <p:txBody>
          <a:bodyPr wrap="square" lIns="0" rIns="0" tIns="0" bIns="0">
            <a:spAutoFit/>
          </a:bodyPr>
          <a:lstStyle/>
          <a:p>
            <a:pPr>
              <a:lnSpc>
                <a:spcPct val="110000"/>
              </a:lnSpc>
            </a:pPr>
            <a:r>
              <a:rPr sz="760" b="0">
                <a:solidFill>
                  <a:srgbClr val="262626"/>
                </a:solidFill>
                <a:latin typeface="Meiryo UI"/>
                <a:ea typeface="Meiryo UI"/>
              </a:rPr>
              <a:t>武器を作る時間は事務に食われ、試した施策は検証されず、成功しても隣に広がらない。単独営業（バタフライ型）の編成では、物流・環境・データを束ねた総力戦もできない ― 作る→試す→検証する→広げる、の回路が仕組みとして存在しない</a:t>
            </a:r>
          </a:p>
        </p:txBody>
      </p:sp>
      <p:cxnSp>
        <p:nvCxnSpPr>
          <p:cNvPr id="47" name="Connector 46"/>
          <p:cNvCxnSpPr/>
          <p:nvPr/>
        </p:nvCxnSpPr>
        <p:spPr>
          <a:xfrm flipV="1">
            <a:off x="3337560" y="2103120"/>
            <a:ext cx="502920" cy="45720"/>
          </a:xfrm>
          <a:prstGeom prst="line">
            <a:avLst/>
          </a:prstGeom>
          <a:ln w="2032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3337560" y="2514600"/>
            <a:ext cx="502920" cy="1051560"/>
          </a:xfrm>
          <a:prstGeom prst="line">
            <a:avLst/>
          </a:prstGeom>
          <a:ln w="2032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3337560" y="2651760"/>
            <a:ext cx="502920" cy="1554480"/>
          </a:xfrm>
          <a:prstGeom prst="line">
            <a:avLst/>
          </a:prstGeom>
          <a:ln w="2032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3337560" y="4663440"/>
            <a:ext cx="502920" cy="457200"/>
          </a:xfrm>
          <a:prstGeom prst="line">
            <a:avLst/>
          </a:prstGeom>
          <a:ln w="20320">
            <a:solidFill>
              <a:srgbClr val="595959"/>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a:off x="8321040" y="2286000"/>
            <a:ext cx="502920" cy="1371600"/>
          </a:xfrm>
          <a:prstGeom prst="line">
            <a:avLst/>
          </a:prstGeom>
          <a:ln w="2032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a:off x="8321040" y="2651760"/>
            <a:ext cx="502920" cy="2377440"/>
          </a:xfrm>
          <a:prstGeom prst="line">
            <a:avLst/>
          </a:prstGeom>
          <a:ln w="2032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a:off x="8321040" y="1920240"/>
            <a:ext cx="502920" cy="182880"/>
          </a:xfrm>
          <a:prstGeom prst="line">
            <a:avLst/>
          </a:prstGeom>
          <a:ln w="20320">
            <a:solidFill>
              <a:srgbClr val="595959"/>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a:off x="8321040" y="4709160"/>
            <a:ext cx="502920" cy="640080"/>
          </a:xfrm>
          <a:prstGeom prst="line">
            <a:avLst/>
          </a:prstGeom>
          <a:ln w="2032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8321040" y="3977639"/>
            <a:ext cx="502920" cy="320041"/>
          </a:xfrm>
          <a:prstGeom prst="line">
            <a:avLst/>
          </a:prstGeom>
          <a:ln w="20320">
            <a:solidFill>
              <a:srgbClr val="595959"/>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sp>
        <p:nvSpPr>
          <p:cNvPr id="56" name="Rectangle 55"/>
          <p:cNvSpPr/>
          <p:nvPr/>
        </p:nvSpPr>
        <p:spPr>
          <a:xfrm>
            <a:off x="320040" y="6144768"/>
            <a:ext cx="11521440" cy="420624"/>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57200" y="6181344"/>
            <a:ext cx="11292840" cy="347472"/>
          </a:xfrm>
          <a:prstGeom prst="rect">
            <a:avLst/>
          </a:prstGeom>
          <a:noFill/>
        </p:spPr>
        <p:txBody>
          <a:bodyPr wrap="square" lIns="0" rIns="0" tIns="0" bIns="0">
            <a:spAutoFit/>
          </a:bodyPr>
          <a:lstStyle/>
          <a:p>
            <a:pPr>
              <a:lnSpc>
                <a:spcPct val="110000"/>
              </a:lnSpc>
            </a:pPr>
            <a:r>
              <a:rPr sz="860" b="1">
                <a:solidFill>
                  <a:srgbClr val="008D2E"/>
                </a:solidFill>
                <a:latin typeface="Meiryo UI"/>
                <a:ea typeface="Meiryo UI"/>
              </a:rPr>
              <a:t>蓋然性のテスト：</a:t>
            </a:r>
            <a:r>
              <a:rPr sz="819" b="0">
                <a:solidFill>
                  <a:srgbClr val="262626"/>
                </a:solidFill>
                <a:latin typeface="Meiryo UI"/>
                <a:ea typeface="Meiryo UI"/>
              </a:rPr>
              <a:t>3つが解ければ4つのギャップはすべて閉じる。逆にどれか1つでも残せば再発する ― 型がなければ増えた資源は従来のやり方を拡大再生産し、型があっても武器がなければ絵に描いた餅、武器があっても回さなければ一度きりで終わる。</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txBody>
          <a:bodyPr/>
          <a:p/>
        </p:txBody>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txBody>
          <a:bodyPr/>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28016"/>
            <a:ext cx="11338560" cy="365760"/>
          </a:xfrm>
          <a:prstGeom prst="rect">
            <a:avLst/>
          </a:prstGeom>
          <a:noFill/>
        </p:spPr>
        <p:txBody>
          <a:bodyPr wrap="square" lIns="0" rIns="0" tIns="0" bIns="0">
            <a:spAutoFit/>
          </a:bodyPr>
          <a:lstStyle/>
          <a:p>
            <a:pPr>
              <a:lnSpc>
                <a:spcPct val="112000"/>
              </a:lnSpc>
            </a:pPr>
            <a:r>
              <a:rPr sz="1700" b="1">
                <a:solidFill>
                  <a:srgbClr val="262626"/>
                </a:solidFill>
                <a:latin typeface="Meiryo UI"/>
                <a:ea typeface="Meiryo UI"/>
              </a:rPr>
              <a:t>真因と解決策 ―「型を定める・武器を揃える・回路を回す」に1対1で答え、8施策に接続する</a:t>
            </a:r>
          </a:p>
        </p:txBody>
      </p:sp>
      <p:sp>
        <p:nvSpPr>
          <p:cNvPr id="11" name="Rectangle 10"/>
          <p:cNvSpPr/>
          <p:nvPr/>
        </p:nvSpPr>
        <p:spPr>
          <a:xfrm>
            <a:off x="320040" y="56692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640080"/>
            <a:ext cx="256032" cy="274320"/>
          </a:xfrm>
          <a:prstGeom prst="rect">
            <a:avLst/>
          </a:prstGeom>
          <a:noFill/>
        </p:spPr>
        <p:txBody>
          <a:bodyPr wrap="square" lIns="0" rIns="0" tIns="0" bIns="0">
            <a:spAutoFit/>
          </a:bodyPr>
          <a:lstStyle/>
          <a:p>
            <a:pPr>
              <a:lnSpc>
                <a:spcPct val="112000"/>
              </a:lnSpc>
            </a:pPr>
            <a:r>
              <a:rPr sz="1000" b="1">
                <a:solidFill>
                  <a:srgbClr val="008D2E"/>
                </a:solidFill>
                <a:latin typeface="Meiryo UI"/>
                <a:ea typeface="Meiryo UI"/>
              </a:rPr>
              <a:t>■</a:t>
            </a:r>
          </a:p>
        </p:txBody>
      </p:sp>
      <p:sp>
        <p:nvSpPr>
          <p:cNvPr id="13" name="TextBox 12"/>
          <p:cNvSpPr txBox="1"/>
          <p:nvPr/>
        </p:nvSpPr>
        <p:spPr>
          <a:xfrm>
            <a:off x="603504" y="621792"/>
            <a:ext cx="11201400" cy="502920"/>
          </a:xfrm>
          <a:prstGeom prst="rect">
            <a:avLst/>
          </a:prstGeom>
          <a:noFill/>
        </p:spPr>
        <p:txBody>
          <a:bodyPr wrap="square" lIns="0" rIns="0" tIns="0" bIns="0">
            <a:spAutoFit/>
          </a:bodyPr>
          <a:lstStyle/>
          <a:p>
            <a:pPr>
              <a:lnSpc>
                <a:spcPct val="115000"/>
              </a:lnSpc>
            </a:pPr>
            <a:r>
              <a:rPr sz="1050" b="1">
                <a:solidFill>
                  <a:srgbClr val="262626"/>
                </a:solidFill>
                <a:latin typeface="Meiryo UI"/>
                <a:ea typeface="Meiryo UI"/>
              </a:rPr>
              <a:t>解決策は真因の裏返し。★＝各テーマの起点となるセンターピン施策。中でもB1「投資ROI可視化」は、検証の目として全ての回路の起点になる</a:t>
            </a:r>
          </a:p>
        </p:txBody>
      </p:sp>
      <p:sp>
        <p:nvSpPr>
          <p:cNvPr id="14" name="Rectangle 13"/>
          <p:cNvSpPr/>
          <p:nvPr/>
        </p:nvSpPr>
        <p:spPr>
          <a:xfrm>
            <a:off x="320040" y="1371600"/>
            <a:ext cx="1097280" cy="15361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84048" y="1828800"/>
            <a:ext cx="969264" cy="603504"/>
          </a:xfrm>
          <a:prstGeom prst="rect">
            <a:avLst/>
          </a:prstGeom>
          <a:noFill/>
        </p:spPr>
        <p:txBody>
          <a:bodyPr wrap="square" lIns="0" rIns="0" tIns="0" bIns="0">
            <a:spAutoFit/>
          </a:bodyPr>
          <a:lstStyle/>
          <a:p>
            <a:pPr>
              <a:lnSpc>
                <a:spcPct val="110000"/>
              </a:lnSpc>
            </a:pPr>
            <a:r>
              <a:rPr sz="1000" b="1">
                <a:solidFill>
                  <a:srgbClr val="FFFFFF"/>
                </a:solidFill>
                <a:latin typeface="Meiryo UI"/>
                <a:ea typeface="Meiryo UI"/>
              </a:rPr>
              <a:t>真因1
型</a:t>
            </a:r>
          </a:p>
        </p:txBody>
      </p:sp>
      <p:sp>
        <p:nvSpPr>
          <p:cNvPr id="16" name="TextBox 15"/>
          <p:cNvSpPr txBox="1"/>
          <p:nvPr/>
        </p:nvSpPr>
        <p:spPr>
          <a:xfrm>
            <a:off x="1444752" y="2011680"/>
            <a:ext cx="256032" cy="274320"/>
          </a:xfrm>
          <a:prstGeom prst="rect">
            <a:avLst/>
          </a:prstGeom>
          <a:noFill/>
        </p:spPr>
        <p:txBody>
          <a:bodyPr wrap="square" lIns="0" rIns="0" tIns="0" bIns="0">
            <a:spAutoFit/>
          </a:bodyPr>
          <a:lstStyle/>
          <a:p>
            <a:pPr>
              <a:lnSpc>
                <a:spcPct val="112000"/>
              </a:lnSpc>
            </a:pPr>
            <a:r>
              <a:rPr sz="1200" b="1">
                <a:solidFill>
                  <a:srgbClr val="595959"/>
                </a:solidFill>
                <a:latin typeface="Meiryo UI"/>
                <a:ea typeface="Meiryo UI"/>
              </a:rPr>
              <a:t>→</a:t>
            </a:r>
          </a:p>
        </p:txBody>
      </p:sp>
      <p:sp>
        <p:nvSpPr>
          <p:cNvPr id="17" name="Rectangle 16"/>
          <p:cNvSpPr/>
          <p:nvPr/>
        </p:nvSpPr>
        <p:spPr>
          <a:xfrm>
            <a:off x="1719072" y="1371600"/>
            <a:ext cx="6537960" cy="1536192"/>
          </a:xfrm>
          <a:prstGeom prst="rect">
            <a:avLst/>
          </a:prstGeom>
          <a:solidFill>
            <a:srgbClr val="FFFFFF"/>
          </a:solidFill>
          <a:ln w="1397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847088" y="1435608"/>
            <a:ext cx="6309360" cy="274320"/>
          </a:xfrm>
          <a:prstGeom prst="rect">
            <a:avLst/>
          </a:prstGeom>
          <a:noFill/>
        </p:spPr>
        <p:txBody>
          <a:bodyPr wrap="square" lIns="0" rIns="0" tIns="0" bIns="0">
            <a:spAutoFit/>
          </a:bodyPr>
          <a:lstStyle/>
          <a:p>
            <a:pPr>
              <a:lnSpc>
                <a:spcPct val="112000"/>
              </a:lnSpc>
            </a:pPr>
            <a:r>
              <a:rPr sz="930" b="1">
                <a:solidFill>
                  <a:srgbClr val="C8102E"/>
                </a:solidFill>
                <a:latin typeface="Meiryo UI"/>
                <a:ea typeface="Meiryo UI"/>
              </a:rPr>
              <a:t>解決1 「型を定める」 ― 傾斜した資源の、新しい使い方を設計する（追加予算不要）</a:t>
            </a:r>
          </a:p>
        </p:txBody>
      </p:sp>
      <p:sp>
        <p:nvSpPr>
          <p:cNvPr id="19" name="TextBox 18"/>
          <p:cNvSpPr txBox="1"/>
          <p:nvPr/>
        </p:nvSpPr>
        <p:spPr>
          <a:xfrm>
            <a:off x="1847088" y="1755648"/>
            <a:ext cx="6309360" cy="1097280"/>
          </a:xfrm>
          <a:prstGeom prst="rect">
            <a:avLst/>
          </a:prstGeom>
          <a:noFill/>
        </p:spPr>
        <p:txBody>
          <a:bodyPr wrap="square" lIns="0" rIns="0" tIns="0" bIns="0">
            <a:spAutoFit/>
          </a:bodyPr>
          <a:lstStyle/>
          <a:p>
            <a:pPr>
              <a:lnSpc>
                <a:spcPct val="113000"/>
              </a:lnSpc>
            </a:pPr>
            <a:r>
              <a:rPr sz="790" b="0">
                <a:solidFill>
                  <a:srgbClr val="262626"/>
                </a:solidFill>
                <a:latin typeface="Meiryo UI"/>
                <a:ea typeface="Meiryo UI"/>
              </a:rPr>
              <a:t>①市場の型：オーラルケアを4分割（補充・悩み・予防・口腔機能）し分割別に勝ち方とKPIを定義　②接点の型：販促の中身をエビデンス商談・診断型売場・B2B2C・AI推奨対応へ組み替え　③商談の型：「値引き70＋施策30＋成果連動」を標準パッケージに</a:t>
            </a:r>
          </a:p>
        </p:txBody>
      </p:sp>
      <p:sp>
        <p:nvSpPr>
          <p:cNvPr id="20" name="Rectangle 19"/>
          <p:cNvSpPr/>
          <p:nvPr/>
        </p:nvSpPr>
        <p:spPr>
          <a:xfrm>
            <a:off x="8366760" y="1371600"/>
            <a:ext cx="3474720" cy="15361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76488" y="1417320"/>
            <a:ext cx="3291840" cy="219456"/>
          </a:xfrm>
          <a:prstGeom prst="rect">
            <a:avLst/>
          </a:prstGeom>
          <a:noFill/>
        </p:spPr>
        <p:txBody>
          <a:bodyPr wrap="square" lIns="0" rIns="0" tIns="0" bIns="0">
            <a:spAutoFit/>
          </a:bodyPr>
          <a:lstStyle/>
          <a:p>
            <a:pPr>
              <a:lnSpc>
                <a:spcPct val="112000"/>
              </a:lnSpc>
            </a:pPr>
            <a:r>
              <a:rPr sz="740" b="1">
                <a:solidFill>
                  <a:srgbClr val="595959"/>
                </a:solidFill>
                <a:latin typeface="Meiryo UI"/>
                <a:ea typeface="Meiryo UI"/>
              </a:rPr>
              <a:t>対応する重点施策</a:t>
            </a:r>
          </a:p>
        </p:txBody>
      </p:sp>
      <p:sp>
        <p:nvSpPr>
          <p:cNvPr id="22" name="Rectangle 21"/>
          <p:cNvSpPr/>
          <p:nvPr/>
        </p:nvSpPr>
        <p:spPr>
          <a:xfrm>
            <a:off x="8476488" y="1664208"/>
            <a:ext cx="475488" cy="2743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494776" y="1700784"/>
            <a:ext cx="43891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C2</a:t>
            </a:r>
          </a:p>
        </p:txBody>
      </p:sp>
      <p:sp>
        <p:nvSpPr>
          <p:cNvPr id="24" name="TextBox 23"/>
          <p:cNvSpPr txBox="1"/>
          <p:nvPr/>
        </p:nvSpPr>
        <p:spPr>
          <a:xfrm>
            <a:off x="9025128" y="1700784"/>
            <a:ext cx="2743200" cy="237744"/>
          </a:xfrm>
          <a:prstGeom prst="rect">
            <a:avLst/>
          </a:prstGeom>
          <a:noFill/>
        </p:spPr>
        <p:txBody>
          <a:bodyPr wrap="square" lIns="0" rIns="0" tIns="0" bIns="0">
            <a:spAutoFit/>
          </a:bodyPr>
          <a:lstStyle/>
          <a:p>
            <a:pPr>
              <a:lnSpc>
                <a:spcPct val="112000"/>
              </a:lnSpc>
            </a:pPr>
            <a:r>
              <a:rPr sz="780" b="0">
                <a:solidFill>
                  <a:srgbClr val="262626"/>
                </a:solidFill>
                <a:latin typeface="Meiryo UI"/>
                <a:ea typeface="Meiryo UI"/>
              </a:rPr>
              <a:t>ロジック提案の標準化</a:t>
            </a:r>
          </a:p>
        </p:txBody>
      </p:sp>
      <p:sp>
        <p:nvSpPr>
          <p:cNvPr id="25" name="Rectangle 24"/>
          <p:cNvSpPr/>
          <p:nvPr/>
        </p:nvSpPr>
        <p:spPr>
          <a:xfrm>
            <a:off x="8476488" y="1993392"/>
            <a:ext cx="475488" cy="2743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494776" y="2029968"/>
            <a:ext cx="43891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B2</a:t>
            </a:r>
          </a:p>
        </p:txBody>
      </p:sp>
      <p:sp>
        <p:nvSpPr>
          <p:cNvPr id="27" name="TextBox 26"/>
          <p:cNvSpPr txBox="1"/>
          <p:nvPr/>
        </p:nvSpPr>
        <p:spPr>
          <a:xfrm>
            <a:off x="9025128" y="2029968"/>
            <a:ext cx="2743200" cy="237744"/>
          </a:xfrm>
          <a:prstGeom prst="rect">
            <a:avLst/>
          </a:prstGeom>
          <a:noFill/>
        </p:spPr>
        <p:txBody>
          <a:bodyPr wrap="square" lIns="0" rIns="0" tIns="0" bIns="0">
            <a:spAutoFit/>
          </a:bodyPr>
          <a:lstStyle/>
          <a:p>
            <a:pPr>
              <a:lnSpc>
                <a:spcPct val="112000"/>
              </a:lnSpc>
            </a:pPr>
            <a:r>
              <a:rPr sz="780" b="0">
                <a:solidFill>
                  <a:srgbClr val="262626"/>
                </a:solidFill>
                <a:latin typeface="Meiryo UI"/>
                <a:ea typeface="Meiryo UI"/>
              </a:rPr>
              <a:t>リテールメディア投資の内製化</a:t>
            </a:r>
          </a:p>
        </p:txBody>
      </p:sp>
      <p:sp>
        <p:nvSpPr>
          <p:cNvPr id="28" name="Rectangle 27"/>
          <p:cNvSpPr/>
          <p:nvPr/>
        </p:nvSpPr>
        <p:spPr>
          <a:xfrm>
            <a:off x="320040" y="3017520"/>
            <a:ext cx="1097280" cy="1536192"/>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84048" y="3474720"/>
            <a:ext cx="969264" cy="603504"/>
          </a:xfrm>
          <a:prstGeom prst="rect">
            <a:avLst/>
          </a:prstGeom>
          <a:noFill/>
        </p:spPr>
        <p:txBody>
          <a:bodyPr wrap="square" lIns="0" rIns="0" tIns="0" bIns="0">
            <a:spAutoFit/>
          </a:bodyPr>
          <a:lstStyle/>
          <a:p>
            <a:pPr>
              <a:lnSpc>
                <a:spcPct val="110000"/>
              </a:lnSpc>
            </a:pPr>
            <a:r>
              <a:rPr sz="1000" b="1">
                <a:solidFill>
                  <a:srgbClr val="FFFFFF"/>
                </a:solidFill>
                <a:latin typeface="Meiryo UI"/>
                <a:ea typeface="Meiryo UI"/>
              </a:rPr>
              <a:t>真因2
武器</a:t>
            </a:r>
          </a:p>
        </p:txBody>
      </p:sp>
      <p:sp>
        <p:nvSpPr>
          <p:cNvPr id="30" name="TextBox 29"/>
          <p:cNvSpPr txBox="1"/>
          <p:nvPr/>
        </p:nvSpPr>
        <p:spPr>
          <a:xfrm>
            <a:off x="1444752" y="3657600"/>
            <a:ext cx="256032" cy="274320"/>
          </a:xfrm>
          <a:prstGeom prst="rect">
            <a:avLst/>
          </a:prstGeom>
          <a:noFill/>
        </p:spPr>
        <p:txBody>
          <a:bodyPr wrap="square" lIns="0" rIns="0" tIns="0" bIns="0">
            <a:spAutoFit/>
          </a:bodyPr>
          <a:lstStyle/>
          <a:p>
            <a:pPr>
              <a:lnSpc>
                <a:spcPct val="112000"/>
              </a:lnSpc>
            </a:pPr>
            <a:r>
              <a:rPr sz="1200" b="1">
                <a:solidFill>
                  <a:srgbClr val="595959"/>
                </a:solidFill>
                <a:latin typeface="Meiryo UI"/>
                <a:ea typeface="Meiryo UI"/>
              </a:rPr>
              <a:t>→</a:t>
            </a:r>
          </a:p>
        </p:txBody>
      </p:sp>
      <p:sp>
        <p:nvSpPr>
          <p:cNvPr id="31" name="Rectangle 30"/>
          <p:cNvSpPr/>
          <p:nvPr/>
        </p:nvSpPr>
        <p:spPr>
          <a:xfrm>
            <a:off x="1719072" y="3017520"/>
            <a:ext cx="6537960" cy="1536192"/>
          </a:xfrm>
          <a:prstGeom prst="rect">
            <a:avLst/>
          </a:prstGeom>
          <a:solidFill>
            <a:srgbClr val="FFFFFF"/>
          </a:solidFill>
          <a:ln w="1397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847088" y="3081527"/>
            <a:ext cx="6309360" cy="274320"/>
          </a:xfrm>
          <a:prstGeom prst="rect">
            <a:avLst/>
          </a:prstGeom>
          <a:noFill/>
        </p:spPr>
        <p:txBody>
          <a:bodyPr wrap="square" lIns="0" rIns="0" tIns="0" bIns="0">
            <a:spAutoFit/>
          </a:bodyPr>
          <a:lstStyle/>
          <a:p>
            <a:pPr>
              <a:lnSpc>
                <a:spcPct val="112000"/>
              </a:lnSpc>
            </a:pPr>
            <a:r>
              <a:rPr sz="930" b="1">
                <a:solidFill>
                  <a:srgbClr val="0F5E87"/>
                </a:solidFill>
                <a:latin typeface="Meiryo UI"/>
                <a:ea typeface="Meiryo UI"/>
              </a:rPr>
              <a:t>解決2 「武器を揃える」 ― 着手済みの整備を、商談・接点で使える形まで到達させる</a:t>
            </a:r>
          </a:p>
        </p:txBody>
      </p:sp>
      <p:sp>
        <p:nvSpPr>
          <p:cNvPr id="33" name="TextBox 32"/>
          <p:cNvSpPr txBox="1"/>
          <p:nvPr/>
        </p:nvSpPr>
        <p:spPr>
          <a:xfrm>
            <a:off x="1847088" y="3401568"/>
            <a:ext cx="6309360" cy="1097280"/>
          </a:xfrm>
          <a:prstGeom prst="rect">
            <a:avLst/>
          </a:prstGeom>
          <a:noFill/>
        </p:spPr>
        <p:txBody>
          <a:bodyPr wrap="square" lIns="0" rIns="0" tIns="0" bIns="0">
            <a:spAutoFit/>
          </a:bodyPr>
          <a:lstStyle/>
          <a:p>
            <a:pPr>
              <a:lnSpc>
                <a:spcPct val="113000"/>
              </a:lnSpc>
            </a:pPr>
            <a:r>
              <a:rPr sz="790" b="0">
                <a:solidFill>
                  <a:srgbClr val="262626"/>
                </a:solidFill>
                <a:latin typeface="Meiryo UI"/>
                <a:ea typeface="Meiryo UI"/>
              </a:rPr>
              <a:t>バイヤー向け＝臨床データのLTV・炭素効率変換／AI向け＝製品属性データの構造化・API化（自動補充のホワイトリスト入り）／接点の武器＝学校・自治体ルートのデジタル化・専門家推奨エビデンス ― 「作った」でなく「商談で使われた」を完了条件にする</a:t>
            </a:r>
          </a:p>
        </p:txBody>
      </p:sp>
      <p:sp>
        <p:nvSpPr>
          <p:cNvPr id="34" name="Rectangle 33"/>
          <p:cNvSpPr/>
          <p:nvPr/>
        </p:nvSpPr>
        <p:spPr>
          <a:xfrm>
            <a:off x="8366760" y="3017520"/>
            <a:ext cx="3474720" cy="15361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476488" y="3063239"/>
            <a:ext cx="3291840" cy="219456"/>
          </a:xfrm>
          <a:prstGeom prst="rect">
            <a:avLst/>
          </a:prstGeom>
          <a:noFill/>
        </p:spPr>
        <p:txBody>
          <a:bodyPr wrap="square" lIns="0" rIns="0" tIns="0" bIns="0">
            <a:spAutoFit/>
          </a:bodyPr>
          <a:lstStyle/>
          <a:p>
            <a:pPr>
              <a:lnSpc>
                <a:spcPct val="112000"/>
              </a:lnSpc>
            </a:pPr>
            <a:r>
              <a:rPr sz="740" b="1">
                <a:solidFill>
                  <a:srgbClr val="595959"/>
                </a:solidFill>
                <a:latin typeface="Meiryo UI"/>
                <a:ea typeface="Meiryo UI"/>
              </a:rPr>
              <a:t>対応する重点施策</a:t>
            </a:r>
          </a:p>
        </p:txBody>
      </p:sp>
      <p:sp>
        <p:nvSpPr>
          <p:cNvPr id="36" name="Rectangle 35"/>
          <p:cNvSpPr/>
          <p:nvPr/>
        </p:nvSpPr>
        <p:spPr>
          <a:xfrm>
            <a:off x="8476488" y="3310127"/>
            <a:ext cx="475488" cy="274320"/>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494776" y="3346703"/>
            <a:ext cx="43891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C1★</a:t>
            </a:r>
          </a:p>
        </p:txBody>
      </p:sp>
      <p:sp>
        <p:nvSpPr>
          <p:cNvPr id="38" name="TextBox 37"/>
          <p:cNvSpPr txBox="1"/>
          <p:nvPr/>
        </p:nvSpPr>
        <p:spPr>
          <a:xfrm>
            <a:off x="9025128" y="3346703"/>
            <a:ext cx="2743200" cy="237744"/>
          </a:xfrm>
          <a:prstGeom prst="rect">
            <a:avLst/>
          </a:prstGeom>
          <a:noFill/>
        </p:spPr>
        <p:txBody>
          <a:bodyPr wrap="square" lIns="0" rIns="0" tIns="0" bIns="0">
            <a:spAutoFit/>
          </a:bodyPr>
          <a:lstStyle/>
          <a:p>
            <a:pPr>
              <a:lnSpc>
                <a:spcPct val="112000"/>
              </a:lnSpc>
            </a:pPr>
            <a:r>
              <a:rPr sz="780" b="1">
                <a:solidFill>
                  <a:srgbClr val="262626"/>
                </a:solidFill>
                <a:latin typeface="Meiryo UI"/>
                <a:ea typeface="Meiryo UI"/>
              </a:rPr>
              <a:t>臨床データのLTV/炭素効率変換</a:t>
            </a:r>
          </a:p>
        </p:txBody>
      </p:sp>
      <p:sp>
        <p:nvSpPr>
          <p:cNvPr id="39" name="Rectangle 38"/>
          <p:cNvSpPr/>
          <p:nvPr/>
        </p:nvSpPr>
        <p:spPr>
          <a:xfrm>
            <a:off x="8476488" y="3639311"/>
            <a:ext cx="475488" cy="274320"/>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494776" y="3675887"/>
            <a:ext cx="43891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A1★</a:t>
            </a:r>
          </a:p>
        </p:txBody>
      </p:sp>
      <p:sp>
        <p:nvSpPr>
          <p:cNvPr id="41" name="TextBox 40"/>
          <p:cNvSpPr txBox="1"/>
          <p:nvPr/>
        </p:nvSpPr>
        <p:spPr>
          <a:xfrm>
            <a:off x="9025128" y="3675887"/>
            <a:ext cx="2743200" cy="237744"/>
          </a:xfrm>
          <a:prstGeom prst="rect">
            <a:avLst/>
          </a:prstGeom>
          <a:noFill/>
        </p:spPr>
        <p:txBody>
          <a:bodyPr wrap="square" lIns="0" rIns="0" tIns="0" bIns="0">
            <a:spAutoFit/>
          </a:bodyPr>
          <a:lstStyle/>
          <a:p>
            <a:pPr>
              <a:lnSpc>
                <a:spcPct val="112000"/>
              </a:lnSpc>
            </a:pPr>
            <a:r>
              <a:rPr sz="780" b="1">
                <a:solidFill>
                  <a:srgbClr val="262626"/>
                </a:solidFill>
                <a:latin typeface="Meiryo UI"/>
                <a:ea typeface="Meiryo UI"/>
              </a:rPr>
              <a:t>属性データの構造化・API化</a:t>
            </a:r>
          </a:p>
        </p:txBody>
      </p:sp>
      <p:sp>
        <p:nvSpPr>
          <p:cNvPr id="42" name="Rectangle 41"/>
          <p:cNvSpPr/>
          <p:nvPr/>
        </p:nvSpPr>
        <p:spPr>
          <a:xfrm>
            <a:off x="8476488" y="3968496"/>
            <a:ext cx="475488" cy="274320"/>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494776" y="4005072"/>
            <a:ext cx="43891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A2</a:t>
            </a:r>
          </a:p>
        </p:txBody>
      </p:sp>
      <p:sp>
        <p:nvSpPr>
          <p:cNvPr id="44" name="TextBox 43"/>
          <p:cNvSpPr txBox="1"/>
          <p:nvPr/>
        </p:nvSpPr>
        <p:spPr>
          <a:xfrm>
            <a:off x="9025128" y="4005072"/>
            <a:ext cx="2743200" cy="237744"/>
          </a:xfrm>
          <a:prstGeom prst="rect">
            <a:avLst/>
          </a:prstGeom>
          <a:noFill/>
        </p:spPr>
        <p:txBody>
          <a:bodyPr wrap="square" lIns="0" rIns="0" tIns="0" bIns="0">
            <a:spAutoFit/>
          </a:bodyPr>
          <a:lstStyle/>
          <a:p>
            <a:pPr>
              <a:lnSpc>
                <a:spcPct val="112000"/>
              </a:lnSpc>
            </a:pPr>
            <a:r>
              <a:rPr sz="780" b="0">
                <a:solidFill>
                  <a:srgbClr val="262626"/>
                </a:solidFill>
                <a:latin typeface="Meiryo UI"/>
                <a:ea typeface="Meiryo UI"/>
              </a:rPr>
              <a:t>学校・自治体ルートのデジタル化</a:t>
            </a:r>
          </a:p>
        </p:txBody>
      </p:sp>
      <p:sp>
        <p:nvSpPr>
          <p:cNvPr id="45" name="Rectangle 44"/>
          <p:cNvSpPr/>
          <p:nvPr/>
        </p:nvSpPr>
        <p:spPr>
          <a:xfrm>
            <a:off x="320040" y="4663440"/>
            <a:ext cx="1097280" cy="1536192"/>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84048" y="5120640"/>
            <a:ext cx="969264" cy="603504"/>
          </a:xfrm>
          <a:prstGeom prst="rect">
            <a:avLst/>
          </a:prstGeom>
          <a:noFill/>
        </p:spPr>
        <p:txBody>
          <a:bodyPr wrap="square" lIns="0" rIns="0" tIns="0" bIns="0">
            <a:spAutoFit/>
          </a:bodyPr>
          <a:lstStyle/>
          <a:p>
            <a:pPr>
              <a:lnSpc>
                <a:spcPct val="110000"/>
              </a:lnSpc>
            </a:pPr>
            <a:r>
              <a:rPr sz="1000" b="1">
                <a:solidFill>
                  <a:srgbClr val="FFFFFF"/>
                </a:solidFill>
                <a:latin typeface="Meiryo UI"/>
                <a:ea typeface="Meiryo UI"/>
              </a:rPr>
              <a:t>真因3
回路</a:t>
            </a:r>
          </a:p>
        </p:txBody>
      </p:sp>
      <p:sp>
        <p:nvSpPr>
          <p:cNvPr id="47" name="TextBox 46"/>
          <p:cNvSpPr txBox="1"/>
          <p:nvPr/>
        </p:nvSpPr>
        <p:spPr>
          <a:xfrm>
            <a:off x="1444752" y="5303520"/>
            <a:ext cx="256032" cy="274320"/>
          </a:xfrm>
          <a:prstGeom prst="rect">
            <a:avLst/>
          </a:prstGeom>
          <a:noFill/>
        </p:spPr>
        <p:txBody>
          <a:bodyPr wrap="square" lIns="0" rIns="0" tIns="0" bIns="0">
            <a:spAutoFit/>
          </a:bodyPr>
          <a:lstStyle/>
          <a:p>
            <a:pPr>
              <a:lnSpc>
                <a:spcPct val="112000"/>
              </a:lnSpc>
            </a:pPr>
            <a:r>
              <a:rPr sz="1200" b="1">
                <a:solidFill>
                  <a:srgbClr val="595959"/>
                </a:solidFill>
                <a:latin typeface="Meiryo UI"/>
                <a:ea typeface="Meiryo UI"/>
              </a:rPr>
              <a:t>→</a:t>
            </a:r>
          </a:p>
        </p:txBody>
      </p:sp>
      <p:sp>
        <p:nvSpPr>
          <p:cNvPr id="48" name="Rectangle 47"/>
          <p:cNvSpPr/>
          <p:nvPr/>
        </p:nvSpPr>
        <p:spPr>
          <a:xfrm>
            <a:off x="1719072" y="4663440"/>
            <a:ext cx="6537960" cy="1536192"/>
          </a:xfrm>
          <a:prstGeom prst="rect">
            <a:avLst/>
          </a:prstGeom>
          <a:solidFill>
            <a:srgbClr val="FFFFFF"/>
          </a:solidFill>
          <a:ln w="1397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847088" y="4727448"/>
            <a:ext cx="6309360" cy="274320"/>
          </a:xfrm>
          <a:prstGeom prst="rect">
            <a:avLst/>
          </a:prstGeom>
          <a:noFill/>
        </p:spPr>
        <p:txBody>
          <a:bodyPr wrap="square" lIns="0" rIns="0" tIns="0" bIns="0">
            <a:spAutoFit/>
          </a:bodyPr>
          <a:lstStyle/>
          <a:p>
            <a:pPr>
              <a:lnSpc>
                <a:spcPct val="112000"/>
              </a:lnSpc>
            </a:pPr>
            <a:r>
              <a:rPr sz="930" b="1">
                <a:solidFill>
                  <a:srgbClr val="008D2E"/>
                </a:solidFill>
                <a:latin typeface="Meiryo UI"/>
                <a:ea typeface="Meiryo UI"/>
              </a:rPr>
              <a:t>解決3 「回路を回す」 ― 作る→試す→検証する→広げる、を仕組みにする</a:t>
            </a:r>
          </a:p>
        </p:txBody>
      </p:sp>
      <p:sp>
        <p:nvSpPr>
          <p:cNvPr id="50" name="TextBox 49"/>
          <p:cNvSpPr txBox="1"/>
          <p:nvPr/>
        </p:nvSpPr>
        <p:spPr>
          <a:xfrm>
            <a:off x="1847088" y="5047488"/>
            <a:ext cx="6309360" cy="1097280"/>
          </a:xfrm>
          <a:prstGeom prst="rect">
            <a:avLst/>
          </a:prstGeom>
          <a:noFill/>
        </p:spPr>
        <p:txBody>
          <a:bodyPr wrap="square" lIns="0" rIns="0" tIns="0" bIns="0">
            <a:spAutoFit/>
          </a:bodyPr>
          <a:lstStyle/>
          <a:p>
            <a:pPr>
              <a:lnSpc>
                <a:spcPct val="113000"/>
              </a:lnSpc>
            </a:pPr>
            <a:r>
              <a:rPr sz="790" b="0">
                <a:solidFill>
                  <a:srgbClr val="262626"/>
                </a:solidFill>
                <a:latin typeface="Meiryo UI"/>
                <a:ea typeface="Meiryo UI"/>
              </a:rPr>
              <a:t>検証の目＝投資ROI可視化基盤（MMM×DCR）が全ての起点：投資と店頭売上の因果を可視化し、成果をGCPに還元してモデルを自動改善／時間＝Input業務ゼロ化／編成＝バタフライ型からダイヤモンド型（組織対組織JBP）へ ― 重点1小売×オーラルで実証→手順書化→展開</a:t>
            </a:r>
          </a:p>
        </p:txBody>
      </p:sp>
      <p:sp>
        <p:nvSpPr>
          <p:cNvPr id="51" name="Rectangle 50"/>
          <p:cNvSpPr/>
          <p:nvPr/>
        </p:nvSpPr>
        <p:spPr>
          <a:xfrm>
            <a:off x="8366760" y="4663440"/>
            <a:ext cx="3474720" cy="15361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476488" y="4709159"/>
            <a:ext cx="3291840" cy="219456"/>
          </a:xfrm>
          <a:prstGeom prst="rect">
            <a:avLst/>
          </a:prstGeom>
          <a:noFill/>
        </p:spPr>
        <p:txBody>
          <a:bodyPr wrap="square" lIns="0" rIns="0" tIns="0" bIns="0">
            <a:spAutoFit/>
          </a:bodyPr>
          <a:lstStyle/>
          <a:p>
            <a:pPr>
              <a:lnSpc>
                <a:spcPct val="112000"/>
              </a:lnSpc>
            </a:pPr>
            <a:r>
              <a:rPr sz="740" b="1">
                <a:solidFill>
                  <a:srgbClr val="595959"/>
                </a:solidFill>
                <a:latin typeface="Meiryo UI"/>
                <a:ea typeface="Meiryo UI"/>
              </a:rPr>
              <a:t>対応する重点施策</a:t>
            </a:r>
          </a:p>
        </p:txBody>
      </p:sp>
      <p:sp>
        <p:nvSpPr>
          <p:cNvPr id="53" name="Rectangle 52"/>
          <p:cNvSpPr/>
          <p:nvPr/>
        </p:nvSpPr>
        <p:spPr>
          <a:xfrm>
            <a:off x="8476488" y="4956048"/>
            <a:ext cx="475488"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494776" y="4992624"/>
            <a:ext cx="43891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B1★</a:t>
            </a:r>
          </a:p>
        </p:txBody>
      </p:sp>
      <p:sp>
        <p:nvSpPr>
          <p:cNvPr id="55" name="TextBox 54"/>
          <p:cNvSpPr txBox="1"/>
          <p:nvPr/>
        </p:nvSpPr>
        <p:spPr>
          <a:xfrm>
            <a:off x="9025128" y="4992624"/>
            <a:ext cx="2743200" cy="237744"/>
          </a:xfrm>
          <a:prstGeom prst="rect">
            <a:avLst/>
          </a:prstGeom>
          <a:noFill/>
        </p:spPr>
        <p:txBody>
          <a:bodyPr wrap="square" lIns="0" rIns="0" tIns="0" bIns="0">
            <a:spAutoFit/>
          </a:bodyPr>
          <a:lstStyle/>
          <a:p>
            <a:pPr>
              <a:lnSpc>
                <a:spcPct val="112000"/>
              </a:lnSpc>
            </a:pPr>
            <a:r>
              <a:rPr sz="780" b="1">
                <a:solidFill>
                  <a:srgbClr val="262626"/>
                </a:solidFill>
                <a:latin typeface="Meiryo UI"/>
                <a:ea typeface="Meiryo UI"/>
              </a:rPr>
              <a:t>投資ROI可視化基盤（MMM×DCR）</a:t>
            </a:r>
          </a:p>
        </p:txBody>
      </p:sp>
      <p:sp>
        <p:nvSpPr>
          <p:cNvPr id="56" name="Rectangle 55"/>
          <p:cNvSpPr/>
          <p:nvPr/>
        </p:nvSpPr>
        <p:spPr>
          <a:xfrm>
            <a:off x="8476488" y="5285232"/>
            <a:ext cx="475488"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494776" y="5321808"/>
            <a:ext cx="43891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D1★</a:t>
            </a:r>
          </a:p>
        </p:txBody>
      </p:sp>
      <p:sp>
        <p:nvSpPr>
          <p:cNvPr id="58" name="TextBox 57"/>
          <p:cNvSpPr txBox="1"/>
          <p:nvPr/>
        </p:nvSpPr>
        <p:spPr>
          <a:xfrm>
            <a:off x="9025128" y="5321808"/>
            <a:ext cx="2743200" cy="237744"/>
          </a:xfrm>
          <a:prstGeom prst="rect">
            <a:avLst/>
          </a:prstGeom>
          <a:noFill/>
        </p:spPr>
        <p:txBody>
          <a:bodyPr wrap="square" lIns="0" rIns="0" tIns="0" bIns="0">
            <a:spAutoFit/>
          </a:bodyPr>
          <a:lstStyle/>
          <a:p>
            <a:pPr>
              <a:lnSpc>
                <a:spcPct val="112000"/>
              </a:lnSpc>
            </a:pPr>
            <a:r>
              <a:rPr sz="780" b="1">
                <a:solidFill>
                  <a:srgbClr val="262626"/>
                </a:solidFill>
                <a:latin typeface="Meiryo UI"/>
                <a:ea typeface="Meiryo UI"/>
              </a:rPr>
              <a:t>Input業務ゼロ化（生成AI＋TPM）</a:t>
            </a:r>
          </a:p>
        </p:txBody>
      </p:sp>
      <p:sp>
        <p:nvSpPr>
          <p:cNvPr id="59" name="Rectangle 58"/>
          <p:cNvSpPr/>
          <p:nvPr/>
        </p:nvSpPr>
        <p:spPr>
          <a:xfrm>
            <a:off x="8476488" y="5614416"/>
            <a:ext cx="475488"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494776" y="5650992"/>
            <a:ext cx="43891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D2</a:t>
            </a:r>
          </a:p>
        </p:txBody>
      </p:sp>
      <p:sp>
        <p:nvSpPr>
          <p:cNvPr id="61" name="TextBox 60"/>
          <p:cNvSpPr txBox="1"/>
          <p:nvPr/>
        </p:nvSpPr>
        <p:spPr>
          <a:xfrm>
            <a:off x="9025128" y="5650992"/>
            <a:ext cx="2743200" cy="237744"/>
          </a:xfrm>
          <a:prstGeom prst="rect">
            <a:avLst/>
          </a:prstGeom>
          <a:noFill/>
        </p:spPr>
        <p:txBody>
          <a:bodyPr wrap="square" lIns="0" rIns="0" tIns="0" bIns="0">
            <a:spAutoFit/>
          </a:bodyPr>
          <a:lstStyle/>
          <a:p>
            <a:pPr>
              <a:lnSpc>
                <a:spcPct val="112000"/>
              </a:lnSpc>
            </a:pPr>
            <a:r>
              <a:rPr sz="780" b="0">
                <a:solidFill>
                  <a:srgbClr val="262626"/>
                </a:solidFill>
                <a:latin typeface="Meiryo UI"/>
                <a:ea typeface="Meiryo UI"/>
              </a:rPr>
              <a:t>ダイヤモンド型組織への再編</a:t>
            </a:r>
          </a:p>
        </p:txBody>
      </p:sp>
      <p:sp>
        <p:nvSpPr>
          <p:cNvPr id="62" name="Rectangle 61"/>
          <p:cNvSpPr/>
          <p:nvPr/>
        </p:nvSpPr>
        <p:spPr>
          <a:xfrm>
            <a:off x="320040" y="6272784"/>
            <a:ext cx="11521440" cy="36576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457200" y="6309360"/>
            <a:ext cx="11292840" cy="292608"/>
          </a:xfrm>
          <a:prstGeom prst="rect">
            <a:avLst/>
          </a:prstGeom>
          <a:noFill/>
        </p:spPr>
        <p:txBody>
          <a:bodyPr wrap="square" lIns="0" rIns="0" tIns="0" bIns="0">
            <a:spAutoFit/>
          </a:bodyPr>
          <a:lstStyle/>
          <a:p>
            <a:pPr>
              <a:lnSpc>
                <a:spcPct val="110000"/>
              </a:lnSpc>
            </a:pPr>
            <a:r>
              <a:rPr sz="840" b="1">
                <a:solidFill>
                  <a:srgbClr val="008D2E"/>
                </a:solidFill>
                <a:latin typeface="Meiryo UI"/>
                <a:ea typeface="Meiryo UI"/>
              </a:rPr>
              <a:t>センターピン（★）の連鎖：</a:t>
            </a:r>
            <a:r>
              <a:rPr sz="819" b="0">
                <a:solidFill>
                  <a:srgbClr val="262626"/>
                </a:solidFill>
                <a:latin typeface="Meiryo UI"/>
                <a:ea typeface="Meiryo UI"/>
              </a:rPr>
              <a:t>B1が「検証の目」を作り → D1が時間を生み → C1・A1が武器を揃え → 型（解決1）に流し込む。各施策のROI計算式と指標は後段のROI一覧で定義 ― 紐づかない施策はやらない。</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txBody>
          <a:bodyPr/>
          <a:p/>
        </p:txBody>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txBody>
          <a:bodyPr/>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28016"/>
            <a:ext cx="11338560" cy="365760"/>
          </a:xfrm>
          <a:prstGeom prst="rect">
            <a:avLst/>
          </a:prstGeom>
          <a:noFill/>
        </p:spPr>
        <p:txBody>
          <a:bodyPr wrap="square" lIns="0" rIns="0" tIns="0" bIns="0">
            <a:spAutoFit/>
          </a:bodyPr>
          <a:lstStyle/>
          <a:p>
            <a:pPr>
              <a:lnSpc>
                <a:spcPct val="112000"/>
              </a:lnSpc>
            </a:pPr>
            <a:r>
              <a:rPr sz="1700" b="1">
                <a:solidFill>
                  <a:srgbClr val="262626"/>
                </a:solidFill>
                <a:latin typeface="Meiryo UI"/>
                <a:ea typeface="Meiryo UI"/>
              </a:rPr>
              <a:t>4つの変革テーマ × 8つの重点施策（A1〜D2）</a:t>
            </a:r>
          </a:p>
        </p:txBody>
      </p:sp>
      <p:sp>
        <p:nvSpPr>
          <p:cNvPr id="11" name="Rectangle 10"/>
          <p:cNvSpPr/>
          <p:nvPr/>
        </p:nvSpPr>
        <p:spPr>
          <a:xfrm>
            <a:off x="320040" y="56692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640080"/>
            <a:ext cx="256032" cy="274320"/>
          </a:xfrm>
          <a:prstGeom prst="rect">
            <a:avLst/>
          </a:prstGeom>
          <a:noFill/>
        </p:spPr>
        <p:txBody>
          <a:bodyPr wrap="square" lIns="0" rIns="0" tIns="0" bIns="0">
            <a:spAutoFit/>
          </a:bodyPr>
          <a:lstStyle/>
          <a:p>
            <a:pPr>
              <a:lnSpc>
                <a:spcPct val="112000"/>
              </a:lnSpc>
            </a:pPr>
            <a:r>
              <a:rPr sz="1000" b="1">
                <a:solidFill>
                  <a:srgbClr val="008D2E"/>
                </a:solidFill>
                <a:latin typeface="Meiryo UI"/>
                <a:ea typeface="Meiryo UI"/>
              </a:rPr>
              <a:t>■</a:t>
            </a:r>
          </a:p>
        </p:txBody>
      </p:sp>
      <p:sp>
        <p:nvSpPr>
          <p:cNvPr id="13" name="TextBox 12"/>
          <p:cNvSpPr txBox="1"/>
          <p:nvPr/>
        </p:nvSpPr>
        <p:spPr>
          <a:xfrm>
            <a:off x="603504" y="621792"/>
            <a:ext cx="11201400" cy="502920"/>
          </a:xfrm>
          <a:prstGeom prst="rect">
            <a:avLst/>
          </a:prstGeom>
          <a:noFill/>
        </p:spPr>
        <p:txBody>
          <a:bodyPr wrap="square" lIns="0" rIns="0" tIns="0" bIns="0">
            <a:spAutoFit/>
          </a:bodyPr>
          <a:lstStyle/>
          <a:p>
            <a:pPr>
              <a:lnSpc>
                <a:spcPct val="115000"/>
              </a:lnSpc>
            </a:pPr>
            <a:r>
              <a:rPr sz="1050" b="1">
                <a:solidFill>
                  <a:srgbClr val="262626"/>
                </a:solidFill>
                <a:latin typeface="Meiryo UI"/>
                <a:ea typeface="Meiryo UI"/>
              </a:rPr>
              <a:t>8施策は解決2「武器」と解決3「回路」の中身（★＝センターピン）。中でもB1「投資ROI可視化」が全ての起点 ― 各施策はROI計算式と指標で投資判断する</a:t>
            </a:r>
          </a:p>
        </p:txBody>
      </p:sp>
      <p:sp>
        <p:nvSpPr>
          <p:cNvPr id="14" name="Rectangle 13"/>
          <p:cNvSpPr/>
          <p:nvPr/>
        </p:nvSpPr>
        <p:spPr>
          <a:xfrm>
            <a:off x="320040" y="1225296"/>
            <a:ext cx="196596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84048" y="1252728"/>
            <a:ext cx="1837943" cy="237744"/>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テーマ</a:t>
            </a:r>
          </a:p>
        </p:txBody>
      </p:sp>
      <p:sp>
        <p:nvSpPr>
          <p:cNvPr id="16" name="Rectangle 15"/>
          <p:cNvSpPr/>
          <p:nvPr/>
        </p:nvSpPr>
        <p:spPr>
          <a:xfrm>
            <a:off x="2304288" y="1225296"/>
            <a:ext cx="329184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68296" y="1252728"/>
            <a:ext cx="3163824" cy="237744"/>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重点施策（★＝センターピン）</a:t>
            </a:r>
          </a:p>
        </p:txBody>
      </p:sp>
      <p:sp>
        <p:nvSpPr>
          <p:cNvPr id="18" name="Rectangle 17"/>
          <p:cNvSpPr/>
          <p:nvPr/>
        </p:nvSpPr>
        <p:spPr>
          <a:xfrm>
            <a:off x="5614416" y="1225296"/>
            <a:ext cx="338328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78424" y="1252728"/>
            <a:ext cx="3255264" cy="237744"/>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ねらい</a:t>
            </a:r>
          </a:p>
        </p:txBody>
      </p:sp>
      <p:sp>
        <p:nvSpPr>
          <p:cNvPr id="20" name="Rectangle 19"/>
          <p:cNvSpPr/>
          <p:nvPr/>
        </p:nvSpPr>
        <p:spPr>
          <a:xfrm>
            <a:off x="9015984" y="1225296"/>
            <a:ext cx="269748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079992" y="1252728"/>
            <a:ext cx="2569464" cy="237744"/>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主な指標</a:t>
            </a:r>
          </a:p>
        </p:txBody>
      </p:sp>
      <p:sp>
        <p:nvSpPr>
          <p:cNvPr id="22" name="Rectangle 21"/>
          <p:cNvSpPr/>
          <p:nvPr/>
        </p:nvSpPr>
        <p:spPr>
          <a:xfrm>
            <a:off x="320040" y="1554480"/>
            <a:ext cx="1965960" cy="10789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02336" y="1783080"/>
            <a:ext cx="1810512" cy="640080"/>
          </a:xfrm>
          <a:prstGeom prst="rect">
            <a:avLst/>
          </a:prstGeom>
          <a:noFill/>
        </p:spPr>
        <p:txBody>
          <a:bodyPr wrap="square" lIns="0" rIns="0" tIns="0" bIns="0">
            <a:spAutoFit/>
          </a:bodyPr>
          <a:lstStyle/>
          <a:p>
            <a:pPr>
              <a:lnSpc>
                <a:spcPct val="110000"/>
              </a:lnSpc>
            </a:pPr>
            <a:r>
              <a:rPr sz="860" b="1">
                <a:solidFill>
                  <a:srgbClr val="FFFFFF"/>
                </a:solidFill>
                <a:latin typeface="Meiryo UI"/>
                <a:ea typeface="Meiryo UI"/>
              </a:rPr>
              <a:t>T1 勝てる土俵の再定義
（予防医療×資源循環）</a:t>
            </a:r>
          </a:p>
        </p:txBody>
      </p:sp>
      <p:sp>
        <p:nvSpPr>
          <p:cNvPr id="24" name="Rectangle 23"/>
          <p:cNvSpPr/>
          <p:nvPr/>
        </p:nvSpPr>
        <p:spPr>
          <a:xfrm>
            <a:off x="2304288" y="1554480"/>
            <a:ext cx="329184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377440" y="1673352"/>
            <a:ext cx="548640" cy="2743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395728" y="1709928"/>
            <a:ext cx="512064" cy="219456"/>
          </a:xfrm>
          <a:prstGeom prst="rect">
            <a:avLst/>
          </a:prstGeom>
          <a:noFill/>
        </p:spPr>
        <p:txBody>
          <a:bodyPr wrap="square" lIns="0" rIns="0" tIns="0" bIns="0">
            <a:spAutoFit/>
          </a:bodyPr>
          <a:lstStyle/>
          <a:p>
            <a:pPr>
              <a:lnSpc>
                <a:spcPct val="112000"/>
              </a:lnSpc>
            </a:pPr>
            <a:r>
              <a:rPr sz="780" b="1">
                <a:solidFill>
                  <a:srgbClr val="FFFFFF"/>
                </a:solidFill>
                <a:latin typeface="Meiryo UI"/>
                <a:ea typeface="Meiryo UI"/>
              </a:rPr>
              <a:t>A1★</a:t>
            </a:r>
          </a:p>
        </p:txBody>
      </p:sp>
      <p:sp>
        <p:nvSpPr>
          <p:cNvPr id="27" name="TextBox 26"/>
          <p:cNvSpPr txBox="1"/>
          <p:nvPr/>
        </p:nvSpPr>
        <p:spPr>
          <a:xfrm>
            <a:off x="2999232" y="1618488"/>
            <a:ext cx="2542032" cy="411479"/>
          </a:xfrm>
          <a:prstGeom prst="rect">
            <a:avLst/>
          </a:prstGeom>
          <a:noFill/>
        </p:spPr>
        <p:txBody>
          <a:bodyPr wrap="square" lIns="0" rIns="0" tIns="0" bIns="0">
            <a:spAutoFit/>
          </a:bodyPr>
          <a:lstStyle/>
          <a:p>
            <a:pPr>
              <a:lnSpc>
                <a:spcPct val="105000"/>
              </a:lnSpc>
            </a:pPr>
            <a:r>
              <a:rPr sz="800" b="1">
                <a:solidFill>
                  <a:srgbClr val="262626"/>
                </a:solidFill>
                <a:latin typeface="Meiryo UI"/>
                <a:ea typeface="Meiryo UI"/>
              </a:rPr>
              <a:t>製品属性データの構造化・API化</a:t>
            </a:r>
          </a:p>
        </p:txBody>
      </p:sp>
      <p:sp>
        <p:nvSpPr>
          <p:cNvPr id="28" name="Rectangle 27"/>
          <p:cNvSpPr/>
          <p:nvPr/>
        </p:nvSpPr>
        <p:spPr>
          <a:xfrm>
            <a:off x="5614416" y="1554480"/>
            <a:ext cx="3383280" cy="52120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705856" y="1609344"/>
            <a:ext cx="3200400" cy="429768"/>
          </a:xfrm>
          <a:prstGeom prst="rect">
            <a:avLst/>
          </a:prstGeom>
          <a:noFill/>
        </p:spPr>
        <p:txBody>
          <a:bodyPr wrap="square" lIns="0" rIns="0" tIns="0" bIns="0">
            <a:spAutoFit/>
          </a:bodyPr>
          <a:lstStyle/>
          <a:p>
            <a:pPr>
              <a:lnSpc>
                <a:spcPct val="105000"/>
              </a:lnSpc>
            </a:pPr>
            <a:r>
              <a:rPr sz="760" b="0">
                <a:solidFill>
                  <a:srgbClr val="262626"/>
                </a:solidFill>
                <a:latin typeface="Meiryo UI"/>
                <a:ea typeface="Meiryo UI"/>
              </a:rPr>
              <a:t>AI自動補充・小売アルゴリズムの「足切り」を回避し、ホワイトリスト入りする</a:t>
            </a:r>
          </a:p>
        </p:txBody>
      </p:sp>
      <p:sp>
        <p:nvSpPr>
          <p:cNvPr id="30" name="Rectangle 29"/>
          <p:cNvSpPr/>
          <p:nvPr/>
        </p:nvSpPr>
        <p:spPr>
          <a:xfrm>
            <a:off x="9015984" y="1554480"/>
            <a:ext cx="269748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07424" y="1609344"/>
            <a:ext cx="2523744" cy="429768"/>
          </a:xfrm>
          <a:prstGeom prst="rect">
            <a:avLst/>
          </a:prstGeom>
          <a:noFill/>
        </p:spPr>
        <p:txBody>
          <a:bodyPr wrap="square" lIns="0" rIns="0" tIns="0" bIns="0">
            <a:spAutoFit/>
          </a:bodyPr>
          <a:lstStyle/>
          <a:p>
            <a:pPr>
              <a:lnSpc>
                <a:spcPct val="105000"/>
              </a:lnSpc>
            </a:pPr>
            <a:r>
              <a:rPr sz="740" b="1">
                <a:solidFill>
                  <a:srgbClr val="0F5E87"/>
                </a:solidFill>
                <a:latin typeface="Meiryo UI"/>
                <a:ea typeface="Meiryo UI"/>
              </a:rPr>
              <a:t>API開放SKU比率／ホワイトリスト掲載率</a:t>
            </a:r>
          </a:p>
        </p:txBody>
      </p:sp>
      <p:sp>
        <p:nvSpPr>
          <p:cNvPr id="32" name="Rectangle 31"/>
          <p:cNvSpPr/>
          <p:nvPr/>
        </p:nvSpPr>
        <p:spPr>
          <a:xfrm>
            <a:off x="2304288" y="2112264"/>
            <a:ext cx="329184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2377440" y="2231136"/>
            <a:ext cx="548640" cy="2743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395728" y="2267712"/>
            <a:ext cx="512064" cy="219456"/>
          </a:xfrm>
          <a:prstGeom prst="rect">
            <a:avLst/>
          </a:prstGeom>
          <a:noFill/>
        </p:spPr>
        <p:txBody>
          <a:bodyPr wrap="square" lIns="0" rIns="0" tIns="0" bIns="0">
            <a:spAutoFit/>
          </a:bodyPr>
          <a:lstStyle/>
          <a:p>
            <a:pPr>
              <a:lnSpc>
                <a:spcPct val="112000"/>
              </a:lnSpc>
            </a:pPr>
            <a:r>
              <a:rPr sz="780" b="1">
                <a:solidFill>
                  <a:srgbClr val="FFFFFF"/>
                </a:solidFill>
                <a:latin typeface="Meiryo UI"/>
                <a:ea typeface="Meiryo UI"/>
              </a:rPr>
              <a:t>A2</a:t>
            </a:r>
          </a:p>
        </p:txBody>
      </p:sp>
      <p:sp>
        <p:nvSpPr>
          <p:cNvPr id="35" name="TextBox 34"/>
          <p:cNvSpPr txBox="1"/>
          <p:nvPr/>
        </p:nvSpPr>
        <p:spPr>
          <a:xfrm>
            <a:off x="2999232" y="2176272"/>
            <a:ext cx="2542032" cy="411479"/>
          </a:xfrm>
          <a:prstGeom prst="rect">
            <a:avLst/>
          </a:prstGeom>
          <a:noFill/>
        </p:spPr>
        <p:txBody>
          <a:bodyPr wrap="square" lIns="0" rIns="0" tIns="0" bIns="0">
            <a:spAutoFit/>
          </a:bodyPr>
          <a:lstStyle/>
          <a:p>
            <a:pPr>
              <a:lnSpc>
                <a:spcPct val="105000"/>
              </a:lnSpc>
            </a:pPr>
            <a:r>
              <a:rPr sz="800" b="1">
                <a:solidFill>
                  <a:srgbClr val="262626"/>
                </a:solidFill>
                <a:latin typeface="Meiryo UI"/>
                <a:ea typeface="Meiryo UI"/>
              </a:rPr>
              <a:t>学校・自治体ルートのデジタル化</a:t>
            </a:r>
          </a:p>
        </p:txBody>
      </p:sp>
      <p:sp>
        <p:nvSpPr>
          <p:cNvPr id="36" name="Rectangle 35"/>
          <p:cNvSpPr/>
          <p:nvPr/>
        </p:nvSpPr>
        <p:spPr>
          <a:xfrm>
            <a:off x="5614416" y="2112264"/>
            <a:ext cx="3383280" cy="52120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705856" y="2167128"/>
            <a:ext cx="3200400" cy="429768"/>
          </a:xfrm>
          <a:prstGeom prst="rect">
            <a:avLst/>
          </a:prstGeom>
          <a:noFill/>
        </p:spPr>
        <p:txBody>
          <a:bodyPr wrap="square" lIns="0" rIns="0" tIns="0" bIns="0">
            <a:spAutoFit/>
          </a:bodyPr>
          <a:lstStyle/>
          <a:p>
            <a:pPr>
              <a:lnSpc>
                <a:spcPct val="105000"/>
              </a:lnSpc>
            </a:pPr>
            <a:r>
              <a:rPr sz="760" b="0">
                <a:solidFill>
                  <a:srgbClr val="262626"/>
                </a:solidFill>
                <a:latin typeface="Meiryo UI"/>
                <a:ea typeface="Meiryo UI"/>
              </a:rPr>
              <a:t>啓発ルートを接点資産化し、若年層の習慣定着と将来LTVを獲得する</a:t>
            </a:r>
          </a:p>
        </p:txBody>
      </p:sp>
      <p:sp>
        <p:nvSpPr>
          <p:cNvPr id="38" name="Rectangle 37"/>
          <p:cNvSpPr/>
          <p:nvPr/>
        </p:nvSpPr>
        <p:spPr>
          <a:xfrm>
            <a:off x="9015984" y="2112264"/>
            <a:ext cx="269748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107424" y="2167128"/>
            <a:ext cx="2523744" cy="429768"/>
          </a:xfrm>
          <a:prstGeom prst="rect">
            <a:avLst/>
          </a:prstGeom>
          <a:noFill/>
        </p:spPr>
        <p:txBody>
          <a:bodyPr wrap="square" lIns="0" rIns="0" tIns="0" bIns="0">
            <a:spAutoFit/>
          </a:bodyPr>
          <a:lstStyle/>
          <a:p>
            <a:pPr>
              <a:lnSpc>
                <a:spcPct val="105000"/>
              </a:lnSpc>
            </a:pPr>
            <a:r>
              <a:rPr sz="740" b="1">
                <a:solidFill>
                  <a:srgbClr val="0F5E87"/>
                </a:solidFill>
                <a:latin typeface="Meiryo UI"/>
                <a:ea typeface="Meiryo UI"/>
              </a:rPr>
              <a:t>デジタル化率／若年層習慣定着率</a:t>
            </a:r>
          </a:p>
        </p:txBody>
      </p:sp>
      <p:sp>
        <p:nvSpPr>
          <p:cNvPr id="40" name="Rectangle 39"/>
          <p:cNvSpPr/>
          <p:nvPr/>
        </p:nvSpPr>
        <p:spPr>
          <a:xfrm>
            <a:off x="320040" y="2679192"/>
            <a:ext cx="1965960" cy="1078992"/>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02336" y="2907792"/>
            <a:ext cx="1810512" cy="640080"/>
          </a:xfrm>
          <a:prstGeom prst="rect">
            <a:avLst/>
          </a:prstGeom>
          <a:noFill/>
        </p:spPr>
        <p:txBody>
          <a:bodyPr wrap="square" lIns="0" rIns="0" tIns="0" bIns="0">
            <a:spAutoFit/>
          </a:bodyPr>
          <a:lstStyle/>
          <a:p>
            <a:pPr>
              <a:lnSpc>
                <a:spcPct val="110000"/>
              </a:lnSpc>
            </a:pPr>
            <a:r>
              <a:rPr sz="860" b="1">
                <a:solidFill>
                  <a:srgbClr val="FFFFFF"/>
                </a:solidFill>
                <a:latin typeface="Meiryo UI"/>
                <a:ea typeface="Meiryo UI"/>
              </a:rPr>
              <a:t>T2 データ戦略
（リテールメディア×二階建て）</a:t>
            </a:r>
          </a:p>
        </p:txBody>
      </p:sp>
      <p:sp>
        <p:nvSpPr>
          <p:cNvPr id="42" name="Rectangle 41"/>
          <p:cNvSpPr/>
          <p:nvPr/>
        </p:nvSpPr>
        <p:spPr>
          <a:xfrm>
            <a:off x="2304288" y="2679192"/>
            <a:ext cx="329184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2377440" y="2798064"/>
            <a:ext cx="548640" cy="274320"/>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395728" y="2834640"/>
            <a:ext cx="512064" cy="219456"/>
          </a:xfrm>
          <a:prstGeom prst="rect">
            <a:avLst/>
          </a:prstGeom>
          <a:noFill/>
        </p:spPr>
        <p:txBody>
          <a:bodyPr wrap="square" lIns="0" rIns="0" tIns="0" bIns="0">
            <a:spAutoFit/>
          </a:bodyPr>
          <a:lstStyle/>
          <a:p>
            <a:pPr>
              <a:lnSpc>
                <a:spcPct val="112000"/>
              </a:lnSpc>
            </a:pPr>
            <a:r>
              <a:rPr sz="780" b="1">
                <a:solidFill>
                  <a:srgbClr val="FFFFFF"/>
                </a:solidFill>
                <a:latin typeface="Meiryo UI"/>
                <a:ea typeface="Meiryo UI"/>
              </a:rPr>
              <a:t>B1★</a:t>
            </a:r>
          </a:p>
        </p:txBody>
      </p:sp>
      <p:sp>
        <p:nvSpPr>
          <p:cNvPr id="45" name="TextBox 44"/>
          <p:cNvSpPr txBox="1"/>
          <p:nvPr/>
        </p:nvSpPr>
        <p:spPr>
          <a:xfrm>
            <a:off x="2999232" y="2743200"/>
            <a:ext cx="2542032" cy="411479"/>
          </a:xfrm>
          <a:prstGeom prst="rect">
            <a:avLst/>
          </a:prstGeom>
          <a:noFill/>
        </p:spPr>
        <p:txBody>
          <a:bodyPr wrap="square" lIns="0" rIns="0" tIns="0" bIns="0">
            <a:spAutoFit/>
          </a:bodyPr>
          <a:lstStyle/>
          <a:p>
            <a:pPr>
              <a:lnSpc>
                <a:spcPct val="105000"/>
              </a:lnSpc>
            </a:pPr>
            <a:r>
              <a:rPr sz="800" b="1">
                <a:solidFill>
                  <a:srgbClr val="262626"/>
                </a:solidFill>
                <a:latin typeface="Meiryo UI"/>
                <a:ea typeface="Meiryo UI"/>
              </a:rPr>
              <a:t>投資ROI可視化基盤（MMM×DCR）</a:t>
            </a:r>
          </a:p>
        </p:txBody>
      </p:sp>
      <p:sp>
        <p:nvSpPr>
          <p:cNvPr id="46" name="Rectangle 45"/>
          <p:cNvSpPr/>
          <p:nvPr/>
        </p:nvSpPr>
        <p:spPr>
          <a:xfrm>
            <a:off x="5614416" y="2679192"/>
            <a:ext cx="3383280" cy="52120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705856" y="2734056"/>
            <a:ext cx="3200400" cy="429768"/>
          </a:xfrm>
          <a:prstGeom prst="rect">
            <a:avLst/>
          </a:prstGeom>
          <a:noFill/>
        </p:spPr>
        <p:txBody>
          <a:bodyPr wrap="square" lIns="0" rIns="0" tIns="0" bIns="0">
            <a:spAutoFit/>
          </a:bodyPr>
          <a:lstStyle/>
          <a:p>
            <a:pPr>
              <a:lnSpc>
                <a:spcPct val="105000"/>
              </a:lnSpc>
            </a:pPr>
            <a:r>
              <a:rPr sz="760" b="0">
                <a:solidFill>
                  <a:srgbClr val="262626"/>
                </a:solidFill>
                <a:latin typeface="Meiryo UI"/>
                <a:ea typeface="Meiryo UI"/>
              </a:rPr>
              <a:t>投資と店頭売上の因果を可視化 ― 全施策の検証の目・回路の起点</a:t>
            </a:r>
          </a:p>
        </p:txBody>
      </p:sp>
      <p:sp>
        <p:nvSpPr>
          <p:cNvPr id="48" name="Rectangle 47"/>
          <p:cNvSpPr/>
          <p:nvPr/>
        </p:nvSpPr>
        <p:spPr>
          <a:xfrm>
            <a:off x="9015984" y="2679192"/>
            <a:ext cx="269748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107424" y="2734056"/>
            <a:ext cx="2523744" cy="429768"/>
          </a:xfrm>
          <a:prstGeom prst="rect">
            <a:avLst/>
          </a:prstGeom>
          <a:noFill/>
        </p:spPr>
        <p:txBody>
          <a:bodyPr wrap="square" lIns="0" rIns="0" tIns="0" bIns="0">
            <a:spAutoFit/>
          </a:bodyPr>
          <a:lstStyle/>
          <a:p>
            <a:pPr>
              <a:lnSpc>
                <a:spcPct val="105000"/>
              </a:lnSpc>
            </a:pPr>
            <a:r>
              <a:rPr sz="740" b="1">
                <a:solidFill>
                  <a:srgbClr val="0F5E87"/>
                </a:solidFill>
                <a:latin typeface="Meiryo UI"/>
                <a:ea typeface="Meiryo UI"/>
              </a:rPr>
              <a:t>売上寄与可視化率／加重ROAS</a:t>
            </a:r>
          </a:p>
        </p:txBody>
      </p:sp>
      <p:sp>
        <p:nvSpPr>
          <p:cNvPr id="50" name="Rectangle 49"/>
          <p:cNvSpPr/>
          <p:nvPr/>
        </p:nvSpPr>
        <p:spPr>
          <a:xfrm>
            <a:off x="2304288" y="3236976"/>
            <a:ext cx="329184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2377440" y="3355848"/>
            <a:ext cx="548640" cy="274320"/>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2395728" y="3392424"/>
            <a:ext cx="512064" cy="219456"/>
          </a:xfrm>
          <a:prstGeom prst="rect">
            <a:avLst/>
          </a:prstGeom>
          <a:noFill/>
        </p:spPr>
        <p:txBody>
          <a:bodyPr wrap="square" lIns="0" rIns="0" tIns="0" bIns="0">
            <a:spAutoFit/>
          </a:bodyPr>
          <a:lstStyle/>
          <a:p>
            <a:pPr>
              <a:lnSpc>
                <a:spcPct val="112000"/>
              </a:lnSpc>
            </a:pPr>
            <a:r>
              <a:rPr sz="780" b="1">
                <a:solidFill>
                  <a:srgbClr val="FFFFFF"/>
                </a:solidFill>
                <a:latin typeface="Meiryo UI"/>
                <a:ea typeface="Meiryo UI"/>
              </a:rPr>
              <a:t>B2</a:t>
            </a:r>
          </a:p>
        </p:txBody>
      </p:sp>
      <p:sp>
        <p:nvSpPr>
          <p:cNvPr id="53" name="TextBox 52"/>
          <p:cNvSpPr txBox="1"/>
          <p:nvPr/>
        </p:nvSpPr>
        <p:spPr>
          <a:xfrm>
            <a:off x="2999232" y="3300984"/>
            <a:ext cx="2542032" cy="411479"/>
          </a:xfrm>
          <a:prstGeom prst="rect">
            <a:avLst/>
          </a:prstGeom>
          <a:noFill/>
        </p:spPr>
        <p:txBody>
          <a:bodyPr wrap="square" lIns="0" rIns="0" tIns="0" bIns="0">
            <a:spAutoFit/>
          </a:bodyPr>
          <a:lstStyle/>
          <a:p>
            <a:pPr>
              <a:lnSpc>
                <a:spcPct val="105000"/>
              </a:lnSpc>
            </a:pPr>
            <a:r>
              <a:rPr sz="800" b="1">
                <a:solidFill>
                  <a:srgbClr val="262626"/>
                </a:solidFill>
                <a:latin typeface="Meiryo UI"/>
                <a:ea typeface="Meiryo UI"/>
              </a:rPr>
              <a:t>リテールメディア投資の内製化</a:t>
            </a:r>
          </a:p>
        </p:txBody>
      </p:sp>
      <p:sp>
        <p:nvSpPr>
          <p:cNvPr id="54" name="Rectangle 53"/>
          <p:cNvSpPr/>
          <p:nvPr/>
        </p:nvSpPr>
        <p:spPr>
          <a:xfrm>
            <a:off x="5614416" y="3236976"/>
            <a:ext cx="3383280" cy="52120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5705856" y="3291840"/>
            <a:ext cx="3200400" cy="429768"/>
          </a:xfrm>
          <a:prstGeom prst="rect">
            <a:avLst/>
          </a:prstGeom>
          <a:noFill/>
        </p:spPr>
        <p:txBody>
          <a:bodyPr wrap="square" lIns="0" rIns="0" tIns="0" bIns="0">
            <a:spAutoFit/>
          </a:bodyPr>
          <a:lstStyle/>
          <a:p>
            <a:pPr>
              <a:lnSpc>
                <a:spcPct val="105000"/>
              </a:lnSpc>
            </a:pPr>
            <a:r>
              <a:rPr sz="760" b="0">
                <a:solidFill>
                  <a:srgbClr val="262626"/>
                </a:solidFill>
                <a:latin typeface="Meiryo UI"/>
                <a:ea typeface="Meiryo UI"/>
              </a:rPr>
              <a:t>スポット買いをやめ一元管理・内製化で手数料と無駄玉を削減</a:t>
            </a:r>
          </a:p>
        </p:txBody>
      </p:sp>
      <p:sp>
        <p:nvSpPr>
          <p:cNvPr id="56" name="Rectangle 55"/>
          <p:cNvSpPr/>
          <p:nvPr/>
        </p:nvSpPr>
        <p:spPr>
          <a:xfrm>
            <a:off x="9015984" y="3236976"/>
            <a:ext cx="269748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9107424" y="3291840"/>
            <a:ext cx="2523744" cy="429768"/>
          </a:xfrm>
          <a:prstGeom prst="rect">
            <a:avLst/>
          </a:prstGeom>
          <a:noFill/>
        </p:spPr>
        <p:txBody>
          <a:bodyPr wrap="square" lIns="0" rIns="0" tIns="0" bIns="0">
            <a:spAutoFit/>
          </a:bodyPr>
          <a:lstStyle/>
          <a:p>
            <a:pPr>
              <a:lnSpc>
                <a:spcPct val="105000"/>
              </a:lnSpc>
            </a:pPr>
            <a:r>
              <a:rPr sz="740" b="1">
                <a:solidFill>
                  <a:srgbClr val="0F5E87"/>
                </a:solidFill>
                <a:latin typeface="Meiryo UI"/>
                <a:ea typeface="Meiryo UI"/>
              </a:rPr>
              <a:t>内製化率（P&amp;G比 約85億円/年削減の先行例）</a:t>
            </a:r>
          </a:p>
        </p:txBody>
      </p:sp>
      <p:sp>
        <p:nvSpPr>
          <p:cNvPr id="58" name="Rectangle 57"/>
          <p:cNvSpPr/>
          <p:nvPr/>
        </p:nvSpPr>
        <p:spPr>
          <a:xfrm>
            <a:off x="320040" y="3803904"/>
            <a:ext cx="1965960" cy="1078992"/>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02336" y="4032504"/>
            <a:ext cx="1810512" cy="640080"/>
          </a:xfrm>
          <a:prstGeom prst="rect">
            <a:avLst/>
          </a:prstGeom>
          <a:noFill/>
        </p:spPr>
        <p:txBody>
          <a:bodyPr wrap="square" lIns="0" rIns="0" tIns="0" bIns="0">
            <a:spAutoFit/>
          </a:bodyPr>
          <a:lstStyle/>
          <a:p>
            <a:pPr>
              <a:lnSpc>
                <a:spcPct val="110000"/>
              </a:lnSpc>
            </a:pPr>
            <a:r>
              <a:rPr sz="860" b="1">
                <a:solidFill>
                  <a:srgbClr val="FFFFFF"/>
                </a:solidFill>
                <a:latin typeface="Meiryo UI"/>
                <a:ea typeface="Meiryo UI"/>
              </a:rPr>
              <a:t>T3 商談価値
（臨床データの防弾ロジック化）</a:t>
            </a:r>
          </a:p>
        </p:txBody>
      </p:sp>
      <p:sp>
        <p:nvSpPr>
          <p:cNvPr id="60" name="Rectangle 59"/>
          <p:cNvSpPr/>
          <p:nvPr/>
        </p:nvSpPr>
        <p:spPr>
          <a:xfrm>
            <a:off x="2304288" y="3803904"/>
            <a:ext cx="329184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2377440" y="3922776"/>
            <a:ext cx="548640"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2395728" y="3959352"/>
            <a:ext cx="512064" cy="219456"/>
          </a:xfrm>
          <a:prstGeom prst="rect">
            <a:avLst/>
          </a:prstGeom>
          <a:noFill/>
        </p:spPr>
        <p:txBody>
          <a:bodyPr wrap="square" lIns="0" rIns="0" tIns="0" bIns="0">
            <a:spAutoFit/>
          </a:bodyPr>
          <a:lstStyle/>
          <a:p>
            <a:pPr>
              <a:lnSpc>
                <a:spcPct val="112000"/>
              </a:lnSpc>
            </a:pPr>
            <a:r>
              <a:rPr sz="780" b="1">
                <a:solidFill>
                  <a:srgbClr val="FFFFFF"/>
                </a:solidFill>
                <a:latin typeface="Meiryo UI"/>
                <a:ea typeface="Meiryo UI"/>
              </a:rPr>
              <a:t>C1★</a:t>
            </a:r>
          </a:p>
        </p:txBody>
      </p:sp>
      <p:sp>
        <p:nvSpPr>
          <p:cNvPr id="63" name="TextBox 62"/>
          <p:cNvSpPr txBox="1"/>
          <p:nvPr/>
        </p:nvSpPr>
        <p:spPr>
          <a:xfrm>
            <a:off x="2999232" y="3867912"/>
            <a:ext cx="2542032" cy="411479"/>
          </a:xfrm>
          <a:prstGeom prst="rect">
            <a:avLst/>
          </a:prstGeom>
          <a:noFill/>
        </p:spPr>
        <p:txBody>
          <a:bodyPr wrap="square" lIns="0" rIns="0" tIns="0" bIns="0">
            <a:spAutoFit/>
          </a:bodyPr>
          <a:lstStyle/>
          <a:p>
            <a:pPr>
              <a:lnSpc>
                <a:spcPct val="105000"/>
              </a:lnSpc>
            </a:pPr>
            <a:r>
              <a:rPr sz="800" b="1">
                <a:solidFill>
                  <a:srgbClr val="262626"/>
                </a:solidFill>
                <a:latin typeface="Meiryo UI"/>
                <a:ea typeface="Meiryo UI"/>
              </a:rPr>
              <a:t>臨床データのLTV・炭素効率変換</a:t>
            </a:r>
          </a:p>
        </p:txBody>
      </p:sp>
      <p:sp>
        <p:nvSpPr>
          <p:cNvPr id="64" name="Rectangle 63"/>
          <p:cNvSpPr/>
          <p:nvPr/>
        </p:nvSpPr>
        <p:spPr>
          <a:xfrm>
            <a:off x="5614416" y="3803904"/>
            <a:ext cx="3383280" cy="52120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705856" y="3858768"/>
            <a:ext cx="3200400" cy="429768"/>
          </a:xfrm>
          <a:prstGeom prst="rect">
            <a:avLst/>
          </a:prstGeom>
          <a:noFill/>
        </p:spPr>
        <p:txBody>
          <a:bodyPr wrap="square" lIns="0" rIns="0" tIns="0" bIns="0">
            <a:spAutoFit/>
          </a:bodyPr>
          <a:lstStyle/>
          <a:p>
            <a:pPr>
              <a:lnSpc>
                <a:spcPct val="105000"/>
              </a:lnSpc>
            </a:pPr>
            <a:r>
              <a:rPr sz="760" b="0">
                <a:solidFill>
                  <a:srgbClr val="262626"/>
                </a:solidFill>
                <a:latin typeface="Meiryo UI"/>
                <a:ea typeface="Meiryo UI"/>
              </a:rPr>
              <a:t>バイヤーが本部監査を突破できる数値根拠へ自動変換し商談当日に供給</a:t>
            </a:r>
          </a:p>
        </p:txBody>
      </p:sp>
      <p:sp>
        <p:nvSpPr>
          <p:cNvPr id="66" name="Rectangle 65"/>
          <p:cNvSpPr/>
          <p:nvPr/>
        </p:nvSpPr>
        <p:spPr>
          <a:xfrm>
            <a:off x="9015984" y="3803904"/>
            <a:ext cx="269748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9107424" y="3858768"/>
            <a:ext cx="2523744" cy="429768"/>
          </a:xfrm>
          <a:prstGeom prst="rect">
            <a:avLst/>
          </a:prstGeom>
          <a:noFill/>
        </p:spPr>
        <p:txBody>
          <a:bodyPr wrap="square" lIns="0" rIns="0" tIns="0" bIns="0">
            <a:spAutoFit/>
          </a:bodyPr>
          <a:lstStyle/>
          <a:p>
            <a:pPr>
              <a:lnSpc>
                <a:spcPct val="105000"/>
              </a:lnSpc>
            </a:pPr>
            <a:r>
              <a:rPr sz="740" b="1">
                <a:solidFill>
                  <a:srgbClr val="0F5E87"/>
                </a:solidFill>
                <a:latin typeface="Meiryo UI"/>
                <a:ea typeface="Meiryo UI"/>
              </a:rPr>
              <a:t>提案採用率／審査突破率</a:t>
            </a:r>
          </a:p>
        </p:txBody>
      </p:sp>
      <p:sp>
        <p:nvSpPr>
          <p:cNvPr id="68" name="Rectangle 67"/>
          <p:cNvSpPr/>
          <p:nvPr/>
        </p:nvSpPr>
        <p:spPr>
          <a:xfrm>
            <a:off x="2304288" y="4361688"/>
            <a:ext cx="329184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2377440" y="4480560"/>
            <a:ext cx="548640"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2395728" y="4517136"/>
            <a:ext cx="512064" cy="219456"/>
          </a:xfrm>
          <a:prstGeom prst="rect">
            <a:avLst/>
          </a:prstGeom>
          <a:noFill/>
        </p:spPr>
        <p:txBody>
          <a:bodyPr wrap="square" lIns="0" rIns="0" tIns="0" bIns="0">
            <a:spAutoFit/>
          </a:bodyPr>
          <a:lstStyle/>
          <a:p>
            <a:pPr>
              <a:lnSpc>
                <a:spcPct val="112000"/>
              </a:lnSpc>
            </a:pPr>
            <a:r>
              <a:rPr sz="780" b="1">
                <a:solidFill>
                  <a:srgbClr val="FFFFFF"/>
                </a:solidFill>
                <a:latin typeface="Meiryo UI"/>
                <a:ea typeface="Meiryo UI"/>
              </a:rPr>
              <a:t>C2</a:t>
            </a:r>
          </a:p>
        </p:txBody>
      </p:sp>
      <p:sp>
        <p:nvSpPr>
          <p:cNvPr id="71" name="TextBox 70"/>
          <p:cNvSpPr txBox="1"/>
          <p:nvPr/>
        </p:nvSpPr>
        <p:spPr>
          <a:xfrm>
            <a:off x="2999232" y="4425696"/>
            <a:ext cx="2542032" cy="411479"/>
          </a:xfrm>
          <a:prstGeom prst="rect">
            <a:avLst/>
          </a:prstGeom>
          <a:noFill/>
        </p:spPr>
        <p:txBody>
          <a:bodyPr wrap="square" lIns="0" rIns="0" tIns="0" bIns="0">
            <a:spAutoFit/>
          </a:bodyPr>
          <a:lstStyle/>
          <a:p>
            <a:pPr>
              <a:lnSpc>
                <a:spcPct val="105000"/>
              </a:lnSpc>
            </a:pPr>
            <a:r>
              <a:rPr sz="800" b="1">
                <a:solidFill>
                  <a:srgbClr val="262626"/>
                </a:solidFill>
                <a:latin typeface="Meiryo UI"/>
                <a:ea typeface="Meiryo UI"/>
              </a:rPr>
              <a:t>ロジック提案の標準化</a:t>
            </a:r>
          </a:p>
        </p:txBody>
      </p:sp>
      <p:sp>
        <p:nvSpPr>
          <p:cNvPr id="72" name="Rectangle 71"/>
          <p:cNvSpPr/>
          <p:nvPr/>
        </p:nvSpPr>
        <p:spPr>
          <a:xfrm>
            <a:off x="5614416" y="4361688"/>
            <a:ext cx="3383280" cy="52120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5705856" y="4416552"/>
            <a:ext cx="3200400" cy="429768"/>
          </a:xfrm>
          <a:prstGeom prst="rect">
            <a:avLst/>
          </a:prstGeom>
          <a:noFill/>
        </p:spPr>
        <p:txBody>
          <a:bodyPr wrap="square" lIns="0" rIns="0" tIns="0" bIns="0">
            <a:spAutoFit/>
          </a:bodyPr>
          <a:lstStyle/>
          <a:p>
            <a:pPr>
              <a:lnSpc>
                <a:spcPct val="105000"/>
              </a:lnSpc>
            </a:pPr>
            <a:r>
              <a:rPr sz="760" b="0">
                <a:solidFill>
                  <a:srgbClr val="262626"/>
                </a:solidFill>
                <a:latin typeface="Meiryo UI"/>
                <a:ea typeface="Meiryo UI"/>
              </a:rPr>
              <a:t>成功提案をテンプレ化し、誰でも再現できる標準装備にする</a:t>
            </a:r>
          </a:p>
        </p:txBody>
      </p:sp>
      <p:sp>
        <p:nvSpPr>
          <p:cNvPr id="74" name="Rectangle 73"/>
          <p:cNvSpPr/>
          <p:nvPr/>
        </p:nvSpPr>
        <p:spPr>
          <a:xfrm>
            <a:off x="9015984" y="4361688"/>
            <a:ext cx="269748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9107424" y="4416552"/>
            <a:ext cx="2523744" cy="429768"/>
          </a:xfrm>
          <a:prstGeom prst="rect">
            <a:avLst/>
          </a:prstGeom>
          <a:noFill/>
        </p:spPr>
        <p:txBody>
          <a:bodyPr wrap="square" lIns="0" rIns="0" tIns="0" bIns="0">
            <a:spAutoFit/>
          </a:bodyPr>
          <a:lstStyle/>
          <a:p>
            <a:pPr>
              <a:lnSpc>
                <a:spcPct val="105000"/>
              </a:lnSpc>
            </a:pPr>
            <a:r>
              <a:rPr sz="740" b="1">
                <a:solidFill>
                  <a:srgbClr val="0F5E87"/>
                </a:solidFill>
                <a:latin typeface="Meiryo UI"/>
                <a:ea typeface="Meiryo UI"/>
              </a:rPr>
              <a:t>テンプレ活用率／標準提案採用率</a:t>
            </a:r>
          </a:p>
        </p:txBody>
      </p:sp>
      <p:sp>
        <p:nvSpPr>
          <p:cNvPr id="76" name="Rectangle 75"/>
          <p:cNvSpPr/>
          <p:nvPr/>
        </p:nvSpPr>
        <p:spPr>
          <a:xfrm>
            <a:off x="320040" y="4928616"/>
            <a:ext cx="1965960" cy="1078992"/>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402336" y="5157216"/>
            <a:ext cx="1810512" cy="640080"/>
          </a:xfrm>
          <a:prstGeom prst="rect">
            <a:avLst/>
          </a:prstGeom>
          <a:noFill/>
        </p:spPr>
        <p:txBody>
          <a:bodyPr wrap="square" lIns="0" rIns="0" tIns="0" bIns="0">
            <a:spAutoFit/>
          </a:bodyPr>
          <a:lstStyle/>
          <a:p>
            <a:pPr>
              <a:lnSpc>
                <a:spcPct val="110000"/>
              </a:lnSpc>
            </a:pPr>
            <a:r>
              <a:rPr sz="860" b="1">
                <a:solidFill>
                  <a:srgbClr val="FFFFFF"/>
                </a:solidFill>
                <a:latin typeface="Meiryo UI"/>
                <a:ea typeface="Meiryo UI"/>
              </a:rPr>
              <a:t>T4 組織・生産性
（ゼロ化×リバースロジ）</a:t>
            </a:r>
          </a:p>
        </p:txBody>
      </p:sp>
      <p:sp>
        <p:nvSpPr>
          <p:cNvPr id="78" name="Rectangle 77"/>
          <p:cNvSpPr/>
          <p:nvPr/>
        </p:nvSpPr>
        <p:spPr>
          <a:xfrm>
            <a:off x="2304288" y="4928616"/>
            <a:ext cx="329184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2377440" y="5047488"/>
            <a:ext cx="548640" cy="274320"/>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2395728" y="5084064"/>
            <a:ext cx="512064" cy="219456"/>
          </a:xfrm>
          <a:prstGeom prst="rect">
            <a:avLst/>
          </a:prstGeom>
          <a:noFill/>
        </p:spPr>
        <p:txBody>
          <a:bodyPr wrap="square" lIns="0" rIns="0" tIns="0" bIns="0">
            <a:spAutoFit/>
          </a:bodyPr>
          <a:lstStyle/>
          <a:p>
            <a:pPr>
              <a:lnSpc>
                <a:spcPct val="112000"/>
              </a:lnSpc>
            </a:pPr>
            <a:r>
              <a:rPr sz="780" b="1">
                <a:solidFill>
                  <a:srgbClr val="FFFFFF"/>
                </a:solidFill>
                <a:latin typeface="Meiryo UI"/>
                <a:ea typeface="Meiryo UI"/>
              </a:rPr>
              <a:t>D1★</a:t>
            </a:r>
          </a:p>
        </p:txBody>
      </p:sp>
      <p:sp>
        <p:nvSpPr>
          <p:cNvPr id="81" name="TextBox 80"/>
          <p:cNvSpPr txBox="1"/>
          <p:nvPr/>
        </p:nvSpPr>
        <p:spPr>
          <a:xfrm>
            <a:off x="2999232" y="4992624"/>
            <a:ext cx="2542032" cy="411479"/>
          </a:xfrm>
          <a:prstGeom prst="rect">
            <a:avLst/>
          </a:prstGeom>
          <a:noFill/>
        </p:spPr>
        <p:txBody>
          <a:bodyPr wrap="square" lIns="0" rIns="0" tIns="0" bIns="0">
            <a:spAutoFit/>
          </a:bodyPr>
          <a:lstStyle/>
          <a:p>
            <a:pPr>
              <a:lnSpc>
                <a:spcPct val="105000"/>
              </a:lnSpc>
            </a:pPr>
            <a:r>
              <a:rPr sz="800" b="1">
                <a:solidFill>
                  <a:srgbClr val="262626"/>
                </a:solidFill>
                <a:latin typeface="Meiryo UI"/>
                <a:ea typeface="Meiryo UI"/>
              </a:rPr>
              <a:t>Input業務ゼロ化（生成AI＋TPM）</a:t>
            </a:r>
          </a:p>
        </p:txBody>
      </p:sp>
      <p:sp>
        <p:nvSpPr>
          <p:cNvPr id="82" name="Rectangle 81"/>
          <p:cNvSpPr/>
          <p:nvPr/>
        </p:nvSpPr>
        <p:spPr>
          <a:xfrm>
            <a:off x="5614416" y="4928616"/>
            <a:ext cx="3383280" cy="52120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5705856" y="4983480"/>
            <a:ext cx="3200400" cy="429768"/>
          </a:xfrm>
          <a:prstGeom prst="rect">
            <a:avLst/>
          </a:prstGeom>
          <a:noFill/>
        </p:spPr>
        <p:txBody>
          <a:bodyPr wrap="square" lIns="0" rIns="0" tIns="0" bIns="0">
            <a:spAutoFit/>
          </a:bodyPr>
          <a:lstStyle/>
          <a:p>
            <a:pPr>
              <a:lnSpc>
                <a:spcPct val="105000"/>
              </a:lnSpc>
            </a:pPr>
            <a:r>
              <a:rPr sz="760" b="0">
                <a:solidFill>
                  <a:srgbClr val="262626"/>
                </a:solidFill>
                <a:latin typeface="Meiryo UI"/>
                <a:ea typeface="Meiryo UI"/>
              </a:rPr>
              <a:t>資料・集計の事務時間を構造的に削減し、時間を商談・共同設計へ</a:t>
            </a:r>
          </a:p>
        </p:txBody>
      </p:sp>
      <p:sp>
        <p:nvSpPr>
          <p:cNvPr id="84" name="Rectangle 83"/>
          <p:cNvSpPr/>
          <p:nvPr/>
        </p:nvSpPr>
        <p:spPr>
          <a:xfrm>
            <a:off x="9015984" y="4928616"/>
            <a:ext cx="269748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9107424" y="4983480"/>
            <a:ext cx="2523744" cy="429768"/>
          </a:xfrm>
          <a:prstGeom prst="rect">
            <a:avLst/>
          </a:prstGeom>
          <a:noFill/>
        </p:spPr>
        <p:txBody>
          <a:bodyPr wrap="square" lIns="0" rIns="0" tIns="0" bIns="0">
            <a:spAutoFit/>
          </a:bodyPr>
          <a:lstStyle/>
          <a:p>
            <a:pPr>
              <a:lnSpc>
                <a:spcPct val="105000"/>
              </a:lnSpc>
            </a:pPr>
            <a:r>
              <a:rPr sz="740" b="1">
                <a:solidFill>
                  <a:srgbClr val="0F5E87"/>
                </a:solidFill>
                <a:latin typeface="Meiryo UI"/>
                <a:ea typeface="Meiryo UI"/>
              </a:rPr>
              <a:t>事務時間削減率／対P&amp;G格差 7.6倍→半減</a:t>
            </a:r>
          </a:p>
        </p:txBody>
      </p:sp>
      <p:sp>
        <p:nvSpPr>
          <p:cNvPr id="86" name="Rectangle 85"/>
          <p:cNvSpPr/>
          <p:nvPr/>
        </p:nvSpPr>
        <p:spPr>
          <a:xfrm>
            <a:off x="2304288" y="5486400"/>
            <a:ext cx="329184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2377440" y="5605272"/>
            <a:ext cx="548640" cy="274320"/>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2395728" y="5641848"/>
            <a:ext cx="512064" cy="219456"/>
          </a:xfrm>
          <a:prstGeom prst="rect">
            <a:avLst/>
          </a:prstGeom>
          <a:noFill/>
        </p:spPr>
        <p:txBody>
          <a:bodyPr wrap="square" lIns="0" rIns="0" tIns="0" bIns="0">
            <a:spAutoFit/>
          </a:bodyPr>
          <a:lstStyle/>
          <a:p>
            <a:pPr>
              <a:lnSpc>
                <a:spcPct val="112000"/>
              </a:lnSpc>
            </a:pPr>
            <a:r>
              <a:rPr sz="780" b="1">
                <a:solidFill>
                  <a:srgbClr val="FFFFFF"/>
                </a:solidFill>
                <a:latin typeface="Meiryo UI"/>
                <a:ea typeface="Meiryo UI"/>
              </a:rPr>
              <a:t>D2</a:t>
            </a:r>
          </a:p>
        </p:txBody>
      </p:sp>
      <p:sp>
        <p:nvSpPr>
          <p:cNvPr id="89" name="TextBox 88"/>
          <p:cNvSpPr txBox="1"/>
          <p:nvPr/>
        </p:nvSpPr>
        <p:spPr>
          <a:xfrm>
            <a:off x="2999232" y="5550408"/>
            <a:ext cx="2542032" cy="411479"/>
          </a:xfrm>
          <a:prstGeom prst="rect">
            <a:avLst/>
          </a:prstGeom>
          <a:noFill/>
        </p:spPr>
        <p:txBody>
          <a:bodyPr wrap="square" lIns="0" rIns="0" tIns="0" bIns="0">
            <a:spAutoFit/>
          </a:bodyPr>
          <a:lstStyle/>
          <a:p>
            <a:pPr>
              <a:lnSpc>
                <a:spcPct val="105000"/>
              </a:lnSpc>
            </a:pPr>
            <a:r>
              <a:rPr sz="800" b="1">
                <a:solidFill>
                  <a:srgbClr val="262626"/>
                </a:solidFill>
                <a:latin typeface="Meiryo UI"/>
                <a:ea typeface="Meiryo UI"/>
              </a:rPr>
              <a:t>ダイヤモンド型組織への再編</a:t>
            </a:r>
          </a:p>
        </p:txBody>
      </p:sp>
      <p:sp>
        <p:nvSpPr>
          <p:cNvPr id="90" name="Rectangle 89"/>
          <p:cNvSpPr/>
          <p:nvPr/>
        </p:nvSpPr>
        <p:spPr>
          <a:xfrm>
            <a:off x="5614416" y="5486400"/>
            <a:ext cx="3383280" cy="52120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5705856" y="5541264"/>
            <a:ext cx="3200400" cy="429768"/>
          </a:xfrm>
          <a:prstGeom prst="rect">
            <a:avLst/>
          </a:prstGeom>
          <a:noFill/>
        </p:spPr>
        <p:txBody>
          <a:bodyPr wrap="square" lIns="0" rIns="0" tIns="0" bIns="0">
            <a:spAutoFit/>
          </a:bodyPr>
          <a:lstStyle/>
          <a:p>
            <a:pPr>
              <a:lnSpc>
                <a:spcPct val="105000"/>
              </a:lnSpc>
            </a:pPr>
            <a:r>
              <a:rPr sz="760" b="0">
                <a:solidFill>
                  <a:srgbClr val="262626"/>
                </a:solidFill>
                <a:latin typeface="Meiryo UI"/>
                <a:ea typeface="Meiryo UI"/>
              </a:rPr>
              <a:t>1対1のバタフライ型を解体し、組織対組織のJBP体制へ</a:t>
            </a:r>
          </a:p>
        </p:txBody>
      </p:sp>
      <p:sp>
        <p:nvSpPr>
          <p:cNvPr id="92" name="Rectangle 91"/>
          <p:cNvSpPr/>
          <p:nvPr/>
        </p:nvSpPr>
        <p:spPr>
          <a:xfrm>
            <a:off x="9015984" y="5486400"/>
            <a:ext cx="269748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9107424" y="5541264"/>
            <a:ext cx="2523744" cy="429768"/>
          </a:xfrm>
          <a:prstGeom prst="rect">
            <a:avLst/>
          </a:prstGeom>
          <a:noFill/>
        </p:spPr>
        <p:txBody>
          <a:bodyPr wrap="square" lIns="0" rIns="0" tIns="0" bIns="0">
            <a:spAutoFit/>
          </a:bodyPr>
          <a:lstStyle/>
          <a:p>
            <a:pPr>
              <a:lnSpc>
                <a:spcPct val="105000"/>
              </a:lnSpc>
            </a:pPr>
            <a:r>
              <a:rPr sz="740" b="1">
                <a:solidFill>
                  <a:srgbClr val="0F5E87"/>
                </a:solidFill>
                <a:latin typeface="Meiryo UI"/>
                <a:ea typeface="Meiryo UI"/>
              </a:rPr>
              <a:t>JBP締結チェーン数</a:t>
            </a:r>
          </a:p>
        </p:txBody>
      </p:sp>
      <p:sp>
        <p:nvSpPr>
          <p:cNvPr id="94" name="Rectangle 93"/>
          <p:cNvSpPr/>
          <p:nvPr/>
        </p:nvSpPr>
        <p:spPr>
          <a:xfrm>
            <a:off x="320040" y="6080760"/>
            <a:ext cx="11521440" cy="566928"/>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457200" y="6126480"/>
            <a:ext cx="11292840" cy="493776"/>
          </a:xfrm>
          <a:prstGeom prst="rect">
            <a:avLst/>
          </a:prstGeom>
          <a:noFill/>
        </p:spPr>
        <p:txBody>
          <a:bodyPr wrap="square" lIns="0" rIns="0" tIns="0" bIns="0">
            <a:spAutoFit/>
          </a:bodyPr>
          <a:lstStyle/>
          <a:p>
            <a:pPr>
              <a:lnSpc>
                <a:spcPct val="114000"/>
              </a:lnSpc>
            </a:pPr>
            <a:r>
              <a:rPr sz="860" b="1">
                <a:solidFill>
                  <a:srgbClr val="008D2E"/>
                </a:solidFill>
                <a:latin typeface="Meiryo UI"/>
                <a:ea typeface="Meiryo UI"/>
              </a:rPr>
              <a:t>真因との対応と投資規律：</a:t>
            </a:r>
            <a:r>
              <a:rPr sz="819" b="0">
                <a:solidFill>
                  <a:srgbClr val="262626"/>
                </a:solidFill>
                <a:latin typeface="Meiryo UI"/>
                <a:ea typeface="Meiryo UI"/>
              </a:rPr>
              <a:t>型（真因1）＝前頁・解決1の設計に従い、武器（真因2）＝A1・A2・C1・C2、回路（真因3）＝B1・D1・D2。各施策はROI計算式（分子＝売上増・時間削減・利益改善／分母＝投資）と撤退基準をセットで承認し、前提値はFY26上期に実測で確定する。</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EE4P_STYLE_ID" val="f547d190-3668-41f7-8510-759a08b5278f"/>
</p:tagLst>
</file>

<file path=ppt/tags/tag2.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3.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4.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5.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6.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7.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8.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9.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heme/theme1.xml><?xml version="1.0" encoding="utf-8"?>
<a:theme xmlns:a="http://schemas.openxmlformats.org/drawingml/2006/main" name="Office テーマ">
  <a:themeElements>
    <a:clrScheme name="ユーザー定義 3">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008D2E"/>
      </a:accent5>
      <a:accent6>
        <a:srgbClr val="70AD47"/>
      </a:accent6>
      <a:hlink>
        <a:srgbClr val="0563C1"/>
      </a:hlink>
      <a:folHlink>
        <a:srgbClr val="954F72"/>
      </a:folHlink>
    </a:clrScheme>
    <a:fontScheme name="Meiryo UI">
      <a:majorFont>
        <a:latin typeface="Meiryo UI"/>
        <a:ea typeface="Meiryo UI"/>
        <a:cs typeface=""/>
      </a:majorFont>
      <a:minorFont>
        <a:latin typeface="Meiryo UI"/>
        <a:ea typeface="Meiryo U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6">
            <a:lumMod val="20000"/>
            <a:lumOff val="80000"/>
          </a:schemeClr>
        </a:solidFill>
        <a:ln w="3175">
          <a:noFill/>
        </a:ln>
        <a:effectLst/>
      </a:spPr>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lgn="ctr">
          <a:defRPr sz="1400" dirty="0" smtClean="0">
            <a:solidFill>
              <a:schemeClr val="tx1"/>
            </a:solidFill>
            <a:latin typeface="Meiryo UI" panose="020B0604030504040204" pitchFamily="50" charset="-128"/>
            <a:ea typeface="Meiryo UI" panose="020B0604030504040204" pitchFamily="50" charset="-128"/>
          </a:defRPr>
        </a:defPPr>
      </a:lstStyle>
      <a:style>
        <a:lnRef idx="1">
          <a:schemeClr val="accent1"/>
        </a:lnRef>
        <a:fillRef idx="3">
          <a:schemeClr val="accent1"/>
        </a:fillRef>
        <a:effectRef idx="2">
          <a:schemeClr val="accent1"/>
        </a:effectRef>
        <a:fontRef idx="minor">
          <a:schemeClr val="lt1"/>
        </a:fontRef>
      </a:style>
    </a:spDef>
    <a:lnDef>
      <a:spPr>
        <a:ln>
          <a:solidFill>
            <a:schemeClr val="tx1"/>
          </a:solidFill>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プレゼンテーション1" id="{C55E6A12-3EF5-4C74-A9A5-996A9174E5AC}" vid="{AED920B8-8640-468C-970B-65DAA56A6812}"/>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ドキュメント" ma:contentTypeID="0x010100667F58365028D544AA740988642801B7" ma:contentTypeVersion="4" ma:contentTypeDescription="新しいドキュメントを作成します。" ma:contentTypeScope="" ma:versionID="bc76c07572b860ace8224c0271b6bb96">
  <xsd:schema xmlns:xsd="http://www.w3.org/2001/XMLSchema" xmlns:xs="http://www.w3.org/2001/XMLSchema" xmlns:p="http://schemas.microsoft.com/office/2006/metadata/properties" xmlns:ns2="8c1c9407-4680-4b4c-ac14-d1d287827f86" targetNamespace="http://schemas.microsoft.com/office/2006/metadata/properties" ma:root="true" ma:fieldsID="47583ab8e31be7e5044b872c9e9c7599" ns2:_="">
    <xsd:import namespace="8c1c9407-4680-4b4c-ac14-d1d287827f86"/>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c1c9407-4680-4b4c-ac14-d1d287827f8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8FA6147-ADCB-432E-B533-0080162DBFA4}">
  <ds:schemaRef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074f2a35-8cc4-4ad1-b0b6-60fb064ecec5"/>
    <ds:schemaRef ds:uri="http://purl.org/dc/elements/1.1/"/>
    <ds:schemaRef ds:uri="http://schemas.microsoft.com/office/2006/metadata/properties"/>
    <ds:schemaRef ds:uri="5a302c2d-1787-4a6f-b546-2016f8a66a26"/>
    <ds:schemaRef ds:uri="http://www.w3.org/XML/1998/namespace"/>
    <ds:schemaRef ds:uri="http://purl.org/dc/dcmitype/"/>
  </ds:schemaRefs>
</ds:datastoreItem>
</file>

<file path=customXml/itemProps2.xml><?xml version="1.0" encoding="utf-8"?>
<ds:datastoreItem xmlns:ds="http://schemas.openxmlformats.org/officeDocument/2006/customXml" ds:itemID="{60A7C669-CC4B-4827-97C7-09376F99CD13}">
  <ds:schemaRefs>
    <ds:schemaRef ds:uri="http://schemas.microsoft.com/sharepoint/v3/contenttype/forms"/>
  </ds:schemaRefs>
</ds:datastoreItem>
</file>

<file path=customXml/itemProps3.xml><?xml version="1.0" encoding="utf-8"?>
<ds:datastoreItem xmlns:ds="http://schemas.openxmlformats.org/officeDocument/2006/customXml" ds:itemID="{BCB0E288-7022-488F-A212-4A370D1C7B0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c1c9407-4680-4b4c-ac14-d1d287827f8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20241120_パワポテンプレ</Template>
  <TotalTime>3154</TotalTime>
  <Words>8562</Words>
  <Application>Microsoft Office PowerPoint</Application>
  <PresentationFormat>ワイド画面</PresentationFormat>
  <Paragraphs>688</Paragraphs>
  <Slides>24</Slides>
  <Notes>0</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24</vt:i4>
      </vt:variant>
    </vt:vector>
  </HeadingPairs>
  <TitlesOfParts>
    <vt:vector size="30" baseType="lpstr">
      <vt:lpstr>Meiryo UI</vt:lpstr>
      <vt:lpstr>メイリオ</vt:lpstr>
      <vt:lpstr>Arial</vt:lpstr>
      <vt:lpstr>Calibri</vt:lpstr>
      <vt:lpstr>Wingdings</vt:lpstr>
      <vt:lpstr>Office テーマ</vt:lpstr>
      <vt:lpstr>PowerPoint プレゼンテーション</vt:lpstr>
      <vt:lpstr>製造業を取り巻くマクロ環境変化 (PEST分析) </vt:lpstr>
      <vt:lpstr> 顧客 ･ 取引先 ･ 競合の変化</vt:lpstr>
      <vt:lpstr>自社の強み・弱み・機会・脅威（SWOT）</vt:lpstr>
      <vt:lpstr>目指す姿と現状のギャップ</vt:lpstr>
      <vt:lpstr>PowerPoint プレゼンテーション</vt:lpstr>
      <vt:lpstr>PowerPoint プレゼンテーション</vt:lpstr>
      <vt:lpstr> 解決の方向 ― 4つの変革テーマ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GAPから真因</vt:lpstr>
      <vt:lpstr>真因と解決策 ―「型を定める・武器を持つ・回路を回す」に1対1で答える</vt:lpstr>
      <vt:lpstr>4つの変革テーマ × 8つの重点施策</vt:lpstr>
      <vt:lpstr>Howの全体構造 ― 5つの経営テーマへのMECE接続</vt:lpstr>
      <vt:lpstr>出口 ― マーケティング・営業DXの姿（Before → After）</vt:lpstr>
      <vt:lpstr>マイルストーン（FY26–FY30）</vt:lpstr>
      <vt:lpstr>KGI/KPI体系 ― 北極星KPIとライオン固有のユニークKPI</vt:lpstr>
      <vt:lpstr>投資・体制観点の主要論点</vt:lpstr>
      <vt:lpstr>真因を受けた「進め方」と次のアクション</vt:lpstr>
    </vt:vector>
  </TitlesOfParts>
  <Company>lion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本日の目的</dc:title>
  <dc:creator>菊池;智裕</dc:creator>
  <cp:lastModifiedBy>菊池　智裕</cp:lastModifiedBy>
  <cp:revision>71</cp:revision>
  <dcterms:created xsi:type="dcterms:W3CDTF">2024-12-27T03:42:11Z</dcterms:created>
  <dcterms:modified xsi:type="dcterms:W3CDTF">2026-08-16T11:38:42Z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0x010100667F58365028D544AA740988642801B7</vt:lpwstr>
  </property>
</Properties>
</file>