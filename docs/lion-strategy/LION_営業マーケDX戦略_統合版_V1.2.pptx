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2147483620" r:id="rId18"/>
    <p:sldId id="2147483612" r:id="rId5"/>
    <p:sldId id="2147483613" r:id="rId6"/>
    <p:sldId id="2147483614" r:id="rId7"/>
    <p:sldId id="2147483616" r:id="rId9"/>
    <p:sldId id="2147483617" r:id="rId10"/>
    <p:sldId id="2147483622" r:id="rId20"/>
    <p:sldId id="2147483623" r:id="rId21"/>
    <p:sldId id="2147483619" r:id="rId8"/>
    <p:sldId id="2147483624" r:id="rId22"/>
    <p:sldId id="2147483625" r:id="rId23"/>
    <p:sldId id="2147483626" r:id="rId24"/>
    <p:sldId id="2147483627" r:id="rId25"/>
    <p:sldId id="2147483628" r:id="rId26"/>
    <p:sldId id="2147483629" r:id="rId27"/>
    <p:sldId id="2147483621" r:id="rId19"/>
  </p:sldIdLst>
  <p:sldSz cx="12192000" cy="6858000"/>
  <p:notesSz cx="6858000" cy="9144000"/>
  <p:custDataLst>
    <p:tags r:id="rId1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2026/7/21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slideLayout" Target="../slideLayouts/slideLayout2.xml"/><Relationship Id="rId5" Type="http://schemas.openxmlformats.org/officeDocument/2006/relationships/image" Target="../media/image33.svg"/><Relationship Id="rId6" Type="http://schemas.openxmlformats.org/officeDocument/2006/relationships/image" Target="../media/image34.svg"/><Relationship Id="rId7" Type="http://schemas.openxmlformats.org/officeDocument/2006/relationships/image" Target="../media/image35.svg"/><Relationship Id="rId8" Type="http://schemas.openxmlformats.org/officeDocument/2006/relationships/image" Target="../media/image36.svg"/><Relationship Id="rId9" Type="http://schemas.openxmlformats.org/officeDocument/2006/relationships/image" Target="../media/image37.svg"/><Relationship Id="rId10" Type="http://schemas.openxmlformats.org/officeDocument/2006/relationships/image" Target="../media/image38.svg"/><Relationship Id="rId11" Type="http://schemas.openxmlformats.org/officeDocument/2006/relationships/image" Target="../media/image39.svg"/></Relationships>
</file>

<file path=ppt/slides/_rels/slide7.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2  真因は社内の「作法」</a:t>
            </a:r>
          </a:p>
        </p:txBody>
      </p:sp>
      <p:sp>
        <p:nvSpPr>
          <p:cNvPr id="21" name="TextBox 20"/>
          <p:cNvSpPr txBox="1"/>
          <p:nvPr/>
        </p:nvSpPr>
        <p:spPr>
          <a:xfrm>
            <a:off x="3355848"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縦割り・内向き業務・切迫感の欠如の根っこは、全体最適の計画と効果検証の作法がなかったこと。過去の新規投資が点で終わった反省であり、経営が慎重なのは合理的な学習</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45351"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①勝てる土俵の再定義　②データ戦略　③商談価値　④組織・生産性 ― 真因に1対1で対応させ、点でなく線・面に束ねる。小さく実証→確認ゲート→段階拡大の順で諮る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3" y="1636776"/>
            <a:ext cx="2560320" cy="320040"/>
          </a:xfrm>
          <a:prstGeom prst="rect">
            <a:avLst/>
          </a:prstGeom>
          <a:noFill/>
        </p:spPr>
        <p:txBody>
          <a:bodyPr wrap="square" lIns="0" rIns="0" t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rIns="0" t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真因（掘り下げ）→ 解決（4テーマ×8施策 → 5経営テーマへのMECE接続）→ 出口（業務のBefore→After）→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7F607-E1E8-30C9-B06C-B593B07285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92161E-BDAE-1DE6-51A7-DD998B7CD0A4}"/>
              </a:ext>
            </a:extLst>
          </p:cNvPr>
          <p:cNvSpPr>
            <a:spLocks noGrp="1"/>
          </p:cNvSpPr>
          <p:nvPr>
            <p:ph type="title"/>
          </p:nvPr>
        </p:nvSpPr>
        <p:spPr>
          <a:xfrm>
            <a:off x="334963" y="1"/>
            <a:ext cx="11522075" cy="914400"/>
          </a:xfrm>
        </p:spPr>
        <p:txBody>
          <a:bodyPr/>
          <a:lstStyle/>
          <a:p>
            <a:r>
              <a:rPr kumimoji="1" lang="ja-JP" altLang="en-US" dirty="0">
                <a:latin typeface="+mn-ea"/>
                <a:ea typeface="+mn-ea"/>
              </a:rPr>
              <a:t>現状とのギャップと真因</a:t>
            </a:r>
          </a:p>
        </p:txBody>
      </p:sp>
      <p:sp>
        <p:nvSpPr>
          <p:cNvPr id="5" name="テキスト プレースホルダー 2">
            <a:extLst>
              <a:ext uri="{FF2B5EF4-FFF2-40B4-BE49-F238E27FC236}">
                <a16:creationId xmlns:a16="http://schemas.microsoft.com/office/drawing/2014/main" id="{F4EC8940-39DE-271F-4D60-53EA9AACEA9E}"/>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現場で生じているあらゆるギャップは、組織の縦割り、事務作業の常態化、未来の前提変化に対する切迫感の欠如という</a:t>
            </a:r>
            <a:br>
              <a:rPr lang="en-US" altLang="ja-JP" sz="1800" dirty="0">
                <a:latin typeface="+mn-ea"/>
                <a:ea typeface="+mn-ea"/>
              </a:rPr>
            </a:br>
            <a:r>
              <a:rPr lang="ja-JP" altLang="en-US" sz="1800" dirty="0">
                <a:latin typeface="+mn-ea"/>
                <a:ea typeface="+mn-ea"/>
              </a:rPr>
              <a:t>社内の構造的ボトルネックに起因 ― 根っこは全体最適の計画と効果検証の「作法」の不在</a:t>
            </a:r>
          </a:p>
        </p:txBody>
      </p:sp>
      <p:grpSp>
        <p:nvGrpSpPr>
          <p:cNvPr id="124" name="グループ化 123">
            <a:extLst>
              <a:ext uri="{FF2B5EF4-FFF2-40B4-BE49-F238E27FC236}">
                <a16:creationId xmlns:a16="http://schemas.microsoft.com/office/drawing/2014/main" id="{AC69F230-C189-9BF6-1E35-8B2DD2F6F110}"/>
              </a:ext>
            </a:extLst>
          </p:cNvPr>
          <p:cNvGrpSpPr/>
          <p:nvPr/>
        </p:nvGrpSpPr>
        <p:grpSpPr>
          <a:xfrm>
            <a:off x="334963" y="1628775"/>
            <a:ext cx="11523979" cy="4679950"/>
            <a:chOff x="334963" y="1628775"/>
            <a:chExt cx="11523979" cy="4679950"/>
          </a:xfrm>
        </p:grpSpPr>
        <p:cxnSp>
          <p:nvCxnSpPr>
            <p:cNvPr id="30" name="直線コネクタ 29">
              <a:extLst>
                <a:ext uri="{FF2B5EF4-FFF2-40B4-BE49-F238E27FC236}">
                  <a16:creationId xmlns:a16="http://schemas.microsoft.com/office/drawing/2014/main" id="{54E56C8A-642B-A5CD-A94E-95E8B9514EAA}"/>
                </a:ext>
              </a:extLst>
            </p:cNvPr>
            <p:cNvCxnSpPr/>
            <p:nvPr/>
          </p:nvCxnSpPr>
          <p:spPr>
            <a:xfrm>
              <a:off x="3235489" y="2579369"/>
              <a:ext cx="5719127"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2196A547-F63B-E75F-0B00-4DAF3582D79C}"/>
                </a:ext>
              </a:extLst>
            </p:cNvPr>
            <p:cNvSpPr/>
            <p:nvPr/>
          </p:nvSpPr>
          <p:spPr>
            <a:xfrm>
              <a:off x="5074783" y="2099733"/>
              <a:ext cx="3879833" cy="42383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GAPを生み出している構造的ボトルネック</a:t>
              </a:r>
            </a:p>
          </p:txBody>
        </p:sp>
        <p:sp>
          <p:nvSpPr>
            <p:cNvPr id="32" name="正方形/長方形 31">
              <a:extLst>
                <a:ext uri="{FF2B5EF4-FFF2-40B4-BE49-F238E27FC236}">
                  <a16:creationId xmlns:a16="http://schemas.microsoft.com/office/drawing/2014/main" id="{6646D3F8-CB1A-D812-9CCA-5175E020F652}"/>
                </a:ext>
              </a:extLst>
            </p:cNvPr>
            <p:cNvSpPr/>
            <p:nvPr/>
          </p:nvSpPr>
          <p:spPr>
            <a:xfrm>
              <a:off x="3272569" y="2099733"/>
              <a:ext cx="1765135" cy="423832"/>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latin typeface="+mn-ea"/>
                </a:rPr>
                <a:t>原因</a:t>
              </a:r>
              <a:r>
                <a:rPr lang="en-US" altLang="ja-JP" sz="1400" b="1" dirty="0">
                  <a:latin typeface="+mn-ea"/>
                </a:rPr>
                <a:t> (</a:t>
              </a:r>
              <a:r>
                <a:rPr lang="ja-JP" altLang="ja-JP" sz="1400" b="1" dirty="0">
                  <a:latin typeface="+mn-ea"/>
                </a:rPr>
                <a:t>真因</a:t>
              </a:r>
              <a:r>
                <a:rPr lang="en-US" altLang="ja-JP" sz="1400" b="1" dirty="0">
                  <a:latin typeface="+mn-ea"/>
                </a:rPr>
                <a:t>) </a:t>
              </a:r>
              <a:endParaRPr kumimoji="1" lang="ja-JP" altLang="en-US" sz="1400" dirty="0">
                <a:solidFill>
                  <a:schemeClr val="tx1"/>
                </a:solidFill>
                <a:latin typeface="+mn-ea"/>
              </a:endParaRPr>
            </a:p>
          </p:txBody>
        </p:sp>
        <p:sp>
          <p:nvSpPr>
            <p:cNvPr id="22" name="正方形/長方形 21">
              <a:extLst>
                <a:ext uri="{FF2B5EF4-FFF2-40B4-BE49-F238E27FC236}">
                  <a16:creationId xmlns:a16="http://schemas.microsoft.com/office/drawing/2014/main" id="{51D13621-E37A-8D3B-1402-DA4168EB67A3}"/>
                </a:ext>
              </a:extLst>
            </p:cNvPr>
            <p:cNvSpPr/>
            <p:nvPr/>
          </p:nvSpPr>
          <p:spPr>
            <a:xfrm>
              <a:off x="3235489" y="2681505"/>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縦割り組織による「知見の非換金性」</a:t>
              </a:r>
              <a:endParaRPr lang="en-US" altLang="ja-JP" sz="1300"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R&amp;D、マーケ、営業のKPI</a:t>
              </a:r>
              <a:r>
                <a:rPr lang="en-US" altLang="ja-JP" sz="1000" dirty="0">
                  <a:solidFill>
                    <a:schemeClr val="tx1"/>
                  </a:solidFill>
                  <a:latin typeface="+mn-ea"/>
                </a:rPr>
                <a:t> (</a:t>
              </a:r>
              <a:r>
                <a:rPr lang="ja-JP" altLang="ja-JP" sz="1000" dirty="0">
                  <a:solidFill>
                    <a:schemeClr val="tx1"/>
                  </a:solidFill>
                  <a:latin typeface="+mn-ea"/>
                </a:rPr>
                <a:t>評価指標</a:t>
              </a:r>
              <a:r>
                <a:rPr lang="en-US" altLang="ja-JP" sz="1000" dirty="0">
                  <a:solidFill>
                    <a:schemeClr val="tx1"/>
                  </a:solidFill>
                  <a:latin typeface="+mn-ea"/>
                </a:rPr>
                <a:t>) </a:t>
              </a:r>
              <a:r>
                <a:rPr lang="ja-JP" altLang="ja-JP" sz="1000" dirty="0">
                  <a:solidFill>
                    <a:schemeClr val="tx1"/>
                  </a:solidFill>
                  <a:latin typeface="+mn-ea"/>
                </a:rPr>
                <a:t>とデータ基盤が分断している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そのため、社内の強力な臨床</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行動データを、バイヤーが小売社内の</a:t>
              </a:r>
              <a:r>
                <a:rPr lang="ja-JP" altLang="en-US" sz="1000" dirty="0">
                  <a:solidFill>
                    <a:schemeClr val="tx1"/>
                  </a:solidFill>
                  <a:latin typeface="+mn-ea"/>
                </a:rPr>
                <a:t>データ検証</a:t>
              </a:r>
              <a:r>
                <a:rPr lang="ja-JP" altLang="ja-JP" sz="1000" dirty="0">
                  <a:solidFill>
                    <a:schemeClr val="tx1"/>
                  </a:solidFill>
                  <a:latin typeface="+mn-ea"/>
                </a:rPr>
                <a:t>を突破するため</a:t>
              </a:r>
              <a:br>
                <a:rPr lang="en-US" altLang="ja-JP" sz="1000" dirty="0">
                  <a:solidFill>
                    <a:schemeClr val="tx1"/>
                  </a:solidFill>
                  <a:latin typeface="+mn-ea"/>
                </a:rPr>
              </a:br>
              <a:r>
                <a:rPr lang="ja-JP" altLang="ja-JP" sz="1000" dirty="0">
                  <a:solidFill>
                    <a:schemeClr val="tx1"/>
                  </a:solidFill>
                  <a:latin typeface="+mn-ea"/>
                </a:rPr>
                <a:t>の「LTV予測」へ自動変換</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現場供給する「共通のデータ統合インフラ</a:t>
              </a:r>
              <a:r>
                <a:rPr lang="en-US" altLang="ja-JP" sz="1000" dirty="0">
                  <a:solidFill>
                    <a:schemeClr val="tx1"/>
                  </a:solidFill>
                  <a:latin typeface="+mn-ea"/>
                </a:rPr>
                <a:t> (</a:t>
              </a:r>
              <a:r>
                <a:rPr lang="ja-JP" altLang="ja-JP" sz="1000" dirty="0">
                  <a:solidFill>
                    <a:schemeClr val="tx1"/>
                  </a:solidFill>
                  <a:latin typeface="+mn-ea"/>
                </a:rPr>
                <a:t>GCP</a:t>
              </a:r>
              <a:r>
                <a:rPr lang="en-US" altLang="ja-JP" sz="1000" dirty="0">
                  <a:solidFill>
                    <a:schemeClr val="tx1"/>
                  </a:solidFill>
                  <a:latin typeface="+mn-ea"/>
                </a:rPr>
                <a:t>) </a:t>
              </a:r>
              <a:r>
                <a:rPr lang="ja-JP" altLang="ja-JP" sz="1000" dirty="0">
                  <a:solidFill>
                    <a:schemeClr val="tx1"/>
                  </a:solidFill>
                  <a:latin typeface="+mn-ea"/>
                </a:rPr>
                <a:t>」がそもそも存在しない</a:t>
              </a:r>
            </a:p>
          </p:txBody>
        </p:sp>
        <p:sp>
          <p:nvSpPr>
            <p:cNvPr id="43" name="正方形/長方形 42">
              <a:extLst>
                <a:ext uri="{FF2B5EF4-FFF2-40B4-BE49-F238E27FC236}">
                  <a16:creationId xmlns:a16="http://schemas.microsoft.com/office/drawing/2014/main" id="{E6ADC0FE-9B17-A121-B49D-7DF74A93556E}"/>
                </a:ext>
              </a:extLst>
            </p:cNvPr>
            <p:cNvSpPr/>
            <p:nvPr/>
          </p:nvSpPr>
          <p:spPr>
            <a:xfrm>
              <a:off x="3235489" y="3909179"/>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「内向きの作業」を仕事とする現場の慣性</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資料作成や実績集計の時間を「現場の仕方のない苦労」として許容している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7.6倍の圧倒的な生産性格差を埋めるために、「生成AIやTPMで現場の事務作業を強制的に</a:t>
              </a:r>
              <a:br>
                <a:rPr lang="en-US" altLang="ja-JP" sz="1000" dirty="0">
                  <a:solidFill>
                    <a:schemeClr val="tx1"/>
                  </a:solidFill>
                  <a:latin typeface="+mn-ea"/>
                </a:rPr>
              </a:br>
              <a:r>
                <a:rPr lang="ja-JP" altLang="ja-JP" sz="1000" dirty="0">
                  <a:solidFill>
                    <a:schemeClr val="tx1"/>
                  </a:solidFill>
                  <a:latin typeface="+mn-ea"/>
                </a:rPr>
                <a:t>完全ゼロ化し、人間の時間を100%戦略対話へシフトする」という思想的覚悟と仕組みが足りない</a:t>
              </a:r>
              <a:endParaRPr kumimoji="1" lang="ja-JP" altLang="en-US" sz="1000" dirty="0">
                <a:solidFill>
                  <a:schemeClr val="tx1"/>
                </a:solidFill>
                <a:latin typeface="+mn-ea"/>
              </a:endParaRPr>
            </a:p>
          </p:txBody>
        </p:sp>
        <p:sp>
          <p:nvSpPr>
            <p:cNvPr id="44" name="正方形/長方形 43">
              <a:extLst>
                <a:ext uri="{FF2B5EF4-FFF2-40B4-BE49-F238E27FC236}">
                  <a16:creationId xmlns:a16="http://schemas.microsoft.com/office/drawing/2014/main" id="{4E56282F-0A0A-E869-B013-0CEF1BF23E49}"/>
                </a:ext>
              </a:extLst>
            </p:cNvPr>
            <p:cNvSpPr/>
            <p:nvPr/>
          </p:nvSpPr>
          <p:spPr>
            <a:xfrm>
              <a:off x="3235489" y="5136853"/>
              <a:ext cx="5719127" cy="1171872"/>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48000" tIns="36000" rIns="36000" bIns="36000" numCol="1" spcCol="0" rtlCol="0" fromWordArt="0" anchor="ctr" anchorCtr="0" forceAA="0" compatLnSpc="1">
              <a:prstTxWarp prst="textNoShape">
                <a:avLst/>
              </a:prstTxWarp>
              <a:noAutofit/>
            </a:bodyPr>
            <a:lstStyle/>
            <a:p>
              <a:pPr>
                <a:spcAft>
                  <a:spcPts val="500"/>
                </a:spcAft>
              </a:pPr>
              <a:r>
                <a:rPr lang="ja-JP" altLang="ja-JP" sz="1300" b="1" dirty="0">
                  <a:solidFill>
                    <a:srgbClr val="008D2E"/>
                  </a:solidFill>
                  <a:latin typeface="+mn-ea"/>
                </a:rPr>
                <a:t>「前提の崩壊」に対する切迫感の欠如</a:t>
              </a:r>
              <a:endParaRPr lang="en-US" altLang="ja-JP" sz="1300" b="1" dirty="0">
                <a:solidFill>
                  <a:srgbClr val="008D2E"/>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2040年の「買い場の消滅</a:t>
              </a:r>
              <a:r>
                <a:rPr lang="en-US" altLang="ja-JP" sz="1000" dirty="0">
                  <a:solidFill>
                    <a:schemeClr val="tx1"/>
                  </a:solidFill>
                  <a:latin typeface="+mn-ea"/>
                </a:rPr>
                <a:t> (</a:t>
              </a:r>
              <a:r>
                <a:rPr lang="ja-JP" altLang="ja-JP" sz="1000" dirty="0">
                  <a:solidFill>
                    <a:schemeClr val="tx1"/>
                  </a:solidFill>
                  <a:latin typeface="+mn-ea"/>
                </a:rPr>
                <a:t>AI自動補充</a:t>
              </a:r>
              <a:r>
                <a:rPr lang="en-US" altLang="ja-JP" sz="1000" dirty="0">
                  <a:solidFill>
                    <a:schemeClr val="tx1"/>
                  </a:solidFill>
                  <a:latin typeface="+mn-ea"/>
                </a:rPr>
                <a:t>) </a:t>
              </a:r>
              <a:r>
                <a:rPr lang="ja-JP" altLang="ja-JP" sz="1000" dirty="0">
                  <a:solidFill>
                    <a:schemeClr val="tx1"/>
                  </a:solidFill>
                  <a:latin typeface="+mn-ea"/>
                </a:rPr>
                <a:t>」や「環境規制の義務化</a:t>
              </a:r>
              <a:r>
                <a:rPr lang="en-US" altLang="ja-JP" sz="1000" dirty="0">
                  <a:solidFill>
                    <a:schemeClr val="tx1"/>
                  </a:solidFill>
                  <a:latin typeface="+mn-ea"/>
                </a:rPr>
                <a:t> (</a:t>
              </a:r>
              <a:r>
                <a:rPr lang="ja-JP" altLang="ja-JP" sz="1000" dirty="0">
                  <a:solidFill>
                    <a:schemeClr val="tx1"/>
                  </a:solidFill>
                  <a:latin typeface="+mn-ea"/>
                </a:rPr>
                <a:t>Scope 3</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容器完全回収</a:t>
              </a:r>
              <a:br>
                <a:rPr lang="en-US" altLang="ja-JP" sz="1000" dirty="0">
                  <a:solidFill>
                    <a:schemeClr val="tx1"/>
                  </a:solidFill>
                  <a:latin typeface="+mn-ea"/>
                </a:rPr>
              </a:br>
              <a:r>
                <a:rPr lang="ja-JP" altLang="ja-JP" sz="1000" dirty="0">
                  <a:solidFill>
                    <a:schemeClr val="tx1"/>
                  </a:solidFill>
                  <a:latin typeface="+mn-ea"/>
                </a:rPr>
                <a:t>等</a:t>
              </a:r>
              <a:r>
                <a:rPr lang="en-US" altLang="ja-JP" sz="1000" dirty="0">
                  <a:solidFill>
                    <a:schemeClr val="tx1"/>
                  </a:solidFill>
                  <a:latin typeface="+mn-ea"/>
                </a:rPr>
                <a:t>) </a:t>
              </a:r>
              <a:r>
                <a:rPr lang="ja-JP" altLang="ja-JP" sz="1000" dirty="0">
                  <a:solidFill>
                    <a:schemeClr val="tx1"/>
                  </a:solidFill>
                  <a:latin typeface="+mn-ea"/>
                </a:rPr>
                <a:t>」を、遠い未来のCSRやIT部門のテーマと捉えている</a:t>
              </a:r>
              <a:endParaRPr lang="en-US" altLang="ja-JP" sz="1000" dirty="0">
                <a:solidFill>
                  <a:schemeClr val="tx1"/>
                </a:solidFill>
                <a:latin typeface="+mn-ea"/>
              </a:endParaRPr>
            </a:p>
            <a:p>
              <a:pPr marL="90488" indent="-90488">
                <a:spcAft>
                  <a:spcPts val="500"/>
                </a:spcAft>
                <a:buClr>
                  <a:srgbClr val="008D2E"/>
                </a:buClr>
                <a:buFont typeface="Arial" panose="020B0604020202020204" pitchFamily="34" charset="0"/>
                <a:buChar char="•"/>
              </a:pPr>
              <a:r>
                <a:rPr lang="ja-JP" altLang="ja-JP" sz="1000" dirty="0">
                  <a:solidFill>
                    <a:schemeClr val="tx1"/>
                  </a:solidFill>
                  <a:latin typeface="+mn-ea"/>
                </a:rPr>
                <a:t>自社の「ブランド生存権がアルゴリズムによって市場から自動消去される危機」として、</a:t>
              </a:r>
              <a:br>
                <a:rPr lang="en-US" altLang="ja-JP" sz="1000" dirty="0">
                  <a:solidFill>
                    <a:schemeClr val="tx1"/>
                  </a:solidFill>
                  <a:latin typeface="+mn-ea"/>
                </a:rPr>
              </a:br>
              <a:r>
                <a:rPr lang="ja-JP" altLang="ja-JP" sz="1000" dirty="0">
                  <a:solidFill>
                    <a:schemeClr val="tx1"/>
                  </a:solidFill>
                  <a:latin typeface="+mn-ea"/>
                </a:rPr>
                <a:t>営業</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マーケの現場レベルまで危機感が共有されていない</a:t>
              </a:r>
              <a:endParaRPr kumimoji="1" lang="ja-JP" altLang="en-US" sz="1000" dirty="0">
                <a:solidFill>
                  <a:schemeClr val="tx1"/>
                </a:solidFill>
                <a:latin typeface="+mn-ea"/>
              </a:endParaRPr>
            </a:p>
          </p:txBody>
        </p:sp>
        <p:sp>
          <p:nvSpPr>
            <p:cNvPr id="10" name="正方形/長方形 9">
              <a:extLst>
                <a:ext uri="{FF2B5EF4-FFF2-40B4-BE49-F238E27FC236}">
                  <a16:creationId xmlns:a16="http://schemas.microsoft.com/office/drawing/2014/main" id="{FF6B5DA5-BB40-B6D2-C0B5-5CB9C91FD3D6}"/>
                </a:ext>
              </a:extLst>
            </p:cNvPr>
            <p:cNvSpPr/>
            <p:nvPr/>
          </p:nvSpPr>
          <p:spPr>
            <a:xfrm>
              <a:off x="334963" y="2681504"/>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ja-JP" sz="950" dirty="0">
                  <a:solidFill>
                    <a:schemeClr val="tx1"/>
                  </a:solidFill>
                  <a:latin typeface="+mn-ea"/>
                </a:rPr>
                <a:t>洗剤領域での不毛な消耗戦から脱却</a:t>
              </a:r>
              <a:br>
                <a:rPr lang="en-US" altLang="ja-JP" sz="950" dirty="0">
                  <a:solidFill>
                    <a:schemeClr val="tx1"/>
                  </a:solidFill>
                  <a:latin typeface="+mn-ea"/>
                </a:rPr>
              </a:br>
              <a:r>
                <a:rPr lang="ja-JP" altLang="ja-JP" sz="950" dirty="0">
                  <a:solidFill>
                    <a:schemeClr val="tx1"/>
                  </a:solidFill>
                  <a:latin typeface="+mn-ea"/>
                </a:rPr>
                <a:t>できず、オーラルやキレイキレイ等の強み</a:t>
              </a:r>
              <a:br>
                <a:rPr lang="en-US" altLang="ja-JP" sz="950" dirty="0">
                  <a:solidFill>
                    <a:schemeClr val="tx1"/>
                  </a:solidFill>
                  <a:latin typeface="+mn-ea"/>
                </a:rPr>
              </a:br>
              <a:r>
                <a:rPr lang="ja-JP" altLang="ja-JP" sz="950" dirty="0">
                  <a:solidFill>
                    <a:schemeClr val="tx1"/>
                  </a:solidFill>
                  <a:latin typeface="+mn-ea"/>
                </a:rPr>
                <a:t>領域を未来のAI自動補充システムへ</a:t>
              </a:r>
              <a:br>
                <a:rPr lang="en-US" altLang="ja-JP" sz="950" dirty="0">
                  <a:solidFill>
                    <a:schemeClr val="tx1"/>
                  </a:solidFill>
                  <a:latin typeface="+mn-ea"/>
                </a:rPr>
              </a:br>
              <a:r>
                <a:rPr lang="ja-JP" altLang="ja-JP" sz="950" dirty="0">
                  <a:solidFill>
                    <a:schemeClr val="tx1"/>
                  </a:solidFill>
                  <a:latin typeface="+mn-ea"/>
                </a:rPr>
                <a:t>潜り込ませるための「製品属性データの</a:t>
              </a:r>
              <a:br>
                <a:rPr lang="en-US" altLang="ja-JP" sz="950" dirty="0">
                  <a:solidFill>
                    <a:schemeClr val="tx1"/>
                  </a:solidFill>
                  <a:latin typeface="+mn-ea"/>
                </a:rPr>
              </a:br>
              <a:r>
                <a:rPr lang="ja-JP" altLang="ja-JP" sz="950" dirty="0">
                  <a:solidFill>
                    <a:schemeClr val="tx1"/>
                  </a:solidFill>
                  <a:latin typeface="+mn-ea"/>
                </a:rPr>
                <a:t>構造化</a:t>
              </a:r>
              <a:r>
                <a:rPr lang="en-US" altLang="ja-JP" sz="950" dirty="0">
                  <a:solidFill>
                    <a:schemeClr val="tx1"/>
                  </a:solidFill>
                  <a:latin typeface="+mn-ea"/>
                </a:rPr>
                <a:t> </a:t>
              </a:r>
              <a:r>
                <a:rPr lang="ja-JP" altLang="en-US" sz="950" dirty="0">
                  <a:solidFill>
                    <a:schemeClr val="tx1"/>
                  </a:solidFill>
                  <a:latin typeface="+mn-ea"/>
                </a:rPr>
                <a:t>･ </a:t>
              </a:r>
              <a:r>
                <a:rPr lang="ja-JP" altLang="ja-JP" sz="950" dirty="0">
                  <a:solidFill>
                    <a:schemeClr val="tx1"/>
                  </a:solidFill>
                  <a:latin typeface="+mn-ea"/>
                </a:rPr>
                <a:t>API化」に未着手である</a:t>
              </a:r>
              <a:endParaRPr kumimoji="1" lang="ja-JP" altLang="en-US" sz="950" dirty="0">
                <a:solidFill>
                  <a:schemeClr val="tx1"/>
                </a:solidFill>
                <a:latin typeface="+mn-ea"/>
              </a:endParaRPr>
            </a:p>
          </p:txBody>
        </p:sp>
        <p:sp>
          <p:nvSpPr>
            <p:cNvPr id="15" name="四角形: 角を丸くする 14">
              <a:extLst>
                <a:ext uri="{FF2B5EF4-FFF2-40B4-BE49-F238E27FC236}">
                  <a16:creationId xmlns:a16="http://schemas.microsoft.com/office/drawing/2014/main" id="{ACE527CA-409C-630C-8672-041428968DCD}"/>
                </a:ext>
              </a:extLst>
            </p:cNvPr>
            <p:cNvSpPr/>
            <p:nvPr/>
          </p:nvSpPr>
          <p:spPr>
            <a:xfrm>
              <a:off x="435607"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1</a:t>
              </a:r>
              <a:endParaRPr kumimoji="1" lang="ja-JP" altLang="en-US" sz="1400" dirty="0">
                <a:solidFill>
                  <a:schemeClr val="bg1"/>
                </a:solidFill>
                <a:latin typeface="+mn-ea"/>
              </a:endParaRPr>
            </a:p>
          </p:txBody>
        </p:sp>
        <p:pic>
          <p:nvPicPr>
            <p:cNvPr id="102" name="グラフィックス 101" descr="階層 単色塗りつぶし">
              <a:extLst>
                <a:ext uri="{FF2B5EF4-FFF2-40B4-BE49-F238E27FC236}">
                  <a16:creationId xmlns:a16="http://schemas.microsoft.com/office/drawing/2014/main" id="{1C3061FE-C03C-A988-71E1-C9FC92A317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10667" y="4024673"/>
              <a:ext cx="360000" cy="360000"/>
            </a:xfrm>
            <a:prstGeom prst="rect">
              <a:avLst/>
            </a:prstGeom>
          </p:spPr>
        </p:pic>
        <p:pic>
          <p:nvPicPr>
            <p:cNvPr id="104" name="グラフィックス 103" descr="上階 単色塗りつぶし">
              <a:extLst>
                <a:ext uri="{FF2B5EF4-FFF2-40B4-BE49-F238E27FC236}">
                  <a16:creationId xmlns:a16="http://schemas.microsoft.com/office/drawing/2014/main" id="{02941425-0D92-878F-6708-ED264C924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7038" y="4024673"/>
              <a:ext cx="360000" cy="360000"/>
            </a:xfrm>
            <a:prstGeom prst="rect">
              <a:avLst/>
            </a:prstGeom>
          </p:spPr>
        </p:pic>
        <p:sp>
          <p:nvSpPr>
            <p:cNvPr id="14" name="正方形/長方形 13">
              <a:extLst>
                <a:ext uri="{FF2B5EF4-FFF2-40B4-BE49-F238E27FC236}">
                  <a16:creationId xmlns:a16="http://schemas.microsoft.com/office/drawing/2014/main" id="{CB2EAD6E-72D5-0D5A-0AA6-15B7F5767709}"/>
                </a:ext>
              </a:extLst>
            </p:cNvPr>
            <p:cNvSpPr/>
            <p:nvPr/>
          </p:nvSpPr>
          <p:spPr>
            <a:xfrm>
              <a:off x="334963" y="4605556"/>
              <a:ext cx="2035704"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144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データ</a:t>
              </a:r>
              <a:r>
                <a:rPr lang="ja-JP" altLang="ja-JP" sz="1000" dirty="0">
                  <a:solidFill>
                    <a:schemeClr val="tx1"/>
                  </a:solidFill>
                  <a:latin typeface="+mn-ea"/>
                </a:rPr>
                <a:t>検証に怯えるバイヤーが最も欲している「</a:t>
              </a:r>
              <a:r>
                <a:rPr lang="ja-JP" altLang="en-US" sz="1000" dirty="0">
                  <a:solidFill>
                    <a:schemeClr val="tx1"/>
                  </a:solidFill>
                  <a:latin typeface="+mn-ea"/>
                </a:rPr>
                <a:t>安心材料</a:t>
              </a:r>
              <a:r>
                <a:rPr lang="en-US" altLang="ja-JP" sz="1000" dirty="0">
                  <a:solidFill>
                    <a:schemeClr val="tx1"/>
                  </a:solidFill>
                  <a:latin typeface="+mn-ea"/>
                </a:rPr>
                <a:t>(</a:t>
              </a:r>
              <a:r>
                <a:rPr lang="ja-JP" altLang="ja-JP" sz="1000" dirty="0">
                  <a:solidFill>
                    <a:schemeClr val="tx1"/>
                  </a:solidFill>
                  <a:latin typeface="+mn-ea"/>
                </a:rPr>
                <a:t>チェーン全体のカテゴリLTVや炭素効率の予測データ</a:t>
              </a:r>
              <a:r>
                <a:rPr lang="en-US" altLang="ja-JP" sz="1000" dirty="0">
                  <a:solidFill>
                    <a:schemeClr val="tx1"/>
                  </a:solidFill>
                  <a:latin typeface="+mn-ea"/>
                </a:rPr>
                <a:t>) </a:t>
              </a:r>
              <a:r>
                <a:rPr lang="ja-JP" altLang="ja-JP" sz="1000" dirty="0">
                  <a:solidFill>
                    <a:schemeClr val="tx1"/>
                  </a:solidFill>
                  <a:latin typeface="+mn-ea"/>
                </a:rPr>
                <a:t>」ではなく、従来型の「目先の値引き</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特売条件」を提案し続けるという商談価値のミスマッチが起きている</a:t>
              </a:r>
              <a:endParaRPr lang="ja-JP" altLang="en-US" sz="1000" dirty="0">
                <a:solidFill>
                  <a:schemeClr val="tx1"/>
                </a:solidFill>
                <a:latin typeface="+mn-ea"/>
              </a:endParaRPr>
            </a:p>
          </p:txBody>
        </p:sp>
        <p:sp>
          <p:nvSpPr>
            <p:cNvPr id="21" name="四角形: 角を丸くする 20">
              <a:extLst>
                <a:ext uri="{FF2B5EF4-FFF2-40B4-BE49-F238E27FC236}">
                  <a16:creationId xmlns:a16="http://schemas.microsoft.com/office/drawing/2014/main" id="{F8F93723-17BB-4FD1-C916-521F39D875EA}"/>
                </a:ext>
              </a:extLst>
            </p:cNvPr>
            <p:cNvSpPr/>
            <p:nvPr/>
          </p:nvSpPr>
          <p:spPr>
            <a:xfrm>
              <a:off x="435607"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3</a:t>
              </a:r>
              <a:endParaRPr kumimoji="1" lang="ja-JP" altLang="en-US" sz="1400" dirty="0">
                <a:solidFill>
                  <a:schemeClr val="bg1"/>
                </a:solidFill>
                <a:latin typeface="+mn-ea"/>
              </a:endParaRPr>
            </a:p>
          </p:txBody>
        </p:sp>
        <p:pic>
          <p:nvPicPr>
            <p:cNvPr id="106" name="グラフィックス 105" descr="クリップボード: 混合 単色塗りつぶし">
              <a:extLst>
                <a:ext uri="{FF2B5EF4-FFF2-40B4-BE49-F238E27FC236}">
                  <a16:creationId xmlns:a16="http://schemas.microsoft.com/office/drawing/2014/main" id="{874DE686-3313-2D62-5331-C34B20E76D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10667" y="5948725"/>
              <a:ext cx="360000" cy="360000"/>
            </a:xfrm>
            <a:prstGeom prst="rect">
              <a:avLst/>
            </a:prstGeom>
          </p:spPr>
        </p:pic>
        <p:sp>
          <p:nvSpPr>
            <p:cNvPr id="24" name="正方形/長方形 23">
              <a:extLst>
                <a:ext uri="{FF2B5EF4-FFF2-40B4-BE49-F238E27FC236}">
                  <a16:creationId xmlns:a16="http://schemas.microsoft.com/office/drawing/2014/main" id="{74D2818D-FBDB-47FA-D2CC-4DFCA598CD77}"/>
                </a:ext>
              </a:extLst>
            </p:cNvPr>
            <p:cNvSpPr/>
            <p:nvPr/>
          </p:nvSpPr>
          <p:spPr>
            <a:xfrm>
              <a:off x="9819438" y="2681504"/>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ja-JP" sz="1000" dirty="0">
                  <a:solidFill>
                    <a:schemeClr val="tx1"/>
                  </a:solidFill>
                  <a:latin typeface="+mn-ea"/>
                </a:rPr>
                <a:t>自社データ劣後の焦りから自前D2C</a:t>
              </a:r>
              <a:r>
                <a:rPr lang="en-US" altLang="ja-JP" sz="1000" dirty="0">
                  <a:solidFill>
                    <a:schemeClr val="tx1"/>
                  </a:solidFill>
                  <a:latin typeface="+mn-ea"/>
                </a:rPr>
                <a:t> (</a:t>
              </a:r>
              <a:r>
                <a:rPr lang="ja-JP" altLang="ja-JP" sz="1000" dirty="0">
                  <a:solidFill>
                    <a:schemeClr val="tx1"/>
                  </a:solidFill>
                  <a:latin typeface="+mn-ea"/>
                </a:rPr>
                <a:t>My Kaoの模倣</a:t>
              </a:r>
              <a:r>
                <a:rPr lang="en-US" altLang="ja-JP" sz="1000" dirty="0">
                  <a:solidFill>
                    <a:schemeClr val="tx1"/>
                  </a:solidFill>
                  <a:latin typeface="+mn-ea"/>
                </a:rPr>
                <a:t>) </a:t>
              </a:r>
              <a:r>
                <a:rPr lang="ja-JP" altLang="ja-JP" sz="1000" dirty="0">
                  <a:solidFill>
                    <a:schemeClr val="tx1"/>
                  </a:solidFill>
                  <a:latin typeface="+mn-ea"/>
                </a:rPr>
                <a:t>を追いかけるか、小売に振り回されるかの二極化に陥り</a:t>
              </a:r>
              <a:r>
                <a:rPr lang="ja-JP" altLang="en-US" sz="1000" dirty="0">
                  <a:solidFill>
                    <a:schemeClr val="tx1"/>
                  </a:solidFill>
                  <a:latin typeface="+mn-ea"/>
                </a:rPr>
                <a:t>、</a:t>
              </a:r>
              <a:r>
                <a:rPr lang="ja-JP" altLang="ja-JP" sz="1000" dirty="0">
                  <a:solidFill>
                    <a:schemeClr val="tx1"/>
                  </a:solidFill>
                  <a:latin typeface="+mn-ea"/>
                </a:rPr>
                <a:t>小売インフラを高度に利用する寄生型へシフトできていない</a:t>
              </a:r>
              <a:endParaRPr lang="ja-JP" altLang="en-US" sz="1000" dirty="0">
                <a:solidFill>
                  <a:schemeClr val="tx1"/>
                </a:solidFill>
                <a:latin typeface="+mn-ea"/>
              </a:endParaRPr>
            </a:p>
          </p:txBody>
        </p:sp>
        <p:sp>
          <p:nvSpPr>
            <p:cNvPr id="26" name="四角形: 角を丸くする 25">
              <a:extLst>
                <a:ext uri="{FF2B5EF4-FFF2-40B4-BE49-F238E27FC236}">
                  <a16:creationId xmlns:a16="http://schemas.microsoft.com/office/drawing/2014/main" id="{2BC3DE40-967B-2D41-84E7-E8480A908765}"/>
                </a:ext>
              </a:extLst>
            </p:cNvPr>
            <p:cNvSpPr/>
            <p:nvPr/>
          </p:nvSpPr>
          <p:spPr>
            <a:xfrm>
              <a:off x="9899448" y="2533436"/>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2</a:t>
              </a:r>
              <a:endParaRPr kumimoji="1" lang="ja-JP" altLang="en-US" sz="1400" dirty="0">
                <a:solidFill>
                  <a:schemeClr val="bg1"/>
                </a:solidFill>
                <a:latin typeface="+mn-ea"/>
              </a:endParaRPr>
            </a:p>
          </p:txBody>
        </p:sp>
        <p:sp>
          <p:nvSpPr>
            <p:cNvPr id="25" name="正方形/長方形 24">
              <a:extLst>
                <a:ext uri="{FF2B5EF4-FFF2-40B4-BE49-F238E27FC236}">
                  <a16:creationId xmlns:a16="http://schemas.microsoft.com/office/drawing/2014/main" id="{9A1E42BB-F4D4-699C-1CF3-45CA1CB0CE99}"/>
                </a:ext>
              </a:extLst>
            </p:cNvPr>
            <p:cNvSpPr/>
            <p:nvPr/>
          </p:nvSpPr>
          <p:spPr>
            <a:xfrm>
              <a:off x="9819438" y="4605556"/>
              <a:ext cx="2037600" cy="1703169"/>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36000" rIns="36000" bIns="36000" numCol="1" spcCol="0" rtlCol="0" fromWordArt="0" anchor="ctr" anchorCtr="0" forceAA="0" compatLnSpc="1">
              <a:prstTxWarp prst="textNoShape">
                <a:avLst/>
              </a:prstTxWarp>
              <a:noAutofit/>
            </a:bodyPr>
            <a:lstStyle/>
            <a:p>
              <a:r>
                <a:rPr lang="ja-JP" altLang="en-US" sz="1000" dirty="0">
                  <a:solidFill>
                    <a:schemeClr val="tx1"/>
                  </a:solidFill>
                  <a:latin typeface="+mn-ea"/>
                </a:rPr>
                <a:t>人手不足と環境規制で店舗運営 </a:t>
              </a:r>
              <a:r>
                <a:rPr lang="en-US" altLang="ja-JP" sz="1000" dirty="0">
                  <a:solidFill>
                    <a:schemeClr val="tx1"/>
                  </a:solidFill>
                  <a:latin typeface="+mn-ea"/>
                </a:rPr>
                <a:t>(</a:t>
              </a:r>
              <a:r>
                <a:rPr lang="ja-JP" altLang="en-US" sz="1000" dirty="0">
                  <a:solidFill>
                    <a:schemeClr val="tx1"/>
                  </a:solidFill>
                  <a:latin typeface="+mn-ea"/>
                </a:rPr>
                <a:t>逆物流含む</a:t>
              </a:r>
              <a:r>
                <a:rPr lang="en-US" altLang="ja-JP" sz="1000" dirty="0">
                  <a:solidFill>
                    <a:schemeClr val="tx1"/>
                  </a:solidFill>
                  <a:latin typeface="+mn-ea"/>
                </a:rPr>
                <a:t>) </a:t>
              </a:r>
              <a:r>
                <a:rPr lang="ja-JP" altLang="en-US" sz="1000" dirty="0">
                  <a:solidFill>
                    <a:schemeClr val="tx1"/>
                  </a:solidFill>
                  <a:latin typeface="+mn-ea"/>
                </a:rPr>
                <a:t>が困難にある小売に対し、組織総力戦でのアプローチができず、営業個人のウェットな関係性 </a:t>
              </a:r>
              <a:r>
                <a:rPr lang="en-US" altLang="ja-JP" sz="1000" dirty="0">
                  <a:solidFill>
                    <a:schemeClr val="tx1"/>
                  </a:solidFill>
                  <a:latin typeface="+mn-ea"/>
                </a:rPr>
                <a:t>(</a:t>
              </a:r>
              <a:r>
                <a:rPr lang="ja-JP" altLang="en-US" sz="1000" dirty="0">
                  <a:solidFill>
                    <a:schemeClr val="tx1"/>
                  </a:solidFill>
                  <a:latin typeface="+mn-ea"/>
                </a:rPr>
                <a:t>属人化</a:t>
              </a:r>
              <a:r>
                <a:rPr lang="en-US" altLang="ja-JP" sz="1000" dirty="0">
                  <a:solidFill>
                    <a:schemeClr val="tx1"/>
                  </a:solidFill>
                  <a:latin typeface="+mn-ea"/>
                </a:rPr>
                <a:t>)</a:t>
              </a:r>
              <a:r>
                <a:rPr lang="ja-JP" altLang="en-US" sz="1000" dirty="0">
                  <a:solidFill>
                    <a:schemeClr val="tx1"/>
                  </a:solidFill>
                  <a:latin typeface="+mn-ea"/>
                </a:rPr>
                <a:t> で乗り切ろうとしている</a:t>
              </a:r>
              <a:r>
                <a:rPr lang="en-US" altLang="ja-JP" sz="1000" dirty="0">
                  <a:solidFill>
                    <a:schemeClr val="tx1"/>
                  </a:solidFill>
                  <a:latin typeface="+mn-ea"/>
                </a:rPr>
                <a:t>​</a:t>
              </a:r>
              <a:endParaRPr lang="ja-JP" altLang="en-US" sz="1000" dirty="0">
                <a:solidFill>
                  <a:schemeClr val="tx1"/>
                </a:solidFill>
                <a:latin typeface="+mn-ea"/>
              </a:endParaRPr>
            </a:p>
          </p:txBody>
        </p:sp>
        <p:sp>
          <p:nvSpPr>
            <p:cNvPr id="27" name="四角形: 角を丸くする 26">
              <a:extLst>
                <a:ext uri="{FF2B5EF4-FFF2-40B4-BE49-F238E27FC236}">
                  <a16:creationId xmlns:a16="http://schemas.microsoft.com/office/drawing/2014/main" id="{337BF068-1735-7E63-1491-EF470B4A27B6}"/>
                </a:ext>
              </a:extLst>
            </p:cNvPr>
            <p:cNvSpPr/>
            <p:nvPr/>
          </p:nvSpPr>
          <p:spPr>
            <a:xfrm>
              <a:off x="9899448" y="4490164"/>
              <a:ext cx="1016000" cy="256952"/>
            </a:xfrm>
            <a:prstGeom prst="roundRect">
              <a:avLst>
                <a:gd name="adj" fmla="val 50000"/>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chemeClr val="bg1"/>
                  </a:solidFill>
                  <a:latin typeface="+mn-ea"/>
                </a:rPr>
                <a:t>GAP</a:t>
              </a:r>
              <a:r>
                <a:rPr lang="en-US" altLang="ja-JP" sz="1400" b="1" dirty="0">
                  <a:solidFill>
                    <a:schemeClr val="bg1"/>
                  </a:solidFill>
                  <a:latin typeface="+mn-ea"/>
                </a:rPr>
                <a:t>4</a:t>
              </a:r>
              <a:endParaRPr kumimoji="1" lang="ja-JP" altLang="en-US" sz="1400" dirty="0">
                <a:solidFill>
                  <a:schemeClr val="bg1"/>
                </a:solidFill>
                <a:latin typeface="+mn-ea"/>
              </a:endParaRPr>
            </a:p>
          </p:txBody>
        </p:sp>
        <p:pic>
          <p:nvPicPr>
            <p:cNvPr id="108" name="グラフィックス 107" descr="中世の甲冑 単色塗りつぶし">
              <a:extLst>
                <a:ext uri="{FF2B5EF4-FFF2-40B4-BE49-F238E27FC236}">
                  <a16:creationId xmlns:a16="http://schemas.microsoft.com/office/drawing/2014/main" id="{8F7161FF-D0B9-AC29-CF66-4F240430C15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97038" y="5948725"/>
              <a:ext cx="360000" cy="360000"/>
            </a:xfrm>
            <a:prstGeom prst="rect">
              <a:avLst/>
            </a:prstGeom>
          </p:spPr>
        </p:pic>
        <p:sp>
          <p:nvSpPr>
            <p:cNvPr id="16" name="background">
              <a:extLst>
                <a:ext uri="{FF2B5EF4-FFF2-40B4-BE49-F238E27FC236}">
                  <a16:creationId xmlns:a16="http://schemas.microsoft.com/office/drawing/2014/main" id="{0CCE175C-C338-B319-0446-59D242859DC8}"/>
                </a:ext>
              </a:extLst>
            </p:cNvPr>
            <p:cNvSpPr>
              <a:spLocks noChangeAspect="1"/>
            </p:cNvSpPr>
            <p:nvPr>
              <p:custDataLst>
                <p:tags r:id="rId1"/>
              </p:custDataLst>
            </p:nvPr>
          </p:nvSpPr>
          <p:spPr>
            <a:xfrm>
              <a:off x="3428953" y="2852954"/>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18" name="グラフィックス 17" descr="マネジメント 単色塗りつぶし">
              <a:extLst>
                <a:ext uri="{FF2B5EF4-FFF2-40B4-BE49-F238E27FC236}">
                  <a16:creationId xmlns:a16="http://schemas.microsoft.com/office/drawing/2014/main" id="{BED9AD71-8A75-D505-454B-1A2F506700C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02953" y="3181482"/>
              <a:ext cx="504000" cy="504000"/>
            </a:xfrm>
            <a:prstGeom prst="rect">
              <a:avLst/>
            </a:prstGeom>
          </p:spPr>
        </p:pic>
        <p:sp>
          <p:nvSpPr>
            <p:cNvPr id="20" name="background">
              <a:extLst>
                <a:ext uri="{FF2B5EF4-FFF2-40B4-BE49-F238E27FC236}">
                  <a16:creationId xmlns:a16="http://schemas.microsoft.com/office/drawing/2014/main" id="{8BE0457B-A56E-55D2-85FB-FE1087A5D9C2}"/>
                </a:ext>
              </a:extLst>
            </p:cNvPr>
            <p:cNvSpPr>
              <a:spLocks noChangeAspect="1"/>
            </p:cNvSpPr>
            <p:nvPr>
              <p:custDataLst>
                <p:tags r:id="rId2"/>
              </p:custDataLst>
            </p:nvPr>
          </p:nvSpPr>
          <p:spPr>
            <a:xfrm>
              <a:off x="3428953" y="4111108"/>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28" name="グラフィックス 27" descr="ブリーフケース 単色塗りつぶし">
              <a:extLst>
                <a:ext uri="{FF2B5EF4-FFF2-40B4-BE49-F238E27FC236}">
                  <a16:creationId xmlns:a16="http://schemas.microsoft.com/office/drawing/2014/main" id="{799A438A-3965-ADF8-7C87-04ECA0AFF2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02953" y="4433615"/>
              <a:ext cx="504000" cy="504000"/>
            </a:xfrm>
            <a:prstGeom prst="rect">
              <a:avLst/>
            </a:prstGeom>
          </p:spPr>
        </p:pic>
        <p:sp>
          <p:nvSpPr>
            <p:cNvPr id="33" name="background">
              <a:extLst>
                <a:ext uri="{FF2B5EF4-FFF2-40B4-BE49-F238E27FC236}">
                  <a16:creationId xmlns:a16="http://schemas.microsoft.com/office/drawing/2014/main" id="{0CDBD66A-FC8E-C302-5C8B-740E0EE5038D}"/>
                </a:ext>
              </a:extLst>
            </p:cNvPr>
            <p:cNvSpPr>
              <a:spLocks noChangeAspect="1"/>
            </p:cNvSpPr>
            <p:nvPr>
              <p:custDataLst>
                <p:tags r:id="rId3"/>
              </p:custDataLst>
            </p:nvPr>
          </p:nvSpPr>
          <p:spPr>
            <a:xfrm>
              <a:off x="3428953" y="5282981"/>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39" name="グラフィックス 38" descr="混乱した人 単色塗りつぶし">
              <a:extLst>
                <a:ext uri="{FF2B5EF4-FFF2-40B4-BE49-F238E27FC236}">
                  <a16:creationId xmlns:a16="http://schemas.microsoft.com/office/drawing/2014/main" id="{E5C02EF5-7B1E-4BA4-A63D-28A0BBD46E7D}"/>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3302953" y="5672719"/>
              <a:ext cx="504000" cy="504000"/>
            </a:xfrm>
            <a:prstGeom prst="rect">
              <a:avLst/>
            </a:prstGeom>
          </p:spPr>
        </p:pic>
        <p:grpSp>
          <p:nvGrpSpPr>
            <p:cNvPr id="42" name="グループ化 41">
              <a:extLst>
                <a:ext uri="{FF2B5EF4-FFF2-40B4-BE49-F238E27FC236}">
                  <a16:creationId xmlns:a16="http://schemas.microsoft.com/office/drawing/2014/main" id="{EEF3D26F-B2E4-F1CE-F76B-CD3D510E9ECB}"/>
                </a:ext>
              </a:extLst>
            </p:cNvPr>
            <p:cNvGrpSpPr/>
            <p:nvPr/>
          </p:nvGrpSpPr>
          <p:grpSpPr>
            <a:xfrm>
              <a:off x="9532620" y="1628775"/>
              <a:ext cx="2326322" cy="596265"/>
              <a:chOff x="8737600" y="1628775"/>
              <a:chExt cx="3119438" cy="596265"/>
            </a:xfrm>
          </p:grpSpPr>
          <p:sp>
            <p:nvSpPr>
              <p:cNvPr id="45" name="正方形/長方形 44">
                <a:extLst>
                  <a:ext uri="{FF2B5EF4-FFF2-40B4-BE49-F238E27FC236}">
                    <a16:creationId xmlns:a16="http://schemas.microsoft.com/office/drawing/2014/main" id="{23188CFF-2DD4-DD82-89B3-B5FE2B4092AE}"/>
                  </a:ext>
                </a:extLst>
              </p:cNvPr>
              <p:cNvSpPr/>
              <p:nvPr/>
            </p:nvSpPr>
            <p:spPr>
              <a:xfrm>
                <a:off x="8737600" y="1761897"/>
                <a:ext cx="3119438" cy="463143"/>
              </a:xfrm>
              <a:prstGeom prst="rect">
                <a:avLst/>
              </a:prstGeom>
              <a:no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47" name="グループ化 46">
                <a:extLst>
                  <a:ext uri="{FF2B5EF4-FFF2-40B4-BE49-F238E27FC236}">
                    <a16:creationId xmlns:a16="http://schemas.microsoft.com/office/drawing/2014/main" id="{68ABDFE9-7F81-2C04-EF02-7895F7DD0D05}"/>
                  </a:ext>
                </a:extLst>
              </p:cNvPr>
              <p:cNvGrpSpPr/>
              <p:nvPr/>
            </p:nvGrpSpPr>
            <p:grpSpPr>
              <a:xfrm>
                <a:off x="8909993" y="1628775"/>
                <a:ext cx="2780280" cy="549045"/>
                <a:chOff x="8909993" y="1628775"/>
                <a:chExt cx="2780280" cy="549045"/>
              </a:xfrm>
            </p:grpSpPr>
            <p:sp>
              <p:nvSpPr>
                <p:cNvPr id="48" name="正方形/長方形 47">
                  <a:extLst>
                    <a:ext uri="{FF2B5EF4-FFF2-40B4-BE49-F238E27FC236}">
                      <a16:creationId xmlns:a16="http://schemas.microsoft.com/office/drawing/2014/main" id="{46E57BDD-EC05-09CF-3AA9-804EF437E55A}"/>
                    </a:ext>
                  </a:extLst>
                </p:cNvPr>
                <p:cNvSpPr/>
                <p:nvPr/>
              </p:nvSpPr>
              <p:spPr>
                <a:xfrm>
                  <a:off x="9008533" y="1628775"/>
                  <a:ext cx="1803301" cy="281191"/>
                </a:xfrm>
                <a:prstGeom prst="rect">
                  <a:avLst/>
                </a:prstGeom>
                <a:solidFill>
                  <a:schemeClr val="bg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真因へのつながり</a:t>
                  </a:r>
                </a:p>
              </p:txBody>
            </p:sp>
            <p:grpSp>
              <p:nvGrpSpPr>
                <p:cNvPr id="49" name="グループ化 48">
                  <a:extLst>
                    <a:ext uri="{FF2B5EF4-FFF2-40B4-BE49-F238E27FC236}">
                      <a16:creationId xmlns:a16="http://schemas.microsoft.com/office/drawing/2014/main" id="{D0ABEE52-A61E-CBFC-F627-8AB4BAE2EBA6}"/>
                    </a:ext>
                  </a:extLst>
                </p:cNvPr>
                <p:cNvGrpSpPr/>
                <p:nvPr/>
              </p:nvGrpSpPr>
              <p:grpSpPr>
                <a:xfrm>
                  <a:off x="8909993" y="1896629"/>
                  <a:ext cx="2780280" cy="281191"/>
                  <a:chOff x="9008533" y="1953846"/>
                  <a:chExt cx="2780280" cy="281191"/>
                </a:xfrm>
              </p:grpSpPr>
              <p:grpSp>
                <p:nvGrpSpPr>
                  <p:cNvPr id="52" name="グループ化 51">
                    <a:extLst>
                      <a:ext uri="{FF2B5EF4-FFF2-40B4-BE49-F238E27FC236}">
                        <a16:creationId xmlns:a16="http://schemas.microsoft.com/office/drawing/2014/main" id="{5DE6F6DB-E9FB-2A81-7A7C-38D26A2C72FF}"/>
                      </a:ext>
                    </a:extLst>
                  </p:cNvPr>
                  <p:cNvGrpSpPr/>
                  <p:nvPr/>
                </p:nvGrpSpPr>
                <p:grpSpPr>
                  <a:xfrm>
                    <a:off x="9008533" y="1953846"/>
                    <a:ext cx="1360289" cy="281191"/>
                    <a:chOff x="9008533" y="1953846"/>
                    <a:chExt cx="1360289" cy="281191"/>
                  </a:xfrm>
                </p:grpSpPr>
                <p:sp>
                  <p:nvSpPr>
                    <p:cNvPr id="58" name="正方形/長方形 57">
                      <a:extLst>
                        <a:ext uri="{FF2B5EF4-FFF2-40B4-BE49-F238E27FC236}">
                          <a16:creationId xmlns:a16="http://schemas.microsoft.com/office/drawing/2014/main" id="{813E1BB4-6093-986C-7F55-8215B539B0F0}"/>
                        </a:ext>
                      </a:extLst>
                    </p:cNvPr>
                    <p:cNvSpPr/>
                    <p:nvPr/>
                  </p:nvSpPr>
                  <p:spPr>
                    <a:xfrm>
                      <a:off x="9755634" y="1953846"/>
                      <a:ext cx="613188"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主</a:t>
                      </a:r>
                    </a:p>
                  </p:txBody>
                </p:sp>
                <p:cxnSp>
                  <p:nvCxnSpPr>
                    <p:cNvPr id="59" name="直線矢印コネクタ 58">
                      <a:extLst>
                        <a:ext uri="{FF2B5EF4-FFF2-40B4-BE49-F238E27FC236}">
                          <a16:creationId xmlns:a16="http://schemas.microsoft.com/office/drawing/2014/main" id="{1C11176F-2390-8AE8-466A-9CDAD52DB9C6}"/>
                        </a:ext>
                      </a:extLst>
                    </p:cNvPr>
                    <p:cNvCxnSpPr>
                      <a:cxnSpLocks/>
                    </p:cNvCxnSpPr>
                    <p:nvPr/>
                  </p:nvCxnSpPr>
                  <p:spPr>
                    <a:xfrm flipH="1">
                      <a:off x="9008533" y="2099733"/>
                      <a:ext cx="423333" cy="0"/>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3" name="グループ化 52">
                    <a:extLst>
                      <a:ext uri="{FF2B5EF4-FFF2-40B4-BE49-F238E27FC236}">
                        <a16:creationId xmlns:a16="http://schemas.microsoft.com/office/drawing/2014/main" id="{A628F9FC-8781-7347-3C02-E84773E100F3}"/>
                      </a:ext>
                    </a:extLst>
                  </p:cNvPr>
                  <p:cNvGrpSpPr/>
                  <p:nvPr/>
                </p:nvGrpSpPr>
                <p:grpSpPr>
                  <a:xfrm>
                    <a:off x="10530699" y="1953846"/>
                    <a:ext cx="1258114" cy="281191"/>
                    <a:chOff x="10953485" y="1953846"/>
                    <a:chExt cx="1258114" cy="281191"/>
                  </a:xfrm>
                </p:grpSpPr>
                <p:sp>
                  <p:nvSpPr>
                    <p:cNvPr id="55" name="正方形/長方形 54">
                      <a:extLst>
                        <a:ext uri="{FF2B5EF4-FFF2-40B4-BE49-F238E27FC236}">
                          <a16:creationId xmlns:a16="http://schemas.microsoft.com/office/drawing/2014/main" id="{29EA6E44-6B94-B24F-BC33-1CB891E1D934}"/>
                        </a:ext>
                      </a:extLst>
                    </p:cNvPr>
                    <p:cNvSpPr/>
                    <p:nvPr/>
                  </p:nvSpPr>
                  <p:spPr>
                    <a:xfrm>
                      <a:off x="11598409" y="1953846"/>
                      <a:ext cx="613190" cy="28119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n-ea"/>
                        </a:rPr>
                        <a:t>副</a:t>
                      </a:r>
                    </a:p>
                  </p:txBody>
                </p:sp>
                <p:cxnSp>
                  <p:nvCxnSpPr>
                    <p:cNvPr id="56" name="直線矢印コネクタ 55">
                      <a:extLst>
                        <a:ext uri="{FF2B5EF4-FFF2-40B4-BE49-F238E27FC236}">
                          <a16:creationId xmlns:a16="http://schemas.microsoft.com/office/drawing/2014/main" id="{2723A8F6-4A30-CDC3-D28A-DE142689872E}"/>
                        </a:ext>
                      </a:extLst>
                    </p:cNvPr>
                    <p:cNvCxnSpPr>
                      <a:cxnSpLocks/>
                    </p:cNvCxnSpPr>
                    <p:nvPr/>
                  </p:nvCxnSpPr>
                  <p:spPr>
                    <a:xfrm flipH="1">
                      <a:off x="10953485" y="2094442"/>
                      <a:ext cx="423333"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123" name="グループ化 122">
              <a:extLst>
                <a:ext uri="{FF2B5EF4-FFF2-40B4-BE49-F238E27FC236}">
                  <a16:creationId xmlns:a16="http://schemas.microsoft.com/office/drawing/2014/main" id="{67EC6E40-B416-0E9B-D458-D2AC13C5B3F2}"/>
                </a:ext>
              </a:extLst>
            </p:cNvPr>
            <p:cNvGrpSpPr/>
            <p:nvPr/>
          </p:nvGrpSpPr>
          <p:grpSpPr>
            <a:xfrm>
              <a:off x="2368762" y="3267441"/>
              <a:ext cx="866727" cy="2455348"/>
              <a:chOff x="2368762" y="3267441"/>
              <a:chExt cx="866727" cy="2455348"/>
            </a:xfrm>
          </p:grpSpPr>
          <p:cxnSp>
            <p:nvCxnSpPr>
              <p:cNvPr id="62" name="コネクタ: カギ線 61">
                <a:extLst>
                  <a:ext uri="{FF2B5EF4-FFF2-40B4-BE49-F238E27FC236}">
                    <a16:creationId xmlns:a16="http://schemas.microsoft.com/office/drawing/2014/main" id="{963E3A35-90CC-52AA-BB74-356C5D7D200C}"/>
                  </a:ext>
                </a:extLst>
              </p:cNvPr>
              <p:cNvCxnSpPr>
                <a:cxnSpLocks/>
                <a:stCxn id="10" idx="3"/>
                <a:endCxn id="44" idx="1"/>
              </p:cNvCxnSpPr>
              <p:nvPr/>
            </p:nvCxnSpPr>
            <p:spPr>
              <a:xfrm>
                <a:off x="2370667" y="3533089"/>
                <a:ext cx="864822" cy="2189700"/>
              </a:xfrm>
              <a:prstGeom prst="bentConnector3">
                <a:avLst>
                  <a:gd name="adj1" fmla="val 50000"/>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40EB64DA-4990-8DB6-6541-AAD5724310C7}"/>
                  </a:ext>
                </a:extLst>
              </p:cNvPr>
              <p:cNvCxnSpPr>
                <a:cxnSpLocks/>
              </p:cNvCxnSpPr>
              <p:nvPr/>
            </p:nvCxnSpPr>
            <p:spPr>
              <a:xfrm>
                <a:off x="2370667" y="3428948"/>
                <a:ext cx="864822" cy="0"/>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013861CE-3E6A-E9DC-CDA8-294DF0F6BBB9}"/>
                  </a:ext>
                </a:extLst>
              </p:cNvPr>
              <p:cNvCxnSpPr>
                <a:cxnSpLocks/>
                <a:stCxn id="14" idx="3"/>
                <a:endCxn id="22" idx="1"/>
              </p:cNvCxnSpPr>
              <p:nvPr/>
            </p:nvCxnSpPr>
            <p:spPr>
              <a:xfrm flipV="1">
                <a:off x="2370667" y="3267441"/>
                <a:ext cx="864822" cy="2189700"/>
              </a:xfrm>
              <a:prstGeom prst="bentConnector3">
                <a:avLst>
                  <a:gd name="adj1" fmla="val 24154"/>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955E7D6C-8EB4-23D5-CEFE-EA5C18A3DA38}"/>
                  </a:ext>
                </a:extLst>
              </p:cNvPr>
              <p:cNvCxnSpPr>
                <a:cxnSpLocks/>
                <a:endCxn id="43" idx="1"/>
              </p:cNvCxnSpPr>
              <p:nvPr/>
            </p:nvCxnSpPr>
            <p:spPr>
              <a:xfrm flipV="1">
                <a:off x="2368762" y="4495115"/>
                <a:ext cx="866727" cy="1093866"/>
              </a:xfrm>
              <a:prstGeom prst="bentConnector3">
                <a:avLst>
                  <a:gd name="adj1" fmla="val 36519"/>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8" name="円弧 117">
                <a:extLst>
                  <a:ext uri="{FF2B5EF4-FFF2-40B4-BE49-F238E27FC236}">
                    <a16:creationId xmlns:a16="http://schemas.microsoft.com/office/drawing/2014/main" id="{8A682081-E8FA-2BFA-DDBD-EC920C7B1E90}"/>
                  </a:ext>
                </a:extLst>
              </p:cNvPr>
              <p:cNvSpPr/>
              <p:nvPr/>
            </p:nvSpPr>
            <p:spPr>
              <a:xfrm>
                <a:off x="2747752" y="4448855"/>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19" name="円弧 118">
                <a:extLst>
                  <a:ext uri="{FF2B5EF4-FFF2-40B4-BE49-F238E27FC236}">
                    <a16:creationId xmlns:a16="http://schemas.microsoft.com/office/drawing/2014/main" id="{2E8FDDAC-E9CD-FF5B-2074-4194CCC6009D}"/>
                  </a:ext>
                </a:extLst>
              </p:cNvPr>
              <p:cNvSpPr/>
              <p:nvPr/>
            </p:nvSpPr>
            <p:spPr>
              <a:xfrm>
                <a:off x="2521692" y="348766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sp>
            <p:nvSpPr>
              <p:cNvPr id="120" name="円弧 119">
                <a:extLst>
                  <a:ext uri="{FF2B5EF4-FFF2-40B4-BE49-F238E27FC236}">
                    <a16:creationId xmlns:a16="http://schemas.microsoft.com/office/drawing/2014/main" id="{D7C0E8B2-9AC6-D7A0-5AE0-EEB93EE12B64}"/>
                  </a:ext>
                </a:extLst>
              </p:cNvPr>
              <p:cNvSpPr/>
              <p:nvPr/>
            </p:nvSpPr>
            <p:spPr>
              <a:xfrm>
                <a:off x="2521692" y="3381389"/>
                <a:ext cx="108745" cy="105917"/>
              </a:xfrm>
              <a:prstGeom prst="arc">
                <a:avLst>
                  <a:gd name="adj1" fmla="val 10862459"/>
                  <a:gd name="adj2" fmla="val 0"/>
                </a:avLst>
              </a:prstGeom>
              <a:solidFill>
                <a:schemeClr val="bg1"/>
              </a:solidFill>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nvGrpSpPr>
            <p:cNvPr id="122" name="グループ化 121">
              <a:extLst>
                <a:ext uri="{FF2B5EF4-FFF2-40B4-BE49-F238E27FC236}">
                  <a16:creationId xmlns:a16="http://schemas.microsoft.com/office/drawing/2014/main" id="{E5FDE108-6BF1-3BE0-99FA-EE38BEEA2A99}"/>
                </a:ext>
              </a:extLst>
            </p:cNvPr>
            <p:cNvGrpSpPr/>
            <p:nvPr/>
          </p:nvGrpSpPr>
          <p:grpSpPr>
            <a:xfrm>
              <a:off x="8954210" y="3368496"/>
              <a:ext cx="865228" cy="2647261"/>
              <a:chOff x="8954210" y="3368496"/>
              <a:chExt cx="865228" cy="2647261"/>
            </a:xfrm>
          </p:grpSpPr>
          <p:cxnSp>
            <p:nvCxnSpPr>
              <p:cNvPr id="69" name="コネクタ: カギ線 68">
                <a:extLst>
                  <a:ext uri="{FF2B5EF4-FFF2-40B4-BE49-F238E27FC236}">
                    <a16:creationId xmlns:a16="http://schemas.microsoft.com/office/drawing/2014/main" id="{E1B3F07A-A3A0-C827-2DE8-D4843009CD89}"/>
                  </a:ext>
                </a:extLst>
              </p:cNvPr>
              <p:cNvCxnSpPr>
                <a:cxnSpLocks/>
                <a:stCxn id="24" idx="1"/>
                <a:endCxn id="44" idx="3"/>
              </p:cNvCxnSpPr>
              <p:nvPr/>
            </p:nvCxnSpPr>
            <p:spPr>
              <a:xfrm rot="10800000" flipV="1">
                <a:off x="8954616" y="3533089"/>
                <a:ext cx="864822" cy="2189700"/>
              </a:xfrm>
              <a:prstGeom prst="bentConnector3">
                <a:avLst>
                  <a:gd name="adj1" fmla="val 50000"/>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C77EBE0-E3D3-124D-A4E1-59A5C3A3CA04}"/>
                  </a:ext>
                </a:extLst>
              </p:cNvPr>
              <p:cNvCxnSpPr>
                <a:cxnSpLocks/>
              </p:cNvCxnSpPr>
              <p:nvPr/>
            </p:nvCxnSpPr>
            <p:spPr>
              <a:xfrm flipH="1" flipV="1">
                <a:off x="8954616" y="3368496"/>
                <a:ext cx="864822" cy="1"/>
              </a:xfrm>
              <a:prstGeom prst="straightConnector1">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コネクタ: カギ線 104">
                <a:extLst>
                  <a:ext uri="{FF2B5EF4-FFF2-40B4-BE49-F238E27FC236}">
                    <a16:creationId xmlns:a16="http://schemas.microsoft.com/office/drawing/2014/main" id="{0C406B83-4C0A-419C-4D66-5F6FFD807453}"/>
                  </a:ext>
                </a:extLst>
              </p:cNvPr>
              <p:cNvCxnSpPr>
                <a:cxnSpLocks/>
                <a:stCxn id="25" idx="1"/>
                <a:endCxn id="43" idx="3"/>
              </p:cNvCxnSpPr>
              <p:nvPr/>
            </p:nvCxnSpPr>
            <p:spPr>
              <a:xfrm rot="10800000">
                <a:off x="8954616" y="4495115"/>
                <a:ext cx="864822" cy="962026"/>
              </a:xfrm>
              <a:prstGeom prst="bentConnector3">
                <a:avLst>
                  <a:gd name="adj1" fmla="val 20923"/>
                </a:avLst>
              </a:prstGeom>
              <a:ln w="9525">
                <a:solidFill>
                  <a:srgbClr val="008D2E"/>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68AE1082-24CA-B45C-14D9-57B976BCBB6C}"/>
                  </a:ext>
                </a:extLst>
              </p:cNvPr>
              <p:cNvCxnSpPr>
                <a:cxnSpLocks/>
              </p:cNvCxnSpPr>
              <p:nvPr/>
            </p:nvCxnSpPr>
            <p:spPr>
              <a:xfrm flipH="1" flipV="1">
                <a:off x="8954210" y="6015756"/>
                <a:ext cx="864822" cy="1"/>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円弧 120">
                <a:extLst>
                  <a:ext uri="{FF2B5EF4-FFF2-40B4-BE49-F238E27FC236}">
                    <a16:creationId xmlns:a16="http://schemas.microsoft.com/office/drawing/2014/main" id="{0FCC7E6B-F2F6-AA79-9722-B88B67183405}"/>
                  </a:ext>
                </a:extLst>
              </p:cNvPr>
              <p:cNvSpPr/>
              <p:nvPr/>
            </p:nvSpPr>
            <p:spPr>
              <a:xfrm>
                <a:off x="9332194" y="4448773"/>
                <a:ext cx="108745" cy="105917"/>
              </a:xfrm>
              <a:prstGeom prst="arc">
                <a:avLst>
                  <a:gd name="adj1" fmla="val 10862459"/>
                  <a:gd name="adj2" fmla="val 0"/>
                </a:avLst>
              </a:prstGeom>
              <a:solidFill>
                <a:schemeClr val="bg1"/>
              </a:solidFill>
              <a:ln w="9525">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ja-JP" altLang="en-US">
                  <a:latin typeface="+mn-ea"/>
                </a:endParaRPr>
              </a:p>
            </p:txBody>
          </p:sp>
        </p:grpSp>
      </p:grpSp>
      <p:sp>
        <p:nvSpPr>
          <p:cNvPr id="3" name="正方形/長方形 2">
            <a:extLst>
              <a:ext uri="{FF2B5EF4-FFF2-40B4-BE49-F238E27FC236}">
                <a16:creationId xmlns:a16="http://schemas.microsoft.com/office/drawing/2014/main" id="{B5A81557-3D7B-42CA-D637-C3F7E41A32D5}"/>
              </a:ext>
            </a:extLst>
          </p:cNvPr>
          <p:cNvSpPr/>
          <p:nvPr/>
        </p:nvSpPr>
        <p:spPr>
          <a:xfrm>
            <a:off x="12602892" y="4806291"/>
            <a:ext cx="3250773" cy="54952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
            </a:r>
            <a:r>
              <a:rPr lang="ja-JP" altLang="en-US" sz="1400" dirty="0">
                <a:solidFill>
                  <a:schemeClr val="tx1"/>
                </a:solidFill>
                <a:latin typeface="Meiryo UI" panose="020B0604030504040204" pitchFamily="50" charset="-128"/>
                <a:ea typeface="Meiryo UI" panose="020B0604030504040204" pitchFamily="50" charset="-128"/>
              </a:rPr>
              <a:t>※ 詳細な施策・体制・時間割・KPIは別冊「経営テーマ起点 実行構想」に展開</a:t>
            </a:r>
            <a:endParaRPr lang="en-US" altLang="ja-JP"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4553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8686800" cy="457200"/>
          </a:xfrm>
          <a:prstGeom prst="rect">
            <a:avLst/>
          </a:prstGeom>
          <a:noFill/>
        </p:spPr>
        <p:txBody>
          <a:bodyPr wrap="square" lIns="0" rIns="0" t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68096"/>
            <a:ext cx="274320" cy="274320"/>
          </a:xfrm>
          <a:prstGeom prst="rect">
            <a:avLst/>
          </a:prstGeom>
          <a:noFill/>
        </p:spPr>
        <p:txBody>
          <a:bodyPr wrap="square" lIns="0" rIns="0" t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rIns="0" tIns="0" bIns="0">
            <a:spAutoFit/>
          </a:bodyPr>
          <a:lstStyle/>
          <a:p>
            <a:pPr>
              <a:lnSpc>
                <a:spcPct val="120000"/>
              </a:lnSpc>
            </a:pPr>
            <a:r>
              <a:rPr sz="1250" b="1">
                <a:solidFill>
                  <a:srgbClr val="262626"/>
                </a:solidFill>
                <a:latin typeface="Meiryo UI"/>
                <a:ea typeface="Meiryo UI"/>
              </a:rPr>
              <a:t>真因（作法の不在）への答えは、テーマの中身だけでなく進め方に置く。次回デジタル戦略会議では「決めること」を3つに絞って諮る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処方A・B　実行の作法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17627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45643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736592"/>
            <a:ext cx="5303520" cy="274320"/>
          </a:xfrm>
          <a:prstGeom prst="rect">
            <a:avLst/>
          </a:prstGeom>
          <a:noFill/>
        </p:spPr>
        <p:txBody>
          <a:bodyPr wrap="square" lIns="0" rIns="0" t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636776"/>
            <a:ext cx="5303520" cy="320040"/>
          </a:xfrm>
          <a:prstGeom prst="rect">
            <a:avLst/>
          </a:prstGeom>
          <a:noFill/>
        </p:spPr>
        <p:txBody>
          <a:bodyPr wrap="square" lIns="0" rIns="0" tIns="0" bIns="0">
            <a:spAutoFit/>
          </a:bodyPr>
          <a:lstStyle/>
          <a:p>
            <a:pPr>
              <a:lnSpc>
                <a:spcPct val="115000"/>
              </a:lnSpc>
            </a:pPr>
            <a:r>
              <a:rPr sz="1150" b="1">
                <a:solidFill>
                  <a:srgbClr val="FFFFFF"/>
                </a:solidFill>
                <a:latin typeface="Meiryo UI"/>
                <a:ea typeface="Meiryo UI"/>
              </a:rPr>
              <a:t>次回デジタル戦略会議で決めること（3つ）＝処方A・Bの起動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217627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45643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736592"/>
            <a:ext cx="5303520" cy="2743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rIns="0" t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163056"/>
            <a:ext cx="11155680" cy="365760"/>
          </a:xfrm>
          <a:prstGeom prst="rect">
            <a:avLst/>
          </a:prstGeom>
          <a:noFill/>
        </p:spPr>
        <p:txBody>
          <a:bodyPr wrap="square" lIns="0" rIns="0" t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真因の掘り下げ ― 3つのボトルネックを同じ階層で分解する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「なぜ」を恣意的に繰り返すのではなく、事象→直接原因→行動原因→構造原因→制度の5階層で3本を並行に掘る。下から「〜だから」で逆読みして成立することを確認済み</a:t>
            </a:r>
          </a:p>
        </p:txBody>
      </p:sp>
      <p:sp>
        <p:nvSpPr>
          <p:cNvPr id="14" name="Rectangle 13"/>
          <p:cNvSpPr/>
          <p:nvPr/>
        </p:nvSpPr>
        <p:spPr>
          <a:xfrm>
            <a:off x="1609344" y="1371600"/>
            <a:ext cx="3364992"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00784" y="1408176"/>
            <a:ext cx="3182112" cy="256032"/>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① 知見の非換金</a:t>
            </a:r>
          </a:p>
        </p:txBody>
      </p:sp>
      <p:sp>
        <p:nvSpPr>
          <p:cNvPr id="16" name="Rectangle 15"/>
          <p:cNvSpPr/>
          <p:nvPr/>
        </p:nvSpPr>
        <p:spPr>
          <a:xfrm>
            <a:off x="5029200" y="1371600"/>
            <a:ext cx="3364992"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408176"/>
            <a:ext cx="3182112" cy="256032"/>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② 内向き業務の慣性</a:t>
            </a:r>
          </a:p>
        </p:txBody>
      </p:sp>
      <p:sp>
        <p:nvSpPr>
          <p:cNvPr id="18" name="Rectangle 17"/>
          <p:cNvSpPr/>
          <p:nvPr/>
        </p:nvSpPr>
        <p:spPr>
          <a:xfrm>
            <a:off x="8449056" y="1371600"/>
            <a:ext cx="3364992"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0496" y="1408176"/>
            <a:ext cx="3182112" cy="256032"/>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③ 切迫感の欠如</a:t>
            </a:r>
          </a:p>
        </p:txBody>
      </p:sp>
      <p:sp>
        <p:nvSpPr>
          <p:cNvPr id="20" name="Rectangle 19"/>
          <p:cNvSpPr/>
          <p:nvPr/>
        </p:nvSpPr>
        <p:spPr>
          <a:xfrm>
            <a:off x="320040" y="1719072"/>
            <a:ext cx="1234440" cy="603504"/>
          </a:xfrm>
          <a:prstGeom prst="rect">
            <a:avLst/>
          </a:prstGeom>
          <a:solidFill>
            <a:srgbClr val="16233A"/>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1764792"/>
            <a:ext cx="1106424" cy="512064"/>
          </a:xfrm>
          <a:prstGeom prst="rect">
            <a:avLst/>
          </a:prstGeom>
          <a:noFill/>
        </p:spPr>
        <p:txBody>
          <a:bodyPr wrap="square" lIns="0" rIns="0" tIns="0" bIns="0">
            <a:spAutoFit/>
          </a:bodyPr>
          <a:lstStyle/>
          <a:p>
            <a:pPr>
              <a:lnSpc>
                <a:spcPct val="105000"/>
              </a:lnSpc>
            </a:pPr>
            <a:r>
              <a:rPr sz="760" b="1">
                <a:solidFill>
                  <a:srgbClr val="FFFFFF"/>
                </a:solidFill>
                <a:latin typeface="Meiryo UI"/>
                <a:ea typeface="Meiryo UI"/>
              </a:rPr>
              <a:t>事象
（観察される事実）</a:t>
            </a:r>
          </a:p>
        </p:txBody>
      </p:sp>
      <p:sp>
        <p:nvSpPr>
          <p:cNvPr id="22" name="Rectangle 21"/>
          <p:cNvSpPr/>
          <p:nvPr/>
        </p:nvSpPr>
        <p:spPr>
          <a:xfrm>
            <a:off x="1609344" y="1719072"/>
            <a:ext cx="3364992"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91640" y="1764792"/>
            <a:ext cx="3200400" cy="512064"/>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30年の臨床・行動データが、商談にもAI接点にもほぼ使われていない</a:t>
            </a:r>
          </a:p>
        </p:txBody>
      </p:sp>
      <p:sp>
        <p:nvSpPr>
          <p:cNvPr id="24" name="Rectangle 23"/>
          <p:cNvSpPr/>
          <p:nvPr/>
        </p:nvSpPr>
        <p:spPr>
          <a:xfrm>
            <a:off x="5029200" y="1719072"/>
            <a:ext cx="3364992"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11496" y="1764792"/>
            <a:ext cx="3200400" cy="512064"/>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生成AI等のツールを入れても、事務作業の総量が減らない</a:t>
            </a:r>
          </a:p>
        </p:txBody>
      </p:sp>
      <p:sp>
        <p:nvSpPr>
          <p:cNvPr id="26" name="Rectangle 25"/>
          <p:cNvSpPr/>
          <p:nvPr/>
        </p:nvSpPr>
        <p:spPr>
          <a:xfrm>
            <a:off x="8449056" y="1719072"/>
            <a:ext cx="3364992"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1764792"/>
            <a:ext cx="3200400" cy="512064"/>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AI購買への変化が、全社の優先課題として扱われていない</a:t>
            </a:r>
          </a:p>
        </p:txBody>
      </p:sp>
      <p:sp>
        <p:nvSpPr>
          <p:cNvPr id="28" name="Rectangle 27"/>
          <p:cNvSpPr/>
          <p:nvPr/>
        </p:nvSpPr>
        <p:spPr>
          <a:xfrm>
            <a:off x="320040" y="2363724"/>
            <a:ext cx="1234440" cy="713232"/>
          </a:xfrm>
          <a:prstGeom prst="rect">
            <a:avLst/>
          </a:prstGeom>
          <a:solidFill>
            <a:srgbClr val="F2F2F2"/>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409444"/>
            <a:ext cx="1106424" cy="621792"/>
          </a:xfrm>
          <a:prstGeom prst="rect">
            <a:avLst/>
          </a:prstGeom>
          <a:noFill/>
        </p:spPr>
        <p:txBody>
          <a:bodyPr wrap="square" lIns="0" rIns="0" tIns="0" bIns="0">
            <a:spAutoFit/>
          </a:bodyPr>
          <a:lstStyle/>
          <a:p>
            <a:pPr>
              <a:lnSpc>
                <a:spcPct val="105000"/>
              </a:lnSpc>
            </a:pPr>
            <a:r>
              <a:rPr sz="760" b="1">
                <a:solidFill>
                  <a:srgbClr val="262626"/>
                </a:solidFill>
                <a:latin typeface="Meiryo UI"/>
                <a:ea typeface="Meiryo UI"/>
              </a:rPr>
              <a:t>直接原因
何が欠けているか</a:t>
            </a:r>
          </a:p>
        </p:txBody>
      </p:sp>
      <p:sp>
        <p:nvSpPr>
          <p:cNvPr id="30" name="Rectangle 29"/>
          <p:cNvSpPr/>
          <p:nvPr/>
        </p:nvSpPr>
        <p:spPr>
          <a:xfrm>
            <a:off x="1609344" y="2363724"/>
            <a:ext cx="3364992" cy="71323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91640" y="2409444"/>
            <a:ext cx="3200400" cy="621792"/>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知見を「商談で使える数字」（LTV予測等）に変換する工程が、社内のどこにも存在しない</a:t>
            </a:r>
          </a:p>
        </p:txBody>
      </p:sp>
      <p:sp>
        <p:nvSpPr>
          <p:cNvPr id="32" name="Rectangle 31"/>
          <p:cNvSpPr/>
          <p:nvPr/>
        </p:nvSpPr>
        <p:spPr>
          <a:xfrm>
            <a:off x="5029200" y="2363724"/>
            <a:ext cx="3364992" cy="71323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11496" y="2409444"/>
            <a:ext cx="3200400" cy="621792"/>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個々の資料・集計を「やめてよい」と判断できる人が現場にいない ― 廃止の権限が誰にもない</a:t>
            </a:r>
          </a:p>
        </p:txBody>
      </p:sp>
      <p:sp>
        <p:nvSpPr>
          <p:cNvPr id="34" name="Rectangle 33"/>
          <p:cNvSpPr/>
          <p:nvPr/>
        </p:nvSpPr>
        <p:spPr>
          <a:xfrm>
            <a:off x="8449056" y="2363724"/>
            <a:ext cx="3364992" cy="71323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31352" y="2409444"/>
            <a:ext cx="3200400" cy="621792"/>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影響を自社の数字で示すレポートが存在しない ― AIが自社商品をどう扱っているか、誰も知らない</a:t>
            </a:r>
          </a:p>
        </p:txBody>
      </p:sp>
      <p:sp>
        <p:nvSpPr>
          <p:cNvPr id="36" name="Rectangle 35"/>
          <p:cNvSpPr/>
          <p:nvPr/>
        </p:nvSpPr>
        <p:spPr>
          <a:xfrm>
            <a:off x="320040" y="3118104"/>
            <a:ext cx="1234440" cy="786384"/>
          </a:xfrm>
          <a:prstGeom prst="rect">
            <a:avLst/>
          </a:prstGeom>
          <a:solidFill>
            <a:srgbClr val="F2F2F2"/>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163824"/>
            <a:ext cx="1106424" cy="694944"/>
          </a:xfrm>
          <a:prstGeom prst="rect">
            <a:avLst/>
          </a:prstGeom>
          <a:noFill/>
        </p:spPr>
        <p:txBody>
          <a:bodyPr wrap="square" lIns="0" rIns="0" tIns="0" bIns="0">
            <a:spAutoFit/>
          </a:bodyPr>
          <a:lstStyle/>
          <a:p>
            <a:pPr>
              <a:lnSpc>
                <a:spcPct val="105000"/>
              </a:lnSpc>
            </a:pPr>
            <a:r>
              <a:rPr sz="760" b="1">
                <a:solidFill>
                  <a:srgbClr val="262626"/>
                </a:solidFill>
                <a:latin typeface="Meiryo UI"/>
                <a:ea typeface="Meiryo UI"/>
              </a:rPr>
              <a:t>行動原因
なぜ人は動かないか</a:t>
            </a:r>
          </a:p>
        </p:txBody>
      </p:sp>
      <p:sp>
        <p:nvSpPr>
          <p:cNvPr id="38" name="Rectangle 37"/>
          <p:cNvSpPr/>
          <p:nvPr/>
        </p:nvSpPr>
        <p:spPr>
          <a:xfrm>
            <a:off x="1609344" y="3118104"/>
            <a:ext cx="3364992" cy="78638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91640" y="3163824"/>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変換はR&amp;D・マーケ・営業の誰のKPIにもならない。工数を割いても評価されず、やる動機が生まれない</a:t>
            </a:r>
          </a:p>
        </p:txBody>
      </p:sp>
      <p:sp>
        <p:nvSpPr>
          <p:cNvPr id="40" name="Rectangle 39"/>
          <p:cNvSpPr/>
          <p:nvPr/>
        </p:nvSpPr>
        <p:spPr>
          <a:xfrm>
            <a:off x="5029200" y="3118104"/>
            <a:ext cx="3364992" cy="78638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11496" y="3163824"/>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資料を求める側（上司・本部・小売）のコストはゼロで、要求を減らす動機がない。作る側だけ効率化しても要求は残る</a:t>
            </a:r>
          </a:p>
        </p:txBody>
      </p:sp>
      <p:sp>
        <p:nvSpPr>
          <p:cNvPr id="42" name="Rectangle 41"/>
          <p:cNvSpPr/>
          <p:nvPr/>
        </p:nvSpPr>
        <p:spPr>
          <a:xfrm>
            <a:off x="8449056" y="3118104"/>
            <a:ext cx="3364992" cy="78638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31352" y="3163824"/>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既存KPI（売上・シェア）にはまだ表れないため、現場にも経営にも「今動く理由」が生まれない</a:t>
            </a:r>
          </a:p>
        </p:txBody>
      </p:sp>
      <p:sp>
        <p:nvSpPr>
          <p:cNvPr id="44" name="Rectangle 43"/>
          <p:cNvSpPr/>
          <p:nvPr/>
        </p:nvSpPr>
        <p:spPr>
          <a:xfrm>
            <a:off x="320040" y="3945636"/>
            <a:ext cx="1234440" cy="786384"/>
          </a:xfrm>
          <a:prstGeom prst="rect">
            <a:avLst/>
          </a:prstGeom>
          <a:solidFill>
            <a:srgbClr val="F2F2F2"/>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91356"/>
            <a:ext cx="1106424" cy="694944"/>
          </a:xfrm>
          <a:prstGeom prst="rect">
            <a:avLst/>
          </a:prstGeom>
          <a:noFill/>
        </p:spPr>
        <p:txBody>
          <a:bodyPr wrap="square" lIns="0" rIns="0" tIns="0" bIns="0">
            <a:spAutoFit/>
          </a:bodyPr>
          <a:lstStyle/>
          <a:p>
            <a:pPr>
              <a:lnSpc>
                <a:spcPct val="105000"/>
              </a:lnSpc>
            </a:pPr>
            <a:r>
              <a:rPr sz="760" b="1">
                <a:solidFill>
                  <a:srgbClr val="262626"/>
                </a:solidFill>
                <a:latin typeface="Meiryo UI"/>
                <a:ea typeface="Meiryo UI"/>
              </a:rPr>
              <a:t>構造原因
なぜ仕組みがそうか</a:t>
            </a:r>
          </a:p>
        </p:txBody>
      </p:sp>
      <p:sp>
        <p:nvSpPr>
          <p:cNvPr id="46" name="Rectangle 45"/>
          <p:cNvSpPr/>
          <p:nvPr/>
        </p:nvSpPr>
        <p:spPr>
          <a:xfrm>
            <a:off x="1609344" y="3945636"/>
            <a:ext cx="3364992" cy="78638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91640" y="3991356"/>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投資も人も部門単位で起案・完結する。部門をまたぐ仕事に責任者と予算を割り当てる「場」がない</a:t>
            </a:r>
          </a:p>
        </p:txBody>
      </p:sp>
      <p:sp>
        <p:nvSpPr>
          <p:cNvPr id="48" name="Rectangle 47"/>
          <p:cNvSpPr/>
          <p:nvPr/>
        </p:nvSpPr>
        <p:spPr>
          <a:xfrm>
            <a:off x="5029200" y="3945636"/>
            <a:ext cx="3364992" cy="78638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11496" y="3991356"/>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投資が「ツール導入」で完了と見なされ、業務量・時間の変化を測って検証する設計が起案時にない</a:t>
            </a:r>
          </a:p>
        </p:txBody>
      </p:sp>
      <p:sp>
        <p:nvSpPr>
          <p:cNvPr id="50" name="Rectangle 49"/>
          <p:cNvSpPr/>
          <p:nvPr/>
        </p:nvSpPr>
        <p:spPr>
          <a:xfrm>
            <a:off x="8449056" y="3945636"/>
            <a:ext cx="3364992" cy="78638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31352" y="3991356"/>
            <a:ext cx="3200400" cy="694944"/>
          </a:xfrm>
          <a:prstGeom prst="rect">
            <a:avLst/>
          </a:prstGeom>
          <a:noFill/>
        </p:spPr>
        <p:txBody>
          <a:bodyPr wrap="square" lIns="0" rIns="0" tIns="0" bIns="0">
            <a:spAutoFit/>
          </a:bodyPr>
          <a:lstStyle/>
          <a:p>
            <a:pPr>
              <a:lnSpc>
                <a:spcPct val="110000"/>
              </a:lnSpc>
            </a:pPr>
            <a:r>
              <a:rPr sz="770" b="0">
                <a:solidFill>
                  <a:srgbClr val="262626"/>
                </a:solidFill>
                <a:latin typeface="Meiryo UI"/>
                <a:ea typeface="Meiryo UI"/>
              </a:rPr>
              <a:t>新指標（AI推奨シェア等）の設置は既存KPIの改廃を伴い、部門単独では起案できない ― 横断の意思決定の場がない</a:t>
            </a:r>
          </a:p>
        </p:txBody>
      </p:sp>
      <p:sp>
        <p:nvSpPr>
          <p:cNvPr id="52" name="Rectangle 51"/>
          <p:cNvSpPr/>
          <p:nvPr/>
        </p:nvSpPr>
        <p:spPr>
          <a:xfrm>
            <a:off x="320040" y="4773168"/>
            <a:ext cx="1234440" cy="566928"/>
          </a:xfrm>
          <a:prstGeom prst="rect">
            <a:avLst/>
          </a:prstGeom>
          <a:solidFill>
            <a:srgbClr val="16233A"/>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828032"/>
            <a:ext cx="1106424" cy="475488"/>
          </a:xfrm>
          <a:prstGeom prst="rect">
            <a:avLst/>
          </a:prstGeom>
          <a:noFill/>
        </p:spPr>
        <p:txBody>
          <a:bodyPr wrap="square" lIns="0" rIns="0" tIns="0" bIns="0">
            <a:spAutoFit/>
          </a:bodyPr>
          <a:lstStyle/>
          <a:p>
            <a:pPr>
              <a:lnSpc>
                <a:spcPct val="105000"/>
              </a:lnSpc>
            </a:pPr>
            <a:r>
              <a:rPr sz="760" b="1">
                <a:solidFill>
                  <a:srgbClr val="FFFFFF"/>
                </a:solidFill>
                <a:latin typeface="Meiryo UI"/>
                <a:ea typeface="Meiryo UI"/>
              </a:rPr>
              <a:t>制度（根本）
3本が収束</a:t>
            </a:r>
          </a:p>
        </p:txBody>
      </p:sp>
      <p:sp>
        <p:nvSpPr>
          <p:cNvPr id="54" name="Rectangle 53"/>
          <p:cNvSpPr/>
          <p:nvPr/>
        </p:nvSpPr>
        <p:spPr>
          <a:xfrm>
            <a:off x="1609344" y="4773168"/>
            <a:ext cx="10204704" cy="5669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719072" y="4828032"/>
            <a:ext cx="9985248" cy="475488"/>
          </a:xfrm>
          <a:prstGeom prst="rect">
            <a:avLst/>
          </a:prstGeom>
          <a:noFill/>
        </p:spPr>
        <p:txBody>
          <a:bodyPr wrap="square" lIns="0" rIns="0" tIns="0" bIns="0">
            <a:spAutoFit/>
          </a:bodyPr>
          <a:lstStyle/>
          <a:p>
            <a:pPr>
              <a:lnSpc>
                <a:spcPct val="112000"/>
              </a:lnSpc>
            </a:pPr>
            <a:r>
              <a:rPr sz="950" b="1">
                <a:solidFill>
                  <a:srgbClr val="C8102E"/>
                </a:solidFill>
                <a:latin typeface="Meiryo UI"/>
                <a:ea typeface="Meiryo UI"/>
              </a:rPr>
              <a:t>【真因】</a:t>
            </a:r>
            <a:r>
              <a:rPr sz="860" b="1">
                <a:solidFill>
                  <a:srgbClr val="262626"/>
                </a:solidFill>
                <a:latin typeface="Meiryo UI"/>
                <a:ea typeface="Meiryo UI"/>
              </a:rPr>
              <a:t>部門をまたぐ投資・指標・業務を「全体計画に束ね、After像と検証を義務付け、責任者を置く」作法が、起案・審査・評価のどこにも制度として存在しない ― 3つのボトルネックは、この1点から必然的に発生する</a:t>
            </a:r>
          </a:p>
        </p:txBody>
      </p:sp>
      <p:sp>
        <p:nvSpPr>
          <p:cNvPr id="56" name="Rectangle 55"/>
          <p:cNvSpPr/>
          <p:nvPr/>
        </p:nvSpPr>
        <p:spPr>
          <a:xfrm>
            <a:off x="320040" y="5413248"/>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5468112"/>
            <a:ext cx="11247120" cy="56692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蓋然性の担保（逆読みテスト）：</a:t>
            </a:r>
            <a:r>
              <a:rPr sz="819" b="0">
                <a:solidFill>
                  <a:srgbClr val="262626"/>
                </a:solidFill>
                <a:latin typeface="Meiryo UI"/>
                <a:ea typeface="Meiryo UI"/>
              </a:rPr>
              <a:t>下から「〜だから」で読み上げても成立する ― 作法が制度化される → 横断の責任者・予算・検証が生まれる（構造）→ 変換・廃止・計測が誰かの仕事になり動機が変わる（行動）→ 工程・判断・数字が生まれる（直接）→ 3つの事象が消える。逆に、作法に触れず個別施策（ツール導入・組織改編）だけ打っても、構造と行動が変わらず事象が再発する ― 過去の投資がそれを実証している。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真因と解決策の対応 ― 階層ごとに処方する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前頁の5階層それぞれに解決策を1対1で対応させる。施策（What）は直接原因を消すが、作法（制度）を先に置かなければ構造と行動が変わらず再発する</a:t>
            </a:r>
          </a:p>
        </p:txBody>
      </p:sp>
      <p:sp>
        <p:nvSpPr>
          <p:cNvPr id="14" name="Rectangle 13"/>
          <p:cNvSpPr/>
          <p:nvPr/>
        </p:nvSpPr>
        <p:spPr>
          <a:xfrm>
            <a:off x="320040" y="1426464"/>
            <a:ext cx="1234440" cy="84124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472184"/>
            <a:ext cx="1106424" cy="74980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制度（根本）</a:t>
            </a:r>
          </a:p>
        </p:txBody>
      </p:sp>
      <p:sp>
        <p:nvSpPr>
          <p:cNvPr id="16" name="Rectangle 15"/>
          <p:cNvSpPr/>
          <p:nvPr/>
        </p:nvSpPr>
        <p:spPr>
          <a:xfrm>
            <a:off x="1572768" y="1426464"/>
            <a:ext cx="3931920" cy="84124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64208" y="1472184"/>
            <a:ext cx="3749039" cy="74980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横断の投資・指標・業務を束ねる「作法」が制度として存在しない</a:t>
            </a:r>
          </a:p>
        </p:txBody>
      </p:sp>
      <p:sp>
        <p:nvSpPr>
          <p:cNvPr id="18" name="TextBox 17"/>
          <p:cNvSpPr txBox="1"/>
          <p:nvPr/>
        </p:nvSpPr>
        <p:spPr>
          <a:xfrm>
            <a:off x="5541264" y="1737360"/>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19" name="Rectangle 18"/>
          <p:cNvSpPr/>
          <p:nvPr/>
        </p:nvSpPr>
        <p:spPr>
          <a:xfrm>
            <a:off x="5833872" y="1426464"/>
            <a:ext cx="6007608" cy="84124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1472184"/>
            <a:ext cx="5806440" cy="749808"/>
          </a:xfrm>
          <a:prstGeom prst="rect">
            <a:avLst/>
          </a:prstGeom>
          <a:noFill/>
        </p:spPr>
        <p:txBody>
          <a:bodyPr wrap="square" lIns="0" rIns="0" tIns="0" bIns="0">
            <a:spAutoFit/>
          </a:bodyPr>
          <a:lstStyle/>
          <a:p>
            <a:pPr>
              <a:lnSpc>
                <a:spcPct val="110000"/>
              </a:lnSpc>
            </a:pPr>
            <a:r>
              <a:rPr sz="800" b="1">
                <a:solidFill>
                  <a:srgbClr val="262626"/>
                </a:solidFill>
                <a:latin typeface="Meiryo UI"/>
                <a:ea typeface="Meiryo UI"/>
              </a:rPr>
              <a:t>【処方A｜最優先 ― 施策より先に置く】実行の作法の制度化：テーマ別役員オーナー／全体計画への束ね／確認ゲート（FY27夏・FY28末・FY30）／撤退基準・検証計画の事前定義／北極星KPI（増分粗利）　→ 具体化：P.16「進め方と次のアクション」の決定1〜3</a:t>
            </a:r>
          </a:p>
        </p:txBody>
      </p:sp>
      <p:sp>
        <p:nvSpPr>
          <p:cNvPr id="21" name="Rectangle 20"/>
          <p:cNvSpPr/>
          <p:nvPr/>
        </p:nvSpPr>
        <p:spPr>
          <a:xfrm>
            <a:off x="320040" y="2322576"/>
            <a:ext cx="1234440" cy="7498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368296"/>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構造原因</a:t>
            </a:r>
          </a:p>
        </p:txBody>
      </p:sp>
      <p:sp>
        <p:nvSpPr>
          <p:cNvPr id="23" name="Rectangle 22"/>
          <p:cNvSpPr/>
          <p:nvPr/>
        </p:nvSpPr>
        <p:spPr>
          <a:xfrm>
            <a:off x="1572768" y="2322576"/>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64208" y="2368296"/>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横断の責任者・予算・検証設計を作る「場」がない</a:t>
            </a:r>
          </a:p>
        </p:txBody>
      </p:sp>
      <p:sp>
        <p:nvSpPr>
          <p:cNvPr id="25" name="TextBox 24"/>
          <p:cNvSpPr txBox="1"/>
          <p:nvPr/>
        </p:nvSpPr>
        <p:spPr>
          <a:xfrm>
            <a:off x="5541264" y="2587752"/>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26" name="Rectangle 25"/>
          <p:cNvSpPr/>
          <p:nvPr/>
        </p:nvSpPr>
        <p:spPr>
          <a:xfrm>
            <a:off x="5833872" y="2322576"/>
            <a:ext cx="6007608" cy="749808"/>
          </a:xfrm>
          <a:prstGeom prst="rect">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2368296"/>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【処方B】横断の場と責任を作る：国内BU変革プロジェクト（専任リーダー）＋アカウントスクワッド＋システム横断チーム。投資はAfter像・測定計画つきでしか起案できないルールに　→ 具体化：施策⑧の体制面（P.10）＋P.16 決定1</a:t>
            </a:r>
          </a:p>
        </p:txBody>
      </p:sp>
      <p:sp>
        <p:nvSpPr>
          <p:cNvPr id="28" name="Rectangle 27"/>
          <p:cNvSpPr/>
          <p:nvPr/>
        </p:nvSpPr>
        <p:spPr>
          <a:xfrm>
            <a:off x="320040" y="3127248"/>
            <a:ext cx="1234440" cy="749808"/>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172968"/>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行動原因</a:t>
            </a:r>
          </a:p>
        </p:txBody>
      </p:sp>
      <p:sp>
        <p:nvSpPr>
          <p:cNvPr id="30" name="Rectangle 29"/>
          <p:cNvSpPr/>
          <p:nvPr/>
        </p:nvSpPr>
        <p:spPr>
          <a:xfrm>
            <a:off x="1572768" y="3127248"/>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64208" y="3172968"/>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変換・廃止・計測が誰の仕事でもなく、動機が生まれない</a:t>
            </a:r>
          </a:p>
        </p:txBody>
      </p:sp>
      <p:sp>
        <p:nvSpPr>
          <p:cNvPr id="32" name="TextBox 31"/>
          <p:cNvSpPr txBox="1"/>
          <p:nvPr/>
        </p:nvSpPr>
        <p:spPr>
          <a:xfrm>
            <a:off x="5541264" y="3392424"/>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33" name="Rectangle 32"/>
          <p:cNvSpPr/>
          <p:nvPr/>
        </p:nvSpPr>
        <p:spPr>
          <a:xfrm>
            <a:off x="5833872" y="3127248"/>
            <a:ext cx="6007608" cy="749808"/>
          </a:xfrm>
          <a:prstGeom prst="rect">
            <a:avLst/>
          </a:prstGeom>
          <a:solidFill>
            <a:srgbClr val="FFFFFF"/>
          </a:solidFill>
          <a:ln w="9525">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0" y="3172968"/>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【処方C】動機を変える：RevOps共有KPI（増分粗利・N-t-C・LTV）と人事評価の連動／「やめる仕事」の経営宣言と廃止権限の明確化　→ 具体化：施策⑦⑧（P.10）</a:t>
            </a:r>
          </a:p>
        </p:txBody>
      </p:sp>
      <p:sp>
        <p:nvSpPr>
          <p:cNvPr id="35" name="Rectangle 34"/>
          <p:cNvSpPr/>
          <p:nvPr/>
        </p:nvSpPr>
        <p:spPr>
          <a:xfrm>
            <a:off x="320040" y="3931920"/>
            <a:ext cx="1234440" cy="74980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4048" y="3977639"/>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直接原因</a:t>
            </a:r>
          </a:p>
        </p:txBody>
      </p:sp>
      <p:sp>
        <p:nvSpPr>
          <p:cNvPr id="37" name="Rectangle 36"/>
          <p:cNvSpPr/>
          <p:nvPr/>
        </p:nvSpPr>
        <p:spPr>
          <a:xfrm>
            <a:off x="1572768" y="3931920"/>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64208" y="3977639"/>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変換の工程・廃止の判断・危機を示す数字が欠けている</a:t>
            </a:r>
          </a:p>
        </p:txBody>
      </p:sp>
      <p:sp>
        <p:nvSpPr>
          <p:cNvPr id="39" name="TextBox 38"/>
          <p:cNvSpPr txBox="1"/>
          <p:nvPr/>
        </p:nvSpPr>
        <p:spPr>
          <a:xfrm>
            <a:off x="5541264" y="4197096"/>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40" name="Rectangle 39"/>
          <p:cNvSpPr/>
          <p:nvPr/>
        </p:nvSpPr>
        <p:spPr>
          <a:xfrm>
            <a:off x="5833872" y="3931920"/>
            <a:ext cx="6007608" cy="749808"/>
          </a:xfrm>
          <a:prstGeom prst="rect">
            <a:avLst/>
          </a:prstGeom>
          <a:solidFill>
            <a:srgbClr val="FFFFFF"/>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0" y="3977639"/>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【処方D】欠けた工程を実装する：変換＝施策⑤⑥／廃止→自動化＝施策⑦／計測＝施策②④／選ばれる基盤＝施策①③　→ 具体化：4テーマ×8施策の全体（P.9〜10）を経営テーマに接続（P.11）し、業務の変化に着地（P.12）</a:t>
            </a:r>
          </a:p>
        </p:txBody>
      </p:sp>
      <p:sp>
        <p:nvSpPr>
          <p:cNvPr id="42" name="Rectangle 41"/>
          <p:cNvSpPr/>
          <p:nvPr/>
        </p:nvSpPr>
        <p:spPr>
          <a:xfrm>
            <a:off x="320040" y="4736592"/>
            <a:ext cx="1234440" cy="7498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8" y="4782312"/>
            <a:ext cx="1106424" cy="658368"/>
          </a:xfrm>
          <a:prstGeom prst="rect">
            <a:avLst/>
          </a:prstGeom>
          <a:noFill/>
        </p:spPr>
        <p:txBody>
          <a:bodyPr wrap="square" lIns="0" rIns="0" tIns="0" bIns="0">
            <a:spAutoFit/>
          </a:bodyPr>
          <a:lstStyle/>
          <a:p>
            <a:pPr>
              <a:lnSpc>
                <a:spcPct val="105000"/>
              </a:lnSpc>
            </a:pPr>
            <a:r>
              <a:rPr sz="860" b="1">
                <a:solidFill>
                  <a:srgbClr val="FFFFFF"/>
                </a:solidFill>
                <a:latin typeface="Meiryo UI"/>
                <a:ea typeface="Meiryo UI"/>
              </a:rPr>
              <a:t>事象（結果）</a:t>
            </a:r>
          </a:p>
        </p:txBody>
      </p:sp>
      <p:sp>
        <p:nvSpPr>
          <p:cNvPr id="44" name="Rectangle 43"/>
          <p:cNvSpPr/>
          <p:nvPr/>
        </p:nvSpPr>
        <p:spPr>
          <a:xfrm>
            <a:off x="1572768" y="4736592"/>
            <a:ext cx="3931920" cy="74980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64208" y="4782312"/>
            <a:ext cx="3749039" cy="658368"/>
          </a:xfrm>
          <a:prstGeom prst="rect">
            <a:avLst/>
          </a:prstGeom>
          <a:noFill/>
        </p:spPr>
        <p:txBody>
          <a:bodyPr wrap="square" lIns="0" rIns="0" tIns="0" bIns="0">
            <a:spAutoFit/>
          </a:bodyPr>
          <a:lstStyle/>
          <a:p>
            <a:pPr>
              <a:lnSpc>
                <a:spcPct val="112000"/>
              </a:lnSpc>
            </a:pPr>
            <a:r>
              <a:rPr sz="819" b="0">
                <a:solidFill>
                  <a:srgbClr val="262626"/>
                </a:solidFill>
                <a:latin typeface="Meiryo UI"/>
                <a:ea typeface="Meiryo UI"/>
              </a:rPr>
              <a:t>知見が使われない／事務が減らない／切迫感がない</a:t>
            </a:r>
          </a:p>
        </p:txBody>
      </p:sp>
      <p:sp>
        <p:nvSpPr>
          <p:cNvPr id="46" name="TextBox 45"/>
          <p:cNvSpPr txBox="1"/>
          <p:nvPr/>
        </p:nvSpPr>
        <p:spPr>
          <a:xfrm>
            <a:off x="5541264" y="5001768"/>
            <a:ext cx="274320" cy="274320"/>
          </a:xfrm>
          <a:prstGeom prst="rect">
            <a:avLst/>
          </a:prstGeom>
          <a:noFill/>
        </p:spPr>
        <p:txBody>
          <a:bodyPr wrap="square" lIns="0" rIns="0" tIns="0" bIns="0">
            <a:spAutoFit/>
          </a:bodyPr>
          <a:lstStyle/>
          <a:p>
            <a:pPr>
              <a:lnSpc>
                <a:spcPct val="112000"/>
              </a:lnSpc>
            </a:pPr>
            <a:r>
              <a:rPr sz="1100" b="1">
                <a:solidFill>
                  <a:srgbClr val="595959"/>
                </a:solidFill>
                <a:latin typeface="Meiryo UI"/>
                <a:ea typeface="Meiryo UI"/>
              </a:rPr>
              <a:t>→</a:t>
            </a:r>
          </a:p>
        </p:txBody>
      </p:sp>
      <p:sp>
        <p:nvSpPr>
          <p:cNvPr id="47" name="Rectangle 46"/>
          <p:cNvSpPr/>
          <p:nvPr/>
        </p:nvSpPr>
        <p:spPr>
          <a:xfrm>
            <a:off x="5833872" y="4736592"/>
            <a:ext cx="6007608" cy="749808"/>
          </a:xfrm>
          <a:prstGeom prst="rect">
            <a:avLst/>
          </a:prstGeom>
          <a:solidFill>
            <a:srgbClr val="FFFFFF"/>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0" y="4782312"/>
            <a:ext cx="5806440" cy="658368"/>
          </a:xfrm>
          <a:prstGeom prst="rect">
            <a:avLst/>
          </a:prstGeom>
          <a:noFill/>
        </p:spPr>
        <p:txBody>
          <a:bodyPr wrap="square" lIns="0" rIns="0" tIns="0" bIns="0">
            <a:spAutoFit/>
          </a:bodyPr>
          <a:lstStyle/>
          <a:p>
            <a:pPr>
              <a:lnSpc>
                <a:spcPct val="110000"/>
              </a:lnSpc>
            </a:pPr>
            <a:r>
              <a:rPr sz="800" b="0">
                <a:solidFill>
                  <a:srgbClr val="262626"/>
                </a:solidFill>
                <a:latin typeface="Meiryo UI"/>
                <a:ea typeface="Meiryo UI"/>
              </a:rPr>
              <a:t>【結果】上の4階層が解ければ消える：知見が使われ（①）、時間が生まれ（②）、危機と成果が数字になる（③）　→ 検証：マイルストーンの確認1〜3（P.13）とKGI/KPI（P.14）で測る</a:t>
            </a:r>
          </a:p>
        </p:txBody>
      </p:sp>
      <p:sp>
        <p:nvSpPr>
          <p:cNvPr id="49" name="Rectangle 48"/>
          <p:cNvSpPr/>
          <p:nvPr/>
        </p:nvSpPr>
        <p:spPr>
          <a:xfrm>
            <a:off x="320040" y="5559551"/>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5605272"/>
            <a:ext cx="11292840" cy="457200"/>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読み方（処方→ページの対応）：</a:t>
            </a:r>
            <a:r>
              <a:rPr sz="830" b="0">
                <a:solidFill>
                  <a:srgbClr val="262626"/>
                </a:solidFill>
                <a:latin typeface="Meiryo UI"/>
                <a:ea typeface="Meiryo UI"/>
              </a:rPr>
              <a:t>処方D（工程）＝P.9〜12で具体化される8施策の世界。処方A〜C（作法・場・動機）＝P.16の進め方・体制の世界。決定の順序は「A→B・C→D」― 過去の投資が再発したのは、この順序を逆にしてDから入ったため。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8施策＝処方D（欠けた工程の実装）の中身であり、4テーマはそれを束ねる実行単位。処方A（作法）・B（場）・C（動機）はP.16の進め方・体制が担う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453896"/>
            <a:ext cx="19933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96312" y="1453896"/>
            <a:ext cx="254203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59" y="1453896"/>
            <a:ext cx="2907791"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2168" y="1453896"/>
            <a:ext cx="226771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7896" y="1453896"/>
            <a:ext cx="1078992" cy="237744"/>
          </a:xfrm>
          <a:prstGeom prst="rect">
            <a:avLst/>
          </a:prstGeom>
          <a:noFill/>
        </p:spPr>
        <p:txBody>
          <a:bodyPr wrap="square" lIns="0" rIns="0" t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1810512"/>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4600" y="1810512"/>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4648" y="1810512"/>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0456" y="1810512"/>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16184" y="1810512"/>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834640"/>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14600" y="2834640"/>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84648" y="2834640"/>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0456" y="2834640"/>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16184" y="2834640"/>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3858768"/>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14600" y="3858768"/>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84648" y="3858768"/>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0456" y="3858768"/>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16184" y="3858768"/>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93192" y="4882896"/>
            <a:ext cx="1975104" cy="859536"/>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14600" y="4882896"/>
            <a:ext cx="2523744" cy="932688"/>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4648" y="4882896"/>
            <a:ext cx="2889504" cy="932688"/>
          </a:xfrm>
          <a:prstGeom prst="rect">
            <a:avLst/>
          </a:prstGeom>
          <a:noFill/>
        </p:spPr>
        <p:txBody>
          <a:bodyPr wrap="square" lIns="0" rIns="0" t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0456" y="4882896"/>
            <a:ext cx="2249424" cy="932688"/>
          </a:xfrm>
          <a:prstGeom prst="rect">
            <a:avLst/>
          </a:prstGeom>
          <a:noFill/>
        </p:spPr>
        <p:txBody>
          <a:bodyPr wrap="square" lIns="0" rIns="0" t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6184" y="4882896"/>
            <a:ext cx="1060704" cy="932688"/>
          </a:xfrm>
          <a:prstGeom prst="rect">
            <a:avLst/>
          </a:prstGeom>
          <a:noFill/>
        </p:spPr>
        <p:txBody>
          <a:bodyPr wrap="square" lIns="0" rIns="0" t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5943600"/>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0972800" cy="32004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76656"/>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rIns="0" tIns="0" bIns="0">
            <a:spAutoFit/>
          </a:bodyPr>
          <a:lstStyle/>
          <a:p>
            <a:pPr>
              <a:lnSpc>
                <a:spcPct val="115000"/>
              </a:lnSpc>
            </a:pPr>
            <a:r>
              <a:rPr sz="1100" b="1">
                <a:solidFill>
                  <a:srgbClr val="262626"/>
                </a:solidFill>
                <a:latin typeface="Meiryo UI"/>
                <a:ea typeface="Meiryo UI"/>
              </a:rPr>
              <a:t>処方Dの8施策を、経営の問いに漏れなく・重複なく割当て直す。各行は「前（GAP・真因・公開データ）→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1252728"/>
            <a:ext cx="17190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21992" y="1252728"/>
            <a:ext cx="277063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252728"/>
            <a:ext cx="309067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8" y="1252728"/>
            <a:ext cx="130759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74936" y="1252728"/>
            <a:ext cx="2039112" cy="237744"/>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1609344"/>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31136" y="1600200"/>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784" y="1600200"/>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48472" y="1600200"/>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0" y="1600200"/>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2450592"/>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31136" y="2441448"/>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2441448"/>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48472" y="2441448"/>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84080" y="2441448"/>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291840"/>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31136" y="3282696"/>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29784" y="3282696"/>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48472" y="3282696"/>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84080" y="3282696"/>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048" y="4133087"/>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31136" y="4123944"/>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9784" y="4123944"/>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2" y="4123944"/>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84080" y="4123944"/>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4048" y="4974336"/>
            <a:ext cx="1700784" cy="694944"/>
          </a:xfrm>
          <a:prstGeom prst="rect">
            <a:avLst/>
          </a:prstGeom>
          <a:noFill/>
        </p:spPr>
        <p:txBody>
          <a:bodyPr wrap="square" lIns="0" rIns="0" t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4965192"/>
            <a:ext cx="2743200"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真因②③。生成AI普及は1年で約3倍〔総務省白書〕＝期限は自社で選べない。対P&amp;G生産性7.6倍差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9784" y="4965192"/>
            <a:ext cx="3072384" cy="713232"/>
          </a:xfrm>
          <a:prstGeom prst="rect">
            <a:avLst/>
          </a:prstGeom>
          <a:noFill/>
        </p:spPr>
        <p:txBody>
          <a:bodyPr wrap="square" lIns="0" rIns="0" t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48472" y="4965192"/>
            <a:ext cx="1289304" cy="713232"/>
          </a:xfrm>
          <a:prstGeom prst="rect">
            <a:avLst/>
          </a:prstGeom>
          <a:noFill/>
        </p:spPr>
        <p:txBody>
          <a:bodyPr wrap="square" lIns="0" rIns="0" t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784080" y="4965192"/>
            <a:ext cx="2020824" cy="713232"/>
          </a:xfrm>
          <a:prstGeom prst="rect">
            <a:avLst/>
          </a:prstGeom>
          <a:noFill/>
        </p:spPr>
        <p:txBody>
          <a:bodyPr wrap="square" lIns="0" rIns="0" t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24728"/>
            <a:ext cx="11292840" cy="475488"/>
          </a:xfrm>
          <a:prstGeom prst="rect">
            <a:avLst/>
          </a:prstGeom>
          <a:noFill/>
        </p:spPr>
        <p:txBody>
          <a:bodyPr wrap="square" lIns="0" rIns="0" t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2" y="1892807"/>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192" y="2880360"/>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192" y="3867911"/>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3192" y="4855464"/>
            <a:ext cx="1097280" cy="822960"/>
          </a:xfrm>
          <a:prstGeom prst="rect">
            <a:avLst/>
          </a:prstGeom>
          <a:noFill/>
        </p:spPr>
        <p:txBody>
          <a:bodyPr wrap="square" lIns="0" rIns="0" t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rIns="0" t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499616"/>
            <a:ext cx="5440680" cy="274320"/>
          </a:xfrm>
          <a:prstGeom prst="rect">
            <a:avLst/>
          </a:prstGeom>
          <a:noFill/>
        </p:spPr>
        <p:txBody>
          <a:bodyPr wrap="square" lIns="0" rIns="0" t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5352" y="1892807"/>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2" y="2880360"/>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3867911"/>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4855464"/>
            <a:ext cx="1097280" cy="822960"/>
          </a:xfrm>
          <a:prstGeom prst="rect">
            <a:avLst/>
          </a:prstGeom>
          <a:noFill/>
        </p:spPr>
        <p:txBody>
          <a:bodyPr wrap="square" lIns="0" rIns="0" t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rIns="0" t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rIns="0" t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998464"/>
            <a:ext cx="11292840" cy="438912"/>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0" y="150876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31136"/>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2231136"/>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53512"/>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953512"/>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675888"/>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0" y="3675888"/>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398264"/>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86000" y="4398264"/>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120640"/>
            <a:ext cx="1645920" cy="566928"/>
          </a:xfrm>
          <a:prstGeom prst="rect">
            <a:avLst/>
          </a:prstGeom>
          <a:noFill/>
        </p:spPr>
        <p:txBody>
          <a:bodyPr wrap="square" lIns="0" rIns="0" t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5120640"/>
            <a:ext cx="9418320" cy="566928"/>
          </a:xfrm>
          <a:prstGeom prst="rect">
            <a:avLst/>
          </a:prstGeom>
          <a:noFill/>
        </p:spPr>
        <p:txBody>
          <a:bodyPr wrap="square" lIns="0" rIns="0" t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888736"/>
            <a:ext cx="11292840" cy="41148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69080" y="1481328"/>
            <a:ext cx="4023360" cy="411480"/>
          </a:xfrm>
          <a:prstGeom prst="rect">
            <a:avLst/>
          </a:prstGeom>
          <a:noFill/>
        </p:spPr>
        <p:txBody>
          <a:bodyPr wrap="square" lIns="0" rIns="0" t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48840" y="2130552"/>
            <a:ext cx="3566160" cy="274320"/>
          </a:xfrm>
          <a:prstGeom prst="rect">
            <a:avLst/>
          </a:prstGeom>
          <a:noFill/>
        </p:spPr>
        <p:txBody>
          <a:bodyPr wrap="square" lIns="0" rIns="0" t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130552"/>
            <a:ext cx="3566160" cy="274320"/>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2551175"/>
            <a:ext cx="25420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551175"/>
            <a:ext cx="61996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2551175"/>
            <a:ext cx="71323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2551175"/>
            <a:ext cx="667512" cy="219456"/>
          </a:xfrm>
          <a:prstGeom prst="rect">
            <a:avLst/>
          </a:prstGeom>
          <a:noFill/>
        </p:spPr>
        <p:txBody>
          <a:bodyPr wrap="square" lIns="0" rIns="0" t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59"/>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54096" y="2880359"/>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2953511"/>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2953511"/>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3410711"/>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3410711"/>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483863"/>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13848" y="3483863"/>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4048" y="3941063"/>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54096" y="3941063"/>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4014215"/>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13848" y="4014215"/>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4048" y="4471416"/>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054096" y="4471416"/>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72600" y="4544568"/>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13848" y="4544568"/>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84048" y="5001768"/>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54096" y="5001768"/>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72600" y="5074920"/>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13848" y="5074920"/>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4048" y="5532120"/>
            <a:ext cx="2523744" cy="402336"/>
          </a:xfrm>
          <a:prstGeom prst="rect">
            <a:avLst/>
          </a:prstGeom>
          <a:noFill/>
        </p:spPr>
        <p:txBody>
          <a:bodyPr wrap="square" lIns="0" rIns="0" t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54096" y="5532120"/>
            <a:ext cx="6181344" cy="402336"/>
          </a:xfrm>
          <a:prstGeom prst="rect">
            <a:avLst/>
          </a:prstGeom>
          <a:noFill/>
        </p:spPr>
        <p:txBody>
          <a:bodyPr wrap="square" lIns="0" rIns="0" t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72600" y="5605272"/>
            <a:ext cx="713232" cy="274320"/>
          </a:xfrm>
          <a:prstGeom prst="rect">
            <a:avLst/>
          </a:prstGeom>
          <a:noFill/>
        </p:spPr>
        <p:txBody>
          <a:bodyPr wrap="square" lIns="0" rIns="0" t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213848" y="5605272"/>
            <a:ext cx="667512" cy="274320"/>
          </a:xfrm>
          <a:prstGeom prst="rect">
            <a:avLst/>
          </a:prstGeom>
          <a:noFill/>
        </p:spPr>
        <p:txBody>
          <a:bodyPr wrap="square" lIns="0" rIns="0" t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 y="6099048"/>
            <a:ext cx="11292840" cy="38404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46304"/>
            <a:ext cx="10972800" cy="457200"/>
          </a:xfrm>
          <a:prstGeom prst="rect">
            <a:avLst/>
          </a:prstGeom>
          <a:noFill/>
        </p:spPr>
        <p:txBody>
          <a:bodyPr wrap="square" lIns="0" rIns="0" t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749808"/>
            <a:ext cx="274320" cy="274320"/>
          </a:xfrm>
          <a:prstGeom prst="rect">
            <a:avLst/>
          </a:prstGeom>
          <a:noFill/>
        </p:spPr>
        <p:txBody>
          <a:bodyPr wrap="square" lIns="0" rIns="0" t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rIns="0" t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15087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5087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35640" y="1636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1945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0" y="21945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35640" y="23225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803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0" y="28803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35640" y="30083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3566160"/>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0" y="3566160"/>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835640" y="36941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2519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0" y="42519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35640" y="43799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 y="4937759"/>
            <a:ext cx="2651760" cy="530352"/>
          </a:xfrm>
          <a:prstGeom prst="rect">
            <a:avLst/>
          </a:prstGeom>
          <a:noFill/>
        </p:spPr>
        <p:txBody>
          <a:bodyPr wrap="square" lIns="0" rIns="0" t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0" y="4937759"/>
            <a:ext cx="7360920" cy="530352"/>
          </a:xfrm>
          <a:prstGeom prst="rect">
            <a:avLst/>
          </a:prstGeom>
          <a:noFill/>
        </p:spPr>
        <p:txBody>
          <a:bodyPr wrap="square" lIns="0" rIns="0" t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835640" y="5065776"/>
            <a:ext cx="950976" cy="274320"/>
          </a:xfrm>
          <a:prstGeom prst="rect">
            <a:avLst/>
          </a:prstGeom>
          <a:noFill/>
        </p:spPr>
        <p:txBody>
          <a:bodyPr wrap="square" lIns="0" rIns="0" t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669279"/>
            <a:ext cx="11292840" cy="548640"/>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0.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1.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1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4131</Words>
  <Application>Microsoft Office PowerPoint</Application>
  <PresentationFormat>ワイド画面</PresentationFormat>
  <Paragraphs>246</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メイリオ</vt:lpstr>
      <vt:lpstr>Arial</vt:lpstr>
      <vt:lpstr>Calibri</vt:lpstr>
      <vt:lpstr>Wingdings</vt:lpstr>
      <vt:lpstr>Office テーマ</vt:lpstr>
      <vt:lpstr>製造業を取り巻くマクロ環境変化 (PEST分析) </vt:lpstr>
      <vt:lpstr> 顧客 ･ 取引先 ･ 競合の変化</vt:lpstr>
      <vt:lpstr>自社が対応しなければいけない点</vt:lpstr>
      <vt:lpstr> 自社が対応しなければいけない点</vt:lpstr>
      <vt:lpstr>これから目指す姿</vt:lpstr>
      <vt:lpstr>現状とのギャップと真因</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70</cp:revision>
  <dcterms:created xsi:type="dcterms:W3CDTF">2024-12-27T03:42:11Z</dcterms:created>
  <dcterms:modified xsi:type="dcterms:W3CDTF">2026-07-22T05:41:04Z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