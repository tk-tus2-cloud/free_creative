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2147483620" r:id="rId18"/>
    <p:sldId id="2147483612" r:id="rId5"/>
    <p:sldId id="2147483613" r:id="rId6"/>
    <p:sldId id="2147483614" r:id="rId7"/>
    <p:sldId id="2147483616" r:id="rId9"/>
    <p:sldId id="2147483617" r:id="rId10"/>
    <p:sldId id="2147483622" r:id="rId20"/>
    <p:sldId id="2147483619" r:id="rId8"/>
    <p:sldId id="2147483623" r:id="rId21"/>
    <p:sldId id="2147483624" r:id="rId22"/>
    <p:sldId id="2147483625" r:id="rId23"/>
    <p:sldId id="2147483626" r:id="rId24"/>
    <p:sldId id="2147483627" r:id="rId25"/>
    <p:sldId id="2147483628" r:id="rId26"/>
    <p:sldId id="2147483621" r:id="rId19"/>
  </p:sldIdLst>
  <p:sldSz cx="12192000" cy="6858000"/>
  <p:notesSz cx="6858000" cy="9144000"/>
  <p:custDataLst>
    <p:tags r:id="rId13"/>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7.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tags" Target="tags/tag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2026/7/21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slideLayout" Target="../slideLayouts/slideLayout2.xml"/><Relationship Id="rId5" Type="http://schemas.openxmlformats.org/officeDocument/2006/relationships/image" Target="../media/image33.svg"/><Relationship Id="rId6" Type="http://schemas.openxmlformats.org/officeDocument/2006/relationships/image" Target="../media/image34.svg"/><Relationship Id="rId7" Type="http://schemas.openxmlformats.org/officeDocument/2006/relationships/image" Target="../media/image35.svg"/><Relationship Id="rId8" Type="http://schemas.openxmlformats.org/officeDocument/2006/relationships/image" Target="../media/image36.svg"/><Relationship Id="rId9" Type="http://schemas.openxmlformats.org/officeDocument/2006/relationships/image" Target="../media/image37.svg"/><Relationship Id="rId10" Type="http://schemas.openxmlformats.org/officeDocument/2006/relationships/image" Target="../media/image38.svg"/><Relationship Id="rId11" Type="http://schemas.openxmlformats.org/officeDocument/2006/relationships/image" Target="../media/image39.svg"/></Relationships>
</file>

<file path=ppt/slides/_rels/slide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7560"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2  真因は社内の「作法」</a:t>
            </a:r>
          </a:p>
        </p:txBody>
      </p:sp>
      <p:sp>
        <p:nvSpPr>
          <p:cNvPr id="21" name="TextBox 20"/>
          <p:cNvSpPr txBox="1"/>
          <p:nvPr/>
        </p:nvSpPr>
        <p:spPr>
          <a:xfrm>
            <a:off x="3355848"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縦割り・内向き業務・切迫感の欠如の根っこは、全体最適の計画と効果検証の作法がなかったこと。過去の新規投資が点で終わった反省であり、経営が慎重なのは合理的な学習</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45351"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①勝てる土俵の再定義　②データ戦略　③商談価値　④組織・生産性 ― 真因に1対1で対応させ、点でなく線・面に束ねる。小さく実証→確認ゲート→段階拡大の順で諮る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53143"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以降、環境変化（PEST・3C）→ 自社（SWOT）→ 目指す姿とギャップ → 真因（掘り下げ）→ 解決（4テーマ×8施策 → 5経営テーマへのMECE接続）→ 出口（業務のBefore→After）→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バイヤー向け防弾ロジック化</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3開示義務」の波を捉えて学校・自治体ルートをデジタル化し、2040年のAI自動補充システムのホワイトリストを独占する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「バタフライ型営業」のままであり、対P&amp;G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7F607-E1E8-30C9-B06C-B593B07285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92161E-BDAE-1DE6-51A7-DD998B7CD0A4}"/>
              </a:ext>
            </a:extLst>
          </p:cNvPr>
          <p:cNvSpPr>
            <a:spLocks noGrp="1"/>
          </p:cNvSpPr>
          <p:nvPr>
            <p:ph type="title"/>
          </p:nvPr>
        </p:nvSpPr>
        <p:spPr>
          <a:xfrm>
            <a:off x="334963" y="1"/>
            <a:ext cx="11522075" cy="914400"/>
          </a:xfrm>
        </p:spPr>
        <p:txBody>
          <a:bodyPr/>
          <a:lstStyle/>
          <a:p>
            <a:r>
              <a:rPr kumimoji="1" lang="ja-JP" altLang="en-US" dirty="0">
                <a:latin typeface="+mn-ea"/>
                <a:ea typeface="+mn-ea"/>
              </a:rPr>
              <a:t>現状とのギャップと真因</a:t>
            </a:r>
          </a:p>
        </p:txBody>
      </p:sp>
      <p:sp>
        <p:nvSpPr>
          <p:cNvPr id="5" name="テキスト プレースホルダー 2">
            <a:extLst>
              <a:ext uri="{FF2B5EF4-FFF2-40B4-BE49-F238E27FC236}">
                <a16:creationId xmlns:a16="http://schemas.microsoft.com/office/drawing/2014/main" id="{F4EC8940-39DE-271F-4D60-53EA9AACEA9E}"/>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現場で生じているあらゆるギャップは、組織の縦割り、事務作業の常態化、未来の前提変化に対する切迫感の欠如という</a:t>
            </a:r>
            <a:br>
              <a:rPr lang="en-US" altLang="ja-JP" sz="1800" dirty="0">
                <a:latin typeface="+mn-ea"/>
                <a:ea typeface="+mn-ea"/>
              </a:rPr>
            </a:br>
            <a:r>
              <a:rPr lang="ja-JP" altLang="en-US" sz="1800" dirty="0">
                <a:latin typeface="+mn-ea"/>
                <a:ea typeface="+mn-ea"/>
              </a:rPr>
              <a:t>社内の構造的ボトルネックに起因 ― 根っこは全体最適の計画と効果検証の「作法」の不在</a:t>
            </a:r>
          </a:p>
        </p:txBody>
      </p:sp>
      <p:grpSp>
        <p:nvGrpSpPr>
          <p:cNvPr id="124" name="グループ化 123">
            <a:extLst>
              <a:ext uri="{FF2B5EF4-FFF2-40B4-BE49-F238E27FC236}">
                <a16:creationId xmlns:a16="http://schemas.microsoft.com/office/drawing/2014/main" id="{AC69F230-C189-9BF6-1E35-8B2DD2F6F110}"/>
              </a:ext>
            </a:extLst>
          </p:cNvPr>
          <p:cNvGrpSpPr/>
          <p:nvPr/>
        </p:nvGrpSpPr>
        <p:grpSpPr>
          <a:xfrm>
            <a:off x="334963" y="1628775"/>
            <a:ext cx="11523979" cy="4679950"/>
            <a:chOff x="334963" y="1628775"/>
            <a:chExt cx="11523979" cy="4679950"/>
          </a:xfrm>
        </p:grpSpPr>
        <p:cxnSp>
          <p:nvCxnSpPr>
            <p:cNvPr id="30" name="直線コネクタ 29">
              <a:extLst>
                <a:ext uri="{FF2B5EF4-FFF2-40B4-BE49-F238E27FC236}">
                  <a16:creationId xmlns:a16="http://schemas.microsoft.com/office/drawing/2014/main" id="{54E56C8A-642B-A5CD-A94E-95E8B9514EAA}"/>
                </a:ext>
              </a:extLst>
            </p:cNvPr>
            <p:cNvCxnSpPr/>
            <p:nvPr/>
          </p:nvCxnSpPr>
          <p:spPr>
            <a:xfrm>
              <a:off x="3235489" y="2579369"/>
              <a:ext cx="5719127"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2196A547-F63B-E75F-0B00-4DAF3582D79C}"/>
                </a:ext>
              </a:extLst>
            </p:cNvPr>
            <p:cNvSpPr/>
            <p:nvPr/>
          </p:nvSpPr>
          <p:spPr>
            <a:xfrm>
              <a:off x="5074783" y="2099733"/>
              <a:ext cx="3879833" cy="42383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GAPを生み出している構造的ボトルネック</a:t>
              </a:r>
            </a:p>
          </p:txBody>
        </p:sp>
        <p:sp>
          <p:nvSpPr>
            <p:cNvPr id="32" name="正方形/長方形 31">
              <a:extLst>
                <a:ext uri="{FF2B5EF4-FFF2-40B4-BE49-F238E27FC236}">
                  <a16:creationId xmlns:a16="http://schemas.microsoft.com/office/drawing/2014/main" id="{6646D3F8-CB1A-D812-9CCA-5175E020F652}"/>
                </a:ext>
              </a:extLst>
            </p:cNvPr>
            <p:cNvSpPr/>
            <p:nvPr/>
          </p:nvSpPr>
          <p:spPr>
            <a:xfrm>
              <a:off x="3272569" y="2099733"/>
              <a:ext cx="1765135" cy="423832"/>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latin typeface="+mn-ea"/>
                </a:rPr>
                <a:t>原因</a:t>
              </a:r>
              <a:r>
                <a:rPr lang="en-US" altLang="ja-JP" sz="1400" b="1" dirty="0">
                  <a:latin typeface="+mn-ea"/>
                </a:rPr>
                <a:t> (</a:t>
              </a:r>
              <a:r>
                <a:rPr lang="ja-JP" altLang="ja-JP" sz="1400" b="1" dirty="0">
                  <a:latin typeface="+mn-ea"/>
                </a:rPr>
                <a:t>真因</a:t>
              </a:r>
              <a:r>
                <a:rPr lang="en-US" altLang="ja-JP" sz="1400" b="1" dirty="0">
                  <a:latin typeface="+mn-ea"/>
                </a:rPr>
                <a:t>) </a:t>
              </a:r>
              <a:endParaRPr kumimoji="1" lang="ja-JP" altLang="en-US" sz="1400" dirty="0">
                <a:solidFill>
                  <a:schemeClr val="tx1"/>
                </a:solidFill>
                <a:latin typeface="+mn-ea"/>
              </a:endParaRPr>
            </a:p>
          </p:txBody>
        </p:sp>
        <p:sp>
          <p:nvSpPr>
            <p:cNvPr id="22" name="正方形/長方形 21">
              <a:extLst>
                <a:ext uri="{FF2B5EF4-FFF2-40B4-BE49-F238E27FC236}">
                  <a16:creationId xmlns:a16="http://schemas.microsoft.com/office/drawing/2014/main" id="{51D13621-E37A-8D3B-1402-DA4168EB67A3}"/>
                </a:ext>
              </a:extLst>
            </p:cNvPr>
            <p:cNvSpPr/>
            <p:nvPr/>
          </p:nvSpPr>
          <p:spPr>
            <a:xfrm>
              <a:off x="3235489" y="2681505"/>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縦割り組織による「知見の非換金性」</a:t>
              </a:r>
              <a:endParaRPr lang="en-US" altLang="ja-JP" sz="1300"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R&amp;D、マーケ、営業のKPI</a:t>
              </a:r>
              <a:r>
                <a:rPr lang="en-US" altLang="ja-JP" sz="1000" dirty="0">
                  <a:solidFill>
                    <a:schemeClr val="tx1"/>
                  </a:solidFill>
                  <a:latin typeface="+mn-ea"/>
                </a:rPr>
                <a:t> (</a:t>
              </a:r>
              <a:r>
                <a:rPr lang="ja-JP" altLang="ja-JP" sz="1000" dirty="0">
                  <a:solidFill>
                    <a:schemeClr val="tx1"/>
                  </a:solidFill>
                  <a:latin typeface="+mn-ea"/>
                </a:rPr>
                <a:t>評価指標</a:t>
              </a:r>
              <a:r>
                <a:rPr lang="en-US" altLang="ja-JP" sz="1000" dirty="0">
                  <a:solidFill>
                    <a:schemeClr val="tx1"/>
                  </a:solidFill>
                  <a:latin typeface="+mn-ea"/>
                </a:rPr>
                <a:t>) </a:t>
              </a:r>
              <a:r>
                <a:rPr lang="ja-JP" altLang="ja-JP" sz="1000" dirty="0">
                  <a:solidFill>
                    <a:schemeClr val="tx1"/>
                  </a:solidFill>
                  <a:latin typeface="+mn-ea"/>
                </a:rPr>
                <a:t>とデータ基盤が分断している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そのため、社内の強力な臨床</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行動データを、バイヤーが小売社内の</a:t>
              </a:r>
              <a:r>
                <a:rPr lang="ja-JP" altLang="en-US" sz="1000" dirty="0">
                  <a:solidFill>
                    <a:schemeClr val="tx1"/>
                  </a:solidFill>
                  <a:latin typeface="+mn-ea"/>
                </a:rPr>
                <a:t>データ検証</a:t>
              </a:r>
              <a:r>
                <a:rPr lang="ja-JP" altLang="ja-JP" sz="1000" dirty="0">
                  <a:solidFill>
                    <a:schemeClr val="tx1"/>
                  </a:solidFill>
                  <a:latin typeface="+mn-ea"/>
                </a:rPr>
                <a:t>を突破するため</a:t>
              </a:r>
              <a:br>
                <a:rPr lang="en-US" altLang="ja-JP" sz="1000" dirty="0">
                  <a:solidFill>
                    <a:schemeClr val="tx1"/>
                  </a:solidFill>
                  <a:latin typeface="+mn-ea"/>
                </a:rPr>
              </a:br>
              <a:r>
                <a:rPr lang="ja-JP" altLang="ja-JP" sz="1000" dirty="0">
                  <a:solidFill>
                    <a:schemeClr val="tx1"/>
                  </a:solidFill>
                  <a:latin typeface="+mn-ea"/>
                </a:rPr>
                <a:t>の「LTV予測」へ自動変換</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現場供給する「共通のデータ統合インフラ</a:t>
              </a:r>
              <a:r>
                <a:rPr lang="en-US" altLang="ja-JP" sz="1000" dirty="0">
                  <a:solidFill>
                    <a:schemeClr val="tx1"/>
                  </a:solidFill>
                  <a:latin typeface="+mn-ea"/>
                </a:rPr>
                <a:t> (</a:t>
              </a:r>
              <a:r>
                <a:rPr lang="ja-JP" altLang="ja-JP" sz="1000" dirty="0">
                  <a:solidFill>
                    <a:schemeClr val="tx1"/>
                  </a:solidFill>
                  <a:latin typeface="+mn-ea"/>
                </a:rPr>
                <a:t>GCP</a:t>
              </a:r>
              <a:r>
                <a:rPr lang="en-US" altLang="ja-JP" sz="1000" dirty="0">
                  <a:solidFill>
                    <a:schemeClr val="tx1"/>
                  </a:solidFill>
                  <a:latin typeface="+mn-ea"/>
                </a:rPr>
                <a:t>) </a:t>
              </a:r>
              <a:r>
                <a:rPr lang="ja-JP" altLang="ja-JP" sz="1000" dirty="0">
                  <a:solidFill>
                    <a:schemeClr val="tx1"/>
                  </a:solidFill>
                  <a:latin typeface="+mn-ea"/>
                </a:rPr>
                <a:t>」がそもそも存在しない</a:t>
              </a:r>
            </a:p>
          </p:txBody>
        </p:sp>
        <p:sp>
          <p:nvSpPr>
            <p:cNvPr id="43" name="正方形/長方形 42">
              <a:extLst>
                <a:ext uri="{FF2B5EF4-FFF2-40B4-BE49-F238E27FC236}">
                  <a16:creationId xmlns:a16="http://schemas.microsoft.com/office/drawing/2014/main" id="{E6ADC0FE-9B17-A121-B49D-7DF74A93556E}"/>
                </a:ext>
              </a:extLst>
            </p:cNvPr>
            <p:cNvSpPr/>
            <p:nvPr/>
          </p:nvSpPr>
          <p:spPr>
            <a:xfrm>
              <a:off x="3235489" y="3909179"/>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「内向きの作業」を仕事とする現場の慣性</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資料作成や実績集計の時間を「現場の仕方のない苦労」として許容している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7.6倍の圧倒的な生産性格差を埋めるために、「生成AIやTPMで現場の事務作業を強制的に</a:t>
              </a:r>
              <a:br>
                <a:rPr lang="en-US" altLang="ja-JP" sz="1000" dirty="0">
                  <a:solidFill>
                    <a:schemeClr val="tx1"/>
                  </a:solidFill>
                  <a:latin typeface="+mn-ea"/>
                </a:rPr>
              </a:br>
              <a:r>
                <a:rPr lang="ja-JP" altLang="ja-JP" sz="1000" dirty="0">
                  <a:solidFill>
                    <a:schemeClr val="tx1"/>
                  </a:solidFill>
                  <a:latin typeface="+mn-ea"/>
                </a:rPr>
                <a:t>完全ゼロ化し、人間の時間を100%戦略対話へシフトする」という思想的覚悟と仕組みが足りない</a:t>
              </a:r>
              <a:endParaRPr kumimoji="1" lang="ja-JP" altLang="en-US" sz="1000" dirty="0">
                <a:solidFill>
                  <a:schemeClr val="tx1"/>
                </a:solidFill>
                <a:latin typeface="+mn-ea"/>
              </a:endParaRPr>
            </a:p>
          </p:txBody>
        </p:sp>
        <p:sp>
          <p:nvSpPr>
            <p:cNvPr id="44" name="正方形/長方形 43">
              <a:extLst>
                <a:ext uri="{FF2B5EF4-FFF2-40B4-BE49-F238E27FC236}">
                  <a16:creationId xmlns:a16="http://schemas.microsoft.com/office/drawing/2014/main" id="{4E56282F-0A0A-E869-B013-0CEF1BF23E49}"/>
                </a:ext>
              </a:extLst>
            </p:cNvPr>
            <p:cNvSpPr/>
            <p:nvPr/>
          </p:nvSpPr>
          <p:spPr>
            <a:xfrm>
              <a:off x="3235489" y="5136853"/>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「前提の崩壊」に対する切迫感の欠如</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2040年の「買い場の消滅</a:t>
              </a:r>
              <a:r>
                <a:rPr lang="en-US" altLang="ja-JP" sz="1000" dirty="0">
                  <a:solidFill>
                    <a:schemeClr val="tx1"/>
                  </a:solidFill>
                  <a:latin typeface="+mn-ea"/>
                </a:rPr>
                <a:t> (</a:t>
              </a:r>
              <a:r>
                <a:rPr lang="ja-JP" altLang="ja-JP" sz="1000" dirty="0">
                  <a:solidFill>
                    <a:schemeClr val="tx1"/>
                  </a:solidFill>
                  <a:latin typeface="+mn-ea"/>
                </a:rPr>
                <a:t>AI自動補充</a:t>
              </a:r>
              <a:r>
                <a:rPr lang="en-US" altLang="ja-JP" sz="1000" dirty="0">
                  <a:solidFill>
                    <a:schemeClr val="tx1"/>
                  </a:solidFill>
                  <a:latin typeface="+mn-ea"/>
                </a:rPr>
                <a:t>) </a:t>
              </a:r>
              <a:r>
                <a:rPr lang="ja-JP" altLang="ja-JP" sz="1000" dirty="0">
                  <a:solidFill>
                    <a:schemeClr val="tx1"/>
                  </a:solidFill>
                  <a:latin typeface="+mn-ea"/>
                </a:rPr>
                <a:t>」や「環境規制の義務化</a:t>
              </a:r>
              <a:r>
                <a:rPr lang="en-US" altLang="ja-JP" sz="1000" dirty="0">
                  <a:solidFill>
                    <a:schemeClr val="tx1"/>
                  </a:solidFill>
                  <a:latin typeface="+mn-ea"/>
                </a:rPr>
                <a:t> (</a:t>
              </a:r>
              <a:r>
                <a:rPr lang="ja-JP" altLang="ja-JP" sz="1000" dirty="0">
                  <a:solidFill>
                    <a:schemeClr val="tx1"/>
                  </a:solidFill>
                  <a:latin typeface="+mn-ea"/>
                </a:rPr>
                <a:t>Scope 3</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容器完全回収</a:t>
              </a:r>
              <a:br>
                <a:rPr lang="en-US" altLang="ja-JP" sz="1000" dirty="0">
                  <a:solidFill>
                    <a:schemeClr val="tx1"/>
                  </a:solidFill>
                  <a:latin typeface="+mn-ea"/>
                </a:rPr>
              </a:br>
              <a:r>
                <a:rPr lang="ja-JP" altLang="ja-JP" sz="1000" dirty="0">
                  <a:solidFill>
                    <a:schemeClr val="tx1"/>
                  </a:solidFill>
                  <a:latin typeface="+mn-ea"/>
                </a:rPr>
                <a:t>等</a:t>
              </a:r>
              <a:r>
                <a:rPr lang="en-US" altLang="ja-JP" sz="1000" dirty="0">
                  <a:solidFill>
                    <a:schemeClr val="tx1"/>
                  </a:solidFill>
                  <a:latin typeface="+mn-ea"/>
                </a:rPr>
                <a:t>) </a:t>
              </a:r>
              <a:r>
                <a:rPr lang="ja-JP" altLang="ja-JP" sz="1000" dirty="0">
                  <a:solidFill>
                    <a:schemeClr val="tx1"/>
                  </a:solidFill>
                  <a:latin typeface="+mn-ea"/>
                </a:rPr>
                <a:t>」を、遠い未来のCSRやIT部門のテーマと捉えている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自社の「ブランド生存権がアルゴリズムによって市場から自動消去される危機」として、</a:t>
              </a:r>
              <a:br>
                <a:rPr lang="en-US" altLang="ja-JP" sz="1000" dirty="0">
                  <a:solidFill>
                    <a:schemeClr val="tx1"/>
                  </a:solidFill>
                  <a:latin typeface="+mn-ea"/>
                </a:rPr>
              </a:br>
              <a:r>
                <a:rPr lang="ja-JP" altLang="ja-JP" sz="1000" dirty="0">
                  <a:solidFill>
                    <a:schemeClr val="tx1"/>
                  </a:solidFill>
                  <a:latin typeface="+mn-ea"/>
                </a:rPr>
                <a:t>営業</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マーケの現場レベルまで危機感が共有されていない</a:t>
              </a:r>
              <a:endParaRPr kumimoji="1" lang="ja-JP" altLang="en-US" sz="1000" dirty="0">
                <a:solidFill>
                  <a:schemeClr val="tx1"/>
                </a:solidFill>
                <a:latin typeface="+mn-ea"/>
              </a:endParaRPr>
            </a:p>
          </p:txBody>
        </p:sp>
        <p:sp>
          <p:nvSpPr>
            <p:cNvPr id="10" name="正方形/長方形 9">
              <a:extLst>
                <a:ext uri="{FF2B5EF4-FFF2-40B4-BE49-F238E27FC236}">
                  <a16:creationId xmlns:a16="http://schemas.microsoft.com/office/drawing/2014/main" id="{FF6B5DA5-BB40-B6D2-C0B5-5CB9C91FD3D6}"/>
                </a:ext>
              </a:extLst>
            </p:cNvPr>
            <p:cNvSpPr/>
            <p:nvPr/>
          </p:nvSpPr>
          <p:spPr>
            <a:xfrm>
              <a:off x="334963" y="2681504"/>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ja-JP" sz="950" dirty="0">
                  <a:solidFill>
                    <a:schemeClr val="tx1"/>
                  </a:solidFill>
                  <a:latin typeface="+mn-ea"/>
                </a:rPr>
                <a:t>洗剤領域での不毛な消耗戦から脱却</a:t>
              </a:r>
              <a:br>
                <a:rPr lang="en-US" altLang="ja-JP" sz="950" dirty="0">
                  <a:solidFill>
                    <a:schemeClr val="tx1"/>
                  </a:solidFill>
                  <a:latin typeface="+mn-ea"/>
                </a:rPr>
              </a:br>
              <a:r>
                <a:rPr lang="ja-JP" altLang="ja-JP" sz="950" dirty="0">
                  <a:solidFill>
                    <a:schemeClr val="tx1"/>
                  </a:solidFill>
                  <a:latin typeface="+mn-ea"/>
                </a:rPr>
                <a:t>できず、オーラルやキレイキレイ等の強み</a:t>
              </a:r>
              <a:br>
                <a:rPr lang="en-US" altLang="ja-JP" sz="950" dirty="0">
                  <a:solidFill>
                    <a:schemeClr val="tx1"/>
                  </a:solidFill>
                  <a:latin typeface="+mn-ea"/>
                </a:rPr>
              </a:br>
              <a:r>
                <a:rPr lang="ja-JP" altLang="ja-JP" sz="950" dirty="0">
                  <a:solidFill>
                    <a:schemeClr val="tx1"/>
                  </a:solidFill>
                  <a:latin typeface="+mn-ea"/>
                </a:rPr>
                <a:t>領域を未来のAI自動補充システムへ</a:t>
              </a:r>
              <a:br>
                <a:rPr lang="en-US" altLang="ja-JP" sz="950" dirty="0">
                  <a:solidFill>
                    <a:schemeClr val="tx1"/>
                  </a:solidFill>
                  <a:latin typeface="+mn-ea"/>
                </a:rPr>
              </a:br>
              <a:r>
                <a:rPr lang="ja-JP" altLang="ja-JP" sz="950" dirty="0">
                  <a:solidFill>
                    <a:schemeClr val="tx1"/>
                  </a:solidFill>
                  <a:latin typeface="+mn-ea"/>
                </a:rPr>
                <a:t>潜り込ませるための「製品属性データの</a:t>
              </a:r>
              <a:br>
                <a:rPr lang="en-US" altLang="ja-JP" sz="950" dirty="0">
                  <a:solidFill>
                    <a:schemeClr val="tx1"/>
                  </a:solidFill>
                  <a:latin typeface="+mn-ea"/>
                </a:rPr>
              </a:br>
              <a:r>
                <a:rPr lang="ja-JP" altLang="ja-JP" sz="950" dirty="0">
                  <a:solidFill>
                    <a:schemeClr val="tx1"/>
                  </a:solidFill>
                  <a:latin typeface="+mn-ea"/>
                </a:rPr>
                <a:t>構造化</a:t>
              </a:r>
              <a:r>
                <a:rPr lang="en-US" altLang="ja-JP" sz="950" dirty="0">
                  <a:solidFill>
                    <a:schemeClr val="tx1"/>
                  </a:solidFill>
                  <a:latin typeface="+mn-ea"/>
                </a:rPr>
                <a:t> </a:t>
              </a:r>
              <a:r>
                <a:rPr lang="ja-JP" altLang="en-US" sz="950" dirty="0">
                  <a:solidFill>
                    <a:schemeClr val="tx1"/>
                  </a:solidFill>
                  <a:latin typeface="+mn-ea"/>
                </a:rPr>
                <a:t>･ </a:t>
              </a:r>
              <a:r>
                <a:rPr lang="ja-JP" altLang="ja-JP" sz="950" dirty="0">
                  <a:solidFill>
                    <a:schemeClr val="tx1"/>
                  </a:solidFill>
                  <a:latin typeface="+mn-ea"/>
                </a:rPr>
                <a:t>API化」に未着手である</a:t>
              </a:r>
              <a:endParaRPr kumimoji="1" lang="ja-JP" altLang="en-US" sz="950" dirty="0">
                <a:solidFill>
                  <a:schemeClr val="tx1"/>
                </a:solidFill>
                <a:latin typeface="+mn-ea"/>
              </a:endParaRPr>
            </a:p>
          </p:txBody>
        </p:sp>
        <p:sp>
          <p:nvSpPr>
            <p:cNvPr id="15" name="四角形: 角を丸くする 14">
              <a:extLst>
                <a:ext uri="{FF2B5EF4-FFF2-40B4-BE49-F238E27FC236}">
                  <a16:creationId xmlns:a16="http://schemas.microsoft.com/office/drawing/2014/main" id="{ACE527CA-409C-630C-8672-041428968DCD}"/>
                </a:ext>
              </a:extLst>
            </p:cNvPr>
            <p:cNvSpPr/>
            <p:nvPr/>
          </p:nvSpPr>
          <p:spPr>
            <a:xfrm>
              <a:off x="435607"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1</a:t>
              </a:r>
              <a:endParaRPr kumimoji="1" lang="ja-JP" altLang="en-US" sz="1400" dirty="0">
                <a:solidFill>
                  <a:schemeClr val="bg1"/>
                </a:solidFill>
                <a:latin typeface="+mn-ea"/>
              </a:endParaRPr>
            </a:p>
          </p:txBody>
        </p:sp>
        <p:pic>
          <p:nvPicPr>
            <p:cNvPr id="102" name="グラフィックス 101" descr="階層 単色塗りつぶし">
              <a:extLst>
                <a:ext uri="{FF2B5EF4-FFF2-40B4-BE49-F238E27FC236}">
                  <a16:creationId xmlns:a16="http://schemas.microsoft.com/office/drawing/2014/main" id="{1C3061FE-C03C-A988-71E1-C9FC92A317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10667" y="4024673"/>
              <a:ext cx="360000" cy="360000"/>
            </a:xfrm>
            <a:prstGeom prst="rect">
              <a:avLst/>
            </a:prstGeom>
          </p:spPr>
        </p:pic>
        <p:pic>
          <p:nvPicPr>
            <p:cNvPr id="104" name="グラフィックス 103" descr="上階 単色塗りつぶし">
              <a:extLst>
                <a:ext uri="{FF2B5EF4-FFF2-40B4-BE49-F238E27FC236}">
                  <a16:creationId xmlns:a16="http://schemas.microsoft.com/office/drawing/2014/main" id="{02941425-0D92-878F-6708-ED264C9241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7038" y="4024673"/>
              <a:ext cx="360000" cy="360000"/>
            </a:xfrm>
            <a:prstGeom prst="rect">
              <a:avLst/>
            </a:prstGeom>
          </p:spPr>
        </p:pic>
        <p:sp>
          <p:nvSpPr>
            <p:cNvPr id="14" name="正方形/長方形 13">
              <a:extLst>
                <a:ext uri="{FF2B5EF4-FFF2-40B4-BE49-F238E27FC236}">
                  <a16:creationId xmlns:a16="http://schemas.microsoft.com/office/drawing/2014/main" id="{CB2EAD6E-72D5-0D5A-0AA6-15B7F5767709}"/>
                </a:ext>
              </a:extLst>
            </p:cNvPr>
            <p:cNvSpPr/>
            <p:nvPr/>
          </p:nvSpPr>
          <p:spPr>
            <a:xfrm>
              <a:off x="334963" y="4605556"/>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データ</a:t>
              </a:r>
              <a:r>
                <a:rPr lang="ja-JP" altLang="ja-JP" sz="1000" dirty="0">
                  <a:solidFill>
                    <a:schemeClr val="tx1"/>
                  </a:solidFill>
                  <a:latin typeface="+mn-ea"/>
                </a:rPr>
                <a:t>検証に怯えるバイヤーが最も欲している「</a:t>
              </a:r>
              <a:r>
                <a:rPr lang="ja-JP" altLang="en-US" sz="1000" dirty="0">
                  <a:solidFill>
                    <a:schemeClr val="tx1"/>
                  </a:solidFill>
                  <a:latin typeface="+mn-ea"/>
                </a:rPr>
                <a:t>安心材料</a:t>
              </a:r>
              <a:r>
                <a:rPr lang="en-US" altLang="ja-JP" sz="1000" dirty="0">
                  <a:solidFill>
                    <a:schemeClr val="tx1"/>
                  </a:solidFill>
                  <a:latin typeface="+mn-ea"/>
                </a:rPr>
                <a:t>(</a:t>
              </a:r>
              <a:r>
                <a:rPr lang="ja-JP" altLang="ja-JP" sz="1000" dirty="0">
                  <a:solidFill>
                    <a:schemeClr val="tx1"/>
                  </a:solidFill>
                  <a:latin typeface="+mn-ea"/>
                </a:rPr>
                <a:t>チェーン全体のカテゴリLTVや炭素効率の予測データ</a:t>
              </a:r>
              <a:r>
                <a:rPr lang="en-US" altLang="ja-JP" sz="1000" dirty="0">
                  <a:solidFill>
                    <a:schemeClr val="tx1"/>
                  </a:solidFill>
                  <a:latin typeface="+mn-ea"/>
                </a:rPr>
                <a:t>) </a:t>
              </a:r>
              <a:r>
                <a:rPr lang="ja-JP" altLang="ja-JP" sz="1000" dirty="0">
                  <a:solidFill>
                    <a:schemeClr val="tx1"/>
                  </a:solidFill>
                  <a:latin typeface="+mn-ea"/>
                </a:rPr>
                <a:t>」ではなく、従来型の「目先の値引き</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特売条件」を提案し続けるという商談価値のミスマッチが起きている</a:t>
              </a:r>
              <a:endParaRPr lang="ja-JP" altLang="en-US" sz="1000" dirty="0">
                <a:solidFill>
                  <a:schemeClr val="tx1"/>
                </a:solidFill>
                <a:latin typeface="+mn-ea"/>
              </a:endParaRPr>
            </a:p>
          </p:txBody>
        </p:sp>
        <p:sp>
          <p:nvSpPr>
            <p:cNvPr id="21" name="四角形: 角を丸くする 20">
              <a:extLst>
                <a:ext uri="{FF2B5EF4-FFF2-40B4-BE49-F238E27FC236}">
                  <a16:creationId xmlns:a16="http://schemas.microsoft.com/office/drawing/2014/main" id="{F8F93723-17BB-4FD1-C916-521F39D875EA}"/>
                </a:ext>
              </a:extLst>
            </p:cNvPr>
            <p:cNvSpPr/>
            <p:nvPr/>
          </p:nvSpPr>
          <p:spPr>
            <a:xfrm>
              <a:off x="435607"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3</a:t>
              </a:r>
              <a:endParaRPr kumimoji="1" lang="ja-JP" altLang="en-US" sz="1400" dirty="0">
                <a:solidFill>
                  <a:schemeClr val="bg1"/>
                </a:solidFill>
                <a:latin typeface="+mn-ea"/>
              </a:endParaRPr>
            </a:p>
          </p:txBody>
        </p:sp>
        <p:pic>
          <p:nvPicPr>
            <p:cNvPr id="106" name="グラフィックス 105" descr="クリップボード: 混合 単色塗りつぶし">
              <a:extLst>
                <a:ext uri="{FF2B5EF4-FFF2-40B4-BE49-F238E27FC236}">
                  <a16:creationId xmlns:a16="http://schemas.microsoft.com/office/drawing/2014/main" id="{874DE686-3313-2D62-5331-C34B20E76D7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10667" y="5948725"/>
              <a:ext cx="360000" cy="360000"/>
            </a:xfrm>
            <a:prstGeom prst="rect">
              <a:avLst/>
            </a:prstGeom>
          </p:spPr>
        </p:pic>
        <p:sp>
          <p:nvSpPr>
            <p:cNvPr id="24" name="正方形/長方形 23">
              <a:extLst>
                <a:ext uri="{FF2B5EF4-FFF2-40B4-BE49-F238E27FC236}">
                  <a16:creationId xmlns:a16="http://schemas.microsoft.com/office/drawing/2014/main" id="{74D2818D-FBDB-47FA-D2CC-4DFCA598CD77}"/>
                </a:ext>
              </a:extLst>
            </p:cNvPr>
            <p:cNvSpPr/>
            <p:nvPr/>
          </p:nvSpPr>
          <p:spPr>
            <a:xfrm>
              <a:off x="9819438" y="2681504"/>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ja-JP" sz="1000" dirty="0">
                  <a:solidFill>
                    <a:schemeClr val="tx1"/>
                  </a:solidFill>
                  <a:latin typeface="+mn-ea"/>
                </a:rPr>
                <a:t>自社データ劣後の焦りから自前D2C</a:t>
              </a:r>
              <a:r>
                <a:rPr lang="en-US" altLang="ja-JP" sz="1000" dirty="0">
                  <a:solidFill>
                    <a:schemeClr val="tx1"/>
                  </a:solidFill>
                  <a:latin typeface="+mn-ea"/>
                </a:rPr>
                <a:t> (</a:t>
              </a:r>
              <a:r>
                <a:rPr lang="ja-JP" altLang="ja-JP" sz="1000" dirty="0">
                  <a:solidFill>
                    <a:schemeClr val="tx1"/>
                  </a:solidFill>
                  <a:latin typeface="+mn-ea"/>
                </a:rPr>
                <a:t>My Kaoの模倣</a:t>
              </a:r>
              <a:r>
                <a:rPr lang="en-US" altLang="ja-JP" sz="1000" dirty="0">
                  <a:solidFill>
                    <a:schemeClr val="tx1"/>
                  </a:solidFill>
                  <a:latin typeface="+mn-ea"/>
                </a:rPr>
                <a:t>) </a:t>
              </a:r>
              <a:r>
                <a:rPr lang="ja-JP" altLang="ja-JP" sz="1000" dirty="0">
                  <a:solidFill>
                    <a:schemeClr val="tx1"/>
                  </a:solidFill>
                  <a:latin typeface="+mn-ea"/>
                </a:rPr>
                <a:t>を追いかけるか、小売に振り回されるかの二極化に陥り</a:t>
              </a:r>
              <a:r>
                <a:rPr lang="ja-JP" altLang="en-US" sz="1000" dirty="0">
                  <a:solidFill>
                    <a:schemeClr val="tx1"/>
                  </a:solidFill>
                  <a:latin typeface="+mn-ea"/>
                </a:rPr>
                <a:t>、</a:t>
              </a:r>
              <a:r>
                <a:rPr lang="ja-JP" altLang="ja-JP" sz="1000" dirty="0">
                  <a:solidFill>
                    <a:schemeClr val="tx1"/>
                  </a:solidFill>
                  <a:latin typeface="+mn-ea"/>
                </a:rPr>
                <a:t>小売インフラを高度に利用する寄生型へシフトできていない</a:t>
              </a:r>
              <a:endParaRPr lang="ja-JP" altLang="en-US" sz="1000" dirty="0">
                <a:solidFill>
                  <a:schemeClr val="tx1"/>
                </a:solidFill>
                <a:latin typeface="+mn-ea"/>
              </a:endParaRPr>
            </a:p>
          </p:txBody>
        </p:sp>
        <p:sp>
          <p:nvSpPr>
            <p:cNvPr id="26" name="四角形: 角を丸くする 25">
              <a:extLst>
                <a:ext uri="{FF2B5EF4-FFF2-40B4-BE49-F238E27FC236}">
                  <a16:creationId xmlns:a16="http://schemas.microsoft.com/office/drawing/2014/main" id="{2BC3DE40-967B-2D41-84E7-E8480A908765}"/>
                </a:ext>
              </a:extLst>
            </p:cNvPr>
            <p:cNvSpPr/>
            <p:nvPr/>
          </p:nvSpPr>
          <p:spPr>
            <a:xfrm>
              <a:off x="9899448"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2</a:t>
              </a:r>
              <a:endParaRPr kumimoji="1" lang="ja-JP" altLang="en-US" sz="1400" dirty="0">
                <a:solidFill>
                  <a:schemeClr val="bg1"/>
                </a:solidFill>
                <a:latin typeface="+mn-ea"/>
              </a:endParaRPr>
            </a:p>
          </p:txBody>
        </p:sp>
        <p:sp>
          <p:nvSpPr>
            <p:cNvPr id="25" name="正方形/長方形 24">
              <a:extLst>
                <a:ext uri="{FF2B5EF4-FFF2-40B4-BE49-F238E27FC236}">
                  <a16:creationId xmlns:a16="http://schemas.microsoft.com/office/drawing/2014/main" id="{9A1E42BB-F4D4-699C-1CF3-45CA1CB0CE99}"/>
                </a:ext>
              </a:extLst>
            </p:cNvPr>
            <p:cNvSpPr/>
            <p:nvPr/>
          </p:nvSpPr>
          <p:spPr>
            <a:xfrm>
              <a:off x="9819438" y="4605556"/>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人手不足と環境規制で店舗運営 </a:t>
              </a:r>
              <a:r>
                <a:rPr lang="en-US" altLang="ja-JP" sz="1000" dirty="0">
                  <a:solidFill>
                    <a:schemeClr val="tx1"/>
                  </a:solidFill>
                  <a:latin typeface="+mn-ea"/>
                </a:rPr>
                <a:t>(</a:t>
              </a:r>
              <a:r>
                <a:rPr lang="ja-JP" altLang="en-US" sz="1000" dirty="0">
                  <a:solidFill>
                    <a:schemeClr val="tx1"/>
                  </a:solidFill>
                  <a:latin typeface="+mn-ea"/>
                </a:rPr>
                <a:t>逆物流含む</a:t>
              </a:r>
              <a:r>
                <a:rPr lang="en-US" altLang="ja-JP" sz="1000" dirty="0">
                  <a:solidFill>
                    <a:schemeClr val="tx1"/>
                  </a:solidFill>
                  <a:latin typeface="+mn-ea"/>
                </a:rPr>
                <a:t>) </a:t>
              </a:r>
              <a:r>
                <a:rPr lang="ja-JP" altLang="en-US" sz="1000" dirty="0">
                  <a:solidFill>
                    <a:schemeClr val="tx1"/>
                  </a:solidFill>
                  <a:latin typeface="+mn-ea"/>
                </a:rPr>
                <a:t>が困難にある小売に対し、組織総力戦でのアプローチができず、営業個人のウェットな関係性 </a:t>
              </a:r>
              <a:r>
                <a:rPr lang="en-US" altLang="ja-JP" sz="1000" dirty="0">
                  <a:solidFill>
                    <a:schemeClr val="tx1"/>
                  </a:solidFill>
                  <a:latin typeface="+mn-ea"/>
                </a:rPr>
                <a:t>(</a:t>
              </a:r>
              <a:r>
                <a:rPr lang="ja-JP" altLang="en-US" sz="1000" dirty="0">
                  <a:solidFill>
                    <a:schemeClr val="tx1"/>
                  </a:solidFill>
                  <a:latin typeface="+mn-ea"/>
                </a:rPr>
                <a:t>属人化</a:t>
              </a:r>
              <a:r>
                <a:rPr lang="en-US" altLang="ja-JP" sz="1000" dirty="0">
                  <a:solidFill>
                    <a:schemeClr val="tx1"/>
                  </a:solidFill>
                  <a:latin typeface="+mn-ea"/>
                </a:rPr>
                <a:t>)</a:t>
              </a:r>
              <a:r>
                <a:rPr lang="ja-JP" altLang="en-US" sz="1000" dirty="0">
                  <a:solidFill>
                    <a:schemeClr val="tx1"/>
                  </a:solidFill>
                  <a:latin typeface="+mn-ea"/>
                </a:rPr>
                <a:t> で乗り切ろうとしている</a:t>
              </a:r>
              <a:r>
                <a:rPr lang="en-US" altLang="ja-JP" sz="1000" dirty="0">
                  <a:solidFill>
                    <a:schemeClr val="tx1"/>
                  </a:solidFill>
                  <a:latin typeface="+mn-ea"/>
                </a:rPr>
                <a:t>​</a:t>
              </a:r>
              <a:endParaRPr lang="ja-JP" altLang="en-US" sz="1000" dirty="0">
                <a:solidFill>
                  <a:schemeClr val="tx1"/>
                </a:solidFill>
                <a:latin typeface="+mn-ea"/>
              </a:endParaRPr>
            </a:p>
          </p:txBody>
        </p:sp>
        <p:sp>
          <p:nvSpPr>
            <p:cNvPr id="27" name="四角形: 角を丸くする 26">
              <a:extLst>
                <a:ext uri="{FF2B5EF4-FFF2-40B4-BE49-F238E27FC236}">
                  <a16:creationId xmlns:a16="http://schemas.microsoft.com/office/drawing/2014/main" id="{337BF068-1735-7E63-1491-EF470B4A27B6}"/>
                </a:ext>
              </a:extLst>
            </p:cNvPr>
            <p:cNvSpPr/>
            <p:nvPr/>
          </p:nvSpPr>
          <p:spPr>
            <a:xfrm>
              <a:off x="9899448"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4</a:t>
              </a:r>
              <a:endParaRPr kumimoji="1" lang="ja-JP" altLang="en-US" sz="1400" dirty="0">
                <a:solidFill>
                  <a:schemeClr val="bg1"/>
                </a:solidFill>
                <a:latin typeface="+mn-ea"/>
              </a:endParaRPr>
            </a:p>
          </p:txBody>
        </p:sp>
        <p:pic>
          <p:nvPicPr>
            <p:cNvPr id="108" name="グラフィックス 107" descr="中世の甲冑 単色塗りつぶし">
              <a:extLst>
                <a:ext uri="{FF2B5EF4-FFF2-40B4-BE49-F238E27FC236}">
                  <a16:creationId xmlns:a16="http://schemas.microsoft.com/office/drawing/2014/main" id="{8F7161FF-D0B9-AC29-CF66-4F240430C1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97038" y="5948725"/>
              <a:ext cx="360000" cy="360000"/>
            </a:xfrm>
            <a:prstGeom prst="rect">
              <a:avLst/>
            </a:prstGeom>
          </p:spPr>
        </p:pic>
        <p:sp>
          <p:nvSpPr>
            <p:cNvPr id="16" name="background">
              <a:extLst>
                <a:ext uri="{FF2B5EF4-FFF2-40B4-BE49-F238E27FC236}">
                  <a16:creationId xmlns:a16="http://schemas.microsoft.com/office/drawing/2014/main" id="{0CCE175C-C338-B319-0446-59D242859DC8}"/>
                </a:ext>
              </a:extLst>
            </p:cNvPr>
            <p:cNvSpPr>
              <a:spLocks noChangeAspect="1"/>
            </p:cNvSpPr>
            <p:nvPr>
              <p:custDataLst>
                <p:tags r:id="rId1"/>
              </p:custDataLst>
            </p:nvPr>
          </p:nvSpPr>
          <p:spPr>
            <a:xfrm>
              <a:off x="3428953" y="2852954"/>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18" name="グラフィックス 17" descr="マネジメント 単色塗りつぶし">
              <a:extLst>
                <a:ext uri="{FF2B5EF4-FFF2-40B4-BE49-F238E27FC236}">
                  <a16:creationId xmlns:a16="http://schemas.microsoft.com/office/drawing/2014/main" id="{BED9AD71-8A75-D505-454B-1A2F506700C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02953" y="3181482"/>
              <a:ext cx="504000" cy="504000"/>
            </a:xfrm>
            <a:prstGeom prst="rect">
              <a:avLst/>
            </a:prstGeom>
          </p:spPr>
        </p:pic>
        <p:sp>
          <p:nvSpPr>
            <p:cNvPr id="20" name="background">
              <a:extLst>
                <a:ext uri="{FF2B5EF4-FFF2-40B4-BE49-F238E27FC236}">
                  <a16:creationId xmlns:a16="http://schemas.microsoft.com/office/drawing/2014/main" id="{8BE0457B-A56E-55D2-85FB-FE1087A5D9C2}"/>
                </a:ext>
              </a:extLst>
            </p:cNvPr>
            <p:cNvSpPr>
              <a:spLocks noChangeAspect="1"/>
            </p:cNvSpPr>
            <p:nvPr>
              <p:custDataLst>
                <p:tags r:id="rId2"/>
              </p:custDataLst>
            </p:nvPr>
          </p:nvSpPr>
          <p:spPr>
            <a:xfrm>
              <a:off x="3428953" y="4111108"/>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28" name="グラフィックス 27" descr="ブリーフケース 単色塗りつぶし">
              <a:extLst>
                <a:ext uri="{FF2B5EF4-FFF2-40B4-BE49-F238E27FC236}">
                  <a16:creationId xmlns:a16="http://schemas.microsoft.com/office/drawing/2014/main" id="{799A438A-3965-ADF8-7C87-04ECA0AFF22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02953" y="4433615"/>
              <a:ext cx="504000" cy="504000"/>
            </a:xfrm>
            <a:prstGeom prst="rect">
              <a:avLst/>
            </a:prstGeom>
          </p:spPr>
        </p:pic>
        <p:sp>
          <p:nvSpPr>
            <p:cNvPr id="33" name="background">
              <a:extLst>
                <a:ext uri="{FF2B5EF4-FFF2-40B4-BE49-F238E27FC236}">
                  <a16:creationId xmlns:a16="http://schemas.microsoft.com/office/drawing/2014/main" id="{0CDBD66A-FC8E-C302-5C8B-740E0EE5038D}"/>
                </a:ext>
              </a:extLst>
            </p:cNvPr>
            <p:cNvSpPr>
              <a:spLocks noChangeAspect="1"/>
            </p:cNvSpPr>
            <p:nvPr>
              <p:custDataLst>
                <p:tags r:id="rId3"/>
              </p:custDataLst>
            </p:nvPr>
          </p:nvSpPr>
          <p:spPr>
            <a:xfrm>
              <a:off x="3428953" y="5282981"/>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39" name="グラフィックス 38" descr="混乱した人 単色塗りつぶし">
              <a:extLst>
                <a:ext uri="{FF2B5EF4-FFF2-40B4-BE49-F238E27FC236}">
                  <a16:creationId xmlns:a16="http://schemas.microsoft.com/office/drawing/2014/main" id="{E5C02EF5-7B1E-4BA4-A63D-28A0BBD46E7D}"/>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3302953" y="5672719"/>
              <a:ext cx="504000" cy="504000"/>
            </a:xfrm>
            <a:prstGeom prst="rect">
              <a:avLst/>
            </a:prstGeom>
          </p:spPr>
        </p:pic>
        <p:grpSp>
          <p:nvGrpSpPr>
            <p:cNvPr id="42" name="グループ化 41">
              <a:extLst>
                <a:ext uri="{FF2B5EF4-FFF2-40B4-BE49-F238E27FC236}">
                  <a16:creationId xmlns:a16="http://schemas.microsoft.com/office/drawing/2014/main" id="{EEF3D26F-B2E4-F1CE-F76B-CD3D510E9ECB}"/>
                </a:ext>
              </a:extLst>
            </p:cNvPr>
            <p:cNvGrpSpPr/>
            <p:nvPr/>
          </p:nvGrpSpPr>
          <p:grpSpPr>
            <a:xfrm>
              <a:off x="9532620" y="1628775"/>
              <a:ext cx="2326322" cy="596265"/>
              <a:chOff x="8737600" y="1628775"/>
              <a:chExt cx="3119438" cy="596265"/>
            </a:xfrm>
          </p:grpSpPr>
          <p:sp>
            <p:nvSpPr>
              <p:cNvPr id="45" name="正方形/長方形 44">
                <a:extLst>
                  <a:ext uri="{FF2B5EF4-FFF2-40B4-BE49-F238E27FC236}">
                    <a16:creationId xmlns:a16="http://schemas.microsoft.com/office/drawing/2014/main" id="{23188CFF-2DD4-DD82-89B3-B5FE2B4092AE}"/>
                  </a:ext>
                </a:extLst>
              </p:cNvPr>
              <p:cNvSpPr/>
              <p:nvPr/>
            </p:nvSpPr>
            <p:spPr>
              <a:xfrm>
                <a:off x="8737600" y="1761897"/>
                <a:ext cx="3119438" cy="463143"/>
              </a:xfrm>
              <a:prstGeom prst="rect">
                <a:avLst/>
              </a:prstGeom>
              <a:no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47" name="グループ化 46">
                <a:extLst>
                  <a:ext uri="{FF2B5EF4-FFF2-40B4-BE49-F238E27FC236}">
                    <a16:creationId xmlns:a16="http://schemas.microsoft.com/office/drawing/2014/main" id="{68ABDFE9-7F81-2C04-EF02-7895F7DD0D05}"/>
                  </a:ext>
                </a:extLst>
              </p:cNvPr>
              <p:cNvGrpSpPr/>
              <p:nvPr/>
            </p:nvGrpSpPr>
            <p:grpSpPr>
              <a:xfrm>
                <a:off x="8909993" y="1628775"/>
                <a:ext cx="2780280" cy="549045"/>
                <a:chOff x="8909993" y="1628775"/>
                <a:chExt cx="2780280" cy="549045"/>
              </a:xfrm>
            </p:grpSpPr>
            <p:sp>
              <p:nvSpPr>
                <p:cNvPr id="48" name="正方形/長方形 47">
                  <a:extLst>
                    <a:ext uri="{FF2B5EF4-FFF2-40B4-BE49-F238E27FC236}">
                      <a16:creationId xmlns:a16="http://schemas.microsoft.com/office/drawing/2014/main" id="{46E57BDD-EC05-09CF-3AA9-804EF437E55A}"/>
                    </a:ext>
                  </a:extLst>
                </p:cNvPr>
                <p:cNvSpPr/>
                <p:nvPr/>
              </p:nvSpPr>
              <p:spPr>
                <a:xfrm>
                  <a:off x="9008533" y="1628775"/>
                  <a:ext cx="1803301" cy="281191"/>
                </a:xfrm>
                <a:prstGeom prst="rect">
                  <a:avLst/>
                </a:prstGeom>
                <a:solidFill>
                  <a:schemeClr val="bg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n-ea"/>
                    </a:rPr>
                    <a:t>真因へのつながり</a:t>
                  </a:r>
                </a:p>
              </p:txBody>
            </p:sp>
            <p:grpSp>
              <p:nvGrpSpPr>
                <p:cNvPr id="49" name="グループ化 48">
                  <a:extLst>
                    <a:ext uri="{FF2B5EF4-FFF2-40B4-BE49-F238E27FC236}">
                      <a16:creationId xmlns:a16="http://schemas.microsoft.com/office/drawing/2014/main" id="{D0ABEE52-A61E-CBFC-F627-8AB4BAE2EBA6}"/>
                    </a:ext>
                  </a:extLst>
                </p:cNvPr>
                <p:cNvGrpSpPr/>
                <p:nvPr/>
              </p:nvGrpSpPr>
              <p:grpSpPr>
                <a:xfrm>
                  <a:off x="8909993" y="1896629"/>
                  <a:ext cx="2780280" cy="281191"/>
                  <a:chOff x="9008533" y="1953846"/>
                  <a:chExt cx="2780280" cy="281191"/>
                </a:xfrm>
              </p:grpSpPr>
              <p:grpSp>
                <p:nvGrpSpPr>
                  <p:cNvPr id="52" name="グループ化 51">
                    <a:extLst>
                      <a:ext uri="{FF2B5EF4-FFF2-40B4-BE49-F238E27FC236}">
                        <a16:creationId xmlns:a16="http://schemas.microsoft.com/office/drawing/2014/main" id="{5DE6F6DB-E9FB-2A81-7A7C-38D26A2C72FF}"/>
                      </a:ext>
                    </a:extLst>
                  </p:cNvPr>
                  <p:cNvGrpSpPr/>
                  <p:nvPr/>
                </p:nvGrpSpPr>
                <p:grpSpPr>
                  <a:xfrm>
                    <a:off x="9008533" y="1953846"/>
                    <a:ext cx="1360289" cy="281191"/>
                    <a:chOff x="9008533" y="1953846"/>
                    <a:chExt cx="1360289" cy="281191"/>
                  </a:xfrm>
                </p:grpSpPr>
                <p:sp>
                  <p:nvSpPr>
                    <p:cNvPr id="58" name="正方形/長方形 57">
                      <a:extLst>
                        <a:ext uri="{FF2B5EF4-FFF2-40B4-BE49-F238E27FC236}">
                          <a16:creationId xmlns:a16="http://schemas.microsoft.com/office/drawing/2014/main" id="{813E1BB4-6093-986C-7F55-8215B539B0F0}"/>
                        </a:ext>
                      </a:extLst>
                    </p:cNvPr>
                    <p:cNvSpPr/>
                    <p:nvPr/>
                  </p:nvSpPr>
                  <p:spPr>
                    <a:xfrm>
                      <a:off x="9755634" y="1953846"/>
                      <a:ext cx="613188"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主</a:t>
                      </a:r>
                    </a:p>
                  </p:txBody>
                </p:sp>
                <p:cxnSp>
                  <p:nvCxnSpPr>
                    <p:cNvPr id="59" name="直線矢印コネクタ 58">
                      <a:extLst>
                        <a:ext uri="{FF2B5EF4-FFF2-40B4-BE49-F238E27FC236}">
                          <a16:creationId xmlns:a16="http://schemas.microsoft.com/office/drawing/2014/main" id="{1C11176F-2390-8AE8-466A-9CDAD52DB9C6}"/>
                        </a:ext>
                      </a:extLst>
                    </p:cNvPr>
                    <p:cNvCxnSpPr>
                      <a:cxnSpLocks/>
                    </p:cNvCxnSpPr>
                    <p:nvPr/>
                  </p:nvCxnSpPr>
                  <p:spPr>
                    <a:xfrm flipH="1">
                      <a:off x="9008533" y="2099733"/>
                      <a:ext cx="423333" cy="0"/>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53" name="グループ化 52">
                    <a:extLst>
                      <a:ext uri="{FF2B5EF4-FFF2-40B4-BE49-F238E27FC236}">
                        <a16:creationId xmlns:a16="http://schemas.microsoft.com/office/drawing/2014/main" id="{A628F9FC-8781-7347-3C02-E84773E100F3}"/>
                      </a:ext>
                    </a:extLst>
                  </p:cNvPr>
                  <p:cNvGrpSpPr/>
                  <p:nvPr/>
                </p:nvGrpSpPr>
                <p:grpSpPr>
                  <a:xfrm>
                    <a:off x="10530699" y="1953846"/>
                    <a:ext cx="1258114" cy="281191"/>
                    <a:chOff x="10953485" y="1953846"/>
                    <a:chExt cx="1258114" cy="281191"/>
                  </a:xfrm>
                </p:grpSpPr>
                <p:sp>
                  <p:nvSpPr>
                    <p:cNvPr id="55" name="正方形/長方形 54">
                      <a:extLst>
                        <a:ext uri="{FF2B5EF4-FFF2-40B4-BE49-F238E27FC236}">
                          <a16:creationId xmlns:a16="http://schemas.microsoft.com/office/drawing/2014/main" id="{29EA6E44-6B94-B24F-BC33-1CB891E1D934}"/>
                        </a:ext>
                      </a:extLst>
                    </p:cNvPr>
                    <p:cNvSpPr/>
                    <p:nvPr/>
                  </p:nvSpPr>
                  <p:spPr>
                    <a:xfrm>
                      <a:off x="11598409" y="1953846"/>
                      <a:ext cx="613190"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latin typeface="+mn-ea"/>
                        </a:rPr>
                        <a:t>副</a:t>
                      </a:r>
                    </a:p>
                  </p:txBody>
                </p:sp>
                <p:cxnSp>
                  <p:nvCxnSpPr>
                    <p:cNvPr id="56" name="直線矢印コネクタ 55">
                      <a:extLst>
                        <a:ext uri="{FF2B5EF4-FFF2-40B4-BE49-F238E27FC236}">
                          <a16:creationId xmlns:a16="http://schemas.microsoft.com/office/drawing/2014/main" id="{2723A8F6-4A30-CDC3-D28A-DE142689872E}"/>
                        </a:ext>
                      </a:extLst>
                    </p:cNvPr>
                    <p:cNvCxnSpPr>
                      <a:cxnSpLocks/>
                    </p:cNvCxnSpPr>
                    <p:nvPr/>
                  </p:nvCxnSpPr>
                  <p:spPr>
                    <a:xfrm flipH="1">
                      <a:off x="10953485" y="2094442"/>
                      <a:ext cx="423333"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grpSp>
        </p:grpSp>
        <p:grpSp>
          <p:nvGrpSpPr>
            <p:cNvPr id="123" name="グループ化 122">
              <a:extLst>
                <a:ext uri="{FF2B5EF4-FFF2-40B4-BE49-F238E27FC236}">
                  <a16:creationId xmlns:a16="http://schemas.microsoft.com/office/drawing/2014/main" id="{67EC6E40-B416-0E9B-D458-D2AC13C5B3F2}"/>
                </a:ext>
              </a:extLst>
            </p:cNvPr>
            <p:cNvGrpSpPr/>
            <p:nvPr/>
          </p:nvGrpSpPr>
          <p:grpSpPr>
            <a:xfrm>
              <a:off x="2368762" y="3267441"/>
              <a:ext cx="866727" cy="2455348"/>
              <a:chOff x="2368762" y="3267441"/>
              <a:chExt cx="866727" cy="2455348"/>
            </a:xfrm>
          </p:grpSpPr>
          <p:cxnSp>
            <p:nvCxnSpPr>
              <p:cNvPr id="62" name="コネクタ: カギ線 61">
                <a:extLst>
                  <a:ext uri="{FF2B5EF4-FFF2-40B4-BE49-F238E27FC236}">
                    <a16:creationId xmlns:a16="http://schemas.microsoft.com/office/drawing/2014/main" id="{963E3A35-90CC-52AA-BB74-356C5D7D200C}"/>
                  </a:ext>
                </a:extLst>
              </p:cNvPr>
              <p:cNvCxnSpPr>
                <a:cxnSpLocks/>
                <a:stCxn id="10" idx="3"/>
                <a:endCxn id="44" idx="1"/>
              </p:cNvCxnSpPr>
              <p:nvPr/>
            </p:nvCxnSpPr>
            <p:spPr>
              <a:xfrm>
                <a:off x="2370667" y="3533089"/>
                <a:ext cx="864822" cy="2189700"/>
              </a:xfrm>
              <a:prstGeom prst="bentConnector3">
                <a:avLst>
                  <a:gd name="adj1" fmla="val 50000"/>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40EB64DA-4990-8DB6-6541-AAD5724310C7}"/>
                  </a:ext>
                </a:extLst>
              </p:cNvPr>
              <p:cNvCxnSpPr>
                <a:cxnSpLocks/>
              </p:cNvCxnSpPr>
              <p:nvPr/>
            </p:nvCxnSpPr>
            <p:spPr>
              <a:xfrm>
                <a:off x="2370667" y="3428948"/>
                <a:ext cx="864822"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013861CE-3E6A-E9DC-CDA8-294DF0F6BBB9}"/>
                  </a:ext>
                </a:extLst>
              </p:cNvPr>
              <p:cNvCxnSpPr>
                <a:cxnSpLocks/>
                <a:stCxn id="14" idx="3"/>
                <a:endCxn id="22" idx="1"/>
              </p:cNvCxnSpPr>
              <p:nvPr/>
            </p:nvCxnSpPr>
            <p:spPr>
              <a:xfrm flipV="1">
                <a:off x="2370667" y="3267441"/>
                <a:ext cx="864822" cy="2189700"/>
              </a:xfrm>
              <a:prstGeom prst="bentConnector3">
                <a:avLst>
                  <a:gd name="adj1" fmla="val 24154"/>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955E7D6C-8EB4-23D5-CEFE-EA5C18A3DA38}"/>
                  </a:ext>
                </a:extLst>
              </p:cNvPr>
              <p:cNvCxnSpPr>
                <a:cxnSpLocks/>
                <a:endCxn id="43" idx="1"/>
              </p:cNvCxnSpPr>
              <p:nvPr/>
            </p:nvCxnSpPr>
            <p:spPr>
              <a:xfrm flipV="1">
                <a:off x="2368762" y="4495115"/>
                <a:ext cx="866727" cy="1093866"/>
              </a:xfrm>
              <a:prstGeom prst="bentConnector3">
                <a:avLst>
                  <a:gd name="adj1" fmla="val 36519"/>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8" name="円弧 117">
                <a:extLst>
                  <a:ext uri="{FF2B5EF4-FFF2-40B4-BE49-F238E27FC236}">
                    <a16:creationId xmlns:a16="http://schemas.microsoft.com/office/drawing/2014/main" id="{8A682081-E8FA-2BFA-DDBD-EC920C7B1E90}"/>
                  </a:ext>
                </a:extLst>
              </p:cNvPr>
              <p:cNvSpPr/>
              <p:nvPr/>
            </p:nvSpPr>
            <p:spPr>
              <a:xfrm>
                <a:off x="2747752" y="4448855"/>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19" name="円弧 118">
                <a:extLst>
                  <a:ext uri="{FF2B5EF4-FFF2-40B4-BE49-F238E27FC236}">
                    <a16:creationId xmlns:a16="http://schemas.microsoft.com/office/drawing/2014/main" id="{2E8FDDAC-E9CD-FF5B-2074-4194CCC6009D}"/>
                  </a:ext>
                </a:extLst>
              </p:cNvPr>
              <p:cNvSpPr/>
              <p:nvPr/>
            </p:nvSpPr>
            <p:spPr>
              <a:xfrm>
                <a:off x="2521692" y="348766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20" name="円弧 119">
                <a:extLst>
                  <a:ext uri="{FF2B5EF4-FFF2-40B4-BE49-F238E27FC236}">
                    <a16:creationId xmlns:a16="http://schemas.microsoft.com/office/drawing/2014/main" id="{D7C0E8B2-9AC6-D7A0-5AE0-EEB93EE12B64}"/>
                  </a:ext>
                </a:extLst>
              </p:cNvPr>
              <p:cNvSpPr/>
              <p:nvPr/>
            </p:nvSpPr>
            <p:spPr>
              <a:xfrm>
                <a:off x="2521692" y="3381389"/>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nvGrpSpPr>
            <p:cNvPr id="122" name="グループ化 121">
              <a:extLst>
                <a:ext uri="{FF2B5EF4-FFF2-40B4-BE49-F238E27FC236}">
                  <a16:creationId xmlns:a16="http://schemas.microsoft.com/office/drawing/2014/main" id="{E5FDE108-6BF1-3BE0-99FA-EE38BEEA2A99}"/>
                </a:ext>
              </a:extLst>
            </p:cNvPr>
            <p:cNvGrpSpPr/>
            <p:nvPr/>
          </p:nvGrpSpPr>
          <p:grpSpPr>
            <a:xfrm>
              <a:off x="8954210" y="3368496"/>
              <a:ext cx="865228" cy="2647261"/>
              <a:chOff x="8954210" y="3368496"/>
              <a:chExt cx="865228" cy="2647261"/>
            </a:xfrm>
          </p:grpSpPr>
          <p:cxnSp>
            <p:nvCxnSpPr>
              <p:cNvPr id="69" name="コネクタ: カギ線 68">
                <a:extLst>
                  <a:ext uri="{FF2B5EF4-FFF2-40B4-BE49-F238E27FC236}">
                    <a16:creationId xmlns:a16="http://schemas.microsoft.com/office/drawing/2014/main" id="{E1B3F07A-A3A0-C827-2DE8-D4843009CD89}"/>
                  </a:ext>
                </a:extLst>
              </p:cNvPr>
              <p:cNvCxnSpPr>
                <a:cxnSpLocks/>
                <a:stCxn id="24" idx="1"/>
                <a:endCxn id="44" idx="3"/>
              </p:cNvCxnSpPr>
              <p:nvPr/>
            </p:nvCxnSpPr>
            <p:spPr>
              <a:xfrm rot="10800000" flipV="1">
                <a:off x="8954616" y="3533089"/>
                <a:ext cx="864822" cy="2189700"/>
              </a:xfrm>
              <a:prstGeom prst="bentConnector3">
                <a:avLst>
                  <a:gd name="adj1" fmla="val 50000"/>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DC77EBE0-E3D3-124D-A4E1-59A5C3A3CA04}"/>
                  </a:ext>
                </a:extLst>
              </p:cNvPr>
              <p:cNvCxnSpPr>
                <a:cxnSpLocks/>
              </p:cNvCxnSpPr>
              <p:nvPr/>
            </p:nvCxnSpPr>
            <p:spPr>
              <a:xfrm flipH="1" flipV="1">
                <a:off x="8954616" y="3368496"/>
                <a:ext cx="864822" cy="1"/>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5" name="コネクタ: カギ線 104">
                <a:extLst>
                  <a:ext uri="{FF2B5EF4-FFF2-40B4-BE49-F238E27FC236}">
                    <a16:creationId xmlns:a16="http://schemas.microsoft.com/office/drawing/2014/main" id="{0C406B83-4C0A-419C-4D66-5F6FFD807453}"/>
                  </a:ext>
                </a:extLst>
              </p:cNvPr>
              <p:cNvCxnSpPr>
                <a:cxnSpLocks/>
                <a:stCxn id="25" idx="1"/>
                <a:endCxn id="43" idx="3"/>
              </p:cNvCxnSpPr>
              <p:nvPr/>
            </p:nvCxnSpPr>
            <p:spPr>
              <a:xfrm rot="10800000">
                <a:off x="8954616" y="4495115"/>
                <a:ext cx="864822" cy="962026"/>
              </a:xfrm>
              <a:prstGeom prst="bentConnector3">
                <a:avLst>
                  <a:gd name="adj1" fmla="val 20923"/>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68AE1082-24CA-B45C-14D9-57B976BCBB6C}"/>
                  </a:ext>
                </a:extLst>
              </p:cNvPr>
              <p:cNvCxnSpPr>
                <a:cxnSpLocks/>
              </p:cNvCxnSpPr>
              <p:nvPr/>
            </p:nvCxnSpPr>
            <p:spPr>
              <a:xfrm flipH="1" flipV="1">
                <a:off x="8954210" y="6015756"/>
                <a:ext cx="864822" cy="1"/>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1" name="円弧 120">
                <a:extLst>
                  <a:ext uri="{FF2B5EF4-FFF2-40B4-BE49-F238E27FC236}">
                    <a16:creationId xmlns:a16="http://schemas.microsoft.com/office/drawing/2014/main" id="{0FCC7E6B-F2F6-AA79-9722-B88B67183405}"/>
                  </a:ext>
                </a:extLst>
              </p:cNvPr>
              <p:cNvSpPr/>
              <p:nvPr/>
            </p:nvSpPr>
            <p:spPr>
              <a:xfrm>
                <a:off x="9332194" y="444877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sp>
        <p:nvSpPr>
          <p:cNvPr id="3" name="正方形/長方形 2">
            <a:extLst>
              <a:ext uri="{FF2B5EF4-FFF2-40B4-BE49-F238E27FC236}">
                <a16:creationId xmlns:a16="http://schemas.microsoft.com/office/drawing/2014/main" id="{B5A81557-3D7B-42CA-D637-C3F7E41A32D5}"/>
              </a:ext>
            </a:extLst>
          </p:cNvPr>
          <p:cNvSpPr/>
          <p:nvPr/>
        </p:nvSpPr>
        <p:spPr>
          <a:xfrm>
            <a:off x="12602892" y="4806291"/>
            <a:ext cx="3250773" cy="549520"/>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kumimoji="1" lang="en-US" altLang="ja-JP" sz="1400" dirty="0">
                <a:solidFill>
                  <a:schemeClr val="tx1"/>
                </a:solidFill>
                <a:latin typeface="Meiryo UI" panose="020B0604030504040204" pitchFamily="50" charset="-128"/>
                <a:ea typeface="Meiryo UI" panose="020B0604030504040204" pitchFamily="50" charset="-128"/>
              </a:rPr>
              <a:t/>
            </a:r>
            <a:r>
              <a:rPr lang="ja-JP" altLang="en-US" sz="1400" dirty="0">
                <a:solidFill>
                  <a:schemeClr val="tx1"/>
                </a:solidFill>
                <a:latin typeface="Meiryo UI" panose="020B0604030504040204" pitchFamily="50" charset="-128"/>
                <a:ea typeface="Meiryo UI" panose="020B0604030504040204" pitchFamily="50" charset="-128"/>
              </a:rPr>
              <a:t>※ 詳細な施策・体制・時間割・KPIは別冊「経営テーマ起点 実行構想」に展開</a:t>
            </a:r>
            <a:endParaRPr lang="en-US" altLang="ja-JP" sz="14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94553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安売りの消耗戦から完全に脱却し、デジタルと自社の強みを活かして小売のデータ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で解決するパートナーへとビジネス構造を転換すること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健康スコア」をクリアした自動補充のホワイトリストを独占する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真因（作法の不在）への答えは、テーマの中身だけでなく進め方に置く。次回デジタル戦略会議では「決めること」を3つに絞って諮る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実行の作法 ― 過去の新規投資と今回が違う理由</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17627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45643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73659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次回デジタル戦略会議で決めること（3つ）</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217627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45643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73659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真因の掘り下げ（なぜ×4）</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3つのボトルネックを「なぜ」で4回掘る。行き着く先は、経営の保守性ではなく、投資を全体最適の計画に束ね効果検証までやり切る「作法」の不在</a:t>
            </a:r>
          </a:p>
        </p:txBody>
      </p:sp>
      <p:sp>
        <p:nvSpPr>
          <p:cNvPr id="14" name="Rectangle 13"/>
          <p:cNvSpPr/>
          <p:nvPr/>
        </p:nvSpPr>
        <p:spPr>
          <a:xfrm>
            <a:off x="320040" y="1426464"/>
            <a:ext cx="3749039" cy="5029200"/>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1426464"/>
            <a:ext cx="3749039" cy="3657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1463040"/>
            <a:ext cx="3529584" cy="301752"/>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ボトルネック①  知見の非換金</a:t>
            </a:r>
          </a:p>
        </p:txBody>
      </p:sp>
      <p:sp>
        <p:nvSpPr>
          <p:cNvPr id="17" name="TextBox 16"/>
          <p:cNvSpPr txBox="1"/>
          <p:nvPr/>
        </p:nvSpPr>
        <p:spPr>
          <a:xfrm>
            <a:off x="448056" y="1920240"/>
            <a:ext cx="3493008" cy="2834640"/>
          </a:xfrm>
          <a:prstGeom prst="rect">
            <a:avLst/>
          </a:prstGeom>
          <a:noFill/>
        </p:spPr>
        <p:txBody>
          <a:bodyPr wrap="square" lIns="0" rIns="0" tIns="0" bIns="0">
            <a:spAutoFit/>
          </a:bodyPr>
          <a:lstStyle/>
          <a:p>
            <a:pPr>
              <a:lnSpc>
                <a:spcPct val="118000"/>
              </a:lnSpc>
            </a:pPr>
            <a:r>
              <a:rPr sz="819" b="0">
                <a:solidFill>
                  <a:srgbClr val="262626"/>
                </a:solidFill>
                <a:latin typeface="Meiryo UI"/>
                <a:ea typeface="Meiryo UI"/>
              </a:rPr>
              <a:t>W1: なぜ臨床データがLTV予測に変換されないか
→ KPI・データ基盤が部門分断
W2: なぜ部門分断か
→ 縦割りで横断データ活用の責任者不在
W3: なぜ責任者不在か
→ 過去の投資が部門別の個別導入で終わり、成果が示されてこなかった
W4: なぜ個別導入で終わるか
→ 投資を束ねる全体最適の計画と、検証・定着までの作法が存在しない</a:t>
            </a:r>
          </a:p>
        </p:txBody>
      </p:sp>
      <p:sp>
        <p:nvSpPr>
          <p:cNvPr id="18" name="TextBox 17"/>
          <p:cNvSpPr txBox="1"/>
          <p:nvPr/>
        </p:nvSpPr>
        <p:spPr>
          <a:xfrm>
            <a:off x="448056" y="4892040"/>
            <a:ext cx="3493008" cy="868680"/>
          </a:xfrm>
          <a:prstGeom prst="rect">
            <a:avLst/>
          </a:prstGeom>
          <a:noFill/>
        </p:spPr>
        <p:txBody>
          <a:bodyPr wrap="square" lIns="0" rIns="0" tIns="0" bIns="0">
            <a:spAutoFit/>
          </a:bodyPr>
          <a:lstStyle/>
          <a:p>
            <a:pPr>
              <a:lnSpc>
                <a:spcPct val="112000"/>
              </a:lnSpc>
            </a:pPr>
            <a:r>
              <a:rPr sz="860" b="1">
                <a:solidFill>
                  <a:srgbClr val="C8102E"/>
                </a:solidFill>
                <a:latin typeface="Meiryo UI"/>
                <a:ea typeface="Meiryo UI"/>
              </a:rPr>
              <a:t>【真因】投資を全体最適の計画に束ね、効果検証までやり切る「作法」の不在</a:t>
            </a:r>
          </a:p>
        </p:txBody>
      </p:sp>
      <p:sp>
        <p:nvSpPr>
          <p:cNvPr id="19" name="TextBox 18"/>
          <p:cNvSpPr txBox="1"/>
          <p:nvPr/>
        </p:nvSpPr>
        <p:spPr>
          <a:xfrm>
            <a:off x="448056" y="5806440"/>
            <a:ext cx="3493008" cy="548640"/>
          </a:xfrm>
          <a:prstGeom prst="rect">
            <a:avLst/>
          </a:prstGeom>
          <a:noFill/>
        </p:spPr>
        <p:txBody>
          <a:bodyPr wrap="square" lIns="0" rIns="0" tIns="0" bIns="0">
            <a:spAutoFit/>
          </a:bodyPr>
          <a:lstStyle/>
          <a:p>
            <a:pPr>
              <a:lnSpc>
                <a:spcPct val="110000"/>
              </a:lnSpc>
            </a:pPr>
            <a:r>
              <a:rPr sz="780" b="1">
                <a:solidFill>
                  <a:srgbClr val="008D2E"/>
                </a:solidFill>
                <a:latin typeface="Meiryo UI"/>
                <a:ea typeface="Meiryo UI"/>
              </a:rPr>
              <a:t>示唆：解くべきは経営でなく提案側の作法 ― 全体計画に束ね、小さく実証し、検証責任を自ら持つ</a:t>
            </a:r>
          </a:p>
        </p:txBody>
      </p:sp>
      <p:sp>
        <p:nvSpPr>
          <p:cNvPr id="20" name="Rectangle 19"/>
          <p:cNvSpPr/>
          <p:nvPr/>
        </p:nvSpPr>
        <p:spPr>
          <a:xfrm>
            <a:off x="4206240" y="1426464"/>
            <a:ext cx="3749039" cy="5029200"/>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06240" y="1426464"/>
            <a:ext cx="3749039" cy="36576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15968" y="1463040"/>
            <a:ext cx="3529584" cy="301752"/>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ボトルネック②  内向き業務の慣性</a:t>
            </a:r>
          </a:p>
        </p:txBody>
      </p:sp>
      <p:sp>
        <p:nvSpPr>
          <p:cNvPr id="23" name="TextBox 22"/>
          <p:cNvSpPr txBox="1"/>
          <p:nvPr/>
        </p:nvSpPr>
        <p:spPr>
          <a:xfrm>
            <a:off x="4334255" y="1920240"/>
            <a:ext cx="3493008" cy="2834640"/>
          </a:xfrm>
          <a:prstGeom prst="rect">
            <a:avLst/>
          </a:prstGeom>
          <a:noFill/>
        </p:spPr>
        <p:txBody>
          <a:bodyPr wrap="square" lIns="0" rIns="0" tIns="0" bIns="0">
            <a:spAutoFit/>
          </a:bodyPr>
          <a:lstStyle/>
          <a:p>
            <a:pPr>
              <a:lnSpc>
                <a:spcPct val="118000"/>
              </a:lnSpc>
            </a:pPr>
            <a:r>
              <a:rPr sz="819" b="0">
                <a:solidFill>
                  <a:srgbClr val="262626"/>
                </a:solidFill>
                <a:latin typeface="Meiryo UI"/>
                <a:ea typeface="Meiryo UI"/>
              </a:rPr>
              <a:t>W1: なぜ内向き業務が放置されるか
→ 手作業前提の業務フローが変わらない
W2: なぜ変わらないか
→ 変化後の「After像」が示されていない
W3: なぜAfter像がないか
→ 生産性向上が戦略目標として優先度付けされていない
W4: なぜ優先度付けされないか
→ 管理職に変革オーナーシップが与えられていない</a:t>
            </a:r>
          </a:p>
        </p:txBody>
      </p:sp>
      <p:sp>
        <p:nvSpPr>
          <p:cNvPr id="24" name="TextBox 23"/>
          <p:cNvSpPr txBox="1"/>
          <p:nvPr/>
        </p:nvSpPr>
        <p:spPr>
          <a:xfrm>
            <a:off x="4334255" y="4892040"/>
            <a:ext cx="3493008" cy="868680"/>
          </a:xfrm>
          <a:prstGeom prst="rect">
            <a:avLst/>
          </a:prstGeom>
          <a:noFill/>
        </p:spPr>
        <p:txBody>
          <a:bodyPr wrap="square" lIns="0" rIns="0" tIns="0" bIns="0">
            <a:spAutoFit/>
          </a:bodyPr>
          <a:lstStyle/>
          <a:p>
            <a:pPr>
              <a:lnSpc>
                <a:spcPct val="112000"/>
              </a:lnSpc>
            </a:pPr>
            <a:r>
              <a:rPr sz="860" b="1">
                <a:solidFill>
                  <a:srgbClr val="C8102E"/>
                </a:solidFill>
                <a:latin typeface="Meiryo UI"/>
                <a:ea typeface="Meiryo UI"/>
              </a:rPr>
              <a:t>【真因】導入後のAfter像と効果検証・定着まで含めた「実行の設計」がなく、“入れたのに変わらない”経験が蓄積</a:t>
            </a:r>
          </a:p>
        </p:txBody>
      </p:sp>
      <p:sp>
        <p:nvSpPr>
          <p:cNvPr id="25" name="TextBox 24"/>
          <p:cNvSpPr txBox="1"/>
          <p:nvPr/>
        </p:nvSpPr>
        <p:spPr>
          <a:xfrm>
            <a:off x="4334255" y="5806440"/>
            <a:ext cx="3493008" cy="548640"/>
          </a:xfrm>
          <a:prstGeom prst="rect">
            <a:avLst/>
          </a:prstGeom>
          <a:noFill/>
        </p:spPr>
        <p:txBody>
          <a:bodyPr wrap="square" lIns="0" rIns="0" tIns="0" bIns="0">
            <a:spAutoFit/>
          </a:bodyPr>
          <a:lstStyle/>
          <a:p>
            <a:pPr>
              <a:lnSpc>
                <a:spcPct val="110000"/>
              </a:lnSpc>
            </a:pPr>
            <a:r>
              <a:rPr sz="780" b="1">
                <a:solidFill>
                  <a:srgbClr val="008D2E"/>
                </a:solidFill>
                <a:latin typeface="Meiryo UI"/>
                <a:ea typeface="Meiryo UI"/>
              </a:rPr>
              <a:t>示唆：「ツール不足」ではなく、After像と検証・定着まで含む実行設計の欠如</a:t>
            </a:r>
          </a:p>
        </p:txBody>
      </p:sp>
      <p:sp>
        <p:nvSpPr>
          <p:cNvPr id="26" name="Rectangle 25"/>
          <p:cNvSpPr/>
          <p:nvPr/>
        </p:nvSpPr>
        <p:spPr>
          <a:xfrm>
            <a:off x="8092440" y="1426464"/>
            <a:ext cx="3749039" cy="5029200"/>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92440" y="1426464"/>
            <a:ext cx="3749039" cy="3657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02167" y="1463040"/>
            <a:ext cx="3529584" cy="301752"/>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ボトルネック③  切迫感の欠如</a:t>
            </a:r>
          </a:p>
        </p:txBody>
      </p:sp>
      <p:sp>
        <p:nvSpPr>
          <p:cNvPr id="29" name="TextBox 28"/>
          <p:cNvSpPr txBox="1"/>
          <p:nvPr/>
        </p:nvSpPr>
        <p:spPr>
          <a:xfrm>
            <a:off x="8220456" y="1920240"/>
            <a:ext cx="3493008" cy="2834640"/>
          </a:xfrm>
          <a:prstGeom prst="rect">
            <a:avLst/>
          </a:prstGeom>
          <a:noFill/>
        </p:spPr>
        <p:txBody>
          <a:bodyPr wrap="square" lIns="0" rIns="0" tIns="0" bIns="0">
            <a:spAutoFit/>
          </a:bodyPr>
          <a:lstStyle/>
          <a:p>
            <a:pPr>
              <a:lnSpc>
                <a:spcPct val="118000"/>
              </a:lnSpc>
            </a:pPr>
            <a:r>
              <a:rPr sz="819" b="0">
                <a:solidFill>
                  <a:srgbClr val="262626"/>
                </a:solidFill>
                <a:latin typeface="Meiryo UI"/>
                <a:ea typeface="Meiryo UI"/>
              </a:rPr>
              <a:t>W1: なぜAI購買の危機感が届かないか
→ 「2040年の遠い話」に分類
W2: なぜ遠い話と捉えるか
→ 日常KPIに「AI推奨シェア」が含まれない
W3: なぜKPIに含まれないか
→ 排除リスクが数値で可視化できていない
W4: なぜ数値化できないか
→ AIEO Rate等の計測基盤が存在しない</a:t>
            </a:r>
          </a:p>
        </p:txBody>
      </p:sp>
      <p:sp>
        <p:nvSpPr>
          <p:cNvPr id="30" name="TextBox 29"/>
          <p:cNvSpPr txBox="1"/>
          <p:nvPr/>
        </p:nvSpPr>
        <p:spPr>
          <a:xfrm>
            <a:off x="8220456" y="4892040"/>
            <a:ext cx="3493008" cy="868680"/>
          </a:xfrm>
          <a:prstGeom prst="rect">
            <a:avLst/>
          </a:prstGeom>
          <a:noFill/>
        </p:spPr>
        <p:txBody>
          <a:bodyPr wrap="square" lIns="0" rIns="0" tIns="0" bIns="0">
            <a:spAutoFit/>
          </a:bodyPr>
          <a:lstStyle/>
          <a:p>
            <a:pPr>
              <a:lnSpc>
                <a:spcPct val="112000"/>
              </a:lnSpc>
            </a:pPr>
            <a:r>
              <a:rPr sz="860" b="1">
                <a:solidFill>
                  <a:srgbClr val="C8102E"/>
                </a:solidFill>
                <a:latin typeface="Meiryo UI"/>
                <a:ea typeface="Meiryo UI"/>
              </a:rPr>
              <a:t>【真因】計測基盤がなく、危機も成果も「数字」で意思決定の場に届いていない ― まず測ることが第一歩</a:t>
            </a:r>
          </a:p>
        </p:txBody>
      </p:sp>
      <p:sp>
        <p:nvSpPr>
          <p:cNvPr id="31" name="TextBox 30"/>
          <p:cNvSpPr txBox="1"/>
          <p:nvPr/>
        </p:nvSpPr>
        <p:spPr>
          <a:xfrm>
            <a:off x="8220456" y="5806440"/>
            <a:ext cx="3493008" cy="548640"/>
          </a:xfrm>
          <a:prstGeom prst="rect">
            <a:avLst/>
          </a:prstGeom>
          <a:noFill/>
        </p:spPr>
        <p:txBody>
          <a:bodyPr wrap="square" lIns="0" rIns="0" tIns="0" bIns="0">
            <a:spAutoFit/>
          </a:bodyPr>
          <a:lstStyle/>
          <a:p>
            <a:pPr>
              <a:lnSpc>
                <a:spcPct val="110000"/>
              </a:lnSpc>
            </a:pPr>
            <a:r>
              <a:rPr sz="780" b="1">
                <a:solidFill>
                  <a:srgbClr val="008D2E"/>
                </a:solidFill>
                <a:latin typeface="Meiryo UI"/>
                <a:ea typeface="Meiryo UI"/>
              </a:rPr>
              <a:t>示唆：「切迫感の欠如」の根源は測定基盤の不在。KPI化が切迫感を生む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前頁までの真因・テーマを、KPIと実施時期を持つ8つの施策（What）に落とす。詳細アクション（How）は検討アジェンダ資料に展開済み</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1453896"/>
            <a:ext cx="1993391"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96312" y="1453896"/>
            <a:ext cx="254203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59" y="1453896"/>
            <a:ext cx="2907791"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2168" y="1453896"/>
            <a:ext cx="226771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97896" y="1453896"/>
            <a:ext cx="107899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1810512"/>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4600" y="1810512"/>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84648" y="1810512"/>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0456" y="1810512"/>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16184" y="1810512"/>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3192" y="2834640"/>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14600" y="2834640"/>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84648" y="2834640"/>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0456" y="2834640"/>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16184" y="2834640"/>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3192" y="3858768"/>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14600" y="3858768"/>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84648" y="3858768"/>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0456" y="3858768"/>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16184" y="3858768"/>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93192" y="4882896"/>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14600" y="4882896"/>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84648" y="4882896"/>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20456" y="4882896"/>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16184" y="4882896"/>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5943600"/>
            <a:ext cx="11292840" cy="41148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進め方の作法：</a:t>
            </a:r>
            <a:r>
              <a:rPr sz="830" b="0">
                <a:solidFill>
                  <a:srgbClr val="262626"/>
                </a:solidFill>
                <a:latin typeface="Meiryo UI"/>
                <a:ea typeface="Meiryo UI"/>
              </a:rPr>
              <a:t>8施策は点で走らせない。次頁で経営の問い（5テーマ）にMECEで束ね、施策ごとに撤退基準と検証計画をセットで承認する ― 小さく実証（重点小売1社×オーラルケア）→確認ゲート→段階拡大。</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0972800" cy="32004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76656"/>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rIns="0" t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1252728"/>
            <a:ext cx="171907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21992" y="1252728"/>
            <a:ext cx="277063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1252728"/>
            <a:ext cx="309067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8" y="1252728"/>
            <a:ext cx="130759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74936" y="1252728"/>
            <a:ext cx="203911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1609344"/>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31136" y="1600200"/>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9784" y="1600200"/>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48472" y="1600200"/>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84080" y="1600200"/>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4048" y="2450592"/>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31136" y="2441448"/>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29784" y="2441448"/>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48472" y="2441448"/>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84080" y="2441448"/>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291840"/>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31136" y="3282696"/>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29784" y="3282696"/>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48472" y="3282696"/>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84080" y="3282696"/>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4048" y="4133087"/>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31136" y="4123944"/>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9784" y="4123944"/>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48472" y="4123944"/>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84080" y="4123944"/>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4048" y="4974336"/>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31136" y="4965192"/>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真因②③。生成AI普及は1年で約3倍〔総務省白書〕＝期限は自社で選べない。対P&amp;G生産性7.6倍差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129784" y="4965192"/>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348472" y="4965192"/>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784080" y="4965192"/>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24728"/>
            <a:ext cx="11292840" cy="475488"/>
          </a:xfrm>
          <a:prstGeom prst="rect">
            <a:avLst/>
          </a:prstGeom>
          <a:noFill/>
        </p:spPr>
        <p:txBody>
          <a:bodyPr wrap="square" lIns="0" rIns="0" t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 y="1499616"/>
            <a:ext cx="5440680" cy="274320"/>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 y="1892807"/>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3192" y="2880360"/>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3867911"/>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3192" y="4855464"/>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81928" y="1499616"/>
            <a:ext cx="5440680" cy="274320"/>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45352" y="1892807"/>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5352" y="2880360"/>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5352" y="3867911"/>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45352" y="4855464"/>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998464"/>
            <a:ext cx="11292840" cy="438912"/>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508760"/>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0" y="1508760"/>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231136"/>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86000" y="2231136"/>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953512"/>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0" y="2953512"/>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3675888"/>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6000" y="3675888"/>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4398264"/>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86000" y="4398264"/>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5120640"/>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86000" y="5120640"/>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5888736"/>
            <a:ext cx="11292840" cy="41148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69080" y="1481328"/>
            <a:ext cx="4023360" cy="411480"/>
          </a:xfrm>
          <a:prstGeom prst="rect">
            <a:avLst/>
          </a:prstGeom>
          <a:noFill/>
        </p:spPr>
        <p:txBody>
          <a:bodyPr wrap="square" lIns="0" rIns="0" t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48840" y="2130552"/>
            <a:ext cx="3566160" cy="274320"/>
          </a:xfrm>
          <a:prstGeom prst="rect">
            <a:avLst/>
          </a:prstGeom>
          <a:noFill/>
        </p:spPr>
        <p:txBody>
          <a:bodyPr wrap="square" lIns="0" rIns="0" t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130552"/>
            <a:ext cx="3566160" cy="274320"/>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4" y="2551175"/>
            <a:ext cx="25420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44952" y="2551175"/>
            <a:ext cx="61996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72600" y="2551175"/>
            <a:ext cx="7132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13848" y="2551175"/>
            <a:ext cx="66751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2880359"/>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54096" y="2880359"/>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72600" y="2953511"/>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13848" y="2953511"/>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3410711"/>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54096" y="3410711"/>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72600" y="3483863"/>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13848" y="3483863"/>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941063"/>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054096" y="3941063"/>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72600" y="4014215"/>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13848" y="4014215"/>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4048" y="4471416"/>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054096" y="4471416"/>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72600" y="4544568"/>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13848" y="4544568"/>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4048" y="5001768"/>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054096" y="5001768"/>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372600" y="5074920"/>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213848" y="5074920"/>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4048" y="5532120"/>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054096" y="5532120"/>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372600" y="5605272"/>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213848" y="5605272"/>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7200" y="6099048"/>
            <a:ext cx="11292840" cy="38404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5087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15087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35640" y="16367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21945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0" y="21945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35640" y="23225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28803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1840" y="28803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835640" y="30083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35661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91840" y="35661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835640" y="36941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4251959"/>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0" y="4251959"/>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835640" y="43799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4937759"/>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0" y="4937759"/>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835640" y="50657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669279"/>
            <a:ext cx="11292840" cy="54864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0.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1.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4131</Words>
  <Application>Microsoft Office PowerPoint</Application>
  <PresentationFormat>ワイド画面</PresentationFormat>
  <Paragraphs>246</Paragraphs>
  <Slides>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Meiryo UI</vt:lpstr>
      <vt:lpstr>メイリオ</vt:lpstr>
      <vt:lpstr>Arial</vt:lpstr>
      <vt:lpstr>Calibri</vt:lpstr>
      <vt:lpstr>Wingdings</vt:lpstr>
      <vt:lpstr>Office テーマ</vt:lpstr>
      <vt:lpstr>製造業を取り巻くマクロ環境変化 (PEST分析) </vt:lpstr>
      <vt:lpstr> 顧客 ･ 取引先 ･ 競合の変化</vt:lpstr>
      <vt:lpstr>自社が対応しなければいけない点</vt:lpstr>
      <vt:lpstr> 自社が対応しなければいけない点</vt:lpstr>
      <vt:lpstr>これから目指す姿</vt:lpstr>
      <vt:lpstr>現状とのギャップと真因</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70</cp:revision>
  <dcterms:created xsi:type="dcterms:W3CDTF">2024-12-27T03:42:11Z</dcterms:created>
  <dcterms:modified xsi:type="dcterms:W3CDTF">2026-07-22T05:41:04Z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