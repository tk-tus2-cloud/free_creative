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33A"/>
          </a:solidFill>
          <a:ln/>
        </p:spPr>
      </p:sp>
      <p:sp>
        <p:nvSpPr>
          <p:cNvPr id="3" name="Shape 1"/>
          <p:cNvSpPr/>
          <p:nvPr/>
        </p:nvSpPr>
        <p:spPr>
          <a:xfrm>
            <a:off x="8595360" y="-2377440"/>
            <a:ext cx="6858000" cy="6858000"/>
          </a:xfrm>
          <a:prstGeom prst="ellipse">
            <a:avLst/>
          </a:prstGeom>
          <a:solidFill>
            <a:srgbClr val="223354">
              <a:alpha val="60000"/>
            </a:srgbClr>
          </a:solidFill>
          <a:ln/>
        </p:spPr>
      </p:sp>
      <p:sp>
        <p:nvSpPr>
          <p:cNvPr id="4" name="Shape 2"/>
          <p:cNvSpPr/>
          <p:nvPr/>
        </p:nvSpPr>
        <p:spPr>
          <a:xfrm>
            <a:off x="10149840" y="4206240"/>
            <a:ext cx="4206240" cy="4206240"/>
          </a:xfrm>
          <a:prstGeom prst="ellipse">
            <a:avLst/>
          </a:prstGeom>
          <a:solidFill>
            <a:srgbClr val="C8102E">
              <a:alpha val="22000"/>
            </a:srgbClr>
          </a:solidFill>
          <a:ln/>
        </p:spPr>
      </p:sp>
      <p:sp>
        <p:nvSpPr>
          <p:cNvPr id="5" name="Text 3"/>
          <p:cNvSpPr/>
          <p:nvPr/>
        </p:nvSpPr>
        <p:spPr>
          <a:xfrm>
            <a:off x="822960" y="1188720"/>
            <a:ext cx="8229600" cy="320040"/>
          </a:xfrm>
          <a:prstGeom prst="rect">
            <a:avLst/>
          </a:prstGeom>
          <a:noFill/>
          <a:ln/>
        </p:spPr>
        <p:txBody>
          <a:bodyPr wrap="square" lIns="0" tIns="0" rIns="0" bIns="0" rtlCol="0" anchor="ctr"/>
          <a:lstStyle/>
          <a:p>
            <a:pPr indent="0" marL="0">
              <a:buNone/>
            </a:pPr>
            <a:r>
              <a:rPr lang="en-US" sz="1200" b="1" spc="200" kern="0" dirty="0">
                <a:solidFill>
                  <a:srgbClr val="8FA3C4"/>
                </a:solidFill>
                <a:latin typeface="Meiryo UI" pitchFamily="34" charset="0"/>
                <a:ea typeface="Meiryo UI" pitchFamily="34" charset="-122"/>
                <a:cs typeface="Meiryo UI" pitchFamily="34" charset="-120"/>
              </a:rPr>
              <a:t>経営テーマ起点の実行構想　|　2026.08</a:t>
            </a:r>
            <a:endParaRPr lang="en-US" sz="1200" dirty="0"/>
          </a:p>
        </p:txBody>
      </p:sp>
      <p:sp>
        <p:nvSpPr>
          <p:cNvPr id="6" name="Text 4"/>
          <p:cNvSpPr/>
          <p:nvPr/>
        </p:nvSpPr>
        <p:spPr>
          <a:xfrm>
            <a:off x="804672" y="1691640"/>
            <a:ext cx="10789920" cy="822960"/>
          </a:xfrm>
          <a:prstGeom prst="rect">
            <a:avLst/>
          </a:prstGeom>
          <a:noFill/>
          <a:ln/>
        </p:spPr>
        <p:txBody>
          <a:bodyPr wrap="square" lIns="0" tIns="0" rIns="0" bIns="0" rtlCol="0" anchor="ctr"/>
          <a:lstStyle/>
          <a:p>
            <a:pPr indent="0" marL="0">
              <a:buNone/>
            </a:pPr>
            <a:r>
              <a:rPr lang="en-US" sz="3600" b="1" dirty="0">
                <a:solidFill>
                  <a:srgbClr val="FFFFFF"/>
                </a:solidFill>
                <a:latin typeface="Meiryo UI" pitchFamily="34" charset="0"/>
                <a:ea typeface="Meiryo UI" pitchFamily="34" charset="-122"/>
                <a:cs typeface="Meiryo UI" pitchFamily="34" charset="-120"/>
              </a:rPr>
              <a:t>5つの経営の問いに、答える。</a:t>
            </a:r>
            <a:endParaRPr lang="en-US" sz="3600" dirty="0"/>
          </a:p>
        </p:txBody>
      </p:sp>
      <p:sp>
        <p:nvSpPr>
          <p:cNvPr id="7" name="Text 5"/>
          <p:cNvSpPr/>
          <p:nvPr/>
        </p:nvSpPr>
        <p:spPr>
          <a:xfrm>
            <a:off x="822960" y="2606040"/>
            <a:ext cx="10789920" cy="548640"/>
          </a:xfrm>
          <a:prstGeom prst="rect">
            <a:avLst/>
          </a:prstGeom>
          <a:noFill/>
          <a:ln/>
        </p:spPr>
        <p:txBody>
          <a:bodyPr wrap="square" lIns="0" tIns="0" rIns="0" bIns="0" rtlCol="0" anchor="ctr"/>
          <a:lstStyle/>
          <a:p>
            <a:pPr indent="0" marL="0">
              <a:buNone/>
            </a:pPr>
            <a:r>
              <a:rPr lang="en-US" sz="1800" b="1" dirty="0">
                <a:solidFill>
                  <a:srgbClr val="CADCFC"/>
                </a:solidFill>
                <a:latin typeface="Meiryo UI" pitchFamily="34" charset="0"/>
                <a:ea typeface="Meiryo UI" pitchFamily="34" charset="-122"/>
                <a:cs typeface="Meiryo UI" pitchFamily="34" charset="-120"/>
              </a:rPr>
              <a:t>営業・マーケティングDX戦略 ― 経営テーマで貫くHow・Who・When・How Much</a:t>
            </a:r>
            <a:endParaRPr lang="en-US" sz="1800" dirty="0"/>
          </a:p>
        </p:txBody>
      </p:sp>
      <p:sp>
        <p:nvSpPr>
          <p:cNvPr id="8" name="Text 6"/>
          <p:cNvSpPr/>
          <p:nvPr/>
        </p:nvSpPr>
        <p:spPr>
          <a:xfrm>
            <a:off x="822960" y="3383280"/>
            <a:ext cx="10881360" cy="329184"/>
          </a:xfrm>
          <a:prstGeom prst="rect">
            <a:avLst/>
          </a:prstGeom>
          <a:noFill/>
          <a:ln/>
        </p:spPr>
        <p:txBody>
          <a:bodyPr wrap="square" lIns="0" tIns="0" rIns="0" bIns="0" rtlCol="0" anchor="ctr"/>
          <a:lstStyle/>
          <a:p>
            <a:pPr indent="0" marL="0">
              <a:buNone/>
            </a:pPr>
            <a:r>
              <a:rPr lang="en-US" sz="1200" b="1" dirty="0">
                <a:solidFill>
                  <a:srgbClr val="FF6B7F"/>
                </a:solidFill>
                <a:latin typeface="Meiryo UI" pitchFamily="34" charset="0"/>
                <a:ea typeface="Meiryo UI" pitchFamily="34" charset="-122"/>
                <a:cs typeface="Meiryo UI" pitchFamily="34" charset="-120"/>
              </a:rPr>
              <a:t>1 市場機会の選択</a:t>
            </a:r>
            <a:pPr indent="0" marL="0">
              <a:buNone/>
            </a:pPr>
            <a:r>
              <a:rPr lang="en-US" sz="1150" dirty="0">
                <a:solidFill>
                  <a:srgbClr val="AEBDD6"/>
                </a:solidFill>
                <a:latin typeface="Meiryo UI" pitchFamily="34" charset="0"/>
                <a:ea typeface="Meiryo UI" pitchFamily="34" charset="-122"/>
                <a:cs typeface="Meiryo UI" pitchFamily="34" charset="-120"/>
              </a:rPr>
              <a:t>　どの市場・顧客を重点化するか ― 縮む数量市場から「拡がる予防・健康時間市場」へ</a:t>
            </a:r>
            <a:endParaRPr lang="en-US" sz="1200" dirty="0"/>
          </a:p>
        </p:txBody>
      </p:sp>
      <p:sp>
        <p:nvSpPr>
          <p:cNvPr id="9" name="Text 7"/>
          <p:cNvSpPr/>
          <p:nvPr/>
        </p:nvSpPr>
        <p:spPr>
          <a:xfrm>
            <a:off x="822960" y="3767328"/>
            <a:ext cx="10881360" cy="329184"/>
          </a:xfrm>
          <a:prstGeom prst="rect">
            <a:avLst/>
          </a:prstGeom>
          <a:noFill/>
          <a:ln/>
        </p:spPr>
        <p:txBody>
          <a:bodyPr wrap="square" lIns="0" tIns="0" rIns="0" bIns="0" rtlCol="0" anchor="ctr"/>
          <a:lstStyle/>
          <a:p>
            <a:pPr indent="0" marL="0">
              <a:buNone/>
            </a:pPr>
            <a:r>
              <a:rPr lang="en-US" sz="1200" b="1" dirty="0">
                <a:solidFill>
                  <a:srgbClr val="FF6B7F"/>
                </a:solidFill>
                <a:latin typeface="Meiryo UI" pitchFamily="34" charset="0"/>
                <a:ea typeface="Meiryo UI" pitchFamily="34" charset="-122"/>
                <a:cs typeface="Meiryo UI" pitchFamily="34" charset="-120"/>
              </a:rPr>
              <a:t>2 選ばれる価値の創造</a:t>
            </a:r>
            <a:pPr indent="0" marL="0">
              <a:buNone/>
            </a:pPr>
            <a:r>
              <a:rPr lang="en-US" sz="1150" dirty="0">
                <a:solidFill>
                  <a:srgbClr val="AEBDD6"/>
                </a:solidFill>
                <a:latin typeface="Meiryo UI" pitchFamily="34" charset="0"/>
                <a:ea typeface="Meiryo UI" pitchFamily="34" charset="-122"/>
                <a:cs typeface="Meiryo UI" pitchFamily="34" charset="-120"/>
              </a:rPr>
              <a:t>　何を理由に選ばれるか ― 価格ではなく「健康の成果に責任を持つ」エビデンス資産</a:t>
            </a:r>
            <a:endParaRPr lang="en-US" sz="1200" dirty="0"/>
          </a:p>
        </p:txBody>
      </p:sp>
      <p:sp>
        <p:nvSpPr>
          <p:cNvPr id="10" name="Text 8"/>
          <p:cNvSpPr/>
          <p:nvPr/>
        </p:nvSpPr>
        <p:spPr>
          <a:xfrm>
            <a:off x="822960" y="4151376"/>
            <a:ext cx="10881360" cy="329184"/>
          </a:xfrm>
          <a:prstGeom prst="rect">
            <a:avLst/>
          </a:prstGeom>
          <a:noFill/>
          <a:ln/>
        </p:spPr>
        <p:txBody>
          <a:bodyPr wrap="square" lIns="0" tIns="0" rIns="0" bIns="0" rtlCol="0" anchor="ctr"/>
          <a:lstStyle/>
          <a:p>
            <a:pPr indent="0" marL="0">
              <a:buNone/>
            </a:pPr>
            <a:r>
              <a:rPr lang="en-US" sz="1200" b="1" dirty="0">
                <a:solidFill>
                  <a:srgbClr val="FF6B7F"/>
                </a:solidFill>
                <a:latin typeface="Meiryo UI" pitchFamily="34" charset="0"/>
                <a:ea typeface="Meiryo UI" pitchFamily="34" charset="-122"/>
                <a:cs typeface="Meiryo UI" pitchFamily="34" charset="-120"/>
              </a:rPr>
              <a:t>3 顧客接点の統合</a:t>
            </a:r>
            <a:pPr indent="0" marL="0">
              <a:buNone/>
            </a:pPr>
            <a:r>
              <a:rPr lang="en-US" sz="1150" dirty="0">
                <a:solidFill>
                  <a:srgbClr val="AEBDD6"/>
                </a:solidFill>
                <a:latin typeface="Meiryo UI" pitchFamily="34" charset="0"/>
                <a:ea typeface="Meiryo UI" pitchFamily="34" charset="-122"/>
                <a:cs typeface="Meiryo UI" pitchFamily="34" charset="-120"/>
              </a:rPr>
              <a:t>　認知から継続までをどうつなぐか ― 棚・EC・AI・歯科をTotal Availabilityで統合</a:t>
            </a:r>
            <a:endParaRPr lang="en-US" sz="1200" dirty="0"/>
          </a:p>
        </p:txBody>
      </p:sp>
      <p:sp>
        <p:nvSpPr>
          <p:cNvPr id="11" name="Text 9"/>
          <p:cNvSpPr/>
          <p:nvPr/>
        </p:nvSpPr>
        <p:spPr>
          <a:xfrm>
            <a:off x="822960" y="4535424"/>
            <a:ext cx="10881360" cy="329184"/>
          </a:xfrm>
          <a:prstGeom prst="rect">
            <a:avLst/>
          </a:prstGeom>
          <a:noFill/>
          <a:ln/>
        </p:spPr>
        <p:txBody>
          <a:bodyPr wrap="square" lIns="0" tIns="0" rIns="0" bIns="0" rtlCol="0" anchor="ctr"/>
          <a:lstStyle/>
          <a:p>
            <a:pPr indent="0" marL="0">
              <a:buNone/>
            </a:pPr>
            <a:r>
              <a:rPr lang="en-US" sz="1200" b="1" dirty="0">
                <a:solidFill>
                  <a:srgbClr val="FF6B7F"/>
                </a:solidFill>
                <a:latin typeface="Meiryo UI" pitchFamily="34" charset="0"/>
                <a:ea typeface="Meiryo UI" pitchFamily="34" charset="-122"/>
                <a:cs typeface="Meiryo UI" pitchFamily="34" charset="-120"/>
              </a:rPr>
              <a:t>4 顧客資本の蓄積</a:t>
            </a:r>
            <a:pPr indent="0" marL="0">
              <a:buNone/>
            </a:pPr>
            <a:r>
              <a:rPr lang="en-US" sz="1150" dirty="0">
                <a:solidFill>
                  <a:srgbClr val="AEBDD6"/>
                </a:solidFill>
                <a:latin typeface="Meiryo UI" pitchFamily="34" charset="0"/>
                <a:ea typeface="Meiryo UI" pitchFamily="34" charset="-122"/>
                <a:cs typeface="Meiryo UI" pitchFamily="34" charset="-120"/>
              </a:rPr>
              <a:t>　関係を企業資産にできているか ― LION IDと、行動で測る顧客資本KPI（リピート・共同事業・専門家推奨）</a:t>
            </a:r>
            <a:endParaRPr lang="en-US" sz="1200" dirty="0"/>
          </a:p>
        </p:txBody>
      </p:sp>
      <p:sp>
        <p:nvSpPr>
          <p:cNvPr id="12" name="Text 10"/>
          <p:cNvSpPr/>
          <p:nvPr/>
        </p:nvSpPr>
        <p:spPr>
          <a:xfrm>
            <a:off x="822960" y="4919472"/>
            <a:ext cx="10881360" cy="329184"/>
          </a:xfrm>
          <a:prstGeom prst="rect">
            <a:avLst/>
          </a:prstGeom>
          <a:noFill/>
          <a:ln/>
        </p:spPr>
        <p:txBody>
          <a:bodyPr wrap="square" lIns="0" tIns="0" rIns="0" bIns="0" rtlCol="0" anchor="ctr"/>
          <a:lstStyle/>
          <a:p>
            <a:pPr indent="0" marL="0">
              <a:buNone/>
            </a:pPr>
            <a:r>
              <a:rPr lang="en-US" sz="1200" b="1" dirty="0">
                <a:solidFill>
                  <a:srgbClr val="FF6B7F"/>
                </a:solidFill>
                <a:latin typeface="Meiryo UI" pitchFamily="34" charset="0"/>
                <a:ea typeface="Meiryo UI" pitchFamily="34" charset="-122"/>
                <a:cs typeface="Meiryo UI" pitchFamily="34" charset="-120"/>
              </a:rPr>
              <a:t>5 実行能力と成果管理</a:t>
            </a:r>
            <a:pPr indent="0" marL="0">
              <a:buNone/>
            </a:pPr>
            <a:r>
              <a:rPr lang="en-US" sz="1150" dirty="0">
                <a:solidFill>
                  <a:srgbClr val="AEBDD6"/>
                </a:solidFill>
                <a:latin typeface="Meiryo UI" pitchFamily="34" charset="0"/>
                <a:ea typeface="Meiryo UI" pitchFamily="34" charset="-122"/>
                <a:cs typeface="Meiryo UI" pitchFamily="34" charset="-120"/>
              </a:rPr>
              <a:t>　誰が何を担いどう測るか ― 北極星KPI（増分粗利）とRevOps型組織</a:t>
            </a:r>
            <a:endParaRPr lang="en-US" sz="1200" dirty="0"/>
          </a:p>
        </p:txBody>
      </p:sp>
      <p:sp>
        <p:nvSpPr>
          <p:cNvPr id="13" name="Shape 11"/>
          <p:cNvSpPr/>
          <p:nvPr/>
        </p:nvSpPr>
        <p:spPr>
          <a:xfrm>
            <a:off x="841248" y="5486400"/>
            <a:ext cx="2011680" cy="0"/>
          </a:xfrm>
          <a:prstGeom prst="line">
            <a:avLst/>
          </a:prstGeom>
          <a:noFill/>
          <a:ln w="31750">
            <a:solidFill>
              <a:srgbClr val="C8102E"/>
            </a:solidFill>
            <a:prstDash val="solid"/>
          </a:ln>
        </p:spPr>
      </p:sp>
      <p:sp>
        <p:nvSpPr>
          <p:cNvPr id="14" name="Text 12"/>
          <p:cNvSpPr/>
          <p:nvPr/>
        </p:nvSpPr>
        <p:spPr>
          <a:xfrm>
            <a:off x="822960" y="5669280"/>
            <a:ext cx="10789920" cy="365760"/>
          </a:xfrm>
          <a:prstGeom prst="rect">
            <a:avLst/>
          </a:prstGeom>
          <a:noFill/>
          <a:ln/>
        </p:spPr>
        <p:txBody>
          <a:bodyPr wrap="square" lIns="0" tIns="0" rIns="0" bIns="0" rtlCol="0" anchor="ctr"/>
          <a:lstStyle/>
          <a:p>
            <a:pPr indent="0" marL="0">
              <a:buNone/>
            </a:pPr>
            <a:r>
              <a:rPr lang="en-US" sz="1050" dirty="0">
                <a:solidFill>
                  <a:srgbClr val="8FA3C4"/>
                </a:solidFill>
                <a:latin typeface="Meiryo UI" pitchFamily="34" charset="0"/>
                <a:ea typeface="Meiryo UI" pitchFamily="34" charset="-122"/>
                <a:cs typeface="Meiryo UI" pitchFamily="34" charset="-120"/>
              </a:rPr>
              <a:t>既存検討（GAP・真因・4テーマ8施策・ユニークKPI）を5つの経営テーマに再構造化し、2040年からのバックキャストで接続　|　デジタル戦略部 討議用</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本資料の構造</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資料の背骨 ― 理想像から経営テーマへ、テーマから施策へ</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「理想像を左に置き、右に経営テーマごとの施策を紐付ける」構造。すべての施策は5つの経営の問いのどれかに答え、どれにも答えない施策は載せない</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691640"/>
            <a:ext cx="2148840" cy="3291840"/>
          </a:xfrm>
          <a:prstGeom prst="rect">
            <a:avLst/>
          </a:prstGeom>
          <a:solidFill>
            <a:srgbClr val="F4F6F9"/>
          </a:solidFill>
          <a:ln w="9525">
            <a:solidFill>
              <a:srgbClr val="D9DEE6"/>
            </a:solidFill>
            <a:prstDash val="solid"/>
          </a:ln>
        </p:spPr>
      </p:sp>
      <p:sp>
        <p:nvSpPr>
          <p:cNvPr id="7" name="Shape 5"/>
          <p:cNvSpPr/>
          <p:nvPr/>
        </p:nvSpPr>
        <p:spPr>
          <a:xfrm>
            <a:off x="502920" y="1691640"/>
            <a:ext cx="2148840" cy="82296"/>
          </a:xfrm>
          <a:prstGeom prst="rect">
            <a:avLst/>
          </a:prstGeom>
          <a:solidFill>
            <a:srgbClr val="6B7686"/>
          </a:solidFill>
          <a:ln/>
        </p:spPr>
      </p:sp>
      <p:sp>
        <p:nvSpPr>
          <p:cNvPr id="8" name="Text 6"/>
          <p:cNvSpPr/>
          <p:nvPr/>
        </p:nvSpPr>
        <p:spPr>
          <a:xfrm>
            <a:off x="621792" y="1847088"/>
            <a:ext cx="1911096" cy="274320"/>
          </a:xfrm>
          <a:prstGeom prst="rect">
            <a:avLst/>
          </a:prstGeom>
          <a:noFill/>
          <a:ln/>
        </p:spPr>
        <p:txBody>
          <a:bodyPr wrap="square" lIns="0" tIns="0" rIns="0" bIns="0" rtlCol="0" anchor="ctr"/>
          <a:lstStyle/>
          <a:p>
            <a:pPr indent="0" marL="0">
              <a:buNone/>
            </a:pPr>
            <a:r>
              <a:rPr lang="en-US" sz="1050" b="1" dirty="0">
                <a:solidFill>
                  <a:srgbClr val="6B7686"/>
                </a:solidFill>
                <a:latin typeface="Meiryo UI" pitchFamily="34" charset="0"/>
                <a:ea typeface="Meiryo UI" pitchFamily="34" charset="-122"/>
                <a:cs typeface="Meiryo UI" pitchFamily="34" charset="-120"/>
              </a:rPr>
              <a:t>① 前提</a:t>
            </a:r>
            <a:endParaRPr lang="en-US" sz="1050" dirty="0"/>
          </a:p>
        </p:txBody>
      </p:sp>
      <p:sp>
        <p:nvSpPr>
          <p:cNvPr id="9" name="Text 7"/>
          <p:cNvSpPr/>
          <p:nvPr/>
        </p:nvSpPr>
        <p:spPr>
          <a:xfrm>
            <a:off x="621792" y="2157984"/>
            <a:ext cx="1911096" cy="548640"/>
          </a:xfrm>
          <a:prstGeom prst="rect">
            <a:avLst/>
          </a:prstGeom>
          <a:noFill/>
          <a:ln/>
        </p:spPr>
        <p:txBody>
          <a:bodyPr wrap="square" lIns="0" tIns="0" rIns="0" bIns="0" rtlCol="0" anchor="ctr"/>
          <a:lstStyle/>
          <a:p>
            <a:pPr indent="0" marL="0">
              <a:lnSpc>
                <a:spcPct val="105000"/>
              </a:lnSpc>
              <a:buNone/>
            </a:pPr>
            <a:r>
              <a:rPr lang="en-US" sz="1200" b="1" dirty="0">
                <a:solidFill>
                  <a:srgbClr val="16233A"/>
                </a:solidFill>
                <a:latin typeface="Meiryo UI" pitchFamily="34" charset="0"/>
                <a:ea typeface="Meiryo UI" pitchFamily="34" charset="-122"/>
                <a:cs typeface="Meiryo UI" pitchFamily="34" charset="-120"/>
              </a:rPr>
              <a:t>環境変化と真因</a:t>
            </a:r>
            <a:endParaRPr lang="en-US" sz="1200" dirty="0"/>
          </a:p>
        </p:txBody>
      </p:sp>
      <p:sp>
        <p:nvSpPr>
          <p:cNvPr id="10" name="Text 8"/>
          <p:cNvSpPr/>
          <p:nvPr/>
        </p:nvSpPr>
        <p:spPr>
          <a:xfrm>
            <a:off x="621792" y="2788920"/>
            <a:ext cx="1911096" cy="2103120"/>
          </a:xfrm>
          <a:prstGeom prst="rect">
            <a:avLst/>
          </a:prstGeom>
          <a:noFill/>
          <a:ln/>
        </p:spPr>
        <p:txBody>
          <a:bodyPr wrap="square" lIns="0" tIns="0" rIns="0" bIns="0" rtlCol="0" anchor="ctr"/>
          <a:lstStyle/>
          <a:p>
            <a:pPr indent="0" marL="0">
              <a:lnSpc>
                <a:spcPct val="118000"/>
              </a:lnSpc>
              <a:buNone/>
            </a:pPr>
            <a:r>
              <a:rPr lang="en-US" sz="920" dirty="0">
                <a:solidFill>
                  <a:srgbClr val="1F2733"/>
                </a:solidFill>
                <a:latin typeface="Meiryo UI" pitchFamily="34" charset="0"/>
                <a:ea typeface="Meiryo UI" pitchFamily="34" charset="-122"/>
                <a:cs typeface="Meiryo UI" pitchFamily="34" charset="-120"/>
              </a:rPr>
              <a:t>AI購買の開始・小売のメディア化・予防の国策化（オープンデータで確認）。真因は「知識資産形成を評価軸に持たない経営構造」</a:t>
            </a:r>
            <a:endParaRPr lang="en-US" sz="920" dirty="0"/>
          </a:p>
        </p:txBody>
      </p:sp>
      <p:sp>
        <p:nvSpPr>
          <p:cNvPr id="11" name="Text 9"/>
          <p:cNvSpPr/>
          <p:nvPr/>
        </p:nvSpPr>
        <p:spPr>
          <a:xfrm>
            <a:off x="2633472" y="3108960"/>
            <a:ext cx="201168" cy="274320"/>
          </a:xfrm>
          <a:prstGeom prst="rect">
            <a:avLst/>
          </a:prstGeom>
          <a:noFill/>
          <a:ln/>
        </p:spPr>
        <p:txBody>
          <a:bodyPr wrap="square" lIns="0" tIns="0" rIns="0" bIns="0" rtlCol="0" anchor="ctr"/>
          <a:lstStyle/>
          <a:p>
            <a:pPr algn="ctr" indent="0" marL="0">
              <a:buNone/>
            </a:pPr>
            <a:r>
              <a:rPr lang="en-US" sz="1100" b="1" dirty="0">
                <a:solidFill>
                  <a:srgbClr val="9AA3AE"/>
                </a:solidFill>
                <a:latin typeface="Meiryo UI" pitchFamily="34" charset="0"/>
                <a:ea typeface="Meiryo UI" pitchFamily="34" charset="-122"/>
                <a:cs typeface="Meiryo UI" pitchFamily="34" charset="-120"/>
              </a:rPr>
              <a:t>▶</a:t>
            </a:r>
            <a:endParaRPr lang="en-US" sz="1100" dirty="0"/>
          </a:p>
        </p:txBody>
      </p:sp>
      <p:sp>
        <p:nvSpPr>
          <p:cNvPr id="12" name="Shape 10"/>
          <p:cNvSpPr/>
          <p:nvPr/>
        </p:nvSpPr>
        <p:spPr>
          <a:xfrm>
            <a:off x="2779776" y="1691640"/>
            <a:ext cx="2468880" cy="3291840"/>
          </a:xfrm>
          <a:prstGeom prst="rect">
            <a:avLst/>
          </a:prstGeom>
          <a:solidFill>
            <a:srgbClr val="FBECEC"/>
          </a:solidFill>
          <a:ln w="9525">
            <a:solidFill>
              <a:srgbClr val="D9DEE6"/>
            </a:solidFill>
            <a:prstDash val="solid"/>
          </a:ln>
        </p:spPr>
      </p:sp>
      <p:sp>
        <p:nvSpPr>
          <p:cNvPr id="13" name="Shape 11"/>
          <p:cNvSpPr/>
          <p:nvPr/>
        </p:nvSpPr>
        <p:spPr>
          <a:xfrm>
            <a:off x="2779776" y="1691640"/>
            <a:ext cx="2468880" cy="82296"/>
          </a:xfrm>
          <a:prstGeom prst="rect">
            <a:avLst/>
          </a:prstGeom>
          <a:solidFill>
            <a:srgbClr val="C8102E"/>
          </a:solidFill>
          <a:ln/>
        </p:spPr>
      </p:sp>
      <p:sp>
        <p:nvSpPr>
          <p:cNvPr id="14" name="Text 12"/>
          <p:cNvSpPr/>
          <p:nvPr/>
        </p:nvSpPr>
        <p:spPr>
          <a:xfrm>
            <a:off x="2898648" y="1847088"/>
            <a:ext cx="2231136" cy="274320"/>
          </a:xfrm>
          <a:prstGeom prst="rect">
            <a:avLst/>
          </a:prstGeom>
          <a:noFill/>
          <a:ln/>
        </p:spPr>
        <p:txBody>
          <a:bodyPr wrap="square" lIns="0" tIns="0" rIns="0" bIns="0" rtlCol="0" anchor="ctr"/>
          <a:lstStyle/>
          <a:p>
            <a:pPr indent="0" marL="0">
              <a:buNone/>
            </a:pPr>
            <a:r>
              <a:rPr lang="en-US" sz="1050" b="1" dirty="0">
                <a:solidFill>
                  <a:srgbClr val="C8102E"/>
                </a:solidFill>
                <a:latin typeface="Meiryo UI" pitchFamily="34" charset="0"/>
                <a:ea typeface="Meiryo UI" pitchFamily="34" charset="-122"/>
                <a:cs typeface="Meiryo UI" pitchFamily="34" charset="-120"/>
              </a:rPr>
              <a:t>② 理想像（2040）</a:t>
            </a:r>
            <a:endParaRPr lang="en-US" sz="1050" dirty="0"/>
          </a:p>
        </p:txBody>
      </p:sp>
      <p:sp>
        <p:nvSpPr>
          <p:cNvPr id="15" name="Text 13"/>
          <p:cNvSpPr/>
          <p:nvPr/>
        </p:nvSpPr>
        <p:spPr>
          <a:xfrm>
            <a:off x="2898648" y="2157984"/>
            <a:ext cx="2231136" cy="548640"/>
          </a:xfrm>
          <a:prstGeom prst="rect">
            <a:avLst/>
          </a:prstGeom>
          <a:noFill/>
          <a:ln/>
        </p:spPr>
        <p:txBody>
          <a:bodyPr wrap="square" lIns="0" tIns="0" rIns="0" bIns="0" rtlCol="0" anchor="ctr"/>
          <a:lstStyle/>
          <a:p>
            <a:pPr indent="0" marL="0">
              <a:lnSpc>
                <a:spcPct val="105000"/>
              </a:lnSpc>
              <a:buNone/>
            </a:pPr>
            <a:r>
              <a:rPr lang="en-US" sz="1200" b="1" dirty="0">
                <a:solidFill>
                  <a:srgbClr val="16233A"/>
                </a:solidFill>
                <a:latin typeface="Meiryo UI" pitchFamily="34" charset="0"/>
                <a:ea typeface="Meiryo UI" pitchFamily="34" charset="-122"/>
                <a:cs typeface="Meiryo UI" pitchFamily="34" charset="-120"/>
              </a:rPr>
              <a:t>予防習慣インフラ企業</a:t>
            </a:r>
            <a:endParaRPr lang="en-US" sz="1200" dirty="0"/>
          </a:p>
        </p:txBody>
      </p:sp>
      <p:sp>
        <p:nvSpPr>
          <p:cNvPr id="16" name="Text 14"/>
          <p:cNvSpPr/>
          <p:nvPr/>
        </p:nvSpPr>
        <p:spPr>
          <a:xfrm>
            <a:off x="2898648" y="2788920"/>
            <a:ext cx="2231136" cy="2103120"/>
          </a:xfrm>
          <a:prstGeom prst="rect">
            <a:avLst/>
          </a:prstGeom>
          <a:noFill/>
          <a:ln/>
        </p:spPr>
        <p:txBody>
          <a:bodyPr wrap="square" lIns="0" tIns="0" rIns="0" bIns="0" rtlCol="0" anchor="ctr"/>
          <a:lstStyle/>
          <a:p>
            <a:pPr indent="0" marL="0">
              <a:lnSpc>
                <a:spcPct val="118000"/>
              </a:lnSpc>
              <a:buNone/>
            </a:pPr>
            <a:r>
              <a:rPr lang="en-US" sz="920" dirty="0">
                <a:solidFill>
                  <a:srgbClr val="1F2733"/>
                </a:solidFill>
                <a:latin typeface="Meiryo UI" pitchFamily="34" charset="0"/>
                <a:ea typeface="Meiryo UI" pitchFamily="34" charset="-122"/>
                <a:cs typeface="Meiryo UI" pitchFamily="34" charset="-120"/>
              </a:rPr>
              <a:t>3つの顧客に「選ばれ続ける行動」を定着させ、制度・AIの「初期設定」を握る会社。左端に置き、全施策の到達点とする</a:t>
            </a:r>
            <a:endParaRPr lang="en-US" sz="920" dirty="0"/>
          </a:p>
        </p:txBody>
      </p:sp>
      <p:sp>
        <p:nvSpPr>
          <p:cNvPr id="17" name="Text 15"/>
          <p:cNvSpPr/>
          <p:nvPr/>
        </p:nvSpPr>
        <p:spPr>
          <a:xfrm>
            <a:off x="5230368" y="3108960"/>
            <a:ext cx="201168" cy="274320"/>
          </a:xfrm>
          <a:prstGeom prst="rect">
            <a:avLst/>
          </a:prstGeom>
          <a:noFill/>
          <a:ln/>
        </p:spPr>
        <p:txBody>
          <a:bodyPr wrap="square" lIns="0" tIns="0" rIns="0" bIns="0" rtlCol="0" anchor="ctr"/>
          <a:lstStyle/>
          <a:p>
            <a:pPr algn="ctr" indent="0" marL="0">
              <a:buNone/>
            </a:pPr>
            <a:r>
              <a:rPr lang="en-US" sz="1100" b="1" dirty="0">
                <a:solidFill>
                  <a:srgbClr val="9AA3AE"/>
                </a:solidFill>
                <a:latin typeface="Meiryo UI" pitchFamily="34" charset="0"/>
                <a:ea typeface="Meiryo UI" pitchFamily="34" charset="-122"/>
                <a:cs typeface="Meiryo UI" pitchFamily="34" charset="-120"/>
              </a:rPr>
              <a:t>▶</a:t>
            </a:r>
            <a:endParaRPr lang="en-US" sz="1100" dirty="0"/>
          </a:p>
        </p:txBody>
      </p:sp>
      <p:sp>
        <p:nvSpPr>
          <p:cNvPr id="18" name="Shape 16"/>
          <p:cNvSpPr/>
          <p:nvPr/>
        </p:nvSpPr>
        <p:spPr>
          <a:xfrm>
            <a:off x="5376672" y="1691640"/>
            <a:ext cx="2377440" cy="3291840"/>
          </a:xfrm>
          <a:prstGeom prst="rect">
            <a:avLst/>
          </a:prstGeom>
          <a:solidFill>
            <a:srgbClr val="F4F6F9"/>
          </a:solidFill>
          <a:ln w="9525">
            <a:solidFill>
              <a:srgbClr val="D9DEE6"/>
            </a:solidFill>
            <a:prstDash val="solid"/>
          </a:ln>
        </p:spPr>
      </p:sp>
      <p:sp>
        <p:nvSpPr>
          <p:cNvPr id="19" name="Shape 17"/>
          <p:cNvSpPr/>
          <p:nvPr/>
        </p:nvSpPr>
        <p:spPr>
          <a:xfrm>
            <a:off x="5376672" y="1691640"/>
            <a:ext cx="2377440" cy="82296"/>
          </a:xfrm>
          <a:prstGeom prst="rect">
            <a:avLst/>
          </a:prstGeom>
          <a:solidFill>
            <a:srgbClr val="16233A"/>
          </a:solidFill>
          <a:ln/>
        </p:spPr>
      </p:sp>
      <p:sp>
        <p:nvSpPr>
          <p:cNvPr id="20" name="Text 18"/>
          <p:cNvSpPr/>
          <p:nvPr/>
        </p:nvSpPr>
        <p:spPr>
          <a:xfrm>
            <a:off x="5495544" y="1847088"/>
            <a:ext cx="2139696" cy="274320"/>
          </a:xfrm>
          <a:prstGeom prst="rect">
            <a:avLst/>
          </a:prstGeom>
          <a:noFill/>
          <a:ln/>
        </p:spPr>
        <p:txBody>
          <a:bodyPr wrap="square" lIns="0" tIns="0" rIns="0" bIns="0" rtlCol="0" anchor="ctr"/>
          <a:lstStyle/>
          <a:p>
            <a:pPr indent="0" marL="0">
              <a:buNone/>
            </a:pPr>
            <a:r>
              <a:rPr lang="en-US" sz="1050" b="1" dirty="0">
                <a:solidFill>
                  <a:srgbClr val="16233A"/>
                </a:solidFill>
                <a:latin typeface="Meiryo UI" pitchFamily="34" charset="0"/>
                <a:ea typeface="Meiryo UI" pitchFamily="34" charset="-122"/>
                <a:cs typeface="Meiryo UI" pitchFamily="34" charset="-120"/>
              </a:rPr>
              <a:t>③ 経営テーマ（5）</a:t>
            </a:r>
            <a:endParaRPr lang="en-US" sz="1050" dirty="0"/>
          </a:p>
        </p:txBody>
      </p:sp>
      <p:sp>
        <p:nvSpPr>
          <p:cNvPr id="21" name="Text 19"/>
          <p:cNvSpPr/>
          <p:nvPr/>
        </p:nvSpPr>
        <p:spPr>
          <a:xfrm>
            <a:off x="5495544" y="2157984"/>
            <a:ext cx="2139696" cy="548640"/>
          </a:xfrm>
          <a:prstGeom prst="rect">
            <a:avLst/>
          </a:prstGeom>
          <a:noFill/>
          <a:ln/>
        </p:spPr>
        <p:txBody>
          <a:bodyPr wrap="square" lIns="0" tIns="0" rIns="0" bIns="0" rtlCol="0" anchor="ctr"/>
          <a:lstStyle/>
          <a:p>
            <a:pPr indent="0" marL="0">
              <a:lnSpc>
                <a:spcPct val="105000"/>
              </a:lnSpc>
              <a:buNone/>
            </a:pPr>
            <a:r>
              <a:rPr lang="en-US" sz="1200" b="1" dirty="0">
                <a:solidFill>
                  <a:srgbClr val="16233A"/>
                </a:solidFill>
                <a:latin typeface="Meiryo UI" pitchFamily="34" charset="0"/>
                <a:ea typeface="Meiryo UI" pitchFamily="34" charset="-122"/>
                <a:cs typeface="Meiryo UI" pitchFamily="34" charset="-120"/>
              </a:rPr>
              <a:t>経営の問いに変換</a:t>
            </a:r>
            <a:endParaRPr lang="en-US" sz="1200" dirty="0"/>
          </a:p>
        </p:txBody>
      </p:sp>
      <p:sp>
        <p:nvSpPr>
          <p:cNvPr id="22" name="Text 20"/>
          <p:cNvSpPr/>
          <p:nvPr/>
        </p:nvSpPr>
        <p:spPr>
          <a:xfrm>
            <a:off x="5495544" y="2788920"/>
            <a:ext cx="2139696" cy="2103120"/>
          </a:xfrm>
          <a:prstGeom prst="rect">
            <a:avLst/>
          </a:prstGeom>
          <a:noFill/>
          <a:ln/>
        </p:spPr>
        <p:txBody>
          <a:bodyPr wrap="square" lIns="0" tIns="0" rIns="0" bIns="0" rtlCol="0" anchor="ctr"/>
          <a:lstStyle/>
          <a:p>
            <a:pPr indent="0" marL="0">
              <a:lnSpc>
                <a:spcPct val="118000"/>
              </a:lnSpc>
              <a:buNone/>
            </a:pPr>
            <a:r>
              <a:rPr lang="en-US" sz="920" dirty="0">
                <a:solidFill>
                  <a:srgbClr val="1F2733"/>
                </a:solidFill>
                <a:latin typeface="Meiryo UI" pitchFamily="34" charset="0"/>
                <a:ea typeface="Meiryo UI" pitchFamily="34" charset="-122"/>
                <a:cs typeface="Meiryo UI" pitchFamily="34" charset="-120"/>
              </a:rPr>
              <a:t>理想像との差分を「市場・価値・接点・顧客資本・実行」の5つの経営の問いに変換する（＝本資料の背骨）</a:t>
            </a:r>
            <a:endParaRPr lang="en-US" sz="920" dirty="0"/>
          </a:p>
        </p:txBody>
      </p:sp>
      <p:sp>
        <p:nvSpPr>
          <p:cNvPr id="23" name="Text 21"/>
          <p:cNvSpPr/>
          <p:nvPr/>
        </p:nvSpPr>
        <p:spPr>
          <a:xfrm>
            <a:off x="7735824" y="3108960"/>
            <a:ext cx="201168" cy="274320"/>
          </a:xfrm>
          <a:prstGeom prst="rect">
            <a:avLst/>
          </a:prstGeom>
          <a:noFill/>
          <a:ln/>
        </p:spPr>
        <p:txBody>
          <a:bodyPr wrap="square" lIns="0" tIns="0" rIns="0" bIns="0" rtlCol="0" anchor="ctr"/>
          <a:lstStyle/>
          <a:p>
            <a:pPr algn="ctr" indent="0" marL="0">
              <a:buNone/>
            </a:pPr>
            <a:r>
              <a:rPr lang="en-US" sz="1100" b="1" dirty="0">
                <a:solidFill>
                  <a:srgbClr val="9AA3AE"/>
                </a:solidFill>
                <a:latin typeface="Meiryo UI" pitchFamily="34" charset="0"/>
                <a:ea typeface="Meiryo UI" pitchFamily="34" charset="-122"/>
                <a:cs typeface="Meiryo UI" pitchFamily="34" charset="-120"/>
              </a:rPr>
              <a:t>▶</a:t>
            </a:r>
            <a:endParaRPr lang="en-US" sz="1100" dirty="0"/>
          </a:p>
        </p:txBody>
      </p:sp>
      <p:sp>
        <p:nvSpPr>
          <p:cNvPr id="24" name="Shape 22"/>
          <p:cNvSpPr/>
          <p:nvPr/>
        </p:nvSpPr>
        <p:spPr>
          <a:xfrm>
            <a:off x="7882128" y="1691640"/>
            <a:ext cx="2286000" cy="3291840"/>
          </a:xfrm>
          <a:prstGeom prst="rect">
            <a:avLst/>
          </a:prstGeom>
          <a:solidFill>
            <a:srgbClr val="EAF3F8"/>
          </a:solidFill>
          <a:ln w="9525">
            <a:solidFill>
              <a:srgbClr val="D9DEE6"/>
            </a:solidFill>
            <a:prstDash val="solid"/>
          </a:ln>
        </p:spPr>
      </p:sp>
      <p:sp>
        <p:nvSpPr>
          <p:cNvPr id="25" name="Shape 23"/>
          <p:cNvSpPr/>
          <p:nvPr/>
        </p:nvSpPr>
        <p:spPr>
          <a:xfrm>
            <a:off x="7882128" y="1691640"/>
            <a:ext cx="2286000" cy="82296"/>
          </a:xfrm>
          <a:prstGeom prst="rect">
            <a:avLst/>
          </a:prstGeom>
          <a:solidFill>
            <a:srgbClr val="0F5E87"/>
          </a:solidFill>
          <a:ln/>
        </p:spPr>
      </p:sp>
      <p:sp>
        <p:nvSpPr>
          <p:cNvPr id="26" name="Text 24"/>
          <p:cNvSpPr/>
          <p:nvPr/>
        </p:nvSpPr>
        <p:spPr>
          <a:xfrm>
            <a:off x="8001000" y="1847088"/>
            <a:ext cx="2048256" cy="274320"/>
          </a:xfrm>
          <a:prstGeom prst="rect">
            <a:avLst/>
          </a:prstGeom>
          <a:noFill/>
          <a:ln/>
        </p:spPr>
        <p:txBody>
          <a:bodyPr wrap="square" lIns="0" tIns="0" rIns="0" bIns="0" rtlCol="0" anchor="ctr"/>
          <a:lstStyle/>
          <a:p>
            <a:pPr indent="0" marL="0">
              <a:buNone/>
            </a:pPr>
            <a:r>
              <a:rPr lang="en-US" sz="1050" b="1" dirty="0">
                <a:solidFill>
                  <a:srgbClr val="0F5E87"/>
                </a:solidFill>
                <a:latin typeface="Meiryo UI" pitchFamily="34" charset="0"/>
                <a:ea typeface="Meiryo UI" pitchFamily="34" charset="-122"/>
                <a:cs typeface="Meiryo UI" pitchFamily="34" charset="-120"/>
              </a:rPr>
              <a:t>④ 施策（8＋1）</a:t>
            </a:r>
            <a:endParaRPr lang="en-US" sz="1050" dirty="0"/>
          </a:p>
        </p:txBody>
      </p:sp>
      <p:sp>
        <p:nvSpPr>
          <p:cNvPr id="27" name="Text 25"/>
          <p:cNvSpPr/>
          <p:nvPr/>
        </p:nvSpPr>
        <p:spPr>
          <a:xfrm>
            <a:off x="8001000" y="2157984"/>
            <a:ext cx="2048256" cy="548640"/>
          </a:xfrm>
          <a:prstGeom prst="rect">
            <a:avLst/>
          </a:prstGeom>
          <a:noFill/>
          <a:ln/>
        </p:spPr>
        <p:txBody>
          <a:bodyPr wrap="square" lIns="0" tIns="0" rIns="0" bIns="0" rtlCol="0" anchor="ctr"/>
          <a:lstStyle/>
          <a:p>
            <a:pPr indent="0" marL="0">
              <a:lnSpc>
                <a:spcPct val="105000"/>
              </a:lnSpc>
              <a:buNone/>
            </a:pPr>
            <a:r>
              <a:rPr lang="en-US" sz="1200" b="1" dirty="0">
                <a:solidFill>
                  <a:srgbClr val="16233A"/>
                </a:solidFill>
                <a:latin typeface="Meiryo UI" pitchFamily="34" charset="0"/>
                <a:ea typeface="Meiryo UI" pitchFamily="34" charset="-122"/>
                <a:cs typeface="Meiryo UI" pitchFamily="34" charset="-120"/>
              </a:rPr>
              <a:t>問いへの答え</a:t>
            </a:r>
            <a:endParaRPr lang="en-US" sz="1200" dirty="0"/>
          </a:p>
        </p:txBody>
      </p:sp>
      <p:sp>
        <p:nvSpPr>
          <p:cNvPr id="28" name="Text 26"/>
          <p:cNvSpPr/>
          <p:nvPr/>
        </p:nvSpPr>
        <p:spPr>
          <a:xfrm>
            <a:off x="8001000" y="2788920"/>
            <a:ext cx="2048256" cy="2103120"/>
          </a:xfrm>
          <a:prstGeom prst="rect">
            <a:avLst/>
          </a:prstGeom>
          <a:noFill/>
          <a:ln/>
        </p:spPr>
        <p:txBody>
          <a:bodyPr wrap="square" lIns="0" tIns="0" rIns="0" bIns="0" rtlCol="0" anchor="ctr"/>
          <a:lstStyle/>
          <a:p>
            <a:pPr indent="0" marL="0">
              <a:lnSpc>
                <a:spcPct val="118000"/>
              </a:lnSpc>
              <a:buNone/>
            </a:pPr>
            <a:r>
              <a:rPr lang="en-US" sz="920" dirty="0">
                <a:solidFill>
                  <a:srgbClr val="1F2733"/>
                </a:solidFill>
                <a:latin typeface="Meiryo UI" pitchFamily="34" charset="0"/>
                <a:ea typeface="Meiryo UI" pitchFamily="34" charset="-122"/>
                <a:cs typeface="Meiryo UI" pitchFamily="34" charset="-120"/>
              </a:rPr>
              <a:t>既存の8重点施策＋新提案1（顧客資本KPIの設計）を各テーマに紐付け。点→線→面のシナジー設計で束ねる</a:t>
            </a:r>
            <a:endParaRPr lang="en-US" sz="920" dirty="0"/>
          </a:p>
        </p:txBody>
      </p:sp>
      <p:sp>
        <p:nvSpPr>
          <p:cNvPr id="29" name="Text 27"/>
          <p:cNvSpPr/>
          <p:nvPr/>
        </p:nvSpPr>
        <p:spPr>
          <a:xfrm>
            <a:off x="10149840" y="3108960"/>
            <a:ext cx="201168" cy="274320"/>
          </a:xfrm>
          <a:prstGeom prst="rect">
            <a:avLst/>
          </a:prstGeom>
          <a:noFill/>
          <a:ln/>
        </p:spPr>
        <p:txBody>
          <a:bodyPr wrap="square" lIns="0" tIns="0" rIns="0" bIns="0" rtlCol="0" anchor="ctr"/>
          <a:lstStyle/>
          <a:p>
            <a:pPr algn="ctr" indent="0" marL="0">
              <a:buNone/>
            </a:pPr>
            <a:r>
              <a:rPr lang="en-US" sz="1100" b="1" dirty="0">
                <a:solidFill>
                  <a:srgbClr val="9AA3AE"/>
                </a:solidFill>
                <a:latin typeface="Meiryo UI" pitchFamily="34" charset="0"/>
                <a:ea typeface="Meiryo UI" pitchFamily="34" charset="-122"/>
                <a:cs typeface="Meiryo UI" pitchFamily="34" charset="-120"/>
              </a:rPr>
              <a:t>▶</a:t>
            </a:r>
            <a:endParaRPr lang="en-US" sz="1100" dirty="0"/>
          </a:p>
        </p:txBody>
      </p:sp>
      <p:sp>
        <p:nvSpPr>
          <p:cNvPr id="30" name="Shape 28"/>
          <p:cNvSpPr/>
          <p:nvPr/>
        </p:nvSpPr>
        <p:spPr>
          <a:xfrm>
            <a:off x="10296144" y="1691640"/>
            <a:ext cx="2011680" cy="3291840"/>
          </a:xfrm>
          <a:prstGeom prst="rect">
            <a:avLst/>
          </a:prstGeom>
          <a:solidFill>
            <a:srgbClr val="EEF4EC"/>
          </a:solidFill>
          <a:ln w="9525">
            <a:solidFill>
              <a:srgbClr val="D9DEE6"/>
            </a:solidFill>
            <a:prstDash val="solid"/>
          </a:ln>
        </p:spPr>
      </p:sp>
      <p:sp>
        <p:nvSpPr>
          <p:cNvPr id="31" name="Shape 29"/>
          <p:cNvSpPr/>
          <p:nvPr/>
        </p:nvSpPr>
        <p:spPr>
          <a:xfrm>
            <a:off x="10296144" y="1691640"/>
            <a:ext cx="2011680" cy="82296"/>
          </a:xfrm>
          <a:prstGeom prst="rect">
            <a:avLst/>
          </a:prstGeom>
          <a:solidFill>
            <a:srgbClr val="2C5F2D"/>
          </a:solidFill>
          <a:ln/>
        </p:spPr>
      </p:sp>
      <p:sp>
        <p:nvSpPr>
          <p:cNvPr id="32" name="Text 30"/>
          <p:cNvSpPr/>
          <p:nvPr/>
        </p:nvSpPr>
        <p:spPr>
          <a:xfrm>
            <a:off x="10415016" y="1847088"/>
            <a:ext cx="1773936" cy="274320"/>
          </a:xfrm>
          <a:prstGeom prst="rect">
            <a:avLst/>
          </a:prstGeom>
          <a:noFill/>
          <a:ln/>
        </p:spPr>
        <p:txBody>
          <a:bodyPr wrap="square" lIns="0" tIns="0" rIns="0" bIns="0" rtlCol="0" anchor="ctr"/>
          <a:lstStyle/>
          <a:p>
            <a:pPr indent="0" marL="0">
              <a:buNone/>
            </a:pPr>
            <a:r>
              <a:rPr lang="en-US" sz="1050" b="1" dirty="0">
                <a:solidFill>
                  <a:srgbClr val="2C5F2D"/>
                </a:solidFill>
                <a:latin typeface="Meiryo UI" pitchFamily="34" charset="0"/>
                <a:ea typeface="Meiryo UI" pitchFamily="34" charset="-122"/>
                <a:cs typeface="Meiryo UI" pitchFamily="34" charset="-120"/>
              </a:rPr>
              <a:t>⑤ 成果管理</a:t>
            </a:r>
            <a:endParaRPr lang="en-US" sz="1050" dirty="0"/>
          </a:p>
        </p:txBody>
      </p:sp>
      <p:sp>
        <p:nvSpPr>
          <p:cNvPr id="33" name="Text 31"/>
          <p:cNvSpPr/>
          <p:nvPr/>
        </p:nvSpPr>
        <p:spPr>
          <a:xfrm>
            <a:off x="10415016" y="2157984"/>
            <a:ext cx="1773936" cy="548640"/>
          </a:xfrm>
          <a:prstGeom prst="rect">
            <a:avLst/>
          </a:prstGeom>
          <a:noFill/>
          <a:ln/>
        </p:spPr>
        <p:txBody>
          <a:bodyPr wrap="square" lIns="0" tIns="0" rIns="0" bIns="0" rtlCol="0" anchor="ctr"/>
          <a:lstStyle/>
          <a:p>
            <a:pPr indent="0" marL="0">
              <a:lnSpc>
                <a:spcPct val="105000"/>
              </a:lnSpc>
              <a:buNone/>
            </a:pPr>
            <a:r>
              <a:rPr lang="en-US" sz="1200" b="1" dirty="0">
                <a:solidFill>
                  <a:srgbClr val="16233A"/>
                </a:solidFill>
                <a:latin typeface="Meiryo UI" pitchFamily="34" charset="0"/>
                <a:ea typeface="Meiryo UI" pitchFamily="34" charset="-122"/>
                <a:cs typeface="Meiryo UI" pitchFamily="34" charset="-120"/>
              </a:rPr>
              <a:t>北極星KPIへ</a:t>
            </a:r>
            <a:endParaRPr lang="en-US" sz="1200" dirty="0"/>
          </a:p>
        </p:txBody>
      </p:sp>
      <p:sp>
        <p:nvSpPr>
          <p:cNvPr id="34" name="Text 32"/>
          <p:cNvSpPr/>
          <p:nvPr/>
        </p:nvSpPr>
        <p:spPr>
          <a:xfrm>
            <a:off x="10415016" y="2788920"/>
            <a:ext cx="1773936" cy="2103120"/>
          </a:xfrm>
          <a:prstGeom prst="rect">
            <a:avLst/>
          </a:prstGeom>
          <a:noFill/>
          <a:ln/>
        </p:spPr>
        <p:txBody>
          <a:bodyPr wrap="square" lIns="0" tIns="0" rIns="0" bIns="0" rtlCol="0" anchor="ctr"/>
          <a:lstStyle/>
          <a:p>
            <a:pPr indent="0" marL="0">
              <a:lnSpc>
                <a:spcPct val="118000"/>
              </a:lnSpc>
              <a:buNone/>
            </a:pPr>
            <a:r>
              <a:rPr lang="en-US" sz="920" dirty="0">
                <a:solidFill>
                  <a:srgbClr val="1F2733"/>
                </a:solidFill>
                <a:latin typeface="Meiryo UI" pitchFamily="34" charset="0"/>
                <a:ea typeface="Meiryo UI" pitchFamily="34" charset="-122"/>
                <a:cs typeface="Meiryo UI" pitchFamily="34" charset="-120"/>
              </a:rPr>
              <a:t>北極星KPI（増分粗利）とユニークKPI群に接続し、統合報告書（IR）で開示 ― 変革を企業価値に翻訳する</a:t>
            </a:r>
            <a:endParaRPr lang="en-US" sz="920" dirty="0"/>
          </a:p>
        </p:txBody>
      </p:sp>
      <p:sp>
        <p:nvSpPr>
          <p:cNvPr id="35" name="Shape 33"/>
          <p:cNvSpPr/>
          <p:nvPr/>
        </p:nvSpPr>
        <p:spPr>
          <a:xfrm>
            <a:off x="502920" y="5257800"/>
            <a:ext cx="11185855" cy="1097280"/>
          </a:xfrm>
          <a:prstGeom prst="rect">
            <a:avLst/>
          </a:prstGeom>
          <a:solidFill>
            <a:srgbClr val="16233A"/>
          </a:solidFill>
          <a:ln/>
        </p:spPr>
      </p:sp>
      <p:sp>
        <p:nvSpPr>
          <p:cNvPr id="36" name="Text 34"/>
          <p:cNvSpPr/>
          <p:nvPr/>
        </p:nvSpPr>
        <p:spPr>
          <a:xfrm>
            <a:off x="731520" y="5294376"/>
            <a:ext cx="10728655" cy="1024128"/>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構造化の規律（3点）：</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①施策は「点」で終わらせず、線（施策間の連鎖）と面（事業モデル）まで設計する　②各テーマのHowは「前（環境・真因）の何を受け、後（KPI・他テーマ）の何につながるか」を必ず明記する　③情報量を増やさない ― 重点施策は8＋1に絞り、テーマ1つにつき見開き1枚で完結させる。</a:t>
            </a:r>
            <a:endParaRPr lang="en-US" sz="1030" dirty="0"/>
          </a:p>
        </p:txBody>
      </p:sp>
      <p:sp>
        <p:nvSpPr>
          <p:cNvPr id="37" name="Text 35"/>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前提 1/3</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環境の事実 ― オープンデータで確認する「market が動いた証拠」</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戦略の前提はすべて公開データで裏どりする（数値は要最新確認）。結論：数量市場は縮み、予防・健康と小売メディアとAI推奨に成長が移った</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517904"/>
            <a:ext cx="11185855" cy="676656"/>
          </a:xfrm>
          <a:prstGeom prst="rect">
            <a:avLst/>
          </a:prstGeom>
          <a:solidFill>
            <a:srgbClr val="F4F6F9"/>
          </a:solidFill>
          <a:ln w="9525">
            <a:solidFill>
              <a:srgbClr val="D9DEE6"/>
            </a:solidFill>
            <a:prstDash val="solid"/>
          </a:ln>
        </p:spPr>
      </p:sp>
      <p:sp>
        <p:nvSpPr>
          <p:cNvPr id="7" name="Shape 5"/>
          <p:cNvSpPr/>
          <p:nvPr/>
        </p:nvSpPr>
        <p:spPr>
          <a:xfrm>
            <a:off x="502920" y="1517904"/>
            <a:ext cx="64008" cy="676656"/>
          </a:xfrm>
          <a:prstGeom prst="rect">
            <a:avLst/>
          </a:prstGeom>
          <a:solidFill>
            <a:srgbClr val="C8102E"/>
          </a:solidFill>
          <a:ln/>
        </p:spPr>
      </p:sp>
      <p:sp>
        <p:nvSpPr>
          <p:cNvPr id="8" name="Text 6"/>
          <p:cNvSpPr/>
          <p:nvPr/>
        </p:nvSpPr>
        <p:spPr>
          <a:xfrm>
            <a:off x="667512" y="1563624"/>
            <a:ext cx="2377440" cy="585216"/>
          </a:xfrm>
          <a:prstGeom prst="rect">
            <a:avLst/>
          </a:prstGeom>
          <a:noFill/>
          <a:ln/>
        </p:spPr>
        <p:txBody>
          <a:bodyPr wrap="square" lIns="0" tIns="0" rIns="0" bIns="0" rtlCol="0" anchor="ctr"/>
          <a:lstStyle/>
          <a:p>
            <a:pPr indent="0" marL="0">
              <a:lnSpc>
                <a:spcPct val="105000"/>
              </a:lnSpc>
              <a:buNone/>
            </a:pPr>
            <a:r>
              <a:rPr lang="en-US" sz="980" b="1" dirty="0">
                <a:solidFill>
                  <a:srgbClr val="16233A"/>
                </a:solidFill>
                <a:latin typeface="Meiryo UI" pitchFamily="34" charset="0"/>
                <a:ea typeface="Meiryo UI" pitchFamily="34" charset="-122"/>
                <a:cs typeface="Meiryo UI" pitchFamily="34" charset="-120"/>
              </a:rPr>
              <a:t>市場の縮小と二極化</a:t>
            </a:r>
            <a:endParaRPr lang="en-US" sz="980" dirty="0"/>
          </a:p>
        </p:txBody>
      </p:sp>
      <p:sp>
        <p:nvSpPr>
          <p:cNvPr id="9" name="Text 7"/>
          <p:cNvSpPr/>
          <p:nvPr/>
        </p:nvSpPr>
        <p:spPr>
          <a:xfrm>
            <a:off x="3108960" y="1563624"/>
            <a:ext cx="6949440" cy="585216"/>
          </a:xfrm>
          <a:prstGeom prst="rect">
            <a:avLst/>
          </a:prstGeom>
          <a:noFill/>
          <a:ln/>
        </p:spPr>
        <p:txBody>
          <a:bodyPr wrap="square" lIns="0" tIns="0" rIns="0" bIns="0" rtlCol="0" anchor="ctr"/>
          <a:lstStyle/>
          <a:p>
            <a:pPr indent="0" marL="0">
              <a:lnSpc>
                <a:spcPct val="108000"/>
              </a:lnSpc>
              <a:buNone/>
            </a:pPr>
            <a:r>
              <a:rPr lang="en-US" sz="900" dirty="0">
                <a:solidFill>
                  <a:srgbClr val="1F2733"/>
                </a:solidFill>
                <a:latin typeface="Meiryo UI" pitchFamily="34" charset="0"/>
                <a:ea typeface="Meiryo UI" pitchFamily="34" charset="-122"/>
                <a:cs typeface="Meiryo UI" pitchFamily="34" charset="-120"/>
              </a:rPr>
              <a:t>国内日用品市場は数量ベースで構造縮小（▲10〜15%見込み）。PB拡大と値上げで中間価格帯が空洞化</a:t>
            </a:r>
            <a:endParaRPr lang="en-US" sz="900" dirty="0"/>
          </a:p>
        </p:txBody>
      </p:sp>
      <p:sp>
        <p:nvSpPr>
          <p:cNvPr id="10" name="Text 8"/>
          <p:cNvSpPr/>
          <p:nvPr/>
        </p:nvSpPr>
        <p:spPr>
          <a:xfrm>
            <a:off x="10104120" y="1563624"/>
            <a:ext cx="1554480" cy="585216"/>
          </a:xfrm>
          <a:prstGeom prst="rect">
            <a:avLst/>
          </a:prstGeom>
          <a:noFill/>
          <a:ln/>
        </p:spPr>
        <p:txBody>
          <a:bodyPr wrap="square" lIns="0" tIns="0" rIns="0" bIns="0" rtlCol="0" anchor="ctr"/>
          <a:lstStyle/>
          <a:p>
            <a:pPr indent="0" marL="0">
              <a:lnSpc>
                <a:spcPct val="105000"/>
              </a:lnSpc>
              <a:buNone/>
            </a:pPr>
            <a:r>
              <a:rPr lang="en-US" sz="780" dirty="0">
                <a:solidFill>
                  <a:srgbClr val="5A6472"/>
                </a:solidFill>
                <a:latin typeface="Meiryo UI" pitchFamily="34" charset="0"/>
                <a:ea typeface="Meiryo UI" pitchFamily="34" charset="-122"/>
                <a:cs typeface="Meiryo UI" pitchFamily="34" charset="-120"/>
              </a:rPr>
              <a:t>社内推計・業界統計</a:t>
            </a:r>
            <a:endParaRPr lang="en-US" sz="780" dirty="0"/>
          </a:p>
        </p:txBody>
      </p:sp>
      <p:sp>
        <p:nvSpPr>
          <p:cNvPr id="11" name="Shape 9"/>
          <p:cNvSpPr/>
          <p:nvPr/>
        </p:nvSpPr>
        <p:spPr>
          <a:xfrm>
            <a:off x="502920" y="2267712"/>
            <a:ext cx="11185855" cy="676656"/>
          </a:xfrm>
          <a:prstGeom prst="rect">
            <a:avLst/>
          </a:prstGeom>
          <a:solidFill>
            <a:srgbClr val="F4F6F9"/>
          </a:solidFill>
          <a:ln w="9525">
            <a:solidFill>
              <a:srgbClr val="D9DEE6"/>
            </a:solidFill>
            <a:prstDash val="solid"/>
          </a:ln>
        </p:spPr>
      </p:sp>
      <p:sp>
        <p:nvSpPr>
          <p:cNvPr id="12" name="Shape 10"/>
          <p:cNvSpPr/>
          <p:nvPr/>
        </p:nvSpPr>
        <p:spPr>
          <a:xfrm>
            <a:off x="502920" y="2267712"/>
            <a:ext cx="64008" cy="676656"/>
          </a:xfrm>
          <a:prstGeom prst="rect">
            <a:avLst/>
          </a:prstGeom>
          <a:solidFill>
            <a:srgbClr val="2C5F2D"/>
          </a:solidFill>
          <a:ln/>
        </p:spPr>
      </p:sp>
      <p:sp>
        <p:nvSpPr>
          <p:cNvPr id="13" name="Text 11"/>
          <p:cNvSpPr/>
          <p:nvPr/>
        </p:nvSpPr>
        <p:spPr>
          <a:xfrm>
            <a:off x="667512" y="2313432"/>
            <a:ext cx="2377440" cy="585216"/>
          </a:xfrm>
          <a:prstGeom prst="rect">
            <a:avLst/>
          </a:prstGeom>
          <a:noFill/>
          <a:ln/>
        </p:spPr>
        <p:txBody>
          <a:bodyPr wrap="square" lIns="0" tIns="0" rIns="0" bIns="0" rtlCol="0" anchor="ctr"/>
          <a:lstStyle/>
          <a:p>
            <a:pPr indent="0" marL="0">
              <a:lnSpc>
                <a:spcPct val="105000"/>
              </a:lnSpc>
              <a:buNone/>
            </a:pPr>
            <a:r>
              <a:rPr lang="en-US" sz="980" b="1" dirty="0">
                <a:solidFill>
                  <a:srgbClr val="16233A"/>
                </a:solidFill>
                <a:latin typeface="Meiryo UI" pitchFamily="34" charset="0"/>
                <a:ea typeface="Meiryo UI" pitchFamily="34" charset="-122"/>
                <a:cs typeface="Meiryo UI" pitchFamily="34" charset="-120"/>
              </a:rPr>
              <a:t>予防・健康の拡大</a:t>
            </a:r>
            <a:endParaRPr lang="en-US" sz="980" dirty="0"/>
          </a:p>
        </p:txBody>
      </p:sp>
      <p:sp>
        <p:nvSpPr>
          <p:cNvPr id="14" name="Text 12"/>
          <p:cNvSpPr/>
          <p:nvPr/>
        </p:nvSpPr>
        <p:spPr>
          <a:xfrm>
            <a:off x="3108960" y="2313432"/>
            <a:ext cx="6949440" cy="585216"/>
          </a:xfrm>
          <a:prstGeom prst="rect">
            <a:avLst/>
          </a:prstGeom>
          <a:noFill/>
          <a:ln/>
        </p:spPr>
        <p:txBody>
          <a:bodyPr wrap="square" lIns="0" tIns="0" rIns="0" bIns="0" rtlCol="0" anchor="ctr"/>
          <a:lstStyle/>
          <a:p>
            <a:pPr indent="0" marL="0">
              <a:lnSpc>
                <a:spcPct val="108000"/>
              </a:lnSpc>
              <a:buNone/>
            </a:pPr>
            <a:r>
              <a:rPr lang="en-US" sz="900" dirty="0">
                <a:solidFill>
                  <a:srgbClr val="1F2733"/>
                </a:solidFill>
                <a:latin typeface="Meiryo UI" pitchFamily="34" charset="0"/>
                <a:ea typeface="Meiryo UI" pitchFamily="34" charset="-122"/>
                <a:cs typeface="Meiryo UI" pitchFamily="34" charset="-120"/>
              </a:rPr>
              <a:t>65歳以上が人口の約3割、社会保障給付は年約140兆円規模。国民皆歯科健診は骨太の方針（2022）に明記され制度化検討が進行</a:t>
            </a:r>
            <a:endParaRPr lang="en-US" sz="900" dirty="0"/>
          </a:p>
        </p:txBody>
      </p:sp>
      <p:sp>
        <p:nvSpPr>
          <p:cNvPr id="15" name="Text 13"/>
          <p:cNvSpPr/>
          <p:nvPr/>
        </p:nvSpPr>
        <p:spPr>
          <a:xfrm>
            <a:off x="10104120" y="2313432"/>
            <a:ext cx="1554480" cy="585216"/>
          </a:xfrm>
          <a:prstGeom prst="rect">
            <a:avLst/>
          </a:prstGeom>
          <a:noFill/>
          <a:ln/>
        </p:spPr>
        <p:txBody>
          <a:bodyPr wrap="square" lIns="0" tIns="0" rIns="0" bIns="0" rtlCol="0" anchor="ctr"/>
          <a:lstStyle/>
          <a:p>
            <a:pPr indent="0" marL="0">
              <a:lnSpc>
                <a:spcPct val="105000"/>
              </a:lnSpc>
              <a:buNone/>
            </a:pPr>
            <a:r>
              <a:rPr lang="en-US" sz="780" dirty="0">
                <a:solidFill>
                  <a:srgbClr val="5A6472"/>
                </a:solidFill>
                <a:latin typeface="Meiryo UI" pitchFamily="34" charset="0"/>
                <a:ea typeface="Meiryo UI" pitchFamily="34" charset="-122"/>
                <a:cs typeface="Meiryo UI" pitchFamily="34" charset="-120"/>
              </a:rPr>
              <a:t>総務省・厚労省・内閣府</a:t>
            </a:r>
            <a:endParaRPr lang="en-US" sz="780" dirty="0"/>
          </a:p>
        </p:txBody>
      </p:sp>
      <p:sp>
        <p:nvSpPr>
          <p:cNvPr id="16" name="Shape 14"/>
          <p:cNvSpPr/>
          <p:nvPr/>
        </p:nvSpPr>
        <p:spPr>
          <a:xfrm>
            <a:off x="502920" y="3017520"/>
            <a:ext cx="11185855" cy="676656"/>
          </a:xfrm>
          <a:prstGeom prst="rect">
            <a:avLst/>
          </a:prstGeom>
          <a:solidFill>
            <a:srgbClr val="F4F6F9"/>
          </a:solidFill>
          <a:ln w="9525">
            <a:solidFill>
              <a:srgbClr val="D9DEE6"/>
            </a:solidFill>
            <a:prstDash val="solid"/>
          </a:ln>
        </p:spPr>
      </p:sp>
      <p:sp>
        <p:nvSpPr>
          <p:cNvPr id="17" name="Shape 15"/>
          <p:cNvSpPr/>
          <p:nvPr/>
        </p:nvSpPr>
        <p:spPr>
          <a:xfrm>
            <a:off x="502920" y="3017520"/>
            <a:ext cx="64008" cy="676656"/>
          </a:xfrm>
          <a:prstGeom prst="rect">
            <a:avLst/>
          </a:prstGeom>
          <a:solidFill>
            <a:srgbClr val="2C5F2D"/>
          </a:solidFill>
          <a:ln/>
        </p:spPr>
      </p:sp>
      <p:sp>
        <p:nvSpPr>
          <p:cNvPr id="18" name="Text 16"/>
          <p:cNvSpPr/>
          <p:nvPr/>
        </p:nvSpPr>
        <p:spPr>
          <a:xfrm>
            <a:off x="667512" y="3063240"/>
            <a:ext cx="2377440" cy="585216"/>
          </a:xfrm>
          <a:prstGeom prst="rect">
            <a:avLst/>
          </a:prstGeom>
          <a:noFill/>
          <a:ln/>
        </p:spPr>
        <p:txBody>
          <a:bodyPr wrap="square" lIns="0" tIns="0" rIns="0" bIns="0" rtlCol="0" anchor="ctr"/>
          <a:lstStyle/>
          <a:p>
            <a:pPr indent="0" marL="0">
              <a:lnSpc>
                <a:spcPct val="105000"/>
              </a:lnSpc>
              <a:buNone/>
            </a:pPr>
            <a:r>
              <a:rPr lang="en-US" sz="980" b="1" dirty="0">
                <a:solidFill>
                  <a:srgbClr val="16233A"/>
                </a:solidFill>
                <a:latin typeface="Meiryo UI" pitchFamily="34" charset="0"/>
                <a:ea typeface="Meiryo UI" pitchFamily="34" charset="-122"/>
                <a:cs typeface="Meiryo UI" pitchFamily="34" charset="-120"/>
              </a:rPr>
              <a:t>オーラルケアの相対的成長</a:t>
            </a:r>
            <a:endParaRPr lang="en-US" sz="980" dirty="0"/>
          </a:p>
        </p:txBody>
      </p:sp>
      <p:sp>
        <p:nvSpPr>
          <p:cNvPr id="19" name="Text 17"/>
          <p:cNvSpPr/>
          <p:nvPr/>
        </p:nvSpPr>
        <p:spPr>
          <a:xfrm>
            <a:off x="3108960" y="3063240"/>
            <a:ext cx="6949440" cy="585216"/>
          </a:xfrm>
          <a:prstGeom prst="rect">
            <a:avLst/>
          </a:prstGeom>
          <a:noFill/>
          <a:ln/>
        </p:spPr>
        <p:txBody>
          <a:bodyPr wrap="square" lIns="0" tIns="0" rIns="0" bIns="0" rtlCol="0" anchor="ctr"/>
          <a:lstStyle/>
          <a:p>
            <a:pPr indent="0" marL="0">
              <a:lnSpc>
                <a:spcPct val="108000"/>
              </a:lnSpc>
              <a:buNone/>
            </a:pPr>
            <a:r>
              <a:rPr lang="en-US" sz="900" dirty="0">
                <a:solidFill>
                  <a:srgbClr val="1F2733"/>
                </a:solidFill>
                <a:latin typeface="Meiryo UI" pitchFamily="34" charset="0"/>
                <a:ea typeface="Meiryo UI" pitchFamily="34" charset="-122"/>
                <a:cs typeface="Meiryo UI" pitchFamily="34" charset="-120"/>
              </a:rPr>
              <a:t>国内オーラルケア市場は約4,000〜5,000億円で日雑の中では数少ない成長カテゴリ。ライオンはハミガキ・ハブラシ国内シェア首位</a:t>
            </a:r>
            <a:endParaRPr lang="en-US" sz="900" dirty="0"/>
          </a:p>
        </p:txBody>
      </p:sp>
      <p:sp>
        <p:nvSpPr>
          <p:cNvPr id="20" name="Text 18"/>
          <p:cNvSpPr/>
          <p:nvPr/>
        </p:nvSpPr>
        <p:spPr>
          <a:xfrm>
            <a:off x="10104120" y="3063240"/>
            <a:ext cx="1554480" cy="585216"/>
          </a:xfrm>
          <a:prstGeom prst="rect">
            <a:avLst/>
          </a:prstGeom>
          <a:noFill/>
          <a:ln/>
        </p:spPr>
        <p:txBody>
          <a:bodyPr wrap="square" lIns="0" tIns="0" rIns="0" bIns="0" rtlCol="0" anchor="ctr"/>
          <a:lstStyle/>
          <a:p>
            <a:pPr indent="0" marL="0">
              <a:lnSpc>
                <a:spcPct val="105000"/>
              </a:lnSpc>
              <a:buNone/>
            </a:pPr>
            <a:r>
              <a:rPr lang="en-US" sz="780" dirty="0">
                <a:solidFill>
                  <a:srgbClr val="5A6472"/>
                </a:solidFill>
                <a:latin typeface="Meiryo UI" pitchFamily="34" charset="0"/>
                <a:ea typeface="Meiryo UI" pitchFamily="34" charset="-122"/>
                <a:cs typeface="Meiryo UI" pitchFamily="34" charset="-120"/>
              </a:rPr>
              <a:t>業界調査（富士経済等）・要確認</a:t>
            </a:r>
            <a:endParaRPr lang="en-US" sz="780" dirty="0"/>
          </a:p>
        </p:txBody>
      </p:sp>
      <p:sp>
        <p:nvSpPr>
          <p:cNvPr id="21" name="Shape 19"/>
          <p:cNvSpPr/>
          <p:nvPr/>
        </p:nvSpPr>
        <p:spPr>
          <a:xfrm>
            <a:off x="502920" y="3767328"/>
            <a:ext cx="11185855" cy="676656"/>
          </a:xfrm>
          <a:prstGeom prst="rect">
            <a:avLst/>
          </a:prstGeom>
          <a:solidFill>
            <a:srgbClr val="F4F6F9"/>
          </a:solidFill>
          <a:ln w="9525">
            <a:solidFill>
              <a:srgbClr val="D9DEE6"/>
            </a:solidFill>
            <a:prstDash val="solid"/>
          </a:ln>
        </p:spPr>
      </p:sp>
      <p:sp>
        <p:nvSpPr>
          <p:cNvPr id="22" name="Shape 20"/>
          <p:cNvSpPr/>
          <p:nvPr/>
        </p:nvSpPr>
        <p:spPr>
          <a:xfrm>
            <a:off x="502920" y="3767328"/>
            <a:ext cx="64008" cy="676656"/>
          </a:xfrm>
          <a:prstGeom prst="rect">
            <a:avLst/>
          </a:prstGeom>
          <a:solidFill>
            <a:srgbClr val="0F5E87"/>
          </a:solidFill>
          <a:ln/>
        </p:spPr>
      </p:sp>
      <p:sp>
        <p:nvSpPr>
          <p:cNvPr id="23" name="Text 21"/>
          <p:cNvSpPr/>
          <p:nvPr/>
        </p:nvSpPr>
        <p:spPr>
          <a:xfrm>
            <a:off x="667512" y="3813048"/>
            <a:ext cx="2377440" cy="585216"/>
          </a:xfrm>
          <a:prstGeom prst="rect">
            <a:avLst/>
          </a:prstGeom>
          <a:noFill/>
          <a:ln/>
        </p:spPr>
        <p:txBody>
          <a:bodyPr wrap="square" lIns="0" tIns="0" rIns="0" bIns="0" rtlCol="0" anchor="ctr"/>
          <a:lstStyle/>
          <a:p>
            <a:pPr indent="0" marL="0">
              <a:lnSpc>
                <a:spcPct val="105000"/>
              </a:lnSpc>
              <a:buNone/>
            </a:pPr>
            <a:r>
              <a:rPr lang="en-US" sz="980" b="1" dirty="0">
                <a:solidFill>
                  <a:srgbClr val="16233A"/>
                </a:solidFill>
                <a:latin typeface="Meiryo UI" pitchFamily="34" charset="0"/>
                <a:ea typeface="Meiryo UI" pitchFamily="34" charset="-122"/>
                <a:cs typeface="Meiryo UI" pitchFamily="34" charset="-120"/>
              </a:rPr>
              <a:t>小売のメディア化</a:t>
            </a:r>
            <a:endParaRPr lang="en-US" sz="980" dirty="0"/>
          </a:p>
        </p:txBody>
      </p:sp>
      <p:sp>
        <p:nvSpPr>
          <p:cNvPr id="24" name="Text 22"/>
          <p:cNvSpPr/>
          <p:nvPr/>
        </p:nvSpPr>
        <p:spPr>
          <a:xfrm>
            <a:off x="3108960" y="3813048"/>
            <a:ext cx="6949440" cy="585216"/>
          </a:xfrm>
          <a:prstGeom prst="rect">
            <a:avLst/>
          </a:prstGeom>
          <a:noFill/>
          <a:ln/>
        </p:spPr>
        <p:txBody>
          <a:bodyPr wrap="square" lIns="0" tIns="0" rIns="0" bIns="0" rtlCol="0" anchor="ctr"/>
          <a:lstStyle/>
          <a:p>
            <a:pPr indent="0" marL="0">
              <a:lnSpc>
                <a:spcPct val="108000"/>
              </a:lnSpc>
              <a:buNone/>
            </a:pPr>
            <a:r>
              <a:rPr lang="en-US" sz="900" dirty="0">
                <a:solidFill>
                  <a:srgbClr val="1F2733"/>
                </a:solidFill>
                <a:latin typeface="Meiryo UI" pitchFamily="34" charset="0"/>
                <a:ea typeface="Meiryo UI" pitchFamily="34" charset="-122"/>
                <a:cs typeface="Meiryo UI" pitchFamily="34" charset="-120"/>
              </a:rPr>
              <a:t>国内リテールメディア広告市場は2029年に約1.3兆円へ拡大予測（2025年比で約2倍超）</a:t>
            </a:r>
            <a:endParaRPr lang="en-US" sz="900" dirty="0"/>
          </a:p>
        </p:txBody>
      </p:sp>
      <p:sp>
        <p:nvSpPr>
          <p:cNvPr id="25" name="Text 23"/>
          <p:cNvSpPr/>
          <p:nvPr/>
        </p:nvSpPr>
        <p:spPr>
          <a:xfrm>
            <a:off x="10104120" y="3813048"/>
            <a:ext cx="1554480" cy="585216"/>
          </a:xfrm>
          <a:prstGeom prst="rect">
            <a:avLst/>
          </a:prstGeom>
          <a:noFill/>
          <a:ln/>
        </p:spPr>
        <p:txBody>
          <a:bodyPr wrap="square" lIns="0" tIns="0" rIns="0" bIns="0" rtlCol="0" anchor="ctr"/>
          <a:lstStyle/>
          <a:p>
            <a:pPr indent="0" marL="0">
              <a:lnSpc>
                <a:spcPct val="105000"/>
              </a:lnSpc>
              <a:buNone/>
            </a:pPr>
            <a:r>
              <a:rPr lang="en-US" sz="780" dirty="0">
                <a:solidFill>
                  <a:srgbClr val="5A6472"/>
                </a:solidFill>
                <a:latin typeface="Meiryo UI" pitchFamily="34" charset="0"/>
                <a:ea typeface="Meiryo UI" pitchFamily="34" charset="-122"/>
                <a:cs typeface="Meiryo UI" pitchFamily="34" charset="-120"/>
              </a:rPr>
              <a:t>CARTA HOLDINGS調査</a:t>
            </a:r>
            <a:endParaRPr lang="en-US" sz="780" dirty="0"/>
          </a:p>
        </p:txBody>
      </p:sp>
      <p:sp>
        <p:nvSpPr>
          <p:cNvPr id="26" name="Shape 24"/>
          <p:cNvSpPr/>
          <p:nvPr/>
        </p:nvSpPr>
        <p:spPr>
          <a:xfrm>
            <a:off x="502920" y="4517136"/>
            <a:ext cx="11185855" cy="676656"/>
          </a:xfrm>
          <a:prstGeom prst="rect">
            <a:avLst/>
          </a:prstGeom>
          <a:solidFill>
            <a:srgbClr val="F4F6F9"/>
          </a:solidFill>
          <a:ln w="9525">
            <a:solidFill>
              <a:srgbClr val="D9DEE6"/>
            </a:solidFill>
            <a:prstDash val="solid"/>
          </a:ln>
        </p:spPr>
      </p:sp>
      <p:sp>
        <p:nvSpPr>
          <p:cNvPr id="27" name="Shape 25"/>
          <p:cNvSpPr/>
          <p:nvPr/>
        </p:nvSpPr>
        <p:spPr>
          <a:xfrm>
            <a:off x="502920" y="4517136"/>
            <a:ext cx="64008" cy="676656"/>
          </a:xfrm>
          <a:prstGeom prst="rect">
            <a:avLst/>
          </a:prstGeom>
          <a:solidFill>
            <a:srgbClr val="0F5E87"/>
          </a:solidFill>
          <a:ln/>
        </p:spPr>
      </p:sp>
      <p:sp>
        <p:nvSpPr>
          <p:cNvPr id="28" name="Text 26"/>
          <p:cNvSpPr/>
          <p:nvPr/>
        </p:nvSpPr>
        <p:spPr>
          <a:xfrm>
            <a:off x="667512" y="4562856"/>
            <a:ext cx="2377440" cy="585216"/>
          </a:xfrm>
          <a:prstGeom prst="rect">
            <a:avLst/>
          </a:prstGeom>
          <a:noFill/>
          <a:ln/>
        </p:spPr>
        <p:txBody>
          <a:bodyPr wrap="square" lIns="0" tIns="0" rIns="0" bIns="0" rtlCol="0" anchor="ctr"/>
          <a:lstStyle/>
          <a:p>
            <a:pPr indent="0" marL="0">
              <a:lnSpc>
                <a:spcPct val="105000"/>
              </a:lnSpc>
              <a:buNone/>
            </a:pPr>
            <a:r>
              <a:rPr lang="en-US" sz="980" b="1" dirty="0">
                <a:solidFill>
                  <a:srgbClr val="16233A"/>
                </a:solidFill>
                <a:latin typeface="Meiryo UI" pitchFamily="34" charset="0"/>
                <a:ea typeface="Meiryo UI" pitchFamily="34" charset="-122"/>
                <a:cs typeface="Meiryo UI" pitchFamily="34" charset="-120"/>
              </a:rPr>
              <a:t>検索・購買のAI化</a:t>
            </a:r>
            <a:endParaRPr lang="en-US" sz="980" dirty="0"/>
          </a:p>
        </p:txBody>
      </p:sp>
      <p:sp>
        <p:nvSpPr>
          <p:cNvPr id="29" name="Text 27"/>
          <p:cNvSpPr/>
          <p:nvPr/>
        </p:nvSpPr>
        <p:spPr>
          <a:xfrm>
            <a:off x="3108960" y="4562856"/>
            <a:ext cx="6949440" cy="585216"/>
          </a:xfrm>
          <a:prstGeom prst="rect">
            <a:avLst/>
          </a:prstGeom>
          <a:noFill/>
          <a:ln/>
        </p:spPr>
        <p:txBody>
          <a:bodyPr wrap="square" lIns="0" tIns="0" rIns="0" bIns="0" rtlCol="0" anchor="ctr"/>
          <a:lstStyle/>
          <a:p>
            <a:pPr indent="0" marL="0">
              <a:lnSpc>
                <a:spcPct val="108000"/>
              </a:lnSpc>
              <a:buNone/>
            </a:pPr>
            <a:r>
              <a:rPr lang="en-US" sz="900" dirty="0">
                <a:solidFill>
                  <a:srgbClr val="1F2733"/>
                </a:solidFill>
                <a:latin typeface="Meiryo UI" pitchFamily="34" charset="0"/>
                <a:ea typeface="Meiryo UI" pitchFamily="34" charset="-122"/>
                <a:cs typeface="Meiryo UI" pitchFamily="34" charset="-120"/>
              </a:rPr>
              <a:t>調べ物の66.4%はサイトを開かず完結（ゼロクリック）。米国では2025年にAI画面内決済・購入代行が開始、決済の共通規格化も進行</a:t>
            </a:r>
            <a:endParaRPr lang="en-US" sz="900" dirty="0"/>
          </a:p>
        </p:txBody>
      </p:sp>
      <p:sp>
        <p:nvSpPr>
          <p:cNvPr id="30" name="Text 28"/>
          <p:cNvSpPr/>
          <p:nvPr/>
        </p:nvSpPr>
        <p:spPr>
          <a:xfrm>
            <a:off x="10104120" y="4562856"/>
            <a:ext cx="1554480" cy="585216"/>
          </a:xfrm>
          <a:prstGeom prst="rect">
            <a:avLst/>
          </a:prstGeom>
          <a:noFill/>
          <a:ln/>
        </p:spPr>
        <p:txBody>
          <a:bodyPr wrap="square" lIns="0" tIns="0" rIns="0" bIns="0" rtlCol="0" anchor="ctr"/>
          <a:lstStyle/>
          <a:p>
            <a:pPr indent="0" marL="0">
              <a:lnSpc>
                <a:spcPct val="105000"/>
              </a:lnSpc>
              <a:buNone/>
            </a:pPr>
            <a:r>
              <a:rPr lang="en-US" sz="780" dirty="0">
                <a:solidFill>
                  <a:srgbClr val="5A6472"/>
                </a:solidFill>
                <a:latin typeface="Meiryo UI" pitchFamily="34" charset="0"/>
                <a:ea typeface="Meiryo UI" pitchFamily="34" charset="-122"/>
                <a:cs typeface="Meiryo UI" pitchFamily="34" charset="-120"/>
              </a:rPr>
              <a:t>ヴァリューズ調査・各社公表</a:t>
            </a:r>
            <a:endParaRPr lang="en-US" sz="780" dirty="0"/>
          </a:p>
        </p:txBody>
      </p:sp>
      <p:sp>
        <p:nvSpPr>
          <p:cNvPr id="31" name="Shape 29"/>
          <p:cNvSpPr/>
          <p:nvPr/>
        </p:nvSpPr>
        <p:spPr>
          <a:xfrm>
            <a:off x="502920" y="5266944"/>
            <a:ext cx="11185855" cy="676656"/>
          </a:xfrm>
          <a:prstGeom prst="rect">
            <a:avLst/>
          </a:prstGeom>
          <a:solidFill>
            <a:srgbClr val="F4F6F9"/>
          </a:solidFill>
          <a:ln w="9525">
            <a:solidFill>
              <a:srgbClr val="D9DEE6"/>
            </a:solidFill>
            <a:prstDash val="solid"/>
          </a:ln>
        </p:spPr>
      </p:sp>
      <p:sp>
        <p:nvSpPr>
          <p:cNvPr id="32" name="Shape 30"/>
          <p:cNvSpPr/>
          <p:nvPr/>
        </p:nvSpPr>
        <p:spPr>
          <a:xfrm>
            <a:off x="502920" y="5266944"/>
            <a:ext cx="64008" cy="676656"/>
          </a:xfrm>
          <a:prstGeom prst="rect">
            <a:avLst/>
          </a:prstGeom>
          <a:solidFill>
            <a:srgbClr val="B87A2A"/>
          </a:solidFill>
          <a:ln/>
        </p:spPr>
      </p:sp>
      <p:sp>
        <p:nvSpPr>
          <p:cNvPr id="33" name="Text 31"/>
          <p:cNvSpPr/>
          <p:nvPr/>
        </p:nvSpPr>
        <p:spPr>
          <a:xfrm>
            <a:off x="667512" y="5312664"/>
            <a:ext cx="2377440" cy="585216"/>
          </a:xfrm>
          <a:prstGeom prst="rect">
            <a:avLst/>
          </a:prstGeom>
          <a:noFill/>
          <a:ln/>
        </p:spPr>
        <p:txBody>
          <a:bodyPr wrap="square" lIns="0" tIns="0" rIns="0" bIns="0" rtlCol="0" anchor="ctr"/>
          <a:lstStyle/>
          <a:p>
            <a:pPr indent="0" marL="0">
              <a:lnSpc>
                <a:spcPct val="105000"/>
              </a:lnSpc>
              <a:buNone/>
            </a:pPr>
            <a:r>
              <a:rPr lang="en-US" sz="980" b="1" dirty="0">
                <a:solidFill>
                  <a:srgbClr val="16233A"/>
                </a:solidFill>
                <a:latin typeface="Meiryo UI" pitchFamily="34" charset="0"/>
                <a:ea typeface="Meiryo UI" pitchFamily="34" charset="-122"/>
                <a:cs typeface="Meiryo UI" pitchFamily="34" charset="-120"/>
              </a:rPr>
              <a:t>日用品ECの現在地</a:t>
            </a:r>
            <a:endParaRPr lang="en-US" sz="980" dirty="0"/>
          </a:p>
        </p:txBody>
      </p:sp>
      <p:sp>
        <p:nvSpPr>
          <p:cNvPr id="34" name="Text 32"/>
          <p:cNvSpPr/>
          <p:nvPr/>
        </p:nvSpPr>
        <p:spPr>
          <a:xfrm>
            <a:off x="3108960" y="5312664"/>
            <a:ext cx="6949440" cy="585216"/>
          </a:xfrm>
          <a:prstGeom prst="rect">
            <a:avLst/>
          </a:prstGeom>
          <a:noFill/>
          <a:ln/>
        </p:spPr>
        <p:txBody>
          <a:bodyPr wrap="square" lIns="0" tIns="0" rIns="0" bIns="0" rtlCol="0" anchor="ctr"/>
          <a:lstStyle/>
          <a:p>
            <a:pPr indent="0" marL="0">
              <a:lnSpc>
                <a:spcPct val="108000"/>
              </a:lnSpc>
              <a:buNone/>
            </a:pPr>
            <a:r>
              <a:rPr lang="en-US" sz="900" dirty="0">
                <a:solidFill>
                  <a:srgbClr val="1F2733"/>
                </a:solidFill>
                <a:latin typeface="Meiryo UI" pitchFamily="34" charset="0"/>
                <a:ea typeface="Meiryo UI" pitchFamily="34" charset="-122"/>
                <a:cs typeface="Meiryo UI" pitchFamily="34" charset="-120"/>
              </a:rPr>
              <a:t>日用品のEC化率は1割前後にとどまる ― ただしAIの影響は「どこで買うか」より先に「何を買うか（指名）」に現れるため、店頭主体の今こそAI対応が必要</a:t>
            </a:r>
            <a:endParaRPr lang="en-US" sz="900" dirty="0"/>
          </a:p>
        </p:txBody>
      </p:sp>
      <p:sp>
        <p:nvSpPr>
          <p:cNvPr id="35" name="Text 33"/>
          <p:cNvSpPr/>
          <p:nvPr/>
        </p:nvSpPr>
        <p:spPr>
          <a:xfrm>
            <a:off x="10104120" y="5312664"/>
            <a:ext cx="1554480" cy="585216"/>
          </a:xfrm>
          <a:prstGeom prst="rect">
            <a:avLst/>
          </a:prstGeom>
          <a:noFill/>
          <a:ln/>
        </p:spPr>
        <p:txBody>
          <a:bodyPr wrap="square" lIns="0" tIns="0" rIns="0" bIns="0" rtlCol="0" anchor="ctr"/>
          <a:lstStyle/>
          <a:p>
            <a:pPr indent="0" marL="0">
              <a:lnSpc>
                <a:spcPct val="105000"/>
              </a:lnSpc>
              <a:buNone/>
            </a:pPr>
            <a:r>
              <a:rPr lang="en-US" sz="780" dirty="0">
                <a:solidFill>
                  <a:srgbClr val="5A6472"/>
                </a:solidFill>
                <a:latin typeface="Meiryo UI" pitchFamily="34" charset="0"/>
                <a:ea typeface="Meiryo UI" pitchFamily="34" charset="-122"/>
                <a:cs typeface="Meiryo UI" pitchFamily="34" charset="-120"/>
              </a:rPr>
              <a:t>経産省EC市場調査</a:t>
            </a:r>
            <a:endParaRPr lang="en-US" sz="780" dirty="0"/>
          </a:p>
        </p:txBody>
      </p:sp>
      <p:sp>
        <p:nvSpPr>
          <p:cNvPr id="36" name="Shape 34"/>
          <p:cNvSpPr/>
          <p:nvPr/>
        </p:nvSpPr>
        <p:spPr>
          <a:xfrm>
            <a:off x="502920" y="6080760"/>
            <a:ext cx="11185855" cy="457200"/>
          </a:xfrm>
          <a:prstGeom prst="rect">
            <a:avLst/>
          </a:prstGeom>
          <a:solidFill>
            <a:srgbClr val="16233A"/>
          </a:solidFill>
          <a:ln/>
        </p:spPr>
      </p:sp>
      <p:sp>
        <p:nvSpPr>
          <p:cNvPr id="37" name="Text 35"/>
          <p:cNvSpPr/>
          <p:nvPr/>
        </p:nvSpPr>
        <p:spPr>
          <a:xfrm>
            <a:off x="731520" y="6117336"/>
            <a:ext cx="10728655" cy="384048"/>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含意：</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「数量を売る市場」の外側 ― 予防・健康時間、小売の広告収益、AIの推奨リスト ― に成長が移った。5つの経営テーマは、この移動先で勝つための問いである。</a:t>
            </a:r>
            <a:endParaRPr lang="en-US" sz="1030" dirty="0"/>
          </a:p>
        </p:txBody>
      </p:sp>
      <p:sp>
        <p:nvSpPr>
          <p:cNvPr id="38" name="Text 36"/>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前提 2/3</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購入前の「情報接点」のシフト試算 ― オープンデータにもとづく再計算</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公開調査から従来モデルを組み立て、実測データでAI利用者モデルへ移行させた試算（計算方法と出典は巻末付録）。数値は仮定を含み、FY26のAIEO実測で自社版に置き換える</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185855" cy="914400"/>
        </p:xfrm>
        <a:graphic>
          <a:graphicData uri="http://schemas.openxmlformats.org/drawingml/2006/table">
            <a:tbl>
              <a:tblPr/>
              <a:tblGrid>
                <a:gridCol w="1645920"/>
                <a:gridCol w="640080"/>
                <a:gridCol w="822960"/>
                <a:gridCol w="4892040"/>
                <a:gridCol w="3182112"/>
              </a:tblGrid>
              <a:tr h="329184">
                <a:tc>
                  <a:txBody>
                    <a:bodyPr/>
                    <a:lstStyle/>
                    <a:p>
                      <a:pPr algn="ctr" indent="0" marL="0">
                        <a:buNone/>
                      </a:pPr>
                      <a:r>
                        <a:rPr lang="en-US" sz="880" b="1" dirty="0">
                          <a:solidFill>
                            <a:srgbClr val="FFFFFF"/>
                          </a:solidFill>
                          <a:latin typeface="Meiryo UI" pitchFamily="34" charset="0"/>
                          <a:ea typeface="Meiryo UI" pitchFamily="34" charset="-122"/>
                          <a:cs typeface="Meiryo UI" pitchFamily="34" charset="-120"/>
                        </a:rPr>
                        <a:t>接点</a:t>
                      </a:r>
                      <a:endParaRPr lang="en-US" sz="88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880" b="1" dirty="0">
                          <a:solidFill>
                            <a:srgbClr val="FFFFFF"/>
                          </a:solidFill>
                          <a:latin typeface="Meiryo UI" pitchFamily="34" charset="0"/>
                          <a:ea typeface="Meiryo UI" pitchFamily="34" charset="-122"/>
                          <a:cs typeface="Meiryo UI" pitchFamily="34" charset="-120"/>
                        </a:rPr>
                        <a:t>従来</a:t>
                      </a:r>
                      <a:endParaRPr lang="en-US" sz="88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880" b="1" dirty="0">
                          <a:solidFill>
                            <a:srgbClr val="FFFFFF"/>
                          </a:solidFill>
                          <a:latin typeface="Meiryo UI" pitchFamily="34" charset="0"/>
                          <a:ea typeface="Meiryo UI" pitchFamily="34" charset="-122"/>
                          <a:cs typeface="Meiryo UI" pitchFamily="34" charset="-120"/>
                        </a:rPr>
                        <a:t>AI利用者</a:t>
                      </a:r>
                      <a:endParaRPr lang="en-US" sz="880" dirty="0">
                        <a:latin typeface="Meiryo UI" charset="0"/>
                        <a:ea typeface="Meiryo UI" charset="0"/>
                        <a:cs typeface="Meiryo UI" charset="0"/>
                      </a:endParaRPr>
                    </a:p>
                    <a:p>
                      <a:pPr algn="ctr" indent="0" marL="0">
                        <a:buNone/>
                      </a:pPr>
                      <a:r>
                        <a:rPr lang="en-US" sz="880" b="1" dirty="0">
                          <a:solidFill>
                            <a:srgbClr val="FFFFFF"/>
                          </a:solidFill>
                          <a:latin typeface="Meiryo UI" pitchFamily="34" charset="0"/>
                          <a:ea typeface="Meiryo UI" pitchFamily="34" charset="-122"/>
                          <a:cs typeface="Meiryo UI" pitchFamily="34" charset="-120"/>
                        </a:rPr>
                        <a:t>（試算）</a:t>
                      </a:r>
                      <a:endParaRPr lang="en-US" sz="88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880" b="1" dirty="0">
                          <a:solidFill>
                            <a:srgbClr val="FFFFFF"/>
                          </a:solidFill>
                          <a:latin typeface="Meiryo UI" pitchFamily="34" charset="0"/>
                          <a:ea typeface="Meiryo UI" pitchFamily="34" charset="-122"/>
                          <a:cs typeface="Meiryo UI" pitchFamily="34" charset="-120"/>
                        </a:rPr>
                        <a:t>主な変化と根拠〔出典〕</a:t>
                      </a:r>
                      <a:endParaRPr lang="en-US" sz="88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880" b="1" dirty="0">
                          <a:solidFill>
                            <a:srgbClr val="FFFFFF"/>
                          </a:solidFill>
                          <a:latin typeface="Meiryo UI" pitchFamily="34" charset="0"/>
                          <a:ea typeface="Meiryo UI" pitchFamily="34" charset="-122"/>
                          <a:cs typeface="Meiryo UI" pitchFamily="34" charset="-120"/>
                        </a:rPr>
                        <a:t>ライオンの打ち手（対応テーマ）</a:t>
                      </a:r>
                      <a:endParaRPr lang="en-US" sz="88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r>
              <a:tr h="475488">
                <a:tc>
                  <a:txBody>
                    <a:bodyPr/>
                    <a:lstStyle/>
                    <a:p>
                      <a:pPr indent="0" marL="0">
                        <a:buNone/>
                      </a:pPr>
                      <a:r>
                        <a:rPr lang="en-US" sz="830" b="1" dirty="0">
                          <a:solidFill>
                            <a:srgbClr val="16233A"/>
                          </a:solidFill>
                          <a:latin typeface="Meiryo UI" pitchFamily="34" charset="0"/>
                          <a:ea typeface="Meiryo UI" pitchFamily="34" charset="-122"/>
                          <a:cs typeface="Meiryo UI" pitchFamily="34" charset="-120"/>
                        </a:rPr>
                        <a:t>① TV・動画広告</a:t>
                      </a:r>
                      <a:endParaRPr lang="en-US" sz="83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dirty="0">
                          <a:solidFill>
                            <a:srgbClr val="1F2733"/>
                          </a:solidFill>
                          <a:latin typeface="Meiryo UI" pitchFamily="34" charset="0"/>
                          <a:ea typeface="Meiryo UI" pitchFamily="34" charset="-122"/>
                          <a:cs typeface="Meiryo UI" pitchFamily="34" charset="-120"/>
                        </a:rPr>
                        <a:t>12</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dirty="0">
                          <a:solidFill>
                            <a:srgbClr val="1F2733"/>
                          </a:solidFill>
                          <a:latin typeface="Meiryo UI" pitchFamily="34" charset="0"/>
                          <a:ea typeface="Meiryo UI" pitchFamily="34" charset="-122"/>
                          <a:cs typeface="Meiryo UI" pitchFamily="34" charset="-120"/>
                        </a:rPr>
                        <a:t>9</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認知は残るが指名購入への直結度は低下。日用品の情報源でTVCMは16.7%（複数回答）にとどまる〔mitoriz 2024〕</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b="1" dirty="0">
                          <a:solidFill>
                            <a:srgbClr val="2C5F2D"/>
                          </a:solidFill>
                          <a:latin typeface="Meiryo UI" pitchFamily="34" charset="0"/>
                          <a:ea typeface="Meiryo UI" pitchFamily="34" charset="-122"/>
                          <a:cs typeface="Meiryo UI" pitchFamily="34" charset="-120"/>
                        </a:rPr>
                        <a:t>マス投資を段階縮小し④⑦⑧へ再配分（テーマ3）</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475488">
                <a:tc>
                  <a:txBody>
                    <a:bodyPr/>
                    <a:lstStyle/>
                    <a:p>
                      <a:pPr indent="0" marL="0">
                        <a:buNone/>
                      </a:pPr>
                      <a:r>
                        <a:rPr lang="en-US" sz="830" b="1" dirty="0">
                          <a:solidFill>
                            <a:srgbClr val="16233A"/>
                          </a:solidFill>
                          <a:latin typeface="Meiryo UI" pitchFamily="34" charset="0"/>
                          <a:ea typeface="Meiryo UI" pitchFamily="34" charset="-122"/>
                          <a:cs typeface="Meiryo UI" pitchFamily="34" charset="-120"/>
                        </a:rPr>
                        <a:t>② 検索（Google等）</a:t>
                      </a:r>
                      <a:endParaRPr lang="en-US" sz="83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dirty="0">
                          <a:solidFill>
                            <a:srgbClr val="1F2733"/>
                          </a:solidFill>
                          <a:latin typeface="Meiryo UI" pitchFamily="34" charset="0"/>
                          <a:ea typeface="Meiryo UI" pitchFamily="34" charset="-122"/>
                          <a:cs typeface="Meiryo UI" pitchFamily="34" charset="-120"/>
                        </a:rPr>
                        <a:t>10</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dirty="0">
                          <a:solidFill>
                            <a:srgbClr val="1F2733"/>
                          </a:solidFill>
                          <a:latin typeface="Meiryo UI" pitchFamily="34" charset="0"/>
                          <a:ea typeface="Meiryo UI" pitchFamily="34" charset="-122"/>
                          <a:cs typeface="Meiryo UI" pitchFamily="34" charset="-120"/>
                        </a:rPr>
                        <a:t>5</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調べ物の66.4%はサイトを開かず完結〔ヴァリューズ 2026.4〕。AI利用者は検索の約半分をAI相談へ代替と仮定</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b="1" dirty="0">
                          <a:solidFill>
                            <a:srgbClr val="2C5F2D"/>
                          </a:solidFill>
                          <a:latin typeface="Meiryo UI" pitchFamily="34" charset="0"/>
                          <a:ea typeface="Meiryo UI" pitchFamily="34" charset="-122"/>
                          <a:cs typeface="Meiryo UI" pitchFamily="34" charset="-120"/>
                        </a:rPr>
                        <a:t>検索対策からAI対策（AIEO）へ軸足を移す（テーマ2）</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475488">
                <a:tc>
                  <a:txBody>
                    <a:bodyPr/>
                    <a:lstStyle/>
                    <a:p>
                      <a:pPr indent="0" marL="0">
                        <a:buNone/>
                      </a:pPr>
                      <a:r>
                        <a:rPr lang="en-US" sz="830" b="1" dirty="0">
                          <a:solidFill>
                            <a:srgbClr val="16233A"/>
                          </a:solidFill>
                          <a:latin typeface="Meiryo UI" pitchFamily="34" charset="0"/>
                          <a:ea typeface="Meiryo UI" pitchFamily="34" charset="-122"/>
                          <a:cs typeface="Meiryo UI" pitchFamily="34" charset="-120"/>
                        </a:rPr>
                        <a:t>③ SNS・口コミ・レビュー</a:t>
                      </a:r>
                      <a:endParaRPr lang="en-US" sz="83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dirty="0">
                          <a:solidFill>
                            <a:srgbClr val="1F2733"/>
                          </a:solidFill>
                          <a:latin typeface="Meiryo UI" pitchFamily="34" charset="0"/>
                          <a:ea typeface="Meiryo UI" pitchFamily="34" charset="-122"/>
                          <a:cs typeface="Meiryo UI" pitchFamily="34" charset="-120"/>
                        </a:rPr>
                        <a:t>12</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dirty="0">
                          <a:solidFill>
                            <a:srgbClr val="1F2733"/>
                          </a:solidFill>
                          <a:latin typeface="Meiryo UI" pitchFamily="34" charset="0"/>
                          <a:ea typeface="Meiryo UI" pitchFamily="34" charset="-122"/>
                          <a:cs typeface="Meiryo UI" pitchFamily="34" charset="-120"/>
                        </a:rPr>
                        <a:t>8</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直接閲覧から「AIが要約する情報源」へ。AIの回答はレビュー・UGCを主要な引用元とする〔XEO360〕</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b="1" dirty="0">
                          <a:solidFill>
                            <a:srgbClr val="2C5F2D"/>
                          </a:solidFill>
                          <a:latin typeface="Meiryo UI" pitchFamily="34" charset="0"/>
                          <a:ea typeface="Meiryo UI" pitchFamily="34" charset="-122"/>
                          <a:cs typeface="Meiryo UI" pitchFamily="34" charset="-120"/>
                        </a:rPr>
                        <a:t>AIに引用されやすいレビュー・一次情報の整備（テーマ2）</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475488">
                <a:tc>
                  <a:txBody>
                    <a:bodyPr/>
                    <a:lstStyle/>
                    <a:p>
                      <a:pPr indent="0" marL="0">
                        <a:buNone/>
                      </a:pPr>
                      <a:r>
                        <a:rPr lang="en-US" sz="830" b="1" dirty="0">
                          <a:solidFill>
                            <a:srgbClr val="16233A"/>
                          </a:solidFill>
                          <a:latin typeface="Meiryo UI" pitchFamily="34" charset="0"/>
                          <a:ea typeface="Meiryo UI" pitchFamily="34" charset="-122"/>
                          <a:cs typeface="Meiryo UI" pitchFamily="34" charset="-120"/>
                        </a:rPr>
                        <a:t>④ AI相談・AI推薦</a:t>
                      </a:r>
                      <a:endParaRPr lang="en-US" sz="83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dirty="0">
                          <a:solidFill>
                            <a:srgbClr val="1F2733"/>
                          </a:solidFill>
                          <a:latin typeface="Meiryo UI" pitchFamily="34" charset="0"/>
                          <a:ea typeface="Meiryo UI" pitchFamily="34" charset="-122"/>
                          <a:cs typeface="Meiryo UI" pitchFamily="34" charset="-120"/>
                        </a:rPr>
                        <a:t>1</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b="1" dirty="0">
                          <a:solidFill>
                            <a:srgbClr val="C8102E"/>
                          </a:solidFill>
                          <a:latin typeface="Meiryo UI" pitchFamily="34" charset="0"/>
                          <a:ea typeface="Meiryo UI" pitchFamily="34" charset="-122"/>
                          <a:cs typeface="Meiryo UI" pitchFamily="34" charset="-120"/>
                        </a:rPr>
                        <a:t>19</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生成AI利用経験26.7%〔総務省 白書R7〕×うち買い物利用約27%〔McKinsey 2026〕＝現在は生活者の約7%。ただし利用率は1年で約3倍のペースで拡大中</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b="1" dirty="0">
                          <a:solidFill>
                            <a:srgbClr val="2C5F2D"/>
                          </a:solidFill>
                          <a:latin typeface="Meiryo UI" pitchFamily="34" charset="0"/>
                          <a:ea typeface="Meiryo UI" pitchFamily="34" charset="-122"/>
                          <a:cs typeface="Meiryo UI" pitchFamily="34" charset="-120"/>
                        </a:rPr>
                        <a:t>Oral Evidence Hub＋AIEO月次監査で先行獲得（テーマ2）</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475488">
                <a:tc>
                  <a:txBody>
                    <a:bodyPr/>
                    <a:lstStyle/>
                    <a:p>
                      <a:pPr indent="0" marL="0">
                        <a:buNone/>
                      </a:pPr>
                      <a:r>
                        <a:rPr lang="en-US" sz="830" b="1" dirty="0">
                          <a:solidFill>
                            <a:srgbClr val="16233A"/>
                          </a:solidFill>
                          <a:latin typeface="Meiryo UI" pitchFamily="34" charset="0"/>
                          <a:ea typeface="Meiryo UI" pitchFamily="34" charset="-122"/>
                          <a:cs typeface="Meiryo UI" pitchFamily="34" charset="-120"/>
                        </a:rPr>
                        <a:t>⑤ 店頭棚・パッケージ</a:t>
                      </a:r>
                      <a:endParaRPr lang="en-US" sz="83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dirty="0">
                          <a:solidFill>
                            <a:srgbClr val="1F2733"/>
                          </a:solidFill>
                          <a:latin typeface="Meiryo UI" pitchFamily="34" charset="0"/>
                          <a:ea typeface="Meiryo UI" pitchFamily="34" charset="-122"/>
                          <a:cs typeface="Meiryo UI" pitchFamily="34" charset="-120"/>
                        </a:rPr>
                        <a:t>25</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b="1" dirty="0">
                          <a:solidFill>
                            <a:srgbClr val="C8102E"/>
                          </a:solidFill>
                          <a:latin typeface="Meiryo UI" pitchFamily="34" charset="0"/>
                          <a:ea typeface="Meiryo UI" pitchFamily="34" charset="-122"/>
                          <a:cs typeface="Meiryo UI" pitchFamily="34" charset="-120"/>
                        </a:rPr>
                        <a:t>20</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日用品購買の約9割は依然店頭〔経産省：物販EC化率9.78%・化粧品医薬品8.82%〕。最終確認・現物確認の場として残存</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b="1" dirty="0">
                          <a:solidFill>
                            <a:srgbClr val="2C5F2D"/>
                          </a:solidFill>
                          <a:latin typeface="Meiryo UI" pitchFamily="34" charset="0"/>
                          <a:ea typeface="Meiryo UI" pitchFamily="34" charset="-122"/>
                          <a:cs typeface="Meiryo UI" pitchFamily="34" charset="-120"/>
                        </a:rPr>
                        <a:t>診断型売場×Total Availabilityで守り抜く（テーマ3）</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475488">
                <a:tc>
                  <a:txBody>
                    <a:bodyPr/>
                    <a:lstStyle/>
                    <a:p>
                      <a:pPr indent="0" marL="0">
                        <a:buNone/>
                      </a:pPr>
                      <a:r>
                        <a:rPr lang="en-US" sz="830" b="1" dirty="0">
                          <a:solidFill>
                            <a:srgbClr val="16233A"/>
                          </a:solidFill>
                          <a:latin typeface="Meiryo UI" pitchFamily="34" charset="0"/>
                          <a:ea typeface="Meiryo UI" pitchFamily="34" charset="-122"/>
                          <a:cs typeface="Meiryo UI" pitchFamily="34" charset="-120"/>
                        </a:rPr>
                        <a:t>⑥ チラシ・POP・小売アプリ</a:t>
                      </a:r>
                      <a:endParaRPr lang="en-US" sz="83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dirty="0">
                          <a:solidFill>
                            <a:srgbClr val="1F2733"/>
                          </a:solidFill>
                          <a:latin typeface="Meiryo UI" pitchFamily="34" charset="0"/>
                          <a:ea typeface="Meiryo UI" pitchFamily="34" charset="-122"/>
                          <a:cs typeface="Meiryo UI" pitchFamily="34" charset="-120"/>
                        </a:rPr>
                        <a:t>22</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dirty="0">
                          <a:solidFill>
                            <a:srgbClr val="1F2733"/>
                          </a:solidFill>
                          <a:latin typeface="Meiryo UI" pitchFamily="34" charset="0"/>
                          <a:ea typeface="Meiryo UI" pitchFamily="34" charset="-122"/>
                          <a:cs typeface="Meiryo UI" pitchFamily="34" charset="-120"/>
                        </a:rPr>
                        <a:t>16</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日用品の情報源1位＝チラシ52.9%・店頭POP40.9%（複数回答）〔mitoriz〕。特売探索がアプリ・AI経由に移行</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b="1" dirty="0">
                          <a:solidFill>
                            <a:srgbClr val="2C5F2D"/>
                          </a:solidFill>
                          <a:latin typeface="Meiryo UI" pitchFamily="34" charset="0"/>
                          <a:ea typeface="Meiryo UI" pitchFamily="34" charset="-122"/>
                          <a:cs typeface="Meiryo UI" pitchFamily="34" charset="-120"/>
                        </a:rPr>
                        <a:t>リテールメディアJBP化で共同運用に転換（テーマ3）</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475488">
                <a:tc>
                  <a:txBody>
                    <a:bodyPr/>
                    <a:lstStyle/>
                    <a:p>
                      <a:pPr indent="0" marL="0">
                        <a:buNone/>
                      </a:pPr>
                      <a:r>
                        <a:rPr lang="en-US" sz="830" b="1" dirty="0">
                          <a:solidFill>
                            <a:srgbClr val="16233A"/>
                          </a:solidFill>
                          <a:latin typeface="Meiryo UI" pitchFamily="34" charset="0"/>
                          <a:ea typeface="Meiryo UI" pitchFamily="34" charset="-122"/>
                          <a:cs typeface="Meiryo UI" pitchFamily="34" charset="-120"/>
                        </a:rPr>
                        <a:t>⑦ 家族・友人・専門家</a:t>
                      </a:r>
                      <a:endParaRPr lang="en-US" sz="83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dirty="0">
                          <a:solidFill>
                            <a:srgbClr val="1F2733"/>
                          </a:solidFill>
                          <a:latin typeface="Meiryo UI" pitchFamily="34" charset="0"/>
                          <a:ea typeface="Meiryo UI" pitchFamily="34" charset="-122"/>
                          <a:cs typeface="Meiryo UI" pitchFamily="34" charset="-120"/>
                        </a:rPr>
                        <a:t>8</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b="1" dirty="0">
                          <a:solidFill>
                            <a:srgbClr val="C8102E"/>
                          </a:solidFill>
                          <a:latin typeface="Meiryo UI" pitchFamily="34" charset="0"/>
                          <a:ea typeface="Meiryo UI" pitchFamily="34" charset="-122"/>
                          <a:cs typeface="Meiryo UI" pitchFamily="34" charset="-120"/>
                        </a:rPr>
                        <a:t>10</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AI回答への信頼は低く（正味信頼37 vs 家族・友人86〔McKinsey〕）、最終の信頼確認は「人」へ回帰。OTC・健康領域は特に</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b="1" dirty="0">
                          <a:solidFill>
                            <a:srgbClr val="2C5F2D"/>
                          </a:solidFill>
                          <a:latin typeface="Meiryo UI" pitchFamily="34" charset="0"/>
                          <a:ea typeface="Meiryo UI" pitchFamily="34" charset="-122"/>
                          <a:cs typeface="Meiryo UI" pitchFamily="34" charset="-120"/>
                        </a:rPr>
                        <a:t>歯科・衛生士・薬剤師のB2B2C推奨 ― 最大の独自領域（テーマ1・3）</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475488">
                <a:tc>
                  <a:txBody>
                    <a:bodyPr/>
                    <a:lstStyle/>
                    <a:p>
                      <a:pPr indent="0" marL="0">
                        <a:buNone/>
                      </a:pPr>
                      <a:r>
                        <a:rPr lang="en-US" sz="830" b="1" dirty="0">
                          <a:solidFill>
                            <a:srgbClr val="16233A"/>
                          </a:solidFill>
                          <a:latin typeface="Meiryo UI" pitchFamily="34" charset="0"/>
                          <a:ea typeface="Meiryo UI" pitchFamily="34" charset="-122"/>
                          <a:cs typeface="Meiryo UI" pitchFamily="34" charset="-120"/>
                        </a:rPr>
                        <a:t>⑧ EC商品ページ</a:t>
                      </a:r>
                      <a:endParaRPr lang="en-US" sz="83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dirty="0">
                          <a:solidFill>
                            <a:srgbClr val="1F2733"/>
                          </a:solidFill>
                          <a:latin typeface="Meiryo UI" pitchFamily="34" charset="0"/>
                          <a:ea typeface="Meiryo UI" pitchFamily="34" charset="-122"/>
                          <a:cs typeface="Meiryo UI" pitchFamily="34" charset="-120"/>
                        </a:rPr>
                        <a:t>10</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900" b="1" dirty="0">
                          <a:solidFill>
                            <a:srgbClr val="C8102E"/>
                          </a:solidFill>
                          <a:latin typeface="Meiryo UI" pitchFamily="34" charset="0"/>
                          <a:ea typeface="Meiryo UI" pitchFamily="34" charset="-122"/>
                          <a:cs typeface="Meiryo UI" pitchFamily="34" charset="-120"/>
                        </a:rPr>
                        <a:t>13</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AIの引用元の17%は小売・ECサイト、自社ブランドサイトはわずか1%〔XEO360：CPG大手25ブランドのLLM引用分析〕</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b="1" dirty="0">
                          <a:solidFill>
                            <a:srgbClr val="2C5F2D"/>
                          </a:solidFill>
                          <a:latin typeface="Meiryo UI" pitchFamily="34" charset="0"/>
                          <a:ea typeface="Meiryo UI" pitchFamily="34" charset="-122"/>
                          <a:cs typeface="Meiryo UI" pitchFamily="34" charset="-120"/>
                        </a:rPr>
                        <a:t>小売EC上の商品情報・レビューを「AIへの納品物」として整備（テーマ2・3）</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bl>
          </a:graphicData>
        </a:graphic>
      </p:graphicFrame>
      <p:sp>
        <p:nvSpPr>
          <p:cNvPr id="7" name="Shape 4"/>
          <p:cNvSpPr/>
          <p:nvPr/>
        </p:nvSpPr>
        <p:spPr>
          <a:xfrm>
            <a:off x="502920" y="5715000"/>
            <a:ext cx="11185855" cy="804672"/>
          </a:xfrm>
          <a:prstGeom prst="rect">
            <a:avLst/>
          </a:prstGeom>
          <a:solidFill>
            <a:srgbClr val="16233A"/>
          </a:solidFill>
          <a:ln/>
        </p:spPr>
      </p:sp>
      <p:sp>
        <p:nvSpPr>
          <p:cNvPr id="8" name="Text 5"/>
          <p:cNvSpPr/>
          <p:nvPr/>
        </p:nvSpPr>
        <p:spPr>
          <a:xfrm>
            <a:off x="731520" y="5751576"/>
            <a:ext cx="10728655" cy="731520"/>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この試算が示す独自の勝ち筋：</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④の担い手は現在約7%だが、20代は既に約13%で、普及ペース（1年で3倍）なら2〜3年で主流化する。最も重い事実はXEO360の引用分析 ― AIは自社サイトをほぼ引用しない（1%）。引用されるのは小売EC（17%）・第三者コンテンツ・レビュー。つまりAIEOの本体は「自社サイトの整備」ではなく、小売ECの商品ページ・レビュー・専門家発信への『置き場』戦略（テーマ2×3の連携）であり、小売との共同運営と歯科ネットワークを持つライオンに構造的に有利。</a:t>
            </a:r>
            <a:endParaRPr lang="en-US" sz="1030" dirty="0"/>
          </a:p>
        </p:txBody>
      </p:sp>
      <p:sp>
        <p:nvSpPr>
          <p:cNvPr id="9" name="Text 6"/>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前提 3/3</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真因 ―「経営が保守的だから」ではない。提案と実行の側に原因があった</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過去の新規投資は、部分最適・効果検証の不在・作りっぱなしで終わることが多かった。経営が新規投資に慎重なのは、その経験からの合理的な学習である</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554480"/>
            <a:ext cx="11185855" cy="1207008"/>
          </a:xfrm>
          <a:prstGeom prst="rect">
            <a:avLst/>
          </a:prstGeom>
          <a:solidFill>
            <a:srgbClr val="F4F6F9"/>
          </a:solidFill>
          <a:ln w="9525">
            <a:solidFill>
              <a:srgbClr val="D9DEE6"/>
            </a:solidFill>
            <a:prstDash val="solid"/>
          </a:ln>
        </p:spPr>
      </p:sp>
      <p:sp>
        <p:nvSpPr>
          <p:cNvPr id="7" name="Shape 5"/>
          <p:cNvSpPr/>
          <p:nvPr/>
        </p:nvSpPr>
        <p:spPr>
          <a:xfrm>
            <a:off x="502920" y="1554480"/>
            <a:ext cx="64008" cy="1207008"/>
          </a:xfrm>
          <a:prstGeom prst="rect">
            <a:avLst/>
          </a:prstGeom>
          <a:solidFill>
            <a:srgbClr val="0F5E87"/>
          </a:solidFill>
          <a:ln/>
        </p:spPr>
      </p:sp>
      <p:sp>
        <p:nvSpPr>
          <p:cNvPr id="8" name="Text 6"/>
          <p:cNvSpPr/>
          <p:nvPr/>
        </p:nvSpPr>
        <p:spPr>
          <a:xfrm>
            <a:off x="685800" y="1627632"/>
            <a:ext cx="7315200" cy="274320"/>
          </a:xfrm>
          <a:prstGeom prst="rect">
            <a:avLst/>
          </a:prstGeom>
          <a:noFill/>
          <a:ln/>
        </p:spPr>
        <p:txBody>
          <a:bodyPr wrap="square" lIns="0" tIns="0" rIns="0" bIns="0" rtlCol="0" anchor="ctr"/>
          <a:lstStyle/>
          <a:p>
            <a:pPr indent="0" marL="0">
              <a:buNone/>
            </a:pPr>
            <a:r>
              <a:rPr lang="en-US" sz="1100" b="1" dirty="0">
                <a:solidFill>
                  <a:srgbClr val="0F5E87"/>
                </a:solidFill>
                <a:latin typeface="Meiryo UI" pitchFamily="34" charset="0"/>
                <a:ea typeface="Meiryo UI" pitchFamily="34" charset="-122"/>
                <a:cs typeface="Meiryo UI" pitchFamily="34" charset="-120"/>
              </a:rPr>
              <a:t>ボトルネック①　</a:t>
            </a:r>
            <a:pPr indent="0" marL="0">
              <a:buNone/>
            </a:pPr>
            <a:r>
              <a:rPr lang="en-US" sz="1100" b="1" dirty="0">
                <a:solidFill>
                  <a:srgbClr val="16233A"/>
                </a:solidFill>
                <a:latin typeface="Meiryo UI" pitchFamily="34" charset="0"/>
                <a:ea typeface="Meiryo UI" pitchFamily="34" charset="-122"/>
                <a:cs typeface="Meiryo UI" pitchFamily="34" charset="-120"/>
              </a:rPr>
              <a:t>知見の非換金</a:t>
            </a:r>
            <a:endParaRPr lang="en-US" sz="1100" dirty="0"/>
          </a:p>
        </p:txBody>
      </p:sp>
      <p:sp>
        <p:nvSpPr>
          <p:cNvPr id="9" name="Text 7"/>
          <p:cNvSpPr/>
          <p:nvPr/>
        </p:nvSpPr>
        <p:spPr>
          <a:xfrm>
            <a:off x="685800" y="1938528"/>
            <a:ext cx="10881360" cy="402336"/>
          </a:xfrm>
          <a:prstGeom prst="rect">
            <a:avLst/>
          </a:prstGeom>
          <a:noFill/>
          <a:ln/>
        </p:spPr>
        <p:txBody>
          <a:bodyPr wrap="square" lIns="0" tIns="0" rIns="0" bIns="0" rtlCol="0" anchor="ctr"/>
          <a:lstStyle/>
          <a:p>
            <a:pPr indent="0" marL="0">
              <a:lnSpc>
                <a:spcPct val="110000"/>
              </a:lnSpc>
              <a:buNone/>
            </a:pPr>
            <a:r>
              <a:rPr lang="en-US" sz="900" dirty="0">
                <a:solidFill>
                  <a:srgbClr val="1F2733"/>
                </a:solidFill>
                <a:latin typeface="Meiryo UI" pitchFamily="34" charset="0"/>
                <a:ea typeface="Meiryo UI" pitchFamily="34" charset="-122"/>
                <a:cs typeface="Meiryo UI" pitchFamily="34" charset="-120"/>
              </a:rPr>
              <a:t>なぜ×4：臨床データが換金されない → 部門ごとに個別最適の計画が乱立 → 全体を束ねる設計図がない → 過去のデータ・システム投資も個別導入で終わり、つながらなかった</a:t>
            </a:r>
            <a:endParaRPr lang="en-US" sz="900" dirty="0"/>
          </a:p>
        </p:txBody>
      </p:sp>
      <p:sp>
        <p:nvSpPr>
          <p:cNvPr id="10" name="Text 8"/>
          <p:cNvSpPr/>
          <p:nvPr/>
        </p:nvSpPr>
        <p:spPr>
          <a:xfrm>
            <a:off x="685800" y="2395728"/>
            <a:ext cx="10881360" cy="310896"/>
          </a:xfrm>
          <a:prstGeom prst="rect">
            <a:avLst/>
          </a:prstGeom>
          <a:noFill/>
          <a:ln/>
        </p:spPr>
        <p:txBody>
          <a:bodyPr wrap="square" lIns="0" tIns="0" rIns="0" bIns="0" rtlCol="0" anchor="ctr"/>
          <a:lstStyle/>
          <a:p>
            <a:pPr indent="0" marL="0">
              <a:buNone/>
            </a:pPr>
            <a:r>
              <a:rPr lang="en-US" sz="960" b="1" dirty="0">
                <a:solidFill>
                  <a:srgbClr val="0F5E87"/>
                </a:solidFill>
                <a:latin typeface="Meiryo UI" pitchFamily="34" charset="0"/>
                <a:ea typeface="Meiryo UI" pitchFamily="34" charset="-122"/>
                <a:cs typeface="Meiryo UI" pitchFamily="34" charset="-120"/>
              </a:rPr>
              <a:t>【真因】中長期の「全体最適の計画」を描いて投資を束ねる機能がなかった ― 点の投資の積み重ねでは、資産は形成されない</a:t>
            </a:r>
            <a:endParaRPr lang="en-US" sz="960" dirty="0"/>
          </a:p>
        </p:txBody>
      </p:sp>
      <p:sp>
        <p:nvSpPr>
          <p:cNvPr id="11" name="Shape 9"/>
          <p:cNvSpPr/>
          <p:nvPr/>
        </p:nvSpPr>
        <p:spPr>
          <a:xfrm>
            <a:off x="502920" y="2852928"/>
            <a:ext cx="11185855" cy="1207008"/>
          </a:xfrm>
          <a:prstGeom prst="rect">
            <a:avLst/>
          </a:prstGeom>
          <a:solidFill>
            <a:srgbClr val="F4F6F9"/>
          </a:solidFill>
          <a:ln w="9525">
            <a:solidFill>
              <a:srgbClr val="D9DEE6"/>
            </a:solidFill>
            <a:prstDash val="solid"/>
          </a:ln>
        </p:spPr>
      </p:sp>
      <p:sp>
        <p:nvSpPr>
          <p:cNvPr id="12" name="Shape 10"/>
          <p:cNvSpPr/>
          <p:nvPr/>
        </p:nvSpPr>
        <p:spPr>
          <a:xfrm>
            <a:off x="502920" y="2852928"/>
            <a:ext cx="64008" cy="1207008"/>
          </a:xfrm>
          <a:prstGeom prst="rect">
            <a:avLst/>
          </a:prstGeom>
          <a:solidFill>
            <a:srgbClr val="2C5F2D"/>
          </a:solidFill>
          <a:ln/>
        </p:spPr>
      </p:sp>
      <p:sp>
        <p:nvSpPr>
          <p:cNvPr id="13" name="Text 11"/>
          <p:cNvSpPr/>
          <p:nvPr/>
        </p:nvSpPr>
        <p:spPr>
          <a:xfrm>
            <a:off x="685800" y="2926080"/>
            <a:ext cx="7315200" cy="274320"/>
          </a:xfrm>
          <a:prstGeom prst="rect">
            <a:avLst/>
          </a:prstGeom>
          <a:noFill/>
          <a:ln/>
        </p:spPr>
        <p:txBody>
          <a:bodyPr wrap="square" lIns="0" tIns="0" rIns="0" bIns="0" rtlCol="0" anchor="ctr"/>
          <a:lstStyle/>
          <a:p>
            <a:pPr indent="0" marL="0">
              <a:buNone/>
            </a:pPr>
            <a:r>
              <a:rPr lang="en-US" sz="1100" b="1" dirty="0">
                <a:solidFill>
                  <a:srgbClr val="2C5F2D"/>
                </a:solidFill>
                <a:latin typeface="Meiryo UI" pitchFamily="34" charset="0"/>
                <a:ea typeface="Meiryo UI" pitchFamily="34" charset="-122"/>
                <a:cs typeface="Meiryo UI" pitchFamily="34" charset="-120"/>
              </a:rPr>
              <a:t>ボトルネック②　</a:t>
            </a:r>
            <a:pPr indent="0" marL="0">
              <a:buNone/>
            </a:pPr>
            <a:r>
              <a:rPr lang="en-US" sz="1100" b="1" dirty="0">
                <a:solidFill>
                  <a:srgbClr val="16233A"/>
                </a:solidFill>
                <a:latin typeface="Meiryo UI" pitchFamily="34" charset="0"/>
                <a:ea typeface="Meiryo UI" pitchFamily="34" charset="-122"/>
                <a:cs typeface="Meiryo UI" pitchFamily="34" charset="-120"/>
              </a:rPr>
              <a:t>内向き業務の慣性</a:t>
            </a:r>
            <a:endParaRPr lang="en-US" sz="1100" dirty="0"/>
          </a:p>
        </p:txBody>
      </p:sp>
      <p:sp>
        <p:nvSpPr>
          <p:cNvPr id="14" name="Text 12"/>
          <p:cNvSpPr/>
          <p:nvPr/>
        </p:nvSpPr>
        <p:spPr>
          <a:xfrm>
            <a:off x="685800" y="3236976"/>
            <a:ext cx="10881360" cy="402336"/>
          </a:xfrm>
          <a:prstGeom prst="rect">
            <a:avLst/>
          </a:prstGeom>
          <a:noFill/>
          <a:ln/>
        </p:spPr>
        <p:txBody>
          <a:bodyPr wrap="square" lIns="0" tIns="0" rIns="0" bIns="0" rtlCol="0" anchor="ctr"/>
          <a:lstStyle/>
          <a:p>
            <a:pPr indent="0" marL="0">
              <a:lnSpc>
                <a:spcPct val="110000"/>
              </a:lnSpc>
              <a:buNone/>
            </a:pPr>
            <a:r>
              <a:rPr lang="en-US" sz="900" dirty="0">
                <a:solidFill>
                  <a:srgbClr val="1F2733"/>
                </a:solidFill>
                <a:latin typeface="Meiryo UI" pitchFamily="34" charset="0"/>
                <a:ea typeface="Meiryo UI" pitchFamily="34" charset="-122"/>
                <a:cs typeface="Meiryo UI" pitchFamily="34" charset="-120"/>
              </a:rPr>
              <a:t>なぜ×4：ツールを入れても業務が減らない → 導入が目的化し、導入後の姿と定着の設計がない → 効果が検証されない →「入れたのに変わらなかった」経験が蓄積し、次の投資への信頼が下がる</a:t>
            </a:r>
            <a:endParaRPr lang="en-US" sz="900" dirty="0"/>
          </a:p>
        </p:txBody>
      </p:sp>
      <p:sp>
        <p:nvSpPr>
          <p:cNvPr id="15" name="Text 13"/>
          <p:cNvSpPr/>
          <p:nvPr/>
        </p:nvSpPr>
        <p:spPr>
          <a:xfrm>
            <a:off x="685800" y="3694176"/>
            <a:ext cx="10881360" cy="310896"/>
          </a:xfrm>
          <a:prstGeom prst="rect">
            <a:avLst/>
          </a:prstGeom>
          <a:noFill/>
          <a:ln/>
        </p:spPr>
        <p:txBody>
          <a:bodyPr wrap="square" lIns="0" tIns="0" rIns="0" bIns="0" rtlCol="0" anchor="ctr"/>
          <a:lstStyle/>
          <a:p>
            <a:pPr indent="0" marL="0">
              <a:buNone/>
            </a:pPr>
            <a:r>
              <a:rPr lang="en-US" sz="960" b="1" dirty="0">
                <a:solidFill>
                  <a:srgbClr val="2C5F2D"/>
                </a:solidFill>
                <a:latin typeface="Meiryo UI" pitchFamily="34" charset="0"/>
                <a:ea typeface="Meiryo UI" pitchFamily="34" charset="-122"/>
                <a:cs typeface="Meiryo UI" pitchFamily="34" charset="-120"/>
              </a:rPr>
              <a:t>【真因】投資の後の「効果検証と定着」まで含めた実行の作法がなかった ― 成果が示されなければ、次の承認が慎重になるのは当然</a:t>
            </a:r>
            <a:endParaRPr lang="en-US" sz="960" dirty="0"/>
          </a:p>
        </p:txBody>
      </p:sp>
      <p:sp>
        <p:nvSpPr>
          <p:cNvPr id="16" name="Shape 14"/>
          <p:cNvSpPr/>
          <p:nvPr/>
        </p:nvSpPr>
        <p:spPr>
          <a:xfrm>
            <a:off x="502920" y="4151376"/>
            <a:ext cx="11185855" cy="1207008"/>
          </a:xfrm>
          <a:prstGeom prst="rect">
            <a:avLst/>
          </a:prstGeom>
          <a:solidFill>
            <a:srgbClr val="F4F6F9"/>
          </a:solidFill>
          <a:ln w="9525">
            <a:solidFill>
              <a:srgbClr val="D9DEE6"/>
            </a:solidFill>
            <a:prstDash val="solid"/>
          </a:ln>
        </p:spPr>
      </p:sp>
      <p:sp>
        <p:nvSpPr>
          <p:cNvPr id="17" name="Shape 15"/>
          <p:cNvSpPr/>
          <p:nvPr/>
        </p:nvSpPr>
        <p:spPr>
          <a:xfrm>
            <a:off x="502920" y="4151376"/>
            <a:ext cx="64008" cy="1207008"/>
          </a:xfrm>
          <a:prstGeom prst="rect">
            <a:avLst/>
          </a:prstGeom>
          <a:solidFill>
            <a:srgbClr val="C8102E"/>
          </a:solidFill>
          <a:ln/>
        </p:spPr>
      </p:sp>
      <p:sp>
        <p:nvSpPr>
          <p:cNvPr id="18" name="Text 16"/>
          <p:cNvSpPr/>
          <p:nvPr/>
        </p:nvSpPr>
        <p:spPr>
          <a:xfrm>
            <a:off x="685800" y="4224528"/>
            <a:ext cx="7315200" cy="274320"/>
          </a:xfrm>
          <a:prstGeom prst="rect">
            <a:avLst/>
          </a:prstGeom>
          <a:noFill/>
          <a:ln/>
        </p:spPr>
        <p:txBody>
          <a:bodyPr wrap="square" lIns="0" tIns="0" rIns="0" bIns="0" rtlCol="0" anchor="ctr"/>
          <a:lstStyle/>
          <a:p>
            <a:pPr indent="0" marL="0">
              <a:buNone/>
            </a:pPr>
            <a:r>
              <a:rPr lang="en-US" sz="1100" b="1" dirty="0">
                <a:solidFill>
                  <a:srgbClr val="C8102E"/>
                </a:solidFill>
                <a:latin typeface="Meiryo UI" pitchFamily="34" charset="0"/>
                <a:ea typeface="Meiryo UI" pitchFamily="34" charset="-122"/>
                <a:cs typeface="Meiryo UI" pitchFamily="34" charset="-120"/>
              </a:rPr>
              <a:t>ボトルネック③　</a:t>
            </a:r>
            <a:pPr indent="0" marL="0">
              <a:buNone/>
            </a:pPr>
            <a:r>
              <a:rPr lang="en-US" sz="1100" b="1" dirty="0">
                <a:solidFill>
                  <a:srgbClr val="16233A"/>
                </a:solidFill>
                <a:latin typeface="Meiryo UI" pitchFamily="34" charset="0"/>
                <a:ea typeface="Meiryo UI" pitchFamily="34" charset="-122"/>
                <a:cs typeface="Meiryo UI" pitchFamily="34" charset="-120"/>
              </a:rPr>
              <a:t>切迫感の欠如</a:t>
            </a:r>
            <a:endParaRPr lang="en-US" sz="1100" dirty="0"/>
          </a:p>
        </p:txBody>
      </p:sp>
      <p:sp>
        <p:nvSpPr>
          <p:cNvPr id="19" name="Text 17"/>
          <p:cNvSpPr/>
          <p:nvPr/>
        </p:nvSpPr>
        <p:spPr>
          <a:xfrm>
            <a:off x="685800" y="4535424"/>
            <a:ext cx="10881360" cy="402336"/>
          </a:xfrm>
          <a:prstGeom prst="rect">
            <a:avLst/>
          </a:prstGeom>
          <a:noFill/>
          <a:ln/>
        </p:spPr>
        <p:txBody>
          <a:bodyPr wrap="square" lIns="0" tIns="0" rIns="0" bIns="0" rtlCol="0" anchor="ctr"/>
          <a:lstStyle/>
          <a:p>
            <a:pPr indent="0" marL="0">
              <a:lnSpc>
                <a:spcPct val="110000"/>
              </a:lnSpc>
              <a:buNone/>
            </a:pPr>
            <a:r>
              <a:rPr lang="en-US" sz="900" dirty="0">
                <a:solidFill>
                  <a:srgbClr val="1F2733"/>
                </a:solidFill>
                <a:latin typeface="Meiryo UI" pitchFamily="34" charset="0"/>
                <a:ea typeface="Meiryo UI" pitchFamily="34" charset="-122"/>
                <a:cs typeface="Meiryo UI" pitchFamily="34" charset="-120"/>
              </a:rPr>
              <a:t>なぜ×4：AI購買の危機が共有されない → 数字で示されていない → 計測基盤がなく「意見」の応酬になる → 判断材料が経営に届かない</a:t>
            </a:r>
            <a:endParaRPr lang="en-US" sz="900" dirty="0"/>
          </a:p>
        </p:txBody>
      </p:sp>
      <p:sp>
        <p:nvSpPr>
          <p:cNvPr id="20" name="Text 18"/>
          <p:cNvSpPr/>
          <p:nvPr/>
        </p:nvSpPr>
        <p:spPr>
          <a:xfrm>
            <a:off x="685800" y="4992624"/>
            <a:ext cx="10881360" cy="310896"/>
          </a:xfrm>
          <a:prstGeom prst="rect">
            <a:avLst/>
          </a:prstGeom>
          <a:noFill/>
          <a:ln/>
        </p:spPr>
        <p:txBody>
          <a:bodyPr wrap="square" lIns="0" tIns="0" rIns="0" bIns="0" rtlCol="0" anchor="ctr"/>
          <a:lstStyle/>
          <a:p>
            <a:pPr indent="0" marL="0">
              <a:buNone/>
            </a:pPr>
            <a:r>
              <a:rPr lang="en-US" sz="960" b="1" dirty="0">
                <a:solidFill>
                  <a:srgbClr val="C8102E"/>
                </a:solidFill>
                <a:latin typeface="Meiryo UI" pitchFamily="34" charset="0"/>
                <a:ea typeface="Meiryo UI" pitchFamily="34" charset="-122"/>
                <a:cs typeface="Meiryo UI" pitchFamily="34" charset="-120"/>
              </a:rPr>
              <a:t>【真因】危機も成果も「測って示す」基盤がなく、経営が判断したくてもできない状態だった</a:t>
            </a:r>
            <a:endParaRPr lang="en-US" sz="960" dirty="0"/>
          </a:p>
        </p:txBody>
      </p:sp>
      <p:sp>
        <p:nvSpPr>
          <p:cNvPr id="21" name="Shape 19"/>
          <p:cNvSpPr/>
          <p:nvPr/>
        </p:nvSpPr>
        <p:spPr>
          <a:xfrm>
            <a:off x="502920" y="5532120"/>
            <a:ext cx="11185855" cy="868680"/>
          </a:xfrm>
          <a:prstGeom prst="rect">
            <a:avLst/>
          </a:prstGeom>
          <a:solidFill>
            <a:srgbClr val="16233A"/>
          </a:solidFill>
          <a:ln/>
        </p:spPr>
      </p:sp>
      <p:sp>
        <p:nvSpPr>
          <p:cNvPr id="22" name="Text 20"/>
          <p:cNvSpPr/>
          <p:nvPr/>
        </p:nvSpPr>
        <p:spPr>
          <a:xfrm>
            <a:off x="731520" y="5568696"/>
            <a:ext cx="10728655" cy="795528"/>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示唆 ― 経営に「変われ」とは言わない。提案する側が3つを変える：</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①点の施策ではなく、線・面まで束ねた全体最適の計画を出す（本資料の構造そのもの）　②いきなり大きな投資を求めず、小さく実証→確認ゲート合格→段階拡大の順で諮る　③北極星KPI・撤退基準・効果検証の責任を、提案側が最初から背負う。この3つが揃って初めて、経営は中長期投資を安心して判断できる ― 経営の思考と同じ方向を向いた計画にする。</a:t>
            </a:r>
            <a:endParaRPr lang="en-US" sz="1030" dirty="0"/>
          </a:p>
        </p:txBody>
      </p:sp>
      <p:sp>
        <p:nvSpPr>
          <p:cNvPr id="23" name="Text 21"/>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ビジネスモデル</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ライオンのビジネスモデル ― 3つの顧客と、それぞれの「測る物差し」</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ライオンはB2B2C。収益の入口は小売・卸、需要の起点は専門家（歯科等）の推奨、最終顧客が生活者。3つの顧客それぞれに「選ばれ続ける行動」を行動と金額で測る</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554480"/>
            <a:ext cx="3639312" cy="3794760"/>
          </a:xfrm>
          <a:prstGeom prst="rect">
            <a:avLst/>
          </a:prstGeom>
          <a:solidFill>
            <a:srgbClr val="EEF4EC"/>
          </a:solidFill>
          <a:ln w="9525">
            <a:solidFill>
              <a:srgbClr val="D9DEE6"/>
            </a:solidFill>
            <a:prstDash val="solid"/>
          </a:ln>
        </p:spPr>
      </p:sp>
      <p:sp>
        <p:nvSpPr>
          <p:cNvPr id="7" name="Shape 5"/>
          <p:cNvSpPr/>
          <p:nvPr/>
        </p:nvSpPr>
        <p:spPr>
          <a:xfrm>
            <a:off x="502920" y="1554480"/>
            <a:ext cx="3639312" cy="365760"/>
          </a:xfrm>
          <a:prstGeom prst="rect">
            <a:avLst/>
          </a:prstGeom>
          <a:solidFill>
            <a:srgbClr val="2C5F2D"/>
          </a:solidFill>
          <a:ln/>
        </p:spPr>
      </p:sp>
      <p:sp>
        <p:nvSpPr>
          <p:cNvPr id="8" name="Text 6"/>
          <p:cNvSpPr/>
          <p:nvPr/>
        </p:nvSpPr>
        <p:spPr>
          <a:xfrm>
            <a:off x="630936" y="1554480"/>
            <a:ext cx="3383280" cy="365760"/>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B　小売・卸（取引の顧客）</a:t>
            </a:r>
            <a:endParaRPr lang="en-US" sz="1150" dirty="0"/>
          </a:p>
        </p:txBody>
      </p:sp>
      <p:sp>
        <p:nvSpPr>
          <p:cNvPr id="9" name="Text 7"/>
          <p:cNvSpPr/>
          <p:nvPr/>
        </p:nvSpPr>
        <p:spPr>
          <a:xfrm>
            <a:off x="630936" y="2011680"/>
            <a:ext cx="3383280" cy="566928"/>
          </a:xfrm>
          <a:prstGeom prst="rect">
            <a:avLst/>
          </a:prstGeom>
          <a:noFill/>
          <a:ln/>
        </p:spPr>
        <p:txBody>
          <a:bodyPr wrap="square" lIns="0" tIns="0" rIns="0" bIns="0" rtlCol="0" anchor="ctr"/>
          <a:lstStyle/>
          <a:p>
            <a:pPr indent="0" marL="0">
              <a:lnSpc>
                <a:spcPct val="112000"/>
              </a:lnSpc>
              <a:buNone/>
            </a:pPr>
            <a:r>
              <a:rPr lang="en-US" sz="920" b="1" dirty="0">
                <a:solidFill>
                  <a:srgbClr val="16233A"/>
                </a:solidFill>
                <a:latin typeface="Meiryo UI" pitchFamily="34" charset="0"/>
                <a:ea typeface="Meiryo UI" pitchFamily="34" charset="-122"/>
                <a:cs typeface="Meiryo UI" pitchFamily="34" charset="-120"/>
              </a:rPr>
              <a:t>収益の入口。バイヤーとの関係が棚とAI推奨の優先権を決める</a:t>
            </a:r>
            <a:endParaRPr lang="en-US" sz="920" dirty="0"/>
          </a:p>
        </p:txBody>
      </p:sp>
      <p:sp>
        <p:nvSpPr>
          <p:cNvPr id="10" name="Text 8"/>
          <p:cNvSpPr/>
          <p:nvPr/>
        </p:nvSpPr>
        <p:spPr>
          <a:xfrm>
            <a:off x="630936" y="2651760"/>
            <a:ext cx="3383280" cy="2606040"/>
          </a:xfrm>
          <a:prstGeom prst="rect">
            <a:avLst/>
          </a:prstGeom>
          <a:noFill/>
          <a:ln/>
        </p:spPr>
        <p:txBody>
          <a:bodyPr wrap="square" lIns="0" tIns="0" rIns="0" bIns="0" rtlCol="0" anchor="t"/>
          <a:lstStyle/>
          <a:p>
            <a:pPr indent="0" marL="0">
              <a:lnSpc>
                <a:spcPct val="118000"/>
              </a:lnSpc>
              <a:buNone/>
            </a:pPr>
            <a:r>
              <a:rPr lang="en-US" sz="880" dirty="0">
                <a:solidFill>
                  <a:srgbClr val="1F2733"/>
                </a:solidFill>
                <a:latin typeface="Meiryo UI" pitchFamily="34" charset="0"/>
                <a:ea typeface="Meiryo UI" pitchFamily="34" charset="-122"/>
                <a:cs typeface="Meiryo UI" pitchFamily="34" charset="-120"/>
              </a:rPr>
              <a:t>現状：商談の中身が値引き・特売の条件交渉に偏り、双方の利益を増やす行動（共同の売場づくり・検証）につながっていない
</a:t>
            </a:r>
            <a:pPr indent="0" marL="0">
              <a:lnSpc>
                <a:spcPct val="118000"/>
              </a:lnSpc>
              <a:buNone/>
            </a:pPr>
            <a:r>
              <a:rPr lang="en-US" sz="880" b="1" dirty="0">
                <a:solidFill>
                  <a:srgbClr val="2C5F2D"/>
                </a:solidFill>
                <a:latin typeface="Meiryo UI" pitchFamily="34" charset="0"/>
                <a:ea typeface="Meiryo UI" pitchFamily="34" charset="-122"/>
                <a:cs typeface="Meiryo UI" pitchFamily="34" charset="-120"/>
              </a:rPr>
              <a:t>目指す：商談の中身を「共同事業の設計」へ転換。測るのは共同事業の件数・増分粗利・特売依存度の低下 ― 金額で証明できる指標だけ</a:t>
            </a:r>
            <a:endParaRPr lang="en-US" sz="880" dirty="0"/>
          </a:p>
        </p:txBody>
      </p:sp>
      <p:sp>
        <p:nvSpPr>
          <p:cNvPr id="11" name="Shape 9"/>
          <p:cNvSpPr/>
          <p:nvPr/>
        </p:nvSpPr>
        <p:spPr>
          <a:xfrm>
            <a:off x="4270248" y="1554480"/>
            <a:ext cx="3639312" cy="3794760"/>
          </a:xfrm>
          <a:prstGeom prst="rect">
            <a:avLst/>
          </a:prstGeom>
          <a:solidFill>
            <a:srgbClr val="EAF3F8"/>
          </a:solidFill>
          <a:ln w="9525">
            <a:solidFill>
              <a:srgbClr val="D9DEE6"/>
            </a:solidFill>
            <a:prstDash val="solid"/>
          </a:ln>
        </p:spPr>
      </p:sp>
      <p:sp>
        <p:nvSpPr>
          <p:cNvPr id="12" name="Shape 10"/>
          <p:cNvSpPr/>
          <p:nvPr/>
        </p:nvSpPr>
        <p:spPr>
          <a:xfrm>
            <a:off x="4270248" y="1554480"/>
            <a:ext cx="3639312" cy="365760"/>
          </a:xfrm>
          <a:prstGeom prst="rect">
            <a:avLst/>
          </a:prstGeom>
          <a:solidFill>
            <a:srgbClr val="0F5E87"/>
          </a:solidFill>
          <a:ln/>
        </p:spPr>
      </p:sp>
      <p:sp>
        <p:nvSpPr>
          <p:cNvPr id="13" name="Text 11"/>
          <p:cNvSpPr/>
          <p:nvPr/>
        </p:nvSpPr>
        <p:spPr>
          <a:xfrm>
            <a:off x="4398264" y="1554480"/>
            <a:ext cx="3383280" cy="365760"/>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E　専門家（推奨の顧客）</a:t>
            </a:r>
            <a:endParaRPr lang="en-US" sz="1150" dirty="0"/>
          </a:p>
        </p:txBody>
      </p:sp>
      <p:sp>
        <p:nvSpPr>
          <p:cNvPr id="14" name="Text 12"/>
          <p:cNvSpPr/>
          <p:nvPr/>
        </p:nvSpPr>
        <p:spPr>
          <a:xfrm>
            <a:off x="4398264" y="2011680"/>
            <a:ext cx="3383280" cy="566928"/>
          </a:xfrm>
          <a:prstGeom prst="rect">
            <a:avLst/>
          </a:prstGeom>
          <a:noFill/>
          <a:ln/>
        </p:spPr>
        <p:txBody>
          <a:bodyPr wrap="square" lIns="0" tIns="0" rIns="0" bIns="0" rtlCol="0" anchor="ctr"/>
          <a:lstStyle/>
          <a:p>
            <a:pPr indent="0" marL="0">
              <a:lnSpc>
                <a:spcPct val="112000"/>
              </a:lnSpc>
              <a:buNone/>
            </a:pPr>
            <a:r>
              <a:rPr lang="en-US" sz="920" b="1" dirty="0">
                <a:solidFill>
                  <a:srgbClr val="16233A"/>
                </a:solidFill>
                <a:latin typeface="Meiryo UI" pitchFamily="34" charset="0"/>
                <a:ea typeface="Meiryo UI" pitchFamily="34" charset="-122"/>
                <a:cs typeface="Meiryo UI" pitchFamily="34" charset="-120"/>
              </a:rPr>
              <a:t>歯科医師・歯科衛生士・薬剤師。B2B2Cの起点となる信頼の層</a:t>
            </a:r>
            <a:endParaRPr lang="en-US" sz="920" dirty="0"/>
          </a:p>
        </p:txBody>
      </p:sp>
      <p:sp>
        <p:nvSpPr>
          <p:cNvPr id="15" name="Text 13"/>
          <p:cNvSpPr/>
          <p:nvPr/>
        </p:nvSpPr>
        <p:spPr>
          <a:xfrm>
            <a:off x="4398264" y="2651760"/>
            <a:ext cx="3383280" cy="2606040"/>
          </a:xfrm>
          <a:prstGeom prst="rect">
            <a:avLst/>
          </a:prstGeom>
          <a:noFill/>
          <a:ln/>
        </p:spPr>
        <p:txBody>
          <a:bodyPr wrap="square" lIns="0" tIns="0" rIns="0" bIns="0" rtlCol="0" anchor="t"/>
          <a:lstStyle/>
          <a:p>
            <a:pPr indent="0" marL="0">
              <a:lnSpc>
                <a:spcPct val="118000"/>
              </a:lnSpc>
              <a:buNone/>
            </a:pPr>
            <a:r>
              <a:rPr lang="en-US" sz="880" dirty="0">
                <a:solidFill>
                  <a:srgbClr val="1F2733"/>
                </a:solidFill>
                <a:latin typeface="Meiryo UI" pitchFamily="34" charset="0"/>
                <a:ea typeface="Meiryo UI" pitchFamily="34" charset="-122"/>
                <a:cs typeface="Meiryo UI" pitchFamily="34" charset="-120"/>
              </a:rPr>
              <a:t>現状：長年の関係はあるが、推奨という行動が売上にどれだけつながったかが計測されず、事業成果に接続されていない
</a:t>
            </a:r>
            <a:pPr indent="0" marL="0">
              <a:lnSpc>
                <a:spcPct val="118000"/>
              </a:lnSpc>
              <a:buNone/>
            </a:pPr>
            <a:r>
              <a:rPr lang="en-US" sz="880" b="1" dirty="0">
                <a:solidFill>
                  <a:srgbClr val="0F5E87"/>
                </a:solidFill>
                <a:latin typeface="Meiryo UI" pitchFamily="34" charset="0"/>
                <a:ea typeface="Meiryo UI" pitchFamily="34" charset="-122"/>
                <a:cs typeface="Meiryo UI" pitchFamily="34" charset="-120"/>
              </a:rPr>
              <a:t>目指す：診断ツール・教材が診療・指導で使われ、推奨が起きる状態。測るのは導入医院数と推奨起点の売上 ― 行動と金額で追う</a:t>
            </a:r>
            <a:endParaRPr lang="en-US" sz="880" dirty="0"/>
          </a:p>
        </p:txBody>
      </p:sp>
      <p:sp>
        <p:nvSpPr>
          <p:cNvPr id="16" name="Shape 14"/>
          <p:cNvSpPr/>
          <p:nvPr/>
        </p:nvSpPr>
        <p:spPr>
          <a:xfrm>
            <a:off x="8037576" y="1554480"/>
            <a:ext cx="3639312" cy="3794760"/>
          </a:xfrm>
          <a:prstGeom prst="rect">
            <a:avLst/>
          </a:prstGeom>
          <a:solidFill>
            <a:srgbClr val="FBECEC"/>
          </a:solidFill>
          <a:ln w="9525">
            <a:solidFill>
              <a:srgbClr val="D9DEE6"/>
            </a:solidFill>
            <a:prstDash val="solid"/>
          </a:ln>
        </p:spPr>
      </p:sp>
      <p:sp>
        <p:nvSpPr>
          <p:cNvPr id="17" name="Shape 15"/>
          <p:cNvSpPr/>
          <p:nvPr/>
        </p:nvSpPr>
        <p:spPr>
          <a:xfrm>
            <a:off x="8037576" y="1554480"/>
            <a:ext cx="3639312" cy="365760"/>
          </a:xfrm>
          <a:prstGeom prst="rect">
            <a:avLst/>
          </a:prstGeom>
          <a:solidFill>
            <a:srgbClr val="C8102E"/>
          </a:solidFill>
          <a:ln/>
        </p:spPr>
      </p:sp>
      <p:sp>
        <p:nvSpPr>
          <p:cNvPr id="18" name="Text 16"/>
          <p:cNvSpPr/>
          <p:nvPr/>
        </p:nvSpPr>
        <p:spPr>
          <a:xfrm>
            <a:off x="8165592" y="1554480"/>
            <a:ext cx="3383280" cy="365760"/>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C　生活者（最終顧客）</a:t>
            </a:r>
            <a:endParaRPr lang="en-US" sz="1150" dirty="0"/>
          </a:p>
        </p:txBody>
      </p:sp>
      <p:sp>
        <p:nvSpPr>
          <p:cNvPr id="19" name="Text 17"/>
          <p:cNvSpPr/>
          <p:nvPr/>
        </p:nvSpPr>
        <p:spPr>
          <a:xfrm>
            <a:off x="8165592" y="2011680"/>
            <a:ext cx="3383280" cy="566928"/>
          </a:xfrm>
          <a:prstGeom prst="rect">
            <a:avLst/>
          </a:prstGeom>
          <a:noFill/>
          <a:ln/>
        </p:spPr>
        <p:txBody>
          <a:bodyPr wrap="square" lIns="0" tIns="0" rIns="0" bIns="0" rtlCol="0" anchor="ctr"/>
          <a:lstStyle/>
          <a:p>
            <a:pPr indent="0" marL="0">
              <a:lnSpc>
                <a:spcPct val="112000"/>
              </a:lnSpc>
              <a:buNone/>
            </a:pPr>
            <a:r>
              <a:rPr lang="en-US" sz="920" b="1" dirty="0">
                <a:solidFill>
                  <a:srgbClr val="16233A"/>
                </a:solidFill>
                <a:latin typeface="Meiryo UI" pitchFamily="34" charset="0"/>
                <a:ea typeface="Meiryo UI" pitchFamily="34" charset="-122"/>
                <a:cs typeface="Meiryo UI" pitchFamily="34" charset="-120"/>
              </a:rPr>
              <a:t>毎日の習慣の中でライオンと過ごす層。AI時代の「初期設定」の原資</a:t>
            </a:r>
            <a:endParaRPr lang="en-US" sz="920" dirty="0"/>
          </a:p>
        </p:txBody>
      </p:sp>
      <p:sp>
        <p:nvSpPr>
          <p:cNvPr id="20" name="Text 18"/>
          <p:cNvSpPr/>
          <p:nvPr/>
        </p:nvSpPr>
        <p:spPr>
          <a:xfrm>
            <a:off x="8165592" y="2651760"/>
            <a:ext cx="3383280" cy="2606040"/>
          </a:xfrm>
          <a:prstGeom prst="rect">
            <a:avLst/>
          </a:prstGeom>
          <a:noFill/>
          <a:ln/>
        </p:spPr>
        <p:txBody>
          <a:bodyPr wrap="square" lIns="0" tIns="0" rIns="0" bIns="0" rtlCol="0" anchor="t"/>
          <a:lstStyle/>
          <a:p>
            <a:pPr indent="0" marL="0">
              <a:lnSpc>
                <a:spcPct val="118000"/>
              </a:lnSpc>
              <a:buNone/>
            </a:pPr>
            <a:r>
              <a:rPr lang="en-US" sz="880" dirty="0">
                <a:solidFill>
                  <a:srgbClr val="1F2733"/>
                </a:solidFill>
                <a:latin typeface="Meiryo UI" pitchFamily="34" charset="0"/>
                <a:ea typeface="Meiryo UI" pitchFamily="34" charset="-122"/>
                <a:cs typeface="Meiryo UI" pitchFamily="34" charset="-120"/>
              </a:rPr>
              <a:t>現状：買われた後の行動（続いたか・やめたか）が見えず、習慣の定着を打ち手に変えられていない
</a:t>
            </a:r>
            <a:pPr indent="0" marL="0">
              <a:lnSpc>
                <a:spcPct val="118000"/>
              </a:lnSpc>
              <a:buNone/>
            </a:pPr>
            <a:r>
              <a:rPr lang="en-US" sz="880" b="1" dirty="0">
                <a:solidFill>
                  <a:srgbClr val="C8102E"/>
                </a:solidFill>
                <a:latin typeface="Meiryo UI" pitchFamily="34" charset="0"/>
                <a:ea typeface="Meiryo UI" pitchFamily="34" charset="-122"/>
                <a:cs typeface="Meiryo UI" pitchFamily="34" charset="-120"/>
              </a:rPr>
              <a:t>目指す：習慣の定着＝「繰り返し買われ続けること」。測るのはリピート率・定期購入登録・90日継続 ― 行動で追い、習慣ごとAIに引き継がせる</a:t>
            </a:r>
            <a:endParaRPr lang="en-US" sz="880" dirty="0"/>
          </a:p>
        </p:txBody>
      </p:sp>
      <p:sp>
        <p:nvSpPr>
          <p:cNvPr id="21" name="Shape 19"/>
          <p:cNvSpPr/>
          <p:nvPr/>
        </p:nvSpPr>
        <p:spPr>
          <a:xfrm>
            <a:off x="502920" y="5532120"/>
            <a:ext cx="11185855" cy="914400"/>
          </a:xfrm>
          <a:prstGeom prst="rect">
            <a:avLst/>
          </a:prstGeom>
          <a:solidFill>
            <a:srgbClr val="16233A"/>
          </a:solidFill>
          <a:ln/>
        </p:spPr>
      </p:sp>
      <p:sp>
        <p:nvSpPr>
          <p:cNvPr id="22" name="Text 20"/>
          <p:cNvSpPr/>
          <p:nvPr/>
        </p:nvSpPr>
        <p:spPr>
          <a:xfrm>
            <a:off x="731520" y="5568696"/>
            <a:ext cx="10728655" cy="841248"/>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価値の連鎖（ビジネスモデルの回り方）：</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専門家の推奨（E）→ 生活者の習慣化＝リピート（C）→ その効果を小売のデータで証明 → 小売との共同事業（B）→ 売場が強くなり、また生活者へ ― と循環する。どこか1層だけでは続かない。注意：接点の「時間」や「想起」は先行要因にすぎず、直接利益には貢献しない。経営指標に使うのは行動（リピート・推奨・共同事業）と金額（増分粗利）だけに限定する。</a:t>
            </a:r>
            <a:endParaRPr lang="en-US" sz="1030" dirty="0"/>
          </a:p>
        </p:txBody>
      </p:sp>
      <p:sp>
        <p:nvSpPr>
          <p:cNvPr id="23" name="Text 21"/>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理想像（2040）</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理想像 ―「予防習慣インフラ企業」＝ 3つの顧客に選ばれ続ける行動が定着した状態</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2040年の到達点を「行動と金額」で定義する。生活者が買い続け、小売が組み続け、専門家が薦め続ける ― 制度とAIの初期設定は、その結果としてついてくる</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517904"/>
            <a:ext cx="11185855" cy="731520"/>
          </a:xfrm>
          <a:prstGeom prst="rect">
            <a:avLst/>
          </a:prstGeom>
          <a:solidFill>
            <a:srgbClr val="16233A"/>
          </a:solidFill>
          <a:ln/>
        </p:spPr>
      </p:sp>
      <p:sp>
        <p:nvSpPr>
          <p:cNvPr id="7" name="Text 5"/>
          <p:cNvSpPr/>
          <p:nvPr/>
        </p:nvSpPr>
        <p:spPr>
          <a:xfrm>
            <a:off x="777240" y="1517904"/>
            <a:ext cx="10637215" cy="731520"/>
          </a:xfrm>
          <a:prstGeom prst="rect">
            <a:avLst/>
          </a:prstGeom>
          <a:noFill/>
          <a:ln/>
        </p:spPr>
        <p:txBody>
          <a:bodyPr wrap="square" lIns="0" tIns="0" rIns="0" bIns="0" rtlCol="0" anchor="ctr"/>
          <a:lstStyle/>
          <a:p>
            <a:pPr indent="0" marL="0">
              <a:buNone/>
            </a:pPr>
            <a:r>
              <a:rPr lang="en-US" sz="1300" b="1" dirty="0">
                <a:solidFill>
                  <a:srgbClr val="FFD5DB"/>
                </a:solidFill>
                <a:latin typeface="Meiryo UI" pitchFamily="34" charset="0"/>
                <a:ea typeface="Meiryo UI" pitchFamily="34" charset="-122"/>
                <a:cs typeface="Meiryo UI" pitchFamily="34" charset="-120"/>
              </a:rPr>
              <a:t>顧客資本 ＝ 3つの顧客の「選ばれ続ける行動」の蓄積。</a:t>
            </a:r>
            <a:pPr indent="0" marL="0">
              <a:buNone/>
            </a:pPr>
            <a:r>
              <a:rPr lang="en-US" sz="1300" b="1" dirty="0">
                <a:solidFill>
                  <a:srgbClr val="FFFFFF"/>
                </a:solidFill>
                <a:latin typeface="Meiryo UI" pitchFamily="34" charset="0"/>
                <a:ea typeface="Meiryo UI" pitchFamily="34" charset="-122"/>
                <a:cs typeface="Meiryo UI" pitchFamily="34" charset="-120"/>
              </a:rPr>
              <a:t>モノの出荷数量ではなく、リピート・共同事業・推奨という行動を経営の物差しにする。</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2395728"/>
          <a:ext cx="11185855" cy="914400"/>
        </p:xfrm>
        <a:graphic>
          <a:graphicData uri="http://schemas.openxmlformats.org/drawingml/2006/table">
            <a:tbl>
              <a:tblPr/>
              <a:tblGrid>
                <a:gridCol w="1005840"/>
                <a:gridCol w="4389120"/>
                <a:gridCol w="2743200"/>
                <a:gridCol w="3044952"/>
              </a:tblGrid>
              <a:tr h="310896">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層</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何を測るか</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KPI（試験計測から）</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2040年の到達点</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r>
              <a:tr h="868680">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B</a:t>
                      </a:r>
                      <a:endParaRPr lang="en-US" sz="930" dirty="0">
                        <a:latin typeface="Meiryo UI" charset="0"/>
                        <a:ea typeface="Meiryo UI" charset="0"/>
                        <a:cs typeface="Meiryo UI" charset="0"/>
                      </a:endParaRPr>
                    </a:p>
                    <a:p>
                      <a:pPr algn="ctr" indent="0" marL="0">
                        <a:buNone/>
                      </a:pPr>
                      <a:r>
                        <a:rPr lang="en-US" sz="930" b="1" dirty="0">
                          <a:solidFill>
                            <a:srgbClr val="FFFFFF"/>
                          </a:solidFill>
                          <a:latin typeface="Meiryo UI" pitchFamily="34" charset="0"/>
                          <a:ea typeface="Meiryo UI" pitchFamily="34" charset="-122"/>
                          <a:cs typeface="Meiryo UI" pitchFamily="34" charset="-120"/>
                        </a:rPr>
                        <a:t>小売</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2C5F2D"/>
                    </a:solidFill>
                  </a:tcPr>
                </a:tc>
                <a:tc>
                  <a:txBody>
                    <a:bodyPr/>
                    <a:lstStyle/>
                    <a:p>
                      <a:pPr indent="0" marL="0">
                        <a:buNone/>
                      </a:pPr>
                      <a:r>
                        <a:rPr lang="en-US" sz="840" dirty="0">
                          <a:solidFill>
                            <a:srgbClr val="1F2733"/>
                          </a:solidFill>
                          <a:latin typeface="Meiryo UI" pitchFamily="34" charset="0"/>
                          <a:ea typeface="Meiryo UI" pitchFamily="34" charset="-122"/>
                          <a:cs typeface="Meiryo UI" pitchFamily="34" charset="-120"/>
                        </a:rPr>
                        <a:t>小売の利益に貢献する「行動」が起きているか ― 共同事業（JBP・共同売場・広告共同運用）の件数と、それが生んだ増分粗利。裏返しとして特売・値引きへの依存度の低下</a:t>
                      </a:r>
                      <a:endParaRPr lang="en-US" sz="84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20" b="1" dirty="0">
                          <a:solidFill>
                            <a:srgbClr val="0F5E87"/>
                          </a:solidFill>
                          <a:latin typeface="Meiryo UI" pitchFamily="34" charset="0"/>
                          <a:ea typeface="Meiryo UI" pitchFamily="34" charset="-122"/>
                          <a:cs typeface="Meiryo UI" pitchFamily="34" charset="-120"/>
                        </a:rPr>
                        <a:t>共同事業の件数・増分粗利／特売依存度（値引き率）の低下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40" dirty="0">
                          <a:solidFill>
                            <a:srgbClr val="1F2733"/>
                          </a:solidFill>
                          <a:latin typeface="Meiryo UI" pitchFamily="34" charset="0"/>
                          <a:ea typeface="Meiryo UI" pitchFamily="34" charset="-122"/>
                          <a:cs typeface="Meiryo UI" pitchFamily="34" charset="-120"/>
                        </a:rPr>
                        <a:t>2040年：主要小売との年間契約が共同事業型になり、値引き交渉が構造的に消滅</a:t>
                      </a:r>
                      <a:endParaRPr lang="en-US" sz="84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868680">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E</a:t>
                      </a:r>
                      <a:endParaRPr lang="en-US" sz="930" dirty="0">
                        <a:latin typeface="Meiryo UI" charset="0"/>
                        <a:ea typeface="Meiryo UI" charset="0"/>
                        <a:cs typeface="Meiryo UI" charset="0"/>
                      </a:endParaRPr>
                    </a:p>
                    <a:p>
                      <a:pPr algn="ctr" indent="0" marL="0">
                        <a:buNone/>
                      </a:pPr>
                      <a:r>
                        <a:rPr lang="en-US" sz="930" b="1" dirty="0">
                          <a:solidFill>
                            <a:srgbClr val="FFFFFF"/>
                          </a:solidFill>
                          <a:latin typeface="Meiryo UI" pitchFamily="34" charset="0"/>
                          <a:ea typeface="Meiryo UI" pitchFamily="34" charset="-122"/>
                          <a:cs typeface="Meiryo UI" pitchFamily="34" charset="-120"/>
                        </a:rPr>
                        <a:t>専門家</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0F5E87"/>
                    </a:solidFill>
                  </a:tcPr>
                </a:tc>
                <a:tc>
                  <a:txBody>
                    <a:bodyPr/>
                    <a:lstStyle/>
                    <a:p>
                      <a:pPr indent="0" marL="0">
                        <a:buNone/>
                      </a:pPr>
                      <a:r>
                        <a:rPr lang="en-US" sz="840" dirty="0">
                          <a:solidFill>
                            <a:srgbClr val="1F2733"/>
                          </a:solidFill>
                          <a:latin typeface="Meiryo UI" pitchFamily="34" charset="0"/>
                          <a:ea typeface="Meiryo UI" pitchFamily="34" charset="-122"/>
                          <a:cs typeface="Meiryo UI" pitchFamily="34" charset="-120"/>
                        </a:rPr>
                        <a:t>推奨という「行動」が起きているか ― 診断ツール・教材を導入した医院・学校の数と、専門家の推奨を起点に発生した売上（DCRで購買照合）</a:t>
                      </a:r>
                      <a:endParaRPr lang="en-US" sz="84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20" b="1" dirty="0">
                          <a:solidFill>
                            <a:srgbClr val="0F5E87"/>
                          </a:solidFill>
                          <a:latin typeface="Meiryo UI" pitchFamily="34" charset="0"/>
                          <a:ea typeface="Meiryo UI" pitchFamily="34" charset="-122"/>
                          <a:cs typeface="Meiryo UI" pitchFamily="34" charset="-120"/>
                        </a:rPr>
                        <a:t>ツール導入医院・学校数／推奨起点売上比率（U3）</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40" dirty="0">
                          <a:solidFill>
                            <a:srgbClr val="1F2733"/>
                          </a:solidFill>
                          <a:latin typeface="Meiryo UI" pitchFamily="34" charset="0"/>
                          <a:ea typeface="Meiryo UI" pitchFamily="34" charset="-122"/>
                          <a:cs typeface="Meiryo UI" pitchFamily="34" charset="-120"/>
                        </a:rPr>
                        <a:t>2040年：予防指導の標準ツールとして組み込まれ、制度（皆歯科健診）の実装の一部になる</a:t>
                      </a:r>
                      <a:endParaRPr lang="en-US" sz="84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868680">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C</a:t>
                      </a:r>
                      <a:endParaRPr lang="en-US" sz="930" dirty="0">
                        <a:latin typeface="Meiryo UI" charset="0"/>
                        <a:ea typeface="Meiryo UI" charset="0"/>
                        <a:cs typeface="Meiryo UI" charset="0"/>
                      </a:endParaRPr>
                    </a:p>
                    <a:p>
                      <a:pPr algn="ctr" indent="0" marL="0">
                        <a:buNone/>
                      </a:pPr>
                      <a:r>
                        <a:rPr lang="en-US" sz="930" b="1" dirty="0">
                          <a:solidFill>
                            <a:srgbClr val="FFFFFF"/>
                          </a:solidFill>
                          <a:latin typeface="Meiryo UI" pitchFamily="34" charset="0"/>
                          <a:ea typeface="Meiryo UI" pitchFamily="34" charset="-122"/>
                          <a:cs typeface="Meiryo UI" pitchFamily="34" charset="-120"/>
                        </a:rPr>
                        <a:t>生活者</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C8102E"/>
                    </a:solidFill>
                  </a:tcPr>
                </a:tc>
                <a:tc>
                  <a:txBody>
                    <a:bodyPr/>
                    <a:lstStyle/>
                    <a:p>
                      <a:pPr indent="0" marL="0">
                        <a:buNone/>
                      </a:pPr>
                      <a:r>
                        <a:rPr lang="en-US" sz="840" dirty="0">
                          <a:solidFill>
                            <a:srgbClr val="1F2733"/>
                          </a:solidFill>
                          <a:latin typeface="Meiryo UI" pitchFamily="34" charset="0"/>
                          <a:ea typeface="Meiryo UI" pitchFamily="34" charset="-122"/>
                          <a:cs typeface="Meiryo UI" pitchFamily="34" charset="-120"/>
                        </a:rPr>
                        <a:t>習慣の定着＝「繰り返し買われ続ける」行動が起きているか ― リピート率・購入間隔・定期購入の登録・90日継続率（LION IDと小売データで実測）</a:t>
                      </a:r>
                      <a:endParaRPr lang="en-US" sz="84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20" b="1" dirty="0">
                          <a:solidFill>
                            <a:srgbClr val="0F5E87"/>
                          </a:solidFill>
                          <a:latin typeface="Meiryo UI" pitchFamily="34" charset="0"/>
                          <a:ea typeface="Meiryo UI" pitchFamily="34" charset="-122"/>
                          <a:cs typeface="Meiryo UI" pitchFamily="34" charset="-120"/>
                        </a:rPr>
                        <a:t>リピート率・購入間隔／定期購入登録数・90日継続率</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40" dirty="0">
                          <a:solidFill>
                            <a:srgbClr val="1F2733"/>
                          </a:solidFill>
                          <a:latin typeface="Meiryo UI" pitchFamily="34" charset="0"/>
                          <a:ea typeface="Meiryo UI" pitchFamily="34" charset="-122"/>
                          <a:cs typeface="Meiryo UI" pitchFamily="34" charset="-120"/>
                        </a:rPr>
                        <a:t>2040年：定着した習慣がAIの初期設定に引き継がれ、自動補充で選ばれ続ける</a:t>
                      </a:r>
                      <a:endParaRPr lang="en-US" sz="84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bl>
          </a:graphicData>
        </a:graphic>
      </p:graphicFrame>
      <p:sp>
        <p:nvSpPr>
          <p:cNvPr id="9" name="Shape 6"/>
          <p:cNvSpPr/>
          <p:nvPr/>
        </p:nvSpPr>
        <p:spPr>
          <a:xfrm>
            <a:off x="502920" y="5806440"/>
            <a:ext cx="11185855" cy="658368"/>
          </a:xfrm>
          <a:prstGeom prst="rect">
            <a:avLst/>
          </a:prstGeom>
          <a:solidFill>
            <a:srgbClr val="16233A"/>
          </a:solidFill>
          <a:ln/>
        </p:spPr>
      </p:sp>
      <p:sp>
        <p:nvSpPr>
          <p:cNvPr id="10" name="Text 7"/>
          <p:cNvSpPr/>
          <p:nvPr/>
        </p:nvSpPr>
        <p:spPr>
          <a:xfrm>
            <a:off x="731520" y="5843016"/>
            <a:ext cx="10728655" cy="585216"/>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なぜ「行動と金額」で測るか：</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接点の時間・認知・想起は成果の先行要因にはなり得るが、それ自体は利益に直接貢献しない（時間が増えても買われなければ意味がない）。経営指標は①行動（リピート・推奨・共同事業）と②金額（増分粗利）に限定し、時間・想起系の指標は因果が実証されるまで現場の診断用補助にとどめる ― 指標の目的化を防ぐ、現実的な設計。</a:t>
            </a:r>
            <a:endParaRPr lang="en-US" sz="1030" dirty="0"/>
          </a:p>
        </p:txBody>
      </p:sp>
      <p:sp>
        <p:nvSpPr>
          <p:cNvPr id="11" name="Text 8"/>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経営テーマへの接続</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理想像と現実の差分を、5つの「経営の問い」に変換する</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左＝理想像、中＝経営テーマ（問い）、右＝答えと施策の紐付け。既存の8重点施策＋新提案1がすべてこの5つの問いに収まる</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554480"/>
            <a:ext cx="2057400" cy="4572000"/>
          </a:xfrm>
          <a:prstGeom prst="rect">
            <a:avLst/>
          </a:prstGeom>
          <a:solidFill>
            <a:srgbClr val="16233A"/>
          </a:solidFill>
          <a:ln/>
        </p:spPr>
      </p:sp>
      <p:sp>
        <p:nvSpPr>
          <p:cNvPr id="7" name="Text 5"/>
          <p:cNvSpPr/>
          <p:nvPr/>
        </p:nvSpPr>
        <p:spPr>
          <a:xfrm>
            <a:off x="640080" y="1691640"/>
            <a:ext cx="1783080" cy="4297680"/>
          </a:xfrm>
          <a:prstGeom prst="rect">
            <a:avLst/>
          </a:prstGeom>
          <a:noFill/>
          <a:ln/>
        </p:spPr>
        <p:txBody>
          <a:bodyPr wrap="square" lIns="0" tIns="0" rIns="0" bIns="0" rtlCol="0" anchor="t"/>
          <a:lstStyle/>
          <a:p>
            <a:pPr indent="0" marL="0">
              <a:lnSpc>
                <a:spcPct val="120000"/>
              </a:lnSpc>
              <a:buNone/>
            </a:pPr>
            <a:r>
              <a:rPr lang="en-US" sz="1100" b="1" dirty="0">
                <a:solidFill>
                  <a:srgbClr val="FFD5DB"/>
                </a:solidFill>
                <a:latin typeface="Meiryo UI" pitchFamily="34" charset="0"/>
                <a:ea typeface="Meiryo UI" pitchFamily="34" charset="-122"/>
                <a:cs typeface="Meiryo UI" pitchFamily="34" charset="-120"/>
              </a:rPr>
              <a:t>理想像（2040）
</a:t>
            </a:r>
            <a:pPr indent="0" marL="0">
              <a:lnSpc>
                <a:spcPct val="120000"/>
              </a:lnSpc>
              <a:buNone/>
            </a:pPr>
            <a:r>
              <a:rPr lang="en-US" sz="1300" b="1" dirty="0">
                <a:solidFill>
                  <a:srgbClr val="FFFFFF"/>
                </a:solidFill>
                <a:latin typeface="Meiryo UI" pitchFamily="34" charset="0"/>
                <a:ea typeface="Meiryo UI" pitchFamily="34" charset="-122"/>
                <a:cs typeface="Meiryo UI" pitchFamily="34" charset="-120"/>
              </a:rPr>
              <a:t>予防習慣
インフラ企業
</a:t>
            </a:r>
            <a:pPr indent="0" marL="0">
              <a:lnSpc>
                <a:spcPct val="120000"/>
              </a:lnSpc>
              <a:buNone/>
            </a:pPr>
            <a:r>
              <a:rPr lang="en-US" sz="950" dirty="0">
                <a:solidFill>
                  <a:srgbClr val="D7DFEA"/>
                </a:solidFill>
                <a:latin typeface="Meiryo UI" pitchFamily="34" charset="0"/>
                <a:ea typeface="Meiryo UI" pitchFamily="34" charset="-122"/>
                <a:cs typeface="Meiryo UI" pitchFamily="34" charset="-120"/>
              </a:rPr>
              <a:t>3つの顧客に</a:t>
            </a:r>
            <a:endParaRPr lang="en-US" sz="1100" dirty="0"/>
          </a:p>
          <a:p>
            <a:pPr indent="0" marL="0">
              <a:lnSpc>
                <a:spcPct val="120000"/>
              </a:lnSpc>
              <a:buNone/>
            </a:pPr>
            <a:r>
              <a:rPr lang="en-US" sz="950" dirty="0">
                <a:solidFill>
                  <a:srgbClr val="D7DFEA"/>
                </a:solidFill>
                <a:latin typeface="Meiryo UI" pitchFamily="34" charset="0"/>
                <a:ea typeface="Meiryo UI" pitchFamily="34" charset="-122"/>
                <a:cs typeface="Meiryo UI" pitchFamily="34" charset="-120"/>
              </a:rPr>
              <a:t>選ばれ続ける行動</a:t>
            </a:r>
            <a:endParaRPr lang="en-US" sz="1100" dirty="0"/>
          </a:p>
          <a:p>
            <a:pPr indent="0" marL="0">
              <a:lnSpc>
                <a:spcPct val="120000"/>
              </a:lnSpc>
              <a:buNone/>
            </a:pPr>
            <a:r>
              <a:rPr lang="en-US" sz="950" dirty="0">
                <a:solidFill>
                  <a:srgbClr val="D7DFEA"/>
                </a:solidFill>
                <a:latin typeface="Meiryo UI" pitchFamily="34" charset="0"/>
                <a:ea typeface="Meiryo UI" pitchFamily="34" charset="-122"/>
                <a:cs typeface="Meiryo UI" pitchFamily="34" charset="-120"/>
              </a:rPr>
              <a:t>（リピート・共同事業・</a:t>
            </a:r>
            <a:endParaRPr lang="en-US" sz="1100" dirty="0"/>
          </a:p>
          <a:p>
            <a:pPr indent="0" marL="0">
              <a:lnSpc>
                <a:spcPct val="120000"/>
              </a:lnSpc>
              <a:buNone/>
            </a:pPr>
            <a:r>
              <a:rPr lang="en-US" sz="950" dirty="0">
                <a:solidFill>
                  <a:srgbClr val="D7DFEA"/>
                </a:solidFill>
                <a:latin typeface="Meiryo UI" pitchFamily="34" charset="0"/>
                <a:ea typeface="Meiryo UI" pitchFamily="34" charset="-122"/>
                <a:cs typeface="Meiryo UI" pitchFamily="34" charset="-120"/>
              </a:rPr>
              <a:t>推奨）を定着させ、</a:t>
            </a:r>
            <a:endParaRPr lang="en-US" sz="1100" dirty="0"/>
          </a:p>
          <a:p>
            <a:pPr indent="0" marL="0">
              <a:lnSpc>
                <a:spcPct val="120000"/>
              </a:lnSpc>
              <a:buNone/>
            </a:pPr>
            <a:r>
              <a:rPr lang="en-US" sz="950" dirty="0">
                <a:solidFill>
                  <a:srgbClr val="D7DFEA"/>
                </a:solidFill>
                <a:latin typeface="Meiryo UI" pitchFamily="34" charset="0"/>
                <a:ea typeface="Meiryo UI" pitchFamily="34" charset="-122"/>
                <a:cs typeface="Meiryo UI" pitchFamily="34" charset="-120"/>
              </a:rPr>
              <a:t>制度・AIの初期設定を</a:t>
            </a:r>
            <a:endParaRPr lang="en-US" sz="1100" dirty="0"/>
          </a:p>
          <a:p>
            <a:pPr indent="0" marL="0">
              <a:lnSpc>
                <a:spcPct val="120000"/>
              </a:lnSpc>
              <a:buNone/>
            </a:pPr>
            <a:r>
              <a:rPr lang="en-US" sz="950" dirty="0">
                <a:solidFill>
                  <a:srgbClr val="D7DFEA"/>
                </a:solidFill>
                <a:latin typeface="Meiryo UI" pitchFamily="34" charset="0"/>
                <a:ea typeface="Meiryo UI" pitchFamily="34" charset="-122"/>
                <a:cs typeface="Meiryo UI" pitchFamily="34" charset="-120"/>
              </a:rPr>
              <a:t>握る会社</a:t>
            </a:r>
            <a:endParaRPr lang="en-US" sz="1100" dirty="0"/>
          </a:p>
        </p:txBody>
      </p:sp>
      <p:sp>
        <p:nvSpPr>
          <p:cNvPr id="8" name="Text 6"/>
          <p:cNvSpPr/>
          <p:nvPr/>
        </p:nvSpPr>
        <p:spPr>
          <a:xfrm>
            <a:off x="2578608" y="3657600"/>
            <a:ext cx="274320" cy="274320"/>
          </a:xfrm>
          <a:prstGeom prst="rect">
            <a:avLst/>
          </a:prstGeom>
          <a:noFill/>
          <a:ln/>
        </p:spPr>
        <p:txBody>
          <a:bodyPr wrap="square" lIns="0" tIns="0" rIns="0" bIns="0" rtlCol="0" anchor="ctr"/>
          <a:lstStyle/>
          <a:p>
            <a:pPr algn="ctr" indent="0" marL="0">
              <a:buNone/>
            </a:pPr>
            <a:r>
              <a:rPr lang="en-US" sz="1200" b="1" dirty="0">
                <a:solidFill>
                  <a:srgbClr val="9AA3AE"/>
                </a:solidFill>
                <a:latin typeface="Meiryo UI" pitchFamily="34" charset="0"/>
                <a:ea typeface="Meiryo UI" pitchFamily="34" charset="-122"/>
                <a:cs typeface="Meiryo UI" pitchFamily="34" charset="-120"/>
              </a:rPr>
              <a:t>▶</a:t>
            </a:r>
            <a:endParaRPr lang="en-US" sz="1200" dirty="0"/>
          </a:p>
        </p:txBody>
      </p:sp>
      <p:sp>
        <p:nvSpPr>
          <p:cNvPr id="9" name="Shape 7"/>
          <p:cNvSpPr/>
          <p:nvPr/>
        </p:nvSpPr>
        <p:spPr>
          <a:xfrm>
            <a:off x="2926080" y="1554480"/>
            <a:ext cx="2834640" cy="841248"/>
          </a:xfrm>
          <a:prstGeom prst="rect">
            <a:avLst/>
          </a:prstGeom>
          <a:solidFill>
            <a:srgbClr val="C8102E"/>
          </a:solidFill>
          <a:ln/>
        </p:spPr>
      </p:sp>
      <p:sp>
        <p:nvSpPr>
          <p:cNvPr id="10" name="Text 8"/>
          <p:cNvSpPr/>
          <p:nvPr/>
        </p:nvSpPr>
        <p:spPr>
          <a:xfrm>
            <a:off x="3054096" y="1600200"/>
            <a:ext cx="2606040" cy="768096"/>
          </a:xfrm>
          <a:prstGeom prst="rect">
            <a:avLst/>
          </a:prstGeom>
          <a:noFill/>
          <a:ln/>
        </p:spPr>
        <p:txBody>
          <a:bodyPr wrap="square" lIns="0" tIns="0" rIns="0" bIns="0" rtlCol="0" anchor="ctr"/>
          <a:lstStyle/>
          <a:p>
            <a:pP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テーマ1　市場機会の選択
</a:t>
            </a:r>
            <a:pPr indent="0" marL="0">
              <a:lnSpc>
                <a:spcPct val="110000"/>
              </a:lnSpc>
              <a:buNone/>
            </a:pPr>
            <a:r>
              <a:rPr lang="en-US" sz="820" dirty="0">
                <a:solidFill>
                  <a:srgbClr val="FFFFFF"/>
                </a:solidFill>
                <a:latin typeface="Meiryo UI" pitchFamily="34" charset="0"/>
                <a:ea typeface="Meiryo UI" pitchFamily="34" charset="-122"/>
                <a:cs typeface="Meiryo UI" pitchFamily="34" charset="-120"/>
              </a:rPr>
              <a:t>問い：どの市場・顧客を重点化するか</a:t>
            </a:r>
            <a:endParaRPr lang="en-US" sz="1000" dirty="0"/>
          </a:p>
        </p:txBody>
      </p:sp>
      <p:sp>
        <p:nvSpPr>
          <p:cNvPr id="11" name="Shape 9"/>
          <p:cNvSpPr/>
          <p:nvPr/>
        </p:nvSpPr>
        <p:spPr>
          <a:xfrm>
            <a:off x="5852160" y="1554480"/>
            <a:ext cx="5833872" cy="841248"/>
          </a:xfrm>
          <a:prstGeom prst="rect">
            <a:avLst/>
          </a:prstGeom>
          <a:solidFill>
            <a:srgbClr val="FBECEC"/>
          </a:solidFill>
          <a:ln w="9525">
            <a:solidFill>
              <a:srgbClr val="D9DEE6"/>
            </a:solidFill>
            <a:prstDash val="solid"/>
          </a:ln>
        </p:spPr>
      </p:sp>
      <p:sp>
        <p:nvSpPr>
          <p:cNvPr id="12" name="Text 10"/>
          <p:cNvSpPr/>
          <p:nvPr/>
        </p:nvSpPr>
        <p:spPr>
          <a:xfrm>
            <a:off x="5989320" y="1600200"/>
            <a:ext cx="5577840" cy="768096"/>
          </a:xfrm>
          <a:prstGeom prst="rect">
            <a:avLst/>
          </a:prstGeom>
          <a:noFill/>
          <a:ln/>
        </p:spPr>
        <p:txBody>
          <a:bodyPr wrap="square" lIns="0" tIns="0" rIns="0" bIns="0" rtlCol="0" anchor="ctr"/>
          <a:lstStyle/>
          <a:p>
            <a:pPr indent="0" marL="0">
              <a:lnSpc>
                <a:spcPct val="110000"/>
              </a:lnSpc>
              <a:buNone/>
            </a:pPr>
            <a:r>
              <a:rPr lang="en-US" sz="880" b="1" dirty="0">
                <a:solidFill>
                  <a:srgbClr val="16233A"/>
                </a:solidFill>
                <a:latin typeface="Meiryo UI" pitchFamily="34" charset="0"/>
                <a:ea typeface="Meiryo UI" pitchFamily="34" charset="-122"/>
                <a:cs typeface="Meiryo UI" pitchFamily="34" charset="-120"/>
              </a:rPr>
              <a:t>答え：縮む数量市場から「拡がる予防・健康時間市場」へ重心を移す
</a:t>
            </a:r>
            <a:pPr indent="0" marL="0">
              <a:lnSpc>
                <a:spcPct val="110000"/>
              </a:lnSpc>
              <a:buNone/>
            </a:pPr>
            <a:r>
              <a:rPr lang="en-US" sz="820" dirty="0">
                <a:solidFill>
                  <a:srgbClr val="1F2733"/>
                </a:solidFill>
                <a:latin typeface="Meiryo UI" pitchFamily="34" charset="0"/>
                <a:ea typeface="Meiryo UI" pitchFamily="34" charset="-122"/>
                <a:cs typeface="Meiryo UI" pitchFamily="34" charset="-120"/>
              </a:rPr>
              <a:t>施策① 経営管理連携のデータ活用（ポートフォリオ再編・オーラル4分割・皆歯科健診の制度活用）</a:t>
            </a:r>
            <a:endParaRPr lang="en-US" sz="880" dirty="0"/>
          </a:p>
        </p:txBody>
      </p:sp>
      <p:sp>
        <p:nvSpPr>
          <p:cNvPr id="13" name="Shape 11"/>
          <p:cNvSpPr/>
          <p:nvPr/>
        </p:nvSpPr>
        <p:spPr>
          <a:xfrm>
            <a:off x="2926080" y="2487168"/>
            <a:ext cx="2834640" cy="841248"/>
          </a:xfrm>
          <a:prstGeom prst="rect">
            <a:avLst/>
          </a:prstGeom>
          <a:solidFill>
            <a:srgbClr val="0F5E87"/>
          </a:solidFill>
          <a:ln/>
        </p:spPr>
      </p:sp>
      <p:sp>
        <p:nvSpPr>
          <p:cNvPr id="14" name="Text 12"/>
          <p:cNvSpPr/>
          <p:nvPr/>
        </p:nvSpPr>
        <p:spPr>
          <a:xfrm>
            <a:off x="3054096" y="2532888"/>
            <a:ext cx="2606040" cy="768096"/>
          </a:xfrm>
          <a:prstGeom prst="rect">
            <a:avLst/>
          </a:prstGeom>
          <a:noFill/>
          <a:ln/>
        </p:spPr>
        <p:txBody>
          <a:bodyPr wrap="square" lIns="0" tIns="0" rIns="0" bIns="0" rtlCol="0" anchor="ctr"/>
          <a:lstStyle/>
          <a:p>
            <a:pP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テーマ2　選ばれる価値の創造
</a:t>
            </a:r>
            <a:pPr indent="0" marL="0">
              <a:lnSpc>
                <a:spcPct val="110000"/>
              </a:lnSpc>
              <a:buNone/>
            </a:pPr>
            <a:r>
              <a:rPr lang="en-US" sz="820" dirty="0">
                <a:solidFill>
                  <a:srgbClr val="FFFFFF"/>
                </a:solidFill>
                <a:latin typeface="Meiryo UI" pitchFamily="34" charset="0"/>
                <a:ea typeface="Meiryo UI" pitchFamily="34" charset="-122"/>
                <a:cs typeface="Meiryo UI" pitchFamily="34" charset="-120"/>
              </a:rPr>
              <a:t>問い：何を理由に選ばれる会社になるか</a:t>
            </a:r>
            <a:endParaRPr lang="en-US" sz="1000" dirty="0"/>
          </a:p>
        </p:txBody>
      </p:sp>
      <p:sp>
        <p:nvSpPr>
          <p:cNvPr id="15" name="Shape 13"/>
          <p:cNvSpPr/>
          <p:nvPr/>
        </p:nvSpPr>
        <p:spPr>
          <a:xfrm>
            <a:off x="5852160" y="2487168"/>
            <a:ext cx="5833872" cy="841248"/>
          </a:xfrm>
          <a:prstGeom prst="rect">
            <a:avLst/>
          </a:prstGeom>
          <a:solidFill>
            <a:srgbClr val="EAF3F8"/>
          </a:solidFill>
          <a:ln w="9525">
            <a:solidFill>
              <a:srgbClr val="D9DEE6"/>
            </a:solidFill>
            <a:prstDash val="solid"/>
          </a:ln>
        </p:spPr>
      </p:sp>
      <p:sp>
        <p:nvSpPr>
          <p:cNvPr id="16" name="Text 14"/>
          <p:cNvSpPr/>
          <p:nvPr/>
        </p:nvSpPr>
        <p:spPr>
          <a:xfrm>
            <a:off x="5989320" y="2532888"/>
            <a:ext cx="5577840" cy="768096"/>
          </a:xfrm>
          <a:prstGeom prst="rect">
            <a:avLst/>
          </a:prstGeom>
          <a:noFill/>
          <a:ln/>
        </p:spPr>
        <p:txBody>
          <a:bodyPr wrap="square" lIns="0" tIns="0" rIns="0" bIns="0" rtlCol="0" anchor="ctr"/>
          <a:lstStyle/>
          <a:p>
            <a:pPr indent="0" marL="0">
              <a:lnSpc>
                <a:spcPct val="110000"/>
              </a:lnSpc>
              <a:buNone/>
            </a:pPr>
            <a:r>
              <a:rPr lang="en-US" sz="880" b="1" dirty="0">
                <a:solidFill>
                  <a:srgbClr val="16233A"/>
                </a:solidFill>
                <a:latin typeface="Meiryo UI" pitchFamily="34" charset="0"/>
                <a:ea typeface="Meiryo UI" pitchFamily="34" charset="-122"/>
                <a:cs typeface="Meiryo UI" pitchFamily="34" charset="-120"/>
              </a:rPr>
              <a:t>答え：「健康の成果（アウトカム）に責任を持つ」ことを選ばれる理由にする
</a:t>
            </a:r>
            <a:pPr indent="0" marL="0">
              <a:lnSpc>
                <a:spcPct val="110000"/>
              </a:lnSpc>
              <a:buNone/>
            </a:pPr>
            <a:r>
              <a:rPr lang="en-US" sz="820" dirty="0">
                <a:solidFill>
                  <a:srgbClr val="1F2733"/>
                </a:solidFill>
                <a:latin typeface="Meiryo UI" pitchFamily="34" charset="0"/>
                <a:ea typeface="Meiryo UI" pitchFamily="34" charset="-122"/>
                <a:cs typeface="Meiryo UI" pitchFamily="34" charset="-120"/>
              </a:rPr>
              <a:t>施策② AIEO・エージェントコマース対応　＋　施策⑤ 臨床・行動データの統合・分析</a:t>
            </a:r>
            <a:endParaRPr lang="en-US" sz="880" dirty="0"/>
          </a:p>
        </p:txBody>
      </p:sp>
      <p:sp>
        <p:nvSpPr>
          <p:cNvPr id="17" name="Shape 15"/>
          <p:cNvSpPr/>
          <p:nvPr/>
        </p:nvSpPr>
        <p:spPr>
          <a:xfrm>
            <a:off x="2926080" y="3419856"/>
            <a:ext cx="2834640" cy="841248"/>
          </a:xfrm>
          <a:prstGeom prst="rect">
            <a:avLst/>
          </a:prstGeom>
          <a:solidFill>
            <a:srgbClr val="2C5F2D"/>
          </a:solidFill>
          <a:ln/>
        </p:spPr>
      </p:sp>
      <p:sp>
        <p:nvSpPr>
          <p:cNvPr id="18" name="Text 16"/>
          <p:cNvSpPr/>
          <p:nvPr/>
        </p:nvSpPr>
        <p:spPr>
          <a:xfrm>
            <a:off x="3054096" y="3465576"/>
            <a:ext cx="2606040" cy="768096"/>
          </a:xfrm>
          <a:prstGeom prst="rect">
            <a:avLst/>
          </a:prstGeom>
          <a:noFill/>
          <a:ln/>
        </p:spPr>
        <p:txBody>
          <a:bodyPr wrap="square" lIns="0" tIns="0" rIns="0" bIns="0" rtlCol="0" anchor="ctr"/>
          <a:lstStyle/>
          <a:p>
            <a:pP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テーマ3　顧客接点の統合
</a:t>
            </a:r>
            <a:pPr indent="0" marL="0">
              <a:lnSpc>
                <a:spcPct val="110000"/>
              </a:lnSpc>
              <a:buNone/>
            </a:pPr>
            <a:r>
              <a:rPr lang="en-US" sz="820" dirty="0">
                <a:solidFill>
                  <a:srgbClr val="FFFFFF"/>
                </a:solidFill>
                <a:latin typeface="Meiryo UI" pitchFamily="34" charset="0"/>
                <a:ea typeface="Meiryo UI" pitchFamily="34" charset="-122"/>
                <a:cs typeface="Meiryo UI" pitchFamily="34" charset="-120"/>
              </a:rPr>
              <a:t>問い：認知から受注、継続までをどうつなぐか</a:t>
            </a:r>
            <a:endParaRPr lang="en-US" sz="1000" dirty="0"/>
          </a:p>
        </p:txBody>
      </p:sp>
      <p:sp>
        <p:nvSpPr>
          <p:cNvPr id="19" name="Shape 17"/>
          <p:cNvSpPr/>
          <p:nvPr/>
        </p:nvSpPr>
        <p:spPr>
          <a:xfrm>
            <a:off x="5852160" y="3419856"/>
            <a:ext cx="5833872" cy="841248"/>
          </a:xfrm>
          <a:prstGeom prst="rect">
            <a:avLst/>
          </a:prstGeom>
          <a:solidFill>
            <a:srgbClr val="EEF4EC"/>
          </a:solidFill>
          <a:ln w="9525">
            <a:solidFill>
              <a:srgbClr val="D9DEE6"/>
            </a:solidFill>
            <a:prstDash val="solid"/>
          </a:ln>
        </p:spPr>
      </p:sp>
      <p:sp>
        <p:nvSpPr>
          <p:cNvPr id="20" name="Text 18"/>
          <p:cNvSpPr/>
          <p:nvPr/>
        </p:nvSpPr>
        <p:spPr>
          <a:xfrm>
            <a:off x="5989320" y="3465576"/>
            <a:ext cx="5577840" cy="768096"/>
          </a:xfrm>
          <a:prstGeom prst="rect">
            <a:avLst/>
          </a:prstGeom>
          <a:noFill/>
          <a:ln/>
        </p:spPr>
        <p:txBody>
          <a:bodyPr wrap="square" lIns="0" tIns="0" rIns="0" bIns="0" rtlCol="0" anchor="ctr"/>
          <a:lstStyle/>
          <a:p>
            <a:pPr indent="0" marL="0">
              <a:lnSpc>
                <a:spcPct val="110000"/>
              </a:lnSpc>
              <a:buNone/>
            </a:pPr>
            <a:r>
              <a:rPr lang="en-US" sz="880" b="1" dirty="0">
                <a:solidFill>
                  <a:srgbClr val="16233A"/>
                </a:solidFill>
                <a:latin typeface="Meiryo UI" pitchFamily="34" charset="0"/>
                <a:ea typeface="Meiryo UI" pitchFamily="34" charset="-122"/>
                <a:cs typeface="Meiryo UI" pitchFamily="34" charset="-120"/>
              </a:rPr>
              <a:t>答え：棚・EC・AI推奨・歯科接点を1つのスコアで統合し、小売と共同KPIで結ぶ
</a:t>
            </a:r>
            <a:pPr indent="0" marL="0">
              <a:lnSpc>
                <a:spcPct val="110000"/>
              </a:lnSpc>
              <a:buNone/>
            </a:pPr>
            <a:r>
              <a:rPr lang="en-US" sz="820" dirty="0">
                <a:solidFill>
                  <a:srgbClr val="1F2733"/>
                </a:solidFill>
                <a:latin typeface="Meiryo UI" pitchFamily="34" charset="0"/>
                <a:ea typeface="Meiryo UI" pitchFamily="34" charset="-122"/>
                <a:cs typeface="Meiryo UI" pitchFamily="34" charset="-120"/>
              </a:rPr>
              <a:t>施策③ リテールメディアJBP化×Total Availability　＋　施策⑥ B2B2C商談モデル</a:t>
            </a:r>
            <a:endParaRPr lang="en-US" sz="880" dirty="0"/>
          </a:p>
        </p:txBody>
      </p:sp>
      <p:sp>
        <p:nvSpPr>
          <p:cNvPr id="21" name="Shape 19"/>
          <p:cNvSpPr/>
          <p:nvPr/>
        </p:nvSpPr>
        <p:spPr>
          <a:xfrm>
            <a:off x="2926080" y="4352544"/>
            <a:ext cx="2834640" cy="841248"/>
          </a:xfrm>
          <a:prstGeom prst="rect">
            <a:avLst/>
          </a:prstGeom>
          <a:solidFill>
            <a:srgbClr val="B87A2A"/>
          </a:solidFill>
          <a:ln/>
        </p:spPr>
      </p:sp>
      <p:sp>
        <p:nvSpPr>
          <p:cNvPr id="22" name="Text 20"/>
          <p:cNvSpPr/>
          <p:nvPr/>
        </p:nvSpPr>
        <p:spPr>
          <a:xfrm>
            <a:off x="3054096" y="4398264"/>
            <a:ext cx="2606040" cy="768096"/>
          </a:xfrm>
          <a:prstGeom prst="rect">
            <a:avLst/>
          </a:prstGeom>
          <a:noFill/>
          <a:ln/>
        </p:spPr>
        <p:txBody>
          <a:bodyPr wrap="square" lIns="0" tIns="0" rIns="0" bIns="0" rtlCol="0" anchor="ctr"/>
          <a:lstStyle/>
          <a:p>
            <a:pP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テーマ4　顧客資本の蓄積
</a:t>
            </a:r>
            <a:pPr indent="0" marL="0">
              <a:lnSpc>
                <a:spcPct val="110000"/>
              </a:lnSpc>
              <a:buNone/>
            </a:pPr>
            <a:r>
              <a:rPr lang="en-US" sz="820" dirty="0">
                <a:solidFill>
                  <a:srgbClr val="FFFFFF"/>
                </a:solidFill>
                <a:latin typeface="Meiryo UI" pitchFamily="34" charset="0"/>
                <a:ea typeface="Meiryo UI" pitchFamily="34" charset="-122"/>
                <a:cs typeface="Meiryo UI" pitchFamily="34" charset="-120"/>
              </a:rPr>
              <a:t>問い：顧客との関係を企業資産にできているか</a:t>
            </a:r>
            <a:endParaRPr lang="en-US" sz="1000" dirty="0"/>
          </a:p>
        </p:txBody>
      </p:sp>
      <p:sp>
        <p:nvSpPr>
          <p:cNvPr id="23" name="Shape 21"/>
          <p:cNvSpPr/>
          <p:nvPr/>
        </p:nvSpPr>
        <p:spPr>
          <a:xfrm>
            <a:off x="5852160" y="4352544"/>
            <a:ext cx="5833872" cy="841248"/>
          </a:xfrm>
          <a:prstGeom prst="rect">
            <a:avLst/>
          </a:prstGeom>
          <a:solidFill>
            <a:srgbClr val="F7F0E3"/>
          </a:solidFill>
          <a:ln w="9525">
            <a:solidFill>
              <a:srgbClr val="D9DEE6"/>
            </a:solidFill>
            <a:prstDash val="solid"/>
          </a:ln>
        </p:spPr>
      </p:sp>
      <p:sp>
        <p:nvSpPr>
          <p:cNvPr id="24" name="Text 22"/>
          <p:cNvSpPr/>
          <p:nvPr/>
        </p:nvSpPr>
        <p:spPr>
          <a:xfrm>
            <a:off x="5989320" y="4398264"/>
            <a:ext cx="5577840" cy="768096"/>
          </a:xfrm>
          <a:prstGeom prst="rect">
            <a:avLst/>
          </a:prstGeom>
          <a:noFill/>
          <a:ln/>
        </p:spPr>
        <p:txBody>
          <a:bodyPr wrap="square" lIns="0" tIns="0" rIns="0" bIns="0" rtlCol="0" anchor="ctr"/>
          <a:lstStyle/>
          <a:p>
            <a:pPr indent="0" marL="0">
              <a:lnSpc>
                <a:spcPct val="110000"/>
              </a:lnSpc>
              <a:buNone/>
            </a:pPr>
            <a:r>
              <a:rPr lang="en-US" sz="880" b="1" dirty="0">
                <a:solidFill>
                  <a:srgbClr val="16233A"/>
                </a:solidFill>
                <a:latin typeface="Meiryo UI" pitchFamily="34" charset="0"/>
                <a:ea typeface="Meiryo UI" pitchFamily="34" charset="-122"/>
                <a:cs typeface="Meiryo UI" pitchFamily="34" charset="-120"/>
              </a:rPr>
              <a:t>答え：LION IDを「口腔健康のOS」へ転換し、習慣・健康データと顧客の継続行動を企業資産にする
</a:t>
            </a:r>
            <a:pPr indent="0" marL="0">
              <a:lnSpc>
                <a:spcPct val="110000"/>
              </a:lnSpc>
              <a:buNone/>
            </a:pPr>
            <a:r>
              <a:rPr lang="en-US" sz="820" dirty="0">
                <a:solidFill>
                  <a:srgbClr val="1F2733"/>
                </a:solidFill>
                <a:latin typeface="Meiryo UI" pitchFamily="34" charset="0"/>
                <a:ea typeface="Meiryo UI" pitchFamily="34" charset="-122"/>
                <a:cs typeface="Meiryo UI" pitchFamily="34" charset="-120"/>
              </a:rPr>
              <a:t>施策④ LION ID口腔健康OS化×Oral Health Graph　＋　顧客資本KPIの設計（B・E・C行動ベース）</a:t>
            </a:r>
            <a:endParaRPr lang="en-US" sz="880" dirty="0"/>
          </a:p>
        </p:txBody>
      </p:sp>
      <p:sp>
        <p:nvSpPr>
          <p:cNvPr id="25" name="Shape 23"/>
          <p:cNvSpPr/>
          <p:nvPr/>
        </p:nvSpPr>
        <p:spPr>
          <a:xfrm>
            <a:off x="2926080" y="5285232"/>
            <a:ext cx="2834640" cy="841248"/>
          </a:xfrm>
          <a:prstGeom prst="rect">
            <a:avLst/>
          </a:prstGeom>
          <a:solidFill>
            <a:srgbClr val="16233A"/>
          </a:solidFill>
          <a:ln/>
        </p:spPr>
      </p:sp>
      <p:sp>
        <p:nvSpPr>
          <p:cNvPr id="26" name="Text 24"/>
          <p:cNvSpPr/>
          <p:nvPr/>
        </p:nvSpPr>
        <p:spPr>
          <a:xfrm>
            <a:off x="3054096" y="5330952"/>
            <a:ext cx="2606040" cy="768096"/>
          </a:xfrm>
          <a:prstGeom prst="rect">
            <a:avLst/>
          </a:prstGeom>
          <a:noFill/>
          <a:ln/>
        </p:spPr>
        <p:txBody>
          <a:bodyPr wrap="square" lIns="0" tIns="0" rIns="0" bIns="0" rtlCol="0" anchor="ctr"/>
          <a:lstStyle/>
          <a:p>
            <a:pPr indent="0" marL="0">
              <a:lnSpc>
                <a:spcPct val="110000"/>
              </a:lnSpc>
              <a:buNone/>
            </a:pPr>
            <a:r>
              <a:rPr lang="en-US" sz="1000" b="1" dirty="0">
                <a:solidFill>
                  <a:srgbClr val="FFFFFF"/>
                </a:solidFill>
                <a:latin typeface="Meiryo UI" pitchFamily="34" charset="0"/>
                <a:ea typeface="Meiryo UI" pitchFamily="34" charset="-122"/>
                <a:cs typeface="Meiryo UI" pitchFamily="34" charset="-120"/>
              </a:rPr>
              <a:t>テーマ5　実行能力と成果管理
</a:t>
            </a:r>
            <a:pPr indent="0" marL="0">
              <a:lnSpc>
                <a:spcPct val="110000"/>
              </a:lnSpc>
              <a:buNone/>
            </a:pPr>
            <a:r>
              <a:rPr lang="en-US" sz="820" dirty="0">
                <a:solidFill>
                  <a:srgbClr val="FFFFFF"/>
                </a:solidFill>
                <a:latin typeface="Meiryo UI" pitchFamily="34" charset="0"/>
                <a:ea typeface="Meiryo UI" pitchFamily="34" charset="-122"/>
                <a:cs typeface="Meiryo UI" pitchFamily="34" charset="-120"/>
              </a:rPr>
              <a:t>問い：誰が、何を担い、どの指標で評価するか</a:t>
            </a:r>
            <a:endParaRPr lang="en-US" sz="1000" dirty="0"/>
          </a:p>
        </p:txBody>
      </p:sp>
      <p:sp>
        <p:nvSpPr>
          <p:cNvPr id="27" name="Shape 25"/>
          <p:cNvSpPr/>
          <p:nvPr/>
        </p:nvSpPr>
        <p:spPr>
          <a:xfrm>
            <a:off x="5852160" y="5285232"/>
            <a:ext cx="5833872" cy="841248"/>
          </a:xfrm>
          <a:prstGeom prst="rect">
            <a:avLst/>
          </a:prstGeom>
          <a:solidFill>
            <a:srgbClr val="F4F6F9"/>
          </a:solidFill>
          <a:ln w="9525">
            <a:solidFill>
              <a:srgbClr val="D9DEE6"/>
            </a:solidFill>
            <a:prstDash val="solid"/>
          </a:ln>
        </p:spPr>
      </p:sp>
      <p:sp>
        <p:nvSpPr>
          <p:cNvPr id="28" name="Text 26"/>
          <p:cNvSpPr/>
          <p:nvPr/>
        </p:nvSpPr>
        <p:spPr>
          <a:xfrm>
            <a:off x="5989320" y="5330952"/>
            <a:ext cx="5577840" cy="768096"/>
          </a:xfrm>
          <a:prstGeom prst="rect">
            <a:avLst/>
          </a:prstGeom>
          <a:noFill/>
          <a:ln/>
        </p:spPr>
        <p:txBody>
          <a:bodyPr wrap="square" lIns="0" tIns="0" rIns="0" bIns="0" rtlCol="0" anchor="ctr"/>
          <a:lstStyle/>
          <a:p>
            <a:pPr indent="0" marL="0">
              <a:lnSpc>
                <a:spcPct val="110000"/>
              </a:lnSpc>
              <a:buNone/>
            </a:pPr>
            <a:r>
              <a:rPr lang="en-US" sz="880" b="1" dirty="0">
                <a:solidFill>
                  <a:srgbClr val="16233A"/>
                </a:solidFill>
                <a:latin typeface="Meiryo UI" pitchFamily="34" charset="0"/>
                <a:ea typeface="Meiryo UI" pitchFamily="34" charset="-122"/>
                <a:cs typeface="Meiryo UI" pitchFamily="34" charset="-120"/>
              </a:rPr>
              <a:t>答え：北極星KPI（増分粗利）で全部門を束ね、時間を生み、評価を変える
</a:t>
            </a:r>
            <a:pPr indent="0" marL="0">
              <a:lnSpc>
                <a:spcPct val="110000"/>
              </a:lnSpc>
              <a:buNone/>
            </a:pPr>
            <a:r>
              <a:rPr lang="en-US" sz="820" dirty="0">
                <a:solidFill>
                  <a:srgbClr val="1F2733"/>
                </a:solidFill>
                <a:latin typeface="Meiryo UI" pitchFamily="34" charset="0"/>
                <a:ea typeface="Meiryo UI" pitchFamily="34" charset="-122"/>
                <a:cs typeface="Meiryo UI" pitchFamily="34" charset="-120"/>
              </a:rPr>
              <a:t>施策⑦ Input業務ゼロ化　＋　施策⑧ RevOps型KPIマネジメント（＋テーマ別役員オーナー制）</a:t>
            </a:r>
            <a:endParaRPr lang="en-US" sz="880" dirty="0"/>
          </a:p>
        </p:txBody>
      </p:sp>
      <p:sp>
        <p:nvSpPr>
          <p:cNvPr id="29" name="Shape 27"/>
          <p:cNvSpPr/>
          <p:nvPr/>
        </p:nvSpPr>
        <p:spPr>
          <a:xfrm>
            <a:off x="502920" y="6181344"/>
            <a:ext cx="11185855" cy="347472"/>
          </a:xfrm>
          <a:prstGeom prst="rect">
            <a:avLst/>
          </a:prstGeom>
          <a:solidFill>
            <a:srgbClr val="16233A"/>
          </a:solidFill>
          <a:ln/>
        </p:spPr>
      </p:sp>
      <p:sp>
        <p:nvSpPr>
          <p:cNvPr id="30" name="Text 28"/>
          <p:cNvSpPr/>
          <p:nvPr/>
        </p:nvSpPr>
        <p:spPr>
          <a:xfrm>
            <a:off x="731520" y="6217920"/>
            <a:ext cx="10728655" cy="274320"/>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以降のHow：</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テーマ1枚ずつ、「前（何を受けて）→答え→施策と主要アクション→誰が・いつ・どのKPI→後（何につながるか）」の同じ型で示す。</a:t>
            </a:r>
            <a:endParaRPr lang="en-US" sz="1030" dirty="0"/>
          </a:p>
        </p:txBody>
      </p:sp>
      <p:sp>
        <p:nvSpPr>
          <p:cNvPr id="31" name="Text 29"/>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How 1/5</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テーマ1　市場機会の選択 ― どの市場・顧客を重点化するか</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042416"/>
            <a:ext cx="11185855" cy="566928"/>
          </a:xfrm>
          <a:prstGeom prst="rect">
            <a:avLst/>
          </a:prstGeom>
          <a:solidFill>
            <a:srgbClr val="C8102E"/>
          </a:solidFill>
          <a:ln/>
        </p:spPr>
      </p:sp>
      <p:sp>
        <p:nvSpPr>
          <p:cNvPr id="7" name="Text 5"/>
          <p:cNvSpPr/>
          <p:nvPr/>
        </p:nvSpPr>
        <p:spPr>
          <a:xfrm>
            <a:off x="685800" y="1042416"/>
            <a:ext cx="10820095" cy="566928"/>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Meiryo UI" pitchFamily="34" charset="0"/>
                <a:ea typeface="Meiryo UI" pitchFamily="34" charset="-122"/>
                <a:cs typeface="Meiryo UI" pitchFamily="34" charset="-120"/>
              </a:rPr>
              <a:t>答え：</a:t>
            </a:r>
            <a:pPr indent="0" marL="0">
              <a:lnSpc>
                <a:spcPct val="110000"/>
              </a:lnSpc>
              <a:buNone/>
            </a:pPr>
            <a:r>
              <a:rPr lang="en-US" sz="1150" b="1" dirty="0">
                <a:solidFill>
                  <a:srgbClr val="FFFFFF"/>
                </a:solidFill>
                <a:latin typeface="Meiryo UI" pitchFamily="34" charset="0"/>
                <a:ea typeface="Meiryo UI" pitchFamily="34" charset="-122"/>
                <a:cs typeface="Meiryo UI" pitchFamily="34" charset="-120"/>
              </a:rPr>
              <a:t>縮む数量市場ではなく「拡がる予防・健康時間市場」を主戦場に選び、資源配分をデータで裁く</a:t>
            </a:r>
            <a:endParaRPr lang="en-US" sz="1150" dirty="0"/>
          </a:p>
        </p:txBody>
      </p:sp>
      <p:sp>
        <p:nvSpPr>
          <p:cNvPr id="8" name="Shape 6"/>
          <p:cNvSpPr/>
          <p:nvPr/>
        </p:nvSpPr>
        <p:spPr>
          <a:xfrm>
            <a:off x="502920" y="1755648"/>
            <a:ext cx="2880360" cy="3246120"/>
          </a:xfrm>
          <a:prstGeom prst="rect">
            <a:avLst/>
          </a:prstGeom>
          <a:solidFill>
            <a:srgbClr val="F4F6F9"/>
          </a:solidFill>
          <a:ln w="9525">
            <a:solidFill>
              <a:srgbClr val="D9DEE6"/>
            </a:solidFill>
            <a:prstDash val="solid"/>
          </a:ln>
        </p:spPr>
      </p:sp>
      <p:sp>
        <p:nvSpPr>
          <p:cNvPr id="9" name="Text 7"/>
          <p:cNvSpPr/>
          <p:nvPr/>
        </p:nvSpPr>
        <p:spPr>
          <a:xfrm>
            <a:off x="621792" y="1828800"/>
            <a:ext cx="2651760" cy="256032"/>
          </a:xfrm>
          <a:prstGeom prst="rect">
            <a:avLst/>
          </a:prstGeom>
          <a:noFill/>
          <a:ln/>
        </p:spPr>
        <p:txBody>
          <a:bodyPr wrap="square" lIns="0" tIns="0" rIns="0" bIns="0" rtlCol="0" anchor="ctr"/>
          <a:lstStyle/>
          <a:p>
            <a:pPr indent="0" marL="0">
              <a:buNone/>
            </a:pPr>
            <a:r>
              <a:rPr lang="en-US" sz="1000" b="1" dirty="0">
                <a:solidFill>
                  <a:srgbClr val="6B7686"/>
                </a:solidFill>
                <a:latin typeface="Meiryo UI" pitchFamily="34" charset="0"/>
                <a:ea typeface="Meiryo UI" pitchFamily="34" charset="-122"/>
                <a:cs typeface="Meiryo UI" pitchFamily="34" charset="-120"/>
              </a:rPr>
              <a:t>前 ― 何を受けているか</a:t>
            </a:r>
            <a:endParaRPr lang="en-US" sz="1000" dirty="0"/>
          </a:p>
        </p:txBody>
      </p:sp>
      <p:sp>
        <p:nvSpPr>
          <p:cNvPr id="10" name="Text 8"/>
          <p:cNvSpPr/>
          <p:nvPr/>
        </p:nvSpPr>
        <p:spPr>
          <a:xfrm>
            <a:off x="640080" y="2121408"/>
            <a:ext cx="2624328" cy="2788920"/>
          </a:xfrm>
          <a:prstGeom prst="rect">
            <a:avLst/>
          </a:prstGeom>
          <a:noFill/>
          <a:ln/>
        </p:spPr>
        <p:txBody>
          <a:bodyPr wrap="square" lIns="0" tIns="0" rIns="0" bIns="0" rtlCol="0" anchor="t"/>
          <a:lstStyle/>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日雑市場の数量縮小・K字二極化（前提1）</a:t>
            </a:r>
            <a:endParaRPr lang="en-US" sz="850" dirty="0"/>
          </a:p>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予防・健康の拡大と国民皆歯科健診の始動（前提1）</a:t>
            </a:r>
            <a:endParaRPr lang="en-US" sz="850" dirty="0"/>
          </a:p>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過去の投資が点の積み重ねで、全体最適の計画に束ねられてこなかった（前提3）</a:t>
            </a:r>
            <a:endParaRPr lang="en-US" sz="850" dirty="0"/>
          </a:p>
        </p:txBody>
      </p:sp>
      <p:sp>
        <p:nvSpPr>
          <p:cNvPr id="11" name="Shape 9"/>
          <p:cNvSpPr/>
          <p:nvPr/>
        </p:nvSpPr>
        <p:spPr>
          <a:xfrm>
            <a:off x="3520440" y="1755648"/>
            <a:ext cx="5212080" cy="3246120"/>
          </a:xfrm>
          <a:prstGeom prst="rect">
            <a:avLst/>
          </a:prstGeom>
          <a:solidFill>
            <a:srgbClr val="FBECEC"/>
          </a:solidFill>
          <a:ln w="9525">
            <a:solidFill>
              <a:srgbClr val="D9DEE6"/>
            </a:solidFill>
            <a:prstDash val="solid"/>
          </a:ln>
        </p:spPr>
      </p:sp>
      <p:sp>
        <p:nvSpPr>
          <p:cNvPr id="12" name="Text 10"/>
          <p:cNvSpPr/>
          <p:nvPr/>
        </p:nvSpPr>
        <p:spPr>
          <a:xfrm>
            <a:off x="3657600" y="1828800"/>
            <a:ext cx="4937760" cy="256032"/>
          </a:xfrm>
          <a:prstGeom prst="rect">
            <a:avLst/>
          </a:prstGeom>
          <a:noFill/>
          <a:ln/>
        </p:spPr>
        <p:txBody>
          <a:bodyPr wrap="square" lIns="0" tIns="0" rIns="0" bIns="0" rtlCol="0" anchor="ctr"/>
          <a:lstStyle/>
          <a:p>
            <a:pPr indent="0" marL="0">
              <a:buNone/>
            </a:pPr>
            <a:r>
              <a:rPr lang="en-US" sz="1000" b="1" dirty="0">
                <a:solidFill>
                  <a:srgbClr val="C8102E"/>
                </a:solidFill>
                <a:latin typeface="Meiryo UI" pitchFamily="34" charset="0"/>
                <a:ea typeface="Meiryo UI" pitchFamily="34" charset="-122"/>
                <a:cs typeface="Meiryo UI" pitchFamily="34" charset="-120"/>
              </a:rPr>
              <a:t>施策（What）と主要アクション（How）</a:t>
            </a:r>
            <a:endParaRPr lang="en-US" sz="1000" dirty="0"/>
          </a:p>
        </p:txBody>
      </p:sp>
      <p:sp>
        <p:nvSpPr>
          <p:cNvPr id="13" name="Text 11"/>
          <p:cNvSpPr/>
          <p:nvPr/>
        </p:nvSpPr>
        <p:spPr>
          <a:xfrm>
            <a:off x="3657600" y="2121408"/>
            <a:ext cx="4956048" cy="2788920"/>
          </a:xfrm>
          <a:prstGeom prst="rect">
            <a:avLst/>
          </a:prstGeom>
          <a:noFill/>
          <a:ln/>
        </p:spPr>
        <p:txBody>
          <a:bodyPr wrap="square" lIns="0" tIns="0" rIns="0" bIns="0" rtlCol="0" anchor="t"/>
          <a:lstStyle/>
          <a:p>
            <a:pPr indent="0" marL="0">
              <a:lnSpc>
                <a:spcPct val="112000"/>
              </a:lnSpc>
              <a:buNone/>
            </a:pPr>
            <a:r>
              <a:rPr lang="en-US" sz="980" b="1" dirty="0">
                <a:solidFill>
                  <a:srgbClr val="16233A"/>
                </a:solidFill>
                <a:latin typeface="Meiryo UI" pitchFamily="34" charset="0"/>
                <a:ea typeface="Meiryo UI" pitchFamily="34" charset="-122"/>
                <a:cs typeface="Meiryo UI" pitchFamily="34" charset="-120"/>
              </a:rPr>
              <a:t>施策① 経営管理高度化との連携によるデータ活用
</a:t>
            </a:r>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衣料洗剤等の標準品投資を縮小し、オーラルケア・キレイキレイ・OTC医薬品へ資源集中。撤退ラインはROIC基準で会議体を決めて機械的に裁く
</a:t>
            </a:r>
            <a:pPr indent="0" marL="0">
              <a:lnSpc>
                <a:spcPct val="112000"/>
              </a:lnSpc>
              <a:buNone/>
            </a:pPr>
            <a:r>
              <a:rPr lang="en-US" sz="900" b="1" dirty="0">
                <a:solidFill>
                  <a:srgbClr val="C8102E"/>
                </a:solidFill>
                <a:latin typeface="Meiryo UI" pitchFamily="34" charset="0"/>
                <a:ea typeface="Meiryo UI" pitchFamily="34" charset="-122"/>
                <a:cs typeface="Meiryo UI" pitchFamily="34" charset="-120"/>
              </a:rPr>
              <a:t>主要アクション
</a:t>
            </a:r>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・オーラルケア市場の4分割再定義（補充・悩み・予防・口腔機能）と分割別KPI管理</a:t>
            </a:r>
            <a:endParaRPr lang="en-US" sz="980" dirty="0"/>
          </a:p>
          <a:p>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・B2B歯科チャネルの推奨ビジネス化（歯科医院・歯科衛生士・健保のパートナー化）</a:t>
            </a:r>
            <a:endParaRPr lang="en-US" sz="980" dirty="0"/>
          </a:p>
          <a:p>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・国民皆歯科健診の制度活用：健診受診者→LION ID誘導→健保・自治体との共同事業</a:t>
            </a:r>
            <a:endParaRPr lang="en-US" sz="980" dirty="0"/>
          </a:p>
          <a:p>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・現実性の担保：撤退はブランド別ROICと数量トレンドの2基準で段階実行（急激な撤退はしない）</a:t>
            </a:r>
            <a:endParaRPr lang="en-US" sz="980" dirty="0"/>
          </a:p>
        </p:txBody>
      </p:sp>
      <p:sp>
        <p:nvSpPr>
          <p:cNvPr id="14" name="Shape 12"/>
          <p:cNvSpPr/>
          <p:nvPr/>
        </p:nvSpPr>
        <p:spPr>
          <a:xfrm>
            <a:off x="8869680" y="1755648"/>
            <a:ext cx="2816352" cy="3246120"/>
          </a:xfrm>
          <a:prstGeom prst="rect">
            <a:avLst/>
          </a:prstGeom>
          <a:solidFill>
            <a:srgbClr val="FFFFFF"/>
          </a:solidFill>
          <a:ln w="12700">
            <a:solidFill>
              <a:srgbClr val="D9DEE6"/>
            </a:solidFill>
            <a:prstDash val="solid"/>
          </a:ln>
        </p:spPr>
      </p:sp>
      <p:sp>
        <p:nvSpPr>
          <p:cNvPr id="15" name="Text 13"/>
          <p:cNvSpPr/>
          <p:nvPr/>
        </p:nvSpPr>
        <p:spPr>
          <a:xfrm>
            <a:off x="9006840" y="1874520"/>
            <a:ext cx="2560320" cy="3063240"/>
          </a:xfrm>
          <a:prstGeom prst="rect">
            <a:avLst/>
          </a:prstGeom>
          <a:noFill/>
          <a:ln/>
        </p:spPr>
        <p:txBody>
          <a:bodyPr wrap="square" lIns="0" tIns="0" rIns="0" bIns="0" rtlCol="0" anchor="t"/>
          <a:lstStyle/>
          <a:p>
            <a:pPr indent="0" marL="0">
              <a:lnSpc>
                <a:spcPct val="114000"/>
              </a:lnSpc>
              <a:buNone/>
            </a:pPr>
            <a:r>
              <a:rPr lang="en-US" sz="950" b="1" dirty="0">
                <a:solidFill>
                  <a:srgbClr val="C8102E"/>
                </a:solidFill>
                <a:latin typeface="Meiryo UI" pitchFamily="34" charset="0"/>
                <a:ea typeface="Meiryo UI" pitchFamily="34" charset="-122"/>
                <a:cs typeface="Meiryo UI" pitchFamily="34" charset="-120"/>
              </a:rPr>
              <a:t>Who（主担当）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経営企画＋事業部
オーナー役員：経営企画担当
</a:t>
            </a:r>
            <a:pPr indent="0" marL="0">
              <a:lnSpc>
                <a:spcPct val="114000"/>
              </a:lnSpc>
              <a:buNone/>
            </a:pPr>
            <a:r>
              <a:rPr lang="en-US" sz="950" b="1" dirty="0">
                <a:solidFill>
                  <a:srgbClr val="C8102E"/>
                </a:solidFill>
                <a:latin typeface="Meiryo UI" pitchFamily="34" charset="0"/>
                <a:ea typeface="Meiryo UI" pitchFamily="34" charset="-122"/>
                <a:cs typeface="Meiryo UI" pitchFamily="34" charset="-120"/>
              </a:rPr>
              <a:t>When（実施時期）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FY26 中計反映
→ FY27 本格移行
</a:t>
            </a:r>
            <a:pPr indent="0" marL="0">
              <a:lnSpc>
                <a:spcPct val="114000"/>
              </a:lnSpc>
              <a:buNone/>
            </a:pPr>
            <a:r>
              <a:rPr lang="en-US" sz="950" b="1" dirty="0">
                <a:solidFill>
                  <a:srgbClr val="C8102E"/>
                </a:solidFill>
                <a:latin typeface="Meiryo UI" pitchFamily="34" charset="0"/>
                <a:ea typeface="Meiryo UI" pitchFamily="34" charset="-122"/>
                <a:cs typeface="Meiryo UI" pitchFamily="34" charset="-120"/>
              </a:rPr>
              <a:t>KPI（見る数字）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強み領域売上比率</a:t>
            </a:r>
            <a:endParaRPr lang="en-US" sz="950" dirty="0"/>
          </a:p>
          <a:p>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65%→80%（FY30）</a:t>
            </a:r>
            <a:endParaRPr lang="en-US" sz="950" dirty="0"/>
          </a:p>
          <a:p>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専門家推奨起点売上比率</a:t>
            </a:r>
            <a:endParaRPr lang="en-US" sz="950" dirty="0"/>
          </a:p>
        </p:txBody>
      </p:sp>
      <p:sp>
        <p:nvSpPr>
          <p:cNvPr id="16" name="Shape 14"/>
          <p:cNvSpPr/>
          <p:nvPr/>
        </p:nvSpPr>
        <p:spPr>
          <a:xfrm>
            <a:off x="502920" y="5138928"/>
            <a:ext cx="11185855" cy="685800"/>
          </a:xfrm>
          <a:prstGeom prst="rect">
            <a:avLst/>
          </a:prstGeom>
          <a:solidFill>
            <a:srgbClr val="16233A"/>
          </a:solidFill>
          <a:ln/>
        </p:spPr>
      </p:sp>
      <p:sp>
        <p:nvSpPr>
          <p:cNvPr id="17" name="Text 15"/>
          <p:cNvSpPr/>
          <p:nvPr/>
        </p:nvSpPr>
        <p:spPr>
          <a:xfrm>
            <a:off x="731520" y="5175504"/>
            <a:ext cx="10728655" cy="612648"/>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後 ― 何につながるか：</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選んだ市場に、テーマ2（価値）とテーマ3（接点）の投資を集中できる。北極星KPI「増分粗利（オーラルケア）」の分母＝戦う市場そのものを定義する一手。</a:t>
            </a:r>
            <a:endParaRPr lang="en-US" sz="1030" dirty="0"/>
          </a:p>
        </p:txBody>
      </p:sp>
      <p:sp>
        <p:nvSpPr>
          <p:cNvPr id="18" name="Text 16"/>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How 2/5</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テーマ2　選ばれる価値の創造 ― 何を理由に選ばれる会社になるか</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042416"/>
            <a:ext cx="11185855" cy="566928"/>
          </a:xfrm>
          <a:prstGeom prst="rect">
            <a:avLst/>
          </a:prstGeom>
          <a:solidFill>
            <a:srgbClr val="0F5E87"/>
          </a:solidFill>
          <a:ln/>
        </p:spPr>
      </p:sp>
      <p:sp>
        <p:nvSpPr>
          <p:cNvPr id="7" name="Text 5"/>
          <p:cNvSpPr/>
          <p:nvPr/>
        </p:nvSpPr>
        <p:spPr>
          <a:xfrm>
            <a:off x="685800" y="1042416"/>
            <a:ext cx="10820095" cy="566928"/>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Meiryo UI" pitchFamily="34" charset="0"/>
                <a:ea typeface="Meiryo UI" pitchFamily="34" charset="-122"/>
                <a:cs typeface="Meiryo UI" pitchFamily="34" charset="-120"/>
              </a:rPr>
              <a:t>答え：</a:t>
            </a:r>
            <a:pPr indent="0" marL="0">
              <a:lnSpc>
                <a:spcPct val="110000"/>
              </a:lnSpc>
              <a:buNone/>
            </a:pPr>
            <a:r>
              <a:rPr lang="en-US" sz="1150" b="1" dirty="0">
                <a:solidFill>
                  <a:srgbClr val="FFFFFF"/>
                </a:solidFill>
                <a:latin typeface="Meiryo UI" pitchFamily="34" charset="0"/>
                <a:ea typeface="Meiryo UI" pitchFamily="34" charset="-122"/>
                <a:cs typeface="Meiryo UI" pitchFamily="34" charset="-120"/>
              </a:rPr>
              <a:t>「安いから」ではなく「健康の成果に責任を持つから」選ばれる ― 臨床データを人とAIの両方に効く知識資産に変える</a:t>
            </a:r>
            <a:endParaRPr lang="en-US" sz="1150" dirty="0"/>
          </a:p>
        </p:txBody>
      </p:sp>
      <p:sp>
        <p:nvSpPr>
          <p:cNvPr id="8" name="Shape 6"/>
          <p:cNvSpPr/>
          <p:nvPr/>
        </p:nvSpPr>
        <p:spPr>
          <a:xfrm>
            <a:off x="502920" y="1755648"/>
            <a:ext cx="2880360" cy="3246120"/>
          </a:xfrm>
          <a:prstGeom prst="rect">
            <a:avLst/>
          </a:prstGeom>
          <a:solidFill>
            <a:srgbClr val="F4F6F9"/>
          </a:solidFill>
          <a:ln w="9525">
            <a:solidFill>
              <a:srgbClr val="D9DEE6"/>
            </a:solidFill>
            <a:prstDash val="solid"/>
          </a:ln>
        </p:spPr>
      </p:sp>
      <p:sp>
        <p:nvSpPr>
          <p:cNvPr id="9" name="Text 7"/>
          <p:cNvSpPr/>
          <p:nvPr/>
        </p:nvSpPr>
        <p:spPr>
          <a:xfrm>
            <a:off x="621792" y="1828800"/>
            <a:ext cx="2651760" cy="256032"/>
          </a:xfrm>
          <a:prstGeom prst="rect">
            <a:avLst/>
          </a:prstGeom>
          <a:noFill/>
          <a:ln/>
        </p:spPr>
        <p:txBody>
          <a:bodyPr wrap="square" lIns="0" tIns="0" rIns="0" bIns="0" rtlCol="0" anchor="ctr"/>
          <a:lstStyle/>
          <a:p>
            <a:pPr indent="0" marL="0">
              <a:buNone/>
            </a:pPr>
            <a:r>
              <a:rPr lang="en-US" sz="1000" b="1" dirty="0">
                <a:solidFill>
                  <a:srgbClr val="6B7686"/>
                </a:solidFill>
                <a:latin typeface="Meiryo UI" pitchFamily="34" charset="0"/>
                <a:ea typeface="Meiryo UI" pitchFamily="34" charset="-122"/>
                <a:cs typeface="Meiryo UI" pitchFamily="34" charset="-120"/>
              </a:rPr>
              <a:t>前 ― 何を受けているか</a:t>
            </a:r>
            <a:endParaRPr lang="en-US" sz="1000" dirty="0"/>
          </a:p>
        </p:txBody>
      </p:sp>
      <p:sp>
        <p:nvSpPr>
          <p:cNvPr id="10" name="Text 8"/>
          <p:cNvSpPr/>
          <p:nvPr/>
        </p:nvSpPr>
        <p:spPr>
          <a:xfrm>
            <a:off x="640080" y="2121408"/>
            <a:ext cx="2624328" cy="2788920"/>
          </a:xfrm>
          <a:prstGeom prst="rect">
            <a:avLst/>
          </a:prstGeom>
          <a:noFill/>
          <a:ln/>
        </p:spPr>
        <p:txBody>
          <a:bodyPr wrap="square" lIns="0" tIns="0" rIns="0" bIns="0" rtlCol="0" anchor="t"/>
          <a:lstStyle/>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AI検索の主流化（ゼロクリック66.4%）とAI購買代行の開始（前提1）</a:t>
            </a:r>
            <a:endParaRPr lang="en-US" sz="850" dirty="0"/>
          </a:p>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真因「知見の非換金」― 30年の臨床データが眠っている（前提3）</a:t>
            </a:r>
            <a:endParaRPr lang="en-US" sz="850" dirty="0"/>
          </a:p>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競合はAI推奨の監視・データ基盤を既に運用（3C）</a:t>
            </a:r>
            <a:endParaRPr lang="en-US" sz="850" dirty="0"/>
          </a:p>
        </p:txBody>
      </p:sp>
      <p:sp>
        <p:nvSpPr>
          <p:cNvPr id="11" name="Shape 9"/>
          <p:cNvSpPr/>
          <p:nvPr/>
        </p:nvSpPr>
        <p:spPr>
          <a:xfrm>
            <a:off x="3520440" y="1755648"/>
            <a:ext cx="5212080" cy="3246120"/>
          </a:xfrm>
          <a:prstGeom prst="rect">
            <a:avLst/>
          </a:prstGeom>
          <a:solidFill>
            <a:srgbClr val="EAF3F8"/>
          </a:solidFill>
          <a:ln w="9525">
            <a:solidFill>
              <a:srgbClr val="D9DEE6"/>
            </a:solidFill>
            <a:prstDash val="solid"/>
          </a:ln>
        </p:spPr>
      </p:sp>
      <p:sp>
        <p:nvSpPr>
          <p:cNvPr id="12" name="Text 10"/>
          <p:cNvSpPr/>
          <p:nvPr/>
        </p:nvSpPr>
        <p:spPr>
          <a:xfrm>
            <a:off x="3657600" y="1828800"/>
            <a:ext cx="4937760" cy="256032"/>
          </a:xfrm>
          <a:prstGeom prst="rect">
            <a:avLst/>
          </a:prstGeom>
          <a:noFill/>
          <a:ln/>
        </p:spPr>
        <p:txBody>
          <a:bodyPr wrap="square" lIns="0" tIns="0" rIns="0" bIns="0" rtlCol="0" anchor="ctr"/>
          <a:lstStyle/>
          <a:p>
            <a:pPr indent="0" marL="0">
              <a:buNone/>
            </a:pPr>
            <a:r>
              <a:rPr lang="en-US" sz="1000" b="1" dirty="0">
                <a:solidFill>
                  <a:srgbClr val="0F5E87"/>
                </a:solidFill>
                <a:latin typeface="Meiryo UI" pitchFamily="34" charset="0"/>
                <a:ea typeface="Meiryo UI" pitchFamily="34" charset="-122"/>
                <a:cs typeface="Meiryo UI" pitchFamily="34" charset="-120"/>
              </a:rPr>
              <a:t>施策（What）と主要アクション（How）</a:t>
            </a:r>
            <a:endParaRPr lang="en-US" sz="1000" dirty="0"/>
          </a:p>
        </p:txBody>
      </p:sp>
      <p:sp>
        <p:nvSpPr>
          <p:cNvPr id="13" name="Text 11"/>
          <p:cNvSpPr/>
          <p:nvPr/>
        </p:nvSpPr>
        <p:spPr>
          <a:xfrm>
            <a:off x="3657600" y="2121408"/>
            <a:ext cx="4956048" cy="2788920"/>
          </a:xfrm>
          <a:prstGeom prst="rect">
            <a:avLst/>
          </a:prstGeom>
          <a:noFill/>
          <a:ln/>
        </p:spPr>
        <p:txBody>
          <a:bodyPr wrap="square" lIns="0" tIns="0" rIns="0" bIns="0" rtlCol="0" anchor="t"/>
          <a:lstStyle/>
          <a:p>
            <a:pPr indent="0" marL="0">
              <a:lnSpc>
                <a:spcPct val="112000"/>
              </a:lnSpc>
              <a:buNone/>
            </a:pPr>
            <a:r>
              <a:rPr lang="en-US" sz="980" b="1" dirty="0">
                <a:solidFill>
                  <a:srgbClr val="16233A"/>
                </a:solidFill>
                <a:latin typeface="Meiryo UI" pitchFamily="34" charset="0"/>
                <a:ea typeface="Meiryo UI" pitchFamily="34" charset="-122"/>
                <a:cs typeface="Meiryo UI" pitchFamily="34" charset="-120"/>
              </a:rPr>
              <a:t>施策② AIEO・エージェントコマース対応
</a:t>
            </a:r>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全商品×症状×エビデンスをAIが参照できる構造化データとして公開（Oral Evidence Hub）。AI推奨シェアを月次測定し、改善までループさせる
</a:t>
            </a:r>
            <a:pPr indent="0" marL="0">
              <a:lnSpc>
                <a:spcPct val="112000"/>
              </a:lnSpc>
              <a:buNone/>
            </a:pPr>
            <a:r>
              <a:rPr lang="en-US" sz="980" b="1" dirty="0">
                <a:solidFill>
                  <a:srgbClr val="16233A"/>
                </a:solidFill>
                <a:latin typeface="Meiryo UI" pitchFamily="34" charset="0"/>
                <a:ea typeface="Meiryo UI" pitchFamily="34" charset="-122"/>
                <a:cs typeface="Meiryo UI" pitchFamily="34" charset="-120"/>
              </a:rPr>
              <a:t>施策⑤ 付加価値創出のためのデータ統合・分析
</a:t>
            </a:r>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臨床・行動データをGCPで統合し、「カテゴリーLTV向上予測」「炭素効率スコア」を商談当日に使えるデータとして自動供給
</a:t>
            </a:r>
            <a:pPr indent="0" marL="0">
              <a:lnSpc>
                <a:spcPct val="112000"/>
              </a:lnSpc>
              <a:buNone/>
            </a:pPr>
            <a:r>
              <a:rPr lang="en-US" sz="900" b="1" dirty="0">
                <a:solidFill>
                  <a:srgbClr val="0F5E87"/>
                </a:solidFill>
                <a:latin typeface="Meiryo UI" pitchFamily="34" charset="0"/>
                <a:ea typeface="Meiryo UI" pitchFamily="34" charset="-122"/>
                <a:cs typeface="Meiryo UI" pitchFamily="34" charset="-120"/>
              </a:rPr>
              <a:t>主要アクション
</a:t>
            </a:r>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・臨床・研究情報の全社棚卸し（論文・治験・使用実態を「AI公開・商談・制度連携」の3用途に分類）</a:t>
            </a:r>
            <a:endParaRPr lang="en-US" sz="980" dirty="0"/>
          </a:p>
          <a:p>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・製品属性データのAPI化完了（FY27）・OTC薬事エビデンスのAI引用可能化</a:t>
            </a:r>
            <a:endParaRPr lang="en-US" sz="980" dirty="0"/>
          </a:p>
          <a:p>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・AI推奨シェアの競合比較ループ（花王はi-Kao等をIR公表済み ― 追走を数値管理）</a:t>
            </a:r>
            <a:endParaRPr lang="en-US" sz="980" dirty="0"/>
          </a:p>
        </p:txBody>
      </p:sp>
      <p:sp>
        <p:nvSpPr>
          <p:cNvPr id="14" name="Shape 12"/>
          <p:cNvSpPr/>
          <p:nvPr/>
        </p:nvSpPr>
        <p:spPr>
          <a:xfrm>
            <a:off x="8869680" y="1755648"/>
            <a:ext cx="2816352" cy="3246120"/>
          </a:xfrm>
          <a:prstGeom prst="rect">
            <a:avLst/>
          </a:prstGeom>
          <a:solidFill>
            <a:srgbClr val="FFFFFF"/>
          </a:solidFill>
          <a:ln w="12700">
            <a:solidFill>
              <a:srgbClr val="D9DEE6"/>
            </a:solidFill>
            <a:prstDash val="solid"/>
          </a:ln>
        </p:spPr>
      </p:sp>
      <p:sp>
        <p:nvSpPr>
          <p:cNvPr id="15" name="Text 13"/>
          <p:cNvSpPr/>
          <p:nvPr/>
        </p:nvSpPr>
        <p:spPr>
          <a:xfrm>
            <a:off x="9006840" y="1874520"/>
            <a:ext cx="2560320" cy="3063240"/>
          </a:xfrm>
          <a:prstGeom prst="rect">
            <a:avLst/>
          </a:prstGeom>
          <a:noFill/>
          <a:ln/>
        </p:spPr>
        <p:txBody>
          <a:bodyPr wrap="square" lIns="0" tIns="0" rIns="0" bIns="0" rtlCol="0" anchor="t"/>
          <a:lstStyle/>
          <a:p>
            <a:pPr indent="0" marL="0">
              <a:lnSpc>
                <a:spcPct val="114000"/>
              </a:lnSpc>
              <a:buNone/>
            </a:pPr>
            <a:r>
              <a:rPr lang="en-US" sz="950" b="1" dirty="0">
                <a:solidFill>
                  <a:srgbClr val="0F5E87"/>
                </a:solidFill>
                <a:latin typeface="Meiryo UI" pitchFamily="34" charset="0"/>
                <a:ea typeface="Meiryo UI" pitchFamily="34" charset="-122"/>
                <a:cs typeface="Meiryo UI" pitchFamily="34" charset="-120"/>
              </a:rPr>
              <a:t>Who（主担当）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R&amp;D＋デジタル戦略＋システム横断
オーナー役員：R&amp;D担当
</a:t>
            </a:r>
            <a:pPr indent="0" marL="0">
              <a:lnSpc>
                <a:spcPct val="114000"/>
              </a:lnSpc>
              <a:buNone/>
            </a:pPr>
            <a:r>
              <a:rPr lang="en-US" sz="950" b="1" dirty="0">
                <a:solidFill>
                  <a:srgbClr val="0F5E87"/>
                </a:solidFill>
                <a:latin typeface="Meiryo UI" pitchFamily="34" charset="0"/>
                <a:ea typeface="Meiryo UI" pitchFamily="34" charset="-122"/>
                <a:cs typeface="Meiryo UI" pitchFamily="34" charset="-120"/>
              </a:rPr>
              <a:t>When（実施時期）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FY26 着手 → FY27 公開
→ FY28 ループ稼働
</a:t>
            </a:r>
            <a:pPr indent="0" marL="0">
              <a:lnSpc>
                <a:spcPct val="114000"/>
              </a:lnSpc>
              <a:buNone/>
            </a:pPr>
            <a:r>
              <a:rPr lang="en-US" sz="950" b="1" dirty="0">
                <a:solidFill>
                  <a:srgbClr val="0F5E87"/>
                </a:solidFill>
                <a:latin typeface="Meiryo UI" pitchFamily="34" charset="0"/>
                <a:ea typeface="Meiryo UI" pitchFamily="34" charset="-122"/>
                <a:cs typeface="Meiryo UI" pitchFamily="34" charset="-120"/>
              </a:rPr>
              <a:t>KPI（見る数字）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AI推奨シェア（AIEO Rate）</a:t>
            </a:r>
            <a:endParaRPr lang="en-US" sz="950" dirty="0"/>
          </a:p>
          <a:p>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FY28 30%→FY30 50%</a:t>
            </a:r>
            <a:endParaRPr lang="en-US" sz="950" dirty="0"/>
          </a:p>
          <a:p>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データ武装型商談比率 80%（FY28）</a:t>
            </a:r>
            <a:endParaRPr lang="en-US" sz="950" dirty="0"/>
          </a:p>
        </p:txBody>
      </p:sp>
      <p:sp>
        <p:nvSpPr>
          <p:cNvPr id="16" name="Shape 14"/>
          <p:cNvSpPr/>
          <p:nvPr/>
        </p:nvSpPr>
        <p:spPr>
          <a:xfrm>
            <a:off x="502920" y="5138928"/>
            <a:ext cx="11185855" cy="685800"/>
          </a:xfrm>
          <a:prstGeom prst="rect">
            <a:avLst/>
          </a:prstGeom>
          <a:solidFill>
            <a:srgbClr val="16233A"/>
          </a:solidFill>
          <a:ln/>
        </p:spPr>
      </p:sp>
      <p:sp>
        <p:nvSpPr>
          <p:cNvPr id="17" name="Text 15"/>
          <p:cNvSpPr/>
          <p:nvPr/>
        </p:nvSpPr>
        <p:spPr>
          <a:xfrm>
            <a:off x="731520" y="5175504"/>
            <a:ext cx="10728655" cy="612648"/>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後 ― 何につながるか：</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テーマ3の商談武器（LTV予測・炭素効率）と、テーマ4のOS用コンテンツの供給源になる。AIに「引用される側」の地位は、広告費で買えない参入障壁。</a:t>
            </a:r>
            <a:endParaRPr lang="en-US" sz="1030" dirty="0"/>
          </a:p>
        </p:txBody>
      </p:sp>
      <p:sp>
        <p:nvSpPr>
          <p:cNvPr id="18" name="Text 16"/>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How 3/5</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テーマ3　顧客接点の統合 ― 認知から受注、継続までをどうつなぐか</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042416"/>
            <a:ext cx="11185855" cy="566928"/>
          </a:xfrm>
          <a:prstGeom prst="rect">
            <a:avLst/>
          </a:prstGeom>
          <a:solidFill>
            <a:srgbClr val="2C5F2D"/>
          </a:solidFill>
          <a:ln/>
        </p:spPr>
      </p:sp>
      <p:sp>
        <p:nvSpPr>
          <p:cNvPr id="7" name="Text 5"/>
          <p:cNvSpPr/>
          <p:nvPr/>
        </p:nvSpPr>
        <p:spPr>
          <a:xfrm>
            <a:off x="685800" y="1042416"/>
            <a:ext cx="10820095" cy="566928"/>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Meiryo UI" pitchFamily="34" charset="0"/>
                <a:ea typeface="Meiryo UI" pitchFamily="34" charset="-122"/>
                <a:cs typeface="Meiryo UI" pitchFamily="34" charset="-120"/>
              </a:rPr>
              <a:t>答え：</a:t>
            </a:r>
            <a:pPr indent="0" marL="0">
              <a:lnSpc>
                <a:spcPct val="110000"/>
              </a:lnSpc>
              <a:buNone/>
            </a:pPr>
            <a:r>
              <a:rPr lang="en-US" sz="1150" b="1" dirty="0">
                <a:solidFill>
                  <a:srgbClr val="FFFFFF"/>
                </a:solidFill>
                <a:latin typeface="Meiryo UI" pitchFamily="34" charset="0"/>
                <a:ea typeface="Meiryo UI" pitchFamily="34" charset="-122"/>
                <a:cs typeface="Meiryo UI" pitchFamily="34" charset="-120"/>
              </a:rPr>
              <a:t>棚・EC・AI推奨・歯科接点を「Total Availability（すべての買い場で買える状態）」として統合し、小売とは共同KPIのJBPで結ぶ</a:t>
            </a:r>
            <a:endParaRPr lang="en-US" sz="1150" dirty="0"/>
          </a:p>
        </p:txBody>
      </p:sp>
      <p:sp>
        <p:nvSpPr>
          <p:cNvPr id="8" name="Shape 6"/>
          <p:cNvSpPr/>
          <p:nvPr/>
        </p:nvSpPr>
        <p:spPr>
          <a:xfrm>
            <a:off x="502920" y="1755648"/>
            <a:ext cx="2880360" cy="3246120"/>
          </a:xfrm>
          <a:prstGeom prst="rect">
            <a:avLst/>
          </a:prstGeom>
          <a:solidFill>
            <a:srgbClr val="F4F6F9"/>
          </a:solidFill>
          <a:ln w="9525">
            <a:solidFill>
              <a:srgbClr val="D9DEE6"/>
            </a:solidFill>
            <a:prstDash val="solid"/>
          </a:ln>
        </p:spPr>
      </p:sp>
      <p:sp>
        <p:nvSpPr>
          <p:cNvPr id="9" name="Text 7"/>
          <p:cNvSpPr/>
          <p:nvPr/>
        </p:nvSpPr>
        <p:spPr>
          <a:xfrm>
            <a:off x="621792" y="1828800"/>
            <a:ext cx="2651760" cy="256032"/>
          </a:xfrm>
          <a:prstGeom prst="rect">
            <a:avLst/>
          </a:prstGeom>
          <a:noFill/>
          <a:ln/>
        </p:spPr>
        <p:txBody>
          <a:bodyPr wrap="square" lIns="0" tIns="0" rIns="0" bIns="0" rtlCol="0" anchor="ctr"/>
          <a:lstStyle/>
          <a:p>
            <a:pPr indent="0" marL="0">
              <a:buNone/>
            </a:pPr>
            <a:r>
              <a:rPr lang="en-US" sz="1000" b="1" dirty="0">
                <a:solidFill>
                  <a:srgbClr val="6B7686"/>
                </a:solidFill>
                <a:latin typeface="Meiryo UI" pitchFamily="34" charset="0"/>
                <a:ea typeface="Meiryo UI" pitchFamily="34" charset="-122"/>
                <a:cs typeface="Meiryo UI" pitchFamily="34" charset="-120"/>
              </a:rPr>
              <a:t>前 ― 何を受けているか</a:t>
            </a:r>
            <a:endParaRPr lang="en-US" sz="1000" dirty="0"/>
          </a:p>
        </p:txBody>
      </p:sp>
      <p:sp>
        <p:nvSpPr>
          <p:cNvPr id="10" name="Text 8"/>
          <p:cNvSpPr/>
          <p:nvPr/>
        </p:nvSpPr>
        <p:spPr>
          <a:xfrm>
            <a:off x="640080" y="2121408"/>
            <a:ext cx="2624328" cy="2788920"/>
          </a:xfrm>
          <a:prstGeom prst="rect">
            <a:avLst/>
          </a:prstGeom>
          <a:noFill/>
          <a:ln/>
        </p:spPr>
        <p:txBody>
          <a:bodyPr wrap="square" lIns="0" tIns="0" rIns="0" bIns="0" rtlCol="0" anchor="t"/>
          <a:lstStyle/>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小売のメディア化 ― リテールメディア1.3兆円市場へ（前提1）</a:t>
            </a:r>
            <a:endParaRPr lang="en-US" sz="850" dirty="0"/>
          </a:p>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値引き提案と商談価値のミスマッチ（GAP3）</a:t>
            </a:r>
            <a:endParaRPr lang="en-US" sz="850" dirty="0"/>
          </a:p>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価値提案は「正しさ」では採用されない ― 値引きとの組み替え・小売データ検証・成果連動の設計（既検討）</a:t>
            </a:r>
            <a:endParaRPr lang="en-US" sz="850" dirty="0"/>
          </a:p>
        </p:txBody>
      </p:sp>
      <p:sp>
        <p:nvSpPr>
          <p:cNvPr id="11" name="Shape 9"/>
          <p:cNvSpPr/>
          <p:nvPr/>
        </p:nvSpPr>
        <p:spPr>
          <a:xfrm>
            <a:off x="3520440" y="1755648"/>
            <a:ext cx="5212080" cy="3246120"/>
          </a:xfrm>
          <a:prstGeom prst="rect">
            <a:avLst/>
          </a:prstGeom>
          <a:solidFill>
            <a:srgbClr val="EEF4EC"/>
          </a:solidFill>
          <a:ln w="9525">
            <a:solidFill>
              <a:srgbClr val="D9DEE6"/>
            </a:solidFill>
            <a:prstDash val="solid"/>
          </a:ln>
        </p:spPr>
      </p:sp>
      <p:sp>
        <p:nvSpPr>
          <p:cNvPr id="12" name="Text 10"/>
          <p:cNvSpPr/>
          <p:nvPr/>
        </p:nvSpPr>
        <p:spPr>
          <a:xfrm>
            <a:off x="3657600" y="1828800"/>
            <a:ext cx="4937760" cy="256032"/>
          </a:xfrm>
          <a:prstGeom prst="rect">
            <a:avLst/>
          </a:prstGeom>
          <a:noFill/>
          <a:ln/>
        </p:spPr>
        <p:txBody>
          <a:bodyPr wrap="square" lIns="0" tIns="0" rIns="0" bIns="0" rtlCol="0" anchor="ctr"/>
          <a:lstStyle/>
          <a:p>
            <a:pPr indent="0" marL="0">
              <a:buNone/>
            </a:pPr>
            <a:r>
              <a:rPr lang="en-US" sz="1000" b="1" dirty="0">
                <a:solidFill>
                  <a:srgbClr val="2C5F2D"/>
                </a:solidFill>
                <a:latin typeface="Meiryo UI" pitchFamily="34" charset="0"/>
                <a:ea typeface="Meiryo UI" pitchFamily="34" charset="-122"/>
                <a:cs typeface="Meiryo UI" pitchFamily="34" charset="-120"/>
              </a:rPr>
              <a:t>施策（What）と主要アクション（How）</a:t>
            </a:r>
            <a:endParaRPr lang="en-US" sz="1000" dirty="0"/>
          </a:p>
        </p:txBody>
      </p:sp>
      <p:sp>
        <p:nvSpPr>
          <p:cNvPr id="13" name="Text 11"/>
          <p:cNvSpPr/>
          <p:nvPr/>
        </p:nvSpPr>
        <p:spPr>
          <a:xfrm>
            <a:off x="3657600" y="2121408"/>
            <a:ext cx="4956048" cy="2788920"/>
          </a:xfrm>
          <a:prstGeom prst="rect">
            <a:avLst/>
          </a:prstGeom>
          <a:noFill/>
          <a:ln/>
        </p:spPr>
        <p:txBody>
          <a:bodyPr wrap="square" lIns="0" tIns="0" rIns="0" bIns="0" rtlCol="0" anchor="t"/>
          <a:lstStyle/>
          <a:p>
            <a:pPr indent="0" marL="0">
              <a:lnSpc>
                <a:spcPct val="112000"/>
              </a:lnSpc>
              <a:buNone/>
            </a:pPr>
            <a:r>
              <a:rPr lang="en-US" sz="980" b="1" dirty="0">
                <a:solidFill>
                  <a:srgbClr val="16233A"/>
                </a:solidFill>
                <a:latin typeface="Meiryo UI" pitchFamily="34" charset="0"/>
                <a:ea typeface="Meiryo UI" pitchFamily="34" charset="-122"/>
                <a:cs typeface="Meiryo UI" pitchFamily="34" charset="-120"/>
              </a:rPr>
              <a:t>施策③ リテールメディアJBP化×Total Availability
</a:t>
            </a:r>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単発スポット広告を廃止し、重点小売2〜3社と共同KPI（N-t-C＝カテゴリ新規客・増分粗利）に紐づく計画的投資へ転換。物理棚・EC・AI推奨を1つのスコアで統合管理
</a:t>
            </a:r>
            <a:pPr indent="0" marL="0">
              <a:lnSpc>
                <a:spcPct val="112000"/>
              </a:lnSpc>
              <a:buNone/>
            </a:pPr>
            <a:r>
              <a:rPr lang="en-US" sz="980" b="1" dirty="0">
                <a:solidFill>
                  <a:srgbClr val="16233A"/>
                </a:solidFill>
                <a:latin typeface="Meiryo UI" pitchFamily="34" charset="0"/>
                <a:ea typeface="Meiryo UI" pitchFamily="34" charset="-122"/>
                <a:cs typeface="Meiryo UI" pitchFamily="34" charset="-120"/>
              </a:rPr>
              <a:t>施策⑥ B2B2C商談モデルの構築
</a:t>
            </a:r>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歯科接点（OraCo/POHR）→消費者→小売購買を1つのデータモデルで接続し、「専門家推奨起点の売上」を商談価値に変える
</a:t>
            </a:r>
            <a:pPr indent="0" marL="0">
              <a:lnSpc>
                <a:spcPct val="112000"/>
              </a:lnSpc>
              <a:buNone/>
            </a:pPr>
            <a:r>
              <a:rPr lang="en-US" sz="900" b="1" dirty="0">
                <a:solidFill>
                  <a:srgbClr val="2C5F2D"/>
                </a:solidFill>
                <a:latin typeface="Meiryo UI" pitchFamily="34" charset="0"/>
                <a:ea typeface="Meiryo UI" pitchFamily="34" charset="-122"/>
                <a:cs typeface="Meiryo UI" pitchFamily="34" charset="-120"/>
              </a:rPr>
              <a:t>主要アクション
</a:t>
            </a:r>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・診断型売場の標準パッケージ（QR診断→商品推薦→LION ID誘導）</a:t>
            </a:r>
            <a:endParaRPr lang="en-US" sz="980" dirty="0"/>
          </a:p>
          <a:p>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・商談時間の質の計測（値引き交渉→共同事業設計への転換率）と店員がライオンを語れる時間づくり（教育・売場体験）</a:t>
            </a:r>
            <a:endParaRPr lang="en-US" sz="980" dirty="0"/>
          </a:p>
          <a:p>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・現実性の担保：値引き70＋施策30のパッケージ＋成果連動で入る（受け入れられる設計）</a:t>
            </a:r>
            <a:endParaRPr lang="en-US" sz="980" dirty="0"/>
          </a:p>
        </p:txBody>
      </p:sp>
      <p:sp>
        <p:nvSpPr>
          <p:cNvPr id="14" name="Shape 12"/>
          <p:cNvSpPr/>
          <p:nvPr/>
        </p:nvSpPr>
        <p:spPr>
          <a:xfrm>
            <a:off x="8869680" y="1755648"/>
            <a:ext cx="2816352" cy="3246120"/>
          </a:xfrm>
          <a:prstGeom prst="rect">
            <a:avLst/>
          </a:prstGeom>
          <a:solidFill>
            <a:srgbClr val="FFFFFF"/>
          </a:solidFill>
          <a:ln w="12700">
            <a:solidFill>
              <a:srgbClr val="D9DEE6"/>
            </a:solidFill>
            <a:prstDash val="solid"/>
          </a:ln>
        </p:spPr>
      </p:sp>
      <p:sp>
        <p:nvSpPr>
          <p:cNvPr id="15" name="Text 13"/>
          <p:cNvSpPr/>
          <p:nvPr/>
        </p:nvSpPr>
        <p:spPr>
          <a:xfrm>
            <a:off x="9006840" y="1874520"/>
            <a:ext cx="2560320" cy="3063240"/>
          </a:xfrm>
          <a:prstGeom prst="rect">
            <a:avLst/>
          </a:prstGeom>
          <a:noFill/>
          <a:ln/>
        </p:spPr>
        <p:txBody>
          <a:bodyPr wrap="square" lIns="0" tIns="0" rIns="0" bIns="0" rtlCol="0" anchor="t"/>
          <a:lstStyle/>
          <a:p>
            <a:pPr indent="0" marL="0">
              <a:lnSpc>
                <a:spcPct val="114000"/>
              </a:lnSpc>
              <a:buNone/>
            </a:pPr>
            <a:r>
              <a:rPr lang="en-US" sz="950" b="1" dirty="0">
                <a:solidFill>
                  <a:srgbClr val="2C5F2D"/>
                </a:solidFill>
                <a:latin typeface="Meiryo UI" pitchFamily="34" charset="0"/>
                <a:ea typeface="Meiryo UI" pitchFamily="34" charset="-122"/>
                <a:cs typeface="Meiryo UI" pitchFamily="34" charset="-120"/>
              </a:rPr>
              <a:t>Who（主担当）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営業＋アカウントスクワッド
オーナー役員：営業担当
</a:t>
            </a:r>
            <a:pPr indent="0" marL="0">
              <a:lnSpc>
                <a:spcPct val="114000"/>
              </a:lnSpc>
              <a:buNone/>
            </a:pPr>
            <a:r>
              <a:rPr lang="en-US" sz="950" b="1" dirty="0">
                <a:solidFill>
                  <a:srgbClr val="2C5F2D"/>
                </a:solidFill>
                <a:latin typeface="Meiryo UI" pitchFamily="34" charset="0"/>
                <a:ea typeface="Meiryo UI" pitchFamily="34" charset="-122"/>
                <a:cs typeface="Meiryo UI" pitchFamily="34" charset="-120"/>
              </a:rPr>
              <a:t>When（実施時期）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FY26 重点小売で先行実装
→ FY28 水平展開
</a:t>
            </a:r>
            <a:pPr indent="0" marL="0">
              <a:lnSpc>
                <a:spcPct val="114000"/>
              </a:lnSpc>
              <a:buNone/>
            </a:pPr>
            <a:r>
              <a:rPr lang="en-US" sz="950" b="1" dirty="0">
                <a:solidFill>
                  <a:srgbClr val="2C5F2D"/>
                </a:solidFill>
                <a:latin typeface="Meiryo UI" pitchFamily="34" charset="0"/>
                <a:ea typeface="Meiryo UI" pitchFamily="34" charset="-122"/>
                <a:cs typeface="Meiryo UI" pitchFamily="34" charset="-120"/>
              </a:rPr>
              <a:t>KPI（見る数字）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Total Availabilityスコア</a:t>
            </a:r>
            <a:endParaRPr lang="en-US" sz="950" dirty="0"/>
          </a:p>
          <a:p>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70%→90%（FY30）</a:t>
            </a:r>
            <a:endParaRPr lang="en-US" sz="950" dirty="0"/>
          </a:p>
          <a:p>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B2B2C推奨起点売上比率 5%→15%</a:t>
            </a:r>
            <a:endParaRPr lang="en-US" sz="950" dirty="0"/>
          </a:p>
          <a:p>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共同事業時間比率（バイヤー接点時間の質）</a:t>
            </a:r>
            <a:endParaRPr lang="en-US" sz="950" dirty="0"/>
          </a:p>
        </p:txBody>
      </p:sp>
      <p:sp>
        <p:nvSpPr>
          <p:cNvPr id="16" name="Shape 14"/>
          <p:cNvSpPr/>
          <p:nvPr/>
        </p:nvSpPr>
        <p:spPr>
          <a:xfrm>
            <a:off x="502920" y="5138928"/>
            <a:ext cx="11185855" cy="685800"/>
          </a:xfrm>
          <a:prstGeom prst="rect">
            <a:avLst/>
          </a:prstGeom>
          <a:solidFill>
            <a:srgbClr val="16233A"/>
          </a:solidFill>
          <a:ln/>
        </p:spPr>
      </p:sp>
      <p:sp>
        <p:nvSpPr>
          <p:cNvPr id="17" name="Text 15"/>
          <p:cNvSpPr/>
          <p:nvPr/>
        </p:nvSpPr>
        <p:spPr>
          <a:xfrm>
            <a:off x="731520" y="5175504"/>
            <a:ext cx="10728655" cy="612648"/>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後 ― 何につながるか：</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テーマ4のID獲得接点（診断売場）となり、北極星KPIのN-t-C（新規客）の枝を直接動かす。小売の新収益に組み込まれることで、値引き交渉が構造的に消えていく。</a:t>
            </a:r>
            <a:endParaRPr lang="en-US" sz="1030" dirty="0"/>
          </a:p>
        </p:txBody>
      </p:sp>
      <p:sp>
        <p:nvSpPr>
          <p:cNvPr id="18" name="Text 16"/>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How 4/5</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テーマ4　顧客資本の蓄積 ― 顧客との関係を企業資産にできているか</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042416"/>
            <a:ext cx="11185855" cy="566928"/>
          </a:xfrm>
          <a:prstGeom prst="rect">
            <a:avLst/>
          </a:prstGeom>
          <a:solidFill>
            <a:srgbClr val="B87A2A"/>
          </a:solidFill>
          <a:ln/>
        </p:spPr>
      </p:sp>
      <p:sp>
        <p:nvSpPr>
          <p:cNvPr id="7" name="Text 5"/>
          <p:cNvSpPr/>
          <p:nvPr/>
        </p:nvSpPr>
        <p:spPr>
          <a:xfrm>
            <a:off x="685800" y="1042416"/>
            <a:ext cx="10820095" cy="566928"/>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Meiryo UI" pitchFamily="34" charset="0"/>
                <a:ea typeface="Meiryo UI" pitchFamily="34" charset="-122"/>
                <a:cs typeface="Meiryo UI" pitchFamily="34" charset="-120"/>
              </a:rPr>
              <a:t>答え：</a:t>
            </a:r>
            <a:pPr indent="0" marL="0">
              <a:lnSpc>
                <a:spcPct val="110000"/>
              </a:lnSpc>
              <a:buNone/>
            </a:pPr>
            <a:r>
              <a:rPr lang="en-US" sz="1150" b="1" dirty="0">
                <a:solidFill>
                  <a:srgbClr val="FFFFFF"/>
                </a:solidFill>
                <a:latin typeface="Meiryo UI" pitchFamily="34" charset="0"/>
                <a:ea typeface="Meiryo UI" pitchFamily="34" charset="-122"/>
                <a:cs typeface="Meiryo UI" pitchFamily="34" charset="-120"/>
              </a:rPr>
              <a:t>LION IDを「口腔健康のOS」へ転換し、習慣・健康データと「顧客の継続行動」（リピート・共同事業・推奨）を企業資産として蓄積・開示する</a:t>
            </a:r>
            <a:endParaRPr lang="en-US" sz="1150" dirty="0"/>
          </a:p>
        </p:txBody>
      </p:sp>
      <p:sp>
        <p:nvSpPr>
          <p:cNvPr id="8" name="Shape 6"/>
          <p:cNvSpPr/>
          <p:nvPr/>
        </p:nvSpPr>
        <p:spPr>
          <a:xfrm>
            <a:off x="502920" y="1755648"/>
            <a:ext cx="2880360" cy="3246120"/>
          </a:xfrm>
          <a:prstGeom prst="rect">
            <a:avLst/>
          </a:prstGeom>
          <a:solidFill>
            <a:srgbClr val="F4F6F9"/>
          </a:solidFill>
          <a:ln w="9525">
            <a:solidFill>
              <a:srgbClr val="D9DEE6"/>
            </a:solidFill>
            <a:prstDash val="solid"/>
          </a:ln>
        </p:spPr>
      </p:sp>
      <p:sp>
        <p:nvSpPr>
          <p:cNvPr id="9" name="Text 7"/>
          <p:cNvSpPr/>
          <p:nvPr/>
        </p:nvSpPr>
        <p:spPr>
          <a:xfrm>
            <a:off x="621792" y="1828800"/>
            <a:ext cx="2651760" cy="256032"/>
          </a:xfrm>
          <a:prstGeom prst="rect">
            <a:avLst/>
          </a:prstGeom>
          <a:noFill/>
          <a:ln/>
        </p:spPr>
        <p:txBody>
          <a:bodyPr wrap="square" lIns="0" tIns="0" rIns="0" bIns="0" rtlCol="0" anchor="ctr"/>
          <a:lstStyle/>
          <a:p>
            <a:pPr indent="0" marL="0">
              <a:buNone/>
            </a:pPr>
            <a:r>
              <a:rPr lang="en-US" sz="1000" b="1" dirty="0">
                <a:solidFill>
                  <a:srgbClr val="6B7686"/>
                </a:solidFill>
                <a:latin typeface="Meiryo UI" pitchFamily="34" charset="0"/>
                <a:ea typeface="Meiryo UI" pitchFamily="34" charset="-122"/>
                <a:cs typeface="Meiryo UI" pitchFamily="34" charset="-120"/>
              </a:rPr>
              <a:t>前 ― 何を受けているか</a:t>
            </a:r>
            <a:endParaRPr lang="en-US" sz="1000" dirty="0"/>
          </a:p>
        </p:txBody>
      </p:sp>
      <p:sp>
        <p:nvSpPr>
          <p:cNvPr id="10" name="Text 8"/>
          <p:cNvSpPr/>
          <p:nvPr/>
        </p:nvSpPr>
        <p:spPr>
          <a:xfrm>
            <a:off x="640080" y="2121408"/>
            <a:ext cx="2624328" cy="2788920"/>
          </a:xfrm>
          <a:prstGeom prst="rect">
            <a:avLst/>
          </a:prstGeom>
          <a:noFill/>
          <a:ln/>
        </p:spPr>
        <p:txBody>
          <a:bodyPr wrap="square" lIns="0" tIns="0" rIns="0" bIns="0" rtlCol="0" anchor="t"/>
          <a:lstStyle/>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Cookie消滅と自前顧客基盤の劣後（SWOT-W）</a:t>
            </a:r>
            <a:endParaRPr lang="en-US" sz="850" dirty="0"/>
          </a:p>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過去のID・データ投資が効果検証まで至らず、資産として積み上がらなかった（前提3）</a:t>
            </a:r>
            <a:endParaRPr lang="en-US" sz="850" dirty="0"/>
          </a:p>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時間・想起系の指標は直接貢献ではない ― 行動と金額で測る（理想像）</a:t>
            </a:r>
            <a:endParaRPr lang="en-US" sz="850" dirty="0"/>
          </a:p>
        </p:txBody>
      </p:sp>
      <p:sp>
        <p:nvSpPr>
          <p:cNvPr id="11" name="Shape 9"/>
          <p:cNvSpPr/>
          <p:nvPr/>
        </p:nvSpPr>
        <p:spPr>
          <a:xfrm>
            <a:off x="3520440" y="1755648"/>
            <a:ext cx="5212080" cy="3246120"/>
          </a:xfrm>
          <a:prstGeom prst="rect">
            <a:avLst/>
          </a:prstGeom>
          <a:solidFill>
            <a:srgbClr val="F7F0E3"/>
          </a:solidFill>
          <a:ln w="9525">
            <a:solidFill>
              <a:srgbClr val="D9DEE6"/>
            </a:solidFill>
            <a:prstDash val="solid"/>
          </a:ln>
        </p:spPr>
      </p:sp>
      <p:sp>
        <p:nvSpPr>
          <p:cNvPr id="12" name="Text 10"/>
          <p:cNvSpPr/>
          <p:nvPr/>
        </p:nvSpPr>
        <p:spPr>
          <a:xfrm>
            <a:off x="3657600" y="1828800"/>
            <a:ext cx="4937760" cy="256032"/>
          </a:xfrm>
          <a:prstGeom prst="rect">
            <a:avLst/>
          </a:prstGeom>
          <a:noFill/>
          <a:ln/>
        </p:spPr>
        <p:txBody>
          <a:bodyPr wrap="square" lIns="0" tIns="0" rIns="0" bIns="0" rtlCol="0" anchor="ctr"/>
          <a:lstStyle/>
          <a:p>
            <a:pPr indent="0" marL="0">
              <a:buNone/>
            </a:pPr>
            <a:r>
              <a:rPr lang="en-US" sz="1000" b="1" dirty="0">
                <a:solidFill>
                  <a:srgbClr val="B87A2A"/>
                </a:solidFill>
                <a:latin typeface="Meiryo UI" pitchFamily="34" charset="0"/>
                <a:ea typeface="Meiryo UI" pitchFamily="34" charset="-122"/>
                <a:cs typeface="Meiryo UI" pitchFamily="34" charset="-120"/>
              </a:rPr>
              <a:t>施策（What）と主要アクション（How）</a:t>
            </a:r>
            <a:endParaRPr lang="en-US" sz="1000" dirty="0"/>
          </a:p>
        </p:txBody>
      </p:sp>
      <p:sp>
        <p:nvSpPr>
          <p:cNvPr id="13" name="Text 11"/>
          <p:cNvSpPr/>
          <p:nvPr/>
        </p:nvSpPr>
        <p:spPr>
          <a:xfrm>
            <a:off x="3657600" y="2121408"/>
            <a:ext cx="4956048" cy="2788920"/>
          </a:xfrm>
          <a:prstGeom prst="rect">
            <a:avLst/>
          </a:prstGeom>
          <a:noFill/>
          <a:ln/>
        </p:spPr>
        <p:txBody>
          <a:bodyPr wrap="square" lIns="0" tIns="0" rIns="0" bIns="0" rtlCol="0" anchor="t"/>
          <a:lstStyle/>
          <a:p>
            <a:pPr indent="0" marL="0">
              <a:lnSpc>
                <a:spcPct val="112000"/>
              </a:lnSpc>
              <a:buNone/>
            </a:pPr>
            <a:r>
              <a:rPr lang="en-US" sz="980" b="1" dirty="0">
                <a:solidFill>
                  <a:srgbClr val="16233A"/>
                </a:solidFill>
                <a:latin typeface="Meiryo UI" pitchFamily="34" charset="0"/>
                <a:ea typeface="Meiryo UI" pitchFamily="34" charset="-122"/>
                <a:cs typeface="Meiryo UI" pitchFamily="34" charset="-120"/>
              </a:rPr>
              <a:t>施策④ LION ID「口腔健康OS化」×Oral Health Graph
</a:t>
            </a:r>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購入前の悩み→購買→習慣→口腔状態の変化を連結するデータモデルを構築。DCR（データを渡さず突き合わせる技術）で小売横断のID連携を実現
</a:t>
            </a:r>
            <a:pPr indent="0" marL="0">
              <a:lnSpc>
                <a:spcPct val="112000"/>
              </a:lnSpc>
              <a:buNone/>
            </a:pPr>
            <a:r>
              <a:rPr lang="en-US" sz="980" b="1" dirty="0">
                <a:solidFill>
                  <a:srgbClr val="16233A"/>
                </a:solidFill>
                <a:latin typeface="Meiryo UI" pitchFamily="34" charset="0"/>
                <a:ea typeface="Meiryo UI" pitchFamily="34" charset="-122"/>
                <a:cs typeface="Meiryo UI" pitchFamily="34" charset="-120"/>
              </a:rPr>
              <a:t>顧客資本KPIの設計（行動ベース・3層）
</a:t>
            </a:r>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C＝リピート率・定期購入登録・90日継続率／B＝共同事業の件数・増分粗利・特売依存度の低下／E＝ツール導入数・推奨起点売上。すべて行動と金額で定義し、統合報告書の開示候補に育てる。時間・想起系は因果が実証されるまで補助指標にとどめる
</a:t>
            </a:r>
            <a:pPr indent="0" marL="0">
              <a:lnSpc>
                <a:spcPct val="112000"/>
              </a:lnSpc>
              <a:buNone/>
            </a:pPr>
            <a:r>
              <a:rPr lang="en-US" sz="900" b="1" dirty="0">
                <a:solidFill>
                  <a:srgbClr val="B87A2A"/>
                </a:solidFill>
                <a:latin typeface="Meiryo UI" pitchFamily="34" charset="0"/>
                <a:ea typeface="Meiryo UI" pitchFamily="34" charset="-122"/>
                <a:cs typeface="Meiryo UI" pitchFamily="34" charset="-120"/>
              </a:rPr>
              <a:t>主要アクション
</a:t>
            </a:r>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・既存会員への価値提案の切り替え設計（移行インセンティブ）・90日習慣継続プログラム</a:t>
            </a:r>
            <a:endParaRPr lang="en-US" sz="980" dirty="0"/>
          </a:p>
          <a:p>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・現実性の担保：薬機法・個人情報保護の法務確認を先行タスク化（FY26年内）</a:t>
            </a:r>
            <a:endParaRPr lang="en-US" sz="980" dirty="0"/>
          </a:p>
        </p:txBody>
      </p:sp>
      <p:sp>
        <p:nvSpPr>
          <p:cNvPr id="14" name="Shape 12"/>
          <p:cNvSpPr/>
          <p:nvPr/>
        </p:nvSpPr>
        <p:spPr>
          <a:xfrm>
            <a:off x="8869680" y="1755648"/>
            <a:ext cx="2816352" cy="3246120"/>
          </a:xfrm>
          <a:prstGeom prst="rect">
            <a:avLst/>
          </a:prstGeom>
          <a:solidFill>
            <a:srgbClr val="FFFFFF"/>
          </a:solidFill>
          <a:ln w="12700">
            <a:solidFill>
              <a:srgbClr val="D9DEE6"/>
            </a:solidFill>
            <a:prstDash val="solid"/>
          </a:ln>
        </p:spPr>
      </p:sp>
      <p:sp>
        <p:nvSpPr>
          <p:cNvPr id="15" name="Text 13"/>
          <p:cNvSpPr/>
          <p:nvPr/>
        </p:nvSpPr>
        <p:spPr>
          <a:xfrm>
            <a:off x="9006840" y="1874520"/>
            <a:ext cx="2560320" cy="3063240"/>
          </a:xfrm>
          <a:prstGeom prst="rect">
            <a:avLst/>
          </a:prstGeom>
          <a:noFill/>
          <a:ln/>
        </p:spPr>
        <p:txBody>
          <a:bodyPr wrap="square" lIns="0" tIns="0" rIns="0" bIns="0" rtlCol="0" anchor="t"/>
          <a:lstStyle/>
          <a:p>
            <a:pPr indent="0" marL="0">
              <a:lnSpc>
                <a:spcPct val="114000"/>
              </a:lnSpc>
              <a:buNone/>
            </a:pPr>
            <a:r>
              <a:rPr lang="en-US" sz="950" b="1" dirty="0">
                <a:solidFill>
                  <a:srgbClr val="B87A2A"/>
                </a:solidFill>
                <a:latin typeface="Meiryo UI" pitchFamily="34" charset="0"/>
                <a:ea typeface="Meiryo UI" pitchFamily="34" charset="-122"/>
                <a:cs typeface="Meiryo UI" pitchFamily="34" charset="-120"/>
              </a:rPr>
              <a:t>Who（主担当）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マーケティング＋デジタル戦略
オーナー役員：マーケ担当
</a:t>
            </a:r>
            <a:pPr indent="0" marL="0">
              <a:lnSpc>
                <a:spcPct val="114000"/>
              </a:lnSpc>
              <a:buNone/>
            </a:pPr>
            <a:r>
              <a:rPr lang="en-US" sz="950" b="1" dirty="0">
                <a:solidFill>
                  <a:srgbClr val="B87A2A"/>
                </a:solidFill>
                <a:latin typeface="Meiryo UI" pitchFamily="34" charset="0"/>
                <a:ea typeface="Meiryo UI" pitchFamily="34" charset="-122"/>
                <a:cs typeface="Meiryo UI" pitchFamily="34" charset="-120"/>
              </a:rPr>
              <a:t>When（実施時期）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FY27 設計 → FY28 構築
→ FY29 本格活用
</a:t>
            </a:r>
            <a:pPr indent="0" marL="0">
              <a:lnSpc>
                <a:spcPct val="114000"/>
              </a:lnSpc>
              <a:buNone/>
            </a:pPr>
            <a:r>
              <a:rPr lang="en-US" sz="950" b="1" dirty="0">
                <a:solidFill>
                  <a:srgbClr val="B87A2A"/>
                </a:solidFill>
                <a:latin typeface="Meiryo UI" pitchFamily="34" charset="0"/>
                <a:ea typeface="Meiryo UI" pitchFamily="34" charset="-122"/>
                <a:cs typeface="Meiryo UI" pitchFamily="34" charset="-120"/>
              </a:rPr>
              <a:t>KPI（見る数字）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アクティブLION ID数</a:t>
            </a:r>
            <a:endParaRPr lang="en-US" sz="950" dirty="0"/>
          </a:p>
          <a:p>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KOIC（意向把握カバレッジ）</a:t>
            </a:r>
            <a:endParaRPr lang="en-US" sz="950" dirty="0"/>
          </a:p>
          <a:p>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90日習慣継続率・定期購入登録数</a:t>
            </a:r>
            <a:endParaRPr lang="en-US" sz="950" dirty="0"/>
          </a:p>
        </p:txBody>
      </p:sp>
      <p:sp>
        <p:nvSpPr>
          <p:cNvPr id="16" name="Shape 14"/>
          <p:cNvSpPr/>
          <p:nvPr/>
        </p:nvSpPr>
        <p:spPr>
          <a:xfrm>
            <a:off x="502920" y="5138928"/>
            <a:ext cx="11185855" cy="685800"/>
          </a:xfrm>
          <a:prstGeom prst="rect">
            <a:avLst/>
          </a:prstGeom>
          <a:solidFill>
            <a:srgbClr val="16233A"/>
          </a:solidFill>
          <a:ln/>
        </p:spPr>
      </p:sp>
      <p:sp>
        <p:nvSpPr>
          <p:cNvPr id="17" name="Text 15"/>
          <p:cNvSpPr/>
          <p:nvPr/>
        </p:nvSpPr>
        <p:spPr>
          <a:xfrm>
            <a:off x="731520" y="5175504"/>
            <a:ext cx="10728655" cy="612648"/>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後 ― 何につながるか：</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顧客資本KPIを統合報告書（IR）へ開示し、変革を企業価値の言葉に翻訳する。蓄積した習慣・健康データは、テーマ2のエビデンスとAIの引用元へ還流する ― 回すほど強くなる循環。</a:t>
            </a:r>
            <a:endParaRPr lang="en-US" sz="1030" dirty="0"/>
          </a:p>
        </p:txBody>
      </p:sp>
      <p:sp>
        <p:nvSpPr>
          <p:cNvPr id="18" name="Text 16"/>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How 5/5</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テーマ5　実行能力と成果管理 ― 誰が、何を担い、どの指標で評価するか</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042416"/>
            <a:ext cx="11185855" cy="566928"/>
          </a:xfrm>
          <a:prstGeom prst="rect">
            <a:avLst/>
          </a:prstGeom>
          <a:solidFill>
            <a:srgbClr val="16233A"/>
          </a:solidFill>
          <a:ln/>
        </p:spPr>
      </p:sp>
      <p:sp>
        <p:nvSpPr>
          <p:cNvPr id="7" name="Text 5"/>
          <p:cNvSpPr/>
          <p:nvPr/>
        </p:nvSpPr>
        <p:spPr>
          <a:xfrm>
            <a:off x="685800" y="1042416"/>
            <a:ext cx="10820095" cy="566928"/>
          </a:xfrm>
          <a:prstGeom prst="rect">
            <a:avLst/>
          </a:prstGeom>
          <a:noFill/>
          <a:ln/>
        </p:spPr>
        <p:txBody>
          <a:bodyPr wrap="square" lIns="0" tIns="0" rIns="0" bIns="0" rtlCol="0" anchor="ctr"/>
          <a:lstStyle/>
          <a:p>
            <a:pPr indent="0" marL="0">
              <a:lnSpc>
                <a:spcPct val="110000"/>
              </a:lnSpc>
              <a:buNone/>
            </a:pPr>
            <a:r>
              <a:rPr lang="en-US" sz="1150" b="1" dirty="0">
                <a:solidFill>
                  <a:srgbClr val="FFFFFF"/>
                </a:solidFill>
                <a:latin typeface="Meiryo UI" pitchFamily="34" charset="0"/>
                <a:ea typeface="Meiryo UI" pitchFamily="34" charset="-122"/>
                <a:cs typeface="Meiryo UI" pitchFamily="34" charset="-120"/>
              </a:rPr>
              <a:t>答え：</a:t>
            </a:r>
            <a:pPr indent="0" marL="0">
              <a:lnSpc>
                <a:spcPct val="110000"/>
              </a:lnSpc>
              <a:buNone/>
            </a:pPr>
            <a:r>
              <a:rPr lang="en-US" sz="1150" b="1" dirty="0">
                <a:solidFill>
                  <a:srgbClr val="FFFFFF"/>
                </a:solidFill>
                <a:latin typeface="Meiryo UI" pitchFamily="34" charset="0"/>
                <a:ea typeface="Meiryo UI" pitchFamily="34" charset="-122"/>
                <a:cs typeface="Meiryo UI" pitchFamily="34" charset="-120"/>
              </a:rPr>
              <a:t>北極星KPI「増分粗利（オーラルケア）」で全部門を束ね、Input業務ゼロ化で時間を生み、役員オーナー制と撤退基準で「検証責任を提案側が持つ」実行の作法を確立する</a:t>
            </a:r>
            <a:endParaRPr lang="en-US" sz="1150" dirty="0"/>
          </a:p>
        </p:txBody>
      </p:sp>
      <p:sp>
        <p:nvSpPr>
          <p:cNvPr id="8" name="Shape 6"/>
          <p:cNvSpPr/>
          <p:nvPr/>
        </p:nvSpPr>
        <p:spPr>
          <a:xfrm>
            <a:off x="502920" y="1755648"/>
            <a:ext cx="2880360" cy="3246120"/>
          </a:xfrm>
          <a:prstGeom prst="rect">
            <a:avLst/>
          </a:prstGeom>
          <a:solidFill>
            <a:srgbClr val="F4F6F9"/>
          </a:solidFill>
          <a:ln w="9525">
            <a:solidFill>
              <a:srgbClr val="D9DEE6"/>
            </a:solidFill>
            <a:prstDash val="solid"/>
          </a:ln>
        </p:spPr>
      </p:sp>
      <p:sp>
        <p:nvSpPr>
          <p:cNvPr id="9" name="Text 7"/>
          <p:cNvSpPr/>
          <p:nvPr/>
        </p:nvSpPr>
        <p:spPr>
          <a:xfrm>
            <a:off x="621792" y="1828800"/>
            <a:ext cx="2651760" cy="256032"/>
          </a:xfrm>
          <a:prstGeom prst="rect">
            <a:avLst/>
          </a:prstGeom>
          <a:noFill/>
          <a:ln/>
        </p:spPr>
        <p:txBody>
          <a:bodyPr wrap="square" lIns="0" tIns="0" rIns="0" bIns="0" rtlCol="0" anchor="ctr"/>
          <a:lstStyle/>
          <a:p>
            <a:pPr indent="0" marL="0">
              <a:buNone/>
            </a:pPr>
            <a:r>
              <a:rPr lang="en-US" sz="1000" b="1" dirty="0">
                <a:solidFill>
                  <a:srgbClr val="6B7686"/>
                </a:solidFill>
                <a:latin typeface="Meiryo UI" pitchFamily="34" charset="0"/>
                <a:ea typeface="Meiryo UI" pitchFamily="34" charset="-122"/>
                <a:cs typeface="Meiryo UI" pitchFamily="34" charset="-120"/>
              </a:rPr>
              <a:t>前 ― 何を受けているか</a:t>
            </a:r>
            <a:endParaRPr lang="en-US" sz="1000" dirty="0"/>
          </a:p>
        </p:txBody>
      </p:sp>
      <p:sp>
        <p:nvSpPr>
          <p:cNvPr id="10" name="Text 8"/>
          <p:cNvSpPr/>
          <p:nvPr/>
        </p:nvSpPr>
        <p:spPr>
          <a:xfrm>
            <a:off x="640080" y="2121408"/>
            <a:ext cx="2624328" cy="2788920"/>
          </a:xfrm>
          <a:prstGeom prst="rect">
            <a:avLst/>
          </a:prstGeom>
          <a:noFill/>
          <a:ln/>
        </p:spPr>
        <p:txBody>
          <a:bodyPr wrap="square" lIns="0" tIns="0" rIns="0" bIns="0" rtlCol="0" anchor="t"/>
          <a:lstStyle/>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対P&amp;G約7.6倍の生産性格差と内向き業務の慣性（前提3）</a:t>
            </a:r>
            <a:endParaRPr lang="en-US" sz="850" dirty="0"/>
          </a:p>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投資後の効果検証と定着まで含めた「実行の作法」がなかった（前提3）</a:t>
            </a:r>
            <a:endParaRPr lang="en-US" sz="850" dirty="0"/>
          </a:p>
          <a:p>
            <a:pPr marL="101600" indent="-101600">
              <a:lnSpc>
                <a:spcPct val="110000"/>
              </a:lnSpc>
              <a:spcAft>
                <a:spcPts val="600"/>
              </a:spcAft>
              <a:buSzPct val="100000"/>
              <a:buChar char="•"/>
            </a:pPr>
            <a:r>
              <a:rPr lang="en-US" sz="850" dirty="0">
                <a:solidFill>
                  <a:srgbClr val="1F2733"/>
                </a:solidFill>
                <a:latin typeface="Meiryo UI" pitchFamily="34" charset="0"/>
                <a:ea typeface="Meiryo UI" pitchFamily="34" charset="-122"/>
                <a:cs typeface="Meiryo UI" pitchFamily="34" charset="-120"/>
              </a:rPr>
              <a:t>部分最適KPIによるセクショナリズム（会議録の課題認識）</a:t>
            </a:r>
            <a:endParaRPr lang="en-US" sz="850" dirty="0"/>
          </a:p>
        </p:txBody>
      </p:sp>
      <p:sp>
        <p:nvSpPr>
          <p:cNvPr id="11" name="Shape 9"/>
          <p:cNvSpPr/>
          <p:nvPr/>
        </p:nvSpPr>
        <p:spPr>
          <a:xfrm>
            <a:off x="3520440" y="1755648"/>
            <a:ext cx="5212080" cy="3246120"/>
          </a:xfrm>
          <a:prstGeom prst="rect">
            <a:avLst/>
          </a:prstGeom>
          <a:solidFill>
            <a:srgbClr val="F4F6F9"/>
          </a:solidFill>
          <a:ln w="9525">
            <a:solidFill>
              <a:srgbClr val="D9DEE6"/>
            </a:solidFill>
            <a:prstDash val="solid"/>
          </a:ln>
        </p:spPr>
      </p:sp>
      <p:sp>
        <p:nvSpPr>
          <p:cNvPr id="12" name="Text 10"/>
          <p:cNvSpPr/>
          <p:nvPr/>
        </p:nvSpPr>
        <p:spPr>
          <a:xfrm>
            <a:off x="3657600" y="1828800"/>
            <a:ext cx="4937760" cy="256032"/>
          </a:xfrm>
          <a:prstGeom prst="rect">
            <a:avLst/>
          </a:prstGeom>
          <a:noFill/>
          <a:ln/>
        </p:spPr>
        <p:txBody>
          <a:bodyPr wrap="square" lIns="0" tIns="0" rIns="0" bIns="0" rtlCol="0" anchor="ctr"/>
          <a:lstStyle/>
          <a:p>
            <a:pPr indent="0" marL="0">
              <a:buNone/>
            </a:pPr>
            <a:r>
              <a:rPr lang="en-US" sz="1000" b="1" dirty="0">
                <a:solidFill>
                  <a:srgbClr val="16233A"/>
                </a:solidFill>
                <a:latin typeface="Meiryo UI" pitchFamily="34" charset="0"/>
                <a:ea typeface="Meiryo UI" pitchFamily="34" charset="-122"/>
                <a:cs typeface="Meiryo UI" pitchFamily="34" charset="-120"/>
              </a:rPr>
              <a:t>施策（What）と主要アクション（How）</a:t>
            </a:r>
            <a:endParaRPr lang="en-US" sz="1000" dirty="0"/>
          </a:p>
        </p:txBody>
      </p:sp>
      <p:sp>
        <p:nvSpPr>
          <p:cNvPr id="13" name="Text 11"/>
          <p:cNvSpPr/>
          <p:nvPr/>
        </p:nvSpPr>
        <p:spPr>
          <a:xfrm>
            <a:off x="3657600" y="2121408"/>
            <a:ext cx="4956048" cy="2788920"/>
          </a:xfrm>
          <a:prstGeom prst="rect">
            <a:avLst/>
          </a:prstGeom>
          <a:noFill/>
          <a:ln/>
        </p:spPr>
        <p:txBody>
          <a:bodyPr wrap="square" lIns="0" tIns="0" rIns="0" bIns="0" rtlCol="0" anchor="t"/>
          <a:lstStyle/>
          <a:p>
            <a:pPr indent="0" marL="0">
              <a:lnSpc>
                <a:spcPct val="112000"/>
              </a:lnSpc>
              <a:buNone/>
            </a:pPr>
            <a:r>
              <a:rPr lang="en-US" sz="980" b="1" dirty="0">
                <a:solidFill>
                  <a:srgbClr val="16233A"/>
                </a:solidFill>
                <a:latin typeface="Meiryo UI" pitchFamily="34" charset="0"/>
                <a:ea typeface="Meiryo UI" pitchFamily="34" charset="-122"/>
                <a:cs typeface="Meiryo UI" pitchFamily="34" charset="-120"/>
              </a:rPr>
              <a:t>施策⑦ Input業務ゼロ化による「戦略時間」の創出
</a:t>
            </a:r>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商談資料・実績集計・LTV予測データの自動生成を生成AI×Salesforce TPMでFY26年度内に標準化（削減50%→FY27末80%）。浮いた時間の使途はテーマ3の商談・売場に決め打ち
</a:t>
            </a:r>
            <a:pPr indent="0" marL="0">
              <a:lnSpc>
                <a:spcPct val="112000"/>
              </a:lnSpc>
              <a:buNone/>
            </a:pPr>
            <a:r>
              <a:rPr lang="en-US" sz="980" b="1" dirty="0">
                <a:solidFill>
                  <a:srgbClr val="16233A"/>
                </a:solidFill>
                <a:latin typeface="Meiryo UI" pitchFamily="34" charset="0"/>
                <a:ea typeface="Meiryo UI" pitchFamily="34" charset="-122"/>
                <a:cs typeface="Meiryo UI" pitchFamily="34" charset="-120"/>
              </a:rPr>
              <a:t>施策⑧ RevOps型KPIマネジメント
</a:t>
            </a:r>
            <a:pPr indent="0" marL="0">
              <a:lnSpc>
                <a:spcPct val="112000"/>
              </a:lnSpc>
              <a:buNone/>
            </a:pPr>
            <a:r>
              <a:rPr lang="en-US" sz="880" dirty="0">
                <a:solidFill>
                  <a:srgbClr val="1F2733"/>
                </a:solidFill>
                <a:latin typeface="Meiryo UI" pitchFamily="34" charset="0"/>
                <a:ea typeface="Meiryo UI" pitchFamily="34" charset="-122"/>
                <a:cs typeface="Meiryo UI" pitchFamily="34" charset="-120"/>
              </a:rPr>
              <a:t>営業・ブランド・データ・EC・SCM横断の「アカウントスクワッド」が重点小売3〜5社を担当し、増分粗利・N-t-C・LTVを全チーム共有KPIに。人事評価と連動
</a:t>
            </a:r>
            <a:pPr indent="0" marL="0">
              <a:lnSpc>
                <a:spcPct val="112000"/>
              </a:lnSpc>
              <a:buNone/>
            </a:pPr>
            <a:r>
              <a:rPr lang="en-US" sz="900" b="1" dirty="0">
                <a:solidFill>
                  <a:srgbClr val="16233A"/>
                </a:solidFill>
                <a:latin typeface="Meiryo UI" pitchFamily="34" charset="0"/>
                <a:ea typeface="Meiryo UI" pitchFamily="34" charset="-122"/>
                <a:cs typeface="Meiryo UI" pitchFamily="34" charset="-120"/>
              </a:rPr>
              <a:t>主要アクション（真因への直接回答）
</a:t>
            </a:r>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・経営テーマ1〜5に役員オーナーを任命し、施策ごとに撤退基準と検証計画を先に置く（責任と検証の曖昧さを制度で解消）</a:t>
            </a:r>
            <a:endParaRPr lang="en-US" sz="980" dirty="0"/>
          </a:p>
          <a:p>
            <a:pPr indent="0" marL="0">
              <a:lnSpc>
                <a:spcPct val="112000"/>
              </a:lnSpc>
              <a:buNone/>
            </a:pPr>
            <a:r>
              <a:rPr lang="en-US" sz="860" dirty="0">
                <a:solidFill>
                  <a:srgbClr val="1F2733"/>
                </a:solidFill>
                <a:latin typeface="Meiryo UI" pitchFamily="34" charset="0"/>
                <a:ea typeface="Meiryo UI" pitchFamily="34" charset="-122"/>
                <a:cs typeface="Meiryo UI" pitchFamily="34" charset="-120"/>
              </a:rPr>
              <a:t>・MMM＋増分実験体制（重点1小売×1施策から）・変革チーム評価の売上目標からの分離</a:t>
            </a:r>
            <a:endParaRPr lang="en-US" sz="980" dirty="0"/>
          </a:p>
        </p:txBody>
      </p:sp>
      <p:sp>
        <p:nvSpPr>
          <p:cNvPr id="14" name="Shape 12"/>
          <p:cNvSpPr/>
          <p:nvPr/>
        </p:nvSpPr>
        <p:spPr>
          <a:xfrm>
            <a:off x="8869680" y="1755648"/>
            <a:ext cx="2816352" cy="3246120"/>
          </a:xfrm>
          <a:prstGeom prst="rect">
            <a:avLst/>
          </a:prstGeom>
          <a:solidFill>
            <a:srgbClr val="FFFFFF"/>
          </a:solidFill>
          <a:ln w="12700">
            <a:solidFill>
              <a:srgbClr val="D9DEE6"/>
            </a:solidFill>
            <a:prstDash val="solid"/>
          </a:ln>
        </p:spPr>
      </p:sp>
      <p:sp>
        <p:nvSpPr>
          <p:cNvPr id="15" name="Text 13"/>
          <p:cNvSpPr/>
          <p:nvPr/>
        </p:nvSpPr>
        <p:spPr>
          <a:xfrm>
            <a:off x="9006840" y="1874520"/>
            <a:ext cx="2560320" cy="3063240"/>
          </a:xfrm>
          <a:prstGeom prst="rect">
            <a:avLst/>
          </a:prstGeom>
          <a:noFill/>
          <a:ln/>
        </p:spPr>
        <p:txBody>
          <a:bodyPr wrap="square" lIns="0" tIns="0" rIns="0" bIns="0" rtlCol="0" anchor="t"/>
          <a:lstStyle/>
          <a:p>
            <a:pPr indent="0" marL="0">
              <a:lnSpc>
                <a:spcPct val="114000"/>
              </a:lnSpc>
              <a:buNone/>
            </a:pPr>
            <a:r>
              <a:rPr lang="en-US" sz="950" b="1" dirty="0">
                <a:solidFill>
                  <a:srgbClr val="16233A"/>
                </a:solidFill>
                <a:latin typeface="Meiryo UI" pitchFamily="34" charset="0"/>
                <a:ea typeface="Meiryo UI" pitchFamily="34" charset="-122"/>
                <a:cs typeface="Meiryo UI" pitchFamily="34" charset="-120"/>
              </a:rPr>
              <a:t>Who（主担当）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経営会議＋人事＋推進事務局
オーナー役員：社長（全体）
</a:t>
            </a:r>
            <a:pPr indent="0" marL="0">
              <a:lnSpc>
                <a:spcPct val="114000"/>
              </a:lnSpc>
              <a:buNone/>
            </a:pPr>
            <a:r>
              <a:rPr lang="en-US" sz="950" b="1" dirty="0">
                <a:solidFill>
                  <a:srgbClr val="16233A"/>
                </a:solidFill>
                <a:latin typeface="Meiryo UI" pitchFamily="34" charset="0"/>
                <a:ea typeface="Meiryo UI" pitchFamily="34" charset="-122"/>
                <a:cs typeface="Meiryo UI" pitchFamily="34" charset="-120"/>
              </a:rPr>
              <a:t>When（実施時期）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FY26 Q2 試行 → FY26末 標準化
→ FY27 スクワッド展開
</a:t>
            </a:r>
            <a:pPr indent="0" marL="0">
              <a:lnSpc>
                <a:spcPct val="114000"/>
              </a:lnSpc>
              <a:buNone/>
            </a:pPr>
            <a:r>
              <a:rPr lang="en-US" sz="950" b="1" dirty="0">
                <a:solidFill>
                  <a:srgbClr val="16233A"/>
                </a:solidFill>
                <a:latin typeface="Meiryo UI" pitchFamily="34" charset="0"/>
                <a:ea typeface="Meiryo UI" pitchFamily="34" charset="-122"/>
                <a:cs typeface="Meiryo UI" pitchFamily="34" charset="-120"/>
              </a:rPr>
              <a:t>KPI（見る数字）
</a:t>
            </a:r>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Input業務削減率 50→80%</a:t>
            </a:r>
            <a:endParaRPr lang="en-US" sz="950" dirty="0"/>
          </a:p>
          <a:p>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RevOps共有KPI達成率</a:t>
            </a:r>
            <a:endParaRPr lang="en-US" sz="950" dirty="0"/>
          </a:p>
          <a:p>
            <a:pPr indent="0" marL="0">
              <a:lnSpc>
                <a:spcPct val="114000"/>
              </a:lnSpc>
              <a:buNone/>
            </a:pPr>
            <a:r>
              <a:rPr lang="en-US" sz="860" dirty="0">
                <a:solidFill>
                  <a:srgbClr val="1F2733"/>
                </a:solidFill>
                <a:latin typeface="Meiryo UI" pitchFamily="34" charset="0"/>
                <a:ea typeface="Meiryo UI" pitchFamily="34" charset="-122"/>
                <a:cs typeface="Meiryo UI" pitchFamily="34" charset="-120"/>
              </a:rPr>
              <a:t>対象小売の増分粗利</a:t>
            </a:r>
            <a:endParaRPr lang="en-US" sz="950" dirty="0"/>
          </a:p>
        </p:txBody>
      </p:sp>
      <p:sp>
        <p:nvSpPr>
          <p:cNvPr id="16" name="Shape 14"/>
          <p:cNvSpPr/>
          <p:nvPr/>
        </p:nvSpPr>
        <p:spPr>
          <a:xfrm>
            <a:off x="502920" y="5138928"/>
            <a:ext cx="11185855" cy="685800"/>
          </a:xfrm>
          <a:prstGeom prst="rect">
            <a:avLst/>
          </a:prstGeom>
          <a:solidFill>
            <a:srgbClr val="16233A"/>
          </a:solidFill>
          <a:ln/>
        </p:spPr>
      </p:sp>
      <p:sp>
        <p:nvSpPr>
          <p:cNvPr id="17" name="Text 15"/>
          <p:cNvSpPr/>
          <p:nvPr/>
        </p:nvSpPr>
        <p:spPr>
          <a:xfrm>
            <a:off x="731520" y="5175504"/>
            <a:ext cx="10728655" cy="612648"/>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後 ― 何につながるか：</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全テーマの実行力の土台。「全体最適の計画と効果検証の不在」という真因を、北極星KPI・役員オーナー制・撤退基準という実行の作法で解消する ― 過去の新規投資と今回が違う理由を、制度で担保する。</a:t>
            </a:r>
            <a:endParaRPr lang="en-US" sz="1030" dirty="0"/>
          </a:p>
        </p:txBody>
      </p:sp>
      <p:sp>
        <p:nvSpPr>
          <p:cNvPr id="18" name="Text 16"/>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シナジー設計</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点を線に、線を面に ― 施策がつながって初めて事業モデルが変わる</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8＋1の施策（点）を3本の連鎖（線）で結び、3本の線が「予防習慣インフラ」という1つの面を張る</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554480"/>
            <a:ext cx="11185855" cy="969264"/>
          </a:xfrm>
          <a:prstGeom prst="rect">
            <a:avLst/>
          </a:prstGeom>
          <a:solidFill>
            <a:srgbClr val="EAF3F8"/>
          </a:solidFill>
          <a:ln w="9525">
            <a:solidFill>
              <a:srgbClr val="D9DEE6"/>
            </a:solidFill>
            <a:prstDash val="solid"/>
          </a:ln>
        </p:spPr>
      </p:sp>
      <p:sp>
        <p:nvSpPr>
          <p:cNvPr id="7" name="Shape 5"/>
          <p:cNvSpPr/>
          <p:nvPr/>
        </p:nvSpPr>
        <p:spPr>
          <a:xfrm>
            <a:off x="502920" y="1554480"/>
            <a:ext cx="64008" cy="969264"/>
          </a:xfrm>
          <a:prstGeom prst="rect">
            <a:avLst/>
          </a:prstGeom>
          <a:solidFill>
            <a:srgbClr val="0F5E87"/>
          </a:solidFill>
          <a:ln/>
        </p:spPr>
      </p:sp>
      <p:sp>
        <p:nvSpPr>
          <p:cNvPr id="8" name="Text 6"/>
          <p:cNvSpPr/>
          <p:nvPr/>
        </p:nvSpPr>
        <p:spPr>
          <a:xfrm>
            <a:off x="667512" y="1618488"/>
            <a:ext cx="2743200" cy="274320"/>
          </a:xfrm>
          <a:prstGeom prst="rect">
            <a:avLst/>
          </a:prstGeom>
          <a:noFill/>
          <a:ln/>
        </p:spPr>
        <p:txBody>
          <a:bodyPr wrap="square" lIns="0" tIns="0" rIns="0" bIns="0" rtlCol="0" anchor="ctr"/>
          <a:lstStyle/>
          <a:p>
            <a:pPr indent="0" marL="0">
              <a:buNone/>
            </a:pPr>
            <a:r>
              <a:rPr lang="en-US" sz="1080" b="1" dirty="0">
                <a:solidFill>
                  <a:srgbClr val="0F5E87"/>
                </a:solidFill>
                <a:latin typeface="Meiryo UI" pitchFamily="34" charset="0"/>
                <a:ea typeface="Meiryo UI" pitchFamily="34" charset="-122"/>
                <a:cs typeface="Meiryo UI" pitchFamily="34" charset="-120"/>
              </a:rPr>
              <a:t>線1 エビデンスの連鎖</a:t>
            </a:r>
            <a:endParaRPr lang="en-US" sz="1080" dirty="0"/>
          </a:p>
        </p:txBody>
      </p:sp>
      <p:sp>
        <p:nvSpPr>
          <p:cNvPr id="9" name="Text 7"/>
          <p:cNvSpPr/>
          <p:nvPr/>
        </p:nvSpPr>
        <p:spPr>
          <a:xfrm>
            <a:off x="3520440" y="1618488"/>
            <a:ext cx="8229600" cy="274320"/>
          </a:xfrm>
          <a:prstGeom prst="rect">
            <a:avLst/>
          </a:prstGeom>
          <a:noFill/>
          <a:ln/>
        </p:spPr>
        <p:txBody>
          <a:bodyPr wrap="square" lIns="0" tIns="0" rIns="0" bIns="0" rtlCol="0" anchor="ctr"/>
          <a:lstStyle/>
          <a:p>
            <a:pPr indent="0" marL="0">
              <a:buNone/>
            </a:pPr>
            <a:r>
              <a:rPr lang="en-US" sz="930" b="1" dirty="0">
                <a:solidFill>
                  <a:srgbClr val="16233A"/>
                </a:solidFill>
                <a:latin typeface="Meiryo UI" pitchFamily="34" charset="0"/>
                <a:ea typeface="Meiryo UI" pitchFamily="34" charset="-122"/>
                <a:cs typeface="Meiryo UI" pitchFamily="34" charset="-120"/>
              </a:rPr>
              <a:t>施策⑤ データ統合 → 施策② AI公開 → 施策③⑥ 商談・B2B2C</a:t>
            </a:r>
            <a:endParaRPr lang="en-US" sz="930" dirty="0"/>
          </a:p>
        </p:txBody>
      </p:sp>
      <p:sp>
        <p:nvSpPr>
          <p:cNvPr id="10" name="Text 8"/>
          <p:cNvSpPr/>
          <p:nvPr/>
        </p:nvSpPr>
        <p:spPr>
          <a:xfrm>
            <a:off x="667512" y="1938528"/>
            <a:ext cx="10881360" cy="530352"/>
          </a:xfrm>
          <a:prstGeom prst="rect">
            <a:avLst/>
          </a:prstGeom>
          <a:noFill/>
          <a:ln/>
        </p:spPr>
        <p:txBody>
          <a:bodyPr wrap="square" lIns="0" tIns="0" rIns="0" bIns="0" rtlCol="0" anchor="ctr"/>
          <a:lstStyle/>
          <a:p>
            <a:pPr indent="0" marL="0">
              <a:lnSpc>
                <a:spcPct val="112000"/>
              </a:lnSpc>
              <a:buNone/>
            </a:pPr>
            <a:r>
              <a:rPr lang="en-US" sz="890" dirty="0">
                <a:solidFill>
                  <a:srgbClr val="1F2733"/>
                </a:solidFill>
                <a:latin typeface="Meiryo UI" pitchFamily="34" charset="0"/>
                <a:ea typeface="Meiryo UI" pitchFamily="34" charset="-122"/>
                <a:cs typeface="Meiryo UI" pitchFamily="34" charset="-120"/>
              </a:rPr>
              <a:t>臨床データが「AIの引用元」と「バイヤーへの武器」の両方に流れる。1つの知識資産が消費者・AI・小売の3方向で換金される</a:t>
            </a:r>
            <a:endParaRPr lang="en-US" sz="890" dirty="0"/>
          </a:p>
        </p:txBody>
      </p:sp>
      <p:sp>
        <p:nvSpPr>
          <p:cNvPr id="11" name="Shape 9"/>
          <p:cNvSpPr/>
          <p:nvPr/>
        </p:nvSpPr>
        <p:spPr>
          <a:xfrm>
            <a:off x="502920" y="2615184"/>
            <a:ext cx="11185855" cy="969264"/>
          </a:xfrm>
          <a:prstGeom prst="rect">
            <a:avLst/>
          </a:prstGeom>
          <a:solidFill>
            <a:srgbClr val="F7F0E3"/>
          </a:solidFill>
          <a:ln w="9525">
            <a:solidFill>
              <a:srgbClr val="D9DEE6"/>
            </a:solidFill>
            <a:prstDash val="solid"/>
          </a:ln>
        </p:spPr>
      </p:sp>
      <p:sp>
        <p:nvSpPr>
          <p:cNvPr id="12" name="Shape 10"/>
          <p:cNvSpPr/>
          <p:nvPr/>
        </p:nvSpPr>
        <p:spPr>
          <a:xfrm>
            <a:off x="502920" y="2615184"/>
            <a:ext cx="64008" cy="969264"/>
          </a:xfrm>
          <a:prstGeom prst="rect">
            <a:avLst/>
          </a:prstGeom>
          <a:solidFill>
            <a:srgbClr val="B87A2A"/>
          </a:solidFill>
          <a:ln/>
        </p:spPr>
      </p:sp>
      <p:sp>
        <p:nvSpPr>
          <p:cNvPr id="13" name="Text 11"/>
          <p:cNvSpPr/>
          <p:nvPr/>
        </p:nvSpPr>
        <p:spPr>
          <a:xfrm>
            <a:off x="667512" y="2679192"/>
            <a:ext cx="2743200" cy="274320"/>
          </a:xfrm>
          <a:prstGeom prst="rect">
            <a:avLst/>
          </a:prstGeom>
          <a:noFill/>
          <a:ln/>
        </p:spPr>
        <p:txBody>
          <a:bodyPr wrap="square" lIns="0" tIns="0" rIns="0" bIns="0" rtlCol="0" anchor="ctr"/>
          <a:lstStyle/>
          <a:p>
            <a:pPr indent="0" marL="0">
              <a:buNone/>
            </a:pPr>
            <a:r>
              <a:rPr lang="en-US" sz="1080" b="1" dirty="0">
                <a:solidFill>
                  <a:srgbClr val="B87A2A"/>
                </a:solidFill>
                <a:latin typeface="Meiryo UI" pitchFamily="34" charset="0"/>
                <a:ea typeface="Meiryo UI" pitchFamily="34" charset="-122"/>
                <a:cs typeface="Meiryo UI" pitchFamily="34" charset="-120"/>
              </a:rPr>
              <a:t>線2 IDと制度の連鎖</a:t>
            </a:r>
            <a:endParaRPr lang="en-US" sz="1080" dirty="0"/>
          </a:p>
        </p:txBody>
      </p:sp>
      <p:sp>
        <p:nvSpPr>
          <p:cNvPr id="14" name="Text 12"/>
          <p:cNvSpPr/>
          <p:nvPr/>
        </p:nvSpPr>
        <p:spPr>
          <a:xfrm>
            <a:off x="3520440" y="2679192"/>
            <a:ext cx="8229600" cy="274320"/>
          </a:xfrm>
          <a:prstGeom prst="rect">
            <a:avLst/>
          </a:prstGeom>
          <a:noFill/>
          <a:ln/>
        </p:spPr>
        <p:txBody>
          <a:bodyPr wrap="square" lIns="0" tIns="0" rIns="0" bIns="0" rtlCol="0" anchor="ctr"/>
          <a:lstStyle/>
          <a:p>
            <a:pPr indent="0" marL="0">
              <a:buNone/>
            </a:pPr>
            <a:r>
              <a:rPr lang="en-US" sz="930" b="1" dirty="0">
                <a:solidFill>
                  <a:srgbClr val="16233A"/>
                </a:solidFill>
                <a:latin typeface="Meiryo UI" pitchFamily="34" charset="0"/>
                <a:ea typeface="Meiryo UI" pitchFamily="34" charset="-122"/>
                <a:cs typeface="Meiryo UI" pitchFamily="34" charset="-120"/>
              </a:rPr>
              <a:t>施策① 皆歯科健診の制度活用 → 施策④ LION ID OS → 施策③ 診断型売場</a:t>
            </a:r>
            <a:endParaRPr lang="en-US" sz="930" dirty="0"/>
          </a:p>
        </p:txBody>
      </p:sp>
      <p:sp>
        <p:nvSpPr>
          <p:cNvPr id="15" name="Text 13"/>
          <p:cNvSpPr/>
          <p:nvPr/>
        </p:nvSpPr>
        <p:spPr>
          <a:xfrm>
            <a:off x="667512" y="2999232"/>
            <a:ext cx="10881360" cy="530352"/>
          </a:xfrm>
          <a:prstGeom prst="rect">
            <a:avLst/>
          </a:prstGeom>
          <a:noFill/>
          <a:ln/>
        </p:spPr>
        <p:txBody>
          <a:bodyPr wrap="square" lIns="0" tIns="0" rIns="0" bIns="0" rtlCol="0" anchor="ctr"/>
          <a:lstStyle/>
          <a:p>
            <a:pPr indent="0" marL="0">
              <a:lnSpc>
                <a:spcPct val="112000"/>
              </a:lnSpc>
              <a:buNone/>
            </a:pPr>
            <a:r>
              <a:rPr lang="en-US" sz="890" dirty="0">
                <a:solidFill>
                  <a:srgbClr val="1F2733"/>
                </a:solidFill>
                <a:latin typeface="Meiryo UI" pitchFamily="34" charset="0"/>
                <a:ea typeface="Meiryo UI" pitchFamily="34" charset="-122"/>
                <a:cs typeface="Meiryo UI" pitchFamily="34" charset="-120"/>
              </a:rPr>
              <a:t>健診・学校・歯科（制度接点）で獲得したIDが、売場の診断接点と小売データにつながり、習慣・健康データが蓄積される</a:t>
            </a:r>
            <a:endParaRPr lang="en-US" sz="890" dirty="0"/>
          </a:p>
        </p:txBody>
      </p:sp>
      <p:sp>
        <p:nvSpPr>
          <p:cNvPr id="16" name="Shape 14"/>
          <p:cNvSpPr/>
          <p:nvPr/>
        </p:nvSpPr>
        <p:spPr>
          <a:xfrm>
            <a:off x="502920" y="3675888"/>
            <a:ext cx="11185855" cy="969264"/>
          </a:xfrm>
          <a:prstGeom prst="rect">
            <a:avLst/>
          </a:prstGeom>
          <a:solidFill>
            <a:srgbClr val="EEF4EC"/>
          </a:solidFill>
          <a:ln w="9525">
            <a:solidFill>
              <a:srgbClr val="D9DEE6"/>
            </a:solidFill>
            <a:prstDash val="solid"/>
          </a:ln>
        </p:spPr>
      </p:sp>
      <p:sp>
        <p:nvSpPr>
          <p:cNvPr id="17" name="Shape 15"/>
          <p:cNvSpPr/>
          <p:nvPr/>
        </p:nvSpPr>
        <p:spPr>
          <a:xfrm>
            <a:off x="502920" y="3675888"/>
            <a:ext cx="64008" cy="969264"/>
          </a:xfrm>
          <a:prstGeom prst="rect">
            <a:avLst/>
          </a:prstGeom>
          <a:solidFill>
            <a:srgbClr val="2C5F2D"/>
          </a:solidFill>
          <a:ln/>
        </p:spPr>
      </p:sp>
      <p:sp>
        <p:nvSpPr>
          <p:cNvPr id="18" name="Text 16"/>
          <p:cNvSpPr/>
          <p:nvPr/>
        </p:nvSpPr>
        <p:spPr>
          <a:xfrm>
            <a:off x="667512" y="3739896"/>
            <a:ext cx="2743200" cy="274320"/>
          </a:xfrm>
          <a:prstGeom prst="rect">
            <a:avLst/>
          </a:prstGeom>
          <a:noFill/>
          <a:ln/>
        </p:spPr>
        <p:txBody>
          <a:bodyPr wrap="square" lIns="0" tIns="0" rIns="0" bIns="0" rtlCol="0" anchor="ctr"/>
          <a:lstStyle/>
          <a:p>
            <a:pPr indent="0" marL="0">
              <a:buNone/>
            </a:pPr>
            <a:r>
              <a:rPr lang="en-US" sz="1080" b="1" dirty="0">
                <a:solidFill>
                  <a:srgbClr val="2C5F2D"/>
                </a:solidFill>
                <a:latin typeface="Meiryo UI" pitchFamily="34" charset="0"/>
                <a:ea typeface="Meiryo UI" pitchFamily="34" charset="-122"/>
                <a:cs typeface="Meiryo UI" pitchFamily="34" charset="-120"/>
              </a:rPr>
              <a:t>線3 時間と評価の連鎖</a:t>
            </a:r>
            <a:endParaRPr lang="en-US" sz="1080" dirty="0"/>
          </a:p>
        </p:txBody>
      </p:sp>
      <p:sp>
        <p:nvSpPr>
          <p:cNvPr id="19" name="Text 17"/>
          <p:cNvSpPr/>
          <p:nvPr/>
        </p:nvSpPr>
        <p:spPr>
          <a:xfrm>
            <a:off x="3520440" y="3739896"/>
            <a:ext cx="8229600" cy="274320"/>
          </a:xfrm>
          <a:prstGeom prst="rect">
            <a:avLst/>
          </a:prstGeom>
          <a:noFill/>
          <a:ln/>
        </p:spPr>
        <p:txBody>
          <a:bodyPr wrap="square" lIns="0" tIns="0" rIns="0" bIns="0" rtlCol="0" anchor="ctr"/>
          <a:lstStyle/>
          <a:p>
            <a:pPr indent="0" marL="0">
              <a:buNone/>
            </a:pPr>
            <a:r>
              <a:rPr lang="en-US" sz="930" b="1" dirty="0">
                <a:solidFill>
                  <a:srgbClr val="16233A"/>
                </a:solidFill>
                <a:latin typeface="Meiryo UI" pitchFamily="34" charset="0"/>
                <a:ea typeface="Meiryo UI" pitchFamily="34" charset="-122"/>
                <a:cs typeface="Meiryo UI" pitchFamily="34" charset="-120"/>
              </a:rPr>
              <a:t>施策⑦ 時間創出 → 施策⑧ スクワッド → テーマ3のJBP実行</a:t>
            </a:r>
            <a:endParaRPr lang="en-US" sz="930" dirty="0"/>
          </a:p>
        </p:txBody>
      </p:sp>
      <p:sp>
        <p:nvSpPr>
          <p:cNvPr id="20" name="Text 18"/>
          <p:cNvSpPr/>
          <p:nvPr/>
        </p:nvSpPr>
        <p:spPr>
          <a:xfrm>
            <a:off x="667512" y="4059936"/>
            <a:ext cx="10881360" cy="530352"/>
          </a:xfrm>
          <a:prstGeom prst="rect">
            <a:avLst/>
          </a:prstGeom>
          <a:noFill/>
          <a:ln/>
        </p:spPr>
        <p:txBody>
          <a:bodyPr wrap="square" lIns="0" tIns="0" rIns="0" bIns="0" rtlCol="0" anchor="ctr"/>
          <a:lstStyle/>
          <a:p>
            <a:pPr indent="0" marL="0">
              <a:lnSpc>
                <a:spcPct val="112000"/>
              </a:lnSpc>
              <a:buNone/>
            </a:pPr>
            <a:r>
              <a:rPr lang="en-US" sz="890" dirty="0">
                <a:solidFill>
                  <a:srgbClr val="1F2733"/>
                </a:solidFill>
                <a:latin typeface="Meiryo UI" pitchFamily="34" charset="0"/>
                <a:ea typeface="Meiryo UI" pitchFamily="34" charset="-122"/>
                <a:cs typeface="Meiryo UI" pitchFamily="34" charset="-120"/>
              </a:rPr>
              <a:t>ゼロ化で生まれた時間がスクワッドの共同事業運営に投じられ、成果が北極星KPIで測られて評価に返る ― 人が回り続ける仕組み</a:t>
            </a:r>
            <a:endParaRPr lang="en-US" sz="890" dirty="0"/>
          </a:p>
        </p:txBody>
      </p:sp>
      <p:sp>
        <p:nvSpPr>
          <p:cNvPr id="21" name="Shape 19"/>
          <p:cNvSpPr/>
          <p:nvPr/>
        </p:nvSpPr>
        <p:spPr>
          <a:xfrm>
            <a:off x="502920" y="4800600"/>
            <a:ext cx="11185855" cy="960120"/>
          </a:xfrm>
          <a:prstGeom prst="rect">
            <a:avLst/>
          </a:prstGeom>
          <a:solidFill>
            <a:srgbClr val="16233A"/>
          </a:solidFill>
          <a:ln/>
        </p:spPr>
      </p:sp>
      <p:sp>
        <p:nvSpPr>
          <p:cNvPr id="22" name="Text 20"/>
          <p:cNvSpPr/>
          <p:nvPr/>
        </p:nvSpPr>
        <p:spPr>
          <a:xfrm>
            <a:off x="731520" y="4864608"/>
            <a:ext cx="10728655" cy="841248"/>
          </a:xfrm>
          <a:prstGeom prst="rect">
            <a:avLst/>
          </a:prstGeom>
          <a:noFill/>
          <a:ln/>
        </p:spPr>
        <p:txBody>
          <a:bodyPr wrap="square" lIns="0" tIns="0" rIns="0" bIns="0" rtlCol="0" anchor="ctr"/>
          <a:lstStyle/>
          <a:p>
            <a:pPr indent="0" marL="0">
              <a:lnSpc>
                <a:spcPct val="115000"/>
              </a:lnSpc>
              <a:buNone/>
            </a:pPr>
            <a:r>
              <a:rPr lang="en-US" sz="1100" b="1" dirty="0">
                <a:solidFill>
                  <a:srgbClr val="FFD5DB"/>
                </a:solidFill>
                <a:latin typeface="Meiryo UI" pitchFamily="34" charset="0"/>
                <a:ea typeface="Meiryo UI" pitchFamily="34" charset="-122"/>
                <a:cs typeface="Meiryo UI" pitchFamily="34" charset="-120"/>
              </a:rPr>
              <a:t>面 ― 予防習慣インフラ（2040）：</a:t>
            </a:r>
            <a:pPr indent="0" marL="0">
              <a:lnSpc>
                <a:spcPct val="115000"/>
              </a:lnSpc>
              <a:buNone/>
            </a:pPr>
            <a:r>
              <a:rPr lang="en-US" sz="960" dirty="0">
                <a:solidFill>
                  <a:srgbClr val="D7DFEA"/>
                </a:solidFill>
                <a:latin typeface="Meiryo UI" pitchFamily="34" charset="0"/>
                <a:ea typeface="Meiryo UI" pitchFamily="34" charset="-122"/>
                <a:cs typeface="Meiryo UI" pitchFamily="34" charset="-120"/>
              </a:rPr>
              <a:t>3本の線が重なると、「制度が推奨し（線2）、エビデンスが人とAIに選ばせ（線1）、小売との共同事業が買い場を支え（線3）、生活者の継続購買が資産として蓄積される」1つの事業モデルになる。点の寄せ集めでは競合に模倣されるが、面は模倣できない ― 各線の資産（制度接点・臨床蓄積・小売信頼）が他社にないため。</a:t>
            </a:r>
            <a:endParaRPr lang="en-US" sz="1100" dirty="0"/>
          </a:p>
        </p:txBody>
      </p:sp>
      <p:sp>
        <p:nvSpPr>
          <p:cNvPr id="23" name="Text 21"/>
          <p:cNvSpPr/>
          <p:nvPr/>
        </p:nvSpPr>
        <p:spPr>
          <a:xfrm>
            <a:off x="502920" y="5943600"/>
            <a:ext cx="11185855" cy="274320"/>
          </a:xfrm>
          <a:prstGeom prst="rect">
            <a:avLst/>
          </a:prstGeom>
          <a:noFill/>
          <a:ln/>
        </p:spPr>
        <p:txBody>
          <a:bodyPr wrap="square" lIns="0" tIns="0" rIns="0" bIns="0" rtlCol="0" anchor="ctr"/>
          <a:lstStyle/>
          <a:p>
            <a:pPr indent="0" marL="0">
              <a:buNone/>
            </a:pPr>
            <a:r>
              <a:rPr lang="en-US" sz="930" dirty="0">
                <a:solidFill>
                  <a:srgbClr val="5A6472"/>
                </a:solidFill>
                <a:latin typeface="Meiryo UI" pitchFamily="34" charset="0"/>
                <a:ea typeface="Meiryo UI" pitchFamily="34" charset="-122"/>
                <a:cs typeface="Meiryo UI" pitchFamily="34" charset="-120"/>
              </a:rPr>
              <a:t>※ 点（施策単体）の成果が出ても線につながっていなければ再設計する ― 四半期レビューで「線の接続状態」を推進事務局が点検する。</a:t>
            </a:r>
            <a:endParaRPr lang="en-US" sz="930" dirty="0"/>
          </a:p>
        </p:txBody>
      </p:sp>
      <p:sp>
        <p:nvSpPr>
          <p:cNvPr id="24" name="Text 22"/>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Who</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体制 ― 経営テーマごとに「オーナー役員」を置き、現場はスクワッドで動く</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過去の新規投資の反省（責任と検証の曖昧さ）への回答として、テーマ1〜5に役員オーナーと撤退基準を固定。実行は少人数専任＋横断チームで、通常業務に負担をかけない</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Text 4"/>
          <p:cNvSpPr/>
          <p:nvPr/>
        </p:nvSpPr>
        <p:spPr>
          <a:xfrm>
            <a:off x="502920" y="1499616"/>
            <a:ext cx="10515600" cy="256032"/>
          </a:xfrm>
          <a:prstGeom prst="rect">
            <a:avLst/>
          </a:prstGeom>
          <a:noFill/>
          <a:ln/>
        </p:spPr>
        <p:txBody>
          <a:bodyPr wrap="square" lIns="0" tIns="0" rIns="0" bIns="0" rtlCol="0" anchor="ctr"/>
          <a:lstStyle/>
          <a:p>
            <a:pPr indent="0" marL="0">
              <a:buNone/>
            </a:pPr>
            <a:r>
              <a:rPr lang="en-US" sz="1100" b="1" dirty="0">
                <a:solidFill>
                  <a:srgbClr val="16233A"/>
                </a:solidFill>
                <a:latin typeface="Meiryo UI" pitchFamily="34" charset="0"/>
                <a:ea typeface="Meiryo UI" pitchFamily="34" charset="-122"/>
                <a:cs typeface="Meiryo UI" pitchFamily="34" charset="-120"/>
              </a:rPr>
              <a:t>経営レイヤー ― テーマ別オーナー役員（月次の経営会議で進捗・ゲート判定）</a:t>
            </a:r>
            <a:endParaRPr lang="en-US" sz="1100" dirty="0"/>
          </a:p>
        </p:txBody>
      </p:sp>
      <p:sp>
        <p:nvSpPr>
          <p:cNvPr id="7" name="Shape 5"/>
          <p:cNvSpPr/>
          <p:nvPr/>
        </p:nvSpPr>
        <p:spPr>
          <a:xfrm>
            <a:off x="502920" y="1810512"/>
            <a:ext cx="2157984" cy="658368"/>
          </a:xfrm>
          <a:prstGeom prst="rect">
            <a:avLst/>
          </a:prstGeom>
          <a:solidFill>
            <a:srgbClr val="C8102E"/>
          </a:solidFill>
          <a:ln/>
        </p:spPr>
      </p:sp>
      <p:sp>
        <p:nvSpPr>
          <p:cNvPr id="8" name="Text 6"/>
          <p:cNvSpPr/>
          <p:nvPr/>
        </p:nvSpPr>
        <p:spPr>
          <a:xfrm>
            <a:off x="594360" y="1847088"/>
            <a:ext cx="1975104" cy="585216"/>
          </a:xfrm>
          <a:prstGeom prst="rect">
            <a:avLst/>
          </a:prstGeom>
          <a:noFill/>
          <a:ln/>
        </p:spPr>
        <p:txBody>
          <a:bodyPr wrap="square" lIns="0" tIns="0" rIns="0" bIns="0" rtlCol="0" anchor="ctr"/>
          <a:lstStyle/>
          <a:p>
            <a:pPr indent="0" marL="0">
              <a:lnSpc>
                <a:spcPct val="110000"/>
              </a:lnSpc>
              <a:buNone/>
            </a:pPr>
            <a:r>
              <a:rPr lang="en-US" sz="880" b="1" dirty="0">
                <a:solidFill>
                  <a:srgbClr val="FFFFFF"/>
                </a:solidFill>
                <a:latin typeface="Meiryo UI" pitchFamily="34" charset="0"/>
                <a:ea typeface="Meiryo UI" pitchFamily="34" charset="-122"/>
                <a:cs typeface="Meiryo UI" pitchFamily="34" charset="-120"/>
              </a:rPr>
              <a:t>テーマ1 市場機会の選択
</a:t>
            </a:r>
            <a:pPr indent="0" marL="0">
              <a:lnSpc>
                <a:spcPct val="110000"/>
              </a:lnSpc>
              <a:buNone/>
            </a:pPr>
            <a:r>
              <a:rPr lang="en-US" sz="860" dirty="0">
                <a:solidFill>
                  <a:srgbClr val="FFFFFF"/>
                </a:solidFill>
                <a:latin typeface="Meiryo UI" pitchFamily="34" charset="0"/>
                <a:ea typeface="Meiryo UI" pitchFamily="34" charset="-122"/>
                <a:cs typeface="Meiryo UI" pitchFamily="34" charset="-120"/>
              </a:rPr>
              <a:t>オーナー：経営企画担当</a:t>
            </a:r>
            <a:endParaRPr lang="en-US" sz="880" dirty="0"/>
          </a:p>
        </p:txBody>
      </p:sp>
      <p:sp>
        <p:nvSpPr>
          <p:cNvPr id="9" name="Shape 7"/>
          <p:cNvSpPr/>
          <p:nvPr/>
        </p:nvSpPr>
        <p:spPr>
          <a:xfrm>
            <a:off x="2743200" y="1810512"/>
            <a:ext cx="2157984" cy="658368"/>
          </a:xfrm>
          <a:prstGeom prst="rect">
            <a:avLst/>
          </a:prstGeom>
          <a:solidFill>
            <a:srgbClr val="0F5E87"/>
          </a:solidFill>
          <a:ln/>
        </p:spPr>
      </p:sp>
      <p:sp>
        <p:nvSpPr>
          <p:cNvPr id="10" name="Text 8"/>
          <p:cNvSpPr/>
          <p:nvPr/>
        </p:nvSpPr>
        <p:spPr>
          <a:xfrm>
            <a:off x="2834640" y="1847088"/>
            <a:ext cx="1975104" cy="585216"/>
          </a:xfrm>
          <a:prstGeom prst="rect">
            <a:avLst/>
          </a:prstGeom>
          <a:noFill/>
          <a:ln/>
        </p:spPr>
        <p:txBody>
          <a:bodyPr wrap="square" lIns="0" tIns="0" rIns="0" bIns="0" rtlCol="0" anchor="ctr"/>
          <a:lstStyle/>
          <a:p>
            <a:pPr indent="0" marL="0">
              <a:lnSpc>
                <a:spcPct val="110000"/>
              </a:lnSpc>
              <a:buNone/>
            </a:pPr>
            <a:r>
              <a:rPr lang="en-US" sz="880" b="1" dirty="0">
                <a:solidFill>
                  <a:srgbClr val="FFFFFF"/>
                </a:solidFill>
                <a:latin typeface="Meiryo UI" pitchFamily="34" charset="0"/>
                <a:ea typeface="Meiryo UI" pitchFamily="34" charset="-122"/>
                <a:cs typeface="Meiryo UI" pitchFamily="34" charset="-120"/>
              </a:rPr>
              <a:t>テーマ2 選ばれる価値の創造
</a:t>
            </a:r>
            <a:pPr indent="0" marL="0">
              <a:lnSpc>
                <a:spcPct val="110000"/>
              </a:lnSpc>
              <a:buNone/>
            </a:pPr>
            <a:r>
              <a:rPr lang="en-US" sz="860" dirty="0">
                <a:solidFill>
                  <a:srgbClr val="FFFFFF"/>
                </a:solidFill>
                <a:latin typeface="Meiryo UI" pitchFamily="34" charset="0"/>
                <a:ea typeface="Meiryo UI" pitchFamily="34" charset="-122"/>
                <a:cs typeface="Meiryo UI" pitchFamily="34" charset="-120"/>
              </a:rPr>
              <a:t>オーナー：R&amp;D担当</a:t>
            </a:r>
            <a:endParaRPr lang="en-US" sz="880" dirty="0"/>
          </a:p>
        </p:txBody>
      </p:sp>
      <p:sp>
        <p:nvSpPr>
          <p:cNvPr id="11" name="Shape 9"/>
          <p:cNvSpPr/>
          <p:nvPr/>
        </p:nvSpPr>
        <p:spPr>
          <a:xfrm>
            <a:off x="4983480" y="1810512"/>
            <a:ext cx="2157984" cy="658368"/>
          </a:xfrm>
          <a:prstGeom prst="rect">
            <a:avLst/>
          </a:prstGeom>
          <a:solidFill>
            <a:srgbClr val="2C5F2D"/>
          </a:solidFill>
          <a:ln/>
        </p:spPr>
      </p:sp>
      <p:sp>
        <p:nvSpPr>
          <p:cNvPr id="12" name="Text 10"/>
          <p:cNvSpPr/>
          <p:nvPr/>
        </p:nvSpPr>
        <p:spPr>
          <a:xfrm>
            <a:off x="5074920" y="1847088"/>
            <a:ext cx="1975104" cy="585216"/>
          </a:xfrm>
          <a:prstGeom prst="rect">
            <a:avLst/>
          </a:prstGeom>
          <a:noFill/>
          <a:ln/>
        </p:spPr>
        <p:txBody>
          <a:bodyPr wrap="square" lIns="0" tIns="0" rIns="0" bIns="0" rtlCol="0" anchor="ctr"/>
          <a:lstStyle/>
          <a:p>
            <a:pPr indent="0" marL="0">
              <a:lnSpc>
                <a:spcPct val="110000"/>
              </a:lnSpc>
              <a:buNone/>
            </a:pPr>
            <a:r>
              <a:rPr lang="en-US" sz="880" b="1" dirty="0">
                <a:solidFill>
                  <a:srgbClr val="FFFFFF"/>
                </a:solidFill>
                <a:latin typeface="Meiryo UI" pitchFamily="34" charset="0"/>
                <a:ea typeface="Meiryo UI" pitchFamily="34" charset="-122"/>
                <a:cs typeface="Meiryo UI" pitchFamily="34" charset="-120"/>
              </a:rPr>
              <a:t>テーマ3 顧客接点の統合
</a:t>
            </a:r>
            <a:pPr indent="0" marL="0">
              <a:lnSpc>
                <a:spcPct val="110000"/>
              </a:lnSpc>
              <a:buNone/>
            </a:pPr>
            <a:r>
              <a:rPr lang="en-US" sz="860" dirty="0">
                <a:solidFill>
                  <a:srgbClr val="FFFFFF"/>
                </a:solidFill>
                <a:latin typeface="Meiryo UI" pitchFamily="34" charset="0"/>
                <a:ea typeface="Meiryo UI" pitchFamily="34" charset="-122"/>
                <a:cs typeface="Meiryo UI" pitchFamily="34" charset="-120"/>
              </a:rPr>
              <a:t>オーナー：営業担当</a:t>
            </a:r>
            <a:endParaRPr lang="en-US" sz="880" dirty="0"/>
          </a:p>
        </p:txBody>
      </p:sp>
      <p:sp>
        <p:nvSpPr>
          <p:cNvPr id="13" name="Shape 11"/>
          <p:cNvSpPr/>
          <p:nvPr/>
        </p:nvSpPr>
        <p:spPr>
          <a:xfrm>
            <a:off x="7223760" y="1810512"/>
            <a:ext cx="2157984" cy="658368"/>
          </a:xfrm>
          <a:prstGeom prst="rect">
            <a:avLst/>
          </a:prstGeom>
          <a:solidFill>
            <a:srgbClr val="B87A2A"/>
          </a:solidFill>
          <a:ln/>
        </p:spPr>
      </p:sp>
      <p:sp>
        <p:nvSpPr>
          <p:cNvPr id="14" name="Text 12"/>
          <p:cNvSpPr/>
          <p:nvPr/>
        </p:nvSpPr>
        <p:spPr>
          <a:xfrm>
            <a:off x="7315200" y="1847088"/>
            <a:ext cx="1975104" cy="585216"/>
          </a:xfrm>
          <a:prstGeom prst="rect">
            <a:avLst/>
          </a:prstGeom>
          <a:noFill/>
          <a:ln/>
        </p:spPr>
        <p:txBody>
          <a:bodyPr wrap="square" lIns="0" tIns="0" rIns="0" bIns="0" rtlCol="0" anchor="ctr"/>
          <a:lstStyle/>
          <a:p>
            <a:pPr indent="0" marL="0">
              <a:lnSpc>
                <a:spcPct val="110000"/>
              </a:lnSpc>
              <a:buNone/>
            </a:pPr>
            <a:r>
              <a:rPr lang="en-US" sz="880" b="1" dirty="0">
                <a:solidFill>
                  <a:srgbClr val="FFFFFF"/>
                </a:solidFill>
                <a:latin typeface="Meiryo UI" pitchFamily="34" charset="0"/>
                <a:ea typeface="Meiryo UI" pitchFamily="34" charset="-122"/>
                <a:cs typeface="Meiryo UI" pitchFamily="34" charset="-120"/>
              </a:rPr>
              <a:t>テーマ4 顧客資本の蓄積
</a:t>
            </a:r>
            <a:pPr indent="0" marL="0">
              <a:lnSpc>
                <a:spcPct val="110000"/>
              </a:lnSpc>
              <a:buNone/>
            </a:pPr>
            <a:r>
              <a:rPr lang="en-US" sz="860" dirty="0">
                <a:solidFill>
                  <a:srgbClr val="FFFFFF"/>
                </a:solidFill>
                <a:latin typeface="Meiryo UI" pitchFamily="34" charset="0"/>
                <a:ea typeface="Meiryo UI" pitchFamily="34" charset="-122"/>
                <a:cs typeface="Meiryo UI" pitchFamily="34" charset="-120"/>
              </a:rPr>
              <a:t>オーナー：マーケ担当</a:t>
            </a:r>
            <a:endParaRPr lang="en-US" sz="880" dirty="0"/>
          </a:p>
        </p:txBody>
      </p:sp>
      <p:sp>
        <p:nvSpPr>
          <p:cNvPr id="15" name="Shape 13"/>
          <p:cNvSpPr/>
          <p:nvPr/>
        </p:nvSpPr>
        <p:spPr>
          <a:xfrm>
            <a:off x="9464040" y="1810512"/>
            <a:ext cx="2157984" cy="658368"/>
          </a:xfrm>
          <a:prstGeom prst="rect">
            <a:avLst/>
          </a:prstGeom>
          <a:solidFill>
            <a:srgbClr val="16233A"/>
          </a:solidFill>
          <a:ln/>
        </p:spPr>
      </p:sp>
      <p:sp>
        <p:nvSpPr>
          <p:cNvPr id="16" name="Text 14"/>
          <p:cNvSpPr/>
          <p:nvPr/>
        </p:nvSpPr>
        <p:spPr>
          <a:xfrm>
            <a:off x="9555480" y="1847088"/>
            <a:ext cx="1975104" cy="585216"/>
          </a:xfrm>
          <a:prstGeom prst="rect">
            <a:avLst/>
          </a:prstGeom>
          <a:noFill/>
          <a:ln/>
        </p:spPr>
        <p:txBody>
          <a:bodyPr wrap="square" lIns="0" tIns="0" rIns="0" bIns="0" rtlCol="0" anchor="ctr"/>
          <a:lstStyle/>
          <a:p>
            <a:pPr indent="0" marL="0">
              <a:lnSpc>
                <a:spcPct val="110000"/>
              </a:lnSpc>
              <a:buNone/>
            </a:pPr>
            <a:r>
              <a:rPr lang="en-US" sz="880" b="1" dirty="0">
                <a:solidFill>
                  <a:srgbClr val="FFFFFF"/>
                </a:solidFill>
                <a:latin typeface="Meiryo UI" pitchFamily="34" charset="0"/>
                <a:ea typeface="Meiryo UI" pitchFamily="34" charset="-122"/>
                <a:cs typeface="Meiryo UI" pitchFamily="34" charset="-120"/>
              </a:rPr>
              <a:t>テーマ5 実行能力と成果管理
</a:t>
            </a:r>
            <a:pPr indent="0" marL="0">
              <a:lnSpc>
                <a:spcPct val="110000"/>
              </a:lnSpc>
              <a:buNone/>
            </a:pPr>
            <a:r>
              <a:rPr lang="en-US" sz="860" dirty="0">
                <a:solidFill>
                  <a:srgbClr val="FFFFFF"/>
                </a:solidFill>
                <a:latin typeface="Meiryo UI" pitchFamily="34" charset="0"/>
                <a:ea typeface="Meiryo UI" pitchFamily="34" charset="-122"/>
                <a:cs typeface="Meiryo UI" pitchFamily="34" charset="-120"/>
              </a:rPr>
              <a:t>オーナー：社長（全体）</a:t>
            </a:r>
            <a:endParaRPr lang="en-US" sz="880" dirty="0"/>
          </a:p>
        </p:txBody>
      </p:sp>
      <p:sp>
        <p:nvSpPr>
          <p:cNvPr id="17" name="Shape 15"/>
          <p:cNvSpPr/>
          <p:nvPr/>
        </p:nvSpPr>
        <p:spPr>
          <a:xfrm>
            <a:off x="502920" y="2651760"/>
            <a:ext cx="11185855" cy="841248"/>
          </a:xfrm>
          <a:prstGeom prst="rect">
            <a:avLst/>
          </a:prstGeom>
          <a:solidFill>
            <a:srgbClr val="F4F6F9"/>
          </a:solidFill>
          <a:ln w="15240">
            <a:solidFill>
              <a:srgbClr val="16233A"/>
            </a:solidFill>
            <a:prstDash val="solid"/>
          </a:ln>
        </p:spPr>
      </p:sp>
      <p:sp>
        <p:nvSpPr>
          <p:cNvPr id="18" name="Shape 16"/>
          <p:cNvSpPr/>
          <p:nvPr/>
        </p:nvSpPr>
        <p:spPr>
          <a:xfrm>
            <a:off x="502920" y="2651760"/>
            <a:ext cx="64008" cy="841248"/>
          </a:xfrm>
          <a:prstGeom prst="rect">
            <a:avLst/>
          </a:prstGeom>
          <a:solidFill>
            <a:srgbClr val="16233A"/>
          </a:solidFill>
          <a:ln/>
        </p:spPr>
      </p:sp>
      <p:sp>
        <p:nvSpPr>
          <p:cNvPr id="19" name="Text 17"/>
          <p:cNvSpPr/>
          <p:nvPr/>
        </p:nvSpPr>
        <p:spPr>
          <a:xfrm>
            <a:off x="667512" y="2688336"/>
            <a:ext cx="3017520" cy="768096"/>
          </a:xfrm>
          <a:prstGeom prst="rect">
            <a:avLst/>
          </a:prstGeom>
          <a:noFill/>
          <a:ln/>
        </p:spPr>
        <p:txBody>
          <a:bodyPr wrap="square" lIns="0" tIns="0" rIns="0" bIns="0" rtlCol="0" anchor="ctr"/>
          <a:lstStyle/>
          <a:p>
            <a:pPr indent="0" marL="0">
              <a:lnSpc>
                <a:spcPct val="105000"/>
              </a:lnSpc>
              <a:buNone/>
            </a:pPr>
            <a:r>
              <a:rPr lang="en-US" sz="960" b="1" dirty="0">
                <a:solidFill>
                  <a:srgbClr val="16233A"/>
                </a:solidFill>
                <a:latin typeface="Meiryo UI" pitchFamily="34" charset="0"/>
                <a:ea typeface="Meiryo UI" pitchFamily="34" charset="-122"/>
                <a:cs typeface="Meiryo UI" pitchFamily="34" charset="-120"/>
              </a:rPr>
              <a:t>国内BU変革プロジェクト（新設・仮称）</a:t>
            </a:r>
            <a:endParaRPr lang="en-US" sz="960" dirty="0"/>
          </a:p>
        </p:txBody>
      </p:sp>
      <p:sp>
        <p:nvSpPr>
          <p:cNvPr id="20" name="Text 18"/>
          <p:cNvSpPr/>
          <p:nvPr/>
        </p:nvSpPr>
        <p:spPr>
          <a:xfrm>
            <a:off x="3749040" y="2688336"/>
            <a:ext cx="7863840" cy="768096"/>
          </a:xfrm>
          <a:prstGeom prst="rect">
            <a:avLst/>
          </a:prstGeom>
          <a:noFill/>
          <a:ln/>
        </p:spPr>
        <p:txBody>
          <a:bodyPr wrap="square" lIns="0" tIns="0" rIns="0" bIns="0" rtlCol="0" anchor="ctr"/>
          <a:lstStyle/>
          <a:p>
            <a:pPr indent="0" marL="0">
              <a:lnSpc>
                <a:spcPct val="108000"/>
              </a:lnSpc>
              <a:buNone/>
            </a:pPr>
            <a:r>
              <a:rPr lang="en-US" sz="830" dirty="0">
                <a:solidFill>
                  <a:srgbClr val="1F2733"/>
                </a:solidFill>
                <a:latin typeface="Meiryo UI" pitchFamily="34" charset="0"/>
                <a:ea typeface="Meiryo UI" pitchFamily="34" charset="-122"/>
                <a:cs typeface="Meiryo UI" pitchFamily="34" charset="-120"/>
              </a:rPr>
              <a:t>今のフレームから脱却する推進母体。国内BU内に専任リーダー（部長級・社内公募含む）を置き、デジタル戦略部とペアで運営。BU内の販促費・人員の一部を組み替える権限を持つ。人選基準＝①小売との信頼 ②データへの理解 ③社内を動かせる実績 ― スクワッドと橋渡し役はこのプロジェクトの中に編成する</a:t>
            </a:r>
            <a:endParaRPr lang="en-US" sz="830" dirty="0"/>
          </a:p>
        </p:txBody>
      </p:sp>
      <p:sp>
        <p:nvSpPr>
          <p:cNvPr id="21" name="Shape 19"/>
          <p:cNvSpPr/>
          <p:nvPr/>
        </p:nvSpPr>
        <p:spPr>
          <a:xfrm>
            <a:off x="502920" y="3566160"/>
            <a:ext cx="11185855" cy="566928"/>
          </a:xfrm>
          <a:prstGeom prst="rect">
            <a:avLst/>
          </a:prstGeom>
          <a:solidFill>
            <a:srgbClr val="FBECEC"/>
          </a:solidFill>
          <a:ln w="9525">
            <a:solidFill>
              <a:srgbClr val="D9DEE6"/>
            </a:solidFill>
            <a:prstDash val="solid"/>
          </a:ln>
        </p:spPr>
      </p:sp>
      <p:sp>
        <p:nvSpPr>
          <p:cNvPr id="22" name="Shape 20"/>
          <p:cNvSpPr/>
          <p:nvPr/>
        </p:nvSpPr>
        <p:spPr>
          <a:xfrm>
            <a:off x="502920" y="3566160"/>
            <a:ext cx="64008" cy="566928"/>
          </a:xfrm>
          <a:prstGeom prst="rect">
            <a:avLst/>
          </a:prstGeom>
          <a:solidFill>
            <a:srgbClr val="C8102E"/>
          </a:solidFill>
          <a:ln/>
        </p:spPr>
      </p:sp>
      <p:sp>
        <p:nvSpPr>
          <p:cNvPr id="23" name="Text 21"/>
          <p:cNvSpPr/>
          <p:nvPr/>
        </p:nvSpPr>
        <p:spPr>
          <a:xfrm>
            <a:off x="667512" y="3602736"/>
            <a:ext cx="3017520" cy="493776"/>
          </a:xfrm>
          <a:prstGeom prst="rect">
            <a:avLst/>
          </a:prstGeom>
          <a:noFill/>
          <a:ln/>
        </p:spPr>
        <p:txBody>
          <a:bodyPr wrap="square" lIns="0" tIns="0" rIns="0" bIns="0" rtlCol="0" anchor="ctr"/>
          <a:lstStyle/>
          <a:p>
            <a:pPr indent="0" marL="0">
              <a:lnSpc>
                <a:spcPct val="105000"/>
              </a:lnSpc>
              <a:buNone/>
            </a:pPr>
            <a:r>
              <a:rPr lang="en-US" sz="960" b="1" dirty="0">
                <a:solidFill>
                  <a:srgbClr val="16233A"/>
                </a:solidFill>
                <a:latin typeface="Meiryo UI" pitchFamily="34" charset="0"/>
                <a:ea typeface="Meiryo UI" pitchFamily="34" charset="-122"/>
                <a:cs typeface="Meiryo UI" pitchFamily="34" charset="-120"/>
              </a:rPr>
              <a:t>推進事務局（5名）</a:t>
            </a:r>
            <a:endParaRPr lang="en-US" sz="960" dirty="0"/>
          </a:p>
        </p:txBody>
      </p:sp>
      <p:sp>
        <p:nvSpPr>
          <p:cNvPr id="24" name="Text 22"/>
          <p:cNvSpPr/>
          <p:nvPr/>
        </p:nvSpPr>
        <p:spPr>
          <a:xfrm>
            <a:off x="3749040" y="3602736"/>
            <a:ext cx="7863840" cy="493776"/>
          </a:xfrm>
          <a:prstGeom prst="rect">
            <a:avLst/>
          </a:prstGeom>
          <a:noFill/>
          <a:ln/>
        </p:spPr>
        <p:txBody>
          <a:bodyPr wrap="square" lIns="0" tIns="0" rIns="0" bIns="0" rtlCol="0" anchor="ctr"/>
          <a:lstStyle/>
          <a:p>
            <a:pPr indent="0" marL="0">
              <a:lnSpc>
                <a:spcPct val="108000"/>
              </a:lnSpc>
              <a:buNone/>
            </a:pPr>
            <a:r>
              <a:rPr lang="en-US" sz="830" dirty="0">
                <a:solidFill>
                  <a:srgbClr val="1F2733"/>
                </a:solidFill>
                <a:latin typeface="Meiryo UI" pitchFamily="34" charset="0"/>
                <a:ea typeface="Meiryo UI" pitchFamily="34" charset="-122"/>
                <a:cs typeface="Meiryo UI" pitchFamily="34" charset="-120"/>
              </a:rPr>
              <a:t>デジタル戦略×経営企画の混成。テーマ横断の進捗・効果測定、「線の接続状態」の点検、経営会議への報告。守り（AI実測・情報公開）の進行役</a:t>
            </a:r>
            <a:endParaRPr lang="en-US" sz="830" dirty="0"/>
          </a:p>
        </p:txBody>
      </p:sp>
      <p:sp>
        <p:nvSpPr>
          <p:cNvPr id="25" name="Shape 23"/>
          <p:cNvSpPr/>
          <p:nvPr/>
        </p:nvSpPr>
        <p:spPr>
          <a:xfrm>
            <a:off x="502920" y="4206240"/>
            <a:ext cx="11185855" cy="566928"/>
          </a:xfrm>
          <a:prstGeom prst="rect">
            <a:avLst/>
          </a:prstGeom>
          <a:solidFill>
            <a:srgbClr val="EEF4EC"/>
          </a:solidFill>
          <a:ln w="9525">
            <a:solidFill>
              <a:srgbClr val="D9DEE6"/>
            </a:solidFill>
            <a:prstDash val="solid"/>
          </a:ln>
        </p:spPr>
      </p:sp>
      <p:sp>
        <p:nvSpPr>
          <p:cNvPr id="26" name="Shape 24"/>
          <p:cNvSpPr/>
          <p:nvPr/>
        </p:nvSpPr>
        <p:spPr>
          <a:xfrm>
            <a:off x="502920" y="4206240"/>
            <a:ext cx="64008" cy="566928"/>
          </a:xfrm>
          <a:prstGeom prst="rect">
            <a:avLst/>
          </a:prstGeom>
          <a:solidFill>
            <a:srgbClr val="2C5F2D"/>
          </a:solidFill>
          <a:ln/>
        </p:spPr>
      </p:sp>
      <p:sp>
        <p:nvSpPr>
          <p:cNvPr id="27" name="Text 25"/>
          <p:cNvSpPr/>
          <p:nvPr/>
        </p:nvSpPr>
        <p:spPr>
          <a:xfrm>
            <a:off x="667512" y="4242816"/>
            <a:ext cx="3017520" cy="493776"/>
          </a:xfrm>
          <a:prstGeom prst="rect">
            <a:avLst/>
          </a:prstGeom>
          <a:noFill/>
          <a:ln/>
        </p:spPr>
        <p:txBody>
          <a:bodyPr wrap="square" lIns="0" tIns="0" rIns="0" bIns="0" rtlCol="0" anchor="ctr"/>
          <a:lstStyle/>
          <a:p>
            <a:pPr indent="0" marL="0">
              <a:lnSpc>
                <a:spcPct val="105000"/>
              </a:lnSpc>
              <a:buNone/>
            </a:pPr>
            <a:r>
              <a:rPr lang="en-US" sz="960" b="1" dirty="0">
                <a:solidFill>
                  <a:srgbClr val="16233A"/>
                </a:solidFill>
                <a:latin typeface="Meiryo UI" pitchFamily="34" charset="0"/>
                <a:ea typeface="Meiryo UI" pitchFamily="34" charset="-122"/>
                <a:cs typeface="Meiryo UI" pitchFamily="34" charset="-120"/>
              </a:rPr>
              <a:t>アカウントスクワッド（重点小売3〜5社）</a:t>
            </a:r>
            <a:endParaRPr lang="en-US" sz="960" dirty="0"/>
          </a:p>
        </p:txBody>
      </p:sp>
      <p:sp>
        <p:nvSpPr>
          <p:cNvPr id="28" name="Text 26"/>
          <p:cNvSpPr/>
          <p:nvPr/>
        </p:nvSpPr>
        <p:spPr>
          <a:xfrm>
            <a:off x="3749040" y="4242816"/>
            <a:ext cx="7863840" cy="493776"/>
          </a:xfrm>
          <a:prstGeom prst="rect">
            <a:avLst/>
          </a:prstGeom>
          <a:noFill/>
          <a:ln/>
        </p:spPr>
        <p:txBody>
          <a:bodyPr wrap="square" lIns="0" tIns="0" rIns="0" bIns="0" rtlCol="0" anchor="ctr"/>
          <a:lstStyle/>
          <a:p>
            <a:pPr indent="0" marL="0">
              <a:lnSpc>
                <a:spcPct val="108000"/>
              </a:lnSpc>
              <a:buNone/>
            </a:pPr>
            <a:r>
              <a:rPr lang="en-US" sz="830" dirty="0">
                <a:solidFill>
                  <a:srgbClr val="1F2733"/>
                </a:solidFill>
                <a:latin typeface="Meiryo UI" pitchFamily="34" charset="0"/>
                <a:ea typeface="Meiryo UI" pitchFamily="34" charset="-122"/>
                <a:cs typeface="Meiryo UI" pitchFamily="34" charset="-120"/>
              </a:rPr>
              <a:t>営業・ブランド・データ・EC・SCM横断。JBP・診断売場・B2B2C（テーマ3）を実行し、増分粗利・N-t-C・LTVの共有KPIで動く。FY26 Q4に1社で先行試行</a:t>
            </a:r>
            <a:endParaRPr lang="en-US" sz="830" dirty="0"/>
          </a:p>
        </p:txBody>
      </p:sp>
      <p:sp>
        <p:nvSpPr>
          <p:cNvPr id="29" name="Shape 27"/>
          <p:cNvSpPr/>
          <p:nvPr/>
        </p:nvSpPr>
        <p:spPr>
          <a:xfrm>
            <a:off x="502920" y="4846320"/>
            <a:ext cx="11185855" cy="566928"/>
          </a:xfrm>
          <a:prstGeom prst="rect">
            <a:avLst/>
          </a:prstGeom>
          <a:solidFill>
            <a:srgbClr val="F7F0E3"/>
          </a:solidFill>
          <a:ln w="9525">
            <a:solidFill>
              <a:srgbClr val="D9DEE6"/>
            </a:solidFill>
            <a:prstDash val="solid"/>
          </a:ln>
        </p:spPr>
      </p:sp>
      <p:sp>
        <p:nvSpPr>
          <p:cNvPr id="30" name="Shape 28"/>
          <p:cNvSpPr/>
          <p:nvPr/>
        </p:nvSpPr>
        <p:spPr>
          <a:xfrm>
            <a:off x="502920" y="4846320"/>
            <a:ext cx="64008" cy="566928"/>
          </a:xfrm>
          <a:prstGeom prst="rect">
            <a:avLst/>
          </a:prstGeom>
          <a:solidFill>
            <a:srgbClr val="B87A2A"/>
          </a:solidFill>
          <a:ln/>
        </p:spPr>
      </p:sp>
      <p:sp>
        <p:nvSpPr>
          <p:cNvPr id="31" name="Text 29"/>
          <p:cNvSpPr/>
          <p:nvPr/>
        </p:nvSpPr>
        <p:spPr>
          <a:xfrm>
            <a:off x="667512" y="4882896"/>
            <a:ext cx="3017520" cy="493776"/>
          </a:xfrm>
          <a:prstGeom prst="rect">
            <a:avLst/>
          </a:prstGeom>
          <a:noFill/>
          <a:ln/>
        </p:spPr>
        <p:txBody>
          <a:bodyPr wrap="square" lIns="0" tIns="0" rIns="0" bIns="0" rtlCol="0" anchor="ctr"/>
          <a:lstStyle/>
          <a:p>
            <a:pPr indent="0" marL="0">
              <a:lnSpc>
                <a:spcPct val="105000"/>
              </a:lnSpc>
              <a:buNone/>
            </a:pPr>
            <a:r>
              <a:rPr lang="en-US" sz="960" b="1" dirty="0">
                <a:solidFill>
                  <a:srgbClr val="16233A"/>
                </a:solidFill>
                <a:latin typeface="Meiryo UI" pitchFamily="34" charset="0"/>
                <a:ea typeface="Meiryo UI" pitchFamily="34" charset="-122"/>
                <a:cs typeface="Meiryo UI" pitchFamily="34" charset="-120"/>
              </a:rPr>
              <a:t>橋渡し役チーム（5名→20名）</a:t>
            </a:r>
            <a:endParaRPr lang="en-US" sz="960" dirty="0"/>
          </a:p>
        </p:txBody>
      </p:sp>
      <p:sp>
        <p:nvSpPr>
          <p:cNvPr id="32" name="Text 30"/>
          <p:cNvSpPr/>
          <p:nvPr/>
        </p:nvSpPr>
        <p:spPr>
          <a:xfrm>
            <a:off x="3749040" y="4882896"/>
            <a:ext cx="7863840" cy="493776"/>
          </a:xfrm>
          <a:prstGeom prst="rect">
            <a:avLst/>
          </a:prstGeom>
          <a:noFill/>
          <a:ln/>
        </p:spPr>
        <p:txBody>
          <a:bodyPr wrap="square" lIns="0" tIns="0" rIns="0" bIns="0" rtlCol="0" anchor="ctr"/>
          <a:lstStyle/>
          <a:p>
            <a:pPr indent="0" marL="0">
              <a:lnSpc>
                <a:spcPct val="108000"/>
              </a:lnSpc>
              <a:buNone/>
            </a:pPr>
            <a:r>
              <a:rPr lang="en-US" sz="830" dirty="0">
                <a:solidFill>
                  <a:srgbClr val="1F2733"/>
                </a:solidFill>
                <a:latin typeface="Meiryo UI" pitchFamily="34" charset="0"/>
                <a:ea typeface="Meiryo UI" pitchFamily="34" charset="-122"/>
                <a:cs typeface="Meiryo UI" pitchFamily="34" charset="-120"/>
              </a:rPr>
              <a:t>R&amp;D・マーケの知見を商談データに翻訳（テーマ2の施策⑤のオーナー）。マーケ・営業・事業部出身の混成。成果実証後に正式組織化</a:t>
            </a:r>
            <a:endParaRPr lang="en-US" sz="830" dirty="0"/>
          </a:p>
        </p:txBody>
      </p:sp>
      <p:sp>
        <p:nvSpPr>
          <p:cNvPr id="33" name="Shape 31"/>
          <p:cNvSpPr/>
          <p:nvPr/>
        </p:nvSpPr>
        <p:spPr>
          <a:xfrm>
            <a:off x="502920" y="5486400"/>
            <a:ext cx="11185855" cy="566928"/>
          </a:xfrm>
          <a:prstGeom prst="rect">
            <a:avLst/>
          </a:prstGeom>
          <a:solidFill>
            <a:srgbClr val="EAF3F8"/>
          </a:solidFill>
          <a:ln w="9525">
            <a:solidFill>
              <a:srgbClr val="D9DEE6"/>
            </a:solidFill>
            <a:prstDash val="solid"/>
          </a:ln>
        </p:spPr>
      </p:sp>
      <p:sp>
        <p:nvSpPr>
          <p:cNvPr id="34" name="Shape 32"/>
          <p:cNvSpPr/>
          <p:nvPr/>
        </p:nvSpPr>
        <p:spPr>
          <a:xfrm>
            <a:off x="502920" y="5486400"/>
            <a:ext cx="64008" cy="566928"/>
          </a:xfrm>
          <a:prstGeom prst="rect">
            <a:avLst/>
          </a:prstGeom>
          <a:solidFill>
            <a:srgbClr val="0F5E87"/>
          </a:solidFill>
          <a:ln/>
        </p:spPr>
      </p:sp>
      <p:sp>
        <p:nvSpPr>
          <p:cNvPr id="35" name="Text 33"/>
          <p:cNvSpPr/>
          <p:nvPr/>
        </p:nvSpPr>
        <p:spPr>
          <a:xfrm>
            <a:off x="667512" y="5522976"/>
            <a:ext cx="3017520" cy="493776"/>
          </a:xfrm>
          <a:prstGeom prst="rect">
            <a:avLst/>
          </a:prstGeom>
          <a:noFill/>
          <a:ln/>
        </p:spPr>
        <p:txBody>
          <a:bodyPr wrap="square" lIns="0" tIns="0" rIns="0" bIns="0" rtlCol="0" anchor="ctr"/>
          <a:lstStyle/>
          <a:p>
            <a:pPr indent="0" marL="0">
              <a:lnSpc>
                <a:spcPct val="105000"/>
              </a:lnSpc>
              <a:buNone/>
            </a:pPr>
            <a:r>
              <a:rPr lang="en-US" sz="960" b="1" dirty="0">
                <a:solidFill>
                  <a:srgbClr val="16233A"/>
                </a:solidFill>
                <a:latin typeface="Meiryo UI" pitchFamily="34" charset="0"/>
                <a:ea typeface="Meiryo UI" pitchFamily="34" charset="-122"/>
                <a:cs typeface="Meiryo UI" pitchFamily="34" charset="-120"/>
              </a:rPr>
              <a:t>システム横断チーム</a:t>
            </a:r>
            <a:endParaRPr lang="en-US" sz="960" dirty="0"/>
          </a:p>
        </p:txBody>
      </p:sp>
      <p:sp>
        <p:nvSpPr>
          <p:cNvPr id="36" name="Text 34"/>
          <p:cNvSpPr/>
          <p:nvPr/>
        </p:nvSpPr>
        <p:spPr>
          <a:xfrm>
            <a:off x="3749040" y="5522976"/>
            <a:ext cx="7863840" cy="493776"/>
          </a:xfrm>
          <a:prstGeom prst="rect">
            <a:avLst/>
          </a:prstGeom>
          <a:noFill/>
          <a:ln/>
        </p:spPr>
        <p:txBody>
          <a:bodyPr wrap="square" lIns="0" tIns="0" rIns="0" bIns="0" rtlCol="0" anchor="ctr"/>
          <a:lstStyle/>
          <a:p>
            <a:pPr indent="0" marL="0">
              <a:lnSpc>
                <a:spcPct val="108000"/>
              </a:lnSpc>
              <a:buNone/>
            </a:pPr>
            <a:r>
              <a:rPr lang="en-US" sz="830" dirty="0">
                <a:solidFill>
                  <a:srgbClr val="1F2733"/>
                </a:solidFill>
                <a:latin typeface="Meiryo UI" pitchFamily="34" charset="0"/>
                <a:ea typeface="Meiryo UI" pitchFamily="34" charset="-122"/>
                <a:cs typeface="Meiryo UI" pitchFamily="34" charset="-120"/>
              </a:rPr>
              <a:t>既存のGCP・TPM・生成AI担当を横串。Oral Evidence Hub・LION ID・自動化の実装（テーマ2・4・5）。外部採用はデータ技術者と広告データ専門家の2職種のみ</a:t>
            </a:r>
            <a:endParaRPr lang="en-US" sz="830" dirty="0"/>
          </a:p>
        </p:txBody>
      </p:sp>
      <p:sp>
        <p:nvSpPr>
          <p:cNvPr id="37" name="Shape 35"/>
          <p:cNvSpPr/>
          <p:nvPr/>
        </p:nvSpPr>
        <p:spPr>
          <a:xfrm>
            <a:off x="502920" y="6108192"/>
            <a:ext cx="11185855" cy="402336"/>
          </a:xfrm>
          <a:prstGeom prst="rect">
            <a:avLst/>
          </a:prstGeom>
          <a:solidFill>
            <a:srgbClr val="16233A"/>
          </a:solidFill>
          <a:ln/>
        </p:spPr>
      </p:sp>
      <p:sp>
        <p:nvSpPr>
          <p:cNvPr id="38" name="Text 36"/>
          <p:cNvSpPr/>
          <p:nvPr/>
        </p:nvSpPr>
        <p:spPr>
          <a:xfrm>
            <a:off x="731520" y="6144768"/>
            <a:ext cx="10728655" cy="329184"/>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体制の原則：</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①専任は最少、大組織は作らない　②変革チームの評価は売上目標から切り離す　③人は社内から ― 「進められる人」を先に決めることが、フレーム脱却の第一歩。</a:t>
            </a:r>
            <a:endParaRPr lang="en-US" sz="1030" dirty="0"/>
          </a:p>
        </p:txBody>
      </p:sp>
      <p:sp>
        <p:nvSpPr>
          <p:cNvPr id="39" name="Text 37"/>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When</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バックキャスト ― 2040年から逆算した経営テーマ別の時間割</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FY30（3rd Stage完了・統合報告書でのKPI開示）を中間到達点に置き、2040年まで逆算。確認ゲートに合格したときだけ投資と組織変更を拡大する</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185855" cy="914400"/>
        </p:xfrm>
        <a:graphic>
          <a:graphicData uri="http://schemas.openxmlformats.org/drawingml/2006/table">
            <a:tbl>
              <a:tblPr/>
              <a:tblGrid>
                <a:gridCol w="1234440"/>
                <a:gridCol w="2514600"/>
                <a:gridCol w="2606040"/>
                <a:gridCol w="2606040"/>
                <a:gridCol w="2221992"/>
              </a:tblGrid>
              <a:tr h="329184">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　</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FY26（布石）</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FY27–28（線にする）</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FY29–30（面の原型＝3rd Stage完了）</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2035–2040（インフラ完成）</a:t>
                      </a:r>
                      <a:endParaRPr lang="en-US" sz="90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r>
              <a:tr h="777240">
                <a:tc>
                  <a:txBody>
                    <a:bodyPr/>
                    <a:lstStyle/>
                    <a:p>
                      <a:pPr algn="ctr" indent="0" marL="0">
                        <a:buNone/>
                      </a:pPr>
                      <a:r>
                        <a:rPr lang="en-US" sz="820" b="1" dirty="0">
                          <a:solidFill>
                            <a:srgbClr val="FFFFFF"/>
                          </a:solidFill>
                          <a:latin typeface="Meiryo UI" pitchFamily="34" charset="0"/>
                          <a:ea typeface="Meiryo UI" pitchFamily="34" charset="-122"/>
                          <a:cs typeface="Meiryo UI" pitchFamily="34" charset="-120"/>
                        </a:rPr>
                        <a:t>テーマ1</a:t>
                      </a:r>
                      <a:endParaRPr lang="en-US" sz="820" dirty="0">
                        <a:latin typeface="Meiryo UI" charset="0"/>
                        <a:ea typeface="Meiryo UI" charset="0"/>
                        <a:cs typeface="Meiryo UI" charset="0"/>
                      </a:endParaRPr>
                    </a:p>
                    <a:p>
                      <a:pPr algn="ctr" indent="0" marL="0">
                        <a:buNone/>
                      </a:pPr>
                      <a:r>
                        <a:rPr lang="en-US" sz="820" b="1" dirty="0">
                          <a:solidFill>
                            <a:srgbClr val="FFFFFF"/>
                          </a:solidFill>
                          <a:latin typeface="Meiryo UI" pitchFamily="34" charset="0"/>
                          <a:ea typeface="Meiryo UI" pitchFamily="34" charset="-122"/>
                          <a:cs typeface="Meiryo UI" pitchFamily="34" charset="-120"/>
                        </a:rPr>
                        <a:t>市場機会の選択</a:t>
                      </a:r>
                      <a:endParaRPr lang="en-US" sz="82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C8102E"/>
                    </a:solidFill>
                  </a:tcPr>
                </a:tc>
                <a:tc>
                  <a:txBody>
                    <a:bodyPr/>
                    <a:lstStyle/>
                    <a:p>
                      <a:pPr indent="0" marL="0">
                        <a:buNone/>
                      </a:pPr>
                      <a:r>
                        <a:rPr lang="en-US" sz="760" b="1" dirty="0">
                          <a:solidFill>
                            <a:srgbClr val="C8102E"/>
                          </a:solidFill>
                          <a:latin typeface="Meiryo UI" pitchFamily="34" charset="0"/>
                          <a:ea typeface="Meiryo UI" pitchFamily="34" charset="-122"/>
                          <a:cs typeface="Meiryo UI" pitchFamily="34" charset="-120"/>
                        </a:rPr>
                        <a:t>中計反映・撤退ROIC基準設定。皆歯科健診の政策対応チーム組成</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ポートフォリオ本格移行。オーラル4分割KPI管理・健保共同事業の試行</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強み領域売上比率80%。制度接点経由の事業が柱の一角に</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予防・健康時間市場で圧倒的首位。制度の実装網の一部に</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777240">
                <a:tc>
                  <a:txBody>
                    <a:bodyPr/>
                    <a:lstStyle/>
                    <a:p>
                      <a:pPr algn="ctr" indent="0" marL="0">
                        <a:buNone/>
                      </a:pPr>
                      <a:r>
                        <a:rPr lang="en-US" sz="820" b="1" dirty="0">
                          <a:solidFill>
                            <a:srgbClr val="FFFFFF"/>
                          </a:solidFill>
                          <a:latin typeface="Meiryo UI" pitchFamily="34" charset="0"/>
                          <a:ea typeface="Meiryo UI" pitchFamily="34" charset="-122"/>
                          <a:cs typeface="Meiryo UI" pitchFamily="34" charset="-120"/>
                        </a:rPr>
                        <a:t>テーマ2</a:t>
                      </a:r>
                      <a:endParaRPr lang="en-US" sz="820" dirty="0">
                        <a:latin typeface="Meiryo UI" charset="0"/>
                        <a:ea typeface="Meiryo UI" charset="0"/>
                        <a:cs typeface="Meiryo UI" charset="0"/>
                      </a:endParaRPr>
                    </a:p>
                    <a:p>
                      <a:pPr algn="ctr" indent="0" marL="0">
                        <a:buNone/>
                      </a:pPr>
                      <a:r>
                        <a:rPr lang="en-US" sz="820" b="1" dirty="0">
                          <a:solidFill>
                            <a:srgbClr val="FFFFFF"/>
                          </a:solidFill>
                          <a:latin typeface="Meiryo UI" pitchFamily="34" charset="0"/>
                          <a:ea typeface="Meiryo UI" pitchFamily="34" charset="-122"/>
                          <a:cs typeface="Meiryo UI" pitchFamily="34" charset="-120"/>
                        </a:rPr>
                        <a:t>選ばれる価値の創造</a:t>
                      </a:r>
                      <a:endParaRPr lang="en-US" sz="82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0F5E87"/>
                    </a:solidFill>
                  </a:tcPr>
                </a:tc>
                <a:tc>
                  <a:txBody>
                    <a:bodyPr/>
                    <a:lstStyle/>
                    <a:p>
                      <a:pPr indent="0" marL="0">
                        <a:buNone/>
                      </a:pPr>
                      <a:r>
                        <a:rPr lang="en-US" sz="760" b="1" dirty="0">
                          <a:solidFill>
                            <a:srgbClr val="C8102E"/>
                          </a:solidFill>
                          <a:latin typeface="Meiryo UI" pitchFamily="34" charset="0"/>
                          <a:ea typeface="Meiryo UI" pitchFamily="34" charset="-122"/>
                          <a:cs typeface="Meiryo UI" pitchFamily="34" charset="-120"/>
                        </a:rPr>
                        <a:t>AIEO監査開始・ベースライン確立。構造化データ整備着手</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Oral Evidence Hub公開（FY27）・属性API化完了・商談データ自動供給</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AIEO Rate 50%。臨床データがAIの標準的引用元に</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主要カテゴリでAI推奨シェアNo.1＝「見えない棚」の独占</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777240">
                <a:tc>
                  <a:txBody>
                    <a:bodyPr/>
                    <a:lstStyle/>
                    <a:p>
                      <a:pPr algn="ctr" indent="0" marL="0">
                        <a:buNone/>
                      </a:pPr>
                      <a:r>
                        <a:rPr lang="en-US" sz="820" b="1" dirty="0">
                          <a:solidFill>
                            <a:srgbClr val="FFFFFF"/>
                          </a:solidFill>
                          <a:latin typeface="Meiryo UI" pitchFamily="34" charset="0"/>
                          <a:ea typeface="Meiryo UI" pitchFamily="34" charset="-122"/>
                          <a:cs typeface="Meiryo UI" pitchFamily="34" charset="-120"/>
                        </a:rPr>
                        <a:t>テーマ3</a:t>
                      </a:r>
                      <a:endParaRPr lang="en-US" sz="820" dirty="0">
                        <a:latin typeface="Meiryo UI" charset="0"/>
                        <a:ea typeface="Meiryo UI" charset="0"/>
                        <a:cs typeface="Meiryo UI" charset="0"/>
                      </a:endParaRPr>
                    </a:p>
                    <a:p>
                      <a:pPr algn="ctr" indent="0" marL="0">
                        <a:buNone/>
                      </a:pPr>
                      <a:r>
                        <a:rPr lang="en-US" sz="820" b="1" dirty="0">
                          <a:solidFill>
                            <a:srgbClr val="FFFFFF"/>
                          </a:solidFill>
                          <a:latin typeface="Meiryo UI" pitchFamily="34" charset="0"/>
                          <a:ea typeface="Meiryo UI" pitchFamily="34" charset="-122"/>
                          <a:cs typeface="Meiryo UI" pitchFamily="34" charset="-120"/>
                        </a:rPr>
                        <a:t>顧客接点の統合</a:t>
                      </a:r>
                      <a:endParaRPr lang="en-US" sz="82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2C5F2D"/>
                    </a:solidFill>
                  </a:tcPr>
                </a:tc>
                <a:tc>
                  <a:txBody>
                    <a:bodyPr/>
                    <a:lstStyle/>
                    <a:p>
                      <a:pPr indent="0" marL="0">
                        <a:buNone/>
                      </a:pPr>
                      <a:r>
                        <a:rPr lang="en-US" sz="760" b="1" dirty="0">
                          <a:solidFill>
                            <a:srgbClr val="C8102E"/>
                          </a:solidFill>
                          <a:latin typeface="Meiryo UI" pitchFamily="34" charset="0"/>
                          <a:ea typeface="Meiryo UI" pitchFamily="34" charset="-122"/>
                          <a:cs typeface="Meiryo UI" pitchFamily="34" charset="-120"/>
                        </a:rPr>
                        <a:t>重点小売2社で歯ぐきケアJBP開始（N-t-C共同KPI）・診断PoC</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Total Availabilityダッシュボード展開・B2B2C接続実証（FY28）</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TAスコア90%・B2B2C比率15%。JBPが三位一体（成長＋広告＋循環）へ</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主要チェーンの新収益に組み込まれ、値引き交渉が構造的に消滅</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777240">
                <a:tc>
                  <a:txBody>
                    <a:bodyPr/>
                    <a:lstStyle/>
                    <a:p>
                      <a:pPr algn="ctr" indent="0" marL="0">
                        <a:buNone/>
                      </a:pPr>
                      <a:r>
                        <a:rPr lang="en-US" sz="820" b="1" dirty="0">
                          <a:solidFill>
                            <a:srgbClr val="FFFFFF"/>
                          </a:solidFill>
                          <a:latin typeface="Meiryo UI" pitchFamily="34" charset="0"/>
                          <a:ea typeface="Meiryo UI" pitchFamily="34" charset="-122"/>
                          <a:cs typeface="Meiryo UI" pitchFamily="34" charset="-120"/>
                        </a:rPr>
                        <a:t>テーマ4</a:t>
                      </a:r>
                      <a:endParaRPr lang="en-US" sz="820" dirty="0">
                        <a:latin typeface="Meiryo UI" charset="0"/>
                        <a:ea typeface="Meiryo UI" charset="0"/>
                        <a:cs typeface="Meiryo UI" charset="0"/>
                      </a:endParaRPr>
                    </a:p>
                    <a:p>
                      <a:pPr algn="ctr" indent="0" marL="0">
                        <a:buNone/>
                      </a:pPr>
                      <a:r>
                        <a:rPr lang="en-US" sz="820" b="1" dirty="0">
                          <a:solidFill>
                            <a:srgbClr val="FFFFFF"/>
                          </a:solidFill>
                          <a:latin typeface="Meiryo UI" pitchFamily="34" charset="0"/>
                          <a:ea typeface="Meiryo UI" pitchFamily="34" charset="-122"/>
                          <a:cs typeface="Meiryo UI" pitchFamily="34" charset="-120"/>
                        </a:rPr>
                        <a:t>顧客資本の蓄積</a:t>
                      </a:r>
                      <a:endParaRPr lang="en-US" sz="82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B87A2A"/>
                    </a:solidFill>
                  </a:tcPr>
                </a:tc>
                <a:tc>
                  <a:txBody>
                    <a:bodyPr/>
                    <a:lstStyle/>
                    <a:p>
                      <a:pPr indent="0" marL="0">
                        <a:buNone/>
                      </a:pPr>
                      <a:r>
                        <a:rPr lang="en-US" sz="760" b="1" dirty="0">
                          <a:solidFill>
                            <a:srgbClr val="C8102E"/>
                          </a:solidFill>
                          <a:latin typeface="Meiryo UI" pitchFamily="34" charset="0"/>
                          <a:ea typeface="Meiryo UI" pitchFamily="34" charset="-122"/>
                          <a:cs typeface="Meiryo UI" pitchFamily="34" charset="-120"/>
                        </a:rPr>
                        <a:t>LION ID価値再設計・法務確認（薬機法・個情法）・顧客資本KPIの設計</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Oral Health Graph構築・DCR連携・匿名診断実装</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IDアクティブ目標達成・顧客資本KPIを統合報告書に開示</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習慣・健康データと顧客の継続行動が企業価値の中核資産に</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777240">
                <a:tc>
                  <a:txBody>
                    <a:bodyPr/>
                    <a:lstStyle/>
                    <a:p>
                      <a:pPr algn="ctr" indent="0" marL="0">
                        <a:buNone/>
                      </a:pPr>
                      <a:r>
                        <a:rPr lang="en-US" sz="820" b="1" dirty="0">
                          <a:solidFill>
                            <a:srgbClr val="FFFFFF"/>
                          </a:solidFill>
                          <a:latin typeface="Meiryo UI" pitchFamily="34" charset="0"/>
                          <a:ea typeface="Meiryo UI" pitchFamily="34" charset="-122"/>
                          <a:cs typeface="Meiryo UI" pitchFamily="34" charset="-120"/>
                        </a:rPr>
                        <a:t>テーマ5</a:t>
                      </a:r>
                      <a:endParaRPr lang="en-US" sz="820" dirty="0">
                        <a:latin typeface="Meiryo UI" charset="0"/>
                        <a:ea typeface="Meiryo UI" charset="0"/>
                        <a:cs typeface="Meiryo UI" charset="0"/>
                      </a:endParaRPr>
                    </a:p>
                    <a:p>
                      <a:pPr algn="ctr" indent="0" marL="0">
                        <a:buNone/>
                      </a:pPr>
                      <a:r>
                        <a:rPr lang="en-US" sz="820" b="1" dirty="0">
                          <a:solidFill>
                            <a:srgbClr val="FFFFFF"/>
                          </a:solidFill>
                          <a:latin typeface="Meiryo UI" pitchFamily="34" charset="0"/>
                          <a:ea typeface="Meiryo UI" pitchFamily="34" charset="-122"/>
                          <a:cs typeface="Meiryo UI" pitchFamily="34" charset="-120"/>
                        </a:rPr>
                        <a:t>実行能力と成果管理</a:t>
                      </a:r>
                      <a:endParaRPr lang="en-US" sz="82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indent="0" marL="0">
                        <a:buNone/>
                      </a:pPr>
                      <a:r>
                        <a:rPr lang="en-US" sz="760" b="1" dirty="0">
                          <a:solidFill>
                            <a:srgbClr val="C8102E"/>
                          </a:solidFill>
                          <a:latin typeface="Meiryo UI" pitchFamily="34" charset="0"/>
                          <a:ea typeface="Meiryo UI" pitchFamily="34" charset="-122"/>
                          <a:cs typeface="Meiryo UI" pitchFamily="34" charset="-120"/>
                        </a:rPr>
                        <a:t>Input業務30%削減の先行実装・スクワッド1社試行・役員オーナー任命</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削減80%・スクワッド3〜5社展開・MMM増分実験体制確立</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RevOps評価が全社標準。生産性格差を半減</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60" dirty="0">
                          <a:solidFill>
                            <a:srgbClr val="1F2733"/>
                          </a:solidFill>
                          <a:latin typeface="Meiryo UI" pitchFamily="34" charset="0"/>
                          <a:ea typeface="Meiryo UI" pitchFamily="34" charset="-122"/>
                          <a:cs typeface="Meiryo UI" pitchFamily="34" charset="-120"/>
                        </a:rPr>
                        <a:t>「時間と習慣」を物差しとする経営管理が定着</a:t>
                      </a:r>
                      <a:endParaRPr lang="en-US" sz="76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bl>
          </a:graphicData>
        </a:graphic>
      </p:graphicFrame>
      <p:sp>
        <p:nvSpPr>
          <p:cNvPr id="7" name="Shape 4"/>
          <p:cNvSpPr/>
          <p:nvPr/>
        </p:nvSpPr>
        <p:spPr>
          <a:xfrm>
            <a:off x="502920" y="5989320"/>
            <a:ext cx="11185855" cy="502920"/>
          </a:xfrm>
          <a:prstGeom prst="rect">
            <a:avLst/>
          </a:prstGeom>
          <a:solidFill>
            <a:srgbClr val="16233A"/>
          </a:solidFill>
          <a:ln/>
        </p:spPr>
      </p:sp>
      <p:sp>
        <p:nvSpPr>
          <p:cNvPr id="8" name="Text 5"/>
          <p:cNvSpPr/>
          <p:nvPr/>
        </p:nvSpPr>
        <p:spPr>
          <a:xfrm>
            <a:off x="731520" y="6025896"/>
            <a:ext cx="10728655" cy="429768"/>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確認ゲート：</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G1（FY27夏）＝小売データで値引き超えを実証した商談＋AIEOベースライン＋事務3割減 → 拡大投資解禁。G2（FY28末）＝JBP再現・B2B2C実証 → 組織正式化・GCP本格投資。G3（FY30）＝統合報告書KPI開示 → 全社標準化。</a:t>
            </a:r>
            <a:endParaRPr lang="en-US" sz="1030" dirty="0"/>
          </a:p>
        </p:txBody>
      </p:sp>
      <p:sp>
        <p:nvSpPr>
          <p:cNvPr id="9" name="Text 6"/>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How Much 1/3</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投資の優先順位と回収 ― 何に、いくら、どの順で（仮の試算・要確認）</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優先度は「真因・GAPへの直接性」で決める。5年累計30〜50億円、効果は年45〜95億円＋売上防衛。前提数値は90日で実測して確定</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185855" cy="914400"/>
        </p:xfrm>
        <a:graphic>
          <a:graphicData uri="http://schemas.openxmlformats.org/drawingml/2006/table">
            <a:tbl>
              <a:tblPr/>
              <a:tblGrid>
                <a:gridCol w="2286000"/>
                <a:gridCol w="4572000"/>
                <a:gridCol w="868680"/>
                <a:gridCol w="3456432"/>
              </a:tblGrid>
              <a:tr h="310896">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投資項目</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内容（対応テーマ）</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優先度</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規模と回収（仮）</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r>
              <a:tr h="621792">
                <a:tc>
                  <a:txBody>
                    <a:bodyPr/>
                    <a:lstStyle/>
                    <a:p>
                      <a:pPr indent="0" marL="0">
                        <a:buNone/>
                      </a:pPr>
                      <a:r>
                        <a:rPr lang="en-US" sz="860" b="1" dirty="0">
                          <a:solidFill>
                            <a:srgbClr val="16233A"/>
                          </a:solidFill>
                          <a:latin typeface="Meiryo UI" pitchFamily="34" charset="0"/>
                          <a:ea typeface="Meiryo UI" pitchFamily="34" charset="-122"/>
                          <a:cs typeface="Meiryo UI" pitchFamily="34" charset="-120"/>
                        </a:rPr>
                        <a:t>AIEO・Oral Evidence Hub</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構造化データ整備・AI推奨モニタリング（テーマ2）。外部委託か内製かの選択が論点</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60" b="1" dirty="0">
                          <a:solidFill>
                            <a:srgbClr val="FFFFFF"/>
                          </a:solidFill>
                          <a:latin typeface="Meiryo UI" pitchFamily="34" charset="0"/>
                          <a:ea typeface="Meiryo UI" pitchFamily="34" charset="-122"/>
                          <a:cs typeface="Meiryo UI" pitchFamily="34" charset="-120"/>
                        </a:rPr>
                        <a:t>最高</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C8102E"/>
                    </a:solidFill>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年1〜2億円規模。棚落ち回避＝売上防衛として最大のリターン</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621792">
                <a:tc>
                  <a:txBody>
                    <a:bodyPr/>
                    <a:lstStyle/>
                    <a:p>
                      <a:pPr indent="0" marL="0">
                        <a:buNone/>
                      </a:pPr>
                      <a:r>
                        <a:rPr lang="en-US" sz="860" b="1" dirty="0">
                          <a:solidFill>
                            <a:srgbClr val="16233A"/>
                          </a:solidFill>
                          <a:latin typeface="Meiryo UI" pitchFamily="34" charset="0"/>
                          <a:ea typeface="Meiryo UI" pitchFamily="34" charset="-122"/>
                          <a:cs typeface="Meiryo UI" pitchFamily="34" charset="-120"/>
                        </a:rPr>
                        <a:t>GCP統合データ基盤</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LION ID・購買・診断・習慣データの統合（テーマ2・4）。DX投資の最大項目</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60" b="1" dirty="0">
                          <a:solidFill>
                            <a:srgbClr val="FFFFFF"/>
                          </a:solidFill>
                          <a:latin typeface="Meiryo UI" pitchFamily="34" charset="0"/>
                          <a:ea typeface="Meiryo UI" pitchFamily="34" charset="-122"/>
                          <a:cs typeface="Meiryo UI" pitchFamily="34" charset="-120"/>
                        </a:rPr>
                        <a:t>最高</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C8102E"/>
                    </a:solidFill>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累計20〜35億円。G2合格後に本格投資（段階解禁）</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621792">
                <a:tc>
                  <a:txBody>
                    <a:bodyPr/>
                    <a:lstStyle/>
                    <a:p>
                      <a:pPr indent="0" marL="0">
                        <a:buNone/>
                      </a:pPr>
                      <a:r>
                        <a:rPr lang="en-US" sz="860" b="1" dirty="0">
                          <a:solidFill>
                            <a:srgbClr val="16233A"/>
                          </a:solidFill>
                          <a:latin typeface="Meiryo UI" pitchFamily="34" charset="0"/>
                          <a:ea typeface="Meiryo UI" pitchFamily="34" charset="-122"/>
                          <a:cs typeface="Meiryo UI" pitchFamily="34" charset="-120"/>
                        </a:rPr>
                        <a:t>生成AI×Salesforce TPM</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Input業務ゼロ化の実装（テーマ5）</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60" b="1" dirty="0">
                          <a:solidFill>
                            <a:srgbClr val="FFFFFF"/>
                          </a:solidFill>
                          <a:latin typeface="Meiryo UI" pitchFamily="34" charset="0"/>
                          <a:ea typeface="Meiryo UI" pitchFamily="34" charset="-122"/>
                          <a:cs typeface="Meiryo UI" pitchFamily="34" charset="-120"/>
                        </a:rPr>
                        <a:t>高</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B87A2A"/>
                    </a:solidFill>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時間価値 年15〜25億円相当。1〜2年でROI回収見込み</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621792">
                <a:tc>
                  <a:txBody>
                    <a:bodyPr/>
                    <a:lstStyle/>
                    <a:p>
                      <a:pPr indent="0" marL="0">
                        <a:buNone/>
                      </a:pPr>
                      <a:r>
                        <a:rPr lang="en-US" sz="860" b="1" dirty="0">
                          <a:solidFill>
                            <a:srgbClr val="16233A"/>
                          </a:solidFill>
                          <a:latin typeface="Meiryo UI" pitchFamily="34" charset="0"/>
                          <a:ea typeface="Meiryo UI" pitchFamily="34" charset="-122"/>
                          <a:cs typeface="Meiryo UI" pitchFamily="34" charset="-120"/>
                        </a:rPr>
                        <a:t>アカウントスクワッド移行</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組織・評価制度の変更（テーマ5）。内部調整コストが最大リスク</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60" b="1" dirty="0">
                          <a:solidFill>
                            <a:srgbClr val="FFFFFF"/>
                          </a:solidFill>
                          <a:latin typeface="Meiryo UI" pitchFamily="34" charset="0"/>
                          <a:ea typeface="Meiryo UI" pitchFamily="34" charset="-122"/>
                          <a:cs typeface="Meiryo UI" pitchFamily="34" charset="-120"/>
                        </a:rPr>
                        <a:t>高</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B87A2A"/>
                    </a:solidFill>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追加費用は小。値引き費用の転換 年20〜40億円の実現条件</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621792">
                <a:tc>
                  <a:txBody>
                    <a:bodyPr/>
                    <a:lstStyle/>
                    <a:p>
                      <a:pPr indent="0" marL="0">
                        <a:buNone/>
                      </a:pPr>
                      <a:r>
                        <a:rPr lang="en-US" sz="860" b="1" dirty="0">
                          <a:solidFill>
                            <a:srgbClr val="16233A"/>
                          </a:solidFill>
                          <a:latin typeface="Meiryo UI" pitchFamily="34" charset="0"/>
                          <a:ea typeface="Meiryo UI" pitchFamily="34" charset="-122"/>
                          <a:cs typeface="Meiryo UI" pitchFamily="34" charset="-120"/>
                        </a:rPr>
                        <a:t>MMM・増分測定体制</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広告・販促の増分効果測定（テーマ3・5）。1小売×1施策から開始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60" b="1" dirty="0">
                          <a:solidFill>
                            <a:srgbClr val="FFFFFF"/>
                          </a:solidFill>
                          <a:latin typeface="Meiryo UI" pitchFamily="34" charset="0"/>
                          <a:ea typeface="Meiryo UI" pitchFamily="34" charset="-122"/>
                          <a:cs typeface="Meiryo UI" pitchFamily="34" charset="-120"/>
                        </a:rPr>
                        <a:t>中</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6B7686"/>
                    </a:solidFill>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広告最適化 年10〜30億円の実現手段</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621792">
                <a:tc>
                  <a:txBody>
                    <a:bodyPr/>
                    <a:lstStyle/>
                    <a:p>
                      <a:pPr indent="0" marL="0">
                        <a:buNone/>
                      </a:pPr>
                      <a:r>
                        <a:rPr lang="en-US" sz="860" b="1" dirty="0">
                          <a:solidFill>
                            <a:srgbClr val="16233A"/>
                          </a:solidFill>
                          <a:latin typeface="Meiryo UI" pitchFamily="34" charset="0"/>
                          <a:ea typeface="Meiryo UI" pitchFamily="34" charset="-122"/>
                          <a:cs typeface="Meiryo UI" pitchFamily="34" charset="-120"/>
                        </a:rPr>
                        <a:t>DCR・小売データ協業</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法務・技術・小売交渉の3条件が前提（テーマ3・4）。個情法確認が先行タスク</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60" b="1" dirty="0">
                          <a:solidFill>
                            <a:srgbClr val="FFFFFF"/>
                          </a:solidFill>
                          <a:latin typeface="Meiryo UI" pitchFamily="34" charset="0"/>
                          <a:ea typeface="Meiryo UI" pitchFamily="34" charset="-122"/>
                          <a:cs typeface="Meiryo UI" pitchFamily="34" charset="-120"/>
                        </a:rPr>
                        <a:t>中</a:t>
                      </a:r>
                      <a:endParaRPr lang="en-US" sz="86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6B7686"/>
                    </a:solidFill>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条件が揃い次第。先行して法務確認のみFY26内に完了</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bl>
          </a:graphicData>
        </a:graphic>
      </p:graphicFrame>
      <p:sp>
        <p:nvSpPr>
          <p:cNvPr id="7" name="Shape 4"/>
          <p:cNvSpPr/>
          <p:nvPr/>
        </p:nvSpPr>
        <p:spPr>
          <a:xfrm>
            <a:off x="502920" y="5806440"/>
            <a:ext cx="11185855" cy="658368"/>
          </a:xfrm>
          <a:prstGeom prst="rect">
            <a:avLst/>
          </a:prstGeom>
          <a:solidFill>
            <a:srgbClr val="16233A"/>
          </a:solidFill>
          <a:ln/>
        </p:spPr>
      </p:sp>
      <p:sp>
        <p:nvSpPr>
          <p:cNvPr id="8" name="Text 5"/>
          <p:cNvSpPr/>
          <p:nvPr/>
        </p:nvSpPr>
        <p:spPr>
          <a:xfrm>
            <a:off x="731520" y="5843016"/>
            <a:ext cx="10728655" cy="585216"/>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全体観：</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投資5年30〜50億円に対し、効果は年45〜95億円（時間価値15〜25億＋値引き転換20〜40億＋広告最適化10〜30億）で2〜3年回収。ただし最大のリターンは金額化しにくい「棚・AIから外されない＝売上の生存権」と、2040年の「制度・習慣・小売共同事業」という参入障壁の形成。</a:t>
            </a:r>
            <a:endParaRPr lang="en-US" sz="1030" dirty="0"/>
          </a:p>
        </p:txBody>
      </p:sp>
      <p:sp>
        <p:nvSpPr>
          <p:cNvPr id="9" name="Text 6"/>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How Much 2/3</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部門ごとのリターン ― 経営テーマ別に「誰が何を得るか」</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各部門が「自分たちの得になる」と言えることが実行の推進力。関係テーマを明示し、リターンと見る数字をセットで示す</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185855" cy="914400"/>
        </p:xfrm>
        <a:graphic>
          <a:graphicData uri="http://schemas.openxmlformats.org/drawingml/2006/table">
            <a:tbl>
              <a:tblPr/>
              <a:tblGrid>
                <a:gridCol w="1508760"/>
                <a:gridCol w="5852160"/>
                <a:gridCol w="2907792"/>
                <a:gridCol w="914400"/>
              </a:tblGrid>
              <a:tr h="329184">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部門</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何が良くなるか（リターン）</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見る数字（KPI）</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930" b="1" dirty="0">
                          <a:solidFill>
                            <a:srgbClr val="FFFFFF"/>
                          </a:solidFill>
                          <a:latin typeface="Meiryo UI" pitchFamily="34" charset="0"/>
                          <a:ea typeface="Meiryo UI" pitchFamily="34" charset="-122"/>
                          <a:cs typeface="Meiryo UI" pitchFamily="34" charset="-120"/>
                        </a:rPr>
                        <a:t>関係</a:t>
                      </a:r>
                      <a:endParaRPr lang="en-US" sz="930" dirty="0">
                        <a:latin typeface="Meiryo UI" charset="0"/>
                        <a:ea typeface="Meiryo UI" charset="0"/>
                        <a:cs typeface="Meiryo UI" charset="0"/>
                      </a:endParaRPr>
                    </a:p>
                    <a:p>
                      <a:pPr algn="ctr" indent="0" marL="0">
                        <a:buNone/>
                      </a:pPr>
                      <a:r>
                        <a:rPr lang="en-US" sz="930" b="1" dirty="0">
                          <a:solidFill>
                            <a:srgbClr val="FFFFFF"/>
                          </a:solidFill>
                          <a:latin typeface="Meiryo UI" pitchFamily="34" charset="0"/>
                          <a:ea typeface="Meiryo UI" pitchFamily="34" charset="-122"/>
                          <a:cs typeface="Meiryo UI" pitchFamily="34" charset="-120"/>
                        </a:rPr>
                        <a:t>テーマ</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r>
              <a:tr h="713232">
                <a:tc>
                  <a:txBody>
                    <a:bodyPr/>
                    <a:lstStyle/>
                    <a:p>
                      <a:pPr indent="0" marL="0">
                        <a:buNone/>
                      </a:pPr>
                      <a:r>
                        <a:rPr lang="en-US" sz="930" b="1" dirty="0">
                          <a:solidFill>
                            <a:srgbClr val="16233A"/>
                          </a:solidFill>
                          <a:latin typeface="Meiryo UI" pitchFamily="34" charset="0"/>
                          <a:ea typeface="Meiryo UI" pitchFamily="34" charset="-122"/>
                          <a:cs typeface="Meiryo UI" pitchFamily="34" charset="-120"/>
                        </a:rPr>
                        <a:t>営業</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事務時間が半減し、商談は「値引き」から「共同事業の設計」へ。バイヤーから頼られる立場に変わり、スクワッドの共有KPIで成果が正当に評価される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00" b="1" dirty="0">
                          <a:solidFill>
                            <a:srgbClr val="0F5E87"/>
                          </a:solidFill>
                          <a:latin typeface="Meiryo UI" pitchFamily="34" charset="0"/>
                          <a:ea typeface="Meiryo UI" pitchFamily="34" charset="-122"/>
                          <a:cs typeface="Meiryo UI" pitchFamily="34" charset="-120"/>
                        </a:rPr>
                        <a:t>データ武装型商談比率／JBP達成率／増分粗利</a:t>
                      </a:r>
                      <a:endParaRPr lang="en-US" sz="80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40" b="1" dirty="0">
                          <a:solidFill>
                            <a:srgbClr val="5A6472"/>
                          </a:solidFill>
                          <a:latin typeface="Meiryo UI" pitchFamily="34" charset="0"/>
                          <a:ea typeface="Meiryo UI" pitchFamily="34" charset="-122"/>
                          <a:cs typeface="Meiryo UI" pitchFamily="34" charset="-120"/>
                        </a:rPr>
                        <a:t>3・5</a:t>
                      </a:r>
                      <a:endParaRPr lang="en-US" sz="84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713232">
                <a:tc>
                  <a:txBody>
                    <a:bodyPr/>
                    <a:lstStyle/>
                    <a:p>
                      <a:pPr indent="0" marL="0">
                        <a:buNone/>
                      </a:pPr>
                      <a:r>
                        <a:rPr lang="en-US" sz="930" b="1" dirty="0">
                          <a:solidFill>
                            <a:srgbClr val="16233A"/>
                          </a:solidFill>
                          <a:latin typeface="Meiryo UI" pitchFamily="34" charset="0"/>
                          <a:ea typeface="Meiryo UI" pitchFamily="34" charset="-122"/>
                          <a:cs typeface="Meiryo UI" pitchFamily="34" charset="-120"/>
                        </a:rPr>
                        <a:t>マーケティング</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広告・販促の増分効果が測れるようになり、リテールメディア投資をROIで運用できる。LION IDと継続購買データという「自前の顧客資産」を持てる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00" b="1" dirty="0">
                          <a:solidFill>
                            <a:srgbClr val="0F5E87"/>
                          </a:solidFill>
                          <a:latin typeface="Meiryo UI" pitchFamily="34" charset="0"/>
                          <a:ea typeface="Meiryo UI" pitchFamily="34" charset="-122"/>
                          <a:cs typeface="Meiryo UI" pitchFamily="34" charset="-120"/>
                        </a:rPr>
                        <a:t>N-t-C率／KOIC／定期購入登録数</a:t>
                      </a:r>
                      <a:endParaRPr lang="en-US" sz="80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40" b="1" dirty="0">
                          <a:solidFill>
                            <a:srgbClr val="5A6472"/>
                          </a:solidFill>
                          <a:latin typeface="Meiryo UI" pitchFamily="34" charset="0"/>
                          <a:ea typeface="Meiryo UI" pitchFamily="34" charset="-122"/>
                          <a:cs typeface="Meiryo UI" pitchFamily="34" charset="-120"/>
                        </a:rPr>
                        <a:t>3・4</a:t>
                      </a:r>
                      <a:endParaRPr lang="en-US" sz="84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713232">
                <a:tc>
                  <a:txBody>
                    <a:bodyPr/>
                    <a:lstStyle/>
                    <a:p>
                      <a:pPr indent="0" marL="0">
                        <a:buNone/>
                      </a:pPr>
                      <a:r>
                        <a:rPr lang="en-US" sz="930" b="1" dirty="0">
                          <a:solidFill>
                            <a:srgbClr val="16233A"/>
                          </a:solidFill>
                          <a:latin typeface="Meiryo UI" pitchFamily="34" charset="0"/>
                          <a:ea typeface="Meiryo UI" pitchFamily="34" charset="-122"/>
                          <a:cs typeface="Meiryo UI" pitchFamily="34" charset="-120"/>
                        </a:rPr>
                        <a:t>研究開発</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30年の臨床データがAIの引用元・商談の武器・制度連携の教材として三重に換金され、研究の事業貢献が数字で見える。健康アウトカムデータが次の研究に還流</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00" b="1" dirty="0">
                          <a:solidFill>
                            <a:srgbClr val="0F5E87"/>
                          </a:solidFill>
                          <a:latin typeface="Meiryo UI" pitchFamily="34" charset="0"/>
                          <a:ea typeface="Meiryo UI" pitchFamily="34" charset="-122"/>
                          <a:cs typeface="Meiryo UI" pitchFamily="34" charset="-120"/>
                        </a:rPr>
                        <a:t>AIEO Rate／エビデンス活用商談数／口腔健康アウトカム改善率</a:t>
                      </a:r>
                      <a:endParaRPr lang="en-US" sz="80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40" b="1" dirty="0">
                          <a:solidFill>
                            <a:srgbClr val="5A6472"/>
                          </a:solidFill>
                          <a:latin typeface="Meiryo UI" pitchFamily="34" charset="0"/>
                          <a:ea typeface="Meiryo UI" pitchFamily="34" charset="-122"/>
                          <a:cs typeface="Meiryo UI" pitchFamily="34" charset="-120"/>
                        </a:rPr>
                        <a:t>2</a:t>
                      </a:r>
                      <a:endParaRPr lang="en-US" sz="84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713232">
                <a:tc>
                  <a:txBody>
                    <a:bodyPr/>
                    <a:lstStyle/>
                    <a:p>
                      <a:pPr indent="0" marL="0">
                        <a:buNone/>
                      </a:pPr>
                      <a:r>
                        <a:rPr lang="en-US" sz="930" b="1" dirty="0">
                          <a:solidFill>
                            <a:srgbClr val="16233A"/>
                          </a:solidFill>
                          <a:latin typeface="Meiryo UI" pitchFamily="34" charset="0"/>
                          <a:ea typeface="Meiryo UI" pitchFamily="34" charset="-122"/>
                          <a:cs typeface="Meiryo UI" pitchFamily="34" charset="-120"/>
                        </a:rPr>
                        <a:t>生産・物流・環境</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環境・属性データの整備が取引条件クリアと棚落ち回避に直結。店頭回収など循環対応を小売と共同設計する立場になる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00" b="1" dirty="0">
                          <a:solidFill>
                            <a:srgbClr val="0F5E87"/>
                          </a:solidFill>
                          <a:latin typeface="Meiryo UI" pitchFamily="34" charset="0"/>
                          <a:ea typeface="Meiryo UI" pitchFamily="34" charset="-122"/>
                          <a:cs typeface="Meiryo UI" pitchFamily="34" charset="-120"/>
                        </a:rPr>
                        <a:t>属性・環境データ整備率／欠品率</a:t>
                      </a:r>
                      <a:endParaRPr lang="en-US" sz="80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40" b="1" dirty="0">
                          <a:solidFill>
                            <a:srgbClr val="5A6472"/>
                          </a:solidFill>
                          <a:latin typeface="Meiryo UI" pitchFamily="34" charset="0"/>
                          <a:ea typeface="Meiryo UI" pitchFamily="34" charset="-122"/>
                          <a:cs typeface="Meiryo UI" pitchFamily="34" charset="-120"/>
                        </a:rPr>
                        <a:t>2・3</a:t>
                      </a:r>
                      <a:endParaRPr lang="en-US" sz="84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713232">
                <a:tc>
                  <a:txBody>
                    <a:bodyPr/>
                    <a:lstStyle/>
                    <a:p>
                      <a:pPr indent="0" marL="0">
                        <a:buNone/>
                      </a:pPr>
                      <a:r>
                        <a:rPr lang="en-US" sz="930" b="1" dirty="0">
                          <a:solidFill>
                            <a:srgbClr val="16233A"/>
                          </a:solidFill>
                          <a:latin typeface="Meiryo UI" pitchFamily="34" charset="0"/>
                          <a:ea typeface="Meiryo UI" pitchFamily="34" charset="-122"/>
                          <a:cs typeface="Meiryo UI" pitchFamily="34" charset="-120"/>
                        </a:rPr>
                        <a:t>経営企画・経営管理</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ポートフォリオ再編をROIC基準で裁ける。北極星KPIと5つのユニークKPIで投資対効果が一元管理され、統合報告書の開示ストーリーが手に入る</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00" b="1" dirty="0">
                          <a:solidFill>
                            <a:srgbClr val="0F5E87"/>
                          </a:solidFill>
                          <a:latin typeface="Meiryo UI" pitchFamily="34" charset="0"/>
                          <a:ea typeface="Meiryo UI" pitchFamily="34" charset="-122"/>
                          <a:cs typeface="Meiryo UI" pitchFamily="34" charset="-120"/>
                        </a:rPr>
                        <a:t>強み領域売上比率／北極星KPI（増分粗利）</a:t>
                      </a:r>
                      <a:endParaRPr lang="en-US" sz="80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40" b="1" dirty="0">
                          <a:solidFill>
                            <a:srgbClr val="5A6472"/>
                          </a:solidFill>
                          <a:latin typeface="Meiryo UI" pitchFamily="34" charset="0"/>
                          <a:ea typeface="Meiryo UI" pitchFamily="34" charset="-122"/>
                          <a:cs typeface="Meiryo UI" pitchFamily="34" charset="-120"/>
                        </a:rPr>
                        <a:t>1・5</a:t>
                      </a:r>
                      <a:endParaRPr lang="en-US" sz="84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713232">
                <a:tc>
                  <a:txBody>
                    <a:bodyPr/>
                    <a:lstStyle/>
                    <a:p>
                      <a:pPr indent="0" marL="0">
                        <a:buNone/>
                      </a:pPr>
                      <a:r>
                        <a:rPr lang="en-US" sz="930" b="1" dirty="0">
                          <a:solidFill>
                            <a:srgbClr val="16233A"/>
                          </a:solidFill>
                          <a:latin typeface="Meiryo UI" pitchFamily="34" charset="0"/>
                          <a:ea typeface="Meiryo UI" pitchFamily="34" charset="-122"/>
                          <a:cs typeface="Meiryo UI" pitchFamily="34" charset="-120"/>
                        </a:rPr>
                        <a:t>人事・全社</a:t>
                      </a:r>
                      <a:endParaRPr lang="en-US" sz="93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820" dirty="0">
                          <a:solidFill>
                            <a:srgbClr val="1F2733"/>
                          </a:solidFill>
                          <a:latin typeface="Meiryo UI" pitchFamily="34" charset="0"/>
                          <a:ea typeface="Meiryo UI" pitchFamily="34" charset="-122"/>
                          <a:cs typeface="Meiryo UI" pitchFamily="34" charset="-120"/>
                        </a:rPr>
                        <a:t>役員オーナー制とRevOps評価で「変革に取り組んだ人が報われる」構造に。越境ローテーションで次世代人材が育つ</a:t>
                      </a:r>
                      <a:endParaRPr lang="en-US" sz="82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800" b="1" dirty="0">
                          <a:solidFill>
                            <a:srgbClr val="0F5E87"/>
                          </a:solidFill>
                          <a:latin typeface="Meiryo UI" pitchFamily="34" charset="0"/>
                          <a:ea typeface="Meiryo UI" pitchFamily="34" charset="-122"/>
                          <a:cs typeface="Meiryo UI" pitchFamily="34" charset="-120"/>
                        </a:rPr>
                        <a:t>新評価の適用者数／部門間異動数</a:t>
                      </a:r>
                      <a:endParaRPr lang="en-US" sz="80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40" b="1" dirty="0">
                          <a:solidFill>
                            <a:srgbClr val="5A6472"/>
                          </a:solidFill>
                          <a:latin typeface="Meiryo UI" pitchFamily="34" charset="0"/>
                          <a:ea typeface="Meiryo UI" pitchFamily="34" charset="-122"/>
                          <a:cs typeface="Meiryo UI" pitchFamily="34" charset="-120"/>
                        </a:rPr>
                        <a:t>5</a:t>
                      </a:r>
                      <a:endParaRPr lang="en-US" sz="840" dirty="0">
                        <a:latin typeface="Meiryo UI" charset="0"/>
                        <a:ea typeface="Meiryo UI" charset="0"/>
                        <a:cs typeface="Meiryo UI" charset="0"/>
                      </a:endParaRPr>
                    </a:p>
                  </a:txBody>
                  <a:tcPr marL="54864" marR="54864" marT="54864" marB="54864"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bl>
          </a:graphicData>
        </a:graphic>
      </p:graphicFrame>
      <p:sp>
        <p:nvSpPr>
          <p:cNvPr id="7" name="Text 4"/>
          <p:cNvSpPr/>
          <p:nvPr/>
        </p:nvSpPr>
        <p:spPr>
          <a:xfrm>
            <a:off x="502920" y="6172200"/>
            <a:ext cx="11185855" cy="274320"/>
          </a:xfrm>
          <a:prstGeom prst="rect">
            <a:avLst/>
          </a:prstGeom>
          <a:noFill/>
          <a:ln/>
        </p:spPr>
        <p:txBody>
          <a:bodyPr wrap="square" lIns="0" tIns="0" rIns="0" bIns="0" rtlCol="0" anchor="ctr"/>
          <a:lstStyle/>
          <a:p>
            <a:pPr indent="0" marL="0">
              <a:buNone/>
            </a:pPr>
            <a:r>
              <a:rPr lang="en-US" sz="930" dirty="0">
                <a:solidFill>
                  <a:srgbClr val="5A6472"/>
                </a:solidFill>
                <a:latin typeface="Meiryo UI" pitchFamily="34" charset="0"/>
                <a:ea typeface="Meiryo UI" pitchFamily="34" charset="-122"/>
                <a:cs typeface="Meiryo UI" pitchFamily="34" charset="-120"/>
              </a:rPr>
              <a:t>※ 各KPIの目標値はFY26上期のベースライン実測後にオーナー役員が確定し、経営会議で承認する。</a:t>
            </a:r>
            <a:endParaRPr lang="en-US" sz="930" dirty="0"/>
          </a:p>
        </p:txBody>
      </p:sp>
      <p:sp>
        <p:nvSpPr>
          <p:cNvPr id="8" name="Text 5"/>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How Much 3/3</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KGI/KPI体系 ― 北極星KPIを頂点に、ユニークKPIを経営テーマへ紐付ける</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頂点は「増分粗利（オーラルケア）」。その下に新規（N-t-C）と継続（LTV）の2本の枝、枝先にライオン固有のユニークKPI。すべてIR開示を見据えた設計</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3931920" y="1481328"/>
            <a:ext cx="4297680" cy="603504"/>
          </a:xfrm>
          <a:prstGeom prst="rect">
            <a:avLst/>
          </a:prstGeom>
          <a:solidFill>
            <a:srgbClr val="16233A"/>
          </a:solidFill>
          <a:ln/>
        </p:spPr>
      </p:sp>
      <p:sp>
        <p:nvSpPr>
          <p:cNvPr id="7" name="Text 5"/>
          <p:cNvSpPr/>
          <p:nvPr/>
        </p:nvSpPr>
        <p:spPr>
          <a:xfrm>
            <a:off x="4069080" y="1517904"/>
            <a:ext cx="4023360" cy="530352"/>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Meiryo UI" pitchFamily="34" charset="0"/>
                <a:ea typeface="Meiryo UI" pitchFamily="34" charset="-122"/>
                <a:cs typeface="Meiryo UI" pitchFamily="34" charset="-120"/>
              </a:rPr>
              <a:t>北極星KPI：増分粗利（オーラルケア事業）
</a:t>
            </a:r>
            <a:pPr algn="ctr" indent="0" marL="0">
              <a:lnSpc>
                <a:spcPct val="105000"/>
              </a:lnSpc>
              <a:buNone/>
            </a:pPr>
            <a:r>
              <a:rPr lang="en-US" sz="820" dirty="0">
                <a:solidFill>
                  <a:srgbClr val="AEBDD6"/>
                </a:solidFill>
                <a:latin typeface="Meiryo UI" pitchFamily="34" charset="0"/>
                <a:ea typeface="Meiryo UI" pitchFamily="34" charset="-122"/>
                <a:cs typeface="Meiryo UI" pitchFamily="34" charset="-120"/>
              </a:rPr>
              <a:t>施策がなかった場合との差分で測る「変革の正味効果」</a:t>
            </a:r>
            <a:endParaRPr lang="en-US" sz="1150" dirty="0"/>
          </a:p>
        </p:txBody>
      </p:sp>
      <p:sp>
        <p:nvSpPr>
          <p:cNvPr id="8" name="Text 6"/>
          <p:cNvSpPr/>
          <p:nvPr/>
        </p:nvSpPr>
        <p:spPr>
          <a:xfrm>
            <a:off x="5897880" y="2084832"/>
            <a:ext cx="365760" cy="182880"/>
          </a:xfrm>
          <a:prstGeom prst="rect">
            <a:avLst/>
          </a:prstGeom>
          <a:noFill/>
          <a:ln/>
        </p:spPr>
        <p:txBody>
          <a:bodyPr wrap="square" lIns="0" tIns="0" rIns="0" bIns="0" rtlCol="0" anchor="ctr"/>
          <a:lstStyle/>
          <a:p>
            <a:pPr algn="ctr" indent="0" marL="0">
              <a:buNone/>
            </a:pPr>
            <a:r>
              <a:rPr lang="en-US" sz="900" b="1" dirty="0">
                <a:solidFill>
                  <a:srgbClr val="9AA3AE"/>
                </a:solidFill>
                <a:latin typeface="Meiryo UI" pitchFamily="34" charset="0"/>
                <a:ea typeface="Meiryo UI" pitchFamily="34" charset="-122"/>
                <a:cs typeface="Meiryo UI" pitchFamily="34" charset="-120"/>
              </a:rPr>
              <a:t>▲</a:t>
            </a:r>
            <a:endParaRPr lang="en-US" sz="900" dirty="0"/>
          </a:p>
        </p:txBody>
      </p:sp>
      <p:sp>
        <p:nvSpPr>
          <p:cNvPr id="9" name="Shape 7"/>
          <p:cNvSpPr/>
          <p:nvPr/>
        </p:nvSpPr>
        <p:spPr>
          <a:xfrm>
            <a:off x="2011680" y="2304288"/>
            <a:ext cx="3840480" cy="457200"/>
          </a:xfrm>
          <a:prstGeom prst="rect">
            <a:avLst/>
          </a:prstGeom>
          <a:solidFill>
            <a:srgbClr val="EAF3F8"/>
          </a:solidFill>
          <a:ln w="9525">
            <a:solidFill>
              <a:srgbClr val="BCD6E4"/>
            </a:solidFill>
            <a:prstDash val="solid"/>
          </a:ln>
        </p:spPr>
      </p:sp>
      <p:sp>
        <p:nvSpPr>
          <p:cNvPr id="10" name="Text 8"/>
          <p:cNvSpPr/>
          <p:nvPr/>
        </p:nvSpPr>
        <p:spPr>
          <a:xfrm>
            <a:off x="2011680" y="2304288"/>
            <a:ext cx="3840480" cy="457200"/>
          </a:xfrm>
          <a:prstGeom prst="rect">
            <a:avLst/>
          </a:prstGeom>
          <a:noFill/>
          <a:ln/>
        </p:spPr>
        <p:txBody>
          <a:bodyPr wrap="square" lIns="0" tIns="0" rIns="0" bIns="0" rtlCol="0" anchor="ctr"/>
          <a:lstStyle/>
          <a:p>
            <a:pPr algn="ctr" indent="0" marL="0">
              <a:buNone/>
            </a:pPr>
            <a:r>
              <a:rPr lang="en-US" sz="1000" b="1" dirty="0">
                <a:solidFill>
                  <a:srgbClr val="0F5E87"/>
                </a:solidFill>
                <a:latin typeface="Meiryo UI" pitchFamily="34" charset="0"/>
                <a:ea typeface="Meiryo UI" pitchFamily="34" charset="-122"/>
                <a:cs typeface="Meiryo UI" pitchFamily="34" charset="-120"/>
              </a:rPr>
              <a:t>枝1：新規顧客の獲得（N-t-C：カテゴリ新規客）</a:t>
            </a:r>
            <a:endParaRPr lang="en-US" sz="1000" dirty="0"/>
          </a:p>
        </p:txBody>
      </p:sp>
      <p:sp>
        <p:nvSpPr>
          <p:cNvPr id="11" name="Shape 9"/>
          <p:cNvSpPr/>
          <p:nvPr/>
        </p:nvSpPr>
        <p:spPr>
          <a:xfrm>
            <a:off x="6309360" y="2304288"/>
            <a:ext cx="3840480" cy="457200"/>
          </a:xfrm>
          <a:prstGeom prst="rect">
            <a:avLst/>
          </a:prstGeom>
          <a:solidFill>
            <a:srgbClr val="EEF4EC"/>
          </a:solidFill>
          <a:ln w="9525">
            <a:solidFill>
              <a:srgbClr val="C4D6C2"/>
            </a:solidFill>
            <a:prstDash val="solid"/>
          </a:ln>
        </p:spPr>
      </p:sp>
      <p:sp>
        <p:nvSpPr>
          <p:cNvPr id="12" name="Text 10"/>
          <p:cNvSpPr/>
          <p:nvPr/>
        </p:nvSpPr>
        <p:spPr>
          <a:xfrm>
            <a:off x="6309360" y="2304288"/>
            <a:ext cx="3840480" cy="457200"/>
          </a:xfrm>
          <a:prstGeom prst="rect">
            <a:avLst/>
          </a:prstGeom>
          <a:noFill/>
          <a:ln/>
        </p:spPr>
        <p:txBody>
          <a:bodyPr wrap="square" lIns="0" tIns="0" rIns="0" bIns="0" rtlCol="0" anchor="ctr"/>
          <a:lstStyle/>
          <a:p>
            <a:pPr algn="ctr" indent="0" marL="0">
              <a:buNone/>
            </a:pPr>
            <a:r>
              <a:rPr lang="en-US" sz="1000" b="1" dirty="0">
                <a:solidFill>
                  <a:srgbClr val="2C5F2D"/>
                </a:solidFill>
                <a:latin typeface="Meiryo UI" pitchFamily="34" charset="0"/>
                <a:ea typeface="Meiryo UI" pitchFamily="34" charset="-122"/>
                <a:cs typeface="Meiryo UI" pitchFamily="34" charset="-120"/>
              </a:rPr>
              <a:t>枝2：継続顧客の深化（LTV：習慣化・再購買・推奨）</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2926080"/>
          <a:ext cx="11185855" cy="914400"/>
        </p:xfrm>
        <a:graphic>
          <a:graphicData uri="http://schemas.openxmlformats.org/drawingml/2006/table">
            <a:tbl>
              <a:tblPr/>
              <a:tblGrid>
                <a:gridCol w="2148840"/>
                <a:gridCol w="3977640"/>
                <a:gridCol w="914400"/>
                <a:gridCol w="3337560"/>
                <a:gridCol w="804672"/>
              </a:tblGrid>
              <a:tr h="292608">
                <a:tc>
                  <a:txBody>
                    <a:bodyPr/>
                    <a:lstStyle/>
                    <a:p>
                      <a:pPr algn="ctr" indent="0" marL="0">
                        <a:buNone/>
                      </a:pPr>
                      <a:r>
                        <a:rPr lang="en-US" sz="880" b="1" dirty="0">
                          <a:solidFill>
                            <a:srgbClr val="FFFFFF"/>
                          </a:solidFill>
                          <a:latin typeface="Meiryo UI" pitchFamily="34" charset="0"/>
                          <a:ea typeface="Meiryo UI" pitchFamily="34" charset="-122"/>
                          <a:cs typeface="Meiryo UI" pitchFamily="34" charset="-120"/>
                        </a:rPr>
                        <a:t>ユニークKPI</a:t>
                      </a:r>
                      <a:endParaRPr lang="en-US" sz="88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880" b="1" dirty="0">
                          <a:solidFill>
                            <a:srgbClr val="FFFFFF"/>
                          </a:solidFill>
                          <a:latin typeface="Meiryo UI" pitchFamily="34" charset="0"/>
                          <a:ea typeface="Meiryo UI" pitchFamily="34" charset="-122"/>
                          <a:cs typeface="Meiryo UI" pitchFamily="34" charset="-120"/>
                        </a:rPr>
                        <a:t>定義・測り方</a:t>
                      </a:r>
                      <a:endParaRPr lang="en-US" sz="88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880" b="1" dirty="0">
                          <a:solidFill>
                            <a:srgbClr val="FFFFFF"/>
                          </a:solidFill>
                          <a:latin typeface="Meiryo UI" pitchFamily="34" charset="0"/>
                          <a:ea typeface="Meiryo UI" pitchFamily="34" charset="-122"/>
                          <a:cs typeface="Meiryo UI" pitchFamily="34" charset="-120"/>
                        </a:rPr>
                        <a:t>経営テーマ</a:t>
                      </a:r>
                      <a:endParaRPr lang="en-US" sz="88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880" b="1" dirty="0">
                          <a:solidFill>
                            <a:srgbClr val="FFFFFF"/>
                          </a:solidFill>
                          <a:latin typeface="Meiryo UI" pitchFamily="34" charset="0"/>
                          <a:ea typeface="Meiryo UI" pitchFamily="34" charset="-122"/>
                          <a:cs typeface="Meiryo UI" pitchFamily="34" charset="-120"/>
                        </a:rPr>
                        <a:t>北極星への接続</a:t>
                      </a:r>
                      <a:endParaRPr lang="en-US" sz="88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c>
                  <a:txBody>
                    <a:bodyPr/>
                    <a:lstStyle/>
                    <a:p>
                      <a:pPr algn="ctr" indent="0" marL="0">
                        <a:buNone/>
                      </a:pPr>
                      <a:r>
                        <a:rPr lang="en-US" sz="880" b="1" dirty="0">
                          <a:solidFill>
                            <a:srgbClr val="FFFFFF"/>
                          </a:solidFill>
                          <a:latin typeface="Meiryo UI" pitchFamily="34" charset="0"/>
                          <a:ea typeface="Meiryo UI" pitchFamily="34" charset="-122"/>
                          <a:cs typeface="Meiryo UI" pitchFamily="34" charset="-120"/>
                        </a:rPr>
                        <a:t>IR開示</a:t>
                      </a:r>
                      <a:endParaRPr lang="en-US" sz="88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6233A"/>
                    </a:solidFill>
                  </a:tcPr>
                </a:tc>
              </a:tr>
              <a:tr h="475488">
                <a:tc>
                  <a:txBody>
                    <a:bodyPr/>
                    <a:lstStyle/>
                    <a:p>
                      <a:pPr indent="0" marL="0">
                        <a:buNone/>
                      </a:pPr>
                      <a:r>
                        <a:rPr lang="en-US" sz="840" b="1" dirty="0">
                          <a:solidFill>
                            <a:srgbClr val="16233A"/>
                          </a:solidFill>
                          <a:latin typeface="Meiryo UI" pitchFamily="34" charset="0"/>
                          <a:ea typeface="Meiryo UI" pitchFamily="34" charset="-122"/>
                          <a:cs typeface="Meiryo UI" pitchFamily="34" charset="-120"/>
                        </a:rPr>
                        <a:t>U1 AI推奨シェア（AIEO Rate）</a:t>
                      </a:r>
                      <a:endParaRPr lang="en-US" sz="84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90" dirty="0">
                          <a:solidFill>
                            <a:srgbClr val="1F2733"/>
                          </a:solidFill>
                          <a:latin typeface="Meiryo UI" pitchFamily="34" charset="0"/>
                          <a:ea typeface="Meiryo UI" pitchFamily="34" charset="-122"/>
                          <a:cs typeface="Meiryo UI" pitchFamily="34" charset="-120"/>
                        </a:rPr>
                        <a:t>主要な口腔ケア・OTC質問へのAI回答でライオンが推奨・引用される割合（月次監査100〜200問×AI別）</a:t>
                      </a:r>
                      <a:endParaRPr lang="en-US" sz="79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20" b="1" dirty="0">
                          <a:solidFill>
                            <a:srgbClr val="0F5E87"/>
                          </a:solidFill>
                          <a:latin typeface="Meiryo UI" pitchFamily="34" charset="0"/>
                          <a:ea typeface="Meiryo UI" pitchFamily="34" charset="-122"/>
                          <a:cs typeface="Meiryo UI" pitchFamily="34" charset="-120"/>
                        </a:rPr>
                        <a:t>テーマ2</a:t>
                      </a:r>
                      <a:endParaRPr lang="en-US" sz="82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90" dirty="0">
                          <a:solidFill>
                            <a:srgbClr val="1F2733"/>
                          </a:solidFill>
                          <a:latin typeface="Meiryo UI" pitchFamily="34" charset="0"/>
                          <a:ea typeface="Meiryo UI" pitchFamily="34" charset="-122"/>
                          <a:cs typeface="Meiryo UI" pitchFamily="34" charset="-120"/>
                        </a:rPr>
                        <a:t>枝1（AI経由の新規獲得の先行指標・買い場消滅への生存保険）</a:t>
                      </a:r>
                      <a:endParaRPr lang="en-US" sz="79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40" b="1" dirty="0">
                          <a:solidFill>
                            <a:srgbClr val="C8102E"/>
                          </a:solidFill>
                          <a:latin typeface="Meiryo UI" pitchFamily="34" charset="0"/>
                          <a:ea typeface="Meiryo UI" pitchFamily="34" charset="-122"/>
                          <a:cs typeface="Meiryo UI" pitchFamily="34" charset="-120"/>
                        </a:rPr>
                        <a:t>高</a:t>
                      </a:r>
                      <a:endParaRPr lang="en-US" sz="84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475488">
                <a:tc>
                  <a:txBody>
                    <a:bodyPr/>
                    <a:lstStyle/>
                    <a:p>
                      <a:pPr indent="0" marL="0">
                        <a:buNone/>
                      </a:pPr>
                      <a:r>
                        <a:rPr lang="en-US" sz="840" b="1" dirty="0">
                          <a:solidFill>
                            <a:srgbClr val="16233A"/>
                          </a:solidFill>
                          <a:latin typeface="Meiryo UI" pitchFamily="34" charset="0"/>
                          <a:ea typeface="Meiryo UI" pitchFamily="34" charset="-122"/>
                          <a:cs typeface="Meiryo UI" pitchFamily="34" charset="-120"/>
                        </a:rPr>
                        <a:t>U2 KOIC（意向把握カバレッジ）</a:t>
                      </a:r>
                      <a:endParaRPr lang="en-US" sz="84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90" dirty="0">
                          <a:solidFill>
                            <a:srgbClr val="1F2733"/>
                          </a:solidFill>
                          <a:latin typeface="Meiryo UI" pitchFamily="34" charset="0"/>
                          <a:ea typeface="Meiryo UI" pitchFamily="34" charset="-122"/>
                          <a:cs typeface="Meiryo UI" pitchFamily="34" charset="-120"/>
                        </a:rPr>
                        <a:t>購入前の口腔課題・意向を継続把握できる対象者の比率（許諾ID＋仮名インテント÷関心推定人口）</a:t>
                      </a:r>
                      <a:endParaRPr lang="en-US" sz="79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20" b="1" dirty="0">
                          <a:solidFill>
                            <a:srgbClr val="B87A2A"/>
                          </a:solidFill>
                          <a:latin typeface="Meiryo UI" pitchFamily="34" charset="0"/>
                          <a:ea typeface="Meiryo UI" pitchFamily="34" charset="-122"/>
                          <a:cs typeface="Meiryo UI" pitchFamily="34" charset="-120"/>
                        </a:rPr>
                        <a:t>テーマ4</a:t>
                      </a:r>
                      <a:endParaRPr lang="en-US" sz="82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90" dirty="0">
                          <a:solidFill>
                            <a:srgbClr val="1F2733"/>
                          </a:solidFill>
                          <a:latin typeface="Meiryo UI" pitchFamily="34" charset="0"/>
                          <a:ea typeface="Meiryo UI" pitchFamily="34" charset="-122"/>
                          <a:cs typeface="Meiryo UI" pitchFamily="34" charset="-120"/>
                        </a:rPr>
                        <a:t>枝1・2（Cookie消滅への自前対応の進捗）</a:t>
                      </a:r>
                      <a:endParaRPr lang="en-US" sz="79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40" b="1" dirty="0">
                          <a:solidFill>
                            <a:srgbClr val="C8102E"/>
                          </a:solidFill>
                          <a:latin typeface="Meiryo UI" pitchFamily="34" charset="0"/>
                          <a:ea typeface="Meiryo UI" pitchFamily="34" charset="-122"/>
                          <a:cs typeface="Meiryo UI" pitchFamily="34" charset="-120"/>
                        </a:rPr>
                        <a:t>高</a:t>
                      </a:r>
                      <a:endParaRPr lang="en-US" sz="84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475488">
                <a:tc>
                  <a:txBody>
                    <a:bodyPr/>
                    <a:lstStyle/>
                    <a:p>
                      <a:pPr indent="0" marL="0">
                        <a:buNone/>
                      </a:pPr>
                      <a:r>
                        <a:rPr lang="en-US" sz="840" b="1" dirty="0">
                          <a:solidFill>
                            <a:srgbClr val="16233A"/>
                          </a:solidFill>
                          <a:latin typeface="Meiryo UI" pitchFamily="34" charset="0"/>
                          <a:ea typeface="Meiryo UI" pitchFamily="34" charset="-122"/>
                          <a:cs typeface="Meiryo UI" pitchFamily="34" charset="-120"/>
                        </a:rPr>
                        <a:t>U3 B2B2C推奨起点売上比率</a:t>
                      </a:r>
                      <a:endParaRPr lang="en-US" sz="84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90" dirty="0">
                          <a:solidFill>
                            <a:srgbClr val="1F2733"/>
                          </a:solidFill>
                          <a:latin typeface="Meiryo UI" pitchFamily="34" charset="0"/>
                          <a:ea typeface="Meiryo UI" pitchFamily="34" charset="-122"/>
                          <a:cs typeface="Meiryo UI" pitchFamily="34" charset="-120"/>
                        </a:rPr>
                        <a:t>歯科医院・衛生士・保険者の推奨を経由した売上÷カテゴリ売上（DCRで購買照合）</a:t>
                      </a:r>
                      <a:endParaRPr lang="en-US" sz="79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20" b="1" dirty="0">
                          <a:solidFill>
                            <a:srgbClr val="2C5F2D"/>
                          </a:solidFill>
                          <a:latin typeface="Meiryo UI" pitchFamily="34" charset="0"/>
                          <a:ea typeface="Meiryo UI" pitchFamily="34" charset="-122"/>
                          <a:cs typeface="Meiryo UI" pitchFamily="34" charset="-120"/>
                        </a:rPr>
                        <a:t>テーマ3</a:t>
                      </a:r>
                      <a:endParaRPr lang="en-US" sz="82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90" dirty="0">
                          <a:solidFill>
                            <a:srgbClr val="1F2733"/>
                          </a:solidFill>
                          <a:latin typeface="Meiryo UI" pitchFamily="34" charset="0"/>
                          <a:ea typeface="Meiryo UI" pitchFamily="34" charset="-122"/>
                          <a:cs typeface="Meiryo UI" pitchFamily="34" charset="-120"/>
                        </a:rPr>
                        <a:t>枝1（広告費ゼロの需要形成。競合不可能な強みの売上接続）</a:t>
                      </a:r>
                      <a:endParaRPr lang="en-US" sz="79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40" b="1" dirty="0">
                          <a:solidFill>
                            <a:srgbClr val="C8102E"/>
                          </a:solidFill>
                          <a:latin typeface="Meiryo UI" pitchFamily="34" charset="0"/>
                          <a:ea typeface="Meiryo UI" pitchFamily="34" charset="-122"/>
                          <a:cs typeface="Meiryo UI" pitchFamily="34" charset="-120"/>
                        </a:rPr>
                        <a:t>高</a:t>
                      </a:r>
                      <a:endParaRPr lang="en-US" sz="84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475488">
                <a:tc>
                  <a:txBody>
                    <a:bodyPr/>
                    <a:lstStyle/>
                    <a:p>
                      <a:pPr indent="0" marL="0">
                        <a:buNone/>
                      </a:pPr>
                      <a:r>
                        <a:rPr lang="en-US" sz="840" b="1" dirty="0">
                          <a:solidFill>
                            <a:srgbClr val="16233A"/>
                          </a:solidFill>
                          <a:latin typeface="Meiryo UI" pitchFamily="34" charset="0"/>
                          <a:ea typeface="Meiryo UI" pitchFamily="34" charset="-122"/>
                          <a:cs typeface="Meiryo UI" pitchFamily="34" charset="-120"/>
                        </a:rPr>
                        <a:t>U4 カテゴリーLTV向上貢献指数</a:t>
                      </a:r>
                      <a:endParaRPr lang="en-US" sz="84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90" dirty="0">
                          <a:solidFill>
                            <a:srgbClr val="1F2733"/>
                          </a:solidFill>
                          <a:latin typeface="Meiryo UI" pitchFamily="34" charset="0"/>
                          <a:ea typeface="Meiryo UI" pitchFamily="34" charset="-122"/>
                          <a:cs typeface="Meiryo UI" pitchFamily="34" charset="-120"/>
                        </a:rPr>
                        <a:t>ライオン施策により重点小売のカテゴリ粗利が前年比何%向上したか（Test&amp;Control比較）</a:t>
                      </a:r>
                      <a:endParaRPr lang="en-US" sz="79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20" b="1" dirty="0">
                          <a:solidFill>
                            <a:srgbClr val="2C5F2D"/>
                          </a:solidFill>
                          <a:latin typeface="Meiryo UI" pitchFamily="34" charset="0"/>
                          <a:ea typeface="Meiryo UI" pitchFamily="34" charset="-122"/>
                          <a:cs typeface="Meiryo UI" pitchFamily="34" charset="-120"/>
                        </a:rPr>
                        <a:t>テーマ3</a:t>
                      </a:r>
                      <a:endParaRPr lang="en-US" sz="82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90" dirty="0">
                          <a:solidFill>
                            <a:srgbClr val="1F2733"/>
                          </a:solidFill>
                          <a:latin typeface="Meiryo UI" pitchFamily="34" charset="0"/>
                          <a:ea typeface="Meiryo UI" pitchFamily="34" charset="-122"/>
                          <a:cs typeface="Meiryo UI" pitchFamily="34" charset="-120"/>
                        </a:rPr>
                        <a:t>枝2（商談価値ミスマッチ解消の最終確認。JBPの通貨）</a:t>
                      </a:r>
                      <a:endParaRPr lang="en-US" sz="79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40" b="1" dirty="0">
                          <a:solidFill>
                            <a:srgbClr val="C8102E"/>
                          </a:solidFill>
                          <a:latin typeface="Meiryo UI" pitchFamily="34" charset="0"/>
                          <a:ea typeface="Meiryo UI" pitchFamily="34" charset="-122"/>
                          <a:cs typeface="Meiryo UI" pitchFamily="34" charset="-120"/>
                        </a:rPr>
                        <a:t>中</a:t>
                      </a:r>
                      <a:endParaRPr lang="en-US" sz="84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475488">
                <a:tc>
                  <a:txBody>
                    <a:bodyPr/>
                    <a:lstStyle/>
                    <a:p>
                      <a:pPr indent="0" marL="0">
                        <a:buNone/>
                      </a:pPr>
                      <a:r>
                        <a:rPr lang="en-US" sz="840" b="1" dirty="0">
                          <a:solidFill>
                            <a:srgbClr val="16233A"/>
                          </a:solidFill>
                          <a:latin typeface="Meiryo UI" pitchFamily="34" charset="0"/>
                          <a:ea typeface="Meiryo UI" pitchFamily="34" charset="-122"/>
                          <a:cs typeface="Meiryo UI" pitchFamily="34" charset="-120"/>
                        </a:rPr>
                        <a:t>U5 口腔健康アウトカム改善率</a:t>
                      </a:r>
                      <a:endParaRPr lang="en-US" sz="84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90" dirty="0">
                          <a:solidFill>
                            <a:srgbClr val="1F2733"/>
                          </a:solidFill>
                          <a:latin typeface="Meiryo UI" pitchFamily="34" charset="0"/>
                          <a:ea typeface="Meiryo UI" pitchFamily="34" charset="-122"/>
                          <a:cs typeface="Meiryo UI" pitchFamily="34" charset="-120"/>
                        </a:rPr>
                        <a:t>製品・習慣プログラム参加者の口腔状態の事前事後改善比率（診断×歯科連携×調査）</a:t>
                      </a:r>
                      <a:endParaRPr lang="en-US" sz="79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20" b="1" dirty="0">
                          <a:solidFill>
                            <a:srgbClr val="0F5E87"/>
                          </a:solidFill>
                          <a:latin typeface="Meiryo UI" pitchFamily="34" charset="0"/>
                          <a:ea typeface="Meiryo UI" pitchFamily="34" charset="-122"/>
                          <a:cs typeface="Meiryo UI" pitchFamily="34" charset="-120"/>
                        </a:rPr>
                        <a:t>テーマ2</a:t>
                      </a:r>
                      <a:endParaRPr lang="en-US" sz="82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90" dirty="0">
                          <a:solidFill>
                            <a:srgbClr val="1F2733"/>
                          </a:solidFill>
                          <a:latin typeface="Meiryo UI" pitchFamily="34" charset="0"/>
                          <a:ea typeface="Meiryo UI" pitchFamily="34" charset="-122"/>
                          <a:cs typeface="Meiryo UI" pitchFamily="34" charset="-120"/>
                        </a:rPr>
                        <a:t>枝2（「健康の成果に責任を持つ会社」への転換の証明）</a:t>
                      </a:r>
                      <a:endParaRPr lang="en-US" sz="79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40" b="1" dirty="0">
                          <a:solidFill>
                            <a:srgbClr val="C8102E"/>
                          </a:solidFill>
                          <a:latin typeface="Meiryo UI" pitchFamily="34" charset="0"/>
                          <a:ea typeface="Meiryo UI" pitchFamily="34" charset="-122"/>
                          <a:cs typeface="Meiryo UI" pitchFamily="34" charset="-120"/>
                        </a:rPr>
                        <a:t>高</a:t>
                      </a:r>
                      <a:endParaRPr lang="en-US" sz="84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r h="475488">
                <a:tc>
                  <a:txBody>
                    <a:bodyPr/>
                    <a:lstStyle/>
                    <a:p>
                      <a:pPr indent="0" marL="0">
                        <a:buNone/>
                      </a:pPr>
                      <a:r>
                        <a:rPr lang="en-US" sz="840" b="1" dirty="0">
                          <a:solidFill>
                            <a:srgbClr val="16233A"/>
                          </a:solidFill>
                          <a:latin typeface="Meiryo UI" pitchFamily="34" charset="0"/>
                          <a:ea typeface="Meiryo UI" pitchFamily="34" charset="-122"/>
                          <a:cs typeface="Meiryo UI" pitchFamily="34" charset="-120"/>
                        </a:rPr>
                        <a:t>U6 特売依存度（値引き率）の低下</a:t>
                      </a:r>
                      <a:endParaRPr lang="en-US" sz="84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90" dirty="0">
                          <a:solidFill>
                            <a:srgbClr val="1F2733"/>
                          </a:solidFill>
                          <a:latin typeface="Meiryo UI" pitchFamily="34" charset="0"/>
                          <a:ea typeface="Meiryo UI" pitchFamily="34" charset="-122"/>
                          <a:cs typeface="Meiryo UI" pitchFamily="34" charset="-120"/>
                        </a:rPr>
                        <a:t>重点小売×オーラルケアの売上に占める値引き・特売原資の比率。共同事業への転換が進んだ分だけ構造的に下がる</a:t>
                      </a:r>
                      <a:endParaRPr lang="en-US" sz="79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20" b="1" dirty="0">
                          <a:solidFill>
                            <a:srgbClr val="2C5F2D"/>
                          </a:solidFill>
                          <a:latin typeface="Meiryo UI" pitchFamily="34" charset="0"/>
                          <a:ea typeface="Meiryo UI" pitchFamily="34" charset="-122"/>
                          <a:cs typeface="Meiryo UI" pitchFamily="34" charset="-120"/>
                        </a:rPr>
                        <a:t>テーマ3・5</a:t>
                      </a:r>
                      <a:endParaRPr lang="en-US" sz="82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indent="0" marL="0">
                        <a:buNone/>
                      </a:pPr>
                      <a:r>
                        <a:rPr lang="en-US" sz="790" dirty="0">
                          <a:solidFill>
                            <a:srgbClr val="1F2733"/>
                          </a:solidFill>
                          <a:latin typeface="Meiryo UI" pitchFamily="34" charset="0"/>
                          <a:ea typeface="Meiryo UI" pitchFamily="34" charset="-122"/>
                          <a:cs typeface="Meiryo UI" pitchFamily="34" charset="-120"/>
                        </a:rPr>
                        <a:t>KGI①利益率に直結。「値引きからの脱却」を宣言でなく金額で証明する指標</a:t>
                      </a:r>
                      <a:endParaRPr lang="en-US" sz="79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c>
                  <a:txBody>
                    <a:bodyPr/>
                    <a:lstStyle/>
                    <a:p>
                      <a:pPr algn="ctr" indent="0" marL="0">
                        <a:buNone/>
                      </a:pPr>
                      <a:r>
                        <a:rPr lang="en-US" sz="840" b="1" dirty="0">
                          <a:solidFill>
                            <a:srgbClr val="C8102E"/>
                          </a:solidFill>
                          <a:latin typeface="Meiryo UI" pitchFamily="34" charset="0"/>
                          <a:ea typeface="Meiryo UI" pitchFamily="34" charset="-122"/>
                          <a:cs typeface="Meiryo UI" pitchFamily="34" charset="-120"/>
                        </a:rPr>
                        <a:t>中</a:t>
                      </a:r>
                      <a:endParaRPr lang="en-US" sz="840" dirty="0">
                        <a:latin typeface="Meiryo UI" charset="0"/>
                        <a:ea typeface="Meiryo UI" charset="0"/>
                        <a:cs typeface="Meiryo UI" charset="0"/>
                      </a:endParaRPr>
                    </a:p>
                  </a:txBody>
                  <a:tcPr marL="45720" marR="4572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tcPr>
                </a:tc>
              </a:tr>
            </a:tbl>
          </a:graphicData>
        </a:graphic>
      </p:graphicFrame>
      <p:sp>
        <p:nvSpPr>
          <p:cNvPr id="14" name="Shape 11"/>
          <p:cNvSpPr/>
          <p:nvPr/>
        </p:nvSpPr>
        <p:spPr>
          <a:xfrm>
            <a:off x="502920" y="6126480"/>
            <a:ext cx="11185855" cy="365760"/>
          </a:xfrm>
          <a:prstGeom prst="rect">
            <a:avLst/>
          </a:prstGeom>
          <a:solidFill>
            <a:srgbClr val="16233A"/>
          </a:solidFill>
          <a:ln/>
        </p:spPr>
      </p:sp>
      <p:sp>
        <p:nvSpPr>
          <p:cNvPr id="15" name="Text 12"/>
          <p:cNvSpPr/>
          <p:nvPr/>
        </p:nvSpPr>
        <p:spPr>
          <a:xfrm>
            <a:off x="731520" y="6163056"/>
            <a:ext cx="10728655" cy="292608"/>
          </a:xfrm>
          <a:prstGeom prst="rect">
            <a:avLst/>
          </a:prstGeom>
          <a:noFill/>
          <a:ln/>
        </p:spPr>
        <p:txBody>
          <a:bodyPr wrap="square" lIns="0" tIns="0" rIns="0" bIns="0" rtlCol="0" anchor="ctr"/>
          <a:lstStyle/>
          <a:p>
            <a:pPr indent="0" marL="0">
              <a:lnSpc>
                <a:spcPct val="116000"/>
              </a:lnSpc>
              <a:buNone/>
            </a:pPr>
            <a:r>
              <a:rPr lang="en-US" sz="1030" b="1" dirty="0">
                <a:solidFill>
                  <a:srgbClr val="FFFFFF"/>
                </a:solidFill>
                <a:latin typeface="Meiryo UI" pitchFamily="34" charset="0"/>
                <a:ea typeface="Meiryo UI" pitchFamily="34" charset="-122"/>
                <a:cs typeface="Meiryo UI" pitchFamily="34" charset="-120"/>
              </a:rPr>
              <a:t>運用：</a:t>
            </a:r>
            <a:pPr indent="0" marL="0">
              <a:lnSpc>
                <a:spcPct val="116000"/>
              </a:lnSpc>
              <a:buNone/>
            </a:pPr>
            <a:r>
              <a:rPr lang="en-US" sz="1030" dirty="0">
                <a:solidFill>
                  <a:srgbClr val="D7DFEA"/>
                </a:solidFill>
                <a:latin typeface="Meiryo UI" pitchFamily="34" charset="0"/>
                <a:ea typeface="Meiryo UI" pitchFamily="34" charset="-122"/>
                <a:cs typeface="Meiryo UI" pitchFamily="34" charset="-120"/>
              </a:rPr>
              <a:t>現場KPIは四半期・ユニークKPIは半期でオーナー役員がレビュー。北極星に接続しない施策の追加は原則却下 ― 手段の目的化を防ぐ。</a:t>
            </a:r>
            <a:endParaRPr lang="en-US" sz="1030" dirty="0"/>
          </a:p>
        </p:txBody>
      </p:sp>
      <p:sp>
        <p:nvSpPr>
          <p:cNvPr id="16" name="Text 13"/>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次のアクション</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次回デジタル戦略会議への投げかけ ― 課題と施策候補のブレークダウン</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論理の鎖：接点シフト（前提2）→ 真因（前提3）→ 5つの経営テーマ（How）→ 施策候補8＋1。会議では「決めること」と「持ち帰ること」を分けて諮る</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Text 4"/>
          <p:cNvSpPr/>
          <p:nvPr/>
        </p:nvSpPr>
        <p:spPr>
          <a:xfrm>
            <a:off x="502920" y="1499616"/>
            <a:ext cx="7315200" cy="274320"/>
          </a:xfrm>
          <a:prstGeom prst="rect">
            <a:avLst/>
          </a:prstGeom>
          <a:noFill/>
          <a:ln/>
        </p:spPr>
        <p:txBody>
          <a:bodyPr wrap="square" lIns="0" tIns="0" rIns="0" bIns="0" rtlCol="0" anchor="ctr"/>
          <a:lstStyle/>
          <a:p>
            <a:pPr indent="0" marL="0">
              <a:buNone/>
            </a:pPr>
            <a:r>
              <a:rPr lang="en-US" sz="1200" b="1" dirty="0">
                <a:solidFill>
                  <a:srgbClr val="16233A"/>
                </a:solidFill>
                <a:latin typeface="Meiryo UI" pitchFamily="34" charset="0"/>
                <a:ea typeface="Meiryo UI" pitchFamily="34" charset="-122"/>
                <a:cs typeface="Meiryo UI" pitchFamily="34" charset="-120"/>
              </a:rPr>
              <a:t>会議で決めていただきたいこと（3つ）</a:t>
            </a:r>
            <a:endParaRPr lang="en-US" sz="1200" dirty="0"/>
          </a:p>
        </p:txBody>
      </p:sp>
      <p:sp>
        <p:nvSpPr>
          <p:cNvPr id="7" name="Shape 5"/>
          <p:cNvSpPr/>
          <p:nvPr/>
        </p:nvSpPr>
        <p:spPr>
          <a:xfrm>
            <a:off x="502920" y="1810512"/>
            <a:ext cx="11185855" cy="896112"/>
          </a:xfrm>
          <a:prstGeom prst="rect">
            <a:avLst/>
          </a:prstGeom>
          <a:solidFill>
            <a:srgbClr val="FBECEC"/>
          </a:solidFill>
          <a:ln w="9525">
            <a:solidFill>
              <a:srgbClr val="E5B8BE"/>
            </a:solidFill>
            <a:prstDash val="solid"/>
          </a:ln>
        </p:spPr>
      </p:sp>
      <p:sp>
        <p:nvSpPr>
          <p:cNvPr id="8" name="Shape 6"/>
          <p:cNvSpPr/>
          <p:nvPr/>
        </p:nvSpPr>
        <p:spPr>
          <a:xfrm>
            <a:off x="502920" y="1810512"/>
            <a:ext cx="64008" cy="896112"/>
          </a:xfrm>
          <a:prstGeom prst="rect">
            <a:avLst/>
          </a:prstGeom>
          <a:solidFill>
            <a:srgbClr val="C8102E"/>
          </a:solidFill>
          <a:ln/>
        </p:spPr>
      </p:sp>
      <p:sp>
        <p:nvSpPr>
          <p:cNvPr id="9" name="Text 7"/>
          <p:cNvSpPr/>
          <p:nvPr/>
        </p:nvSpPr>
        <p:spPr>
          <a:xfrm>
            <a:off x="685800" y="1874520"/>
            <a:ext cx="10789920" cy="274320"/>
          </a:xfrm>
          <a:prstGeom prst="rect">
            <a:avLst/>
          </a:prstGeom>
          <a:noFill/>
          <a:ln/>
        </p:spPr>
        <p:txBody>
          <a:bodyPr wrap="square" lIns="0" tIns="0" rIns="0" bIns="0" rtlCol="0" anchor="ctr"/>
          <a:lstStyle/>
          <a:p>
            <a:pPr indent="0" marL="0">
              <a:buNone/>
            </a:pPr>
            <a:r>
              <a:rPr lang="en-US" sz="1050" b="1" dirty="0">
                <a:solidFill>
                  <a:srgbClr val="C8102E"/>
                </a:solidFill>
                <a:latin typeface="Meiryo UI" pitchFamily="34" charset="0"/>
                <a:ea typeface="Meiryo UI" pitchFamily="34" charset="-122"/>
                <a:cs typeface="Meiryo UI" pitchFamily="34" charset="-120"/>
              </a:rPr>
              <a:t>決定1　</a:t>
            </a:r>
            <a:pPr indent="0" marL="0">
              <a:buNone/>
            </a:pPr>
            <a:r>
              <a:rPr lang="en-US" sz="1050" b="1" dirty="0">
                <a:solidFill>
                  <a:srgbClr val="16233A"/>
                </a:solidFill>
                <a:latin typeface="Meiryo UI" pitchFamily="34" charset="0"/>
                <a:ea typeface="Meiryo UI" pitchFamily="34" charset="-122"/>
                <a:cs typeface="Meiryo UI" pitchFamily="34" charset="-120"/>
              </a:rPr>
              <a:t>国内BU変革プロジェクトの組成と専任リーダーの人選</a:t>
            </a:r>
            <a:endParaRPr lang="en-US" sz="1050" dirty="0"/>
          </a:p>
        </p:txBody>
      </p:sp>
      <p:sp>
        <p:nvSpPr>
          <p:cNvPr id="10" name="Text 8"/>
          <p:cNvSpPr/>
          <p:nvPr/>
        </p:nvSpPr>
        <p:spPr>
          <a:xfrm>
            <a:off x="685800" y="2176272"/>
            <a:ext cx="10881360" cy="493776"/>
          </a:xfrm>
          <a:prstGeom prst="rect">
            <a:avLst/>
          </a:prstGeom>
          <a:noFill/>
          <a:ln/>
        </p:spPr>
        <p:txBody>
          <a:bodyPr wrap="square" lIns="0" tIns="0" rIns="0" bIns="0" rtlCol="0" anchor="ctr"/>
          <a:lstStyle/>
          <a:p>
            <a:pPr indent="0" marL="0">
              <a:lnSpc>
                <a:spcPct val="112000"/>
              </a:lnSpc>
              <a:buNone/>
            </a:pPr>
            <a:r>
              <a:rPr lang="en-US" sz="890" dirty="0">
                <a:solidFill>
                  <a:srgbClr val="1F2733"/>
                </a:solidFill>
                <a:latin typeface="Meiryo UI" pitchFamily="34" charset="0"/>
                <a:ea typeface="Meiryo UI" pitchFamily="34" charset="-122"/>
                <a:cs typeface="Meiryo UI" pitchFamily="34" charset="-120"/>
              </a:rPr>
              <a:t>候補者の要件（小売との信頼×データ理解×社内実績）と選出方法（指名＋社内公募）を決め、FY26内に発足させる。決めないと：施策は資料のまま、今のフレームから出られない</a:t>
            </a:r>
            <a:endParaRPr lang="en-US" sz="890" dirty="0"/>
          </a:p>
        </p:txBody>
      </p:sp>
      <p:sp>
        <p:nvSpPr>
          <p:cNvPr id="11" name="Shape 9"/>
          <p:cNvSpPr/>
          <p:nvPr/>
        </p:nvSpPr>
        <p:spPr>
          <a:xfrm>
            <a:off x="502920" y="2798064"/>
            <a:ext cx="11185855" cy="896112"/>
          </a:xfrm>
          <a:prstGeom prst="rect">
            <a:avLst/>
          </a:prstGeom>
          <a:solidFill>
            <a:srgbClr val="FBECEC"/>
          </a:solidFill>
          <a:ln w="9525">
            <a:solidFill>
              <a:srgbClr val="E5B8BE"/>
            </a:solidFill>
            <a:prstDash val="solid"/>
          </a:ln>
        </p:spPr>
      </p:sp>
      <p:sp>
        <p:nvSpPr>
          <p:cNvPr id="12" name="Shape 10"/>
          <p:cNvSpPr/>
          <p:nvPr/>
        </p:nvSpPr>
        <p:spPr>
          <a:xfrm>
            <a:off x="502920" y="2798064"/>
            <a:ext cx="64008" cy="896112"/>
          </a:xfrm>
          <a:prstGeom prst="rect">
            <a:avLst/>
          </a:prstGeom>
          <a:solidFill>
            <a:srgbClr val="C8102E"/>
          </a:solidFill>
          <a:ln/>
        </p:spPr>
      </p:sp>
      <p:sp>
        <p:nvSpPr>
          <p:cNvPr id="13" name="Text 11"/>
          <p:cNvSpPr/>
          <p:nvPr/>
        </p:nvSpPr>
        <p:spPr>
          <a:xfrm>
            <a:off x="685800" y="2862072"/>
            <a:ext cx="10789920" cy="274320"/>
          </a:xfrm>
          <a:prstGeom prst="rect">
            <a:avLst/>
          </a:prstGeom>
          <a:noFill/>
          <a:ln/>
        </p:spPr>
        <p:txBody>
          <a:bodyPr wrap="square" lIns="0" tIns="0" rIns="0" bIns="0" rtlCol="0" anchor="ctr"/>
          <a:lstStyle/>
          <a:p>
            <a:pPr indent="0" marL="0">
              <a:buNone/>
            </a:pPr>
            <a:r>
              <a:rPr lang="en-US" sz="1050" b="1" dirty="0">
                <a:solidFill>
                  <a:srgbClr val="C8102E"/>
                </a:solidFill>
                <a:latin typeface="Meiryo UI" pitchFamily="34" charset="0"/>
                <a:ea typeface="Meiryo UI" pitchFamily="34" charset="-122"/>
                <a:cs typeface="Meiryo UI" pitchFamily="34" charset="-120"/>
              </a:rPr>
              <a:t>決定2　</a:t>
            </a:r>
            <a:pPr indent="0" marL="0">
              <a:buNone/>
            </a:pPr>
            <a:r>
              <a:rPr lang="en-US" sz="1050" b="1" dirty="0">
                <a:solidFill>
                  <a:srgbClr val="16233A"/>
                </a:solidFill>
                <a:latin typeface="Meiryo UI" pitchFamily="34" charset="0"/>
                <a:ea typeface="Meiryo UI" pitchFamily="34" charset="-122"/>
                <a:cs typeface="Meiryo UI" pitchFamily="34" charset="-120"/>
              </a:rPr>
              <a:t>AIEO初回実測の即時開始と月次報告の定例化</a:t>
            </a:r>
            <a:endParaRPr lang="en-US" sz="1050" dirty="0"/>
          </a:p>
        </p:txBody>
      </p:sp>
      <p:sp>
        <p:nvSpPr>
          <p:cNvPr id="14" name="Text 12"/>
          <p:cNvSpPr/>
          <p:nvPr/>
        </p:nvSpPr>
        <p:spPr>
          <a:xfrm>
            <a:off x="685800" y="3163824"/>
            <a:ext cx="10881360" cy="493776"/>
          </a:xfrm>
          <a:prstGeom prst="rect">
            <a:avLst/>
          </a:prstGeom>
          <a:noFill/>
          <a:ln/>
        </p:spPr>
        <p:txBody>
          <a:bodyPr wrap="square" lIns="0" tIns="0" rIns="0" bIns="0" rtlCol="0" anchor="ctr"/>
          <a:lstStyle/>
          <a:p>
            <a:pPr indent="0" marL="0">
              <a:lnSpc>
                <a:spcPct val="112000"/>
              </a:lnSpc>
              <a:buNone/>
            </a:pPr>
            <a:r>
              <a:rPr lang="en-US" sz="890" dirty="0">
                <a:solidFill>
                  <a:srgbClr val="1F2733"/>
                </a:solidFill>
                <a:latin typeface="Meiryo UI" pitchFamily="34" charset="0"/>
                <a:ea typeface="Meiryo UI" pitchFamily="34" charset="-122"/>
                <a:cs typeface="Meiryo UI" pitchFamily="34" charset="-120"/>
              </a:rPr>
              <a:t>接点シフト試算（④AI相談25pt）を仮説のまま放置せず、自社の実測値に置き換える。花王はIR公表段階 ― 90日で初回報告。費用は小さく、危機感が数字になる</a:t>
            </a:r>
            <a:endParaRPr lang="en-US" sz="890" dirty="0"/>
          </a:p>
        </p:txBody>
      </p:sp>
      <p:sp>
        <p:nvSpPr>
          <p:cNvPr id="15" name="Shape 13"/>
          <p:cNvSpPr/>
          <p:nvPr/>
        </p:nvSpPr>
        <p:spPr>
          <a:xfrm>
            <a:off x="502920" y="3785616"/>
            <a:ext cx="11185855" cy="896112"/>
          </a:xfrm>
          <a:prstGeom prst="rect">
            <a:avLst/>
          </a:prstGeom>
          <a:solidFill>
            <a:srgbClr val="FBECEC"/>
          </a:solidFill>
          <a:ln w="9525">
            <a:solidFill>
              <a:srgbClr val="E5B8BE"/>
            </a:solidFill>
            <a:prstDash val="solid"/>
          </a:ln>
        </p:spPr>
      </p:sp>
      <p:sp>
        <p:nvSpPr>
          <p:cNvPr id="16" name="Shape 14"/>
          <p:cNvSpPr/>
          <p:nvPr/>
        </p:nvSpPr>
        <p:spPr>
          <a:xfrm>
            <a:off x="502920" y="3785616"/>
            <a:ext cx="64008" cy="896112"/>
          </a:xfrm>
          <a:prstGeom prst="rect">
            <a:avLst/>
          </a:prstGeom>
          <a:solidFill>
            <a:srgbClr val="C8102E"/>
          </a:solidFill>
          <a:ln/>
        </p:spPr>
      </p:sp>
      <p:sp>
        <p:nvSpPr>
          <p:cNvPr id="17" name="Text 15"/>
          <p:cNvSpPr/>
          <p:nvPr/>
        </p:nvSpPr>
        <p:spPr>
          <a:xfrm>
            <a:off x="685800" y="3849624"/>
            <a:ext cx="10789920" cy="274320"/>
          </a:xfrm>
          <a:prstGeom prst="rect">
            <a:avLst/>
          </a:prstGeom>
          <a:noFill/>
          <a:ln/>
        </p:spPr>
        <p:txBody>
          <a:bodyPr wrap="square" lIns="0" tIns="0" rIns="0" bIns="0" rtlCol="0" anchor="ctr"/>
          <a:lstStyle/>
          <a:p>
            <a:pPr indent="0" marL="0">
              <a:buNone/>
            </a:pPr>
            <a:r>
              <a:rPr lang="en-US" sz="1050" b="1" dirty="0">
                <a:solidFill>
                  <a:srgbClr val="C8102E"/>
                </a:solidFill>
                <a:latin typeface="Meiryo UI" pitchFamily="34" charset="0"/>
                <a:ea typeface="Meiryo UI" pitchFamily="34" charset="-122"/>
                <a:cs typeface="Meiryo UI" pitchFamily="34" charset="-120"/>
              </a:rPr>
              <a:t>決定3　</a:t>
            </a:r>
            <a:pPr indent="0" marL="0">
              <a:buNone/>
            </a:pPr>
            <a:r>
              <a:rPr lang="en-US" sz="1050" b="1" dirty="0">
                <a:solidFill>
                  <a:srgbClr val="16233A"/>
                </a:solidFill>
                <a:latin typeface="Meiryo UI" pitchFamily="34" charset="0"/>
                <a:ea typeface="Meiryo UI" pitchFamily="34" charset="-122"/>
                <a:cs typeface="Meiryo UI" pitchFamily="34" charset="-120"/>
              </a:rPr>
              <a:t>テーマ別役員オーナーの任命</a:t>
            </a:r>
            <a:endParaRPr lang="en-US" sz="1050" dirty="0"/>
          </a:p>
        </p:txBody>
      </p:sp>
      <p:sp>
        <p:nvSpPr>
          <p:cNvPr id="18" name="Text 16"/>
          <p:cNvSpPr/>
          <p:nvPr/>
        </p:nvSpPr>
        <p:spPr>
          <a:xfrm>
            <a:off x="685800" y="4151376"/>
            <a:ext cx="10881360" cy="493776"/>
          </a:xfrm>
          <a:prstGeom prst="rect">
            <a:avLst/>
          </a:prstGeom>
          <a:noFill/>
          <a:ln/>
        </p:spPr>
        <p:txBody>
          <a:bodyPr wrap="square" lIns="0" tIns="0" rIns="0" bIns="0" rtlCol="0" anchor="ctr"/>
          <a:lstStyle/>
          <a:p>
            <a:pPr indent="0" marL="0">
              <a:lnSpc>
                <a:spcPct val="112000"/>
              </a:lnSpc>
              <a:buNone/>
            </a:pPr>
            <a:r>
              <a:rPr lang="en-US" sz="890" dirty="0">
                <a:solidFill>
                  <a:srgbClr val="1F2733"/>
                </a:solidFill>
                <a:latin typeface="Meiryo UI" pitchFamily="34" charset="0"/>
                <a:ea typeface="Meiryo UI" pitchFamily="34" charset="-122"/>
                <a:cs typeface="Meiryo UI" pitchFamily="34" charset="-120"/>
              </a:rPr>
              <a:t>5つの経営テーマに役員オーナーを1名ずつ置き、施策ごとの撤退基準と検証計画をセットで承認する。過去の新規投資（部分最適・検証不在）を繰り返さないための前提であり、以降の投資判断の土台になる</a:t>
            </a:r>
            <a:endParaRPr lang="en-US" sz="890" dirty="0"/>
          </a:p>
        </p:txBody>
      </p:sp>
      <p:sp>
        <p:nvSpPr>
          <p:cNvPr id="19" name="Text 17"/>
          <p:cNvSpPr/>
          <p:nvPr/>
        </p:nvSpPr>
        <p:spPr>
          <a:xfrm>
            <a:off x="502920" y="4846320"/>
            <a:ext cx="7315200" cy="274320"/>
          </a:xfrm>
          <a:prstGeom prst="rect">
            <a:avLst/>
          </a:prstGeom>
          <a:noFill/>
          <a:ln/>
        </p:spPr>
        <p:txBody>
          <a:bodyPr wrap="square" lIns="0" tIns="0" rIns="0" bIns="0" rtlCol="0" anchor="ctr"/>
          <a:lstStyle/>
          <a:p>
            <a:pPr indent="0" marL="0">
              <a:buNone/>
            </a:pPr>
            <a:r>
              <a:rPr lang="en-US" sz="1200" b="1" dirty="0">
                <a:solidFill>
                  <a:srgbClr val="16233A"/>
                </a:solidFill>
                <a:latin typeface="Meiryo UI" pitchFamily="34" charset="0"/>
                <a:ea typeface="Meiryo UI" pitchFamily="34" charset="-122"/>
                <a:cs typeface="Meiryo UI" pitchFamily="34" charset="-120"/>
              </a:rPr>
              <a:t>持ち帰って検討いただくこと（論点）</a:t>
            </a:r>
            <a:endParaRPr lang="en-US" sz="1200" dirty="0"/>
          </a:p>
        </p:txBody>
      </p:sp>
      <p:sp>
        <p:nvSpPr>
          <p:cNvPr id="20" name="Shape 18"/>
          <p:cNvSpPr/>
          <p:nvPr/>
        </p:nvSpPr>
        <p:spPr>
          <a:xfrm>
            <a:off x="502920" y="5166360"/>
            <a:ext cx="11185855" cy="1234440"/>
          </a:xfrm>
          <a:prstGeom prst="rect">
            <a:avLst/>
          </a:prstGeom>
          <a:solidFill>
            <a:srgbClr val="F4F6F9"/>
          </a:solidFill>
          <a:ln w="9525">
            <a:solidFill>
              <a:srgbClr val="D9DEE6"/>
            </a:solidFill>
            <a:prstDash val="solid"/>
          </a:ln>
        </p:spPr>
      </p:sp>
      <p:sp>
        <p:nvSpPr>
          <p:cNvPr id="21" name="Text 19"/>
          <p:cNvSpPr/>
          <p:nvPr/>
        </p:nvSpPr>
        <p:spPr>
          <a:xfrm>
            <a:off x="685800" y="5266944"/>
            <a:ext cx="10820095" cy="1078992"/>
          </a:xfrm>
          <a:prstGeom prst="rect">
            <a:avLst/>
          </a:prstGeom>
          <a:noFill/>
          <a:ln/>
        </p:spPr>
        <p:txBody>
          <a:bodyPr wrap="square" lIns="0" tIns="0" rIns="0" bIns="0" rtlCol="0" anchor="t"/>
          <a:lstStyle/>
          <a:p>
            <a:pPr marL="127000" indent="-127000">
              <a:spcAft>
                <a:spcPts val="500"/>
              </a:spcAft>
              <a:buSzPct val="100000"/>
              <a:buChar char="•"/>
            </a:pPr>
            <a:r>
              <a:rPr lang="en-US" sz="920" dirty="0">
                <a:solidFill>
                  <a:srgbClr val="1F2733"/>
                </a:solidFill>
                <a:latin typeface="Meiryo UI" pitchFamily="34" charset="0"/>
                <a:ea typeface="Meiryo UI" pitchFamily="34" charset="-122"/>
                <a:cs typeface="Meiryo UI" pitchFamily="34" charset="-120"/>
              </a:rPr>
              <a:t>接点シフト試算モデルの妥当性 ― 各BUの実感・データとの突き合わせ（数値は仮説であり、否定材料も歓迎）</a:t>
            </a:r>
            <a:endParaRPr lang="en-US" sz="920" dirty="0"/>
          </a:p>
          <a:p>
            <a:pPr marL="127000" indent="-127000">
              <a:spcAft>
                <a:spcPts val="500"/>
              </a:spcAft>
              <a:buSzPct val="100000"/>
              <a:buChar char="•"/>
            </a:pPr>
            <a:r>
              <a:rPr lang="en-US" sz="920" dirty="0">
                <a:solidFill>
                  <a:srgbClr val="1F2733"/>
                </a:solidFill>
                <a:latin typeface="Meiryo UI" pitchFamily="34" charset="0"/>
                <a:ea typeface="Meiryo UI" pitchFamily="34" charset="-122"/>
                <a:cs typeface="Meiryo UI" pitchFamily="34" charset="-120"/>
              </a:rPr>
              <a:t>顧客資本KPIの定義 ― B層（共同事業件数・増分粗利・特売依存度）とE層（推奨起点売上）の測り方と、営業の負担にならない記録方法</a:t>
            </a:r>
            <a:endParaRPr lang="en-US" sz="920" dirty="0"/>
          </a:p>
          <a:p>
            <a:pPr marL="127000" indent="-127000">
              <a:spcAft>
                <a:spcPts val="500"/>
              </a:spcAft>
              <a:buSzPct val="100000"/>
              <a:buChar char="•"/>
            </a:pPr>
            <a:r>
              <a:rPr lang="en-US" sz="920" dirty="0">
                <a:solidFill>
                  <a:srgbClr val="1F2733"/>
                </a:solidFill>
                <a:latin typeface="Meiryo UI" pitchFamily="34" charset="0"/>
                <a:ea typeface="Meiryo UI" pitchFamily="34" charset="-122"/>
                <a:cs typeface="Meiryo UI" pitchFamily="34" charset="-120"/>
              </a:rPr>
              <a:t>施策候補8＋1の優先順位 ― 5テーマ×施策マップ（本資料6〜13ページ）への意見。特に洗剤等の標準品の扱い（撤退ラインのROIC基準）</a:t>
            </a:r>
            <a:endParaRPr lang="en-US" sz="920" dirty="0"/>
          </a:p>
          <a:p>
            <a:pPr marL="127000" indent="-127000">
              <a:spcAft>
                <a:spcPts val="500"/>
              </a:spcAft>
              <a:buSzPct val="100000"/>
              <a:buChar char="•"/>
            </a:pPr>
            <a:r>
              <a:rPr lang="en-US" sz="920" dirty="0">
                <a:solidFill>
                  <a:srgbClr val="1F2733"/>
                </a:solidFill>
                <a:latin typeface="Meiryo UI" pitchFamily="34" charset="0"/>
                <a:ea typeface="Meiryo UI" pitchFamily="34" charset="-122"/>
                <a:cs typeface="Meiryo UI" pitchFamily="34" charset="-120"/>
              </a:rPr>
              <a:t>GCP統合基盤・Oral Evidence Hubの投資規模と担当部署 ― 外部委託か内製かを含め、FY27公開の実現可能性</a:t>
            </a:r>
            <a:endParaRPr lang="en-US" sz="920" dirty="0"/>
          </a:p>
          <a:p>
            <a:pPr marL="127000" indent="-127000">
              <a:spcAft>
                <a:spcPts val="500"/>
              </a:spcAft>
              <a:buSzPct val="100000"/>
              <a:buChar char="•"/>
            </a:pPr>
            <a:r>
              <a:rPr lang="en-US" sz="920" dirty="0">
                <a:solidFill>
                  <a:srgbClr val="1F2733"/>
                </a:solidFill>
                <a:latin typeface="Meiryo UI" pitchFamily="34" charset="0"/>
                <a:ea typeface="Meiryo UI" pitchFamily="34" charset="-122"/>
                <a:cs typeface="Meiryo UI" pitchFamily="34" charset="-120"/>
              </a:rPr>
              <a:t>薬機法・個人情報保護の確認体制 ― 歯科連携データ活用の法務論点（B2B2C・LION ID）を先行タスク化する座組み</a:t>
            </a:r>
            <a:endParaRPr lang="en-US" sz="920" dirty="0"/>
          </a:p>
        </p:txBody>
      </p:sp>
      <p:sp>
        <p:nvSpPr>
          <p:cNvPr id="22" name="Text 20"/>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indent="0" marL="0">
              <a:buNone/>
            </a:pPr>
            <a:r>
              <a:rPr lang="en-US" sz="1050" b="1" spc="100" kern="0" dirty="0">
                <a:solidFill>
                  <a:srgbClr val="C8102E"/>
                </a:solidFill>
                <a:latin typeface="Meiryo UI" pitchFamily="34" charset="0"/>
                <a:ea typeface="Meiryo UI" pitchFamily="34" charset="-122"/>
                <a:cs typeface="Meiryo UI" pitchFamily="34" charset="-120"/>
              </a:rPr>
              <a:t>付録</a:t>
            </a:r>
            <a:endParaRPr lang="en-US" sz="1050" dirty="0"/>
          </a:p>
        </p:txBody>
      </p:sp>
      <p:sp>
        <p:nvSpPr>
          <p:cNvPr id="3" name="Text 1"/>
          <p:cNvSpPr/>
          <p:nvPr/>
        </p:nvSpPr>
        <p:spPr>
          <a:xfrm>
            <a:off x="502920" y="530352"/>
            <a:ext cx="11185855" cy="475488"/>
          </a:xfrm>
          <a:prstGeom prst="rect">
            <a:avLst/>
          </a:prstGeom>
          <a:noFill/>
          <a:ln/>
        </p:spPr>
        <p:txBody>
          <a:bodyPr wrap="square" lIns="0" tIns="0" rIns="0" bIns="0" rtlCol="0" anchor="ctr"/>
          <a:lstStyle/>
          <a:p>
            <a:pPr indent="0" marL="0">
              <a:buNone/>
            </a:pPr>
            <a:r>
              <a:rPr lang="en-US" sz="1950" b="1" dirty="0">
                <a:solidFill>
                  <a:srgbClr val="16233A"/>
                </a:solidFill>
                <a:latin typeface="Meiryo UI" pitchFamily="34" charset="0"/>
                <a:ea typeface="Meiryo UI" pitchFamily="34" charset="-122"/>
                <a:cs typeface="Meiryo UI" pitchFamily="34" charset="-120"/>
              </a:rPr>
              <a:t>接点シフト試算の計算方法と出典 ― 検証・反証可能な形で開示する</a:t>
            </a:r>
            <a:endParaRPr lang="en-US" sz="1950" dirty="0"/>
          </a:p>
        </p:txBody>
      </p:sp>
      <p:sp>
        <p:nvSpPr>
          <p:cNvPr id="4" name="Text 2"/>
          <p:cNvSpPr/>
          <p:nvPr/>
        </p:nvSpPr>
        <p:spPr>
          <a:xfrm>
            <a:off x="502920" y="1024128"/>
            <a:ext cx="11185855" cy="384048"/>
          </a:xfrm>
          <a:prstGeom prst="rect">
            <a:avLst/>
          </a:prstGeom>
          <a:noFill/>
          <a:ln/>
        </p:spPr>
        <p:txBody>
          <a:bodyPr wrap="square" lIns="0" tIns="0" rIns="0" bIns="0" rtlCol="0" anchor="ctr"/>
          <a:lstStyle/>
          <a:p>
            <a:pPr indent="0" marL="0">
              <a:buNone/>
            </a:pPr>
            <a:r>
              <a:rPr lang="en-US" sz="1150" dirty="0">
                <a:solidFill>
                  <a:srgbClr val="5A6472"/>
                </a:solidFill>
                <a:latin typeface="Meiryo UI" pitchFamily="34" charset="0"/>
                <a:ea typeface="Meiryo UI" pitchFamily="34" charset="-122"/>
                <a:cs typeface="Meiryo UI" pitchFamily="34" charset="-120"/>
              </a:rPr>
              <a:t>3ステップの計算をすべて開示する。仮定に異論があれば置き換えて再計算できる ― それがこの試算の信頼性の担保である</a:t>
            </a:r>
            <a:endParaRPr lang="en-US" sz="1150" dirty="0"/>
          </a:p>
        </p:txBody>
      </p:sp>
      <p:sp>
        <p:nvSpPr>
          <p:cNvPr id="5" name="Text 3"/>
          <p:cNvSpPr/>
          <p:nvPr/>
        </p:nvSpPr>
        <p:spPr>
          <a:xfrm>
            <a:off x="502920" y="6547104"/>
            <a:ext cx="6400800" cy="228600"/>
          </a:xfrm>
          <a:prstGeom prst="rect">
            <a:avLst/>
          </a:prstGeom>
          <a:noFill/>
          <a:ln/>
        </p:spPr>
        <p:txBody>
          <a:bodyPr wrap="square" lIns="0" tIns="0" rIns="0" bIns="0" rtlCol="0" anchor="ctr"/>
          <a:lstStyle/>
          <a:p>
            <a:pPr indent="0" marL="0">
              <a:buNone/>
            </a:pPr>
            <a:r>
              <a:rPr lang="en-US" sz="800" dirty="0">
                <a:solidFill>
                  <a:srgbClr val="9AA3AE"/>
                </a:solidFill>
                <a:latin typeface="Meiryo UI" pitchFamily="34" charset="0"/>
                <a:ea typeface="Meiryo UI" pitchFamily="34" charset="-122"/>
                <a:cs typeface="Meiryo UI" pitchFamily="34" charset="-120"/>
              </a:rPr>
              <a:t>ライオン 営業・マーケティングDX戦略 ― 経営テーマ起点の実行構想（討議用）</a:t>
            </a:r>
            <a:endParaRPr lang="en-US" sz="800" dirty="0"/>
          </a:p>
        </p:txBody>
      </p:sp>
      <p:sp>
        <p:nvSpPr>
          <p:cNvPr id="6" name="Shape 4"/>
          <p:cNvSpPr/>
          <p:nvPr/>
        </p:nvSpPr>
        <p:spPr>
          <a:xfrm>
            <a:off x="502920" y="1554480"/>
            <a:ext cx="11185855" cy="1078992"/>
          </a:xfrm>
          <a:prstGeom prst="rect">
            <a:avLst/>
          </a:prstGeom>
          <a:solidFill>
            <a:srgbClr val="EAF3F8"/>
          </a:solidFill>
          <a:ln w="9525">
            <a:solidFill>
              <a:srgbClr val="D9DEE6"/>
            </a:solidFill>
            <a:prstDash val="solid"/>
          </a:ln>
        </p:spPr>
      </p:sp>
      <p:sp>
        <p:nvSpPr>
          <p:cNvPr id="7" name="Shape 5"/>
          <p:cNvSpPr/>
          <p:nvPr/>
        </p:nvSpPr>
        <p:spPr>
          <a:xfrm>
            <a:off x="502920" y="1554480"/>
            <a:ext cx="64008" cy="1078992"/>
          </a:xfrm>
          <a:prstGeom prst="rect">
            <a:avLst/>
          </a:prstGeom>
          <a:solidFill>
            <a:srgbClr val="0F5E87"/>
          </a:solidFill>
          <a:ln/>
        </p:spPr>
      </p:sp>
      <p:sp>
        <p:nvSpPr>
          <p:cNvPr id="8" name="Text 6"/>
          <p:cNvSpPr/>
          <p:nvPr/>
        </p:nvSpPr>
        <p:spPr>
          <a:xfrm>
            <a:off x="685800" y="1618488"/>
            <a:ext cx="5486400" cy="274320"/>
          </a:xfrm>
          <a:prstGeom prst="rect">
            <a:avLst/>
          </a:prstGeom>
          <a:noFill/>
          <a:ln/>
        </p:spPr>
        <p:txBody>
          <a:bodyPr wrap="square" lIns="0" tIns="0" rIns="0" bIns="0" rtlCol="0" anchor="ctr"/>
          <a:lstStyle/>
          <a:p>
            <a:pPr indent="0" marL="0">
              <a:buNone/>
            </a:pPr>
            <a:r>
              <a:rPr lang="en-US" sz="1080" b="1" dirty="0">
                <a:solidFill>
                  <a:srgbClr val="0F5E87"/>
                </a:solidFill>
                <a:latin typeface="Meiryo UI" pitchFamily="34" charset="0"/>
                <a:ea typeface="Meiryo UI" pitchFamily="34" charset="-122"/>
                <a:cs typeface="Meiryo UI" pitchFamily="34" charset="-120"/>
              </a:rPr>
              <a:t>STEP 1  従来モデルの組み立て</a:t>
            </a:r>
            <a:endParaRPr lang="en-US" sz="1080" dirty="0"/>
          </a:p>
        </p:txBody>
      </p:sp>
      <p:sp>
        <p:nvSpPr>
          <p:cNvPr id="9" name="Text 7"/>
          <p:cNvSpPr/>
          <p:nvPr/>
        </p:nvSpPr>
        <p:spPr>
          <a:xfrm>
            <a:off x="685800" y="1920240"/>
            <a:ext cx="10881360" cy="676656"/>
          </a:xfrm>
          <a:prstGeom prst="rect">
            <a:avLst/>
          </a:prstGeom>
          <a:noFill/>
          <a:ln/>
        </p:spPr>
        <p:txBody>
          <a:bodyPr wrap="square" lIns="0" tIns="0" rIns="0" bIns="0" rtlCol="0" anchor="ctr"/>
          <a:lstStyle/>
          <a:p>
            <a:pPr indent="0" marL="0">
              <a:lnSpc>
                <a:spcPct val="114000"/>
              </a:lnSpc>
              <a:buNone/>
            </a:pPr>
            <a:r>
              <a:rPr lang="en-US" sz="880" dirty="0">
                <a:solidFill>
                  <a:srgbClr val="1F2733"/>
                </a:solidFill>
                <a:latin typeface="Meiryo UI" pitchFamily="34" charset="0"/>
                <a:ea typeface="Meiryo UI" pitchFamily="34" charset="-122"/>
                <a:cs typeface="Meiryo UI" pitchFamily="34" charset="-120"/>
              </a:rPr>
              <a:t>日用品の情報源調査（複数回答）を正規化して8接点・合計100ptに配分。チラシ52.9%・店頭POP40.9%が最大群→⑥22pt・⑤25pt。TVCM16.7%→①12pt。家族友人16.8%→⑦8pt。検索・SNS・ECは全年代平均で②10・③12・⑧10pt。生成AI相談は④1pt（2024年度時点の利用実態）</a:t>
            </a:r>
            <a:endParaRPr lang="en-US" sz="880" dirty="0"/>
          </a:p>
        </p:txBody>
      </p:sp>
      <p:sp>
        <p:nvSpPr>
          <p:cNvPr id="10" name="Shape 8"/>
          <p:cNvSpPr/>
          <p:nvPr/>
        </p:nvSpPr>
        <p:spPr>
          <a:xfrm>
            <a:off x="502920" y="2724912"/>
            <a:ext cx="11185855" cy="1078992"/>
          </a:xfrm>
          <a:prstGeom prst="rect">
            <a:avLst/>
          </a:prstGeom>
          <a:solidFill>
            <a:srgbClr val="EEF4EC"/>
          </a:solidFill>
          <a:ln w="9525">
            <a:solidFill>
              <a:srgbClr val="D9DEE6"/>
            </a:solidFill>
            <a:prstDash val="solid"/>
          </a:ln>
        </p:spPr>
      </p:sp>
      <p:sp>
        <p:nvSpPr>
          <p:cNvPr id="11" name="Shape 9"/>
          <p:cNvSpPr/>
          <p:nvPr/>
        </p:nvSpPr>
        <p:spPr>
          <a:xfrm>
            <a:off x="502920" y="2724912"/>
            <a:ext cx="64008" cy="1078992"/>
          </a:xfrm>
          <a:prstGeom prst="rect">
            <a:avLst/>
          </a:prstGeom>
          <a:solidFill>
            <a:srgbClr val="2C5F2D"/>
          </a:solidFill>
          <a:ln/>
        </p:spPr>
      </p:sp>
      <p:sp>
        <p:nvSpPr>
          <p:cNvPr id="12" name="Text 10"/>
          <p:cNvSpPr/>
          <p:nvPr/>
        </p:nvSpPr>
        <p:spPr>
          <a:xfrm>
            <a:off x="685800" y="2788920"/>
            <a:ext cx="5486400" cy="274320"/>
          </a:xfrm>
          <a:prstGeom prst="rect">
            <a:avLst/>
          </a:prstGeom>
          <a:noFill/>
          <a:ln/>
        </p:spPr>
        <p:txBody>
          <a:bodyPr wrap="square" lIns="0" tIns="0" rIns="0" bIns="0" rtlCol="0" anchor="ctr"/>
          <a:lstStyle/>
          <a:p>
            <a:pPr indent="0" marL="0">
              <a:buNone/>
            </a:pPr>
            <a:r>
              <a:rPr lang="en-US" sz="1080" b="1" dirty="0">
                <a:solidFill>
                  <a:srgbClr val="2C5F2D"/>
                </a:solidFill>
                <a:latin typeface="Meiryo UI" pitchFamily="34" charset="0"/>
                <a:ea typeface="Meiryo UI" pitchFamily="34" charset="-122"/>
                <a:cs typeface="Meiryo UI" pitchFamily="34" charset="-120"/>
              </a:rPr>
              <a:t>STEP 2  AI利用者モデルへの移行</a:t>
            </a:r>
            <a:endParaRPr lang="en-US" sz="1080" dirty="0"/>
          </a:p>
        </p:txBody>
      </p:sp>
      <p:sp>
        <p:nvSpPr>
          <p:cNvPr id="13" name="Text 11"/>
          <p:cNvSpPr/>
          <p:nvPr/>
        </p:nvSpPr>
        <p:spPr>
          <a:xfrm>
            <a:off x="685800" y="3090672"/>
            <a:ext cx="10881360" cy="676656"/>
          </a:xfrm>
          <a:prstGeom prst="rect">
            <a:avLst/>
          </a:prstGeom>
          <a:noFill/>
          <a:ln/>
        </p:spPr>
        <p:txBody>
          <a:bodyPr wrap="square" lIns="0" tIns="0" rIns="0" bIns="0" rtlCol="0" anchor="ctr"/>
          <a:lstStyle/>
          <a:p>
            <a:pPr indent="0" marL="0">
              <a:lnSpc>
                <a:spcPct val="114000"/>
              </a:lnSpc>
              <a:buNone/>
            </a:pPr>
            <a:r>
              <a:rPr lang="en-US" sz="880" dirty="0">
                <a:solidFill>
                  <a:srgbClr val="1F2733"/>
                </a:solidFill>
                <a:latin typeface="Meiryo UI" pitchFamily="34" charset="0"/>
                <a:ea typeface="Meiryo UI" pitchFamily="34" charset="-122"/>
                <a:cs typeface="Meiryo UI" pitchFamily="34" charset="-120"/>
              </a:rPr>
              <a:t>接点ごとに「AIへの代替率」を仮定して再配分：検索→④へ50%（ゼロクリック66.4%が既に示す要約化）／SNS→④へ33%（AIがレビューを要約）／チラシPOP→④⑧へ計27%／TV→④⑧へ25%／店頭→④⑦へ20%。加算側：⑦＋2pt（AI不信の補完＝人への信頼回帰）・⑧＋3pt（AIの一次情報化）。全接点の合計は100ptを維持</a:t>
            </a:r>
            <a:endParaRPr lang="en-US" sz="880" dirty="0"/>
          </a:p>
        </p:txBody>
      </p:sp>
      <p:sp>
        <p:nvSpPr>
          <p:cNvPr id="14" name="Shape 12"/>
          <p:cNvSpPr/>
          <p:nvPr/>
        </p:nvSpPr>
        <p:spPr>
          <a:xfrm>
            <a:off x="502920" y="3895344"/>
            <a:ext cx="11185855" cy="1078992"/>
          </a:xfrm>
          <a:prstGeom prst="rect">
            <a:avLst/>
          </a:prstGeom>
          <a:solidFill>
            <a:srgbClr val="F7F0E3"/>
          </a:solidFill>
          <a:ln w="9525">
            <a:solidFill>
              <a:srgbClr val="D9DEE6"/>
            </a:solidFill>
            <a:prstDash val="solid"/>
          </a:ln>
        </p:spPr>
      </p:sp>
      <p:sp>
        <p:nvSpPr>
          <p:cNvPr id="15" name="Shape 13"/>
          <p:cNvSpPr/>
          <p:nvPr/>
        </p:nvSpPr>
        <p:spPr>
          <a:xfrm>
            <a:off x="502920" y="3895344"/>
            <a:ext cx="64008" cy="1078992"/>
          </a:xfrm>
          <a:prstGeom prst="rect">
            <a:avLst/>
          </a:prstGeom>
          <a:solidFill>
            <a:srgbClr val="B87A2A"/>
          </a:solidFill>
          <a:ln/>
        </p:spPr>
      </p:sp>
      <p:sp>
        <p:nvSpPr>
          <p:cNvPr id="16" name="Text 14"/>
          <p:cNvSpPr/>
          <p:nvPr/>
        </p:nvSpPr>
        <p:spPr>
          <a:xfrm>
            <a:off x="685800" y="3959352"/>
            <a:ext cx="5486400" cy="274320"/>
          </a:xfrm>
          <a:prstGeom prst="rect">
            <a:avLst/>
          </a:prstGeom>
          <a:noFill/>
          <a:ln/>
        </p:spPr>
        <p:txBody>
          <a:bodyPr wrap="square" lIns="0" tIns="0" rIns="0" bIns="0" rtlCol="0" anchor="ctr"/>
          <a:lstStyle/>
          <a:p>
            <a:pPr indent="0" marL="0">
              <a:buNone/>
            </a:pPr>
            <a:r>
              <a:rPr lang="en-US" sz="1080" b="1" dirty="0">
                <a:solidFill>
                  <a:srgbClr val="B87A2A"/>
                </a:solidFill>
                <a:latin typeface="Meiryo UI" pitchFamily="34" charset="0"/>
                <a:ea typeface="Meiryo UI" pitchFamily="34" charset="-122"/>
                <a:cs typeface="Meiryo UI" pitchFamily="34" charset="-120"/>
              </a:rPr>
              <a:t>STEP 3  全体市場への適用</a:t>
            </a:r>
            <a:endParaRPr lang="en-US" sz="1080" dirty="0"/>
          </a:p>
        </p:txBody>
      </p:sp>
      <p:sp>
        <p:nvSpPr>
          <p:cNvPr id="17" name="Text 15"/>
          <p:cNvSpPr/>
          <p:nvPr/>
        </p:nvSpPr>
        <p:spPr>
          <a:xfrm>
            <a:off x="685800" y="4261104"/>
            <a:ext cx="10881360" cy="676656"/>
          </a:xfrm>
          <a:prstGeom prst="rect">
            <a:avLst/>
          </a:prstGeom>
          <a:noFill/>
          <a:ln/>
        </p:spPr>
        <p:txBody>
          <a:bodyPr wrap="square" lIns="0" tIns="0" rIns="0" bIns="0" rtlCol="0" anchor="ctr"/>
          <a:lstStyle/>
          <a:p>
            <a:pPr indent="0" marL="0">
              <a:lnSpc>
                <a:spcPct val="114000"/>
              </a:lnSpc>
              <a:buNone/>
            </a:pPr>
            <a:r>
              <a:rPr lang="en-US" sz="880" dirty="0">
                <a:solidFill>
                  <a:srgbClr val="1F2733"/>
                </a:solidFill>
                <a:latin typeface="Meiryo UI" pitchFamily="34" charset="0"/>
                <a:ea typeface="Meiryo UI" pitchFamily="34" charset="-122"/>
                <a:cs typeface="Meiryo UI" pitchFamily="34" charset="-120"/>
              </a:rPr>
              <a:t>全体の接点配分＝従来モデル×(1−p)＋AI利用者モデル×p。p＝生成AI買い物利用者比率＝AI利用経験率×買い物利用率。現在p≈7%（26.7%×27%）、20代p≈13%（44.7%×28%）。白書の普及ペース（1年で約3倍）が続けばpは2〜3年で過半へ ― 打ち手の期限はここから逆算する</a:t>
            </a:r>
            <a:endParaRPr lang="en-US" sz="880" dirty="0"/>
          </a:p>
        </p:txBody>
      </p:sp>
      <p:sp>
        <p:nvSpPr>
          <p:cNvPr id="18" name="Text 16"/>
          <p:cNvSpPr/>
          <p:nvPr/>
        </p:nvSpPr>
        <p:spPr>
          <a:xfrm>
            <a:off x="502920" y="5029200"/>
            <a:ext cx="5486400" cy="256032"/>
          </a:xfrm>
          <a:prstGeom prst="rect">
            <a:avLst/>
          </a:prstGeom>
          <a:noFill/>
          <a:ln/>
        </p:spPr>
        <p:txBody>
          <a:bodyPr wrap="square" lIns="0" tIns="0" rIns="0" bIns="0" rtlCol="0" anchor="ctr"/>
          <a:lstStyle/>
          <a:p>
            <a:pPr indent="0" marL="0">
              <a:buNone/>
            </a:pPr>
            <a:r>
              <a:rPr lang="en-US" sz="1100" b="1" dirty="0">
                <a:solidFill>
                  <a:srgbClr val="16233A"/>
                </a:solidFill>
                <a:latin typeface="Meiryo UI" pitchFamily="34" charset="0"/>
                <a:ea typeface="Meiryo UI" pitchFamily="34" charset="-122"/>
                <a:cs typeface="Meiryo UI" pitchFamily="34" charset="-120"/>
              </a:rPr>
              <a:t>出典（すべて公開情報）</a:t>
            </a:r>
            <a:endParaRPr lang="en-US" sz="1100" dirty="0"/>
          </a:p>
        </p:txBody>
      </p:sp>
      <p:sp>
        <p:nvSpPr>
          <p:cNvPr id="19" name="Shape 17"/>
          <p:cNvSpPr/>
          <p:nvPr/>
        </p:nvSpPr>
        <p:spPr>
          <a:xfrm>
            <a:off x="502920" y="5303520"/>
            <a:ext cx="11185855" cy="950976"/>
          </a:xfrm>
          <a:prstGeom prst="rect">
            <a:avLst/>
          </a:prstGeom>
          <a:solidFill>
            <a:srgbClr val="F4F6F9"/>
          </a:solidFill>
          <a:ln w="9525">
            <a:solidFill>
              <a:srgbClr val="D9DEE6"/>
            </a:solidFill>
            <a:prstDash val="solid"/>
          </a:ln>
        </p:spPr>
      </p:sp>
      <p:sp>
        <p:nvSpPr>
          <p:cNvPr id="20" name="Text 18"/>
          <p:cNvSpPr/>
          <p:nvPr/>
        </p:nvSpPr>
        <p:spPr>
          <a:xfrm>
            <a:off x="685800" y="5358384"/>
            <a:ext cx="10820095" cy="859536"/>
          </a:xfrm>
          <a:prstGeom prst="rect">
            <a:avLst/>
          </a:prstGeom>
          <a:noFill/>
          <a:ln/>
        </p:spPr>
        <p:txBody>
          <a:bodyPr wrap="square" lIns="0" tIns="0" rIns="0" bIns="0" rtlCol="0" anchor="t"/>
          <a:lstStyle/>
          <a:p>
            <a:pPr marL="101600" indent="-101600">
              <a:spcAft>
                <a:spcPts val="300"/>
              </a:spcAft>
              <a:buSzPct val="100000"/>
              <a:buChar char="•"/>
            </a:pPr>
            <a:r>
              <a:rPr lang="en-US" sz="820" dirty="0">
                <a:solidFill>
                  <a:srgbClr val="1F2733"/>
                </a:solidFill>
                <a:latin typeface="Meiryo UI" pitchFamily="34" charset="0"/>
                <a:ea typeface="Meiryo UI" pitchFamily="34" charset="-122"/>
                <a:cs typeface="Meiryo UI" pitchFamily="34" charset="-120"/>
              </a:rPr>
              <a:t>総務省「令和7年版 情報通信白書」： 生成AI個人利用経験率26.7%（2024年度・前年比約3倍）、20代44.7%</a:t>
            </a:r>
            <a:endParaRPr lang="en-US" sz="820" dirty="0"/>
          </a:p>
          <a:p>
            <a:pPr marL="101600" indent="-101600">
              <a:spcAft>
                <a:spcPts val="300"/>
              </a:spcAft>
              <a:buSzPct val="100000"/>
              <a:buChar char="•"/>
            </a:pPr>
            <a:r>
              <a:rPr lang="en-US" sz="820" dirty="0">
                <a:solidFill>
                  <a:srgbClr val="1F2733"/>
                </a:solidFill>
                <a:latin typeface="Meiryo UI" pitchFamily="34" charset="0"/>
                <a:ea typeface="Meiryo UI" pitchFamily="34" charset="-122"/>
                <a:cs typeface="Meiryo UI" pitchFamily="34" charset="-120"/>
              </a:rPr>
              <a:t>経済産業省「令和6年度 電子商取引に関する市場調査」（2025.8）： 物販EC化率9.78%、化粧品・医薬品8.82%</a:t>
            </a:r>
            <a:endParaRPr lang="en-US" sz="820" dirty="0"/>
          </a:p>
          <a:p>
            <a:pPr marL="101600" indent="-101600">
              <a:spcAft>
                <a:spcPts val="300"/>
              </a:spcAft>
              <a:buSzPct val="100000"/>
              <a:buChar char="•"/>
            </a:pPr>
            <a:r>
              <a:rPr lang="en-US" sz="820" dirty="0">
                <a:solidFill>
                  <a:srgbClr val="1F2733"/>
                </a:solidFill>
                <a:latin typeface="Meiryo UI" pitchFamily="34" charset="0"/>
                <a:ea typeface="Meiryo UI" pitchFamily="34" charset="-122"/>
                <a:cs typeface="Meiryo UI" pitchFamily="34" charset="-120"/>
              </a:rPr>
              <a:t>mitoriz 消費者購買調査（2024）： 食品・日用品の情報源＝チラシ52.9%・店頭POP40.9%・家族友人16.8%・TVCM16.7%（複数回答）</a:t>
            </a:r>
            <a:endParaRPr lang="en-US" sz="820" dirty="0"/>
          </a:p>
          <a:p>
            <a:pPr marL="101600" indent="-101600">
              <a:spcAft>
                <a:spcPts val="300"/>
              </a:spcAft>
              <a:buSzPct val="100000"/>
              <a:buChar char="•"/>
            </a:pPr>
            <a:r>
              <a:rPr lang="en-US" sz="820" dirty="0">
                <a:solidFill>
                  <a:srgbClr val="1F2733"/>
                </a:solidFill>
                <a:latin typeface="Meiryo UI" pitchFamily="34" charset="0"/>
                <a:ea typeface="Meiryo UI" pitchFamily="34" charset="-122"/>
                <a:cs typeface="Meiryo UI" pitchFamily="34" charset="-120"/>
              </a:rPr>
              <a:t>ヴァリューズ調査（2026.4）： ゼロクリック率66.4%（検索してもサイトを訪問しない割合）</a:t>
            </a:r>
            <a:endParaRPr lang="en-US" sz="820" dirty="0"/>
          </a:p>
          <a:p>
            <a:pPr marL="101600" indent="-101600">
              <a:spcAft>
                <a:spcPts val="300"/>
              </a:spcAft>
              <a:buSzPct val="100000"/>
              <a:buChar char="•"/>
            </a:pPr>
            <a:r>
              <a:rPr lang="en-US" sz="820" dirty="0">
                <a:solidFill>
                  <a:srgbClr val="1F2733"/>
                </a:solidFill>
                <a:latin typeface="Meiryo UI" pitchFamily="34" charset="0"/>
                <a:ea typeface="Meiryo UI" pitchFamily="34" charset="-122"/>
                <a:cs typeface="Meiryo UI" pitchFamily="34" charset="-120"/>
              </a:rPr>
              <a:t>McKinsey「State of the Consumer 2026」： 生成AIの買い物利用 GenZ28%・Boomer16%／AI回答への正味信頼37（家族・友人86）</a:t>
            </a:r>
            <a:endParaRPr lang="en-US" sz="820" dirty="0"/>
          </a:p>
          <a:p>
            <a:pPr marL="101600" indent="-101600">
              <a:spcAft>
                <a:spcPts val="300"/>
              </a:spcAft>
              <a:buSzPct val="100000"/>
              <a:buChar char="•"/>
            </a:pPr>
            <a:r>
              <a:rPr lang="en-US" sz="820" dirty="0">
                <a:solidFill>
                  <a:srgbClr val="1F2733"/>
                </a:solidFill>
                <a:latin typeface="Meiryo UI" pitchFamily="34" charset="0"/>
                <a:ea typeface="Meiryo UI" pitchFamily="34" charset="-122"/>
                <a:cs typeface="Meiryo UI" pitchFamily="34" charset="-120"/>
              </a:rPr>
              <a:t>XEO360（CPG大手25ブランドのLLM引用分析）： AI回答の引用元＝自社サイト1%・小売EC17%・第三者コンテンツ等が大半</a:t>
            </a:r>
            <a:endParaRPr lang="en-US" sz="820" dirty="0"/>
          </a:p>
        </p:txBody>
      </p:sp>
      <p:sp>
        <p:nvSpPr>
          <p:cNvPr id="21" name="Text 19"/>
          <p:cNvSpPr/>
          <p:nvPr/>
        </p:nvSpPr>
        <p:spPr>
          <a:xfrm>
            <a:off x="502920" y="6309360"/>
            <a:ext cx="11185855" cy="219456"/>
          </a:xfrm>
          <a:prstGeom prst="rect">
            <a:avLst/>
          </a:prstGeom>
          <a:noFill/>
          <a:ln/>
        </p:spPr>
        <p:txBody>
          <a:bodyPr wrap="square" lIns="0" tIns="0" rIns="0" bIns="0" rtlCol="0" anchor="ctr"/>
          <a:lstStyle/>
          <a:p>
            <a:pPr indent="0" marL="0">
              <a:buNone/>
            </a:pPr>
            <a:r>
              <a:rPr lang="en-US" sz="820" dirty="0">
                <a:solidFill>
                  <a:srgbClr val="5A6472"/>
                </a:solidFill>
                <a:latin typeface="Meiryo UI" pitchFamily="34" charset="0"/>
                <a:ea typeface="Meiryo UI" pitchFamily="34" charset="-122"/>
                <a:cs typeface="Meiryo UI" pitchFamily="34" charset="-120"/>
              </a:rPr>
              <a:t>※ 各調査は対象・方法が異なるため、正規化と代替率には仮定を含む。この試算は意思決定の「初期値」であり、FY26のAIEO実測と小売ID-POSで自社実測値に置き換える。</a:t>
            </a:r>
            <a:endParaRPr lang="en-US" sz="820" dirty="0"/>
          </a:p>
        </p:txBody>
      </p:sp>
      <p:sp>
        <p:nvSpPr>
          <p:cNvPr id="22" name="Text 20"/>
          <p:cNvSpPr/>
          <p:nvPr/>
        </p:nvSpPr>
        <p:spPr>
          <a:xfrm>
            <a:off x="11368735" y="6528816"/>
            <a:ext cx="365760" cy="237744"/>
          </a:xfrm>
          <a:prstGeom prst="rect">
            <a:avLst/>
          </a:prstGeom>
          <a:noFill/>
          <a:ln/>
        </p:spPr>
        <p:txBody>
          <a:bodyPr wrap="square" lIns="0" tIns="0" rIns="0" bIns="0" rtlCol="0" anchor="ctr"/>
          <a:lstStyle/>
          <a:p>
            <a:pPr algn="r" indent="0" marL="0">
              <a:buNone/>
            </a:pPr>
            <a:r>
              <a:rPr lang="en-US" sz="900" dirty="0">
                <a:solidFill>
                  <a:srgbClr val="9AA3AE"/>
                </a:solidFill>
                <a:latin typeface="Meiryo UI" pitchFamily="34" charset="0"/>
                <a:ea typeface="Meiryo UI" pitchFamily="34" charset="-122"/>
                <a:cs typeface="Meiryo UI" pitchFamily="34" charset="-120"/>
              </a:rPr>
              <a:t>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2026-08-11T12:22:08Z</dcterms:created>
  <dcterms:modified xsi:type="dcterms:W3CDTF">2026-08-11T12:22:08Z</dcterms:modified>
</cp:coreProperties>
</file>