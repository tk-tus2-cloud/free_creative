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2377440"/>
            <a:ext cx="6858000" cy="6858000"/>
          </a:xfrm>
          <a:prstGeom prst="ellipse">
            <a:avLst/>
          </a:prstGeom>
          <a:solidFill>
            <a:srgbClr val="223354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4206240"/>
            <a:ext cx="4206240" cy="4206240"/>
          </a:xfrm>
          <a:prstGeom prst="ellipse">
            <a:avLst/>
          </a:prstGeom>
          <a:solidFill>
            <a:srgbClr val="C8102E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C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実行計画　|　2026.08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18288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営業・マーケティング変革の実行計画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― どう解決し、誰が、いつやり、何が返ってくるのか ―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どう解決するか</a:t>
            </a:r>
            <a:pPr indent="0" marL="0">
              <a:buNone/>
            </a:pPr>
            <a:r>
              <a:rPr lang="en-US" sz="12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まず1つの現場で全部を試し、うまくいった方法を手順書にして全国へ広げる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92277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誰がやるか</a:t>
            </a:r>
            <a:pPr indent="0" marL="0">
              <a:buNone/>
            </a:pPr>
            <a:r>
              <a:rPr lang="en-US" sz="12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ふだんの仕事のチームと変革のチームを分ける。変革側は少人数の専任で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32511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いつやるか</a:t>
            </a:r>
            <a:pPr indent="0" marL="0">
              <a:buNone/>
            </a:pPr>
            <a:r>
              <a:rPr lang="en-US" sz="12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日付ではなく「結果」で進める。結果を確認してから次の投資に進む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72744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何が返ってくるか</a:t>
            </a:r>
            <a:pPr indent="0" marL="0">
              <a:buNone/>
            </a:pPr>
            <a:r>
              <a:rPr lang="en-US" sz="12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5年で30〜50億円の投資に対し、年45〜95億円の効果（2〜3年で回収）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" y="5349240"/>
            <a:ext cx="2011680" cy="0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前回資料「変革構想」の続き　|　8つの取り組み（A-1〜B-6）の番号は前回資料と同じ　|　デジタル戦略部 討議用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全体の要約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この計画の要点 ― 4つの問いへの答え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8つの取り組みを部署ごとにバラバラに進めると失敗する。だから「1つの現場で全部まとめて試し、結果を作ってから広げる」進め方をとる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営業・マーケティング変革 実行計画（討議用）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1600200" cy="114300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17904"/>
            <a:ext cx="64008" cy="1143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17904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どう解決するか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86000" y="1554480"/>
            <a:ext cx="9372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1つの商品分野（オーラルケア）と、1つの小売企業・1つの支店を選び、そこで8つの取り組みをまとめて試す。中心となる仕組みは、社内にすでにある3つのデータ（研究部門の知見・小売の販売データ・営業の商談記録）をつなげて、値引きの代わりになる「提案の根拠」を作ること。うまくいった方法を手順書にまとめ、他の商品分野・他の小売企業へ順番に広げる。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502920" y="2734056"/>
            <a:ext cx="1600200" cy="114300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734056"/>
            <a:ext cx="64008" cy="11430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" y="2734056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誰がやるか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286000" y="2770632"/>
            <a:ext cx="9372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ふだんの仕事をするチームと、変革を進めるチームを分ける。変革側は少人数に絞る：経営会議（月1回）＋推進事務局5名＋現場の実行チーム（専任5名・兼任10名）＋マーケと営業をつなぐ橋渡し役5名。人は社内から選ぶことを基本とし、外部からの採用はデータ技術者など2つの職種だけに限る。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02920" y="3950208"/>
            <a:ext cx="1600200" cy="114300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950208"/>
            <a:ext cx="64008" cy="11430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3950208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いつやるか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286000" y="3986784"/>
            <a:ext cx="9372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付ではなく「結果」で進める。1年目に「値引きに頼らない提案で商談が1件成立」「事務作業3割減」という結果を作る。その結果を確認できたら投資を広げ、組織や評価制度を変える。確認の節目は3回：2027年夏・2028年度末・2031年ごろ。結果が出なければ広げず、原因を直してからやり直す。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02920" y="5166360"/>
            <a:ext cx="1600200" cy="114300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5166360"/>
            <a:ext cx="64008" cy="11430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" y="516636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何が返ってくるか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286000" y="5202936"/>
            <a:ext cx="9372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5年間の投資は30〜50億円の見込み。効果は軌道に乗った時点で年45〜95億円（①事務作業を減らした時間の価値 15〜25億円　②値引き費用をより効果的な使い方に振り替える効果 20〜40億円　③広告費のムダ削減 10〜30億円）。2〜3年で回収できる計算。金額にしにくいが最大の効果は「将来、小売やAIの仕組みから商品が外されて売上を失うことを防ぐ」こと。数字の前提はすべて仮のため、最初の90日で実測して確かめる。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どう解決するか（1/3）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進め方の基本 ― 1つの現場で試し、結果を作ってから広げる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8つの取り組みは、同じ現場でまとめてやって初めて効果が出る。だから最初は1か所に集中し、成功してから広げる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営業・マーケティング変革 実行計画（討議用）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6126480" cy="138988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72768"/>
            <a:ext cx="64008" cy="13898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45920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基本1　</a:t>
            </a:r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まず1か所で、8つ全部を試す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1956816"/>
            <a:ext cx="5806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8つの取り組みを別々の部署で別々に進めると、つながりが切れて効果が出ない。研究データを提案に変え、その提案を商談で使い、事務が減って浮いた時間で売場を作り、結果を販売データで確かめる ― この一連の流れは同じ現場でやって初めてつながる。だから最初はオーラルケア×小売1社×1支店に集中する。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02920" y="3072384"/>
            <a:ext cx="6126480" cy="138988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3072384"/>
            <a:ext cx="64008" cy="13898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145536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基本2　</a:t>
            </a:r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うまくいった方法を手順書にして広げる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3456432"/>
            <a:ext cx="5806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現場で成功したやり方を、誰でも同じようにできる手順書（提案の作り方・売場の作り方・データの使い方）にまとめてから、他の商品分野・他の小売企業に広げる。一気に全国でやらないのは、失敗したときの影響を小さくし、成功のやり方を崩さないため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02920" y="4572000"/>
            <a:ext cx="6126480" cy="138988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4572000"/>
            <a:ext cx="64008" cy="13898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645152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基本3　</a:t>
            </a:r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結果が出てから、組織と制度を変える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4956048"/>
            <a:ext cx="5806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組織変更や評価制度の変更は社内の反発が起きやすい。だから先に「このやり方だと商談に勝てる」という実例を作り、その実例を根拠にして変更を実行する。順番を逆にしない。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6903720" y="1572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広げ方の順序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03720" y="1920240"/>
            <a:ext cx="3108960" cy="896112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1920240"/>
            <a:ext cx="54864" cy="89611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1965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最初の現場（〜2027年）
</a:t>
            </a:r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オーラルケア×小売1社×1支店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専任チームが8つの取り組みを全部試す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80960" y="27797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▼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03720" y="2990088"/>
            <a:ext cx="3675888" cy="896112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2990088"/>
            <a:ext cx="54864" cy="89611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0" y="3035808"/>
            <a:ext cx="3401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広げる（2027〜28年）
</a:t>
            </a:r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3つの商品分野×小売5社へ手順書を移す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最初の現場の経験者が次の現場を教える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80960" y="384962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▼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903720" y="4059936"/>
            <a:ext cx="4242816" cy="896112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4059936"/>
            <a:ext cx="54864" cy="89611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4105656"/>
            <a:ext cx="3968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全国へ（2029〜34年）
</a:t>
            </a:r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全商品分野・主要小売で標準のやり方に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システム化して人に頼らず回る状態に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80960" y="49194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▼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03720" y="5129784"/>
            <a:ext cx="4809744" cy="89611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03720" y="5129784"/>
            <a:ext cx="54864" cy="89611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3" name="Text 31"/>
          <p:cNvSpPr/>
          <p:nvPr/>
        </p:nvSpPr>
        <p:spPr>
          <a:xfrm>
            <a:off x="7040880" y="5175504"/>
            <a:ext cx="4535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完成（2035〜40年）
</a:t>
            </a:r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AIが買い物を代行する時代に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「最初から選ばれている商品」の地位を作る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6144768"/>
            <a:ext cx="11185855" cy="38404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6144768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なぜ全社一斉にやらないのか：</a:t>
            </a:r>
            <a:pPr indent="0" marL="0">
              <a:buNone/>
            </a:pPr>
            <a:r>
              <a:rPr lang="en-US" sz="100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当社は競合より人もお金も少ない。広く薄く取り組むと、資金力のある相手と同じ土俵で戦うことになり勝てない。狭い範囲に集中して速く成果を出すことが、当社に合った勝ち方。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どう解決するか（2/3）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中心となる仕組み ― 社内の3つのデータをつなげて「提案の根拠」を作る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新しくデータを買う必要はない。すでに社内にあるデータがバラバラに保管されているだけ。つなげれば、値引きの代わりになる提案の根拠になる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営業・マーケティング変革 実行計画（討議用）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11185855" cy="1170432"/>
          </a:xfrm>
          <a:prstGeom prst="rect">
            <a:avLst/>
          </a:prstGeom>
          <a:solidFill>
            <a:srgbClr val="EAF3F8"/>
          </a:solidFill>
          <a:ln w="12700">
            <a:solidFill>
              <a:srgbClr val="BCD6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9344"/>
            <a:ext cx="1072865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使うのは、すでに社内にある3つのデータ
</a:t>
            </a:r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研究部門が持つ「習慣と健康効果」のデータ（例：フロスを併用すると効果を実感しやすく、習慣が続きやすい）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小売から得られる販売データ（誰が・何を・どれくらいの間隔で買っているか）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営業の商談記録（どの店で何をやって、その結果どうなったか）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8803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つなげ方の5つの手順（最初は人手で行い、慣れてきたらシステムで自動化する）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246120"/>
            <a:ext cx="2121408" cy="205740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3246120"/>
            <a:ext cx="2121408" cy="8229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" y="3401568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手順1　集める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0936" y="3749040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研究部門にある知見を、提案に使える形で一覧にする（研究部門と橋渡し役が担当）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630936" y="484632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作るもの：知見の一覧表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96896" y="4069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0" y="3246120"/>
            <a:ext cx="2121408" cy="205740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3246120"/>
            <a:ext cx="2121408" cy="8229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7" name="Text 15"/>
          <p:cNvSpPr/>
          <p:nvPr/>
        </p:nvSpPr>
        <p:spPr>
          <a:xfrm>
            <a:off x="2871216" y="3401568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手順2　数字にする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871216" y="3749040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「効果がある」を「どんな条件で・どれくらい」という具体的な数字に直す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2871216" y="484632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作るもの：効果の数字の一覧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37176" y="4069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83480" y="3246120"/>
            <a:ext cx="2121408" cy="205740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83480" y="3246120"/>
            <a:ext cx="2121408" cy="8229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3" name="Text 21"/>
          <p:cNvSpPr/>
          <p:nvPr/>
        </p:nvSpPr>
        <p:spPr>
          <a:xfrm>
            <a:off x="5111496" y="3401568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手順3　つなげる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111496" y="3749040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販売データと突き合わせ、「この売場を作ると、お客様の年間購入額が◯%増える」という予測に変える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5111496" y="484632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作るもの：予測の計算式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077456" y="4069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23760" y="3246120"/>
            <a:ext cx="2121408" cy="2057400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3246120"/>
            <a:ext cx="2121408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9" name="Text 27"/>
          <p:cNvSpPr/>
          <p:nvPr/>
        </p:nvSpPr>
        <p:spPr>
          <a:xfrm>
            <a:off x="7351776" y="3401568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手順4　商談で使う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351776" y="3749040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バイヤーが自分の会社の中で説明に使える資料の形に整え、営業に配る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7351776" y="484632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作るもの：提案資料のひな形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317736" y="4069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464040" y="3246120"/>
            <a:ext cx="2121408" cy="205740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64040" y="3246120"/>
            <a:ext cx="2121408" cy="8229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35" name="Text 33"/>
          <p:cNvSpPr/>
          <p:nvPr/>
        </p:nvSpPr>
        <p:spPr>
          <a:xfrm>
            <a:off x="9592056" y="3401568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手順5　確かめる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592056" y="3749040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実施後の販売データで本当に効果があったかを確認し、結果を手順1に戻して精度を上げる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9592056" y="484632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作るもの：検証の報告書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02920" y="5532120"/>
            <a:ext cx="11185855" cy="86868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5596128"/>
            <a:ext cx="107286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なぜ競合に真似されないのか：</a:t>
            </a:r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1のもとになる研究の蓄積（約30年分）と、歯科医師会・学校・自治体を通じた活動の記録は、他社がお金を出しても手に入らない。データの「量」では花王・P&amp;Gに勝てないが、「なぜ売れるのかを説明できる深さ」で勝つ。</a:t>
            </a:r>
            <a:endParaRPr lang="en-US" sz="1030" dirty="0"/>
          </a:p>
        </p:txBody>
      </p:sp>
      <p:sp>
        <p:nvSpPr>
          <p:cNvPr id="40" name="Text 38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どう解決するか（3/3）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8つの取り組み、それぞれのやり方と作るもの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どの取り組みも、最初のバージョンは「最初の現場」で作る。他の現場でもそのまま使える形にすることを品質の基準とする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営業・マーケティング変革 実行計画（討議用）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8585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715000"/>
                <a:gridCol w="309067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取り組み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やり方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作るもの（最初の現場で）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A-1 歯科・学校を通じた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データづくり（デジタル）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歯科医院向けのアプリを「先生の診療を助ける道具」として作り、医院から患者さんに配ってもらう（自力でアプリ利用者を集めない）。学校の歯みがき教育をデジタル教材にする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アプリの試作版・デジタル教材・集まるデータの一覧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B-1 提案の根拠づくり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（デジタル）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前ページの5つの手順を回す。あわせて、商品の成分・環境などのデータを、AIや小売のシステムが読み取れる形で整えて公開する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予測の計算式・提案資料のひな形・公開用の商品データ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B-3 事務作業の削減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（デジタル）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生成AIと営業支援システムで資料作成・集計を自動化する。ただし先に「やめる仕事」を決めてから自動化する（ムダな仕事をそのまま自動化しない）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やめる仕事と自動化する仕事の一覧表・浮いた時間の使い道の計画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B-5 売れ方の観測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（デジタル）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AIが自社商品をどう紹介しているか、AI経由の購入がどれくらいあるかを毎月測り、経営会議への定例報告にする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毎月の観測レポート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A-2 国の政策対応と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選択と集中（非デジタル）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国民皆歯科健診などの政策に対応する担当チームを作り、歯科医師会と一緒に提言を出す。洗剤など苦戦している分野への投資は、基準を決めて計画的に減らす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政策への提言書・投資を見直す基準と計画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B-2 部門をつなぐ役割と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チーム営業（非デジタル）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マーケと営業の間に「橋渡し役」を5名で試験的に設置する。大口の小売には営業1人ではなく、物流・環境・研究の担当者も入れたチームで対応する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橋渡し役設置の提案書・チームの編成表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B-4 やめる仕事の決定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（非デジタル）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効果の薄い特売の交渉、社内向け資料、重複した会議を、経営が「やめる」と宣言する。実行されているかを3か月ごとに確認する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やめる仕事の一覧・実行状況の報告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B-6 評価の見直し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（非デジタル）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「売上」だけでなく「お客様が買い続けてくれているか」も評価に加える。まず変革に参加した人への加点から始め、段階的に広げる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新しい評価基準の案・切り替えの計画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172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A-1〜B-6の番号は前回資料「変革構想」の8つの取り組みと同じです。</a:t>
            </a:r>
            <a:endParaRPr lang="en-US" sz="93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誰がやるか（1/2）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体制 ― ふだんの仕事のチームと、変革のチームを分ける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新しい部署を増やさず、少人数の専任チームで進める。ふだんの仕事をしている現場には、変革の負担をかけない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営業・マーケティング変革 実行計画（討議用）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926080" y="1554480"/>
            <a:ext cx="6309360" cy="65836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155448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経営会議（月1回）　</a:t>
            </a:r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社長と担当役員。決めることは3つだけ：お金と人の配分／やめる仕事の決定／次の段階に進むかの判断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80760" y="2212848"/>
            <a:ext cx="0" cy="256032"/>
          </a:xfrm>
          <a:prstGeom prst="line">
            <a:avLst/>
          </a:prstGeom>
          <a:noFill/>
          <a:ln w="19050">
            <a:solidFill>
              <a:srgbClr val="9AA3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2468880"/>
            <a:ext cx="6309360" cy="777240"/>
          </a:xfrm>
          <a:prstGeom prst="rect">
            <a:avLst/>
          </a:prstGeom>
          <a:solidFill>
            <a:srgbClr val="FBECEC"/>
          </a:solidFill>
          <a:ln w="12700">
            <a:solidFill>
              <a:srgbClr val="E5B8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24688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推進事務局（5名）　</a:t>
            </a:r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デジタル戦略部と経営企画の混成。進み具合と効果を測って経営会議に報告し、部門間の調整を行う。この計画全体の管理者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520440"/>
            <a:ext cx="3639312" cy="1828800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520440"/>
            <a:ext cx="3639312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3931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現場の実行チーム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91363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専任5名＋兼任10名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専任：支店の営業2名・マーケ1名・橋渡し役1名・デジタル戦略1名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兼任：研究・物流・システムなどの担当者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仕事は1つだけ：最初の現場で「1年目の結果」を作ること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4270248" y="3520440"/>
            <a:ext cx="3639312" cy="1828800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70248" y="3520440"/>
            <a:ext cx="3639312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4407408" y="363931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橋渡し役のチーム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07408" y="391363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まず5名 → 将来20名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07408" y="4206240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マーケの知見を、営業がバイヤーに話せる提案に「翻訳」する専門チーム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マーケ出身・営業出身・事業部出身の混成で試験的に始める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結果が出たら、正式な組織にすることを経営会議で決める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8037576" y="3520440"/>
            <a:ext cx="3639312" cy="1828800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37576" y="3520440"/>
            <a:ext cx="3639312" cy="7315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3" name="Text 21"/>
          <p:cNvSpPr/>
          <p:nvPr/>
        </p:nvSpPr>
        <p:spPr>
          <a:xfrm>
            <a:off x="8174736" y="363931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システムの横断チーム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74736" y="391363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既存の担当者をつなぐ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74736" y="4206240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新しい部署は作らない。今のシステム担当者を横につなぎ、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実行チームの要望に優先して応える体制にする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外部からの採用はデータ技術者と広告データの専門家の2職種だけ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502920" y="5532120"/>
            <a:ext cx="11185855" cy="5029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553212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ふだんの仕事のチーム（全国の支店・事業部・研究所）：</a:t>
            </a:r>
            <a:pPr indent="0" marL="0">
              <a:buNone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今の仕事を今の目標のまま続ける。「使うと商談に勝ちやすくなる道具」が完成してから受け取る ― 現場に二重の負担をかけない。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502920" y="6144768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変革チーム（実行チーム・橋渡し役・事務局）の人事評価は、通常の売上目標から切り離し、変革の進み具合で評価する（取り組みB-6と連動）。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誰がやるか（2/2）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役割分担と、人の集め方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主な仕事ごとに「誰が決めて、誰が動くか」をあらかじめ決めておく。人は社内から選ぶことを基本にする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営業・マーケティング変革 実行計画（討議用）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69494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960120"/>
                <a:gridCol w="731520"/>
                <a:gridCol w="914400"/>
                <a:gridCol w="868680"/>
                <a:gridCol w="731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主な仕事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経営会議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推進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事務局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実行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チーム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橋渡し役・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システム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各部門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最初の現場と専任者を決める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◎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やめる仕事を決める（B-4）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◎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提案の根拠づくりを回す（B-1）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◎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新しい提案での商談・売場づくり（B-2）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◎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事務作業の自動化を広げる（B-3）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◎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売れ方の観測と毎月の報告（B-5）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◎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政策対応・歯科医師会との連携（A-2）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◎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歯科アプリ・教材の試作（A-1）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◎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次の段階に進むかの判断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◎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評価制度の見直し（B-6）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◎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41324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◎＝決める・責任を持つ　○＝実行する　△＝相談を受ける　−＝報告を受ける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680960" y="1554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人の集め方 4つの方針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680960" y="1874520"/>
            <a:ext cx="4005072" cy="877824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1911096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社内から選ぶ
</a:t>
            </a:r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必要なのは「商品の知識」と「小売の事情」の両方がわかる人。社外にはほぼいないため、社内の経験者から選ぶ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7680960" y="2825496"/>
            <a:ext cx="4005072" cy="877824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0" y="286207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外部採用は2職種だけ
</a:t>
            </a:r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データ基盤の技術者と、小売の広告データの専門家のみ。それ以外は今いる社員の学び直しでまかなう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7680960" y="3776472"/>
            <a:ext cx="4005072" cy="877824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8120" y="3813048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部門間の異動を仕組みに
</a:t>
            </a:r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マーケと営業を2〜3年で行き来する異動を標準にして、両方がわかる人を計画的に増やす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7680960" y="4727448"/>
            <a:ext cx="4005072" cy="877824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18120" y="4764024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経験者が次を教える
</a:t>
            </a:r>
            <a:pPr indent="0" marL="0">
              <a:lnSpc>
                <a:spcPct val="108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最初の現場の経験者が、次に広げる現場に入って直接教える。座学の研修より実地で伝える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502920" y="5806440"/>
            <a:ext cx="11185855" cy="54864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580644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体制の考え方：</a:t>
            </a:r>
            <a:pPr indent="0" marL="0">
              <a:buNone/>
            </a:pPr>
            <a:r>
              <a:rPr lang="en-US" sz="10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専任は最少（実行チーム5名＋事務局5名）にして、大きなプロジェクト組織は作らない。変革を進める力は人数ではなく、「やめる決定」と「評価の切り離し」という権限から生まれる。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いつやるか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スケジュール ― 日付ではなく「結果」で次に進む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1年目は3か月ごとに区切って結果を積み上げる。その後は3回の確認を設け、結果を確認できたときだけ投資と組織変更を広げる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営業・マーケティング変革 実行計画（討議用）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5179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1年目（2026年9月〜2027年8月）― 最初の現場で結果を作る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847088"/>
            <a:ext cx="2743200" cy="162763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47088"/>
            <a:ext cx="2743200" cy="310896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184708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最初の3か月　チームを作り、現状を測る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612648" y="2231136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実行チームの結成・最初の現場の決定</a:t>
            </a:r>
            <a:endParaRPr lang="en-US" sz="84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事務作業にかかっている時間の測定</a:t>
            </a:r>
            <a:endParaRPr lang="en-US" sz="84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AIが自社商品をどう紹介しているかの観測開始</a:t>
            </a:r>
            <a:endParaRPr lang="en-US" sz="84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研究部門の知見の一覧化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3319272" y="1847088"/>
            <a:ext cx="2743200" cy="162763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1847088"/>
            <a:ext cx="2743200" cy="310896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84708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4〜6か月　最初の武器を作る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3429000" y="2231136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販売データとつなげて最初の予測を作る</a:t>
            </a:r>
            <a:endParaRPr lang="en-US" sz="84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新しい提案を商談で初めて使う</a:t>
            </a:r>
            <a:endParaRPr lang="en-US" sz="84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仕事の廃止と自動化を同時に実行（3割減）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6135624" y="1847088"/>
            <a:ext cx="2743200" cy="162763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35624" y="1847088"/>
            <a:ext cx="2743200" cy="310896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6245352" y="184708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7〜9か月　売場で確かめる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6245352" y="2231136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小売と一緒に売場を作り、効果を販売データで確認</a:t>
            </a:r>
            <a:endParaRPr lang="en-US" sz="84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歯科アプリの試作開始・政策対応チームの始動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8951976" y="1847088"/>
            <a:ext cx="2743200" cy="1627632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51976" y="1847088"/>
            <a:ext cx="2743200" cy="310896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1" name="Text 19"/>
          <p:cNvSpPr/>
          <p:nvPr/>
        </p:nvSpPr>
        <p:spPr>
          <a:xfrm>
            <a:off x="9061704" y="184708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10〜12か月　手順書にまとめる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9061704" y="2231136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1年目の結果（商談・時間・効果）を確定</a:t>
            </a:r>
            <a:endParaRPr lang="en-US" sz="84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確認ポイント1の判定</a:t>
            </a:r>
            <a:endParaRPr lang="en-US" sz="84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84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次の現場へ広げる計画の承認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502920" y="3657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3回の確認ポイント ― 合格したときだけ、次の投資と組織変更に進む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995928"/>
            <a:ext cx="3675888" cy="1783080"/>
          </a:xfrm>
          <a:prstGeom prst="rect">
            <a:avLst/>
          </a:prstGeom>
          <a:solidFill>
            <a:srgbClr val="FBECEC"/>
          </a:solidFill>
          <a:ln w="12700">
            <a:solidFill>
              <a:srgbClr val="E5B8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995928"/>
            <a:ext cx="3675888" cy="32918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" y="399592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確認1｜2027年夏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0936" y="4389120"/>
            <a:ext cx="3419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「値引きに頼らない提案で商談1件成立」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「事務作業3割減」を実測で確認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630936" y="5138928"/>
            <a:ext cx="3419856" cy="0"/>
          </a:xfrm>
          <a:prstGeom prst="line">
            <a:avLst/>
          </a:prstGeom>
          <a:noFill/>
          <a:ln w="9525">
            <a:solidFill>
              <a:srgbClr val="E5B8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" y="5193792"/>
            <a:ext cx="3419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合格したら：3つの商品分野×小売5社への拡大投資、実行チームの増員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4160520" y="46634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51960" y="3995928"/>
            <a:ext cx="3675888" cy="1783080"/>
          </a:xfrm>
          <a:prstGeom prst="rect">
            <a:avLst/>
          </a:prstGeom>
          <a:solidFill>
            <a:srgbClr val="FBECEC"/>
          </a:solidFill>
          <a:ln w="12700">
            <a:solidFill>
              <a:srgbClr val="E5B8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51960" y="3995928"/>
            <a:ext cx="3675888" cy="32918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3" name="Text 31"/>
          <p:cNvSpPr/>
          <p:nvPr/>
        </p:nvSpPr>
        <p:spPr>
          <a:xfrm>
            <a:off x="4379976" y="399592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確認2｜2028年度末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379976" y="4389120"/>
            <a:ext cx="3419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「10商談・小売3社で同じ結果を再現」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「買い続けるお客様が増えた」ことをデータで確認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379976" y="5138928"/>
            <a:ext cx="3419856" cy="0"/>
          </a:xfrm>
          <a:prstGeom prst="line">
            <a:avLst/>
          </a:prstGeom>
          <a:noFill/>
          <a:ln w="9525">
            <a:solidFill>
              <a:srgbClr val="E5B8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79976" y="5193792"/>
            <a:ext cx="3419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合格したら：橋渡し役の正式組織化、評価制度の変更、データ基盤への本格投資</a:t>
            </a:r>
            <a:endParaRPr lang="en-US" sz="830" dirty="0"/>
          </a:p>
        </p:txBody>
      </p:sp>
      <p:sp>
        <p:nvSpPr>
          <p:cNvPr id="37" name="Text 35"/>
          <p:cNvSpPr/>
          <p:nvPr/>
        </p:nvSpPr>
        <p:spPr>
          <a:xfrm>
            <a:off x="7909560" y="46634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001000" y="3995928"/>
            <a:ext cx="3675888" cy="1783080"/>
          </a:xfrm>
          <a:prstGeom prst="rect">
            <a:avLst/>
          </a:prstGeom>
          <a:solidFill>
            <a:srgbClr val="FBECEC"/>
          </a:solidFill>
          <a:ln w="12700">
            <a:solidFill>
              <a:srgbClr val="E5B8B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01000" y="3995928"/>
            <a:ext cx="3675888" cy="32918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0" name="Text 38"/>
          <p:cNvSpPr/>
          <p:nvPr/>
        </p:nvSpPr>
        <p:spPr>
          <a:xfrm>
            <a:off x="8129016" y="399592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確認3｜2031年ごろ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129016" y="4389120"/>
            <a:ext cx="3419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「主要小売5社と共同の事業計画」</a:t>
            </a:r>
            <a:endParaRPr lang="en-US" sz="8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「商品データの公開完了」を確認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8129016" y="5138928"/>
            <a:ext cx="3419856" cy="0"/>
          </a:xfrm>
          <a:prstGeom prst="line">
            <a:avLst/>
          </a:prstGeom>
          <a:noFill/>
          <a:ln w="9525">
            <a:solidFill>
              <a:srgbClr val="E5B8B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29016" y="5193792"/>
            <a:ext cx="3419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3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合格したら：全社の標準のやり方に。評価を新基準に全面切り替え</a:t>
            </a:r>
            <a:endParaRPr lang="en-US" sz="830" dirty="0"/>
          </a:p>
        </p:txBody>
      </p:sp>
      <p:sp>
        <p:nvSpPr>
          <p:cNvPr id="44" name="Text 42"/>
          <p:cNvSpPr/>
          <p:nvPr/>
        </p:nvSpPr>
        <p:spPr>
          <a:xfrm>
            <a:off x="502920" y="59893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2032年以降は前回資料の中期・長期の計画につながる。不合格の場合は広げずに、どの手順で詰まったかを調べ、直してから再挑戦する。</a:t>
            </a:r>
            <a:endParaRPr lang="en-US" sz="930" dirty="0"/>
          </a:p>
        </p:txBody>
      </p:sp>
      <p:sp>
        <p:nvSpPr>
          <p:cNvPr id="45" name="Text 43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何が返ってくるか（1/3）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かかるお金と、返ってくる効果（仮の試算・要確認）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5年間の投資30〜50億円に対し、効果は年45〜95億円。2〜3年で回収できる計算。最大の効果は「商品が棚やAIから外されるのを防ぐ」こと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営業・マーケティング変革 実行計画（討議用）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3566160" cy="30175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72768"/>
            <a:ext cx="3566160" cy="34747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727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かかるお金（5年間の合計）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30〜50億円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最初の3年間：年3〜5億円
</a:t>
            </a:r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今あるシステムの活用と、専任者の人件費が中心。新しいシステムはほとんど買わない
</a:t>
            </a:r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4年目以降：合計20〜35億円
</a:t>
            </a:r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データ基盤・商品データの公開・歯科アプリの本格版。確認ポイント2に合格したら投資する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43400" y="1572768"/>
            <a:ext cx="7342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572768"/>
            <a:ext cx="64008" cy="89611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645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事務作業を減らした時間の価値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4526280" y="20299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15〜25億円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69480" y="1627632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営業・マーケの約800名（仮の人数）の事務作業を3〜4割減らした場合の人件費に相当。浮いた時間は商談と売場づくりに使う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343400" y="2542032"/>
            <a:ext cx="7342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2542032"/>
            <a:ext cx="64008" cy="89611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26151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値引き費用の使い方の見直し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4526280" y="29992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20〜40億円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69480" y="2596896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値引き・特売の費用（仮に売上の12〜15%＝500〜600億円）のうち5〜10%を「また買ってもらうための売場づくり」に振り替え、利益率を改善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343400" y="3511296"/>
            <a:ext cx="7342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3511296"/>
            <a:ext cx="64008" cy="89611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35844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広告費のムダ削減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4526280" y="396849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10〜30億円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69480" y="3566160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広告の効果を測れるようにして、効果の低い広告費の1割程度を、効果の高い使い方に移す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343400" y="4480560"/>
            <a:ext cx="73426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43400" y="4480560"/>
            <a:ext cx="64008" cy="89611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2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棚やAIから外されるのを防ぐ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4526280" y="49377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金額化は困難・ただし最大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269480" y="4535424"/>
            <a:ext cx="4297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環境や商品のデータが足りない商品は、将来、小売やAIの仕組みが自動的に取り扱いから外す。それを防ぐ＝売上を守ることが最大の効果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02920" y="5486400"/>
            <a:ext cx="11185855" cy="86868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5550408"/>
            <a:ext cx="107286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回収の見通し：</a:t>
            </a:r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効果①〜③の合計は年45〜95億円。投資は5年で30〜50億円なので、2〜3年で回収できる計算。</a:t>
            </a:r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FD5D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ただし人数や費用の内訳はすべて仮の数字。最初の90日で実際に測り、確かな数字に置き換えてから経営会議で確定する。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何が返ってくるか（2/3）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部門ごとのメリット ― それぞれに「何が良くなるか」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変革は号令だけでは動かない。各部門が「自分たちの得になる」と言える状態を作ることが、やる気を生む一番の近道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営業・マーケティング変革 実行計画（討議用）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8585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6583680"/>
                <a:gridCol w="304495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部門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何が良くなるか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見る数字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営業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務作業が減り、商談の準備と対話の時間が約2倍になる。値引きではなく「数字の根拠」で提案できるので、商談に勝ちやすくなり、バイヤーから「仕入先の一つ」ではなく「頼れる相談相手」として扱われるようにな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事務作業の時間の割合／新しい提案が成立した数／特売への依存度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マーケティング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打った広告が実際にお店での購入につながったかを、初めて数字で確認できる。効果の薄い広告を減らし、効く施策にお金を移せる。作った資料や知見が、営業を通じて売上に直接つながる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効果を測定できている広告の割合／買い続けてくれるお客様の割合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研究開発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約30年分の研究データが商談で使われて売上に貢献し、その貢献度が数字で見えるようになる。売場での検証結果が研究部門に戻ってくるので、次の研究テーマ選びにも役立つ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研究データを使った提案の数／商談での活用率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生産・物流・環境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商品や環境のデータを整えることが、小売からの審査への回答になり、取り扱い中止のリスクが減る。店頭での容器回収など、負担の大きい作業のやり方を小売と一緒に設計できるようになる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環境データを整備できた商品の割合／欠品率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経営・経営管理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販促費・広告費・システム投資の効果を同じ物差しで比べられるようになり、お金の配分の判断が速く正確になる。毎月の「売れ方の観測」が、市場の変化への早期警報として機能する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利益率／投資に対する効果／買い続けるお客様による売上の割合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人事・全社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マーケと営業を行き来する異動で、両方がわかる人材が育つ。「変革に取り組んだ人が報われる」評価になることで、意欲のある社員の離職を防げる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部門間異動の数／新しい評価を適用された人数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172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各数字の目標値は、最初の90日の実測が終わってから推進事務局が案を作り、経営会議で決める。</a:t>
            </a:r>
            <a:endParaRPr lang="en-US" sz="93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何が返ってくるか（3/3)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目標の数字 ― 現場の数字から会社の目標まで一本につなぐ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会社としての最終目標は3つだけ。現場で追う数字はすべてこの3つのどれかにつながる。つながらない施策は原則やらない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営業・マーケティング変革 実行計画（討議用）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517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最終目標（2040年・会社全体）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383280" cy="117043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883664"/>
            <a:ext cx="3108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利益率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値引きに頼らずに利益を出せる会社になれたかを測る、一番大事な指標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108960"/>
            <a:ext cx="3383280" cy="117043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" y="3163824"/>
            <a:ext cx="3108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買い続けてもらう売上の割合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一度きりではなく、習慣として買われている売上の割合。目標は5割超（基準はこれから設定）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4389120"/>
            <a:ext cx="3383280" cy="117043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" y="4443984"/>
            <a:ext cx="3108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AI・小売の仕組みへの登録数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AIが買い物を代行する時代に「最初から選ばれる商品」になれた商品分野の数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93192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43400" y="15179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中間の目標（〜2034年）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43400" y="1828800"/>
            <a:ext cx="3566160" cy="859536"/>
          </a:xfrm>
          <a:prstGeom prst="rect">
            <a:avLst/>
          </a:prstGeom>
          <a:solidFill>
            <a:srgbClr val="EAF3F8"/>
          </a:solidFill>
          <a:ln w="9525">
            <a:solidFill>
              <a:srgbClr val="BCD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1865376"/>
            <a:ext cx="3310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お客様の年間購入額の伸び
</a:t>
            </a:r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最初の現場から広げた先まで共通で使う物差し。マーケ・橋渡し役・営業の3者共通の目標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43400" y="2798064"/>
            <a:ext cx="3566160" cy="859536"/>
          </a:xfrm>
          <a:prstGeom prst="rect">
            <a:avLst/>
          </a:prstGeom>
          <a:solidFill>
            <a:srgbClr val="EAF3F8"/>
          </a:solidFill>
          <a:ln w="9525">
            <a:solidFill>
              <a:srgbClr val="BCD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2834640"/>
            <a:ext cx="3310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販促費・広告費の投資効果
</a:t>
            </a:r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値引きから「効果の見える使い方」へどれだけ転換できたか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43400" y="3767328"/>
            <a:ext cx="3566160" cy="859536"/>
          </a:xfrm>
          <a:prstGeom prst="rect">
            <a:avLst/>
          </a:prstGeom>
          <a:solidFill>
            <a:srgbClr val="EAF3F8"/>
          </a:solidFill>
          <a:ln w="9525">
            <a:solidFill>
              <a:srgbClr val="BCD6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3803904"/>
            <a:ext cx="3310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1人あたり生産性の差の半減
</a:t>
            </a:r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現在、P&amp;Gと約7.6倍の開きがある1人あたりの生産性の差を半分にする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43400" y="4736592"/>
            <a:ext cx="3566160" cy="859536"/>
          </a:xfrm>
          <a:prstGeom prst="rect">
            <a:avLst/>
          </a:prstGeom>
          <a:solidFill>
            <a:srgbClr val="EAF3F8"/>
          </a:solidFill>
          <a:ln w="9525">
            <a:solidFill>
              <a:srgbClr val="BCD6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4773168"/>
            <a:ext cx="3310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商品・環境データの整備率
</a:t>
            </a:r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小売やAIの審査で外されない商品の割合。データを公開できた商品分野の割合で測る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0100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◀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0" y="15179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1年目の目標（現場の数字）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412480" y="1828800"/>
            <a:ext cx="3273552" cy="384048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0" y="1938528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新しい提案が成立した商談の数（1件→10件）</a:t>
            </a:r>
            <a:endParaRPr lang="en-US" sz="87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事務作業の時間の削減率（3割→5割）</a:t>
            </a:r>
            <a:endParaRPr lang="en-US" sz="87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提案資料のひな形の数と、営業が実際に使った割合</a:t>
            </a:r>
            <a:endParaRPr lang="en-US" sz="87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小売と一緒に作った売場の店舗数と検証の数</a:t>
            </a:r>
            <a:endParaRPr lang="en-US" sz="87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売れ方の観測レポートの毎月発行</a:t>
            </a:r>
            <a:endParaRPr lang="en-US" sz="87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「やめる」と決めた仕事の実行率（100%）</a:t>
            </a:r>
            <a:endParaRPr lang="en-US" sz="87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歯科アプリに参加した医院の数・教材を導入した学校の数</a:t>
            </a:r>
            <a:endParaRPr lang="en-US" sz="87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87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変革に参加した人への加点評価の適用数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502920" y="5852160"/>
            <a:ext cx="11185855" cy="54864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8521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運用のルール：</a:t>
            </a:r>
            <a:pPr indent="0" marL="0">
              <a:buNone/>
            </a:pPr>
            <a:r>
              <a:rPr lang="en-US" sz="100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現場の数字は3か月ごとに推進事務局が測り、経営会議に報告する。最終目標につながらない新しい施策の追加は原則行わない ― 「システムを入れること自体が目的」になることを防ぐ。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決めていただきたいこと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経営に決めていただきたい3つのことと、90日で調べること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計画は「決定の先送り」で止まる。最初の現場を動かすために、次回の経営会議で以下3点の決定をお願いしたい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営業・マーケティング変革 実行計画（討議用）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367588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72768"/>
            <a:ext cx="3675888" cy="3840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7276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決定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66544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最初の現場と、専任者を決める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3401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試す商品分野（オーラルケア）・小売企業・支店を決め、専任5名（支店営業2・マーケ1・橋渡し役1・デジタル戦略1）を、ふだんの仕事から外して出す。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決めないとどうなるか：全員が兼任のままになり、8つの取り組みがまた部署ごとにバラバラになる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4251960" y="1572768"/>
            <a:ext cx="367588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1572768"/>
            <a:ext cx="3675888" cy="3840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57276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決定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0" y="2066544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「やめる仕事」を経営の名前で宣言する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89120" y="2697480"/>
            <a:ext cx="3401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事務時間を測った結果をもとに「やめる仕事の一覧」を作り、経営の名前で宣言する。実行されているかを3か月ごとに経営会議で確認する。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4389120" y="3657600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決めないとどうなるか：AIを入れても仕事が減らず、現場に時間が生まれない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8001000" y="1572768"/>
            <a:ext cx="367588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1572768"/>
            <a:ext cx="3675888" cy="3840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1572768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決定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38160" y="2066544"/>
            <a:ext cx="3401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変革チームの評価を、売上目標から切り離す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38160" y="2697480"/>
            <a:ext cx="3401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実行チーム・橋渡し役・事務局の人事評価を通常の売上目標から切り離し、変革の進み具合で評価する仕組みを人事部門と合意する。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8138160" y="3657600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決めないとどうなるか：参加した人ほど評価で損をして、誰も本気で取り組まなくなる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50292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並行して90日以内に調べること（推進事務局）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4892040"/>
            <a:ext cx="11185855" cy="146304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001768"/>
            <a:ext cx="108200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効果試算の前提の確認：営業・マーケの人数、値引き・特売費と広告費の内訳、事務作業の実際の時間を測る</a:t>
            </a:r>
            <a:endParaRPr lang="en-US" sz="98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「お客様の年間購入額」の計算方法を、マーケ・営業・経営管理の間で合意する</a:t>
            </a:r>
            <a:endParaRPr lang="en-US" sz="98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組む小売の選び方：データ連携に前向きか、これまでの信頼関係があるか、を基準に候補を絞る</a:t>
            </a:r>
            <a:endParaRPr lang="en-US" sz="98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歯科医師会・小売の経営層との対話を始める（社外の合意が必要なため、最も時間がかかる項目）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2026-08-02T16:58:55Z</dcterms:created>
  <dcterms:modified xsi:type="dcterms:W3CDTF">2026-08-02T16:58:55Z</dcterms:modified>
</cp:coreProperties>
</file>