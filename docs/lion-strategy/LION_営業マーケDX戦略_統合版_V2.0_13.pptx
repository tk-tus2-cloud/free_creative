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44" r:id="rId41"/>
    <p:sldId id="2147483619" r:id="rId12"/>
    <p:sldId id="2147483641" r:id="rId38"/>
    <p:sldId id="2147483633" r:id="rId23"/>
    <p:sldId id="2147483634" r:id="rId24"/>
    <p:sldId id="2147483642" r:id="rId39"/>
    <p:sldId id="2147483645" r:id="rId42"/>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P.8の3つの解決（使い方・材料・仕組み）を4テーマの言葉に戻す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最上位</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現場KPIは四半期・ユニークKPIは半期でオーナー役員がレビュー。最上位KPI（増分粗利）に接続しない施策の追加は原則却下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解決1の4市場分割は次頁で図解し、その先で4テーマの言葉に展開する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 ― 同じ販促原資のうち7割は従来通りの値引き（関係を守る）、3割を売場・メディア等の施策に振替え、効果は小売データで共同検証。目標達成なら小売へ還元し翌期は施策比率を拡大、未達なら値引きに戻す（70:30は初期値）</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 4市場の中身・勝ち方・KPIは次頁で図解</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①投資と店頭売上の因果を測る物差しを先に作る（B1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B1（ROI可視化）が投資判断の物差しを作り → D1（事務ゼロ化）が商談の時間を生み → C1・A1が提案の材料を揃え → 解決1の新しい使い方に流し込む。ROI計算式に紐づかない施策はやらない。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0020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商品データをAIが読める形にして小売システムへ直結する</a:t>
            </a:r>
          </a:p>
          <a:p>
            <a:pPr>
              <a:lnSpc>
                <a:spcPct val="108000"/>
              </a:lnSpc>
            </a:pPr>
            <a:r>
              <a:rPr sz="640" b="0">
                <a:solidFill>
                  <a:srgbClr val="595959"/>
                </a:solidFill>
                <a:latin typeface="Meiryo UI"/>
                <a:ea typeface="Meiryo UI"/>
              </a:rPr>
              <a:t>＝属性データの構造化・API化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5798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学校の歯みがき教育・自治体健診を、続くデジタル接点に変える</a:t>
            </a:r>
          </a:p>
          <a:p>
            <a:pPr>
              <a:lnSpc>
                <a:spcPct val="108000"/>
              </a:lnSpc>
            </a:pPr>
            <a:r>
              <a:rPr sz="640" b="0">
                <a:solidFill>
                  <a:srgbClr val="595959"/>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紙と単発イベントの啓発を、アプリ・デジタル教材の継続接点にし、子どものうちからの習慣づくりを測れる資産にする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24912"/>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広告・販促の効果を金額で測る「物差し」を作る</a:t>
            </a:r>
          </a:p>
          <a:p>
            <a:pPr>
              <a:lnSpc>
                <a:spcPct val="108000"/>
              </a:lnSpc>
            </a:pPr>
            <a:r>
              <a:rPr sz="640" b="0">
                <a:solidFill>
                  <a:srgbClr val="595959"/>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全施策の投資判断の物差しになる起点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28269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小売アプリ・サイト広告の運用を自社の手に取り戻す</a:t>
            </a:r>
          </a:p>
          <a:p>
            <a:pPr>
              <a:lnSpc>
                <a:spcPct val="108000"/>
              </a:lnSpc>
            </a:pPr>
            <a:r>
              <a:rPr sz="640" b="0">
                <a:solidFill>
                  <a:srgbClr val="595959"/>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4962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研究・臨床データを、商談で使える数字に自動変換する</a:t>
            </a:r>
          </a:p>
          <a:p>
            <a:pPr>
              <a:lnSpc>
                <a:spcPct val="108000"/>
              </a:lnSpc>
            </a:pPr>
            <a:r>
              <a:rPr sz="640" b="0">
                <a:solidFill>
                  <a:srgbClr val="595959"/>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07408"/>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成功した商談を型にして、誰でも再現できるようにする</a:t>
            </a:r>
          </a:p>
          <a:p>
            <a:pPr>
              <a:lnSpc>
                <a:spcPct val="108000"/>
              </a:lnSpc>
            </a:pPr>
            <a:r>
              <a:rPr sz="640" b="0">
                <a:solidFill>
                  <a:srgbClr val="595959"/>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ベテランの暗黙知を形式知化し、提案の質を人に依存させない</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7433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資料作成・集計をAIで自動化し、商談の時間を生み出す</a:t>
            </a:r>
          </a:p>
          <a:p>
            <a:pPr>
              <a:lnSpc>
                <a:spcPct val="108000"/>
              </a:lnSpc>
            </a:pPr>
            <a:r>
              <a:rPr sz="640" b="0">
                <a:solidFill>
                  <a:srgbClr val="595959"/>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3212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1人で対応する営業をやめ、チーム対チームで小売と組む</a:t>
            </a:r>
          </a:p>
          <a:p>
            <a:pPr>
              <a:lnSpc>
                <a:spcPct val="108000"/>
              </a:lnSpc>
            </a:pPr>
            <a:r>
              <a:rPr sz="640" b="0">
                <a:solidFill>
                  <a:srgbClr val="595959"/>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P.9の4市場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意思決定・プロジェクト管理・実務実行の3階層で構成する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報告はデジタル戦略会議（四半期）と確認ゲート（FY27夏・FY28末・FY30）で実施 ― 検証責任と撤退基準は提案側が持つ</a:t>
            </a:r>
          </a:p>
        </p:txBody>
      </p:sp>
      <p:sp>
        <p:nvSpPr>
          <p:cNvPr id="14" name="Rectangle 13"/>
          <p:cNvSpPr/>
          <p:nvPr/>
        </p:nvSpPr>
        <p:spPr>
          <a:xfrm>
            <a:off x="320040" y="1298448"/>
            <a:ext cx="608076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335024"/>
            <a:ext cx="585216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プロジェクト体制</a:t>
            </a:r>
          </a:p>
        </p:txBody>
      </p:sp>
      <p:sp>
        <p:nvSpPr>
          <p:cNvPr id="16" name="Rectangle 15"/>
          <p:cNvSpPr/>
          <p:nvPr/>
        </p:nvSpPr>
        <p:spPr>
          <a:xfrm>
            <a:off x="411480" y="1755648"/>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1801368"/>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デジタル戦略会議</a:t>
            </a:r>
          </a:p>
          <a:p>
            <a:pPr>
              <a:lnSpc>
                <a:spcPct val="112000"/>
              </a:lnSpc>
            </a:pPr>
            <a:r>
              <a:rPr sz="660" b="0">
                <a:solidFill>
                  <a:srgbClr val="262626"/>
                </a:solidFill>
                <a:latin typeface="Meiryo UI"/>
                <a:ea typeface="Meiryo UI"/>
              </a:rPr>
              <a:t>（四半期）役員オーナー5名＋PJリーダーで報告・意思決定</a:t>
            </a:r>
          </a:p>
        </p:txBody>
      </p:sp>
      <p:sp>
        <p:nvSpPr>
          <p:cNvPr id="18" name="Rectangle 17"/>
          <p:cNvSpPr/>
          <p:nvPr/>
        </p:nvSpPr>
        <p:spPr>
          <a:xfrm>
            <a:off x="411480" y="2615184"/>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2660904"/>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確認ゲートレビュー</a:t>
            </a:r>
          </a:p>
          <a:p>
            <a:pPr>
              <a:lnSpc>
                <a:spcPct val="112000"/>
              </a:lnSpc>
            </a:pPr>
            <a:r>
              <a:rPr sz="660" b="0">
                <a:solidFill>
                  <a:srgbClr val="262626"/>
                </a:solidFill>
                <a:latin typeface="Meiryo UI"/>
                <a:ea typeface="Meiryo UI"/>
              </a:rPr>
              <a:t>FY27夏・FY28末・FY30 ― 合否と撤退を判定</a:t>
            </a:r>
          </a:p>
        </p:txBody>
      </p:sp>
      <p:sp>
        <p:nvSpPr>
          <p:cNvPr id="20" name="Rectangle 19"/>
          <p:cNvSpPr/>
          <p:nvPr/>
        </p:nvSpPr>
        <p:spPr>
          <a:xfrm>
            <a:off x="2148840" y="1755648"/>
            <a:ext cx="2148840" cy="65836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1801368"/>
            <a:ext cx="1965960" cy="566928"/>
          </a:xfrm>
          <a:prstGeom prst="rect">
            <a:avLst/>
          </a:prstGeom>
          <a:noFill/>
        </p:spPr>
        <p:txBody>
          <a:bodyPr wrap="square" lIns="0" rIns="0" tIns="0" bIns="0">
            <a:spAutoFit/>
          </a:bodyPr>
          <a:lstStyle/>
          <a:p>
            <a:pPr>
              <a:lnSpc>
                <a:spcPct val="115000"/>
              </a:lnSpc>
            </a:pPr>
            <a:r>
              <a:rPr sz="819" b="1">
                <a:solidFill>
                  <a:srgbClr val="FFFFFF"/>
                </a:solidFill>
                <a:latin typeface="Meiryo UI"/>
                <a:ea typeface="Meiryo UI"/>
              </a:rPr>
              <a:t>プロジェクトオーナー</a:t>
            </a:r>
          </a:p>
          <a:p>
            <a:pPr>
              <a:lnSpc>
                <a:spcPct val="115000"/>
              </a:lnSpc>
            </a:pPr>
            <a:r>
              <a:rPr sz="680" b="0">
                <a:solidFill>
                  <a:srgbClr val="FFFFFF"/>
                </a:solidFill>
                <a:latin typeface="Meiryo UI"/>
                <a:ea typeface="Meiryo UI"/>
              </a:rPr>
              <a:t>担当役員 ― 次回会議で任命（決定3）</a:t>
            </a:r>
          </a:p>
        </p:txBody>
      </p:sp>
      <p:sp>
        <p:nvSpPr>
          <p:cNvPr id="22" name="Rectangle 21"/>
          <p:cNvSpPr/>
          <p:nvPr/>
        </p:nvSpPr>
        <p:spPr>
          <a:xfrm>
            <a:off x="2148840" y="2670048"/>
            <a:ext cx="2148840" cy="65836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80" y="2715768"/>
            <a:ext cx="1965960" cy="566928"/>
          </a:xfrm>
          <a:prstGeom prst="rect">
            <a:avLst/>
          </a:prstGeom>
          <a:noFill/>
        </p:spPr>
        <p:txBody>
          <a:bodyPr wrap="square" lIns="0" rIns="0" tIns="0" bIns="0">
            <a:spAutoFit/>
          </a:bodyPr>
          <a:lstStyle/>
          <a:p>
            <a:pPr>
              <a:lnSpc>
                <a:spcPct val="115000"/>
              </a:lnSpc>
            </a:pPr>
            <a:r>
              <a:rPr sz="819" b="1">
                <a:solidFill>
                  <a:srgbClr val="16233A"/>
                </a:solidFill>
                <a:latin typeface="Meiryo UI"/>
                <a:ea typeface="Meiryo UI"/>
              </a:rPr>
              <a:t>推進責任者</a:t>
            </a:r>
          </a:p>
          <a:p>
            <a:pPr>
              <a:lnSpc>
                <a:spcPct val="115000"/>
              </a:lnSpc>
            </a:pPr>
            <a:r>
              <a:rPr sz="680" b="0">
                <a:solidFill>
                  <a:srgbClr val="262626"/>
                </a:solidFill>
                <a:latin typeface="Meiryo UI"/>
                <a:ea typeface="Meiryo UI"/>
              </a:rPr>
              <a:t>国内BU変革PJ専任リーダー（部長級・社内公募含む）</a:t>
            </a:r>
          </a:p>
        </p:txBody>
      </p:sp>
      <p:sp>
        <p:nvSpPr>
          <p:cNvPr id="24" name="Rectangle 23"/>
          <p:cNvSpPr/>
          <p:nvPr/>
        </p:nvSpPr>
        <p:spPr>
          <a:xfrm>
            <a:off x="4572000" y="1755648"/>
            <a:ext cx="1828800" cy="65836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1801368"/>
            <a:ext cx="1645920" cy="566928"/>
          </a:xfrm>
          <a:prstGeom prst="rect">
            <a:avLst/>
          </a:prstGeom>
          <a:noFill/>
        </p:spPr>
        <p:txBody>
          <a:bodyPr wrap="square" lIns="0" rIns="0" tIns="0" bIns="0">
            <a:spAutoFit/>
          </a:bodyPr>
          <a:lstStyle/>
          <a:p>
            <a:pPr>
              <a:lnSpc>
                <a:spcPct val="115000"/>
              </a:lnSpc>
            </a:pPr>
            <a:r>
              <a:rPr sz="819" b="1">
                <a:solidFill>
                  <a:srgbClr val="0F5E87"/>
                </a:solidFill>
                <a:latin typeface="Meiryo UI"/>
                <a:ea typeface="Meiryo UI"/>
              </a:rPr>
              <a:t>PM/PMO</a:t>
            </a:r>
          </a:p>
          <a:p>
            <a:pPr>
              <a:lnSpc>
                <a:spcPct val="115000"/>
              </a:lnSpc>
            </a:pPr>
            <a:r>
              <a:rPr sz="680" b="0">
                <a:solidFill>
                  <a:srgbClr val="262626"/>
                </a:solidFill>
                <a:latin typeface="Meiryo UI"/>
                <a:ea typeface="Meiryo UI"/>
              </a:rPr>
              <a:t>デジタル戦略部 ― リーダーとペア運営</a:t>
            </a:r>
          </a:p>
        </p:txBody>
      </p:sp>
      <p:sp>
        <p:nvSpPr>
          <p:cNvPr id="26" name="Rectangle 25"/>
          <p:cNvSpPr/>
          <p:nvPr/>
        </p:nvSpPr>
        <p:spPr>
          <a:xfrm>
            <a:off x="4572000" y="2670048"/>
            <a:ext cx="1828800" cy="658368"/>
          </a:xfrm>
          <a:prstGeom prst="rect">
            <a:avLst/>
          </a:prstGeom>
          <a:solidFill>
            <a:srgbClr val="FFFFFF"/>
          </a:solidFill>
          <a:ln w="1143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15768"/>
            <a:ext cx="1645920" cy="566928"/>
          </a:xfrm>
          <a:prstGeom prst="rect">
            <a:avLst/>
          </a:prstGeom>
          <a:noFill/>
        </p:spPr>
        <p:txBody>
          <a:bodyPr wrap="square" lIns="0" rIns="0" tIns="0" bIns="0">
            <a:spAutoFit/>
          </a:bodyPr>
          <a:lstStyle/>
          <a:p>
            <a:pPr>
              <a:lnSpc>
                <a:spcPct val="115000"/>
              </a:lnSpc>
            </a:pPr>
            <a:r>
              <a:rPr sz="819" b="1">
                <a:solidFill>
                  <a:srgbClr val="595959"/>
                </a:solidFill>
                <a:latin typeface="Meiryo UI"/>
                <a:ea typeface="Meiryo UI"/>
              </a:rPr>
              <a:t>外部支援</a:t>
            </a:r>
          </a:p>
          <a:p>
            <a:pPr>
              <a:lnSpc>
                <a:spcPct val="115000"/>
              </a:lnSpc>
            </a:pPr>
            <a:r>
              <a:rPr sz="680" b="0">
                <a:solidFill>
                  <a:srgbClr val="262626"/>
                </a:solidFill>
                <a:latin typeface="Meiryo UI"/>
                <a:ea typeface="Meiryo UI"/>
              </a:rPr>
              <a:t>MMM・DCRベンダー ― FY26上期に選定（TBA）</a:t>
            </a:r>
          </a:p>
        </p:txBody>
      </p:sp>
      <p:cxnSp>
        <p:nvCxnSpPr>
          <p:cNvPr id="28" name="Connector 27"/>
          <p:cNvCxnSpPr/>
          <p:nvPr/>
        </p:nvCxnSpPr>
        <p:spPr>
          <a:xfrm>
            <a:off x="1874519" y="2112264"/>
            <a:ext cx="274321" cy="0"/>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874519" y="2971800"/>
            <a:ext cx="274321" cy="27432"/>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18688" y="24140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97680" y="2999232"/>
            <a:ext cx="274320" cy="0"/>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18688" y="33284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11480"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B1★</a:t>
            </a:r>
            <a:r>
              <a:rPr sz="740" b="1">
                <a:solidFill>
                  <a:srgbClr val="262626"/>
                </a:solidFill>
                <a:latin typeface="Meiryo UI"/>
                <a:ea typeface="Meiryo UI"/>
              </a:rPr>
              <a:t>　ROIの物差し</a:t>
            </a:r>
          </a:p>
          <a:p>
            <a:pPr>
              <a:lnSpc>
                <a:spcPct val="115000"/>
              </a:lnSpc>
            </a:pPr>
            <a:r>
              <a:rPr sz="660" b="0">
                <a:solidFill>
                  <a:srgbClr val="595959"/>
                </a:solidFill>
                <a:latin typeface="Meiryo UI"/>
                <a:ea typeface="Meiryo UI"/>
              </a:rPr>
              <a:t>PL：TBA</a:t>
            </a:r>
          </a:p>
        </p:txBody>
      </p:sp>
      <p:sp>
        <p:nvSpPr>
          <p:cNvPr id="35" name="Rectangle 34"/>
          <p:cNvSpPr/>
          <p:nvPr/>
        </p:nvSpPr>
        <p:spPr>
          <a:xfrm>
            <a:off x="1618488"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73352"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A1★</a:t>
            </a:r>
            <a:r>
              <a:rPr sz="740" b="1">
                <a:solidFill>
                  <a:srgbClr val="262626"/>
                </a:solidFill>
                <a:latin typeface="Meiryo UI"/>
                <a:ea typeface="Meiryo UI"/>
              </a:rPr>
              <a:t>　データ直結</a:t>
            </a:r>
          </a:p>
          <a:p>
            <a:pPr>
              <a:lnSpc>
                <a:spcPct val="115000"/>
              </a:lnSpc>
            </a:pPr>
            <a:r>
              <a:rPr sz="660" b="0">
                <a:solidFill>
                  <a:srgbClr val="595959"/>
                </a:solidFill>
                <a:latin typeface="Meiryo UI"/>
                <a:ea typeface="Meiryo UI"/>
              </a:rPr>
              <a:t>PL：TBA</a:t>
            </a:r>
          </a:p>
        </p:txBody>
      </p:sp>
      <p:sp>
        <p:nvSpPr>
          <p:cNvPr id="37" name="Rectangle 36"/>
          <p:cNvSpPr/>
          <p:nvPr/>
        </p:nvSpPr>
        <p:spPr>
          <a:xfrm>
            <a:off x="2825496"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60"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C1★C2</a:t>
            </a:r>
            <a:r>
              <a:rPr sz="740" b="1">
                <a:solidFill>
                  <a:srgbClr val="262626"/>
                </a:solidFill>
                <a:latin typeface="Meiryo UI"/>
                <a:ea typeface="Meiryo UI"/>
              </a:rPr>
              <a:t>　商談の材料</a:t>
            </a:r>
          </a:p>
          <a:p>
            <a:pPr>
              <a:lnSpc>
                <a:spcPct val="115000"/>
              </a:lnSpc>
            </a:pPr>
            <a:r>
              <a:rPr sz="660" b="0">
                <a:solidFill>
                  <a:srgbClr val="595959"/>
                </a:solidFill>
                <a:latin typeface="Meiryo UI"/>
                <a:ea typeface="Meiryo UI"/>
              </a:rPr>
              <a:t>PL：TBA</a:t>
            </a:r>
          </a:p>
        </p:txBody>
      </p:sp>
      <p:sp>
        <p:nvSpPr>
          <p:cNvPr id="39" name="Rectangle 38"/>
          <p:cNvSpPr/>
          <p:nvPr/>
        </p:nvSpPr>
        <p:spPr>
          <a:xfrm>
            <a:off x="4032504"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87368"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B2</a:t>
            </a:r>
            <a:r>
              <a:rPr sz="740" b="1">
                <a:solidFill>
                  <a:srgbClr val="262626"/>
                </a:solidFill>
                <a:latin typeface="Meiryo UI"/>
                <a:ea typeface="Meiryo UI"/>
              </a:rPr>
              <a:t>　メディア内製</a:t>
            </a:r>
          </a:p>
          <a:p>
            <a:pPr>
              <a:lnSpc>
                <a:spcPct val="115000"/>
              </a:lnSpc>
            </a:pPr>
            <a:r>
              <a:rPr sz="660" b="0">
                <a:solidFill>
                  <a:srgbClr val="595959"/>
                </a:solidFill>
                <a:latin typeface="Meiryo UI"/>
                <a:ea typeface="Meiryo UI"/>
              </a:rPr>
              <a:t>PL：TBA</a:t>
            </a:r>
          </a:p>
        </p:txBody>
      </p:sp>
      <p:sp>
        <p:nvSpPr>
          <p:cNvPr id="41" name="Rectangle 40"/>
          <p:cNvSpPr/>
          <p:nvPr/>
        </p:nvSpPr>
        <p:spPr>
          <a:xfrm>
            <a:off x="5239512"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94376"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D1★D2</a:t>
            </a:r>
            <a:r>
              <a:rPr sz="740" b="1">
                <a:solidFill>
                  <a:srgbClr val="262626"/>
                </a:solidFill>
                <a:latin typeface="Meiryo UI"/>
                <a:ea typeface="Meiryo UI"/>
              </a:rPr>
              <a:t>　時間と体制</a:t>
            </a:r>
          </a:p>
          <a:p>
            <a:pPr>
              <a:lnSpc>
                <a:spcPct val="115000"/>
              </a:lnSpc>
            </a:pPr>
            <a:r>
              <a:rPr sz="660" b="0">
                <a:solidFill>
                  <a:srgbClr val="595959"/>
                </a:solidFill>
                <a:latin typeface="Meiryo UI"/>
                <a:ea typeface="Meiryo UI"/>
              </a:rPr>
              <a:t>PL：TBA</a:t>
            </a:r>
          </a:p>
        </p:txBody>
      </p:sp>
      <p:sp>
        <p:nvSpPr>
          <p:cNvPr id="43" name="Rectangle 42"/>
          <p:cNvSpPr/>
          <p:nvPr/>
        </p:nvSpPr>
        <p:spPr>
          <a:xfrm>
            <a:off x="411480" y="4334256"/>
            <a:ext cx="5897880" cy="658368"/>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389120"/>
            <a:ext cx="5715000" cy="566928"/>
          </a:xfrm>
          <a:prstGeom prst="rect">
            <a:avLst/>
          </a:prstGeom>
          <a:noFill/>
        </p:spPr>
        <p:txBody>
          <a:bodyPr wrap="square" lIns="0" rIns="0" tIns="0" bIns="0">
            <a:spAutoFit/>
          </a:bodyPr>
          <a:lstStyle/>
          <a:p>
            <a:pPr>
              <a:lnSpc>
                <a:spcPct val="118000"/>
              </a:lnSpc>
            </a:pPr>
            <a:r>
              <a:rPr sz="780" b="1">
                <a:solidFill>
                  <a:srgbClr val="008D2E"/>
                </a:solidFill>
                <a:latin typeface="Meiryo UI"/>
                <a:ea typeface="Meiryo UI"/>
              </a:rPr>
              <a:t>実務実行：アカウントスクワッド</a:t>
            </a:r>
            <a:r>
              <a:rPr sz="740" b="0">
                <a:solidFill>
                  <a:srgbClr val="262626"/>
                </a:solidFill>
                <a:latin typeface="Meiryo UI"/>
                <a:ea typeface="Meiryo UI"/>
              </a:rPr>
              <a:t>（営業・ブランド・データ・EC・SCM）― 重点1小売×オーラルケアで先行編成。確認ゲート合格ごとにD2のチーム対チーム体制へ拡大</a:t>
            </a:r>
          </a:p>
        </p:txBody>
      </p:sp>
      <p:sp>
        <p:nvSpPr>
          <p:cNvPr id="45" name="TextBox 44"/>
          <p:cNvSpPr txBox="1"/>
          <p:nvPr/>
        </p:nvSpPr>
        <p:spPr>
          <a:xfrm>
            <a:off x="411480" y="5102352"/>
            <a:ext cx="5897880" cy="457200"/>
          </a:xfrm>
          <a:prstGeom prst="rect">
            <a:avLst/>
          </a:prstGeom>
          <a:noFill/>
        </p:spPr>
        <p:txBody>
          <a:bodyPr wrap="square" lIns="0" rIns="0" tIns="0" bIns="0">
            <a:spAutoFit/>
          </a:bodyPr>
          <a:lstStyle/>
          <a:p>
            <a:pPr>
              <a:lnSpc>
                <a:spcPct val="115000"/>
              </a:lnSpc>
            </a:pPr>
            <a:r>
              <a:rPr sz="740" b="1">
                <a:solidFill>
                  <a:srgbClr val="262626"/>
                </a:solidFill>
                <a:latin typeface="Meiryo UI"/>
                <a:ea typeface="Meiryo UI"/>
              </a:rPr>
              <a:t>PLの人選基準：</a:t>
            </a:r>
            <a:r>
              <a:rPr sz="720" b="0">
                <a:solidFill>
                  <a:srgbClr val="595959"/>
                </a:solidFill>
                <a:latin typeface="Meiryo UI"/>
                <a:ea typeface="Meiryo UI"/>
              </a:rPr>
              <a:t>小売との信頼 × データ理解 × 社内を動かせる実績（部長級・社内公募含む）― 選定前のためTBA表記</a:t>
            </a:r>
          </a:p>
        </p:txBody>
      </p:sp>
      <p:sp>
        <p:nvSpPr>
          <p:cNvPr id="46" name="Rectangle 45"/>
          <p:cNvSpPr/>
          <p:nvPr/>
        </p:nvSpPr>
        <p:spPr>
          <a:xfrm>
            <a:off x="6537960" y="1298448"/>
            <a:ext cx="530352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0" y="1335024"/>
            <a:ext cx="502920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役割</a:t>
            </a:r>
          </a:p>
        </p:txBody>
      </p:sp>
      <p:sp>
        <p:nvSpPr>
          <p:cNvPr id="48" name="Rectangle 47"/>
          <p:cNvSpPr/>
          <p:nvPr/>
        </p:nvSpPr>
        <p:spPr>
          <a:xfrm>
            <a:off x="6537960" y="175564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11112" y="181965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オーナー
（担当役員）</a:t>
            </a:r>
          </a:p>
        </p:txBody>
      </p:sp>
      <p:sp>
        <p:nvSpPr>
          <p:cNvPr id="50" name="Rectangle 49"/>
          <p:cNvSpPr/>
          <p:nvPr/>
        </p:nvSpPr>
        <p:spPr>
          <a:xfrm>
            <a:off x="8028431" y="175564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19872" y="181051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ROI計算式＋撤退基準セットの最終承認。確認ゲートでの合否・撤退の意思決定</a:t>
            </a:r>
          </a:p>
        </p:txBody>
      </p:sp>
      <p:sp>
        <p:nvSpPr>
          <p:cNvPr id="52" name="Rectangle 51"/>
          <p:cNvSpPr/>
          <p:nvPr/>
        </p:nvSpPr>
        <p:spPr>
          <a:xfrm>
            <a:off x="6537960" y="2432304"/>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11112" y="2496312"/>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テーマ別役員
オーナー（5名）</a:t>
            </a:r>
          </a:p>
        </p:txBody>
      </p:sp>
      <p:sp>
        <p:nvSpPr>
          <p:cNvPr id="54" name="Rectangle 53"/>
          <p:cNvSpPr/>
          <p:nvPr/>
        </p:nvSpPr>
        <p:spPr>
          <a:xfrm>
            <a:off x="8028431" y="2432304"/>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19872" y="2487168"/>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5経営テーマに各1名。最上位KPI（増分粗利）に接続しない施策の追加を却下 ― 手段の目的化を防ぐ</a:t>
            </a:r>
          </a:p>
        </p:txBody>
      </p:sp>
      <p:sp>
        <p:nvSpPr>
          <p:cNvPr id="56" name="Rectangle 55"/>
          <p:cNvSpPr/>
          <p:nvPr/>
        </p:nvSpPr>
        <p:spPr>
          <a:xfrm>
            <a:off x="6537960" y="3108960"/>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11112" y="3172968"/>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推進責任者</a:t>
            </a:r>
          </a:p>
        </p:txBody>
      </p:sp>
      <p:sp>
        <p:nvSpPr>
          <p:cNvPr id="58" name="Rectangle 57"/>
          <p:cNvSpPr/>
          <p:nvPr/>
        </p:nvSpPr>
        <p:spPr>
          <a:xfrm>
            <a:off x="8028431" y="3108960"/>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19872" y="3163824"/>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4市場の型（P.9）の設計、実行計画と課題解決、四半期検証レポートの報告</a:t>
            </a:r>
          </a:p>
        </p:txBody>
      </p:sp>
      <p:sp>
        <p:nvSpPr>
          <p:cNvPr id="60" name="Rectangle 59"/>
          <p:cNvSpPr/>
          <p:nvPr/>
        </p:nvSpPr>
        <p:spPr>
          <a:xfrm>
            <a:off x="6537960" y="3785616"/>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11112" y="3849624"/>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PM/PMO
（デジタル戦略部）</a:t>
            </a:r>
          </a:p>
        </p:txBody>
      </p:sp>
      <p:sp>
        <p:nvSpPr>
          <p:cNvPr id="62" name="Rectangle 61"/>
          <p:cNvSpPr/>
          <p:nvPr/>
        </p:nvSpPr>
        <p:spPr>
          <a:xfrm>
            <a:off x="8028431" y="3785616"/>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19872" y="3840480"/>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B1「物差し」の実測運用、進捗・品質・リスク管理、部門・外部ベンダー間の連携構築</a:t>
            </a:r>
          </a:p>
        </p:txBody>
      </p:sp>
      <p:sp>
        <p:nvSpPr>
          <p:cNvPr id="64" name="Rectangle 63"/>
          <p:cNvSpPr/>
          <p:nvPr/>
        </p:nvSpPr>
        <p:spPr>
          <a:xfrm>
            <a:off x="6537960" y="4462272"/>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11112" y="4526280"/>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PL
（施策リーダー）</a:t>
            </a:r>
          </a:p>
        </p:txBody>
      </p:sp>
      <p:sp>
        <p:nvSpPr>
          <p:cNvPr id="66" name="Rectangle 65"/>
          <p:cNvSpPr/>
          <p:nvPr/>
        </p:nvSpPr>
        <p:spPr>
          <a:xfrm>
            <a:off x="8028431" y="4462272"/>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19872" y="4517136"/>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担当施策のROI計算式・撤退基準の起案と効果検証 ― 検証責任は提案側が持つ</a:t>
            </a:r>
          </a:p>
        </p:txBody>
      </p:sp>
      <p:sp>
        <p:nvSpPr>
          <p:cNvPr id="68" name="Rectangle 67"/>
          <p:cNvSpPr/>
          <p:nvPr/>
        </p:nvSpPr>
        <p:spPr>
          <a:xfrm>
            <a:off x="6537960" y="513892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11112" y="520293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メンバー
（スクワッド）</a:t>
            </a:r>
          </a:p>
        </p:txBody>
      </p:sp>
      <p:sp>
        <p:nvSpPr>
          <p:cNvPr id="70" name="Rectangle 69"/>
          <p:cNvSpPr/>
          <p:nvPr/>
        </p:nvSpPr>
        <p:spPr>
          <a:xfrm>
            <a:off x="8028431" y="513892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19872" y="519379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重点1小売×オーラルでの実行・JBP商談。評価は訪問件数からJBP達成率・増分粗利へ</a:t>
            </a:r>
          </a:p>
        </p:txBody>
      </p:sp>
      <p:sp>
        <p:nvSpPr>
          <p:cNvPr id="72" name="Rectangle 71"/>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P.8-11</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3解決→4市場の設計図
→4テーマ×8施策に展開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P.12-13</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P.14-18</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ギャップ（GAP1〜4）はこの単位で測り、施策もこの単位で束ねる〔P.6・P.10〕</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どの頁に出てくる施策もこの8つ。ROI計算式と撤退基準をセットで承認〔P.10〜P.12〕</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同じ8施策を経営の問いに漏れなく再配置〔P.12〕</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解決1の設計図 ― オーラルケアは2軸で、漏れなく重複なく4つの市場に分かれる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縦軸＝自覚症状の有無、横軸＝購買を誰が主導するか。市場ごとに勝ち方・施策・KPIが変わる ― これが傾斜済み予算の「使い先メニュー」になる</a:t>
            </a:r>
          </a:p>
        </p:txBody>
      </p:sp>
      <p:sp>
        <p:nvSpPr>
          <p:cNvPr id="14" name="Rectangle 13"/>
          <p:cNvSpPr/>
          <p:nvPr/>
        </p:nvSpPr>
        <p:spPr>
          <a:xfrm>
            <a:off x="137160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セルフ ― 自分で選んで買う</a:t>
            </a:r>
          </a:p>
        </p:txBody>
      </p:sp>
      <p:sp>
        <p:nvSpPr>
          <p:cNvPr id="16" name="Rectangle 15"/>
          <p:cNvSpPr/>
          <p:nvPr/>
        </p:nvSpPr>
        <p:spPr>
          <a:xfrm>
            <a:off x="461772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専門職が主導 ― 歯科・学校・健診</a:t>
            </a:r>
          </a:p>
        </p:txBody>
      </p:sp>
      <p:sp>
        <p:nvSpPr>
          <p:cNvPr id="18" name="Rectangle 17"/>
          <p:cNvSpPr/>
          <p:nvPr/>
        </p:nvSpPr>
        <p:spPr>
          <a:xfrm>
            <a:off x="320040" y="1783080"/>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06040"/>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なし</a:t>
            </a:r>
          </a:p>
        </p:txBody>
      </p:sp>
      <p:sp>
        <p:nvSpPr>
          <p:cNvPr id="20" name="Rectangle 19"/>
          <p:cNvSpPr/>
          <p:nvPr/>
        </p:nvSpPr>
        <p:spPr>
          <a:xfrm>
            <a:off x="320040" y="4005072"/>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28032"/>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あり</a:t>
            </a:r>
          </a:p>
        </p:txBody>
      </p:sp>
      <p:sp>
        <p:nvSpPr>
          <p:cNvPr id="22" name="Rectangle 21"/>
          <p:cNvSpPr/>
          <p:nvPr/>
        </p:nvSpPr>
        <p:spPr>
          <a:xfrm>
            <a:off x="1371600" y="1783080"/>
            <a:ext cx="3154680" cy="210312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1783080"/>
            <a:ext cx="31546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① 補充買い ― 習慣の定番購買</a:t>
            </a:r>
          </a:p>
        </p:txBody>
      </p:sp>
      <p:sp>
        <p:nvSpPr>
          <p:cNvPr id="25" name="TextBox 24"/>
          <p:cNvSpPr txBox="1"/>
          <p:nvPr/>
        </p:nvSpPr>
        <p:spPr>
          <a:xfrm>
            <a:off x="148132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切れたから同じものを買う日用の定番購買（日用品購買の約9割は店頭）</a:t>
            </a:r>
          </a:p>
          <a:p>
            <a:pPr>
              <a:lnSpc>
                <a:spcPct val="116000"/>
              </a:lnSpc>
            </a:pPr>
            <a:r>
              <a:rPr sz="740" b="1">
                <a:solidFill>
                  <a:srgbClr val="0F5E87"/>
                </a:solidFill>
                <a:latin typeface="Meiryo UI"/>
                <a:ea typeface="Meiryo UI"/>
              </a:rPr>
              <a:t>勝ち方：</a:t>
            </a:r>
            <a:r>
              <a:rPr sz="740" b="0">
                <a:solidFill>
                  <a:srgbClr val="262626"/>
                </a:solidFill>
                <a:latin typeface="Meiryo UI"/>
                <a:ea typeface="Meiryo UI"/>
              </a:rPr>
              <a:t>AI自動補充・小売アルゴリズムの推奨リストに載り続け、「棚とAIの定番」の座を取る</a:t>
            </a:r>
          </a:p>
          <a:p>
            <a:pPr>
              <a:lnSpc>
                <a:spcPct val="116000"/>
              </a:lnSpc>
            </a:pPr>
            <a:r>
              <a:rPr sz="740" b="1">
                <a:solidFill>
                  <a:srgbClr val="0F5E87"/>
                </a:solidFill>
                <a:latin typeface="Meiryo UI"/>
                <a:ea typeface="Meiryo UI"/>
              </a:rPr>
              <a:t>施策：</a:t>
            </a:r>
            <a:r>
              <a:rPr sz="740" b="0">
                <a:solidFill>
                  <a:srgbClr val="262626"/>
                </a:solidFill>
                <a:latin typeface="Meiryo UI"/>
                <a:ea typeface="Meiryo UI"/>
              </a:rPr>
              <a:t>A1★ 属性データの構造化・API化</a:t>
            </a:r>
          </a:p>
          <a:p>
            <a:pPr>
              <a:lnSpc>
                <a:spcPct val="116000"/>
              </a:lnSpc>
            </a:pPr>
            <a:r>
              <a:rPr sz="740" b="1">
                <a:solidFill>
                  <a:srgbClr val="0F5E87"/>
                </a:solidFill>
                <a:latin typeface="Meiryo UI"/>
                <a:ea typeface="Meiryo UI"/>
              </a:rPr>
              <a:t>KPI：</a:t>
            </a:r>
            <a:r>
              <a:rPr sz="740" b="1">
                <a:solidFill>
                  <a:srgbClr val="0F5E87"/>
                </a:solidFill>
                <a:latin typeface="Meiryo UI"/>
                <a:ea typeface="Meiryo UI"/>
              </a:rPr>
              <a:t>AI推奨リスト掲載率</a:t>
            </a:r>
          </a:p>
        </p:txBody>
      </p:sp>
      <p:sp>
        <p:nvSpPr>
          <p:cNvPr id="26" name="Rectangle 25"/>
          <p:cNvSpPr/>
          <p:nvPr/>
        </p:nvSpPr>
        <p:spPr>
          <a:xfrm>
            <a:off x="4617720" y="1783080"/>
            <a:ext cx="3154680" cy="210312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783080"/>
            <a:ext cx="31546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③ 予防 ― 健診・啓発が起点</a:t>
            </a:r>
          </a:p>
        </p:txBody>
      </p:sp>
      <p:sp>
        <p:nvSpPr>
          <p:cNvPr id="29" name="TextBox 28"/>
          <p:cNvSpPr txBox="1"/>
          <p:nvPr/>
        </p:nvSpPr>
        <p:spPr>
          <a:xfrm>
            <a:off x="472744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症状が出る前の先行ケア。皆歯科健診（骨太2022明記）・学校啓発が需要を作る</a:t>
            </a:r>
          </a:p>
          <a:p>
            <a:pPr>
              <a:lnSpc>
                <a:spcPct val="116000"/>
              </a:lnSpc>
            </a:pPr>
            <a:r>
              <a:rPr sz="740" b="1">
                <a:solidFill>
                  <a:srgbClr val="008D2E"/>
                </a:solidFill>
                <a:latin typeface="Meiryo UI"/>
                <a:ea typeface="Meiryo UI"/>
              </a:rPr>
              <a:t>勝ち方：</a:t>
            </a:r>
            <a:r>
              <a:rPr sz="740" b="0">
                <a:solidFill>
                  <a:srgbClr val="262626"/>
                </a:solidFill>
                <a:latin typeface="Meiryo UI"/>
                <a:ea typeface="Meiryo UI"/>
              </a:rPr>
              <a:t>学校・自治体・健診ルートを接点化し、若年層から習慣を定着させる</a:t>
            </a:r>
          </a:p>
          <a:p>
            <a:pPr>
              <a:lnSpc>
                <a:spcPct val="116000"/>
              </a:lnSpc>
            </a:pPr>
            <a:r>
              <a:rPr sz="740" b="1">
                <a:solidFill>
                  <a:srgbClr val="008D2E"/>
                </a:solidFill>
                <a:latin typeface="Meiryo UI"/>
                <a:ea typeface="Meiryo UI"/>
              </a:rPr>
              <a:t>施策：</a:t>
            </a:r>
            <a:r>
              <a:rPr sz="740" b="0">
                <a:solidFill>
                  <a:srgbClr val="262626"/>
                </a:solidFill>
                <a:latin typeface="Meiryo UI"/>
                <a:ea typeface="Meiryo UI"/>
              </a:rPr>
              <a:t>A2 学校・自治体ルートのデジタル化</a:t>
            </a:r>
          </a:p>
          <a:p>
            <a:pPr>
              <a:lnSpc>
                <a:spcPct val="116000"/>
              </a:lnSpc>
            </a:pPr>
            <a:r>
              <a:rPr sz="740" b="1">
                <a:solidFill>
                  <a:srgbClr val="008D2E"/>
                </a:solidFill>
                <a:latin typeface="Meiryo UI"/>
                <a:ea typeface="Meiryo UI"/>
              </a:rPr>
              <a:t>KPI：</a:t>
            </a:r>
            <a:r>
              <a:rPr sz="740" b="1">
                <a:solidFill>
                  <a:srgbClr val="0F5E87"/>
                </a:solidFill>
                <a:latin typeface="Meiryo UI"/>
                <a:ea typeface="Meiryo UI"/>
              </a:rPr>
              <a:t>若年層習慣定着率</a:t>
            </a:r>
          </a:p>
        </p:txBody>
      </p:sp>
      <p:sp>
        <p:nvSpPr>
          <p:cNvPr id="30" name="Rectangle 29"/>
          <p:cNvSpPr/>
          <p:nvPr/>
        </p:nvSpPr>
        <p:spPr>
          <a:xfrm>
            <a:off x="1371600" y="4005072"/>
            <a:ext cx="3154680" cy="210312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4005072"/>
            <a:ext cx="3154680"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② 悩み ― 症状をセルフケアで解決</a:t>
            </a:r>
          </a:p>
        </p:txBody>
      </p:sp>
      <p:sp>
        <p:nvSpPr>
          <p:cNvPr id="33" name="TextBox 32"/>
          <p:cNvSpPr txBox="1"/>
          <p:nvPr/>
        </p:nvSpPr>
        <p:spPr>
          <a:xfrm>
            <a:off x="148132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知覚過敏・口臭・歯周などを店頭・ECで自分で解決する高関与購買</a:t>
            </a:r>
          </a:p>
          <a:p>
            <a:pPr>
              <a:lnSpc>
                <a:spcPct val="116000"/>
              </a:lnSpc>
            </a:pPr>
            <a:r>
              <a:rPr sz="740" b="1">
                <a:solidFill>
                  <a:srgbClr val="C8102E"/>
                </a:solidFill>
                <a:latin typeface="Meiryo UI"/>
                <a:ea typeface="Meiryo UI"/>
              </a:rPr>
              <a:t>勝ち方：</a:t>
            </a:r>
            <a:r>
              <a:rPr sz="740" b="0">
                <a:solidFill>
                  <a:srgbClr val="262626"/>
                </a:solidFill>
                <a:latin typeface="Meiryo UI"/>
                <a:ea typeface="Meiryo UI"/>
              </a:rPr>
              <a:t>検索・AI回答に「効く根拠」を供給し、値引きではなく指名で選ばれる</a:t>
            </a:r>
          </a:p>
          <a:p>
            <a:pPr>
              <a:lnSpc>
                <a:spcPct val="116000"/>
              </a:lnSpc>
            </a:pPr>
            <a:r>
              <a:rPr sz="740" b="1">
                <a:solidFill>
                  <a:srgbClr val="C8102E"/>
                </a:solidFill>
                <a:latin typeface="Meiryo UI"/>
                <a:ea typeface="Meiryo UI"/>
              </a:rPr>
              <a:t>施策：</a:t>
            </a:r>
            <a:r>
              <a:rPr sz="740" b="0">
                <a:solidFill>
                  <a:srgbClr val="262626"/>
                </a:solidFill>
                <a:latin typeface="Meiryo UI"/>
                <a:ea typeface="Meiryo UI"/>
              </a:rPr>
              <a:t>C1★ 臨床データ変換（消費者向け根拠）</a:t>
            </a:r>
          </a:p>
          <a:p>
            <a:pPr>
              <a:lnSpc>
                <a:spcPct val="116000"/>
              </a:lnSpc>
            </a:pPr>
            <a:r>
              <a:rPr sz="740" b="1">
                <a:solidFill>
                  <a:srgbClr val="C8102E"/>
                </a:solidFill>
                <a:latin typeface="Meiryo UI"/>
                <a:ea typeface="Meiryo UI"/>
              </a:rPr>
              <a:t>KPI：</a:t>
            </a:r>
            <a:r>
              <a:rPr sz="740" b="1">
                <a:solidFill>
                  <a:srgbClr val="0F5E87"/>
                </a:solidFill>
                <a:latin typeface="Meiryo UI"/>
                <a:ea typeface="Meiryo UI"/>
              </a:rPr>
              <a:t>AIEO Rate（AI推奨シェア）</a:t>
            </a:r>
          </a:p>
        </p:txBody>
      </p:sp>
      <p:sp>
        <p:nvSpPr>
          <p:cNvPr id="34" name="Rectangle 33"/>
          <p:cNvSpPr/>
          <p:nvPr/>
        </p:nvSpPr>
        <p:spPr>
          <a:xfrm>
            <a:off x="4617720" y="4005072"/>
            <a:ext cx="3154680" cy="2103120"/>
          </a:xfrm>
          <a:prstGeom prst="rect">
            <a:avLst/>
          </a:prstGeom>
          <a:solidFill>
            <a:srgbClr val="FFFFFF"/>
          </a:solidFill>
          <a:ln w="1524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05072"/>
            <a:ext cx="3154680"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④ 口腔機能 ― 機能の維持・回復</a:t>
            </a:r>
          </a:p>
        </p:txBody>
      </p:sp>
      <p:sp>
        <p:nvSpPr>
          <p:cNvPr id="37" name="TextBox 36"/>
          <p:cNvSpPr txBox="1"/>
          <p:nvPr/>
        </p:nvSpPr>
        <p:spPr>
          <a:xfrm>
            <a:off x="472744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加齢で落ちた機能の維持・回復。口腔機能低下症（2018年保険病名化）・介護連携</a:t>
            </a:r>
          </a:p>
          <a:p>
            <a:pPr>
              <a:lnSpc>
                <a:spcPct val="116000"/>
              </a:lnSpc>
            </a:pPr>
            <a:r>
              <a:rPr sz="740" b="1">
                <a:solidFill>
                  <a:srgbClr val="B87A2A"/>
                </a:solidFill>
                <a:latin typeface="Meiryo UI"/>
                <a:ea typeface="Meiryo UI"/>
              </a:rPr>
              <a:t>勝ち方：</a:t>
            </a:r>
            <a:r>
              <a:rPr sz="740" b="0">
                <a:solidFill>
                  <a:srgbClr val="262626"/>
                </a:solidFill>
                <a:latin typeface="Meiryo UI"/>
                <a:ea typeface="Meiryo UI"/>
              </a:rPr>
              <a:t>歯科・介護の専門職推奨で選ばれるB2B2C。推奨と購買はDCRで照合する</a:t>
            </a:r>
          </a:p>
          <a:p>
            <a:pPr>
              <a:lnSpc>
                <a:spcPct val="116000"/>
              </a:lnSpc>
            </a:pPr>
            <a:r>
              <a:rPr sz="740" b="1">
                <a:solidFill>
                  <a:srgbClr val="B87A2A"/>
                </a:solidFill>
                <a:latin typeface="Meiryo UI"/>
                <a:ea typeface="Meiryo UI"/>
              </a:rPr>
              <a:t>施策：</a:t>
            </a:r>
            <a:r>
              <a:rPr sz="740" b="0">
                <a:solidFill>
                  <a:srgbClr val="262626"/>
                </a:solidFill>
                <a:latin typeface="Meiryo UI"/>
                <a:ea typeface="Meiryo UI"/>
              </a:rPr>
              <a:t>C1★・DCR（小売データ照合）</a:t>
            </a:r>
          </a:p>
          <a:p>
            <a:pPr>
              <a:lnSpc>
                <a:spcPct val="116000"/>
              </a:lnSpc>
            </a:pPr>
            <a:r>
              <a:rPr sz="740" b="1">
                <a:solidFill>
                  <a:srgbClr val="B87A2A"/>
                </a:solidFill>
                <a:latin typeface="Meiryo UI"/>
                <a:ea typeface="Meiryo UI"/>
              </a:rPr>
              <a:t>KPI：</a:t>
            </a:r>
            <a:r>
              <a:rPr sz="740" b="1">
                <a:solidFill>
                  <a:srgbClr val="0F5E87"/>
                </a:solidFill>
                <a:latin typeface="Meiryo UI"/>
                <a:ea typeface="Meiryo UI"/>
              </a:rPr>
              <a:t>B2B2C推奨起点売上比率</a:t>
            </a:r>
          </a:p>
        </p:txBody>
      </p:sp>
      <p:sp>
        <p:nvSpPr>
          <p:cNvPr id="38" name="Rectangle 37"/>
          <p:cNvSpPr/>
          <p:nvPr/>
        </p:nvSpPr>
        <p:spPr>
          <a:xfrm>
            <a:off x="7909560" y="1298448"/>
            <a:ext cx="3931920" cy="258775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389888"/>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分割の運用ルール（境界の決め方）</a:t>
            </a:r>
          </a:p>
        </p:txBody>
      </p:sp>
      <p:sp>
        <p:nvSpPr>
          <p:cNvPr id="40" name="TextBox 39"/>
          <p:cNvSpPr txBox="1"/>
          <p:nvPr/>
        </p:nvSpPr>
        <p:spPr>
          <a:xfrm>
            <a:off x="8046720" y="1719072"/>
            <a:ext cx="3657600" cy="2103120"/>
          </a:xfrm>
          <a:prstGeom prst="rect">
            <a:avLst/>
          </a:prstGeom>
          <a:noFill/>
        </p:spPr>
        <p:txBody>
          <a:bodyPr wrap="square" lIns="0" rIns="0" tIns="0" bIns="0">
            <a:spAutoFit/>
          </a:bodyPr>
          <a:lstStyle/>
          <a:p>
            <a:pPr>
              <a:lnSpc>
                <a:spcPct val="125000"/>
              </a:lnSpc>
            </a:pPr>
            <a:r>
              <a:rPr sz="780" b="1">
                <a:solidFill>
                  <a:srgbClr val="262626"/>
                </a:solidFill>
                <a:latin typeface="Meiryo UI"/>
                <a:ea typeface="Meiryo UI"/>
              </a:rPr>
              <a:t>ルール1　</a:t>
            </a:r>
            <a:r>
              <a:rPr sz="780" b="0">
                <a:solidFill>
                  <a:srgbClr val="262626"/>
                </a:solidFill>
                <a:latin typeface="Meiryo UI"/>
                <a:ea typeface="Meiryo UI"/>
              </a:rPr>
              <a:t>継続購買は「初回動機」の市場に留めて数える ― 悩み→補充への移行率が、そのまま「習慣化」の成果指標になる</a:t>
            </a:r>
          </a:p>
          <a:p>
            <a:pPr>
              <a:lnSpc>
                <a:spcPct val="125000"/>
              </a:lnSpc>
            </a:pPr>
            <a:r>
              <a:rPr sz="780" b="1">
                <a:solidFill>
                  <a:srgbClr val="262626"/>
                </a:solidFill>
                <a:latin typeface="Meiryo UI"/>
                <a:ea typeface="Meiryo UI"/>
              </a:rPr>
              <a:t>ルール2　</a:t>
            </a:r>
            <a:r>
              <a:rPr sz="780" b="0">
                <a:solidFill>
                  <a:srgbClr val="262626"/>
                </a:solidFill>
                <a:latin typeface="Meiryo UI"/>
                <a:ea typeface="Meiryo UI"/>
              </a:rPr>
              <a:t>専門職の推奨が意思決定を主導した購買は右側に分類する。特売・チラシでの購買は①の価格による加速として扱う</a:t>
            </a:r>
          </a:p>
        </p:txBody>
      </p:sp>
      <p:sp>
        <p:nvSpPr>
          <p:cNvPr id="41" name="Rectangle 40"/>
          <p:cNvSpPr/>
          <p:nvPr/>
        </p:nvSpPr>
        <p:spPr>
          <a:xfrm>
            <a:off x="7909560" y="4005072"/>
            <a:ext cx="3931920" cy="210312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4096512"/>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実測で確定（仮説のまま使わない）</a:t>
            </a:r>
          </a:p>
        </p:txBody>
      </p:sp>
      <p:sp>
        <p:nvSpPr>
          <p:cNvPr id="43" name="TextBox 42"/>
          <p:cNvSpPr txBox="1"/>
          <p:nvPr/>
        </p:nvSpPr>
        <p:spPr>
          <a:xfrm>
            <a:off x="8046720" y="4425696"/>
            <a:ext cx="3657600" cy="1600200"/>
          </a:xfrm>
          <a:prstGeom prst="rect">
            <a:avLst/>
          </a:prstGeom>
          <a:noFill/>
        </p:spPr>
        <p:txBody>
          <a:bodyPr wrap="square" lIns="0" rIns="0" tIns="0" bIns="0">
            <a:spAutoFit/>
          </a:bodyPr>
          <a:lstStyle/>
          <a:p>
            <a:pPr>
              <a:lnSpc>
                <a:spcPct val="125000"/>
              </a:lnSpc>
            </a:pPr>
            <a:r>
              <a:rPr sz="780" b="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分割は検証対象であり、聖域ではない</a:t>
            </a:r>
          </a:p>
        </p:txBody>
      </p:sp>
      <p:sp>
        <p:nvSpPr>
          <p:cNvPr id="44" name="Rectangle 43"/>
          <p:cNvSpPr/>
          <p:nvPr/>
        </p:nvSpPr>
        <p:spPr>
          <a:xfrm>
            <a:off x="320040" y="623620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281928"/>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なぜ分けるのか：</a:t>
            </a:r>
            <a:r>
              <a:rPr sz="840" b="0">
                <a:solidFill>
                  <a:srgbClr val="262626"/>
                </a:solidFill>
                <a:latin typeface="Meiryo UI"/>
                <a:ea typeface="Meiryo UI"/>
              </a:rPr>
              <a:t>市場ごとに使う施策と測るKPIが違うから。分けた瞬間に、傾斜済み予算の使い先（前頁の使い先メニュー）と8施策（P.11）への配分が機械的に決まる。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マイルストーン（FY26–FY30）― 変革テーマ別ロードマップ</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確認ゲート（赤の縦破線）に合格したときだけ投資と組織変更を拡大する ― 不合格なら拡大せず、手順を直して再挑戦する</a:t>
            </a:r>
          </a:p>
        </p:txBody>
      </p:sp>
      <p:sp>
        <p:nvSpPr>
          <p:cNvPr id="14" name="Rectangle 13"/>
          <p:cNvSpPr/>
          <p:nvPr/>
        </p:nvSpPr>
        <p:spPr>
          <a:xfrm>
            <a:off x="2514600" y="1298448"/>
            <a:ext cx="14356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9464" y="1335024"/>
            <a:ext cx="13258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FY26下期</a:t>
            </a:r>
          </a:p>
        </p:txBody>
      </p:sp>
      <p:sp>
        <p:nvSpPr>
          <p:cNvPr id="16" name="Rectangle 15"/>
          <p:cNvSpPr/>
          <p:nvPr/>
        </p:nvSpPr>
        <p:spPr>
          <a:xfrm>
            <a:off x="397763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3250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FY27</a:t>
            </a:r>
          </a:p>
        </p:txBody>
      </p:sp>
      <p:sp>
        <p:nvSpPr>
          <p:cNvPr id="18" name="Rectangle 17"/>
          <p:cNvSpPr/>
          <p:nvPr/>
        </p:nvSpPr>
        <p:spPr>
          <a:xfrm>
            <a:off x="589787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5274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FY28</a:t>
            </a:r>
          </a:p>
        </p:txBody>
      </p:sp>
      <p:sp>
        <p:nvSpPr>
          <p:cNvPr id="20" name="Rectangle 19"/>
          <p:cNvSpPr/>
          <p:nvPr/>
        </p:nvSpPr>
        <p:spPr>
          <a:xfrm>
            <a:off x="781811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298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FY29</a:t>
            </a:r>
          </a:p>
        </p:txBody>
      </p:sp>
      <p:sp>
        <p:nvSpPr>
          <p:cNvPr id="22" name="Rectangle 21"/>
          <p:cNvSpPr/>
          <p:nvPr/>
        </p:nvSpPr>
        <p:spPr>
          <a:xfrm>
            <a:off x="973835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3224"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FY30</a:t>
            </a:r>
          </a:p>
        </p:txBody>
      </p:sp>
      <p:cxnSp>
        <p:nvCxnSpPr>
          <p:cNvPr id="24" name="Connector 23"/>
          <p:cNvCxnSpPr/>
          <p:nvPr/>
        </p:nvCxnSpPr>
        <p:spPr>
          <a:xfrm>
            <a:off x="397763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7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1812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73836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20040" y="1627632"/>
            <a:ext cx="146304" cy="1005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1764792"/>
            <a:ext cx="1920240" cy="274320"/>
          </a:xfrm>
          <a:prstGeom prst="rect">
            <a:avLst/>
          </a:prstGeom>
          <a:noFill/>
        </p:spPr>
        <p:txBody>
          <a:bodyPr wrap="square" lIns="0" rIns="0" tIns="0" bIns="0">
            <a:spAutoFit/>
          </a:bodyPr>
          <a:lstStyle/>
          <a:p>
            <a:pPr>
              <a:lnSpc>
                <a:spcPct val="112000"/>
              </a:lnSpc>
            </a:pPr>
            <a:r>
              <a:rPr sz="819" b="1">
                <a:solidFill>
                  <a:srgbClr val="262626"/>
                </a:solidFill>
                <a:latin typeface="Meiryo UI"/>
                <a:ea typeface="Meiryo UI"/>
              </a:rPr>
              <a:t>A1★ データ直結</a:t>
            </a:r>
          </a:p>
        </p:txBody>
      </p:sp>
      <p:sp>
        <p:nvSpPr>
          <p:cNvPr id="30" name="Rectangle 29"/>
          <p:cNvSpPr/>
          <p:nvPr/>
        </p:nvSpPr>
        <p:spPr>
          <a:xfrm>
            <a:off x="2532888" y="1700784"/>
            <a:ext cx="236829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06040" y="1764792"/>
            <a:ext cx="224027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構造化・API化</a:t>
            </a:r>
          </a:p>
        </p:txBody>
      </p:sp>
      <p:sp>
        <p:nvSpPr>
          <p:cNvPr id="32" name="Rectangle 31"/>
          <p:cNvSpPr/>
          <p:nvPr/>
        </p:nvSpPr>
        <p:spPr>
          <a:xfrm>
            <a:off x="4956047" y="1700784"/>
            <a:ext cx="282549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199" y="1764792"/>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Evidence Hub公開・実測</a:t>
            </a:r>
          </a:p>
        </p:txBody>
      </p:sp>
      <p:sp>
        <p:nvSpPr>
          <p:cNvPr id="34" name="Rectangle 33"/>
          <p:cNvSpPr/>
          <p:nvPr/>
        </p:nvSpPr>
        <p:spPr>
          <a:xfrm>
            <a:off x="7836408" y="1700784"/>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9560" y="1764792"/>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対象小売へ展開</a:t>
            </a:r>
          </a:p>
        </p:txBody>
      </p:sp>
      <p:sp>
        <p:nvSpPr>
          <p:cNvPr id="36" name="TextBox 35"/>
          <p:cNvSpPr txBox="1"/>
          <p:nvPr/>
        </p:nvSpPr>
        <p:spPr>
          <a:xfrm>
            <a:off x="548640" y="2295144"/>
            <a:ext cx="1920240" cy="274320"/>
          </a:xfrm>
          <a:prstGeom prst="rect">
            <a:avLst/>
          </a:prstGeom>
          <a:noFill/>
        </p:spPr>
        <p:txBody>
          <a:bodyPr wrap="square" lIns="0" rIns="0" tIns="0" bIns="0">
            <a:spAutoFit/>
          </a:bodyPr>
          <a:lstStyle/>
          <a:p>
            <a:pPr>
              <a:lnSpc>
                <a:spcPct val="112000"/>
              </a:lnSpc>
            </a:pPr>
            <a:r>
              <a:rPr sz="819" b="1">
                <a:solidFill>
                  <a:srgbClr val="262626"/>
                </a:solidFill>
                <a:latin typeface="Meiryo UI"/>
                <a:ea typeface="Meiryo UI"/>
              </a:rPr>
              <a:t>A2 学校・健診接点</a:t>
            </a:r>
          </a:p>
        </p:txBody>
      </p:sp>
      <p:sp>
        <p:nvSpPr>
          <p:cNvPr id="37" name="Rectangle 36"/>
          <p:cNvSpPr/>
          <p:nvPr/>
        </p:nvSpPr>
        <p:spPr>
          <a:xfrm>
            <a:off x="3264408" y="2231136"/>
            <a:ext cx="67665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37560" y="2295144"/>
            <a:ext cx="54863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設計</a:t>
            </a:r>
          </a:p>
        </p:txBody>
      </p:sp>
      <p:sp>
        <p:nvSpPr>
          <p:cNvPr id="39" name="Rectangle 38"/>
          <p:cNvSpPr/>
          <p:nvPr/>
        </p:nvSpPr>
        <p:spPr>
          <a:xfrm>
            <a:off x="3995927" y="2231136"/>
            <a:ext cx="378561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69079" y="229514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匿名診断PoC・デジタル教材の実証</a:t>
            </a:r>
          </a:p>
        </p:txBody>
      </p:sp>
      <p:sp>
        <p:nvSpPr>
          <p:cNvPr id="41" name="Rectangle 40"/>
          <p:cNvSpPr/>
          <p:nvPr/>
        </p:nvSpPr>
        <p:spPr>
          <a:xfrm>
            <a:off x="7836408" y="2231136"/>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9560" y="2295144"/>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自治体・学校へ拡大</a:t>
            </a:r>
          </a:p>
        </p:txBody>
      </p:sp>
      <p:sp>
        <p:nvSpPr>
          <p:cNvPr id="43" name="Rectangle 42"/>
          <p:cNvSpPr/>
          <p:nvPr/>
        </p:nvSpPr>
        <p:spPr>
          <a:xfrm>
            <a:off x="320040" y="2688336"/>
            <a:ext cx="146304" cy="100584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2825496"/>
            <a:ext cx="1920240" cy="274320"/>
          </a:xfrm>
          <a:prstGeom prst="rect">
            <a:avLst/>
          </a:prstGeom>
          <a:noFill/>
        </p:spPr>
        <p:txBody>
          <a:bodyPr wrap="square" lIns="0" rIns="0" tIns="0" bIns="0">
            <a:spAutoFit/>
          </a:bodyPr>
          <a:lstStyle/>
          <a:p>
            <a:pPr>
              <a:lnSpc>
                <a:spcPct val="112000"/>
              </a:lnSpc>
            </a:pPr>
            <a:r>
              <a:rPr sz="819" b="1">
                <a:solidFill>
                  <a:srgbClr val="262626"/>
                </a:solidFill>
                <a:latin typeface="Meiryo UI"/>
                <a:ea typeface="Meiryo UI"/>
              </a:rPr>
              <a:t>B1★ ROIの物差し</a:t>
            </a:r>
          </a:p>
        </p:txBody>
      </p:sp>
      <p:sp>
        <p:nvSpPr>
          <p:cNvPr id="45" name="Rectangle 44"/>
          <p:cNvSpPr/>
          <p:nvPr/>
        </p:nvSpPr>
        <p:spPr>
          <a:xfrm>
            <a:off x="2532888" y="2761488"/>
            <a:ext cx="14081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06040" y="2825496"/>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AIEO監査開始・基準値</a:t>
            </a:r>
          </a:p>
        </p:txBody>
      </p:sp>
      <p:sp>
        <p:nvSpPr>
          <p:cNvPr id="47" name="Rectangle 46"/>
          <p:cNvSpPr/>
          <p:nvPr/>
        </p:nvSpPr>
        <p:spPr>
          <a:xfrm>
            <a:off x="3995927" y="2761488"/>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69079" y="2825496"/>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MMM＋増分実験体制の確立</a:t>
            </a:r>
          </a:p>
        </p:txBody>
      </p:sp>
      <p:sp>
        <p:nvSpPr>
          <p:cNvPr id="49" name="Rectangle 48"/>
          <p:cNvSpPr/>
          <p:nvPr/>
        </p:nvSpPr>
        <p:spPr>
          <a:xfrm>
            <a:off x="7836408" y="2761488"/>
            <a:ext cx="378561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09560" y="2825496"/>
            <a:ext cx="365759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全施策の投資判断に適用</a:t>
            </a:r>
          </a:p>
        </p:txBody>
      </p:sp>
      <p:sp>
        <p:nvSpPr>
          <p:cNvPr id="51" name="TextBox 50"/>
          <p:cNvSpPr txBox="1"/>
          <p:nvPr/>
        </p:nvSpPr>
        <p:spPr>
          <a:xfrm>
            <a:off x="548640" y="3355848"/>
            <a:ext cx="1920240" cy="274320"/>
          </a:xfrm>
          <a:prstGeom prst="rect">
            <a:avLst/>
          </a:prstGeom>
          <a:noFill/>
        </p:spPr>
        <p:txBody>
          <a:bodyPr wrap="square" lIns="0" rIns="0" tIns="0" bIns="0">
            <a:spAutoFit/>
          </a:bodyPr>
          <a:lstStyle/>
          <a:p>
            <a:pPr>
              <a:lnSpc>
                <a:spcPct val="112000"/>
              </a:lnSpc>
            </a:pPr>
            <a:r>
              <a:rPr sz="819" b="1">
                <a:solidFill>
                  <a:srgbClr val="262626"/>
                </a:solidFill>
                <a:latin typeface="Meiryo UI"/>
                <a:ea typeface="Meiryo UI"/>
              </a:rPr>
              <a:t>B2 メディア内製</a:t>
            </a:r>
          </a:p>
        </p:txBody>
      </p:sp>
      <p:sp>
        <p:nvSpPr>
          <p:cNvPr id="52" name="Rectangle 51"/>
          <p:cNvSpPr/>
          <p:nvPr/>
        </p:nvSpPr>
        <p:spPr>
          <a:xfrm>
            <a:off x="3995927" y="3291840"/>
            <a:ext cx="18653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69079" y="3355848"/>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一元管理へ移行</a:t>
            </a:r>
          </a:p>
        </p:txBody>
      </p:sp>
      <p:sp>
        <p:nvSpPr>
          <p:cNvPr id="54" name="Rectangle 53"/>
          <p:cNvSpPr/>
          <p:nvPr/>
        </p:nvSpPr>
        <p:spPr>
          <a:xfrm>
            <a:off x="5916167" y="3291840"/>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89319" y="3355848"/>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内製運用</a:t>
            </a:r>
          </a:p>
        </p:txBody>
      </p:sp>
      <p:sp>
        <p:nvSpPr>
          <p:cNvPr id="56" name="Rectangle 55"/>
          <p:cNvSpPr/>
          <p:nvPr/>
        </p:nvSpPr>
        <p:spPr>
          <a:xfrm>
            <a:off x="9756648" y="3291840"/>
            <a:ext cx="186537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29800" y="3355848"/>
            <a:ext cx="173735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標準化</a:t>
            </a:r>
          </a:p>
        </p:txBody>
      </p:sp>
      <p:sp>
        <p:nvSpPr>
          <p:cNvPr id="58" name="Rectangle 57"/>
          <p:cNvSpPr/>
          <p:nvPr/>
        </p:nvSpPr>
        <p:spPr>
          <a:xfrm>
            <a:off x="320040" y="3749040"/>
            <a:ext cx="146304" cy="100584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3886200"/>
            <a:ext cx="1920240" cy="274320"/>
          </a:xfrm>
          <a:prstGeom prst="rect">
            <a:avLst/>
          </a:prstGeom>
          <a:noFill/>
        </p:spPr>
        <p:txBody>
          <a:bodyPr wrap="square" lIns="0" rIns="0" tIns="0" bIns="0">
            <a:spAutoFit/>
          </a:bodyPr>
          <a:lstStyle/>
          <a:p>
            <a:pPr>
              <a:lnSpc>
                <a:spcPct val="112000"/>
              </a:lnSpc>
            </a:pPr>
            <a:r>
              <a:rPr sz="819" b="1">
                <a:solidFill>
                  <a:srgbClr val="262626"/>
                </a:solidFill>
                <a:latin typeface="Meiryo UI"/>
                <a:ea typeface="Meiryo UI"/>
              </a:rPr>
              <a:t>C1★ 商談の数字化</a:t>
            </a:r>
          </a:p>
        </p:txBody>
      </p:sp>
      <p:sp>
        <p:nvSpPr>
          <p:cNvPr id="60" name="Rectangle 59"/>
          <p:cNvSpPr/>
          <p:nvPr/>
        </p:nvSpPr>
        <p:spPr>
          <a:xfrm>
            <a:off x="3264408" y="3822192"/>
            <a:ext cx="1636775"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37560" y="3886200"/>
            <a:ext cx="15087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重点2社で歯ぐきケアJBP</a:t>
            </a:r>
          </a:p>
        </p:txBody>
      </p:sp>
      <p:sp>
        <p:nvSpPr>
          <p:cNvPr id="62" name="Rectangle 61"/>
          <p:cNvSpPr/>
          <p:nvPr/>
        </p:nvSpPr>
        <p:spPr>
          <a:xfrm>
            <a:off x="4956047" y="3822192"/>
            <a:ext cx="282549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199" y="3886200"/>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値引き超え商談→B2B2C実証</a:t>
            </a:r>
          </a:p>
        </p:txBody>
      </p:sp>
      <p:sp>
        <p:nvSpPr>
          <p:cNvPr id="64" name="Rectangle 63"/>
          <p:cNvSpPr/>
          <p:nvPr/>
        </p:nvSpPr>
        <p:spPr>
          <a:xfrm>
            <a:off x="7836408" y="3822192"/>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09560" y="3886200"/>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Oral Health Graph稼働・拡大</a:t>
            </a:r>
          </a:p>
        </p:txBody>
      </p:sp>
      <p:sp>
        <p:nvSpPr>
          <p:cNvPr id="66" name="TextBox 65"/>
          <p:cNvSpPr txBox="1"/>
          <p:nvPr/>
        </p:nvSpPr>
        <p:spPr>
          <a:xfrm>
            <a:off x="548640" y="4416552"/>
            <a:ext cx="1920240" cy="274320"/>
          </a:xfrm>
          <a:prstGeom prst="rect">
            <a:avLst/>
          </a:prstGeom>
          <a:noFill/>
        </p:spPr>
        <p:txBody>
          <a:bodyPr wrap="square" lIns="0" rIns="0" tIns="0" bIns="0">
            <a:spAutoFit/>
          </a:bodyPr>
          <a:lstStyle/>
          <a:p>
            <a:pPr>
              <a:lnSpc>
                <a:spcPct val="112000"/>
              </a:lnSpc>
            </a:pPr>
            <a:r>
              <a:rPr sz="819" b="1">
                <a:solidFill>
                  <a:srgbClr val="262626"/>
                </a:solidFill>
                <a:latin typeface="Meiryo UI"/>
                <a:ea typeface="Meiryo UI"/>
              </a:rPr>
              <a:t>C2 提案の型化</a:t>
            </a:r>
          </a:p>
        </p:txBody>
      </p:sp>
      <p:sp>
        <p:nvSpPr>
          <p:cNvPr id="67" name="Rectangle 66"/>
          <p:cNvSpPr/>
          <p:nvPr/>
        </p:nvSpPr>
        <p:spPr>
          <a:xfrm>
            <a:off x="3995927" y="4352544"/>
            <a:ext cx="378561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69079" y="4416552"/>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成功商談のテンプレ整備</a:t>
            </a:r>
          </a:p>
        </p:txBody>
      </p:sp>
      <p:sp>
        <p:nvSpPr>
          <p:cNvPr id="69" name="Rectangle 68"/>
          <p:cNvSpPr/>
          <p:nvPr/>
        </p:nvSpPr>
        <p:spPr>
          <a:xfrm>
            <a:off x="7836408" y="4352544"/>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909560" y="4416552"/>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全営業の標準装備に</a:t>
            </a:r>
          </a:p>
        </p:txBody>
      </p:sp>
      <p:sp>
        <p:nvSpPr>
          <p:cNvPr id="71" name="Rectangle 70"/>
          <p:cNvSpPr/>
          <p:nvPr/>
        </p:nvSpPr>
        <p:spPr>
          <a:xfrm>
            <a:off x="320040" y="4809744"/>
            <a:ext cx="146304" cy="100584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4946904"/>
            <a:ext cx="1920240" cy="274320"/>
          </a:xfrm>
          <a:prstGeom prst="rect">
            <a:avLst/>
          </a:prstGeom>
          <a:noFill/>
        </p:spPr>
        <p:txBody>
          <a:bodyPr wrap="square" lIns="0" rIns="0" tIns="0" bIns="0">
            <a:spAutoFit/>
          </a:bodyPr>
          <a:lstStyle/>
          <a:p>
            <a:pPr>
              <a:lnSpc>
                <a:spcPct val="112000"/>
              </a:lnSpc>
            </a:pPr>
            <a:r>
              <a:rPr sz="819" b="1">
                <a:solidFill>
                  <a:srgbClr val="262626"/>
                </a:solidFill>
                <a:latin typeface="Meiryo UI"/>
                <a:ea typeface="Meiryo UI"/>
              </a:rPr>
              <a:t>D1★ 業務ゼロ化</a:t>
            </a:r>
          </a:p>
        </p:txBody>
      </p:sp>
      <p:sp>
        <p:nvSpPr>
          <p:cNvPr id="73" name="Rectangle 72"/>
          <p:cNvSpPr/>
          <p:nvPr/>
        </p:nvSpPr>
        <p:spPr>
          <a:xfrm>
            <a:off x="2532888" y="4882896"/>
            <a:ext cx="14081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06040" y="4946904"/>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生成AIで先行3割減</a:t>
            </a:r>
          </a:p>
        </p:txBody>
      </p:sp>
      <p:sp>
        <p:nvSpPr>
          <p:cNvPr id="75" name="Rectangle 74"/>
          <p:cNvSpPr/>
          <p:nvPr/>
        </p:nvSpPr>
        <p:spPr>
          <a:xfrm>
            <a:off x="3995927" y="4882896"/>
            <a:ext cx="378561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069079" y="494690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事務時間の半減へ拡大</a:t>
            </a:r>
          </a:p>
        </p:txBody>
      </p:sp>
      <p:sp>
        <p:nvSpPr>
          <p:cNvPr id="77" name="Rectangle 76"/>
          <p:cNvSpPr/>
          <p:nvPr/>
        </p:nvSpPr>
        <p:spPr>
          <a:xfrm>
            <a:off x="7836408" y="4882896"/>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909560" y="4946904"/>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ゼロ化を運用に定着</a:t>
            </a:r>
          </a:p>
        </p:txBody>
      </p:sp>
      <p:sp>
        <p:nvSpPr>
          <p:cNvPr id="79" name="TextBox 78"/>
          <p:cNvSpPr txBox="1"/>
          <p:nvPr/>
        </p:nvSpPr>
        <p:spPr>
          <a:xfrm>
            <a:off x="548640" y="5477256"/>
            <a:ext cx="1920240" cy="274320"/>
          </a:xfrm>
          <a:prstGeom prst="rect">
            <a:avLst/>
          </a:prstGeom>
          <a:noFill/>
        </p:spPr>
        <p:txBody>
          <a:bodyPr wrap="square" lIns="0" rIns="0" tIns="0" bIns="0">
            <a:spAutoFit/>
          </a:bodyPr>
          <a:lstStyle/>
          <a:p>
            <a:pPr>
              <a:lnSpc>
                <a:spcPct val="112000"/>
              </a:lnSpc>
            </a:pPr>
            <a:r>
              <a:rPr sz="819" b="1">
                <a:solidFill>
                  <a:srgbClr val="262626"/>
                </a:solidFill>
                <a:latin typeface="Meiryo UI"/>
                <a:ea typeface="Meiryo UI"/>
              </a:rPr>
              <a:t>D2 チーム対チーム</a:t>
            </a:r>
          </a:p>
        </p:txBody>
      </p:sp>
      <p:sp>
        <p:nvSpPr>
          <p:cNvPr id="80" name="Rectangle 79"/>
          <p:cNvSpPr/>
          <p:nvPr/>
        </p:nvSpPr>
        <p:spPr>
          <a:xfrm>
            <a:off x="3995927" y="5413248"/>
            <a:ext cx="18653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069079" y="5477256"/>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スクワッド先行編成</a:t>
            </a:r>
          </a:p>
        </p:txBody>
      </p:sp>
      <p:sp>
        <p:nvSpPr>
          <p:cNvPr id="82" name="Rectangle 81"/>
          <p:cNvSpPr/>
          <p:nvPr/>
        </p:nvSpPr>
        <p:spPr>
          <a:xfrm>
            <a:off x="5916167" y="5413248"/>
            <a:ext cx="186537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89319" y="5477256"/>
            <a:ext cx="173736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確認2合格→組織正式化</a:t>
            </a:r>
          </a:p>
        </p:txBody>
      </p:sp>
      <p:sp>
        <p:nvSpPr>
          <p:cNvPr id="84" name="Rectangle 83"/>
          <p:cNvSpPr/>
          <p:nvPr/>
        </p:nvSpPr>
        <p:spPr>
          <a:xfrm>
            <a:off x="7836408" y="5413248"/>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909560" y="5477256"/>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全社展開・評価切替</a:t>
            </a:r>
          </a:p>
        </p:txBody>
      </p:sp>
      <p:cxnSp>
        <p:nvCxnSpPr>
          <p:cNvPr id="86" name="Connector 85"/>
          <p:cNvCxnSpPr/>
          <p:nvPr/>
        </p:nvCxnSpPr>
        <p:spPr>
          <a:xfrm>
            <a:off x="4937759"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566159" y="5861304"/>
            <a:ext cx="2743200" cy="50292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確認1 FY27夏
値引き超え商談＋事務3割減
→ 拡大投資の解禁</a:t>
            </a:r>
          </a:p>
        </p:txBody>
      </p:sp>
      <p:cxnSp>
        <p:nvCxnSpPr>
          <p:cNvPr id="88" name="Connector 87"/>
          <p:cNvCxnSpPr/>
          <p:nvPr/>
        </p:nvCxnSpPr>
        <p:spPr>
          <a:xfrm>
            <a:off x="7818120"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446520" y="5861304"/>
            <a:ext cx="2743200" cy="50292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確認2 FY28末
JBP再現・B2B2C実証
→ 組織正式化・GCP本格投資</a:t>
            </a:r>
          </a:p>
        </p:txBody>
      </p:sp>
      <p:cxnSp>
        <p:nvCxnSpPr>
          <p:cNvPr id="90" name="Connector 89"/>
          <p:cNvCxnSpPr/>
          <p:nvPr/>
        </p:nvCxnSpPr>
        <p:spPr>
          <a:xfrm>
            <a:off x="11600992"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10229392" y="5861304"/>
            <a:ext cx="2743200" cy="50292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確認3 FY30
KPI開示
→ 全社標準化・評価切替</a:t>
            </a:r>
          </a:p>
        </p:txBody>
      </p:sp>
      <p:sp>
        <p:nvSpPr>
          <p:cNvPr id="92" name="Rectangle 91"/>
          <p:cNvSpPr/>
          <p:nvPr/>
        </p:nvSpPr>
        <p:spPr>
          <a:xfrm>
            <a:off x="320040" y="6355080"/>
            <a:ext cx="11521440" cy="38404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 y="6391656"/>
            <a:ext cx="11292840" cy="310896"/>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2030年以降：</a:t>
            </a:r>
            <a:r>
              <a:rPr sz="800" b="0">
                <a:solidFill>
                  <a:srgbClr val="262626"/>
                </a:solidFill>
                <a:latin typeface="Meiryo UI"/>
                <a:ea typeface="Meiryo UI"/>
              </a:rPr>
              <a:t>確立した勝ち方を全カテゴリ・主要小売へ標準展開し、2035年に賭けが収益の柱、2040年に「予防習慣インフラ企業」へ ― ゲート不合格なら拡大せず、詰まった手順を直して再挑戦する。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