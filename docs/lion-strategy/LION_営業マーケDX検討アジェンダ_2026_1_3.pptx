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8" r:id="rId2"/>
    <p:sldId id="257" r:id="rId3"/>
    <p:sldId id="259" r:id="rId4"/>
    <p:sldId id="271" r:id="rId21"/>
    <p:sldId id="261" r:id="rId5"/>
    <p:sldId id="262" r:id="rId6"/>
    <p:sldId id="263" r:id="rId7"/>
    <p:sldId id="264" r:id="rId8"/>
    <p:sldId id="268" r:id="rId9"/>
    <p:sldId id="266" r:id="rId10"/>
    <p:sldId id="267" r:id="rId11"/>
    <p:sldId id="269" r:id="rId12"/>
    <p:sldId id="270"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FFAEEF-C477-4DAE-87B3-7488676F2C96}" v="4" dt="2026-08-04T01:21:06.756"/>
    <p1510:client id="{1CA4C765-6320-48BA-8804-52338055A0FC}" v="75" dt="2026-08-04T06:35:57.2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9" d="100"/>
          <a:sy n="79" d="100"/>
        </p:scale>
        <p:origin x="74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microsoft.com/office/2016/11/relationships/changesInfo" Target="changesInfos/changesInfo1.xml"/><Relationship Id="rId20" Type="http://schemas.microsoft.com/office/2015/10/relationships/revisionInfo" Target="revisionInfo.xml"/><Relationship Id="rId21"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奥田　将史" userId="aec0aec9-2283-471d-bef5-7b94dd12c4c1" providerId="ADAL" clId="{982E3E8F-560C-44AB-A248-6C2389F568D1}"/>
    <pc:docChg chg="undo custSel addSld delSld modSld sldOrd">
      <pc:chgData name="奥田　将史" userId="aec0aec9-2283-471d-bef5-7b94dd12c4c1" providerId="ADAL" clId="{982E3E8F-560C-44AB-A248-6C2389F568D1}" dt="2026-08-04T07:03:17.167" v="2463" actId="20577"/>
      <pc:docMkLst>
        <pc:docMk/>
      </pc:docMkLst>
      <pc:sldChg chg="del">
        <pc:chgData name="奥田　将史" userId="aec0aec9-2283-471d-bef5-7b94dd12c4c1" providerId="ADAL" clId="{982E3E8F-560C-44AB-A248-6C2389F568D1}" dt="2026-08-04T01:25:34.502" v="518" actId="47"/>
        <pc:sldMkLst>
          <pc:docMk/>
          <pc:sldMk cId="0" sldId="256"/>
        </pc:sldMkLst>
      </pc:sldChg>
      <pc:sldChg chg="delSp modSp mod ord">
        <pc:chgData name="奥田　将史" userId="aec0aec9-2283-471d-bef5-7b94dd12c4c1" providerId="ADAL" clId="{982E3E8F-560C-44AB-A248-6C2389F568D1}" dt="2026-08-04T07:03:02.668" v="2460" actId="20577"/>
        <pc:sldMkLst>
          <pc:docMk/>
          <pc:sldMk cId="0" sldId="257"/>
        </pc:sldMkLst>
        <pc:spChg chg="mod">
          <ac:chgData name="奥田　将史" userId="aec0aec9-2283-471d-bef5-7b94dd12c4c1" providerId="ADAL" clId="{982E3E8F-560C-44AB-A248-6C2389F568D1}" dt="2026-08-04T07:03:02.668" v="2460" actId="20577"/>
          <ac:spMkLst>
            <pc:docMk/>
            <pc:sldMk cId="0" sldId="257"/>
            <ac:spMk id="2" creationId="{00000000-0000-0000-0000-000000000000}"/>
          </ac:spMkLst>
        </pc:spChg>
        <pc:spChg chg="mod">
          <ac:chgData name="奥田　将史" userId="aec0aec9-2283-471d-bef5-7b94dd12c4c1" providerId="ADAL" clId="{982E3E8F-560C-44AB-A248-6C2389F568D1}" dt="2026-08-04T03:30:52.731" v="598" actId="1036"/>
          <ac:spMkLst>
            <pc:docMk/>
            <pc:sldMk cId="0" sldId="257"/>
            <ac:spMk id="5" creationId="{00000000-0000-0000-0000-000000000000}"/>
          </ac:spMkLst>
        </pc:spChg>
        <pc:spChg chg="mod">
          <ac:chgData name="奥田　将史" userId="aec0aec9-2283-471d-bef5-7b94dd12c4c1" providerId="ADAL" clId="{982E3E8F-560C-44AB-A248-6C2389F568D1}" dt="2026-08-04T01:26:52.797" v="535" actId="403"/>
          <ac:spMkLst>
            <pc:docMk/>
            <pc:sldMk cId="0" sldId="257"/>
            <ac:spMk id="8" creationId="{00000000-0000-0000-0000-000000000000}"/>
          </ac:spMkLst>
        </pc:spChg>
        <pc:spChg chg="mod">
          <ac:chgData name="奥田　将史" userId="aec0aec9-2283-471d-bef5-7b94dd12c4c1" providerId="ADAL" clId="{982E3E8F-560C-44AB-A248-6C2389F568D1}" dt="2026-08-04T01:26:52.797" v="535" actId="403"/>
          <ac:spMkLst>
            <pc:docMk/>
            <pc:sldMk cId="0" sldId="257"/>
            <ac:spMk id="10" creationId="{00000000-0000-0000-0000-000000000000}"/>
          </ac:spMkLst>
        </pc:spChg>
        <pc:spChg chg="mod">
          <ac:chgData name="奥田　将史" userId="aec0aec9-2283-471d-bef5-7b94dd12c4c1" providerId="ADAL" clId="{982E3E8F-560C-44AB-A248-6C2389F568D1}" dt="2026-08-04T01:27:20.074" v="553" actId="20577"/>
          <ac:spMkLst>
            <pc:docMk/>
            <pc:sldMk cId="0" sldId="257"/>
            <ac:spMk id="11" creationId="{00000000-0000-0000-0000-000000000000}"/>
          </ac:spMkLst>
        </pc:spChg>
        <pc:spChg chg="mod">
          <ac:chgData name="奥田　将史" userId="aec0aec9-2283-471d-bef5-7b94dd12c4c1" providerId="ADAL" clId="{982E3E8F-560C-44AB-A248-6C2389F568D1}" dt="2026-08-04T01:27:04.632" v="551" actId="1036"/>
          <ac:spMkLst>
            <pc:docMk/>
            <pc:sldMk cId="0" sldId="257"/>
            <ac:spMk id="12" creationId="{00000000-0000-0000-0000-000000000000}"/>
          </ac:spMkLst>
        </pc:spChg>
        <pc:spChg chg="del">
          <ac:chgData name="奥田　将史" userId="aec0aec9-2283-471d-bef5-7b94dd12c4c1" providerId="ADAL" clId="{982E3E8F-560C-44AB-A248-6C2389F568D1}" dt="2026-08-04T01:26:45.462" v="533" actId="478"/>
          <ac:spMkLst>
            <pc:docMk/>
            <pc:sldMk cId="0" sldId="257"/>
            <ac:spMk id="13" creationId="{00000000-0000-0000-0000-000000000000}"/>
          </ac:spMkLst>
        </pc:spChg>
        <pc:spChg chg="mod">
          <ac:chgData name="奥田　将史" userId="aec0aec9-2283-471d-bef5-7b94dd12c4c1" providerId="ADAL" clId="{982E3E8F-560C-44AB-A248-6C2389F568D1}" dt="2026-08-04T01:26:52.797" v="535" actId="403"/>
          <ac:spMkLst>
            <pc:docMk/>
            <pc:sldMk cId="0" sldId="257"/>
            <ac:spMk id="14" creationId="{00000000-0000-0000-0000-000000000000}"/>
          </ac:spMkLst>
        </pc:spChg>
        <pc:spChg chg="mod">
          <ac:chgData name="奥田　将史" userId="aec0aec9-2283-471d-bef5-7b94dd12c4c1" providerId="ADAL" clId="{982E3E8F-560C-44AB-A248-6C2389F568D1}" dt="2026-08-04T01:26:52.797" v="535" actId="403"/>
          <ac:spMkLst>
            <pc:docMk/>
            <pc:sldMk cId="0" sldId="257"/>
            <ac:spMk id="16" creationId="{00000000-0000-0000-0000-000000000000}"/>
          </ac:spMkLst>
        </pc:spChg>
        <pc:spChg chg="mod">
          <ac:chgData name="奥田　将史" userId="aec0aec9-2283-471d-bef5-7b94dd12c4c1" providerId="ADAL" clId="{982E3E8F-560C-44AB-A248-6C2389F568D1}" dt="2026-08-04T01:27:26.522" v="554" actId="20577"/>
          <ac:spMkLst>
            <pc:docMk/>
            <pc:sldMk cId="0" sldId="257"/>
            <ac:spMk id="17" creationId="{00000000-0000-0000-0000-000000000000}"/>
          </ac:spMkLst>
        </pc:spChg>
        <pc:spChg chg="mod">
          <ac:chgData name="奥田　将史" userId="aec0aec9-2283-471d-bef5-7b94dd12c4c1" providerId="ADAL" clId="{982E3E8F-560C-44AB-A248-6C2389F568D1}" dt="2026-08-04T01:27:04.632" v="551" actId="1036"/>
          <ac:spMkLst>
            <pc:docMk/>
            <pc:sldMk cId="0" sldId="257"/>
            <ac:spMk id="18" creationId="{00000000-0000-0000-0000-000000000000}"/>
          </ac:spMkLst>
        </pc:spChg>
        <pc:spChg chg="del">
          <ac:chgData name="奥田　将史" userId="aec0aec9-2283-471d-bef5-7b94dd12c4c1" providerId="ADAL" clId="{982E3E8F-560C-44AB-A248-6C2389F568D1}" dt="2026-08-04T01:26:45.462" v="533" actId="478"/>
          <ac:spMkLst>
            <pc:docMk/>
            <pc:sldMk cId="0" sldId="257"/>
            <ac:spMk id="19" creationId="{00000000-0000-0000-0000-000000000000}"/>
          </ac:spMkLst>
        </pc:spChg>
        <pc:spChg chg="mod">
          <ac:chgData name="奥田　将史" userId="aec0aec9-2283-471d-bef5-7b94dd12c4c1" providerId="ADAL" clId="{982E3E8F-560C-44AB-A248-6C2389F568D1}" dt="2026-08-04T01:26:52.797" v="535" actId="403"/>
          <ac:spMkLst>
            <pc:docMk/>
            <pc:sldMk cId="0" sldId="257"/>
            <ac:spMk id="20" creationId="{00000000-0000-0000-0000-000000000000}"/>
          </ac:spMkLst>
        </pc:spChg>
        <pc:spChg chg="mod">
          <ac:chgData name="奥田　将史" userId="aec0aec9-2283-471d-bef5-7b94dd12c4c1" providerId="ADAL" clId="{982E3E8F-560C-44AB-A248-6C2389F568D1}" dt="2026-08-04T01:27:29.718" v="555" actId="20577"/>
          <ac:spMkLst>
            <pc:docMk/>
            <pc:sldMk cId="0" sldId="257"/>
            <ac:spMk id="23" creationId="{00000000-0000-0000-0000-000000000000}"/>
          </ac:spMkLst>
        </pc:spChg>
        <pc:spChg chg="mod">
          <ac:chgData name="奥田　将史" userId="aec0aec9-2283-471d-bef5-7b94dd12c4c1" providerId="ADAL" clId="{982E3E8F-560C-44AB-A248-6C2389F568D1}" dt="2026-08-04T01:27:04.632" v="551" actId="1036"/>
          <ac:spMkLst>
            <pc:docMk/>
            <pc:sldMk cId="0" sldId="257"/>
            <ac:spMk id="24" creationId="{00000000-0000-0000-0000-000000000000}"/>
          </ac:spMkLst>
        </pc:spChg>
        <pc:spChg chg="del">
          <ac:chgData name="奥田　将史" userId="aec0aec9-2283-471d-bef5-7b94dd12c4c1" providerId="ADAL" clId="{982E3E8F-560C-44AB-A248-6C2389F568D1}" dt="2026-08-04T01:26:45.462" v="533" actId="478"/>
          <ac:spMkLst>
            <pc:docMk/>
            <pc:sldMk cId="0" sldId="257"/>
            <ac:spMk id="25" creationId="{00000000-0000-0000-0000-000000000000}"/>
          </ac:spMkLst>
        </pc:spChg>
        <pc:spChg chg="del mod">
          <ac:chgData name="奥田　将史" userId="aec0aec9-2283-471d-bef5-7b94dd12c4c1" providerId="ADAL" clId="{982E3E8F-560C-44AB-A248-6C2389F568D1}" dt="2026-08-04T01:26:38.523" v="532" actId="478"/>
          <ac:spMkLst>
            <pc:docMk/>
            <pc:sldMk cId="0" sldId="257"/>
            <ac:spMk id="26" creationId="{00000000-0000-0000-0000-000000000000}"/>
          </ac:spMkLst>
        </pc:spChg>
      </pc:sldChg>
      <pc:sldChg chg="modSp mod">
        <pc:chgData name="奥田　将史" userId="aec0aec9-2283-471d-bef5-7b94dd12c4c1" providerId="ADAL" clId="{982E3E8F-560C-44AB-A248-6C2389F568D1}" dt="2026-08-04T07:03:07.263" v="2462" actId="20577"/>
        <pc:sldMkLst>
          <pc:docMk/>
          <pc:sldMk cId="0" sldId="258"/>
        </pc:sldMkLst>
        <pc:spChg chg="mod">
          <ac:chgData name="奥田　将史" userId="aec0aec9-2283-471d-bef5-7b94dd12c4c1" providerId="ADAL" clId="{982E3E8F-560C-44AB-A248-6C2389F568D1}" dt="2026-08-04T07:03:07.263" v="2462" actId="20577"/>
          <ac:spMkLst>
            <pc:docMk/>
            <pc:sldMk cId="0" sldId="258"/>
            <ac:spMk id="2" creationId="{00000000-0000-0000-0000-000000000000}"/>
          </ac:spMkLst>
        </pc:spChg>
        <pc:spChg chg="mod">
          <ac:chgData name="奥田　将史" userId="aec0aec9-2283-471d-bef5-7b94dd12c4c1" providerId="ADAL" clId="{982E3E8F-560C-44AB-A248-6C2389F568D1}" dt="2026-08-04T03:30:17.725" v="583" actId="403"/>
          <ac:spMkLst>
            <pc:docMk/>
            <pc:sldMk cId="0" sldId="258"/>
            <ac:spMk id="5" creationId="{00000000-0000-0000-0000-000000000000}"/>
          </ac:spMkLst>
        </pc:spChg>
        <pc:spChg chg="mod">
          <ac:chgData name="奥田　将史" userId="aec0aec9-2283-471d-bef5-7b94dd12c4c1" providerId="ADAL" clId="{982E3E8F-560C-44AB-A248-6C2389F568D1}" dt="2026-08-04T01:16:32.394" v="154" actId="403"/>
          <ac:spMkLst>
            <pc:docMk/>
            <pc:sldMk cId="0" sldId="258"/>
            <ac:spMk id="8" creationId="{00000000-0000-0000-0000-000000000000}"/>
          </ac:spMkLst>
        </pc:spChg>
        <pc:spChg chg="mod">
          <ac:chgData name="奥田　将史" userId="aec0aec9-2283-471d-bef5-7b94dd12c4c1" providerId="ADAL" clId="{982E3E8F-560C-44AB-A248-6C2389F568D1}" dt="2026-08-04T01:16:32.394" v="154" actId="403"/>
          <ac:spMkLst>
            <pc:docMk/>
            <pc:sldMk cId="0" sldId="258"/>
            <ac:spMk id="10" creationId="{00000000-0000-0000-0000-000000000000}"/>
          </ac:spMkLst>
        </pc:spChg>
        <pc:spChg chg="mod">
          <ac:chgData name="奥田　将史" userId="aec0aec9-2283-471d-bef5-7b94dd12c4c1" providerId="ADAL" clId="{982E3E8F-560C-44AB-A248-6C2389F568D1}" dt="2026-08-04T01:16:44.985" v="177" actId="1036"/>
          <ac:spMkLst>
            <pc:docMk/>
            <pc:sldMk cId="0" sldId="258"/>
            <ac:spMk id="11" creationId="{00000000-0000-0000-0000-000000000000}"/>
          </ac:spMkLst>
        </pc:spChg>
        <pc:spChg chg="mod">
          <ac:chgData name="奥田　将史" userId="aec0aec9-2283-471d-bef5-7b94dd12c4c1" providerId="ADAL" clId="{982E3E8F-560C-44AB-A248-6C2389F568D1}" dt="2026-08-04T06:51:11.712" v="1908" actId="20577"/>
          <ac:spMkLst>
            <pc:docMk/>
            <pc:sldMk cId="0" sldId="258"/>
            <ac:spMk id="12" creationId="{00000000-0000-0000-0000-000000000000}"/>
          </ac:spMkLst>
        </pc:spChg>
        <pc:spChg chg="mod">
          <ac:chgData name="奥田　将史" userId="aec0aec9-2283-471d-bef5-7b94dd12c4c1" providerId="ADAL" clId="{982E3E8F-560C-44AB-A248-6C2389F568D1}" dt="2026-08-04T01:16:32.394" v="154" actId="403"/>
          <ac:spMkLst>
            <pc:docMk/>
            <pc:sldMk cId="0" sldId="258"/>
            <ac:spMk id="15" creationId="{00000000-0000-0000-0000-000000000000}"/>
          </ac:spMkLst>
        </pc:spChg>
        <pc:spChg chg="mod">
          <ac:chgData name="奥田　将史" userId="aec0aec9-2283-471d-bef5-7b94dd12c4c1" providerId="ADAL" clId="{982E3E8F-560C-44AB-A248-6C2389F568D1}" dt="2026-08-04T01:16:44.985" v="177" actId="1036"/>
          <ac:spMkLst>
            <pc:docMk/>
            <pc:sldMk cId="0" sldId="258"/>
            <ac:spMk id="16" creationId="{00000000-0000-0000-0000-000000000000}"/>
          </ac:spMkLst>
        </pc:spChg>
        <pc:spChg chg="mod">
          <ac:chgData name="奥田　将史" userId="aec0aec9-2283-471d-bef5-7b94dd12c4c1" providerId="ADAL" clId="{982E3E8F-560C-44AB-A248-6C2389F568D1}" dt="2026-08-04T06:51:22.478" v="1918" actId="20577"/>
          <ac:spMkLst>
            <pc:docMk/>
            <pc:sldMk cId="0" sldId="258"/>
            <ac:spMk id="17" creationId="{00000000-0000-0000-0000-000000000000}"/>
          </ac:spMkLst>
        </pc:spChg>
        <pc:spChg chg="mod">
          <ac:chgData name="奥田　将史" userId="aec0aec9-2283-471d-bef5-7b94dd12c4c1" providerId="ADAL" clId="{982E3E8F-560C-44AB-A248-6C2389F568D1}" dt="2026-08-04T01:16:32.394" v="154" actId="403"/>
          <ac:spMkLst>
            <pc:docMk/>
            <pc:sldMk cId="0" sldId="258"/>
            <ac:spMk id="18" creationId="{00000000-0000-0000-0000-000000000000}"/>
          </ac:spMkLst>
        </pc:spChg>
        <pc:spChg chg="mod">
          <ac:chgData name="奥田　将史" userId="aec0aec9-2283-471d-bef5-7b94dd12c4c1" providerId="ADAL" clId="{982E3E8F-560C-44AB-A248-6C2389F568D1}" dt="2026-08-04T01:16:32.394" v="154" actId="403"/>
          <ac:spMkLst>
            <pc:docMk/>
            <pc:sldMk cId="0" sldId="258"/>
            <ac:spMk id="20" creationId="{00000000-0000-0000-0000-000000000000}"/>
          </ac:spMkLst>
        </pc:spChg>
        <pc:spChg chg="mod">
          <ac:chgData name="奥田　将史" userId="aec0aec9-2283-471d-bef5-7b94dd12c4c1" providerId="ADAL" clId="{982E3E8F-560C-44AB-A248-6C2389F568D1}" dt="2026-08-04T01:16:44.985" v="177" actId="1036"/>
          <ac:spMkLst>
            <pc:docMk/>
            <pc:sldMk cId="0" sldId="258"/>
            <ac:spMk id="21" creationId="{00000000-0000-0000-0000-000000000000}"/>
          </ac:spMkLst>
        </pc:spChg>
        <pc:spChg chg="mod">
          <ac:chgData name="奥田　将史" userId="aec0aec9-2283-471d-bef5-7b94dd12c4c1" providerId="ADAL" clId="{982E3E8F-560C-44AB-A248-6C2389F568D1}" dt="2026-08-04T06:51:31.712" v="1924" actId="20577"/>
          <ac:spMkLst>
            <pc:docMk/>
            <pc:sldMk cId="0" sldId="258"/>
            <ac:spMk id="22" creationId="{00000000-0000-0000-0000-000000000000}"/>
          </ac:spMkLst>
        </pc:spChg>
        <pc:spChg chg="mod">
          <ac:chgData name="奥田　将史" userId="aec0aec9-2283-471d-bef5-7b94dd12c4c1" providerId="ADAL" clId="{982E3E8F-560C-44AB-A248-6C2389F568D1}" dt="2026-08-04T01:16:32.394" v="154" actId="403"/>
          <ac:spMkLst>
            <pc:docMk/>
            <pc:sldMk cId="0" sldId="258"/>
            <ac:spMk id="24" creationId="{00000000-0000-0000-0000-000000000000}"/>
          </ac:spMkLst>
        </pc:spChg>
        <pc:spChg chg="mod">
          <ac:chgData name="奥田　将史" userId="aec0aec9-2283-471d-bef5-7b94dd12c4c1" providerId="ADAL" clId="{982E3E8F-560C-44AB-A248-6C2389F568D1}" dt="2026-08-04T01:16:32.394" v="154" actId="403"/>
          <ac:spMkLst>
            <pc:docMk/>
            <pc:sldMk cId="0" sldId="258"/>
            <ac:spMk id="25" creationId="{00000000-0000-0000-0000-000000000000}"/>
          </ac:spMkLst>
        </pc:spChg>
        <pc:spChg chg="mod">
          <ac:chgData name="奥田　将史" userId="aec0aec9-2283-471d-bef5-7b94dd12c4c1" providerId="ADAL" clId="{982E3E8F-560C-44AB-A248-6C2389F568D1}" dt="2026-08-04T01:16:44.985" v="177" actId="1036"/>
          <ac:spMkLst>
            <pc:docMk/>
            <pc:sldMk cId="0" sldId="258"/>
            <ac:spMk id="26" creationId="{00000000-0000-0000-0000-000000000000}"/>
          </ac:spMkLst>
        </pc:spChg>
        <pc:spChg chg="mod">
          <ac:chgData name="奥田　将史" userId="aec0aec9-2283-471d-bef5-7b94dd12c4c1" providerId="ADAL" clId="{982E3E8F-560C-44AB-A248-6C2389F568D1}" dt="2026-08-04T06:51:40.782" v="1930" actId="20577"/>
          <ac:spMkLst>
            <pc:docMk/>
            <pc:sldMk cId="0" sldId="258"/>
            <ac:spMk id="27" creationId="{00000000-0000-0000-0000-000000000000}"/>
          </ac:spMkLst>
        </pc:spChg>
      </pc:sldChg>
      <pc:sldChg chg="addSp delSp modSp mod">
        <pc:chgData name="奥田　将史" userId="aec0aec9-2283-471d-bef5-7b94dd12c4c1" providerId="ADAL" clId="{982E3E8F-560C-44AB-A248-6C2389F568D1}" dt="2026-08-04T07:03:17.167" v="2463" actId="20577"/>
        <pc:sldMkLst>
          <pc:docMk/>
          <pc:sldMk cId="0" sldId="259"/>
        </pc:sldMkLst>
        <pc:spChg chg="mod">
          <ac:chgData name="奥田　将史" userId="aec0aec9-2283-471d-bef5-7b94dd12c4c1" providerId="ADAL" clId="{982E3E8F-560C-44AB-A248-6C2389F568D1}" dt="2026-08-04T07:03:17.167" v="2463" actId="20577"/>
          <ac:spMkLst>
            <pc:docMk/>
            <pc:sldMk cId="0" sldId="259"/>
            <ac:spMk id="2" creationId="{00000000-0000-0000-0000-000000000000}"/>
          </ac:spMkLst>
        </pc:spChg>
        <pc:spChg chg="mod">
          <ac:chgData name="奥田　将史" userId="aec0aec9-2283-471d-bef5-7b94dd12c4c1" providerId="ADAL" clId="{982E3E8F-560C-44AB-A248-6C2389F568D1}" dt="2026-08-04T03:31:11.798" v="613" actId="20577"/>
          <ac:spMkLst>
            <pc:docMk/>
            <pc:sldMk cId="0" sldId="259"/>
            <ac:spMk id="5" creationId="{00000000-0000-0000-0000-000000000000}"/>
          </ac:spMkLst>
        </pc:spChg>
        <pc:spChg chg="mod">
          <ac:chgData name="奥田　将史" userId="aec0aec9-2283-471d-bef5-7b94dd12c4c1" providerId="ADAL" clId="{982E3E8F-560C-44AB-A248-6C2389F568D1}" dt="2026-08-04T06:25:50.327" v="798" actId="1076"/>
          <ac:spMkLst>
            <pc:docMk/>
            <pc:sldMk cId="0" sldId="259"/>
            <ac:spMk id="7" creationId="{00000000-0000-0000-0000-000000000000}"/>
          </ac:spMkLst>
        </pc:spChg>
        <pc:spChg chg="mod">
          <ac:chgData name="奥田　将史" userId="aec0aec9-2283-471d-bef5-7b94dd12c4c1" providerId="ADAL" clId="{982E3E8F-560C-44AB-A248-6C2389F568D1}" dt="2026-08-04T06:17:19.264" v="669" actId="1076"/>
          <ac:spMkLst>
            <pc:docMk/>
            <pc:sldMk cId="0" sldId="259"/>
            <ac:spMk id="8" creationId="{00000000-0000-0000-0000-000000000000}"/>
          </ac:spMkLst>
        </pc:spChg>
        <pc:spChg chg="mod">
          <ac:chgData name="奥田　将史" userId="aec0aec9-2283-471d-bef5-7b94dd12c4c1" providerId="ADAL" clId="{982E3E8F-560C-44AB-A248-6C2389F568D1}" dt="2026-08-04T06:17:19.264" v="669" actId="1076"/>
          <ac:spMkLst>
            <pc:docMk/>
            <pc:sldMk cId="0" sldId="259"/>
            <ac:spMk id="9" creationId="{00000000-0000-0000-0000-000000000000}"/>
          </ac:spMkLst>
        </pc:spChg>
        <pc:spChg chg="del">
          <ac:chgData name="奥田　将史" userId="aec0aec9-2283-471d-bef5-7b94dd12c4c1" providerId="ADAL" clId="{982E3E8F-560C-44AB-A248-6C2389F568D1}" dt="2026-08-04T01:04:48.465" v="39" actId="478"/>
          <ac:spMkLst>
            <pc:docMk/>
            <pc:sldMk cId="0" sldId="259"/>
            <ac:spMk id="10" creationId="{00000000-0000-0000-0000-000000000000}"/>
          </ac:spMkLst>
        </pc:spChg>
        <pc:spChg chg="mod">
          <ac:chgData name="奥田　将史" userId="aec0aec9-2283-471d-bef5-7b94dd12c4c1" providerId="ADAL" clId="{982E3E8F-560C-44AB-A248-6C2389F568D1}" dt="2026-08-04T06:17:19.264" v="669" actId="1076"/>
          <ac:spMkLst>
            <pc:docMk/>
            <pc:sldMk cId="0" sldId="259"/>
            <ac:spMk id="11" creationId="{00000000-0000-0000-0000-000000000000}"/>
          </ac:spMkLst>
        </pc:spChg>
        <pc:spChg chg="mod">
          <ac:chgData name="奥田　将史" userId="aec0aec9-2283-471d-bef5-7b94dd12c4c1" providerId="ADAL" clId="{982E3E8F-560C-44AB-A248-6C2389F568D1}" dt="2026-08-04T06:14:58.199" v="644" actId="1076"/>
          <ac:spMkLst>
            <pc:docMk/>
            <pc:sldMk cId="0" sldId="259"/>
            <ac:spMk id="12" creationId="{00000000-0000-0000-0000-000000000000}"/>
          </ac:spMkLst>
        </pc:spChg>
        <pc:spChg chg="mod">
          <ac:chgData name="奥田　将史" userId="aec0aec9-2283-471d-bef5-7b94dd12c4c1" providerId="ADAL" clId="{982E3E8F-560C-44AB-A248-6C2389F568D1}" dt="2026-08-04T06:26:29.437" v="838" actId="1036"/>
          <ac:spMkLst>
            <pc:docMk/>
            <pc:sldMk cId="0" sldId="259"/>
            <ac:spMk id="13" creationId="{00000000-0000-0000-0000-000000000000}"/>
          </ac:spMkLst>
        </pc:spChg>
        <pc:spChg chg="mod">
          <ac:chgData name="奥田　将史" userId="aec0aec9-2283-471d-bef5-7b94dd12c4c1" providerId="ADAL" clId="{982E3E8F-560C-44AB-A248-6C2389F568D1}" dt="2026-08-04T06:17:36.122" v="684" actId="1035"/>
          <ac:spMkLst>
            <pc:docMk/>
            <pc:sldMk cId="0" sldId="259"/>
            <ac:spMk id="14" creationId="{00000000-0000-0000-0000-000000000000}"/>
          </ac:spMkLst>
        </pc:spChg>
        <pc:spChg chg="mod topLvl">
          <ac:chgData name="奥田　将史" userId="aec0aec9-2283-471d-bef5-7b94dd12c4c1" providerId="ADAL" clId="{982E3E8F-560C-44AB-A248-6C2389F568D1}" dt="2026-08-04T06:26:03.761" v="836" actId="1035"/>
          <ac:spMkLst>
            <pc:docMk/>
            <pc:sldMk cId="0" sldId="259"/>
            <ac:spMk id="15" creationId="{00000000-0000-0000-0000-000000000000}"/>
          </ac:spMkLst>
        </pc:spChg>
        <pc:spChg chg="mod topLvl">
          <ac:chgData name="奥田　将史" userId="aec0aec9-2283-471d-bef5-7b94dd12c4c1" providerId="ADAL" clId="{982E3E8F-560C-44AB-A248-6C2389F568D1}" dt="2026-08-04T06:30:37.558" v="1125" actId="20577"/>
          <ac:spMkLst>
            <pc:docMk/>
            <pc:sldMk cId="0" sldId="259"/>
            <ac:spMk id="16" creationId="{00000000-0000-0000-0000-000000000000}"/>
          </ac:spMkLst>
        </pc:spChg>
        <pc:spChg chg="mod topLvl">
          <ac:chgData name="奥田　将史" userId="aec0aec9-2283-471d-bef5-7b94dd12c4c1" providerId="ADAL" clId="{982E3E8F-560C-44AB-A248-6C2389F568D1}" dt="2026-08-04T06:26:03.761" v="836" actId="1035"/>
          <ac:spMkLst>
            <pc:docMk/>
            <pc:sldMk cId="0" sldId="259"/>
            <ac:spMk id="17" creationId="{00000000-0000-0000-0000-000000000000}"/>
          </ac:spMkLst>
        </pc:spChg>
        <pc:spChg chg="mod topLvl">
          <ac:chgData name="奥田　将史" userId="aec0aec9-2283-471d-bef5-7b94dd12c4c1" providerId="ADAL" clId="{982E3E8F-560C-44AB-A248-6C2389F568D1}" dt="2026-08-04T06:33:19.966" v="1339" actId="20577"/>
          <ac:spMkLst>
            <pc:docMk/>
            <pc:sldMk cId="0" sldId="259"/>
            <ac:spMk id="18" creationId="{00000000-0000-0000-0000-000000000000}"/>
          </ac:spMkLst>
        </pc:spChg>
        <pc:spChg chg="mod topLvl">
          <ac:chgData name="奥田　将史" userId="aec0aec9-2283-471d-bef5-7b94dd12c4c1" providerId="ADAL" clId="{982E3E8F-560C-44AB-A248-6C2389F568D1}" dt="2026-08-04T06:26:03.761" v="836" actId="1035"/>
          <ac:spMkLst>
            <pc:docMk/>
            <pc:sldMk cId="0" sldId="259"/>
            <ac:spMk id="19" creationId="{00000000-0000-0000-0000-000000000000}"/>
          </ac:spMkLst>
        </pc:spChg>
        <pc:spChg chg="mod topLvl">
          <ac:chgData name="奥田　将史" userId="aec0aec9-2283-471d-bef5-7b94dd12c4c1" providerId="ADAL" clId="{982E3E8F-560C-44AB-A248-6C2389F568D1}" dt="2026-08-04T07:01:58.536" v="2392" actId="20577"/>
          <ac:spMkLst>
            <pc:docMk/>
            <pc:sldMk cId="0" sldId="259"/>
            <ac:spMk id="20" creationId="{00000000-0000-0000-0000-000000000000}"/>
          </ac:spMkLst>
        </pc:spChg>
        <pc:spChg chg="mod topLvl">
          <ac:chgData name="奥田　将史" userId="aec0aec9-2283-471d-bef5-7b94dd12c4c1" providerId="ADAL" clId="{982E3E8F-560C-44AB-A248-6C2389F568D1}" dt="2026-08-04T06:26:03.761" v="836" actId="1035"/>
          <ac:spMkLst>
            <pc:docMk/>
            <pc:sldMk cId="0" sldId="259"/>
            <ac:spMk id="21" creationId="{00000000-0000-0000-0000-000000000000}"/>
          </ac:spMkLst>
        </pc:spChg>
        <pc:spChg chg="mod topLvl">
          <ac:chgData name="奥田　将史" userId="aec0aec9-2283-471d-bef5-7b94dd12c4c1" providerId="ADAL" clId="{982E3E8F-560C-44AB-A248-6C2389F568D1}" dt="2026-08-04T06:33:37.347" v="1358" actId="20577"/>
          <ac:spMkLst>
            <pc:docMk/>
            <pc:sldMk cId="0" sldId="259"/>
            <ac:spMk id="22" creationId="{00000000-0000-0000-0000-000000000000}"/>
          </ac:spMkLst>
        </pc:spChg>
        <pc:spChg chg="del">
          <ac:chgData name="奥田　将史" userId="aec0aec9-2283-471d-bef5-7b94dd12c4c1" providerId="ADAL" clId="{982E3E8F-560C-44AB-A248-6C2389F568D1}" dt="2026-08-04T01:00:21.206" v="0" actId="478"/>
          <ac:spMkLst>
            <pc:docMk/>
            <pc:sldMk cId="0" sldId="259"/>
            <ac:spMk id="23" creationId="{00000000-0000-0000-0000-000000000000}"/>
          </ac:spMkLst>
        </pc:spChg>
        <pc:spChg chg="mod">
          <ac:chgData name="奥田　将史" userId="aec0aec9-2283-471d-bef5-7b94dd12c4c1" providerId="ADAL" clId="{982E3E8F-560C-44AB-A248-6C2389F568D1}" dt="2026-08-04T06:26:03.761" v="836" actId="1035"/>
          <ac:spMkLst>
            <pc:docMk/>
            <pc:sldMk cId="0" sldId="259"/>
            <ac:spMk id="24" creationId="{00000000-0000-0000-0000-000000000000}"/>
          </ac:spMkLst>
        </pc:spChg>
        <pc:spChg chg="add mod">
          <ac:chgData name="奥田　将史" userId="aec0aec9-2283-471d-bef5-7b94dd12c4c1" providerId="ADAL" clId="{982E3E8F-560C-44AB-A248-6C2389F568D1}" dt="2026-08-04T06:17:19.264" v="669" actId="1076"/>
          <ac:spMkLst>
            <pc:docMk/>
            <pc:sldMk cId="0" sldId="259"/>
            <ac:spMk id="27" creationId="{55C31B8C-C6E2-70F9-9953-09391B4E30E4}"/>
          </ac:spMkLst>
        </pc:spChg>
        <pc:grpChg chg="add del mod">
          <ac:chgData name="奥田　将史" userId="aec0aec9-2283-471d-bef5-7b94dd12c4c1" providerId="ADAL" clId="{982E3E8F-560C-44AB-A248-6C2389F568D1}" dt="2026-08-04T06:15:47.934" v="648" actId="165"/>
          <ac:grpSpMkLst>
            <pc:docMk/>
            <pc:sldMk cId="0" sldId="259"/>
            <ac:grpSpMk id="25" creationId="{DC4E2957-3099-8901-76EC-025269F65319}"/>
          </ac:grpSpMkLst>
        </pc:grpChg>
      </pc:sldChg>
      <pc:sldChg chg="del">
        <pc:chgData name="奥田　将史" userId="aec0aec9-2283-471d-bef5-7b94dd12c4c1" providerId="ADAL" clId="{982E3E8F-560C-44AB-A248-6C2389F568D1}" dt="2026-08-04T01:08:42.344" v="78" actId="47"/>
        <pc:sldMkLst>
          <pc:docMk/>
          <pc:sldMk cId="0" sldId="260"/>
        </pc:sldMkLst>
      </pc:sldChg>
      <pc:sldChg chg="delSp modSp mod">
        <pc:chgData name="奥田　将史" userId="aec0aec9-2283-471d-bef5-7b94dd12c4c1" providerId="ADAL" clId="{982E3E8F-560C-44AB-A248-6C2389F568D1}" dt="2026-08-04T06:37:51.335" v="1438" actId="403"/>
        <pc:sldMkLst>
          <pc:docMk/>
          <pc:sldMk cId="0" sldId="261"/>
        </pc:sldMkLst>
        <pc:spChg chg="mod">
          <ac:chgData name="奥田　将史" userId="aec0aec9-2283-471d-bef5-7b94dd12c4c1" providerId="ADAL" clId="{982E3E8F-560C-44AB-A248-6C2389F568D1}" dt="2026-08-04T01:18:40.848" v="304" actId="20577"/>
          <ac:spMkLst>
            <pc:docMk/>
            <pc:sldMk cId="0" sldId="261"/>
            <ac:spMk id="2" creationId="{00000000-0000-0000-0000-000000000000}"/>
          </ac:spMkLst>
        </pc:spChg>
        <pc:spChg chg="mod">
          <ac:chgData name="奥田　将史" userId="aec0aec9-2283-471d-bef5-7b94dd12c4c1" providerId="ADAL" clId="{982E3E8F-560C-44AB-A248-6C2389F568D1}" dt="2026-08-04T06:32:28.674" v="1329" actId="20577"/>
          <ac:spMkLst>
            <pc:docMk/>
            <pc:sldMk cId="0" sldId="261"/>
            <ac:spMk id="5" creationId="{00000000-0000-0000-0000-000000000000}"/>
          </ac:spMkLst>
        </pc:spChg>
        <pc:spChg chg="mod">
          <ac:chgData name="奥田　将史" userId="aec0aec9-2283-471d-bef5-7b94dd12c4c1" providerId="ADAL" clId="{982E3E8F-560C-44AB-A248-6C2389F568D1}" dt="2026-08-04T06:37:51.335" v="1438" actId="403"/>
          <ac:spMkLst>
            <pc:docMk/>
            <pc:sldMk cId="0" sldId="261"/>
            <ac:spMk id="8" creationId="{00000000-0000-0000-0000-000000000000}"/>
          </ac:spMkLst>
        </pc:spChg>
        <pc:spChg chg="mod">
          <ac:chgData name="奥田　将史" userId="aec0aec9-2283-471d-bef5-7b94dd12c4c1" providerId="ADAL" clId="{982E3E8F-560C-44AB-A248-6C2389F568D1}" dt="2026-08-04T01:09:24.290" v="87" actId="1076"/>
          <ac:spMkLst>
            <pc:docMk/>
            <pc:sldMk cId="0" sldId="261"/>
            <ac:spMk id="9" creationId="{00000000-0000-0000-0000-000000000000}"/>
          </ac:spMkLst>
        </pc:spChg>
        <pc:spChg chg="mod">
          <ac:chgData name="奥田　将史" userId="aec0aec9-2283-471d-bef5-7b94dd12c4c1" providerId="ADAL" clId="{982E3E8F-560C-44AB-A248-6C2389F568D1}" dt="2026-08-04T01:09:24.290" v="87" actId="1076"/>
          <ac:spMkLst>
            <pc:docMk/>
            <pc:sldMk cId="0" sldId="261"/>
            <ac:spMk id="10" creationId="{00000000-0000-0000-0000-000000000000}"/>
          </ac:spMkLst>
        </pc:spChg>
        <pc:spChg chg="del">
          <ac:chgData name="奥田　将史" userId="aec0aec9-2283-471d-bef5-7b94dd12c4c1" providerId="ADAL" clId="{982E3E8F-560C-44AB-A248-6C2389F568D1}" dt="2026-08-04T01:08:52.026" v="79" actId="478"/>
          <ac:spMkLst>
            <pc:docMk/>
            <pc:sldMk cId="0" sldId="261"/>
            <ac:spMk id="11" creationId="{00000000-0000-0000-0000-000000000000}"/>
          </ac:spMkLst>
        </pc:spChg>
        <pc:spChg chg="del">
          <ac:chgData name="奥田　将史" userId="aec0aec9-2283-471d-bef5-7b94dd12c4c1" providerId="ADAL" clId="{982E3E8F-560C-44AB-A248-6C2389F568D1}" dt="2026-08-04T01:08:52.026" v="79" actId="478"/>
          <ac:spMkLst>
            <pc:docMk/>
            <pc:sldMk cId="0" sldId="261"/>
            <ac:spMk id="12" creationId="{00000000-0000-0000-0000-000000000000}"/>
          </ac:spMkLst>
        </pc:spChg>
        <pc:spChg chg="del">
          <ac:chgData name="奥田　将史" userId="aec0aec9-2283-471d-bef5-7b94dd12c4c1" providerId="ADAL" clId="{982E3E8F-560C-44AB-A248-6C2389F568D1}" dt="2026-08-04T01:08:52.026" v="79" actId="478"/>
          <ac:spMkLst>
            <pc:docMk/>
            <pc:sldMk cId="0" sldId="261"/>
            <ac:spMk id="13" creationId="{00000000-0000-0000-0000-000000000000}"/>
          </ac:spMkLst>
        </pc:spChg>
        <pc:spChg chg="mod">
          <ac:chgData name="奥田　将史" userId="aec0aec9-2283-471d-bef5-7b94dd12c4c1" providerId="ADAL" clId="{982E3E8F-560C-44AB-A248-6C2389F568D1}" dt="2026-08-04T06:28:54.086" v="1017"/>
          <ac:spMkLst>
            <pc:docMk/>
            <pc:sldMk cId="0" sldId="261"/>
            <ac:spMk id="16" creationId="{00000000-0000-0000-0000-000000000000}"/>
          </ac:spMkLst>
        </pc:spChg>
        <pc:spChg chg="mod">
          <ac:chgData name="奥田　将史" userId="aec0aec9-2283-471d-bef5-7b94dd12c4c1" providerId="ADAL" clId="{982E3E8F-560C-44AB-A248-6C2389F568D1}" dt="2026-08-04T06:31:05.600" v="1148" actId="20577"/>
          <ac:spMkLst>
            <pc:docMk/>
            <pc:sldMk cId="0" sldId="261"/>
            <ac:spMk id="17" creationId="{00000000-0000-0000-0000-000000000000}"/>
          </ac:spMkLst>
        </pc:spChg>
        <pc:spChg chg="mod">
          <ac:chgData name="奥田　将史" userId="aec0aec9-2283-471d-bef5-7b94dd12c4c1" providerId="ADAL" clId="{982E3E8F-560C-44AB-A248-6C2389F568D1}" dt="2026-08-04T06:30:11.662" v="1095" actId="20577"/>
          <ac:spMkLst>
            <pc:docMk/>
            <pc:sldMk cId="0" sldId="261"/>
            <ac:spMk id="20" creationId="{00000000-0000-0000-0000-000000000000}"/>
          </ac:spMkLst>
        </pc:spChg>
        <pc:spChg chg="mod">
          <ac:chgData name="奥田　将史" userId="aec0aec9-2283-471d-bef5-7b94dd12c4c1" providerId="ADAL" clId="{982E3E8F-560C-44AB-A248-6C2389F568D1}" dt="2026-08-04T06:34:48.712" v="1405" actId="20577"/>
          <ac:spMkLst>
            <pc:docMk/>
            <pc:sldMk cId="0" sldId="261"/>
            <ac:spMk id="31" creationId="{00000000-0000-0000-0000-000000000000}"/>
          </ac:spMkLst>
        </pc:spChg>
        <pc:spChg chg="del">
          <ac:chgData name="奥田　将史" userId="aec0aec9-2283-471d-bef5-7b94dd12c4c1" providerId="ADAL" clId="{982E3E8F-560C-44AB-A248-6C2389F568D1}" dt="2026-08-04T01:08:55.228" v="80" actId="478"/>
          <ac:spMkLst>
            <pc:docMk/>
            <pc:sldMk cId="0" sldId="261"/>
            <ac:spMk id="32" creationId="{00000000-0000-0000-0000-000000000000}"/>
          </ac:spMkLst>
        </pc:spChg>
      </pc:sldChg>
      <pc:sldChg chg="delSp modSp mod">
        <pc:chgData name="奥田　将史" userId="aec0aec9-2283-471d-bef5-7b94dd12c4c1" providerId="ADAL" clId="{982E3E8F-560C-44AB-A248-6C2389F568D1}" dt="2026-08-04T06:45:23.608" v="1647" actId="20577"/>
        <pc:sldMkLst>
          <pc:docMk/>
          <pc:sldMk cId="0" sldId="262"/>
        </pc:sldMkLst>
        <pc:spChg chg="mod">
          <ac:chgData name="奥田　将史" userId="aec0aec9-2283-471d-bef5-7b94dd12c4c1" providerId="ADAL" clId="{982E3E8F-560C-44AB-A248-6C2389F568D1}" dt="2026-08-04T01:18:56.750" v="308" actId="3064"/>
          <ac:spMkLst>
            <pc:docMk/>
            <pc:sldMk cId="0" sldId="262"/>
            <ac:spMk id="2" creationId="{00000000-0000-0000-0000-000000000000}"/>
          </ac:spMkLst>
        </pc:spChg>
        <pc:spChg chg="mod">
          <ac:chgData name="奥田　将史" userId="aec0aec9-2283-471d-bef5-7b94dd12c4c1" providerId="ADAL" clId="{982E3E8F-560C-44AB-A248-6C2389F568D1}" dt="2026-08-04T06:45:23.608" v="1647" actId="20577"/>
          <ac:spMkLst>
            <pc:docMk/>
            <pc:sldMk cId="0" sldId="262"/>
            <ac:spMk id="5" creationId="{00000000-0000-0000-0000-000000000000}"/>
          </ac:spMkLst>
        </pc:spChg>
        <pc:spChg chg="mod">
          <ac:chgData name="奥田　将史" userId="aec0aec9-2283-471d-bef5-7b94dd12c4c1" providerId="ADAL" clId="{982E3E8F-560C-44AB-A248-6C2389F568D1}" dt="2026-08-04T06:37:58.287" v="1439" actId="120"/>
          <ac:spMkLst>
            <pc:docMk/>
            <pc:sldMk cId="0" sldId="262"/>
            <ac:spMk id="8" creationId="{00000000-0000-0000-0000-000000000000}"/>
          </ac:spMkLst>
        </pc:spChg>
        <pc:spChg chg="mod">
          <ac:chgData name="奥田　将史" userId="aec0aec9-2283-471d-bef5-7b94dd12c4c1" providerId="ADAL" clId="{982E3E8F-560C-44AB-A248-6C2389F568D1}" dt="2026-08-04T01:09:46.559" v="90" actId="1076"/>
          <ac:spMkLst>
            <pc:docMk/>
            <pc:sldMk cId="0" sldId="262"/>
            <ac:spMk id="9" creationId="{00000000-0000-0000-0000-000000000000}"/>
          </ac:spMkLst>
        </pc:spChg>
        <pc:spChg chg="mod">
          <ac:chgData name="奥田　将史" userId="aec0aec9-2283-471d-bef5-7b94dd12c4c1" providerId="ADAL" clId="{982E3E8F-560C-44AB-A248-6C2389F568D1}" dt="2026-08-04T01:09:46.559" v="90" actId="1076"/>
          <ac:spMkLst>
            <pc:docMk/>
            <pc:sldMk cId="0" sldId="262"/>
            <ac:spMk id="10" creationId="{00000000-0000-0000-0000-000000000000}"/>
          </ac:spMkLst>
        </pc:spChg>
        <pc:spChg chg="del">
          <ac:chgData name="奥田　将史" userId="aec0aec9-2283-471d-bef5-7b94dd12c4c1" providerId="ADAL" clId="{982E3E8F-560C-44AB-A248-6C2389F568D1}" dt="2026-08-04T01:09:40.966" v="89" actId="478"/>
          <ac:spMkLst>
            <pc:docMk/>
            <pc:sldMk cId="0" sldId="262"/>
            <ac:spMk id="11" creationId="{00000000-0000-0000-0000-000000000000}"/>
          </ac:spMkLst>
        </pc:spChg>
        <pc:spChg chg="del">
          <ac:chgData name="奥田　将史" userId="aec0aec9-2283-471d-bef5-7b94dd12c4c1" providerId="ADAL" clId="{982E3E8F-560C-44AB-A248-6C2389F568D1}" dt="2026-08-04T01:09:40.966" v="89" actId="478"/>
          <ac:spMkLst>
            <pc:docMk/>
            <pc:sldMk cId="0" sldId="262"/>
            <ac:spMk id="12" creationId="{00000000-0000-0000-0000-000000000000}"/>
          </ac:spMkLst>
        </pc:spChg>
        <pc:spChg chg="mod">
          <ac:chgData name="奥田　将史" userId="aec0aec9-2283-471d-bef5-7b94dd12c4c1" providerId="ADAL" clId="{982E3E8F-560C-44AB-A248-6C2389F568D1}" dt="2026-08-04T06:33:51.980" v="1362" actId="20577"/>
          <ac:spMkLst>
            <pc:docMk/>
            <pc:sldMk cId="0" sldId="262"/>
            <ac:spMk id="14" creationId="{00000000-0000-0000-0000-000000000000}"/>
          </ac:spMkLst>
        </pc:spChg>
        <pc:spChg chg="mod">
          <ac:chgData name="奥田　将史" userId="aec0aec9-2283-471d-bef5-7b94dd12c4c1" providerId="ADAL" clId="{982E3E8F-560C-44AB-A248-6C2389F568D1}" dt="2026-08-04T06:33:56.936" v="1366" actId="20577"/>
          <ac:spMkLst>
            <pc:docMk/>
            <pc:sldMk cId="0" sldId="262"/>
            <ac:spMk id="15" creationId="{00000000-0000-0000-0000-000000000000}"/>
          </ac:spMkLst>
        </pc:spChg>
        <pc:spChg chg="mod">
          <ac:chgData name="奥田　将史" userId="aec0aec9-2283-471d-bef5-7b94dd12c4c1" providerId="ADAL" clId="{982E3E8F-560C-44AB-A248-6C2389F568D1}" dt="2026-08-04T06:34:00.803" v="1370" actId="20577"/>
          <ac:spMkLst>
            <pc:docMk/>
            <pc:sldMk cId="0" sldId="262"/>
            <ac:spMk id="18" creationId="{00000000-0000-0000-0000-000000000000}"/>
          </ac:spMkLst>
        </pc:spChg>
        <pc:spChg chg="mod">
          <ac:chgData name="奥田　将史" userId="aec0aec9-2283-471d-bef5-7b94dd12c4c1" providerId="ADAL" clId="{982E3E8F-560C-44AB-A248-6C2389F568D1}" dt="2026-08-04T06:34:04.531" v="1374" actId="20577"/>
          <ac:spMkLst>
            <pc:docMk/>
            <pc:sldMk cId="0" sldId="262"/>
            <ac:spMk id="19" creationId="{00000000-0000-0000-0000-000000000000}"/>
          </ac:spMkLst>
        </pc:spChg>
        <pc:spChg chg="mod">
          <ac:chgData name="奥田　将史" userId="aec0aec9-2283-471d-bef5-7b94dd12c4c1" providerId="ADAL" clId="{982E3E8F-560C-44AB-A248-6C2389F568D1}" dt="2026-08-04T06:36:36.994" v="1430" actId="20577"/>
          <ac:spMkLst>
            <pc:docMk/>
            <pc:sldMk cId="0" sldId="262"/>
            <ac:spMk id="23" creationId="{00000000-0000-0000-0000-000000000000}"/>
          </ac:spMkLst>
        </pc:spChg>
        <pc:spChg chg="mod">
          <ac:chgData name="奥田　将史" userId="aec0aec9-2283-471d-bef5-7b94dd12c4c1" providerId="ADAL" clId="{982E3E8F-560C-44AB-A248-6C2389F568D1}" dt="2026-08-04T06:36:41.947" v="1434" actId="20577"/>
          <ac:spMkLst>
            <pc:docMk/>
            <pc:sldMk cId="0" sldId="262"/>
            <ac:spMk id="27" creationId="{00000000-0000-0000-0000-000000000000}"/>
          </ac:spMkLst>
        </pc:spChg>
        <pc:spChg chg="mod">
          <ac:chgData name="奥田　将史" userId="aec0aec9-2283-471d-bef5-7b94dd12c4c1" providerId="ADAL" clId="{982E3E8F-560C-44AB-A248-6C2389F568D1}" dt="2026-08-04T06:35:03.273" v="1412" actId="20577"/>
          <ac:spMkLst>
            <pc:docMk/>
            <pc:sldMk cId="0" sldId="262"/>
            <ac:spMk id="30" creationId="{00000000-0000-0000-0000-000000000000}"/>
          </ac:spMkLst>
        </pc:spChg>
        <pc:spChg chg="del">
          <ac:chgData name="奥田　将史" userId="aec0aec9-2283-471d-bef5-7b94dd12c4c1" providerId="ADAL" clId="{982E3E8F-560C-44AB-A248-6C2389F568D1}" dt="2026-08-04T01:11:19.682" v="93" actId="478"/>
          <ac:spMkLst>
            <pc:docMk/>
            <pc:sldMk cId="0" sldId="262"/>
            <ac:spMk id="31" creationId="{00000000-0000-0000-0000-000000000000}"/>
          </ac:spMkLst>
        </pc:spChg>
      </pc:sldChg>
      <pc:sldChg chg="addSp delSp modSp mod">
        <pc:chgData name="奥田　将史" userId="aec0aec9-2283-471d-bef5-7b94dd12c4c1" providerId="ADAL" clId="{982E3E8F-560C-44AB-A248-6C2389F568D1}" dt="2026-08-04T07:02:07.554" v="2394" actId="20577"/>
        <pc:sldMkLst>
          <pc:docMk/>
          <pc:sldMk cId="0" sldId="263"/>
        </pc:sldMkLst>
        <pc:spChg chg="mod">
          <ac:chgData name="奥田　将史" userId="aec0aec9-2283-471d-bef5-7b94dd12c4c1" providerId="ADAL" clId="{982E3E8F-560C-44AB-A248-6C2389F568D1}" dt="2026-08-04T01:19:20.343" v="313" actId="20577"/>
          <ac:spMkLst>
            <pc:docMk/>
            <pc:sldMk cId="0" sldId="263"/>
            <ac:spMk id="2" creationId="{00000000-0000-0000-0000-000000000000}"/>
          </ac:spMkLst>
        </pc:spChg>
        <pc:spChg chg="mod">
          <ac:chgData name="奥田　将史" userId="aec0aec9-2283-471d-bef5-7b94dd12c4c1" providerId="ADAL" clId="{982E3E8F-560C-44AB-A248-6C2389F568D1}" dt="2026-08-04T06:55:38.129" v="2374" actId="20577"/>
          <ac:spMkLst>
            <pc:docMk/>
            <pc:sldMk cId="0" sldId="263"/>
            <ac:spMk id="5" creationId="{00000000-0000-0000-0000-000000000000}"/>
          </ac:spMkLst>
        </pc:spChg>
        <pc:spChg chg="mod">
          <ac:chgData name="奥田　将史" userId="aec0aec9-2283-471d-bef5-7b94dd12c4c1" providerId="ADAL" clId="{982E3E8F-560C-44AB-A248-6C2389F568D1}" dt="2026-08-04T07:02:07.554" v="2394" actId="20577"/>
          <ac:spMkLst>
            <pc:docMk/>
            <pc:sldMk cId="0" sldId="263"/>
            <ac:spMk id="8" creationId="{00000000-0000-0000-0000-000000000000}"/>
          </ac:spMkLst>
        </pc:spChg>
        <pc:spChg chg="del mod">
          <ac:chgData name="奥田　将史" userId="aec0aec9-2283-471d-bef5-7b94dd12c4c1" providerId="ADAL" clId="{982E3E8F-560C-44AB-A248-6C2389F568D1}" dt="2026-08-04T01:20:23.295" v="328" actId="478"/>
          <ac:spMkLst>
            <pc:docMk/>
            <pc:sldMk cId="0" sldId="263"/>
            <ac:spMk id="9" creationId="{00000000-0000-0000-0000-000000000000}"/>
          </ac:spMkLst>
        </pc:spChg>
        <pc:spChg chg="del mod">
          <ac:chgData name="奥田　将史" userId="aec0aec9-2283-471d-bef5-7b94dd12c4c1" providerId="ADAL" clId="{982E3E8F-560C-44AB-A248-6C2389F568D1}" dt="2026-08-04T01:20:23.295" v="328" actId="478"/>
          <ac:spMkLst>
            <pc:docMk/>
            <pc:sldMk cId="0" sldId="263"/>
            <ac:spMk id="10" creationId="{00000000-0000-0000-0000-000000000000}"/>
          </ac:spMkLst>
        </pc:spChg>
        <pc:spChg chg="del">
          <ac:chgData name="奥田　将史" userId="aec0aec9-2283-471d-bef5-7b94dd12c4c1" providerId="ADAL" clId="{982E3E8F-560C-44AB-A248-6C2389F568D1}" dt="2026-08-04T01:11:39.664" v="100" actId="478"/>
          <ac:spMkLst>
            <pc:docMk/>
            <pc:sldMk cId="0" sldId="263"/>
            <ac:spMk id="11" creationId="{00000000-0000-0000-0000-000000000000}"/>
          </ac:spMkLst>
        </pc:spChg>
        <pc:spChg chg="del">
          <ac:chgData name="奥田　将史" userId="aec0aec9-2283-471d-bef5-7b94dd12c4c1" providerId="ADAL" clId="{982E3E8F-560C-44AB-A248-6C2389F568D1}" dt="2026-08-04T01:11:39.664" v="100" actId="478"/>
          <ac:spMkLst>
            <pc:docMk/>
            <pc:sldMk cId="0" sldId="263"/>
            <ac:spMk id="12" creationId="{00000000-0000-0000-0000-000000000000}"/>
          </ac:spMkLst>
        </pc:spChg>
        <pc:spChg chg="mod">
          <ac:chgData name="奥田　将史" userId="aec0aec9-2283-471d-bef5-7b94dd12c4c1" providerId="ADAL" clId="{982E3E8F-560C-44AB-A248-6C2389F568D1}" dt="2026-08-04T06:34:11.466" v="1378" actId="20577"/>
          <ac:spMkLst>
            <pc:docMk/>
            <pc:sldMk cId="0" sldId="263"/>
            <ac:spMk id="14" creationId="{00000000-0000-0000-0000-000000000000}"/>
          </ac:spMkLst>
        </pc:spChg>
        <pc:spChg chg="mod">
          <ac:chgData name="奥田　将史" userId="aec0aec9-2283-471d-bef5-7b94dd12c4c1" providerId="ADAL" clId="{982E3E8F-560C-44AB-A248-6C2389F568D1}" dt="2026-08-04T06:50:53.804" v="1898"/>
          <ac:spMkLst>
            <pc:docMk/>
            <pc:sldMk cId="0" sldId="263"/>
            <ac:spMk id="15" creationId="{00000000-0000-0000-0000-000000000000}"/>
          </ac:spMkLst>
        </pc:spChg>
        <pc:spChg chg="mod">
          <ac:chgData name="奥田　将史" userId="aec0aec9-2283-471d-bef5-7b94dd12c4c1" providerId="ADAL" clId="{982E3E8F-560C-44AB-A248-6C2389F568D1}" dt="2026-08-04T06:34:18.830" v="1386" actId="20577"/>
          <ac:spMkLst>
            <pc:docMk/>
            <pc:sldMk cId="0" sldId="263"/>
            <ac:spMk id="18" creationId="{00000000-0000-0000-0000-000000000000}"/>
          </ac:spMkLst>
        </pc:spChg>
        <pc:spChg chg="mod">
          <ac:chgData name="奥田　将史" userId="aec0aec9-2283-471d-bef5-7b94dd12c4c1" providerId="ADAL" clId="{982E3E8F-560C-44AB-A248-6C2389F568D1}" dt="2026-08-04T06:34:24.360" v="1390" actId="20577"/>
          <ac:spMkLst>
            <pc:docMk/>
            <pc:sldMk cId="0" sldId="263"/>
            <ac:spMk id="19" creationId="{00000000-0000-0000-0000-000000000000}"/>
          </ac:spMkLst>
        </pc:spChg>
        <pc:spChg chg="mod">
          <ac:chgData name="奥田　将史" userId="aec0aec9-2283-471d-bef5-7b94dd12c4c1" providerId="ADAL" clId="{982E3E8F-560C-44AB-A248-6C2389F568D1}" dt="2026-08-04T06:47:17.932" v="1759" actId="20577"/>
          <ac:spMkLst>
            <pc:docMk/>
            <pc:sldMk cId="0" sldId="263"/>
            <ac:spMk id="23" creationId="{00000000-0000-0000-0000-000000000000}"/>
          </ac:spMkLst>
        </pc:spChg>
        <pc:spChg chg="mod">
          <ac:chgData name="奥田　将史" userId="aec0aec9-2283-471d-bef5-7b94dd12c4c1" providerId="ADAL" clId="{982E3E8F-560C-44AB-A248-6C2389F568D1}" dt="2026-08-04T06:47:21.580" v="1763" actId="20577"/>
          <ac:spMkLst>
            <pc:docMk/>
            <pc:sldMk cId="0" sldId="263"/>
            <ac:spMk id="27" creationId="{00000000-0000-0000-0000-000000000000}"/>
          </ac:spMkLst>
        </pc:spChg>
        <pc:spChg chg="mod">
          <ac:chgData name="奥田　将史" userId="aec0aec9-2283-471d-bef5-7b94dd12c4c1" providerId="ADAL" clId="{982E3E8F-560C-44AB-A248-6C2389F568D1}" dt="2026-08-04T06:35:21.504" v="1419" actId="20577"/>
          <ac:spMkLst>
            <pc:docMk/>
            <pc:sldMk cId="0" sldId="263"/>
            <ac:spMk id="30" creationId="{00000000-0000-0000-0000-000000000000}"/>
          </ac:spMkLst>
        </pc:spChg>
        <pc:spChg chg="del">
          <ac:chgData name="奥田　将史" userId="aec0aec9-2283-471d-bef5-7b94dd12c4c1" providerId="ADAL" clId="{982E3E8F-560C-44AB-A248-6C2389F568D1}" dt="2026-08-04T01:11:54.378" v="103" actId="478"/>
          <ac:spMkLst>
            <pc:docMk/>
            <pc:sldMk cId="0" sldId="263"/>
            <ac:spMk id="31" creationId="{00000000-0000-0000-0000-000000000000}"/>
          </ac:spMkLst>
        </pc:spChg>
        <pc:spChg chg="add mod">
          <ac:chgData name="奥田　将史" userId="aec0aec9-2283-471d-bef5-7b94dd12c4c1" providerId="ADAL" clId="{982E3E8F-560C-44AB-A248-6C2389F568D1}" dt="2026-08-04T01:20:27.501" v="331" actId="20577"/>
          <ac:spMkLst>
            <pc:docMk/>
            <pc:sldMk cId="0" sldId="263"/>
            <ac:spMk id="34" creationId="{7EC0AB91-5ADE-4D07-8F5D-33B89B65BEF0}"/>
          </ac:spMkLst>
        </pc:spChg>
        <pc:spChg chg="add mod">
          <ac:chgData name="奥田　将史" userId="aec0aec9-2283-471d-bef5-7b94dd12c4c1" providerId="ADAL" clId="{982E3E8F-560C-44AB-A248-6C2389F568D1}" dt="2026-08-04T01:20:34.805" v="333" actId="20577"/>
          <ac:spMkLst>
            <pc:docMk/>
            <pc:sldMk cId="0" sldId="263"/>
            <ac:spMk id="36" creationId="{DCA9BACF-AD5A-C328-90D5-6A094077902D}"/>
          </ac:spMkLst>
        </pc:spChg>
      </pc:sldChg>
      <pc:sldChg chg="delSp modSp mod">
        <pc:chgData name="奥田　将史" userId="aec0aec9-2283-471d-bef5-7b94dd12c4c1" providerId="ADAL" clId="{982E3E8F-560C-44AB-A248-6C2389F568D1}" dt="2026-08-04T06:38:30.853" v="1459" actId="20577"/>
        <pc:sldMkLst>
          <pc:docMk/>
          <pc:sldMk cId="0" sldId="264"/>
        </pc:sldMkLst>
        <pc:spChg chg="mod">
          <ac:chgData name="奥田　将史" userId="aec0aec9-2283-471d-bef5-7b94dd12c4c1" providerId="ADAL" clId="{982E3E8F-560C-44AB-A248-6C2389F568D1}" dt="2026-08-04T01:21:07.541" v="337" actId="20577"/>
          <ac:spMkLst>
            <pc:docMk/>
            <pc:sldMk cId="0" sldId="264"/>
            <ac:spMk id="2" creationId="{00000000-0000-0000-0000-000000000000}"/>
          </ac:spMkLst>
        </pc:spChg>
        <pc:spChg chg="mod">
          <ac:chgData name="奥田　将史" userId="aec0aec9-2283-471d-bef5-7b94dd12c4c1" providerId="ADAL" clId="{982E3E8F-560C-44AB-A248-6C2389F568D1}" dt="2026-08-04T01:21:12.542" v="340" actId="403"/>
          <ac:spMkLst>
            <pc:docMk/>
            <pc:sldMk cId="0" sldId="264"/>
            <ac:spMk id="5" creationId="{00000000-0000-0000-0000-000000000000}"/>
          </ac:spMkLst>
        </pc:spChg>
        <pc:spChg chg="mod">
          <ac:chgData name="奥田　将史" userId="aec0aec9-2283-471d-bef5-7b94dd12c4c1" providerId="ADAL" clId="{982E3E8F-560C-44AB-A248-6C2389F568D1}" dt="2026-08-04T06:38:10.692" v="1441" actId="120"/>
          <ac:spMkLst>
            <pc:docMk/>
            <pc:sldMk cId="0" sldId="264"/>
            <ac:spMk id="8" creationId="{00000000-0000-0000-0000-000000000000}"/>
          </ac:spMkLst>
        </pc:spChg>
        <pc:spChg chg="mod">
          <ac:chgData name="奥田　将史" userId="aec0aec9-2283-471d-bef5-7b94dd12c4c1" providerId="ADAL" clId="{982E3E8F-560C-44AB-A248-6C2389F568D1}" dt="2026-08-04T01:12:17.814" v="111" actId="1076"/>
          <ac:spMkLst>
            <pc:docMk/>
            <pc:sldMk cId="0" sldId="264"/>
            <ac:spMk id="9" creationId="{00000000-0000-0000-0000-000000000000}"/>
          </ac:spMkLst>
        </pc:spChg>
        <pc:spChg chg="mod">
          <ac:chgData name="奥田　将史" userId="aec0aec9-2283-471d-bef5-7b94dd12c4c1" providerId="ADAL" clId="{982E3E8F-560C-44AB-A248-6C2389F568D1}" dt="2026-08-04T01:12:17.814" v="111" actId="1076"/>
          <ac:spMkLst>
            <pc:docMk/>
            <pc:sldMk cId="0" sldId="264"/>
            <ac:spMk id="10" creationId="{00000000-0000-0000-0000-000000000000}"/>
          </ac:spMkLst>
        </pc:spChg>
        <pc:spChg chg="del">
          <ac:chgData name="奥田　将史" userId="aec0aec9-2283-471d-bef5-7b94dd12c4c1" providerId="ADAL" clId="{982E3E8F-560C-44AB-A248-6C2389F568D1}" dt="2026-08-04T01:12:08.489" v="109" actId="478"/>
          <ac:spMkLst>
            <pc:docMk/>
            <pc:sldMk cId="0" sldId="264"/>
            <ac:spMk id="11" creationId="{00000000-0000-0000-0000-000000000000}"/>
          </ac:spMkLst>
        </pc:spChg>
        <pc:spChg chg="del">
          <ac:chgData name="奥田　将史" userId="aec0aec9-2283-471d-bef5-7b94dd12c4c1" providerId="ADAL" clId="{982E3E8F-560C-44AB-A248-6C2389F568D1}" dt="2026-08-04T01:12:08.489" v="109" actId="478"/>
          <ac:spMkLst>
            <pc:docMk/>
            <pc:sldMk cId="0" sldId="264"/>
            <ac:spMk id="12" creationId="{00000000-0000-0000-0000-000000000000}"/>
          </ac:spMkLst>
        </pc:spChg>
        <pc:spChg chg="mod">
          <ac:chgData name="奥田　将史" userId="aec0aec9-2283-471d-bef5-7b94dd12c4c1" providerId="ADAL" clId="{982E3E8F-560C-44AB-A248-6C2389F568D1}" dt="2026-08-04T06:34:31.007" v="1394" actId="20577"/>
          <ac:spMkLst>
            <pc:docMk/>
            <pc:sldMk cId="0" sldId="264"/>
            <ac:spMk id="14" creationId="{00000000-0000-0000-0000-000000000000}"/>
          </ac:spMkLst>
        </pc:spChg>
        <pc:spChg chg="mod">
          <ac:chgData name="奥田　将史" userId="aec0aec9-2283-471d-bef5-7b94dd12c4c1" providerId="ADAL" clId="{982E3E8F-560C-44AB-A248-6C2389F568D1}" dt="2026-08-04T06:38:17.408" v="1445" actId="20577"/>
          <ac:spMkLst>
            <pc:docMk/>
            <pc:sldMk cId="0" sldId="264"/>
            <ac:spMk id="15" creationId="{00000000-0000-0000-0000-000000000000}"/>
          </ac:spMkLst>
        </pc:spChg>
        <pc:spChg chg="mod">
          <ac:chgData name="奥田　将史" userId="aec0aec9-2283-471d-bef5-7b94dd12c4c1" providerId="ADAL" clId="{982E3E8F-560C-44AB-A248-6C2389F568D1}" dt="2026-08-04T06:34:35.224" v="1398" actId="20577"/>
          <ac:spMkLst>
            <pc:docMk/>
            <pc:sldMk cId="0" sldId="264"/>
            <ac:spMk id="18" creationId="{00000000-0000-0000-0000-000000000000}"/>
          </ac:spMkLst>
        </pc:spChg>
        <pc:spChg chg="mod">
          <ac:chgData name="奥田　将史" userId="aec0aec9-2283-471d-bef5-7b94dd12c4c1" providerId="ADAL" clId="{982E3E8F-560C-44AB-A248-6C2389F568D1}" dt="2026-08-04T06:38:25.867" v="1453" actId="20577"/>
          <ac:spMkLst>
            <pc:docMk/>
            <pc:sldMk cId="0" sldId="264"/>
            <ac:spMk id="19" creationId="{00000000-0000-0000-0000-000000000000}"/>
          </ac:spMkLst>
        </pc:spChg>
        <pc:spChg chg="mod">
          <ac:chgData name="奥田　将史" userId="aec0aec9-2283-471d-bef5-7b94dd12c4c1" providerId="ADAL" clId="{982E3E8F-560C-44AB-A248-6C2389F568D1}" dt="2026-08-04T06:38:21.012" v="1449" actId="20577"/>
          <ac:spMkLst>
            <pc:docMk/>
            <pc:sldMk cId="0" sldId="264"/>
            <ac:spMk id="23" creationId="{00000000-0000-0000-0000-000000000000}"/>
          </ac:spMkLst>
        </pc:spChg>
        <pc:spChg chg="mod">
          <ac:chgData name="奥田　将史" userId="aec0aec9-2283-471d-bef5-7b94dd12c4c1" providerId="ADAL" clId="{982E3E8F-560C-44AB-A248-6C2389F568D1}" dt="2026-08-04T06:38:30.853" v="1459" actId="20577"/>
          <ac:spMkLst>
            <pc:docMk/>
            <pc:sldMk cId="0" sldId="264"/>
            <ac:spMk id="27" creationId="{00000000-0000-0000-0000-000000000000}"/>
          </ac:spMkLst>
        </pc:spChg>
        <pc:spChg chg="mod">
          <ac:chgData name="奥田　将史" userId="aec0aec9-2283-471d-bef5-7b94dd12c4c1" providerId="ADAL" clId="{982E3E8F-560C-44AB-A248-6C2389F568D1}" dt="2026-08-04T06:35:41.471" v="1426" actId="20577"/>
          <ac:spMkLst>
            <pc:docMk/>
            <pc:sldMk cId="0" sldId="264"/>
            <ac:spMk id="30" creationId="{00000000-0000-0000-0000-000000000000}"/>
          </ac:spMkLst>
        </pc:spChg>
        <pc:spChg chg="del">
          <ac:chgData name="奥田　将史" userId="aec0aec9-2283-471d-bef5-7b94dd12c4c1" providerId="ADAL" clId="{982E3E8F-560C-44AB-A248-6C2389F568D1}" dt="2026-08-04T01:12:36.984" v="114" actId="478"/>
          <ac:spMkLst>
            <pc:docMk/>
            <pc:sldMk cId="0" sldId="264"/>
            <ac:spMk id="31" creationId="{00000000-0000-0000-0000-000000000000}"/>
          </ac:spMkLst>
        </pc:spChg>
      </pc:sldChg>
      <pc:sldChg chg="modSp mod">
        <pc:chgData name="奥田　将史" userId="aec0aec9-2283-471d-bef5-7b94dd12c4c1" providerId="ADAL" clId="{982E3E8F-560C-44AB-A248-6C2389F568D1}" dt="2026-08-04T01:21:55.444" v="386" actId="403"/>
        <pc:sldMkLst>
          <pc:docMk/>
          <pc:sldMk cId="0" sldId="266"/>
        </pc:sldMkLst>
        <pc:spChg chg="mod">
          <ac:chgData name="奥田　将史" userId="aec0aec9-2283-471d-bef5-7b94dd12c4c1" providerId="ADAL" clId="{982E3E8F-560C-44AB-A248-6C2389F568D1}" dt="2026-08-04T01:21:49.633" v="383" actId="20577"/>
          <ac:spMkLst>
            <pc:docMk/>
            <pc:sldMk cId="0" sldId="266"/>
            <ac:spMk id="2" creationId="{00000000-0000-0000-0000-000000000000}"/>
          </ac:spMkLst>
        </pc:spChg>
        <pc:spChg chg="mod">
          <ac:chgData name="奥田　将史" userId="aec0aec9-2283-471d-bef5-7b94dd12c4c1" providerId="ADAL" clId="{982E3E8F-560C-44AB-A248-6C2389F568D1}" dt="2026-08-04T01:21:55.444" v="386" actId="403"/>
          <ac:spMkLst>
            <pc:docMk/>
            <pc:sldMk cId="0" sldId="266"/>
            <ac:spMk id="5" creationId="{00000000-0000-0000-0000-000000000000}"/>
          </ac:spMkLst>
        </pc:spChg>
      </pc:sldChg>
      <pc:sldChg chg="modSp mod">
        <pc:chgData name="奥田　将史" userId="aec0aec9-2283-471d-bef5-7b94dd12c4c1" providerId="ADAL" clId="{982E3E8F-560C-44AB-A248-6C2389F568D1}" dt="2026-08-04T01:24:01.503" v="482" actId="403"/>
        <pc:sldMkLst>
          <pc:docMk/>
          <pc:sldMk cId="0" sldId="267"/>
        </pc:sldMkLst>
        <pc:spChg chg="mod">
          <ac:chgData name="奥田　将史" userId="aec0aec9-2283-471d-bef5-7b94dd12c4c1" providerId="ADAL" clId="{982E3E8F-560C-44AB-A248-6C2389F568D1}" dt="2026-08-04T01:22:13.060" v="419" actId="20577"/>
          <ac:spMkLst>
            <pc:docMk/>
            <pc:sldMk cId="0" sldId="267"/>
            <ac:spMk id="2" creationId="{00000000-0000-0000-0000-000000000000}"/>
          </ac:spMkLst>
        </pc:spChg>
        <pc:spChg chg="mod">
          <ac:chgData name="奥田　将史" userId="aec0aec9-2283-471d-bef5-7b94dd12c4c1" providerId="ADAL" clId="{982E3E8F-560C-44AB-A248-6C2389F568D1}" dt="2026-08-04T01:24:01.503" v="482" actId="403"/>
          <ac:spMkLst>
            <pc:docMk/>
            <pc:sldMk cId="0" sldId="267"/>
            <ac:spMk id="5" creationId="{00000000-0000-0000-0000-000000000000}"/>
          </ac:spMkLst>
        </pc:spChg>
      </pc:sldChg>
      <pc:sldChg chg="modSp mod ord">
        <pc:chgData name="奥田　将史" userId="aec0aec9-2283-471d-bef5-7b94dd12c4c1" providerId="ADAL" clId="{982E3E8F-560C-44AB-A248-6C2389F568D1}" dt="2026-08-04T01:23:10.082" v="436"/>
        <pc:sldMkLst>
          <pc:docMk/>
          <pc:sldMk cId="0" sldId="268"/>
        </pc:sldMkLst>
        <pc:spChg chg="mod">
          <ac:chgData name="奥田　将史" userId="aec0aec9-2283-471d-bef5-7b94dd12c4c1" providerId="ADAL" clId="{982E3E8F-560C-44AB-A248-6C2389F568D1}" dt="2026-08-04T01:22:34.319" v="424" actId="3064"/>
          <ac:spMkLst>
            <pc:docMk/>
            <pc:sldMk cId="0" sldId="268"/>
            <ac:spMk id="2" creationId="{00000000-0000-0000-0000-000000000000}"/>
          </ac:spMkLst>
        </pc:spChg>
        <pc:spChg chg="mod">
          <ac:chgData name="奥田　将史" userId="aec0aec9-2283-471d-bef5-7b94dd12c4c1" providerId="ADAL" clId="{982E3E8F-560C-44AB-A248-6C2389F568D1}" dt="2026-08-04T01:22:40.526" v="428" actId="403"/>
          <ac:spMkLst>
            <pc:docMk/>
            <pc:sldMk cId="0" sldId="268"/>
            <ac:spMk id="5" creationId="{00000000-0000-0000-0000-000000000000}"/>
          </ac:spMkLst>
        </pc:spChg>
      </pc:sldChg>
      <pc:sldChg chg="modSp mod">
        <pc:chgData name="奥田　将史" userId="aec0aec9-2283-471d-bef5-7b94dd12c4c1" providerId="ADAL" clId="{982E3E8F-560C-44AB-A248-6C2389F568D1}" dt="2026-08-04T01:23:53.737" v="479" actId="403"/>
        <pc:sldMkLst>
          <pc:docMk/>
          <pc:sldMk cId="0" sldId="269"/>
        </pc:sldMkLst>
        <pc:spChg chg="mod">
          <ac:chgData name="奥田　将史" userId="aec0aec9-2283-471d-bef5-7b94dd12c4c1" providerId="ADAL" clId="{982E3E8F-560C-44AB-A248-6C2389F568D1}" dt="2026-08-04T01:23:46.454" v="476" actId="20577"/>
          <ac:spMkLst>
            <pc:docMk/>
            <pc:sldMk cId="0" sldId="269"/>
            <ac:spMk id="2" creationId="{00000000-0000-0000-0000-000000000000}"/>
          </ac:spMkLst>
        </pc:spChg>
        <pc:spChg chg="mod">
          <ac:chgData name="奥田　将史" userId="aec0aec9-2283-471d-bef5-7b94dd12c4c1" providerId="ADAL" clId="{982E3E8F-560C-44AB-A248-6C2389F568D1}" dt="2026-08-04T01:23:53.737" v="479" actId="403"/>
          <ac:spMkLst>
            <pc:docMk/>
            <pc:sldMk cId="0" sldId="269"/>
            <ac:spMk id="5" creationId="{00000000-0000-0000-0000-000000000000}"/>
          </ac:spMkLst>
        </pc:spChg>
      </pc:sldChg>
      <pc:sldChg chg="modSp mod ord">
        <pc:chgData name="奥田　将史" userId="aec0aec9-2283-471d-bef5-7b94dd12c4c1" providerId="ADAL" clId="{982E3E8F-560C-44AB-A248-6C2389F568D1}" dt="2026-08-04T07:02:28.113" v="2397" actId="20577"/>
        <pc:sldMkLst>
          <pc:docMk/>
          <pc:sldMk cId="0" sldId="270"/>
        </pc:sldMkLst>
        <pc:spChg chg="mod">
          <ac:chgData name="奥田　将史" userId="aec0aec9-2283-471d-bef5-7b94dd12c4c1" providerId="ADAL" clId="{982E3E8F-560C-44AB-A248-6C2389F568D1}" dt="2026-08-04T01:25:16.261" v="517" actId="20577"/>
          <ac:spMkLst>
            <pc:docMk/>
            <pc:sldMk cId="0" sldId="270"/>
            <ac:spMk id="2" creationId="{00000000-0000-0000-0000-000000000000}"/>
          </ac:spMkLst>
        </pc:spChg>
        <pc:spChg chg="mod">
          <ac:chgData name="奥田　将史" userId="aec0aec9-2283-471d-bef5-7b94dd12c4c1" providerId="ADAL" clId="{982E3E8F-560C-44AB-A248-6C2389F568D1}" dt="2026-08-04T07:02:28.113" v="2397" actId="20577"/>
          <ac:spMkLst>
            <pc:docMk/>
            <pc:sldMk cId="0" sldId="270"/>
            <ac:spMk id="5" creationId="{00000000-0000-0000-0000-000000000000}"/>
          </ac:spMkLst>
        </pc:spChg>
      </pc:sldChg>
      <pc:sldChg chg="del">
        <pc:chgData name="奥田　将史" userId="aec0aec9-2283-471d-bef5-7b94dd12c4c1" providerId="ADAL" clId="{982E3E8F-560C-44AB-A248-6C2389F568D1}" dt="2026-08-04T01:24:29.690" v="483" actId="47"/>
        <pc:sldMkLst>
          <pc:docMk/>
          <pc:sldMk cId="0" sldId="271"/>
        </pc:sldMkLst>
      </pc:sldChg>
      <pc:sldChg chg="new del">
        <pc:chgData name="奥田　将史" userId="aec0aec9-2283-471d-bef5-7b94dd12c4c1" providerId="ADAL" clId="{982E3E8F-560C-44AB-A248-6C2389F568D1}" dt="2026-08-04T01:25:40.416" v="520" actId="47"/>
        <pc:sldMkLst>
          <pc:docMk/>
          <pc:sldMk cId="3799373786" sldId="27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665742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219456" y="0"/>
            <a:ext cx="10332720" cy="914400"/>
          </a:xfrm>
          <a:prstGeom prst="rect">
            <a:avLst/>
          </a:prstGeom>
          <a:noFill/>
          <a:ln/>
        </p:spPr>
        <p:txBody>
          <a:bodyPr wrap="square" lIns="0" tIns="0" rIns="0" bIns="0" rtlCol="0" anchor="b" anchorCtr="0"/>
          <a:lstStyle/>
          <a:p>
            <a:pPr marL="0" indent="0">
              <a:buNone/>
            </a:pPr>
            <a:r>
              <a:rPr lang="ja-JP" altLang="en-US" sz="1800" b="1" dirty="0">
                <a:solidFill>
                  <a:srgbClr val="000000"/>
                </a:solidFill>
                <a:latin typeface="Meiryo UI" pitchFamily="34" charset="0"/>
                <a:ea typeface="Meiryo UI" pitchFamily="34" charset="-122"/>
                <a:cs typeface="Meiryo UI" pitchFamily="34" charset="-120"/>
              </a:rPr>
              <a:t>現状分析</a:t>
            </a:r>
            <a:r>
              <a:rPr lang="en-US" altLang="ja-JP" sz="1800" b="1" dirty="0">
                <a:solidFill>
                  <a:srgbClr val="000000"/>
                </a:solidFill>
                <a:latin typeface="Meiryo UI" pitchFamily="34" charset="0"/>
                <a:ea typeface="Meiryo UI" pitchFamily="34" charset="-122"/>
                <a:cs typeface="Meiryo UI" pitchFamily="34" charset="-120"/>
              </a:rPr>
              <a:t>/</a:t>
            </a:r>
            <a:r>
              <a:rPr lang="ja-JP" altLang="en-US" sz="1800" b="1" dirty="0">
                <a:solidFill>
                  <a:srgbClr val="000000"/>
                </a:solidFill>
                <a:latin typeface="Meiryo UI" pitchFamily="34" charset="0"/>
                <a:ea typeface="Meiryo UI" pitchFamily="34" charset="-122"/>
                <a:cs typeface="Meiryo UI" pitchFamily="34" charset="-120"/>
              </a:rPr>
              <a:t>ギャップ</a:t>
            </a:r>
            <a:r>
              <a:rPr lang="en-US" sz="1800" b="1" dirty="0" err="1">
                <a:solidFill>
                  <a:srgbClr val="000000"/>
                </a:solidFill>
                <a:latin typeface="Meiryo UI" pitchFamily="34" charset="0"/>
                <a:ea typeface="Meiryo UI" pitchFamily="34" charset="-122"/>
                <a:cs typeface="Meiryo UI" pitchFamily="34" charset="-120"/>
              </a:rPr>
              <a:t>の考察</a:t>
            </a:r>
            <a:endParaRPr lang="en-US" sz="1800" dirty="0"/>
          </a:p>
        </p:txBody>
      </p:sp>
      <p:pic>
        <p:nvPicPr>
          <p:cNvPr id="3" name="Image 0" descr="/home/claude/logo.png"/>
          <p:cNvPicPr>
            <a:picLocks noChangeAspect="1"/>
          </p:cNvPicPr>
          <p:nvPr/>
        </p:nvPicPr>
        <p:blipFill>
          <a:blip r:embed="rId3"/>
          <a:stretch>
            <a:fillRect/>
          </a:stretch>
        </p:blipFill>
        <p:spPr>
          <a:xfrm>
            <a:off x="10881360" y="201168"/>
            <a:ext cx="868680" cy="566928"/>
          </a:xfrm>
          <a:prstGeom prst="rect">
            <a:avLst/>
          </a:prstGeom>
        </p:spPr>
      </p:pic>
      <p:sp>
        <p:nvSpPr>
          <p:cNvPr id="4" name="Shape 1"/>
          <p:cNvSpPr/>
          <p:nvPr/>
        </p:nvSpPr>
        <p:spPr>
          <a:xfrm>
            <a:off x="0" y="914400"/>
            <a:ext cx="12188952" cy="0"/>
          </a:xfrm>
          <a:prstGeom prst="line">
            <a:avLst/>
          </a:prstGeom>
          <a:noFill/>
          <a:ln w="28575">
            <a:solidFill>
              <a:srgbClr val="008000"/>
            </a:solidFill>
            <a:prstDash val="solid"/>
          </a:ln>
        </p:spPr>
        <p:txBody>
          <a:bodyPr/>
          <a:lstStyle/>
          <a:p>
            <a:endParaRPr lang="ja-JP" altLang="en-US"/>
          </a:p>
        </p:txBody>
      </p:sp>
      <p:sp>
        <p:nvSpPr>
          <p:cNvPr id="5" name="Text 2"/>
          <p:cNvSpPr/>
          <p:nvPr/>
        </p:nvSpPr>
        <p:spPr>
          <a:xfrm>
            <a:off x="219456" y="969264"/>
            <a:ext cx="11750040" cy="384048"/>
          </a:xfrm>
          <a:prstGeom prst="rect">
            <a:avLst/>
          </a:prstGeom>
          <a:noFill/>
          <a:ln/>
        </p:spPr>
        <p:txBody>
          <a:bodyPr wrap="square" lIns="0" tIns="0" rIns="0" bIns="0" rtlCol="0" anchor="ctr"/>
          <a:lstStyle/>
          <a:p>
            <a:pPr marL="0" indent="0">
              <a:buNone/>
            </a:pPr>
            <a:r>
              <a:rPr lang="en-US" dirty="0">
                <a:solidFill>
                  <a:srgbClr val="000000"/>
                </a:solidFill>
                <a:latin typeface="Meiryo UI" pitchFamily="34" charset="0"/>
                <a:ea typeface="Meiryo UI" pitchFamily="34" charset="-122"/>
                <a:cs typeface="Meiryo UI" pitchFamily="34" charset="-120"/>
              </a:rPr>
              <a:t>「現状（As-Is）⇔目指す姿」から導出される4つの構造的ギャップと、それを生み出す根本ボトルネック・対応アプローチを整理する</a:t>
            </a:r>
            <a:endParaRPr lang="en-US" sz="4000" dirty="0"/>
          </a:p>
        </p:txBody>
      </p:sp>
      <p:sp>
        <p:nvSpPr>
          <p:cNvPr id="6" name="Text 3"/>
          <p:cNvSpPr/>
          <p:nvPr/>
        </p:nvSpPr>
        <p:spPr>
          <a:xfrm>
            <a:off x="11658600" y="6528816"/>
            <a:ext cx="411480" cy="274320"/>
          </a:xfrm>
          <a:prstGeom prst="rect">
            <a:avLst/>
          </a:prstGeom>
          <a:noFill/>
          <a:ln/>
        </p:spPr>
        <p:txBody>
          <a:bodyPr wrap="square" lIns="0" tIns="0" rIns="0" bIns="0" rtlCol="0" anchor="ctr"/>
          <a:lstStyle/>
          <a:p>
            <a:pPr marL="0" indent="0" algn="r">
              <a:buNone/>
            </a:pPr>
            <a:r>
              <a:rPr lang="en-US" sz="1000" b="0" dirty="0">
                <a:solidFill>
                  <a:srgbClr val="595959"/>
                </a:solidFill>
                <a:latin typeface="Meiryo UI" pitchFamily="34" charset="0"/>
                <a:ea typeface="Meiryo UI" pitchFamily="34" charset="-122"/>
                <a:cs typeface="Meiryo UI" pitchFamily="34" charset="-120"/>
              </a:rPr>
              <a:t>1</a:t>
            </a:r>
            <a:endParaRPr lang="en-US" sz="1000" dirty="0"/>
          </a:p>
        </p:txBody>
      </p:sp>
      <p:sp>
        <p:nvSpPr>
          <p:cNvPr id="7" name="Text 4"/>
          <p:cNvSpPr/>
          <p:nvPr/>
        </p:nvSpPr>
        <p:spPr>
          <a:xfrm>
            <a:off x="219456" y="6556248"/>
            <a:ext cx="8229600" cy="228600"/>
          </a:xfrm>
          <a:prstGeom prst="rect">
            <a:avLst/>
          </a:prstGeom>
          <a:noFill/>
          <a:ln/>
        </p:spPr>
        <p:txBody>
          <a:bodyPr wrap="square" lIns="0" tIns="0" rIns="0" bIns="0" rtlCol="0" anchor="ctr"/>
          <a:lstStyle/>
          <a:p>
            <a:pPr marL="0" indent="0">
              <a:buNone/>
            </a:pPr>
            <a:r>
              <a:rPr lang="en-US" sz="750" dirty="0">
                <a:solidFill>
                  <a:srgbClr val="595959"/>
                </a:solidFill>
                <a:latin typeface="Meiryo UI" pitchFamily="34" charset="0"/>
                <a:ea typeface="Meiryo UI" pitchFamily="34" charset="-122"/>
                <a:cs typeface="Meiryo UI" pitchFamily="34" charset="-120"/>
              </a:rPr>
              <a:t>LION Corporation ｜ 営業・マーケティングDX戦略 検討アジェンダ（P.6「真因・GAP分析」後続）</a:t>
            </a:r>
            <a:endParaRPr lang="en-US" sz="750" dirty="0"/>
          </a:p>
        </p:txBody>
      </p:sp>
      <p:sp>
        <p:nvSpPr>
          <p:cNvPr id="8" name="Shape 5"/>
          <p:cNvSpPr/>
          <p:nvPr/>
        </p:nvSpPr>
        <p:spPr>
          <a:xfrm>
            <a:off x="320040" y="1645920"/>
            <a:ext cx="11521440" cy="960120"/>
          </a:xfrm>
          <a:prstGeom prst="rect">
            <a:avLst/>
          </a:prstGeom>
          <a:solidFill>
            <a:srgbClr val="F2F2F2"/>
          </a:solidFill>
          <a:ln w="6350">
            <a:solidFill>
              <a:srgbClr val="BFBFBF"/>
            </a:solidFill>
            <a:prstDash val="solid"/>
          </a:ln>
        </p:spPr>
        <p:txBody>
          <a:bodyPr/>
          <a:lstStyle/>
          <a:p>
            <a:endParaRPr lang="ja-JP" altLang="en-US" sz="2400"/>
          </a:p>
        </p:txBody>
      </p:sp>
      <p:sp>
        <p:nvSpPr>
          <p:cNvPr id="9" name="Text 6"/>
          <p:cNvSpPr/>
          <p:nvPr/>
        </p:nvSpPr>
        <p:spPr>
          <a:xfrm>
            <a:off x="502920" y="1920240"/>
            <a:ext cx="1051560" cy="411480"/>
          </a:xfrm>
          <a:prstGeom prst="roundRect">
            <a:avLst>
              <a:gd name="adj" fmla="val 11111"/>
            </a:avLst>
          </a:prstGeom>
          <a:solidFill>
            <a:srgbClr val="008D2E"/>
          </a:solidFill>
          <a:ln/>
        </p:spPr>
        <p:txBody>
          <a:bodyPr wrap="square" lIns="0" tIns="0" rIns="0" bIns="0" rtlCol="0" anchor="ctr"/>
          <a:lstStyle/>
          <a:p>
            <a:pPr marL="0" indent="0" algn="ctr">
              <a:buNone/>
            </a:pPr>
            <a:r>
              <a:rPr lang="en-US" sz="1600" b="1" dirty="0">
                <a:solidFill>
                  <a:srgbClr val="FFFFFF"/>
                </a:solidFill>
                <a:latin typeface="Meiryo UI" pitchFamily="34" charset="0"/>
                <a:ea typeface="Meiryo UI" pitchFamily="34" charset="-122"/>
                <a:cs typeface="Meiryo UI" pitchFamily="34" charset="-120"/>
              </a:rPr>
              <a:t>GAP 1</a:t>
            </a:r>
            <a:endParaRPr lang="en-US" sz="1600" dirty="0"/>
          </a:p>
        </p:txBody>
      </p:sp>
      <p:sp>
        <p:nvSpPr>
          <p:cNvPr id="10" name="Text 7"/>
          <p:cNvSpPr/>
          <p:nvPr/>
        </p:nvSpPr>
        <p:spPr>
          <a:xfrm>
            <a:off x="1783080" y="1719072"/>
            <a:ext cx="7589520" cy="566928"/>
          </a:xfrm>
          <a:prstGeom prst="rect">
            <a:avLst/>
          </a:prstGeom>
          <a:noFill/>
          <a:ln/>
        </p:spPr>
        <p:txBody>
          <a:bodyPr wrap="square" lIns="0" tIns="0" rIns="0" bIns="0" rtlCol="0" anchor="ctr">
            <a:normAutofit/>
          </a:bodyPr>
          <a:lstStyle/>
          <a:p>
            <a:pPr marL="0" indent="0">
              <a:lnSpc>
                <a:spcPts val="1400"/>
              </a:lnSpc>
              <a:buNone/>
            </a:pPr>
            <a:r>
              <a:rPr lang="en-US" sz="1200" dirty="0">
                <a:solidFill>
                  <a:srgbClr val="000000"/>
                </a:solidFill>
                <a:latin typeface="Meiryo UI" pitchFamily="34" charset="0"/>
                <a:ea typeface="Meiryo UI" pitchFamily="34" charset="-122"/>
                <a:cs typeface="Meiryo UI" pitchFamily="34" charset="-120"/>
              </a:rPr>
              <a:t>洗剤消耗戦から脱却できず、AI自動補充システムへの「製品属性データの構造化・API化」に未着手</a:t>
            </a:r>
            <a:endParaRPr lang="en-US" sz="1200" dirty="0"/>
          </a:p>
        </p:txBody>
      </p:sp>
      <p:sp>
        <p:nvSpPr>
          <p:cNvPr id="11" name="Text 8"/>
          <p:cNvSpPr/>
          <p:nvPr/>
        </p:nvSpPr>
        <p:spPr>
          <a:xfrm>
            <a:off x="1783080" y="2112744"/>
            <a:ext cx="7589520" cy="274320"/>
          </a:xfrm>
          <a:prstGeom prst="rect">
            <a:avLst/>
          </a:prstGeom>
          <a:noFill/>
          <a:ln/>
        </p:spPr>
        <p:txBody>
          <a:bodyPr wrap="square" lIns="0" tIns="0" rIns="0" bIns="0" rtlCol="0" anchor="ctr"/>
          <a:lstStyle/>
          <a:p>
            <a:pPr marL="0" indent="0">
              <a:buNone/>
            </a:pPr>
            <a:r>
              <a:rPr lang="en-US" sz="1050" b="1" dirty="0">
                <a:solidFill>
                  <a:srgbClr val="595959"/>
                </a:solidFill>
                <a:latin typeface="Meiryo UI" pitchFamily="34" charset="0"/>
                <a:ea typeface="Meiryo UI" pitchFamily="34" charset="-122"/>
                <a:cs typeface="Meiryo UI" pitchFamily="34" charset="-120"/>
              </a:rPr>
              <a:t>→ ボトルネック③（切迫感の欠如）｜ 理想：AI補充ホワイトリスト独占</a:t>
            </a:r>
            <a:endParaRPr lang="en-US" sz="1050" dirty="0"/>
          </a:p>
        </p:txBody>
      </p:sp>
      <p:sp>
        <p:nvSpPr>
          <p:cNvPr id="12" name="Text 9"/>
          <p:cNvSpPr/>
          <p:nvPr/>
        </p:nvSpPr>
        <p:spPr>
          <a:xfrm>
            <a:off x="8729132" y="1755648"/>
            <a:ext cx="2929467" cy="731520"/>
          </a:xfrm>
          <a:prstGeom prst="rect">
            <a:avLst/>
          </a:prstGeom>
          <a:noFill/>
          <a:ln/>
        </p:spPr>
        <p:txBody>
          <a:bodyPr wrap="square" lIns="0" tIns="0" rIns="0" bIns="0" rtlCol="0" anchor="ctr"/>
          <a:lstStyle/>
          <a:p>
            <a:pPr marL="0" indent="0">
              <a:buNone/>
            </a:pPr>
            <a:r>
              <a:rPr lang="en-US" sz="1100" dirty="0">
                <a:solidFill>
                  <a:srgbClr val="595959"/>
                </a:solidFill>
                <a:latin typeface="Meiryo UI" pitchFamily="34" charset="0"/>
                <a:ea typeface="Meiryo UI" pitchFamily="34" charset="-122"/>
                <a:cs typeface="Meiryo UI" pitchFamily="34" charset="-120"/>
              </a:rPr>
              <a:t>アプローチ</a:t>
            </a:r>
            <a:endParaRPr lang="en-US" sz="1100" dirty="0"/>
          </a:p>
          <a:p>
            <a:pPr marL="0" indent="0">
              <a:buNone/>
            </a:pPr>
            <a:r>
              <a:rPr lang="ja-JP" altLang="en-US" sz="1100" dirty="0">
                <a:solidFill>
                  <a:srgbClr val="595959"/>
                </a:solidFill>
                <a:latin typeface="Meiryo UI" pitchFamily="34" charset="0"/>
                <a:ea typeface="Meiryo UI" pitchFamily="34" charset="-122"/>
                <a:cs typeface="Meiryo UI" pitchFamily="34" charset="-120"/>
              </a:rPr>
              <a:t>・</a:t>
            </a:r>
            <a:r>
              <a:rPr lang="en-US" sz="1100" dirty="0" err="1">
                <a:solidFill>
                  <a:srgbClr val="595959"/>
                </a:solidFill>
                <a:latin typeface="Meiryo UI" pitchFamily="34" charset="0"/>
                <a:ea typeface="Meiryo UI" pitchFamily="34" charset="-122"/>
                <a:cs typeface="Meiryo UI" pitchFamily="34" charset="-120"/>
              </a:rPr>
              <a:t>強み領域への資源集中</a:t>
            </a:r>
            <a:endParaRPr lang="en-US" sz="1100" dirty="0"/>
          </a:p>
          <a:p>
            <a:pPr marL="0" indent="0">
              <a:buNone/>
            </a:pPr>
            <a:r>
              <a:rPr lang="ja-JP" altLang="en-US" sz="1100" dirty="0">
                <a:solidFill>
                  <a:srgbClr val="595959"/>
                </a:solidFill>
                <a:latin typeface="Meiryo UI" pitchFamily="34" charset="0"/>
                <a:ea typeface="Meiryo UI" pitchFamily="34" charset="-122"/>
                <a:cs typeface="Meiryo UI" pitchFamily="34" charset="-120"/>
              </a:rPr>
              <a:t>・</a:t>
            </a:r>
            <a:r>
              <a:rPr lang="en-US" sz="1100" dirty="0" err="1">
                <a:solidFill>
                  <a:srgbClr val="595959"/>
                </a:solidFill>
                <a:latin typeface="Meiryo UI" pitchFamily="34" charset="0"/>
                <a:ea typeface="Meiryo UI" pitchFamily="34" charset="-122"/>
                <a:cs typeface="Meiryo UI" pitchFamily="34" charset="-120"/>
              </a:rPr>
              <a:t>AI知識資産化・AIEO対応</a:t>
            </a:r>
            <a:endParaRPr lang="en-US" sz="1100" dirty="0"/>
          </a:p>
        </p:txBody>
      </p:sp>
      <p:sp>
        <p:nvSpPr>
          <p:cNvPr id="13" name="Shape 10"/>
          <p:cNvSpPr/>
          <p:nvPr/>
        </p:nvSpPr>
        <p:spPr>
          <a:xfrm>
            <a:off x="320040" y="2761488"/>
            <a:ext cx="11521440" cy="960120"/>
          </a:xfrm>
          <a:prstGeom prst="rect">
            <a:avLst/>
          </a:prstGeom>
          <a:solidFill>
            <a:srgbClr val="FFFFFF"/>
          </a:solidFill>
          <a:ln w="6350">
            <a:solidFill>
              <a:srgbClr val="BFBFBF"/>
            </a:solidFill>
            <a:prstDash val="solid"/>
          </a:ln>
        </p:spPr>
        <p:txBody>
          <a:bodyPr/>
          <a:lstStyle/>
          <a:p>
            <a:endParaRPr lang="ja-JP" altLang="en-US" sz="2400"/>
          </a:p>
        </p:txBody>
      </p:sp>
      <p:sp>
        <p:nvSpPr>
          <p:cNvPr id="14" name="Text 11"/>
          <p:cNvSpPr/>
          <p:nvPr/>
        </p:nvSpPr>
        <p:spPr>
          <a:xfrm>
            <a:off x="502920" y="3035808"/>
            <a:ext cx="1051560" cy="411480"/>
          </a:xfrm>
          <a:prstGeom prst="roundRect">
            <a:avLst>
              <a:gd name="adj" fmla="val 11111"/>
            </a:avLst>
          </a:prstGeom>
          <a:solidFill>
            <a:srgbClr val="008D2E"/>
          </a:solidFill>
          <a:ln/>
        </p:spPr>
        <p:txBody>
          <a:bodyPr wrap="square" lIns="0" tIns="0" rIns="0" bIns="0" rtlCol="0" anchor="ctr"/>
          <a:lstStyle/>
          <a:p>
            <a:pPr marL="0" indent="0" algn="ctr">
              <a:buNone/>
            </a:pPr>
            <a:r>
              <a:rPr lang="en-US" sz="1600" b="1" dirty="0">
                <a:solidFill>
                  <a:srgbClr val="FFFFFF"/>
                </a:solidFill>
                <a:latin typeface="Meiryo UI" pitchFamily="34" charset="0"/>
                <a:ea typeface="Meiryo UI" pitchFamily="34" charset="-122"/>
                <a:cs typeface="Meiryo UI" pitchFamily="34" charset="-120"/>
              </a:rPr>
              <a:t>GAP 2</a:t>
            </a:r>
            <a:endParaRPr lang="en-US" sz="1600" dirty="0"/>
          </a:p>
        </p:txBody>
      </p:sp>
      <p:sp>
        <p:nvSpPr>
          <p:cNvPr id="15" name="Text 12"/>
          <p:cNvSpPr/>
          <p:nvPr/>
        </p:nvSpPr>
        <p:spPr>
          <a:xfrm>
            <a:off x="1783080" y="2834640"/>
            <a:ext cx="7589520" cy="566928"/>
          </a:xfrm>
          <a:prstGeom prst="rect">
            <a:avLst/>
          </a:prstGeom>
          <a:noFill/>
          <a:ln/>
        </p:spPr>
        <p:txBody>
          <a:bodyPr wrap="square" lIns="0" tIns="0" rIns="0" bIns="0" rtlCol="0" anchor="ctr">
            <a:normAutofit/>
          </a:bodyPr>
          <a:lstStyle/>
          <a:p>
            <a:pPr marL="0" indent="0">
              <a:lnSpc>
                <a:spcPts val="1400"/>
              </a:lnSpc>
              <a:buNone/>
            </a:pPr>
            <a:r>
              <a:rPr lang="en-US" sz="1200" dirty="0">
                <a:solidFill>
                  <a:srgbClr val="000000"/>
                </a:solidFill>
                <a:latin typeface="Meiryo UI" pitchFamily="34" charset="0"/>
                <a:ea typeface="Meiryo UI" pitchFamily="34" charset="-122"/>
                <a:cs typeface="Meiryo UI" pitchFamily="34" charset="-120"/>
              </a:rPr>
              <a:t>全方位D2C vs 小売依存の二極化に陥り、「小売インフラ高度利用の寄生型」へシフトできていない</a:t>
            </a:r>
            <a:endParaRPr lang="en-US" sz="1200" dirty="0"/>
          </a:p>
        </p:txBody>
      </p:sp>
      <p:sp>
        <p:nvSpPr>
          <p:cNvPr id="16" name="Text 13"/>
          <p:cNvSpPr/>
          <p:nvPr/>
        </p:nvSpPr>
        <p:spPr>
          <a:xfrm>
            <a:off x="1783080" y="3228312"/>
            <a:ext cx="7589520" cy="274320"/>
          </a:xfrm>
          <a:prstGeom prst="rect">
            <a:avLst/>
          </a:prstGeom>
          <a:noFill/>
          <a:ln/>
        </p:spPr>
        <p:txBody>
          <a:bodyPr wrap="square" lIns="0" tIns="0" rIns="0" bIns="0" rtlCol="0" anchor="ctr"/>
          <a:lstStyle/>
          <a:p>
            <a:pPr marL="0" indent="0">
              <a:buNone/>
            </a:pPr>
            <a:r>
              <a:rPr lang="en-US" sz="1050" b="1" dirty="0">
                <a:solidFill>
                  <a:srgbClr val="595959"/>
                </a:solidFill>
                <a:latin typeface="Meiryo UI" pitchFamily="34" charset="0"/>
                <a:ea typeface="Meiryo UI" pitchFamily="34" charset="-122"/>
                <a:cs typeface="Meiryo UI" pitchFamily="34" charset="-120"/>
              </a:rPr>
              <a:t>→ ボトルネック①③（知見非換金＋切迫感欠如）｜ 理想：二階建て共生モデル</a:t>
            </a:r>
            <a:endParaRPr lang="en-US" sz="1050" dirty="0"/>
          </a:p>
        </p:txBody>
      </p:sp>
      <p:sp>
        <p:nvSpPr>
          <p:cNvPr id="17" name="Text 14"/>
          <p:cNvSpPr/>
          <p:nvPr/>
        </p:nvSpPr>
        <p:spPr>
          <a:xfrm>
            <a:off x="8729132" y="2871216"/>
            <a:ext cx="2929467" cy="731520"/>
          </a:xfrm>
          <a:prstGeom prst="rect">
            <a:avLst/>
          </a:prstGeom>
          <a:noFill/>
          <a:ln/>
        </p:spPr>
        <p:txBody>
          <a:bodyPr wrap="square" lIns="0" tIns="0" rIns="0" bIns="0" rtlCol="0" anchor="ctr"/>
          <a:lstStyle/>
          <a:p>
            <a:pPr marL="0" indent="0">
              <a:buNone/>
            </a:pPr>
            <a:r>
              <a:rPr lang="en-US" sz="1100" dirty="0">
                <a:solidFill>
                  <a:srgbClr val="595959"/>
                </a:solidFill>
                <a:latin typeface="Meiryo UI" pitchFamily="34" charset="0"/>
                <a:ea typeface="Meiryo UI" pitchFamily="34" charset="-122"/>
                <a:cs typeface="Meiryo UI" pitchFamily="34" charset="-120"/>
              </a:rPr>
              <a:t>アプローチ</a:t>
            </a:r>
            <a:endParaRPr lang="en-US" sz="1100" dirty="0"/>
          </a:p>
          <a:p>
            <a:pPr marL="0" indent="0">
              <a:buNone/>
            </a:pPr>
            <a:r>
              <a:rPr lang="ja-JP" altLang="en-US" sz="1100" dirty="0">
                <a:solidFill>
                  <a:srgbClr val="595959"/>
                </a:solidFill>
                <a:latin typeface="Meiryo UI" pitchFamily="34" charset="0"/>
                <a:ea typeface="Meiryo UI" pitchFamily="34" charset="-122"/>
                <a:cs typeface="Meiryo UI" pitchFamily="34" charset="-120"/>
              </a:rPr>
              <a:t>・</a:t>
            </a:r>
            <a:r>
              <a:rPr lang="en-US" sz="1100" dirty="0" err="1">
                <a:solidFill>
                  <a:srgbClr val="595959"/>
                </a:solidFill>
                <a:latin typeface="Meiryo UI" pitchFamily="34" charset="0"/>
                <a:ea typeface="Meiryo UI" pitchFamily="34" charset="-122"/>
                <a:cs typeface="Meiryo UI" pitchFamily="34" charset="-120"/>
              </a:rPr>
              <a:t>リテールメディアJBP化×Total</a:t>
            </a:r>
            <a:r>
              <a:rPr lang="en-US" sz="1100" dirty="0">
                <a:solidFill>
                  <a:srgbClr val="595959"/>
                </a:solidFill>
                <a:latin typeface="Meiryo UI" pitchFamily="34" charset="0"/>
                <a:ea typeface="Meiryo UI" pitchFamily="34" charset="-122"/>
                <a:cs typeface="Meiryo UI" pitchFamily="34" charset="-120"/>
              </a:rPr>
              <a:t> Availability</a:t>
            </a:r>
            <a:endParaRPr lang="en-US" sz="1100" dirty="0"/>
          </a:p>
          <a:p>
            <a:pPr marL="0" indent="0">
              <a:buNone/>
            </a:pPr>
            <a:r>
              <a:rPr lang="ja-JP" altLang="en-US" sz="1100" dirty="0">
                <a:solidFill>
                  <a:srgbClr val="595959"/>
                </a:solidFill>
                <a:latin typeface="Meiryo UI" pitchFamily="34" charset="0"/>
                <a:ea typeface="Meiryo UI" pitchFamily="34" charset="-122"/>
                <a:cs typeface="Meiryo UI" pitchFamily="34" charset="-120"/>
              </a:rPr>
              <a:t>・</a:t>
            </a:r>
            <a:r>
              <a:rPr lang="en-US" sz="1100" dirty="0">
                <a:solidFill>
                  <a:srgbClr val="595959"/>
                </a:solidFill>
                <a:latin typeface="Meiryo UI" pitchFamily="34" charset="0"/>
                <a:ea typeface="Meiryo UI" pitchFamily="34" charset="-122"/>
                <a:cs typeface="Meiryo UI" pitchFamily="34" charset="-120"/>
              </a:rPr>
              <a:t>LION ID口腔健康OS化</a:t>
            </a:r>
            <a:endParaRPr lang="en-US" sz="1100" dirty="0"/>
          </a:p>
        </p:txBody>
      </p:sp>
      <p:sp>
        <p:nvSpPr>
          <p:cNvPr id="18" name="Shape 15"/>
          <p:cNvSpPr/>
          <p:nvPr/>
        </p:nvSpPr>
        <p:spPr>
          <a:xfrm>
            <a:off x="320040" y="3877056"/>
            <a:ext cx="11521440" cy="960120"/>
          </a:xfrm>
          <a:prstGeom prst="rect">
            <a:avLst/>
          </a:prstGeom>
          <a:solidFill>
            <a:srgbClr val="F2F2F2"/>
          </a:solidFill>
          <a:ln w="6350">
            <a:solidFill>
              <a:srgbClr val="BFBFBF"/>
            </a:solidFill>
            <a:prstDash val="solid"/>
          </a:ln>
        </p:spPr>
        <p:txBody>
          <a:bodyPr/>
          <a:lstStyle/>
          <a:p>
            <a:endParaRPr lang="ja-JP" altLang="en-US" sz="2400"/>
          </a:p>
        </p:txBody>
      </p:sp>
      <p:sp>
        <p:nvSpPr>
          <p:cNvPr id="19" name="Text 16"/>
          <p:cNvSpPr/>
          <p:nvPr/>
        </p:nvSpPr>
        <p:spPr>
          <a:xfrm>
            <a:off x="502920" y="4151376"/>
            <a:ext cx="1051560" cy="411480"/>
          </a:xfrm>
          <a:prstGeom prst="roundRect">
            <a:avLst>
              <a:gd name="adj" fmla="val 11111"/>
            </a:avLst>
          </a:prstGeom>
          <a:solidFill>
            <a:srgbClr val="008D2E"/>
          </a:solidFill>
          <a:ln/>
        </p:spPr>
        <p:txBody>
          <a:bodyPr wrap="square" lIns="0" tIns="0" rIns="0" bIns="0" rtlCol="0" anchor="ctr"/>
          <a:lstStyle/>
          <a:p>
            <a:pPr marL="0" indent="0" algn="ctr">
              <a:buNone/>
            </a:pPr>
            <a:r>
              <a:rPr lang="en-US" sz="1600" b="1" dirty="0">
                <a:solidFill>
                  <a:srgbClr val="FFFFFF"/>
                </a:solidFill>
                <a:latin typeface="Meiryo UI" pitchFamily="34" charset="0"/>
                <a:ea typeface="Meiryo UI" pitchFamily="34" charset="-122"/>
                <a:cs typeface="Meiryo UI" pitchFamily="34" charset="-120"/>
              </a:rPr>
              <a:t>GAP 3</a:t>
            </a:r>
            <a:endParaRPr lang="en-US" sz="1600" dirty="0"/>
          </a:p>
        </p:txBody>
      </p:sp>
      <p:sp>
        <p:nvSpPr>
          <p:cNvPr id="20" name="Text 17"/>
          <p:cNvSpPr/>
          <p:nvPr/>
        </p:nvSpPr>
        <p:spPr>
          <a:xfrm>
            <a:off x="1783080" y="3950208"/>
            <a:ext cx="7589520" cy="566928"/>
          </a:xfrm>
          <a:prstGeom prst="rect">
            <a:avLst/>
          </a:prstGeom>
          <a:noFill/>
          <a:ln/>
        </p:spPr>
        <p:txBody>
          <a:bodyPr wrap="square" lIns="0" tIns="0" rIns="0" bIns="0" rtlCol="0" anchor="ctr">
            <a:normAutofit/>
          </a:bodyPr>
          <a:lstStyle/>
          <a:p>
            <a:pPr marL="0" indent="0">
              <a:lnSpc>
                <a:spcPts val="1400"/>
              </a:lnSpc>
              <a:buNone/>
            </a:pPr>
            <a:r>
              <a:rPr lang="en-US" sz="1200" dirty="0">
                <a:solidFill>
                  <a:srgbClr val="000000"/>
                </a:solidFill>
                <a:latin typeface="Meiryo UI" pitchFamily="34" charset="0"/>
                <a:ea typeface="Meiryo UI" pitchFamily="34" charset="-122"/>
                <a:cs typeface="Meiryo UI" pitchFamily="34" charset="-120"/>
              </a:rPr>
              <a:t>バイヤーが最も欲する「カテゴリーLTV・炭素効率の予測データ」ではなく値引き・特売提案が続く商談価値ミスマッチ</a:t>
            </a:r>
            <a:endParaRPr lang="en-US" sz="1200" dirty="0"/>
          </a:p>
        </p:txBody>
      </p:sp>
      <p:sp>
        <p:nvSpPr>
          <p:cNvPr id="21" name="Text 18"/>
          <p:cNvSpPr/>
          <p:nvPr/>
        </p:nvSpPr>
        <p:spPr>
          <a:xfrm>
            <a:off x="1783080" y="4343880"/>
            <a:ext cx="7589520" cy="274320"/>
          </a:xfrm>
          <a:prstGeom prst="rect">
            <a:avLst/>
          </a:prstGeom>
          <a:noFill/>
          <a:ln/>
        </p:spPr>
        <p:txBody>
          <a:bodyPr wrap="square" lIns="0" tIns="0" rIns="0" bIns="0" rtlCol="0" anchor="ctr"/>
          <a:lstStyle/>
          <a:p>
            <a:pPr marL="0" indent="0">
              <a:buNone/>
            </a:pPr>
            <a:r>
              <a:rPr lang="en-US" sz="1050" b="1" dirty="0">
                <a:solidFill>
                  <a:srgbClr val="595959"/>
                </a:solidFill>
                <a:latin typeface="Meiryo UI" pitchFamily="34" charset="0"/>
                <a:ea typeface="Meiryo UI" pitchFamily="34" charset="-122"/>
                <a:cs typeface="Meiryo UI" pitchFamily="34" charset="-120"/>
              </a:rPr>
              <a:t>→ ボトルネック①（縦割り・知見非換金）｜ 理想：バイヤーの社内審査を論破するデータ自動供給</a:t>
            </a:r>
            <a:endParaRPr lang="en-US" sz="1050" dirty="0"/>
          </a:p>
        </p:txBody>
      </p:sp>
      <p:sp>
        <p:nvSpPr>
          <p:cNvPr id="22" name="Text 19"/>
          <p:cNvSpPr/>
          <p:nvPr/>
        </p:nvSpPr>
        <p:spPr>
          <a:xfrm>
            <a:off x="8729132" y="3986784"/>
            <a:ext cx="2929467" cy="731520"/>
          </a:xfrm>
          <a:prstGeom prst="rect">
            <a:avLst/>
          </a:prstGeom>
          <a:noFill/>
          <a:ln/>
        </p:spPr>
        <p:txBody>
          <a:bodyPr wrap="square" lIns="0" tIns="0" rIns="0" bIns="0" rtlCol="0" anchor="ctr"/>
          <a:lstStyle/>
          <a:p>
            <a:pPr marL="0" indent="0">
              <a:buNone/>
            </a:pPr>
            <a:r>
              <a:rPr lang="en-US" sz="1100" dirty="0">
                <a:solidFill>
                  <a:srgbClr val="595959"/>
                </a:solidFill>
                <a:latin typeface="Meiryo UI" pitchFamily="34" charset="0"/>
                <a:ea typeface="Meiryo UI" pitchFamily="34" charset="-122"/>
                <a:cs typeface="Meiryo UI" pitchFamily="34" charset="-120"/>
              </a:rPr>
              <a:t>アプローチ</a:t>
            </a:r>
            <a:endParaRPr lang="en-US" sz="1100" dirty="0"/>
          </a:p>
          <a:p>
            <a:pPr marL="0" indent="0">
              <a:buNone/>
            </a:pPr>
            <a:r>
              <a:rPr lang="ja-JP" altLang="en-US" sz="1100" dirty="0">
                <a:solidFill>
                  <a:srgbClr val="595959"/>
                </a:solidFill>
                <a:latin typeface="Meiryo UI" pitchFamily="34" charset="0"/>
                <a:ea typeface="Meiryo UI" pitchFamily="34" charset="-122"/>
                <a:cs typeface="Meiryo UI" pitchFamily="34" charset="-120"/>
              </a:rPr>
              <a:t>・</a:t>
            </a:r>
            <a:r>
              <a:rPr lang="en-US" sz="1100" dirty="0" err="1">
                <a:solidFill>
                  <a:srgbClr val="595959"/>
                </a:solidFill>
                <a:latin typeface="Meiryo UI" pitchFamily="34" charset="0"/>
                <a:ea typeface="Meiryo UI" pitchFamily="34" charset="-122"/>
                <a:cs typeface="Meiryo UI" pitchFamily="34" charset="-120"/>
              </a:rPr>
              <a:t>臨床データの</a:t>
            </a:r>
            <a:r>
              <a:rPr lang="ja-JP" altLang="en-US" sz="1100" dirty="0">
                <a:solidFill>
                  <a:srgbClr val="595959"/>
                </a:solidFill>
                <a:latin typeface="Meiryo UI" pitchFamily="34" charset="0"/>
                <a:ea typeface="Meiryo UI" pitchFamily="34" charset="-122"/>
                <a:cs typeface="Meiryo UI" pitchFamily="34" charset="-120"/>
              </a:rPr>
              <a:t>積極活用</a:t>
            </a:r>
            <a:endParaRPr lang="en-US" sz="1100" dirty="0"/>
          </a:p>
          <a:p>
            <a:pPr marL="0" indent="0">
              <a:buNone/>
            </a:pPr>
            <a:r>
              <a:rPr lang="ja-JP" altLang="en-US" sz="1100" dirty="0">
                <a:solidFill>
                  <a:srgbClr val="595959"/>
                </a:solidFill>
                <a:latin typeface="Meiryo UI" pitchFamily="34" charset="0"/>
                <a:ea typeface="Meiryo UI" pitchFamily="34" charset="-122"/>
                <a:cs typeface="Meiryo UI" pitchFamily="34" charset="-120"/>
              </a:rPr>
              <a:t>・</a:t>
            </a:r>
            <a:r>
              <a:rPr lang="en-US" sz="1100" dirty="0">
                <a:solidFill>
                  <a:srgbClr val="595959"/>
                </a:solidFill>
                <a:latin typeface="Meiryo UI" pitchFamily="34" charset="0"/>
                <a:ea typeface="Meiryo UI" pitchFamily="34" charset="-122"/>
                <a:cs typeface="Meiryo UI" pitchFamily="34" charset="-120"/>
              </a:rPr>
              <a:t>B2B2C商談モデル構築</a:t>
            </a:r>
            <a:endParaRPr lang="en-US" sz="1100" dirty="0"/>
          </a:p>
        </p:txBody>
      </p:sp>
      <p:sp>
        <p:nvSpPr>
          <p:cNvPr id="23" name="Shape 20"/>
          <p:cNvSpPr/>
          <p:nvPr/>
        </p:nvSpPr>
        <p:spPr>
          <a:xfrm>
            <a:off x="320040" y="4992624"/>
            <a:ext cx="11521440" cy="960120"/>
          </a:xfrm>
          <a:prstGeom prst="rect">
            <a:avLst/>
          </a:prstGeom>
          <a:solidFill>
            <a:srgbClr val="FFFFFF"/>
          </a:solidFill>
          <a:ln w="6350">
            <a:solidFill>
              <a:srgbClr val="BFBFBF"/>
            </a:solidFill>
            <a:prstDash val="solid"/>
          </a:ln>
        </p:spPr>
        <p:txBody>
          <a:bodyPr/>
          <a:lstStyle/>
          <a:p>
            <a:endParaRPr lang="ja-JP" altLang="en-US" sz="2400"/>
          </a:p>
        </p:txBody>
      </p:sp>
      <p:sp>
        <p:nvSpPr>
          <p:cNvPr id="24" name="Text 21"/>
          <p:cNvSpPr/>
          <p:nvPr/>
        </p:nvSpPr>
        <p:spPr>
          <a:xfrm>
            <a:off x="502920" y="5266944"/>
            <a:ext cx="1051560" cy="411480"/>
          </a:xfrm>
          <a:prstGeom prst="roundRect">
            <a:avLst>
              <a:gd name="adj" fmla="val 11111"/>
            </a:avLst>
          </a:prstGeom>
          <a:solidFill>
            <a:srgbClr val="008D2E"/>
          </a:solidFill>
          <a:ln/>
        </p:spPr>
        <p:txBody>
          <a:bodyPr wrap="square" lIns="0" tIns="0" rIns="0" bIns="0" rtlCol="0" anchor="ctr"/>
          <a:lstStyle/>
          <a:p>
            <a:pPr marL="0" indent="0" algn="ctr">
              <a:buNone/>
            </a:pPr>
            <a:r>
              <a:rPr lang="en-US" sz="1600" b="1" dirty="0">
                <a:solidFill>
                  <a:srgbClr val="FFFFFF"/>
                </a:solidFill>
                <a:latin typeface="Meiryo UI" pitchFamily="34" charset="0"/>
                <a:ea typeface="Meiryo UI" pitchFamily="34" charset="-122"/>
                <a:cs typeface="Meiryo UI" pitchFamily="34" charset="-120"/>
              </a:rPr>
              <a:t>GAP 4</a:t>
            </a:r>
            <a:endParaRPr lang="en-US" sz="1600" dirty="0"/>
          </a:p>
        </p:txBody>
      </p:sp>
      <p:sp>
        <p:nvSpPr>
          <p:cNvPr id="25" name="Text 22"/>
          <p:cNvSpPr/>
          <p:nvPr/>
        </p:nvSpPr>
        <p:spPr>
          <a:xfrm>
            <a:off x="1783080" y="5065776"/>
            <a:ext cx="7589520" cy="566928"/>
          </a:xfrm>
          <a:prstGeom prst="rect">
            <a:avLst/>
          </a:prstGeom>
          <a:noFill/>
          <a:ln/>
        </p:spPr>
        <p:txBody>
          <a:bodyPr wrap="square" lIns="0" tIns="0" rIns="0" bIns="0" rtlCol="0" anchor="ctr">
            <a:normAutofit/>
          </a:bodyPr>
          <a:lstStyle/>
          <a:p>
            <a:pPr marL="0" indent="0">
              <a:lnSpc>
                <a:spcPts val="1400"/>
              </a:lnSpc>
              <a:buNone/>
            </a:pPr>
            <a:r>
              <a:rPr lang="en-US" sz="1200" dirty="0">
                <a:solidFill>
                  <a:srgbClr val="000000"/>
                </a:solidFill>
                <a:latin typeface="Meiryo UI" pitchFamily="34" charset="0"/>
                <a:ea typeface="Meiryo UI" pitchFamily="34" charset="-122"/>
                <a:cs typeface="Meiryo UI" pitchFamily="34" charset="-120"/>
              </a:rPr>
              <a:t>人手不足・環境規制で店舗運営が困難な小売に対し、組織総力戦でアプローチできず属人的関係性に依存</a:t>
            </a:r>
            <a:endParaRPr lang="en-US" sz="1200" dirty="0"/>
          </a:p>
        </p:txBody>
      </p:sp>
      <p:sp>
        <p:nvSpPr>
          <p:cNvPr id="26" name="Text 23"/>
          <p:cNvSpPr/>
          <p:nvPr/>
        </p:nvSpPr>
        <p:spPr>
          <a:xfrm>
            <a:off x="1783080" y="5459448"/>
            <a:ext cx="7589520" cy="274320"/>
          </a:xfrm>
          <a:prstGeom prst="rect">
            <a:avLst/>
          </a:prstGeom>
          <a:noFill/>
          <a:ln/>
        </p:spPr>
        <p:txBody>
          <a:bodyPr wrap="square" lIns="0" tIns="0" rIns="0" bIns="0" rtlCol="0" anchor="ctr"/>
          <a:lstStyle/>
          <a:p>
            <a:pPr marL="0" indent="0">
              <a:buNone/>
            </a:pPr>
            <a:r>
              <a:rPr lang="en-US" sz="1050" b="1" dirty="0">
                <a:solidFill>
                  <a:srgbClr val="595959"/>
                </a:solidFill>
                <a:latin typeface="Meiryo UI" pitchFamily="34" charset="0"/>
                <a:ea typeface="Meiryo UI" pitchFamily="34" charset="-122"/>
                <a:cs typeface="Meiryo UI" pitchFamily="34" charset="-120"/>
              </a:rPr>
              <a:t>→ ボトルネック②（内向き業務の慣性）｜ 理想：Input業務ゼロ化＋組織対組織のサステナパートナー</a:t>
            </a:r>
            <a:endParaRPr lang="en-US" sz="1050" dirty="0"/>
          </a:p>
        </p:txBody>
      </p:sp>
      <p:sp>
        <p:nvSpPr>
          <p:cNvPr id="27" name="Text 24"/>
          <p:cNvSpPr/>
          <p:nvPr/>
        </p:nvSpPr>
        <p:spPr>
          <a:xfrm>
            <a:off x="8729132" y="5102352"/>
            <a:ext cx="2929467" cy="731520"/>
          </a:xfrm>
          <a:prstGeom prst="rect">
            <a:avLst/>
          </a:prstGeom>
          <a:noFill/>
          <a:ln/>
        </p:spPr>
        <p:txBody>
          <a:bodyPr wrap="square" lIns="0" tIns="0" rIns="0" bIns="0" rtlCol="0" anchor="ctr"/>
          <a:lstStyle/>
          <a:p>
            <a:pPr marL="0" indent="0">
              <a:buNone/>
            </a:pPr>
            <a:r>
              <a:rPr lang="en-US" sz="1100" dirty="0">
                <a:solidFill>
                  <a:srgbClr val="595959"/>
                </a:solidFill>
                <a:latin typeface="Meiryo UI" pitchFamily="34" charset="0"/>
                <a:ea typeface="Meiryo UI" pitchFamily="34" charset="-122"/>
                <a:cs typeface="Meiryo UI" pitchFamily="34" charset="-120"/>
              </a:rPr>
              <a:t>アプローチ</a:t>
            </a:r>
            <a:endParaRPr lang="en-US" sz="1100" dirty="0"/>
          </a:p>
          <a:p>
            <a:pPr marL="0" indent="0">
              <a:buNone/>
            </a:pPr>
            <a:r>
              <a:rPr lang="ja-JP" altLang="en-US" sz="1100" dirty="0">
                <a:solidFill>
                  <a:srgbClr val="595959"/>
                </a:solidFill>
                <a:latin typeface="Meiryo UI" pitchFamily="34" charset="0"/>
                <a:ea typeface="Meiryo UI" pitchFamily="34" charset="-122"/>
                <a:cs typeface="Meiryo UI" pitchFamily="34" charset="-120"/>
              </a:rPr>
              <a:t>・</a:t>
            </a:r>
            <a:r>
              <a:rPr lang="en-US" sz="1100" dirty="0">
                <a:solidFill>
                  <a:srgbClr val="595959"/>
                </a:solidFill>
                <a:latin typeface="Meiryo UI" pitchFamily="34" charset="0"/>
                <a:ea typeface="Meiryo UI" pitchFamily="34" charset="-122"/>
                <a:cs typeface="Meiryo UI" pitchFamily="34" charset="-120"/>
              </a:rPr>
              <a:t>Input業務ゼロ化</a:t>
            </a:r>
            <a:endParaRPr lang="en-US" sz="1100" dirty="0"/>
          </a:p>
          <a:p>
            <a:pPr marL="0" indent="0">
              <a:buNone/>
            </a:pPr>
            <a:r>
              <a:rPr lang="ja-JP" altLang="en-US" sz="1100" dirty="0">
                <a:solidFill>
                  <a:srgbClr val="595959"/>
                </a:solidFill>
                <a:latin typeface="Meiryo UI" pitchFamily="34" charset="0"/>
                <a:ea typeface="Meiryo UI" pitchFamily="34" charset="-122"/>
                <a:cs typeface="Meiryo UI" pitchFamily="34" charset="-120"/>
              </a:rPr>
              <a:t>・</a:t>
            </a:r>
            <a:r>
              <a:rPr lang="en-US" sz="1100" dirty="0" err="1">
                <a:solidFill>
                  <a:srgbClr val="595959"/>
                </a:solidFill>
                <a:latin typeface="Meiryo UI" pitchFamily="34" charset="0"/>
                <a:ea typeface="Meiryo UI" pitchFamily="34" charset="-122"/>
                <a:cs typeface="Meiryo UI" pitchFamily="34" charset="-120"/>
              </a:rPr>
              <a:t>アカウントスクワッド×RevOps</a:t>
            </a:r>
            <a:r>
              <a:rPr lang="en-US" sz="1100" dirty="0">
                <a:solidFill>
                  <a:srgbClr val="595959"/>
                </a:solidFill>
                <a:latin typeface="Meiryo UI" pitchFamily="34" charset="0"/>
                <a:ea typeface="Meiryo UI" pitchFamily="34" charset="-122"/>
                <a:cs typeface="Meiryo UI" pitchFamily="34" charset="-120"/>
              </a:rPr>
              <a:t> KPI統一</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219456" y="0"/>
            <a:ext cx="10332720" cy="914400"/>
          </a:xfrm>
          <a:prstGeom prst="rect">
            <a:avLst/>
          </a:prstGeom>
          <a:noFill/>
          <a:ln/>
        </p:spPr>
        <p:txBody>
          <a:bodyPr wrap="square" lIns="0" tIns="0" rIns="0" bIns="0" rtlCol="0" anchor="b" anchorCtr="0"/>
          <a:lstStyle/>
          <a:p>
            <a:pPr marL="0" indent="0">
              <a:buNone/>
            </a:pPr>
            <a:r>
              <a:rPr lang="ja-JP" altLang="en-US" sz="1800" b="1" dirty="0">
                <a:solidFill>
                  <a:srgbClr val="000000"/>
                </a:solidFill>
                <a:latin typeface="Meiryo UI" pitchFamily="34" charset="0"/>
                <a:ea typeface="Meiryo UI" pitchFamily="34" charset="-122"/>
                <a:cs typeface="Meiryo UI" pitchFamily="34" charset="-120"/>
              </a:rPr>
              <a:t>構造の真因</a:t>
            </a:r>
            <a:endParaRPr lang="en-US" b="1" dirty="0">
              <a:solidFill>
                <a:srgbClr val="000000"/>
              </a:solidFill>
              <a:latin typeface="Meiryo UI" pitchFamily="34" charset="0"/>
              <a:ea typeface="Meiryo UI" pitchFamily="34" charset="-122"/>
              <a:cs typeface="Meiryo UI" pitchFamily="34" charset="-120"/>
            </a:endParaRPr>
          </a:p>
        </p:txBody>
      </p:sp>
      <p:pic>
        <p:nvPicPr>
          <p:cNvPr id="3" name="Image 0" descr="/home/claude/logo.png"/>
          <p:cNvPicPr>
            <a:picLocks noChangeAspect="1"/>
          </p:cNvPicPr>
          <p:nvPr/>
        </p:nvPicPr>
        <p:blipFill>
          <a:blip r:embed="rId3"/>
          <a:stretch>
            <a:fillRect/>
          </a:stretch>
        </p:blipFill>
        <p:spPr>
          <a:xfrm>
            <a:off x="10881360" y="201168"/>
            <a:ext cx="868680" cy="566928"/>
          </a:xfrm>
          <a:prstGeom prst="rect">
            <a:avLst/>
          </a:prstGeom>
        </p:spPr>
      </p:pic>
      <p:sp>
        <p:nvSpPr>
          <p:cNvPr id="4" name="Shape 1"/>
          <p:cNvSpPr/>
          <p:nvPr/>
        </p:nvSpPr>
        <p:spPr>
          <a:xfrm>
            <a:off x="0" y="914400"/>
            <a:ext cx="12188952" cy="0"/>
          </a:xfrm>
          <a:prstGeom prst="line">
            <a:avLst/>
          </a:prstGeom>
          <a:noFill/>
          <a:ln w="28575">
            <a:solidFill>
              <a:srgbClr val="008000"/>
            </a:solidFill>
            <a:prstDash val="solid"/>
          </a:ln>
        </p:spPr>
        <p:txBody>
          <a:bodyPr/>
          <a:lstStyle/>
          <a:p>
            <a:endParaRPr lang="ja-JP" altLang="en-US"/>
          </a:p>
        </p:txBody>
      </p:sp>
      <p:sp>
        <p:nvSpPr>
          <p:cNvPr id="5" name="Text 2"/>
          <p:cNvSpPr/>
          <p:nvPr/>
        </p:nvSpPr>
        <p:spPr>
          <a:xfrm>
            <a:off x="219456" y="1011792"/>
            <a:ext cx="11750040" cy="384048"/>
          </a:xfrm>
          <a:prstGeom prst="rect">
            <a:avLst/>
          </a:prstGeom>
          <a:noFill/>
          <a:ln/>
        </p:spPr>
        <p:txBody>
          <a:bodyPr wrap="square" lIns="0" tIns="0" rIns="0" bIns="0" rtlCol="0" anchor="ctr"/>
          <a:lstStyle/>
          <a:p>
            <a:pPr marL="0" indent="0">
              <a:buNone/>
            </a:pPr>
            <a:r>
              <a:rPr lang="en-US" dirty="0">
                <a:solidFill>
                  <a:srgbClr val="000000"/>
                </a:solidFill>
                <a:latin typeface="Meiryo UI" pitchFamily="34" charset="0"/>
                <a:ea typeface="Meiryo UI" pitchFamily="34" charset="-122"/>
                <a:cs typeface="Meiryo UI" pitchFamily="34" charset="-120"/>
              </a:rPr>
              <a:t>表面的なギャップを生み出す3つの構造的ボトルネックについて、真因を掘り下げる。問題の本質は組織構造でも経営の保守性でもなく、投資を全体最適の計画に束ね、効果検証までやり切る「作法」の不在にある。</a:t>
            </a:r>
            <a:endParaRPr lang="en-US" sz="4000" dirty="0"/>
          </a:p>
        </p:txBody>
      </p:sp>
      <p:sp>
        <p:nvSpPr>
          <p:cNvPr id="6" name="Text 3"/>
          <p:cNvSpPr/>
          <p:nvPr/>
        </p:nvSpPr>
        <p:spPr>
          <a:xfrm>
            <a:off x="11658600" y="6528816"/>
            <a:ext cx="411480" cy="274320"/>
          </a:xfrm>
          <a:prstGeom prst="rect">
            <a:avLst/>
          </a:prstGeom>
          <a:noFill/>
          <a:ln/>
        </p:spPr>
        <p:txBody>
          <a:bodyPr wrap="square" lIns="0" tIns="0" rIns="0" bIns="0" rtlCol="0" anchor="ctr"/>
          <a:lstStyle/>
          <a:p>
            <a:pPr marL="0" indent="0" algn="r">
              <a:buNone/>
            </a:pPr>
            <a:r>
              <a:rPr lang="en-US" sz="1000" b="0" dirty="0">
                <a:solidFill>
                  <a:srgbClr val="595959"/>
                </a:solidFill>
                <a:latin typeface="Meiryo UI" pitchFamily="34" charset="0"/>
                <a:ea typeface="Meiryo UI" pitchFamily="34" charset="-122"/>
                <a:cs typeface="Meiryo UI" pitchFamily="34" charset="-120"/>
              </a:rPr>
              <a:t>2</a:t>
            </a:r>
            <a:endParaRPr lang="en-US" sz="1000" dirty="0"/>
          </a:p>
        </p:txBody>
      </p:sp>
      <p:sp>
        <p:nvSpPr>
          <p:cNvPr id="7" name="Text 4"/>
          <p:cNvSpPr/>
          <p:nvPr/>
        </p:nvSpPr>
        <p:spPr>
          <a:xfrm>
            <a:off x="219456" y="6556248"/>
            <a:ext cx="8229600" cy="228600"/>
          </a:xfrm>
          <a:prstGeom prst="rect">
            <a:avLst/>
          </a:prstGeom>
          <a:noFill/>
          <a:ln/>
        </p:spPr>
        <p:txBody>
          <a:bodyPr wrap="square" lIns="0" tIns="0" rIns="0" bIns="0" rtlCol="0" anchor="ctr"/>
          <a:lstStyle/>
          <a:p>
            <a:pPr marL="0" indent="0">
              <a:buNone/>
            </a:pPr>
            <a:r>
              <a:rPr lang="en-US" sz="750" dirty="0">
                <a:solidFill>
                  <a:srgbClr val="595959"/>
                </a:solidFill>
                <a:latin typeface="Meiryo UI" pitchFamily="34" charset="0"/>
                <a:ea typeface="Meiryo UI" pitchFamily="34" charset="-122"/>
                <a:cs typeface="Meiryo UI" pitchFamily="34" charset="-120"/>
              </a:rPr>
              <a:t>LION Corporation ｜ 営業・マーケティングDX戦略 検討アジェンダ（P.6「真因・GAP分析」後続）</a:t>
            </a:r>
            <a:endParaRPr lang="en-US" sz="750" dirty="0"/>
          </a:p>
        </p:txBody>
      </p:sp>
      <p:sp>
        <p:nvSpPr>
          <p:cNvPr id="8" name="Shape 5"/>
          <p:cNvSpPr/>
          <p:nvPr/>
        </p:nvSpPr>
        <p:spPr>
          <a:xfrm>
            <a:off x="320040" y="1600200"/>
            <a:ext cx="3730752" cy="4160520"/>
          </a:xfrm>
          <a:prstGeom prst="roundRect">
            <a:avLst>
              <a:gd name="adj" fmla="val 1225"/>
            </a:avLst>
          </a:prstGeom>
          <a:solidFill>
            <a:srgbClr val="FFFFFF"/>
          </a:solidFill>
          <a:ln w="15875">
            <a:solidFill>
              <a:srgbClr val="008D2E"/>
            </a:solidFill>
            <a:prstDash val="solid"/>
          </a:ln>
          <a:effectLst>
            <a:outerShdw blurRad="76200" dist="25400" dir="5400000" algn="bl" rotWithShape="0">
              <a:srgbClr val="D9D9D9">
                <a:alpha val="50000"/>
              </a:srgbClr>
            </a:outerShdw>
          </a:effectLst>
        </p:spPr>
        <p:txBody>
          <a:bodyPr/>
          <a:lstStyle/>
          <a:p>
            <a:endParaRPr lang="ja-JP" altLang="en-US" sz="2400"/>
          </a:p>
        </p:txBody>
      </p:sp>
      <p:sp>
        <p:nvSpPr>
          <p:cNvPr id="9" name="Text 6"/>
          <p:cNvSpPr/>
          <p:nvPr/>
        </p:nvSpPr>
        <p:spPr>
          <a:xfrm>
            <a:off x="548640" y="1783080"/>
            <a:ext cx="3291840" cy="274320"/>
          </a:xfrm>
          <a:prstGeom prst="rect">
            <a:avLst/>
          </a:prstGeom>
          <a:noFill/>
          <a:ln/>
        </p:spPr>
        <p:txBody>
          <a:bodyPr wrap="square" lIns="0" tIns="0" rIns="0" bIns="0" rtlCol="0" anchor="ctr"/>
          <a:lstStyle/>
          <a:p>
            <a:pPr marL="0" indent="0">
              <a:buNone/>
            </a:pPr>
            <a:r>
              <a:rPr lang="en-US" sz="1400" b="1" dirty="0">
                <a:solidFill>
                  <a:srgbClr val="008D2E"/>
                </a:solidFill>
                <a:latin typeface="Meiryo UI" pitchFamily="34" charset="0"/>
                <a:ea typeface="Meiryo UI" pitchFamily="34" charset="-122"/>
                <a:cs typeface="Meiryo UI" pitchFamily="34" charset="-120"/>
              </a:rPr>
              <a:t>ボトルネック①</a:t>
            </a:r>
            <a:endParaRPr lang="en-US" sz="1400" dirty="0"/>
          </a:p>
        </p:txBody>
      </p:sp>
      <p:sp>
        <p:nvSpPr>
          <p:cNvPr id="10" name="Text 7"/>
          <p:cNvSpPr/>
          <p:nvPr/>
        </p:nvSpPr>
        <p:spPr>
          <a:xfrm>
            <a:off x="548640" y="2103120"/>
            <a:ext cx="3291840" cy="777240"/>
          </a:xfrm>
          <a:prstGeom prst="rect">
            <a:avLst/>
          </a:prstGeom>
          <a:noFill/>
          <a:ln/>
        </p:spPr>
        <p:txBody>
          <a:bodyPr wrap="square" lIns="0" tIns="0" rIns="0" bIns="0" rtlCol="0" anchor="ctr"/>
          <a:lstStyle/>
          <a:p>
            <a:pPr marL="0" indent="0">
              <a:lnSpc>
                <a:spcPts val="2000"/>
              </a:lnSpc>
              <a:buNone/>
            </a:pPr>
            <a:r>
              <a:rPr lang="en-US" b="1" dirty="0">
                <a:solidFill>
                  <a:srgbClr val="000000"/>
                </a:solidFill>
                <a:latin typeface="Meiryo UI" pitchFamily="34" charset="0"/>
                <a:ea typeface="Meiryo UI" pitchFamily="34" charset="-122"/>
                <a:cs typeface="Meiryo UI" pitchFamily="34" charset="-120"/>
              </a:rPr>
              <a:t>縦割り組織による
「知見の非換金性」</a:t>
            </a:r>
            <a:endParaRPr lang="en-US" dirty="0"/>
          </a:p>
          <a:p>
            <a:pPr marL="0" indent="0">
              <a:lnSpc>
                <a:spcPts val="2000"/>
              </a:lnSpc>
              <a:buNone/>
            </a:pPr>
            <a:endParaRPr lang="en-US" dirty="0"/>
          </a:p>
        </p:txBody>
      </p:sp>
      <p:sp>
        <p:nvSpPr>
          <p:cNvPr id="11" name="Text 8"/>
          <p:cNvSpPr/>
          <p:nvPr/>
        </p:nvSpPr>
        <p:spPr>
          <a:xfrm>
            <a:off x="548640" y="3017520"/>
            <a:ext cx="3291840" cy="1828800"/>
          </a:xfrm>
          <a:prstGeom prst="rect">
            <a:avLst/>
          </a:prstGeom>
          <a:noFill/>
          <a:ln/>
        </p:spPr>
        <p:txBody>
          <a:bodyPr wrap="square" lIns="0" tIns="0" rIns="0" bIns="0" rtlCol="0" anchor="ctr">
            <a:noAutofit/>
          </a:bodyPr>
          <a:lstStyle/>
          <a:p>
            <a:pPr marL="0" indent="0">
              <a:lnSpc>
                <a:spcPts val="1500"/>
              </a:lnSpc>
              <a:buNone/>
            </a:pPr>
            <a:r>
              <a:rPr lang="en-US" sz="1200" dirty="0">
                <a:solidFill>
                  <a:srgbClr val="000000"/>
                </a:solidFill>
                <a:latin typeface="Meiryo UI" pitchFamily="34" charset="0"/>
                <a:ea typeface="Meiryo UI" pitchFamily="34" charset="-122"/>
                <a:cs typeface="Meiryo UI" pitchFamily="34" charset="-120"/>
              </a:rPr>
              <a:t>W1:なぜ臨床データがLTV予測に変換されないか → KPI・データ基盤が部門分断</a:t>
            </a:r>
            <a:endParaRPr lang="en-US" sz="1200" dirty="0"/>
          </a:p>
          <a:p>
            <a:pPr marL="0" indent="0">
              <a:lnSpc>
                <a:spcPts val="1500"/>
              </a:lnSpc>
              <a:buNone/>
            </a:pPr>
            <a:r>
              <a:rPr lang="en-US" sz="1200" dirty="0">
                <a:solidFill>
                  <a:srgbClr val="000000"/>
                </a:solidFill>
                <a:latin typeface="Meiryo UI" pitchFamily="34" charset="0"/>
                <a:ea typeface="Meiryo UI" pitchFamily="34" charset="-122"/>
                <a:cs typeface="Meiryo UI" pitchFamily="34" charset="-120"/>
              </a:rPr>
              <a:t>W2:なぜ部門分断か → 機能別縦割りで横断データ活用の責任者不在</a:t>
            </a:r>
            <a:endParaRPr lang="en-US" sz="1200" dirty="0"/>
          </a:p>
          <a:p>
            <a:pPr marL="0" indent="0">
              <a:lnSpc>
                <a:spcPts val="1500"/>
              </a:lnSpc>
              <a:buNone/>
            </a:pPr>
            <a:r>
              <a:rPr lang="en-US" sz="1200" dirty="0">
                <a:solidFill>
                  <a:srgbClr val="000000"/>
                </a:solidFill>
                <a:latin typeface="Meiryo UI" pitchFamily="34" charset="0"/>
                <a:ea typeface="Meiryo UI" pitchFamily="34" charset="-122"/>
                <a:cs typeface="Meiryo UI" pitchFamily="34" charset="-120"/>
              </a:rPr>
              <a:t>W3:なぜ責任者不在か → 過去のデータ・システム投資が部門別の個別導入で終わり、成果が示されてこなかった</a:t>
            </a:r>
            <a:endParaRPr lang="en-US" sz="1200" dirty="0"/>
          </a:p>
          <a:p>
            <a:pPr marL="0" indent="0">
              <a:lnSpc>
                <a:spcPts val="1500"/>
              </a:lnSpc>
              <a:buNone/>
            </a:pPr>
            <a:r>
              <a:rPr lang="en-US" sz="1200" dirty="0">
                <a:solidFill>
                  <a:srgbClr val="000000"/>
                </a:solidFill>
                <a:latin typeface="Meiryo UI" pitchFamily="34" charset="0"/>
                <a:ea typeface="Meiryo UI" pitchFamily="34" charset="-122"/>
                <a:cs typeface="Meiryo UI" pitchFamily="34" charset="-120"/>
              </a:rPr>
              <a:t>W4:なぜ個別導入で終わるか → 投資を束ねる全体最適の計画と、効果検証・定着までの作法が存在しない</a:t>
            </a:r>
            <a:endParaRPr lang="en-US" sz="1200" dirty="0"/>
          </a:p>
          <a:p>
            <a:pPr marL="0" indent="0">
              <a:lnSpc>
                <a:spcPts val="1500"/>
              </a:lnSpc>
              <a:buNone/>
            </a:pPr>
            <a:endParaRPr lang="en-US" sz="1200" dirty="0">
              <a:solidFill>
                <a:srgbClr val="FF0000"/>
              </a:solidFill>
              <a:latin typeface="Meiryo UI" pitchFamily="34" charset="0"/>
              <a:ea typeface="Meiryo UI" pitchFamily="34" charset="-122"/>
              <a:cs typeface="Meiryo UI" pitchFamily="34" charset="-120"/>
            </a:endParaRPr>
          </a:p>
          <a:p>
            <a:pPr marL="0" indent="0">
              <a:lnSpc>
                <a:spcPts val="1500"/>
              </a:lnSpc>
              <a:buNone/>
            </a:pPr>
            <a:r>
              <a:rPr lang="en-US" sz="1200" dirty="0">
                <a:solidFill>
                  <a:srgbClr val="FF0000"/>
                </a:solidFill>
                <a:latin typeface="Meiryo UI" pitchFamily="34" charset="0"/>
                <a:ea typeface="Meiryo UI" pitchFamily="34" charset="-122"/>
                <a:cs typeface="Meiryo UI" pitchFamily="34" charset="-120"/>
              </a:rPr>
              <a:t>【</a:t>
            </a:r>
            <a:r>
              <a:rPr lang="en-US" sz="1200" dirty="0" err="1">
                <a:solidFill>
                  <a:srgbClr val="FF0000"/>
                </a:solidFill>
                <a:latin typeface="Meiryo UI" pitchFamily="34" charset="0"/>
                <a:ea typeface="Meiryo UI" pitchFamily="34" charset="-122"/>
                <a:cs typeface="Meiryo UI" pitchFamily="34" charset="-120"/>
              </a:rPr>
              <a:t>真因】</a:t>
            </a:r>
            <a:r>
              <a:rPr lang="en-US" altLang="ja-JP" sz="1200" dirty="0" err="1">
                <a:solidFill>
                  <a:srgbClr val="FF0000"/>
                </a:solidFill>
                <a:latin typeface="Meiryo UI" pitchFamily="34" charset="0"/>
                <a:ea typeface="Meiryo UI" pitchFamily="34" charset="-122"/>
                <a:cs typeface="Meiryo UI" pitchFamily="34" charset="-120"/>
              </a:rPr>
              <a:t>投資を全体最適の計画に束ね、効果検証までやり切る「作法」の不在</a:t>
            </a:r>
            <a:endParaRPr lang="en-US" sz="1200" dirty="0">
              <a:solidFill>
                <a:srgbClr val="FF0000"/>
              </a:solidFill>
            </a:endParaRPr>
          </a:p>
        </p:txBody>
      </p:sp>
      <p:sp>
        <p:nvSpPr>
          <p:cNvPr id="12" name="Text 9"/>
          <p:cNvSpPr/>
          <p:nvPr/>
        </p:nvSpPr>
        <p:spPr>
          <a:xfrm>
            <a:off x="548640" y="5224111"/>
            <a:ext cx="3291840" cy="274320"/>
          </a:xfrm>
          <a:prstGeom prst="rect">
            <a:avLst/>
          </a:prstGeom>
          <a:noFill/>
          <a:ln/>
        </p:spPr>
        <p:txBody>
          <a:bodyPr wrap="square" lIns="0" tIns="0" rIns="0" bIns="0" rtlCol="0" anchor="ctr"/>
          <a:lstStyle/>
          <a:p>
            <a:pPr marL="0" indent="0">
              <a:buNone/>
            </a:pPr>
            <a:r>
              <a:rPr lang="en-US" sz="1050" b="1" dirty="0" err="1">
                <a:solidFill>
                  <a:srgbClr val="595959"/>
                </a:solidFill>
                <a:latin typeface="Meiryo UI" pitchFamily="34" charset="0"/>
                <a:ea typeface="Meiryo UI" pitchFamily="34" charset="-122"/>
                <a:cs typeface="Meiryo UI" pitchFamily="34" charset="-120"/>
              </a:rPr>
              <a:t>示唆：</a:t>
            </a:r>
            <a:r>
              <a:rPr lang="en-US" altLang="ja-JP" sz="1050" b="1" dirty="0" err="1">
                <a:solidFill>
                  <a:srgbClr val="595959"/>
                </a:solidFill>
                <a:latin typeface="Meiryo UI" pitchFamily="34" charset="0"/>
                <a:ea typeface="Meiryo UI" pitchFamily="34" charset="-122"/>
                <a:cs typeface="Meiryo UI" pitchFamily="34" charset="-120"/>
              </a:rPr>
              <a:t>解くべきは経営でなく提案側の作法 ― 全体計画に束ね、小さく実証し、検証責任を自ら持つ</a:t>
            </a:r>
            <a:endParaRPr lang="en-US" sz="1050" dirty="0">
              <a:solidFill>
                <a:schemeClr val="accent6"/>
              </a:solidFill>
            </a:endParaRPr>
          </a:p>
        </p:txBody>
      </p:sp>
      <p:sp>
        <p:nvSpPr>
          <p:cNvPr id="14" name="Shape 11"/>
          <p:cNvSpPr/>
          <p:nvPr/>
        </p:nvSpPr>
        <p:spPr>
          <a:xfrm>
            <a:off x="4233672" y="1600200"/>
            <a:ext cx="3730752" cy="4160520"/>
          </a:xfrm>
          <a:prstGeom prst="roundRect">
            <a:avLst>
              <a:gd name="adj" fmla="val 1225"/>
            </a:avLst>
          </a:prstGeom>
          <a:solidFill>
            <a:srgbClr val="FFFFFF"/>
          </a:solidFill>
          <a:ln w="15875">
            <a:solidFill>
              <a:srgbClr val="008D2E"/>
            </a:solidFill>
            <a:prstDash val="solid"/>
          </a:ln>
          <a:effectLst>
            <a:outerShdw blurRad="76200" dist="25400" dir="5400000" algn="bl" rotWithShape="0">
              <a:srgbClr val="D9D9D9">
                <a:alpha val="50000"/>
              </a:srgbClr>
            </a:outerShdw>
          </a:effectLst>
        </p:spPr>
        <p:txBody>
          <a:bodyPr/>
          <a:lstStyle/>
          <a:p>
            <a:endParaRPr lang="ja-JP" altLang="en-US" sz="2400"/>
          </a:p>
        </p:txBody>
      </p:sp>
      <p:sp>
        <p:nvSpPr>
          <p:cNvPr id="15" name="Text 12"/>
          <p:cNvSpPr/>
          <p:nvPr/>
        </p:nvSpPr>
        <p:spPr>
          <a:xfrm>
            <a:off x="4462272" y="1783080"/>
            <a:ext cx="3291840" cy="274320"/>
          </a:xfrm>
          <a:prstGeom prst="rect">
            <a:avLst/>
          </a:prstGeom>
          <a:noFill/>
          <a:ln/>
        </p:spPr>
        <p:txBody>
          <a:bodyPr wrap="square" lIns="0" tIns="0" rIns="0" bIns="0" rtlCol="0" anchor="ctr"/>
          <a:lstStyle/>
          <a:p>
            <a:pPr marL="0" indent="0">
              <a:buNone/>
            </a:pPr>
            <a:r>
              <a:rPr lang="en-US" sz="1400" b="1" dirty="0">
                <a:solidFill>
                  <a:srgbClr val="008D2E"/>
                </a:solidFill>
                <a:latin typeface="Meiryo UI" pitchFamily="34" charset="0"/>
                <a:ea typeface="Meiryo UI" pitchFamily="34" charset="-122"/>
                <a:cs typeface="Meiryo UI" pitchFamily="34" charset="-120"/>
              </a:rPr>
              <a:t>ボトルネック②</a:t>
            </a:r>
            <a:endParaRPr lang="en-US" sz="1400" dirty="0"/>
          </a:p>
        </p:txBody>
      </p:sp>
      <p:sp>
        <p:nvSpPr>
          <p:cNvPr id="16" name="Text 13"/>
          <p:cNvSpPr/>
          <p:nvPr/>
        </p:nvSpPr>
        <p:spPr>
          <a:xfrm>
            <a:off x="4462272" y="2103120"/>
            <a:ext cx="3291840" cy="777240"/>
          </a:xfrm>
          <a:prstGeom prst="rect">
            <a:avLst/>
          </a:prstGeom>
          <a:noFill/>
          <a:ln/>
        </p:spPr>
        <p:txBody>
          <a:bodyPr wrap="square" lIns="0" tIns="0" rIns="0" bIns="0" rtlCol="0" anchor="ctr"/>
          <a:lstStyle/>
          <a:p>
            <a:pPr marL="0" indent="0">
              <a:lnSpc>
                <a:spcPts val="2000"/>
              </a:lnSpc>
              <a:buNone/>
            </a:pPr>
            <a:r>
              <a:rPr lang="en-US" b="1" dirty="0">
                <a:solidFill>
                  <a:srgbClr val="000000"/>
                </a:solidFill>
                <a:latin typeface="Meiryo UI" pitchFamily="34" charset="0"/>
                <a:ea typeface="Meiryo UI" pitchFamily="34" charset="-122"/>
                <a:cs typeface="Meiryo UI" pitchFamily="34" charset="-120"/>
              </a:rPr>
              <a:t>「内向き業務」を仕事とする
現場の慣性</a:t>
            </a:r>
            <a:endParaRPr lang="en-US" dirty="0"/>
          </a:p>
          <a:p>
            <a:pPr marL="0" indent="0">
              <a:lnSpc>
                <a:spcPts val="2000"/>
              </a:lnSpc>
              <a:buNone/>
            </a:pPr>
            <a:endParaRPr lang="en-US" dirty="0"/>
          </a:p>
        </p:txBody>
      </p:sp>
      <p:sp>
        <p:nvSpPr>
          <p:cNvPr id="17" name="Text 14"/>
          <p:cNvSpPr/>
          <p:nvPr/>
        </p:nvSpPr>
        <p:spPr>
          <a:xfrm>
            <a:off x="4462272" y="3017520"/>
            <a:ext cx="3291840" cy="1828800"/>
          </a:xfrm>
          <a:prstGeom prst="rect">
            <a:avLst/>
          </a:prstGeom>
          <a:noFill/>
          <a:ln/>
        </p:spPr>
        <p:txBody>
          <a:bodyPr wrap="square" lIns="0" tIns="0" rIns="0" bIns="0" rtlCol="0" anchor="ctr">
            <a:noAutofit/>
          </a:bodyPr>
          <a:lstStyle/>
          <a:p>
            <a:pPr marL="0" indent="0">
              <a:lnSpc>
                <a:spcPts val="1500"/>
              </a:lnSpc>
              <a:buNone/>
            </a:pPr>
            <a:r>
              <a:rPr lang="en-US" sz="1200" dirty="0">
                <a:solidFill>
                  <a:srgbClr val="000000"/>
                </a:solidFill>
                <a:latin typeface="Meiryo UI" pitchFamily="34" charset="0"/>
                <a:ea typeface="Meiryo UI" pitchFamily="34" charset="-122"/>
                <a:cs typeface="Meiryo UI" pitchFamily="34" charset="-120"/>
              </a:rPr>
              <a:t>W1:なぜ内向き業務が放置されるか → 手作業前提の業務フローが変わらない</a:t>
            </a:r>
            <a:endParaRPr lang="en-US" sz="1200" dirty="0"/>
          </a:p>
          <a:p>
            <a:pPr marL="0" indent="0">
              <a:lnSpc>
                <a:spcPts val="1500"/>
              </a:lnSpc>
              <a:buNone/>
            </a:pPr>
            <a:r>
              <a:rPr lang="en-US" sz="1200" dirty="0">
                <a:solidFill>
                  <a:srgbClr val="000000"/>
                </a:solidFill>
                <a:latin typeface="Meiryo UI" pitchFamily="34" charset="0"/>
                <a:ea typeface="Meiryo UI" pitchFamily="34" charset="-122"/>
                <a:cs typeface="Meiryo UI" pitchFamily="34" charset="-120"/>
              </a:rPr>
              <a:t>W2:なぜフローが変わらないか → 変化後の「After像」が組織に示されていない</a:t>
            </a:r>
            <a:endParaRPr lang="en-US" sz="1200" dirty="0"/>
          </a:p>
          <a:p>
            <a:pPr marL="0" indent="0">
              <a:lnSpc>
                <a:spcPts val="1500"/>
              </a:lnSpc>
              <a:buNone/>
            </a:pPr>
            <a:r>
              <a:rPr lang="en-US" sz="1200" dirty="0">
                <a:solidFill>
                  <a:srgbClr val="000000"/>
                </a:solidFill>
                <a:latin typeface="Meiryo UI" pitchFamily="34" charset="0"/>
                <a:ea typeface="Meiryo UI" pitchFamily="34" charset="-122"/>
                <a:cs typeface="Meiryo UI" pitchFamily="34" charset="-120"/>
              </a:rPr>
              <a:t>W3:なぜAfter像がないか → 生産性向上が組織戦略目標として優先度付けされていない</a:t>
            </a:r>
            <a:endParaRPr lang="en-US" sz="1200" dirty="0"/>
          </a:p>
          <a:p>
            <a:pPr marL="0" indent="0">
              <a:lnSpc>
                <a:spcPts val="1500"/>
              </a:lnSpc>
              <a:buNone/>
            </a:pPr>
            <a:r>
              <a:rPr lang="en-US" sz="1200" dirty="0">
                <a:solidFill>
                  <a:srgbClr val="000000"/>
                </a:solidFill>
                <a:latin typeface="Meiryo UI" pitchFamily="34" charset="0"/>
                <a:ea typeface="Meiryo UI" pitchFamily="34" charset="-122"/>
                <a:cs typeface="Meiryo UI" pitchFamily="34" charset="-120"/>
              </a:rPr>
              <a:t>W4:なぜ優先度付けされないか → 管理職に変革オーナーシップが与えられていない</a:t>
            </a:r>
            <a:endParaRPr lang="en-US" sz="1200" dirty="0"/>
          </a:p>
          <a:p>
            <a:pPr marL="0" indent="0">
              <a:lnSpc>
                <a:spcPts val="1500"/>
              </a:lnSpc>
              <a:buNone/>
            </a:pPr>
            <a:endParaRPr lang="en-US" sz="1200" dirty="0">
              <a:solidFill>
                <a:srgbClr val="FF0000"/>
              </a:solidFill>
              <a:latin typeface="Meiryo UI" pitchFamily="34" charset="0"/>
              <a:ea typeface="Meiryo UI" pitchFamily="34" charset="-122"/>
              <a:cs typeface="Meiryo UI" pitchFamily="34" charset="-120"/>
            </a:endParaRPr>
          </a:p>
          <a:p>
            <a:pPr marL="0" indent="0">
              <a:lnSpc>
                <a:spcPts val="1500"/>
              </a:lnSpc>
              <a:buNone/>
            </a:pPr>
            <a:r>
              <a:rPr lang="en-US" sz="1200" dirty="0">
                <a:solidFill>
                  <a:srgbClr val="FF0000"/>
                </a:solidFill>
                <a:latin typeface="Meiryo UI" pitchFamily="34" charset="0"/>
                <a:ea typeface="Meiryo UI" pitchFamily="34" charset="-122"/>
                <a:cs typeface="Meiryo UI" pitchFamily="34" charset="-120"/>
              </a:rPr>
              <a:t>【真因】導入後のAfter像と効果検証・定着まで含めた「実行の設計」がなく、“入れたのに変わらない”経験が蓄積している</a:t>
            </a:r>
            <a:endParaRPr lang="en-US" sz="1200" dirty="0">
              <a:solidFill>
                <a:srgbClr val="FF0000"/>
              </a:solidFill>
            </a:endParaRPr>
          </a:p>
        </p:txBody>
      </p:sp>
      <p:sp>
        <p:nvSpPr>
          <p:cNvPr id="18" name="Text 15"/>
          <p:cNvSpPr/>
          <p:nvPr/>
        </p:nvSpPr>
        <p:spPr>
          <a:xfrm>
            <a:off x="4462272" y="5224111"/>
            <a:ext cx="3291840" cy="274320"/>
          </a:xfrm>
          <a:prstGeom prst="rect">
            <a:avLst/>
          </a:prstGeom>
          <a:noFill/>
          <a:ln/>
        </p:spPr>
        <p:txBody>
          <a:bodyPr wrap="square" lIns="0" tIns="0" rIns="0" bIns="0" rtlCol="0" anchor="ctr"/>
          <a:lstStyle/>
          <a:p>
            <a:pPr marL="0" indent="0">
              <a:buNone/>
            </a:pPr>
            <a:r>
              <a:rPr lang="en-US" sz="1050" b="1" dirty="0">
                <a:solidFill>
                  <a:srgbClr val="595959"/>
                </a:solidFill>
                <a:latin typeface="Meiryo UI" pitchFamily="34" charset="0"/>
                <a:ea typeface="Meiryo UI" pitchFamily="34" charset="-122"/>
                <a:cs typeface="Meiryo UI" pitchFamily="34" charset="-120"/>
              </a:rPr>
              <a:t>示唆：「ツール不足」ではなく「</a:t>
            </a:r>
            <a:r>
              <a:rPr lang="en-US" sz="1050" b="1" dirty="0">
                <a:solidFill>
                  <a:schemeClr val="accent6"/>
                </a:solidFill>
                <a:latin typeface="Meiryo UI" pitchFamily="34" charset="0"/>
                <a:ea typeface="Meiryo UI" pitchFamily="34" charset="-122"/>
                <a:cs typeface="Meiryo UI" pitchFamily="34" charset="-120"/>
              </a:rPr>
              <a:t>ゼロ化後に何をするか」のAfter像と、検証・定着まで含む実行設計の欠如</a:t>
            </a:r>
            <a:endParaRPr lang="en-US" sz="1050" dirty="0">
              <a:solidFill>
                <a:schemeClr val="accent6"/>
              </a:solidFill>
            </a:endParaRPr>
          </a:p>
        </p:txBody>
      </p:sp>
      <p:sp>
        <p:nvSpPr>
          <p:cNvPr id="20" name="Shape 17"/>
          <p:cNvSpPr/>
          <p:nvPr/>
        </p:nvSpPr>
        <p:spPr>
          <a:xfrm>
            <a:off x="8147304" y="1600200"/>
            <a:ext cx="3730752" cy="4160520"/>
          </a:xfrm>
          <a:prstGeom prst="roundRect">
            <a:avLst>
              <a:gd name="adj" fmla="val 1225"/>
            </a:avLst>
          </a:prstGeom>
          <a:solidFill>
            <a:srgbClr val="FFFFFF"/>
          </a:solidFill>
          <a:ln w="15875">
            <a:solidFill>
              <a:srgbClr val="008D2E"/>
            </a:solidFill>
            <a:prstDash val="solid"/>
          </a:ln>
          <a:effectLst>
            <a:outerShdw blurRad="76200" dist="25400" dir="5400000" algn="bl" rotWithShape="0">
              <a:srgbClr val="D9D9D9">
                <a:alpha val="50000"/>
              </a:srgbClr>
            </a:outerShdw>
          </a:effectLst>
        </p:spPr>
        <p:txBody>
          <a:bodyPr/>
          <a:lstStyle/>
          <a:p>
            <a:endParaRPr lang="ja-JP" altLang="en-US" sz="2400"/>
          </a:p>
        </p:txBody>
      </p:sp>
      <p:sp>
        <p:nvSpPr>
          <p:cNvPr id="21" name="Text 18"/>
          <p:cNvSpPr/>
          <p:nvPr/>
        </p:nvSpPr>
        <p:spPr>
          <a:xfrm>
            <a:off x="8375904" y="1783080"/>
            <a:ext cx="3291840" cy="274320"/>
          </a:xfrm>
          <a:prstGeom prst="rect">
            <a:avLst/>
          </a:prstGeom>
          <a:noFill/>
          <a:ln/>
        </p:spPr>
        <p:txBody>
          <a:bodyPr wrap="square" lIns="0" tIns="0" rIns="0" bIns="0" rtlCol="0" anchor="ctr"/>
          <a:lstStyle/>
          <a:p>
            <a:pPr marL="0" indent="0">
              <a:buNone/>
            </a:pPr>
            <a:r>
              <a:rPr lang="en-US" sz="1400" b="1" dirty="0">
                <a:solidFill>
                  <a:srgbClr val="008D2E"/>
                </a:solidFill>
                <a:latin typeface="Meiryo UI" pitchFamily="34" charset="0"/>
                <a:ea typeface="Meiryo UI" pitchFamily="34" charset="-122"/>
                <a:cs typeface="Meiryo UI" pitchFamily="34" charset="-120"/>
              </a:rPr>
              <a:t>ボトルネック③</a:t>
            </a:r>
            <a:endParaRPr lang="en-US" sz="1400" dirty="0"/>
          </a:p>
        </p:txBody>
      </p:sp>
      <p:sp>
        <p:nvSpPr>
          <p:cNvPr id="22" name="Text 19"/>
          <p:cNvSpPr/>
          <p:nvPr/>
        </p:nvSpPr>
        <p:spPr>
          <a:xfrm>
            <a:off x="8375904" y="2103120"/>
            <a:ext cx="3291840" cy="777240"/>
          </a:xfrm>
          <a:prstGeom prst="rect">
            <a:avLst/>
          </a:prstGeom>
          <a:noFill/>
          <a:ln/>
        </p:spPr>
        <p:txBody>
          <a:bodyPr wrap="square" lIns="0" tIns="0" rIns="0" bIns="0" rtlCol="0" anchor="ctr"/>
          <a:lstStyle/>
          <a:p>
            <a:pPr marL="0" indent="0">
              <a:lnSpc>
                <a:spcPts val="2000"/>
              </a:lnSpc>
              <a:buNone/>
            </a:pPr>
            <a:r>
              <a:rPr lang="en-US" b="1" dirty="0">
                <a:solidFill>
                  <a:srgbClr val="000000"/>
                </a:solidFill>
                <a:latin typeface="Meiryo UI" pitchFamily="34" charset="0"/>
                <a:ea typeface="Meiryo UI" pitchFamily="34" charset="-122"/>
                <a:cs typeface="Meiryo UI" pitchFamily="34" charset="-120"/>
              </a:rPr>
              <a:t>「前提の崩壊」に対する
切迫感の欠如</a:t>
            </a:r>
            <a:endParaRPr lang="en-US" dirty="0"/>
          </a:p>
          <a:p>
            <a:pPr marL="0" indent="0">
              <a:lnSpc>
                <a:spcPts val="2000"/>
              </a:lnSpc>
              <a:buNone/>
            </a:pPr>
            <a:endParaRPr lang="en-US" dirty="0"/>
          </a:p>
        </p:txBody>
      </p:sp>
      <p:sp>
        <p:nvSpPr>
          <p:cNvPr id="23" name="Text 20"/>
          <p:cNvSpPr/>
          <p:nvPr/>
        </p:nvSpPr>
        <p:spPr>
          <a:xfrm>
            <a:off x="8375904" y="3017520"/>
            <a:ext cx="3291840" cy="1828800"/>
          </a:xfrm>
          <a:prstGeom prst="rect">
            <a:avLst/>
          </a:prstGeom>
          <a:noFill/>
          <a:ln/>
        </p:spPr>
        <p:txBody>
          <a:bodyPr wrap="square" lIns="0" tIns="0" rIns="0" bIns="0" rtlCol="0" anchor="ctr">
            <a:noAutofit/>
          </a:bodyPr>
          <a:lstStyle/>
          <a:p>
            <a:pPr marL="0" indent="0">
              <a:lnSpc>
                <a:spcPts val="1500"/>
              </a:lnSpc>
              <a:buNone/>
            </a:pPr>
            <a:r>
              <a:rPr lang="en-US" sz="1200" dirty="0">
                <a:solidFill>
                  <a:srgbClr val="000000"/>
                </a:solidFill>
                <a:latin typeface="Meiryo UI" pitchFamily="34" charset="0"/>
                <a:ea typeface="Meiryo UI" pitchFamily="34" charset="-122"/>
                <a:cs typeface="Meiryo UI" pitchFamily="34" charset="-120"/>
              </a:rPr>
              <a:t>W1:なぜAI購買の危機感が現場に届かないか → 「2040年の遠い話」に分類</a:t>
            </a:r>
            <a:endParaRPr lang="en-US" sz="1200" dirty="0"/>
          </a:p>
          <a:p>
            <a:pPr marL="0" indent="0">
              <a:lnSpc>
                <a:spcPts val="1500"/>
              </a:lnSpc>
              <a:buNone/>
            </a:pPr>
            <a:r>
              <a:rPr lang="en-US" sz="1200" dirty="0">
                <a:solidFill>
                  <a:srgbClr val="000000"/>
                </a:solidFill>
                <a:latin typeface="Meiryo UI" pitchFamily="34" charset="0"/>
                <a:ea typeface="Meiryo UI" pitchFamily="34" charset="-122"/>
                <a:cs typeface="Meiryo UI" pitchFamily="34" charset="-120"/>
              </a:rPr>
              <a:t>W2:なぜ遠い話と捉えるか → 営業・マーケの日常KPIに「AI推奨シェア」が含まれない</a:t>
            </a:r>
            <a:endParaRPr lang="en-US" sz="1200" dirty="0"/>
          </a:p>
          <a:p>
            <a:pPr marL="0" indent="0">
              <a:lnSpc>
                <a:spcPts val="1500"/>
              </a:lnSpc>
              <a:buNone/>
            </a:pPr>
            <a:r>
              <a:rPr lang="en-US" sz="1200" dirty="0">
                <a:solidFill>
                  <a:srgbClr val="000000"/>
                </a:solidFill>
                <a:latin typeface="Meiryo UI" pitchFamily="34" charset="0"/>
                <a:ea typeface="Meiryo UI" pitchFamily="34" charset="-122"/>
                <a:cs typeface="Meiryo UI" pitchFamily="34" charset="-120"/>
              </a:rPr>
              <a:t>W3:なぜKPIに含まれないか → アルゴリズム排除リスクが数値で可視化できていない</a:t>
            </a:r>
            <a:endParaRPr lang="en-US" sz="1200" dirty="0"/>
          </a:p>
          <a:p>
            <a:pPr marL="0" indent="0">
              <a:lnSpc>
                <a:spcPts val="1500"/>
              </a:lnSpc>
              <a:buNone/>
            </a:pPr>
            <a:r>
              <a:rPr lang="en-US" sz="1200" dirty="0">
                <a:solidFill>
                  <a:srgbClr val="000000"/>
                </a:solidFill>
                <a:latin typeface="Meiryo UI" pitchFamily="34" charset="0"/>
                <a:ea typeface="Meiryo UI" pitchFamily="34" charset="-122"/>
                <a:cs typeface="Meiryo UI" pitchFamily="34" charset="-120"/>
              </a:rPr>
              <a:t>W4:なぜ数値化できないか → AIEO Rate等の計測基盤が存在しない</a:t>
            </a:r>
            <a:endParaRPr lang="en-US" sz="1200" dirty="0"/>
          </a:p>
          <a:p>
            <a:pPr marL="0" indent="0">
              <a:lnSpc>
                <a:spcPts val="1500"/>
              </a:lnSpc>
              <a:buNone/>
            </a:pPr>
            <a:endParaRPr lang="en-US" sz="1200" dirty="0">
              <a:solidFill>
                <a:srgbClr val="FF0000"/>
              </a:solidFill>
              <a:latin typeface="Meiryo UI" pitchFamily="34" charset="0"/>
              <a:ea typeface="Meiryo UI" pitchFamily="34" charset="-122"/>
              <a:cs typeface="Meiryo UI" pitchFamily="34" charset="-120"/>
            </a:endParaRPr>
          </a:p>
          <a:p>
            <a:pPr marL="0" indent="0">
              <a:lnSpc>
                <a:spcPts val="1500"/>
              </a:lnSpc>
              <a:buNone/>
            </a:pPr>
            <a:r>
              <a:rPr lang="en-US" sz="1200" dirty="0">
                <a:solidFill>
                  <a:srgbClr val="FF0000"/>
                </a:solidFill>
                <a:latin typeface="Meiryo UI" pitchFamily="34" charset="0"/>
                <a:ea typeface="Meiryo UI" pitchFamily="34" charset="-122"/>
                <a:cs typeface="Meiryo UI" pitchFamily="34" charset="-120"/>
              </a:rPr>
              <a:t>【真因】AIEO Rate等の計測基盤がなく、危機も成果も「数字」で意思決定の場に届いていない ― まず測ることが第一歩</a:t>
            </a:r>
            <a:endParaRPr lang="en-US" sz="1200" dirty="0">
              <a:solidFill>
                <a:srgbClr val="FF0000"/>
              </a:solidFill>
            </a:endParaRPr>
          </a:p>
        </p:txBody>
      </p:sp>
      <p:sp>
        <p:nvSpPr>
          <p:cNvPr id="24" name="Text 21"/>
          <p:cNvSpPr/>
          <p:nvPr/>
        </p:nvSpPr>
        <p:spPr>
          <a:xfrm>
            <a:off x="8375904" y="5224111"/>
            <a:ext cx="3291840" cy="274320"/>
          </a:xfrm>
          <a:prstGeom prst="rect">
            <a:avLst/>
          </a:prstGeom>
          <a:noFill/>
          <a:ln/>
        </p:spPr>
        <p:txBody>
          <a:bodyPr wrap="square" lIns="0" tIns="0" rIns="0" bIns="0" rtlCol="0" anchor="ctr"/>
          <a:lstStyle/>
          <a:p>
            <a:pPr marL="0" indent="0">
              <a:buNone/>
            </a:pPr>
            <a:r>
              <a:rPr lang="en-US" sz="1050" b="1" dirty="0">
                <a:solidFill>
                  <a:srgbClr val="595959"/>
                </a:solidFill>
                <a:latin typeface="Meiryo UI" pitchFamily="34" charset="0"/>
                <a:ea typeface="Meiryo UI" pitchFamily="34" charset="-122"/>
                <a:cs typeface="Meiryo UI" pitchFamily="34" charset="-120"/>
              </a:rPr>
              <a:t>示唆：「切迫感の欠如」の根源は測定基盤の不在。</a:t>
            </a:r>
            <a:r>
              <a:rPr lang="en-US" sz="1050" b="1" dirty="0">
                <a:solidFill>
                  <a:schemeClr val="accent6"/>
                </a:solidFill>
                <a:latin typeface="Meiryo UI" pitchFamily="34" charset="0"/>
                <a:ea typeface="Meiryo UI" pitchFamily="34" charset="-122"/>
                <a:cs typeface="Meiryo UI" pitchFamily="34" charset="-120"/>
              </a:rPr>
              <a:t>KPI化が切迫感を生む。</a:t>
            </a:r>
            <a:endParaRPr lang="en-US" sz="1050" dirty="0">
              <a:solidFill>
                <a:schemeClr val="accent6"/>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219456" y="0"/>
            <a:ext cx="10332720" cy="914400"/>
          </a:xfrm>
          <a:prstGeom prst="rect">
            <a:avLst/>
          </a:prstGeom>
          <a:noFill/>
          <a:ln/>
        </p:spPr>
        <p:txBody>
          <a:bodyPr wrap="square" lIns="0" tIns="0" rIns="0" bIns="0" rtlCol="0" anchor="b" anchorCtr="0"/>
          <a:lstStyle/>
          <a:p>
            <a:r>
              <a:rPr lang="en-US" sz="1800" b="1" dirty="0">
                <a:solidFill>
                  <a:srgbClr val="000000"/>
                </a:solidFill>
                <a:latin typeface="Meiryo UI" pitchFamily="34" charset="0"/>
                <a:ea typeface="Meiryo UI" pitchFamily="34" charset="-122"/>
              </a:rPr>
              <a:t>アプローチと重点施策</a:t>
            </a:r>
            <a:endParaRPr lang="en-US" b="1" dirty="0">
              <a:solidFill>
                <a:srgbClr val="000000"/>
              </a:solidFill>
              <a:latin typeface="Meiryo UI" pitchFamily="34" charset="0"/>
              <a:ea typeface="Meiryo UI" pitchFamily="34" charset="-122"/>
            </a:endParaRPr>
          </a:p>
        </p:txBody>
      </p:sp>
      <p:pic>
        <p:nvPicPr>
          <p:cNvPr id="3" name="Image 0" descr="/home/claude/logo.png"/>
          <p:cNvPicPr>
            <a:picLocks noChangeAspect="1"/>
          </p:cNvPicPr>
          <p:nvPr/>
        </p:nvPicPr>
        <p:blipFill>
          <a:blip r:embed="rId3"/>
          <a:stretch>
            <a:fillRect/>
          </a:stretch>
        </p:blipFill>
        <p:spPr>
          <a:xfrm>
            <a:off x="10881360" y="201168"/>
            <a:ext cx="868680" cy="566928"/>
          </a:xfrm>
          <a:prstGeom prst="rect">
            <a:avLst/>
          </a:prstGeom>
        </p:spPr>
      </p:pic>
      <p:sp>
        <p:nvSpPr>
          <p:cNvPr id="4" name="Shape 1"/>
          <p:cNvSpPr/>
          <p:nvPr/>
        </p:nvSpPr>
        <p:spPr>
          <a:xfrm>
            <a:off x="0" y="914400"/>
            <a:ext cx="12188952" cy="0"/>
          </a:xfrm>
          <a:prstGeom prst="line">
            <a:avLst/>
          </a:prstGeom>
          <a:noFill/>
          <a:ln w="28575">
            <a:solidFill>
              <a:srgbClr val="008000"/>
            </a:solidFill>
            <a:prstDash val="solid"/>
          </a:ln>
        </p:spPr>
        <p:txBody>
          <a:bodyPr/>
          <a:lstStyle/>
          <a:p>
            <a:endParaRPr lang="ja-JP" altLang="en-US"/>
          </a:p>
        </p:txBody>
      </p:sp>
      <p:sp>
        <p:nvSpPr>
          <p:cNvPr id="5" name="Text 2"/>
          <p:cNvSpPr/>
          <p:nvPr/>
        </p:nvSpPr>
        <p:spPr>
          <a:xfrm>
            <a:off x="219456" y="1025968"/>
            <a:ext cx="11750040" cy="384048"/>
          </a:xfrm>
          <a:prstGeom prst="rect">
            <a:avLst/>
          </a:prstGeom>
          <a:noFill/>
          <a:ln/>
        </p:spPr>
        <p:txBody>
          <a:bodyPr wrap="square" lIns="0" tIns="0" rIns="0" bIns="0" rtlCol="0" anchor="ctr"/>
          <a:lstStyle/>
          <a:p>
            <a:pPr marL="0" indent="0">
              <a:buNone/>
            </a:pPr>
            <a:r>
              <a:rPr lang="en-US" dirty="0">
                <a:solidFill>
                  <a:srgbClr val="000000"/>
                </a:solidFill>
                <a:latin typeface="Meiryo UI" pitchFamily="34" charset="0"/>
                <a:ea typeface="Meiryo UI" pitchFamily="34" charset="-122"/>
                <a:cs typeface="Meiryo UI" pitchFamily="34" charset="-120"/>
              </a:rPr>
              <a:t>4つのGAPを埋めるアプローチ（戦略基本方針）と、Whatレベルの重点施策（4テーマ×8施策）の全体像を示す。</a:t>
            </a:r>
          </a:p>
          <a:p>
            <a:pPr marL="0" indent="0">
              <a:buNone/>
            </a:pPr>
            <a:r>
              <a:rPr lang="en-US" dirty="0">
                <a:solidFill>
                  <a:srgbClr val="000000"/>
                </a:solidFill>
                <a:latin typeface="Meiryo UI" pitchFamily="34" charset="0"/>
                <a:ea typeface="Meiryo UI" pitchFamily="34" charset="-122"/>
                <a:cs typeface="Meiryo UI" pitchFamily="34" charset="-120"/>
              </a:rPr>
              <a:t>Howレベルの主要アクションは各テーマスライドに補足。</a:t>
            </a:r>
            <a:endParaRPr lang="en-US" sz="4000" dirty="0"/>
          </a:p>
        </p:txBody>
      </p:sp>
      <p:sp>
        <p:nvSpPr>
          <p:cNvPr id="6" name="Text 3"/>
          <p:cNvSpPr/>
          <p:nvPr/>
        </p:nvSpPr>
        <p:spPr>
          <a:xfrm>
            <a:off x="11658600" y="6528816"/>
            <a:ext cx="411480" cy="274320"/>
          </a:xfrm>
          <a:prstGeom prst="rect">
            <a:avLst/>
          </a:prstGeom>
          <a:noFill/>
          <a:ln/>
        </p:spPr>
        <p:txBody>
          <a:bodyPr wrap="square" lIns="0" tIns="0" rIns="0" bIns="0" rtlCol="0" anchor="ctr"/>
          <a:lstStyle/>
          <a:p>
            <a:pPr marL="0" indent="0" algn="r">
              <a:buNone/>
            </a:pPr>
            <a:r>
              <a:rPr lang="en-US" sz="1000" b="0" dirty="0">
                <a:solidFill>
                  <a:srgbClr val="595959"/>
                </a:solidFill>
                <a:latin typeface="Meiryo UI" pitchFamily="34" charset="0"/>
                <a:ea typeface="Meiryo UI" pitchFamily="34" charset="-122"/>
                <a:cs typeface="Meiryo UI" pitchFamily="34" charset="-120"/>
              </a:rPr>
              <a:t>3</a:t>
            </a:r>
            <a:endParaRPr lang="en-US" sz="1000" dirty="0"/>
          </a:p>
        </p:txBody>
      </p:sp>
      <p:sp>
        <p:nvSpPr>
          <p:cNvPr id="7" name="Text 4"/>
          <p:cNvSpPr/>
          <p:nvPr/>
        </p:nvSpPr>
        <p:spPr>
          <a:xfrm>
            <a:off x="219456" y="6556248"/>
            <a:ext cx="8229600" cy="228600"/>
          </a:xfrm>
          <a:prstGeom prst="rect">
            <a:avLst/>
          </a:prstGeom>
          <a:noFill/>
          <a:ln/>
        </p:spPr>
        <p:txBody>
          <a:bodyPr wrap="square" lIns="0" tIns="0" rIns="0" bIns="0" rtlCol="0" anchor="ctr"/>
          <a:lstStyle/>
          <a:p>
            <a:pPr marL="0" indent="0">
              <a:buNone/>
            </a:pPr>
            <a:r>
              <a:rPr lang="en-US" sz="750" dirty="0">
                <a:solidFill>
                  <a:srgbClr val="595959"/>
                </a:solidFill>
                <a:latin typeface="Meiryo UI" pitchFamily="34" charset="0"/>
                <a:ea typeface="Meiryo UI" pitchFamily="34" charset="-122"/>
                <a:cs typeface="Meiryo UI" pitchFamily="34" charset="-120"/>
              </a:rPr>
              <a:t>LION Corporation ｜ 営業・マーケティングDX戦略 検討アジェンダ（P.6「真因・GAP分析」後続）</a:t>
            </a:r>
            <a:endParaRPr lang="en-US" sz="750" dirty="0"/>
          </a:p>
        </p:txBody>
      </p:sp>
      <p:sp>
        <p:nvSpPr>
          <p:cNvPr id="8" name="Shape 5"/>
          <p:cNvSpPr/>
          <p:nvPr/>
        </p:nvSpPr>
        <p:spPr>
          <a:xfrm>
            <a:off x="157009" y="1894648"/>
            <a:ext cx="4663440" cy="4297680"/>
          </a:xfrm>
          <a:prstGeom prst="roundRect">
            <a:avLst>
              <a:gd name="adj" fmla="val 1064"/>
            </a:avLst>
          </a:prstGeom>
          <a:solidFill>
            <a:srgbClr val="F2F2F2"/>
          </a:solidFill>
          <a:ln w="9525">
            <a:solidFill>
              <a:srgbClr val="BFBFBF"/>
            </a:solidFill>
            <a:prstDash val="solid"/>
          </a:ln>
        </p:spPr>
        <p:txBody>
          <a:bodyPr/>
          <a:lstStyle/>
          <a:p>
            <a:endParaRPr lang="ja-JP" altLang="en-US"/>
          </a:p>
        </p:txBody>
      </p:sp>
      <p:sp>
        <p:nvSpPr>
          <p:cNvPr id="9" name="Text 6"/>
          <p:cNvSpPr/>
          <p:nvPr/>
        </p:nvSpPr>
        <p:spPr>
          <a:xfrm>
            <a:off x="385609" y="2077528"/>
            <a:ext cx="4663440" cy="320040"/>
          </a:xfrm>
          <a:prstGeom prst="rect">
            <a:avLst/>
          </a:prstGeom>
          <a:noFill/>
          <a:ln/>
        </p:spPr>
        <p:txBody>
          <a:bodyPr wrap="square" lIns="0" tIns="0" rIns="0" bIns="0" rtlCol="0" anchor="ctr"/>
          <a:lstStyle/>
          <a:p>
            <a:pPr marL="0" indent="0">
              <a:buNone/>
            </a:pPr>
            <a:r>
              <a:rPr lang="en-US" sz="1200" b="1" dirty="0">
                <a:solidFill>
                  <a:srgbClr val="008D2E"/>
                </a:solidFill>
                <a:latin typeface="Meiryo UI" pitchFamily="34" charset="0"/>
                <a:ea typeface="Meiryo UI" pitchFamily="34" charset="-122"/>
                <a:cs typeface="Meiryo UI" pitchFamily="34" charset="-120"/>
              </a:rPr>
              <a:t>層構造の位置づけ</a:t>
            </a:r>
            <a:endParaRPr lang="en-US" sz="1300" dirty="0"/>
          </a:p>
        </p:txBody>
      </p:sp>
      <p:sp>
        <p:nvSpPr>
          <p:cNvPr id="11" name="Text 8"/>
          <p:cNvSpPr/>
          <p:nvPr/>
        </p:nvSpPr>
        <p:spPr>
          <a:xfrm>
            <a:off x="385609" y="5552248"/>
            <a:ext cx="4663440" cy="502920"/>
          </a:xfrm>
          <a:prstGeom prst="rect">
            <a:avLst/>
          </a:prstGeom>
          <a:noFill/>
          <a:ln/>
        </p:spPr>
        <p:txBody>
          <a:bodyPr wrap="square" lIns="0" tIns="0" rIns="0" bIns="0" rtlCol="0" anchor="ctr"/>
          <a:lstStyle/>
          <a:p>
            <a:pPr marL="0" indent="0">
              <a:buNone/>
            </a:pPr>
            <a:r>
              <a:rPr lang="en-US" sz="900" i="1" dirty="0">
                <a:solidFill>
                  <a:srgbClr val="595959"/>
                </a:solidFill>
                <a:latin typeface="Meiryo UI" pitchFamily="34" charset="0"/>
                <a:ea typeface="Meiryo UI" pitchFamily="34" charset="-122"/>
                <a:cs typeface="Meiryo UI" pitchFamily="34" charset="-120"/>
              </a:rPr>
              <a:t>※ テーマ・アプローチはWhyレベル、重点施策はWhatレベル、主要アクションはHowレベルで整理</a:t>
            </a:r>
            <a:endParaRPr lang="en-US" sz="950" dirty="0"/>
          </a:p>
        </p:txBody>
      </p:sp>
      <p:sp>
        <p:nvSpPr>
          <p:cNvPr id="12" name="Shape 9"/>
          <p:cNvSpPr/>
          <p:nvPr/>
        </p:nvSpPr>
        <p:spPr>
          <a:xfrm>
            <a:off x="4354105" y="3677728"/>
            <a:ext cx="777240" cy="685800"/>
          </a:xfrm>
          <a:prstGeom prst="rightArrow">
            <a:avLst/>
          </a:prstGeom>
          <a:solidFill>
            <a:srgbClr val="008D2E"/>
          </a:solidFill>
          <a:ln/>
        </p:spPr>
        <p:txBody>
          <a:bodyPr/>
          <a:lstStyle/>
          <a:p>
            <a:endParaRPr lang="ja-JP" altLang="en-US"/>
          </a:p>
        </p:txBody>
      </p:sp>
      <p:sp>
        <p:nvSpPr>
          <p:cNvPr id="13" name="Shape 10"/>
          <p:cNvSpPr/>
          <p:nvPr/>
        </p:nvSpPr>
        <p:spPr>
          <a:xfrm>
            <a:off x="5277649" y="1878416"/>
            <a:ext cx="6563831" cy="4297680"/>
          </a:xfrm>
          <a:prstGeom prst="roundRect">
            <a:avLst>
              <a:gd name="adj" fmla="val 1064"/>
            </a:avLst>
          </a:prstGeom>
          <a:solidFill>
            <a:srgbClr val="FFFFFF"/>
          </a:solidFill>
          <a:ln w="19050">
            <a:solidFill>
              <a:srgbClr val="008D2E"/>
            </a:solidFill>
            <a:prstDash val="solid"/>
          </a:ln>
        </p:spPr>
        <p:txBody>
          <a:bodyPr/>
          <a:lstStyle/>
          <a:p>
            <a:endParaRPr lang="ja-JP" altLang="en-US"/>
          </a:p>
        </p:txBody>
      </p:sp>
      <p:sp>
        <p:nvSpPr>
          <p:cNvPr id="14" name="Text 11"/>
          <p:cNvSpPr/>
          <p:nvPr/>
        </p:nvSpPr>
        <p:spPr>
          <a:xfrm>
            <a:off x="5429693" y="2034999"/>
            <a:ext cx="4892040" cy="320040"/>
          </a:xfrm>
          <a:prstGeom prst="rect">
            <a:avLst/>
          </a:prstGeom>
          <a:noFill/>
          <a:ln/>
        </p:spPr>
        <p:txBody>
          <a:bodyPr wrap="square" lIns="0" tIns="0" rIns="0" bIns="0" rtlCol="0" anchor="ctr"/>
          <a:lstStyle/>
          <a:p>
            <a:pPr marL="0" indent="0">
              <a:buNone/>
            </a:pPr>
            <a:r>
              <a:rPr lang="en-US" sz="1300" b="1" dirty="0">
                <a:solidFill>
                  <a:srgbClr val="01953D"/>
                </a:solidFill>
                <a:latin typeface="Meiryo UI" pitchFamily="34" charset="0"/>
                <a:ea typeface="Meiryo UI" pitchFamily="34" charset="-122"/>
                <a:cs typeface="Meiryo UI" pitchFamily="34" charset="-120"/>
              </a:rPr>
              <a:t>4テーマ × 8重点施策 一覧</a:t>
            </a:r>
            <a:endParaRPr lang="en-US" sz="1300" dirty="0"/>
          </a:p>
        </p:txBody>
      </p:sp>
      <p:sp>
        <p:nvSpPr>
          <p:cNvPr id="15" name="Text 12"/>
          <p:cNvSpPr/>
          <p:nvPr/>
        </p:nvSpPr>
        <p:spPr>
          <a:xfrm>
            <a:off x="5429692" y="2429002"/>
            <a:ext cx="6247195" cy="216273"/>
          </a:xfrm>
          <a:prstGeom prst="roundRect">
            <a:avLst>
              <a:gd name="adj" fmla="val 10000"/>
            </a:avLst>
          </a:prstGeom>
          <a:solidFill>
            <a:srgbClr val="008000"/>
          </a:solidFill>
          <a:ln/>
        </p:spPr>
        <p:txBody>
          <a:bodyPr wrap="square" lIns="0" tIns="0" rIns="0" bIns="0" rtlCol="0" anchor="ctr"/>
          <a:lstStyle/>
          <a:p>
            <a:r>
              <a:rPr lang="en-US" sz="1300" b="1" dirty="0">
                <a:solidFill>
                  <a:schemeClr val="bg1"/>
                </a:solidFill>
                <a:latin typeface="Meiryo UI" pitchFamily="34" charset="0"/>
                <a:ea typeface="Meiryo UI" pitchFamily="34" charset="-122"/>
                <a:cs typeface="Meiryo UI" pitchFamily="34" charset="-120"/>
              </a:rPr>
              <a:t>T1</a:t>
            </a:r>
            <a:r>
              <a:rPr lang="ja-JP" altLang="en-US" sz="1300" b="1" dirty="0">
                <a:solidFill>
                  <a:schemeClr val="bg1"/>
                </a:solidFill>
                <a:latin typeface="Meiryo UI" pitchFamily="34" charset="0"/>
                <a:ea typeface="Meiryo UI" pitchFamily="34" charset="-122"/>
                <a:cs typeface="Meiryo UI" pitchFamily="34" charset="-120"/>
              </a:rPr>
              <a:t>：</a:t>
            </a:r>
            <a:r>
              <a:rPr lang="en-US" altLang="ja-JP" sz="1400" b="1" dirty="0">
                <a:solidFill>
                  <a:schemeClr val="bg1"/>
                </a:solidFill>
                <a:latin typeface="Meiryo UI" pitchFamily="34" charset="0"/>
                <a:ea typeface="Meiryo UI" pitchFamily="34" charset="-122"/>
                <a:cs typeface="Meiryo UI" pitchFamily="34" charset="-120"/>
              </a:rPr>
              <a:t>勝てる土俵の再定義 × AI時代のブランド生存権</a:t>
            </a:r>
            <a:endParaRPr lang="en-US" altLang="ja-JP" sz="1400" dirty="0">
              <a:solidFill>
                <a:schemeClr val="bg1"/>
              </a:solidFill>
            </a:endParaRPr>
          </a:p>
        </p:txBody>
      </p:sp>
      <p:sp>
        <p:nvSpPr>
          <p:cNvPr id="16" name="Text 13"/>
          <p:cNvSpPr/>
          <p:nvPr/>
        </p:nvSpPr>
        <p:spPr>
          <a:xfrm>
            <a:off x="5429693" y="2606021"/>
            <a:ext cx="5359678" cy="716322"/>
          </a:xfrm>
          <a:prstGeom prst="rect">
            <a:avLst/>
          </a:prstGeom>
          <a:noFill/>
          <a:ln/>
        </p:spPr>
        <p:txBody>
          <a:bodyPr wrap="square" lIns="0" tIns="0" rIns="0" bIns="0" rtlCol="0" anchor="ctr"/>
          <a:lstStyle/>
          <a:p>
            <a:pPr marL="0" indent="0">
              <a:lnSpc>
                <a:spcPts val="1300"/>
              </a:lnSpc>
              <a:buNone/>
            </a:pPr>
            <a:r>
              <a:rPr lang="en-US" sz="1150" b="1" dirty="0">
                <a:solidFill>
                  <a:srgbClr val="000000"/>
                </a:solidFill>
                <a:latin typeface="Meiryo UI" pitchFamily="34" charset="0"/>
                <a:ea typeface="Meiryo UI" pitchFamily="34" charset="-122"/>
                <a:cs typeface="Meiryo UI" pitchFamily="34" charset="-120"/>
              </a:rPr>
              <a:t>アプローチ：</a:t>
            </a:r>
            <a:r>
              <a:rPr lang="ja-JP" altLang="en-US" sz="1150" b="1" dirty="0">
                <a:solidFill>
                  <a:srgbClr val="000000"/>
                </a:solidFill>
                <a:latin typeface="Meiryo UI" pitchFamily="34" charset="0"/>
                <a:ea typeface="Meiryo UI" pitchFamily="34" charset="-122"/>
                <a:cs typeface="Meiryo UI" pitchFamily="34" charset="-120"/>
              </a:rPr>
              <a:t>データに基づく選択と集中</a:t>
            </a:r>
            <a:r>
              <a:rPr lang="en-US" sz="1150" b="1" dirty="0">
                <a:solidFill>
                  <a:srgbClr val="000000"/>
                </a:solidFill>
                <a:latin typeface="Meiryo UI" pitchFamily="34" charset="0"/>
                <a:ea typeface="Meiryo UI" pitchFamily="34" charset="-122"/>
                <a:cs typeface="Meiryo UI" pitchFamily="34" charset="-120"/>
              </a:rPr>
              <a:t> ＋ AI購買インフラ先行参入</a:t>
            </a:r>
            <a:endParaRPr lang="en-US" sz="1150" dirty="0"/>
          </a:p>
          <a:p>
            <a:pPr marL="0" indent="0">
              <a:lnSpc>
                <a:spcPts val="1300"/>
              </a:lnSpc>
              <a:buNone/>
            </a:pPr>
            <a:r>
              <a:rPr lang="ja-JP" altLang="en-US" sz="1150" b="1" dirty="0">
                <a:solidFill>
                  <a:srgbClr val="000000"/>
                </a:solidFill>
                <a:latin typeface="Meiryo UI" pitchFamily="34" charset="0"/>
                <a:ea typeface="Meiryo UI" pitchFamily="34" charset="-122"/>
                <a:cs typeface="Meiryo UI" pitchFamily="34" charset="-120"/>
              </a:rPr>
              <a:t>　</a:t>
            </a:r>
            <a:r>
              <a:rPr lang="en-US" sz="1150" b="1" dirty="0">
                <a:solidFill>
                  <a:srgbClr val="000000"/>
                </a:solidFill>
                <a:latin typeface="Meiryo UI" pitchFamily="34" charset="0"/>
                <a:ea typeface="Meiryo UI" pitchFamily="34" charset="-122"/>
                <a:cs typeface="Meiryo UI" pitchFamily="34" charset="-120"/>
              </a:rPr>
              <a:t>施策①</a:t>
            </a:r>
            <a:r>
              <a:rPr lang="ja-JP" altLang="en-US" sz="1150" b="1" dirty="0">
                <a:solidFill>
                  <a:srgbClr val="000000"/>
                </a:solidFill>
                <a:latin typeface="Meiryo UI" pitchFamily="34" charset="0"/>
                <a:ea typeface="Meiryo UI" pitchFamily="34" charset="-122"/>
                <a:cs typeface="Meiryo UI" pitchFamily="34" charset="-120"/>
              </a:rPr>
              <a:t>経営管理高度化との連携によるデータ活用</a:t>
            </a:r>
            <a:endParaRPr lang="en-US" sz="1150" b="1" dirty="0">
              <a:solidFill>
                <a:srgbClr val="000000"/>
              </a:solidFill>
              <a:latin typeface="Meiryo UI" pitchFamily="34" charset="0"/>
              <a:ea typeface="Meiryo UI" pitchFamily="34" charset="-122"/>
              <a:cs typeface="Meiryo UI" pitchFamily="34" charset="-120"/>
            </a:endParaRPr>
          </a:p>
          <a:p>
            <a:pPr marL="0" indent="0">
              <a:lnSpc>
                <a:spcPts val="1300"/>
              </a:lnSpc>
              <a:buNone/>
            </a:pPr>
            <a:r>
              <a:rPr lang="ja-JP" altLang="en-US" sz="1150" b="1" dirty="0">
                <a:solidFill>
                  <a:srgbClr val="000000"/>
                </a:solidFill>
                <a:latin typeface="Meiryo UI" pitchFamily="34" charset="0"/>
                <a:ea typeface="Meiryo UI" pitchFamily="34" charset="-122"/>
                <a:cs typeface="Meiryo UI" pitchFamily="34" charset="-120"/>
              </a:rPr>
              <a:t>　</a:t>
            </a:r>
            <a:r>
              <a:rPr lang="en-US" sz="1150" b="1" dirty="0">
                <a:solidFill>
                  <a:srgbClr val="000000"/>
                </a:solidFill>
                <a:latin typeface="Meiryo UI" pitchFamily="34" charset="0"/>
                <a:ea typeface="Meiryo UI" pitchFamily="34" charset="-122"/>
                <a:cs typeface="Meiryo UI" pitchFamily="34" charset="-120"/>
              </a:rPr>
              <a:t>施策②AI</a:t>
            </a:r>
            <a:r>
              <a:rPr lang="en-US" altLang="ja-JP" sz="1150" b="1" dirty="0">
                <a:solidFill>
                  <a:srgbClr val="000000"/>
                </a:solidFill>
                <a:latin typeface="Meiryo UI" pitchFamily="34" charset="0"/>
                <a:ea typeface="Meiryo UI" pitchFamily="34" charset="-122"/>
                <a:cs typeface="Meiryo UI" pitchFamily="34" charset="-120"/>
              </a:rPr>
              <a:t>EO</a:t>
            </a:r>
            <a:r>
              <a:rPr lang="ja-JP" altLang="en-US" sz="1150" b="1" dirty="0">
                <a:solidFill>
                  <a:srgbClr val="000000"/>
                </a:solidFill>
                <a:latin typeface="Meiryo UI" pitchFamily="34" charset="0"/>
                <a:ea typeface="Meiryo UI" pitchFamily="34" charset="-122"/>
                <a:cs typeface="Meiryo UI" pitchFamily="34" charset="-120"/>
              </a:rPr>
              <a:t>・エージェントコマース対応</a:t>
            </a:r>
            <a:endParaRPr lang="en-US" sz="1150" dirty="0"/>
          </a:p>
        </p:txBody>
      </p:sp>
      <p:sp>
        <p:nvSpPr>
          <p:cNvPr id="17" name="Text 14"/>
          <p:cNvSpPr/>
          <p:nvPr/>
        </p:nvSpPr>
        <p:spPr>
          <a:xfrm>
            <a:off x="5429692" y="3330181"/>
            <a:ext cx="6247195" cy="216273"/>
          </a:xfrm>
          <a:prstGeom prst="roundRect">
            <a:avLst>
              <a:gd name="adj" fmla="val 10000"/>
            </a:avLst>
          </a:prstGeom>
          <a:solidFill>
            <a:srgbClr val="008000"/>
          </a:solidFill>
          <a:ln/>
        </p:spPr>
        <p:txBody>
          <a:bodyPr wrap="square" lIns="0" tIns="0" rIns="0" bIns="0" rtlCol="0" anchor="ctr"/>
          <a:lstStyle/>
          <a:p>
            <a:r>
              <a:rPr lang="en-US" sz="1300" b="1" dirty="0">
                <a:solidFill>
                  <a:schemeClr val="bg1"/>
                </a:solidFill>
                <a:latin typeface="Meiryo UI" pitchFamily="34" charset="0"/>
                <a:ea typeface="Meiryo UI" pitchFamily="34" charset="-122"/>
                <a:cs typeface="Meiryo UI" pitchFamily="34" charset="-120"/>
              </a:rPr>
              <a:t>T2</a:t>
            </a:r>
            <a:r>
              <a:rPr lang="ja-JP" altLang="en-US" sz="1300" b="1" dirty="0">
                <a:solidFill>
                  <a:schemeClr val="bg1"/>
                </a:solidFill>
                <a:latin typeface="Meiryo UI" pitchFamily="34" charset="0"/>
                <a:ea typeface="Meiryo UI" pitchFamily="34" charset="-122"/>
                <a:cs typeface="Meiryo UI" pitchFamily="34" charset="-120"/>
              </a:rPr>
              <a:t>：</a:t>
            </a:r>
            <a:r>
              <a:rPr lang="en-US" altLang="ja-JP" sz="1400" b="1" dirty="0">
                <a:solidFill>
                  <a:schemeClr val="bg1"/>
                </a:solidFill>
                <a:latin typeface="Meiryo UI" pitchFamily="34" charset="0"/>
                <a:ea typeface="Meiryo UI" pitchFamily="34" charset="-122"/>
                <a:cs typeface="Meiryo UI" pitchFamily="34" charset="-120"/>
              </a:rPr>
              <a:t> 小売との共創型データ戦略</a:t>
            </a:r>
            <a:endParaRPr lang="en-US" sz="1300" dirty="0">
              <a:solidFill>
                <a:schemeClr val="bg1"/>
              </a:solidFill>
            </a:endParaRPr>
          </a:p>
        </p:txBody>
      </p:sp>
      <p:sp>
        <p:nvSpPr>
          <p:cNvPr id="18" name="Text 15"/>
          <p:cNvSpPr/>
          <p:nvPr/>
        </p:nvSpPr>
        <p:spPr>
          <a:xfrm>
            <a:off x="5429693" y="3507043"/>
            <a:ext cx="5359678" cy="716322"/>
          </a:xfrm>
          <a:prstGeom prst="rect">
            <a:avLst/>
          </a:prstGeom>
          <a:noFill/>
          <a:ln/>
        </p:spPr>
        <p:txBody>
          <a:bodyPr wrap="square" lIns="0" tIns="0" rIns="0" bIns="0" rtlCol="0" anchor="ctr"/>
          <a:lstStyle/>
          <a:p>
            <a:pPr marL="0" indent="0">
              <a:lnSpc>
                <a:spcPts val="1300"/>
              </a:lnSpc>
              <a:buNone/>
            </a:pPr>
            <a:r>
              <a:rPr lang="en-US" sz="1150" b="1" dirty="0">
                <a:solidFill>
                  <a:srgbClr val="000000"/>
                </a:solidFill>
                <a:latin typeface="Meiryo UI" pitchFamily="34" charset="0"/>
                <a:ea typeface="Meiryo UI" pitchFamily="34" charset="-122"/>
                <a:cs typeface="Meiryo UI" pitchFamily="34" charset="-120"/>
              </a:rPr>
              <a:t>アプローチ：リテールメディア全投資転換 ＋ 専門ニッチデータ直接蓄積の二階建て</a:t>
            </a:r>
            <a:endParaRPr lang="en-US" sz="1150" dirty="0"/>
          </a:p>
          <a:p>
            <a:pPr marL="0" indent="0">
              <a:lnSpc>
                <a:spcPts val="1300"/>
              </a:lnSpc>
              <a:buNone/>
            </a:pPr>
            <a:r>
              <a:rPr lang="ja-JP" altLang="en-US" sz="1150" b="1" dirty="0">
                <a:solidFill>
                  <a:srgbClr val="000000"/>
                </a:solidFill>
                <a:latin typeface="Meiryo UI" pitchFamily="34" charset="0"/>
                <a:ea typeface="Meiryo UI" pitchFamily="34" charset="-122"/>
                <a:cs typeface="Meiryo UI" pitchFamily="34" charset="-120"/>
              </a:rPr>
              <a:t>　</a:t>
            </a:r>
            <a:r>
              <a:rPr lang="en-US" sz="1150" b="1" dirty="0">
                <a:solidFill>
                  <a:srgbClr val="000000"/>
                </a:solidFill>
                <a:latin typeface="Meiryo UI" pitchFamily="34" charset="0"/>
                <a:ea typeface="Meiryo UI" pitchFamily="34" charset="-122"/>
                <a:cs typeface="Meiryo UI" pitchFamily="34" charset="-120"/>
              </a:rPr>
              <a:t>施策</a:t>
            </a:r>
            <a:r>
              <a:rPr lang="ja-JP" altLang="en-US" sz="1150" b="1" dirty="0">
                <a:solidFill>
                  <a:srgbClr val="000000"/>
                </a:solidFill>
                <a:latin typeface="Meiryo UI" pitchFamily="34" charset="0"/>
                <a:ea typeface="Meiryo UI" pitchFamily="34" charset="-122"/>
                <a:cs typeface="Meiryo UI" pitchFamily="34" charset="-120"/>
              </a:rPr>
              <a:t>③</a:t>
            </a:r>
            <a:r>
              <a:rPr lang="en-US" sz="1150" b="1" dirty="0">
                <a:solidFill>
                  <a:srgbClr val="000000"/>
                </a:solidFill>
                <a:latin typeface="Meiryo UI" pitchFamily="34" charset="0"/>
                <a:ea typeface="Meiryo UI" pitchFamily="34" charset="-122"/>
                <a:cs typeface="Meiryo UI" pitchFamily="34" charset="-120"/>
              </a:rPr>
              <a:t>JBP化×Total Availability　</a:t>
            </a:r>
            <a:r>
              <a:rPr lang="ja-JP" altLang="en-US" sz="1150" b="1" dirty="0">
                <a:solidFill>
                  <a:srgbClr val="000000"/>
                </a:solidFill>
                <a:latin typeface="Meiryo UI" pitchFamily="34" charset="0"/>
                <a:ea typeface="Meiryo UI" pitchFamily="34" charset="-122"/>
                <a:cs typeface="Meiryo UI" pitchFamily="34" charset="-120"/>
              </a:rPr>
              <a:t>　</a:t>
            </a:r>
            <a:endParaRPr lang="en-US" sz="1150" b="1" dirty="0">
              <a:solidFill>
                <a:srgbClr val="000000"/>
              </a:solidFill>
              <a:latin typeface="Meiryo UI" pitchFamily="34" charset="0"/>
              <a:ea typeface="Meiryo UI" pitchFamily="34" charset="-122"/>
              <a:cs typeface="Meiryo UI" pitchFamily="34" charset="-120"/>
            </a:endParaRPr>
          </a:p>
          <a:p>
            <a:pPr marL="0" indent="0">
              <a:lnSpc>
                <a:spcPts val="1300"/>
              </a:lnSpc>
              <a:buNone/>
            </a:pPr>
            <a:r>
              <a:rPr lang="ja-JP" altLang="en-US" sz="1150" b="1" dirty="0">
                <a:solidFill>
                  <a:srgbClr val="000000"/>
                </a:solidFill>
                <a:latin typeface="Meiryo UI" pitchFamily="34" charset="0"/>
                <a:ea typeface="Meiryo UI" pitchFamily="34" charset="-122"/>
                <a:cs typeface="Meiryo UI" pitchFamily="34" charset="-120"/>
              </a:rPr>
              <a:t>　</a:t>
            </a:r>
            <a:r>
              <a:rPr lang="en-US" sz="1150" b="1" dirty="0">
                <a:solidFill>
                  <a:srgbClr val="000000"/>
                </a:solidFill>
                <a:latin typeface="Meiryo UI" pitchFamily="34" charset="0"/>
                <a:ea typeface="Meiryo UI" pitchFamily="34" charset="-122"/>
                <a:cs typeface="Meiryo UI" pitchFamily="34" charset="-120"/>
              </a:rPr>
              <a:t>施策</a:t>
            </a:r>
            <a:r>
              <a:rPr lang="ja-JP" altLang="en-US" sz="1150" b="1" dirty="0">
                <a:solidFill>
                  <a:srgbClr val="000000"/>
                </a:solidFill>
                <a:latin typeface="Meiryo UI" pitchFamily="34" charset="0"/>
                <a:ea typeface="Meiryo UI" pitchFamily="34" charset="-122"/>
                <a:cs typeface="Meiryo UI" pitchFamily="34" charset="-120"/>
              </a:rPr>
              <a:t>④</a:t>
            </a:r>
            <a:r>
              <a:rPr lang="en-US" sz="1150" b="1" dirty="0">
                <a:solidFill>
                  <a:srgbClr val="000000"/>
                </a:solidFill>
                <a:latin typeface="Meiryo UI" pitchFamily="34" charset="0"/>
                <a:ea typeface="Meiryo UI" pitchFamily="34" charset="-122"/>
                <a:cs typeface="Meiryo UI" pitchFamily="34" charset="-120"/>
              </a:rPr>
              <a:t>LION ID口腔健康OS化</a:t>
            </a:r>
            <a:endParaRPr lang="en-US" sz="1150" dirty="0"/>
          </a:p>
        </p:txBody>
      </p:sp>
      <p:sp>
        <p:nvSpPr>
          <p:cNvPr id="19" name="Text 16"/>
          <p:cNvSpPr/>
          <p:nvPr/>
        </p:nvSpPr>
        <p:spPr>
          <a:xfrm>
            <a:off x="5429692" y="4231360"/>
            <a:ext cx="6247195" cy="216273"/>
          </a:xfrm>
          <a:prstGeom prst="roundRect">
            <a:avLst>
              <a:gd name="adj" fmla="val 10000"/>
            </a:avLst>
          </a:prstGeom>
          <a:solidFill>
            <a:srgbClr val="008000"/>
          </a:solidFill>
          <a:ln/>
        </p:spPr>
        <p:txBody>
          <a:bodyPr wrap="square" lIns="0" tIns="0" rIns="0" bIns="0" rtlCol="0" anchor="ctr"/>
          <a:lstStyle/>
          <a:p>
            <a:r>
              <a:rPr lang="en-US" sz="1300" b="1" dirty="0">
                <a:solidFill>
                  <a:schemeClr val="bg1"/>
                </a:solidFill>
                <a:latin typeface="Meiryo UI" pitchFamily="34" charset="0"/>
                <a:ea typeface="Meiryo UI" pitchFamily="34" charset="-122"/>
                <a:cs typeface="Meiryo UI" pitchFamily="34" charset="-120"/>
              </a:rPr>
              <a:t>T3</a:t>
            </a:r>
            <a:r>
              <a:rPr lang="ja-JP" altLang="en-US" sz="1300" b="1" dirty="0">
                <a:solidFill>
                  <a:schemeClr val="bg1"/>
                </a:solidFill>
                <a:latin typeface="Meiryo UI" pitchFamily="34" charset="0"/>
                <a:ea typeface="Meiryo UI" pitchFamily="34" charset="-122"/>
                <a:cs typeface="Meiryo UI" pitchFamily="34" charset="-120"/>
              </a:rPr>
              <a:t>：</a:t>
            </a:r>
            <a:r>
              <a:rPr lang="en-US" altLang="ja-JP" sz="1400" b="1" dirty="0">
                <a:solidFill>
                  <a:schemeClr val="bg1"/>
                </a:solidFill>
                <a:latin typeface="Meiryo UI" pitchFamily="34" charset="0"/>
                <a:ea typeface="Meiryo UI" pitchFamily="34" charset="-122"/>
              </a:rPr>
              <a:t> 商談価値の革新</a:t>
            </a:r>
            <a:endParaRPr lang="en-US" sz="1300" dirty="0">
              <a:solidFill>
                <a:schemeClr val="bg1"/>
              </a:solidFill>
            </a:endParaRPr>
          </a:p>
        </p:txBody>
      </p:sp>
      <p:sp>
        <p:nvSpPr>
          <p:cNvPr id="20" name="Text 17"/>
          <p:cNvSpPr/>
          <p:nvPr/>
        </p:nvSpPr>
        <p:spPr>
          <a:xfrm>
            <a:off x="5429693" y="4408065"/>
            <a:ext cx="5786451" cy="716322"/>
          </a:xfrm>
          <a:prstGeom prst="rect">
            <a:avLst/>
          </a:prstGeom>
          <a:noFill/>
          <a:ln/>
        </p:spPr>
        <p:txBody>
          <a:bodyPr wrap="square" lIns="0" tIns="0" rIns="0" bIns="0" rtlCol="0" anchor="ctr"/>
          <a:lstStyle/>
          <a:p>
            <a:pPr marL="0" indent="0">
              <a:lnSpc>
                <a:spcPts val="1300"/>
              </a:lnSpc>
              <a:buNone/>
            </a:pPr>
            <a:r>
              <a:rPr lang="en-US" sz="1150" b="1" dirty="0">
                <a:solidFill>
                  <a:srgbClr val="000000"/>
                </a:solidFill>
                <a:latin typeface="Meiryo UI" pitchFamily="34" charset="0"/>
                <a:ea typeface="Meiryo UI" pitchFamily="34" charset="-122"/>
                <a:cs typeface="Meiryo UI" pitchFamily="34" charset="-120"/>
              </a:rPr>
              <a:t>アプローチ：</a:t>
            </a:r>
            <a:r>
              <a:rPr lang="ja-JP" altLang="en-US" sz="1150" b="1" dirty="0">
                <a:solidFill>
                  <a:srgbClr val="000000"/>
                </a:solidFill>
                <a:latin typeface="Meiryo UI" pitchFamily="34" charset="0"/>
                <a:ea typeface="Meiryo UI" pitchFamily="34" charset="-122"/>
                <a:cs typeface="Meiryo UI" pitchFamily="34" charset="-120"/>
              </a:rPr>
              <a:t>臨床・行動データを統合し、付加価値データをバイヤーへ供給</a:t>
            </a:r>
            <a:endParaRPr lang="en-US" sz="1150" dirty="0"/>
          </a:p>
          <a:p>
            <a:pPr marL="0" indent="0">
              <a:lnSpc>
                <a:spcPts val="1300"/>
              </a:lnSpc>
              <a:buNone/>
            </a:pPr>
            <a:r>
              <a:rPr lang="ja-JP" altLang="en-US" sz="1150" b="1" dirty="0">
                <a:solidFill>
                  <a:srgbClr val="000000"/>
                </a:solidFill>
                <a:latin typeface="Meiryo UI" pitchFamily="34" charset="0"/>
                <a:ea typeface="Meiryo UI" pitchFamily="34" charset="-122"/>
                <a:cs typeface="Meiryo UI" pitchFamily="34" charset="-120"/>
              </a:rPr>
              <a:t>　</a:t>
            </a:r>
            <a:r>
              <a:rPr lang="en-US" sz="1150" b="1" dirty="0">
                <a:solidFill>
                  <a:srgbClr val="000000"/>
                </a:solidFill>
                <a:latin typeface="Meiryo UI" pitchFamily="34" charset="0"/>
                <a:ea typeface="Meiryo UI" pitchFamily="34" charset="-122"/>
                <a:cs typeface="Meiryo UI" pitchFamily="34" charset="-120"/>
              </a:rPr>
              <a:t>施策</a:t>
            </a:r>
            <a:r>
              <a:rPr lang="ja-JP" altLang="en-US" sz="1150" b="1" dirty="0">
                <a:solidFill>
                  <a:srgbClr val="000000"/>
                </a:solidFill>
                <a:latin typeface="Meiryo UI" pitchFamily="34" charset="0"/>
                <a:ea typeface="Meiryo UI" pitchFamily="34" charset="-122"/>
                <a:cs typeface="Meiryo UI" pitchFamily="34" charset="-120"/>
              </a:rPr>
              <a:t>⑤付加価値創出のためのデータ統合・分析</a:t>
            </a:r>
            <a:endParaRPr lang="en-US" sz="1150" b="1" dirty="0">
              <a:solidFill>
                <a:srgbClr val="000000"/>
              </a:solidFill>
              <a:latin typeface="Meiryo UI" pitchFamily="34" charset="0"/>
              <a:ea typeface="Meiryo UI" pitchFamily="34" charset="-122"/>
              <a:cs typeface="Meiryo UI" pitchFamily="34" charset="-120"/>
            </a:endParaRPr>
          </a:p>
          <a:p>
            <a:pPr marL="0" indent="0">
              <a:lnSpc>
                <a:spcPts val="1300"/>
              </a:lnSpc>
              <a:buNone/>
            </a:pPr>
            <a:r>
              <a:rPr lang="ja-JP" altLang="en-US" sz="1150" b="1" dirty="0">
                <a:solidFill>
                  <a:srgbClr val="000000"/>
                </a:solidFill>
                <a:latin typeface="Meiryo UI" pitchFamily="34" charset="0"/>
                <a:ea typeface="Meiryo UI" pitchFamily="34" charset="-122"/>
                <a:cs typeface="Meiryo UI" pitchFamily="34" charset="-120"/>
              </a:rPr>
              <a:t>　</a:t>
            </a:r>
            <a:r>
              <a:rPr lang="en-US" sz="1150" b="1" dirty="0">
                <a:solidFill>
                  <a:srgbClr val="000000"/>
                </a:solidFill>
                <a:latin typeface="Meiryo UI" pitchFamily="34" charset="0"/>
                <a:ea typeface="Meiryo UI" pitchFamily="34" charset="-122"/>
                <a:cs typeface="Meiryo UI" pitchFamily="34" charset="-120"/>
              </a:rPr>
              <a:t>施策</a:t>
            </a:r>
            <a:r>
              <a:rPr lang="ja-JP" altLang="en-US" sz="1150" b="1" dirty="0">
                <a:solidFill>
                  <a:srgbClr val="000000"/>
                </a:solidFill>
                <a:latin typeface="Meiryo UI" pitchFamily="34" charset="0"/>
                <a:ea typeface="Meiryo UI" pitchFamily="34" charset="-122"/>
                <a:cs typeface="Meiryo UI" pitchFamily="34" charset="-120"/>
              </a:rPr>
              <a:t>⑥</a:t>
            </a:r>
            <a:r>
              <a:rPr lang="en-US" sz="1150" b="1" dirty="0">
                <a:solidFill>
                  <a:srgbClr val="000000"/>
                </a:solidFill>
                <a:latin typeface="Meiryo UI" pitchFamily="34" charset="0"/>
                <a:ea typeface="Meiryo UI" pitchFamily="34" charset="-122"/>
                <a:cs typeface="Meiryo UI" pitchFamily="34" charset="-120"/>
              </a:rPr>
              <a:t>B2B2C商談モデル構築</a:t>
            </a:r>
            <a:endParaRPr lang="en-US" sz="1150" dirty="0"/>
          </a:p>
        </p:txBody>
      </p:sp>
      <p:sp>
        <p:nvSpPr>
          <p:cNvPr id="21" name="Text 18"/>
          <p:cNvSpPr/>
          <p:nvPr/>
        </p:nvSpPr>
        <p:spPr>
          <a:xfrm>
            <a:off x="5429692" y="5132538"/>
            <a:ext cx="6247195" cy="216273"/>
          </a:xfrm>
          <a:prstGeom prst="roundRect">
            <a:avLst>
              <a:gd name="adj" fmla="val 10000"/>
            </a:avLst>
          </a:prstGeom>
          <a:solidFill>
            <a:srgbClr val="008000"/>
          </a:solidFill>
          <a:ln/>
        </p:spPr>
        <p:txBody>
          <a:bodyPr wrap="square" lIns="0" tIns="0" rIns="0" bIns="0" rtlCol="0" anchor="ctr"/>
          <a:lstStyle/>
          <a:p>
            <a:r>
              <a:rPr lang="en-US" sz="1300" b="1" dirty="0">
                <a:solidFill>
                  <a:schemeClr val="bg1"/>
                </a:solidFill>
                <a:latin typeface="Meiryo UI" pitchFamily="34" charset="0"/>
                <a:ea typeface="Meiryo UI" pitchFamily="34" charset="-122"/>
                <a:cs typeface="Meiryo UI" pitchFamily="34" charset="-120"/>
              </a:rPr>
              <a:t>T4</a:t>
            </a:r>
            <a:r>
              <a:rPr lang="ja-JP" altLang="en-US" sz="1300" b="1" dirty="0">
                <a:solidFill>
                  <a:schemeClr val="bg1"/>
                </a:solidFill>
                <a:latin typeface="Meiryo UI" pitchFamily="34" charset="0"/>
                <a:ea typeface="Meiryo UI" pitchFamily="34" charset="-122"/>
                <a:cs typeface="Meiryo UI" pitchFamily="34" charset="-120"/>
              </a:rPr>
              <a:t>：</a:t>
            </a:r>
            <a:r>
              <a:rPr lang="en-US" altLang="ja-JP" sz="1400" b="1" dirty="0">
                <a:solidFill>
                  <a:schemeClr val="bg1"/>
                </a:solidFill>
                <a:latin typeface="Meiryo UI" pitchFamily="34" charset="0"/>
                <a:ea typeface="Meiryo UI" pitchFamily="34" charset="-122"/>
              </a:rPr>
              <a:t> 組織・実行力の変革</a:t>
            </a:r>
            <a:endParaRPr lang="en-US" sz="1300" dirty="0">
              <a:solidFill>
                <a:schemeClr val="bg1"/>
              </a:solidFill>
            </a:endParaRPr>
          </a:p>
        </p:txBody>
      </p:sp>
      <p:sp>
        <p:nvSpPr>
          <p:cNvPr id="22" name="Text 19"/>
          <p:cNvSpPr/>
          <p:nvPr/>
        </p:nvSpPr>
        <p:spPr>
          <a:xfrm>
            <a:off x="5429693" y="5309088"/>
            <a:ext cx="5687214" cy="716322"/>
          </a:xfrm>
          <a:prstGeom prst="rect">
            <a:avLst/>
          </a:prstGeom>
          <a:noFill/>
          <a:ln/>
        </p:spPr>
        <p:txBody>
          <a:bodyPr wrap="square" lIns="0" tIns="0" rIns="0" bIns="0" rtlCol="0" anchor="ctr"/>
          <a:lstStyle/>
          <a:p>
            <a:pPr marL="0" indent="0">
              <a:lnSpc>
                <a:spcPts val="1300"/>
              </a:lnSpc>
              <a:buNone/>
            </a:pPr>
            <a:r>
              <a:rPr lang="en-US" sz="1150" b="1" dirty="0">
                <a:solidFill>
                  <a:srgbClr val="000000"/>
                </a:solidFill>
                <a:latin typeface="Meiryo UI" pitchFamily="34" charset="0"/>
                <a:ea typeface="Meiryo UI" pitchFamily="34" charset="-122"/>
                <a:cs typeface="Meiryo UI" pitchFamily="34" charset="-120"/>
              </a:rPr>
              <a:t>アプローチ：生成AI×Salesforce TPMでInput業務完全自動化 ＋ アカウントスクワッド化</a:t>
            </a:r>
            <a:endParaRPr lang="en-US" sz="1150" dirty="0"/>
          </a:p>
          <a:p>
            <a:pPr marL="0" indent="0">
              <a:lnSpc>
                <a:spcPts val="1300"/>
              </a:lnSpc>
              <a:buNone/>
            </a:pPr>
            <a:r>
              <a:rPr lang="ja-JP" altLang="en-US" sz="1150" b="1" dirty="0">
                <a:solidFill>
                  <a:srgbClr val="000000"/>
                </a:solidFill>
                <a:latin typeface="Meiryo UI" pitchFamily="34" charset="0"/>
                <a:ea typeface="Meiryo UI" pitchFamily="34" charset="-122"/>
                <a:cs typeface="Meiryo UI" pitchFamily="34" charset="-120"/>
              </a:rPr>
              <a:t>　</a:t>
            </a:r>
            <a:r>
              <a:rPr lang="en-US" sz="1150" b="1" dirty="0">
                <a:solidFill>
                  <a:srgbClr val="000000"/>
                </a:solidFill>
                <a:latin typeface="Meiryo UI" pitchFamily="34" charset="0"/>
                <a:ea typeface="Meiryo UI" pitchFamily="34" charset="-122"/>
                <a:cs typeface="Meiryo UI" pitchFamily="34" charset="-120"/>
              </a:rPr>
              <a:t>施策</a:t>
            </a:r>
            <a:r>
              <a:rPr lang="ja-JP" altLang="en-US" sz="1150" b="1" dirty="0">
                <a:solidFill>
                  <a:srgbClr val="000000"/>
                </a:solidFill>
                <a:latin typeface="Meiryo UI" pitchFamily="34" charset="0"/>
                <a:ea typeface="Meiryo UI" pitchFamily="34" charset="-122"/>
                <a:cs typeface="Meiryo UI" pitchFamily="34" charset="-120"/>
              </a:rPr>
              <a:t>⑦</a:t>
            </a:r>
            <a:r>
              <a:rPr lang="en-US" sz="1150" b="1" dirty="0">
                <a:solidFill>
                  <a:srgbClr val="000000"/>
                </a:solidFill>
                <a:latin typeface="Meiryo UI" pitchFamily="34" charset="0"/>
                <a:ea typeface="Meiryo UI" pitchFamily="34" charset="-122"/>
                <a:cs typeface="Meiryo UI" pitchFamily="34" charset="-120"/>
              </a:rPr>
              <a:t>Input業務ゼロ化　</a:t>
            </a:r>
            <a:r>
              <a:rPr lang="ja-JP" altLang="en-US" sz="1150" b="1" dirty="0">
                <a:solidFill>
                  <a:srgbClr val="000000"/>
                </a:solidFill>
                <a:latin typeface="Meiryo UI" pitchFamily="34" charset="0"/>
                <a:ea typeface="Meiryo UI" pitchFamily="34" charset="-122"/>
                <a:cs typeface="Meiryo UI" pitchFamily="34" charset="-120"/>
              </a:rPr>
              <a:t>　</a:t>
            </a:r>
            <a:endParaRPr lang="en-US" sz="1150" b="1" dirty="0">
              <a:solidFill>
                <a:srgbClr val="000000"/>
              </a:solidFill>
              <a:latin typeface="Meiryo UI" pitchFamily="34" charset="0"/>
              <a:ea typeface="Meiryo UI" pitchFamily="34" charset="-122"/>
              <a:cs typeface="Meiryo UI" pitchFamily="34" charset="-120"/>
            </a:endParaRPr>
          </a:p>
          <a:p>
            <a:pPr marL="0" indent="0">
              <a:lnSpc>
                <a:spcPts val="1300"/>
              </a:lnSpc>
              <a:buNone/>
            </a:pPr>
            <a:r>
              <a:rPr lang="ja-JP" altLang="en-US" sz="1150" b="1" dirty="0">
                <a:solidFill>
                  <a:srgbClr val="000000"/>
                </a:solidFill>
                <a:latin typeface="Meiryo UI" pitchFamily="34" charset="0"/>
                <a:ea typeface="Meiryo UI" pitchFamily="34" charset="-122"/>
                <a:cs typeface="Meiryo UI" pitchFamily="34" charset="-120"/>
              </a:rPr>
              <a:t>　</a:t>
            </a:r>
            <a:r>
              <a:rPr lang="en-US" sz="1150" b="1" dirty="0">
                <a:solidFill>
                  <a:srgbClr val="000000"/>
                </a:solidFill>
                <a:latin typeface="Meiryo UI" pitchFamily="34" charset="0"/>
                <a:ea typeface="Meiryo UI" pitchFamily="34" charset="-122"/>
                <a:cs typeface="Meiryo UI" pitchFamily="34" charset="-120"/>
              </a:rPr>
              <a:t>施策</a:t>
            </a:r>
            <a:r>
              <a:rPr lang="ja-JP" altLang="en-US" sz="1150" b="1" dirty="0">
                <a:solidFill>
                  <a:srgbClr val="000000"/>
                </a:solidFill>
                <a:latin typeface="Meiryo UI" pitchFamily="34" charset="0"/>
                <a:ea typeface="Meiryo UI" pitchFamily="34" charset="-122"/>
                <a:cs typeface="Meiryo UI" pitchFamily="34" charset="-120"/>
              </a:rPr>
              <a:t>⑧</a:t>
            </a:r>
            <a:r>
              <a:rPr lang="en-US" altLang="ja-JP" sz="1150" b="1" dirty="0">
                <a:solidFill>
                  <a:srgbClr val="000000"/>
                </a:solidFill>
                <a:latin typeface="Meiryo UI" pitchFamily="34" charset="0"/>
                <a:ea typeface="Meiryo UI" pitchFamily="34" charset="-122"/>
                <a:cs typeface="Meiryo UI" pitchFamily="34" charset="-120"/>
              </a:rPr>
              <a:t>RevOps</a:t>
            </a:r>
            <a:r>
              <a:rPr lang="ja-JP" altLang="en-US" sz="1150" b="1" dirty="0">
                <a:solidFill>
                  <a:srgbClr val="000000"/>
                </a:solidFill>
                <a:latin typeface="Meiryo UI" pitchFamily="34" charset="0"/>
                <a:ea typeface="Meiryo UI" pitchFamily="34" charset="-122"/>
                <a:cs typeface="Meiryo UI" pitchFamily="34" charset="-120"/>
              </a:rPr>
              <a:t>型</a:t>
            </a:r>
            <a:r>
              <a:rPr lang="en-US" altLang="ja-JP" sz="1150" b="1" dirty="0">
                <a:solidFill>
                  <a:srgbClr val="000000"/>
                </a:solidFill>
                <a:latin typeface="Meiryo UI" pitchFamily="34" charset="0"/>
                <a:ea typeface="Meiryo UI" pitchFamily="34" charset="-122"/>
                <a:cs typeface="Meiryo UI" pitchFamily="34" charset="-120"/>
              </a:rPr>
              <a:t>KPI</a:t>
            </a:r>
            <a:r>
              <a:rPr lang="ja-JP" altLang="en-US" sz="1150" b="1" dirty="0">
                <a:solidFill>
                  <a:srgbClr val="000000"/>
                </a:solidFill>
                <a:latin typeface="Meiryo UI" pitchFamily="34" charset="0"/>
                <a:ea typeface="Meiryo UI" pitchFamily="34" charset="-122"/>
                <a:cs typeface="Meiryo UI" pitchFamily="34" charset="-120"/>
              </a:rPr>
              <a:t>マネジメント</a:t>
            </a:r>
          </a:p>
        </p:txBody>
      </p:sp>
      <p:sp>
        <p:nvSpPr>
          <p:cNvPr id="24" name="Text 21"/>
          <p:cNvSpPr/>
          <p:nvPr/>
        </p:nvSpPr>
        <p:spPr>
          <a:xfrm>
            <a:off x="7424928" y="5295510"/>
            <a:ext cx="4251960" cy="566928"/>
          </a:xfrm>
          <a:prstGeom prst="rect">
            <a:avLst/>
          </a:prstGeom>
          <a:noFill/>
          <a:ln/>
        </p:spPr>
        <p:txBody>
          <a:bodyPr wrap="square" lIns="0" tIns="0" rIns="0" bIns="0" rtlCol="0" anchor="ctr"/>
          <a:lstStyle/>
          <a:p>
            <a:pPr marL="0" indent="0">
              <a:lnSpc>
                <a:spcPts val="1300"/>
              </a:lnSpc>
              <a:buNone/>
            </a:pPr>
            <a:endParaRPr lang="en-US" sz="1150" dirty="0"/>
          </a:p>
        </p:txBody>
      </p:sp>
      <p:sp>
        <p:nvSpPr>
          <p:cNvPr id="27" name="Text 7">
            <a:extLst>
              <a:ext uri="{FF2B5EF4-FFF2-40B4-BE49-F238E27FC236}">
                <a16:creationId xmlns:a16="http://schemas.microsoft.com/office/drawing/2014/main" id="{55C31B8C-C6E2-70F9-9953-09391B4E30E4}"/>
              </a:ext>
            </a:extLst>
          </p:cNvPr>
          <p:cNvSpPr/>
          <p:nvPr/>
        </p:nvSpPr>
        <p:spPr>
          <a:xfrm>
            <a:off x="385609" y="2697757"/>
            <a:ext cx="4663440" cy="2743200"/>
          </a:xfrm>
          <a:prstGeom prst="rect">
            <a:avLst/>
          </a:prstGeom>
          <a:noFill/>
          <a:ln/>
        </p:spPr>
        <p:txBody>
          <a:bodyPr wrap="square" lIns="0" tIns="0" rIns="0" bIns="0" rtlCol="0" anchor="ctr"/>
          <a:lstStyle/>
          <a:p>
            <a:pPr marL="0" indent="0">
              <a:lnSpc>
                <a:spcPts val="1500"/>
              </a:lnSpc>
              <a:spcAft>
                <a:spcPts val="1000"/>
              </a:spcAft>
              <a:buNone/>
            </a:pPr>
            <a:r>
              <a:rPr lang="en-US" sz="1100" b="1" dirty="0">
                <a:solidFill>
                  <a:srgbClr val="000000"/>
                </a:solidFill>
                <a:latin typeface="Meiryo UI" pitchFamily="34" charset="0"/>
                <a:ea typeface="Meiryo UI" pitchFamily="34" charset="-122"/>
                <a:cs typeface="Meiryo UI" pitchFamily="34" charset="-120"/>
              </a:rPr>
              <a:t>■ テーマ（経営上の主題）</a:t>
            </a:r>
            <a:endParaRPr lang="en-US" sz="1050" dirty="0"/>
          </a:p>
          <a:p>
            <a:pPr marL="0" indent="0">
              <a:lnSpc>
                <a:spcPts val="1500"/>
              </a:lnSpc>
              <a:spcAft>
                <a:spcPts val="1000"/>
              </a:spcAft>
              <a:buNone/>
            </a:pPr>
            <a:r>
              <a:rPr lang="en-US" sz="1000" dirty="0">
                <a:solidFill>
                  <a:srgbClr val="595959"/>
                </a:solidFill>
                <a:latin typeface="Meiryo UI" pitchFamily="34" charset="0"/>
                <a:ea typeface="Meiryo UI" pitchFamily="34" charset="-122"/>
                <a:cs typeface="Meiryo UI" pitchFamily="34" charset="-120"/>
              </a:rPr>
              <a:t> テーマ1〜4を再解釈した、経営レベルの問いと課題設定</a:t>
            </a:r>
            <a:endParaRPr lang="en-US" sz="1050" dirty="0"/>
          </a:p>
          <a:p>
            <a:pPr marL="0" indent="0">
              <a:lnSpc>
                <a:spcPts val="1500"/>
              </a:lnSpc>
              <a:spcAft>
                <a:spcPts val="1000"/>
              </a:spcAft>
              <a:buNone/>
            </a:pPr>
            <a:endParaRPr lang="en-US" sz="1050" dirty="0"/>
          </a:p>
          <a:p>
            <a:pPr marL="0" indent="0">
              <a:lnSpc>
                <a:spcPts val="1500"/>
              </a:lnSpc>
              <a:spcAft>
                <a:spcPts val="1000"/>
              </a:spcAft>
              <a:buNone/>
            </a:pPr>
            <a:r>
              <a:rPr lang="en-US" sz="1100" b="1" dirty="0">
                <a:solidFill>
                  <a:srgbClr val="000000"/>
                </a:solidFill>
                <a:latin typeface="Meiryo UI" pitchFamily="34" charset="0"/>
                <a:ea typeface="Meiryo UI" pitchFamily="34" charset="-122"/>
                <a:cs typeface="Meiryo UI" pitchFamily="34" charset="-120"/>
              </a:rPr>
              <a:t>■ アプローチ（戦略基本方針）</a:t>
            </a:r>
            <a:endParaRPr lang="en-US" sz="1050" dirty="0"/>
          </a:p>
          <a:p>
            <a:pPr marL="0" indent="0">
              <a:lnSpc>
                <a:spcPts val="1500"/>
              </a:lnSpc>
              <a:spcAft>
                <a:spcPts val="1000"/>
              </a:spcAft>
              <a:buNone/>
            </a:pPr>
            <a:r>
              <a:rPr lang="en-US" sz="1000" dirty="0">
                <a:solidFill>
                  <a:srgbClr val="595959"/>
                </a:solidFill>
                <a:latin typeface="Meiryo UI" pitchFamily="34" charset="0"/>
                <a:ea typeface="Meiryo UI" pitchFamily="34" charset="-122"/>
                <a:cs typeface="Meiryo UI" pitchFamily="34" charset="-120"/>
              </a:rPr>
              <a:t>  GAPを埋めるための方向性。「何を選択するか」の戦略骨子</a:t>
            </a:r>
            <a:endParaRPr lang="en-US" sz="1050" dirty="0"/>
          </a:p>
          <a:p>
            <a:pPr marL="0" indent="0">
              <a:lnSpc>
                <a:spcPts val="1500"/>
              </a:lnSpc>
              <a:spcAft>
                <a:spcPts val="1000"/>
              </a:spcAft>
              <a:buNone/>
            </a:pPr>
            <a:endParaRPr lang="en-US" sz="1050" dirty="0"/>
          </a:p>
          <a:p>
            <a:pPr marL="0" indent="0">
              <a:lnSpc>
                <a:spcPts val="1500"/>
              </a:lnSpc>
              <a:spcAft>
                <a:spcPts val="1000"/>
              </a:spcAft>
              <a:buNone/>
            </a:pPr>
            <a:r>
              <a:rPr lang="en-US" sz="1100" b="1" dirty="0">
                <a:solidFill>
                  <a:srgbClr val="000000"/>
                </a:solidFill>
                <a:latin typeface="Meiryo UI" pitchFamily="34" charset="0"/>
                <a:ea typeface="Meiryo UI" pitchFamily="34" charset="-122"/>
                <a:cs typeface="Meiryo UI" pitchFamily="34" charset="-120"/>
              </a:rPr>
              <a:t>■ </a:t>
            </a:r>
            <a:r>
              <a:rPr lang="en-US" sz="1100" b="1" dirty="0" err="1">
                <a:solidFill>
                  <a:srgbClr val="000000"/>
                </a:solidFill>
                <a:latin typeface="Meiryo UI" pitchFamily="34" charset="0"/>
                <a:ea typeface="Meiryo UI" pitchFamily="34" charset="-122"/>
                <a:cs typeface="Meiryo UI" pitchFamily="34" charset="-120"/>
              </a:rPr>
              <a:t>重点施策（Whatレベル</a:t>
            </a:r>
            <a:r>
              <a:rPr lang="en-US" sz="1100" b="1" dirty="0">
                <a:solidFill>
                  <a:srgbClr val="000000"/>
                </a:solidFill>
                <a:latin typeface="Meiryo UI" pitchFamily="34" charset="0"/>
                <a:ea typeface="Meiryo UI" pitchFamily="34" charset="-122"/>
                <a:cs typeface="Meiryo UI" pitchFamily="34" charset="-120"/>
              </a:rPr>
              <a:t>）</a:t>
            </a:r>
            <a:endParaRPr lang="en-US" sz="1050" dirty="0"/>
          </a:p>
          <a:p>
            <a:pPr marL="0" indent="0">
              <a:lnSpc>
                <a:spcPts val="1500"/>
              </a:lnSpc>
              <a:spcAft>
                <a:spcPts val="1000"/>
              </a:spcAft>
              <a:buNone/>
            </a:pPr>
            <a:r>
              <a:rPr lang="en-US" sz="1000" dirty="0">
                <a:solidFill>
                  <a:srgbClr val="595959"/>
                </a:solidFill>
                <a:latin typeface="Meiryo UI" pitchFamily="34" charset="0"/>
                <a:ea typeface="Meiryo UI" pitchFamily="34" charset="-122"/>
                <a:cs typeface="Meiryo UI" pitchFamily="34" charset="-120"/>
              </a:rPr>
              <a:t>  アプローチを実現する取り組み単位。4テーマ×2施策=8件</a:t>
            </a:r>
            <a:endParaRPr lang="en-US" sz="1050" dirty="0"/>
          </a:p>
          <a:p>
            <a:pPr marL="0" indent="0">
              <a:lnSpc>
                <a:spcPts val="1500"/>
              </a:lnSpc>
              <a:spcAft>
                <a:spcPts val="1000"/>
              </a:spcAft>
              <a:buNone/>
            </a:pPr>
            <a:endParaRPr lang="en-US" sz="1050" dirty="0"/>
          </a:p>
          <a:p>
            <a:pPr marL="0" indent="0">
              <a:lnSpc>
                <a:spcPts val="1500"/>
              </a:lnSpc>
              <a:spcAft>
                <a:spcPts val="1000"/>
              </a:spcAft>
              <a:buNone/>
            </a:pPr>
            <a:r>
              <a:rPr lang="en-US" sz="1100" b="1" dirty="0">
                <a:solidFill>
                  <a:srgbClr val="000000"/>
                </a:solidFill>
                <a:latin typeface="Meiryo UI" pitchFamily="34" charset="0"/>
                <a:ea typeface="Meiryo UI" pitchFamily="34" charset="-122"/>
                <a:cs typeface="Meiryo UI" pitchFamily="34" charset="-120"/>
              </a:rPr>
              <a:t>■ 主要アクション（Howレベル）</a:t>
            </a:r>
            <a:endParaRPr lang="en-US" sz="1050" dirty="0"/>
          </a:p>
          <a:p>
            <a:pPr marL="0" indent="0">
              <a:lnSpc>
                <a:spcPts val="1500"/>
              </a:lnSpc>
              <a:spcAft>
                <a:spcPts val="1000"/>
              </a:spcAft>
              <a:buNone/>
            </a:pPr>
            <a:r>
              <a:rPr lang="en-US" sz="1000" dirty="0">
                <a:solidFill>
                  <a:srgbClr val="595959"/>
                </a:solidFill>
                <a:latin typeface="Meiryo UI" pitchFamily="34" charset="0"/>
                <a:ea typeface="Meiryo UI" pitchFamily="34" charset="-122"/>
                <a:cs typeface="Meiryo UI" pitchFamily="34" charset="-120"/>
              </a:rPr>
              <a:t>  重点施策を実行する具体的手段。各テーマスライドに補足記載</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19456" y="0"/>
            <a:ext cx="10332720" cy="914400"/>
          </a:xfrm>
          <a:prstGeom prst="rect">
            <a:avLst/>
          </a:prstGeom>
          <a:noFill/>
          <a:ln/>
        </p:spPr>
        <p:txBody>
          <a:bodyPr wrap="square" lIns="0" tIns="0" rIns="0" bIns="0" rtlCol="0" anchor="b" anchorCtr="0"/>
          <a:lstStyle/>
          <a:p>
            <a:pPr marL="0" indent="0">
              <a:buNone/>
            </a:pPr>
            <a:r>
              <a:rPr lang="ja-JP" altLang="en-US" sz="1800" b="1" dirty="0">
                <a:solidFill>
                  <a:srgbClr val="000000"/>
                </a:solidFill>
                <a:latin typeface="Meiryo UI" pitchFamily="34" charset="0"/>
                <a:ea typeface="Meiryo UI" pitchFamily="34" charset="-122"/>
                <a:cs typeface="Meiryo UI" pitchFamily="34" charset="-120"/>
              </a:rPr>
              <a:t>テーマｘ重点施策</a:t>
            </a:r>
            <a:endParaRPr lang="en-US" sz="1800" b="1" dirty="0">
              <a:solidFill>
                <a:srgbClr val="000000"/>
              </a:solidFill>
              <a:latin typeface="Meiryo UI" pitchFamily="34" charset="0"/>
              <a:ea typeface="Meiryo UI" pitchFamily="34" charset="-122"/>
              <a:cs typeface="Meiryo UI" pitchFamily="34" charset="-120"/>
            </a:endParaRPr>
          </a:p>
          <a:p>
            <a:pPr marL="0" indent="0">
              <a:buNone/>
            </a:pPr>
            <a:r>
              <a:rPr lang="en-US" sz="1800" b="1" dirty="0">
                <a:solidFill>
                  <a:srgbClr val="000000"/>
                </a:solidFill>
                <a:latin typeface="Meiryo UI" pitchFamily="34" charset="0"/>
                <a:ea typeface="Meiryo UI" pitchFamily="34" charset="-122"/>
                <a:cs typeface="Meiryo UI" pitchFamily="34" charset="-120"/>
              </a:rPr>
              <a:t>T1　勝てる土俵の再定義 × AI時代のブランド生存権</a:t>
            </a:r>
            <a:endParaRPr lang="en-US" sz="1800" dirty="0"/>
          </a:p>
        </p:txBody>
      </p:sp>
      <p:pic>
        <p:nvPicPr>
          <p:cNvPr id="3" name="Image 0" descr="/home/claude/logo.png"/>
          <p:cNvPicPr>
            <a:picLocks noChangeAspect="1"/>
          </p:cNvPicPr>
          <p:nvPr/>
        </p:nvPicPr>
        <p:blipFill>
          <a:blip r:embed="rId3"/>
          <a:stretch>
            <a:fillRect/>
          </a:stretch>
        </p:blipFill>
        <p:spPr>
          <a:xfrm>
            <a:off x="10881360" y="201168"/>
            <a:ext cx="868680" cy="566928"/>
          </a:xfrm>
          <a:prstGeom prst="rect">
            <a:avLst/>
          </a:prstGeom>
        </p:spPr>
      </p:pic>
      <p:sp>
        <p:nvSpPr>
          <p:cNvPr id="4" name="Shape 1"/>
          <p:cNvSpPr/>
          <p:nvPr/>
        </p:nvSpPr>
        <p:spPr>
          <a:xfrm>
            <a:off x="0" y="914400"/>
            <a:ext cx="12188952" cy="0"/>
          </a:xfrm>
          <a:prstGeom prst="line">
            <a:avLst/>
          </a:prstGeom>
          <a:noFill/>
          <a:ln w="28575">
            <a:solidFill>
              <a:srgbClr val="008000"/>
            </a:solidFill>
            <a:prstDash val="solid"/>
          </a:ln>
        </p:spPr>
        <p:txBody>
          <a:bodyPr/>
          <a:lstStyle/>
          <a:p>
            <a:endParaRPr lang="ja-JP" altLang="en-US"/>
          </a:p>
        </p:txBody>
      </p:sp>
      <p:sp>
        <p:nvSpPr>
          <p:cNvPr id="5" name="Text 2"/>
          <p:cNvSpPr/>
          <p:nvPr/>
        </p:nvSpPr>
        <p:spPr>
          <a:xfrm>
            <a:off x="219456" y="969264"/>
            <a:ext cx="11750040" cy="384048"/>
          </a:xfrm>
          <a:prstGeom prst="rect">
            <a:avLst/>
          </a:prstGeom>
          <a:noFill/>
          <a:ln/>
        </p:spPr>
        <p:txBody>
          <a:bodyPr wrap="square" lIns="0" tIns="0" rIns="0" bIns="0" rtlCol="0" anchor="ctr"/>
          <a:lstStyle/>
          <a:p>
            <a:pPr marL="0" indent="0">
              <a:buNone/>
            </a:pPr>
            <a:r>
              <a:rPr lang="en-US" dirty="0">
                <a:solidFill>
                  <a:srgbClr val="000000"/>
                </a:solidFill>
                <a:latin typeface="Meiryo UI" pitchFamily="34" charset="0"/>
                <a:ea typeface="Meiryo UI" pitchFamily="34" charset="-122"/>
                <a:cs typeface="Meiryo UI" pitchFamily="34" charset="-120"/>
              </a:rPr>
              <a:t>コモディティ消耗戦から脱却</a:t>
            </a:r>
            <a:r>
              <a:rPr lang="ja-JP" altLang="en-US" dirty="0">
                <a:solidFill>
                  <a:srgbClr val="000000"/>
                </a:solidFill>
                <a:latin typeface="Meiryo UI" pitchFamily="34" charset="0"/>
                <a:ea typeface="Meiryo UI" pitchFamily="34" charset="-122"/>
                <a:cs typeface="Meiryo UI" pitchFamily="34" charset="-120"/>
              </a:rPr>
              <a:t>するために、データ・</a:t>
            </a:r>
            <a:r>
              <a:rPr lang="en-US" altLang="ja-JP" dirty="0">
                <a:solidFill>
                  <a:srgbClr val="000000"/>
                </a:solidFill>
                <a:latin typeface="Meiryo UI" pitchFamily="34" charset="0"/>
                <a:ea typeface="Meiryo UI" pitchFamily="34" charset="-122"/>
                <a:cs typeface="Meiryo UI" pitchFamily="34" charset="-120"/>
              </a:rPr>
              <a:t>AI</a:t>
            </a:r>
            <a:r>
              <a:rPr lang="ja-JP" altLang="en-US" dirty="0">
                <a:solidFill>
                  <a:srgbClr val="000000"/>
                </a:solidFill>
                <a:latin typeface="Meiryo UI" pitchFamily="34" charset="0"/>
                <a:ea typeface="Meiryo UI" pitchFamily="34" charset="-122"/>
                <a:cs typeface="Meiryo UI" pitchFamily="34" charset="-120"/>
              </a:rPr>
              <a:t>を積極活用。</a:t>
            </a:r>
            <a:r>
              <a:rPr lang="en-US" altLang="ja-JP" dirty="0">
                <a:solidFill>
                  <a:srgbClr val="000000"/>
                </a:solidFill>
                <a:latin typeface="Meiryo UI" pitchFamily="34" charset="0"/>
                <a:ea typeface="Meiryo UI" pitchFamily="34" charset="-122"/>
                <a:cs typeface="Meiryo UI" pitchFamily="34" charset="-120"/>
              </a:rPr>
              <a:t>AI</a:t>
            </a:r>
            <a:r>
              <a:rPr lang="ja-JP" altLang="en-US" dirty="0">
                <a:solidFill>
                  <a:srgbClr val="000000"/>
                </a:solidFill>
                <a:latin typeface="Meiryo UI" pitchFamily="34" charset="0"/>
                <a:ea typeface="Meiryo UI" pitchFamily="34" charset="-122"/>
                <a:cs typeface="Meiryo UI" pitchFamily="34" charset="-120"/>
              </a:rPr>
              <a:t>時代に顧客を選択するための土台を整備する。</a:t>
            </a:r>
            <a:endParaRPr lang="en-US" dirty="0"/>
          </a:p>
        </p:txBody>
      </p:sp>
      <p:sp>
        <p:nvSpPr>
          <p:cNvPr id="6" name="Text 3"/>
          <p:cNvSpPr/>
          <p:nvPr/>
        </p:nvSpPr>
        <p:spPr>
          <a:xfrm>
            <a:off x="11658600" y="6528816"/>
            <a:ext cx="411480" cy="274320"/>
          </a:xfrm>
          <a:prstGeom prst="rect">
            <a:avLst/>
          </a:prstGeom>
          <a:noFill/>
          <a:ln/>
        </p:spPr>
        <p:txBody>
          <a:bodyPr wrap="square" lIns="0" tIns="0" rIns="0" bIns="0" rtlCol="0" anchor="ctr"/>
          <a:lstStyle/>
          <a:p>
            <a:pPr marL="0" indent="0" algn="r">
              <a:buNone/>
            </a:pPr>
            <a:r>
              <a:rPr lang="en-US" sz="1000" dirty="0">
                <a:solidFill>
                  <a:srgbClr val="595959"/>
                </a:solidFill>
                <a:latin typeface="Meiryo UI" pitchFamily="34" charset="0"/>
                <a:ea typeface="Meiryo UI" pitchFamily="34" charset="-122"/>
                <a:cs typeface="Meiryo UI" pitchFamily="34" charset="-120"/>
              </a:rPr>
              <a:t>5</a:t>
            </a:r>
            <a:endParaRPr lang="en-US" sz="1000" dirty="0"/>
          </a:p>
        </p:txBody>
      </p:sp>
      <p:sp>
        <p:nvSpPr>
          <p:cNvPr id="7" name="Text 4"/>
          <p:cNvSpPr/>
          <p:nvPr/>
        </p:nvSpPr>
        <p:spPr>
          <a:xfrm>
            <a:off x="219456" y="6556248"/>
            <a:ext cx="8229600" cy="228600"/>
          </a:xfrm>
          <a:prstGeom prst="rect">
            <a:avLst/>
          </a:prstGeom>
          <a:noFill/>
          <a:ln/>
        </p:spPr>
        <p:txBody>
          <a:bodyPr wrap="square" lIns="0" tIns="0" rIns="0" bIns="0" rtlCol="0" anchor="ctr"/>
          <a:lstStyle/>
          <a:p>
            <a:pPr marL="0" indent="0">
              <a:buNone/>
            </a:pPr>
            <a:r>
              <a:rPr lang="en-US" sz="750" dirty="0">
                <a:solidFill>
                  <a:srgbClr val="595959"/>
                </a:solidFill>
                <a:latin typeface="Meiryo UI" pitchFamily="34" charset="0"/>
                <a:ea typeface="Meiryo UI" pitchFamily="34" charset="-122"/>
                <a:cs typeface="Meiryo UI" pitchFamily="34" charset="-120"/>
              </a:rPr>
              <a:t>LION Corporation ｜ 営業・マーケティングDX戦略 検討アジェンダ（P.6「真因・GAP分析」後続）</a:t>
            </a:r>
            <a:endParaRPr lang="en-US" sz="750" dirty="0"/>
          </a:p>
        </p:txBody>
      </p:sp>
      <p:sp>
        <p:nvSpPr>
          <p:cNvPr id="8" name="Text 5"/>
          <p:cNvSpPr/>
          <p:nvPr/>
        </p:nvSpPr>
        <p:spPr>
          <a:xfrm>
            <a:off x="320040" y="1481328"/>
            <a:ext cx="5669280" cy="310896"/>
          </a:xfrm>
          <a:prstGeom prst="roundRect">
            <a:avLst>
              <a:gd name="adj" fmla="val 17647"/>
            </a:avLst>
          </a:prstGeom>
          <a:solidFill>
            <a:srgbClr val="008D2E"/>
          </a:solidFill>
          <a:ln w="9525">
            <a:solidFill>
              <a:srgbClr val="008D2E"/>
            </a:solidFill>
          </a:ln>
        </p:spPr>
        <p:txBody>
          <a:bodyPr wrap="square" lIns="0" tIns="0" rIns="0" bIns="0" rtlCol="0" anchor="ctr"/>
          <a:lstStyle/>
          <a:p>
            <a:pPr marL="0" indent="0">
              <a:buNone/>
            </a:pPr>
            <a:r>
              <a:rPr lang="en-US" sz="1000" b="1" dirty="0">
                <a:solidFill>
                  <a:srgbClr val="FFFFFF"/>
                </a:solidFill>
                <a:latin typeface="Meiryo UI" pitchFamily="34" charset="0"/>
                <a:ea typeface="Meiryo UI" pitchFamily="34" charset="-122"/>
                <a:cs typeface="Meiryo UI" pitchFamily="34" charset="-120"/>
              </a:rPr>
              <a:t>アプローチ：</a:t>
            </a:r>
            <a:r>
              <a:rPr lang="ja-JP" altLang="en-US" sz="1000" b="1" dirty="0">
                <a:solidFill>
                  <a:srgbClr val="FFFFFF"/>
                </a:solidFill>
                <a:latin typeface="Meiryo UI" pitchFamily="34" charset="0"/>
                <a:ea typeface="Meiryo UI" pitchFamily="34" charset="-122"/>
                <a:cs typeface="Meiryo UI" pitchFamily="34" charset="-120"/>
              </a:rPr>
              <a:t>データに基づく選択と集中 ＋ </a:t>
            </a:r>
            <a:r>
              <a:rPr lang="en-US" altLang="ja-JP" sz="1000" b="1" dirty="0">
                <a:solidFill>
                  <a:srgbClr val="FFFFFF"/>
                </a:solidFill>
                <a:latin typeface="Meiryo UI" pitchFamily="34" charset="0"/>
                <a:ea typeface="Meiryo UI" pitchFamily="34" charset="-122"/>
                <a:cs typeface="Meiryo UI" pitchFamily="34" charset="-120"/>
              </a:rPr>
              <a:t>AI</a:t>
            </a:r>
            <a:r>
              <a:rPr lang="ja-JP" altLang="en-US" sz="1000" b="1" dirty="0">
                <a:solidFill>
                  <a:srgbClr val="FFFFFF"/>
                </a:solidFill>
                <a:latin typeface="Meiryo UI" pitchFamily="34" charset="0"/>
                <a:ea typeface="Meiryo UI" pitchFamily="34" charset="-122"/>
                <a:cs typeface="Meiryo UI" pitchFamily="34" charset="-120"/>
              </a:rPr>
              <a:t>購買インフラ先行参入</a:t>
            </a:r>
            <a:endParaRPr lang="en-US" sz="1000" dirty="0"/>
          </a:p>
        </p:txBody>
      </p:sp>
      <p:sp>
        <p:nvSpPr>
          <p:cNvPr id="9" name="Text 6"/>
          <p:cNvSpPr/>
          <p:nvPr/>
        </p:nvSpPr>
        <p:spPr>
          <a:xfrm>
            <a:off x="6199632" y="1481328"/>
            <a:ext cx="1124712" cy="310896"/>
          </a:xfrm>
          <a:prstGeom prst="roundRect">
            <a:avLst>
              <a:gd name="adj" fmla="val 17647"/>
            </a:avLst>
          </a:prstGeom>
          <a:solidFill>
            <a:srgbClr val="C00000"/>
          </a:solidFill>
          <a:ln w="9525">
            <a:solidFill>
              <a:srgbClr val="C00000"/>
            </a:solid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GAP1対応</a:t>
            </a:r>
            <a:endParaRPr lang="en-US" sz="900" dirty="0"/>
          </a:p>
        </p:txBody>
      </p:sp>
      <p:sp>
        <p:nvSpPr>
          <p:cNvPr id="10" name="Text 7"/>
          <p:cNvSpPr/>
          <p:nvPr/>
        </p:nvSpPr>
        <p:spPr>
          <a:xfrm>
            <a:off x="7452360" y="1481328"/>
            <a:ext cx="2112264" cy="310896"/>
          </a:xfrm>
          <a:prstGeom prst="roundRect">
            <a:avLst>
              <a:gd name="adj" fmla="val 17647"/>
            </a:avLst>
          </a:prstGeom>
          <a:solidFill>
            <a:srgbClr val="595959"/>
          </a:solidFill>
          <a:ln w="9525">
            <a:solidFill>
              <a:srgbClr val="595959"/>
            </a:solid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実行期間：FY26–FY28</a:t>
            </a:r>
            <a:endParaRPr lang="en-US" sz="900" dirty="0"/>
          </a:p>
        </p:txBody>
      </p:sp>
      <p:sp>
        <p:nvSpPr>
          <p:cNvPr id="14" name="Shape 11"/>
          <p:cNvSpPr/>
          <p:nvPr/>
        </p:nvSpPr>
        <p:spPr>
          <a:xfrm>
            <a:off x="320040" y="19385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15" name="Text 12"/>
          <p:cNvSpPr/>
          <p:nvPr/>
        </p:nvSpPr>
        <p:spPr>
          <a:xfrm>
            <a:off x="448056" y="2066544"/>
            <a:ext cx="329184" cy="329184"/>
          </a:xfrm>
          <a:prstGeom prst="ellipse">
            <a:avLst/>
          </a:prstGeom>
          <a:solidFill>
            <a:srgbClr val="008000"/>
          </a:solid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①</a:t>
            </a:r>
            <a:endParaRPr lang="en-US" sz="1300" dirty="0"/>
          </a:p>
        </p:txBody>
      </p:sp>
      <p:sp>
        <p:nvSpPr>
          <p:cNvPr id="16" name="Text 13"/>
          <p:cNvSpPr/>
          <p:nvPr/>
        </p:nvSpPr>
        <p:spPr>
          <a:xfrm>
            <a:off x="886968" y="20299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a:solidFill>
                  <a:srgbClr val="01953D"/>
                </a:solidFill>
                <a:latin typeface="Meiryo UI" pitchFamily="34" charset="0"/>
                <a:ea typeface="Meiryo UI" pitchFamily="34" charset="-122"/>
                <a:cs typeface="Meiryo UI" pitchFamily="34" charset="-120"/>
              </a:rPr>
              <a:t>重点施策①　</a:t>
            </a:r>
            <a:r>
              <a:rPr lang="ja-JP" altLang="en-US" sz="1100" b="1" dirty="0">
                <a:solidFill>
                  <a:srgbClr val="01953D"/>
                </a:solidFill>
                <a:latin typeface="Meiryo UI" pitchFamily="34" charset="0"/>
                <a:ea typeface="Meiryo UI" pitchFamily="34" charset="-122"/>
                <a:cs typeface="Meiryo UI" pitchFamily="34" charset="-120"/>
              </a:rPr>
              <a:t>経営管理高度化との連携によるデータ活用</a:t>
            </a:r>
            <a:endParaRPr lang="en-US" sz="1100" dirty="0"/>
          </a:p>
        </p:txBody>
      </p:sp>
      <p:sp>
        <p:nvSpPr>
          <p:cNvPr id="17" name="Text 14"/>
          <p:cNvSpPr/>
          <p:nvPr/>
        </p:nvSpPr>
        <p:spPr>
          <a:xfrm>
            <a:off x="502920" y="24871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err="1">
                <a:solidFill>
                  <a:srgbClr val="000000"/>
                </a:solidFill>
                <a:latin typeface="Meiryo UI" pitchFamily="34" charset="0"/>
                <a:ea typeface="Meiryo UI" pitchFamily="34" charset="-122"/>
                <a:cs typeface="Meiryo UI" pitchFamily="34" charset="-120"/>
              </a:rPr>
              <a:t>衣料洗剤等の標準品投資を縮小し、オーラルケア・キレイキレイ・OTC医薬品に資源を集中する事業ポートフォリオ再編を</a:t>
            </a:r>
            <a:r>
              <a:rPr lang="ja-JP" altLang="en-US" sz="950" dirty="0">
                <a:solidFill>
                  <a:srgbClr val="000000"/>
                </a:solidFill>
                <a:latin typeface="Meiryo UI" pitchFamily="34" charset="0"/>
                <a:ea typeface="Meiryo UI" pitchFamily="34" charset="-122"/>
                <a:cs typeface="Meiryo UI" pitchFamily="34" charset="-120"/>
              </a:rPr>
              <a:t>データに基づいて</a:t>
            </a:r>
            <a:r>
              <a:rPr lang="en-US" sz="950" dirty="0">
                <a:solidFill>
                  <a:srgbClr val="000000"/>
                </a:solidFill>
                <a:latin typeface="Meiryo UI" pitchFamily="34" charset="0"/>
                <a:ea typeface="Meiryo UI" pitchFamily="34" charset="-122"/>
                <a:cs typeface="Meiryo UI" pitchFamily="34" charset="-120"/>
              </a:rPr>
              <a:t>実行する。</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KPI：強み領域売上比率（FY26: 65% → FY30: 80%）/ 専門家推奨起点売上比率</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実施時期：FY26中計反映 → FY27本格移行</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論点：コモディティ撤退ラインのROIC基準設定と会議体での意思決定方法</a:t>
            </a:r>
            <a:endParaRPr lang="en-US" sz="950" dirty="0"/>
          </a:p>
        </p:txBody>
      </p:sp>
      <p:sp>
        <p:nvSpPr>
          <p:cNvPr id="18" name="Shape 15"/>
          <p:cNvSpPr/>
          <p:nvPr/>
        </p:nvSpPr>
        <p:spPr>
          <a:xfrm>
            <a:off x="6199632" y="19385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19" name="Text 16"/>
          <p:cNvSpPr/>
          <p:nvPr/>
        </p:nvSpPr>
        <p:spPr>
          <a:xfrm>
            <a:off x="6327648" y="2066544"/>
            <a:ext cx="329184" cy="329184"/>
          </a:xfrm>
          <a:prstGeom prst="ellipse">
            <a:avLst/>
          </a:prstGeom>
          <a:solidFill>
            <a:srgbClr val="008000"/>
          </a:solid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②</a:t>
            </a:r>
            <a:endParaRPr lang="en-US" sz="1300" dirty="0"/>
          </a:p>
        </p:txBody>
      </p:sp>
      <p:sp>
        <p:nvSpPr>
          <p:cNvPr id="20" name="Text 17"/>
          <p:cNvSpPr/>
          <p:nvPr/>
        </p:nvSpPr>
        <p:spPr>
          <a:xfrm>
            <a:off x="6766560" y="20299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a:solidFill>
                  <a:srgbClr val="01953D"/>
                </a:solidFill>
                <a:latin typeface="Meiryo UI" pitchFamily="34" charset="0"/>
                <a:ea typeface="Meiryo UI" pitchFamily="34" charset="-122"/>
                <a:cs typeface="Meiryo UI" pitchFamily="34" charset="-120"/>
              </a:rPr>
              <a:t>重点施策②　</a:t>
            </a:r>
            <a:r>
              <a:rPr lang="en-US" altLang="ja-JP" sz="1100" b="1" dirty="0">
                <a:solidFill>
                  <a:srgbClr val="01953D"/>
                </a:solidFill>
                <a:latin typeface="Meiryo UI" pitchFamily="34" charset="0"/>
                <a:ea typeface="Meiryo UI" pitchFamily="34" charset="-122"/>
                <a:cs typeface="Meiryo UI" pitchFamily="34" charset="-120"/>
              </a:rPr>
              <a:t>AIEO</a:t>
            </a:r>
            <a:r>
              <a:rPr lang="ja-JP" altLang="en-US" sz="1100" b="1" dirty="0">
                <a:solidFill>
                  <a:srgbClr val="01953D"/>
                </a:solidFill>
                <a:latin typeface="Meiryo UI" pitchFamily="34" charset="0"/>
                <a:ea typeface="Meiryo UI" pitchFamily="34" charset="-122"/>
                <a:cs typeface="Meiryo UI" pitchFamily="34" charset="-120"/>
              </a:rPr>
              <a:t>・エージェントコマース対応</a:t>
            </a:r>
          </a:p>
        </p:txBody>
      </p:sp>
      <p:sp>
        <p:nvSpPr>
          <p:cNvPr id="21" name="Text 18"/>
          <p:cNvSpPr/>
          <p:nvPr/>
        </p:nvSpPr>
        <p:spPr>
          <a:xfrm>
            <a:off x="6382512" y="24871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全商品×症状×エビデンスをAIが参照可能な構造化データとして公開し、AI自動補充エンジンのホワイトリスト参入とブランド生存権を確立する。</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KPI：AI推奨シェア（AIEO Rate）FY28: 30% → FY30: 50%</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実施時期：FY26着手 → FY27公開 → FY28フィードバックループ稼働</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論点：投資規模・担当部署・P&amp;Gとの先行格差の現状把握</a:t>
            </a:r>
            <a:endParaRPr lang="en-US" sz="950" dirty="0"/>
          </a:p>
        </p:txBody>
      </p:sp>
      <p:sp>
        <p:nvSpPr>
          <p:cNvPr id="22" name="Shape 19"/>
          <p:cNvSpPr/>
          <p:nvPr/>
        </p:nvSpPr>
        <p:spPr>
          <a:xfrm>
            <a:off x="320040" y="37673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23" name="Text 20"/>
          <p:cNvSpPr/>
          <p:nvPr/>
        </p:nvSpPr>
        <p:spPr>
          <a:xfrm>
            <a:off x="448056" y="3895344"/>
            <a:ext cx="329184" cy="329184"/>
          </a:xfrm>
          <a:prstGeom prst="ellipse">
            <a:avLst/>
          </a:prstGeom>
          <a:solidFill>
            <a:srgbClr val="008000"/>
          </a:solid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a:t>
            </a:r>
            <a:endParaRPr lang="en-US" sz="1300" dirty="0"/>
          </a:p>
        </p:txBody>
      </p:sp>
      <p:sp>
        <p:nvSpPr>
          <p:cNvPr id="24" name="Text 21"/>
          <p:cNvSpPr/>
          <p:nvPr/>
        </p:nvSpPr>
        <p:spPr>
          <a:xfrm>
            <a:off x="886968" y="38587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err="1">
                <a:solidFill>
                  <a:srgbClr val="01953D"/>
                </a:solidFill>
                <a:latin typeface="Meiryo UI" pitchFamily="34" charset="0"/>
                <a:ea typeface="Meiryo UI" pitchFamily="34" charset="-122"/>
                <a:cs typeface="Meiryo UI" pitchFamily="34" charset="-120"/>
              </a:rPr>
              <a:t>主要アクション（重点施策①配下</a:t>
            </a:r>
            <a:r>
              <a:rPr lang="en-US" sz="1100" b="1" dirty="0">
                <a:solidFill>
                  <a:srgbClr val="01953D"/>
                </a:solidFill>
                <a:latin typeface="Meiryo UI" pitchFamily="34" charset="0"/>
                <a:ea typeface="Meiryo UI" pitchFamily="34" charset="-122"/>
                <a:cs typeface="Meiryo UI" pitchFamily="34" charset="-120"/>
              </a:rPr>
              <a:t>）</a:t>
            </a:r>
            <a:endParaRPr lang="en-US" sz="1100" dirty="0"/>
          </a:p>
        </p:txBody>
      </p:sp>
      <p:sp>
        <p:nvSpPr>
          <p:cNvPr id="25" name="Text 22"/>
          <p:cNvSpPr/>
          <p:nvPr/>
        </p:nvSpPr>
        <p:spPr>
          <a:xfrm>
            <a:off x="502920" y="43159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・オーラルケア市場の「4分割」再定義（補充・悩み・予防・口腔機能）の別KPI管理体制</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・B2B歯科チャネルの推奨ビジネス化（歯科医院・歯科衛生士・健保のパートナー化）</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・国民皆歯科健診の制度活用（健診受診者→LION ID誘導→健保・自治体共同事業）</a:t>
            </a:r>
            <a:endParaRPr lang="en-US" sz="950" dirty="0"/>
          </a:p>
        </p:txBody>
      </p:sp>
      <p:sp>
        <p:nvSpPr>
          <p:cNvPr id="26" name="Shape 23"/>
          <p:cNvSpPr/>
          <p:nvPr/>
        </p:nvSpPr>
        <p:spPr>
          <a:xfrm>
            <a:off x="6199632" y="37673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27" name="Text 24"/>
          <p:cNvSpPr/>
          <p:nvPr/>
        </p:nvSpPr>
        <p:spPr>
          <a:xfrm>
            <a:off x="6327648" y="3895344"/>
            <a:ext cx="329184" cy="329184"/>
          </a:xfrm>
          <a:prstGeom prst="ellipse">
            <a:avLst/>
          </a:prstGeom>
          <a:solidFill>
            <a:srgbClr val="008000"/>
          </a:solid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a:t>
            </a:r>
            <a:endParaRPr lang="en-US" sz="1300" dirty="0"/>
          </a:p>
        </p:txBody>
      </p:sp>
      <p:sp>
        <p:nvSpPr>
          <p:cNvPr id="28" name="Text 25"/>
          <p:cNvSpPr/>
          <p:nvPr/>
        </p:nvSpPr>
        <p:spPr>
          <a:xfrm>
            <a:off x="6766560" y="38587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err="1">
                <a:solidFill>
                  <a:srgbClr val="01953D"/>
                </a:solidFill>
                <a:latin typeface="Meiryo UI" pitchFamily="34" charset="0"/>
                <a:ea typeface="Meiryo UI" pitchFamily="34" charset="-122"/>
                <a:cs typeface="Meiryo UI" pitchFamily="34" charset="-120"/>
              </a:rPr>
              <a:t>主要アクション（重点施策②配下</a:t>
            </a:r>
            <a:r>
              <a:rPr lang="en-US" sz="1100" b="1" dirty="0">
                <a:solidFill>
                  <a:srgbClr val="01953D"/>
                </a:solidFill>
                <a:latin typeface="Meiryo UI" pitchFamily="34" charset="0"/>
                <a:ea typeface="Meiryo UI" pitchFamily="34" charset="-122"/>
                <a:cs typeface="Meiryo UI" pitchFamily="34" charset="-120"/>
              </a:rPr>
              <a:t>）</a:t>
            </a:r>
            <a:endParaRPr lang="en-US" sz="1100" dirty="0"/>
          </a:p>
        </p:txBody>
      </p:sp>
      <p:sp>
        <p:nvSpPr>
          <p:cNvPr id="29" name="Text 26"/>
          <p:cNvSpPr/>
          <p:nvPr/>
        </p:nvSpPr>
        <p:spPr>
          <a:xfrm>
            <a:off x="6382512" y="43159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・AI推奨シェアの月次測定・競合比較フィードバックループ構築</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・エージェントコマース対応：製品属性データのAPI化完了（FY27目標）</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・OTC医薬品の薬事エビデンスのAI引用可能コンテンツ化</a:t>
            </a:r>
            <a:endParaRPr lang="en-US" sz="950" dirty="0"/>
          </a:p>
        </p:txBody>
      </p:sp>
      <p:sp>
        <p:nvSpPr>
          <p:cNvPr id="30" name="Shape 27"/>
          <p:cNvSpPr/>
          <p:nvPr/>
        </p:nvSpPr>
        <p:spPr>
          <a:xfrm>
            <a:off x="320040" y="5596128"/>
            <a:ext cx="11548872" cy="841248"/>
          </a:xfrm>
          <a:prstGeom prst="roundRect">
            <a:avLst>
              <a:gd name="adj" fmla="val 5435"/>
            </a:avLst>
          </a:prstGeom>
          <a:solidFill>
            <a:srgbClr val="E5F2E5"/>
          </a:solidFill>
          <a:ln w="9525">
            <a:solidFill>
              <a:srgbClr val="008D2E"/>
            </a:solidFill>
            <a:prstDash val="solid"/>
          </a:ln>
        </p:spPr>
        <p:txBody>
          <a:bodyPr/>
          <a:lstStyle/>
          <a:p>
            <a:endParaRPr lang="ja-JP" altLang="en-US"/>
          </a:p>
        </p:txBody>
      </p:sp>
      <p:sp>
        <p:nvSpPr>
          <p:cNvPr id="31" name="Text 28"/>
          <p:cNvSpPr/>
          <p:nvPr/>
        </p:nvSpPr>
        <p:spPr>
          <a:xfrm>
            <a:off x="502920" y="5669280"/>
            <a:ext cx="11365992" cy="713232"/>
          </a:xfrm>
          <a:prstGeom prst="rect">
            <a:avLst/>
          </a:prstGeom>
          <a:noFill/>
          <a:ln/>
        </p:spPr>
        <p:txBody>
          <a:bodyPr wrap="square" lIns="0" tIns="0" rIns="0" bIns="0" rtlCol="0" anchor="ctr">
            <a:normAutofit/>
          </a:bodyPr>
          <a:lstStyle/>
          <a:p>
            <a:pPr marL="0" indent="0">
              <a:lnSpc>
                <a:spcPts val="1200"/>
              </a:lnSpc>
              <a:buNone/>
            </a:pPr>
            <a:r>
              <a:rPr lang="en-US" sz="1100" b="1" dirty="0">
                <a:solidFill>
                  <a:srgbClr val="595959"/>
                </a:solidFill>
                <a:latin typeface="Meiryo UI" pitchFamily="34" charset="0"/>
                <a:ea typeface="Meiryo UI" pitchFamily="34" charset="-122"/>
                <a:cs typeface="Meiryo UI" pitchFamily="34" charset="-120"/>
              </a:rPr>
              <a:t>検討アジェンダ・論点</a:t>
            </a:r>
            <a:endParaRPr lang="en-US" sz="1100" dirty="0"/>
          </a:p>
          <a:p>
            <a:pPr marL="171450" indent="-171450">
              <a:lnSpc>
                <a:spcPts val="1200"/>
              </a:lnSpc>
              <a:buFont typeface="Arial" panose="020B0604020202020204" pitchFamily="34" charset="0"/>
              <a:buChar char="•"/>
            </a:pPr>
            <a:r>
              <a:rPr lang="en-US" sz="1100" b="1" dirty="0">
                <a:solidFill>
                  <a:srgbClr val="595959"/>
                </a:solidFill>
                <a:latin typeface="Meiryo UI" pitchFamily="34" charset="0"/>
                <a:ea typeface="Meiryo UI" pitchFamily="34" charset="-122"/>
                <a:cs typeface="Meiryo UI" pitchFamily="34" charset="-120"/>
              </a:rPr>
              <a:t>撤退ライン設定：衣料洗剤等の標準品事業についてROIC基準と意思決定会議体の確認</a:t>
            </a:r>
            <a:endParaRPr lang="en-US" sz="1100" dirty="0"/>
          </a:p>
          <a:p>
            <a:pPr marL="171450" indent="-171450">
              <a:lnSpc>
                <a:spcPts val="1200"/>
              </a:lnSpc>
              <a:buFont typeface="Arial" panose="020B0604020202020204" pitchFamily="34" charset="0"/>
              <a:buChar char="•"/>
            </a:pPr>
            <a:r>
              <a:rPr lang="en-US" sz="1100" b="1" dirty="0">
                <a:solidFill>
                  <a:srgbClr val="595959"/>
                </a:solidFill>
                <a:latin typeface="Meiryo UI" pitchFamily="34" charset="0"/>
                <a:ea typeface="Meiryo UI" pitchFamily="34" charset="-122"/>
                <a:cs typeface="Meiryo UI" pitchFamily="34" charset="-120"/>
              </a:rPr>
              <a:t>Oral Evidence Hub：投資規模・担当部署・FY27API公開の実現可能性</a:t>
            </a:r>
            <a:endParaRPr lang="en-US" sz="1100" dirty="0"/>
          </a:p>
          <a:p>
            <a:pPr marL="171450" indent="-171450">
              <a:lnSpc>
                <a:spcPts val="1200"/>
              </a:lnSpc>
              <a:buFont typeface="Arial" panose="020B0604020202020204" pitchFamily="34" charset="0"/>
              <a:buChar char="•"/>
            </a:pPr>
            <a:r>
              <a:rPr lang="en-US" sz="1100" b="1" dirty="0">
                <a:solidFill>
                  <a:srgbClr val="595959"/>
                </a:solidFill>
                <a:latin typeface="Meiryo UI" pitchFamily="34" charset="0"/>
                <a:ea typeface="Meiryo UI" pitchFamily="34" charset="-122"/>
                <a:cs typeface="Meiryo UI" pitchFamily="34" charset="-120"/>
              </a:rPr>
              <a:t>AIEO Rate目標：P&amp;G先行状況のベンチマークと自社現在地の把握</a:t>
            </a:r>
            <a:endParaRPr lang="en-US" sz="1100" dirty="0"/>
          </a:p>
        </p:txBody>
      </p:sp>
      <p:sp>
        <p:nvSpPr>
          <p:cNvPr id="33" name="Text 30"/>
          <p:cNvSpPr/>
          <p:nvPr/>
        </p:nvSpPr>
        <p:spPr>
          <a:xfrm>
            <a:off x="4279392" y="5650992"/>
            <a:ext cx="7452360" cy="749808"/>
          </a:xfrm>
          <a:prstGeom prst="rect">
            <a:avLst/>
          </a:prstGeom>
          <a:noFill/>
          <a:ln/>
        </p:spPr>
        <p:txBody>
          <a:bodyPr wrap="square" lIns="0" tIns="0" rIns="0" bIns="0" rtlCol="0" anchor="ctr">
            <a:normAutofit/>
          </a:bodyPr>
          <a:lstStyle/>
          <a:p>
            <a:pPr marL="0" indent="0">
              <a:lnSpc>
                <a:spcPts val="1250"/>
              </a:lnSpc>
              <a:buNone/>
            </a:pP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219456" y="0"/>
            <a:ext cx="10332720" cy="914400"/>
          </a:xfrm>
          <a:prstGeom prst="rect">
            <a:avLst/>
          </a:prstGeom>
          <a:noFill/>
          <a:ln/>
        </p:spPr>
        <p:txBody>
          <a:bodyPr wrap="square" lIns="0" tIns="0" rIns="0" bIns="0" rtlCol="0" anchor="b" anchorCtr="0"/>
          <a:lstStyle/>
          <a:p>
            <a:r>
              <a:rPr lang="ja-JP" altLang="en-US" b="1" dirty="0">
                <a:solidFill>
                  <a:srgbClr val="000000"/>
                </a:solidFill>
                <a:latin typeface="Meiryo UI" pitchFamily="34" charset="0"/>
                <a:ea typeface="Meiryo UI" pitchFamily="34" charset="-122"/>
                <a:cs typeface="Meiryo UI" pitchFamily="34" charset="-120"/>
              </a:rPr>
              <a:t>テーマｘ重点施策</a:t>
            </a:r>
            <a:endParaRPr lang="en-US" sz="1800" b="1" dirty="0">
              <a:solidFill>
                <a:srgbClr val="000000"/>
              </a:solidFill>
              <a:latin typeface="Meiryo UI" pitchFamily="34" charset="0"/>
              <a:ea typeface="Meiryo UI" pitchFamily="34" charset="-122"/>
              <a:cs typeface="Meiryo UI" pitchFamily="34" charset="-120"/>
            </a:endParaRPr>
          </a:p>
          <a:p>
            <a:pPr marL="0" indent="0">
              <a:buNone/>
            </a:pPr>
            <a:r>
              <a:rPr lang="en-US" sz="1800" b="1" dirty="0">
                <a:solidFill>
                  <a:srgbClr val="000000"/>
                </a:solidFill>
                <a:latin typeface="Meiryo UI" pitchFamily="34" charset="0"/>
                <a:ea typeface="Meiryo UI" pitchFamily="34" charset="-122"/>
                <a:cs typeface="Meiryo UI" pitchFamily="34" charset="-120"/>
              </a:rPr>
              <a:t>T2　小売との共創型データ戦略</a:t>
            </a:r>
            <a:endParaRPr lang="en-US" sz="1800" dirty="0"/>
          </a:p>
        </p:txBody>
      </p:sp>
      <p:pic>
        <p:nvPicPr>
          <p:cNvPr id="3" name="Image 0" descr="/home/claude/logo.png"/>
          <p:cNvPicPr>
            <a:picLocks noChangeAspect="1"/>
          </p:cNvPicPr>
          <p:nvPr/>
        </p:nvPicPr>
        <p:blipFill>
          <a:blip r:embed="rId3"/>
          <a:stretch>
            <a:fillRect/>
          </a:stretch>
        </p:blipFill>
        <p:spPr>
          <a:xfrm>
            <a:off x="10881360" y="201168"/>
            <a:ext cx="868680" cy="566928"/>
          </a:xfrm>
          <a:prstGeom prst="rect">
            <a:avLst/>
          </a:prstGeom>
        </p:spPr>
      </p:pic>
      <p:sp>
        <p:nvSpPr>
          <p:cNvPr id="4" name="Shape 1"/>
          <p:cNvSpPr/>
          <p:nvPr/>
        </p:nvSpPr>
        <p:spPr>
          <a:xfrm>
            <a:off x="0" y="914400"/>
            <a:ext cx="12188952" cy="0"/>
          </a:xfrm>
          <a:prstGeom prst="line">
            <a:avLst/>
          </a:prstGeom>
          <a:noFill/>
          <a:ln w="28575">
            <a:solidFill>
              <a:srgbClr val="008000"/>
            </a:solidFill>
            <a:prstDash val="solid"/>
          </a:ln>
        </p:spPr>
        <p:txBody>
          <a:bodyPr/>
          <a:lstStyle/>
          <a:p>
            <a:endParaRPr lang="ja-JP" altLang="en-US"/>
          </a:p>
        </p:txBody>
      </p:sp>
      <p:sp>
        <p:nvSpPr>
          <p:cNvPr id="5" name="Text 2"/>
          <p:cNvSpPr/>
          <p:nvPr/>
        </p:nvSpPr>
        <p:spPr>
          <a:xfrm>
            <a:off x="219456" y="969264"/>
            <a:ext cx="11750040" cy="384048"/>
          </a:xfrm>
          <a:prstGeom prst="rect">
            <a:avLst/>
          </a:prstGeom>
          <a:noFill/>
          <a:ln/>
        </p:spPr>
        <p:txBody>
          <a:bodyPr wrap="square" lIns="0" tIns="0" rIns="0" bIns="0" rtlCol="0" anchor="ctr"/>
          <a:lstStyle/>
          <a:p>
            <a:pPr marL="0" indent="0">
              <a:buNone/>
            </a:pPr>
            <a:r>
              <a:rPr lang="ja-JP" altLang="en-US" dirty="0">
                <a:solidFill>
                  <a:srgbClr val="000000"/>
                </a:solidFill>
                <a:latin typeface="Meiryo UI" pitchFamily="34" charset="0"/>
                <a:ea typeface="Meiryo UI" pitchFamily="34" charset="-122"/>
                <a:cs typeface="Meiryo UI" pitchFamily="34" charset="-120"/>
              </a:rPr>
              <a:t>マス向けは</a:t>
            </a:r>
            <a:r>
              <a:rPr lang="en-US" dirty="0" err="1">
                <a:solidFill>
                  <a:srgbClr val="000000"/>
                </a:solidFill>
                <a:latin typeface="Meiryo UI" pitchFamily="34" charset="0"/>
                <a:ea typeface="Meiryo UI" pitchFamily="34" charset="-122"/>
                <a:cs typeface="Meiryo UI" pitchFamily="34" charset="-120"/>
              </a:rPr>
              <a:t>小売インフラを最大活用し</a:t>
            </a:r>
            <a:r>
              <a:rPr lang="ja-JP" altLang="en-US" dirty="0">
                <a:solidFill>
                  <a:srgbClr val="000000"/>
                </a:solidFill>
                <a:latin typeface="Meiryo UI" pitchFamily="34" charset="0"/>
                <a:ea typeface="Meiryo UI" pitchFamily="34" charset="-122"/>
                <a:cs typeface="Meiryo UI" pitchFamily="34" charset="-120"/>
              </a:rPr>
              <a:t>つつ、</a:t>
            </a:r>
            <a:r>
              <a:rPr lang="en-US" dirty="0">
                <a:solidFill>
                  <a:srgbClr val="000000"/>
                </a:solidFill>
                <a:latin typeface="Meiryo UI" pitchFamily="34" charset="0"/>
                <a:ea typeface="Meiryo UI" pitchFamily="34" charset="-122"/>
                <a:cs typeface="Meiryo UI" pitchFamily="34" charset="-120"/>
              </a:rPr>
              <a:t>LION ID</a:t>
            </a:r>
            <a:r>
              <a:rPr lang="ja-JP" altLang="en-US" dirty="0">
                <a:solidFill>
                  <a:srgbClr val="000000"/>
                </a:solidFill>
                <a:latin typeface="Meiryo UI" pitchFamily="34" charset="0"/>
                <a:ea typeface="Meiryo UI" pitchFamily="34" charset="-122"/>
                <a:cs typeface="Meiryo UI" pitchFamily="34" charset="-120"/>
              </a:rPr>
              <a:t>を通して顧客関係を強化し、エンゲージメントを高めていく。</a:t>
            </a:r>
            <a:endParaRPr lang="en-US" dirty="0"/>
          </a:p>
        </p:txBody>
      </p:sp>
      <p:sp>
        <p:nvSpPr>
          <p:cNvPr id="6" name="Text 3"/>
          <p:cNvSpPr/>
          <p:nvPr/>
        </p:nvSpPr>
        <p:spPr>
          <a:xfrm>
            <a:off x="11658600" y="6528816"/>
            <a:ext cx="411480" cy="274320"/>
          </a:xfrm>
          <a:prstGeom prst="rect">
            <a:avLst/>
          </a:prstGeom>
          <a:noFill/>
          <a:ln/>
        </p:spPr>
        <p:txBody>
          <a:bodyPr wrap="square" lIns="0" tIns="0" rIns="0" bIns="0" rtlCol="0" anchor="ctr"/>
          <a:lstStyle/>
          <a:p>
            <a:pPr marL="0" indent="0" algn="r">
              <a:buNone/>
            </a:pPr>
            <a:r>
              <a:rPr lang="en-US" sz="1000" dirty="0">
                <a:solidFill>
                  <a:srgbClr val="595959"/>
                </a:solidFill>
                <a:latin typeface="Meiryo UI" pitchFamily="34" charset="0"/>
                <a:ea typeface="Meiryo UI" pitchFamily="34" charset="-122"/>
                <a:cs typeface="Meiryo UI" pitchFamily="34" charset="-120"/>
              </a:rPr>
              <a:t>6</a:t>
            </a:r>
            <a:endParaRPr lang="en-US" sz="1000" dirty="0"/>
          </a:p>
        </p:txBody>
      </p:sp>
      <p:sp>
        <p:nvSpPr>
          <p:cNvPr id="7" name="Text 4"/>
          <p:cNvSpPr/>
          <p:nvPr/>
        </p:nvSpPr>
        <p:spPr>
          <a:xfrm>
            <a:off x="219456" y="6556248"/>
            <a:ext cx="8229600" cy="228600"/>
          </a:xfrm>
          <a:prstGeom prst="rect">
            <a:avLst/>
          </a:prstGeom>
          <a:noFill/>
          <a:ln/>
        </p:spPr>
        <p:txBody>
          <a:bodyPr wrap="square" lIns="0" tIns="0" rIns="0" bIns="0" rtlCol="0" anchor="ctr"/>
          <a:lstStyle/>
          <a:p>
            <a:pPr marL="0" indent="0">
              <a:buNone/>
            </a:pPr>
            <a:r>
              <a:rPr lang="en-US" sz="750" dirty="0">
                <a:solidFill>
                  <a:srgbClr val="595959"/>
                </a:solidFill>
                <a:latin typeface="Meiryo UI" pitchFamily="34" charset="0"/>
                <a:ea typeface="Meiryo UI" pitchFamily="34" charset="-122"/>
                <a:cs typeface="Meiryo UI" pitchFamily="34" charset="-120"/>
              </a:rPr>
              <a:t>LION Corporation ｜ 営業・マーケティングDX戦略 検討アジェンダ（P.6「真因・GAP分析」後続）</a:t>
            </a:r>
            <a:endParaRPr lang="en-US" sz="750" dirty="0"/>
          </a:p>
        </p:txBody>
      </p:sp>
      <p:sp>
        <p:nvSpPr>
          <p:cNvPr id="8" name="Text 5"/>
          <p:cNvSpPr/>
          <p:nvPr/>
        </p:nvSpPr>
        <p:spPr>
          <a:xfrm>
            <a:off x="320040" y="1481328"/>
            <a:ext cx="5669280" cy="310896"/>
          </a:xfrm>
          <a:prstGeom prst="roundRect">
            <a:avLst>
              <a:gd name="adj" fmla="val 17647"/>
            </a:avLst>
          </a:prstGeom>
          <a:solidFill>
            <a:srgbClr val="008D2E"/>
          </a:solidFill>
          <a:ln w="9525">
            <a:solidFill>
              <a:srgbClr val="008D2E"/>
            </a:solidFill>
          </a:ln>
        </p:spPr>
        <p:txBody>
          <a:bodyPr wrap="square" lIns="0" tIns="0" rIns="0" bIns="0" rtlCol="0" anchor="ctr"/>
          <a:lstStyle/>
          <a:p>
            <a:pPr marL="0" indent="0">
              <a:buNone/>
            </a:pPr>
            <a:r>
              <a:rPr lang="en-US" sz="1000" b="1" dirty="0">
                <a:solidFill>
                  <a:srgbClr val="FFFFFF"/>
                </a:solidFill>
                <a:latin typeface="Meiryo UI" pitchFamily="34" charset="0"/>
                <a:ea typeface="Meiryo UI" pitchFamily="34" charset="-122"/>
                <a:cs typeface="Meiryo UI" pitchFamily="34" charset="-120"/>
              </a:rPr>
              <a:t>アプローチ：リテールメディア全投資転換＋ 専門ニッチデータ直接蓄積の二階建てモデル</a:t>
            </a:r>
            <a:endParaRPr lang="en-US" sz="1000" dirty="0"/>
          </a:p>
        </p:txBody>
      </p:sp>
      <p:sp>
        <p:nvSpPr>
          <p:cNvPr id="9" name="Text 6"/>
          <p:cNvSpPr/>
          <p:nvPr/>
        </p:nvSpPr>
        <p:spPr>
          <a:xfrm>
            <a:off x="6199632" y="1481328"/>
            <a:ext cx="1124712" cy="310896"/>
          </a:xfrm>
          <a:prstGeom prst="roundRect">
            <a:avLst>
              <a:gd name="adj" fmla="val 17647"/>
            </a:avLst>
          </a:prstGeom>
          <a:solidFill>
            <a:srgbClr val="C00000"/>
          </a:solidFill>
          <a:ln w="9525">
            <a:solidFill>
              <a:srgbClr val="C00000"/>
            </a:solid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GAP2対応</a:t>
            </a:r>
            <a:endParaRPr lang="en-US" sz="900" dirty="0"/>
          </a:p>
        </p:txBody>
      </p:sp>
      <p:sp>
        <p:nvSpPr>
          <p:cNvPr id="10" name="Text 7"/>
          <p:cNvSpPr/>
          <p:nvPr/>
        </p:nvSpPr>
        <p:spPr>
          <a:xfrm>
            <a:off x="7452360" y="1481328"/>
            <a:ext cx="2112264" cy="310896"/>
          </a:xfrm>
          <a:prstGeom prst="roundRect">
            <a:avLst>
              <a:gd name="adj" fmla="val 17647"/>
            </a:avLst>
          </a:prstGeom>
          <a:solidFill>
            <a:srgbClr val="595959"/>
          </a:solidFill>
          <a:ln w="9525">
            <a:solidFill>
              <a:srgbClr val="595959"/>
            </a:solid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実行期間：FY26–FY29</a:t>
            </a:r>
            <a:endParaRPr lang="en-US" sz="900" dirty="0"/>
          </a:p>
        </p:txBody>
      </p:sp>
      <p:sp>
        <p:nvSpPr>
          <p:cNvPr id="13" name="Shape 10"/>
          <p:cNvSpPr/>
          <p:nvPr/>
        </p:nvSpPr>
        <p:spPr>
          <a:xfrm>
            <a:off x="320040" y="19385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14" name="Text 11"/>
          <p:cNvSpPr/>
          <p:nvPr/>
        </p:nvSpPr>
        <p:spPr>
          <a:xfrm>
            <a:off x="448056" y="2066544"/>
            <a:ext cx="329184" cy="329184"/>
          </a:xfrm>
          <a:prstGeom prst="ellipse">
            <a:avLst/>
          </a:prstGeom>
          <a:solidFill>
            <a:srgbClr val="008000"/>
          </a:solidFill>
          <a:ln/>
        </p:spPr>
        <p:txBody>
          <a:bodyPr wrap="square" lIns="0" tIns="0" rIns="0" bIns="0" rtlCol="0" anchor="ctr"/>
          <a:lstStyle/>
          <a:p>
            <a:pPr marL="0" indent="0" algn="ctr">
              <a:buNone/>
            </a:pPr>
            <a:r>
              <a:rPr lang="ja-JP" altLang="en-US" sz="1300" b="1" dirty="0">
                <a:solidFill>
                  <a:srgbClr val="FFFFFF"/>
                </a:solidFill>
                <a:latin typeface="Meiryo UI" pitchFamily="34" charset="0"/>
                <a:ea typeface="Meiryo UI" pitchFamily="34" charset="-122"/>
              </a:rPr>
              <a:t>③</a:t>
            </a:r>
            <a:endParaRPr lang="en-US" sz="1300" dirty="0"/>
          </a:p>
        </p:txBody>
      </p:sp>
      <p:sp>
        <p:nvSpPr>
          <p:cNvPr id="15" name="Text 12"/>
          <p:cNvSpPr/>
          <p:nvPr/>
        </p:nvSpPr>
        <p:spPr>
          <a:xfrm>
            <a:off x="886968" y="20299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a:solidFill>
                  <a:srgbClr val="01953D"/>
                </a:solidFill>
                <a:latin typeface="Meiryo UI" pitchFamily="34" charset="0"/>
                <a:ea typeface="Meiryo UI" pitchFamily="34" charset="-122"/>
                <a:cs typeface="Meiryo UI" pitchFamily="34" charset="-120"/>
              </a:rPr>
              <a:t>重点施策</a:t>
            </a:r>
            <a:r>
              <a:rPr lang="ja-JP" altLang="en-US" sz="1100" b="1" dirty="0">
                <a:solidFill>
                  <a:srgbClr val="01953D"/>
                </a:solidFill>
                <a:latin typeface="Meiryo UI" pitchFamily="34" charset="0"/>
                <a:ea typeface="Meiryo UI" pitchFamily="34" charset="-122"/>
                <a:cs typeface="Meiryo UI" pitchFamily="34" charset="-120"/>
              </a:rPr>
              <a:t>③</a:t>
            </a:r>
            <a:r>
              <a:rPr lang="en-US" sz="1100" b="1" dirty="0">
                <a:solidFill>
                  <a:srgbClr val="01953D"/>
                </a:solidFill>
                <a:latin typeface="Meiryo UI" pitchFamily="34" charset="0"/>
                <a:ea typeface="Meiryo UI" pitchFamily="34" charset="-122"/>
                <a:cs typeface="Meiryo UI" pitchFamily="34" charset="-120"/>
              </a:rPr>
              <a:t>　リテールメディアJBP化 × Total Availability（小売共創）</a:t>
            </a:r>
            <a:endParaRPr lang="en-US" sz="1100" dirty="0"/>
          </a:p>
        </p:txBody>
      </p:sp>
      <p:sp>
        <p:nvSpPr>
          <p:cNvPr id="16" name="Text 13"/>
          <p:cNvSpPr/>
          <p:nvPr/>
        </p:nvSpPr>
        <p:spPr>
          <a:xfrm>
            <a:off x="502920" y="24871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単発スポット広告から、重点小売2〜3社との共同KPI（N-t-C・増分粗利）に紐づくプログラマティック投資へ転換し、物理棚・EC・AI推奨を統合スコア管理する。</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KPI：Total Availabilityスコア（FY27: 70% → FY30: 90%）/ KOIC（既知顧客売上カバレッジ）</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実施時期：FY26重点小売先行実装 → FY28水平展開</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論点：バイヤーとのJBP締結交渉の進め方・共同KPI設計の優先小売選定</a:t>
            </a:r>
            <a:endParaRPr lang="en-US" sz="950" dirty="0"/>
          </a:p>
        </p:txBody>
      </p:sp>
      <p:sp>
        <p:nvSpPr>
          <p:cNvPr id="17" name="Shape 14"/>
          <p:cNvSpPr/>
          <p:nvPr/>
        </p:nvSpPr>
        <p:spPr>
          <a:xfrm>
            <a:off x="6199632" y="19385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18" name="Text 15"/>
          <p:cNvSpPr/>
          <p:nvPr/>
        </p:nvSpPr>
        <p:spPr>
          <a:xfrm>
            <a:off x="6327648" y="2066544"/>
            <a:ext cx="329184" cy="329184"/>
          </a:xfrm>
          <a:prstGeom prst="ellipse">
            <a:avLst/>
          </a:prstGeom>
          <a:solidFill>
            <a:srgbClr val="008000"/>
          </a:solidFill>
          <a:ln/>
        </p:spPr>
        <p:txBody>
          <a:bodyPr wrap="square" lIns="0" tIns="0" rIns="0" bIns="0" rtlCol="0" anchor="ctr"/>
          <a:lstStyle/>
          <a:p>
            <a:pPr marL="0" indent="0" algn="ctr">
              <a:buNone/>
            </a:pPr>
            <a:r>
              <a:rPr lang="ja-JP" altLang="en-US" sz="1300" b="1" dirty="0">
                <a:solidFill>
                  <a:srgbClr val="FFFFFF"/>
                </a:solidFill>
                <a:latin typeface="Meiryo UI" pitchFamily="34" charset="0"/>
                <a:ea typeface="Meiryo UI" pitchFamily="34" charset="-122"/>
              </a:rPr>
              <a:t>④</a:t>
            </a:r>
            <a:endParaRPr lang="en-US" sz="1300" dirty="0"/>
          </a:p>
        </p:txBody>
      </p:sp>
      <p:sp>
        <p:nvSpPr>
          <p:cNvPr id="19" name="Text 16"/>
          <p:cNvSpPr/>
          <p:nvPr/>
        </p:nvSpPr>
        <p:spPr>
          <a:xfrm>
            <a:off x="6766560" y="20299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a:solidFill>
                  <a:srgbClr val="01953D"/>
                </a:solidFill>
                <a:latin typeface="Meiryo UI" pitchFamily="34" charset="0"/>
                <a:ea typeface="Meiryo UI" pitchFamily="34" charset="-122"/>
                <a:cs typeface="Meiryo UI" pitchFamily="34" charset="-120"/>
              </a:rPr>
              <a:t>重点施策</a:t>
            </a:r>
            <a:r>
              <a:rPr lang="ja-JP" altLang="en-US" sz="1100" b="1" dirty="0">
                <a:solidFill>
                  <a:srgbClr val="01953D"/>
                </a:solidFill>
                <a:latin typeface="Meiryo UI" pitchFamily="34" charset="0"/>
                <a:ea typeface="Meiryo UI" pitchFamily="34" charset="-122"/>
                <a:cs typeface="Meiryo UI" pitchFamily="34" charset="-120"/>
              </a:rPr>
              <a:t>④</a:t>
            </a:r>
            <a:r>
              <a:rPr lang="en-US" sz="1100" b="1" dirty="0">
                <a:solidFill>
                  <a:srgbClr val="01953D"/>
                </a:solidFill>
                <a:latin typeface="Meiryo UI" pitchFamily="34" charset="0"/>
                <a:ea typeface="Meiryo UI" pitchFamily="34" charset="-122"/>
                <a:cs typeface="Meiryo UI" pitchFamily="34" charset="-120"/>
              </a:rPr>
              <a:t>　LION IDの「口腔健康OS化」とOral Health Graph構築</a:t>
            </a:r>
            <a:endParaRPr lang="en-US" sz="1100" dirty="0"/>
          </a:p>
        </p:txBody>
      </p:sp>
      <p:sp>
        <p:nvSpPr>
          <p:cNvPr id="20" name="Text 17"/>
          <p:cNvSpPr/>
          <p:nvPr/>
        </p:nvSpPr>
        <p:spPr>
          <a:xfrm>
            <a:off x="6382512" y="24871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「割引クーポン型ID」から「口腔健康OS入口」へ転換し、購入前→購買→習慣→口腔状態を連結するデータモデルとGCP統合基盤を整備する。</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KPI：アクティブLION ID数 / DCR連携率 / 90日習慣継続率（FY30目標値は中計確認後設定）</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実施時期：FY27設計 → FY28構築 → FY29本格活用</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論点：GCP統合基盤投資規模・ROIとFY27着手判断</a:t>
            </a:r>
            <a:endParaRPr lang="en-US" sz="950" dirty="0"/>
          </a:p>
        </p:txBody>
      </p:sp>
      <p:sp>
        <p:nvSpPr>
          <p:cNvPr id="21" name="Shape 18"/>
          <p:cNvSpPr/>
          <p:nvPr/>
        </p:nvSpPr>
        <p:spPr>
          <a:xfrm>
            <a:off x="320040" y="37673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22" name="Text 19"/>
          <p:cNvSpPr/>
          <p:nvPr/>
        </p:nvSpPr>
        <p:spPr>
          <a:xfrm>
            <a:off x="448056" y="3895344"/>
            <a:ext cx="329184" cy="329184"/>
          </a:xfrm>
          <a:prstGeom prst="ellipse">
            <a:avLst/>
          </a:prstGeom>
          <a:solidFill>
            <a:srgbClr val="008000"/>
          </a:solid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a:t>
            </a:r>
            <a:endParaRPr lang="en-US" sz="1300" dirty="0"/>
          </a:p>
        </p:txBody>
      </p:sp>
      <p:sp>
        <p:nvSpPr>
          <p:cNvPr id="23" name="Text 20"/>
          <p:cNvSpPr/>
          <p:nvPr/>
        </p:nvSpPr>
        <p:spPr>
          <a:xfrm>
            <a:off x="886968" y="38587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err="1">
                <a:solidFill>
                  <a:srgbClr val="01953D"/>
                </a:solidFill>
                <a:latin typeface="Meiryo UI" pitchFamily="34" charset="0"/>
                <a:ea typeface="Meiryo UI" pitchFamily="34" charset="-122"/>
                <a:cs typeface="Meiryo UI" pitchFamily="34" charset="-120"/>
              </a:rPr>
              <a:t>主要アクション（重点施策</a:t>
            </a:r>
            <a:r>
              <a:rPr lang="ja-JP" altLang="en-US" sz="1100" b="1" dirty="0">
                <a:solidFill>
                  <a:srgbClr val="01953D"/>
                </a:solidFill>
                <a:latin typeface="Meiryo UI" pitchFamily="34" charset="0"/>
                <a:ea typeface="Meiryo UI" pitchFamily="34" charset="-122"/>
                <a:cs typeface="Meiryo UI" pitchFamily="34" charset="-120"/>
              </a:rPr>
              <a:t>③</a:t>
            </a:r>
            <a:r>
              <a:rPr lang="en-US" sz="1100" b="1" dirty="0" err="1">
                <a:solidFill>
                  <a:srgbClr val="01953D"/>
                </a:solidFill>
                <a:latin typeface="Meiryo UI" pitchFamily="34" charset="0"/>
                <a:ea typeface="Meiryo UI" pitchFamily="34" charset="-122"/>
                <a:cs typeface="Meiryo UI" pitchFamily="34" charset="-120"/>
              </a:rPr>
              <a:t>配下</a:t>
            </a:r>
            <a:r>
              <a:rPr lang="en-US" sz="1100" b="1" dirty="0">
                <a:solidFill>
                  <a:srgbClr val="01953D"/>
                </a:solidFill>
                <a:latin typeface="Meiryo UI" pitchFamily="34" charset="0"/>
                <a:ea typeface="Meiryo UI" pitchFamily="34" charset="-122"/>
                <a:cs typeface="Meiryo UI" pitchFamily="34" charset="-120"/>
              </a:rPr>
              <a:t>）</a:t>
            </a:r>
            <a:endParaRPr lang="en-US" sz="1100" dirty="0"/>
          </a:p>
        </p:txBody>
      </p:sp>
      <p:sp>
        <p:nvSpPr>
          <p:cNvPr id="24" name="Text 21"/>
          <p:cNvSpPr/>
          <p:nvPr/>
        </p:nvSpPr>
        <p:spPr>
          <a:xfrm>
            <a:off x="502920" y="43159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・診断型売場の標準パッケージ化（QR診断→商品推薦→LION ID誘導）</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・リテールメディアのプログラマティック投資転換（スポット買い廃止）</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・B2B2C接続設計（歯科→消費者→小売の統合データモデル）</a:t>
            </a:r>
            <a:endParaRPr lang="en-US" sz="950" dirty="0"/>
          </a:p>
        </p:txBody>
      </p:sp>
      <p:sp>
        <p:nvSpPr>
          <p:cNvPr id="25" name="Shape 22"/>
          <p:cNvSpPr/>
          <p:nvPr/>
        </p:nvSpPr>
        <p:spPr>
          <a:xfrm>
            <a:off x="6199632" y="37673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26" name="Text 23"/>
          <p:cNvSpPr/>
          <p:nvPr/>
        </p:nvSpPr>
        <p:spPr>
          <a:xfrm>
            <a:off x="6327648" y="3895344"/>
            <a:ext cx="329184" cy="329184"/>
          </a:xfrm>
          <a:prstGeom prst="ellipse">
            <a:avLst/>
          </a:prstGeom>
          <a:solidFill>
            <a:srgbClr val="008000"/>
          </a:solid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a:t>
            </a:r>
            <a:endParaRPr lang="en-US" sz="1300" dirty="0"/>
          </a:p>
        </p:txBody>
      </p:sp>
      <p:sp>
        <p:nvSpPr>
          <p:cNvPr id="27" name="Text 24"/>
          <p:cNvSpPr/>
          <p:nvPr/>
        </p:nvSpPr>
        <p:spPr>
          <a:xfrm>
            <a:off x="6766560" y="38587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err="1">
                <a:solidFill>
                  <a:srgbClr val="01953D"/>
                </a:solidFill>
                <a:latin typeface="Meiryo UI" pitchFamily="34" charset="0"/>
                <a:ea typeface="Meiryo UI" pitchFamily="34" charset="-122"/>
                <a:cs typeface="Meiryo UI" pitchFamily="34" charset="-120"/>
              </a:rPr>
              <a:t>主要アクション（重点施策</a:t>
            </a:r>
            <a:r>
              <a:rPr lang="ja-JP" altLang="en-US" sz="1100" b="1" dirty="0">
                <a:solidFill>
                  <a:srgbClr val="01953D"/>
                </a:solidFill>
                <a:latin typeface="Meiryo UI" pitchFamily="34" charset="0"/>
                <a:ea typeface="Meiryo UI" pitchFamily="34" charset="-122"/>
                <a:cs typeface="Meiryo UI" pitchFamily="34" charset="-120"/>
              </a:rPr>
              <a:t>④</a:t>
            </a:r>
            <a:r>
              <a:rPr lang="en-US" sz="1100" b="1" dirty="0" err="1">
                <a:solidFill>
                  <a:srgbClr val="01953D"/>
                </a:solidFill>
                <a:latin typeface="Meiryo UI" pitchFamily="34" charset="0"/>
                <a:ea typeface="Meiryo UI" pitchFamily="34" charset="-122"/>
                <a:cs typeface="Meiryo UI" pitchFamily="34" charset="-120"/>
              </a:rPr>
              <a:t>配下</a:t>
            </a:r>
            <a:r>
              <a:rPr lang="en-US" sz="1100" b="1" dirty="0">
                <a:solidFill>
                  <a:srgbClr val="01953D"/>
                </a:solidFill>
                <a:latin typeface="Meiryo UI" pitchFamily="34" charset="0"/>
                <a:ea typeface="Meiryo UI" pitchFamily="34" charset="-122"/>
                <a:cs typeface="Meiryo UI" pitchFamily="34" charset="-120"/>
              </a:rPr>
              <a:t>）</a:t>
            </a:r>
            <a:endParaRPr lang="en-US" sz="1100" dirty="0"/>
          </a:p>
        </p:txBody>
      </p:sp>
      <p:sp>
        <p:nvSpPr>
          <p:cNvPr id="28" name="Text 25"/>
          <p:cNvSpPr/>
          <p:nvPr/>
        </p:nvSpPr>
        <p:spPr>
          <a:xfrm>
            <a:off x="6382512" y="43159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・LION ID価値の再設計（クーポン型→口腔健康OS入口型）</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・小売横断ID連携（DCR活用による既知顧客売上カバレッジ向上）</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・顧客資本のKPI化・IR統合報告書への開示設計</a:t>
            </a:r>
            <a:endParaRPr lang="en-US" sz="950" dirty="0"/>
          </a:p>
        </p:txBody>
      </p:sp>
      <p:sp>
        <p:nvSpPr>
          <p:cNvPr id="29" name="Shape 26"/>
          <p:cNvSpPr/>
          <p:nvPr/>
        </p:nvSpPr>
        <p:spPr>
          <a:xfrm>
            <a:off x="320040" y="5596128"/>
            <a:ext cx="11548872" cy="841248"/>
          </a:xfrm>
          <a:prstGeom prst="roundRect">
            <a:avLst>
              <a:gd name="adj" fmla="val 5435"/>
            </a:avLst>
          </a:prstGeom>
          <a:solidFill>
            <a:srgbClr val="E5F2E5"/>
          </a:solidFill>
          <a:ln w="9525">
            <a:solidFill>
              <a:srgbClr val="008D2E"/>
            </a:solidFill>
            <a:prstDash val="solid"/>
          </a:ln>
        </p:spPr>
        <p:txBody>
          <a:bodyPr/>
          <a:lstStyle/>
          <a:p>
            <a:endParaRPr lang="ja-JP" altLang="en-US"/>
          </a:p>
        </p:txBody>
      </p:sp>
      <p:sp>
        <p:nvSpPr>
          <p:cNvPr id="30" name="Text 27"/>
          <p:cNvSpPr/>
          <p:nvPr/>
        </p:nvSpPr>
        <p:spPr>
          <a:xfrm>
            <a:off x="502920" y="5669280"/>
            <a:ext cx="11228832" cy="713232"/>
          </a:xfrm>
          <a:prstGeom prst="rect">
            <a:avLst/>
          </a:prstGeom>
          <a:noFill/>
          <a:ln/>
        </p:spPr>
        <p:txBody>
          <a:bodyPr wrap="square" lIns="0" tIns="0" rIns="0" bIns="0" rtlCol="0" anchor="ctr">
            <a:normAutofit/>
          </a:bodyPr>
          <a:lstStyle/>
          <a:p>
            <a:pPr marL="0" indent="0">
              <a:lnSpc>
                <a:spcPts val="1200"/>
              </a:lnSpc>
              <a:buNone/>
            </a:pPr>
            <a:r>
              <a:rPr lang="en-US" sz="1100" b="1" dirty="0">
                <a:solidFill>
                  <a:srgbClr val="595959"/>
                </a:solidFill>
                <a:latin typeface="Meiryo UI" pitchFamily="34" charset="0"/>
                <a:ea typeface="Meiryo UI" pitchFamily="34" charset="-122"/>
                <a:cs typeface="Meiryo UI" pitchFamily="34" charset="-120"/>
              </a:rPr>
              <a:t>検討アジェンダ・論点</a:t>
            </a:r>
            <a:endParaRPr lang="en-US" sz="1100" dirty="0"/>
          </a:p>
          <a:p>
            <a:pPr marL="171450" indent="-171450">
              <a:lnSpc>
                <a:spcPts val="1200"/>
              </a:lnSpc>
              <a:buFont typeface="Arial" panose="020B0604020202020204" pitchFamily="34" charset="0"/>
              <a:buChar char="•"/>
            </a:pPr>
            <a:r>
              <a:rPr lang="en-US" sz="1100" b="1" dirty="0">
                <a:solidFill>
                  <a:srgbClr val="595959"/>
                </a:solidFill>
                <a:latin typeface="Meiryo UI" pitchFamily="34" charset="0"/>
                <a:ea typeface="Meiryo UI" pitchFamily="34" charset="-122"/>
                <a:cs typeface="Meiryo UI" pitchFamily="34" charset="-120"/>
              </a:rPr>
              <a:t>JBP化の優先小売選定：Total Availabilityを共同KPIとして受け入れる小売パートナーの選定基準</a:t>
            </a:r>
            <a:endParaRPr lang="en-US" sz="1100" dirty="0"/>
          </a:p>
          <a:p>
            <a:pPr marL="171450" indent="-171450">
              <a:lnSpc>
                <a:spcPts val="1200"/>
              </a:lnSpc>
              <a:buFont typeface="Arial" panose="020B0604020202020204" pitchFamily="34" charset="0"/>
              <a:buChar char="•"/>
            </a:pPr>
            <a:r>
              <a:rPr lang="en-US" sz="1100" b="1" dirty="0">
                <a:solidFill>
                  <a:srgbClr val="595959"/>
                </a:solidFill>
                <a:latin typeface="Meiryo UI" pitchFamily="34" charset="0"/>
                <a:ea typeface="Meiryo UI" pitchFamily="34" charset="-122"/>
                <a:cs typeface="Meiryo UI" pitchFamily="34" charset="-120"/>
              </a:rPr>
              <a:t>LION ID転換：既存会員への価値提案変更と移行インセンティブ設計</a:t>
            </a:r>
            <a:endParaRPr lang="en-US" sz="1100" dirty="0"/>
          </a:p>
          <a:p>
            <a:pPr marL="171450" indent="-171450">
              <a:lnSpc>
                <a:spcPts val="1200"/>
              </a:lnSpc>
              <a:buFont typeface="Arial" panose="020B0604020202020204" pitchFamily="34" charset="0"/>
              <a:buChar char="•"/>
            </a:pPr>
            <a:r>
              <a:rPr lang="en-US" sz="1100" b="1" dirty="0">
                <a:solidFill>
                  <a:srgbClr val="595959"/>
                </a:solidFill>
                <a:latin typeface="Meiryo UI" pitchFamily="34" charset="0"/>
                <a:ea typeface="Meiryo UI" pitchFamily="34" charset="-122"/>
                <a:cs typeface="Meiryo UI" pitchFamily="34" charset="-120"/>
              </a:rPr>
              <a:t>GCP統合基盤投資：中計5カ年での優先順位と段階的ロードマップの確認</a:t>
            </a:r>
            <a:endParaRPr lang="en-US" sz="1100" dirty="0"/>
          </a:p>
        </p:txBody>
      </p:sp>
      <p:sp>
        <p:nvSpPr>
          <p:cNvPr id="32" name="Text 29"/>
          <p:cNvSpPr/>
          <p:nvPr/>
        </p:nvSpPr>
        <p:spPr>
          <a:xfrm>
            <a:off x="4279392" y="5650992"/>
            <a:ext cx="7452360" cy="749808"/>
          </a:xfrm>
          <a:prstGeom prst="rect">
            <a:avLst/>
          </a:prstGeom>
          <a:noFill/>
          <a:ln/>
        </p:spPr>
        <p:txBody>
          <a:bodyPr wrap="square" lIns="0" tIns="0" rIns="0" bIns="0" rtlCol="0" anchor="ctr">
            <a:normAutofit/>
          </a:bodyPr>
          <a:lstStyle/>
          <a:p>
            <a:pPr marL="0" indent="0">
              <a:lnSpc>
                <a:spcPts val="1250"/>
              </a:lnSpc>
              <a:buNone/>
            </a:pP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219456" y="0"/>
            <a:ext cx="10332720" cy="914400"/>
          </a:xfrm>
          <a:prstGeom prst="rect">
            <a:avLst/>
          </a:prstGeom>
          <a:noFill/>
          <a:ln/>
        </p:spPr>
        <p:txBody>
          <a:bodyPr wrap="square" lIns="0" tIns="0" rIns="0" bIns="0" rtlCol="0" anchor="b" anchorCtr="0"/>
          <a:lstStyle/>
          <a:p>
            <a:r>
              <a:rPr lang="ja-JP" altLang="en-US" b="1" dirty="0">
                <a:solidFill>
                  <a:srgbClr val="000000"/>
                </a:solidFill>
                <a:latin typeface="Meiryo UI" pitchFamily="34" charset="0"/>
                <a:ea typeface="Meiryo UI" pitchFamily="34" charset="-122"/>
                <a:cs typeface="Meiryo UI" pitchFamily="34" charset="-120"/>
              </a:rPr>
              <a:t>テーマｘ重点施策</a:t>
            </a:r>
            <a:endParaRPr lang="en-US" dirty="0"/>
          </a:p>
          <a:p>
            <a:r>
              <a:rPr lang="en-US" b="1" dirty="0">
                <a:solidFill>
                  <a:srgbClr val="000000"/>
                </a:solidFill>
                <a:latin typeface="Meiryo UI" pitchFamily="34" charset="0"/>
                <a:ea typeface="Meiryo UI" pitchFamily="34" charset="-122"/>
              </a:rPr>
              <a:t>T3　商談価値の革新</a:t>
            </a:r>
          </a:p>
        </p:txBody>
      </p:sp>
      <p:pic>
        <p:nvPicPr>
          <p:cNvPr id="3" name="Image 0" descr="/home/claude/logo.png"/>
          <p:cNvPicPr>
            <a:picLocks noChangeAspect="1"/>
          </p:cNvPicPr>
          <p:nvPr/>
        </p:nvPicPr>
        <p:blipFill>
          <a:blip r:embed="rId3"/>
          <a:stretch>
            <a:fillRect/>
          </a:stretch>
        </p:blipFill>
        <p:spPr>
          <a:xfrm>
            <a:off x="10881360" y="201168"/>
            <a:ext cx="868680" cy="566928"/>
          </a:xfrm>
          <a:prstGeom prst="rect">
            <a:avLst/>
          </a:prstGeom>
        </p:spPr>
      </p:pic>
      <p:sp>
        <p:nvSpPr>
          <p:cNvPr id="4" name="Shape 1"/>
          <p:cNvSpPr/>
          <p:nvPr/>
        </p:nvSpPr>
        <p:spPr>
          <a:xfrm>
            <a:off x="0" y="914400"/>
            <a:ext cx="12188952" cy="0"/>
          </a:xfrm>
          <a:prstGeom prst="line">
            <a:avLst/>
          </a:prstGeom>
          <a:noFill/>
          <a:ln w="28575">
            <a:solidFill>
              <a:srgbClr val="008000"/>
            </a:solidFill>
            <a:prstDash val="solid"/>
          </a:ln>
        </p:spPr>
        <p:txBody>
          <a:bodyPr/>
          <a:lstStyle/>
          <a:p>
            <a:endParaRPr lang="ja-JP" altLang="en-US"/>
          </a:p>
        </p:txBody>
      </p:sp>
      <p:sp>
        <p:nvSpPr>
          <p:cNvPr id="5" name="Text 2"/>
          <p:cNvSpPr/>
          <p:nvPr/>
        </p:nvSpPr>
        <p:spPr>
          <a:xfrm>
            <a:off x="219456" y="969264"/>
            <a:ext cx="11750040" cy="384048"/>
          </a:xfrm>
          <a:prstGeom prst="rect">
            <a:avLst/>
          </a:prstGeom>
          <a:noFill/>
          <a:ln/>
        </p:spPr>
        <p:txBody>
          <a:bodyPr wrap="square" lIns="0" tIns="0" rIns="0" bIns="0" rtlCol="0" anchor="ctr"/>
          <a:lstStyle/>
          <a:p>
            <a:pPr marL="0" indent="0">
              <a:buNone/>
            </a:pPr>
            <a:r>
              <a:rPr lang="en-US" altLang="ja-JP" dirty="0">
                <a:solidFill>
                  <a:srgbClr val="000000"/>
                </a:solidFill>
                <a:latin typeface="Meiryo UI" pitchFamily="34" charset="0"/>
                <a:ea typeface="Meiryo UI" pitchFamily="34" charset="-122"/>
                <a:cs typeface="Meiryo UI" pitchFamily="34" charset="-120"/>
              </a:rPr>
              <a:t>R&amp;D/</a:t>
            </a:r>
            <a:r>
              <a:rPr lang="ja-JP" altLang="en-US" dirty="0">
                <a:solidFill>
                  <a:srgbClr val="000000"/>
                </a:solidFill>
                <a:latin typeface="Meiryo UI" pitchFamily="34" charset="0"/>
                <a:ea typeface="Meiryo UI" pitchFamily="34" charset="-122"/>
                <a:cs typeface="Meiryo UI" pitchFamily="34" charset="-120"/>
              </a:rPr>
              <a:t>マーケ</a:t>
            </a:r>
            <a:r>
              <a:rPr lang="en-US" altLang="ja-JP" dirty="0">
                <a:solidFill>
                  <a:srgbClr val="000000"/>
                </a:solidFill>
                <a:latin typeface="Meiryo UI" pitchFamily="34" charset="0"/>
                <a:ea typeface="Meiryo UI" pitchFamily="34" charset="-122"/>
                <a:cs typeface="Meiryo UI" pitchFamily="34" charset="-120"/>
              </a:rPr>
              <a:t>/</a:t>
            </a:r>
            <a:r>
              <a:rPr lang="ja-JP" altLang="en-US" dirty="0">
                <a:solidFill>
                  <a:srgbClr val="000000"/>
                </a:solidFill>
                <a:latin typeface="Meiryo UI" pitchFamily="34" charset="0"/>
                <a:ea typeface="Meiryo UI" pitchFamily="34" charset="-122"/>
                <a:cs typeface="Meiryo UI" pitchFamily="34" charset="-120"/>
              </a:rPr>
              <a:t>歯科接点などの観点を営業観点でデータ統合・分析を行い、付加価値提供型の営業スタイルに転換。</a:t>
            </a:r>
            <a:endParaRPr lang="en-US" dirty="0"/>
          </a:p>
        </p:txBody>
      </p:sp>
      <p:sp>
        <p:nvSpPr>
          <p:cNvPr id="6" name="Text 3"/>
          <p:cNvSpPr/>
          <p:nvPr/>
        </p:nvSpPr>
        <p:spPr>
          <a:xfrm>
            <a:off x="11658600" y="6528816"/>
            <a:ext cx="411480" cy="274320"/>
          </a:xfrm>
          <a:prstGeom prst="rect">
            <a:avLst/>
          </a:prstGeom>
          <a:noFill/>
          <a:ln/>
        </p:spPr>
        <p:txBody>
          <a:bodyPr wrap="square" lIns="0" tIns="0" rIns="0" bIns="0" rtlCol="0" anchor="ctr"/>
          <a:lstStyle/>
          <a:p>
            <a:pPr marL="0" indent="0" algn="r">
              <a:buNone/>
            </a:pPr>
            <a:r>
              <a:rPr lang="en-US" sz="1000" dirty="0">
                <a:solidFill>
                  <a:srgbClr val="595959"/>
                </a:solidFill>
                <a:latin typeface="Meiryo UI" pitchFamily="34" charset="0"/>
                <a:ea typeface="Meiryo UI" pitchFamily="34" charset="-122"/>
                <a:cs typeface="Meiryo UI" pitchFamily="34" charset="-120"/>
              </a:rPr>
              <a:t>7</a:t>
            </a:r>
            <a:endParaRPr lang="en-US" sz="1000" dirty="0"/>
          </a:p>
        </p:txBody>
      </p:sp>
      <p:sp>
        <p:nvSpPr>
          <p:cNvPr id="7" name="Text 4"/>
          <p:cNvSpPr/>
          <p:nvPr/>
        </p:nvSpPr>
        <p:spPr>
          <a:xfrm>
            <a:off x="219456" y="6556248"/>
            <a:ext cx="8229600" cy="228600"/>
          </a:xfrm>
          <a:prstGeom prst="rect">
            <a:avLst/>
          </a:prstGeom>
          <a:noFill/>
          <a:ln/>
        </p:spPr>
        <p:txBody>
          <a:bodyPr wrap="square" lIns="0" tIns="0" rIns="0" bIns="0" rtlCol="0" anchor="ctr"/>
          <a:lstStyle/>
          <a:p>
            <a:pPr marL="0" indent="0">
              <a:buNone/>
            </a:pPr>
            <a:r>
              <a:rPr lang="en-US" sz="750" dirty="0">
                <a:solidFill>
                  <a:srgbClr val="595959"/>
                </a:solidFill>
                <a:latin typeface="Meiryo UI" pitchFamily="34" charset="0"/>
                <a:ea typeface="Meiryo UI" pitchFamily="34" charset="-122"/>
                <a:cs typeface="Meiryo UI" pitchFamily="34" charset="-120"/>
              </a:rPr>
              <a:t>LION Corporation ｜ 営業・マーケティングDX戦略 検討アジェンダ（P.6「真因・GAP分析」後続）</a:t>
            </a:r>
            <a:endParaRPr lang="en-US" sz="750" dirty="0"/>
          </a:p>
        </p:txBody>
      </p:sp>
      <p:sp>
        <p:nvSpPr>
          <p:cNvPr id="8" name="Text 5"/>
          <p:cNvSpPr/>
          <p:nvPr/>
        </p:nvSpPr>
        <p:spPr>
          <a:xfrm>
            <a:off x="320040" y="1481328"/>
            <a:ext cx="5669280" cy="320040"/>
          </a:xfrm>
          <a:prstGeom prst="roundRect">
            <a:avLst>
              <a:gd name="adj" fmla="val 17647"/>
            </a:avLst>
          </a:prstGeom>
          <a:solidFill>
            <a:srgbClr val="008D2E"/>
          </a:solidFill>
          <a:ln w="9525">
            <a:solidFill>
              <a:srgbClr val="008D2E"/>
            </a:solidFill>
          </a:ln>
        </p:spPr>
        <p:txBody>
          <a:bodyPr wrap="square" lIns="0" tIns="0" rIns="0" bIns="0" rtlCol="0" anchor="ctr"/>
          <a:lstStyle/>
          <a:p>
            <a:pPr marL="0" indent="0">
              <a:buNone/>
            </a:pPr>
            <a:r>
              <a:rPr lang="en-US" sz="1000" b="1" dirty="0" err="1">
                <a:solidFill>
                  <a:srgbClr val="FFFFFF"/>
                </a:solidFill>
                <a:latin typeface="Meiryo UI" pitchFamily="34" charset="0"/>
                <a:ea typeface="Meiryo UI" pitchFamily="34" charset="-122"/>
                <a:cs typeface="Meiryo UI" pitchFamily="34" charset="-120"/>
              </a:rPr>
              <a:t>アプローチ：臨床・行動データを統合し</a:t>
            </a:r>
            <a:r>
              <a:rPr lang="en-US" sz="1000" b="1" dirty="0">
                <a:solidFill>
                  <a:srgbClr val="FFFFFF"/>
                </a:solidFill>
                <a:latin typeface="Meiryo UI" pitchFamily="34" charset="0"/>
                <a:ea typeface="Meiryo UI" pitchFamily="34" charset="-122"/>
                <a:cs typeface="Meiryo UI" pitchFamily="34" charset="-120"/>
              </a:rPr>
              <a:t>、</a:t>
            </a:r>
            <a:r>
              <a:rPr lang="ja-JP" altLang="en-US" sz="1000" b="1" dirty="0">
                <a:solidFill>
                  <a:srgbClr val="FFFFFF"/>
                </a:solidFill>
                <a:latin typeface="Meiryo UI" pitchFamily="34" charset="0"/>
                <a:ea typeface="Meiryo UI" pitchFamily="34" charset="-122"/>
                <a:cs typeface="Meiryo UI" pitchFamily="34" charset="-120"/>
              </a:rPr>
              <a:t>付加価値</a:t>
            </a:r>
            <a:r>
              <a:rPr lang="en-US" sz="1000" b="1" dirty="0" err="1">
                <a:solidFill>
                  <a:srgbClr val="FFFFFF"/>
                </a:solidFill>
                <a:latin typeface="Meiryo UI" pitchFamily="34" charset="0"/>
                <a:ea typeface="Meiryo UI" pitchFamily="34" charset="-122"/>
                <a:cs typeface="Meiryo UI" pitchFamily="34" charset="-120"/>
              </a:rPr>
              <a:t>データをバイヤーへ供給</a:t>
            </a:r>
            <a:endParaRPr lang="en-US" sz="1000" dirty="0"/>
          </a:p>
        </p:txBody>
      </p:sp>
      <p:sp>
        <p:nvSpPr>
          <p:cNvPr id="13" name="Shape 10"/>
          <p:cNvSpPr/>
          <p:nvPr/>
        </p:nvSpPr>
        <p:spPr>
          <a:xfrm>
            <a:off x="320040" y="19385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14" name="Text 11"/>
          <p:cNvSpPr/>
          <p:nvPr/>
        </p:nvSpPr>
        <p:spPr>
          <a:xfrm>
            <a:off x="448056" y="2066544"/>
            <a:ext cx="329184" cy="329184"/>
          </a:xfrm>
          <a:prstGeom prst="ellipse">
            <a:avLst/>
          </a:prstGeom>
          <a:solidFill>
            <a:srgbClr val="008000"/>
          </a:solidFill>
          <a:ln/>
        </p:spPr>
        <p:txBody>
          <a:bodyPr wrap="square" lIns="0" tIns="0" rIns="0" bIns="0" rtlCol="0" anchor="ctr"/>
          <a:lstStyle/>
          <a:p>
            <a:pPr marL="0" indent="0" algn="ctr">
              <a:buNone/>
            </a:pPr>
            <a:r>
              <a:rPr lang="ja-JP" altLang="en-US" sz="1300" b="1" dirty="0">
                <a:solidFill>
                  <a:srgbClr val="FFFFFF"/>
                </a:solidFill>
                <a:latin typeface="Meiryo UI" pitchFamily="34" charset="0"/>
                <a:ea typeface="Meiryo UI" pitchFamily="34" charset="-122"/>
              </a:rPr>
              <a:t>⑤</a:t>
            </a:r>
            <a:endParaRPr lang="en-US" sz="1300" dirty="0"/>
          </a:p>
        </p:txBody>
      </p:sp>
      <p:sp>
        <p:nvSpPr>
          <p:cNvPr id="15" name="Text 12"/>
          <p:cNvSpPr/>
          <p:nvPr/>
        </p:nvSpPr>
        <p:spPr>
          <a:xfrm>
            <a:off x="886968" y="20299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a:solidFill>
                  <a:srgbClr val="01953D"/>
                </a:solidFill>
                <a:latin typeface="Meiryo UI" pitchFamily="34" charset="0"/>
                <a:ea typeface="Meiryo UI" pitchFamily="34" charset="-122"/>
                <a:cs typeface="Meiryo UI" pitchFamily="34" charset="-120"/>
              </a:rPr>
              <a:t>重点施策</a:t>
            </a:r>
            <a:r>
              <a:rPr lang="ja-JP" altLang="en-US" sz="1100" b="1" dirty="0">
                <a:solidFill>
                  <a:srgbClr val="01953D"/>
                </a:solidFill>
                <a:latin typeface="Meiryo UI" pitchFamily="34" charset="0"/>
                <a:ea typeface="Meiryo UI" pitchFamily="34" charset="-122"/>
                <a:cs typeface="Meiryo UI" pitchFamily="34" charset="-120"/>
              </a:rPr>
              <a:t>⑤</a:t>
            </a:r>
            <a:r>
              <a:rPr lang="en-US" sz="1100" b="1" dirty="0">
                <a:solidFill>
                  <a:srgbClr val="01953D"/>
                </a:solidFill>
                <a:latin typeface="Meiryo UI" pitchFamily="34" charset="0"/>
                <a:ea typeface="Meiryo UI" pitchFamily="34" charset="-122"/>
                <a:cs typeface="Meiryo UI" pitchFamily="34" charset="-120"/>
              </a:rPr>
              <a:t>　</a:t>
            </a:r>
            <a:r>
              <a:rPr lang="ja-JP" altLang="en-US" sz="1100" b="1" dirty="0">
                <a:solidFill>
                  <a:srgbClr val="01953D"/>
                </a:solidFill>
                <a:latin typeface="Meiryo UI" pitchFamily="34" charset="0"/>
                <a:ea typeface="Meiryo UI" pitchFamily="34" charset="-122"/>
                <a:cs typeface="Meiryo UI" pitchFamily="34" charset="-120"/>
              </a:rPr>
              <a:t>付加価値創出のためのデータ統合・分析</a:t>
            </a:r>
            <a:endParaRPr lang="en-US" sz="1100" dirty="0"/>
          </a:p>
        </p:txBody>
      </p:sp>
      <p:sp>
        <p:nvSpPr>
          <p:cNvPr id="16" name="Text 13"/>
          <p:cNvSpPr/>
          <p:nvPr/>
        </p:nvSpPr>
        <p:spPr>
          <a:xfrm>
            <a:off x="502920" y="24871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R&amp;D・マーケの臨床・行動データをGCPで統合し、「カテゴリーLTV向上予測」「炭素効率スコア」をバイヤーが商談当日に使えるデータとして自動供給する仕組みを構築する。</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KPI：データ武装型商談比率（FY26: 0% → FY28: 80%）/ GCP統合データセット数</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実施時期：FY26パイロット（オーラルケア）→ FY27全カテゴリー標準化</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論点：GCPデータ統合の先行対象領域選定・R&amp;Dデータの商談用変換ルール設計</a:t>
            </a:r>
            <a:endParaRPr lang="en-US" sz="950" dirty="0"/>
          </a:p>
        </p:txBody>
      </p:sp>
      <p:sp>
        <p:nvSpPr>
          <p:cNvPr id="17" name="Shape 14"/>
          <p:cNvSpPr/>
          <p:nvPr/>
        </p:nvSpPr>
        <p:spPr>
          <a:xfrm>
            <a:off x="6199632" y="19385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18" name="Text 15"/>
          <p:cNvSpPr/>
          <p:nvPr/>
        </p:nvSpPr>
        <p:spPr>
          <a:xfrm>
            <a:off x="6327648" y="2066544"/>
            <a:ext cx="329184" cy="329184"/>
          </a:xfrm>
          <a:prstGeom prst="ellipse">
            <a:avLst/>
          </a:prstGeom>
          <a:solidFill>
            <a:srgbClr val="008000"/>
          </a:solidFill>
          <a:ln/>
        </p:spPr>
        <p:txBody>
          <a:bodyPr wrap="square" lIns="0" tIns="0" rIns="0" bIns="0" rtlCol="0" anchor="ctr"/>
          <a:lstStyle/>
          <a:p>
            <a:pPr marL="0" indent="0" algn="ctr">
              <a:buNone/>
            </a:pPr>
            <a:r>
              <a:rPr lang="ja-JP" altLang="en-US" sz="1300" b="1" dirty="0">
                <a:solidFill>
                  <a:srgbClr val="FFFFFF"/>
                </a:solidFill>
                <a:latin typeface="Meiryo UI" pitchFamily="34" charset="0"/>
                <a:ea typeface="Meiryo UI" pitchFamily="34" charset="-122"/>
              </a:rPr>
              <a:t>⑥</a:t>
            </a:r>
            <a:endParaRPr lang="en-US" sz="1300" dirty="0"/>
          </a:p>
        </p:txBody>
      </p:sp>
      <p:sp>
        <p:nvSpPr>
          <p:cNvPr id="19" name="Text 16"/>
          <p:cNvSpPr/>
          <p:nvPr/>
        </p:nvSpPr>
        <p:spPr>
          <a:xfrm>
            <a:off x="6766560" y="20299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a:solidFill>
                  <a:srgbClr val="01953D"/>
                </a:solidFill>
                <a:latin typeface="Meiryo UI" pitchFamily="34" charset="0"/>
                <a:ea typeface="Meiryo UI" pitchFamily="34" charset="-122"/>
                <a:cs typeface="Meiryo UI" pitchFamily="34" charset="-120"/>
              </a:rPr>
              <a:t>重点施策</a:t>
            </a:r>
            <a:r>
              <a:rPr lang="ja-JP" altLang="en-US" sz="1100" b="1" dirty="0">
                <a:solidFill>
                  <a:srgbClr val="01953D"/>
                </a:solidFill>
                <a:latin typeface="Meiryo UI" pitchFamily="34" charset="0"/>
                <a:ea typeface="Meiryo UI" pitchFamily="34" charset="-122"/>
                <a:cs typeface="Meiryo UI" pitchFamily="34" charset="-120"/>
              </a:rPr>
              <a:t>⑥</a:t>
            </a:r>
            <a:r>
              <a:rPr lang="en-US" sz="1100" b="1" dirty="0">
                <a:solidFill>
                  <a:srgbClr val="01953D"/>
                </a:solidFill>
                <a:latin typeface="Meiryo UI" pitchFamily="34" charset="0"/>
                <a:ea typeface="Meiryo UI" pitchFamily="34" charset="-122"/>
                <a:cs typeface="Meiryo UI" pitchFamily="34" charset="-120"/>
              </a:rPr>
              <a:t>　B2B2C商談モデルの構築（歯科→消費者→小売の接続）</a:t>
            </a:r>
            <a:endParaRPr lang="en-US" sz="1100" dirty="0"/>
          </a:p>
        </p:txBody>
      </p:sp>
      <p:sp>
        <p:nvSpPr>
          <p:cNvPr id="20" name="Text 17"/>
          <p:cNvSpPr/>
          <p:nvPr/>
        </p:nvSpPr>
        <p:spPr>
          <a:xfrm>
            <a:off x="6382512" y="24871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OraCo/POHRの歯科接点を通じた「専門家推奨→消費者購買→小売売上」の流れをシングルデータモデルで設計し、B2B2C推奨起点売上をKPI化する。</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KPI：B2B2C推奨起点売上比率（FY28: 5% → FY30: 15%）</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実施時期：FY27設計 → FY28試行 → FY29本格展開</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論点：歯科医院側の合意形成・薬機法・個人情報制約の確認（G12〜G15解消必須）</a:t>
            </a:r>
            <a:endParaRPr lang="en-US" sz="950" dirty="0"/>
          </a:p>
        </p:txBody>
      </p:sp>
      <p:sp>
        <p:nvSpPr>
          <p:cNvPr id="21" name="Shape 18"/>
          <p:cNvSpPr/>
          <p:nvPr/>
        </p:nvSpPr>
        <p:spPr>
          <a:xfrm>
            <a:off x="320040" y="37673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22" name="Text 19"/>
          <p:cNvSpPr/>
          <p:nvPr/>
        </p:nvSpPr>
        <p:spPr>
          <a:xfrm>
            <a:off x="448056" y="3895344"/>
            <a:ext cx="329184" cy="329184"/>
          </a:xfrm>
          <a:prstGeom prst="ellipse">
            <a:avLst/>
          </a:prstGeom>
          <a:solidFill>
            <a:srgbClr val="008000"/>
          </a:solid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a:t>
            </a:r>
            <a:endParaRPr lang="en-US" sz="1300" dirty="0"/>
          </a:p>
        </p:txBody>
      </p:sp>
      <p:sp>
        <p:nvSpPr>
          <p:cNvPr id="23" name="Text 20"/>
          <p:cNvSpPr/>
          <p:nvPr/>
        </p:nvSpPr>
        <p:spPr>
          <a:xfrm>
            <a:off x="886968" y="38587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err="1">
                <a:solidFill>
                  <a:srgbClr val="01953D"/>
                </a:solidFill>
                <a:latin typeface="Meiryo UI" pitchFamily="34" charset="0"/>
                <a:ea typeface="Meiryo UI" pitchFamily="34" charset="-122"/>
                <a:cs typeface="Meiryo UI" pitchFamily="34" charset="-120"/>
              </a:rPr>
              <a:t>主要アクション（重点施策</a:t>
            </a:r>
            <a:r>
              <a:rPr lang="ja-JP" altLang="en-US" sz="1100" b="1" dirty="0">
                <a:solidFill>
                  <a:srgbClr val="01953D"/>
                </a:solidFill>
                <a:latin typeface="Meiryo UI" pitchFamily="34" charset="0"/>
                <a:ea typeface="Meiryo UI" pitchFamily="34" charset="-122"/>
                <a:cs typeface="Meiryo UI" pitchFamily="34" charset="-120"/>
              </a:rPr>
              <a:t>⑤</a:t>
            </a:r>
            <a:r>
              <a:rPr lang="en-US" sz="1100" b="1" dirty="0" err="1">
                <a:solidFill>
                  <a:srgbClr val="01953D"/>
                </a:solidFill>
                <a:latin typeface="Meiryo UI" pitchFamily="34" charset="0"/>
                <a:ea typeface="Meiryo UI" pitchFamily="34" charset="-122"/>
                <a:cs typeface="Meiryo UI" pitchFamily="34" charset="-120"/>
              </a:rPr>
              <a:t>配下</a:t>
            </a:r>
            <a:r>
              <a:rPr lang="en-US" sz="1100" b="1" dirty="0">
                <a:solidFill>
                  <a:srgbClr val="01953D"/>
                </a:solidFill>
                <a:latin typeface="Meiryo UI" pitchFamily="34" charset="0"/>
                <a:ea typeface="Meiryo UI" pitchFamily="34" charset="-122"/>
                <a:cs typeface="Meiryo UI" pitchFamily="34" charset="-120"/>
              </a:rPr>
              <a:t>）</a:t>
            </a:r>
            <a:endParaRPr lang="en-US" sz="1100" dirty="0"/>
          </a:p>
        </p:txBody>
      </p:sp>
      <p:sp>
        <p:nvSpPr>
          <p:cNvPr id="24" name="Text 21"/>
          <p:cNvSpPr/>
          <p:nvPr/>
        </p:nvSpPr>
        <p:spPr>
          <a:xfrm>
            <a:off x="502920" y="43159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・GCP統合インフラへの投資判断（優先データ：オーラルケア臨床データ）</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・バイヤー向けLTV予測データの自動生成システム化（商談は「値引き70＋施策30」のパッケージ＋成果連動で持ち込む＝受け入れられる設計とセット）</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・炭素効率データの商談ツール化（環境規制対応のバイヤー支援材料）</a:t>
            </a:r>
            <a:endParaRPr lang="en-US" sz="950" dirty="0"/>
          </a:p>
        </p:txBody>
      </p:sp>
      <p:sp>
        <p:nvSpPr>
          <p:cNvPr id="25" name="Shape 22"/>
          <p:cNvSpPr/>
          <p:nvPr/>
        </p:nvSpPr>
        <p:spPr>
          <a:xfrm>
            <a:off x="6199632" y="37673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26" name="Text 23"/>
          <p:cNvSpPr/>
          <p:nvPr/>
        </p:nvSpPr>
        <p:spPr>
          <a:xfrm>
            <a:off x="6327648" y="3895344"/>
            <a:ext cx="329184" cy="329184"/>
          </a:xfrm>
          <a:prstGeom prst="ellipse">
            <a:avLst/>
          </a:prstGeom>
          <a:solidFill>
            <a:srgbClr val="008000"/>
          </a:solid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a:t>
            </a:r>
            <a:endParaRPr lang="en-US" sz="1300" dirty="0"/>
          </a:p>
        </p:txBody>
      </p:sp>
      <p:sp>
        <p:nvSpPr>
          <p:cNvPr id="27" name="Text 24"/>
          <p:cNvSpPr/>
          <p:nvPr/>
        </p:nvSpPr>
        <p:spPr>
          <a:xfrm>
            <a:off x="6766560" y="38587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err="1">
                <a:solidFill>
                  <a:srgbClr val="01953D"/>
                </a:solidFill>
                <a:latin typeface="Meiryo UI" pitchFamily="34" charset="0"/>
                <a:ea typeface="Meiryo UI" pitchFamily="34" charset="-122"/>
                <a:cs typeface="Meiryo UI" pitchFamily="34" charset="-120"/>
              </a:rPr>
              <a:t>主要アクション（重点施策</a:t>
            </a:r>
            <a:r>
              <a:rPr lang="ja-JP" altLang="en-US" sz="1100" b="1" dirty="0">
                <a:solidFill>
                  <a:srgbClr val="01953D"/>
                </a:solidFill>
                <a:latin typeface="Meiryo UI" pitchFamily="34" charset="0"/>
                <a:ea typeface="Meiryo UI" pitchFamily="34" charset="-122"/>
                <a:cs typeface="Meiryo UI" pitchFamily="34" charset="-120"/>
              </a:rPr>
              <a:t>⑥</a:t>
            </a:r>
            <a:r>
              <a:rPr lang="en-US" sz="1100" b="1" dirty="0" err="1">
                <a:solidFill>
                  <a:srgbClr val="01953D"/>
                </a:solidFill>
                <a:latin typeface="Meiryo UI" pitchFamily="34" charset="0"/>
                <a:ea typeface="Meiryo UI" pitchFamily="34" charset="-122"/>
                <a:cs typeface="Meiryo UI" pitchFamily="34" charset="-120"/>
              </a:rPr>
              <a:t>配下</a:t>
            </a:r>
            <a:r>
              <a:rPr lang="en-US" sz="1100" b="1" dirty="0">
                <a:solidFill>
                  <a:srgbClr val="01953D"/>
                </a:solidFill>
                <a:latin typeface="Meiryo UI" pitchFamily="34" charset="0"/>
                <a:ea typeface="Meiryo UI" pitchFamily="34" charset="-122"/>
                <a:cs typeface="Meiryo UI" pitchFamily="34" charset="-120"/>
              </a:rPr>
              <a:t>）</a:t>
            </a:r>
            <a:endParaRPr lang="en-US" sz="1100" dirty="0"/>
          </a:p>
        </p:txBody>
      </p:sp>
      <p:sp>
        <p:nvSpPr>
          <p:cNvPr id="28" name="Text 25"/>
          <p:cNvSpPr/>
          <p:nvPr/>
        </p:nvSpPr>
        <p:spPr>
          <a:xfrm>
            <a:off x="6382512" y="43159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・OraCo/POHRの歯科接点デジタル化（予約・診断・推奨フロー）</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・患者→LION商品→小売購買の統合データモデル設計</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・B2B2C推奨起点売上の測定方法・帰属ルール設計</a:t>
            </a:r>
            <a:endParaRPr lang="en-US" sz="950" dirty="0"/>
          </a:p>
        </p:txBody>
      </p:sp>
      <p:sp>
        <p:nvSpPr>
          <p:cNvPr id="29" name="Shape 26"/>
          <p:cNvSpPr/>
          <p:nvPr/>
        </p:nvSpPr>
        <p:spPr>
          <a:xfrm>
            <a:off x="320040" y="5596128"/>
            <a:ext cx="11548872" cy="841248"/>
          </a:xfrm>
          <a:prstGeom prst="roundRect">
            <a:avLst>
              <a:gd name="adj" fmla="val 5435"/>
            </a:avLst>
          </a:prstGeom>
          <a:solidFill>
            <a:srgbClr val="E5F2E5"/>
          </a:solidFill>
          <a:ln w="9525">
            <a:solidFill>
              <a:srgbClr val="008D2E"/>
            </a:solidFill>
            <a:prstDash val="solid"/>
          </a:ln>
        </p:spPr>
        <p:txBody>
          <a:bodyPr/>
          <a:lstStyle/>
          <a:p>
            <a:endParaRPr lang="ja-JP" altLang="en-US"/>
          </a:p>
        </p:txBody>
      </p:sp>
      <p:sp>
        <p:nvSpPr>
          <p:cNvPr id="30" name="Text 27"/>
          <p:cNvSpPr/>
          <p:nvPr/>
        </p:nvSpPr>
        <p:spPr>
          <a:xfrm>
            <a:off x="502920" y="5669280"/>
            <a:ext cx="11365992" cy="713232"/>
          </a:xfrm>
          <a:prstGeom prst="rect">
            <a:avLst/>
          </a:prstGeom>
          <a:noFill/>
          <a:ln/>
        </p:spPr>
        <p:txBody>
          <a:bodyPr wrap="square" lIns="0" tIns="0" rIns="0" bIns="0" rtlCol="0" anchor="ctr">
            <a:normAutofit/>
          </a:bodyPr>
          <a:lstStyle/>
          <a:p>
            <a:pPr marL="0" indent="0">
              <a:lnSpc>
                <a:spcPts val="1200"/>
              </a:lnSpc>
              <a:buNone/>
            </a:pPr>
            <a:r>
              <a:rPr lang="en-US" sz="1050" b="1" dirty="0">
                <a:solidFill>
                  <a:srgbClr val="595959"/>
                </a:solidFill>
                <a:latin typeface="Meiryo UI" pitchFamily="34" charset="0"/>
                <a:ea typeface="Meiryo UI" pitchFamily="34" charset="-122"/>
                <a:cs typeface="Meiryo UI" pitchFamily="34" charset="-120"/>
              </a:rPr>
              <a:t>検討アジェンダ・論点</a:t>
            </a:r>
            <a:endParaRPr lang="en-US" sz="1050" dirty="0"/>
          </a:p>
          <a:p>
            <a:pPr marL="171450" indent="-171450">
              <a:lnSpc>
                <a:spcPts val="1200"/>
              </a:lnSpc>
              <a:buFont typeface="Arial" panose="020B0604020202020204" pitchFamily="34" charset="0"/>
              <a:buChar char="•"/>
            </a:pPr>
            <a:r>
              <a:rPr lang="en-US" sz="1050" b="1" dirty="0">
                <a:solidFill>
                  <a:srgbClr val="595959"/>
                </a:solidFill>
                <a:latin typeface="Meiryo UI" pitchFamily="34" charset="0"/>
                <a:ea typeface="Meiryo UI" pitchFamily="34" charset="-122"/>
                <a:cs typeface="Meiryo UI" pitchFamily="34" charset="-120"/>
              </a:rPr>
              <a:t>GCPデータ統合の範囲：オーラルケア臨床データ着手→段階拡張のロードマップ確認</a:t>
            </a:r>
            <a:endParaRPr lang="en-US" sz="1050" dirty="0"/>
          </a:p>
          <a:p>
            <a:pPr marL="171450" indent="-171450">
              <a:lnSpc>
                <a:spcPts val="1200"/>
              </a:lnSpc>
              <a:buFont typeface="Arial" panose="020B0604020202020204" pitchFamily="34" charset="0"/>
              <a:buChar char="•"/>
            </a:pPr>
            <a:r>
              <a:rPr lang="en-US" sz="1050" b="1" dirty="0">
                <a:solidFill>
                  <a:srgbClr val="595959"/>
                </a:solidFill>
                <a:latin typeface="Meiryo UI" pitchFamily="34" charset="0"/>
                <a:ea typeface="Meiryo UI" pitchFamily="34" charset="-122"/>
                <a:cs typeface="Meiryo UI" pitchFamily="34" charset="-120"/>
              </a:rPr>
              <a:t>防弾ロジックの優先種別：バイヤーが最も求めるデータ（LTV予測 vs 炭素効率 vs N-t-C）の優先順位</a:t>
            </a:r>
            <a:endParaRPr lang="en-US" sz="1050" dirty="0"/>
          </a:p>
          <a:p>
            <a:pPr marL="171450" indent="-171450">
              <a:lnSpc>
                <a:spcPts val="1200"/>
              </a:lnSpc>
              <a:buFont typeface="Arial" panose="020B0604020202020204" pitchFamily="34" charset="0"/>
              <a:buChar char="•"/>
            </a:pPr>
            <a:r>
              <a:rPr lang="en-US" sz="1050" b="1" dirty="0">
                <a:solidFill>
                  <a:srgbClr val="595959"/>
                </a:solidFill>
                <a:latin typeface="Meiryo UI" pitchFamily="34" charset="0"/>
                <a:ea typeface="Meiryo UI" pitchFamily="34" charset="-122"/>
                <a:cs typeface="Meiryo UI" pitchFamily="34" charset="-120"/>
              </a:rPr>
              <a:t>薬機法・個人情報：歯科連携データ活用の法的確認（gaps.md G12〜G15の解消）</a:t>
            </a:r>
            <a:endParaRPr lang="en-US" sz="1050" dirty="0"/>
          </a:p>
        </p:txBody>
      </p:sp>
      <p:sp>
        <p:nvSpPr>
          <p:cNvPr id="32" name="Text 29"/>
          <p:cNvSpPr/>
          <p:nvPr/>
        </p:nvSpPr>
        <p:spPr>
          <a:xfrm>
            <a:off x="4279392" y="5650992"/>
            <a:ext cx="7452360" cy="749808"/>
          </a:xfrm>
          <a:prstGeom prst="rect">
            <a:avLst/>
          </a:prstGeom>
          <a:noFill/>
          <a:ln/>
        </p:spPr>
        <p:txBody>
          <a:bodyPr wrap="square" lIns="0" tIns="0" rIns="0" bIns="0" rtlCol="0" anchor="ctr">
            <a:normAutofit/>
          </a:bodyPr>
          <a:lstStyle/>
          <a:p>
            <a:pPr marL="0" indent="0">
              <a:lnSpc>
                <a:spcPts val="1250"/>
              </a:lnSpc>
              <a:buNone/>
            </a:pPr>
            <a:endParaRPr lang="en-US" sz="850" dirty="0"/>
          </a:p>
        </p:txBody>
      </p:sp>
      <p:sp>
        <p:nvSpPr>
          <p:cNvPr id="34" name="Text 6">
            <a:extLst>
              <a:ext uri="{FF2B5EF4-FFF2-40B4-BE49-F238E27FC236}">
                <a16:creationId xmlns:a16="http://schemas.microsoft.com/office/drawing/2014/main" id="{7EC0AB91-5ADE-4D07-8F5D-33B89B65BEF0}"/>
              </a:ext>
            </a:extLst>
          </p:cNvPr>
          <p:cNvSpPr/>
          <p:nvPr/>
        </p:nvSpPr>
        <p:spPr>
          <a:xfrm>
            <a:off x="6199632" y="1481328"/>
            <a:ext cx="1124712" cy="310896"/>
          </a:xfrm>
          <a:prstGeom prst="roundRect">
            <a:avLst>
              <a:gd name="adj" fmla="val 17647"/>
            </a:avLst>
          </a:prstGeom>
          <a:solidFill>
            <a:srgbClr val="C00000"/>
          </a:solidFill>
          <a:ln w="9525">
            <a:solidFill>
              <a:srgbClr val="C00000"/>
            </a:solid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GAP3対応</a:t>
            </a:r>
            <a:endParaRPr lang="en-US" sz="900" dirty="0"/>
          </a:p>
        </p:txBody>
      </p:sp>
      <p:sp>
        <p:nvSpPr>
          <p:cNvPr id="36" name="Text 7">
            <a:extLst>
              <a:ext uri="{FF2B5EF4-FFF2-40B4-BE49-F238E27FC236}">
                <a16:creationId xmlns:a16="http://schemas.microsoft.com/office/drawing/2014/main" id="{DCA9BACF-AD5A-C328-90D5-6A094077902D}"/>
              </a:ext>
            </a:extLst>
          </p:cNvPr>
          <p:cNvSpPr/>
          <p:nvPr/>
        </p:nvSpPr>
        <p:spPr>
          <a:xfrm>
            <a:off x="7452360" y="1481328"/>
            <a:ext cx="2112264" cy="310896"/>
          </a:xfrm>
          <a:prstGeom prst="roundRect">
            <a:avLst>
              <a:gd name="adj" fmla="val 17647"/>
            </a:avLst>
          </a:prstGeom>
          <a:solidFill>
            <a:srgbClr val="595959"/>
          </a:solidFill>
          <a:ln w="9525">
            <a:solidFill>
              <a:srgbClr val="595959"/>
            </a:solid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実行期間：FY26–FY28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219456" y="0"/>
            <a:ext cx="10332720" cy="914400"/>
          </a:xfrm>
          <a:prstGeom prst="rect">
            <a:avLst/>
          </a:prstGeom>
          <a:noFill/>
          <a:ln/>
        </p:spPr>
        <p:txBody>
          <a:bodyPr wrap="square" lIns="0" tIns="0" rIns="0" bIns="0" rtlCol="0" anchor="b" anchorCtr="0"/>
          <a:lstStyle/>
          <a:p>
            <a:r>
              <a:rPr lang="ja-JP" altLang="en-US" b="1" dirty="0">
                <a:solidFill>
                  <a:srgbClr val="000000"/>
                </a:solidFill>
                <a:latin typeface="Meiryo UI" pitchFamily="34" charset="0"/>
                <a:ea typeface="Meiryo UI" pitchFamily="34" charset="-122"/>
                <a:cs typeface="Meiryo UI" pitchFamily="34" charset="-120"/>
              </a:rPr>
              <a:t>テーマｘ重点施策</a:t>
            </a:r>
            <a:endParaRPr lang="en-US" b="1" dirty="0">
              <a:solidFill>
                <a:srgbClr val="000000"/>
              </a:solidFill>
              <a:latin typeface="Meiryo UI" pitchFamily="34" charset="0"/>
              <a:ea typeface="Meiryo UI" pitchFamily="34" charset="-122"/>
            </a:endParaRPr>
          </a:p>
          <a:p>
            <a:r>
              <a:rPr lang="en-US" b="1" dirty="0">
                <a:solidFill>
                  <a:srgbClr val="000000"/>
                </a:solidFill>
                <a:latin typeface="Meiryo UI" pitchFamily="34" charset="0"/>
                <a:ea typeface="Meiryo UI" pitchFamily="34" charset="-122"/>
              </a:rPr>
              <a:t>T4　組織・実行力の変革</a:t>
            </a:r>
          </a:p>
        </p:txBody>
      </p:sp>
      <p:pic>
        <p:nvPicPr>
          <p:cNvPr id="3" name="Image 0" descr="/home/claude/logo.png"/>
          <p:cNvPicPr>
            <a:picLocks noChangeAspect="1"/>
          </p:cNvPicPr>
          <p:nvPr/>
        </p:nvPicPr>
        <p:blipFill>
          <a:blip r:embed="rId3"/>
          <a:stretch>
            <a:fillRect/>
          </a:stretch>
        </p:blipFill>
        <p:spPr>
          <a:xfrm>
            <a:off x="10881360" y="201168"/>
            <a:ext cx="868680" cy="566928"/>
          </a:xfrm>
          <a:prstGeom prst="rect">
            <a:avLst/>
          </a:prstGeom>
        </p:spPr>
      </p:pic>
      <p:sp>
        <p:nvSpPr>
          <p:cNvPr id="4" name="Shape 1"/>
          <p:cNvSpPr/>
          <p:nvPr/>
        </p:nvSpPr>
        <p:spPr>
          <a:xfrm>
            <a:off x="0" y="914400"/>
            <a:ext cx="12188952" cy="0"/>
          </a:xfrm>
          <a:prstGeom prst="line">
            <a:avLst/>
          </a:prstGeom>
          <a:noFill/>
          <a:ln w="28575">
            <a:solidFill>
              <a:srgbClr val="008000"/>
            </a:solidFill>
            <a:prstDash val="solid"/>
          </a:ln>
        </p:spPr>
        <p:txBody>
          <a:bodyPr/>
          <a:lstStyle/>
          <a:p>
            <a:endParaRPr lang="ja-JP" altLang="en-US"/>
          </a:p>
        </p:txBody>
      </p:sp>
      <p:sp>
        <p:nvSpPr>
          <p:cNvPr id="5" name="Text 2"/>
          <p:cNvSpPr/>
          <p:nvPr/>
        </p:nvSpPr>
        <p:spPr>
          <a:xfrm>
            <a:off x="219456" y="969264"/>
            <a:ext cx="11750040" cy="384048"/>
          </a:xfrm>
          <a:prstGeom prst="rect">
            <a:avLst/>
          </a:prstGeom>
          <a:noFill/>
          <a:ln/>
        </p:spPr>
        <p:txBody>
          <a:bodyPr wrap="square" lIns="0" tIns="0" rIns="0" bIns="0" rtlCol="0" anchor="ctr"/>
          <a:lstStyle/>
          <a:p>
            <a:pPr marL="0" indent="0">
              <a:buNone/>
            </a:pPr>
            <a:r>
              <a:rPr lang="en-US" dirty="0">
                <a:solidFill>
                  <a:srgbClr val="000000"/>
                </a:solidFill>
                <a:latin typeface="Meiryo UI" pitchFamily="34" charset="0"/>
                <a:ea typeface="Meiryo UI" pitchFamily="34" charset="-122"/>
                <a:cs typeface="Meiryo UI" pitchFamily="34" charset="-120"/>
              </a:rPr>
              <a:t>Input業務ゼロ化と組織総力戦で、小売の構造課題解決に集中できる体制を作る</a:t>
            </a:r>
            <a:endParaRPr lang="en-US" dirty="0"/>
          </a:p>
        </p:txBody>
      </p:sp>
      <p:sp>
        <p:nvSpPr>
          <p:cNvPr id="6" name="Text 3"/>
          <p:cNvSpPr/>
          <p:nvPr/>
        </p:nvSpPr>
        <p:spPr>
          <a:xfrm>
            <a:off x="11658600" y="6528816"/>
            <a:ext cx="411480" cy="274320"/>
          </a:xfrm>
          <a:prstGeom prst="rect">
            <a:avLst/>
          </a:prstGeom>
          <a:noFill/>
          <a:ln/>
        </p:spPr>
        <p:txBody>
          <a:bodyPr wrap="square" lIns="0" tIns="0" rIns="0" bIns="0" rtlCol="0" anchor="ctr"/>
          <a:lstStyle/>
          <a:p>
            <a:pPr marL="0" indent="0" algn="r">
              <a:buNone/>
            </a:pPr>
            <a:r>
              <a:rPr lang="en-US" sz="1000" dirty="0">
                <a:solidFill>
                  <a:srgbClr val="595959"/>
                </a:solidFill>
                <a:latin typeface="Meiryo UI" pitchFamily="34" charset="0"/>
                <a:ea typeface="Meiryo UI" pitchFamily="34" charset="-122"/>
                <a:cs typeface="Meiryo UI" pitchFamily="34" charset="-120"/>
              </a:rPr>
              <a:t>8</a:t>
            </a:r>
            <a:endParaRPr lang="en-US" sz="1000" dirty="0"/>
          </a:p>
        </p:txBody>
      </p:sp>
      <p:sp>
        <p:nvSpPr>
          <p:cNvPr id="7" name="Text 4"/>
          <p:cNvSpPr/>
          <p:nvPr/>
        </p:nvSpPr>
        <p:spPr>
          <a:xfrm>
            <a:off x="219456" y="6556248"/>
            <a:ext cx="8229600" cy="228600"/>
          </a:xfrm>
          <a:prstGeom prst="rect">
            <a:avLst/>
          </a:prstGeom>
          <a:noFill/>
          <a:ln/>
        </p:spPr>
        <p:txBody>
          <a:bodyPr wrap="square" lIns="0" tIns="0" rIns="0" bIns="0" rtlCol="0" anchor="ctr"/>
          <a:lstStyle/>
          <a:p>
            <a:pPr marL="0" indent="0">
              <a:buNone/>
            </a:pPr>
            <a:r>
              <a:rPr lang="en-US" sz="750" dirty="0">
                <a:solidFill>
                  <a:srgbClr val="595959"/>
                </a:solidFill>
                <a:latin typeface="Meiryo UI" pitchFamily="34" charset="0"/>
                <a:ea typeface="Meiryo UI" pitchFamily="34" charset="-122"/>
                <a:cs typeface="Meiryo UI" pitchFamily="34" charset="-120"/>
              </a:rPr>
              <a:t>LION Corporation ｜ 営業・マーケティングDX戦略 検討アジェンダ（P.6「真因・GAP分析」後続）</a:t>
            </a:r>
            <a:endParaRPr lang="en-US" sz="750" dirty="0"/>
          </a:p>
        </p:txBody>
      </p:sp>
      <p:sp>
        <p:nvSpPr>
          <p:cNvPr id="8" name="Text 5"/>
          <p:cNvSpPr/>
          <p:nvPr/>
        </p:nvSpPr>
        <p:spPr>
          <a:xfrm>
            <a:off x="320040" y="1481328"/>
            <a:ext cx="5669280" cy="310896"/>
          </a:xfrm>
          <a:prstGeom prst="roundRect">
            <a:avLst>
              <a:gd name="adj" fmla="val 17647"/>
            </a:avLst>
          </a:prstGeom>
          <a:solidFill>
            <a:srgbClr val="008D2E"/>
          </a:solidFill>
          <a:ln w="9525">
            <a:solidFill>
              <a:srgbClr val="008D2E"/>
            </a:solidFill>
          </a:ln>
        </p:spPr>
        <p:txBody>
          <a:bodyPr wrap="square" lIns="0" tIns="0" rIns="0" bIns="0" rtlCol="0" anchor="ctr"/>
          <a:lstStyle/>
          <a:p>
            <a:pPr marL="0" indent="0">
              <a:buNone/>
            </a:pPr>
            <a:r>
              <a:rPr lang="en-US" sz="1000" b="1" dirty="0">
                <a:solidFill>
                  <a:srgbClr val="FFFFFF"/>
                </a:solidFill>
                <a:latin typeface="Meiryo UI" pitchFamily="34" charset="0"/>
                <a:ea typeface="Meiryo UI" pitchFamily="34" charset="-122"/>
                <a:cs typeface="Meiryo UI" pitchFamily="34" charset="-120"/>
              </a:rPr>
              <a:t>アプローチ：生成AI×Salesforce TPMでInput業務完全自動化 ＋ アカウントスクワッド化</a:t>
            </a:r>
            <a:endParaRPr lang="en-US" sz="1000" dirty="0"/>
          </a:p>
        </p:txBody>
      </p:sp>
      <p:sp>
        <p:nvSpPr>
          <p:cNvPr id="9" name="Text 6"/>
          <p:cNvSpPr/>
          <p:nvPr/>
        </p:nvSpPr>
        <p:spPr>
          <a:xfrm>
            <a:off x="6199632" y="1481328"/>
            <a:ext cx="1124712" cy="310896"/>
          </a:xfrm>
          <a:prstGeom prst="roundRect">
            <a:avLst>
              <a:gd name="adj" fmla="val 17647"/>
            </a:avLst>
          </a:prstGeom>
          <a:solidFill>
            <a:srgbClr val="C00000"/>
          </a:solidFill>
          <a:ln w="9525">
            <a:solidFill>
              <a:srgbClr val="C00000"/>
            </a:solid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GAP3・GAP4対応</a:t>
            </a:r>
            <a:endParaRPr lang="en-US" sz="900" dirty="0"/>
          </a:p>
        </p:txBody>
      </p:sp>
      <p:sp>
        <p:nvSpPr>
          <p:cNvPr id="10" name="Text 7"/>
          <p:cNvSpPr/>
          <p:nvPr/>
        </p:nvSpPr>
        <p:spPr>
          <a:xfrm>
            <a:off x="7452360" y="1481328"/>
            <a:ext cx="2112264" cy="310896"/>
          </a:xfrm>
          <a:prstGeom prst="roundRect">
            <a:avLst>
              <a:gd name="adj" fmla="val 17647"/>
            </a:avLst>
          </a:prstGeom>
          <a:solidFill>
            <a:srgbClr val="595959"/>
          </a:solidFill>
          <a:ln w="9525">
            <a:solidFill>
              <a:srgbClr val="595959"/>
            </a:solid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実行期間：FY26–FY28（最速）</a:t>
            </a:r>
            <a:endParaRPr lang="en-US" sz="900" dirty="0"/>
          </a:p>
        </p:txBody>
      </p:sp>
      <p:sp>
        <p:nvSpPr>
          <p:cNvPr id="13" name="Shape 10"/>
          <p:cNvSpPr/>
          <p:nvPr/>
        </p:nvSpPr>
        <p:spPr>
          <a:xfrm>
            <a:off x="320040" y="19385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14" name="Text 11"/>
          <p:cNvSpPr/>
          <p:nvPr/>
        </p:nvSpPr>
        <p:spPr>
          <a:xfrm>
            <a:off x="448056" y="2066544"/>
            <a:ext cx="329184" cy="329184"/>
          </a:xfrm>
          <a:prstGeom prst="ellipse">
            <a:avLst/>
          </a:prstGeom>
          <a:solidFill>
            <a:srgbClr val="008000"/>
          </a:solidFill>
          <a:ln/>
        </p:spPr>
        <p:txBody>
          <a:bodyPr wrap="square" lIns="0" tIns="0" rIns="0" bIns="0" rtlCol="0" anchor="ctr"/>
          <a:lstStyle/>
          <a:p>
            <a:pPr marL="0" indent="0" algn="ctr">
              <a:buNone/>
            </a:pPr>
            <a:r>
              <a:rPr lang="ja-JP" altLang="en-US" sz="1300" b="1" dirty="0">
                <a:solidFill>
                  <a:srgbClr val="FFFFFF"/>
                </a:solidFill>
                <a:latin typeface="Meiryo UI" pitchFamily="34" charset="0"/>
                <a:ea typeface="Meiryo UI" pitchFamily="34" charset="-122"/>
              </a:rPr>
              <a:t>⑦</a:t>
            </a:r>
            <a:endParaRPr lang="en-US" sz="1300" dirty="0"/>
          </a:p>
        </p:txBody>
      </p:sp>
      <p:sp>
        <p:nvSpPr>
          <p:cNvPr id="15" name="Text 12"/>
          <p:cNvSpPr/>
          <p:nvPr/>
        </p:nvSpPr>
        <p:spPr>
          <a:xfrm>
            <a:off x="886968" y="20299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a:solidFill>
                  <a:srgbClr val="01953D"/>
                </a:solidFill>
                <a:latin typeface="Meiryo UI" pitchFamily="34" charset="0"/>
                <a:ea typeface="Meiryo UI" pitchFamily="34" charset="-122"/>
                <a:cs typeface="Meiryo UI" pitchFamily="34" charset="-120"/>
              </a:rPr>
              <a:t>重点施策</a:t>
            </a:r>
            <a:r>
              <a:rPr lang="ja-JP" altLang="en-US" sz="1100" b="1" dirty="0">
                <a:solidFill>
                  <a:srgbClr val="01953D"/>
                </a:solidFill>
                <a:latin typeface="Meiryo UI" pitchFamily="34" charset="0"/>
                <a:ea typeface="Meiryo UI" pitchFamily="34" charset="-122"/>
                <a:cs typeface="Meiryo UI" pitchFamily="34" charset="-120"/>
              </a:rPr>
              <a:t>⑦</a:t>
            </a:r>
            <a:r>
              <a:rPr lang="en-US" sz="1100" b="1" dirty="0">
                <a:solidFill>
                  <a:srgbClr val="01953D"/>
                </a:solidFill>
                <a:latin typeface="Meiryo UI" pitchFamily="34" charset="0"/>
                <a:ea typeface="Meiryo UI" pitchFamily="34" charset="-122"/>
                <a:cs typeface="Meiryo UI" pitchFamily="34" charset="-120"/>
              </a:rPr>
              <a:t>　Input業務ゼロ化による「戦略時間」の創出</a:t>
            </a:r>
            <a:endParaRPr lang="en-US" sz="1100" dirty="0"/>
          </a:p>
        </p:txBody>
      </p:sp>
      <p:sp>
        <p:nvSpPr>
          <p:cNvPr id="16" name="Text 13"/>
          <p:cNvSpPr/>
          <p:nvPr/>
        </p:nvSpPr>
        <p:spPr>
          <a:xfrm>
            <a:off x="502920" y="24871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商談資料・実績集計・バイヤー向けLTV予測データの自動生成を生成AI（Libra等）×Salesforce TPMで2026年度内に標準化し、現場の事務作業時間を構造的にゼロ化する。</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KPI：Input業務削減率（FY26末: 50%削減 → FY27末: 80%削減）</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実施時期：FY26 Q2試行 → FY26末標準化</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論点：Libra/Salesforce TPMの導入意思決定・変更管理・IT部門との連携</a:t>
            </a:r>
            <a:endParaRPr lang="en-US" sz="950" dirty="0"/>
          </a:p>
        </p:txBody>
      </p:sp>
      <p:sp>
        <p:nvSpPr>
          <p:cNvPr id="17" name="Shape 14"/>
          <p:cNvSpPr/>
          <p:nvPr/>
        </p:nvSpPr>
        <p:spPr>
          <a:xfrm>
            <a:off x="6199632" y="19385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18" name="Text 15"/>
          <p:cNvSpPr/>
          <p:nvPr/>
        </p:nvSpPr>
        <p:spPr>
          <a:xfrm>
            <a:off x="6327648" y="2066544"/>
            <a:ext cx="329184" cy="329184"/>
          </a:xfrm>
          <a:prstGeom prst="ellipse">
            <a:avLst/>
          </a:prstGeom>
          <a:solidFill>
            <a:srgbClr val="008000"/>
          </a:solidFill>
          <a:ln/>
        </p:spPr>
        <p:txBody>
          <a:bodyPr wrap="square" lIns="0" tIns="0" rIns="0" bIns="0" rtlCol="0" anchor="ctr"/>
          <a:lstStyle/>
          <a:p>
            <a:pPr marL="0" indent="0" algn="ctr">
              <a:buNone/>
            </a:pPr>
            <a:r>
              <a:rPr lang="ja-JP" altLang="en-US" sz="1300" b="1" dirty="0">
                <a:solidFill>
                  <a:srgbClr val="FFFFFF"/>
                </a:solidFill>
                <a:latin typeface="Meiryo UI" pitchFamily="34" charset="0"/>
                <a:ea typeface="Meiryo UI" pitchFamily="34" charset="-122"/>
              </a:rPr>
              <a:t>⑧</a:t>
            </a:r>
            <a:endParaRPr lang="en-US" sz="1300" dirty="0"/>
          </a:p>
        </p:txBody>
      </p:sp>
      <p:sp>
        <p:nvSpPr>
          <p:cNvPr id="19" name="Text 16"/>
          <p:cNvSpPr/>
          <p:nvPr/>
        </p:nvSpPr>
        <p:spPr>
          <a:xfrm>
            <a:off x="6766560" y="20299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a:solidFill>
                  <a:srgbClr val="01953D"/>
                </a:solidFill>
                <a:latin typeface="Meiryo UI" pitchFamily="34" charset="0"/>
                <a:ea typeface="Meiryo UI" pitchFamily="34" charset="-122"/>
                <a:cs typeface="Meiryo UI" pitchFamily="34" charset="-120"/>
              </a:rPr>
              <a:t>重点施策</a:t>
            </a:r>
            <a:r>
              <a:rPr lang="ja-JP" altLang="en-US" sz="1100" b="1" dirty="0">
                <a:solidFill>
                  <a:srgbClr val="01953D"/>
                </a:solidFill>
                <a:latin typeface="Meiryo UI" pitchFamily="34" charset="0"/>
                <a:ea typeface="Meiryo UI" pitchFamily="34" charset="-122"/>
                <a:cs typeface="Meiryo UI" pitchFamily="34" charset="-120"/>
              </a:rPr>
              <a:t>⑧</a:t>
            </a:r>
            <a:r>
              <a:rPr lang="en-US" sz="1100" b="1" dirty="0">
                <a:solidFill>
                  <a:srgbClr val="01953D"/>
                </a:solidFill>
                <a:latin typeface="Meiryo UI" pitchFamily="34" charset="0"/>
                <a:ea typeface="Meiryo UI" pitchFamily="34" charset="-122"/>
                <a:cs typeface="Meiryo UI" pitchFamily="34" charset="-120"/>
              </a:rPr>
              <a:t>　 RevOps型</a:t>
            </a:r>
            <a:r>
              <a:rPr lang="en-US" altLang="ja-JP" sz="1100" b="1" dirty="0">
                <a:solidFill>
                  <a:srgbClr val="01953D"/>
                </a:solidFill>
                <a:latin typeface="Meiryo UI" pitchFamily="34" charset="0"/>
                <a:ea typeface="Meiryo UI" pitchFamily="34" charset="-122"/>
                <a:cs typeface="Meiryo UI" pitchFamily="34" charset="-120"/>
              </a:rPr>
              <a:t>KPI</a:t>
            </a:r>
            <a:r>
              <a:rPr lang="ja-JP" altLang="en-US" sz="1100" b="1" dirty="0">
                <a:solidFill>
                  <a:srgbClr val="01953D"/>
                </a:solidFill>
                <a:latin typeface="Meiryo UI" pitchFamily="34" charset="0"/>
                <a:ea typeface="Meiryo UI" pitchFamily="34" charset="-122"/>
                <a:cs typeface="Meiryo UI" pitchFamily="34" charset="-120"/>
              </a:rPr>
              <a:t>マネジメント</a:t>
            </a:r>
            <a:endParaRPr lang="en-US" sz="1100" dirty="0"/>
          </a:p>
        </p:txBody>
      </p:sp>
      <p:sp>
        <p:nvSpPr>
          <p:cNvPr id="20" name="Text 17"/>
          <p:cNvSpPr/>
          <p:nvPr/>
        </p:nvSpPr>
        <p:spPr>
          <a:xfrm>
            <a:off x="6382512" y="24871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営業・ブランド・データ・EC・SCMの横断チームで重点小売3〜5社を担当するアカウントスクワッドモデルを試行し、「増分粗利・N-t-C・LTV」を全チームの共有KPIとする。</a:t>
            </a:r>
            <a:endParaRPr lang="en-US" sz="950" dirty="0"/>
          </a:p>
          <a:p>
            <a:pPr marL="0" indent="0">
              <a:lnSpc>
                <a:spcPts val="1350"/>
              </a:lnSpc>
              <a:buNone/>
            </a:pPr>
            <a:r>
              <a:rPr lang="en-US" sz="950" dirty="0" err="1">
                <a:solidFill>
                  <a:srgbClr val="000000"/>
                </a:solidFill>
                <a:latin typeface="Meiryo UI" pitchFamily="34" charset="0"/>
                <a:ea typeface="Meiryo UI" pitchFamily="34" charset="-122"/>
                <a:cs typeface="Meiryo UI" pitchFamily="34" charset="-120"/>
              </a:rPr>
              <a:t>KPI：RevOps共有KPI達成率</a:t>
            </a:r>
            <a:r>
              <a:rPr lang="en-US" sz="950" dirty="0">
                <a:solidFill>
                  <a:srgbClr val="000000"/>
                </a:solidFill>
                <a:latin typeface="Meiryo UI" pitchFamily="34" charset="0"/>
                <a:ea typeface="Meiryo UI" pitchFamily="34" charset="-122"/>
                <a:cs typeface="Meiryo UI" pitchFamily="34" charset="-120"/>
              </a:rPr>
              <a:t> / アカウントスクワッド対象小売の増分粗利</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実施時期：FY26 Q4先行試行 → FY27展開</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論点：組織設計・人事評価制度との連動・試行対象小売3社の選定基準</a:t>
            </a:r>
            <a:endParaRPr lang="en-US" sz="950" dirty="0"/>
          </a:p>
        </p:txBody>
      </p:sp>
      <p:sp>
        <p:nvSpPr>
          <p:cNvPr id="21" name="Shape 18"/>
          <p:cNvSpPr/>
          <p:nvPr/>
        </p:nvSpPr>
        <p:spPr>
          <a:xfrm>
            <a:off x="320040" y="37673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22" name="Text 19"/>
          <p:cNvSpPr/>
          <p:nvPr/>
        </p:nvSpPr>
        <p:spPr>
          <a:xfrm>
            <a:off x="448056" y="3895344"/>
            <a:ext cx="329184" cy="329184"/>
          </a:xfrm>
          <a:prstGeom prst="ellipse">
            <a:avLst/>
          </a:prstGeom>
          <a:solidFill>
            <a:srgbClr val="008000"/>
          </a:solid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a:t>
            </a:r>
            <a:endParaRPr lang="en-US" sz="1300" dirty="0"/>
          </a:p>
        </p:txBody>
      </p:sp>
      <p:sp>
        <p:nvSpPr>
          <p:cNvPr id="23" name="Text 20"/>
          <p:cNvSpPr/>
          <p:nvPr/>
        </p:nvSpPr>
        <p:spPr>
          <a:xfrm>
            <a:off x="886968" y="38587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err="1">
                <a:solidFill>
                  <a:srgbClr val="01953D"/>
                </a:solidFill>
                <a:latin typeface="Meiryo UI" pitchFamily="34" charset="0"/>
                <a:ea typeface="Meiryo UI" pitchFamily="34" charset="-122"/>
                <a:cs typeface="Meiryo UI" pitchFamily="34" charset="-120"/>
              </a:rPr>
              <a:t>主要アクション（重点施策</a:t>
            </a:r>
            <a:r>
              <a:rPr lang="ja-JP" altLang="en-US" sz="1100" b="1" dirty="0">
                <a:solidFill>
                  <a:srgbClr val="01953D"/>
                </a:solidFill>
                <a:latin typeface="Meiryo UI" pitchFamily="34" charset="0"/>
                <a:ea typeface="Meiryo UI" pitchFamily="34" charset="-122"/>
                <a:cs typeface="Meiryo UI" pitchFamily="34" charset="-120"/>
              </a:rPr>
              <a:t>⑦</a:t>
            </a:r>
            <a:r>
              <a:rPr lang="en-US" sz="1100" b="1" dirty="0" err="1">
                <a:solidFill>
                  <a:srgbClr val="01953D"/>
                </a:solidFill>
                <a:latin typeface="Meiryo UI" pitchFamily="34" charset="0"/>
                <a:ea typeface="Meiryo UI" pitchFamily="34" charset="-122"/>
                <a:cs typeface="Meiryo UI" pitchFamily="34" charset="-120"/>
              </a:rPr>
              <a:t>配下</a:t>
            </a:r>
            <a:r>
              <a:rPr lang="en-US" sz="1100" b="1" dirty="0">
                <a:solidFill>
                  <a:srgbClr val="01953D"/>
                </a:solidFill>
                <a:latin typeface="Meiryo UI" pitchFamily="34" charset="0"/>
                <a:ea typeface="Meiryo UI" pitchFamily="34" charset="-122"/>
                <a:cs typeface="Meiryo UI" pitchFamily="34" charset="-120"/>
              </a:rPr>
              <a:t>）</a:t>
            </a:r>
            <a:endParaRPr lang="en-US" sz="1100" dirty="0"/>
          </a:p>
        </p:txBody>
      </p:sp>
      <p:sp>
        <p:nvSpPr>
          <p:cNvPr id="24" name="Text 21"/>
          <p:cNvSpPr/>
          <p:nvPr/>
        </p:nvSpPr>
        <p:spPr>
          <a:xfrm>
            <a:off x="502920" y="43159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・生成AI（Libra等）による商談資料自動生成（テンプレート＋データ自動入力）</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・Salesforce TPMによる実績集計完全自動化</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・バイヤー向けカテゴリーLTV予測データの自動供給（T3重点施策①と連携）</a:t>
            </a:r>
            <a:endParaRPr lang="en-US" sz="950" dirty="0"/>
          </a:p>
        </p:txBody>
      </p:sp>
      <p:sp>
        <p:nvSpPr>
          <p:cNvPr id="25" name="Shape 22"/>
          <p:cNvSpPr/>
          <p:nvPr/>
        </p:nvSpPr>
        <p:spPr>
          <a:xfrm>
            <a:off x="6199632" y="37673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26" name="Text 23"/>
          <p:cNvSpPr/>
          <p:nvPr/>
        </p:nvSpPr>
        <p:spPr>
          <a:xfrm>
            <a:off x="6327648" y="3895344"/>
            <a:ext cx="329184" cy="329184"/>
          </a:xfrm>
          <a:prstGeom prst="ellipse">
            <a:avLst/>
          </a:prstGeom>
          <a:solidFill>
            <a:srgbClr val="008000"/>
          </a:solid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a:t>
            </a:r>
            <a:endParaRPr lang="en-US" sz="1300" dirty="0"/>
          </a:p>
        </p:txBody>
      </p:sp>
      <p:sp>
        <p:nvSpPr>
          <p:cNvPr id="27" name="Text 24"/>
          <p:cNvSpPr/>
          <p:nvPr/>
        </p:nvSpPr>
        <p:spPr>
          <a:xfrm>
            <a:off x="6766560" y="38587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err="1">
                <a:solidFill>
                  <a:srgbClr val="01953D"/>
                </a:solidFill>
                <a:latin typeface="Meiryo UI" pitchFamily="34" charset="0"/>
                <a:ea typeface="Meiryo UI" pitchFamily="34" charset="-122"/>
                <a:cs typeface="Meiryo UI" pitchFamily="34" charset="-120"/>
              </a:rPr>
              <a:t>主要アクション（重点施策</a:t>
            </a:r>
            <a:r>
              <a:rPr lang="ja-JP" altLang="en-US" sz="1100" b="1" dirty="0">
                <a:solidFill>
                  <a:srgbClr val="01953D"/>
                </a:solidFill>
                <a:latin typeface="Meiryo UI" pitchFamily="34" charset="0"/>
                <a:ea typeface="Meiryo UI" pitchFamily="34" charset="-122"/>
                <a:cs typeface="Meiryo UI" pitchFamily="34" charset="-120"/>
              </a:rPr>
              <a:t>⑧</a:t>
            </a:r>
            <a:r>
              <a:rPr lang="en-US" sz="1100" b="1" dirty="0" err="1">
                <a:solidFill>
                  <a:srgbClr val="01953D"/>
                </a:solidFill>
                <a:latin typeface="Meiryo UI" pitchFamily="34" charset="0"/>
                <a:ea typeface="Meiryo UI" pitchFamily="34" charset="-122"/>
                <a:cs typeface="Meiryo UI" pitchFamily="34" charset="-120"/>
              </a:rPr>
              <a:t>配下</a:t>
            </a:r>
            <a:r>
              <a:rPr lang="en-US" sz="1100" b="1" dirty="0">
                <a:solidFill>
                  <a:srgbClr val="01953D"/>
                </a:solidFill>
                <a:latin typeface="Meiryo UI" pitchFamily="34" charset="0"/>
                <a:ea typeface="Meiryo UI" pitchFamily="34" charset="-122"/>
                <a:cs typeface="Meiryo UI" pitchFamily="34" charset="-120"/>
              </a:rPr>
              <a:t>）</a:t>
            </a:r>
            <a:endParaRPr lang="en-US" sz="1100" dirty="0"/>
          </a:p>
        </p:txBody>
      </p:sp>
      <p:sp>
        <p:nvSpPr>
          <p:cNvPr id="28" name="Text 25"/>
          <p:cNvSpPr/>
          <p:nvPr/>
        </p:nvSpPr>
        <p:spPr>
          <a:xfrm>
            <a:off x="6382512" y="43159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・MMM＋インクリメンタリティ実験体制の立ち上げ（重点1小売×1施策から）</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a:t>
            </a:r>
            <a:r>
              <a:rPr lang="en-US" sz="950" dirty="0" err="1">
                <a:solidFill>
                  <a:srgbClr val="000000"/>
                </a:solidFill>
                <a:latin typeface="Meiryo UI" pitchFamily="34" charset="0"/>
                <a:ea typeface="Meiryo UI" pitchFamily="34" charset="-122"/>
                <a:cs typeface="Meiryo UI" pitchFamily="34" charset="-120"/>
              </a:rPr>
              <a:t>RevOps型共有KPI（増分粗利・N-t-C・LTV）の組織設計と人事評価連動</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・小売現場のサステナ課題対応（リバース・ロジスティクス支援）</a:t>
            </a:r>
            <a:endParaRPr lang="en-US" sz="950" dirty="0"/>
          </a:p>
        </p:txBody>
      </p:sp>
      <p:sp>
        <p:nvSpPr>
          <p:cNvPr id="29" name="Shape 26"/>
          <p:cNvSpPr/>
          <p:nvPr/>
        </p:nvSpPr>
        <p:spPr>
          <a:xfrm>
            <a:off x="320040" y="5596128"/>
            <a:ext cx="11548872" cy="841248"/>
          </a:xfrm>
          <a:prstGeom prst="roundRect">
            <a:avLst>
              <a:gd name="adj" fmla="val 5435"/>
            </a:avLst>
          </a:prstGeom>
          <a:solidFill>
            <a:srgbClr val="E5F2E5"/>
          </a:solidFill>
          <a:ln w="9525">
            <a:solidFill>
              <a:srgbClr val="008D2E"/>
            </a:solidFill>
            <a:prstDash val="solid"/>
          </a:ln>
        </p:spPr>
        <p:txBody>
          <a:bodyPr/>
          <a:lstStyle/>
          <a:p>
            <a:endParaRPr lang="ja-JP" altLang="en-US"/>
          </a:p>
        </p:txBody>
      </p:sp>
      <p:sp>
        <p:nvSpPr>
          <p:cNvPr id="30" name="Text 27"/>
          <p:cNvSpPr/>
          <p:nvPr/>
        </p:nvSpPr>
        <p:spPr>
          <a:xfrm>
            <a:off x="502920" y="5669280"/>
            <a:ext cx="11365992" cy="713232"/>
          </a:xfrm>
          <a:prstGeom prst="rect">
            <a:avLst/>
          </a:prstGeom>
          <a:noFill/>
          <a:ln/>
        </p:spPr>
        <p:txBody>
          <a:bodyPr wrap="square" lIns="0" tIns="0" rIns="0" bIns="0" rtlCol="0" anchor="ctr">
            <a:normAutofit/>
          </a:bodyPr>
          <a:lstStyle/>
          <a:p>
            <a:pPr marL="0" indent="0">
              <a:lnSpc>
                <a:spcPts val="1200"/>
              </a:lnSpc>
              <a:buNone/>
            </a:pPr>
            <a:r>
              <a:rPr lang="en-US" sz="1050" b="1" dirty="0">
                <a:solidFill>
                  <a:srgbClr val="595959"/>
                </a:solidFill>
                <a:latin typeface="Meiryo UI" pitchFamily="34" charset="0"/>
                <a:ea typeface="Meiryo UI" pitchFamily="34" charset="-122"/>
                <a:cs typeface="Meiryo UI" pitchFamily="34" charset="-120"/>
              </a:rPr>
              <a:t>検討アジェンダ・論点</a:t>
            </a:r>
            <a:endParaRPr lang="en-US" sz="1050" dirty="0"/>
          </a:p>
          <a:p>
            <a:pPr marL="171450" indent="-171450">
              <a:lnSpc>
                <a:spcPts val="1200"/>
              </a:lnSpc>
              <a:buFont typeface="Arial" panose="020B0604020202020204" pitchFamily="34" charset="0"/>
              <a:buChar char="•"/>
            </a:pPr>
            <a:r>
              <a:rPr lang="en-US" sz="1050" b="1" dirty="0">
                <a:solidFill>
                  <a:srgbClr val="595959"/>
                </a:solidFill>
                <a:latin typeface="Meiryo UI" pitchFamily="34" charset="0"/>
                <a:ea typeface="Meiryo UI" pitchFamily="34" charset="-122"/>
                <a:cs typeface="Meiryo UI" pitchFamily="34" charset="-120"/>
              </a:rPr>
              <a:t>Libra（生成AI）導入意思決定：IT部門連携・セキュリティ審査・予算確保の進め方</a:t>
            </a:r>
            <a:endParaRPr lang="en-US" sz="1050" dirty="0"/>
          </a:p>
          <a:p>
            <a:pPr marL="171450" indent="-171450">
              <a:lnSpc>
                <a:spcPts val="1200"/>
              </a:lnSpc>
              <a:buFont typeface="Arial" panose="020B0604020202020204" pitchFamily="34" charset="0"/>
              <a:buChar char="•"/>
            </a:pPr>
            <a:r>
              <a:rPr lang="en-US" sz="1050" b="1" dirty="0">
                <a:solidFill>
                  <a:srgbClr val="595959"/>
                </a:solidFill>
                <a:latin typeface="Meiryo UI" pitchFamily="34" charset="0"/>
                <a:ea typeface="Meiryo UI" pitchFamily="34" charset="-122"/>
                <a:cs typeface="Meiryo UI" pitchFamily="34" charset="-120"/>
              </a:rPr>
              <a:t>Salesforce TPM：既存SFDCとの統合方針と移行コスト見積もり</a:t>
            </a:r>
            <a:endParaRPr lang="en-US" sz="1050" dirty="0"/>
          </a:p>
          <a:p>
            <a:pPr marL="171450" indent="-171450">
              <a:lnSpc>
                <a:spcPts val="1200"/>
              </a:lnSpc>
              <a:buFont typeface="Arial" panose="020B0604020202020204" pitchFamily="34" charset="0"/>
              <a:buChar char="•"/>
            </a:pPr>
            <a:r>
              <a:rPr lang="en-US" sz="1050" b="1" dirty="0">
                <a:solidFill>
                  <a:srgbClr val="595959"/>
                </a:solidFill>
                <a:latin typeface="Meiryo UI" pitchFamily="34" charset="0"/>
                <a:ea typeface="Meiryo UI" pitchFamily="34" charset="-122"/>
                <a:cs typeface="Meiryo UI" pitchFamily="34" charset="-120"/>
              </a:rPr>
              <a:t>アカウントスクワッド試行：最初の対象小売3社の選定基準と試行期間の設定</a:t>
            </a:r>
            <a:endParaRPr lang="en-US" sz="1050" dirty="0"/>
          </a:p>
        </p:txBody>
      </p:sp>
      <p:sp>
        <p:nvSpPr>
          <p:cNvPr id="32" name="Text 29"/>
          <p:cNvSpPr/>
          <p:nvPr/>
        </p:nvSpPr>
        <p:spPr>
          <a:xfrm>
            <a:off x="4279392" y="5650992"/>
            <a:ext cx="7452360" cy="749808"/>
          </a:xfrm>
          <a:prstGeom prst="rect">
            <a:avLst/>
          </a:prstGeom>
          <a:noFill/>
          <a:ln/>
        </p:spPr>
        <p:txBody>
          <a:bodyPr wrap="square" lIns="0" tIns="0" rIns="0" bIns="0" rtlCol="0" anchor="ctr">
            <a:normAutofit/>
          </a:bodyPr>
          <a:lstStyle/>
          <a:p>
            <a:pPr marL="0" indent="0">
              <a:lnSpc>
                <a:spcPts val="1250"/>
              </a:lnSpc>
              <a:buNone/>
            </a:pP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219456" y="0"/>
            <a:ext cx="10332720" cy="914400"/>
          </a:xfrm>
          <a:prstGeom prst="rect">
            <a:avLst/>
          </a:prstGeom>
          <a:noFill/>
          <a:ln/>
        </p:spPr>
        <p:txBody>
          <a:bodyPr wrap="square" lIns="0" tIns="0" rIns="0" bIns="0" rtlCol="0" anchor="b" anchorCtr="0"/>
          <a:lstStyle/>
          <a:p>
            <a:pPr marL="0" indent="0">
              <a:buNone/>
            </a:pPr>
            <a:endParaRPr lang="en-US" b="1" dirty="0">
              <a:solidFill>
                <a:srgbClr val="000000"/>
              </a:solidFill>
              <a:latin typeface="Meiryo UI" pitchFamily="34" charset="0"/>
              <a:ea typeface="Meiryo UI" pitchFamily="34" charset="-122"/>
              <a:cs typeface="Meiryo UI" pitchFamily="34" charset="-120"/>
            </a:endParaRPr>
          </a:p>
          <a:p>
            <a:pPr marL="0" indent="0">
              <a:buNone/>
            </a:pPr>
            <a:r>
              <a:rPr lang="en-US" sz="1800" b="1" dirty="0">
                <a:solidFill>
                  <a:srgbClr val="000000"/>
                </a:solidFill>
                <a:latin typeface="Meiryo UI" pitchFamily="34" charset="0"/>
                <a:ea typeface="Meiryo UI" pitchFamily="34" charset="-122"/>
                <a:cs typeface="Meiryo UI" pitchFamily="34" charset="-120"/>
              </a:rPr>
              <a:t>マイルストーン（FY26–FY30）</a:t>
            </a:r>
            <a:endParaRPr lang="en-US" sz="1800" dirty="0"/>
          </a:p>
        </p:txBody>
      </p:sp>
      <p:pic>
        <p:nvPicPr>
          <p:cNvPr id="3" name="Image 0" descr="/home/claude/logo.png"/>
          <p:cNvPicPr>
            <a:picLocks noChangeAspect="1"/>
          </p:cNvPicPr>
          <p:nvPr/>
        </p:nvPicPr>
        <p:blipFill>
          <a:blip r:embed="rId3"/>
          <a:stretch>
            <a:fillRect/>
          </a:stretch>
        </p:blipFill>
        <p:spPr>
          <a:xfrm>
            <a:off x="10881360" y="201168"/>
            <a:ext cx="868680" cy="566928"/>
          </a:xfrm>
          <a:prstGeom prst="rect">
            <a:avLst/>
          </a:prstGeom>
        </p:spPr>
      </p:pic>
      <p:sp>
        <p:nvSpPr>
          <p:cNvPr id="4" name="Shape 1"/>
          <p:cNvSpPr/>
          <p:nvPr/>
        </p:nvSpPr>
        <p:spPr>
          <a:xfrm>
            <a:off x="0" y="914400"/>
            <a:ext cx="12188952" cy="0"/>
          </a:xfrm>
          <a:prstGeom prst="line">
            <a:avLst/>
          </a:prstGeom>
          <a:noFill/>
          <a:ln w="28575">
            <a:solidFill>
              <a:srgbClr val="008000"/>
            </a:solidFill>
            <a:prstDash val="solid"/>
          </a:ln>
        </p:spPr>
        <p:txBody>
          <a:bodyPr/>
          <a:lstStyle/>
          <a:p>
            <a:endParaRPr lang="ja-JP" altLang="en-US"/>
          </a:p>
        </p:txBody>
      </p:sp>
      <p:sp>
        <p:nvSpPr>
          <p:cNvPr id="5" name="Text 2"/>
          <p:cNvSpPr/>
          <p:nvPr/>
        </p:nvSpPr>
        <p:spPr>
          <a:xfrm>
            <a:off x="220980" y="969264"/>
            <a:ext cx="11750040" cy="384048"/>
          </a:xfrm>
          <a:prstGeom prst="rect">
            <a:avLst/>
          </a:prstGeom>
          <a:noFill/>
          <a:ln/>
        </p:spPr>
        <p:txBody>
          <a:bodyPr wrap="square" lIns="0" tIns="0" rIns="0" bIns="0" rtlCol="0" anchor="ctr"/>
          <a:lstStyle/>
          <a:p>
            <a:pPr marL="0" indent="0">
              <a:buNone/>
            </a:pPr>
            <a:r>
              <a:rPr lang="en-US" dirty="0">
                <a:solidFill>
                  <a:srgbClr val="000000"/>
                </a:solidFill>
                <a:latin typeface="Meiryo UI" pitchFamily="34" charset="0"/>
                <a:ea typeface="Meiryo UI" pitchFamily="34" charset="-122"/>
                <a:cs typeface="Meiryo UI" pitchFamily="34" charset="-120"/>
              </a:rPr>
              <a:t>3rd Stage完了時点（FY30）の統合報告書KPI開示に向けた、4テーマ別の段階実装計画</a:t>
            </a:r>
            <a:endParaRPr lang="en-US" dirty="0"/>
          </a:p>
        </p:txBody>
      </p:sp>
      <p:sp>
        <p:nvSpPr>
          <p:cNvPr id="6" name="Text 3"/>
          <p:cNvSpPr/>
          <p:nvPr/>
        </p:nvSpPr>
        <p:spPr>
          <a:xfrm>
            <a:off x="11658600" y="6528816"/>
            <a:ext cx="411480" cy="274320"/>
          </a:xfrm>
          <a:prstGeom prst="rect">
            <a:avLst/>
          </a:prstGeom>
          <a:noFill/>
          <a:ln/>
        </p:spPr>
        <p:txBody>
          <a:bodyPr wrap="square" lIns="0" tIns="0" rIns="0" bIns="0" rtlCol="0" anchor="ctr"/>
          <a:lstStyle/>
          <a:p>
            <a:pPr marL="0" indent="0" algn="r">
              <a:buNone/>
            </a:pPr>
            <a:r>
              <a:rPr lang="en-US" sz="1000" dirty="0">
                <a:solidFill>
                  <a:srgbClr val="595959"/>
                </a:solidFill>
                <a:latin typeface="Meiryo UI" pitchFamily="34" charset="0"/>
                <a:ea typeface="Meiryo UI" pitchFamily="34" charset="-122"/>
                <a:cs typeface="Meiryo UI" pitchFamily="34" charset="-120"/>
              </a:rPr>
              <a:t>12</a:t>
            </a:r>
            <a:endParaRPr lang="en-US" sz="1000" dirty="0"/>
          </a:p>
        </p:txBody>
      </p:sp>
      <p:sp>
        <p:nvSpPr>
          <p:cNvPr id="7" name="Text 4"/>
          <p:cNvSpPr/>
          <p:nvPr/>
        </p:nvSpPr>
        <p:spPr>
          <a:xfrm>
            <a:off x="219456" y="6556248"/>
            <a:ext cx="8229600" cy="228600"/>
          </a:xfrm>
          <a:prstGeom prst="rect">
            <a:avLst/>
          </a:prstGeom>
          <a:noFill/>
          <a:ln/>
        </p:spPr>
        <p:txBody>
          <a:bodyPr wrap="square" lIns="0" tIns="0" rIns="0" bIns="0" rtlCol="0" anchor="ctr"/>
          <a:lstStyle/>
          <a:p>
            <a:pPr marL="0" indent="0">
              <a:buNone/>
            </a:pPr>
            <a:r>
              <a:rPr lang="en-US" sz="750" dirty="0">
                <a:solidFill>
                  <a:srgbClr val="595959"/>
                </a:solidFill>
                <a:latin typeface="Meiryo UI" pitchFamily="34" charset="0"/>
                <a:ea typeface="Meiryo UI" pitchFamily="34" charset="-122"/>
                <a:cs typeface="Meiryo UI" pitchFamily="34" charset="-120"/>
              </a:rPr>
              <a:t>LION Corporation ｜ 営業・マーケティングDX戦略 検討アジェンダ（P.6「真因・GAP分析」後続）</a:t>
            </a:r>
            <a:endParaRPr lang="en-US" sz="7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20040" y="1691640"/>
          <a:ext cx="11521440" cy="4361688"/>
        </p:xfrm>
        <a:graphic>
          <a:graphicData uri="http://schemas.openxmlformats.org/drawingml/2006/table">
            <a:tbl>
              <a:tblPr/>
              <a:tblGrid>
                <a:gridCol w="18288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8595360">
                  <a:extLst>
                    <a:ext uri="{9D8B030D-6E8A-4147-A177-3AD203B41FA5}">
                      <a16:colId xmlns:a16="http://schemas.microsoft.com/office/drawing/2014/main" val="20002"/>
                    </a:ext>
                  </a:extLst>
                </a:gridCol>
              </a:tblGrid>
              <a:tr h="411480">
                <a:tc>
                  <a:txBody>
                    <a:bodyPr/>
                    <a:lstStyle/>
                    <a:p>
                      <a:pPr marL="0" indent="0" algn="ctr">
                        <a:buNone/>
                      </a:pPr>
                      <a:r>
                        <a:rPr lang="en-US" sz="1100" b="1" dirty="0">
                          <a:solidFill>
                            <a:srgbClr val="FFFFFF"/>
                          </a:solidFill>
                          <a:latin typeface="Meiryo UI" pitchFamily="34" charset="0"/>
                          <a:ea typeface="Meiryo UI" pitchFamily="34" charset="-122"/>
                          <a:cs typeface="Meiryo UI" pitchFamily="34" charset="-120"/>
                        </a:rPr>
                        <a:t>期間</a:t>
                      </a:r>
                      <a:endParaRPr lang="en-US" sz="11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8D2E"/>
                    </a:solidFill>
                  </a:tcPr>
                </a:tc>
                <a:tc>
                  <a:txBody>
                    <a:bodyPr/>
                    <a:lstStyle/>
                    <a:p>
                      <a:pPr marL="0" indent="0" algn="ctr">
                        <a:buNone/>
                      </a:pPr>
                      <a:r>
                        <a:rPr lang="en-US" sz="1100" b="1" dirty="0">
                          <a:solidFill>
                            <a:srgbClr val="FFFFFF"/>
                          </a:solidFill>
                          <a:latin typeface="Meiryo UI" pitchFamily="34" charset="0"/>
                          <a:ea typeface="Meiryo UI" pitchFamily="34" charset="-122"/>
                          <a:cs typeface="Meiryo UI" pitchFamily="34" charset="-120"/>
                        </a:rPr>
                        <a:t>テーマ</a:t>
                      </a:r>
                      <a:endParaRPr lang="en-US" sz="11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8D2E"/>
                    </a:solidFill>
                  </a:tcPr>
                </a:tc>
                <a:tc>
                  <a:txBody>
                    <a:bodyPr/>
                    <a:lstStyle/>
                    <a:p>
                      <a:pPr marL="0" indent="0" algn="ctr">
                        <a:buNone/>
                      </a:pPr>
                      <a:r>
                        <a:rPr lang="en-US" sz="1100" b="1" dirty="0">
                          <a:solidFill>
                            <a:srgbClr val="FFFFFF"/>
                          </a:solidFill>
                          <a:latin typeface="Meiryo UI" pitchFamily="34" charset="0"/>
                          <a:ea typeface="Meiryo UI" pitchFamily="34" charset="-122"/>
                          <a:cs typeface="Meiryo UI" pitchFamily="34" charset="-120"/>
                        </a:rPr>
                        <a:t>マイルストーン</a:t>
                      </a:r>
                      <a:endParaRPr lang="en-US" sz="11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8D2E"/>
                    </a:solidFill>
                  </a:tcPr>
                </a:tc>
                <a:extLst>
                  <a:ext uri="{0D108BD9-81ED-4DB2-BD59-A6C34878D82A}">
                    <a16:rowId xmlns:a16="http://schemas.microsoft.com/office/drawing/2014/main" val="10000"/>
                  </a:ext>
                </a:extLst>
              </a:tr>
              <a:tr h="658368">
                <a:tc>
                  <a:txBody>
                    <a:bodyPr/>
                    <a:lstStyle/>
                    <a:p>
                      <a:pPr marL="0" indent="0" algn="ctr">
                        <a:buNone/>
                      </a:pPr>
                      <a:r>
                        <a:rPr lang="en-US" sz="1050" b="1" dirty="0">
                          <a:solidFill>
                            <a:srgbClr val="000000"/>
                          </a:solidFill>
                          <a:latin typeface="Meiryo UI" pitchFamily="34" charset="0"/>
                          <a:ea typeface="Meiryo UI" pitchFamily="34" charset="-122"/>
                          <a:cs typeface="Meiryo UI" pitchFamily="34" charset="-120"/>
                        </a:rPr>
                        <a:t>FY26 Q3–Q4</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050" b="1" dirty="0">
                          <a:solidFill>
                            <a:srgbClr val="01953D"/>
                          </a:solidFill>
                          <a:latin typeface="Meiryo UI" pitchFamily="34" charset="0"/>
                          <a:ea typeface="Meiryo UI" pitchFamily="34" charset="-122"/>
                          <a:cs typeface="Meiryo UI" pitchFamily="34" charset="-120"/>
                        </a:rPr>
                        <a:t>T2・T5</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buNone/>
                      </a:pPr>
                      <a:r>
                        <a:rPr lang="en-US" sz="1000" dirty="0">
                          <a:solidFill>
                            <a:srgbClr val="000000"/>
                          </a:solidFill>
                          <a:latin typeface="Meiryo UI" pitchFamily="34" charset="0"/>
                          <a:ea typeface="Meiryo UI" pitchFamily="34" charset="-122"/>
                          <a:cs typeface="Meiryo UI" pitchFamily="34" charset="-120"/>
                        </a:rPr>
                        <a:t>AIEO監査開始・AI推奨シェアのベースライン確立 ／ 生成AIによるInput業務30％削減実装（P.5 テーマ4 先行着手）</a:t>
                      </a:r>
                      <a:endParaRPr lang="en-US" sz="10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1"/>
                  </a:ext>
                </a:extLst>
              </a:tr>
              <a:tr h="658368">
                <a:tc>
                  <a:txBody>
                    <a:bodyPr/>
                    <a:lstStyle/>
                    <a:p>
                      <a:pPr marL="0" indent="0" algn="ctr">
                        <a:buNone/>
                      </a:pPr>
                      <a:r>
                        <a:rPr lang="en-US" sz="1050" b="1" dirty="0">
                          <a:solidFill>
                            <a:srgbClr val="000000"/>
                          </a:solidFill>
                          <a:latin typeface="Meiryo UI" pitchFamily="34" charset="0"/>
                          <a:ea typeface="Meiryo UI" pitchFamily="34" charset="-122"/>
                          <a:cs typeface="Meiryo UI" pitchFamily="34" charset="-120"/>
                        </a:rPr>
                        <a:t>FY26 Q4–FY27 Q1</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01953D"/>
                          </a:solidFill>
                          <a:latin typeface="Meiryo UI" pitchFamily="34" charset="0"/>
                          <a:ea typeface="Meiryo UI" pitchFamily="34" charset="-122"/>
                          <a:cs typeface="Meiryo UI" pitchFamily="34" charset="-120"/>
                        </a:rPr>
                        <a:t>T1・T3</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Meiryo UI" pitchFamily="34" charset="0"/>
                          <a:ea typeface="Meiryo UI" pitchFamily="34" charset="-122"/>
                          <a:cs typeface="Meiryo UI" pitchFamily="34" charset="-120"/>
                        </a:rPr>
                        <a:t>歯ぐきケアJBP：重点小売2社でN-t-Cを共同KPIとするJBP開始 ／ 匿名診断PoC実施（GAP2・GAP3 最初の試行）</a:t>
                      </a:r>
                      <a:endParaRPr lang="en-US" sz="10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lgn="ctr">
                        <a:buNone/>
                      </a:pPr>
                      <a:r>
                        <a:rPr lang="en-US" sz="1050" b="1" dirty="0">
                          <a:solidFill>
                            <a:srgbClr val="000000"/>
                          </a:solidFill>
                          <a:latin typeface="Meiryo UI" pitchFamily="34" charset="0"/>
                          <a:ea typeface="Meiryo UI" pitchFamily="34" charset="-122"/>
                          <a:cs typeface="Meiryo UI" pitchFamily="34" charset="-120"/>
                        </a:rPr>
                        <a:t>FY27</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050" b="1" dirty="0">
                          <a:solidFill>
                            <a:srgbClr val="01953D"/>
                          </a:solidFill>
                          <a:latin typeface="Meiryo UI" pitchFamily="34" charset="0"/>
                          <a:ea typeface="Meiryo UI" pitchFamily="34" charset="-122"/>
                          <a:cs typeface="Meiryo UI" pitchFamily="34" charset="-120"/>
                        </a:rPr>
                        <a:t>T2・T4</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buNone/>
                      </a:pPr>
                      <a:r>
                        <a:rPr lang="en-US" sz="1000" dirty="0">
                          <a:solidFill>
                            <a:srgbClr val="000000"/>
                          </a:solidFill>
                          <a:latin typeface="Meiryo UI" pitchFamily="34" charset="0"/>
                          <a:ea typeface="Meiryo UI" pitchFamily="34" charset="-122"/>
                          <a:cs typeface="Meiryo UI" pitchFamily="34" charset="-120"/>
                        </a:rPr>
                        <a:t>Oral Evidence Hub公開（GAP1 解消） ／ LION ID価値再設計・匿名診断実装（GAP2 先行解消）</a:t>
                      </a:r>
                      <a:endParaRPr lang="en-US" sz="10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r h="658368">
                <a:tc>
                  <a:txBody>
                    <a:bodyPr/>
                    <a:lstStyle/>
                    <a:p>
                      <a:pPr marL="0" indent="0" algn="ctr">
                        <a:buNone/>
                      </a:pPr>
                      <a:r>
                        <a:rPr lang="en-US" sz="1050" b="1" dirty="0">
                          <a:solidFill>
                            <a:srgbClr val="000000"/>
                          </a:solidFill>
                          <a:latin typeface="Meiryo UI" pitchFamily="34" charset="0"/>
                          <a:ea typeface="Meiryo UI" pitchFamily="34" charset="-122"/>
                          <a:cs typeface="Meiryo UI" pitchFamily="34" charset="-120"/>
                        </a:rPr>
                        <a:t>FY27–FY28</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01953D"/>
                          </a:solidFill>
                          <a:latin typeface="Meiryo UI" pitchFamily="34" charset="0"/>
                          <a:ea typeface="Meiryo UI" pitchFamily="34" charset="-122"/>
                          <a:cs typeface="Meiryo UI" pitchFamily="34" charset="-120"/>
                        </a:rPr>
                        <a:t>T3・T5</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Meiryo UI" pitchFamily="34" charset="0"/>
                          <a:ea typeface="Meiryo UI" pitchFamily="34" charset="-122"/>
                          <a:cs typeface="Meiryo UI" pitchFamily="34" charset="-120"/>
                        </a:rPr>
                        <a:t>Total Availabilityダッシュボード重点小売展開 ／ MMM＋増分実験体制確立（GAP3 解消・P.3 O2機会捕捉）</a:t>
                      </a:r>
                      <a:endParaRPr lang="en-US" sz="10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58368">
                <a:tc>
                  <a:txBody>
                    <a:bodyPr/>
                    <a:lstStyle/>
                    <a:p>
                      <a:pPr marL="0" indent="0" algn="ctr">
                        <a:buNone/>
                      </a:pPr>
                      <a:r>
                        <a:rPr lang="en-US" sz="1050" b="1" dirty="0">
                          <a:solidFill>
                            <a:srgbClr val="000000"/>
                          </a:solidFill>
                          <a:latin typeface="Meiryo UI" pitchFamily="34" charset="0"/>
                          <a:ea typeface="Meiryo UI" pitchFamily="34" charset="-122"/>
                          <a:cs typeface="Meiryo UI" pitchFamily="34" charset="-120"/>
                        </a:rPr>
                        <a:t>FY28</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050" b="1" dirty="0">
                          <a:solidFill>
                            <a:srgbClr val="01953D"/>
                          </a:solidFill>
                          <a:latin typeface="Meiryo UI" pitchFamily="34" charset="0"/>
                          <a:ea typeface="Meiryo UI" pitchFamily="34" charset="-122"/>
                          <a:cs typeface="Meiryo UI" pitchFamily="34" charset="-120"/>
                        </a:rPr>
                        <a:t>T1・T4</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buNone/>
                      </a:pPr>
                      <a:r>
                        <a:rPr lang="en-US" sz="1000" dirty="0">
                          <a:solidFill>
                            <a:srgbClr val="000000"/>
                          </a:solidFill>
                          <a:latin typeface="Meiryo UI" pitchFamily="34" charset="0"/>
                          <a:ea typeface="Meiryo UI" pitchFamily="34" charset="-122"/>
                          <a:cs typeface="Meiryo UI" pitchFamily="34" charset="-120"/>
                        </a:rPr>
                        <a:t>B2B2C（歯科→小売）接続実証完了 ／ Oral Health Graph限定ユースケース稼働（P.6 ボトルネック①インフラ解消）</a:t>
                      </a:r>
                      <a:endParaRPr lang="en-US" sz="10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5"/>
                  </a:ext>
                </a:extLst>
              </a:tr>
              <a:tr h="658368">
                <a:tc>
                  <a:txBody>
                    <a:bodyPr/>
                    <a:lstStyle/>
                    <a:p>
                      <a:pPr marL="0" indent="0" algn="ctr">
                        <a:buNone/>
                      </a:pPr>
                      <a:r>
                        <a:rPr lang="en-US" sz="1050" b="1" dirty="0">
                          <a:solidFill>
                            <a:srgbClr val="000000"/>
                          </a:solidFill>
                          <a:latin typeface="Meiryo UI" pitchFamily="34" charset="0"/>
                          <a:ea typeface="Meiryo UI" pitchFamily="34" charset="-122"/>
                          <a:cs typeface="Meiryo UI" pitchFamily="34" charset="-120"/>
                        </a:rPr>
                        <a:t>FY29–FY30</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01953D"/>
                          </a:solidFill>
                          <a:latin typeface="Meiryo UI" pitchFamily="34" charset="0"/>
                          <a:ea typeface="Meiryo UI" pitchFamily="34" charset="-122"/>
                          <a:cs typeface="Meiryo UI" pitchFamily="34" charset="-120"/>
                        </a:rPr>
                        <a:t>T4・T2</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Meiryo UI" pitchFamily="34" charset="0"/>
                          <a:ea typeface="Meiryo UI" pitchFamily="34" charset="-122"/>
                          <a:cs typeface="Meiryo UI" pitchFamily="34" charset="-120"/>
                        </a:rPr>
                        <a:t>LION IDアクティブ目標件数達成 ／ AI推奨シェア目標値達成 ／ 統合報告書への顧客資本KPI開示（3rd Stage 完了時点）</a:t>
                      </a:r>
                      <a:endParaRPr lang="en-US" sz="10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219456" y="0"/>
            <a:ext cx="10332720" cy="914400"/>
          </a:xfrm>
          <a:prstGeom prst="rect">
            <a:avLst/>
          </a:prstGeom>
          <a:noFill/>
          <a:ln/>
        </p:spPr>
        <p:txBody>
          <a:bodyPr wrap="square" lIns="0" tIns="0" rIns="0" bIns="0" rtlCol="0" anchor="b" anchorCtr="0"/>
          <a:lstStyle/>
          <a:p>
            <a:pPr marL="0" indent="0">
              <a:buNone/>
            </a:pPr>
            <a:r>
              <a:rPr lang="ja-JP" altLang="en-US" b="1" dirty="0">
                <a:solidFill>
                  <a:srgbClr val="000000"/>
                </a:solidFill>
                <a:latin typeface="Meiryo UI" pitchFamily="34" charset="0"/>
                <a:ea typeface="Meiryo UI" pitchFamily="34" charset="-122"/>
                <a:cs typeface="Meiryo UI" pitchFamily="34" charset="-120"/>
              </a:rPr>
              <a:t>経営戦略との接続</a:t>
            </a:r>
            <a:endParaRPr lang="en-US" b="1" dirty="0">
              <a:solidFill>
                <a:srgbClr val="000000"/>
              </a:solidFill>
              <a:latin typeface="Meiryo UI" pitchFamily="34" charset="0"/>
              <a:ea typeface="Meiryo UI" pitchFamily="34" charset="-122"/>
              <a:cs typeface="Meiryo UI" pitchFamily="34" charset="-120"/>
            </a:endParaRPr>
          </a:p>
          <a:p>
            <a:pPr marL="0" indent="0">
              <a:buNone/>
            </a:pPr>
            <a:r>
              <a:rPr lang="en-US" sz="1800" b="1" dirty="0">
                <a:solidFill>
                  <a:srgbClr val="000000"/>
                </a:solidFill>
                <a:latin typeface="Meiryo UI" pitchFamily="34" charset="0"/>
                <a:ea typeface="Meiryo UI" pitchFamily="34" charset="-122"/>
                <a:cs typeface="Meiryo UI" pitchFamily="34" charset="-120"/>
              </a:rPr>
              <a:t>仮説的KPIツリー（FY2026–FY2030）</a:t>
            </a:r>
            <a:endParaRPr lang="en-US" sz="1800" dirty="0"/>
          </a:p>
        </p:txBody>
      </p:sp>
      <p:pic>
        <p:nvPicPr>
          <p:cNvPr id="3" name="Image 0" descr="/home/claude/logo.png"/>
          <p:cNvPicPr>
            <a:picLocks noChangeAspect="1"/>
          </p:cNvPicPr>
          <p:nvPr/>
        </p:nvPicPr>
        <p:blipFill>
          <a:blip r:embed="rId3"/>
          <a:stretch>
            <a:fillRect/>
          </a:stretch>
        </p:blipFill>
        <p:spPr>
          <a:xfrm>
            <a:off x="10881360" y="201168"/>
            <a:ext cx="868680" cy="566928"/>
          </a:xfrm>
          <a:prstGeom prst="rect">
            <a:avLst/>
          </a:prstGeom>
        </p:spPr>
      </p:pic>
      <p:sp>
        <p:nvSpPr>
          <p:cNvPr id="4" name="Shape 1"/>
          <p:cNvSpPr/>
          <p:nvPr/>
        </p:nvSpPr>
        <p:spPr>
          <a:xfrm>
            <a:off x="0" y="914400"/>
            <a:ext cx="12188952" cy="0"/>
          </a:xfrm>
          <a:prstGeom prst="line">
            <a:avLst/>
          </a:prstGeom>
          <a:noFill/>
          <a:ln w="28575">
            <a:solidFill>
              <a:srgbClr val="008000"/>
            </a:solidFill>
            <a:prstDash val="solid"/>
          </a:ln>
        </p:spPr>
        <p:txBody>
          <a:bodyPr/>
          <a:lstStyle/>
          <a:p>
            <a:endParaRPr lang="ja-JP" altLang="en-US"/>
          </a:p>
        </p:txBody>
      </p:sp>
      <p:sp>
        <p:nvSpPr>
          <p:cNvPr id="5" name="Text 2"/>
          <p:cNvSpPr/>
          <p:nvPr/>
        </p:nvSpPr>
        <p:spPr>
          <a:xfrm>
            <a:off x="219456" y="969264"/>
            <a:ext cx="11750040" cy="384048"/>
          </a:xfrm>
          <a:prstGeom prst="rect">
            <a:avLst/>
          </a:prstGeom>
          <a:noFill/>
          <a:ln/>
        </p:spPr>
        <p:txBody>
          <a:bodyPr wrap="square" lIns="0" tIns="0" rIns="0" bIns="0" rtlCol="0" anchor="ctr"/>
          <a:lstStyle/>
          <a:p>
            <a:pPr marL="0" indent="0">
              <a:buNone/>
            </a:pPr>
            <a:r>
              <a:rPr lang="en-US" dirty="0">
                <a:solidFill>
                  <a:srgbClr val="000000"/>
                </a:solidFill>
                <a:latin typeface="Meiryo UI" pitchFamily="34" charset="0"/>
                <a:ea typeface="Meiryo UI" pitchFamily="34" charset="-122"/>
                <a:cs typeface="Meiryo UI" pitchFamily="34" charset="-120"/>
              </a:rPr>
              <a:t>北極星KPI「増分粗利（オーラルケア事業）」を頂点に、4テーマの重点施策KPIを構造化</a:t>
            </a:r>
            <a:endParaRPr lang="en-US" dirty="0"/>
          </a:p>
        </p:txBody>
      </p:sp>
      <p:sp>
        <p:nvSpPr>
          <p:cNvPr id="6" name="Text 3"/>
          <p:cNvSpPr/>
          <p:nvPr/>
        </p:nvSpPr>
        <p:spPr>
          <a:xfrm>
            <a:off x="11658600" y="6528816"/>
            <a:ext cx="411480" cy="274320"/>
          </a:xfrm>
          <a:prstGeom prst="rect">
            <a:avLst/>
          </a:prstGeom>
          <a:noFill/>
          <a:ln/>
        </p:spPr>
        <p:txBody>
          <a:bodyPr wrap="square" lIns="0" tIns="0" rIns="0" bIns="0" rtlCol="0" anchor="ctr"/>
          <a:lstStyle/>
          <a:p>
            <a:pPr marL="0" indent="0" algn="r">
              <a:buNone/>
            </a:pPr>
            <a:r>
              <a:rPr lang="en-US" sz="1000" dirty="0">
                <a:solidFill>
                  <a:srgbClr val="595959"/>
                </a:solidFill>
                <a:latin typeface="Meiryo UI" pitchFamily="34" charset="0"/>
                <a:ea typeface="Meiryo UI" pitchFamily="34" charset="-122"/>
                <a:cs typeface="Meiryo UI" pitchFamily="34" charset="-120"/>
              </a:rPr>
              <a:t>10</a:t>
            </a:r>
            <a:endParaRPr lang="en-US" sz="1000" dirty="0"/>
          </a:p>
        </p:txBody>
      </p:sp>
      <p:sp>
        <p:nvSpPr>
          <p:cNvPr id="7" name="Text 4"/>
          <p:cNvSpPr/>
          <p:nvPr/>
        </p:nvSpPr>
        <p:spPr>
          <a:xfrm>
            <a:off x="219456" y="6556248"/>
            <a:ext cx="8229600" cy="228600"/>
          </a:xfrm>
          <a:prstGeom prst="rect">
            <a:avLst/>
          </a:prstGeom>
          <a:noFill/>
          <a:ln/>
        </p:spPr>
        <p:txBody>
          <a:bodyPr wrap="square" lIns="0" tIns="0" rIns="0" bIns="0" rtlCol="0" anchor="ctr"/>
          <a:lstStyle/>
          <a:p>
            <a:pPr marL="0" indent="0">
              <a:buNone/>
            </a:pPr>
            <a:r>
              <a:rPr lang="en-US" sz="750" dirty="0">
                <a:solidFill>
                  <a:srgbClr val="595959"/>
                </a:solidFill>
                <a:latin typeface="Meiryo UI" pitchFamily="34" charset="0"/>
                <a:ea typeface="Meiryo UI" pitchFamily="34" charset="-122"/>
                <a:cs typeface="Meiryo UI" pitchFamily="34" charset="-120"/>
              </a:rPr>
              <a:t>LION Corporation ｜ 営業・マーケティングDX戦略 検討アジェンダ（P.6「真因・GAP分析」後続）</a:t>
            </a:r>
            <a:endParaRPr lang="en-US" sz="750" dirty="0"/>
          </a:p>
        </p:txBody>
      </p:sp>
      <p:sp>
        <p:nvSpPr>
          <p:cNvPr id="8" name="Shape 5"/>
          <p:cNvSpPr/>
          <p:nvPr/>
        </p:nvSpPr>
        <p:spPr>
          <a:xfrm>
            <a:off x="4041648" y="1645920"/>
            <a:ext cx="4114800" cy="868680"/>
          </a:xfrm>
          <a:prstGeom prst="roundRect">
            <a:avLst>
              <a:gd name="adj" fmla="val 6316"/>
            </a:avLst>
          </a:prstGeom>
          <a:solidFill>
            <a:srgbClr val="008000"/>
          </a:solidFill>
          <a:ln/>
          <a:effectLst>
            <a:outerShdw blurRad="63500" dist="25400" dir="5400000" algn="bl" rotWithShape="0">
              <a:srgbClr val="C0C0C0">
                <a:alpha val="50000"/>
              </a:srgbClr>
            </a:outerShdw>
          </a:effectLst>
        </p:spPr>
        <p:txBody>
          <a:bodyPr/>
          <a:lstStyle/>
          <a:p>
            <a:endParaRPr lang="ja-JP" altLang="en-US"/>
          </a:p>
        </p:txBody>
      </p:sp>
      <p:sp>
        <p:nvSpPr>
          <p:cNvPr id="9" name="Text 6"/>
          <p:cNvSpPr/>
          <p:nvPr/>
        </p:nvSpPr>
        <p:spPr>
          <a:xfrm>
            <a:off x="4041648" y="1645920"/>
            <a:ext cx="4114800" cy="868680"/>
          </a:xfrm>
          <a:prstGeom prst="rect">
            <a:avLst/>
          </a:prstGeom>
          <a:noFill/>
          <a:ln/>
        </p:spPr>
        <p:txBody>
          <a:bodyPr wrap="square" lIns="0" tIns="0" rIns="0" bIns="0" rtlCol="0" anchor="ctr"/>
          <a:lstStyle/>
          <a:p>
            <a:pPr marL="0" indent="0" algn="ctr">
              <a:buNone/>
            </a:pPr>
            <a:r>
              <a:rPr lang="en-US" sz="950" dirty="0">
                <a:solidFill>
                  <a:srgbClr val="E5F2E5"/>
                </a:solidFill>
                <a:latin typeface="Meiryo UI" pitchFamily="34" charset="0"/>
                <a:ea typeface="Meiryo UI" pitchFamily="34" charset="-122"/>
                <a:cs typeface="Meiryo UI" pitchFamily="34" charset="-120"/>
              </a:rPr>
              <a:t>【北極星KPI】
</a:t>
            </a:r>
            <a:r>
              <a:rPr lang="en-US" sz="1500" b="1" dirty="0">
                <a:solidFill>
                  <a:srgbClr val="FFFFFF"/>
                </a:solidFill>
                <a:latin typeface="Meiryo UI" pitchFamily="34" charset="0"/>
                <a:ea typeface="Meiryo UI" pitchFamily="34" charset="-122"/>
                <a:cs typeface="Meiryo UI" pitchFamily="34" charset="-120"/>
              </a:rPr>
              <a:t>増分粗利（オーラルケア事業）</a:t>
            </a:r>
            <a:endParaRPr lang="en-US" sz="950" dirty="0"/>
          </a:p>
        </p:txBody>
      </p:sp>
      <p:sp>
        <p:nvSpPr>
          <p:cNvPr id="10" name="Shape 7"/>
          <p:cNvSpPr/>
          <p:nvPr/>
        </p:nvSpPr>
        <p:spPr>
          <a:xfrm>
            <a:off x="6099048" y="2514600"/>
            <a:ext cx="0" cy="274320"/>
          </a:xfrm>
          <a:prstGeom prst="line">
            <a:avLst/>
          </a:prstGeom>
          <a:noFill/>
          <a:ln w="15875">
            <a:solidFill>
              <a:srgbClr val="595959"/>
            </a:solidFill>
            <a:prstDash val="solid"/>
          </a:ln>
        </p:spPr>
        <p:txBody>
          <a:bodyPr/>
          <a:lstStyle/>
          <a:p>
            <a:endParaRPr lang="ja-JP" altLang="en-US"/>
          </a:p>
        </p:txBody>
      </p:sp>
      <p:sp>
        <p:nvSpPr>
          <p:cNvPr id="11" name="Shape 8"/>
          <p:cNvSpPr/>
          <p:nvPr/>
        </p:nvSpPr>
        <p:spPr>
          <a:xfrm>
            <a:off x="3063240" y="2788920"/>
            <a:ext cx="6071616" cy="0"/>
          </a:xfrm>
          <a:prstGeom prst="line">
            <a:avLst/>
          </a:prstGeom>
          <a:noFill/>
          <a:ln w="15875">
            <a:solidFill>
              <a:srgbClr val="595959"/>
            </a:solidFill>
            <a:prstDash val="solid"/>
          </a:ln>
        </p:spPr>
        <p:txBody>
          <a:bodyPr/>
          <a:lstStyle/>
          <a:p>
            <a:endParaRPr lang="ja-JP" altLang="en-US"/>
          </a:p>
        </p:txBody>
      </p:sp>
      <p:sp>
        <p:nvSpPr>
          <p:cNvPr id="12" name="Shape 9"/>
          <p:cNvSpPr/>
          <p:nvPr/>
        </p:nvSpPr>
        <p:spPr>
          <a:xfrm>
            <a:off x="3063240" y="2788920"/>
            <a:ext cx="0" cy="274320"/>
          </a:xfrm>
          <a:prstGeom prst="line">
            <a:avLst/>
          </a:prstGeom>
          <a:noFill/>
          <a:ln w="15875">
            <a:solidFill>
              <a:srgbClr val="595959"/>
            </a:solidFill>
            <a:prstDash val="solid"/>
          </a:ln>
        </p:spPr>
        <p:txBody>
          <a:bodyPr/>
          <a:lstStyle/>
          <a:p>
            <a:endParaRPr lang="ja-JP" altLang="en-US"/>
          </a:p>
        </p:txBody>
      </p:sp>
      <p:sp>
        <p:nvSpPr>
          <p:cNvPr id="13" name="Shape 10"/>
          <p:cNvSpPr/>
          <p:nvPr/>
        </p:nvSpPr>
        <p:spPr>
          <a:xfrm>
            <a:off x="9134856" y="2788920"/>
            <a:ext cx="0" cy="274320"/>
          </a:xfrm>
          <a:prstGeom prst="line">
            <a:avLst/>
          </a:prstGeom>
          <a:noFill/>
          <a:ln w="15875">
            <a:solidFill>
              <a:srgbClr val="595959"/>
            </a:solidFill>
            <a:prstDash val="solid"/>
          </a:ln>
        </p:spPr>
        <p:txBody>
          <a:bodyPr/>
          <a:lstStyle/>
          <a:p>
            <a:endParaRPr lang="ja-JP" altLang="en-US"/>
          </a:p>
        </p:txBody>
      </p:sp>
      <p:sp>
        <p:nvSpPr>
          <p:cNvPr id="14" name="Shape 11"/>
          <p:cNvSpPr/>
          <p:nvPr/>
        </p:nvSpPr>
        <p:spPr>
          <a:xfrm>
            <a:off x="914400" y="3063240"/>
            <a:ext cx="4297680" cy="640080"/>
          </a:xfrm>
          <a:prstGeom prst="roundRect">
            <a:avLst>
              <a:gd name="adj" fmla="val 7143"/>
            </a:avLst>
          </a:prstGeom>
          <a:solidFill>
            <a:srgbClr val="E5F2E5"/>
          </a:solidFill>
          <a:ln w="15875">
            <a:solidFill>
              <a:srgbClr val="008D2E"/>
            </a:solidFill>
            <a:prstDash val="solid"/>
          </a:ln>
        </p:spPr>
        <p:txBody>
          <a:bodyPr/>
          <a:lstStyle/>
          <a:p>
            <a:endParaRPr lang="ja-JP" altLang="en-US"/>
          </a:p>
        </p:txBody>
      </p:sp>
      <p:sp>
        <p:nvSpPr>
          <p:cNvPr id="15" name="Text 12"/>
          <p:cNvSpPr/>
          <p:nvPr/>
        </p:nvSpPr>
        <p:spPr>
          <a:xfrm>
            <a:off x="914400" y="3063240"/>
            <a:ext cx="4297680" cy="640080"/>
          </a:xfrm>
          <a:prstGeom prst="rect">
            <a:avLst/>
          </a:prstGeom>
          <a:noFill/>
          <a:ln/>
        </p:spPr>
        <p:txBody>
          <a:bodyPr wrap="square" lIns="0" tIns="0" rIns="0" bIns="0" rtlCol="0" anchor="ctr"/>
          <a:lstStyle/>
          <a:p>
            <a:pPr marL="0" indent="0" algn="ctr">
              <a:buNone/>
            </a:pPr>
            <a:r>
              <a:rPr lang="en-US" sz="1300" b="1" dirty="0">
                <a:solidFill>
                  <a:srgbClr val="01953D"/>
                </a:solidFill>
                <a:latin typeface="Meiryo UI" pitchFamily="34" charset="0"/>
                <a:ea typeface="Meiryo UI" pitchFamily="34" charset="-122"/>
                <a:cs typeface="Meiryo UI" pitchFamily="34" charset="-120"/>
              </a:rPr>
              <a:t>新規顧客（N-t-C）</a:t>
            </a:r>
            <a:r>
              <a:rPr lang="en-US" sz="950" dirty="0">
                <a:solidFill>
                  <a:srgbClr val="595959"/>
                </a:solidFill>
                <a:latin typeface="Meiryo UI" pitchFamily="34" charset="0"/>
                <a:ea typeface="Meiryo UI" pitchFamily="34" charset="-122"/>
                <a:cs typeface="Meiryo UI" pitchFamily="34" charset="-120"/>
              </a:rPr>
              <a:t>　New-to-Category 獲得</a:t>
            </a:r>
            <a:endParaRPr lang="en-US" sz="1300" dirty="0"/>
          </a:p>
        </p:txBody>
      </p:sp>
      <p:sp>
        <p:nvSpPr>
          <p:cNvPr id="16" name="Shape 13"/>
          <p:cNvSpPr/>
          <p:nvPr/>
        </p:nvSpPr>
        <p:spPr>
          <a:xfrm>
            <a:off x="6986016" y="3063240"/>
            <a:ext cx="4297680" cy="640080"/>
          </a:xfrm>
          <a:prstGeom prst="roundRect">
            <a:avLst>
              <a:gd name="adj" fmla="val 7143"/>
            </a:avLst>
          </a:prstGeom>
          <a:solidFill>
            <a:srgbClr val="E5F2E5"/>
          </a:solidFill>
          <a:ln w="15875">
            <a:solidFill>
              <a:srgbClr val="008D2E"/>
            </a:solidFill>
            <a:prstDash val="solid"/>
          </a:ln>
        </p:spPr>
        <p:txBody>
          <a:bodyPr/>
          <a:lstStyle/>
          <a:p>
            <a:endParaRPr lang="ja-JP" altLang="en-US"/>
          </a:p>
        </p:txBody>
      </p:sp>
      <p:sp>
        <p:nvSpPr>
          <p:cNvPr id="17" name="Text 14"/>
          <p:cNvSpPr/>
          <p:nvPr/>
        </p:nvSpPr>
        <p:spPr>
          <a:xfrm>
            <a:off x="6986016" y="3063240"/>
            <a:ext cx="4297680" cy="640080"/>
          </a:xfrm>
          <a:prstGeom prst="rect">
            <a:avLst/>
          </a:prstGeom>
          <a:noFill/>
          <a:ln/>
        </p:spPr>
        <p:txBody>
          <a:bodyPr wrap="square" lIns="0" tIns="0" rIns="0" bIns="0" rtlCol="0" anchor="ctr"/>
          <a:lstStyle/>
          <a:p>
            <a:pPr marL="0" indent="0" algn="ctr">
              <a:buNone/>
            </a:pPr>
            <a:r>
              <a:rPr lang="en-US" sz="1300" b="1" dirty="0">
                <a:solidFill>
                  <a:srgbClr val="01953D"/>
                </a:solidFill>
                <a:latin typeface="Meiryo UI" pitchFamily="34" charset="0"/>
                <a:ea typeface="Meiryo UI" pitchFamily="34" charset="-122"/>
                <a:cs typeface="Meiryo UI" pitchFamily="34" charset="-120"/>
              </a:rPr>
              <a:t>継続顧客（LTV向上）</a:t>
            </a:r>
            <a:r>
              <a:rPr lang="en-US" sz="950" dirty="0">
                <a:solidFill>
                  <a:srgbClr val="595959"/>
                </a:solidFill>
                <a:latin typeface="Meiryo UI" pitchFamily="34" charset="0"/>
                <a:ea typeface="Meiryo UI" pitchFamily="34" charset="-122"/>
                <a:cs typeface="Meiryo UI" pitchFamily="34" charset="-120"/>
              </a:rPr>
              <a:t>　習慣化・再購買・推奨</a:t>
            </a:r>
            <a:endParaRPr lang="en-US" sz="1300" dirty="0"/>
          </a:p>
        </p:txBody>
      </p:sp>
      <p:sp>
        <p:nvSpPr>
          <p:cNvPr id="18" name="Shape 15"/>
          <p:cNvSpPr/>
          <p:nvPr/>
        </p:nvSpPr>
        <p:spPr>
          <a:xfrm>
            <a:off x="1234440" y="4215384"/>
            <a:ext cx="228600" cy="0"/>
          </a:xfrm>
          <a:prstGeom prst="line">
            <a:avLst/>
          </a:prstGeom>
          <a:noFill/>
          <a:ln w="12700">
            <a:solidFill>
              <a:srgbClr val="595959"/>
            </a:solidFill>
            <a:prstDash val="solid"/>
          </a:ln>
        </p:spPr>
        <p:txBody>
          <a:bodyPr/>
          <a:lstStyle/>
          <a:p>
            <a:endParaRPr lang="ja-JP" altLang="en-US"/>
          </a:p>
        </p:txBody>
      </p:sp>
      <p:sp>
        <p:nvSpPr>
          <p:cNvPr id="19" name="Shape 16"/>
          <p:cNvSpPr/>
          <p:nvPr/>
        </p:nvSpPr>
        <p:spPr>
          <a:xfrm>
            <a:off x="1463040" y="3977640"/>
            <a:ext cx="3749040" cy="475488"/>
          </a:xfrm>
          <a:prstGeom prst="roundRect">
            <a:avLst>
              <a:gd name="adj" fmla="val 9615"/>
            </a:avLst>
          </a:prstGeom>
          <a:solidFill>
            <a:srgbClr val="FFFFFF"/>
          </a:solidFill>
          <a:ln w="9525">
            <a:solidFill>
              <a:srgbClr val="BFBFBF"/>
            </a:solidFill>
            <a:prstDash val="solid"/>
          </a:ln>
        </p:spPr>
        <p:txBody>
          <a:bodyPr/>
          <a:lstStyle/>
          <a:p>
            <a:endParaRPr lang="ja-JP" altLang="en-US"/>
          </a:p>
        </p:txBody>
      </p:sp>
      <p:sp>
        <p:nvSpPr>
          <p:cNvPr id="20" name="Text 17"/>
          <p:cNvSpPr/>
          <p:nvPr/>
        </p:nvSpPr>
        <p:spPr>
          <a:xfrm>
            <a:off x="1600200" y="3977640"/>
            <a:ext cx="3566160" cy="475488"/>
          </a:xfrm>
          <a:prstGeom prst="rect">
            <a:avLst/>
          </a:prstGeom>
          <a:noFill/>
          <a:ln/>
        </p:spPr>
        <p:txBody>
          <a:bodyPr wrap="square" lIns="0" tIns="0" rIns="0" bIns="0" rtlCol="0" anchor="ctr">
            <a:normAutofit/>
          </a:bodyPr>
          <a:lstStyle/>
          <a:p>
            <a:pPr marL="0" indent="0">
              <a:buNone/>
            </a:pPr>
            <a:r>
              <a:rPr lang="en-US" sz="1050" b="1" dirty="0">
                <a:solidFill>
                  <a:srgbClr val="000000"/>
                </a:solidFill>
                <a:latin typeface="Meiryo UI" pitchFamily="34" charset="0"/>
                <a:ea typeface="Meiryo UI" pitchFamily="34" charset="-122"/>
                <a:cs typeface="Meiryo UI" pitchFamily="34" charset="-120"/>
              </a:rPr>
              <a:t>AI推奨シェア（AIEO Rate）</a:t>
            </a:r>
            <a:endParaRPr lang="en-US" sz="1050" dirty="0"/>
          </a:p>
        </p:txBody>
      </p:sp>
      <p:sp>
        <p:nvSpPr>
          <p:cNvPr id="21" name="Shape 18"/>
          <p:cNvSpPr/>
          <p:nvPr/>
        </p:nvSpPr>
        <p:spPr>
          <a:xfrm>
            <a:off x="1234440" y="4837176"/>
            <a:ext cx="228600" cy="0"/>
          </a:xfrm>
          <a:prstGeom prst="line">
            <a:avLst/>
          </a:prstGeom>
          <a:noFill/>
          <a:ln w="12700">
            <a:solidFill>
              <a:srgbClr val="595959"/>
            </a:solidFill>
            <a:prstDash val="solid"/>
          </a:ln>
        </p:spPr>
        <p:txBody>
          <a:bodyPr/>
          <a:lstStyle/>
          <a:p>
            <a:endParaRPr lang="ja-JP" altLang="en-US"/>
          </a:p>
        </p:txBody>
      </p:sp>
      <p:sp>
        <p:nvSpPr>
          <p:cNvPr id="22" name="Shape 19"/>
          <p:cNvSpPr/>
          <p:nvPr/>
        </p:nvSpPr>
        <p:spPr>
          <a:xfrm>
            <a:off x="1463040" y="4599432"/>
            <a:ext cx="3749040" cy="475488"/>
          </a:xfrm>
          <a:prstGeom prst="roundRect">
            <a:avLst>
              <a:gd name="adj" fmla="val 9615"/>
            </a:avLst>
          </a:prstGeom>
          <a:solidFill>
            <a:srgbClr val="FFFFFF"/>
          </a:solidFill>
          <a:ln w="9525">
            <a:solidFill>
              <a:srgbClr val="BFBFBF"/>
            </a:solidFill>
            <a:prstDash val="solid"/>
          </a:ln>
        </p:spPr>
        <p:txBody>
          <a:bodyPr/>
          <a:lstStyle/>
          <a:p>
            <a:endParaRPr lang="ja-JP" altLang="en-US"/>
          </a:p>
        </p:txBody>
      </p:sp>
      <p:sp>
        <p:nvSpPr>
          <p:cNvPr id="23" name="Text 20"/>
          <p:cNvSpPr/>
          <p:nvPr/>
        </p:nvSpPr>
        <p:spPr>
          <a:xfrm>
            <a:off x="1600200" y="4599432"/>
            <a:ext cx="3566160" cy="475488"/>
          </a:xfrm>
          <a:prstGeom prst="rect">
            <a:avLst/>
          </a:prstGeom>
          <a:noFill/>
          <a:ln/>
        </p:spPr>
        <p:txBody>
          <a:bodyPr wrap="square" lIns="0" tIns="0" rIns="0" bIns="0" rtlCol="0" anchor="ctr">
            <a:normAutofit/>
          </a:bodyPr>
          <a:lstStyle/>
          <a:p>
            <a:pPr marL="0" indent="0">
              <a:buNone/>
            </a:pPr>
            <a:r>
              <a:rPr lang="en-US" sz="1050" b="1" dirty="0">
                <a:solidFill>
                  <a:srgbClr val="000000"/>
                </a:solidFill>
                <a:latin typeface="Meiryo UI" pitchFamily="34" charset="0"/>
                <a:ea typeface="Meiryo UI" pitchFamily="34" charset="-122"/>
                <a:cs typeface="Meiryo UI" pitchFamily="34" charset="-120"/>
              </a:rPr>
              <a:t>診断→購買転換率</a:t>
            </a:r>
            <a:endParaRPr lang="en-US" sz="1050" dirty="0"/>
          </a:p>
        </p:txBody>
      </p:sp>
      <p:sp>
        <p:nvSpPr>
          <p:cNvPr id="24" name="Shape 21"/>
          <p:cNvSpPr/>
          <p:nvPr/>
        </p:nvSpPr>
        <p:spPr>
          <a:xfrm>
            <a:off x="1234440" y="5458968"/>
            <a:ext cx="228600" cy="0"/>
          </a:xfrm>
          <a:prstGeom prst="line">
            <a:avLst/>
          </a:prstGeom>
          <a:noFill/>
          <a:ln w="12700">
            <a:solidFill>
              <a:srgbClr val="595959"/>
            </a:solidFill>
            <a:prstDash val="solid"/>
          </a:ln>
        </p:spPr>
        <p:txBody>
          <a:bodyPr/>
          <a:lstStyle/>
          <a:p>
            <a:endParaRPr lang="ja-JP" altLang="en-US"/>
          </a:p>
        </p:txBody>
      </p:sp>
      <p:sp>
        <p:nvSpPr>
          <p:cNvPr id="25" name="Shape 22"/>
          <p:cNvSpPr/>
          <p:nvPr/>
        </p:nvSpPr>
        <p:spPr>
          <a:xfrm>
            <a:off x="1463040" y="5221224"/>
            <a:ext cx="3749040" cy="475488"/>
          </a:xfrm>
          <a:prstGeom prst="roundRect">
            <a:avLst>
              <a:gd name="adj" fmla="val 9615"/>
            </a:avLst>
          </a:prstGeom>
          <a:solidFill>
            <a:srgbClr val="FFFFFF"/>
          </a:solidFill>
          <a:ln w="9525">
            <a:solidFill>
              <a:srgbClr val="BFBFBF"/>
            </a:solidFill>
            <a:prstDash val="solid"/>
          </a:ln>
        </p:spPr>
        <p:txBody>
          <a:bodyPr/>
          <a:lstStyle/>
          <a:p>
            <a:endParaRPr lang="ja-JP" altLang="en-US"/>
          </a:p>
        </p:txBody>
      </p:sp>
      <p:sp>
        <p:nvSpPr>
          <p:cNvPr id="26" name="Text 23"/>
          <p:cNvSpPr/>
          <p:nvPr/>
        </p:nvSpPr>
        <p:spPr>
          <a:xfrm>
            <a:off x="1600200" y="5221224"/>
            <a:ext cx="3566160" cy="475488"/>
          </a:xfrm>
          <a:prstGeom prst="rect">
            <a:avLst/>
          </a:prstGeom>
          <a:noFill/>
          <a:ln/>
        </p:spPr>
        <p:txBody>
          <a:bodyPr wrap="square" lIns="0" tIns="0" rIns="0" bIns="0" rtlCol="0" anchor="ctr">
            <a:normAutofit/>
          </a:bodyPr>
          <a:lstStyle/>
          <a:p>
            <a:pPr marL="0" indent="0">
              <a:buNone/>
            </a:pPr>
            <a:r>
              <a:rPr lang="en-US" sz="1050" b="1" dirty="0">
                <a:solidFill>
                  <a:srgbClr val="000000"/>
                </a:solidFill>
                <a:latin typeface="Meiryo UI" pitchFamily="34" charset="0"/>
                <a:ea typeface="Meiryo UI" pitchFamily="34" charset="-122"/>
                <a:cs typeface="Meiryo UI" pitchFamily="34" charset="-120"/>
              </a:rPr>
              <a:t>Total Availabilityスコア</a:t>
            </a:r>
            <a:endParaRPr lang="en-US" sz="1050" dirty="0"/>
          </a:p>
        </p:txBody>
      </p:sp>
      <p:sp>
        <p:nvSpPr>
          <p:cNvPr id="27" name="Shape 24"/>
          <p:cNvSpPr/>
          <p:nvPr/>
        </p:nvSpPr>
        <p:spPr>
          <a:xfrm>
            <a:off x="1234440" y="6080760"/>
            <a:ext cx="228600" cy="0"/>
          </a:xfrm>
          <a:prstGeom prst="line">
            <a:avLst/>
          </a:prstGeom>
          <a:noFill/>
          <a:ln w="12700">
            <a:solidFill>
              <a:srgbClr val="595959"/>
            </a:solidFill>
            <a:prstDash val="solid"/>
          </a:ln>
        </p:spPr>
        <p:txBody>
          <a:bodyPr/>
          <a:lstStyle/>
          <a:p>
            <a:endParaRPr lang="ja-JP" altLang="en-US"/>
          </a:p>
        </p:txBody>
      </p:sp>
      <p:sp>
        <p:nvSpPr>
          <p:cNvPr id="28" name="Shape 25"/>
          <p:cNvSpPr/>
          <p:nvPr/>
        </p:nvSpPr>
        <p:spPr>
          <a:xfrm>
            <a:off x="1463040" y="5843016"/>
            <a:ext cx="3749040" cy="475488"/>
          </a:xfrm>
          <a:prstGeom prst="roundRect">
            <a:avLst>
              <a:gd name="adj" fmla="val 9615"/>
            </a:avLst>
          </a:prstGeom>
          <a:solidFill>
            <a:srgbClr val="FFFFFF"/>
          </a:solidFill>
          <a:ln w="9525">
            <a:solidFill>
              <a:srgbClr val="BFBFBF"/>
            </a:solidFill>
            <a:prstDash val="solid"/>
          </a:ln>
        </p:spPr>
        <p:txBody>
          <a:bodyPr/>
          <a:lstStyle/>
          <a:p>
            <a:endParaRPr lang="ja-JP" altLang="en-US"/>
          </a:p>
        </p:txBody>
      </p:sp>
      <p:sp>
        <p:nvSpPr>
          <p:cNvPr id="29" name="Text 26"/>
          <p:cNvSpPr/>
          <p:nvPr/>
        </p:nvSpPr>
        <p:spPr>
          <a:xfrm>
            <a:off x="1600200" y="5843016"/>
            <a:ext cx="3566160" cy="475488"/>
          </a:xfrm>
          <a:prstGeom prst="rect">
            <a:avLst/>
          </a:prstGeom>
          <a:noFill/>
          <a:ln/>
        </p:spPr>
        <p:txBody>
          <a:bodyPr wrap="square" lIns="0" tIns="0" rIns="0" bIns="0" rtlCol="0" anchor="ctr">
            <a:normAutofit/>
          </a:bodyPr>
          <a:lstStyle/>
          <a:p>
            <a:pPr marL="0" indent="0">
              <a:buNone/>
            </a:pPr>
            <a:r>
              <a:rPr lang="en-US" sz="1050" b="1" dirty="0">
                <a:solidFill>
                  <a:srgbClr val="000000"/>
                </a:solidFill>
                <a:latin typeface="Meiryo UI" pitchFamily="34" charset="0"/>
                <a:ea typeface="Meiryo UI" pitchFamily="34" charset="-122"/>
                <a:cs typeface="Meiryo UI" pitchFamily="34" charset="-120"/>
              </a:rPr>
              <a:t>KOIC（Known Oral Intent Coverage）</a:t>
            </a:r>
            <a:endParaRPr lang="en-US" sz="1050" dirty="0"/>
          </a:p>
        </p:txBody>
      </p:sp>
      <p:sp>
        <p:nvSpPr>
          <p:cNvPr id="30" name="Shape 27"/>
          <p:cNvSpPr/>
          <p:nvPr/>
        </p:nvSpPr>
        <p:spPr>
          <a:xfrm>
            <a:off x="1234440" y="3703320"/>
            <a:ext cx="0" cy="2377440"/>
          </a:xfrm>
          <a:prstGeom prst="line">
            <a:avLst/>
          </a:prstGeom>
          <a:noFill/>
          <a:ln w="12700">
            <a:solidFill>
              <a:srgbClr val="595959"/>
            </a:solidFill>
            <a:prstDash val="solid"/>
          </a:ln>
        </p:spPr>
        <p:txBody>
          <a:bodyPr/>
          <a:lstStyle/>
          <a:p>
            <a:endParaRPr lang="ja-JP" altLang="en-US"/>
          </a:p>
        </p:txBody>
      </p:sp>
      <p:sp>
        <p:nvSpPr>
          <p:cNvPr id="31" name="Shape 28"/>
          <p:cNvSpPr/>
          <p:nvPr/>
        </p:nvSpPr>
        <p:spPr>
          <a:xfrm>
            <a:off x="7306056" y="4215384"/>
            <a:ext cx="228600" cy="0"/>
          </a:xfrm>
          <a:prstGeom prst="line">
            <a:avLst/>
          </a:prstGeom>
          <a:noFill/>
          <a:ln w="12700">
            <a:solidFill>
              <a:srgbClr val="595959"/>
            </a:solidFill>
            <a:prstDash val="solid"/>
          </a:ln>
        </p:spPr>
        <p:txBody>
          <a:bodyPr/>
          <a:lstStyle/>
          <a:p>
            <a:endParaRPr lang="ja-JP" altLang="en-US"/>
          </a:p>
        </p:txBody>
      </p:sp>
      <p:sp>
        <p:nvSpPr>
          <p:cNvPr id="32" name="Shape 29"/>
          <p:cNvSpPr/>
          <p:nvPr/>
        </p:nvSpPr>
        <p:spPr>
          <a:xfrm>
            <a:off x="7534656" y="3977640"/>
            <a:ext cx="3749040" cy="475488"/>
          </a:xfrm>
          <a:prstGeom prst="roundRect">
            <a:avLst>
              <a:gd name="adj" fmla="val 9615"/>
            </a:avLst>
          </a:prstGeom>
          <a:solidFill>
            <a:srgbClr val="FFFFFF"/>
          </a:solidFill>
          <a:ln w="9525">
            <a:solidFill>
              <a:srgbClr val="BFBFBF"/>
            </a:solidFill>
            <a:prstDash val="solid"/>
          </a:ln>
        </p:spPr>
        <p:txBody>
          <a:bodyPr/>
          <a:lstStyle/>
          <a:p>
            <a:endParaRPr lang="ja-JP" altLang="en-US"/>
          </a:p>
        </p:txBody>
      </p:sp>
      <p:sp>
        <p:nvSpPr>
          <p:cNvPr id="33" name="Text 30"/>
          <p:cNvSpPr/>
          <p:nvPr/>
        </p:nvSpPr>
        <p:spPr>
          <a:xfrm>
            <a:off x="7671816" y="3977640"/>
            <a:ext cx="3566160" cy="475488"/>
          </a:xfrm>
          <a:prstGeom prst="rect">
            <a:avLst/>
          </a:prstGeom>
          <a:noFill/>
          <a:ln/>
        </p:spPr>
        <p:txBody>
          <a:bodyPr wrap="square" lIns="0" tIns="0" rIns="0" bIns="0" rtlCol="0" anchor="ctr">
            <a:normAutofit/>
          </a:bodyPr>
          <a:lstStyle/>
          <a:p>
            <a:pPr marL="0" indent="0">
              <a:buNone/>
            </a:pPr>
            <a:r>
              <a:rPr lang="en-US" sz="1050" b="1" dirty="0">
                <a:solidFill>
                  <a:srgbClr val="000000"/>
                </a:solidFill>
                <a:latin typeface="Meiryo UI" pitchFamily="34" charset="0"/>
                <a:ea typeface="Meiryo UI" pitchFamily="34" charset="-122"/>
                <a:cs typeface="Meiryo UI" pitchFamily="34" charset="-120"/>
              </a:rPr>
              <a:t>90日習慣継続率</a:t>
            </a:r>
            <a:endParaRPr lang="en-US" sz="1050" dirty="0"/>
          </a:p>
        </p:txBody>
      </p:sp>
      <p:sp>
        <p:nvSpPr>
          <p:cNvPr id="34" name="Shape 31"/>
          <p:cNvSpPr/>
          <p:nvPr/>
        </p:nvSpPr>
        <p:spPr>
          <a:xfrm>
            <a:off x="7306056" y="4837176"/>
            <a:ext cx="228600" cy="0"/>
          </a:xfrm>
          <a:prstGeom prst="line">
            <a:avLst/>
          </a:prstGeom>
          <a:noFill/>
          <a:ln w="12700">
            <a:solidFill>
              <a:srgbClr val="595959"/>
            </a:solidFill>
            <a:prstDash val="solid"/>
          </a:ln>
        </p:spPr>
        <p:txBody>
          <a:bodyPr/>
          <a:lstStyle/>
          <a:p>
            <a:endParaRPr lang="ja-JP" altLang="en-US"/>
          </a:p>
        </p:txBody>
      </p:sp>
      <p:sp>
        <p:nvSpPr>
          <p:cNvPr id="35" name="Shape 32"/>
          <p:cNvSpPr/>
          <p:nvPr/>
        </p:nvSpPr>
        <p:spPr>
          <a:xfrm>
            <a:off x="7534656" y="4599432"/>
            <a:ext cx="3749040" cy="475488"/>
          </a:xfrm>
          <a:prstGeom prst="roundRect">
            <a:avLst>
              <a:gd name="adj" fmla="val 9615"/>
            </a:avLst>
          </a:prstGeom>
          <a:solidFill>
            <a:srgbClr val="FFFFFF"/>
          </a:solidFill>
          <a:ln w="9525">
            <a:solidFill>
              <a:srgbClr val="BFBFBF"/>
            </a:solidFill>
            <a:prstDash val="solid"/>
          </a:ln>
        </p:spPr>
        <p:txBody>
          <a:bodyPr/>
          <a:lstStyle/>
          <a:p>
            <a:endParaRPr lang="ja-JP" altLang="en-US"/>
          </a:p>
        </p:txBody>
      </p:sp>
      <p:sp>
        <p:nvSpPr>
          <p:cNvPr id="36" name="Text 33"/>
          <p:cNvSpPr/>
          <p:nvPr/>
        </p:nvSpPr>
        <p:spPr>
          <a:xfrm>
            <a:off x="7671816" y="4599432"/>
            <a:ext cx="3566160" cy="475488"/>
          </a:xfrm>
          <a:prstGeom prst="rect">
            <a:avLst/>
          </a:prstGeom>
          <a:noFill/>
          <a:ln/>
        </p:spPr>
        <p:txBody>
          <a:bodyPr wrap="square" lIns="0" tIns="0" rIns="0" bIns="0" rtlCol="0" anchor="ctr">
            <a:normAutofit/>
          </a:bodyPr>
          <a:lstStyle/>
          <a:p>
            <a:pPr marL="0" indent="0">
              <a:buNone/>
            </a:pPr>
            <a:r>
              <a:rPr lang="en-US" sz="1050" b="1" dirty="0">
                <a:solidFill>
                  <a:srgbClr val="000000"/>
                </a:solidFill>
                <a:latin typeface="Meiryo UI" pitchFamily="34" charset="0"/>
                <a:ea typeface="Meiryo UI" pitchFamily="34" charset="-122"/>
                <a:cs typeface="Meiryo UI" pitchFamily="34" charset="-120"/>
              </a:rPr>
              <a:t>B2B2C推奨起点売上比率</a:t>
            </a:r>
            <a:endParaRPr lang="en-US" sz="1050" dirty="0"/>
          </a:p>
        </p:txBody>
      </p:sp>
      <p:sp>
        <p:nvSpPr>
          <p:cNvPr id="37" name="Shape 34"/>
          <p:cNvSpPr/>
          <p:nvPr/>
        </p:nvSpPr>
        <p:spPr>
          <a:xfrm>
            <a:off x="7306056" y="5458968"/>
            <a:ext cx="228600" cy="0"/>
          </a:xfrm>
          <a:prstGeom prst="line">
            <a:avLst/>
          </a:prstGeom>
          <a:noFill/>
          <a:ln w="12700">
            <a:solidFill>
              <a:srgbClr val="595959"/>
            </a:solidFill>
            <a:prstDash val="solid"/>
          </a:ln>
        </p:spPr>
        <p:txBody>
          <a:bodyPr/>
          <a:lstStyle/>
          <a:p>
            <a:endParaRPr lang="ja-JP" altLang="en-US"/>
          </a:p>
        </p:txBody>
      </p:sp>
      <p:sp>
        <p:nvSpPr>
          <p:cNvPr id="38" name="Shape 35"/>
          <p:cNvSpPr/>
          <p:nvPr/>
        </p:nvSpPr>
        <p:spPr>
          <a:xfrm>
            <a:off x="7534656" y="5221224"/>
            <a:ext cx="3749040" cy="475488"/>
          </a:xfrm>
          <a:prstGeom prst="roundRect">
            <a:avLst>
              <a:gd name="adj" fmla="val 9615"/>
            </a:avLst>
          </a:prstGeom>
          <a:solidFill>
            <a:srgbClr val="FFFFFF"/>
          </a:solidFill>
          <a:ln w="9525">
            <a:solidFill>
              <a:srgbClr val="BFBFBF"/>
            </a:solidFill>
            <a:prstDash val="solid"/>
          </a:ln>
        </p:spPr>
        <p:txBody>
          <a:bodyPr/>
          <a:lstStyle/>
          <a:p>
            <a:endParaRPr lang="ja-JP" altLang="en-US"/>
          </a:p>
        </p:txBody>
      </p:sp>
      <p:sp>
        <p:nvSpPr>
          <p:cNvPr id="39" name="Text 36"/>
          <p:cNvSpPr/>
          <p:nvPr/>
        </p:nvSpPr>
        <p:spPr>
          <a:xfrm>
            <a:off x="7671816" y="5221224"/>
            <a:ext cx="3566160" cy="475488"/>
          </a:xfrm>
          <a:prstGeom prst="rect">
            <a:avLst/>
          </a:prstGeom>
          <a:noFill/>
          <a:ln/>
        </p:spPr>
        <p:txBody>
          <a:bodyPr wrap="square" lIns="0" tIns="0" rIns="0" bIns="0" rtlCol="0" anchor="ctr">
            <a:normAutofit/>
          </a:bodyPr>
          <a:lstStyle/>
          <a:p>
            <a:pPr marL="0" indent="0">
              <a:buNone/>
            </a:pPr>
            <a:r>
              <a:rPr lang="en-US" sz="1050" b="1" dirty="0">
                <a:solidFill>
                  <a:srgbClr val="000000"/>
                </a:solidFill>
                <a:latin typeface="Meiryo UI" pitchFamily="34" charset="0"/>
                <a:ea typeface="Meiryo UI" pitchFamily="34" charset="-122"/>
                <a:cs typeface="Meiryo UI" pitchFamily="34" charset="-120"/>
              </a:rPr>
              <a:t>LION ID連携率（小売横断）</a:t>
            </a:r>
            <a:endParaRPr lang="en-US" sz="1050" dirty="0"/>
          </a:p>
        </p:txBody>
      </p:sp>
      <p:sp>
        <p:nvSpPr>
          <p:cNvPr id="40" name="Shape 37"/>
          <p:cNvSpPr/>
          <p:nvPr/>
        </p:nvSpPr>
        <p:spPr>
          <a:xfrm>
            <a:off x="7306056" y="6080760"/>
            <a:ext cx="228600" cy="0"/>
          </a:xfrm>
          <a:prstGeom prst="line">
            <a:avLst/>
          </a:prstGeom>
          <a:noFill/>
          <a:ln w="12700">
            <a:solidFill>
              <a:srgbClr val="595959"/>
            </a:solidFill>
            <a:prstDash val="solid"/>
          </a:ln>
        </p:spPr>
        <p:txBody>
          <a:bodyPr/>
          <a:lstStyle/>
          <a:p>
            <a:endParaRPr lang="ja-JP" altLang="en-US"/>
          </a:p>
        </p:txBody>
      </p:sp>
      <p:sp>
        <p:nvSpPr>
          <p:cNvPr id="41" name="Shape 38"/>
          <p:cNvSpPr/>
          <p:nvPr/>
        </p:nvSpPr>
        <p:spPr>
          <a:xfrm>
            <a:off x="7534656" y="5843016"/>
            <a:ext cx="3749040" cy="475488"/>
          </a:xfrm>
          <a:prstGeom prst="roundRect">
            <a:avLst>
              <a:gd name="adj" fmla="val 9615"/>
            </a:avLst>
          </a:prstGeom>
          <a:solidFill>
            <a:srgbClr val="FFFFFF"/>
          </a:solidFill>
          <a:ln w="9525">
            <a:solidFill>
              <a:srgbClr val="BFBFBF"/>
            </a:solidFill>
            <a:prstDash val="solid"/>
          </a:ln>
        </p:spPr>
        <p:txBody>
          <a:bodyPr/>
          <a:lstStyle/>
          <a:p>
            <a:endParaRPr lang="ja-JP" altLang="en-US"/>
          </a:p>
        </p:txBody>
      </p:sp>
      <p:sp>
        <p:nvSpPr>
          <p:cNvPr id="42" name="Text 39"/>
          <p:cNvSpPr/>
          <p:nvPr/>
        </p:nvSpPr>
        <p:spPr>
          <a:xfrm>
            <a:off x="7671816" y="5843016"/>
            <a:ext cx="3566160" cy="475488"/>
          </a:xfrm>
          <a:prstGeom prst="rect">
            <a:avLst/>
          </a:prstGeom>
          <a:noFill/>
          <a:ln/>
        </p:spPr>
        <p:txBody>
          <a:bodyPr wrap="square" lIns="0" tIns="0" rIns="0" bIns="0" rtlCol="0" anchor="ctr">
            <a:normAutofit/>
          </a:bodyPr>
          <a:lstStyle/>
          <a:p>
            <a:pPr marL="0" indent="0">
              <a:buNone/>
            </a:pPr>
            <a:r>
              <a:rPr lang="en-US" sz="1050" b="1" dirty="0">
                <a:solidFill>
                  <a:srgbClr val="000000"/>
                </a:solidFill>
                <a:latin typeface="Meiryo UI" pitchFamily="34" charset="0"/>
                <a:ea typeface="Meiryo UI" pitchFamily="34" charset="-122"/>
                <a:cs typeface="Meiryo UI" pitchFamily="34" charset="-120"/>
              </a:rPr>
              <a:t>カテゴリーLTV向上貢献指数</a:t>
            </a:r>
            <a:endParaRPr lang="en-US" sz="1050" dirty="0"/>
          </a:p>
        </p:txBody>
      </p:sp>
      <p:sp>
        <p:nvSpPr>
          <p:cNvPr id="43" name="Shape 40"/>
          <p:cNvSpPr/>
          <p:nvPr/>
        </p:nvSpPr>
        <p:spPr>
          <a:xfrm>
            <a:off x="7306056" y="3703320"/>
            <a:ext cx="0" cy="2377440"/>
          </a:xfrm>
          <a:prstGeom prst="line">
            <a:avLst/>
          </a:prstGeom>
          <a:noFill/>
          <a:ln w="12700">
            <a:solidFill>
              <a:srgbClr val="595959"/>
            </a:solidFill>
            <a:prstDash val="solid"/>
          </a:ln>
        </p:spPr>
        <p:txBody>
          <a:bodyPr/>
          <a:lstStyle/>
          <a:p>
            <a:endParaRPr lang="ja-JP"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219456" y="0"/>
            <a:ext cx="10332720" cy="914400"/>
          </a:xfrm>
          <a:prstGeom prst="rect">
            <a:avLst/>
          </a:prstGeom>
          <a:noFill/>
          <a:ln/>
        </p:spPr>
        <p:txBody>
          <a:bodyPr wrap="square" lIns="0" tIns="0" rIns="0" bIns="0" rtlCol="0" anchor="b" anchorCtr="0"/>
          <a:lstStyle/>
          <a:p>
            <a:r>
              <a:rPr lang="ja-JP" altLang="en-US" b="1" dirty="0">
                <a:solidFill>
                  <a:srgbClr val="000000"/>
                </a:solidFill>
                <a:latin typeface="Meiryo UI" pitchFamily="34" charset="0"/>
                <a:ea typeface="Meiryo UI" pitchFamily="34" charset="-122"/>
              </a:rPr>
              <a:t>経営戦略との接続</a:t>
            </a:r>
            <a:endParaRPr lang="en-US" b="1" dirty="0">
              <a:solidFill>
                <a:srgbClr val="000000"/>
              </a:solidFill>
              <a:latin typeface="Meiryo UI" pitchFamily="34" charset="0"/>
              <a:ea typeface="Meiryo UI" pitchFamily="34" charset="-122"/>
            </a:endParaRPr>
          </a:p>
          <a:p>
            <a:r>
              <a:rPr lang="en-US" b="1" dirty="0">
                <a:solidFill>
                  <a:srgbClr val="000000"/>
                </a:solidFill>
                <a:latin typeface="Meiryo UI" pitchFamily="34" charset="0"/>
                <a:ea typeface="Meiryo UI" pitchFamily="34" charset="-122"/>
              </a:rPr>
              <a:t>LION独自ユニークKPI（5つ）― IR・統合報告書開示候補</a:t>
            </a:r>
          </a:p>
        </p:txBody>
      </p:sp>
      <p:pic>
        <p:nvPicPr>
          <p:cNvPr id="3" name="Image 0" descr="/home/claude/logo.png"/>
          <p:cNvPicPr>
            <a:picLocks noChangeAspect="1"/>
          </p:cNvPicPr>
          <p:nvPr/>
        </p:nvPicPr>
        <p:blipFill>
          <a:blip r:embed="rId3"/>
          <a:stretch>
            <a:fillRect/>
          </a:stretch>
        </p:blipFill>
        <p:spPr>
          <a:xfrm>
            <a:off x="10881360" y="201168"/>
            <a:ext cx="868680" cy="566928"/>
          </a:xfrm>
          <a:prstGeom prst="rect">
            <a:avLst/>
          </a:prstGeom>
        </p:spPr>
      </p:pic>
      <p:sp>
        <p:nvSpPr>
          <p:cNvPr id="4" name="Shape 1"/>
          <p:cNvSpPr/>
          <p:nvPr/>
        </p:nvSpPr>
        <p:spPr>
          <a:xfrm>
            <a:off x="0" y="914400"/>
            <a:ext cx="12188952" cy="0"/>
          </a:xfrm>
          <a:prstGeom prst="line">
            <a:avLst/>
          </a:prstGeom>
          <a:noFill/>
          <a:ln w="28575">
            <a:solidFill>
              <a:srgbClr val="008000"/>
            </a:solidFill>
            <a:prstDash val="solid"/>
          </a:ln>
        </p:spPr>
        <p:txBody>
          <a:bodyPr/>
          <a:lstStyle/>
          <a:p>
            <a:endParaRPr lang="ja-JP" altLang="en-US"/>
          </a:p>
        </p:txBody>
      </p:sp>
      <p:sp>
        <p:nvSpPr>
          <p:cNvPr id="5" name="Text 2"/>
          <p:cNvSpPr/>
          <p:nvPr/>
        </p:nvSpPr>
        <p:spPr>
          <a:xfrm>
            <a:off x="219456" y="969264"/>
            <a:ext cx="11750040" cy="384048"/>
          </a:xfrm>
          <a:prstGeom prst="rect">
            <a:avLst/>
          </a:prstGeom>
          <a:noFill/>
          <a:ln/>
        </p:spPr>
        <p:txBody>
          <a:bodyPr wrap="square" lIns="0" tIns="0" rIns="0" bIns="0" rtlCol="0" anchor="ctr"/>
          <a:lstStyle/>
          <a:p>
            <a:pPr marL="0" indent="0">
              <a:buNone/>
            </a:pPr>
            <a:r>
              <a:rPr lang="en-US" dirty="0">
                <a:solidFill>
                  <a:srgbClr val="000000"/>
                </a:solidFill>
                <a:latin typeface="Meiryo UI" pitchFamily="34" charset="0"/>
                <a:ea typeface="Meiryo UI" pitchFamily="34" charset="-122"/>
                <a:cs typeface="Meiryo UI" pitchFamily="34" charset="-120"/>
              </a:rPr>
              <a:t>ビジネスモデルの因果構造に紐づくLION固有KPI。定義・算出方法・因果・IR開示適合性を設計済み</a:t>
            </a:r>
            <a:endParaRPr lang="en-US" dirty="0"/>
          </a:p>
        </p:txBody>
      </p:sp>
      <p:sp>
        <p:nvSpPr>
          <p:cNvPr id="6" name="Text 3"/>
          <p:cNvSpPr/>
          <p:nvPr/>
        </p:nvSpPr>
        <p:spPr>
          <a:xfrm>
            <a:off x="11658600" y="6528816"/>
            <a:ext cx="411480" cy="274320"/>
          </a:xfrm>
          <a:prstGeom prst="rect">
            <a:avLst/>
          </a:prstGeom>
          <a:noFill/>
          <a:ln/>
        </p:spPr>
        <p:txBody>
          <a:bodyPr wrap="square" lIns="0" tIns="0" rIns="0" bIns="0" rtlCol="0" anchor="ctr"/>
          <a:lstStyle/>
          <a:p>
            <a:pPr marL="0" indent="0" algn="r">
              <a:buNone/>
            </a:pPr>
            <a:r>
              <a:rPr lang="en-US" sz="1000" dirty="0">
                <a:solidFill>
                  <a:srgbClr val="595959"/>
                </a:solidFill>
                <a:latin typeface="Meiryo UI" pitchFamily="34" charset="0"/>
                <a:ea typeface="Meiryo UI" pitchFamily="34" charset="-122"/>
                <a:cs typeface="Meiryo UI" pitchFamily="34" charset="-120"/>
              </a:rPr>
              <a:t>11</a:t>
            </a:r>
            <a:endParaRPr lang="en-US" sz="1000" dirty="0"/>
          </a:p>
        </p:txBody>
      </p:sp>
      <p:sp>
        <p:nvSpPr>
          <p:cNvPr id="7" name="Text 4"/>
          <p:cNvSpPr/>
          <p:nvPr/>
        </p:nvSpPr>
        <p:spPr>
          <a:xfrm>
            <a:off x="219456" y="6556248"/>
            <a:ext cx="8229600" cy="228600"/>
          </a:xfrm>
          <a:prstGeom prst="rect">
            <a:avLst/>
          </a:prstGeom>
          <a:noFill/>
          <a:ln/>
        </p:spPr>
        <p:txBody>
          <a:bodyPr wrap="square" lIns="0" tIns="0" rIns="0" bIns="0" rtlCol="0" anchor="ctr"/>
          <a:lstStyle/>
          <a:p>
            <a:pPr marL="0" indent="0">
              <a:buNone/>
            </a:pPr>
            <a:r>
              <a:rPr lang="en-US" sz="750" dirty="0">
                <a:solidFill>
                  <a:srgbClr val="595959"/>
                </a:solidFill>
                <a:latin typeface="Meiryo UI" pitchFamily="34" charset="0"/>
                <a:ea typeface="Meiryo UI" pitchFamily="34" charset="-122"/>
                <a:cs typeface="Meiryo UI" pitchFamily="34" charset="-120"/>
              </a:rPr>
              <a:t>LION Corporation ｜ 営業・マーケティングDX戦略 検討アジェンダ（P.6「真因・GAP分析」後続）</a:t>
            </a:r>
            <a:endParaRPr lang="en-US" sz="7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274320" y="1572768"/>
          <a:ext cx="11640312" cy="4937760"/>
        </p:xfrm>
        <a:graphic>
          <a:graphicData uri="http://schemas.openxmlformats.org/drawingml/2006/table">
            <a:tbl>
              <a:tblPr/>
              <a:tblGrid>
                <a:gridCol w="6858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3063240">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gridCol w="2862072">
                  <a:extLst>
                    <a:ext uri="{9D8B030D-6E8A-4147-A177-3AD203B41FA5}">
                      <a16:colId xmlns:a16="http://schemas.microsoft.com/office/drawing/2014/main" val="20004"/>
                    </a:ext>
                  </a:extLst>
                </a:gridCol>
                <a:gridCol w="594360">
                  <a:extLst>
                    <a:ext uri="{9D8B030D-6E8A-4147-A177-3AD203B41FA5}">
                      <a16:colId xmlns:a16="http://schemas.microsoft.com/office/drawing/2014/main" val="20005"/>
                    </a:ext>
                  </a:extLst>
                </a:gridCol>
              </a:tblGrid>
              <a:tr h="365760">
                <a:tc>
                  <a:txBody>
                    <a:bodyPr/>
                    <a:lstStyle/>
                    <a:p>
                      <a:pPr marL="0" indent="0" algn="ctr">
                        <a:buNone/>
                      </a:pPr>
                      <a:r>
                        <a:rPr lang="en-US" sz="950" b="1" dirty="0">
                          <a:solidFill>
                            <a:srgbClr val="FFFFFF"/>
                          </a:solidFill>
                          <a:latin typeface="Meiryo UI" pitchFamily="34" charset="0"/>
                          <a:ea typeface="Meiryo UI" pitchFamily="34" charset="-122"/>
                          <a:cs typeface="Meiryo UI" pitchFamily="34" charset="-120"/>
                        </a:rPr>
                        <a:t>KPI</a:t>
                      </a:r>
                      <a:endParaRPr lang="en-US" sz="9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8D2E"/>
                    </a:solidFill>
                  </a:tcPr>
                </a:tc>
                <a:tc>
                  <a:txBody>
                    <a:bodyPr/>
                    <a:lstStyle/>
                    <a:p>
                      <a:pPr marL="0" indent="0" algn="ctr">
                        <a:buNone/>
                      </a:pPr>
                      <a:r>
                        <a:rPr lang="en-US" sz="950" b="1" dirty="0">
                          <a:solidFill>
                            <a:srgbClr val="FFFFFF"/>
                          </a:solidFill>
                          <a:latin typeface="Meiryo UI" pitchFamily="34" charset="0"/>
                          <a:ea typeface="Meiryo UI" pitchFamily="34" charset="-122"/>
                          <a:cs typeface="Meiryo UI" pitchFamily="34" charset="-120"/>
                        </a:rPr>
                        <a:t>名称</a:t>
                      </a:r>
                      <a:endParaRPr lang="en-US" sz="9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8D2E"/>
                    </a:solidFill>
                  </a:tcPr>
                </a:tc>
                <a:tc>
                  <a:txBody>
                    <a:bodyPr/>
                    <a:lstStyle/>
                    <a:p>
                      <a:pPr marL="0" indent="0" algn="ctr">
                        <a:buNone/>
                      </a:pPr>
                      <a:r>
                        <a:rPr lang="en-US" sz="950" b="1" dirty="0">
                          <a:solidFill>
                            <a:srgbClr val="FFFFFF"/>
                          </a:solidFill>
                          <a:latin typeface="Meiryo UI" pitchFamily="34" charset="0"/>
                          <a:ea typeface="Meiryo UI" pitchFamily="34" charset="-122"/>
                          <a:cs typeface="Meiryo UI" pitchFamily="34" charset="-120"/>
                        </a:rPr>
                        <a:t>定義</a:t>
                      </a:r>
                      <a:endParaRPr lang="en-US" sz="9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8D2E"/>
                    </a:solidFill>
                  </a:tcPr>
                </a:tc>
                <a:tc>
                  <a:txBody>
                    <a:bodyPr/>
                    <a:lstStyle/>
                    <a:p>
                      <a:pPr marL="0" indent="0" algn="ctr">
                        <a:buNone/>
                      </a:pPr>
                      <a:r>
                        <a:rPr lang="en-US" sz="950" b="1" dirty="0">
                          <a:solidFill>
                            <a:srgbClr val="FFFFFF"/>
                          </a:solidFill>
                          <a:latin typeface="Meiryo UI" pitchFamily="34" charset="0"/>
                          <a:ea typeface="Meiryo UI" pitchFamily="34" charset="-122"/>
                          <a:cs typeface="Meiryo UI" pitchFamily="34" charset="-120"/>
                        </a:rPr>
                        <a:t>算出方法</a:t>
                      </a:r>
                      <a:endParaRPr lang="en-US" sz="9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8D2E"/>
                    </a:solidFill>
                  </a:tcPr>
                </a:tc>
                <a:tc>
                  <a:txBody>
                    <a:bodyPr/>
                    <a:lstStyle/>
                    <a:p>
                      <a:pPr marL="0" indent="0" algn="ctr">
                        <a:buNone/>
                      </a:pPr>
                      <a:r>
                        <a:rPr lang="en-US" sz="950" b="1" dirty="0">
                          <a:solidFill>
                            <a:srgbClr val="FFFFFF"/>
                          </a:solidFill>
                          <a:latin typeface="Meiryo UI" pitchFamily="34" charset="0"/>
                          <a:ea typeface="Meiryo UI" pitchFamily="34" charset="-122"/>
                          <a:cs typeface="Meiryo UI" pitchFamily="34" charset="-120"/>
                        </a:rPr>
                        <a:t>ビジネスモデルとの因果</a:t>
                      </a:r>
                      <a:endParaRPr lang="en-US" sz="9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8D2E"/>
                    </a:solidFill>
                  </a:tcPr>
                </a:tc>
                <a:tc>
                  <a:txBody>
                    <a:bodyPr/>
                    <a:lstStyle/>
                    <a:p>
                      <a:pPr marL="0" indent="0" algn="ctr">
                        <a:buNone/>
                      </a:pPr>
                      <a:r>
                        <a:rPr lang="en-US" sz="950" b="1" dirty="0">
                          <a:solidFill>
                            <a:srgbClr val="FFFFFF"/>
                          </a:solidFill>
                          <a:latin typeface="Meiryo UI" pitchFamily="34" charset="0"/>
                          <a:ea typeface="Meiryo UI" pitchFamily="34" charset="-122"/>
                          <a:cs typeface="Meiryo UI" pitchFamily="34" charset="-120"/>
                        </a:rPr>
                        <a:t>IR開示</a:t>
                      </a:r>
                      <a:endParaRPr lang="en-US" sz="9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8D2E"/>
                    </a:solidFill>
                  </a:tcPr>
                </a:tc>
                <a:extLst>
                  <a:ext uri="{0D108BD9-81ED-4DB2-BD59-A6C34878D82A}">
                    <a16:rowId xmlns:a16="http://schemas.microsoft.com/office/drawing/2014/main" val="10000"/>
                  </a:ext>
                </a:extLst>
              </a:tr>
              <a:tr h="914400">
                <a:tc>
                  <a:txBody>
                    <a:bodyPr/>
                    <a:lstStyle/>
                    <a:p>
                      <a:pPr marL="0" indent="0" algn="ctr">
                        <a:buNone/>
                      </a:pPr>
                      <a:r>
                        <a:rPr lang="en-US" sz="900" b="1" dirty="0">
                          <a:solidFill>
                            <a:srgbClr val="01953D"/>
                          </a:solidFill>
                          <a:latin typeface="Meiryo UI" pitchFamily="34" charset="0"/>
                          <a:ea typeface="Meiryo UI" pitchFamily="34" charset="-122"/>
                          <a:cs typeface="Meiryo UI" pitchFamily="34" charset="-120"/>
                        </a:rPr>
                        <a:t>KPI-U1</a:t>
                      </a:r>
                      <a:endParaRPr lang="en-US" sz="9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900" b="1" dirty="0">
                          <a:solidFill>
                            <a:srgbClr val="000000"/>
                          </a:solidFill>
                          <a:latin typeface="Meiryo UI" pitchFamily="34" charset="0"/>
                          <a:ea typeface="Meiryo UI" pitchFamily="34" charset="-122"/>
                          <a:cs typeface="Meiryo UI" pitchFamily="34" charset="-120"/>
                        </a:rPr>
                        <a:t>AI推奨シェア（AIEO Rate）</a:t>
                      </a:r>
                      <a:endParaRPr lang="en-US" sz="9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主要口腔ケア・OTC質問に対するAI回答（ChatGPT・Gemini・Perplexity・Google AI Overview等）でLIONが適切に推奨・引用される割合</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月次監査：標準100〜200質問 × AI別 × LION出現・推奨率</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AI自動補充定着後に直接売上インパクトへ転化する先行指標。P.2 T2「買い場の消滅」への生存保険。</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000" b="1" dirty="0">
                          <a:solidFill>
                            <a:srgbClr val="C00000"/>
                          </a:solidFill>
                          <a:latin typeface="Meiryo UI" pitchFamily="34" charset="0"/>
                          <a:ea typeface="Meiryo UI" pitchFamily="34" charset="-122"/>
                          <a:cs typeface="Meiryo UI" pitchFamily="34" charset="-120"/>
                        </a:rPr>
                        <a:t>高</a:t>
                      </a:r>
                      <a:endParaRPr lang="en-US" sz="10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914400">
                <a:tc>
                  <a:txBody>
                    <a:bodyPr/>
                    <a:lstStyle/>
                    <a:p>
                      <a:pPr marL="0" indent="0" algn="ctr">
                        <a:buNone/>
                      </a:pPr>
                      <a:r>
                        <a:rPr lang="en-US" sz="900" b="1" dirty="0">
                          <a:solidFill>
                            <a:srgbClr val="01953D"/>
                          </a:solidFill>
                          <a:latin typeface="Meiryo UI" pitchFamily="34" charset="0"/>
                          <a:ea typeface="Meiryo UI" pitchFamily="34" charset="-122"/>
                          <a:cs typeface="Meiryo UI" pitchFamily="34" charset="-120"/>
                        </a:rPr>
                        <a:t>KPI-U2</a:t>
                      </a:r>
                      <a:endParaRPr lang="en-US" sz="9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900" b="1" dirty="0">
                          <a:solidFill>
                            <a:srgbClr val="000000"/>
                          </a:solidFill>
                          <a:latin typeface="Meiryo UI" pitchFamily="34" charset="0"/>
                          <a:ea typeface="Meiryo UI" pitchFamily="34" charset="-122"/>
                          <a:cs typeface="Meiryo UI" pitchFamily="34" charset="-120"/>
                        </a:rPr>
                        <a:t>Known Oral Intent Coverage（KOIC）</a:t>
                      </a:r>
                      <a:endParaRPr lang="en-US" sz="9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購入前の口腔課題・意向を継続識別可能な対象者比率（＝許諾ID＋仮名インテント顧客 ÷ 推定インテント人口）</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（診断利用数＋CRMアクティブID＋リテールメディアリーチ許諾ベース）÷ 口腔ケア関心推定人口</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P.1 T1「Cookie消滅・サードパーティデータの完全消滅」への自前ファーストパーティ対応の進捗指標。</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000" b="1" dirty="0">
                          <a:solidFill>
                            <a:srgbClr val="C00000"/>
                          </a:solidFill>
                          <a:latin typeface="Meiryo UI" pitchFamily="34" charset="0"/>
                          <a:ea typeface="Meiryo UI" pitchFamily="34" charset="-122"/>
                          <a:cs typeface="Meiryo UI" pitchFamily="34" charset="-120"/>
                        </a:rPr>
                        <a:t>高</a:t>
                      </a:r>
                      <a:endParaRPr lang="en-US" sz="10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914400">
                <a:tc>
                  <a:txBody>
                    <a:bodyPr/>
                    <a:lstStyle/>
                    <a:p>
                      <a:pPr marL="0" indent="0" algn="ctr">
                        <a:buNone/>
                      </a:pPr>
                      <a:r>
                        <a:rPr lang="en-US" sz="900" b="1" dirty="0">
                          <a:solidFill>
                            <a:srgbClr val="01953D"/>
                          </a:solidFill>
                          <a:latin typeface="Meiryo UI" pitchFamily="34" charset="0"/>
                          <a:ea typeface="Meiryo UI" pitchFamily="34" charset="-122"/>
                          <a:cs typeface="Meiryo UI" pitchFamily="34" charset="-120"/>
                        </a:rPr>
                        <a:t>KPI-U3</a:t>
                      </a:r>
                      <a:endParaRPr lang="en-US" sz="9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900" b="1" dirty="0">
                          <a:solidFill>
                            <a:srgbClr val="000000"/>
                          </a:solidFill>
                          <a:latin typeface="Meiryo UI" pitchFamily="34" charset="0"/>
                          <a:ea typeface="Meiryo UI" pitchFamily="34" charset="-122"/>
                          <a:cs typeface="Meiryo UI" pitchFamily="34" charset="-120"/>
                        </a:rPr>
                        <a:t>B2B2C推奨起点売上比率</a:t>
                      </a:r>
                      <a:endParaRPr lang="en-US" sz="9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歯科医院・歯科衛生士・保険者・薬剤師の推奨を経由して発生した小売・EC売上 ÷ 当該カテゴリー売上</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B2B顧客からの患者送客トラッキング × 小売購買照合（DCR）</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P.3 S1「歯科医師会・学校啓発インフラ」という競合不可能な強みを売上KPIに接続。「広告費ゼロの需要形成」の度合いを測る。</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000" b="1" dirty="0">
                          <a:solidFill>
                            <a:srgbClr val="C00000"/>
                          </a:solidFill>
                          <a:latin typeface="Meiryo UI" pitchFamily="34" charset="0"/>
                          <a:ea typeface="Meiryo UI" pitchFamily="34" charset="-122"/>
                          <a:cs typeface="Meiryo UI" pitchFamily="34" charset="-120"/>
                        </a:rPr>
                        <a:t>高</a:t>
                      </a:r>
                      <a:endParaRPr lang="en-US" sz="10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914400">
                <a:tc>
                  <a:txBody>
                    <a:bodyPr/>
                    <a:lstStyle/>
                    <a:p>
                      <a:pPr marL="0" indent="0" algn="ctr">
                        <a:buNone/>
                      </a:pPr>
                      <a:r>
                        <a:rPr lang="en-US" sz="900" b="1" dirty="0">
                          <a:solidFill>
                            <a:srgbClr val="01953D"/>
                          </a:solidFill>
                          <a:latin typeface="Meiryo UI" pitchFamily="34" charset="0"/>
                          <a:ea typeface="Meiryo UI" pitchFamily="34" charset="-122"/>
                          <a:cs typeface="Meiryo UI" pitchFamily="34" charset="-120"/>
                        </a:rPr>
                        <a:t>KPI-U4</a:t>
                      </a:r>
                      <a:endParaRPr lang="en-US" sz="9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900" b="1" dirty="0">
                          <a:solidFill>
                            <a:srgbClr val="000000"/>
                          </a:solidFill>
                          <a:latin typeface="Meiryo UI" pitchFamily="34" charset="0"/>
                          <a:ea typeface="Meiryo UI" pitchFamily="34" charset="-122"/>
                          <a:cs typeface="Meiryo UI" pitchFamily="34" charset="-120"/>
                        </a:rPr>
                        <a:t>カテゴリーLTV向上貢献指数（小売別）</a:t>
                      </a:r>
                      <a:endParaRPr lang="en-US" sz="9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err="1">
                          <a:solidFill>
                            <a:srgbClr val="000000"/>
                          </a:solidFill>
                          <a:latin typeface="Meiryo UI" pitchFamily="34" charset="0"/>
                          <a:ea typeface="Meiryo UI" pitchFamily="34" charset="-122"/>
                          <a:cs typeface="Meiryo UI" pitchFamily="34" charset="-120"/>
                        </a:rPr>
                        <a:t>LION施策（JBP・診断型売場・リテールメディア等）によって重点小売のオーラルケアカテゴリー粗利が前年比何％向上したか</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JBPレビュー × 小売提供データ × Test &amp; Control比較</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P.6 ボトルネック①「臨床データのLTV予測変換」の達成度を小売収益で直接証明。GAP3「商談価値ミスマッチ」解消の最終確認指標。</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000" b="1" dirty="0">
                          <a:solidFill>
                            <a:srgbClr val="595959"/>
                          </a:solidFill>
                          <a:latin typeface="Meiryo UI" pitchFamily="34" charset="0"/>
                          <a:ea typeface="Meiryo UI" pitchFamily="34" charset="-122"/>
                          <a:cs typeface="Meiryo UI" pitchFamily="34" charset="-120"/>
                        </a:rPr>
                        <a:t>中</a:t>
                      </a:r>
                      <a:endParaRPr lang="en-US" sz="10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914400">
                <a:tc>
                  <a:txBody>
                    <a:bodyPr/>
                    <a:lstStyle/>
                    <a:p>
                      <a:pPr marL="0" indent="0" algn="ctr">
                        <a:buNone/>
                      </a:pPr>
                      <a:r>
                        <a:rPr lang="en-US" sz="900" b="1" dirty="0">
                          <a:solidFill>
                            <a:srgbClr val="01953D"/>
                          </a:solidFill>
                          <a:latin typeface="Meiryo UI" pitchFamily="34" charset="0"/>
                          <a:ea typeface="Meiryo UI" pitchFamily="34" charset="-122"/>
                          <a:cs typeface="Meiryo UI" pitchFamily="34" charset="-120"/>
                        </a:rPr>
                        <a:t>KPI-U5</a:t>
                      </a:r>
                      <a:endParaRPr lang="en-US" sz="9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900" b="1" dirty="0">
                          <a:solidFill>
                            <a:srgbClr val="000000"/>
                          </a:solidFill>
                          <a:latin typeface="Meiryo UI" pitchFamily="34" charset="0"/>
                          <a:ea typeface="Meiryo UI" pitchFamily="34" charset="-122"/>
                          <a:cs typeface="Meiryo UI" pitchFamily="34" charset="-120"/>
                        </a:rPr>
                        <a:t>口腔健康アウトカム改善率（Oral Health Outcome Rate）</a:t>
                      </a:r>
                      <a:endParaRPr lang="en-US" sz="9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LION製品・習慣プログラム参加者のうち、事前・事後評価で対象口腔状態（歯ぐき・歯垢・知覚過敏等）が改善した比率</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診断ツール × 歯科連携 × 自己報告調査（POHRデータ活用）</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「商品を売る会社→健康アウトカムに責任を持つ会社」への転換の証明。P.1 O1「予防医療の社会インフラ化」機会を捉えたLION固有の社会価値KPI。</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000" b="1" dirty="0">
                          <a:solidFill>
                            <a:srgbClr val="C00000"/>
                          </a:solidFill>
                          <a:latin typeface="Meiryo UI" pitchFamily="34" charset="0"/>
                          <a:ea typeface="Meiryo UI" pitchFamily="34" charset="-122"/>
                          <a:cs typeface="Meiryo UI" pitchFamily="34" charset="-120"/>
                        </a:rPr>
                        <a:t>高</a:t>
                      </a:r>
                      <a:endParaRPr lang="en-US" sz="10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219456" y="0"/>
            <a:ext cx="10332720" cy="914400"/>
          </a:xfrm>
          <a:prstGeom prst="rect">
            <a:avLst/>
          </a:prstGeom>
          <a:noFill/>
          <a:ln/>
        </p:spPr>
        <p:txBody>
          <a:bodyPr wrap="square" lIns="0" tIns="0" rIns="0" bIns="0" rtlCol="0" anchor="b" anchorCtr="0"/>
          <a:lstStyle/>
          <a:p>
            <a:pPr marL="0" indent="0">
              <a:buNone/>
            </a:pPr>
            <a:endParaRPr lang="en-US" b="1" dirty="0">
              <a:solidFill>
                <a:srgbClr val="000000"/>
              </a:solidFill>
              <a:latin typeface="Meiryo UI" pitchFamily="34" charset="0"/>
              <a:ea typeface="Meiryo UI" pitchFamily="34" charset="-122"/>
              <a:cs typeface="Meiryo UI" pitchFamily="34" charset="-120"/>
            </a:endParaRPr>
          </a:p>
          <a:p>
            <a:pPr marL="0" indent="0">
              <a:buNone/>
            </a:pPr>
            <a:r>
              <a:rPr lang="ja-JP" altLang="en-US" sz="1800" b="1" dirty="0">
                <a:solidFill>
                  <a:srgbClr val="000000"/>
                </a:solidFill>
                <a:latin typeface="Meiryo UI" pitchFamily="34" charset="0"/>
                <a:ea typeface="Meiryo UI" pitchFamily="34" charset="-122"/>
                <a:cs typeface="Meiryo UI" pitchFamily="34" charset="-120"/>
              </a:rPr>
              <a:t>経営戦略との接続</a:t>
            </a:r>
            <a:endParaRPr lang="en-US" sz="1800" b="1" dirty="0">
              <a:solidFill>
                <a:srgbClr val="000000"/>
              </a:solidFill>
              <a:latin typeface="Meiryo UI" pitchFamily="34" charset="0"/>
              <a:ea typeface="Meiryo UI" pitchFamily="34" charset="-122"/>
              <a:cs typeface="Meiryo UI" pitchFamily="34" charset="-120"/>
            </a:endParaRPr>
          </a:p>
          <a:p>
            <a:pPr marL="0" indent="0">
              <a:buNone/>
            </a:pPr>
            <a:r>
              <a:rPr lang="en-US" sz="1800" b="1" dirty="0">
                <a:solidFill>
                  <a:srgbClr val="000000"/>
                </a:solidFill>
                <a:latin typeface="Meiryo UI" pitchFamily="34" charset="0"/>
                <a:ea typeface="Meiryo UI" pitchFamily="34" charset="-122"/>
                <a:cs typeface="Meiryo UI" pitchFamily="34" charset="-120"/>
              </a:rPr>
              <a:t>価値創造ストーリー（統合報告書開示フォーマット）</a:t>
            </a:r>
            <a:endParaRPr lang="en-US" sz="1800" dirty="0"/>
          </a:p>
        </p:txBody>
      </p:sp>
      <p:pic>
        <p:nvPicPr>
          <p:cNvPr id="3" name="Image 0" descr="/home/claude/logo.png"/>
          <p:cNvPicPr>
            <a:picLocks noChangeAspect="1"/>
          </p:cNvPicPr>
          <p:nvPr/>
        </p:nvPicPr>
        <p:blipFill>
          <a:blip r:embed="rId3"/>
          <a:stretch>
            <a:fillRect/>
          </a:stretch>
        </p:blipFill>
        <p:spPr>
          <a:xfrm>
            <a:off x="10881360" y="201168"/>
            <a:ext cx="868680" cy="566928"/>
          </a:xfrm>
          <a:prstGeom prst="rect">
            <a:avLst/>
          </a:prstGeom>
        </p:spPr>
      </p:pic>
      <p:sp>
        <p:nvSpPr>
          <p:cNvPr id="4" name="Shape 1"/>
          <p:cNvSpPr/>
          <p:nvPr/>
        </p:nvSpPr>
        <p:spPr>
          <a:xfrm>
            <a:off x="0" y="914400"/>
            <a:ext cx="12188952" cy="0"/>
          </a:xfrm>
          <a:prstGeom prst="line">
            <a:avLst/>
          </a:prstGeom>
          <a:noFill/>
          <a:ln w="28575">
            <a:solidFill>
              <a:srgbClr val="008000"/>
            </a:solidFill>
            <a:prstDash val="solid"/>
          </a:ln>
        </p:spPr>
        <p:txBody>
          <a:bodyPr/>
          <a:lstStyle/>
          <a:p>
            <a:endParaRPr dirty="0"/>
          </a:p>
        </p:txBody>
      </p:sp>
      <p:sp>
        <p:nvSpPr>
          <p:cNvPr id="5" name="Text 2"/>
          <p:cNvSpPr/>
          <p:nvPr/>
        </p:nvSpPr>
        <p:spPr>
          <a:xfrm>
            <a:off x="219456" y="969264"/>
            <a:ext cx="11750040" cy="384048"/>
          </a:xfrm>
          <a:prstGeom prst="rect">
            <a:avLst/>
          </a:prstGeom>
          <a:noFill/>
          <a:ln/>
        </p:spPr>
        <p:txBody>
          <a:bodyPr wrap="square" lIns="0" tIns="0" rIns="0" bIns="0" rtlCol="0" anchor="ctr"/>
          <a:lstStyle/>
          <a:p>
            <a:pPr marL="0" indent="0">
              <a:buNone/>
            </a:pPr>
            <a:r>
              <a:rPr lang="en-US" dirty="0">
                <a:solidFill>
                  <a:srgbClr val="000000"/>
                </a:solidFill>
                <a:latin typeface="Meiryo UI" pitchFamily="34" charset="0"/>
                <a:ea typeface="Meiryo UI" pitchFamily="34" charset="-122"/>
                <a:cs typeface="Meiryo UI" pitchFamily="34" charset="-120"/>
              </a:rPr>
              <a:t>事業活動　4テーマの実装</a:t>
            </a:r>
            <a:endParaRPr lang="en-US" dirty="0"/>
          </a:p>
        </p:txBody>
      </p:sp>
      <p:sp>
        <p:nvSpPr>
          <p:cNvPr id="6" name="Text 3"/>
          <p:cNvSpPr/>
          <p:nvPr/>
        </p:nvSpPr>
        <p:spPr>
          <a:xfrm>
            <a:off x="11658600" y="6528816"/>
            <a:ext cx="411480" cy="274320"/>
          </a:xfrm>
          <a:prstGeom prst="rect">
            <a:avLst/>
          </a:prstGeom>
          <a:noFill/>
          <a:ln/>
        </p:spPr>
        <p:txBody>
          <a:bodyPr wrap="square" lIns="0" tIns="0" rIns="0" bIns="0" rtlCol="0" anchor="ctr"/>
          <a:lstStyle/>
          <a:p>
            <a:pPr marL="0" indent="0" algn="r">
              <a:buNone/>
            </a:pPr>
            <a:r>
              <a:rPr lang="en-US" sz="1000" dirty="0">
                <a:solidFill>
                  <a:srgbClr val="595959"/>
                </a:solidFill>
                <a:latin typeface="Meiryo UI" pitchFamily="34" charset="0"/>
                <a:ea typeface="Meiryo UI" pitchFamily="34" charset="-122"/>
                <a:cs typeface="Meiryo UI" pitchFamily="34" charset="-120"/>
              </a:rPr>
              <a:t>13</a:t>
            </a:r>
            <a:endParaRPr lang="en-US" sz="1000" dirty="0"/>
          </a:p>
        </p:txBody>
      </p:sp>
      <p:sp>
        <p:nvSpPr>
          <p:cNvPr id="7" name="Text 4"/>
          <p:cNvSpPr/>
          <p:nvPr/>
        </p:nvSpPr>
        <p:spPr>
          <a:xfrm>
            <a:off x="219456" y="6556248"/>
            <a:ext cx="8229600" cy="228600"/>
          </a:xfrm>
          <a:prstGeom prst="rect">
            <a:avLst/>
          </a:prstGeom>
          <a:noFill/>
          <a:ln/>
        </p:spPr>
        <p:txBody>
          <a:bodyPr wrap="square" lIns="0" tIns="0" rIns="0" bIns="0" rtlCol="0" anchor="ctr"/>
          <a:lstStyle/>
          <a:p>
            <a:pPr marL="0" indent="0">
              <a:buNone/>
            </a:pPr>
            <a:r>
              <a:rPr lang="en-US" sz="750" dirty="0">
                <a:solidFill>
                  <a:srgbClr val="595959"/>
                </a:solidFill>
                <a:latin typeface="Meiryo UI" pitchFamily="34" charset="0"/>
                <a:ea typeface="Meiryo UI" pitchFamily="34" charset="-122"/>
                <a:cs typeface="Meiryo UI" pitchFamily="34" charset="-120"/>
              </a:rPr>
              <a:t>LION Corporation ｜ 営業・マーケティングDX戦略 検討アジェンダ（P.6「真因・GAP分析」後続）</a:t>
            </a:r>
            <a:endParaRPr lang="en-US" sz="750" dirty="0"/>
          </a:p>
        </p:txBody>
      </p:sp>
      <p:sp>
        <p:nvSpPr>
          <p:cNvPr id="8" name="Shape 5"/>
          <p:cNvSpPr/>
          <p:nvPr/>
        </p:nvSpPr>
        <p:spPr>
          <a:xfrm>
            <a:off x="274320" y="1600200"/>
            <a:ext cx="2724912" cy="4709160"/>
          </a:xfrm>
          <a:prstGeom prst="roundRect">
            <a:avLst>
              <a:gd name="adj" fmla="val 1678"/>
            </a:avLst>
          </a:prstGeom>
          <a:solidFill>
            <a:srgbClr val="F2F2F2"/>
          </a:solidFill>
          <a:ln w="12700">
            <a:solidFill>
              <a:srgbClr val="BFBFBF"/>
            </a:solidFill>
            <a:prstDash val="solid"/>
          </a:ln>
        </p:spPr>
        <p:txBody>
          <a:bodyPr/>
          <a:lstStyle/>
          <a:p>
            <a:endParaRPr dirty="0"/>
          </a:p>
        </p:txBody>
      </p:sp>
      <p:sp>
        <p:nvSpPr>
          <p:cNvPr id="9" name="Text 6"/>
          <p:cNvSpPr/>
          <p:nvPr/>
        </p:nvSpPr>
        <p:spPr>
          <a:xfrm>
            <a:off x="411480" y="1719072"/>
            <a:ext cx="2468880" cy="365760"/>
          </a:xfrm>
          <a:prstGeom prst="rect">
            <a:avLst/>
          </a:prstGeom>
          <a:noFill/>
          <a:ln/>
        </p:spPr>
        <p:txBody>
          <a:bodyPr wrap="square" lIns="0" tIns="0" rIns="0" bIns="0" rtlCol="0" anchor="ctr"/>
          <a:lstStyle/>
          <a:p>
            <a:pPr marL="0" indent="0">
              <a:buNone/>
            </a:pPr>
            <a:r>
              <a:rPr lang="en-US" sz="1300" b="1" dirty="0">
                <a:solidFill>
                  <a:srgbClr val="01953D"/>
                </a:solidFill>
                <a:latin typeface="Meiryo UI" pitchFamily="34" charset="0"/>
                <a:ea typeface="Meiryo UI" pitchFamily="34" charset="-122"/>
                <a:cs typeface="Meiryo UI" pitchFamily="34" charset="-120"/>
              </a:rPr>
              <a:t>インプット</a:t>
            </a:r>
            <a:r>
              <a:rPr lang="en-US" sz="850" dirty="0">
                <a:solidFill>
                  <a:srgbClr val="595959"/>
                </a:solidFill>
                <a:latin typeface="Meiryo UI" pitchFamily="34" charset="0"/>
                <a:ea typeface="Meiryo UI" pitchFamily="34" charset="-122"/>
                <a:cs typeface="Meiryo UI" pitchFamily="34" charset="-120"/>
              </a:rPr>
              <a:t>　P.3 強みの資本化</a:t>
            </a:r>
            <a:endParaRPr lang="en-US" sz="1300" dirty="0"/>
          </a:p>
        </p:txBody>
      </p:sp>
      <p:sp>
        <p:nvSpPr>
          <p:cNvPr id="10" name="Shape 7"/>
          <p:cNvSpPr/>
          <p:nvPr/>
        </p:nvSpPr>
        <p:spPr>
          <a:xfrm>
            <a:off x="411480" y="2121408"/>
            <a:ext cx="2450592" cy="0"/>
          </a:xfrm>
          <a:prstGeom prst="line">
            <a:avLst/>
          </a:prstGeom>
          <a:noFill/>
          <a:ln w="9525">
            <a:solidFill>
              <a:srgbClr val="BFBFBF"/>
            </a:solidFill>
            <a:prstDash val="solid"/>
          </a:ln>
        </p:spPr>
        <p:txBody>
          <a:bodyPr/>
          <a:lstStyle/>
          <a:p>
            <a:endParaRPr dirty="0"/>
          </a:p>
        </p:txBody>
      </p:sp>
      <p:sp>
        <p:nvSpPr>
          <p:cNvPr id="11" name="Text 8"/>
          <p:cNvSpPr/>
          <p:nvPr/>
        </p:nvSpPr>
        <p:spPr>
          <a:xfrm>
            <a:off x="411480" y="2212848"/>
            <a:ext cx="2487168" cy="3977640"/>
          </a:xfrm>
          <a:prstGeom prst="rect">
            <a:avLst/>
          </a:prstGeom>
          <a:noFill/>
          <a:ln/>
        </p:spPr>
        <p:txBody>
          <a:bodyPr wrap="square" lIns="0" tIns="0" rIns="0" bIns="0" rtlCol="0" anchor="t">
            <a:normAutofit/>
          </a:bodyPr>
          <a:lstStyle/>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製造資本：オーラルケア製品・製造設備</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知的資本：予防歯科研究・臨床データ・OTC薬事知見・POHR ※現在は「非換金」（ボトルネック①）</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社会関係資本：歯科医師会・学校・自治体の啓発ネットワーク（S1・競合不可）</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人的資本：営業・マーケ・R&amp;D人材 ※現在はInput業務に浪費（ボトルネック②）</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デジタル資本：LION ID基盤・GCP統合基盤（構築中）</a:t>
            </a:r>
            <a:endParaRPr lang="en-US" sz="850" dirty="0"/>
          </a:p>
        </p:txBody>
      </p:sp>
      <p:sp>
        <p:nvSpPr>
          <p:cNvPr id="12" name="Shape 9"/>
          <p:cNvSpPr/>
          <p:nvPr/>
        </p:nvSpPr>
        <p:spPr>
          <a:xfrm>
            <a:off x="3017520" y="3703320"/>
            <a:ext cx="292608" cy="457200"/>
          </a:xfrm>
          <a:prstGeom prst="rightArrow">
            <a:avLst/>
          </a:prstGeom>
          <a:solidFill>
            <a:srgbClr val="008D2E"/>
          </a:solidFill>
          <a:ln/>
        </p:spPr>
        <p:txBody>
          <a:bodyPr/>
          <a:lstStyle/>
          <a:p>
            <a:endParaRPr dirty="0"/>
          </a:p>
        </p:txBody>
      </p:sp>
      <p:sp>
        <p:nvSpPr>
          <p:cNvPr id="13" name="Shape 10"/>
          <p:cNvSpPr/>
          <p:nvPr/>
        </p:nvSpPr>
        <p:spPr>
          <a:xfrm>
            <a:off x="3310128" y="1600200"/>
            <a:ext cx="2724912" cy="4709160"/>
          </a:xfrm>
          <a:prstGeom prst="roundRect">
            <a:avLst>
              <a:gd name="adj" fmla="val 1678"/>
            </a:avLst>
          </a:prstGeom>
          <a:solidFill>
            <a:srgbClr val="E5F2E5"/>
          </a:solidFill>
          <a:ln w="12700">
            <a:solidFill>
              <a:srgbClr val="008D2E"/>
            </a:solidFill>
            <a:prstDash val="solid"/>
          </a:ln>
        </p:spPr>
        <p:txBody>
          <a:bodyPr/>
          <a:lstStyle/>
          <a:p>
            <a:endParaRPr dirty="0"/>
          </a:p>
        </p:txBody>
      </p:sp>
      <p:sp>
        <p:nvSpPr>
          <p:cNvPr id="14" name="Text 11"/>
          <p:cNvSpPr/>
          <p:nvPr/>
        </p:nvSpPr>
        <p:spPr>
          <a:xfrm>
            <a:off x="3447288" y="1719072"/>
            <a:ext cx="2468880" cy="365760"/>
          </a:xfrm>
          <a:prstGeom prst="rect">
            <a:avLst/>
          </a:prstGeom>
          <a:noFill/>
          <a:ln/>
        </p:spPr>
        <p:txBody>
          <a:bodyPr wrap="square" lIns="0" tIns="0" rIns="0" bIns="0" rtlCol="0" anchor="ctr"/>
          <a:lstStyle/>
          <a:p>
            <a:pPr marL="0" indent="0">
              <a:buNone/>
            </a:pPr>
            <a:r>
              <a:rPr lang="en-US" sz="1300" b="1" dirty="0">
                <a:solidFill>
                  <a:srgbClr val="01953D"/>
                </a:solidFill>
                <a:latin typeface="Meiryo UI" pitchFamily="34" charset="0"/>
                <a:ea typeface="Meiryo UI" pitchFamily="34" charset="-122"/>
                <a:cs typeface="Meiryo UI" pitchFamily="34" charset="-120"/>
              </a:rPr>
              <a:t>事業活動　4テーマの実装</a:t>
            </a:r>
            <a:endParaRPr lang="en-US" sz="1300" dirty="0"/>
          </a:p>
        </p:txBody>
      </p:sp>
      <p:sp>
        <p:nvSpPr>
          <p:cNvPr id="15" name="Shape 12"/>
          <p:cNvSpPr/>
          <p:nvPr/>
        </p:nvSpPr>
        <p:spPr>
          <a:xfrm>
            <a:off x="3447288" y="2121408"/>
            <a:ext cx="2450592" cy="0"/>
          </a:xfrm>
          <a:prstGeom prst="line">
            <a:avLst/>
          </a:prstGeom>
          <a:noFill/>
          <a:ln w="9525">
            <a:solidFill>
              <a:srgbClr val="008D2E"/>
            </a:solidFill>
            <a:prstDash val="solid"/>
          </a:ln>
        </p:spPr>
        <p:txBody>
          <a:bodyPr/>
          <a:lstStyle/>
          <a:p>
            <a:endParaRPr dirty="0"/>
          </a:p>
        </p:txBody>
      </p:sp>
      <p:sp>
        <p:nvSpPr>
          <p:cNvPr id="16" name="Text 13"/>
          <p:cNvSpPr/>
          <p:nvPr/>
        </p:nvSpPr>
        <p:spPr>
          <a:xfrm>
            <a:off x="3447288" y="2212848"/>
            <a:ext cx="2487168" cy="3977640"/>
          </a:xfrm>
          <a:prstGeom prst="rect">
            <a:avLst/>
          </a:prstGeom>
          <a:noFill/>
          <a:ln/>
        </p:spPr>
        <p:txBody>
          <a:bodyPr wrap="square" lIns="0" tIns="0" rIns="0" bIns="0" rtlCol="0" anchor="t">
            <a:normAutofit/>
          </a:bodyPr>
          <a:lstStyle/>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① 強み領域集中×AI知識資産化（T1）― オーラルケアをAI推奨時代の知識資産へ</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② JBP・Total Availability・LION ID口腔健康OS（T2）― N-t-C創出・LTV向上・リテールメディアROI証明</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③ 臨床データ防弾ロジック化・B2B2C商談（T3）― バイヤーの社内審査突破と専門家推奨起点売上</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④ Input業務ゼロ化・RevOps・アカウントスクワッド（T4）― 全投資の増分粗利ROI可視化と高速改善</a:t>
            </a:r>
            <a:endParaRPr lang="en-US" sz="850" dirty="0"/>
          </a:p>
        </p:txBody>
      </p:sp>
      <p:sp>
        <p:nvSpPr>
          <p:cNvPr id="17" name="Shape 14"/>
          <p:cNvSpPr/>
          <p:nvPr/>
        </p:nvSpPr>
        <p:spPr>
          <a:xfrm>
            <a:off x="6053328" y="3703320"/>
            <a:ext cx="292608" cy="457200"/>
          </a:xfrm>
          <a:prstGeom prst="rightArrow">
            <a:avLst/>
          </a:prstGeom>
          <a:solidFill>
            <a:srgbClr val="008D2E"/>
          </a:solidFill>
          <a:ln/>
        </p:spPr>
        <p:txBody>
          <a:bodyPr/>
          <a:lstStyle/>
          <a:p>
            <a:endParaRPr dirty="0"/>
          </a:p>
        </p:txBody>
      </p:sp>
      <p:sp>
        <p:nvSpPr>
          <p:cNvPr id="18" name="Shape 15"/>
          <p:cNvSpPr/>
          <p:nvPr/>
        </p:nvSpPr>
        <p:spPr>
          <a:xfrm>
            <a:off x="6345936" y="1600200"/>
            <a:ext cx="2724912" cy="4709160"/>
          </a:xfrm>
          <a:prstGeom prst="roundRect">
            <a:avLst>
              <a:gd name="adj" fmla="val 1678"/>
            </a:avLst>
          </a:prstGeom>
          <a:solidFill>
            <a:srgbClr val="F2F2F2"/>
          </a:solidFill>
          <a:ln w="12700">
            <a:solidFill>
              <a:srgbClr val="BFBFBF"/>
            </a:solidFill>
            <a:prstDash val="solid"/>
          </a:ln>
        </p:spPr>
        <p:txBody>
          <a:bodyPr/>
          <a:lstStyle/>
          <a:p>
            <a:endParaRPr dirty="0"/>
          </a:p>
        </p:txBody>
      </p:sp>
      <p:sp>
        <p:nvSpPr>
          <p:cNvPr id="19" name="Text 16"/>
          <p:cNvSpPr/>
          <p:nvPr/>
        </p:nvSpPr>
        <p:spPr>
          <a:xfrm>
            <a:off x="6483096" y="1719072"/>
            <a:ext cx="2468880" cy="365760"/>
          </a:xfrm>
          <a:prstGeom prst="rect">
            <a:avLst/>
          </a:prstGeom>
          <a:noFill/>
          <a:ln/>
        </p:spPr>
        <p:txBody>
          <a:bodyPr wrap="square" lIns="0" tIns="0" rIns="0" bIns="0" rtlCol="0" anchor="ctr"/>
          <a:lstStyle/>
          <a:p>
            <a:pPr marL="0" indent="0">
              <a:buNone/>
            </a:pPr>
            <a:r>
              <a:rPr lang="en-US" sz="1300" b="1" dirty="0">
                <a:solidFill>
                  <a:srgbClr val="01953D"/>
                </a:solidFill>
                <a:latin typeface="Meiryo UI" pitchFamily="34" charset="0"/>
                <a:ea typeface="Meiryo UI" pitchFamily="34" charset="-122"/>
                <a:cs typeface="Meiryo UI" pitchFamily="34" charset="-120"/>
              </a:rPr>
              <a:t>アウトプット</a:t>
            </a:r>
            <a:r>
              <a:rPr lang="en-US" sz="850" dirty="0">
                <a:solidFill>
                  <a:srgbClr val="595959"/>
                </a:solidFill>
                <a:latin typeface="Meiryo UI" pitchFamily="34" charset="0"/>
                <a:ea typeface="Meiryo UI" pitchFamily="34" charset="-122"/>
                <a:cs typeface="Meiryo UI" pitchFamily="34" charset="-120"/>
              </a:rPr>
              <a:t>　KPI</a:t>
            </a:r>
            <a:endParaRPr lang="en-US" sz="1300" dirty="0"/>
          </a:p>
        </p:txBody>
      </p:sp>
      <p:sp>
        <p:nvSpPr>
          <p:cNvPr id="20" name="Shape 17"/>
          <p:cNvSpPr/>
          <p:nvPr/>
        </p:nvSpPr>
        <p:spPr>
          <a:xfrm>
            <a:off x="6483096" y="2121408"/>
            <a:ext cx="2450592" cy="0"/>
          </a:xfrm>
          <a:prstGeom prst="line">
            <a:avLst/>
          </a:prstGeom>
          <a:noFill/>
          <a:ln w="9525">
            <a:solidFill>
              <a:srgbClr val="BFBFBF"/>
            </a:solidFill>
            <a:prstDash val="solid"/>
          </a:ln>
        </p:spPr>
        <p:txBody>
          <a:bodyPr/>
          <a:lstStyle/>
          <a:p>
            <a:endParaRPr dirty="0"/>
          </a:p>
        </p:txBody>
      </p:sp>
      <p:sp>
        <p:nvSpPr>
          <p:cNvPr id="21" name="Text 18"/>
          <p:cNvSpPr/>
          <p:nvPr/>
        </p:nvSpPr>
        <p:spPr>
          <a:xfrm>
            <a:off x="6483096" y="2212848"/>
            <a:ext cx="2487168" cy="3977640"/>
          </a:xfrm>
          <a:prstGeom prst="rect">
            <a:avLst/>
          </a:prstGeom>
          <a:noFill/>
          <a:ln/>
        </p:spPr>
        <p:txBody>
          <a:bodyPr wrap="square" lIns="0" tIns="0" rIns="0" bIns="0" rtlCol="0" anchor="t">
            <a:normAutofit/>
          </a:bodyPr>
          <a:lstStyle/>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AI推奨シェア（AIEO Rate）</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N-t-C率（重点カテゴリー）</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KOIC</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重点小売JBP達成率</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LION IDアクティブ数</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B2B2C推奨起点売上比率</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Input業務削減率</a:t>
            </a:r>
            <a:endParaRPr lang="en-US" sz="850" dirty="0"/>
          </a:p>
        </p:txBody>
      </p:sp>
      <p:sp>
        <p:nvSpPr>
          <p:cNvPr id="22" name="Shape 19"/>
          <p:cNvSpPr/>
          <p:nvPr/>
        </p:nvSpPr>
        <p:spPr>
          <a:xfrm>
            <a:off x="9089136" y="3703320"/>
            <a:ext cx="292608" cy="457200"/>
          </a:xfrm>
          <a:prstGeom prst="rightArrow">
            <a:avLst/>
          </a:prstGeom>
          <a:solidFill>
            <a:srgbClr val="008D2E"/>
          </a:solidFill>
          <a:ln/>
        </p:spPr>
        <p:txBody>
          <a:bodyPr/>
          <a:lstStyle/>
          <a:p>
            <a:endParaRPr dirty="0"/>
          </a:p>
        </p:txBody>
      </p:sp>
      <p:sp>
        <p:nvSpPr>
          <p:cNvPr id="23" name="Shape 20"/>
          <p:cNvSpPr/>
          <p:nvPr/>
        </p:nvSpPr>
        <p:spPr>
          <a:xfrm>
            <a:off x="9381744" y="1600200"/>
            <a:ext cx="2724912" cy="4709160"/>
          </a:xfrm>
          <a:prstGeom prst="roundRect">
            <a:avLst>
              <a:gd name="adj" fmla="val 1678"/>
            </a:avLst>
          </a:prstGeom>
          <a:solidFill>
            <a:srgbClr val="E5F2E5"/>
          </a:solidFill>
          <a:ln w="12700">
            <a:solidFill>
              <a:srgbClr val="008D2E"/>
            </a:solidFill>
            <a:prstDash val="solid"/>
          </a:ln>
        </p:spPr>
        <p:txBody>
          <a:bodyPr/>
          <a:lstStyle/>
          <a:p>
            <a:endParaRPr dirty="0"/>
          </a:p>
        </p:txBody>
      </p:sp>
      <p:sp>
        <p:nvSpPr>
          <p:cNvPr id="24" name="Text 21"/>
          <p:cNvSpPr/>
          <p:nvPr/>
        </p:nvSpPr>
        <p:spPr>
          <a:xfrm>
            <a:off x="9518904" y="1719072"/>
            <a:ext cx="2468880" cy="365760"/>
          </a:xfrm>
          <a:prstGeom prst="rect">
            <a:avLst/>
          </a:prstGeom>
          <a:noFill/>
          <a:ln/>
        </p:spPr>
        <p:txBody>
          <a:bodyPr wrap="square" lIns="0" tIns="0" rIns="0" bIns="0" rtlCol="0" anchor="ctr"/>
          <a:lstStyle/>
          <a:p>
            <a:pPr marL="0" indent="0">
              <a:buNone/>
            </a:pPr>
            <a:r>
              <a:rPr lang="en-US" sz="1300" b="1" dirty="0">
                <a:solidFill>
                  <a:srgbClr val="01953D"/>
                </a:solidFill>
                <a:latin typeface="Meiryo UI" pitchFamily="34" charset="0"/>
                <a:ea typeface="Meiryo UI" pitchFamily="34" charset="-122"/>
                <a:cs typeface="Meiryo UI" pitchFamily="34" charset="-120"/>
              </a:rPr>
              <a:t>アウトカム</a:t>
            </a:r>
            <a:r>
              <a:rPr lang="en-US" sz="850" dirty="0">
                <a:solidFill>
                  <a:srgbClr val="595959"/>
                </a:solidFill>
                <a:latin typeface="Meiryo UI" pitchFamily="34" charset="0"/>
                <a:ea typeface="Meiryo UI" pitchFamily="34" charset="-122"/>
                <a:cs typeface="Meiryo UI" pitchFamily="34" charset="-120"/>
              </a:rPr>
              <a:t>　財務・社会</a:t>
            </a:r>
            <a:endParaRPr lang="en-US" sz="1300" dirty="0"/>
          </a:p>
        </p:txBody>
      </p:sp>
      <p:sp>
        <p:nvSpPr>
          <p:cNvPr id="25" name="Shape 22"/>
          <p:cNvSpPr/>
          <p:nvPr/>
        </p:nvSpPr>
        <p:spPr>
          <a:xfrm>
            <a:off x="9518904" y="2121408"/>
            <a:ext cx="2450592" cy="0"/>
          </a:xfrm>
          <a:prstGeom prst="line">
            <a:avLst/>
          </a:prstGeom>
          <a:noFill/>
          <a:ln w="9525">
            <a:solidFill>
              <a:srgbClr val="008D2E"/>
            </a:solidFill>
            <a:prstDash val="solid"/>
          </a:ln>
        </p:spPr>
        <p:txBody>
          <a:bodyPr/>
          <a:lstStyle/>
          <a:p>
            <a:endParaRPr dirty="0"/>
          </a:p>
        </p:txBody>
      </p:sp>
      <p:sp>
        <p:nvSpPr>
          <p:cNvPr id="26" name="Text 23"/>
          <p:cNvSpPr/>
          <p:nvPr/>
        </p:nvSpPr>
        <p:spPr>
          <a:xfrm>
            <a:off x="9518904" y="2212848"/>
            <a:ext cx="2487168" cy="3977640"/>
          </a:xfrm>
          <a:prstGeom prst="rect">
            <a:avLst/>
          </a:prstGeom>
          <a:noFill/>
          <a:ln/>
        </p:spPr>
        <p:txBody>
          <a:bodyPr wrap="square" lIns="0" tIns="0" rIns="0" bIns="0" rtlCol="0" anchor="t">
            <a:normAutofit/>
          </a:bodyPr>
          <a:lstStyle/>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財務：オーラルケア売上成長率向上・事業利益率改善</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顧客資本：顧客LTV向上・90日習慣継続率向上</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社会：口腔健康アウトカム改善率／啓発到達人数拡大（P.1 O1「社会インフラ化」機会の実現）</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219456" y="0"/>
            <a:ext cx="10332720" cy="914400"/>
          </a:xfrm>
          <a:prstGeom prst="rect">
            <a:avLst/>
          </a:prstGeom>
          <a:noFill/>
          <a:ln/>
        </p:spPr>
        <p:txBody>
          <a:bodyPr wrap="square" lIns="0" tIns="0" rIns="0" bIns="0" rtlCol="0" anchor="b" anchorCtr="0"/>
          <a:lstStyle/>
          <a:p>
            <a:pPr marL="0" indent="0">
              <a:buNone/>
            </a:pPr>
            <a:r>
              <a:rPr lang="en-US" sz="1800" b="1" dirty="0">
                <a:solidFill>
                  <a:srgbClr val="000000"/>
                </a:solidFill>
                <a:latin typeface="Meiryo UI" pitchFamily="34" charset="0"/>
                <a:ea typeface="Meiryo UI" pitchFamily="34" charset="-122"/>
                <a:cs typeface="Meiryo UI" pitchFamily="34" charset="-120"/>
              </a:rPr>
              <a:t>投資・体制</a:t>
            </a:r>
            <a:r>
              <a:rPr lang="ja-JP" altLang="en-US" sz="1800" b="1" dirty="0">
                <a:solidFill>
                  <a:srgbClr val="000000"/>
                </a:solidFill>
                <a:latin typeface="Meiryo UI" pitchFamily="34" charset="0"/>
                <a:ea typeface="Meiryo UI" pitchFamily="34" charset="-122"/>
                <a:cs typeface="Meiryo UI" pitchFamily="34" charset="-120"/>
              </a:rPr>
              <a:t>観点の主要</a:t>
            </a:r>
            <a:r>
              <a:rPr lang="en-US" sz="1800" b="1" dirty="0">
                <a:solidFill>
                  <a:srgbClr val="000000"/>
                </a:solidFill>
                <a:latin typeface="Meiryo UI" pitchFamily="34" charset="0"/>
                <a:ea typeface="Meiryo UI" pitchFamily="34" charset="-122"/>
                <a:cs typeface="Meiryo UI" pitchFamily="34" charset="-120"/>
              </a:rPr>
              <a:t>論点</a:t>
            </a:r>
            <a:endParaRPr lang="en-US" sz="1800" dirty="0"/>
          </a:p>
        </p:txBody>
      </p:sp>
      <p:pic>
        <p:nvPicPr>
          <p:cNvPr id="3" name="Image 0" descr="/home/claude/logo.png"/>
          <p:cNvPicPr>
            <a:picLocks noChangeAspect="1"/>
          </p:cNvPicPr>
          <p:nvPr/>
        </p:nvPicPr>
        <p:blipFill>
          <a:blip r:embed="rId3"/>
          <a:stretch>
            <a:fillRect/>
          </a:stretch>
        </p:blipFill>
        <p:spPr>
          <a:xfrm>
            <a:off x="10881360" y="201168"/>
            <a:ext cx="868680" cy="566928"/>
          </a:xfrm>
          <a:prstGeom prst="rect">
            <a:avLst/>
          </a:prstGeom>
        </p:spPr>
      </p:pic>
      <p:sp>
        <p:nvSpPr>
          <p:cNvPr id="4" name="Shape 1"/>
          <p:cNvSpPr/>
          <p:nvPr/>
        </p:nvSpPr>
        <p:spPr>
          <a:xfrm>
            <a:off x="0" y="914400"/>
            <a:ext cx="12188952" cy="0"/>
          </a:xfrm>
          <a:prstGeom prst="line">
            <a:avLst/>
          </a:prstGeom>
          <a:noFill/>
          <a:ln w="28575">
            <a:solidFill>
              <a:srgbClr val="008000"/>
            </a:solidFill>
            <a:prstDash val="solid"/>
          </a:ln>
        </p:spPr>
        <p:txBody>
          <a:bodyPr/>
          <a:lstStyle/>
          <a:p>
            <a:endParaRPr lang="ja-JP" altLang="en-US"/>
          </a:p>
        </p:txBody>
      </p:sp>
      <p:sp>
        <p:nvSpPr>
          <p:cNvPr id="5" name="Text 2"/>
          <p:cNvSpPr/>
          <p:nvPr/>
        </p:nvSpPr>
        <p:spPr>
          <a:xfrm>
            <a:off x="219456" y="969264"/>
            <a:ext cx="11750040" cy="384048"/>
          </a:xfrm>
          <a:prstGeom prst="rect">
            <a:avLst/>
          </a:prstGeom>
          <a:noFill/>
          <a:ln/>
        </p:spPr>
        <p:txBody>
          <a:bodyPr wrap="square" lIns="0" tIns="0" rIns="0" bIns="0" rtlCol="0" anchor="ctr"/>
          <a:lstStyle/>
          <a:p>
            <a:pPr marL="0" indent="0">
              <a:buNone/>
            </a:pPr>
            <a:r>
              <a:rPr lang="en-US" dirty="0">
                <a:solidFill>
                  <a:srgbClr val="000000"/>
                </a:solidFill>
                <a:latin typeface="Meiryo UI" pitchFamily="34" charset="0"/>
                <a:ea typeface="Meiryo UI" pitchFamily="34" charset="-122"/>
                <a:cs typeface="Meiryo UI" pitchFamily="34" charset="-120"/>
              </a:rPr>
              <a:t>DX投資の優先度はボトルネック・GAPへの直接性で決定。DCR等の前提条件タスクは2026年9月までの確認が必須</a:t>
            </a:r>
            <a:endParaRPr lang="en-US" dirty="0"/>
          </a:p>
        </p:txBody>
      </p:sp>
      <p:sp>
        <p:nvSpPr>
          <p:cNvPr id="6" name="Text 3"/>
          <p:cNvSpPr/>
          <p:nvPr/>
        </p:nvSpPr>
        <p:spPr>
          <a:xfrm>
            <a:off x="11658600" y="6528816"/>
            <a:ext cx="411480" cy="274320"/>
          </a:xfrm>
          <a:prstGeom prst="rect">
            <a:avLst/>
          </a:prstGeom>
          <a:noFill/>
          <a:ln/>
        </p:spPr>
        <p:txBody>
          <a:bodyPr wrap="square" lIns="0" tIns="0" rIns="0" bIns="0" rtlCol="0" anchor="ctr"/>
          <a:lstStyle/>
          <a:p>
            <a:pPr marL="0" indent="0" algn="r">
              <a:buNone/>
            </a:pPr>
            <a:r>
              <a:rPr lang="en-US" sz="1000" dirty="0">
                <a:solidFill>
                  <a:srgbClr val="595959"/>
                </a:solidFill>
                <a:latin typeface="Meiryo UI" pitchFamily="34" charset="0"/>
                <a:ea typeface="Meiryo UI" pitchFamily="34" charset="-122"/>
                <a:cs typeface="Meiryo UI" pitchFamily="34" charset="-120"/>
              </a:rPr>
              <a:t>14</a:t>
            </a:r>
            <a:endParaRPr lang="en-US" sz="1000" dirty="0"/>
          </a:p>
        </p:txBody>
      </p:sp>
      <p:sp>
        <p:nvSpPr>
          <p:cNvPr id="7" name="Text 4"/>
          <p:cNvSpPr/>
          <p:nvPr/>
        </p:nvSpPr>
        <p:spPr>
          <a:xfrm>
            <a:off x="219456" y="6556248"/>
            <a:ext cx="8229600" cy="228600"/>
          </a:xfrm>
          <a:prstGeom prst="rect">
            <a:avLst/>
          </a:prstGeom>
          <a:noFill/>
          <a:ln/>
        </p:spPr>
        <p:txBody>
          <a:bodyPr wrap="square" lIns="0" tIns="0" rIns="0" bIns="0" rtlCol="0" anchor="ctr"/>
          <a:lstStyle/>
          <a:p>
            <a:pPr marL="0" indent="0">
              <a:buNone/>
            </a:pPr>
            <a:r>
              <a:rPr lang="en-US" sz="750" dirty="0">
                <a:solidFill>
                  <a:srgbClr val="595959"/>
                </a:solidFill>
                <a:latin typeface="Meiryo UI" pitchFamily="34" charset="0"/>
                <a:ea typeface="Meiryo UI" pitchFamily="34" charset="-122"/>
                <a:cs typeface="Meiryo UI" pitchFamily="34" charset="-120"/>
              </a:rPr>
              <a:t>LION Corporation ｜ 営業・マーケティングDX戦略 検討アジェンダ（P.6「真因・GAP分析」後続）</a:t>
            </a:r>
            <a:endParaRPr lang="en-US" sz="7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20040" y="1691640"/>
          <a:ext cx="11521440" cy="4526280"/>
        </p:xfrm>
        <a:graphic>
          <a:graphicData uri="http://schemas.openxmlformats.org/drawingml/2006/table">
            <a:tbl>
              <a:tblPr/>
              <a:tblGrid>
                <a:gridCol w="3017520">
                  <a:extLst>
                    <a:ext uri="{9D8B030D-6E8A-4147-A177-3AD203B41FA5}">
                      <a16:colId xmlns:a16="http://schemas.microsoft.com/office/drawing/2014/main" val="20000"/>
                    </a:ext>
                  </a:extLst>
                </a:gridCol>
                <a:gridCol w="73152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411480">
                <a:tc>
                  <a:txBody>
                    <a:bodyPr/>
                    <a:lstStyle/>
                    <a:p>
                      <a:pPr marL="0" indent="0" algn="ctr">
                        <a:buNone/>
                      </a:pPr>
                      <a:r>
                        <a:rPr lang="en-US" sz="1100" b="1" dirty="0">
                          <a:solidFill>
                            <a:srgbClr val="FFFFFF"/>
                          </a:solidFill>
                          <a:latin typeface="Meiryo UI" pitchFamily="34" charset="0"/>
                          <a:ea typeface="Meiryo UI" pitchFamily="34" charset="-122"/>
                          <a:cs typeface="Meiryo UI" pitchFamily="34" charset="-120"/>
                        </a:rPr>
                        <a:t>施策</a:t>
                      </a:r>
                      <a:endParaRPr lang="en-US" sz="11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8D2E"/>
                    </a:solidFill>
                  </a:tcPr>
                </a:tc>
                <a:tc>
                  <a:txBody>
                    <a:bodyPr/>
                    <a:lstStyle/>
                    <a:p>
                      <a:pPr marL="0" indent="0" algn="ctr">
                        <a:buNone/>
                      </a:pPr>
                      <a:r>
                        <a:rPr lang="en-US" sz="1100" b="1" dirty="0">
                          <a:solidFill>
                            <a:srgbClr val="FFFFFF"/>
                          </a:solidFill>
                          <a:latin typeface="Meiryo UI" pitchFamily="34" charset="0"/>
                          <a:ea typeface="Meiryo UI" pitchFamily="34" charset="-122"/>
                          <a:cs typeface="Meiryo UI" pitchFamily="34" charset="-120"/>
                        </a:rPr>
                        <a:t>内容・P.6接続</a:t>
                      </a:r>
                      <a:endParaRPr lang="en-US" sz="11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8D2E"/>
                    </a:solidFill>
                  </a:tcPr>
                </a:tc>
                <a:tc>
                  <a:txBody>
                    <a:bodyPr/>
                    <a:lstStyle/>
                    <a:p>
                      <a:pPr marL="0" indent="0" algn="ctr">
                        <a:buNone/>
                      </a:pPr>
                      <a:r>
                        <a:rPr lang="en-US" sz="1100" b="1" dirty="0">
                          <a:solidFill>
                            <a:srgbClr val="FFFFFF"/>
                          </a:solidFill>
                          <a:latin typeface="Meiryo UI" pitchFamily="34" charset="0"/>
                          <a:ea typeface="Meiryo UI" pitchFamily="34" charset="-122"/>
                          <a:cs typeface="Meiryo UI" pitchFamily="34" charset="-120"/>
                        </a:rPr>
                        <a:t>優先度</a:t>
                      </a:r>
                      <a:endParaRPr lang="en-US" sz="11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8D2E"/>
                    </a:solidFill>
                  </a:tcPr>
                </a:tc>
                <a:extLst>
                  <a:ext uri="{0D108BD9-81ED-4DB2-BD59-A6C34878D82A}">
                    <a16:rowId xmlns:a16="http://schemas.microsoft.com/office/drawing/2014/main" val="10000"/>
                  </a:ext>
                </a:extLst>
              </a:tr>
              <a:tr h="685800">
                <a:tc>
                  <a:txBody>
                    <a:bodyPr/>
                    <a:lstStyle/>
                    <a:p>
                      <a:pPr marL="0" indent="0">
                        <a:buNone/>
                      </a:pPr>
                      <a:r>
                        <a:rPr lang="en-US" sz="1050" b="1" dirty="0">
                          <a:solidFill>
                            <a:srgbClr val="000000"/>
                          </a:solidFill>
                          <a:latin typeface="Meiryo UI" pitchFamily="34" charset="0"/>
                          <a:ea typeface="Meiryo UI" pitchFamily="34" charset="-122"/>
                          <a:cs typeface="Meiryo UI" pitchFamily="34" charset="-120"/>
                        </a:rPr>
                        <a:t>AIEO・Oral Evidence Hub</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buNone/>
                      </a:pPr>
                      <a:r>
                        <a:rPr lang="en-US" sz="950" dirty="0">
                          <a:solidFill>
                            <a:srgbClr val="000000"/>
                          </a:solidFill>
                          <a:latin typeface="Meiryo UI" pitchFamily="34" charset="0"/>
                          <a:ea typeface="Meiryo UI" pitchFamily="34" charset="-122"/>
                          <a:cs typeface="Meiryo UI" pitchFamily="34" charset="-120"/>
                        </a:rPr>
                        <a:t>GAP1解消の中核。構造化データ整備・AI推奨モニタリング。外部委託 vs 内製の選択。P.6 ボトルネック③への投資。</a:t>
                      </a:r>
                      <a:endParaRPr lang="en-US" sz="9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200" b="1" dirty="0">
                          <a:solidFill>
                            <a:srgbClr val="C00000"/>
                          </a:solidFill>
                          <a:latin typeface="Meiryo UI" pitchFamily="34" charset="0"/>
                          <a:ea typeface="Meiryo UI" pitchFamily="34" charset="-122"/>
                          <a:cs typeface="Meiryo UI" pitchFamily="34" charset="-120"/>
                        </a:rPr>
                        <a:t>最高</a:t>
                      </a:r>
                      <a:endParaRPr lang="en-US" sz="12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1"/>
                  </a:ext>
                </a:extLst>
              </a:tr>
              <a:tr h="685800">
                <a:tc>
                  <a:txBody>
                    <a:bodyPr/>
                    <a:lstStyle/>
                    <a:p>
                      <a:pPr marL="0" indent="0">
                        <a:buNone/>
                      </a:pPr>
                      <a:r>
                        <a:rPr lang="en-US" sz="1050" b="1" dirty="0">
                          <a:solidFill>
                            <a:srgbClr val="000000"/>
                          </a:solidFill>
                          <a:latin typeface="Meiryo UI" pitchFamily="34" charset="0"/>
                          <a:ea typeface="Meiryo UI" pitchFamily="34" charset="-122"/>
                          <a:cs typeface="Meiryo UI" pitchFamily="34" charset="-120"/>
                        </a:rPr>
                        <a:t>GCP統合データ基盤</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950" dirty="0">
                          <a:solidFill>
                            <a:srgbClr val="000000"/>
                          </a:solidFill>
                          <a:latin typeface="Meiryo UI" pitchFamily="34" charset="0"/>
                          <a:ea typeface="Meiryo UI" pitchFamily="34" charset="-122"/>
                          <a:cs typeface="Meiryo UI" pitchFamily="34" charset="-120"/>
                        </a:rPr>
                        <a:t>P.6 ボトルネック①「GCP統合インフラの不在」の直接解消。LION ID・購買・診断・習慣データの統合基盤。DX投資の最大項目。</a:t>
                      </a:r>
                      <a:endParaRPr lang="en-US" sz="9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C00000"/>
                          </a:solidFill>
                          <a:latin typeface="Meiryo UI" pitchFamily="34" charset="0"/>
                          <a:ea typeface="Meiryo UI" pitchFamily="34" charset="-122"/>
                          <a:cs typeface="Meiryo UI" pitchFamily="34" charset="-120"/>
                        </a:rPr>
                        <a:t>最高</a:t>
                      </a:r>
                      <a:endParaRPr lang="en-US" sz="12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marL="0" indent="0">
                        <a:buNone/>
                      </a:pPr>
                      <a:r>
                        <a:rPr lang="en-US" sz="1050" b="1" dirty="0">
                          <a:solidFill>
                            <a:srgbClr val="000000"/>
                          </a:solidFill>
                          <a:latin typeface="Meiryo UI" pitchFamily="34" charset="0"/>
                          <a:ea typeface="Meiryo UI" pitchFamily="34" charset="-122"/>
                          <a:cs typeface="Meiryo UI" pitchFamily="34" charset="-120"/>
                        </a:rPr>
                        <a:t>生成AI（Libra等）× Salesforce TPM</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buNone/>
                      </a:pPr>
                      <a:r>
                        <a:rPr lang="en-US" sz="950" dirty="0">
                          <a:solidFill>
                            <a:srgbClr val="000000"/>
                          </a:solidFill>
                          <a:latin typeface="Meiryo UI" pitchFamily="34" charset="0"/>
                          <a:ea typeface="Meiryo UI" pitchFamily="34" charset="-122"/>
                          <a:cs typeface="Meiryo UI" pitchFamily="34" charset="-120"/>
                        </a:rPr>
                        <a:t>GAP4解消・ボトルネック②の直接対応。P.5 テーマ4「Input業務ゼロ化」の実装。1〜2年でROI回収見込み。</a:t>
                      </a:r>
                      <a:endParaRPr lang="en-US" sz="9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200" b="1" dirty="0">
                          <a:solidFill>
                            <a:srgbClr val="01953D"/>
                          </a:solidFill>
                          <a:latin typeface="Meiryo UI" pitchFamily="34" charset="0"/>
                          <a:ea typeface="Meiryo UI" pitchFamily="34" charset="-122"/>
                          <a:cs typeface="Meiryo UI" pitchFamily="34" charset="-120"/>
                        </a:rPr>
                        <a:t>高</a:t>
                      </a:r>
                      <a:endParaRPr lang="en-US" sz="12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r h="685800">
                <a:tc>
                  <a:txBody>
                    <a:bodyPr/>
                    <a:lstStyle/>
                    <a:p>
                      <a:pPr marL="0" indent="0">
                        <a:buNone/>
                      </a:pPr>
                      <a:r>
                        <a:rPr lang="en-US" sz="1050" b="1" dirty="0">
                          <a:solidFill>
                            <a:srgbClr val="000000"/>
                          </a:solidFill>
                          <a:latin typeface="Meiryo UI" pitchFamily="34" charset="0"/>
                          <a:ea typeface="Meiryo UI" pitchFamily="34" charset="-122"/>
                          <a:cs typeface="Meiryo UI" pitchFamily="34" charset="-120"/>
                        </a:rPr>
                        <a:t>アカウントスクワッド移行</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950" dirty="0">
                          <a:solidFill>
                            <a:srgbClr val="000000"/>
                          </a:solidFill>
                          <a:latin typeface="Meiryo UI" pitchFamily="34" charset="0"/>
                          <a:ea typeface="Meiryo UI" pitchFamily="34" charset="-122"/>
                          <a:cs typeface="Meiryo UI" pitchFamily="34" charset="-120"/>
                        </a:rPr>
                        <a:t>GAP4解消。P.5 テーマ4「組織対組織」への移行。評価制度（訪問件数→JBP達成率）の同時変更が必須。内部調整コストが最大のリスク。</a:t>
                      </a:r>
                      <a:endParaRPr lang="en-US" sz="9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1953D"/>
                          </a:solidFill>
                          <a:latin typeface="Meiryo UI" pitchFamily="34" charset="0"/>
                          <a:ea typeface="Meiryo UI" pitchFamily="34" charset="-122"/>
                          <a:cs typeface="Meiryo UI" pitchFamily="34" charset="-120"/>
                        </a:rPr>
                        <a:t>高</a:t>
                      </a:r>
                      <a:endParaRPr lang="en-US" sz="12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85800">
                <a:tc>
                  <a:txBody>
                    <a:bodyPr/>
                    <a:lstStyle/>
                    <a:p>
                      <a:pPr marL="0" indent="0">
                        <a:buNone/>
                      </a:pPr>
                      <a:r>
                        <a:rPr lang="en-US" sz="1050" b="1" dirty="0">
                          <a:solidFill>
                            <a:srgbClr val="000000"/>
                          </a:solidFill>
                          <a:latin typeface="Meiryo UI" pitchFamily="34" charset="0"/>
                          <a:ea typeface="Meiryo UI" pitchFamily="34" charset="-122"/>
                          <a:cs typeface="Meiryo UI" pitchFamily="34" charset="-120"/>
                        </a:rPr>
                        <a:t>MMM・増分測定体制</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buNone/>
                      </a:pPr>
                      <a:r>
                        <a:rPr lang="en-US" sz="950" dirty="0">
                          <a:solidFill>
                            <a:srgbClr val="000000"/>
                          </a:solidFill>
                          <a:latin typeface="Meiryo UI" pitchFamily="34" charset="0"/>
                          <a:ea typeface="Meiryo UI" pitchFamily="34" charset="-122"/>
                          <a:cs typeface="Meiryo UI" pitchFamily="34" charset="-120"/>
                        </a:rPr>
                        <a:t>GAP3解消。P.3 O2「DCR等での完全同期・無駄なマス投資排除」の機会捕捉。重点1小売×1施策から開始可能。</a:t>
                      </a:r>
                      <a:endParaRPr lang="en-US" sz="9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200" b="1" dirty="0">
                          <a:solidFill>
                            <a:srgbClr val="595959"/>
                          </a:solidFill>
                          <a:latin typeface="Meiryo UI" pitchFamily="34" charset="0"/>
                          <a:ea typeface="Meiryo UI" pitchFamily="34" charset="-122"/>
                          <a:cs typeface="Meiryo UI" pitchFamily="34" charset="-120"/>
                        </a:rPr>
                        <a:t>中</a:t>
                      </a:r>
                      <a:endParaRPr lang="en-US" sz="12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5"/>
                  </a:ext>
                </a:extLst>
              </a:tr>
              <a:tr h="685800">
                <a:tc>
                  <a:txBody>
                    <a:bodyPr/>
                    <a:lstStyle/>
                    <a:p>
                      <a:pPr marL="0" indent="0">
                        <a:buNone/>
                      </a:pPr>
                      <a:r>
                        <a:rPr lang="en-US" sz="1050" b="1" dirty="0">
                          <a:solidFill>
                            <a:srgbClr val="000000"/>
                          </a:solidFill>
                          <a:latin typeface="Meiryo UI" pitchFamily="34" charset="0"/>
                          <a:ea typeface="Meiryo UI" pitchFamily="34" charset="-122"/>
                          <a:cs typeface="Meiryo UI" pitchFamily="34" charset="-120"/>
                        </a:rPr>
                        <a:t>DCR・小売データ協業基盤</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950" dirty="0">
                          <a:solidFill>
                            <a:srgbClr val="000000"/>
                          </a:solidFill>
                          <a:latin typeface="Meiryo UI" pitchFamily="34" charset="0"/>
                          <a:ea typeface="Meiryo UI" pitchFamily="34" charset="-122"/>
                          <a:cs typeface="Meiryo UI" pitchFamily="34" charset="-120"/>
                        </a:rPr>
                        <a:t>法務・技術・重点小売交渉の3条件が揃うことが前提。gaps.md G15（個人情報保護法対応）の確認が先行タスク（2026年9月必須）。</a:t>
                      </a:r>
                      <a:endParaRPr lang="en-US" sz="9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595959"/>
                          </a:solidFill>
                          <a:latin typeface="Meiryo UI" pitchFamily="34" charset="0"/>
                          <a:ea typeface="Meiryo UI" pitchFamily="34" charset="-122"/>
                          <a:cs typeface="Meiryo UI" pitchFamily="34" charset="-120"/>
                        </a:rPr>
                        <a:t>中</a:t>
                      </a:r>
                      <a:endParaRPr lang="en-US" sz="12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128016"/>
            <a:ext cx="10972800" cy="320040"/>
          </a:xfrm>
          <a:prstGeom prst="rect">
            <a:avLst/>
          </a:prstGeom>
          <a:noFill/>
        </p:spPr>
        <p:txBody>
          <a:bodyPr wrap="square" lIns="0" rIns="0" tIns="0" bIns="0">
            <a:spAutoFit/>
          </a:bodyPr>
          <a:lstStyle/>
          <a:p>
            <a:pPr>
              <a:lnSpc>
                <a:spcPct val="112000"/>
              </a:lnSpc>
            </a:pPr>
            <a:r>
              <a:rPr sz="1500" b="1">
                <a:solidFill>
                  <a:srgbClr val="262626"/>
                </a:solidFill>
                <a:latin typeface="Meiryo UI"/>
                <a:ea typeface="Meiryo UI"/>
              </a:rPr>
              <a:t>Howの全体構造</a:t>
            </a:r>
          </a:p>
        </p:txBody>
      </p:sp>
      <p:sp>
        <p:nvSpPr>
          <p:cNvPr id="3" name="TextBox 2"/>
          <p:cNvSpPr txBox="1"/>
          <p:nvPr/>
        </p:nvSpPr>
        <p:spPr>
          <a:xfrm>
            <a:off x="320040" y="420624"/>
            <a:ext cx="10972800" cy="320040"/>
          </a:xfrm>
          <a:prstGeom prst="rect">
            <a:avLst/>
          </a:prstGeom>
          <a:noFill/>
        </p:spPr>
        <p:txBody>
          <a:bodyPr wrap="square" lIns="0" rIns="0" tIns="0" bIns="0">
            <a:spAutoFit/>
          </a:bodyPr>
          <a:lstStyle/>
          <a:p>
            <a:pPr>
              <a:lnSpc>
                <a:spcPct val="112000"/>
              </a:lnSpc>
            </a:pPr>
            <a:r>
              <a:rPr sz="1500" b="1">
                <a:solidFill>
                  <a:srgbClr val="262626"/>
                </a:solidFill>
                <a:latin typeface="Meiryo UI"/>
                <a:ea typeface="Meiryo UI"/>
              </a:rPr>
              <a:t>5つの経営テーマへのMECE接続</a:t>
            </a:r>
          </a:p>
        </p:txBody>
      </p:sp>
      <p:sp>
        <p:nvSpPr>
          <p:cNvPr id="4" name="Rectangle 3"/>
          <p:cNvSpPr/>
          <p:nvPr/>
        </p:nvSpPr>
        <p:spPr>
          <a:xfrm>
            <a:off x="320040" y="786384"/>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859536"/>
            <a:ext cx="11521440" cy="457200"/>
          </a:xfrm>
          <a:prstGeom prst="rect">
            <a:avLst/>
          </a:prstGeom>
          <a:noFill/>
        </p:spPr>
        <p:txBody>
          <a:bodyPr wrap="square" lIns="0" rIns="0" tIns="0" bIns="0">
            <a:spAutoFit/>
          </a:bodyPr>
          <a:lstStyle/>
          <a:p>
            <a:pPr>
              <a:lnSpc>
                <a:spcPct val="115000"/>
              </a:lnSpc>
            </a:pPr>
            <a:r>
              <a:rPr sz="1050" b="0">
                <a:solidFill>
                  <a:srgbClr val="262626"/>
                </a:solidFill>
                <a:latin typeface="Meiryo UI"/>
                <a:ea typeface="Meiryo UI"/>
              </a:rPr>
              <a:t>4テーマ×8重点施策を、経営の問い（5つの経営テーマ）に漏れなく・重複なく割り当て直す。各行は「前（GAP・真因・公開データ）→ 答え → 施策 → 後（KPI）」の一本の線で読む</a:t>
            </a:r>
          </a:p>
        </p:txBody>
      </p:sp>
      <p:sp>
        <p:nvSpPr>
          <p:cNvPr id="6" name="Rectangle 5"/>
          <p:cNvSpPr/>
          <p:nvPr/>
        </p:nvSpPr>
        <p:spPr>
          <a:xfrm>
            <a:off x="320040" y="1426464"/>
            <a:ext cx="182880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74904" y="1463040"/>
            <a:ext cx="1719072" cy="256032"/>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経営テーマ（経営上の問い）</a:t>
            </a:r>
          </a:p>
        </p:txBody>
      </p:sp>
      <p:sp>
        <p:nvSpPr>
          <p:cNvPr id="8" name="Rectangle 7"/>
          <p:cNvSpPr/>
          <p:nvPr/>
        </p:nvSpPr>
        <p:spPr>
          <a:xfrm>
            <a:off x="2167128" y="1426464"/>
            <a:ext cx="288036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21992" y="1463040"/>
            <a:ext cx="2770632" cy="256032"/>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前 ― 何を受けるか（GAP・真因・公開データ）</a:t>
            </a:r>
          </a:p>
        </p:txBody>
      </p:sp>
      <p:sp>
        <p:nvSpPr>
          <p:cNvPr id="10" name="Rectangle 9"/>
          <p:cNvSpPr/>
          <p:nvPr/>
        </p:nvSpPr>
        <p:spPr>
          <a:xfrm>
            <a:off x="5065776" y="1426464"/>
            <a:ext cx="320040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0" y="1463040"/>
            <a:ext cx="3090672" cy="256032"/>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答え（ソリューション）</a:t>
            </a:r>
          </a:p>
        </p:txBody>
      </p:sp>
      <p:sp>
        <p:nvSpPr>
          <p:cNvPr id="12" name="Rectangle 11"/>
          <p:cNvSpPr/>
          <p:nvPr/>
        </p:nvSpPr>
        <p:spPr>
          <a:xfrm>
            <a:off x="8284464" y="1426464"/>
            <a:ext cx="141732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39328" y="1463040"/>
            <a:ext cx="1307592" cy="256032"/>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重点施策</a:t>
            </a:r>
          </a:p>
        </p:txBody>
      </p:sp>
      <p:sp>
        <p:nvSpPr>
          <p:cNvPr id="14" name="Rectangle 13"/>
          <p:cNvSpPr/>
          <p:nvPr/>
        </p:nvSpPr>
        <p:spPr>
          <a:xfrm>
            <a:off x="9720072" y="1426464"/>
            <a:ext cx="21488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74936" y="1463040"/>
            <a:ext cx="2039112" cy="256032"/>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後 ― つながるKPI</a:t>
            </a:r>
          </a:p>
        </p:txBody>
      </p:sp>
      <p:sp>
        <p:nvSpPr>
          <p:cNvPr id="16" name="Rectangle 15"/>
          <p:cNvSpPr/>
          <p:nvPr/>
        </p:nvSpPr>
        <p:spPr>
          <a:xfrm>
            <a:off x="320040" y="1773936"/>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4048" y="1828800"/>
            <a:ext cx="1700784" cy="694944"/>
          </a:xfrm>
          <a:prstGeom prst="rect">
            <a:avLst/>
          </a:prstGeom>
          <a:noFill/>
        </p:spPr>
        <p:txBody>
          <a:bodyPr wrap="square" lIns="0" rIns="0" tIns="0" bIns="0">
            <a:spAutoFit/>
          </a:bodyPr>
          <a:lstStyle/>
          <a:p>
            <a:pPr>
              <a:lnSpc>
                <a:spcPct val="112000"/>
              </a:lnSpc>
            </a:pPr>
            <a:r>
              <a:rPr sz="900" b="1">
                <a:solidFill>
                  <a:srgbClr val="FFFFFF"/>
                </a:solidFill>
                <a:latin typeface="Meiryo UI"/>
                <a:ea typeface="Meiryo UI"/>
              </a:rPr>
              <a:t>1. 市場機会の選択
</a:t>
            </a:r>
            <a:r>
              <a:rPr sz="730" b="0">
                <a:solidFill>
                  <a:srgbClr val="FFFFFF"/>
                </a:solidFill>
                <a:latin typeface="Meiryo UI"/>
                <a:ea typeface="Meiryo UI"/>
              </a:rPr>
              <a:t>どの市場・顧客を重点化するか</a:t>
            </a:r>
          </a:p>
        </p:txBody>
      </p:sp>
      <p:sp>
        <p:nvSpPr>
          <p:cNvPr id="18" name="Rectangle 17"/>
          <p:cNvSpPr/>
          <p:nvPr/>
        </p:nvSpPr>
        <p:spPr>
          <a:xfrm>
            <a:off x="2167128" y="177393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31136" y="1819656"/>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GAP1（消耗戦から脱却できない）。日雑市場は数量▲10〜15%の構造縮小。一方、国民皆歯科健診は政府方針（骨太2022）に明記済みで、予防・健康市場は拡大</a:t>
            </a:r>
          </a:p>
        </p:txBody>
      </p:sp>
      <p:sp>
        <p:nvSpPr>
          <p:cNvPr id="20" name="Rectangle 19"/>
          <p:cNvSpPr/>
          <p:nvPr/>
        </p:nvSpPr>
        <p:spPr>
          <a:xfrm>
            <a:off x="5065776" y="1773936"/>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29784" y="1819656"/>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縮む数量市場ではなく「拡がる予防・健康市場」へ重心を移す。オーラルケアを4分割（補充・悩み・予防・口腔機能）し、撤退ラインはROIC基準で機械的に裁く ― 選択と集中をデータで実行</a:t>
            </a:r>
          </a:p>
        </p:txBody>
      </p:sp>
      <p:sp>
        <p:nvSpPr>
          <p:cNvPr id="22" name="Rectangle 21"/>
          <p:cNvSpPr/>
          <p:nvPr/>
        </p:nvSpPr>
        <p:spPr>
          <a:xfrm>
            <a:off x="8284464" y="177393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48472" y="1819656"/>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施策①
経営管理連携
データ活用
（T1）</a:t>
            </a:r>
          </a:p>
        </p:txBody>
      </p:sp>
      <p:sp>
        <p:nvSpPr>
          <p:cNvPr id="24" name="Rectangle 23"/>
          <p:cNvSpPr/>
          <p:nvPr/>
        </p:nvSpPr>
        <p:spPr>
          <a:xfrm>
            <a:off x="9720072" y="177393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0" y="1819656"/>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強み領域売上比率
65%→80%（FY30）
北極星KPIの分母＝
戦う市場を定義</a:t>
            </a:r>
          </a:p>
        </p:txBody>
      </p:sp>
      <p:sp>
        <p:nvSpPr>
          <p:cNvPr id="26" name="Rectangle 25"/>
          <p:cNvSpPr/>
          <p:nvPr/>
        </p:nvSpPr>
        <p:spPr>
          <a:xfrm>
            <a:off x="320040" y="2615184"/>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4048" y="2670048"/>
            <a:ext cx="1700784" cy="694944"/>
          </a:xfrm>
          <a:prstGeom prst="rect">
            <a:avLst/>
          </a:prstGeom>
          <a:noFill/>
        </p:spPr>
        <p:txBody>
          <a:bodyPr wrap="square" lIns="0" rIns="0" tIns="0" bIns="0">
            <a:spAutoFit/>
          </a:bodyPr>
          <a:lstStyle/>
          <a:p>
            <a:pPr>
              <a:lnSpc>
                <a:spcPct val="112000"/>
              </a:lnSpc>
            </a:pPr>
            <a:r>
              <a:rPr sz="900" b="1">
                <a:solidFill>
                  <a:srgbClr val="FFFFFF"/>
                </a:solidFill>
                <a:latin typeface="Meiryo UI"/>
                <a:ea typeface="Meiryo UI"/>
              </a:rPr>
              <a:t>2. 選ばれる価値の創造
</a:t>
            </a:r>
            <a:r>
              <a:rPr sz="730" b="0">
                <a:solidFill>
                  <a:srgbClr val="FFFFFF"/>
                </a:solidFill>
                <a:latin typeface="Meiryo UI"/>
                <a:ea typeface="Meiryo UI"/>
              </a:rPr>
              <a:t>何を理由に選ばれる会社になるか</a:t>
            </a:r>
          </a:p>
        </p:txBody>
      </p:sp>
      <p:sp>
        <p:nvSpPr>
          <p:cNvPr id="28" name="Rectangle 27"/>
          <p:cNvSpPr/>
          <p:nvPr/>
        </p:nvSpPr>
        <p:spPr>
          <a:xfrm>
            <a:off x="2167128" y="261518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231136" y="2660903"/>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ボトルネック①（知見の非換金）。ゼロクリック66.4%〔ヴァリューズ〕。AIの引用元は自社サイト1%・小売EC17%〔XEO360〕― 広告でなく「根拠」が選ばれる時代</a:t>
            </a:r>
          </a:p>
        </p:txBody>
      </p:sp>
      <p:sp>
        <p:nvSpPr>
          <p:cNvPr id="30" name="Rectangle 29"/>
          <p:cNvSpPr/>
          <p:nvPr/>
        </p:nvSpPr>
        <p:spPr>
          <a:xfrm>
            <a:off x="5065776" y="2615184"/>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29784" y="2660903"/>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30年の臨床データを「人に伝わるエビデンス」と「AIに引用される構造化知識」の両形式に変換（Oral Evidence Hub）。健康の成果（アウトカム）に責任を持つことを選ばれる理由にする</a:t>
            </a:r>
          </a:p>
        </p:txBody>
      </p:sp>
      <p:sp>
        <p:nvSpPr>
          <p:cNvPr id="32" name="Rectangle 31"/>
          <p:cNvSpPr/>
          <p:nvPr/>
        </p:nvSpPr>
        <p:spPr>
          <a:xfrm>
            <a:off x="8284464" y="261518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48472" y="2660903"/>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施策②
AIEO対応
施策⑤
データ統合
（T1・T3）</a:t>
            </a:r>
          </a:p>
        </p:txBody>
      </p:sp>
      <p:sp>
        <p:nvSpPr>
          <p:cNvPr id="34" name="Rectangle 33"/>
          <p:cNvSpPr/>
          <p:nvPr/>
        </p:nvSpPr>
        <p:spPr>
          <a:xfrm>
            <a:off x="9720072" y="261518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84080" y="2660903"/>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AIEO Rate
30%→50%（FY30）
データ武装型商談
比率80%（FY28）</a:t>
            </a:r>
          </a:p>
        </p:txBody>
      </p:sp>
      <p:sp>
        <p:nvSpPr>
          <p:cNvPr id="36" name="Rectangle 35"/>
          <p:cNvSpPr/>
          <p:nvPr/>
        </p:nvSpPr>
        <p:spPr>
          <a:xfrm>
            <a:off x="320040" y="3456432"/>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3511296"/>
            <a:ext cx="1700784" cy="694944"/>
          </a:xfrm>
          <a:prstGeom prst="rect">
            <a:avLst/>
          </a:prstGeom>
          <a:noFill/>
        </p:spPr>
        <p:txBody>
          <a:bodyPr wrap="square" lIns="0" rIns="0" tIns="0" bIns="0">
            <a:spAutoFit/>
          </a:bodyPr>
          <a:lstStyle/>
          <a:p>
            <a:pPr>
              <a:lnSpc>
                <a:spcPct val="112000"/>
              </a:lnSpc>
            </a:pPr>
            <a:r>
              <a:rPr sz="900" b="1">
                <a:solidFill>
                  <a:srgbClr val="FFFFFF"/>
                </a:solidFill>
                <a:latin typeface="Meiryo UI"/>
                <a:ea typeface="Meiryo UI"/>
              </a:rPr>
              <a:t>3. 顧客接点の統合
</a:t>
            </a:r>
            <a:r>
              <a:rPr sz="730" b="0">
                <a:solidFill>
                  <a:srgbClr val="FFFFFF"/>
                </a:solidFill>
                <a:latin typeface="Meiryo UI"/>
                <a:ea typeface="Meiryo UI"/>
              </a:rPr>
              <a:t>認知から受注、継続までをどうつなぐか</a:t>
            </a:r>
          </a:p>
        </p:txBody>
      </p:sp>
      <p:sp>
        <p:nvSpPr>
          <p:cNvPr id="38" name="Rectangle 37"/>
          <p:cNvSpPr/>
          <p:nvPr/>
        </p:nvSpPr>
        <p:spPr>
          <a:xfrm>
            <a:off x="2167128" y="345643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231136" y="3502151"/>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GAP2・3（商談価値ミスマッチ）。リテールメディアは2029年1.3兆円へ〔CARTA〕。ただし日用品購買の約9割は依然店頭〔経産省：EC化率9.78%〕</a:t>
            </a:r>
          </a:p>
        </p:txBody>
      </p:sp>
      <p:sp>
        <p:nvSpPr>
          <p:cNvPr id="40" name="Rectangle 39"/>
          <p:cNvSpPr/>
          <p:nvPr/>
        </p:nvSpPr>
        <p:spPr>
          <a:xfrm>
            <a:off x="5065776" y="3456432"/>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129784" y="3502151"/>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棚・EC・AI推奨・歯科接点をTotal Availabilityの1スコアで統合。小売とは共同KPI（N-t-C・増分粗利）のJBPで結び、商談は「値引き70＋施策30＋成果連動」の受け入れられる設計で持ち込む</a:t>
            </a:r>
          </a:p>
        </p:txBody>
      </p:sp>
      <p:sp>
        <p:nvSpPr>
          <p:cNvPr id="42" name="Rectangle 41"/>
          <p:cNvSpPr/>
          <p:nvPr/>
        </p:nvSpPr>
        <p:spPr>
          <a:xfrm>
            <a:off x="8284464" y="345643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48472" y="3502151"/>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施策③
JBP化×TA
施策⑥
B2B2C商談
（T2・T3）</a:t>
            </a:r>
          </a:p>
        </p:txBody>
      </p:sp>
      <p:sp>
        <p:nvSpPr>
          <p:cNvPr id="44" name="Rectangle 43"/>
          <p:cNvSpPr/>
          <p:nvPr/>
        </p:nvSpPr>
        <p:spPr>
          <a:xfrm>
            <a:off x="9720072" y="345643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784080" y="3502151"/>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TAスコア
70%→90%（FY30）
B2B2C推奨起点売上
5%→15%</a:t>
            </a:r>
          </a:p>
        </p:txBody>
      </p:sp>
      <p:sp>
        <p:nvSpPr>
          <p:cNvPr id="46" name="Rectangle 45"/>
          <p:cNvSpPr/>
          <p:nvPr/>
        </p:nvSpPr>
        <p:spPr>
          <a:xfrm>
            <a:off x="320040" y="4297680"/>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84048" y="4352544"/>
            <a:ext cx="1700784" cy="694944"/>
          </a:xfrm>
          <a:prstGeom prst="rect">
            <a:avLst/>
          </a:prstGeom>
          <a:noFill/>
        </p:spPr>
        <p:txBody>
          <a:bodyPr wrap="square" lIns="0" rIns="0" tIns="0" bIns="0">
            <a:spAutoFit/>
          </a:bodyPr>
          <a:lstStyle/>
          <a:p>
            <a:pPr>
              <a:lnSpc>
                <a:spcPct val="112000"/>
              </a:lnSpc>
            </a:pPr>
            <a:r>
              <a:rPr sz="900" b="1">
                <a:solidFill>
                  <a:srgbClr val="FFFFFF"/>
                </a:solidFill>
                <a:latin typeface="Meiryo UI"/>
                <a:ea typeface="Meiryo UI"/>
              </a:rPr>
              <a:t>4. 顧客資本の蓄積
</a:t>
            </a:r>
            <a:r>
              <a:rPr sz="730" b="0">
                <a:solidFill>
                  <a:srgbClr val="FFFFFF"/>
                </a:solidFill>
                <a:latin typeface="Meiryo UI"/>
                <a:ea typeface="Meiryo UI"/>
              </a:rPr>
              <a:t>顧客との関係を企業資産にできているか</a:t>
            </a:r>
          </a:p>
        </p:txBody>
      </p:sp>
      <p:sp>
        <p:nvSpPr>
          <p:cNvPr id="48" name="Rectangle 47"/>
          <p:cNvSpPr/>
          <p:nvPr/>
        </p:nvSpPr>
        <p:spPr>
          <a:xfrm>
            <a:off x="2167128" y="42976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231136" y="4343400"/>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Cookie消滅・自前データの劣後（W3）。AI回答への信頼は低く（正味信頼37 vs 家族・友人86〔McKinsey〕）、信頼確認は「人」へ回帰する</a:t>
            </a:r>
          </a:p>
        </p:txBody>
      </p:sp>
      <p:sp>
        <p:nvSpPr>
          <p:cNvPr id="50" name="Rectangle 49"/>
          <p:cNvSpPr/>
          <p:nvPr/>
        </p:nvSpPr>
        <p:spPr>
          <a:xfrm>
            <a:off x="5065776" y="4297680"/>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129784" y="4343400"/>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LION IDを「クーポン配布」から「口腔健康のOS」へ転換。測るのは行動 ― C＝リピート・定期登録・90日継続／B＝共同事業件数・増分粗利／E＝推奨起点売上。統合報告書へ開示</a:t>
            </a:r>
          </a:p>
        </p:txBody>
      </p:sp>
      <p:sp>
        <p:nvSpPr>
          <p:cNvPr id="52" name="Rectangle 51"/>
          <p:cNvSpPr/>
          <p:nvPr/>
        </p:nvSpPr>
        <p:spPr>
          <a:xfrm>
            <a:off x="8284464" y="42976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348472" y="4343400"/>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施策④
LION ID
OS化＋顧客
資本KPI設計
（T2）</a:t>
            </a:r>
          </a:p>
        </p:txBody>
      </p:sp>
      <p:sp>
        <p:nvSpPr>
          <p:cNvPr id="54" name="Rectangle 53"/>
          <p:cNvSpPr/>
          <p:nvPr/>
        </p:nvSpPr>
        <p:spPr>
          <a:xfrm>
            <a:off x="9720072" y="42976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784080" y="4343400"/>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アクティブLION ID
KOIC
90日継続率・
定期購入登録数</a:t>
            </a:r>
          </a:p>
        </p:txBody>
      </p:sp>
      <p:sp>
        <p:nvSpPr>
          <p:cNvPr id="56" name="Rectangle 55"/>
          <p:cNvSpPr/>
          <p:nvPr/>
        </p:nvSpPr>
        <p:spPr>
          <a:xfrm>
            <a:off x="320040" y="5138928"/>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84048" y="5193792"/>
            <a:ext cx="1700784" cy="694944"/>
          </a:xfrm>
          <a:prstGeom prst="rect">
            <a:avLst/>
          </a:prstGeom>
          <a:noFill/>
        </p:spPr>
        <p:txBody>
          <a:bodyPr wrap="square" lIns="0" rIns="0" tIns="0" bIns="0">
            <a:spAutoFit/>
          </a:bodyPr>
          <a:lstStyle/>
          <a:p>
            <a:pPr>
              <a:lnSpc>
                <a:spcPct val="112000"/>
              </a:lnSpc>
            </a:pPr>
            <a:r>
              <a:rPr sz="900" b="1">
                <a:solidFill>
                  <a:srgbClr val="FFFFFF"/>
                </a:solidFill>
                <a:latin typeface="Meiryo UI"/>
                <a:ea typeface="Meiryo UI"/>
              </a:rPr>
              <a:t>5. 実行能力と成果管理
</a:t>
            </a:r>
            <a:r>
              <a:rPr sz="730" b="0">
                <a:solidFill>
                  <a:srgbClr val="FFFFFF"/>
                </a:solidFill>
                <a:latin typeface="Meiryo UI"/>
                <a:ea typeface="Meiryo UI"/>
              </a:rPr>
              <a:t>誰が、何を担い、どの指標で評価するか</a:t>
            </a:r>
          </a:p>
        </p:txBody>
      </p:sp>
      <p:sp>
        <p:nvSpPr>
          <p:cNvPr id="58" name="Rectangle 57"/>
          <p:cNvSpPr/>
          <p:nvPr/>
        </p:nvSpPr>
        <p:spPr>
          <a:xfrm>
            <a:off x="2167128" y="51389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231136" y="5184648"/>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ボトルネック②③（内向き慣性・切迫感）。生成AI普及は1年で約3倍〔総務省白書R7〕＝期限は自社で選べない。対P&amp;G生産性格差は約7.6倍</a:t>
            </a:r>
          </a:p>
        </p:txBody>
      </p:sp>
      <p:sp>
        <p:nvSpPr>
          <p:cNvPr id="60" name="Rectangle 59"/>
          <p:cNvSpPr/>
          <p:nvPr/>
        </p:nvSpPr>
        <p:spPr>
          <a:xfrm>
            <a:off x="5065776" y="5138928"/>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129784" y="5184648"/>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Input業務ゼロ化で時間を生み、アカウントスクワッド×北極星KPI（増分粗利）で全部門を束ねる。役員オーナー制＋撤退基準＋検証責任を提案側が持つ「実行の作法」で真因を制度的に解消</a:t>
            </a:r>
          </a:p>
        </p:txBody>
      </p:sp>
      <p:sp>
        <p:nvSpPr>
          <p:cNvPr id="62" name="Rectangle 61"/>
          <p:cNvSpPr/>
          <p:nvPr/>
        </p:nvSpPr>
        <p:spPr>
          <a:xfrm>
            <a:off x="8284464" y="51389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348472" y="5184648"/>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施策⑦
Input業務
ゼロ化
施策⑧
RevOps（T4）</a:t>
            </a:r>
          </a:p>
        </p:txBody>
      </p:sp>
      <p:sp>
        <p:nvSpPr>
          <p:cNvPr id="64" name="Rectangle 63"/>
          <p:cNvSpPr/>
          <p:nvPr/>
        </p:nvSpPr>
        <p:spPr>
          <a:xfrm>
            <a:off x="9720072" y="51389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784080" y="5184648"/>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Input削減
50%→80%
RevOps共有KPI
達成率</a:t>
            </a:r>
          </a:p>
        </p:txBody>
      </p:sp>
      <p:sp>
        <p:nvSpPr>
          <p:cNvPr id="66" name="Rectangle 65"/>
          <p:cNvSpPr/>
          <p:nvPr/>
        </p:nvSpPr>
        <p:spPr>
          <a:xfrm>
            <a:off x="320040" y="5998464"/>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57200" y="6044184"/>
            <a:ext cx="11292840" cy="475488"/>
          </a:xfrm>
          <a:prstGeom prst="rect">
            <a:avLst/>
          </a:prstGeom>
          <a:noFill/>
        </p:spPr>
        <p:txBody>
          <a:bodyPr wrap="square" lIns="0" rIns="0" tIns="0" bIns="0">
            <a:spAutoFit/>
          </a:bodyPr>
          <a:lstStyle/>
          <a:p>
            <a:pPr>
              <a:lnSpc>
                <a:spcPct val="118000"/>
              </a:lnSpc>
            </a:pPr>
            <a:r>
              <a:rPr sz="880" b="1">
                <a:solidFill>
                  <a:srgbClr val="008D2E"/>
                </a:solidFill>
                <a:latin typeface="Meiryo UI"/>
                <a:ea typeface="Meiryo UI"/>
              </a:rPr>
              <a:t>MECEの根拠と「線」の設計：</a:t>
            </a:r>
            <a:r>
              <a:rPr sz="830" b="0">
                <a:solidFill>
                  <a:srgbClr val="262626"/>
                </a:solidFill>
                <a:latin typeface="Meiryo UI"/>
                <a:ea typeface="Meiryo UI"/>
              </a:rPr>
              <a:t>5テーマは「選ぶ→定める→届ける→蓄える→回す」というバリューチェーンの完全分割（漏れ・重複なし）。8施策は各テーマに排他的に割当てつつ、テーマ間の受け渡し ― ②の根拠が③の商談武器になり、③の接点が④のID獲得口になり、⑤が全テーマの時間と評価を支える ― を「線」として設計し、点の寄せ集めにしない。</a:t>
            </a:r>
          </a:p>
        </p:txBody>
      </p:sp>
      <p:sp>
        <p:nvSpPr>
          <p:cNvPr id="68" name="TextBox 67"/>
          <p:cNvSpPr txBox="1"/>
          <p:nvPr/>
        </p:nvSpPr>
        <p:spPr>
          <a:xfrm>
            <a:off x="320040" y="6601968"/>
            <a:ext cx="7315200" cy="201168"/>
          </a:xfrm>
          <a:prstGeom prst="rect">
            <a:avLst/>
          </a:prstGeom>
          <a:noFill/>
        </p:spPr>
        <p:txBody>
          <a:bodyPr wrap="square" lIns="0" rIns="0" tIns="0" bIns="0">
            <a:spAutoFit/>
          </a:bodyPr>
          <a:lstStyle/>
          <a:p>
            <a:pPr>
              <a:lnSpc>
                <a:spcPct val="112000"/>
              </a:lnSpc>
            </a:pPr>
            <a:r>
              <a:rPr sz="700" b="0">
                <a:solidFill>
                  <a:srgbClr val="595959"/>
                </a:solidFill>
                <a:latin typeface="Meiryo UI"/>
                <a:ea typeface="Meiryo UI"/>
              </a:rPr>
              <a:t>LION Corporation ｜ 営業・マーケティングDX戦略 検討アジェンダ（P.6「真因・GAP分析」後続）</a:t>
            </a:r>
          </a:p>
        </p:txBody>
      </p:sp>
      <p:sp>
        <p:nvSpPr>
          <p:cNvPr id="69" name="TextBox 68"/>
          <p:cNvSpPr txBox="1"/>
          <p:nvPr/>
        </p:nvSpPr>
        <p:spPr>
          <a:xfrm>
            <a:off x="11521440" y="6601968"/>
            <a:ext cx="365760" cy="201168"/>
          </a:xfrm>
          <a:prstGeom prst="rect">
            <a:avLst/>
          </a:prstGeom>
          <a:noFill/>
        </p:spPr>
        <p:txBody>
          <a:bodyPr wrap="square" lIns="0" rIns="0" tIns="0" bIns="0">
            <a:spAutoFit/>
          </a:bodyPr>
          <a:lstStyle/>
          <a:p>
            <a:pPr>
              <a:lnSpc>
                <a:spcPct val="112000"/>
              </a:lnSpc>
            </a:pPr>
            <a:r>
              <a:rPr sz="900" b="0">
                <a:solidFill>
                  <a:srgbClr val="595959"/>
                </a:solidFill>
                <a:latin typeface="Meiryo UI"/>
                <a:ea typeface="Meiryo UI"/>
              </a:rPr>
              <a:t>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10519</TotalTime>
  <Words>2810</Words>
  <Application>Microsoft Office PowerPoint</Application>
  <PresentationFormat>ワイド画面</PresentationFormat>
  <Paragraphs>379</Paragraphs>
  <Slides>12</Slides>
  <Notes>12</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12</vt:i4>
      </vt:variant>
    </vt:vector>
  </HeadingPairs>
  <TitlesOfParts>
    <vt:vector size="15" baseType="lpstr">
      <vt:lpstr>Meiryo UI</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菊池　智裕</cp:lastModifiedBy>
  <cp:revision>2</cp:revision>
  <dcterms:created xsi:type="dcterms:W3CDTF">2026-08-03T08:16:43Z</dcterms:created>
  <dcterms:modified xsi:type="dcterms:W3CDTF">2026-08-11T12:21:47Z</dcterms:modified>
</cp:coreProperties>
</file>