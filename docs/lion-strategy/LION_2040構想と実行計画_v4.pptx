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全体計画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2040年構想と、布石としての実行計画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日用品を「売る」会社から、予防習慣の「社会インフラ」へ 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世の中の変化（PEST）・消費者/小売/競合・自社の強み弱み・問題の根っこ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予防習慣インフラ企業への転換 ― ライオンにしか張れない「3つの大きな賭け」とバックキャスト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4281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布石の実行 ― 「外されない（守り）」と「指名される（攻め）」、受け入れられる商談設計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6268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 / When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少人数専任の体制と、90日〜2040年の時間割・3つの確認ポイント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01091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</a:t>
            </a:r>
            <a:pPr indent="0" marL="0">
              <a:buNone/>
            </a:pPr>
            <a:r>
              <a:rPr lang="en-US" sz="120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投資と効果、部門ごとのリターン、KGIとKPI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553212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この一冊で完結する構成　|　時間軸は「AIでの検索・購入は既に始まっている」事実を前提に設定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全体の要約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計画の要点 ― 1枚でわかる全体像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2040年の到達点（予防習慣インフラ企業）から逆算し、ライオンにしか張れない3つの賭けを定める。足元の施策はすべてその布石である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64008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630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48132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日用品を「売る」会社から、予防・衛生の習慣を社会に実装し、その習慣ごとAI購買の初期設定になる「予防習慣インフラ企業」へ。賭けは3つ：①予防医療×資源循環の制度インフラ化　②AI時代の「習慣の初期設定」の独占　③小売の業態転換への共進化。いずれも資本で買えない自社資産（歯科医師会・学校・自治体ルート、30年の臨床データ、小売との信頼）の上にしか建たない ― ライオンにしか張れない賭け。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86000"/>
            <a:ext cx="64008" cy="74980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2860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環境認識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30428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での検索は既に主流化（調べ物の66.4%はサイトを開かず完結）、米国ではAI画面内の購入代行が開始済み、小売の広告事業も急成長中、国民皆歯科健診も既に始動。2040年の変化の多くは現在進行形であり、賭けに出る時間は長くない。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08960"/>
            <a:ext cx="64008" cy="74980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1089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How（布石）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12724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守り＝AIと小売の仕組みから「外されない」5つの対策を24か月以内に。攻め＝社内3つのデータをつなげた「提案の根拠」づくり。ただし価値提案は正しさでは採用されないため、値引きと組み合わせたパッケージ・小売データでの検証・成果連動で持ち込む。すべての施策は3つの賭けに資産として積み上がる布石であり、単発の対処ではない。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931920"/>
            <a:ext cx="64008" cy="74980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931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Who（体制）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95020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ふだんの仕事と変革を分離。経営会議＋推進事務局5名＋実行チーム（専任5名・兼任10名）＋橋渡し役5名。人は社内から、外部採用は2職種だけ。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754880"/>
            <a:ext cx="64008" cy="74980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475488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When（時間割）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77316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2040年から逆算：2040＝制度とAIの初期設定を握る → 2035＝賭けが収益の柱に → 2030＝基盤完成 → 2027＝最初の実証。確認ポイント3回に合格したときだけ投資と組織変更を広げる。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02920" y="5577840"/>
            <a:ext cx="160020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577840"/>
            <a:ext cx="64008" cy="74980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" y="55778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Much（効果）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5596128"/>
            <a:ext cx="9372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5年で30〜50億円、効果は年45〜95億円で2〜3年回収。ただし本当のリターンは効率化ではなく、2040年の「制度・習慣・小売共同事業」という参入障壁そのもの。KGIは3つ：利益率／買い続けてもらう売上の割合／AI・小売の仕組みへの登録数。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1/4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世の中の変化（PEST分析）― それぞれの変化は「いま」どこまで来ているか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政治・経済・社会・技術の変化を、現在地とセットで整理する。8項目中5項目は既に発生・進行中 ― 対応の期限は自社では動かせない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1143000"/>
                <a:gridCol w="3246120"/>
                <a:gridCol w="33649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根拠・状況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当社への意味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環境情報の開示義務化、容器の回収・再利用の義務化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一部は決定済み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大企業への開示義務化は決定済みで順次適用。容器の完全回収はまだ先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環境データの整備は「期限のある仕事」。小売の取引条件になっていく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規制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個人データ規制の強化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外部データに頼る広告は既に効きにくくなっている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小売の販売データとの連携が広告の主戦場になる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低価格品と高付加価値品への二極化、中間価格帯の空洞化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小売の自主企画商品の拡大と値上げ浸透で、二極化は既に現実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中間の「普通の商品」は値引き勝負に沈む。根拠ある高付加価値へ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働き手の減少（労働人口▲956万人へ）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営業現場・店舗の人手不足は既に顕在化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人手に頼る営業・店頭作業は続けられない。生産性が生存条件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高齢化と、予防・健康への関心の高まり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既に進行中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65歳以上は人口の約3割。予防・セルフケア市場は拡大中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「病気を治す」より「予防の習慣」に価値が移る ― 当社の得意領域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国民皆歯科健診（国の方針としての歯科健診拡大）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既に始動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政府方針に明記済みで、制度化の検討が進行中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オーラルケアが「日用品」から「国の健康施策のインフラ」へ格上げされる好機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AIでの検索が主流化し、サイトを見ずに調べ物が終わる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既に発生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調べ物の66.4%はサイトを開かず完結（2026年4月・国内調査）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AIに認識されないブランドは、比較の土俵に載る前に消える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AIが人の代わりに商品を選び、購入まで行う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海外で開始済み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米国では2025年にAI画面内の決済・購入代行が開始。国内も2〜3年で拡大見込み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「何を買うか」の決定権がAIに移る。定期購入の初期設定が主戦場に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27648"/>
            <a:ext cx="11185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出典は公開情報にもとづく（最新値は要確認）。赤＝既に発生・進行中、橙＝一部開始・数年内、灰＝まだ先。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2/4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消費者・小売・競合の変化（3C分析）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消費者の「選び方」が変わり、それを受けて小売の「稼ぎ方」が変わり、競合は既に対応を始めている ― この連鎖の中に当社がいる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99616"/>
          <a:ext cx="111858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77640"/>
                <a:gridCol w="3383280"/>
                <a:gridCol w="290779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既に起きていること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この先2〜5年で起きること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当社が取るべき構え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「調べて選ぶ」は既にAIへ移行中。「自動で届く」買い方（定期便）も普及済み。消費は「とことん安く」と「健康・生活の質への投資」に二極化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AIによる購入の完全代行が国内でも広がる。こだわる商品は自分で選び、消耗品はAI任せ ― 買い方が二層に分かれる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こだわり層には「根拠と習慣」で選ばれ、AI任せ層では「初期設定」に入り込む ― 二層それぞれに手を打つ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小売・卸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物販の利益が細り、広告事業（自社アプリ・サイネージ・会員向け配信）が既に急成長中。「データで売れる根拠を示せるメーカー」を優先し始めている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広告・データ収入が主要な利益源になり、取引の条件は「仕入値」から「データでの貢献度」へ移る。店舗運営の自動化も進む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値引きではなく「売場とデータで小売の利益に貢献する提案」ができるメーカーになる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花王：AIが自社・競合をどう紹介するかの監視を既に運用。消費者データ基盤も稼働済み。P&amp;G：大規模な生産性改革を終え、浮いた資金をAIに再投資する段階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資本力に加えて「仕組みの差」が広がる。AI・データ対応の遅れたメーカーから順に、棚とAIの推奨から外れていく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同じ土俵（資本・データ量）では戦わない。競合が持たない「臨床データ×信頼ルート」で勝負する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オーラルケア・ハンドソープで国内トップ。ただしマーケと営業のデータ・目標は分断し、事務作業が時間を奪い、AIが自社商品をどう扱っているかを誰も知らない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このままでは、強みが提案に使われないまま、AIと小売の仕組みから静かに外されていく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次ページ以降：強みを整理し（SWOT）、問題の根っこを特定し、解決策につなぐ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AIの影響は「どこで買うか」より先に「何を買うか」に現れる。店頭で買う人も調べるのはAI。だからネット販売比率が低い今でも、AI対応は先送りできない。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3/4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自社の強み・弱み（SWOT）と勝ち筋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強みはAI時代にむしろ価値が上がる。弱みは「期限のある弱み」に変わった。掛け合わせから勝ち筋を一文で定める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99616"/>
            <a:ext cx="5541264" cy="18836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99616"/>
            <a:ext cx="5541264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強み（S）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・オーラルケア／ハンドソープで国内トップのブランドと認知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・歯科医師会・学校・幼稚園・自治体との信頼関係と啓発活動 ― お金では買えない参入障壁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・約30年の臨床・行動データと、医薬品（OTC）の知見 ― AIが「引用したくなる」科学的根拠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81344" y="1499616"/>
            <a:ext cx="5541264" cy="1883664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81344" y="1499616"/>
            <a:ext cx="5541264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99616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弱み（W）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83664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・マーケと営業のデータ・目標が分断し、知見が提案に使われない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・事務作業が時間を奪う（1人あたり生産性は対P&amp;Gで約7.6倍の差）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・自社で消費者データを持たず、AIでの扱われ方も未計測 ― 期限のある弱み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5541264" cy="18836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493008"/>
            <a:ext cx="5541264" cy="3108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機会（O）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・国民皆歯科健診など予防の国策化（既に始動）― オーラルケアの地位が上がる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・小売の広告事業の急成長 ― 値引きに代わる投資先が既にある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・AIは根拠ある情報源を引用する ― 臨床データを公開すれば強みが直接効く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181344" y="3493008"/>
            <a:ext cx="5541264" cy="188366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493008"/>
            <a:ext cx="5541264" cy="3108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9300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脅威（T）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877056"/>
            <a:ext cx="52852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・AI・小売の仕組みによる「自動的な取り扱い外し」（データ不備の商品から順に）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・花王・P&amp;Gは既にAI監視・生産性改革を運用 ― 差が現在進行形で拡大</a:t>
            </a:r>
            <a:endParaRPr lang="en-US" sz="8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・値引き競争の継続による消耗と利益率の低下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9612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勝ち筋（一文で）：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買えない3つの資産（制度・職能ネットワーク、30年の臨床データ、小売との信頼）を、AIと制度が購買を決める2040年の「社会インフラ」に転換する。目の前の守り（外されない対応）はそのための時間稼ぎであり、目的ではない ― 構想の全体像を次章で示す。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環境分析 4/4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 → 根っこ（真因）→ 変革テーマのつながり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現場の問題を根っこまで掘り下げ、根っこ1つにつき変革テーマを1つ立てる。以降の資料は、この番号と色が最後までつながる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現場に見えている問題（主＝一番効く根っこ、副＝関係する根っこ）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837944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値引き・特売の条件交渉に、時間と利益を吸い取られている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4507992" y="1938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3852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596896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262432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バイヤーが欲しい「売れる根拠の数字」を出せず、提案が刺さらない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34107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研究部門の知見が営業の提案に使われず、社内に眠っている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3511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51129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副②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169664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419709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資料作成・集計などの事務作業が、営業・マーケの時間を奪う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29768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副③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4956048"/>
            <a:ext cx="507492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9834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AIが自社商品をどう紹介しているか、誰も知らない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07992" y="50840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2461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63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根っこ（真因）と、対応する変革テーマ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1810512"/>
            <a:ext cx="5422392" cy="95097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810512"/>
            <a:ext cx="73152" cy="95097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56232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根っこ①　知見を提案に変える仕組みがない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研究・マーケ・営業のデータと目標が分断され、30年分の知見が「バイヤーに刺さる数字」に変換されない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9" name="Text 37"/>
          <p:cNvSpPr/>
          <p:nvPr/>
        </p:nvSpPr>
        <p:spPr>
          <a:xfrm>
            <a:off x="10314432" y="20116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根拠づくり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2834640"/>
            <a:ext cx="5422392" cy="95097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834640"/>
            <a:ext cx="73152" cy="95097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2880360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根っこ②　時間がない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事務作業を「仕方ない苦労」と許容する慣性。提案づくりや対話に使う時間が構造的に残らない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10314432" y="303580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時間づくり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858768"/>
            <a:ext cx="5422392" cy="950976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858768"/>
            <a:ext cx="73152" cy="95097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3904488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根っこ③　動機がない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評価が短期の売上に偏り、データ活用や部門連携に取り組んだ人が報われない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49" name="Text 47"/>
          <p:cNvSpPr/>
          <p:nvPr/>
        </p:nvSpPr>
        <p:spPr>
          <a:xfrm>
            <a:off x="10314432" y="4059936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動機づくり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4882896"/>
            <a:ext cx="5422392" cy="95097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4882896"/>
            <a:ext cx="73152" cy="9509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4928616"/>
            <a:ext cx="3794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根っこ④　時間軸の誤認
</a:t>
            </a:r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既に始まった変化（AI検索・小売の広告事業化）を「遠い未来の話」として扱い、対応を後回しにする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4" name="Text 52"/>
          <p:cNvSpPr/>
          <p:nvPr/>
        </p:nvSpPr>
        <p:spPr>
          <a:xfrm>
            <a:off x="10314432" y="5084064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土俵の確保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602589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対応の原則：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根っこ1つにつきテーマ1つ。ただしテーマは「目の前の対処」で終わらせない ― 次章でまず、この変革が向かう2040年の絵（3つの大きな賭け）を示し、テーマ①〜④をその布石として位置づけ直す。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1/6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 ―「予防習慣インフラ企業」への転換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効率化や商談改善は目的ではない。2040年に「制度とAIが購買を決める世界」で、その制度とAIの初期設定を握っている会社になる ― それが到達点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8229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日用品を「売る」会社から、予防・衛生の習慣を社会に実装し、</a:t>
            </a:r>
            <a:pPr indent="0" marL="0">
              <a:buNone/>
            </a:pPr>
            <a:r>
              <a:rPr lang="en-US" sz="145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その習慣ごと、制度とAIの「初期設定」になる会社へ。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ライオンにしか張れない「3つの大きな賭け」― いずれも資本で買えない自社資産の上にしか建たない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16352"/>
            <a:ext cx="3639312" cy="26517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816352"/>
            <a:ext cx="3639312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2816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予防医療×資源循環の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「制度インフラ化」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" y="385876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国民皆歯科健診・容器回収義務化という「国の動き」の実装パートナーになる。商品が制度に組み込まれれば、広告費では崩せない参入障壁になる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30936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土台の資産：歯科医師会・学校・幼稚園・自治体との排他的ネットワーク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270248" y="2816352"/>
            <a:ext cx="3639312" cy="26517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2816352"/>
            <a:ext cx="3639312" cy="3108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4398264" y="2816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98264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AI購買時代の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「習慣の初期設定」の独占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98264" y="385876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購買の決定権が人からAIへ移る。AIの初期値は「過去の習慣・定期設定・信頼できる情報源」から作られる ― 幼少期からの習慣形成を握る者がAIのデフォルトを握る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398264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土台の資産：30年の臨床・行動データと、習慣形成の現場（学校・歯科）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037576" y="2816352"/>
            <a:ext cx="3639312" cy="26517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2816352"/>
            <a:ext cx="3639312" cy="3108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165592" y="28163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65592" y="32186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小売の業態転換への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「共進化」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65592" y="385876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小売は物販から「データ・広告・循環拠点」へ業態転換する。その新収益（広告・回収）の共同運営者に入り込む ―「仕入先の一つ」から「業態転換の相棒」へ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165592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土台の資産：買い場を共に作ってきた小売との信頼関係と営業網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02920" y="5669280"/>
            <a:ext cx="11185855" cy="7772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705856"/>
            <a:ext cx="1072865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なぜこの3つなのか：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P&amp;G・花王は資本・データ量・仕組みで勝る。同じ土俵の延長線（効率化・データ整備の速さ比べ）では、差は縮まっても逆転しない。逆転の条件は「相手が構造的に持てない資産」を土俵にすること ― 制度との接続、習慣形成の現場、小売との共同事業。この3つは、お金と時間を積んでも後から買えない。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2/6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賭け1 予防医療×資源循環の「制度インフラ化」― 商品を制度に組み込む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「良い商品を選んでもらう」競争から降り、「制度が推奨する仕組み」の側に回る。国民皆歯科健診と容器回収義務化は、そのための歴史的な入口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117043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1170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何を賭けるか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65376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民皆歯科健診（既に政府方針に明記）の「実装パートナー」の座。検診の啓発教材・セルフケア指導・家庭での実践プログラムを、歯科医師会と共同で全国の学校・自治体に実装する。あわせて、容器回収義務化を先取りした「店頭回収の共同運営」を小売と構築する（賭け3と接続）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1185855" cy="117043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79776"/>
            <a:ext cx="64008" cy="1170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なぜライオンだけか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127248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学生歯みがき大会・幼稚園/自治体の衛生教育・歯科医院との関係は、数十年かけて築いた「公共性のある信頼」。競合が広告費で参入すれば「営利の売り込み」になるが、ライオンは「いつもの啓発活動の延長」として制度側から迎えられる ― この非対称性が賭けの根拠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02920" y="4041648"/>
            <a:ext cx="11185855" cy="117043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41648"/>
            <a:ext cx="64008" cy="1170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05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・衛生習慣の啓発と実践支援が「国の健康政策の実装網」の一部になり、商品は制度経由で推奨される（テレビ広告に頼らない指名）。店頭回収網は「環境義務を果たせる買い場」として小売の標準装備になり、その共同運営者としてライオンが組み込まれている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02920" y="5303520"/>
            <a:ext cx="11185855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303520"/>
            <a:ext cx="64008" cy="8686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67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足元の布石（既に計画内）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50992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政策対応チームの今年組成／歯科医院アプリβ・学校教材のデジタル化（テーマ①④）／環境データの整備・公開（テーマ④-2）― 小さく見える一歩は、すべてこの賭けへの頭金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02920" y="6126480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163056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この賭けの意味：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2040年、消費者もAIも「制度が推奨するもの」を疑わない。制度の中に入った商品は、比較検討の外側で選ばれ続ける。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3/6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賭け2 AI購買時代の「習慣の初期設定」の独占 ― 見えない棚を先に取る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2040年の棚は店頭ではなく、AIの推奨リストと自動補充の設定の中にある。この「見えない棚」は早い者勝ちで、一度固定されると動かない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AIが商品を選ぶ3つの入口 ― そのすべてに、ライオンは布石を打てる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85855" cy="11430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64008" cy="11430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入口1 過去の習慣・定期設定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AIは利用者の過去の購買と定期設定を初期値として引き継ぐ。人が最初に選んだものが、そのままAIのデフォルトになる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布石：定期購入の獲得（テーマ④-3）と、幼少期からの習慣形成（学校・歯科・幼稚園のルート）― 習慣を作った者が初期値を作る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11185855" cy="11430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63240"/>
            <a:ext cx="64008" cy="11430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入口2 信頼できる情報源の引用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410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AIは推奨の根拠として、権威性のある情報源（学会・医療機関・公的機関）を引用する。広告は引用されない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布石：30年の臨床データと歯科医師会との共同発信をAIが読める形で公開（テーマ④-2）― 競合が広告費で作れない「引用される側」の地位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11185855" cy="11430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297680"/>
            <a:ext cx="64008" cy="114300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61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入口3 構造化データへの適合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6451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AIと小売の自動発注は、成分・環境・価格のデータが機械で読める商品しか比較の土俵に載せない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8580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4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布石：商品・環境データの整備と公開（テーマ④-2・4）― 足切りを回避する最低条件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66013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2040年の姿と、この賭けの非対称性：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主要カテゴリでAI推奨・自動補充のシェアNo.1＝「見えない棚」の独占。入口1と2は、データ量や資本では取れない ― 人の習慣は現場（学校・歯科・売場）でしか作れず、権威性は歴史でしか作れない。物量で勝る競合に対し、ライオンだけが3つの入口すべてに正面から張れる。だからこの賭けは「勝てる賭け」である。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4/6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賭け3 小売の業態転換への「共進化」― 相手の新しい稼ぎ方の中に入り込む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小売は物販の利益が細り、「広告・データ・循環拠点」へ業態を変えていく。その転換を手伝う者だけが、転換後の世界に席を持つ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1298448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12984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何を賭けるか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47088"/>
            <a:ext cx="10881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3つの新収益すべてに共同運営者として入り込む。①広告：習慣データ×小売の販売データで「リピートを生む広告商品」を小売と共同開発（単なる出稿主ではなく、広告商品を設計する側に回る）②データ：一般消費者データは小売に「乗り」、自社は歯科・薬事の専門データだけを持つ二階建てで、互いに欠けない関係を作る　③循環：店頭の容器回収を物流・環境部門ごと持ち込む総力戦で共同運営する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85855" cy="1078992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07792"/>
            <a:ext cx="64008" cy="10789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62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なぜライオンだけか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36976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P&amp;Gは規模で小売と「対峙」し、自前のデータで小売を迂回しようとする。ライオンは規模で対峙できない ― だからこそ「小売の稼ぎ方の転換を一緒にやる」道が開いている。買い場を共に作ってきた数十年の信頼と、環境・物流まで持ち込める組織の距離の近さは、規模の大きい competitor には構造的に取れないポジション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11185855" cy="1078992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78224"/>
            <a:ext cx="64008" cy="10789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07408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チェーンとの年間契約が「商品の仕入れ」ではなく「カテゴリ成長＋広告共同事業＋回収共同運営」の三位一体になっている。小売の新収益にライオンが組み込まれ、棚とAI推奨の優先権が構造的についてくる ― 値引き交渉は、この関係の中では発生しようがない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5248656"/>
            <a:ext cx="1118585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248656"/>
            <a:ext cx="64008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足元の布石（既に計画内）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57784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値引きと組み合わせた商談パッケージ（How 6/7）は、この共同事業の「最初の共同実験」。小売広告枠の試行（テーマ④-5）・小売データでの共同検証（設計3）・回収オペの検討 ― 全部この賭けの入口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6172200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208776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この賭けの意味：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「値引きからの脱却」は商談テクニックでは実現しない。小売の収益構造の中に入り込んだとき、初めて構造として消える。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5/6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2040年からのバックキャスト ― 逆算すると「今年やるべきこと」が決まる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3つの賭けを2040年から逆算する。右端（今年の布石）は小さく見えるが、この逆算表の中では「賭けの頭金」である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697480"/>
                <a:gridCol w="2514600"/>
                <a:gridCol w="2514600"/>
                <a:gridCol w="21305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2040年（到達点）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2035年（収益の柱）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2030年（基盤完成）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2027年（最初の布石）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賭け1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制度インフラ化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オーラルケア・衛生の啓発が国の健康政策の実装網に。商品は制度経由で推奨される。店頭回収網の共同運営者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皆歯科健診関連（教材・アプリ・指導プログラム）が収益の柱の一角に。主要自治体と包括連携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健診・教育のデジタル基盤が主要自治体・学校で稼働。回収の共同実験を主要チェーンで開始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政策対応チーム組成。歯科医院アプリβ。学校教材のデジタル化。環境データ整備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賭け2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習慣の初期設定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主要カテゴリでAI推奨・自動補充シェアNo.1＝「見えない棚」の独占。習慣グラフがAIの標準的な引用元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AI経由売上が主要チャネルに。臨床データがAIに常時引用される「信頼情報源」の地位を確立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定期購入基盤の確立。商品・研究情報の公開100%。AI推奨シェアの計測で業界トップ水準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AIでの扱われ方の実測開始。情報公開に着手。定期化設計。研究知見の一覧化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賭け3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小売との共進化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主要チェーンとの年間契約が「成長＋広告＋回収」の三位一体に。値引き交渉が構造的に消滅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リピート保証型の広告商品が主要チェーンの標準に。回収共同オペの実装。共同事業の収益化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小売データでの共同検証が標準化。共同広告商品の第1号。組織対組織の年間契約3〜5社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値引き70＋施策30パッケージの最初の実証。小売広告枠の試行。共同検証の設計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7784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1441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右へ読めば「壮大な絵」、右から左へ読めば「今年の仕事」。この表があるから、目の前の施策（AI実測・歯科アプリ・値引きパッケージ）は対処療法ではなく布石だと言い切れる。逆に、この表のどこにも載らない施策は、どれだけ目先の効果があってもやらない ― それが「小さくならない」ための規律。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2040年構想 6/6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布石マップ ― 足元の施策は、どの賭けの資産に積み上がるか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テーマ①〜④の施策（次章）を3つの賭けに接続する。1つの施策が複数の賭けに効く ― だから小さな投資で大きな絵が進む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77240"/>
                <a:gridCol w="868680"/>
                <a:gridCol w="868680"/>
                <a:gridCol w="52852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足元の施策（次章で詳述）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制度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AI初期設定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賭け3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小売共進化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積み上がる資産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AIでの扱われ方の実測と是正（④-1）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「見えない棚」の現在地を知る唯一の計器。賭け2の進捗を測る物差しそのもの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商品・研究情報の整備と公開（④-2）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AIに引用される「信頼情報源」の地位＋制度連携で使う啓発コンテンツの原料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定期購入の獲得（④-3）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AI時代に引き継がれる初期設定＋小売ECとの関係深化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小売広告枠の活用（④-5）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共同広告事業の入口。出稿実績が「共同開発」の交渉力になる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提案の根拠づくり・5つの手順（①）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習慣グラフ＝全賭けの中核資産。制度向けの根拠・AIへの引用元・共同検証の武器を兼ねる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値引き70＋施策30パッケージ（①）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小売との「共同実験の実績」。三位一体契約への信頼の頭金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歯科アプリ・学校教材のデジタル化（①④）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制度実装の器＋幼少期からの習慣形成データ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事務ゼロ化・評価の見直し（②③）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●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全賭けを回す時間と人の動機。これがないと全部が机上で止まる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9788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3445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ここから次章へ：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以降のHow・Who・When・How Muchは、この布石を「確実に打ち切る」ための実行計画である。実行の細かさは、構想の小ささではない。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戦略の全体構造 ― 根っこからKGIまで、1枚でつながりを示す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各テーマが「なぜ→何を→どうやって→1年目に何が起き→どの最終目標につながるか」。テーマ④が土俵を守り、①が勝負を決め、②③がそれを支える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3794760"/>
                <a:gridCol w="2377440"/>
                <a:gridCol w="21305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なぜ（根っこ）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何を（テーマ）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どうやって（主な打ち手）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1年目に何が起きるか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どのKGIにつながるか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根っこ④ 時間軸の誤認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AIでの扱われ方の実測と是正／商品・研究情報の公開／定期購入の獲得／ネット売場の是正／小売広告枠の活用（5つで24か月以内）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AIでの紹介のされ方が改善し始める。定期購入の登録が増え始める。広告枠の効果測定が動き出す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KGI③ AI・小売の仕組みへの登録数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（守れないと他のKGIも成立しない）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根っこ① 仕組みがない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研究知見×販売データ×商談記録をつなげて「提案の根拠」を作る5つの手順。値引きと組み合わせたパッケージにして、小売自身のデータで検証する（受け入れられる設計＝How 4〜6）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値引きに頼らない提案で商談1件成立（確認1）→10商談で再現（確認2）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KGI① 利益率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KGI② 買い続けてもらう売上の割合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根っこ② 時間がない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「やめる仕事」を経営が宣言してから、生成AI・営業支援システムで残りを自動化。浮いた時間の使い道はテーマ①に決め打ち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事務作業3割減（確認1）→5割減。テーマ①を回す時間が生まれる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テーマ①の実行力を支える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（生産性の差の解消原資）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根っこ③ 動機がない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変革参加者への加点評価→売上×「買い続け」の二軸→新基準へ全面切替。マーケ⇔営業の異動を仕組みにする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加点評価の適用開始。テーマ①②④に取り組んだ人が報われ始める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全テーマの持続力を支える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（人が動き続ける土台）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68756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4テーマの関係（戦略の背骨）：</a:t>
            </a:r>
            <a:pPr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が土俵を確保しないと、①で作る武器は使う場を失う。②が時間を生まないと、①は回らない。③が動機を作らないと、②も④も続かない。だから4つ同時に、ただし④だけは期限を自社で選べないため最初に着手する。実行は「1つの現場（オーラルケア×小売1社×1支店）」に集め、確認ポイント3回（2027夏・2028年度末・2031年ごろ）で広げる。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 ― 外されないための5つの対策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期限を自社で動かせない唯一のテーマ。だから最初に着手する。費用は年1〜2億円程度と小さく、必要なのは「今やる」という決定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　土俵の確保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AI・小売の仕組みから外されない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解く根っこ：④ 時間軸の誤認　|　主担当：推進事務局＋システム横断チーム　|　期限：24か月</a:t>
            </a:r>
            <a:endParaRPr lang="en-US" sz="83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21408"/>
          <a:ext cx="1118585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709160"/>
                <a:gridCol w="1005840"/>
                <a:gridCol w="1143000"/>
                <a:gridCol w="24048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対策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④-1 AIでの扱われ方の実測と是正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主要なAI（ChatGPT・Gemini等）とAmazonの買い物AIに、生活者の質問を毎月投げ、自社と競合の紹介のされ方を記録。紹介されない原因を直すところまで行う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90日で初回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以後毎月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＋事務局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月次レポート／紹介のされ方の改善件数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④-2 商品・研究情報の整備と公開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成分・効能・使い方・よくある質問を、AIが読める形で自社サイトに公開。歯科医師会や論文など公的な根拠への接続も明記（テーマ①と同じ材料を使う）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＋研究開発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主要商品の整備率100%／④-1での紹介率の変化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④-3 定期購入の「初期設定」の獲得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Amazon定期おトク便・楽天・ネットスーパーで、初回購入から定期化につなげる設計（容量・価格・特典）。定期に入った商品はAI代行時代もそのまま引き継がれる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12〜24か月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＋事業部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主要商品の定期購入の登録数・継続率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④-4 ネット売場での見え方の是正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主要モール内の検索・AI相談での表示を点検し、商品情報・画像・質問対応を是正。「探されたときに見つかる」状態を作る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12か月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＋システム横断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モール内検索の表示順位／AI相談での紹介率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④-5 小売の広告枠の本格活用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主要小売の広告事業を今年度の販促計画に組み込み、値引き費用の一部を振り替えて効果を小売のデータで確認（テーマ①の提案と一体で持ち込む）</a:t>
                      </a:r>
                      <a:endParaRPr lang="en-US" sz="81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今年度から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実行チーム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（営業）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振り替えた金額／売上・利益への効果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6126480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6163056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④-2はテーマ①の「提案の根拠」と同じ材料（二重投資なし）。④-5はテーマ①の提案の実弾になる。成果はKGI③（仕組みへの登録数）へ直結。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 ― 社内3つのデータをつなげて「値引きに代わる武器」を作る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勝敗を決める中核テーマ。新しくデータを買う必要はない ― すでに社内にあるデータを5つの手順でつなぎ、1つの現場で試して全国へ広げる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1185855" cy="5120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　根拠づくり　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知見を「値引きに代わる武器」に変える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14813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解く根っこ：① 仕組みがない　|　主担当：橋渡し役＋実行チーム　|　期限：1年目に商談1件 → 3年目に10商談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1185855" cy="777240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76272"/>
            <a:ext cx="1072865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材料はすでに社内にある3つのデータ：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研究部門の「習慣と健康効果」のデータ（例：フロス併用で効果を実感しやすい）　② 小売の販売データ（誰が・何を・どんな間隔で買うか）　③ 営業の商談記録（どの店で何をやって、どうなったか）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　集める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2179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研究部門の知見を、提案に使える形で一覧にする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2179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作るもの：知見の一覧表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担当：研究開発＋橋渡し役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9689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9" name="Text 17"/>
          <p:cNvSpPr/>
          <p:nvPr/>
        </p:nvSpPr>
        <p:spPr>
          <a:xfrm>
            <a:off x="286207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手順2　数字にする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86207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「効果がある」を「どんな条件で・どれくらい」の数字に直す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86207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作るもの：効果の数字の一覧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3717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手順3　つなげる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10235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販売データと突き合わせ「この売場でお客様の年間購入額が◯%増える」という予測に変える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10235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作るもの：予測の計算式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担当：橋渡し役＋システム横断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7745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063240"/>
            <a:ext cx="2121408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3063240"/>
            <a:ext cx="2121408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734263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手順4　商談で使う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34263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バイヤーが社内説明に使える資料に整え、営業に配る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734263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作るもの：提案資料のひな形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担当：橋渡し役→実行チーム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17736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64040" y="3063240"/>
            <a:ext cx="2121408" cy="196596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3063240"/>
            <a:ext cx="2121408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7" name="Text 35"/>
          <p:cNvSpPr/>
          <p:nvPr/>
        </p:nvSpPr>
        <p:spPr>
          <a:xfrm>
            <a:off x="9582912" y="32004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手順5　確かめる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9582912" y="3520440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実施後の販売データで効果を確認し、手順1に戻して精度を上げる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9582912" y="44348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作るもの：検証の報告書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担当：実行チーム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2920" y="51937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広げ方：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最初の現場（オーラルケア×小売1社×1支店・〜2027）→ 3つの商品分野×小売5社（2027〜28）→ 全分野・主要小売の標準（2029〜34）。うまくいった方法を手順書にしてから広げる。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76072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79729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注意：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根拠（武器）を作っただけでは商談は変わらない ― 「正しい提案」が現実には断られる理由と、受け入れられるための設計を、次の3ページで正面から扱う。手順1〜2の成果物はテーマ④-2（情報公開）と共用。成果はKGI①（利益率）とKGI②（買い続けてもらう売上）へ直結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現実の直視 ― なぜ「正しい価値提案」は断られるのか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「研究データがあれば採用される」は幻想。バイヤーが値引きを選ぶのには合理的な理由がある。理由を潰さない提案は、何度持ち込んでも同じ結果になる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理由1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評価期間のズレ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65376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バイヤーの評価は週次・月次の売上と粗利で決まる。リピート施策の効果が出るのは3〜6か月後 ― バイヤーの今期の評価に間に合わない提案は、内容が正しくても選ばれない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395728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9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理由2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確実性の差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値引きは「確実に数字が出る」選択肢。価値提案は不確実で、失敗したとき社内で責められるのはバイヤー個人。安全な値引きを選ぶのはバイヤーとして合理的な行動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73552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理由3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メーカーデータへの不信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621024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メーカーが持ち込む数字は「売るための数字」と割り引かれる。小売が自社のデータで確かめられない限り、信じる義理はない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51376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15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理由4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商慣行との結びつき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4988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棚とチラシ枠の配分は、リベート・協賛金と一体で動いている。1つの商談だけ「きれいな理屈」に切り替えることは、バイヤーの側から見ても難しい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02920" y="5029200"/>
            <a:ext cx="11185855" cy="80467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029200"/>
            <a:ext cx="64008" cy="80467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093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理由5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競合は値引きを続ける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37667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当社が値引きをやめても競合は出し続ける。バイヤーには「値引きしてくれるメーカーに棚を寄せる」選択肢が常にある ― 一方的な離脱は棚を失うだけ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「価値の正しさ」では採用されない。採用されるのは「バイヤー個人が今期の数字で得をして、失敗のリスクがない」提案だけ。次ページで、この5つの理由を1つずつ潰す設計に落とす。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受け入れられるための5つの設計 ― 断られる理由を1つずつ潰す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武器（根拠）は同じでも、売り方を変える。「値引きか価値提案か」の二者択一をやめ、値引きと組み合わせて入り、実証された分だけ比率を動かす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223760"/>
                <a:gridCol w="94183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潰す理由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設計1 値引きをやめない、組み替える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「値引きゼロ＋価値提案」ではなく「値引き70＋リピート施策30」のパッケージから始める。小売の取り分の合計が減らない形で入り、効果が実証された分だけ比率を動かす ― 離脱ではなく組み替え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理由4・5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設計2 バイヤーの言葉と評価期間で語る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社内用語（LTV等）は使わない。「御社のカテゴリの今期粗利が◯円増える」に翻訳する。効果が13週（四半期）以内に数字で見える施策から着手し、バイヤーの評価サイクルに間に合わせる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理由1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設計3 小売自身のデータで一緒に検証する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「信じてください」ではなく「御社のID-POS（会員つき販売データ）で前後を比べましょう」。検証の設計（対象店舗・比較店舗・期間）まで当社が用意し、結果の数字は小売のものにする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設計4 バイヤー個人のリスクをゼロにする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最初のパイロットには成果連動を付ける ― 効果が未達なら次回条件で当社が補填する。さらにバイヤーが上司に説明するための社内資料（稟議の体裁）まで当社が作って渡す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設計5 相手を選んで、事実を先に作る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全チェーンに売り込まない。データ連携に前向き・広告事業を伸ばしたい・当社と関係が深い小売1社から始める。最初は値引き削減を口にせず「追加の実験」として入り、数字が出てから比率の話をする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理由5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を潰す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185855" cy="4754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7161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位置づけ：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この5つはテーマ①の手順4（商談で使う）の中身そのもの。「値引きからの脱却」は宣言ではなく結果 ― 小売の粗利で値引きに勝った実績が積み上がった分だけ、値引きは自然に減っていく。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6/7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商談パッケージの実例イメージと、カテゴリの使い分け・撤退基準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机上の空論にしないための3点セット：具体的なパッケージ／価値提案が効くカテゴリの見極め／うまくいかないときにやめる基準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商談パッケージの移行イメージ（特売原資100の場合）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943600" cy="11704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64008" cy="1170432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83664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100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今週の売上は作れるが翌週に消える。カテゴリの利益は増えず、双方が消耗する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9809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5943600" cy="117043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45536"/>
            <a:ext cx="64008" cy="11704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1年目（パイロット）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70 ＋ リピート施策 30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試供品・関連陳列・実感POP・小売アプリ連携。効果未達なら次回条件で当社が補填（成果連動）― 小売のリスクはゼロ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4297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5943600" cy="117043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462272"/>
            <a:ext cx="64008" cy="11704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517136"/>
            <a:ext cx="5623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実証後（2〜3年）　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 50 ＋ 施策 30 ＋ 小売広告枠 20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小売自身のデータで効果が確認できた施策だけ拡大。値引きの縮小は「実証の結果」として自然に起きる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1499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カテゴリで戦い方を分ける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828800"/>
            <a:ext cx="4965192" cy="1170432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883664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価値提案を先行させるカテゴリ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オーラルケア・ハンドソープなど、研究資産と独自性が強い領域。健康と結びつき、消費者が理由を求める ― 根拠が効く土俵。ここで最初の事実を作る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3145536"/>
            <a:ext cx="4965192" cy="11704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200400"/>
            <a:ext cx="4709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無理に価値提案しないカテゴリ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洗剤などのコモディティ（商品の差が小さい領域）は、根拠で説得しても効きにくい。ここは値引きの精度と交渉コストの削減（テーマ②の自動化）で守り、消耗を最小にする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4462272"/>
            <a:ext cx="4965192" cy="1234440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4517136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撤退基準（机上の空論にしない仕掛け）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パイロット3件のうち「小売のカテゴリ粗利が値引き単体を上回る」が1件も出なければ、原因（効果がないのか・伝え方か・相手選びか）を特定して設計をやり直す。成果の出ない価値提案を意地で続けない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確認1（2027年夏）の中身を厳しくする：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「商談1件成立」ではなく「小売自身のデータで、値引き単体よりカテゴリ粗利が増えたと確認できた商談1件」。この事実だけが、2件目以降の商談と社内の評価変更（テーマ③）を動かす。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7/7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時間づくり／テーマ③ 動機づくり ― ①と④を支える土台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時間と動機はそれ自体が目的ではない。テーマ①④を「回し続けられる」状態を作るための土台である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55321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　時間づくり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解く根っこ：②時間がない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5532120" cy="36576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やること（順序が大事）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まず「やめる仕事」を経営の名前で宣言する（効果の薄い特売交渉・社内向け資料・重複会議）
2. 残った仕事を生成AIと営業支援システムで自動化する
※ ムダな仕事をそのまま自動化しない。「消してから自動化」の順序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浮いた時間の使い道（決め打ち）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全部テーマ①へ：バイヤーとの対話、売場の共同設計、手順5の検証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担当：経営会議（廃止の決定）＋推進事務局（自動化の展開）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期限：1年目で3割減 → 2〜3年で5割減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KPI：事務作業時間の割合／廃止した仕事の実行率100%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517904"/>
            <a:ext cx="5532120" cy="457200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17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　動機づくり　</a:t>
            </a:r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解く根っこ：③動機がない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975104"/>
            <a:ext cx="5532120" cy="365760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03120"/>
            <a:ext cx="5166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やること（段階を踏む）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変革に参加した人への加点評価から始める（1年目）
2. 売上と「買い続けてもらえたか」の二軸評価へ（2〜3年・確認2の後）
3. 新基準へ全面切替（確認3の後）
※ 一気に変えない。「商談に勝てた」実例を根拠に段階的に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あわせてやること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マーケ⇔営業を2〜3年で行き来する異動の仕組み化。両方わかる人材（橋渡し役の候補）を計画的に増やす
</a:t>
            </a:r>
            <a:pPr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担当・期限・数字
</a:t>
            </a:r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担当：経営会議＋人事（変革チームの評価は売上目標から切り離す）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期限：加点評価は1年目から適用</a:t>
            </a:r>
            <a:endParaRPr lang="en-US" sz="10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9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KPI：加点評価の適用者数／部門間異動の数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つながり：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②が生む時間は①の燃料。③が作る動機は①②④を続けさせる土台。逆に、①の「商談に勝てた」という実例が、③の評価変更を社内に納得させる根拠になる ― 4テーマは一方通行ではなく、互いに強め合う循環になっている。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誰がどのテーマを担うか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ふだんの仕事と変革を分け、少人数の専任で進める。各チームの箱に「担当テーマ」を色で明示する ― テーマに担当がいない状態を作らない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17904"/>
            <a:ext cx="630936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179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経営会議（月1回）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決めることは3つ：お金と人の配分／やめる仕事の決定（テーマ②）／次の段階に進むかの判断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372600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1" name="Text 9"/>
          <p:cNvSpPr/>
          <p:nvPr/>
        </p:nvSpPr>
        <p:spPr>
          <a:xfrm>
            <a:off x="10497312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テーマ③ 動機づくり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2121408"/>
            <a:ext cx="0" cy="201168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322576"/>
            <a:ext cx="6309360" cy="658368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32257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　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テーマ④の進行と自動化の展開（テーマ②）、効果測定、経営会議への報告。計画全体の管理者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3639312" cy="19659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現場の実行チーム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専任5名＋兼任10名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支店営業2・マーケ1・橋渡し役1・デジタル戦略1（専任）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最初の現場で「1年目の結果」を作る：テーマ①の商談・売場と、テーマ④の定期購入・広告枠を実行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70248" y="3246120"/>
            <a:ext cx="3639312" cy="19659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324612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橋渡し役のチーム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07408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まず5名 → 将来20名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407408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07408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テーマ①の手順1〜4のオーナー。マーケの知見を営業の提案に翻訳する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結果が出たら（確認2）正式な組織にする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037576" y="3246120"/>
            <a:ext cx="3639312" cy="19659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7576" y="324612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3" name="Text 31"/>
          <p:cNvSpPr/>
          <p:nvPr/>
        </p:nvSpPr>
        <p:spPr>
          <a:xfrm>
            <a:off x="8174736" y="336499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システムの横断チーム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74736" y="363931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既存の担当者をつなぐ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817473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9500616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174736" y="4224528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テーマ④-1・2・4（AI実測・情報公開・売場是正）と、テーマ②の自動化の実務</a:t>
            </a:r>
            <a:endParaRPr lang="en-US" sz="8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外部採用はデータ技術者と広告データ専門家の2職種だけ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5349240"/>
            <a:ext cx="11185855" cy="4754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349240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ふだんの仕事のチーム（全国の支店・事業部・研究所）：</a:t>
            </a:r>
            <a:pPr indent="0" marL="0">
              <a:buNone/>
            </a:pPr>
            <a:r>
              <a:rPr lang="en-US" sz="9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今の仕事を今の目標のまま続け、「使うと商談に勝ちやすくなる道具」が完成してから受け取る。研究開発はテーマ①手順1と④-2に材料を提供する。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980176"/>
            <a:ext cx="107286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人の集め方：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①社内から選ぶ（商品知識×小売の事情の両方がわかる人は社外にいない）②外部採用は2職種だけ ③マーケ⇔営業の異動を仕組みに（テーマ③）④最初の現場の経験者が次の現場を実地で教える。変革チームの評価は売上目標から切り離す（テーマ③）。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時間割 ― テーマ①〜④それぞれの進み方と、3つの確認ポイント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テーマ④だけは期限を自社で選べないため最初に着手。①〜③は並行で進め、確認ポイントに合格したときだけ投資と組織変更を広げる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74520"/>
                <a:gridCol w="2286000"/>
                <a:gridCol w="2194560"/>
                <a:gridCol w="1828800"/>
                <a:gridCol w="181051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今すぐ（90日）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1年目（〜2027夏）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2〜3年（〜2029）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4〜8年（〜2034）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その先（〜2040）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テーマ④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土俵の確保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AIでの扱われ方の実測開始（90日で初回報告）。情報整備に着手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主要商品の情報公開が完了。モール是正。定期購入の設計。広告枠を販促計画に組み込み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定期購入の登録数を主要指標に。AI経由の販売・紹介を実測できる状態に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AI購入代行が国内普及。「外されない」から「選ばれる」へ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仕組みに商品分野ごと登録され、自動補充で標準的に選ばれる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研究知見の一覧化（手順1）。最初の現場の決定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最初の予測を作り、商談1件成立。売場で実証（手順5）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10商談・3社で再現。3分野×5社へ拡大。歯科・学校ルートのデジタル化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全国の標準のやり方に。主要小売と共同の事業計画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歯科・学校・自治体で作った習慣が、AI時代の「初期設定」になる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テーマ②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事務時間の測定。「やめる仕事」の候補リスト作成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廃止の宣言＋自動化で事務3割減。浮いた時間はテーマ①へ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事務5割減が定着。生産性の差の縮小が数字に表れる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生産性の差（対P&amp;G約7.6倍）を半減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少ない人数で回る営業・マーケ体制が定着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テーマ③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動機づくり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専任5名の拠出。変革チームの評価の切り離しを人事と合意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加点評価の適用開始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売上×「買い続け」の二軸評価へ。橋渡し役を正式組織に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新基準へ全面切替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「買い続けてもらう売上」中心の指標が全社に定着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ポイント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確認1（2027年夏）：小売データで値引き超えを実証した商談1件＋事務3割減＋AI紹介の改善 → 合格で3分野×5社へ拡大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確認2（2028年度末）：10商談で再現 → 合格で組織の正式化・二軸評価・本格投資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確認3（2031年ごろ）：主要小売5社と共同計画 → 合格で全社標準・評価の全面切替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35040"/>
            <a:ext cx="11185855" cy="47548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7161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確認ポイントの考え方：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不合格なら広げず、どのテーマのどの手順で詰まったかを特定して直し、再挑戦する。組織・評価の変更（テーマ③）は必ず実例を根拠に行う ― 事実で社内を動かす。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かかるお金と、返ってくる効果 ― どのテーマが生むか（仮の試算・要確認）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5年間の投資30〜50億円に対し、効果は年45〜95億円で2〜3年で回収。効果の出どころをテーマ①〜④に紐づけて示す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かかるお金（5年間の合計）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最初の3年間：年3〜5億円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テーマ④の5対策（年1〜2億円）と専任者の人件費、既存システムの活用が中心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4年目以降：合計20〜35億円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データ基盤・情報公開の拡張・歯科アプリの本格版。確認2に合格したら投資する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3677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事務作業を減らした時間の価値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526280" y="1956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67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テーマ② 時間づくり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69480" y="1627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営業・マーケ約800名（仮）の事務作業3〜4割減の人件費相当。浮いた時間はテーマ①の商談・売場づくりに使う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値引き費用の使い方の見直し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26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テーマ① 根拠づくり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5806440" y="32369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269480" y="259689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値引き・特売費（仮に売上の12〜15%＝500〜600億円）の5〜10%を、根拠ある売場づくり（①）と小売広告枠（④-5）へ振り替え、利益率を改善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5753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広告費のムダ削減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526280" y="3895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69480" y="3566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広告の効果を測れるようにし（④-1・5）、効果の低い広告費の1割程度を効果の高い使い方に移す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26280" y="454456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棚やAIから外されるのを防ぐ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26280" y="4864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金額化は困難・ただし最大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175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テーマ④ 土俵の確保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269480" y="453542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データ不備の商品は将来、小売やAIの仕組みが自動的に外す。防ぐこと＝売上の防衛が最大の効果（④-1〜4）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回収の見通し：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効果の合計は年45〜95億円、投資は5年で30〜50億円 ― 2〜3年で回収できる計算。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ただし人数や費用の内訳はすべて仮の数字。最初の90日で実際に測り、確かな数字に置き換えてから経営会議で確定する。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それぞれに「何が良くなるか」と見る数字（KPI）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変革は号令だけでは動かない。各部門が「自分たちの得になる」と言える状態を作ることが、動機（テーマ③）への一番の打ち手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943600"/>
                <a:gridCol w="2862072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関係テーマ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事務が減り商談準備・対話の時間が約2倍に。値引きでなく「数字の根拠」で提案でき、勝率と利益が上がる。バイヤーから「頼れる相談相手」として扱われる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根拠を使った提案の成立数・勝率／事務時間の割合／特売への依存度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①②④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広告が購入につながったかを初めて数字で確認できる。効果の薄い広告を減らし、効く施策と小売広告枠に移せる。AIでの紹介のされ方を自分たちで動かせる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効果を測定できている広告の割合／AIでの紹介率／買い続けるお客様の割合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30年分の研究データが商談とAIの回答で使われ、売上への貢献が数字で見える。売場の検証結果が次の研究テーマ選びに役立つ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研究データを使った提案の数／公開情報での引用のされ方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商品・環境データの整備が小売の審査への回答になり、取り扱い中止のリスクが減る。店頭回収など負担の大きい仕事を小売と一緒に設計できる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環境データを整備できた商品の割合／欠品率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販促費・広告費・投資の効果を同じ物差しで比べられ、配分の判断が速く正確に。AIでの扱われ方の毎月報告が市場変化への早期警報になる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利益率／投資に対する効果／買い続けるお客様による売上の割合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①〜④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マーケ⇔営業の異動で両方わかる人材が育つ。「変革に取り組んだ人が報われる」評価が意欲ある社員の離職を防ぐ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部門間異動の数／新しい評価を適用された人数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各KPIの目標値は、最初の90日の実測後に推進事務局が案を作り、経営会議で決める。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KGIとKPI ― テーマ①〜④の数字が、3つの最終目標へ一本につながる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KGI（最終目標）は3つだけ。1年目のKPIはすべてテーマ番号つきで、どのKGIに向かうかが追える。つながらない施策は原則やらない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 全体計画（討議用）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KGI＝最終目標（2040年・会社全体）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KGI① 利益率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値引きに頼らず利益を出せる会社になれたか。主にテーマ①②が押し上げる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KGI② 買い続けてもらう売上の割合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習慣として買われている売上の割合（目標5割超・基準は要設定）。テーマ①が作り、④が守る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KGI③ AI・小売の仕組みへの登録数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「最初から選ばれる商品」になれた商品分野の数。テーマ④が直結する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中間のKPI（〜2034年）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28800"/>
            <a:ext cx="64008" cy="85953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865376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お客様の年間購入額の伸び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最初の現場から展開先まで共通の物差し。マーケ・橋渡し役・営業の3者共通の目標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798064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283464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販促費・広告費の投資効果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値引きから「効果の見える使い方」へどれだけ転換できたか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767328"/>
            <a:ext cx="64008" cy="85953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803904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1人あたり生産性の差の半減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P&amp;Gと約7.6倍の開きがある生産性の差を半分にする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736592"/>
            <a:ext cx="64008" cy="8595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773168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データ整備率と定期購入の登録数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審査で外されない状態＋自動購入時代の「初期設定」をどれだけ取れたか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1年目のKPI（テーマ番号つき）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AIでの紹介のされ方（毎月計測・改善件数）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商品情報を整備・公開できた主要商品の割合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定期購入の登録数・継続率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小売広告枠へ振り替えた金額とその効果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根拠を使った提案の成立数（1件→10件）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小売と一緒に作った売場の店舗数・検証の数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事務作業時間の削減率（3割→5割）・廃止実行率</a:t>
            </a:r>
            <a:endParaRPr lang="en-US" sz="86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加点評価の適用者数・部門間異動の数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888736"/>
            <a:ext cx="107286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運用のルール：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現場のKPIは3か月ごとに推進事務局が測り、経営会議に報告する。KGIにつながらない新しい施策の追加は原則行わない ― 「システムを入れること自体が目的」になることを防ぐ。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2026-08-02T18:16:33Z</dcterms:created>
  <dcterms:modified xsi:type="dcterms:W3CDTF">2026-08-02T18:16:33Z</dcterms:modified>
</cp:coreProperties>
</file>