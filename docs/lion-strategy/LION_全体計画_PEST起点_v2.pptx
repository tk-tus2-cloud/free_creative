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-2377440"/>
            <a:ext cx="6858000" cy="6858000"/>
          </a:xfrm>
          <a:prstGeom prst="ellipse">
            <a:avLst/>
          </a:prstGeom>
          <a:solidFill>
            <a:srgbClr val="223354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49840" y="4206240"/>
            <a:ext cx="4206240" cy="4206240"/>
          </a:xfrm>
          <a:prstGeom prst="ellipse">
            <a:avLst/>
          </a:prstGeom>
          <a:solidFill>
            <a:srgbClr val="C8102E">
              <a:alpha val="2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3C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全体計画　|　2026.08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17373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営業・マーケティング変革 全体計画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― 環境分析（PEST）から、解決策・体制・時間割・効果まで ―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347472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環境分析</a:t>
            </a:r>
            <a:pPr indent="0" marL="0">
              <a:buNone/>
            </a:pPr>
            <a:r>
              <a:rPr lang="en-US" sz="120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世の中の変化（PEST）・消費者/小売/競合の変化・自社の強み弱みと勝ち筋・問題の根っこ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85876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</a:t>
            </a:r>
            <a:pPr indent="0" marL="0">
              <a:buNone/>
            </a:pPr>
            <a:r>
              <a:rPr lang="en-US" sz="120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どう解決するか ― 「外されない（守り）」と「指名される（攻め）」の二本立て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4242816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Who</a:t>
            </a:r>
            <a:pPr indent="0" marL="0">
              <a:buNone/>
            </a:pPr>
            <a:r>
              <a:rPr lang="en-US" sz="120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どんな体制が必要か ― 少人数の専任チームと役割分担、人の集め方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462686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When</a:t>
            </a:r>
            <a:pPr indent="0" marL="0">
              <a:buNone/>
            </a:pPr>
            <a:r>
              <a:rPr lang="en-US" sz="120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いつ何をするか ― 90日・1年・3年・8年・2040年の時間割と3つの確認ポイント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501091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Much</a:t>
            </a:r>
            <a:pPr indent="0" marL="0">
              <a:buNone/>
            </a:pPr>
            <a:r>
              <a:rPr lang="en-US" sz="120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何が返ってくるか ― 投資と効果、部門ごとのリターン、KGI（最終目標）とKPI（途中の目安）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41248" y="5532120"/>
            <a:ext cx="2011680" cy="0"/>
          </a:xfrm>
          <a:prstGeom prst="line">
            <a:avLst/>
          </a:prstGeom>
          <a:noFill/>
          <a:ln w="31750">
            <a:solidFill>
              <a:srgbClr val="C810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7150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この一冊で完結する構成　|　時間軸は「AIでの検索・購入は既に始まっている」事実を前提に設定　|　デジタル戦略部 討議用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全体の要約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計画の要点 ― 1枚でわかる全体像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AIでの検索・購入は既に始まっている。だから「外されない対策」を今すぐ、「指名される仕組みづくり」を計画的に、二本立てで進める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1600200" cy="93268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81328"/>
            <a:ext cx="64008" cy="93268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1481328"/>
            <a:ext cx="1463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環境認識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286000" y="1508760"/>
            <a:ext cx="9372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調べ物の66.4%はサイトを開かずAIの要約で完結（2026年国内調査）。米国では2025年にAI画面内での決済・購入代行が開始。小売の広告事業も既に急成長中。変化は「2040年の未来」ではなく現在進行形であり、対応の期限は自社では動かせない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2487168"/>
            <a:ext cx="1600200" cy="93268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487168"/>
            <a:ext cx="64008" cy="93268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" y="2487168"/>
            <a:ext cx="1463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How（解決策）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286000" y="2514600"/>
            <a:ext cx="9372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二本立て。守り＝AIと小売の仕組みから「外されない」5つの対策（AIでの扱われ方の実測、商品情報の整備・公開、定期購入の獲得、ネット売場の是正、小売広告枠の活用）を24か月以内に。攻め＝社内3つのデータ（研究知見・販売データ・商談記録）をつなげた「提案の根拠」づくりで、値引きに頼らず人にもAIにも指名される。1つの現場で試して全国に広げる。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3493008"/>
            <a:ext cx="1600200" cy="93268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493008"/>
            <a:ext cx="64008" cy="93268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" y="3493008"/>
            <a:ext cx="1463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Who（体制）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286000" y="3520440"/>
            <a:ext cx="9372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ふだんの仕事と変革を分ける。経営会議（月1回・決めることは3つ）＋推進事務局5名＋現場の実行チーム（専任5名・兼任10名）＋マーケと営業の橋渡し役5名。人は社内から選び、外部採用はデータ技術者など2職種だけ。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4498848"/>
            <a:ext cx="1600200" cy="93268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4498848"/>
            <a:ext cx="64008" cy="93268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" y="4498848"/>
            <a:ext cx="1463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When（時間割）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286000" y="4526280"/>
            <a:ext cx="9372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90日：AIでの扱われ方の初回実測、チーム結成、事務時間の測定。1年目：商品情報の公開完了、値引きに頼らない提案で商談1件成立、事務作業3割減。2〜3年：10商談で再現、組織の正式化。4〜8年：全国標準化。確認ポイントは3回（2027年夏・2028年度末・2031年ごろ）で、合格したときだけ次に進む。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5504688"/>
            <a:ext cx="1600200" cy="93268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5504688"/>
            <a:ext cx="64008" cy="93268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" y="5504688"/>
            <a:ext cx="1463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Much（効果）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286000" y="5532120"/>
            <a:ext cx="9372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投資は5年で30〜50億円。効果は年45〜95億円（時間の価値15〜25億＋値引き費用の転換20〜40億＋広告のムダ削減10〜30億）で2〜3年で回収。最大の効果は金額化しにくい「棚やAIから外されないこと＝売上の防衛」。KGIは3つ：利益率／買い続けてもらう売上の割合／AI・小売の仕組みへの登録数。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環境分析 1/4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世の中の変化（PEST分析）― それぞれの変化は「いま」どこまで来ているか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政治・経済・社会・技術の変化を、現在地とセットで整理する。8項目中5項目は既に発生・進行中 ― 対応の期限は自社では動かせない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99616"/>
          <a:ext cx="11185855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2651760"/>
                <a:gridCol w="1143000"/>
                <a:gridCol w="3246120"/>
                <a:gridCol w="33649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分野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変化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現在地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根拠・状況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当社への意味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政治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規制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環境情報の開示義務化、容器の回収・再利用の義務化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一部は決定済み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大企業への開示義務化は決定済みで順次適用。容器の完全回収はまだ先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環境データの整備は「期限のある仕事」。小売の取引条件になっていく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政治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規制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個人データ規制の強化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既に発生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外部データに頼る広告は既に効きにくくなっている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小売の販売データとの連携が広告の主戦場になる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経済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低価格品と高付加価値品への二極化、中間価格帯の空洞化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既に進行中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小売の自主企画商品の拡大と値上げ浸透で、二極化は既に現実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中間の「普通の商品」は値引き勝負に沈む。根拠ある高付加価値へ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経済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働き手の減少（労働人口▲956万人へ）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進行中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営業現場・店舗の人手不足は既に顕在化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人手に頼る営業・店頭作業は続けられない。生産性が生存条件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社会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高齢化と、予防・健康への関心の高まり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既に進行中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65歳以上は人口の約3割。予防・セルフケア市場は拡大中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「病気を治す」より「予防の習慣」に価値が移る ― 当社の得意領域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社会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国民皆歯科健診（国の方針としての歯科健診拡大）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既に始動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政府方針に明記済みで、制度化の検討が進行中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オーラルケアが「日用品」から「国の健康施策のインフラ」へ格上げされる好機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技術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AIでの検索が主流化し、サイトを見ずに調べ物が終わる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既に発生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調べ物の66.4%はサイトを開かず完結（2026年4月・国内調査）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AIに認識されないブランドは、比較の土俵に載る前に消える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技術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AIが人の代わりに商品を選び、購入まで行う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海外で開始済み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米国では2025年にAI画面内の決済・購入代行が開始。国内も2〜3年で拡大見込み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「何を買うか」の決定権がAIに移る。定期購入の初期設定が主戦場に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327648"/>
            <a:ext cx="11185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出典は公開情報にもとづく（最新値は要確認）。赤＝既に発生・進行中、橙＝一部開始・数年内、灰＝まだ先。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環境分析 2/4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消費者・小売・競合の変化（3C分析）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消費者の「選び方」が変わり、それを受けて小売の「稼ぎ方」が変わり、競合は既に対応を始めている ― この連鎖の中に当社がいる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99616"/>
          <a:ext cx="11185855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977640"/>
                <a:gridCol w="3383280"/>
                <a:gridCol w="2907792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誰が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既に起きていること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この先2〜5年で起きること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当社が取るべき構え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消費者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「調べて選ぶ」は既にAIへ移行中。「自動で届く」買い方（定期便）も普及済み。消費は「とことん安く」と「健康・生活の質への投資」に二極化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AIによる購入の完全代行が国内でも広がる。こだわる商品は自分で選び、消耗品はAI任せ ― 買い方が二層に分かれる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こだわり層には「根拠と習慣」で選ばれ、AI任せ層では「初期設定」に入り込む ― 二層それぞれに手を打つ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小売・卸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物販の利益が細り、広告事業（自社アプリ・サイネージ・会員向け配信）が既に急成長中。「データで売れる根拠を示せるメーカー」を優先し始めている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広告・データ収入が主要な利益源になり、取引の条件は「仕入値」から「データでの貢献度」へ移る。店舗運営の自動化も進む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値引きではなく「売場とデータで小売の利益に貢献する提案」ができるメーカーになる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競合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花王：AIが自社・競合をどう紹介するかの監視を既に運用。消費者データ基盤も稼働済み。P&amp;G：大規模な生産性改革を終え、浮いた資金をAIに再投資する段階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資本力に加えて「仕組みの差」が広がる。AI・データ対応の遅れたメーカーから順に、棚とAIの推奨から外れていく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同じ土俵（資本・データ量）では戦わない。競合が持たない「臨床データ×信頼ルート」で勝負する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自社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オーラルケア・ハンドソープで国内トップ。ただしマーケと営業のデータ・目標は分断し、事務作業が時間を奪い、AIが自社商品をどう扱っているかを誰も知らない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このままでは、強みが提案に使われないまま、AIと小売の仕組みから静かに外されていく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次ページ以降：強みを整理し（SWOT）、問題の根っこを特定し、解決策につなぐ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806440"/>
            <a:ext cx="11185855" cy="56692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5843016"/>
            <a:ext cx="107286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要点：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AIの影響は「どこで買うか」より先に「何を買うか」に現れる。店頭で買う人も調べるのはAI。だからネット販売比率が低い今でも、AI対応は先送りできない。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環境分析 3/4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自社の強み・弱み（SWOT）と勝ち筋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強みはAI時代にむしろ価値が上がる。弱みは「期限のある弱み」に変わった。掛け合わせから勝ち筋を一文で定める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499616"/>
            <a:ext cx="5541264" cy="1883664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99616"/>
            <a:ext cx="5541264" cy="31089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" y="1499616"/>
            <a:ext cx="5285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強み（S）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0936" y="1883664"/>
            <a:ext cx="528523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・オーラルケア／ハンドソープで国内トップのブランドと認知</a:t>
            </a:r>
            <a:endParaRPr lang="en-US" sz="8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・歯科医師会・学校・幼稚園・自治体との信頼関係と啓発活動 ― お金では買えない参入障壁</a:t>
            </a:r>
            <a:endParaRPr lang="en-US" sz="8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・約30年の臨床・行動データと、医薬品（OTC）の知見 ― AIが「引用したくなる」科学的根拠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6181344" y="1499616"/>
            <a:ext cx="5541264" cy="1883664"/>
          </a:xfrm>
          <a:prstGeom prst="rect">
            <a:avLst/>
          </a:prstGeom>
          <a:solidFill>
            <a:srgbClr val="FBEC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81344" y="1499616"/>
            <a:ext cx="5541264" cy="31089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499616"/>
            <a:ext cx="5285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弱み（W）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09360" y="1883664"/>
            <a:ext cx="528523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・マーケと営業のデータ・目標が分断し、知見が提案に使われない</a:t>
            </a:r>
            <a:endParaRPr lang="en-US" sz="8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・事務作業が時間を奪う（1人あたり生産性は対P&amp;Gで約7.6倍の差）</a:t>
            </a:r>
            <a:endParaRPr lang="en-US" sz="8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・自社で消費者データを持たず、AIでの扱われ方も未計測 ― 期限のある弱み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502920" y="3493008"/>
            <a:ext cx="5541264" cy="1883664"/>
          </a:xfrm>
          <a:prstGeom prst="rect">
            <a:avLst/>
          </a:prstGeom>
          <a:solidFill>
            <a:srgbClr val="EAF3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493008"/>
            <a:ext cx="5541264" cy="310896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" y="3493008"/>
            <a:ext cx="5285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機会（O）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" y="3877056"/>
            <a:ext cx="528523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・国民皆歯科健診など予防の国策化（既に始動）― オーラルケアの地位が上がる</a:t>
            </a:r>
            <a:endParaRPr lang="en-US" sz="8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・小売の広告事業の急成長 ― 値引きに代わる投資先が既にある</a:t>
            </a:r>
            <a:endParaRPr lang="en-US" sz="8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・AIは根拠ある情報源を引用する ― 臨床データを公開すれば強みが直接効く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6181344" y="3493008"/>
            <a:ext cx="5541264" cy="1883664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81344" y="3493008"/>
            <a:ext cx="5541264" cy="310896"/>
          </a:xfrm>
          <a:prstGeom prst="rect">
            <a:avLst/>
          </a:prstGeom>
          <a:solidFill>
            <a:srgbClr val="6B7686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3493008"/>
            <a:ext cx="5285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脅威（T）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3877056"/>
            <a:ext cx="528523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・AI・小売の仕組みによる「自動的な取り扱い外し」（データ不備の商品から順に）</a:t>
            </a:r>
            <a:endParaRPr lang="en-US" sz="8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・花王・P&amp;Gは既にAI監視・生産性改革を運用 ― 差が現在進行形で拡大</a:t>
            </a:r>
            <a:endParaRPr lang="en-US" sz="8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・値引き競争の継続による消耗と利益率の低下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502920" y="5532120"/>
            <a:ext cx="11185855" cy="9144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596128"/>
            <a:ext cx="1072865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勝ち筋（一文で）：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ずAIと小売の仕組みから「外されない」状態を24か月以内に作る（守り＝足切りの回避）。そのうえで、習慣づくり×科学的根拠×歯科・学校との信頼という他社が真似できない武器で、人にもAIにも「指名される」商品になる（攻め＝勝敗を決める）。順序を間違えると、武器が完成する前に土俵から落ちる。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環境分析 4/4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現場の問題 → 根っこ（真因）→ 変革テーマのつながり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現場の問題を根っこまで掘り下げ、根っこ1つにつき変革テーマを1つ立てる。以降の資料は、この番号と色が最後までつながる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現場に見えている問題（主＝一番効く根っこ、副＝関係する根っこ）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5074920" cy="713232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1837944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値引き・特売の条件交渉に、時間と利益を吸い取られている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07992" y="1938528"/>
            <a:ext cx="502920" cy="457200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10" name="Text 8"/>
          <p:cNvSpPr/>
          <p:nvPr/>
        </p:nvSpPr>
        <p:spPr>
          <a:xfrm>
            <a:off x="4507992" y="19385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主①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74920" y="1938528"/>
            <a:ext cx="384048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B87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1938528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7A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副③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02920" y="2596896"/>
            <a:ext cx="5074920" cy="713232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" y="2624328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バイヤーが欲しい「売れる根拠の数字」を出せず、提案が刺さらない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07992" y="2724912"/>
            <a:ext cx="502920" cy="457200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16" name="Text 14"/>
          <p:cNvSpPr/>
          <p:nvPr/>
        </p:nvSpPr>
        <p:spPr>
          <a:xfrm>
            <a:off x="4507992" y="27249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主①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3383280"/>
            <a:ext cx="5074920" cy="713232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" y="3410712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研究部門の知見が営業の提案に使われず、社内に眠っている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07992" y="3511296"/>
            <a:ext cx="502920" cy="457200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20" name="Text 18"/>
          <p:cNvSpPr/>
          <p:nvPr/>
        </p:nvSpPr>
        <p:spPr>
          <a:xfrm>
            <a:off x="4507992" y="351129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主①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74920" y="3511296"/>
            <a:ext cx="384048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2C5F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3511296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副②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02920" y="4169664"/>
            <a:ext cx="5074920" cy="713232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" y="4197096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資料作成・集計などの事務作業が、営業・マーケの時間を奪う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07992" y="4297680"/>
            <a:ext cx="502920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4507992" y="42976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主②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74920" y="4297680"/>
            <a:ext cx="384048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B87A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429768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7A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副③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02920" y="4956048"/>
            <a:ext cx="5074920" cy="713232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" y="4983480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AIが自社商品をどう紹介しているか、誰も知らない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07992" y="5084064"/>
            <a:ext cx="502920" cy="457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2" name="Text 30"/>
          <p:cNvSpPr/>
          <p:nvPr/>
        </p:nvSpPr>
        <p:spPr>
          <a:xfrm>
            <a:off x="4507992" y="508406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主④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69280" y="32461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263640" y="1481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根っこ（真因）と、対応する変革テーマ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63640" y="1810512"/>
            <a:ext cx="5422392" cy="950976"/>
          </a:xfrm>
          <a:prstGeom prst="rect">
            <a:avLst/>
          </a:prstGeom>
          <a:solidFill>
            <a:srgbClr val="EAF3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63640" y="1810512"/>
            <a:ext cx="73152" cy="950976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37" name="Text 35"/>
          <p:cNvSpPr/>
          <p:nvPr/>
        </p:nvSpPr>
        <p:spPr>
          <a:xfrm>
            <a:off x="6446520" y="1856232"/>
            <a:ext cx="3794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根っこ①　知見を提案に変える仕組みがない
</a:t>
            </a:r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研究・マーケ・営業のデータと目標が分断され、30年分の知見が「バイヤーに刺さる数字」に変換されない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0314432" y="2011680"/>
            <a:ext cx="1261872" cy="548640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39" name="Text 37"/>
          <p:cNvSpPr/>
          <p:nvPr/>
        </p:nvSpPr>
        <p:spPr>
          <a:xfrm>
            <a:off x="10314432" y="201168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テーマ①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根拠づくり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63640" y="2834640"/>
            <a:ext cx="5422392" cy="950976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63640" y="2834640"/>
            <a:ext cx="73152" cy="95097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2" name="Text 40"/>
          <p:cNvSpPr/>
          <p:nvPr/>
        </p:nvSpPr>
        <p:spPr>
          <a:xfrm>
            <a:off x="6446520" y="2880360"/>
            <a:ext cx="3794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根っこ②　時間がない
</a:t>
            </a:r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事務作業を「仕方ない苦労」と許容する慣性。提案づくりや対話に使う時間が構造的に残らない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0314432" y="3035808"/>
            <a:ext cx="1261872" cy="5486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4" name="Text 42"/>
          <p:cNvSpPr/>
          <p:nvPr/>
        </p:nvSpPr>
        <p:spPr>
          <a:xfrm>
            <a:off x="10314432" y="3035808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テーマ②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時間づくり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263640" y="3858768"/>
            <a:ext cx="5422392" cy="950976"/>
          </a:xfrm>
          <a:prstGeom prst="rect">
            <a:avLst/>
          </a:prstGeom>
          <a:solidFill>
            <a:srgbClr val="F7F0E3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63640" y="3858768"/>
            <a:ext cx="73152" cy="950976"/>
          </a:xfrm>
          <a:prstGeom prst="rect">
            <a:avLst/>
          </a:prstGeom>
          <a:solidFill>
            <a:srgbClr val="B87A2A"/>
          </a:solidFill>
          <a:ln/>
        </p:spPr>
      </p:sp>
      <p:sp>
        <p:nvSpPr>
          <p:cNvPr id="47" name="Text 45"/>
          <p:cNvSpPr/>
          <p:nvPr/>
        </p:nvSpPr>
        <p:spPr>
          <a:xfrm>
            <a:off x="6446520" y="3904488"/>
            <a:ext cx="3794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B87A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根っこ③　動機がない
</a:t>
            </a:r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評価が短期の売上に偏り、データ活用や部門連携に取り組んだ人が報われない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10314432" y="4059936"/>
            <a:ext cx="1261872" cy="548640"/>
          </a:xfrm>
          <a:prstGeom prst="rect">
            <a:avLst/>
          </a:prstGeom>
          <a:solidFill>
            <a:srgbClr val="B87A2A"/>
          </a:solidFill>
          <a:ln/>
        </p:spPr>
      </p:sp>
      <p:sp>
        <p:nvSpPr>
          <p:cNvPr id="49" name="Text 47"/>
          <p:cNvSpPr/>
          <p:nvPr/>
        </p:nvSpPr>
        <p:spPr>
          <a:xfrm>
            <a:off x="10314432" y="4059936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テーマ③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動機づくり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263640" y="4882896"/>
            <a:ext cx="5422392" cy="950976"/>
          </a:xfrm>
          <a:prstGeom prst="rect">
            <a:avLst/>
          </a:prstGeom>
          <a:solidFill>
            <a:srgbClr val="FBEC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63640" y="4882896"/>
            <a:ext cx="73152" cy="95097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2" name="Text 50"/>
          <p:cNvSpPr/>
          <p:nvPr/>
        </p:nvSpPr>
        <p:spPr>
          <a:xfrm>
            <a:off x="6446520" y="4928616"/>
            <a:ext cx="3794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根っこ④　時間軸の誤認
</a:t>
            </a:r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既に始まった変化（AI検索・小売の広告事業化）を「遠い未来の話」として扱い、対応を後回しにする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10314432" y="5084064"/>
            <a:ext cx="1261872" cy="5486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4" name="Text 52"/>
          <p:cNvSpPr/>
          <p:nvPr/>
        </p:nvSpPr>
        <p:spPr>
          <a:xfrm>
            <a:off x="10314432" y="5084064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テーマ④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土俵の確保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02920" y="5989320"/>
            <a:ext cx="11185855" cy="54864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56" name="Text 54"/>
          <p:cNvSpPr/>
          <p:nvPr/>
        </p:nvSpPr>
        <p:spPr>
          <a:xfrm>
            <a:off x="731520" y="6025896"/>
            <a:ext cx="107286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対応の原則：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根っこ1つにつきテーマ1つ。副の関係（例：値引き依存には動機③も効く）はテーマ間の連携で拾う。次ページで、4テーマがどうつながって成果になるかを1枚で示す。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1/4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戦略の全体構造 ― 根っこからKGIまで、1枚でつながりを示す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各テーマが「なぜ→何を→どうやって→1年目に何が起き→どの最終目標につながるか」。テーマ④が土俵を守り、①が勝負を決め、②③がそれを支える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17904"/>
          <a:ext cx="1118585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325880"/>
                <a:gridCol w="3794760"/>
                <a:gridCol w="2377440"/>
                <a:gridCol w="2130552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なぜ（根っこ）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何を（テーマ）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どうやって（主な打ち手）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1年目に何が起きるか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どのKGIにつながるか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根っこ④ 時間軸の誤認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テーマ④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土俵の確保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AIでの扱われ方の実測と是正／商品・研究情報の公開／定期購入の獲得／ネット売場の是正／小売広告枠の活用（5つで24か月以内）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AIでの紹介のされ方が改善し始める。定期購入の登録が増え始める。広告枠の効果測定が動き出す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KGI③ AI・小売の仕組みへの登録数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（守れないと他のKGIも成立しない）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根っこ① 仕組みがない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テーマ①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根拠づくり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E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研究知見×販売データ×商談記録をつなげて「提案の根拠」を作る5つの手順。橋渡し役が翻訳し、チーム営業で提案する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値引きに頼らない提案で商談1件成立（確認1）→10商談で再現（確認2）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KGI① 利益率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KGI② 買い続けてもらう売上の割合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根っこ② 時間がない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テーマ②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時間づくり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「やめる仕事」を経営が宣言してから、生成AI・営業支援システムで残りを自動化。浮いた時間の使い道はテーマ①に決め打ち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事務作業3割減（確認1）→5割減。テーマ①を回す時間が生まれる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テーマ①の実行力を支える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（生産性の差の解消原資）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B87A2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根っこ③ 動機がない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0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テーマ③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動機づくり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変革参加者への加点評価→売上×「買い続け」の二軸→新基準へ全面切替。マーケ⇔営業の異動を仕組みにする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加点評価の適用開始。テーマ①②④に取り組んだ人が報われ始める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全テーマの持続力を支える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（人が動き続ける土台）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623560"/>
            <a:ext cx="11185855" cy="86868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5687568"/>
            <a:ext cx="107286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2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4テーマの関係（戦略の背骨）：</a:t>
            </a:r>
            <a:pPr indent="0" marL="0">
              <a:lnSpc>
                <a:spcPct val="115000"/>
              </a:lnSpc>
              <a:buNone/>
            </a:pPr>
            <a:r>
              <a:rPr lang="en-US" sz="102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が土俵を確保しないと、①で作る武器は使う場を失う。②が時間を生まないと、①は回らない。③が動機を作らないと、②も④も続かない。だから4つ同時に、ただし④だけは期限を自社で選べないため最初に着手する。実行は「1つの現場（オーラルケア×小売1社×1支店）」に集め、確認ポイント3回（2027夏・2028年度末・2031年ごろ）で広げる。</a:t>
            </a:r>
            <a:endParaRPr lang="en-US" sz="1020" dirty="0"/>
          </a:p>
        </p:txBody>
      </p:sp>
      <p:sp>
        <p:nvSpPr>
          <p:cNvPr id="9" name="Text 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2/4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テーマ④ 土俵の確保 ― 外されないための5つの対策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期限を自社で動かせない唯一のテーマ。だから最初に着手する。費用は年1〜2億円程度と小さく、必要なのは「今やる」という決定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11185855" cy="5120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81328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テーマ④　土俵の確保　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AI・小売の仕組みから外されない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63840" y="1481328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解く根っこ：④ 時間軸の誤認　|　主担当：推進事務局＋システム横断チーム　|　期限：24か月</a:t>
            </a:r>
            <a:endParaRPr lang="en-US" sz="83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21408"/>
          <a:ext cx="11185855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709160"/>
                <a:gridCol w="1005840"/>
                <a:gridCol w="1143000"/>
                <a:gridCol w="240487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対策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やること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期限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担当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見る数字（KPI）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④-1 AIでの扱われ方の実測と是正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主要なAI（ChatGPT・Gemini等）とAmazonの買い物AIに、生活者の質問を毎月投げ、自社と競合の紹介のされ方を記録。紹介されない原因を直すところまで行う</a:t>
                      </a:r>
                      <a:endParaRPr lang="en-US" sz="81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90日で初回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以後毎月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システム横断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＋事務局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月次レポート／紹介のされ方の改善件数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④-2 商品・研究情報の整備と公開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成分・効能・使い方・よくある質問を、AIが読める形で自社サイトに公開。歯科医師会や論文など公的な根拠への接続も明記（テーマ①と同じ材料を使う）</a:t>
                      </a:r>
                      <a:endParaRPr lang="en-US" sz="81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12か月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システム横断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＋研究開発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主要商品の整備率100%／④-1での紹介率の変化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④-3 定期購入の「初期設定」の獲得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Amazon定期おトク便・楽天・ネットスーパーで、初回購入から定期化につなげる設計（容量・価格・特典）。定期に入った商品はAI代行時代もそのまま引き継がれる</a:t>
                      </a:r>
                      <a:endParaRPr lang="en-US" sz="81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12〜24か月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実行チーム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＋事業部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主要商品の定期購入の登録数・継続率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④-4 ネット売場での見え方の是正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主要モール内の検索・AI相談での表示を点検し、商品情報・画像・質問対応を是正。「探されたときに見つかる」状態を作る</a:t>
                      </a:r>
                      <a:endParaRPr lang="en-US" sz="81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12か月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実行チーム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＋システム横断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モール内検索の表示順位／AI相談での紹介率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④-5 小売の広告枠の本格活用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主要小売の広告事業を今年度の販促計画に組み込み、値引き費用の一部を振り替えて効果を小売のデータで確認（テーマ①の提案と一体で持ち込む）</a:t>
                      </a:r>
                      <a:endParaRPr lang="en-US" sz="81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今年度から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実行チーム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（営業）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振り替えた金額／売上・利益への効果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02920" y="6126480"/>
            <a:ext cx="11185855" cy="38404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6163056"/>
            <a:ext cx="10728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つながり：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④-2はテーマ①の「提案の根拠」と同じ材料（二重投資なし）。④-5はテーマ①の提案の実弾になる。成果はKGI③（仕組みへの登録数）へ直結。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3/4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テーマ① 根拠づくり ― 社内3つのデータをつなげて「値引きに代わる武器」を作る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勝敗を決める中核テーマ。新しくデータを買う必要はない ― すでに社内にあるデータを5つの手順でつなぎ、1つの現場で試して全国へ広げる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11185855" cy="512064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81328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テーマ①　根拠づくり　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知見を「値引きに代わる武器」に変える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63840" y="1481328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解く根っこ：① 仕組みがない　|　主担当：橋渡し役＋実行チーム　|　期限：1年目に商談1件 → 3年目に10商談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502920" y="2121408"/>
            <a:ext cx="11185855" cy="777240"/>
          </a:xfrm>
          <a:prstGeom prst="rect">
            <a:avLst/>
          </a:prstGeom>
          <a:solidFill>
            <a:srgbClr val="EAF3F8"/>
          </a:solidFill>
          <a:ln w="12700">
            <a:solidFill>
              <a:srgbClr val="BCD6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176272"/>
            <a:ext cx="1072865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材料はすでに社内にある3つのデータ：</a:t>
            </a:r>
            <a:pPr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研究部門の「習慣と健康効果」のデータ（例：フロス併用で効果を実感しやすい）　② 小売の販売データ（誰が・何を・どんな間隔で買うか）　③ 営業の商談記録（どの店で何をやって、どうなったか）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3063240"/>
            <a:ext cx="2121408" cy="196596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3063240"/>
            <a:ext cx="2121408" cy="73152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" y="320040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手順1　集める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621792" y="3520440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研究部門の知見を、提案に使える形で一覧にする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621792" y="443484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作るもの：知見の一覧表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担当：研究開発＋橋渡し役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96896" y="3703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0" y="3063240"/>
            <a:ext cx="2121408" cy="196596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0" y="3063240"/>
            <a:ext cx="2121408" cy="73152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19" name="Text 17"/>
          <p:cNvSpPr/>
          <p:nvPr/>
        </p:nvSpPr>
        <p:spPr>
          <a:xfrm>
            <a:off x="2862072" y="320040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手順2　数字にする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2862072" y="3520440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「効果がある」を「どんな条件で・どれくらい」の数字に直す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2862072" y="443484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作るもの：効果の数字の一覧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担当：橋渡し役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37176" y="3703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83480" y="3063240"/>
            <a:ext cx="2121408" cy="196596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83480" y="3063240"/>
            <a:ext cx="2121408" cy="73152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25" name="Text 23"/>
          <p:cNvSpPr/>
          <p:nvPr/>
        </p:nvSpPr>
        <p:spPr>
          <a:xfrm>
            <a:off x="5102352" y="320040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手順3　つなげる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5102352" y="3520440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販売データと突き合わせ「この売場でお客様の年間購入額が◯%増える」という予測に変える</a:t>
            </a:r>
            <a:endParaRPr lang="en-US" sz="870" dirty="0"/>
          </a:p>
        </p:txBody>
      </p:sp>
      <p:sp>
        <p:nvSpPr>
          <p:cNvPr id="27" name="Text 25"/>
          <p:cNvSpPr/>
          <p:nvPr/>
        </p:nvSpPr>
        <p:spPr>
          <a:xfrm>
            <a:off x="5102352" y="443484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作るもの：予測の計算式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担当：橋渡し役＋システム横断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077456" y="3703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223760" y="3063240"/>
            <a:ext cx="2121408" cy="1965960"/>
          </a:xfrm>
          <a:prstGeom prst="rect">
            <a:avLst/>
          </a:prstGeom>
          <a:solidFill>
            <a:srgbClr val="FBEC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0" y="3063240"/>
            <a:ext cx="2121408" cy="7315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1" name="Text 29"/>
          <p:cNvSpPr/>
          <p:nvPr/>
        </p:nvSpPr>
        <p:spPr>
          <a:xfrm>
            <a:off x="7342632" y="320040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手順4　商談で使う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7342632" y="3520440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バイヤーが社内説明に使える資料に整え、営業に配る</a:t>
            </a:r>
            <a:endParaRPr lang="en-US" sz="870" dirty="0"/>
          </a:p>
        </p:txBody>
      </p:sp>
      <p:sp>
        <p:nvSpPr>
          <p:cNvPr id="33" name="Text 31"/>
          <p:cNvSpPr/>
          <p:nvPr/>
        </p:nvSpPr>
        <p:spPr>
          <a:xfrm>
            <a:off x="7342632" y="443484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作るもの：提案資料のひな形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担当：橋渡し役→実行チーム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317736" y="3703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464040" y="3063240"/>
            <a:ext cx="2121408" cy="196596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464040" y="3063240"/>
            <a:ext cx="2121408" cy="73152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37" name="Text 35"/>
          <p:cNvSpPr/>
          <p:nvPr/>
        </p:nvSpPr>
        <p:spPr>
          <a:xfrm>
            <a:off x="9582912" y="320040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手順5　確かめる</a:t>
            </a:r>
            <a:endParaRPr lang="en-US" sz="1080" dirty="0"/>
          </a:p>
        </p:txBody>
      </p:sp>
      <p:sp>
        <p:nvSpPr>
          <p:cNvPr id="38" name="Text 36"/>
          <p:cNvSpPr/>
          <p:nvPr/>
        </p:nvSpPr>
        <p:spPr>
          <a:xfrm>
            <a:off x="9582912" y="3520440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実施後の販売データで効果を確認し、手順1に戻して精度を上げる</a:t>
            </a:r>
            <a:endParaRPr lang="en-US" sz="870" dirty="0"/>
          </a:p>
        </p:txBody>
      </p:sp>
      <p:sp>
        <p:nvSpPr>
          <p:cNvPr id="39" name="Text 37"/>
          <p:cNvSpPr/>
          <p:nvPr/>
        </p:nvSpPr>
        <p:spPr>
          <a:xfrm>
            <a:off x="9582912" y="443484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作るもの：検証の報告書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担当：実行チーム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02920" y="51937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広げ方：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最初の現場（オーラルケア×小売1社×1支店・〜2027）→ 3つの商品分野×小売5社（2027〜28）→ 全分野・主要小売の標準（2029〜34）。うまくいった方法を手順書にしてから広げる。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2920" y="5760720"/>
            <a:ext cx="11185855" cy="65836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42" name="Text 40"/>
          <p:cNvSpPr/>
          <p:nvPr/>
        </p:nvSpPr>
        <p:spPr>
          <a:xfrm>
            <a:off x="731520" y="5797296"/>
            <a:ext cx="1072865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つながり：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順1〜2の成果物はテーマ④-2（情報公開）にそのまま使う。回す時間はテーマ②が生み、回す人の動機はテーマ③が支える。成果はKGI①（利益率）とKGI②（買い続けてもらう売上）へ直結。競合が真似できない理由＝手順1の材料（30年の臨床蓄積と歯科・学校ルート）は、お金では買えない。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4/4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テーマ② 時間づくり／テーマ③ 動機づくり ― ①と④を支える土台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時間と動機はそれ自体が目的ではない。テーマ①④を「回し続けられる」状態を作るための土台である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532120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51790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テーマ②　時間づくり　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解く根っこ：②時間がない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1975104"/>
            <a:ext cx="5532120" cy="3657600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51663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やること（順序が大事）
</a:t>
            </a:r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 まず「やめる仕事」を経営の名前で宣言する（効果の薄い特売交渉・社内向け資料・重複会議）
2. 残った仕事を生成AIと営業支援システムで自動化する
※ ムダな仕事をそのまま自動化しない。「消してから自動化」の順序
</a:t>
            </a:r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浮いた時間の使い道（決め打ち）
</a:t>
            </a:r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全部テーマ①へ：バイヤーとの対話、売場の共同設計、手順5の検証
</a:t>
            </a:r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担当・期限・数字
</a:t>
            </a:r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担当：経営会議（廃止の決定）＋推進事務局（自動化の展開）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期限：1年目で3割減 → 2〜3年で5割減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KPI：事務作業時間の割合／廃止した仕事の実行率100%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2200" y="1517904"/>
            <a:ext cx="5532120" cy="457200"/>
          </a:xfrm>
          <a:prstGeom prst="rect">
            <a:avLst/>
          </a:prstGeom>
          <a:solidFill>
            <a:srgbClr val="B87A2A"/>
          </a:solidFill>
          <a:ln/>
        </p:spPr>
      </p:sp>
      <p:sp>
        <p:nvSpPr>
          <p:cNvPr id="11" name="Text 9"/>
          <p:cNvSpPr/>
          <p:nvPr/>
        </p:nvSpPr>
        <p:spPr>
          <a:xfrm>
            <a:off x="6336792" y="151790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テーマ③　動機づくり　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解く根っこ：③動機がない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1975104"/>
            <a:ext cx="5532120" cy="3657600"/>
          </a:xfrm>
          <a:prstGeom prst="rect">
            <a:avLst/>
          </a:prstGeom>
          <a:solidFill>
            <a:srgbClr val="F7F0E3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103120"/>
            <a:ext cx="51663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B87A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やること（段階を踏む）
</a:t>
            </a:r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 変革に参加した人への加点評価から始める（1年目）
2. 売上と「買い続けてもらえたか」の二軸評価へ（2〜3年・確認2の後）
3. 新基準へ全面切替（確認3の後）
※ 一気に変えない。「商談に勝てた」実例を根拠に段階的に
</a:t>
            </a:r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B87A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あわせてやること
</a:t>
            </a:r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マーケ⇔営業を2〜3年で行き来する異動の仕組み化。両方わかる人材（橋渡し役の候補）を計画的に増やす
</a:t>
            </a:r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B87A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担当・期限・数字
</a:t>
            </a:r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担当：経営会議＋人事（変革チームの評価は売上目標から切り離す）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期限：加点評価は1年目から適用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KPI：加点評価の適用者数／部門間異動の数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5806440"/>
            <a:ext cx="11185855" cy="65836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5843016"/>
            <a:ext cx="1072865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つながり：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②が生む時間は①の燃料。③が作る動機は①②④を続けさせる土台。逆に、①の「商談に勝てた」という実例が、③の評価変更を社内に納得させる根拠になる ― 4テーマは一方通行ではなく、互いに強め合う循環になっている。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体制 ― 誰がどのテーマを担うか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ふだんの仕事と変革を分け、少人数の専任で進める。各チームの箱に「担当テーマ」を色で明示する ― テーマに担当がいない状態を作らない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926080" y="1517904"/>
            <a:ext cx="6309360" cy="603504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7" name="Text 5"/>
          <p:cNvSpPr/>
          <p:nvPr/>
        </p:nvSpPr>
        <p:spPr>
          <a:xfrm>
            <a:off x="3108960" y="1517904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経営会議（月1回）　</a:t>
            </a:r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決めることは3つ：お金と人の配分／やめる仕事の決定（テーマ②）／次の段階に進むかの判断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372600" y="1572768"/>
            <a:ext cx="1051560" cy="2560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9372600" y="15727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テーマ② 時間づくり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0497312" y="1572768"/>
            <a:ext cx="1051560" cy="256032"/>
          </a:xfrm>
          <a:prstGeom prst="rect">
            <a:avLst/>
          </a:prstGeom>
          <a:solidFill>
            <a:srgbClr val="B87A2A"/>
          </a:solidFill>
          <a:ln/>
        </p:spPr>
      </p:sp>
      <p:sp>
        <p:nvSpPr>
          <p:cNvPr id="11" name="Text 9"/>
          <p:cNvSpPr/>
          <p:nvPr/>
        </p:nvSpPr>
        <p:spPr>
          <a:xfrm>
            <a:off x="10497312" y="15727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テーマ③ 動機づくり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080760" y="2121408"/>
            <a:ext cx="0" cy="201168"/>
          </a:xfrm>
          <a:prstGeom prst="line">
            <a:avLst/>
          </a:prstGeom>
          <a:noFill/>
          <a:ln w="19050">
            <a:solidFill>
              <a:srgbClr val="9AA3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2322576"/>
            <a:ext cx="6309360" cy="658368"/>
          </a:xfrm>
          <a:prstGeom prst="rect">
            <a:avLst/>
          </a:prstGeom>
          <a:solidFill>
            <a:srgbClr val="FBECEC"/>
          </a:solidFill>
          <a:ln w="12700">
            <a:solidFill>
              <a:srgbClr val="E5B8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2322576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推進事務局（5名）　</a:t>
            </a:r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テーマ④の進行と自動化の展開（テーマ②）、効果測定、経営会議への報告。計画全体の管理者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246120"/>
            <a:ext cx="3639312" cy="1965960"/>
          </a:xfrm>
          <a:prstGeom prst="rect">
            <a:avLst/>
          </a:prstGeom>
          <a:solidFill>
            <a:srgbClr val="FBEC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246120"/>
            <a:ext cx="3639312" cy="7315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6499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現場の実行チーム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3639312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専任5名＋兼任10名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640080" y="3895344"/>
            <a:ext cx="1234440" cy="256032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8953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テーマ① 根拠づくり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965960" y="3895344"/>
            <a:ext cx="1234440" cy="2560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2" name="Text 20"/>
          <p:cNvSpPr/>
          <p:nvPr/>
        </p:nvSpPr>
        <p:spPr>
          <a:xfrm>
            <a:off x="1965960" y="38953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テーマ④ 土俵の確保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0080" y="4224528"/>
            <a:ext cx="3364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支店営業2・マーケ1・橋渡し役1・デジタル戦略1（専任）</a:t>
            </a:r>
            <a:endParaRPr lang="en-US" sz="85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最初の現場で「1年目の結果」を作る：テーマ①の商談・売場と、テーマ④の定期購入・広告枠を実行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270248" y="3246120"/>
            <a:ext cx="3639312" cy="1965960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70248" y="3246120"/>
            <a:ext cx="3639312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4407408" y="336499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橋渡し役のチーム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407408" y="3639312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まず5名 → 将来20名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4407408" y="3895344"/>
            <a:ext cx="1234440" cy="256032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29" name="Text 27"/>
          <p:cNvSpPr/>
          <p:nvPr/>
        </p:nvSpPr>
        <p:spPr>
          <a:xfrm>
            <a:off x="4407408" y="38953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テーマ① 根拠づくり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407408" y="4224528"/>
            <a:ext cx="3364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テーマ①の手順1〜4のオーナー。マーケの知見を営業の提案に翻訳する</a:t>
            </a:r>
            <a:endParaRPr lang="en-US" sz="85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結果が出たら（確認2）正式な組織にする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037576" y="3246120"/>
            <a:ext cx="3639312" cy="1965960"/>
          </a:xfrm>
          <a:prstGeom prst="rect">
            <a:avLst/>
          </a:prstGeom>
          <a:solidFill>
            <a:srgbClr val="EAF3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37576" y="3246120"/>
            <a:ext cx="3639312" cy="73152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33" name="Text 31"/>
          <p:cNvSpPr/>
          <p:nvPr/>
        </p:nvSpPr>
        <p:spPr>
          <a:xfrm>
            <a:off x="8174736" y="336499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システムの横断チーム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74736" y="3639312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既存の担当者をつなぐ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8174736" y="3895344"/>
            <a:ext cx="1234440" cy="2560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6" name="Text 34"/>
          <p:cNvSpPr/>
          <p:nvPr/>
        </p:nvSpPr>
        <p:spPr>
          <a:xfrm>
            <a:off x="8174736" y="38953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テーマ④ 土俵の確保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9500616" y="3895344"/>
            <a:ext cx="1234440" cy="2560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8" name="Text 36"/>
          <p:cNvSpPr/>
          <p:nvPr/>
        </p:nvSpPr>
        <p:spPr>
          <a:xfrm>
            <a:off x="9500616" y="38953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テーマ② 時間づくり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174736" y="4224528"/>
            <a:ext cx="3364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テーマ④-1・2・4（AI実測・情報公開・売場是正）と、テーマ②の自動化の実務</a:t>
            </a:r>
            <a:endParaRPr lang="en-US" sz="85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外部採用はデータ技術者と広告データ専門家の2職種だけ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02920" y="5349240"/>
            <a:ext cx="11185855" cy="47548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5349240"/>
            <a:ext cx="108200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ふだんの仕事のチーム（全国の支店・事業部・研究所）：</a:t>
            </a:r>
            <a:pPr indent="0" marL="0">
              <a:buNone/>
            </a:pPr>
            <a:r>
              <a:rPr lang="en-US" sz="9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今の仕事を今の目標のまま続け、「使うと商談に勝ちやすくなる道具」が完成してから受け取る。研究開発はテーマ①手順1と④-2に材料を提供する。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02920" y="5943600"/>
            <a:ext cx="11185855" cy="56692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43" name="Text 41"/>
          <p:cNvSpPr/>
          <p:nvPr/>
        </p:nvSpPr>
        <p:spPr>
          <a:xfrm>
            <a:off x="731520" y="5980176"/>
            <a:ext cx="107286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人の集め方：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①社内から選ぶ（商品知識×小売の事情の両方がわかる人は社外にいない）②外部採用は2職種だけ ③マーケ⇔営業の異動を仕組みに（テーマ③）④最初の現場の経験者が次の現場を実地で教える。変革チームの評価は売上目標から切り離す（テーマ③）。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When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時間割 ― テーマ①〜④それぞれの進み方と、3つの確認ポイント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テーマ④だけは期限を自社で選べないため最初に着手。①〜③は並行で進め、確認ポイントに合格したときだけ投資と組織変更を広げる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17904"/>
          <a:ext cx="1118585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874520"/>
                <a:gridCol w="2286000"/>
                <a:gridCol w="2194560"/>
                <a:gridCol w="1828800"/>
                <a:gridCol w="1810512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　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今すぐ（90日）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1年目（〜2027夏）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2〜3年（〜2029）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4〜8年（〜2034）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その先（〜2040）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テーマ④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土俵の確保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AIでの扱われ方の実測開始（90日で初回報告）。情報整備に着手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主要商品の情報公開が完了。モール是正。定期購入の設計。広告枠を販促計画に組み込み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定期購入の登録数を主要指標に。AI経由の販売・紹介を実測できる状態に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AI購入代行が国内普及。「外されない」から「選ばれる」へ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仕組みに商品分野ごと登録され、自動補充で標準的に選ばれる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テーマ①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根拠づくり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E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研究知見の一覧化（手順1）。最初の現場の決定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最初の予測を作り、商談1件成立。売場で実証（手順5）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10商談・3社で再現。3分野×5社へ拡大。歯科・学校ルートのデジタル化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全国の標準のやり方に。主要小売と共同の事業計画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歯科・学校・自治体で作った習慣が、AI時代の「初期設定」になる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テーマ②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時間づくり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事務時間の測定。「やめる仕事」の候補リスト作成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廃止の宣言＋自動化で事務3割減。浮いた時間はテーマ①へ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事務5割減が定着。生産性の差の縮小が数字に表れる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生産性の差（対P&amp;G約7.6倍）を半減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少ない人数で回る営業・マーケ体制が定着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テーマ③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動機づくり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専任5名の拠出。変革チームの評価の切り離しを人事と合意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加点評価の適用開始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売上×「買い続け」の二軸評価へ。橋渡し役を正式組織に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新基準へ全面切替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「買い続けてもらう売上」中心の指標が全社に定着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確認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ポイント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―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確認1（2027年夏）：商談1件＋事務3割減＋AI紹介の改善＋定期登録 → 合格で3分野×5社へ拡大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確認2（2028年度末）：10商談で再現 → 合格で組織の正式化・二軸評価・本格投資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確認3（2031年ごろ）：主要小売5社と共同計画 → 合格で全社標準・評価の全面切替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―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6035040"/>
            <a:ext cx="11185855" cy="47548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607161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確認ポイントの考え方：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不合格なら広げず、どのテーマのどの手順で詰まったかを特定して直し、再挑戦する。組織・評価の変更（テーマ③）は必ず実例を根拠に行う ― 事実で社内を動かす。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Much 1/3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かかるお金と、返ってくる効果 ― どのテーマが生むか（仮の試算・要確認）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5年間の投資30〜50億円に対し、効果は年45〜95億円で2〜3年で回収。効果の出どころをテーマ①〜④に紐づけて示す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3566160" cy="301752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72768"/>
            <a:ext cx="3566160" cy="347472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727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かかるお金（5年間の合計）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30〜50億円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最初の3年間：年3〜5億円
</a:t>
            </a:r>
            <a:pPr indent="0" marL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テーマ④の5対策（年1〜2億円）と専任者の人件費、既存システムの活用が中心
</a:t>
            </a:r>
            <a:pPr indent="0" marL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4年目以降：合計20〜35億円
</a:t>
            </a:r>
            <a:pPr indent="0" marL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データ基盤・情報公開の拡張・歯科アプリの本格版。確認2に合格したら投資する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43400" y="1572768"/>
            <a:ext cx="734263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1572768"/>
            <a:ext cx="64008" cy="896112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1636776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事務作業を減らした時間の価値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4526280" y="195681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 15〜25億円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26280" y="2267712"/>
            <a:ext cx="1188720" cy="2560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22677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テーマ② 時間づくり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269480" y="1627632"/>
            <a:ext cx="4297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営業・マーケ約800名（仮）の事務作業3〜4割減の人件費相当。浮いた時間はテーマ①の商談・売場づくりに使う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4343400" y="2542032"/>
            <a:ext cx="734263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43400" y="2542032"/>
            <a:ext cx="64008" cy="89611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0" name="Text 18"/>
          <p:cNvSpPr/>
          <p:nvPr/>
        </p:nvSpPr>
        <p:spPr>
          <a:xfrm>
            <a:off x="4526280" y="260604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値引き費用の使い方の見直し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4526280" y="29260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 20〜40億円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26280" y="3236976"/>
            <a:ext cx="1188720" cy="256032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23" name="Text 21"/>
          <p:cNvSpPr/>
          <p:nvPr/>
        </p:nvSpPr>
        <p:spPr>
          <a:xfrm>
            <a:off x="4526280" y="32369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テーマ① 根拠づくり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806440" y="3236976"/>
            <a:ext cx="1188720" cy="2560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5" name="Text 23"/>
          <p:cNvSpPr/>
          <p:nvPr/>
        </p:nvSpPr>
        <p:spPr>
          <a:xfrm>
            <a:off x="5806440" y="32369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テーマ④ 土俵の確保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269480" y="2596896"/>
            <a:ext cx="4297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値引き・特売費（仮に売上の12〜15%＝500〜600億円）の5〜10%を、根拠ある売場づくり（①）と小売広告枠（④-5）へ振り替え、利益率を改善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4343400" y="3511296"/>
            <a:ext cx="734263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43400" y="3511296"/>
            <a:ext cx="64008" cy="896112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29" name="Text 27"/>
          <p:cNvSpPr/>
          <p:nvPr/>
        </p:nvSpPr>
        <p:spPr>
          <a:xfrm>
            <a:off x="4526280" y="357530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広告費のムダ削減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4526280" y="389534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 10〜30億円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526280" y="4206240"/>
            <a:ext cx="1188720" cy="2560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2" name="Text 30"/>
          <p:cNvSpPr/>
          <p:nvPr/>
        </p:nvSpPr>
        <p:spPr>
          <a:xfrm>
            <a:off x="4526280" y="42062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テーマ④ 土俵の確保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269480" y="3566160"/>
            <a:ext cx="4297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広告の効果を測れるようにし（④-1・5）、効果の低い広告費の1割程度を効果の高い使い方に移す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4343400" y="4480560"/>
            <a:ext cx="734263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43400" y="4480560"/>
            <a:ext cx="64008" cy="896112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36" name="Text 34"/>
          <p:cNvSpPr/>
          <p:nvPr/>
        </p:nvSpPr>
        <p:spPr>
          <a:xfrm>
            <a:off x="4526280" y="4544568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棚やAIから外されるのを防ぐ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4526280" y="4864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金額化は困難・ただし最大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526280" y="5175504"/>
            <a:ext cx="1188720" cy="2560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9" name="Text 37"/>
          <p:cNvSpPr/>
          <p:nvPr/>
        </p:nvSpPr>
        <p:spPr>
          <a:xfrm>
            <a:off x="4526280" y="51755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テーマ④ 土俵の確保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269480" y="4535424"/>
            <a:ext cx="4297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データ不備の商品は将来、小売やAIの仕組みが自動的に外す。防ぐこと＝売上の防衛が最大の効果（④-1〜4）</a:t>
            </a:r>
            <a:endParaRPr lang="en-US" sz="870" dirty="0"/>
          </a:p>
        </p:txBody>
      </p:sp>
      <p:sp>
        <p:nvSpPr>
          <p:cNvPr id="41" name="Shape 39"/>
          <p:cNvSpPr/>
          <p:nvPr/>
        </p:nvSpPr>
        <p:spPr>
          <a:xfrm>
            <a:off x="502920" y="5486400"/>
            <a:ext cx="11185855" cy="86868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42" name="Text 40"/>
          <p:cNvSpPr/>
          <p:nvPr/>
        </p:nvSpPr>
        <p:spPr>
          <a:xfrm>
            <a:off x="731520" y="5550408"/>
            <a:ext cx="107286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回収の見通し：</a:t>
            </a:r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効果の合計は年45〜95億円、投資は5年で30〜50億円 ― 2〜3年で回収できる計算。</a:t>
            </a:r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FFD5D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ただし人数や費用の内訳はすべて仮の数字。最初の90日で実際に測り、確かな数字に置き換えてから経営会議で確定する。</a:t>
            </a:r>
            <a:endParaRPr lang="en-US" sz="1030" dirty="0"/>
          </a:p>
        </p:txBody>
      </p:sp>
      <p:sp>
        <p:nvSpPr>
          <p:cNvPr id="43" name="Text 41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Much 2/3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部門ごとのリターン ― それぞれに「何が良くなるか」と見る数字（KPI）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変革は号令だけでは動かない。各部門が「自分たちの得になる」と言える状態を作ることが、動機（テーマ③）への一番の打ち手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18585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5943600"/>
                <a:gridCol w="2862072"/>
                <a:gridCol w="91440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部門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何が良くなるか（リターン）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見る数字（KPI）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関係テーマ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営業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事務が減り商談準備・対話の時間が約2倍に。値引きでなく「数字の根拠」で提案でき、勝率と利益が上がる。バイヤーから「頼れる相談相手」として扱われる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根拠を使った提案の成立数・勝率／事務時間の割合／特売への依存度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5A64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①②④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マーケティング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広告が購入につながったかを初めて数字で確認できる。効果の薄い広告を減らし、効く施策と小売広告枠に移せる。AIでの紹介のされ方を自分たちで動かせる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効果を測定できている広告の割合／AIでの紹介率／買い続けるお客様の割合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5A64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①④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研究開発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30年分の研究データが商談とAIの回答で使われ、売上への貢献が数字で見える。売場の検証結果が次の研究テーマ選びに役立つ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研究データを使った提案の数／公開情報での引用のされ方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5A64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①④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生産・物流・環境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商品・環境データの整備が小売の審査への回答になり、取り扱い中止のリスクが減る。店頭回収など負担の大きい仕事を小売と一緒に設計できる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環境データを整備できた商品の割合／欠品率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5A64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経営・経営管理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販促費・広告費・投資の効果を同じ物差しで比べられ、配分の判断が速く正確に。AIでの扱われ方の毎月報告が市場変化への早期警報になる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利益率／投資に対する効果／買い続けるお客様による売上の割合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5A64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①〜④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人事・全社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マーケ⇔営業の異動で両方わかる人材が育つ。「変革に取り組んだ人が報われる」評価が意欲ある社員の離職を防ぐ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部門間異動の数／新しい評価を適用された人数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5A64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③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1722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各KPIの目標値は、最初の90日の実測後に推進事務局が案を作り、経営会議で決める。</a:t>
            </a:r>
            <a:endParaRPr lang="en-US" sz="930" dirty="0"/>
          </a:p>
        </p:txBody>
      </p:sp>
      <p:sp>
        <p:nvSpPr>
          <p:cNvPr id="8" name="Text 5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Much 3/3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KGIとKPI ― テーマ①〜④の数字が、3つの最終目標へ一本につながる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KGI（最終目標）は3つだけ。1年目のKPIはすべてテーマ番号つきで、どのKGIに向かうかが追える。つながらない施策は原則やらない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4996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KGI＝最終目標（2040年・会社全体）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3383280" cy="1170432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883664"/>
            <a:ext cx="31089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KGI① 利益率
</a:t>
            </a:r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値引きに頼らず利益を出せる会社になれたか。主にテーマ①②が押し上げる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3108960"/>
            <a:ext cx="3383280" cy="1170432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" y="3163824"/>
            <a:ext cx="31089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KGI② 買い続けてもらう売上の割合
</a:t>
            </a:r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習慣として買われている売上の割合（目標5割超・基準は要設定）。テーマ①が作り、④が守る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4389120"/>
            <a:ext cx="3383280" cy="1170432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" y="4443984"/>
            <a:ext cx="31089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KGI③ AI・小売の仕組みへの登録数
</a:t>
            </a:r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「最初から選ばれる商品」になれた商品分野の数。テーマ④が直結する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31920" y="3291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43400" y="14996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中間のKPI（〜2034年）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43400" y="1828800"/>
            <a:ext cx="3566160" cy="859536"/>
          </a:xfrm>
          <a:prstGeom prst="rect">
            <a:avLst/>
          </a:prstGeom>
          <a:solidFill>
            <a:srgbClr val="EAF3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1828800"/>
            <a:ext cx="64008" cy="859536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17" name="Text 15"/>
          <p:cNvSpPr/>
          <p:nvPr/>
        </p:nvSpPr>
        <p:spPr>
          <a:xfrm>
            <a:off x="4526280" y="1865376"/>
            <a:ext cx="3291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お客様の年間購入額の伸び
</a:t>
            </a:r>
            <a:pPr indent="0" marL="0">
              <a:lnSpc>
                <a:spcPct val="108000"/>
              </a:lnSpc>
              <a:buNone/>
            </a:pPr>
            <a:r>
              <a:rPr lang="en-US" sz="8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最初の現場から展開先まで共通の物差し。マーケ・橋渡し役・営業の3者共通の目標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4343400" y="2798064"/>
            <a:ext cx="3566160" cy="859536"/>
          </a:xfrm>
          <a:prstGeom prst="rect">
            <a:avLst/>
          </a:prstGeom>
          <a:solidFill>
            <a:srgbClr val="FBEC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43400" y="2798064"/>
            <a:ext cx="64008" cy="85953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0" name="Text 18"/>
          <p:cNvSpPr/>
          <p:nvPr/>
        </p:nvSpPr>
        <p:spPr>
          <a:xfrm>
            <a:off x="4526280" y="2834640"/>
            <a:ext cx="3291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販促費・広告費の投資効果
</a:t>
            </a:r>
            <a:pPr indent="0" marL="0">
              <a:lnSpc>
                <a:spcPct val="108000"/>
              </a:lnSpc>
              <a:buNone/>
            </a:pPr>
            <a:r>
              <a:rPr lang="en-US" sz="8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値引きから「効果の見える使い方」へどれだけ転換できたか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343400" y="3767328"/>
            <a:ext cx="3566160" cy="859536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43400" y="3767328"/>
            <a:ext cx="64008" cy="85953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4526280" y="3803904"/>
            <a:ext cx="3291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1人あたり生産性の差の半減
</a:t>
            </a:r>
            <a:pPr indent="0" marL="0">
              <a:lnSpc>
                <a:spcPct val="108000"/>
              </a:lnSpc>
              <a:buNone/>
            </a:pPr>
            <a:r>
              <a:rPr lang="en-US" sz="8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P&amp;Gと約7.6倍の開きがある生産性の差を半分にする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4343400" y="4736592"/>
            <a:ext cx="3566160" cy="859536"/>
          </a:xfrm>
          <a:prstGeom prst="rect">
            <a:avLst/>
          </a:prstGeom>
          <a:solidFill>
            <a:srgbClr val="FBEC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43400" y="4736592"/>
            <a:ext cx="64008" cy="85953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4773168"/>
            <a:ext cx="3291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データ整備率と定期購入の登録数
</a:t>
            </a:r>
            <a:pPr indent="0" marL="0">
              <a:lnSpc>
                <a:spcPct val="108000"/>
              </a:lnSpc>
              <a:buNone/>
            </a:pPr>
            <a:r>
              <a:rPr lang="en-US" sz="8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審査で外されない状態＋自動購入時代の「初期設定」をどれだけ取れたか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8001000" y="3291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◀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12480" y="14996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1年目のKPI（テーマ番号つき）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412480" y="1828800"/>
            <a:ext cx="3273552" cy="384048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49640" y="1938528"/>
            <a:ext cx="3017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AIでの紹介のされ方（毎月計測・改善件数）</a:t>
            </a:r>
            <a:endParaRPr lang="en-US" sz="86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商品情報を整備・公開できた主要商品の割合</a:t>
            </a:r>
            <a:endParaRPr lang="en-US" sz="86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定期購入の登録数・継続率</a:t>
            </a:r>
            <a:endParaRPr lang="en-US" sz="86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小売広告枠へ振り替えた金額とその効果</a:t>
            </a:r>
            <a:endParaRPr lang="en-US" sz="86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根拠を使った提案の成立数（1件→10件）</a:t>
            </a:r>
            <a:endParaRPr lang="en-US" sz="86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小売と一緒に作った売場の店舗数・検証の数</a:t>
            </a:r>
            <a:endParaRPr lang="en-US" sz="86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事務作業時間の削減率（3割→5割）・廃止実行率</a:t>
            </a:r>
            <a:endParaRPr lang="en-US" sz="86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加点評価の適用者数・部門間異動の数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502920" y="5852160"/>
            <a:ext cx="11185855" cy="54864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5888736"/>
            <a:ext cx="107286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運用のルール：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現場のKPIは3か月ごとに推進事務局が測り、経営会議に報告する。KGIにつながらない新しい施策の追加は原則行わない ― 「システムを入れること自体が目的」になることを防ぐ。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2026-08-02T17:48:08Z</dcterms:created>
  <dcterms:modified xsi:type="dcterms:W3CDTF">2026-08-02T17:48:08Z</dcterms:modified>
</cp:coreProperties>
</file>