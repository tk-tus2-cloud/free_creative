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総点検と是正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7830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その変化は、もう始まっている。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環境分析と解決策の総点検 ― 計画の是正版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ご指摘のとおり、AIを使った検索・購入は「2040年の未来」ではなく、既に始まった現実です。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この資料では、これまでの環境分析（PEST・3C・SWOT）、勝ち筋、ギャップ、真因をすべて点検し、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「何が正しく、何が間違っていたか」を明らかにしたうえで、解決策の順序と期限を引き直します。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" y="512064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結論の先出し：分析の中身と勝ち筋は正しい。間違っていたのは「時間軸」と「実行の順序」。守りを今すぐに前倒しし、攻めは計画どおり進める。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点検の結論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総点検の結論 ― 3つの誤りを認め、3つの是正を行う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PEST・3C・SWOT・勝ち筋・真因を一つずつ点検した結果。分析の方向は正しいが、時間の置き方と実行の順序に誤りがあった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153619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15361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910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誤り 1　</a:t>
            </a:r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時間軸の誤り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検索・購入・自動補充を「2040年に起きる変化」として扱っていた。実際には、AIでの検索は既に主流化し（調べ物の66.4%はサイトを開かずに終わる）、米国ではAIとの対話の中でそのまま購入まで完了する仕組みが2025年に始まっている。国内の広がりも「十数年後」ではなく「2〜3年」の話。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85800" y="26151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 1：施策ごとに「決着の期限」を明記し、期限を自社で動かせない施策（AI対応・小売対応）を最優先にする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11185855" cy="153619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45536"/>
            <a:ext cx="64008" cy="15361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18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誤り 2　</a:t>
            </a:r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順序の誤り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52958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計画では、AIへの対応を「1年目は観測だけ、本格対応は2029年以降」としていた。競合の花王は、AIが自社と競合をどう紹介しているかの監視を既に運用している。観測から始めている時点で、既に一歩遅れている。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85800" y="424281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 2：「AIにどう扱われているかの実測と是正」「商品情報のAIが読める形での公開」を、4年目の投資から1年目の必須事項に前倒しする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4773168"/>
            <a:ext cx="11185855" cy="153619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773168"/>
            <a:ext cx="64008" cy="15361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846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誤り 3　</a:t>
            </a:r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危機の描き方の誤り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15721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ままだと2040年に困る」という描き方では、現場に切迫感が生まれない（真因③）。実際は「今この瞬間、AIが自社商品をどう紹介しているか、誰も知らない」ことが問題。危機は将来ではなく現在の欠落。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85800" y="58704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 3：真因に4つ目「時間軸の誤認」を追加し、最初の90日で「AIでの扱われ方」の実測データを経営と現場に見せる ― 危機を数字で現在形にする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02920" y="632764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変わらないもの：勝ち筋（習慣づくり×科学的根拠×歯科・学校との信頼関係）、少人数専任の体制、「1つの現場で試して広げる」進め方、投資の全体観。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事実の確認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AIを使った買い物は、どこまで来ているのか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公開情報にもとづく現在地の確認（数値・時期は要最新確認）。結論：海外では「AIの中で買う」が始まり、国内でも「AIで選ぶ」は既に日常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海外での動き（公開情報より）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1051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2024年11月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810512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8288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AI検索のPerplexity社が、AIが利用者の代わりに購入まで行う機能を米国で開始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02920" y="2432304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3230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 1月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2432304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245059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OpenAI社が、人の代わりにサイトを操作して買い物などを行う機能（Operator）を公開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5409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 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45920" y="3054096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64792" y="307238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Amazonが買い物相談AI「Rufus」を本格展開。他社サイトの商品を代わりに買う機能も試験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02920" y="3675888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7588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 9月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3675888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369417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ChatGPTの画面内でそのまま決済まで完了する仕組みが開始。同時にOpenAI社と決済大手が「AIが買い物をするための共通規格」を公開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02920" y="4297680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9768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 9月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0" y="4297680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4792" y="431596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Googleが「AIが支払いを行うための国際規格」を発表。カード・決済会社60社以上が参加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02920" y="4919472"/>
            <a:ext cx="1143000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91947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2025年10月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5920" y="4919472"/>
            <a:ext cx="4892040" cy="56692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64792" y="493776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米国最大手スーパーのウォルマートが、ChatGPTから直接商品を買える提携を発表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812280" y="1499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国内の現在地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12280" y="1810512"/>
            <a:ext cx="4873752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1810512"/>
            <a:ext cx="54864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6967728" y="1847088"/>
            <a:ext cx="4617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調べる：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調べ物の66.4%はサイトを開かずAIの要約や検索結果だけで完結（2026年4月・国内調査）。商品を「調べて選ぶ」入口は既にAIに移りつつある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12280" y="2743200"/>
            <a:ext cx="4873752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2743200"/>
            <a:ext cx="54864" cy="85953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6967728" y="2779776"/>
            <a:ext cx="4617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買う：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日用品の9割前後はまだ店頭での購入。ただし「店で何を買うか」は来店前にAIやスマホで決まり始めている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3675888"/>
            <a:ext cx="4873752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3675888"/>
            <a:ext cx="54864" cy="85953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40" name="Text 38"/>
          <p:cNvSpPr/>
          <p:nvPr/>
        </p:nvSpPr>
        <p:spPr>
          <a:xfrm>
            <a:off x="6967728" y="3712464"/>
            <a:ext cx="4617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自動で届く：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Amazon定期おトク便・楽天の定期購入など「一度設定すれば自動で届く」買い方は既に普及。ここで選ばれた商品は、AI代行が広がってもそのまま引き継がれる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12280" y="4608576"/>
            <a:ext cx="4873752" cy="85953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4608576"/>
            <a:ext cx="54864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6967728" y="4645152"/>
            <a:ext cx="4617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小売の変化：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イオン・セブンなど主要小売の広告事業は既に立ち上がり急成長中（2029年に約1.3兆円の市場予測）。「将来の話」ではなく現在の商談条件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5623560"/>
            <a:ext cx="11185855" cy="7772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6875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ここから導かれる大事な点：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影響は「どこで買うか（レジ）」より先に「何を買うか（指名）」に現れる。店頭で買う人も、調べるのはAI。つまりネット販売の比率がまだ低い今でも、「AIに正しく認識される」対策は先送りできない。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世の中の変化（PEST）の点検 ― 「2040年の想定」はいま何合目か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以前の資料で「2040年の変化」と置いた項目を一つずつ点検。多くは既に始まっており、対応の期限を引き直す必要がある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1188720"/>
                <a:gridCol w="3429000"/>
                <a:gridCol w="28163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以前の資料の想定（2040年の変化）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点検の結果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実際の現在地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計画の直し方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政治・規制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環境情報の開示義務、容器の回収義務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一部は既に決定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大企業への開示義務化は決定済みで順次適用。容器の完全回収はまだ先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環境データの整備を「期限のある仕事」として扱う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政治・規制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個人データ規制の強化で、外部データに頼る広告が使えなくなる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規制強化は実施済み。外部データ頼みの広告は既に効きにくい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小売データとの連携を今年から本格化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低価格品と高付加価値品への二極化、中間の空洞化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小売の自主企画商品の拡大と値上げの浸透で、二極化は既に現実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「将来の想定」から「今期の前提」へ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高齢化の進行、予防・健康への関心の高まり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65歳以上は既に人口の約3割。予防・セルフケア市場は拡大中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方向は正しい。変更なし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国民皆歯科健診（国の方針としての歯科健診の拡大）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既に始動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政府方針に明記済みで、制度化の検討が既に進んでいる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「2040年の機会」ではなく「今年から取りに行く機会」へ前倒し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AIでの検索が当たり前になり、サイトを見ずに調べ物が終わる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調べ物の66.4%はサイトを開かず完結（2026年4月調査）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対応は「観測」ではなく「即時の実測と是正」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AIが人の代わりに商品を選び、購入まで行う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海外で開始済み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米国では2025年にAI画面内での決済・購入代行が開始。国内も2〜3年で広がる見込み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「2040年の話」から「2〜3年の話」へ。準備の期限を引き直す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全商品へのICタグ、店舗の無人化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まだ先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タグのコストが壁で、普及はまだ先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時期の想定は維持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2636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※「既に発生・進行中」が8項目中5項目。以前の資料は方向を正しく捉えていたが、「遠い未来」に置きすぎていた。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消費者・小売・競合（3C）の点検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消費者と小売の変化は想定より速く、競合は「これから動く」のではなく「既に動き終えつつある」。自社の課題認識は正しかった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5074920"/>
                <a:gridCol w="24505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以前の資料の想定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点検の結果（実際の現在地）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計画の直し方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2040年ごろ、買い物をAIに任せるようになる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「調べて選ぶ」は既にAIへ移行中。「自動で届く」買い方（定期便）も既に普及。AIによる完全な購入代行は海外で開始済みで、国内も数年内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「AIに正しく認識される」対策を1年目の最優先に格上げ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小売・卸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将来、物販から「広告とデータで稼ぐ」業態へ変わっていく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主要小売の広告事業は既に立ち上がり急成長中。「データで売れる根拠を示せるメーカーを優先する」動きも既に商談で始まっている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小売の広告枠の活用を「将来の検討」から「今年の販促計画」へ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競合は変化を見据えて先に動き始めている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花王：AIが自社・競合をどう紹介するかの監視を既に運用中。データ基盤も稼働済み。P&amp;G：生産性改革を終え、浮いた資金をAIに再投資する段階。差は現在進行形で開いている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「追いつく準備」ではなく「遅れの回復」として、期限を切って取り組む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データが分断し、事務作業に時間を取られ、知見が提案に使われていない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点検の結果、この認識は正しい。ただし「AIが自社商品をどう扱っているかを誰も知らない」という欠落が加わった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課題の中身は変えず、着手の順序を変える（守りを先に）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5855" cy="7772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875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点検からの気づき：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最も重い事実は競合の欄にある。花王が既にやっている「AIでの扱われ方の監視」を、当社は「これから観測を始める」計画にしていた。相手が実戦に入っているのに、こちらは準備運動の計画を書いていた ― ここを直す。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勝ち筋と真因の点検 ― 勝ち筋は有効。真因に「4つ目」を追加する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強み・弱み（SWOT）から導いた勝ち筋は、AI時代にむしろ価値が上がる。ただし条件が1つあり、真因には自己批判を含む追加が必要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勝ち筋の点検 ― 結論：有効。むしろ価値が上がる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989320" cy="1920240"/>
          </a:xfrm>
          <a:prstGeom prst="rect">
            <a:avLst/>
          </a:prstGeom>
          <a:solidFill>
            <a:srgbClr val="EEF4EC"/>
          </a:solidFill>
          <a:ln w="12700">
            <a:solidFill>
              <a:srgbClr val="C4D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5623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理由：AIは回答の根拠として「信頼できる情報源」を選ぶ。
</a:t>
            </a:r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会・学校との長年の活動、約30年の臨床データ、医薬品の知見は、AIにとって「引用したくなる情報」。広告費では買えない信頼を、当社は既に持っている。習慣づくり×科学的根拠×信頼ルートという勝ち筋は、AIが選ぶ時代にこそ効く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886200"/>
            <a:ext cx="5989320" cy="118872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97764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ただし条件が1つ：</a:t>
            </a:r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その情報がAIに読める形で公開されていなければ、存在しないのと同じ。今の当社の研究知見・商品情報は、論文や紙の形で社内に眠っている。勝ち筋の価値は「公開・整備」が済んで初めて発生する。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12280" y="1499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真因の点検 ― 3つは不変。4つ目を追加する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828800"/>
            <a:ext cx="4873752" cy="106070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828800"/>
            <a:ext cx="64008" cy="10607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874520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真因1〜3（変わらず）
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①知見を提案に変える仕組みがない　②事務作業で時間がない　③変えても報われず動機がない ― 点検の結果、この3つは今も正しい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2980944"/>
            <a:ext cx="4873752" cy="1060704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2980944"/>
            <a:ext cx="64008" cy="10607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026664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真因4（新規追加）時間軸の誤認
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既に始まっている変化を「2040年の話」として扱い、対応を後回しにする計画を自ら作っていた ― 前回までの資料自身を含む。危機感が生まれない（真因③）最大の理由はここにあった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4133088"/>
            <a:ext cx="4873752" cy="106070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4133088"/>
            <a:ext cx="64008" cy="106070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4178808"/>
            <a:ext cx="4572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直し方
</a:t>
            </a:r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べての施策に「決着の期限」を明記する。特に、期限を自社で決められない施策（AI対応・小売対応・国の制度対応）を最優先とする。最初の90日で「AIでの扱われ方」の実測値を経営と現場に見せ、危機を現在形の数字にす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85855" cy="10058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132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点検後の勝ち筋（言い直し）：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まずAIと小売の仕組みから外されない状態を24か月以内に作る（守り）。そのうえで、他社には真似できない習慣づくりと科学的根拠で、人にもAIにも指名される商品になる（攻め）」。守りは足切りを回避する条件、攻めは勝敗を決める武器 ― 順序を間違えると、武器が完成する前に土俵から落ちる。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是正後の進め方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解決策の全体像 ― 「守りの前倒し」と「攻めの継続」を同時に進める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守りは期限を自社で動かせない（AIと小売と国が決める）。攻めは自社で時期を決められる。だから守りを先に、攻めは計画どおり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532120" cy="329184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532120" cy="4023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 ― 今すぐ〜24か月（前倒しした部分）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目的：AIと小売の仕組みから「外されない」状態を作る
</a:t>
            </a:r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AIが自社商品をどう扱っているかの実測と是正（90日で開始）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商品・研究情報の「AIが読める形」での整備・公開（12か月）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定期購入・自動補充の「初期設定」の獲得（12〜24か月）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ネット売場（モール内検索・AI相談）での見え方の是正（12か月）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小売の広告枠の本格活用（今年度の販促計画から）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性質：期限のある仕事。遅れると挽回できない。ただし費用は小さい（年1〜2億円程度・要精査）。必要なのはお金より「今やる」という決定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32120" cy="3291840"/>
          </a:xfrm>
          <a:prstGeom prst="rect">
            <a:avLst/>
          </a:prstGeom>
          <a:solidFill>
            <a:srgbClr val="EEF4EC"/>
          </a:solidFill>
          <a:ln w="12700">
            <a:solidFill>
              <a:srgbClr val="C4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554480"/>
            <a:ext cx="5532120" cy="4023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攻め ― 計画どおり継続（一部は前倒し）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084832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目的：人にもAIにも「指名される」商品・会社になる
</a:t>
            </a:r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・社内3つのデータをつなげた「提案の根拠」づくりと、1つの現場での実証（計画どおり）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・マーケと営業の橋渡し役、チーム営業（計画どおり）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・事務作業の削減と「やめる仕事」の決定（計画どおり）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・歯科・学校・自治体ルートの深化と歯科アプリ（計画どおり）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・国民皆歯科健診への対応（前倒し：国は既に動いているため、政策対応チームを今年組成）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性質：差がつく仕事。競合が真似できない部分であり、勝敗はここで決まる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029200"/>
            <a:ext cx="11185855" cy="12344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2064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前回計画との一番の違い：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前回は「攻めの準備を先に、AI対応は観測から」だった。今回は逆にする。守り（①〜⑤）は今すぐ実行に移し、攻めは腰を据えて計画どおり進める。</a:t>
            </a:r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両者はつながっている：守り②で公開する「科学的根拠」は、攻めで作る「提案の根拠」と同じ材料。守りを先にやることは、攻めの前倒しにもなる。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守りのやり方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前倒しする5つの対策 ― 何を・どうやって・いつまでに・どう確認するか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5つとも大きな投資は不要。既存の人員と小さな外部費用でできる。問題はお金ではなく、着手の決定だけ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89320"/>
                <a:gridCol w="1143000"/>
                <a:gridCol w="22219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できたかの確認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AIでの扱われ方の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実測と是正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・Gemini・Perplexity・Amazonの買い物AIなどに、生活者が実際にする質問（「子どもの歯みがき粉のおすすめは？」等）を毎月投げ、自社と競合の紹介のされ方を記録。紹介されない原因を特定し、情報の直し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90日で初回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 毎月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月次レポートの発行／紹介のされ方の改善件数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商品・研究情報の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整備と公開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商品の成分・効能・使い方・よくある質問を、AIが読み取れる形に整えて自社サイトで公開。歯科医師会や論文など公的な根拠への接続も明記する。AIは根拠のある情報を引用しやすい ― 当社の臨床データが武器になる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12か月で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主要商品完了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主要商品の整備率100%／①での紹介率の変化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定期購入の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「初期設定」の獲得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azon定期おトク便・楽天定期購入・ネットスーパーで、初回購入から定期化につなげる設計（容量・価格・特典）を作る。一度「定期」に入った商品は、AIによる購入代行が広がってもそのまま引き継がれる可能性が高い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12〜24か月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主要商品の定期購入の登録数・継続率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ネット売場での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見え方の是正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主要モール内の検索・AI相談での自社商品の表示を点検し、商品情報・画像・質問への回答を是正する。モール内の広告も含めて「探されたときに見つかる」状態を作る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モール内検索の表示順位／AI相談での紹介率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小売の広告枠の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本格活用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主要小売の広告事業（アプリ・サイネージ・会員向け配信）を今年度の販促計画に組み込む。値引き費用の一部を振り替え、売上への効果を小売のデータで確認する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今年度から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振り替えた金額／売上・利益への効果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①と②は、攻めで作る「提案の根拠」と同じ材料を使う。二重投資にはならない。⑤は営業の販促計画と一体で進める（別動隊にしない）。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是正後の時系列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解決策の時間割 ― 「今すぐ」から「2040年」までの一本の道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守り（外されない）→ 攻め（指名される）→ 完成（習慣が初期設定になる）。手前の期限は自社で動かせないため、守りから始める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20240"/>
                <a:gridCol w="2240280"/>
                <a:gridCol w="2148840"/>
                <a:gridCol w="1828800"/>
                <a:gridCol w="1810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今すぐ（90日）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1年目（〜2027夏）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2〜3年（〜2029）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4〜8年（〜2034）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その先（〜2040）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守り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（外されない）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AIでの扱われ方の実測を開始（90日で初回報告）。商品情報の整備に着手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主要商品の情報整備・公開が完了。モールでの見え方を是正。定期購入の設計開始。小売広告枠を販促計画に組み込み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定期購入の登録数を主要な数字として管理。AI経由の販売・紹介を実測できる状態に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AIによる購入代行が国内で普及。「外されない」から「選ばれる」への切り替え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AI・小売の仕組みに商品分野ごと登録され、自動補充で標準的に選ばれている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（指名される）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実行チーム結成・最初の現場決定。研究知見の一覧化。政策対応チームを今年組成（前倒し）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「提案の根拠」で商談1件成立。売場で実証。歯科アプリ試作。事務作業3割減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10商談・3社で再現。橋渡し役を正式組織に。3分野×5社へ拡大。歯科・学校ルートのデジタル化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全国の標準のやり方に。主要小売と共同の事業計画。生産性の差を半減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歯科・学校・自治体で作った習慣が、AI時代の「初期設定」になる ― 最終目標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体制・制度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専任5名の拠出。事務時間の測定。「やめる仕事」の宣言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変革参加者への加点評価を開始。確認ポイント1（2027年夏）：商談1件＋事務3割減＋AIでの紹介改善＋定期購入の登録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売上と「買い続け」の二軸評価へ。確認ポイント2（2028年度末）で組織を正式化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評価を新基準に全面切り替え（確認ポイント3）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「買い続けてもらう売上」中心の経営指標が定着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この表の読み方：</a:t>
            </a:r>
            <a:pPr indent="0" marL="0"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左2列（今すぐ・1年目）が今回の是正で厚くなった部分。3列目以降は前回計画の内容を維持している。つまり「計画の作り直し」ではなく「先頭に守りを差し込む修正」である。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変更点の一覧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前回計画から変えること・変えないこと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変えるのは6点、いずれも「前倒し」か「追加」。勝ち筋・体制・進め方・お金の全体観は変えない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8737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前回の計画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是正後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AIへの対応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1年目は観測のみ。本格対応は2029年以降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90日で実測と是正を開始。情報整備は12か月で完了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商品情報の公開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4年目以降の投資項目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1年目に前倒し（費用は小さく、効果の入口になるため）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定期購入の獲得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記載なし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新規追加。AI代行時代への最も実践的な備えとして12〜24か月で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小売の広告枠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中期（2029年〜）に本格化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今年度の販促計画に組み込み、値引き費用から振り替えて試す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中長期の機会として記載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国は既に動いているため、政策対応チームを今年組成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確認ポイント1（2027年夏）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商談1件成立＋事務作業3割減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左に加えて「AIでの紹介の改善」「定期購入の登録数」を追加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真因（問題の根っこ）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3つ（仕組み・時間・動機）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4つ目「時間軸の誤認」を追加。全施策に決着期限を明記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349240"/>
            <a:ext cx="11185855" cy="960120"/>
          </a:xfrm>
          <a:prstGeom prst="rect">
            <a:avLst/>
          </a:prstGeom>
          <a:solidFill>
            <a:srgbClr val="EEF4EC"/>
          </a:solidFill>
          <a:ln w="12700">
            <a:solidFill>
              <a:srgbClr val="C4D6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4406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変えないこと：</a:t>
            </a:r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①勝ち筋（習慣づくり×科学的根拠×歯科・学校との信頼関係）　②少人数専任の体制と「やめる仕事」「評価の切り離し」　③「1つの現場で試して広げる」進め方　④投資の全体観（5年で30〜50億円）。守りの5対策の追加費用は年1〜2億円程度（要精査）で、この枠内に収まる見込み。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決めていただきたいこと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経営に決めていただきたいこと（是正版）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前回の3つの決定に、今回の点検から1つを追加する。4つとも次回の経営会議での決定をお願いしたい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総点検と是正（討議用）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7340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2734056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72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1（前回どおり）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621792" y="2066544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最初の現場と、専任者を決める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834640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試す商品分野（オーラルケア）・小売企業・支店を決め、専任5名をふだんの仕事から外して出す。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19272" y="1572768"/>
            <a:ext cx="27340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572768"/>
            <a:ext cx="2734056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572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2（前回どおり）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438144" y="2066544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「やめる仕事」を経営の名前で宣言する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事務時間の測定結果をもとに「やめる仕事の一覧」を経営の名前で宣言し、3か月ごとに実行を確認する。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35624" y="1572768"/>
            <a:ext cx="27340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572768"/>
            <a:ext cx="2734056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1572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3（前回どおり）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254496" y="2066544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変革チームの評価を売上目標から切り離す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54496" y="2834640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実行チーム・橋渡し役・事務局の評価を、変革の進み具合で行う仕組みを人事部門と合意する。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951976" y="1572768"/>
            <a:ext cx="2734056" cy="310896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51976" y="1572768"/>
            <a:ext cx="2734056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9070848" y="1572768"/>
            <a:ext cx="2496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4（今回追加）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070848" y="2066544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守りの5対策の即時開始と、担当役員の任命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70848" y="2834640"/>
            <a:ext cx="24963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AIでの扱われ方の実測、商品情報の整備、定期購入の設計、ネット売場の是正、小売広告枠の活用 ― この5つを直ちに開始し、担当役員を1名決めて90日後に初回報告を受ける。追加費用は年1〜2億円程度（要精査）。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0292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90日で行うこと（更新版）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5212080"/>
            <a:ext cx="11185855" cy="12344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30352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AIでの扱われ方の初回実測と報告（新規・最優先）：主要なAIに生活者の質問を投げ、自社と競合の紹介のされ方を経営に報告する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効果試算の前提の実測（前回どおり）：人数・値引き費用・広告費・事務時間を測る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商品情報の整備計画（新規）：どの商品から・どんな形で公開するか、対象と順番を決める</a:t>
            </a:r>
            <a:endParaRPr lang="en-US" sz="94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歯科医師会・小売の経営層との対話開始（前回どおり）＋国の歯科健診の動向確認（前倒し）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2026-08-02T17:12:10Z</dcterms:created>
  <dcterms:modified xsi:type="dcterms:W3CDTF">2026-08-02T17:12:10Z</dcterms:modified>
</cp:coreProperties>
</file>