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真因は「型・武器・回路」の3つ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中計の決定も宣伝・販促の傾斜配分も実行済み。それでもギャップが残る原因は、①増えた資源の「使い方の型」が従来の勝ちパターンのまま ②新しい型で戦う「武器」（データ・根拠）が揃っていない ③作る→試す→検証→広げる「回路」がない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型＝傾斜した資源の新しい使い方を設計（4分割・エビデンス商談・値引き70＋施策30）／武器＝8つの重点施策で供給／回路＝時間・編成・確認ゲート・撤退基準。小さく実証→検証→拡大の順で諮る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真因（型・武器・回路）→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前頁の3つの解決（型・武器・回路）を4テーマの言葉に戻す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残るは使い方の型（真因1）。皆歯科健診は骨太2022に明記済み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傾斜した資源を新しい勝ち方の型に流し込む ― オーラルケアを4分割し、分割別KPIとROIC基準で使い方を裁く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解決1「型」の設計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真因2「武器」。ゼロクリック66.4%〔ヴァリューズ〕。AIの引用元は自社サイト1%・小売EC17%〔XEO360〕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真因3「回路」。生成AI普及は1年で約3倍〔総務省白書〕＝期限は自社で選べない。対P&amp;G生産性7.6倍差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ダイヤモンド型組織</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北極星</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つの真因のうち、最初の一歩は追加予算のいらない「型を定める」＝傾斜済み資源の使い方の再設計。次回デジタル戦略会議では決めることを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次回デジタル戦略会議で決めること（3つ）＝解決1「型を定める」の起動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前頁のT1〜T4別ギャップを横断すると、残る原因は量（カネ・ヒト）ではなく質：「型・武器・回路」の3つ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80" b="1">
                <a:solidFill>
                  <a:srgbClr val="C8102E"/>
                </a:solidFill>
                <a:latin typeface="Meiryo UI"/>
                <a:ea typeface="Meiryo UI"/>
              </a:rPr>
              <a:t>真因1 「型が定まっていない」</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増えた資源が、従来の勝ちパターンで使われている。傾斜した宣伝・販促費の使い方はマス認知×棚×特売・値引きが中心のまま。AI・データ時代の勝ち方（エビデンス商談・Total Availability・B2B2C・AI推奨対応）が「型」として設計・言語化されていない ― 資源は新しい土俵に、戦術は古いままで流れ込む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80" b="1">
                <a:solidFill>
                  <a:srgbClr val="0F5E87"/>
                </a:solidFill>
                <a:latin typeface="Meiryo UI"/>
                <a:ea typeface="Meiryo UI"/>
              </a:rPr>
              <a:t>真因2 「武器が揃っていない」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営業が値引きに頼らざるを得ない ― 他に出せる球がない</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80" b="1">
                <a:solidFill>
                  <a:srgbClr val="008D2E"/>
                </a:solidFill>
                <a:latin typeface="Meiryo UI"/>
                <a:ea typeface="Meiryo UI"/>
              </a:rPr>
              <a:t>真因3 「回路が回っていない」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武器を作る時間は事務に食われ、試した施策は検証されず、成功しても隣に広がらない。単独営業（バタフライ型）の編成では、物流・環境・データを束ねた総力戦もできない ― 作る→試す→検証する→広げる、の回路が仕組みとして存在しない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―「型を定める・武器を揃える・回路を回す」に1対1で答え、8施策に接続する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解決策は真因の裏返し。★＝センターピン施策。B1「投資ROI可視化」が全回路の起点 ― この3解決を、次頁から4テーマ（現場の設計図）の言葉に展開する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82880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型</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35608"/>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「型を定める」 ― 傾斜した資源の、新しい使い方を設計する（追加予算不要）</a:t>
            </a:r>
          </a:p>
        </p:txBody>
      </p:sp>
      <p:sp>
        <p:nvSpPr>
          <p:cNvPr id="19" name="TextBox 18"/>
          <p:cNvSpPr txBox="1"/>
          <p:nvPr/>
        </p:nvSpPr>
        <p:spPr>
          <a:xfrm>
            <a:off x="1847088" y="175564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①市場の型：オーラルケアを4分割（補充・悩み・予防・口腔機能）し分割別に勝ち方とKPIを定義　②接点の型：販促の中身をエビデンス商談・診断型売場・B2B2C・AI推奨対応へ組み替え　③商談の型：「値引き70＋施策30＋成果連動」を標準パッケージに</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47472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武器</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81527"/>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「武器を揃える」 ― 着手済みの整備を、商談・接点で使える形まで到達させる</a:t>
            </a:r>
          </a:p>
        </p:txBody>
      </p:sp>
      <p:sp>
        <p:nvSpPr>
          <p:cNvPr id="33" name="TextBox 32"/>
          <p:cNvSpPr txBox="1"/>
          <p:nvPr/>
        </p:nvSpPr>
        <p:spPr>
          <a:xfrm>
            <a:off x="1847088" y="340156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バイヤー向け＝臨床データのLTV・炭素効率変換／AI向け＝製品属性データの構造化・API化（自動補充のホワイトリスト入り）／接点の武器＝学校・自治体ルートのデジタル化・専門家推奨エビデンス ― 「作った」でなく「商談で使われた」を完了条件にする</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512064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回路</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27448"/>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「回路を回す」 ― 作る→試す→検証する→広げる、を仕組みにする</a:t>
            </a:r>
          </a:p>
        </p:txBody>
      </p:sp>
      <p:sp>
        <p:nvSpPr>
          <p:cNvPr id="50" name="TextBox 49"/>
          <p:cNvSpPr txBox="1"/>
          <p:nvPr/>
        </p:nvSpPr>
        <p:spPr>
          <a:xfrm>
            <a:off x="1847088" y="504748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検証の目＝投資ROI可視化基盤（MMM×DCR）が全ての起点：投資と店頭売上の因果を可視化し、成果をGCPに還元してモデルを自動改善／時間＝Input業務ゼロ化／編成＝バタフライ型からダイヤモンド型（組織対組織JBP）へ ― 重点1小売×オーラルで実証→手順書化→展開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ダイヤモンド型組織への再編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センターピン（★）の連鎖：</a:t>
            </a:r>
            <a:r>
              <a:rPr sz="819" b="0">
                <a:solidFill>
                  <a:srgbClr val="262626"/>
                </a:solidFill>
                <a:latin typeface="Meiryo UI"/>
                <a:ea typeface="Meiryo UI"/>
              </a:rPr>
              <a:t>B1が「検証の目」を作り → D1が時間を生み → C1・A1が武器を揃え → 型（解決1）に流し込む。各施策のROI計算式と指標は後段のROI一覧で定義 ― 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8施策は解決2「武器」と解決3「回路」の中身（★＝センターピン）。中でもB1「投資ROI可視化」が全ての起点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重点施策（★＝センターピン）</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AI自動補充・小売アルゴリズムの「足切り」を回避し、ホワイトリスト入りする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API開放SKU比率／ホワイトリスト掲載率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（リテールメディア×二階建て）</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全施策の検証の目・回路の起点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（臨床データの防弾ロジック化）</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（ゼロ化×リバースロジ）</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ダイヤモンド型組織への再編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1対1のバタフライ型を解体し、組織対組織のJBP体制へ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型（真因1）＝前頁・解決1の設計に従い、武器（真因2）＝A1・A2・C1・C2、回路（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解決1「型」（4分割・分割別KPI）の設計／B1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ダイヤモンド型（組織対組織のJBP）へ段階拡大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
「型・武器・回路」に収束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P.8-10</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3解決→4テーマ×8施策
（A1〜D2）に展開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P.11-12</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P.13-17</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ギャップ（GAP1〜4）はこの単位で測り、施策もこの単位で束ねる〔P.6・P.9〕</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型が定まっていない
武器が揃っていない
回路が回っていない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どの頁に出てくる施策もこの8つ。ROI計算式と撤退基準をセットで承認〔P.9〜P.11〕</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同じ8施策を経営の問いに漏れなく再配置〔P.11〕</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8施策（A1〜D2）と北極星KPI（増分粗利）は最後まで変わらない。</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