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EXECUTION PLAN  |  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828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構想を、実装する。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</a:t>
            </a:r>
            <a:pPr indent="0" marL="0">
              <a:buNone/>
            </a:pPr>
            <a:r>
              <a:rPr lang="en-US" sz="12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どう解決するか ― ライトハウス方式と「習慣グラフ」生産ライン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01421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pPr indent="0" marL="0">
              <a:buNone/>
            </a:pPr>
            <a:r>
              <a:rPr lang="en-US" sz="12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どんな体制か ― 二階建て変革体制と最小精鋭スクワッド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41655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pPr indent="0" marL="0">
              <a:buNone/>
            </a:pPr>
            <a:r>
              <a:rPr lang="en-US" sz="12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いつ何をやるか ― 事実ゲートで進む統合タイムライン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8188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</a:t>
            </a:r>
            <a:pPr indent="0" marL="0">
              <a:buNone/>
            </a:pPr>
            <a:r>
              <a:rPr lang="en-US" sz="12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何が返ってくるか ― 部門別リターンとKGI/KPI体系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544068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「変革構想（真因対応テーマとロードマップ）」の続編　|　テーマコード A-1〜B-6 は構想編と共通　|　デジタル戦略部 討議用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エグゼクティブサマリ ― 4つの問いへの答え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8テーマを部門別に並走させれば縦割り（真因①）が実行体制に再生産される。答えは「一つの現場に全テーマを同時実装し、事実で全社を動かす」こと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600200" cy="1143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1143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17904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どう解くか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9372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ライトハウス方式（一点突破・全面展開）」。オーラルケア×先行1チェーン×先行1支店に8テーマを同時実装し、勝ちパターンをプレイブック化して水平展開する。中核メカニズムは、臨床知見×ID-POS×商談記録を編み上げるライオン独自のデータ資産「習慣グラフ」と、それをバイヤー向け「防弾ロジック」に変換する5工程の生産ライン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1600200" cy="1143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34056"/>
            <a:ext cx="64008" cy="1143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734056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誰がやるか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2770632"/>
            <a:ext cx="9372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un（現業）とChange（変革）を分離する「二階建て体制」。経営ステアリング＋変革推進オフィス（TMO・5名）＋ライトハウス・スクワッド（専任コア5名＋兼任10名）＋連携推進機能（MDC拡張5名→中期20名）。人材は内部登用が主（習慣化知見×流通文脈は外部から買えない）、外部採用はデータエンジニアとリテールメディア専門家の2職種に限定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1600200" cy="1143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950208"/>
            <a:ext cx="64008" cy="1143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950208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いつやるか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86000" y="3986784"/>
            <a:ext cx="9372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カレンダーではなく「事実ゲート」で進む。90日で棚卸と計測開始 → 12カ月でLTV提案の初成立（Gate1）→ 3年で10商談再現と因果検証（Gate2＝正式組織化）→ 中期でJBP標準化（Gate3＝評価完全転換）→ 2040年ホワイトリスト独占。組織・評価の変更は必ずゲート通過の事実を根拠に実行する。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5166360"/>
            <a:ext cx="1600200" cy="1143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5166360"/>
            <a:ext cx="64008" cy="1143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51663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何が返るか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286000" y="5202936"/>
            <a:ext cx="9372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年累計投資30〜50億円に対し、効果ランレートは中期時点で年45〜95億円（時間価値15〜25億＋販促費転換20〜40億＋広告最適化10〜30億）、回収2〜3年（前提要精査）。最大のリターンは金額化しにくい「棚落ち回避＝ブランド生存権」。KGIは事業利益率・リピート由来売上比率・ホワイトリスト登録数の3点に集約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実行コンセプト ― ライトハウス方式（一点突破・全面展開）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8テーマの最大の敵は「部門別のバラバラ実行」。全テーマは同じ現場で初めて噛み合う ― だから一つの現場に集めて灯台を建て、型にして広げる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6126480" cy="13898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64008" cy="13898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原則1　</a:t>
            </a:r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一点突破 ― 全テーマを一つの現場へ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956816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×先行1チェーン×先行1支店を「ライトハウス」に指名し、8テーマを同時実装する。変換エンジン（B-1）の出力を商談で使い（B-2）、ゼロ化（B-3）で浮いた時間で売場を共同設計し、結果をコックピット（B-5）で測る ― テーマ間の歯車が現場で噛み合う。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02920" y="3072384"/>
            <a:ext cx="6126480" cy="13898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072384"/>
            <a:ext cx="64008" cy="13898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45536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原則2　</a:t>
            </a:r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型化してから全面展開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456432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トハウスの勝ちパターンを「プレイブック（提案テンプレ・売場3ステップ・データ突合手順）」として文書化・ツール実装し、3カテゴリ×5チェーンへ移植。花王がビオレUVで実証したリーンスタートアップの「営業・店頭版」を実行方式に昇華する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02920" y="4572000"/>
            <a:ext cx="6126480" cy="13898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572000"/>
            <a:ext cx="64008" cy="13898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64515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原則3　</a:t>
            </a:r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事実ゲートで社内を動かす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4956048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組織改編・評価変更・投資拡大は、カレンダーではなくライトハウスが生んだ「事実」（LTV提案の成立・時間創出の実証・リピート率の因果検証）を根拠に実行。抵抗の強い全社変更ほど、先に事実を作る。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690372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展開イメージ ― 灯台から全国へ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1920240"/>
            <a:ext cx="3108960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920240"/>
            <a:ext cx="54864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965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ライトハウス（〜2027）
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オーラルケア×1チェーン×1支店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専任スクワッドが8テーマを同時実装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03720" y="2990088"/>
            <a:ext cx="3675888" cy="896112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2990088"/>
            <a:ext cx="54864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3035808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先行展開（2027〜28）
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3カテゴリ×5チェーンへプレイブック移植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支店横断の「型の伝道師」を育成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38496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03720" y="4059936"/>
            <a:ext cx="4242816" cy="896112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059936"/>
            <a:ext cx="54864" cy="8961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4105656"/>
            <a:ext cx="3968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全国標準（2029〜34）
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全カテゴリ・主要チェーンでJBP標準化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CDP・APIが型をシステムとして固定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4919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3720" y="5129784"/>
            <a:ext cx="4809744" cy="89611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5129784"/>
            <a:ext cx="54864" cy="89611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5175504"/>
            <a:ext cx="4535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完成（2035〜40）
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AI自動補充ホワイトリスト独占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「予防習慣インフラ企業」の地位確立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6144768"/>
            <a:ext cx="11185855" cy="3840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6144768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Why not 全社一斉展開？　</a:t>
            </a:r>
            <a:pPr indent="0" marL="0">
              <a:buNone/>
            </a:pPr>
            <a:r>
              <a:rPr lang="en-US" sz="100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資本で劣後するライオンが8テーマを全社同時に薄く撒けば、P&amp;G型の物量戦に自ら入ることになる。深く・狭く・速く回すことだけが非対称の勝ち筋。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中核メカニズム ―「習慣グラフ」と防弾ロジック生産ライン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データ量ではMy Kao・P&amp;Gに勝てない。「臨床の深さ×店頭の現場」を編んだライオンにしか作れないデータ資産で、質の非対称戦に持ち込む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1185855" cy="1170432"/>
          </a:xfrm>
          <a:prstGeom prst="rect">
            <a:avLst/>
          </a:prstGeom>
          <a:solidFill>
            <a:srgbClr val="EAF3F8"/>
          </a:solidFill>
          <a:ln w="12700">
            <a:solidFill>
              <a:srgbClr val="BCD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9344"/>
            <a:ext cx="107286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習慣グラフ（Habit Graph）＝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「どの生活者層の・どんな習慣が・何をきっかけに定着し・購買（LTV）と環境（炭素効率）にどう効くか」を接合したライオン固有のデータ資産。</a:t>
            </a:r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原材料は既に社内にある：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①R&amp;Dの臨床・行動変容データ（歯科・皮膚科学）　②小売ID-POS（リピート率・併買・購入間隔）　③商談・施策記録（Salesforce TPM）。分断されているだけで、新たに買うデータはない。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防弾ロジック生産ライン ― 眠る知見を商談の武器に変える5工程（ライトハウスで人手で回し、中期にCDPで自動化）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2121408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246120"/>
            <a:ext cx="2121408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34015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棚卸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" y="374904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臨床・研究知見を「提案に使える形」でインベントリ化（担当：R&amp;D×連携機能）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30936" y="48463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成果物：エビデンス台帳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96896" y="4069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3246120"/>
            <a:ext cx="2121408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3246120"/>
            <a:ext cx="2121408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7" name="Text 15"/>
          <p:cNvSpPr/>
          <p:nvPr/>
        </p:nvSpPr>
        <p:spPr>
          <a:xfrm>
            <a:off x="2871216" y="34015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数値化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71216" y="374904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「フロス併用で効果実感が早い」等を条件付きの数値・再現条件へ構造化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871216" y="48463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成果物：効果数値カタログ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37176" y="4069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3246120"/>
            <a:ext cx="2121408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3246120"/>
            <a:ext cx="2121408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5111496" y="34015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変換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11496" y="374904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ID-POSと突合し「カテゴリLTV向上予測」「炭素効率」へ翻訳（DCR活用）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111496" y="48463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成果物：LTV予測モデル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77456" y="4069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3246120"/>
            <a:ext cx="2121408" cy="205740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3246120"/>
            <a:ext cx="2121408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7351776" y="34015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実装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51776" y="374904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バイヤーが本部監査を突破できる「防弾ロジック」として商談テンプレ化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351776" y="48463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成果物：提案プレイブック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317736" y="4069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464040" y="3246120"/>
            <a:ext cx="2121408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4040" y="3246120"/>
            <a:ext cx="2121408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5" name="Text 33"/>
          <p:cNvSpPr/>
          <p:nvPr/>
        </p:nvSpPr>
        <p:spPr>
          <a:xfrm>
            <a:off x="9592056" y="34015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検証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592056" y="374904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売場実装後のID-POSで因果検証し、結果を習慣グラフへ還流（回すほど強くなる）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9592056" y="48463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成果物：検証レポート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553212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559612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なぜ競合が真似できないか：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の原材料（30年の臨床蓄積・歯科/学校ルートの行動データ）が模倣不能であり、⑤の検証現場（小売との信頼に基づく売場実験）は資本では買えない。データの「量」で勝る競合に対し、「因果の深さ」で勝つ設計。生産ラインの各工程はAIで加速するが、資産そのものは人と歴史が作った参入障壁。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テーマ別の解決方法 ― 8テーマ×中核メカニズム×成果物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各テーマの「どうやるか」を1行の中核メカニズムと成果物に落とす。すべてライトハウスの現場で最初のバージョンを作る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06440"/>
                <a:gridCol w="309067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中核メカニズム（How）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主な成果物（ライトハウス期）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A-1 予防習慣PF（DX）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歯科医院連携アプリを「歯科医師の診療補助ツール」として設計し、医院経由で配布（自力のアプリ集客はしない）。学校歯みがき大会をデジタル教材化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歯科アプリβ版・デジタル教材・専門ゼロパーティデータ辞書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B-1 エビデンス変換（DX）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防弾ロジック生産ライン（前頁5工程）をライトハウスで人手稼働→中期にCDP自動化。属性・環境データは業界標準を待たずAPI仕様を自社公開し事実標準を狙う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習慣グラフv1・LTV予測モデル・スペックAPI仕様書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B-3 Input業務ゼロ化（DX）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Libra×TPMを「業務単位の廃止」とセットで導入（自動化してから消すのではなく、消してから残りを自動化する順序）。時間の使途は事前に決め打ち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業務廃止・自動化マップ、時間再投資計画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B-5 買われ方コックピット（DX）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主要AIアシスタントへの定期クエリ・モール販売データ・小売ID-POSを月次ダッシュボード化し、経営会議の定例アジェンダに固定する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AI推奨レポート・エージェント購買比率の定点データ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A-2 制度・政策×土俵再定義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国民皆歯科健診・未病国策の政策対応チームが歯科医師会と共同提言を作成。洗剤標準品の投資縮小はブランド別ROICで機械的に判定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政策提言書・資源再配分の判定基準と実行計画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B-2 連携機能・組織対組織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MDCから2名＋事業部1名＋営業2名の混成5名で試験開始。主要アカウントに物流・環境・R&amp;Dを束ねたアカウントチームを編成（ABM）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連携機能の設置提案書・アカウントプラン初版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B-4 「やめる」経営決断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時間計測ベースラインから「廃止候補リスト」を作成し、経営名で廃止を宣言。四半期ごとに廃止実行率をステアリングでレビュー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廃止リスト・廃止実行率の四半期レポート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B-6 LTV共通KPI・動機設計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ライトハウス参加者から連携貢献の加点評価を先行適用。LTV定義（年間購入額×粗利率×継続年数）を連携機能の初期タスクとして合意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LTV定義書・評価制度改定ロードマップ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太字コードは構想編（変革テーマ全体マップ）と共通。全成果物は「他カテゴリ・他チェーンに移植可能な型」であることを品質基準とする。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 1/2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変革体制 ― Run と Change を分離する「二階建て体制」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現業（Run）を止めずに変革（Change）を専任で回す。新組織の乱立はせず、既存機能の拡張＋最小精鋭の専任化で構成する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6309360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5544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変革ステアリング（経営）　</a:t>
            </a:r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社長・営業/マーケ/R&amp;D/デジタル担当役員　|　月次　|　決めるのは3つ：資源再配分・廃止決断・ゲート判定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2212848"/>
            <a:ext cx="0" cy="256032"/>
          </a:xfrm>
          <a:prstGeom prst="line">
            <a:avLst/>
          </a:prstGeom>
          <a:noFill/>
          <a:ln w="19050">
            <a:solidFill>
              <a:srgbClr val="9AA3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468880"/>
            <a:ext cx="6309360" cy="77724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468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変革推進オフィス（TMO）｜5名　</a:t>
            </a:r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デジタル戦略部×戦略統括の混成。ゲート運営・進捗/効果測定・整合性管理（全施策の真因トレース）・本資料のオーナー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3639312" cy="182880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520440"/>
            <a:ext cx="3639312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ライトハウス・スクワッド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13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専任コア5名＋兼任10名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支店営業2・オーラルマーケ1・連携機能1・デジ戦1（専任）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＋R&amp;D・SCM/サステナ・IT・リテールメディア担当（兼任）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ミッション：Gate1/2の事実を作る。KPIはカテゴリLTVのみ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270248" y="3520440"/>
            <a:ext cx="3639312" cy="182880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0248" y="3520440"/>
            <a:ext cx="363931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407408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営業マーケ連携推進機能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7408" y="3913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MDC拡張5名 → 中期20名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07408" y="420624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MDC出身2・事業部出身1・営業出身2の混成で試験設置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防弾ロジック生産ラインの③変換・④実装工程のオーナー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Gate2通過後に独立権限を持つ正式組織へ昇格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037576" y="3520440"/>
            <a:ext cx="3639312" cy="182880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37576" y="3520440"/>
            <a:ext cx="3639312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8174736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データ＆AIギルド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74736" y="3913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既存IT・GCP/TPM担当の横串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74736" y="420624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新組織は作らない。GCP+SAP・TPM・Libraの既存担当を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ギルド型で束ね、スクワッドの技術要求に優先対応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外部採用は2職種限定：データエンジニア・DCR/RM専門家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02920" y="5532120"/>
            <a:ext cx="11185855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5321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Run（現業）：</a:t>
            </a:r>
            <a:pPr indent="0" marL="0"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全国支店・事業部・R&amp;Dは現行KPIで現業を継続。ライトハウスの型が「使うと商談が楽に勝てる」状態になってから受け取る ― 現場に変革の二重負担をかけない。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02920" y="61447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Change側（スクワッド・連携機能・TMO）の人事評価は現業KPIから切り離し、ゲート達成度で行う（B-6と連動）。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 2/2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役割分担（RACI）と人材調達の考え方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「誰が決め、誰が動くか」を主要10アクションで明確化。人材は内部登用が主 ― 習慣化知見×流通文脈のハイブリッドは外部market に存在しない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60120"/>
                <a:gridCol w="731520"/>
                <a:gridCol w="914400"/>
                <a:gridCol w="86868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主要アクション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ステアリング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TMO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スクワッド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連携機能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＋ギルド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現業部門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（営業・マーケ・R&amp;D）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ライトハウス指名・専任者の拠出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A/R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廃止リストの決定・実行（B-4）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防弾ロジック生産ライン稼働（B-1）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A/R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初のLTV商談・売場共同設計（B-2）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A/R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Input業務ゼロ化の展開（B-3）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コックピット整備・月次報告（B-5）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政策対応・歯科医師会連携（A-2）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歯科アプリ・教材のβ開発（A-1）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A/R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ゲート判定・投資拡大決定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評価制度の改定（B-6）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39496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A＝最終責任　R＝実行　C＝協議　I＝報告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8096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人材調達・育成の4方針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1874520"/>
            <a:ext cx="4005072" cy="87782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91109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内部登用が主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翻訳者の要件は「習慣化知見×流通文脈」。外部労働市場に存在せず、社内の越境人材（MDC・ベテラン営業・R&amp;D）から選抜する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7680960" y="2825496"/>
            <a:ext cx="4005072" cy="87782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286207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外部は2職種に限定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データエンジニア（CDP/API）とDCR・リテールメディア専門家のみ中途採用。それ以外は既存人材のリスキルで賄う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680960" y="3776472"/>
            <a:ext cx="4005072" cy="87782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381304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ローテーションの制度化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マーケ⇔営業⇔連携機能を2〜3年で回す越境キャリアを標準化し、ハイブリッド人材を構造的に量産する（Gate2以降）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7680960" y="4727448"/>
            <a:ext cx="4005072" cy="87782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476402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スクワッドをアカデミーに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ライトハウス経験者を「型の伝道師」として展開先に配置。研修ではなく実戦での技能転移で全国へ広げる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502920" y="580644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体制のこだわり：</a:t>
            </a:r>
            <a:pPr indent="0" marL="0"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専任は最小（コア5名＋TMO5名）に絞り、大規模プロジェクト組織を作らない。人数ではなく「権限（廃止決断・ゲート判定）と評価の別軸」が変革の推進力。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統合タイムライン ― カレンダーではなく「事実ゲート」で進む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初年度は四半期刻みで事実を積み、Gate1〜3の通過を条件に投資・組織・評価を段階拡大する。ゲート未達なら拡大せず原因を潰す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初年度（2026.9〜2027.8）― ライトハウスで最初の事実を作る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47088"/>
            <a:ext cx="2743200" cy="157276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47088"/>
            <a:ext cx="2743200" cy="3108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Q1　組成と計測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" y="2231136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スクワッド組成・ライトハウス指名</a:t>
            </a:r>
            <a:endParaRPr lang="en-US" sz="8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時間ベースライン計測・AI推奨定点観測開始</a:t>
            </a:r>
            <a:endParaRPr lang="en-US" sz="8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エビデンス棚卸し（生産ライン①②）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319272" y="1847088"/>
            <a:ext cx="2743200" cy="157276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847088"/>
            <a:ext cx="2743200" cy="3108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　最初の武器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2231136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ID-POS突合・LTV予測「最初の1個の数字」</a:t>
            </a:r>
            <a:endParaRPr lang="en-US" sz="8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防弾ロジック初版→初商談への投入</a:t>
            </a:r>
            <a:endParaRPr lang="en-US" sz="8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Libra×業務廃止の同時実行（▲30%）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135624" y="1847088"/>
            <a:ext cx="2743200" cy="157276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35624" y="1847088"/>
            <a:ext cx="2743200" cy="3108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　売場で実証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45352" y="2231136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リピート売場3ステップを共同実装</a:t>
            </a:r>
            <a:endParaRPr lang="en-US" sz="8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ID-POSで効果検証（生産ライン⑤）</a:t>
            </a:r>
            <a:endParaRPr lang="en-US" sz="8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歯科アプリβ・政策対応チーム始動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951976" y="1847088"/>
            <a:ext cx="2743200" cy="157276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51976" y="1847088"/>
            <a:ext cx="2743200" cy="3108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1" name="Text 19"/>
          <p:cNvSpPr/>
          <p:nvPr/>
        </p:nvSpPr>
        <p:spPr>
          <a:xfrm>
            <a:off x="9061704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Q4　型に固める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61704" y="2231136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プレイブックv1文書化</a:t>
            </a:r>
            <a:endParaRPr lang="en-US" sz="8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効果・時間・LTVの初年度実績を確定</a:t>
            </a:r>
            <a:endParaRPr lang="en-US" sz="8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Gate1判定 → 展開計画の経営承認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50292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事実ゲート ― 通過して初めて次の投資・組織変更が解禁される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950208"/>
            <a:ext cx="3675888" cy="182880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950208"/>
            <a:ext cx="3675888" cy="32918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" y="395020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Gate 1｜2027年夏　実証の事実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" y="4352544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LTV提案で商談成立≥1件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事務時間▲30%を実測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AI推奨レポート定例化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30936" y="5230368"/>
            <a:ext cx="3419856" cy="0"/>
          </a:xfrm>
          <a:prstGeom prst="line">
            <a:avLst/>
          </a:prstGeom>
          <a:noFill/>
          <a:ln w="9525">
            <a:solidFill>
              <a:srgbClr val="E5B8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" y="5285232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解禁されるもの：3カテゴリ×5チェーンへの展開投資、スクワッド増強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160520" y="4663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51960" y="3950208"/>
            <a:ext cx="3675888" cy="182880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1960" y="3950208"/>
            <a:ext cx="3675888" cy="32918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3" name="Text 31"/>
          <p:cNvSpPr/>
          <p:nvPr/>
        </p:nvSpPr>
        <p:spPr>
          <a:xfrm>
            <a:off x="4379976" y="395020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Gate 2｜2028年度末　再現の事実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379976" y="4352544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LTV提案の成立≥10商談・3チェーン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リピート率改善の因果検証≥2事例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創出時間の再投資が定着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4379976" y="5230368"/>
            <a:ext cx="3419856" cy="0"/>
          </a:xfrm>
          <a:prstGeom prst="line">
            <a:avLst/>
          </a:prstGeom>
          <a:noFill/>
          <a:ln w="9525">
            <a:solidFill>
              <a:srgbClr val="E5B8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79976" y="5285232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解禁されるもの：連携推進機能の正式組織化、売上×LTV二軸評価、CDP/API本格投資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909560" y="4663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01000" y="3950208"/>
            <a:ext cx="3675888" cy="182880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01000" y="3950208"/>
            <a:ext cx="3675888" cy="32918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0" name="Text 38"/>
          <p:cNvSpPr/>
          <p:nvPr/>
        </p:nvSpPr>
        <p:spPr>
          <a:xfrm>
            <a:off x="8129016" y="395020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Gate 3｜2031年目途　標準の事実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129016" y="4352544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主要チェーンとの組織対組織JBP≥5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主要カテゴリAPI公開・DCR連携稼働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販促ROIの可視化が定例化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8129016" y="5230368"/>
            <a:ext cx="3419856" cy="0"/>
          </a:xfrm>
          <a:prstGeom prst="line">
            <a:avLst/>
          </a:prstGeom>
          <a:noFill/>
          <a:ln w="9525">
            <a:solidFill>
              <a:srgbClr val="E5B8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29016" y="5285232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解禁されるもの：全社標準化、LTV評価への完全転換、予防習慣PFの全国展開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502920" y="59893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2032年以降は構想編ロードマップ（中期＝転換、長期＝完成）に接続。ゲート未達時は「撤退」ではなく、真因トレース（TMO）で詰まった工程を特定して再挑戦する。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投資とリターンの全体観（試算・要精査）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5年累計投資30〜50億円に対し、中期の効果ランレートは年45〜95億円。最大のリターンは金額化しにくい「棚落ち回避＝売上の生存権」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566160" cy="30175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3566160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投資（5年累計）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30〜50億円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Phase1（〜28年）：年3〜5億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既存基盤（GCP・TPM・Libra）の接続と専任人件費が中心。新規システム投資はほぼ不要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Phase2（29年〜）：累計20〜35億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CDP構築・スペックAPI・歯科アプリ本格版・DCR接続。Gate2通過が投資の解禁条件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572768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72768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時間価値の換金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526280" y="19751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15〜25億円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1627632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営業・マーケ関連人員（仮800名）の内向き業務3〜4割をゼロ化した時間の人件費換算。商談・共同設計へ再投資され、生産性格差の解消原資になる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343400" y="2542032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542032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615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販促費の転換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526280" y="2944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20〜40億円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2596896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値引き・特売原資（仮・売上の12〜15%＝500〜600億）の5〜10%を「リピートを生む売場」投資へ転換し、粗利率とカテゴリLTVを底上げ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343400" y="3511296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511296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広告・RM最適化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26280" y="3913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10〜30億円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356616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広告・リテールメディア投資のROI可視化（DCR・コックピット）により低効果枠の10%規模を高ROI枠へ機動的に再配分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343400" y="4480560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4480560"/>
            <a:ext cx="64008" cy="89611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4553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棚落ち回避（防衛）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526280" y="48828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金額化困難・最大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4535424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環境・属性スコア未達によるアルゴリズム自動棚落ち＝売上消失を回避。2040年の「ブランド生存権」であり、①〜③の合計より大きい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02920" y="548640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55040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回収イメージ：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効果①〜③の中期ランレート45〜95億円/年に対し投資は5年累計30〜50億円 ― Gate2通過を前提に2〜3年で回収。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試算前提（人員数・販促費内訳・広告費・粗利率）はすべて仮置きであり、90日アクションのベースライン計測で確定させる ― 「精査してから動く」のではなく「動きながら精査する」。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部門別リターン ― 各部門に「何が返ってくるか」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変革は本社の号令では動かない。各部門が自部門の利得として語れる状態を作る ― これ自体が真因③（動機の不在）への打ち手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583680"/>
                <a:gridCol w="30449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リターン（何がどう良くなるか）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代表KPI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事務ゼロ化で商談準備・対話時間が約2倍。値引き交渉ではなく「防弾ロジック」で戦えるため商談勝率と単価が上がり、バイヤーとの関係が「業者」から「パートナー」へ変わる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事務時間比率／LTV提案成立数・勝率／特売依存度／JBP締結数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宣伝投資が店頭購買に転換したかをID-POSで初めて検証可能に。ROIの低いマス枠を削り、効く施策へ機動的に再配分できる。エビデンスコンテンツが営業経由で売上に直結する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広告ROI可視化率／リピート率・購入頻度／AI推奨シェア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R&amp;D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30年分の臨床・行動データが「習慣グラフ」として換金され、研究の事業貢献が定量化される。売場検証データが研究テーマ選定に還流し、研究→市場のサイクルが短縮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エビデンス由来提案の採用数／研究データの商談活用率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SCM・サステナ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スペック・環境データのAPI整備が小売のグリーン監査・自動発注への回答になり、棚落ちリスクを構造的に低減。組織対組織連携で店頭資源回収の負担設計に関与できる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環境スコア整備率／欠品率／棚落ち回避件数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経営・経営管理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販促・広告・DX投資が「投資の物差し（LTV・ROI）」で一元評価でき、資源再配分の意思決定が高速化。買われ方コックピットが2040年リスクの早期警戒装置になる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事業利益率／ROIC／リピート由来売上比率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越境ローテーションでハイブリッド人材が育ち、「変革が報われる」評価が優秀層の離職を防ぐ。ライトハウスが次世代リーダーの登竜門になる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ローテーション実施数／変革KPI適用者数／エンゲージメント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KPIの目標値はベースライン計測（90日アクション）後にTMOが設定し、ステアリングで承認する。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KGI/KPI体系 ― 現場KPIからKGIまで一本の線でつなぐ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KGIは3つだけ。すべての現場KPIはこの3つのどれかに接続し、接続しない施策はやらない（真因トレースの実装）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KGI（2040年・経営指標）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88366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事業利益率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値引き依存から「率で稼ぐ」構造への転換を測る最終指標（収益構造改革の延長線）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316382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リピート由来売上比率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「量を売る」から「習慣で積む」への転換を測る。目標50%超（要基準設定）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38912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444398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AIホワイトリスト登録数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2040年の生存権そのもの。自動補充のデフォルトを握れたかを測る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中間KPI（中期・変革の進捗）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865376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カテゴリLTV改善率
</a:t>
            </a:r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ライトハウス→展開先の共通物差し。三者（マーケ・連携・営業）の共通KPI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2798064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834640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販促・広告ROI
</a:t>
            </a:r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値引き→投資への転換効率。「投資の物差し」の実装先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43400" y="3767328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803904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生産性格差の半減
</a:t>
            </a:r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対P&amp;G7.6倍の格差を中期で半減。時間創出×商談転換の総合結果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4736592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773168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環境・属性データ整備率
</a:t>
            </a:r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アルゴリズム足切りの突破率。API公開カテゴリの割合で測る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0100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現場KPI（初年度・行動指標）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0" y="1828800"/>
            <a:ext cx="3273552" cy="38404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938528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LTV提案の成立数（Gate1＝1件→Gate2＝10件）</a:t>
            </a:r>
            <a:endParaRPr lang="en-US" sz="88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事務時間削減率（▲30%→▲50%）</a:t>
            </a:r>
            <a:endParaRPr lang="en-US" sz="88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防弾ロジック件数・商談採用率</a:t>
            </a:r>
            <a:endParaRPr lang="en-US" sz="88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リピート売場の実装店舗数・検証事例数</a:t>
            </a:r>
            <a:endParaRPr lang="en-US" sz="88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AI推奨レポートの発行・エージェント購買比率の捕捉</a:t>
            </a:r>
            <a:endParaRPr lang="en-US" sz="88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廃止業務の実行率（100%）</a:t>
            </a:r>
            <a:endParaRPr lang="en-US" sz="88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歯科アプリβ参画医院数・教材導入校数</a:t>
            </a:r>
            <a:endParaRPr lang="en-US" sz="88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連携PJ参加者の加点評価適用数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02920" y="585216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運用ルール：</a:t>
            </a:r>
            <a:pPr indent="0" marL="0">
              <a:buNone/>
            </a:pPr>
            <a:r>
              <a:rPr lang="en-US" sz="100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現場KPIは四半期、（中間KPI・KGIは年次）でTMOが計測しステアリングへ報告。KGIに接続しない新規施策の追加は原則却下 ― 手段の目的化（システム導入のためのシステム導入）を構造的に防ぐ。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DECISIONS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経営に求める3つの決断と直近の論点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実行計画は「決断の先送り」で死ぬ。ライトハウスを起動するために、次のステアリングで以下3点の意思決定を求めたい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営業・マーケティング変革構想 実行計画編（討議用素案）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6758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3675888" cy="3840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決断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66544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ライトハウスの指名と専任拠出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先行カテゴリ（オーラルケア）・先行チェーン・先行支店を指名し、専任コア5名（支店営業2・マーケ1・連携1・デジ戦1）を現業から外して拠出する。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決めないと：兼任だらけの「なんちゃって変革」になり、8テーマが再び部門別にバラける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251960" y="1572768"/>
            <a:ext cx="36758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572768"/>
            <a:ext cx="3675888" cy="3840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572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決断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066544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廃止リストへのコミット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263347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時間ベースライン計測から作る「廃止候補リスト」を経営名で宣言し、四半期ごとに廃止実行率をレビューする（B-4）。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389120" y="361188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決めないと：Libraを入れても仕事が減らず、「時間の不在」（真因②）が温存される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001000" y="1572768"/>
            <a:ext cx="36758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572768"/>
            <a:ext cx="3675888" cy="3840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572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決断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0" y="2066544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変革評価の別軸設置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263347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スクワッド・連携機能・TMOの人事評価を現業KPIから切り離し、ゲート達成度で評価する枠組みを人事と合意する（B-6の先行適用）。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138160" y="361188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決めないと：参加者が現業評価で損をし、「動機の不在」（真因③）が変革チーム自身を蝕む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並行して精査する論点（TMO・90日以内）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892040"/>
            <a:ext cx="11185855" cy="14630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001768"/>
            <a:ext cx="10820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効果試算の前提確定：営業・マーケ人員数、販促費・広告費の内訳、内向き業務時間の実測</a:t>
            </a:r>
            <a:endParaRPr lang="en-US" sz="98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LTV定義の合意：年間購入額×粗利率×継続年数（世帯単位・パラメータ）を連携機能の初期タスクとして固定</a:t>
            </a:r>
            <a:endParaRPr lang="en-US" sz="98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先行チェーンの選定基準：ID-POS連携への前向きさ×リテールメディア成熟度×既存の信頼関係</a:t>
            </a:r>
            <a:endParaRPr lang="en-US" sz="98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歯科医師会・小売トップとの対話開始：A-1/A-2は社外パートナーの合意が前提であり、最長リードタイム項目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2026-08-02T16:44:43Z</dcterms:created>
  <dcterms:modified xsi:type="dcterms:W3CDTF">2026-08-02T16:44:43Z</dcterms:modified>
</cp:coreProperties>
</file>