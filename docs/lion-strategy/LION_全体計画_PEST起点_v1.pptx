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全体計画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営業・マーケティング変革 全体計画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環境分析（PEST）から、解決策・体制・時間割・効果まで 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世の中の変化（PEST）・消費者/小売/競合の変化・自社の強み弱みと勝ち筋・問題の根っこ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どう解決するか ― 「外されない（守り）」と「指名される（攻め）」の二本立て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4281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どんな体制が必要か ― 少人数の専任チームと役割分担、人の集め方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626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いつ何をするか ― 90日・1年・3年・8年・2040年の時間割と3つの確認ポイント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109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何が返ってくるか ― 投資と効果、部門ごとのリターン、KGI（最終目標）とKPI（途中の目安）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553212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この一冊で完結する構成　|　時間軸は「AIでの検索・購入は既に始まっている」事実を前提に設定　|　デジタル戦略部 討議用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全体の要約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計画の要点 ― 1枚でわかる全体像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AIでの検索・購入は既に始まっている。だから「外されない対策」を今すぐ、「指名される仕組みづくり」を計画的に、二本立てで進める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64008" cy="9326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48132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環境認識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150876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AIの要約で完結（2026年国内調査）。米国では2025年にAI画面内での決済・購入代行が開始。小売の広告事業も既に急成長中。変化は「2040年の未来」ではなく現在進行形であり、対応の期限は自社では動かせ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8716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48716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How（解決策）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51460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本立て。守り＝AIと小売の仕組みから「外されない」5つの対策（AIでの扱われ方の実測、商品情報の整備・公開、定期購入の獲得、ネット売場の是正、小売広告枠の活用）を24か月以内に。攻め＝社内3つのデータ（研究知見・販売データ・商談記録）をつなげた「提案の根拠」づくりで、値引きに頼らず人にもAIにも指名される。1つの現場で試して全国に広げる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4930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Who（体制）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352044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ける。経営会議（月1回・決めることは3つ）＋推進事務局5名＋現場の実行チーム（専任5名・兼任10名）＋マーケと営業の橋渡し役5名。人は社内から選び、外部採用はデータ技術者など2職種だけ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49884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449884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When（時間割）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452628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：AIでの扱われ方の初回実測、チーム結成、事務時間の測定。1年目：商品情報の公開完了、値引きに頼らない提案で商談1件成立、事務作業3割減。2〜3年：10商談で再現、組織の正式化。4〜8年：全国標準化。確認ポイントは3回（2027年夏・2028年度末・2031年ごろ）で、合格したときだけ次に進む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550468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50468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550468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Much（効果）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553212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5年で30〜50億円。効果は年45〜95億円（時間の価値15〜25億＋値引き費用の転換20〜40億＋広告のムダ削減10〜30億）で2〜3年で回収。最大の効果は金額化しにくい「棚やAIから外されないこと＝売上の防衛」。KGIは3つ：利益率／買い続けてもらう売上の割合／AI・小売の仕組みへの登録数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1/4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世の中の変化（PEST分析）― それぞれの変化は「いま」どこまで来ているか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政治・経済・社会・技術の変化を、現在地とセットで整理する。8項目中5項目は既に発生・進行中 ― 対応の期限は自社では動かせない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1143000"/>
                <a:gridCol w="3246120"/>
                <a:gridCol w="33649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根拠・状況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当社への意味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環境情報の開示義務化、容器の回収・再利用の義務化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一部は決定済み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大企業への開示義務化は決定済みで順次適用。容器の完全回収はまだ先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環境データの整備は「期限のある仕事」。小売の取引条件になっていく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個人データ規制の強化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外部データに頼る広告は既に効きにくくなっている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小売の販売データとの連携が広告の主戦場になる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低価格品と高付加価値品への二極化、中間価格帯の空洞化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小売の自主企画商品の拡大と値上げ浸透で、二極化は既に現実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中間の「普通の商品」は値引き勝負に沈む。根拠ある高付加価値へ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働き手の減少（労働人口▲956万人へ）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営業現場・店舗の人手不足は既に顕在化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人手に頼る営業・店頭作業は続けられない。生産性が生存条件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高齢化と、予防・健康への関心の高まり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65歳以上は人口の約3割。予防・セルフケア市場は拡大中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「病気を治す」より「予防の習慣」に価値が移る ― 当社の得意領域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国民皆歯科健診（国の方針としての歯科健診拡大）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既に始動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政府方針に明記済みで、制度化の検討が進行中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オーラルケアが「日用品」から「国の健康施策のインフラ」へ格上げされる好機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AIでの検索が主流化し、サイトを見ずに調べ物が終わる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調べ物の66.4%はサイトを開かず完結（2026年4月・国内調査）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AIに認識されないブランドは、比較の土俵に載る前に消える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AIが人の代わりに商品を選び、購入まで行う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海外で開始済み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米国では2025年にAI画面内の決済・購入代行が開始。国内も2〜3年で拡大見込み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「何を買うか」の決定権がAIに移る。定期購入の初期設定が主戦場に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27648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出典は公開情報にもとづく（最新値は要確認）。赤＝既に発生・進行中、橙＝一部開始・数年内、灰＝まだ先。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2/4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消費者・小売・競合の変化（3C分析）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消費者の「選び方」が変わり、それを受けて小売の「稼ぎ方」が変わり、競合は既に対応を始めている ― この連鎖の中に当社がいる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77640"/>
                <a:gridCol w="3383280"/>
                <a:gridCol w="29077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既に起きていること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この先2〜5年で起きること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当社が取るべき構え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「調べて選ぶ」は既にAIへ移行中。「自動で届く」買い方（定期便）も普及済み。消費は「とことん安く」と「健康・生活の質への投資」に二極化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AIによる購入の完全代行が国内でも広がる。こだわる商品は自分で選び、消耗品はAI任せ ― 買い方が二層に分かれる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こだわり層には「根拠と習慣」で選ばれ、AI任せ層では「初期設定」に入り込む ― 二層それぞれに手を打つ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小売・卸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物販の利益が細り、広告事業（自社アプリ・サイネージ・会員向け配信）が既に急成長中。「データで売れる根拠を示せるメーカー」を優先し始めている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広告・データ収入が主要な利益源になり、取引の条件は「仕入値」から「データでの貢献度」へ移る。店舗運営の自動化も進む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値引きではなく「売場とデータで小売の利益に貢献する提案」ができるメーカーになる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花王：AIが自社・競合をどう紹介するかの監視を既に運用。消費者データ基盤も稼働済み。P&amp;G：大規模な生産性改革を終え、浮いた資金をAIに再投資する段階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資本力に加えて「仕組みの差」が広がる。AI・データ対応の遅れたメーカーから順に、棚とAIの推奨から外れていく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同じ土俵（資本・データ量）では戦わない。競合が持たない「臨床データ×信頼ルート」で勝負する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オーラルケア・ハンドソープで国内トップ。ただしマーケと営業のデータ・目標は分断し、事務作業が時間を奪い、AIが自社商品をどう扱っているかを誰も知らない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このままでは、強みが提案に使われないまま、AIと小売の仕組みから静かに外されていく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次ページ以降：強みを整理し（SWOT）、問題の根っこを特定し、解決策につなぐ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AIの影響は「どこで買うか」より先に「何を買うか」に現れる。店頭で買う人も調べるのはAI。だからネット販売比率が低い今でも、AI対応は先送りできない。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3/4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自社の強み・弱み（SWOT）と勝ち筋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強みはAI時代にむしろ価値が上がる。弱みは「期限のある弱み」に変わった。掛け合わせから勝ち筋を一文で定める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5541264" cy="18836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9616"/>
            <a:ext cx="5541264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強み（S）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・オーラルケア／ハンドソープで国内トップのブランドと認知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・歯科医師会・学校・幼稚園・自治体との信頼関係と啓発活動 ― お金では買えない参入障壁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・約30年の臨床・行動データと、医薬品（OTC）の知見 ― AIが「引用したくなる」科学的根拠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181344" y="1499616"/>
            <a:ext cx="5541264" cy="1883664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1344" y="1499616"/>
            <a:ext cx="5541264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弱み（W）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・マーケと営業のデータ・目標が分断し、知見が提案に使われない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・事務作業が時間を奪う（1人あたり生産性は対P&amp;Gで約7.6倍の差）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・自社で消費者データを持たず、AIでの扱われ方も未計測 ― 期限のある弱み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541264" cy="18836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5541264" cy="3108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機会（O）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・国民皆歯科健診など予防の国策化（既に始動）― オーラルケアの地位が上がる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・小売の広告事業の急成長 ― 値引きに代わる投資先が既にある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・AIは根拠ある情報源を引用する ― 臨床データを公開すれば強みが直接効く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1344" y="3493008"/>
            <a:ext cx="5541264" cy="188366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493008"/>
            <a:ext cx="5541264" cy="3108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脅威（T）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・AI・小売の仕組みによる「自動的な取り扱い外し」（データ不備の商品から順に）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・花王・P&amp;Gは既にAI監視・生産性改革を運用 ― 差が現在進行形で拡大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・値引き競争の継続による消耗と利益率の低下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9612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勝ち筋（一文で）：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AIと小売の仕組みから「外されない」状態を24か月以内に作る（守り＝足切りの回避）。そのうえで、習慣づくり×科学的根拠×歯科・学校との信頼という他社が真似できない武器で、人にもAIにも「指名される」商品になる（攻め＝勝敗を決める）。順序を間違えると、武器が完成する前に土俵から落ち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4/4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解決すべき問題と、その根っこ（真因）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現場に見えている問題（値引き依存・属人営業・データ分断）を掘り下げると、4つの根っこに行き着く。施策はすべてこの4つに対応させる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現場に見えている問題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402336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856232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値引き・特売の条件交渉に時間と利益を吸い取られている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402336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2569464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バイヤーが欲しい「売れる根拠の数字」を出せず、提案が刺さらない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02920" y="3255264"/>
            <a:ext cx="402336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282696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研究部門の知見が営業の提案に使われず、社内に眠っている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2920" y="3968496"/>
            <a:ext cx="402336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3995928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資料作成・集計などの事務作業が営業・マーケの時間を奪う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02920" y="4681728"/>
            <a:ext cx="402336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4709160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AIが自社商品をどう紹介しているか、誰も知らない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3101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根っこは4つ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1499616"/>
            <a:ext cx="6062472" cy="1024128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1499616"/>
            <a:ext cx="73152" cy="10241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5833872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根っこ①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知見を提案に変える仕組みがない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33872" y="1865376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研究・マーケ・営業のデータと目標が部門ごとに分断され、30年分の知見が「バイヤーに刺さる数字」に変換されない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623560" y="2615184"/>
            <a:ext cx="6062472" cy="1024128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615184"/>
            <a:ext cx="73152" cy="10241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5833872" y="26883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根っこ②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時間がない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33872" y="2980944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事務作業を「仕方ない苦労」として許容する慣性。提案づくりや対話に使う時間が構造的に残らない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23560" y="3730752"/>
            <a:ext cx="6062472" cy="1024128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3560" y="3730752"/>
            <a:ext cx="73152" cy="10241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5833872" y="38039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根っこ③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動機がない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33872" y="409651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評価が短期の売上に偏り、時間のかかるデータ活用や部門連携に取り組んだ人が報われない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23560" y="4846320"/>
            <a:ext cx="6062472" cy="1024128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4846320"/>
            <a:ext cx="73152" cy="10241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5833872" y="49194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根っこ④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時間軸の誤認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33872" y="5212080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既に始まった変化（AI検索・小売の広告事業化）を「遠い未来の話」として扱い、対応を後回しにしてしまう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02920" y="5806440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843016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4つはつながっている：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時間がない→知見を変換できない→成果が変わらない→動機が生まれない→後回しにする。どれか1つではなく、4つ同時に手を打って初めて逆回転する。次ページから、その解決策（How）に入る。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どう解決するか ― 「守り」と「攻め」の二本立て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守りは期限を自社で動かせない（AI・小売・国が決める）。攻めは自社で時期を決められる。だから守りを先に、攻めを計画的に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532120" cy="333756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5532120" cy="4023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 ― 外されないための5つの対策（〜24か月）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対応する根っこ：④時間軸の誤認
</a:t>
            </a:r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AIが自社商品をどう扱っているかの実測と是正（90日で開始）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商品・研究情報の「AIが読める形」での整備・公開（12か月）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定期購入・自動補充の「初期設定」の獲得（12〜24か月）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ネット売場（モール内検索・AI相談）での見え方の是正（12か月）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小売の広告枠の本格活用（今年度の販促計画から）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2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性質：期限のある仕事。遅れると挽回できない。費用は年1〜2億円程度（要精査）と小さく、必要なのは「今やる」という決定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532120" cy="3337560"/>
          </a:xfrm>
          <a:prstGeom prst="rect">
            <a:avLst/>
          </a:prstGeom>
          <a:solidFill>
            <a:srgbClr val="EEF4EC"/>
          </a:solidFill>
          <a:ln w="12700">
            <a:solidFill>
              <a:srgbClr val="C4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554480"/>
            <a:ext cx="5532120" cy="4023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攻め ― 指名されるための4つの施策（継続的）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2066544"/>
            <a:ext cx="5257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対応する根っこ：①仕組み ②時間 ③動機
</a:t>
            </a:r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社内3つのデータをつなげた「提案の根拠」づくり（詳細は次々ページ）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事務作業の削減と「やめる仕事」の決定 ― 時間を生む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マーケと営業の橋渡し役・チーム営業 ― 仕組みを作る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評価の見直し（売上だけでなく「買い続けてもらえたか」も）― 動機を作る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 歯科・学校・自治体ルートの深化と国民皆歯科健診への対応（政策チームを今年組成）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性質：差がつく仕事。競合が真似できない部分であり、勝敗はここで決まる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5074920"/>
            <a:ext cx="11185855" cy="11887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11496"/>
            <a:ext cx="1072865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進め方の原則：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①まず1つの現場（オーラルケア×小売1社×1支店）で攻めの施策をまとめて試し、うまくいった方法を手順書にして全国へ広げる　②組織・評価の変更は「商談に勝てた」という実例を作ってから実行する　③守りと攻めは材料を共有する ― 守り②で公開する科学的根拠は、攻め①で作る「提案の根拠」と同じもの。二重投資にはならない。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守りの5つの対策 ― 何を・どうやって・いつまでに・どう確認するか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5つとも大きな投資は不要。既存の人員と小さな外部費用でできる。問題はお金ではなく、着手の決定だけ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89320"/>
                <a:gridCol w="1143000"/>
                <a:gridCol w="22219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できたかの確認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AIでの扱われ方の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実測と是正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・Gemini・Perplexity・Amazonの買い物AIなどに、生活者が実際にする質問（「子どもの歯みがき粉のおすすめは？」等）を毎月投げ、自社と競合の紹介のされ方を記録。紹介されない原因を特定し、情報の修正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90日で初回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以後 毎月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月次レポートの発行／紹介のされ方の改善件数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商品・研究情報の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整備と公開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商品の成分・効能・使い方・よくある質問を、AIが読み取れる形に整えて自社サイトで公開。歯科医師会や論文など公的な根拠への接続も明記する。AIは根拠のある情報を引用しやすい ― 臨床データが武器になる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12か月で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主要商品完了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主要商品の整備率100%／①での紹介率の変化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定期購入の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「初期設定」の獲得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azon定期おトク便・楽天定期購入・ネットスーパーで、初回購入から定期化につなげる設計（容量・価格・特典）を作る。一度「定期」に入った商品は、AIによる購入代行が広がってもそのまま引き継がれる可能性が高い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12〜24か月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主要商品の定期購入の登録数・継続率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ネット売場での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見え方の是正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主要モール内の検索・AI相談での自社商品の表示を点検し、商品情報・画像・質問への回答を是正する。モール内の広告も含めて「探されたときに見つかる」状態を作る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モール内検索の表示順位／AI相談での紹介率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小売の広告枠の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本格活用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主要小売の広告事業（アプリ・サイネージ・会員向け配信）を今年度の販促計画に組み込む。値引き費用の一部を振り替え、売上への効果を小売のデータで確認する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今年度から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振り替えた金額／売上・利益への効果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⑤は営業の販促計画と一体で進める（別動隊にしない）。①〜④は推進事務局とシステム横断チームが担う（体制は後述）。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攻めの中心 ― 社内の3つのデータをつなげて「値引きに代わる提案の根拠」を作る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新しくデータを買う必要はない。すでに社内にあるデータがバラバラなだけ。5つの手順でつなぎ、1つの現場で試して全国へ広げる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1005840"/>
          </a:xfrm>
          <a:prstGeom prst="rect">
            <a:avLst/>
          </a:prstGeom>
          <a:solidFill>
            <a:srgbClr val="EAF3F8"/>
          </a:solidFill>
          <a:ln w="12700">
            <a:solidFill>
              <a:srgbClr val="BCD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91056"/>
            <a:ext cx="107286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材料はすでに社内にある3つのデータ：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研究部門の「習慣と健康効果」のデータ（例：フロス併用で効果を実感しやすい）　② 小売の販売データ（誰が・何を・どんな間隔で買うか）　③ 営業の商談記録（どの店で何をやって、どうなったか）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2121408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69748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8346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　集める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31546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研究部門の知見を、提案に使える形で一覧にする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21792" y="4114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作るもの：知見の一覧表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596896" y="3383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2697480"/>
            <a:ext cx="2121408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69748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2862072" y="28346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手順2　数字にする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62072" y="31546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「効果がある」を「どんな条件で・どれくらい」の数字に直す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862072" y="4114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作るもの：効果の数字の一覧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837176" y="3383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697480"/>
            <a:ext cx="2121408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269748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28346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手順3　つなげる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31546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販売データと突き合わせ「この売場でお客様の年間購入額が◯%増える」という予測に変える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102352" y="4114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作るもの：予測の計算式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077456" y="3383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2697480"/>
            <a:ext cx="2121408" cy="178308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2697480"/>
            <a:ext cx="2121408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7342632" y="28346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手順4　商談で使う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42632" y="31546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バイヤーが社内説明に使える資料に整え、営業に配る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342632" y="4114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作るもの：提案資料のひな形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317736" y="3383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697480"/>
            <a:ext cx="2121408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64040" y="269748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4" name="Text 32"/>
          <p:cNvSpPr/>
          <p:nvPr/>
        </p:nvSpPr>
        <p:spPr>
          <a:xfrm>
            <a:off x="9582912" y="28346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手順5　確かめる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82912" y="31546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実施後の販売データで効果を確認し、手順1に戻して精度を上げる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582912" y="4114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作るもの：検証の報告書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292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広げ方 ― 1つの現場で試し、手順書にして全国へ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983480"/>
            <a:ext cx="32918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983480"/>
            <a:ext cx="54864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00176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最初の現場（〜2027）　</a:t>
            </a:r>
            <a:pPr indent="0" marL="0"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オーラルケア×小売1社×1支店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3813048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0" y="4983480"/>
            <a:ext cx="32918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4983480"/>
            <a:ext cx="54864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44" name="Text 42"/>
          <p:cNvSpPr/>
          <p:nvPr/>
        </p:nvSpPr>
        <p:spPr>
          <a:xfrm>
            <a:off x="4251960" y="500176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広げる（2027〜28）　</a:t>
            </a:r>
            <a:pPr indent="0" marL="0"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3つの商品分野×小売5社へ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7424928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26680" y="4983480"/>
            <a:ext cx="32918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26680" y="4983480"/>
            <a:ext cx="54864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0" y="500176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全国へ（2029〜34）　</a:t>
            </a:r>
            <a:pPr indent="0" marL="0"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全分野・主要小売の標準に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502920" y="5760720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797296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なぜ競合に真似されないか：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のもとになる約30年の研究の蓄積と、歯科医師会・学校を通じた活動の記録は、他社がお金を出しても手に入らない。データの「量」では花王・P&amp;Gに勝てないが、「なぜ売れるのかを説明できる深さ」で勝つ。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 1/2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ふだんの仕事のチームと、変革のチームを分ける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新しい部署を増やさず、少人数の専任チームで進める。ふだんの仕事をしている現場には、変革の負担をかけない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6309360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5544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経営会議（月1回）　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社長と担当役員。決めることは3つだけ：お金と人の配分／やめる仕事の決定／次の段階に進むかの判断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212848"/>
            <a:ext cx="0" cy="256032"/>
          </a:xfrm>
          <a:prstGeom prst="line">
            <a:avLst/>
          </a:prstGeom>
          <a:noFill/>
          <a:ln w="19050">
            <a:solidFill>
              <a:srgbClr val="9AA3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468880"/>
            <a:ext cx="6309360" cy="77724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468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　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デジタル戦略部と経営企画の混成。守りの5対策の進行、効果測定、経営会議への報告、部門間調整を担う。計画全体の管理者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639312" cy="182880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20440"/>
            <a:ext cx="3639312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現場の実行チーム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専任5名＋兼任10名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専任：支店の営業2名・マーケ1名・橋渡し役1名・デジタル戦略1名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兼任：研究・物流・システムなどの担当者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仕事は1つだけ：最初の現場で「1年目の結果」を作ること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270248" y="3520440"/>
            <a:ext cx="3639312" cy="182880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0248" y="3520440"/>
            <a:ext cx="363931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407408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橋渡し役のチーム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まず5名 → 将来20名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07408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マーケの知見を、営業がバイヤーに話せる提案に「翻訳」する専門チーム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マーケ出身・営業出身・事業部出身の混成で試験的に始める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結果が出たら、正式な組織にすることを経営会議で決める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037576" y="3520440"/>
            <a:ext cx="3639312" cy="182880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3520440"/>
            <a:ext cx="3639312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8174736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システムの横断チーム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4736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既存の担当者をつなぐ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74736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新しい部署は作らない。今のシステム担当者を横につなぎ、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守り①②④（AI実測・情報公開・売場是正）の実務を担う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外部からの採用はデータ技術者と広告データの専門家の2職種だけ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5855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5321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ふだんの仕事のチーム（全国の支店・事業部・研究所）：</a:t>
            </a:r>
            <a:pPr indent="0" marL="0"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今の仕事を今の目標のまま続ける。「使うと商談に勝ちやすくなる道具」が完成してから受け取る ― 現場に二重の負担をかけない。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02920" y="61447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変革チーム（実行チーム・橋渡し役・事務局）の人事評価は、通常の売上目標から切り離し、変革の進み具合で評価する。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 2/2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役割分担と、人の集め方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主な仕事ごとに「誰が決めて、誰が動くか」をあらかじめ決めておく。人は社内から選ぶことを基本にする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731520"/>
                <a:gridCol w="914400"/>
                <a:gridCol w="86868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主な仕事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経営会議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推進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事務局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橋渡し役・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各部門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最初の現場と専任者を決める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やめる仕事を決める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守り①② AI実測・情報の整備公開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守り③④ 定期購入・ネット売場の是正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守り⑤ 小売広告枠の活用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攻め① 提案の根拠づくりを回す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攻め③ 新しい提案での商談・売場づくり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政策対応・歯科医師会との連携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次の段階に進むかの判断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評価制度の見直し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41324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◎＝決める・責任を持つ　○＝実行する　△＝相談を受ける　−＝報告を受ける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809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人の集め方 4つの方針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1874520"/>
            <a:ext cx="4005072" cy="87782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9110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社内から選ぶ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必要なのは「商品の知識」と「小売の事情」の両方がわかる人。社外にはほぼいないため、社内の経験者から選ぶ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680960" y="2825496"/>
            <a:ext cx="4005072" cy="87782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286207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外部採用は2職種だけ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データ基盤の技術者と、小売の広告データの専門家のみ。それ以外は今いる社員の学び直しでまかなう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680960" y="3776472"/>
            <a:ext cx="4005072" cy="87782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38130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部門間の異動を仕組みに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マーケと営業を2〜3年で行き来する異動を標準にして、両方がわかる人を計画的に増やす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7680960" y="4727448"/>
            <a:ext cx="4005072" cy="87782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476402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経験者が次を教える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最初の現場の経験者が、次に広げる現場に入って直接教える。座学の研修より実地で伝える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84301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体制の考え方：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専任は最少（実行チーム5名＋事務局5名）にして、大きなプロジェクト組織は作らない。変革を進める力は人数ではなく、「やめる決定」と「評価の切り離し」という権限から生まれる。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時間割 ― 「今すぐ」から「2040年」まで。日付ではなく「結果」で次に進む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守り・攻め・体制の3つの列で時間割を引く。3回の確認ポイントに合格したときだけ、投資と組織変更を広げる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20240"/>
                <a:gridCol w="2240280"/>
                <a:gridCol w="2148840"/>
                <a:gridCol w="1828800"/>
                <a:gridCol w="18105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今すぐ（90日）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1年目（〜2027夏）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2〜3年（〜2029）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4〜8年（〜2034）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その先（〜2040）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（外されない）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AIでの扱われ方の実測を開始（90日で初回報告）。商品情報の整備に着手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主要商品の情報整備・公開が完了。モールでの見え方を是正。定期購入の設計開始。小売広告枠を販促計画に組み込み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定期購入の登録数を主要な数字として管理。AI経由の販売・紹介を実測できる状態に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AIによる購入代行が国内で普及。「外されない」から「選ばれる」への切り替え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AI・小売の仕組みに商品分野ごと登録され、自動補充で標準的に選ばれている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（指名される）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実行チーム結成・最初の現場決定。研究知見の一覧化。政策対応チームを組成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「提案の根拠」で商談1件成立。売場で実証。歯科アプリ試作。事務作業3割減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10商談・3社で再現。橋渡し役を正式組織に。3分野×5社へ拡大。歯科・学校ルートのデジタル化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全国の標準のやり方に。主要小売と共同の事業計画。生産性の差を半減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歯科・学校・自治体で作った習慣が、AI時代の「初期設定」になる ― 最終目標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体制・制度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専任5名の拠出。事務時間の測定。「やめる仕事」の宣言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変革参加者への加点評価を開始。確認1（2027年夏）：商談1件＋事務3割減＋AIでの紹介改善＋定期購入の登録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売上と「買い続け」の二軸評価へ。確認2（2028年度末）：10商談再現→組織を正式化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評価を新基準に全面切り替え（確認3：2031年ごろ、主要小売5社と共同計画）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「買い続けてもらう売上」中心の経営指標が定着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確認ポイントの考え方：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不合格なら広げず、どの手順で詰まったかを調べて直してから再挑戦する。組織や評価の大きな変更は、必ず「商談に勝てた」という実例（確認1・2の合格）を根拠に実行する ― 事実で社内を動かす。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かかるお金と、返ってくる効果（仮の試算・要確認）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5年間の投資30〜50億円に対し、効果は年45〜95億円。2〜3年で回収できる計算。最大の効果は「商品が棚やAIから外されるのを防ぐ」こと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かかるお金（5年間の合計）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30〜50億円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最初の3年間：年3〜5億円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守りの5対策（年1〜2億円）と専任者の人件費、今あるシステムの活用が中心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4年目以降：合計20〜35億円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データ基盤・商品データ公開の拡張・歯科アプリの本格版。確認ポイント2に合格したら投資する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72768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事務作業を減らした時間の価値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526280" y="2029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15〜25億円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162763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営業・マーケの約800名（仮の人数）の事務作業を3〜4割減らした場合の人件費に相当。浮いた時間は商談と売場づくりに使う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343400" y="2542032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54203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6151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値引き費用の使い方の見直し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20〜40億円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259689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値引き・特売の費用（仮に売上の12〜15%＝500〜600億円）のうち5〜10%を「また買ってもらうための売場づくり」や小売広告枠に振り替え、利益率を改善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343400" y="3511296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511296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広告費のムダ削減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526280" y="3968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10〜30億円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3566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広告の効果を測れるようにして、効果の低い広告費の1割程度を、効果の高い使い方に移す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43400" y="4480560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480560"/>
            <a:ext cx="64008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棚やAIから外されるのを防ぐ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52628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金額化は困難・ただし最大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453542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環境や商品のデータが足りない商品は、将来、小売やAIの仕組みが自動的に取り扱いから外す。それを防ぐ＝売上を守ることが最大の効果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回収の見通し：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効果①〜③の合計は年45〜95億円。投資は5年で30〜50億円なので、2〜3年で回収できる計算。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ただし人数や費用の内訳はすべて仮の数字。最初の90日で実際に測り、確かな数字に置き換えてから経営会議で確定する。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それぞれに「何が良くなるか」と見る数字（KPI）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変革は号令だけでは動かない。各部門が「自分たちの得になる」と言える状態を作ることが、動機（根っこ③）への一番の打ち手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583680"/>
                <a:gridCol w="30449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が減り、商談の準備と対話の時間が約2倍になる。値引きではなく「数字の根拠」で提案できるので商談に勝ちやすくなり、バイヤーから「仕入先の一つ」ではなく「頼れる相談相手」として扱われ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事務作業時間の割合／根拠を使った提案の成立数・勝率／特売への依存度／小売との共同計画の数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広告がお店での購入につながったかを初めて数字で確認できる。効果の薄い広告を減らし、効く施策と小売広告枠にお金を移せる。AIでの紹介のされ方を自分たちで動かせるようになる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効果を測定できている広告の割合／AIでの紹介率／買い続けてくれるお客様の割合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約30年分の研究データが商談とAIの回答で使われ、売上への貢献が数字で見える。売場での検証結果が戻ってくるので、次の研究テーマ選びにも役立つ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研究データを使った提案の数／商談・公開情報での活用率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商品・環境データの整備が小売の審査への回答になり、取り扱い中止のリスクが減る。店頭の回収作業など負担の大きい仕事のやり方を、小売と一緒に設計できる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環境データを整備できた商品の割合／欠品率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経営・経営管理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販促費・広告費・システム投資の効果を同じ物差しで比べられ、お金の配分の判断が速く正確になる。AIでの扱われ方の毎月報告が、市場変化への早期警報になる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利益率／投資に対する効果／買い続けるお客様による売上の割合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マーケと営業を行き来する異動で両方がわかる人材が育つ。「変革に取り組んだ人が報われる」評価が、意欲ある社員の離職を防ぐ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部門間異動の数／新しい評価を適用された人数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各KPIの目標値は、最初の90日の実測が終わってから推進事務局が案を作り、経営会議で決める。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KGIとKPI ― 現場の数字から会社の最終目標まで一本につなぐ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KGI（会社の最終目標）は3つだけ。すべてのKPI（途中の目安）はこの3つのどれかにつながる。つながらない施策は原則やらない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KGI＝最終目標（2040年・会社全体）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8366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値引きに頼らずに利益を出せる会社になれたかを測る、一番大事な指標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316382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買い続けてもらう売上の割合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一度きりでなく、習慣として買われている売上の割合。目標は5割超（基準はこれから設定）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444398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AI・小売の仕組みへの登録数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AIが買い物を代行する時代に「最初から選ばれる商品」になれた商品分野の数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中間のKPI（〜2034年）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65376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お客様の年間購入額の伸び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最初の現場から広げた先まで共通の物差し。マーケ・橋渡し役・営業の3者共通の目標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343400" y="2798064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834640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販促費・広告費の投資効果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値引きから「効果の見える使い方」へどれだけ転換できたか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343400" y="3767328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80390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1人あたり生産性の差の半減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P&amp;Gと約7.6倍の開きがある生産性の差を半分にする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343400" y="4736592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773168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商品・環境データの整備率と定期購入の登録数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AIと小売の審査で外されない状態＋自動購入時代の「初期設定」をどれだけ取れたか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0010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1年目のKPI（現場の数字）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1828800"/>
            <a:ext cx="3273552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938528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AIでの紹介のされ方（毎月計測・改善件数）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商品情報を整備・公開できた主要商品の割合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定期購入の登録数・継続率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根拠を使った提案の成立数（1件→10件）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事務作業時間の削減率（3割→5割）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小売と一緒に作った売場の店舗数・検証の数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「やめる」と決めた仕事の実行率（100%）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小売広告枠へ振り替えた金額とその効果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8873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運用のルール：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現場のKPIは3か月ごとに推進事務局が測り、経営会議に報告する。KGIにつながらない新しい施策の追加は原則行わない ― 「システムを入れること自体が目的」になることを防ぐ。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2026-08-02T17:35:03Z</dcterms:created>
  <dcterms:modified xsi:type="dcterms:W3CDTF">2026-08-02T17:35:03Z</dcterms:modified>
</cp:coreProperties>
</file>