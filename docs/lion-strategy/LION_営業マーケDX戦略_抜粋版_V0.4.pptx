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147483644" r:id="rId5"/>
    <p:sldId id="2147483645" r:id="rId6"/>
    <p:sldId id="2147483646" r:id="rId7"/>
    <p:sldId id="2147483647" r:id="rId8"/>
    <p:sldId id="256" r:id="rId9"/>
    <p:sldId id="258" r:id="rId10"/>
  </p:sldIdLst>
  <p:sldSz cx="12192000" cy="6858000"/>
  <p:notesSz cx="6858000" cy="9144000"/>
  <p:custDataLst>
    <p:tags r:id="rId13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作成資料" id="{A96DDF1F-0CC4-4859-B684-4401533E38BD}">
          <p14:sldIdLst>
            <p14:sldId id="2147483644"/>
            <p14:sldId id="2147483645"/>
            <p14:sldId id="2147483646"/>
            <p14:sldId id="2147483647"/>
            <p14:sldId id="256"/>
            <p14:sldId id="258"/>
          </p14:sldIdLst>
        </p14:section>
        <p14:section name="作成外_過去参考" id="{3694DEE3-69CA-459F-B61D-F47F1D012CF5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D2E"/>
    <a:srgbClr val="3B9D3B"/>
    <a:srgbClr val="F8CBAD"/>
    <a:srgbClr val="C5E0B4"/>
    <a:srgbClr val="E2F0D9"/>
    <a:srgbClr val="44A244"/>
    <a:srgbClr val="FBE5D6"/>
    <a:srgbClr val="06973F"/>
    <a:srgbClr val="009338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淡色スタイル 2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淡色スタイル 3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ABFCF23-3B69-468F-B69F-88F6DE6A72F2}" styleName="中間スタイル 1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2" autoAdjust="0"/>
    <p:restoredTop sz="94660"/>
  </p:normalViewPr>
  <p:slideViewPr>
    <p:cSldViewPr snapToGrid="0">
      <p:cViewPr varScale="1">
        <p:scale>
          <a:sx n="74" d="100"/>
          <a:sy n="74" d="100"/>
        </p:scale>
        <p:origin x="922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tags" Target="tags/tag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C87EA5-B015-4E39-A84B-A594D563A58F}" type="datetimeFigureOut">
              <a:rPr kumimoji="1" lang="ja-JP" altLang="en-US" smtClean="0"/>
              <a:t>2026/8/17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D636F3-8413-4B74-BB00-76FFFF9698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809174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1B69A8-C8FA-4C38-B005-FB4A7565DD38}" type="datetimeFigureOut">
              <a:rPr kumimoji="1" lang="ja-JP" altLang="en-US" smtClean="0"/>
              <a:t>2026/8/17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2A0D92-6B77-46DB-8A11-5C7100D44D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106987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gi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E9BC486-A67F-4F3D-8FA3-20FB0639AB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7179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223045" y="1"/>
            <a:ext cx="11745912" cy="914400"/>
          </a:xfrm>
        </p:spPr>
        <p:txBody>
          <a:bodyPr anchor="b">
            <a:normAutofit/>
          </a:bodyPr>
          <a:lstStyle>
            <a:lvl1pPr>
              <a:defRPr sz="2400" baseline="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/>
              <a:t>スライドタイトル</a:t>
            </a:r>
          </a:p>
        </p:txBody>
      </p:sp>
      <p:cxnSp>
        <p:nvCxnSpPr>
          <p:cNvPr id="8" name="直線コネクタ 7"/>
          <p:cNvCxnSpPr/>
          <p:nvPr userDrawn="1"/>
        </p:nvCxnSpPr>
        <p:spPr>
          <a:xfrm>
            <a:off x="0" y="914400"/>
            <a:ext cx="12192000" cy="0"/>
          </a:xfrm>
          <a:prstGeom prst="line">
            <a:avLst/>
          </a:prstGeom>
          <a:ln w="28575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プレースホルダー 11"/>
          <p:cNvSpPr>
            <a:spLocks noGrp="1"/>
          </p:cNvSpPr>
          <p:nvPr>
            <p:ph type="body" sz="quarter" idx="13" hasCustomPrompt="1"/>
          </p:nvPr>
        </p:nvSpPr>
        <p:spPr>
          <a:xfrm>
            <a:off x="223044" y="914400"/>
            <a:ext cx="11745912" cy="427038"/>
          </a:xfrm>
        </p:spPr>
        <p:txBody>
          <a:bodyPr>
            <a:noAutofit/>
          </a:bodyPr>
          <a:lstStyle>
            <a:lvl1pPr marL="342900" indent="-342900">
              <a:buClr>
                <a:srgbClr val="008000"/>
              </a:buClr>
              <a:buFont typeface="Wingdings" panose="05000000000000000000" pitchFamily="2" charset="2"/>
              <a:buChar char="n"/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スライドメッセージ</a:t>
            </a:r>
          </a:p>
        </p:txBody>
      </p:sp>
      <p:pic>
        <p:nvPicPr>
          <p:cNvPr id="7" name="Picture 2" descr="今日を愛する。ライオン。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3567" b="11841"/>
          <a:stretch/>
        </p:blipFill>
        <p:spPr bwMode="auto">
          <a:xfrm>
            <a:off x="10752012" y="284692"/>
            <a:ext cx="1102101" cy="539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7224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 userDrawn="1">
          <p15:clr>
            <a:srgbClr val="FBAE40"/>
          </p15:clr>
        </p15:guide>
        <p15:guide id="2" pos="211" userDrawn="1">
          <p15:clr>
            <a:srgbClr val="FBAE40"/>
          </p15:clr>
        </p15:guide>
        <p15:guide id="3" orient="horz" pos="3974" userDrawn="1">
          <p15:clr>
            <a:srgbClr val="FBAE40"/>
          </p15:clr>
        </p15:guide>
        <p15:guide id="4" pos="7469" userDrawn="1">
          <p15:clr>
            <a:srgbClr val="FBAE40"/>
          </p15:clr>
        </p15:guide>
        <p15:guide id="5" orient="horz" pos="18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図プレースホルダー 8">
            <a:extLst>
              <a:ext uri="{FF2B5EF4-FFF2-40B4-BE49-F238E27FC236}">
                <a16:creationId xmlns:a16="http://schemas.microsoft.com/office/drawing/2014/main" id="{769171BB-12EF-D7D1-8CAA-8B54FA9AFE5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51413" y="8878"/>
            <a:ext cx="5540587" cy="6849121"/>
          </a:xfrm>
        </p:spPr>
        <p:txBody>
          <a:bodyPr/>
          <a:lstStyle/>
          <a:p>
            <a:r>
              <a:rPr kumimoji="1" lang="ja-JP" altLang="en-US"/>
              <a:t>図を追加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142875" y="136525"/>
            <a:ext cx="6508538" cy="692457"/>
          </a:xfrm>
        </p:spPr>
        <p:txBody>
          <a:bodyPr anchor="ctr">
            <a:normAutofit/>
          </a:bodyPr>
          <a:lstStyle>
            <a:lvl1pPr>
              <a:defRPr sz="3200" b="1" baseline="0">
                <a:solidFill>
                  <a:srgbClr val="595959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/>
              <a:t>スライドタイトル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3581400" cy="365125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12" name="テキスト プレースホルダー 11"/>
          <p:cNvSpPr>
            <a:spLocks noGrp="1"/>
          </p:cNvSpPr>
          <p:nvPr>
            <p:ph type="body" sz="quarter" idx="13" hasCustomPrompt="1"/>
          </p:nvPr>
        </p:nvSpPr>
        <p:spPr>
          <a:xfrm>
            <a:off x="1019175" y="1384919"/>
            <a:ext cx="5076825" cy="692457"/>
          </a:xfrm>
        </p:spPr>
        <p:txBody>
          <a:bodyPr anchor="ctr">
            <a:normAutofit/>
          </a:bodyPr>
          <a:lstStyle>
            <a:lvl1pPr marL="0" indent="0">
              <a:buClr>
                <a:srgbClr val="008000"/>
              </a:buClr>
              <a:buFont typeface="Wingdings" panose="05000000000000000000" pitchFamily="2" charset="2"/>
              <a:buNone/>
              <a:defRPr sz="1800" b="1">
                <a:solidFill>
                  <a:srgbClr val="407FA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11" name="テキスト プレースホルダー 11">
            <a:extLst>
              <a:ext uri="{FF2B5EF4-FFF2-40B4-BE49-F238E27FC236}">
                <a16:creationId xmlns:a16="http://schemas.microsoft.com/office/drawing/2014/main" id="{AA811C02-548F-41AB-8518-014E458761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19175" y="2116348"/>
            <a:ext cx="5076825" cy="365125"/>
          </a:xfrm>
        </p:spPr>
        <p:txBody>
          <a:bodyPr anchor="ctr">
            <a:normAutofit/>
          </a:bodyPr>
          <a:lstStyle>
            <a:lvl1pPr marL="0" indent="0">
              <a:buClr>
                <a:srgbClr val="008000"/>
              </a:buClr>
              <a:buFont typeface="Wingdings" panose="05000000000000000000" pitchFamily="2" charset="2"/>
              <a:buNone/>
              <a:defRPr sz="1800" b="0">
                <a:solidFill>
                  <a:srgbClr val="407FA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本文</a:t>
            </a:r>
          </a:p>
        </p:txBody>
      </p:sp>
      <p:sp>
        <p:nvSpPr>
          <p:cNvPr id="21" name="テキスト プレースホルダー 11">
            <a:extLst>
              <a:ext uri="{FF2B5EF4-FFF2-40B4-BE49-F238E27FC236}">
                <a16:creationId xmlns:a16="http://schemas.microsoft.com/office/drawing/2014/main" id="{D0945B70-3014-AE59-0012-E35A46BA11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16418" y="3261321"/>
            <a:ext cx="4500438" cy="365125"/>
          </a:xfrm>
        </p:spPr>
        <p:txBody>
          <a:bodyPr>
            <a:normAutofit/>
          </a:bodyPr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 sz="1800" b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本文</a:t>
            </a:r>
          </a:p>
        </p:txBody>
      </p:sp>
      <p:sp>
        <p:nvSpPr>
          <p:cNvPr id="20" name="図プレースホルダー 19">
            <a:extLst>
              <a:ext uri="{FF2B5EF4-FFF2-40B4-BE49-F238E27FC236}">
                <a16:creationId xmlns:a16="http://schemas.microsoft.com/office/drawing/2014/main" id="{B53DC72C-2BC8-F8E4-ECCF-7A9BA48790D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579458" y="1361786"/>
            <a:ext cx="1633787" cy="1633787"/>
          </a:xfrm>
        </p:spPr>
        <p:txBody>
          <a:bodyPr/>
          <a:lstStyle/>
          <a:p>
            <a:r>
              <a:rPr kumimoji="1" lang="ja-JP" altLang="en-US"/>
              <a:t>図を追加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7898860" y="6356350"/>
            <a:ext cx="395817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 altLang="ja-JP"/>
              <a:t>©LION Corporation All rights reserved                                   </a:t>
            </a:r>
            <a:fld id="{AE9BC486-A67F-4F3D-8FA3-20FB0639ABC0}" type="slidenum">
              <a:rPr lang="ja-JP" altLang="en-US" smtClean="0"/>
              <a:pPr algn="l"/>
              <a:t>‹#›</a:t>
            </a:fld>
            <a:endParaRPr lang="ja-JP" altLang="en-US"/>
          </a:p>
        </p:txBody>
      </p:sp>
      <p:sp>
        <p:nvSpPr>
          <p:cNvPr id="5" name="テキスト プレースホルダー 11">
            <a:extLst>
              <a:ext uri="{FF2B5EF4-FFF2-40B4-BE49-F238E27FC236}">
                <a16:creationId xmlns:a16="http://schemas.microsoft.com/office/drawing/2014/main" id="{4ED55D75-A3D4-A129-D2FC-3108681FBD8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19175" y="4121758"/>
            <a:ext cx="5076825" cy="692457"/>
          </a:xfrm>
        </p:spPr>
        <p:txBody>
          <a:bodyPr anchor="ctr">
            <a:normAutofit/>
          </a:bodyPr>
          <a:lstStyle>
            <a:lvl1pPr marL="0" indent="0">
              <a:buClr>
                <a:srgbClr val="008000"/>
              </a:buClr>
              <a:buFont typeface="Wingdings" panose="05000000000000000000" pitchFamily="2" charset="2"/>
              <a:buNone/>
              <a:defRPr sz="1800" b="1">
                <a:solidFill>
                  <a:srgbClr val="407FA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7" name="テキスト プレースホルダー 11">
            <a:extLst>
              <a:ext uri="{FF2B5EF4-FFF2-40B4-BE49-F238E27FC236}">
                <a16:creationId xmlns:a16="http://schemas.microsoft.com/office/drawing/2014/main" id="{E28757FD-1708-EB5C-375D-071B3DC61F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19175" y="4853187"/>
            <a:ext cx="5076825" cy="365125"/>
          </a:xfrm>
        </p:spPr>
        <p:txBody>
          <a:bodyPr anchor="ctr">
            <a:normAutofit/>
          </a:bodyPr>
          <a:lstStyle>
            <a:lvl1pPr marL="0" indent="0">
              <a:buClr>
                <a:srgbClr val="008000"/>
              </a:buClr>
              <a:buFont typeface="Wingdings" panose="05000000000000000000" pitchFamily="2" charset="2"/>
              <a:buNone/>
              <a:defRPr sz="1800" b="0">
                <a:solidFill>
                  <a:srgbClr val="407FA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本文</a:t>
            </a:r>
          </a:p>
        </p:txBody>
      </p:sp>
    </p:spTree>
    <p:extLst>
      <p:ext uri="{BB962C8B-B14F-4D97-AF65-F5344CB8AC3E}">
        <p14:creationId xmlns:p14="http://schemas.microsoft.com/office/powerpoint/2010/main" val="1439624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3974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182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2B8A581B-A44C-1A50-AA22-A78798A438A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44057" y="6492208"/>
            <a:ext cx="4115157" cy="365792"/>
          </a:xfrm>
          <a:prstGeom prst="rect">
            <a:avLst/>
          </a:prstGeom>
        </p:spPr>
      </p:pic>
      <p:sp>
        <p:nvSpPr>
          <p:cNvPr id="4" name="テキスト ボックス 3"/>
          <p:cNvSpPr txBox="1"/>
          <p:nvPr userDrawn="1"/>
        </p:nvSpPr>
        <p:spPr>
          <a:xfrm>
            <a:off x="11353800" y="6544299"/>
            <a:ext cx="6595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159CA7EA-7377-4C6F-958C-65E49E0817CC}" type="slidenum">
              <a:rPr kumimoji="1" lang="ja-JP" altLang="en-US" sz="1200" smtClean="0">
                <a:solidFill>
                  <a:srgbClr val="969696"/>
                </a:solidFill>
              </a:rPr>
              <a:pPr algn="ctr"/>
              <a:t>‹#›</a:t>
            </a:fld>
            <a:endParaRPr kumimoji="1" lang="ja-JP" altLang="en-US" sz="1200" dirty="0">
              <a:solidFill>
                <a:srgbClr val="96969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0105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9BAF5F-9623-E4D8-4CEA-2B2CA32B9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真因と解決策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653D41D-BDA2-F5DB-F840-23AD2C8603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解決策は真因の裏返し。★＝最初に動かす起点施策。B1「投資ROI可視化」が全ての起点 ― 各解決は「やること→具体例→変わること」で読む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9E8C4140-6436-58D0-3304-80C77CC7D44F}"/>
              </a:ext>
            </a:extLst>
          </p:cNvPr>
          <p:cNvSpPr/>
          <p:nvPr/>
        </p:nvSpPr>
        <p:spPr>
          <a:xfrm>
            <a:off x="320040" y="1628774"/>
            <a:ext cx="1097280" cy="14543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+mn-ea"/>
            </a:endParaRPr>
          </a:p>
        </p:txBody>
      </p:sp>
      <p:sp>
        <p:nvSpPr>
          <p:cNvPr id="5" name="TextBox 14">
            <a:extLst>
              <a:ext uri="{FF2B5EF4-FFF2-40B4-BE49-F238E27FC236}">
                <a16:creationId xmlns:a16="http://schemas.microsoft.com/office/drawing/2014/main" id="{3681BFD9-2381-6CA6-D760-999CF256399B}"/>
              </a:ext>
            </a:extLst>
          </p:cNvPr>
          <p:cNvSpPr txBox="1"/>
          <p:nvPr/>
        </p:nvSpPr>
        <p:spPr>
          <a:xfrm>
            <a:off x="384048" y="1940423"/>
            <a:ext cx="969264" cy="687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+mn-ea"/>
              </a:rPr>
              <a:t>真因1
資源の
使い方</a:t>
            </a:r>
          </a:p>
        </p:txBody>
      </p:sp>
      <p:sp>
        <p:nvSpPr>
          <p:cNvPr id="6" name="TextBox 15">
            <a:extLst>
              <a:ext uri="{FF2B5EF4-FFF2-40B4-BE49-F238E27FC236}">
                <a16:creationId xmlns:a16="http://schemas.microsoft.com/office/drawing/2014/main" id="{15E4E4A0-3D1A-C96A-3763-5860EBC960BD}"/>
              </a:ext>
            </a:extLst>
          </p:cNvPr>
          <p:cNvSpPr txBox="1"/>
          <p:nvPr/>
        </p:nvSpPr>
        <p:spPr>
          <a:xfrm>
            <a:off x="1444752" y="2234759"/>
            <a:ext cx="256032" cy="309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2000" b="1">
                <a:solidFill>
                  <a:srgbClr val="595959"/>
                </a:solidFill>
                <a:latin typeface="+mn-ea"/>
              </a:rPr>
              <a:t>→</a:t>
            </a:r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1CA3F38F-BA0F-EED1-831E-897780093F81}"/>
              </a:ext>
            </a:extLst>
          </p:cNvPr>
          <p:cNvSpPr/>
          <p:nvPr/>
        </p:nvSpPr>
        <p:spPr>
          <a:xfrm>
            <a:off x="1719072" y="1628774"/>
            <a:ext cx="6537960" cy="1454364"/>
          </a:xfrm>
          <a:prstGeom prst="rect">
            <a:avLst/>
          </a:prstGeom>
          <a:solidFill>
            <a:srgbClr val="FFFFFF"/>
          </a:solidFill>
          <a:ln w="1397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+mn-ea"/>
            </a:endParaRPr>
          </a:p>
        </p:txBody>
      </p:sp>
      <p:sp>
        <p:nvSpPr>
          <p:cNvPr id="8" name="TextBox 17">
            <a:extLst>
              <a:ext uri="{FF2B5EF4-FFF2-40B4-BE49-F238E27FC236}">
                <a16:creationId xmlns:a16="http://schemas.microsoft.com/office/drawing/2014/main" id="{D01E092F-8169-4507-4538-F605146B680F}"/>
              </a:ext>
            </a:extLst>
          </p:cNvPr>
          <p:cNvSpPr txBox="1"/>
          <p:nvPr/>
        </p:nvSpPr>
        <p:spPr>
          <a:xfrm>
            <a:off x="1847088" y="1689372"/>
            <a:ext cx="6309360" cy="1856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00" b="1" dirty="0">
                <a:solidFill>
                  <a:srgbClr val="C8102E"/>
                </a:solidFill>
                <a:latin typeface="+mn-ea"/>
              </a:rPr>
              <a:t>解決1 </a:t>
            </a:r>
            <a:r>
              <a:rPr lang="ja-JP" altLang="en-US" sz="1200" b="1" dirty="0">
                <a:solidFill>
                  <a:srgbClr val="C8102E"/>
                </a:solidFill>
                <a:latin typeface="+mn-ea"/>
              </a:rPr>
              <a:t>傾斜</a:t>
            </a:r>
            <a:r>
              <a:rPr sz="1200" b="1" dirty="0" err="1">
                <a:solidFill>
                  <a:srgbClr val="C8102E"/>
                </a:solidFill>
                <a:latin typeface="+mn-ea"/>
              </a:rPr>
              <a:t>資源の「使い方」を決め直す</a:t>
            </a:r>
            <a:endParaRPr sz="1200" b="1" dirty="0">
              <a:solidFill>
                <a:srgbClr val="C8102E"/>
              </a:solidFill>
              <a:latin typeface="+mn-ea"/>
            </a:endParaRPr>
          </a:p>
        </p:txBody>
      </p:sp>
      <p:sp>
        <p:nvSpPr>
          <p:cNvPr id="9" name="TextBox 18">
            <a:extLst>
              <a:ext uri="{FF2B5EF4-FFF2-40B4-BE49-F238E27FC236}">
                <a16:creationId xmlns:a16="http://schemas.microsoft.com/office/drawing/2014/main" id="{F829BAFF-A394-F30A-44F7-03B122C6988B}"/>
              </a:ext>
            </a:extLst>
          </p:cNvPr>
          <p:cNvSpPr txBox="1"/>
          <p:nvPr/>
        </p:nvSpPr>
        <p:spPr>
          <a:xfrm>
            <a:off x="1847088" y="1992365"/>
            <a:ext cx="6409944" cy="10341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4000"/>
              </a:lnSpc>
            </a:pPr>
            <a:r>
              <a:rPr lang="ja-JP" altLang="en-US" sz="1000" b="0" dirty="0">
                <a:solidFill>
                  <a:srgbClr val="262626"/>
                </a:solidFill>
                <a:latin typeface="+mn-ea"/>
              </a:rPr>
              <a:t>①市場：</a:t>
            </a:r>
            <a:r>
              <a:rPr lang="en-US" altLang="ja-JP" sz="1000" b="0" dirty="0">
                <a:solidFill>
                  <a:srgbClr val="262626"/>
                </a:solidFill>
                <a:latin typeface="+mn-ea"/>
              </a:rPr>
              <a:t>OHC</a:t>
            </a:r>
            <a:r>
              <a:rPr lang="ja-JP" altLang="en-US" sz="1000" b="0" dirty="0">
                <a:solidFill>
                  <a:srgbClr val="262626"/>
                </a:solidFill>
                <a:latin typeface="+mn-ea"/>
              </a:rPr>
              <a:t>を補充買い</a:t>
            </a:r>
            <a:r>
              <a:rPr lang="en-US" altLang="ja-JP" sz="1000" b="0" dirty="0">
                <a:solidFill>
                  <a:srgbClr val="262626"/>
                </a:solidFill>
                <a:latin typeface="+mn-ea"/>
              </a:rPr>
              <a:t>(</a:t>
            </a:r>
            <a:r>
              <a:rPr lang="ja-JP" altLang="en-US" sz="1000" b="0" dirty="0">
                <a:solidFill>
                  <a:srgbClr val="262626"/>
                </a:solidFill>
                <a:latin typeface="+mn-ea"/>
              </a:rPr>
              <a:t>習慣の定番購買</a:t>
            </a:r>
            <a:r>
              <a:rPr lang="en-US" altLang="ja-JP" sz="1000" b="0" dirty="0">
                <a:solidFill>
                  <a:srgbClr val="262626"/>
                </a:solidFill>
                <a:latin typeface="+mn-ea"/>
              </a:rPr>
              <a:t>)</a:t>
            </a:r>
            <a:r>
              <a:rPr lang="ja-JP" altLang="en-US" sz="1000" dirty="0">
                <a:solidFill>
                  <a:srgbClr val="262626"/>
                </a:solidFill>
                <a:latin typeface="+mn-ea"/>
              </a:rPr>
              <a:t>、</a:t>
            </a:r>
            <a:r>
              <a:rPr lang="ja-JP" altLang="en-US" sz="1000" b="0" dirty="0">
                <a:solidFill>
                  <a:srgbClr val="262626"/>
                </a:solidFill>
                <a:latin typeface="+mn-ea"/>
              </a:rPr>
              <a:t>悩み</a:t>
            </a:r>
            <a:r>
              <a:rPr lang="en-US" altLang="ja-JP" sz="1000" b="0" dirty="0">
                <a:solidFill>
                  <a:srgbClr val="262626"/>
                </a:solidFill>
                <a:latin typeface="+mn-ea"/>
              </a:rPr>
              <a:t>(</a:t>
            </a:r>
            <a:r>
              <a:rPr lang="ja-JP" altLang="en-US" sz="1000" b="0" dirty="0">
                <a:solidFill>
                  <a:srgbClr val="262626"/>
                </a:solidFill>
                <a:latin typeface="+mn-ea"/>
              </a:rPr>
              <a:t>症状をセルフケアで解決</a:t>
            </a:r>
            <a:r>
              <a:rPr lang="en-US" altLang="ja-JP" sz="1000" b="0" dirty="0">
                <a:solidFill>
                  <a:srgbClr val="262626"/>
                </a:solidFill>
                <a:latin typeface="+mn-ea"/>
              </a:rPr>
              <a:t>)</a:t>
            </a:r>
            <a:r>
              <a:rPr lang="ja-JP" altLang="en-US" sz="1000" dirty="0">
                <a:solidFill>
                  <a:srgbClr val="262626"/>
                </a:solidFill>
                <a:latin typeface="+mn-ea"/>
              </a:rPr>
              <a:t>、</a:t>
            </a:r>
            <a:r>
              <a:rPr lang="ja-JP" altLang="en-US" sz="1000" b="0" dirty="0">
                <a:solidFill>
                  <a:srgbClr val="262626"/>
                </a:solidFill>
                <a:latin typeface="+mn-ea"/>
              </a:rPr>
              <a:t>予防</a:t>
            </a:r>
            <a:r>
              <a:rPr lang="en-US" altLang="ja-JP" sz="1000" b="0" dirty="0">
                <a:solidFill>
                  <a:srgbClr val="262626"/>
                </a:solidFill>
                <a:latin typeface="+mn-ea"/>
              </a:rPr>
              <a:t>(</a:t>
            </a:r>
            <a:r>
              <a:rPr lang="ja-JP" altLang="en-US" sz="1000" b="0" dirty="0">
                <a:solidFill>
                  <a:srgbClr val="262626"/>
                </a:solidFill>
                <a:latin typeface="+mn-ea"/>
              </a:rPr>
              <a:t>健診・啓発が起点</a:t>
            </a:r>
            <a:r>
              <a:rPr lang="en-US" altLang="ja-JP" sz="1000" b="0" dirty="0">
                <a:solidFill>
                  <a:srgbClr val="262626"/>
                </a:solidFill>
                <a:latin typeface="+mn-ea"/>
              </a:rPr>
              <a:t>)</a:t>
            </a:r>
            <a:r>
              <a:rPr lang="ja-JP" altLang="en-US" sz="1000" b="0" dirty="0">
                <a:solidFill>
                  <a:srgbClr val="262626"/>
                </a:solidFill>
                <a:latin typeface="+mn-ea"/>
              </a:rPr>
              <a:t>、口腔機能 </a:t>
            </a:r>
            <a:r>
              <a:rPr lang="ja-JP" altLang="en-US" sz="1000" dirty="0">
                <a:solidFill>
                  <a:srgbClr val="262626"/>
                </a:solidFill>
                <a:latin typeface="+mn-ea"/>
              </a:rPr>
              <a:t>（</a:t>
            </a:r>
            <a:r>
              <a:rPr lang="ja-JP" altLang="en-US" sz="1000" b="0" dirty="0">
                <a:solidFill>
                  <a:srgbClr val="262626"/>
                </a:solidFill>
                <a:latin typeface="+mn-ea"/>
              </a:rPr>
              <a:t>機能の維持・回復）に分け市場ごとに勝ち方と</a:t>
            </a:r>
            <a:r>
              <a:rPr lang="en-US" altLang="ja-JP" sz="1000" b="0" dirty="0">
                <a:solidFill>
                  <a:srgbClr val="262626"/>
                </a:solidFill>
                <a:latin typeface="+mn-ea"/>
              </a:rPr>
              <a:t>KPI</a:t>
            </a:r>
            <a:r>
              <a:rPr lang="ja-JP" altLang="en-US" sz="1000" b="0" dirty="0">
                <a:solidFill>
                  <a:srgbClr val="262626"/>
                </a:solidFill>
                <a:latin typeface="+mn-ea"/>
              </a:rPr>
              <a:t>を決める</a:t>
            </a:r>
            <a:endParaRPr lang="en-US" altLang="ja-JP" sz="1000" dirty="0">
              <a:solidFill>
                <a:srgbClr val="262626"/>
              </a:solidFill>
            </a:endParaRPr>
          </a:p>
          <a:p>
            <a:pPr>
              <a:lnSpc>
                <a:spcPct val="114000"/>
              </a:lnSpc>
            </a:pPr>
            <a:r>
              <a:rPr lang="ja-JP" altLang="en-US" sz="1000" b="0" dirty="0">
                <a:solidFill>
                  <a:srgbClr val="262626"/>
                </a:solidFill>
                <a:latin typeface="+mn-ea"/>
              </a:rPr>
              <a:t>②接点：</a:t>
            </a:r>
            <a:r>
              <a:rPr lang="ja-JP" altLang="en-US" sz="1000" dirty="0">
                <a:solidFill>
                  <a:srgbClr val="262626"/>
                </a:solidFill>
              </a:rPr>
              <a:t>特売・チラシ中心の販促メニューを、エビデンス商談・診断型売場・</a:t>
            </a:r>
            <a:r>
              <a:rPr lang="en-US" altLang="ja-JP" sz="1000" dirty="0">
                <a:solidFill>
                  <a:srgbClr val="262626"/>
                </a:solidFill>
              </a:rPr>
              <a:t>AI</a:t>
            </a:r>
            <a:r>
              <a:rPr lang="ja-JP" altLang="en-US" sz="1000" dirty="0">
                <a:solidFill>
                  <a:srgbClr val="262626"/>
                </a:solidFill>
              </a:rPr>
              <a:t>推奨対応に入れ替える</a:t>
            </a:r>
            <a:endParaRPr lang="en-US" altLang="ja-JP" sz="1000" dirty="0">
              <a:solidFill>
                <a:srgbClr val="262626"/>
              </a:solidFill>
            </a:endParaRPr>
          </a:p>
          <a:p>
            <a:pPr>
              <a:lnSpc>
                <a:spcPct val="114000"/>
              </a:lnSpc>
            </a:pPr>
            <a:r>
              <a:rPr lang="ja-JP" altLang="en-US" sz="720" dirty="0">
                <a:solidFill>
                  <a:srgbClr val="262626"/>
                </a:solidFill>
              </a:rPr>
              <a:t>③商談の標準形＝「値引き90＋施策10＋成果連動」：9割は従来通りの値引き、1割を売場・メディア施策に振替えて効果は小売データで共同検証。達成なら小売へ還元し施策比率を拡大、未達なら値引きに戻す（9:1は初期値）</a:t>
            </a:r>
            <a:r>
              <a:rPr lang="en-US" altLang="ja-JP" sz="720" dirty="0">
                <a:solidFill>
                  <a:srgbClr val="262626"/>
                </a:solidFill>
              </a:rPr>
              <a:t/>
            </a:r>
            <a:r>
              <a:rPr lang="ja-JP" altLang="en-US" sz="720" dirty="0">
                <a:solidFill>
                  <a:srgbClr val="262626"/>
                </a:solidFill>
              </a:rPr>
              <a:t/>
            </a:r>
            <a:r>
              <a:rPr lang="en-US" altLang="ja-JP" sz="720" dirty="0">
                <a:solidFill>
                  <a:srgbClr val="262626"/>
                </a:solidFill>
              </a:rPr>
              <a:t/>
            </a:r>
            <a:r>
              <a:rPr lang="ja-JP" altLang="en-US" sz="720" dirty="0">
                <a:solidFill>
                  <a:srgbClr val="262626"/>
                </a:solidFill>
              </a:rPr>
              <a:t/>
            </a:r>
          </a:p>
          <a:p>
            <a:pPr>
              <a:lnSpc>
                <a:spcPct val="114000"/>
              </a:lnSpc>
            </a:pPr>
            <a:r>
              <a:rPr lang="ja-JP" altLang="en-US" sz="1000" b="1" dirty="0">
                <a:solidFill>
                  <a:srgbClr val="C8102E"/>
                </a:solidFill>
              </a:rPr>
              <a:t>→ </a:t>
            </a:r>
            <a:r>
              <a:rPr lang="ja-JP" altLang="en-US" sz="1000" b="1" dirty="0">
                <a:solidFill>
                  <a:srgbClr val="262626"/>
                </a:solidFill>
              </a:rPr>
              <a:t>同じ予算のまま、値引きに消えていたお金が検証可能な施策に回る</a:t>
            </a:r>
            <a:endParaRPr lang="ja-JP" altLang="en-US" sz="1000" b="0" dirty="0">
              <a:solidFill>
                <a:srgbClr val="262626"/>
              </a:solidFill>
              <a:latin typeface="+mn-ea"/>
            </a:endParaRPr>
          </a:p>
        </p:txBody>
      </p:sp>
      <p:sp>
        <p:nvSpPr>
          <p:cNvPr id="10" name="Rectangle 19">
            <a:extLst>
              <a:ext uri="{FF2B5EF4-FFF2-40B4-BE49-F238E27FC236}">
                <a16:creationId xmlns:a16="http://schemas.microsoft.com/office/drawing/2014/main" id="{B5A39F3D-11E3-C8C8-030C-BDCD50281157}"/>
              </a:ext>
            </a:extLst>
          </p:cNvPr>
          <p:cNvSpPr/>
          <p:nvPr/>
        </p:nvSpPr>
        <p:spPr>
          <a:xfrm>
            <a:off x="8366760" y="1628774"/>
            <a:ext cx="3474720" cy="1454364"/>
          </a:xfrm>
          <a:prstGeom prst="rect">
            <a:avLst/>
          </a:prstGeom>
          <a:solidFill>
            <a:srgbClr val="F2F7F3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+mn-ea"/>
            </a:endParaRPr>
          </a:p>
        </p:txBody>
      </p:sp>
      <p:sp>
        <p:nvSpPr>
          <p:cNvPr id="11" name="TextBox 20">
            <a:extLst>
              <a:ext uri="{FF2B5EF4-FFF2-40B4-BE49-F238E27FC236}">
                <a16:creationId xmlns:a16="http://schemas.microsoft.com/office/drawing/2014/main" id="{87821927-BD90-BD43-09A6-1F6299EC98B8}"/>
              </a:ext>
            </a:extLst>
          </p:cNvPr>
          <p:cNvSpPr txBox="1"/>
          <p:nvPr/>
        </p:nvSpPr>
        <p:spPr>
          <a:xfrm>
            <a:off x="8476488" y="1672058"/>
            <a:ext cx="3291840" cy="162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>
                <a:solidFill>
                  <a:srgbClr val="595959"/>
                </a:solidFill>
                <a:latin typeface="+mn-ea"/>
              </a:rPr>
              <a:t>対応する重点施策</a:t>
            </a:r>
          </a:p>
        </p:txBody>
      </p:sp>
      <p:sp>
        <p:nvSpPr>
          <p:cNvPr id="12" name="Rectangle 21">
            <a:extLst>
              <a:ext uri="{FF2B5EF4-FFF2-40B4-BE49-F238E27FC236}">
                <a16:creationId xmlns:a16="http://schemas.microsoft.com/office/drawing/2014/main" id="{56E86CBA-25AB-4817-9B18-8A5324FEC93B}"/>
              </a:ext>
            </a:extLst>
          </p:cNvPr>
          <p:cNvSpPr/>
          <p:nvPr/>
        </p:nvSpPr>
        <p:spPr>
          <a:xfrm>
            <a:off x="8476488" y="1905795"/>
            <a:ext cx="475488" cy="25970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+mn-ea"/>
            </a:endParaRPr>
          </a:p>
        </p:txBody>
      </p:sp>
      <p:sp>
        <p:nvSpPr>
          <p:cNvPr id="13" name="TextBox 22">
            <a:extLst>
              <a:ext uri="{FF2B5EF4-FFF2-40B4-BE49-F238E27FC236}">
                <a16:creationId xmlns:a16="http://schemas.microsoft.com/office/drawing/2014/main" id="{982C30DA-0591-0CBB-E04F-713CE126DB76}"/>
              </a:ext>
            </a:extLst>
          </p:cNvPr>
          <p:cNvSpPr txBox="1"/>
          <p:nvPr/>
        </p:nvSpPr>
        <p:spPr>
          <a:xfrm>
            <a:off x="8494776" y="1940422"/>
            <a:ext cx="438912" cy="162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>
                <a:solidFill>
                  <a:srgbClr val="FFFFFF"/>
                </a:solidFill>
                <a:latin typeface="+mn-ea"/>
              </a:rPr>
              <a:t>C2</a:t>
            </a:r>
          </a:p>
        </p:txBody>
      </p:sp>
      <p:sp>
        <p:nvSpPr>
          <p:cNvPr id="14" name="TextBox 23">
            <a:extLst>
              <a:ext uri="{FF2B5EF4-FFF2-40B4-BE49-F238E27FC236}">
                <a16:creationId xmlns:a16="http://schemas.microsoft.com/office/drawing/2014/main" id="{40B131C6-E768-4CFE-C2CE-EAADFEE84A2A}"/>
              </a:ext>
            </a:extLst>
          </p:cNvPr>
          <p:cNvSpPr txBox="1"/>
          <p:nvPr/>
        </p:nvSpPr>
        <p:spPr>
          <a:xfrm>
            <a:off x="9025128" y="1940422"/>
            <a:ext cx="2743200" cy="162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>
                <a:solidFill>
                  <a:srgbClr val="262626"/>
                </a:solidFill>
                <a:latin typeface="+mn-ea"/>
              </a:rPr>
              <a:t>ロジック提案の標準化</a:t>
            </a:r>
          </a:p>
        </p:txBody>
      </p:sp>
      <p:sp>
        <p:nvSpPr>
          <p:cNvPr id="15" name="Rectangle 24">
            <a:extLst>
              <a:ext uri="{FF2B5EF4-FFF2-40B4-BE49-F238E27FC236}">
                <a16:creationId xmlns:a16="http://schemas.microsoft.com/office/drawing/2014/main" id="{6C18BD34-B8EF-AF13-FB1E-45AF3C32AFE1}"/>
              </a:ext>
            </a:extLst>
          </p:cNvPr>
          <p:cNvSpPr/>
          <p:nvPr/>
        </p:nvSpPr>
        <p:spPr>
          <a:xfrm>
            <a:off x="8476488" y="2217444"/>
            <a:ext cx="475488" cy="25970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+mn-ea"/>
            </a:endParaRPr>
          </a:p>
        </p:txBody>
      </p:sp>
      <p:sp>
        <p:nvSpPr>
          <p:cNvPr id="16" name="TextBox 25">
            <a:extLst>
              <a:ext uri="{FF2B5EF4-FFF2-40B4-BE49-F238E27FC236}">
                <a16:creationId xmlns:a16="http://schemas.microsoft.com/office/drawing/2014/main" id="{001F903A-A906-AFAD-9AEF-B77767741F0E}"/>
              </a:ext>
            </a:extLst>
          </p:cNvPr>
          <p:cNvSpPr txBox="1"/>
          <p:nvPr/>
        </p:nvSpPr>
        <p:spPr>
          <a:xfrm>
            <a:off x="8494776" y="2252072"/>
            <a:ext cx="438912" cy="162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>
                <a:solidFill>
                  <a:srgbClr val="FFFFFF"/>
                </a:solidFill>
                <a:latin typeface="+mn-ea"/>
              </a:rPr>
              <a:t>B2</a:t>
            </a:r>
          </a:p>
        </p:txBody>
      </p:sp>
      <p:sp>
        <p:nvSpPr>
          <p:cNvPr id="17" name="TextBox 26">
            <a:extLst>
              <a:ext uri="{FF2B5EF4-FFF2-40B4-BE49-F238E27FC236}">
                <a16:creationId xmlns:a16="http://schemas.microsoft.com/office/drawing/2014/main" id="{AF261DE2-AB58-BB5E-74F3-FAB1DD38EA90}"/>
              </a:ext>
            </a:extLst>
          </p:cNvPr>
          <p:cNvSpPr txBox="1"/>
          <p:nvPr/>
        </p:nvSpPr>
        <p:spPr>
          <a:xfrm>
            <a:off x="9025128" y="2252072"/>
            <a:ext cx="2743200" cy="162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>
                <a:solidFill>
                  <a:srgbClr val="262626"/>
                </a:solidFill>
                <a:latin typeface="+mn-ea"/>
              </a:rPr>
              <a:t>リテールメディア投資の内製化</a:t>
            </a:r>
          </a:p>
        </p:txBody>
      </p:sp>
      <p:sp>
        <p:nvSpPr>
          <p:cNvPr id="18" name="Rectangle 27">
            <a:extLst>
              <a:ext uri="{FF2B5EF4-FFF2-40B4-BE49-F238E27FC236}">
                <a16:creationId xmlns:a16="http://schemas.microsoft.com/office/drawing/2014/main" id="{4918CBDF-E382-5CA2-3E0D-537EA8CEF3CA}"/>
              </a:ext>
            </a:extLst>
          </p:cNvPr>
          <p:cNvSpPr/>
          <p:nvPr/>
        </p:nvSpPr>
        <p:spPr>
          <a:xfrm>
            <a:off x="320040" y="3187020"/>
            <a:ext cx="1097280" cy="1454364"/>
          </a:xfrm>
          <a:prstGeom prst="rect">
            <a:avLst/>
          </a:prstGeom>
          <a:solidFill>
            <a:srgbClr val="0F5E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+mn-ea"/>
            </a:endParaRPr>
          </a:p>
        </p:txBody>
      </p:sp>
      <p:sp>
        <p:nvSpPr>
          <p:cNvPr id="19" name="TextBox 28">
            <a:extLst>
              <a:ext uri="{FF2B5EF4-FFF2-40B4-BE49-F238E27FC236}">
                <a16:creationId xmlns:a16="http://schemas.microsoft.com/office/drawing/2014/main" id="{625384F1-F5D4-B9DB-828D-2C213CE631E8}"/>
              </a:ext>
            </a:extLst>
          </p:cNvPr>
          <p:cNvSpPr txBox="1"/>
          <p:nvPr/>
        </p:nvSpPr>
        <p:spPr>
          <a:xfrm>
            <a:off x="384048" y="3498668"/>
            <a:ext cx="969264" cy="687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+mn-ea"/>
              </a:rPr>
              <a:t>真因2
提案の
材料</a:t>
            </a:r>
          </a:p>
        </p:txBody>
      </p:sp>
      <p:sp>
        <p:nvSpPr>
          <p:cNvPr id="20" name="TextBox 29">
            <a:extLst>
              <a:ext uri="{FF2B5EF4-FFF2-40B4-BE49-F238E27FC236}">
                <a16:creationId xmlns:a16="http://schemas.microsoft.com/office/drawing/2014/main" id="{F3CA3948-4DE4-FD73-BA8D-57445BE58EAB}"/>
              </a:ext>
            </a:extLst>
          </p:cNvPr>
          <p:cNvSpPr txBox="1"/>
          <p:nvPr/>
        </p:nvSpPr>
        <p:spPr>
          <a:xfrm>
            <a:off x="1444752" y="3793005"/>
            <a:ext cx="256032" cy="309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2000" b="1">
                <a:solidFill>
                  <a:srgbClr val="595959"/>
                </a:solidFill>
                <a:latin typeface="+mn-ea"/>
              </a:rPr>
              <a:t>→</a:t>
            </a:r>
          </a:p>
        </p:txBody>
      </p:sp>
      <p:sp>
        <p:nvSpPr>
          <p:cNvPr id="21" name="Rectangle 30">
            <a:extLst>
              <a:ext uri="{FF2B5EF4-FFF2-40B4-BE49-F238E27FC236}">
                <a16:creationId xmlns:a16="http://schemas.microsoft.com/office/drawing/2014/main" id="{A59F6832-D29A-1648-9B3D-5C8199B97477}"/>
              </a:ext>
            </a:extLst>
          </p:cNvPr>
          <p:cNvSpPr/>
          <p:nvPr/>
        </p:nvSpPr>
        <p:spPr>
          <a:xfrm>
            <a:off x="1719072" y="3187020"/>
            <a:ext cx="6537960" cy="1454364"/>
          </a:xfrm>
          <a:prstGeom prst="rect">
            <a:avLst/>
          </a:prstGeom>
          <a:solidFill>
            <a:srgbClr val="FFFFFF"/>
          </a:solidFill>
          <a:ln w="13970">
            <a:solidFill>
              <a:srgbClr val="0F5E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+mn-ea"/>
            </a:endParaRPr>
          </a:p>
        </p:txBody>
      </p:sp>
      <p:sp>
        <p:nvSpPr>
          <p:cNvPr id="22" name="TextBox 31">
            <a:extLst>
              <a:ext uri="{FF2B5EF4-FFF2-40B4-BE49-F238E27FC236}">
                <a16:creationId xmlns:a16="http://schemas.microsoft.com/office/drawing/2014/main" id="{EBFD428D-1193-2045-ED46-658A5C856ACF}"/>
              </a:ext>
            </a:extLst>
          </p:cNvPr>
          <p:cNvSpPr txBox="1"/>
          <p:nvPr/>
        </p:nvSpPr>
        <p:spPr>
          <a:xfrm>
            <a:off x="1847088" y="3247617"/>
            <a:ext cx="6309360" cy="1856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00" b="1">
                <a:solidFill>
                  <a:srgbClr val="0F5E87"/>
                </a:solidFill>
                <a:latin typeface="+mn-ea"/>
              </a:rPr>
              <a:t>解決2 値引きに代わる「提案の材料」を、商談で使える形まで仕上げる</a:t>
            </a:r>
          </a:p>
        </p:txBody>
      </p:sp>
      <p:sp>
        <p:nvSpPr>
          <p:cNvPr id="23" name="TextBox 32">
            <a:extLst>
              <a:ext uri="{FF2B5EF4-FFF2-40B4-BE49-F238E27FC236}">
                <a16:creationId xmlns:a16="http://schemas.microsoft.com/office/drawing/2014/main" id="{CD8BCC78-99E3-2FF6-5162-86E7E89C7F20}"/>
              </a:ext>
            </a:extLst>
          </p:cNvPr>
          <p:cNvSpPr txBox="1"/>
          <p:nvPr/>
        </p:nvSpPr>
        <p:spPr>
          <a:xfrm>
            <a:off x="1847088" y="3550610"/>
            <a:ext cx="6409944" cy="7147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4000"/>
              </a:lnSpc>
            </a:pPr>
            <a:r>
              <a:rPr lang="ja-JP" altLang="en-US" sz="1000" dirty="0">
                <a:solidFill>
                  <a:srgbClr val="262626"/>
                </a:solidFill>
              </a:rPr>
              <a:t>①臨床データ→「この提案で棚の利益が何</a:t>
            </a:r>
            <a:r>
              <a:rPr lang="en-US" altLang="ja-JP" sz="1000" dirty="0">
                <a:solidFill>
                  <a:srgbClr val="262626"/>
                </a:solidFill>
              </a:rPr>
              <a:t>%</a:t>
            </a:r>
            <a:r>
              <a:rPr lang="ja-JP" altLang="en-US" sz="1000" dirty="0">
                <a:solidFill>
                  <a:srgbClr val="262626"/>
                </a:solidFill>
              </a:rPr>
              <a:t>上がるか」のバイヤー向け数値に自動変換（</a:t>
            </a:r>
            <a:r>
              <a:rPr lang="en-US" altLang="ja-JP" sz="1000" dirty="0">
                <a:solidFill>
                  <a:srgbClr val="262626"/>
                </a:solidFill>
              </a:rPr>
              <a:t>C1</a:t>
            </a:r>
            <a:r>
              <a:rPr lang="ja-JP" altLang="en-US" sz="1000" dirty="0">
                <a:solidFill>
                  <a:srgbClr val="262626"/>
                </a:solidFill>
              </a:rPr>
              <a:t>）</a:t>
            </a:r>
            <a:endParaRPr lang="en-US" altLang="ja-JP" sz="1000" dirty="0">
              <a:solidFill>
                <a:srgbClr val="262626"/>
              </a:solidFill>
            </a:endParaRPr>
          </a:p>
          <a:p>
            <a:pPr>
              <a:lnSpc>
                <a:spcPct val="114000"/>
              </a:lnSpc>
            </a:pPr>
            <a:r>
              <a:rPr lang="ja-JP" altLang="en-US" sz="1000" dirty="0">
                <a:solidFill>
                  <a:srgbClr val="262626"/>
                </a:solidFill>
              </a:rPr>
              <a:t>②製品属性データ→</a:t>
            </a:r>
            <a:r>
              <a:rPr lang="en-US" altLang="ja-JP" sz="1000" dirty="0">
                <a:solidFill>
                  <a:srgbClr val="262626"/>
                </a:solidFill>
              </a:rPr>
              <a:t>AI</a:t>
            </a:r>
            <a:r>
              <a:rPr lang="ja-JP" altLang="en-US" sz="1000" dirty="0">
                <a:solidFill>
                  <a:srgbClr val="262626"/>
                </a:solidFill>
              </a:rPr>
              <a:t>自動補充が読める形式で</a:t>
            </a:r>
            <a:r>
              <a:rPr lang="en-US" altLang="ja-JP" sz="1000" dirty="0">
                <a:solidFill>
                  <a:srgbClr val="262626"/>
                </a:solidFill>
              </a:rPr>
              <a:t>API</a:t>
            </a:r>
            <a:r>
              <a:rPr lang="ja-JP" altLang="en-US" sz="1000" dirty="0">
                <a:solidFill>
                  <a:srgbClr val="262626"/>
                </a:solidFill>
              </a:rPr>
              <a:t>公開し、</a:t>
            </a:r>
            <a:r>
              <a:rPr lang="en-US" altLang="ja-JP" sz="1000" dirty="0">
                <a:solidFill>
                  <a:srgbClr val="262626"/>
                </a:solidFill>
              </a:rPr>
              <a:t>AI</a:t>
            </a:r>
            <a:r>
              <a:rPr lang="ja-JP" altLang="en-US" sz="1000" dirty="0">
                <a:solidFill>
                  <a:srgbClr val="262626"/>
                </a:solidFill>
              </a:rPr>
              <a:t>推奨リストに載せる（</a:t>
            </a:r>
            <a:r>
              <a:rPr lang="en-US" altLang="ja-JP" sz="1000" dirty="0">
                <a:solidFill>
                  <a:srgbClr val="262626"/>
                </a:solidFill>
              </a:rPr>
              <a:t>A1</a:t>
            </a:r>
            <a:r>
              <a:rPr lang="ja-JP" altLang="en-US" sz="1000" dirty="0">
                <a:solidFill>
                  <a:srgbClr val="262626"/>
                </a:solidFill>
              </a:rPr>
              <a:t>）</a:t>
            </a:r>
            <a:endParaRPr lang="en-US" altLang="ja-JP" sz="1000" dirty="0">
              <a:solidFill>
                <a:srgbClr val="262626"/>
              </a:solidFill>
            </a:endParaRPr>
          </a:p>
          <a:p>
            <a:pPr>
              <a:lnSpc>
                <a:spcPct val="114000"/>
              </a:lnSpc>
            </a:pPr>
            <a:r>
              <a:rPr lang="ja-JP" altLang="en-US" sz="1000" dirty="0">
                <a:solidFill>
                  <a:srgbClr val="262626"/>
                </a:solidFill>
              </a:rPr>
              <a:t>③学校・自治体ルートをデジタル接点化（</a:t>
            </a:r>
            <a:r>
              <a:rPr lang="en-US" altLang="ja-JP" sz="1000" dirty="0">
                <a:solidFill>
                  <a:srgbClr val="262626"/>
                </a:solidFill>
              </a:rPr>
              <a:t>A2</a:t>
            </a:r>
            <a:r>
              <a:rPr lang="ja-JP" altLang="en-US" sz="1000" dirty="0">
                <a:solidFill>
                  <a:srgbClr val="262626"/>
                </a:solidFill>
              </a:rPr>
              <a:t>）</a:t>
            </a:r>
          </a:p>
          <a:p>
            <a:pPr>
              <a:lnSpc>
                <a:spcPct val="114000"/>
              </a:lnSpc>
            </a:pPr>
            <a:r>
              <a:rPr lang="ja-JP" altLang="en-US" sz="1000" b="1" dirty="0">
                <a:solidFill>
                  <a:srgbClr val="0F5E87"/>
                </a:solidFill>
              </a:rPr>
              <a:t>→ </a:t>
            </a:r>
            <a:r>
              <a:rPr lang="ja-JP" altLang="en-US" sz="1000" b="1" dirty="0">
                <a:solidFill>
                  <a:srgbClr val="262626"/>
                </a:solidFill>
              </a:rPr>
              <a:t>営業が値引き以外の提案を持って商談に行ける（</a:t>
            </a:r>
            <a:r>
              <a:rPr lang="en-US" altLang="ja-JP" sz="1000" b="1" dirty="0">
                <a:solidFill>
                  <a:srgbClr val="262626"/>
                </a:solidFill>
              </a:rPr>
              <a:t> </a:t>
            </a:r>
            <a:r>
              <a:rPr lang="ja-JP" altLang="en-US" sz="1000" b="1" dirty="0">
                <a:solidFill>
                  <a:srgbClr val="262626"/>
                </a:solidFill>
              </a:rPr>
              <a:t>完了条件は「作った」でなく「商談で使われた」</a:t>
            </a:r>
            <a:r>
              <a:rPr lang="ja-JP" altLang="en-US" sz="1200" dirty="0">
                <a:solidFill>
                  <a:srgbClr val="262626"/>
                </a:solidFill>
                <a:latin typeface="+mn-ea"/>
              </a:rPr>
              <a:t>）</a:t>
            </a:r>
            <a:endParaRPr lang="ja-JP" altLang="en-US" sz="1000" b="1" dirty="0">
              <a:solidFill>
                <a:srgbClr val="262626"/>
              </a:solidFill>
            </a:endParaRPr>
          </a:p>
        </p:txBody>
      </p:sp>
      <p:sp>
        <p:nvSpPr>
          <p:cNvPr id="24" name="Rectangle 33">
            <a:extLst>
              <a:ext uri="{FF2B5EF4-FFF2-40B4-BE49-F238E27FC236}">
                <a16:creationId xmlns:a16="http://schemas.microsoft.com/office/drawing/2014/main" id="{693155A1-1067-D975-3D7D-B089F40A9C47}"/>
              </a:ext>
            </a:extLst>
          </p:cNvPr>
          <p:cNvSpPr/>
          <p:nvPr/>
        </p:nvSpPr>
        <p:spPr>
          <a:xfrm>
            <a:off x="8366760" y="3187020"/>
            <a:ext cx="3474720" cy="1454364"/>
          </a:xfrm>
          <a:prstGeom prst="rect">
            <a:avLst/>
          </a:prstGeom>
          <a:solidFill>
            <a:srgbClr val="F2F7F3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+mn-ea"/>
            </a:endParaRPr>
          </a:p>
        </p:txBody>
      </p:sp>
      <p:sp>
        <p:nvSpPr>
          <p:cNvPr id="25" name="TextBox 34">
            <a:extLst>
              <a:ext uri="{FF2B5EF4-FFF2-40B4-BE49-F238E27FC236}">
                <a16:creationId xmlns:a16="http://schemas.microsoft.com/office/drawing/2014/main" id="{900D902E-69AB-986A-22BB-B82A7127FF99}"/>
              </a:ext>
            </a:extLst>
          </p:cNvPr>
          <p:cNvSpPr txBox="1"/>
          <p:nvPr/>
        </p:nvSpPr>
        <p:spPr>
          <a:xfrm>
            <a:off x="8476488" y="3230302"/>
            <a:ext cx="3291840" cy="162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>
                <a:solidFill>
                  <a:srgbClr val="595959"/>
                </a:solidFill>
                <a:latin typeface="+mn-ea"/>
              </a:rPr>
              <a:t>対応する重点施策</a:t>
            </a:r>
          </a:p>
        </p:txBody>
      </p:sp>
      <p:sp>
        <p:nvSpPr>
          <p:cNvPr id="26" name="Rectangle 35">
            <a:extLst>
              <a:ext uri="{FF2B5EF4-FFF2-40B4-BE49-F238E27FC236}">
                <a16:creationId xmlns:a16="http://schemas.microsoft.com/office/drawing/2014/main" id="{0824A9D5-4216-F65C-B7EA-34252ACFFE0A}"/>
              </a:ext>
            </a:extLst>
          </p:cNvPr>
          <p:cNvSpPr/>
          <p:nvPr/>
        </p:nvSpPr>
        <p:spPr>
          <a:xfrm>
            <a:off x="8476488" y="3464039"/>
            <a:ext cx="475488" cy="259708"/>
          </a:xfrm>
          <a:prstGeom prst="rect">
            <a:avLst/>
          </a:prstGeom>
          <a:solidFill>
            <a:srgbClr val="0F5E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+mn-ea"/>
            </a:endParaRPr>
          </a:p>
        </p:txBody>
      </p:sp>
      <p:sp>
        <p:nvSpPr>
          <p:cNvPr id="27" name="TextBox 36">
            <a:extLst>
              <a:ext uri="{FF2B5EF4-FFF2-40B4-BE49-F238E27FC236}">
                <a16:creationId xmlns:a16="http://schemas.microsoft.com/office/drawing/2014/main" id="{BCE40D7D-386B-D834-F847-51AB60E4ECC1}"/>
              </a:ext>
            </a:extLst>
          </p:cNvPr>
          <p:cNvSpPr txBox="1"/>
          <p:nvPr/>
        </p:nvSpPr>
        <p:spPr>
          <a:xfrm>
            <a:off x="8494776" y="3498667"/>
            <a:ext cx="438912" cy="162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>
                <a:solidFill>
                  <a:srgbClr val="FFFFFF"/>
                </a:solidFill>
                <a:latin typeface="+mn-ea"/>
              </a:rPr>
              <a:t>C1★</a:t>
            </a:r>
          </a:p>
        </p:txBody>
      </p:sp>
      <p:sp>
        <p:nvSpPr>
          <p:cNvPr id="28" name="TextBox 37">
            <a:extLst>
              <a:ext uri="{FF2B5EF4-FFF2-40B4-BE49-F238E27FC236}">
                <a16:creationId xmlns:a16="http://schemas.microsoft.com/office/drawing/2014/main" id="{F5BD31CB-5E43-B904-FFBB-7CC3A18BB4D0}"/>
              </a:ext>
            </a:extLst>
          </p:cNvPr>
          <p:cNvSpPr txBox="1"/>
          <p:nvPr/>
        </p:nvSpPr>
        <p:spPr>
          <a:xfrm>
            <a:off x="9025128" y="3498667"/>
            <a:ext cx="2743200" cy="162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>
                <a:solidFill>
                  <a:srgbClr val="262626"/>
                </a:solidFill>
                <a:latin typeface="+mn-ea"/>
              </a:rPr>
              <a:t>臨床データのLTV/炭素効率変換</a:t>
            </a:r>
          </a:p>
        </p:txBody>
      </p:sp>
      <p:sp>
        <p:nvSpPr>
          <p:cNvPr id="29" name="Rectangle 38">
            <a:extLst>
              <a:ext uri="{FF2B5EF4-FFF2-40B4-BE49-F238E27FC236}">
                <a16:creationId xmlns:a16="http://schemas.microsoft.com/office/drawing/2014/main" id="{7FDBE461-C5A5-2E26-22F7-FCE7C9B04072}"/>
              </a:ext>
            </a:extLst>
          </p:cNvPr>
          <p:cNvSpPr/>
          <p:nvPr/>
        </p:nvSpPr>
        <p:spPr>
          <a:xfrm>
            <a:off x="8476488" y="3775689"/>
            <a:ext cx="475488" cy="259708"/>
          </a:xfrm>
          <a:prstGeom prst="rect">
            <a:avLst/>
          </a:prstGeom>
          <a:solidFill>
            <a:srgbClr val="0F5E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+mn-ea"/>
            </a:endParaRPr>
          </a:p>
        </p:txBody>
      </p:sp>
      <p:sp>
        <p:nvSpPr>
          <p:cNvPr id="30" name="TextBox 39">
            <a:extLst>
              <a:ext uri="{FF2B5EF4-FFF2-40B4-BE49-F238E27FC236}">
                <a16:creationId xmlns:a16="http://schemas.microsoft.com/office/drawing/2014/main" id="{4DD88949-4C6C-DA6B-2385-6CEE74AC4A90}"/>
              </a:ext>
            </a:extLst>
          </p:cNvPr>
          <p:cNvSpPr txBox="1"/>
          <p:nvPr/>
        </p:nvSpPr>
        <p:spPr>
          <a:xfrm>
            <a:off x="8494776" y="3810316"/>
            <a:ext cx="438912" cy="162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>
                <a:solidFill>
                  <a:srgbClr val="FFFFFF"/>
                </a:solidFill>
                <a:latin typeface="+mn-ea"/>
              </a:rPr>
              <a:t>A1★</a:t>
            </a:r>
          </a:p>
        </p:txBody>
      </p:sp>
      <p:sp>
        <p:nvSpPr>
          <p:cNvPr id="31" name="TextBox 40">
            <a:extLst>
              <a:ext uri="{FF2B5EF4-FFF2-40B4-BE49-F238E27FC236}">
                <a16:creationId xmlns:a16="http://schemas.microsoft.com/office/drawing/2014/main" id="{B084D4E2-C0AD-E38C-7511-E0AF358E04CF}"/>
              </a:ext>
            </a:extLst>
          </p:cNvPr>
          <p:cNvSpPr txBox="1"/>
          <p:nvPr/>
        </p:nvSpPr>
        <p:spPr>
          <a:xfrm>
            <a:off x="9025128" y="3810316"/>
            <a:ext cx="2743200" cy="162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>
                <a:solidFill>
                  <a:srgbClr val="262626"/>
                </a:solidFill>
                <a:latin typeface="+mn-ea"/>
              </a:rPr>
              <a:t>属性データの構造化・API化</a:t>
            </a:r>
          </a:p>
        </p:txBody>
      </p:sp>
      <p:sp>
        <p:nvSpPr>
          <p:cNvPr id="32" name="Rectangle 41">
            <a:extLst>
              <a:ext uri="{FF2B5EF4-FFF2-40B4-BE49-F238E27FC236}">
                <a16:creationId xmlns:a16="http://schemas.microsoft.com/office/drawing/2014/main" id="{50CB2142-6BF8-937A-3A2A-6C4265D173CF}"/>
              </a:ext>
            </a:extLst>
          </p:cNvPr>
          <p:cNvSpPr/>
          <p:nvPr/>
        </p:nvSpPr>
        <p:spPr>
          <a:xfrm>
            <a:off x="8476488" y="4087340"/>
            <a:ext cx="475488" cy="259708"/>
          </a:xfrm>
          <a:prstGeom prst="rect">
            <a:avLst/>
          </a:prstGeom>
          <a:solidFill>
            <a:srgbClr val="0F5E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+mn-ea"/>
            </a:endParaRPr>
          </a:p>
        </p:txBody>
      </p:sp>
      <p:sp>
        <p:nvSpPr>
          <p:cNvPr id="33" name="TextBox 42">
            <a:extLst>
              <a:ext uri="{FF2B5EF4-FFF2-40B4-BE49-F238E27FC236}">
                <a16:creationId xmlns:a16="http://schemas.microsoft.com/office/drawing/2014/main" id="{ECEE1159-8CF3-6B75-52DF-2B309A633321}"/>
              </a:ext>
            </a:extLst>
          </p:cNvPr>
          <p:cNvSpPr txBox="1"/>
          <p:nvPr/>
        </p:nvSpPr>
        <p:spPr>
          <a:xfrm>
            <a:off x="8494776" y="4121968"/>
            <a:ext cx="438912" cy="162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>
                <a:solidFill>
                  <a:srgbClr val="FFFFFF"/>
                </a:solidFill>
                <a:latin typeface="+mn-ea"/>
              </a:rPr>
              <a:t>A2</a:t>
            </a:r>
          </a:p>
        </p:txBody>
      </p:sp>
      <p:sp>
        <p:nvSpPr>
          <p:cNvPr id="34" name="TextBox 43">
            <a:extLst>
              <a:ext uri="{FF2B5EF4-FFF2-40B4-BE49-F238E27FC236}">
                <a16:creationId xmlns:a16="http://schemas.microsoft.com/office/drawing/2014/main" id="{8B80D280-9584-E86B-2010-5A97B68B46C4}"/>
              </a:ext>
            </a:extLst>
          </p:cNvPr>
          <p:cNvSpPr txBox="1"/>
          <p:nvPr/>
        </p:nvSpPr>
        <p:spPr>
          <a:xfrm>
            <a:off x="9025128" y="4121969"/>
            <a:ext cx="2743200" cy="16248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>
                <a:solidFill>
                  <a:srgbClr val="262626"/>
                </a:solidFill>
                <a:latin typeface="+mn-ea"/>
              </a:rPr>
              <a:t>学校・自治体ルートのデジタル化</a:t>
            </a:r>
          </a:p>
        </p:txBody>
      </p:sp>
      <p:sp>
        <p:nvSpPr>
          <p:cNvPr id="35" name="Rectangle 44">
            <a:extLst>
              <a:ext uri="{FF2B5EF4-FFF2-40B4-BE49-F238E27FC236}">
                <a16:creationId xmlns:a16="http://schemas.microsoft.com/office/drawing/2014/main" id="{96124C21-30A1-2511-EDE5-51B6F975DCF5}"/>
              </a:ext>
            </a:extLst>
          </p:cNvPr>
          <p:cNvSpPr/>
          <p:nvPr/>
        </p:nvSpPr>
        <p:spPr>
          <a:xfrm>
            <a:off x="320040" y="4745267"/>
            <a:ext cx="1097280" cy="1454364"/>
          </a:xfrm>
          <a:prstGeom prst="rect">
            <a:avLst/>
          </a:prstGeom>
          <a:solidFill>
            <a:srgbClr val="008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+mn-ea"/>
            </a:endParaRPr>
          </a:p>
        </p:txBody>
      </p:sp>
      <p:sp>
        <p:nvSpPr>
          <p:cNvPr id="36" name="TextBox 45">
            <a:extLst>
              <a:ext uri="{FF2B5EF4-FFF2-40B4-BE49-F238E27FC236}">
                <a16:creationId xmlns:a16="http://schemas.microsoft.com/office/drawing/2014/main" id="{4F47ECC1-CDA2-32FB-4DD9-5D43D0681635}"/>
              </a:ext>
            </a:extLst>
          </p:cNvPr>
          <p:cNvSpPr txBox="1"/>
          <p:nvPr/>
        </p:nvSpPr>
        <p:spPr>
          <a:xfrm>
            <a:off x="384048" y="5056917"/>
            <a:ext cx="969264" cy="687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+mn-ea"/>
              </a:rPr>
              <a:t>真因3
改善の
仕組み</a:t>
            </a:r>
          </a:p>
        </p:txBody>
      </p:sp>
      <p:sp>
        <p:nvSpPr>
          <p:cNvPr id="37" name="TextBox 46">
            <a:extLst>
              <a:ext uri="{FF2B5EF4-FFF2-40B4-BE49-F238E27FC236}">
                <a16:creationId xmlns:a16="http://schemas.microsoft.com/office/drawing/2014/main" id="{2578C3C4-B056-CCEB-8662-21F715D06742}"/>
              </a:ext>
            </a:extLst>
          </p:cNvPr>
          <p:cNvSpPr txBox="1"/>
          <p:nvPr/>
        </p:nvSpPr>
        <p:spPr>
          <a:xfrm>
            <a:off x="1444752" y="5351252"/>
            <a:ext cx="256032" cy="309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2000" b="1">
                <a:solidFill>
                  <a:srgbClr val="595959"/>
                </a:solidFill>
                <a:latin typeface="+mn-ea"/>
              </a:rPr>
              <a:t>→</a:t>
            </a:r>
          </a:p>
        </p:txBody>
      </p:sp>
      <p:sp>
        <p:nvSpPr>
          <p:cNvPr id="38" name="Rectangle 47">
            <a:extLst>
              <a:ext uri="{FF2B5EF4-FFF2-40B4-BE49-F238E27FC236}">
                <a16:creationId xmlns:a16="http://schemas.microsoft.com/office/drawing/2014/main" id="{2D655245-1F2C-80A6-E90E-8ADDCEA226BA}"/>
              </a:ext>
            </a:extLst>
          </p:cNvPr>
          <p:cNvSpPr/>
          <p:nvPr/>
        </p:nvSpPr>
        <p:spPr>
          <a:xfrm>
            <a:off x="1719072" y="4745267"/>
            <a:ext cx="6537960" cy="1454364"/>
          </a:xfrm>
          <a:prstGeom prst="rect">
            <a:avLst/>
          </a:prstGeom>
          <a:solidFill>
            <a:srgbClr val="FFFFFF"/>
          </a:solidFill>
          <a:ln w="13970">
            <a:solidFill>
              <a:srgbClr val="008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+mn-ea"/>
            </a:endParaRPr>
          </a:p>
        </p:txBody>
      </p:sp>
      <p:sp>
        <p:nvSpPr>
          <p:cNvPr id="39" name="TextBox 48">
            <a:extLst>
              <a:ext uri="{FF2B5EF4-FFF2-40B4-BE49-F238E27FC236}">
                <a16:creationId xmlns:a16="http://schemas.microsoft.com/office/drawing/2014/main" id="{770FC87B-A3CF-777A-DECC-0DF398FBE4FD}"/>
              </a:ext>
            </a:extLst>
          </p:cNvPr>
          <p:cNvSpPr txBox="1"/>
          <p:nvPr/>
        </p:nvSpPr>
        <p:spPr>
          <a:xfrm>
            <a:off x="1847088" y="4805865"/>
            <a:ext cx="6309360" cy="1856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00" b="1" dirty="0">
                <a:solidFill>
                  <a:srgbClr val="008D2E"/>
                </a:solidFill>
                <a:latin typeface="+mn-ea"/>
              </a:rPr>
              <a:t>解決3 </a:t>
            </a:r>
            <a:r>
              <a:rPr sz="1200" b="1" dirty="0" err="1">
                <a:solidFill>
                  <a:srgbClr val="008D2E"/>
                </a:solidFill>
                <a:latin typeface="+mn-ea"/>
              </a:rPr>
              <a:t>小さく試す→検証する→広げる「仕組み」を回し続ける</a:t>
            </a:r>
            <a:endParaRPr sz="1200" b="1" dirty="0">
              <a:solidFill>
                <a:srgbClr val="008D2E"/>
              </a:solidFill>
              <a:latin typeface="+mn-ea"/>
            </a:endParaRPr>
          </a:p>
        </p:txBody>
      </p:sp>
      <p:sp>
        <p:nvSpPr>
          <p:cNvPr id="40" name="TextBox 49">
            <a:extLst>
              <a:ext uri="{FF2B5EF4-FFF2-40B4-BE49-F238E27FC236}">
                <a16:creationId xmlns:a16="http://schemas.microsoft.com/office/drawing/2014/main" id="{CD842672-4DCB-B454-6775-A0CB5AD49F2E}"/>
              </a:ext>
            </a:extLst>
          </p:cNvPr>
          <p:cNvSpPr txBox="1"/>
          <p:nvPr/>
        </p:nvSpPr>
        <p:spPr>
          <a:xfrm>
            <a:off x="1847088" y="5108857"/>
            <a:ext cx="6309360" cy="6833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4000"/>
              </a:lnSpc>
            </a:pPr>
            <a:r>
              <a:rPr lang="ja-JP" altLang="en-US" sz="1000" dirty="0">
                <a:solidFill>
                  <a:srgbClr val="262626"/>
                </a:solidFill>
                <a:latin typeface="+mn-ea"/>
              </a:rPr>
              <a:t>①投資と店頭売上の因果を測る効果測定の仕組みを先に作る（</a:t>
            </a:r>
            <a:r>
              <a:rPr lang="en-US" altLang="ja-JP" sz="1000" dirty="0">
                <a:solidFill>
                  <a:srgbClr val="262626"/>
                </a:solidFill>
                <a:latin typeface="+mn-ea"/>
              </a:rPr>
              <a:t>B1 MMM×DCR</a:t>
            </a:r>
            <a:r>
              <a:rPr lang="ja-JP" altLang="en-US" sz="1000" dirty="0">
                <a:solidFill>
                  <a:srgbClr val="262626"/>
                </a:solidFill>
                <a:latin typeface="+mn-ea"/>
              </a:rPr>
              <a:t>）</a:t>
            </a:r>
            <a:endParaRPr lang="en-US" altLang="ja-JP" sz="1000" dirty="0">
              <a:solidFill>
                <a:srgbClr val="262626"/>
              </a:solidFill>
              <a:latin typeface="+mn-ea"/>
            </a:endParaRPr>
          </a:p>
          <a:p>
            <a:pPr>
              <a:lnSpc>
                <a:spcPct val="114000"/>
              </a:lnSpc>
            </a:pPr>
            <a:r>
              <a:rPr lang="ja-JP" altLang="en-US" sz="1000" dirty="0">
                <a:solidFill>
                  <a:srgbClr val="262626"/>
                </a:solidFill>
                <a:latin typeface="+mn-ea"/>
              </a:rPr>
              <a:t>②実験にあてる時間は事務作業の自動化で捻出する（</a:t>
            </a:r>
            <a:r>
              <a:rPr lang="en-US" altLang="ja-JP" sz="1000" dirty="0">
                <a:solidFill>
                  <a:srgbClr val="262626"/>
                </a:solidFill>
                <a:latin typeface="+mn-ea"/>
              </a:rPr>
              <a:t>D1</a:t>
            </a:r>
            <a:r>
              <a:rPr lang="ja-JP" altLang="en-US" sz="1000" dirty="0">
                <a:solidFill>
                  <a:srgbClr val="262626"/>
                </a:solidFill>
                <a:latin typeface="+mn-ea"/>
              </a:rPr>
              <a:t>）</a:t>
            </a:r>
            <a:endParaRPr lang="en-US" altLang="ja-JP" sz="1000" dirty="0">
              <a:solidFill>
                <a:srgbClr val="262626"/>
              </a:solidFill>
              <a:latin typeface="+mn-ea"/>
            </a:endParaRPr>
          </a:p>
          <a:p>
            <a:pPr>
              <a:lnSpc>
                <a:spcPct val="114000"/>
              </a:lnSpc>
            </a:pPr>
            <a:r>
              <a:rPr lang="ja-JP" altLang="en-US" sz="1000" dirty="0">
                <a:solidFill>
                  <a:srgbClr val="262626"/>
                </a:solidFill>
                <a:latin typeface="+mn-ea"/>
              </a:rPr>
              <a:t>③成功は手順書にして隣の小売・カテゴリへ広げ、失敗は撤退基準で止める（</a:t>
            </a:r>
            <a:r>
              <a:rPr lang="en-US" altLang="ja-JP" sz="1000" dirty="0">
                <a:solidFill>
                  <a:srgbClr val="262626"/>
                </a:solidFill>
                <a:latin typeface="+mn-ea"/>
              </a:rPr>
              <a:t>D2</a:t>
            </a:r>
            <a:r>
              <a:rPr lang="ja-JP" altLang="en-US" sz="1000" dirty="0">
                <a:solidFill>
                  <a:srgbClr val="262626"/>
                </a:solidFill>
                <a:latin typeface="+mn-ea"/>
              </a:rPr>
              <a:t>の組織対組織体制で拡大）</a:t>
            </a:r>
          </a:p>
          <a:p>
            <a:pPr>
              <a:lnSpc>
                <a:spcPct val="114000"/>
              </a:lnSpc>
            </a:pPr>
            <a:r>
              <a:rPr lang="ja-JP" altLang="en-US" sz="1000" b="1" dirty="0">
                <a:solidFill>
                  <a:srgbClr val="008D2E"/>
                </a:solidFill>
                <a:latin typeface="+mn-ea"/>
              </a:rPr>
              <a:t>→</a:t>
            </a:r>
            <a:r>
              <a:rPr lang="ja-JP" altLang="en-US" sz="1000" b="1" dirty="0">
                <a:solidFill>
                  <a:srgbClr val="262626"/>
                </a:solidFill>
                <a:latin typeface="+mn-ea"/>
              </a:rPr>
              <a:t>一発勝負の大型投資がなくなり、検証済みの施策だけが広がる</a:t>
            </a:r>
          </a:p>
        </p:txBody>
      </p:sp>
      <p:sp>
        <p:nvSpPr>
          <p:cNvPr id="41" name="Rectangle 50">
            <a:extLst>
              <a:ext uri="{FF2B5EF4-FFF2-40B4-BE49-F238E27FC236}">
                <a16:creationId xmlns:a16="http://schemas.microsoft.com/office/drawing/2014/main" id="{B7C68E8D-5692-034A-60EC-834D54084235}"/>
              </a:ext>
            </a:extLst>
          </p:cNvPr>
          <p:cNvSpPr/>
          <p:nvPr/>
        </p:nvSpPr>
        <p:spPr>
          <a:xfrm>
            <a:off x="8366760" y="4745267"/>
            <a:ext cx="3474720" cy="1454364"/>
          </a:xfrm>
          <a:prstGeom prst="rect">
            <a:avLst/>
          </a:prstGeom>
          <a:solidFill>
            <a:srgbClr val="F2F7F3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+mn-ea"/>
            </a:endParaRPr>
          </a:p>
        </p:txBody>
      </p:sp>
      <p:sp>
        <p:nvSpPr>
          <p:cNvPr id="42" name="TextBox 51">
            <a:extLst>
              <a:ext uri="{FF2B5EF4-FFF2-40B4-BE49-F238E27FC236}">
                <a16:creationId xmlns:a16="http://schemas.microsoft.com/office/drawing/2014/main" id="{93E55205-37AA-F0AA-B2A4-1B3456BF8742}"/>
              </a:ext>
            </a:extLst>
          </p:cNvPr>
          <p:cNvSpPr txBox="1"/>
          <p:nvPr/>
        </p:nvSpPr>
        <p:spPr>
          <a:xfrm>
            <a:off x="8476488" y="4788548"/>
            <a:ext cx="3291840" cy="162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>
                <a:solidFill>
                  <a:srgbClr val="595959"/>
                </a:solidFill>
                <a:latin typeface="+mn-ea"/>
              </a:rPr>
              <a:t>対応する重点施策</a:t>
            </a:r>
          </a:p>
        </p:txBody>
      </p:sp>
      <p:sp>
        <p:nvSpPr>
          <p:cNvPr id="43" name="Rectangle 52">
            <a:extLst>
              <a:ext uri="{FF2B5EF4-FFF2-40B4-BE49-F238E27FC236}">
                <a16:creationId xmlns:a16="http://schemas.microsoft.com/office/drawing/2014/main" id="{6F6A47C8-C76C-AE8C-3E23-2C13E6C29B93}"/>
              </a:ext>
            </a:extLst>
          </p:cNvPr>
          <p:cNvSpPr/>
          <p:nvPr/>
        </p:nvSpPr>
        <p:spPr>
          <a:xfrm>
            <a:off x="8476488" y="5022288"/>
            <a:ext cx="475488" cy="259708"/>
          </a:xfrm>
          <a:prstGeom prst="rect">
            <a:avLst/>
          </a:prstGeom>
          <a:solidFill>
            <a:srgbClr val="008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+mn-ea"/>
            </a:endParaRPr>
          </a:p>
        </p:txBody>
      </p:sp>
      <p:sp>
        <p:nvSpPr>
          <p:cNvPr id="44" name="TextBox 53">
            <a:extLst>
              <a:ext uri="{FF2B5EF4-FFF2-40B4-BE49-F238E27FC236}">
                <a16:creationId xmlns:a16="http://schemas.microsoft.com/office/drawing/2014/main" id="{A40E30DB-4BA3-E6C7-7B38-9299705D6852}"/>
              </a:ext>
            </a:extLst>
          </p:cNvPr>
          <p:cNvSpPr txBox="1"/>
          <p:nvPr/>
        </p:nvSpPr>
        <p:spPr>
          <a:xfrm>
            <a:off x="8494776" y="5056916"/>
            <a:ext cx="438912" cy="162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>
                <a:solidFill>
                  <a:srgbClr val="FFFFFF"/>
                </a:solidFill>
                <a:latin typeface="+mn-ea"/>
              </a:rPr>
              <a:t>B1★</a:t>
            </a:r>
          </a:p>
        </p:txBody>
      </p:sp>
      <p:sp>
        <p:nvSpPr>
          <p:cNvPr id="45" name="TextBox 54">
            <a:extLst>
              <a:ext uri="{FF2B5EF4-FFF2-40B4-BE49-F238E27FC236}">
                <a16:creationId xmlns:a16="http://schemas.microsoft.com/office/drawing/2014/main" id="{58E0B6D4-53E9-AA32-4050-1DE04D02EA35}"/>
              </a:ext>
            </a:extLst>
          </p:cNvPr>
          <p:cNvSpPr txBox="1"/>
          <p:nvPr/>
        </p:nvSpPr>
        <p:spPr>
          <a:xfrm>
            <a:off x="9025128" y="5056916"/>
            <a:ext cx="2743200" cy="162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>
                <a:solidFill>
                  <a:srgbClr val="262626"/>
                </a:solidFill>
                <a:latin typeface="+mn-ea"/>
              </a:rPr>
              <a:t>投資ROI可視化基盤（MMM×DCR）</a:t>
            </a:r>
          </a:p>
        </p:txBody>
      </p:sp>
      <p:sp>
        <p:nvSpPr>
          <p:cNvPr id="46" name="Rectangle 55">
            <a:extLst>
              <a:ext uri="{FF2B5EF4-FFF2-40B4-BE49-F238E27FC236}">
                <a16:creationId xmlns:a16="http://schemas.microsoft.com/office/drawing/2014/main" id="{F84FCE5B-51DC-96C9-C531-1C7B56AD6AE2}"/>
              </a:ext>
            </a:extLst>
          </p:cNvPr>
          <p:cNvSpPr/>
          <p:nvPr/>
        </p:nvSpPr>
        <p:spPr>
          <a:xfrm>
            <a:off x="8476488" y="5333940"/>
            <a:ext cx="475488" cy="259708"/>
          </a:xfrm>
          <a:prstGeom prst="rect">
            <a:avLst/>
          </a:prstGeom>
          <a:solidFill>
            <a:srgbClr val="008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+mn-ea"/>
            </a:endParaRPr>
          </a:p>
        </p:txBody>
      </p:sp>
      <p:sp>
        <p:nvSpPr>
          <p:cNvPr id="47" name="TextBox 56">
            <a:extLst>
              <a:ext uri="{FF2B5EF4-FFF2-40B4-BE49-F238E27FC236}">
                <a16:creationId xmlns:a16="http://schemas.microsoft.com/office/drawing/2014/main" id="{74D87C47-D7BE-D89C-0C71-68C909EFE611}"/>
              </a:ext>
            </a:extLst>
          </p:cNvPr>
          <p:cNvSpPr txBox="1"/>
          <p:nvPr/>
        </p:nvSpPr>
        <p:spPr>
          <a:xfrm>
            <a:off x="8494776" y="5368568"/>
            <a:ext cx="438912" cy="16248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>
                <a:solidFill>
                  <a:srgbClr val="FFFFFF"/>
                </a:solidFill>
                <a:latin typeface="+mn-ea"/>
              </a:rPr>
              <a:t>D1★</a:t>
            </a:r>
          </a:p>
        </p:txBody>
      </p:sp>
      <p:sp>
        <p:nvSpPr>
          <p:cNvPr id="48" name="TextBox 57">
            <a:extLst>
              <a:ext uri="{FF2B5EF4-FFF2-40B4-BE49-F238E27FC236}">
                <a16:creationId xmlns:a16="http://schemas.microsoft.com/office/drawing/2014/main" id="{C7CD2EB1-9595-65FA-C020-73B03FF4B237}"/>
              </a:ext>
            </a:extLst>
          </p:cNvPr>
          <p:cNvSpPr txBox="1"/>
          <p:nvPr/>
        </p:nvSpPr>
        <p:spPr>
          <a:xfrm>
            <a:off x="9025128" y="5368569"/>
            <a:ext cx="2743200" cy="16248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>
                <a:solidFill>
                  <a:srgbClr val="262626"/>
                </a:solidFill>
                <a:latin typeface="+mn-ea"/>
              </a:rPr>
              <a:t>Input業務ゼロ化（生成AI＋TPM）</a:t>
            </a:r>
          </a:p>
        </p:txBody>
      </p:sp>
      <p:sp>
        <p:nvSpPr>
          <p:cNvPr id="49" name="Rectangle 58">
            <a:extLst>
              <a:ext uri="{FF2B5EF4-FFF2-40B4-BE49-F238E27FC236}">
                <a16:creationId xmlns:a16="http://schemas.microsoft.com/office/drawing/2014/main" id="{E046A48E-0048-AFA5-3604-DC55F81EBAE9}"/>
              </a:ext>
            </a:extLst>
          </p:cNvPr>
          <p:cNvSpPr/>
          <p:nvPr/>
        </p:nvSpPr>
        <p:spPr>
          <a:xfrm>
            <a:off x="8476488" y="5645591"/>
            <a:ext cx="475488" cy="259708"/>
          </a:xfrm>
          <a:prstGeom prst="rect">
            <a:avLst/>
          </a:prstGeom>
          <a:solidFill>
            <a:srgbClr val="008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+mn-ea"/>
            </a:endParaRPr>
          </a:p>
        </p:txBody>
      </p:sp>
      <p:sp>
        <p:nvSpPr>
          <p:cNvPr id="50" name="TextBox 59">
            <a:extLst>
              <a:ext uri="{FF2B5EF4-FFF2-40B4-BE49-F238E27FC236}">
                <a16:creationId xmlns:a16="http://schemas.microsoft.com/office/drawing/2014/main" id="{77B05F0B-F15B-EFCE-F5C1-5F07A5FC9459}"/>
              </a:ext>
            </a:extLst>
          </p:cNvPr>
          <p:cNvSpPr txBox="1"/>
          <p:nvPr/>
        </p:nvSpPr>
        <p:spPr>
          <a:xfrm>
            <a:off x="8494776" y="5680230"/>
            <a:ext cx="438912" cy="16248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>
                <a:solidFill>
                  <a:srgbClr val="FFFFFF"/>
                </a:solidFill>
                <a:latin typeface="+mn-ea"/>
              </a:rPr>
              <a:t>D2</a:t>
            </a:r>
          </a:p>
        </p:txBody>
      </p:sp>
      <p:sp>
        <p:nvSpPr>
          <p:cNvPr id="51" name="TextBox 60">
            <a:extLst>
              <a:ext uri="{FF2B5EF4-FFF2-40B4-BE49-F238E27FC236}">
                <a16:creationId xmlns:a16="http://schemas.microsoft.com/office/drawing/2014/main" id="{E5B150B2-AEEA-BE9D-6990-CB268C444B52}"/>
              </a:ext>
            </a:extLst>
          </p:cNvPr>
          <p:cNvSpPr txBox="1"/>
          <p:nvPr/>
        </p:nvSpPr>
        <p:spPr>
          <a:xfrm>
            <a:off x="9025128" y="5680224"/>
            <a:ext cx="2743200" cy="16248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dirty="0" err="1">
                <a:solidFill>
                  <a:srgbClr val="262626"/>
                </a:solidFill>
                <a:latin typeface="+mn-ea"/>
              </a:rPr>
              <a:t>組織対組織の営業体制へ再編</a:t>
            </a:r>
            <a:endParaRPr sz="1050" dirty="0">
              <a:solidFill>
                <a:srgbClr val="262626"/>
              </a:solidFill>
              <a:latin typeface="+mn-ea"/>
            </a:endParaRPr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FE229287-D3E3-E698-B247-74EB8B60B131}"/>
              </a:ext>
            </a:extLst>
          </p:cNvPr>
          <p:cNvSpPr txBox="1"/>
          <p:nvPr/>
        </p:nvSpPr>
        <p:spPr>
          <a:xfrm>
            <a:off x="3900791" y="6293053"/>
            <a:ext cx="7867537" cy="414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ja-JP" sz="1000" b="1" dirty="0">
                <a:solidFill>
                  <a:srgbClr val="008D2E"/>
                </a:solidFill>
                <a:latin typeface="Meiryo UI"/>
                <a:ea typeface="Meiryo UI"/>
              </a:rPr>
              <a:t>※</a:t>
            </a:r>
            <a:r>
              <a:rPr lang="ja-JP" altLang="en-US" sz="1000" b="1" dirty="0">
                <a:solidFill>
                  <a:srgbClr val="008D2E"/>
                </a:solidFill>
                <a:latin typeface="Meiryo UI"/>
                <a:ea typeface="Meiryo UI"/>
              </a:rPr>
              <a:t>起点施策（★）の連鎖：</a:t>
            </a:r>
            <a:r>
              <a:rPr lang="en-US" altLang="ja-JP" sz="1000" b="0" dirty="0">
                <a:solidFill>
                  <a:srgbClr val="262626"/>
                </a:solidFill>
                <a:latin typeface="Meiryo UI"/>
                <a:ea typeface="Meiryo UI"/>
              </a:rPr>
              <a:t>B1</a:t>
            </a:r>
            <a:r>
              <a:rPr lang="ja-JP" altLang="en-US" sz="1000" b="0" dirty="0">
                <a:solidFill>
                  <a:srgbClr val="262626"/>
                </a:solidFill>
                <a:latin typeface="Meiryo UI"/>
                <a:ea typeface="Meiryo UI"/>
              </a:rPr>
              <a:t>（</a:t>
            </a:r>
            <a:r>
              <a:rPr lang="en-US" altLang="ja-JP" sz="1000" b="0" dirty="0">
                <a:solidFill>
                  <a:srgbClr val="262626"/>
                </a:solidFill>
                <a:latin typeface="Meiryo UI"/>
                <a:ea typeface="Meiryo UI"/>
              </a:rPr>
              <a:t>ROI</a:t>
            </a:r>
            <a:r>
              <a:rPr lang="ja-JP" altLang="en-US" sz="1000" b="0" dirty="0">
                <a:solidFill>
                  <a:srgbClr val="262626"/>
                </a:solidFill>
                <a:latin typeface="Meiryo UI"/>
                <a:ea typeface="Meiryo UI"/>
              </a:rPr>
              <a:t>可視化）が投資対効果の測定基準を作り → </a:t>
            </a:r>
            <a:r>
              <a:rPr lang="en-US" altLang="ja-JP" sz="1000" b="0" dirty="0">
                <a:solidFill>
                  <a:srgbClr val="262626"/>
                </a:solidFill>
                <a:latin typeface="Meiryo UI"/>
                <a:ea typeface="Meiryo UI"/>
              </a:rPr>
              <a:t>D1</a:t>
            </a:r>
            <a:r>
              <a:rPr lang="ja-JP" altLang="en-US" sz="1000" b="0" dirty="0">
                <a:solidFill>
                  <a:srgbClr val="262626"/>
                </a:solidFill>
                <a:latin typeface="Meiryo UI"/>
                <a:ea typeface="Meiryo UI"/>
              </a:rPr>
              <a:t>（事務ゼロ化）が商談の時間を生み → </a:t>
            </a:r>
            <a:r>
              <a:rPr lang="en-US" altLang="ja-JP" sz="1000" b="0" dirty="0">
                <a:solidFill>
                  <a:srgbClr val="262626"/>
                </a:solidFill>
                <a:latin typeface="Meiryo UI"/>
                <a:ea typeface="Meiryo UI"/>
              </a:rPr>
              <a:t>C1</a:t>
            </a:r>
            <a:r>
              <a:rPr lang="ja-JP" altLang="en-US" sz="1000" b="0" dirty="0">
                <a:solidFill>
                  <a:srgbClr val="262626"/>
                </a:solidFill>
                <a:latin typeface="Meiryo UI"/>
                <a:ea typeface="Meiryo UI"/>
              </a:rPr>
              <a:t>・</a:t>
            </a:r>
            <a:r>
              <a:rPr lang="en-US" altLang="ja-JP" sz="1000" b="0" dirty="0">
                <a:solidFill>
                  <a:srgbClr val="262626"/>
                </a:solidFill>
                <a:latin typeface="Meiryo UI"/>
                <a:ea typeface="Meiryo UI"/>
              </a:rPr>
              <a:t>A1</a:t>
            </a:r>
            <a:r>
              <a:rPr lang="ja-JP" altLang="en-US" sz="1000" b="0" dirty="0">
                <a:solidFill>
                  <a:srgbClr val="262626"/>
                </a:solidFill>
                <a:latin typeface="Meiryo UI"/>
                <a:ea typeface="Meiryo UI"/>
              </a:rPr>
              <a:t>が提案の材料を揃え → 解決</a:t>
            </a:r>
            <a:r>
              <a:rPr lang="en-US" altLang="ja-JP" sz="1000" b="0" dirty="0">
                <a:solidFill>
                  <a:srgbClr val="262626"/>
                </a:solidFill>
                <a:latin typeface="Meiryo UI"/>
                <a:ea typeface="Meiryo UI"/>
              </a:rPr>
              <a:t>1</a:t>
            </a:r>
            <a:r>
              <a:rPr lang="ja-JP" altLang="en-US" sz="1000" b="0" dirty="0">
                <a:solidFill>
                  <a:srgbClr val="262626"/>
                </a:solidFill>
                <a:latin typeface="Meiryo UI"/>
                <a:ea typeface="Meiryo UI"/>
              </a:rPr>
              <a:t>の新しい使い方に流し込む。</a:t>
            </a:r>
            <a:r>
              <a:rPr lang="en-US" altLang="ja-JP" sz="1000" b="0" dirty="0">
                <a:solidFill>
                  <a:srgbClr val="262626"/>
                </a:solidFill>
                <a:latin typeface="Meiryo UI"/>
                <a:ea typeface="Meiryo UI"/>
              </a:rPr>
              <a:t>ROI</a:t>
            </a:r>
            <a:r>
              <a:rPr lang="ja-JP" altLang="en-US" sz="1000" b="0" dirty="0">
                <a:solidFill>
                  <a:srgbClr val="262626"/>
                </a:solidFill>
                <a:latin typeface="Meiryo UI"/>
                <a:ea typeface="Meiryo UI"/>
              </a:rPr>
              <a:t>計算式に紐づかない施策はやらない。</a:t>
            </a:r>
          </a:p>
        </p:txBody>
      </p:sp>
    </p:spTree>
    <p:extLst>
      <p:ext uri="{BB962C8B-B14F-4D97-AF65-F5344CB8AC3E}">
        <p14:creationId xmlns:p14="http://schemas.microsoft.com/office/powerpoint/2010/main" val="333923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0B43C0-6E4C-74A7-85EF-A2E7CEDED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4</a:t>
            </a:r>
            <a:r>
              <a:rPr kumimoji="1" lang="ja-JP" altLang="en-US" dirty="0"/>
              <a:t>つの変革テーマ </a:t>
            </a:r>
            <a:r>
              <a:rPr kumimoji="1" lang="en-US" altLang="ja-JP" dirty="0"/>
              <a:t>× 8</a:t>
            </a:r>
            <a:r>
              <a:rPr kumimoji="1" lang="ja-JP" altLang="en-US" dirty="0"/>
              <a:t>つの重点施策（</a:t>
            </a:r>
            <a:r>
              <a:rPr kumimoji="1" lang="en-US" altLang="ja-JP" dirty="0"/>
              <a:t>A1〜D2</a:t>
            </a:r>
            <a:r>
              <a:rPr kumimoji="1" lang="ja-JP" altLang="en-US" dirty="0"/>
              <a:t>）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C9FAB3C-D603-8C78-173C-A518631364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8施策は3つの解決を実行に落とした中身（★＝最初に動かす起点施策）。中でもB1「投資ROI可視化」が全ての起点 ― 各施策はROI計算式と指標で投資判断する</a:t>
            </a:r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E4B47A0-D437-22B6-009F-AA5CA7399339}"/>
              </a:ext>
            </a:extLst>
          </p:cNvPr>
          <p:cNvSpPr txBox="1"/>
          <p:nvPr/>
        </p:nvSpPr>
        <p:spPr>
          <a:xfrm>
            <a:off x="334963" y="6086580"/>
            <a:ext cx="11522075" cy="553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ja-JP" altLang="en-US" sz="900" b="1" dirty="0">
                <a:solidFill>
                  <a:srgbClr val="008D2E"/>
                </a:solidFill>
              </a:rPr>
              <a:t>真因との対応と投資規律：</a:t>
            </a:r>
            <a:r>
              <a:rPr lang="ja-JP" altLang="en-US" sz="900" dirty="0">
                <a:solidFill>
                  <a:srgbClr val="262626"/>
                </a:solidFill>
              </a:rPr>
              <a:t>資源の使い方（真因</a:t>
            </a:r>
            <a:r>
              <a:rPr lang="en-US" altLang="ja-JP" sz="900" dirty="0">
                <a:solidFill>
                  <a:srgbClr val="262626"/>
                </a:solidFill>
              </a:rPr>
              <a:t>1</a:t>
            </a:r>
            <a:r>
              <a:rPr lang="ja-JP" altLang="en-US" sz="900" dirty="0">
                <a:solidFill>
                  <a:srgbClr val="262626"/>
                </a:solidFill>
              </a:rPr>
              <a:t>）＝前頁・解決</a:t>
            </a:r>
            <a:r>
              <a:rPr lang="en-US" altLang="ja-JP" sz="900" dirty="0">
                <a:solidFill>
                  <a:srgbClr val="262626"/>
                </a:solidFill>
              </a:rPr>
              <a:t>1</a:t>
            </a:r>
            <a:r>
              <a:rPr lang="ja-JP" altLang="en-US" sz="900" dirty="0">
                <a:solidFill>
                  <a:srgbClr val="262626"/>
                </a:solidFill>
              </a:rPr>
              <a:t>の設計に従い、提案の材料（真因</a:t>
            </a:r>
            <a:r>
              <a:rPr lang="en-US" altLang="ja-JP" sz="900" dirty="0">
                <a:solidFill>
                  <a:srgbClr val="262626"/>
                </a:solidFill>
              </a:rPr>
              <a:t>2</a:t>
            </a:r>
            <a:r>
              <a:rPr lang="ja-JP" altLang="en-US" sz="900" dirty="0">
                <a:solidFill>
                  <a:srgbClr val="262626"/>
                </a:solidFill>
              </a:rPr>
              <a:t>）＝</a:t>
            </a:r>
            <a:r>
              <a:rPr lang="en-US" altLang="ja-JP" sz="900" dirty="0">
                <a:solidFill>
                  <a:srgbClr val="262626"/>
                </a:solidFill>
              </a:rPr>
              <a:t>A1</a:t>
            </a:r>
            <a:r>
              <a:rPr lang="ja-JP" altLang="en-US" sz="900" dirty="0">
                <a:solidFill>
                  <a:srgbClr val="262626"/>
                </a:solidFill>
              </a:rPr>
              <a:t>・</a:t>
            </a:r>
            <a:r>
              <a:rPr lang="en-US" altLang="ja-JP" sz="900" dirty="0">
                <a:solidFill>
                  <a:srgbClr val="262626"/>
                </a:solidFill>
              </a:rPr>
              <a:t>A2</a:t>
            </a:r>
            <a:r>
              <a:rPr lang="ja-JP" altLang="en-US" sz="900" dirty="0">
                <a:solidFill>
                  <a:srgbClr val="262626"/>
                </a:solidFill>
              </a:rPr>
              <a:t>・</a:t>
            </a:r>
            <a:r>
              <a:rPr lang="en-US" altLang="ja-JP" sz="900" dirty="0">
                <a:solidFill>
                  <a:srgbClr val="262626"/>
                </a:solidFill>
              </a:rPr>
              <a:t>C1</a:t>
            </a:r>
            <a:r>
              <a:rPr lang="ja-JP" altLang="en-US" sz="900" dirty="0">
                <a:solidFill>
                  <a:srgbClr val="262626"/>
                </a:solidFill>
              </a:rPr>
              <a:t>・</a:t>
            </a:r>
            <a:r>
              <a:rPr lang="en-US" altLang="ja-JP" sz="900" dirty="0">
                <a:solidFill>
                  <a:srgbClr val="262626"/>
                </a:solidFill>
              </a:rPr>
              <a:t>C2</a:t>
            </a:r>
            <a:r>
              <a:rPr lang="ja-JP" altLang="en-US" sz="900" dirty="0">
                <a:solidFill>
                  <a:srgbClr val="262626"/>
                </a:solidFill>
              </a:rPr>
              <a:t>、改善の仕組み（真因</a:t>
            </a:r>
            <a:r>
              <a:rPr lang="en-US" altLang="ja-JP" sz="900" dirty="0">
                <a:solidFill>
                  <a:srgbClr val="262626"/>
                </a:solidFill>
              </a:rPr>
              <a:t>3</a:t>
            </a:r>
            <a:r>
              <a:rPr lang="ja-JP" altLang="en-US" sz="900" dirty="0">
                <a:solidFill>
                  <a:srgbClr val="262626"/>
                </a:solidFill>
              </a:rPr>
              <a:t>）＝</a:t>
            </a:r>
            <a:r>
              <a:rPr lang="en-US" altLang="ja-JP" sz="900" dirty="0">
                <a:solidFill>
                  <a:srgbClr val="262626"/>
                </a:solidFill>
              </a:rPr>
              <a:t>B1</a:t>
            </a:r>
            <a:r>
              <a:rPr lang="ja-JP" altLang="en-US" sz="900" dirty="0">
                <a:solidFill>
                  <a:srgbClr val="262626"/>
                </a:solidFill>
              </a:rPr>
              <a:t>・</a:t>
            </a:r>
            <a:r>
              <a:rPr lang="en-US" altLang="ja-JP" sz="900" dirty="0">
                <a:solidFill>
                  <a:srgbClr val="262626"/>
                </a:solidFill>
              </a:rPr>
              <a:t>D1</a:t>
            </a:r>
            <a:r>
              <a:rPr lang="ja-JP" altLang="en-US" sz="900" dirty="0">
                <a:solidFill>
                  <a:srgbClr val="262626"/>
                </a:solidFill>
              </a:rPr>
              <a:t>・</a:t>
            </a:r>
            <a:r>
              <a:rPr lang="en-US" altLang="ja-JP" sz="900" dirty="0">
                <a:solidFill>
                  <a:srgbClr val="262626"/>
                </a:solidFill>
              </a:rPr>
              <a:t>D2</a:t>
            </a:r>
            <a:r>
              <a:rPr lang="ja-JP" altLang="en-US" sz="900" dirty="0">
                <a:solidFill>
                  <a:srgbClr val="262626"/>
                </a:solidFill>
              </a:rPr>
              <a:t>。各施策は</a:t>
            </a:r>
            <a:r>
              <a:rPr lang="en-US" altLang="ja-JP" sz="900" dirty="0">
                <a:solidFill>
                  <a:srgbClr val="262626"/>
                </a:solidFill>
              </a:rPr>
              <a:t>ROI</a:t>
            </a:r>
            <a:r>
              <a:rPr lang="ja-JP" altLang="en-US" sz="900" dirty="0">
                <a:solidFill>
                  <a:srgbClr val="262626"/>
                </a:solidFill>
              </a:rPr>
              <a:t>計算式（分子＝売上増・時間削減・利益改善／分母＝投資）と撤退基準をセットで承認し、前提値は</a:t>
            </a:r>
            <a:r>
              <a:rPr lang="en-US" altLang="ja-JP" sz="900" dirty="0">
                <a:solidFill>
                  <a:srgbClr val="262626"/>
                </a:solidFill>
              </a:rPr>
              <a:t>FY26</a:t>
            </a:r>
            <a:r>
              <a:rPr lang="ja-JP" altLang="en-US" sz="900" dirty="0">
                <a:solidFill>
                  <a:srgbClr val="262626"/>
                </a:solidFill>
              </a:rPr>
              <a:t>上期に実測で確定する。</a:t>
            </a:r>
            <a:endParaRPr lang="en-US" altLang="ja-JP" sz="900" b="1" dirty="0">
              <a:solidFill>
                <a:srgbClr val="262626"/>
              </a:solidFill>
              <a:latin typeface="Meiryo UI"/>
              <a:ea typeface="Meiryo UI"/>
            </a:endParaRPr>
          </a:p>
        </p:txBody>
      </p:sp>
      <p:grpSp>
        <p:nvGrpSpPr>
          <p:cNvPr id="168" name="グループ化 167">
            <a:extLst>
              <a:ext uri="{FF2B5EF4-FFF2-40B4-BE49-F238E27FC236}">
                <a16:creationId xmlns:a16="http://schemas.microsoft.com/office/drawing/2014/main" id="{01450BE0-017A-686E-1B29-EB8516D9F239}"/>
              </a:ext>
            </a:extLst>
          </p:cNvPr>
          <p:cNvGrpSpPr/>
          <p:nvPr/>
        </p:nvGrpSpPr>
        <p:grpSpPr>
          <a:xfrm>
            <a:off x="320040" y="1536970"/>
            <a:ext cx="11393424" cy="4493639"/>
            <a:chOff x="320040" y="1225296"/>
            <a:chExt cx="11393424" cy="4806916"/>
          </a:xfrm>
        </p:grpSpPr>
        <p:sp>
          <p:nvSpPr>
            <p:cNvPr id="8" name="Rectangle 13">
              <a:extLst>
                <a:ext uri="{FF2B5EF4-FFF2-40B4-BE49-F238E27FC236}">
                  <a16:creationId xmlns:a16="http://schemas.microsoft.com/office/drawing/2014/main" id="{9FCDAEAD-A2B1-DEFB-69E7-A7A242F43526}"/>
                </a:ext>
              </a:extLst>
            </p:cNvPr>
            <p:cNvSpPr/>
            <p:nvPr/>
          </p:nvSpPr>
          <p:spPr>
            <a:xfrm>
              <a:off x="320040" y="1225296"/>
              <a:ext cx="1965960" cy="292608"/>
            </a:xfrm>
            <a:prstGeom prst="rect">
              <a:avLst/>
            </a:prstGeom>
            <a:solidFill>
              <a:srgbClr val="1623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" name="TextBox 14">
              <a:extLst>
                <a:ext uri="{FF2B5EF4-FFF2-40B4-BE49-F238E27FC236}">
                  <a16:creationId xmlns:a16="http://schemas.microsoft.com/office/drawing/2014/main" id="{D2022384-6770-FB38-2001-CD0C38A595A4}"/>
                </a:ext>
              </a:extLst>
            </p:cNvPr>
            <p:cNvSpPr txBox="1"/>
            <p:nvPr/>
          </p:nvSpPr>
          <p:spPr>
            <a:xfrm>
              <a:off x="384048" y="1252728"/>
              <a:ext cx="1837943" cy="17380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sz="1050" b="1">
                  <a:solidFill>
                    <a:srgbClr val="FFFFFF"/>
                  </a:solidFill>
                  <a:latin typeface="Meiryo UI"/>
                  <a:ea typeface="Meiryo UI"/>
                </a:rPr>
                <a:t>テーマ</a:t>
              </a:r>
            </a:p>
          </p:txBody>
        </p:sp>
        <p:sp>
          <p:nvSpPr>
            <p:cNvPr id="10" name="Rectangle 15">
              <a:extLst>
                <a:ext uri="{FF2B5EF4-FFF2-40B4-BE49-F238E27FC236}">
                  <a16:creationId xmlns:a16="http://schemas.microsoft.com/office/drawing/2014/main" id="{7A4C91ED-53A4-EA45-7D17-14C9E1A3DE8D}"/>
                </a:ext>
              </a:extLst>
            </p:cNvPr>
            <p:cNvSpPr/>
            <p:nvPr/>
          </p:nvSpPr>
          <p:spPr>
            <a:xfrm>
              <a:off x="2304288" y="1225296"/>
              <a:ext cx="3291840" cy="292608"/>
            </a:xfrm>
            <a:prstGeom prst="rect">
              <a:avLst/>
            </a:prstGeom>
            <a:solidFill>
              <a:srgbClr val="1623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1" name="TextBox 16">
              <a:extLst>
                <a:ext uri="{FF2B5EF4-FFF2-40B4-BE49-F238E27FC236}">
                  <a16:creationId xmlns:a16="http://schemas.microsoft.com/office/drawing/2014/main" id="{A82D11C2-1E62-85A1-8D67-B70EB5D87B99}"/>
                </a:ext>
              </a:extLst>
            </p:cNvPr>
            <p:cNvSpPr txBox="1"/>
            <p:nvPr/>
          </p:nvSpPr>
          <p:spPr>
            <a:xfrm>
              <a:off x="2368296" y="1252728"/>
              <a:ext cx="3163824" cy="17380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sz="1050" b="1">
                  <a:solidFill>
                    <a:srgbClr val="FFFFFF"/>
                  </a:solidFill>
                  <a:latin typeface="Meiryo UI"/>
                  <a:ea typeface="Meiryo UI"/>
                </a:rPr>
                <a:t>重点施策（★＝起点施策）</a:t>
              </a:r>
            </a:p>
          </p:txBody>
        </p:sp>
        <p:sp>
          <p:nvSpPr>
            <p:cNvPr id="12" name="Rectangle 17">
              <a:extLst>
                <a:ext uri="{FF2B5EF4-FFF2-40B4-BE49-F238E27FC236}">
                  <a16:creationId xmlns:a16="http://schemas.microsoft.com/office/drawing/2014/main" id="{6B0D46A6-2017-7F68-475B-3A4F8E58620F}"/>
                </a:ext>
              </a:extLst>
            </p:cNvPr>
            <p:cNvSpPr/>
            <p:nvPr/>
          </p:nvSpPr>
          <p:spPr>
            <a:xfrm>
              <a:off x="5614416" y="1225296"/>
              <a:ext cx="3383280" cy="292608"/>
            </a:xfrm>
            <a:prstGeom prst="rect">
              <a:avLst/>
            </a:prstGeom>
            <a:solidFill>
              <a:srgbClr val="1623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3" name="TextBox 18">
              <a:extLst>
                <a:ext uri="{FF2B5EF4-FFF2-40B4-BE49-F238E27FC236}">
                  <a16:creationId xmlns:a16="http://schemas.microsoft.com/office/drawing/2014/main" id="{2676AF11-C944-A532-A28A-8214A08F172C}"/>
                </a:ext>
              </a:extLst>
            </p:cNvPr>
            <p:cNvSpPr txBox="1"/>
            <p:nvPr/>
          </p:nvSpPr>
          <p:spPr>
            <a:xfrm>
              <a:off x="5678424" y="1252728"/>
              <a:ext cx="3255264" cy="17380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sz="1050" b="1">
                  <a:solidFill>
                    <a:srgbClr val="FFFFFF"/>
                  </a:solidFill>
                  <a:latin typeface="Meiryo UI"/>
                  <a:ea typeface="Meiryo UI"/>
                </a:rPr>
                <a:t>ねらい</a:t>
              </a:r>
            </a:p>
          </p:txBody>
        </p:sp>
        <p:sp>
          <p:nvSpPr>
            <p:cNvPr id="94" name="Rectangle 19">
              <a:extLst>
                <a:ext uri="{FF2B5EF4-FFF2-40B4-BE49-F238E27FC236}">
                  <a16:creationId xmlns:a16="http://schemas.microsoft.com/office/drawing/2014/main" id="{49283144-AE8A-7F24-AA4E-CFEA6C4EFDE4}"/>
                </a:ext>
              </a:extLst>
            </p:cNvPr>
            <p:cNvSpPr/>
            <p:nvPr/>
          </p:nvSpPr>
          <p:spPr>
            <a:xfrm>
              <a:off x="9015984" y="1225296"/>
              <a:ext cx="2697480" cy="292608"/>
            </a:xfrm>
            <a:prstGeom prst="rect">
              <a:avLst/>
            </a:prstGeom>
            <a:solidFill>
              <a:srgbClr val="1623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5" name="TextBox 20">
              <a:extLst>
                <a:ext uri="{FF2B5EF4-FFF2-40B4-BE49-F238E27FC236}">
                  <a16:creationId xmlns:a16="http://schemas.microsoft.com/office/drawing/2014/main" id="{DC04B972-36E1-45E4-FD17-C72B7F056186}"/>
                </a:ext>
              </a:extLst>
            </p:cNvPr>
            <p:cNvSpPr txBox="1"/>
            <p:nvPr/>
          </p:nvSpPr>
          <p:spPr>
            <a:xfrm>
              <a:off x="9079992" y="1252728"/>
              <a:ext cx="2569464" cy="17380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sz="1050" b="1">
                  <a:solidFill>
                    <a:srgbClr val="FFFFFF"/>
                  </a:solidFill>
                  <a:latin typeface="Meiryo UI"/>
                  <a:ea typeface="Meiryo UI"/>
                </a:rPr>
                <a:t>主な指標</a:t>
              </a:r>
            </a:p>
          </p:txBody>
        </p:sp>
        <p:sp>
          <p:nvSpPr>
            <p:cNvPr id="96" name="Rectangle 21">
              <a:extLst>
                <a:ext uri="{FF2B5EF4-FFF2-40B4-BE49-F238E27FC236}">
                  <a16:creationId xmlns:a16="http://schemas.microsoft.com/office/drawing/2014/main" id="{1F0CE8D8-646D-FD52-8063-1F0FFE533D7D}"/>
                </a:ext>
              </a:extLst>
            </p:cNvPr>
            <p:cNvSpPr/>
            <p:nvPr/>
          </p:nvSpPr>
          <p:spPr>
            <a:xfrm>
              <a:off x="320040" y="1554480"/>
              <a:ext cx="1965960" cy="1078992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7" name="TextBox 22">
              <a:extLst>
                <a:ext uri="{FF2B5EF4-FFF2-40B4-BE49-F238E27FC236}">
                  <a16:creationId xmlns:a16="http://schemas.microsoft.com/office/drawing/2014/main" id="{0C13B7AC-BF3A-EA35-DF75-48033BF28A79}"/>
                </a:ext>
              </a:extLst>
            </p:cNvPr>
            <p:cNvSpPr txBox="1"/>
            <p:nvPr/>
          </p:nvSpPr>
          <p:spPr>
            <a:xfrm>
              <a:off x="402336" y="1783080"/>
              <a:ext cx="1810512" cy="36133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1050" b="1">
                  <a:solidFill>
                    <a:srgbClr val="FFFFFF"/>
                  </a:solidFill>
                  <a:latin typeface="Meiryo UI"/>
                  <a:ea typeface="Meiryo UI"/>
                </a:rPr>
                <a:t>T1 勝てる土俵の再定義
（予防医療×資源循環）</a:t>
              </a:r>
            </a:p>
          </p:txBody>
        </p:sp>
        <p:sp>
          <p:nvSpPr>
            <p:cNvPr id="98" name="Rectangle 23">
              <a:extLst>
                <a:ext uri="{FF2B5EF4-FFF2-40B4-BE49-F238E27FC236}">
                  <a16:creationId xmlns:a16="http://schemas.microsoft.com/office/drawing/2014/main" id="{A52258BE-F9FB-91E2-0490-F1BA9070A6CA}"/>
                </a:ext>
              </a:extLst>
            </p:cNvPr>
            <p:cNvSpPr/>
            <p:nvPr/>
          </p:nvSpPr>
          <p:spPr>
            <a:xfrm>
              <a:off x="2304288" y="1554480"/>
              <a:ext cx="3291840" cy="521207"/>
            </a:xfrm>
            <a:prstGeom prst="rect">
              <a:avLst/>
            </a:prstGeom>
            <a:solidFill>
              <a:srgbClr val="F2F7F3"/>
            </a:solidFill>
            <a:ln w="63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9" name="Rectangle 24">
              <a:extLst>
                <a:ext uri="{FF2B5EF4-FFF2-40B4-BE49-F238E27FC236}">
                  <a16:creationId xmlns:a16="http://schemas.microsoft.com/office/drawing/2014/main" id="{94955619-04F4-1378-4C71-F058C932F967}"/>
                </a:ext>
              </a:extLst>
            </p:cNvPr>
            <p:cNvSpPr/>
            <p:nvPr/>
          </p:nvSpPr>
          <p:spPr>
            <a:xfrm>
              <a:off x="2377440" y="1673352"/>
              <a:ext cx="548640" cy="274320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00" name="TextBox 25">
              <a:extLst>
                <a:ext uri="{FF2B5EF4-FFF2-40B4-BE49-F238E27FC236}">
                  <a16:creationId xmlns:a16="http://schemas.microsoft.com/office/drawing/2014/main" id="{B844D23A-C0B0-A2BC-842B-0CB389F5C3C4}"/>
                </a:ext>
              </a:extLst>
            </p:cNvPr>
            <p:cNvSpPr txBox="1"/>
            <p:nvPr/>
          </p:nvSpPr>
          <p:spPr>
            <a:xfrm>
              <a:off x="2395728" y="1709927"/>
              <a:ext cx="512064" cy="16550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sz="1000" b="1">
                  <a:solidFill>
                    <a:srgbClr val="FFFFFF"/>
                  </a:solidFill>
                  <a:latin typeface="Meiryo UI"/>
                  <a:ea typeface="Meiryo UI"/>
                </a:rPr>
                <a:t>A1★</a:t>
              </a:r>
            </a:p>
          </p:txBody>
        </p:sp>
        <p:sp>
          <p:nvSpPr>
            <p:cNvPr id="101" name="TextBox 26">
              <a:extLst>
                <a:ext uri="{FF2B5EF4-FFF2-40B4-BE49-F238E27FC236}">
                  <a16:creationId xmlns:a16="http://schemas.microsoft.com/office/drawing/2014/main" id="{9C759E61-3987-9AB6-D10D-C8849FE90AD7}"/>
                </a:ext>
              </a:extLst>
            </p:cNvPr>
            <p:cNvSpPr txBox="1"/>
            <p:nvPr/>
          </p:nvSpPr>
          <p:spPr>
            <a:xfrm>
              <a:off x="2999232" y="1600200"/>
              <a:ext cx="2542032" cy="50009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8000"/>
                </a:lnSpc>
              </a:pPr>
              <a:r>
                <a:rPr sz="1000" b="1">
                  <a:solidFill>
                    <a:srgbClr val="262626"/>
                  </a:solidFill>
                  <a:latin typeface="Meiryo UI"/>
                  <a:ea typeface="Meiryo UI"/>
                </a:rPr>
                <a:t>商品データをAIが読める形にして小売システムへ直結する</a:t>
              </a:r>
            </a:p>
            <a:p>
              <a:pPr>
                <a:lnSpc>
                  <a:spcPct val="108000"/>
                </a:lnSpc>
              </a:pPr>
              <a:r>
                <a:rPr sz="900" b="0">
                  <a:solidFill>
                    <a:srgbClr val="595959"/>
                  </a:solidFill>
                  <a:latin typeface="Meiryo UI"/>
                  <a:ea typeface="Meiryo UI"/>
                </a:rPr>
                <a:t>＝属性データの構造化・API化</a:t>
              </a:r>
            </a:p>
          </p:txBody>
        </p:sp>
        <p:sp>
          <p:nvSpPr>
            <p:cNvPr id="102" name="Rectangle 27">
              <a:extLst>
                <a:ext uri="{FF2B5EF4-FFF2-40B4-BE49-F238E27FC236}">
                  <a16:creationId xmlns:a16="http://schemas.microsoft.com/office/drawing/2014/main" id="{9280B087-9702-222B-9E7C-34CB2A41F8BF}"/>
                </a:ext>
              </a:extLst>
            </p:cNvPr>
            <p:cNvSpPr/>
            <p:nvPr/>
          </p:nvSpPr>
          <p:spPr>
            <a:xfrm>
              <a:off x="5614416" y="1554480"/>
              <a:ext cx="3383280" cy="52120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03" name="TextBox 28">
              <a:extLst>
                <a:ext uri="{FF2B5EF4-FFF2-40B4-BE49-F238E27FC236}">
                  <a16:creationId xmlns:a16="http://schemas.microsoft.com/office/drawing/2014/main" id="{07796C81-0ABF-F537-8551-AE73158D3DB7}"/>
                </a:ext>
              </a:extLst>
            </p:cNvPr>
            <p:cNvSpPr txBox="1"/>
            <p:nvPr/>
          </p:nvSpPr>
          <p:spPr>
            <a:xfrm>
              <a:off x="5705856" y="1609344"/>
              <a:ext cx="3200400" cy="32971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5000"/>
                </a:lnSpc>
              </a:pPr>
              <a:r>
                <a:rPr sz="1000" b="0">
                  <a:solidFill>
                    <a:srgbClr val="262626"/>
                  </a:solidFill>
                  <a:latin typeface="Meiryo UI"/>
                  <a:ea typeface="Meiryo UI"/>
                </a:rPr>
                <a:t>AI自動補充・小売アルゴリズムの「足切り」を回避し、AIの推奨リストに載る</a:t>
              </a:r>
            </a:p>
          </p:txBody>
        </p:sp>
        <p:sp>
          <p:nvSpPr>
            <p:cNvPr id="104" name="Rectangle 29">
              <a:extLst>
                <a:ext uri="{FF2B5EF4-FFF2-40B4-BE49-F238E27FC236}">
                  <a16:creationId xmlns:a16="http://schemas.microsoft.com/office/drawing/2014/main" id="{5C704558-2668-AC07-735F-1EFCA3F49114}"/>
                </a:ext>
              </a:extLst>
            </p:cNvPr>
            <p:cNvSpPr/>
            <p:nvPr/>
          </p:nvSpPr>
          <p:spPr>
            <a:xfrm>
              <a:off x="9015984" y="1554480"/>
              <a:ext cx="2697480" cy="521207"/>
            </a:xfrm>
            <a:prstGeom prst="rect">
              <a:avLst/>
            </a:prstGeom>
            <a:solidFill>
              <a:srgbClr val="F2F7F3"/>
            </a:solidFill>
            <a:ln w="63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05" name="TextBox 30">
              <a:extLst>
                <a:ext uri="{FF2B5EF4-FFF2-40B4-BE49-F238E27FC236}">
                  <a16:creationId xmlns:a16="http://schemas.microsoft.com/office/drawing/2014/main" id="{6E067EFA-1352-4A52-4D53-77230C2BD132}"/>
                </a:ext>
              </a:extLst>
            </p:cNvPr>
            <p:cNvSpPr txBox="1"/>
            <p:nvPr/>
          </p:nvSpPr>
          <p:spPr>
            <a:xfrm>
              <a:off x="9107424" y="1609344"/>
              <a:ext cx="2523744" cy="15686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5000"/>
                </a:lnSpc>
              </a:pPr>
              <a:r>
                <a:rPr sz="1000" b="1">
                  <a:solidFill>
                    <a:srgbClr val="0F5E87"/>
                  </a:solidFill>
                  <a:latin typeface="Meiryo UI"/>
                  <a:ea typeface="Meiryo UI"/>
                </a:rPr>
                <a:t>API開放SKU比率／AI推奨リスト掲載率</a:t>
              </a:r>
            </a:p>
          </p:txBody>
        </p:sp>
        <p:sp>
          <p:nvSpPr>
            <p:cNvPr id="106" name="Rectangle 31">
              <a:extLst>
                <a:ext uri="{FF2B5EF4-FFF2-40B4-BE49-F238E27FC236}">
                  <a16:creationId xmlns:a16="http://schemas.microsoft.com/office/drawing/2014/main" id="{43A9091C-5B5C-D014-7671-8F8EF604838E}"/>
                </a:ext>
              </a:extLst>
            </p:cNvPr>
            <p:cNvSpPr/>
            <p:nvPr/>
          </p:nvSpPr>
          <p:spPr>
            <a:xfrm>
              <a:off x="2304288" y="2112264"/>
              <a:ext cx="3291840" cy="521207"/>
            </a:xfrm>
            <a:prstGeom prst="rect">
              <a:avLst/>
            </a:prstGeom>
            <a:solidFill>
              <a:srgbClr val="F2F7F3"/>
            </a:solidFill>
            <a:ln w="63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07" name="Rectangle 32">
              <a:extLst>
                <a:ext uri="{FF2B5EF4-FFF2-40B4-BE49-F238E27FC236}">
                  <a16:creationId xmlns:a16="http://schemas.microsoft.com/office/drawing/2014/main" id="{8CBB1F1B-70A6-A394-27F5-99D52A8938DD}"/>
                </a:ext>
              </a:extLst>
            </p:cNvPr>
            <p:cNvSpPr/>
            <p:nvPr/>
          </p:nvSpPr>
          <p:spPr>
            <a:xfrm>
              <a:off x="2377440" y="2231136"/>
              <a:ext cx="548640" cy="274320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08" name="TextBox 33">
              <a:extLst>
                <a:ext uri="{FF2B5EF4-FFF2-40B4-BE49-F238E27FC236}">
                  <a16:creationId xmlns:a16="http://schemas.microsoft.com/office/drawing/2014/main" id="{46260313-237A-856D-1103-A9C9E7EF1FCF}"/>
                </a:ext>
              </a:extLst>
            </p:cNvPr>
            <p:cNvSpPr txBox="1"/>
            <p:nvPr/>
          </p:nvSpPr>
          <p:spPr>
            <a:xfrm>
              <a:off x="2395728" y="2267714"/>
              <a:ext cx="512064" cy="16550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sz="1000" b="1">
                  <a:solidFill>
                    <a:srgbClr val="FFFFFF"/>
                  </a:solidFill>
                  <a:latin typeface="Meiryo UI"/>
                  <a:ea typeface="Meiryo UI"/>
                </a:rPr>
                <a:t>A2</a:t>
              </a:r>
            </a:p>
          </p:txBody>
        </p:sp>
        <p:sp>
          <p:nvSpPr>
            <p:cNvPr id="109" name="TextBox 34">
              <a:extLst>
                <a:ext uri="{FF2B5EF4-FFF2-40B4-BE49-F238E27FC236}">
                  <a16:creationId xmlns:a16="http://schemas.microsoft.com/office/drawing/2014/main" id="{2A487311-4E78-D9A0-5CA4-5945D89088B5}"/>
                </a:ext>
              </a:extLst>
            </p:cNvPr>
            <p:cNvSpPr txBox="1"/>
            <p:nvPr/>
          </p:nvSpPr>
          <p:spPr>
            <a:xfrm>
              <a:off x="2999232" y="2157984"/>
              <a:ext cx="2542032" cy="50009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8000"/>
                </a:lnSpc>
              </a:pPr>
              <a:r>
                <a:rPr sz="1000" b="1">
                  <a:solidFill>
                    <a:srgbClr val="262626"/>
                  </a:solidFill>
                  <a:latin typeface="Meiryo UI"/>
                  <a:ea typeface="Meiryo UI"/>
                </a:rPr>
                <a:t>学校の歯みがき教育・自治体健診を、続くデジタル接点に変える</a:t>
              </a:r>
            </a:p>
            <a:p>
              <a:pPr>
                <a:lnSpc>
                  <a:spcPct val="108000"/>
                </a:lnSpc>
              </a:pPr>
              <a:r>
                <a:rPr sz="900" b="0">
                  <a:solidFill>
                    <a:srgbClr val="595959"/>
                  </a:solidFill>
                  <a:latin typeface="Meiryo UI"/>
                  <a:ea typeface="Meiryo UI"/>
                </a:rPr>
                <a:t>＝学校・自治体ルートのデジタル化</a:t>
              </a:r>
            </a:p>
          </p:txBody>
        </p:sp>
        <p:sp>
          <p:nvSpPr>
            <p:cNvPr id="110" name="Rectangle 35">
              <a:extLst>
                <a:ext uri="{FF2B5EF4-FFF2-40B4-BE49-F238E27FC236}">
                  <a16:creationId xmlns:a16="http://schemas.microsoft.com/office/drawing/2014/main" id="{611481CD-142D-A5E2-0DB4-0FCBAEDD63E1}"/>
                </a:ext>
              </a:extLst>
            </p:cNvPr>
            <p:cNvSpPr/>
            <p:nvPr/>
          </p:nvSpPr>
          <p:spPr>
            <a:xfrm>
              <a:off x="5614416" y="2112264"/>
              <a:ext cx="3383280" cy="52120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11" name="TextBox 36">
              <a:extLst>
                <a:ext uri="{FF2B5EF4-FFF2-40B4-BE49-F238E27FC236}">
                  <a16:creationId xmlns:a16="http://schemas.microsoft.com/office/drawing/2014/main" id="{F75EB1CA-EF86-6A00-3A2F-AD4D66A75C31}"/>
                </a:ext>
              </a:extLst>
            </p:cNvPr>
            <p:cNvSpPr txBox="1"/>
            <p:nvPr/>
          </p:nvSpPr>
          <p:spPr>
            <a:xfrm>
              <a:off x="5705856" y="2167128"/>
              <a:ext cx="3200400" cy="32971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5000"/>
                </a:lnSpc>
              </a:pPr>
              <a:r>
                <a:rPr sz="1000" b="0">
                  <a:solidFill>
                    <a:srgbClr val="262626"/>
                  </a:solidFill>
                  <a:latin typeface="Meiryo UI"/>
                  <a:ea typeface="Meiryo UI"/>
                </a:rPr>
                <a:t>紙と単発イベントの啓発を、アプリ・デジタル教材の継続接点にし、子どものうちからの習慣づくりを測れる資産にする</a:t>
              </a:r>
            </a:p>
          </p:txBody>
        </p:sp>
        <p:sp>
          <p:nvSpPr>
            <p:cNvPr id="112" name="Rectangle 37">
              <a:extLst>
                <a:ext uri="{FF2B5EF4-FFF2-40B4-BE49-F238E27FC236}">
                  <a16:creationId xmlns:a16="http://schemas.microsoft.com/office/drawing/2014/main" id="{1EC39F4A-A281-2D46-44FB-A282E6946098}"/>
                </a:ext>
              </a:extLst>
            </p:cNvPr>
            <p:cNvSpPr/>
            <p:nvPr/>
          </p:nvSpPr>
          <p:spPr>
            <a:xfrm>
              <a:off x="9015984" y="2112264"/>
              <a:ext cx="2697480" cy="521207"/>
            </a:xfrm>
            <a:prstGeom prst="rect">
              <a:avLst/>
            </a:prstGeom>
            <a:solidFill>
              <a:srgbClr val="F2F7F3"/>
            </a:solidFill>
            <a:ln w="63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13" name="TextBox 38">
              <a:extLst>
                <a:ext uri="{FF2B5EF4-FFF2-40B4-BE49-F238E27FC236}">
                  <a16:creationId xmlns:a16="http://schemas.microsoft.com/office/drawing/2014/main" id="{C99CC10C-107C-ED4A-AB3E-F851DDE7B547}"/>
                </a:ext>
              </a:extLst>
            </p:cNvPr>
            <p:cNvSpPr txBox="1"/>
            <p:nvPr/>
          </p:nvSpPr>
          <p:spPr>
            <a:xfrm>
              <a:off x="9107424" y="2167128"/>
              <a:ext cx="2523744" cy="15686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5000"/>
                </a:lnSpc>
              </a:pPr>
              <a:r>
                <a:rPr sz="1000" b="1">
                  <a:solidFill>
                    <a:srgbClr val="0F5E87"/>
                  </a:solidFill>
                  <a:latin typeface="Meiryo UI"/>
                  <a:ea typeface="Meiryo UI"/>
                </a:rPr>
                <a:t>デジタル化率／若年層習慣定着率</a:t>
              </a:r>
            </a:p>
          </p:txBody>
        </p:sp>
        <p:sp>
          <p:nvSpPr>
            <p:cNvPr id="114" name="Rectangle 39">
              <a:extLst>
                <a:ext uri="{FF2B5EF4-FFF2-40B4-BE49-F238E27FC236}">
                  <a16:creationId xmlns:a16="http://schemas.microsoft.com/office/drawing/2014/main" id="{53A2B51D-D015-6963-1917-3555DA34B3DF}"/>
                </a:ext>
              </a:extLst>
            </p:cNvPr>
            <p:cNvSpPr/>
            <p:nvPr/>
          </p:nvSpPr>
          <p:spPr>
            <a:xfrm>
              <a:off x="320040" y="2679192"/>
              <a:ext cx="1965960" cy="1078992"/>
            </a:xfrm>
            <a:prstGeom prst="rect">
              <a:avLst/>
            </a:prstGeom>
            <a:solidFill>
              <a:srgbClr val="0F5E8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15" name="TextBox 40">
              <a:extLst>
                <a:ext uri="{FF2B5EF4-FFF2-40B4-BE49-F238E27FC236}">
                  <a16:creationId xmlns:a16="http://schemas.microsoft.com/office/drawing/2014/main" id="{C7888BCD-22F1-D61B-DDE8-E58216977491}"/>
                </a:ext>
              </a:extLst>
            </p:cNvPr>
            <p:cNvSpPr txBox="1"/>
            <p:nvPr/>
          </p:nvSpPr>
          <p:spPr>
            <a:xfrm>
              <a:off x="402336" y="2907792"/>
              <a:ext cx="1810512" cy="55146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1050" b="1">
                  <a:solidFill>
                    <a:srgbClr val="FFFFFF"/>
                  </a:solidFill>
                  <a:latin typeface="Meiryo UI"/>
                  <a:ea typeface="Meiryo UI"/>
                </a:rPr>
                <a:t>T2 データ戦略
（小売データ×自社専門データ）</a:t>
              </a:r>
            </a:p>
          </p:txBody>
        </p:sp>
        <p:sp>
          <p:nvSpPr>
            <p:cNvPr id="116" name="Rectangle 41">
              <a:extLst>
                <a:ext uri="{FF2B5EF4-FFF2-40B4-BE49-F238E27FC236}">
                  <a16:creationId xmlns:a16="http://schemas.microsoft.com/office/drawing/2014/main" id="{CE22CEA3-062E-E8D5-748A-CDFC537FDC27}"/>
                </a:ext>
              </a:extLst>
            </p:cNvPr>
            <p:cNvSpPr/>
            <p:nvPr/>
          </p:nvSpPr>
          <p:spPr>
            <a:xfrm>
              <a:off x="2304288" y="2679192"/>
              <a:ext cx="3291840" cy="521207"/>
            </a:xfrm>
            <a:prstGeom prst="rect">
              <a:avLst/>
            </a:prstGeom>
            <a:solidFill>
              <a:srgbClr val="F2F7F3"/>
            </a:solidFill>
            <a:ln w="63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17" name="Rectangle 42">
              <a:extLst>
                <a:ext uri="{FF2B5EF4-FFF2-40B4-BE49-F238E27FC236}">
                  <a16:creationId xmlns:a16="http://schemas.microsoft.com/office/drawing/2014/main" id="{F6D4ED2D-2EBC-4588-584D-291943E81750}"/>
                </a:ext>
              </a:extLst>
            </p:cNvPr>
            <p:cNvSpPr/>
            <p:nvPr/>
          </p:nvSpPr>
          <p:spPr>
            <a:xfrm>
              <a:off x="2377440" y="2798064"/>
              <a:ext cx="548640" cy="274320"/>
            </a:xfrm>
            <a:prstGeom prst="rect">
              <a:avLst/>
            </a:prstGeom>
            <a:solidFill>
              <a:srgbClr val="0F5E8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18" name="TextBox 43">
              <a:extLst>
                <a:ext uri="{FF2B5EF4-FFF2-40B4-BE49-F238E27FC236}">
                  <a16:creationId xmlns:a16="http://schemas.microsoft.com/office/drawing/2014/main" id="{19B5E527-8255-7E0F-48DE-27E01548F2D4}"/>
                </a:ext>
              </a:extLst>
            </p:cNvPr>
            <p:cNvSpPr txBox="1"/>
            <p:nvPr/>
          </p:nvSpPr>
          <p:spPr>
            <a:xfrm>
              <a:off x="2395728" y="2834640"/>
              <a:ext cx="512064" cy="16550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sz="1000" b="1">
                  <a:solidFill>
                    <a:srgbClr val="FFFFFF"/>
                  </a:solidFill>
                  <a:latin typeface="Meiryo UI"/>
                  <a:ea typeface="Meiryo UI"/>
                </a:rPr>
                <a:t>B1★</a:t>
              </a:r>
            </a:p>
          </p:txBody>
        </p:sp>
        <p:sp>
          <p:nvSpPr>
            <p:cNvPr id="119" name="TextBox 44">
              <a:extLst>
                <a:ext uri="{FF2B5EF4-FFF2-40B4-BE49-F238E27FC236}">
                  <a16:creationId xmlns:a16="http://schemas.microsoft.com/office/drawing/2014/main" id="{CF7571CA-CEB3-F447-313F-3FB77C7E9231}"/>
                </a:ext>
              </a:extLst>
            </p:cNvPr>
            <p:cNvSpPr txBox="1"/>
            <p:nvPr/>
          </p:nvSpPr>
          <p:spPr>
            <a:xfrm>
              <a:off x="2999232" y="2724912"/>
              <a:ext cx="2542032" cy="32230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8000"/>
                </a:lnSpc>
              </a:pPr>
              <a:r>
                <a:rPr sz="1000" b="1">
                  <a:solidFill>
                    <a:srgbClr val="262626"/>
                  </a:solidFill>
                  <a:latin typeface="Meiryo UI"/>
                  <a:ea typeface="Meiryo UI"/>
                </a:rPr>
                <a:t>広告・販促の効果を金額で測る仕組みを作る</a:t>
              </a:r>
            </a:p>
            <a:p>
              <a:pPr>
                <a:lnSpc>
                  <a:spcPct val="108000"/>
                </a:lnSpc>
              </a:pPr>
              <a:r>
                <a:rPr sz="900" b="0">
                  <a:solidFill>
                    <a:srgbClr val="595959"/>
                  </a:solidFill>
                  <a:latin typeface="Meiryo UI"/>
                  <a:ea typeface="Meiryo UI"/>
                </a:rPr>
                <a:t>＝投資ROI可視化基盤（MMM×DCR）</a:t>
              </a:r>
            </a:p>
          </p:txBody>
        </p:sp>
        <p:sp>
          <p:nvSpPr>
            <p:cNvPr id="120" name="Rectangle 45">
              <a:extLst>
                <a:ext uri="{FF2B5EF4-FFF2-40B4-BE49-F238E27FC236}">
                  <a16:creationId xmlns:a16="http://schemas.microsoft.com/office/drawing/2014/main" id="{65A666D1-0ED7-79E4-EC84-61D544DFF340}"/>
                </a:ext>
              </a:extLst>
            </p:cNvPr>
            <p:cNvSpPr/>
            <p:nvPr/>
          </p:nvSpPr>
          <p:spPr>
            <a:xfrm>
              <a:off x="5614416" y="2679192"/>
              <a:ext cx="3383280" cy="52120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21" name="TextBox 46">
              <a:extLst>
                <a:ext uri="{FF2B5EF4-FFF2-40B4-BE49-F238E27FC236}">
                  <a16:creationId xmlns:a16="http://schemas.microsoft.com/office/drawing/2014/main" id="{7EB04009-9535-C1A2-330C-D1DD2492858E}"/>
                </a:ext>
              </a:extLst>
            </p:cNvPr>
            <p:cNvSpPr txBox="1"/>
            <p:nvPr/>
          </p:nvSpPr>
          <p:spPr>
            <a:xfrm>
              <a:off x="5705856" y="2734056"/>
              <a:ext cx="3200400" cy="32971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5000"/>
                </a:lnSpc>
              </a:pPr>
              <a:r>
                <a:rPr sz="1000" b="0">
                  <a:solidFill>
                    <a:srgbClr val="262626"/>
                  </a:solidFill>
                  <a:latin typeface="Meiryo UI"/>
                  <a:ea typeface="Meiryo UI"/>
                </a:rPr>
                <a:t>投資と店頭売上の因果を可視化 ― 全施策の投資判断の基準になる起点</a:t>
              </a:r>
            </a:p>
          </p:txBody>
        </p:sp>
        <p:sp>
          <p:nvSpPr>
            <p:cNvPr id="122" name="Rectangle 47">
              <a:extLst>
                <a:ext uri="{FF2B5EF4-FFF2-40B4-BE49-F238E27FC236}">
                  <a16:creationId xmlns:a16="http://schemas.microsoft.com/office/drawing/2014/main" id="{F7973F7E-7F72-5567-7DE4-9F3A8300D1BD}"/>
                </a:ext>
              </a:extLst>
            </p:cNvPr>
            <p:cNvSpPr/>
            <p:nvPr/>
          </p:nvSpPr>
          <p:spPr>
            <a:xfrm>
              <a:off x="9015984" y="2679192"/>
              <a:ext cx="2697480" cy="521207"/>
            </a:xfrm>
            <a:prstGeom prst="rect">
              <a:avLst/>
            </a:prstGeom>
            <a:solidFill>
              <a:srgbClr val="F2F7F3"/>
            </a:solidFill>
            <a:ln w="63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23" name="TextBox 48">
              <a:extLst>
                <a:ext uri="{FF2B5EF4-FFF2-40B4-BE49-F238E27FC236}">
                  <a16:creationId xmlns:a16="http://schemas.microsoft.com/office/drawing/2014/main" id="{D8A22910-7E80-51AA-FEA8-666EAE3C1E79}"/>
                </a:ext>
              </a:extLst>
            </p:cNvPr>
            <p:cNvSpPr txBox="1"/>
            <p:nvPr/>
          </p:nvSpPr>
          <p:spPr>
            <a:xfrm>
              <a:off x="9107424" y="2734056"/>
              <a:ext cx="2523744" cy="15686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5000"/>
                </a:lnSpc>
              </a:pPr>
              <a:r>
                <a:rPr sz="1000" b="1">
                  <a:solidFill>
                    <a:srgbClr val="0F5E87"/>
                  </a:solidFill>
                  <a:latin typeface="Meiryo UI"/>
                  <a:ea typeface="Meiryo UI"/>
                </a:rPr>
                <a:t>売上寄与可視化率／加重ROAS</a:t>
              </a:r>
            </a:p>
          </p:txBody>
        </p:sp>
        <p:sp>
          <p:nvSpPr>
            <p:cNvPr id="124" name="Rectangle 49">
              <a:extLst>
                <a:ext uri="{FF2B5EF4-FFF2-40B4-BE49-F238E27FC236}">
                  <a16:creationId xmlns:a16="http://schemas.microsoft.com/office/drawing/2014/main" id="{4E57BA93-0B9B-547B-D4BA-1DD9D2156485}"/>
                </a:ext>
              </a:extLst>
            </p:cNvPr>
            <p:cNvSpPr/>
            <p:nvPr/>
          </p:nvSpPr>
          <p:spPr>
            <a:xfrm>
              <a:off x="2304288" y="3236976"/>
              <a:ext cx="3291840" cy="521207"/>
            </a:xfrm>
            <a:prstGeom prst="rect">
              <a:avLst/>
            </a:prstGeom>
            <a:solidFill>
              <a:srgbClr val="F2F7F3"/>
            </a:solidFill>
            <a:ln w="63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25" name="Rectangle 50">
              <a:extLst>
                <a:ext uri="{FF2B5EF4-FFF2-40B4-BE49-F238E27FC236}">
                  <a16:creationId xmlns:a16="http://schemas.microsoft.com/office/drawing/2014/main" id="{A9CBEDAF-6F00-4A85-75B0-16C515F9EB09}"/>
                </a:ext>
              </a:extLst>
            </p:cNvPr>
            <p:cNvSpPr/>
            <p:nvPr/>
          </p:nvSpPr>
          <p:spPr>
            <a:xfrm>
              <a:off x="2377440" y="3355848"/>
              <a:ext cx="548640" cy="274320"/>
            </a:xfrm>
            <a:prstGeom prst="rect">
              <a:avLst/>
            </a:prstGeom>
            <a:solidFill>
              <a:srgbClr val="0F5E8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26" name="TextBox 51">
              <a:extLst>
                <a:ext uri="{FF2B5EF4-FFF2-40B4-BE49-F238E27FC236}">
                  <a16:creationId xmlns:a16="http://schemas.microsoft.com/office/drawing/2014/main" id="{C6CA8892-F457-6DDA-9652-1DB048883A88}"/>
                </a:ext>
              </a:extLst>
            </p:cNvPr>
            <p:cNvSpPr txBox="1"/>
            <p:nvPr/>
          </p:nvSpPr>
          <p:spPr>
            <a:xfrm>
              <a:off x="2395728" y="3392424"/>
              <a:ext cx="512064" cy="16550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sz="1000" b="1">
                  <a:solidFill>
                    <a:srgbClr val="FFFFFF"/>
                  </a:solidFill>
                  <a:latin typeface="Meiryo UI"/>
                  <a:ea typeface="Meiryo UI"/>
                </a:rPr>
                <a:t>B2</a:t>
              </a:r>
            </a:p>
          </p:txBody>
        </p:sp>
        <p:sp>
          <p:nvSpPr>
            <p:cNvPr id="127" name="TextBox 52">
              <a:extLst>
                <a:ext uri="{FF2B5EF4-FFF2-40B4-BE49-F238E27FC236}">
                  <a16:creationId xmlns:a16="http://schemas.microsoft.com/office/drawing/2014/main" id="{1AB5E344-5E06-E628-00DC-F1FFB51ADBAE}"/>
                </a:ext>
              </a:extLst>
            </p:cNvPr>
            <p:cNvSpPr txBox="1"/>
            <p:nvPr/>
          </p:nvSpPr>
          <p:spPr>
            <a:xfrm>
              <a:off x="2999232" y="3282696"/>
              <a:ext cx="2542032" cy="50009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8000"/>
                </a:lnSpc>
              </a:pPr>
              <a:r>
                <a:rPr sz="1000" b="1">
                  <a:solidFill>
                    <a:srgbClr val="262626"/>
                  </a:solidFill>
                  <a:latin typeface="Meiryo UI"/>
                  <a:ea typeface="Meiryo UI"/>
                </a:rPr>
                <a:t>小売アプリ・サイト広告の運用を自社の手に取り戻す</a:t>
              </a:r>
            </a:p>
            <a:p>
              <a:pPr>
                <a:lnSpc>
                  <a:spcPct val="108000"/>
                </a:lnSpc>
              </a:pPr>
              <a:r>
                <a:rPr sz="900" b="0">
                  <a:solidFill>
                    <a:srgbClr val="595959"/>
                  </a:solidFill>
                  <a:latin typeface="Meiryo UI"/>
                  <a:ea typeface="Meiryo UI"/>
                </a:rPr>
                <a:t>＝リテールメディア投資の内製化</a:t>
              </a:r>
            </a:p>
          </p:txBody>
        </p:sp>
        <p:sp>
          <p:nvSpPr>
            <p:cNvPr id="128" name="Rectangle 53">
              <a:extLst>
                <a:ext uri="{FF2B5EF4-FFF2-40B4-BE49-F238E27FC236}">
                  <a16:creationId xmlns:a16="http://schemas.microsoft.com/office/drawing/2014/main" id="{88CC7925-03CA-77CA-5905-2176479988AE}"/>
                </a:ext>
              </a:extLst>
            </p:cNvPr>
            <p:cNvSpPr/>
            <p:nvPr/>
          </p:nvSpPr>
          <p:spPr>
            <a:xfrm>
              <a:off x="5614416" y="3236976"/>
              <a:ext cx="3383280" cy="52120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29" name="TextBox 54">
              <a:extLst>
                <a:ext uri="{FF2B5EF4-FFF2-40B4-BE49-F238E27FC236}">
                  <a16:creationId xmlns:a16="http://schemas.microsoft.com/office/drawing/2014/main" id="{C16E5DC4-E398-C986-67C8-702F5F36CDB9}"/>
                </a:ext>
              </a:extLst>
            </p:cNvPr>
            <p:cNvSpPr txBox="1"/>
            <p:nvPr/>
          </p:nvSpPr>
          <p:spPr>
            <a:xfrm>
              <a:off x="5705856" y="3291840"/>
              <a:ext cx="3200400" cy="15686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5000"/>
                </a:lnSpc>
              </a:pPr>
              <a:r>
                <a:rPr sz="1000" b="0">
                  <a:solidFill>
                    <a:srgbClr val="262626"/>
                  </a:solidFill>
                  <a:latin typeface="Meiryo UI"/>
                  <a:ea typeface="Meiryo UI"/>
                </a:rPr>
                <a:t>その場限りの広告購入をやめ、一元管理・自社運用で手数料と効果の薄い出稿を削減</a:t>
              </a:r>
            </a:p>
          </p:txBody>
        </p:sp>
        <p:sp>
          <p:nvSpPr>
            <p:cNvPr id="130" name="Rectangle 55">
              <a:extLst>
                <a:ext uri="{FF2B5EF4-FFF2-40B4-BE49-F238E27FC236}">
                  <a16:creationId xmlns:a16="http://schemas.microsoft.com/office/drawing/2014/main" id="{7A2C88B6-E9A5-16CF-DD0D-D99726FE5039}"/>
                </a:ext>
              </a:extLst>
            </p:cNvPr>
            <p:cNvSpPr/>
            <p:nvPr/>
          </p:nvSpPr>
          <p:spPr>
            <a:xfrm>
              <a:off x="9015984" y="3236976"/>
              <a:ext cx="2697480" cy="521207"/>
            </a:xfrm>
            <a:prstGeom prst="rect">
              <a:avLst/>
            </a:prstGeom>
            <a:solidFill>
              <a:srgbClr val="F2F7F3"/>
            </a:solidFill>
            <a:ln w="63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31" name="TextBox 56">
              <a:extLst>
                <a:ext uri="{FF2B5EF4-FFF2-40B4-BE49-F238E27FC236}">
                  <a16:creationId xmlns:a16="http://schemas.microsoft.com/office/drawing/2014/main" id="{40214EBA-88D1-8D1D-8BD7-CF19EB99AF81}"/>
                </a:ext>
              </a:extLst>
            </p:cNvPr>
            <p:cNvSpPr txBox="1"/>
            <p:nvPr/>
          </p:nvSpPr>
          <p:spPr>
            <a:xfrm>
              <a:off x="9107424" y="3291840"/>
              <a:ext cx="2523744" cy="32971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5000"/>
                </a:lnSpc>
              </a:pPr>
              <a:r>
                <a:rPr sz="1000" b="1">
                  <a:solidFill>
                    <a:srgbClr val="0F5E87"/>
                  </a:solidFill>
                  <a:latin typeface="Meiryo UI"/>
                  <a:ea typeface="Meiryo UI"/>
                </a:rPr>
                <a:t>内製化率（P&amp;G比 約85億円/年削減の先行例）</a:t>
              </a:r>
            </a:p>
          </p:txBody>
        </p:sp>
        <p:sp>
          <p:nvSpPr>
            <p:cNvPr id="132" name="Rectangle 57">
              <a:extLst>
                <a:ext uri="{FF2B5EF4-FFF2-40B4-BE49-F238E27FC236}">
                  <a16:creationId xmlns:a16="http://schemas.microsoft.com/office/drawing/2014/main" id="{1D45B9C5-5AFF-31F1-A66A-2B596F54A7E8}"/>
                </a:ext>
              </a:extLst>
            </p:cNvPr>
            <p:cNvSpPr/>
            <p:nvPr/>
          </p:nvSpPr>
          <p:spPr>
            <a:xfrm>
              <a:off x="320040" y="3803904"/>
              <a:ext cx="1965960" cy="1078992"/>
            </a:xfrm>
            <a:prstGeom prst="rect">
              <a:avLst/>
            </a:prstGeom>
            <a:solidFill>
              <a:srgbClr val="008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33" name="TextBox 58">
              <a:extLst>
                <a:ext uri="{FF2B5EF4-FFF2-40B4-BE49-F238E27FC236}">
                  <a16:creationId xmlns:a16="http://schemas.microsoft.com/office/drawing/2014/main" id="{572F5493-DF68-3D37-CB64-F50854AB205A}"/>
                </a:ext>
              </a:extLst>
            </p:cNvPr>
            <p:cNvSpPr txBox="1"/>
            <p:nvPr/>
          </p:nvSpPr>
          <p:spPr>
            <a:xfrm>
              <a:off x="402336" y="4032504"/>
              <a:ext cx="1810512" cy="36133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1050" b="1">
                  <a:solidFill>
                    <a:srgbClr val="FFFFFF"/>
                  </a:solidFill>
                  <a:latin typeface="Meiryo UI"/>
                  <a:ea typeface="Meiryo UI"/>
                </a:rPr>
                <a:t>T3 商談価値
（臨床データで裏付ける提案）</a:t>
              </a:r>
            </a:p>
          </p:txBody>
        </p:sp>
        <p:sp>
          <p:nvSpPr>
            <p:cNvPr id="134" name="Rectangle 59">
              <a:extLst>
                <a:ext uri="{FF2B5EF4-FFF2-40B4-BE49-F238E27FC236}">
                  <a16:creationId xmlns:a16="http://schemas.microsoft.com/office/drawing/2014/main" id="{55BAD8DB-ADB0-B469-972C-F6692AE05C5A}"/>
                </a:ext>
              </a:extLst>
            </p:cNvPr>
            <p:cNvSpPr/>
            <p:nvPr/>
          </p:nvSpPr>
          <p:spPr>
            <a:xfrm>
              <a:off x="2304288" y="3803904"/>
              <a:ext cx="3291840" cy="521207"/>
            </a:xfrm>
            <a:prstGeom prst="rect">
              <a:avLst/>
            </a:prstGeom>
            <a:solidFill>
              <a:srgbClr val="F2F7F3"/>
            </a:solidFill>
            <a:ln w="63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35" name="Rectangle 60">
              <a:extLst>
                <a:ext uri="{FF2B5EF4-FFF2-40B4-BE49-F238E27FC236}">
                  <a16:creationId xmlns:a16="http://schemas.microsoft.com/office/drawing/2014/main" id="{6CBF7786-A9FB-1350-D631-4D535E3F9F90}"/>
                </a:ext>
              </a:extLst>
            </p:cNvPr>
            <p:cNvSpPr/>
            <p:nvPr/>
          </p:nvSpPr>
          <p:spPr>
            <a:xfrm>
              <a:off x="2377440" y="3922776"/>
              <a:ext cx="548640" cy="274320"/>
            </a:xfrm>
            <a:prstGeom prst="rect">
              <a:avLst/>
            </a:prstGeom>
            <a:solidFill>
              <a:srgbClr val="008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36" name="TextBox 61">
              <a:extLst>
                <a:ext uri="{FF2B5EF4-FFF2-40B4-BE49-F238E27FC236}">
                  <a16:creationId xmlns:a16="http://schemas.microsoft.com/office/drawing/2014/main" id="{DD3AC821-0B45-4593-4F1A-48F33BC8E5B6}"/>
                </a:ext>
              </a:extLst>
            </p:cNvPr>
            <p:cNvSpPr txBox="1"/>
            <p:nvPr/>
          </p:nvSpPr>
          <p:spPr>
            <a:xfrm>
              <a:off x="2395728" y="3959352"/>
              <a:ext cx="512064" cy="16550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sz="1000" b="1">
                  <a:solidFill>
                    <a:srgbClr val="FFFFFF"/>
                  </a:solidFill>
                  <a:latin typeface="Meiryo UI"/>
                  <a:ea typeface="Meiryo UI"/>
                </a:rPr>
                <a:t>C1★</a:t>
              </a:r>
            </a:p>
          </p:txBody>
        </p:sp>
        <p:sp>
          <p:nvSpPr>
            <p:cNvPr id="137" name="TextBox 62">
              <a:extLst>
                <a:ext uri="{FF2B5EF4-FFF2-40B4-BE49-F238E27FC236}">
                  <a16:creationId xmlns:a16="http://schemas.microsoft.com/office/drawing/2014/main" id="{EB8E2BD0-BC7B-1221-4FF5-69F991965285}"/>
                </a:ext>
              </a:extLst>
            </p:cNvPr>
            <p:cNvSpPr txBox="1"/>
            <p:nvPr/>
          </p:nvSpPr>
          <p:spPr>
            <a:xfrm>
              <a:off x="2999232" y="3849624"/>
              <a:ext cx="2542032" cy="50009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8000"/>
                </a:lnSpc>
              </a:pPr>
              <a:r>
                <a:rPr sz="1000" b="1">
                  <a:solidFill>
                    <a:srgbClr val="262626"/>
                  </a:solidFill>
                  <a:latin typeface="Meiryo UI"/>
                  <a:ea typeface="Meiryo UI"/>
                </a:rPr>
                <a:t>研究・臨床データを、商談で使える数字に自動変換する</a:t>
              </a:r>
            </a:p>
            <a:p>
              <a:pPr>
                <a:lnSpc>
                  <a:spcPct val="108000"/>
                </a:lnSpc>
              </a:pPr>
              <a:r>
                <a:rPr sz="900" b="0">
                  <a:solidFill>
                    <a:srgbClr val="595959"/>
                  </a:solidFill>
                  <a:latin typeface="Meiryo UI"/>
                  <a:ea typeface="Meiryo UI"/>
                </a:rPr>
                <a:t>＝臨床データのLTV・炭素効率変換</a:t>
              </a:r>
            </a:p>
          </p:txBody>
        </p:sp>
        <p:sp>
          <p:nvSpPr>
            <p:cNvPr id="138" name="Rectangle 63">
              <a:extLst>
                <a:ext uri="{FF2B5EF4-FFF2-40B4-BE49-F238E27FC236}">
                  <a16:creationId xmlns:a16="http://schemas.microsoft.com/office/drawing/2014/main" id="{DD4E214B-F98A-27E2-E7D8-014D61831F8F}"/>
                </a:ext>
              </a:extLst>
            </p:cNvPr>
            <p:cNvSpPr/>
            <p:nvPr/>
          </p:nvSpPr>
          <p:spPr>
            <a:xfrm>
              <a:off x="5614416" y="3803904"/>
              <a:ext cx="3383280" cy="52120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39" name="TextBox 64">
              <a:extLst>
                <a:ext uri="{FF2B5EF4-FFF2-40B4-BE49-F238E27FC236}">
                  <a16:creationId xmlns:a16="http://schemas.microsoft.com/office/drawing/2014/main" id="{DF971665-4371-FA02-E2D0-79F9328F30C1}"/>
                </a:ext>
              </a:extLst>
            </p:cNvPr>
            <p:cNvSpPr txBox="1"/>
            <p:nvPr/>
          </p:nvSpPr>
          <p:spPr>
            <a:xfrm>
              <a:off x="5705856" y="3858768"/>
              <a:ext cx="3200400" cy="32971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5000"/>
                </a:lnSpc>
              </a:pPr>
              <a:r>
                <a:rPr sz="1000" b="0">
                  <a:solidFill>
                    <a:srgbClr val="262626"/>
                  </a:solidFill>
                  <a:latin typeface="Meiryo UI"/>
                  <a:ea typeface="Meiryo UI"/>
                </a:rPr>
                <a:t>バイヤーが本部監査を突破できる数値根拠へ自動変換し商談当日に供給</a:t>
              </a:r>
            </a:p>
          </p:txBody>
        </p:sp>
        <p:sp>
          <p:nvSpPr>
            <p:cNvPr id="140" name="Rectangle 65">
              <a:extLst>
                <a:ext uri="{FF2B5EF4-FFF2-40B4-BE49-F238E27FC236}">
                  <a16:creationId xmlns:a16="http://schemas.microsoft.com/office/drawing/2014/main" id="{168BF4D2-F490-F1B6-E1AE-F2B0AB255206}"/>
                </a:ext>
              </a:extLst>
            </p:cNvPr>
            <p:cNvSpPr/>
            <p:nvPr/>
          </p:nvSpPr>
          <p:spPr>
            <a:xfrm>
              <a:off x="9015984" y="3803904"/>
              <a:ext cx="2697480" cy="521207"/>
            </a:xfrm>
            <a:prstGeom prst="rect">
              <a:avLst/>
            </a:prstGeom>
            <a:solidFill>
              <a:srgbClr val="F2F7F3"/>
            </a:solidFill>
            <a:ln w="63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41" name="TextBox 66">
              <a:extLst>
                <a:ext uri="{FF2B5EF4-FFF2-40B4-BE49-F238E27FC236}">
                  <a16:creationId xmlns:a16="http://schemas.microsoft.com/office/drawing/2014/main" id="{0B547B66-D3C4-08A1-E711-7524129923F9}"/>
                </a:ext>
              </a:extLst>
            </p:cNvPr>
            <p:cNvSpPr txBox="1"/>
            <p:nvPr/>
          </p:nvSpPr>
          <p:spPr>
            <a:xfrm>
              <a:off x="9107424" y="3858768"/>
              <a:ext cx="2523744" cy="15686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5000"/>
                </a:lnSpc>
              </a:pPr>
              <a:r>
                <a:rPr sz="1000" b="1">
                  <a:solidFill>
                    <a:srgbClr val="0F5E87"/>
                  </a:solidFill>
                  <a:latin typeface="Meiryo UI"/>
                  <a:ea typeface="Meiryo UI"/>
                </a:rPr>
                <a:t>提案採用率／審査突破率</a:t>
              </a:r>
            </a:p>
          </p:txBody>
        </p:sp>
        <p:sp>
          <p:nvSpPr>
            <p:cNvPr id="142" name="Rectangle 67">
              <a:extLst>
                <a:ext uri="{FF2B5EF4-FFF2-40B4-BE49-F238E27FC236}">
                  <a16:creationId xmlns:a16="http://schemas.microsoft.com/office/drawing/2014/main" id="{341D8A07-10C4-AFEA-08C9-CF8F659FDC84}"/>
                </a:ext>
              </a:extLst>
            </p:cNvPr>
            <p:cNvSpPr/>
            <p:nvPr/>
          </p:nvSpPr>
          <p:spPr>
            <a:xfrm>
              <a:off x="2304288" y="4361688"/>
              <a:ext cx="3291840" cy="521207"/>
            </a:xfrm>
            <a:prstGeom prst="rect">
              <a:avLst/>
            </a:prstGeom>
            <a:solidFill>
              <a:srgbClr val="F2F7F3"/>
            </a:solidFill>
            <a:ln w="63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43" name="Rectangle 68">
              <a:extLst>
                <a:ext uri="{FF2B5EF4-FFF2-40B4-BE49-F238E27FC236}">
                  <a16:creationId xmlns:a16="http://schemas.microsoft.com/office/drawing/2014/main" id="{74EC504B-EC2A-C2CA-4BDF-CAE8B245DD86}"/>
                </a:ext>
              </a:extLst>
            </p:cNvPr>
            <p:cNvSpPr/>
            <p:nvPr/>
          </p:nvSpPr>
          <p:spPr>
            <a:xfrm>
              <a:off x="2377440" y="4480560"/>
              <a:ext cx="548640" cy="274320"/>
            </a:xfrm>
            <a:prstGeom prst="rect">
              <a:avLst/>
            </a:prstGeom>
            <a:solidFill>
              <a:srgbClr val="008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44" name="TextBox 69">
              <a:extLst>
                <a:ext uri="{FF2B5EF4-FFF2-40B4-BE49-F238E27FC236}">
                  <a16:creationId xmlns:a16="http://schemas.microsoft.com/office/drawing/2014/main" id="{FF562F95-1869-D316-C40A-7871D3CC202D}"/>
                </a:ext>
              </a:extLst>
            </p:cNvPr>
            <p:cNvSpPr txBox="1"/>
            <p:nvPr/>
          </p:nvSpPr>
          <p:spPr>
            <a:xfrm>
              <a:off x="2395728" y="4517136"/>
              <a:ext cx="512064" cy="16550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sz="1000" b="1">
                  <a:solidFill>
                    <a:srgbClr val="FFFFFF"/>
                  </a:solidFill>
                  <a:latin typeface="Meiryo UI"/>
                  <a:ea typeface="Meiryo UI"/>
                </a:rPr>
                <a:t>C2</a:t>
              </a:r>
            </a:p>
          </p:txBody>
        </p:sp>
        <p:sp>
          <p:nvSpPr>
            <p:cNvPr id="145" name="TextBox 70">
              <a:extLst>
                <a:ext uri="{FF2B5EF4-FFF2-40B4-BE49-F238E27FC236}">
                  <a16:creationId xmlns:a16="http://schemas.microsoft.com/office/drawing/2014/main" id="{AD875D53-5252-3938-2D0D-824A85DD71A5}"/>
                </a:ext>
              </a:extLst>
            </p:cNvPr>
            <p:cNvSpPr txBox="1"/>
            <p:nvPr/>
          </p:nvSpPr>
          <p:spPr>
            <a:xfrm>
              <a:off x="2999232" y="4407408"/>
              <a:ext cx="2542032" cy="50009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8000"/>
                </a:lnSpc>
              </a:pPr>
              <a:r>
                <a:rPr sz="1000" b="1">
                  <a:solidFill>
                    <a:srgbClr val="262626"/>
                  </a:solidFill>
                  <a:latin typeface="Meiryo UI"/>
                  <a:ea typeface="Meiryo UI"/>
                </a:rPr>
                <a:t>成功した商談を型にして、誰でも再現できるようにする</a:t>
              </a:r>
            </a:p>
            <a:p>
              <a:pPr>
                <a:lnSpc>
                  <a:spcPct val="108000"/>
                </a:lnSpc>
              </a:pPr>
              <a:r>
                <a:rPr sz="900" b="0">
                  <a:solidFill>
                    <a:srgbClr val="595959"/>
                  </a:solidFill>
                  <a:latin typeface="Meiryo UI"/>
                  <a:ea typeface="Meiryo UI"/>
                </a:rPr>
                <a:t>＝ロジック提案の標準化</a:t>
              </a:r>
            </a:p>
          </p:txBody>
        </p:sp>
        <p:sp>
          <p:nvSpPr>
            <p:cNvPr id="146" name="Rectangle 71">
              <a:extLst>
                <a:ext uri="{FF2B5EF4-FFF2-40B4-BE49-F238E27FC236}">
                  <a16:creationId xmlns:a16="http://schemas.microsoft.com/office/drawing/2014/main" id="{E0B08363-FC5B-4E3B-F838-1592361DACE8}"/>
                </a:ext>
              </a:extLst>
            </p:cNvPr>
            <p:cNvSpPr/>
            <p:nvPr/>
          </p:nvSpPr>
          <p:spPr>
            <a:xfrm>
              <a:off x="5614416" y="4361688"/>
              <a:ext cx="3383280" cy="52120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47" name="TextBox 72">
              <a:extLst>
                <a:ext uri="{FF2B5EF4-FFF2-40B4-BE49-F238E27FC236}">
                  <a16:creationId xmlns:a16="http://schemas.microsoft.com/office/drawing/2014/main" id="{9598739F-C23E-5BA6-945E-7011DDFBDE48}"/>
                </a:ext>
              </a:extLst>
            </p:cNvPr>
            <p:cNvSpPr txBox="1"/>
            <p:nvPr/>
          </p:nvSpPr>
          <p:spPr>
            <a:xfrm>
              <a:off x="5705856" y="4416552"/>
              <a:ext cx="3200400" cy="15686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5000"/>
                </a:lnSpc>
              </a:pPr>
              <a:r>
                <a:rPr sz="1000" b="0">
                  <a:solidFill>
                    <a:srgbClr val="262626"/>
                  </a:solidFill>
                  <a:latin typeface="Meiryo UI"/>
                  <a:ea typeface="Meiryo UI"/>
                </a:rPr>
                <a:t>ベテランの暗黙知を形式知化し、提案の質を人に依存させない</a:t>
              </a:r>
            </a:p>
          </p:txBody>
        </p:sp>
        <p:sp>
          <p:nvSpPr>
            <p:cNvPr id="148" name="Rectangle 73">
              <a:extLst>
                <a:ext uri="{FF2B5EF4-FFF2-40B4-BE49-F238E27FC236}">
                  <a16:creationId xmlns:a16="http://schemas.microsoft.com/office/drawing/2014/main" id="{F51EFDDF-7D0F-1826-2983-C0F23936F8D0}"/>
                </a:ext>
              </a:extLst>
            </p:cNvPr>
            <p:cNvSpPr/>
            <p:nvPr/>
          </p:nvSpPr>
          <p:spPr>
            <a:xfrm>
              <a:off x="9015984" y="4361688"/>
              <a:ext cx="2697480" cy="521207"/>
            </a:xfrm>
            <a:prstGeom prst="rect">
              <a:avLst/>
            </a:prstGeom>
            <a:solidFill>
              <a:srgbClr val="F2F7F3"/>
            </a:solidFill>
            <a:ln w="63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49" name="TextBox 74">
              <a:extLst>
                <a:ext uri="{FF2B5EF4-FFF2-40B4-BE49-F238E27FC236}">
                  <a16:creationId xmlns:a16="http://schemas.microsoft.com/office/drawing/2014/main" id="{BD959D7F-1EF4-7585-322D-33E0B820366F}"/>
                </a:ext>
              </a:extLst>
            </p:cNvPr>
            <p:cNvSpPr txBox="1"/>
            <p:nvPr/>
          </p:nvSpPr>
          <p:spPr>
            <a:xfrm>
              <a:off x="9107424" y="4416552"/>
              <a:ext cx="2523744" cy="15686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5000"/>
                </a:lnSpc>
              </a:pPr>
              <a:r>
                <a:rPr sz="1000" b="1">
                  <a:solidFill>
                    <a:srgbClr val="0F5E87"/>
                  </a:solidFill>
                  <a:latin typeface="Meiryo UI"/>
                  <a:ea typeface="Meiryo UI"/>
                </a:rPr>
                <a:t>テンプレ活用率／標準提案採用率</a:t>
              </a:r>
            </a:p>
          </p:txBody>
        </p:sp>
        <p:sp>
          <p:nvSpPr>
            <p:cNvPr id="150" name="Rectangle 75">
              <a:extLst>
                <a:ext uri="{FF2B5EF4-FFF2-40B4-BE49-F238E27FC236}">
                  <a16:creationId xmlns:a16="http://schemas.microsoft.com/office/drawing/2014/main" id="{06755406-2A6B-79EC-A6FA-39B512DF793F}"/>
                </a:ext>
              </a:extLst>
            </p:cNvPr>
            <p:cNvSpPr/>
            <p:nvPr/>
          </p:nvSpPr>
          <p:spPr>
            <a:xfrm>
              <a:off x="320040" y="4928616"/>
              <a:ext cx="1965960" cy="1078992"/>
            </a:xfrm>
            <a:prstGeom prst="rect">
              <a:avLst/>
            </a:prstGeom>
            <a:solidFill>
              <a:srgbClr val="B87A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51" name="TextBox 76">
              <a:extLst>
                <a:ext uri="{FF2B5EF4-FFF2-40B4-BE49-F238E27FC236}">
                  <a16:creationId xmlns:a16="http://schemas.microsoft.com/office/drawing/2014/main" id="{7AB09687-2D59-26AB-C16C-05715992A1A3}"/>
                </a:ext>
              </a:extLst>
            </p:cNvPr>
            <p:cNvSpPr txBox="1"/>
            <p:nvPr/>
          </p:nvSpPr>
          <p:spPr>
            <a:xfrm>
              <a:off x="402336" y="5157216"/>
              <a:ext cx="1810512" cy="36133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1050" b="1">
                  <a:solidFill>
                    <a:srgbClr val="FFFFFF"/>
                  </a:solidFill>
                  <a:latin typeface="Meiryo UI"/>
                  <a:ea typeface="Meiryo UI"/>
                </a:rPr>
                <a:t>T4 組織・生産性
（業務ゼロ化×回収物流）</a:t>
              </a:r>
            </a:p>
          </p:txBody>
        </p:sp>
        <p:sp>
          <p:nvSpPr>
            <p:cNvPr id="152" name="Rectangle 77">
              <a:extLst>
                <a:ext uri="{FF2B5EF4-FFF2-40B4-BE49-F238E27FC236}">
                  <a16:creationId xmlns:a16="http://schemas.microsoft.com/office/drawing/2014/main" id="{FC1D8370-6EC2-AEC6-3529-65420AC0B587}"/>
                </a:ext>
              </a:extLst>
            </p:cNvPr>
            <p:cNvSpPr/>
            <p:nvPr/>
          </p:nvSpPr>
          <p:spPr>
            <a:xfrm>
              <a:off x="2304288" y="4928616"/>
              <a:ext cx="3291840" cy="521207"/>
            </a:xfrm>
            <a:prstGeom prst="rect">
              <a:avLst/>
            </a:prstGeom>
            <a:solidFill>
              <a:srgbClr val="F2F7F3"/>
            </a:solidFill>
            <a:ln w="63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53" name="Rectangle 78">
              <a:extLst>
                <a:ext uri="{FF2B5EF4-FFF2-40B4-BE49-F238E27FC236}">
                  <a16:creationId xmlns:a16="http://schemas.microsoft.com/office/drawing/2014/main" id="{D676E624-4993-4413-0939-0D9F7848DFD5}"/>
                </a:ext>
              </a:extLst>
            </p:cNvPr>
            <p:cNvSpPr/>
            <p:nvPr/>
          </p:nvSpPr>
          <p:spPr>
            <a:xfrm>
              <a:off x="2377440" y="5047488"/>
              <a:ext cx="548640" cy="274320"/>
            </a:xfrm>
            <a:prstGeom prst="rect">
              <a:avLst/>
            </a:prstGeom>
            <a:solidFill>
              <a:srgbClr val="B87A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54" name="TextBox 79">
              <a:extLst>
                <a:ext uri="{FF2B5EF4-FFF2-40B4-BE49-F238E27FC236}">
                  <a16:creationId xmlns:a16="http://schemas.microsoft.com/office/drawing/2014/main" id="{146582DB-B561-3F50-2B19-0192BC5BF8EC}"/>
                </a:ext>
              </a:extLst>
            </p:cNvPr>
            <p:cNvSpPr txBox="1"/>
            <p:nvPr/>
          </p:nvSpPr>
          <p:spPr>
            <a:xfrm>
              <a:off x="2395728" y="5084064"/>
              <a:ext cx="512064" cy="16550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sz="1000" b="1">
                  <a:solidFill>
                    <a:srgbClr val="FFFFFF"/>
                  </a:solidFill>
                  <a:latin typeface="Meiryo UI"/>
                  <a:ea typeface="Meiryo UI"/>
                </a:rPr>
                <a:t>D1★</a:t>
              </a:r>
            </a:p>
          </p:txBody>
        </p:sp>
        <p:sp>
          <p:nvSpPr>
            <p:cNvPr id="155" name="TextBox 80">
              <a:extLst>
                <a:ext uri="{FF2B5EF4-FFF2-40B4-BE49-F238E27FC236}">
                  <a16:creationId xmlns:a16="http://schemas.microsoft.com/office/drawing/2014/main" id="{7B89F223-56A0-4492-0773-CE68369B890F}"/>
                </a:ext>
              </a:extLst>
            </p:cNvPr>
            <p:cNvSpPr txBox="1"/>
            <p:nvPr/>
          </p:nvSpPr>
          <p:spPr>
            <a:xfrm>
              <a:off x="2999232" y="4974336"/>
              <a:ext cx="2542032" cy="50009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8000"/>
                </a:lnSpc>
              </a:pPr>
              <a:r>
                <a:rPr sz="1000" b="1">
                  <a:solidFill>
                    <a:srgbClr val="262626"/>
                  </a:solidFill>
                  <a:latin typeface="Meiryo UI"/>
                  <a:ea typeface="Meiryo UI"/>
                </a:rPr>
                <a:t>資料作成・集計をAIで自動化し、商談の時間を生み出す</a:t>
              </a:r>
            </a:p>
            <a:p>
              <a:pPr>
                <a:lnSpc>
                  <a:spcPct val="108000"/>
                </a:lnSpc>
              </a:pPr>
              <a:r>
                <a:rPr sz="900" b="0">
                  <a:solidFill>
                    <a:srgbClr val="595959"/>
                  </a:solidFill>
                  <a:latin typeface="Meiryo UI"/>
                  <a:ea typeface="Meiryo UI"/>
                </a:rPr>
                <a:t>＝Input業務ゼロ化（生成AI＋TPM）</a:t>
              </a:r>
            </a:p>
          </p:txBody>
        </p:sp>
        <p:sp>
          <p:nvSpPr>
            <p:cNvPr id="156" name="Rectangle 81">
              <a:extLst>
                <a:ext uri="{FF2B5EF4-FFF2-40B4-BE49-F238E27FC236}">
                  <a16:creationId xmlns:a16="http://schemas.microsoft.com/office/drawing/2014/main" id="{6D78857F-C8DD-A305-7BC1-C5803D04CBBA}"/>
                </a:ext>
              </a:extLst>
            </p:cNvPr>
            <p:cNvSpPr/>
            <p:nvPr/>
          </p:nvSpPr>
          <p:spPr>
            <a:xfrm>
              <a:off x="5614416" y="4928616"/>
              <a:ext cx="3383280" cy="52120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57" name="TextBox 82">
              <a:extLst>
                <a:ext uri="{FF2B5EF4-FFF2-40B4-BE49-F238E27FC236}">
                  <a16:creationId xmlns:a16="http://schemas.microsoft.com/office/drawing/2014/main" id="{994234C2-011C-4AF5-1DC4-7D88D5D2E993}"/>
                </a:ext>
              </a:extLst>
            </p:cNvPr>
            <p:cNvSpPr txBox="1"/>
            <p:nvPr/>
          </p:nvSpPr>
          <p:spPr>
            <a:xfrm>
              <a:off x="5705856" y="4983480"/>
              <a:ext cx="3200400" cy="32971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5000"/>
                </a:lnSpc>
              </a:pPr>
              <a:r>
                <a:rPr sz="1000" b="0">
                  <a:solidFill>
                    <a:srgbClr val="262626"/>
                  </a:solidFill>
                  <a:latin typeface="Meiryo UI"/>
                  <a:ea typeface="Meiryo UI"/>
                </a:rPr>
                <a:t>資料・集計の事務時間を構造的に削減し、時間を商談・共同設計へ</a:t>
              </a:r>
            </a:p>
          </p:txBody>
        </p:sp>
        <p:sp>
          <p:nvSpPr>
            <p:cNvPr id="158" name="Rectangle 83">
              <a:extLst>
                <a:ext uri="{FF2B5EF4-FFF2-40B4-BE49-F238E27FC236}">
                  <a16:creationId xmlns:a16="http://schemas.microsoft.com/office/drawing/2014/main" id="{CCDB6A6C-126E-5E63-0577-387EF658C044}"/>
                </a:ext>
              </a:extLst>
            </p:cNvPr>
            <p:cNvSpPr/>
            <p:nvPr/>
          </p:nvSpPr>
          <p:spPr>
            <a:xfrm>
              <a:off x="9015984" y="4928616"/>
              <a:ext cx="2697480" cy="521207"/>
            </a:xfrm>
            <a:prstGeom prst="rect">
              <a:avLst/>
            </a:prstGeom>
            <a:solidFill>
              <a:srgbClr val="F2F7F3"/>
            </a:solidFill>
            <a:ln w="63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59" name="TextBox 84">
              <a:extLst>
                <a:ext uri="{FF2B5EF4-FFF2-40B4-BE49-F238E27FC236}">
                  <a16:creationId xmlns:a16="http://schemas.microsoft.com/office/drawing/2014/main" id="{3E085CC3-C099-1526-F382-81C9503105C3}"/>
                </a:ext>
              </a:extLst>
            </p:cNvPr>
            <p:cNvSpPr txBox="1"/>
            <p:nvPr/>
          </p:nvSpPr>
          <p:spPr>
            <a:xfrm>
              <a:off x="9107424" y="4983480"/>
              <a:ext cx="2523744" cy="15686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5000"/>
                </a:lnSpc>
              </a:pPr>
              <a:r>
                <a:rPr sz="1000" b="1">
                  <a:solidFill>
                    <a:srgbClr val="0F5E87"/>
                  </a:solidFill>
                  <a:latin typeface="Meiryo UI"/>
                  <a:ea typeface="Meiryo UI"/>
                </a:rPr>
                <a:t>事務時間削減率／対P&amp;G格差 7.6倍→半減</a:t>
              </a:r>
            </a:p>
          </p:txBody>
        </p:sp>
        <p:sp>
          <p:nvSpPr>
            <p:cNvPr id="160" name="Rectangle 85">
              <a:extLst>
                <a:ext uri="{FF2B5EF4-FFF2-40B4-BE49-F238E27FC236}">
                  <a16:creationId xmlns:a16="http://schemas.microsoft.com/office/drawing/2014/main" id="{91A372EA-AA9A-7454-71CD-8A1F8B5DF6C4}"/>
                </a:ext>
              </a:extLst>
            </p:cNvPr>
            <p:cNvSpPr/>
            <p:nvPr/>
          </p:nvSpPr>
          <p:spPr>
            <a:xfrm>
              <a:off x="2304288" y="5486400"/>
              <a:ext cx="3291840" cy="521207"/>
            </a:xfrm>
            <a:prstGeom prst="rect">
              <a:avLst/>
            </a:prstGeom>
            <a:solidFill>
              <a:srgbClr val="F2F7F3"/>
            </a:solidFill>
            <a:ln w="63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61" name="Rectangle 86">
              <a:extLst>
                <a:ext uri="{FF2B5EF4-FFF2-40B4-BE49-F238E27FC236}">
                  <a16:creationId xmlns:a16="http://schemas.microsoft.com/office/drawing/2014/main" id="{303BC651-C63E-132B-7C60-E97F5D5609DF}"/>
                </a:ext>
              </a:extLst>
            </p:cNvPr>
            <p:cNvSpPr/>
            <p:nvPr/>
          </p:nvSpPr>
          <p:spPr>
            <a:xfrm>
              <a:off x="2377440" y="5605272"/>
              <a:ext cx="548640" cy="274320"/>
            </a:xfrm>
            <a:prstGeom prst="rect">
              <a:avLst/>
            </a:prstGeom>
            <a:solidFill>
              <a:srgbClr val="B87A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62" name="TextBox 87">
              <a:extLst>
                <a:ext uri="{FF2B5EF4-FFF2-40B4-BE49-F238E27FC236}">
                  <a16:creationId xmlns:a16="http://schemas.microsoft.com/office/drawing/2014/main" id="{1DF44897-F00A-3DE6-8F7D-9D0567EEB519}"/>
                </a:ext>
              </a:extLst>
            </p:cNvPr>
            <p:cNvSpPr txBox="1"/>
            <p:nvPr/>
          </p:nvSpPr>
          <p:spPr>
            <a:xfrm>
              <a:off x="2395728" y="5641848"/>
              <a:ext cx="512064" cy="16550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sz="1000" b="1">
                  <a:solidFill>
                    <a:srgbClr val="FFFFFF"/>
                  </a:solidFill>
                  <a:latin typeface="Meiryo UI"/>
                  <a:ea typeface="Meiryo UI"/>
                </a:rPr>
                <a:t>D2</a:t>
              </a:r>
            </a:p>
          </p:txBody>
        </p:sp>
        <p:sp>
          <p:nvSpPr>
            <p:cNvPr id="163" name="TextBox 88">
              <a:extLst>
                <a:ext uri="{FF2B5EF4-FFF2-40B4-BE49-F238E27FC236}">
                  <a16:creationId xmlns:a16="http://schemas.microsoft.com/office/drawing/2014/main" id="{8243B717-F8D3-1A98-459A-C109DDB64123}"/>
                </a:ext>
              </a:extLst>
            </p:cNvPr>
            <p:cNvSpPr txBox="1"/>
            <p:nvPr/>
          </p:nvSpPr>
          <p:spPr>
            <a:xfrm>
              <a:off x="2999232" y="5532120"/>
              <a:ext cx="2542032" cy="50009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8000"/>
                </a:lnSpc>
              </a:pPr>
              <a:r>
                <a:rPr sz="1000" b="1">
                  <a:solidFill>
                    <a:srgbClr val="262626"/>
                  </a:solidFill>
                  <a:latin typeface="Meiryo UI"/>
                  <a:ea typeface="Meiryo UI"/>
                </a:rPr>
                <a:t>1人で対応する営業をやめ、チーム対チームで小売と組む</a:t>
              </a:r>
            </a:p>
            <a:p>
              <a:pPr>
                <a:lnSpc>
                  <a:spcPct val="108000"/>
                </a:lnSpc>
              </a:pPr>
              <a:r>
                <a:rPr sz="900" b="0">
                  <a:solidFill>
                    <a:srgbClr val="595959"/>
                  </a:solidFill>
                  <a:latin typeface="Meiryo UI"/>
                  <a:ea typeface="Meiryo UI"/>
                </a:rPr>
                <a:t>＝組織対組織の営業体制へ再編</a:t>
              </a:r>
            </a:p>
          </p:txBody>
        </p:sp>
        <p:sp>
          <p:nvSpPr>
            <p:cNvPr id="164" name="Rectangle 89">
              <a:extLst>
                <a:ext uri="{FF2B5EF4-FFF2-40B4-BE49-F238E27FC236}">
                  <a16:creationId xmlns:a16="http://schemas.microsoft.com/office/drawing/2014/main" id="{9B5EA5A3-9587-4F4C-B078-9D27E11F44F2}"/>
                </a:ext>
              </a:extLst>
            </p:cNvPr>
            <p:cNvSpPr/>
            <p:nvPr/>
          </p:nvSpPr>
          <p:spPr>
            <a:xfrm>
              <a:off x="5614416" y="5486400"/>
              <a:ext cx="3383280" cy="52120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65" name="TextBox 90">
              <a:extLst>
                <a:ext uri="{FF2B5EF4-FFF2-40B4-BE49-F238E27FC236}">
                  <a16:creationId xmlns:a16="http://schemas.microsoft.com/office/drawing/2014/main" id="{D94BF623-A662-D503-FD7A-F460234F6A9D}"/>
                </a:ext>
              </a:extLst>
            </p:cNvPr>
            <p:cNvSpPr txBox="1"/>
            <p:nvPr/>
          </p:nvSpPr>
          <p:spPr>
            <a:xfrm>
              <a:off x="5705856" y="5541264"/>
              <a:ext cx="3200400" cy="32971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5000"/>
                </a:lnSpc>
              </a:pPr>
              <a:r>
                <a:rPr sz="1000" b="0">
                  <a:solidFill>
                    <a:srgbClr val="262626"/>
                  </a:solidFill>
                  <a:latin typeface="Meiryo UI"/>
                  <a:ea typeface="Meiryo UI"/>
                </a:rPr>
                <a:t>営業1人対バイヤー1人の分断をやめ、組織対組織のJBP体制へ</a:t>
              </a:r>
            </a:p>
          </p:txBody>
        </p:sp>
        <p:sp>
          <p:nvSpPr>
            <p:cNvPr id="166" name="Rectangle 91">
              <a:extLst>
                <a:ext uri="{FF2B5EF4-FFF2-40B4-BE49-F238E27FC236}">
                  <a16:creationId xmlns:a16="http://schemas.microsoft.com/office/drawing/2014/main" id="{9D03E868-EEFE-8CE8-3B5D-93D4066AFE02}"/>
                </a:ext>
              </a:extLst>
            </p:cNvPr>
            <p:cNvSpPr/>
            <p:nvPr/>
          </p:nvSpPr>
          <p:spPr>
            <a:xfrm>
              <a:off x="9015984" y="5486400"/>
              <a:ext cx="2697480" cy="521207"/>
            </a:xfrm>
            <a:prstGeom prst="rect">
              <a:avLst/>
            </a:prstGeom>
            <a:solidFill>
              <a:srgbClr val="F2F7F3"/>
            </a:solidFill>
            <a:ln w="63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67" name="TextBox 92">
              <a:extLst>
                <a:ext uri="{FF2B5EF4-FFF2-40B4-BE49-F238E27FC236}">
                  <a16:creationId xmlns:a16="http://schemas.microsoft.com/office/drawing/2014/main" id="{E92457D9-07CD-B69D-A867-40CB13C66B5A}"/>
                </a:ext>
              </a:extLst>
            </p:cNvPr>
            <p:cNvSpPr txBox="1"/>
            <p:nvPr/>
          </p:nvSpPr>
          <p:spPr>
            <a:xfrm>
              <a:off x="9107424" y="5541264"/>
              <a:ext cx="2523744" cy="15686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5000"/>
                </a:lnSpc>
              </a:pPr>
              <a:r>
                <a:rPr sz="1000" b="1">
                  <a:solidFill>
                    <a:srgbClr val="0F5E87"/>
                  </a:solidFill>
                  <a:latin typeface="Meiryo UI"/>
                  <a:ea typeface="Meiryo UI"/>
                </a:rPr>
                <a:t>JBP締結チェーン数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04311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361DC0-4878-52C4-E51E-8EA4E6363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How</a:t>
            </a:r>
            <a:r>
              <a:rPr lang="ja-JP" altLang="en-US" dirty="0"/>
              <a:t>の全体構造 </a:t>
            </a:r>
            <a:r>
              <a:rPr lang="en-US" altLang="ja-JP" dirty="0"/>
              <a:t>― 5</a:t>
            </a:r>
            <a:r>
              <a:rPr lang="ja-JP" altLang="en-US" dirty="0"/>
              <a:t>つの経営テーマへの</a:t>
            </a:r>
            <a:r>
              <a:rPr lang="en-US" altLang="ja-JP" dirty="0"/>
              <a:t>MECE</a:t>
            </a:r>
            <a:r>
              <a:rPr lang="ja-JP" altLang="en-US" dirty="0"/>
              <a:t>接続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FCD59C3-5EF8-3A82-1046-D8A2590666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/>
              <a:t>ここまでの「</a:t>
            </a:r>
            <a:r>
              <a:rPr kumimoji="1" lang="en-US" altLang="ja-JP" dirty="0"/>
              <a:t>4</a:t>
            </a:r>
            <a:r>
              <a:rPr kumimoji="1" lang="ja-JP" altLang="en-US" dirty="0"/>
              <a:t>テーマ・</a:t>
            </a:r>
            <a:r>
              <a:rPr kumimoji="1" lang="en-US" altLang="ja-JP" dirty="0"/>
              <a:t>3</a:t>
            </a:r>
            <a:r>
              <a:rPr kumimoji="1" lang="ja-JP" altLang="en-US" dirty="0"/>
              <a:t>真因」は現場が設計する切り口。ここからは同じ</a:t>
            </a:r>
            <a:r>
              <a:rPr kumimoji="1" lang="en-US" altLang="ja-JP" dirty="0"/>
              <a:t>8</a:t>
            </a:r>
            <a:r>
              <a:rPr kumimoji="1" lang="ja-JP" altLang="en-US" dirty="0"/>
              <a:t>施策を、経営が意思決定する</a:t>
            </a:r>
            <a:r>
              <a:rPr kumimoji="1" lang="en-US" altLang="ja-JP" dirty="0"/>
              <a:t>5</a:t>
            </a:r>
            <a:r>
              <a:rPr kumimoji="1" lang="ja-JP" altLang="en-US" dirty="0"/>
              <a:t>つの問いに漏れなく・重複なく翻訳し直す</a:t>
            </a: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59730B40-FFF7-8ED8-53CE-722635A85A68}"/>
              </a:ext>
            </a:extLst>
          </p:cNvPr>
          <p:cNvGrpSpPr/>
          <p:nvPr/>
        </p:nvGrpSpPr>
        <p:grpSpPr>
          <a:xfrm>
            <a:off x="320040" y="1628775"/>
            <a:ext cx="11548872" cy="4679950"/>
            <a:chOff x="320040" y="1225296"/>
            <a:chExt cx="11548872" cy="4498848"/>
          </a:xfrm>
        </p:grpSpPr>
        <p:sp>
          <p:nvSpPr>
            <p:cNvPr id="14" name="Rectangle 13"/>
            <p:cNvSpPr/>
            <p:nvPr/>
          </p:nvSpPr>
          <p:spPr>
            <a:xfrm>
              <a:off x="320040" y="1225296"/>
              <a:ext cx="1828800" cy="292608"/>
            </a:xfrm>
            <a:prstGeom prst="rect">
              <a:avLst/>
            </a:prstGeom>
            <a:solidFill>
              <a:srgbClr val="1623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74904" y="1252728"/>
              <a:ext cx="1719072" cy="17643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sz="1050" b="1">
                  <a:solidFill>
                    <a:srgbClr val="FFFFFF"/>
                  </a:solidFill>
                  <a:latin typeface="Meiryo UI"/>
                  <a:ea typeface="Meiryo UI"/>
                </a:rPr>
                <a:t>経営テーマ（問い）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167128" y="1225296"/>
              <a:ext cx="2880360" cy="292608"/>
            </a:xfrm>
            <a:prstGeom prst="rect">
              <a:avLst/>
            </a:prstGeom>
            <a:solidFill>
              <a:srgbClr val="1623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221992" y="1252728"/>
              <a:ext cx="2770632" cy="17643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sz="900" b="1" dirty="0">
                  <a:solidFill>
                    <a:srgbClr val="FFFFFF"/>
                  </a:solidFill>
                  <a:latin typeface="Meiryo UI"/>
                  <a:ea typeface="Meiryo UI"/>
                </a:rPr>
                <a:t>前 ― </a:t>
              </a:r>
              <a:r>
                <a:rPr sz="900" b="1" dirty="0" err="1">
                  <a:solidFill>
                    <a:srgbClr val="FFFFFF"/>
                  </a:solidFill>
                  <a:latin typeface="Meiryo UI"/>
                  <a:ea typeface="Meiryo UI"/>
                </a:rPr>
                <a:t>何を受けるか（GAP・真因・公開データ</a:t>
              </a:r>
              <a:r>
                <a:rPr sz="900" b="1" dirty="0">
                  <a:solidFill>
                    <a:srgbClr val="FFFFFF"/>
                  </a:solidFill>
                  <a:latin typeface="Meiryo UI"/>
                  <a:ea typeface="Meiryo UI"/>
                </a:rPr>
                <a:t>）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5065776" y="1225296"/>
              <a:ext cx="3200400" cy="292608"/>
            </a:xfrm>
            <a:prstGeom prst="rect">
              <a:avLst/>
            </a:prstGeom>
            <a:solidFill>
              <a:srgbClr val="1623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120640" y="1252728"/>
              <a:ext cx="3090672" cy="17643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sz="1050" b="1" dirty="0" err="1">
                  <a:solidFill>
                    <a:srgbClr val="FFFFFF"/>
                  </a:solidFill>
                  <a:latin typeface="Meiryo UI"/>
                  <a:ea typeface="Meiryo UI"/>
                </a:rPr>
                <a:t>答え（ソリューション</a:t>
              </a:r>
              <a:r>
                <a:rPr sz="1050" b="1" dirty="0">
                  <a:solidFill>
                    <a:srgbClr val="FFFFFF"/>
                  </a:solidFill>
                  <a:latin typeface="Meiryo UI"/>
                  <a:ea typeface="Meiryo UI"/>
                </a:rPr>
                <a:t>）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8284464" y="1225296"/>
              <a:ext cx="1417320" cy="292608"/>
            </a:xfrm>
            <a:prstGeom prst="rect">
              <a:avLst/>
            </a:prstGeom>
            <a:solidFill>
              <a:srgbClr val="1623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339328" y="1252728"/>
              <a:ext cx="1307592" cy="17643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sz="1050" b="1">
                  <a:solidFill>
                    <a:srgbClr val="FFFFFF"/>
                  </a:solidFill>
                  <a:latin typeface="Meiryo UI"/>
                  <a:ea typeface="Meiryo UI"/>
                </a:rPr>
                <a:t>重点施策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9720072" y="1225296"/>
              <a:ext cx="2148840" cy="292608"/>
            </a:xfrm>
            <a:prstGeom prst="rect">
              <a:avLst/>
            </a:prstGeom>
            <a:solidFill>
              <a:srgbClr val="1623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774936" y="1252728"/>
              <a:ext cx="2039112" cy="17643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sz="1050" b="1">
                  <a:solidFill>
                    <a:srgbClr val="FFFFFF"/>
                  </a:solidFill>
                  <a:latin typeface="Meiryo UI"/>
                  <a:ea typeface="Meiryo UI"/>
                </a:rPr>
                <a:t>後 ― つながるKPI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20040" y="1554480"/>
              <a:ext cx="1828800" cy="804672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84048" y="1609344"/>
              <a:ext cx="1700784" cy="35850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1050" b="1">
                  <a:solidFill>
                    <a:srgbClr val="FFFFFF"/>
                  </a:solidFill>
                  <a:latin typeface="Meiryo UI"/>
                  <a:ea typeface="Meiryo UI"/>
                </a:rPr>
                <a:t>1. 市場機会の選択
</a:t>
              </a:r>
              <a:r>
                <a:rPr sz="1000" b="0">
                  <a:solidFill>
                    <a:srgbClr val="FFFFFF"/>
                  </a:solidFill>
                  <a:latin typeface="Meiryo UI"/>
                  <a:ea typeface="Meiryo UI"/>
                </a:rPr>
                <a:t>どの市場・顧客を重点化するか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167128" y="1554480"/>
              <a:ext cx="2880360" cy="804672"/>
            </a:xfrm>
            <a:prstGeom prst="rect">
              <a:avLst/>
            </a:prstGeom>
            <a:solidFill>
              <a:srgbClr val="F2F7F3"/>
            </a:solidFill>
            <a:ln w="63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231136" y="1600200"/>
              <a:ext cx="2743200" cy="53312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1000" b="0" dirty="0">
                  <a:solidFill>
                    <a:srgbClr val="262626"/>
                  </a:solidFill>
                  <a:latin typeface="Meiryo UI"/>
                  <a:ea typeface="Meiryo UI"/>
                </a:rPr>
                <a:t>GAP1（消耗戦）。</a:t>
              </a:r>
              <a:r>
                <a:rPr sz="1000" b="0" dirty="0" err="1">
                  <a:solidFill>
                    <a:srgbClr val="262626"/>
                  </a:solidFill>
                  <a:latin typeface="Meiryo UI"/>
                  <a:ea typeface="Meiryo UI"/>
                </a:rPr>
                <a:t>決定と傾斜配分は実行済み</a:t>
              </a:r>
              <a:r>
                <a:rPr lang="ja-JP" altLang="en-US" sz="1000" b="0" dirty="0">
                  <a:solidFill>
                    <a:srgbClr val="262626"/>
                  </a:solidFill>
                  <a:latin typeface="Meiryo UI"/>
                  <a:ea typeface="Meiryo UI"/>
                </a:rPr>
                <a:t>。</a:t>
              </a:r>
              <a:r>
                <a:rPr sz="1000" b="0" dirty="0">
                  <a:solidFill>
                    <a:srgbClr val="262626"/>
                  </a:solidFill>
                  <a:latin typeface="Meiryo UI"/>
                  <a:ea typeface="Meiryo UI"/>
                </a:rPr>
                <a:t>残るは資源の使い方（真因1）。皆歯科健診は骨太2022に明記済み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5065776" y="1554480"/>
              <a:ext cx="3200400" cy="80467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8102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129784" y="1600200"/>
              <a:ext cx="3072384" cy="34931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1000" dirty="0" err="1">
                  <a:solidFill>
                    <a:srgbClr val="262626"/>
                  </a:solidFill>
                  <a:latin typeface="Meiryo UI"/>
                  <a:ea typeface="Meiryo UI"/>
                </a:rPr>
                <a:t>傾斜した資源を新しい使い方に流し込む。オーラルケアを4市場（症状×接点の2軸）に分け、市場別KPIとROIC基準で使い方を裁く</a:t>
              </a:r>
              <a:r>
                <a:rPr lang="ja-JP" altLang="en-US" sz="1000" dirty="0">
                  <a:solidFill>
                    <a:srgbClr val="262626"/>
                  </a:solidFill>
                  <a:latin typeface="Meiryo UI"/>
                  <a:ea typeface="Meiryo UI"/>
                </a:rPr>
                <a:t/>
              </a:r>
              <a:r>
                <a:rPr sz="1000" b="0" dirty="0">
                  <a:solidFill>
                    <a:srgbClr val="262626"/>
                  </a:solidFill>
                  <a:latin typeface="Meiryo UI"/>
                  <a:ea typeface="Meiryo UI"/>
                </a:rPr>
                <a:t/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8284464" y="1554480"/>
              <a:ext cx="1417320" cy="804672"/>
            </a:xfrm>
            <a:prstGeom prst="rect">
              <a:avLst/>
            </a:prstGeom>
            <a:solidFill>
              <a:srgbClr val="F2F7F3"/>
            </a:solidFill>
            <a:ln w="63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8348472" y="1600200"/>
              <a:ext cx="1289304" cy="33469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5000"/>
                </a:lnSpc>
              </a:pPr>
              <a:r>
                <a:rPr sz="1000" b="1">
                  <a:solidFill>
                    <a:srgbClr val="262626"/>
                  </a:solidFill>
                  <a:latin typeface="Meiryo UI"/>
                  <a:ea typeface="Meiryo UI"/>
                </a:rPr>
                <a:t>解決1 使い方の再設計
＋A2 学校・自治体
ルートのデジタル化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9720072" y="1554480"/>
              <a:ext cx="2148840" cy="804672"/>
            </a:xfrm>
            <a:prstGeom prst="rect">
              <a:avLst/>
            </a:prstGeom>
            <a:solidFill>
              <a:srgbClr val="F2F7F3"/>
            </a:solidFill>
            <a:ln w="63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9784080" y="1600200"/>
              <a:ext cx="2020824" cy="33469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5000"/>
                </a:lnSpc>
              </a:pPr>
              <a:r>
                <a:rPr sz="1000" b="1">
                  <a:solidFill>
                    <a:srgbClr val="0F5E87"/>
                  </a:solidFill>
                  <a:latin typeface="Meiryo UI"/>
                  <a:ea typeface="Meiryo UI"/>
                </a:rPr>
                <a:t>強み領域売上比率
65→80%（FY30）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320040" y="2395728"/>
              <a:ext cx="1828800" cy="804672"/>
            </a:xfrm>
            <a:prstGeom prst="rect">
              <a:avLst/>
            </a:prstGeom>
            <a:solidFill>
              <a:srgbClr val="0F5E8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84048" y="2450592"/>
              <a:ext cx="1700784" cy="35850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1050" b="1">
                  <a:solidFill>
                    <a:srgbClr val="FFFFFF"/>
                  </a:solidFill>
                  <a:latin typeface="Meiryo UI"/>
                  <a:ea typeface="Meiryo UI"/>
                </a:rPr>
                <a:t>2. 選ばれる価値の創造
</a:t>
              </a:r>
              <a:r>
                <a:rPr sz="1000" b="0">
                  <a:solidFill>
                    <a:srgbClr val="FFFFFF"/>
                  </a:solidFill>
                  <a:latin typeface="Meiryo UI"/>
                  <a:ea typeface="Meiryo UI"/>
                </a:rPr>
                <a:t>何を理由に選ばれる会社になるか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2167128" y="2395728"/>
              <a:ext cx="2880360" cy="804672"/>
            </a:xfrm>
            <a:prstGeom prst="rect">
              <a:avLst/>
            </a:prstGeom>
            <a:solidFill>
              <a:srgbClr val="F2F7F3"/>
            </a:solidFill>
            <a:ln w="63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231136" y="2441448"/>
              <a:ext cx="2743200" cy="53312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1000" b="0">
                  <a:solidFill>
                    <a:srgbClr val="262626"/>
                  </a:solidFill>
                  <a:latin typeface="Meiryo UI"/>
                  <a:ea typeface="Meiryo UI"/>
                </a:rPr>
                <a:t>真因2（提案材料の不足）。ゼロクリック66.4%〔ヴァリューズ〕。AIの引用元は自社サイト1%・小売EC17%〔XEO360〕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5065776" y="2395728"/>
              <a:ext cx="3200400" cy="80467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F5E8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129784" y="2441448"/>
              <a:ext cx="3072384" cy="34931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1000" b="0" dirty="0">
                  <a:solidFill>
                    <a:srgbClr val="262626"/>
                  </a:solidFill>
                  <a:latin typeface="Meiryo UI"/>
                  <a:ea typeface="Meiryo UI"/>
                </a:rPr>
                <a:t>30年の臨床データを「人に伝わる根拠」と「AIに引用される構造化知識」の両形式に変換。健康の成果に責任を持つ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8284464" y="2395728"/>
              <a:ext cx="1417320" cy="804672"/>
            </a:xfrm>
            <a:prstGeom prst="rect">
              <a:avLst/>
            </a:prstGeom>
            <a:solidFill>
              <a:srgbClr val="F2F7F3"/>
            </a:solidFill>
            <a:ln w="63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348472" y="2441448"/>
              <a:ext cx="1289304" cy="51015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5000"/>
                </a:lnSpc>
              </a:pPr>
              <a:r>
                <a:rPr sz="1000" b="1">
                  <a:solidFill>
                    <a:srgbClr val="262626"/>
                  </a:solidFill>
                  <a:latin typeface="Meiryo UI"/>
                  <a:ea typeface="Meiryo UI"/>
                </a:rPr>
                <a:t>A1★ 属性データの
構造化・API化
C1★ 臨床データ変換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9720072" y="2395728"/>
              <a:ext cx="2148840" cy="804672"/>
            </a:xfrm>
            <a:prstGeom prst="rect">
              <a:avLst/>
            </a:prstGeom>
            <a:solidFill>
              <a:srgbClr val="F2F7F3"/>
            </a:solidFill>
            <a:ln w="63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784080" y="2441448"/>
              <a:ext cx="2020824" cy="33469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5000"/>
                </a:lnSpc>
              </a:pPr>
              <a:r>
                <a:rPr sz="1000" b="1">
                  <a:solidFill>
                    <a:srgbClr val="0F5E87"/>
                  </a:solidFill>
                  <a:latin typeface="Meiryo UI"/>
                  <a:ea typeface="Meiryo UI"/>
                </a:rPr>
                <a:t>AIEO Rate 30→50%
根拠データ付き商談80%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320040" y="3236976"/>
              <a:ext cx="1828800" cy="804672"/>
            </a:xfrm>
            <a:prstGeom prst="rect">
              <a:avLst/>
            </a:prstGeom>
            <a:solidFill>
              <a:srgbClr val="008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84048" y="3291840"/>
              <a:ext cx="1700784" cy="54231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1050" b="1">
                  <a:solidFill>
                    <a:srgbClr val="FFFFFF"/>
                  </a:solidFill>
                  <a:latin typeface="Meiryo UI"/>
                  <a:ea typeface="Meiryo UI"/>
                </a:rPr>
                <a:t>3. 顧客接点の統合
</a:t>
              </a:r>
              <a:r>
                <a:rPr sz="1000" b="0">
                  <a:solidFill>
                    <a:srgbClr val="FFFFFF"/>
                  </a:solidFill>
                  <a:latin typeface="Meiryo UI"/>
                  <a:ea typeface="Meiryo UI"/>
                </a:rPr>
                <a:t>認知から受注、継続までをどうつなぐか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2167128" y="3236976"/>
              <a:ext cx="2880360" cy="804672"/>
            </a:xfrm>
            <a:prstGeom prst="rect">
              <a:avLst/>
            </a:prstGeom>
            <a:solidFill>
              <a:srgbClr val="F2F7F3"/>
            </a:solidFill>
            <a:ln w="63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231136" y="3282696"/>
              <a:ext cx="2743200" cy="53312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1000" b="0" dirty="0">
                  <a:solidFill>
                    <a:srgbClr val="262626"/>
                  </a:solidFill>
                  <a:latin typeface="Meiryo UI"/>
                  <a:ea typeface="Meiryo UI"/>
                </a:rPr>
                <a:t>GAP2・3。リテールメディア2029年1.3兆円〔CARTA〕。日用品購買の約9割は店頭〔経産省EC化率9.78%〕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5065776" y="3236976"/>
              <a:ext cx="3200400" cy="80467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8D2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129784" y="3282696"/>
              <a:ext cx="3072384" cy="53312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1000" b="0" dirty="0">
                  <a:solidFill>
                    <a:srgbClr val="262626"/>
                  </a:solidFill>
                  <a:latin typeface="Meiryo UI"/>
                  <a:ea typeface="Meiryo UI"/>
                </a:rPr>
                <a:t>棚・EC・AI推奨・歯科接点をTAの1スコアで統合。小売とは共同KPIのJBP、商談は「値引き90＋施策10＋成果連動」で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8284464" y="3236976"/>
              <a:ext cx="1417320" cy="804672"/>
            </a:xfrm>
            <a:prstGeom prst="rect">
              <a:avLst/>
            </a:prstGeom>
            <a:solidFill>
              <a:srgbClr val="F2F7F3"/>
            </a:solidFill>
            <a:ln w="63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8348472" y="3282696"/>
              <a:ext cx="1289304" cy="51015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5000"/>
                </a:lnSpc>
              </a:pPr>
              <a:r>
                <a:rPr sz="1000" b="1">
                  <a:solidFill>
                    <a:srgbClr val="262626"/>
                  </a:solidFill>
                  <a:latin typeface="Meiryo UI"/>
                  <a:ea typeface="Meiryo UI"/>
                </a:rPr>
                <a:t>B2 リテールメディア
投資の内製化
C2 提案の標準化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9720072" y="3236976"/>
              <a:ext cx="2148840" cy="804672"/>
            </a:xfrm>
            <a:prstGeom prst="rect">
              <a:avLst/>
            </a:prstGeom>
            <a:solidFill>
              <a:srgbClr val="F2F7F3"/>
            </a:solidFill>
            <a:ln w="63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9784080" y="3282696"/>
              <a:ext cx="2020824" cy="33469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5000"/>
                </a:lnSpc>
              </a:pPr>
              <a:r>
                <a:rPr sz="1000" b="1">
                  <a:solidFill>
                    <a:srgbClr val="0F5E87"/>
                  </a:solidFill>
                  <a:latin typeface="Meiryo UI"/>
                  <a:ea typeface="Meiryo UI"/>
                </a:rPr>
                <a:t>TAスコア 70→90%
B2B2C売上 5→15%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320040" y="4078224"/>
              <a:ext cx="1828800" cy="804672"/>
            </a:xfrm>
            <a:prstGeom prst="rect">
              <a:avLst/>
            </a:prstGeom>
            <a:solidFill>
              <a:srgbClr val="B87A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384048" y="4133087"/>
              <a:ext cx="1700784" cy="54231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1050" b="1">
                  <a:solidFill>
                    <a:srgbClr val="FFFFFF"/>
                  </a:solidFill>
                  <a:latin typeface="Meiryo UI"/>
                  <a:ea typeface="Meiryo UI"/>
                </a:rPr>
                <a:t>4. 顧客資本の蓄積
</a:t>
              </a:r>
              <a:r>
                <a:rPr sz="1000" b="0">
                  <a:solidFill>
                    <a:srgbClr val="FFFFFF"/>
                  </a:solidFill>
                  <a:latin typeface="Meiryo UI"/>
                  <a:ea typeface="Meiryo UI"/>
                </a:rPr>
                <a:t>顧客との関係を企業資産にできているか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2167128" y="4078224"/>
              <a:ext cx="2880360" cy="804672"/>
            </a:xfrm>
            <a:prstGeom prst="rect">
              <a:avLst/>
            </a:prstGeom>
            <a:solidFill>
              <a:srgbClr val="F2F7F3"/>
            </a:solidFill>
            <a:ln w="63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231136" y="4123944"/>
              <a:ext cx="2743200" cy="53312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1000" b="0">
                  <a:solidFill>
                    <a:srgbClr val="262626"/>
                  </a:solidFill>
                  <a:latin typeface="Meiryo UI"/>
                  <a:ea typeface="Meiryo UI"/>
                </a:rPr>
                <a:t>Cookie消滅・自前データ劣後。AI回答への信頼は低く（37 vs 家族86〔McKinsey〕）、信頼確認は人へ回帰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5065776" y="4078224"/>
              <a:ext cx="3200400" cy="80467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87A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129784" y="4123944"/>
              <a:ext cx="3072384" cy="34931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1000" b="0" dirty="0">
                  <a:solidFill>
                    <a:srgbClr val="262626"/>
                  </a:solidFill>
                  <a:latin typeface="Meiryo UI"/>
                  <a:ea typeface="Meiryo UI"/>
                </a:rPr>
                <a:t>LION </a:t>
              </a:r>
              <a:r>
                <a:rPr sz="1000" b="0" dirty="0" err="1">
                  <a:solidFill>
                    <a:srgbClr val="262626"/>
                  </a:solidFill>
                  <a:latin typeface="Meiryo UI"/>
                  <a:ea typeface="Meiryo UI"/>
                </a:rPr>
                <a:t>IDを口腔健康OSへ転換。測るのは行動</a:t>
              </a:r>
              <a:r>
                <a:rPr lang="ja-JP" altLang="en-US" sz="1000" dirty="0">
                  <a:solidFill>
                    <a:srgbClr val="262626"/>
                  </a:solidFill>
                  <a:latin typeface="Meiryo UI"/>
                  <a:ea typeface="Meiryo UI"/>
                </a:rPr>
                <a:t>。</a:t>
              </a:r>
              <a:r>
                <a:rPr sz="1000" b="0" dirty="0">
                  <a:solidFill>
                    <a:srgbClr val="262626"/>
                  </a:solidFill>
                  <a:latin typeface="Meiryo UI"/>
                  <a:ea typeface="Meiryo UI"/>
                </a:rPr>
                <a:t>リピート・定期登録・90日継続／共同事業件数／推奨起点売上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8284464" y="4078224"/>
              <a:ext cx="1417320" cy="804672"/>
            </a:xfrm>
            <a:prstGeom prst="rect">
              <a:avLst/>
            </a:prstGeom>
            <a:solidFill>
              <a:srgbClr val="F2F7F3"/>
            </a:solidFill>
            <a:ln w="63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8348472" y="4123944"/>
              <a:ext cx="1289304" cy="51015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5000"/>
                </a:lnSpc>
              </a:pPr>
              <a:r>
                <a:rPr sz="900" b="1">
                  <a:solidFill>
                    <a:srgbClr val="262626"/>
                  </a:solidFill>
                  <a:latin typeface="Meiryo UI"/>
                  <a:ea typeface="Meiryo UI"/>
                </a:rPr>
                <a:t>B1★ 投資ROI可視化
（MMM×DCR）
＋ID再設計（候補）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9720072" y="4078224"/>
              <a:ext cx="2148840" cy="804672"/>
            </a:xfrm>
            <a:prstGeom prst="rect">
              <a:avLst/>
            </a:prstGeom>
            <a:solidFill>
              <a:srgbClr val="F2F7F3"/>
            </a:solidFill>
            <a:ln w="63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9784080" y="4123944"/>
              <a:ext cx="2020824" cy="33469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5000"/>
                </a:lnSpc>
              </a:pPr>
              <a:r>
                <a:rPr sz="1000" b="1">
                  <a:solidFill>
                    <a:srgbClr val="0F5E87"/>
                  </a:solidFill>
                  <a:latin typeface="Meiryo UI"/>
                  <a:ea typeface="Meiryo UI"/>
                </a:rPr>
                <a:t>アクティブID／KOIC
90日継続・定期登録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320040" y="4919472"/>
              <a:ext cx="1828800" cy="804672"/>
            </a:xfrm>
            <a:prstGeom prst="rect">
              <a:avLst/>
            </a:prstGeom>
            <a:solidFill>
              <a:srgbClr val="1623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384048" y="4974336"/>
              <a:ext cx="1700784" cy="54231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1050" b="1">
                  <a:solidFill>
                    <a:srgbClr val="FFFFFF"/>
                  </a:solidFill>
                  <a:latin typeface="Meiryo UI"/>
                  <a:ea typeface="Meiryo UI"/>
                </a:rPr>
                <a:t>5. 実行能力と成果管理
</a:t>
              </a:r>
              <a:r>
                <a:rPr sz="1000" b="0">
                  <a:solidFill>
                    <a:srgbClr val="FFFFFF"/>
                  </a:solidFill>
                  <a:latin typeface="Meiryo UI"/>
                  <a:ea typeface="Meiryo UI"/>
                </a:rPr>
                <a:t>誰が、何を担い、どの指標で評価するか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2167128" y="4919472"/>
              <a:ext cx="2880360" cy="804672"/>
            </a:xfrm>
            <a:prstGeom prst="rect">
              <a:avLst/>
            </a:prstGeom>
            <a:solidFill>
              <a:srgbClr val="F2F7F3"/>
            </a:solidFill>
            <a:ln w="63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2231136" y="4965192"/>
              <a:ext cx="2743200" cy="53312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1000" b="0">
                  <a:solidFill>
                    <a:srgbClr val="262626"/>
                  </a:solidFill>
                  <a:latin typeface="Meiryo UI"/>
                  <a:ea typeface="Meiryo UI"/>
                </a:rPr>
                <a:t>真因3（仕組みの不在）。生成AI普及は1年で約3倍〔総務省白書〕＝期限は自社で選べない。対P&amp;G生産性7.6倍差</a:t>
              </a: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5065776" y="4919472"/>
              <a:ext cx="3200400" cy="80467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623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5129784" y="4965192"/>
              <a:ext cx="3072384" cy="34931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1000" b="0">
                  <a:solidFill>
                    <a:srgbClr val="262626"/>
                  </a:solidFill>
                  <a:latin typeface="Meiryo UI"/>
                  <a:ea typeface="Meiryo UI"/>
                </a:rPr>
                <a:t>ゼロ化で時間を生み、スクワッド×最上位KPI（増分粗利）で束ねる。役員オーナー制＋撤退基準＋検証責任は提案側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8284464" y="4919472"/>
              <a:ext cx="1417320" cy="804672"/>
            </a:xfrm>
            <a:prstGeom prst="rect">
              <a:avLst/>
            </a:prstGeom>
            <a:solidFill>
              <a:srgbClr val="F2F7F3"/>
            </a:solidFill>
            <a:ln w="63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8348472" y="4965192"/>
              <a:ext cx="1289304" cy="33469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5000"/>
                </a:lnSpc>
              </a:pPr>
              <a:r>
                <a:rPr sz="1000" b="1">
                  <a:solidFill>
                    <a:srgbClr val="262626"/>
                  </a:solidFill>
                  <a:latin typeface="Meiryo UI"/>
                  <a:ea typeface="Meiryo UI"/>
                </a:rPr>
                <a:t>D1★ Input業務ゼロ化
D2 組織対組織の体制</a:t>
              </a: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9720072" y="4919472"/>
              <a:ext cx="2148840" cy="804672"/>
            </a:xfrm>
            <a:prstGeom prst="rect">
              <a:avLst/>
            </a:prstGeom>
            <a:solidFill>
              <a:srgbClr val="F2F7F3"/>
            </a:solidFill>
            <a:ln w="63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9784080" y="4965192"/>
              <a:ext cx="2020824" cy="33469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5000"/>
                </a:lnSpc>
              </a:pPr>
              <a:r>
                <a:rPr sz="1000" b="1">
                  <a:solidFill>
                    <a:srgbClr val="0F5E87"/>
                  </a:solidFill>
                  <a:latin typeface="Meiryo UI"/>
                  <a:ea typeface="Meiryo UI"/>
                </a:rPr>
                <a:t>Input削減 50→80%
共有KPI達成率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4253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4B3FAC-C7C6-C09A-88D3-AB2A2C045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出口 ― </a:t>
            </a:r>
            <a:br>
              <a:rPr kumimoji="1" lang="en-US" altLang="ja-JP" dirty="0"/>
            </a:br>
            <a:r>
              <a:rPr kumimoji="1" lang="ja-JP" altLang="en-US" dirty="0"/>
              <a:t>マーケティング・営業</a:t>
            </a:r>
            <a:r>
              <a:rPr kumimoji="1" lang="en-US" altLang="ja-JP" dirty="0"/>
              <a:t>DX</a:t>
            </a:r>
            <a:r>
              <a:rPr kumimoji="1" lang="ja-JP" altLang="en-US" dirty="0"/>
              <a:t>の姿（</a:t>
            </a:r>
            <a:r>
              <a:rPr kumimoji="1" lang="en-US" altLang="ja-JP" dirty="0"/>
              <a:t>Before → After</a:t>
            </a:r>
            <a:r>
              <a:rPr kumimoji="1" lang="ja-JP" altLang="en-US" dirty="0"/>
              <a:t>）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1BDE2CF-37F4-5365-2764-A6225A1B54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/>
              <a:t>出口は戦略文書ではなく、現場の仕事の新しい姿が回っている状態。</a:t>
            </a:r>
            <a:r>
              <a:rPr kumimoji="1" lang="en-US" altLang="ja-JP" dirty="0"/>
              <a:t>5</a:t>
            </a:r>
            <a:r>
              <a:rPr kumimoji="1" lang="ja-JP" altLang="en-US" dirty="0"/>
              <a:t>つの経営テーマの答えを、誰の・どの業務が・どのデジタルで変わるかに着地させる</a:t>
            </a:r>
          </a:p>
        </p:txBody>
      </p:sp>
      <p:grpSp>
        <p:nvGrpSpPr>
          <p:cNvPr id="81" name="グループ化 80">
            <a:extLst>
              <a:ext uri="{FF2B5EF4-FFF2-40B4-BE49-F238E27FC236}">
                <a16:creationId xmlns:a16="http://schemas.microsoft.com/office/drawing/2014/main" id="{F5F3CA09-2D07-4282-FF25-9DA9CA5EE88F}"/>
              </a:ext>
            </a:extLst>
          </p:cNvPr>
          <p:cNvGrpSpPr/>
          <p:nvPr/>
        </p:nvGrpSpPr>
        <p:grpSpPr>
          <a:xfrm>
            <a:off x="6190904" y="1628774"/>
            <a:ext cx="5669280" cy="4120169"/>
            <a:chOff x="320040" y="1628774"/>
            <a:chExt cx="5669280" cy="4120169"/>
          </a:xfrm>
        </p:grpSpPr>
        <p:sp>
          <p:nvSpPr>
            <p:cNvPr id="41" name="Rectangle 13">
              <a:extLst>
                <a:ext uri="{FF2B5EF4-FFF2-40B4-BE49-F238E27FC236}">
                  <a16:creationId xmlns:a16="http://schemas.microsoft.com/office/drawing/2014/main" id="{2EB7D5C7-846E-43A6-EFC8-38D96CE1DD9F}"/>
                </a:ext>
              </a:extLst>
            </p:cNvPr>
            <p:cNvSpPr/>
            <p:nvPr/>
          </p:nvSpPr>
          <p:spPr>
            <a:xfrm>
              <a:off x="320040" y="1628774"/>
              <a:ext cx="5669280" cy="318296"/>
            </a:xfrm>
            <a:prstGeom prst="rect">
              <a:avLst/>
            </a:prstGeom>
            <a:solidFill>
              <a:srgbClr val="008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42" name="TextBox 14">
              <a:extLst>
                <a:ext uri="{FF2B5EF4-FFF2-40B4-BE49-F238E27FC236}">
                  <a16:creationId xmlns:a16="http://schemas.microsoft.com/office/drawing/2014/main" id="{2A9E75DD-AFF2-0D3B-165A-230B0A63A77F}"/>
                </a:ext>
              </a:extLst>
            </p:cNvPr>
            <p:cNvSpPr txBox="1"/>
            <p:nvPr/>
          </p:nvSpPr>
          <p:spPr>
            <a:xfrm>
              <a:off x="429768" y="1664140"/>
              <a:ext cx="5440680" cy="24756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sz="1600" b="1">
                  <a:solidFill>
                    <a:srgbClr val="FFFFFF"/>
                  </a:solidFill>
                  <a:latin typeface="Meiryo UI"/>
                  <a:ea typeface="Meiryo UI"/>
                </a:rPr>
                <a:t>営業のDX ― 商談・売場・体制</a:t>
              </a:r>
            </a:p>
          </p:txBody>
        </p:sp>
        <p:sp>
          <p:nvSpPr>
            <p:cNvPr id="43" name="Rectangle 15">
              <a:extLst>
                <a:ext uri="{FF2B5EF4-FFF2-40B4-BE49-F238E27FC236}">
                  <a16:creationId xmlns:a16="http://schemas.microsoft.com/office/drawing/2014/main" id="{5F487B60-12AC-6637-5097-7E89CDE123F7}"/>
                </a:ext>
              </a:extLst>
            </p:cNvPr>
            <p:cNvSpPr/>
            <p:nvPr/>
          </p:nvSpPr>
          <p:spPr>
            <a:xfrm>
              <a:off x="320040" y="2000120"/>
              <a:ext cx="5669280" cy="884156"/>
            </a:xfrm>
            <a:prstGeom prst="rect">
              <a:avLst/>
            </a:prstGeom>
            <a:solidFill>
              <a:srgbClr val="F2F7F3"/>
            </a:solidFill>
            <a:ln w="63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44" name="TextBox 16">
              <a:extLst>
                <a:ext uri="{FF2B5EF4-FFF2-40B4-BE49-F238E27FC236}">
                  <a16:creationId xmlns:a16="http://schemas.microsoft.com/office/drawing/2014/main" id="{85C8CEDA-077E-DABC-DD49-F1384CBC4726}"/>
                </a:ext>
              </a:extLst>
            </p:cNvPr>
            <p:cNvSpPr txBox="1"/>
            <p:nvPr/>
          </p:nvSpPr>
          <p:spPr>
            <a:xfrm>
              <a:off x="393192" y="2044327"/>
              <a:ext cx="1097280" cy="16517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8000"/>
                </a:lnSpc>
              </a:pPr>
              <a:r>
                <a:rPr sz="1100" b="1">
                  <a:solidFill>
                    <a:srgbClr val="008D2E"/>
                  </a:solidFill>
                  <a:latin typeface="Meiryo UI"/>
                  <a:ea typeface="Meiryo UI"/>
                </a:rPr>
                <a:t>商談の準備</a:t>
              </a:r>
            </a:p>
          </p:txBody>
        </p:sp>
        <p:sp>
          <p:nvSpPr>
            <p:cNvPr id="45" name="TextBox 17">
              <a:extLst>
                <a:ext uri="{FF2B5EF4-FFF2-40B4-BE49-F238E27FC236}">
                  <a16:creationId xmlns:a16="http://schemas.microsoft.com/office/drawing/2014/main" id="{44C8F458-918C-FFFA-25A9-0A5A718B157A}"/>
                </a:ext>
              </a:extLst>
            </p:cNvPr>
            <p:cNvSpPr txBox="1"/>
            <p:nvPr/>
          </p:nvSpPr>
          <p:spPr>
            <a:xfrm>
              <a:off x="1536192" y="2044327"/>
              <a:ext cx="2084831" cy="33778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1050" b="1">
                  <a:solidFill>
                    <a:srgbClr val="595959"/>
                  </a:solidFill>
                  <a:latin typeface="Meiryo UI"/>
                  <a:ea typeface="Meiryo UI"/>
                </a:rPr>
                <a:t>Before　</a:t>
              </a:r>
              <a:r>
                <a:rPr sz="1050" b="0">
                  <a:solidFill>
                    <a:srgbClr val="262626"/>
                  </a:solidFill>
                  <a:latin typeface="Meiryo UI"/>
                  <a:ea typeface="Meiryo UI"/>
                </a:rPr>
                <a:t>提案資料・実績集計を手作業で数時間</a:t>
              </a:r>
            </a:p>
          </p:txBody>
        </p:sp>
        <p:sp>
          <p:nvSpPr>
            <p:cNvPr id="46" name="TextBox 18">
              <a:extLst>
                <a:ext uri="{FF2B5EF4-FFF2-40B4-BE49-F238E27FC236}">
                  <a16:creationId xmlns:a16="http://schemas.microsoft.com/office/drawing/2014/main" id="{66968F65-B05F-25B8-E514-CD7E5F4C149B}"/>
                </a:ext>
              </a:extLst>
            </p:cNvPr>
            <p:cNvSpPr txBox="1"/>
            <p:nvPr/>
          </p:nvSpPr>
          <p:spPr>
            <a:xfrm>
              <a:off x="3703320" y="2044327"/>
              <a:ext cx="2212848" cy="51552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1050" b="1">
                  <a:solidFill>
                    <a:srgbClr val="008D2E"/>
                  </a:solidFill>
                  <a:latin typeface="Meiryo UI"/>
                  <a:ea typeface="Meiryo UI"/>
                </a:rPr>
                <a:t>After　</a:t>
              </a:r>
              <a:r>
                <a:rPr sz="1050" b="1">
                  <a:solidFill>
                    <a:srgbClr val="262626"/>
                  </a:solidFill>
                  <a:latin typeface="Meiryo UI"/>
                  <a:ea typeface="Meiryo UI"/>
                </a:rPr>
                <a:t>生成AI×TPMが提案書・LTV予測・炭素効率を自動生成。営業はレビューのみ　</a:t>
              </a:r>
              <a:r>
                <a:rPr sz="1050" b="0">
                  <a:solidFill>
                    <a:srgbClr val="595959"/>
                  </a:solidFill>
                  <a:latin typeface="Meiryo UI"/>
                  <a:ea typeface="Meiryo UI"/>
                </a:rPr>
                <a:t>（C1・D1）</a:t>
              </a:r>
            </a:p>
          </p:txBody>
        </p:sp>
        <p:sp>
          <p:nvSpPr>
            <p:cNvPr id="49" name="Rectangle 19">
              <a:extLst>
                <a:ext uri="{FF2B5EF4-FFF2-40B4-BE49-F238E27FC236}">
                  <a16:creationId xmlns:a16="http://schemas.microsoft.com/office/drawing/2014/main" id="{EE50F47B-6648-640C-59A8-2FA58B6462CC}"/>
                </a:ext>
              </a:extLst>
            </p:cNvPr>
            <p:cNvSpPr/>
            <p:nvPr/>
          </p:nvSpPr>
          <p:spPr>
            <a:xfrm>
              <a:off x="320040" y="2955009"/>
              <a:ext cx="5669280" cy="884156"/>
            </a:xfrm>
            <a:prstGeom prst="rect">
              <a:avLst/>
            </a:prstGeom>
            <a:solidFill>
              <a:srgbClr val="F2F7F3"/>
            </a:solidFill>
            <a:ln w="63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50" name="TextBox 20">
              <a:extLst>
                <a:ext uri="{FF2B5EF4-FFF2-40B4-BE49-F238E27FC236}">
                  <a16:creationId xmlns:a16="http://schemas.microsoft.com/office/drawing/2014/main" id="{AD26FCAA-C836-451E-95DB-8A243D2D564F}"/>
                </a:ext>
              </a:extLst>
            </p:cNvPr>
            <p:cNvSpPr txBox="1"/>
            <p:nvPr/>
          </p:nvSpPr>
          <p:spPr>
            <a:xfrm>
              <a:off x="393192" y="2999216"/>
              <a:ext cx="1097280" cy="16517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8000"/>
                </a:lnSpc>
              </a:pPr>
              <a:r>
                <a:rPr sz="1100" b="1">
                  <a:solidFill>
                    <a:srgbClr val="008D2E"/>
                  </a:solidFill>
                  <a:latin typeface="Meiryo UI"/>
                  <a:ea typeface="Meiryo UI"/>
                </a:rPr>
                <a:t>商談の中身</a:t>
              </a:r>
            </a:p>
          </p:txBody>
        </p:sp>
        <p:sp>
          <p:nvSpPr>
            <p:cNvPr id="51" name="TextBox 21">
              <a:extLst>
                <a:ext uri="{FF2B5EF4-FFF2-40B4-BE49-F238E27FC236}">
                  <a16:creationId xmlns:a16="http://schemas.microsoft.com/office/drawing/2014/main" id="{B6303826-E99C-F6D8-136A-7B76F66874EB}"/>
                </a:ext>
              </a:extLst>
            </p:cNvPr>
            <p:cNvSpPr txBox="1"/>
            <p:nvPr/>
          </p:nvSpPr>
          <p:spPr>
            <a:xfrm>
              <a:off x="1536192" y="2999216"/>
              <a:ext cx="2084831" cy="33778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1050" b="1">
                  <a:solidFill>
                    <a:srgbClr val="595959"/>
                  </a:solidFill>
                  <a:latin typeface="Meiryo UI"/>
                  <a:ea typeface="Meiryo UI"/>
                </a:rPr>
                <a:t>Before　</a:t>
              </a:r>
              <a:r>
                <a:rPr sz="1050" b="0">
                  <a:solidFill>
                    <a:srgbClr val="262626"/>
                  </a:solidFill>
                  <a:latin typeface="Meiryo UI"/>
                  <a:ea typeface="Meiryo UI"/>
                </a:rPr>
                <a:t>値引き・特売の条件交渉が中心</a:t>
              </a:r>
            </a:p>
          </p:txBody>
        </p:sp>
        <p:sp>
          <p:nvSpPr>
            <p:cNvPr id="52" name="TextBox 22">
              <a:extLst>
                <a:ext uri="{FF2B5EF4-FFF2-40B4-BE49-F238E27FC236}">
                  <a16:creationId xmlns:a16="http://schemas.microsoft.com/office/drawing/2014/main" id="{E7CF95DC-F866-45FC-6AC1-3B9DDE1AE9B0}"/>
                </a:ext>
              </a:extLst>
            </p:cNvPr>
            <p:cNvSpPr txBox="1"/>
            <p:nvPr/>
          </p:nvSpPr>
          <p:spPr>
            <a:xfrm>
              <a:off x="3703320" y="2999216"/>
              <a:ext cx="2212848" cy="51552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1050" b="1">
                  <a:solidFill>
                    <a:srgbClr val="008D2E"/>
                  </a:solidFill>
                  <a:latin typeface="Meiryo UI"/>
                  <a:ea typeface="Meiryo UI"/>
                </a:rPr>
                <a:t>After　</a:t>
              </a:r>
              <a:r>
                <a:rPr sz="1050" b="1">
                  <a:solidFill>
                    <a:srgbClr val="262626"/>
                  </a:solidFill>
                  <a:latin typeface="Meiryo UI"/>
                  <a:ea typeface="Meiryo UI"/>
                </a:rPr>
                <a:t>「値引き90＋施策10＋成果連動」＋小売データ共同検証のJBP商談へ　</a:t>
              </a:r>
              <a:r>
                <a:rPr sz="1050" b="0">
                  <a:solidFill>
                    <a:srgbClr val="595959"/>
                  </a:solidFill>
                  <a:latin typeface="Meiryo UI"/>
                  <a:ea typeface="Meiryo UI"/>
                </a:rPr>
                <a:t>（C2・B1）</a:t>
              </a:r>
            </a:p>
          </p:txBody>
        </p:sp>
        <p:sp>
          <p:nvSpPr>
            <p:cNvPr id="53" name="Rectangle 23">
              <a:extLst>
                <a:ext uri="{FF2B5EF4-FFF2-40B4-BE49-F238E27FC236}">
                  <a16:creationId xmlns:a16="http://schemas.microsoft.com/office/drawing/2014/main" id="{E9E5D001-ADE8-A022-6792-320810021E52}"/>
                </a:ext>
              </a:extLst>
            </p:cNvPr>
            <p:cNvSpPr/>
            <p:nvPr/>
          </p:nvSpPr>
          <p:spPr>
            <a:xfrm>
              <a:off x="320040" y="3909897"/>
              <a:ext cx="5669280" cy="884156"/>
            </a:xfrm>
            <a:prstGeom prst="rect">
              <a:avLst/>
            </a:prstGeom>
            <a:solidFill>
              <a:srgbClr val="F2F7F3"/>
            </a:solidFill>
            <a:ln w="63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54" name="TextBox 24">
              <a:extLst>
                <a:ext uri="{FF2B5EF4-FFF2-40B4-BE49-F238E27FC236}">
                  <a16:creationId xmlns:a16="http://schemas.microsoft.com/office/drawing/2014/main" id="{1A2A878C-DB6E-5EC5-60C7-03DBFDA98A73}"/>
                </a:ext>
              </a:extLst>
            </p:cNvPr>
            <p:cNvSpPr txBox="1"/>
            <p:nvPr/>
          </p:nvSpPr>
          <p:spPr>
            <a:xfrm>
              <a:off x="393192" y="3954104"/>
              <a:ext cx="1097280" cy="16517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8000"/>
                </a:lnSpc>
              </a:pPr>
              <a:r>
                <a:rPr sz="1100" b="1">
                  <a:solidFill>
                    <a:srgbClr val="008D2E"/>
                  </a:solidFill>
                  <a:latin typeface="Meiryo UI"/>
                  <a:ea typeface="Meiryo UI"/>
                </a:rPr>
                <a:t>売場・接点</a:t>
              </a:r>
            </a:p>
          </p:txBody>
        </p:sp>
        <p:sp>
          <p:nvSpPr>
            <p:cNvPr id="55" name="TextBox 25">
              <a:extLst>
                <a:ext uri="{FF2B5EF4-FFF2-40B4-BE49-F238E27FC236}">
                  <a16:creationId xmlns:a16="http://schemas.microsoft.com/office/drawing/2014/main" id="{DEBE801C-4621-AE62-5119-72FDD6F5A485}"/>
                </a:ext>
              </a:extLst>
            </p:cNvPr>
            <p:cNvSpPr txBox="1"/>
            <p:nvPr/>
          </p:nvSpPr>
          <p:spPr>
            <a:xfrm>
              <a:off x="1536192" y="3954104"/>
              <a:ext cx="2084831" cy="33778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1050" b="1">
                  <a:solidFill>
                    <a:srgbClr val="595959"/>
                  </a:solidFill>
                  <a:latin typeface="Meiryo UI"/>
                  <a:ea typeface="Meiryo UI"/>
                </a:rPr>
                <a:t>Before　</a:t>
              </a:r>
              <a:r>
                <a:rPr sz="1050" b="0">
                  <a:solidFill>
                    <a:srgbClr val="262626"/>
                  </a:solidFill>
                  <a:latin typeface="Meiryo UI"/>
                  <a:ea typeface="Meiryo UI"/>
                </a:rPr>
                <a:t>棚取り・チラシ枠交渉。店頭とECは別管理</a:t>
              </a:r>
            </a:p>
          </p:txBody>
        </p:sp>
        <p:sp>
          <p:nvSpPr>
            <p:cNvPr id="56" name="TextBox 26">
              <a:extLst>
                <a:ext uri="{FF2B5EF4-FFF2-40B4-BE49-F238E27FC236}">
                  <a16:creationId xmlns:a16="http://schemas.microsoft.com/office/drawing/2014/main" id="{3A8985E4-0FE8-CB52-079F-07ABD213DF5B}"/>
                </a:ext>
              </a:extLst>
            </p:cNvPr>
            <p:cNvSpPr txBox="1"/>
            <p:nvPr/>
          </p:nvSpPr>
          <p:spPr>
            <a:xfrm>
              <a:off x="3703320" y="3954104"/>
              <a:ext cx="2212848" cy="51552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1050" b="1">
                  <a:solidFill>
                    <a:srgbClr val="008D2E"/>
                  </a:solidFill>
                  <a:latin typeface="Meiryo UI"/>
                  <a:ea typeface="Meiryo UI"/>
                </a:rPr>
                <a:t>After　</a:t>
              </a:r>
              <a:r>
                <a:rPr sz="1050" b="1">
                  <a:solidFill>
                    <a:srgbClr val="262626"/>
                  </a:solidFill>
                  <a:latin typeface="Meiryo UI"/>
                  <a:ea typeface="Meiryo UI"/>
                </a:rPr>
                <a:t>診断型売場×リテールメディアを共同運用。棚・EC・AI推奨をTAで一体管理　</a:t>
              </a:r>
              <a:r>
                <a:rPr sz="1050" b="0">
                  <a:solidFill>
                    <a:srgbClr val="595959"/>
                  </a:solidFill>
                  <a:latin typeface="Meiryo UI"/>
                  <a:ea typeface="Meiryo UI"/>
                </a:rPr>
                <a:t>（B2）</a:t>
              </a:r>
            </a:p>
          </p:txBody>
        </p:sp>
        <p:sp>
          <p:nvSpPr>
            <p:cNvPr id="57" name="Rectangle 27">
              <a:extLst>
                <a:ext uri="{FF2B5EF4-FFF2-40B4-BE49-F238E27FC236}">
                  <a16:creationId xmlns:a16="http://schemas.microsoft.com/office/drawing/2014/main" id="{DB8E5A94-0927-612A-A989-B3A2E709E9D6}"/>
                </a:ext>
              </a:extLst>
            </p:cNvPr>
            <p:cNvSpPr/>
            <p:nvPr/>
          </p:nvSpPr>
          <p:spPr>
            <a:xfrm>
              <a:off x="320040" y="4864787"/>
              <a:ext cx="5669280" cy="884156"/>
            </a:xfrm>
            <a:prstGeom prst="rect">
              <a:avLst/>
            </a:prstGeom>
            <a:solidFill>
              <a:srgbClr val="F2F7F3"/>
            </a:solidFill>
            <a:ln w="63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58" name="TextBox 28">
              <a:extLst>
                <a:ext uri="{FF2B5EF4-FFF2-40B4-BE49-F238E27FC236}">
                  <a16:creationId xmlns:a16="http://schemas.microsoft.com/office/drawing/2014/main" id="{7A04ADDA-C893-A0F2-E1A8-457B0F06C8EE}"/>
                </a:ext>
              </a:extLst>
            </p:cNvPr>
            <p:cNvSpPr txBox="1"/>
            <p:nvPr/>
          </p:nvSpPr>
          <p:spPr>
            <a:xfrm>
              <a:off x="393192" y="4908994"/>
              <a:ext cx="1097280" cy="16517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8000"/>
                </a:lnSpc>
              </a:pPr>
              <a:r>
                <a:rPr sz="1100" b="1">
                  <a:solidFill>
                    <a:srgbClr val="008D2E"/>
                  </a:solidFill>
                  <a:latin typeface="Meiryo UI"/>
                  <a:ea typeface="Meiryo UI"/>
                </a:rPr>
                <a:t>体制・評価</a:t>
              </a:r>
            </a:p>
          </p:txBody>
        </p:sp>
        <p:sp>
          <p:nvSpPr>
            <p:cNvPr id="59" name="TextBox 29">
              <a:extLst>
                <a:ext uri="{FF2B5EF4-FFF2-40B4-BE49-F238E27FC236}">
                  <a16:creationId xmlns:a16="http://schemas.microsoft.com/office/drawing/2014/main" id="{D2B0CB36-34FF-C0ED-1889-649D49B7F62F}"/>
                </a:ext>
              </a:extLst>
            </p:cNvPr>
            <p:cNvSpPr txBox="1"/>
            <p:nvPr/>
          </p:nvSpPr>
          <p:spPr>
            <a:xfrm>
              <a:off x="1536192" y="4908994"/>
              <a:ext cx="2084831" cy="33778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1050" b="1">
                  <a:solidFill>
                    <a:srgbClr val="595959"/>
                  </a:solidFill>
                  <a:latin typeface="Meiryo UI"/>
                  <a:ea typeface="Meiryo UI"/>
                </a:rPr>
                <a:t>Before　</a:t>
              </a:r>
              <a:r>
                <a:rPr sz="1050" b="0">
                  <a:solidFill>
                    <a:srgbClr val="262626"/>
                  </a:solidFill>
                  <a:latin typeface="Meiryo UI"/>
                  <a:ea typeface="Meiryo UI"/>
                </a:rPr>
                <a:t>1人1バイヤーの属人営業・売上評価のみ</a:t>
              </a:r>
            </a:p>
          </p:txBody>
        </p:sp>
        <p:sp>
          <p:nvSpPr>
            <p:cNvPr id="60" name="TextBox 30">
              <a:extLst>
                <a:ext uri="{FF2B5EF4-FFF2-40B4-BE49-F238E27FC236}">
                  <a16:creationId xmlns:a16="http://schemas.microsoft.com/office/drawing/2014/main" id="{0B26B84D-2796-8918-A0D2-E6C6C7A48761}"/>
                </a:ext>
              </a:extLst>
            </p:cNvPr>
            <p:cNvSpPr txBox="1"/>
            <p:nvPr/>
          </p:nvSpPr>
          <p:spPr>
            <a:xfrm>
              <a:off x="3703320" y="4908994"/>
              <a:ext cx="2212848" cy="51552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1050" b="1">
                  <a:solidFill>
                    <a:srgbClr val="008D2E"/>
                  </a:solidFill>
                  <a:latin typeface="Meiryo UI"/>
                  <a:ea typeface="Meiryo UI"/>
                </a:rPr>
                <a:t>After　</a:t>
              </a:r>
              <a:r>
                <a:rPr sz="1050" b="1">
                  <a:solidFill>
                    <a:srgbClr val="262626"/>
                  </a:solidFill>
                  <a:latin typeface="Meiryo UI"/>
                  <a:ea typeface="Meiryo UI"/>
                </a:rPr>
                <a:t>混成チーム（営業・ブランド・データ・EC・SCM）で増分粗利を共有KPIに　</a:t>
              </a:r>
              <a:r>
                <a:rPr sz="1050" b="0">
                  <a:solidFill>
                    <a:srgbClr val="595959"/>
                  </a:solidFill>
                  <a:latin typeface="Meiryo UI"/>
                  <a:ea typeface="Meiryo UI"/>
                </a:rPr>
                <a:t>（D2）</a:t>
              </a:r>
            </a:p>
          </p:txBody>
        </p:sp>
      </p:grpSp>
      <p:grpSp>
        <p:nvGrpSpPr>
          <p:cNvPr id="82" name="グループ化 81">
            <a:extLst>
              <a:ext uri="{FF2B5EF4-FFF2-40B4-BE49-F238E27FC236}">
                <a16:creationId xmlns:a16="http://schemas.microsoft.com/office/drawing/2014/main" id="{9E90AF49-2F26-BE13-481A-E11EFA89725A}"/>
              </a:ext>
            </a:extLst>
          </p:cNvPr>
          <p:cNvGrpSpPr/>
          <p:nvPr/>
        </p:nvGrpSpPr>
        <p:grpSpPr>
          <a:xfrm>
            <a:off x="426028" y="1628774"/>
            <a:ext cx="5669280" cy="4120169"/>
            <a:chOff x="6172200" y="1628774"/>
            <a:chExt cx="5669280" cy="4120169"/>
          </a:xfrm>
        </p:grpSpPr>
        <p:sp>
          <p:nvSpPr>
            <p:cNvPr id="61" name="Rectangle 31">
              <a:extLst>
                <a:ext uri="{FF2B5EF4-FFF2-40B4-BE49-F238E27FC236}">
                  <a16:creationId xmlns:a16="http://schemas.microsoft.com/office/drawing/2014/main" id="{27D942DE-D4DA-01C7-F935-78D6B70B0B36}"/>
                </a:ext>
              </a:extLst>
            </p:cNvPr>
            <p:cNvSpPr/>
            <p:nvPr/>
          </p:nvSpPr>
          <p:spPr>
            <a:xfrm>
              <a:off x="6172200" y="1628774"/>
              <a:ext cx="5669280" cy="318296"/>
            </a:xfrm>
            <a:prstGeom prst="rect">
              <a:avLst/>
            </a:prstGeom>
            <a:solidFill>
              <a:srgbClr val="0F5E8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62" name="TextBox 32">
              <a:extLst>
                <a:ext uri="{FF2B5EF4-FFF2-40B4-BE49-F238E27FC236}">
                  <a16:creationId xmlns:a16="http://schemas.microsoft.com/office/drawing/2014/main" id="{5AD571DA-26E2-1181-315D-4A961DC09AD7}"/>
                </a:ext>
              </a:extLst>
            </p:cNvPr>
            <p:cNvSpPr txBox="1"/>
            <p:nvPr/>
          </p:nvSpPr>
          <p:spPr>
            <a:xfrm>
              <a:off x="6281928" y="1664140"/>
              <a:ext cx="5440680" cy="24756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sz="1600" b="1">
                  <a:solidFill>
                    <a:srgbClr val="FFFFFF"/>
                  </a:solidFill>
                  <a:latin typeface="Meiryo UI"/>
                  <a:ea typeface="Meiryo UI"/>
                </a:rPr>
                <a:t>マーケティングのDX ― 投資・コンテンツ・顧客基盤</a:t>
              </a:r>
            </a:p>
          </p:txBody>
        </p:sp>
        <p:sp>
          <p:nvSpPr>
            <p:cNvPr id="63" name="Rectangle 33">
              <a:extLst>
                <a:ext uri="{FF2B5EF4-FFF2-40B4-BE49-F238E27FC236}">
                  <a16:creationId xmlns:a16="http://schemas.microsoft.com/office/drawing/2014/main" id="{386B0214-0513-40DF-F9FF-A2F0D610D344}"/>
                </a:ext>
              </a:extLst>
            </p:cNvPr>
            <p:cNvSpPr/>
            <p:nvPr/>
          </p:nvSpPr>
          <p:spPr>
            <a:xfrm>
              <a:off x="6172200" y="2000120"/>
              <a:ext cx="5669280" cy="884156"/>
            </a:xfrm>
            <a:prstGeom prst="rect">
              <a:avLst/>
            </a:prstGeom>
            <a:solidFill>
              <a:srgbClr val="F2F7F3"/>
            </a:solidFill>
            <a:ln w="63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64" name="TextBox 34">
              <a:extLst>
                <a:ext uri="{FF2B5EF4-FFF2-40B4-BE49-F238E27FC236}">
                  <a16:creationId xmlns:a16="http://schemas.microsoft.com/office/drawing/2014/main" id="{8EA64325-8D96-FB0B-EC33-C8F817B9B5D3}"/>
                </a:ext>
              </a:extLst>
            </p:cNvPr>
            <p:cNvSpPr txBox="1"/>
            <p:nvPr/>
          </p:nvSpPr>
          <p:spPr>
            <a:xfrm>
              <a:off x="6245352" y="2044327"/>
              <a:ext cx="1097280" cy="16517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8000"/>
                </a:lnSpc>
              </a:pPr>
              <a:r>
                <a:rPr sz="1100" b="1">
                  <a:solidFill>
                    <a:srgbClr val="0F5E87"/>
                  </a:solidFill>
                  <a:latin typeface="Meiryo UI"/>
                  <a:ea typeface="Meiryo UI"/>
                </a:rPr>
                <a:t>メディア投資</a:t>
              </a:r>
            </a:p>
          </p:txBody>
        </p:sp>
        <p:sp>
          <p:nvSpPr>
            <p:cNvPr id="65" name="TextBox 35">
              <a:extLst>
                <a:ext uri="{FF2B5EF4-FFF2-40B4-BE49-F238E27FC236}">
                  <a16:creationId xmlns:a16="http://schemas.microsoft.com/office/drawing/2014/main" id="{8702E49A-E107-75D9-A15A-29F29BC79AF9}"/>
                </a:ext>
              </a:extLst>
            </p:cNvPr>
            <p:cNvSpPr txBox="1"/>
            <p:nvPr/>
          </p:nvSpPr>
          <p:spPr>
            <a:xfrm>
              <a:off x="7388352" y="2044327"/>
              <a:ext cx="2084831" cy="33778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1050" b="1">
                  <a:solidFill>
                    <a:srgbClr val="595959"/>
                  </a:solidFill>
                  <a:latin typeface="Meiryo UI"/>
                  <a:ea typeface="Meiryo UI"/>
                </a:rPr>
                <a:t>Before　</a:t>
              </a:r>
              <a:r>
                <a:rPr sz="1050" b="0">
                  <a:solidFill>
                    <a:srgbClr val="262626"/>
                  </a:solidFill>
                  <a:latin typeface="Meiryo UI"/>
                  <a:ea typeface="Meiryo UI"/>
                </a:rPr>
                <a:t>マス広告中心。効果測定は認知調査どまり</a:t>
              </a:r>
            </a:p>
          </p:txBody>
        </p:sp>
        <p:sp>
          <p:nvSpPr>
            <p:cNvPr id="66" name="TextBox 36">
              <a:extLst>
                <a:ext uri="{FF2B5EF4-FFF2-40B4-BE49-F238E27FC236}">
                  <a16:creationId xmlns:a16="http://schemas.microsoft.com/office/drawing/2014/main" id="{9BF1947D-238B-D9F1-75FA-6C271FF03005}"/>
                </a:ext>
              </a:extLst>
            </p:cNvPr>
            <p:cNvSpPr txBox="1"/>
            <p:nvPr/>
          </p:nvSpPr>
          <p:spPr>
            <a:xfrm>
              <a:off x="9555480" y="2044327"/>
              <a:ext cx="2212848" cy="51552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1050" b="1">
                  <a:solidFill>
                    <a:srgbClr val="0F5E87"/>
                  </a:solidFill>
                  <a:latin typeface="Meiryo UI"/>
                  <a:ea typeface="Meiryo UI"/>
                </a:rPr>
                <a:t>After　</a:t>
              </a:r>
              <a:r>
                <a:rPr sz="1050" b="1">
                  <a:solidFill>
                    <a:srgbClr val="262626"/>
                  </a:solidFill>
                  <a:latin typeface="Meiryo UI"/>
                  <a:ea typeface="Meiryo UI"/>
                </a:rPr>
                <a:t>リテールメディア・AIEOへ再配分し、MMM＋増分実験でROIを毎月運用　</a:t>
              </a:r>
              <a:r>
                <a:rPr sz="1050" b="0">
                  <a:solidFill>
                    <a:srgbClr val="595959"/>
                  </a:solidFill>
                  <a:latin typeface="Meiryo UI"/>
                  <a:ea typeface="Meiryo UI"/>
                </a:rPr>
                <a:t>（B1・B2）</a:t>
              </a:r>
            </a:p>
          </p:txBody>
        </p:sp>
        <p:sp>
          <p:nvSpPr>
            <p:cNvPr id="67" name="Rectangle 37">
              <a:extLst>
                <a:ext uri="{FF2B5EF4-FFF2-40B4-BE49-F238E27FC236}">
                  <a16:creationId xmlns:a16="http://schemas.microsoft.com/office/drawing/2014/main" id="{8ABBF168-134F-DA5D-BCE0-FDBE13FF3A4F}"/>
                </a:ext>
              </a:extLst>
            </p:cNvPr>
            <p:cNvSpPr/>
            <p:nvPr/>
          </p:nvSpPr>
          <p:spPr>
            <a:xfrm>
              <a:off x="6172200" y="2955009"/>
              <a:ext cx="5669280" cy="884156"/>
            </a:xfrm>
            <a:prstGeom prst="rect">
              <a:avLst/>
            </a:prstGeom>
            <a:solidFill>
              <a:srgbClr val="F2F7F3"/>
            </a:solidFill>
            <a:ln w="63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68" name="TextBox 38">
              <a:extLst>
                <a:ext uri="{FF2B5EF4-FFF2-40B4-BE49-F238E27FC236}">
                  <a16:creationId xmlns:a16="http://schemas.microsoft.com/office/drawing/2014/main" id="{226AA29D-8281-CCC6-413B-D5993BAF4B3B}"/>
                </a:ext>
              </a:extLst>
            </p:cNvPr>
            <p:cNvSpPr txBox="1"/>
            <p:nvPr/>
          </p:nvSpPr>
          <p:spPr>
            <a:xfrm>
              <a:off x="6245352" y="2999216"/>
              <a:ext cx="1097280" cy="16517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8000"/>
                </a:lnSpc>
              </a:pPr>
              <a:r>
                <a:rPr sz="1100" b="1">
                  <a:solidFill>
                    <a:srgbClr val="0F5E87"/>
                  </a:solidFill>
                  <a:latin typeface="Meiryo UI"/>
                  <a:ea typeface="Meiryo UI"/>
                </a:rPr>
                <a:t>コンテンツ</a:t>
              </a:r>
            </a:p>
          </p:txBody>
        </p:sp>
        <p:sp>
          <p:nvSpPr>
            <p:cNvPr id="69" name="TextBox 39">
              <a:extLst>
                <a:ext uri="{FF2B5EF4-FFF2-40B4-BE49-F238E27FC236}">
                  <a16:creationId xmlns:a16="http://schemas.microsoft.com/office/drawing/2014/main" id="{B0AF664B-BAFC-EC3F-FB6F-5D6E35515F47}"/>
                </a:ext>
              </a:extLst>
            </p:cNvPr>
            <p:cNvSpPr txBox="1"/>
            <p:nvPr/>
          </p:nvSpPr>
          <p:spPr>
            <a:xfrm>
              <a:off x="7388352" y="2999216"/>
              <a:ext cx="2084831" cy="33778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1050" b="1">
                  <a:solidFill>
                    <a:srgbClr val="595959"/>
                  </a:solidFill>
                  <a:latin typeface="Meiryo UI"/>
                  <a:ea typeface="Meiryo UI"/>
                </a:rPr>
                <a:t>Before　</a:t>
              </a:r>
              <a:r>
                <a:rPr sz="1050" b="0">
                  <a:solidFill>
                    <a:srgbClr val="262626"/>
                  </a:solidFill>
                  <a:latin typeface="Meiryo UI"/>
                  <a:ea typeface="Meiryo UI"/>
                </a:rPr>
                <a:t>広告クリエイティブの制作が中心</a:t>
              </a:r>
            </a:p>
          </p:txBody>
        </p:sp>
        <p:sp>
          <p:nvSpPr>
            <p:cNvPr id="70" name="TextBox 40">
              <a:extLst>
                <a:ext uri="{FF2B5EF4-FFF2-40B4-BE49-F238E27FC236}">
                  <a16:creationId xmlns:a16="http://schemas.microsoft.com/office/drawing/2014/main" id="{0894290B-082F-3BCB-059C-9E17A09FEB49}"/>
                </a:ext>
              </a:extLst>
            </p:cNvPr>
            <p:cNvSpPr txBox="1"/>
            <p:nvPr/>
          </p:nvSpPr>
          <p:spPr>
            <a:xfrm>
              <a:off x="9555480" y="2999216"/>
              <a:ext cx="2212848" cy="51552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1050" b="1">
                  <a:solidFill>
                    <a:srgbClr val="0F5E87"/>
                  </a:solidFill>
                  <a:latin typeface="Meiryo UI"/>
                  <a:ea typeface="Meiryo UI"/>
                </a:rPr>
                <a:t>After　</a:t>
              </a:r>
              <a:r>
                <a:rPr sz="1050" b="1">
                  <a:solidFill>
                    <a:srgbClr val="262626"/>
                  </a:solidFill>
                  <a:latin typeface="Meiryo UI"/>
                  <a:ea typeface="Meiryo UI"/>
                </a:rPr>
                <a:t>臨床エビデンスを「人向け」と「AIが引用する構造化データ」の両輪で生産　</a:t>
              </a:r>
              <a:r>
                <a:rPr sz="1050" b="0">
                  <a:solidFill>
                    <a:srgbClr val="595959"/>
                  </a:solidFill>
                  <a:latin typeface="Meiryo UI"/>
                  <a:ea typeface="Meiryo UI"/>
                </a:rPr>
                <a:t>（A1・C1）</a:t>
              </a:r>
            </a:p>
          </p:txBody>
        </p:sp>
        <p:sp>
          <p:nvSpPr>
            <p:cNvPr id="71" name="Rectangle 41">
              <a:extLst>
                <a:ext uri="{FF2B5EF4-FFF2-40B4-BE49-F238E27FC236}">
                  <a16:creationId xmlns:a16="http://schemas.microsoft.com/office/drawing/2014/main" id="{0D0A176C-A046-8B14-95CD-85CC89C6F6EA}"/>
                </a:ext>
              </a:extLst>
            </p:cNvPr>
            <p:cNvSpPr/>
            <p:nvPr/>
          </p:nvSpPr>
          <p:spPr>
            <a:xfrm>
              <a:off x="6172200" y="3909897"/>
              <a:ext cx="5669280" cy="884156"/>
            </a:xfrm>
            <a:prstGeom prst="rect">
              <a:avLst/>
            </a:prstGeom>
            <a:solidFill>
              <a:srgbClr val="F2F7F3"/>
            </a:solidFill>
            <a:ln w="63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72" name="TextBox 42">
              <a:extLst>
                <a:ext uri="{FF2B5EF4-FFF2-40B4-BE49-F238E27FC236}">
                  <a16:creationId xmlns:a16="http://schemas.microsoft.com/office/drawing/2014/main" id="{B1967600-9725-47BB-CA6C-4D05C7B8DA64}"/>
                </a:ext>
              </a:extLst>
            </p:cNvPr>
            <p:cNvSpPr txBox="1"/>
            <p:nvPr/>
          </p:nvSpPr>
          <p:spPr>
            <a:xfrm>
              <a:off x="6245352" y="3954104"/>
              <a:ext cx="1097280" cy="16517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8000"/>
                </a:lnSpc>
              </a:pPr>
              <a:r>
                <a:rPr sz="1100" b="1">
                  <a:solidFill>
                    <a:srgbClr val="0F5E87"/>
                  </a:solidFill>
                  <a:latin typeface="Meiryo UI"/>
                  <a:ea typeface="Meiryo UI"/>
                </a:rPr>
                <a:t>顧客基盤</a:t>
              </a:r>
            </a:p>
          </p:txBody>
        </p:sp>
        <p:sp>
          <p:nvSpPr>
            <p:cNvPr id="73" name="TextBox 43">
              <a:extLst>
                <a:ext uri="{FF2B5EF4-FFF2-40B4-BE49-F238E27FC236}">
                  <a16:creationId xmlns:a16="http://schemas.microsoft.com/office/drawing/2014/main" id="{1A6FD1EF-BEAF-90BD-A674-3F66BD1E3753}"/>
                </a:ext>
              </a:extLst>
            </p:cNvPr>
            <p:cNvSpPr txBox="1"/>
            <p:nvPr/>
          </p:nvSpPr>
          <p:spPr>
            <a:xfrm>
              <a:off x="7388352" y="3954104"/>
              <a:ext cx="2084831" cy="33778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1050" b="1">
                  <a:solidFill>
                    <a:srgbClr val="595959"/>
                  </a:solidFill>
                  <a:latin typeface="Meiryo UI"/>
                  <a:ea typeface="Meiryo UI"/>
                </a:rPr>
                <a:t>Before　</a:t>
              </a:r>
              <a:r>
                <a:rPr sz="1050" b="0">
                  <a:solidFill>
                    <a:srgbClr val="262626"/>
                  </a:solidFill>
                  <a:latin typeface="Meiryo UI"/>
                  <a:ea typeface="Meiryo UI"/>
                </a:rPr>
                <a:t>クーポン型ID・キャンペーン単位のCRM</a:t>
              </a:r>
            </a:p>
          </p:txBody>
        </p:sp>
        <p:sp>
          <p:nvSpPr>
            <p:cNvPr id="74" name="TextBox 44">
              <a:extLst>
                <a:ext uri="{FF2B5EF4-FFF2-40B4-BE49-F238E27FC236}">
                  <a16:creationId xmlns:a16="http://schemas.microsoft.com/office/drawing/2014/main" id="{8AC18B1F-4A97-0A12-87ED-B337AD276209}"/>
                </a:ext>
              </a:extLst>
            </p:cNvPr>
            <p:cNvSpPr txBox="1"/>
            <p:nvPr/>
          </p:nvSpPr>
          <p:spPr>
            <a:xfrm>
              <a:off x="9555480" y="3954104"/>
              <a:ext cx="2212848" cy="51552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1050" b="1">
                  <a:solidFill>
                    <a:srgbClr val="0F5E87"/>
                  </a:solidFill>
                  <a:latin typeface="Meiryo UI"/>
                  <a:ea typeface="Meiryo UI"/>
                </a:rPr>
                <a:t>After　</a:t>
              </a:r>
              <a:r>
                <a:rPr sz="1050" b="1">
                  <a:solidFill>
                    <a:srgbClr val="262626"/>
                  </a:solidFill>
                  <a:latin typeface="Meiryo UI"/>
                  <a:ea typeface="Meiryo UI"/>
                </a:rPr>
                <a:t>口腔健康OSとしてのID運用。リピート・継続を行動データで追いDCRで接続　</a:t>
              </a:r>
              <a:r>
                <a:rPr sz="1050" b="0">
                  <a:solidFill>
                    <a:srgbClr val="595959"/>
                  </a:solidFill>
                  <a:latin typeface="Meiryo UI"/>
                  <a:ea typeface="Meiryo UI"/>
                </a:rPr>
                <a:t>（A2・DCR）</a:t>
              </a:r>
            </a:p>
          </p:txBody>
        </p:sp>
        <p:sp>
          <p:nvSpPr>
            <p:cNvPr id="75" name="Rectangle 45">
              <a:extLst>
                <a:ext uri="{FF2B5EF4-FFF2-40B4-BE49-F238E27FC236}">
                  <a16:creationId xmlns:a16="http://schemas.microsoft.com/office/drawing/2014/main" id="{4BC1EF79-6189-71D8-161E-2E07EBB08ECF}"/>
                </a:ext>
              </a:extLst>
            </p:cNvPr>
            <p:cNvSpPr/>
            <p:nvPr/>
          </p:nvSpPr>
          <p:spPr>
            <a:xfrm>
              <a:off x="6172200" y="4864787"/>
              <a:ext cx="5669280" cy="884156"/>
            </a:xfrm>
            <a:prstGeom prst="rect">
              <a:avLst/>
            </a:prstGeom>
            <a:solidFill>
              <a:srgbClr val="F2F7F3"/>
            </a:solidFill>
            <a:ln w="63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76" name="TextBox 46">
              <a:extLst>
                <a:ext uri="{FF2B5EF4-FFF2-40B4-BE49-F238E27FC236}">
                  <a16:creationId xmlns:a16="http://schemas.microsoft.com/office/drawing/2014/main" id="{83C671AC-D1BC-F416-F7E2-7E9615A1D951}"/>
                </a:ext>
              </a:extLst>
            </p:cNvPr>
            <p:cNvSpPr txBox="1"/>
            <p:nvPr/>
          </p:nvSpPr>
          <p:spPr>
            <a:xfrm>
              <a:off x="6245352" y="4908994"/>
              <a:ext cx="1097280" cy="16517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8000"/>
                </a:lnSpc>
              </a:pPr>
              <a:r>
                <a:rPr sz="1100" b="1">
                  <a:solidFill>
                    <a:srgbClr val="0F5E87"/>
                  </a:solidFill>
                  <a:latin typeface="Meiryo UI"/>
                  <a:ea typeface="Meiryo UI"/>
                </a:rPr>
                <a:t>AI接点の運用</a:t>
              </a:r>
            </a:p>
          </p:txBody>
        </p:sp>
        <p:sp>
          <p:nvSpPr>
            <p:cNvPr id="77" name="TextBox 47">
              <a:extLst>
                <a:ext uri="{FF2B5EF4-FFF2-40B4-BE49-F238E27FC236}">
                  <a16:creationId xmlns:a16="http://schemas.microsoft.com/office/drawing/2014/main" id="{126752B0-9099-D9BD-D86E-0462DA316B01}"/>
                </a:ext>
              </a:extLst>
            </p:cNvPr>
            <p:cNvSpPr txBox="1"/>
            <p:nvPr/>
          </p:nvSpPr>
          <p:spPr>
            <a:xfrm>
              <a:off x="7388352" y="4908994"/>
              <a:ext cx="2084831" cy="33778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1050" b="1">
                  <a:solidFill>
                    <a:srgbClr val="595959"/>
                  </a:solidFill>
                  <a:latin typeface="Meiryo UI"/>
                  <a:ea typeface="Meiryo UI"/>
                </a:rPr>
                <a:t>Before　</a:t>
              </a:r>
              <a:r>
                <a:rPr sz="1050" b="0">
                  <a:solidFill>
                    <a:srgbClr val="262626"/>
                  </a:solidFill>
                  <a:latin typeface="Meiryo UI"/>
                  <a:ea typeface="Meiryo UI"/>
                </a:rPr>
                <a:t>AIにどう扱われるか未計測・未対応</a:t>
              </a:r>
            </a:p>
          </p:txBody>
        </p:sp>
        <p:sp>
          <p:nvSpPr>
            <p:cNvPr id="78" name="TextBox 48">
              <a:extLst>
                <a:ext uri="{FF2B5EF4-FFF2-40B4-BE49-F238E27FC236}">
                  <a16:creationId xmlns:a16="http://schemas.microsoft.com/office/drawing/2014/main" id="{9EEF3EC9-05E7-5E9D-5E0D-A85095AA582D}"/>
                </a:ext>
              </a:extLst>
            </p:cNvPr>
            <p:cNvSpPr txBox="1"/>
            <p:nvPr/>
          </p:nvSpPr>
          <p:spPr>
            <a:xfrm>
              <a:off x="9555480" y="4908994"/>
              <a:ext cx="2212848" cy="51552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1050" b="1">
                  <a:solidFill>
                    <a:srgbClr val="0F5E87"/>
                  </a:solidFill>
                  <a:latin typeface="Meiryo UI"/>
                  <a:ea typeface="Meiryo UI"/>
                </a:rPr>
                <a:t>After　</a:t>
              </a:r>
              <a:r>
                <a:rPr sz="1050" b="1">
                  <a:solidFill>
                    <a:srgbClr val="262626"/>
                  </a:solidFill>
                  <a:latin typeface="Meiryo UI"/>
                  <a:ea typeface="Meiryo UI"/>
                </a:rPr>
                <a:t>AIEO Rate月次監査→原因特定→情報修正のループを運用　</a:t>
              </a:r>
              <a:r>
                <a:rPr sz="1050" b="0">
                  <a:solidFill>
                    <a:srgbClr val="595959"/>
                  </a:solidFill>
                  <a:latin typeface="Meiryo UI"/>
                  <a:ea typeface="Meiryo UI"/>
                </a:rPr>
                <a:t>（A1）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59668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69DA56-27BB-2D2A-C128-3F29B46FA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マイルストーン（</a:t>
            </a:r>
            <a:r>
              <a:rPr lang="en-US" altLang="ja-JP" dirty="0"/>
              <a:t>FY26–FY30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BC006E1-D6CA-4238-1995-70812B6981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FY30</a:t>
            </a:r>
            <a:r>
              <a:rPr lang="ja-JP" altLang="en-US" dirty="0"/>
              <a:t>（</a:t>
            </a:r>
            <a:r>
              <a:rPr lang="en-US" altLang="ja-JP" dirty="0"/>
              <a:t>3rd Stage</a:t>
            </a:r>
            <a:r>
              <a:rPr lang="ja-JP" altLang="en-US" dirty="0"/>
              <a:t>完了・統合報告書での</a:t>
            </a:r>
            <a:r>
              <a:rPr lang="en-US" altLang="ja-JP" dirty="0"/>
              <a:t>KPI</a:t>
            </a:r>
            <a:r>
              <a:rPr lang="ja-JP" altLang="en-US" dirty="0"/>
              <a:t>開示）に向けた段階実装。確認ゲートに合格したときだけ投資と組織変更を拡大する</a:t>
            </a:r>
          </a:p>
        </p:txBody>
      </p:sp>
      <p:grpSp>
        <p:nvGrpSpPr>
          <p:cNvPr id="160" name="グループ化 159">
            <a:extLst>
              <a:ext uri="{FF2B5EF4-FFF2-40B4-BE49-F238E27FC236}">
                <a16:creationId xmlns:a16="http://schemas.microsoft.com/office/drawing/2014/main" id="{00E11683-1680-1A65-6333-4B77BB62C9A6}"/>
              </a:ext>
            </a:extLst>
          </p:cNvPr>
          <p:cNvGrpSpPr/>
          <p:nvPr/>
        </p:nvGrpSpPr>
        <p:grpSpPr>
          <a:xfrm>
            <a:off x="320040" y="1628774"/>
            <a:ext cx="11871960" cy="4695579"/>
            <a:chOff x="320040" y="1298448"/>
            <a:chExt cx="11704320" cy="5036819"/>
          </a:xfrm>
        </p:grpSpPr>
        <p:sp>
          <p:nvSpPr>
            <p:cNvPr id="82" name="Rectangle 13">
              <a:extLst>
                <a:ext uri="{FF2B5EF4-FFF2-40B4-BE49-F238E27FC236}">
                  <a16:creationId xmlns:a16="http://schemas.microsoft.com/office/drawing/2014/main" id="{D283D2EB-9CAA-72BF-E8F0-B034CA178256}"/>
                </a:ext>
              </a:extLst>
            </p:cNvPr>
            <p:cNvSpPr/>
            <p:nvPr/>
          </p:nvSpPr>
          <p:spPr>
            <a:xfrm>
              <a:off x="2514600" y="1298448"/>
              <a:ext cx="1435608" cy="256032"/>
            </a:xfrm>
            <a:prstGeom prst="rect">
              <a:avLst/>
            </a:prstGeom>
            <a:solidFill>
              <a:srgbClr val="1623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83" name="TextBox 14">
              <a:extLst>
                <a:ext uri="{FF2B5EF4-FFF2-40B4-BE49-F238E27FC236}">
                  <a16:creationId xmlns:a16="http://schemas.microsoft.com/office/drawing/2014/main" id="{934D0285-5D85-8EAA-20D6-8BDEE6391634}"/>
                </a:ext>
              </a:extLst>
            </p:cNvPr>
            <p:cNvSpPr txBox="1"/>
            <p:nvPr/>
          </p:nvSpPr>
          <p:spPr>
            <a:xfrm>
              <a:off x="2569464" y="1335024"/>
              <a:ext cx="1325880" cy="16596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sz="1000" b="1">
                  <a:solidFill>
                    <a:srgbClr val="FFFFFF"/>
                  </a:solidFill>
                  <a:latin typeface="Meiryo UI"/>
                  <a:ea typeface="Meiryo UI"/>
                </a:rPr>
                <a:t>FY26下期</a:t>
              </a:r>
            </a:p>
          </p:txBody>
        </p:sp>
        <p:sp>
          <p:nvSpPr>
            <p:cNvPr id="84" name="Rectangle 15">
              <a:extLst>
                <a:ext uri="{FF2B5EF4-FFF2-40B4-BE49-F238E27FC236}">
                  <a16:creationId xmlns:a16="http://schemas.microsoft.com/office/drawing/2014/main" id="{5EB8DD4C-BB0F-83C9-FC76-C388217E1675}"/>
                </a:ext>
              </a:extLst>
            </p:cNvPr>
            <p:cNvSpPr/>
            <p:nvPr/>
          </p:nvSpPr>
          <p:spPr>
            <a:xfrm>
              <a:off x="3977639" y="1298448"/>
              <a:ext cx="1892808" cy="256032"/>
            </a:xfrm>
            <a:prstGeom prst="rect">
              <a:avLst/>
            </a:prstGeom>
            <a:solidFill>
              <a:srgbClr val="1623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85" name="TextBox 16">
              <a:extLst>
                <a:ext uri="{FF2B5EF4-FFF2-40B4-BE49-F238E27FC236}">
                  <a16:creationId xmlns:a16="http://schemas.microsoft.com/office/drawing/2014/main" id="{6EA95055-DF57-5671-AA43-D9BD321FBF60}"/>
                </a:ext>
              </a:extLst>
            </p:cNvPr>
            <p:cNvSpPr txBox="1"/>
            <p:nvPr/>
          </p:nvSpPr>
          <p:spPr>
            <a:xfrm>
              <a:off x="4032503" y="1335024"/>
              <a:ext cx="1783080" cy="16596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sz="1000" b="1">
                  <a:solidFill>
                    <a:srgbClr val="FFFFFF"/>
                  </a:solidFill>
                  <a:latin typeface="Meiryo UI"/>
                  <a:ea typeface="Meiryo UI"/>
                </a:rPr>
                <a:t>FY27</a:t>
              </a:r>
            </a:p>
          </p:txBody>
        </p:sp>
        <p:sp>
          <p:nvSpPr>
            <p:cNvPr id="86" name="Rectangle 17">
              <a:extLst>
                <a:ext uri="{FF2B5EF4-FFF2-40B4-BE49-F238E27FC236}">
                  <a16:creationId xmlns:a16="http://schemas.microsoft.com/office/drawing/2014/main" id="{1A1B9842-DB9B-7043-7DDC-01340B00BB6E}"/>
                </a:ext>
              </a:extLst>
            </p:cNvPr>
            <p:cNvSpPr/>
            <p:nvPr/>
          </p:nvSpPr>
          <p:spPr>
            <a:xfrm>
              <a:off x="5897879" y="1298448"/>
              <a:ext cx="1892808" cy="256032"/>
            </a:xfrm>
            <a:prstGeom prst="rect">
              <a:avLst/>
            </a:prstGeom>
            <a:solidFill>
              <a:srgbClr val="1623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87" name="TextBox 18">
              <a:extLst>
                <a:ext uri="{FF2B5EF4-FFF2-40B4-BE49-F238E27FC236}">
                  <a16:creationId xmlns:a16="http://schemas.microsoft.com/office/drawing/2014/main" id="{AE0AAEDB-B5EE-4A02-7A46-027950B17563}"/>
                </a:ext>
              </a:extLst>
            </p:cNvPr>
            <p:cNvSpPr txBox="1"/>
            <p:nvPr/>
          </p:nvSpPr>
          <p:spPr>
            <a:xfrm>
              <a:off x="5952743" y="1335024"/>
              <a:ext cx="1783080" cy="16596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sz="1000" b="1">
                  <a:solidFill>
                    <a:srgbClr val="FFFFFF"/>
                  </a:solidFill>
                  <a:latin typeface="Meiryo UI"/>
                  <a:ea typeface="Meiryo UI"/>
                </a:rPr>
                <a:t>FY28</a:t>
              </a:r>
            </a:p>
          </p:txBody>
        </p:sp>
        <p:sp>
          <p:nvSpPr>
            <p:cNvPr id="88" name="Rectangle 19">
              <a:extLst>
                <a:ext uri="{FF2B5EF4-FFF2-40B4-BE49-F238E27FC236}">
                  <a16:creationId xmlns:a16="http://schemas.microsoft.com/office/drawing/2014/main" id="{29CF0F8E-B26F-3C60-0951-20E5FE76523E}"/>
                </a:ext>
              </a:extLst>
            </p:cNvPr>
            <p:cNvSpPr/>
            <p:nvPr/>
          </p:nvSpPr>
          <p:spPr>
            <a:xfrm>
              <a:off x="7818119" y="1298448"/>
              <a:ext cx="1892808" cy="256032"/>
            </a:xfrm>
            <a:prstGeom prst="rect">
              <a:avLst/>
            </a:prstGeom>
            <a:solidFill>
              <a:srgbClr val="1623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89" name="TextBox 20">
              <a:extLst>
                <a:ext uri="{FF2B5EF4-FFF2-40B4-BE49-F238E27FC236}">
                  <a16:creationId xmlns:a16="http://schemas.microsoft.com/office/drawing/2014/main" id="{876338FA-B2F7-CC1D-DB48-D6EC7508DE5D}"/>
                </a:ext>
              </a:extLst>
            </p:cNvPr>
            <p:cNvSpPr txBox="1"/>
            <p:nvPr/>
          </p:nvSpPr>
          <p:spPr>
            <a:xfrm>
              <a:off x="7872983" y="1335024"/>
              <a:ext cx="1783080" cy="16596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sz="1000" b="1">
                  <a:solidFill>
                    <a:srgbClr val="FFFFFF"/>
                  </a:solidFill>
                  <a:latin typeface="Meiryo UI"/>
                  <a:ea typeface="Meiryo UI"/>
                </a:rPr>
                <a:t>FY29</a:t>
              </a:r>
            </a:p>
          </p:txBody>
        </p:sp>
        <p:sp>
          <p:nvSpPr>
            <p:cNvPr id="90" name="Rectangle 21">
              <a:extLst>
                <a:ext uri="{FF2B5EF4-FFF2-40B4-BE49-F238E27FC236}">
                  <a16:creationId xmlns:a16="http://schemas.microsoft.com/office/drawing/2014/main" id="{CEB1CCB6-A87E-60D8-B5C0-2A41FD0045F6}"/>
                </a:ext>
              </a:extLst>
            </p:cNvPr>
            <p:cNvSpPr/>
            <p:nvPr/>
          </p:nvSpPr>
          <p:spPr>
            <a:xfrm>
              <a:off x="9738359" y="1298448"/>
              <a:ext cx="1892808" cy="256032"/>
            </a:xfrm>
            <a:prstGeom prst="rect">
              <a:avLst/>
            </a:prstGeom>
            <a:solidFill>
              <a:srgbClr val="1623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91" name="TextBox 22">
              <a:extLst>
                <a:ext uri="{FF2B5EF4-FFF2-40B4-BE49-F238E27FC236}">
                  <a16:creationId xmlns:a16="http://schemas.microsoft.com/office/drawing/2014/main" id="{2C4E073B-3852-6430-E318-C5E045B7362A}"/>
                </a:ext>
              </a:extLst>
            </p:cNvPr>
            <p:cNvSpPr txBox="1"/>
            <p:nvPr/>
          </p:nvSpPr>
          <p:spPr>
            <a:xfrm>
              <a:off x="9793224" y="1335024"/>
              <a:ext cx="1783080" cy="16596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sz="1000" b="1">
                  <a:solidFill>
                    <a:srgbClr val="FFFFFF"/>
                  </a:solidFill>
                  <a:latin typeface="Meiryo UI"/>
                  <a:ea typeface="Meiryo UI"/>
                </a:rPr>
                <a:t>FY30</a:t>
              </a:r>
            </a:p>
          </p:txBody>
        </p:sp>
        <p:cxnSp>
          <p:nvCxnSpPr>
            <p:cNvPr id="92" name="Connector 23">
              <a:extLst>
                <a:ext uri="{FF2B5EF4-FFF2-40B4-BE49-F238E27FC236}">
                  <a16:creationId xmlns:a16="http://schemas.microsoft.com/office/drawing/2014/main" id="{32235D01-D7BD-EC6C-A366-E146060E1A29}"/>
                </a:ext>
              </a:extLst>
            </p:cNvPr>
            <p:cNvCxnSpPr/>
            <p:nvPr/>
          </p:nvCxnSpPr>
          <p:spPr>
            <a:xfrm>
              <a:off x="3977639" y="1627632"/>
              <a:ext cx="0" cy="4187952"/>
            </a:xfrm>
            <a:prstGeom prst="line">
              <a:avLst/>
            </a:prstGeom>
            <a:ln w="6350">
              <a:solidFill>
                <a:srgbClr val="59595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or 24">
              <a:extLst>
                <a:ext uri="{FF2B5EF4-FFF2-40B4-BE49-F238E27FC236}">
                  <a16:creationId xmlns:a16="http://schemas.microsoft.com/office/drawing/2014/main" id="{F1AD0262-7AA4-1FDB-1402-6A4A6483BCB3}"/>
                </a:ext>
              </a:extLst>
            </p:cNvPr>
            <p:cNvCxnSpPr/>
            <p:nvPr/>
          </p:nvCxnSpPr>
          <p:spPr>
            <a:xfrm>
              <a:off x="5897879" y="1627632"/>
              <a:ext cx="0" cy="4187952"/>
            </a:xfrm>
            <a:prstGeom prst="line">
              <a:avLst/>
            </a:prstGeom>
            <a:ln w="6350">
              <a:solidFill>
                <a:srgbClr val="59595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ctor 25">
              <a:extLst>
                <a:ext uri="{FF2B5EF4-FFF2-40B4-BE49-F238E27FC236}">
                  <a16:creationId xmlns:a16="http://schemas.microsoft.com/office/drawing/2014/main" id="{3D56A5BE-1F45-0921-9ACB-F6686F2088E7}"/>
                </a:ext>
              </a:extLst>
            </p:cNvPr>
            <p:cNvCxnSpPr/>
            <p:nvPr/>
          </p:nvCxnSpPr>
          <p:spPr>
            <a:xfrm>
              <a:off x="7818120" y="1627632"/>
              <a:ext cx="0" cy="4187952"/>
            </a:xfrm>
            <a:prstGeom prst="line">
              <a:avLst/>
            </a:prstGeom>
            <a:ln w="6350">
              <a:solidFill>
                <a:srgbClr val="59595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nector 26">
              <a:extLst>
                <a:ext uri="{FF2B5EF4-FFF2-40B4-BE49-F238E27FC236}">
                  <a16:creationId xmlns:a16="http://schemas.microsoft.com/office/drawing/2014/main" id="{5CACC7BD-B5CF-9952-10DC-0057851921F9}"/>
                </a:ext>
              </a:extLst>
            </p:cNvPr>
            <p:cNvCxnSpPr/>
            <p:nvPr/>
          </p:nvCxnSpPr>
          <p:spPr>
            <a:xfrm>
              <a:off x="9738360" y="1627632"/>
              <a:ext cx="0" cy="4187952"/>
            </a:xfrm>
            <a:prstGeom prst="line">
              <a:avLst/>
            </a:prstGeom>
            <a:ln w="6350">
              <a:solidFill>
                <a:srgbClr val="59595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Rectangle 27">
              <a:extLst>
                <a:ext uri="{FF2B5EF4-FFF2-40B4-BE49-F238E27FC236}">
                  <a16:creationId xmlns:a16="http://schemas.microsoft.com/office/drawing/2014/main" id="{E6338A32-C16C-6DE1-3CE7-2D798541F4B3}"/>
                </a:ext>
              </a:extLst>
            </p:cNvPr>
            <p:cNvSpPr/>
            <p:nvPr/>
          </p:nvSpPr>
          <p:spPr>
            <a:xfrm>
              <a:off x="320040" y="1627632"/>
              <a:ext cx="146304" cy="1005840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97" name="TextBox 28">
              <a:extLst>
                <a:ext uri="{FF2B5EF4-FFF2-40B4-BE49-F238E27FC236}">
                  <a16:creationId xmlns:a16="http://schemas.microsoft.com/office/drawing/2014/main" id="{4908A8E4-0AB3-BE43-ECAF-90C6F6CB0F0D}"/>
                </a:ext>
              </a:extLst>
            </p:cNvPr>
            <p:cNvSpPr txBox="1"/>
            <p:nvPr/>
          </p:nvSpPr>
          <p:spPr>
            <a:xfrm>
              <a:off x="548640" y="1682496"/>
              <a:ext cx="1938528" cy="31054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900" b="1">
                  <a:solidFill>
                    <a:srgbClr val="262626"/>
                  </a:solidFill>
                  <a:latin typeface="Meiryo UI"/>
                  <a:ea typeface="Meiryo UI"/>
                </a:rPr>
                <a:t>A1★ 商品データを
AI・小売へ提供</a:t>
              </a:r>
            </a:p>
          </p:txBody>
        </p:sp>
        <p:sp>
          <p:nvSpPr>
            <p:cNvPr id="98" name="Rectangle 29">
              <a:extLst>
                <a:ext uri="{FF2B5EF4-FFF2-40B4-BE49-F238E27FC236}">
                  <a16:creationId xmlns:a16="http://schemas.microsoft.com/office/drawing/2014/main" id="{A9EE411B-04FD-B8B5-1587-4E9C39FA52D0}"/>
                </a:ext>
              </a:extLst>
            </p:cNvPr>
            <p:cNvSpPr/>
            <p:nvPr/>
          </p:nvSpPr>
          <p:spPr>
            <a:xfrm>
              <a:off x="2532888" y="1700784"/>
              <a:ext cx="2368295" cy="329184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99" name="TextBox 30">
              <a:extLst>
                <a:ext uri="{FF2B5EF4-FFF2-40B4-BE49-F238E27FC236}">
                  <a16:creationId xmlns:a16="http://schemas.microsoft.com/office/drawing/2014/main" id="{EC524D23-2BEB-8CD7-22BA-5B97FE92EE6C}"/>
                </a:ext>
              </a:extLst>
            </p:cNvPr>
            <p:cNvSpPr txBox="1"/>
            <p:nvPr/>
          </p:nvSpPr>
          <p:spPr>
            <a:xfrm>
              <a:off x="2606040" y="1764792"/>
              <a:ext cx="2240279" cy="14939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sz="900" b="1">
                  <a:solidFill>
                    <a:srgbClr val="FFFFFF"/>
                  </a:solidFill>
                  <a:latin typeface="Meiryo UI"/>
                  <a:ea typeface="Meiryo UI"/>
                </a:rPr>
                <a:t>商品データを整備しAPIで公開</a:t>
              </a:r>
            </a:p>
          </p:txBody>
        </p:sp>
        <p:sp>
          <p:nvSpPr>
            <p:cNvPr id="100" name="Rectangle 31">
              <a:extLst>
                <a:ext uri="{FF2B5EF4-FFF2-40B4-BE49-F238E27FC236}">
                  <a16:creationId xmlns:a16="http://schemas.microsoft.com/office/drawing/2014/main" id="{093D915A-5808-FDEE-B6F0-52A11F6F693F}"/>
                </a:ext>
              </a:extLst>
            </p:cNvPr>
            <p:cNvSpPr/>
            <p:nvPr/>
          </p:nvSpPr>
          <p:spPr>
            <a:xfrm>
              <a:off x="4956047" y="1700784"/>
              <a:ext cx="2825496" cy="329184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01" name="TextBox 32">
              <a:extLst>
                <a:ext uri="{FF2B5EF4-FFF2-40B4-BE49-F238E27FC236}">
                  <a16:creationId xmlns:a16="http://schemas.microsoft.com/office/drawing/2014/main" id="{F1858FD3-FAD9-854D-451F-16D41FBF954D}"/>
                </a:ext>
              </a:extLst>
            </p:cNvPr>
            <p:cNvSpPr txBox="1"/>
            <p:nvPr/>
          </p:nvSpPr>
          <p:spPr>
            <a:xfrm>
              <a:off x="5029199" y="1764792"/>
              <a:ext cx="2697480" cy="14939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sz="900" b="1">
                  <a:solidFill>
                    <a:srgbClr val="FFFFFF"/>
                  </a:solidFill>
                  <a:latin typeface="Meiryo UI"/>
                  <a:ea typeface="Meiryo UI"/>
                </a:rPr>
                <a:t>小売・AIへの提供開始と効果の実測</a:t>
              </a:r>
            </a:p>
          </p:txBody>
        </p:sp>
        <p:sp>
          <p:nvSpPr>
            <p:cNvPr id="102" name="Rectangle 33">
              <a:extLst>
                <a:ext uri="{FF2B5EF4-FFF2-40B4-BE49-F238E27FC236}">
                  <a16:creationId xmlns:a16="http://schemas.microsoft.com/office/drawing/2014/main" id="{C241C5A4-52CD-95CE-8218-0D491BEAE5B1}"/>
                </a:ext>
              </a:extLst>
            </p:cNvPr>
            <p:cNvSpPr/>
            <p:nvPr/>
          </p:nvSpPr>
          <p:spPr>
            <a:xfrm>
              <a:off x="7836408" y="1700784"/>
              <a:ext cx="3785615" cy="329184"/>
            </a:xfrm>
            <a:prstGeom prst="rect">
              <a:avLst/>
            </a:prstGeom>
            <a:solidFill>
              <a:srgbClr val="FFFFFF"/>
            </a:solidFill>
            <a:ln w="13970">
              <a:solidFill>
                <a:srgbClr val="C8102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03" name="TextBox 34">
              <a:extLst>
                <a:ext uri="{FF2B5EF4-FFF2-40B4-BE49-F238E27FC236}">
                  <a16:creationId xmlns:a16="http://schemas.microsoft.com/office/drawing/2014/main" id="{C5E3062E-C66B-5BE1-1476-10A75102170A}"/>
                </a:ext>
              </a:extLst>
            </p:cNvPr>
            <p:cNvSpPr txBox="1"/>
            <p:nvPr/>
          </p:nvSpPr>
          <p:spPr>
            <a:xfrm>
              <a:off x="7909560" y="1764792"/>
              <a:ext cx="3657599" cy="14939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sz="900" b="1">
                  <a:solidFill>
                    <a:srgbClr val="C8102E"/>
                  </a:solidFill>
                  <a:latin typeface="Meiryo UI"/>
                  <a:ea typeface="Meiryo UI"/>
                </a:rPr>
                <a:t>対象小売を順次拡大</a:t>
              </a:r>
            </a:p>
          </p:txBody>
        </p:sp>
        <p:sp>
          <p:nvSpPr>
            <p:cNvPr id="104" name="TextBox 35">
              <a:extLst>
                <a:ext uri="{FF2B5EF4-FFF2-40B4-BE49-F238E27FC236}">
                  <a16:creationId xmlns:a16="http://schemas.microsoft.com/office/drawing/2014/main" id="{27A1140D-B1B0-727E-2AAC-A2F56305FC73}"/>
                </a:ext>
              </a:extLst>
            </p:cNvPr>
            <p:cNvSpPr txBox="1"/>
            <p:nvPr/>
          </p:nvSpPr>
          <p:spPr>
            <a:xfrm>
              <a:off x="548640" y="2212848"/>
              <a:ext cx="1938528" cy="31054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900" b="1">
                  <a:solidFill>
                    <a:srgbClr val="262626"/>
                  </a:solidFill>
                  <a:latin typeface="Meiryo UI"/>
                  <a:ea typeface="Meiryo UI"/>
                </a:rPr>
                <a:t>A2 学校・健診の
デジタル接点化</a:t>
              </a:r>
            </a:p>
          </p:txBody>
        </p:sp>
        <p:sp>
          <p:nvSpPr>
            <p:cNvPr id="105" name="Rectangle 36">
              <a:extLst>
                <a:ext uri="{FF2B5EF4-FFF2-40B4-BE49-F238E27FC236}">
                  <a16:creationId xmlns:a16="http://schemas.microsoft.com/office/drawing/2014/main" id="{5ABAE906-DC9B-ACAB-ABC5-E2FA925F75C5}"/>
                </a:ext>
              </a:extLst>
            </p:cNvPr>
            <p:cNvSpPr/>
            <p:nvPr/>
          </p:nvSpPr>
          <p:spPr>
            <a:xfrm>
              <a:off x="3264408" y="2231136"/>
              <a:ext cx="676655" cy="329184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06" name="TextBox 37">
              <a:extLst>
                <a:ext uri="{FF2B5EF4-FFF2-40B4-BE49-F238E27FC236}">
                  <a16:creationId xmlns:a16="http://schemas.microsoft.com/office/drawing/2014/main" id="{CCD0C109-6872-32AF-7226-CF403F6E9D3B}"/>
                </a:ext>
              </a:extLst>
            </p:cNvPr>
            <p:cNvSpPr txBox="1"/>
            <p:nvPr/>
          </p:nvSpPr>
          <p:spPr>
            <a:xfrm>
              <a:off x="3337560" y="2295144"/>
              <a:ext cx="548639" cy="14939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sz="900" b="1">
                  <a:solidFill>
                    <a:srgbClr val="FFFFFF"/>
                  </a:solidFill>
                  <a:latin typeface="Meiryo UI"/>
                  <a:ea typeface="Meiryo UI"/>
                </a:rPr>
                <a:t>設計</a:t>
              </a:r>
            </a:p>
          </p:txBody>
        </p:sp>
        <p:sp>
          <p:nvSpPr>
            <p:cNvPr id="107" name="Rectangle 38">
              <a:extLst>
                <a:ext uri="{FF2B5EF4-FFF2-40B4-BE49-F238E27FC236}">
                  <a16:creationId xmlns:a16="http://schemas.microsoft.com/office/drawing/2014/main" id="{A669910E-51AD-B928-49B5-FB4D033A1DA2}"/>
                </a:ext>
              </a:extLst>
            </p:cNvPr>
            <p:cNvSpPr/>
            <p:nvPr/>
          </p:nvSpPr>
          <p:spPr>
            <a:xfrm>
              <a:off x="3995927" y="2231136"/>
              <a:ext cx="3785616" cy="329184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08" name="TextBox 39">
              <a:extLst>
                <a:ext uri="{FF2B5EF4-FFF2-40B4-BE49-F238E27FC236}">
                  <a16:creationId xmlns:a16="http://schemas.microsoft.com/office/drawing/2014/main" id="{856BB7E0-6F78-6C05-ADA7-603571662E6A}"/>
                </a:ext>
              </a:extLst>
            </p:cNvPr>
            <p:cNvSpPr txBox="1"/>
            <p:nvPr/>
          </p:nvSpPr>
          <p:spPr>
            <a:xfrm>
              <a:off x="4069079" y="2295144"/>
              <a:ext cx="3657600" cy="14939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sz="620" b="1">
                  <a:solidFill>
                    <a:srgbClr val="FFFFFF"/>
                  </a:solidFill>
                  <a:latin typeface="Meiryo UI"/>
                  <a:ea typeface="Meiryo UI"/>
                </a:rPr>
                <a:t>学校・健診でデジタル教材と診断アプリを試験導入</a:t>
              </a:r>
            </a:p>
          </p:txBody>
        </p:sp>
        <p:sp>
          <p:nvSpPr>
            <p:cNvPr id="109" name="Rectangle 40">
              <a:extLst>
                <a:ext uri="{FF2B5EF4-FFF2-40B4-BE49-F238E27FC236}">
                  <a16:creationId xmlns:a16="http://schemas.microsoft.com/office/drawing/2014/main" id="{4B93323E-4EB9-0EB4-ACCD-11968F4AABA0}"/>
                </a:ext>
              </a:extLst>
            </p:cNvPr>
            <p:cNvSpPr/>
            <p:nvPr/>
          </p:nvSpPr>
          <p:spPr>
            <a:xfrm>
              <a:off x="7836408" y="2231136"/>
              <a:ext cx="3785615" cy="329184"/>
            </a:xfrm>
            <a:prstGeom prst="rect">
              <a:avLst/>
            </a:prstGeom>
            <a:solidFill>
              <a:srgbClr val="FFFFFF"/>
            </a:solidFill>
            <a:ln w="13970">
              <a:solidFill>
                <a:srgbClr val="C8102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10" name="TextBox 41">
              <a:extLst>
                <a:ext uri="{FF2B5EF4-FFF2-40B4-BE49-F238E27FC236}">
                  <a16:creationId xmlns:a16="http://schemas.microsoft.com/office/drawing/2014/main" id="{EE01700E-B944-03A6-C493-8E8C774CF494}"/>
                </a:ext>
              </a:extLst>
            </p:cNvPr>
            <p:cNvSpPr txBox="1"/>
            <p:nvPr/>
          </p:nvSpPr>
          <p:spPr>
            <a:xfrm>
              <a:off x="7909560" y="2295144"/>
              <a:ext cx="3657599" cy="14939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sz="900" b="1">
                  <a:solidFill>
                    <a:srgbClr val="C8102E"/>
                  </a:solidFill>
                  <a:latin typeface="Meiryo UI"/>
                  <a:ea typeface="Meiryo UI"/>
                </a:rPr>
                <a:t>自治体・学校へ拡大</a:t>
              </a:r>
            </a:p>
          </p:txBody>
        </p:sp>
        <p:sp>
          <p:nvSpPr>
            <p:cNvPr id="111" name="Rectangle 42">
              <a:extLst>
                <a:ext uri="{FF2B5EF4-FFF2-40B4-BE49-F238E27FC236}">
                  <a16:creationId xmlns:a16="http://schemas.microsoft.com/office/drawing/2014/main" id="{29B33E46-47ED-BDBA-A8E1-0DD5185BDDDE}"/>
                </a:ext>
              </a:extLst>
            </p:cNvPr>
            <p:cNvSpPr/>
            <p:nvPr/>
          </p:nvSpPr>
          <p:spPr>
            <a:xfrm>
              <a:off x="320040" y="2688336"/>
              <a:ext cx="146304" cy="1005840"/>
            </a:xfrm>
            <a:prstGeom prst="rect">
              <a:avLst/>
            </a:prstGeom>
            <a:solidFill>
              <a:srgbClr val="0F5E8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12" name="TextBox 43">
              <a:extLst>
                <a:ext uri="{FF2B5EF4-FFF2-40B4-BE49-F238E27FC236}">
                  <a16:creationId xmlns:a16="http://schemas.microsoft.com/office/drawing/2014/main" id="{53525F74-A26F-9960-DA27-217BBB02F5B6}"/>
                </a:ext>
              </a:extLst>
            </p:cNvPr>
            <p:cNvSpPr txBox="1"/>
            <p:nvPr/>
          </p:nvSpPr>
          <p:spPr>
            <a:xfrm>
              <a:off x="548640" y="2743200"/>
              <a:ext cx="1938528" cy="31054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900" b="1">
                  <a:solidFill>
                    <a:srgbClr val="262626"/>
                  </a:solidFill>
                  <a:latin typeface="Meiryo UI"/>
                  <a:ea typeface="Meiryo UI"/>
                </a:rPr>
                <a:t>B1★ 投資効果を
金額で測定</a:t>
              </a:r>
            </a:p>
          </p:txBody>
        </p:sp>
        <p:sp>
          <p:nvSpPr>
            <p:cNvPr id="113" name="Rectangle 44">
              <a:extLst>
                <a:ext uri="{FF2B5EF4-FFF2-40B4-BE49-F238E27FC236}">
                  <a16:creationId xmlns:a16="http://schemas.microsoft.com/office/drawing/2014/main" id="{FDAB75EB-EF43-6C0D-E3A8-DF3DDDE47586}"/>
                </a:ext>
              </a:extLst>
            </p:cNvPr>
            <p:cNvSpPr/>
            <p:nvPr/>
          </p:nvSpPr>
          <p:spPr>
            <a:xfrm>
              <a:off x="2532888" y="2761488"/>
              <a:ext cx="1408175" cy="329184"/>
            </a:xfrm>
            <a:prstGeom prst="rect">
              <a:avLst/>
            </a:prstGeom>
            <a:solidFill>
              <a:srgbClr val="0F5E8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14" name="TextBox 45">
              <a:extLst>
                <a:ext uri="{FF2B5EF4-FFF2-40B4-BE49-F238E27FC236}">
                  <a16:creationId xmlns:a16="http://schemas.microsoft.com/office/drawing/2014/main" id="{9F5C403C-C12B-999F-1A29-B4CB32035E4D}"/>
                </a:ext>
              </a:extLst>
            </p:cNvPr>
            <p:cNvSpPr txBox="1"/>
            <p:nvPr/>
          </p:nvSpPr>
          <p:spPr>
            <a:xfrm>
              <a:off x="2606040" y="2825496"/>
              <a:ext cx="1280159" cy="31576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sz="620" b="1">
                  <a:solidFill>
                    <a:srgbClr val="FFFFFF"/>
                  </a:solidFill>
                  <a:latin typeface="Meiryo UI"/>
                  <a:ea typeface="Meiryo UI"/>
                </a:rPr>
                <a:t>AI推奨シェアの測定開始・基準値づくり</a:t>
              </a:r>
            </a:p>
          </p:txBody>
        </p:sp>
        <p:sp>
          <p:nvSpPr>
            <p:cNvPr id="115" name="Rectangle 46">
              <a:extLst>
                <a:ext uri="{FF2B5EF4-FFF2-40B4-BE49-F238E27FC236}">
                  <a16:creationId xmlns:a16="http://schemas.microsoft.com/office/drawing/2014/main" id="{79F731E9-2F56-9E69-6DF6-FFAB04450EED}"/>
                </a:ext>
              </a:extLst>
            </p:cNvPr>
            <p:cNvSpPr/>
            <p:nvPr/>
          </p:nvSpPr>
          <p:spPr>
            <a:xfrm>
              <a:off x="3995927" y="2761488"/>
              <a:ext cx="3785616" cy="329184"/>
            </a:xfrm>
            <a:prstGeom prst="rect">
              <a:avLst/>
            </a:prstGeom>
            <a:solidFill>
              <a:srgbClr val="0F5E8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16" name="TextBox 47">
              <a:extLst>
                <a:ext uri="{FF2B5EF4-FFF2-40B4-BE49-F238E27FC236}">
                  <a16:creationId xmlns:a16="http://schemas.microsoft.com/office/drawing/2014/main" id="{64482B44-191D-80C9-EC52-06196BAF144D}"/>
                </a:ext>
              </a:extLst>
            </p:cNvPr>
            <p:cNvSpPr txBox="1"/>
            <p:nvPr/>
          </p:nvSpPr>
          <p:spPr>
            <a:xfrm>
              <a:off x="4069079" y="2825496"/>
              <a:ext cx="3657600" cy="14939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sz="900" b="1">
                  <a:solidFill>
                    <a:srgbClr val="FFFFFF"/>
                  </a:solidFill>
                  <a:latin typeface="Meiryo UI"/>
                  <a:ea typeface="Meiryo UI"/>
                </a:rPr>
                <a:t>広告・販促の効果測定の仕組みを確立</a:t>
              </a:r>
            </a:p>
          </p:txBody>
        </p:sp>
        <p:sp>
          <p:nvSpPr>
            <p:cNvPr id="117" name="Rectangle 48">
              <a:extLst>
                <a:ext uri="{FF2B5EF4-FFF2-40B4-BE49-F238E27FC236}">
                  <a16:creationId xmlns:a16="http://schemas.microsoft.com/office/drawing/2014/main" id="{290F68B1-F935-B76C-3D9D-9FE10D1DD42D}"/>
                </a:ext>
              </a:extLst>
            </p:cNvPr>
            <p:cNvSpPr/>
            <p:nvPr/>
          </p:nvSpPr>
          <p:spPr>
            <a:xfrm>
              <a:off x="7836408" y="2761488"/>
              <a:ext cx="3785615" cy="329184"/>
            </a:xfrm>
            <a:prstGeom prst="rect">
              <a:avLst/>
            </a:prstGeom>
            <a:solidFill>
              <a:srgbClr val="FFFFFF"/>
            </a:solidFill>
            <a:ln w="13970">
              <a:solidFill>
                <a:srgbClr val="0F5E8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18" name="TextBox 49">
              <a:extLst>
                <a:ext uri="{FF2B5EF4-FFF2-40B4-BE49-F238E27FC236}">
                  <a16:creationId xmlns:a16="http://schemas.microsoft.com/office/drawing/2014/main" id="{D7114BE0-9745-0306-18B2-FB64F5097835}"/>
                </a:ext>
              </a:extLst>
            </p:cNvPr>
            <p:cNvSpPr txBox="1"/>
            <p:nvPr/>
          </p:nvSpPr>
          <p:spPr>
            <a:xfrm>
              <a:off x="7909560" y="2825496"/>
              <a:ext cx="3657599" cy="14939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sz="900" b="1">
                  <a:solidFill>
                    <a:srgbClr val="0F5E87"/>
                  </a:solidFill>
                  <a:latin typeface="Meiryo UI"/>
                  <a:ea typeface="Meiryo UI"/>
                </a:rPr>
                <a:t>全施策の投資判断に適用</a:t>
              </a:r>
            </a:p>
          </p:txBody>
        </p:sp>
        <p:sp>
          <p:nvSpPr>
            <p:cNvPr id="119" name="TextBox 50">
              <a:extLst>
                <a:ext uri="{FF2B5EF4-FFF2-40B4-BE49-F238E27FC236}">
                  <a16:creationId xmlns:a16="http://schemas.microsoft.com/office/drawing/2014/main" id="{96BD58CE-56D3-D643-625A-57EEF767BDC8}"/>
                </a:ext>
              </a:extLst>
            </p:cNvPr>
            <p:cNvSpPr txBox="1"/>
            <p:nvPr/>
          </p:nvSpPr>
          <p:spPr>
            <a:xfrm>
              <a:off x="548640" y="3273552"/>
              <a:ext cx="1938528" cy="31054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900" b="1">
                  <a:solidFill>
                    <a:srgbClr val="262626"/>
                  </a:solidFill>
                  <a:latin typeface="Meiryo UI"/>
                  <a:ea typeface="Meiryo UI"/>
                </a:rPr>
                <a:t>B2 小売広告の
自社運用化</a:t>
              </a:r>
            </a:p>
          </p:txBody>
        </p:sp>
        <p:sp>
          <p:nvSpPr>
            <p:cNvPr id="120" name="Rectangle 51">
              <a:extLst>
                <a:ext uri="{FF2B5EF4-FFF2-40B4-BE49-F238E27FC236}">
                  <a16:creationId xmlns:a16="http://schemas.microsoft.com/office/drawing/2014/main" id="{FDA1B5CA-66E1-FB7C-41DA-553BDE7D95D2}"/>
                </a:ext>
              </a:extLst>
            </p:cNvPr>
            <p:cNvSpPr/>
            <p:nvPr/>
          </p:nvSpPr>
          <p:spPr>
            <a:xfrm>
              <a:off x="3995927" y="3291840"/>
              <a:ext cx="1865375" cy="329184"/>
            </a:xfrm>
            <a:prstGeom prst="rect">
              <a:avLst/>
            </a:prstGeom>
            <a:solidFill>
              <a:srgbClr val="0F5E8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21" name="TextBox 52">
              <a:extLst>
                <a:ext uri="{FF2B5EF4-FFF2-40B4-BE49-F238E27FC236}">
                  <a16:creationId xmlns:a16="http://schemas.microsoft.com/office/drawing/2014/main" id="{9FAE5DDB-42C8-C0A7-FF29-DA1293D53C36}"/>
                </a:ext>
              </a:extLst>
            </p:cNvPr>
            <p:cNvSpPr txBox="1"/>
            <p:nvPr/>
          </p:nvSpPr>
          <p:spPr>
            <a:xfrm>
              <a:off x="4069079" y="3355848"/>
              <a:ext cx="1737359" cy="14939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sz="620" b="1">
                  <a:solidFill>
                    <a:srgbClr val="FFFFFF"/>
                  </a:solidFill>
                  <a:latin typeface="Meiryo UI"/>
                  <a:ea typeface="Meiryo UI"/>
                </a:rPr>
                <a:t>小売サイト広告の運用を一元管理</a:t>
              </a:r>
            </a:p>
          </p:txBody>
        </p:sp>
        <p:sp>
          <p:nvSpPr>
            <p:cNvPr id="122" name="Rectangle 53">
              <a:extLst>
                <a:ext uri="{FF2B5EF4-FFF2-40B4-BE49-F238E27FC236}">
                  <a16:creationId xmlns:a16="http://schemas.microsoft.com/office/drawing/2014/main" id="{16AAB9C5-E379-1245-408B-C265B0C5EB7B}"/>
                </a:ext>
              </a:extLst>
            </p:cNvPr>
            <p:cNvSpPr/>
            <p:nvPr/>
          </p:nvSpPr>
          <p:spPr>
            <a:xfrm>
              <a:off x="5916167" y="3291840"/>
              <a:ext cx="3785616" cy="329184"/>
            </a:xfrm>
            <a:prstGeom prst="rect">
              <a:avLst/>
            </a:prstGeom>
            <a:solidFill>
              <a:srgbClr val="0F5E8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23" name="TextBox 54">
              <a:extLst>
                <a:ext uri="{FF2B5EF4-FFF2-40B4-BE49-F238E27FC236}">
                  <a16:creationId xmlns:a16="http://schemas.microsoft.com/office/drawing/2014/main" id="{01BD591B-05DC-57F2-3136-9203EA30D510}"/>
                </a:ext>
              </a:extLst>
            </p:cNvPr>
            <p:cNvSpPr txBox="1"/>
            <p:nvPr/>
          </p:nvSpPr>
          <p:spPr>
            <a:xfrm>
              <a:off x="5989319" y="3355848"/>
              <a:ext cx="3657600" cy="14939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sz="900" b="1">
                  <a:solidFill>
                    <a:srgbClr val="FFFFFF"/>
                  </a:solidFill>
                  <a:latin typeface="Meiryo UI"/>
                  <a:ea typeface="Meiryo UI"/>
                </a:rPr>
                <a:t>自社運用に切り替え</a:t>
              </a:r>
            </a:p>
          </p:txBody>
        </p:sp>
        <p:sp>
          <p:nvSpPr>
            <p:cNvPr id="124" name="Rectangle 55">
              <a:extLst>
                <a:ext uri="{FF2B5EF4-FFF2-40B4-BE49-F238E27FC236}">
                  <a16:creationId xmlns:a16="http://schemas.microsoft.com/office/drawing/2014/main" id="{206B4FBA-385C-EBD1-EB06-8B423657BA75}"/>
                </a:ext>
              </a:extLst>
            </p:cNvPr>
            <p:cNvSpPr/>
            <p:nvPr/>
          </p:nvSpPr>
          <p:spPr>
            <a:xfrm>
              <a:off x="9756648" y="3291840"/>
              <a:ext cx="1865375" cy="329184"/>
            </a:xfrm>
            <a:prstGeom prst="rect">
              <a:avLst/>
            </a:prstGeom>
            <a:solidFill>
              <a:srgbClr val="FFFFFF"/>
            </a:solidFill>
            <a:ln w="13970">
              <a:solidFill>
                <a:srgbClr val="0F5E8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25" name="TextBox 56">
              <a:extLst>
                <a:ext uri="{FF2B5EF4-FFF2-40B4-BE49-F238E27FC236}">
                  <a16:creationId xmlns:a16="http://schemas.microsoft.com/office/drawing/2014/main" id="{2490E8A9-5F79-697A-704B-D965D8EF19A4}"/>
                </a:ext>
              </a:extLst>
            </p:cNvPr>
            <p:cNvSpPr txBox="1"/>
            <p:nvPr/>
          </p:nvSpPr>
          <p:spPr>
            <a:xfrm>
              <a:off x="9829800" y="3355848"/>
              <a:ext cx="1737359" cy="14939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sz="900" b="1">
                  <a:solidFill>
                    <a:srgbClr val="0F5E87"/>
                  </a:solidFill>
                  <a:latin typeface="Meiryo UI"/>
                  <a:ea typeface="Meiryo UI"/>
                </a:rPr>
                <a:t>標準化</a:t>
              </a:r>
            </a:p>
          </p:txBody>
        </p:sp>
        <p:sp>
          <p:nvSpPr>
            <p:cNvPr id="126" name="Rectangle 57">
              <a:extLst>
                <a:ext uri="{FF2B5EF4-FFF2-40B4-BE49-F238E27FC236}">
                  <a16:creationId xmlns:a16="http://schemas.microsoft.com/office/drawing/2014/main" id="{8757A973-73BE-4955-3109-7748D3EC4D58}"/>
                </a:ext>
              </a:extLst>
            </p:cNvPr>
            <p:cNvSpPr/>
            <p:nvPr/>
          </p:nvSpPr>
          <p:spPr>
            <a:xfrm>
              <a:off x="320040" y="3749040"/>
              <a:ext cx="146304" cy="1005840"/>
            </a:xfrm>
            <a:prstGeom prst="rect">
              <a:avLst/>
            </a:prstGeom>
            <a:solidFill>
              <a:srgbClr val="008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27" name="TextBox 58">
              <a:extLst>
                <a:ext uri="{FF2B5EF4-FFF2-40B4-BE49-F238E27FC236}">
                  <a16:creationId xmlns:a16="http://schemas.microsoft.com/office/drawing/2014/main" id="{741F3A44-F792-32D0-D283-24AE790F5FC8}"/>
                </a:ext>
              </a:extLst>
            </p:cNvPr>
            <p:cNvSpPr txBox="1"/>
            <p:nvPr/>
          </p:nvSpPr>
          <p:spPr>
            <a:xfrm>
              <a:off x="548640" y="3803904"/>
              <a:ext cx="1938528" cy="31054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900" b="1">
                  <a:solidFill>
                    <a:srgbClr val="262626"/>
                  </a:solidFill>
                  <a:latin typeface="Meiryo UI"/>
                  <a:ea typeface="Meiryo UI"/>
                </a:rPr>
                <a:t>C1★ 臨床データを
商談の数字に</a:t>
              </a:r>
            </a:p>
          </p:txBody>
        </p:sp>
        <p:sp>
          <p:nvSpPr>
            <p:cNvPr id="128" name="Rectangle 59">
              <a:extLst>
                <a:ext uri="{FF2B5EF4-FFF2-40B4-BE49-F238E27FC236}">
                  <a16:creationId xmlns:a16="http://schemas.microsoft.com/office/drawing/2014/main" id="{6DC7F50E-A69E-7E52-A88E-F4FBC9932ED2}"/>
                </a:ext>
              </a:extLst>
            </p:cNvPr>
            <p:cNvSpPr/>
            <p:nvPr/>
          </p:nvSpPr>
          <p:spPr>
            <a:xfrm>
              <a:off x="3264408" y="3822192"/>
              <a:ext cx="1636775" cy="329184"/>
            </a:xfrm>
            <a:prstGeom prst="rect">
              <a:avLst/>
            </a:prstGeom>
            <a:solidFill>
              <a:srgbClr val="008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29" name="TextBox 60">
              <a:extLst>
                <a:ext uri="{FF2B5EF4-FFF2-40B4-BE49-F238E27FC236}">
                  <a16:creationId xmlns:a16="http://schemas.microsoft.com/office/drawing/2014/main" id="{BB0B99B0-57FE-8403-C900-764F07B3CEF7}"/>
                </a:ext>
              </a:extLst>
            </p:cNvPr>
            <p:cNvSpPr txBox="1"/>
            <p:nvPr/>
          </p:nvSpPr>
          <p:spPr>
            <a:xfrm>
              <a:off x="3337560" y="3886200"/>
              <a:ext cx="1508759" cy="31576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sz="620" b="1">
                  <a:solidFill>
                    <a:srgbClr val="FFFFFF"/>
                  </a:solidFill>
                  <a:latin typeface="Meiryo UI"/>
                  <a:ea typeface="Meiryo UI"/>
                </a:rPr>
                <a:t>重点小売2社で歯ぐきケアの共同事業を開始</a:t>
              </a:r>
            </a:p>
          </p:txBody>
        </p:sp>
        <p:sp>
          <p:nvSpPr>
            <p:cNvPr id="130" name="Rectangle 61">
              <a:extLst>
                <a:ext uri="{FF2B5EF4-FFF2-40B4-BE49-F238E27FC236}">
                  <a16:creationId xmlns:a16="http://schemas.microsoft.com/office/drawing/2014/main" id="{DC85FAB2-2E21-2605-1E91-4B81D2CB86C1}"/>
                </a:ext>
              </a:extLst>
            </p:cNvPr>
            <p:cNvSpPr/>
            <p:nvPr/>
          </p:nvSpPr>
          <p:spPr>
            <a:xfrm>
              <a:off x="4956047" y="3822192"/>
              <a:ext cx="2825496" cy="329184"/>
            </a:xfrm>
            <a:prstGeom prst="rect">
              <a:avLst/>
            </a:prstGeom>
            <a:solidFill>
              <a:srgbClr val="008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31" name="TextBox 62">
              <a:extLst>
                <a:ext uri="{FF2B5EF4-FFF2-40B4-BE49-F238E27FC236}">
                  <a16:creationId xmlns:a16="http://schemas.microsoft.com/office/drawing/2014/main" id="{DC82E0BE-B57B-8870-D28B-04495BA4ABC2}"/>
                </a:ext>
              </a:extLst>
            </p:cNvPr>
            <p:cNvSpPr txBox="1"/>
            <p:nvPr/>
          </p:nvSpPr>
          <p:spPr>
            <a:xfrm>
              <a:off x="5029199" y="3886200"/>
              <a:ext cx="2697480" cy="14939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sz="900" b="1">
                  <a:solidFill>
                    <a:srgbClr val="FFFFFF"/>
                  </a:solidFill>
                  <a:latin typeface="Meiryo UI"/>
                  <a:ea typeface="Meiryo UI"/>
                </a:rPr>
                <a:t>値引きに頼らない商談と、歯科経由の販売を実証</a:t>
              </a:r>
            </a:p>
          </p:txBody>
        </p:sp>
        <p:sp>
          <p:nvSpPr>
            <p:cNvPr id="132" name="Rectangle 63">
              <a:extLst>
                <a:ext uri="{FF2B5EF4-FFF2-40B4-BE49-F238E27FC236}">
                  <a16:creationId xmlns:a16="http://schemas.microsoft.com/office/drawing/2014/main" id="{769CF8E9-1A1E-AAC4-5BDA-5F821DE1E835}"/>
                </a:ext>
              </a:extLst>
            </p:cNvPr>
            <p:cNvSpPr/>
            <p:nvPr/>
          </p:nvSpPr>
          <p:spPr>
            <a:xfrm>
              <a:off x="7836408" y="3822192"/>
              <a:ext cx="3785615" cy="329184"/>
            </a:xfrm>
            <a:prstGeom prst="rect">
              <a:avLst/>
            </a:prstGeom>
            <a:solidFill>
              <a:srgbClr val="FFFFFF"/>
            </a:solidFill>
            <a:ln w="13970">
              <a:solidFill>
                <a:srgbClr val="008D2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33" name="TextBox 64">
              <a:extLst>
                <a:ext uri="{FF2B5EF4-FFF2-40B4-BE49-F238E27FC236}">
                  <a16:creationId xmlns:a16="http://schemas.microsoft.com/office/drawing/2014/main" id="{AC793E31-8DF7-D02D-D558-8910A77A2444}"/>
                </a:ext>
              </a:extLst>
            </p:cNvPr>
            <p:cNvSpPr txBox="1"/>
            <p:nvPr/>
          </p:nvSpPr>
          <p:spPr>
            <a:xfrm>
              <a:off x="7909560" y="3886200"/>
              <a:ext cx="3657599" cy="14939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sz="900" b="1">
                  <a:solidFill>
                    <a:srgbClr val="008D2E"/>
                  </a:solidFill>
                  <a:latin typeface="Meiryo UI"/>
                  <a:ea typeface="Meiryo UI"/>
                </a:rPr>
                <a:t>臨床データ基盤の本格稼働・対象拡大</a:t>
              </a:r>
            </a:p>
          </p:txBody>
        </p:sp>
        <p:sp>
          <p:nvSpPr>
            <p:cNvPr id="134" name="TextBox 65">
              <a:extLst>
                <a:ext uri="{FF2B5EF4-FFF2-40B4-BE49-F238E27FC236}">
                  <a16:creationId xmlns:a16="http://schemas.microsoft.com/office/drawing/2014/main" id="{4DD589D5-B1B7-821B-39CD-F96ABEC716A8}"/>
                </a:ext>
              </a:extLst>
            </p:cNvPr>
            <p:cNvSpPr txBox="1"/>
            <p:nvPr/>
          </p:nvSpPr>
          <p:spPr>
            <a:xfrm>
              <a:off x="548640" y="4334256"/>
              <a:ext cx="1938528" cy="31054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900" b="1">
                  <a:solidFill>
                    <a:srgbClr val="262626"/>
                  </a:solidFill>
                  <a:latin typeface="Meiryo UI"/>
                  <a:ea typeface="Meiryo UI"/>
                </a:rPr>
                <a:t>C2 成功商談の
標準形づくり</a:t>
              </a:r>
            </a:p>
          </p:txBody>
        </p:sp>
        <p:sp>
          <p:nvSpPr>
            <p:cNvPr id="135" name="Rectangle 66">
              <a:extLst>
                <a:ext uri="{FF2B5EF4-FFF2-40B4-BE49-F238E27FC236}">
                  <a16:creationId xmlns:a16="http://schemas.microsoft.com/office/drawing/2014/main" id="{C4A81D0F-F787-C539-BE0F-E5EA055FA0B5}"/>
                </a:ext>
              </a:extLst>
            </p:cNvPr>
            <p:cNvSpPr/>
            <p:nvPr/>
          </p:nvSpPr>
          <p:spPr>
            <a:xfrm>
              <a:off x="3995927" y="4352544"/>
              <a:ext cx="3785616" cy="329184"/>
            </a:xfrm>
            <a:prstGeom prst="rect">
              <a:avLst/>
            </a:prstGeom>
            <a:solidFill>
              <a:srgbClr val="008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36" name="TextBox 67">
              <a:extLst>
                <a:ext uri="{FF2B5EF4-FFF2-40B4-BE49-F238E27FC236}">
                  <a16:creationId xmlns:a16="http://schemas.microsoft.com/office/drawing/2014/main" id="{800D1E6C-37C3-BDE1-0EC0-556B96DD5D00}"/>
                </a:ext>
              </a:extLst>
            </p:cNvPr>
            <p:cNvSpPr txBox="1"/>
            <p:nvPr/>
          </p:nvSpPr>
          <p:spPr>
            <a:xfrm>
              <a:off x="4069079" y="4416552"/>
              <a:ext cx="3657600" cy="14939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sz="900" b="1">
                  <a:solidFill>
                    <a:srgbClr val="FFFFFF"/>
                  </a:solidFill>
                  <a:latin typeface="Meiryo UI"/>
                  <a:ea typeface="Meiryo UI"/>
                </a:rPr>
                <a:t>成功した商談を標準の提案書式として整備</a:t>
              </a:r>
            </a:p>
          </p:txBody>
        </p:sp>
        <p:sp>
          <p:nvSpPr>
            <p:cNvPr id="137" name="Rectangle 68">
              <a:extLst>
                <a:ext uri="{FF2B5EF4-FFF2-40B4-BE49-F238E27FC236}">
                  <a16:creationId xmlns:a16="http://schemas.microsoft.com/office/drawing/2014/main" id="{B0AD920C-08E9-71AE-3DC4-181E163AFCC7}"/>
                </a:ext>
              </a:extLst>
            </p:cNvPr>
            <p:cNvSpPr/>
            <p:nvPr/>
          </p:nvSpPr>
          <p:spPr>
            <a:xfrm>
              <a:off x="7836408" y="4352544"/>
              <a:ext cx="3785615" cy="329184"/>
            </a:xfrm>
            <a:prstGeom prst="rect">
              <a:avLst/>
            </a:prstGeom>
            <a:solidFill>
              <a:srgbClr val="FFFFFF"/>
            </a:solidFill>
            <a:ln w="13970">
              <a:solidFill>
                <a:srgbClr val="008D2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38" name="TextBox 69">
              <a:extLst>
                <a:ext uri="{FF2B5EF4-FFF2-40B4-BE49-F238E27FC236}">
                  <a16:creationId xmlns:a16="http://schemas.microsoft.com/office/drawing/2014/main" id="{C2AC68A1-3D4D-961D-6FEF-28F770BFA635}"/>
                </a:ext>
              </a:extLst>
            </p:cNvPr>
            <p:cNvSpPr txBox="1"/>
            <p:nvPr/>
          </p:nvSpPr>
          <p:spPr>
            <a:xfrm>
              <a:off x="7909560" y="4416552"/>
              <a:ext cx="3657599" cy="14939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sz="900" b="1">
                  <a:solidFill>
                    <a:srgbClr val="008D2E"/>
                  </a:solidFill>
                  <a:latin typeface="Meiryo UI"/>
                  <a:ea typeface="Meiryo UI"/>
                </a:rPr>
                <a:t>全営業の標準装備にする</a:t>
              </a:r>
            </a:p>
          </p:txBody>
        </p:sp>
        <p:sp>
          <p:nvSpPr>
            <p:cNvPr id="139" name="Rectangle 70">
              <a:extLst>
                <a:ext uri="{FF2B5EF4-FFF2-40B4-BE49-F238E27FC236}">
                  <a16:creationId xmlns:a16="http://schemas.microsoft.com/office/drawing/2014/main" id="{9C854AE3-3A12-CCBF-D24D-C9E8A62825B6}"/>
                </a:ext>
              </a:extLst>
            </p:cNvPr>
            <p:cNvSpPr/>
            <p:nvPr/>
          </p:nvSpPr>
          <p:spPr>
            <a:xfrm>
              <a:off x="320040" y="4809744"/>
              <a:ext cx="146304" cy="1005840"/>
            </a:xfrm>
            <a:prstGeom prst="rect">
              <a:avLst/>
            </a:prstGeom>
            <a:solidFill>
              <a:srgbClr val="B87A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40" name="TextBox 71">
              <a:extLst>
                <a:ext uri="{FF2B5EF4-FFF2-40B4-BE49-F238E27FC236}">
                  <a16:creationId xmlns:a16="http://schemas.microsoft.com/office/drawing/2014/main" id="{D7290FD9-E6CB-B07C-B7CB-35408461AFBF}"/>
                </a:ext>
              </a:extLst>
            </p:cNvPr>
            <p:cNvSpPr txBox="1"/>
            <p:nvPr/>
          </p:nvSpPr>
          <p:spPr>
            <a:xfrm>
              <a:off x="548640" y="4864609"/>
              <a:ext cx="1938528" cy="31054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900" b="1">
                  <a:solidFill>
                    <a:srgbClr val="262626"/>
                  </a:solidFill>
                  <a:latin typeface="Meiryo UI"/>
                  <a:ea typeface="Meiryo UI"/>
                </a:rPr>
                <a:t>D1★ 資料作成の
AI自動化</a:t>
              </a:r>
            </a:p>
          </p:txBody>
        </p:sp>
        <p:sp>
          <p:nvSpPr>
            <p:cNvPr id="141" name="Rectangle 72">
              <a:extLst>
                <a:ext uri="{FF2B5EF4-FFF2-40B4-BE49-F238E27FC236}">
                  <a16:creationId xmlns:a16="http://schemas.microsoft.com/office/drawing/2014/main" id="{2EA08B02-7C01-E4E1-5C5D-8CD8E087F7DF}"/>
                </a:ext>
              </a:extLst>
            </p:cNvPr>
            <p:cNvSpPr/>
            <p:nvPr/>
          </p:nvSpPr>
          <p:spPr>
            <a:xfrm>
              <a:off x="2532888" y="4882896"/>
              <a:ext cx="1408175" cy="329184"/>
            </a:xfrm>
            <a:prstGeom prst="rect">
              <a:avLst/>
            </a:prstGeom>
            <a:solidFill>
              <a:srgbClr val="B87A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42" name="TextBox 73">
              <a:extLst>
                <a:ext uri="{FF2B5EF4-FFF2-40B4-BE49-F238E27FC236}">
                  <a16:creationId xmlns:a16="http://schemas.microsoft.com/office/drawing/2014/main" id="{2BC841FA-F242-57A5-302A-936FE32059D7}"/>
                </a:ext>
              </a:extLst>
            </p:cNvPr>
            <p:cNvSpPr txBox="1"/>
            <p:nvPr/>
          </p:nvSpPr>
          <p:spPr>
            <a:xfrm>
              <a:off x="2606040" y="4946904"/>
              <a:ext cx="1280159" cy="31576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sz="620" b="1">
                  <a:solidFill>
                    <a:srgbClr val="FFFFFF"/>
                  </a:solidFill>
                  <a:latin typeface="Meiryo UI"/>
                  <a:ea typeface="Meiryo UI"/>
                </a:rPr>
                <a:t>生成AIで資料作成を3割削減</a:t>
              </a:r>
            </a:p>
          </p:txBody>
        </p:sp>
        <p:sp>
          <p:nvSpPr>
            <p:cNvPr id="143" name="Rectangle 74">
              <a:extLst>
                <a:ext uri="{FF2B5EF4-FFF2-40B4-BE49-F238E27FC236}">
                  <a16:creationId xmlns:a16="http://schemas.microsoft.com/office/drawing/2014/main" id="{659752C7-C1A5-7839-E91A-34FC43014821}"/>
                </a:ext>
              </a:extLst>
            </p:cNvPr>
            <p:cNvSpPr/>
            <p:nvPr/>
          </p:nvSpPr>
          <p:spPr>
            <a:xfrm>
              <a:off x="3995927" y="4882896"/>
              <a:ext cx="3785616" cy="329184"/>
            </a:xfrm>
            <a:prstGeom prst="rect">
              <a:avLst/>
            </a:prstGeom>
            <a:solidFill>
              <a:srgbClr val="B87A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44" name="TextBox 75">
              <a:extLst>
                <a:ext uri="{FF2B5EF4-FFF2-40B4-BE49-F238E27FC236}">
                  <a16:creationId xmlns:a16="http://schemas.microsoft.com/office/drawing/2014/main" id="{5B30EF37-D320-8104-49A9-76A6EBBE1AE8}"/>
                </a:ext>
              </a:extLst>
            </p:cNvPr>
            <p:cNvSpPr txBox="1"/>
            <p:nvPr/>
          </p:nvSpPr>
          <p:spPr>
            <a:xfrm>
              <a:off x="4069079" y="4946904"/>
              <a:ext cx="3657600" cy="14939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sz="900" b="1">
                  <a:solidFill>
                    <a:srgbClr val="FFFFFF"/>
                  </a:solidFill>
                  <a:latin typeface="Meiryo UI"/>
                  <a:ea typeface="Meiryo UI"/>
                </a:rPr>
                <a:t>事務時間を半分まで削減</a:t>
              </a:r>
            </a:p>
          </p:txBody>
        </p:sp>
        <p:sp>
          <p:nvSpPr>
            <p:cNvPr id="145" name="Rectangle 76">
              <a:extLst>
                <a:ext uri="{FF2B5EF4-FFF2-40B4-BE49-F238E27FC236}">
                  <a16:creationId xmlns:a16="http://schemas.microsoft.com/office/drawing/2014/main" id="{32E31E34-BF68-5AA6-EFC3-F5B3657D7C4B}"/>
                </a:ext>
              </a:extLst>
            </p:cNvPr>
            <p:cNvSpPr/>
            <p:nvPr/>
          </p:nvSpPr>
          <p:spPr>
            <a:xfrm>
              <a:off x="7836408" y="4882896"/>
              <a:ext cx="3785615" cy="329184"/>
            </a:xfrm>
            <a:prstGeom prst="rect">
              <a:avLst/>
            </a:prstGeom>
            <a:solidFill>
              <a:srgbClr val="FFFFFF"/>
            </a:solidFill>
            <a:ln w="13970">
              <a:solidFill>
                <a:srgbClr val="B87A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46" name="TextBox 77">
              <a:extLst>
                <a:ext uri="{FF2B5EF4-FFF2-40B4-BE49-F238E27FC236}">
                  <a16:creationId xmlns:a16="http://schemas.microsoft.com/office/drawing/2014/main" id="{B04EBD1D-CA2E-6BDB-BDCC-AFEB56BA8F85}"/>
                </a:ext>
              </a:extLst>
            </p:cNvPr>
            <p:cNvSpPr txBox="1"/>
            <p:nvPr/>
          </p:nvSpPr>
          <p:spPr>
            <a:xfrm>
              <a:off x="7909560" y="4946904"/>
              <a:ext cx="3657599" cy="14939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sz="900" b="1">
                  <a:solidFill>
                    <a:srgbClr val="B87A2A"/>
                  </a:solidFill>
                  <a:latin typeface="Meiryo UI"/>
                  <a:ea typeface="Meiryo UI"/>
                </a:rPr>
                <a:t>削減した状態を運用に定着</a:t>
              </a:r>
            </a:p>
          </p:txBody>
        </p:sp>
        <p:sp>
          <p:nvSpPr>
            <p:cNvPr id="147" name="TextBox 78">
              <a:extLst>
                <a:ext uri="{FF2B5EF4-FFF2-40B4-BE49-F238E27FC236}">
                  <a16:creationId xmlns:a16="http://schemas.microsoft.com/office/drawing/2014/main" id="{3A635918-132A-D59A-06E4-5F83A17D91AE}"/>
                </a:ext>
              </a:extLst>
            </p:cNvPr>
            <p:cNvSpPr txBox="1"/>
            <p:nvPr/>
          </p:nvSpPr>
          <p:spPr>
            <a:xfrm>
              <a:off x="548640" y="5394960"/>
              <a:ext cx="1938528" cy="31054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900" b="1">
                  <a:solidFill>
                    <a:srgbClr val="262626"/>
                  </a:solidFill>
                  <a:latin typeface="Meiryo UI"/>
                  <a:ea typeface="Meiryo UI"/>
                </a:rPr>
                <a:t>D2 チーム対チーム
営業へ再編</a:t>
              </a:r>
            </a:p>
          </p:txBody>
        </p:sp>
        <p:sp>
          <p:nvSpPr>
            <p:cNvPr id="148" name="Rectangle 79">
              <a:extLst>
                <a:ext uri="{FF2B5EF4-FFF2-40B4-BE49-F238E27FC236}">
                  <a16:creationId xmlns:a16="http://schemas.microsoft.com/office/drawing/2014/main" id="{4AD076BB-5905-D7F1-6B44-0A7040445140}"/>
                </a:ext>
              </a:extLst>
            </p:cNvPr>
            <p:cNvSpPr/>
            <p:nvPr/>
          </p:nvSpPr>
          <p:spPr>
            <a:xfrm>
              <a:off x="3995927" y="5413248"/>
              <a:ext cx="1865375" cy="329184"/>
            </a:xfrm>
            <a:prstGeom prst="rect">
              <a:avLst/>
            </a:prstGeom>
            <a:solidFill>
              <a:srgbClr val="B87A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49" name="TextBox 80">
              <a:extLst>
                <a:ext uri="{FF2B5EF4-FFF2-40B4-BE49-F238E27FC236}">
                  <a16:creationId xmlns:a16="http://schemas.microsoft.com/office/drawing/2014/main" id="{E305828D-9FF2-F542-0CF6-2AE2853F820F}"/>
                </a:ext>
              </a:extLst>
            </p:cNvPr>
            <p:cNvSpPr txBox="1"/>
            <p:nvPr/>
          </p:nvSpPr>
          <p:spPr>
            <a:xfrm>
              <a:off x="4069079" y="5477256"/>
              <a:ext cx="1737359" cy="31576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sz="620" b="1">
                  <a:solidFill>
                    <a:srgbClr val="FFFFFF"/>
                  </a:solidFill>
                  <a:latin typeface="Meiryo UI"/>
                  <a:ea typeface="Meiryo UI"/>
                </a:rPr>
                <a:t>営業・ブランド・データの混成チームを先行編成</a:t>
              </a:r>
            </a:p>
          </p:txBody>
        </p:sp>
        <p:sp>
          <p:nvSpPr>
            <p:cNvPr id="150" name="Rectangle 81">
              <a:extLst>
                <a:ext uri="{FF2B5EF4-FFF2-40B4-BE49-F238E27FC236}">
                  <a16:creationId xmlns:a16="http://schemas.microsoft.com/office/drawing/2014/main" id="{12D144FC-4909-94BC-9BA2-0AB208CB5A1F}"/>
                </a:ext>
              </a:extLst>
            </p:cNvPr>
            <p:cNvSpPr/>
            <p:nvPr/>
          </p:nvSpPr>
          <p:spPr>
            <a:xfrm>
              <a:off x="5916167" y="5413248"/>
              <a:ext cx="1865376" cy="329184"/>
            </a:xfrm>
            <a:prstGeom prst="rect">
              <a:avLst/>
            </a:prstGeom>
            <a:solidFill>
              <a:srgbClr val="B87A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51" name="TextBox 82">
              <a:extLst>
                <a:ext uri="{FF2B5EF4-FFF2-40B4-BE49-F238E27FC236}">
                  <a16:creationId xmlns:a16="http://schemas.microsoft.com/office/drawing/2014/main" id="{DF936F5C-0525-1A07-03DE-646348503D67}"/>
                </a:ext>
              </a:extLst>
            </p:cNvPr>
            <p:cNvSpPr txBox="1"/>
            <p:nvPr/>
          </p:nvSpPr>
          <p:spPr>
            <a:xfrm>
              <a:off x="5989319" y="5477256"/>
              <a:ext cx="1737360" cy="14939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sz="900" b="1">
                  <a:solidFill>
                    <a:srgbClr val="FFFFFF"/>
                  </a:solidFill>
                  <a:latin typeface="Meiryo UI"/>
                  <a:ea typeface="Meiryo UI"/>
                </a:rPr>
                <a:t>確認2合格後に正式組織化</a:t>
              </a:r>
            </a:p>
          </p:txBody>
        </p:sp>
        <p:sp>
          <p:nvSpPr>
            <p:cNvPr id="152" name="Rectangle 83">
              <a:extLst>
                <a:ext uri="{FF2B5EF4-FFF2-40B4-BE49-F238E27FC236}">
                  <a16:creationId xmlns:a16="http://schemas.microsoft.com/office/drawing/2014/main" id="{B65484F8-F7F6-C1C4-2166-3FD0C9C34F8B}"/>
                </a:ext>
              </a:extLst>
            </p:cNvPr>
            <p:cNvSpPr/>
            <p:nvPr/>
          </p:nvSpPr>
          <p:spPr>
            <a:xfrm>
              <a:off x="7836408" y="5413248"/>
              <a:ext cx="3785615" cy="329184"/>
            </a:xfrm>
            <a:prstGeom prst="rect">
              <a:avLst/>
            </a:prstGeom>
            <a:solidFill>
              <a:srgbClr val="FFFFFF"/>
            </a:solidFill>
            <a:ln w="13970">
              <a:solidFill>
                <a:srgbClr val="B87A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53" name="TextBox 84">
              <a:extLst>
                <a:ext uri="{FF2B5EF4-FFF2-40B4-BE49-F238E27FC236}">
                  <a16:creationId xmlns:a16="http://schemas.microsoft.com/office/drawing/2014/main" id="{235C2CBC-353B-DD76-FAF5-E53E6C845036}"/>
                </a:ext>
              </a:extLst>
            </p:cNvPr>
            <p:cNvSpPr txBox="1"/>
            <p:nvPr/>
          </p:nvSpPr>
          <p:spPr>
            <a:xfrm>
              <a:off x="7909560" y="5477256"/>
              <a:ext cx="3657599" cy="14939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sz="900" b="1">
                  <a:solidFill>
                    <a:srgbClr val="B87A2A"/>
                  </a:solidFill>
                  <a:latin typeface="Meiryo UI"/>
                  <a:ea typeface="Meiryo UI"/>
                </a:rPr>
                <a:t>全社展開・評価制度の切替</a:t>
              </a:r>
            </a:p>
          </p:txBody>
        </p:sp>
        <p:cxnSp>
          <p:nvCxnSpPr>
            <p:cNvPr id="154" name="Connector 85">
              <a:extLst>
                <a:ext uri="{FF2B5EF4-FFF2-40B4-BE49-F238E27FC236}">
                  <a16:creationId xmlns:a16="http://schemas.microsoft.com/office/drawing/2014/main" id="{F3227E0F-156E-9DBB-3F0B-5381879D5621}"/>
                </a:ext>
              </a:extLst>
            </p:cNvPr>
            <p:cNvCxnSpPr/>
            <p:nvPr/>
          </p:nvCxnSpPr>
          <p:spPr>
            <a:xfrm>
              <a:off x="4937759" y="1298448"/>
              <a:ext cx="0" cy="4517136"/>
            </a:xfrm>
            <a:prstGeom prst="line">
              <a:avLst/>
            </a:prstGeom>
            <a:ln w="20320">
              <a:solidFill>
                <a:srgbClr val="C8102E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5" name="TextBox 86">
              <a:extLst>
                <a:ext uri="{FF2B5EF4-FFF2-40B4-BE49-F238E27FC236}">
                  <a16:creationId xmlns:a16="http://schemas.microsoft.com/office/drawing/2014/main" id="{BF50B343-D7B0-FD7D-DD7E-8C74431D84D6}"/>
                </a:ext>
              </a:extLst>
            </p:cNvPr>
            <p:cNvSpPr txBox="1"/>
            <p:nvPr/>
          </p:nvSpPr>
          <p:spPr>
            <a:xfrm>
              <a:off x="2985577" y="5861304"/>
              <a:ext cx="3095183" cy="31054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900" b="1" dirty="0">
                  <a:solidFill>
                    <a:srgbClr val="C8102E"/>
                  </a:solidFill>
                  <a:latin typeface="Meiryo UI"/>
                  <a:ea typeface="Meiryo UI"/>
                </a:rPr>
                <a:t>確認1 FY27夏：値引きに頼らない商談の成立＋事務3割減
→ </a:t>
              </a:r>
              <a:r>
                <a:rPr sz="900" b="1" dirty="0" err="1">
                  <a:solidFill>
                    <a:srgbClr val="C8102E"/>
                  </a:solidFill>
                  <a:latin typeface="Meiryo UI"/>
                  <a:ea typeface="Meiryo UI"/>
                </a:rPr>
                <a:t>合格なら拡大投資を解禁</a:t>
              </a:r>
              <a:endParaRPr sz="900" b="1" dirty="0">
                <a:solidFill>
                  <a:srgbClr val="C8102E"/>
                </a:solidFill>
                <a:latin typeface="Meiryo UI"/>
                <a:ea typeface="Meiryo UI"/>
              </a:endParaRPr>
            </a:p>
          </p:txBody>
        </p:sp>
        <p:cxnSp>
          <p:nvCxnSpPr>
            <p:cNvPr id="156" name="Connector 87">
              <a:extLst>
                <a:ext uri="{FF2B5EF4-FFF2-40B4-BE49-F238E27FC236}">
                  <a16:creationId xmlns:a16="http://schemas.microsoft.com/office/drawing/2014/main" id="{9C7C3332-FA48-504C-C619-3B88561BD98F}"/>
                </a:ext>
              </a:extLst>
            </p:cNvPr>
            <p:cNvCxnSpPr/>
            <p:nvPr/>
          </p:nvCxnSpPr>
          <p:spPr>
            <a:xfrm>
              <a:off x="7818120" y="1298448"/>
              <a:ext cx="0" cy="4517136"/>
            </a:xfrm>
            <a:prstGeom prst="line">
              <a:avLst/>
            </a:prstGeom>
            <a:ln w="20320">
              <a:solidFill>
                <a:srgbClr val="C8102E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TextBox 88">
              <a:extLst>
                <a:ext uri="{FF2B5EF4-FFF2-40B4-BE49-F238E27FC236}">
                  <a16:creationId xmlns:a16="http://schemas.microsoft.com/office/drawing/2014/main" id="{680AB73A-0E26-C7AE-79E9-20192426D9F3}"/>
                </a:ext>
              </a:extLst>
            </p:cNvPr>
            <p:cNvSpPr txBox="1"/>
            <p:nvPr/>
          </p:nvSpPr>
          <p:spPr>
            <a:xfrm>
              <a:off x="6172199" y="5861304"/>
              <a:ext cx="2898421" cy="47396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900" b="1" dirty="0">
                  <a:solidFill>
                    <a:srgbClr val="C8102E"/>
                  </a:solidFill>
                  <a:latin typeface="Meiryo UI"/>
                  <a:ea typeface="Meiryo UI"/>
                </a:rPr>
                <a:t>確認2 FY28末：共同事業を他社でも再現＋歯科経由販売の実証
→ </a:t>
              </a:r>
              <a:r>
                <a:rPr sz="900" b="1" dirty="0" err="1">
                  <a:solidFill>
                    <a:srgbClr val="C8102E"/>
                  </a:solidFill>
                  <a:latin typeface="Meiryo UI"/>
                  <a:ea typeface="Meiryo UI"/>
                </a:rPr>
                <a:t>合格なら組織を正式化し、データ基盤に本格投資</a:t>
              </a:r>
              <a:endParaRPr sz="900" b="1" dirty="0">
                <a:solidFill>
                  <a:srgbClr val="C8102E"/>
                </a:solidFill>
                <a:latin typeface="Meiryo UI"/>
                <a:ea typeface="Meiryo UI"/>
              </a:endParaRPr>
            </a:p>
          </p:txBody>
        </p:sp>
        <p:cxnSp>
          <p:nvCxnSpPr>
            <p:cNvPr id="158" name="Connector 89">
              <a:extLst>
                <a:ext uri="{FF2B5EF4-FFF2-40B4-BE49-F238E27FC236}">
                  <a16:creationId xmlns:a16="http://schemas.microsoft.com/office/drawing/2014/main" id="{393AF899-A8C0-6C4B-2689-77BFB60574AD}"/>
                </a:ext>
              </a:extLst>
            </p:cNvPr>
            <p:cNvCxnSpPr/>
            <p:nvPr/>
          </p:nvCxnSpPr>
          <p:spPr>
            <a:xfrm>
              <a:off x="11600992" y="1298448"/>
              <a:ext cx="0" cy="4517136"/>
            </a:xfrm>
            <a:prstGeom prst="line">
              <a:avLst/>
            </a:prstGeom>
            <a:ln w="20320">
              <a:solidFill>
                <a:srgbClr val="C8102E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9" name="TextBox 90">
              <a:extLst>
                <a:ext uri="{FF2B5EF4-FFF2-40B4-BE49-F238E27FC236}">
                  <a16:creationId xmlns:a16="http://schemas.microsoft.com/office/drawing/2014/main" id="{09978069-A51E-F2EF-1064-1B113FECA335}"/>
                </a:ext>
              </a:extLst>
            </p:cNvPr>
            <p:cNvSpPr txBox="1"/>
            <p:nvPr/>
          </p:nvSpPr>
          <p:spPr>
            <a:xfrm>
              <a:off x="9623807" y="5861306"/>
              <a:ext cx="2400553" cy="31054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900" b="1" dirty="0">
                  <a:solidFill>
                    <a:srgbClr val="C8102E"/>
                  </a:solidFill>
                  <a:latin typeface="Meiryo UI"/>
                  <a:ea typeface="Meiryo UI"/>
                </a:rPr>
                <a:t>確認3 FY30：統合報告書でKPIを開示
→ </a:t>
              </a:r>
              <a:r>
                <a:rPr sz="900" b="1" dirty="0" err="1">
                  <a:solidFill>
                    <a:srgbClr val="C8102E"/>
                  </a:solidFill>
                  <a:latin typeface="Meiryo UI"/>
                  <a:ea typeface="Meiryo UI"/>
                </a:rPr>
                <a:t>全社標準化・評価制度の切替</a:t>
              </a:r>
              <a:endParaRPr sz="900" b="1" dirty="0">
                <a:solidFill>
                  <a:srgbClr val="C8102E"/>
                </a:solidFill>
                <a:latin typeface="Meiryo UI"/>
                <a:ea typeface="Meiryo UI"/>
              </a:endParaRPr>
            </a:p>
          </p:txBody>
        </p:sp>
      </p:grpSp>
      <p:sp>
        <p:nvSpPr>
          <p:cNvPr id="164" name="TextBox 38">
            <a:extLst>
              <a:ext uri="{FF2B5EF4-FFF2-40B4-BE49-F238E27FC236}">
                <a16:creationId xmlns:a16="http://schemas.microsoft.com/office/drawing/2014/main" id="{42760FC6-9518-B1FA-B49E-5333EEB05064}"/>
              </a:ext>
            </a:extLst>
          </p:cNvPr>
          <p:cNvSpPr txBox="1"/>
          <p:nvPr/>
        </p:nvSpPr>
        <p:spPr>
          <a:xfrm>
            <a:off x="320040" y="6400800"/>
            <a:ext cx="11521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700" b="1" dirty="0">
                <a:solidFill>
                  <a:srgbClr val="008D2E"/>
                </a:solidFill>
                <a:latin typeface="Meiryo UI"/>
                <a:ea typeface="Meiryo UI"/>
              </a:rPr>
              <a:t>2030年以降：</a:t>
            </a:r>
            <a:r>
              <a:rPr sz="700" b="0" dirty="0">
                <a:solidFill>
                  <a:srgbClr val="262626"/>
                </a:solidFill>
                <a:latin typeface="Meiryo UI"/>
                <a:ea typeface="Meiryo UI"/>
              </a:rPr>
              <a:t>確立した勝ち方を全カテゴリ・主要小売へ標準展開し、2035年に新規領域が収益の柱、2040年に「予防習慣インフラ企業」（</a:t>
            </a:r>
            <a:r>
              <a:rPr sz="700" b="0" dirty="0" err="1">
                <a:solidFill>
                  <a:srgbClr val="262626"/>
                </a:solidFill>
                <a:latin typeface="Meiryo UI"/>
                <a:ea typeface="Meiryo UI"/>
              </a:rPr>
              <a:t>制度とAIの初期設定を握る）へ</a:t>
            </a:r>
            <a:r>
              <a:rPr sz="700" b="0" dirty="0">
                <a:solidFill>
                  <a:srgbClr val="262626"/>
                </a:solidFill>
                <a:latin typeface="Meiryo UI"/>
                <a:ea typeface="Meiryo UI"/>
              </a:rPr>
              <a:t> ― </a:t>
            </a:r>
            <a:r>
              <a:rPr sz="700" b="0" dirty="0" err="1">
                <a:solidFill>
                  <a:srgbClr val="262626"/>
                </a:solidFill>
                <a:latin typeface="Meiryo UI"/>
                <a:ea typeface="Meiryo UI"/>
              </a:rPr>
              <a:t>ゲート不合格なら拡大せず、詰まった手順を直して再挑戦</a:t>
            </a:r>
            <a:r>
              <a:rPr sz="700" b="0" dirty="0">
                <a:solidFill>
                  <a:srgbClr val="262626"/>
                </a:solidFill>
                <a:latin typeface="Meiryo UI"/>
                <a:ea typeface="Meiryo U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815767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9CDAD6-D3AE-4DF0-F3F4-12A9ADE62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KGI/KPI</a:t>
            </a:r>
            <a:r>
              <a:rPr kumimoji="1" lang="ja-JP" altLang="en-US" dirty="0"/>
              <a:t>体系 </a:t>
            </a:r>
            <a:r>
              <a:rPr kumimoji="1" lang="en-US" altLang="ja-JP" dirty="0"/>
              <a:t>― </a:t>
            </a:r>
            <a:r>
              <a:rPr kumimoji="1" lang="ja-JP" altLang="en-US" dirty="0"/>
              <a:t>最上位</a:t>
            </a:r>
            <a:r>
              <a:rPr kumimoji="1" lang="en-US" altLang="ja-JP" dirty="0"/>
              <a:t>KPI</a:t>
            </a:r>
            <a:r>
              <a:rPr kumimoji="1" lang="ja-JP" altLang="en-US" dirty="0"/>
              <a:t>とライオン固有のユニーク</a:t>
            </a:r>
            <a:r>
              <a:rPr kumimoji="1" lang="en-US" altLang="ja-JP" dirty="0"/>
              <a:t>KPI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9EED0C7-4715-DF18-52DE-2ABD6D55CC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/>
              <a:t>頂点は「増分粗利（オーラルケア）」＝施策がなかった場合との差分で測る変革の正味効果。新規（</a:t>
            </a:r>
            <a:r>
              <a:rPr kumimoji="1" lang="en-US" altLang="ja-JP" dirty="0"/>
              <a:t>N-t-C</a:t>
            </a:r>
            <a:r>
              <a:rPr kumimoji="1" lang="ja-JP" altLang="en-US" dirty="0"/>
              <a:t>）と継続（</a:t>
            </a:r>
            <a:r>
              <a:rPr kumimoji="1" lang="en-US" altLang="ja-JP" dirty="0"/>
              <a:t>LTV</a:t>
            </a:r>
            <a:r>
              <a:rPr kumimoji="1" lang="ja-JP" altLang="en-US" dirty="0"/>
              <a:t>）の</a:t>
            </a:r>
            <a:r>
              <a:rPr kumimoji="1" lang="en-US" altLang="ja-JP" dirty="0"/>
              <a:t>2</a:t>
            </a:r>
            <a:r>
              <a:rPr kumimoji="1" lang="ja-JP" altLang="en-US" dirty="0"/>
              <a:t>本の枝に、固有</a:t>
            </a:r>
            <a:r>
              <a:rPr kumimoji="1" lang="en-US" altLang="ja-JP" dirty="0"/>
              <a:t>KPI</a:t>
            </a:r>
            <a:r>
              <a:rPr kumimoji="1" lang="ja-JP" altLang="en-US" dirty="0"/>
              <a:t>をぶら下げる</a:t>
            </a:r>
          </a:p>
        </p:txBody>
      </p:sp>
      <p:grpSp>
        <p:nvGrpSpPr>
          <p:cNvPr id="133" name="グループ化 132">
            <a:extLst>
              <a:ext uri="{FF2B5EF4-FFF2-40B4-BE49-F238E27FC236}">
                <a16:creationId xmlns:a16="http://schemas.microsoft.com/office/drawing/2014/main" id="{6A19E131-5396-E139-A62B-421542D63942}"/>
              </a:ext>
            </a:extLst>
          </p:cNvPr>
          <p:cNvGrpSpPr/>
          <p:nvPr/>
        </p:nvGrpSpPr>
        <p:grpSpPr>
          <a:xfrm>
            <a:off x="334962" y="1776844"/>
            <a:ext cx="11506517" cy="4897220"/>
            <a:chOff x="320040" y="1207008"/>
            <a:chExt cx="11521440" cy="5468000"/>
          </a:xfrm>
        </p:grpSpPr>
        <p:sp>
          <p:nvSpPr>
            <p:cNvPr id="69" name="TextBox 13">
              <a:extLst>
                <a:ext uri="{FF2B5EF4-FFF2-40B4-BE49-F238E27FC236}">
                  <a16:creationId xmlns:a16="http://schemas.microsoft.com/office/drawing/2014/main" id="{A146CCFC-2D37-5C91-F718-982C20A6CD19}"/>
                </a:ext>
              </a:extLst>
            </p:cNvPr>
            <p:cNvSpPr txBox="1"/>
            <p:nvPr/>
          </p:nvSpPr>
          <p:spPr>
            <a:xfrm>
              <a:off x="320040" y="1188720"/>
              <a:ext cx="6766560" cy="36519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sz="1000" b="1">
                  <a:solidFill>
                    <a:srgbClr val="595959"/>
                  </a:solidFill>
                  <a:latin typeface="Meiryo UI"/>
                  <a:ea typeface="Meiryo UI"/>
                </a:rPr>
                <a:t>実線＝金額を合算する線（この2本だけ）／破線＝先行指標の対応（金額は流れない）</a:t>
              </a:r>
            </a:p>
          </p:txBody>
        </p:sp>
        <p:sp>
          <p:nvSpPr>
            <p:cNvPr id="70" name="Rectangle 14">
              <a:extLst>
                <a:ext uri="{FF2B5EF4-FFF2-40B4-BE49-F238E27FC236}">
                  <a16:creationId xmlns:a16="http://schemas.microsoft.com/office/drawing/2014/main" id="{A7FE899C-D991-B100-4BFE-0442C23EFB0A}"/>
                </a:ext>
              </a:extLst>
            </p:cNvPr>
            <p:cNvSpPr/>
            <p:nvPr/>
          </p:nvSpPr>
          <p:spPr>
            <a:xfrm>
              <a:off x="3566160" y="1463040"/>
              <a:ext cx="5029200" cy="768096"/>
            </a:xfrm>
            <a:prstGeom prst="rect">
              <a:avLst/>
            </a:prstGeom>
            <a:solidFill>
              <a:srgbClr val="1623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71" name="TextBox 15">
              <a:extLst>
                <a:ext uri="{FF2B5EF4-FFF2-40B4-BE49-F238E27FC236}">
                  <a16:creationId xmlns:a16="http://schemas.microsoft.com/office/drawing/2014/main" id="{7B374D2C-0B66-4523-7DE8-41CC1ABE839C}"/>
                </a:ext>
              </a:extLst>
            </p:cNvPr>
            <p:cNvSpPr txBox="1"/>
            <p:nvPr/>
          </p:nvSpPr>
          <p:spPr>
            <a:xfrm>
              <a:off x="3703320" y="1536192"/>
              <a:ext cx="4754880" cy="70762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8000"/>
                </a:lnSpc>
              </a:pPr>
              <a:r>
                <a:rPr sz="1600" b="1" dirty="0" err="1">
                  <a:solidFill>
                    <a:srgbClr val="FFFFFF"/>
                  </a:solidFill>
                  <a:latin typeface="Meiryo UI"/>
                  <a:ea typeface="Meiryo UI"/>
                </a:rPr>
                <a:t>KGI：増分粗利（オーラルケア事業</a:t>
              </a:r>
              <a:r>
                <a:rPr sz="1600" b="1" dirty="0">
                  <a:solidFill>
                    <a:srgbClr val="FFFFFF"/>
                  </a:solidFill>
                  <a:latin typeface="Meiryo UI"/>
                  <a:ea typeface="Meiryo UI"/>
                </a:rPr>
                <a:t>）</a:t>
              </a:r>
            </a:p>
            <a:p>
              <a:pPr>
                <a:lnSpc>
                  <a:spcPct val="118000"/>
                </a:lnSpc>
              </a:pPr>
              <a:r>
                <a:rPr sz="1000" b="0" dirty="0">
                  <a:solidFill>
                    <a:srgbClr val="FFFFFF"/>
                  </a:solidFill>
                  <a:latin typeface="Meiryo UI"/>
                  <a:ea typeface="Meiryo UI"/>
                </a:rPr>
                <a:t>測り方＝施策あり店舗となし店舗の粗利差（B1で実験設計）＋MMM寄与。年1回・幅（レンジ）で確定し、重点小売別・4市場別の内訳を表示</a:t>
              </a:r>
            </a:p>
          </p:txBody>
        </p:sp>
        <p:sp>
          <p:nvSpPr>
            <p:cNvPr id="72" name="Rectangle 16">
              <a:extLst>
                <a:ext uri="{FF2B5EF4-FFF2-40B4-BE49-F238E27FC236}">
                  <a16:creationId xmlns:a16="http://schemas.microsoft.com/office/drawing/2014/main" id="{DE9C7D0F-478C-77D4-077C-35720F7C8598}"/>
                </a:ext>
              </a:extLst>
            </p:cNvPr>
            <p:cNvSpPr/>
            <p:nvPr/>
          </p:nvSpPr>
          <p:spPr>
            <a:xfrm>
              <a:off x="914400" y="2633472"/>
              <a:ext cx="4206240" cy="548640"/>
            </a:xfrm>
            <a:prstGeom prst="rect">
              <a:avLst/>
            </a:prstGeom>
            <a:solidFill>
              <a:srgbClr val="0F5E8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73" name="TextBox 17">
              <a:extLst>
                <a:ext uri="{FF2B5EF4-FFF2-40B4-BE49-F238E27FC236}">
                  <a16:creationId xmlns:a16="http://schemas.microsoft.com/office/drawing/2014/main" id="{E6049BCB-969A-C6FC-5EA8-2D6CFCF5A803}"/>
                </a:ext>
              </a:extLst>
            </p:cNvPr>
            <p:cNvSpPr txBox="1"/>
            <p:nvPr/>
          </p:nvSpPr>
          <p:spPr>
            <a:xfrm>
              <a:off x="1051560" y="2697480"/>
              <a:ext cx="3931920" cy="18721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1100" b="1">
                  <a:solidFill>
                    <a:srgbClr val="FFFFFF"/>
                  </a:solidFill>
                  <a:latin typeface="Meiryo UI"/>
                  <a:ea typeface="Meiryo UI"/>
                </a:rPr>
                <a:t>新規からの増分粗利</a:t>
              </a:r>
              <a:r>
                <a:rPr sz="1000" b="0">
                  <a:solidFill>
                    <a:srgbClr val="FFFFFF"/>
                  </a:solidFill>
                  <a:latin typeface="Meiryo UI"/>
                  <a:ea typeface="Meiryo UI"/>
                </a:rPr>
                <a:t>　初回購入から12カ月の顧客（N-t-C）</a:t>
              </a:r>
            </a:p>
          </p:txBody>
        </p:sp>
        <p:sp>
          <p:nvSpPr>
            <p:cNvPr id="74" name="Rectangle 18">
              <a:extLst>
                <a:ext uri="{FF2B5EF4-FFF2-40B4-BE49-F238E27FC236}">
                  <a16:creationId xmlns:a16="http://schemas.microsoft.com/office/drawing/2014/main" id="{8138E5CA-0FC1-1F2B-A1C9-CD80A716BFFE}"/>
                </a:ext>
              </a:extLst>
            </p:cNvPr>
            <p:cNvSpPr/>
            <p:nvPr/>
          </p:nvSpPr>
          <p:spPr>
            <a:xfrm>
              <a:off x="7086600" y="2633472"/>
              <a:ext cx="4206240" cy="548640"/>
            </a:xfrm>
            <a:prstGeom prst="rect">
              <a:avLst/>
            </a:prstGeom>
            <a:solidFill>
              <a:srgbClr val="008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75" name="TextBox 19">
              <a:extLst>
                <a:ext uri="{FF2B5EF4-FFF2-40B4-BE49-F238E27FC236}">
                  <a16:creationId xmlns:a16="http://schemas.microsoft.com/office/drawing/2014/main" id="{77F76024-B099-D6CD-5EBC-DCAE1CE03DFE}"/>
                </a:ext>
              </a:extLst>
            </p:cNvPr>
            <p:cNvSpPr txBox="1"/>
            <p:nvPr/>
          </p:nvSpPr>
          <p:spPr>
            <a:xfrm>
              <a:off x="7223760" y="2697480"/>
              <a:ext cx="3931920" cy="18721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1100" b="1">
                  <a:solidFill>
                    <a:srgbClr val="FFFFFF"/>
                  </a:solidFill>
                  <a:latin typeface="Meiryo UI"/>
                  <a:ea typeface="Meiryo UI"/>
                </a:rPr>
                <a:t>継続からの増分粗利</a:t>
              </a:r>
              <a:r>
                <a:rPr sz="1000" b="0">
                  <a:solidFill>
                    <a:srgbClr val="FFFFFF"/>
                  </a:solidFill>
                  <a:latin typeface="Meiryo UI"/>
                  <a:ea typeface="Meiryo UI"/>
                </a:rPr>
                <a:t>　13カ月目以降の顧客（LTV）</a:t>
              </a:r>
            </a:p>
          </p:txBody>
        </p:sp>
        <p:sp>
          <p:nvSpPr>
            <p:cNvPr id="76" name="TextBox 20">
              <a:extLst>
                <a:ext uri="{FF2B5EF4-FFF2-40B4-BE49-F238E27FC236}">
                  <a16:creationId xmlns:a16="http://schemas.microsoft.com/office/drawing/2014/main" id="{593669EB-E0BE-D944-A9E5-D3A26523031E}"/>
                </a:ext>
              </a:extLst>
            </p:cNvPr>
            <p:cNvSpPr txBox="1"/>
            <p:nvPr/>
          </p:nvSpPr>
          <p:spPr>
            <a:xfrm>
              <a:off x="5230368" y="2724912"/>
              <a:ext cx="1783080" cy="37421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5000"/>
                </a:lnSpc>
              </a:pPr>
              <a:r>
                <a:rPr sz="1000" b="1" dirty="0">
                  <a:solidFill>
                    <a:srgbClr val="C8102E"/>
                  </a:solidFill>
                  <a:latin typeface="Meiryo UI"/>
                  <a:ea typeface="Meiryo UI"/>
                </a:rPr>
                <a:t>12カ月ルールで排他分類
＝</a:t>
              </a:r>
              <a:r>
                <a:rPr sz="1000" b="1" dirty="0" err="1">
                  <a:solidFill>
                    <a:srgbClr val="C8102E"/>
                  </a:solidFill>
                  <a:latin typeface="Meiryo UI"/>
                  <a:ea typeface="Meiryo UI"/>
                </a:rPr>
                <a:t>同じ顧客を二度数えない</a:t>
              </a:r>
              <a:endParaRPr sz="1000" b="1" dirty="0">
                <a:solidFill>
                  <a:srgbClr val="C8102E"/>
                </a:solidFill>
                <a:latin typeface="Meiryo UI"/>
                <a:ea typeface="Meiryo UI"/>
              </a:endParaRPr>
            </a:p>
          </p:txBody>
        </p:sp>
        <p:cxnSp>
          <p:nvCxnSpPr>
            <p:cNvPr id="77" name="Connector 21">
              <a:extLst>
                <a:ext uri="{FF2B5EF4-FFF2-40B4-BE49-F238E27FC236}">
                  <a16:creationId xmlns:a16="http://schemas.microsoft.com/office/drawing/2014/main" id="{A29062CF-CB41-BA57-1BDA-247A76F60778}"/>
                </a:ext>
              </a:extLst>
            </p:cNvPr>
            <p:cNvCxnSpPr/>
            <p:nvPr/>
          </p:nvCxnSpPr>
          <p:spPr>
            <a:xfrm flipH="1">
              <a:off x="3017520" y="2231136"/>
              <a:ext cx="3063240" cy="402336"/>
            </a:xfrm>
            <a:prstGeom prst="line">
              <a:avLst/>
            </a:prstGeom>
            <a:ln w="20320">
              <a:solidFill>
                <a:srgbClr val="26262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ctor 22">
              <a:extLst>
                <a:ext uri="{FF2B5EF4-FFF2-40B4-BE49-F238E27FC236}">
                  <a16:creationId xmlns:a16="http://schemas.microsoft.com/office/drawing/2014/main" id="{AEE1146C-A82D-91CE-BCC6-96D9E4070ACC}"/>
                </a:ext>
              </a:extLst>
            </p:cNvPr>
            <p:cNvCxnSpPr/>
            <p:nvPr/>
          </p:nvCxnSpPr>
          <p:spPr>
            <a:xfrm>
              <a:off x="6080760" y="2231136"/>
              <a:ext cx="3108960" cy="402336"/>
            </a:xfrm>
            <a:prstGeom prst="line">
              <a:avLst/>
            </a:prstGeom>
            <a:ln w="20320">
              <a:solidFill>
                <a:srgbClr val="26262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23">
              <a:extLst>
                <a:ext uri="{FF2B5EF4-FFF2-40B4-BE49-F238E27FC236}">
                  <a16:creationId xmlns:a16="http://schemas.microsoft.com/office/drawing/2014/main" id="{1B1C6A18-3DD9-EC2D-FB03-6DC6190B173B}"/>
                </a:ext>
              </a:extLst>
            </p:cNvPr>
            <p:cNvSpPr txBox="1"/>
            <p:nvPr/>
          </p:nvSpPr>
          <p:spPr>
            <a:xfrm>
              <a:off x="320040" y="3310128"/>
              <a:ext cx="11247120" cy="18141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sz="1050" b="1" dirty="0" err="1">
                  <a:solidFill>
                    <a:srgbClr val="595959"/>
                  </a:solidFill>
                  <a:latin typeface="Meiryo UI"/>
                  <a:ea typeface="Meiryo UI"/>
                </a:rPr>
                <a:t>ドライバーKPI（先行指標</a:t>
              </a:r>
              <a:r>
                <a:rPr sz="1050" b="1" dirty="0">
                  <a:solidFill>
                    <a:srgbClr val="595959"/>
                  </a:solidFill>
                  <a:latin typeface="Meiryo UI"/>
                  <a:ea typeface="Meiryo UI"/>
                </a:rPr>
                <a:t>）― </a:t>
              </a:r>
              <a:r>
                <a:rPr sz="1050" b="1" dirty="0" err="1">
                  <a:solidFill>
                    <a:srgbClr val="595959"/>
                  </a:solidFill>
                  <a:latin typeface="Meiryo UI"/>
                  <a:ea typeface="Meiryo UI"/>
                </a:rPr>
                <a:t>全て実データから機械的に算出。金額換算・合算はしない</a:t>
              </a:r>
              <a:endParaRPr sz="1050" b="1" dirty="0">
                <a:solidFill>
                  <a:srgbClr val="595959"/>
                </a:solidFill>
                <a:latin typeface="Meiryo UI"/>
                <a:ea typeface="Meiryo UI"/>
              </a:endParaRPr>
            </a:p>
          </p:txBody>
        </p:sp>
        <p:cxnSp>
          <p:nvCxnSpPr>
            <p:cNvPr id="80" name="Connector 24">
              <a:extLst>
                <a:ext uri="{FF2B5EF4-FFF2-40B4-BE49-F238E27FC236}">
                  <a16:creationId xmlns:a16="http://schemas.microsoft.com/office/drawing/2014/main" id="{90A41579-0ADA-32A2-7B20-22878D82C89A}"/>
                </a:ext>
              </a:extLst>
            </p:cNvPr>
            <p:cNvCxnSpPr/>
            <p:nvPr/>
          </p:nvCxnSpPr>
          <p:spPr>
            <a:xfrm flipH="1">
              <a:off x="1225295" y="3182112"/>
              <a:ext cx="1792225" cy="402336"/>
            </a:xfrm>
            <a:prstGeom prst="line">
              <a:avLst/>
            </a:prstGeom>
            <a:ln w="12700">
              <a:solidFill>
                <a:srgbClr val="595959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Rectangle 25">
              <a:extLst>
                <a:ext uri="{FF2B5EF4-FFF2-40B4-BE49-F238E27FC236}">
                  <a16:creationId xmlns:a16="http://schemas.microsoft.com/office/drawing/2014/main" id="{80551EB3-4BB1-2132-DB56-29D26C85796B}"/>
                </a:ext>
              </a:extLst>
            </p:cNvPr>
            <p:cNvSpPr/>
            <p:nvPr/>
          </p:nvSpPr>
          <p:spPr>
            <a:xfrm>
              <a:off x="320040" y="3584448"/>
              <a:ext cx="1810512" cy="1700784"/>
            </a:xfrm>
            <a:prstGeom prst="rect">
              <a:avLst/>
            </a:prstGeom>
            <a:solidFill>
              <a:srgbClr val="FFFFFF"/>
            </a:solidFill>
            <a:ln w="13970">
              <a:solidFill>
                <a:srgbClr val="0F5E8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2" name="Rectangle 26">
              <a:extLst>
                <a:ext uri="{FF2B5EF4-FFF2-40B4-BE49-F238E27FC236}">
                  <a16:creationId xmlns:a16="http://schemas.microsoft.com/office/drawing/2014/main" id="{EE6F86D4-0508-4F27-94B3-2FF06B93AE64}"/>
                </a:ext>
              </a:extLst>
            </p:cNvPr>
            <p:cNvSpPr/>
            <p:nvPr/>
          </p:nvSpPr>
          <p:spPr>
            <a:xfrm>
              <a:off x="320040" y="3584448"/>
              <a:ext cx="1810512" cy="457200"/>
            </a:xfrm>
            <a:prstGeom prst="rect">
              <a:avLst/>
            </a:prstGeom>
            <a:solidFill>
              <a:srgbClr val="0F5E8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3" name="TextBox 27">
              <a:extLst>
                <a:ext uri="{FF2B5EF4-FFF2-40B4-BE49-F238E27FC236}">
                  <a16:creationId xmlns:a16="http://schemas.microsoft.com/office/drawing/2014/main" id="{228392DB-DF6D-690F-CF7C-7FFE2D2D508E}"/>
                </a:ext>
              </a:extLst>
            </p:cNvPr>
            <p:cNvSpPr txBox="1"/>
            <p:nvPr/>
          </p:nvSpPr>
          <p:spPr>
            <a:xfrm>
              <a:off x="393192" y="3630168"/>
              <a:ext cx="1664208" cy="35918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1000" b="1">
                  <a:solidFill>
                    <a:srgbClr val="FFFFFF"/>
                  </a:solidFill>
                  <a:latin typeface="Meiryo UI"/>
                  <a:ea typeface="Meiryo UI"/>
                </a:rPr>
                <a:t>K1 AI推奨シェア
（AIEO Rate）</a:t>
              </a:r>
            </a:p>
          </p:txBody>
        </p:sp>
        <p:sp>
          <p:nvSpPr>
            <p:cNvPr id="84" name="TextBox 28">
              <a:extLst>
                <a:ext uri="{FF2B5EF4-FFF2-40B4-BE49-F238E27FC236}">
                  <a16:creationId xmlns:a16="http://schemas.microsoft.com/office/drawing/2014/main" id="{4B98A93A-C70D-37EB-7F23-364D503447AB}"/>
                </a:ext>
              </a:extLst>
            </p:cNvPr>
            <p:cNvSpPr txBox="1"/>
            <p:nvPr/>
          </p:nvSpPr>
          <p:spPr>
            <a:xfrm>
              <a:off x="411479" y="4096512"/>
              <a:ext cx="1627632" cy="56709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sz="1000" b="0">
                  <a:solidFill>
                    <a:srgbClr val="262626"/>
                  </a:solidFill>
                  <a:latin typeface="Meiryo UI"/>
                  <a:ea typeface="Meiryo UI"/>
                </a:rPr>
                <a:t>固定の質問200問を月次で各AIに3回ずつ投げ、ライオンが推奨・引用された割合の平均</a:t>
              </a:r>
            </a:p>
          </p:txBody>
        </p:sp>
        <p:sp>
          <p:nvSpPr>
            <p:cNvPr id="85" name="TextBox 29">
              <a:extLst>
                <a:ext uri="{FF2B5EF4-FFF2-40B4-BE49-F238E27FC236}">
                  <a16:creationId xmlns:a16="http://schemas.microsoft.com/office/drawing/2014/main" id="{E58DCE6B-6E1E-1B97-51C3-C72561E7DBAF}"/>
                </a:ext>
              </a:extLst>
            </p:cNvPr>
            <p:cNvSpPr txBox="1"/>
            <p:nvPr/>
          </p:nvSpPr>
          <p:spPr>
            <a:xfrm>
              <a:off x="411479" y="4791456"/>
              <a:ext cx="1627632" cy="15313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590" b="1">
                  <a:solidFill>
                    <a:srgbClr val="0F5E87"/>
                  </a:solidFill>
                  <a:latin typeface="Meiryo UI"/>
                  <a:ea typeface="Meiryo UI"/>
                </a:rPr>
                <a:t>自社測定／月次／IR：高</a:t>
              </a:r>
            </a:p>
          </p:txBody>
        </p:sp>
        <p:sp>
          <p:nvSpPr>
            <p:cNvPr id="86" name="Rectangle 30">
              <a:extLst>
                <a:ext uri="{FF2B5EF4-FFF2-40B4-BE49-F238E27FC236}">
                  <a16:creationId xmlns:a16="http://schemas.microsoft.com/office/drawing/2014/main" id="{65BF6F08-BD71-316B-46AF-7BB578792D3F}"/>
                </a:ext>
              </a:extLst>
            </p:cNvPr>
            <p:cNvSpPr/>
            <p:nvPr/>
          </p:nvSpPr>
          <p:spPr>
            <a:xfrm>
              <a:off x="411479" y="5029200"/>
              <a:ext cx="914400" cy="201168"/>
            </a:xfrm>
            <a:prstGeom prst="rect">
              <a:avLst/>
            </a:prstGeom>
            <a:solidFill>
              <a:srgbClr val="E8F4EC"/>
            </a:solidFill>
            <a:ln w="7620">
              <a:solidFill>
                <a:srgbClr val="008D2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7" name="TextBox 31">
              <a:extLst>
                <a:ext uri="{FF2B5EF4-FFF2-40B4-BE49-F238E27FC236}">
                  <a16:creationId xmlns:a16="http://schemas.microsoft.com/office/drawing/2014/main" id="{E4EAD4BE-8B24-1116-1A52-F893025686D9}"/>
                </a:ext>
              </a:extLst>
            </p:cNvPr>
            <p:cNvSpPr txBox="1"/>
            <p:nvPr/>
          </p:nvSpPr>
          <p:spPr>
            <a:xfrm>
              <a:off x="466344" y="5061204"/>
              <a:ext cx="841248" cy="15550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sz="900" b="1">
                  <a:solidFill>
                    <a:srgbClr val="262626"/>
                  </a:solidFill>
                  <a:latin typeface="Meiryo UI"/>
                  <a:ea typeface="Meiryo UI"/>
                </a:rPr>
                <a:t>照らす枝：新規</a:t>
              </a:r>
            </a:p>
          </p:txBody>
        </p:sp>
        <p:cxnSp>
          <p:nvCxnSpPr>
            <p:cNvPr id="88" name="Connector 32">
              <a:extLst>
                <a:ext uri="{FF2B5EF4-FFF2-40B4-BE49-F238E27FC236}">
                  <a16:creationId xmlns:a16="http://schemas.microsoft.com/office/drawing/2014/main" id="{9D29AC23-0FDA-42FA-E318-D645168362B9}"/>
                </a:ext>
              </a:extLst>
            </p:cNvPr>
            <p:cNvCxnSpPr/>
            <p:nvPr/>
          </p:nvCxnSpPr>
          <p:spPr>
            <a:xfrm>
              <a:off x="3017520" y="3182112"/>
              <a:ext cx="128016" cy="402336"/>
            </a:xfrm>
            <a:prstGeom prst="line">
              <a:avLst/>
            </a:prstGeom>
            <a:ln w="12700">
              <a:solidFill>
                <a:srgbClr val="595959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Rectangle 33">
              <a:extLst>
                <a:ext uri="{FF2B5EF4-FFF2-40B4-BE49-F238E27FC236}">
                  <a16:creationId xmlns:a16="http://schemas.microsoft.com/office/drawing/2014/main" id="{A41BFF53-81FA-D549-6052-5BC17F9FC249}"/>
                </a:ext>
              </a:extLst>
            </p:cNvPr>
            <p:cNvSpPr/>
            <p:nvPr/>
          </p:nvSpPr>
          <p:spPr>
            <a:xfrm>
              <a:off x="2240280" y="3584448"/>
              <a:ext cx="1810512" cy="1700784"/>
            </a:xfrm>
            <a:prstGeom prst="rect">
              <a:avLst/>
            </a:prstGeom>
            <a:solidFill>
              <a:srgbClr val="FFFFFF"/>
            </a:solidFill>
            <a:ln w="13970">
              <a:solidFill>
                <a:srgbClr val="0F5E8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0" name="Rectangle 34">
              <a:extLst>
                <a:ext uri="{FF2B5EF4-FFF2-40B4-BE49-F238E27FC236}">
                  <a16:creationId xmlns:a16="http://schemas.microsoft.com/office/drawing/2014/main" id="{3CA4DF67-6C52-7D2F-D1E6-AC59FC8F2857}"/>
                </a:ext>
              </a:extLst>
            </p:cNvPr>
            <p:cNvSpPr/>
            <p:nvPr/>
          </p:nvSpPr>
          <p:spPr>
            <a:xfrm>
              <a:off x="2240280" y="3584448"/>
              <a:ext cx="1810512" cy="457200"/>
            </a:xfrm>
            <a:prstGeom prst="rect">
              <a:avLst/>
            </a:prstGeom>
            <a:solidFill>
              <a:srgbClr val="0F5E8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1" name="TextBox 35">
              <a:extLst>
                <a:ext uri="{FF2B5EF4-FFF2-40B4-BE49-F238E27FC236}">
                  <a16:creationId xmlns:a16="http://schemas.microsoft.com/office/drawing/2014/main" id="{B9669898-7D88-A526-1CCB-C18A23F18659}"/>
                </a:ext>
              </a:extLst>
            </p:cNvPr>
            <p:cNvSpPr txBox="1"/>
            <p:nvPr/>
          </p:nvSpPr>
          <p:spPr>
            <a:xfrm>
              <a:off x="2313432" y="3630168"/>
              <a:ext cx="1664208" cy="35918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1000" b="1">
                  <a:solidFill>
                    <a:srgbClr val="FFFFFF"/>
                  </a:solidFill>
                  <a:latin typeface="Meiryo UI"/>
                  <a:ea typeface="Meiryo UI"/>
                </a:rPr>
                <a:t>K2 カテゴリ新規客数
（N-t-C）</a:t>
              </a:r>
            </a:p>
          </p:txBody>
        </p:sp>
        <p:sp>
          <p:nvSpPr>
            <p:cNvPr id="92" name="TextBox 36">
              <a:extLst>
                <a:ext uri="{FF2B5EF4-FFF2-40B4-BE49-F238E27FC236}">
                  <a16:creationId xmlns:a16="http://schemas.microsoft.com/office/drawing/2014/main" id="{68BE8C70-B34F-3C51-6283-1C7CC4D57141}"/>
                </a:ext>
              </a:extLst>
            </p:cNvPr>
            <p:cNvSpPr txBox="1"/>
            <p:nvPr/>
          </p:nvSpPr>
          <p:spPr>
            <a:xfrm>
              <a:off x="2331720" y="4096512"/>
              <a:ext cx="1627632" cy="56709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sz="1000" b="0">
                  <a:solidFill>
                    <a:srgbClr val="262626"/>
                  </a:solidFill>
                  <a:latin typeface="Meiryo UI"/>
                  <a:ea typeface="Meiryo UI"/>
                </a:rPr>
                <a:t>過去24カ月オーラル購買のない人が初回購買した人数。データ連携済みの重点小売で数える</a:t>
              </a:r>
            </a:p>
          </p:txBody>
        </p:sp>
        <p:sp>
          <p:nvSpPr>
            <p:cNvPr id="93" name="TextBox 37">
              <a:extLst>
                <a:ext uri="{FF2B5EF4-FFF2-40B4-BE49-F238E27FC236}">
                  <a16:creationId xmlns:a16="http://schemas.microsoft.com/office/drawing/2014/main" id="{1F1B906E-1DF8-CC69-C604-27C9F3D3F169}"/>
                </a:ext>
              </a:extLst>
            </p:cNvPr>
            <p:cNvSpPr txBox="1"/>
            <p:nvPr/>
          </p:nvSpPr>
          <p:spPr>
            <a:xfrm>
              <a:off x="2331720" y="4791456"/>
              <a:ext cx="1627632" cy="32324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590" b="1">
                  <a:solidFill>
                    <a:srgbClr val="0F5E87"/>
                  </a:solidFill>
                  <a:latin typeface="Meiryo UI"/>
                  <a:ea typeface="Meiryo UI"/>
                </a:rPr>
                <a:t>重点小売ID-POS／四半期／IR：高</a:t>
              </a:r>
            </a:p>
          </p:txBody>
        </p:sp>
        <p:sp>
          <p:nvSpPr>
            <p:cNvPr id="94" name="Rectangle 38">
              <a:extLst>
                <a:ext uri="{FF2B5EF4-FFF2-40B4-BE49-F238E27FC236}">
                  <a16:creationId xmlns:a16="http://schemas.microsoft.com/office/drawing/2014/main" id="{006705FC-C8FD-4929-1C85-DE41972211BA}"/>
                </a:ext>
              </a:extLst>
            </p:cNvPr>
            <p:cNvSpPr/>
            <p:nvPr/>
          </p:nvSpPr>
          <p:spPr>
            <a:xfrm>
              <a:off x="2331720" y="5029200"/>
              <a:ext cx="914400" cy="201168"/>
            </a:xfrm>
            <a:prstGeom prst="rect">
              <a:avLst/>
            </a:prstGeom>
            <a:solidFill>
              <a:srgbClr val="E8F4EC"/>
            </a:solidFill>
            <a:ln w="7620">
              <a:solidFill>
                <a:srgbClr val="008D2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5" name="TextBox 39">
              <a:extLst>
                <a:ext uri="{FF2B5EF4-FFF2-40B4-BE49-F238E27FC236}">
                  <a16:creationId xmlns:a16="http://schemas.microsoft.com/office/drawing/2014/main" id="{6658A939-352E-EEA0-E60C-B987BAF27769}"/>
                </a:ext>
              </a:extLst>
            </p:cNvPr>
            <p:cNvSpPr txBox="1"/>
            <p:nvPr/>
          </p:nvSpPr>
          <p:spPr>
            <a:xfrm>
              <a:off x="2386584" y="5061204"/>
              <a:ext cx="841248" cy="15550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sz="900" b="1">
                  <a:solidFill>
                    <a:srgbClr val="262626"/>
                  </a:solidFill>
                  <a:latin typeface="Meiryo UI"/>
                  <a:ea typeface="Meiryo UI"/>
                </a:rPr>
                <a:t>照らす枝：新規</a:t>
              </a:r>
            </a:p>
          </p:txBody>
        </p:sp>
        <p:cxnSp>
          <p:nvCxnSpPr>
            <p:cNvPr id="96" name="Connector 40">
              <a:extLst>
                <a:ext uri="{FF2B5EF4-FFF2-40B4-BE49-F238E27FC236}">
                  <a16:creationId xmlns:a16="http://schemas.microsoft.com/office/drawing/2014/main" id="{601D5D6D-2529-0431-BC5E-B0B2789A6141}"/>
                </a:ext>
              </a:extLst>
            </p:cNvPr>
            <p:cNvCxnSpPr/>
            <p:nvPr/>
          </p:nvCxnSpPr>
          <p:spPr>
            <a:xfrm>
              <a:off x="3017520" y="3182112"/>
              <a:ext cx="2048256" cy="402336"/>
            </a:xfrm>
            <a:prstGeom prst="line">
              <a:avLst/>
            </a:prstGeom>
            <a:ln w="12700">
              <a:solidFill>
                <a:srgbClr val="595959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ctor 41">
              <a:extLst>
                <a:ext uri="{FF2B5EF4-FFF2-40B4-BE49-F238E27FC236}">
                  <a16:creationId xmlns:a16="http://schemas.microsoft.com/office/drawing/2014/main" id="{CCC260BD-DE1F-84D2-06C7-6EBED2EE94A2}"/>
                </a:ext>
              </a:extLst>
            </p:cNvPr>
            <p:cNvCxnSpPr/>
            <p:nvPr/>
          </p:nvCxnSpPr>
          <p:spPr>
            <a:xfrm flipH="1">
              <a:off x="5065776" y="3182112"/>
              <a:ext cx="4123944" cy="402336"/>
            </a:xfrm>
            <a:prstGeom prst="line">
              <a:avLst/>
            </a:prstGeom>
            <a:ln w="12700">
              <a:solidFill>
                <a:srgbClr val="595959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Rectangle 42">
              <a:extLst>
                <a:ext uri="{FF2B5EF4-FFF2-40B4-BE49-F238E27FC236}">
                  <a16:creationId xmlns:a16="http://schemas.microsoft.com/office/drawing/2014/main" id="{AC3F5F44-2316-E7BD-D046-8BAEEC75600D}"/>
                </a:ext>
              </a:extLst>
            </p:cNvPr>
            <p:cNvSpPr/>
            <p:nvPr/>
          </p:nvSpPr>
          <p:spPr>
            <a:xfrm>
              <a:off x="4160520" y="3584448"/>
              <a:ext cx="1810512" cy="1700784"/>
            </a:xfrm>
            <a:prstGeom prst="rect">
              <a:avLst/>
            </a:prstGeom>
            <a:solidFill>
              <a:srgbClr val="FFFFFF"/>
            </a:solidFill>
            <a:ln w="13970">
              <a:solidFill>
                <a:srgbClr val="1623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9" name="Rectangle 43">
              <a:extLst>
                <a:ext uri="{FF2B5EF4-FFF2-40B4-BE49-F238E27FC236}">
                  <a16:creationId xmlns:a16="http://schemas.microsoft.com/office/drawing/2014/main" id="{C7AF6E6F-053D-8DA8-A9A9-971FA7A7E60F}"/>
                </a:ext>
              </a:extLst>
            </p:cNvPr>
            <p:cNvSpPr/>
            <p:nvPr/>
          </p:nvSpPr>
          <p:spPr>
            <a:xfrm>
              <a:off x="4160520" y="3584448"/>
              <a:ext cx="1810512" cy="457200"/>
            </a:xfrm>
            <a:prstGeom prst="rect">
              <a:avLst/>
            </a:prstGeom>
            <a:solidFill>
              <a:srgbClr val="1623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00" name="TextBox 44">
              <a:extLst>
                <a:ext uri="{FF2B5EF4-FFF2-40B4-BE49-F238E27FC236}">
                  <a16:creationId xmlns:a16="http://schemas.microsoft.com/office/drawing/2014/main" id="{42A27E77-D55B-2294-1874-2BD6138923C8}"/>
                </a:ext>
              </a:extLst>
            </p:cNvPr>
            <p:cNvSpPr txBox="1"/>
            <p:nvPr/>
          </p:nvSpPr>
          <p:spPr>
            <a:xfrm>
              <a:off x="4233672" y="3630168"/>
              <a:ext cx="1664208" cy="35918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1000" b="1">
                  <a:solidFill>
                    <a:srgbClr val="FFFFFF"/>
                  </a:solidFill>
                  <a:latin typeface="Meiryo UI"/>
                  <a:ea typeface="Meiryo UI"/>
                </a:rPr>
                <a:t>K3 意向把握の
有効登録者数</a:t>
              </a:r>
            </a:p>
          </p:txBody>
        </p:sp>
        <p:sp>
          <p:nvSpPr>
            <p:cNvPr id="101" name="TextBox 45">
              <a:extLst>
                <a:ext uri="{FF2B5EF4-FFF2-40B4-BE49-F238E27FC236}">
                  <a16:creationId xmlns:a16="http://schemas.microsoft.com/office/drawing/2014/main" id="{F03E0F67-0869-D3E1-792F-77ED09F54DB5}"/>
                </a:ext>
              </a:extLst>
            </p:cNvPr>
            <p:cNvSpPr txBox="1"/>
            <p:nvPr/>
          </p:nvSpPr>
          <p:spPr>
            <a:xfrm>
              <a:off x="4251959" y="4096512"/>
              <a:ext cx="1627632" cy="76297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sz="1000" b="0">
                  <a:solidFill>
                    <a:srgbClr val="262626"/>
                  </a:solidFill>
                  <a:latin typeface="Meiryo UI"/>
                  <a:ea typeface="Meiryo UI"/>
                </a:rPr>
                <a:t>アプリ・LINE・診断ツールで口腔の悩み・意向を登録し、12カ月以内に更新がある人数（実数）</a:t>
              </a:r>
            </a:p>
          </p:txBody>
        </p:sp>
        <p:sp>
          <p:nvSpPr>
            <p:cNvPr id="102" name="TextBox 46">
              <a:extLst>
                <a:ext uri="{FF2B5EF4-FFF2-40B4-BE49-F238E27FC236}">
                  <a16:creationId xmlns:a16="http://schemas.microsoft.com/office/drawing/2014/main" id="{EA979A04-F3F6-49C3-9462-BFCFE442538D}"/>
                </a:ext>
              </a:extLst>
            </p:cNvPr>
            <p:cNvSpPr txBox="1"/>
            <p:nvPr/>
          </p:nvSpPr>
          <p:spPr>
            <a:xfrm>
              <a:off x="4251959" y="4791456"/>
              <a:ext cx="1627632" cy="15313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590" b="1">
                  <a:solidFill>
                    <a:srgbClr val="0F5E87"/>
                  </a:solidFill>
                  <a:latin typeface="Meiryo UI"/>
                  <a:ea typeface="Meiryo UI"/>
                </a:rPr>
                <a:t>自社顧客基盤／月次／IR：高</a:t>
              </a:r>
            </a:p>
          </p:txBody>
        </p:sp>
        <p:sp>
          <p:nvSpPr>
            <p:cNvPr id="103" name="Rectangle 47">
              <a:extLst>
                <a:ext uri="{FF2B5EF4-FFF2-40B4-BE49-F238E27FC236}">
                  <a16:creationId xmlns:a16="http://schemas.microsoft.com/office/drawing/2014/main" id="{36B49C4C-C9F1-48E6-8885-39B07736AB96}"/>
                </a:ext>
              </a:extLst>
            </p:cNvPr>
            <p:cNvSpPr/>
            <p:nvPr/>
          </p:nvSpPr>
          <p:spPr>
            <a:xfrm>
              <a:off x="4251959" y="5029200"/>
              <a:ext cx="914400" cy="201168"/>
            </a:xfrm>
            <a:prstGeom prst="rect">
              <a:avLst/>
            </a:prstGeom>
            <a:solidFill>
              <a:srgbClr val="E8F4EC"/>
            </a:solidFill>
            <a:ln w="7620">
              <a:solidFill>
                <a:srgbClr val="008D2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04" name="TextBox 48">
              <a:extLst>
                <a:ext uri="{FF2B5EF4-FFF2-40B4-BE49-F238E27FC236}">
                  <a16:creationId xmlns:a16="http://schemas.microsoft.com/office/drawing/2014/main" id="{73AD29CA-1658-D6A7-434C-E6BAD0D6CA43}"/>
                </a:ext>
              </a:extLst>
            </p:cNvPr>
            <p:cNvSpPr txBox="1"/>
            <p:nvPr/>
          </p:nvSpPr>
          <p:spPr>
            <a:xfrm>
              <a:off x="4306824" y="5061204"/>
              <a:ext cx="841248" cy="15550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sz="900" b="1">
                  <a:solidFill>
                    <a:srgbClr val="262626"/>
                  </a:solidFill>
                  <a:latin typeface="Meiryo UI"/>
                  <a:ea typeface="Meiryo UI"/>
                </a:rPr>
                <a:t>照らす枝：両方</a:t>
              </a:r>
            </a:p>
          </p:txBody>
        </p:sp>
        <p:cxnSp>
          <p:nvCxnSpPr>
            <p:cNvPr id="105" name="Connector 49">
              <a:extLst>
                <a:ext uri="{FF2B5EF4-FFF2-40B4-BE49-F238E27FC236}">
                  <a16:creationId xmlns:a16="http://schemas.microsoft.com/office/drawing/2014/main" id="{EF6D29C0-138C-4F50-3595-D84A196DDCD5}"/>
                </a:ext>
              </a:extLst>
            </p:cNvPr>
            <p:cNvCxnSpPr/>
            <p:nvPr/>
          </p:nvCxnSpPr>
          <p:spPr>
            <a:xfrm flipH="1">
              <a:off x="6986016" y="3182112"/>
              <a:ext cx="2203704" cy="402336"/>
            </a:xfrm>
            <a:prstGeom prst="line">
              <a:avLst/>
            </a:prstGeom>
            <a:ln w="12700">
              <a:solidFill>
                <a:srgbClr val="595959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Rectangle 50">
              <a:extLst>
                <a:ext uri="{FF2B5EF4-FFF2-40B4-BE49-F238E27FC236}">
                  <a16:creationId xmlns:a16="http://schemas.microsoft.com/office/drawing/2014/main" id="{7032D78C-0800-21BA-F3A5-6C9BD1B515F8}"/>
                </a:ext>
              </a:extLst>
            </p:cNvPr>
            <p:cNvSpPr/>
            <p:nvPr/>
          </p:nvSpPr>
          <p:spPr>
            <a:xfrm>
              <a:off x="6080760" y="3584448"/>
              <a:ext cx="1810512" cy="1700784"/>
            </a:xfrm>
            <a:prstGeom prst="rect">
              <a:avLst/>
            </a:prstGeom>
            <a:solidFill>
              <a:srgbClr val="FFFFFF"/>
            </a:solidFill>
            <a:ln w="13970">
              <a:solidFill>
                <a:srgbClr val="008D2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07" name="Rectangle 51">
              <a:extLst>
                <a:ext uri="{FF2B5EF4-FFF2-40B4-BE49-F238E27FC236}">
                  <a16:creationId xmlns:a16="http://schemas.microsoft.com/office/drawing/2014/main" id="{2D7FCF1F-C4B7-F446-7EEC-EEED36984942}"/>
                </a:ext>
              </a:extLst>
            </p:cNvPr>
            <p:cNvSpPr/>
            <p:nvPr/>
          </p:nvSpPr>
          <p:spPr>
            <a:xfrm>
              <a:off x="6080760" y="3584448"/>
              <a:ext cx="1810512" cy="457200"/>
            </a:xfrm>
            <a:prstGeom prst="rect">
              <a:avLst/>
            </a:prstGeom>
            <a:solidFill>
              <a:srgbClr val="008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08" name="TextBox 52">
              <a:extLst>
                <a:ext uri="{FF2B5EF4-FFF2-40B4-BE49-F238E27FC236}">
                  <a16:creationId xmlns:a16="http://schemas.microsoft.com/office/drawing/2014/main" id="{D0C8E3F0-F584-8C47-FBED-E97FA23B3C34}"/>
                </a:ext>
              </a:extLst>
            </p:cNvPr>
            <p:cNvSpPr txBox="1"/>
            <p:nvPr/>
          </p:nvSpPr>
          <p:spPr>
            <a:xfrm>
              <a:off x="6153912" y="3630168"/>
              <a:ext cx="1664208" cy="35918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1000" b="1">
                  <a:solidFill>
                    <a:srgbClr val="FFFFFF"/>
                  </a:solidFill>
                  <a:latin typeface="Meiryo UI"/>
                  <a:ea typeface="Meiryo UI"/>
                </a:rPr>
                <a:t>K4 12カ月
リピート率</a:t>
              </a:r>
            </a:p>
          </p:txBody>
        </p:sp>
        <p:sp>
          <p:nvSpPr>
            <p:cNvPr id="109" name="TextBox 53">
              <a:extLst>
                <a:ext uri="{FF2B5EF4-FFF2-40B4-BE49-F238E27FC236}">
                  <a16:creationId xmlns:a16="http://schemas.microsoft.com/office/drawing/2014/main" id="{37916CE0-BFFF-6858-C765-34719D094F63}"/>
                </a:ext>
              </a:extLst>
            </p:cNvPr>
            <p:cNvSpPr txBox="1"/>
            <p:nvPr/>
          </p:nvSpPr>
          <p:spPr>
            <a:xfrm>
              <a:off x="6172200" y="4096512"/>
              <a:ext cx="1627632" cy="56709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sz="1000" b="0">
                  <a:solidFill>
                    <a:srgbClr val="262626"/>
                  </a:solidFill>
                  <a:latin typeface="Meiryo UI"/>
                  <a:ea typeface="Meiryo UI"/>
                </a:rPr>
                <a:t>初回購買者のうち、12カ月以内に同カテゴリを再購買した人の比率</a:t>
              </a:r>
            </a:p>
          </p:txBody>
        </p:sp>
        <p:sp>
          <p:nvSpPr>
            <p:cNvPr id="110" name="TextBox 54">
              <a:extLst>
                <a:ext uri="{FF2B5EF4-FFF2-40B4-BE49-F238E27FC236}">
                  <a16:creationId xmlns:a16="http://schemas.microsoft.com/office/drawing/2014/main" id="{92E36363-C665-CC43-D19A-8EEF2E3E1BD8}"/>
                </a:ext>
              </a:extLst>
            </p:cNvPr>
            <p:cNvSpPr txBox="1"/>
            <p:nvPr/>
          </p:nvSpPr>
          <p:spPr>
            <a:xfrm>
              <a:off x="6172200" y="4791456"/>
              <a:ext cx="1627632" cy="32324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590" b="1">
                  <a:solidFill>
                    <a:srgbClr val="0F5E87"/>
                  </a:solidFill>
                  <a:latin typeface="Meiryo UI"/>
                  <a:ea typeface="Meiryo UI"/>
                </a:rPr>
                <a:t>重点小売ID-POS／四半期／IR：中</a:t>
              </a:r>
            </a:p>
          </p:txBody>
        </p:sp>
        <p:sp>
          <p:nvSpPr>
            <p:cNvPr id="111" name="Rectangle 55">
              <a:extLst>
                <a:ext uri="{FF2B5EF4-FFF2-40B4-BE49-F238E27FC236}">
                  <a16:creationId xmlns:a16="http://schemas.microsoft.com/office/drawing/2014/main" id="{036ACB6A-B7CA-50B4-B836-09BAA68A2311}"/>
                </a:ext>
              </a:extLst>
            </p:cNvPr>
            <p:cNvSpPr/>
            <p:nvPr/>
          </p:nvSpPr>
          <p:spPr>
            <a:xfrm>
              <a:off x="6172200" y="5029200"/>
              <a:ext cx="914400" cy="201168"/>
            </a:xfrm>
            <a:prstGeom prst="rect">
              <a:avLst/>
            </a:prstGeom>
            <a:solidFill>
              <a:srgbClr val="E8F4EC"/>
            </a:solidFill>
            <a:ln w="7620">
              <a:solidFill>
                <a:srgbClr val="008D2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12" name="TextBox 56">
              <a:extLst>
                <a:ext uri="{FF2B5EF4-FFF2-40B4-BE49-F238E27FC236}">
                  <a16:creationId xmlns:a16="http://schemas.microsoft.com/office/drawing/2014/main" id="{9C45491E-FF7A-3D36-9C47-15EBD7DE08A2}"/>
                </a:ext>
              </a:extLst>
            </p:cNvPr>
            <p:cNvSpPr txBox="1"/>
            <p:nvPr/>
          </p:nvSpPr>
          <p:spPr>
            <a:xfrm>
              <a:off x="6227064" y="5061204"/>
              <a:ext cx="841248" cy="15550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sz="900" b="1">
                  <a:solidFill>
                    <a:srgbClr val="262626"/>
                  </a:solidFill>
                  <a:latin typeface="Meiryo UI"/>
                  <a:ea typeface="Meiryo UI"/>
                </a:rPr>
                <a:t>照らす枝：継続</a:t>
              </a:r>
            </a:p>
          </p:txBody>
        </p:sp>
        <p:cxnSp>
          <p:nvCxnSpPr>
            <p:cNvPr id="113" name="Connector 57">
              <a:extLst>
                <a:ext uri="{FF2B5EF4-FFF2-40B4-BE49-F238E27FC236}">
                  <a16:creationId xmlns:a16="http://schemas.microsoft.com/office/drawing/2014/main" id="{0708A336-E9D7-E38B-0BA6-09013230540F}"/>
                </a:ext>
              </a:extLst>
            </p:cNvPr>
            <p:cNvCxnSpPr/>
            <p:nvPr/>
          </p:nvCxnSpPr>
          <p:spPr>
            <a:xfrm flipH="1">
              <a:off x="8906256" y="3182112"/>
              <a:ext cx="283464" cy="402336"/>
            </a:xfrm>
            <a:prstGeom prst="line">
              <a:avLst/>
            </a:prstGeom>
            <a:ln w="12700">
              <a:solidFill>
                <a:srgbClr val="595959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Rectangle 58">
              <a:extLst>
                <a:ext uri="{FF2B5EF4-FFF2-40B4-BE49-F238E27FC236}">
                  <a16:creationId xmlns:a16="http://schemas.microsoft.com/office/drawing/2014/main" id="{CC6BB419-F0D8-C038-9041-4723E73983CD}"/>
                </a:ext>
              </a:extLst>
            </p:cNvPr>
            <p:cNvSpPr/>
            <p:nvPr/>
          </p:nvSpPr>
          <p:spPr>
            <a:xfrm>
              <a:off x="8001000" y="3584448"/>
              <a:ext cx="1810512" cy="1700784"/>
            </a:xfrm>
            <a:prstGeom prst="rect">
              <a:avLst/>
            </a:prstGeom>
            <a:solidFill>
              <a:srgbClr val="FFFFFF"/>
            </a:solidFill>
            <a:ln w="13970">
              <a:solidFill>
                <a:srgbClr val="008D2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15" name="Rectangle 59">
              <a:extLst>
                <a:ext uri="{FF2B5EF4-FFF2-40B4-BE49-F238E27FC236}">
                  <a16:creationId xmlns:a16="http://schemas.microsoft.com/office/drawing/2014/main" id="{65CD7CB1-775A-6B24-A971-E9C26A054DD3}"/>
                </a:ext>
              </a:extLst>
            </p:cNvPr>
            <p:cNvSpPr/>
            <p:nvPr/>
          </p:nvSpPr>
          <p:spPr>
            <a:xfrm>
              <a:off x="8001000" y="3584448"/>
              <a:ext cx="1810512" cy="457200"/>
            </a:xfrm>
            <a:prstGeom prst="rect">
              <a:avLst/>
            </a:prstGeom>
            <a:solidFill>
              <a:srgbClr val="008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16" name="TextBox 60">
              <a:extLst>
                <a:ext uri="{FF2B5EF4-FFF2-40B4-BE49-F238E27FC236}">
                  <a16:creationId xmlns:a16="http://schemas.microsoft.com/office/drawing/2014/main" id="{B7F1EB84-C580-2FE7-ED77-70F8E9963044}"/>
                </a:ext>
              </a:extLst>
            </p:cNvPr>
            <p:cNvSpPr txBox="1"/>
            <p:nvPr/>
          </p:nvSpPr>
          <p:spPr>
            <a:xfrm>
              <a:off x="8074152" y="3630168"/>
              <a:ext cx="1664208" cy="35918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1000" b="1">
                  <a:solidFill>
                    <a:srgbClr val="FFFFFF"/>
                  </a:solidFill>
                  <a:latin typeface="Meiryo UI"/>
                  <a:ea typeface="Meiryo UI"/>
                </a:rPr>
                <a:t>K5 習慣プログラム
90日継続率</a:t>
              </a:r>
            </a:p>
          </p:txBody>
        </p:sp>
        <p:sp>
          <p:nvSpPr>
            <p:cNvPr id="117" name="TextBox 61">
              <a:extLst>
                <a:ext uri="{FF2B5EF4-FFF2-40B4-BE49-F238E27FC236}">
                  <a16:creationId xmlns:a16="http://schemas.microsoft.com/office/drawing/2014/main" id="{24EDECCC-01D6-27D0-CA7A-0F5BD499D401}"/>
                </a:ext>
              </a:extLst>
            </p:cNvPr>
            <p:cNvSpPr txBox="1"/>
            <p:nvPr/>
          </p:nvSpPr>
          <p:spPr>
            <a:xfrm>
              <a:off x="8092440" y="4096512"/>
              <a:ext cx="1627632" cy="56709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sz="1000" b="0">
                  <a:solidFill>
                    <a:srgbClr val="262626"/>
                  </a:solidFill>
                  <a:latin typeface="Meiryo UI"/>
                  <a:ea typeface="Meiryo UI"/>
                </a:rPr>
                <a:t>習慣プログラム開始者のうち、90日後も記録・利用が続いている人の比率</a:t>
              </a:r>
            </a:p>
          </p:txBody>
        </p:sp>
        <p:sp>
          <p:nvSpPr>
            <p:cNvPr id="118" name="TextBox 62">
              <a:extLst>
                <a:ext uri="{FF2B5EF4-FFF2-40B4-BE49-F238E27FC236}">
                  <a16:creationId xmlns:a16="http://schemas.microsoft.com/office/drawing/2014/main" id="{007A3B0E-6EF0-90C2-4EA5-B9BB0384BA71}"/>
                </a:ext>
              </a:extLst>
            </p:cNvPr>
            <p:cNvSpPr txBox="1"/>
            <p:nvPr/>
          </p:nvSpPr>
          <p:spPr>
            <a:xfrm>
              <a:off x="8092440" y="4791456"/>
              <a:ext cx="1627632" cy="15313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590" b="1">
                  <a:solidFill>
                    <a:srgbClr val="0F5E87"/>
                  </a:solidFill>
                  <a:latin typeface="Meiryo UI"/>
                  <a:ea typeface="Meiryo UI"/>
                </a:rPr>
                <a:t>自社アプリ／月次／IR：高</a:t>
              </a:r>
            </a:p>
          </p:txBody>
        </p:sp>
        <p:sp>
          <p:nvSpPr>
            <p:cNvPr id="119" name="Rectangle 63">
              <a:extLst>
                <a:ext uri="{FF2B5EF4-FFF2-40B4-BE49-F238E27FC236}">
                  <a16:creationId xmlns:a16="http://schemas.microsoft.com/office/drawing/2014/main" id="{31FE7BAA-FFBA-DB60-69F7-D0900D9501F3}"/>
                </a:ext>
              </a:extLst>
            </p:cNvPr>
            <p:cNvSpPr/>
            <p:nvPr/>
          </p:nvSpPr>
          <p:spPr>
            <a:xfrm>
              <a:off x="8092440" y="5029200"/>
              <a:ext cx="914400" cy="201168"/>
            </a:xfrm>
            <a:prstGeom prst="rect">
              <a:avLst/>
            </a:prstGeom>
            <a:solidFill>
              <a:srgbClr val="E8F4EC"/>
            </a:solidFill>
            <a:ln w="7620">
              <a:solidFill>
                <a:srgbClr val="008D2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20" name="TextBox 64">
              <a:extLst>
                <a:ext uri="{FF2B5EF4-FFF2-40B4-BE49-F238E27FC236}">
                  <a16:creationId xmlns:a16="http://schemas.microsoft.com/office/drawing/2014/main" id="{E3498DD6-8174-A533-89B3-96CB588F5427}"/>
                </a:ext>
              </a:extLst>
            </p:cNvPr>
            <p:cNvSpPr txBox="1"/>
            <p:nvPr/>
          </p:nvSpPr>
          <p:spPr>
            <a:xfrm>
              <a:off x="8147304" y="5061204"/>
              <a:ext cx="841248" cy="15550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sz="900" b="1">
                  <a:solidFill>
                    <a:srgbClr val="262626"/>
                  </a:solidFill>
                  <a:latin typeface="Meiryo UI"/>
                  <a:ea typeface="Meiryo UI"/>
                </a:rPr>
                <a:t>照らす枝：継続</a:t>
              </a:r>
            </a:p>
          </p:txBody>
        </p:sp>
        <p:cxnSp>
          <p:nvCxnSpPr>
            <p:cNvPr id="121" name="Connector 65">
              <a:extLst>
                <a:ext uri="{FF2B5EF4-FFF2-40B4-BE49-F238E27FC236}">
                  <a16:creationId xmlns:a16="http://schemas.microsoft.com/office/drawing/2014/main" id="{EE3DD5F4-56D9-9191-7DC0-841DE28210F0}"/>
                </a:ext>
              </a:extLst>
            </p:cNvPr>
            <p:cNvCxnSpPr/>
            <p:nvPr/>
          </p:nvCxnSpPr>
          <p:spPr>
            <a:xfrm>
              <a:off x="9189720" y="3182112"/>
              <a:ext cx="1636776" cy="402336"/>
            </a:xfrm>
            <a:prstGeom prst="line">
              <a:avLst/>
            </a:prstGeom>
            <a:ln w="12700">
              <a:solidFill>
                <a:srgbClr val="595959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Rectangle 66">
              <a:extLst>
                <a:ext uri="{FF2B5EF4-FFF2-40B4-BE49-F238E27FC236}">
                  <a16:creationId xmlns:a16="http://schemas.microsoft.com/office/drawing/2014/main" id="{CE9367D2-3BD4-7280-6889-60CCC49F1747}"/>
                </a:ext>
              </a:extLst>
            </p:cNvPr>
            <p:cNvSpPr/>
            <p:nvPr/>
          </p:nvSpPr>
          <p:spPr>
            <a:xfrm>
              <a:off x="9921240" y="3584448"/>
              <a:ext cx="1810512" cy="1700784"/>
            </a:xfrm>
            <a:prstGeom prst="rect">
              <a:avLst/>
            </a:prstGeom>
            <a:solidFill>
              <a:srgbClr val="FFFFFF"/>
            </a:solidFill>
            <a:ln w="13970">
              <a:solidFill>
                <a:srgbClr val="008D2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23" name="Rectangle 67">
              <a:extLst>
                <a:ext uri="{FF2B5EF4-FFF2-40B4-BE49-F238E27FC236}">
                  <a16:creationId xmlns:a16="http://schemas.microsoft.com/office/drawing/2014/main" id="{A02E8DF8-CE60-E0BE-32D9-D7F7628B9198}"/>
                </a:ext>
              </a:extLst>
            </p:cNvPr>
            <p:cNvSpPr/>
            <p:nvPr/>
          </p:nvSpPr>
          <p:spPr>
            <a:xfrm>
              <a:off x="9921240" y="3584448"/>
              <a:ext cx="1810512" cy="457200"/>
            </a:xfrm>
            <a:prstGeom prst="rect">
              <a:avLst/>
            </a:prstGeom>
            <a:solidFill>
              <a:srgbClr val="008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24" name="TextBox 68">
              <a:extLst>
                <a:ext uri="{FF2B5EF4-FFF2-40B4-BE49-F238E27FC236}">
                  <a16:creationId xmlns:a16="http://schemas.microsoft.com/office/drawing/2014/main" id="{7942D290-8102-7392-8C24-E5D9B9CA9FB2}"/>
                </a:ext>
              </a:extLst>
            </p:cNvPr>
            <p:cNvSpPr txBox="1"/>
            <p:nvPr/>
          </p:nvSpPr>
          <p:spPr>
            <a:xfrm>
              <a:off x="9994392" y="3630168"/>
              <a:ext cx="1664208" cy="35918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1000" b="1">
                  <a:solidFill>
                    <a:srgbClr val="FFFFFF"/>
                  </a:solidFill>
                  <a:latin typeface="Meiryo UI"/>
                  <a:ea typeface="Meiryo UI"/>
                </a:rPr>
                <a:t>K6 特売依存度
（値引き率）</a:t>
              </a:r>
            </a:p>
          </p:txBody>
        </p:sp>
        <p:sp>
          <p:nvSpPr>
            <p:cNvPr id="125" name="TextBox 69">
              <a:extLst>
                <a:ext uri="{FF2B5EF4-FFF2-40B4-BE49-F238E27FC236}">
                  <a16:creationId xmlns:a16="http://schemas.microsoft.com/office/drawing/2014/main" id="{2600C374-6D38-52FC-2790-7C300836AA61}"/>
                </a:ext>
              </a:extLst>
            </p:cNvPr>
            <p:cNvSpPr txBox="1"/>
            <p:nvPr/>
          </p:nvSpPr>
          <p:spPr>
            <a:xfrm>
              <a:off x="10012680" y="4096512"/>
              <a:ext cx="1627632" cy="76297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sz="1000" b="0">
                  <a:solidFill>
                    <a:srgbClr val="262626"/>
                  </a:solidFill>
                  <a:latin typeface="Meiryo UI"/>
                  <a:ea typeface="Meiryo UI"/>
                </a:rPr>
                <a:t>重点小売×オーラル売上に占める値引き・特売原資の構成比％。金額はKGI側で一回だけ計上</a:t>
              </a:r>
            </a:p>
          </p:txBody>
        </p:sp>
        <p:sp>
          <p:nvSpPr>
            <p:cNvPr id="126" name="TextBox 70">
              <a:extLst>
                <a:ext uri="{FF2B5EF4-FFF2-40B4-BE49-F238E27FC236}">
                  <a16:creationId xmlns:a16="http://schemas.microsoft.com/office/drawing/2014/main" id="{9824B087-F3B7-5A08-9D84-D78055B1F721}"/>
                </a:ext>
              </a:extLst>
            </p:cNvPr>
            <p:cNvSpPr txBox="1"/>
            <p:nvPr/>
          </p:nvSpPr>
          <p:spPr>
            <a:xfrm>
              <a:off x="10012680" y="4791456"/>
              <a:ext cx="1627632" cy="32324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sz="590" b="1">
                  <a:solidFill>
                    <a:srgbClr val="0F5E87"/>
                  </a:solidFill>
                  <a:latin typeface="Meiryo UI"/>
                  <a:ea typeface="Meiryo UI"/>
                </a:rPr>
                <a:t>自社販促費＋小売POS／四半期／IR：中</a:t>
              </a:r>
            </a:p>
          </p:txBody>
        </p:sp>
        <p:sp>
          <p:nvSpPr>
            <p:cNvPr id="127" name="Rectangle 71">
              <a:extLst>
                <a:ext uri="{FF2B5EF4-FFF2-40B4-BE49-F238E27FC236}">
                  <a16:creationId xmlns:a16="http://schemas.microsoft.com/office/drawing/2014/main" id="{EAD6F88E-2F51-3A48-602E-241943E0D54D}"/>
                </a:ext>
              </a:extLst>
            </p:cNvPr>
            <p:cNvSpPr/>
            <p:nvPr/>
          </p:nvSpPr>
          <p:spPr>
            <a:xfrm>
              <a:off x="10012680" y="5029200"/>
              <a:ext cx="914400" cy="201168"/>
            </a:xfrm>
            <a:prstGeom prst="rect">
              <a:avLst/>
            </a:prstGeom>
            <a:solidFill>
              <a:srgbClr val="E8F4EC"/>
            </a:solidFill>
            <a:ln w="7620">
              <a:solidFill>
                <a:srgbClr val="008D2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28" name="TextBox 72">
              <a:extLst>
                <a:ext uri="{FF2B5EF4-FFF2-40B4-BE49-F238E27FC236}">
                  <a16:creationId xmlns:a16="http://schemas.microsoft.com/office/drawing/2014/main" id="{43B8CF56-504C-C80E-ABDA-808C7B47A2F0}"/>
                </a:ext>
              </a:extLst>
            </p:cNvPr>
            <p:cNvSpPr txBox="1"/>
            <p:nvPr/>
          </p:nvSpPr>
          <p:spPr>
            <a:xfrm>
              <a:off x="10067544" y="5061204"/>
              <a:ext cx="841248" cy="15550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sz="900" b="1">
                  <a:solidFill>
                    <a:srgbClr val="262626"/>
                  </a:solidFill>
                  <a:latin typeface="Meiryo UI"/>
                  <a:ea typeface="Meiryo UI"/>
                </a:rPr>
                <a:t>照らす枝：継続</a:t>
              </a:r>
            </a:p>
          </p:txBody>
        </p:sp>
        <p:sp>
          <p:nvSpPr>
            <p:cNvPr id="129" name="Rectangle 73">
              <a:extLst>
                <a:ext uri="{FF2B5EF4-FFF2-40B4-BE49-F238E27FC236}">
                  <a16:creationId xmlns:a16="http://schemas.microsoft.com/office/drawing/2014/main" id="{65B1218B-4475-9771-7FC3-7E342B79271D}"/>
                </a:ext>
              </a:extLst>
            </p:cNvPr>
            <p:cNvSpPr/>
            <p:nvPr/>
          </p:nvSpPr>
          <p:spPr>
            <a:xfrm>
              <a:off x="320040" y="5440680"/>
              <a:ext cx="11521440" cy="713232"/>
            </a:xfrm>
            <a:prstGeom prst="rect">
              <a:avLst/>
            </a:prstGeom>
            <a:solidFill>
              <a:srgbClr val="FFFFFF"/>
            </a:solidFill>
            <a:ln w="13970">
              <a:solidFill>
                <a:srgbClr val="1623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30" name="TextBox 74">
              <a:extLst>
                <a:ext uri="{FF2B5EF4-FFF2-40B4-BE49-F238E27FC236}">
                  <a16:creationId xmlns:a16="http://schemas.microsoft.com/office/drawing/2014/main" id="{A697F345-A819-C156-9997-69F44EF604C1}"/>
                </a:ext>
              </a:extLst>
            </p:cNvPr>
            <p:cNvSpPr txBox="1"/>
            <p:nvPr/>
          </p:nvSpPr>
          <p:spPr>
            <a:xfrm>
              <a:off x="457200" y="5486400"/>
              <a:ext cx="11292840" cy="59544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sz="1000" b="1" dirty="0">
                  <a:solidFill>
                    <a:srgbClr val="16233A"/>
                  </a:solidFill>
                  <a:latin typeface="Meiryo UI"/>
                  <a:ea typeface="Meiryo UI"/>
                </a:rPr>
                <a:t>測れる形に変える計器（計測の仕掛けを実装し、FY27に正式昇格）：</a:t>
              </a:r>
              <a:r>
                <a:rPr sz="1000" b="0" dirty="0">
                  <a:solidFill>
                    <a:srgbClr val="262626"/>
                  </a:solidFill>
                  <a:latin typeface="Meiryo UI"/>
                  <a:ea typeface="Meiryo UI"/>
                </a:rPr>
                <a:t>K7 歯科推奨経由の購買＝推奨QR・専用SKUを歯科接点で発行し、小売購買データと機械照合した実数。計測カバー率（推奨IDを発行できている歯科接点の割合）とセットで追い、カバー率の拡大自体をK7の前提KPIにする／K8 健康改善差＝習慣プログラム申込者の開始を4週ずらす待機群方式で、開始群と待機群のセルフチェック改善差を測る（比較群をプログラム設計で作る）</a:t>
              </a:r>
              <a:r>
                <a:rPr lang="ja-JP" altLang="en-US" sz="1000" b="0" dirty="0">
                  <a:solidFill>
                    <a:srgbClr val="262626"/>
                  </a:solidFill>
                  <a:latin typeface="Meiryo UI"/>
                  <a:ea typeface="Meiryo UI"/>
                </a:rPr>
                <a:t>。</a:t>
              </a:r>
              <a:r>
                <a:rPr lang="ja-JP" altLang="en-US" sz="1000" dirty="0">
                  <a:solidFill>
                    <a:srgbClr val="262626"/>
                  </a:solidFill>
                  <a:latin typeface="Meiryo UI"/>
                  <a:ea typeface="Meiryo UI"/>
                </a:rPr>
                <a:t>それ</a:t>
              </a:r>
              <a:r>
                <a:rPr sz="1000" b="0" dirty="0" err="1">
                  <a:solidFill>
                    <a:srgbClr val="262626"/>
                  </a:solidFill>
                  <a:latin typeface="Meiryo UI"/>
                  <a:ea typeface="Meiryo UI"/>
                </a:rPr>
                <a:t>まで投資判断には使わない</a:t>
              </a:r>
              <a:endParaRPr sz="1000" b="0" dirty="0">
                <a:solidFill>
                  <a:srgbClr val="262626"/>
                </a:solidFill>
                <a:latin typeface="Meiryo UI"/>
                <a:ea typeface="Meiryo UI"/>
              </a:endParaRPr>
            </a:p>
          </p:txBody>
        </p:sp>
        <p:sp>
          <p:nvSpPr>
            <p:cNvPr id="131" name="Rectangle 75">
              <a:extLst>
                <a:ext uri="{FF2B5EF4-FFF2-40B4-BE49-F238E27FC236}">
                  <a16:creationId xmlns:a16="http://schemas.microsoft.com/office/drawing/2014/main" id="{C0C2CC76-C001-27E2-D959-5EEDAF451C78}"/>
                </a:ext>
              </a:extLst>
            </p:cNvPr>
            <p:cNvSpPr/>
            <p:nvPr/>
          </p:nvSpPr>
          <p:spPr>
            <a:xfrm>
              <a:off x="320040" y="6263640"/>
              <a:ext cx="11521440" cy="402336"/>
            </a:xfrm>
            <a:prstGeom prst="rect">
              <a:avLst/>
            </a:prstGeom>
            <a:noFill/>
            <a:ln w="9525">
              <a:solidFill>
                <a:srgbClr val="008D2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32" name="TextBox 76">
              <a:extLst>
                <a:ext uri="{FF2B5EF4-FFF2-40B4-BE49-F238E27FC236}">
                  <a16:creationId xmlns:a16="http://schemas.microsoft.com/office/drawing/2014/main" id="{94DC747A-F921-EBA4-CC39-657DED08792A}"/>
                </a:ext>
              </a:extLst>
            </p:cNvPr>
            <p:cNvSpPr txBox="1"/>
            <p:nvPr/>
          </p:nvSpPr>
          <p:spPr>
            <a:xfrm>
              <a:off x="457200" y="6300216"/>
              <a:ext cx="11292840" cy="37479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sz="1050" b="1" dirty="0" err="1">
                  <a:solidFill>
                    <a:srgbClr val="008D2E"/>
                  </a:solidFill>
                  <a:latin typeface="Meiryo UI"/>
                  <a:ea typeface="Meiryo UI"/>
                </a:rPr>
                <a:t>測定</a:t>
              </a:r>
              <a:r>
                <a:rPr lang="ja-JP" altLang="en-US" sz="1050" b="1" dirty="0">
                  <a:solidFill>
                    <a:srgbClr val="008D2E"/>
                  </a:solidFill>
                  <a:latin typeface="Meiryo UI"/>
                  <a:ea typeface="Meiryo UI"/>
                </a:rPr>
                <a:t>ルール</a:t>
              </a:r>
              <a:r>
                <a:rPr sz="1050" b="1" dirty="0">
                  <a:solidFill>
                    <a:srgbClr val="008D2E"/>
                  </a:solidFill>
                  <a:latin typeface="Meiryo UI"/>
                  <a:ea typeface="Meiryo UI"/>
                </a:rPr>
                <a:t>：</a:t>
              </a:r>
              <a:r>
                <a:rPr sz="1000" b="0" dirty="0">
                  <a:solidFill>
                    <a:srgbClr val="262626"/>
                  </a:solidFill>
                  <a:latin typeface="Meiryo UI"/>
                  <a:ea typeface="Meiryo UI"/>
                </a:rPr>
                <a:t>①</a:t>
              </a:r>
              <a:r>
                <a:rPr sz="1000" b="0" dirty="0" err="1">
                  <a:solidFill>
                    <a:srgbClr val="262626"/>
                  </a:solidFill>
                  <a:latin typeface="Meiryo UI"/>
                  <a:ea typeface="Meiryo UI"/>
                </a:rPr>
                <a:t>金額の合算はKGI一本（あり</a:t>
              </a:r>
              <a:r>
                <a:rPr sz="1000" b="0" dirty="0">
                  <a:solidFill>
                    <a:srgbClr val="262626"/>
                  </a:solidFill>
                  <a:latin typeface="Meiryo UI"/>
                  <a:ea typeface="Meiryo UI"/>
                </a:rPr>
                <a:t>/</a:t>
              </a:r>
              <a:r>
                <a:rPr sz="1000" b="0" dirty="0" err="1">
                  <a:solidFill>
                    <a:srgbClr val="262626"/>
                  </a:solidFill>
                  <a:latin typeface="Meiryo UI"/>
                  <a:ea typeface="Meiryo UI"/>
                </a:rPr>
                <a:t>なし実験＋MMMのみ</a:t>
              </a:r>
              <a:r>
                <a:rPr sz="1000" b="0" dirty="0">
                  <a:solidFill>
                    <a:srgbClr val="262626"/>
                  </a:solidFill>
                  <a:latin typeface="Meiryo UI"/>
                  <a:ea typeface="Meiryo UI"/>
                </a:rPr>
                <a:t>）②顧客は12カ月ルールで排他分類　③</a:t>
              </a:r>
              <a:r>
                <a:rPr sz="1000" b="0" dirty="0" err="1">
                  <a:solidFill>
                    <a:srgbClr val="262626"/>
                  </a:solidFill>
                  <a:latin typeface="Meiryo UI"/>
                  <a:ea typeface="Meiryo UI"/>
                </a:rPr>
                <a:t>KPIは実データから機械的に算出（推計なし</a:t>
              </a:r>
              <a:r>
                <a:rPr sz="1000" b="0" dirty="0">
                  <a:solidFill>
                    <a:srgbClr val="262626"/>
                  </a:solidFill>
                  <a:latin typeface="Meiryo UI"/>
                  <a:ea typeface="Meiryo UI"/>
                </a:rPr>
                <a:t>）④K7・K8は仕掛けの実装完了をもって正式昇格。計器盤は月次/</a:t>
              </a:r>
              <a:r>
                <a:rPr sz="1000" b="0" dirty="0" err="1">
                  <a:solidFill>
                    <a:srgbClr val="262626"/>
                  </a:solidFill>
                  <a:latin typeface="Meiryo UI"/>
                  <a:ea typeface="Meiryo UI"/>
                </a:rPr>
                <a:t>四半期、KGIは年次で確定</a:t>
              </a:r>
              <a:r>
                <a:rPr sz="1000" b="0" dirty="0">
                  <a:solidFill>
                    <a:srgbClr val="262626"/>
                  </a:solidFill>
                  <a:latin typeface="Meiryo UI"/>
                  <a:ea typeface="Meiryo UI"/>
                </a:rPr>
                <a:t>。</a:t>
              </a:r>
            </a:p>
          </p:txBody>
        </p:sp>
      </p:grpSp>
      <p:sp>
        <p:nvSpPr>
          <p:cNvPr id="135" name="テキスト ボックス 134">
            <a:extLst>
              <a:ext uri="{FF2B5EF4-FFF2-40B4-BE49-F238E27FC236}">
                <a16:creationId xmlns:a16="http://schemas.microsoft.com/office/drawing/2014/main" id="{947CE778-854D-4AA0-6916-85030FF86434}"/>
              </a:ext>
            </a:extLst>
          </p:cNvPr>
          <p:cNvSpPr txBox="1"/>
          <p:nvPr/>
        </p:nvSpPr>
        <p:spPr>
          <a:xfrm>
            <a:off x="8713716" y="2078167"/>
            <a:ext cx="305927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ja-JP" sz="1050" b="0" i="0" dirty="0">
                <a:solidFill>
                  <a:srgbClr val="0B0B0B"/>
                </a:solidFill>
                <a:effectLst/>
                <a:latin typeface="anthropic-sans"/>
              </a:rPr>
              <a:t>MMM＝マーケティング・ミックス・モデリング（Marketing Mix Modeling）です。一言でいうと、「過去の売上データを統計的に分解して、どの販促・広告が売上を何円押し上げたかを推定する手法」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950391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f547d190-3668-41f7-8510-759a08b5278f"/>
</p:tagLst>
</file>

<file path=ppt/theme/theme1.xml><?xml version="1.0" encoding="utf-8"?>
<a:theme xmlns:a="http://schemas.openxmlformats.org/drawingml/2006/main" name="Office テーマ">
  <a:themeElements>
    <a:clrScheme name="ユーザー定義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008D2E"/>
      </a:accent5>
      <a:accent6>
        <a:srgbClr val="70AD47"/>
      </a:accent6>
      <a:hlink>
        <a:srgbClr val="0563C1"/>
      </a:hlink>
      <a:folHlink>
        <a:srgbClr val="954F72"/>
      </a:folHlink>
    </a:clrScheme>
    <a:fontScheme name="Meiryo UI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 w="3175">
          <a:noFill/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400" dirty="0" smtClean="0">
            <a:solidFill>
              <a:schemeClr val="tx1"/>
            </a:solidFill>
            <a:latin typeface="Meiryo UI" panose="020B0604030504040204" pitchFamily="50" charset="-128"/>
            <a:ea typeface="Meiryo UI" panose="020B0604030504040204" pitchFamily="50" charset="-128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プレゼンテーション1" id="{C55E6A12-3EF5-4C74-A9A5-996A9174E5AC}" vid="{AED920B8-8640-468C-970B-65DAA56A6812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667F58365028D544AA740988642801B7" ma:contentTypeVersion="4" ma:contentTypeDescription="新しいドキュメントを作成します。" ma:contentTypeScope="" ma:versionID="bc76c07572b860ace8224c0271b6bb96">
  <xsd:schema xmlns:xsd="http://www.w3.org/2001/XMLSchema" xmlns:xs="http://www.w3.org/2001/XMLSchema" xmlns:p="http://schemas.microsoft.com/office/2006/metadata/properties" xmlns:ns2="8c1c9407-4680-4b4c-ac14-d1d287827f86" targetNamespace="http://schemas.microsoft.com/office/2006/metadata/properties" ma:root="true" ma:fieldsID="47583ab8e31be7e5044b872c9e9c7599" ns2:_="">
    <xsd:import namespace="8c1c9407-4680-4b4c-ac14-d1d287827f8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1c9407-4680-4b4c-ac14-d1d287827f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0A7C669-CC4B-4827-97C7-09376F99CD1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8FA6147-ADCB-432E-B533-0080162DBFA4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074f2a35-8cc4-4ad1-b0b6-60fb064ecec5"/>
    <ds:schemaRef ds:uri="http://purl.org/dc/elements/1.1/"/>
    <ds:schemaRef ds:uri="http://schemas.microsoft.com/office/2006/metadata/properties"/>
    <ds:schemaRef ds:uri="5a302c2d-1787-4a6f-b546-2016f8a66a26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BCB0E288-7022-488F-A212-4A370D1C7B0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c1c9407-4680-4b4c-ac14-d1d287827f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20241120_パワポテンプレ</Template>
  <TotalTime>30361</TotalTime>
  <Words>2108</Words>
  <Application>Microsoft Office PowerPoint</Application>
  <PresentationFormat>ワイド画面</PresentationFormat>
  <Paragraphs>233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2" baseType="lpstr">
      <vt:lpstr>anthropic-sans</vt:lpstr>
      <vt:lpstr>Meiryo UI</vt:lpstr>
      <vt:lpstr>Arial</vt:lpstr>
      <vt:lpstr>Calibri</vt:lpstr>
      <vt:lpstr>Wingdings</vt:lpstr>
      <vt:lpstr>Office テーマ</vt:lpstr>
      <vt:lpstr>真因と解決策</vt:lpstr>
      <vt:lpstr>4つの変革テーマ × 8つの重点施策（A1〜D2）</vt:lpstr>
      <vt:lpstr>Howの全体構造 ― 5つの経営テーマへのMECE接続</vt:lpstr>
      <vt:lpstr>出口 マーケティング・営業DXの姿（Before → After）</vt:lpstr>
      <vt:lpstr>マイルストーン（FY26–FY30）</vt:lpstr>
      <vt:lpstr>KGI/KPI体系 ― 最上位KPIとライオン固有のユニークKPI</vt:lpstr>
    </vt:vector>
  </TitlesOfParts>
  <Company>lion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本日の目的</dc:title>
  <dc:creator>菊池;智裕</dc:creator>
  <cp:lastModifiedBy>菊池　智裕</cp:lastModifiedBy>
  <cp:revision>508</cp:revision>
  <dcterms:created xsi:type="dcterms:W3CDTF">2024-12-27T03:42:11Z</dcterms:created>
  <dcterms:modified xsi:type="dcterms:W3CDTF">2026-08-16T17:05:54Z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0x010100667F58365028D544AA740988642801B7</vt:lpwstr>
  </property>
</Properties>
</file>