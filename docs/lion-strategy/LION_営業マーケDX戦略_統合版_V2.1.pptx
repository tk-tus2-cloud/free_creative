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handoutMasterIdLst>
    <p:handoutMasterId r:id="rId12"/>
  </p:handoutMasterIdLst>
  <p:sldIdLst>
    <p:sldId id="2147483620" r:id="rId18"/>
    <p:sldId id="2147483612" r:id="rId5"/>
    <p:sldId id="2147483613" r:id="rId6"/>
    <p:sldId id="2147483614" r:id="rId7"/>
    <p:sldId id="2147483616" r:id="rId9"/>
    <p:sldId id="2147483622" r:id="rId20"/>
    <p:sldId id="2147483623" r:id="rId21"/>
    <p:sldId id="2147483619" r:id="rId8"/>
    <p:sldId id="2147483624" r:id="rId22"/>
    <p:sldId id="2147483625" r:id="rId23"/>
    <p:sldId id="2147483626" r:id="rId24"/>
    <p:sldId id="2147483627" r:id="rId25"/>
    <p:sldId id="2147483628" r:id="rId26"/>
    <p:sldId id="2147483629" r:id="rId27"/>
    <p:sldId id="2147483621" r:id="rId19"/>
  </p:sldIdLst>
  <p:sldSz cx="12192000" cy="6858000"/>
  <p:notesSz cx="6858000" cy="9144000"/>
  <p:custDataLst>
    <p:tags r:id="rId13"/>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7.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tags" Target="tags/tag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2026/7/21</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2026/7/21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slideLayout" Target="../slideLayouts/slideLayout2.xml"/><Relationship Id="rId5" Type="http://schemas.openxmlformats.org/officeDocument/2006/relationships/image" Target="../media/image33.svg"/><Relationship Id="rId6" Type="http://schemas.openxmlformats.org/officeDocument/2006/relationships/image" Target="../media/image34.svg"/><Relationship Id="rId7" Type="http://schemas.openxmlformats.org/officeDocument/2006/relationships/image" Target="../media/image35.svg"/><Relationship Id="rId8" Type="http://schemas.openxmlformats.org/officeDocument/2006/relationships/image" Target="../media/image36.svg"/><Relationship Id="rId9" Type="http://schemas.openxmlformats.org/officeDocument/2006/relationships/image" Target="../media/image37.svg"/><Relationship Id="rId10" Type="http://schemas.openxmlformats.org/officeDocument/2006/relationships/image" Target="../media/image38.svg"/><Relationship Id="rId11" Type="http://schemas.openxmlformats.org/officeDocument/2006/relationships/image" Target="../media/image39.svg"/></Relationships>
</file>

<file path=ppt/slides/_rels/slide7.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8686800" cy="457200"/>
          </a:xfrm>
          <a:prstGeom prst="rect">
            <a:avLst/>
          </a:prstGeom>
          <a:noFill/>
        </p:spPr>
        <p:txBody>
          <a:bodyPr wrap="square" lIns="0" rIns="0" t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68096"/>
            <a:ext cx="274320" cy="274320"/>
          </a:xfrm>
          <a:prstGeom prst="rect">
            <a:avLst/>
          </a:prstGeom>
          <a:noFill/>
        </p:spPr>
        <p:txBody>
          <a:bodyPr wrap="square" lIns="0" rIns="0" t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rIns="0" t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37560"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2  真因は「翻訳・武器・回路」の不全</a:t>
            </a:r>
          </a:p>
        </p:txBody>
      </p:sp>
      <p:sp>
        <p:nvSpPr>
          <p:cNvPr id="21" name="TextBox 20"/>
          <p:cNvSpPr txBox="1"/>
          <p:nvPr/>
        </p:nvSpPr>
        <p:spPr>
          <a:xfrm>
            <a:off x="3355848"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中計はオーラルヘルスケア最重点を決定済み。問題は①その決定が現場の配分・路線・評価に「落ちていない」②バイヤーとAIに出す武器を「持っていない」③作る→試す→検証→広げるが「回っていない」の3つ ― 翻訳と供給と回路の問題</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45351"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落とす＝中計の決定を配分・路線・評価に翻訳／持つ＝8つの重点施策で武器を供給／回す＝時間・編成・確認ゲート・撤退基準。小さく実証→検証→拡大の順で諮る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53143"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6163056"/>
            <a:ext cx="11155680" cy="365760"/>
          </a:xfrm>
          <a:prstGeom prst="rect">
            <a:avLst/>
          </a:prstGeom>
          <a:noFill/>
        </p:spPr>
        <p:txBody>
          <a:bodyPr wrap="square" lIns="0" rIns="0" t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以降、環境変化（PEST・3C）→ 自社（SWOT）→ 目指す姿とギャップ → 真因（落とす・持つ・回す）→ 解決策の対応 → 4テーマ×8施策 → 5経営テーマへのMECE接続 → 出口（業務の変化）→ マイルストーン → KGI/KPI → 投資 → 次のアクション、の順で論証する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バイヤー向け防弾ロジック化</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3開示義務」の波を捉えて学校・自治体ルートをデジタル化し、2040年のAI自動補充システムのホワイトリストを独占する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「バタフライ型営業」のままであり、対P&amp;G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7F607-E1E8-30C9-B06C-B593B072859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92161E-BDAE-1DE6-51A7-DD998B7CD0A4}"/>
              </a:ext>
            </a:extLst>
          </p:cNvPr>
          <p:cNvSpPr>
            <a:spLocks noGrp="1"/>
          </p:cNvSpPr>
          <p:nvPr>
            <p:ph type="title"/>
          </p:nvPr>
        </p:nvSpPr>
        <p:spPr>
          <a:xfrm>
            <a:off x="334963" y="1"/>
            <a:ext cx="11522075" cy="914400"/>
          </a:xfrm>
        </p:spPr>
        <p:txBody>
          <a:bodyPr/>
          <a:lstStyle/>
          <a:p>
            <a:r>
              <a:rPr kumimoji="1" lang="ja-JP" altLang="en-US" dirty="0">
                <a:latin typeface="+mn-ea"/>
                <a:ea typeface="+mn-ea"/>
              </a:rPr>
              <a:t>現状とのギャップと真因</a:t>
            </a:r>
          </a:p>
        </p:txBody>
      </p:sp>
      <p:sp>
        <p:nvSpPr>
          <p:cNvPr id="5" name="テキスト プレースホルダー 2">
            <a:extLst>
              <a:ext uri="{FF2B5EF4-FFF2-40B4-BE49-F238E27FC236}">
                <a16:creationId xmlns:a16="http://schemas.microsoft.com/office/drawing/2014/main" id="{F4EC8940-39DE-271F-4D60-53EA9AACEA9E}"/>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現場で生じているあらゆるギャップは、組織の縦割り、事務作業の常態化、未来の前提変化に対する切迫感の欠如という</a:t>
            </a:r>
            <a:br>
              <a:rPr lang="en-US" altLang="ja-JP" sz="1800" dirty="0">
                <a:latin typeface="+mn-ea"/>
                <a:ea typeface="+mn-ea"/>
              </a:rPr>
            </a:br>
            <a:r>
              <a:rPr lang="ja-JP" altLang="en-US" sz="1800" dirty="0">
                <a:latin typeface="+mn-ea"/>
                <a:ea typeface="+mn-ea"/>
              </a:rPr>
              <a:t>社内の構造的ボトルネックに起因 ― 根っこは全体最適の計画と効果検証の「作法」の不在</a:t>
            </a:r>
          </a:p>
        </p:txBody>
      </p:sp>
      <p:grpSp>
        <p:nvGrpSpPr>
          <p:cNvPr id="124" name="グループ化 123">
            <a:extLst>
              <a:ext uri="{FF2B5EF4-FFF2-40B4-BE49-F238E27FC236}">
                <a16:creationId xmlns:a16="http://schemas.microsoft.com/office/drawing/2014/main" id="{AC69F230-C189-9BF6-1E35-8B2DD2F6F110}"/>
              </a:ext>
            </a:extLst>
          </p:cNvPr>
          <p:cNvGrpSpPr/>
          <p:nvPr/>
        </p:nvGrpSpPr>
        <p:grpSpPr>
          <a:xfrm>
            <a:off x="334963" y="1628775"/>
            <a:ext cx="11523979" cy="4679950"/>
            <a:chOff x="334963" y="1628775"/>
            <a:chExt cx="11523979" cy="4679950"/>
          </a:xfrm>
        </p:grpSpPr>
        <p:cxnSp>
          <p:nvCxnSpPr>
            <p:cNvPr id="30" name="直線コネクタ 29">
              <a:extLst>
                <a:ext uri="{FF2B5EF4-FFF2-40B4-BE49-F238E27FC236}">
                  <a16:creationId xmlns:a16="http://schemas.microsoft.com/office/drawing/2014/main" id="{54E56C8A-642B-A5CD-A94E-95E8B9514EAA}"/>
                </a:ext>
              </a:extLst>
            </p:cNvPr>
            <p:cNvCxnSpPr/>
            <p:nvPr/>
          </p:nvCxnSpPr>
          <p:spPr>
            <a:xfrm>
              <a:off x="3235489" y="2579369"/>
              <a:ext cx="5719127"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2196A547-F63B-E75F-0B00-4DAF3582D79C}"/>
                </a:ext>
              </a:extLst>
            </p:cNvPr>
            <p:cNvSpPr/>
            <p:nvPr/>
          </p:nvSpPr>
          <p:spPr>
            <a:xfrm>
              <a:off x="5074783" y="2099733"/>
              <a:ext cx="3879833" cy="42383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GAPを生み出している構造的ボトルネック</a:t>
              </a:r>
            </a:p>
          </p:txBody>
        </p:sp>
        <p:sp>
          <p:nvSpPr>
            <p:cNvPr id="32" name="正方形/長方形 31">
              <a:extLst>
                <a:ext uri="{FF2B5EF4-FFF2-40B4-BE49-F238E27FC236}">
                  <a16:creationId xmlns:a16="http://schemas.microsoft.com/office/drawing/2014/main" id="{6646D3F8-CB1A-D812-9CCA-5175E020F652}"/>
                </a:ext>
              </a:extLst>
            </p:cNvPr>
            <p:cNvSpPr/>
            <p:nvPr/>
          </p:nvSpPr>
          <p:spPr>
            <a:xfrm>
              <a:off x="3272569" y="2099733"/>
              <a:ext cx="1765135" cy="423832"/>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latin typeface="+mn-ea"/>
                </a:rPr>
                <a:t>原因</a:t>
              </a:r>
              <a:r>
                <a:rPr lang="en-US" altLang="ja-JP" sz="1400" b="1" dirty="0">
                  <a:latin typeface="+mn-ea"/>
                </a:rPr>
                <a:t> (</a:t>
              </a:r>
              <a:r>
                <a:rPr lang="ja-JP" altLang="ja-JP" sz="1400" b="1" dirty="0">
                  <a:latin typeface="+mn-ea"/>
                </a:rPr>
                <a:t>真因</a:t>
              </a:r>
              <a:r>
                <a:rPr lang="en-US" altLang="ja-JP" sz="1400" b="1" dirty="0">
                  <a:latin typeface="+mn-ea"/>
                </a:rPr>
                <a:t>) </a:t>
              </a:r>
              <a:endParaRPr kumimoji="1" lang="ja-JP" altLang="en-US" sz="1400" dirty="0">
                <a:solidFill>
                  <a:schemeClr val="tx1"/>
                </a:solidFill>
                <a:latin typeface="+mn-ea"/>
              </a:endParaRPr>
            </a:p>
          </p:txBody>
        </p:sp>
        <p:sp>
          <p:nvSpPr>
            <p:cNvPr id="22" name="正方形/長方形 21">
              <a:extLst>
                <a:ext uri="{FF2B5EF4-FFF2-40B4-BE49-F238E27FC236}">
                  <a16:creationId xmlns:a16="http://schemas.microsoft.com/office/drawing/2014/main" id="{51D13621-E37A-8D3B-1402-DA4168EB67A3}"/>
                </a:ext>
              </a:extLst>
            </p:cNvPr>
            <p:cNvSpPr/>
            <p:nvPr/>
          </p:nvSpPr>
          <p:spPr>
            <a:xfrm>
              <a:off x="3235489" y="2681505"/>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ja-JP" sz="1300" b="1" dirty="0">
                  <a:solidFill>
                    <a:srgbClr val="008D2E"/>
                  </a:solidFill>
                  <a:latin typeface="+mn-ea"/>
                </a:rPr>
                <a:t>縦割り組織による「知見の非換金性」</a:t>
              </a:r>
              <a:endParaRPr lang="en-US" altLang="ja-JP" sz="1300" dirty="0">
                <a:solidFill>
                  <a:srgbClr val="008D2E"/>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R&amp;D、マーケ、営業のKPI</a:t>
              </a:r>
              <a:r>
                <a:rPr lang="en-US" altLang="ja-JP" sz="1000" dirty="0">
                  <a:solidFill>
                    <a:schemeClr val="tx1"/>
                  </a:solidFill>
                  <a:latin typeface="+mn-ea"/>
                </a:rPr>
                <a:t> (</a:t>
              </a:r>
              <a:r>
                <a:rPr lang="ja-JP" altLang="ja-JP" sz="1000" dirty="0">
                  <a:solidFill>
                    <a:schemeClr val="tx1"/>
                  </a:solidFill>
                  <a:latin typeface="+mn-ea"/>
                </a:rPr>
                <a:t>評価指標</a:t>
              </a:r>
              <a:r>
                <a:rPr lang="en-US" altLang="ja-JP" sz="1000" dirty="0">
                  <a:solidFill>
                    <a:schemeClr val="tx1"/>
                  </a:solidFill>
                  <a:latin typeface="+mn-ea"/>
                </a:rPr>
                <a:t>) </a:t>
              </a:r>
              <a:r>
                <a:rPr lang="ja-JP" altLang="ja-JP" sz="1000" dirty="0">
                  <a:solidFill>
                    <a:schemeClr val="tx1"/>
                  </a:solidFill>
                  <a:latin typeface="+mn-ea"/>
                </a:rPr>
                <a:t>とデータ基盤が分断している</a:t>
              </a:r>
              <a:endParaRPr lang="en-US" altLang="ja-JP" sz="1000" dirty="0">
                <a:solidFill>
                  <a:schemeClr val="tx1"/>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そのため、社内の強力な臨床</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行動データを、バイヤーが小売社内の</a:t>
              </a:r>
              <a:r>
                <a:rPr lang="ja-JP" altLang="en-US" sz="1000" dirty="0">
                  <a:solidFill>
                    <a:schemeClr val="tx1"/>
                  </a:solidFill>
                  <a:latin typeface="+mn-ea"/>
                </a:rPr>
                <a:t>データ検証</a:t>
              </a:r>
              <a:r>
                <a:rPr lang="ja-JP" altLang="ja-JP" sz="1000" dirty="0">
                  <a:solidFill>
                    <a:schemeClr val="tx1"/>
                  </a:solidFill>
                  <a:latin typeface="+mn-ea"/>
                </a:rPr>
                <a:t>を突破するため</a:t>
              </a:r>
              <a:br>
                <a:rPr lang="en-US" altLang="ja-JP" sz="1000" dirty="0">
                  <a:solidFill>
                    <a:schemeClr val="tx1"/>
                  </a:solidFill>
                  <a:latin typeface="+mn-ea"/>
                </a:rPr>
              </a:br>
              <a:r>
                <a:rPr lang="ja-JP" altLang="ja-JP" sz="1000" dirty="0">
                  <a:solidFill>
                    <a:schemeClr val="tx1"/>
                  </a:solidFill>
                  <a:latin typeface="+mn-ea"/>
                </a:rPr>
                <a:t>の「LTV予測」へ自動変換</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現場供給する「共通のデータ統合インフラ</a:t>
              </a:r>
              <a:r>
                <a:rPr lang="en-US" altLang="ja-JP" sz="1000" dirty="0">
                  <a:solidFill>
                    <a:schemeClr val="tx1"/>
                  </a:solidFill>
                  <a:latin typeface="+mn-ea"/>
                </a:rPr>
                <a:t> (</a:t>
              </a:r>
              <a:r>
                <a:rPr lang="ja-JP" altLang="ja-JP" sz="1000" dirty="0">
                  <a:solidFill>
                    <a:schemeClr val="tx1"/>
                  </a:solidFill>
                  <a:latin typeface="+mn-ea"/>
                </a:rPr>
                <a:t>GCP</a:t>
              </a:r>
              <a:r>
                <a:rPr lang="en-US" altLang="ja-JP" sz="1000" dirty="0">
                  <a:solidFill>
                    <a:schemeClr val="tx1"/>
                  </a:solidFill>
                  <a:latin typeface="+mn-ea"/>
                </a:rPr>
                <a:t>) </a:t>
              </a:r>
              <a:r>
                <a:rPr lang="ja-JP" altLang="ja-JP" sz="1000" dirty="0">
                  <a:solidFill>
                    <a:schemeClr val="tx1"/>
                  </a:solidFill>
                  <a:latin typeface="+mn-ea"/>
                </a:rPr>
                <a:t>」がそもそも存在しない</a:t>
              </a:r>
            </a:p>
          </p:txBody>
        </p:sp>
        <p:sp>
          <p:nvSpPr>
            <p:cNvPr id="43" name="正方形/長方形 42">
              <a:extLst>
                <a:ext uri="{FF2B5EF4-FFF2-40B4-BE49-F238E27FC236}">
                  <a16:creationId xmlns:a16="http://schemas.microsoft.com/office/drawing/2014/main" id="{E6ADC0FE-9B17-A121-B49D-7DF74A93556E}"/>
                </a:ext>
              </a:extLst>
            </p:cNvPr>
            <p:cNvSpPr/>
            <p:nvPr/>
          </p:nvSpPr>
          <p:spPr>
            <a:xfrm>
              <a:off x="3235489" y="3909179"/>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ja-JP" sz="1300" b="1" dirty="0">
                  <a:solidFill>
                    <a:srgbClr val="008D2E"/>
                  </a:solidFill>
                  <a:latin typeface="+mn-ea"/>
                </a:rPr>
                <a:t>「内向きの作業」を仕事とする現場の慣性</a:t>
              </a:r>
              <a:endParaRPr lang="en-US" altLang="ja-JP" sz="1300" b="1" dirty="0">
                <a:solidFill>
                  <a:srgbClr val="008D2E"/>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資料作成や実績集計の時間を「現場の仕方のない苦労」として許容している</a:t>
              </a:r>
              <a:endParaRPr lang="en-US" altLang="ja-JP" sz="1000" dirty="0">
                <a:solidFill>
                  <a:schemeClr val="tx1"/>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7.6倍の圧倒的な生産性格差を埋めるために、「生成AIやTPMで現場の事務作業を強制的に</a:t>
              </a:r>
              <a:br>
                <a:rPr lang="en-US" altLang="ja-JP" sz="1000" dirty="0">
                  <a:solidFill>
                    <a:schemeClr val="tx1"/>
                  </a:solidFill>
                  <a:latin typeface="+mn-ea"/>
                </a:rPr>
              </a:br>
              <a:r>
                <a:rPr lang="ja-JP" altLang="ja-JP" sz="1000" dirty="0">
                  <a:solidFill>
                    <a:schemeClr val="tx1"/>
                  </a:solidFill>
                  <a:latin typeface="+mn-ea"/>
                </a:rPr>
                <a:t>完全ゼロ化し、人間の時間を100%戦略対話へシフトする」という思想的覚悟と仕組みが足りない</a:t>
              </a:r>
              <a:endParaRPr kumimoji="1" lang="ja-JP" altLang="en-US" sz="1000" dirty="0">
                <a:solidFill>
                  <a:schemeClr val="tx1"/>
                </a:solidFill>
                <a:latin typeface="+mn-ea"/>
              </a:endParaRPr>
            </a:p>
          </p:txBody>
        </p:sp>
        <p:sp>
          <p:nvSpPr>
            <p:cNvPr id="44" name="正方形/長方形 43">
              <a:extLst>
                <a:ext uri="{FF2B5EF4-FFF2-40B4-BE49-F238E27FC236}">
                  <a16:creationId xmlns:a16="http://schemas.microsoft.com/office/drawing/2014/main" id="{4E56282F-0A0A-E869-B013-0CEF1BF23E49}"/>
                </a:ext>
              </a:extLst>
            </p:cNvPr>
            <p:cNvSpPr/>
            <p:nvPr/>
          </p:nvSpPr>
          <p:spPr>
            <a:xfrm>
              <a:off x="3235489" y="5136853"/>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ja-JP" sz="1300" b="1" dirty="0">
                  <a:solidFill>
                    <a:srgbClr val="008D2E"/>
                  </a:solidFill>
                  <a:latin typeface="+mn-ea"/>
                </a:rPr>
                <a:t>「前提の崩壊」に対する切迫感の欠如</a:t>
              </a:r>
              <a:endParaRPr lang="en-US" altLang="ja-JP" sz="1300" b="1" dirty="0">
                <a:solidFill>
                  <a:srgbClr val="008D2E"/>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2040年の「買い場の消滅</a:t>
              </a:r>
              <a:r>
                <a:rPr lang="en-US" altLang="ja-JP" sz="1000" dirty="0">
                  <a:solidFill>
                    <a:schemeClr val="tx1"/>
                  </a:solidFill>
                  <a:latin typeface="+mn-ea"/>
                </a:rPr>
                <a:t> (</a:t>
              </a:r>
              <a:r>
                <a:rPr lang="ja-JP" altLang="ja-JP" sz="1000" dirty="0">
                  <a:solidFill>
                    <a:schemeClr val="tx1"/>
                  </a:solidFill>
                  <a:latin typeface="+mn-ea"/>
                </a:rPr>
                <a:t>AI自動補充</a:t>
              </a:r>
              <a:r>
                <a:rPr lang="en-US" altLang="ja-JP" sz="1000" dirty="0">
                  <a:solidFill>
                    <a:schemeClr val="tx1"/>
                  </a:solidFill>
                  <a:latin typeface="+mn-ea"/>
                </a:rPr>
                <a:t>) </a:t>
              </a:r>
              <a:r>
                <a:rPr lang="ja-JP" altLang="ja-JP" sz="1000" dirty="0">
                  <a:solidFill>
                    <a:schemeClr val="tx1"/>
                  </a:solidFill>
                  <a:latin typeface="+mn-ea"/>
                </a:rPr>
                <a:t>」や「環境規制の義務化</a:t>
              </a:r>
              <a:r>
                <a:rPr lang="en-US" altLang="ja-JP" sz="1000" dirty="0">
                  <a:solidFill>
                    <a:schemeClr val="tx1"/>
                  </a:solidFill>
                  <a:latin typeface="+mn-ea"/>
                </a:rPr>
                <a:t> (</a:t>
              </a:r>
              <a:r>
                <a:rPr lang="ja-JP" altLang="ja-JP" sz="1000" dirty="0">
                  <a:solidFill>
                    <a:schemeClr val="tx1"/>
                  </a:solidFill>
                  <a:latin typeface="+mn-ea"/>
                </a:rPr>
                <a:t>Scope 3</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容器完全回収</a:t>
              </a:r>
              <a:br>
                <a:rPr lang="en-US" altLang="ja-JP" sz="1000" dirty="0">
                  <a:solidFill>
                    <a:schemeClr val="tx1"/>
                  </a:solidFill>
                  <a:latin typeface="+mn-ea"/>
                </a:rPr>
              </a:br>
              <a:r>
                <a:rPr lang="ja-JP" altLang="ja-JP" sz="1000" dirty="0">
                  <a:solidFill>
                    <a:schemeClr val="tx1"/>
                  </a:solidFill>
                  <a:latin typeface="+mn-ea"/>
                </a:rPr>
                <a:t>等</a:t>
              </a:r>
              <a:r>
                <a:rPr lang="en-US" altLang="ja-JP" sz="1000" dirty="0">
                  <a:solidFill>
                    <a:schemeClr val="tx1"/>
                  </a:solidFill>
                  <a:latin typeface="+mn-ea"/>
                </a:rPr>
                <a:t>) </a:t>
              </a:r>
              <a:r>
                <a:rPr lang="ja-JP" altLang="ja-JP" sz="1000" dirty="0">
                  <a:solidFill>
                    <a:schemeClr val="tx1"/>
                  </a:solidFill>
                  <a:latin typeface="+mn-ea"/>
                </a:rPr>
                <a:t>」を、遠い未来のCSRやIT部門のテーマと捉えている</a:t>
              </a:r>
              <a:endParaRPr lang="en-US" altLang="ja-JP" sz="1000" dirty="0">
                <a:solidFill>
                  <a:schemeClr val="tx1"/>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自社の「ブランド生存権がアルゴリズムによって市場から自動消去される危機」として、</a:t>
              </a:r>
              <a:br>
                <a:rPr lang="en-US" altLang="ja-JP" sz="1000" dirty="0">
                  <a:solidFill>
                    <a:schemeClr val="tx1"/>
                  </a:solidFill>
                  <a:latin typeface="+mn-ea"/>
                </a:rPr>
              </a:br>
              <a:r>
                <a:rPr lang="ja-JP" altLang="ja-JP" sz="1000" dirty="0">
                  <a:solidFill>
                    <a:schemeClr val="tx1"/>
                  </a:solidFill>
                  <a:latin typeface="+mn-ea"/>
                </a:rPr>
                <a:t>営業</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マーケの現場レベルまで危機感が共有されていない</a:t>
              </a:r>
              <a:endParaRPr kumimoji="1" lang="ja-JP" altLang="en-US" sz="1000" dirty="0">
                <a:solidFill>
                  <a:schemeClr val="tx1"/>
                </a:solidFill>
                <a:latin typeface="+mn-ea"/>
              </a:endParaRPr>
            </a:p>
          </p:txBody>
        </p:sp>
        <p:sp>
          <p:nvSpPr>
            <p:cNvPr id="10" name="正方形/長方形 9">
              <a:extLst>
                <a:ext uri="{FF2B5EF4-FFF2-40B4-BE49-F238E27FC236}">
                  <a16:creationId xmlns:a16="http://schemas.microsoft.com/office/drawing/2014/main" id="{FF6B5DA5-BB40-B6D2-C0B5-5CB9C91FD3D6}"/>
                </a:ext>
              </a:extLst>
            </p:cNvPr>
            <p:cNvSpPr/>
            <p:nvPr/>
          </p:nvSpPr>
          <p:spPr>
            <a:xfrm>
              <a:off x="334963" y="2681504"/>
              <a:ext cx="2035704"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144000" rIns="36000" bIns="36000" numCol="1" spcCol="0" rtlCol="0" fromWordArt="0" anchor="ctr" anchorCtr="0" forceAA="0" compatLnSpc="1">
              <a:prstTxWarp prst="textNoShape">
                <a:avLst/>
              </a:prstTxWarp>
              <a:noAutofit/>
            </a:bodyPr>
            <a:lstStyle/>
            <a:p>
              <a:r>
                <a:rPr lang="ja-JP" altLang="ja-JP" sz="950" dirty="0">
                  <a:solidFill>
                    <a:schemeClr val="tx1"/>
                  </a:solidFill>
                  <a:latin typeface="+mn-ea"/>
                </a:rPr>
                <a:t>洗剤領域での不毛な消耗戦から脱却</a:t>
              </a:r>
              <a:br>
                <a:rPr lang="en-US" altLang="ja-JP" sz="950" dirty="0">
                  <a:solidFill>
                    <a:schemeClr val="tx1"/>
                  </a:solidFill>
                  <a:latin typeface="+mn-ea"/>
                </a:rPr>
              </a:br>
              <a:r>
                <a:rPr lang="ja-JP" altLang="ja-JP" sz="950" dirty="0">
                  <a:solidFill>
                    <a:schemeClr val="tx1"/>
                  </a:solidFill>
                  <a:latin typeface="+mn-ea"/>
                </a:rPr>
                <a:t>できず、オーラルやキレイキレイ等の強み</a:t>
              </a:r>
              <a:br>
                <a:rPr lang="en-US" altLang="ja-JP" sz="950" dirty="0">
                  <a:solidFill>
                    <a:schemeClr val="tx1"/>
                  </a:solidFill>
                  <a:latin typeface="+mn-ea"/>
                </a:rPr>
              </a:br>
              <a:r>
                <a:rPr lang="ja-JP" altLang="ja-JP" sz="950" dirty="0">
                  <a:solidFill>
                    <a:schemeClr val="tx1"/>
                  </a:solidFill>
                  <a:latin typeface="+mn-ea"/>
                </a:rPr>
                <a:t>領域を未来のAI自動補充システムへ</a:t>
              </a:r>
              <a:br>
                <a:rPr lang="en-US" altLang="ja-JP" sz="950" dirty="0">
                  <a:solidFill>
                    <a:schemeClr val="tx1"/>
                  </a:solidFill>
                  <a:latin typeface="+mn-ea"/>
                </a:rPr>
              </a:br>
              <a:r>
                <a:rPr lang="ja-JP" altLang="ja-JP" sz="950" dirty="0">
                  <a:solidFill>
                    <a:schemeClr val="tx1"/>
                  </a:solidFill>
                  <a:latin typeface="+mn-ea"/>
                </a:rPr>
                <a:t>潜り込ませるための「製品属性データの</a:t>
              </a:r>
              <a:br>
                <a:rPr lang="en-US" altLang="ja-JP" sz="950" dirty="0">
                  <a:solidFill>
                    <a:schemeClr val="tx1"/>
                  </a:solidFill>
                  <a:latin typeface="+mn-ea"/>
                </a:rPr>
              </a:br>
              <a:r>
                <a:rPr lang="ja-JP" altLang="ja-JP" sz="950" dirty="0">
                  <a:solidFill>
                    <a:schemeClr val="tx1"/>
                  </a:solidFill>
                  <a:latin typeface="+mn-ea"/>
                </a:rPr>
                <a:t>構造化</a:t>
              </a:r>
              <a:r>
                <a:rPr lang="en-US" altLang="ja-JP" sz="950" dirty="0">
                  <a:solidFill>
                    <a:schemeClr val="tx1"/>
                  </a:solidFill>
                  <a:latin typeface="+mn-ea"/>
                </a:rPr>
                <a:t> </a:t>
              </a:r>
              <a:r>
                <a:rPr lang="ja-JP" altLang="en-US" sz="950" dirty="0">
                  <a:solidFill>
                    <a:schemeClr val="tx1"/>
                  </a:solidFill>
                  <a:latin typeface="+mn-ea"/>
                </a:rPr>
                <a:t>･ </a:t>
              </a:r>
              <a:r>
                <a:rPr lang="ja-JP" altLang="ja-JP" sz="950" dirty="0">
                  <a:solidFill>
                    <a:schemeClr val="tx1"/>
                  </a:solidFill>
                  <a:latin typeface="+mn-ea"/>
                </a:rPr>
                <a:t>API化」に未着手である</a:t>
              </a:r>
              <a:endParaRPr kumimoji="1" lang="ja-JP" altLang="en-US" sz="950" dirty="0">
                <a:solidFill>
                  <a:schemeClr val="tx1"/>
                </a:solidFill>
                <a:latin typeface="+mn-ea"/>
              </a:endParaRPr>
            </a:p>
          </p:txBody>
        </p:sp>
        <p:sp>
          <p:nvSpPr>
            <p:cNvPr id="15" name="四角形: 角を丸くする 14">
              <a:extLst>
                <a:ext uri="{FF2B5EF4-FFF2-40B4-BE49-F238E27FC236}">
                  <a16:creationId xmlns:a16="http://schemas.microsoft.com/office/drawing/2014/main" id="{ACE527CA-409C-630C-8672-041428968DCD}"/>
                </a:ext>
              </a:extLst>
            </p:cNvPr>
            <p:cNvSpPr/>
            <p:nvPr/>
          </p:nvSpPr>
          <p:spPr>
            <a:xfrm>
              <a:off x="435607" y="2533436"/>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1</a:t>
              </a:r>
              <a:endParaRPr kumimoji="1" lang="ja-JP" altLang="en-US" sz="1400" dirty="0">
                <a:solidFill>
                  <a:schemeClr val="bg1"/>
                </a:solidFill>
                <a:latin typeface="+mn-ea"/>
              </a:endParaRPr>
            </a:p>
          </p:txBody>
        </p:sp>
        <p:pic>
          <p:nvPicPr>
            <p:cNvPr id="102" name="グラフィックス 101" descr="階層 単色塗りつぶし">
              <a:extLst>
                <a:ext uri="{FF2B5EF4-FFF2-40B4-BE49-F238E27FC236}">
                  <a16:creationId xmlns:a16="http://schemas.microsoft.com/office/drawing/2014/main" id="{1C3061FE-C03C-A988-71E1-C9FC92A317E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10667" y="4024673"/>
              <a:ext cx="360000" cy="360000"/>
            </a:xfrm>
            <a:prstGeom prst="rect">
              <a:avLst/>
            </a:prstGeom>
          </p:spPr>
        </p:pic>
        <p:pic>
          <p:nvPicPr>
            <p:cNvPr id="104" name="グラフィックス 103" descr="上階 単色塗りつぶし">
              <a:extLst>
                <a:ext uri="{FF2B5EF4-FFF2-40B4-BE49-F238E27FC236}">
                  <a16:creationId xmlns:a16="http://schemas.microsoft.com/office/drawing/2014/main" id="{02941425-0D92-878F-6708-ED264C9241E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497038" y="4024673"/>
              <a:ext cx="360000" cy="360000"/>
            </a:xfrm>
            <a:prstGeom prst="rect">
              <a:avLst/>
            </a:prstGeom>
          </p:spPr>
        </p:pic>
        <p:sp>
          <p:nvSpPr>
            <p:cNvPr id="14" name="正方形/長方形 13">
              <a:extLst>
                <a:ext uri="{FF2B5EF4-FFF2-40B4-BE49-F238E27FC236}">
                  <a16:creationId xmlns:a16="http://schemas.microsoft.com/office/drawing/2014/main" id="{CB2EAD6E-72D5-0D5A-0AA6-15B7F5767709}"/>
                </a:ext>
              </a:extLst>
            </p:cNvPr>
            <p:cNvSpPr/>
            <p:nvPr/>
          </p:nvSpPr>
          <p:spPr>
            <a:xfrm>
              <a:off x="334963" y="4605556"/>
              <a:ext cx="2035704"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144000" rIns="36000" bIns="36000" numCol="1" spcCol="0" rtlCol="0" fromWordArt="0" anchor="ctr" anchorCtr="0" forceAA="0" compatLnSpc="1">
              <a:prstTxWarp prst="textNoShape">
                <a:avLst/>
              </a:prstTxWarp>
              <a:noAutofit/>
            </a:bodyPr>
            <a:lstStyle/>
            <a:p>
              <a:r>
                <a:rPr lang="ja-JP" altLang="en-US" sz="1000" dirty="0">
                  <a:solidFill>
                    <a:schemeClr val="tx1"/>
                  </a:solidFill>
                  <a:latin typeface="+mn-ea"/>
                </a:rPr>
                <a:t>データ</a:t>
              </a:r>
              <a:r>
                <a:rPr lang="ja-JP" altLang="ja-JP" sz="1000" dirty="0">
                  <a:solidFill>
                    <a:schemeClr val="tx1"/>
                  </a:solidFill>
                  <a:latin typeface="+mn-ea"/>
                </a:rPr>
                <a:t>検証に怯えるバイヤーが最も欲している「</a:t>
              </a:r>
              <a:r>
                <a:rPr lang="ja-JP" altLang="en-US" sz="1000" dirty="0">
                  <a:solidFill>
                    <a:schemeClr val="tx1"/>
                  </a:solidFill>
                  <a:latin typeface="+mn-ea"/>
                </a:rPr>
                <a:t>安心材料</a:t>
              </a:r>
              <a:r>
                <a:rPr lang="en-US" altLang="ja-JP" sz="1000" dirty="0">
                  <a:solidFill>
                    <a:schemeClr val="tx1"/>
                  </a:solidFill>
                  <a:latin typeface="+mn-ea"/>
                </a:rPr>
                <a:t>(</a:t>
              </a:r>
              <a:r>
                <a:rPr lang="ja-JP" altLang="ja-JP" sz="1000" dirty="0">
                  <a:solidFill>
                    <a:schemeClr val="tx1"/>
                  </a:solidFill>
                  <a:latin typeface="+mn-ea"/>
                </a:rPr>
                <a:t>チェーン全体のカテゴリLTVや炭素効率の予測データ</a:t>
              </a:r>
              <a:r>
                <a:rPr lang="en-US" altLang="ja-JP" sz="1000" dirty="0">
                  <a:solidFill>
                    <a:schemeClr val="tx1"/>
                  </a:solidFill>
                  <a:latin typeface="+mn-ea"/>
                </a:rPr>
                <a:t>) </a:t>
              </a:r>
              <a:r>
                <a:rPr lang="ja-JP" altLang="ja-JP" sz="1000" dirty="0">
                  <a:solidFill>
                    <a:schemeClr val="tx1"/>
                  </a:solidFill>
                  <a:latin typeface="+mn-ea"/>
                </a:rPr>
                <a:t>」ではなく、従来型の「目先の値引き</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特売条件」を提案し続けるという商談価値のミスマッチが起きている</a:t>
              </a:r>
              <a:endParaRPr lang="ja-JP" altLang="en-US" sz="1000" dirty="0">
                <a:solidFill>
                  <a:schemeClr val="tx1"/>
                </a:solidFill>
                <a:latin typeface="+mn-ea"/>
              </a:endParaRPr>
            </a:p>
          </p:txBody>
        </p:sp>
        <p:sp>
          <p:nvSpPr>
            <p:cNvPr id="21" name="四角形: 角を丸くする 20">
              <a:extLst>
                <a:ext uri="{FF2B5EF4-FFF2-40B4-BE49-F238E27FC236}">
                  <a16:creationId xmlns:a16="http://schemas.microsoft.com/office/drawing/2014/main" id="{F8F93723-17BB-4FD1-C916-521F39D875EA}"/>
                </a:ext>
              </a:extLst>
            </p:cNvPr>
            <p:cNvSpPr/>
            <p:nvPr/>
          </p:nvSpPr>
          <p:spPr>
            <a:xfrm>
              <a:off x="435607" y="4490164"/>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3</a:t>
              </a:r>
              <a:endParaRPr kumimoji="1" lang="ja-JP" altLang="en-US" sz="1400" dirty="0">
                <a:solidFill>
                  <a:schemeClr val="bg1"/>
                </a:solidFill>
                <a:latin typeface="+mn-ea"/>
              </a:endParaRPr>
            </a:p>
          </p:txBody>
        </p:sp>
        <p:pic>
          <p:nvPicPr>
            <p:cNvPr id="106" name="グラフィックス 105" descr="クリップボード: 混合 単色塗りつぶし">
              <a:extLst>
                <a:ext uri="{FF2B5EF4-FFF2-40B4-BE49-F238E27FC236}">
                  <a16:creationId xmlns:a16="http://schemas.microsoft.com/office/drawing/2014/main" id="{874DE686-3313-2D62-5331-C34B20E76D7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10667" y="5948725"/>
              <a:ext cx="360000" cy="360000"/>
            </a:xfrm>
            <a:prstGeom prst="rect">
              <a:avLst/>
            </a:prstGeom>
          </p:spPr>
        </p:pic>
        <p:sp>
          <p:nvSpPr>
            <p:cNvPr id="24" name="正方形/長方形 23">
              <a:extLst>
                <a:ext uri="{FF2B5EF4-FFF2-40B4-BE49-F238E27FC236}">
                  <a16:creationId xmlns:a16="http://schemas.microsoft.com/office/drawing/2014/main" id="{74D2818D-FBDB-47FA-D2CC-4DFCA598CD77}"/>
                </a:ext>
              </a:extLst>
            </p:cNvPr>
            <p:cNvSpPr/>
            <p:nvPr/>
          </p:nvSpPr>
          <p:spPr>
            <a:xfrm>
              <a:off x="9819438" y="2681504"/>
              <a:ext cx="2037600"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r>
                <a:rPr lang="ja-JP" altLang="ja-JP" sz="1000" dirty="0">
                  <a:solidFill>
                    <a:schemeClr val="tx1"/>
                  </a:solidFill>
                  <a:latin typeface="+mn-ea"/>
                </a:rPr>
                <a:t>自社データ劣後の焦りから自前D2C</a:t>
              </a:r>
              <a:r>
                <a:rPr lang="en-US" altLang="ja-JP" sz="1000" dirty="0">
                  <a:solidFill>
                    <a:schemeClr val="tx1"/>
                  </a:solidFill>
                  <a:latin typeface="+mn-ea"/>
                </a:rPr>
                <a:t> (</a:t>
              </a:r>
              <a:r>
                <a:rPr lang="ja-JP" altLang="ja-JP" sz="1000" dirty="0">
                  <a:solidFill>
                    <a:schemeClr val="tx1"/>
                  </a:solidFill>
                  <a:latin typeface="+mn-ea"/>
                </a:rPr>
                <a:t>My Kaoの模倣</a:t>
              </a:r>
              <a:r>
                <a:rPr lang="en-US" altLang="ja-JP" sz="1000" dirty="0">
                  <a:solidFill>
                    <a:schemeClr val="tx1"/>
                  </a:solidFill>
                  <a:latin typeface="+mn-ea"/>
                </a:rPr>
                <a:t>) </a:t>
              </a:r>
              <a:r>
                <a:rPr lang="ja-JP" altLang="ja-JP" sz="1000" dirty="0">
                  <a:solidFill>
                    <a:schemeClr val="tx1"/>
                  </a:solidFill>
                  <a:latin typeface="+mn-ea"/>
                </a:rPr>
                <a:t>を追いかけるか、小売に振り回されるかの二極化に陥り</a:t>
              </a:r>
              <a:r>
                <a:rPr lang="ja-JP" altLang="en-US" sz="1000" dirty="0">
                  <a:solidFill>
                    <a:schemeClr val="tx1"/>
                  </a:solidFill>
                  <a:latin typeface="+mn-ea"/>
                </a:rPr>
                <a:t>、</a:t>
              </a:r>
              <a:r>
                <a:rPr lang="ja-JP" altLang="ja-JP" sz="1000" dirty="0">
                  <a:solidFill>
                    <a:schemeClr val="tx1"/>
                  </a:solidFill>
                  <a:latin typeface="+mn-ea"/>
                </a:rPr>
                <a:t>小売インフラを高度に利用する寄生型へシフトできていない</a:t>
              </a:r>
              <a:endParaRPr lang="ja-JP" altLang="en-US" sz="1000" dirty="0">
                <a:solidFill>
                  <a:schemeClr val="tx1"/>
                </a:solidFill>
                <a:latin typeface="+mn-ea"/>
              </a:endParaRPr>
            </a:p>
          </p:txBody>
        </p:sp>
        <p:sp>
          <p:nvSpPr>
            <p:cNvPr id="26" name="四角形: 角を丸くする 25">
              <a:extLst>
                <a:ext uri="{FF2B5EF4-FFF2-40B4-BE49-F238E27FC236}">
                  <a16:creationId xmlns:a16="http://schemas.microsoft.com/office/drawing/2014/main" id="{2BC3DE40-967B-2D41-84E7-E8480A908765}"/>
                </a:ext>
              </a:extLst>
            </p:cNvPr>
            <p:cNvSpPr/>
            <p:nvPr/>
          </p:nvSpPr>
          <p:spPr>
            <a:xfrm>
              <a:off x="9899448" y="2533436"/>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2</a:t>
              </a:r>
              <a:endParaRPr kumimoji="1" lang="ja-JP" altLang="en-US" sz="1400" dirty="0">
                <a:solidFill>
                  <a:schemeClr val="bg1"/>
                </a:solidFill>
                <a:latin typeface="+mn-ea"/>
              </a:endParaRPr>
            </a:p>
          </p:txBody>
        </p:sp>
        <p:sp>
          <p:nvSpPr>
            <p:cNvPr id="25" name="正方形/長方形 24">
              <a:extLst>
                <a:ext uri="{FF2B5EF4-FFF2-40B4-BE49-F238E27FC236}">
                  <a16:creationId xmlns:a16="http://schemas.microsoft.com/office/drawing/2014/main" id="{9A1E42BB-F4D4-699C-1CF3-45CA1CB0CE99}"/>
                </a:ext>
              </a:extLst>
            </p:cNvPr>
            <p:cNvSpPr/>
            <p:nvPr/>
          </p:nvSpPr>
          <p:spPr>
            <a:xfrm>
              <a:off x="9819438" y="4605556"/>
              <a:ext cx="2037600"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r>
                <a:rPr lang="ja-JP" altLang="en-US" sz="1000" dirty="0">
                  <a:solidFill>
                    <a:schemeClr val="tx1"/>
                  </a:solidFill>
                  <a:latin typeface="+mn-ea"/>
                </a:rPr>
                <a:t>人手不足と環境規制で店舗運営 </a:t>
              </a:r>
              <a:r>
                <a:rPr lang="en-US" altLang="ja-JP" sz="1000" dirty="0">
                  <a:solidFill>
                    <a:schemeClr val="tx1"/>
                  </a:solidFill>
                  <a:latin typeface="+mn-ea"/>
                </a:rPr>
                <a:t>(</a:t>
              </a:r>
              <a:r>
                <a:rPr lang="ja-JP" altLang="en-US" sz="1000" dirty="0">
                  <a:solidFill>
                    <a:schemeClr val="tx1"/>
                  </a:solidFill>
                  <a:latin typeface="+mn-ea"/>
                </a:rPr>
                <a:t>逆物流含む</a:t>
              </a:r>
              <a:r>
                <a:rPr lang="en-US" altLang="ja-JP" sz="1000" dirty="0">
                  <a:solidFill>
                    <a:schemeClr val="tx1"/>
                  </a:solidFill>
                  <a:latin typeface="+mn-ea"/>
                </a:rPr>
                <a:t>) </a:t>
              </a:r>
              <a:r>
                <a:rPr lang="ja-JP" altLang="en-US" sz="1000" dirty="0">
                  <a:solidFill>
                    <a:schemeClr val="tx1"/>
                  </a:solidFill>
                  <a:latin typeface="+mn-ea"/>
                </a:rPr>
                <a:t>が困難にある小売に対し、組織総力戦でのアプローチができず、営業個人のウェットな関係性 </a:t>
              </a:r>
              <a:r>
                <a:rPr lang="en-US" altLang="ja-JP" sz="1000" dirty="0">
                  <a:solidFill>
                    <a:schemeClr val="tx1"/>
                  </a:solidFill>
                  <a:latin typeface="+mn-ea"/>
                </a:rPr>
                <a:t>(</a:t>
              </a:r>
              <a:r>
                <a:rPr lang="ja-JP" altLang="en-US" sz="1000" dirty="0">
                  <a:solidFill>
                    <a:schemeClr val="tx1"/>
                  </a:solidFill>
                  <a:latin typeface="+mn-ea"/>
                </a:rPr>
                <a:t>属人化</a:t>
              </a:r>
              <a:r>
                <a:rPr lang="en-US" altLang="ja-JP" sz="1000" dirty="0">
                  <a:solidFill>
                    <a:schemeClr val="tx1"/>
                  </a:solidFill>
                  <a:latin typeface="+mn-ea"/>
                </a:rPr>
                <a:t>)</a:t>
              </a:r>
              <a:r>
                <a:rPr lang="ja-JP" altLang="en-US" sz="1000" dirty="0">
                  <a:solidFill>
                    <a:schemeClr val="tx1"/>
                  </a:solidFill>
                  <a:latin typeface="+mn-ea"/>
                </a:rPr>
                <a:t> で乗り切ろうとしている</a:t>
              </a:r>
              <a:r>
                <a:rPr lang="en-US" altLang="ja-JP" sz="1000" dirty="0">
                  <a:solidFill>
                    <a:schemeClr val="tx1"/>
                  </a:solidFill>
                  <a:latin typeface="+mn-ea"/>
                </a:rPr>
                <a:t>​</a:t>
              </a:r>
              <a:endParaRPr lang="ja-JP" altLang="en-US" sz="1000" dirty="0">
                <a:solidFill>
                  <a:schemeClr val="tx1"/>
                </a:solidFill>
                <a:latin typeface="+mn-ea"/>
              </a:endParaRPr>
            </a:p>
          </p:txBody>
        </p:sp>
        <p:sp>
          <p:nvSpPr>
            <p:cNvPr id="27" name="四角形: 角を丸くする 26">
              <a:extLst>
                <a:ext uri="{FF2B5EF4-FFF2-40B4-BE49-F238E27FC236}">
                  <a16:creationId xmlns:a16="http://schemas.microsoft.com/office/drawing/2014/main" id="{337BF068-1735-7E63-1491-EF470B4A27B6}"/>
                </a:ext>
              </a:extLst>
            </p:cNvPr>
            <p:cNvSpPr/>
            <p:nvPr/>
          </p:nvSpPr>
          <p:spPr>
            <a:xfrm>
              <a:off x="9899448" y="4490164"/>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4</a:t>
              </a:r>
              <a:endParaRPr kumimoji="1" lang="ja-JP" altLang="en-US" sz="1400" dirty="0">
                <a:solidFill>
                  <a:schemeClr val="bg1"/>
                </a:solidFill>
                <a:latin typeface="+mn-ea"/>
              </a:endParaRPr>
            </a:p>
          </p:txBody>
        </p:sp>
        <p:pic>
          <p:nvPicPr>
            <p:cNvPr id="108" name="グラフィックス 107" descr="中世の甲冑 単色塗りつぶし">
              <a:extLst>
                <a:ext uri="{FF2B5EF4-FFF2-40B4-BE49-F238E27FC236}">
                  <a16:creationId xmlns:a16="http://schemas.microsoft.com/office/drawing/2014/main" id="{8F7161FF-D0B9-AC29-CF66-4F240430C15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497038" y="5948725"/>
              <a:ext cx="360000" cy="360000"/>
            </a:xfrm>
            <a:prstGeom prst="rect">
              <a:avLst/>
            </a:prstGeom>
          </p:spPr>
        </p:pic>
        <p:sp>
          <p:nvSpPr>
            <p:cNvPr id="16" name="background">
              <a:extLst>
                <a:ext uri="{FF2B5EF4-FFF2-40B4-BE49-F238E27FC236}">
                  <a16:creationId xmlns:a16="http://schemas.microsoft.com/office/drawing/2014/main" id="{0CCE175C-C338-B319-0446-59D242859DC8}"/>
                </a:ext>
              </a:extLst>
            </p:cNvPr>
            <p:cNvSpPr>
              <a:spLocks noChangeAspect="1"/>
            </p:cNvSpPr>
            <p:nvPr>
              <p:custDataLst>
                <p:tags r:id="rId1"/>
              </p:custDataLst>
            </p:nvPr>
          </p:nvSpPr>
          <p:spPr>
            <a:xfrm>
              <a:off x="3428953" y="2852954"/>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18" name="グラフィックス 17" descr="マネジメント 単色塗りつぶし">
              <a:extLst>
                <a:ext uri="{FF2B5EF4-FFF2-40B4-BE49-F238E27FC236}">
                  <a16:creationId xmlns:a16="http://schemas.microsoft.com/office/drawing/2014/main" id="{BED9AD71-8A75-D505-454B-1A2F506700C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302953" y="3181482"/>
              <a:ext cx="504000" cy="504000"/>
            </a:xfrm>
            <a:prstGeom prst="rect">
              <a:avLst/>
            </a:prstGeom>
          </p:spPr>
        </p:pic>
        <p:sp>
          <p:nvSpPr>
            <p:cNvPr id="20" name="background">
              <a:extLst>
                <a:ext uri="{FF2B5EF4-FFF2-40B4-BE49-F238E27FC236}">
                  <a16:creationId xmlns:a16="http://schemas.microsoft.com/office/drawing/2014/main" id="{8BE0457B-A56E-55D2-85FB-FE1087A5D9C2}"/>
                </a:ext>
              </a:extLst>
            </p:cNvPr>
            <p:cNvSpPr>
              <a:spLocks noChangeAspect="1"/>
            </p:cNvSpPr>
            <p:nvPr>
              <p:custDataLst>
                <p:tags r:id="rId2"/>
              </p:custDataLst>
            </p:nvPr>
          </p:nvSpPr>
          <p:spPr>
            <a:xfrm>
              <a:off x="3428953" y="4111108"/>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28" name="グラフィックス 27" descr="ブリーフケース 単色塗りつぶし">
              <a:extLst>
                <a:ext uri="{FF2B5EF4-FFF2-40B4-BE49-F238E27FC236}">
                  <a16:creationId xmlns:a16="http://schemas.microsoft.com/office/drawing/2014/main" id="{799A438A-3965-ADF8-7C87-04ECA0AFF22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302953" y="4433615"/>
              <a:ext cx="504000" cy="504000"/>
            </a:xfrm>
            <a:prstGeom prst="rect">
              <a:avLst/>
            </a:prstGeom>
          </p:spPr>
        </p:pic>
        <p:sp>
          <p:nvSpPr>
            <p:cNvPr id="33" name="background">
              <a:extLst>
                <a:ext uri="{FF2B5EF4-FFF2-40B4-BE49-F238E27FC236}">
                  <a16:creationId xmlns:a16="http://schemas.microsoft.com/office/drawing/2014/main" id="{0CDBD66A-FC8E-C302-5C8B-740E0EE5038D}"/>
                </a:ext>
              </a:extLst>
            </p:cNvPr>
            <p:cNvSpPr>
              <a:spLocks noChangeAspect="1"/>
            </p:cNvSpPr>
            <p:nvPr>
              <p:custDataLst>
                <p:tags r:id="rId3"/>
              </p:custDataLst>
            </p:nvPr>
          </p:nvSpPr>
          <p:spPr>
            <a:xfrm>
              <a:off x="3428953" y="5282981"/>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39" name="グラフィックス 38" descr="混乱した人 単色塗りつぶし">
              <a:extLst>
                <a:ext uri="{FF2B5EF4-FFF2-40B4-BE49-F238E27FC236}">
                  <a16:creationId xmlns:a16="http://schemas.microsoft.com/office/drawing/2014/main" id="{E5C02EF5-7B1E-4BA4-A63D-28A0BBD46E7D}"/>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3302953" y="5672719"/>
              <a:ext cx="504000" cy="504000"/>
            </a:xfrm>
            <a:prstGeom prst="rect">
              <a:avLst/>
            </a:prstGeom>
          </p:spPr>
        </p:pic>
        <p:grpSp>
          <p:nvGrpSpPr>
            <p:cNvPr id="42" name="グループ化 41">
              <a:extLst>
                <a:ext uri="{FF2B5EF4-FFF2-40B4-BE49-F238E27FC236}">
                  <a16:creationId xmlns:a16="http://schemas.microsoft.com/office/drawing/2014/main" id="{EEF3D26F-B2E4-F1CE-F76B-CD3D510E9ECB}"/>
                </a:ext>
              </a:extLst>
            </p:cNvPr>
            <p:cNvGrpSpPr/>
            <p:nvPr/>
          </p:nvGrpSpPr>
          <p:grpSpPr>
            <a:xfrm>
              <a:off x="9532620" y="1628775"/>
              <a:ext cx="2326322" cy="596265"/>
              <a:chOff x="8737600" y="1628775"/>
              <a:chExt cx="3119438" cy="596265"/>
            </a:xfrm>
          </p:grpSpPr>
          <p:sp>
            <p:nvSpPr>
              <p:cNvPr id="45" name="正方形/長方形 44">
                <a:extLst>
                  <a:ext uri="{FF2B5EF4-FFF2-40B4-BE49-F238E27FC236}">
                    <a16:creationId xmlns:a16="http://schemas.microsoft.com/office/drawing/2014/main" id="{23188CFF-2DD4-DD82-89B3-B5FE2B4092AE}"/>
                  </a:ext>
                </a:extLst>
              </p:cNvPr>
              <p:cNvSpPr/>
              <p:nvPr/>
            </p:nvSpPr>
            <p:spPr>
              <a:xfrm>
                <a:off x="8737600" y="1761897"/>
                <a:ext cx="3119438" cy="463143"/>
              </a:xfrm>
              <a:prstGeom prst="rect">
                <a:avLst/>
              </a:prstGeom>
              <a:no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47" name="グループ化 46">
                <a:extLst>
                  <a:ext uri="{FF2B5EF4-FFF2-40B4-BE49-F238E27FC236}">
                    <a16:creationId xmlns:a16="http://schemas.microsoft.com/office/drawing/2014/main" id="{68ABDFE9-7F81-2C04-EF02-7895F7DD0D05}"/>
                  </a:ext>
                </a:extLst>
              </p:cNvPr>
              <p:cNvGrpSpPr/>
              <p:nvPr/>
            </p:nvGrpSpPr>
            <p:grpSpPr>
              <a:xfrm>
                <a:off x="8909993" y="1628775"/>
                <a:ext cx="2780280" cy="549045"/>
                <a:chOff x="8909993" y="1628775"/>
                <a:chExt cx="2780280" cy="549045"/>
              </a:xfrm>
            </p:grpSpPr>
            <p:sp>
              <p:nvSpPr>
                <p:cNvPr id="48" name="正方形/長方形 47">
                  <a:extLst>
                    <a:ext uri="{FF2B5EF4-FFF2-40B4-BE49-F238E27FC236}">
                      <a16:creationId xmlns:a16="http://schemas.microsoft.com/office/drawing/2014/main" id="{46E57BDD-EC05-09CF-3AA9-804EF437E55A}"/>
                    </a:ext>
                  </a:extLst>
                </p:cNvPr>
                <p:cNvSpPr/>
                <p:nvPr/>
              </p:nvSpPr>
              <p:spPr>
                <a:xfrm>
                  <a:off x="9008533" y="1628775"/>
                  <a:ext cx="1803301" cy="281191"/>
                </a:xfrm>
                <a:prstGeom prst="rect">
                  <a:avLst/>
                </a:prstGeom>
                <a:solidFill>
                  <a:schemeClr val="bg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n-ea"/>
                    </a:rPr>
                    <a:t>真因へのつながり</a:t>
                  </a:r>
                </a:p>
              </p:txBody>
            </p:sp>
            <p:grpSp>
              <p:nvGrpSpPr>
                <p:cNvPr id="49" name="グループ化 48">
                  <a:extLst>
                    <a:ext uri="{FF2B5EF4-FFF2-40B4-BE49-F238E27FC236}">
                      <a16:creationId xmlns:a16="http://schemas.microsoft.com/office/drawing/2014/main" id="{D0ABEE52-A61E-CBFC-F627-8AB4BAE2EBA6}"/>
                    </a:ext>
                  </a:extLst>
                </p:cNvPr>
                <p:cNvGrpSpPr/>
                <p:nvPr/>
              </p:nvGrpSpPr>
              <p:grpSpPr>
                <a:xfrm>
                  <a:off x="8909993" y="1896629"/>
                  <a:ext cx="2780280" cy="281191"/>
                  <a:chOff x="9008533" y="1953846"/>
                  <a:chExt cx="2780280" cy="281191"/>
                </a:xfrm>
              </p:grpSpPr>
              <p:grpSp>
                <p:nvGrpSpPr>
                  <p:cNvPr id="52" name="グループ化 51">
                    <a:extLst>
                      <a:ext uri="{FF2B5EF4-FFF2-40B4-BE49-F238E27FC236}">
                        <a16:creationId xmlns:a16="http://schemas.microsoft.com/office/drawing/2014/main" id="{5DE6F6DB-E9FB-2A81-7A7C-38D26A2C72FF}"/>
                      </a:ext>
                    </a:extLst>
                  </p:cNvPr>
                  <p:cNvGrpSpPr/>
                  <p:nvPr/>
                </p:nvGrpSpPr>
                <p:grpSpPr>
                  <a:xfrm>
                    <a:off x="9008533" y="1953846"/>
                    <a:ext cx="1360289" cy="281191"/>
                    <a:chOff x="9008533" y="1953846"/>
                    <a:chExt cx="1360289" cy="281191"/>
                  </a:xfrm>
                </p:grpSpPr>
                <p:sp>
                  <p:nvSpPr>
                    <p:cNvPr id="58" name="正方形/長方形 57">
                      <a:extLst>
                        <a:ext uri="{FF2B5EF4-FFF2-40B4-BE49-F238E27FC236}">
                          <a16:creationId xmlns:a16="http://schemas.microsoft.com/office/drawing/2014/main" id="{813E1BB4-6093-986C-7F55-8215B539B0F0}"/>
                        </a:ext>
                      </a:extLst>
                    </p:cNvPr>
                    <p:cNvSpPr/>
                    <p:nvPr/>
                  </p:nvSpPr>
                  <p:spPr>
                    <a:xfrm>
                      <a:off x="9755634" y="1953846"/>
                      <a:ext cx="613188" cy="28119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主</a:t>
                      </a:r>
                    </a:p>
                  </p:txBody>
                </p:sp>
                <p:cxnSp>
                  <p:nvCxnSpPr>
                    <p:cNvPr id="59" name="直線矢印コネクタ 58">
                      <a:extLst>
                        <a:ext uri="{FF2B5EF4-FFF2-40B4-BE49-F238E27FC236}">
                          <a16:creationId xmlns:a16="http://schemas.microsoft.com/office/drawing/2014/main" id="{1C11176F-2390-8AE8-466A-9CDAD52DB9C6}"/>
                        </a:ext>
                      </a:extLst>
                    </p:cNvPr>
                    <p:cNvCxnSpPr>
                      <a:cxnSpLocks/>
                    </p:cNvCxnSpPr>
                    <p:nvPr/>
                  </p:nvCxnSpPr>
                  <p:spPr>
                    <a:xfrm flipH="1">
                      <a:off x="9008533" y="2099733"/>
                      <a:ext cx="423333" cy="0"/>
                    </a:xfrm>
                    <a:prstGeom prst="straightConnector1">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53" name="グループ化 52">
                    <a:extLst>
                      <a:ext uri="{FF2B5EF4-FFF2-40B4-BE49-F238E27FC236}">
                        <a16:creationId xmlns:a16="http://schemas.microsoft.com/office/drawing/2014/main" id="{A628F9FC-8781-7347-3C02-E84773E100F3}"/>
                      </a:ext>
                    </a:extLst>
                  </p:cNvPr>
                  <p:cNvGrpSpPr/>
                  <p:nvPr/>
                </p:nvGrpSpPr>
                <p:grpSpPr>
                  <a:xfrm>
                    <a:off x="10530699" y="1953846"/>
                    <a:ext cx="1258114" cy="281191"/>
                    <a:chOff x="10953485" y="1953846"/>
                    <a:chExt cx="1258114" cy="281191"/>
                  </a:xfrm>
                </p:grpSpPr>
                <p:sp>
                  <p:nvSpPr>
                    <p:cNvPr id="55" name="正方形/長方形 54">
                      <a:extLst>
                        <a:ext uri="{FF2B5EF4-FFF2-40B4-BE49-F238E27FC236}">
                          <a16:creationId xmlns:a16="http://schemas.microsoft.com/office/drawing/2014/main" id="{29EA6E44-6B94-B24F-BC33-1CB891E1D934}"/>
                        </a:ext>
                      </a:extLst>
                    </p:cNvPr>
                    <p:cNvSpPr/>
                    <p:nvPr/>
                  </p:nvSpPr>
                  <p:spPr>
                    <a:xfrm>
                      <a:off x="11598409" y="1953846"/>
                      <a:ext cx="613190" cy="28119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latin typeface="+mn-ea"/>
                        </a:rPr>
                        <a:t>副</a:t>
                      </a:r>
                    </a:p>
                  </p:txBody>
                </p:sp>
                <p:cxnSp>
                  <p:nvCxnSpPr>
                    <p:cNvPr id="56" name="直線矢印コネクタ 55">
                      <a:extLst>
                        <a:ext uri="{FF2B5EF4-FFF2-40B4-BE49-F238E27FC236}">
                          <a16:creationId xmlns:a16="http://schemas.microsoft.com/office/drawing/2014/main" id="{2723A8F6-4A30-CDC3-D28A-DE142689872E}"/>
                        </a:ext>
                      </a:extLst>
                    </p:cNvPr>
                    <p:cNvCxnSpPr>
                      <a:cxnSpLocks/>
                    </p:cNvCxnSpPr>
                    <p:nvPr/>
                  </p:nvCxnSpPr>
                  <p:spPr>
                    <a:xfrm flipH="1">
                      <a:off x="10953485" y="2094442"/>
                      <a:ext cx="423333" cy="0"/>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grpSp>
        </p:grpSp>
        <p:grpSp>
          <p:nvGrpSpPr>
            <p:cNvPr id="123" name="グループ化 122">
              <a:extLst>
                <a:ext uri="{FF2B5EF4-FFF2-40B4-BE49-F238E27FC236}">
                  <a16:creationId xmlns:a16="http://schemas.microsoft.com/office/drawing/2014/main" id="{67EC6E40-B416-0E9B-D458-D2AC13C5B3F2}"/>
                </a:ext>
              </a:extLst>
            </p:cNvPr>
            <p:cNvGrpSpPr/>
            <p:nvPr/>
          </p:nvGrpSpPr>
          <p:grpSpPr>
            <a:xfrm>
              <a:off x="2368762" y="3267441"/>
              <a:ext cx="866727" cy="2455348"/>
              <a:chOff x="2368762" y="3267441"/>
              <a:chExt cx="866727" cy="2455348"/>
            </a:xfrm>
          </p:grpSpPr>
          <p:cxnSp>
            <p:nvCxnSpPr>
              <p:cNvPr id="62" name="コネクタ: カギ線 61">
                <a:extLst>
                  <a:ext uri="{FF2B5EF4-FFF2-40B4-BE49-F238E27FC236}">
                    <a16:creationId xmlns:a16="http://schemas.microsoft.com/office/drawing/2014/main" id="{963E3A35-90CC-52AA-BB74-356C5D7D200C}"/>
                  </a:ext>
                </a:extLst>
              </p:cNvPr>
              <p:cNvCxnSpPr>
                <a:cxnSpLocks/>
                <a:stCxn id="10" idx="3"/>
                <a:endCxn id="44" idx="1"/>
              </p:cNvCxnSpPr>
              <p:nvPr/>
            </p:nvCxnSpPr>
            <p:spPr>
              <a:xfrm>
                <a:off x="2370667" y="3533089"/>
                <a:ext cx="864822" cy="2189700"/>
              </a:xfrm>
              <a:prstGeom prst="bentConnector3">
                <a:avLst>
                  <a:gd name="adj1" fmla="val 50000"/>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5" name="直線矢印コネクタ 64">
                <a:extLst>
                  <a:ext uri="{FF2B5EF4-FFF2-40B4-BE49-F238E27FC236}">
                    <a16:creationId xmlns:a16="http://schemas.microsoft.com/office/drawing/2014/main" id="{40EB64DA-4990-8DB6-6541-AAD5724310C7}"/>
                  </a:ext>
                </a:extLst>
              </p:cNvPr>
              <p:cNvCxnSpPr>
                <a:cxnSpLocks/>
              </p:cNvCxnSpPr>
              <p:nvPr/>
            </p:nvCxnSpPr>
            <p:spPr>
              <a:xfrm>
                <a:off x="2370667" y="3428948"/>
                <a:ext cx="864822" cy="0"/>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9" name="コネクタ: カギ線 78">
                <a:extLst>
                  <a:ext uri="{FF2B5EF4-FFF2-40B4-BE49-F238E27FC236}">
                    <a16:creationId xmlns:a16="http://schemas.microsoft.com/office/drawing/2014/main" id="{013861CE-3E6A-E9DC-CDA8-294DF0F6BBB9}"/>
                  </a:ext>
                </a:extLst>
              </p:cNvPr>
              <p:cNvCxnSpPr>
                <a:cxnSpLocks/>
                <a:stCxn id="14" idx="3"/>
                <a:endCxn id="22" idx="1"/>
              </p:cNvCxnSpPr>
              <p:nvPr/>
            </p:nvCxnSpPr>
            <p:spPr>
              <a:xfrm flipV="1">
                <a:off x="2370667" y="3267441"/>
                <a:ext cx="864822" cy="2189700"/>
              </a:xfrm>
              <a:prstGeom prst="bentConnector3">
                <a:avLst>
                  <a:gd name="adj1" fmla="val 24154"/>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3" name="コネクタ: カギ線 82">
                <a:extLst>
                  <a:ext uri="{FF2B5EF4-FFF2-40B4-BE49-F238E27FC236}">
                    <a16:creationId xmlns:a16="http://schemas.microsoft.com/office/drawing/2014/main" id="{955E7D6C-8EB4-23D5-CEFE-EA5C18A3DA38}"/>
                  </a:ext>
                </a:extLst>
              </p:cNvPr>
              <p:cNvCxnSpPr>
                <a:cxnSpLocks/>
                <a:endCxn id="43" idx="1"/>
              </p:cNvCxnSpPr>
              <p:nvPr/>
            </p:nvCxnSpPr>
            <p:spPr>
              <a:xfrm flipV="1">
                <a:off x="2368762" y="4495115"/>
                <a:ext cx="866727" cy="1093866"/>
              </a:xfrm>
              <a:prstGeom prst="bentConnector3">
                <a:avLst>
                  <a:gd name="adj1" fmla="val 36519"/>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8" name="円弧 117">
                <a:extLst>
                  <a:ext uri="{FF2B5EF4-FFF2-40B4-BE49-F238E27FC236}">
                    <a16:creationId xmlns:a16="http://schemas.microsoft.com/office/drawing/2014/main" id="{8A682081-E8FA-2BFA-DDBD-EC920C7B1E90}"/>
                  </a:ext>
                </a:extLst>
              </p:cNvPr>
              <p:cNvSpPr/>
              <p:nvPr/>
            </p:nvSpPr>
            <p:spPr>
              <a:xfrm>
                <a:off x="2747752" y="4448855"/>
                <a:ext cx="108745" cy="105917"/>
              </a:xfrm>
              <a:prstGeom prst="arc">
                <a:avLst>
                  <a:gd name="adj1" fmla="val 10862459"/>
                  <a:gd name="adj2" fmla="val 0"/>
                </a:avLst>
              </a:prstGeom>
              <a:solidFill>
                <a:schemeClr val="bg1"/>
              </a:solidFill>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sp>
            <p:nvSpPr>
              <p:cNvPr id="119" name="円弧 118">
                <a:extLst>
                  <a:ext uri="{FF2B5EF4-FFF2-40B4-BE49-F238E27FC236}">
                    <a16:creationId xmlns:a16="http://schemas.microsoft.com/office/drawing/2014/main" id="{2E8FDDAC-E9CD-FF5B-2074-4194CCC6009D}"/>
                  </a:ext>
                </a:extLst>
              </p:cNvPr>
              <p:cNvSpPr/>
              <p:nvPr/>
            </p:nvSpPr>
            <p:spPr>
              <a:xfrm>
                <a:off x="2521692" y="3487663"/>
                <a:ext cx="108745" cy="105917"/>
              </a:xfrm>
              <a:prstGeom prst="arc">
                <a:avLst>
                  <a:gd name="adj1" fmla="val 10862459"/>
                  <a:gd name="adj2" fmla="val 0"/>
                </a:avLst>
              </a:prstGeom>
              <a:solidFill>
                <a:schemeClr val="bg1"/>
              </a:solidFill>
              <a:ln w="9525">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sp>
            <p:nvSpPr>
              <p:cNvPr id="120" name="円弧 119">
                <a:extLst>
                  <a:ext uri="{FF2B5EF4-FFF2-40B4-BE49-F238E27FC236}">
                    <a16:creationId xmlns:a16="http://schemas.microsoft.com/office/drawing/2014/main" id="{D7C0E8B2-9AC6-D7A0-5AE0-EEB93EE12B64}"/>
                  </a:ext>
                </a:extLst>
              </p:cNvPr>
              <p:cNvSpPr/>
              <p:nvPr/>
            </p:nvSpPr>
            <p:spPr>
              <a:xfrm>
                <a:off x="2521692" y="3381389"/>
                <a:ext cx="108745" cy="105917"/>
              </a:xfrm>
              <a:prstGeom prst="arc">
                <a:avLst>
                  <a:gd name="adj1" fmla="val 10862459"/>
                  <a:gd name="adj2" fmla="val 0"/>
                </a:avLst>
              </a:prstGeom>
              <a:solidFill>
                <a:schemeClr val="bg1"/>
              </a:solidFill>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grpSp>
        <p:grpSp>
          <p:nvGrpSpPr>
            <p:cNvPr id="122" name="グループ化 121">
              <a:extLst>
                <a:ext uri="{FF2B5EF4-FFF2-40B4-BE49-F238E27FC236}">
                  <a16:creationId xmlns:a16="http://schemas.microsoft.com/office/drawing/2014/main" id="{E5FDE108-6BF1-3BE0-99FA-EE38BEEA2A99}"/>
                </a:ext>
              </a:extLst>
            </p:cNvPr>
            <p:cNvGrpSpPr/>
            <p:nvPr/>
          </p:nvGrpSpPr>
          <p:grpSpPr>
            <a:xfrm>
              <a:off x="8954210" y="3368496"/>
              <a:ext cx="865228" cy="2647261"/>
              <a:chOff x="8954210" y="3368496"/>
              <a:chExt cx="865228" cy="2647261"/>
            </a:xfrm>
          </p:grpSpPr>
          <p:cxnSp>
            <p:nvCxnSpPr>
              <p:cNvPr id="69" name="コネクタ: カギ線 68">
                <a:extLst>
                  <a:ext uri="{FF2B5EF4-FFF2-40B4-BE49-F238E27FC236}">
                    <a16:creationId xmlns:a16="http://schemas.microsoft.com/office/drawing/2014/main" id="{E1B3F07A-A3A0-C827-2DE8-D4843009CD89}"/>
                  </a:ext>
                </a:extLst>
              </p:cNvPr>
              <p:cNvCxnSpPr>
                <a:cxnSpLocks/>
                <a:stCxn id="24" idx="1"/>
                <a:endCxn id="44" idx="3"/>
              </p:cNvCxnSpPr>
              <p:nvPr/>
            </p:nvCxnSpPr>
            <p:spPr>
              <a:xfrm rot="10800000" flipV="1">
                <a:off x="8954616" y="3533089"/>
                <a:ext cx="864822" cy="2189700"/>
              </a:xfrm>
              <a:prstGeom prst="bentConnector3">
                <a:avLst>
                  <a:gd name="adj1" fmla="val 50000"/>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0" name="直線矢印コネクタ 69">
                <a:extLst>
                  <a:ext uri="{FF2B5EF4-FFF2-40B4-BE49-F238E27FC236}">
                    <a16:creationId xmlns:a16="http://schemas.microsoft.com/office/drawing/2014/main" id="{DC77EBE0-E3D3-124D-A4E1-59A5C3A3CA04}"/>
                  </a:ext>
                </a:extLst>
              </p:cNvPr>
              <p:cNvCxnSpPr>
                <a:cxnSpLocks/>
              </p:cNvCxnSpPr>
              <p:nvPr/>
            </p:nvCxnSpPr>
            <p:spPr>
              <a:xfrm flipH="1" flipV="1">
                <a:off x="8954616" y="3368496"/>
                <a:ext cx="864822" cy="1"/>
              </a:xfrm>
              <a:prstGeom prst="straightConnector1">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5" name="コネクタ: カギ線 104">
                <a:extLst>
                  <a:ext uri="{FF2B5EF4-FFF2-40B4-BE49-F238E27FC236}">
                    <a16:creationId xmlns:a16="http://schemas.microsoft.com/office/drawing/2014/main" id="{0C406B83-4C0A-419C-4D66-5F6FFD807453}"/>
                  </a:ext>
                </a:extLst>
              </p:cNvPr>
              <p:cNvCxnSpPr>
                <a:cxnSpLocks/>
                <a:stCxn id="25" idx="1"/>
                <a:endCxn id="43" idx="3"/>
              </p:cNvCxnSpPr>
              <p:nvPr/>
            </p:nvCxnSpPr>
            <p:spPr>
              <a:xfrm rot="10800000">
                <a:off x="8954616" y="4495115"/>
                <a:ext cx="864822" cy="962026"/>
              </a:xfrm>
              <a:prstGeom prst="bentConnector3">
                <a:avLst>
                  <a:gd name="adj1" fmla="val 20923"/>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7" name="直線矢印コネクタ 116">
                <a:extLst>
                  <a:ext uri="{FF2B5EF4-FFF2-40B4-BE49-F238E27FC236}">
                    <a16:creationId xmlns:a16="http://schemas.microsoft.com/office/drawing/2014/main" id="{68AE1082-24CA-B45C-14D9-57B976BCBB6C}"/>
                  </a:ext>
                </a:extLst>
              </p:cNvPr>
              <p:cNvCxnSpPr>
                <a:cxnSpLocks/>
              </p:cNvCxnSpPr>
              <p:nvPr/>
            </p:nvCxnSpPr>
            <p:spPr>
              <a:xfrm flipH="1" flipV="1">
                <a:off x="8954210" y="6015756"/>
                <a:ext cx="864822" cy="1"/>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1" name="円弧 120">
                <a:extLst>
                  <a:ext uri="{FF2B5EF4-FFF2-40B4-BE49-F238E27FC236}">
                    <a16:creationId xmlns:a16="http://schemas.microsoft.com/office/drawing/2014/main" id="{0FCC7E6B-F2F6-AA79-9722-B88B67183405}"/>
                  </a:ext>
                </a:extLst>
              </p:cNvPr>
              <p:cNvSpPr/>
              <p:nvPr/>
            </p:nvSpPr>
            <p:spPr>
              <a:xfrm>
                <a:off x="9332194" y="4448773"/>
                <a:ext cx="108745" cy="105917"/>
              </a:xfrm>
              <a:prstGeom prst="arc">
                <a:avLst>
                  <a:gd name="adj1" fmla="val 10862459"/>
                  <a:gd name="adj2" fmla="val 0"/>
                </a:avLst>
              </a:prstGeom>
              <a:solidFill>
                <a:schemeClr val="bg1"/>
              </a:solidFill>
              <a:ln w="9525">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grpSp>
      </p:grpSp>
      <p:sp>
        <p:nvSpPr>
          <p:cNvPr id="3" name="正方形/長方形 2">
            <a:extLst>
              <a:ext uri="{FF2B5EF4-FFF2-40B4-BE49-F238E27FC236}">
                <a16:creationId xmlns:a16="http://schemas.microsoft.com/office/drawing/2014/main" id="{B5A81557-3D7B-42CA-D637-C3F7E41A32D5}"/>
              </a:ext>
            </a:extLst>
          </p:cNvPr>
          <p:cNvSpPr/>
          <p:nvPr/>
        </p:nvSpPr>
        <p:spPr>
          <a:xfrm>
            <a:off x="12602892" y="4806291"/>
            <a:ext cx="3250773" cy="549520"/>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85750" indent="-285750">
              <a:buFont typeface="Arial" panose="020B0604020202020204" pitchFamily="34" charset="0"/>
              <a:buChar char="•"/>
            </a:pPr>
            <a:r>
              <a:rPr kumimoji="1" lang="en-US" altLang="ja-JP" sz="1400" dirty="0">
                <a:solidFill>
                  <a:schemeClr val="tx1"/>
                </a:solidFill>
                <a:latin typeface="Meiryo UI" panose="020B0604030504040204" pitchFamily="50" charset="-128"/>
                <a:ea typeface="Meiryo UI" panose="020B0604030504040204" pitchFamily="50" charset="-128"/>
              </a:rPr>
              <a:t/>
            </a:r>
            <a:r>
              <a:rPr lang="ja-JP" altLang="en-US" sz="1400" dirty="0">
                <a:solidFill>
                  <a:schemeClr val="tx1"/>
                </a:solidFill>
                <a:latin typeface="Meiryo UI" panose="020B0604030504040204" pitchFamily="50" charset="-128"/>
                <a:ea typeface="Meiryo UI" panose="020B0604030504040204" pitchFamily="50" charset="-128"/>
              </a:rPr>
              <a:t>※ 詳細な施策・体制・時間割・KPIは別冊「経営テーマ起点 実行構想」に展開</a:t>
            </a:r>
            <a:endParaRPr lang="en-US" altLang="ja-JP" sz="14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394553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安売りの消耗戦から完全に脱却し、デジタルと自社の強みを活かして小売のデータ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で解決するパートナーへとビジネス構造を転換すること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健康スコア」をクリアした自動補充のホワイトリストを独占する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8686800" cy="457200"/>
          </a:xfrm>
          <a:prstGeom prst="rect">
            <a:avLst/>
          </a:prstGeom>
          <a:noFill/>
        </p:spPr>
        <p:txBody>
          <a:bodyPr wrap="square" lIns="0" rIns="0" t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68096"/>
            <a:ext cx="274320" cy="274320"/>
          </a:xfrm>
          <a:prstGeom prst="rect">
            <a:avLst/>
          </a:prstGeom>
          <a:noFill/>
        </p:spPr>
        <p:txBody>
          <a:bodyPr wrap="square" lIns="0" rIns="0" t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rIns="0" tIns="0" bIns="0">
            <a:spAutoFit/>
          </a:bodyPr>
          <a:lstStyle/>
          <a:p>
            <a:pPr>
              <a:lnSpc>
                <a:spcPct val="120000"/>
              </a:lnSpc>
            </a:pPr>
            <a:r>
              <a:rPr sz="1250" b="1">
                <a:solidFill>
                  <a:srgbClr val="262626"/>
                </a:solidFill>
                <a:latin typeface="Meiryo UI"/>
                <a:ea typeface="Meiryo UI"/>
              </a:rPr>
              <a:t>3つの真因のうち、最初の一歩はお金のかからない「落とす」＝中計が決めたことの現場への翻訳。次回デジタル戦略会議では決めることを3つに絞って諮る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636776"/>
            <a:ext cx="5303520" cy="320040"/>
          </a:xfrm>
          <a:prstGeom prst="rect">
            <a:avLst/>
          </a:prstGeom>
          <a:noFill/>
        </p:spPr>
        <p:txBody>
          <a:bodyPr wrap="square" lIns="0" rIns="0" tIns="0" bIns="0">
            <a:spAutoFit/>
          </a:bodyPr>
          <a:lstStyle/>
          <a:p>
            <a:pPr>
              <a:lnSpc>
                <a:spcPct val="115000"/>
              </a:lnSpc>
            </a:pPr>
            <a:r>
              <a:rPr sz="1150" b="1">
                <a:solidFill>
                  <a:srgbClr val="FFFFFF"/>
                </a:solidFill>
                <a:latin typeface="Meiryo UI"/>
                <a:ea typeface="Meiryo UI"/>
              </a:rPr>
              <a:t>解決3「回路を作る」の運営原則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176272"/>
            <a:ext cx="5303520" cy="274320"/>
          </a:xfrm>
          <a:prstGeom prst="rect">
            <a:avLst/>
          </a:prstGeom>
          <a:noFill/>
        </p:spPr>
        <p:txBody>
          <a:bodyPr wrap="square" lIns="0" rIns="0" t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456432"/>
            <a:ext cx="5303520" cy="274320"/>
          </a:xfrm>
          <a:prstGeom prst="rect">
            <a:avLst/>
          </a:prstGeom>
          <a:noFill/>
        </p:spPr>
        <p:txBody>
          <a:bodyPr wrap="square" lIns="0" rIns="0" t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736592"/>
            <a:ext cx="5303520" cy="274320"/>
          </a:xfrm>
          <a:prstGeom prst="rect">
            <a:avLst/>
          </a:prstGeom>
          <a:noFill/>
        </p:spPr>
        <p:txBody>
          <a:bodyPr wrap="square" lIns="0" rIns="0" t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1636776"/>
            <a:ext cx="5303520" cy="320040"/>
          </a:xfrm>
          <a:prstGeom prst="rect">
            <a:avLst/>
          </a:prstGeom>
          <a:noFill/>
        </p:spPr>
        <p:txBody>
          <a:bodyPr wrap="square" lIns="0" rIns="0" tIns="0" bIns="0">
            <a:spAutoFit/>
          </a:bodyPr>
          <a:lstStyle/>
          <a:p>
            <a:pPr>
              <a:lnSpc>
                <a:spcPct val="115000"/>
              </a:lnSpc>
            </a:pPr>
            <a:r>
              <a:rPr sz="1150" b="1">
                <a:solidFill>
                  <a:srgbClr val="FFFFFF"/>
                </a:solidFill>
                <a:latin typeface="Meiryo UI"/>
                <a:ea typeface="Meiryo UI"/>
              </a:rPr>
              <a:t>次回デジタル戦略会議で決めること（3つ）＝解決1「落とす」の起動</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2176272"/>
            <a:ext cx="5303520" cy="2743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3456432"/>
            <a:ext cx="5303520" cy="2743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4736592"/>
            <a:ext cx="5303520" cy="2743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6163056"/>
            <a:ext cx="11155680" cy="365760"/>
          </a:xfrm>
          <a:prstGeom prst="rect">
            <a:avLst/>
          </a:prstGeom>
          <a:noFill/>
        </p:spPr>
        <p:txBody>
          <a:bodyPr wrap="square" lIns="0" rIns="0" t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ギャップから真因へ ― 4つのギャップは、3つの真因で説明できる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前頁の4つのギャップから演繹する。中計（Vision2030 2nd STAGE）はオーラルヘルスケア最重点を決定済み ― 問題は「落ちていない・持っていない・回っていない」の3つ ― ●＝主要因、○＝副次要因</a:t>
            </a:r>
          </a:p>
        </p:txBody>
      </p:sp>
      <p:sp>
        <p:nvSpPr>
          <p:cNvPr id="14" name="Rectangle 13"/>
          <p:cNvSpPr/>
          <p:nvPr/>
        </p:nvSpPr>
        <p:spPr>
          <a:xfrm>
            <a:off x="320040" y="1463040"/>
            <a:ext cx="356616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1499616"/>
            <a:ext cx="3383280" cy="256032"/>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ギャップ（前頁の要約）</a:t>
            </a:r>
          </a:p>
        </p:txBody>
      </p:sp>
      <p:sp>
        <p:nvSpPr>
          <p:cNvPr id="16" name="Rectangle 15"/>
          <p:cNvSpPr/>
          <p:nvPr/>
        </p:nvSpPr>
        <p:spPr>
          <a:xfrm>
            <a:off x="3922776" y="1463040"/>
            <a:ext cx="5486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41063" y="1472184"/>
            <a:ext cx="512064" cy="292608"/>
          </a:xfrm>
          <a:prstGeom prst="rect">
            <a:avLst/>
          </a:prstGeom>
          <a:noFill/>
        </p:spPr>
        <p:txBody>
          <a:bodyPr wrap="square" lIns="0" rIns="0" tIns="0" bIns="0">
            <a:spAutoFit/>
          </a:bodyPr>
          <a:lstStyle/>
          <a:p>
            <a:pPr>
              <a:lnSpc>
                <a:spcPct val="95000"/>
              </a:lnSpc>
            </a:pPr>
            <a:r>
              <a:rPr sz="620" b="1">
                <a:solidFill>
                  <a:srgbClr val="FFFFFF"/>
                </a:solidFill>
                <a:latin typeface="Meiryo UI"/>
                <a:ea typeface="Meiryo UI"/>
              </a:rPr>
              <a:t>真因1
落とす</a:t>
            </a:r>
          </a:p>
        </p:txBody>
      </p:sp>
      <p:sp>
        <p:nvSpPr>
          <p:cNvPr id="18" name="Rectangle 17"/>
          <p:cNvSpPr/>
          <p:nvPr/>
        </p:nvSpPr>
        <p:spPr>
          <a:xfrm>
            <a:off x="4489704" y="1463040"/>
            <a:ext cx="5486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07992" y="1472184"/>
            <a:ext cx="512064" cy="292608"/>
          </a:xfrm>
          <a:prstGeom prst="rect">
            <a:avLst/>
          </a:prstGeom>
          <a:noFill/>
        </p:spPr>
        <p:txBody>
          <a:bodyPr wrap="square" lIns="0" rIns="0" tIns="0" bIns="0">
            <a:spAutoFit/>
          </a:bodyPr>
          <a:lstStyle/>
          <a:p>
            <a:pPr>
              <a:lnSpc>
                <a:spcPct val="95000"/>
              </a:lnSpc>
            </a:pPr>
            <a:r>
              <a:rPr sz="620" b="1">
                <a:solidFill>
                  <a:srgbClr val="FFFFFF"/>
                </a:solidFill>
                <a:latin typeface="Meiryo UI"/>
                <a:ea typeface="Meiryo UI"/>
              </a:rPr>
              <a:t>真因2
持つ</a:t>
            </a:r>
          </a:p>
        </p:txBody>
      </p:sp>
      <p:sp>
        <p:nvSpPr>
          <p:cNvPr id="20" name="Rectangle 19"/>
          <p:cNvSpPr/>
          <p:nvPr/>
        </p:nvSpPr>
        <p:spPr>
          <a:xfrm>
            <a:off x="5056632" y="1463040"/>
            <a:ext cx="5486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74920" y="1472184"/>
            <a:ext cx="512064" cy="292608"/>
          </a:xfrm>
          <a:prstGeom prst="rect">
            <a:avLst/>
          </a:prstGeom>
          <a:noFill/>
        </p:spPr>
        <p:txBody>
          <a:bodyPr wrap="square" lIns="0" rIns="0" tIns="0" bIns="0">
            <a:spAutoFit/>
          </a:bodyPr>
          <a:lstStyle/>
          <a:p>
            <a:pPr>
              <a:lnSpc>
                <a:spcPct val="95000"/>
              </a:lnSpc>
            </a:pPr>
            <a:r>
              <a:rPr sz="620" b="1">
                <a:solidFill>
                  <a:srgbClr val="FFFFFF"/>
                </a:solidFill>
                <a:latin typeface="Meiryo UI"/>
                <a:ea typeface="Meiryo UI"/>
              </a:rPr>
              <a:t>真因3
回す</a:t>
            </a:r>
          </a:p>
        </p:txBody>
      </p:sp>
      <p:sp>
        <p:nvSpPr>
          <p:cNvPr id="22" name="Rectangle 21"/>
          <p:cNvSpPr/>
          <p:nvPr/>
        </p:nvSpPr>
        <p:spPr>
          <a:xfrm>
            <a:off x="320040" y="1810512"/>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1847088"/>
            <a:ext cx="3401568" cy="530352"/>
          </a:xfrm>
          <a:prstGeom prst="rect">
            <a:avLst/>
          </a:prstGeom>
          <a:noFill/>
        </p:spPr>
        <p:txBody>
          <a:bodyPr wrap="square" lIns="0" rIns="0" tIns="0" bIns="0">
            <a:spAutoFit/>
          </a:bodyPr>
          <a:lstStyle/>
          <a:p>
            <a:pPr>
              <a:lnSpc>
                <a:spcPct val="105000"/>
              </a:lnSpc>
            </a:pPr>
            <a:r>
              <a:rPr sz="740" b="0">
                <a:solidFill>
                  <a:srgbClr val="262626"/>
                </a:solidFill>
                <a:latin typeface="Meiryo UI"/>
                <a:ea typeface="Meiryo UI"/>
              </a:rPr>
              <a:t>GAP1 洗剤消耗戦から脱却できず、属性データの構造化・API化に未着手</a:t>
            </a:r>
          </a:p>
        </p:txBody>
      </p:sp>
      <p:sp>
        <p:nvSpPr>
          <p:cNvPr id="24" name="Rectangle 23"/>
          <p:cNvSpPr/>
          <p:nvPr/>
        </p:nvSpPr>
        <p:spPr>
          <a:xfrm>
            <a:off x="3922776"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22776" y="1947672"/>
            <a:ext cx="548640" cy="329184"/>
          </a:xfrm>
          <a:prstGeom prst="rect">
            <a:avLst/>
          </a:prstGeom>
          <a:noFill/>
        </p:spPr>
        <p:txBody>
          <a:bodyPr wrap="square" lIns="0" rIns="0" tIns="0" bIns="0">
            <a:spAutoFit/>
          </a:bodyPr>
          <a:lstStyle/>
          <a:p>
            <a:pPr>
              <a:lnSpc>
                <a:spcPct val="100000"/>
              </a:lnSpc>
            </a:pPr>
            <a:r>
              <a:rPr sz="1200" b="1">
                <a:solidFill>
                  <a:srgbClr val="C8102E"/>
                </a:solidFill>
                <a:latin typeface="Meiryo UI"/>
                <a:ea typeface="Meiryo UI"/>
              </a:rPr>
              <a:t>●</a:t>
            </a:r>
          </a:p>
        </p:txBody>
      </p:sp>
      <p:sp>
        <p:nvSpPr>
          <p:cNvPr id="26" name="Rectangle 25"/>
          <p:cNvSpPr/>
          <p:nvPr/>
        </p:nvSpPr>
        <p:spPr>
          <a:xfrm>
            <a:off x="4489704"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89704" y="1947672"/>
            <a:ext cx="548640" cy="329184"/>
          </a:xfrm>
          <a:prstGeom prst="rect">
            <a:avLst/>
          </a:prstGeom>
          <a:noFill/>
        </p:spPr>
        <p:txBody>
          <a:bodyPr wrap="square" lIns="0" rIns="0" tIns="0" bIns="0">
            <a:spAutoFit/>
          </a:bodyPr>
          <a:lstStyle/>
          <a:p>
            <a:pPr>
              <a:lnSpc>
                <a:spcPct val="100000"/>
              </a:lnSpc>
            </a:pPr>
            <a:r>
              <a:rPr sz="1200" b="1">
                <a:solidFill>
                  <a:srgbClr val="0F5E87"/>
                </a:solidFill>
                <a:latin typeface="Meiryo UI"/>
                <a:ea typeface="Meiryo UI"/>
              </a:rPr>
              <a:t>●</a:t>
            </a:r>
          </a:p>
        </p:txBody>
      </p:sp>
      <p:sp>
        <p:nvSpPr>
          <p:cNvPr id="28" name="Rectangle 27"/>
          <p:cNvSpPr/>
          <p:nvPr/>
        </p:nvSpPr>
        <p:spPr>
          <a:xfrm>
            <a:off x="5056632"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20040" y="2468880"/>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2505456"/>
            <a:ext cx="3401568" cy="530352"/>
          </a:xfrm>
          <a:prstGeom prst="rect">
            <a:avLst/>
          </a:prstGeom>
          <a:noFill/>
        </p:spPr>
        <p:txBody>
          <a:bodyPr wrap="square" lIns="0" rIns="0" tIns="0" bIns="0">
            <a:spAutoFit/>
          </a:bodyPr>
          <a:lstStyle/>
          <a:p>
            <a:pPr>
              <a:lnSpc>
                <a:spcPct val="105000"/>
              </a:lnSpc>
            </a:pPr>
            <a:r>
              <a:rPr sz="740" b="0">
                <a:solidFill>
                  <a:srgbClr val="262626"/>
                </a:solidFill>
                <a:latin typeface="Meiryo UI"/>
                <a:ea typeface="Meiryo UI"/>
              </a:rPr>
              <a:t>GAP2 自前D2Cか小売依存かの二極化に陥り、路線を選べていない</a:t>
            </a:r>
          </a:p>
        </p:txBody>
      </p:sp>
      <p:sp>
        <p:nvSpPr>
          <p:cNvPr id="31" name="Rectangle 30"/>
          <p:cNvSpPr/>
          <p:nvPr/>
        </p:nvSpPr>
        <p:spPr>
          <a:xfrm>
            <a:off x="3922776"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22776" y="2606040"/>
            <a:ext cx="548640" cy="329184"/>
          </a:xfrm>
          <a:prstGeom prst="rect">
            <a:avLst/>
          </a:prstGeom>
          <a:noFill/>
        </p:spPr>
        <p:txBody>
          <a:bodyPr wrap="square" lIns="0" rIns="0" tIns="0" bIns="0">
            <a:spAutoFit/>
          </a:bodyPr>
          <a:lstStyle/>
          <a:p>
            <a:pPr>
              <a:lnSpc>
                <a:spcPct val="100000"/>
              </a:lnSpc>
            </a:pPr>
            <a:r>
              <a:rPr sz="1200" b="1">
                <a:solidFill>
                  <a:srgbClr val="C8102E"/>
                </a:solidFill>
                <a:latin typeface="Meiryo UI"/>
                <a:ea typeface="Meiryo UI"/>
              </a:rPr>
              <a:t>●</a:t>
            </a:r>
          </a:p>
        </p:txBody>
      </p:sp>
      <p:sp>
        <p:nvSpPr>
          <p:cNvPr id="33" name="Rectangle 32"/>
          <p:cNvSpPr/>
          <p:nvPr/>
        </p:nvSpPr>
        <p:spPr>
          <a:xfrm>
            <a:off x="4489704"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56632"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56632" y="2606040"/>
            <a:ext cx="548640" cy="329184"/>
          </a:xfrm>
          <a:prstGeom prst="rect">
            <a:avLst/>
          </a:prstGeom>
          <a:noFill/>
        </p:spPr>
        <p:txBody>
          <a:bodyPr wrap="square" lIns="0" rIns="0" tIns="0" bIns="0">
            <a:spAutoFit/>
          </a:bodyPr>
          <a:lstStyle/>
          <a:p>
            <a:pPr>
              <a:lnSpc>
                <a:spcPct val="100000"/>
              </a:lnSpc>
            </a:pPr>
            <a:r>
              <a:rPr sz="1000" b="1">
                <a:solidFill>
                  <a:srgbClr val="008D2E"/>
                </a:solidFill>
                <a:latin typeface="Meiryo UI"/>
                <a:ea typeface="Meiryo UI"/>
              </a:rPr>
              <a:t>○</a:t>
            </a:r>
          </a:p>
        </p:txBody>
      </p:sp>
      <p:sp>
        <p:nvSpPr>
          <p:cNvPr id="36" name="Rectangle 35"/>
          <p:cNvSpPr/>
          <p:nvPr/>
        </p:nvSpPr>
        <p:spPr>
          <a:xfrm>
            <a:off x="320040" y="3127248"/>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1480" y="3163824"/>
            <a:ext cx="3401568" cy="530352"/>
          </a:xfrm>
          <a:prstGeom prst="rect">
            <a:avLst/>
          </a:prstGeom>
          <a:noFill/>
        </p:spPr>
        <p:txBody>
          <a:bodyPr wrap="square" lIns="0" rIns="0" tIns="0" bIns="0">
            <a:spAutoFit/>
          </a:bodyPr>
          <a:lstStyle/>
          <a:p>
            <a:pPr>
              <a:lnSpc>
                <a:spcPct val="105000"/>
              </a:lnSpc>
            </a:pPr>
            <a:r>
              <a:rPr sz="740" b="0">
                <a:solidFill>
                  <a:srgbClr val="262626"/>
                </a:solidFill>
                <a:latin typeface="Meiryo UI"/>
                <a:ea typeface="Meiryo UI"/>
              </a:rPr>
              <a:t>GAP3 バイヤーが欲するLTV・炭素効率の予測でなく、値引き提案が続く</a:t>
            </a:r>
          </a:p>
        </p:txBody>
      </p:sp>
      <p:sp>
        <p:nvSpPr>
          <p:cNvPr id="38" name="Rectangle 37"/>
          <p:cNvSpPr/>
          <p:nvPr/>
        </p:nvSpPr>
        <p:spPr>
          <a:xfrm>
            <a:off x="3922776"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922776" y="3264408"/>
            <a:ext cx="548640" cy="329184"/>
          </a:xfrm>
          <a:prstGeom prst="rect">
            <a:avLst/>
          </a:prstGeom>
          <a:noFill/>
        </p:spPr>
        <p:txBody>
          <a:bodyPr wrap="square" lIns="0" rIns="0" tIns="0" bIns="0">
            <a:spAutoFit/>
          </a:bodyPr>
          <a:lstStyle/>
          <a:p>
            <a:pPr>
              <a:lnSpc>
                <a:spcPct val="100000"/>
              </a:lnSpc>
            </a:pPr>
            <a:r>
              <a:rPr sz="1000" b="1">
                <a:solidFill>
                  <a:srgbClr val="C8102E"/>
                </a:solidFill>
                <a:latin typeface="Meiryo UI"/>
                <a:ea typeface="Meiryo UI"/>
              </a:rPr>
              <a:t>○</a:t>
            </a:r>
          </a:p>
        </p:txBody>
      </p:sp>
      <p:sp>
        <p:nvSpPr>
          <p:cNvPr id="40" name="Rectangle 39"/>
          <p:cNvSpPr/>
          <p:nvPr/>
        </p:nvSpPr>
        <p:spPr>
          <a:xfrm>
            <a:off x="4489704"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89704" y="3264408"/>
            <a:ext cx="548640" cy="329184"/>
          </a:xfrm>
          <a:prstGeom prst="rect">
            <a:avLst/>
          </a:prstGeom>
          <a:noFill/>
        </p:spPr>
        <p:txBody>
          <a:bodyPr wrap="square" lIns="0" rIns="0" tIns="0" bIns="0">
            <a:spAutoFit/>
          </a:bodyPr>
          <a:lstStyle/>
          <a:p>
            <a:pPr>
              <a:lnSpc>
                <a:spcPct val="100000"/>
              </a:lnSpc>
            </a:pPr>
            <a:r>
              <a:rPr sz="1200" b="1">
                <a:solidFill>
                  <a:srgbClr val="0F5E87"/>
                </a:solidFill>
                <a:latin typeface="Meiryo UI"/>
                <a:ea typeface="Meiryo UI"/>
              </a:rPr>
              <a:t>●</a:t>
            </a:r>
          </a:p>
        </p:txBody>
      </p:sp>
      <p:sp>
        <p:nvSpPr>
          <p:cNvPr id="42" name="Rectangle 41"/>
          <p:cNvSpPr/>
          <p:nvPr/>
        </p:nvSpPr>
        <p:spPr>
          <a:xfrm>
            <a:off x="5056632"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56632" y="3264408"/>
            <a:ext cx="548640" cy="329184"/>
          </a:xfrm>
          <a:prstGeom prst="rect">
            <a:avLst/>
          </a:prstGeom>
          <a:noFill/>
        </p:spPr>
        <p:txBody>
          <a:bodyPr wrap="square" lIns="0" rIns="0" tIns="0" bIns="0">
            <a:spAutoFit/>
          </a:bodyPr>
          <a:lstStyle/>
          <a:p>
            <a:pPr>
              <a:lnSpc>
                <a:spcPct val="100000"/>
              </a:lnSpc>
            </a:pPr>
            <a:r>
              <a:rPr sz="1200" b="1">
                <a:solidFill>
                  <a:srgbClr val="008D2E"/>
                </a:solidFill>
                <a:latin typeface="Meiryo UI"/>
                <a:ea typeface="Meiryo UI"/>
              </a:rPr>
              <a:t>●</a:t>
            </a:r>
          </a:p>
        </p:txBody>
      </p:sp>
      <p:sp>
        <p:nvSpPr>
          <p:cNvPr id="44" name="Rectangle 43"/>
          <p:cNvSpPr/>
          <p:nvPr/>
        </p:nvSpPr>
        <p:spPr>
          <a:xfrm>
            <a:off x="320040" y="3785615"/>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3822191"/>
            <a:ext cx="3401568" cy="530352"/>
          </a:xfrm>
          <a:prstGeom prst="rect">
            <a:avLst/>
          </a:prstGeom>
          <a:noFill/>
        </p:spPr>
        <p:txBody>
          <a:bodyPr wrap="square" lIns="0" rIns="0" tIns="0" bIns="0">
            <a:spAutoFit/>
          </a:bodyPr>
          <a:lstStyle/>
          <a:p>
            <a:pPr>
              <a:lnSpc>
                <a:spcPct val="105000"/>
              </a:lnSpc>
            </a:pPr>
            <a:r>
              <a:rPr sz="740" b="0">
                <a:solidFill>
                  <a:srgbClr val="262626"/>
                </a:solidFill>
                <a:latin typeface="Meiryo UI"/>
                <a:ea typeface="Meiryo UI"/>
              </a:rPr>
              <a:t>GAP4 小売の構造課題に組織総力戦で当たれず、属人的関係に依存</a:t>
            </a:r>
          </a:p>
        </p:txBody>
      </p:sp>
      <p:sp>
        <p:nvSpPr>
          <p:cNvPr id="46" name="Rectangle 45"/>
          <p:cNvSpPr/>
          <p:nvPr/>
        </p:nvSpPr>
        <p:spPr>
          <a:xfrm>
            <a:off x="3922776"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489704"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489704" y="3922776"/>
            <a:ext cx="548640" cy="329184"/>
          </a:xfrm>
          <a:prstGeom prst="rect">
            <a:avLst/>
          </a:prstGeom>
          <a:noFill/>
        </p:spPr>
        <p:txBody>
          <a:bodyPr wrap="square" lIns="0" rIns="0" tIns="0" bIns="0">
            <a:spAutoFit/>
          </a:bodyPr>
          <a:lstStyle/>
          <a:p>
            <a:pPr>
              <a:lnSpc>
                <a:spcPct val="100000"/>
              </a:lnSpc>
            </a:pPr>
            <a:r>
              <a:rPr sz="1000" b="1">
                <a:solidFill>
                  <a:srgbClr val="0F5E87"/>
                </a:solidFill>
                <a:latin typeface="Meiryo UI"/>
                <a:ea typeface="Meiryo UI"/>
              </a:rPr>
              <a:t>○</a:t>
            </a:r>
          </a:p>
        </p:txBody>
      </p:sp>
      <p:sp>
        <p:nvSpPr>
          <p:cNvPr id="49" name="Rectangle 48"/>
          <p:cNvSpPr/>
          <p:nvPr/>
        </p:nvSpPr>
        <p:spPr>
          <a:xfrm>
            <a:off x="5056632"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56632" y="3922776"/>
            <a:ext cx="548640" cy="329184"/>
          </a:xfrm>
          <a:prstGeom prst="rect">
            <a:avLst/>
          </a:prstGeom>
          <a:noFill/>
        </p:spPr>
        <p:txBody>
          <a:bodyPr wrap="square" lIns="0" rIns="0" tIns="0" bIns="0">
            <a:spAutoFit/>
          </a:bodyPr>
          <a:lstStyle/>
          <a:p>
            <a:pPr>
              <a:lnSpc>
                <a:spcPct val="100000"/>
              </a:lnSpc>
            </a:pPr>
            <a:r>
              <a:rPr sz="1200" b="1">
                <a:solidFill>
                  <a:srgbClr val="008D2E"/>
                </a:solidFill>
                <a:latin typeface="Meiryo UI"/>
                <a:ea typeface="Meiryo UI"/>
              </a:rPr>
              <a:t>●</a:t>
            </a:r>
          </a:p>
        </p:txBody>
      </p:sp>
      <p:sp>
        <p:nvSpPr>
          <p:cNvPr id="51" name="Rectangle 50"/>
          <p:cNvSpPr/>
          <p:nvPr/>
        </p:nvSpPr>
        <p:spPr>
          <a:xfrm>
            <a:off x="5806440" y="1463040"/>
            <a:ext cx="6035040" cy="14813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80644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89320" y="1517904"/>
            <a:ext cx="5760720" cy="274320"/>
          </a:xfrm>
          <a:prstGeom prst="rect">
            <a:avLst/>
          </a:prstGeom>
          <a:noFill/>
        </p:spPr>
        <p:txBody>
          <a:bodyPr wrap="square" lIns="0" rIns="0" tIns="0" bIns="0">
            <a:spAutoFit/>
          </a:bodyPr>
          <a:lstStyle/>
          <a:p>
            <a:pPr>
              <a:lnSpc>
                <a:spcPct val="112000"/>
              </a:lnSpc>
            </a:pPr>
            <a:r>
              <a:rPr sz="880" b="1">
                <a:solidFill>
                  <a:srgbClr val="C8102E"/>
                </a:solidFill>
                <a:latin typeface="Meiryo UI"/>
                <a:ea typeface="Meiryo UI"/>
              </a:rPr>
              <a:t>真因1 「落ちていない」 ― 中計の決定が、営業・マーケの現場に翻訳されていない</a:t>
            </a:r>
          </a:p>
        </p:txBody>
      </p:sp>
      <p:sp>
        <p:nvSpPr>
          <p:cNvPr id="54" name="TextBox 53"/>
          <p:cNvSpPr txBox="1"/>
          <p:nvPr/>
        </p:nvSpPr>
        <p:spPr>
          <a:xfrm>
            <a:off x="5989320" y="1828800"/>
            <a:ext cx="5760720" cy="658368"/>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中計はオーラルヘルスケア最重点・資源の積極配分を決定済み。しかし現場では、①販促費・営業時間の実配分が従来の慣性のまま（洗剤特売が続く）、②決定を実行するHowレベルの路線（データ＝自前D2Cか小売連携か／商談＝値引きの扱い）が未決、③現場KPI・評価が決定前と同じ ― 決定と現場が接続されていない。</a:t>
            </a:r>
          </a:p>
        </p:txBody>
      </p:sp>
      <p:sp>
        <p:nvSpPr>
          <p:cNvPr id="55" name="TextBox 54"/>
          <p:cNvSpPr txBox="1"/>
          <p:nvPr/>
        </p:nvSpPr>
        <p:spPr>
          <a:xfrm>
            <a:off x="5989320" y="2505456"/>
            <a:ext cx="5760720" cy="402336"/>
          </a:xfrm>
          <a:prstGeom prst="rect">
            <a:avLst/>
          </a:prstGeom>
          <a:noFill/>
        </p:spPr>
        <p:txBody>
          <a:bodyPr wrap="square" lIns="0" rIns="0" tIns="0" bIns="0">
            <a:spAutoFit/>
          </a:bodyPr>
          <a:lstStyle/>
          <a:p>
            <a:pPr>
              <a:lnSpc>
                <a:spcPct val="105000"/>
              </a:lnSpc>
            </a:pPr>
            <a:r>
              <a:rPr sz="720" b="1">
                <a:solidFill>
                  <a:srgbClr val="595959"/>
                </a:solidFill>
                <a:latin typeface="Meiryo UI"/>
                <a:ea typeface="Meiryo UI"/>
              </a:rPr>
              <a:t>根拠：「最重点＝オーラル」と決めた後もGAP1（洗剤消耗戦）が続いている事実そのものが、決定と現場の断絶を示す。足りないのは意思決定ではなく翻訳</a:t>
            </a:r>
          </a:p>
        </p:txBody>
      </p:sp>
      <p:sp>
        <p:nvSpPr>
          <p:cNvPr id="56" name="Rectangle 55"/>
          <p:cNvSpPr/>
          <p:nvPr/>
        </p:nvSpPr>
        <p:spPr>
          <a:xfrm>
            <a:off x="5806440" y="3035808"/>
            <a:ext cx="6035040" cy="14813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806440" y="3035808"/>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989320" y="3090672"/>
            <a:ext cx="5760720" cy="274320"/>
          </a:xfrm>
          <a:prstGeom prst="rect">
            <a:avLst/>
          </a:prstGeom>
          <a:noFill/>
        </p:spPr>
        <p:txBody>
          <a:bodyPr wrap="square" lIns="0" rIns="0" tIns="0" bIns="0">
            <a:spAutoFit/>
          </a:bodyPr>
          <a:lstStyle/>
          <a:p>
            <a:pPr>
              <a:lnSpc>
                <a:spcPct val="112000"/>
              </a:lnSpc>
            </a:pPr>
            <a:r>
              <a:rPr sz="880" b="1">
                <a:solidFill>
                  <a:srgbClr val="0F5E87"/>
                </a:solidFill>
                <a:latin typeface="Meiryo UI"/>
                <a:ea typeface="Meiryo UI"/>
              </a:rPr>
              <a:t>真因2 「持っていない」 ― 選ばれるための武器が、現場に供給されていない</a:t>
            </a:r>
          </a:p>
        </p:txBody>
      </p:sp>
      <p:sp>
        <p:nvSpPr>
          <p:cNvPr id="59" name="TextBox 58"/>
          <p:cNvSpPr txBox="1"/>
          <p:nvPr/>
        </p:nvSpPr>
        <p:spPr>
          <a:xfrm>
            <a:off x="5989320" y="3401568"/>
            <a:ext cx="5760720" cy="658368"/>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バイヤーが要求する「売れる根拠」（LTV予測・炭素効率）も、AIが要求する「読める情報」（属性データ・エビデンス）も存在しない。営業が値引きに頼るのは怠慢ではなく合理 ― 他に出せる球がない。</a:t>
            </a:r>
          </a:p>
        </p:txBody>
      </p:sp>
      <p:sp>
        <p:nvSpPr>
          <p:cNvPr id="60" name="TextBox 59"/>
          <p:cNvSpPr txBox="1"/>
          <p:nvPr/>
        </p:nvSpPr>
        <p:spPr>
          <a:xfrm>
            <a:off x="5989320" y="4078224"/>
            <a:ext cx="5760720" cy="402336"/>
          </a:xfrm>
          <a:prstGeom prst="rect">
            <a:avLst/>
          </a:prstGeom>
          <a:noFill/>
        </p:spPr>
        <p:txBody>
          <a:bodyPr wrap="square" lIns="0" rIns="0" tIns="0" bIns="0">
            <a:spAutoFit/>
          </a:bodyPr>
          <a:lstStyle/>
          <a:p>
            <a:pPr>
              <a:lnSpc>
                <a:spcPct val="105000"/>
              </a:lnSpc>
            </a:pPr>
            <a:r>
              <a:rPr sz="720" b="1">
                <a:solidFill>
                  <a:srgbClr val="595959"/>
                </a:solidFill>
                <a:latin typeface="Meiryo UI"/>
                <a:ea typeface="Meiryo UI"/>
              </a:rPr>
              <a:t>根拠：GAP1（データ未着手）・GAP3（値引き継続）。武器が供給された商談だけ提案の中身が変わる ― 供給の問題であって人の問題ではない</a:t>
            </a:r>
          </a:p>
        </p:txBody>
      </p:sp>
      <p:sp>
        <p:nvSpPr>
          <p:cNvPr id="61" name="Rectangle 60"/>
          <p:cNvSpPr/>
          <p:nvPr/>
        </p:nvSpPr>
        <p:spPr>
          <a:xfrm>
            <a:off x="5806440" y="4608576"/>
            <a:ext cx="6035040" cy="14813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806440" y="4608576"/>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89320" y="4663440"/>
            <a:ext cx="5760720" cy="274320"/>
          </a:xfrm>
          <a:prstGeom prst="rect">
            <a:avLst/>
          </a:prstGeom>
          <a:noFill/>
        </p:spPr>
        <p:txBody>
          <a:bodyPr wrap="square" lIns="0" rIns="0" tIns="0" bIns="0">
            <a:spAutoFit/>
          </a:bodyPr>
          <a:lstStyle/>
          <a:p>
            <a:pPr>
              <a:lnSpc>
                <a:spcPct val="112000"/>
              </a:lnSpc>
            </a:pPr>
            <a:r>
              <a:rPr sz="880" b="1">
                <a:solidFill>
                  <a:srgbClr val="008D2E"/>
                </a:solidFill>
                <a:latin typeface="Meiryo UI"/>
                <a:ea typeface="Meiryo UI"/>
              </a:rPr>
              <a:t>真因3 「回っていない」 ― 作る→試す→検証する→広げる、の回路がない</a:t>
            </a:r>
          </a:p>
        </p:txBody>
      </p:sp>
      <p:sp>
        <p:nvSpPr>
          <p:cNvPr id="64" name="TextBox 63"/>
          <p:cNvSpPr txBox="1"/>
          <p:nvPr/>
        </p:nvSpPr>
        <p:spPr>
          <a:xfrm>
            <a:off x="5989320" y="4974336"/>
            <a:ext cx="5760720" cy="658368"/>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sp>
        <p:nvSpPr>
          <p:cNvPr id="65" name="TextBox 64"/>
          <p:cNvSpPr txBox="1"/>
          <p:nvPr/>
        </p:nvSpPr>
        <p:spPr>
          <a:xfrm>
            <a:off x="5989320" y="5650992"/>
            <a:ext cx="5760720" cy="402336"/>
          </a:xfrm>
          <a:prstGeom prst="rect">
            <a:avLst/>
          </a:prstGeom>
          <a:noFill/>
        </p:spPr>
        <p:txBody>
          <a:bodyPr wrap="square" lIns="0" rIns="0" tIns="0" bIns="0">
            <a:spAutoFit/>
          </a:bodyPr>
          <a:lstStyle/>
          <a:p>
            <a:pPr>
              <a:lnSpc>
                <a:spcPct val="105000"/>
              </a:lnSpc>
            </a:pPr>
            <a:r>
              <a:rPr sz="720" b="1">
                <a:solidFill>
                  <a:srgbClr val="595959"/>
                </a:solidFill>
                <a:latin typeface="Meiryo UI"/>
                <a:ea typeface="Meiryo UI"/>
              </a:rPr>
              <a:t>根拠：GAP3・4に加え、過去のツール導入が「入れたのに変わらない」で終わった事実。回路がなければ、決めても・持っても、成果は一度きりで消える</a:t>
            </a:r>
          </a:p>
        </p:txBody>
      </p:sp>
      <p:sp>
        <p:nvSpPr>
          <p:cNvPr id="66" name="Rectangle 65"/>
          <p:cNvSpPr/>
          <p:nvPr/>
        </p:nvSpPr>
        <p:spPr>
          <a:xfrm>
            <a:off x="320040" y="6126480"/>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57200" y="6163056"/>
            <a:ext cx="11292840" cy="347472"/>
          </a:xfrm>
          <a:prstGeom prst="rect">
            <a:avLst/>
          </a:prstGeom>
          <a:noFill/>
        </p:spPr>
        <p:txBody>
          <a:bodyPr wrap="square" lIns="0" rIns="0" tIns="0" bIns="0">
            <a:spAutoFit/>
          </a:bodyPr>
          <a:lstStyle/>
          <a:p>
            <a:pPr>
              <a:lnSpc>
                <a:spcPct val="112000"/>
              </a:lnSpc>
            </a:pPr>
            <a:r>
              <a:rPr sz="860" b="1">
                <a:solidFill>
                  <a:srgbClr val="008D2E"/>
                </a:solidFill>
                <a:latin typeface="Meiryo UI"/>
                <a:ea typeface="Meiryo UI"/>
              </a:rPr>
              <a:t>蓋然性のテスト：</a:t>
            </a:r>
            <a:r>
              <a:rPr sz="819" b="0">
                <a:solidFill>
                  <a:srgbClr val="262626"/>
                </a:solidFill>
                <a:latin typeface="Meiryo UI"/>
                <a:ea typeface="Meiryo UI"/>
              </a:rPr>
              <a:t>3つが解ければ4つのギャップはすべて閉じる（表の●○が全行を被覆）。逆にどれか1つでも残せばギャップは再発する ― 中計を現場に落とさなければ武器は使う場を失い、武器なしで回せば値引きに戻り、回さなければ一度きりで終わる。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真因と解決策 ―「落とす・持つ・回す」に1対1で答える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解決策は真因の裏返しでなければ効かない。落とす（中計の翻訳）→ 持つ（武器の供給）→ 回す（実行の回路）の3点セットで、以降のページすべてがこのどれかに属する</a:t>
            </a:r>
          </a:p>
        </p:txBody>
      </p:sp>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1865376"/>
            <a:ext cx="1207008" cy="640080"/>
          </a:xfrm>
          <a:prstGeom prst="rect">
            <a:avLst/>
          </a:prstGeom>
          <a:noFill/>
        </p:spPr>
        <p:txBody>
          <a:bodyPr wrap="square" lIns="0" rIns="0" tIns="0" bIns="0">
            <a:spAutoFit/>
          </a:bodyPr>
          <a:lstStyle/>
          <a:p>
            <a:pPr>
              <a:lnSpc>
                <a:spcPct val="110000"/>
              </a:lnSpc>
            </a:pPr>
            <a:r>
              <a:rPr sz="950" b="1">
                <a:solidFill>
                  <a:srgbClr val="FFFFFF"/>
                </a:solidFill>
                <a:latin typeface="Meiryo UI"/>
                <a:ea typeface="Meiryo UI"/>
              </a:rPr>
              <a:t>真因1
落ちていない</a:t>
            </a:r>
          </a:p>
        </p:txBody>
      </p:sp>
      <p:sp>
        <p:nvSpPr>
          <p:cNvPr id="16" name="TextBox 15"/>
          <p:cNvSpPr txBox="1"/>
          <p:nvPr/>
        </p:nvSpPr>
        <p:spPr>
          <a:xfrm>
            <a:off x="1764792" y="2029968"/>
            <a:ext cx="274320"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94560" y="1527048"/>
            <a:ext cx="6675120" cy="292608"/>
          </a:xfrm>
          <a:prstGeom prst="rect">
            <a:avLst/>
          </a:prstGeom>
          <a:noFill/>
        </p:spPr>
        <p:txBody>
          <a:bodyPr wrap="square" lIns="0" rIns="0" tIns="0" bIns="0">
            <a:spAutoFit/>
          </a:bodyPr>
          <a:lstStyle/>
          <a:p>
            <a:pPr>
              <a:lnSpc>
                <a:spcPct val="112000"/>
              </a:lnSpc>
            </a:pPr>
            <a:r>
              <a:rPr sz="980" b="1">
                <a:solidFill>
                  <a:srgbClr val="C8102E"/>
                </a:solidFill>
                <a:latin typeface="Meiryo UI"/>
                <a:ea typeface="Meiryo UI"/>
              </a:rPr>
              <a:t>解決1 「落とす」 ― 中計の決定を、3つの翻訳で現場に接続する</a:t>
            </a:r>
          </a:p>
        </p:txBody>
      </p:sp>
      <p:sp>
        <p:nvSpPr>
          <p:cNvPr id="19" name="TextBox 18"/>
          <p:cNvSpPr txBox="1"/>
          <p:nvPr/>
        </p:nvSpPr>
        <p:spPr>
          <a:xfrm>
            <a:off x="2194560" y="1865376"/>
            <a:ext cx="6675120" cy="960120"/>
          </a:xfrm>
          <a:prstGeom prst="rect">
            <a:avLst/>
          </a:prstGeom>
          <a:noFill/>
        </p:spPr>
        <p:txBody>
          <a:bodyPr wrap="square" lIns="0" rIns="0" tIns="0" bIns="0">
            <a:spAutoFit/>
          </a:bodyPr>
          <a:lstStyle/>
          <a:p>
            <a:pPr>
              <a:lnSpc>
                <a:spcPct val="116000"/>
              </a:lnSpc>
            </a:pPr>
            <a:r>
              <a:rPr sz="819" b="0">
                <a:solidFill>
                  <a:srgbClr val="262626"/>
                </a:solidFill>
                <a:latin typeface="Meiryo UI"/>
                <a:ea typeface="Meiryo UI"/>
              </a:rPr>
              <a:t>①配分の翻訳：販促費・人員・営業時間をオーラル・衛生・OTCへ実際に組み替え（洗剤等はROIC基準で段階判断＝施策①）　②路線の翻訳：データは「小売連携×専門データ」の二階建て、商談は「値引き70＋施策30＋成果連動」　③評価の翻訳：現場KPIを中計と整合（強み領域売上比率・増分粗利）</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17152" y="1554480"/>
            <a:ext cx="2523744" cy="1261872"/>
          </a:xfrm>
          <a:prstGeom prst="rect">
            <a:avLst/>
          </a:prstGeom>
          <a:noFill/>
        </p:spPr>
        <p:txBody>
          <a:bodyPr wrap="square" lIns="0" rIns="0" t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4つの変革テーマの背景（P.9）・施策①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3401568"/>
            <a:ext cx="1207008" cy="640080"/>
          </a:xfrm>
          <a:prstGeom prst="rect">
            <a:avLst/>
          </a:prstGeom>
          <a:noFill/>
        </p:spPr>
        <p:txBody>
          <a:bodyPr wrap="square" lIns="0" rIns="0" t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94560" y="3063240"/>
            <a:ext cx="6675120" cy="292608"/>
          </a:xfrm>
          <a:prstGeom prst="rect">
            <a:avLst/>
          </a:prstGeom>
          <a:noFill/>
        </p:spPr>
        <p:txBody>
          <a:bodyPr wrap="square" lIns="0" rIns="0" t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rIns="0" t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17152" y="3090672"/>
            <a:ext cx="2523744" cy="1261872"/>
          </a:xfrm>
          <a:prstGeom prst="rect">
            <a:avLst/>
          </a:prstGeom>
          <a:noFill/>
        </p:spPr>
        <p:txBody>
          <a:bodyPr wrap="square" lIns="0" rIns="0" t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8つの重点施策（P.10）
→ 5経営テーマへのMECE接続（P.11）</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4937760"/>
            <a:ext cx="1207008" cy="640080"/>
          </a:xfrm>
          <a:prstGeom prst="rect">
            <a:avLst/>
          </a:prstGeom>
          <a:noFill/>
        </p:spPr>
        <p:txBody>
          <a:bodyPr wrap="square" lIns="0" rIns="0" t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94560" y="4599432"/>
            <a:ext cx="6675120" cy="292608"/>
          </a:xfrm>
          <a:prstGeom prst="rect">
            <a:avLst/>
          </a:prstGeom>
          <a:noFill/>
        </p:spPr>
        <p:txBody>
          <a:bodyPr wrap="square" lIns="0" rIns="0" t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rIns="0" t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17152" y="4626864"/>
            <a:ext cx="2523744" cy="1261872"/>
          </a:xfrm>
          <a:prstGeom prst="rect">
            <a:avLst/>
          </a:prstGeom>
          <a:noFill/>
        </p:spPr>
        <p:txBody>
          <a:bodyPr wrap="square" lIns="0" rIns="0" t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出口：業務のBefore→After（P.12）
→ マイルストーンとゲート（P.13）・KGI/KPI（P.14）</a:t>
            </a:r>
          </a:p>
        </p:txBody>
      </p:sp>
      <p:sp>
        <p:nvSpPr>
          <p:cNvPr id="38" name="Rectangle 37"/>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099048"/>
            <a:ext cx="11292840" cy="365760"/>
          </a:xfrm>
          <a:prstGeom prst="rect">
            <a:avLst/>
          </a:prstGeom>
          <a:noFill/>
        </p:spPr>
        <p:txBody>
          <a:bodyPr wrap="square" lIns="0" rIns="0" t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「落とす」は次回会議で即（お金はかからない ― 中計が既に決めたことの翻訳だから）。「持つ」「回す」はFY26から並行で始め、確認ゲートで拡大する。すべての施策は3つの真因のどれかに紐づく ― 紐づかない施策は、この計画ではやらない。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4つの変革テーマ × 8つの重点施策</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8施策は真因2「持っていない」と真因3「回っていない」への答え（武器＝①〜⑥、回路＝⑦⑧）。施策①は真因1 ― 中計の決定を配分に「落とす」翻訳装置</a:t>
            </a:r>
          </a:p>
        </p:txBody>
      </p:sp>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1453896"/>
            <a:ext cx="1993391"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96312" y="1453896"/>
            <a:ext cx="2542032"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66359" y="1453896"/>
            <a:ext cx="2907791"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2168" y="1453896"/>
            <a:ext cx="2267712"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97896" y="1453896"/>
            <a:ext cx="1078992"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3192" y="1810512"/>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14600" y="1810512"/>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84648" y="1810512"/>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0456" y="1810512"/>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16184" y="1810512"/>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3192" y="2834640"/>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514600" y="2834640"/>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84648" y="2834640"/>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0456" y="2834640"/>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616184" y="2834640"/>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93192" y="3858768"/>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14600" y="3858768"/>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84648" y="3858768"/>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20456" y="3858768"/>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616184" y="3858768"/>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93192" y="4882896"/>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514600" y="4882896"/>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84648" y="4882896"/>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220456" y="4882896"/>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616184" y="4882896"/>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7200" y="5943600"/>
            <a:ext cx="11292840" cy="411480"/>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処方との対応：</a:t>
            </a:r>
            <a:r>
              <a:rPr sz="830" b="0">
                <a:solidFill>
                  <a:srgbClr val="262626"/>
                </a:solidFill>
                <a:latin typeface="Meiryo UI"/>
                <a:ea typeface="Meiryo UI"/>
              </a:rPr>
              <a:t>変換の工程＝⑤⑥／廃止→自動化＝⑦／計測＝②④／選ばれる基盤＝①③（以上、処方D）。⑧は処方B（場）と処方C（動機）を実装する施策。承認は処方A（作法）に従い、撤退基準・検証計画をセットで諮る ― 次頁で経営の問いに接続する。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0972800" cy="32004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Howの全体構造 ― 5つの経営テーマへのMECE接続</a:t>
            </a:r>
          </a:p>
        </p:txBody>
      </p:sp>
      <p:sp>
        <p:nvSpPr>
          <p:cNvPr id="11" name="Rectangle 10"/>
          <p:cNvSpPr/>
          <p:nvPr/>
        </p:nvSpPr>
        <p:spPr>
          <a:xfrm>
            <a:off x="320040" y="60350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76656"/>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658368"/>
            <a:ext cx="11155680" cy="457200"/>
          </a:xfrm>
          <a:prstGeom prst="rect">
            <a:avLst/>
          </a:prstGeom>
          <a:noFill/>
        </p:spPr>
        <p:txBody>
          <a:bodyPr wrap="square" lIns="0" rIns="0" tIns="0" bIns="0">
            <a:spAutoFit/>
          </a:bodyPr>
          <a:lstStyle/>
          <a:p>
            <a:pPr>
              <a:lnSpc>
                <a:spcPct val="115000"/>
              </a:lnSpc>
            </a:pPr>
            <a:r>
              <a:rPr sz="1100" b="1">
                <a:solidFill>
                  <a:srgbClr val="262626"/>
                </a:solidFill>
                <a:latin typeface="Meiryo UI"/>
                <a:ea typeface="Meiryo UI"/>
              </a:rPr>
              <a:t>8施策を、経営の問いに漏れなく・重複なく割当て直す。各行は「前（GAP・真因・公開データ）→ 答え → 施策 → 後（KPI）」の一本の線で読む</a:t>
            </a:r>
          </a:p>
        </p:txBody>
      </p:sp>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1252728"/>
            <a:ext cx="171907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21992" y="1252728"/>
            <a:ext cx="277063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前 ― 何を受けるか（GAP・真因・公開データ）</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1252728"/>
            <a:ext cx="309067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9328" y="1252728"/>
            <a:ext cx="130759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74936" y="1252728"/>
            <a:ext cx="203911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 y="1609344"/>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1. 市場機会の選択
</a:t>
            </a:r>
            <a:r>
              <a:rPr sz="72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31136" y="1600200"/>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GAP1（消耗戦）。中計はオーラル最重点を決定済みだが現場の配分は従来のまま（真因1）。皆歯科健診は骨太2022に明記済み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29784" y="1600200"/>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中計の決定（オーラル最重点）を配分に翻訳する。オーラルケアを4分割し、撤退はROIC基準で機械的に裁く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48472" y="1600200"/>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① 経営管理連携
データ活用（T1）</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84080" y="1600200"/>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4048" y="2450592"/>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2. 選ばれる価値の創造
</a:t>
            </a:r>
            <a:r>
              <a:rPr sz="72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31136" y="2441448"/>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真因①（知見の非換金）。ゼロクリック66.4%〔ヴァリューズ〕。AIの引用元は自社サイト1%・小売EC17%〔XEO360〕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29784" y="2441448"/>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48472" y="2441448"/>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② AIEO対応
⑤ データ統合
（T1・T3）</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84080" y="2441448"/>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4048" y="3291840"/>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3. 顧客接点の統合
</a:t>
            </a:r>
            <a:r>
              <a:rPr sz="72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231136" y="3282696"/>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29784" y="3282696"/>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48472" y="3282696"/>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③ JBP化×TA
⑥ B2B2C商談
（T2・T3）</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84080" y="3282696"/>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4048" y="4133087"/>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4. 顧客資本の蓄積
</a:t>
            </a:r>
            <a:r>
              <a:rPr sz="72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231136" y="4123944"/>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9784" y="4123944"/>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348472" y="4123944"/>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④ LION ID OS化
＋顧客資本KPI
（T2）</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784080" y="4123944"/>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4048" y="4974336"/>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5. 実行能力と成果管理
</a:t>
            </a:r>
            <a:r>
              <a:rPr sz="72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231136" y="4965192"/>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真因3（回路の不在）。生成AI普及は1年で約3倍〔総務省白書〕＝期限は自社で選べない。対P&amp;G生産性7.6倍差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129784" y="4965192"/>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348472" y="4965192"/>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⑦ ゼロ化
⑧ RevOps（T4）</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784080" y="4965192"/>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7200" y="5824728"/>
            <a:ext cx="11292840" cy="475488"/>
          </a:xfrm>
          <a:prstGeom prst="rect">
            <a:avLst/>
          </a:prstGeom>
          <a:noFill/>
        </p:spPr>
        <p:txBody>
          <a:bodyPr wrap="square" lIns="0" rIns="0" tIns="0" bIns="0">
            <a:spAutoFit/>
          </a:bodyPr>
          <a:lstStyle/>
          <a:p>
            <a:pPr>
              <a:lnSpc>
                <a:spcPct val="116000"/>
              </a:lnSpc>
            </a:pPr>
            <a:r>
              <a:rPr sz="880" b="1">
                <a:solidFill>
                  <a:srgbClr val="008D2E"/>
                </a:solidFill>
                <a:latin typeface="Meiryo UI"/>
                <a:ea typeface="Meiryo UI"/>
              </a:rPr>
              <a:t>MECEの根拠と「線」の設計：</a:t>
            </a:r>
            <a:r>
              <a:rPr sz="819" b="0">
                <a:solidFill>
                  <a:srgbClr val="262626"/>
                </a:solidFill>
                <a:latin typeface="Meiryo UI"/>
                <a:ea typeface="Meiryo UI"/>
              </a:rPr>
              <a:t>5テーマは「選ぶ→定める→届ける→蓄える→回す」の完全分割（漏れ・重複なし）。8施策は排他的に割当てつつ、②の根拠が③の商談武器に、③の接点が④のID獲得口に、⑤が全体の時間と評価を支える ― という受け渡しを「線」として設計。出口＝業務の変化は次頁。</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出口 ― マーケティング・営業DXの姿（Before → After）</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出口は戦略文書ではなく、現場の仕事の新しい姿が回っている状態。5つの経営テーマの答えを、誰の・どの業務が・どのデジタルで変わるかに着地させる</a:t>
            </a:r>
          </a:p>
        </p:txBody>
      </p:sp>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 y="1499616"/>
            <a:ext cx="5440680" cy="274320"/>
          </a:xfrm>
          <a:prstGeom prst="rect">
            <a:avLst/>
          </a:prstGeom>
          <a:noFill/>
        </p:spPr>
        <p:txBody>
          <a:bodyPr wrap="square" lIns="0" rIns="0" tIns="0" bIns="0">
            <a:spAutoFit/>
          </a:bodyPr>
          <a:lstStyle/>
          <a:p>
            <a:pPr>
              <a:lnSpc>
                <a:spcPct val="112000"/>
              </a:lnSpc>
            </a:pPr>
            <a:r>
              <a:rPr sz="105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3192" y="1892807"/>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商談の準備</a:t>
            </a:r>
          </a:p>
        </p:txBody>
      </p:sp>
      <p:sp>
        <p:nvSpPr>
          <p:cNvPr id="18" name="TextBox 17"/>
          <p:cNvSpPr txBox="1"/>
          <p:nvPr/>
        </p:nvSpPr>
        <p:spPr>
          <a:xfrm>
            <a:off x="1536192" y="1892807"/>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生成AI×TPMが提案書・LTV予測・炭素効率を自動生成。営業はレビューのみ　</a:t>
            </a:r>
            <a:r>
              <a:rPr sz="660" b="0">
                <a:solidFill>
                  <a:srgbClr val="595959"/>
                </a:solidFill>
                <a:latin typeface="Meiryo UI"/>
                <a:ea typeface="Meiryo UI"/>
              </a:rPr>
              <a:t>（⑤⑦）</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3192" y="2880360"/>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商談の中身</a:t>
            </a:r>
          </a:p>
        </p:txBody>
      </p:sp>
      <p:sp>
        <p:nvSpPr>
          <p:cNvPr id="22" name="TextBox 21"/>
          <p:cNvSpPr txBox="1"/>
          <p:nvPr/>
        </p:nvSpPr>
        <p:spPr>
          <a:xfrm>
            <a:off x="1536192" y="2880360"/>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「値引き70＋施策30＋成果連動」＋小売データ共同検証のJBP商談へ　</a:t>
            </a:r>
            <a:r>
              <a:rPr sz="660" b="0">
                <a:solidFill>
                  <a:srgbClr val="595959"/>
                </a:solidFill>
                <a:latin typeface="Meiryo UI"/>
                <a:ea typeface="Meiryo UI"/>
              </a:rPr>
              <a:t>（③⑥）</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3192" y="3867911"/>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売場・接点</a:t>
            </a:r>
          </a:p>
        </p:txBody>
      </p:sp>
      <p:sp>
        <p:nvSpPr>
          <p:cNvPr id="26" name="TextBox 25"/>
          <p:cNvSpPr txBox="1"/>
          <p:nvPr/>
        </p:nvSpPr>
        <p:spPr>
          <a:xfrm>
            <a:off x="1536192" y="3867911"/>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診断型売場×リテールメディアを共同運用。棚・EC・AI推奨をTAで一体管理　</a:t>
            </a:r>
            <a:r>
              <a:rPr sz="660" b="0">
                <a:solidFill>
                  <a:srgbClr val="595959"/>
                </a:solidFill>
                <a:latin typeface="Meiryo UI"/>
                <a:ea typeface="Meiryo UI"/>
              </a:rPr>
              <a:t>（③）</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3192" y="4855464"/>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体制・評価</a:t>
            </a:r>
          </a:p>
        </p:txBody>
      </p:sp>
      <p:sp>
        <p:nvSpPr>
          <p:cNvPr id="30" name="TextBox 29"/>
          <p:cNvSpPr txBox="1"/>
          <p:nvPr/>
        </p:nvSpPr>
        <p:spPr>
          <a:xfrm>
            <a:off x="1536192" y="4855464"/>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スクワッド（営業・ブランド・データ・EC・SCM）で増分粗利を共有KPIに　</a:t>
            </a:r>
            <a:r>
              <a:rPr sz="660" b="0">
                <a:solidFill>
                  <a:srgbClr val="595959"/>
                </a:solidFill>
                <a:latin typeface="Meiryo UI"/>
                <a:ea typeface="Meiryo UI"/>
              </a:rPr>
              <a:t>（⑧）</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81928" y="1499616"/>
            <a:ext cx="5440680" cy="274320"/>
          </a:xfrm>
          <a:prstGeom prst="rect">
            <a:avLst/>
          </a:prstGeom>
          <a:noFill/>
        </p:spPr>
        <p:txBody>
          <a:bodyPr wrap="square" lIns="0" rIns="0" tIns="0" bIns="0">
            <a:spAutoFit/>
          </a:bodyPr>
          <a:lstStyle/>
          <a:p>
            <a:pPr>
              <a:lnSpc>
                <a:spcPct val="112000"/>
              </a:lnSpc>
            </a:pPr>
            <a:r>
              <a:rPr sz="105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45352" y="1892807"/>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メディア投資</a:t>
            </a:r>
          </a:p>
        </p:txBody>
      </p:sp>
      <p:sp>
        <p:nvSpPr>
          <p:cNvPr id="36" name="TextBox 35"/>
          <p:cNvSpPr txBox="1"/>
          <p:nvPr/>
        </p:nvSpPr>
        <p:spPr>
          <a:xfrm>
            <a:off x="7388352" y="1892807"/>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リテールメディア・AIEOへ再配分し、MMM＋増分実験でROIを毎月運用　</a:t>
            </a:r>
            <a:r>
              <a:rPr sz="660" b="0">
                <a:solidFill>
                  <a:srgbClr val="595959"/>
                </a:solidFill>
                <a:latin typeface="Meiryo UI"/>
                <a:ea typeface="Meiryo UI"/>
              </a:rPr>
              <a:t>（②③）</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45352" y="2880360"/>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コンテンツ</a:t>
            </a:r>
          </a:p>
        </p:txBody>
      </p:sp>
      <p:sp>
        <p:nvSpPr>
          <p:cNvPr id="40" name="TextBox 39"/>
          <p:cNvSpPr txBox="1"/>
          <p:nvPr/>
        </p:nvSpPr>
        <p:spPr>
          <a:xfrm>
            <a:off x="7388352" y="2880360"/>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臨床エビデンスを「人向け」と「AIが引用する構造化データ」の両輪で生産　</a:t>
            </a:r>
            <a:r>
              <a:rPr sz="660" b="0">
                <a:solidFill>
                  <a:srgbClr val="595959"/>
                </a:solidFill>
                <a:latin typeface="Meiryo UI"/>
                <a:ea typeface="Meiryo UI"/>
              </a:rPr>
              <a:t>（②⑤）</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45352" y="3867911"/>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顧客基盤</a:t>
            </a:r>
          </a:p>
        </p:txBody>
      </p:sp>
      <p:sp>
        <p:nvSpPr>
          <p:cNvPr id="44" name="TextBox 43"/>
          <p:cNvSpPr txBox="1"/>
          <p:nvPr/>
        </p:nvSpPr>
        <p:spPr>
          <a:xfrm>
            <a:off x="7388352" y="3867911"/>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口腔健康OSとしてのID運用。リピート・継続を行動データで追いDCRで接続　</a:t>
            </a:r>
            <a:r>
              <a:rPr sz="660" b="0">
                <a:solidFill>
                  <a:srgbClr val="595959"/>
                </a:solidFill>
                <a:latin typeface="Meiryo UI"/>
                <a:ea typeface="Meiryo UI"/>
              </a:rPr>
              <a:t>（④）</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45352" y="4855464"/>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AI接点の運用</a:t>
            </a:r>
          </a:p>
        </p:txBody>
      </p:sp>
      <p:sp>
        <p:nvSpPr>
          <p:cNvPr id="48" name="TextBox 47"/>
          <p:cNvSpPr txBox="1"/>
          <p:nvPr/>
        </p:nvSpPr>
        <p:spPr>
          <a:xfrm>
            <a:off x="7388352" y="4855464"/>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AIEO Rate月次監査→原因特定→情報修正のループを運用　</a:t>
            </a:r>
            <a:r>
              <a:rPr sz="660" b="0">
                <a:solidFill>
                  <a:srgbClr val="595959"/>
                </a:solidFill>
                <a:latin typeface="Meiryo UI"/>
                <a:ea typeface="Meiryo UI"/>
              </a:rPr>
              <a:t>（②）</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5998464"/>
            <a:ext cx="11292840" cy="438912"/>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出口の定義：</a:t>
            </a:r>
            <a:r>
              <a:rPr sz="83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マイルストーン（FY26–FY30）</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FY30（3rd Stage完了・統合報告書でのKPI開示）に向けた段階実装。確認ゲートに合格したときだけ投資と組織変更を拡大する</a:t>
            </a:r>
          </a:p>
        </p:txBody>
      </p:sp>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1508760"/>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0" y="1508760"/>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2231136"/>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86000" y="2231136"/>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2953512"/>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86000" y="2953512"/>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3675888"/>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86000" y="3675888"/>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4398264"/>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286000" y="4398264"/>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5120640"/>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86000" y="5120640"/>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5888736"/>
            <a:ext cx="11292840" cy="411480"/>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2030年以降：</a:t>
            </a:r>
            <a:r>
              <a:rPr sz="83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KGI/KPI体系 ― 北極星KPIとライオン固有のユニークKPI</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頂点は「増分粗利（オーラルケア）」＝施策がなかった場合との差分で測る変革の正味効果。新規（N-t-C）と継続（LTV）の2本の枝に、固有KPIをぶら下げる</a:t>
            </a:r>
          </a:p>
        </p:txBody>
      </p:sp>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69080" y="1481328"/>
            <a:ext cx="4023360" cy="411480"/>
          </a:xfrm>
          <a:prstGeom prst="rect">
            <a:avLst/>
          </a:prstGeom>
          <a:noFill/>
        </p:spPr>
        <p:txBody>
          <a:bodyPr wrap="square" lIns="0" rIns="0" tIns="0" bIns="0">
            <a:spAutoFit/>
          </a:bodyPr>
          <a:lstStyle/>
          <a:p>
            <a:pPr>
              <a:lnSpc>
                <a:spcPct val="112000"/>
              </a:lnSpc>
            </a:pPr>
            <a:r>
              <a:rPr sz="1100" b="1">
                <a:solidFill>
                  <a:srgbClr val="FFFFFF"/>
                </a:solidFill>
                <a:latin typeface="Meiryo UI"/>
                <a:ea typeface="Meiryo UI"/>
              </a:rPr>
              <a:t>北極星KPI：増分粗利（オーラルケア事業）</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48840" y="2130552"/>
            <a:ext cx="3566160" cy="274320"/>
          </a:xfrm>
          <a:prstGeom prst="rect">
            <a:avLst/>
          </a:prstGeom>
          <a:noFill/>
        </p:spPr>
        <p:txBody>
          <a:bodyPr wrap="square" lIns="0" rIns="0" tIns="0" bIns="0">
            <a:spAutoFit/>
          </a:bodyPr>
          <a:lstStyle/>
          <a:p>
            <a:pPr>
              <a:lnSpc>
                <a:spcPct val="112000"/>
              </a:lnSpc>
            </a:pPr>
            <a:r>
              <a:rPr sz="9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2130552"/>
            <a:ext cx="3566160" cy="274320"/>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4904" y="2551175"/>
            <a:ext cx="254203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44952" y="2551175"/>
            <a:ext cx="619963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72600" y="2551175"/>
            <a:ext cx="71323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13848" y="2551175"/>
            <a:ext cx="66751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2880359"/>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54096" y="2880359"/>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72600" y="2953511"/>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13848" y="2953511"/>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3410711"/>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054096" y="3410711"/>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72600" y="3483863"/>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13848" y="3483863"/>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4048" y="3941063"/>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054096" y="3941063"/>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72600" y="4014215"/>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213848" y="4014215"/>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4048" y="4471416"/>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054096" y="4471416"/>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372600" y="4544568"/>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213848" y="4544568"/>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84048" y="5001768"/>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054096" y="5001768"/>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372600" y="5074920"/>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213848" y="5074920"/>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84048" y="5532120"/>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054096" y="5532120"/>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372600" y="5605272"/>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213848" y="5605272"/>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57200" y="6099048"/>
            <a:ext cx="11292840" cy="384048"/>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運用ルール：</a:t>
            </a:r>
            <a:r>
              <a:rPr sz="83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投資・体制観点の主要論点</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優先度は真因・GAPへの直接性で決定。5年累計30〜50億円に対し効果は年45〜95億円＋売上防衛 ― 前提はFY26上期に実測して確定</a:t>
            </a:r>
          </a:p>
        </p:txBody>
      </p:sp>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15087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91840" y="15087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35640" y="16367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21945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91840" y="21945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835640" y="23225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28803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91840" y="28803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835640" y="30083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1480" y="35661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91840" y="35661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835640" y="36941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1480" y="4251959"/>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91840" y="4251959"/>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835640" y="43799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4937759"/>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91840" y="4937759"/>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835640" y="50657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5669279"/>
            <a:ext cx="11292840" cy="548640"/>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投資対効果の全体観（仮・要実測）：</a:t>
            </a:r>
            <a:r>
              <a:rPr sz="83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0.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1.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4131</Words>
  <Application>Microsoft Office PowerPoint</Application>
  <PresentationFormat>ワイド画面</PresentationFormat>
  <Paragraphs>246</Paragraphs>
  <Slides>6</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6</vt:i4>
      </vt:variant>
    </vt:vector>
  </HeadingPairs>
  <TitlesOfParts>
    <vt:vector size="12" baseType="lpstr">
      <vt:lpstr>Meiryo UI</vt:lpstr>
      <vt:lpstr>メイリオ</vt:lpstr>
      <vt:lpstr>Arial</vt:lpstr>
      <vt:lpstr>Calibri</vt:lpstr>
      <vt:lpstr>Wingdings</vt:lpstr>
      <vt:lpstr>Office テーマ</vt:lpstr>
      <vt:lpstr>製造業を取り巻くマクロ環境変化 (PEST分析) </vt:lpstr>
      <vt:lpstr> 顧客 ･ 取引先 ･ 競合の変化</vt:lpstr>
      <vt:lpstr>自社が対応しなければいけない点</vt:lpstr>
      <vt:lpstr> 自社が対応しなければいけない点</vt:lpstr>
      <vt:lpstr>これから目指す姿</vt:lpstr>
      <vt:lpstr>現状とのギャップと真因</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70</cp:revision>
  <dcterms:created xsi:type="dcterms:W3CDTF">2024-12-27T03:42:11Z</dcterms:created>
  <dcterms:modified xsi:type="dcterms:W3CDTF">2026-07-22T05:41:04Z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