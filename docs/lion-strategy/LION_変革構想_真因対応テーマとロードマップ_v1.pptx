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33A"/>
          </a:solidFill>
          <a:ln/>
        </p:spPr>
      </p:sp>
      <p:sp>
        <p:nvSpPr>
          <p:cNvPr id="3" name="Shape 1"/>
          <p:cNvSpPr/>
          <p:nvPr/>
        </p:nvSpPr>
        <p:spPr>
          <a:xfrm>
            <a:off x="8595360" y="-2377440"/>
            <a:ext cx="6858000" cy="6858000"/>
          </a:xfrm>
          <a:prstGeom prst="ellipse">
            <a:avLst/>
          </a:prstGeom>
          <a:solidFill>
            <a:srgbClr val="223354">
              <a:alpha val="60000"/>
            </a:srgbClr>
          </a:solidFill>
          <a:ln/>
        </p:spPr>
      </p:sp>
      <p:sp>
        <p:nvSpPr>
          <p:cNvPr id="4" name="Shape 2"/>
          <p:cNvSpPr/>
          <p:nvPr/>
        </p:nvSpPr>
        <p:spPr>
          <a:xfrm>
            <a:off x="10149840" y="4206240"/>
            <a:ext cx="4206240" cy="4206240"/>
          </a:xfrm>
          <a:prstGeom prst="ellipse">
            <a:avLst/>
          </a:prstGeom>
          <a:solidFill>
            <a:srgbClr val="C8102E">
              <a:alpha val="22000"/>
            </a:srgbClr>
          </a:solidFill>
          <a:ln/>
        </p:spPr>
      </p:sp>
      <p:sp>
        <p:nvSpPr>
          <p:cNvPr id="5" name="Text 3"/>
          <p:cNvSpPr/>
          <p:nvPr/>
        </p:nvSpPr>
        <p:spPr>
          <a:xfrm>
            <a:off x="822960" y="1417320"/>
            <a:ext cx="7315200" cy="320040"/>
          </a:xfrm>
          <a:prstGeom prst="rect">
            <a:avLst/>
          </a:prstGeom>
          <a:noFill/>
          <a:ln/>
        </p:spPr>
        <p:txBody>
          <a:bodyPr wrap="square" lIns="0" tIns="0" rIns="0" bIns="0" rtlCol="0" anchor="ctr"/>
          <a:lstStyle/>
          <a:p>
            <a:pPr indent="0" marL="0">
              <a:buNone/>
            </a:pPr>
            <a:r>
              <a:rPr lang="en-US" sz="1200" b="1" spc="300" kern="0" dirty="0">
                <a:solidFill>
                  <a:srgbClr val="8FA3C4"/>
                </a:solidFill>
                <a:latin typeface="Meiryo UI" pitchFamily="34" charset="0"/>
                <a:ea typeface="Meiryo UI" pitchFamily="34" charset="-122"/>
                <a:cs typeface="Meiryo UI" pitchFamily="34" charset="-120"/>
              </a:rPr>
              <a:t>STRATEGY PROPOSAL  |  2026.07</a:t>
            </a:r>
            <a:endParaRPr lang="en-US" sz="1200" dirty="0"/>
          </a:p>
        </p:txBody>
      </p:sp>
      <p:sp>
        <p:nvSpPr>
          <p:cNvPr id="6" name="Text 4"/>
          <p:cNvSpPr/>
          <p:nvPr/>
        </p:nvSpPr>
        <p:spPr>
          <a:xfrm>
            <a:off x="804672" y="1965960"/>
            <a:ext cx="1060704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UI" pitchFamily="34" charset="0"/>
                <a:ea typeface="Meiryo UI" pitchFamily="34" charset="-122"/>
                <a:cs typeface="Meiryo UI" pitchFamily="34" charset="-120"/>
              </a:rPr>
              <a:t>「習慣」を、社会のインフラへ。</a:t>
            </a:r>
            <a:endParaRPr lang="en-US" sz="4000" dirty="0"/>
          </a:p>
        </p:txBody>
      </p:sp>
      <p:sp>
        <p:nvSpPr>
          <p:cNvPr id="7" name="Text 5"/>
          <p:cNvSpPr/>
          <p:nvPr/>
        </p:nvSpPr>
        <p:spPr>
          <a:xfrm>
            <a:off x="822960" y="2926080"/>
            <a:ext cx="10607040" cy="548640"/>
          </a:xfrm>
          <a:prstGeom prst="rect">
            <a:avLst/>
          </a:prstGeom>
          <a:noFill/>
          <a:ln/>
        </p:spPr>
        <p:txBody>
          <a:bodyPr wrap="square" lIns="0" tIns="0" rIns="0" bIns="0" rtlCol="0" anchor="ctr"/>
          <a:lstStyle/>
          <a:p>
            <a:pPr indent="0" marL="0">
              <a:buNone/>
            </a:pPr>
            <a:r>
              <a:rPr lang="en-US" sz="2200" b="1" dirty="0">
                <a:solidFill>
                  <a:srgbClr val="CADCFC"/>
                </a:solidFill>
                <a:latin typeface="Meiryo UI" pitchFamily="34" charset="0"/>
                <a:ea typeface="Meiryo UI" pitchFamily="34" charset="-122"/>
                <a:cs typeface="Meiryo UI" pitchFamily="34" charset="-120"/>
              </a:rPr>
              <a:t>ライオン 営業・マーケティング変革構想</a:t>
            </a:r>
            <a:endParaRPr lang="en-US" sz="2200" dirty="0"/>
          </a:p>
        </p:txBody>
      </p:sp>
      <p:sp>
        <p:nvSpPr>
          <p:cNvPr id="8" name="Text 6"/>
          <p:cNvSpPr/>
          <p:nvPr/>
        </p:nvSpPr>
        <p:spPr>
          <a:xfrm>
            <a:off x="822960" y="3703320"/>
            <a:ext cx="10424160" cy="777240"/>
          </a:xfrm>
          <a:prstGeom prst="rect">
            <a:avLst/>
          </a:prstGeom>
          <a:noFill/>
          <a:ln/>
        </p:spPr>
        <p:txBody>
          <a:bodyPr wrap="square" lIns="0" tIns="0" rIns="0" bIns="0" rtlCol="0" anchor="ctr"/>
          <a:lstStyle/>
          <a:p>
            <a:pPr indent="0" marL="0">
              <a:lnSpc>
                <a:spcPct val="125000"/>
              </a:lnSpc>
              <a:buNone/>
            </a:pPr>
            <a:r>
              <a:rPr lang="en-US" sz="1400" dirty="0">
                <a:solidFill>
                  <a:srgbClr val="AEBDD6"/>
                </a:solidFill>
                <a:latin typeface="Meiryo UI" pitchFamily="34" charset="0"/>
                <a:ea typeface="Meiryo UI" pitchFamily="34" charset="-122"/>
                <a:cs typeface="Meiryo UI" pitchFamily="34" charset="-120"/>
              </a:rPr>
              <a:t>― 真因に対する解決策を「デジタル（DX）」と「非デジタル」に分けて構想し、</a:t>
            </a:r>
            <a:endParaRPr lang="en-US" sz="1400" dirty="0"/>
          </a:p>
          <a:p>
            <a:pPr indent="0" marL="0">
              <a:lnSpc>
                <a:spcPct val="125000"/>
              </a:lnSpc>
              <a:buNone/>
            </a:pPr>
            <a:r>
              <a:rPr lang="en-US" sz="1400" dirty="0">
                <a:solidFill>
                  <a:srgbClr val="AEBDD6"/>
                </a:solidFill>
                <a:latin typeface="Meiryo UI" pitchFamily="34" charset="0"/>
                <a:ea typeface="Meiryo UI" pitchFamily="34" charset="-122"/>
                <a:cs typeface="Meiryo UI" pitchFamily="34" charset="-120"/>
              </a:rPr>
              <a:t>    2040年からのバックキャストで短期・中期・長期の施策に展開する ―</a:t>
            </a:r>
            <a:endParaRPr lang="en-US" sz="1400" dirty="0"/>
          </a:p>
        </p:txBody>
      </p:sp>
      <p:sp>
        <p:nvSpPr>
          <p:cNvPr id="9" name="Shape 7"/>
          <p:cNvSpPr/>
          <p:nvPr/>
        </p:nvSpPr>
        <p:spPr>
          <a:xfrm>
            <a:off x="841248" y="4892040"/>
            <a:ext cx="2011680" cy="0"/>
          </a:xfrm>
          <a:prstGeom prst="line">
            <a:avLst/>
          </a:prstGeom>
          <a:noFill/>
          <a:ln w="31750">
            <a:solidFill>
              <a:srgbClr val="C8102E"/>
            </a:solidFill>
            <a:prstDash val="solid"/>
          </a:ln>
        </p:spPr>
      </p:sp>
      <p:sp>
        <p:nvSpPr>
          <p:cNvPr id="10" name="Text 8"/>
          <p:cNvSpPr/>
          <p:nvPr/>
        </p:nvSpPr>
        <p:spPr>
          <a:xfrm>
            <a:off x="822960" y="5074920"/>
            <a:ext cx="10515600" cy="365760"/>
          </a:xfrm>
          <a:prstGeom prst="rect">
            <a:avLst/>
          </a:prstGeom>
          <a:noFill/>
          <a:ln/>
        </p:spPr>
        <p:txBody>
          <a:bodyPr wrap="square" lIns="0" tIns="0" rIns="0" bIns="0" rtlCol="0" anchor="ctr"/>
          <a:lstStyle/>
          <a:p>
            <a:pPr indent="0" marL="0">
              <a:buNone/>
            </a:pPr>
            <a:r>
              <a:rPr lang="en-US" sz="1100" dirty="0">
                <a:solidFill>
                  <a:srgbClr val="8FA3C4"/>
                </a:solidFill>
                <a:latin typeface="Meiryo UI" pitchFamily="34" charset="0"/>
                <a:ea typeface="Meiryo UI" pitchFamily="34" charset="-122"/>
                <a:cs typeface="Meiryo UI" pitchFamily="34" charset="-120"/>
              </a:rPr>
              <a:t>V0.1（営業・マーケティングDX方針）/ V0.2（環境分析・真因整理）を踏まえた戦略提言　|　デジタル戦略部 討議用</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EXECUTIVE SUMMARY</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エグゼクティブサマリ</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真因は「変換回路・時間・動機」の3つの不在。解は独自資産を核にした攻め2テーマ＋真因解消6テーマを、デジタル/非デジタルで役割分担して実行する</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517904"/>
            <a:ext cx="1600200" cy="914400"/>
          </a:xfrm>
          <a:prstGeom prst="rect">
            <a:avLst/>
          </a:prstGeom>
          <a:solidFill>
            <a:srgbClr val="F4F6F9"/>
          </a:solidFill>
          <a:ln w="9525">
            <a:solidFill>
              <a:srgbClr val="D9DEE6"/>
            </a:solidFill>
            <a:prstDash val="solid"/>
          </a:ln>
        </p:spPr>
      </p:sp>
      <p:sp>
        <p:nvSpPr>
          <p:cNvPr id="7" name="Shape 5"/>
          <p:cNvSpPr/>
          <p:nvPr/>
        </p:nvSpPr>
        <p:spPr>
          <a:xfrm>
            <a:off x="502920" y="1517904"/>
            <a:ext cx="64008" cy="914400"/>
          </a:xfrm>
          <a:prstGeom prst="rect">
            <a:avLst/>
          </a:prstGeom>
          <a:solidFill>
            <a:srgbClr val="16233A"/>
          </a:solidFill>
          <a:ln/>
        </p:spPr>
      </p:sp>
      <p:sp>
        <p:nvSpPr>
          <p:cNvPr id="8" name="Text 6"/>
          <p:cNvSpPr/>
          <p:nvPr/>
        </p:nvSpPr>
        <p:spPr>
          <a:xfrm>
            <a:off x="612648" y="1517904"/>
            <a:ext cx="1463040" cy="914400"/>
          </a:xfrm>
          <a:prstGeom prst="rect">
            <a:avLst/>
          </a:prstGeom>
          <a:noFill/>
          <a:ln/>
        </p:spPr>
        <p:txBody>
          <a:bodyPr wrap="square" lIns="0" tIns="0" rIns="0" bIns="0" rtlCol="0" anchor="ctr"/>
          <a:lstStyle/>
          <a:p>
            <a:pPr indent="0" marL="0">
              <a:buNone/>
            </a:pPr>
            <a:r>
              <a:rPr lang="en-US" sz="1150" b="1" dirty="0">
                <a:solidFill>
                  <a:srgbClr val="16233A"/>
                </a:solidFill>
                <a:latin typeface="Meiryo UI" pitchFamily="34" charset="0"/>
                <a:ea typeface="Meiryo UI" pitchFamily="34" charset="-122"/>
                <a:cs typeface="Meiryo UI" pitchFamily="34" charset="-120"/>
              </a:rPr>
              <a:t>2040年の前提</a:t>
            </a:r>
            <a:endParaRPr lang="en-US" sz="1150" dirty="0"/>
          </a:p>
        </p:txBody>
      </p:sp>
      <p:sp>
        <p:nvSpPr>
          <p:cNvPr id="9" name="Text 7"/>
          <p:cNvSpPr/>
          <p:nvPr/>
        </p:nvSpPr>
        <p:spPr>
          <a:xfrm>
            <a:off x="2286000" y="1554480"/>
            <a:ext cx="9372600" cy="868680"/>
          </a:xfrm>
          <a:prstGeom prst="rect">
            <a:avLst/>
          </a:prstGeom>
          <a:noFill/>
          <a:ln/>
        </p:spPr>
        <p:txBody>
          <a:bodyPr wrap="square" lIns="0" tIns="0" rIns="0" bIns="0" rtlCol="0" anchor="ctr"/>
          <a:lstStyle/>
          <a:p>
            <a:pPr indent="0" marL="0">
              <a:lnSpc>
                <a:spcPct val="112000"/>
              </a:lnSpc>
              <a:buNone/>
            </a:pPr>
            <a:r>
              <a:rPr lang="en-US" sz="1020" dirty="0">
                <a:solidFill>
                  <a:srgbClr val="1F2733"/>
                </a:solidFill>
                <a:latin typeface="Meiryo UI" pitchFamily="34" charset="0"/>
                <a:ea typeface="Meiryo UI" pitchFamily="34" charset="-122"/>
                <a:cs typeface="Meiryo UI" pitchFamily="34" charset="-120"/>
              </a:rPr>
              <a:t>購買は「人が選ぶ高付加価値経路」と「AIに任せるコモディティ経路」に二層化。小売は物販から「データ＆メディア業」へ転換し、環境・健康データが取引の足切り条件になる。従来の「マス認知→棚で勝つ」一本足モデルは構造的に機能しなくなる。</a:t>
            </a:r>
            <a:endParaRPr lang="en-US" sz="1020" dirty="0"/>
          </a:p>
        </p:txBody>
      </p:sp>
      <p:sp>
        <p:nvSpPr>
          <p:cNvPr id="10" name="Shape 8"/>
          <p:cNvSpPr/>
          <p:nvPr/>
        </p:nvSpPr>
        <p:spPr>
          <a:xfrm>
            <a:off x="502920" y="2505456"/>
            <a:ext cx="1600200" cy="914400"/>
          </a:xfrm>
          <a:prstGeom prst="rect">
            <a:avLst/>
          </a:prstGeom>
          <a:solidFill>
            <a:srgbClr val="F4F6F9"/>
          </a:solidFill>
          <a:ln w="9525">
            <a:solidFill>
              <a:srgbClr val="D9DEE6"/>
            </a:solidFill>
            <a:prstDash val="solid"/>
          </a:ln>
        </p:spPr>
      </p:sp>
      <p:sp>
        <p:nvSpPr>
          <p:cNvPr id="11" name="Shape 9"/>
          <p:cNvSpPr/>
          <p:nvPr/>
        </p:nvSpPr>
        <p:spPr>
          <a:xfrm>
            <a:off x="502920" y="2505456"/>
            <a:ext cx="64008" cy="914400"/>
          </a:xfrm>
          <a:prstGeom prst="rect">
            <a:avLst/>
          </a:prstGeom>
          <a:solidFill>
            <a:srgbClr val="C8102E"/>
          </a:solidFill>
          <a:ln/>
        </p:spPr>
      </p:sp>
      <p:sp>
        <p:nvSpPr>
          <p:cNvPr id="12" name="Text 10"/>
          <p:cNvSpPr/>
          <p:nvPr/>
        </p:nvSpPr>
        <p:spPr>
          <a:xfrm>
            <a:off x="612648" y="2505456"/>
            <a:ext cx="1463040" cy="914400"/>
          </a:xfrm>
          <a:prstGeom prst="rect">
            <a:avLst/>
          </a:prstGeom>
          <a:noFill/>
          <a:ln/>
        </p:spPr>
        <p:txBody>
          <a:bodyPr wrap="square" lIns="0" tIns="0" rIns="0" bIns="0" rtlCol="0" anchor="ctr"/>
          <a:lstStyle/>
          <a:p>
            <a:pPr indent="0" marL="0">
              <a:buNone/>
            </a:pPr>
            <a:r>
              <a:rPr lang="en-US" sz="1150" b="1" dirty="0">
                <a:solidFill>
                  <a:srgbClr val="16233A"/>
                </a:solidFill>
                <a:latin typeface="Meiryo UI" pitchFamily="34" charset="0"/>
                <a:ea typeface="Meiryo UI" pitchFamily="34" charset="-122"/>
                <a:cs typeface="Meiryo UI" pitchFamily="34" charset="-120"/>
              </a:rPr>
              <a:t>真因</a:t>
            </a:r>
            <a:endParaRPr lang="en-US" sz="1150" dirty="0"/>
          </a:p>
        </p:txBody>
      </p:sp>
      <p:sp>
        <p:nvSpPr>
          <p:cNvPr id="13" name="Text 11"/>
          <p:cNvSpPr/>
          <p:nvPr/>
        </p:nvSpPr>
        <p:spPr>
          <a:xfrm>
            <a:off x="2286000" y="2542032"/>
            <a:ext cx="9372600" cy="868680"/>
          </a:xfrm>
          <a:prstGeom prst="rect">
            <a:avLst/>
          </a:prstGeom>
          <a:noFill/>
          <a:ln/>
        </p:spPr>
        <p:txBody>
          <a:bodyPr wrap="square" lIns="0" tIns="0" rIns="0" bIns="0" rtlCol="0" anchor="ctr"/>
          <a:lstStyle/>
          <a:p>
            <a:pPr indent="0" marL="0">
              <a:lnSpc>
                <a:spcPct val="112000"/>
              </a:lnSpc>
              <a:buNone/>
            </a:pPr>
            <a:r>
              <a:rPr lang="en-US" sz="1020" dirty="0">
                <a:solidFill>
                  <a:srgbClr val="1F2733"/>
                </a:solidFill>
                <a:latin typeface="Meiryo UI" pitchFamily="34" charset="0"/>
                <a:ea typeface="Meiryo UI" pitchFamily="34" charset="-122"/>
                <a:cs typeface="Meiryo UI" pitchFamily="34" charset="-120"/>
              </a:rPr>
              <a:t>値引き消耗戦・属人営業・データ分断という表層課題を遡ると、①変換回路の不在（縦割りにより習慣化知見が換金されない）②時間の不在（内向き業務の常態化、対P&amp;G7.6倍の生産性格差）③動機の不在（短期売上偏重の評価と切迫感の欠如）の3つに集約される。</a:t>
            </a:r>
            <a:endParaRPr lang="en-US" sz="1020" dirty="0"/>
          </a:p>
        </p:txBody>
      </p:sp>
      <p:sp>
        <p:nvSpPr>
          <p:cNvPr id="14" name="Shape 12"/>
          <p:cNvSpPr/>
          <p:nvPr/>
        </p:nvSpPr>
        <p:spPr>
          <a:xfrm>
            <a:off x="502920" y="3493008"/>
            <a:ext cx="1600200" cy="914400"/>
          </a:xfrm>
          <a:prstGeom prst="rect">
            <a:avLst/>
          </a:prstGeom>
          <a:solidFill>
            <a:srgbClr val="F4F6F9"/>
          </a:solidFill>
          <a:ln w="9525">
            <a:solidFill>
              <a:srgbClr val="D9DEE6"/>
            </a:solidFill>
            <a:prstDash val="solid"/>
          </a:ln>
        </p:spPr>
      </p:sp>
      <p:sp>
        <p:nvSpPr>
          <p:cNvPr id="15" name="Shape 13"/>
          <p:cNvSpPr/>
          <p:nvPr/>
        </p:nvSpPr>
        <p:spPr>
          <a:xfrm>
            <a:off x="502920" y="3493008"/>
            <a:ext cx="64008" cy="914400"/>
          </a:xfrm>
          <a:prstGeom prst="rect">
            <a:avLst/>
          </a:prstGeom>
          <a:solidFill>
            <a:srgbClr val="16233A"/>
          </a:solidFill>
          <a:ln/>
        </p:spPr>
      </p:sp>
      <p:sp>
        <p:nvSpPr>
          <p:cNvPr id="16" name="Text 14"/>
          <p:cNvSpPr/>
          <p:nvPr/>
        </p:nvSpPr>
        <p:spPr>
          <a:xfrm>
            <a:off x="612648" y="3493008"/>
            <a:ext cx="1463040" cy="914400"/>
          </a:xfrm>
          <a:prstGeom prst="rect">
            <a:avLst/>
          </a:prstGeom>
          <a:noFill/>
          <a:ln/>
        </p:spPr>
        <p:txBody>
          <a:bodyPr wrap="square" lIns="0" tIns="0" rIns="0" bIns="0" rtlCol="0" anchor="ctr"/>
          <a:lstStyle/>
          <a:p>
            <a:pPr indent="0" marL="0">
              <a:buNone/>
            </a:pPr>
            <a:r>
              <a:rPr lang="en-US" sz="1150" b="1" dirty="0">
                <a:solidFill>
                  <a:srgbClr val="16233A"/>
                </a:solidFill>
                <a:latin typeface="Meiryo UI" pitchFamily="34" charset="0"/>
                <a:ea typeface="Meiryo UI" pitchFamily="34" charset="-122"/>
                <a:cs typeface="Meiryo UI" pitchFamily="34" charset="-120"/>
              </a:rPr>
              <a:t>ライオンの勝ち筋</a:t>
            </a:r>
            <a:endParaRPr lang="en-US" sz="1150" dirty="0"/>
          </a:p>
        </p:txBody>
      </p:sp>
      <p:sp>
        <p:nvSpPr>
          <p:cNvPr id="17" name="Text 15"/>
          <p:cNvSpPr/>
          <p:nvPr/>
        </p:nvSpPr>
        <p:spPr>
          <a:xfrm>
            <a:off x="2286000" y="3529584"/>
            <a:ext cx="9372600" cy="868680"/>
          </a:xfrm>
          <a:prstGeom prst="rect">
            <a:avLst/>
          </a:prstGeom>
          <a:noFill/>
          <a:ln/>
        </p:spPr>
        <p:txBody>
          <a:bodyPr wrap="square" lIns="0" tIns="0" rIns="0" bIns="0" rtlCol="0" anchor="ctr"/>
          <a:lstStyle/>
          <a:p>
            <a:pPr indent="0" marL="0">
              <a:lnSpc>
                <a:spcPct val="112000"/>
              </a:lnSpc>
              <a:buNone/>
            </a:pPr>
            <a:r>
              <a:rPr lang="en-US" sz="1020" dirty="0">
                <a:solidFill>
                  <a:srgbClr val="1F2733"/>
                </a:solidFill>
                <a:latin typeface="Meiryo UI" pitchFamily="34" charset="0"/>
                <a:ea typeface="Meiryo UI" pitchFamily="34" charset="-122"/>
                <a:cs typeface="Meiryo UI" pitchFamily="34" charset="-120"/>
              </a:rPr>
              <a:t>歯科医師会・学校・幼稚園・自治体との「制度・職能ネットワーク」×習慣化の臨床データ×OTC薬事知見は、資本で買えないライオン固有の資産。AIが購買を代行する2040年、幼少期からの「習慣の初期設定」を握る者がAI自動補充のデフォルトを握る。日用品メーカーから「予防習慣インフラ企業」へ。</a:t>
            </a:r>
            <a:endParaRPr lang="en-US" sz="1020" dirty="0"/>
          </a:p>
        </p:txBody>
      </p:sp>
      <p:sp>
        <p:nvSpPr>
          <p:cNvPr id="18" name="Shape 16"/>
          <p:cNvSpPr/>
          <p:nvPr/>
        </p:nvSpPr>
        <p:spPr>
          <a:xfrm>
            <a:off x="502920" y="4480560"/>
            <a:ext cx="1600200" cy="914400"/>
          </a:xfrm>
          <a:prstGeom prst="rect">
            <a:avLst/>
          </a:prstGeom>
          <a:solidFill>
            <a:srgbClr val="F4F6F9"/>
          </a:solidFill>
          <a:ln w="9525">
            <a:solidFill>
              <a:srgbClr val="D9DEE6"/>
            </a:solidFill>
            <a:prstDash val="solid"/>
          </a:ln>
        </p:spPr>
      </p:sp>
      <p:sp>
        <p:nvSpPr>
          <p:cNvPr id="19" name="Shape 17"/>
          <p:cNvSpPr/>
          <p:nvPr/>
        </p:nvSpPr>
        <p:spPr>
          <a:xfrm>
            <a:off x="502920" y="4480560"/>
            <a:ext cx="64008" cy="914400"/>
          </a:xfrm>
          <a:prstGeom prst="rect">
            <a:avLst/>
          </a:prstGeom>
          <a:solidFill>
            <a:srgbClr val="16233A"/>
          </a:solidFill>
          <a:ln/>
        </p:spPr>
      </p:sp>
      <p:sp>
        <p:nvSpPr>
          <p:cNvPr id="20" name="Text 18"/>
          <p:cNvSpPr/>
          <p:nvPr/>
        </p:nvSpPr>
        <p:spPr>
          <a:xfrm>
            <a:off x="612648" y="4480560"/>
            <a:ext cx="1463040" cy="914400"/>
          </a:xfrm>
          <a:prstGeom prst="rect">
            <a:avLst/>
          </a:prstGeom>
          <a:noFill/>
          <a:ln/>
        </p:spPr>
        <p:txBody>
          <a:bodyPr wrap="square" lIns="0" tIns="0" rIns="0" bIns="0" rtlCol="0" anchor="ctr"/>
          <a:lstStyle/>
          <a:p>
            <a:pPr indent="0" marL="0">
              <a:buNone/>
            </a:pPr>
            <a:r>
              <a:rPr lang="en-US" sz="1150" b="1" dirty="0">
                <a:solidFill>
                  <a:srgbClr val="16233A"/>
                </a:solidFill>
                <a:latin typeface="Meiryo UI" pitchFamily="34" charset="0"/>
                <a:ea typeface="Meiryo UI" pitchFamily="34" charset="-122"/>
                <a:cs typeface="Meiryo UI" pitchFamily="34" charset="-120"/>
              </a:rPr>
              <a:t>変革テーマ</a:t>
            </a:r>
            <a:endParaRPr lang="en-US" sz="1150" dirty="0"/>
          </a:p>
        </p:txBody>
      </p:sp>
      <p:sp>
        <p:nvSpPr>
          <p:cNvPr id="21" name="Text 19"/>
          <p:cNvSpPr/>
          <p:nvPr/>
        </p:nvSpPr>
        <p:spPr>
          <a:xfrm>
            <a:off x="2286000" y="4517136"/>
            <a:ext cx="9372600" cy="868680"/>
          </a:xfrm>
          <a:prstGeom prst="rect">
            <a:avLst/>
          </a:prstGeom>
          <a:noFill/>
          <a:ln/>
        </p:spPr>
        <p:txBody>
          <a:bodyPr wrap="square" lIns="0" tIns="0" rIns="0" bIns="0" rtlCol="0" anchor="ctr"/>
          <a:lstStyle/>
          <a:p>
            <a:pPr indent="0" marL="0">
              <a:lnSpc>
                <a:spcPct val="112000"/>
              </a:lnSpc>
              <a:buNone/>
            </a:pPr>
            <a:r>
              <a:rPr lang="en-US" sz="1020" dirty="0">
                <a:solidFill>
                  <a:srgbClr val="1F2733"/>
                </a:solidFill>
                <a:latin typeface="Meiryo UI" pitchFamily="34" charset="0"/>
                <a:ea typeface="Meiryo UI" pitchFamily="34" charset="-122"/>
                <a:cs typeface="Meiryo UI" pitchFamily="34" charset="-120"/>
              </a:rPr>
              <a:t>攻め（独自の土俵づくり）と基盤（真因の解消）の二階建て・計8テーマ。デジタル4テーマは「変換・自動化・可視化」（エビデンス変換エンジン／Input業務ゼロ化／買われ方コックピット／予防習慣プラットフォーム）、非デジタル4テーマは「土俵・組織・決断・動機」を受け持つ。</a:t>
            </a:r>
            <a:endParaRPr lang="en-US" sz="1020" dirty="0"/>
          </a:p>
        </p:txBody>
      </p:sp>
      <p:sp>
        <p:nvSpPr>
          <p:cNvPr id="22" name="Shape 20"/>
          <p:cNvSpPr/>
          <p:nvPr/>
        </p:nvSpPr>
        <p:spPr>
          <a:xfrm>
            <a:off x="502920" y="5468112"/>
            <a:ext cx="1600200" cy="914400"/>
          </a:xfrm>
          <a:prstGeom prst="rect">
            <a:avLst/>
          </a:prstGeom>
          <a:solidFill>
            <a:srgbClr val="F4F6F9"/>
          </a:solidFill>
          <a:ln w="9525">
            <a:solidFill>
              <a:srgbClr val="D9DEE6"/>
            </a:solidFill>
            <a:prstDash val="solid"/>
          </a:ln>
        </p:spPr>
      </p:sp>
      <p:sp>
        <p:nvSpPr>
          <p:cNvPr id="23" name="Shape 21"/>
          <p:cNvSpPr/>
          <p:nvPr/>
        </p:nvSpPr>
        <p:spPr>
          <a:xfrm>
            <a:off x="502920" y="5468112"/>
            <a:ext cx="64008" cy="914400"/>
          </a:xfrm>
          <a:prstGeom prst="rect">
            <a:avLst/>
          </a:prstGeom>
          <a:solidFill>
            <a:srgbClr val="16233A"/>
          </a:solidFill>
          <a:ln/>
        </p:spPr>
      </p:sp>
      <p:sp>
        <p:nvSpPr>
          <p:cNvPr id="24" name="Text 22"/>
          <p:cNvSpPr/>
          <p:nvPr/>
        </p:nvSpPr>
        <p:spPr>
          <a:xfrm>
            <a:off x="612648" y="5468112"/>
            <a:ext cx="1463040" cy="914400"/>
          </a:xfrm>
          <a:prstGeom prst="rect">
            <a:avLst/>
          </a:prstGeom>
          <a:noFill/>
          <a:ln/>
        </p:spPr>
        <p:txBody>
          <a:bodyPr wrap="square" lIns="0" tIns="0" rIns="0" bIns="0" rtlCol="0" anchor="ctr"/>
          <a:lstStyle/>
          <a:p>
            <a:pPr indent="0" marL="0">
              <a:buNone/>
            </a:pPr>
            <a:r>
              <a:rPr lang="en-US" sz="1150" b="1" dirty="0">
                <a:solidFill>
                  <a:srgbClr val="16233A"/>
                </a:solidFill>
                <a:latin typeface="Meiryo UI" pitchFamily="34" charset="0"/>
                <a:ea typeface="Meiryo UI" pitchFamily="34" charset="-122"/>
                <a:cs typeface="Meiryo UI" pitchFamily="34" charset="-120"/>
              </a:rPr>
              <a:t>進め方</a:t>
            </a:r>
            <a:endParaRPr lang="en-US" sz="1150" dirty="0"/>
          </a:p>
        </p:txBody>
      </p:sp>
      <p:sp>
        <p:nvSpPr>
          <p:cNvPr id="25" name="Text 23"/>
          <p:cNvSpPr/>
          <p:nvPr/>
        </p:nvSpPr>
        <p:spPr>
          <a:xfrm>
            <a:off x="2286000" y="5504688"/>
            <a:ext cx="9372600" cy="868680"/>
          </a:xfrm>
          <a:prstGeom prst="rect">
            <a:avLst/>
          </a:prstGeom>
          <a:noFill/>
          <a:ln/>
        </p:spPr>
        <p:txBody>
          <a:bodyPr wrap="square" lIns="0" tIns="0" rIns="0" bIns="0" rtlCol="0" anchor="ctr"/>
          <a:lstStyle/>
          <a:p>
            <a:pPr indent="0" marL="0">
              <a:lnSpc>
                <a:spcPct val="112000"/>
              </a:lnSpc>
              <a:buNone/>
            </a:pPr>
            <a:r>
              <a:rPr lang="en-US" sz="1020" dirty="0">
                <a:solidFill>
                  <a:srgbClr val="1F2733"/>
                </a:solidFill>
                <a:latin typeface="Meiryo UI" pitchFamily="34" charset="0"/>
                <a:ea typeface="Meiryo UI" pitchFamily="34" charset="-122"/>
                <a:cs typeface="Meiryo UI" pitchFamily="34" charset="-120"/>
              </a:rPr>
              <a:t>短期（〜2028年）＝土台：時間創出と「最初の1個の数字」による実証。中期（〜2034年）＝転換：CDP・API稼働と商談スタイルの転換、連携推進機能の正式化。長期（〜2040年）＝完成：AI自動補充ホワイトリストの独占とLTV評価への完全転換。</a:t>
            </a:r>
            <a:endParaRPr lang="en-US" sz="1020" dirty="0"/>
          </a:p>
        </p:txBody>
      </p:sp>
      <p:sp>
        <p:nvSpPr>
          <p:cNvPr id="26" name="Text 24"/>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APPROACH</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検討アプローチ ― 既存分析の流れと本提言の位置づけ</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V0.1/V0.2の環境分析（PEST/3C/SWOT）と真因整理を所与とし、本提言は「真因への解決策の構想」から「時間軸への展開」までを担う</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828800"/>
            <a:ext cx="2121408" cy="2651760"/>
          </a:xfrm>
          <a:prstGeom prst="rect">
            <a:avLst/>
          </a:prstGeom>
          <a:solidFill>
            <a:srgbClr val="F4F6F9"/>
          </a:solidFill>
          <a:ln w="9525">
            <a:solidFill>
              <a:srgbClr val="D9DEE6"/>
            </a:solidFill>
            <a:prstDash val="solid"/>
          </a:ln>
        </p:spPr>
      </p:sp>
      <p:sp>
        <p:nvSpPr>
          <p:cNvPr id="7" name="Shape 5"/>
          <p:cNvSpPr/>
          <p:nvPr/>
        </p:nvSpPr>
        <p:spPr>
          <a:xfrm>
            <a:off x="502920" y="1828800"/>
            <a:ext cx="2121408" cy="82296"/>
          </a:xfrm>
          <a:prstGeom prst="rect">
            <a:avLst/>
          </a:prstGeom>
          <a:solidFill>
            <a:srgbClr val="16233A"/>
          </a:solidFill>
          <a:ln/>
        </p:spPr>
      </p:sp>
      <p:sp>
        <p:nvSpPr>
          <p:cNvPr id="8" name="Text 6"/>
          <p:cNvSpPr/>
          <p:nvPr/>
        </p:nvSpPr>
        <p:spPr>
          <a:xfrm>
            <a:off x="640080" y="2011680"/>
            <a:ext cx="1847088" cy="274320"/>
          </a:xfrm>
          <a:prstGeom prst="rect">
            <a:avLst/>
          </a:prstGeom>
          <a:noFill/>
          <a:ln/>
        </p:spPr>
        <p:txBody>
          <a:bodyPr wrap="square" lIns="0" tIns="0" rIns="0" bIns="0" rtlCol="0" anchor="ctr"/>
          <a:lstStyle/>
          <a:p>
            <a:pPr indent="0" marL="0">
              <a:buNone/>
            </a:pPr>
            <a:r>
              <a:rPr lang="en-US" sz="1000" b="1" spc="100" kern="0" dirty="0">
                <a:solidFill>
                  <a:srgbClr val="16233A"/>
                </a:solidFill>
                <a:latin typeface="Meiryo UI" pitchFamily="34" charset="0"/>
                <a:ea typeface="Meiryo UI" pitchFamily="34" charset="-122"/>
                <a:cs typeface="Meiryo UI" pitchFamily="34" charset="-120"/>
              </a:rPr>
              <a:t>STEP 1</a:t>
            </a:r>
            <a:endParaRPr lang="en-US" sz="1000" dirty="0"/>
          </a:p>
        </p:txBody>
      </p:sp>
      <p:sp>
        <p:nvSpPr>
          <p:cNvPr id="9" name="Text 7"/>
          <p:cNvSpPr/>
          <p:nvPr/>
        </p:nvSpPr>
        <p:spPr>
          <a:xfrm>
            <a:off x="640080" y="2304288"/>
            <a:ext cx="1847088" cy="566928"/>
          </a:xfrm>
          <a:prstGeom prst="rect">
            <a:avLst/>
          </a:prstGeom>
          <a:noFill/>
          <a:ln/>
        </p:spPr>
        <p:txBody>
          <a:bodyPr wrap="square" lIns="0" tIns="0" rIns="0" bIns="0" rtlCol="0" anchor="ctr"/>
          <a:lstStyle/>
          <a:p>
            <a:pPr indent="0" marL="0">
              <a:buNone/>
            </a:pPr>
            <a:r>
              <a:rPr lang="en-US" sz="1300" b="1" dirty="0">
                <a:solidFill>
                  <a:srgbClr val="16233A"/>
                </a:solidFill>
                <a:latin typeface="Meiryo UI" pitchFamily="34" charset="0"/>
                <a:ea typeface="Meiryo UI" pitchFamily="34" charset="-122"/>
                <a:cs typeface="Meiryo UI" pitchFamily="34" charset="-120"/>
              </a:rPr>
              <a:t>環境変化の構造理解</a:t>
            </a:r>
            <a:endParaRPr lang="en-US" sz="1300" dirty="0"/>
          </a:p>
        </p:txBody>
      </p:sp>
      <p:sp>
        <p:nvSpPr>
          <p:cNvPr id="10" name="Text 8"/>
          <p:cNvSpPr/>
          <p:nvPr/>
        </p:nvSpPr>
        <p:spPr>
          <a:xfrm>
            <a:off x="640080" y="2926080"/>
            <a:ext cx="1847088" cy="1051560"/>
          </a:xfrm>
          <a:prstGeom prst="rect">
            <a:avLst/>
          </a:prstGeom>
          <a:noFill/>
          <a:ln/>
        </p:spPr>
        <p:txBody>
          <a:bodyPr wrap="square" lIns="0" tIns="0" rIns="0" bIns="0" rtlCol="0" anchor="ctr"/>
          <a:lstStyle/>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PEST/3C/SWOT</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購買二層化・小売メディア化・</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環境の取引条件化</a:t>
            </a:r>
            <a:endParaRPr lang="en-US" sz="980" dirty="0"/>
          </a:p>
        </p:txBody>
      </p:sp>
      <p:sp>
        <p:nvSpPr>
          <p:cNvPr id="11" name="Text 9"/>
          <p:cNvSpPr/>
          <p:nvPr/>
        </p:nvSpPr>
        <p:spPr>
          <a:xfrm>
            <a:off x="640080" y="4069080"/>
            <a:ext cx="1847088" cy="274320"/>
          </a:xfrm>
          <a:prstGeom prst="rect">
            <a:avLst/>
          </a:prstGeom>
          <a:noFill/>
          <a:ln/>
        </p:spPr>
        <p:txBody>
          <a:bodyPr wrap="square" lIns="0" tIns="0" rIns="0" bIns="0" rtlCol="0" anchor="ctr"/>
          <a:lstStyle/>
          <a:p>
            <a:pPr indent="0" marL="0">
              <a:buNone/>
            </a:pPr>
            <a:r>
              <a:rPr lang="en-US" sz="850" dirty="0">
                <a:solidFill>
                  <a:srgbClr val="5A6472"/>
                </a:solidFill>
                <a:latin typeface="Meiryo UI" pitchFamily="34" charset="0"/>
                <a:ea typeface="Meiryo UI" pitchFamily="34" charset="-122"/>
                <a:cs typeface="Meiryo UI" pitchFamily="34" charset="-120"/>
              </a:rPr>
              <a:t>V0.1 第1章 / V0.2</a:t>
            </a:r>
            <a:endParaRPr lang="en-US" sz="850" dirty="0"/>
          </a:p>
        </p:txBody>
      </p:sp>
      <p:sp>
        <p:nvSpPr>
          <p:cNvPr id="12" name="Text 10"/>
          <p:cNvSpPr/>
          <p:nvPr/>
        </p:nvSpPr>
        <p:spPr>
          <a:xfrm>
            <a:off x="2592324" y="297180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13" name="Shape 11"/>
          <p:cNvSpPr/>
          <p:nvPr/>
        </p:nvSpPr>
        <p:spPr>
          <a:xfrm>
            <a:off x="2743200" y="1828800"/>
            <a:ext cx="2121408" cy="2651760"/>
          </a:xfrm>
          <a:prstGeom prst="rect">
            <a:avLst/>
          </a:prstGeom>
          <a:solidFill>
            <a:srgbClr val="F4F6F9"/>
          </a:solidFill>
          <a:ln w="9525">
            <a:solidFill>
              <a:srgbClr val="D9DEE6"/>
            </a:solidFill>
            <a:prstDash val="solid"/>
          </a:ln>
        </p:spPr>
      </p:sp>
      <p:sp>
        <p:nvSpPr>
          <p:cNvPr id="14" name="Shape 12"/>
          <p:cNvSpPr/>
          <p:nvPr/>
        </p:nvSpPr>
        <p:spPr>
          <a:xfrm>
            <a:off x="2743200" y="1828800"/>
            <a:ext cx="2121408" cy="82296"/>
          </a:xfrm>
          <a:prstGeom prst="rect">
            <a:avLst/>
          </a:prstGeom>
          <a:solidFill>
            <a:srgbClr val="16233A"/>
          </a:solidFill>
          <a:ln/>
        </p:spPr>
      </p:sp>
      <p:sp>
        <p:nvSpPr>
          <p:cNvPr id="15" name="Text 13"/>
          <p:cNvSpPr/>
          <p:nvPr/>
        </p:nvSpPr>
        <p:spPr>
          <a:xfrm>
            <a:off x="2880360" y="2011680"/>
            <a:ext cx="1847088" cy="274320"/>
          </a:xfrm>
          <a:prstGeom prst="rect">
            <a:avLst/>
          </a:prstGeom>
          <a:noFill/>
          <a:ln/>
        </p:spPr>
        <p:txBody>
          <a:bodyPr wrap="square" lIns="0" tIns="0" rIns="0" bIns="0" rtlCol="0" anchor="ctr"/>
          <a:lstStyle/>
          <a:p>
            <a:pPr indent="0" marL="0">
              <a:buNone/>
            </a:pPr>
            <a:r>
              <a:rPr lang="en-US" sz="1000" b="1" spc="100" kern="0" dirty="0">
                <a:solidFill>
                  <a:srgbClr val="16233A"/>
                </a:solidFill>
                <a:latin typeface="Meiryo UI" pitchFamily="34" charset="0"/>
                <a:ea typeface="Meiryo UI" pitchFamily="34" charset="-122"/>
                <a:cs typeface="Meiryo UI" pitchFamily="34" charset="-120"/>
              </a:rPr>
              <a:t>STEP 2</a:t>
            </a:r>
            <a:endParaRPr lang="en-US" sz="1000" dirty="0"/>
          </a:p>
        </p:txBody>
      </p:sp>
      <p:sp>
        <p:nvSpPr>
          <p:cNvPr id="16" name="Text 14"/>
          <p:cNvSpPr/>
          <p:nvPr/>
        </p:nvSpPr>
        <p:spPr>
          <a:xfrm>
            <a:off x="2880360" y="2304288"/>
            <a:ext cx="1847088" cy="566928"/>
          </a:xfrm>
          <a:prstGeom prst="rect">
            <a:avLst/>
          </a:prstGeom>
          <a:noFill/>
          <a:ln/>
        </p:spPr>
        <p:txBody>
          <a:bodyPr wrap="square" lIns="0" tIns="0" rIns="0" bIns="0" rtlCol="0" anchor="ctr"/>
          <a:lstStyle/>
          <a:p>
            <a:pPr indent="0" marL="0">
              <a:buNone/>
            </a:pPr>
            <a:r>
              <a:rPr lang="en-US" sz="1300" b="1" dirty="0">
                <a:solidFill>
                  <a:srgbClr val="16233A"/>
                </a:solidFill>
                <a:latin typeface="Meiryo UI" pitchFamily="34" charset="0"/>
                <a:ea typeface="Meiryo UI" pitchFamily="34" charset="-122"/>
                <a:cs typeface="Meiryo UI" pitchFamily="34" charset="-120"/>
              </a:rPr>
              <a:t>目指す姿とGAP</a:t>
            </a:r>
            <a:endParaRPr lang="en-US" sz="1300" dirty="0"/>
          </a:p>
        </p:txBody>
      </p:sp>
      <p:sp>
        <p:nvSpPr>
          <p:cNvPr id="17" name="Text 15"/>
          <p:cNvSpPr/>
          <p:nvPr/>
        </p:nvSpPr>
        <p:spPr>
          <a:xfrm>
            <a:off x="2880360" y="2926080"/>
            <a:ext cx="1847088" cy="1051560"/>
          </a:xfrm>
          <a:prstGeom prst="rect">
            <a:avLst/>
          </a:prstGeom>
          <a:noFill/>
          <a:ln/>
        </p:spPr>
        <p:txBody>
          <a:bodyPr wrap="square" lIns="0" tIns="0" rIns="0" bIns="0" rtlCol="0" anchor="ctr"/>
          <a:lstStyle/>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二層ジャーニー対応・</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LTV共通言語・学習ループと</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現状の4つのGAP</a:t>
            </a:r>
            <a:endParaRPr lang="en-US" sz="980" dirty="0"/>
          </a:p>
        </p:txBody>
      </p:sp>
      <p:sp>
        <p:nvSpPr>
          <p:cNvPr id="18" name="Text 16"/>
          <p:cNvSpPr/>
          <p:nvPr/>
        </p:nvSpPr>
        <p:spPr>
          <a:xfrm>
            <a:off x="2880360" y="4069080"/>
            <a:ext cx="1847088" cy="274320"/>
          </a:xfrm>
          <a:prstGeom prst="rect">
            <a:avLst/>
          </a:prstGeom>
          <a:noFill/>
          <a:ln/>
        </p:spPr>
        <p:txBody>
          <a:bodyPr wrap="square" lIns="0" tIns="0" rIns="0" bIns="0" rtlCol="0" anchor="ctr"/>
          <a:lstStyle/>
          <a:p>
            <a:pPr indent="0" marL="0">
              <a:buNone/>
            </a:pPr>
            <a:r>
              <a:rPr lang="en-US" sz="850" dirty="0">
                <a:solidFill>
                  <a:srgbClr val="5A6472"/>
                </a:solidFill>
                <a:latin typeface="Meiryo UI" pitchFamily="34" charset="0"/>
                <a:ea typeface="Meiryo UI" pitchFamily="34" charset="-122"/>
                <a:cs typeface="Meiryo UI" pitchFamily="34" charset="-120"/>
              </a:rPr>
              <a:t>V0.1 第2-3章 / V0.2</a:t>
            </a:r>
            <a:endParaRPr lang="en-US" sz="850" dirty="0"/>
          </a:p>
        </p:txBody>
      </p:sp>
      <p:sp>
        <p:nvSpPr>
          <p:cNvPr id="19" name="Text 17"/>
          <p:cNvSpPr/>
          <p:nvPr/>
        </p:nvSpPr>
        <p:spPr>
          <a:xfrm>
            <a:off x="4832604" y="297180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20" name="Shape 18"/>
          <p:cNvSpPr/>
          <p:nvPr/>
        </p:nvSpPr>
        <p:spPr>
          <a:xfrm>
            <a:off x="4983480" y="1828800"/>
            <a:ext cx="2121408" cy="2651760"/>
          </a:xfrm>
          <a:prstGeom prst="rect">
            <a:avLst/>
          </a:prstGeom>
          <a:solidFill>
            <a:srgbClr val="FBECEC"/>
          </a:solidFill>
          <a:ln w="9525">
            <a:solidFill>
              <a:srgbClr val="D9DEE6"/>
            </a:solidFill>
            <a:prstDash val="solid"/>
          </a:ln>
        </p:spPr>
      </p:sp>
      <p:sp>
        <p:nvSpPr>
          <p:cNvPr id="21" name="Shape 19"/>
          <p:cNvSpPr/>
          <p:nvPr/>
        </p:nvSpPr>
        <p:spPr>
          <a:xfrm>
            <a:off x="4983480" y="1828800"/>
            <a:ext cx="2121408" cy="82296"/>
          </a:xfrm>
          <a:prstGeom prst="rect">
            <a:avLst/>
          </a:prstGeom>
          <a:solidFill>
            <a:srgbClr val="C8102E"/>
          </a:solidFill>
          <a:ln/>
        </p:spPr>
      </p:sp>
      <p:sp>
        <p:nvSpPr>
          <p:cNvPr id="22" name="Text 20"/>
          <p:cNvSpPr/>
          <p:nvPr/>
        </p:nvSpPr>
        <p:spPr>
          <a:xfrm>
            <a:off x="5120640" y="2011680"/>
            <a:ext cx="1847088" cy="274320"/>
          </a:xfrm>
          <a:prstGeom prst="rect">
            <a:avLst/>
          </a:prstGeom>
          <a:noFill/>
          <a:ln/>
        </p:spPr>
        <p:txBody>
          <a:bodyPr wrap="square" lIns="0" tIns="0" rIns="0" bIns="0" rtlCol="0" anchor="ctr"/>
          <a:lstStyle/>
          <a:p>
            <a:pPr indent="0" marL="0">
              <a:buNone/>
            </a:pPr>
            <a:r>
              <a:rPr lang="en-US" sz="1000" b="1" spc="100" kern="0" dirty="0">
                <a:solidFill>
                  <a:srgbClr val="C8102E"/>
                </a:solidFill>
                <a:latin typeface="Meiryo UI" pitchFamily="34" charset="0"/>
                <a:ea typeface="Meiryo UI" pitchFamily="34" charset="-122"/>
                <a:cs typeface="Meiryo UI" pitchFamily="34" charset="-120"/>
              </a:rPr>
              <a:t>STEP 3</a:t>
            </a:r>
            <a:endParaRPr lang="en-US" sz="1000" dirty="0"/>
          </a:p>
        </p:txBody>
      </p:sp>
      <p:sp>
        <p:nvSpPr>
          <p:cNvPr id="23" name="Text 21"/>
          <p:cNvSpPr/>
          <p:nvPr/>
        </p:nvSpPr>
        <p:spPr>
          <a:xfrm>
            <a:off x="5120640" y="2304288"/>
            <a:ext cx="1847088" cy="566928"/>
          </a:xfrm>
          <a:prstGeom prst="rect">
            <a:avLst/>
          </a:prstGeom>
          <a:noFill/>
          <a:ln/>
        </p:spPr>
        <p:txBody>
          <a:bodyPr wrap="square" lIns="0" tIns="0" rIns="0" bIns="0" rtlCol="0" anchor="ctr"/>
          <a:lstStyle/>
          <a:p>
            <a:pPr indent="0" marL="0">
              <a:buNone/>
            </a:pPr>
            <a:r>
              <a:rPr lang="en-US" sz="1300" b="1" dirty="0">
                <a:solidFill>
                  <a:srgbClr val="16233A"/>
                </a:solidFill>
                <a:latin typeface="Meiryo UI" pitchFamily="34" charset="0"/>
                <a:ea typeface="Meiryo UI" pitchFamily="34" charset="-122"/>
                <a:cs typeface="Meiryo UI" pitchFamily="34" charset="-120"/>
              </a:rPr>
              <a:t>真因の特定</a:t>
            </a:r>
            <a:endParaRPr lang="en-US" sz="1300" dirty="0"/>
          </a:p>
        </p:txBody>
      </p:sp>
      <p:sp>
        <p:nvSpPr>
          <p:cNvPr id="24" name="Text 22"/>
          <p:cNvSpPr/>
          <p:nvPr/>
        </p:nvSpPr>
        <p:spPr>
          <a:xfrm>
            <a:off x="5120640" y="2926080"/>
            <a:ext cx="1847088" cy="1051560"/>
          </a:xfrm>
          <a:prstGeom prst="rect">
            <a:avLst/>
          </a:prstGeom>
          <a:noFill/>
          <a:ln/>
        </p:spPr>
        <p:txBody>
          <a:bodyPr wrap="square" lIns="0" tIns="0" rIns="0" bIns="0" rtlCol="0" anchor="ctr"/>
          <a:lstStyle/>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①変換回路の不在</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②時間の不在</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③動機・切迫感の不在</a:t>
            </a:r>
            <a:endParaRPr lang="en-US" sz="980" dirty="0"/>
          </a:p>
        </p:txBody>
      </p:sp>
      <p:sp>
        <p:nvSpPr>
          <p:cNvPr id="25" name="Text 23"/>
          <p:cNvSpPr/>
          <p:nvPr/>
        </p:nvSpPr>
        <p:spPr>
          <a:xfrm>
            <a:off x="5120640" y="4069080"/>
            <a:ext cx="1847088" cy="274320"/>
          </a:xfrm>
          <a:prstGeom prst="rect">
            <a:avLst/>
          </a:prstGeom>
          <a:noFill/>
          <a:ln/>
        </p:spPr>
        <p:txBody>
          <a:bodyPr wrap="square" lIns="0" tIns="0" rIns="0" bIns="0" rtlCol="0" anchor="ctr"/>
          <a:lstStyle/>
          <a:p>
            <a:pPr indent="0" marL="0">
              <a:buNone/>
            </a:pPr>
            <a:r>
              <a:rPr lang="en-US" sz="850" dirty="0">
                <a:solidFill>
                  <a:srgbClr val="5A6472"/>
                </a:solidFill>
                <a:latin typeface="Meiryo UI" pitchFamily="34" charset="0"/>
                <a:ea typeface="Meiryo UI" pitchFamily="34" charset="-122"/>
                <a:cs typeface="Meiryo UI" pitchFamily="34" charset="-120"/>
              </a:rPr>
              <a:t>V0.1 第3章 / V0.2 統合</a:t>
            </a:r>
            <a:endParaRPr lang="en-US" sz="850" dirty="0"/>
          </a:p>
        </p:txBody>
      </p:sp>
      <p:sp>
        <p:nvSpPr>
          <p:cNvPr id="26" name="Text 24"/>
          <p:cNvSpPr/>
          <p:nvPr/>
        </p:nvSpPr>
        <p:spPr>
          <a:xfrm>
            <a:off x="7072884" y="297180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27" name="Shape 25"/>
          <p:cNvSpPr/>
          <p:nvPr/>
        </p:nvSpPr>
        <p:spPr>
          <a:xfrm>
            <a:off x="7223760" y="1828800"/>
            <a:ext cx="2121408" cy="2651760"/>
          </a:xfrm>
          <a:prstGeom prst="rect">
            <a:avLst/>
          </a:prstGeom>
          <a:solidFill>
            <a:srgbClr val="EAF3F8"/>
          </a:solidFill>
          <a:ln w="9525">
            <a:solidFill>
              <a:srgbClr val="D9DEE6"/>
            </a:solidFill>
            <a:prstDash val="solid"/>
          </a:ln>
        </p:spPr>
      </p:sp>
      <p:sp>
        <p:nvSpPr>
          <p:cNvPr id="28" name="Shape 26"/>
          <p:cNvSpPr/>
          <p:nvPr/>
        </p:nvSpPr>
        <p:spPr>
          <a:xfrm>
            <a:off x="7223760" y="1828800"/>
            <a:ext cx="2121408" cy="82296"/>
          </a:xfrm>
          <a:prstGeom prst="rect">
            <a:avLst/>
          </a:prstGeom>
          <a:solidFill>
            <a:srgbClr val="0F5E87"/>
          </a:solidFill>
          <a:ln/>
        </p:spPr>
      </p:sp>
      <p:sp>
        <p:nvSpPr>
          <p:cNvPr id="29" name="Text 27"/>
          <p:cNvSpPr/>
          <p:nvPr/>
        </p:nvSpPr>
        <p:spPr>
          <a:xfrm>
            <a:off x="7360920" y="2011680"/>
            <a:ext cx="1847088" cy="274320"/>
          </a:xfrm>
          <a:prstGeom prst="rect">
            <a:avLst/>
          </a:prstGeom>
          <a:noFill/>
          <a:ln/>
        </p:spPr>
        <p:txBody>
          <a:bodyPr wrap="square" lIns="0" tIns="0" rIns="0" bIns="0" rtlCol="0" anchor="ctr"/>
          <a:lstStyle/>
          <a:p>
            <a:pPr indent="0" marL="0">
              <a:buNone/>
            </a:pPr>
            <a:r>
              <a:rPr lang="en-US" sz="1000" b="1" spc="100" kern="0" dirty="0">
                <a:solidFill>
                  <a:srgbClr val="0F5E87"/>
                </a:solidFill>
                <a:latin typeface="Meiryo UI" pitchFamily="34" charset="0"/>
                <a:ea typeface="Meiryo UI" pitchFamily="34" charset="-122"/>
                <a:cs typeface="Meiryo UI" pitchFamily="34" charset="-120"/>
              </a:rPr>
              <a:t>STEP 4</a:t>
            </a:r>
            <a:endParaRPr lang="en-US" sz="1000" dirty="0"/>
          </a:p>
        </p:txBody>
      </p:sp>
      <p:sp>
        <p:nvSpPr>
          <p:cNvPr id="30" name="Text 28"/>
          <p:cNvSpPr/>
          <p:nvPr/>
        </p:nvSpPr>
        <p:spPr>
          <a:xfrm>
            <a:off x="7360920" y="2304288"/>
            <a:ext cx="1847088" cy="566928"/>
          </a:xfrm>
          <a:prstGeom prst="rect">
            <a:avLst/>
          </a:prstGeom>
          <a:noFill/>
          <a:ln/>
        </p:spPr>
        <p:txBody>
          <a:bodyPr wrap="square" lIns="0" tIns="0" rIns="0" bIns="0" rtlCol="0" anchor="ctr"/>
          <a:lstStyle/>
          <a:p>
            <a:pPr indent="0" marL="0">
              <a:buNone/>
            </a:pPr>
            <a:r>
              <a:rPr lang="en-US" sz="1300" b="1" dirty="0">
                <a:solidFill>
                  <a:srgbClr val="16233A"/>
                </a:solidFill>
                <a:latin typeface="Meiryo UI" pitchFamily="34" charset="0"/>
                <a:ea typeface="Meiryo UI" pitchFamily="34" charset="-122"/>
                <a:cs typeface="Meiryo UI" pitchFamily="34" charset="-120"/>
              </a:rPr>
              <a:t>解決テーマの構想</a:t>
            </a:r>
            <a:endParaRPr lang="en-US" sz="1300" dirty="0"/>
          </a:p>
        </p:txBody>
      </p:sp>
      <p:sp>
        <p:nvSpPr>
          <p:cNvPr id="31" name="Text 29"/>
          <p:cNvSpPr/>
          <p:nvPr/>
        </p:nvSpPr>
        <p:spPr>
          <a:xfrm>
            <a:off x="7360920" y="2926080"/>
            <a:ext cx="1847088" cy="1051560"/>
          </a:xfrm>
          <a:prstGeom prst="rect">
            <a:avLst/>
          </a:prstGeom>
          <a:noFill/>
          <a:ln/>
        </p:spPr>
        <p:txBody>
          <a:bodyPr wrap="square" lIns="0" tIns="0" rIns="0" bIns="0" rtlCol="0" anchor="ctr"/>
          <a:lstStyle/>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真因×独自資産から</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デジタル4＋非デジタル4の</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8テーマを設計</a:t>
            </a:r>
            <a:endParaRPr lang="en-US" sz="980" dirty="0"/>
          </a:p>
        </p:txBody>
      </p:sp>
      <p:sp>
        <p:nvSpPr>
          <p:cNvPr id="32" name="Text 30"/>
          <p:cNvSpPr/>
          <p:nvPr/>
        </p:nvSpPr>
        <p:spPr>
          <a:xfrm>
            <a:off x="7360920" y="4069080"/>
            <a:ext cx="1847088" cy="274320"/>
          </a:xfrm>
          <a:prstGeom prst="rect">
            <a:avLst/>
          </a:prstGeom>
          <a:noFill/>
          <a:ln/>
        </p:spPr>
        <p:txBody>
          <a:bodyPr wrap="square" lIns="0" tIns="0" rIns="0" bIns="0" rtlCol="0" anchor="ctr"/>
          <a:lstStyle/>
          <a:p>
            <a:pPr indent="0" marL="0">
              <a:buNone/>
            </a:pPr>
            <a:r>
              <a:rPr lang="en-US" sz="850" dirty="0">
                <a:solidFill>
                  <a:srgbClr val="5A6472"/>
                </a:solidFill>
                <a:latin typeface="Meiryo UI" pitchFamily="34" charset="0"/>
                <a:ea typeface="Meiryo UI" pitchFamily="34" charset="-122"/>
                <a:cs typeface="Meiryo UI" pitchFamily="34" charset="-120"/>
              </a:rPr>
              <a:t>本提言（新規）</a:t>
            </a:r>
            <a:endParaRPr lang="en-US" sz="850" dirty="0"/>
          </a:p>
        </p:txBody>
      </p:sp>
      <p:sp>
        <p:nvSpPr>
          <p:cNvPr id="33" name="Text 31"/>
          <p:cNvSpPr/>
          <p:nvPr/>
        </p:nvSpPr>
        <p:spPr>
          <a:xfrm>
            <a:off x="9313164" y="297180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34" name="Shape 32"/>
          <p:cNvSpPr/>
          <p:nvPr/>
        </p:nvSpPr>
        <p:spPr>
          <a:xfrm>
            <a:off x="9464040" y="1828800"/>
            <a:ext cx="2121408" cy="2651760"/>
          </a:xfrm>
          <a:prstGeom prst="rect">
            <a:avLst/>
          </a:prstGeom>
          <a:solidFill>
            <a:srgbClr val="EEF4EC"/>
          </a:solidFill>
          <a:ln w="9525">
            <a:solidFill>
              <a:srgbClr val="D9DEE6"/>
            </a:solidFill>
            <a:prstDash val="solid"/>
          </a:ln>
        </p:spPr>
      </p:sp>
      <p:sp>
        <p:nvSpPr>
          <p:cNvPr id="35" name="Shape 33"/>
          <p:cNvSpPr/>
          <p:nvPr/>
        </p:nvSpPr>
        <p:spPr>
          <a:xfrm>
            <a:off x="9464040" y="1828800"/>
            <a:ext cx="2121408" cy="82296"/>
          </a:xfrm>
          <a:prstGeom prst="rect">
            <a:avLst/>
          </a:prstGeom>
          <a:solidFill>
            <a:srgbClr val="2C5F2D"/>
          </a:solidFill>
          <a:ln/>
        </p:spPr>
      </p:sp>
      <p:sp>
        <p:nvSpPr>
          <p:cNvPr id="36" name="Text 34"/>
          <p:cNvSpPr/>
          <p:nvPr/>
        </p:nvSpPr>
        <p:spPr>
          <a:xfrm>
            <a:off x="9601200" y="2011680"/>
            <a:ext cx="1847088" cy="274320"/>
          </a:xfrm>
          <a:prstGeom prst="rect">
            <a:avLst/>
          </a:prstGeom>
          <a:noFill/>
          <a:ln/>
        </p:spPr>
        <p:txBody>
          <a:bodyPr wrap="square" lIns="0" tIns="0" rIns="0" bIns="0" rtlCol="0" anchor="ctr"/>
          <a:lstStyle/>
          <a:p>
            <a:pPr indent="0" marL="0">
              <a:buNone/>
            </a:pPr>
            <a:r>
              <a:rPr lang="en-US" sz="1000" b="1" spc="100" kern="0" dirty="0">
                <a:solidFill>
                  <a:srgbClr val="2C5F2D"/>
                </a:solidFill>
                <a:latin typeface="Meiryo UI" pitchFamily="34" charset="0"/>
                <a:ea typeface="Meiryo UI" pitchFamily="34" charset="-122"/>
                <a:cs typeface="Meiryo UI" pitchFamily="34" charset="-120"/>
              </a:rPr>
              <a:t>STEP 5</a:t>
            </a:r>
            <a:endParaRPr lang="en-US" sz="1000" dirty="0"/>
          </a:p>
        </p:txBody>
      </p:sp>
      <p:sp>
        <p:nvSpPr>
          <p:cNvPr id="37" name="Text 35"/>
          <p:cNvSpPr/>
          <p:nvPr/>
        </p:nvSpPr>
        <p:spPr>
          <a:xfrm>
            <a:off x="9601200" y="2304288"/>
            <a:ext cx="1847088" cy="566928"/>
          </a:xfrm>
          <a:prstGeom prst="rect">
            <a:avLst/>
          </a:prstGeom>
          <a:noFill/>
          <a:ln/>
        </p:spPr>
        <p:txBody>
          <a:bodyPr wrap="square" lIns="0" tIns="0" rIns="0" bIns="0" rtlCol="0" anchor="ctr"/>
          <a:lstStyle/>
          <a:p>
            <a:pPr indent="0" marL="0">
              <a:buNone/>
            </a:pPr>
            <a:r>
              <a:rPr lang="en-US" sz="1300" b="1" dirty="0">
                <a:solidFill>
                  <a:srgbClr val="16233A"/>
                </a:solidFill>
                <a:latin typeface="Meiryo UI" pitchFamily="34" charset="0"/>
                <a:ea typeface="Meiryo UI" pitchFamily="34" charset="-122"/>
                <a:cs typeface="Meiryo UI" pitchFamily="34" charset="-120"/>
              </a:rPr>
              <a:t>時間軸への展開</a:t>
            </a:r>
            <a:endParaRPr lang="en-US" sz="1300" dirty="0"/>
          </a:p>
        </p:txBody>
      </p:sp>
      <p:sp>
        <p:nvSpPr>
          <p:cNvPr id="38" name="Text 36"/>
          <p:cNvSpPr/>
          <p:nvPr/>
        </p:nvSpPr>
        <p:spPr>
          <a:xfrm>
            <a:off x="9601200" y="2926080"/>
            <a:ext cx="1847088" cy="1051560"/>
          </a:xfrm>
          <a:prstGeom prst="rect">
            <a:avLst/>
          </a:prstGeom>
          <a:noFill/>
          <a:ln/>
        </p:spPr>
        <p:txBody>
          <a:bodyPr wrap="square" lIns="0" tIns="0" rIns="0" bIns="0" rtlCol="0" anchor="ctr"/>
          <a:lstStyle/>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短期（〜28）土台</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中期（〜34）転換</a:t>
            </a:r>
            <a:endParaRPr lang="en-US" sz="980" dirty="0"/>
          </a:p>
          <a:p>
            <a:pPr indent="0" marL="0">
              <a:lnSpc>
                <a:spcPct val="115000"/>
              </a:lnSpc>
              <a:buNone/>
            </a:pPr>
            <a:r>
              <a:rPr lang="en-US" sz="980" dirty="0">
                <a:solidFill>
                  <a:srgbClr val="1F2733"/>
                </a:solidFill>
                <a:latin typeface="Meiryo UI" pitchFamily="34" charset="0"/>
                <a:ea typeface="Meiryo UI" pitchFamily="34" charset="-122"/>
                <a:cs typeface="Meiryo UI" pitchFamily="34" charset="-120"/>
              </a:rPr>
              <a:t>長期（〜40）完成</a:t>
            </a:r>
            <a:endParaRPr lang="en-US" sz="980" dirty="0"/>
          </a:p>
        </p:txBody>
      </p:sp>
      <p:sp>
        <p:nvSpPr>
          <p:cNvPr id="39" name="Text 37"/>
          <p:cNvSpPr/>
          <p:nvPr/>
        </p:nvSpPr>
        <p:spPr>
          <a:xfrm>
            <a:off x="9601200" y="4069080"/>
            <a:ext cx="1847088" cy="274320"/>
          </a:xfrm>
          <a:prstGeom prst="rect">
            <a:avLst/>
          </a:prstGeom>
          <a:noFill/>
          <a:ln/>
        </p:spPr>
        <p:txBody>
          <a:bodyPr wrap="square" lIns="0" tIns="0" rIns="0" bIns="0" rtlCol="0" anchor="ctr"/>
          <a:lstStyle/>
          <a:p>
            <a:pPr indent="0" marL="0">
              <a:buNone/>
            </a:pPr>
            <a:r>
              <a:rPr lang="en-US" sz="850" dirty="0">
                <a:solidFill>
                  <a:srgbClr val="5A6472"/>
                </a:solidFill>
                <a:latin typeface="Meiryo UI" pitchFamily="34" charset="0"/>
                <a:ea typeface="Meiryo UI" pitchFamily="34" charset="-122"/>
                <a:cs typeface="Meiryo UI" pitchFamily="34" charset="-120"/>
              </a:rPr>
              <a:t>本提言（新規）</a:t>
            </a:r>
            <a:endParaRPr lang="en-US" sz="850" dirty="0"/>
          </a:p>
        </p:txBody>
      </p:sp>
      <p:sp>
        <p:nvSpPr>
          <p:cNvPr id="40" name="Shape 38"/>
          <p:cNvSpPr/>
          <p:nvPr/>
        </p:nvSpPr>
        <p:spPr>
          <a:xfrm>
            <a:off x="502920" y="4892040"/>
            <a:ext cx="11185855" cy="1051560"/>
          </a:xfrm>
          <a:prstGeom prst="rect">
            <a:avLst/>
          </a:prstGeom>
          <a:solidFill>
            <a:srgbClr val="16233A"/>
          </a:solidFill>
          <a:ln/>
        </p:spPr>
      </p:sp>
      <p:sp>
        <p:nvSpPr>
          <p:cNvPr id="41" name="Text 39"/>
          <p:cNvSpPr/>
          <p:nvPr/>
        </p:nvSpPr>
        <p:spPr>
          <a:xfrm>
            <a:off x="731520" y="4983480"/>
            <a:ext cx="10728655" cy="868680"/>
          </a:xfrm>
          <a:prstGeom prst="rect">
            <a:avLst/>
          </a:prstGeom>
          <a:noFill/>
          <a:ln/>
        </p:spPr>
        <p:txBody>
          <a:bodyPr wrap="square" lIns="0" tIns="0" rIns="0" bIns="0" rtlCol="0" anchor="ctr"/>
          <a:lstStyle/>
          <a:p>
            <a:pPr indent="0" marL="0">
              <a:lnSpc>
                <a:spcPct val="120000"/>
              </a:lnSpc>
              <a:buNone/>
            </a:pPr>
            <a:r>
              <a:rPr lang="en-US" sz="1080" b="1" dirty="0">
                <a:solidFill>
                  <a:srgbClr val="FFFFFF"/>
                </a:solidFill>
                <a:latin typeface="Meiryo UI" pitchFamily="34" charset="0"/>
                <a:ea typeface="Meiryo UI" pitchFamily="34" charset="-122"/>
                <a:cs typeface="Meiryo UI" pitchFamily="34" charset="-120"/>
              </a:rPr>
              <a:t>本提言のこだわり：</a:t>
            </a:r>
            <a:pPr indent="0" marL="0">
              <a:lnSpc>
                <a:spcPct val="120000"/>
              </a:lnSpc>
              <a:buNone/>
            </a:pPr>
            <a:r>
              <a:rPr lang="en-US" sz="1080" dirty="0">
                <a:solidFill>
                  <a:srgbClr val="D7DFEA"/>
                </a:solidFill>
                <a:latin typeface="Meiryo UI" pitchFamily="34" charset="0"/>
                <a:ea typeface="Meiryo UI" pitchFamily="34" charset="-122"/>
                <a:cs typeface="Meiryo UI" pitchFamily="34" charset="-120"/>
              </a:rPr>
              <a:t>①目先の汎用的な「How（ツール導入）」に落とさず、2040年の中長期目線で「ライオンにしかできないテーマ」から設計する　②デジタルが解くべき問いと、組織・制度・人の決断（非デジタル）でしか解けない問いを峻別する　③すべての施策を真因にトレースできる状態を保つ</a:t>
            </a:r>
            <a:endParaRPr lang="en-US" sz="1080" dirty="0"/>
          </a:p>
        </p:txBody>
      </p:sp>
      <p:sp>
        <p:nvSpPr>
          <p:cNvPr id="42" name="Text 40"/>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2040 OUTLOOK</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2040年の前提 ― 営業・マーケの土俵を変える3つの不可逆変化</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PEST/3C分析から導かれる変化は「購買の二層化」「小売のメディア化」「環境・健康の取引条件化」の3点に収斂する</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600200"/>
            <a:ext cx="3602736" cy="3977640"/>
          </a:xfrm>
          <a:prstGeom prst="rect">
            <a:avLst/>
          </a:prstGeom>
          <a:solidFill>
            <a:srgbClr val="F4F6F9"/>
          </a:solidFill>
          <a:ln w="9525">
            <a:solidFill>
              <a:srgbClr val="D9DEE6"/>
            </a:solidFill>
            <a:prstDash val="solid"/>
          </a:ln>
        </p:spPr>
      </p:sp>
      <p:sp>
        <p:nvSpPr>
          <p:cNvPr id="7" name="Shape 5"/>
          <p:cNvSpPr/>
          <p:nvPr/>
        </p:nvSpPr>
        <p:spPr>
          <a:xfrm>
            <a:off x="704088" y="1810512"/>
            <a:ext cx="475488" cy="475488"/>
          </a:xfrm>
          <a:prstGeom prst="ellipse">
            <a:avLst/>
          </a:prstGeom>
          <a:solidFill>
            <a:srgbClr val="16233A"/>
          </a:solidFill>
          <a:ln/>
        </p:spPr>
      </p:sp>
      <p:sp>
        <p:nvSpPr>
          <p:cNvPr id="8" name="Text 6"/>
          <p:cNvSpPr/>
          <p:nvPr/>
        </p:nvSpPr>
        <p:spPr>
          <a:xfrm>
            <a:off x="704088" y="18105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①</a:t>
            </a:r>
            <a:endParaRPr lang="en-US" sz="1500" dirty="0"/>
          </a:p>
        </p:txBody>
      </p:sp>
      <p:sp>
        <p:nvSpPr>
          <p:cNvPr id="9" name="Text 7"/>
          <p:cNvSpPr/>
          <p:nvPr/>
        </p:nvSpPr>
        <p:spPr>
          <a:xfrm>
            <a:off x="1307592" y="1783080"/>
            <a:ext cx="2642616" cy="566928"/>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購買の二層化とAI委任</a:t>
            </a:r>
            <a:endParaRPr lang="en-US" sz="1250" dirty="0"/>
          </a:p>
        </p:txBody>
      </p:sp>
      <p:sp>
        <p:nvSpPr>
          <p:cNvPr id="10" name="Text 8"/>
          <p:cNvSpPr/>
          <p:nvPr/>
        </p:nvSpPr>
        <p:spPr>
          <a:xfrm>
            <a:off x="731520" y="2487168"/>
            <a:ext cx="3145536" cy="1371600"/>
          </a:xfrm>
          <a:prstGeom prst="rect">
            <a:avLst/>
          </a:prstGeom>
          <a:noFill/>
          <a:ln/>
        </p:spPr>
        <p:txBody>
          <a:bodyPr wrap="square" lIns="0" tIns="0" rIns="0" bIns="0" rtlCol="0" anchor="ctr"/>
          <a:lstStyle/>
          <a:p>
            <a:pPr indent="0" marL="0">
              <a:lnSpc>
                <a:spcPct val="118000"/>
              </a:lnSpc>
              <a:buNone/>
            </a:pPr>
            <a:r>
              <a:rPr lang="en-US" sz="1030" dirty="0">
                <a:solidFill>
                  <a:srgbClr val="1F2733"/>
                </a:solidFill>
                <a:latin typeface="Meiryo UI" pitchFamily="34" charset="0"/>
                <a:ea typeface="Meiryo UI" pitchFamily="34" charset="-122"/>
                <a:cs typeface="Meiryo UI" pitchFamily="34" charset="-120"/>
              </a:rPr>
              <a:t>消費はK字二極化し、低関与のコモディティは「検討・比較・購入」ごとAI自動補充へ完全委任。高関与（健康・QOL）だけが人の能動選択に残る。</a:t>
            </a:r>
            <a:endParaRPr lang="en-US" sz="1030" dirty="0"/>
          </a:p>
        </p:txBody>
      </p:sp>
      <p:sp>
        <p:nvSpPr>
          <p:cNvPr id="11" name="Text 9"/>
          <p:cNvSpPr/>
          <p:nvPr/>
        </p:nvSpPr>
        <p:spPr>
          <a:xfrm>
            <a:off x="2962656" y="3730752"/>
            <a:ext cx="914400" cy="256032"/>
          </a:xfrm>
          <a:prstGeom prst="rect">
            <a:avLst/>
          </a:prstGeom>
          <a:noFill/>
          <a:ln/>
        </p:spPr>
        <p:txBody>
          <a:bodyPr wrap="square" lIns="0" tIns="0" rIns="0" bIns="0" rtlCol="0" anchor="ctr"/>
          <a:lstStyle/>
          <a:p>
            <a:pPr algn="r" indent="0" marL="0">
              <a:buNone/>
            </a:pPr>
            <a:r>
              <a:rPr lang="en-US" sz="900" b="1" dirty="0">
                <a:solidFill>
                  <a:srgbClr val="5A6472"/>
                </a:solidFill>
                <a:latin typeface="Meiryo UI" pitchFamily="34" charset="0"/>
                <a:ea typeface="Meiryo UI" pitchFamily="34" charset="-122"/>
                <a:cs typeface="Meiryo UI" pitchFamily="34" charset="-120"/>
              </a:rPr>
              <a:t>PEST: T・S</a:t>
            </a:r>
            <a:endParaRPr lang="en-US" sz="900" dirty="0"/>
          </a:p>
        </p:txBody>
      </p:sp>
      <p:sp>
        <p:nvSpPr>
          <p:cNvPr id="12" name="Shape 10"/>
          <p:cNvSpPr/>
          <p:nvPr/>
        </p:nvSpPr>
        <p:spPr>
          <a:xfrm>
            <a:off x="731520" y="4041648"/>
            <a:ext cx="3145536" cy="0"/>
          </a:xfrm>
          <a:prstGeom prst="line">
            <a:avLst/>
          </a:prstGeom>
          <a:noFill/>
          <a:ln w="12700">
            <a:solidFill>
              <a:srgbClr val="D9DEE6"/>
            </a:solidFill>
            <a:prstDash val="solid"/>
          </a:ln>
        </p:spPr>
      </p:sp>
      <p:sp>
        <p:nvSpPr>
          <p:cNvPr id="13" name="Text 11"/>
          <p:cNvSpPr/>
          <p:nvPr/>
        </p:nvSpPr>
        <p:spPr>
          <a:xfrm>
            <a:off x="731520" y="4160520"/>
            <a:ext cx="3145536" cy="1325880"/>
          </a:xfrm>
          <a:prstGeom prst="rect">
            <a:avLst/>
          </a:prstGeom>
          <a:noFill/>
          <a:ln/>
        </p:spPr>
        <p:txBody>
          <a:bodyPr wrap="square" lIns="0" tIns="0" rIns="0" bIns="0" rtlCol="0" anchor="ctr"/>
          <a:lstStyle/>
          <a:p>
            <a:pPr indent="0" marL="0">
              <a:lnSpc>
                <a:spcPct val="118000"/>
              </a:lnSpc>
              <a:buNone/>
            </a:pPr>
            <a:r>
              <a:rPr lang="en-US" sz="950" b="1" dirty="0">
                <a:solidFill>
                  <a:srgbClr val="C8102E"/>
                </a:solidFill>
                <a:latin typeface="Meiryo UI" pitchFamily="34" charset="0"/>
                <a:ea typeface="Meiryo UI" pitchFamily="34" charset="-122"/>
                <a:cs typeface="Meiryo UI" pitchFamily="34" charset="-120"/>
              </a:rPr>
              <a:t>営業・マーケへの含意　</a:t>
            </a:r>
            <a:pPr indent="0" marL="0">
              <a:lnSpc>
                <a:spcPct val="118000"/>
              </a:lnSpc>
              <a:buNone/>
            </a:pPr>
            <a:r>
              <a:rPr lang="en-US" sz="1030" dirty="0">
                <a:solidFill>
                  <a:srgbClr val="1F2733"/>
                </a:solidFill>
                <a:latin typeface="Meiryo UI" pitchFamily="34" charset="0"/>
                <a:ea typeface="Meiryo UI" pitchFamily="34" charset="-122"/>
                <a:cs typeface="Meiryo UI" pitchFamily="34" charset="-120"/>
              </a:rPr>
              <a:t>「棚で迷う・調べる」プロセスが消滅し、人間向けのTVCM・店頭POPが構造的に機能不全へ。AIに認識されないブランドは比較の土俵にすら載らない。</a:t>
            </a:r>
            <a:endParaRPr lang="en-US" sz="1030" dirty="0"/>
          </a:p>
        </p:txBody>
      </p:sp>
      <p:sp>
        <p:nvSpPr>
          <p:cNvPr id="14" name="Shape 12"/>
          <p:cNvSpPr/>
          <p:nvPr/>
        </p:nvSpPr>
        <p:spPr>
          <a:xfrm>
            <a:off x="4288536" y="1600200"/>
            <a:ext cx="3602736" cy="3977640"/>
          </a:xfrm>
          <a:prstGeom prst="rect">
            <a:avLst/>
          </a:prstGeom>
          <a:solidFill>
            <a:srgbClr val="F4F6F9"/>
          </a:solidFill>
          <a:ln w="9525">
            <a:solidFill>
              <a:srgbClr val="D9DEE6"/>
            </a:solidFill>
            <a:prstDash val="solid"/>
          </a:ln>
        </p:spPr>
      </p:sp>
      <p:sp>
        <p:nvSpPr>
          <p:cNvPr id="15" name="Shape 13"/>
          <p:cNvSpPr/>
          <p:nvPr/>
        </p:nvSpPr>
        <p:spPr>
          <a:xfrm>
            <a:off x="4489704" y="1810512"/>
            <a:ext cx="475488" cy="475488"/>
          </a:xfrm>
          <a:prstGeom prst="ellipse">
            <a:avLst/>
          </a:prstGeom>
          <a:solidFill>
            <a:srgbClr val="16233A"/>
          </a:solidFill>
          <a:ln/>
        </p:spPr>
      </p:sp>
      <p:sp>
        <p:nvSpPr>
          <p:cNvPr id="16" name="Text 14"/>
          <p:cNvSpPr/>
          <p:nvPr/>
        </p:nvSpPr>
        <p:spPr>
          <a:xfrm>
            <a:off x="4489704" y="18105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②</a:t>
            </a:r>
            <a:endParaRPr lang="en-US" sz="1500" dirty="0"/>
          </a:p>
        </p:txBody>
      </p:sp>
      <p:sp>
        <p:nvSpPr>
          <p:cNvPr id="17" name="Text 15"/>
          <p:cNvSpPr/>
          <p:nvPr/>
        </p:nvSpPr>
        <p:spPr>
          <a:xfrm>
            <a:off x="5093208" y="1783080"/>
            <a:ext cx="2642616" cy="566928"/>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小売の「データ＆メディア業」化</a:t>
            </a:r>
            <a:endParaRPr lang="en-US" sz="1250" dirty="0"/>
          </a:p>
        </p:txBody>
      </p:sp>
      <p:sp>
        <p:nvSpPr>
          <p:cNvPr id="18" name="Text 16"/>
          <p:cNvSpPr/>
          <p:nvPr/>
        </p:nvSpPr>
        <p:spPr>
          <a:xfrm>
            <a:off x="4517136" y="2487168"/>
            <a:ext cx="3145536" cy="1371600"/>
          </a:xfrm>
          <a:prstGeom prst="rect">
            <a:avLst/>
          </a:prstGeom>
          <a:noFill/>
          <a:ln/>
        </p:spPr>
        <p:txBody>
          <a:bodyPr wrap="square" lIns="0" tIns="0" rIns="0" bIns="0" rtlCol="0" anchor="ctr"/>
          <a:lstStyle/>
          <a:p>
            <a:pPr indent="0" marL="0">
              <a:lnSpc>
                <a:spcPct val="118000"/>
              </a:lnSpc>
              <a:buNone/>
            </a:pPr>
            <a:r>
              <a:rPr lang="en-US" sz="1030" dirty="0">
                <a:solidFill>
                  <a:srgbClr val="1F2733"/>
                </a:solidFill>
                <a:latin typeface="Meiryo UI" pitchFamily="34" charset="0"/>
                <a:ea typeface="Meiryo UI" pitchFamily="34" charset="-122"/>
                <a:cs typeface="Meiryo UI" pitchFamily="34" charset="-120"/>
              </a:rPr>
              <a:t>物販マージンの限界から、小売はID-POSをマネタイズするリテールメディアが最大利益源に（2029年1.3兆円規模）。取引基準は仕入値から「メディア投資・協働度」へ。</a:t>
            </a:r>
            <a:endParaRPr lang="en-US" sz="1030" dirty="0"/>
          </a:p>
        </p:txBody>
      </p:sp>
      <p:sp>
        <p:nvSpPr>
          <p:cNvPr id="19" name="Text 17"/>
          <p:cNvSpPr/>
          <p:nvPr/>
        </p:nvSpPr>
        <p:spPr>
          <a:xfrm>
            <a:off x="6748272" y="3730752"/>
            <a:ext cx="914400" cy="256032"/>
          </a:xfrm>
          <a:prstGeom prst="rect">
            <a:avLst/>
          </a:prstGeom>
          <a:noFill/>
          <a:ln/>
        </p:spPr>
        <p:txBody>
          <a:bodyPr wrap="square" lIns="0" tIns="0" rIns="0" bIns="0" rtlCol="0" anchor="ctr"/>
          <a:lstStyle/>
          <a:p>
            <a:pPr algn="r" indent="0" marL="0">
              <a:buNone/>
            </a:pPr>
            <a:r>
              <a:rPr lang="en-US" sz="900" b="1" dirty="0">
                <a:solidFill>
                  <a:srgbClr val="5A6472"/>
                </a:solidFill>
                <a:latin typeface="Meiryo UI" pitchFamily="34" charset="0"/>
                <a:ea typeface="Meiryo UI" pitchFamily="34" charset="-122"/>
                <a:cs typeface="Meiryo UI" pitchFamily="34" charset="-120"/>
              </a:rPr>
              <a:t>PEST: E・T</a:t>
            </a:r>
            <a:endParaRPr lang="en-US" sz="900" dirty="0"/>
          </a:p>
        </p:txBody>
      </p:sp>
      <p:sp>
        <p:nvSpPr>
          <p:cNvPr id="20" name="Shape 18"/>
          <p:cNvSpPr/>
          <p:nvPr/>
        </p:nvSpPr>
        <p:spPr>
          <a:xfrm>
            <a:off x="4517136" y="4041648"/>
            <a:ext cx="3145536" cy="0"/>
          </a:xfrm>
          <a:prstGeom prst="line">
            <a:avLst/>
          </a:prstGeom>
          <a:noFill/>
          <a:ln w="12700">
            <a:solidFill>
              <a:srgbClr val="D9DEE6"/>
            </a:solidFill>
            <a:prstDash val="solid"/>
          </a:ln>
        </p:spPr>
      </p:sp>
      <p:sp>
        <p:nvSpPr>
          <p:cNvPr id="21" name="Text 19"/>
          <p:cNvSpPr/>
          <p:nvPr/>
        </p:nvSpPr>
        <p:spPr>
          <a:xfrm>
            <a:off x="4517136" y="4160520"/>
            <a:ext cx="3145536" cy="1325880"/>
          </a:xfrm>
          <a:prstGeom prst="rect">
            <a:avLst/>
          </a:prstGeom>
          <a:noFill/>
          <a:ln/>
        </p:spPr>
        <p:txBody>
          <a:bodyPr wrap="square" lIns="0" tIns="0" rIns="0" bIns="0" rtlCol="0" anchor="ctr"/>
          <a:lstStyle/>
          <a:p>
            <a:pPr indent="0" marL="0">
              <a:lnSpc>
                <a:spcPct val="118000"/>
              </a:lnSpc>
              <a:buNone/>
            </a:pPr>
            <a:r>
              <a:rPr lang="en-US" sz="950" b="1" dirty="0">
                <a:solidFill>
                  <a:srgbClr val="C8102E"/>
                </a:solidFill>
                <a:latin typeface="Meiryo UI" pitchFamily="34" charset="0"/>
                <a:ea typeface="Meiryo UI" pitchFamily="34" charset="-122"/>
                <a:cs typeface="Meiryo UI" pitchFamily="34" charset="-120"/>
              </a:rPr>
              <a:t>営業・マーケへの含意　</a:t>
            </a:r>
            <a:pPr indent="0" marL="0">
              <a:lnSpc>
                <a:spcPct val="118000"/>
              </a:lnSpc>
              <a:buNone/>
            </a:pPr>
            <a:r>
              <a:rPr lang="en-US" sz="1030" dirty="0">
                <a:solidFill>
                  <a:srgbClr val="1F2733"/>
                </a:solidFill>
                <a:latin typeface="Meiryo UI" pitchFamily="34" charset="0"/>
                <a:ea typeface="Meiryo UI" pitchFamily="34" charset="-122"/>
                <a:cs typeface="Meiryo UI" pitchFamily="34" charset="-120"/>
              </a:rPr>
              <a:t>バイヤーは本部のデータ監査に晒され、システムを納得させる「定量ロジック（盾）」を提供してくれるメーカーを渇望する。</a:t>
            </a:r>
            <a:endParaRPr lang="en-US" sz="1030" dirty="0"/>
          </a:p>
        </p:txBody>
      </p:sp>
      <p:sp>
        <p:nvSpPr>
          <p:cNvPr id="22" name="Shape 20"/>
          <p:cNvSpPr/>
          <p:nvPr/>
        </p:nvSpPr>
        <p:spPr>
          <a:xfrm>
            <a:off x="8074152" y="1600200"/>
            <a:ext cx="3602736" cy="3977640"/>
          </a:xfrm>
          <a:prstGeom prst="rect">
            <a:avLst/>
          </a:prstGeom>
          <a:solidFill>
            <a:srgbClr val="F4F6F9"/>
          </a:solidFill>
          <a:ln w="9525">
            <a:solidFill>
              <a:srgbClr val="D9DEE6"/>
            </a:solidFill>
            <a:prstDash val="solid"/>
          </a:ln>
        </p:spPr>
      </p:sp>
      <p:sp>
        <p:nvSpPr>
          <p:cNvPr id="23" name="Shape 21"/>
          <p:cNvSpPr/>
          <p:nvPr/>
        </p:nvSpPr>
        <p:spPr>
          <a:xfrm>
            <a:off x="8275320" y="1810512"/>
            <a:ext cx="475488" cy="475488"/>
          </a:xfrm>
          <a:prstGeom prst="ellipse">
            <a:avLst/>
          </a:prstGeom>
          <a:solidFill>
            <a:srgbClr val="16233A"/>
          </a:solidFill>
          <a:ln/>
        </p:spPr>
      </p:sp>
      <p:sp>
        <p:nvSpPr>
          <p:cNvPr id="24" name="Text 22"/>
          <p:cNvSpPr/>
          <p:nvPr/>
        </p:nvSpPr>
        <p:spPr>
          <a:xfrm>
            <a:off x="8275320" y="18105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③</a:t>
            </a:r>
            <a:endParaRPr lang="en-US" sz="1500" dirty="0"/>
          </a:p>
        </p:txBody>
      </p:sp>
      <p:sp>
        <p:nvSpPr>
          <p:cNvPr id="25" name="Text 23"/>
          <p:cNvSpPr/>
          <p:nvPr/>
        </p:nvSpPr>
        <p:spPr>
          <a:xfrm>
            <a:off x="8878824" y="1783080"/>
            <a:ext cx="2642616" cy="566928"/>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環境・健康の取引条件化</a:t>
            </a:r>
            <a:endParaRPr lang="en-US" sz="1250" dirty="0"/>
          </a:p>
        </p:txBody>
      </p:sp>
      <p:sp>
        <p:nvSpPr>
          <p:cNvPr id="26" name="Text 24"/>
          <p:cNvSpPr/>
          <p:nvPr/>
        </p:nvSpPr>
        <p:spPr>
          <a:xfrm>
            <a:off x="8302752" y="2487168"/>
            <a:ext cx="3145536" cy="1371600"/>
          </a:xfrm>
          <a:prstGeom prst="rect">
            <a:avLst/>
          </a:prstGeom>
          <a:noFill/>
          <a:ln/>
        </p:spPr>
        <p:txBody>
          <a:bodyPr wrap="square" lIns="0" tIns="0" rIns="0" bIns="0" rtlCol="0" anchor="ctr"/>
          <a:lstStyle/>
          <a:p>
            <a:pPr indent="0" marL="0">
              <a:lnSpc>
                <a:spcPct val="118000"/>
              </a:lnSpc>
              <a:buNone/>
            </a:pPr>
            <a:r>
              <a:rPr lang="en-US" sz="1030" dirty="0">
                <a:solidFill>
                  <a:srgbClr val="1F2733"/>
                </a:solidFill>
                <a:latin typeface="Meiryo UI" pitchFamily="34" charset="0"/>
                <a:ea typeface="Meiryo UI" pitchFamily="34" charset="-122"/>
                <a:cs typeface="Meiryo UI" pitchFamily="34" charset="-120"/>
              </a:rPr>
              <a:t>Scope3開示・容器完全回収が義務化され、環境スコア未達商品はアルゴリズムが自動棚落ちさせる。同時に予防医療が国策化（国民皆歯科健診等）。</a:t>
            </a:r>
            <a:endParaRPr lang="en-US" sz="1030" dirty="0"/>
          </a:p>
        </p:txBody>
      </p:sp>
      <p:sp>
        <p:nvSpPr>
          <p:cNvPr id="27" name="Text 25"/>
          <p:cNvSpPr/>
          <p:nvPr/>
        </p:nvSpPr>
        <p:spPr>
          <a:xfrm>
            <a:off x="10533888" y="3730752"/>
            <a:ext cx="914400" cy="256032"/>
          </a:xfrm>
          <a:prstGeom prst="rect">
            <a:avLst/>
          </a:prstGeom>
          <a:noFill/>
          <a:ln/>
        </p:spPr>
        <p:txBody>
          <a:bodyPr wrap="square" lIns="0" tIns="0" rIns="0" bIns="0" rtlCol="0" anchor="ctr"/>
          <a:lstStyle/>
          <a:p>
            <a:pPr algn="r" indent="0" marL="0">
              <a:buNone/>
            </a:pPr>
            <a:r>
              <a:rPr lang="en-US" sz="900" b="1" dirty="0">
                <a:solidFill>
                  <a:srgbClr val="5A6472"/>
                </a:solidFill>
                <a:latin typeface="Meiryo UI" pitchFamily="34" charset="0"/>
                <a:ea typeface="Meiryo UI" pitchFamily="34" charset="-122"/>
                <a:cs typeface="Meiryo UI" pitchFamily="34" charset="-120"/>
              </a:rPr>
              <a:t>PEST: P・S</a:t>
            </a:r>
            <a:endParaRPr lang="en-US" sz="900" dirty="0"/>
          </a:p>
        </p:txBody>
      </p:sp>
      <p:sp>
        <p:nvSpPr>
          <p:cNvPr id="28" name="Shape 26"/>
          <p:cNvSpPr/>
          <p:nvPr/>
        </p:nvSpPr>
        <p:spPr>
          <a:xfrm>
            <a:off x="8302752" y="4041648"/>
            <a:ext cx="3145536" cy="0"/>
          </a:xfrm>
          <a:prstGeom prst="line">
            <a:avLst/>
          </a:prstGeom>
          <a:noFill/>
          <a:ln w="12700">
            <a:solidFill>
              <a:srgbClr val="D9DEE6"/>
            </a:solidFill>
            <a:prstDash val="solid"/>
          </a:ln>
        </p:spPr>
      </p:sp>
      <p:sp>
        <p:nvSpPr>
          <p:cNvPr id="29" name="Text 27"/>
          <p:cNvSpPr/>
          <p:nvPr/>
        </p:nvSpPr>
        <p:spPr>
          <a:xfrm>
            <a:off x="8302752" y="4160520"/>
            <a:ext cx="3145536" cy="1325880"/>
          </a:xfrm>
          <a:prstGeom prst="rect">
            <a:avLst/>
          </a:prstGeom>
          <a:noFill/>
          <a:ln/>
        </p:spPr>
        <p:txBody>
          <a:bodyPr wrap="square" lIns="0" tIns="0" rIns="0" bIns="0" rtlCol="0" anchor="ctr"/>
          <a:lstStyle/>
          <a:p>
            <a:pPr indent="0" marL="0">
              <a:lnSpc>
                <a:spcPct val="118000"/>
              </a:lnSpc>
              <a:buNone/>
            </a:pPr>
            <a:r>
              <a:rPr lang="en-US" sz="950" b="1" dirty="0">
                <a:solidFill>
                  <a:srgbClr val="C8102E"/>
                </a:solidFill>
                <a:latin typeface="Meiryo UI" pitchFamily="34" charset="0"/>
                <a:ea typeface="Meiryo UI" pitchFamily="34" charset="-122"/>
                <a:cs typeface="Meiryo UI" pitchFamily="34" charset="-120"/>
              </a:rPr>
              <a:t>営業・マーケへの含意　</a:t>
            </a:r>
            <a:pPr indent="0" marL="0">
              <a:lnSpc>
                <a:spcPct val="118000"/>
              </a:lnSpc>
              <a:buNone/>
            </a:pPr>
            <a:r>
              <a:rPr lang="en-US" sz="1030" dirty="0">
                <a:solidFill>
                  <a:srgbClr val="1F2733"/>
                </a:solidFill>
                <a:latin typeface="Meiryo UI" pitchFamily="34" charset="0"/>
                <a:ea typeface="Meiryo UI" pitchFamily="34" charset="-122"/>
                <a:cs typeface="Meiryo UI" pitchFamily="34" charset="-120"/>
              </a:rPr>
              <a:t>日用品が「医療費抑制の社会インフラ」へ格上げされる好機。環境×健康のエビデンスを持つ者だけが両経路の足切りを突破できる。</a:t>
            </a:r>
            <a:endParaRPr lang="en-US" sz="1030" dirty="0"/>
          </a:p>
        </p:txBody>
      </p:sp>
      <p:sp>
        <p:nvSpPr>
          <p:cNvPr id="30" name="Shape 28"/>
          <p:cNvSpPr/>
          <p:nvPr/>
        </p:nvSpPr>
        <p:spPr>
          <a:xfrm>
            <a:off x="502920" y="5806440"/>
            <a:ext cx="11185855" cy="566928"/>
          </a:xfrm>
          <a:prstGeom prst="rect">
            <a:avLst/>
          </a:prstGeom>
          <a:solidFill>
            <a:srgbClr val="16233A"/>
          </a:solidFill>
          <a:ln/>
        </p:spPr>
      </p:sp>
      <p:sp>
        <p:nvSpPr>
          <p:cNvPr id="31" name="Text 29"/>
          <p:cNvSpPr/>
          <p:nvPr/>
        </p:nvSpPr>
        <p:spPr>
          <a:xfrm>
            <a:off x="731520" y="5806440"/>
            <a:ext cx="10728655" cy="56692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含意：</a:t>
            </a:r>
            <a:pPr indent="0" marL="0">
              <a:buNone/>
            </a:pPr>
            <a:r>
              <a:rPr lang="en-US" sz="1150" dirty="0">
                <a:solidFill>
                  <a:srgbClr val="D7DFEA"/>
                </a:solidFill>
                <a:latin typeface="Meiryo UI" pitchFamily="34" charset="0"/>
                <a:ea typeface="Meiryo UI" pitchFamily="34" charset="-122"/>
                <a:cs typeface="Meiryo UI" pitchFamily="34" charset="-120"/>
              </a:rPr>
              <a:t>3つの変化はすべて「アルゴリズムによる自動足切り」に帰結する。2040年の競争は、人への説得の前に「機械と制度に選ばれる」戦いになる。</a:t>
            </a:r>
            <a:endParaRPr lang="en-US" sz="1150" dirty="0"/>
          </a:p>
        </p:txBody>
      </p:sp>
      <p:sp>
        <p:nvSpPr>
          <p:cNvPr id="32" name="Text 30"/>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ROOT CAUSE</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現場のギャップと3つの真因</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現場で生じる個別のギャップは、組織・業務・意識に埋め込まれた3つの構造的ボトルネック（真因）に集約される</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Text 4"/>
          <p:cNvSpPr/>
          <p:nvPr/>
        </p:nvSpPr>
        <p:spPr>
          <a:xfrm>
            <a:off x="502920" y="1554480"/>
            <a:ext cx="4023360" cy="274320"/>
          </a:xfrm>
          <a:prstGeom prst="rect">
            <a:avLst/>
          </a:prstGeom>
          <a:noFill/>
          <a:ln/>
        </p:spPr>
        <p:txBody>
          <a:bodyPr wrap="square" lIns="0" tIns="0" rIns="0" bIns="0" rtlCol="0" anchor="ctr"/>
          <a:lstStyle/>
          <a:p>
            <a:pPr indent="0" marL="0">
              <a:buNone/>
            </a:pPr>
            <a:r>
              <a:rPr lang="en-US" sz="1150" b="1" dirty="0">
                <a:solidFill>
                  <a:srgbClr val="16233A"/>
                </a:solidFill>
                <a:latin typeface="Meiryo UI" pitchFamily="34" charset="0"/>
                <a:ea typeface="Meiryo UI" pitchFamily="34" charset="-122"/>
                <a:cs typeface="Meiryo UI" pitchFamily="34" charset="-120"/>
              </a:rPr>
              <a:t>表層のギャップ（V0.1/V0.2で特定済み）</a:t>
            </a:r>
            <a:endParaRPr lang="en-US" sz="1150" dirty="0"/>
          </a:p>
        </p:txBody>
      </p:sp>
      <p:sp>
        <p:nvSpPr>
          <p:cNvPr id="7" name="Shape 5"/>
          <p:cNvSpPr/>
          <p:nvPr/>
        </p:nvSpPr>
        <p:spPr>
          <a:xfrm>
            <a:off x="502920" y="1901952"/>
            <a:ext cx="4023360" cy="658368"/>
          </a:xfrm>
          <a:prstGeom prst="rect">
            <a:avLst/>
          </a:prstGeom>
          <a:solidFill>
            <a:srgbClr val="F4F6F9"/>
          </a:solidFill>
          <a:ln w="9525">
            <a:solidFill>
              <a:srgbClr val="D9DEE6"/>
            </a:solidFill>
            <a:prstDash val="solid"/>
          </a:ln>
        </p:spPr>
      </p:sp>
      <p:sp>
        <p:nvSpPr>
          <p:cNvPr id="8" name="Text 6"/>
          <p:cNvSpPr/>
          <p:nvPr/>
        </p:nvSpPr>
        <p:spPr>
          <a:xfrm>
            <a:off x="630936" y="1929384"/>
            <a:ext cx="3785616" cy="603504"/>
          </a:xfrm>
          <a:prstGeom prst="rect">
            <a:avLst/>
          </a:prstGeom>
          <a:noFill/>
          <a:ln/>
        </p:spPr>
        <p:txBody>
          <a:bodyPr wrap="square" lIns="0" tIns="0" rIns="0" bIns="0" rtlCol="0" anchor="ctr"/>
          <a:lstStyle/>
          <a:p>
            <a:pPr indent="0" marL="0">
              <a:lnSpc>
                <a:spcPct val="105000"/>
              </a:lnSpc>
              <a:buNone/>
            </a:pPr>
            <a:r>
              <a:rPr lang="en-US" sz="930" dirty="0">
                <a:solidFill>
                  <a:srgbClr val="1F2733"/>
                </a:solidFill>
                <a:latin typeface="Meiryo UI" pitchFamily="34" charset="0"/>
                <a:ea typeface="Meiryo UI" pitchFamily="34" charset="-122"/>
                <a:cs typeface="Meiryo UI" pitchFamily="34" charset="-120"/>
              </a:rPr>
              <a:t>洗剤コモディティの消耗戦から脱却できず、強み領域への資源集中が進まない</a:t>
            </a:r>
            <a:endParaRPr lang="en-US" sz="930" dirty="0"/>
          </a:p>
        </p:txBody>
      </p:sp>
      <p:sp>
        <p:nvSpPr>
          <p:cNvPr id="9" name="Shape 7"/>
          <p:cNvSpPr/>
          <p:nvPr/>
        </p:nvSpPr>
        <p:spPr>
          <a:xfrm>
            <a:off x="502920" y="2633472"/>
            <a:ext cx="4023360" cy="658368"/>
          </a:xfrm>
          <a:prstGeom prst="rect">
            <a:avLst/>
          </a:prstGeom>
          <a:solidFill>
            <a:srgbClr val="F4F6F9"/>
          </a:solidFill>
          <a:ln w="9525">
            <a:solidFill>
              <a:srgbClr val="D9DEE6"/>
            </a:solidFill>
            <a:prstDash val="solid"/>
          </a:ln>
        </p:spPr>
      </p:sp>
      <p:sp>
        <p:nvSpPr>
          <p:cNvPr id="10" name="Text 8"/>
          <p:cNvSpPr/>
          <p:nvPr/>
        </p:nvSpPr>
        <p:spPr>
          <a:xfrm>
            <a:off x="630936" y="2660904"/>
            <a:ext cx="3785616" cy="603504"/>
          </a:xfrm>
          <a:prstGeom prst="rect">
            <a:avLst/>
          </a:prstGeom>
          <a:noFill/>
          <a:ln/>
        </p:spPr>
        <p:txBody>
          <a:bodyPr wrap="square" lIns="0" tIns="0" rIns="0" bIns="0" rtlCol="0" anchor="ctr"/>
          <a:lstStyle/>
          <a:p>
            <a:pPr indent="0" marL="0">
              <a:lnSpc>
                <a:spcPct val="105000"/>
              </a:lnSpc>
              <a:buNone/>
            </a:pPr>
            <a:r>
              <a:rPr lang="en-US" sz="930" dirty="0">
                <a:solidFill>
                  <a:srgbClr val="1F2733"/>
                </a:solidFill>
                <a:latin typeface="Meiryo UI" pitchFamily="34" charset="0"/>
                <a:ea typeface="Meiryo UI" pitchFamily="34" charset="-122"/>
                <a:cs typeface="Meiryo UI" pitchFamily="34" charset="-120"/>
              </a:rPr>
              <a:t>AI自動補充時代の生命線となる「製品属性データの構造化・API化」に未着手</a:t>
            </a:r>
            <a:endParaRPr lang="en-US" sz="930" dirty="0"/>
          </a:p>
        </p:txBody>
      </p:sp>
      <p:sp>
        <p:nvSpPr>
          <p:cNvPr id="11" name="Shape 9"/>
          <p:cNvSpPr/>
          <p:nvPr/>
        </p:nvSpPr>
        <p:spPr>
          <a:xfrm>
            <a:off x="502920" y="3364992"/>
            <a:ext cx="4023360" cy="658368"/>
          </a:xfrm>
          <a:prstGeom prst="rect">
            <a:avLst/>
          </a:prstGeom>
          <a:solidFill>
            <a:srgbClr val="F4F6F9"/>
          </a:solidFill>
          <a:ln w="9525">
            <a:solidFill>
              <a:srgbClr val="D9DEE6"/>
            </a:solidFill>
            <a:prstDash val="solid"/>
          </a:ln>
        </p:spPr>
      </p:sp>
      <p:sp>
        <p:nvSpPr>
          <p:cNvPr id="12" name="Text 10"/>
          <p:cNvSpPr/>
          <p:nvPr/>
        </p:nvSpPr>
        <p:spPr>
          <a:xfrm>
            <a:off x="630936" y="3392424"/>
            <a:ext cx="3785616" cy="603504"/>
          </a:xfrm>
          <a:prstGeom prst="rect">
            <a:avLst/>
          </a:prstGeom>
          <a:noFill/>
          <a:ln/>
        </p:spPr>
        <p:txBody>
          <a:bodyPr wrap="square" lIns="0" tIns="0" rIns="0" bIns="0" rtlCol="0" anchor="ctr"/>
          <a:lstStyle/>
          <a:p>
            <a:pPr indent="0" marL="0">
              <a:lnSpc>
                <a:spcPct val="105000"/>
              </a:lnSpc>
              <a:buNone/>
            </a:pPr>
            <a:r>
              <a:rPr lang="en-US" sz="930" dirty="0">
                <a:solidFill>
                  <a:srgbClr val="1F2733"/>
                </a:solidFill>
                <a:latin typeface="Meiryo UI" pitchFamily="34" charset="0"/>
                <a:ea typeface="Meiryo UI" pitchFamily="34" charset="-122"/>
                <a:cs typeface="Meiryo UI" pitchFamily="34" charset="-120"/>
              </a:rPr>
              <a:t>バイヤーが欲する「LTV・炭素効率の定量根拠」ではなく値引き条件を提案し続ける商談価値のミスマッチ</a:t>
            </a:r>
            <a:endParaRPr lang="en-US" sz="930" dirty="0"/>
          </a:p>
        </p:txBody>
      </p:sp>
      <p:sp>
        <p:nvSpPr>
          <p:cNvPr id="13" name="Shape 11"/>
          <p:cNvSpPr/>
          <p:nvPr/>
        </p:nvSpPr>
        <p:spPr>
          <a:xfrm>
            <a:off x="502920" y="4096512"/>
            <a:ext cx="4023360" cy="658368"/>
          </a:xfrm>
          <a:prstGeom prst="rect">
            <a:avLst/>
          </a:prstGeom>
          <a:solidFill>
            <a:srgbClr val="F4F6F9"/>
          </a:solidFill>
          <a:ln w="9525">
            <a:solidFill>
              <a:srgbClr val="D9DEE6"/>
            </a:solidFill>
            <a:prstDash val="solid"/>
          </a:ln>
        </p:spPr>
      </p:sp>
      <p:sp>
        <p:nvSpPr>
          <p:cNvPr id="14" name="Text 12"/>
          <p:cNvSpPr/>
          <p:nvPr/>
        </p:nvSpPr>
        <p:spPr>
          <a:xfrm>
            <a:off x="630936" y="4123944"/>
            <a:ext cx="3785616" cy="603504"/>
          </a:xfrm>
          <a:prstGeom prst="rect">
            <a:avLst/>
          </a:prstGeom>
          <a:noFill/>
          <a:ln/>
        </p:spPr>
        <p:txBody>
          <a:bodyPr wrap="square" lIns="0" tIns="0" rIns="0" bIns="0" rtlCol="0" anchor="ctr"/>
          <a:lstStyle/>
          <a:p>
            <a:pPr indent="0" marL="0">
              <a:lnSpc>
                <a:spcPct val="105000"/>
              </a:lnSpc>
              <a:buNone/>
            </a:pPr>
            <a:r>
              <a:rPr lang="en-US" sz="930" dirty="0">
                <a:solidFill>
                  <a:srgbClr val="1F2733"/>
                </a:solidFill>
                <a:latin typeface="Meiryo UI" pitchFamily="34" charset="0"/>
                <a:ea typeface="Meiryo UI" pitchFamily="34" charset="-122"/>
                <a:cs typeface="Meiryo UI" pitchFamily="34" charset="-120"/>
              </a:rPr>
              <a:t>営業個人の属人的関係に依存し、小売の環境・物流課題に組織総力戦で対応できない</a:t>
            </a:r>
            <a:endParaRPr lang="en-US" sz="930" dirty="0"/>
          </a:p>
        </p:txBody>
      </p:sp>
      <p:sp>
        <p:nvSpPr>
          <p:cNvPr id="15" name="Shape 13"/>
          <p:cNvSpPr/>
          <p:nvPr/>
        </p:nvSpPr>
        <p:spPr>
          <a:xfrm>
            <a:off x="502920" y="4828032"/>
            <a:ext cx="4023360" cy="658368"/>
          </a:xfrm>
          <a:prstGeom prst="rect">
            <a:avLst/>
          </a:prstGeom>
          <a:solidFill>
            <a:srgbClr val="F4F6F9"/>
          </a:solidFill>
          <a:ln w="9525">
            <a:solidFill>
              <a:srgbClr val="D9DEE6"/>
            </a:solidFill>
            <a:prstDash val="solid"/>
          </a:ln>
        </p:spPr>
      </p:sp>
      <p:sp>
        <p:nvSpPr>
          <p:cNvPr id="16" name="Text 14"/>
          <p:cNvSpPr/>
          <p:nvPr/>
        </p:nvSpPr>
        <p:spPr>
          <a:xfrm>
            <a:off x="630936" y="4855464"/>
            <a:ext cx="3785616" cy="603504"/>
          </a:xfrm>
          <a:prstGeom prst="rect">
            <a:avLst/>
          </a:prstGeom>
          <a:noFill/>
          <a:ln/>
        </p:spPr>
        <p:txBody>
          <a:bodyPr wrap="square" lIns="0" tIns="0" rIns="0" bIns="0" rtlCol="0" anchor="ctr"/>
          <a:lstStyle/>
          <a:p>
            <a:pPr indent="0" marL="0">
              <a:lnSpc>
                <a:spcPct val="105000"/>
              </a:lnSpc>
              <a:buNone/>
            </a:pPr>
            <a:r>
              <a:rPr lang="en-US" sz="930" dirty="0">
                <a:solidFill>
                  <a:srgbClr val="1F2733"/>
                </a:solidFill>
                <a:latin typeface="Meiryo UI" pitchFamily="34" charset="0"/>
                <a:ea typeface="Meiryo UI" pitchFamily="34" charset="-122"/>
                <a:cs typeface="Meiryo UI" pitchFamily="34" charset="-120"/>
              </a:rPr>
              <a:t>マーケ・営業のデータとKPIが分断し、施策効果を一気通貫で検証できない</a:t>
            </a:r>
            <a:endParaRPr lang="en-US" sz="930" dirty="0"/>
          </a:p>
        </p:txBody>
      </p:sp>
      <p:sp>
        <p:nvSpPr>
          <p:cNvPr id="17" name="Text 15"/>
          <p:cNvSpPr/>
          <p:nvPr/>
        </p:nvSpPr>
        <p:spPr>
          <a:xfrm>
            <a:off x="4617720" y="3291840"/>
            <a:ext cx="868680" cy="274320"/>
          </a:xfrm>
          <a:prstGeom prst="rect">
            <a:avLst/>
          </a:prstGeom>
          <a:noFill/>
          <a:ln/>
        </p:spPr>
        <p:txBody>
          <a:bodyPr wrap="square" lIns="0" tIns="0" rIns="0" bIns="0" rtlCol="0" anchor="ctr"/>
          <a:lstStyle/>
          <a:p>
            <a:pPr algn="ctr" indent="0" marL="0">
              <a:buNone/>
            </a:pPr>
            <a:r>
              <a:rPr lang="en-US" sz="1000" b="1" dirty="0">
                <a:solidFill>
                  <a:srgbClr val="5A6472"/>
                </a:solidFill>
                <a:latin typeface="Meiryo UI" pitchFamily="34" charset="0"/>
                <a:ea typeface="Meiryo UI" pitchFamily="34" charset="-122"/>
                <a:cs typeface="Meiryo UI" pitchFamily="34" charset="-120"/>
              </a:rPr>
              <a:t>遡ると</a:t>
            </a:r>
            <a:endParaRPr lang="en-US" sz="1000" dirty="0"/>
          </a:p>
        </p:txBody>
      </p:sp>
      <p:sp>
        <p:nvSpPr>
          <p:cNvPr id="18" name="Text 16"/>
          <p:cNvSpPr/>
          <p:nvPr/>
        </p:nvSpPr>
        <p:spPr>
          <a:xfrm>
            <a:off x="4617720" y="2999232"/>
            <a:ext cx="868680" cy="320040"/>
          </a:xfrm>
          <a:prstGeom prst="rect">
            <a:avLst/>
          </a:prstGeom>
          <a:noFill/>
          <a:ln/>
        </p:spPr>
        <p:txBody>
          <a:bodyPr wrap="square" lIns="0" tIns="0" rIns="0" bIns="0" rtlCol="0" anchor="ctr"/>
          <a:lstStyle/>
          <a:p>
            <a:pPr algn="ctr" indent="0" marL="0">
              <a:buNone/>
            </a:pPr>
            <a:r>
              <a:rPr lang="en-US" sz="1600" b="1" dirty="0">
                <a:solidFill>
                  <a:srgbClr val="C8102E"/>
                </a:solidFill>
                <a:latin typeface="Meiryo UI" pitchFamily="34" charset="0"/>
                <a:ea typeface="Meiryo UI" pitchFamily="34" charset="-122"/>
                <a:cs typeface="Meiryo UI" pitchFamily="34" charset="-120"/>
              </a:rPr>
              <a:t>▶</a:t>
            </a:r>
            <a:endParaRPr lang="en-US" sz="1600" dirty="0"/>
          </a:p>
        </p:txBody>
      </p:sp>
      <p:sp>
        <p:nvSpPr>
          <p:cNvPr id="19" name="Shape 17"/>
          <p:cNvSpPr/>
          <p:nvPr/>
        </p:nvSpPr>
        <p:spPr>
          <a:xfrm>
            <a:off x="5623560" y="1554480"/>
            <a:ext cx="6062472" cy="1207008"/>
          </a:xfrm>
          <a:prstGeom prst="rect">
            <a:avLst/>
          </a:prstGeom>
          <a:solidFill>
            <a:srgbClr val="FBECEC"/>
          </a:solidFill>
          <a:ln w="9525">
            <a:solidFill>
              <a:srgbClr val="E5B8BE"/>
            </a:solidFill>
            <a:prstDash val="solid"/>
          </a:ln>
        </p:spPr>
      </p:sp>
      <p:sp>
        <p:nvSpPr>
          <p:cNvPr id="20" name="Shape 18"/>
          <p:cNvSpPr/>
          <p:nvPr/>
        </p:nvSpPr>
        <p:spPr>
          <a:xfrm>
            <a:off x="5623560" y="1554480"/>
            <a:ext cx="73152" cy="1207008"/>
          </a:xfrm>
          <a:prstGeom prst="rect">
            <a:avLst/>
          </a:prstGeom>
          <a:solidFill>
            <a:srgbClr val="C8102E"/>
          </a:solidFill>
          <a:ln/>
        </p:spPr>
      </p:sp>
      <p:sp>
        <p:nvSpPr>
          <p:cNvPr id="21" name="Text 19"/>
          <p:cNvSpPr/>
          <p:nvPr/>
        </p:nvSpPr>
        <p:spPr>
          <a:xfrm>
            <a:off x="5833872" y="1627632"/>
            <a:ext cx="5760720" cy="292608"/>
          </a:xfrm>
          <a:prstGeom prst="rect">
            <a:avLst/>
          </a:prstGeom>
          <a:noFill/>
          <a:ln/>
        </p:spPr>
        <p:txBody>
          <a:bodyPr wrap="square" lIns="0" tIns="0" rIns="0" bIns="0" rtlCol="0" anchor="ctr"/>
          <a:lstStyle/>
          <a:p>
            <a:pPr indent="0" marL="0">
              <a:buNone/>
            </a:pPr>
            <a:r>
              <a:rPr lang="en-US" sz="1200" b="1" dirty="0">
                <a:solidFill>
                  <a:srgbClr val="C8102E"/>
                </a:solidFill>
                <a:latin typeface="Meiryo UI" pitchFamily="34" charset="0"/>
                <a:ea typeface="Meiryo UI" pitchFamily="34" charset="-122"/>
                <a:cs typeface="Meiryo UI" pitchFamily="34" charset="-120"/>
              </a:rPr>
              <a:t>真因①　</a:t>
            </a:r>
            <a:pPr indent="0" marL="0">
              <a:buNone/>
            </a:pPr>
            <a:r>
              <a:rPr lang="en-US" sz="1200" b="1" dirty="0">
                <a:solidFill>
                  <a:srgbClr val="16233A"/>
                </a:solidFill>
                <a:latin typeface="Meiryo UI" pitchFamily="34" charset="0"/>
                <a:ea typeface="Meiryo UI" pitchFamily="34" charset="-122"/>
                <a:cs typeface="Meiryo UI" pitchFamily="34" charset="-120"/>
              </a:rPr>
              <a:t>変換回路の不在（知見の非換金性）</a:t>
            </a:r>
            <a:endParaRPr lang="en-US" sz="1200" dirty="0"/>
          </a:p>
        </p:txBody>
      </p:sp>
      <p:sp>
        <p:nvSpPr>
          <p:cNvPr id="22" name="Text 20"/>
          <p:cNvSpPr/>
          <p:nvPr/>
        </p:nvSpPr>
        <p:spPr>
          <a:xfrm>
            <a:off x="5833872" y="1938528"/>
            <a:ext cx="5742432" cy="786384"/>
          </a:xfrm>
          <a:prstGeom prst="rect">
            <a:avLst/>
          </a:prstGeom>
          <a:noFill/>
          <a:ln/>
        </p:spPr>
        <p:txBody>
          <a:bodyPr wrap="square" lIns="0" tIns="0" rIns="0" bIns="0" rtlCol="0" anchor="ctr"/>
          <a:lstStyle/>
          <a:p>
            <a:pPr indent="0" marL="0">
              <a:lnSpc>
                <a:spcPct val="110000"/>
              </a:lnSpc>
              <a:buNone/>
            </a:pPr>
            <a:r>
              <a:rPr lang="en-US" sz="970" dirty="0">
                <a:solidFill>
                  <a:srgbClr val="1F2733"/>
                </a:solidFill>
                <a:latin typeface="Meiryo UI" pitchFamily="34" charset="0"/>
                <a:ea typeface="Meiryo UI" pitchFamily="34" charset="-122"/>
                <a:cs typeface="Meiryo UI" pitchFamily="34" charset="-120"/>
              </a:rPr>
              <a:t>R&amp;D・マーケ・営業のKPIとデータ基盤が縦割りで分断。最大の資産である習慣化の臨床・行動データが、「営業の言葉（LTV・炭素効率）」にも「AIの言葉（構造化データ）」にも変換されず社内に眠る。</a:t>
            </a:r>
            <a:endParaRPr lang="en-US" sz="970" dirty="0"/>
          </a:p>
        </p:txBody>
      </p:sp>
      <p:sp>
        <p:nvSpPr>
          <p:cNvPr id="23" name="Shape 21"/>
          <p:cNvSpPr/>
          <p:nvPr/>
        </p:nvSpPr>
        <p:spPr>
          <a:xfrm>
            <a:off x="5623560" y="2871216"/>
            <a:ext cx="6062472" cy="1207008"/>
          </a:xfrm>
          <a:prstGeom prst="rect">
            <a:avLst/>
          </a:prstGeom>
          <a:solidFill>
            <a:srgbClr val="FBECEC"/>
          </a:solidFill>
          <a:ln w="9525">
            <a:solidFill>
              <a:srgbClr val="E5B8BE"/>
            </a:solidFill>
            <a:prstDash val="solid"/>
          </a:ln>
        </p:spPr>
      </p:sp>
      <p:sp>
        <p:nvSpPr>
          <p:cNvPr id="24" name="Shape 22"/>
          <p:cNvSpPr/>
          <p:nvPr/>
        </p:nvSpPr>
        <p:spPr>
          <a:xfrm>
            <a:off x="5623560" y="2871216"/>
            <a:ext cx="73152" cy="1207008"/>
          </a:xfrm>
          <a:prstGeom prst="rect">
            <a:avLst/>
          </a:prstGeom>
          <a:solidFill>
            <a:srgbClr val="C8102E"/>
          </a:solidFill>
          <a:ln/>
        </p:spPr>
      </p:sp>
      <p:sp>
        <p:nvSpPr>
          <p:cNvPr id="25" name="Text 23"/>
          <p:cNvSpPr/>
          <p:nvPr/>
        </p:nvSpPr>
        <p:spPr>
          <a:xfrm>
            <a:off x="5833872" y="2944368"/>
            <a:ext cx="5760720" cy="292608"/>
          </a:xfrm>
          <a:prstGeom prst="rect">
            <a:avLst/>
          </a:prstGeom>
          <a:noFill/>
          <a:ln/>
        </p:spPr>
        <p:txBody>
          <a:bodyPr wrap="square" lIns="0" tIns="0" rIns="0" bIns="0" rtlCol="0" anchor="ctr"/>
          <a:lstStyle/>
          <a:p>
            <a:pPr indent="0" marL="0">
              <a:buNone/>
            </a:pPr>
            <a:r>
              <a:rPr lang="en-US" sz="1200" b="1" dirty="0">
                <a:solidFill>
                  <a:srgbClr val="C8102E"/>
                </a:solidFill>
                <a:latin typeface="Meiryo UI" pitchFamily="34" charset="0"/>
                <a:ea typeface="Meiryo UI" pitchFamily="34" charset="-122"/>
                <a:cs typeface="Meiryo UI" pitchFamily="34" charset="-120"/>
              </a:rPr>
              <a:t>真因②　</a:t>
            </a:r>
            <a:pPr indent="0" marL="0">
              <a:buNone/>
            </a:pPr>
            <a:r>
              <a:rPr lang="en-US" sz="1200" b="1" dirty="0">
                <a:solidFill>
                  <a:srgbClr val="16233A"/>
                </a:solidFill>
                <a:latin typeface="Meiryo UI" pitchFamily="34" charset="0"/>
                <a:ea typeface="Meiryo UI" pitchFamily="34" charset="-122"/>
                <a:cs typeface="Meiryo UI" pitchFamily="34" charset="-120"/>
              </a:rPr>
              <a:t>時間の不在（内向き業務の慣性）</a:t>
            </a:r>
            <a:endParaRPr lang="en-US" sz="1200" dirty="0"/>
          </a:p>
        </p:txBody>
      </p:sp>
      <p:sp>
        <p:nvSpPr>
          <p:cNvPr id="26" name="Text 24"/>
          <p:cNvSpPr/>
          <p:nvPr/>
        </p:nvSpPr>
        <p:spPr>
          <a:xfrm>
            <a:off x="5833872" y="3255264"/>
            <a:ext cx="5742432" cy="786384"/>
          </a:xfrm>
          <a:prstGeom prst="rect">
            <a:avLst/>
          </a:prstGeom>
          <a:noFill/>
          <a:ln/>
        </p:spPr>
        <p:txBody>
          <a:bodyPr wrap="square" lIns="0" tIns="0" rIns="0" bIns="0" rtlCol="0" anchor="ctr"/>
          <a:lstStyle/>
          <a:p>
            <a:pPr indent="0" marL="0">
              <a:lnSpc>
                <a:spcPct val="110000"/>
              </a:lnSpc>
              <a:buNone/>
            </a:pPr>
            <a:r>
              <a:rPr lang="en-US" sz="970" dirty="0">
                <a:solidFill>
                  <a:srgbClr val="1F2733"/>
                </a:solidFill>
                <a:latin typeface="Meiryo UI" pitchFamily="34" charset="0"/>
                <a:ea typeface="Meiryo UI" pitchFamily="34" charset="-122"/>
                <a:cs typeface="Meiryo UI" pitchFamily="34" charset="-120"/>
              </a:rPr>
              <a:t>資料作成・実績集計を「現場の仕方ない苦労」と許容する慣性。対P&amp;G比7.6倍の生産性格差の中、変換・対話・共同設計に充てる余白が構造的にゼロに近い。</a:t>
            </a:r>
            <a:endParaRPr lang="en-US" sz="970" dirty="0"/>
          </a:p>
        </p:txBody>
      </p:sp>
      <p:sp>
        <p:nvSpPr>
          <p:cNvPr id="27" name="Shape 25"/>
          <p:cNvSpPr/>
          <p:nvPr/>
        </p:nvSpPr>
        <p:spPr>
          <a:xfrm>
            <a:off x="5623560" y="4187952"/>
            <a:ext cx="6062472" cy="1207008"/>
          </a:xfrm>
          <a:prstGeom prst="rect">
            <a:avLst/>
          </a:prstGeom>
          <a:solidFill>
            <a:srgbClr val="FBECEC"/>
          </a:solidFill>
          <a:ln w="9525">
            <a:solidFill>
              <a:srgbClr val="E5B8BE"/>
            </a:solidFill>
            <a:prstDash val="solid"/>
          </a:ln>
        </p:spPr>
      </p:sp>
      <p:sp>
        <p:nvSpPr>
          <p:cNvPr id="28" name="Shape 26"/>
          <p:cNvSpPr/>
          <p:nvPr/>
        </p:nvSpPr>
        <p:spPr>
          <a:xfrm>
            <a:off x="5623560" y="4187952"/>
            <a:ext cx="73152" cy="1207008"/>
          </a:xfrm>
          <a:prstGeom prst="rect">
            <a:avLst/>
          </a:prstGeom>
          <a:solidFill>
            <a:srgbClr val="C8102E"/>
          </a:solidFill>
          <a:ln/>
        </p:spPr>
      </p:sp>
      <p:sp>
        <p:nvSpPr>
          <p:cNvPr id="29" name="Text 27"/>
          <p:cNvSpPr/>
          <p:nvPr/>
        </p:nvSpPr>
        <p:spPr>
          <a:xfrm>
            <a:off x="5833872" y="4261104"/>
            <a:ext cx="5760720" cy="292608"/>
          </a:xfrm>
          <a:prstGeom prst="rect">
            <a:avLst/>
          </a:prstGeom>
          <a:noFill/>
          <a:ln/>
        </p:spPr>
        <p:txBody>
          <a:bodyPr wrap="square" lIns="0" tIns="0" rIns="0" bIns="0" rtlCol="0" anchor="ctr"/>
          <a:lstStyle/>
          <a:p>
            <a:pPr indent="0" marL="0">
              <a:buNone/>
            </a:pPr>
            <a:r>
              <a:rPr lang="en-US" sz="1200" b="1" dirty="0">
                <a:solidFill>
                  <a:srgbClr val="C8102E"/>
                </a:solidFill>
                <a:latin typeface="Meiryo UI" pitchFamily="34" charset="0"/>
                <a:ea typeface="Meiryo UI" pitchFamily="34" charset="-122"/>
                <a:cs typeface="Meiryo UI" pitchFamily="34" charset="-120"/>
              </a:rPr>
              <a:t>真因③　</a:t>
            </a:r>
            <a:pPr indent="0" marL="0">
              <a:buNone/>
            </a:pPr>
            <a:r>
              <a:rPr lang="en-US" sz="1200" b="1" dirty="0">
                <a:solidFill>
                  <a:srgbClr val="16233A"/>
                </a:solidFill>
                <a:latin typeface="Meiryo UI" pitchFamily="34" charset="0"/>
                <a:ea typeface="Meiryo UI" pitchFamily="34" charset="-122"/>
                <a:cs typeface="Meiryo UI" pitchFamily="34" charset="-120"/>
              </a:rPr>
              <a:t>動機・切迫感の不在（評価と危機認識）</a:t>
            </a:r>
            <a:endParaRPr lang="en-US" sz="1200" dirty="0"/>
          </a:p>
        </p:txBody>
      </p:sp>
      <p:sp>
        <p:nvSpPr>
          <p:cNvPr id="30" name="Text 28"/>
          <p:cNvSpPr/>
          <p:nvPr/>
        </p:nvSpPr>
        <p:spPr>
          <a:xfrm>
            <a:off x="5833872" y="4572000"/>
            <a:ext cx="5742432" cy="786384"/>
          </a:xfrm>
          <a:prstGeom prst="rect">
            <a:avLst/>
          </a:prstGeom>
          <a:noFill/>
          <a:ln/>
        </p:spPr>
        <p:txBody>
          <a:bodyPr wrap="square" lIns="0" tIns="0" rIns="0" bIns="0" rtlCol="0" anchor="ctr"/>
          <a:lstStyle/>
          <a:p>
            <a:pPr indent="0" marL="0">
              <a:lnSpc>
                <a:spcPct val="110000"/>
              </a:lnSpc>
              <a:buNone/>
            </a:pPr>
            <a:r>
              <a:rPr lang="en-US" sz="970" dirty="0">
                <a:solidFill>
                  <a:srgbClr val="1F2733"/>
                </a:solidFill>
                <a:latin typeface="Meiryo UI" pitchFamily="34" charset="0"/>
                <a:ea typeface="Meiryo UI" pitchFamily="34" charset="-122"/>
                <a:cs typeface="Meiryo UI" pitchFamily="34" charset="-120"/>
              </a:rPr>
              <a:t>短期売上偏重の評価では、時間のかかるデータ活用・連携は報われない。「買い場の消滅」「環境義務化」がCSRやIT部門のテーマに矮小化され、ブランド生存権の危機として自分事化されていない。</a:t>
            </a:r>
            <a:endParaRPr lang="en-US" sz="970" dirty="0"/>
          </a:p>
        </p:txBody>
      </p:sp>
      <p:sp>
        <p:nvSpPr>
          <p:cNvPr id="31" name="Shape 29"/>
          <p:cNvSpPr/>
          <p:nvPr/>
        </p:nvSpPr>
        <p:spPr>
          <a:xfrm>
            <a:off x="502920" y="5650992"/>
            <a:ext cx="11185855" cy="777240"/>
          </a:xfrm>
          <a:prstGeom prst="rect">
            <a:avLst/>
          </a:prstGeom>
          <a:solidFill>
            <a:srgbClr val="16233A"/>
          </a:solidFill>
          <a:ln/>
        </p:spPr>
      </p:sp>
      <p:sp>
        <p:nvSpPr>
          <p:cNvPr id="32" name="Text 30"/>
          <p:cNvSpPr/>
          <p:nvPr/>
        </p:nvSpPr>
        <p:spPr>
          <a:xfrm>
            <a:off x="731520" y="5705856"/>
            <a:ext cx="10728655" cy="667512"/>
          </a:xfrm>
          <a:prstGeom prst="rect">
            <a:avLst/>
          </a:prstGeom>
          <a:noFill/>
          <a:ln/>
        </p:spPr>
        <p:txBody>
          <a:bodyPr wrap="square" lIns="0" tIns="0" rIns="0" bIns="0" rtlCol="0" anchor="ctr"/>
          <a:lstStyle/>
          <a:p>
            <a:pPr indent="0" marL="0">
              <a:lnSpc>
                <a:spcPct val="115000"/>
              </a:lnSpc>
              <a:buNone/>
            </a:pPr>
            <a:r>
              <a:rPr lang="en-US" sz="1080" b="1" dirty="0">
                <a:solidFill>
                  <a:srgbClr val="FFFFFF"/>
                </a:solidFill>
                <a:latin typeface="Meiryo UI" pitchFamily="34" charset="0"/>
                <a:ea typeface="Meiryo UI" pitchFamily="34" charset="-122"/>
                <a:cs typeface="Meiryo UI" pitchFamily="34" charset="-120"/>
              </a:rPr>
              <a:t>3つの真因は悪循環を形成：</a:t>
            </a:r>
            <a:pPr indent="0" marL="0">
              <a:lnSpc>
                <a:spcPct val="115000"/>
              </a:lnSpc>
              <a:buNone/>
            </a:pPr>
            <a:r>
              <a:rPr lang="en-US" sz="1080" dirty="0">
                <a:solidFill>
                  <a:srgbClr val="D7DFEA"/>
                </a:solidFill>
                <a:latin typeface="Meiryo UI" pitchFamily="34" charset="0"/>
                <a:ea typeface="Meiryo UI" pitchFamily="34" charset="-122"/>
                <a:cs typeface="Meiryo UI" pitchFamily="34" charset="-120"/>
              </a:rPr>
              <a:t>時間がない → 知見を変換できない → 商談の成果が変わらない → 変革の動機が生まれない → 内向き業務が温存される。どれか1つではなく、3点同時に着手して初めてループが逆回転する。</a:t>
            </a:r>
            <a:endParaRPr lang="en-US" sz="1080" dirty="0"/>
          </a:p>
        </p:txBody>
      </p:sp>
      <p:sp>
        <p:nvSpPr>
          <p:cNvPr id="33" name="Text 31"/>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VISION 2040</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2040年ビジョン ― 「予防習慣インフラ企業」への転換</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AIが購買を代行する時代、「習慣の初期設定」を握る者が自動補充のデフォルトを握る。それを実現できる資産はライオンにしかない</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536192"/>
            <a:ext cx="11185855" cy="868680"/>
          </a:xfrm>
          <a:prstGeom prst="rect">
            <a:avLst/>
          </a:prstGeom>
          <a:solidFill>
            <a:srgbClr val="16233A"/>
          </a:solidFill>
          <a:ln/>
        </p:spPr>
      </p:sp>
      <p:sp>
        <p:nvSpPr>
          <p:cNvPr id="7" name="Text 5"/>
          <p:cNvSpPr/>
          <p:nvPr/>
        </p:nvSpPr>
        <p:spPr>
          <a:xfrm>
            <a:off x="777240" y="1536192"/>
            <a:ext cx="10637215" cy="868680"/>
          </a:xfrm>
          <a:prstGeom prst="rect">
            <a:avLst/>
          </a:prstGeom>
          <a:noFill/>
          <a:ln/>
        </p:spPr>
        <p:txBody>
          <a:bodyPr wrap="square" lIns="0" tIns="0" rIns="0" bIns="0" rtlCol="0" anchor="ctr"/>
          <a:lstStyle/>
          <a:p>
            <a:pPr indent="0" marL="0">
              <a:buNone/>
            </a:pPr>
            <a:r>
              <a:rPr lang="en-US" sz="1550" b="1" dirty="0">
                <a:solidFill>
                  <a:srgbClr val="FFFFFF"/>
                </a:solidFill>
                <a:latin typeface="Meiryo UI" pitchFamily="34" charset="0"/>
                <a:ea typeface="Meiryo UI" pitchFamily="34" charset="-122"/>
                <a:cs typeface="Meiryo UI" pitchFamily="34" charset="-120"/>
              </a:rPr>
              <a:t>日用品を「売る」会社から、予防・衛生・エコの習慣を社会に実装し、</a:t>
            </a:r>
            <a:pPr indent="0" marL="0">
              <a:buNone/>
            </a:pPr>
            <a:r>
              <a:rPr lang="en-US" sz="1550" b="1" dirty="0">
                <a:solidFill>
                  <a:srgbClr val="FFD5DB"/>
                </a:solidFill>
                <a:latin typeface="Meiryo UI" pitchFamily="34" charset="0"/>
                <a:ea typeface="Meiryo UI" pitchFamily="34" charset="-122"/>
                <a:cs typeface="Meiryo UI" pitchFamily="34" charset="-120"/>
              </a:rPr>
              <a:t>その習慣ごとAI購買のデフォルト（初期設定）になる</a:t>
            </a:r>
            <a:pPr indent="0" marL="0">
              <a:buNone/>
            </a:pPr>
            <a:r>
              <a:rPr lang="en-US" sz="1550" b="1" dirty="0">
                <a:solidFill>
                  <a:srgbClr val="FFFFFF"/>
                </a:solidFill>
                <a:latin typeface="Meiryo UI" pitchFamily="34" charset="0"/>
                <a:ea typeface="Meiryo UI" pitchFamily="34" charset="-122"/>
                <a:cs typeface="Meiryo UI" pitchFamily="34" charset="-120"/>
              </a:rPr>
              <a:t>会社へ。</a:t>
            </a:r>
            <a:endParaRPr lang="en-US" sz="1550" dirty="0"/>
          </a:p>
        </p:txBody>
      </p:sp>
      <p:sp>
        <p:nvSpPr>
          <p:cNvPr id="8" name="Text 6"/>
          <p:cNvSpPr/>
          <p:nvPr/>
        </p:nvSpPr>
        <p:spPr>
          <a:xfrm>
            <a:off x="502920" y="2606040"/>
            <a:ext cx="6035040" cy="274320"/>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なぜライオンにしかできないのか ― 資本で買えない3つの独自資産</a:t>
            </a:r>
            <a:endParaRPr lang="en-US" sz="1200" dirty="0"/>
          </a:p>
        </p:txBody>
      </p:sp>
      <p:sp>
        <p:nvSpPr>
          <p:cNvPr id="9" name="Shape 7"/>
          <p:cNvSpPr/>
          <p:nvPr/>
        </p:nvSpPr>
        <p:spPr>
          <a:xfrm>
            <a:off x="502920" y="2944368"/>
            <a:ext cx="6035040" cy="932688"/>
          </a:xfrm>
          <a:prstGeom prst="rect">
            <a:avLst/>
          </a:prstGeom>
          <a:solidFill>
            <a:srgbClr val="F4F6F9"/>
          </a:solidFill>
          <a:ln w="9525">
            <a:solidFill>
              <a:srgbClr val="D9DEE6"/>
            </a:solidFill>
            <a:prstDash val="solid"/>
          </a:ln>
        </p:spPr>
      </p:sp>
      <p:sp>
        <p:nvSpPr>
          <p:cNvPr id="10" name="Shape 8"/>
          <p:cNvSpPr/>
          <p:nvPr/>
        </p:nvSpPr>
        <p:spPr>
          <a:xfrm>
            <a:off x="640080" y="3218688"/>
            <a:ext cx="384048" cy="384048"/>
          </a:xfrm>
          <a:prstGeom prst="ellipse">
            <a:avLst/>
          </a:prstGeom>
          <a:solidFill>
            <a:srgbClr val="C8102E"/>
          </a:solidFill>
          <a:ln/>
        </p:spPr>
      </p:sp>
      <p:sp>
        <p:nvSpPr>
          <p:cNvPr id="11" name="Text 9"/>
          <p:cNvSpPr/>
          <p:nvPr/>
        </p:nvSpPr>
        <p:spPr>
          <a:xfrm>
            <a:off x="640080" y="3218688"/>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S1</a:t>
            </a:r>
            <a:endParaRPr lang="en-US" sz="1050" dirty="0"/>
          </a:p>
        </p:txBody>
      </p:sp>
      <p:sp>
        <p:nvSpPr>
          <p:cNvPr id="12" name="Text 10"/>
          <p:cNvSpPr/>
          <p:nvPr/>
        </p:nvSpPr>
        <p:spPr>
          <a:xfrm>
            <a:off x="1161288" y="2999232"/>
            <a:ext cx="5257800" cy="841248"/>
          </a:xfrm>
          <a:prstGeom prst="rect">
            <a:avLst/>
          </a:prstGeom>
          <a:noFill/>
          <a:ln/>
        </p:spPr>
        <p:txBody>
          <a:bodyPr wrap="square" lIns="0" tIns="0" rIns="0" bIns="0" rtlCol="0" anchor="ctr"/>
          <a:lstStyle/>
          <a:p>
            <a:pPr indent="0" marL="0">
              <a:lnSpc>
                <a:spcPct val="108000"/>
              </a:lnSpc>
              <a:buNone/>
            </a:pPr>
            <a:r>
              <a:rPr lang="en-US" sz="960" b="1" dirty="0">
                <a:solidFill>
                  <a:srgbClr val="16233A"/>
                </a:solidFill>
                <a:latin typeface="Meiryo UI" pitchFamily="34" charset="0"/>
                <a:ea typeface="Meiryo UI" pitchFamily="34" charset="-122"/>
                <a:cs typeface="Meiryo UI" pitchFamily="34" charset="-120"/>
              </a:rPr>
              <a:t>制度・職能ネットワーク：</a:t>
            </a:r>
            <a:pPr indent="0" marL="0">
              <a:lnSpc>
                <a:spcPct val="108000"/>
              </a:lnSpc>
              <a:buNone/>
            </a:pPr>
            <a:r>
              <a:rPr lang="en-US" sz="960" dirty="0">
                <a:solidFill>
                  <a:srgbClr val="1F2733"/>
                </a:solidFill>
                <a:latin typeface="Meiryo UI" pitchFamily="34" charset="0"/>
                <a:ea typeface="Meiryo UI" pitchFamily="34" charset="-122"/>
                <a:cs typeface="Meiryo UI" pitchFamily="34" charset="-120"/>
              </a:rPr>
              <a:t>歯科医師会・歯科医院・学校（小学生歯みがき大会）・幼稚園・自治体と築いた排他的な啓発・教育インフラ。P&amp;G・花王が資本を投じても再現できない参入障壁。</a:t>
            </a:r>
            <a:endParaRPr lang="en-US" sz="960" dirty="0"/>
          </a:p>
        </p:txBody>
      </p:sp>
      <p:sp>
        <p:nvSpPr>
          <p:cNvPr id="13" name="Shape 11"/>
          <p:cNvSpPr/>
          <p:nvPr/>
        </p:nvSpPr>
        <p:spPr>
          <a:xfrm>
            <a:off x="502920" y="3968496"/>
            <a:ext cx="6035040" cy="932688"/>
          </a:xfrm>
          <a:prstGeom prst="rect">
            <a:avLst/>
          </a:prstGeom>
          <a:solidFill>
            <a:srgbClr val="F4F6F9"/>
          </a:solidFill>
          <a:ln w="9525">
            <a:solidFill>
              <a:srgbClr val="D9DEE6"/>
            </a:solidFill>
            <a:prstDash val="solid"/>
          </a:ln>
        </p:spPr>
      </p:sp>
      <p:sp>
        <p:nvSpPr>
          <p:cNvPr id="14" name="Shape 12"/>
          <p:cNvSpPr/>
          <p:nvPr/>
        </p:nvSpPr>
        <p:spPr>
          <a:xfrm>
            <a:off x="640080" y="4242816"/>
            <a:ext cx="384048" cy="384048"/>
          </a:xfrm>
          <a:prstGeom prst="ellipse">
            <a:avLst/>
          </a:prstGeom>
          <a:solidFill>
            <a:srgbClr val="C8102E"/>
          </a:solidFill>
          <a:ln/>
        </p:spPr>
      </p:sp>
      <p:sp>
        <p:nvSpPr>
          <p:cNvPr id="15" name="Text 13"/>
          <p:cNvSpPr/>
          <p:nvPr/>
        </p:nvSpPr>
        <p:spPr>
          <a:xfrm>
            <a:off x="640080" y="4242816"/>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S2</a:t>
            </a:r>
            <a:endParaRPr lang="en-US" sz="1050" dirty="0"/>
          </a:p>
        </p:txBody>
      </p:sp>
      <p:sp>
        <p:nvSpPr>
          <p:cNvPr id="16" name="Text 14"/>
          <p:cNvSpPr/>
          <p:nvPr/>
        </p:nvSpPr>
        <p:spPr>
          <a:xfrm>
            <a:off x="1161288" y="4023360"/>
            <a:ext cx="5257800" cy="841248"/>
          </a:xfrm>
          <a:prstGeom prst="rect">
            <a:avLst/>
          </a:prstGeom>
          <a:noFill/>
          <a:ln/>
        </p:spPr>
        <p:txBody>
          <a:bodyPr wrap="square" lIns="0" tIns="0" rIns="0" bIns="0" rtlCol="0" anchor="ctr"/>
          <a:lstStyle/>
          <a:p>
            <a:pPr indent="0" marL="0">
              <a:lnSpc>
                <a:spcPct val="108000"/>
              </a:lnSpc>
              <a:buNone/>
            </a:pPr>
            <a:r>
              <a:rPr lang="en-US" sz="960" b="1" dirty="0">
                <a:solidFill>
                  <a:srgbClr val="16233A"/>
                </a:solidFill>
                <a:latin typeface="Meiryo UI" pitchFamily="34" charset="0"/>
                <a:ea typeface="Meiryo UI" pitchFamily="34" charset="-122"/>
                <a:cs typeface="Meiryo UI" pitchFamily="34" charset="-120"/>
              </a:rPr>
              <a:t>習慣化の臨床データ：</a:t>
            </a:r>
            <a:pPr indent="0" marL="0">
              <a:lnSpc>
                <a:spcPct val="108000"/>
              </a:lnSpc>
              <a:buNone/>
            </a:pPr>
            <a:r>
              <a:rPr lang="en-US" sz="960" dirty="0">
                <a:solidFill>
                  <a:srgbClr val="1F2733"/>
                </a:solidFill>
                <a:latin typeface="Meiryo UI" pitchFamily="34" charset="0"/>
                <a:ea typeface="Meiryo UI" pitchFamily="34" charset="-122"/>
                <a:cs typeface="Meiryo UI" pitchFamily="34" charset="-120"/>
              </a:rPr>
              <a:t>オーラルケア・ハンドソープ国内No.1を支える歯科・皮膚科学の研究知見と行動変容データ。「続けるとこう変わる」を科学的に語れる。</a:t>
            </a:r>
            <a:endParaRPr lang="en-US" sz="960" dirty="0"/>
          </a:p>
        </p:txBody>
      </p:sp>
      <p:sp>
        <p:nvSpPr>
          <p:cNvPr id="17" name="Shape 15"/>
          <p:cNvSpPr/>
          <p:nvPr/>
        </p:nvSpPr>
        <p:spPr>
          <a:xfrm>
            <a:off x="502920" y="4992624"/>
            <a:ext cx="6035040" cy="932688"/>
          </a:xfrm>
          <a:prstGeom prst="rect">
            <a:avLst/>
          </a:prstGeom>
          <a:solidFill>
            <a:srgbClr val="F4F6F9"/>
          </a:solidFill>
          <a:ln w="9525">
            <a:solidFill>
              <a:srgbClr val="D9DEE6"/>
            </a:solidFill>
            <a:prstDash val="solid"/>
          </a:ln>
        </p:spPr>
      </p:sp>
      <p:sp>
        <p:nvSpPr>
          <p:cNvPr id="18" name="Shape 16"/>
          <p:cNvSpPr/>
          <p:nvPr/>
        </p:nvSpPr>
        <p:spPr>
          <a:xfrm>
            <a:off x="640080" y="5266944"/>
            <a:ext cx="384048" cy="384048"/>
          </a:xfrm>
          <a:prstGeom prst="ellipse">
            <a:avLst/>
          </a:prstGeom>
          <a:solidFill>
            <a:srgbClr val="C8102E"/>
          </a:solidFill>
          <a:ln/>
        </p:spPr>
      </p:sp>
      <p:sp>
        <p:nvSpPr>
          <p:cNvPr id="19" name="Text 17"/>
          <p:cNvSpPr/>
          <p:nvPr/>
        </p:nvSpPr>
        <p:spPr>
          <a:xfrm>
            <a:off x="640080" y="5266944"/>
            <a:ext cx="3840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S3</a:t>
            </a:r>
            <a:endParaRPr lang="en-US" sz="1050" dirty="0"/>
          </a:p>
        </p:txBody>
      </p:sp>
      <p:sp>
        <p:nvSpPr>
          <p:cNvPr id="20" name="Text 18"/>
          <p:cNvSpPr/>
          <p:nvPr/>
        </p:nvSpPr>
        <p:spPr>
          <a:xfrm>
            <a:off x="1161288" y="5047488"/>
            <a:ext cx="5257800" cy="841248"/>
          </a:xfrm>
          <a:prstGeom prst="rect">
            <a:avLst/>
          </a:prstGeom>
          <a:noFill/>
          <a:ln/>
        </p:spPr>
        <p:txBody>
          <a:bodyPr wrap="square" lIns="0" tIns="0" rIns="0" bIns="0" rtlCol="0" anchor="ctr"/>
          <a:lstStyle/>
          <a:p>
            <a:pPr indent="0" marL="0">
              <a:lnSpc>
                <a:spcPct val="108000"/>
              </a:lnSpc>
              <a:buNone/>
            </a:pPr>
            <a:r>
              <a:rPr lang="en-US" sz="960" b="1" dirty="0">
                <a:solidFill>
                  <a:srgbClr val="16233A"/>
                </a:solidFill>
                <a:latin typeface="Meiryo UI" pitchFamily="34" charset="0"/>
                <a:ea typeface="Meiryo UI" pitchFamily="34" charset="-122"/>
                <a:cs typeface="Meiryo UI" pitchFamily="34" charset="-120"/>
              </a:rPr>
              <a:t>日雑×OTCのハイブリッド：</a:t>
            </a:r>
            <a:pPr indent="0" marL="0">
              <a:lnSpc>
                <a:spcPct val="108000"/>
              </a:lnSpc>
              <a:buNone/>
            </a:pPr>
            <a:r>
              <a:rPr lang="en-US" sz="960" dirty="0">
                <a:solidFill>
                  <a:srgbClr val="1F2733"/>
                </a:solidFill>
                <a:latin typeface="Meiryo UI" pitchFamily="34" charset="0"/>
                <a:ea typeface="Meiryo UI" pitchFamily="34" charset="-122"/>
                <a:cs typeface="Meiryo UI" pitchFamily="34" charset="-120"/>
              </a:rPr>
              <a:t>バファリン等のOTC医薬品と薬事知見を持つ唯一の日雑メーカー。「未病・予防の国策化」を事業機会に変換できる立ち位置。</a:t>
            </a:r>
            <a:endParaRPr lang="en-US" sz="960" dirty="0"/>
          </a:p>
        </p:txBody>
      </p:sp>
      <p:sp>
        <p:nvSpPr>
          <p:cNvPr id="21" name="Text 19"/>
          <p:cNvSpPr/>
          <p:nvPr/>
        </p:nvSpPr>
        <p:spPr>
          <a:xfrm>
            <a:off x="6858000" y="2606040"/>
            <a:ext cx="4846320" cy="274320"/>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勝ち筋のメカニズム ― 習慣の初期設定からAIのデフォルトへ</a:t>
            </a:r>
            <a:endParaRPr lang="en-US" sz="1200" dirty="0"/>
          </a:p>
        </p:txBody>
      </p:sp>
      <p:sp>
        <p:nvSpPr>
          <p:cNvPr id="22" name="Shape 20"/>
          <p:cNvSpPr/>
          <p:nvPr/>
        </p:nvSpPr>
        <p:spPr>
          <a:xfrm>
            <a:off x="6858000" y="2944368"/>
            <a:ext cx="4828032" cy="658368"/>
          </a:xfrm>
          <a:prstGeom prst="rect">
            <a:avLst/>
          </a:prstGeom>
          <a:solidFill>
            <a:srgbClr val="EAF3F8"/>
          </a:solidFill>
          <a:ln w="9525">
            <a:solidFill>
              <a:srgbClr val="BCD6E4"/>
            </a:solidFill>
            <a:prstDash val="solid"/>
          </a:ln>
        </p:spPr>
      </p:sp>
      <p:sp>
        <p:nvSpPr>
          <p:cNvPr id="23" name="Text 21"/>
          <p:cNvSpPr/>
          <p:nvPr/>
        </p:nvSpPr>
        <p:spPr>
          <a:xfrm>
            <a:off x="6986016" y="2971800"/>
            <a:ext cx="4572000" cy="603504"/>
          </a:xfrm>
          <a:prstGeom prst="rect">
            <a:avLst/>
          </a:prstGeom>
          <a:noFill/>
          <a:ln/>
        </p:spPr>
        <p:txBody>
          <a:bodyPr wrap="square" lIns="0" tIns="0" rIns="0" bIns="0" rtlCol="0" anchor="ctr"/>
          <a:lstStyle/>
          <a:p>
            <a:pPr indent="0" marL="0">
              <a:lnSpc>
                <a:spcPct val="105000"/>
              </a:lnSpc>
              <a:buNone/>
            </a:pPr>
            <a:r>
              <a:rPr lang="en-US" sz="980" b="1" dirty="0">
                <a:solidFill>
                  <a:srgbClr val="0F5E87"/>
                </a:solidFill>
                <a:latin typeface="Meiryo UI" pitchFamily="34" charset="0"/>
                <a:ea typeface="Meiryo UI" pitchFamily="34" charset="-122"/>
                <a:cs typeface="Meiryo UI" pitchFamily="34" charset="-120"/>
              </a:rPr>
              <a:t>① 習慣を作る（非デジタル）　</a:t>
            </a:r>
            <a:pPr indent="0" marL="0">
              <a:lnSpc>
                <a:spcPct val="105000"/>
              </a:lnSpc>
              <a:buNone/>
            </a:pPr>
            <a:r>
              <a:rPr lang="en-US" sz="920" dirty="0">
                <a:solidFill>
                  <a:srgbClr val="1F2733"/>
                </a:solidFill>
                <a:latin typeface="Meiryo UI" pitchFamily="34" charset="0"/>
                <a:ea typeface="Meiryo UI" pitchFamily="34" charset="-122"/>
                <a:cs typeface="Meiryo UI" pitchFamily="34" charset="-120"/>
              </a:rPr>
              <a:t>学校・歯科・自治体ルートで幼少期から予防・衛生習慣を形成し、生活の「初期設定」に入り込む</a:t>
            </a:r>
            <a:endParaRPr lang="en-US" sz="980" dirty="0"/>
          </a:p>
        </p:txBody>
      </p:sp>
      <p:sp>
        <p:nvSpPr>
          <p:cNvPr id="24" name="Text 22"/>
          <p:cNvSpPr/>
          <p:nvPr/>
        </p:nvSpPr>
        <p:spPr>
          <a:xfrm>
            <a:off x="9052560" y="3547872"/>
            <a:ext cx="365760" cy="201168"/>
          </a:xfrm>
          <a:prstGeom prst="rect">
            <a:avLst/>
          </a:prstGeom>
          <a:noFill/>
          <a:ln/>
        </p:spPr>
        <p:txBody>
          <a:bodyPr wrap="square" lIns="0" tIns="0" rIns="0" bIns="0" rtlCol="0" anchor="ctr"/>
          <a:lstStyle/>
          <a:p>
            <a:pPr algn="ctr" indent="0" marL="0">
              <a:buNone/>
            </a:pPr>
            <a:r>
              <a:rPr lang="en-US" sz="800" b="1" dirty="0">
                <a:solidFill>
                  <a:srgbClr val="9AA3AE"/>
                </a:solidFill>
                <a:latin typeface="Meiryo UI" pitchFamily="34" charset="0"/>
                <a:ea typeface="Meiryo UI" pitchFamily="34" charset="-122"/>
                <a:cs typeface="Meiryo UI" pitchFamily="34" charset="-120"/>
              </a:rPr>
              <a:t>▼</a:t>
            </a:r>
            <a:endParaRPr lang="en-US" sz="800" dirty="0"/>
          </a:p>
        </p:txBody>
      </p:sp>
      <p:sp>
        <p:nvSpPr>
          <p:cNvPr id="25" name="Shape 23"/>
          <p:cNvSpPr/>
          <p:nvPr/>
        </p:nvSpPr>
        <p:spPr>
          <a:xfrm>
            <a:off x="6858000" y="3767328"/>
            <a:ext cx="4828032" cy="658368"/>
          </a:xfrm>
          <a:prstGeom prst="rect">
            <a:avLst/>
          </a:prstGeom>
          <a:solidFill>
            <a:srgbClr val="EAF3F8"/>
          </a:solidFill>
          <a:ln w="9525">
            <a:solidFill>
              <a:srgbClr val="BCD6E4"/>
            </a:solidFill>
            <a:prstDash val="solid"/>
          </a:ln>
        </p:spPr>
      </p:sp>
      <p:sp>
        <p:nvSpPr>
          <p:cNvPr id="26" name="Text 24"/>
          <p:cNvSpPr/>
          <p:nvPr/>
        </p:nvSpPr>
        <p:spPr>
          <a:xfrm>
            <a:off x="6986016" y="3794760"/>
            <a:ext cx="4572000" cy="603504"/>
          </a:xfrm>
          <a:prstGeom prst="rect">
            <a:avLst/>
          </a:prstGeom>
          <a:noFill/>
          <a:ln/>
        </p:spPr>
        <p:txBody>
          <a:bodyPr wrap="square" lIns="0" tIns="0" rIns="0" bIns="0" rtlCol="0" anchor="ctr"/>
          <a:lstStyle/>
          <a:p>
            <a:pPr indent="0" marL="0">
              <a:lnSpc>
                <a:spcPct val="105000"/>
              </a:lnSpc>
              <a:buNone/>
            </a:pPr>
            <a:r>
              <a:rPr lang="en-US" sz="980" b="1" dirty="0">
                <a:solidFill>
                  <a:srgbClr val="0F5E87"/>
                </a:solidFill>
                <a:latin typeface="Meiryo UI" pitchFamily="34" charset="0"/>
                <a:ea typeface="Meiryo UI" pitchFamily="34" charset="-122"/>
                <a:cs typeface="Meiryo UI" pitchFamily="34" charset="-120"/>
              </a:rPr>
              <a:t>② 選ばれ続ける（人の経路）　</a:t>
            </a:r>
            <a:pPr indent="0" marL="0">
              <a:lnSpc>
                <a:spcPct val="105000"/>
              </a:lnSpc>
              <a:buNone/>
            </a:pPr>
            <a:r>
              <a:rPr lang="en-US" sz="920" dirty="0">
                <a:solidFill>
                  <a:srgbClr val="1F2733"/>
                </a:solidFill>
                <a:latin typeface="Meiryo UI" pitchFamily="34" charset="0"/>
                <a:ea typeface="Meiryo UI" pitchFamily="34" charset="-122"/>
                <a:cs typeface="Meiryo UI" pitchFamily="34" charset="-120"/>
              </a:rPr>
              <a:t>臨床エビデンス×リピートを生む売場で、高関与領域の能動的な指名選択を獲得する</a:t>
            </a:r>
            <a:endParaRPr lang="en-US" sz="980" dirty="0"/>
          </a:p>
        </p:txBody>
      </p:sp>
      <p:sp>
        <p:nvSpPr>
          <p:cNvPr id="27" name="Text 25"/>
          <p:cNvSpPr/>
          <p:nvPr/>
        </p:nvSpPr>
        <p:spPr>
          <a:xfrm>
            <a:off x="9052560" y="4370832"/>
            <a:ext cx="365760" cy="201168"/>
          </a:xfrm>
          <a:prstGeom prst="rect">
            <a:avLst/>
          </a:prstGeom>
          <a:noFill/>
          <a:ln/>
        </p:spPr>
        <p:txBody>
          <a:bodyPr wrap="square" lIns="0" tIns="0" rIns="0" bIns="0" rtlCol="0" anchor="ctr"/>
          <a:lstStyle/>
          <a:p>
            <a:pPr algn="ctr" indent="0" marL="0">
              <a:buNone/>
            </a:pPr>
            <a:r>
              <a:rPr lang="en-US" sz="800" b="1" dirty="0">
                <a:solidFill>
                  <a:srgbClr val="9AA3AE"/>
                </a:solidFill>
                <a:latin typeface="Meiryo UI" pitchFamily="34" charset="0"/>
                <a:ea typeface="Meiryo UI" pitchFamily="34" charset="-122"/>
                <a:cs typeface="Meiryo UI" pitchFamily="34" charset="-120"/>
              </a:rPr>
              <a:t>▼</a:t>
            </a:r>
            <a:endParaRPr lang="en-US" sz="800" dirty="0"/>
          </a:p>
        </p:txBody>
      </p:sp>
      <p:sp>
        <p:nvSpPr>
          <p:cNvPr id="28" name="Shape 26"/>
          <p:cNvSpPr/>
          <p:nvPr/>
        </p:nvSpPr>
        <p:spPr>
          <a:xfrm>
            <a:off x="6858000" y="4590288"/>
            <a:ext cx="4828032" cy="658368"/>
          </a:xfrm>
          <a:prstGeom prst="rect">
            <a:avLst/>
          </a:prstGeom>
          <a:solidFill>
            <a:srgbClr val="EAF3F8"/>
          </a:solidFill>
          <a:ln w="9525">
            <a:solidFill>
              <a:srgbClr val="BCD6E4"/>
            </a:solidFill>
            <a:prstDash val="solid"/>
          </a:ln>
        </p:spPr>
      </p:sp>
      <p:sp>
        <p:nvSpPr>
          <p:cNvPr id="29" name="Text 27"/>
          <p:cNvSpPr/>
          <p:nvPr/>
        </p:nvSpPr>
        <p:spPr>
          <a:xfrm>
            <a:off x="6986016" y="4617720"/>
            <a:ext cx="4572000" cy="603504"/>
          </a:xfrm>
          <a:prstGeom prst="rect">
            <a:avLst/>
          </a:prstGeom>
          <a:noFill/>
          <a:ln/>
        </p:spPr>
        <p:txBody>
          <a:bodyPr wrap="square" lIns="0" tIns="0" rIns="0" bIns="0" rtlCol="0" anchor="ctr"/>
          <a:lstStyle/>
          <a:p>
            <a:pPr indent="0" marL="0">
              <a:lnSpc>
                <a:spcPct val="105000"/>
              </a:lnSpc>
              <a:buNone/>
            </a:pPr>
            <a:r>
              <a:rPr lang="en-US" sz="980" b="1" dirty="0">
                <a:solidFill>
                  <a:srgbClr val="0F5E87"/>
                </a:solidFill>
                <a:latin typeface="Meiryo UI" pitchFamily="34" charset="0"/>
                <a:ea typeface="Meiryo UI" pitchFamily="34" charset="-122"/>
                <a:cs typeface="Meiryo UI" pitchFamily="34" charset="-120"/>
              </a:rPr>
              <a:t>③ 登録される（AIの経路）　</a:t>
            </a:r>
            <a:pPr indent="0" marL="0">
              <a:lnSpc>
                <a:spcPct val="105000"/>
              </a:lnSpc>
              <a:buNone/>
            </a:pPr>
            <a:r>
              <a:rPr lang="en-US" sz="920" dirty="0">
                <a:solidFill>
                  <a:srgbClr val="1F2733"/>
                </a:solidFill>
                <a:latin typeface="Meiryo UI" pitchFamily="34" charset="0"/>
                <a:ea typeface="Meiryo UI" pitchFamily="34" charset="-122"/>
                <a:cs typeface="Meiryo UI" pitchFamily="34" charset="-120"/>
              </a:rPr>
              <a:t>人の経路で育てたブランド愛着が、AIエージェントへの「指名登録」に転化する</a:t>
            </a:r>
            <a:endParaRPr lang="en-US" sz="980" dirty="0"/>
          </a:p>
        </p:txBody>
      </p:sp>
      <p:sp>
        <p:nvSpPr>
          <p:cNvPr id="30" name="Text 28"/>
          <p:cNvSpPr/>
          <p:nvPr/>
        </p:nvSpPr>
        <p:spPr>
          <a:xfrm>
            <a:off x="9052560" y="5193792"/>
            <a:ext cx="365760" cy="201168"/>
          </a:xfrm>
          <a:prstGeom prst="rect">
            <a:avLst/>
          </a:prstGeom>
          <a:noFill/>
          <a:ln/>
        </p:spPr>
        <p:txBody>
          <a:bodyPr wrap="square" lIns="0" tIns="0" rIns="0" bIns="0" rtlCol="0" anchor="ctr"/>
          <a:lstStyle/>
          <a:p>
            <a:pPr algn="ctr" indent="0" marL="0">
              <a:buNone/>
            </a:pPr>
            <a:r>
              <a:rPr lang="en-US" sz="800" b="1" dirty="0">
                <a:solidFill>
                  <a:srgbClr val="9AA3AE"/>
                </a:solidFill>
                <a:latin typeface="Meiryo UI" pitchFamily="34" charset="0"/>
                <a:ea typeface="Meiryo UI" pitchFamily="34" charset="-122"/>
                <a:cs typeface="Meiryo UI" pitchFamily="34" charset="-120"/>
              </a:rPr>
              <a:t>▼</a:t>
            </a:r>
            <a:endParaRPr lang="en-US" sz="800" dirty="0"/>
          </a:p>
        </p:txBody>
      </p:sp>
      <p:sp>
        <p:nvSpPr>
          <p:cNvPr id="31" name="Shape 29"/>
          <p:cNvSpPr/>
          <p:nvPr/>
        </p:nvSpPr>
        <p:spPr>
          <a:xfrm>
            <a:off x="6858000" y="5413248"/>
            <a:ext cx="4828032" cy="658368"/>
          </a:xfrm>
          <a:prstGeom prst="rect">
            <a:avLst/>
          </a:prstGeom>
          <a:solidFill>
            <a:srgbClr val="FBECEC"/>
          </a:solidFill>
          <a:ln w="9525">
            <a:solidFill>
              <a:srgbClr val="E5B8BE"/>
            </a:solidFill>
            <a:prstDash val="solid"/>
          </a:ln>
        </p:spPr>
      </p:sp>
      <p:sp>
        <p:nvSpPr>
          <p:cNvPr id="32" name="Text 30"/>
          <p:cNvSpPr/>
          <p:nvPr/>
        </p:nvSpPr>
        <p:spPr>
          <a:xfrm>
            <a:off x="6986016" y="5440680"/>
            <a:ext cx="4572000" cy="603504"/>
          </a:xfrm>
          <a:prstGeom prst="rect">
            <a:avLst/>
          </a:prstGeom>
          <a:noFill/>
          <a:ln/>
        </p:spPr>
        <p:txBody>
          <a:bodyPr wrap="square" lIns="0" tIns="0" rIns="0" bIns="0" rtlCol="0" anchor="ctr"/>
          <a:lstStyle/>
          <a:p>
            <a:pPr indent="0" marL="0">
              <a:lnSpc>
                <a:spcPct val="105000"/>
              </a:lnSpc>
              <a:buNone/>
            </a:pPr>
            <a:r>
              <a:rPr lang="en-US" sz="980" b="1" dirty="0">
                <a:solidFill>
                  <a:srgbClr val="C8102E"/>
                </a:solidFill>
                <a:latin typeface="Meiryo UI" pitchFamily="34" charset="0"/>
                <a:ea typeface="Meiryo UI" pitchFamily="34" charset="-122"/>
                <a:cs typeface="Meiryo UI" pitchFamily="34" charset="-120"/>
              </a:rPr>
              <a:t>④ デフォルト化する（2040年）　</a:t>
            </a:r>
            <a:pPr indent="0" marL="0">
              <a:lnSpc>
                <a:spcPct val="105000"/>
              </a:lnSpc>
              <a:buNone/>
            </a:pPr>
            <a:r>
              <a:rPr lang="en-US" sz="920" dirty="0">
                <a:solidFill>
                  <a:srgbClr val="1F2733"/>
                </a:solidFill>
                <a:latin typeface="Meiryo UI" pitchFamily="34" charset="0"/>
                <a:ea typeface="Meiryo UI" pitchFamily="34" charset="-122"/>
                <a:cs typeface="Meiryo UI" pitchFamily="34" charset="-120"/>
              </a:rPr>
              <a:t>環境・健康スコアを完備し、AI自動補充のホワイトリストをカテゴリごと独占する</a:t>
            </a:r>
            <a:endParaRPr lang="en-US" sz="980" dirty="0"/>
          </a:p>
        </p:txBody>
      </p:sp>
      <p:sp>
        <p:nvSpPr>
          <p:cNvPr id="33" name="Text 31"/>
          <p:cNvSpPr/>
          <p:nvPr/>
        </p:nvSpPr>
        <p:spPr>
          <a:xfrm>
            <a:off x="502920" y="6144768"/>
            <a:ext cx="11185855" cy="320040"/>
          </a:xfrm>
          <a:prstGeom prst="rect">
            <a:avLst/>
          </a:prstGeom>
          <a:noFill/>
          <a:ln/>
        </p:spPr>
        <p:txBody>
          <a:bodyPr wrap="square" lIns="0" tIns="0" rIns="0" bIns="0" rtlCol="0" anchor="ctr"/>
          <a:lstStyle/>
          <a:p>
            <a:pPr indent="0" marL="0">
              <a:buNone/>
            </a:pPr>
            <a:r>
              <a:rPr lang="en-US" sz="900" dirty="0">
                <a:solidFill>
                  <a:srgbClr val="5A6472"/>
                </a:solidFill>
                <a:latin typeface="Meiryo UI" pitchFamily="34" charset="0"/>
                <a:ea typeface="Meiryo UI" pitchFamily="34" charset="-122"/>
                <a:cs typeface="Meiryo UI" pitchFamily="34" charset="-120"/>
              </a:rPr>
              <a:t>※ 一般消費者の購買データは自前で抱えず、小売リテールメディア＋DCRに「乗っかる」。自社は専門ニッチデータ（歯科・薬事）のみ直接蓄積する二階建て。</a:t>
            </a:r>
            <a:endParaRPr lang="en-US" sz="900" dirty="0"/>
          </a:p>
        </p:txBody>
      </p:sp>
      <p:sp>
        <p:nvSpPr>
          <p:cNvPr id="34" name="Text 32"/>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THEME MAP</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変革テーマ全体マップ ― 真因×デジタル/非デジタルの8テーマ</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攻め（独自の土俵づくり）2テーマと、3つの真因を解消する基盤6テーマ。デジタルは「変換・自動化・可視化」、非デジタルは「土俵・組織・決断・動機」を受け持つ</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2057400" y="1536192"/>
            <a:ext cx="4828032" cy="384048"/>
          </a:xfrm>
          <a:prstGeom prst="rect">
            <a:avLst/>
          </a:prstGeom>
          <a:solidFill>
            <a:srgbClr val="0F5E87"/>
          </a:solidFill>
          <a:ln/>
        </p:spPr>
      </p:sp>
      <p:sp>
        <p:nvSpPr>
          <p:cNvPr id="7" name="Text 5"/>
          <p:cNvSpPr/>
          <p:nvPr/>
        </p:nvSpPr>
        <p:spPr>
          <a:xfrm>
            <a:off x="2057400" y="1536192"/>
            <a:ext cx="48280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デジタル（DX）で対応するテーマ</a:t>
            </a:r>
            <a:endParaRPr lang="en-US" sz="1200" dirty="0"/>
          </a:p>
        </p:txBody>
      </p:sp>
      <p:sp>
        <p:nvSpPr>
          <p:cNvPr id="8" name="Shape 6"/>
          <p:cNvSpPr/>
          <p:nvPr/>
        </p:nvSpPr>
        <p:spPr>
          <a:xfrm>
            <a:off x="6976872" y="1536192"/>
            <a:ext cx="4727448" cy="384048"/>
          </a:xfrm>
          <a:prstGeom prst="rect">
            <a:avLst/>
          </a:prstGeom>
          <a:solidFill>
            <a:srgbClr val="2C5F2D"/>
          </a:solidFill>
          <a:ln/>
        </p:spPr>
      </p:sp>
      <p:sp>
        <p:nvSpPr>
          <p:cNvPr id="9" name="Text 7"/>
          <p:cNvSpPr/>
          <p:nvPr/>
        </p:nvSpPr>
        <p:spPr>
          <a:xfrm>
            <a:off x="6976872" y="1536192"/>
            <a:ext cx="47274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非デジタルで対応するテーマ</a:t>
            </a:r>
            <a:endParaRPr lang="en-US" sz="1200" dirty="0"/>
          </a:p>
        </p:txBody>
      </p:sp>
      <p:sp>
        <p:nvSpPr>
          <p:cNvPr id="10" name="Shape 8"/>
          <p:cNvSpPr/>
          <p:nvPr/>
        </p:nvSpPr>
        <p:spPr>
          <a:xfrm>
            <a:off x="502920" y="1993392"/>
            <a:ext cx="1463040" cy="969264"/>
          </a:xfrm>
          <a:prstGeom prst="rect">
            <a:avLst/>
          </a:prstGeom>
          <a:solidFill>
            <a:srgbClr val="C8102E"/>
          </a:solidFill>
          <a:ln/>
        </p:spPr>
      </p:sp>
      <p:sp>
        <p:nvSpPr>
          <p:cNvPr id="11" name="Text 9"/>
          <p:cNvSpPr/>
          <p:nvPr/>
        </p:nvSpPr>
        <p:spPr>
          <a:xfrm>
            <a:off x="576072" y="1993392"/>
            <a:ext cx="1335024" cy="969264"/>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攻め</a:t>
            </a:r>
            <a:endParaRPr lang="en-US" sz="1000" dirty="0"/>
          </a:p>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独自の土俵</a:t>
            </a:r>
            <a:endParaRPr lang="en-US" sz="1000" dirty="0"/>
          </a:p>
        </p:txBody>
      </p:sp>
      <p:sp>
        <p:nvSpPr>
          <p:cNvPr id="12" name="Shape 10"/>
          <p:cNvSpPr/>
          <p:nvPr/>
        </p:nvSpPr>
        <p:spPr>
          <a:xfrm>
            <a:off x="2057400" y="1993392"/>
            <a:ext cx="4828032" cy="969264"/>
          </a:xfrm>
          <a:prstGeom prst="rect">
            <a:avLst/>
          </a:prstGeom>
          <a:solidFill>
            <a:srgbClr val="EAF3F8"/>
          </a:solidFill>
          <a:ln w="9525">
            <a:solidFill>
              <a:srgbClr val="BCD6E4"/>
            </a:solidFill>
            <a:prstDash val="solid"/>
          </a:ln>
        </p:spPr>
      </p:sp>
      <p:sp>
        <p:nvSpPr>
          <p:cNvPr id="13" name="Text 11"/>
          <p:cNvSpPr/>
          <p:nvPr/>
        </p:nvSpPr>
        <p:spPr>
          <a:xfrm>
            <a:off x="2185416" y="2029968"/>
            <a:ext cx="4572000"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A-1  予防習慣プラットフォーム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歯科医院連携アプリ・学校/自治体啓発ルートのデジタル化により、専門ゼロパーティデータを独占蓄積し、AI補充のホワイトリストを先取りする</a:t>
            </a:r>
            <a:endParaRPr lang="en-US" sz="1030" dirty="0"/>
          </a:p>
        </p:txBody>
      </p:sp>
      <p:sp>
        <p:nvSpPr>
          <p:cNvPr id="14" name="Shape 12"/>
          <p:cNvSpPr/>
          <p:nvPr/>
        </p:nvSpPr>
        <p:spPr>
          <a:xfrm>
            <a:off x="6976872" y="1993392"/>
            <a:ext cx="4727448" cy="969264"/>
          </a:xfrm>
          <a:prstGeom prst="rect">
            <a:avLst/>
          </a:prstGeom>
          <a:solidFill>
            <a:srgbClr val="EEF4EC"/>
          </a:solidFill>
          <a:ln w="9525">
            <a:solidFill>
              <a:srgbClr val="C4D6C2"/>
            </a:solidFill>
            <a:prstDash val="solid"/>
          </a:ln>
        </p:spPr>
      </p:sp>
      <p:sp>
        <p:nvSpPr>
          <p:cNvPr id="15" name="Text 13"/>
          <p:cNvSpPr/>
          <p:nvPr/>
        </p:nvSpPr>
        <p:spPr>
          <a:xfrm>
            <a:off x="7104888" y="2029968"/>
            <a:ext cx="4471416"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A-2  制度・政策アライアンス×土俵の再定義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国民皆歯科健診・未病国策への政策連携と職能ネットワーク深化。洗剤消耗戦から強み領域（オーラル・衛生・OTC）へ資源を再配分する</a:t>
            </a:r>
            <a:endParaRPr lang="en-US" sz="1030" dirty="0"/>
          </a:p>
        </p:txBody>
      </p:sp>
      <p:sp>
        <p:nvSpPr>
          <p:cNvPr id="16" name="Shape 14"/>
          <p:cNvSpPr/>
          <p:nvPr/>
        </p:nvSpPr>
        <p:spPr>
          <a:xfrm>
            <a:off x="502920" y="3017520"/>
            <a:ext cx="1463040" cy="969264"/>
          </a:xfrm>
          <a:prstGeom prst="rect">
            <a:avLst/>
          </a:prstGeom>
          <a:solidFill>
            <a:srgbClr val="16233A"/>
          </a:solidFill>
          <a:ln/>
        </p:spPr>
      </p:sp>
      <p:sp>
        <p:nvSpPr>
          <p:cNvPr id="17" name="Text 15"/>
          <p:cNvSpPr/>
          <p:nvPr/>
        </p:nvSpPr>
        <p:spPr>
          <a:xfrm>
            <a:off x="576072" y="3017520"/>
            <a:ext cx="1335024" cy="969264"/>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真因①</a:t>
            </a:r>
            <a:endParaRPr lang="en-US" sz="1000" dirty="0"/>
          </a:p>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変換回路の不在</a:t>
            </a:r>
            <a:endParaRPr lang="en-US" sz="1000" dirty="0"/>
          </a:p>
        </p:txBody>
      </p:sp>
      <p:sp>
        <p:nvSpPr>
          <p:cNvPr id="18" name="Shape 16"/>
          <p:cNvSpPr/>
          <p:nvPr/>
        </p:nvSpPr>
        <p:spPr>
          <a:xfrm>
            <a:off x="2057400" y="3017520"/>
            <a:ext cx="4828032" cy="969264"/>
          </a:xfrm>
          <a:prstGeom prst="rect">
            <a:avLst/>
          </a:prstGeom>
          <a:solidFill>
            <a:srgbClr val="EAF3F8"/>
          </a:solidFill>
          <a:ln w="9525">
            <a:solidFill>
              <a:srgbClr val="BCD6E4"/>
            </a:solidFill>
            <a:prstDash val="solid"/>
          </a:ln>
        </p:spPr>
      </p:sp>
      <p:sp>
        <p:nvSpPr>
          <p:cNvPr id="19" name="Text 17"/>
          <p:cNvSpPr/>
          <p:nvPr/>
        </p:nvSpPr>
        <p:spPr>
          <a:xfrm>
            <a:off x="2185416" y="3054096"/>
            <a:ext cx="4572000"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B-1  習慣エビデンス変換エンジン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臨床・行動データをCDPで統合し「カテゴリLTV・炭素効率」へ自動変換。商品属性・環境・健康データを構造化API（GEO）でAIに開放する</a:t>
            </a:r>
            <a:endParaRPr lang="en-US" sz="1030" dirty="0"/>
          </a:p>
        </p:txBody>
      </p:sp>
      <p:sp>
        <p:nvSpPr>
          <p:cNvPr id="20" name="Shape 18"/>
          <p:cNvSpPr/>
          <p:nvPr/>
        </p:nvSpPr>
        <p:spPr>
          <a:xfrm>
            <a:off x="6976872" y="3017520"/>
            <a:ext cx="4727448" cy="969264"/>
          </a:xfrm>
          <a:prstGeom prst="rect">
            <a:avLst/>
          </a:prstGeom>
          <a:solidFill>
            <a:srgbClr val="EEF4EC"/>
          </a:solidFill>
          <a:ln w="9525">
            <a:solidFill>
              <a:srgbClr val="C4D6C2"/>
            </a:solidFill>
            <a:prstDash val="solid"/>
          </a:ln>
        </p:spPr>
      </p:sp>
      <p:sp>
        <p:nvSpPr>
          <p:cNvPr id="21" name="Text 19"/>
          <p:cNvSpPr/>
          <p:nvPr/>
        </p:nvSpPr>
        <p:spPr>
          <a:xfrm>
            <a:off x="7104888" y="3054096"/>
            <a:ext cx="4471416"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B-2  連携推進機能とダイヤモンド型組織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マーケ・営業から独立した翻訳機能を設置し、蝶型（1対1）営業を、物流・環境・R&amp;Dを束ねた組織対組織（ABM）へ転換する</a:t>
            </a:r>
            <a:endParaRPr lang="en-US" sz="1030" dirty="0"/>
          </a:p>
        </p:txBody>
      </p:sp>
      <p:sp>
        <p:nvSpPr>
          <p:cNvPr id="22" name="Shape 20"/>
          <p:cNvSpPr/>
          <p:nvPr/>
        </p:nvSpPr>
        <p:spPr>
          <a:xfrm>
            <a:off x="502920" y="4041648"/>
            <a:ext cx="1463040" cy="969264"/>
          </a:xfrm>
          <a:prstGeom prst="rect">
            <a:avLst/>
          </a:prstGeom>
          <a:solidFill>
            <a:srgbClr val="16233A"/>
          </a:solidFill>
          <a:ln/>
        </p:spPr>
      </p:sp>
      <p:sp>
        <p:nvSpPr>
          <p:cNvPr id="23" name="Text 21"/>
          <p:cNvSpPr/>
          <p:nvPr/>
        </p:nvSpPr>
        <p:spPr>
          <a:xfrm>
            <a:off x="576072" y="4041648"/>
            <a:ext cx="1335024" cy="969264"/>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真因②</a:t>
            </a:r>
            <a:endParaRPr lang="en-US" sz="1000" dirty="0"/>
          </a:p>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時間の不在</a:t>
            </a:r>
            <a:endParaRPr lang="en-US" sz="1000" dirty="0"/>
          </a:p>
        </p:txBody>
      </p:sp>
      <p:sp>
        <p:nvSpPr>
          <p:cNvPr id="24" name="Shape 22"/>
          <p:cNvSpPr/>
          <p:nvPr/>
        </p:nvSpPr>
        <p:spPr>
          <a:xfrm>
            <a:off x="2057400" y="4041648"/>
            <a:ext cx="4828032" cy="969264"/>
          </a:xfrm>
          <a:prstGeom prst="rect">
            <a:avLst/>
          </a:prstGeom>
          <a:solidFill>
            <a:srgbClr val="EAF3F8"/>
          </a:solidFill>
          <a:ln w="9525">
            <a:solidFill>
              <a:srgbClr val="BCD6E4"/>
            </a:solidFill>
            <a:prstDash val="solid"/>
          </a:ln>
        </p:spPr>
      </p:sp>
      <p:sp>
        <p:nvSpPr>
          <p:cNvPr id="25" name="Text 23"/>
          <p:cNvSpPr/>
          <p:nvPr/>
        </p:nvSpPr>
        <p:spPr>
          <a:xfrm>
            <a:off x="2185416" y="4078224"/>
            <a:ext cx="4572000"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B-3  Input業務ゼロ化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Libra（生成AI）・Salesforce TPMで資料作成・集計・受発注事務を構造的に「ゼロ」化し、人の時間を100%対話と共同設計へ振り向ける</a:t>
            </a:r>
            <a:endParaRPr lang="en-US" sz="1030" dirty="0"/>
          </a:p>
        </p:txBody>
      </p:sp>
      <p:sp>
        <p:nvSpPr>
          <p:cNvPr id="26" name="Shape 24"/>
          <p:cNvSpPr/>
          <p:nvPr/>
        </p:nvSpPr>
        <p:spPr>
          <a:xfrm>
            <a:off x="6976872" y="4041648"/>
            <a:ext cx="4727448" cy="969264"/>
          </a:xfrm>
          <a:prstGeom prst="rect">
            <a:avLst/>
          </a:prstGeom>
          <a:solidFill>
            <a:srgbClr val="EEF4EC"/>
          </a:solidFill>
          <a:ln w="9525">
            <a:solidFill>
              <a:srgbClr val="C4D6C2"/>
            </a:solidFill>
            <a:prstDash val="solid"/>
          </a:ln>
        </p:spPr>
      </p:sp>
      <p:sp>
        <p:nvSpPr>
          <p:cNvPr id="27" name="Text 25"/>
          <p:cNvSpPr/>
          <p:nvPr/>
        </p:nvSpPr>
        <p:spPr>
          <a:xfrm>
            <a:off x="7104888" y="4078224"/>
            <a:ext cx="4471416"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B-4  「やめる」経営決断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低ROIの特売条件交渉・社内定例資料・重複会議を経営の意思で廃止。内向き業務を許容する現場慣性をトップダウンで断ち切る</a:t>
            </a:r>
            <a:endParaRPr lang="en-US" sz="1030" dirty="0"/>
          </a:p>
        </p:txBody>
      </p:sp>
      <p:sp>
        <p:nvSpPr>
          <p:cNvPr id="28" name="Shape 26"/>
          <p:cNvSpPr/>
          <p:nvPr/>
        </p:nvSpPr>
        <p:spPr>
          <a:xfrm>
            <a:off x="502920" y="5065776"/>
            <a:ext cx="1463040" cy="969264"/>
          </a:xfrm>
          <a:prstGeom prst="rect">
            <a:avLst/>
          </a:prstGeom>
          <a:solidFill>
            <a:srgbClr val="16233A"/>
          </a:solidFill>
          <a:ln/>
        </p:spPr>
      </p:sp>
      <p:sp>
        <p:nvSpPr>
          <p:cNvPr id="29" name="Text 27"/>
          <p:cNvSpPr/>
          <p:nvPr/>
        </p:nvSpPr>
        <p:spPr>
          <a:xfrm>
            <a:off x="576072" y="5065776"/>
            <a:ext cx="1335024" cy="969264"/>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真因③</a:t>
            </a:r>
            <a:endParaRPr lang="en-US" sz="1000" dirty="0"/>
          </a:p>
          <a:p>
            <a:pPr algn="ct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動機の不在</a:t>
            </a:r>
            <a:endParaRPr lang="en-US" sz="1000" dirty="0"/>
          </a:p>
        </p:txBody>
      </p:sp>
      <p:sp>
        <p:nvSpPr>
          <p:cNvPr id="30" name="Shape 28"/>
          <p:cNvSpPr/>
          <p:nvPr/>
        </p:nvSpPr>
        <p:spPr>
          <a:xfrm>
            <a:off x="2057400" y="5065776"/>
            <a:ext cx="4828032" cy="969264"/>
          </a:xfrm>
          <a:prstGeom prst="rect">
            <a:avLst/>
          </a:prstGeom>
          <a:solidFill>
            <a:srgbClr val="EAF3F8"/>
          </a:solidFill>
          <a:ln w="9525">
            <a:solidFill>
              <a:srgbClr val="BCD6E4"/>
            </a:solidFill>
            <a:prstDash val="solid"/>
          </a:ln>
        </p:spPr>
      </p:sp>
      <p:sp>
        <p:nvSpPr>
          <p:cNvPr id="31" name="Text 29"/>
          <p:cNvSpPr/>
          <p:nvPr/>
        </p:nvSpPr>
        <p:spPr>
          <a:xfrm>
            <a:off x="2185416" y="5102352"/>
            <a:ext cx="4572000"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B-5  買われ方コックピット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AI推奨の定点観測・エージェント購買比率・LTVを常時可視化し、危機と成果を「数字」で全社に突きつけて変革の動機を作る</a:t>
            </a:r>
            <a:endParaRPr lang="en-US" sz="1030" dirty="0"/>
          </a:p>
        </p:txBody>
      </p:sp>
      <p:sp>
        <p:nvSpPr>
          <p:cNvPr id="32" name="Shape 30"/>
          <p:cNvSpPr/>
          <p:nvPr/>
        </p:nvSpPr>
        <p:spPr>
          <a:xfrm>
            <a:off x="6976872" y="5065776"/>
            <a:ext cx="4727448" cy="969264"/>
          </a:xfrm>
          <a:prstGeom prst="rect">
            <a:avLst/>
          </a:prstGeom>
          <a:solidFill>
            <a:srgbClr val="EEF4EC"/>
          </a:solidFill>
          <a:ln w="9525">
            <a:solidFill>
              <a:srgbClr val="C4D6C2"/>
            </a:solidFill>
            <a:prstDash val="solid"/>
          </a:ln>
        </p:spPr>
      </p:sp>
      <p:sp>
        <p:nvSpPr>
          <p:cNvPr id="33" name="Text 31"/>
          <p:cNvSpPr/>
          <p:nvPr/>
        </p:nvSpPr>
        <p:spPr>
          <a:xfrm>
            <a:off x="7104888" y="5102352"/>
            <a:ext cx="4471416" cy="896112"/>
          </a:xfrm>
          <a:prstGeom prst="rect">
            <a:avLst/>
          </a:prstGeom>
          <a:noFill/>
          <a:ln/>
        </p:spPr>
        <p:txBody>
          <a:bodyPr wrap="square" lIns="0" tIns="0" rIns="0" bIns="0" rtlCol="0" anchor="ctr"/>
          <a:lstStyle/>
          <a:p>
            <a:pPr indent="0" marL="0">
              <a:lnSpc>
                <a:spcPct val="108000"/>
              </a:lnSpc>
              <a:buNone/>
            </a:pPr>
            <a:r>
              <a:rPr lang="en-US" sz="1030" b="1" dirty="0">
                <a:solidFill>
                  <a:srgbClr val="16233A"/>
                </a:solidFill>
                <a:latin typeface="Meiryo UI" pitchFamily="34" charset="0"/>
                <a:ea typeface="Meiryo UI" pitchFamily="34" charset="-122"/>
                <a:cs typeface="Meiryo UI" pitchFamily="34" charset="-120"/>
              </a:rPr>
              <a:t>B-6  LTV共通KPIと動機の再設計
</a:t>
            </a:r>
            <a:pPr indent="0" marL="0">
              <a:lnSpc>
                <a:spcPct val="108000"/>
              </a:lnSpc>
              <a:buNone/>
            </a:pPr>
            <a:r>
              <a:rPr lang="en-US" sz="880" dirty="0">
                <a:solidFill>
                  <a:srgbClr val="1F2733"/>
                </a:solidFill>
                <a:latin typeface="Meiryo UI" pitchFamily="34" charset="0"/>
                <a:ea typeface="Meiryo UI" pitchFamily="34" charset="-122"/>
                <a:cs typeface="Meiryo UI" pitchFamily="34" charset="-120"/>
              </a:rPr>
              <a:t>マーケ・連携機能・営業をLTVという共通言語で評価連動。加点評価→二軸評価→完全転換へ段階移行し、2040年危機を自分事化する</a:t>
            </a:r>
            <a:endParaRPr lang="en-US" sz="1030" dirty="0"/>
          </a:p>
        </p:txBody>
      </p:sp>
      <p:sp>
        <p:nvSpPr>
          <p:cNvPr id="34" name="Text 32"/>
          <p:cNvSpPr/>
          <p:nvPr/>
        </p:nvSpPr>
        <p:spPr>
          <a:xfrm>
            <a:off x="502920" y="6108192"/>
            <a:ext cx="11185855" cy="384048"/>
          </a:xfrm>
          <a:prstGeom prst="rect">
            <a:avLst/>
          </a:prstGeom>
          <a:noFill/>
          <a:ln/>
        </p:spPr>
        <p:txBody>
          <a:bodyPr wrap="square" lIns="0" tIns="0" rIns="0" bIns="0" rtlCol="0" anchor="t"/>
          <a:lstStyle/>
          <a:p>
            <a:pPr indent="0" marL="0">
              <a:buNone/>
            </a:pPr>
            <a:r>
              <a:rPr lang="en-US" sz="930" dirty="0">
                <a:solidFill>
                  <a:srgbClr val="5A6472"/>
                </a:solidFill>
                <a:latin typeface="Meiryo UI" pitchFamily="34" charset="0"/>
                <a:ea typeface="Meiryo UI" pitchFamily="34" charset="-122"/>
                <a:cs typeface="Meiryo UI" pitchFamily="34" charset="-120"/>
              </a:rPr>
              <a:t>※ デジタルだけでは真因は解けない：変換基盤（B-1）は連携組織（B-2）が使って初めて換金され、自動化（B-3）は廃止決断（B-4）と、可視化（B-5）は評価転換（B-6）と対でなければ空転する。</a:t>
            </a:r>
            <a:endParaRPr lang="en-US" sz="930" dirty="0"/>
          </a:p>
        </p:txBody>
      </p:sp>
      <p:sp>
        <p:nvSpPr>
          <p:cNvPr id="35" name="Text 33"/>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DIGITAL THEMES</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デジタル（DX）テーマの詳細</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汎用的なツール導入論ではなく、ライオン固有の資産（臨床データ・職能ルート・OTC知見）をデジタルで「換金」するための4テーマ</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572768"/>
            <a:ext cx="5541264" cy="2395728"/>
          </a:xfrm>
          <a:prstGeom prst="rect">
            <a:avLst/>
          </a:prstGeom>
          <a:solidFill>
            <a:srgbClr val="FFFFFF"/>
          </a:solidFill>
          <a:ln w="12700">
            <a:solidFill>
              <a:srgbClr val="D9DEE6"/>
            </a:solidFill>
            <a:prstDash val="solid"/>
          </a:ln>
        </p:spPr>
      </p:sp>
      <p:sp>
        <p:nvSpPr>
          <p:cNvPr id="7" name="Shape 5"/>
          <p:cNvSpPr/>
          <p:nvPr/>
        </p:nvSpPr>
        <p:spPr>
          <a:xfrm>
            <a:off x="502920" y="1572768"/>
            <a:ext cx="5541264" cy="365760"/>
          </a:xfrm>
          <a:prstGeom prst="rect">
            <a:avLst/>
          </a:prstGeom>
          <a:solidFill>
            <a:srgbClr val="FBECEC"/>
          </a:solidFill>
          <a:ln/>
        </p:spPr>
      </p:sp>
      <p:sp>
        <p:nvSpPr>
          <p:cNvPr id="8" name="Text 6"/>
          <p:cNvSpPr/>
          <p:nvPr/>
        </p:nvSpPr>
        <p:spPr>
          <a:xfrm>
            <a:off x="612648" y="1636776"/>
            <a:ext cx="566928" cy="237744"/>
          </a:xfrm>
          <a:prstGeom prst="rect">
            <a:avLst/>
          </a:prstGeom>
          <a:solidFill>
            <a:srgbClr val="C8102E"/>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A-1</a:t>
            </a:r>
            <a:endParaRPr lang="en-US" sz="950" dirty="0"/>
          </a:p>
        </p:txBody>
      </p:sp>
      <p:sp>
        <p:nvSpPr>
          <p:cNvPr id="9" name="Text 7"/>
          <p:cNvSpPr/>
          <p:nvPr/>
        </p:nvSpPr>
        <p:spPr>
          <a:xfrm>
            <a:off x="1280160" y="1591056"/>
            <a:ext cx="4626864" cy="347472"/>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予防習慣プラットフォーム</a:t>
            </a:r>
            <a:endParaRPr lang="en-US" sz="1250" dirty="0"/>
          </a:p>
        </p:txBody>
      </p:sp>
      <p:sp>
        <p:nvSpPr>
          <p:cNvPr id="10" name="Text 8"/>
          <p:cNvSpPr/>
          <p:nvPr/>
        </p:nvSpPr>
        <p:spPr>
          <a:xfrm>
            <a:off x="640080" y="2011680"/>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20" dirty="0">
                <a:solidFill>
                  <a:srgbClr val="1F2733"/>
                </a:solidFill>
                <a:latin typeface="Meiryo UI" pitchFamily="34" charset="0"/>
                <a:ea typeface="Meiryo UI" pitchFamily="34" charset="-122"/>
                <a:cs typeface="Meiryo UI" pitchFamily="34" charset="-120"/>
              </a:rPr>
              <a:t>歯科医院連携アプリを起点に、学校歯みがき大会・幼稚園・自治体の衛生啓発活動をデジタル接点化。予防・衛生習慣の形成過程そのものをデータとして独占蓄積する。
</a:t>
            </a:r>
            <a:pPr indent="0" marL="0">
              <a:lnSpc>
                <a:spcPct val="110000"/>
              </a:lnSpc>
              <a:spcAft>
                <a:spcPts val="400"/>
              </a:spcAft>
              <a:buNone/>
            </a:pPr>
            <a:r>
              <a:rPr lang="en-US" sz="880" b="1" dirty="0">
                <a:solidFill>
                  <a:srgbClr val="C8102E"/>
                </a:solidFill>
                <a:latin typeface="Meiryo UI" pitchFamily="34" charset="0"/>
                <a:ea typeface="Meiryo UI" pitchFamily="34" charset="-122"/>
                <a:cs typeface="Meiryo UI" pitchFamily="34" charset="-120"/>
              </a:rPr>
              <a:t>独自性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My Kao型の全方位D2Cは追わない。一般購買データは小売DCRに「乗っかり」、自社は他社が構造的に取れない専門データ（歯科・学校・薬事）だけを持つ二階建て。
</a:t>
            </a:r>
            <a:pPr indent="0" marL="0">
              <a:lnSpc>
                <a:spcPct val="110000"/>
              </a:lnSpc>
              <a:spcAft>
                <a:spcPts val="400"/>
              </a:spcAft>
              <a:buNone/>
            </a:pPr>
            <a:r>
              <a:rPr lang="en-US" sz="880" b="1" dirty="0">
                <a:solidFill>
                  <a:srgbClr val="C8102E"/>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予防習慣PFが国民皆歯科健診と接続し、AI自動補充の「健康・環境ホワイトリスト」をオーラル・衛生カテゴリで独占。</a:t>
            </a:r>
            <a:endParaRPr lang="en-US" sz="920" dirty="0"/>
          </a:p>
        </p:txBody>
      </p:sp>
      <p:sp>
        <p:nvSpPr>
          <p:cNvPr id="11" name="Shape 9"/>
          <p:cNvSpPr/>
          <p:nvPr/>
        </p:nvSpPr>
        <p:spPr>
          <a:xfrm>
            <a:off x="6181344" y="1572768"/>
            <a:ext cx="5541264" cy="2395728"/>
          </a:xfrm>
          <a:prstGeom prst="rect">
            <a:avLst/>
          </a:prstGeom>
          <a:solidFill>
            <a:srgbClr val="FFFFFF"/>
          </a:solidFill>
          <a:ln w="12700">
            <a:solidFill>
              <a:srgbClr val="D9DEE6"/>
            </a:solidFill>
            <a:prstDash val="solid"/>
          </a:ln>
        </p:spPr>
      </p:sp>
      <p:sp>
        <p:nvSpPr>
          <p:cNvPr id="12" name="Shape 10"/>
          <p:cNvSpPr/>
          <p:nvPr/>
        </p:nvSpPr>
        <p:spPr>
          <a:xfrm>
            <a:off x="6181344" y="1572768"/>
            <a:ext cx="5541264" cy="365760"/>
          </a:xfrm>
          <a:prstGeom prst="rect">
            <a:avLst/>
          </a:prstGeom>
          <a:solidFill>
            <a:srgbClr val="EAF3F8"/>
          </a:solidFill>
          <a:ln/>
        </p:spPr>
      </p:sp>
      <p:sp>
        <p:nvSpPr>
          <p:cNvPr id="13" name="Text 11"/>
          <p:cNvSpPr/>
          <p:nvPr/>
        </p:nvSpPr>
        <p:spPr>
          <a:xfrm>
            <a:off x="6291072" y="1636776"/>
            <a:ext cx="566928" cy="237744"/>
          </a:xfrm>
          <a:prstGeom prst="rect">
            <a:avLst/>
          </a:prstGeom>
          <a:solidFill>
            <a:srgbClr val="0F5E87"/>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B-1</a:t>
            </a:r>
            <a:endParaRPr lang="en-US" sz="950" dirty="0"/>
          </a:p>
        </p:txBody>
      </p:sp>
      <p:sp>
        <p:nvSpPr>
          <p:cNvPr id="14" name="Text 12"/>
          <p:cNvSpPr/>
          <p:nvPr/>
        </p:nvSpPr>
        <p:spPr>
          <a:xfrm>
            <a:off x="6958584" y="1591056"/>
            <a:ext cx="4626864" cy="347472"/>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習慣エビデンス変換エンジン</a:t>
            </a:r>
            <a:endParaRPr lang="en-US" sz="1250" dirty="0"/>
          </a:p>
        </p:txBody>
      </p:sp>
      <p:sp>
        <p:nvSpPr>
          <p:cNvPr id="15" name="Text 13"/>
          <p:cNvSpPr/>
          <p:nvPr/>
        </p:nvSpPr>
        <p:spPr>
          <a:xfrm>
            <a:off x="6318504" y="2011680"/>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20" dirty="0">
                <a:solidFill>
                  <a:srgbClr val="1F2733"/>
                </a:solidFill>
                <a:latin typeface="Meiryo UI" pitchFamily="34" charset="0"/>
                <a:ea typeface="Meiryo UI" pitchFamily="34" charset="-122"/>
                <a:cs typeface="Meiryo UI" pitchFamily="34" charset="-120"/>
              </a:rPr>
              <a:t>GCP/CDP上で臨床・行動・ID-POSデータを統合し、バイヤーの社内監査を突破する「カテゴリLTV向上予測」「炭素効率」へ自動変換して商談現場へ供給する。
</a:t>
            </a:r>
            <a:pPr indent="0" marL="0">
              <a:lnSpc>
                <a:spcPct val="110000"/>
              </a:lnSpc>
              <a:spcAft>
                <a:spcPts val="400"/>
              </a:spcAft>
              <a:buNone/>
            </a:pPr>
            <a:r>
              <a:rPr lang="en-US" sz="880" b="1" dirty="0">
                <a:solidFill>
                  <a:srgbClr val="0F5E87"/>
                </a:solidFill>
                <a:latin typeface="Meiryo UI" pitchFamily="34" charset="0"/>
                <a:ea typeface="Meiryo UI" pitchFamily="34" charset="-122"/>
                <a:cs typeface="Meiryo UI" pitchFamily="34" charset="-120"/>
              </a:rPr>
              <a:t>独自性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「習慣が定着すると購買がどう変わるか」を臨床レベルで語れるのはライオンだけ。同時に属性・成分・環境スコアを構造化API（GEO対応）でAIエージェントに開放する。
</a:t>
            </a:r>
            <a:pPr indent="0" marL="0">
              <a:lnSpc>
                <a:spcPct val="110000"/>
              </a:lnSpc>
              <a:spcAft>
                <a:spcPts val="400"/>
              </a:spcAft>
              <a:buNone/>
            </a:pPr>
            <a:r>
              <a:rPr lang="en-US" sz="880" b="1" dirty="0">
                <a:solidFill>
                  <a:srgbClr val="0F5E87"/>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全カテゴリで提案が自動生成され、人・AI双方の「足切り」を突破する標準装備が完成。</a:t>
            </a:r>
            <a:endParaRPr lang="en-US" sz="920" dirty="0"/>
          </a:p>
        </p:txBody>
      </p:sp>
      <p:sp>
        <p:nvSpPr>
          <p:cNvPr id="16" name="Shape 14"/>
          <p:cNvSpPr/>
          <p:nvPr/>
        </p:nvSpPr>
        <p:spPr>
          <a:xfrm>
            <a:off x="502920" y="4096512"/>
            <a:ext cx="5541264" cy="2395728"/>
          </a:xfrm>
          <a:prstGeom prst="rect">
            <a:avLst/>
          </a:prstGeom>
          <a:solidFill>
            <a:srgbClr val="FFFFFF"/>
          </a:solidFill>
          <a:ln w="12700">
            <a:solidFill>
              <a:srgbClr val="D9DEE6"/>
            </a:solidFill>
            <a:prstDash val="solid"/>
          </a:ln>
        </p:spPr>
      </p:sp>
      <p:sp>
        <p:nvSpPr>
          <p:cNvPr id="17" name="Shape 15"/>
          <p:cNvSpPr/>
          <p:nvPr/>
        </p:nvSpPr>
        <p:spPr>
          <a:xfrm>
            <a:off x="502920" y="4096512"/>
            <a:ext cx="5541264" cy="365760"/>
          </a:xfrm>
          <a:prstGeom prst="rect">
            <a:avLst/>
          </a:prstGeom>
          <a:solidFill>
            <a:srgbClr val="EAF3F8"/>
          </a:solidFill>
          <a:ln/>
        </p:spPr>
      </p:sp>
      <p:sp>
        <p:nvSpPr>
          <p:cNvPr id="18" name="Text 16"/>
          <p:cNvSpPr/>
          <p:nvPr/>
        </p:nvSpPr>
        <p:spPr>
          <a:xfrm>
            <a:off x="612648" y="4160520"/>
            <a:ext cx="566928" cy="237744"/>
          </a:xfrm>
          <a:prstGeom prst="rect">
            <a:avLst/>
          </a:prstGeom>
          <a:solidFill>
            <a:srgbClr val="0F5E87"/>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B-3</a:t>
            </a:r>
            <a:endParaRPr lang="en-US" sz="950" dirty="0"/>
          </a:p>
        </p:txBody>
      </p:sp>
      <p:sp>
        <p:nvSpPr>
          <p:cNvPr id="19" name="Text 17"/>
          <p:cNvSpPr/>
          <p:nvPr/>
        </p:nvSpPr>
        <p:spPr>
          <a:xfrm>
            <a:off x="1280160" y="4114800"/>
            <a:ext cx="4626864" cy="347472"/>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Input業務ゼロ化</a:t>
            </a:r>
            <a:endParaRPr lang="en-US" sz="1250" dirty="0"/>
          </a:p>
        </p:txBody>
      </p:sp>
      <p:sp>
        <p:nvSpPr>
          <p:cNvPr id="20" name="Text 18"/>
          <p:cNvSpPr/>
          <p:nvPr/>
        </p:nvSpPr>
        <p:spPr>
          <a:xfrm>
            <a:off x="640080" y="4535424"/>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20" dirty="0">
                <a:solidFill>
                  <a:srgbClr val="1F2733"/>
                </a:solidFill>
                <a:latin typeface="Meiryo UI" pitchFamily="34" charset="0"/>
                <a:ea typeface="Meiryo UI" pitchFamily="34" charset="-122"/>
                <a:cs typeface="Meiryo UI" pitchFamily="34" charset="-120"/>
              </a:rPr>
              <a:t>Libra（生成AI）とSalesforce TPM（2026年稼働）で、資料作成・実績集計・受発注事務・商談記録を自動化。「3時間→30分」ではなく「ゼロ」を思想として掲げる。
</a:t>
            </a:r>
            <a:pPr indent="0" marL="0">
              <a:lnSpc>
                <a:spcPct val="110000"/>
              </a:lnSpc>
              <a:spcAft>
                <a:spcPts val="400"/>
              </a:spcAft>
              <a:buNone/>
            </a:pPr>
            <a:r>
              <a:rPr lang="en-US" sz="880" b="1" dirty="0">
                <a:solidFill>
                  <a:srgbClr val="0F5E87"/>
                </a:solidFill>
                <a:latin typeface="Meiryo UI" pitchFamily="34" charset="0"/>
                <a:ea typeface="Meiryo UI" pitchFamily="34" charset="-122"/>
                <a:cs typeface="Meiryo UI" pitchFamily="34" charset="-120"/>
              </a:rPr>
              <a:t>独自性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創出時間の用途を最初から決め打つ：バイヤー対話・店頭観察・POS×エビデンス紐づけ実験。時間創出は目的ではなく、変換回路（B-1）を回すための燃料調達。
</a:t>
            </a:r>
            <a:pPr indent="0" marL="0">
              <a:lnSpc>
                <a:spcPct val="110000"/>
              </a:lnSpc>
              <a:spcAft>
                <a:spcPts val="400"/>
              </a:spcAft>
              <a:buNone/>
            </a:pPr>
            <a:r>
              <a:rPr lang="en-US" sz="880" b="1" dirty="0">
                <a:solidFill>
                  <a:srgbClr val="0F5E87"/>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全事務プロセスの自動化が完成し、対P&amp;G7.6倍の生産性格差を構造的に解消。</a:t>
            </a:r>
            <a:endParaRPr lang="en-US" sz="920" dirty="0"/>
          </a:p>
        </p:txBody>
      </p:sp>
      <p:sp>
        <p:nvSpPr>
          <p:cNvPr id="21" name="Shape 19"/>
          <p:cNvSpPr/>
          <p:nvPr/>
        </p:nvSpPr>
        <p:spPr>
          <a:xfrm>
            <a:off x="6181344" y="4096512"/>
            <a:ext cx="5541264" cy="2395728"/>
          </a:xfrm>
          <a:prstGeom prst="rect">
            <a:avLst/>
          </a:prstGeom>
          <a:solidFill>
            <a:srgbClr val="FFFFFF"/>
          </a:solidFill>
          <a:ln w="12700">
            <a:solidFill>
              <a:srgbClr val="D9DEE6"/>
            </a:solidFill>
            <a:prstDash val="solid"/>
          </a:ln>
        </p:spPr>
      </p:sp>
      <p:sp>
        <p:nvSpPr>
          <p:cNvPr id="22" name="Shape 20"/>
          <p:cNvSpPr/>
          <p:nvPr/>
        </p:nvSpPr>
        <p:spPr>
          <a:xfrm>
            <a:off x="6181344" y="4096512"/>
            <a:ext cx="5541264" cy="365760"/>
          </a:xfrm>
          <a:prstGeom prst="rect">
            <a:avLst/>
          </a:prstGeom>
          <a:solidFill>
            <a:srgbClr val="EAF3F8"/>
          </a:solidFill>
          <a:ln/>
        </p:spPr>
      </p:sp>
      <p:sp>
        <p:nvSpPr>
          <p:cNvPr id="23" name="Text 21"/>
          <p:cNvSpPr/>
          <p:nvPr/>
        </p:nvSpPr>
        <p:spPr>
          <a:xfrm>
            <a:off x="6291072" y="4160520"/>
            <a:ext cx="566928" cy="237744"/>
          </a:xfrm>
          <a:prstGeom prst="rect">
            <a:avLst/>
          </a:prstGeom>
          <a:solidFill>
            <a:srgbClr val="0F5E87"/>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B-5</a:t>
            </a:r>
            <a:endParaRPr lang="en-US" sz="950" dirty="0"/>
          </a:p>
        </p:txBody>
      </p:sp>
      <p:sp>
        <p:nvSpPr>
          <p:cNvPr id="24" name="Text 22"/>
          <p:cNvSpPr/>
          <p:nvPr/>
        </p:nvSpPr>
        <p:spPr>
          <a:xfrm>
            <a:off x="6958584" y="4114800"/>
            <a:ext cx="4626864" cy="347472"/>
          </a:xfrm>
          <a:prstGeom prst="rect">
            <a:avLst/>
          </a:prstGeom>
          <a:noFill/>
          <a:ln/>
        </p:spPr>
        <p:txBody>
          <a:bodyPr wrap="square" lIns="0" tIns="0" rIns="0" bIns="0" rtlCol="0" anchor="ctr"/>
          <a:lstStyle/>
          <a:p>
            <a:pPr indent="0" marL="0">
              <a:buNone/>
            </a:pPr>
            <a:r>
              <a:rPr lang="en-US" sz="1250" b="1" dirty="0">
                <a:solidFill>
                  <a:srgbClr val="16233A"/>
                </a:solidFill>
                <a:latin typeface="Meiryo UI" pitchFamily="34" charset="0"/>
                <a:ea typeface="Meiryo UI" pitchFamily="34" charset="-122"/>
                <a:cs typeface="Meiryo UI" pitchFamily="34" charset="-120"/>
              </a:rPr>
              <a:t>買われ方コックピット</a:t>
            </a:r>
            <a:endParaRPr lang="en-US" sz="1250" dirty="0"/>
          </a:p>
        </p:txBody>
      </p:sp>
      <p:sp>
        <p:nvSpPr>
          <p:cNvPr id="25" name="Text 23"/>
          <p:cNvSpPr/>
          <p:nvPr/>
        </p:nvSpPr>
        <p:spPr>
          <a:xfrm>
            <a:off x="6318504" y="4535424"/>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20" dirty="0">
                <a:solidFill>
                  <a:srgbClr val="1F2733"/>
                </a:solidFill>
                <a:latin typeface="Meiryo UI" pitchFamily="34" charset="0"/>
                <a:ea typeface="Meiryo UI" pitchFamily="34" charset="-122"/>
                <a:cs typeface="Meiryo UI" pitchFamily="34" charset="-120"/>
              </a:rPr>
              <a:t>主要AIアシスタントへの定期クエリでAI推奨のされ方を定点観測。モール・自社EC・小売ID-POSからエージェント購買比率とリピート実態を捕捉し、経営と現場に常時配信する。
</a:t>
            </a:r>
            <a:pPr indent="0" marL="0">
              <a:lnSpc>
                <a:spcPct val="110000"/>
              </a:lnSpc>
              <a:spcAft>
                <a:spcPts val="400"/>
              </a:spcAft>
              <a:buNone/>
            </a:pPr>
            <a:r>
              <a:rPr lang="en-US" sz="880" b="1" dirty="0">
                <a:solidFill>
                  <a:srgbClr val="0F5E87"/>
                </a:solidFill>
                <a:latin typeface="Meiryo UI" pitchFamily="34" charset="0"/>
                <a:ea typeface="Meiryo UI" pitchFamily="34" charset="-122"/>
                <a:cs typeface="Meiryo UI" pitchFamily="34" charset="-120"/>
              </a:rPr>
              <a:t>独自性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「AIが当社をどう見ているか」を確かめる手段の不在（現在地）への直接回答。低コスト・即着手可能で、真因③（切迫感の欠如）を数字で解く唯一の装置。
</a:t>
            </a:r>
            <a:pPr indent="0" marL="0">
              <a:lnSpc>
                <a:spcPct val="110000"/>
              </a:lnSpc>
              <a:spcAft>
                <a:spcPts val="400"/>
              </a:spcAft>
              <a:buNone/>
            </a:pPr>
            <a:r>
              <a:rPr lang="en-US" sz="880" b="1" dirty="0">
                <a:solidFill>
                  <a:srgbClr val="0F5E87"/>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買われ方データが投資配分・事業計画と直結し、「投資の物差し」が完成。</a:t>
            </a:r>
            <a:endParaRPr lang="en-US" sz="920" dirty="0"/>
          </a:p>
        </p:txBody>
      </p:sp>
      <p:sp>
        <p:nvSpPr>
          <p:cNvPr id="26" name="Text 24"/>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NON-DIGITAL THEMES</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非デジタルテーマの詳細</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デジタルでは代替できない「制度・組織・決断・動機」の4テーマ。DXテーマが空転しないための必要条件であり、経営の意思決定そのもの</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572768"/>
            <a:ext cx="5541264" cy="2395728"/>
          </a:xfrm>
          <a:prstGeom prst="rect">
            <a:avLst/>
          </a:prstGeom>
          <a:solidFill>
            <a:srgbClr val="FFFFFF"/>
          </a:solidFill>
          <a:ln w="12700">
            <a:solidFill>
              <a:srgbClr val="D9DEE6"/>
            </a:solidFill>
            <a:prstDash val="solid"/>
          </a:ln>
        </p:spPr>
      </p:sp>
      <p:sp>
        <p:nvSpPr>
          <p:cNvPr id="7" name="Shape 5"/>
          <p:cNvSpPr/>
          <p:nvPr/>
        </p:nvSpPr>
        <p:spPr>
          <a:xfrm>
            <a:off x="502920" y="1572768"/>
            <a:ext cx="5541264" cy="365760"/>
          </a:xfrm>
          <a:prstGeom prst="rect">
            <a:avLst/>
          </a:prstGeom>
          <a:solidFill>
            <a:srgbClr val="FBECEC"/>
          </a:solidFill>
          <a:ln/>
        </p:spPr>
      </p:sp>
      <p:sp>
        <p:nvSpPr>
          <p:cNvPr id="8" name="Text 6"/>
          <p:cNvSpPr/>
          <p:nvPr/>
        </p:nvSpPr>
        <p:spPr>
          <a:xfrm>
            <a:off x="612648" y="1636776"/>
            <a:ext cx="566928" cy="237744"/>
          </a:xfrm>
          <a:prstGeom prst="rect">
            <a:avLst/>
          </a:prstGeom>
          <a:solidFill>
            <a:srgbClr val="C8102E"/>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A-2</a:t>
            </a:r>
            <a:endParaRPr lang="en-US" sz="950" dirty="0"/>
          </a:p>
        </p:txBody>
      </p:sp>
      <p:sp>
        <p:nvSpPr>
          <p:cNvPr id="9" name="Text 7"/>
          <p:cNvSpPr/>
          <p:nvPr/>
        </p:nvSpPr>
        <p:spPr>
          <a:xfrm>
            <a:off x="1280160" y="1591056"/>
            <a:ext cx="4626864" cy="347472"/>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制度・政策アライアンス×土俵の再定義</a:t>
            </a:r>
            <a:endParaRPr lang="en-US" sz="1200" dirty="0"/>
          </a:p>
        </p:txBody>
      </p:sp>
      <p:sp>
        <p:nvSpPr>
          <p:cNvPr id="10" name="Text 8"/>
          <p:cNvSpPr/>
          <p:nvPr/>
        </p:nvSpPr>
        <p:spPr>
          <a:xfrm>
            <a:off x="640080" y="2011680"/>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00" dirty="0">
                <a:solidFill>
                  <a:srgbClr val="1F2733"/>
                </a:solidFill>
                <a:latin typeface="Meiryo UI" pitchFamily="34" charset="0"/>
                <a:ea typeface="Meiryo UI" pitchFamily="34" charset="-122"/>
                <a:cs typeface="Meiryo UI" pitchFamily="34" charset="-120"/>
              </a:rPr>
              <a:t>国民皆歯科健診・未病国策の政策動向に対する提言・連携体制を組成。歯科医師会・学校・幼稚園・自治体との排他的啓発ルートを次世代へ深化させる（人的関係と制度対応の積み上げ）。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同時に、P&amp;G・花王が量とコストで支配する洗剤標準品への投資を計画的に縮小し、オーラル・キレイキレイ・OTCの高関与領域へ経営資源を集中する「Where to Playの決断」。
</a:t>
            </a:r>
            <a:pPr indent="0" marL="0">
              <a:lnSpc>
                <a:spcPct val="110000"/>
              </a:lnSpc>
              <a:spcAft>
                <a:spcPts val="400"/>
              </a:spcAft>
              <a:buNone/>
            </a:pPr>
            <a:r>
              <a:rPr lang="en-US" sz="880" b="1" dirty="0">
                <a:solidFill>
                  <a:srgbClr val="C8102E"/>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製品が「日雑消耗品」から「医療費抑制の社会インフラ」へ格上げされた地位を確立。</a:t>
            </a:r>
            <a:endParaRPr lang="en-US" sz="900" dirty="0"/>
          </a:p>
        </p:txBody>
      </p:sp>
      <p:sp>
        <p:nvSpPr>
          <p:cNvPr id="11" name="Shape 9"/>
          <p:cNvSpPr/>
          <p:nvPr/>
        </p:nvSpPr>
        <p:spPr>
          <a:xfrm>
            <a:off x="6181344" y="1572768"/>
            <a:ext cx="5541264" cy="2395728"/>
          </a:xfrm>
          <a:prstGeom prst="rect">
            <a:avLst/>
          </a:prstGeom>
          <a:solidFill>
            <a:srgbClr val="FFFFFF"/>
          </a:solidFill>
          <a:ln w="12700">
            <a:solidFill>
              <a:srgbClr val="D9DEE6"/>
            </a:solidFill>
            <a:prstDash val="solid"/>
          </a:ln>
        </p:spPr>
      </p:sp>
      <p:sp>
        <p:nvSpPr>
          <p:cNvPr id="12" name="Shape 10"/>
          <p:cNvSpPr/>
          <p:nvPr/>
        </p:nvSpPr>
        <p:spPr>
          <a:xfrm>
            <a:off x="6181344" y="1572768"/>
            <a:ext cx="5541264" cy="365760"/>
          </a:xfrm>
          <a:prstGeom prst="rect">
            <a:avLst/>
          </a:prstGeom>
          <a:solidFill>
            <a:srgbClr val="EEF4EC"/>
          </a:solidFill>
          <a:ln/>
        </p:spPr>
      </p:sp>
      <p:sp>
        <p:nvSpPr>
          <p:cNvPr id="13" name="Text 11"/>
          <p:cNvSpPr/>
          <p:nvPr/>
        </p:nvSpPr>
        <p:spPr>
          <a:xfrm>
            <a:off x="6291072" y="1636776"/>
            <a:ext cx="566928" cy="237744"/>
          </a:xfrm>
          <a:prstGeom prst="rect">
            <a:avLst/>
          </a:prstGeom>
          <a:solidFill>
            <a:srgbClr val="2C5F2D"/>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B-2</a:t>
            </a:r>
            <a:endParaRPr lang="en-US" sz="950" dirty="0"/>
          </a:p>
        </p:txBody>
      </p:sp>
      <p:sp>
        <p:nvSpPr>
          <p:cNvPr id="14" name="Text 12"/>
          <p:cNvSpPr/>
          <p:nvPr/>
        </p:nvSpPr>
        <p:spPr>
          <a:xfrm>
            <a:off x="6958584" y="1591056"/>
            <a:ext cx="4626864" cy="347472"/>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連携推進機能とダイヤモンド型組織</a:t>
            </a:r>
            <a:endParaRPr lang="en-US" sz="1200" dirty="0"/>
          </a:p>
        </p:txBody>
      </p:sp>
      <p:sp>
        <p:nvSpPr>
          <p:cNvPr id="15" name="Text 13"/>
          <p:cNvSpPr/>
          <p:nvPr/>
        </p:nvSpPr>
        <p:spPr>
          <a:xfrm>
            <a:off x="6318504" y="2011680"/>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00" dirty="0">
                <a:solidFill>
                  <a:srgbClr val="1F2733"/>
                </a:solidFill>
                <a:latin typeface="Meiryo UI" pitchFamily="34" charset="0"/>
                <a:ea typeface="Meiryo UI" pitchFamily="34" charset="-122"/>
                <a:cs typeface="Meiryo UI" pitchFamily="34" charset="-120"/>
              </a:rPr>
              <a:t>マーケ・営業のどちらにも従属しない「営業マーケ連携推進機能」を設置（MDCの試験拡張から開始）。臨床エビデンスをバイヤー言語へ翻訳する役割に、初めて「名前と権限」を与える。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営業1人×バイヤー1人の蝶型を解体し、営業をハブに物流・環境・R&amp;D専門家を束ねる組織対組織（ABM）へ。店頭資源回収（リバースロジ）の重圧を総力戦で解決するサステナパートナーになる。
</a:t>
            </a:r>
            <a:pPr indent="0" marL="0">
              <a:lnSpc>
                <a:spcPct val="110000"/>
              </a:lnSpc>
              <a:spcAft>
                <a:spcPts val="400"/>
              </a:spcAft>
              <a:buNone/>
            </a:pPr>
            <a:r>
              <a:rPr lang="en-US" sz="880" b="1" dirty="0">
                <a:solidFill>
                  <a:srgbClr val="2C5F2D"/>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組織対組織のJBPが標準となり、「代えがたいパートナー」の地位を確立。</a:t>
            </a:r>
            <a:endParaRPr lang="en-US" sz="900" dirty="0"/>
          </a:p>
        </p:txBody>
      </p:sp>
      <p:sp>
        <p:nvSpPr>
          <p:cNvPr id="16" name="Shape 14"/>
          <p:cNvSpPr/>
          <p:nvPr/>
        </p:nvSpPr>
        <p:spPr>
          <a:xfrm>
            <a:off x="502920" y="4096512"/>
            <a:ext cx="5541264" cy="2395728"/>
          </a:xfrm>
          <a:prstGeom prst="rect">
            <a:avLst/>
          </a:prstGeom>
          <a:solidFill>
            <a:srgbClr val="FFFFFF"/>
          </a:solidFill>
          <a:ln w="12700">
            <a:solidFill>
              <a:srgbClr val="D9DEE6"/>
            </a:solidFill>
            <a:prstDash val="solid"/>
          </a:ln>
        </p:spPr>
      </p:sp>
      <p:sp>
        <p:nvSpPr>
          <p:cNvPr id="17" name="Shape 15"/>
          <p:cNvSpPr/>
          <p:nvPr/>
        </p:nvSpPr>
        <p:spPr>
          <a:xfrm>
            <a:off x="502920" y="4096512"/>
            <a:ext cx="5541264" cy="365760"/>
          </a:xfrm>
          <a:prstGeom prst="rect">
            <a:avLst/>
          </a:prstGeom>
          <a:solidFill>
            <a:srgbClr val="EEF4EC"/>
          </a:solidFill>
          <a:ln/>
        </p:spPr>
      </p:sp>
      <p:sp>
        <p:nvSpPr>
          <p:cNvPr id="18" name="Text 16"/>
          <p:cNvSpPr/>
          <p:nvPr/>
        </p:nvSpPr>
        <p:spPr>
          <a:xfrm>
            <a:off x="612648" y="4160520"/>
            <a:ext cx="566928" cy="237744"/>
          </a:xfrm>
          <a:prstGeom prst="rect">
            <a:avLst/>
          </a:prstGeom>
          <a:solidFill>
            <a:srgbClr val="2C5F2D"/>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B-4</a:t>
            </a:r>
            <a:endParaRPr lang="en-US" sz="950" dirty="0"/>
          </a:p>
        </p:txBody>
      </p:sp>
      <p:sp>
        <p:nvSpPr>
          <p:cNvPr id="19" name="Text 17"/>
          <p:cNvSpPr/>
          <p:nvPr/>
        </p:nvSpPr>
        <p:spPr>
          <a:xfrm>
            <a:off x="1280160" y="4114800"/>
            <a:ext cx="4626864" cy="347472"/>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「やめる」経営決断</a:t>
            </a:r>
            <a:endParaRPr lang="en-US" sz="1200" dirty="0"/>
          </a:p>
        </p:txBody>
      </p:sp>
      <p:sp>
        <p:nvSpPr>
          <p:cNvPr id="20" name="Text 18"/>
          <p:cNvSpPr/>
          <p:nvPr/>
        </p:nvSpPr>
        <p:spPr>
          <a:xfrm>
            <a:off x="640080" y="4535424"/>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00" dirty="0">
                <a:solidFill>
                  <a:srgbClr val="1F2733"/>
                </a:solidFill>
                <a:latin typeface="Meiryo UI" pitchFamily="34" charset="0"/>
                <a:ea typeface="Meiryo UI" pitchFamily="34" charset="-122"/>
                <a:cs typeface="Meiryo UI" pitchFamily="34" charset="-120"/>
              </a:rPr>
              <a:t>時間はツールだけでは生まれない。低ROIの特売条件交渉、社内向け定例資料、重複会議を経営が明示的に廃止し、「内向きの作業を仕事とする慣性」をトップの意思で断ち切る。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生成AIによる自動化（B-3）と対で機能する。廃止リストの策定・公表・モニタリングまでを経営アジェンダとし、「現場の仕方ない苦労」という言い訳の構造を消す。
</a:t>
            </a:r>
            <a:pPr indent="0" marL="0">
              <a:lnSpc>
                <a:spcPct val="110000"/>
              </a:lnSpc>
              <a:spcAft>
                <a:spcPts val="400"/>
              </a:spcAft>
              <a:buNone/>
            </a:pPr>
            <a:r>
              <a:rPr lang="en-US" sz="880" b="1" dirty="0">
                <a:solidFill>
                  <a:srgbClr val="2C5F2D"/>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値引き・リベートの消耗戦から完全脱却し、創出時間が全て顧客価値に向かう状態。</a:t>
            </a:r>
            <a:endParaRPr lang="en-US" sz="900" dirty="0"/>
          </a:p>
        </p:txBody>
      </p:sp>
      <p:sp>
        <p:nvSpPr>
          <p:cNvPr id="21" name="Shape 19"/>
          <p:cNvSpPr/>
          <p:nvPr/>
        </p:nvSpPr>
        <p:spPr>
          <a:xfrm>
            <a:off x="6181344" y="4096512"/>
            <a:ext cx="5541264" cy="2395728"/>
          </a:xfrm>
          <a:prstGeom prst="rect">
            <a:avLst/>
          </a:prstGeom>
          <a:solidFill>
            <a:srgbClr val="FFFFFF"/>
          </a:solidFill>
          <a:ln w="12700">
            <a:solidFill>
              <a:srgbClr val="D9DEE6"/>
            </a:solidFill>
            <a:prstDash val="solid"/>
          </a:ln>
        </p:spPr>
      </p:sp>
      <p:sp>
        <p:nvSpPr>
          <p:cNvPr id="22" name="Shape 20"/>
          <p:cNvSpPr/>
          <p:nvPr/>
        </p:nvSpPr>
        <p:spPr>
          <a:xfrm>
            <a:off x="6181344" y="4096512"/>
            <a:ext cx="5541264" cy="365760"/>
          </a:xfrm>
          <a:prstGeom prst="rect">
            <a:avLst/>
          </a:prstGeom>
          <a:solidFill>
            <a:srgbClr val="EEF4EC"/>
          </a:solidFill>
          <a:ln/>
        </p:spPr>
      </p:sp>
      <p:sp>
        <p:nvSpPr>
          <p:cNvPr id="23" name="Text 21"/>
          <p:cNvSpPr/>
          <p:nvPr/>
        </p:nvSpPr>
        <p:spPr>
          <a:xfrm>
            <a:off x="6291072" y="4160520"/>
            <a:ext cx="566928" cy="237744"/>
          </a:xfrm>
          <a:prstGeom prst="rect">
            <a:avLst/>
          </a:prstGeom>
          <a:solidFill>
            <a:srgbClr val="2C5F2D"/>
          </a:solid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B-6</a:t>
            </a:r>
            <a:endParaRPr lang="en-US" sz="950" dirty="0"/>
          </a:p>
        </p:txBody>
      </p:sp>
      <p:sp>
        <p:nvSpPr>
          <p:cNvPr id="24" name="Text 22"/>
          <p:cNvSpPr/>
          <p:nvPr/>
        </p:nvSpPr>
        <p:spPr>
          <a:xfrm>
            <a:off x="6958584" y="4114800"/>
            <a:ext cx="4626864" cy="347472"/>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LTV共通KPIと動機の再設計</a:t>
            </a:r>
            <a:endParaRPr lang="en-US" sz="1200" dirty="0"/>
          </a:p>
        </p:txBody>
      </p:sp>
      <p:sp>
        <p:nvSpPr>
          <p:cNvPr id="25" name="Text 23"/>
          <p:cNvSpPr/>
          <p:nvPr/>
        </p:nvSpPr>
        <p:spPr>
          <a:xfrm>
            <a:off x="6318504" y="4535424"/>
            <a:ext cx="5266944" cy="1865376"/>
          </a:xfrm>
          <a:prstGeom prst="rect">
            <a:avLst/>
          </a:prstGeom>
          <a:noFill/>
          <a:ln/>
        </p:spPr>
        <p:txBody>
          <a:bodyPr wrap="square" lIns="0" tIns="0" rIns="0" bIns="0" rtlCol="0" anchor="t"/>
          <a:lstStyle/>
          <a:p>
            <a:pPr indent="0" marL="0">
              <a:lnSpc>
                <a:spcPct val="110000"/>
              </a:lnSpc>
              <a:spcAft>
                <a:spcPts val="400"/>
              </a:spcAft>
              <a:buNone/>
            </a:pPr>
            <a:r>
              <a:rPr lang="en-US" sz="900" dirty="0">
                <a:solidFill>
                  <a:srgbClr val="1F2733"/>
                </a:solidFill>
                <a:latin typeface="Meiryo UI" pitchFamily="34" charset="0"/>
                <a:ea typeface="Meiryo UI" pitchFamily="34" charset="-122"/>
                <a:cs typeface="Meiryo UI" pitchFamily="34" charset="-120"/>
              </a:rPr>
              <a:t>事業部（マーケ）・連携推進機能・営業の三者をLTV（顧客生涯価値）という共通言語で評価連動。短期売上偏重から、加点評価（Phase1）→売上×LTV二軸（Phase2）→完全転換（Phase3）へ段階移行。
</a:t>
            </a:r>
            <a:pPr indent="0" marL="0">
              <a:lnSpc>
                <a:spcPct val="110000"/>
              </a:lnSpc>
              <a:spcAft>
                <a:spcPts val="400"/>
              </a:spcAft>
              <a:buNone/>
            </a:pPr>
            <a:r>
              <a:rPr lang="en-US" sz="880" dirty="0">
                <a:solidFill>
                  <a:srgbClr val="1F2733"/>
                </a:solidFill>
                <a:latin typeface="Meiryo UI" pitchFamily="34" charset="0"/>
                <a:ea typeface="Meiryo UI" pitchFamily="34" charset="-122"/>
                <a:cs typeface="Meiryo UI" pitchFamily="34" charset="-120"/>
              </a:rPr>
              <a:t>2040年の前提崩壊（買い場の消滅・環境義務化）を全社タウンホールで自分事化し、マーケ⇔営業のローテーションでハイブリッド人材を計画的に育成する。
</a:t>
            </a:r>
            <a:pPr indent="0" marL="0">
              <a:lnSpc>
                <a:spcPct val="110000"/>
              </a:lnSpc>
              <a:spcAft>
                <a:spcPts val="400"/>
              </a:spcAft>
              <a:buNone/>
            </a:pPr>
            <a:r>
              <a:rPr lang="en-US" sz="880" b="1" dirty="0">
                <a:solidFill>
                  <a:srgbClr val="2C5F2D"/>
                </a:solidFill>
                <a:latin typeface="Meiryo UI" pitchFamily="34" charset="0"/>
                <a:ea typeface="Meiryo UI" pitchFamily="34" charset="-122"/>
                <a:cs typeface="Meiryo UI" pitchFamily="34" charset="-120"/>
              </a:rPr>
              <a:t>2040年到達点　</a:t>
            </a:r>
            <a:pPr indent="0" marL="0">
              <a:lnSpc>
                <a:spcPct val="110000"/>
              </a:lnSpc>
              <a:spcAft>
                <a:spcPts val="400"/>
              </a:spcAft>
              <a:buNone/>
            </a:pPr>
            <a:r>
              <a:rPr lang="en-US" sz="880" dirty="0">
                <a:solidFill>
                  <a:srgbClr val="5A6472"/>
                </a:solidFill>
                <a:latin typeface="Meiryo UI" pitchFamily="34" charset="0"/>
                <a:ea typeface="Meiryo UI" pitchFamily="34" charset="-122"/>
                <a:cs typeface="Meiryo UI" pitchFamily="34" charset="-120"/>
              </a:rPr>
              <a:t>評価がLTV・習慣定着人数へ完全転換し、変革が「報われる」構造が定着。</a:t>
            </a:r>
            <a:endParaRPr lang="en-US" sz="900" dirty="0"/>
          </a:p>
        </p:txBody>
      </p:sp>
      <p:sp>
        <p:nvSpPr>
          <p:cNvPr id="26" name="Text 24"/>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ROADMAP</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短期・中期・長期ロードマップ ― 2040年からのバックキャスト</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短期は「時間と最初の実証」、中期は「基盤稼働と商談転換」、長期は「ホワイトリスト独占と評価転換」。正式な組織・制度変更は短期の成功事例を根拠に行う</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5855" cy="914400"/>
        </p:xfrm>
        <a:graphic>
          <a:graphicData uri="http://schemas.openxmlformats.org/drawingml/2006/table">
            <a:tbl>
              <a:tblPr/>
              <a:tblGrid>
                <a:gridCol w="2148840"/>
                <a:gridCol w="3017520"/>
                <a:gridCol w="3017520"/>
                <a:gridCol w="2999232"/>
              </a:tblGrid>
              <a:tr h="329184">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テーマ</a:t>
                      </a:r>
                      <a:endParaRPr lang="en-US" sz="95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短期（2026〜28年）土台</a:t>
                      </a:r>
                      <a:endParaRPr lang="en-US" sz="95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中期（2029〜34年）転換</a:t>
                      </a:r>
                      <a:endParaRPr lang="en-US" sz="95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長期（2035〜40年）完成</a:t>
                      </a:r>
                      <a:endParaRPr lang="en-US" sz="95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A-1 予防習慣PF（DX）</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BECEC"/>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歯科医院連携アプリ実証（オーラル先行）、小学生歯みがき大会等のデジタル接点化に着手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学校・自治体ルートのデジタル化を全国拡大、DCRによる小売データ連携を標準化</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国民皆歯科健診と接続し、AI自動補充の健康・環境ホワイトリストをカテゴリごと独占</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B-1 エビデンス変換（DX）</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EAF3F8"/>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臨床データ棚卸し、「最初のLTV予測1個の数字」を作る、主要商品の属性データ構造化に着手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CDP稼働・LTV予測を主要商談へ展開、主要カテゴリのスペックAPI公開完了（GEO対応）</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全カテゴリで提案自動生成、環境・健康スコア完備で人・AI双方の足切りを突破する標準装備化</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B-3 Input業務ゼロ化（DX）</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EAF3F8"/>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Libra全営業展開・Salesforce TPM本格稼働（26年）、事務時間▲50%と創出時間の使途の決め打ち</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自動化範囲を拡大し事務時間を実質ゼロへ、浮いた時間をJBP・店頭共同設計に全投入</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全事務プロセスの自動化が完成、人は翻訳・合意形成・共同設計に100%特化</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B-5 買われ方コックピット（DX）</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EAF3F8"/>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AI推奨の定点観測とエージェント購買比率計測を開始（モール・自社EC・低コスト即着手）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全チャネルのモニタリング体制を確立し、投資配分をデータで機動的に見直す運用へ</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買われ方データが経営管理・投資判断と直結し、「投資の物差し」が完成</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A-2 制度・政策×土俵再定義</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BECEC"/>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皆歯科健診等の政策対応チーム組成、啓発ルートの棚卸し、資源再配分の方針決定</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自治体・学校連携の全国展開、洗剤標準品投資の段階的縮小と強み領域への集中</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「予防習慣インフラ企業」としての社会的地位と参入障壁を確立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B-2 連携機能・組織対組織</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EEF4EC"/>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MDC試験拡張と特定支店の連携PJで「連携すると商談が変わる」最初の成功事例を作る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連携推進機能を正式組織化、主要アカウントからダイヤモンド型（ABM）へ移行</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組織対組織JBPが標準化、店頭資源回収を担うサステナパートナーの地位を確立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B-4 「やめる」経営決断</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EEF4EC"/>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廃止業務リストの策定・公表とトップコミットメント、特売依存度の可視化</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商慣行（特売・リベート依存）の段階的転換、廃止モニタリングの定着</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値引き・リベート消耗戦からの完全脱却</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512064">
                <a:tc>
                  <a:txBody>
                    <a:bodyPr/>
                    <a:lstStyle/>
                    <a:p>
                      <a:pPr algn="l" indent="0" marL="0">
                        <a:buNone/>
                      </a:pPr>
                      <a:r>
                        <a:rPr lang="en-US" sz="860" b="1" dirty="0">
                          <a:solidFill>
                            <a:srgbClr val="16233A"/>
                          </a:solidFill>
                          <a:latin typeface="Meiryo UI" pitchFamily="34" charset="0"/>
                          <a:ea typeface="Meiryo UI" pitchFamily="34" charset="-122"/>
                          <a:cs typeface="Meiryo UI" pitchFamily="34" charset="-120"/>
                        </a:rPr>
                        <a:t>B-6 LTV共通KPI・動機設計</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EEF4EC"/>
                    </a:solidFill>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連携貢献の加点評価を導入、2040年危機の全社タウンホール開始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売上×LTVの二軸評価へ移行、マーケ⇔営業ローテーションの制度化</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l" indent="0" marL="0">
                        <a:buNone/>
                      </a:pPr>
                      <a:r>
                        <a:rPr lang="en-US" sz="820" dirty="0">
                          <a:solidFill>
                            <a:srgbClr val="1F2733"/>
                          </a:solidFill>
                          <a:latin typeface="Meiryo UI" pitchFamily="34" charset="0"/>
                          <a:ea typeface="Meiryo UI" pitchFamily="34" charset="-122"/>
                          <a:cs typeface="Meiryo UI" pitchFamily="34" charset="-120"/>
                        </a:rPr>
                        <a:t>LTV・習慣定着人数への評価完全転換、変革が報われる構造の定着</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7" name="Text 4"/>
          <p:cNvSpPr/>
          <p:nvPr/>
        </p:nvSpPr>
        <p:spPr>
          <a:xfrm>
            <a:off x="502920" y="6108192"/>
            <a:ext cx="11185855" cy="274320"/>
          </a:xfrm>
          <a:prstGeom prst="rect">
            <a:avLst/>
          </a:prstGeom>
          <a:noFill/>
          <a:ln/>
        </p:spPr>
        <p:txBody>
          <a:bodyPr wrap="square" lIns="0" tIns="0" rIns="0" bIns="0" rtlCol="0" anchor="ctr"/>
          <a:lstStyle/>
          <a:p>
            <a:pPr indent="0" marL="0">
              <a:buNone/>
            </a:pPr>
            <a:r>
              <a:rPr lang="en-US" sz="930" dirty="0">
                <a:solidFill>
                  <a:srgbClr val="5A6472"/>
                </a:solidFill>
                <a:latin typeface="Meiryo UI" pitchFamily="34" charset="0"/>
                <a:ea typeface="Meiryo UI" pitchFamily="34" charset="-122"/>
                <a:cs typeface="Meiryo UI" pitchFamily="34" charset="-120"/>
              </a:rPr>
              <a:t>※ 中期の正式な組織・評価変更（B-2/B-6）は、短期の成功事例（LTV提案の成立・時間創出の実証）を根拠として実行する ― 「事実で社内を動かす」順序設計。</a:t>
            </a:r>
            <a:endParaRPr lang="en-US" sz="930" dirty="0"/>
          </a:p>
        </p:txBody>
      </p:sp>
      <p:sp>
        <p:nvSpPr>
          <p:cNvPr id="8" name="Text 5"/>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200" kern="0" dirty="0">
                <a:solidFill>
                  <a:srgbClr val="C8102E"/>
                </a:solidFill>
                <a:latin typeface="Meiryo UI" pitchFamily="34" charset="0"/>
                <a:ea typeface="Meiryo UI" pitchFamily="34" charset="-122"/>
                <a:cs typeface="Meiryo UI" pitchFamily="34" charset="-120"/>
              </a:rPr>
              <a:t>KPI &amp; NEXT ACTIONS</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2100" b="1" dirty="0">
                <a:solidFill>
                  <a:srgbClr val="16233A"/>
                </a:solidFill>
                <a:latin typeface="Meiryo UI" pitchFamily="34" charset="0"/>
                <a:ea typeface="Meiryo UI" pitchFamily="34" charset="-122"/>
                <a:cs typeface="Meiryo UI" pitchFamily="34" charset="-120"/>
              </a:rPr>
              <a:t>成果指標と直近90日アクション</a:t>
            </a:r>
            <a:endParaRPr lang="en-US" sz="210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200" dirty="0">
                <a:solidFill>
                  <a:srgbClr val="5A6472"/>
                </a:solidFill>
                <a:latin typeface="Meiryo UI" pitchFamily="34" charset="0"/>
                <a:ea typeface="Meiryo UI" pitchFamily="34" charset="-122"/>
                <a:cs typeface="Meiryo UI" pitchFamily="34" charset="-120"/>
              </a:rPr>
              <a:t>各フェーズの到達を測るKPIを先に定め、直近90日は「低コスト・即着手・実証優先」の4アクションから始める</a:t>
            </a:r>
            <a:endParaRPr lang="en-US" sz="1200" dirty="0"/>
          </a:p>
        </p:txBody>
      </p:sp>
      <p:sp>
        <p:nvSpPr>
          <p:cNvPr id="5" name="Text 3"/>
          <p:cNvSpPr/>
          <p:nvPr/>
        </p:nvSpPr>
        <p:spPr>
          <a:xfrm>
            <a:off x="502920" y="6547104"/>
            <a:ext cx="59436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LION 営業・マーケティング変革構想（討議用素案）</a:t>
            </a:r>
            <a:endParaRPr lang="en-US" sz="800" dirty="0"/>
          </a:p>
        </p:txBody>
      </p:sp>
      <p:sp>
        <p:nvSpPr>
          <p:cNvPr id="6" name="Shape 4"/>
          <p:cNvSpPr/>
          <p:nvPr/>
        </p:nvSpPr>
        <p:spPr>
          <a:xfrm>
            <a:off x="502920" y="1572768"/>
            <a:ext cx="3611880" cy="2331720"/>
          </a:xfrm>
          <a:prstGeom prst="rect">
            <a:avLst/>
          </a:prstGeom>
          <a:solidFill>
            <a:srgbClr val="F4F6F9"/>
          </a:solidFill>
          <a:ln w="9525">
            <a:solidFill>
              <a:srgbClr val="D9DEE6"/>
            </a:solidFill>
            <a:prstDash val="solid"/>
          </a:ln>
        </p:spPr>
      </p:sp>
      <p:sp>
        <p:nvSpPr>
          <p:cNvPr id="7" name="Shape 5"/>
          <p:cNvSpPr/>
          <p:nvPr/>
        </p:nvSpPr>
        <p:spPr>
          <a:xfrm>
            <a:off x="502920" y="1572768"/>
            <a:ext cx="3611880" cy="347472"/>
          </a:xfrm>
          <a:prstGeom prst="rect">
            <a:avLst/>
          </a:prstGeom>
          <a:solidFill>
            <a:srgbClr val="16233A"/>
          </a:solidFill>
          <a:ln/>
        </p:spPr>
      </p:sp>
      <p:sp>
        <p:nvSpPr>
          <p:cNvPr id="8" name="Text 6"/>
          <p:cNvSpPr/>
          <p:nvPr/>
        </p:nvSpPr>
        <p:spPr>
          <a:xfrm>
            <a:off x="640080" y="1572768"/>
            <a:ext cx="3337560" cy="347472"/>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短期（〜2028）土台</a:t>
            </a:r>
            <a:endParaRPr lang="en-US" sz="1150" dirty="0"/>
          </a:p>
        </p:txBody>
      </p:sp>
      <p:sp>
        <p:nvSpPr>
          <p:cNvPr id="9" name="Text 7"/>
          <p:cNvSpPr/>
          <p:nvPr/>
        </p:nvSpPr>
        <p:spPr>
          <a:xfrm>
            <a:off x="667512" y="2011680"/>
            <a:ext cx="3282696" cy="1810512"/>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営業の事務作業時間削減率：▲50%</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LTV定量提案の商談成立：1件→10件</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AI推奨定点観測：主要カテゴリ100%</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歯科医院連携アプリ：実証参画医院数</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廃止業務リスト実行率：100%</a:t>
            </a:r>
            <a:endParaRPr lang="en-US" sz="950" dirty="0"/>
          </a:p>
        </p:txBody>
      </p:sp>
      <p:sp>
        <p:nvSpPr>
          <p:cNvPr id="10" name="Shape 8"/>
          <p:cNvSpPr/>
          <p:nvPr/>
        </p:nvSpPr>
        <p:spPr>
          <a:xfrm>
            <a:off x="4297680" y="1572768"/>
            <a:ext cx="3611880" cy="2331720"/>
          </a:xfrm>
          <a:prstGeom prst="rect">
            <a:avLst/>
          </a:prstGeom>
          <a:solidFill>
            <a:srgbClr val="F4F6F9"/>
          </a:solidFill>
          <a:ln w="9525">
            <a:solidFill>
              <a:srgbClr val="D9DEE6"/>
            </a:solidFill>
            <a:prstDash val="solid"/>
          </a:ln>
        </p:spPr>
      </p:sp>
      <p:sp>
        <p:nvSpPr>
          <p:cNvPr id="11" name="Shape 9"/>
          <p:cNvSpPr/>
          <p:nvPr/>
        </p:nvSpPr>
        <p:spPr>
          <a:xfrm>
            <a:off x="4297680" y="1572768"/>
            <a:ext cx="3611880" cy="347472"/>
          </a:xfrm>
          <a:prstGeom prst="rect">
            <a:avLst/>
          </a:prstGeom>
          <a:solidFill>
            <a:srgbClr val="0F5E87"/>
          </a:solidFill>
          <a:ln/>
        </p:spPr>
      </p:sp>
      <p:sp>
        <p:nvSpPr>
          <p:cNvPr id="12" name="Text 10"/>
          <p:cNvSpPr/>
          <p:nvPr/>
        </p:nvSpPr>
        <p:spPr>
          <a:xfrm>
            <a:off x="4434840" y="1572768"/>
            <a:ext cx="3337560" cy="347472"/>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中期（〜2034）転換</a:t>
            </a:r>
            <a:endParaRPr lang="en-US" sz="1150" dirty="0"/>
          </a:p>
        </p:txBody>
      </p:sp>
      <p:sp>
        <p:nvSpPr>
          <p:cNvPr id="13" name="Text 11"/>
          <p:cNvSpPr/>
          <p:nvPr/>
        </p:nvSpPr>
        <p:spPr>
          <a:xfrm>
            <a:off x="4462272" y="2011680"/>
            <a:ext cx="3282696" cy="1810512"/>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主要カテゴリのスペックAPI化：100%</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エージェント購買比率の捕捉体制：全チャネル</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組織対組織JBP締結：主要チェーン</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売上×LTV二軸評価の適用率</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リテールメディア投資のROI可視化率</a:t>
            </a:r>
            <a:endParaRPr lang="en-US" sz="950" dirty="0"/>
          </a:p>
        </p:txBody>
      </p:sp>
      <p:sp>
        <p:nvSpPr>
          <p:cNvPr id="14" name="Shape 12"/>
          <p:cNvSpPr/>
          <p:nvPr/>
        </p:nvSpPr>
        <p:spPr>
          <a:xfrm>
            <a:off x="8092440" y="1572768"/>
            <a:ext cx="3611880" cy="2331720"/>
          </a:xfrm>
          <a:prstGeom prst="rect">
            <a:avLst/>
          </a:prstGeom>
          <a:solidFill>
            <a:srgbClr val="F4F6F9"/>
          </a:solidFill>
          <a:ln w="9525">
            <a:solidFill>
              <a:srgbClr val="D9DEE6"/>
            </a:solidFill>
            <a:prstDash val="solid"/>
          </a:ln>
        </p:spPr>
      </p:sp>
      <p:sp>
        <p:nvSpPr>
          <p:cNvPr id="15" name="Shape 13"/>
          <p:cNvSpPr/>
          <p:nvPr/>
        </p:nvSpPr>
        <p:spPr>
          <a:xfrm>
            <a:off x="8092440" y="1572768"/>
            <a:ext cx="3611880" cy="347472"/>
          </a:xfrm>
          <a:prstGeom prst="rect">
            <a:avLst/>
          </a:prstGeom>
          <a:solidFill>
            <a:srgbClr val="C8102E"/>
          </a:solidFill>
          <a:ln/>
        </p:spPr>
      </p:sp>
      <p:sp>
        <p:nvSpPr>
          <p:cNvPr id="16" name="Text 14"/>
          <p:cNvSpPr/>
          <p:nvPr/>
        </p:nvSpPr>
        <p:spPr>
          <a:xfrm>
            <a:off x="8229600" y="1572768"/>
            <a:ext cx="3337560" cy="347472"/>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長期（〜2040）完成</a:t>
            </a:r>
            <a:endParaRPr lang="en-US" sz="1150" dirty="0"/>
          </a:p>
        </p:txBody>
      </p:sp>
      <p:sp>
        <p:nvSpPr>
          <p:cNvPr id="17" name="Text 15"/>
          <p:cNvSpPr/>
          <p:nvPr/>
        </p:nvSpPr>
        <p:spPr>
          <a:xfrm>
            <a:off x="8257032" y="2011680"/>
            <a:ext cx="3282696" cy="1810512"/>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AI自動補充ホワイトリスト登録カテゴリ数</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習慣定着人数・リピート由来売上比率</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対P&amp;G生産性格差（7.6倍）の解消</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LTV評価への完全転換</a:t>
            </a:r>
            <a:endParaRPr lang="en-US" sz="950" dirty="0"/>
          </a:p>
          <a:p>
            <a:pPr marL="127000" indent="-127000">
              <a:spcAft>
                <a:spcPts val="600"/>
              </a:spcAft>
              <a:buSzPct val="100000"/>
              <a:buChar char="•"/>
            </a:pPr>
            <a:r>
              <a:rPr lang="en-US" sz="950" dirty="0">
                <a:solidFill>
                  <a:srgbClr val="1F2733"/>
                </a:solidFill>
                <a:latin typeface="Meiryo UI" pitchFamily="34" charset="0"/>
                <a:ea typeface="Meiryo UI" pitchFamily="34" charset="-122"/>
                <a:cs typeface="Meiryo UI" pitchFamily="34" charset="-120"/>
              </a:rPr>
              <a:t>予防習慣インフラとしての政策接続数</a:t>
            </a:r>
            <a:endParaRPr lang="en-US" sz="950" dirty="0"/>
          </a:p>
        </p:txBody>
      </p:sp>
      <p:sp>
        <p:nvSpPr>
          <p:cNvPr id="18" name="Text 16"/>
          <p:cNvSpPr/>
          <p:nvPr/>
        </p:nvSpPr>
        <p:spPr>
          <a:xfrm>
            <a:off x="502920" y="4114800"/>
            <a:ext cx="7315200" cy="292608"/>
          </a:xfrm>
          <a:prstGeom prst="rect">
            <a:avLst/>
          </a:prstGeom>
          <a:noFill/>
          <a:ln/>
        </p:spPr>
        <p:txBody>
          <a:bodyPr wrap="square" lIns="0" tIns="0" rIns="0" bIns="0" rtlCol="0" anchor="ctr"/>
          <a:lstStyle/>
          <a:p>
            <a:pPr indent="0" marL="0">
              <a:buNone/>
            </a:pPr>
            <a:r>
              <a:rPr lang="en-US" sz="1300" b="1" dirty="0">
                <a:solidFill>
                  <a:srgbClr val="16233A"/>
                </a:solidFill>
                <a:latin typeface="Meiryo UI" pitchFamily="34" charset="0"/>
                <a:ea typeface="Meiryo UI" pitchFamily="34" charset="-122"/>
                <a:cs typeface="Meiryo UI" pitchFamily="34" charset="-120"/>
              </a:rPr>
              <a:t>直近90日で着手する4アクション</a:t>
            </a:r>
            <a:endParaRPr lang="en-US" sz="1300" dirty="0"/>
          </a:p>
        </p:txBody>
      </p:sp>
      <p:sp>
        <p:nvSpPr>
          <p:cNvPr id="19" name="Shape 17"/>
          <p:cNvSpPr/>
          <p:nvPr/>
        </p:nvSpPr>
        <p:spPr>
          <a:xfrm>
            <a:off x="502920" y="4498848"/>
            <a:ext cx="2743200" cy="1783080"/>
          </a:xfrm>
          <a:prstGeom prst="rect">
            <a:avLst/>
          </a:prstGeom>
          <a:solidFill>
            <a:srgbClr val="FFFFFF"/>
          </a:solidFill>
          <a:ln w="12700">
            <a:solidFill>
              <a:srgbClr val="D9DEE6"/>
            </a:solidFill>
            <a:prstDash val="solid"/>
          </a:ln>
        </p:spPr>
      </p:sp>
      <p:sp>
        <p:nvSpPr>
          <p:cNvPr id="20" name="Shape 18"/>
          <p:cNvSpPr/>
          <p:nvPr/>
        </p:nvSpPr>
        <p:spPr>
          <a:xfrm>
            <a:off x="630936" y="4626864"/>
            <a:ext cx="384048" cy="384048"/>
          </a:xfrm>
          <a:prstGeom prst="ellipse">
            <a:avLst/>
          </a:prstGeom>
          <a:solidFill>
            <a:srgbClr val="2C5F2D"/>
          </a:solidFill>
          <a:ln/>
        </p:spPr>
      </p:sp>
      <p:sp>
        <p:nvSpPr>
          <p:cNvPr id="21" name="Text 19"/>
          <p:cNvSpPr/>
          <p:nvPr/>
        </p:nvSpPr>
        <p:spPr>
          <a:xfrm>
            <a:off x="630936" y="46268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22" name="Text 20"/>
          <p:cNvSpPr/>
          <p:nvPr/>
        </p:nvSpPr>
        <p:spPr>
          <a:xfrm>
            <a:off x="1106424" y="4645152"/>
            <a:ext cx="2011680" cy="365760"/>
          </a:xfrm>
          <a:prstGeom prst="rect">
            <a:avLst/>
          </a:prstGeom>
          <a:noFill/>
          <a:ln/>
        </p:spPr>
        <p:txBody>
          <a:bodyPr wrap="square" lIns="0" tIns="0" rIns="0" bIns="0" rtlCol="0" anchor="ctr"/>
          <a:lstStyle/>
          <a:p>
            <a:pPr indent="0" marL="0">
              <a:buNone/>
            </a:pPr>
            <a:r>
              <a:rPr lang="en-US" sz="1080" b="1" dirty="0">
                <a:solidFill>
                  <a:srgbClr val="16233A"/>
                </a:solidFill>
                <a:latin typeface="Meiryo UI" pitchFamily="34" charset="0"/>
                <a:ea typeface="Meiryo UI" pitchFamily="34" charset="-122"/>
                <a:cs typeface="Meiryo UI" pitchFamily="34" charset="-120"/>
              </a:rPr>
              <a:t>資産の棚卸し</a:t>
            </a:r>
            <a:endParaRPr lang="en-US" sz="1080" dirty="0"/>
          </a:p>
        </p:txBody>
      </p:sp>
      <p:sp>
        <p:nvSpPr>
          <p:cNvPr id="23" name="Text 21"/>
          <p:cNvSpPr/>
          <p:nvPr/>
        </p:nvSpPr>
        <p:spPr>
          <a:xfrm>
            <a:off x="649224" y="5120640"/>
            <a:ext cx="2450592" cy="1097280"/>
          </a:xfrm>
          <a:prstGeom prst="rect">
            <a:avLst/>
          </a:prstGeom>
          <a:noFill/>
          <a:ln/>
        </p:spPr>
        <p:txBody>
          <a:bodyPr wrap="square" lIns="0" tIns="0" rIns="0" bIns="0" rtlCol="0" anchor="ctr"/>
          <a:lstStyle/>
          <a:p>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臨床・行動データと啓発ルート（歯科・学校・自治体）の全社棚卸し。変換エンジン（B-1）とPF（A-1）の原資を確定する</a:t>
            </a:r>
            <a:endParaRPr lang="en-US" sz="880" dirty="0"/>
          </a:p>
        </p:txBody>
      </p:sp>
      <p:sp>
        <p:nvSpPr>
          <p:cNvPr id="24" name="Shape 22"/>
          <p:cNvSpPr/>
          <p:nvPr/>
        </p:nvSpPr>
        <p:spPr>
          <a:xfrm>
            <a:off x="3319272" y="4498848"/>
            <a:ext cx="2743200" cy="1783080"/>
          </a:xfrm>
          <a:prstGeom prst="rect">
            <a:avLst/>
          </a:prstGeom>
          <a:solidFill>
            <a:srgbClr val="FFFFFF"/>
          </a:solidFill>
          <a:ln w="12700">
            <a:solidFill>
              <a:srgbClr val="D9DEE6"/>
            </a:solidFill>
            <a:prstDash val="solid"/>
          </a:ln>
        </p:spPr>
      </p:sp>
      <p:sp>
        <p:nvSpPr>
          <p:cNvPr id="25" name="Shape 23"/>
          <p:cNvSpPr/>
          <p:nvPr/>
        </p:nvSpPr>
        <p:spPr>
          <a:xfrm>
            <a:off x="3447288" y="4626864"/>
            <a:ext cx="384048" cy="384048"/>
          </a:xfrm>
          <a:prstGeom prst="ellipse">
            <a:avLst/>
          </a:prstGeom>
          <a:solidFill>
            <a:srgbClr val="0F5E87"/>
          </a:solidFill>
          <a:ln/>
        </p:spPr>
      </p:sp>
      <p:sp>
        <p:nvSpPr>
          <p:cNvPr id="26" name="Text 24"/>
          <p:cNvSpPr/>
          <p:nvPr/>
        </p:nvSpPr>
        <p:spPr>
          <a:xfrm>
            <a:off x="3447288" y="46268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27" name="Text 25"/>
          <p:cNvSpPr/>
          <p:nvPr/>
        </p:nvSpPr>
        <p:spPr>
          <a:xfrm>
            <a:off x="3922776" y="4645152"/>
            <a:ext cx="2011680" cy="365760"/>
          </a:xfrm>
          <a:prstGeom prst="rect">
            <a:avLst/>
          </a:prstGeom>
          <a:noFill/>
          <a:ln/>
        </p:spPr>
        <p:txBody>
          <a:bodyPr wrap="square" lIns="0" tIns="0" rIns="0" bIns="0" rtlCol="0" anchor="ctr"/>
          <a:lstStyle/>
          <a:p>
            <a:pPr indent="0" marL="0">
              <a:buNone/>
            </a:pPr>
            <a:r>
              <a:rPr lang="en-US" sz="1080" b="1" dirty="0">
                <a:solidFill>
                  <a:srgbClr val="16233A"/>
                </a:solidFill>
                <a:latin typeface="Meiryo UI" pitchFamily="34" charset="0"/>
                <a:ea typeface="Meiryo UI" pitchFamily="34" charset="-122"/>
                <a:cs typeface="Meiryo UI" pitchFamily="34" charset="-120"/>
              </a:rPr>
              <a:t>時間のベースライン計測</a:t>
            </a:r>
            <a:endParaRPr lang="en-US" sz="1080" dirty="0"/>
          </a:p>
        </p:txBody>
      </p:sp>
      <p:sp>
        <p:nvSpPr>
          <p:cNvPr id="28" name="Text 26"/>
          <p:cNvSpPr/>
          <p:nvPr/>
        </p:nvSpPr>
        <p:spPr>
          <a:xfrm>
            <a:off x="3465576" y="5120640"/>
            <a:ext cx="2450592" cy="1097280"/>
          </a:xfrm>
          <a:prstGeom prst="rect">
            <a:avLst/>
          </a:prstGeom>
          <a:noFill/>
          <a:ln/>
        </p:spPr>
        <p:txBody>
          <a:bodyPr wrap="square" lIns="0" tIns="0" rIns="0" bIns="0" rtlCol="0" anchor="ctr"/>
          <a:lstStyle/>
          <a:p>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Libra活用前後の事務時間を計測し、「ゼロ化」目標の起点と廃止業務リスト（B-4）の候補を特定する</a:t>
            </a:r>
            <a:endParaRPr lang="en-US" sz="880" dirty="0"/>
          </a:p>
        </p:txBody>
      </p:sp>
      <p:sp>
        <p:nvSpPr>
          <p:cNvPr id="29" name="Shape 27"/>
          <p:cNvSpPr/>
          <p:nvPr/>
        </p:nvSpPr>
        <p:spPr>
          <a:xfrm>
            <a:off x="6135624" y="4498848"/>
            <a:ext cx="2743200" cy="1783080"/>
          </a:xfrm>
          <a:prstGeom prst="rect">
            <a:avLst/>
          </a:prstGeom>
          <a:solidFill>
            <a:srgbClr val="FFFFFF"/>
          </a:solidFill>
          <a:ln w="12700">
            <a:solidFill>
              <a:srgbClr val="D9DEE6"/>
            </a:solidFill>
            <a:prstDash val="solid"/>
          </a:ln>
        </p:spPr>
      </p:sp>
      <p:sp>
        <p:nvSpPr>
          <p:cNvPr id="30" name="Shape 28"/>
          <p:cNvSpPr/>
          <p:nvPr/>
        </p:nvSpPr>
        <p:spPr>
          <a:xfrm>
            <a:off x="6263640" y="4626864"/>
            <a:ext cx="384048" cy="384048"/>
          </a:xfrm>
          <a:prstGeom prst="ellipse">
            <a:avLst/>
          </a:prstGeom>
          <a:solidFill>
            <a:srgbClr val="0F5E87"/>
          </a:solidFill>
          <a:ln/>
        </p:spPr>
      </p:sp>
      <p:sp>
        <p:nvSpPr>
          <p:cNvPr id="31" name="Text 29"/>
          <p:cNvSpPr/>
          <p:nvPr/>
        </p:nvSpPr>
        <p:spPr>
          <a:xfrm>
            <a:off x="6263640" y="46268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32" name="Text 30"/>
          <p:cNvSpPr/>
          <p:nvPr/>
        </p:nvSpPr>
        <p:spPr>
          <a:xfrm>
            <a:off x="6739128" y="4645152"/>
            <a:ext cx="2011680" cy="365760"/>
          </a:xfrm>
          <a:prstGeom prst="rect">
            <a:avLst/>
          </a:prstGeom>
          <a:noFill/>
          <a:ln/>
        </p:spPr>
        <p:txBody>
          <a:bodyPr wrap="square" lIns="0" tIns="0" rIns="0" bIns="0" rtlCol="0" anchor="ctr"/>
          <a:lstStyle/>
          <a:p>
            <a:pPr indent="0" marL="0">
              <a:buNone/>
            </a:pPr>
            <a:r>
              <a:rPr lang="en-US" sz="1080" b="1" dirty="0">
                <a:solidFill>
                  <a:srgbClr val="16233A"/>
                </a:solidFill>
                <a:latin typeface="Meiryo UI" pitchFamily="34" charset="0"/>
                <a:ea typeface="Meiryo UI" pitchFamily="34" charset="-122"/>
                <a:cs typeface="Meiryo UI" pitchFamily="34" charset="-120"/>
              </a:rPr>
              <a:t>AI推奨の定点観測開始</a:t>
            </a:r>
            <a:endParaRPr lang="en-US" sz="1080" dirty="0"/>
          </a:p>
        </p:txBody>
      </p:sp>
      <p:sp>
        <p:nvSpPr>
          <p:cNvPr id="33" name="Text 31"/>
          <p:cNvSpPr/>
          <p:nvPr/>
        </p:nvSpPr>
        <p:spPr>
          <a:xfrm>
            <a:off x="6281928" y="5120640"/>
            <a:ext cx="2450592" cy="1097280"/>
          </a:xfrm>
          <a:prstGeom prst="rect">
            <a:avLst/>
          </a:prstGeom>
          <a:noFill/>
          <a:ln/>
        </p:spPr>
        <p:txBody>
          <a:bodyPr wrap="square" lIns="0" tIns="0" rIns="0" bIns="0" rtlCol="0" anchor="ctr"/>
          <a:lstStyle/>
          <a:p>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主要AIアシスタントへの定期クエリを即日開始。「AIが当社をどう見ているか」の初回レポートを経営へ提出（B-5）</a:t>
            </a:r>
            <a:endParaRPr lang="en-US" sz="880" dirty="0"/>
          </a:p>
        </p:txBody>
      </p:sp>
      <p:sp>
        <p:nvSpPr>
          <p:cNvPr id="34" name="Shape 32"/>
          <p:cNvSpPr/>
          <p:nvPr/>
        </p:nvSpPr>
        <p:spPr>
          <a:xfrm>
            <a:off x="8951976" y="4498848"/>
            <a:ext cx="2743200" cy="1783080"/>
          </a:xfrm>
          <a:prstGeom prst="rect">
            <a:avLst/>
          </a:prstGeom>
          <a:solidFill>
            <a:srgbClr val="FFFFFF"/>
          </a:solidFill>
          <a:ln w="12700">
            <a:solidFill>
              <a:srgbClr val="D9DEE6"/>
            </a:solidFill>
            <a:prstDash val="solid"/>
          </a:ln>
        </p:spPr>
      </p:sp>
      <p:sp>
        <p:nvSpPr>
          <p:cNvPr id="35" name="Shape 33"/>
          <p:cNvSpPr/>
          <p:nvPr/>
        </p:nvSpPr>
        <p:spPr>
          <a:xfrm>
            <a:off x="9079992" y="4626864"/>
            <a:ext cx="384048" cy="384048"/>
          </a:xfrm>
          <a:prstGeom prst="ellipse">
            <a:avLst/>
          </a:prstGeom>
          <a:solidFill>
            <a:srgbClr val="C8102E"/>
          </a:solidFill>
          <a:ln/>
        </p:spPr>
      </p:sp>
      <p:sp>
        <p:nvSpPr>
          <p:cNvPr id="36" name="Text 34"/>
          <p:cNvSpPr/>
          <p:nvPr/>
        </p:nvSpPr>
        <p:spPr>
          <a:xfrm>
            <a:off x="9079992" y="46268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37" name="Text 35"/>
          <p:cNvSpPr/>
          <p:nvPr/>
        </p:nvSpPr>
        <p:spPr>
          <a:xfrm>
            <a:off x="9555480" y="4645152"/>
            <a:ext cx="2011680" cy="365760"/>
          </a:xfrm>
          <a:prstGeom prst="rect">
            <a:avLst/>
          </a:prstGeom>
          <a:noFill/>
          <a:ln/>
        </p:spPr>
        <p:txBody>
          <a:bodyPr wrap="square" lIns="0" tIns="0" rIns="0" bIns="0" rtlCol="0" anchor="ctr"/>
          <a:lstStyle/>
          <a:p>
            <a:pPr indent="0" marL="0">
              <a:buNone/>
            </a:pPr>
            <a:r>
              <a:rPr lang="en-US" sz="1080" b="1" dirty="0">
                <a:solidFill>
                  <a:srgbClr val="16233A"/>
                </a:solidFill>
                <a:latin typeface="Meiryo UI" pitchFamily="34" charset="0"/>
                <a:ea typeface="Meiryo UI" pitchFamily="34" charset="-122"/>
                <a:cs typeface="Meiryo UI" pitchFamily="34" charset="-120"/>
              </a:rPr>
              <a:t>現場との対話</a:t>
            </a:r>
            <a:endParaRPr lang="en-US" sz="1080" dirty="0"/>
          </a:p>
        </p:txBody>
      </p:sp>
      <p:sp>
        <p:nvSpPr>
          <p:cNvPr id="38" name="Text 36"/>
          <p:cNvSpPr/>
          <p:nvPr/>
        </p:nvSpPr>
        <p:spPr>
          <a:xfrm>
            <a:off x="9098280" y="5120640"/>
            <a:ext cx="2450592" cy="1097280"/>
          </a:xfrm>
          <a:prstGeom prst="rect">
            <a:avLst/>
          </a:prstGeom>
          <a:noFill/>
          <a:ln/>
        </p:spPr>
        <p:txBody>
          <a:bodyPr wrap="square" lIns="0" tIns="0" rIns="0" bIns="0" rtlCol="0" anchor="ctr"/>
          <a:lstStyle/>
          <a:p>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本構想を営業・マーケ現場へ提示し、仮説と現場感覚のズレを検証。最初の連携PJ（B-2）の支店・カテゴリを選定する</a:t>
            </a:r>
            <a:endParaRPr lang="en-US" sz="880" dirty="0"/>
          </a:p>
        </p:txBody>
      </p:sp>
      <p:sp>
        <p:nvSpPr>
          <p:cNvPr id="39" name="Text 37"/>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2026-07-21T16:04:54Z</dcterms:created>
  <dcterms:modified xsi:type="dcterms:W3CDTF">2026-07-21T16:04:54Z</dcterms:modified>
</cp:coreProperties>
</file>