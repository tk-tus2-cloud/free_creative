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46" r:id="rId43"/>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①投資と店頭売上の因果を測る効果測定の仕組みを先に作る（B1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B1（ROI可視化）が投資対効果の測定基準を作り → D1（資料作成の自動化）が商談の時間を生み → C1・A1が提案の材料を揃え → 解決1の新しい使い方で使う。ROI計算式に紐づかない施策はやらない。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広告・販促の効果を金額で測る仕組みを作る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全施策の投資判断の基準になる起点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その場限りの広告購入をやめ、一元管理・自社運用で手数料と効果の薄い出稿を削減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営業1人対バイヤー1人の分断をやめ、小売と組織対組織で共同事業計画（JBP）を回す体制へ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共同事業計画の締結チェーン数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効果測定</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商品データ提供</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広告自社運用</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実務実行：混成チーム</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B1（効果測定基盤）の実測運用、進捗・品質・リスク管理、部門・外部ベンダー間の連携構築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（混成チーム）</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重点1小売×オーラルでの実行・共同事業の商談。評価は訪問件数から共同事業の達成率・増分粗利へ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68249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A1★ 商品データを
AI・小売へ提供</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商品データを整備しAPIで公開</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小売・AIへの提供開始と効果の実測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対象小売を順次拡大</a:t>
            </a:r>
          </a:p>
        </p:txBody>
      </p:sp>
      <p:sp>
        <p:nvSpPr>
          <p:cNvPr id="36" name="TextBox 35"/>
          <p:cNvSpPr txBox="1"/>
          <p:nvPr/>
        </p:nvSpPr>
        <p:spPr>
          <a:xfrm>
            <a:off x="548640" y="221284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A2 学校・健診の
デジタル接点化</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学校・健診でデジタル教材と診断アプリを試験導入</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74320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B1★ 投資効果を
金額で測定</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AI推奨シェアの測定開始・基準値づくり</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広告・販促の効果測定の仕組みを確立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273552"/>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B2 小売広告の
自社運用化</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小売サイト広告の運用を一元管理</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自社運用に切り替え</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03904"/>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C1★ 臨床データを
商談の数字に</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重点小売2社で歯ぐきケアの共同事業を開始</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値引きに頼らない商談と、歯科経由の販売を実証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臨床データ基盤の本格稼働・対象拡大</a:t>
            </a:r>
          </a:p>
        </p:txBody>
      </p:sp>
      <p:sp>
        <p:nvSpPr>
          <p:cNvPr id="66" name="TextBox 65"/>
          <p:cNvSpPr txBox="1"/>
          <p:nvPr/>
        </p:nvSpPr>
        <p:spPr>
          <a:xfrm>
            <a:off x="548640" y="433425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C2 成功商談の
標準形づくり</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成功した商談を標準の提案書式として整備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全営業の標準装備にする</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86460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D1★ 資料作成の
AI自動化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生成AIで資料作成を3割削減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事務時間を半分まで削減</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削減した状態を運用に定着</a:t>
            </a:r>
          </a:p>
        </p:txBody>
      </p:sp>
      <p:sp>
        <p:nvSpPr>
          <p:cNvPr id="79" name="TextBox 78"/>
          <p:cNvSpPr txBox="1"/>
          <p:nvPr/>
        </p:nvSpPr>
        <p:spPr>
          <a:xfrm>
            <a:off x="548640" y="539496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D2 チーム対チーム
営業へ再編</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営業・ブランド・データの混成チームを先行編成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確認2合格後に正式組織化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全社展開・評価制度の切替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461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FY27夏：値引きに頼らない商談の成立＋事務3割減
→ 合格なら拡大投資を解禁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17220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FY28末：共同事業を他社でも再現＋歯科経由販売の実証
→ 合格なら組織を正式化し、データ基盤に本格投資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897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FY30：統合報告書でKPIを開示
→ 全社標準化・評価制度の切替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確立した勝ち方を全カテゴリ・主要小売へ標準展開し、2035年に新規領域が収益の柱、2040年に「予防習慣のインフラ企業」へ ― ゲート不合格なら拡大せず、詰まった手順を直して再挑戦する。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KGI/KPI体系 ― 実データで機械的に算出できる計器だけを置く</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計器の条件＝①データ源が今ある ②計算式が機械的（推計・自己申告なし） ③月次/四半期で追える ― 因果の証明はKPIでなく確認ゲートの検証実験で行う</a:t>
            </a:r>
          </a:p>
        </p:txBody>
      </p:sp>
      <p:sp>
        <p:nvSpPr>
          <p:cNvPr id="14" name="TextBox 13"/>
          <p:cNvSpPr txBox="1"/>
          <p:nvPr/>
        </p:nvSpPr>
        <p:spPr>
          <a:xfrm>
            <a:off x="7315200" y="1207008"/>
            <a:ext cx="4526280" cy="219456"/>
          </a:xfrm>
          <a:prstGeom prst="rect">
            <a:avLst/>
          </a:prstGeom>
          <a:noFill/>
        </p:spPr>
        <p:txBody>
          <a:bodyPr wrap="square" lIns="0" rIns="0" tIns="0" bIns="0">
            <a:spAutoFit/>
          </a:bodyPr>
          <a:lstStyle/>
          <a:p>
            <a:pPr>
              <a:lnSpc>
                <a:spcPct val="112000"/>
              </a:lnSpc>
            </a:pPr>
            <a:r>
              <a:rPr sz="720" b="1">
                <a:solidFill>
                  <a:srgbClr val="595959"/>
                </a:solidFill>
                <a:latin typeface="Meiryo UI"/>
                <a:ea typeface="Meiryo UI"/>
              </a:rPr>
              <a:t>実線＝金額を合算する線（この2本だけ）／破線＝先行指標の対応（金額は流れない）</a:t>
            </a:r>
          </a:p>
        </p:txBody>
      </p:sp>
      <p:sp>
        <p:nvSpPr>
          <p:cNvPr id="15" name="Rectangle 14"/>
          <p:cNvSpPr/>
          <p:nvPr/>
        </p:nvSpPr>
        <p:spPr>
          <a:xfrm>
            <a:off x="3566160" y="1463040"/>
            <a:ext cx="5029200" cy="7680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536192"/>
            <a:ext cx="4754880" cy="658368"/>
          </a:xfrm>
          <a:prstGeom prst="rect">
            <a:avLst/>
          </a:prstGeom>
          <a:noFill/>
        </p:spPr>
        <p:txBody>
          <a:bodyPr wrap="square" lIns="0" rIns="0" tIns="0" bIns="0">
            <a:spAutoFit/>
          </a:bodyPr>
          <a:lstStyle/>
          <a:p>
            <a:pPr>
              <a:lnSpc>
                <a:spcPct val="118000"/>
              </a:lnSpc>
            </a:pPr>
            <a:r>
              <a:rPr sz="1100" b="1">
                <a:solidFill>
                  <a:srgbClr val="FFFFFF"/>
                </a:solidFill>
                <a:latin typeface="Meiryo UI"/>
                <a:ea typeface="Meiryo UI"/>
              </a:rPr>
              <a:t>KGI：増分粗利（オーラルケア事業）</a:t>
            </a:r>
          </a:p>
          <a:p>
            <a:pPr>
              <a:lnSpc>
                <a:spcPct val="118000"/>
              </a:lnSpc>
            </a:pPr>
            <a:r>
              <a:rPr sz="720" b="0">
                <a:solidFill>
                  <a:srgbClr val="FFFFFF"/>
                </a:solidFill>
                <a:latin typeface="Meiryo UI"/>
                <a:ea typeface="Meiryo UI"/>
              </a:rPr>
              <a:t>測り方＝施策あり店舗となし店舗の粗利差（B1で実験設計）＋MMM寄与。年1回・幅（レンジ）で確定し、重点小売別・4市場別の内訳を表示</a:t>
            </a:r>
          </a:p>
        </p:txBody>
      </p:sp>
      <p:sp>
        <p:nvSpPr>
          <p:cNvPr id="17" name="Rectangle 16"/>
          <p:cNvSpPr/>
          <p:nvPr/>
        </p:nvSpPr>
        <p:spPr>
          <a:xfrm>
            <a:off x="914400" y="2633472"/>
            <a:ext cx="4206240" cy="5486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97480"/>
            <a:ext cx="3931920" cy="438912"/>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新規からの増分粗利</a:t>
            </a:r>
            <a:r>
              <a:rPr sz="740" b="0">
                <a:solidFill>
                  <a:srgbClr val="FFFFFF"/>
                </a:solidFill>
                <a:latin typeface="Meiryo UI"/>
                <a:ea typeface="Meiryo UI"/>
              </a:rPr>
              <a:t>　初回購入から12カ月の顧客（N-t-C）</a:t>
            </a:r>
          </a:p>
        </p:txBody>
      </p:sp>
      <p:sp>
        <p:nvSpPr>
          <p:cNvPr id="19" name="Rectangle 18"/>
          <p:cNvSpPr/>
          <p:nvPr/>
        </p:nvSpPr>
        <p:spPr>
          <a:xfrm>
            <a:off x="7086600" y="2633472"/>
            <a:ext cx="4206240" cy="5486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697480"/>
            <a:ext cx="3931920" cy="438912"/>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継続からの増分粗利</a:t>
            </a:r>
            <a:r>
              <a:rPr sz="740" b="0">
                <a:solidFill>
                  <a:srgbClr val="FFFFFF"/>
                </a:solidFill>
                <a:latin typeface="Meiryo UI"/>
                <a:ea typeface="Meiryo UI"/>
              </a:rPr>
              <a:t>　13カ月目以降の顧客（LTV）</a:t>
            </a:r>
          </a:p>
        </p:txBody>
      </p:sp>
      <p:sp>
        <p:nvSpPr>
          <p:cNvPr id="21" name="TextBox 20"/>
          <p:cNvSpPr txBox="1"/>
          <p:nvPr/>
        </p:nvSpPr>
        <p:spPr>
          <a:xfrm>
            <a:off x="5230368" y="2724912"/>
            <a:ext cx="1783080" cy="365760"/>
          </a:xfrm>
          <a:prstGeom prst="rect">
            <a:avLst/>
          </a:prstGeom>
          <a:noFill/>
        </p:spPr>
        <p:txBody>
          <a:bodyPr wrap="square" lIns="0" rIns="0" tIns="0" bIns="0">
            <a:spAutoFit/>
          </a:bodyPr>
          <a:lstStyle/>
          <a:p>
            <a:pPr>
              <a:lnSpc>
                <a:spcPct val="115000"/>
              </a:lnSpc>
            </a:pPr>
            <a:r>
              <a:rPr sz="680" b="1">
                <a:solidFill>
                  <a:srgbClr val="C8102E"/>
                </a:solidFill>
                <a:latin typeface="Meiryo UI"/>
                <a:ea typeface="Meiryo UI"/>
              </a:rPr>
              <a:t>12カ月ルールで排他分類
＝同じ顧客を二度数えない</a:t>
            </a:r>
          </a:p>
        </p:txBody>
      </p:sp>
      <p:cxnSp>
        <p:nvCxnSpPr>
          <p:cNvPr id="22" name="Connector 21"/>
          <p:cNvCxnSpPr/>
          <p:nvPr/>
        </p:nvCxnSpPr>
        <p:spPr>
          <a:xfrm flipH="1">
            <a:off x="3017520" y="2231136"/>
            <a:ext cx="3063240" cy="402336"/>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2231136"/>
            <a:ext cx="3108960" cy="402336"/>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 y="3310128"/>
            <a:ext cx="11247120" cy="219456"/>
          </a:xfrm>
          <a:prstGeom prst="rect">
            <a:avLst/>
          </a:prstGeom>
          <a:noFill/>
        </p:spPr>
        <p:txBody>
          <a:bodyPr wrap="square" lIns="0" rIns="0" tIns="0" bIns="0">
            <a:spAutoFit/>
          </a:bodyPr>
          <a:lstStyle/>
          <a:p>
            <a:pPr>
              <a:lnSpc>
                <a:spcPct val="112000"/>
              </a:lnSpc>
            </a:pPr>
            <a:r>
              <a:rPr sz="850" b="1">
                <a:solidFill>
                  <a:srgbClr val="595959"/>
                </a:solidFill>
                <a:latin typeface="Meiryo UI"/>
                <a:ea typeface="Meiryo UI"/>
              </a:rPr>
              <a:t>ドライバーKPI（先行指標）― 全て実データから機械的に算出。金額換算・合算はしない</a:t>
            </a:r>
          </a:p>
        </p:txBody>
      </p:sp>
      <p:cxnSp>
        <p:nvCxnSpPr>
          <p:cNvPr id="25" name="Connector 24"/>
          <p:cNvCxnSpPr/>
          <p:nvPr/>
        </p:nvCxnSpPr>
        <p:spPr>
          <a:xfrm flipH="1">
            <a:off x="1225295" y="3182112"/>
            <a:ext cx="1792225"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20040" y="3584448"/>
            <a:ext cx="1810512" cy="17007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584448"/>
            <a:ext cx="181051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K1 AI推奨シェア
（AIEO Rate）</a:t>
            </a:r>
          </a:p>
        </p:txBody>
      </p:sp>
      <p:sp>
        <p:nvSpPr>
          <p:cNvPr id="29" name="TextBox 28"/>
          <p:cNvSpPr txBox="1"/>
          <p:nvPr/>
        </p:nvSpPr>
        <p:spPr>
          <a:xfrm>
            <a:off x="411479"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固定の質問200問を月次で各AIに3回ずつ投げ、ライオンが推奨・引用された割合の平均</a:t>
            </a:r>
          </a:p>
        </p:txBody>
      </p:sp>
      <p:sp>
        <p:nvSpPr>
          <p:cNvPr id="30" name="TextBox 29"/>
          <p:cNvSpPr txBox="1"/>
          <p:nvPr/>
        </p:nvSpPr>
        <p:spPr>
          <a:xfrm>
            <a:off x="411479"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自社測定／月次／IR：高</a:t>
            </a:r>
          </a:p>
        </p:txBody>
      </p:sp>
      <p:sp>
        <p:nvSpPr>
          <p:cNvPr id="31" name="Rectangle 30"/>
          <p:cNvSpPr/>
          <p:nvPr/>
        </p:nvSpPr>
        <p:spPr>
          <a:xfrm>
            <a:off x="411479"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照らす枝：新規</a:t>
            </a:r>
          </a:p>
        </p:txBody>
      </p:sp>
      <p:cxnSp>
        <p:nvCxnSpPr>
          <p:cNvPr id="33" name="Connector 32"/>
          <p:cNvCxnSpPr/>
          <p:nvPr/>
        </p:nvCxnSpPr>
        <p:spPr>
          <a:xfrm>
            <a:off x="3017520" y="3182112"/>
            <a:ext cx="128016"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240280" y="3584448"/>
            <a:ext cx="1810512" cy="17007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40280" y="3584448"/>
            <a:ext cx="181051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1343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K2 カテゴリ新規客数
（N-t-C）</a:t>
            </a:r>
          </a:p>
        </p:txBody>
      </p:sp>
      <p:sp>
        <p:nvSpPr>
          <p:cNvPr id="37" name="TextBox 36"/>
          <p:cNvSpPr txBox="1"/>
          <p:nvPr/>
        </p:nvSpPr>
        <p:spPr>
          <a:xfrm>
            <a:off x="2331720"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過去24カ月オーラル購買のない人が初回購買した人数。データ連携済みの重点小売で数える</a:t>
            </a:r>
          </a:p>
        </p:txBody>
      </p:sp>
      <p:sp>
        <p:nvSpPr>
          <p:cNvPr id="38" name="TextBox 37"/>
          <p:cNvSpPr txBox="1"/>
          <p:nvPr/>
        </p:nvSpPr>
        <p:spPr>
          <a:xfrm>
            <a:off x="2331720"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重点小売ID-POS／四半期／IR：高</a:t>
            </a:r>
          </a:p>
        </p:txBody>
      </p:sp>
      <p:sp>
        <p:nvSpPr>
          <p:cNvPr id="39" name="Rectangle 38"/>
          <p:cNvSpPr/>
          <p:nvPr/>
        </p:nvSpPr>
        <p:spPr>
          <a:xfrm>
            <a:off x="2331720"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658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照らす枝：新規</a:t>
            </a:r>
          </a:p>
        </p:txBody>
      </p:sp>
      <p:cxnSp>
        <p:nvCxnSpPr>
          <p:cNvPr id="41" name="Connector 40"/>
          <p:cNvCxnSpPr/>
          <p:nvPr/>
        </p:nvCxnSpPr>
        <p:spPr>
          <a:xfrm>
            <a:off x="3017520" y="3182112"/>
            <a:ext cx="2048256"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065776" y="3182112"/>
            <a:ext cx="4123944"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4160520" y="3584448"/>
            <a:ext cx="1810512" cy="1700784"/>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60520" y="3584448"/>
            <a:ext cx="1810512" cy="4572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3367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K3 意向把握の
有効登録者数</a:t>
            </a:r>
          </a:p>
        </p:txBody>
      </p:sp>
      <p:sp>
        <p:nvSpPr>
          <p:cNvPr id="46" name="TextBox 45"/>
          <p:cNvSpPr txBox="1"/>
          <p:nvPr/>
        </p:nvSpPr>
        <p:spPr>
          <a:xfrm>
            <a:off x="4251959"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アプリ・LINE・診断ツールで口腔の悩み・意向を登録し、12カ月以内に更新がある人数（実数）</a:t>
            </a:r>
          </a:p>
        </p:txBody>
      </p:sp>
      <p:sp>
        <p:nvSpPr>
          <p:cNvPr id="47" name="TextBox 46"/>
          <p:cNvSpPr txBox="1"/>
          <p:nvPr/>
        </p:nvSpPr>
        <p:spPr>
          <a:xfrm>
            <a:off x="4251959"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自社顧客基盤／月次／IR：高</a:t>
            </a:r>
          </a:p>
        </p:txBody>
      </p:sp>
      <p:sp>
        <p:nvSpPr>
          <p:cNvPr id="48" name="Rectangle 47"/>
          <p:cNvSpPr/>
          <p:nvPr/>
        </p:nvSpPr>
        <p:spPr>
          <a:xfrm>
            <a:off x="4251959"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0682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照らす枝：両方</a:t>
            </a:r>
          </a:p>
        </p:txBody>
      </p:sp>
      <p:cxnSp>
        <p:nvCxnSpPr>
          <p:cNvPr id="50" name="Connector 49"/>
          <p:cNvCxnSpPr/>
          <p:nvPr/>
        </p:nvCxnSpPr>
        <p:spPr>
          <a:xfrm flipH="1">
            <a:off x="6986016" y="3182112"/>
            <a:ext cx="2203704"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080760" y="3584448"/>
            <a:ext cx="1810512" cy="17007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80760" y="3584448"/>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5391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K4 12カ月
リピート率</a:t>
            </a:r>
          </a:p>
        </p:txBody>
      </p:sp>
      <p:sp>
        <p:nvSpPr>
          <p:cNvPr id="54" name="TextBox 53"/>
          <p:cNvSpPr txBox="1"/>
          <p:nvPr/>
        </p:nvSpPr>
        <p:spPr>
          <a:xfrm>
            <a:off x="6172200"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初回購買者のうち、12カ月以内に同カテゴリを再購買した人の比率</a:t>
            </a:r>
          </a:p>
        </p:txBody>
      </p:sp>
      <p:sp>
        <p:nvSpPr>
          <p:cNvPr id="55" name="TextBox 54"/>
          <p:cNvSpPr txBox="1"/>
          <p:nvPr/>
        </p:nvSpPr>
        <p:spPr>
          <a:xfrm>
            <a:off x="6172200"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重点小売ID-POS／四半期／IR：中</a:t>
            </a:r>
          </a:p>
        </p:txBody>
      </p:sp>
      <p:sp>
        <p:nvSpPr>
          <p:cNvPr id="56" name="Rectangle 55"/>
          <p:cNvSpPr/>
          <p:nvPr/>
        </p:nvSpPr>
        <p:spPr>
          <a:xfrm>
            <a:off x="6172200"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2706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cxnSp>
        <p:nvCxnSpPr>
          <p:cNvPr id="58" name="Connector 57"/>
          <p:cNvCxnSpPr/>
          <p:nvPr/>
        </p:nvCxnSpPr>
        <p:spPr>
          <a:xfrm flipH="1">
            <a:off x="8906256" y="3182112"/>
            <a:ext cx="283464"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8001000" y="3584448"/>
            <a:ext cx="1810512" cy="17007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001000" y="3584448"/>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7415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K5 習慣プログラム
90日継続率</a:t>
            </a:r>
          </a:p>
        </p:txBody>
      </p:sp>
      <p:sp>
        <p:nvSpPr>
          <p:cNvPr id="62" name="TextBox 61"/>
          <p:cNvSpPr txBox="1"/>
          <p:nvPr/>
        </p:nvSpPr>
        <p:spPr>
          <a:xfrm>
            <a:off x="8092440"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習慣プログラム開始者のうち、90日後も記録・利用が続いている人の比率</a:t>
            </a:r>
          </a:p>
        </p:txBody>
      </p:sp>
      <p:sp>
        <p:nvSpPr>
          <p:cNvPr id="63" name="TextBox 62"/>
          <p:cNvSpPr txBox="1"/>
          <p:nvPr/>
        </p:nvSpPr>
        <p:spPr>
          <a:xfrm>
            <a:off x="8092440"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自社アプリ／月次／IR：高</a:t>
            </a:r>
          </a:p>
        </p:txBody>
      </p:sp>
      <p:sp>
        <p:nvSpPr>
          <p:cNvPr id="64" name="Rectangle 63"/>
          <p:cNvSpPr/>
          <p:nvPr/>
        </p:nvSpPr>
        <p:spPr>
          <a:xfrm>
            <a:off x="8092440"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4730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cxnSp>
        <p:nvCxnSpPr>
          <p:cNvPr id="66" name="Connector 65"/>
          <p:cNvCxnSpPr/>
          <p:nvPr/>
        </p:nvCxnSpPr>
        <p:spPr>
          <a:xfrm>
            <a:off x="9189720" y="3182112"/>
            <a:ext cx="1636776" cy="402336"/>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921240" y="3584448"/>
            <a:ext cx="1810512" cy="17007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921240" y="3584448"/>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94392" y="3630168"/>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K6 特売依存度
（値引き率）</a:t>
            </a:r>
          </a:p>
        </p:txBody>
      </p:sp>
      <p:sp>
        <p:nvSpPr>
          <p:cNvPr id="70" name="TextBox 69"/>
          <p:cNvSpPr txBox="1"/>
          <p:nvPr/>
        </p:nvSpPr>
        <p:spPr>
          <a:xfrm>
            <a:off x="10012680" y="4096512"/>
            <a:ext cx="1627632" cy="713232"/>
          </a:xfrm>
          <a:prstGeom prst="rect">
            <a:avLst/>
          </a:prstGeom>
          <a:noFill/>
        </p:spPr>
        <p:txBody>
          <a:bodyPr wrap="square" lIns="0" rIns="0" tIns="0" bIns="0">
            <a:spAutoFit/>
          </a:bodyPr>
          <a:lstStyle/>
          <a:p>
            <a:pPr>
              <a:lnSpc>
                <a:spcPct val="114000"/>
              </a:lnSpc>
            </a:pPr>
            <a:r>
              <a:rPr sz="670" b="0">
                <a:solidFill>
                  <a:srgbClr val="262626"/>
                </a:solidFill>
                <a:latin typeface="Meiryo UI"/>
                <a:ea typeface="Meiryo UI"/>
              </a:rPr>
              <a:t>重点小売×オーラル売上に占める値引き・特売原資の構成比％。金額はKGI側で一回だけ計上</a:t>
            </a:r>
          </a:p>
        </p:txBody>
      </p:sp>
      <p:sp>
        <p:nvSpPr>
          <p:cNvPr id="71" name="TextBox 70"/>
          <p:cNvSpPr txBox="1"/>
          <p:nvPr/>
        </p:nvSpPr>
        <p:spPr>
          <a:xfrm>
            <a:off x="10012680" y="4791456"/>
            <a:ext cx="1627632" cy="237744"/>
          </a:xfrm>
          <a:prstGeom prst="rect">
            <a:avLst/>
          </a:prstGeom>
          <a:noFill/>
        </p:spPr>
        <p:txBody>
          <a:bodyPr wrap="square" lIns="0" rIns="0" tIns="0" bIns="0">
            <a:spAutoFit/>
          </a:bodyPr>
          <a:lstStyle/>
          <a:p>
            <a:pPr>
              <a:lnSpc>
                <a:spcPct val="110000"/>
              </a:lnSpc>
            </a:pPr>
            <a:r>
              <a:rPr sz="620" b="1">
                <a:solidFill>
                  <a:srgbClr val="0F5E87"/>
                </a:solidFill>
                <a:latin typeface="Meiryo UI"/>
                <a:ea typeface="Meiryo UI"/>
              </a:rPr>
              <a:t>自社販促費＋小売POS／四半期／IR：中</a:t>
            </a:r>
          </a:p>
        </p:txBody>
      </p:sp>
      <p:sp>
        <p:nvSpPr>
          <p:cNvPr id="72" name="Rectangle 71"/>
          <p:cNvSpPr/>
          <p:nvPr/>
        </p:nvSpPr>
        <p:spPr>
          <a:xfrm>
            <a:off x="10012680" y="5029200"/>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067544" y="5061204"/>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sp>
        <p:nvSpPr>
          <p:cNvPr id="74" name="Rectangle 73"/>
          <p:cNvSpPr/>
          <p:nvPr/>
        </p:nvSpPr>
        <p:spPr>
          <a:xfrm>
            <a:off x="320040" y="5440680"/>
            <a:ext cx="11521440" cy="713232"/>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486400"/>
            <a:ext cx="11292840" cy="640080"/>
          </a:xfrm>
          <a:prstGeom prst="rect">
            <a:avLst/>
          </a:prstGeom>
          <a:noFill/>
        </p:spPr>
        <p:txBody>
          <a:bodyPr wrap="square" lIns="0" rIns="0" tIns="0" bIns="0">
            <a:spAutoFit/>
          </a:bodyPr>
          <a:lstStyle/>
          <a:p>
            <a:pPr>
              <a:lnSpc>
                <a:spcPct val="120000"/>
              </a:lnSpc>
            </a:pPr>
            <a:r>
              <a:rPr sz="790" b="1">
                <a:solidFill>
                  <a:srgbClr val="16233A"/>
                </a:solidFill>
                <a:latin typeface="Meiryo UI"/>
                <a:ea typeface="Meiryo UI"/>
              </a:rPr>
              <a:t>測れる形に変える計器（計測の仕掛けを実装し、FY27に正式昇格）：</a:t>
            </a:r>
            <a:r>
              <a:rPr sz="730" b="0">
                <a:solidFill>
                  <a:srgbClr val="262626"/>
                </a:solidFill>
                <a:latin typeface="Meiryo UI"/>
                <a:ea typeface="Meiryo UI"/>
              </a:rPr>
              <a:t>K7 歯科推奨経由の購買＝推奨QR・専用SKUを歯科接点で発行し、小売購買データと機械照合した実数。計測カバー率（推奨IDを発行できている歯科接点の割合）とセットで追い、カバー率の拡大自体をK7の前提KPIにする／</a:t>
            </a:r>
            <a:r>
              <a:rPr sz="730" b="0">
                <a:solidFill>
                  <a:srgbClr val="262626"/>
                </a:solidFill>
                <a:latin typeface="Meiryo UI"/>
                <a:ea typeface="Meiryo UI"/>
              </a:rPr>
              <a:t>K8 健康改善差＝習慣プログラム申込者の開始を4週ずらす待機群方式で、開始群と待機群のセルフチェック改善差を測る（比較群をプログラム設計で作る）― 昇格まで投資判断には使わない</a:t>
            </a:r>
          </a:p>
        </p:txBody>
      </p:sp>
      <p:sp>
        <p:nvSpPr>
          <p:cNvPr id="76" name="Rectangle 75"/>
          <p:cNvSpPr/>
          <p:nvPr/>
        </p:nvSpPr>
        <p:spPr>
          <a:xfrm>
            <a:off x="320040" y="6263640"/>
            <a:ext cx="11521440" cy="402336"/>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300216"/>
            <a:ext cx="11292840" cy="329184"/>
          </a:xfrm>
          <a:prstGeom prst="rect">
            <a:avLst/>
          </a:prstGeom>
          <a:noFill/>
        </p:spPr>
        <p:txBody>
          <a:bodyPr wrap="square" lIns="0" rIns="0" tIns="0" bIns="0">
            <a:spAutoFit/>
          </a:bodyPr>
          <a:lstStyle/>
          <a:p>
            <a:pPr>
              <a:lnSpc>
                <a:spcPct val="112000"/>
              </a:lnSpc>
            </a:pPr>
            <a:r>
              <a:rPr sz="840" b="1">
                <a:solidFill>
                  <a:srgbClr val="008D2E"/>
                </a:solidFill>
                <a:latin typeface="Meiryo UI"/>
                <a:ea typeface="Meiryo UI"/>
              </a:rPr>
              <a:t>測定の規律：</a:t>
            </a:r>
            <a:r>
              <a:rPr sz="790" b="0">
                <a:solidFill>
                  <a:srgbClr val="262626"/>
                </a:solidFill>
                <a:latin typeface="Meiryo UI"/>
                <a:ea typeface="Meiryo UI"/>
              </a:rPr>
              <a:t>①金額の合算はKGI一本（あり/なし実験＋MMMのみ）　②顧客は12カ月ルールで排他分類　③KPIは実データから機械的に算出（推計なし）　④K7・K8は仕掛けの実装完了をもって正式昇格。計器盤は月次/四半期、KGIは年次で確定。</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