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147483620" r:id="rId5"/>
    <p:sldId id="2147483643" r:id="rId40"/>
    <p:sldId id="2147483612" r:id="rId6"/>
    <p:sldId id="2147483613" r:id="rId7"/>
    <p:sldId id="2147483614" r:id="rId8"/>
    <p:sldId id="2147483616" r:id="rId9"/>
    <p:sldId id="2147483639" r:id="rId36"/>
    <p:sldId id="2147483640" r:id="rId37"/>
    <p:sldId id="2147483619" r:id="rId12"/>
    <p:sldId id="2147483641" r:id="rId38"/>
    <p:sldId id="2147483633" r:id="rId23"/>
    <p:sldId id="2147483634" r:id="rId24"/>
    <p:sldId id="2147483642" r:id="rId39"/>
    <p:sldId id="2147483635" r:id="rId25"/>
    <p:sldId id="2147483636" r:id="rId26"/>
    <p:sldId id="2147483637" r:id="rId27"/>
    <p:sldId id="2147483638" r:id="rId28"/>
  </p:sldIdLst>
  <p:sldSz cx="12192000" cy="6858000"/>
  <p:notesSz cx="6858000" cy="9144000"/>
  <p:custDataLst>
    <p:tags r:id="rId31"/>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D4120086-D7F6-43B7-9BBE-7F91A996C7FC}">
          <p14:sldIdLst>
            <p14:sldId id="2147483620"/>
            <p14:sldId id="2147483612"/>
            <p14:sldId id="2147483613"/>
            <p14:sldId id="2147483614"/>
            <p14:sldId id="2147483616"/>
            <p14:sldId id="2147483622"/>
            <p14:sldId id="2147483623"/>
            <p14:sldId id="2147483619"/>
            <p14:sldId id="2147483624"/>
            <p14:sldId id="2147483625"/>
            <p14:sldId id="2147483626"/>
            <p14:sldId id="2147483627"/>
            <p14:sldId id="2147483628"/>
            <p14:sldId id="2147483629"/>
            <p14:sldId id="2147483621"/>
          </p14:sldIdLst>
        </p14:section>
        <p14:section name="作成" id="{C741977A-D2A6-49B2-955D-F2AE528CD877}">
          <p14:sldIdLst>
            <p14:sldId id="2147483630"/>
            <p14:sldId id="2147483631"/>
            <p14:sldId id="2147483632"/>
            <p14:sldId id="2147483633"/>
            <p14:sldId id="2147483634"/>
            <p14:sldId id="2147483635"/>
            <p14:sldId id="2147483636"/>
            <p14:sldId id="2147483637"/>
            <p14:sldId id="214748363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tags" Target="tags/tag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2026/8/16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2026/8/16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37560"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2  真因は「使い方・材料・仕組み」の3つ</a:t>
            </a:r>
          </a:p>
        </p:txBody>
      </p:sp>
      <p:sp>
        <p:nvSpPr>
          <p:cNvPr id="21" name="TextBox 20"/>
          <p:cNvSpPr txBox="1"/>
          <p:nvPr/>
        </p:nvSpPr>
        <p:spPr>
          <a:xfrm>
            <a:off x="3355848"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中計の決定も宣伝・販促の傾斜配分も実行済み。それでもギャップが残る原因は、①増えた資源の使い方が従来の勝ちパターンのまま ②値引きに代わる提案の材料（データ・根拠）が揃っていない ③試す→検証→広げる改善の仕組みがない ― 量でなく質の問題</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45351"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使い方＝傾斜した資源の新しい使い方を設計（4分割・エビデンス商談・値引き70＋施策30）／材料＝8つの重点施策で供給／仕組み＝時間・編成・確認ゲート・撤退基準。小さく実証→検証→拡大の順で諮る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53143"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次頁の全体地図のとおり、環境変化（PEST・3C）→ 自社（SWOT）→ 目指す姿とギャップ → 真因（使い方・材料・仕組み）→ 解決策の対応 → 4テーマ×8施策 → 5経営テーマへのMECE接続 → 出口（業務の変化）→ 体制（Who）→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バイヤー向け根拠付け</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3開示義務」の波を捉えて学校・自治体ルートをデジタル化し、2040年のAI自動補充システムのAI推奨リストに標準搭載される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「営業1人対バイヤー1人」のままであり、対P&amp;G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ギャップから真因へ ― 4つのギャップは、3つの真因で説明できる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前頁の4つのギャップから演繹する。共通するのは組織や意識の問題ではなく、「決めていない・持っていない・回っていない」の3つ ― ●＝主要因、○＝副次要因</a:t>
            </a:r>
          </a:p>
        </p:txBody>
      </p:sp>
      <p:sp>
        <p:nvSpPr>
          <p:cNvPr id="14" name="Rectangle 13"/>
          <p:cNvSpPr/>
          <p:nvPr/>
        </p:nvSpPr>
        <p:spPr>
          <a:xfrm>
            <a:off x="320040" y="1463040"/>
            <a:ext cx="356616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499616"/>
            <a:ext cx="3383280" cy="256032"/>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ギャップ（前頁の要約）</a:t>
            </a:r>
          </a:p>
        </p:txBody>
      </p:sp>
      <p:sp>
        <p:nvSpPr>
          <p:cNvPr id="16" name="Rectangle 15"/>
          <p:cNvSpPr/>
          <p:nvPr/>
        </p:nvSpPr>
        <p:spPr>
          <a:xfrm>
            <a:off x="3922776" y="1463040"/>
            <a:ext cx="5486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41063"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真因1
決める</a:t>
            </a:r>
          </a:p>
        </p:txBody>
      </p:sp>
      <p:sp>
        <p:nvSpPr>
          <p:cNvPr id="18" name="Rectangle 17"/>
          <p:cNvSpPr/>
          <p:nvPr/>
        </p:nvSpPr>
        <p:spPr>
          <a:xfrm>
            <a:off x="4489704" y="1463040"/>
            <a:ext cx="5486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真因2
持つ</a:t>
            </a:r>
          </a:p>
        </p:txBody>
      </p:sp>
      <p:sp>
        <p:nvSpPr>
          <p:cNvPr id="20" name="Rectangle 19"/>
          <p:cNvSpPr/>
          <p:nvPr/>
        </p:nvSpPr>
        <p:spPr>
          <a:xfrm>
            <a:off x="5056632" y="1463040"/>
            <a:ext cx="5486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4920"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真因3
回す</a:t>
            </a:r>
          </a:p>
        </p:txBody>
      </p:sp>
      <p:sp>
        <p:nvSpPr>
          <p:cNvPr id="22" name="Rectangle 21"/>
          <p:cNvSpPr/>
          <p:nvPr/>
        </p:nvSpPr>
        <p:spPr>
          <a:xfrm>
            <a:off x="320040" y="1810512"/>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1847088"/>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GAP1 洗剤消耗戦から脱却できず、属性データの構造化・API化に未着手</a:t>
            </a:r>
          </a:p>
        </p:txBody>
      </p:sp>
      <p:sp>
        <p:nvSpPr>
          <p:cNvPr id="24" name="Rectangle 23"/>
          <p:cNvSpPr/>
          <p:nvPr/>
        </p:nvSpPr>
        <p:spPr>
          <a:xfrm>
            <a:off x="3922776"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22776" y="1947672"/>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26" name="Rectangle 25"/>
          <p:cNvSpPr/>
          <p:nvPr/>
        </p:nvSpPr>
        <p:spPr>
          <a:xfrm>
            <a:off x="4489704"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89704" y="1947672"/>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28" name="Rectangle 27"/>
          <p:cNvSpPr/>
          <p:nvPr/>
        </p:nvSpPr>
        <p:spPr>
          <a:xfrm>
            <a:off x="5056632"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20040" y="2468880"/>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2505456"/>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GAP2 自前D2Cか小売依存かの二極化に陥り、路線を選べていない</a:t>
            </a:r>
          </a:p>
        </p:txBody>
      </p:sp>
      <p:sp>
        <p:nvSpPr>
          <p:cNvPr id="31" name="Rectangle 30"/>
          <p:cNvSpPr/>
          <p:nvPr/>
        </p:nvSpPr>
        <p:spPr>
          <a:xfrm>
            <a:off x="3922776"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22776" y="2606040"/>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33" name="Rectangle 32"/>
          <p:cNvSpPr/>
          <p:nvPr/>
        </p:nvSpPr>
        <p:spPr>
          <a:xfrm>
            <a:off x="4489704"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56632"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56632" y="2606040"/>
            <a:ext cx="548640" cy="329184"/>
          </a:xfrm>
          <a:prstGeom prst="rect">
            <a:avLst/>
          </a:prstGeom>
          <a:noFill/>
        </p:spPr>
        <p:txBody>
          <a:bodyPr wrap="square" lIns="0" tIns="0" rIns="0" bIns="0">
            <a:spAutoFit/>
          </a:bodyPr>
          <a:lstStyle/>
          <a:p>
            <a:pPr>
              <a:lnSpc>
                <a:spcPct val="100000"/>
              </a:lnSpc>
            </a:pPr>
            <a:r>
              <a:rPr sz="1000" b="1">
                <a:solidFill>
                  <a:srgbClr val="008D2E"/>
                </a:solidFill>
                <a:latin typeface="Meiryo UI"/>
                <a:ea typeface="Meiryo UI"/>
              </a:rPr>
              <a:t>○</a:t>
            </a:r>
          </a:p>
        </p:txBody>
      </p:sp>
      <p:sp>
        <p:nvSpPr>
          <p:cNvPr id="36" name="Rectangle 35"/>
          <p:cNvSpPr/>
          <p:nvPr/>
        </p:nvSpPr>
        <p:spPr>
          <a:xfrm>
            <a:off x="320040" y="3127248"/>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11480" y="3163824"/>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GAP3 バイヤーが欲するLTV・炭素効率の予測でなく、値引き提案が続く</a:t>
            </a:r>
          </a:p>
        </p:txBody>
      </p:sp>
      <p:sp>
        <p:nvSpPr>
          <p:cNvPr id="38" name="Rectangle 37"/>
          <p:cNvSpPr/>
          <p:nvPr/>
        </p:nvSpPr>
        <p:spPr>
          <a:xfrm>
            <a:off x="3922776"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922776" y="3264408"/>
            <a:ext cx="548640" cy="329184"/>
          </a:xfrm>
          <a:prstGeom prst="rect">
            <a:avLst/>
          </a:prstGeom>
          <a:noFill/>
        </p:spPr>
        <p:txBody>
          <a:bodyPr wrap="square" lIns="0" tIns="0" rIns="0" bIns="0">
            <a:spAutoFit/>
          </a:bodyPr>
          <a:lstStyle/>
          <a:p>
            <a:pPr>
              <a:lnSpc>
                <a:spcPct val="100000"/>
              </a:lnSpc>
            </a:pPr>
            <a:r>
              <a:rPr sz="1000" b="1">
                <a:solidFill>
                  <a:srgbClr val="C8102E"/>
                </a:solidFill>
                <a:latin typeface="Meiryo UI"/>
                <a:ea typeface="Meiryo UI"/>
              </a:rPr>
              <a:t>○</a:t>
            </a:r>
          </a:p>
        </p:txBody>
      </p:sp>
      <p:sp>
        <p:nvSpPr>
          <p:cNvPr id="40" name="Rectangle 39"/>
          <p:cNvSpPr/>
          <p:nvPr/>
        </p:nvSpPr>
        <p:spPr>
          <a:xfrm>
            <a:off x="4489704"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9704" y="3264408"/>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42" name="Rectangle 41"/>
          <p:cNvSpPr/>
          <p:nvPr/>
        </p:nvSpPr>
        <p:spPr>
          <a:xfrm>
            <a:off x="5056632"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56632" y="3264408"/>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44" name="Rectangle 43"/>
          <p:cNvSpPr/>
          <p:nvPr/>
        </p:nvSpPr>
        <p:spPr>
          <a:xfrm>
            <a:off x="320040" y="3785615"/>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3822191"/>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GAP4 小売の構造課題に組織総力戦で当たれず、属人的関係に依存</a:t>
            </a:r>
          </a:p>
        </p:txBody>
      </p:sp>
      <p:sp>
        <p:nvSpPr>
          <p:cNvPr id="46" name="Rectangle 45"/>
          <p:cNvSpPr/>
          <p:nvPr/>
        </p:nvSpPr>
        <p:spPr>
          <a:xfrm>
            <a:off x="3922776"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489704"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89704" y="3922776"/>
            <a:ext cx="548640" cy="329184"/>
          </a:xfrm>
          <a:prstGeom prst="rect">
            <a:avLst/>
          </a:prstGeom>
          <a:noFill/>
        </p:spPr>
        <p:txBody>
          <a:bodyPr wrap="square" lIns="0" tIns="0" rIns="0" bIns="0">
            <a:spAutoFit/>
          </a:bodyPr>
          <a:lstStyle/>
          <a:p>
            <a:pPr>
              <a:lnSpc>
                <a:spcPct val="100000"/>
              </a:lnSpc>
            </a:pPr>
            <a:r>
              <a:rPr sz="1000" b="1">
                <a:solidFill>
                  <a:srgbClr val="0F5E87"/>
                </a:solidFill>
                <a:latin typeface="Meiryo UI"/>
                <a:ea typeface="Meiryo UI"/>
              </a:rPr>
              <a:t>○</a:t>
            </a:r>
          </a:p>
        </p:txBody>
      </p:sp>
      <p:sp>
        <p:nvSpPr>
          <p:cNvPr id="49" name="Rectangle 48"/>
          <p:cNvSpPr/>
          <p:nvPr/>
        </p:nvSpPr>
        <p:spPr>
          <a:xfrm>
            <a:off x="5056632"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056632" y="3922776"/>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51" name="Rectangle 50"/>
          <p:cNvSpPr/>
          <p:nvPr/>
        </p:nvSpPr>
        <p:spPr>
          <a:xfrm>
            <a:off x="5806440" y="1463040"/>
            <a:ext cx="6035040" cy="14813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0644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89320" y="1517904"/>
            <a:ext cx="5760720" cy="274320"/>
          </a:xfrm>
          <a:prstGeom prst="rect">
            <a:avLst/>
          </a:prstGeom>
          <a:noFill/>
        </p:spPr>
        <p:txBody>
          <a:bodyPr wrap="square" lIns="0" tIns="0" rIns="0" bIns="0">
            <a:spAutoFit/>
          </a:bodyPr>
          <a:lstStyle/>
          <a:p>
            <a:pPr>
              <a:lnSpc>
                <a:spcPct val="112000"/>
              </a:lnSpc>
            </a:pPr>
            <a:r>
              <a:rPr sz="880" b="1">
                <a:solidFill>
                  <a:srgbClr val="C8102E"/>
                </a:solidFill>
                <a:latin typeface="Meiryo UI"/>
                <a:ea typeface="Meiryo UI"/>
              </a:rPr>
              <a:t>真因1 「決めていない」 ― 戦い方の選択が未決定のまま、各論が走っている</a:t>
            </a:r>
          </a:p>
        </p:txBody>
      </p:sp>
      <p:sp>
        <p:nvSpPr>
          <p:cNvPr id="54" name="TextBox 53"/>
          <p:cNvSpPr txBox="1"/>
          <p:nvPr/>
        </p:nvSpPr>
        <p:spPr>
          <a:xfrm>
            <a:off x="5989320" y="1828800"/>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主戦場（洗剤をどこまで守り、強み領域にいくら寄せるか）、データの路線（自前D2Cか小売連携か）、商談の路線（値引きをどこまで使うか）― いずれも会社としての選択が明文化されておらず、現場は従来のやり方を続けるしかない。</a:t>
            </a:r>
          </a:p>
        </p:txBody>
      </p:sp>
      <p:sp>
        <p:nvSpPr>
          <p:cNvPr id="55" name="TextBox 54"/>
          <p:cNvSpPr txBox="1"/>
          <p:nvPr/>
        </p:nvSpPr>
        <p:spPr>
          <a:xfrm>
            <a:off x="5989320" y="2505456"/>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根拠：GAP1・2は「できていない」ではなく「どちらに行くか決まっていない」形をしている。決めない限り、どの施策も中途半端に終わる</a:t>
            </a:r>
          </a:p>
        </p:txBody>
      </p:sp>
      <p:sp>
        <p:nvSpPr>
          <p:cNvPr id="56" name="Rectangle 55"/>
          <p:cNvSpPr/>
          <p:nvPr/>
        </p:nvSpPr>
        <p:spPr>
          <a:xfrm>
            <a:off x="5806440" y="3035808"/>
            <a:ext cx="6035040" cy="14813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806440" y="3035808"/>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989320" y="3090672"/>
            <a:ext cx="5760720" cy="274320"/>
          </a:xfrm>
          <a:prstGeom prst="rect">
            <a:avLst/>
          </a:prstGeom>
          <a:noFill/>
        </p:spPr>
        <p:txBody>
          <a:bodyPr wrap="square" lIns="0" tIns="0" rIns="0" bIns="0">
            <a:spAutoFit/>
          </a:bodyPr>
          <a:lstStyle/>
          <a:p>
            <a:pPr>
              <a:lnSpc>
                <a:spcPct val="112000"/>
              </a:lnSpc>
            </a:pPr>
            <a:r>
              <a:rPr sz="880" b="1">
                <a:solidFill>
                  <a:srgbClr val="0F5E87"/>
                </a:solidFill>
                <a:latin typeface="Meiryo UI"/>
                <a:ea typeface="Meiryo UI"/>
              </a:rPr>
              <a:t>真因2 「持っていない」 ― 選ばれるための武器が、現場に供給されていない</a:t>
            </a:r>
          </a:p>
        </p:txBody>
      </p:sp>
      <p:sp>
        <p:nvSpPr>
          <p:cNvPr id="59" name="TextBox 58"/>
          <p:cNvSpPr txBox="1"/>
          <p:nvPr/>
        </p:nvSpPr>
        <p:spPr>
          <a:xfrm>
            <a:off x="5989320" y="3401568"/>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バイヤーが要求する「売れる根拠」（LTV予測・炭素効率）も、AIが要求する「読める情報」（属性データ・エビデンス）も存在しない。営業が値引きに頼るのは怠慢ではなく合理 ― 他に出せる球がない。</a:t>
            </a:r>
          </a:p>
        </p:txBody>
      </p:sp>
      <p:sp>
        <p:nvSpPr>
          <p:cNvPr id="60" name="TextBox 59"/>
          <p:cNvSpPr txBox="1"/>
          <p:nvPr/>
        </p:nvSpPr>
        <p:spPr>
          <a:xfrm>
            <a:off x="5989320" y="4078224"/>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根拠：GAP1（データ未着手）・GAP3（値引き継続）。武器が供給された商談だけ提案の中身が変わる ― 供給の問題であって人の問題ではない</a:t>
            </a:r>
          </a:p>
        </p:txBody>
      </p:sp>
      <p:sp>
        <p:nvSpPr>
          <p:cNvPr id="61" name="Rectangle 60"/>
          <p:cNvSpPr/>
          <p:nvPr/>
        </p:nvSpPr>
        <p:spPr>
          <a:xfrm>
            <a:off x="5806440" y="4608576"/>
            <a:ext cx="6035040" cy="14813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806440" y="4608576"/>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989320" y="4663440"/>
            <a:ext cx="5760720" cy="274320"/>
          </a:xfrm>
          <a:prstGeom prst="rect">
            <a:avLst/>
          </a:prstGeom>
          <a:noFill/>
        </p:spPr>
        <p:txBody>
          <a:bodyPr wrap="square" lIns="0" tIns="0" rIns="0" bIns="0">
            <a:spAutoFit/>
          </a:bodyPr>
          <a:lstStyle/>
          <a:p>
            <a:pPr>
              <a:lnSpc>
                <a:spcPct val="112000"/>
              </a:lnSpc>
            </a:pPr>
            <a:r>
              <a:rPr sz="880" b="1">
                <a:solidFill>
                  <a:srgbClr val="008D2E"/>
                </a:solidFill>
                <a:latin typeface="Meiryo UI"/>
                <a:ea typeface="Meiryo UI"/>
              </a:rPr>
              <a:t>真因3 「回っていない」 ― 作る→試す→検証する→広げる、の回路がない</a:t>
            </a:r>
          </a:p>
        </p:txBody>
      </p:sp>
      <p:sp>
        <p:nvSpPr>
          <p:cNvPr id="64" name="TextBox 63"/>
          <p:cNvSpPr txBox="1"/>
          <p:nvPr/>
        </p:nvSpPr>
        <p:spPr>
          <a:xfrm>
            <a:off x="5989320" y="4974336"/>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sp>
        <p:nvSpPr>
          <p:cNvPr id="65" name="TextBox 64"/>
          <p:cNvSpPr txBox="1"/>
          <p:nvPr/>
        </p:nvSpPr>
        <p:spPr>
          <a:xfrm>
            <a:off x="5989320" y="5650992"/>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根拠：GAP3・4に加え、過去のツール導入が「入れたのに変わらない」で終わった事実。回路がなければ、決めても・持っても、成果は一度きりで消える</a:t>
            </a:r>
          </a:p>
        </p:txBody>
      </p:sp>
      <p:sp>
        <p:nvSpPr>
          <p:cNvPr id="66" name="Rectangle 65"/>
          <p:cNvSpPr/>
          <p:nvPr/>
        </p:nvSpPr>
        <p:spPr>
          <a:xfrm>
            <a:off x="320040" y="6126480"/>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57200" y="6163056"/>
            <a:ext cx="11292840" cy="347472"/>
          </a:xfrm>
          <a:prstGeom prst="rect">
            <a:avLst/>
          </a:prstGeom>
          <a:noFill/>
        </p:spPr>
        <p:txBody>
          <a:bodyPr wrap="square" lIns="0" tIns="0" rIns="0" bIns="0">
            <a:spAutoFit/>
          </a:bodyPr>
          <a:lstStyle/>
          <a:p>
            <a:pPr>
              <a:lnSpc>
                <a:spcPct val="112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3つが解ければ4つのギャップはすべて閉じる（表の●○が全行を被覆）。逆にどれか1つでも残せばギャップは再発する ― 決めずに武器だけ作れば迷走し、武器なしで回せば値引きに戻り、回さなければ一度きりで終わる。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真因と解決策 ―「決める・持つ・回す」に1対1で答える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解決策は真因の裏返しでなければ効かない。決める（経営の選択）→ 持つ（武器の供給）→ 回す（実行の回路）の3点セットで、以降のページすべてがこのどれかに属する</a:t>
            </a:r>
          </a:p>
        </p:txBody>
      </p:sp>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決めていない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「決める」 ― 3つの選択を明文化する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①主戦場：オーラル・衛生・OTCへ資源集中、洗剤等はROIC基準で段階判断　②データ路線：自前D2Cは追わず「小売連携×専門データ」の二階建て　③商談路線：値引き全廃ではなく「値引き70＋施策30＋成果連動」へ段階転換</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4つの変革テーマの背景（P.9）・施策①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8つの重点施策（P.10）
→ 5経営テーマへのMECE接続（P.11）</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出口：業務のBefore→After（P.12）
→ マイルストーンとゲート（P.13）・KGI/KPI（P.14）</a:t>
            </a:r>
          </a:p>
        </p:txBody>
      </p:sp>
      <p:sp>
        <p:nvSpPr>
          <p:cNvPr id="38" name="Rectangle 37"/>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「決める」は次回会議で即（お金はかからない）。「持つ」「回す」はFY26から並行で始め、確認ゲートで拡大する。以降のすべての施策は3つの真因のどれかに紐づく ― 紐づかない施策は、この計画ではやらない。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前頁の3つの解決（使い方・材料・仕組み）を4テーマの言葉に戻す ― 消耗戦から脱却し、小売のデータ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健康スコア」をクリアした自動補充のAI推奨リストに標準搭載される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8施策は真因2「持っていない」と真因3「回っていない」への答え（武器＝①〜⑥、回路＝⑦⑧）。何に張るか（真因1）は前々頁の「決める」に従う</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処方との対応：</a:t>
            </a:r>
            <a:r>
              <a:rPr sz="830" b="0">
                <a:solidFill>
                  <a:srgbClr val="262626"/>
                </a:solidFill>
                <a:latin typeface="Meiryo UI"/>
                <a:ea typeface="Meiryo UI"/>
              </a:rPr>
              <a:t>変換の工程＝⑤⑥／廃止→自動化＝⑦／計測＝②④／選ばれる基盤＝①③（以上、処方D）。⑧は処方B（場）と処方C（動機）を実装する施策。承認は処方A（作法）に従い、撤退基準・検証計画をセットで諮る ― 次頁で経営の問いに接続する。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28016"/>
            <a:ext cx="10972800" cy="32004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676656"/>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tIns="0" rIns="0" bIns="0">
            <a:spAutoFit/>
          </a:bodyPr>
          <a:lstStyle/>
          <a:p>
            <a:pPr>
              <a:lnSpc>
                <a:spcPct val="115000"/>
              </a:lnSpc>
            </a:pPr>
            <a:r>
              <a:rPr sz="1100" b="1">
                <a:solidFill>
                  <a:srgbClr val="262626"/>
                </a:solidFill>
                <a:latin typeface="Meiryo UI"/>
                <a:ea typeface="Meiryo UI"/>
              </a:rPr>
              <a:t>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252728"/>
            <a:ext cx="17190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21992" y="1252728"/>
            <a:ext cx="277063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0" y="1252728"/>
            <a:ext cx="30906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39328" y="1252728"/>
            <a:ext cx="130759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74936" y="1252728"/>
            <a:ext cx="203911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1609344"/>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31136" y="1600200"/>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GAP1（消耗戦）。日雑市場は数量▲10〜15%の構造縮小。国民皆歯科健診は政府方針（骨太2022）に明記済み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29784" y="1600200"/>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縮む数量市場でなく「拡がる予防・健康市場」へ重心移動。オーラルケアを4分割し、撤退はROIC基準で機械的に裁く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48472" y="1600200"/>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84080" y="1600200"/>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4048" y="2450592"/>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31136" y="2441448"/>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29784" y="2441448"/>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48472" y="2441448"/>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784080" y="2441448"/>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291840"/>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231136" y="3282696"/>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29784" y="3282696"/>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348472" y="3282696"/>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784080" y="3282696"/>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84048" y="4133087"/>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231136" y="4123944"/>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29784" y="4123944"/>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348472" y="4123944"/>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784080" y="4123944"/>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4048" y="4974336"/>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231136" y="4965192"/>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真因3（回路の不在）。生成AI普及は1年で約3倍〔総務省白書〕＝期限は自社で選べない。対P&amp;G生産性7.6倍差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129784" y="4965192"/>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348472" y="4965192"/>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784080" y="4965192"/>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57200" y="5824728"/>
            <a:ext cx="11292840" cy="475488"/>
          </a:xfrm>
          <a:prstGeom prst="rect">
            <a:avLst/>
          </a:prstGeom>
          <a:noFill/>
        </p:spPr>
        <p:txBody>
          <a:bodyPr wrap="square" lIns="0" tIns="0" r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976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3192" y="1892807"/>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3192" y="2880360"/>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3867911"/>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3192" y="4855464"/>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8192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45352" y="1892807"/>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45352" y="2880360"/>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45352" y="3867911"/>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45352" y="4855464"/>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998464"/>
            <a:ext cx="11292840" cy="438912"/>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86000" y="150876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231136"/>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0" y="2231136"/>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2953512"/>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86000" y="2953512"/>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3675888"/>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86000" y="3675888"/>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398264"/>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286000" y="4398264"/>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512064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86000" y="512064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888736"/>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69080" y="1481328"/>
            <a:ext cx="4023360" cy="411480"/>
          </a:xfrm>
          <a:prstGeom prst="rect">
            <a:avLst/>
          </a:prstGeom>
          <a:noFill/>
        </p:spPr>
        <p:txBody>
          <a:bodyPr wrap="square" lIns="0" tIns="0" r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48840" y="2130552"/>
            <a:ext cx="3566160" cy="274320"/>
          </a:xfrm>
          <a:prstGeom prst="rect">
            <a:avLst/>
          </a:prstGeom>
          <a:noFill/>
        </p:spPr>
        <p:txBody>
          <a:bodyPr wrap="square" lIns="0" tIns="0" r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130552"/>
            <a:ext cx="3566160" cy="274320"/>
          </a:xfrm>
          <a:prstGeom prst="rect">
            <a:avLst/>
          </a:prstGeom>
          <a:noFill/>
        </p:spPr>
        <p:txBody>
          <a:bodyPr wrap="square" lIns="0" tIns="0" r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4904" y="2551175"/>
            <a:ext cx="25420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044952" y="2551175"/>
            <a:ext cx="61996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72600" y="2551175"/>
            <a:ext cx="7132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13848" y="2551175"/>
            <a:ext cx="66751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4048" y="2880359"/>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054096" y="2880359"/>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72600" y="2953511"/>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13848" y="2953511"/>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84048" y="3410711"/>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054096" y="3410711"/>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72600" y="3483863"/>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213848" y="3483863"/>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941063"/>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54096" y="3941063"/>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372600" y="4014215"/>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213848" y="4014215"/>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4048" y="4471416"/>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054096" y="4471416"/>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372600" y="4544568"/>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213848" y="4544568"/>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84048" y="5001768"/>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054096" y="5001768"/>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72600" y="5074920"/>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213848" y="5074920"/>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84048" y="5532120"/>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054096" y="5532120"/>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372600" y="5605272"/>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213848" y="5605272"/>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57200" y="6099048"/>
            <a:ext cx="11292840" cy="384048"/>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91840" y="15087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1636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1945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91840" y="21945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835640" y="23225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28803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91840" y="28803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835640" y="30083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35661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0" y="35661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835640" y="36941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42519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91840" y="42519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835640" y="43799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49377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91840" y="49377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835640" y="5065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669279"/>
            <a:ext cx="11292840" cy="54864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3つの真因（決めていない・持っていない・回っていない）のうち、最初の一歩はお金のかからない「決める」。次回デジタル戦略会議では決めることを3つに絞って諮る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次回デジタル戦略会議で決めること（3つ）＝解決1「決める」の実行</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E018AC-90D3-A308-01BB-F9D051DEEABA}"/>
              </a:ext>
            </a:extLst>
          </p:cNvPr>
          <p:cNvSpPr>
            <a:spLocks noGrp="1"/>
          </p:cNvSpPr>
          <p:nvPr>
            <p:ph type="title"/>
          </p:nvPr>
        </p:nvSpPr>
        <p:spPr/>
        <p:txBody>
          <a:bodyPr/>
          <a:lstStyle/>
          <a:p>
            <a:r>
              <a:rPr kumimoji="1" lang="en-US" altLang="ja-JP" dirty="0"/>
              <a:t>GAP</a:t>
            </a:r>
            <a:r>
              <a:rPr kumimoji="1" lang="ja-JP" altLang="en-US" dirty="0"/>
              <a:t>から真因</a:t>
            </a:r>
          </a:p>
        </p:txBody>
      </p:sp>
      <p:sp>
        <p:nvSpPr>
          <p:cNvPr id="3" name="テキスト プレースホルダー 2">
            <a:extLst>
              <a:ext uri="{FF2B5EF4-FFF2-40B4-BE49-F238E27FC236}">
                <a16:creationId xmlns:a16="http://schemas.microsoft.com/office/drawing/2014/main" id="{0DCFACD0-4636-FA2C-39DF-93646077D1F0}"/>
              </a:ext>
            </a:extLst>
          </p:cNvPr>
          <p:cNvSpPr>
            <a:spLocks noGrp="1"/>
          </p:cNvSpPr>
          <p:nvPr>
            <p:ph type="body" sz="quarter" idx="13"/>
          </p:nvPr>
        </p:nvSpPr>
        <p:spPr/>
        <p:txBody>
          <a:bodyPr/>
          <a:lstStyle/>
          <a:p>
            <a:r>
              <a:rPr lang="ja-JP" altLang="en-US" sz="1800" dirty="0">
                <a:solidFill>
                  <a:srgbClr val="262626"/>
                </a:solidFill>
                <a:latin typeface="Meiryo UI"/>
                <a:ea typeface="Meiryo UI"/>
              </a:rPr>
              <a:t>既にオーラル最重点を決定済み、宣伝・販促の傾斜配分も実行済み</a:t>
            </a:r>
            <a:endParaRPr lang="en-US" altLang="ja-JP" sz="1800" dirty="0">
              <a:solidFill>
                <a:srgbClr val="262626"/>
              </a:solidFill>
              <a:latin typeface="Meiryo UI"/>
              <a:ea typeface="Meiryo UI"/>
            </a:endParaRPr>
          </a:p>
          <a:p>
            <a:r>
              <a:rPr lang="ja-JP" altLang="en-US" sz="1800" dirty="0">
                <a:solidFill>
                  <a:srgbClr val="262626"/>
                </a:solidFill>
                <a:latin typeface="Meiryo UI"/>
                <a:ea typeface="Meiryo UI"/>
              </a:rPr>
              <a:t>それでもギャップが残る原因は量（カネ・ヒト）ではなく質：「型・武器・回路」の</a:t>
            </a:r>
            <a:r>
              <a:rPr lang="en-US" altLang="ja-JP" sz="1800" dirty="0">
                <a:solidFill>
                  <a:srgbClr val="262626"/>
                </a:solidFill>
                <a:latin typeface="Meiryo UI"/>
                <a:ea typeface="Meiryo UI"/>
              </a:rPr>
              <a:t>3</a:t>
            </a:r>
            <a:r>
              <a:rPr lang="ja-JP" altLang="en-US" sz="1800" dirty="0">
                <a:solidFill>
                  <a:srgbClr val="262626"/>
                </a:solidFill>
                <a:latin typeface="Meiryo UI"/>
                <a:ea typeface="Meiryo UI"/>
              </a:rPr>
              <a:t>つ</a:t>
            </a:r>
            <a:endParaRPr kumimoji="1" lang="ja-JP" altLang="en-US" sz="1800" dirty="0"/>
          </a:p>
        </p:txBody>
      </p:sp>
      <p:sp>
        <p:nvSpPr>
          <p:cNvPr id="59" name="TextBox 66">
            <a:extLst>
              <a:ext uri="{FF2B5EF4-FFF2-40B4-BE49-F238E27FC236}">
                <a16:creationId xmlns:a16="http://schemas.microsoft.com/office/drawing/2014/main" id="{D0D8ED33-66A4-540B-B237-2051F9390AF5}"/>
              </a:ext>
            </a:extLst>
          </p:cNvPr>
          <p:cNvSpPr txBox="1"/>
          <p:nvPr/>
        </p:nvSpPr>
        <p:spPr>
          <a:xfrm>
            <a:off x="457200" y="5965298"/>
            <a:ext cx="11292840" cy="343427"/>
          </a:xfrm>
          <a:prstGeom prst="rect">
            <a:avLst/>
          </a:prstGeom>
          <a:solidFill>
            <a:schemeClr val="accent6">
              <a:lumMod val="20000"/>
              <a:lumOff val="80000"/>
            </a:schemeClr>
          </a:solidFill>
        </p:spPr>
        <p:txBody>
          <a:bodyPr wrap="square" lIns="0" tIns="0" rIns="0" bIns="0">
            <a:spAutoFit/>
          </a:bodyPr>
          <a:lstStyle/>
          <a:p>
            <a:pPr>
              <a:lnSpc>
                <a:spcPct val="112000"/>
              </a:lnSpc>
            </a:pPr>
            <a:r>
              <a:rPr lang="ja-JP" altLang="en-US" sz="1050" b="0" dirty="0">
                <a:solidFill>
                  <a:srgbClr val="262626"/>
                </a:solidFill>
                <a:latin typeface="Meiryo UI"/>
                <a:ea typeface="Meiryo UI"/>
              </a:rPr>
              <a:t>➡</a:t>
            </a:r>
            <a:r>
              <a:rPr sz="1050" b="0" dirty="0">
                <a:solidFill>
                  <a:srgbClr val="262626"/>
                </a:solidFill>
                <a:latin typeface="Meiryo UI"/>
                <a:ea typeface="Meiryo UI"/>
              </a:rPr>
              <a:t>3つが解ければ4つのギャップはすべて閉じる。逆にどれか1つでも残せば再発する ― 型がなければ増えた資源は従来のやり方を拡大再生産し、型があっても武器がなければ絵に描いた餅、武器があっても回さなければ一度きりで終わる。</a:t>
            </a:r>
          </a:p>
        </p:txBody>
      </p:sp>
      <p:grpSp>
        <p:nvGrpSpPr>
          <p:cNvPr id="65" name="グループ化 64">
            <a:extLst>
              <a:ext uri="{FF2B5EF4-FFF2-40B4-BE49-F238E27FC236}">
                <a16:creationId xmlns:a16="http://schemas.microsoft.com/office/drawing/2014/main" id="{0723DAF3-F357-813C-8A94-CA68CDE75BDD}"/>
              </a:ext>
            </a:extLst>
          </p:cNvPr>
          <p:cNvGrpSpPr/>
          <p:nvPr/>
        </p:nvGrpSpPr>
        <p:grpSpPr>
          <a:xfrm>
            <a:off x="320040" y="1963882"/>
            <a:ext cx="11521440" cy="3845284"/>
            <a:chOff x="320040" y="1963882"/>
            <a:chExt cx="11521440" cy="4213102"/>
          </a:xfrm>
        </p:grpSpPr>
        <p:sp>
          <p:nvSpPr>
            <p:cNvPr id="5" name="TextBox 12">
              <a:extLst>
                <a:ext uri="{FF2B5EF4-FFF2-40B4-BE49-F238E27FC236}">
                  <a16:creationId xmlns:a16="http://schemas.microsoft.com/office/drawing/2014/main" id="{6428E61E-00B5-F014-5B23-F84ADD7FF9C6}"/>
                </a:ext>
              </a:extLst>
            </p:cNvPr>
            <p:cNvSpPr txBox="1"/>
            <p:nvPr/>
          </p:nvSpPr>
          <p:spPr>
            <a:xfrm>
              <a:off x="3730752" y="2057454"/>
              <a:ext cx="2578608" cy="177869"/>
            </a:xfrm>
            <a:prstGeom prst="rect">
              <a:avLst/>
            </a:prstGeom>
            <a:noFill/>
          </p:spPr>
          <p:txBody>
            <a:bodyPr wrap="square" lIns="0" tIns="0" rIns="0" bIns="0">
              <a:spAutoFit/>
            </a:bodyPr>
            <a:lstStyle/>
            <a:p>
              <a:pPr>
                <a:lnSpc>
                  <a:spcPct val="118000"/>
                </a:lnSpc>
              </a:pPr>
              <a:r>
                <a:rPr sz="1100" b="1" dirty="0">
                  <a:solidFill>
                    <a:srgbClr val="262626"/>
                  </a:solidFill>
                  <a:latin typeface="Meiryo UI"/>
                  <a:ea typeface="Meiryo UI"/>
                </a:rPr>
                <a:t>― ●＝</a:t>
              </a:r>
              <a:r>
                <a:rPr sz="1100" b="1" dirty="0" err="1">
                  <a:solidFill>
                    <a:srgbClr val="262626"/>
                  </a:solidFill>
                  <a:latin typeface="Meiryo UI"/>
                  <a:ea typeface="Meiryo UI"/>
                </a:rPr>
                <a:t>主要因</a:t>
              </a:r>
              <a:r>
                <a:rPr sz="1100" b="1" dirty="0">
                  <a:solidFill>
                    <a:srgbClr val="262626"/>
                  </a:solidFill>
                  <a:latin typeface="Meiryo UI"/>
                  <a:ea typeface="Meiryo UI"/>
                </a:rPr>
                <a:t>、○＝</a:t>
              </a:r>
              <a:r>
                <a:rPr sz="1100" b="1" dirty="0" err="1">
                  <a:solidFill>
                    <a:srgbClr val="262626"/>
                  </a:solidFill>
                  <a:latin typeface="Meiryo UI"/>
                  <a:ea typeface="Meiryo UI"/>
                </a:rPr>
                <a:t>副次要因</a:t>
              </a:r>
              <a:endParaRPr sz="1100" b="1" dirty="0">
                <a:solidFill>
                  <a:srgbClr val="262626"/>
                </a:solidFill>
                <a:latin typeface="Meiryo UI"/>
                <a:ea typeface="Meiryo UI"/>
              </a:endParaRPr>
            </a:p>
          </p:txBody>
        </p:sp>
        <p:grpSp>
          <p:nvGrpSpPr>
            <p:cNvPr id="63" name="グループ化 62">
              <a:extLst>
                <a:ext uri="{FF2B5EF4-FFF2-40B4-BE49-F238E27FC236}">
                  <a16:creationId xmlns:a16="http://schemas.microsoft.com/office/drawing/2014/main" id="{0C8E0C9F-E89C-EA9A-90E2-AA11B2D768E4}"/>
                </a:ext>
              </a:extLst>
            </p:cNvPr>
            <p:cNvGrpSpPr/>
            <p:nvPr/>
          </p:nvGrpSpPr>
          <p:grpSpPr>
            <a:xfrm>
              <a:off x="320040" y="2431380"/>
              <a:ext cx="5285232" cy="3584956"/>
              <a:chOff x="320040" y="2431380"/>
              <a:chExt cx="5285232" cy="2368761"/>
            </a:xfrm>
          </p:grpSpPr>
          <p:sp>
            <p:nvSpPr>
              <p:cNvPr id="6" name="Rectangle 13">
                <a:extLst>
                  <a:ext uri="{FF2B5EF4-FFF2-40B4-BE49-F238E27FC236}">
                    <a16:creationId xmlns:a16="http://schemas.microsoft.com/office/drawing/2014/main" id="{0AA2A850-CE00-620E-E539-456ADAF85E09}"/>
                  </a:ext>
                </a:extLst>
              </p:cNvPr>
              <p:cNvSpPr/>
              <p:nvPr/>
            </p:nvSpPr>
            <p:spPr>
              <a:xfrm>
                <a:off x="320040" y="2431380"/>
                <a:ext cx="3566160" cy="251681"/>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7" name="TextBox 14">
                <a:extLst>
                  <a:ext uri="{FF2B5EF4-FFF2-40B4-BE49-F238E27FC236}">
                    <a16:creationId xmlns:a16="http://schemas.microsoft.com/office/drawing/2014/main" id="{C5CC152E-29C4-1932-12F0-B283C105C430}"/>
                  </a:ext>
                </a:extLst>
              </p:cNvPr>
              <p:cNvSpPr txBox="1"/>
              <p:nvPr/>
            </p:nvSpPr>
            <p:spPr>
              <a:xfrm>
                <a:off x="411480" y="2460990"/>
                <a:ext cx="3383280" cy="162480"/>
              </a:xfrm>
              <a:prstGeom prst="rect">
                <a:avLst/>
              </a:prstGeom>
              <a:noFill/>
            </p:spPr>
            <p:txBody>
              <a:bodyPr wrap="square" lIns="0" tIns="0" rIns="0" bIns="0">
                <a:spAutoFit/>
              </a:bodyPr>
              <a:lstStyle/>
              <a:p>
                <a:pPr>
                  <a:lnSpc>
                    <a:spcPct val="112000"/>
                  </a:lnSpc>
                </a:pPr>
                <a:r>
                  <a:rPr sz="1050" b="1">
                    <a:solidFill>
                      <a:srgbClr val="FFFFFF"/>
                    </a:solidFill>
                    <a:latin typeface="+mn-ea"/>
                  </a:rPr>
                  <a:t>ギャップ（前頁の要約）</a:t>
                </a:r>
              </a:p>
            </p:txBody>
          </p:sp>
          <p:sp>
            <p:nvSpPr>
              <p:cNvPr id="8" name="Rectangle 15">
                <a:extLst>
                  <a:ext uri="{FF2B5EF4-FFF2-40B4-BE49-F238E27FC236}">
                    <a16:creationId xmlns:a16="http://schemas.microsoft.com/office/drawing/2014/main" id="{51A7E736-2D3B-535F-D574-AE80D693BCEB}"/>
                  </a:ext>
                </a:extLst>
              </p:cNvPr>
              <p:cNvSpPr/>
              <p:nvPr/>
            </p:nvSpPr>
            <p:spPr>
              <a:xfrm>
                <a:off x="3922776" y="2431380"/>
                <a:ext cx="548640" cy="25168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9" name="TextBox 16">
                <a:extLst>
                  <a:ext uri="{FF2B5EF4-FFF2-40B4-BE49-F238E27FC236}">
                    <a16:creationId xmlns:a16="http://schemas.microsoft.com/office/drawing/2014/main" id="{3766E181-0334-339F-083B-7817CBD53100}"/>
                  </a:ext>
                </a:extLst>
              </p:cNvPr>
              <p:cNvSpPr txBox="1"/>
              <p:nvPr/>
            </p:nvSpPr>
            <p:spPr>
              <a:xfrm>
                <a:off x="3941063"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真因1
型</a:t>
                </a:r>
              </a:p>
            </p:txBody>
          </p:sp>
          <p:sp>
            <p:nvSpPr>
              <p:cNvPr id="10" name="Rectangle 17">
                <a:extLst>
                  <a:ext uri="{FF2B5EF4-FFF2-40B4-BE49-F238E27FC236}">
                    <a16:creationId xmlns:a16="http://schemas.microsoft.com/office/drawing/2014/main" id="{F7506083-E132-940E-0275-EBC0641204FC}"/>
                  </a:ext>
                </a:extLst>
              </p:cNvPr>
              <p:cNvSpPr/>
              <p:nvPr/>
            </p:nvSpPr>
            <p:spPr>
              <a:xfrm>
                <a:off x="4489704" y="2431380"/>
                <a:ext cx="548640" cy="251681"/>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1" name="TextBox 18">
                <a:extLst>
                  <a:ext uri="{FF2B5EF4-FFF2-40B4-BE49-F238E27FC236}">
                    <a16:creationId xmlns:a16="http://schemas.microsoft.com/office/drawing/2014/main" id="{DBCA0DC7-72BD-5FD3-6C50-40F2BF8E6E1E}"/>
                  </a:ext>
                </a:extLst>
              </p:cNvPr>
              <p:cNvSpPr txBox="1"/>
              <p:nvPr/>
            </p:nvSpPr>
            <p:spPr>
              <a:xfrm>
                <a:off x="4507992"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真因2
武器</a:t>
                </a:r>
              </a:p>
            </p:txBody>
          </p:sp>
          <p:sp>
            <p:nvSpPr>
              <p:cNvPr id="12" name="Rectangle 19">
                <a:extLst>
                  <a:ext uri="{FF2B5EF4-FFF2-40B4-BE49-F238E27FC236}">
                    <a16:creationId xmlns:a16="http://schemas.microsoft.com/office/drawing/2014/main" id="{803FE5AB-5DD0-D855-413C-0E0C4FBC3763}"/>
                  </a:ext>
                </a:extLst>
              </p:cNvPr>
              <p:cNvSpPr/>
              <p:nvPr/>
            </p:nvSpPr>
            <p:spPr>
              <a:xfrm>
                <a:off x="5056632" y="2431380"/>
                <a:ext cx="548640" cy="251681"/>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3" name="TextBox 20">
                <a:extLst>
                  <a:ext uri="{FF2B5EF4-FFF2-40B4-BE49-F238E27FC236}">
                    <a16:creationId xmlns:a16="http://schemas.microsoft.com/office/drawing/2014/main" id="{6AB203D3-84F0-E3CE-0A79-2C09B03C40D8}"/>
                  </a:ext>
                </a:extLst>
              </p:cNvPr>
              <p:cNvSpPr txBox="1"/>
              <p:nvPr/>
            </p:nvSpPr>
            <p:spPr>
              <a:xfrm>
                <a:off x="5074920"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真因3
回路</a:t>
                </a:r>
              </a:p>
            </p:txBody>
          </p:sp>
          <p:sp>
            <p:nvSpPr>
              <p:cNvPr id="14" name="Rectangle 21">
                <a:extLst>
                  <a:ext uri="{FF2B5EF4-FFF2-40B4-BE49-F238E27FC236}">
                    <a16:creationId xmlns:a16="http://schemas.microsoft.com/office/drawing/2014/main" id="{FE39C56C-2926-1C1D-87FA-6118A01A21E9}"/>
                  </a:ext>
                </a:extLst>
              </p:cNvPr>
              <p:cNvSpPr/>
              <p:nvPr/>
            </p:nvSpPr>
            <p:spPr>
              <a:xfrm>
                <a:off x="320040" y="2712671"/>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5" name="TextBox 22">
                <a:extLst>
                  <a:ext uri="{FF2B5EF4-FFF2-40B4-BE49-F238E27FC236}">
                    <a16:creationId xmlns:a16="http://schemas.microsoft.com/office/drawing/2014/main" id="{DB30D06C-3265-EA5D-8F78-B1BE7BA2C907}"/>
                  </a:ext>
                </a:extLst>
              </p:cNvPr>
              <p:cNvSpPr txBox="1"/>
              <p:nvPr/>
            </p:nvSpPr>
            <p:spPr>
              <a:xfrm>
                <a:off x="411480" y="2742280"/>
                <a:ext cx="3401568" cy="323678"/>
              </a:xfrm>
              <a:prstGeom prst="rect">
                <a:avLst/>
              </a:prstGeom>
              <a:noFill/>
            </p:spPr>
            <p:txBody>
              <a:bodyPr wrap="square" lIns="0" tIns="0" rIns="0" bIns="0">
                <a:spAutoFit/>
              </a:bodyPr>
              <a:lstStyle/>
              <a:p>
                <a:pPr>
                  <a:lnSpc>
                    <a:spcPct val="105000"/>
                  </a:lnSpc>
                </a:pPr>
                <a:r>
                  <a:rPr sz="1050" b="0" dirty="0">
                    <a:solidFill>
                      <a:srgbClr val="262626"/>
                    </a:solidFill>
                    <a:latin typeface="+mn-ea"/>
                  </a:rPr>
                  <a:t>GAP1 </a:t>
                </a:r>
                <a:r>
                  <a:rPr sz="1050" b="0" dirty="0" err="1">
                    <a:solidFill>
                      <a:srgbClr val="262626"/>
                    </a:solidFill>
                    <a:latin typeface="+mn-ea"/>
                  </a:rPr>
                  <a:t>洗剤消耗戦から脱却できず、属性データの構造化・API化に未着手</a:t>
                </a:r>
                <a:endParaRPr sz="1050" b="0" dirty="0">
                  <a:solidFill>
                    <a:srgbClr val="262626"/>
                  </a:solidFill>
                  <a:latin typeface="+mn-ea"/>
                </a:endParaRPr>
              </a:p>
            </p:txBody>
          </p:sp>
          <p:sp>
            <p:nvSpPr>
              <p:cNvPr id="16" name="Rectangle 23">
                <a:extLst>
                  <a:ext uri="{FF2B5EF4-FFF2-40B4-BE49-F238E27FC236}">
                    <a16:creationId xmlns:a16="http://schemas.microsoft.com/office/drawing/2014/main" id="{03A2EF96-8EFA-5277-35F4-71D3322BC8BD}"/>
                  </a:ext>
                </a:extLst>
              </p:cNvPr>
              <p:cNvSpPr/>
              <p:nvPr/>
            </p:nvSpPr>
            <p:spPr>
              <a:xfrm>
                <a:off x="3922776"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7" name="TextBox 24">
                <a:extLst>
                  <a:ext uri="{FF2B5EF4-FFF2-40B4-BE49-F238E27FC236}">
                    <a16:creationId xmlns:a16="http://schemas.microsoft.com/office/drawing/2014/main" id="{E00AE3EF-ED27-D00F-F3CA-FEC72E2897C4}"/>
                  </a:ext>
                </a:extLst>
              </p:cNvPr>
              <p:cNvSpPr txBox="1"/>
              <p:nvPr/>
            </p:nvSpPr>
            <p:spPr>
              <a:xfrm>
                <a:off x="3922776" y="2823706"/>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18" name="Rectangle 25">
                <a:extLst>
                  <a:ext uri="{FF2B5EF4-FFF2-40B4-BE49-F238E27FC236}">
                    <a16:creationId xmlns:a16="http://schemas.microsoft.com/office/drawing/2014/main" id="{BEE416C6-D8F9-30A1-D998-9E18441CB1FF}"/>
                  </a:ext>
                </a:extLst>
              </p:cNvPr>
              <p:cNvSpPr/>
              <p:nvPr/>
            </p:nvSpPr>
            <p:spPr>
              <a:xfrm>
                <a:off x="4489704"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9" name="TextBox 26">
                <a:extLst>
                  <a:ext uri="{FF2B5EF4-FFF2-40B4-BE49-F238E27FC236}">
                    <a16:creationId xmlns:a16="http://schemas.microsoft.com/office/drawing/2014/main" id="{EF82B8BB-F84B-52E2-48DD-EE122557B804}"/>
                  </a:ext>
                </a:extLst>
              </p:cNvPr>
              <p:cNvSpPr txBox="1"/>
              <p:nvPr/>
            </p:nvSpPr>
            <p:spPr>
              <a:xfrm>
                <a:off x="4489704" y="2823706"/>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20" name="Rectangle 27">
                <a:extLst>
                  <a:ext uri="{FF2B5EF4-FFF2-40B4-BE49-F238E27FC236}">
                    <a16:creationId xmlns:a16="http://schemas.microsoft.com/office/drawing/2014/main" id="{B0008E4A-925B-8D97-1CB9-ACE561788144}"/>
                  </a:ext>
                </a:extLst>
              </p:cNvPr>
              <p:cNvSpPr/>
              <p:nvPr/>
            </p:nvSpPr>
            <p:spPr>
              <a:xfrm>
                <a:off x="5056632"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1" name="Rectangle 28">
                <a:extLst>
                  <a:ext uri="{FF2B5EF4-FFF2-40B4-BE49-F238E27FC236}">
                    <a16:creationId xmlns:a16="http://schemas.microsoft.com/office/drawing/2014/main" id="{08997F39-DD7B-3463-45C9-0D0AA6FA131D}"/>
                  </a:ext>
                </a:extLst>
              </p:cNvPr>
              <p:cNvSpPr/>
              <p:nvPr/>
            </p:nvSpPr>
            <p:spPr>
              <a:xfrm>
                <a:off x="320040" y="3245642"/>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2" name="TextBox 29">
                <a:extLst>
                  <a:ext uri="{FF2B5EF4-FFF2-40B4-BE49-F238E27FC236}">
                    <a16:creationId xmlns:a16="http://schemas.microsoft.com/office/drawing/2014/main" id="{C111A0A4-6BC6-3745-3961-3B8A3223A449}"/>
                  </a:ext>
                </a:extLst>
              </p:cNvPr>
              <p:cNvSpPr txBox="1"/>
              <p:nvPr/>
            </p:nvSpPr>
            <p:spPr>
              <a:xfrm>
                <a:off x="411480" y="3275252"/>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GAP2 自前D2Cか小売依存かの二極化に陥り、路線を選べていない</a:t>
                </a:r>
              </a:p>
            </p:txBody>
          </p:sp>
          <p:sp>
            <p:nvSpPr>
              <p:cNvPr id="23" name="Rectangle 30">
                <a:extLst>
                  <a:ext uri="{FF2B5EF4-FFF2-40B4-BE49-F238E27FC236}">
                    <a16:creationId xmlns:a16="http://schemas.microsoft.com/office/drawing/2014/main" id="{23A1141F-94C8-7882-C5FD-CA1774A21873}"/>
                  </a:ext>
                </a:extLst>
              </p:cNvPr>
              <p:cNvSpPr/>
              <p:nvPr/>
            </p:nvSpPr>
            <p:spPr>
              <a:xfrm>
                <a:off x="3922776"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4" name="TextBox 31">
                <a:extLst>
                  <a:ext uri="{FF2B5EF4-FFF2-40B4-BE49-F238E27FC236}">
                    <a16:creationId xmlns:a16="http://schemas.microsoft.com/office/drawing/2014/main" id="{6BB9FC92-7629-4C7E-097F-931AC5D3F4AE}"/>
                  </a:ext>
                </a:extLst>
              </p:cNvPr>
              <p:cNvSpPr txBox="1"/>
              <p:nvPr/>
            </p:nvSpPr>
            <p:spPr>
              <a:xfrm>
                <a:off x="3922776" y="3356678"/>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25" name="Rectangle 32">
                <a:extLst>
                  <a:ext uri="{FF2B5EF4-FFF2-40B4-BE49-F238E27FC236}">
                    <a16:creationId xmlns:a16="http://schemas.microsoft.com/office/drawing/2014/main" id="{9B4E9D25-B742-ABDA-9518-6B59B7584E4A}"/>
                  </a:ext>
                </a:extLst>
              </p:cNvPr>
              <p:cNvSpPr/>
              <p:nvPr/>
            </p:nvSpPr>
            <p:spPr>
              <a:xfrm>
                <a:off x="4489704"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6" name="Rectangle 33">
                <a:extLst>
                  <a:ext uri="{FF2B5EF4-FFF2-40B4-BE49-F238E27FC236}">
                    <a16:creationId xmlns:a16="http://schemas.microsoft.com/office/drawing/2014/main" id="{B079360A-B983-C1C1-5C4F-597D69209430}"/>
                  </a:ext>
                </a:extLst>
              </p:cNvPr>
              <p:cNvSpPr/>
              <p:nvPr/>
            </p:nvSpPr>
            <p:spPr>
              <a:xfrm>
                <a:off x="5056632"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7" name="TextBox 34">
                <a:extLst>
                  <a:ext uri="{FF2B5EF4-FFF2-40B4-BE49-F238E27FC236}">
                    <a16:creationId xmlns:a16="http://schemas.microsoft.com/office/drawing/2014/main" id="{5031097F-5F74-7828-D020-97FF79B9744D}"/>
                  </a:ext>
                </a:extLst>
              </p:cNvPr>
              <p:cNvSpPr txBox="1"/>
              <p:nvPr/>
            </p:nvSpPr>
            <p:spPr>
              <a:xfrm>
                <a:off x="5056632" y="3356678"/>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28" name="Rectangle 35">
                <a:extLst>
                  <a:ext uri="{FF2B5EF4-FFF2-40B4-BE49-F238E27FC236}">
                    <a16:creationId xmlns:a16="http://schemas.microsoft.com/office/drawing/2014/main" id="{45A5985D-BF0A-D89F-C1A8-2AF14DA41BC0}"/>
                  </a:ext>
                </a:extLst>
              </p:cNvPr>
              <p:cNvSpPr/>
              <p:nvPr/>
            </p:nvSpPr>
            <p:spPr>
              <a:xfrm>
                <a:off x="320040" y="3778613"/>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9" name="TextBox 36">
                <a:extLst>
                  <a:ext uri="{FF2B5EF4-FFF2-40B4-BE49-F238E27FC236}">
                    <a16:creationId xmlns:a16="http://schemas.microsoft.com/office/drawing/2014/main" id="{203A822C-AFEC-10E5-EE59-88FFF0E6C810}"/>
                  </a:ext>
                </a:extLst>
              </p:cNvPr>
              <p:cNvSpPr txBox="1"/>
              <p:nvPr/>
            </p:nvSpPr>
            <p:spPr>
              <a:xfrm>
                <a:off x="411480" y="380822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GAP3 バイヤーが欲するLTV・炭素効率の予測でなく、値引き提案が続く</a:t>
                </a:r>
              </a:p>
            </p:txBody>
          </p:sp>
          <p:sp>
            <p:nvSpPr>
              <p:cNvPr id="30" name="Rectangle 37">
                <a:extLst>
                  <a:ext uri="{FF2B5EF4-FFF2-40B4-BE49-F238E27FC236}">
                    <a16:creationId xmlns:a16="http://schemas.microsoft.com/office/drawing/2014/main" id="{DE309181-D627-F5A5-65CA-8E12F33C0199}"/>
                  </a:ext>
                </a:extLst>
              </p:cNvPr>
              <p:cNvSpPr/>
              <p:nvPr/>
            </p:nvSpPr>
            <p:spPr>
              <a:xfrm>
                <a:off x="3922776"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1" name="TextBox 38">
                <a:extLst>
                  <a:ext uri="{FF2B5EF4-FFF2-40B4-BE49-F238E27FC236}">
                    <a16:creationId xmlns:a16="http://schemas.microsoft.com/office/drawing/2014/main" id="{22656355-028B-FA6D-926D-42FFD875D3AD}"/>
                  </a:ext>
                </a:extLst>
              </p:cNvPr>
              <p:cNvSpPr txBox="1"/>
              <p:nvPr/>
            </p:nvSpPr>
            <p:spPr>
              <a:xfrm>
                <a:off x="3922776" y="3889649"/>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32" name="Rectangle 39">
                <a:extLst>
                  <a:ext uri="{FF2B5EF4-FFF2-40B4-BE49-F238E27FC236}">
                    <a16:creationId xmlns:a16="http://schemas.microsoft.com/office/drawing/2014/main" id="{159E2FC0-1884-5DE2-3806-D1593BD84D75}"/>
                  </a:ext>
                </a:extLst>
              </p:cNvPr>
              <p:cNvSpPr/>
              <p:nvPr/>
            </p:nvSpPr>
            <p:spPr>
              <a:xfrm>
                <a:off x="4489704"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3" name="TextBox 40">
                <a:extLst>
                  <a:ext uri="{FF2B5EF4-FFF2-40B4-BE49-F238E27FC236}">
                    <a16:creationId xmlns:a16="http://schemas.microsoft.com/office/drawing/2014/main" id="{393E8492-21E3-01D2-1DA8-54CEDD2311A0}"/>
                  </a:ext>
                </a:extLst>
              </p:cNvPr>
              <p:cNvSpPr txBox="1"/>
              <p:nvPr/>
            </p:nvSpPr>
            <p:spPr>
              <a:xfrm>
                <a:off x="4489704" y="3889649"/>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34" name="Rectangle 41">
                <a:extLst>
                  <a:ext uri="{FF2B5EF4-FFF2-40B4-BE49-F238E27FC236}">
                    <a16:creationId xmlns:a16="http://schemas.microsoft.com/office/drawing/2014/main" id="{1B231E81-86CD-A205-B88B-93E55E352413}"/>
                  </a:ext>
                </a:extLst>
              </p:cNvPr>
              <p:cNvSpPr/>
              <p:nvPr/>
            </p:nvSpPr>
            <p:spPr>
              <a:xfrm>
                <a:off x="5056632"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5" name="TextBox 42">
                <a:extLst>
                  <a:ext uri="{FF2B5EF4-FFF2-40B4-BE49-F238E27FC236}">
                    <a16:creationId xmlns:a16="http://schemas.microsoft.com/office/drawing/2014/main" id="{86DE14A2-5627-E91F-B2B9-4826C9648F3C}"/>
                  </a:ext>
                </a:extLst>
              </p:cNvPr>
              <p:cNvSpPr txBox="1"/>
              <p:nvPr/>
            </p:nvSpPr>
            <p:spPr>
              <a:xfrm>
                <a:off x="5056632" y="3889649"/>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36" name="Rectangle 43">
                <a:extLst>
                  <a:ext uri="{FF2B5EF4-FFF2-40B4-BE49-F238E27FC236}">
                    <a16:creationId xmlns:a16="http://schemas.microsoft.com/office/drawing/2014/main" id="{8CA9D0FD-EEF8-7F19-A3E0-C9EF924A450D}"/>
                  </a:ext>
                </a:extLst>
              </p:cNvPr>
              <p:cNvSpPr/>
              <p:nvPr/>
            </p:nvSpPr>
            <p:spPr>
              <a:xfrm>
                <a:off x="320040" y="4311584"/>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7" name="TextBox 44">
                <a:extLst>
                  <a:ext uri="{FF2B5EF4-FFF2-40B4-BE49-F238E27FC236}">
                    <a16:creationId xmlns:a16="http://schemas.microsoft.com/office/drawing/2014/main" id="{9B5B8EDB-CC42-EEB7-2EE8-38AA46EAA2FB}"/>
                  </a:ext>
                </a:extLst>
              </p:cNvPr>
              <p:cNvSpPr txBox="1"/>
              <p:nvPr/>
            </p:nvSpPr>
            <p:spPr>
              <a:xfrm>
                <a:off x="411480" y="434119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GAP4 小売の構造課題に組織総力戦で当たれず、属人的関係に依存</a:t>
                </a:r>
              </a:p>
            </p:txBody>
          </p:sp>
          <p:sp>
            <p:nvSpPr>
              <p:cNvPr id="38" name="Rectangle 45">
                <a:extLst>
                  <a:ext uri="{FF2B5EF4-FFF2-40B4-BE49-F238E27FC236}">
                    <a16:creationId xmlns:a16="http://schemas.microsoft.com/office/drawing/2014/main" id="{065B899E-9FC0-A675-1055-37BB7B119B6E}"/>
                  </a:ext>
                </a:extLst>
              </p:cNvPr>
              <p:cNvSpPr/>
              <p:nvPr/>
            </p:nvSpPr>
            <p:spPr>
              <a:xfrm>
                <a:off x="3922776"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9" name="Rectangle 46">
                <a:extLst>
                  <a:ext uri="{FF2B5EF4-FFF2-40B4-BE49-F238E27FC236}">
                    <a16:creationId xmlns:a16="http://schemas.microsoft.com/office/drawing/2014/main" id="{2F6C0F3E-9331-3B56-8601-C5EACA459188}"/>
                  </a:ext>
                </a:extLst>
              </p:cNvPr>
              <p:cNvSpPr/>
              <p:nvPr/>
            </p:nvSpPr>
            <p:spPr>
              <a:xfrm>
                <a:off x="4489704"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0" name="TextBox 47">
                <a:extLst>
                  <a:ext uri="{FF2B5EF4-FFF2-40B4-BE49-F238E27FC236}">
                    <a16:creationId xmlns:a16="http://schemas.microsoft.com/office/drawing/2014/main" id="{6E0EC7C5-642C-E68F-0DA1-E6072E4A443B}"/>
                  </a:ext>
                </a:extLst>
              </p:cNvPr>
              <p:cNvSpPr txBox="1"/>
              <p:nvPr/>
            </p:nvSpPr>
            <p:spPr>
              <a:xfrm>
                <a:off x="4489704" y="4422620"/>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41" name="Rectangle 48">
                <a:extLst>
                  <a:ext uri="{FF2B5EF4-FFF2-40B4-BE49-F238E27FC236}">
                    <a16:creationId xmlns:a16="http://schemas.microsoft.com/office/drawing/2014/main" id="{9BC4E27D-1E20-F0B1-91F3-08C157E0E3F5}"/>
                  </a:ext>
                </a:extLst>
              </p:cNvPr>
              <p:cNvSpPr/>
              <p:nvPr/>
            </p:nvSpPr>
            <p:spPr>
              <a:xfrm>
                <a:off x="5056632"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2" name="TextBox 49">
                <a:extLst>
                  <a:ext uri="{FF2B5EF4-FFF2-40B4-BE49-F238E27FC236}">
                    <a16:creationId xmlns:a16="http://schemas.microsoft.com/office/drawing/2014/main" id="{28F1FAF4-785C-9C1B-F83A-DAD7E0865023}"/>
                  </a:ext>
                </a:extLst>
              </p:cNvPr>
              <p:cNvSpPr txBox="1"/>
              <p:nvPr/>
            </p:nvSpPr>
            <p:spPr>
              <a:xfrm>
                <a:off x="5056632" y="4422620"/>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grpSp>
        <p:grpSp>
          <p:nvGrpSpPr>
            <p:cNvPr id="64" name="グループ化 63">
              <a:extLst>
                <a:ext uri="{FF2B5EF4-FFF2-40B4-BE49-F238E27FC236}">
                  <a16:creationId xmlns:a16="http://schemas.microsoft.com/office/drawing/2014/main" id="{A1099A48-F654-069E-7222-A6AAE4FCB296}"/>
                </a:ext>
              </a:extLst>
            </p:cNvPr>
            <p:cNvGrpSpPr/>
            <p:nvPr/>
          </p:nvGrpSpPr>
          <p:grpSpPr>
            <a:xfrm>
              <a:off x="5806440" y="1984664"/>
              <a:ext cx="6035040" cy="4192320"/>
              <a:chOff x="5806440" y="2431380"/>
              <a:chExt cx="6035040" cy="3745604"/>
            </a:xfrm>
          </p:grpSpPr>
          <p:sp>
            <p:nvSpPr>
              <p:cNvPr id="43" name="Rectangle 50">
                <a:extLst>
                  <a:ext uri="{FF2B5EF4-FFF2-40B4-BE49-F238E27FC236}">
                    <a16:creationId xmlns:a16="http://schemas.microsoft.com/office/drawing/2014/main" id="{39C75713-0148-BFC2-1BC1-90459AF59AF2}"/>
                  </a:ext>
                </a:extLst>
              </p:cNvPr>
              <p:cNvSpPr/>
              <p:nvPr/>
            </p:nvSpPr>
            <p:spPr>
              <a:xfrm>
                <a:off x="5806440" y="2431380"/>
                <a:ext cx="6035040" cy="1199185"/>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4" name="Rectangle 51">
                <a:extLst>
                  <a:ext uri="{FF2B5EF4-FFF2-40B4-BE49-F238E27FC236}">
                    <a16:creationId xmlns:a16="http://schemas.microsoft.com/office/drawing/2014/main" id="{F626094D-5DAC-D701-18F3-CE3ABF1750E5}"/>
                  </a:ext>
                </a:extLst>
              </p:cNvPr>
              <p:cNvSpPr/>
              <p:nvPr/>
            </p:nvSpPr>
            <p:spPr>
              <a:xfrm>
                <a:off x="5806440" y="2431380"/>
                <a:ext cx="82296" cy="119918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5" name="TextBox 52">
                <a:extLst>
                  <a:ext uri="{FF2B5EF4-FFF2-40B4-BE49-F238E27FC236}">
                    <a16:creationId xmlns:a16="http://schemas.microsoft.com/office/drawing/2014/main" id="{10FA65C0-45D2-FEA6-FF42-6C9D09233B85}"/>
                  </a:ext>
                </a:extLst>
              </p:cNvPr>
              <p:cNvSpPr txBox="1"/>
              <p:nvPr/>
            </p:nvSpPr>
            <p:spPr>
              <a:xfrm>
                <a:off x="5989320" y="2475795"/>
                <a:ext cx="5760720" cy="170239"/>
              </a:xfrm>
              <a:prstGeom prst="rect">
                <a:avLst/>
              </a:prstGeom>
              <a:noFill/>
            </p:spPr>
            <p:txBody>
              <a:bodyPr wrap="square" lIns="0" tIns="0" rIns="0" bIns="0">
                <a:spAutoFit/>
              </a:bodyPr>
              <a:lstStyle/>
              <a:p>
                <a:pPr>
                  <a:lnSpc>
                    <a:spcPct val="112000"/>
                  </a:lnSpc>
                </a:pPr>
                <a:r>
                  <a:rPr sz="1100" b="1">
                    <a:solidFill>
                      <a:srgbClr val="C8102E"/>
                    </a:solidFill>
                    <a:latin typeface="Meiryo UI"/>
                    <a:ea typeface="Meiryo UI"/>
                  </a:rPr>
                  <a:t>真因1 「型が定まっていない」 ― 増えた資源が、従来の勝ちパターンで使われている</a:t>
                </a:r>
              </a:p>
            </p:txBody>
          </p:sp>
          <p:sp>
            <p:nvSpPr>
              <p:cNvPr id="46" name="TextBox 53">
                <a:extLst>
                  <a:ext uri="{FF2B5EF4-FFF2-40B4-BE49-F238E27FC236}">
                    <a16:creationId xmlns:a16="http://schemas.microsoft.com/office/drawing/2014/main" id="{A821B364-F112-7D09-82AF-991B03997358}"/>
                  </a:ext>
                </a:extLst>
              </p:cNvPr>
              <p:cNvSpPr txBox="1"/>
              <p:nvPr/>
            </p:nvSpPr>
            <p:spPr>
              <a:xfrm>
                <a:off x="5989320" y="2727475"/>
                <a:ext cx="5760720" cy="660298"/>
              </a:xfrm>
              <a:prstGeom prst="rect">
                <a:avLst/>
              </a:prstGeom>
              <a:noFill/>
            </p:spPr>
            <p:txBody>
              <a:bodyPr wrap="square" lIns="0" tIns="0" rIns="0" bIns="0">
                <a:spAutoFit/>
              </a:bodyPr>
              <a:lstStyle/>
              <a:p>
                <a:pPr>
                  <a:lnSpc>
                    <a:spcPct val="112000"/>
                  </a:lnSpc>
                </a:pPr>
                <a:r>
                  <a:rPr lang="en-US" altLang="ja-JP" sz="1100" b="0" dirty="0">
                    <a:solidFill>
                      <a:srgbClr val="262626"/>
                    </a:solidFill>
                    <a:latin typeface="Meiryo UI"/>
                    <a:ea typeface="Meiryo UI"/>
                  </a:rPr>
                  <a:t>OHC</a:t>
                </a:r>
                <a:r>
                  <a:rPr lang="ja-JP" altLang="en-US" sz="1100" b="0" dirty="0">
                    <a:solidFill>
                      <a:srgbClr val="262626"/>
                    </a:solidFill>
                    <a:latin typeface="Meiryo UI"/>
                    <a:ea typeface="Meiryo UI"/>
                  </a:rPr>
                  <a:t>注力</a:t>
                </a:r>
                <a:r>
                  <a:rPr lang="ja-JP" altLang="en-US" sz="1100" dirty="0">
                    <a:solidFill>
                      <a:srgbClr val="262626"/>
                    </a:solidFill>
                    <a:latin typeface="Meiryo UI"/>
                    <a:ea typeface="Meiryo UI"/>
                  </a:rPr>
                  <a:t>の意思決定</a:t>
                </a:r>
                <a:r>
                  <a:rPr sz="1100" b="0" dirty="0" err="1">
                    <a:solidFill>
                      <a:srgbClr val="262626"/>
                    </a:solidFill>
                    <a:latin typeface="Meiryo UI"/>
                    <a:ea typeface="Meiryo UI"/>
                  </a:rPr>
                  <a:t>も配分の傾斜も</a:t>
                </a:r>
                <a:r>
                  <a:rPr lang="ja-JP" altLang="en-US" sz="1100" b="0" dirty="0">
                    <a:solidFill>
                      <a:srgbClr val="262626"/>
                    </a:solidFill>
                    <a:latin typeface="Meiryo UI"/>
                    <a:ea typeface="Meiryo UI"/>
                  </a:rPr>
                  <a:t>行っている</a:t>
                </a:r>
                <a:r>
                  <a:rPr sz="1100" b="0" dirty="0">
                    <a:solidFill>
                      <a:srgbClr val="262626"/>
                    </a:solidFill>
                    <a:latin typeface="Meiryo UI"/>
                    <a:ea typeface="Meiryo UI"/>
                  </a:rPr>
                  <a:t>。</a:t>
                </a:r>
                <a:r>
                  <a:rPr sz="1100" b="0" dirty="0" err="1">
                    <a:solidFill>
                      <a:srgbClr val="262626"/>
                    </a:solidFill>
                    <a:latin typeface="Meiryo UI"/>
                    <a:ea typeface="Meiryo UI"/>
                  </a:rPr>
                  <a:t>しかし傾斜した宣伝・販促費の「使い方」は従来の勝ちパターン</a:t>
                </a:r>
                <a:r>
                  <a:rPr lang="ja-JP" altLang="en-US" sz="1100" dirty="0">
                    <a:solidFill>
                      <a:srgbClr val="262626"/>
                    </a:solidFill>
                    <a:latin typeface="Meiryo UI"/>
                    <a:ea typeface="Meiryo UI"/>
                  </a:rPr>
                  <a:t>（</a:t>
                </a:r>
                <a:r>
                  <a:rPr sz="1100" b="0" dirty="0" err="1">
                    <a:solidFill>
                      <a:srgbClr val="262626"/>
                    </a:solidFill>
                    <a:latin typeface="Meiryo UI"/>
                    <a:ea typeface="Meiryo UI"/>
                  </a:rPr>
                  <a:t>マス認知×棚×特売・値引き</a:t>
                </a:r>
                <a:r>
                  <a:rPr lang="ja-JP" altLang="en-US" sz="1100" b="0" dirty="0">
                    <a:solidFill>
                      <a:srgbClr val="262626"/>
                    </a:solidFill>
                    <a:latin typeface="Meiryo UI"/>
                    <a:ea typeface="Meiryo UI"/>
                  </a:rPr>
                  <a:t>）</a:t>
                </a:r>
                <a:r>
                  <a:rPr lang="ja-JP" altLang="en-US" sz="1100" dirty="0">
                    <a:solidFill>
                      <a:srgbClr val="262626"/>
                    </a:solidFill>
                    <a:latin typeface="Meiryo UI"/>
                    <a:ea typeface="Meiryo UI"/>
                  </a:rPr>
                  <a:t>が多く</a:t>
                </a:r>
                <a:r>
                  <a:rPr sz="1100" b="0" dirty="0" err="1">
                    <a:solidFill>
                      <a:srgbClr val="262626"/>
                    </a:solidFill>
                    <a:latin typeface="Meiryo UI"/>
                    <a:ea typeface="Meiryo UI"/>
                  </a:rPr>
                  <a:t>AI・データ時代の新しい勝ち方（エビデンス商談・Total</a:t>
                </a:r>
                <a:r>
                  <a:rPr sz="1100" b="0" dirty="0">
                    <a:solidFill>
                      <a:srgbClr val="262626"/>
                    </a:solidFill>
                    <a:latin typeface="Meiryo UI"/>
                    <a:ea typeface="Meiryo UI"/>
                  </a:rPr>
                  <a:t> Availability・B2B2C・AI推奨対応）が「型」として設計・言語化されていないため、資源は新しい土俵に、</a:t>
                </a:r>
                <a:r>
                  <a:rPr lang="ja-JP" altLang="en-US" sz="1100" dirty="0">
                    <a:solidFill>
                      <a:srgbClr val="262626"/>
                    </a:solidFill>
                    <a:latin typeface="Meiryo UI"/>
                    <a:ea typeface="Meiryo UI"/>
                  </a:rPr>
                  <a:t>戦術</a:t>
                </a:r>
                <a:r>
                  <a:rPr sz="1100" b="0" dirty="0" err="1">
                    <a:solidFill>
                      <a:srgbClr val="262626"/>
                    </a:solidFill>
                    <a:latin typeface="Meiryo UI"/>
                    <a:ea typeface="Meiryo UI"/>
                  </a:rPr>
                  <a:t>は古いままで流れ込</a:t>
                </a:r>
                <a:r>
                  <a:rPr lang="ja-JP" altLang="en-US" sz="1100" b="0" dirty="0">
                    <a:solidFill>
                      <a:srgbClr val="262626"/>
                    </a:solidFill>
                    <a:latin typeface="Meiryo UI"/>
                    <a:ea typeface="Meiryo UI"/>
                  </a:rPr>
                  <a:t>んでいる</a:t>
                </a:r>
                <a:r>
                  <a:rPr sz="1100" b="0" dirty="0">
                    <a:solidFill>
                      <a:srgbClr val="262626"/>
                    </a:solidFill>
                    <a:latin typeface="Meiryo UI"/>
                    <a:ea typeface="Meiryo UI"/>
                  </a:rPr>
                  <a:t>。</a:t>
                </a:r>
                <a:endParaRPr lang="en-US" sz="1100" b="0" dirty="0">
                  <a:solidFill>
                    <a:srgbClr val="262626"/>
                  </a:solidFill>
                  <a:latin typeface="Meiryo UI"/>
                  <a:ea typeface="Meiryo UI"/>
                </a:endParaRPr>
              </a:p>
            </p:txBody>
          </p:sp>
          <p:sp>
            <p:nvSpPr>
              <p:cNvPr id="48" name="Rectangle 55">
                <a:extLst>
                  <a:ext uri="{FF2B5EF4-FFF2-40B4-BE49-F238E27FC236}">
                    <a16:creationId xmlns:a16="http://schemas.microsoft.com/office/drawing/2014/main" id="{AACD7959-7FD2-272D-92EA-BA1DC4477E7B}"/>
                  </a:ext>
                </a:extLst>
              </p:cNvPr>
              <p:cNvSpPr/>
              <p:nvPr/>
            </p:nvSpPr>
            <p:spPr>
              <a:xfrm>
                <a:off x="5806440" y="3704589"/>
                <a:ext cx="6035040" cy="1199185"/>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9" name="Rectangle 56">
                <a:extLst>
                  <a:ext uri="{FF2B5EF4-FFF2-40B4-BE49-F238E27FC236}">
                    <a16:creationId xmlns:a16="http://schemas.microsoft.com/office/drawing/2014/main" id="{74F20488-35D8-4788-9E25-73B8E73FE8B6}"/>
                  </a:ext>
                </a:extLst>
              </p:cNvPr>
              <p:cNvSpPr/>
              <p:nvPr/>
            </p:nvSpPr>
            <p:spPr>
              <a:xfrm>
                <a:off x="5806440" y="3704589"/>
                <a:ext cx="82296" cy="1199185"/>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0" name="TextBox 57">
                <a:extLst>
                  <a:ext uri="{FF2B5EF4-FFF2-40B4-BE49-F238E27FC236}">
                    <a16:creationId xmlns:a16="http://schemas.microsoft.com/office/drawing/2014/main" id="{0CDCEF05-A6A6-59F8-6AA6-8AB72F021D27}"/>
                  </a:ext>
                </a:extLst>
              </p:cNvPr>
              <p:cNvSpPr txBox="1"/>
              <p:nvPr/>
            </p:nvSpPr>
            <p:spPr>
              <a:xfrm>
                <a:off x="5989320" y="3749004"/>
                <a:ext cx="5760720" cy="170239"/>
              </a:xfrm>
              <a:prstGeom prst="rect">
                <a:avLst/>
              </a:prstGeom>
              <a:noFill/>
            </p:spPr>
            <p:txBody>
              <a:bodyPr wrap="square" lIns="0" tIns="0" rIns="0" bIns="0">
                <a:spAutoFit/>
              </a:bodyPr>
              <a:lstStyle/>
              <a:p>
                <a:pPr>
                  <a:lnSpc>
                    <a:spcPct val="112000"/>
                  </a:lnSpc>
                </a:pPr>
                <a:r>
                  <a:rPr sz="1100" b="1">
                    <a:solidFill>
                      <a:srgbClr val="0F5E87"/>
                    </a:solidFill>
                    <a:latin typeface="Meiryo UI"/>
                    <a:ea typeface="Meiryo UI"/>
                  </a:rPr>
                  <a:t>真因2 「持っていない」 ― 選ばれるための武器が、現場に供給されていない</a:t>
                </a:r>
              </a:p>
            </p:txBody>
          </p:sp>
          <p:sp>
            <p:nvSpPr>
              <p:cNvPr id="51" name="TextBox 58">
                <a:extLst>
                  <a:ext uri="{FF2B5EF4-FFF2-40B4-BE49-F238E27FC236}">
                    <a16:creationId xmlns:a16="http://schemas.microsoft.com/office/drawing/2014/main" id="{504E30C7-E106-5A54-0600-E047569F5A6C}"/>
                  </a:ext>
                </a:extLst>
              </p:cNvPr>
              <p:cNvSpPr txBox="1"/>
              <p:nvPr/>
            </p:nvSpPr>
            <p:spPr>
              <a:xfrm>
                <a:off x="5989320" y="4000685"/>
                <a:ext cx="5760720" cy="352252"/>
              </a:xfrm>
              <a:prstGeom prst="rect">
                <a:avLst/>
              </a:prstGeom>
              <a:noFill/>
            </p:spPr>
            <p:txBody>
              <a:bodyPr wrap="square" lIns="0" tIns="0" rIns="0" bIns="0">
                <a:spAutoFit/>
              </a:bodyPr>
              <a:lstStyle/>
              <a:p>
                <a:pPr>
                  <a:lnSpc>
                    <a:spcPct val="112000"/>
                  </a:lnSpc>
                </a:pPr>
                <a:r>
                  <a:rPr sz="1100" b="0" dirty="0" err="1">
                    <a:solidFill>
                      <a:srgbClr val="262626"/>
                    </a:solidFill>
                    <a:latin typeface="Meiryo UI"/>
                    <a:ea typeface="Meiryo UI"/>
                  </a:rPr>
                  <a:t>バイヤーが要求する「売れる根拠</a:t>
                </a:r>
                <a:r>
                  <a:rPr sz="1100" b="0" dirty="0">
                    <a:solidFill>
                      <a:srgbClr val="262626"/>
                    </a:solidFill>
                    <a:latin typeface="Meiryo UI"/>
                    <a:ea typeface="Meiryo UI"/>
                  </a:rPr>
                  <a:t>」（</a:t>
                </a:r>
                <a:r>
                  <a:rPr sz="1100" b="0" dirty="0" err="1">
                    <a:solidFill>
                      <a:srgbClr val="262626"/>
                    </a:solidFill>
                    <a:latin typeface="Meiryo UI"/>
                    <a:ea typeface="Meiryo UI"/>
                  </a:rPr>
                  <a:t>LTV予測・炭素効率）も、AIが要求する「読める情報</a:t>
                </a:r>
                <a:r>
                  <a:rPr sz="1100" b="0" dirty="0">
                    <a:solidFill>
                      <a:srgbClr val="262626"/>
                    </a:solidFill>
                    <a:latin typeface="Meiryo UI"/>
                    <a:ea typeface="Meiryo UI"/>
                  </a:rPr>
                  <a:t>」（</a:t>
                </a:r>
                <a:r>
                  <a:rPr sz="1100" b="0" dirty="0" err="1">
                    <a:solidFill>
                      <a:srgbClr val="262626"/>
                    </a:solidFill>
                    <a:latin typeface="Meiryo UI"/>
                    <a:ea typeface="Meiryo UI"/>
                  </a:rPr>
                  <a:t>属性データ・エビデンス</a:t>
                </a:r>
                <a:r>
                  <a:rPr sz="1100" b="0" dirty="0">
                    <a:solidFill>
                      <a:srgbClr val="262626"/>
                    </a:solidFill>
                    <a:latin typeface="Meiryo UI"/>
                    <a:ea typeface="Meiryo UI"/>
                  </a:rPr>
                  <a:t>）</a:t>
                </a:r>
                <a:r>
                  <a:rPr lang="ja-JP" altLang="en-US" sz="1100" dirty="0">
                    <a:solidFill>
                      <a:srgbClr val="262626"/>
                    </a:solidFill>
                    <a:latin typeface="Meiryo UI"/>
                    <a:ea typeface="Meiryo UI"/>
                  </a:rPr>
                  <a:t>の進捗は不十分。</a:t>
                </a:r>
                <a:r>
                  <a:rPr sz="1100" b="0" dirty="0" err="1">
                    <a:solidFill>
                      <a:srgbClr val="262626"/>
                    </a:solidFill>
                    <a:latin typeface="Meiryo UI"/>
                    <a:ea typeface="Meiryo UI"/>
                  </a:rPr>
                  <a:t>営業が値引きに頼</a:t>
                </a:r>
                <a:r>
                  <a:rPr lang="ja-JP" altLang="en-US" sz="1100" b="0" dirty="0">
                    <a:solidFill>
                      <a:srgbClr val="262626"/>
                    </a:solidFill>
                    <a:latin typeface="Meiryo UI"/>
                    <a:ea typeface="Meiryo UI"/>
                  </a:rPr>
                  <a:t>らざる負えない（</a:t>
                </a:r>
                <a:r>
                  <a:rPr sz="1100" b="0" dirty="0" err="1">
                    <a:solidFill>
                      <a:srgbClr val="262626"/>
                    </a:solidFill>
                    <a:latin typeface="Meiryo UI"/>
                    <a:ea typeface="Meiryo UI"/>
                  </a:rPr>
                  <a:t>他に出せる球がない</a:t>
                </a:r>
                <a:r>
                  <a:rPr lang="ja-JP" altLang="en-US" sz="1100" dirty="0">
                    <a:solidFill>
                      <a:srgbClr val="262626"/>
                    </a:solidFill>
                    <a:latin typeface="Meiryo UI"/>
                    <a:ea typeface="Meiryo UI"/>
                  </a:rPr>
                  <a:t>）</a:t>
                </a:r>
                <a:endParaRPr sz="1100" b="0" dirty="0">
                  <a:solidFill>
                    <a:srgbClr val="262626"/>
                  </a:solidFill>
                  <a:latin typeface="Meiryo UI"/>
                  <a:ea typeface="Meiryo UI"/>
                </a:endParaRPr>
              </a:p>
            </p:txBody>
          </p:sp>
          <p:sp>
            <p:nvSpPr>
              <p:cNvPr id="53" name="Rectangle 60">
                <a:extLst>
                  <a:ext uri="{FF2B5EF4-FFF2-40B4-BE49-F238E27FC236}">
                    <a16:creationId xmlns:a16="http://schemas.microsoft.com/office/drawing/2014/main" id="{A17BEDB9-6477-949C-1EC3-321ABF3D541D}"/>
                  </a:ext>
                </a:extLst>
              </p:cNvPr>
              <p:cNvSpPr/>
              <p:nvPr/>
            </p:nvSpPr>
            <p:spPr>
              <a:xfrm>
                <a:off x="5806440" y="4977799"/>
                <a:ext cx="6035040" cy="1199185"/>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4" name="Rectangle 61">
                <a:extLst>
                  <a:ext uri="{FF2B5EF4-FFF2-40B4-BE49-F238E27FC236}">
                    <a16:creationId xmlns:a16="http://schemas.microsoft.com/office/drawing/2014/main" id="{34F6BA35-317D-DFAF-5BD8-EB18EE8319B1}"/>
                  </a:ext>
                </a:extLst>
              </p:cNvPr>
              <p:cNvSpPr/>
              <p:nvPr/>
            </p:nvSpPr>
            <p:spPr>
              <a:xfrm>
                <a:off x="5806440" y="4977799"/>
                <a:ext cx="82296" cy="1199185"/>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5" name="TextBox 62">
                <a:extLst>
                  <a:ext uri="{FF2B5EF4-FFF2-40B4-BE49-F238E27FC236}">
                    <a16:creationId xmlns:a16="http://schemas.microsoft.com/office/drawing/2014/main" id="{24370BB6-C991-0CCC-5650-A65E634A135B}"/>
                  </a:ext>
                </a:extLst>
              </p:cNvPr>
              <p:cNvSpPr txBox="1"/>
              <p:nvPr/>
            </p:nvSpPr>
            <p:spPr>
              <a:xfrm>
                <a:off x="5989320" y="5022213"/>
                <a:ext cx="5760720" cy="170239"/>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真因3 「回っていない」 ― 作る→試す→検証する→広げる、の回路がない</a:t>
                </a:r>
              </a:p>
            </p:txBody>
          </p:sp>
          <p:sp>
            <p:nvSpPr>
              <p:cNvPr id="56" name="TextBox 63">
                <a:extLst>
                  <a:ext uri="{FF2B5EF4-FFF2-40B4-BE49-F238E27FC236}">
                    <a16:creationId xmlns:a16="http://schemas.microsoft.com/office/drawing/2014/main" id="{523EEEAC-7D1B-7499-3371-774A923D259E}"/>
                  </a:ext>
                </a:extLst>
              </p:cNvPr>
              <p:cNvSpPr txBox="1"/>
              <p:nvPr/>
            </p:nvSpPr>
            <p:spPr>
              <a:xfrm>
                <a:off x="5989320" y="5273894"/>
                <a:ext cx="5760720" cy="359842"/>
              </a:xfrm>
              <a:prstGeom prst="rect">
                <a:avLst/>
              </a:prstGeom>
              <a:noFill/>
            </p:spPr>
            <p:txBody>
              <a:bodyPr wrap="square" lIns="0" tIns="0" rIns="0" bIns="0">
                <a:spAutoFit/>
              </a:bodyPr>
              <a:lstStyle/>
              <a:p>
                <a:pPr>
                  <a:lnSpc>
                    <a:spcPct val="112000"/>
                  </a:lnSpc>
                </a:pPr>
                <a:r>
                  <a:rPr sz="1100" b="0" dirty="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grpSp>
        <p:sp>
          <p:nvSpPr>
            <p:cNvPr id="61" name="正方形/長方形 60">
              <a:extLst>
                <a:ext uri="{FF2B5EF4-FFF2-40B4-BE49-F238E27FC236}">
                  <a16:creationId xmlns:a16="http://schemas.microsoft.com/office/drawing/2014/main" id="{29EB0BDB-9EE0-B183-D647-34218ACAC3C0}"/>
                </a:ext>
              </a:extLst>
            </p:cNvPr>
            <p:cNvSpPr/>
            <p:nvPr/>
          </p:nvSpPr>
          <p:spPr>
            <a:xfrm>
              <a:off x="3096491" y="1984664"/>
              <a:ext cx="488373" cy="33619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凡例</a:t>
              </a:r>
            </a:p>
          </p:txBody>
        </p:sp>
        <p:sp>
          <p:nvSpPr>
            <p:cNvPr id="62" name="正方形/長方形 61">
              <a:extLst>
                <a:ext uri="{FF2B5EF4-FFF2-40B4-BE49-F238E27FC236}">
                  <a16:creationId xmlns:a16="http://schemas.microsoft.com/office/drawing/2014/main" id="{E1570E7A-2483-3BEF-5E98-484FDAAA0ECB}"/>
                </a:ext>
              </a:extLst>
            </p:cNvPr>
            <p:cNvSpPr/>
            <p:nvPr/>
          </p:nvSpPr>
          <p:spPr>
            <a:xfrm>
              <a:off x="3034145" y="1963882"/>
              <a:ext cx="2643864" cy="365290"/>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eiryo UI" panose="020B0604030504040204" pitchFamily="50" charset="-128"/>
                <a:ea typeface="Meiryo UI" panose="020B0604030504040204" pitchFamily="50" charset="-128"/>
              </a:endParaRPr>
            </a:p>
          </p:txBody>
        </p:sp>
      </p:grpSp>
      <p:sp>
        <p:nvSpPr>
          <p:cNvPr id="85" name="正方形/長方形 84">
            <a:extLst>
              <a:ext uri="{FF2B5EF4-FFF2-40B4-BE49-F238E27FC236}">
                <a16:creationId xmlns:a16="http://schemas.microsoft.com/office/drawing/2014/main" id="{9F28CED1-B943-01AA-491E-3AB0E6106742}"/>
              </a:ext>
            </a:extLst>
          </p:cNvPr>
          <p:cNvSpPr/>
          <p:nvPr/>
        </p:nvSpPr>
        <p:spPr>
          <a:xfrm>
            <a:off x="6170537" y="177730"/>
            <a:ext cx="4012554" cy="57378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100" dirty="0">
                <a:solidFill>
                  <a:schemeClr val="tx1"/>
                </a:solidFill>
                <a:latin typeface="Meiryo UI" panose="020B0604030504040204" pitchFamily="50" charset="-128"/>
                <a:ea typeface="Meiryo UI" panose="020B0604030504040204" pitchFamily="50" charset="-128"/>
              </a:rPr>
              <a:t>ギャップと真因は矢印で繋いだ方が</a:t>
            </a:r>
            <a:r>
              <a:rPr kumimoji="1" lang="ja-JP" altLang="en-US" sz="1100" dirty="0">
                <a:solidFill>
                  <a:schemeClr val="tx1"/>
                </a:solidFill>
                <a:latin typeface="Meiryo UI" panose="020B0604030504040204" pitchFamily="50" charset="-128"/>
                <a:ea typeface="Meiryo UI" panose="020B0604030504040204" pitchFamily="50" charset="-128"/>
              </a:rPr>
              <a:t>つながりがわかりやすい。</a:t>
            </a:r>
            <a:r>
              <a:rPr lang="ja-JP" altLang="en-US" sz="1100" dirty="0">
                <a:solidFill>
                  <a:schemeClr val="tx1"/>
                </a:solidFill>
                <a:latin typeface="Meiryo UI" panose="020B0604030504040204" pitchFamily="50" charset="-128"/>
                <a:ea typeface="Meiryo UI" panose="020B0604030504040204" pitchFamily="50" charset="-128"/>
              </a:rPr>
              <a:t>左右共にレイアウト・ビジュアル化は工夫ください</a:t>
            </a:r>
            <a:endParaRPr kumimoji="1" lang="ja-JP" altLang="en-US"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02462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6586EF-CCEB-BE92-6D31-768A9EAF5DDD}"/>
              </a:ext>
            </a:extLst>
          </p:cNvPr>
          <p:cNvSpPr>
            <a:spLocks noGrp="1"/>
          </p:cNvSpPr>
          <p:nvPr>
            <p:ph type="title"/>
          </p:nvPr>
        </p:nvSpPr>
        <p:spPr/>
        <p:txBody>
          <a:bodyPr/>
          <a:lstStyle/>
          <a:p>
            <a:r>
              <a:rPr lang="ja-JP" altLang="en-US" dirty="0"/>
              <a:t>真因と解決策 </a:t>
            </a:r>
            <a:r>
              <a:rPr lang="en-US" altLang="ja-JP" dirty="0"/>
              <a:t>―</a:t>
            </a:r>
            <a:r>
              <a:rPr lang="ja-JP" altLang="en-US" dirty="0"/>
              <a:t>「型を定める・武器を持つ・回路を回す」に</a:t>
            </a:r>
            <a:r>
              <a:rPr lang="en-US" altLang="ja-JP" dirty="0"/>
              <a:t>1</a:t>
            </a:r>
            <a:r>
              <a:rPr lang="ja-JP" altLang="en-US" dirty="0"/>
              <a:t>対</a:t>
            </a:r>
            <a:r>
              <a:rPr lang="en-US" altLang="ja-JP" dirty="0"/>
              <a:t>1</a:t>
            </a:r>
            <a:r>
              <a:rPr lang="ja-JP" altLang="en-US" dirty="0"/>
              <a:t>で答える</a:t>
            </a:r>
            <a:endParaRPr kumimoji="1" lang="ja-JP" altLang="en-US" dirty="0"/>
          </a:p>
        </p:txBody>
      </p:sp>
      <p:sp>
        <p:nvSpPr>
          <p:cNvPr id="3" name="テキスト プレースホルダー 2">
            <a:extLst>
              <a:ext uri="{FF2B5EF4-FFF2-40B4-BE49-F238E27FC236}">
                <a16:creationId xmlns:a16="http://schemas.microsoft.com/office/drawing/2014/main" id="{9B316ECC-1821-DB0B-6CAA-67A0A5F7E7AB}"/>
              </a:ext>
            </a:extLst>
          </p:cNvPr>
          <p:cNvSpPr>
            <a:spLocks noGrp="1"/>
          </p:cNvSpPr>
          <p:nvPr>
            <p:ph type="body" sz="quarter" idx="13"/>
          </p:nvPr>
        </p:nvSpPr>
        <p:spPr/>
        <p:txBody>
          <a:bodyPr/>
          <a:lstStyle/>
          <a:p>
            <a:r>
              <a:rPr lang="ja-JP" altLang="en-US" b="1" dirty="0">
                <a:solidFill>
                  <a:srgbClr val="262626"/>
                </a:solidFill>
                <a:latin typeface="Meiryo UI"/>
                <a:ea typeface="Meiryo UI"/>
              </a:rPr>
              <a:t>解決策は真因の裏返しでなければ効かない。型（新しい勝ち方の設計）→ 武器（道具の供給）→ 回路（実行の仕組み）の</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点セットで、以降のページすべてがこのどれかに属する</a:t>
            </a:r>
          </a:p>
          <a:p>
            <a:endParaRPr kumimoji="1" lang="ja-JP" altLang="en-US" dirty="0"/>
          </a:p>
        </p:txBody>
      </p:sp>
      <p:grpSp>
        <p:nvGrpSpPr>
          <p:cNvPr id="4" name="グループ化 3">
            <a:extLst>
              <a:ext uri="{FF2B5EF4-FFF2-40B4-BE49-F238E27FC236}">
                <a16:creationId xmlns:a16="http://schemas.microsoft.com/office/drawing/2014/main" id="{5AD27C26-7B26-54C0-8952-73581EFC430D}"/>
              </a:ext>
            </a:extLst>
          </p:cNvPr>
          <p:cNvGrpSpPr/>
          <p:nvPr/>
        </p:nvGrpSpPr>
        <p:grpSpPr>
          <a:xfrm>
            <a:off x="320040" y="1628774"/>
            <a:ext cx="11521440" cy="4323969"/>
            <a:chOff x="320040" y="1463040"/>
            <a:chExt cx="11521440" cy="4489704"/>
          </a:xfrm>
        </p:grpSpPr>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型がない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「型を定める」 ― 傾斜した資源の、新しい使い方を設計する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①市場の型：オーラルケアを4分割（補充・悩み・予防・口腔機能）し、分割別に勝ち方とKPIを定義（施策①）　②接点の型：マス×特売中心から、エビデンス商談・診断型売場・B2B2C・AI推奨対応へ販促の中身を組み替え　③商談の型：「値引き70＋施策30＋成果連動」を標準パッケージに ― いずれも追加予算でなく、傾斜済み資源の使い方の再設計</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4つの変革テーマの背景（P.5）・施策①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8つの重点施策（P.9）
→ 5経営テーマへのMECE接続（P.10）</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出口：業務のBefore→After（P.11）
→ マイルストーンとゲート（P.12）・KGI/KPI（P.13）</a:t>
              </a:r>
            </a:p>
          </p:txBody>
        </p:sp>
      </p:grpSp>
      <p:sp>
        <p:nvSpPr>
          <p:cNvPr id="6" name="Rectangle 37">
            <a:extLst>
              <a:ext uri="{FF2B5EF4-FFF2-40B4-BE49-F238E27FC236}">
                <a16:creationId xmlns:a16="http://schemas.microsoft.com/office/drawing/2014/main" id="{B6A3D9D0-9D8C-8131-9793-BB6279452180}"/>
              </a:ext>
            </a:extLst>
          </p:cNvPr>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38">
            <a:extLst>
              <a:ext uri="{FF2B5EF4-FFF2-40B4-BE49-F238E27FC236}">
                <a16:creationId xmlns:a16="http://schemas.microsoft.com/office/drawing/2014/main" id="{015D3F7E-81E5-6B48-91E3-9295E0C1226E}"/>
              </a:ext>
            </a:extLst>
          </p:cNvPr>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「型を定める」は次回会議から着手できる（追加予算不要 ― 傾斜済み資源の使い方の設計だから）。「武器」「回路」はFY26から並行で始め、確認ゲートで拡大する。すべての施策は3つの真因のどれかに紐づく ― 紐づかない施策は、この計画ではやらない。</a:t>
            </a:r>
          </a:p>
        </p:txBody>
      </p:sp>
    </p:spTree>
    <p:extLst>
      <p:ext uri="{BB962C8B-B14F-4D97-AF65-F5344CB8AC3E}">
        <p14:creationId xmlns:p14="http://schemas.microsoft.com/office/powerpoint/2010/main" val="1593406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CA9F24-7C26-26B0-6EAF-7869023A3467}"/>
              </a:ext>
            </a:extLst>
          </p:cNvPr>
          <p:cNvSpPr>
            <a:spLocks noGrp="1"/>
          </p:cNvSpPr>
          <p:nvPr>
            <p:ph type="title"/>
          </p:nvPr>
        </p:nvSpPr>
        <p:spPr/>
        <p:txBody>
          <a:bodyPr/>
          <a:lstStyle/>
          <a:p>
            <a:r>
              <a:rPr lang="en-US" altLang="ja-JP" b="1" dirty="0">
                <a:solidFill>
                  <a:srgbClr val="262626"/>
                </a:solidFill>
                <a:latin typeface="Meiryo UI"/>
                <a:ea typeface="Meiryo UI"/>
              </a:rPr>
              <a:t>4</a:t>
            </a:r>
            <a:r>
              <a:rPr lang="ja-JP" altLang="en-US" b="1" dirty="0">
                <a:solidFill>
                  <a:srgbClr val="262626"/>
                </a:solidFill>
                <a:latin typeface="Meiryo UI"/>
                <a:ea typeface="Meiryo UI"/>
              </a:rPr>
              <a:t>つの変革テーマ </a:t>
            </a:r>
            <a:r>
              <a:rPr lang="en-US" altLang="ja-JP" b="1" dirty="0">
                <a:solidFill>
                  <a:srgbClr val="262626"/>
                </a:solidFill>
                <a:latin typeface="Meiryo UI"/>
                <a:ea typeface="Meiryo UI"/>
              </a:rPr>
              <a:t>× 8</a:t>
            </a:r>
            <a:r>
              <a:rPr lang="ja-JP" altLang="en-US" b="1" dirty="0">
                <a:solidFill>
                  <a:srgbClr val="262626"/>
                </a:solidFill>
                <a:latin typeface="Meiryo UI"/>
                <a:ea typeface="Meiryo UI"/>
              </a:rPr>
              <a:t>つの重点施策</a:t>
            </a:r>
            <a:endParaRPr kumimoji="1" lang="ja-JP" altLang="en-US" dirty="0"/>
          </a:p>
        </p:txBody>
      </p:sp>
      <p:sp>
        <p:nvSpPr>
          <p:cNvPr id="3" name="テキスト プレースホルダー 2">
            <a:extLst>
              <a:ext uri="{FF2B5EF4-FFF2-40B4-BE49-F238E27FC236}">
                <a16:creationId xmlns:a16="http://schemas.microsoft.com/office/drawing/2014/main" id="{05F9F228-39E8-D051-7705-78C67B7FCCDD}"/>
              </a:ext>
            </a:extLst>
          </p:cNvPr>
          <p:cNvSpPr>
            <a:spLocks noGrp="1"/>
          </p:cNvSpPr>
          <p:nvPr>
            <p:ph type="body" sz="quarter" idx="13"/>
          </p:nvPr>
        </p:nvSpPr>
        <p:spPr/>
        <p:txBody>
          <a:bodyPr/>
          <a:lstStyle/>
          <a:p>
            <a:r>
              <a:rPr lang="en-US" altLang="ja-JP" b="1" dirty="0">
                <a:solidFill>
                  <a:srgbClr val="262626"/>
                </a:solidFill>
                <a:latin typeface="Meiryo UI"/>
                <a:ea typeface="Meiryo UI"/>
              </a:rPr>
              <a:t>8</a:t>
            </a:r>
            <a:r>
              <a:rPr lang="ja-JP" altLang="en-US" b="1" dirty="0">
                <a:solidFill>
                  <a:srgbClr val="262626"/>
                </a:solidFill>
                <a:latin typeface="Meiryo UI"/>
                <a:ea typeface="Meiryo UI"/>
              </a:rPr>
              <a:t>施策は真因</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「武器」と真因</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「回路」への答え（武器＝②</a:t>
            </a:r>
            <a:r>
              <a:rPr lang="en-US" altLang="ja-JP" b="1" dirty="0">
                <a:solidFill>
                  <a:srgbClr val="262626"/>
                </a:solidFill>
                <a:latin typeface="Meiryo UI"/>
                <a:ea typeface="Meiryo UI"/>
              </a:rPr>
              <a:t>〜⑥</a:t>
            </a:r>
            <a:r>
              <a:rPr lang="ja-JP" altLang="en-US" b="1" dirty="0">
                <a:solidFill>
                  <a:srgbClr val="262626"/>
                </a:solidFill>
                <a:latin typeface="Meiryo UI"/>
                <a:ea typeface="Meiryo UI"/>
              </a:rPr>
              <a:t>、回路＝⑦⑧）。施策①は真因</a:t>
            </a:r>
            <a:r>
              <a:rPr lang="en-US" altLang="ja-JP" b="1" dirty="0">
                <a:solidFill>
                  <a:srgbClr val="262626"/>
                </a:solidFill>
                <a:latin typeface="Meiryo UI"/>
                <a:ea typeface="Meiryo UI"/>
              </a:rPr>
              <a:t>1</a:t>
            </a:r>
            <a:r>
              <a:rPr lang="ja-JP" altLang="en-US" b="1" dirty="0">
                <a:solidFill>
                  <a:srgbClr val="262626"/>
                </a:solidFill>
                <a:latin typeface="Meiryo UI"/>
                <a:ea typeface="Meiryo UI"/>
              </a:rPr>
              <a:t>「型」</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傾斜済み資源の使い方を</a:t>
            </a:r>
            <a:r>
              <a:rPr lang="en-US" altLang="ja-JP" b="1" dirty="0">
                <a:solidFill>
                  <a:srgbClr val="262626"/>
                </a:solidFill>
                <a:latin typeface="Meiryo UI"/>
                <a:ea typeface="Meiryo UI"/>
              </a:rPr>
              <a:t>4</a:t>
            </a:r>
            <a:r>
              <a:rPr lang="ja-JP" altLang="en-US" b="1" dirty="0">
                <a:solidFill>
                  <a:srgbClr val="262626"/>
                </a:solidFill>
                <a:latin typeface="Meiryo UI"/>
                <a:ea typeface="Meiryo UI"/>
              </a:rPr>
              <a:t>分割</a:t>
            </a:r>
            <a:r>
              <a:rPr lang="en-US" altLang="ja-JP" b="1" dirty="0">
                <a:solidFill>
                  <a:srgbClr val="262626"/>
                </a:solidFill>
                <a:latin typeface="Meiryo UI"/>
                <a:ea typeface="Meiryo UI"/>
              </a:rPr>
              <a:t>×ROIC</a:t>
            </a:r>
            <a:r>
              <a:rPr lang="ja-JP" altLang="en-US" b="1" dirty="0">
                <a:solidFill>
                  <a:srgbClr val="262626"/>
                </a:solidFill>
                <a:latin typeface="Meiryo UI"/>
                <a:ea typeface="Meiryo UI"/>
              </a:rPr>
              <a:t>で設計し直す</a:t>
            </a:r>
          </a:p>
        </p:txBody>
      </p:sp>
      <p:grpSp>
        <p:nvGrpSpPr>
          <p:cNvPr id="4" name="グループ化 3">
            <a:extLst>
              <a:ext uri="{FF2B5EF4-FFF2-40B4-BE49-F238E27FC236}">
                <a16:creationId xmlns:a16="http://schemas.microsoft.com/office/drawing/2014/main" id="{878DF85A-8E7B-1559-B8D6-0ED20A79E67D}"/>
              </a:ext>
            </a:extLst>
          </p:cNvPr>
          <p:cNvGrpSpPr/>
          <p:nvPr/>
        </p:nvGrpSpPr>
        <p:grpSpPr>
          <a:xfrm>
            <a:off x="320040" y="1628774"/>
            <a:ext cx="11521440" cy="4762881"/>
            <a:chOff x="320040" y="1426464"/>
            <a:chExt cx="11521440" cy="4965192"/>
          </a:xfrm>
        </p:grpSpPr>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真因との対応：</a:t>
              </a:r>
              <a:r>
                <a:rPr sz="830" b="0">
                  <a:solidFill>
                    <a:srgbClr val="262626"/>
                  </a:solidFill>
                  <a:latin typeface="Meiryo UI"/>
                  <a:ea typeface="Meiryo UI"/>
                </a:rPr>
                <a:t>武器（真因2）＝バイヤー向け⑤／AI向け②／接点③⑥／計器④。回路（真因3）＝時間⑦・編成と検証⑧。型（真因1）＝①の4分割と使い方の再設計。承認は施策ごとに撤退基準・検証計画をセットで諮り、次頁で経営の問いに接続する。</a:t>
              </a:r>
            </a:p>
          </p:txBody>
        </p:sp>
      </p:grpSp>
    </p:spTree>
    <p:extLst>
      <p:ext uri="{BB962C8B-B14F-4D97-AF65-F5344CB8AC3E}">
        <p14:creationId xmlns:p14="http://schemas.microsoft.com/office/powerpoint/2010/main" val="400896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8B9D2D-5FC3-3F82-2649-4EBE1B2FD577}"/>
              </a:ext>
            </a:extLst>
          </p:cNvPr>
          <p:cNvSpPr>
            <a:spLocks noGrp="1"/>
          </p:cNvSpPr>
          <p:nvPr>
            <p:ph type="title"/>
          </p:nvPr>
        </p:nvSpPr>
        <p:spPr/>
        <p:txBody>
          <a:bodyPr/>
          <a:lstStyle/>
          <a:p>
            <a:r>
              <a:rPr kumimoji="1" lang="en-US" altLang="ja-JP" dirty="0"/>
              <a:t>How</a:t>
            </a:r>
            <a:r>
              <a:rPr kumimoji="1" lang="ja-JP" altLang="en-US" dirty="0"/>
              <a:t>の全体構造 </a:t>
            </a:r>
            <a:r>
              <a:rPr kumimoji="1" lang="en-US" altLang="ja-JP" dirty="0"/>
              <a:t>― 5</a:t>
            </a:r>
            <a:r>
              <a:rPr kumimoji="1" lang="ja-JP" altLang="en-US" dirty="0"/>
              <a:t>つの経営テーマへの</a:t>
            </a:r>
            <a:r>
              <a:rPr kumimoji="1" lang="en-US" altLang="ja-JP" dirty="0"/>
              <a:t>MECE</a:t>
            </a:r>
            <a:r>
              <a:rPr kumimoji="1" lang="ja-JP" altLang="en-US" dirty="0"/>
              <a:t>接続</a:t>
            </a:r>
          </a:p>
        </p:txBody>
      </p:sp>
      <p:sp>
        <p:nvSpPr>
          <p:cNvPr id="3" name="テキスト プレースホルダー 2">
            <a:extLst>
              <a:ext uri="{FF2B5EF4-FFF2-40B4-BE49-F238E27FC236}">
                <a16:creationId xmlns:a16="http://schemas.microsoft.com/office/drawing/2014/main" id="{84A0BABB-EF04-F0A6-0C92-00EA65ADA0A8}"/>
              </a:ext>
            </a:extLst>
          </p:cNvPr>
          <p:cNvSpPr>
            <a:spLocks noGrp="1"/>
          </p:cNvSpPr>
          <p:nvPr>
            <p:ph type="body" sz="quarter" idx="13"/>
          </p:nvPr>
        </p:nvSpPr>
        <p:spPr/>
        <p:txBody>
          <a:bodyPr/>
          <a:lstStyle/>
          <a:p>
            <a:r>
              <a:rPr kumimoji="1" lang="ja-JP" altLang="en-US" dirty="0"/>
              <a:t>ここまでの「</a:t>
            </a:r>
            <a:r>
              <a:rPr kumimoji="1" lang="en-US" altLang="ja-JP" dirty="0"/>
              <a:t>4</a:t>
            </a:r>
            <a:r>
              <a:rPr kumimoji="1" lang="ja-JP" altLang="en-US" dirty="0"/>
              <a:t>テーマ・</a:t>
            </a:r>
            <a:r>
              <a:rPr kumimoji="1" lang="en-US" altLang="ja-JP" dirty="0"/>
              <a:t>3</a:t>
            </a:r>
            <a:r>
              <a:rPr kumimoji="1" lang="ja-JP" altLang="en-US" dirty="0"/>
              <a:t>真因」は現場が設計する切り口。ここからは同じ</a:t>
            </a:r>
            <a:r>
              <a:rPr kumimoji="1" lang="en-US" altLang="ja-JP" dirty="0"/>
              <a:t>8</a:t>
            </a:r>
            <a:r>
              <a:rPr kumimoji="1" lang="ja-JP" altLang="en-US" dirty="0"/>
              <a:t>施策を、経営が意思決定する</a:t>
            </a:r>
            <a:r>
              <a:rPr kumimoji="1" lang="en-US" altLang="ja-JP" dirty="0"/>
              <a:t>5</a:t>
            </a:r>
            <a:r>
              <a:rPr kumimoji="1" lang="ja-JP" altLang="en-US" dirty="0"/>
              <a:t>つの問いに漏れなく・重複なく翻訳し直す</a:t>
            </a:r>
          </a:p>
          <a:p>
            <a:endParaRPr kumimoji="1" lang="ja-JP" altLang="en-US" dirty="0"/>
          </a:p>
        </p:txBody>
      </p:sp>
      <p:grpSp>
        <p:nvGrpSpPr>
          <p:cNvPr id="4" name="グループ化 3">
            <a:extLst>
              <a:ext uri="{FF2B5EF4-FFF2-40B4-BE49-F238E27FC236}">
                <a16:creationId xmlns:a16="http://schemas.microsoft.com/office/drawing/2014/main" id="{59730B40-FFF7-8ED8-53CE-722635A85A68}"/>
              </a:ext>
            </a:extLst>
          </p:cNvPr>
          <p:cNvGrpSpPr/>
          <p:nvPr/>
        </p:nvGrpSpPr>
        <p:grpSpPr>
          <a:xfrm>
            <a:off x="320040" y="1628775"/>
            <a:ext cx="11548872" cy="4698872"/>
            <a:chOff x="320040" y="1225296"/>
            <a:chExt cx="11548872" cy="5102351"/>
          </a:xfrm>
        </p:grpSpPr>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374904" y="1252728"/>
              <a:ext cx="17190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TextBox 16"/>
            <p:cNvSpPr txBox="1"/>
            <p:nvPr/>
          </p:nvSpPr>
          <p:spPr>
            <a:xfrm>
              <a:off x="2221992" y="1252728"/>
              <a:ext cx="2770632" cy="176432"/>
            </a:xfrm>
            <a:prstGeom prst="rect">
              <a:avLst/>
            </a:prstGeom>
            <a:noFill/>
          </p:spPr>
          <p:txBody>
            <a:bodyPr wrap="square" lIns="0" tIns="0" rIns="0" bIns="0">
              <a:spAutoFit/>
            </a:bodyPr>
            <a:lstStyle/>
            <a:p>
              <a:pPr>
                <a:lnSpc>
                  <a:spcPct val="112000"/>
                </a:lnSpc>
              </a:pPr>
              <a:r>
                <a:rPr sz="900" b="1" dirty="0">
                  <a:solidFill>
                    <a:srgbClr val="FFFFFF"/>
                  </a:solidFill>
                  <a:latin typeface="Meiryo UI"/>
                  <a:ea typeface="Meiryo UI"/>
                </a:rPr>
                <a:t>前 ― </a:t>
              </a:r>
              <a:r>
                <a:rPr sz="900" b="1" dirty="0" err="1">
                  <a:solidFill>
                    <a:srgbClr val="FFFFFF"/>
                  </a:solidFill>
                  <a:latin typeface="Meiryo UI"/>
                  <a:ea typeface="Meiryo UI"/>
                </a:rPr>
                <a:t>何を受けるか（GAP・真因・公開データ</a:t>
              </a:r>
              <a:r>
                <a:rPr sz="900" b="1" dirty="0">
                  <a:solidFill>
                    <a:srgbClr val="FFFFFF"/>
                  </a:solidFill>
                  <a:latin typeface="Meiryo UI"/>
                  <a:ea typeface="Meiryo UI"/>
                </a:rPr>
                <a:t>）</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5120640" y="1252728"/>
              <a:ext cx="30906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TextBox 20"/>
            <p:cNvSpPr txBox="1"/>
            <p:nvPr/>
          </p:nvSpPr>
          <p:spPr>
            <a:xfrm>
              <a:off x="8339328" y="1252728"/>
              <a:ext cx="130759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9774936" y="1252728"/>
              <a:ext cx="203911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TextBox 24"/>
            <p:cNvSpPr txBox="1"/>
            <p:nvPr/>
          </p:nvSpPr>
          <p:spPr>
            <a:xfrm>
              <a:off x="384048" y="1609344"/>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1. 市場機会の選択
</a:t>
              </a:r>
              <a:r>
                <a:rPr sz="100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2231136" y="1600200"/>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GAP1（消耗戦）。決定と傾斜配分は実行済み ― 残るは資源の使い方（真因1）。皆歯科健診は骨太2022に明記済み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TextBox 28"/>
            <p:cNvSpPr txBox="1"/>
            <p:nvPr/>
          </p:nvSpPr>
          <p:spPr>
            <a:xfrm>
              <a:off x="5129784" y="1600200"/>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傾斜した資源を新しい使い方に流し込む ― オーラルケアを4分割し、分割別KPIとROIC基準で使い方を裁く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1" name="TextBox 30"/>
            <p:cNvSpPr txBox="1"/>
            <p:nvPr/>
          </p:nvSpPr>
          <p:spPr>
            <a:xfrm>
              <a:off x="8348472" y="1600200"/>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解決1 使い方の再設計
＋A2 学校・自治体
ルートのデジタル化</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TextBox 32"/>
            <p:cNvSpPr txBox="1"/>
            <p:nvPr/>
          </p:nvSpPr>
          <p:spPr>
            <a:xfrm>
              <a:off x="9784080" y="1600200"/>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5" name="TextBox 34"/>
            <p:cNvSpPr txBox="1"/>
            <p:nvPr/>
          </p:nvSpPr>
          <p:spPr>
            <a:xfrm>
              <a:off x="384048" y="2450592"/>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2. 選ばれる価値の創造
</a:t>
              </a:r>
              <a:r>
                <a:rPr sz="100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2231136" y="2441448"/>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真因2（提案材料の不足）。ゼロクリック66.4%〔ヴァリューズ〕。AIの引用元は自社サイト1%・小売EC17%〔XEO360〕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p:cNvSpPr txBox="1"/>
            <p:nvPr/>
          </p:nvSpPr>
          <p:spPr>
            <a:xfrm>
              <a:off x="5129784" y="2441448"/>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1" name="TextBox 40"/>
            <p:cNvSpPr txBox="1"/>
            <p:nvPr/>
          </p:nvSpPr>
          <p:spPr>
            <a:xfrm>
              <a:off x="8348472" y="2441448"/>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A1★ 属性データの
構造化・API化
C1★ 臨床データ変換</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3" name="TextBox 42"/>
            <p:cNvSpPr txBox="1"/>
            <p:nvPr/>
          </p:nvSpPr>
          <p:spPr>
            <a:xfrm>
              <a:off x="9784080" y="2441448"/>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AIEO Rate 30→50%
根拠データ付き商談80%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5" name="TextBox 44"/>
            <p:cNvSpPr txBox="1"/>
            <p:nvPr/>
          </p:nvSpPr>
          <p:spPr>
            <a:xfrm>
              <a:off x="384048" y="3291840"/>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3. 顧客接点の統合
</a:t>
              </a:r>
              <a:r>
                <a:rPr sz="100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7" name="TextBox 46"/>
            <p:cNvSpPr txBox="1"/>
            <p:nvPr/>
          </p:nvSpPr>
          <p:spPr>
            <a:xfrm>
              <a:off x="2231136" y="3282696"/>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9" name="TextBox 48"/>
            <p:cNvSpPr txBox="1"/>
            <p:nvPr/>
          </p:nvSpPr>
          <p:spPr>
            <a:xfrm>
              <a:off x="5129784" y="3282696"/>
              <a:ext cx="3072384"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1" name="TextBox 50"/>
            <p:cNvSpPr txBox="1"/>
            <p:nvPr/>
          </p:nvSpPr>
          <p:spPr>
            <a:xfrm>
              <a:off x="8348472" y="3282696"/>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B2 リテールメディア
投資の内製化
C2 提案の標準化</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3" name="TextBox 52"/>
            <p:cNvSpPr txBox="1"/>
            <p:nvPr/>
          </p:nvSpPr>
          <p:spPr>
            <a:xfrm>
              <a:off x="9784080" y="3282696"/>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5" name="TextBox 54"/>
            <p:cNvSpPr txBox="1"/>
            <p:nvPr/>
          </p:nvSpPr>
          <p:spPr>
            <a:xfrm>
              <a:off x="384048" y="4133087"/>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4. 顧客資本の蓄積
</a:t>
              </a:r>
              <a:r>
                <a:rPr sz="100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2231136" y="4123944"/>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5129784" y="4123944"/>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p:cNvSpPr txBox="1"/>
            <p:nvPr/>
          </p:nvSpPr>
          <p:spPr>
            <a:xfrm>
              <a:off x="8348472" y="4123944"/>
              <a:ext cx="1289304" cy="510150"/>
            </a:xfrm>
            <a:prstGeom prst="rect">
              <a:avLst/>
            </a:prstGeom>
            <a:noFill/>
          </p:spPr>
          <p:txBody>
            <a:bodyPr wrap="square" lIns="0" tIns="0" rIns="0" bIns="0">
              <a:spAutoFit/>
            </a:bodyPr>
            <a:lstStyle/>
            <a:p>
              <a:pPr>
                <a:lnSpc>
                  <a:spcPct val="105000"/>
                </a:lnSpc>
              </a:pPr>
              <a:r>
                <a:rPr sz="900" b="1">
                  <a:solidFill>
                    <a:srgbClr val="262626"/>
                  </a:solidFill>
                  <a:latin typeface="Meiryo UI"/>
                  <a:ea typeface="Meiryo UI"/>
                </a:rPr>
                <a:t>B1★ 投資ROI可視化
（MMM×DCR）
＋ID再設計（候補）</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3" name="TextBox 62"/>
            <p:cNvSpPr txBox="1"/>
            <p:nvPr/>
          </p:nvSpPr>
          <p:spPr>
            <a:xfrm>
              <a:off x="9784080" y="4123944"/>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384048" y="4974336"/>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5. 実行能力と成果管理
</a:t>
              </a:r>
              <a:r>
                <a:rPr sz="100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TextBox 66"/>
            <p:cNvSpPr txBox="1"/>
            <p:nvPr/>
          </p:nvSpPr>
          <p:spPr>
            <a:xfrm>
              <a:off x="2231136" y="4965192"/>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真因3（仕組みの不在）。生成AI普及は1年で約3倍〔総務省白書〕＝期限は自社で選べない。対P&amp;G生産性7.6倍差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9" name="TextBox 68"/>
            <p:cNvSpPr txBox="1"/>
            <p:nvPr/>
          </p:nvSpPr>
          <p:spPr>
            <a:xfrm>
              <a:off x="5129784" y="4965192"/>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ゼロ化で時間を生み、スクワッド×最上位KPI（増分粗利）で束ねる。役員オーナー制＋撤退基準＋検証責任は提案側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1" name="TextBox 70"/>
            <p:cNvSpPr txBox="1"/>
            <p:nvPr/>
          </p:nvSpPr>
          <p:spPr>
            <a:xfrm>
              <a:off x="8348472" y="4965192"/>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D1★ Input業務ゼロ化
D2 組織対組織の体制</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3" name="TextBox 72"/>
            <p:cNvSpPr txBox="1"/>
            <p:nvPr/>
          </p:nvSpPr>
          <p:spPr>
            <a:xfrm>
              <a:off x="9784080" y="4965192"/>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5" name="TextBox 74"/>
            <p:cNvSpPr txBox="1"/>
            <p:nvPr/>
          </p:nvSpPr>
          <p:spPr>
            <a:xfrm>
              <a:off x="457200" y="5824728"/>
              <a:ext cx="11292840" cy="385241"/>
            </a:xfrm>
            <a:prstGeom prst="rect">
              <a:avLst/>
            </a:prstGeom>
            <a:noFill/>
          </p:spPr>
          <p:txBody>
            <a:bodyPr wrap="square" lIns="0" tIns="0" rIns="0" bIns="0">
              <a:spAutoFit/>
            </a:bodyPr>
            <a:lstStyle/>
            <a:p>
              <a:pPr>
                <a:lnSpc>
                  <a:spcPct val="116000"/>
                </a:lnSpc>
              </a:pPr>
              <a:r>
                <a:rPr sz="1050" b="1">
                  <a:solidFill>
                    <a:srgbClr val="008D2E"/>
                  </a:solidFill>
                  <a:latin typeface="Meiryo UI"/>
                  <a:ea typeface="Meiryo UI"/>
                </a:rPr>
                <a:t>MECEの根拠と「線」の設計：</a:t>
              </a:r>
              <a:r>
                <a:rPr sz="1050" b="0">
                  <a:solidFill>
                    <a:srgbClr val="262626"/>
                  </a:solidFill>
                  <a:latin typeface="Meiryo UI"/>
                  <a:ea typeface="Meiryo UI"/>
                </a:rPr>
                <a:t>5テーマは「選ぶ→定める→届ける→蓄える→回す」の完全分割（漏れ・重複なし）。8施策は排他的に割当てつつ、C1の根拠がC2の標準提案に、B2の接点がB1の計測を強くし、D1が全体の時間を支える ― という受け渡しを「線」として設計。出口＝業務の変化は次頁。</a:t>
              </a:r>
            </a:p>
          </p:txBody>
        </p:sp>
      </p:grpSp>
    </p:spTree>
    <p:extLst>
      <p:ext uri="{BB962C8B-B14F-4D97-AF65-F5344CB8AC3E}">
        <p14:creationId xmlns:p14="http://schemas.microsoft.com/office/powerpoint/2010/main" val="2086130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ADF409-8DDB-ACBD-4A9B-371D1BC9D71D}"/>
              </a:ext>
            </a:extLst>
          </p:cNvPr>
          <p:cNvSpPr>
            <a:spLocks noGrp="1"/>
          </p:cNvSpPr>
          <p:nvPr>
            <p:ph type="title"/>
          </p:nvPr>
        </p:nvSpPr>
        <p:spPr/>
        <p:txBody>
          <a:bodyPr/>
          <a:lstStyle/>
          <a:p>
            <a:r>
              <a:rPr lang="ja-JP" altLang="en-US" b="1" dirty="0">
                <a:solidFill>
                  <a:srgbClr val="262626"/>
                </a:solidFill>
                <a:latin typeface="Meiryo UI"/>
                <a:ea typeface="Meiryo UI"/>
              </a:rPr>
              <a:t>出口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マーケティング・営業</a:t>
            </a:r>
            <a:r>
              <a:rPr lang="en-US" altLang="ja-JP" b="1" dirty="0">
                <a:solidFill>
                  <a:srgbClr val="262626"/>
                </a:solidFill>
                <a:latin typeface="Meiryo UI"/>
                <a:ea typeface="Meiryo UI"/>
              </a:rPr>
              <a:t>DX</a:t>
            </a:r>
            <a:r>
              <a:rPr lang="ja-JP" altLang="en-US" b="1" dirty="0">
                <a:solidFill>
                  <a:srgbClr val="262626"/>
                </a:solidFill>
                <a:latin typeface="Meiryo UI"/>
                <a:ea typeface="Meiryo UI"/>
              </a:rPr>
              <a:t>の姿（</a:t>
            </a:r>
            <a:r>
              <a:rPr lang="en-US" altLang="ja-JP" b="1" dirty="0">
                <a:solidFill>
                  <a:srgbClr val="262626"/>
                </a:solidFill>
                <a:latin typeface="Meiryo UI"/>
                <a:ea typeface="Meiryo UI"/>
              </a:rPr>
              <a:t>Before</a:t>
            </a:r>
            <a:r>
              <a:rPr lang="ja-JP" altLang="en-US" b="1" dirty="0">
                <a:solidFill>
                  <a:srgbClr val="262626"/>
                </a:solidFill>
                <a:latin typeface="Meiryo UI"/>
                <a:ea typeface="Meiryo UI"/>
              </a:rPr>
              <a:t> → </a:t>
            </a:r>
            <a:r>
              <a:rPr lang="en-US" altLang="ja-JP" b="1" dirty="0">
                <a:solidFill>
                  <a:srgbClr val="262626"/>
                </a:solidFill>
                <a:latin typeface="Meiryo UI"/>
                <a:ea typeface="Meiryo UI"/>
              </a:rPr>
              <a:t>After</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010C1949-5B5C-DE15-DC7A-7ADC3430AEBA}"/>
              </a:ext>
            </a:extLst>
          </p:cNvPr>
          <p:cNvSpPr>
            <a:spLocks noGrp="1"/>
          </p:cNvSpPr>
          <p:nvPr>
            <p:ph type="body" sz="quarter" idx="13"/>
          </p:nvPr>
        </p:nvSpPr>
        <p:spPr/>
        <p:txBody>
          <a:bodyPr/>
          <a:lstStyle/>
          <a:p>
            <a:r>
              <a:rPr lang="ja-JP" altLang="en-US" b="1" dirty="0">
                <a:solidFill>
                  <a:srgbClr val="262626"/>
                </a:solidFill>
                <a:latin typeface="Meiryo UI"/>
                <a:ea typeface="Meiryo UI"/>
              </a:rPr>
              <a:t>出口は戦略文書ではなく、現場の仕事の新しい姿が回っている状態。</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つの経営テーマの答えを、誰の・どの業務が・どのデジタルで変わるかに着地させる</a:t>
            </a:r>
          </a:p>
        </p:txBody>
      </p:sp>
      <p:grpSp>
        <p:nvGrpSpPr>
          <p:cNvPr id="4" name="グループ化 3">
            <a:extLst>
              <a:ext uri="{FF2B5EF4-FFF2-40B4-BE49-F238E27FC236}">
                <a16:creationId xmlns:a16="http://schemas.microsoft.com/office/drawing/2014/main" id="{1CB1FD51-8D26-5B02-E709-5CCBC7D770DA}"/>
              </a:ext>
            </a:extLst>
          </p:cNvPr>
          <p:cNvGrpSpPr/>
          <p:nvPr/>
        </p:nvGrpSpPr>
        <p:grpSpPr>
          <a:xfrm>
            <a:off x="320040" y="1628774"/>
            <a:ext cx="11521440" cy="4845177"/>
            <a:chOff x="320040" y="1463040"/>
            <a:chExt cx="11521440" cy="5010912"/>
          </a:xfrm>
        </p:grpSpPr>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5" name="TextBox 14"/>
            <p:cNvSpPr txBox="1"/>
            <p:nvPr/>
          </p:nvSpPr>
          <p:spPr>
            <a:xfrm>
              <a:off x="42976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TextBox 16"/>
            <p:cNvSpPr txBox="1"/>
            <p:nvPr/>
          </p:nvSpPr>
          <p:spPr>
            <a:xfrm>
              <a:off x="393192" y="1892807"/>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商談の準備</a:t>
              </a:r>
            </a:p>
          </p:txBody>
        </p:sp>
        <p:sp>
          <p:nvSpPr>
            <p:cNvPr id="18" name="TextBox 17"/>
            <p:cNvSpPr txBox="1"/>
            <p:nvPr/>
          </p:nvSpPr>
          <p:spPr>
            <a:xfrm>
              <a:off x="153619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生成AI×TPMが提案書・LTV予測・炭素効率を自動生成。営業はレビューのみ　</a:t>
              </a:r>
              <a:r>
                <a:rPr sz="1050" b="0">
                  <a:solidFill>
                    <a:srgbClr val="595959"/>
                  </a:solidFill>
                  <a:latin typeface="Meiryo UI"/>
                  <a:ea typeface="Meiryo UI"/>
                </a:rPr>
                <a:t>（C1・D1）</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1" name="TextBox 20"/>
            <p:cNvSpPr txBox="1"/>
            <p:nvPr/>
          </p:nvSpPr>
          <p:spPr>
            <a:xfrm>
              <a:off x="393192" y="2880360"/>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商談の中身</a:t>
              </a:r>
            </a:p>
          </p:txBody>
        </p:sp>
        <p:sp>
          <p:nvSpPr>
            <p:cNvPr id="22" name="TextBox 21"/>
            <p:cNvSpPr txBox="1"/>
            <p:nvPr/>
          </p:nvSpPr>
          <p:spPr>
            <a:xfrm>
              <a:off x="153619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「値引き70＋施策30＋成果連動」＋小売データ共同検証のJBP商談へ　</a:t>
              </a:r>
              <a:r>
                <a:rPr sz="1050" b="0">
                  <a:solidFill>
                    <a:srgbClr val="595959"/>
                  </a:solidFill>
                  <a:latin typeface="Meiryo UI"/>
                  <a:ea typeface="Meiryo UI"/>
                </a:rPr>
                <a:t>（C2・B1）</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5" name="TextBox 24"/>
            <p:cNvSpPr txBox="1"/>
            <p:nvPr/>
          </p:nvSpPr>
          <p:spPr>
            <a:xfrm>
              <a:off x="393192" y="3867911"/>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売場・接点</a:t>
              </a:r>
            </a:p>
          </p:txBody>
        </p:sp>
        <p:sp>
          <p:nvSpPr>
            <p:cNvPr id="26" name="TextBox 25"/>
            <p:cNvSpPr txBox="1"/>
            <p:nvPr/>
          </p:nvSpPr>
          <p:spPr>
            <a:xfrm>
              <a:off x="153619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診断型売場×リテールメディアを共同運用。棚・EC・AI推奨をTAで一体管理　</a:t>
              </a:r>
              <a:r>
                <a:rPr sz="1050" b="0">
                  <a:solidFill>
                    <a:srgbClr val="595959"/>
                  </a:solidFill>
                  <a:latin typeface="Meiryo UI"/>
                  <a:ea typeface="Meiryo UI"/>
                </a:rPr>
                <a:t>（B2）</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TextBox 28"/>
            <p:cNvSpPr txBox="1"/>
            <p:nvPr/>
          </p:nvSpPr>
          <p:spPr>
            <a:xfrm>
              <a:off x="393192" y="4855464"/>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体制・評価</a:t>
              </a:r>
            </a:p>
          </p:txBody>
        </p:sp>
        <p:sp>
          <p:nvSpPr>
            <p:cNvPr id="30" name="TextBox 29"/>
            <p:cNvSpPr txBox="1"/>
            <p:nvPr/>
          </p:nvSpPr>
          <p:spPr>
            <a:xfrm>
              <a:off x="153619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スクワッド（営業・ブランド・データ・EC・SCM）で増分粗利を共有KPIに　</a:t>
              </a:r>
              <a:r>
                <a:rPr sz="1050" b="0">
                  <a:solidFill>
                    <a:srgbClr val="595959"/>
                  </a:solidFill>
                  <a:latin typeface="Meiryo UI"/>
                  <a:ea typeface="Meiryo UI"/>
                </a:rPr>
                <a:t>（D2）</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3" name="TextBox 32"/>
            <p:cNvSpPr txBox="1"/>
            <p:nvPr/>
          </p:nvSpPr>
          <p:spPr>
            <a:xfrm>
              <a:off x="628192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5" name="TextBox 34"/>
            <p:cNvSpPr txBox="1"/>
            <p:nvPr/>
          </p:nvSpPr>
          <p:spPr>
            <a:xfrm>
              <a:off x="6245352" y="1892807"/>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メディア投資</a:t>
              </a:r>
            </a:p>
          </p:txBody>
        </p:sp>
        <p:sp>
          <p:nvSpPr>
            <p:cNvPr id="36" name="TextBox 35"/>
            <p:cNvSpPr txBox="1"/>
            <p:nvPr/>
          </p:nvSpPr>
          <p:spPr>
            <a:xfrm>
              <a:off x="738835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リテールメディア・AIEOへ再配分し、MMM＋増分実験でROIを毎月運用　</a:t>
              </a:r>
              <a:r>
                <a:rPr sz="1050" b="0">
                  <a:solidFill>
                    <a:srgbClr val="595959"/>
                  </a:solidFill>
                  <a:latin typeface="Meiryo UI"/>
                  <a:ea typeface="Meiryo UI"/>
                </a:rPr>
                <a:t>（B1・B2）</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9" name="TextBox 38"/>
            <p:cNvSpPr txBox="1"/>
            <p:nvPr/>
          </p:nvSpPr>
          <p:spPr>
            <a:xfrm>
              <a:off x="6245352" y="2880360"/>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コンテンツ</a:t>
              </a:r>
            </a:p>
          </p:txBody>
        </p:sp>
        <p:sp>
          <p:nvSpPr>
            <p:cNvPr id="40" name="TextBox 39"/>
            <p:cNvSpPr txBox="1"/>
            <p:nvPr/>
          </p:nvSpPr>
          <p:spPr>
            <a:xfrm>
              <a:off x="738835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臨床エビデンスを「人向け」と「AIが引用する構造化データ」の両輪で生産　</a:t>
              </a:r>
              <a:r>
                <a:rPr sz="1050" b="0">
                  <a:solidFill>
                    <a:srgbClr val="595959"/>
                  </a:solidFill>
                  <a:latin typeface="Meiryo UI"/>
                  <a:ea typeface="Meiryo UI"/>
                </a:rPr>
                <a:t>（A1・C1）</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3" name="TextBox 42"/>
            <p:cNvSpPr txBox="1"/>
            <p:nvPr/>
          </p:nvSpPr>
          <p:spPr>
            <a:xfrm>
              <a:off x="6245352" y="3867911"/>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顧客基盤</a:t>
              </a:r>
            </a:p>
          </p:txBody>
        </p:sp>
        <p:sp>
          <p:nvSpPr>
            <p:cNvPr id="44" name="TextBox 43"/>
            <p:cNvSpPr txBox="1"/>
            <p:nvPr/>
          </p:nvSpPr>
          <p:spPr>
            <a:xfrm>
              <a:off x="738835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口腔健康OSとしてのID運用。リピート・継続を行動データで追いDCRで接続　</a:t>
              </a:r>
              <a:r>
                <a:rPr sz="1050" b="0">
                  <a:solidFill>
                    <a:srgbClr val="595959"/>
                  </a:solidFill>
                  <a:latin typeface="Meiryo UI"/>
                  <a:ea typeface="Meiryo UI"/>
                </a:rPr>
                <a:t>（A2・DCR）</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7" name="TextBox 46"/>
            <p:cNvSpPr txBox="1"/>
            <p:nvPr/>
          </p:nvSpPr>
          <p:spPr>
            <a:xfrm>
              <a:off x="6245352" y="4855464"/>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AI接点の運用</a:t>
              </a:r>
            </a:p>
          </p:txBody>
        </p:sp>
        <p:sp>
          <p:nvSpPr>
            <p:cNvPr id="48" name="TextBox 47"/>
            <p:cNvSpPr txBox="1"/>
            <p:nvPr/>
          </p:nvSpPr>
          <p:spPr>
            <a:xfrm>
              <a:off x="738835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AIEO Rate月次監査→原因特定→情報修正のループを運用　</a:t>
              </a:r>
              <a:r>
                <a:rPr sz="1050" b="0">
                  <a:solidFill>
                    <a:srgbClr val="595959"/>
                  </a:solidFill>
                  <a:latin typeface="Meiryo UI"/>
                  <a:ea typeface="Meiryo UI"/>
                </a:rPr>
                <a:t>（A1）</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1" name="TextBox 50"/>
            <p:cNvSpPr txBox="1"/>
            <p:nvPr/>
          </p:nvSpPr>
          <p:spPr>
            <a:xfrm>
              <a:off x="457200" y="5998464"/>
              <a:ext cx="11292840" cy="381303"/>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出口の定義：</a:t>
              </a:r>
              <a:r>
                <a:rPr sz="110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grpSp>
    </p:spTree>
    <p:extLst>
      <p:ext uri="{BB962C8B-B14F-4D97-AF65-F5344CB8AC3E}">
        <p14:creationId xmlns:p14="http://schemas.microsoft.com/office/powerpoint/2010/main" val="3487142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842818-3760-E498-9FBC-D727664C4258}"/>
              </a:ext>
            </a:extLst>
          </p:cNvPr>
          <p:cNvSpPr>
            <a:spLocks noGrp="1"/>
          </p:cNvSpPr>
          <p:nvPr>
            <p:ph type="title"/>
          </p:nvPr>
        </p:nvSpPr>
        <p:spPr/>
        <p:txBody>
          <a:bodyPr/>
          <a:lstStyle/>
          <a:p>
            <a:r>
              <a:rPr lang="ja-JP" altLang="en-US" b="1" dirty="0">
                <a:solidFill>
                  <a:srgbClr val="262626"/>
                </a:solidFill>
                <a:latin typeface="Meiryo UI"/>
                <a:ea typeface="Meiryo UI"/>
              </a:rPr>
              <a:t>マイルストーン（</a:t>
            </a:r>
            <a:r>
              <a:rPr lang="en-US" altLang="ja-JP" b="1" dirty="0">
                <a:solidFill>
                  <a:srgbClr val="262626"/>
                </a:solidFill>
                <a:latin typeface="Meiryo UI"/>
                <a:ea typeface="Meiryo UI"/>
              </a:rPr>
              <a:t>FY26–FY30</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2FF04164-7F2E-2DD2-AB0D-F05AC9156912}"/>
              </a:ext>
            </a:extLst>
          </p:cNvPr>
          <p:cNvSpPr>
            <a:spLocks noGrp="1"/>
          </p:cNvSpPr>
          <p:nvPr>
            <p:ph type="body" sz="quarter" idx="13"/>
          </p:nvPr>
        </p:nvSpPr>
        <p:spPr/>
        <p:txBody>
          <a:bodyPr/>
          <a:lstStyle/>
          <a:p>
            <a:r>
              <a:rPr lang="en-US" altLang="ja-JP" b="1" dirty="0">
                <a:solidFill>
                  <a:srgbClr val="262626"/>
                </a:solidFill>
                <a:latin typeface="Meiryo UI"/>
                <a:ea typeface="Meiryo UI"/>
              </a:rPr>
              <a:t>FY30</a:t>
            </a:r>
            <a:r>
              <a:rPr lang="ja-JP" altLang="en-US" b="1" dirty="0">
                <a:solidFill>
                  <a:srgbClr val="262626"/>
                </a:solidFill>
                <a:latin typeface="Meiryo UI"/>
                <a:ea typeface="Meiryo UI"/>
              </a:rPr>
              <a:t>（</a:t>
            </a:r>
            <a:r>
              <a:rPr lang="en-US" altLang="ja-JP" b="1" dirty="0">
                <a:solidFill>
                  <a:srgbClr val="262626"/>
                </a:solidFill>
                <a:latin typeface="Meiryo UI"/>
                <a:ea typeface="Meiryo UI"/>
              </a:rPr>
              <a:t>3rd Stage</a:t>
            </a:r>
            <a:r>
              <a:rPr lang="ja-JP" altLang="en-US" b="1" dirty="0">
                <a:solidFill>
                  <a:srgbClr val="262626"/>
                </a:solidFill>
                <a:latin typeface="Meiryo UI"/>
                <a:ea typeface="Meiryo UI"/>
              </a:rPr>
              <a:t>完了・統合報告書での</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開示）に向けた段階実装。確認ゲートに合格したときだけ投資と組織変更を拡大する</a:t>
            </a:r>
          </a:p>
        </p:txBody>
      </p:sp>
      <p:grpSp>
        <p:nvGrpSpPr>
          <p:cNvPr id="4" name="グループ化 3">
            <a:extLst>
              <a:ext uri="{FF2B5EF4-FFF2-40B4-BE49-F238E27FC236}">
                <a16:creationId xmlns:a16="http://schemas.microsoft.com/office/drawing/2014/main" id="{C491619A-3C71-6214-EA58-A20EED49291A}"/>
              </a:ext>
            </a:extLst>
          </p:cNvPr>
          <p:cNvGrpSpPr/>
          <p:nvPr/>
        </p:nvGrpSpPr>
        <p:grpSpPr>
          <a:xfrm>
            <a:off x="320040" y="1628774"/>
            <a:ext cx="11521440" cy="4708017"/>
            <a:chOff x="320040" y="1463040"/>
            <a:chExt cx="11521440" cy="4873752"/>
          </a:xfrm>
        </p:grpSpPr>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286000" y="150876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411480" y="2231136"/>
              <a:ext cx="1645920" cy="466235"/>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2286000" y="2231136"/>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411480" y="2953511"/>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2286000" y="2953511"/>
              <a:ext cx="9418320" cy="406362"/>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3675888"/>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2286000" y="3675888"/>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411480" y="4398264"/>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2286000" y="4398264"/>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411480" y="512064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2286000" y="512064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57200" y="5888736"/>
              <a:ext cx="11292840" cy="416318"/>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2030年以降：</a:t>
              </a:r>
              <a:r>
                <a:rPr sz="1200" b="0">
                  <a:solidFill>
                    <a:srgbClr val="262626"/>
                  </a:solidFill>
                  <a:latin typeface="Meiryo UI"/>
                  <a:ea typeface="Meiryo UI"/>
                </a:rPr>
                <a:t>確立した勝ち方を全カテゴリ・主要小売へ標準展開し、2035年に賭けが収益の柱、2040年に「予防習慣インフラ企業」（制度とAIの初期設定を握る）へ ― ゲート不合格なら拡大せず、詰まった手順を直して再挑戦。</a:t>
              </a:r>
            </a:p>
          </p:txBody>
        </p:sp>
      </p:grpSp>
    </p:spTree>
    <p:extLst>
      <p:ext uri="{BB962C8B-B14F-4D97-AF65-F5344CB8AC3E}">
        <p14:creationId xmlns:p14="http://schemas.microsoft.com/office/powerpoint/2010/main" val="209536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2BBFB5-B5F2-82BA-D9CA-1C7002F6ECE9}"/>
              </a:ext>
            </a:extLst>
          </p:cNvPr>
          <p:cNvSpPr>
            <a:spLocks noGrp="1"/>
          </p:cNvSpPr>
          <p:nvPr>
            <p:ph type="title"/>
          </p:nvPr>
        </p:nvSpPr>
        <p:spPr/>
        <p:txBody>
          <a:bodyPr/>
          <a:lstStyle/>
          <a:p>
            <a:r>
              <a:rPr lang="en-US" altLang="ja-JP" b="1" dirty="0">
                <a:solidFill>
                  <a:srgbClr val="262626"/>
                </a:solidFill>
                <a:latin typeface="Meiryo UI"/>
                <a:ea typeface="Meiryo UI"/>
              </a:rPr>
              <a:t>KGI/KPI</a:t>
            </a:r>
            <a:r>
              <a:rPr lang="ja-JP" altLang="en-US" b="1" dirty="0">
                <a:solidFill>
                  <a:srgbClr val="262626"/>
                </a:solidFill>
                <a:latin typeface="Meiryo UI"/>
                <a:ea typeface="Meiryo UI"/>
              </a:rPr>
              <a:t>体系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最上位</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とライオン固有のユニーク</a:t>
            </a:r>
            <a:r>
              <a:rPr lang="en-US" altLang="ja-JP" b="1" dirty="0">
                <a:solidFill>
                  <a:srgbClr val="262626"/>
                </a:solidFill>
                <a:latin typeface="Meiryo UI"/>
                <a:ea typeface="Meiryo UI"/>
              </a:rPr>
              <a:t>KPI</a:t>
            </a:r>
            <a:endParaRPr kumimoji="1" lang="ja-JP" altLang="en-US" dirty="0"/>
          </a:p>
        </p:txBody>
      </p:sp>
      <p:sp>
        <p:nvSpPr>
          <p:cNvPr id="3" name="テキスト プレースホルダー 2">
            <a:extLst>
              <a:ext uri="{FF2B5EF4-FFF2-40B4-BE49-F238E27FC236}">
                <a16:creationId xmlns:a16="http://schemas.microsoft.com/office/drawing/2014/main" id="{FE36CEB5-2574-1A9C-BA40-070EF3998CBF}"/>
              </a:ext>
            </a:extLst>
          </p:cNvPr>
          <p:cNvSpPr>
            <a:spLocks noGrp="1"/>
          </p:cNvSpPr>
          <p:nvPr>
            <p:ph type="body" sz="quarter" idx="13"/>
          </p:nvPr>
        </p:nvSpPr>
        <p:spPr/>
        <p:txBody>
          <a:bodyPr/>
          <a:lstStyle/>
          <a:p>
            <a:r>
              <a:rPr lang="ja-JP" altLang="en-US" b="1" dirty="0">
                <a:solidFill>
                  <a:srgbClr val="262626"/>
                </a:solidFill>
                <a:latin typeface="Meiryo UI"/>
                <a:ea typeface="Meiryo UI"/>
              </a:rPr>
              <a:t>頂点は「増分粗利（オーラルケア）」＝施策がなかった場合との差分で測る変革の正味効果。新規（</a:t>
            </a:r>
            <a:r>
              <a:rPr lang="en-US" altLang="ja-JP" b="1" dirty="0">
                <a:solidFill>
                  <a:srgbClr val="262626"/>
                </a:solidFill>
                <a:latin typeface="Meiryo UI"/>
                <a:ea typeface="Meiryo UI"/>
              </a:rPr>
              <a:t>N-t-C</a:t>
            </a:r>
            <a:r>
              <a:rPr lang="ja-JP" altLang="en-US" b="1" dirty="0">
                <a:solidFill>
                  <a:srgbClr val="262626"/>
                </a:solidFill>
                <a:latin typeface="Meiryo UI"/>
                <a:ea typeface="Meiryo UI"/>
              </a:rPr>
              <a:t>）と継続（</a:t>
            </a:r>
            <a:r>
              <a:rPr lang="en-US" altLang="ja-JP" b="1" dirty="0">
                <a:solidFill>
                  <a:srgbClr val="262626"/>
                </a:solidFill>
                <a:latin typeface="Meiryo UI"/>
                <a:ea typeface="Meiryo UI"/>
              </a:rPr>
              <a:t>LTV</a:t>
            </a:r>
            <a:r>
              <a:rPr lang="ja-JP" altLang="en-US" b="1" dirty="0">
                <a:solidFill>
                  <a:srgbClr val="262626"/>
                </a:solidFill>
                <a:latin typeface="Meiryo UI"/>
                <a:ea typeface="Meiryo UI"/>
              </a:rPr>
              <a:t>）の</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本の枝に、固有</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をぶら下げる</a:t>
            </a:r>
          </a:p>
        </p:txBody>
      </p:sp>
      <p:grpSp>
        <p:nvGrpSpPr>
          <p:cNvPr id="4" name="グループ化 3">
            <a:extLst>
              <a:ext uri="{FF2B5EF4-FFF2-40B4-BE49-F238E27FC236}">
                <a16:creationId xmlns:a16="http://schemas.microsoft.com/office/drawing/2014/main" id="{CB76AB41-207F-5434-465F-89744C0E6964}"/>
              </a:ext>
            </a:extLst>
          </p:cNvPr>
          <p:cNvGrpSpPr/>
          <p:nvPr/>
        </p:nvGrpSpPr>
        <p:grpSpPr>
          <a:xfrm>
            <a:off x="320040" y="1628774"/>
            <a:ext cx="11521440" cy="4900041"/>
            <a:chOff x="320040" y="1426464"/>
            <a:chExt cx="11521440" cy="5102352"/>
          </a:xfrm>
        </p:grpSpPr>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069080" y="1481328"/>
              <a:ext cx="4023360" cy="289972"/>
            </a:xfrm>
            <a:prstGeom prst="rect">
              <a:avLst/>
            </a:prstGeom>
            <a:noFill/>
          </p:spPr>
          <p:txBody>
            <a:bodyPr wrap="square" lIns="0" tIns="0" rIns="0" bIns="0">
              <a:spAutoFit/>
            </a:bodyPr>
            <a:lstStyle/>
            <a:p>
              <a:pPr>
                <a:lnSpc>
                  <a:spcPct val="112000"/>
                </a:lnSpc>
              </a:pPr>
              <a:r>
                <a:rPr b="1" dirty="0" err="1">
                  <a:solidFill>
                    <a:srgbClr val="FFFFFF"/>
                  </a:solidFill>
                  <a:latin typeface="Meiryo UI"/>
                  <a:ea typeface="Meiryo UI"/>
                </a:rPr>
                <a:t>K</a:t>
              </a:r>
              <a:r>
                <a:rPr lang="en-US" altLang="ja-JP" b="1" dirty="0" err="1">
                  <a:solidFill>
                    <a:srgbClr val="FFFFFF"/>
                  </a:solidFill>
                  <a:latin typeface="Meiryo UI"/>
                  <a:ea typeface="Meiryo UI"/>
                </a:rPr>
                <a:t>G</a:t>
              </a:r>
              <a:r>
                <a:rPr b="1" dirty="0" err="1">
                  <a:solidFill>
                    <a:srgbClr val="FFFFFF"/>
                  </a:solidFill>
                  <a:latin typeface="Meiryo UI"/>
                  <a:ea typeface="Meiryo UI"/>
                </a:rPr>
                <a:t>I：増分粗利（オーラルケア事業</a:t>
              </a:r>
              <a:r>
                <a:rPr b="1" dirty="0">
                  <a:solidFill>
                    <a:srgbClr val="FFFFFF"/>
                  </a:solidFill>
                  <a:latin typeface="Meiryo UI"/>
                  <a:ea typeface="Meiryo UI"/>
                </a:rPr>
                <a:t>）</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148840" y="2130552"/>
              <a:ext cx="3566160"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9" name="TextBox 18"/>
            <p:cNvSpPr txBox="1"/>
            <p:nvPr/>
          </p:nvSpPr>
          <p:spPr>
            <a:xfrm>
              <a:off x="6446520" y="2130552"/>
              <a:ext cx="3566160" cy="408750"/>
            </a:xfrm>
            <a:prstGeom prst="rect">
              <a:avLst/>
            </a:prstGeom>
            <a:noFill/>
          </p:spPr>
          <p:txBody>
            <a:bodyPr wrap="square" lIns="0" tIns="0" rIns="0" bIns="0">
              <a:spAutoFit/>
            </a:bodyPr>
            <a:lstStyle/>
            <a:p>
              <a:pPr>
                <a:lnSpc>
                  <a:spcPct val="112000"/>
                </a:lnSpc>
              </a:pPr>
              <a:r>
                <a:rPr sz="1200" b="1" dirty="0">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374904" y="2551175"/>
              <a:ext cx="25420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044952" y="2551175"/>
              <a:ext cx="61996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9372600" y="2551175"/>
              <a:ext cx="7132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10213848" y="2551175"/>
              <a:ext cx="66751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84048" y="2880359"/>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3054096" y="2880359"/>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9372600" y="2953511"/>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10213848" y="2953511"/>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384048" y="3410711"/>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3054096" y="3410711"/>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9372600" y="3483863"/>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213848" y="3483863"/>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384048" y="3941063"/>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054096" y="3941063"/>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9372600" y="4014215"/>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10213848" y="4014215"/>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3" name="TextBox 52"/>
            <p:cNvSpPr txBox="1"/>
            <p:nvPr/>
          </p:nvSpPr>
          <p:spPr>
            <a:xfrm>
              <a:off x="384048" y="4471416"/>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5" name="TextBox 54"/>
            <p:cNvSpPr txBox="1"/>
            <p:nvPr/>
          </p:nvSpPr>
          <p:spPr>
            <a:xfrm>
              <a:off x="3054096" y="4471416"/>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7" name="TextBox 56"/>
            <p:cNvSpPr txBox="1"/>
            <p:nvPr/>
          </p:nvSpPr>
          <p:spPr>
            <a:xfrm>
              <a:off x="9372600" y="4544569"/>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9" name="TextBox 58"/>
            <p:cNvSpPr txBox="1"/>
            <p:nvPr/>
          </p:nvSpPr>
          <p:spPr>
            <a:xfrm>
              <a:off x="10213848" y="4544569"/>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1" name="TextBox 60"/>
            <p:cNvSpPr txBox="1"/>
            <p:nvPr/>
          </p:nvSpPr>
          <p:spPr>
            <a:xfrm>
              <a:off x="384048" y="5001768"/>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3" name="TextBox 62"/>
            <p:cNvSpPr txBox="1"/>
            <p:nvPr/>
          </p:nvSpPr>
          <p:spPr>
            <a:xfrm>
              <a:off x="3054096" y="5001768"/>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5" name="TextBox 64"/>
            <p:cNvSpPr txBox="1"/>
            <p:nvPr/>
          </p:nvSpPr>
          <p:spPr>
            <a:xfrm>
              <a:off x="9372600" y="5074920"/>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7" name="TextBox 66"/>
            <p:cNvSpPr txBox="1"/>
            <p:nvPr/>
          </p:nvSpPr>
          <p:spPr>
            <a:xfrm>
              <a:off x="10213848" y="5074920"/>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9" name="TextBox 68"/>
            <p:cNvSpPr txBox="1"/>
            <p:nvPr/>
          </p:nvSpPr>
          <p:spPr>
            <a:xfrm>
              <a:off x="384048" y="5532120"/>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1" name="TextBox 70"/>
            <p:cNvSpPr txBox="1"/>
            <p:nvPr/>
          </p:nvSpPr>
          <p:spPr>
            <a:xfrm>
              <a:off x="3054096" y="5532120"/>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3" name="TextBox 72"/>
            <p:cNvSpPr txBox="1"/>
            <p:nvPr/>
          </p:nvSpPr>
          <p:spPr>
            <a:xfrm>
              <a:off x="9372600" y="5605272"/>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5" name="TextBox 74"/>
            <p:cNvSpPr txBox="1"/>
            <p:nvPr/>
          </p:nvSpPr>
          <p:spPr>
            <a:xfrm>
              <a:off x="10213848" y="5605272"/>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7" name="TextBox 76"/>
            <p:cNvSpPr txBox="1"/>
            <p:nvPr/>
          </p:nvSpPr>
          <p:spPr>
            <a:xfrm>
              <a:off x="457200" y="6099048"/>
              <a:ext cx="11292840" cy="418765"/>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運用ルール：</a:t>
              </a:r>
              <a:r>
                <a:rPr sz="1200" b="0">
                  <a:solidFill>
                    <a:srgbClr val="262626"/>
                  </a:solidFill>
                  <a:latin typeface="Meiryo UI"/>
                  <a:ea typeface="Meiryo UI"/>
                </a:rPr>
                <a:t>現場KPIは四半期・ユニークKPIは半期でオーナー役員がレビュー。最上位KPI（増分粗利）に接続しない施策の追加は原則却下 ― 手段の目的化を防ぐ。FY30に統合報告書で開示し、変革を企業価値の言葉に翻訳する。</a:t>
              </a:r>
            </a:p>
          </p:txBody>
        </p:sp>
      </p:grpSp>
    </p:spTree>
    <p:extLst>
      <p:ext uri="{BB962C8B-B14F-4D97-AF65-F5344CB8AC3E}">
        <p14:creationId xmlns:p14="http://schemas.microsoft.com/office/powerpoint/2010/main" val="2361379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A65287-D920-4697-5FC1-42DB425331D0}"/>
              </a:ext>
            </a:extLst>
          </p:cNvPr>
          <p:cNvSpPr>
            <a:spLocks noGrp="1"/>
          </p:cNvSpPr>
          <p:nvPr>
            <p:ph type="title"/>
          </p:nvPr>
        </p:nvSpPr>
        <p:spPr/>
        <p:txBody>
          <a:bodyPr/>
          <a:lstStyle/>
          <a:p>
            <a:r>
              <a:rPr lang="ja-JP" altLang="en-US" b="1" dirty="0">
                <a:solidFill>
                  <a:srgbClr val="262626"/>
                </a:solidFill>
                <a:latin typeface="Meiryo UI"/>
                <a:ea typeface="Meiryo UI"/>
              </a:rPr>
              <a:t>投資・体制観点の主要論点</a:t>
            </a:r>
            <a:endParaRPr kumimoji="1" lang="ja-JP" altLang="en-US" dirty="0"/>
          </a:p>
        </p:txBody>
      </p:sp>
      <p:sp>
        <p:nvSpPr>
          <p:cNvPr id="3" name="テキスト プレースホルダー 2">
            <a:extLst>
              <a:ext uri="{FF2B5EF4-FFF2-40B4-BE49-F238E27FC236}">
                <a16:creationId xmlns:a16="http://schemas.microsoft.com/office/drawing/2014/main" id="{C9C78C20-4B2B-87E4-5303-EA006F29FA78}"/>
              </a:ext>
            </a:extLst>
          </p:cNvPr>
          <p:cNvSpPr>
            <a:spLocks noGrp="1"/>
          </p:cNvSpPr>
          <p:nvPr>
            <p:ph type="body" sz="quarter" idx="13"/>
          </p:nvPr>
        </p:nvSpPr>
        <p:spPr/>
        <p:txBody>
          <a:bodyPr/>
          <a:lstStyle/>
          <a:p>
            <a:r>
              <a:rPr lang="ja-JP" altLang="en-US" b="1" dirty="0">
                <a:solidFill>
                  <a:srgbClr val="262626"/>
                </a:solidFill>
                <a:latin typeface="Meiryo UI"/>
                <a:ea typeface="Meiryo UI"/>
              </a:rPr>
              <a:t>優先度は真因・</a:t>
            </a:r>
            <a:r>
              <a:rPr lang="en-US" altLang="ja-JP" b="1" dirty="0">
                <a:solidFill>
                  <a:srgbClr val="262626"/>
                </a:solidFill>
                <a:latin typeface="Meiryo UI"/>
                <a:ea typeface="Meiryo UI"/>
              </a:rPr>
              <a:t>GAP</a:t>
            </a:r>
            <a:r>
              <a:rPr lang="ja-JP" altLang="en-US" b="1" dirty="0">
                <a:solidFill>
                  <a:srgbClr val="262626"/>
                </a:solidFill>
                <a:latin typeface="Meiryo UI"/>
                <a:ea typeface="Meiryo UI"/>
              </a:rPr>
              <a:t>への直接性で決定。</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年累計</a:t>
            </a:r>
            <a:r>
              <a:rPr lang="en-US" altLang="ja-JP" b="1" dirty="0">
                <a:solidFill>
                  <a:srgbClr val="262626"/>
                </a:solidFill>
                <a:latin typeface="Meiryo UI"/>
                <a:ea typeface="Meiryo UI"/>
              </a:rPr>
              <a:t>30〜50</a:t>
            </a:r>
            <a:r>
              <a:rPr lang="ja-JP" altLang="en-US" b="1" dirty="0">
                <a:solidFill>
                  <a:srgbClr val="262626"/>
                </a:solidFill>
                <a:latin typeface="Meiryo UI"/>
                <a:ea typeface="Meiryo UI"/>
              </a:rPr>
              <a:t>億円に対し効果は年</a:t>
            </a:r>
            <a:r>
              <a:rPr lang="en-US" altLang="ja-JP" b="1" dirty="0">
                <a:solidFill>
                  <a:srgbClr val="262626"/>
                </a:solidFill>
                <a:latin typeface="Meiryo UI"/>
                <a:ea typeface="Meiryo UI"/>
              </a:rPr>
              <a:t>45〜95</a:t>
            </a:r>
            <a:r>
              <a:rPr lang="ja-JP" altLang="en-US" b="1" dirty="0">
                <a:solidFill>
                  <a:srgbClr val="262626"/>
                </a:solidFill>
                <a:latin typeface="Meiryo UI"/>
                <a:ea typeface="Meiryo UI"/>
              </a:rPr>
              <a:t>億円＋売上防衛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前提は</a:t>
            </a:r>
            <a:r>
              <a:rPr lang="en-US" altLang="ja-JP" b="1" dirty="0">
                <a:solidFill>
                  <a:srgbClr val="262626"/>
                </a:solidFill>
                <a:latin typeface="Meiryo UI"/>
                <a:ea typeface="Meiryo UI"/>
              </a:rPr>
              <a:t>FY26</a:t>
            </a:r>
            <a:r>
              <a:rPr lang="ja-JP" altLang="en-US" b="1" dirty="0">
                <a:solidFill>
                  <a:srgbClr val="262626"/>
                </a:solidFill>
                <a:latin typeface="Meiryo UI"/>
                <a:ea typeface="Meiryo UI"/>
              </a:rPr>
              <a:t>上期に実測して確定</a:t>
            </a:r>
          </a:p>
        </p:txBody>
      </p:sp>
      <p:grpSp>
        <p:nvGrpSpPr>
          <p:cNvPr id="4" name="グループ化 3">
            <a:extLst>
              <a:ext uri="{FF2B5EF4-FFF2-40B4-BE49-F238E27FC236}">
                <a16:creationId xmlns:a16="http://schemas.microsoft.com/office/drawing/2014/main" id="{781CA8C1-8418-CA50-1970-61A26C3BD3A3}"/>
              </a:ext>
            </a:extLst>
          </p:cNvPr>
          <p:cNvGrpSpPr/>
          <p:nvPr/>
        </p:nvGrpSpPr>
        <p:grpSpPr>
          <a:xfrm>
            <a:off x="320040" y="1628774"/>
            <a:ext cx="11521440" cy="4644009"/>
            <a:chOff x="320040" y="1463040"/>
            <a:chExt cx="11521440" cy="4809744"/>
          </a:xfrm>
        </p:grpSpPr>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3291840" y="15087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10835640" y="1636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411480" y="21945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291840" y="21945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10835640" y="23225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28803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291840" y="28803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10835640" y="30083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411480" y="35661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3291840" y="35661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10835640" y="36941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11480" y="42519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3291840" y="42519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835640" y="43799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411480" y="49377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291840" y="49377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10835640" y="5065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457200" y="5669279"/>
              <a:ext cx="11292840" cy="416513"/>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投資対効果の全体観（仮・要実測）：</a:t>
              </a:r>
              <a:r>
                <a:rPr sz="120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grpSp>
    </p:spTree>
    <p:extLst>
      <p:ext uri="{BB962C8B-B14F-4D97-AF65-F5344CB8AC3E}">
        <p14:creationId xmlns:p14="http://schemas.microsoft.com/office/powerpoint/2010/main" val="3966238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350DBC-5987-49DD-B662-8FEB76485A86}"/>
              </a:ext>
            </a:extLst>
          </p:cNvPr>
          <p:cNvSpPr>
            <a:spLocks noGrp="1"/>
          </p:cNvSpPr>
          <p:nvPr>
            <p:ph type="title"/>
          </p:nvPr>
        </p:nvSpPr>
        <p:spPr/>
        <p:txBody>
          <a:bodyPr/>
          <a:lstStyle/>
          <a:p>
            <a:r>
              <a:rPr lang="ja-JP" altLang="en-US" b="1" dirty="0">
                <a:solidFill>
                  <a:srgbClr val="262626"/>
                </a:solidFill>
                <a:latin typeface="Meiryo UI"/>
                <a:ea typeface="Meiryo UI"/>
              </a:rPr>
              <a:t>真因を受けた「進め方」と次のアクション</a:t>
            </a:r>
            <a:endParaRPr kumimoji="1" lang="ja-JP" altLang="en-US" dirty="0"/>
          </a:p>
        </p:txBody>
      </p:sp>
      <p:sp>
        <p:nvSpPr>
          <p:cNvPr id="3" name="テキスト プレースホルダー 2">
            <a:extLst>
              <a:ext uri="{FF2B5EF4-FFF2-40B4-BE49-F238E27FC236}">
                <a16:creationId xmlns:a16="http://schemas.microsoft.com/office/drawing/2014/main" id="{BFE0F729-5660-CA15-A2DD-246676A04B76}"/>
              </a:ext>
            </a:extLst>
          </p:cNvPr>
          <p:cNvSpPr>
            <a:spLocks noGrp="1"/>
          </p:cNvSpPr>
          <p:nvPr>
            <p:ph type="body" sz="quarter" idx="13"/>
          </p:nvPr>
        </p:nvSpPr>
        <p:spPr/>
        <p:txBody>
          <a:bodyPr/>
          <a:lstStyle/>
          <a:p>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つの真因のうち、最初の一歩は追加予算のいらない「傾斜済み資源の使い方の再設計」。次回デジタル戦略会議では決めることを</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つに絞って諮る</a:t>
            </a:r>
          </a:p>
        </p:txBody>
      </p:sp>
      <p:grpSp>
        <p:nvGrpSpPr>
          <p:cNvPr id="4" name="グループ化 3">
            <a:extLst>
              <a:ext uri="{FF2B5EF4-FFF2-40B4-BE49-F238E27FC236}">
                <a16:creationId xmlns:a16="http://schemas.microsoft.com/office/drawing/2014/main" id="{F0CFE18E-2AC7-DCED-256A-638735747A11}"/>
              </a:ext>
            </a:extLst>
          </p:cNvPr>
          <p:cNvGrpSpPr/>
          <p:nvPr/>
        </p:nvGrpSpPr>
        <p:grpSpPr>
          <a:xfrm>
            <a:off x="320040" y="1600200"/>
            <a:ext cx="11521440" cy="4965192"/>
            <a:chOff x="320040" y="1600200"/>
            <a:chExt cx="11521440" cy="4965192"/>
          </a:xfrm>
        </p:grpSpPr>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解決3「改善の仕組み」の運営原則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最上位KPI＝増分粗利（オーラルケア）。施策ごとに撤退基準と検証計画を先に置き、効果検証まで提案側の責任とする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次回デジタル戦略会議で決めること（3つ）＝解決1「使い方の再設計」の起動</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grpSp>
    </p:spTree>
    <p:extLst>
      <p:ext uri="{BB962C8B-B14F-4D97-AF65-F5344CB8AC3E}">
        <p14:creationId xmlns:p14="http://schemas.microsoft.com/office/powerpoint/2010/main" val="3771752968"/>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現状とのギャップと真因 ― 前頁のテーマ別ギャップは、3つの真因に収束する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オーラル最重点も傾斜配分も実行済み ― 前頁のT1〜T4別ギャップを横断すると、残る原因は量（カネ・ヒト）ではなく、①資源の使い方 ②提案の材料 ③改善の仕組み の3つ</a:t>
            </a:r>
          </a:p>
        </p:txBody>
      </p:sp>
      <p:sp>
        <p:nvSpPr>
          <p:cNvPr id="14" name="TextBox 13"/>
          <p:cNvSpPr txBox="1"/>
          <p:nvPr/>
        </p:nvSpPr>
        <p:spPr>
          <a:xfrm>
            <a:off x="9418320" y="1170432"/>
            <a:ext cx="1005840" cy="219456"/>
          </a:xfrm>
          <a:prstGeom prst="rect">
            <a:avLst/>
          </a:prstGeom>
          <a:noFill/>
        </p:spPr>
        <p:txBody>
          <a:bodyPr wrap="square" lIns="0" rIns="0" tIns="0" bIns="0">
            <a:spAutoFit/>
          </a:bodyPr>
          <a:lstStyle/>
          <a:p>
            <a:pPr>
              <a:lnSpc>
                <a:spcPct val="112000"/>
              </a:lnSpc>
            </a:pPr>
            <a:r>
              <a:rPr sz="750" b="1">
                <a:solidFill>
                  <a:srgbClr val="595959"/>
                </a:solidFill>
                <a:latin typeface="Meiryo UI"/>
                <a:ea typeface="Meiryo UI"/>
              </a:rPr>
              <a:t>真因へのつながり</a:t>
            </a:r>
          </a:p>
        </p:txBody>
      </p:sp>
      <p:cxnSp>
        <p:nvCxnSpPr>
          <p:cNvPr id="15" name="Connector 14"/>
          <p:cNvCxnSpPr/>
          <p:nvPr/>
        </p:nvCxnSpPr>
        <p:spPr>
          <a:xfrm>
            <a:off x="10469880" y="1298448"/>
            <a:ext cx="457200" cy="0"/>
          </a:xfrm>
          <a:prstGeom prst="line">
            <a:avLst/>
          </a:prstGeom>
          <a:ln w="2286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972800" y="1188720"/>
            <a:ext cx="45720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主</a:t>
            </a:r>
          </a:p>
        </p:txBody>
      </p:sp>
      <p:cxnSp>
        <p:nvCxnSpPr>
          <p:cNvPr id="17" name="Connector 16"/>
          <p:cNvCxnSpPr/>
          <p:nvPr/>
        </p:nvCxnSpPr>
        <p:spPr>
          <a:xfrm>
            <a:off x="11292840" y="1298448"/>
            <a:ext cx="365760" cy="0"/>
          </a:xfrm>
          <a:prstGeom prst="line">
            <a:avLst/>
          </a:prstGeom>
          <a:ln w="1524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704320" y="1188720"/>
            <a:ext cx="27432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副</a:t>
            </a:r>
          </a:p>
        </p:txBody>
      </p:sp>
      <p:sp>
        <p:nvSpPr>
          <p:cNvPr id="19" name="Rectangle 18"/>
          <p:cNvSpPr/>
          <p:nvPr/>
        </p:nvSpPr>
        <p:spPr>
          <a:xfrm>
            <a:off x="32004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GAP1（T1 土俵）</a:t>
            </a:r>
          </a:p>
        </p:txBody>
      </p:sp>
      <p:sp>
        <p:nvSpPr>
          <p:cNvPr id="22" name="TextBox 21"/>
          <p:cNvSpPr txBox="1"/>
          <p:nvPr/>
        </p:nvSpPr>
        <p:spPr>
          <a:xfrm>
            <a:off x="42976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洗剤消耗戦から脱却できず、強み領域をAI自動補充へ潜り込ませる「属性データの構造化・API化」が道半ば</a:t>
            </a:r>
          </a:p>
        </p:txBody>
      </p:sp>
      <p:sp>
        <p:nvSpPr>
          <p:cNvPr id="23" name="Rectangle 22"/>
          <p:cNvSpPr/>
          <p:nvPr/>
        </p:nvSpPr>
        <p:spPr>
          <a:xfrm>
            <a:off x="32004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GAP2（T2 データ）</a:t>
            </a:r>
          </a:p>
        </p:txBody>
      </p:sp>
      <p:sp>
        <p:nvSpPr>
          <p:cNvPr id="26" name="TextBox 25"/>
          <p:cNvSpPr txBox="1"/>
          <p:nvPr/>
        </p:nvSpPr>
        <p:spPr>
          <a:xfrm>
            <a:off x="42976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自前D2C追随か小売依存かの二極化に陥り、小売インフラを高度利用する路線へ踏み切れていない</a:t>
            </a:r>
          </a:p>
        </p:txBody>
      </p:sp>
      <p:sp>
        <p:nvSpPr>
          <p:cNvPr id="27" name="Rectangle 26"/>
          <p:cNvSpPr/>
          <p:nvPr/>
        </p:nvSpPr>
        <p:spPr>
          <a:xfrm>
            <a:off x="882396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2396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GAP3（T3 商談）</a:t>
            </a:r>
          </a:p>
        </p:txBody>
      </p:sp>
      <p:sp>
        <p:nvSpPr>
          <p:cNvPr id="30" name="TextBox 29"/>
          <p:cNvSpPr txBox="1"/>
          <p:nvPr/>
        </p:nvSpPr>
        <p:spPr>
          <a:xfrm>
            <a:off x="893368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バイヤーが最も欲する「カテゴリLTV・炭素効率の予測」ではなく、目先の値引き・特売条件を提案し続けている</a:t>
            </a:r>
          </a:p>
        </p:txBody>
      </p:sp>
      <p:sp>
        <p:nvSpPr>
          <p:cNvPr id="31" name="Rectangle 30"/>
          <p:cNvSpPr/>
          <p:nvPr/>
        </p:nvSpPr>
        <p:spPr>
          <a:xfrm>
            <a:off x="882396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2396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GAP4（T4 組織）</a:t>
            </a:r>
          </a:p>
        </p:txBody>
      </p:sp>
      <p:sp>
        <p:nvSpPr>
          <p:cNvPr id="34" name="TextBox 33"/>
          <p:cNvSpPr txBox="1"/>
          <p:nvPr/>
        </p:nvSpPr>
        <p:spPr>
          <a:xfrm>
            <a:off x="893368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人手不足・環境規制で困窮する小売に組織総力戦で当たれず、営業個人の属人的関係で乗り切ろうとしている</a:t>
            </a:r>
          </a:p>
        </p:txBody>
      </p:sp>
      <p:sp>
        <p:nvSpPr>
          <p:cNvPr id="35" name="Rectangle 34"/>
          <p:cNvSpPr/>
          <p:nvPr/>
        </p:nvSpPr>
        <p:spPr>
          <a:xfrm>
            <a:off x="3840480" y="1463040"/>
            <a:ext cx="4480560" cy="1481328"/>
          </a:xfrm>
          <a:prstGeom prst="rect">
            <a:avLst/>
          </a:prstGeom>
          <a:solidFill>
            <a:srgbClr val="FFFFFF"/>
          </a:solidFill>
          <a:ln w="1651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84048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23360" y="1517904"/>
            <a:ext cx="4206240" cy="256032"/>
          </a:xfrm>
          <a:prstGeom prst="rect">
            <a:avLst/>
          </a:prstGeom>
          <a:noFill/>
        </p:spPr>
        <p:txBody>
          <a:bodyPr wrap="square" lIns="0" rIns="0" tIns="0" bIns="0">
            <a:spAutoFit/>
          </a:bodyPr>
          <a:lstStyle/>
          <a:p>
            <a:pPr>
              <a:lnSpc>
                <a:spcPct val="112000"/>
              </a:lnSpc>
            </a:pPr>
            <a:r>
              <a:rPr sz="919" b="1">
                <a:solidFill>
                  <a:srgbClr val="C8102E"/>
                </a:solidFill>
                <a:latin typeface="Meiryo UI"/>
                <a:ea typeface="Meiryo UI"/>
              </a:rPr>
              <a:t>真因1 増えた資源が「従来の使い方」のまま</a:t>
            </a:r>
          </a:p>
        </p:txBody>
      </p:sp>
      <p:sp>
        <p:nvSpPr>
          <p:cNvPr id="38" name="TextBox 37"/>
          <p:cNvSpPr txBox="1"/>
          <p:nvPr/>
        </p:nvSpPr>
        <p:spPr>
          <a:xfrm>
            <a:off x="4023360" y="18105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傾斜した宣伝・販促費の使い方が、マス認知×棚×特売・値引きの従来パターンのまま。AI・データ時代の勝ち方（エビデンス商談・AI推奨対応・B2B2C）が会社標準のやり方として設計・言語化されていない ― お金は新しい重点領域に、使い方は古いままで流れ込む</a:t>
            </a:r>
          </a:p>
        </p:txBody>
      </p:sp>
      <p:sp>
        <p:nvSpPr>
          <p:cNvPr id="39" name="Rectangle 38"/>
          <p:cNvSpPr/>
          <p:nvPr/>
        </p:nvSpPr>
        <p:spPr>
          <a:xfrm>
            <a:off x="3840480" y="3063240"/>
            <a:ext cx="4480560" cy="1481328"/>
          </a:xfrm>
          <a:prstGeom prst="rect">
            <a:avLst/>
          </a:prstGeom>
          <a:solidFill>
            <a:srgbClr val="FFFFFF"/>
          </a:solidFill>
          <a:ln w="1651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40480" y="3063240"/>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0" y="3118104"/>
            <a:ext cx="4206240" cy="256032"/>
          </a:xfrm>
          <a:prstGeom prst="rect">
            <a:avLst/>
          </a:prstGeom>
          <a:noFill/>
        </p:spPr>
        <p:txBody>
          <a:bodyPr wrap="square" lIns="0" rIns="0" tIns="0" bIns="0">
            <a:spAutoFit/>
          </a:bodyPr>
          <a:lstStyle/>
          <a:p>
            <a:pPr>
              <a:lnSpc>
                <a:spcPct val="112000"/>
              </a:lnSpc>
            </a:pPr>
            <a:r>
              <a:rPr sz="919" b="1">
                <a:solidFill>
                  <a:srgbClr val="0F5E87"/>
                </a:solidFill>
                <a:latin typeface="Meiryo UI"/>
                <a:ea typeface="Meiryo UI"/>
              </a:rPr>
              <a:t>真因2 値引きに代わる「提案の材料」がない</a:t>
            </a:r>
          </a:p>
        </p:txBody>
      </p:sp>
      <p:sp>
        <p:nvSpPr>
          <p:cNvPr id="42" name="TextBox 41"/>
          <p:cNvSpPr txBox="1"/>
          <p:nvPr/>
        </p:nvSpPr>
        <p:spPr>
          <a:xfrm>
            <a:off x="4023360" y="34107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バイヤーが要求する「売れる根拠」（LTV予測・炭素効率）も、AIが要求する「読める情報」（属性データ・エビデンス）も、着手はあるが進捗が不十分で、商談・接点で使える形になっていない。他に出せる提案がなく、営業は値引きに頼らざるを得ない ― 背景は部門の分断：R&amp;D・マーケの知見が営業の言葉に翻訳されないまま眠っている</a:t>
            </a:r>
          </a:p>
        </p:txBody>
      </p:sp>
      <p:sp>
        <p:nvSpPr>
          <p:cNvPr id="43" name="Rectangle 42"/>
          <p:cNvSpPr/>
          <p:nvPr/>
        </p:nvSpPr>
        <p:spPr>
          <a:xfrm>
            <a:off x="3840480" y="4663440"/>
            <a:ext cx="4480560" cy="1481328"/>
          </a:xfrm>
          <a:prstGeom prst="rect">
            <a:avLst/>
          </a:prstGeom>
          <a:solidFill>
            <a:srgbClr val="FFFFFF"/>
          </a:solidFill>
          <a:ln w="1651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840480" y="4663440"/>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23360" y="4718303"/>
            <a:ext cx="4206240" cy="256032"/>
          </a:xfrm>
          <a:prstGeom prst="rect">
            <a:avLst/>
          </a:prstGeom>
          <a:noFill/>
        </p:spPr>
        <p:txBody>
          <a:bodyPr wrap="square" lIns="0" rIns="0" tIns="0" bIns="0">
            <a:spAutoFit/>
          </a:bodyPr>
          <a:lstStyle/>
          <a:p>
            <a:pPr>
              <a:lnSpc>
                <a:spcPct val="112000"/>
              </a:lnSpc>
            </a:pPr>
            <a:r>
              <a:rPr sz="919" b="1">
                <a:solidFill>
                  <a:srgbClr val="008D2E"/>
                </a:solidFill>
                <a:latin typeface="Meiryo UI"/>
                <a:ea typeface="Meiryo UI"/>
              </a:rPr>
              <a:t>真因3 試す→検証→広げる「仕組み」がない</a:t>
            </a:r>
          </a:p>
        </p:txBody>
      </p:sp>
      <p:sp>
        <p:nvSpPr>
          <p:cNvPr id="46" name="TextBox 45"/>
          <p:cNvSpPr txBox="1"/>
          <p:nvPr/>
        </p:nvSpPr>
        <p:spPr>
          <a:xfrm>
            <a:off x="4023360" y="50109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提案材料を作る時間は事務作業に食われ、試した施策は検証されず、成功しても隣の売場・カテゴリに広がらない。営業1人がバイヤー1人に対する編成では、物流・環境・データを束ねた総力戦もできない ― 背景は部門別KPIとデータ基盤の分断：共通の検証インフラ（GCP統合）が無い</a:t>
            </a:r>
          </a:p>
        </p:txBody>
      </p:sp>
      <p:cxnSp>
        <p:nvCxnSpPr>
          <p:cNvPr id="47" name="Connector 46"/>
          <p:cNvCxnSpPr/>
          <p:nvPr/>
        </p:nvCxnSpPr>
        <p:spPr>
          <a:xfrm flipV="1">
            <a:off x="3337560" y="2103120"/>
            <a:ext cx="502920" cy="4572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337560" y="2514600"/>
            <a:ext cx="502920" cy="105156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337560" y="2651760"/>
            <a:ext cx="502920" cy="15544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337560" y="4663440"/>
            <a:ext cx="502920" cy="45720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8321040" y="2286000"/>
            <a:ext cx="502920" cy="137160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8321040" y="2651760"/>
            <a:ext cx="502920" cy="237744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8321040" y="1920240"/>
            <a:ext cx="502920" cy="18288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8321040" y="4709160"/>
            <a:ext cx="502920" cy="6400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8321040" y="3977639"/>
            <a:ext cx="502920" cy="320041"/>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20040" y="614476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6181344"/>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検算（この3つで全て説明できるか）：</a:t>
            </a:r>
            <a:r>
              <a:rPr sz="819" b="0">
                <a:solidFill>
                  <a:srgbClr val="262626"/>
                </a:solidFill>
                <a:latin typeface="Meiryo UI"/>
                <a:ea typeface="Meiryo UI"/>
              </a:rPr>
              <a:t>3つが解ければ4つのギャップはすべて閉じる。逆にどれか1つでも残せば再発する ― 使い方が古いままなら増えた資源は消耗戦に流れ、提案材料がなければ値引きに戻り、仕組みがなければ成功が一度きりで終わる。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真因と解決策 ― 3つの真因に1対1で答え、8つの重点施策に接続する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解決策は真因の裏返し。★＝最初に動かす起点施策。B1「投資ROI可視化」が全ての起点 ― この3解決を、次頁から4テーマ（現場の設計図）の言葉に展開する</a:t>
            </a:r>
          </a:p>
        </p:txBody>
      </p:sp>
      <p:sp>
        <p:nvSpPr>
          <p:cNvPr id="14" name="Rectangle 13"/>
          <p:cNvSpPr/>
          <p:nvPr/>
        </p:nvSpPr>
        <p:spPr>
          <a:xfrm>
            <a:off x="320040" y="1371600"/>
            <a:ext cx="1097280" cy="15361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70078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真因1
資源の
使い方</a:t>
            </a:r>
          </a:p>
        </p:txBody>
      </p:sp>
      <p:sp>
        <p:nvSpPr>
          <p:cNvPr id="16" name="TextBox 15"/>
          <p:cNvSpPr txBox="1"/>
          <p:nvPr/>
        </p:nvSpPr>
        <p:spPr>
          <a:xfrm>
            <a:off x="1444752" y="201168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1719072" y="1371600"/>
            <a:ext cx="6537960" cy="1536192"/>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47088" y="1426464"/>
            <a:ext cx="6309360" cy="274320"/>
          </a:xfrm>
          <a:prstGeom prst="rect">
            <a:avLst/>
          </a:prstGeom>
          <a:noFill/>
        </p:spPr>
        <p:txBody>
          <a:bodyPr wrap="square" lIns="0" rIns="0" tIns="0" bIns="0">
            <a:spAutoFit/>
          </a:bodyPr>
          <a:lstStyle/>
          <a:p>
            <a:pPr>
              <a:lnSpc>
                <a:spcPct val="112000"/>
              </a:lnSpc>
            </a:pPr>
            <a:r>
              <a:rPr sz="930" b="1">
                <a:solidFill>
                  <a:srgbClr val="C8102E"/>
                </a:solidFill>
                <a:latin typeface="Meiryo UI"/>
                <a:ea typeface="Meiryo UI"/>
              </a:rPr>
              <a:t>解決1 増えた資源の「使い方」を決め直す（追加予算不要）</a:t>
            </a:r>
          </a:p>
        </p:txBody>
      </p:sp>
      <p:sp>
        <p:nvSpPr>
          <p:cNvPr id="19" name="TextBox 18"/>
          <p:cNvSpPr txBox="1"/>
          <p:nvPr/>
        </p:nvSpPr>
        <p:spPr>
          <a:xfrm>
            <a:off x="1847088" y="1709928"/>
            <a:ext cx="6309360" cy="1152144"/>
          </a:xfrm>
          <a:prstGeom prst="rect">
            <a:avLst/>
          </a:prstGeom>
          <a:noFill/>
        </p:spPr>
        <p:txBody>
          <a:bodyPr wrap="square" lIns="0" rIns="0" tIns="0" bIns="0">
            <a:spAutoFit/>
          </a:bodyPr>
          <a:lstStyle/>
          <a:p>
            <a:pPr>
              <a:lnSpc>
                <a:spcPct val="116000"/>
              </a:lnSpc>
            </a:pPr>
            <a:r>
              <a:rPr sz="770" b="1">
                <a:solidFill>
                  <a:srgbClr val="C8102E"/>
                </a:solidFill>
                <a:latin typeface="Meiryo UI"/>
                <a:ea typeface="Meiryo UI"/>
              </a:rPr>
              <a:t>やること：</a:t>
            </a:r>
            <a:r>
              <a:rPr sz="770" b="0">
                <a:solidFill>
                  <a:srgbClr val="262626"/>
                </a:solidFill>
                <a:latin typeface="Meiryo UI"/>
                <a:ea typeface="Meiryo UI"/>
              </a:rPr>
              <a:t>傾斜配分で増えた宣伝・販促費の「使い先メニュー」と承認基準を作り直す</a:t>
            </a:r>
          </a:p>
          <a:p>
            <a:pPr>
              <a:lnSpc>
                <a:spcPct val="116000"/>
              </a:lnSpc>
            </a:pPr>
            <a:r>
              <a:rPr sz="750" b="1">
                <a:solidFill>
                  <a:srgbClr val="595959"/>
                </a:solidFill>
                <a:latin typeface="Meiryo UI"/>
                <a:ea typeface="Meiryo UI"/>
              </a:rPr>
              <a:t>具体例：</a:t>
            </a:r>
            <a:r>
              <a:rPr sz="750" b="0">
                <a:solidFill>
                  <a:srgbClr val="262626"/>
                </a:solidFill>
                <a:latin typeface="Meiryo UI"/>
                <a:ea typeface="Meiryo UI"/>
              </a:rPr>
              <a:t>①オーラルケアを4つの市場（補充買い・悩み・予防・口腔機能）に分け、市場ごとに勝ち方とKPIを決める　②特売・チラシ中心の販促メニューを、エビデンス商談・診断型売場・AI推奨対応に入れ替える　③商談の標準形を「値引き70＋施策30＋成果連動」にする</a:t>
            </a:r>
          </a:p>
          <a:p>
            <a:pPr>
              <a:lnSpc>
                <a:spcPct val="116000"/>
              </a:lnSpc>
            </a:pPr>
            <a:r>
              <a:rPr sz="770" b="1">
                <a:solidFill>
                  <a:srgbClr val="C8102E"/>
                </a:solidFill>
                <a:latin typeface="Meiryo UI"/>
                <a:ea typeface="Meiryo UI"/>
              </a:rPr>
              <a:t>→ 変わること：</a:t>
            </a:r>
            <a:r>
              <a:rPr sz="770" b="1">
                <a:solidFill>
                  <a:srgbClr val="262626"/>
                </a:solidFill>
                <a:latin typeface="Meiryo UI"/>
                <a:ea typeface="Meiryo UI"/>
              </a:rPr>
              <a:t>同じ予算のまま、値引きに消えていたお金が検証可能な施策に回る</a:t>
            </a:r>
          </a:p>
        </p:txBody>
      </p:sp>
      <p:sp>
        <p:nvSpPr>
          <p:cNvPr id="20" name="Rectangle 19"/>
          <p:cNvSpPr/>
          <p:nvPr/>
        </p:nvSpPr>
        <p:spPr>
          <a:xfrm>
            <a:off x="8366760" y="137160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76488" y="1417320"/>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22" name="Rectangle 21"/>
          <p:cNvSpPr/>
          <p:nvPr/>
        </p:nvSpPr>
        <p:spPr>
          <a:xfrm>
            <a:off x="8476488" y="1664208"/>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94776" y="170078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C2</a:t>
            </a:r>
          </a:p>
        </p:txBody>
      </p:sp>
      <p:sp>
        <p:nvSpPr>
          <p:cNvPr id="24" name="TextBox 23"/>
          <p:cNvSpPr txBox="1"/>
          <p:nvPr/>
        </p:nvSpPr>
        <p:spPr>
          <a:xfrm>
            <a:off x="9025128" y="1700784"/>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ロジック提案の標準化</a:t>
            </a:r>
          </a:p>
        </p:txBody>
      </p:sp>
      <p:sp>
        <p:nvSpPr>
          <p:cNvPr id="25" name="Rectangle 24"/>
          <p:cNvSpPr/>
          <p:nvPr/>
        </p:nvSpPr>
        <p:spPr>
          <a:xfrm>
            <a:off x="8476488" y="1993392"/>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94776" y="202996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B2</a:t>
            </a:r>
          </a:p>
        </p:txBody>
      </p:sp>
      <p:sp>
        <p:nvSpPr>
          <p:cNvPr id="27" name="TextBox 26"/>
          <p:cNvSpPr txBox="1"/>
          <p:nvPr/>
        </p:nvSpPr>
        <p:spPr>
          <a:xfrm>
            <a:off x="9025128" y="2029968"/>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リテールメディア投資の内製化</a:t>
            </a:r>
          </a:p>
        </p:txBody>
      </p:sp>
      <p:sp>
        <p:nvSpPr>
          <p:cNvPr id="28" name="Rectangle 27"/>
          <p:cNvSpPr/>
          <p:nvPr/>
        </p:nvSpPr>
        <p:spPr>
          <a:xfrm>
            <a:off x="320040" y="3017520"/>
            <a:ext cx="1097280" cy="15361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346703"/>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真因2
提案の
材料</a:t>
            </a:r>
          </a:p>
        </p:txBody>
      </p:sp>
      <p:sp>
        <p:nvSpPr>
          <p:cNvPr id="30" name="TextBox 29"/>
          <p:cNvSpPr txBox="1"/>
          <p:nvPr/>
        </p:nvSpPr>
        <p:spPr>
          <a:xfrm>
            <a:off x="1444752" y="365760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31" name="Rectangle 30"/>
          <p:cNvSpPr/>
          <p:nvPr/>
        </p:nvSpPr>
        <p:spPr>
          <a:xfrm>
            <a:off x="1719072" y="3017520"/>
            <a:ext cx="6537960" cy="1536192"/>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47088" y="3072384"/>
            <a:ext cx="6309360" cy="274320"/>
          </a:xfrm>
          <a:prstGeom prst="rect">
            <a:avLst/>
          </a:prstGeom>
          <a:noFill/>
        </p:spPr>
        <p:txBody>
          <a:bodyPr wrap="square" lIns="0" rIns="0" tIns="0" bIns="0">
            <a:spAutoFit/>
          </a:bodyPr>
          <a:lstStyle/>
          <a:p>
            <a:pPr>
              <a:lnSpc>
                <a:spcPct val="112000"/>
              </a:lnSpc>
            </a:pPr>
            <a:r>
              <a:rPr sz="930" b="1">
                <a:solidFill>
                  <a:srgbClr val="0F5E87"/>
                </a:solidFill>
                <a:latin typeface="Meiryo UI"/>
                <a:ea typeface="Meiryo UI"/>
              </a:rPr>
              <a:t>解決2 値引きに代わる「提案の材料」を、商談で使える形まで仕上げる</a:t>
            </a:r>
          </a:p>
        </p:txBody>
      </p:sp>
      <p:sp>
        <p:nvSpPr>
          <p:cNvPr id="33" name="TextBox 32"/>
          <p:cNvSpPr txBox="1"/>
          <p:nvPr/>
        </p:nvSpPr>
        <p:spPr>
          <a:xfrm>
            <a:off x="1847088" y="3355848"/>
            <a:ext cx="6309360" cy="1152144"/>
          </a:xfrm>
          <a:prstGeom prst="rect">
            <a:avLst/>
          </a:prstGeom>
          <a:noFill/>
        </p:spPr>
        <p:txBody>
          <a:bodyPr wrap="square" lIns="0" rIns="0" tIns="0" bIns="0">
            <a:spAutoFit/>
          </a:bodyPr>
          <a:lstStyle/>
          <a:p>
            <a:pPr>
              <a:lnSpc>
                <a:spcPct val="116000"/>
              </a:lnSpc>
            </a:pPr>
            <a:r>
              <a:rPr sz="770" b="1">
                <a:solidFill>
                  <a:srgbClr val="0F5E87"/>
                </a:solidFill>
                <a:latin typeface="Meiryo UI"/>
                <a:ea typeface="Meiryo UI"/>
              </a:rPr>
              <a:t>やること：</a:t>
            </a:r>
            <a:r>
              <a:rPr sz="770" b="0">
                <a:solidFill>
                  <a:srgbClr val="262626"/>
                </a:solidFill>
                <a:latin typeface="Meiryo UI"/>
                <a:ea typeface="Meiryo UI"/>
              </a:rPr>
              <a:t>社内に眠る臨床・製品データを、バイヤーとAIが読める形に変換して営業に配る</a:t>
            </a:r>
          </a:p>
          <a:p>
            <a:pPr>
              <a:lnSpc>
                <a:spcPct val="116000"/>
              </a:lnSpc>
            </a:pPr>
            <a:r>
              <a:rPr sz="750" b="1">
                <a:solidFill>
                  <a:srgbClr val="595959"/>
                </a:solidFill>
                <a:latin typeface="Meiryo UI"/>
                <a:ea typeface="Meiryo UI"/>
              </a:rPr>
              <a:t>具体例：</a:t>
            </a:r>
            <a:r>
              <a:rPr sz="750" b="0">
                <a:solidFill>
                  <a:srgbClr val="262626"/>
                </a:solidFill>
                <a:latin typeface="Meiryo UI"/>
                <a:ea typeface="Meiryo UI"/>
              </a:rPr>
              <a:t>①臨床データ→「この提案で棚の利益が何%上がるか」のバイヤー向け数値に自動変換（C1）　②製品属性データ→AI自動補充が読める形式でAPI公開し、AI推奨リストに載せる（A1）　③学校・自治体ルートをデジタル接点化（A2）</a:t>
            </a:r>
          </a:p>
          <a:p>
            <a:pPr>
              <a:lnSpc>
                <a:spcPct val="116000"/>
              </a:lnSpc>
            </a:pPr>
            <a:r>
              <a:rPr sz="770" b="1">
                <a:solidFill>
                  <a:srgbClr val="0F5E87"/>
                </a:solidFill>
                <a:latin typeface="Meiryo UI"/>
                <a:ea typeface="Meiryo UI"/>
              </a:rPr>
              <a:t>→ 変わること：</a:t>
            </a:r>
            <a:r>
              <a:rPr sz="770" b="1">
                <a:solidFill>
                  <a:srgbClr val="262626"/>
                </a:solidFill>
                <a:latin typeface="Meiryo UI"/>
                <a:ea typeface="Meiryo UI"/>
              </a:rPr>
              <a:t>営業が値引き以外の提案を持って商談に行ける ― 完了条件は「作った」でなく「商談で使われた」</a:t>
            </a:r>
          </a:p>
        </p:txBody>
      </p:sp>
      <p:sp>
        <p:nvSpPr>
          <p:cNvPr id="34" name="Rectangle 33"/>
          <p:cNvSpPr/>
          <p:nvPr/>
        </p:nvSpPr>
        <p:spPr>
          <a:xfrm>
            <a:off x="8366760" y="301752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76488" y="306323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36" name="Rectangle 35"/>
          <p:cNvSpPr/>
          <p:nvPr/>
        </p:nvSpPr>
        <p:spPr>
          <a:xfrm>
            <a:off x="8476488" y="3310127"/>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94776" y="3346703"/>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C1★</a:t>
            </a:r>
          </a:p>
        </p:txBody>
      </p:sp>
      <p:sp>
        <p:nvSpPr>
          <p:cNvPr id="38" name="TextBox 37"/>
          <p:cNvSpPr txBox="1"/>
          <p:nvPr/>
        </p:nvSpPr>
        <p:spPr>
          <a:xfrm>
            <a:off x="9025128" y="3346703"/>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臨床データのLTV/炭素効率変換</a:t>
            </a:r>
          </a:p>
        </p:txBody>
      </p:sp>
      <p:sp>
        <p:nvSpPr>
          <p:cNvPr id="39" name="Rectangle 38"/>
          <p:cNvSpPr/>
          <p:nvPr/>
        </p:nvSpPr>
        <p:spPr>
          <a:xfrm>
            <a:off x="8476488" y="3639311"/>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94776" y="3675887"/>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A1★</a:t>
            </a:r>
          </a:p>
        </p:txBody>
      </p:sp>
      <p:sp>
        <p:nvSpPr>
          <p:cNvPr id="41" name="TextBox 40"/>
          <p:cNvSpPr txBox="1"/>
          <p:nvPr/>
        </p:nvSpPr>
        <p:spPr>
          <a:xfrm>
            <a:off x="9025128" y="3675887"/>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属性データの構造化・API化</a:t>
            </a:r>
          </a:p>
        </p:txBody>
      </p:sp>
      <p:sp>
        <p:nvSpPr>
          <p:cNvPr id="42" name="Rectangle 41"/>
          <p:cNvSpPr/>
          <p:nvPr/>
        </p:nvSpPr>
        <p:spPr>
          <a:xfrm>
            <a:off x="8476488" y="3968496"/>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4776" y="400507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A2</a:t>
            </a:r>
          </a:p>
        </p:txBody>
      </p:sp>
      <p:sp>
        <p:nvSpPr>
          <p:cNvPr id="44" name="TextBox 43"/>
          <p:cNvSpPr txBox="1"/>
          <p:nvPr/>
        </p:nvSpPr>
        <p:spPr>
          <a:xfrm>
            <a:off x="9025128" y="400507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学校・自治体ルートのデジタル化</a:t>
            </a:r>
          </a:p>
        </p:txBody>
      </p:sp>
      <p:sp>
        <p:nvSpPr>
          <p:cNvPr id="45" name="Rectangle 44"/>
          <p:cNvSpPr/>
          <p:nvPr/>
        </p:nvSpPr>
        <p:spPr>
          <a:xfrm>
            <a:off x="320040" y="4663440"/>
            <a:ext cx="1097280" cy="15361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4048" y="499262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真因3
改善の
仕組み</a:t>
            </a:r>
          </a:p>
        </p:txBody>
      </p:sp>
      <p:sp>
        <p:nvSpPr>
          <p:cNvPr id="47" name="TextBox 46"/>
          <p:cNvSpPr txBox="1"/>
          <p:nvPr/>
        </p:nvSpPr>
        <p:spPr>
          <a:xfrm>
            <a:off x="1444752" y="530352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48" name="Rectangle 47"/>
          <p:cNvSpPr/>
          <p:nvPr/>
        </p:nvSpPr>
        <p:spPr>
          <a:xfrm>
            <a:off x="1719072" y="4663440"/>
            <a:ext cx="6537960" cy="1536192"/>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47088" y="4718303"/>
            <a:ext cx="6309360" cy="274320"/>
          </a:xfrm>
          <a:prstGeom prst="rect">
            <a:avLst/>
          </a:prstGeom>
          <a:noFill/>
        </p:spPr>
        <p:txBody>
          <a:bodyPr wrap="square" lIns="0" rIns="0" tIns="0" bIns="0">
            <a:spAutoFit/>
          </a:bodyPr>
          <a:lstStyle/>
          <a:p>
            <a:pPr>
              <a:lnSpc>
                <a:spcPct val="112000"/>
              </a:lnSpc>
            </a:pPr>
            <a:r>
              <a:rPr sz="930" b="1">
                <a:solidFill>
                  <a:srgbClr val="008D2E"/>
                </a:solidFill>
                <a:latin typeface="Meiryo UI"/>
                <a:ea typeface="Meiryo UI"/>
              </a:rPr>
              <a:t>解決3 小さく試す→検証する→広げる「仕組み」を回し続ける</a:t>
            </a:r>
          </a:p>
        </p:txBody>
      </p:sp>
      <p:sp>
        <p:nvSpPr>
          <p:cNvPr id="50" name="TextBox 49"/>
          <p:cNvSpPr txBox="1"/>
          <p:nvPr/>
        </p:nvSpPr>
        <p:spPr>
          <a:xfrm>
            <a:off x="1847088" y="5001768"/>
            <a:ext cx="6309360" cy="1152144"/>
          </a:xfrm>
          <a:prstGeom prst="rect">
            <a:avLst/>
          </a:prstGeom>
          <a:noFill/>
        </p:spPr>
        <p:txBody>
          <a:bodyPr wrap="square" lIns="0" rIns="0" tIns="0" bIns="0">
            <a:spAutoFit/>
          </a:bodyPr>
          <a:lstStyle/>
          <a:p>
            <a:pPr>
              <a:lnSpc>
                <a:spcPct val="116000"/>
              </a:lnSpc>
            </a:pPr>
            <a:r>
              <a:rPr sz="770" b="1">
                <a:solidFill>
                  <a:srgbClr val="008D2E"/>
                </a:solidFill>
                <a:latin typeface="Meiryo UI"/>
                <a:ea typeface="Meiryo UI"/>
              </a:rPr>
              <a:t>やること：</a:t>
            </a:r>
            <a:r>
              <a:rPr sz="770" b="0">
                <a:solidFill>
                  <a:srgbClr val="262626"/>
                </a:solidFill>
                <a:latin typeface="Meiryo UI"/>
                <a:ea typeface="Meiryo UI"/>
              </a:rPr>
              <a:t>重点1小売×オーラルケアで小さく実験し、効果を測り、合格したものだけ広げる運営に変える</a:t>
            </a:r>
          </a:p>
          <a:p>
            <a:pPr>
              <a:lnSpc>
                <a:spcPct val="116000"/>
              </a:lnSpc>
            </a:pPr>
            <a:r>
              <a:rPr sz="750" b="1">
                <a:solidFill>
                  <a:srgbClr val="595959"/>
                </a:solidFill>
                <a:latin typeface="Meiryo UI"/>
                <a:ea typeface="Meiryo UI"/>
              </a:rPr>
              <a:t>具体例：</a:t>
            </a:r>
            <a:r>
              <a:rPr sz="750" b="0">
                <a:solidFill>
                  <a:srgbClr val="262626"/>
                </a:solidFill>
                <a:latin typeface="Meiryo UI"/>
                <a:ea typeface="Meiryo UI"/>
              </a:rPr>
              <a:t>①投資と店頭売上の因果を測る物差しを先に作る（B1 MMM×DCR）　②実験にあてる時間は事務作業の自動化で捻出する（D1）　③成功は手順書にして隣の小売・カテゴリへ広げ、失敗は撤退基準で止める（D2の組織対組織体制で拡大）</a:t>
            </a:r>
          </a:p>
          <a:p>
            <a:pPr>
              <a:lnSpc>
                <a:spcPct val="116000"/>
              </a:lnSpc>
            </a:pPr>
            <a:r>
              <a:rPr sz="770" b="1">
                <a:solidFill>
                  <a:srgbClr val="008D2E"/>
                </a:solidFill>
                <a:latin typeface="Meiryo UI"/>
                <a:ea typeface="Meiryo UI"/>
              </a:rPr>
              <a:t>→ 変わること：</a:t>
            </a:r>
            <a:r>
              <a:rPr sz="770" b="1">
                <a:solidFill>
                  <a:srgbClr val="262626"/>
                </a:solidFill>
                <a:latin typeface="Meiryo UI"/>
                <a:ea typeface="Meiryo UI"/>
              </a:rPr>
              <a:t>一発勝負の大型投資がなくなり、検証済みの施策だけが広がる</a:t>
            </a:r>
          </a:p>
        </p:txBody>
      </p:sp>
      <p:sp>
        <p:nvSpPr>
          <p:cNvPr id="51" name="Rectangle 50"/>
          <p:cNvSpPr/>
          <p:nvPr/>
        </p:nvSpPr>
        <p:spPr>
          <a:xfrm>
            <a:off x="8366760" y="466344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76488" y="470915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53" name="Rectangle 52"/>
          <p:cNvSpPr/>
          <p:nvPr/>
        </p:nvSpPr>
        <p:spPr>
          <a:xfrm>
            <a:off x="8476488" y="4956048"/>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4776" y="499262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B1★</a:t>
            </a:r>
          </a:p>
        </p:txBody>
      </p:sp>
      <p:sp>
        <p:nvSpPr>
          <p:cNvPr id="55" name="TextBox 54"/>
          <p:cNvSpPr txBox="1"/>
          <p:nvPr/>
        </p:nvSpPr>
        <p:spPr>
          <a:xfrm>
            <a:off x="9025128" y="4992624"/>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投資ROI可視化基盤（MMM×DCR）</a:t>
            </a:r>
          </a:p>
        </p:txBody>
      </p:sp>
      <p:sp>
        <p:nvSpPr>
          <p:cNvPr id="56" name="Rectangle 55"/>
          <p:cNvSpPr/>
          <p:nvPr/>
        </p:nvSpPr>
        <p:spPr>
          <a:xfrm>
            <a:off x="8476488" y="5285232"/>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4776" y="532180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D1★</a:t>
            </a:r>
          </a:p>
        </p:txBody>
      </p:sp>
      <p:sp>
        <p:nvSpPr>
          <p:cNvPr id="58" name="TextBox 57"/>
          <p:cNvSpPr txBox="1"/>
          <p:nvPr/>
        </p:nvSpPr>
        <p:spPr>
          <a:xfrm>
            <a:off x="9025128" y="5321808"/>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Input業務ゼロ化（生成AI＋TPM）</a:t>
            </a:r>
          </a:p>
        </p:txBody>
      </p:sp>
      <p:sp>
        <p:nvSpPr>
          <p:cNvPr id="59" name="Rectangle 58"/>
          <p:cNvSpPr/>
          <p:nvPr/>
        </p:nvSpPr>
        <p:spPr>
          <a:xfrm>
            <a:off x="8476488" y="5614416"/>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4776" y="565099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D2</a:t>
            </a:r>
          </a:p>
        </p:txBody>
      </p:sp>
      <p:sp>
        <p:nvSpPr>
          <p:cNvPr id="61" name="TextBox 60"/>
          <p:cNvSpPr txBox="1"/>
          <p:nvPr/>
        </p:nvSpPr>
        <p:spPr>
          <a:xfrm>
            <a:off x="9025128" y="565099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組織対組織の営業体制へ再編</a:t>
            </a:r>
          </a:p>
        </p:txBody>
      </p:sp>
      <p:sp>
        <p:nvSpPr>
          <p:cNvPr id="62" name="Rectangle 61"/>
          <p:cNvSpPr/>
          <p:nvPr/>
        </p:nvSpPr>
        <p:spPr>
          <a:xfrm>
            <a:off x="320040" y="6272784"/>
            <a:ext cx="11521440" cy="36576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6309360"/>
            <a:ext cx="11292840" cy="292608"/>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起点施策（★）の連鎖：</a:t>
            </a:r>
            <a:r>
              <a:rPr sz="819" b="0">
                <a:solidFill>
                  <a:srgbClr val="262626"/>
                </a:solidFill>
                <a:latin typeface="Meiryo UI"/>
                <a:ea typeface="Meiryo UI"/>
              </a:rPr>
              <a:t>B1（ROI可視化）が投資判断の物差しを作り → D1（事務ゼロ化）が商談の時間を生み → C1・A1が提案の材料を揃え → 解決1の新しい使い方に流し込む。ROI計算式に紐づかない施策はやらない。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4つの変革テーマ × 8つの重点施策（A1〜D2）</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8施策は3つの解決を実行に落とした中身（★＝最初に動かす起点施策）。中でもB1「投資ROI可視化」が全ての起点 ― 各施策はROI計算式と指標で投資判断する</a:t>
            </a:r>
          </a:p>
        </p:txBody>
      </p:sp>
      <p:sp>
        <p:nvSpPr>
          <p:cNvPr id="14" name="Rectangle 13"/>
          <p:cNvSpPr/>
          <p:nvPr/>
        </p:nvSpPr>
        <p:spPr>
          <a:xfrm>
            <a:off x="320040" y="1225296"/>
            <a:ext cx="19659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252728"/>
            <a:ext cx="1837943"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テーマ</a:t>
            </a:r>
          </a:p>
        </p:txBody>
      </p:sp>
      <p:sp>
        <p:nvSpPr>
          <p:cNvPr id="16" name="Rectangle 15"/>
          <p:cNvSpPr/>
          <p:nvPr/>
        </p:nvSpPr>
        <p:spPr>
          <a:xfrm>
            <a:off x="2304288" y="1225296"/>
            <a:ext cx="3291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68296" y="1252728"/>
            <a:ext cx="316382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重点施策（★＝起点施策）</a:t>
            </a:r>
          </a:p>
        </p:txBody>
      </p:sp>
      <p:sp>
        <p:nvSpPr>
          <p:cNvPr id="18" name="Rectangle 17"/>
          <p:cNvSpPr/>
          <p:nvPr/>
        </p:nvSpPr>
        <p:spPr>
          <a:xfrm>
            <a:off x="5614416" y="1225296"/>
            <a:ext cx="33832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78424" y="1252728"/>
            <a:ext cx="32552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ねらい</a:t>
            </a:r>
          </a:p>
        </p:txBody>
      </p:sp>
      <p:sp>
        <p:nvSpPr>
          <p:cNvPr id="20" name="Rectangle 19"/>
          <p:cNvSpPr/>
          <p:nvPr/>
        </p:nvSpPr>
        <p:spPr>
          <a:xfrm>
            <a:off x="9015984" y="1225296"/>
            <a:ext cx="26974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9992" y="1252728"/>
            <a:ext cx="25694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主な指標</a:t>
            </a:r>
          </a:p>
        </p:txBody>
      </p:sp>
      <p:sp>
        <p:nvSpPr>
          <p:cNvPr id="22" name="Rectangle 21"/>
          <p:cNvSpPr/>
          <p:nvPr/>
        </p:nvSpPr>
        <p:spPr>
          <a:xfrm>
            <a:off x="320040" y="1554480"/>
            <a:ext cx="1965960" cy="10789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1783080"/>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T1 勝てる土俵の再定義
（予防医療×資源循環）</a:t>
            </a:r>
          </a:p>
        </p:txBody>
      </p:sp>
      <p:sp>
        <p:nvSpPr>
          <p:cNvPr id="24" name="Rectangle 23"/>
          <p:cNvSpPr/>
          <p:nvPr/>
        </p:nvSpPr>
        <p:spPr>
          <a:xfrm>
            <a:off x="2304288" y="155448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77440" y="1673352"/>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95728" y="170992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A1★</a:t>
            </a:r>
          </a:p>
        </p:txBody>
      </p:sp>
      <p:sp>
        <p:nvSpPr>
          <p:cNvPr id="27" name="TextBox 26"/>
          <p:cNvSpPr txBox="1"/>
          <p:nvPr/>
        </p:nvSpPr>
        <p:spPr>
          <a:xfrm>
            <a:off x="2999232" y="1618488"/>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製品属性データの構造化・API化</a:t>
            </a:r>
          </a:p>
        </p:txBody>
      </p:sp>
      <p:sp>
        <p:nvSpPr>
          <p:cNvPr id="28" name="Rectangle 27"/>
          <p:cNvSpPr/>
          <p:nvPr/>
        </p:nvSpPr>
        <p:spPr>
          <a:xfrm>
            <a:off x="5614416" y="155448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05856" y="160934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AI自動補充・小売アルゴリズムの「足切り」を回避し、AIの推奨リストに載る</a:t>
            </a:r>
          </a:p>
        </p:txBody>
      </p:sp>
      <p:sp>
        <p:nvSpPr>
          <p:cNvPr id="30" name="Rectangle 29"/>
          <p:cNvSpPr/>
          <p:nvPr/>
        </p:nvSpPr>
        <p:spPr>
          <a:xfrm>
            <a:off x="9015984" y="155448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07424" y="160934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API開放SKU比率／AI推奨リスト掲載率</a:t>
            </a:r>
          </a:p>
        </p:txBody>
      </p:sp>
      <p:sp>
        <p:nvSpPr>
          <p:cNvPr id="32" name="Rectangle 31"/>
          <p:cNvSpPr/>
          <p:nvPr/>
        </p:nvSpPr>
        <p:spPr>
          <a:xfrm>
            <a:off x="2304288" y="211226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377440" y="2231136"/>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95728" y="226771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A2</a:t>
            </a:r>
          </a:p>
        </p:txBody>
      </p:sp>
      <p:sp>
        <p:nvSpPr>
          <p:cNvPr id="35" name="TextBox 34"/>
          <p:cNvSpPr txBox="1"/>
          <p:nvPr/>
        </p:nvSpPr>
        <p:spPr>
          <a:xfrm>
            <a:off x="2999232" y="2176272"/>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学校・自治体ルートのデジタル化</a:t>
            </a:r>
          </a:p>
        </p:txBody>
      </p:sp>
      <p:sp>
        <p:nvSpPr>
          <p:cNvPr id="36" name="Rectangle 35"/>
          <p:cNvSpPr/>
          <p:nvPr/>
        </p:nvSpPr>
        <p:spPr>
          <a:xfrm>
            <a:off x="5614416" y="211226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05856" y="216712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啓発ルートを接点資産化し、若年層の習慣定着と将来LTVを獲得する</a:t>
            </a:r>
          </a:p>
        </p:txBody>
      </p:sp>
      <p:sp>
        <p:nvSpPr>
          <p:cNvPr id="38" name="Rectangle 37"/>
          <p:cNvSpPr/>
          <p:nvPr/>
        </p:nvSpPr>
        <p:spPr>
          <a:xfrm>
            <a:off x="9015984" y="211226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07424" y="216712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デジタル化率／若年層習慣定着率</a:t>
            </a:r>
          </a:p>
        </p:txBody>
      </p:sp>
      <p:sp>
        <p:nvSpPr>
          <p:cNvPr id="40" name="Rectangle 39"/>
          <p:cNvSpPr/>
          <p:nvPr/>
        </p:nvSpPr>
        <p:spPr>
          <a:xfrm>
            <a:off x="320040" y="2679192"/>
            <a:ext cx="1965960" cy="10789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907792"/>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T2 データ戦略
（小売データ×自社専門データ）</a:t>
            </a:r>
          </a:p>
        </p:txBody>
      </p:sp>
      <p:sp>
        <p:nvSpPr>
          <p:cNvPr id="42" name="Rectangle 41"/>
          <p:cNvSpPr/>
          <p:nvPr/>
        </p:nvSpPr>
        <p:spPr>
          <a:xfrm>
            <a:off x="2304288" y="2679192"/>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377440" y="2798064"/>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395728" y="2834640"/>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B1★</a:t>
            </a:r>
          </a:p>
        </p:txBody>
      </p:sp>
      <p:sp>
        <p:nvSpPr>
          <p:cNvPr id="45" name="TextBox 44"/>
          <p:cNvSpPr txBox="1"/>
          <p:nvPr/>
        </p:nvSpPr>
        <p:spPr>
          <a:xfrm>
            <a:off x="2999232" y="2743200"/>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投資ROI可視化基盤（MMM×DCR）</a:t>
            </a:r>
          </a:p>
        </p:txBody>
      </p:sp>
      <p:sp>
        <p:nvSpPr>
          <p:cNvPr id="46" name="Rectangle 45"/>
          <p:cNvSpPr/>
          <p:nvPr/>
        </p:nvSpPr>
        <p:spPr>
          <a:xfrm>
            <a:off x="5614416" y="2679192"/>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05856" y="2734056"/>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投資と店頭売上の因果を可視化 ― 全施策の投資判断の物差しになる起点</a:t>
            </a:r>
          </a:p>
        </p:txBody>
      </p:sp>
      <p:sp>
        <p:nvSpPr>
          <p:cNvPr id="48" name="Rectangle 47"/>
          <p:cNvSpPr/>
          <p:nvPr/>
        </p:nvSpPr>
        <p:spPr>
          <a:xfrm>
            <a:off x="9015984" y="2679192"/>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07424" y="2734056"/>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売上寄与可視化率／加重ROAS</a:t>
            </a:r>
          </a:p>
        </p:txBody>
      </p:sp>
      <p:sp>
        <p:nvSpPr>
          <p:cNvPr id="50" name="Rectangle 49"/>
          <p:cNvSpPr/>
          <p:nvPr/>
        </p:nvSpPr>
        <p:spPr>
          <a:xfrm>
            <a:off x="2304288" y="323697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377440" y="3355848"/>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95728" y="339242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B2</a:t>
            </a:r>
          </a:p>
        </p:txBody>
      </p:sp>
      <p:sp>
        <p:nvSpPr>
          <p:cNvPr id="53" name="TextBox 52"/>
          <p:cNvSpPr txBox="1"/>
          <p:nvPr/>
        </p:nvSpPr>
        <p:spPr>
          <a:xfrm>
            <a:off x="2999232" y="3300984"/>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リテールメディア投資の内製化</a:t>
            </a:r>
          </a:p>
        </p:txBody>
      </p:sp>
      <p:sp>
        <p:nvSpPr>
          <p:cNvPr id="54" name="Rectangle 53"/>
          <p:cNvSpPr/>
          <p:nvPr/>
        </p:nvSpPr>
        <p:spPr>
          <a:xfrm>
            <a:off x="5614416" y="323697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05856" y="329184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スポット買いをやめ一元管理・内製化で手数料と無駄玉を削減</a:t>
            </a:r>
          </a:p>
        </p:txBody>
      </p:sp>
      <p:sp>
        <p:nvSpPr>
          <p:cNvPr id="56" name="Rectangle 55"/>
          <p:cNvSpPr/>
          <p:nvPr/>
        </p:nvSpPr>
        <p:spPr>
          <a:xfrm>
            <a:off x="9015984" y="323697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07424" y="329184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内製化率（P&amp;G比 約85億円/年削減の先行例）</a:t>
            </a:r>
          </a:p>
        </p:txBody>
      </p:sp>
      <p:sp>
        <p:nvSpPr>
          <p:cNvPr id="58" name="Rectangle 57"/>
          <p:cNvSpPr/>
          <p:nvPr/>
        </p:nvSpPr>
        <p:spPr>
          <a:xfrm>
            <a:off x="320040" y="3803904"/>
            <a:ext cx="1965960" cy="10789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02336" y="4032504"/>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T3 商談価値
（臨床データで裏付ける提案）</a:t>
            </a:r>
          </a:p>
        </p:txBody>
      </p:sp>
      <p:sp>
        <p:nvSpPr>
          <p:cNvPr id="60" name="Rectangle 59"/>
          <p:cNvSpPr/>
          <p:nvPr/>
        </p:nvSpPr>
        <p:spPr>
          <a:xfrm>
            <a:off x="2304288" y="380390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377440" y="3922776"/>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395728" y="395935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C1★</a:t>
            </a:r>
          </a:p>
        </p:txBody>
      </p:sp>
      <p:sp>
        <p:nvSpPr>
          <p:cNvPr id="63" name="TextBox 62"/>
          <p:cNvSpPr txBox="1"/>
          <p:nvPr/>
        </p:nvSpPr>
        <p:spPr>
          <a:xfrm>
            <a:off x="2999232" y="3867912"/>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臨床データのLTV・炭素効率変換</a:t>
            </a:r>
          </a:p>
        </p:txBody>
      </p:sp>
      <p:sp>
        <p:nvSpPr>
          <p:cNvPr id="64" name="Rectangle 63"/>
          <p:cNvSpPr/>
          <p:nvPr/>
        </p:nvSpPr>
        <p:spPr>
          <a:xfrm>
            <a:off x="5614416" y="380390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705856" y="385876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バイヤーが本部監査を突破できる数値根拠へ自動変換し商談当日に供給</a:t>
            </a:r>
          </a:p>
        </p:txBody>
      </p:sp>
      <p:sp>
        <p:nvSpPr>
          <p:cNvPr id="66" name="Rectangle 65"/>
          <p:cNvSpPr/>
          <p:nvPr/>
        </p:nvSpPr>
        <p:spPr>
          <a:xfrm>
            <a:off x="9015984" y="380390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107424" y="385876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提案採用率／審査突破率</a:t>
            </a:r>
          </a:p>
        </p:txBody>
      </p:sp>
      <p:sp>
        <p:nvSpPr>
          <p:cNvPr id="68" name="Rectangle 67"/>
          <p:cNvSpPr/>
          <p:nvPr/>
        </p:nvSpPr>
        <p:spPr>
          <a:xfrm>
            <a:off x="2304288" y="4361688"/>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377440" y="4480560"/>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395728" y="4517136"/>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C2</a:t>
            </a:r>
          </a:p>
        </p:txBody>
      </p:sp>
      <p:sp>
        <p:nvSpPr>
          <p:cNvPr id="71" name="TextBox 70"/>
          <p:cNvSpPr txBox="1"/>
          <p:nvPr/>
        </p:nvSpPr>
        <p:spPr>
          <a:xfrm>
            <a:off x="2999232" y="4425696"/>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ロジック提案の標準化</a:t>
            </a:r>
          </a:p>
        </p:txBody>
      </p:sp>
      <p:sp>
        <p:nvSpPr>
          <p:cNvPr id="72" name="Rectangle 71"/>
          <p:cNvSpPr/>
          <p:nvPr/>
        </p:nvSpPr>
        <p:spPr>
          <a:xfrm>
            <a:off x="5614416" y="4361688"/>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05856" y="4416552"/>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成功提案をテンプレ化し、誰でも再現できる標準装備にする</a:t>
            </a:r>
          </a:p>
        </p:txBody>
      </p:sp>
      <p:sp>
        <p:nvSpPr>
          <p:cNvPr id="74" name="Rectangle 73"/>
          <p:cNvSpPr/>
          <p:nvPr/>
        </p:nvSpPr>
        <p:spPr>
          <a:xfrm>
            <a:off x="9015984" y="4361688"/>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107424" y="4416552"/>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テンプレ活用率／標準提案採用率</a:t>
            </a:r>
          </a:p>
        </p:txBody>
      </p:sp>
      <p:sp>
        <p:nvSpPr>
          <p:cNvPr id="76" name="Rectangle 75"/>
          <p:cNvSpPr/>
          <p:nvPr/>
        </p:nvSpPr>
        <p:spPr>
          <a:xfrm>
            <a:off x="320040" y="4928616"/>
            <a:ext cx="1965960" cy="10789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2336" y="5157216"/>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T4 組織・生産性
（業務ゼロ化×回収物流）</a:t>
            </a:r>
          </a:p>
        </p:txBody>
      </p:sp>
      <p:sp>
        <p:nvSpPr>
          <p:cNvPr id="78" name="Rectangle 77"/>
          <p:cNvSpPr/>
          <p:nvPr/>
        </p:nvSpPr>
        <p:spPr>
          <a:xfrm>
            <a:off x="2304288" y="492861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377440" y="5047488"/>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95728" y="508406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D1★</a:t>
            </a:r>
          </a:p>
        </p:txBody>
      </p:sp>
      <p:sp>
        <p:nvSpPr>
          <p:cNvPr id="81" name="TextBox 80"/>
          <p:cNvSpPr txBox="1"/>
          <p:nvPr/>
        </p:nvSpPr>
        <p:spPr>
          <a:xfrm>
            <a:off x="2999232" y="4992624"/>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Input業務ゼロ化（生成AI＋TPM）</a:t>
            </a:r>
          </a:p>
        </p:txBody>
      </p:sp>
      <p:sp>
        <p:nvSpPr>
          <p:cNvPr id="82" name="Rectangle 81"/>
          <p:cNvSpPr/>
          <p:nvPr/>
        </p:nvSpPr>
        <p:spPr>
          <a:xfrm>
            <a:off x="5614416" y="492861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705856" y="498348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資料・集計の事務時間を構造的に削減し、時間を商談・共同設計へ</a:t>
            </a:r>
          </a:p>
        </p:txBody>
      </p:sp>
      <p:sp>
        <p:nvSpPr>
          <p:cNvPr id="84" name="Rectangle 83"/>
          <p:cNvSpPr/>
          <p:nvPr/>
        </p:nvSpPr>
        <p:spPr>
          <a:xfrm>
            <a:off x="9015984" y="492861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07424" y="498348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事務時間削減率／対P&amp;G格差 7.6倍→半減</a:t>
            </a:r>
          </a:p>
        </p:txBody>
      </p:sp>
      <p:sp>
        <p:nvSpPr>
          <p:cNvPr id="86" name="Rectangle 85"/>
          <p:cNvSpPr/>
          <p:nvPr/>
        </p:nvSpPr>
        <p:spPr>
          <a:xfrm>
            <a:off x="2304288" y="548640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377440" y="5605272"/>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395728" y="564184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D2</a:t>
            </a:r>
          </a:p>
        </p:txBody>
      </p:sp>
      <p:sp>
        <p:nvSpPr>
          <p:cNvPr id="89" name="TextBox 88"/>
          <p:cNvSpPr txBox="1"/>
          <p:nvPr/>
        </p:nvSpPr>
        <p:spPr>
          <a:xfrm>
            <a:off x="2999232" y="5550408"/>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組織対組織の営業体制へ再編</a:t>
            </a:r>
          </a:p>
        </p:txBody>
      </p:sp>
      <p:sp>
        <p:nvSpPr>
          <p:cNvPr id="90" name="Rectangle 89"/>
          <p:cNvSpPr/>
          <p:nvPr/>
        </p:nvSpPr>
        <p:spPr>
          <a:xfrm>
            <a:off x="5614416" y="548640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705856" y="554126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営業1人対バイヤー1人の分断をやめ、組織対組織のJBP体制へ</a:t>
            </a:r>
          </a:p>
        </p:txBody>
      </p:sp>
      <p:sp>
        <p:nvSpPr>
          <p:cNvPr id="92" name="Rectangle 91"/>
          <p:cNvSpPr/>
          <p:nvPr/>
        </p:nvSpPr>
        <p:spPr>
          <a:xfrm>
            <a:off x="9015984" y="548640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107424" y="554126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JBP締結チェーン数</a:t>
            </a:r>
          </a:p>
        </p:txBody>
      </p:sp>
      <p:sp>
        <p:nvSpPr>
          <p:cNvPr id="94" name="Rectangle 93"/>
          <p:cNvSpPr/>
          <p:nvPr/>
        </p:nvSpPr>
        <p:spPr>
          <a:xfrm>
            <a:off x="320040" y="608076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57200" y="6126480"/>
            <a:ext cx="11292840" cy="493776"/>
          </a:xfrm>
          <a:prstGeom prst="rect">
            <a:avLst/>
          </a:prstGeom>
          <a:noFill/>
        </p:spPr>
        <p:txBody>
          <a:bodyPr wrap="square" lIns="0" rIns="0" tIns="0" bIns="0">
            <a:spAutoFit/>
          </a:bodyPr>
          <a:lstStyle/>
          <a:p>
            <a:pPr>
              <a:lnSpc>
                <a:spcPct val="114000"/>
              </a:lnSpc>
            </a:pPr>
            <a:r>
              <a:rPr sz="860" b="1">
                <a:solidFill>
                  <a:srgbClr val="008D2E"/>
                </a:solidFill>
                <a:latin typeface="Meiryo UI"/>
                <a:ea typeface="Meiryo UI"/>
              </a:rPr>
              <a:t>真因との対応と投資規律：</a:t>
            </a:r>
            <a:r>
              <a:rPr sz="819" b="0">
                <a:solidFill>
                  <a:srgbClr val="262626"/>
                </a:solidFill>
                <a:latin typeface="Meiryo UI"/>
                <a:ea typeface="Meiryo UI"/>
              </a:rPr>
              <a:t>資源の使い方（真因1）＝前頁・解決1の設計に従い、提案の材料（真因2）＝A1・A2・C1・C2、改善の仕組み（真因3）＝B1・D1・D2。各施策はROI計算式（分子＝売上増・時間削減・利益改善／分母＝投資）と撤退基準をセットで承認し、前提値はFY26上期に実測で確定す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体制（Who）― 役員オーナー × 変革プロジェクト × 現場スクワッドの3層で回す</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追加増員に頼らず、D1「Input業務ゼロ化」で生まれた時間を原資に再配置する ― 検証責任と撤退基準は提案側が持つ</a:t>
            </a:r>
          </a:p>
        </p:txBody>
      </p:sp>
      <p:sp>
        <p:nvSpPr>
          <p:cNvPr id="14" name="Rectangle 13"/>
          <p:cNvSpPr/>
          <p:nvPr/>
        </p:nvSpPr>
        <p:spPr>
          <a:xfrm>
            <a:off x="320040" y="1371600"/>
            <a:ext cx="1371600" cy="137160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1755648"/>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経営層
意思決定</a:t>
            </a:r>
          </a:p>
        </p:txBody>
      </p:sp>
      <p:sp>
        <p:nvSpPr>
          <p:cNvPr id="16" name="Rectangle 15"/>
          <p:cNvSpPr/>
          <p:nvPr/>
        </p:nvSpPr>
        <p:spPr>
          <a:xfrm>
            <a:off x="1783080" y="1371600"/>
            <a:ext cx="7223760" cy="1371600"/>
          </a:xfrm>
          <a:prstGeom prst="rect">
            <a:avLst/>
          </a:prstGeom>
          <a:solidFill>
            <a:srgbClr val="FFFFFF"/>
          </a:solidFill>
          <a:ln w="1397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20240" y="1463040"/>
            <a:ext cx="6949440" cy="292608"/>
          </a:xfrm>
          <a:prstGeom prst="rect">
            <a:avLst/>
          </a:prstGeom>
          <a:noFill/>
        </p:spPr>
        <p:txBody>
          <a:bodyPr wrap="square" lIns="0" rIns="0" tIns="0" bIns="0">
            <a:spAutoFit/>
          </a:bodyPr>
          <a:lstStyle/>
          <a:p>
            <a:pPr>
              <a:lnSpc>
                <a:spcPct val="112000"/>
              </a:lnSpc>
            </a:pPr>
            <a:r>
              <a:rPr sz="1000" b="1">
                <a:solidFill>
                  <a:srgbClr val="16233A"/>
                </a:solidFill>
                <a:latin typeface="Meiryo UI"/>
                <a:ea typeface="Meiryo UI"/>
              </a:rPr>
              <a:t>テーマ別役員オーナー（5経営テーマ × 1名）</a:t>
            </a:r>
          </a:p>
        </p:txBody>
      </p:sp>
      <p:sp>
        <p:nvSpPr>
          <p:cNvPr id="18" name="TextBox 17"/>
          <p:cNvSpPr txBox="1"/>
          <p:nvPr/>
        </p:nvSpPr>
        <p:spPr>
          <a:xfrm>
            <a:off x="1920240" y="1828800"/>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施策の承認は「ROI計算式＋撤退基準」のセット提出を条件とする／確認ゲート（FY27夏・FY28末・FY30）の合否と撤退を判定する ― 手段の目的化を防ぐ最後の砦</a:t>
            </a:r>
          </a:p>
        </p:txBody>
      </p:sp>
      <p:sp>
        <p:nvSpPr>
          <p:cNvPr id="19" name="Rectangle 18"/>
          <p:cNvSpPr/>
          <p:nvPr/>
        </p:nvSpPr>
        <p:spPr>
          <a:xfrm>
            <a:off x="9098280" y="1371600"/>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8008" y="1444752"/>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21" name="TextBox 20"/>
          <p:cNvSpPr txBox="1"/>
          <p:nvPr/>
        </p:nvSpPr>
        <p:spPr>
          <a:xfrm>
            <a:off x="9208008" y="1755648"/>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ゲート合否・撤退判断
（半期レビュー）</a:t>
            </a:r>
          </a:p>
        </p:txBody>
      </p:sp>
      <p:sp>
        <p:nvSpPr>
          <p:cNvPr id="22" name="Rectangle 21"/>
          <p:cNvSpPr/>
          <p:nvPr/>
        </p:nvSpPr>
        <p:spPr>
          <a:xfrm>
            <a:off x="320040" y="2944368"/>
            <a:ext cx="1371600" cy="137160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3328415"/>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推進
設計・検証</a:t>
            </a:r>
          </a:p>
        </p:txBody>
      </p:sp>
      <p:sp>
        <p:nvSpPr>
          <p:cNvPr id="24" name="Rectangle 23"/>
          <p:cNvSpPr/>
          <p:nvPr/>
        </p:nvSpPr>
        <p:spPr>
          <a:xfrm>
            <a:off x="1783080" y="2944368"/>
            <a:ext cx="7223760" cy="137160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20240" y="3035808"/>
            <a:ext cx="6949440" cy="292608"/>
          </a:xfrm>
          <a:prstGeom prst="rect">
            <a:avLst/>
          </a:prstGeom>
          <a:noFill/>
        </p:spPr>
        <p:txBody>
          <a:bodyPr wrap="square" lIns="0" rIns="0" tIns="0" bIns="0">
            <a:spAutoFit/>
          </a:bodyPr>
          <a:lstStyle/>
          <a:p>
            <a:pPr>
              <a:lnSpc>
                <a:spcPct val="112000"/>
              </a:lnSpc>
            </a:pPr>
            <a:r>
              <a:rPr sz="1000" b="1">
                <a:solidFill>
                  <a:srgbClr val="0F5E87"/>
                </a:solidFill>
                <a:latin typeface="Meiryo UI"/>
                <a:ea typeface="Meiryo UI"/>
              </a:rPr>
              <a:t>国内BU変革プロジェクト（専任リーダー＝部長級・社内公募含む）× デジタル戦略部のペア運営</a:t>
            </a:r>
          </a:p>
        </p:txBody>
      </p:sp>
      <p:sp>
        <p:nvSpPr>
          <p:cNvPr id="26" name="TextBox 25"/>
          <p:cNvSpPr txBox="1"/>
          <p:nvPr/>
        </p:nvSpPr>
        <p:spPr>
          <a:xfrm>
            <a:off x="1920240" y="3401568"/>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解決1（資源の使い方・4分割別KPI）の設計／B1 投資ROI可視化（MMM×DCR）の実測運用／C2 標準提案テンプレの整備と横展開 ― 人選基準＝小売との信頼 × データ理解 × 社内を動かせる実績</a:t>
            </a:r>
          </a:p>
        </p:txBody>
      </p:sp>
      <p:sp>
        <p:nvSpPr>
          <p:cNvPr id="27" name="Rectangle 26"/>
          <p:cNvSpPr/>
          <p:nvPr/>
        </p:nvSpPr>
        <p:spPr>
          <a:xfrm>
            <a:off x="9098280" y="2944368"/>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08008" y="3017520"/>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29" name="TextBox 28"/>
          <p:cNvSpPr txBox="1"/>
          <p:nvPr/>
        </p:nvSpPr>
        <p:spPr>
          <a:xfrm>
            <a:off x="9208008" y="3328415"/>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加重ROAS・検証レポート
（四半期）</a:t>
            </a:r>
          </a:p>
        </p:txBody>
      </p:sp>
      <p:sp>
        <p:nvSpPr>
          <p:cNvPr id="30" name="Rectangle 29"/>
          <p:cNvSpPr/>
          <p:nvPr/>
        </p:nvSpPr>
        <p:spPr>
          <a:xfrm>
            <a:off x="320040" y="4517136"/>
            <a:ext cx="1371600" cy="137160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02336" y="4901183"/>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現場
実行</a:t>
            </a:r>
          </a:p>
        </p:txBody>
      </p:sp>
      <p:sp>
        <p:nvSpPr>
          <p:cNvPr id="32" name="Rectangle 31"/>
          <p:cNvSpPr/>
          <p:nvPr/>
        </p:nvSpPr>
        <p:spPr>
          <a:xfrm>
            <a:off x="1783080" y="4517136"/>
            <a:ext cx="7223760" cy="137160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920240" y="4608575"/>
            <a:ext cx="6949440" cy="292608"/>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アカウントスクワッド（営業・ブランド・データ・EC・SCM）を重点1小売 × オーラルケアで先行編成</a:t>
            </a:r>
          </a:p>
        </p:txBody>
      </p:sp>
      <p:sp>
        <p:nvSpPr>
          <p:cNvPr id="34" name="TextBox 33"/>
          <p:cNvSpPr txBox="1"/>
          <p:nvPr/>
        </p:nvSpPr>
        <p:spPr>
          <a:xfrm>
            <a:off x="1920240" y="4974336"/>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確認ゲート合格ごとに D2 組織対組織のJBP体制へ段階拡大 ― いきなり全社の組織改編はしない。評価は訪問件数から JBP達成率・増分粗利へ同時変更する</a:t>
            </a:r>
          </a:p>
        </p:txBody>
      </p:sp>
      <p:sp>
        <p:nvSpPr>
          <p:cNvPr id="35" name="Rectangle 34"/>
          <p:cNvSpPr/>
          <p:nvPr/>
        </p:nvSpPr>
        <p:spPr>
          <a:xfrm>
            <a:off x="9098280" y="4517136"/>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08008" y="4590288"/>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37" name="TextBox 36"/>
          <p:cNvSpPr txBox="1"/>
          <p:nvPr/>
        </p:nvSpPr>
        <p:spPr>
          <a:xfrm>
            <a:off x="9208008" y="4901183"/>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JBP商談・共有KPI
＝増分粗利</a:t>
            </a:r>
          </a:p>
        </p:txBody>
      </p:sp>
      <p:sp>
        <p:nvSpPr>
          <p:cNvPr id="38" name="Rectangle 37"/>
          <p:cNvSpPr/>
          <p:nvPr/>
        </p:nvSpPr>
        <p:spPr>
          <a:xfrm>
            <a:off x="320040" y="6172200"/>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217920"/>
            <a:ext cx="11292840" cy="420624"/>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人繰りの原則：</a:t>
            </a:r>
            <a:r>
              <a:rPr sz="840" b="0">
                <a:solidFill>
                  <a:srgbClr val="262626"/>
                </a:solidFill>
                <a:latin typeface="Meiryo UI"/>
                <a:ea typeface="Meiryo UI"/>
              </a:rPr>
              <a:t>新組織の増員ではなく、D1で削減した事務時間（対P&amp;G格差 7.6倍 → 半減）を商談・共同設計へ再配置する。体制の拡大はマイルストーン（次頁）の確認ゲート合格を条件とする。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全体地図 ― 切り口は変わるが、動かす中身は同じ8施策</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「4テーマ」→「3真因」→「5経営テーマ」と見え方が変わるのは、現場の設計図と経営の問いを行き来するため ― 枠組みが増えるのではなく、同じ8施策を読者の言葉に翻訳していく</a:t>
            </a:r>
          </a:p>
        </p:txBody>
      </p:sp>
      <p:sp>
        <p:nvSpPr>
          <p:cNvPr id="14" name="TextBox 13"/>
          <p:cNvSpPr txBox="1"/>
          <p:nvPr/>
        </p:nvSpPr>
        <p:spPr>
          <a:xfrm>
            <a:off x="320040" y="1207008"/>
            <a:ext cx="54864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ストーリー（ページ順）</a:t>
            </a:r>
          </a:p>
        </p:txBody>
      </p:sp>
      <p:sp>
        <p:nvSpPr>
          <p:cNvPr id="15" name="Rectangle 14"/>
          <p:cNvSpPr/>
          <p:nvPr/>
        </p:nvSpPr>
        <p:spPr>
          <a:xfrm>
            <a:off x="32004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環境と自社</a:t>
            </a:r>
          </a:p>
        </p:txBody>
      </p:sp>
      <p:sp>
        <p:nvSpPr>
          <p:cNvPr id="18" name="TextBox 17"/>
          <p:cNvSpPr txBox="1"/>
          <p:nvPr/>
        </p:nvSpPr>
        <p:spPr>
          <a:xfrm>
            <a:off x="37490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P.3-5</a:t>
            </a:r>
          </a:p>
        </p:txBody>
      </p:sp>
      <p:sp>
        <p:nvSpPr>
          <p:cNvPr id="19" name="TextBox 18"/>
          <p:cNvSpPr txBox="1"/>
          <p:nvPr/>
        </p:nvSpPr>
        <p:spPr>
          <a:xfrm>
            <a:off x="37490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PEST・3C・SWOT
― 変化は既に進行中</a:t>
            </a:r>
          </a:p>
        </p:txBody>
      </p:sp>
      <p:sp>
        <p:nvSpPr>
          <p:cNvPr id="20" name="TextBox 19"/>
          <p:cNvSpPr txBox="1"/>
          <p:nvPr/>
        </p:nvSpPr>
        <p:spPr>
          <a:xfrm>
            <a:off x="2084831"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1" name="Rectangle 20"/>
          <p:cNvSpPr/>
          <p:nvPr/>
        </p:nvSpPr>
        <p:spPr>
          <a:xfrm>
            <a:off x="2221992"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221992"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76856"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理想と現状のギャップ</a:t>
            </a:r>
          </a:p>
        </p:txBody>
      </p:sp>
      <p:sp>
        <p:nvSpPr>
          <p:cNvPr id="24" name="TextBox 23"/>
          <p:cNvSpPr txBox="1"/>
          <p:nvPr/>
        </p:nvSpPr>
        <p:spPr>
          <a:xfrm>
            <a:off x="2276856"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P.6</a:t>
            </a:r>
          </a:p>
        </p:txBody>
      </p:sp>
      <p:sp>
        <p:nvSpPr>
          <p:cNvPr id="25" name="TextBox 24"/>
          <p:cNvSpPr txBox="1"/>
          <p:nvPr/>
        </p:nvSpPr>
        <p:spPr>
          <a:xfrm>
            <a:off x="2276856"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4テーマ（T1〜T4）別に
理想・現状・GAPを測る</a:t>
            </a:r>
          </a:p>
        </p:txBody>
      </p:sp>
      <p:sp>
        <p:nvSpPr>
          <p:cNvPr id="26" name="TextBox 25"/>
          <p:cNvSpPr txBox="1"/>
          <p:nvPr/>
        </p:nvSpPr>
        <p:spPr>
          <a:xfrm>
            <a:off x="3986784"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7" name="Rectangle 26"/>
          <p:cNvSpPr/>
          <p:nvPr/>
        </p:nvSpPr>
        <p:spPr>
          <a:xfrm>
            <a:off x="4123944"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23944"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78807"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真因</a:t>
            </a:r>
          </a:p>
        </p:txBody>
      </p:sp>
      <p:sp>
        <p:nvSpPr>
          <p:cNvPr id="30" name="TextBox 29"/>
          <p:cNvSpPr txBox="1"/>
          <p:nvPr/>
        </p:nvSpPr>
        <p:spPr>
          <a:xfrm>
            <a:off x="4178807"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P.7</a:t>
            </a:r>
          </a:p>
        </p:txBody>
      </p:sp>
      <p:sp>
        <p:nvSpPr>
          <p:cNvPr id="31" name="TextBox 30"/>
          <p:cNvSpPr txBox="1"/>
          <p:nvPr/>
        </p:nvSpPr>
        <p:spPr>
          <a:xfrm>
            <a:off x="4178807"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4つのGAPを横断し「使い方・
材料・仕組み」の3つに収束</a:t>
            </a:r>
          </a:p>
        </p:txBody>
      </p:sp>
      <p:sp>
        <p:nvSpPr>
          <p:cNvPr id="32" name="TextBox 31"/>
          <p:cNvSpPr txBox="1"/>
          <p:nvPr/>
        </p:nvSpPr>
        <p:spPr>
          <a:xfrm>
            <a:off x="5888736"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3" name="Rectangle 32"/>
          <p:cNvSpPr/>
          <p:nvPr/>
        </p:nvSpPr>
        <p:spPr>
          <a:xfrm>
            <a:off x="6025896"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25896"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80759"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解決と8施策</a:t>
            </a:r>
          </a:p>
        </p:txBody>
      </p:sp>
      <p:sp>
        <p:nvSpPr>
          <p:cNvPr id="36" name="TextBox 35"/>
          <p:cNvSpPr txBox="1"/>
          <p:nvPr/>
        </p:nvSpPr>
        <p:spPr>
          <a:xfrm>
            <a:off x="6080759"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P.8-10</a:t>
            </a:r>
          </a:p>
        </p:txBody>
      </p:sp>
      <p:sp>
        <p:nvSpPr>
          <p:cNvPr id="37" name="TextBox 36"/>
          <p:cNvSpPr txBox="1"/>
          <p:nvPr/>
        </p:nvSpPr>
        <p:spPr>
          <a:xfrm>
            <a:off x="6080759"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3解決→4テーマ×8施策
（A1〜D2）に展開</a:t>
            </a:r>
          </a:p>
        </p:txBody>
      </p:sp>
      <p:sp>
        <p:nvSpPr>
          <p:cNvPr id="38" name="TextBox 37"/>
          <p:cNvSpPr txBox="1"/>
          <p:nvPr/>
        </p:nvSpPr>
        <p:spPr>
          <a:xfrm>
            <a:off x="7790688"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9" name="Rectangle 38"/>
          <p:cNvSpPr/>
          <p:nvPr/>
        </p:nvSpPr>
        <p:spPr>
          <a:xfrm>
            <a:off x="7927848"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27848"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82712"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経営への翻訳と出口</a:t>
            </a:r>
          </a:p>
        </p:txBody>
      </p:sp>
      <p:sp>
        <p:nvSpPr>
          <p:cNvPr id="42" name="TextBox 41"/>
          <p:cNvSpPr txBox="1"/>
          <p:nvPr/>
        </p:nvSpPr>
        <p:spPr>
          <a:xfrm>
            <a:off x="7982712"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P.11-12</a:t>
            </a:r>
          </a:p>
        </p:txBody>
      </p:sp>
      <p:sp>
        <p:nvSpPr>
          <p:cNvPr id="43" name="TextBox 42"/>
          <p:cNvSpPr txBox="1"/>
          <p:nvPr/>
        </p:nvSpPr>
        <p:spPr>
          <a:xfrm>
            <a:off x="7982712"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5経営テーマにMECE接続
→業務のBefore/After</a:t>
            </a:r>
          </a:p>
        </p:txBody>
      </p:sp>
      <p:sp>
        <p:nvSpPr>
          <p:cNvPr id="44" name="TextBox 43"/>
          <p:cNvSpPr txBox="1"/>
          <p:nvPr/>
        </p:nvSpPr>
        <p:spPr>
          <a:xfrm>
            <a:off x="9692640"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45" name="Rectangle 44"/>
          <p:cNvSpPr/>
          <p:nvPr/>
        </p:nvSpPr>
        <p:spPr>
          <a:xfrm>
            <a:off x="982980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82980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466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体制・時間・カネ</a:t>
            </a:r>
          </a:p>
        </p:txBody>
      </p:sp>
      <p:sp>
        <p:nvSpPr>
          <p:cNvPr id="48" name="TextBox 47"/>
          <p:cNvSpPr txBox="1"/>
          <p:nvPr/>
        </p:nvSpPr>
        <p:spPr>
          <a:xfrm>
            <a:off x="988466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P.13-17</a:t>
            </a:r>
          </a:p>
        </p:txBody>
      </p:sp>
      <p:sp>
        <p:nvSpPr>
          <p:cNvPr id="49" name="TextBox 48"/>
          <p:cNvSpPr txBox="1"/>
          <p:nvPr/>
        </p:nvSpPr>
        <p:spPr>
          <a:xfrm>
            <a:off x="988466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Who・マイルストーン
KGI/KPI・投資対効果</a:t>
            </a:r>
          </a:p>
        </p:txBody>
      </p:sp>
      <p:sp>
        <p:nvSpPr>
          <p:cNvPr id="50" name="TextBox 49"/>
          <p:cNvSpPr txBox="1"/>
          <p:nvPr/>
        </p:nvSpPr>
        <p:spPr>
          <a:xfrm>
            <a:off x="320040" y="2788920"/>
            <a:ext cx="82296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切り口の対応 ― フレームワークは増えていない（同じ8施策の3つの見え方）</a:t>
            </a:r>
          </a:p>
        </p:txBody>
      </p:sp>
      <p:sp>
        <p:nvSpPr>
          <p:cNvPr id="51" name="Rectangle 50"/>
          <p:cNvSpPr/>
          <p:nvPr/>
        </p:nvSpPr>
        <p:spPr>
          <a:xfrm>
            <a:off x="320040" y="3090672"/>
            <a:ext cx="2606040" cy="239572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20040" y="3090672"/>
            <a:ext cx="26060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93192"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4つの変革テーマ T1〜T4</a:t>
            </a:r>
          </a:p>
        </p:txBody>
      </p:sp>
      <p:sp>
        <p:nvSpPr>
          <p:cNvPr id="54" name="TextBox 53"/>
          <p:cNvSpPr txBox="1"/>
          <p:nvPr/>
        </p:nvSpPr>
        <p:spPr>
          <a:xfrm>
            <a:off x="411479" y="3456432"/>
            <a:ext cx="2423160" cy="219456"/>
          </a:xfrm>
          <a:prstGeom prst="rect">
            <a:avLst/>
          </a:prstGeom>
          <a:noFill/>
        </p:spPr>
        <p:txBody>
          <a:bodyPr wrap="square" lIns="0" rIns="0" tIns="0" bIns="0">
            <a:spAutoFit/>
          </a:bodyPr>
          <a:lstStyle/>
          <a:p>
            <a:pPr>
              <a:lnSpc>
                <a:spcPct val="112000"/>
              </a:lnSpc>
            </a:pPr>
            <a:r>
              <a:rPr sz="780" b="1">
                <a:solidFill>
                  <a:srgbClr val="16233A"/>
                </a:solidFill>
                <a:latin typeface="Meiryo UI"/>
                <a:ea typeface="Meiryo UI"/>
              </a:rPr>
              <a:t>現場が設計する単位</a:t>
            </a:r>
          </a:p>
        </p:txBody>
      </p:sp>
      <p:sp>
        <p:nvSpPr>
          <p:cNvPr id="55" name="TextBox 54"/>
          <p:cNvSpPr txBox="1"/>
          <p:nvPr/>
        </p:nvSpPr>
        <p:spPr>
          <a:xfrm>
            <a:off x="411479"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T1 勝てる土俵の再定義
T2 データ戦略
T3 商談価値
T4 組織・生産性
― ギャップ（GAP1〜4）はこの単位で測り、施策もこの単位で束ねる〔P.6・P.9〕</a:t>
            </a:r>
          </a:p>
        </p:txBody>
      </p:sp>
      <p:cxnSp>
        <p:nvCxnSpPr>
          <p:cNvPr id="56" name="Connector 55"/>
          <p:cNvCxnSpPr/>
          <p:nvPr/>
        </p:nvCxnSpPr>
        <p:spPr>
          <a:xfrm>
            <a:off x="2953512"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3310128" y="3090672"/>
            <a:ext cx="2606040" cy="23957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310128" y="3090672"/>
            <a:ext cx="26060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3280"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3つの真因</a:t>
            </a:r>
          </a:p>
        </p:txBody>
      </p:sp>
      <p:sp>
        <p:nvSpPr>
          <p:cNvPr id="60" name="TextBox 59"/>
          <p:cNvSpPr txBox="1"/>
          <p:nvPr/>
        </p:nvSpPr>
        <p:spPr>
          <a:xfrm>
            <a:off x="3401568" y="3456432"/>
            <a:ext cx="2423160" cy="219456"/>
          </a:xfrm>
          <a:prstGeom prst="rect">
            <a:avLst/>
          </a:prstGeom>
          <a:noFill/>
        </p:spPr>
        <p:txBody>
          <a:bodyPr wrap="square" lIns="0" rIns="0" tIns="0" bIns="0">
            <a:spAutoFit/>
          </a:bodyPr>
          <a:lstStyle/>
          <a:p>
            <a:pPr>
              <a:lnSpc>
                <a:spcPct val="112000"/>
              </a:lnSpc>
            </a:pPr>
            <a:r>
              <a:rPr sz="780" b="1">
                <a:solidFill>
                  <a:srgbClr val="C8102E"/>
                </a:solidFill>
                <a:latin typeface="Meiryo UI"/>
                <a:ea typeface="Meiryo UI"/>
              </a:rPr>
              <a:t>なぜ勝てないかの共通原因</a:t>
            </a:r>
          </a:p>
        </p:txBody>
      </p:sp>
      <p:sp>
        <p:nvSpPr>
          <p:cNvPr id="61" name="TextBox 60"/>
          <p:cNvSpPr txBox="1"/>
          <p:nvPr/>
        </p:nvSpPr>
        <p:spPr>
          <a:xfrm>
            <a:off x="3401568"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①増えた資源が従来の使い方のまま
②値引きに代わる提案材料がない
③試す→検証→広げる仕組みがない
― テーマ別の対症療法にしないための括り直し。解決1〜3が1対1で答える〔P.7・P.8〕</a:t>
            </a:r>
          </a:p>
        </p:txBody>
      </p:sp>
      <p:cxnSp>
        <p:nvCxnSpPr>
          <p:cNvPr id="62" name="Connector 61"/>
          <p:cNvCxnSpPr/>
          <p:nvPr/>
        </p:nvCxnSpPr>
        <p:spPr>
          <a:xfrm>
            <a:off x="5943600"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6300216" y="3090672"/>
            <a:ext cx="2606040" cy="23957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300216" y="3090672"/>
            <a:ext cx="26060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73368"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8つの重点施策 A1〜D2</a:t>
            </a:r>
          </a:p>
        </p:txBody>
      </p:sp>
      <p:sp>
        <p:nvSpPr>
          <p:cNvPr id="66" name="TextBox 65"/>
          <p:cNvSpPr txBox="1"/>
          <p:nvPr/>
        </p:nvSpPr>
        <p:spPr>
          <a:xfrm>
            <a:off x="6391656" y="3456432"/>
            <a:ext cx="2423160" cy="219456"/>
          </a:xfrm>
          <a:prstGeom prst="rect">
            <a:avLst/>
          </a:prstGeom>
          <a:noFill/>
        </p:spPr>
        <p:txBody>
          <a:bodyPr wrap="square" lIns="0" rIns="0" tIns="0" bIns="0">
            <a:spAutoFit/>
          </a:bodyPr>
          <a:lstStyle/>
          <a:p>
            <a:pPr>
              <a:lnSpc>
                <a:spcPct val="112000"/>
              </a:lnSpc>
            </a:pPr>
            <a:r>
              <a:rPr sz="780" b="1">
                <a:solidFill>
                  <a:srgbClr val="008D2E"/>
                </a:solidFill>
                <a:latin typeface="Meiryo UI"/>
                <a:ea typeface="Meiryo UI"/>
              </a:rPr>
              <a:t>動かす中身は最後までこれだけ</a:t>
            </a:r>
          </a:p>
        </p:txBody>
      </p:sp>
      <p:sp>
        <p:nvSpPr>
          <p:cNvPr id="67" name="TextBox 66"/>
          <p:cNvSpPr txBox="1"/>
          <p:nvPr/>
        </p:nvSpPr>
        <p:spPr>
          <a:xfrm>
            <a:off x="6391656"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A1★ 属性データAPI化
B1★ 投資ROI可視化 ほか8つ
― どの頁に出てくる施策もこの8つ。ROI計算式と撤退基準をセットで承認〔P.9〜P.11〕</a:t>
            </a:r>
          </a:p>
        </p:txBody>
      </p:sp>
      <p:cxnSp>
        <p:nvCxnSpPr>
          <p:cNvPr id="68" name="Connector 67"/>
          <p:cNvCxnSpPr/>
          <p:nvPr/>
        </p:nvCxnSpPr>
        <p:spPr>
          <a:xfrm>
            <a:off x="8933688"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9290304" y="3090672"/>
            <a:ext cx="2606040" cy="23957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290304" y="3090672"/>
            <a:ext cx="26060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363456"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5つの経営テーマ</a:t>
            </a:r>
          </a:p>
        </p:txBody>
      </p:sp>
      <p:sp>
        <p:nvSpPr>
          <p:cNvPr id="72" name="TextBox 71"/>
          <p:cNvSpPr txBox="1"/>
          <p:nvPr/>
        </p:nvSpPr>
        <p:spPr>
          <a:xfrm>
            <a:off x="9381744" y="3456432"/>
            <a:ext cx="2423160" cy="219456"/>
          </a:xfrm>
          <a:prstGeom prst="rect">
            <a:avLst/>
          </a:prstGeom>
          <a:noFill/>
        </p:spPr>
        <p:txBody>
          <a:bodyPr wrap="square" lIns="0" rIns="0" tIns="0" bIns="0">
            <a:spAutoFit/>
          </a:bodyPr>
          <a:lstStyle/>
          <a:p>
            <a:pPr>
              <a:lnSpc>
                <a:spcPct val="112000"/>
              </a:lnSpc>
            </a:pPr>
            <a:r>
              <a:rPr sz="780" b="1">
                <a:solidFill>
                  <a:srgbClr val="0F5E87"/>
                </a:solidFill>
                <a:latin typeface="Meiryo UI"/>
                <a:ea typeface="Meiryo UI"/>
              </a:rPr>
              <a:t>経営が意思決定する問い</a:t>
            </a:r>
          </a:p>
        </p:txBody>
      </p:sp>
      <p:sp>
        <p:nvSpPr>
          <p:cNvPr id="73" name="TextBox 72"/>
          <p:cNvSpPr txBox="1"/>
          <p:nvPr/>
        </p:nvSpPr>
        <p:spPr>
          <a:xfrm>
            <a:off x="9381744"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市場機会の選択／選ばれる価値
接点の統合／顧客資本の蓄積
実行能力と成果管理
― 同じ8施策を経営の問いに漏れなく再配置〔P.11〕</a:t>
            </a:r>
          </a:p>
        </p:txBody>
      </p:sp>
      <p:sp>
        <p:nvSpPr>
          <p:cNvPr id="74" name="Rectangle 73"/>
          <p:cNvSpPr/>
          <p:nvPr/>
        </p:nvSpPr>
        <p:spPr>
          <a:xfrm>
            <a:off x="320040" y="580644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861304"/>
            <a:ext cx="11292840" cy="475488"/>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迷ったらこの頁に戻る：</a:t>
            </a:r>
            <a:r>
              <a:rPr sz="840" b="0">
                <a:solidFill>
                  <a:srgbClr val="262626"/>
                </a:solidFill>
                <a:latin typeface="Meiryo UI"/>
                <a:ea typeface="Meiryo UI"/>
              </a:rPr>
              <a:t>4テーマ＝現場がどう設計するかの言葉、5経営テーマ＝経営が何を判断するかの言葉。頁が進んで増えるのは施策ではなく視点 ― 8施策（A1〜D2）と最上位KPI（増分粗利）は最後まで変わらない。</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8562</Words>
  <Application>Microsoft Office PowerPoint</Application>
  <PresentationFormat>ワイド画面</PresentationFormat>
  <Paragraphs>688</Paragraphs>
  <Slides>24</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24</vt:i4>
      </vt:variant>
    </vt:vector>
  </HeadingPairs>
  <TitlesOfParts>
    <vt:vector size="30" baseType="lpstr">
      <vt:lpstr>Meiryo UI</vt:lpstr>
      <vt:lpstr>メイリオ</vt:lpstr>
      <vt:lpstr>Arial</vt:lpstr>
      <vt:lpstr>Calibri</vt:lpstr>
      <vt:lpstr>Wingdings</vt:lpstr>
      <vt:lpstr>Office テーマ</vt:lpstr>
      <vt:lpstr>PowerPoint プレゼンテーション</vt:lpstr>
      <vt:lpstr>製造業を取り巻くマクロ環境変化 (PEST分析) </vt:lpstr>
      <vt:lpstr> 顧客 ･ 取引先 ･ 競合の変化</vt:lpstr>
      <vt:lpstr>自社の強み・弱み・機会・脅威（SWOT）</vt:lpstr>
      <vt:lpstr>目指す姿と現状のギャップ</vt:lpstr>
      <vt:lpstr>PowerPoint プレゼンテーション</vt:lpstr>
      <vt:lpstr>PowerPoint プレゼンテーション</vt:lpstr>
      <vt:lpstr> 解決の方向 ― 4つの変革テーマ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GAPから真因</vt:lpstr>
      <vt:lpstr>真因と解決策 ―「型を定める・武器を持つ・回路を回す」に1対1で答える</vt:lpstr>
      <vt:lpstr>4つの変革テーマ × 8つの重点施策</vt:lpstr>
      <vt:lpstr>Howの全体構造 ― 5つの経営テーマへのMECE接続</vt:lpstr>
      <vt:lpstr>出口 ― マーケティング・営業DXの姿（Before → After）</vt:lpstr>
      <vt:lpstr>マイルストーン（FY26–FY30）</vt:lpstr>
      <vt:lpstr>KGI/KPI体系 ― 北極星KPIとライオン固有のユニークKPI</vt:lpstr>
      <vt:lpstr>投資・体制観点の主要論点</vt:lpstr>
      <vt:lpstr>真因を受けた「進め方」と次のアクション</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71</cp:revision>
  <dcterms:created xsi:type="dcterms:W3CDTF">2024-12-27T03:42:11Z</dcterms:created>
  <dcterms:modified xsi:type="dcterms:W3CDTF">2026-08-16T11:38:42Z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