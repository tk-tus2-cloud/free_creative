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経営テーマ起点の実行構想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5つの経営の問いに、答える。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営業・マーケティングDX戦略 ― 経営テーマで貫くHow・Who・When・How Much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市場機会の選択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どの市場・顧客を重点化するか ― 縮む数量市場から「拡がる予防・健康時間市場」へ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選ばれる価値の創造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何を理由に選ばれるか ― 価格ではなく「健康の成果に責任を持つ」エビデンス資産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5137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顧客接点の統合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認知から継続までをどうつなぐか ― 棚・EC・AI・歯科をTotal Availabilityで統合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3542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顧客資本の蓄積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関係を企業資産にできているか ― LION IDと3層のLION Time（生活者・小売・専門家との時間）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1947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実行能力と成果管理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誰が何を担いどう測るか ― 北極星KPI（増分粗利）とRevOps型組織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548640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既存検討（GAP・真因・4テーマ8施策・ユニークKPI）を5つの経営テーマに再構造化し、2040年からのバックキャストで接続　|　デジタル戦略部 討議用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本資料の構造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資料の背骨 ― 理想像から経営テーマへ、テーマから施策へ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「理想像を左に置き、右に経営テーマごとの施策を紐付ける」構造。すべての施策は5つの経営の問いのどれかに答え、どれにも答えない施策は載せない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1488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2148840" cy="822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470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前提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157984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環境変化と真因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88920"/>
            <a:ext cx="1911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AI購買の開始・小売のメディア化・予防の国策化（オープンデータで確認）。真因は「知識資産形成を評価軸に持たない経営構造」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33472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9776" y="1691640"/>
            <a:ext cx="2468880" cy="329184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691640"/>
            <a:ext cx="246888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18470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理想像（2040）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98648" y="21579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予防習慣インフラ企業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278892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生活者の毎日の習慣時間（LION Time）と、制度・AIの「初期設定」を握る会社。左端に置き、全施策の到達点とする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23036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76672" y="1691640"/>
            <a:ext cx="23774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1691640"/>
            <a:ext cx="2377440" cy="822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95544" y="18470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経営テーマ（5）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95544" y="215798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経営の問いに変換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95544" y="278892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理想像との差分を「市場・価値・接点・顧客資本・実行」の5つの経営の問いに変換する（＝本資料の背骨）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35824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82128" y="1691640"/>
            <a:ext cx="2286000" cy="329184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1691640"/>
            <a:ext cx="2286000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8470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施策（8＋1）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01000" y="215798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問いへの答え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2788920"/>
            <a:ext cx="20482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既存の8重点施策＋新提案1（LION Time計測）を各テーマに紐付け。点→線→面のシナジー設計で束ねる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0149840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96144" y="1691640"/>
            <a:ext cx="2011680" cy="329184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96144" y="1691640"/>
            <a:ext cx="201168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5016" y="1847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成果管理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15016" y="215798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15016" y="2788920"/>
            <a:ext cx="1773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北極星KPI（増分粗利）とユニークKPI群に接続し、統合報告書（IR）で開示 ― 変革を企業価値に翻訳する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5257800"/>
            <a:ext cx="11185855" cy="10972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294376"/>
            <a:ext cx="107286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構造化の規律（3点）：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①施策は「点」で終わらせず、線（施策間の連鎖）と面（事業モデル）まで設計する　②各テーマのHowは「前（環境・真因）の何を受け、後（KPI・他テーマ）の何につながるか」を必ず明記する　③情報量を増やさない ― 重点施策は8＋1に絞り、テーマ1つにつき見開き1枚で完結させる。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環境の事実 ― オープンデータで確認する「market が動いた証拠」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戦略の前提はすべて公開データで裏どりする（数値は要最新確認）。結論：数量市場は縮み、予防・健康と小売メディアとAI推奨に成長が移った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6766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63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市場の縮小と二極化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08960" y="156362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国内日用品市場は数量ベースで構造縮小（▲10〜15%見込み）。PB拡大と値上げで中間価格帯が空洞化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04120" y="1563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社内推計・業界統計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67712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3134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108960" y="231343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65歳以上が人口の約3割、社会保障給付は年約140兆円規模。国民皆歯科健診は骨太の方針（2022）に明記され制度化検討が進行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04120" y="23134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総務省・厚労省・内閣府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17520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063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オーラルケアの相対的成長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108960" y="306324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国内オーラルケア市場は約4,000〜5,000億円で日雑の中では数少ない成長カテゴリ。ライオンはハミガキ・ハブラシ国内シェア首位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04120" y="306324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業界調査（富士経済等）・要確認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67328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130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108960" y="381304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国内リテールメディア広告市場は2029年に約1.3兆円へ拡大予測（2025年比で約2倍超）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04120" y="38130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CARTA HOLDINGS調査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2920" y="4517136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517136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4562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検索・購買のAI化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108960" y="456285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調べ物の66.4%はサイトを開かず完結（ゼロクリック）。米国では2025年にAI画面内決済・購入代行が開始、決済の共通規格化も進行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04120" y="456285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ヴァリューズ調査・各社公表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2920" y="526694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266944"/>
            <a:ext cx="64008" cy="67665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531266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日用品ECの現在地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108960" y="5312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日用品のEC化率は1割前後にとどまる ― ただしAIの影響は「どこで買うか」より先に「何を買うか（指名）」に現れるため、店頭主体の今こそAI対応が必要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04120" y="531266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経産省EC市場調査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1173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含意：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「数量を売る市場」の外側 ― 予防・健康時間、小売の広告収益、AIの推奨リスト ― に成長が移った。5つの経営テーマは、この移動先で勝つための問いである。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購入前の「情報接点」のシフト仮説 ― 一般論を、ライオンの打ち手に翻訳する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AI利用者を想定した接点配分の試算モデル（Copilot生成・実測値ではない仮説）。一般論のまま受け取らず、接点ごとに「ライオンはどこで勝つか」を重ねる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685800"/>
                <a:gridCol w="868680"/>
                <a:gridCol w="3749040"/>
                <a:gridCol w="4187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接点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従来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AI利用者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（試算）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主な変化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ライオンの打ち手（対応テーマ）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TV・動画広告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認知は残るが、指名購入への直結度は低下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マス投資を段階縮小し、②〜④・⑧へ再配分（テーマ3）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検索（Google等）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1件ずつリンクを読む検索が減少（ゼロクリック66.4%）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検索対策からAI対策（AIEO）へ軸足を移す（テーマ2）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SNS・口コミ・レビュー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直接閲覧から、AIが要約する「情報源」へ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AIに引用されやすい一次情報・レビュー基盤の整備（テーマ2）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AI相談・AI推薦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欲求の言語化・探索・比較・絞り込みを統合 ― 最大の新接点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Hub＋AIEO Rate月次監査で先行獲得（テーマ2）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店頭棚・パッケージ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最終確認と現物確認の役割は残る ― 依然2番目の接点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診断型売場×Total Availabilityで守り抜く（テーマ3）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POP・小売アプリ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価格・販促・ポイント確認へ重点移動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リテールメディアJBP化で共同運用に転換（テーマ3）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⑦ 家族・友人・専門家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信頼確認として残る。OTCでは特に重要性が高い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歯科・衛生士・薬剤師のB2B2C推奨 ― ライオン最大の独自領域（テーマ1・3）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⑧ EC商品ページ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AIが読み取る「一次情報」として重要性が上昇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属性・エビデンスの構造化＝AIへの納品物として整備（テーマ2）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596128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3270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一般論と分ける読み方（独自の勝ち筋）：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AI相談25＋⑧EC一次情報12＋⑦専門家8＝45ptは「エビデンスと信頼」で決まる接点＝臨床データと歯科ネットワークを持つライオンの構造的優位。⑤店頭18ptは小売との共同運営で守る（GenZのAI利用93%・買い物利用28%＝McKinsey 2026、花王はAI推奨監視をIR公表済み）。数値はFY26のAIEO実測で自社版に置き換える。なお、この表は生活者（C）側のみ ― ライオンはB2B2Cであり、同じシフトはバイヤー側にも起きる（商談情報はAI・本部システム経由に）。B側・専門家側の接点は次ページのビジネスモデルで扱う。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 ― 問題は組織の縦割りではなく「経営の評価・意思決定の構造」にある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なぜを4回掘ると、3つのボトルネックはいずれも経営構造に行き着く（既存検討の5Why分析より）。だから解決策も経営テーマの形で答える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120700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ボトルネック①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知見の非換金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なぜ×4：臨床データがLTV予測に変換されない → KPI・基盤が部門分断 → 横断責任者が不在 → 統合投資が短期ROIで承認されない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【真因】長期的な知識資産への投資判断軸が、経営に存在しない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52928"/>
            <a:ext cx="6400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ボトルネック②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内向き業務の慣性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3697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なぜ×4：手作業前提の業務が変わらない → 変化後の姿が示されていない → 生産性が戦略目標になっていない → 管理職に変革オーナーシップがない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6941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【真因】「Input業務ゼロ化」を経営アジェンダとして推進するTop-Downの意思決定がない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151376"/>
            <a:ext cx="64008" cy="1207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ボトルネック③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切迫感の欠如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53542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なぜ×4：AI購買の危機が現場に届かない → 日常KPIに「AI推奨シェア」がない → リスクが数値化されていない → 計測基盤が存在しない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【真因】競合が先行投資する領域（属性データAPI化等）を経営ベンチマークとして認識・優先化していない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 ― だから「経営テーマ」で答える：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真因はすべて「経営の評価軸・アジェンダ・ベンチマーク」の欠如に帰着する。現場施策を積んでも真因は解けない。市場の選択・価値の定義・接点の統合・顧客資本・成果管理という経営の問いに対して答えを置き、KPIと評価をそこへ接続すること自体が、真因の解消である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ビジネスモデル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ライオンのビジネスモデル ― 3つの顧客と、それぞれの「時間」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ライオンはB2B2C。収益の入口は小売・卸であり、専門家（歯科等）が推奨で支え、生活者に届く。だから「顧客との時間」も生活者だけでなく3層で設計する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39312" cy="379476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3639312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　小売・卸（取引の顧客）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収益の入口。バイヤーの時間は有限で、競合メーカーと奪い合う資源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30936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現状：接点時間の大半が値引き・特売の条件交渉に費やされ、双方にとって資産にならない時間になっている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目指す：商談時間の質を「共同事業の設計時間」へ転換。売場・店員・リテールメディアの中でライオンが語られる時間を増やす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70248" y="1554480"/>
            <a:ext cx="3639312" cy="379476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554480"/>
            <a:ext cx="3639312" cy="36576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398264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　専門家（推奨の顧客）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98264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歯科医師・歯科衛生士・薬剤師。B2B2Cの起点となる信頼の層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398264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現状：長年の関係はあるが、診療・指導の中でライオンのツールが使われる時間は計測されず、事業成果に接続されていない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目指す：診断ツール・教材・エビデンスが診療と指導の時間の中で使われる状態 ＝「広告費ゼロの需要形成」が働く時間を増やす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37576" y="1554480"/>
            <a:ext cx="3639312" cy="37947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7576" y="1554480"/>
            <a:ext cx="3639312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65592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　生活者（最終顧客）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65592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毎日の習慣の中でライオンと過ごす層。AI時代の「初期設定」の原資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165592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現状：接点はモノの使用時間に偏り、健康行動（診断・学び）の時間はほぼ取れていない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目指す：寄り添い時間（毎日の習慣）×夢中時間（健康行動）の両方で時間シェアを取り、習慣ごとAIに引き継がせる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時間の連鎖（ビジネスモデルの回り方）：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専門家の推奨時間（E）→ 生活者の習慣時間（C）→ その効果をデータで証明 → 小売の共同事業時間（B）→ 売場・店員・メディアの時間 → また生活者へ ― と循環する。どこか1層だけ増やしても続かない。3層を同時に測り、同時に増やす ― これがB2B2Cメーカーの時間戦略であり、B2C一層のサンリオ型との決定的な違い。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 ―「予防習慣インフラ企業」＝ 3層の時間シェアを握った状態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2040年の到達点を「時間」で定義する。生活者・小売・専門家の3層すべてで時間シェアを取ったとき、制度とAIの初期設定は結果としてついてくる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7315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17904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 ＝ 3層の顧客時間の総量。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モノの数量ではなく、3つの顧客との時間を経営の物差しにする。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95728"/>
          <a:ext cx="1118585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389120"/>
                <a:gridCol w="2743200"/>
                <a:gridCol w="30449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層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何を測るか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KPI（試験計測から）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2040年の到達点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バイヤーとの年間接点時間のうち「共同事業の設計」に使われた比率（値引き交渉からの転換率）。売場・店員がライオンを語る時間、リテールメディアでの想起時間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共同事業時間比率／店員教育の受講時間／売場・メディア想起時間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2040年：主要小売との接点時間の過半が共同事業。値引き交渉の時間は構造的に消滅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専門家時間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診療・指導の中でライオンの診断ツール・教材・エビデンスが使われる時間。衛生士向けプログラムの参加時間。学校・自治体での啓発時間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専門家ツール活用時間／推奨起点売上比率（U3）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2040年：予防指導の標準ツールとして組み込まれ、制度（皆歯科健診）の実装時間の一部になる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生活者時間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寄り添い時間（毎日の歯みがき・手洗い・洗濯等の習慣時間）×夢中時間（診断・学習・プログラム参加などの健康行動時間）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習慣時間シェア（推計）／夢中時間（ID接点ログで実測）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2040年：習慣時間の信頼がAIの初期設定に引き継がれ、自動補充で選ばれ続ける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なぜ時間を物差しにするか：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①数量が縮む市場で、時間はシェアを再定義できる唯一の成長資源（有限で、競合・娯楽と奪い合う）　②B層・E層の時間は競合が資本で買えないライオン固有の資産　③統合報告書で開示できる独自指標になり、変革を企業価値の言葉に翻訳できる。※会議録の「顧客・バイヤー・小売の接点時間のKPI化」構想を、B2B2Cの3層に構造化したもの。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経営テーマへの接続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理想像と現実の差分を、5つの「経営の問い」に変換する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左＝理想像、中＝経営テーマ（問い）、右＝答えと施策の紐付け。既存の8重点施策＋新提案1がすべてこの5つの問いに収まる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057400" cy="4572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783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
インフラ企業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3層の顧客時間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（生活者・小売・専門家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＝LION Time）と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制度・AIの初期設定を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握る会社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2834640" cy="8412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16002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問い：どの市場・顧客を重点化するか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5833872" cy="84124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60020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答え：縮む数量市場から「拡がる予防・健康時間市場」へ重心を移す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経営管理連携のデータ活用（ポートフォリオ再編・オーラル4分割・皆歯科健診の制度活用）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2834640" cy="84124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4" name="Text 12"/>
          <p:cNvSpPr/>
          <p:nvPr/>
        </p:nvSpPr>
        <p:spPr>
          <a:xfrm>
            <a:off x="3054096" y="253288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問い：何を理由に選ばれる会社になるか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487168"/>
            <a:ext cx="5833872" cy="84124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32888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答え：「健康の成果（アウトカム）に責任を持つ」ことを選ばれる理由にする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　＋　施策⑤ 臨床・行動データの統合・分析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0" y="3419856"/>
            <a:ext cx="2834640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054096" y="3465576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問い：認知から受注、継続までをどうつなぐか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419856"/>
            <a:ext cx="5833872" cy="84124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65576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答え：棚・EC・AI推奨・歯科接点を1つのスコアで統合し、小売と共同KPIで結ぶ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　＋　施策⑥ B2B2C商談モデル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26080" y="4352544"/>
            <a:ext cx="2834640" cy="84124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22" name="Text 20"/>
          <p:cNvSpPr/>
          <p:nvPr/>
        </p:nvSpPr>
        <p:spPr>
          <a:xfrm>
            <a:off x="3054096" y="4398264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問い：顧客との関係を企業資産にできているか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352544"/>
            <a:ext cx="5833872" cy="84124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398264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答え：LION IDを「口腔健康のOS」へ転換し、習慣・健康データと3層の時間を企業資産にする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ID口腔健康OS化×Oral Health Graph　＋　新提案 LION Time計測（B・E・Cの3層）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926080" y="5285232"/>
            <a:ext cx="2834640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3054096" y="533095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問い：誰が、何を担い、どの指標で評価するか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5285232"/>
            <a:ext cx="5833872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5330952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答え：北極星KPI（増分粗利）で全部門を束ね、時間を生み、評価を変える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　＋　施策⑧ RevOps型KPIマネジメント（＋テーマ別役員オーナー制）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6181344"/>
            <a:ext cx="11185855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以降のHow：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テーマ1枚ずつ、「前（何を受けて）→答え→施策と主要アクション→誰が・いつ・どのKPI→後（何につながるか）」の同じ型で示す。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 ― どの市場・顧客を重点化するか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縮む数量市場ではなく「拡がる予防・健康時間市場」を主戦場に選び、資源配分をデータで裁く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日雑市場の数量縮小・K字二極化（前提1）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予防・健康の拡大と国民皆歯科健診の始動（前提1）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コモディティ消耗戦から脱却できないGAPと、真因「投資判断軸の欠如」（前提2）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経営管理高度化との連携によるデータ活用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衣料洗剤等の標準品投資を縮小し、オーラルケア・キレイキレイ・OTC医薬品へ資源集中。撤退ラインはROIC基準で会議体を決めて機械的に裁く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・オーラルケア市場の4分割再定義（補充・悩み・予防・口腔機能）と分割別KPI管理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・B2B歯科チャネルの推奨ビジネス化（歯科医院・歯科衛生士・健保のパートナー化）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・国民皆歯科健診の制度活用：健診受診者→LION ID誘導→健保・自治体との共同事業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・現実性の担保：撤退はブランド別ROICと数量トレンドの2基準で段階実行（急激な撤退はしない）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経営企画＋事業部
オーナー役員：経営企画担当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中計反映
→ FY27 本格移行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強み領域売上比率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65%→80%（FY30）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専門家推奨起点売上比率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選んだ市場に、テーマ2（価値）とテーマ3（接点）の投資を集中できる。北極星KPI「増分粗利（オーラルケア）」の分母＝戦う市場そのものを定義する一手。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 ― 何を理由に選ばれる会社になるか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「安いから」ではなく「健康の成果に責任を持つから」選ばれる ― 臨床データを人とAIの両方に効く知識資産に変える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AI検索の主流化（ゼロクリック66.4%）とAI購買代行の開始（前提1）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真因「知見の非換金」― 30年の臨床データが眠っている（前提2）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競合はAI推奨の監視・データ基盤を既に運用（3C）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全商品×症状×エビデンスをAIが参照できる構造化データとして公開（Oral Evidence Hub）。AI推奨シェアを月次測定し、改善までループさせる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付加価値創出のためのデータ統合・分析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臨床・行動データをGCPで統合し、「カテゴリーLTV向上予測」「炭素効率スコア」を商談当日に使えるデータとして自動供給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・臨床・研究情報の全社棚卸し（論文・治験・使用実態を「AI公開・商談・制度連携」の3用途に分類）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・製品属性データのAPI化完了（FY27）・OTC薬事エビデンスのAI引用可能化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・AI推奨シェアの競合比較ループ（花王はi-Kao等をIR公表済み ― 追走を数値管理）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R&amp;D＋デジタル戦略＋システム横断
オーナー役員：R&amp;D担当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着手 → FY27 公開
→ FY28 ループ稼働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AI推奨シェア（AIEO Rate）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FY28 30%→FY30 50%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データ武装型商談比率 80%（FY28）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テーマ3の商談武器（LTV予測・炭素効率）と、テーマ4のOS用コンテンツの供給源になる。AIに「引用される側」の地位は、広告費で買えない参入障壁。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 ― 認知から受注、継続までをどうつなぐか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棚・EC・AI推奨・歯科接点を「Total Availability（すべての買い場で買える状態）」として統合し、小売とは共同KPIのJBPで結ぶ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 ― リテールメディア1.3兆円市場へ（前提1）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値引き提案と商談価値のミスマッチ（GAP3）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価値提案は「正しさ」では採用されない ― 値引きとの組み替え・小売データ検証・成果連動の設計（既検討）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単発スポット広告を廃止し、重点小売2〜3社と共同KPI（N-t-C＝カテゴリ新規客・増分粗利）に紐づく計画的投資へ転換。物理棚・EC・AI推奨を1つのスコアで統合管理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施策⑥ B2B2C商談モデルの構築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歯科接点（OraCo/POHR）→消費者→小売購買を1つのデータモデルで接続し、「専門家推奨起点の売上」を商談価値に変える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・診断型売場の標準パッケージ（QR診断→商品推薦→LION ID誘導）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・商談時間の質の計測（値引き交渉→共同事業設計への転換率）と店員がライオンを語れる時間づくり（教育・売場体験）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・現実性の担保：値引き70＋施策30のパッケージ＋成果連動で入る（受け入れられる設計）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営業＋アカウントスクワッド
オーナー役員：営業担当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重点小売で先行実装
→ FY28 水平展開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Total Availabilityスコア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70%→90%（FY30）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B2B2C推奨起点売上比率 5%→15%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共同事業時間比率（バイヤー接点時間の質）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テーマ4のID獲得接点（診断売場）となり、北極星KPIのN-t-C（新規客）の枝を直接動かす。小売の新収益に組み込まれることで、値引き交渉が構造的に消えていく。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 ― 顧客との関係を企業資産にできているか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IDを「口腔健康のOS」へ転換し、習慣・健康データと「3層のLION Time」（生活者・小売・専門家との時間）を企業資産として蓄積・開示する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Cookie消滅と自前顧客基盤の劣後（SWOT-W）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真因「長期的な知識資産への投資判断軸の欠如」（前提2）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サンリオ等の先行事例 ― 顧客時間をKPI化しIRで開示（理想像）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ID「口腔健康OS化」×Oral Health Graph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購入前の悩み→購買→習慣→口腔状態の変化を連結するデータモデルを構築。DCR（データを渡さず突き合わせる技術）で小売横断のID連携を実現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新提案 LION Time（顧客時間）の計測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生活者（習慣×健康行動）だけでなく、小売（共同事業時間比率・店員が語る時間）・専門家（診療でのツール活用時間）を含む3層で試験計測し、統合報告書の開示候補に育てる ― B2B2Cゆえの独自KPI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・既存会員への価値提案の切り替え設計（移行インセンティブ）・90日習慣継続プログラム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・現実性の担保：薬機法・個人情報保護の法務確認を先行タスク化（FY26年内）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マーケティング＋デジタル戦略
オーナー役員：マーケ担当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FY27 設計 → FY28 構築
→ FY29 本格活用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アクティブLION ID数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KOIC（意向把握カバレッジ）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90日習慣継続率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Time（3層・試験計測）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顧客資本KPIを統合報告書（IR）へ開示し、変革を企業価値の言葉に翻訳する。蓄積した習慣・健康データは、テーマ2のエビデンスとAIの引用元へ還流する ― 回すほど強くなる循環。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5/5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 ― 誰が、何を担い、どの指標で評価するか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北極星KPI「増分粗利（オーラルケア）」で全部門を束ね、Input業務ゼロ化で時間を生み、テーマ別の役員オーナー制で変革の責任を固定する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対P&amp;G約7.6倍の生産性格差と内向き業務の慣性（前提2）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真因「Top-Downの意思決定と変革オーナーシップの不在」（前提2）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部分最適KPIによるセクショナリズム（会議録の課題認識）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Input業務ゼロ化による「戦略時間」の創出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商談資料・実績集計・LTV予測データの自動生成を生成AI×Salesforce TPMでFY26年度内に標準化（削減50%→FY27末80%）。浮いた時間の使途はテーマ3の商談・売場に決め打ち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施策⑧ RevOps型KPIマネジメント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営業・ブランド・データ・EC・SCM横断の「アカウントスクワッド」が重点小売3〜5社を担当し、増分粗利・N-t-C・LTVを全チーム共有KPIに。人事評価と連動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主要アクション（真因への直接回答）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・経営テーマ1〜5に役員オーナーを1名ずつ任命（オーナー不在の真因を制度で解消）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・MMM＋増分実験体制（重点1小売×1施策から）・変革チーム評価の売上目標からの分離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経営会議＋人事＋推進事務局
オーナー役員：社長（全体）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Q2 試行 → FY26末 標準化
→ FY27 スクワッド展開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Input業務削減率 50→80%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RevOps共有KPI達成率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対象小売の増分粗利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全テーマの実行力の土台。「知識資産形成を評価軸に持たない経営構造」という真因そのものを、北極星KPI・役員オーナー制・評価連動という制度で解消する。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シナジー設計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点を線に、線を面に ― 施策がつながって初めて事業モデルが変わる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8＋1の施策（点）を3本の連鎖（線）で結び、3本の線が「予防習慣インフラ×LION Time経済圏」という1つの面を張る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9692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9692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線1 エビデンスの連鎖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20440" y="1618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データ統合 → 施策② AI公開 → 施策③⑥ 商談・B2B2C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67512" y="19385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臨床データが「AIの引用元」と「バイヤーへの武器」の両方に流れる。1つの知識資産が消費者・AI・小売の3方向で換金される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1185855" cy="969264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15184"/>
            <a:ext cx="64008" cy="969264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線2 IDと制度の連鎖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20440" y="2679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皆歯科健診の制度活用 → 施策④ LION ID OS → 施策③ 診断型売場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67512" y="2999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健診・学校・歯科（制度接点）で獲得したIDが、売場の診断接点と小売データにつながり、習慣・健康データが蓄積される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11185855" cy="9692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75888"/>
            <a:ext cx="64008" cy="9692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線3 時間と評価の連鎖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20440" y="3739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時間創出 → 施策⑧ スクワッド → テーマ3のJBP実行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67512" y="405993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ゼロ化で生まれた時間がスクワッドの共同事業運営に投じられ、成果が北極星KPIで測られて評価に返る ― 人が回り続ける仕組み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85855" cy="9601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64608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 ― 予防習慣インフラ×LION Time経済圏（2040）：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本の線が重なると、「制度が推奨し（線2）、エビデンスが人とAIに選ばせ（線1）、小売との共同事業が買い場を支え（線3）、生活者の習慣時間が資産として蓄積される」1つの事業モデルになる。点の寄せ集めでは競合に模倣されるが、面は模倣できない ― 各線の資産（制度接点・臨床蓄積・小売信頼）が他社にないため。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943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点（施策単体）の成果が出ても線につながっていなければ再設計する ― 四半期レビューで「線の接続状態」を推進事務局が点検する。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経営テーマごとに「オーナー役員」を置き、現場はスクワッドで動く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真因（変革オーナーシップの不在）への直接回答として、テーマ1〜5に役員オーナーを固定。実行は少人数専任＋横断チームで、通常業務に負担をかけない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経営レイヤー ― テーマ別オーナー役員（月次の経営会議で進捗・ゲート判定）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2157984" cy="6583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 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オーナー：経営企画担当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0" y="1810512"/>
            <a:ext cx="2157984" cy="65836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 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オーナー：R&amp;D担当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983480" y="1810512"/>
            <a:ext cx="2157984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 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オーナー：営業担当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23760" y="1810512"/>
            <a:ext cx="2157984" cy="65836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 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オーナー：マーケ担当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464040" y="1810512"/>
            <a:ext cx="2157984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 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オーナー：社長（全体）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11185855" cy="841248"/>
          </a:xfrm>
          <a:prstGeom prst="rect">
            <a:avLst/>
          </a:prstGeom>
          <a:solidFill>
            <a:srgbClr val="F4F6F9"/>
          </a:solidFill>
          <a:ln w="15240">
            <a:solidFill>
              <a:srgbClr val="162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51760"/>
            <a:ext cx="64008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688336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国内BU変革プロジェクト（新設・仮称）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3749040" y="2688336"/>
            <a:ext cx="7863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フレームから脱却する推進母体。国内BU内に専任リーダー（部長級・社内公募含む）を置き、デジタル戦略部とペアで運営。BU内の販促費・人員の一部を組み替える権限を持つ。人選基準＝①小売との信頼 ②データへの理解 ③社内を動かせる実績 ― スクワッドと橋渡し役はこのプロジェクトの中に編成する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11185855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566160"/>
            <a:ext cx="64008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6027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749040" y="360273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デジタル戦略×経営企画の混成。テーマ横断の進捗・効果測定、「線の接続状態」の点検、経営会議への報告。守り（AI実測・情報公開）の進行役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11185855" cy="56692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06240"/>
            <a:ext cx="6400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24281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アカウントスクワッド（重点小売3〜5社）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3749040" y="424281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営業・ブランド・データ・EC・SCM横断。JBP・診断売場・B2B2C（テーマ3）を実行し、増分粗利・N-t-C・LTVの共有KPIで動く。FY26 Q4に1社で先行試行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02920" y="4846320"/>
            <a:ext cx="11185855" cy="56692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46320"/>
            <a:ext cx="64008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48828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橋渡し役チーム（5名→20名）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3749040" y="488289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R&amp;D・マーケの知見を商談データに翻訳（テーマ2の施策⑤のオーナー）。マーケ・営業・事業部出身の混成。成果実証後に正式組織化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02920" y="5486400"/>
            <a:ext cx="11185855" cy="56692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486400"/>
            <a:ext cx="64008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" y="55229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システム横断チーム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3749040" y="552297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既存のGCP・TPM・生成AI担当を横串。Oral Evidence Hub・LION ID・自動化の実装（テーマ2・4・5）。外部採用はデータ技術者と広告データ専門家の2職種のみ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502920" y="6108192"/>
            <a:ext cx="11185855" cy="40233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614476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体制の原則：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①専任は最少、大組織は作らない　②変革チームの評価は売上目標から切り離す　③人は社内から ― 「進められる人」を先に決めることが、フレーム脱却の第一歩。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バックキャスト ― 2040年から逆算した経営テーマ別の時間割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FY30（3rd Stage完了・統合報告書でのKPI開示）を中間到達点に置き、2040年まで逆算。確認ゲートに合格したときだけ投資と組織変更を拡大する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2606040"/>
                <a:gridCol w="2606040"/>
                <a:gridCol w="22219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FY26（布石）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FY27–28（線にする）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FY29–30（面の原型＝3rd Stage完了）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2035–2040（インフラ完成）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テーマ1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市場機会の選択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中計反映・撤退ROIC基準設定。皆歯科健診の政策対応チーム組成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ポートフォリオ本格移行。オーラル4分割KPI管理・健保共同事業の試行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強み領域売上比率80%。制度接点経由の事業が柱の一角に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予防・健康時間市場で圧倒的首位。制度の実装網の一部に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選ばれる価値の創造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AIEO監査開始・ベースライン確立。構造化データ整備着手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Hub公開（FY27）・属性API化完了・商談データ自動供給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 50%。臨床データがAIの標準的引用元に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主要カテゴリでAI推奨シェアNo.1＝「見えない棚」の独占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顧客接点の統合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重点小売2社で歯ぐきケアJBP開始（N-t-C共同KPI）・診断PoC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Total Availabilityダッシュボード展開・B2B2C接続実証（FY28）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TAスコア90%・B2B2C比率15%。JBPが三位一体（成長＋広告＋循環）へ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主要チェーンの新収益に組み込まれ、値引き交渉が構造的に消滅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顧客資本の蓄積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ID価値再設計・法務確認（薬機法・個情法）・LION Time試験計測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Health Graph構築・DCR連携・匿名診断実装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IDアクティブ目標達成・顧客資本KPIを統合報告書に開示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習慣・健康データとLION Timeが企業価値の中核資産に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テーマ5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実行能力と成果管理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Input業務30%削減の先行実装・スクワッド1社試行・役員オーナー任命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削減80%・スクワッド3〜5社展開・MMM増分実験体制確立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RevOps評価が全社標準。生産性格差を半減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「時間と習慣」を物差しとする経営管理が定着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25896"/>
            <a:ext cx="1072865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確認ゲート：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G1（FY27夏）＝小売データで値引き超えを実証した商談＋AIEOベースライン＋事務3割減 → 拡大投資解禁。G2（FY28末）＝JBP再現・B2B2C実証 → 組織正式化・GCP本格投資。G3（FY30）＝統合報告書KPI開示 → 全社標準化。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投資の優先順位と回収 ― 何に、いくら、どの順で（仮の試算・要確認）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優先度は「真因・GAPへの直接性」で決める。5年累計30〜50億円、効果は年45〜95億円＋売上防衛。前提数値は90日で実測して確定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868680"/>
                <a:gridCol w="3456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投資項目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内容（対応テーマ）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優先度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規模と回収（仮）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AIEO・Oral Evidence Hub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構造化データ整備・AI推奨モニタリング（テーマ2）。外部委託か内製かの選択が論点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年1〜2億円規模。棚落ち回避＝売上防衛として最大のリターン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GCP統合データ基盤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ID・購買・診断・習慣データの統合（テーマ2・4）。DX投資の最大項目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累計20〜35億円。G2合格後に本格投資（段階解禁）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生成AI×Salesforce TPM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Input業務ゼロ化の実装（テーマ5）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時間価値 年15〜25億円相当。1〜2年でROI回収見込み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アカウントスクワッド移行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組織・評価制度の変更（テーマ5）。内部調整コストが最大リスク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追加費用は小。値引き費用の転換 年20〜40億円の実現条件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MMM・増分測定体制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広告・販促の増分効果測定（テーマ3・5）。1小売×1施策から開始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広告最適化 年10〜30億円の実現手段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DCR・小売データ協業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法務・技術・小売交渉の3条件が前提（テーマ3・4）。個情法確認が先行タスク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条件が揃い次第。先行して法務確認のみFY26内に完了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全体観：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5年30〜50億円に対し、効果は年45〜95億円（時間価値15〜25億＋値引き転換20〜40億＋広告最適化10〜30億）で2〜3年回収。ただし最大のリターンは金額化しにくい「棚・AIから外されない＝売上の生存権」と、2040年の「制度・習慣・小売共同事業」という参入障壁の形成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経営テーマ別に「誰が何を得るか」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各部門が「自分たちの得になる」と言えることが実行の推進力。関係テーマを明示し、リターンと見る数字をセットで示す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5852160"/>
                <a:gridCol w="2907792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事務時間が半減し、商談は「値引き」から「共同事業の設計」へ。バイヤーから頼られる立場に変わり、スクワッドの共有KPIで成果が正当に評価される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データ武装型商談比率／JBP達成率／増分粗利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広告・販促の増分効果が測れるようになり、リテールメディア投資をROIで運用できる。LION IDとLION Timeという「自前の顧客資産」を持てる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N-t-C率／KOIC／LION Timeの伸び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3・4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30年の臨床データがAIの引用元・商談の武器・制度連携の教材として三重に換金され、研究の事業貢献が数字で見える。健康アウトカムデータが次の研究に還流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Rate／エビデンス活用商談数／口腔健康アウトカム改善率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環境・属性データの整備が取引条件クリアと棚落ち回避に直結。店頭回収など循環対応を小売と共同設計する立場になる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属性・環境データ整備率／欠品率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2・3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経営企画・経営管理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ポートフォリオ再編をROIC基準で裁ける。北極星KPIと5つのユニークKPIで投資対効果が一元管理され、統合報告書の開示ストーリーが手に入る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強み領域売上比率／北極星KPI（増分粗利）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役員オーナー制とRevOps評価で「変革に取り組んだ人が報われる」構造に。越境ローテーションで次世代人材が育つ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新評価の適用者数／部門間異動数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各KPIの目標値はFY26上期のベースライン実測後にオーナー役員が確定し、経営会議で承認する。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KGI/KPI体系 ― 北極星KPIを頂点に、ユニークKPIを経営テーマへ紐付ける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頂点は「増分粗利（オーラルケア）」。その下に新規（N-t-C）と継続（LTV）の2本の枝、枝先にライオン固有のユニークKPI。すべてIR開示を見据えた設計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931920" y="1481328"/>
            <a:ext cx="429768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5179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北極星KPI：増分粗利（オーラルケア事業）
</a:t>
            </a:r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施策がなかった場合との差分で測る「変革の正味効果」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枝1：新規顧客の獲得（N-t-C：カテゴリ新規客）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枝2：継続顧客の深化（LTV：習慣化・再購買・推奨）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18585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977640"/>
                <a:gridCol w="914400"/>
                <a:gridCol w="3337560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ユニークKPI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定義・測り方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経営テーマ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北極星への接続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IR開示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U1 AI推奨シェア（AIEO Rate）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主要な口腔ケア・OTC質問へのAI回答でライオンが推奨・引用される割合（月次監査100〜200問×AI別）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枝1（AI経由の新規獲得の先行指標・買い場消滅への生存保険）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U2 KOIC（意向把握カバレッジ）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購入前の口腔課題・意向を継続把握できる対象者の比率（許諾ID＋仮名インテント÷関心推定人口）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枝1・2（Cookie消滅への自前対応の進捗）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U3 B2B2C推奨起点売上比率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歯科医院・衛生士・保険者の推奨を経由した売上÷カテゴリ売上（DCRで購買照合）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枝1（広告費ゼロの需要形成。競合不可能な強みの売上接続）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U4 カテゴリーLTV向上貢献指数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ライオン施策により重点小売のカテゴリ粗利が前年比何%向上したか（Test&amp;Control比較）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枝2（商談価値ミスマッチ解消の最終確認。JBPの通貨）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U5 口腔健康アウトカム改善率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製品・習慣プログラム参加者の口腔状態の事前事後改善比率（診断×歯科連携×調査）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枝2（「健康の成果に責任を持つ会社」への転換の証明）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U6 LION Time（3層・新提案）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C：習慣×健康行動時間（推計・ログ）／B：商談の共同事業時間比率・売場想起時間／E：専門家のツール活用時間。まず試験計測から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テーマ3・4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枝1・2の先行指標。B・E層の時間は競合が買えないライオン固有の資産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163056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現場KPIは四半期・ユニークKPIは半期でオーナー役員がレビュー。北極星に接続しない施策の追加は原則却下 ― 手段の目的化を防ぐ。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次回デジタル戦略会議への投げかけ ― 課題と施策候補のブレークダウン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論理の鎖：接点シフト（前提2）→ 真因（前提3）→ 5つの経営テーマ（How）→ 施策候補8＋1。会議では「決めること」と「持ち帰ること」を分けて諮る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会議で決めていただきたいこと（3つ）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決定1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国内BU変革プロジェクトの組成と専任リーダーの人選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候補者の要件（小売との信頼×データ理解×社内実績）と選出方法（指名＋社内公募）を決め、FY26内に発足させる。決めないと：施策は資料のまま、今のフレームから出られない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98064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62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決定2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AIEO初回実測の即時開始と月次報告の定例化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16382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接点シフト試算（④AI相談25pt）を仮説のまま放置せず、自社の実測値に置き換える。花王はIR公表段階 ― 90日で初回報告。費用は小さく、危機感が数字になる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785616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49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決定3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テーマ別役員オーナーの任命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151376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5つの経営テーマに役員オーナーを1名ずつ。真因（変革オーナーシップと投資判断軸の不在）への直接回答であり、以降の投資判断の前提になる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持ち帰って検討いただくこと（論点）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1185855" cy="12344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266944"/>
            <a:ext cx="1082009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接点シフト試算モデルの妥当性 ― 各BUの実感・データとの突き合わせ（数値は仮説であり、否定材料も歓迎）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Time（3層）の定義 ― 特にB層（商談の共同事業時間比率）とE層（専門家のツール活用時間）の測り方と、営業の負担にならない記録方法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施策候補8＋1の優先順位 ― 5テーマ×施策マップ（本資料6〜13ページ）への意見。特に洗剤等の標準品の扱い（撤退ラインのROIC基準）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GCP統合基盤・Oral Evidence Hubの投資規模と担当部署 ― 外部委託か内製かを含め、FY27公開の実現可能性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薬機法・個人情報保護の確認体制 ― 歯科連携データ活用の法務論点（B2B2C・LION ID）を先行タスク化する座組み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2026-08-11T10:44:19Z</dcterms:created>
  <dcterms:modified xsi:type="dcterms:W3CDTF">2026-08-11T10:44:19Z</dcterms:modified>
</cp:coreProperties>
</file>