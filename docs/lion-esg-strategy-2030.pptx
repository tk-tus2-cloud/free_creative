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ライオン株式会社 御中  |  戦略提言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ライオン ESG戦略 2030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D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― 習慣づくりを、社会インパクトと企業価値に変える 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2926080" cy="0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794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2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本提言は、2027年末の「骨子確定・方針発表」に向けた新マテリアリティ評価・因果パス/KGI設定のたたき台となる戦略本文である。
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9E2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世の中のトレンド分析、先進企業の勝ちパターン、当社の勝ち筋、注力すべき3つの柱と基盤、非財務の財務化モデル、KGI/KPI体系、シナリオ別財務影響、移行計画で構成する。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0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2026年7月21日  |  戦略コンサルティング提言(数値目標は例示を含む ― 経営審議・ベースライン計測を経て確定)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戦略全体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戦略ステートメント ― 1枚で見るライオンESG戦略2030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「良い習慣の人口×習慣1回あたりのインパクト」を最大化し、その価値を財務級データで証明してPBRに転換する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61872"/>
            <a:ext cx="10744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b="1" dirty="0">
                <a:solidFill>
                  <a:srgbClr val="FF9D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勝ち筋(How to Win): </a:t>
            </a:r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花王(ESG総合力)・ユニリーバ(パーパス経営)と同じ土俵で戦わない。当社だけが持つ「習慣科学×学校・家庭への浸透アセット×アジア基盤」を使い、“毎日の習慣そのもの”を健康・環境インパクトの発生装置に変える。インパクトは貨幣換算・統計検証し、資本市場に「説明できる非財務」として提示する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602736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2225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50592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柱1  オーラルヘルスの社会実装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999232"/>
            <a:ext cx="3328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予防歯科・オーラルフレイル予防を「個人の習慣」から「社会システム」へ。学校・自治体・健保・歯科と連携し、アジアへ展開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0" y="2331720"/>
            <a:ext cx="3602736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2225">
            <a:solidFill>
              <a:srgbClr val="2C6E4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2450592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C6E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柱2  環境配慮習慣の主流化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434840" y="2999232"/>
            <a:ext cx="3328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すすぎ1回・低温洗浄・詰替を「我慢の環境行動」から「得する標準習慣」へ。使用時の節水・CO2削減を製品価値に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2331720"/>
            <a:ext cx="3602736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450592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柱3  事業基盤の脱炭素・循環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2999232"/>
            <a:ext cx="33284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Scope1-3の削減とCFP即応で「選ばれるサプライヤー」に。プラ循環は業界共創でコスト構造ごと変える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20624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61104"/>
            <a:ext cx="10835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基盤(Enabler): 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①人的資本(健康経営の自社実証・習慣科学人材) ②ガバナンス(非財務KPIの役員報酬連動・取締役会監督) ③財務級非財務データ基盤(SSBJ対応・貨幣換算・柳モデル検証) ― 3本柱すべてを支える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507492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全社KGI 2030(例示 ― ベースライン計測後に確定)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577840"/>
            <a:ext cx="2734056" cy="914400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6327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良い習慣の人口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5億人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(アジア累計・オーラル+衛生+環境習慣)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28416" y="5577840"/>
            <a:ext cx="2734056" cy="914400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/>
        </p:spPr>
      </p:sp>
      <p:sp>
        <p:nvSpPr>
          <p:cNvPr id="23" name="Text 21"/>
          <p:cNvSpPr/>
          <p:nvPr/>
        </p:nvSpPr>
        <p:spPr>
          <a:xfrm>
            <a:off x="3438144" y="56327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社会インパクト額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年1,000億円規模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(医療費削減+節水+CO2の貨幣換算)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99632" y="5577840"/>
            <a:ext cx="2734056" cy="914400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56327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ヘルス&amp;グリーン売上比率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50%以上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(貢献型認定製品の売上構成比)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70848" y="5577840"/>
            <a:ext cx="2734056" cy="914400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/>
        </p:spPr>
      </p:sp>
      <p:sp>
        <p:nvSpPr>
          <p:cNvPr id="27" name="Text 25"/>
          <p:cNvSpPr/>
          <p:nvPr/>
        </p:nvSpPr>
        <p:spPr>
          <a:xfrm>
            <a:off x="9180576" y="5632704"/>
            <a:ext cx="2514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財務・資本市場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PBR 2倍水準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(非財務ドライバの寄与を毎年統計検証)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外部環境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世の中のトレンド ― 6つの構造変化が「習慣の会社」に追い風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規制・資本市場・健康・環境・消費者・労働のすべてが、当社の事業ドメイン(日常習慣)の価値を高める方向に動いている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602736" cy="2011680"/>
          </a:xfrm>
          <a:prstGeom prst="roundRect">
            <a:avLst>
              <a:gd name="adj" fmla="val 3182"/>
            </a:avLst>
          </a:prstGeom>
          <a:solidFill>
            <a:srgbClr val="F4F5F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25880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開示の法定化・保証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1709928"/>
            <a:ext cx="33284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ISSB/SSBJ/CSRDで非財務が有報・保証対象に。グリーンウォッシュ規制(EU等)で「言うだけESG」が淘汰され、データで証明できる企業に開示プレミアム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297680" y="1234440"/>
            <a:ext cx="3602736" cy="2011680"/>
          </a:xfrm>
          <a:prstGeom prst="roundRect">
            <a:avLst>
              <a:gd name="adj" fmla="val 3182"/>
            </a:avLst>
          </a:prstGeom>
          <a:solidFill>
            <a:srgbClr val="F4F5F8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1325880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資本市場のPBR改革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34840" y="1709928"/>
            <a:ext cx="33284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東証の資本コスト・株価意識経営の要請。ESGマネーは選別化し、エクイティスプレッドと非財務の接続(柳モデル型)を説明できる企業へ資金がシフト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8138160" y="1234440"/>
            <a:ext cx="3602736" cy="2011680"/>
          </a:xfrm>
          <a:prstGeom prst="roundRect">
            <a:avLst>
              <a:gd name="adj" fmla="val 3182"/>
            </a:avLst>
          </a:prstGeom>
          <a:solidFill>
            <a:srgbClr val="F4F5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1325880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予防医療・健康寿命シフト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75320" y="1709928"/>
            <a:ext cx="33284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国民皆歯科健診の政策議論、オーラルフレイル・歯周病×全身疾患(糖尿病・認知症等)のエビデンス蓄積。医療費42兆円時代に「予防」が国家アジェンダに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3602736" cy="2011680"/>
          </a:xfrm>
          <a:prstGeom prst="roundRect">
            <a:avLst>
              <a:gd name="adj" fmla="val 3182"/>
            </a:avLst>
          </a:prstGeom>
          <a:solidFill>
            <a:srgbClr val="F4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474720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6E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環境コストの内部化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" y="3858768"/>
            <a:ext cx="33284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炭素価格・CBAM・プラEPRで環境負荷がコストに転化。家庭部門では水・エネルギー価格上昇により「節水・時短・低温」が家計価値に直結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297680" y="3383280"/>
            <a:ext cx="3602736" cy="2011680"/>
          </a:xfrm>
          <a:prstGeom prst="roundRect">
            <a:avLst>
              <a:gd name="adj" fmla="val 3182"/>
            </a:avLst>
          </a:prstGeom>
          <a:solidFill>
            <a:srgbClr val="F4F5F8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3474720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アジア中間層と意味消費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34840" y="3858768"/>
            <a:ext cx="33284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アジアの中間層拡大×口腔衛生・衛生習慣の未浸透ギャップ。若年層は「安くて良い」に加え「意味(健康・環境)」で選ぶ ― 習慣提案型ブランドの好機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8138160" y="3383280"/>
            <a:ext cx="3602736" cy="2011680"/>
          </a:xfrm>
          <a:prstGeom prst="roundRect">
            <a:avLst>
              <a:gd name="adj" fmla="val 3182"/>
            </a:avLst>
          </a:prstGeom>
          <a:solidFill>
            <a:srgbClr val="F4F5F8"/>
          </a:solidFill>
          <a:ln/>
        </p:spPr>
      </p:sp>
      <p:sp>
        <p:nvSpPr>
          <p:cNvPr id="22" name="Text 20"/>
          <p:cNvSpPr/>
          <p:nvPr/>
        </p:nvSpPr>
        <p:spPr>
          <a:xfrm>
            <a:off x="8275320" y="3474720"/>
            <a:ext cx="33284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人的資本・人権の開示義務化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75320" y="3858768"/>
            <a:ext cx="33284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人的資本開示の法定化、CSDDD等のサプライチェーン人権DD。従業員の健康・エンゲージメントが投資判断の変数に(健康経営の実証価値が上昇)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57200" y="5623560"/>
            <a:ext cx="11274552" cy="822960"/>
          </a:xfrm>
          <a:prstGeom prst="roundRect">
            <a:avLst>
              <a:gd name="adj" fmla="val 6667"/>
            </a:avLst>
          </a:prstGeom>
          <a:solidFill>
            <a:srgbClr val="FBECE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687568"/>
            <a:ext cx="10835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戦略的含意: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「毎日の習慣」を扱う当社は、③予防医療 ④環境コスト内部化 ⑤意味消費の3潮流の交点に立つ稀有なポジション。①②の制度化は脅威ではなく、“習慣のインパクトを財務級データで証明できれば独走できる”という機会である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外部環境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資本市場の要請 ― 「非財務の財務化」が評価の主戦場に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PBRは財務(ROE)だけでは説明できない。無形資産・ESGの寄与を定量的に語れる企業に資本が集まる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12064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PBRの構造と非財務の効き方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120640" cy="2286000"/>
          </a:xfrm>
          <a:prstGeom prst="roundRect">
            <a:avLst>
              <a:gd name="adj" fmla="val 2800"/>
            </a:avLst>
          </a:prstGeom>
          <a:solidFill>
            <a:srgbClr val="EEF3FB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901952"/>
            <a:ext cx="4800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PBR = ROE × PER(≒ 1 + 市場が認める将来価値)
</a:t>
            </a:r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PBR1倍超の部分は財務諸表に載らない「見えざる価値」= ブランド・人的資本・顧客関係・ESG。非財務はこの部分に効く:
</a:t>
            </a:r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・分子(将来CF): 貢献型製品の成長、CFP対応の受注維持、規制コスト回避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・分母(資本コスト): 開示品質・ガバナンス・リスク低減による低下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・時間軸: 非財務投資は数年遅れて財務に浸透(遅延効果)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79592" y="1234440"/>
            <a:ext cx="585216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実務で確立しつつある3つの方法論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879592" y="1783080"/>
            <a:ext cx="5852160" cy="1170432"/>
          </a:xfrm>
          <a:prstGeom prst="roundRect">
            <a:avLst>
              <a:gd name="adj" fmla="val 4688"/>
            </a:avLst>
          </a:prstGeom>
          <a:solidFill>
            <a:srgbClr val="F4F5F8"/>
          </a:solidFill>
          <a:ln/>
        </p:spPr>
      </p:sp>
      <p:sp>
        <p:nvSpPr>
          <p:cNvPr id="11" name="Text 9"/>
          <p:cNvSpPr/>
          <p:nvPr/>
        </p:nvSpPr>
        <p:spPr>
          <a:xfrm>
            <a:off x="6016752" y="1847088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柳モデル(遅延相関の実証)
</a:t>
            </a:r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ESG KPIとPBRの遅延相関を回帰分析で実証しIRの中核に据える手法。エーザイが先行(例: 人件費1割増→5年後PBR約14%向上と開示)。「どのKPIが・何年後に・どれだけ効くか」を自社データで語る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79592" y="3081528"/>
            <a:ext cx="5852160" cy="1170432"/>
          </a:xfrm>
          <a:prstGeom prst="roundRect">
            <a:avLst>
              <a:gd name="adj" fmla="val 4688"/>
            </a:avLst>
          </a:prstGeom>
          <a:solidFill>
            <a:srgbClr val="F4F5F8"/>
          </a:solidFill>
          <a:ln/>
        </p:spPr>
      </p:sp>
      <p:sp>
        <p:nvSpPr>
          <p:cNvPr id="13" name="Text 11"/>
          <p:cNvSpPr/>
          <p:nvPr/>
        </p:nvSpPr>
        <p:spPr>
          <a:xfrm>
            <a:off x="6016752" y="3145536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インパクト会計(貨幣換算)
</a:t>
            </a:r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製品・活動の社会インパクトを金額換算(ハーバードIWAI、VBA/BASF等)。「歯みがき習慣1人あたりの医療費削減額」のように、非財務を財務と同じ通貨で表現できる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79592" y="4379976"/>
            <a:ext cx="5852160" cy="1170432"/>
          </a:xfrm>
          <a:prstGeom prst="roundRect">
            <a:avLst>
              <a:gd name="adj" fmla="val 4688"/>
            </a:avLst>
          </a:prstGeom>
          <a:solidFill>
            <a:srgbClr val="F4F5F8"/>
          </a:solidFill>
          <a:ln/>
        </p:spPr>
      </p:sp>
      <p:sp>
        <p:nvSpPr>
          <p:cNvPr id="15" name="Text 13"/>
          <p:cNvSpPr/>
          <p:nvPr/>
        </p:nvSpPr>
        <p:spPr>
          <a:xfrm>
            <a:off x="6016752" y="4443984"/>
            <a:ext cx="5577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ISSB型の財務影響開示
</a:t>
            </a:r>
            <a:pPr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気候等のリスク・機会が「いくら儲かるか/損するか」の開示を要求。シナリオ別の財務影響試算が“できる企業”と“できない企業”を資本市場が判別し始めている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5760720"/>
            <a:ext cx="11274552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5815584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当社への適用: 3つの方法論をすべて標準装備する ― ①貨幣換算(インパクト会計)で「習慣の価値」を金額表示 ②柳モデル型検証で「PBRへの効き」を毎年更新 ③ISSB型のシナリオ試算で「守りの説明力」を確保。これが本戦略のKGI設計思想である</a:t>
            </a:r>
            <a:endParaRPr lang="en-US" sz="10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先進企業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先進企業の勝ちパターン5 ― ライオンへの適用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各社の「型」を輸入するのではなく、当社の事業構造(毎日×低単価×高頻度×習慣)に合う形に翻訳して実装する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  <a:gridCol w="459943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勝ちパターン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先進企業の実践(公表情報の要約)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ライオンへの翻訳(本戦略での実装)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パーパス起点ブランドで成長率を上げる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ユニリーバ: サステナブル・リビング・ブランドが他ブランドより約7割速く成長し全社成長の75%を牽引と開示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「貢献型製品」認定制度を設け、ヘルス&amp;グリーン売上比率をKGI化。ブランド投資を貢献型に傾斜配分し、成長率差を毎年開示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アウトカムを全社KGIに置く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フィリップス「改善した人々の生活25億人」、ノボ ノルディスク: 患者アウトカムを長期KGI化し算定方法を公開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「良い習慣の人口(アジア累計5億人・例示)」を全社KGIに。算定メソドロジーを文書化・外部監修し、監査可能なKGIとして開示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使用時(Scope3 Cat11)を価値の主戦場にする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P&amp;G: 低温洗濯キャンペーンで使用時CO2削減を消費者価値に転換。コルゲート: 歯みがき時の節水啓発をブランド価値に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すすぎ1回・低温洗浄・節水歯みがきを「標準習慣」として業界・行政と共同で主流化。節水量・CO2削減量を製品に表示し家計価値で訴求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④ 非財務データを財務級の基盤で管理する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SAP Green Ledger: 取引レベルのカーボン会計。マイクロソフト: 社内炭素課金を部門損益に反映(2012年〜)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SSBJ対応基盤(構築中)を全テーマの単一データ源に。内部炭素価格・インパクト換算単価をマスタ化し、事業部管理会計へ反映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⑤ 因果を実証し、報酬・対話に組み込む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エーザイ: 柳モデルでESGとPBRの遅延相関を開示。欧州大手: 役員報酬にESG KPIを10〜25%組込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9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非財務KPI×財務の遅延相関分析を年次実施しIR開示。2030年までに役員報酬のESG連動比率15%(例示)へ段階引き上げ</a:t>
                      </a:r>
                      <a:endParaRPr lang="en-US" sz="89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71500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i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競合ベンチマーク: 花王はESG総合力で先行するが、アクティビストからScope3実測・有報同期・報酬連動を追及されている ― 当社は「後発の利」で最初から財務級データ×因果実証を組み込み、同じ追及に耐える設計とする</a:t>
            </a:r>
            <a:endParaRPr lang="en-US" sz="9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内部環境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ライオンの勝ち筋 ― 「習慣科学」という他社が模倣しにくい資産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強み×機会の交点は「予防ヘルスケア×環境配慮を、毎日の習慣として社会に実装できる唯一のポジション」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5486400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当社の戦略資産(Strengths)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習慣科学・行動変容の知見: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予防歯科・手洗い・洗濯など「続けさせる」研究開発とブランドの蓄積。パーパス「より良い習慣づくり」と完全に一致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47802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浸透チャネルの資産: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学校歯みがき教育・手洗い啓発の長年の実績、歯科・自治体・流通との関係資本 ― 行動変容を「届ける」インフラ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317296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オーラルケアのリーダーシップ: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国内トップクラスのブランド群と研究開発。予防歯科市場の拡大を主導できる立場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386791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アジアの事業基盤: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口腔衛生・衛生習慣の浸透余地が大きい市場に既存の製造・販売網を保有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4562856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環境技術の実装力: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すすぎ1回・詰替/付替・濃縮化など「使用時・廃棄時の負荷を下げる」技術を量産価格で提供してきた実績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245352" y="1234440"/>
            <a:ext cx="5486400" cy="411480"/>
          </a:xfrm>
          <a:prstGeom prst="roundRect">
            <a:avLst>
              <a:gd name="adj" fmla="val 11111"/>
            </a:avLst>
          </a:prstGeom>
          <a:solidFill>
            <a:srgbClr val="C8102E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向き合うべき弱み・制約(率直な評価)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91072" y="17830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非財務データの統制力: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Excel・属人運用で保証に耐えない(SSBJ基盤で解消中) ― 攻めの前提となる守りが未完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291072" y="2478024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規模の制約: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花王・ユニリーバ対比で研究開発・マーケ投資の絶対額に限界 → 全方位ESGではなく選択と集中が必須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91072" y="3172968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アウトカムエビデンスの不足: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「習慣→健康・環境アウトカム」の自社実証データが薄く、貨幣換算の説得力が現状は限定的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91072" y="3867912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海外でのブランド認知: </a:t>
            </a:r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アジアでのオーラルケア啓発は現地競合・グローバル勢と競合 ― 行政・教育連携での差別化が必要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5349240"/>
            <a:ext cx="11274552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422392"/>
            <a:ext cx="10744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80" b="1" dirty="0">
                <a:solidFill>
                  <a:srgbClr val="FF9D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ポジショニングの選択: </a:t>
            </a:r>
            <a:pPr indent="0" marL="0">
              <a:lnSpc>
                <a:spcPct val="122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ESG優等生の総合力」で花王・ユニリーバと競わず、「習慣の科学で、予防ヘルスケアと環境配慮行動を社会実装する会社」として一点突破する。弱み(データ統制・エビデンス不足)は、SSBJ基盤とアカデミア・自治体・健保との共同実証で2028年までに解消し、攻めの反転材料に変える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マテリアリティ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新マテリアリティ評価(案) ― ダブルマテリアリティで注力分野を選ぶ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「社会・環境へのインパクト」×「財務インパクト」の2軸で評価し、右上4テーマに経営資源を集中する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88720" y="1508760"/>
            <a:ext cx="0" cy="448056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5989320"/>
            <a:ext cx="6675120" cy="0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16200000">
            <a:off x="-105156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社会・環境へのインパクト →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60990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財務インパクト(リスク・機会) 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92270" y="1508760"/>
            <a:ext cx="3871570" cy="2777947"/>
          </a:xfrm>
          <a:prstGeom prst="roundRect">
            <a:avLst>
              <a:gd name="adj" fmla="val 1646"/>
            </a:avLst>
          </a:prstGeom>
          <a:solidFill>
            <a:srgbClr val="FBECEE">
              <a:alpha val="65000"/>
            </a:srgbClr>
          </a:solidFill>
          <a:ln w="12700">
            <a:solidFill>
              <a:srgbClr val="C8102E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08371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最重要(コア4)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0914" y="1872691"/>
            <a:ext cx="1828800" cy="347472"/>
          </a:xfrm>
          <a:prstGeom prst="roundRect">
            <a:avLst>
              <a:gd name="adj" fmla="val 13158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0914" y="1872691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オーラルヘルス・予防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4344314" y="2499970"/>
            <a:ext cx="1965960" cy="347472"/>
          </a:xfrm>
          <a:prstGeom prst="roundRect">
            <a:avLst>
              <a:gd name="adj" fmla="val 13158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4314" y="249997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使用時の水・CO2(習慣)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5992063" y="3216859"/>
            <a:ext cx="1874520" cy="347472"/>
          </a:xfrm>
          <a:prstGeom prst="roundRect">
            <a:avLst>
              <a:gd name="adj" fmla="val 13158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92063" y="3216859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気候変動対応(SC全体)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4035247" y="3575304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35247" y="35753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人的資本・健康経営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3058668" y="3037637"/>
            <a:ext cx="16002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58668" y="3037637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プラスチック・資源循環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2322576" y="4112971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22576" y="4112971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衛生習慣(手洗い等)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3768242" y="4650638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68242" y="465063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ガバナンス・情報開示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1788566" y="4919472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88566" y="491947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生物多様性・原材料</a:t>
            </a:r>
            <a:endParaRPr lang="en-US" sz="860" dirty="0"/>
          </a:p>
        </p:txBody>
      </p:sp>
      <p:sp>
        <p:nvSpPr>
          <p:cNvPr id="28" name="Shape 26"/>
          <p:cNvSpPr/>
          <p:nvPr/>
        </p:nvSpPr>
        <p:spPr>
          <a:xfrm>
            <a:off x="4859122" y="5188306"/>
            <a:ext cx="173736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8A93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59122" y="518830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品質・化学物質安全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8229600" y="1234440"/>
            <a:ext cx="3502152" cy="41148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評価の考え方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1783080"/>
            <a:ext cx="3502152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評価軸: </a:t>
            </a:r>
            <a:pPr indent="0" marL="0">
              <a:lnSpc>
                <a:spcPct val="128000"/>
              </a:lnSpc>
              <a:buNone/>
            </a:pPr>
            <a:r>
              <a:rPr lang="en-US" sz="9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インパクト軸は「影響を受ける人口×深刻度×当社の寄与度」、財務軸は「売上機会+コスト/リスク回避+資本コスト」で採点(ダブルマテリアリティ)
</a:t>
            </a:r>
            <a:pPr indent="0" marL="0">
              <a:lnSpc>
                <a:spcPct val="128000"/>
              </a:lnSpc>
              <a:buNone/>
            </a:pPr>
            <a:r>
              <a:rPr lang="en-US" sz="92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コア4の選定理由: </a:t>
            </a:r>
            <a:pPr indent="0" marL="0">
              <a:lnSpc>
                <a:spcPct val="128000"/>
              </a:lnSpc>
              <a:buNone/>
            </a:pPr>
            <a:r>
              <a:rPr lang="en-US" sz="9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①オーラル=事業とインパクトが最大重複 ②使用時=当社排出の支配的部分かつ製品価値化可能 ③気候=法定開示・取引要請で財務直結 ④人的資本=全戦略の実行力
</a:t>
            </a:r>
            <a:pPr indent="0" marL="0">
              <a:lnSpc>
                <a:spcPct val="128000"/>
              </a:lnSpc>
              <a:buNone/>
            </a:pPr>
            <a:r>
              <a:rPr lang="en-US" sz="92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プラ循環は: </a:t>
            </a:r>
            <a:pPr indent="0" marL="0">
              <a:lnSpc>
                <a:spcPct val="128000"/>
              </a:lnSpc>
              <a:buNone/>
            </a:pPr>
            <a:r>
              <a:rPr lang="en-US" sz="9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単独ではコスト先行のため「業界共創」を条件に柱3へ統合。生物多様性は2028年TNFD対応で再評価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i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位置づけは提言案。Phase 0のステークホルダー評価(投資家・有識者・従業員サーベイ)で検証し、2027年の骨子確定時に正式決定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価値創造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新・価値創造モデル ― パーパスから企業価値への一気通貫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「習慣人口 × 習慣1回あたりインパクト × 財務転換率」を全社共通の価値方程式として経営管理する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737360" cy="1828800"/>
          </a:xfrm>
          <a:prstGeom prst="roundRect">
            <a:avLst>
              <a:gd name="adj" fmla="val 3684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パーパス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1700784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より良い習慣づくりで、人々の毎日に貢献する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 rot="5400000">
            <a:off x="2212848" y="2121408"/>
            <a:ext cx="118872" cy="137160"/>
          </a:xfrm>
          <a:prstGeom prst="triangle">
            <a:avLst/>
          </a:prstGeom>
          <a:solidFill>
            <a:srgbClr val="8A93A6"/>
          </a:solidFill>
          <a:ln/>
        </p:spPr>
      </p:sp>
      <p:sp>
        <p:nvSpPr>
          <p:cNvPr id="10" name="Shape 8"/>
          <p:cNvSpPr/>
          <p:nvPr/>
        </p:nvSpPr>
        <p:spPr>
          <a:xfrm>
            <a:off x="2350008" y="1280160"/>
            <a:ext cx="2103120" cy="1828800"/>
          </a:xfrm>
          <a:prstGeom prst="roundRect">
            <a:avLst>
              <a:gd name="adj" fmla="val 3500"/>
            </a:avLst>
          </a:prstGeom>
          <a:solidFill>
            <a:srgbClr val="EEF3FB"/>
          </a:solidFill>
          <a:ln/>
        </p:spPr>
      </p:sp>
      <p:sp>
        <p:nvSpPr>
          <p:cNvPr id="11" name="Text 9"/>
          <p:cNvSpPr/>
          <p:nvPr/>
        </p:nvSpPr>
        <p:spPr>
          <a:xfrm>
            <a:off x="2350008" y="137160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投入資本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41448" y="1700784"/>
            <a:ext cx="1920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習慣科学R&amp;D/ブランド/浸透チャネル(学校・歯科・流通)/アジア基盤/人材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 rot="5400000">
            <a:off x="4471416" y="2121408"/>
            <a:ext cx="118872" cy="137160"/>
          </a:xfrm>
          <a:prstGeom prst="triangle">
            <a:avLst/>
          </a:prstGeom>
          <a:solidFill>
            <a:srgbClr val="8A93A6"/>
          </a:solidFill>
          <a:ln/>
        </p:spPr>
      </p:sp>
      <p:sp>
        <p:nvSpPr>
          <p:cNvPr id="14" name="Shape 12"/>
          <p:cNvSpPr/>
          <p:nvPr/>
        </p:nvSpPr>
        <p:spPr>
          <a:xfrm>
            <a:off x="4608576" y="1280160"/>
            <a:ext cx="228600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事業活動(3本柱)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0016" y="1700784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柱1 オーラルヘルス社会実装</a:t>
            </a:r>
            <a:endParaRPr lang="en-US" sz="85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柱2 環境配慮習慣の主流化</a:t>
            </a:r>
            <a:endParaRPr lang="en-US" sz="850" dirty="0"/>
          </a:p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柱3 脱炭素・循環のSC変革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 rot="5400000">
            <a:off x="6912864" y="2121408"/>
            <a:ext cx="118872" cy="137160"/>
          </a:xfrm>
          <a:prstGeom prst="triangle">
            <a:avLst/>
          </a:prstGeom>
          <a:solidFill>
            <a:srgbClr val="8A93A6"/>
          </a:solidFill>
          <a:ln/>
        </p:spPr>
      </p:sp>
      <p:sp>
        <p:nvSpPr>
          <p:cNvPr id="18" name="Shape 16"/>
          <p:cNvSpPr/>
          <p:nvPr/>
        </p:nvSpPr>
        <p:spPr>
          <a:xfrm>
            <a:off x="7050024" y="1280160"/>
            <a:ext cx="2286000" cy="1828800"/>
          </a:xfrm>
          <a:prstGeom prst="roundRect">
            <a:avLst>
              <a:gd name="adj" fmla="val 3500"/>
            </a:avLst>
          </a:prstGeom>
          <a:solidFill>
            <a:srgbClr val="FBECEE"/>
          </a:solidFill>
          <a:ln/>
        </p:spPr>
      </p:sp>
      <p:sp>
        <p:nvSpPr>
          <p:cNvPr id="19" name="Text 17"/>
          <p:cNvSpPr/>
          <p:nvPr/>
        </p:nvSpPr>
        <p:spPr>
          <a:xfrm>
            <a:off x="7050024" y="1371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アウトカム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41464" y="1700784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健康寿命の延伸(う蝕・歯周病・フレイル減)/家庭の水・CO2・家計負担減/SC排出減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 rot="5400000">
            <a:off x="9354312" y="2121408"/>
            <a:ext cx="118872" cy="137160"/>
          </a:xfrm>
          <a:prstGeom prst="triangle">
            <a:avLst/>
          </a:prstGeom>
          <a:solidFill>
            <a:srgbClr val="8A93A6"/>
          </a:solidFill>
          <a:ln/>
        </p:spPr>
      </p:sp>
      <p:sp>
        <p:nvSpPr>
          <p:cNvPr id="22" name="Shape 20"/>
          <p:cNvSpPr/>
          <p:nvPr/>
        </p:nvSpPr>
        <p:spPr>
          <a:xfrm>
            <a:off x="9491472" y="1280160"/>
            <a:ext cx="2011680" cy="1828800"/>
          </a:xfrm>
          <a:prstGeom prst="roundRect">
            <a:avLst>
              <a:gd name="adj" fmla="val 3500"/>
            </a:avLst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9491472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企業価値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582912" y="1700784"/>
            <a:ext cx="1828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貢献型売上の成長/コスト・リスク回避/資本コスト低減 → PBR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0515600" y="3246120"/>
            <a:ext cx="0" cy="32004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25880" y="3566160"/>
            <a:ext cx="918972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5880" y="3246120"/>
            <a:ext cx="0" cy="32004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200400" y="3611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価値の再投資: 利益を習慣科学R&amp;D・啓発・人材へ還流(価値創造の複利)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11274552" cy="1005840"/>
          </a:xfrm>
          <a:prstGeom prst="roundRect">
            <a:avLst>
              <a:gd name="adj" fmla="val 5455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187952"/>
            <a:ext cx="10744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9D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ライオン価値方程式:   </a:t>
            </a:r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社会インパクト額 = 良い習慣の人口 × 習慣1回あたりインパクト(貨幣換算単価) × 継続率      </a:t>
            </a:r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企業価値 = f(インパクト額 → 売上・コスト・資本コスト/遅延効果を柳モデル型で毎年推定)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5349240"/>
            <a:ext cx="2734056" cy="109728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/>
        </p:spPr>
      </p:sp>
      <p:sp>
        <p:nvSpPr>
          <p:cNvPr id="32" name="Text 30"/>
          <p:cNvSpPr/>
          <p:nvPr/>
        </p:nvSpPr>
        <p:spPr>
          <a:xfrm>
            <a:off x="566928" y="5413248"/>
            <a:ext cx="2514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人口を増やす
</a:t>
            </a:r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浸透(製品×啓発×行政連携)で「始める人」を増やし、アジアへ拡張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3328416" y="5349240"/>
            <a:ext cx="2734056" cy="109728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/>
        </p:spPr>
      </p:sp>
      <p:sp>
        <p:nvSpPr>
          <p:cNvPr id="34" name="Text 32"/>
          <p:cNvSpPr/>
          <p:nvPr/>
        </p:nvSpPr>
        <p:spPr>
          <a:xfrm>
            <a:off x="3438144" y="5413248"/>
            <a:ext cx="2514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単価を上げる
</a:t>
            </a:r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エビデンス強化(共同実証)で1習慣あたりの換算単価の説得力を高める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199632" y="5349240"/>
            <a:ext cx="2734056" cy="109728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5413248"/>
            <a:ext cx="2514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継続率を上げる
</a:t>
            </a:r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習慣科学(行動デザイン・IoT/アプリ)で「やめない仕組み」を作る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9070848" y="5349240"/>
            <a:ext cx="2734056" cy="1097280"/>
          </a:xfrm>
          <a:prstGeom prst="roundRect">
            <a:avLst>
              <a:gd name="adj" fmla="val 5000"/>
            </a:avLst>
          </a:prstGeom>
          <a:solidFill>
            <a:srgbClr val="F4F5F8"/>
          </a:solidFill>
          <a:ln/>
        </p:spPr>
      </p:sp>
      <p:sp>
        <p:nvSpPr>
          <p:cNvPr id="38" name="Text 36"/>
          <p:cNvSpPr/>
          <p:nvPr/>
        </p:nvSpPr>
        <p:spPr>
          <a:xfrm>
            <a:off x="9180576" y="5413248"/>
            <a:ext cx="2514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転換率を上げる
</a:t>
            </a:r>
            <a:pPr indent="0" marL="0">
              <a:lnSpc>
                <a:spcPct val="115000"/>
              </a:lnSpc>
              <a:buNone/>
            </a:pPr>
            <a:r>
              <a:rPr lang="en-US" sz="86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貢献型ブランド化・CFP即応・IR/報酬連動で財務への転換効率を高める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オーラルヘルスの社会実装 ― 「磨く」から「予防する社会」へ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個人向け製品販売に閉じず、学校・自治体・健保・歯科を巻き込んだ「予防歯科エコシステム」の設計者になる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394960"/>
                <a:gridCol w="368503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打ち手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非財務→財務の跳ね返り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予防習慣の全世代プログラム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学校歯みがき教育の高度化(デジタル教材・効果測定付き)、成人向けは健保・企業と連携した歯科健診×セルフケア提案、高齢者はオーラルフレイル予防を介護・自治体と共同展開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リーチ人口の拡大 → ブランド接点の最大化と将来顧客の育成(LTV)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エビデンス経営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アカデミア・自治体・健保との共同実証で「当社プログラム→行動変容→う蝕/歯周病減→医療費削減」の因果データを取得。換算単価を外部監修付きで確立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健康インパクト貨幣換算の説得力 → 行政・健保への提案力と広報価値、ESG評価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B2B2Cヘルスケア事業化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健保・企業向け「オーラルヘルスプログラム」(健診連携・アプリ・製品)をサブスク型で提供。健康経営銘柄企業から展開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製品外の新収益源 + 継続課金 ― 予防のアウトカムをそのまま売上に転換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④ アジア展開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口腔衛生浸透率の低い市場で、現地政府・学校と組んだ啓発×普及価格帯製品のセット展開(国内モデルの輸出)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アジアのオーラル売上成長 + 「5億人KGI」の主要ドライバ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16636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柱1 KGI/KPI(2030・例示)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5669280"/>
            <a:ext cx="2734056" cy="868680"/>
          </a:xfrm>
          <a:prstGeom prst="roundRect">
            <a:avLst>
              <a:gd name="adj" fmla="val 6316"/>
            </a:avLst>
          </a:prstGeom>
          <a:solidFill>
            <a:srgbClr val="FBECEE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5715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オーラル習慣人口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アジア累計 3億人
</a:t>
            </a:r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(うち日本1億人・行動変容ベース)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328416" y="5669280"/>
            <a:ext cx="2734056" cy="868680"/>
          </a:xfrm>
          <a:prstGeom prst="roundRect">
            <a:avLst>
              <a:gd name="adj" fmla="val 6316"/>
            </a:avLst>
          </a:prstGeom>
          <a:solidFill>
            <a:srgbClr val="FBECEE"/>
          </a:solidFill>
          <a:ln/>
        </p:spPr>
      </p:sp>
      <p:sp>
        <p:nvSpPr>
          <p:cNvPr id="11" name="Text 8"/>
          <p:cNvSpPr/>
          <p:nvPr/>
        </p:nvSpPr>
        <p:spPr>
          <a:xfrm>
            <a:off x="3438144" y="5715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医療費削減換算額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年500億円規模
</a:t>
            </a:r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(習慣化人数×削減単価・外部監修)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6199632" y="5669280"/>
            <a:ext cx="2734056" cy="868680"/>
          </a:xfrm>
          <a:prstGeom prst="roundRect">
            <a:avLst>
              <a:gd name="adj" fmla="val 6316"/>
            </a:avLst>
          </a:prstGeom>
          <a:solidFill>
            <a:srgbClr val="FBECEE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5715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B2B2C事業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売上100億円・健保/企業1,000団体
</a:t>
            </a:r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(2027年事業化→2030年)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9070848" y="5669280"/>
            <a:ext cx="2734056" cy="868680"/>
          </a:xfrm>
          <a:prstGeom prst="roundRect">
            <a:avLst>
              <a:gd name="adj" fmla="val 6316"/>
            </a:avLst>
          </a:prstGeom>
          <a:solidFill>
            <a:srgbClr val="FBECEE"/>
          </a:solidFill>
          <a:ln/>
        </p:spPr>
      </p:sp>
      <p:sp>
        <p:nvSpPr>
          <p:cNvPr id="15" name="Text 12"/>
          <p:cNvSpPr/>
          <p:nvPr/>
        </p:nvSpPr>
        <p:spPr>
          <a:xfrm>
            <a:off x="9180576" y="5715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予防歯科関連売上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オーラル売上の50%超
</a:t>
            </a:r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(CAGR+α%で全社成長を牽引)</a:t>
            </a:r>
            <a:endParaRPr lang="en-US" sz="93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環境配慮習慣の主流化 ― 「我慢の環境」から「得する標準」へ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使用時(すすぎ・給湯)は当社バリューチェーン排出の支配的部分 ― ここを製品価値に変えれば開示KPIと売上が同時に動く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394960"/>
                <a:gridCol w="368503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打ち手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非財務→財務の跳ね返り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C6E4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節水・低温・時短の標準化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すすぎ1回・低温洗浄・節水歯みがきを「デフォルト習慣」に。製品×洗濯機メーカー・住設・行政(節水キャンペーン)との共同で社会標準化を主導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節水型製品の構成比・シェア向上 + Scope3 Cat11削減(開示KPIと完全同期)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C6E4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家計価値の見える化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「この習慣で年間◯円・◯リットル・◯kg-CO2おトク」を製品・アプリで表示。値上げ環境下で“環境=節約”の等式を当社ブランドの代名詞に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価格プレミアムではなく「選ばれる理由」で数量シェアを取る(コモディティ脱却)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C6E4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水リスク経営(守り)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拠点・原材料の水ストレス評価(Aqueduct等)、アジア工場の取水効率改善、TNFD/CDP Water対応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操業リスク・規制リスクの回避 + 評価向上による資本コスト低減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2C6E4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④ 詰替・濃縮のグローバル展開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国内で確立した詰替/付替・濃縮技術をアジアへ ― 物流・プラ・CO2を同時に削減する「軽い製品」戦略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物流費・材料費の構造的低減 + アジアでの環境規制先回り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16636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2C6E49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柱2 KGI/KPI(2030・例示)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5669280"/>
            <a:ext cx="2734056" cy="868680"/>
          </a:xfrm>
          <a:prstGeom prst="roundRect">
            <a:avLst>
              <a:gd name="adj" fmla="val 6316"/>
            </a:avLst>
          </a:prstGeom>
          <a:solidFill>
            <a:srgbClr val="EAF3EE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5715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2C6E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節水貢献量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年3億m3規模
</a:t>
            </a:r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(節水型製品の使用実態×浸透数)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328416" y="5669280"/>
            <a:ext cx="2734056" cy="868680"/>
          </a:xfrm>
          <a:prstGeom prst="roundRect">
            <a:avLst>
              <a:gd name="adj" fmla="val 6316"/>
            </a:avLst>
          </a:prstGeom>
          <a:solidFill>
            <a:srgbClr val="EAF3EE"/>
          </a:solidFill>
          <a:ln/>
        </p:spPr>
      </p:sp>
      <p:sp>
        <p:nvSpPr>
          <p:cNvPr id="11" name="Text 8"/>
          <p:cNvSpPr/>
          <p:nvPr/>
        </p:nvSpPr>
        <p:spPr>
          <a:xfrm>
            <a:off x="3438144" y="5715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2C6E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使用時CO2削減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Cat11 ▲20%(原単位)
</a:t>
            </a:r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(すすぎ1回・低温洗浄の浸透)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6199632" y="5669280"/>
            <a:ext cx="2734056" cy="868680"/>
          </a:xfrm>
          <a:prstGeom prst="roundRect">
            <a:avLst>
              <a:gd name="adj" fmla="val 6316"/>
            </a:avLst>
          </a:prstGeom>
          <a:solidFill>
            <a:srgbClr val="EAF3EE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5715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2C6E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節水型・環境型売上比率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衣料・リビング売上の60%
</a:t>
            </a:r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(貢献型認定SKUベース)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9070848" y="5669280"/>
            <a:ext cx="2734056" cy="868680"/>
          </a:xfrm>
          <a:prstGeom prst="roundRect">
            <a:avLst>
              <a:gd name="adj" fmla="val 6316"/>
            </a:avLst>
          </a:prstGeom>
          <a:solidFill>
            <a:srgbClr val="EAF3EE"/>
          </a:solidFill>
          <a:ln/>
        </p:spPr>
      </p:sp>
      <p:sp>
        <p:nvSpPr>
          <p:cNvPr id="15" name="Text 12"/>
          <p:cNvSpPr/>
          <p:nvPr/>
        </p:nvSpPr>
        <p:spPr>
          <a:xfrm>
            <a:off x="9180576" y="5715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2C6E4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水ストレス地域取水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原単位▲30%
</a:t>
            </a:r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(アジア工場の効率改善)</a:t>
            </a:r>
            <a:endParaRPr lang="en-US" sz="9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事業基盤の脱炭素・資源循環 ― 「選ばれるサプライヤー」であり続ける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B2B・流通からのCFP要請と炭素コスト内部化に先回りし、削減をコスト構造の優位に転換する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394960"/>
                <a:gridCol w="368503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打ち手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非財務→財務の跳ね返り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Scope1/2の計画的削減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省エネ・燃料転換・再エネ調達(オンサイトPPA等)を限界削減費用カーブで優先順位付けし、内部炭素価格で投資判断を規律化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エネルギーコストの構造的低減 + 炭素税・排出規制の先回り回避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Scope3の実測化とCFP即応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支出上位サプライヤーから一次データ化(エンゲージド・サプライチェーン)。主要SKUのCFPをISO準拠で算定し、取引先要請にSLA5営業日で回答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サプライチェーン排除リスクの回避・受注維持拡大 ― 「花王が追及された論点」への先回り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プラ循環の業界共創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水平リサイクル・店頭回収・再生材調達を単独でなく業界横断/自治体共創で推進し、インフラコストを分担。詰替率のさらなる向上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再生材の安定調達とEPRコスト抑制 ― 単独負担を避けて社会実装を早める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④ 削減の製品転換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CFP・環境フットプリントを製品開発基準(エコデザイン基準)に組込み、削減努力を柱2の「貢献型製品」として市場価値化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守りの削減投資を攻めの売上に転換(柱2との接続)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16636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柱3 KGI/KPI(2030・例示 ― 現行LION Eco Challenge 2050と整合させ引き上げを検討)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57200" y="5669280"/>
            <a:ext cx="2734056" cy="868680"/>
          </a:xfrm>
          <a:prstGeom prst="roundRect">
            <a:avLst>
              <a:gd name="adj" fmla="val 6316"/>
            </a:avLst>
          </a:prstGeom>
          <a:solidFill>
            <a:srgbClr val="EEF3FB"/>
          </a:solidFill>
          <a:ln/>
        </p:spPr>
      </p:sp>
      <p:sp>
        <p:nvSpPr>
          <p:cNvPr id="9" name="Text 6"/>
          <p:cNvSpPr/>
          <p:nvPr/>
        </p:nvSpPr>
        <p:spPr>
          <a:xfrm>
            <a:off x="566928" y="5715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Scope1/2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▲55%(SBT1.5℃水準へ)
</a:t>
            </a:r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(基準年比・再エネ比率と併記)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3328416" y="5669280"/>
            <a:ext cx="2734056" cy="868680"/>
          </a:xfrm>
          <a:prstGeom prst="roundRect">
            <a:avLst>
              <a:gd name="adj" fmla="val 6316"/>
            </a:avLst>
          </a:prstGeom>
          <a:solidFill>
            <a:srgbClr val="EEF3FB"/>
          </a:solidFill>
          <a:ln/>
        </p:spPr>
      </p:sp>
      <p:sp>
        <p:nvSpPr>
          <p:cNvPr id="11" name="Text 8"/>
          <p:cNvSpPr/>
          <p:nvPr/>
        </p:nvSpPr>
        <p:spPr>
          <a:xfrm>
            <a:off x="3438144" y="5715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Scope3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一次データ比率50%・Cat1▲30%
</a:t>
            </a:r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(支出上位サプライヤー協働)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6199632" y="5669280"/>
            <a:ext cx="2734056" cy="868680"/>
          </a:xfrm>
          <a:prstGeom prst="roundRect">
            <a:avLst>
              <a:gd name="adj" fmla="val 6316"/>
            </a:avLst>
          </a:prstGeom>
          <a:solidFill>
            <a:srgbClr val="EEF3FB"/>
          </a:solidFill>
          <a:ln/>
        </p:spPr>
      </p:sp>
      <p:sp>
        <p:nvSpPr>
          <p:cNvPr id="13" name="Text 10"/>
          <p:cNvSpPr/>
          <p:nvPr/>
        </p:nvSpPr>
        <p:spPr>
          <a:xfrm>
            <a:off x="6309360" y="5715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CFP対応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主要SKU算定100%・回答SLA5営業日
</a:t>
            </a:r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(受注維持額をモニタリング)</a:t>
            </a:r>
            <a:endParaRPr lang="en-US" sz="930" dirty="0"/>
          </a:p>
        </p:txBody>
      </p:sp>
      <p:sp>
        <p:nvSpPr>
          <p:cNvPr id="14" name="Shape 11"/>
          <p:cNvSpPr/>
          <p:nvPr/>
        </p:nvSpPr>
        <p:spPr>
          <a:xfrm>
            <a:off x="9070848" y="5669280"/>
            <a:ext cx="2734056" cy="868680"/>
          </a:xfrm>
          <a:prstGeom prst="roundRect">
            <a:avLst>
              <a:gd name="adj" fmla="val 6316"/>
            </a:avLst>
          </a:prstGeom>
          <a:solidFill>
            <a:srgbClr val="EEF3FB"/>
          </a:solidFill>
          <a:ln/>
        </p:spPr>
      </p:sp>
      <p:sp>
        <p:nvSpPr>
          <p:cNvPr id="15" name="Text 12"/>
          <p:cNvSpPr/>
          <p:nvPr/>
        </p:nvSpPr>
        <p:spPr>
          <a:xfrm>
            <a:off x="9180576" y="57150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3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資源循環
</a:t>
            </a:r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詰替・付替率95%維持/再生材比率30%
</a:t>
            </a:r>
            <a:pPr indent="0" marL="0">
              <a:lnSpc>
                <a:spcPct val="110000"/>
              </a:lnSpc>
              <a:buNone/>
            </a:pPr>
            <a:r>
              <a:rPr lang="en-US" sz="78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(業界共創スキーム参画)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基盤戦略 ― 人的資本・ガバナンス・データが3本柱を駆動する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「自社で実証し、統制で証明し、報酬で駆動する」― 基盤は3本柱の信頼性と実行力の源泉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602736" cy="457200"/>
          </a:xfrm>
          <a:prstGeom prst="roundRect">
            <a:avLst>
              <a:gd name="adj" fmla="val 10000"/>
            </a:avLst>
          </a:prstGeom>
          <a:solidFill>
            <a:srgbClr val="C8102E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人的資本・健康経営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10512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BECEE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938528"/>
            <a:ext cx="33467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8000"/>
              </a:lnSpc>
              <a:spcAft>
                <a:spcPts val="900"/>
              </a:spcAft>
              <a:buSzPct val="100000"/>
              <a:buChar char="▪"/>
            </a:pPr>
            <a:r>
              <a:rPr lang="en-US" sz="89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全従業員の歯科健診・オーラルケアプログラム ― 自社が柱1の最初の実証フィールド(プレゼンティーズム・生産性データを取得しT1の対外エビデンスに転用)</a:t>
            </a:r>
            <a:endParaRPr lang="en-US" sz="890" dirty="0"/>
          </a:p>
          <a:p>
            <a:pPr marL="101600" indent="-101600">
              <a:lnSpc>
                <a:spcPct val="118000"/>
              </a:lnSpc>
              <a:spcAft>
                <a:spcPts val="900"/>
              </a:spcAft>
              <a:buSzPct val="100000"/>
              <a:buChar char="▪"/>
            </a:pPr>
            <a:r>
              <a:rPr lang="en-US" sz="89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習慣科学・データサイエンス人材への重点投資と、エンゲージメント×利益率の遅延効果検証(柳モデルの社内適用)</a:t>
            </a:r>
            <a:endParaRPr lang="en-US" sz="890" dirty="0"/>
          </a:p>
          <a:p>
            <a:pPr marL="101600" indent="-101600">
              <a:lnSpc>
                <a:spcPct val="118000"/>
              </a:lnSpc>
              <a:spcAft>
                <a:spcPts val="900"/>
              </a:spcAft>
              <a:buSzPct val="100000"/>
              <a:buChar char="▪"/>
            </a:pPr>
            <a:r>
              <a:rPr lang="en-US" sz="89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KPI例: エンゲージメントスコア向上/歯科健診受診率100%/女性管理職比率30%/人的資本ROIの開示</a:t>
            </a:r>
            <a:endParaRPr lang="en-US" sz="890" dirty="0"/>
          </a:p>
        </p:txBody>
      </p:sp>
      <p:sp>
        <p:nvSpPr>
          <p:cNvPr id="9" name="Text 7"/>
          <p:cNvSpPr/>
          <p:nvPr/>
        </p:nvSpPr>
        <p:spPr>
          <a:xfrm>
            <a:off x="4297680" y="1234440"/>
            <a:ext cx="3602736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ガバナンス・報酬連動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810512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EEF3FB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1938528"/>
            <a:ext cx="33467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8000"/>
              </a:lnSpc>
              <a:spcAft>
                <a:spcPts val="900"/>
              </a:spcAft>
              <a:buSzPct val="100000"/>
              <a:buChar char="▪"/>
            </a:pPr>
            <a:r>
              <a:rPr lang="en-US" sz="89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取締役会でのサステナ監督の明確化(4つの柱: ガバナンス/戦略/リスク管理/指標と目標に沿った運営)</a:t>
            </a:r>
            <a:endParaRPr lang="en-US" sz="890" dirty="0"/>
          </a:p>
          <a:p>
            <a:pPr marL="101600" indent="-101600">
              <a:lnSpc>
                <a:spcPct val="118000"/>
              </a:lnSpc>
              <a:spcAft>
                <a:spcPts val="900"/>
              </a:spcAft>
              <a:buSzPct val="100000"/>
              <a:buChar char="▪"/>
            </a:pPr>
            <a:r>
              <a:rPr lang="en-US" sz="89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役員報酬のESG連動を段階導入: 2027年設計→2028年試行(連動比率10%・例示)→2030年本格運用(15%・例示)。対象KPIは監査対応済み確定値のみ</a:t>
            </a:r>
            <a:endParaRPr lang="en-US" sz="890" dirty="0"/>
          </a:p>
          <a:p>
            <a:pPr marL="101600" indent="-101600">
              <a:lnSpc>
                <a:spcPct val="118000"/>
              </a:lnSpc>
              <a:spcAft>
                <a:spcPts val="900"/>
              </a:spcAft>
              <a:buSzPct val="100000"/>
              <a:buChar char="▪"/>
            </a:pPr>
            <a:r>
              <a:rPr lang="en-US" sz="89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KPI例: 報酬連動比率/非財務KPIの保証取得範囲/アクティビスト想定問答のデータ裏付け率100%</a:t>
            </a:r>
            <a:endParaRPr lang="en-US" sz="890" dirty="0"/>
          </a:p>
        </p:txBody>
      </p:sp>
      <p:sp>
        <p:nvSpPr>
          <p:cNvPr id="12" name="Text 10"/>
          <p:cNvSpPr/>
          <p:nvPr/>
        </p:nvSpPr>
        <p:spPr>
          <a:xfrm>
            <a:off x="8138160" y="1234440"/>
            <a:ext cx="3602736" cy="457200"/>
          </a:xfrm>
          <a:prstGeom prst="roundRect">
            <a:avLst>
              <a:gd name="adj" fmla="val 10000"/>
            </a:avLst>
          </a:prstGeom>
          <a:solidFill>
            <a:srgbClr val="5A5F6B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財務級非財務データ基盤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810512"/>
            <a:ext cx="3602736" cy="4160520"/>
          </a:xfrm>
          <a:prstGeom prst="roundRect">
            <a:avLst>
              <a:gd name="adj" fmla="val 1777"/>
            </a:avLst>
          </a:prstGeom>
          <a:solidFill>
            <a:srgbClr val="F4F5F8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938528"/>
            <a:ext cx="334670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8000"/>
              </a:lnSpc>
              <a:spcAft>
                <a:spcPts val="900"/>
              </a:spcAft>
              <a:buSzPct val="100000"/>
              <a:buChar char="▪"/>
            </a:pPr>
            <a:r>
              <a:rPr lang="en-US" sz="89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SSBJ対応基盤(2027年稼働)を全テーマの単一データ源(Single Source of Truth)とし、証憑・承認・監査証跡で「保証に耐える数値」を供給</a:t>
            </a:r>
            <a:endParaRPr lang="en-US" sz="890" dirty="0"/>
          </a:p>
          <a:p>
            <a:pPr marL="101600" indent="-101600">
              <a:lnSpc>
                <a:spcPct val="118000"/>
              </a:lnSpc>
              <a:spcAft>
                <a:spcPts val="900"/>
              </a:spcAft>
              <a:buSzPct val="100000"/>
              <a:buChar char="▪"/>
            </a:pPr>
            <a:r>
              <a:rPr lang="en-US" sz="89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貨幣換算単価・内部炭素価格・ロジックモデルをマスタ管理し、インパクト会計と柳モデル検証を年次ルーチン化</a:t>
            </a:r>
            <a:endParaRPr lang="en-US" sz="890" dirty="0"/>
          </a:p>
          <a:p>
            <a:pPr marL="101600" indent="-101600">
              <a:lnSpc>
                <a:spcPct val="118000"/>
              </a:lnSpc>
              <a:spcAft>
                <a:spcPts val="900"/>
              </a:spcAft>
              <a:buSzPct val="100000"/>
              <a:buChar char="▪"/>
            </a:pPr>
            <a:r>
              <a:rPr lang="en-US" sz="89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KPI例: 有報同時開示(2029年3月期)/証憑紐付率100%/Scope3一次データ比率50%(2030)</a:t>
            </a:r>
            <a:endParaRPr lang="en-US" sz="890" dirty="0"/>
          </a:p>
        </p:txBody>
      </p:sp>
      <p:sp>
        <p:nvSpPr>
          <p:cNvPr id="15" name="Text 13"/>
          <p:cNvSpPr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基盤の投資原則: 3本柱に共通で効くもの(データ基盤・実証・人材)を優先し、テーマ個別のシステム・組織の乱立を禁止する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財務化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非財務の財務化サイクル ― 測る・換算する・検証する・報いる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年次で回る4ステップのサイクルとして制度化し、「開示のための開示」を構造的に不可能にする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EEF3FB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3716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  測る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03504" y="171907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全KPIをSSBJ基盤で収集(証憑・承認付き)。アウトカム(行動変容・健康・節水)は調査・共同実証・使用実態データで計測し、算定メソドロジーを文書化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6236208" y="1280160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BECEE"/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37160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  換算する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382512" y="1719072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換算単価マスタ(医療費削減単価・水の社会的価値・内部炭素価格等、外部監修付き)でインパクトを貨幣換算し、「社会インパクト額」として集計・開示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EEF3FB"/>
          </a:solidFill>
          <a:ln/>
        </p:spPr>
      </p:sp>
      <p:sp>
        <p:nvSpPr>
          <p:cNvPr id="13" name="Text 11"/>
          <p:cNvSpPr/>
          <p:nvPr/>
        </p:nvSpPr>
        <p:spPr>
          <a:xfrm>
            <a:off x="603504" y="29443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  検証する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3504" y="3291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非財務KPI×財務指標(売上・利益率・PBR)の遅延相関を毎年回帰分析(柳モデル型)。効かないKPIは入替え、効くKPIへ資源を傾斜配分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236208" y="2852928"/>
            <a:ext cx="5486400" cy="1417320"/>
          </a:xfrm>
          <a:prstGeom prst="roundRect">
            <a:avLst>
              <a:gd name="adj" fmla="val 4516"/>
            </a:avLst>
          </a:prstGeom>
          <a:solidFill>
            <a:srgbClr val="FBECEE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29443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4  報いる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82512" y="32918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検証済みKPIを役員報酬・事業部評価・ブランド投資配分に連動。統合報告・IR対話で「当社の非財務はいくらでPBRに効くか」を毎年更新して発信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11274552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年次運用カレンダー(定常サイクル)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07492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13892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1-3月
</a:t>
            </a:r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KPI実績確定・監査対応(確定値ロック)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52344" y="507492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/>
        </p:spPr>
      </p:sp>
      <p:sp>
        <p:nvSpPr>
          <p:cNvPr id="22" name="Text 20"/>
          <p:cNvSpPr/>
          <p:nvPr/>
        </p:nvSpPr>
        <p:spPr>
          <a:xfrm>
            <a:off x="2862072" y="513892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4-5月
</a:t>
            </a:r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貨幣換算・柳モデル検証の実施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047488" y="507492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/>
        </p:spPr>
      </p:sp>
      <p:sp>
        <p:nvSpPr>
          <p:cNvPr id="24" name="Text 22"/>
          <p:cNvSpPr/>
          <p:nvPr/>
        </p:nvSpPr>
        <p:spPr>
          <a:xfrm>
            <a:off x="5157216" y="513892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6月
</a:t>
            </a:r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有報開示・統合報告/IR発信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342632" y="507492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/>
        </p:spPr>
      </p:sp>
      <p:sp>
        <p:nvSpPr>
          <p:cNvPr id="26" name="Text 24"/>
          <p:cNvSpPr/>
          <p:nvPr/>
        </p:nvSpPr>
        <p:spPr>
          <a:xfrm>
            <a:off x="7452360" y="513892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7-9月
</a:t>
            </a:r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報酬評価反映・次年度目標/投資配分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637776" y="5074920"/>
            <a:ext cx="2157984" cy="914400"/>
          </a:xfrm>
          <a:prstGeom prst="roundRect">
            <a:avLst>
              <a:gd name="adj" fmla="val 6000"/>
            </a:avLst>
          </a:prstGeom>
          <a:solidFill>
            <a:srgbClr val="F4F5F8"/>
          </a:solidFill>
          <a:ln/>
        </p:spPr>
      </p:sp>
      <p:sp>
        <p:nvSpPr>
          <p:cNvPr id="28" name="Text 26"/>
          <p:cNvSpPr/>
          <p:nvPr/>
        </p:nvSpPr>
        <p:spPr>
          <a:xfrm>
            <a:off x="9747504" y="5138928"/>
            <a:ext cx="19385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3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10-12月
</a:t>
            </a:r>
            <a:pPr indent="0" marL="0">
              <a:lnSpc>
                <a:spcPct val="113000"/>
              </a:lnSpc>
              <a:buNone/>
            </a:pPr>
            <a:r>
              <a:rPr lang="en-US" sz="84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メソドロジー・単価マスタの改訂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i="1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先行事例との対応: STEP2=インパクト会計(IWAI/VBA型)、STEP3=エーザイ柳モデル型、STEP4=欧州大手の報酬連動型 ― 3方法論を1つのサイクルに統合するのが当社の独自性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KGI/KPI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KGI/KPI体系 2030 ― 全社→柱→現場ドライバの一気通貫(目標値は例示)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全社KGI4つを頂点に、柱別KGI/KPIへ分解。すべてSSBJ基盤で計測し、監査可能性を担保する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023360"/>
                <a:gridCol w="2011680"/>
                <a:gridCol w="2194560"/>
                <a:gridCol w="231343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階層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KGI/KPI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2027(中間)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2030(目標)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計測・保証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全社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良い習慣の人口(アジア累計)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算定開始・2億人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5億人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メソドロジー外部監修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全社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社会インパクト額(貨幣換算)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試算公表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年1,000億円規模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換算単価マスタ・限定的保証を検討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全社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ヘルス&amp;グリーン売上比率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認定制度確立・40%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50%以上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貢献型製品フラグで自動集計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全社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PBR(非財務寄与の検証付き)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柳モデル検証開始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2倍水準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遅延相関分析を毎年IR開示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CE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柱1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オーラル習慣人口/医療費削減換算額/B2B2C売上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1億人/試算/事業化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3億人/500億円/100億円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共同実証(疫学)・健保データ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柱2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節水貢献量/Cat11原単位/節水型売上比率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1億m3/▲8%/45%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3億m3/▲20%/60%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使用実態調査×販売数量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柱3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Scope1/2/Scope3一次データ比率/CFP算定SKU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▲30%/30%/50%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▲55%/50%/100%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SSBJ基盤・第三者保証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基盤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エンゲージメント/報酬連動比率/有報同時開示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改善+/設計完了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スコア向上/15%/定常化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人事データ・報酬委員会</a:t>
                      </a:r>
                      <a:endParaRPr lang="en-US" sz="88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760720"/>
            <a:ext cx="11274552" cy="731520"/>
          </a:xfrm>
          <a:prstGeom prst="roundRect">
            <a:avLst>
              <a:gd name="adj" fmla="val 7500"/>
            </a:avLst>
          </a:prstGeom>
          <a:solidFill>
            <a:srgbClr val="EEF3FB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815584"/>
            <a:ext cx="10835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KPI設計の3原則: </a:t>
            </a:r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①アウトカム主義(活動量でなく行動変容・健康・環境の結果で測る) ②監査可能性(定義・証跡・メソドロジー文書をセットで整備) ③財務接続(すべてのKPIに「財務への跳ね返り経路」を明記し、効かないKPIは毎年入替え)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シナリオ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シナリオ別の財務影響評価(枠組み) ― リスクと機会を金額で語る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SSBJ「戦略」開示の要求に対応しつつ、シナリオを投資判断の共通言語にする(定量値はPhase 1で試算)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2103120"/>
                <a:gridCol w="2834640"/>
                <a:gridCol w="2834640"/>
                <a:gridCol w="208483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シナリオ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主要な前提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リスク(財務影響の経路)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機会(財務影響の経路)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当社の備え</a:t>
                      </a:r>
                      <a:endParaRPr lang="en-US" sz="9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気候 1.5℃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(規制強化)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炭素価格の大幅上昇、CBAM拡大、プラ規制強化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炭素コスト増(Scope1/2×炭素価格)、原材料(油脂・樹脂)高騰、CFP未対応による取引除外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C6E4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節水・低温・詰替製品の需要増、CFP即応による受注拡大、軽量・濃縮の物流優位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内部炭素価格による投資規律、柱2/3の前倒し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気候 4℃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(物理リスク)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異常気象の激甚化、水ストレスの拡大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工場操業停止・サプライチェーン寸断、水コスト上昇、アジア市場の購買力毀損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C6E4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衛生・防災関連需要、節水製品の必需品化(水不足地域)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拠点水リスク評価・BCP、節水技術のアジア展開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健康・社会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(予防シフト)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国民皆歯科健診の制度化、医療費抑制政策、高齢化の進展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エビデンスなき健康訴求への規制強化(表示規制)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C6E4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予防歯科市場の構造的拡大、健保・行政との連携事業、オーラルフレイル市場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共同実証によるエビデンス経営、B2B2C事業化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資本市場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(開示・選別)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保証範囲の拡大(合理的保証へ)、グリーンウォッシュ規制、アクティビズム活発化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C8102E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開示不備・訂正による資本コスト上昇、株主提案・信頼失墜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C6E4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説明できる企業への資金シフト(開示プレミアム)、インデックス組入れ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A2A33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SSBJ基盤・柳モデル検証・報酬連動の先行実装</a:t>
                      </a:r>
                      <a:endParaRPr lang="en-US" sz="84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532120"/>
            <a:ext cx="11274552" cy="914400"/>
          </a:xfrm>
          <a:prstGeom prst="roundRect">
            <a:avLst>
              <a:gd name="adj" fmla="val 6000"/>
            </a:avLst>
          </a:prstGeom>
          <a:solidFill>
            <a:srgbClr val="FBECEE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5596128"/>
            <a:ext cx="10835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C8102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運用方針: 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シナリオ試算はSSBJ基盤のシミュレーション機能(炭素税・水リスク・需要感応度)で毎年更新し、①有報「戦略」開示 ②中計・投資委員会の判断材料 ③IR想定問答の3用途で使い回す。「開示のための一回きりの試算」にしない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移行計画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554480" y="274320"/>
            <a:ext cx="10149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戦略の実行ロードマップ ― 2027年末の方針発表までに決め切ること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554480" y="713232"/>
            <a:ext cx="10149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5A5F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ロードマップ「戦略・方針(両輪)」レーンの実体。データ基盤(守り)と同期しながら段階的に対外コミットを引き上げる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750040" y="651052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2026下期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6733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戦略確定フェーズ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2148840" cy="3429000"/>
          </a:xfrm>
          <a:prstGeom prst="roundRect">
            <a:avLst>
              <a:gd name="adj" fmla="val 2553"/>
            </a:avLst>
          </a:prstGeom>
          <a:solidFill>
            <a:srgbClr val="FBECE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39696"/>
            <a:ext cx="1965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本提言ベースに新マテリアリティ評価(ステークホルダーサーベイ・投資家対話)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コア4テーマ・3本柱の経営審議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因果パス(ロジックモデル)とKGI候補の設定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ベースライン計測開始(SSBJ基盤のPhase 0と同期)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2738628" y="123444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C8102E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38628" y="16733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骨子確定・方針発表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38628" y="2029968"/>
            <a:ext cx="2148840" cy="3429000"/>
          </a:xfrm>
          <a:prstGeom prst="roundRect">
            <a:avLst>
              <a:gd name="adj" fmla="val 2553"/>
            </a:avLst>
          </a:prstGeom>
          <a:solidFill>
            <a:srgbClr val="FBECE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0068" y="2139696"/>
            <a:ext cx="1965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柱別戦略の目標値確定(共同実証の設計着手)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シナリオ定義・財務影響の初期試算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年末: 骨子確定・方針発表(長期目標の一部公表)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役員報酬連動の制度設計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5020056" y="123444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2028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0056" y="16733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文書化・合意形成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0056" y="2029968"/>
            <a:ext cx="2148840" cy="3429000"/>
          </a:xfrm>
          <a:prstGeom prst="roundRect">
            <a:avLst>
              <a:gd name="adj" fmla="val 2553"/>
            </a:avLst>
          </a:prstGeom>
          <a:solidFill>
            <a:srgbClr val="EEF3FB"/>
          </a:solidFill>
          <a:ln/>
        </p:spPr>
      </p:sp>
      <p:sp>
        <p:nvSpPr>
          <p:cNvPr id="17" name="Text 15"/>
          <p:cNvSpPr/>
          <p:nvPr/>
        </p:nvSpPr>
        <p:spPr>
          <a:xfrm>
            <a:off x="5111496" y="2139696"/>
            <a:ext cx="1965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財務影響評価・目標指標・移行計画の文書化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各国(海外法人)との合意形成・現地目標展開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B2B2Cヘルスケア事業の立ち上げ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報酬連動の試行(連動比率10%・例示)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7301484" y="123444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2029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301484" y="16733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開示・対話開始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01484" y="2029968"/>
            <a:ext cx="2148840" cy="3429000"/>
          </a:xfrm>
          <a:prstGeom prst="roundRect">
            <a:avLst>
              <a:gd name="adj" fmla="val 2553"/>
            </a:avLst>
          </a:prstGeom>
          <a:solidFill>
            <a:srgbClr val="EEF3FB"/>
          </a:solidFill>
          <a:ln/>
        </p:spPr>
      </p:sp>
      <p:sp>
        <p:nvSpPr>
          <p:cNvPr id="21" name="Text 19"/>
          <p:cNvSpPr/>
          <p:nvPr/>
        </p:nvSpPr>
        <p:spPr>
          <a:xfrm>
            <a:off x="7392924" y="2139696"/>
            <a:ext cx="1965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有報同時開示(SSBJ・先行対応)で戦略と実績を統合開示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社会インパクト額・柳モデル検証結果のIR発信開始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指標一部の第三者保証取得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9582912" y="123444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1E2761"/>
          </a:solidFill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2030〜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582912" y="167335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定着・複利化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82912" y="2029968"/>
            <a:ext cx="2148840" cy="3429000"/>
          </a:xfrm>
          <a:prstGeom prst="roundRect">
            <a:avLst>
              <a:gd name="adj" fmla="val 2553"/>
            </a:avLst>
          </a:prstGeom>
          <a:solidFill>
            <a:srgbClr val="EEF3FB"/>
          </a:solidFill>
          <a:ln/>
        </p:spPr>
      </p:sp>
      <p:sp>
        <p:nvSpPr>
          <p:cNvPr id="25" name="Text 23"/>
          <p:cNvSpPr/>
          <p:nvPr/>
        </p:nvSpPr>
        <p:spPr>
          <a:xfrm>
            <a:off x="9674352" y="2139696"/>
            <a:ext cx="1965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義務化本番の安定運用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報酬連動の本格運用(15%・例示)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インパクト会計を統合報告の中核に</a:t>
            </a:r>
            <a:endParaRPr lang="en-US" sz="820" dirty="0"/>
          </a:p>
          <a:p>
            <a:pPr marL="76200" indent="-76200">
              <a:lnSpc>
                <a:spcPct val="115000"/>
              </a:lnSpc>
              <a:spcAft>
                <a:spcPts val="600"/>
              </a:spcAft>
              <a:buSzPct val="100000"/>
              <a:buChar char="▪"/>
            </a:pPr>
            <a:r>
              <a:rPr lang="en-US" sz="820" dirty="0">
                <a:solidFill>
                  <a:srgbClr val="2A2A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5億人・1,000億円KGIの達成マネジメント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57200" y="5669280"/>
            <a:ext cx="11274552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5733288"/>
            <a:ext cx="107442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直近の意思決定(2026年Q3): ①本戦略提言の経営審議・コア4テーマの仮決定 ②共同実証パートナー(アカデミア・自治体・健保)の探索開始 ③貢献型製品認定基準のドラフト ④KGIベースライン計測の開始 ― いずれもSSBJ基盤PJT(Phase 0)と同一ガバナンスで推進する</a:t>
            </a:r>
            <a:endParaRPr lang="en-US" sz="10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2026-07-21T13:42:53Z</dcterms:created>
  <dcterms:modified xsi:type="dcterms:W3CDTF">2026-07-21T13:42:53Z</dcterms:modified>
</cp:coreProperties>
</file>