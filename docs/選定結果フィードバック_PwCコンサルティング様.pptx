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147483632" r:id="rId5"/>
  </p:sldIdLst>
  <p:sldSz cx="12192000" cy="6858000"/>
  <p:notesSz cx="6858000" cy="9144000"/>
  <p:custDataLst>
    <p:tags r:id="rId10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969696"/>
    <a:srgbClr val="008D2E"/>
    <a:srgbClr val="E2F0D9"/>
    <a:srgbClr val="01953D"/>
    <a:srgbClr val="D9D9D9"/>
    <a:srgbClr val="FFF2CC"/>
    <a:srgbClr val="5B9BD5"/>
    <a:srgbClr val="595959"/>
    <a:srgbClr val="407F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965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C87EA5-B015-4E39-A84B-A594D563A58F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D636F3-8413-4B74-BB00-76FFFF9698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80917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B69A8-C8FA-4C38-B005-FB4A7565DD38}" type="datetimeFigureOut">
              <a:rPr kumimoji="1" lang="ja-JP" altLang="en-US" smtClean="0"/>
              <a:t>2026/9/4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A0D92-6B77-46DB-8A11-5C7100D44D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106987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9BC486-A67F-4F3D-8FA3-20FB0639AB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179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223045" y="1"/>
            <a:ext cx="11745912" cy="914400"/>
          </a:xfrm>
        </p:spPr>
        <p:txBody>
          <a:bodyPr anchor="b">
            <a:normAutofit/>
          </a:bodyPr>
          <a:lstStyle>
            <a:lvl1pPr>
              <a:defRPr sz="2400"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スライドタイトル</a:t>
            </a:r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0" y="914400"/>
            <a:ext cx="12192000" cy="0"/>
          </a:xfrm>
          <a:prstGeom prst="line">
            <a:avLst/>
          </a:prstGeom>
          <a:ln w="28575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プレースホルダー 11"/>
          <p:cNvSpPr>
            <a:spLocks noGrp="1"/>
          </p:cNvSpPr>
          <p:nvPr>
            <p:ph type="body" sz="quarter" idx="13" hasCustomPrompt="1"/>
          </p:nvPr>
        </p:nvSpPr>
        <p:spPr>
          <a:xfrm>
            <a:off x="223044" y="914400"/>
            <a:ext cx="11745912" cy="427038"/>
          </a:xfrm>
        </p:spPr>
        <p:txBody>
          <a:bodyPr>
            <a:noAutofit/>
          </a:bodyPr>
          <a:lstStyle>
            <a:lvl1pPr marL="342900" indent="-342900">
              <a:buClr>
                <a:srgbClr val="008000"/>
              </a:buClr>
              <a:buFont typeface="Wingdings" panose="05000000000000000000" pitchFamily="2" charset="2"/>
              <a:buChar char="n"/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スライドメッセージ</a:t>
            </a:r>
          </a:p>
        </p:txBody>
      </p:sp>
      <p:pic>
        <p:nvPicPr>
          <p:cNvPr id="7" name="Picture 2" descr="今日を愛する。ライオン。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567" b="11841"/>
          <a:stretch/>
        </p:blipFill>
        <p:spPr bwMode="auto">
          <a:xfrm>
            <a:off x="10752012" y="284692"/>
            <a:ext cx="1102101" cy="539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722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 userDrawn="1">
          <p15:clr>
            <a:srgbClr val="FBAE40"/>
          </p15:clr>
        </p15:guide>
        <p15:guide id="2" pos="211" userDrawn="1">
          <p15:clr>
            <a:srgbClr val="FBAE40"/>
          </p15:clr>
        </p15:guide>
        <p15:guide id="3" orient="horz" pos="3974" userDrawn="1">
          <p15:clr>
            <a:srgbClr val="FBAE40"/>
          </p15:clr>
        </p15:guide>
        <p15:guide id="4" pos="7469" userDrawn="1">
          <p15:clr>
            <a:srgbClr val="FBAE40"/>
          </p15:clr>
        </p15:guide>
        <p15:guide id="5" orient="horz" pos="18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図プレースホルダー 8">
            <a:extLst>
              <a:ext uri="{FF2B5EF4-FFF2-40B4-BE49-F238E27FC236}">
                <a16:creationId xmlns:a16="http://schemas.microsoft.com/office/drawing/2014/main" id="{769171BB-12EF-D7D1-8CAA-8B54FA9AFE5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51413" y="8878"/>
            <a:ext cx="5540587" cy="6849121"/>
          </a:xfrm>
        </p:spPr>
        <p:txBody>
          <a:bodyPr/>
          <a:lstStyle/>
          <a:p>
            <a:r>
              <a:rPr kumimoji="1" lang="ja-JP" altLang="en-US"/>
              <a:t>図を追加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42875" y="136525"/>
            <a:ext cx="6508538" cy="692457"/>
          </a:xfrm>
        </p:spPr>
        <p:txBody>
          <a:bodyPr anchor="ctr">
            <a:normAutofit/>
          </a:bodyPr>
          <a:lstStyle>
            <a:lvl1pPr>
              <a:defRPr sz="3200" b="1" baseline="0">
                <a:solidFill>
                  <a:srgbClr val="595959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スライドタイトル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35814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3" hasCustomPrompt="1"/>
          </p:nvPr>
        </p:nvSpPr>
        <p:spPr>
          <a:xfrm>
            <a:off x="1019175" y="1384919"/>
            <a:ext cx="5076825" cy="692457"/>
          </a:xfrm>
        </p:spPr>
        <p:txBody>
          <a:bodyPr anchor="ctr">
            <a:normAutofit/>
          </a:bodyPr>
          <a:lstStyle>
            <a:lvl1pPr marL="0" indent="0">
              <a:buClr>
                <a:srgbClr val="008000"/>
              </a:buClr>
              <a:buFont typeface="Wingdings" panose="05000000000000000000" pitchFamily="2" charset="2"/>
              <a:buNone/>
              <a:defRPr sz="1800" b="1">
                <a:solidFill>
                  <a:srgbClr val="407FA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1" name="テキスト プレースホルダー 11">
            <a:extLst>
              <a:ext uri="{FF2B5EF4-FFF2-40B4-BE49-F238E27FC236}">
                <a16:creationId xmlns:a16="http://schemas.microsoft.com/office/drawing/2014/main" id="{AA811C02-548F-41AB-8518-014E458761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9175" y="2116348"/>
            <a:ext cx="5076825" cy="365125"/>
          </a:xfrm>
        </p:spPr>
        <p:txBody>
          <a:bodyPr anchor="ctr">
            <a:normAutofit/>
          </a:bodyPr>
          <a:lstStyle>
            <a:lvl1pPr marL="0" indent="0">
              <a:buClr>
                <a:srgbClr val="008000"/>
              </a:buClr>
              <a:buFont typeface="Wingdings" panose="05000000000000000000" pitchFamily="2" charset="2"/>
              <a:buNone/>
              <a:defRPr sz="1800" b="0">
                <a:solidFill>
                  <a:srgbClr val="407FA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本文</a:t>
            </a:r>
          </a:p>
        </p:txBody>
      </p:sp>
      <p:sp>
        <p:nvSpPr>
          <p:cNvPr id="21" name="テキスト プレースホルダー 11">
            <a:extLst>
              <a:ext uri="{FF2B5EF4-FFF2-40B4-BE49-F238E27FC236}">
                <a16:creationId xmlns:a16="http://schemas.microsoft.com/office/drawing/2014/main" id="{D0945B70-3014-AE59-0012-E35A46BA11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16418" y="3261321"/>
            <a:ext cx="4500438" cy="365125"/>
          </a:xfrm>
        </p:spPr>
        <p:txBody>
          <a:bodyPr>
            <a:normAutofit/>
          </a:bodyPr>
          <a:lstStyle>
            <a:lvl1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800" b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本文</a:t>
            </a:r>
          </a:p>
        </p:txBody>
      </p:sp>
      <p:sp>
        <p:nvSpPr>
          <p:cNvPr id="20" name="図プレースホルダー 19">
            <a:extLst>
              <a:ext uri="{FF2B5EF4-FFF2-40B4-BE49-F238E27FC236}">
                <a16:creationId xmlns:a16="http://schemas.microsoft.com/office/drawing/2014/main" id="{B53DC72C-2BC8-F8E4-ECCF-7A9BA48790D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579458" y="1361786"/>
            <a:ext cx="1633787" cy="1633787"/>
          </a:xfrm>
        </p:spPr>
        <p:txBody>
          <a:bodyPr/>
          <a:lstStyle/>
          <a:p>
            <a:r>
              <a:rPr kumimoji="1" lang="ja-JP" altLang="en-US"/>
              <a:t>図を追加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7898860" y="6356350"/>
            <a:ext cx="395817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altLang="ja-JP"/>
              <a:t>©LION Corporation All rights reserved                                   </a:t>
            </a:r>
            <a:fld id="{AE9BC486-A67F-4F3D-8FA3-20FB0639ABC0}" type="slidenum">
              <a:rPr lang="ja-JP" altLang="en-US" smtClean="0"/>
              <a:pPr algn="l"/>
              <a:t>‹#›</a:t>
            </a:fld>
            <a:endParaRPr lang="ja-JP" altLang="en-US"/>
          </a:p>
        </p:txBody>
      </p:sp>
      <p:sp>
        <p:nvSpPr>
          <p:cNvPr id="5" name="テキスト プレースホルダー 11">
            <a:extLst>
              <a:ext uri="{FF2B5EF4-FFF2-40B4-BE49-F238E27FC236}">
                <a16:creationId xmlns:a16="http://schemas.microsoft.com/office/drawing/2014/main" id="{4ED55D75-A3D4-A129-D2FC-3108681FBD8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19175" y="4121758"/>
            <a:ext cx="5076825" cy="692457"/>
          </a:xfrm>
        </p:spPr>
        <p:txBody>
          <a:bodyPr anchor="ctr">
            <a:normAutofit/>
          </a:bodyPr>
          <a:lstStyle>
            <a:lvl1pPr marL="0" indent="0">
              <a:buClr>
                <a:srgbClr val="008000"/>
              </a:buClr>
              <a:buFont typeface="Wingdings" panose="05000000000000000000" pitchFamily="2" charset="2"/>
              <a:buNone/>
              <a:defRPr sz="1800" b="1">
                <a:solidFill>
                  <a:srgbClr val="407FA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7" name="テキスト プレースホルダー 11">
            <a:extLst>
              <a:ext uri="{FF2B5EF4-FFF2-40B4-BE49-F238E27FC236}">
                <a16:creationId xmlns:a16="http://schemas.microsoft.com/office/drawing/2014/main" id="{E28757FD-1708-EB5C-375D-071B3DC61F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19175" y="4853187"/>
            <a:ext cx="5076825" cy="365125"/>
          </a:xfrm>
        </p:spPr>
        <p:txBody>
          <a:bodyPr anchor="ctr">
            <a:normAutofit/>
          </a:bodyPr>
          <a:lstStyle>
            <a:lvl1pPr marL="0" indent="0">
              <a:buClr>
                <a:srgbClr val="008000"/>
              </a:buClr>
              <a:buFont typeface="Wingdings" panose="05000000000000000000" pitchFamily="2" charset="2"/>
              <a:buNone/>
              <a:defRPr sz="1800" b="0">
                <a:solidFill>
                  <a:srgbClr val="407FA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本文</a:t>
            </a:r>
          </a:p>
        </p:txBody>
      </p:sp>
    </p:spTree>
    <p:extLst>
      <p:ext uri="{BB962C8B-B14F-4D97-AF65-F5344CB8AC3E}">
        <p14:creationId xmlns:p14="http://schemas.microsoft.com/office/powerpoint/2010/main" val="1439624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18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2B8A581B-A44C-1A50-AA22-A78798A438A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44057" y="6492208"/>
            <a:ext cx="4115157" cy="365792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 userDrawn="1"/>
        </p:nvSpPr>
        <p:spPr>
          <a:xfrm>
            <a:off x="11353800" y="6544299"/>
            <a:ext cx="659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159CA7EA-7377-4C6F-958C-65E49E0817CC}" type="slidenum">
              <a:rPr kumimoji="1" lang="ja-JP" altLang="en-US" sz="1200" smtClean="0">
                <a:solidFill>
                  <a:srgbClr val="969696"/>
                </a:solidFill>
              </a:rPr>
              <a:pPr algn="ctr"/>
              <a:t>‹#›</a:t>
            </a:fld>
            <a:endParaRPr kumimoji="1" lang="ja-JP" altLang="en-US" sz="1200" dirty="0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105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8C020E-4EC8-5FD9-B78B-1721E2F7F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フィードバック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8AD41EE-991D-2EFF-852D-D322979541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SSBJ</a:t>
            </a:r>
            <a:r>
              <a:rPr kumimoji="1" lang="ja-JP" altLang="en-US" dirty="0"/>
              <a:t>対応プラットフォーム構築に向けた要求定義支援のご提案につきまして、弊社評価者</a:t>
            </a:r>
            <a:r>
              <a:rPr kumimoji="1" lang="en-US" altLang="ja-JP" dirty="0"/>
              <a:t>4</a:t>
            </a:r>
            <a:r>
              <a:rPr kumimoji="1" lang="ja-JP" altLang="en-US" dirty="0"/>
              <a:t>名による厳正な審査の結果、誠に残念ながら、今回は他社のご提案を採用させていただくこととなりました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52FD0ED2-557F-70BF-8FEE-1919A5AF358C}"/>
              </a:ext>
            </a:extLst>
          </p:cNvPr>
          <p:cNvSpPr/>
          <p:nvPr/>
        </p:nvSpPr>
        <p:spPr>
          <a:xfrm>
            <a:off x="502920" y="1654647"/>
            <a:ext cx="310896" cy="310896"/>
          </a:xfrm>
          <a:prstGeom prst="ellipse">
            <a:avLst/>
          </a:prstGeom>
          <a:solidFill>
            <a:srgbClr val="008000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C71E890F-210C-08F9-D898-C9CE0F75D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23227"/>
            <a:ext cx="173736" cy="173736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94A7C2D8-DAC6-DDC2-38C7-B07EEE94DB28}"/>
              </a:ext>
            </a:extLst>
          </p:cNvPr>
          <p:cNvSpPr txBox="1"/>
          <p:nvPr/>
        </p:nvSpPr>
        <p:spPr>
          <a:xfrm>
            <a:off x="914400" y="1627215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8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総括</a:t>
            </a:r>
            <a:endParaRPr lang="en-US" sz="1450" dirty="0">
              <a:solidFill>
                <a:srgbClr val="008000"/>
              </a:solidFill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D543221C-0C29-D421-3170-EAD306AC9B26}"/>
              </a:ext>
            </a:extLst>
          </p:cNvPr>
          <p:cNvSpPr txBox="1"/>
          <p:nvPr/>
        </p:nvSpPr>
        <p:spPr>
          <a:xfrm>
            <a:off x="502920" y="2084415"/>
            <a:ext cx="62362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6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このたびは、弊社の依頼書を深く読み解き、精度の高いご提案をお寄せいただき、誠にありがとうございました。多大なご尽力に深く感謝申し上げます。</a:t>
            </a:r>
            <a:endParaRPr lang="en-US" sz="1060" dirty="0"/>
          </a:p>
          <a:p>
            <a:pPr marL="0" indent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06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弊社では、品質（Quality・50点）・コスト（Cost・23点）・納期（Delivery・27点）の3カテゴリ14項目からなる採点表を用い、評価者4名の合議により3社のご提案を厳正に審査いたしました。</a:t>
            </a:r>
            <a:endParaRPr lang="en-US" sz="106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60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結果、貴社のご提案は総合評価第2位となりました。特に「守り（統制・証跡）」の設計力と実績・知見の面では3社中最も高い評価でしたが、総合的に他社のご提案がより弊社の要件に適合すると判断し、今回は見送らせていただく結論にいたりました。何卒ご理解賜りますようお願い申し上げます。</a:t>
            </a:r>
            <a:endParaRPr lang="en-US" sz="106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A427540-DC07-EE76-25E1-3B5234A1E5A0}"/>
              </a:ext>
            </a:extLst>
          </p:cNvPr>
          <p:cNvSpPr/>
          <p:nvPr/>
        </p:nvSpPr>
        <p:spPr>
          <a:xfrm>
            <a:off x="6812280" y="1737360"/>
            <a:ext cx="4873752" cy="2072358"/>
          </a:xfrm>
          <a:prstGeom prst="roundRect">
            <a:avLst>
              <a:gd name="adj" fmla="val 3053"/>
            </a:avLst>
          </a:prstGeom>
          <a:solidFill>
            <a:srgbClr val="EAF5EC"/>
          </a:solidFill>
          <a:ln/>
          <a:effectLst>
            <a:outerShdw blurRad="76200" dist="25400" dir="5400000" algn="bl" rotWithShape="0">
              <a:srgbClr val="9AA7BC">
                <a:alpha val="2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2C75A16E-FF97-5EAA-6368-1BCDCA62E7CE}"/>
              </a:ext>
            </a:extLst>
          </p:cNvPr>
          <p:cNvSpPr txBox="1"/>
          <p:nvPr/>
        </p:nvSpPr>
        <p:spPr>
          <a:xfrm>
            <a:off x="7013448" y="1732787"/>
            <a:ext cx="4471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貴社評価サマリー（弊社採点表・評価者4名平均）</a:t>
            </a:r>
            <a:endParaRPr lang="en-US" sz="1050" dirty="0">
              <a:solidFill>
                <a:srgbClr val="008000"/>
              </a:solidFill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6362BC3F-3047-79BF-C0AA-81974449BFA6}"/>
              </a:ext>
            </a:extLst>
          </p:cNvPr>
          <p:cNvSpPr txBox="1"/>
          <p:nvPr/>
        </p:nvSpPr>
        <p:spPr>
          <a:xfrm>
            <a:off x="7013448" y="2007107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7D3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66.6</a:t>
            </a:r>
            <a:r>
              <a:rPr lang="en-US" sz="12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/ 100点</a:t>
            </a:r>
            <a:endParaRPr lang="en-US" sz="36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EE2BDE6F-7AB7-1E8F-F6DC-1FF51EAF3A1C}"/>
              </a:ext>
            </a:extLst>
          </p:cNvPr>
          <p:cNvSpPr/>
          <p:nvPr/>
        </p:nvSpPr>
        <p:spPr>
          <a:xfrm>
            <a:off x="9692640" y="2171699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33193C9B-C144-67F8-7007-8F7A72435699}"/>
              </a:ext>
            </a:extLst>
          </p:cNvPr>
          <p:cNvSpPr txBox="1"/>
          <p:nvPr/>
        </p:nvSpPr>
        <p:spPr>
          <a:xfrm>
            <a:off x="9692640" y="2171699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総合第2位</a:t>
            </a:r>
            <a:endParaRPr lang="en-US" sz="115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7AD0A2CA-C15F-AFC6-FAA6-74BB914DAF77}"/>
              </a:ext>
            </a:extLst>
          </p:cNvPr>
          <p:cNvSpPr txBox="1"/>
          <p:nvPr/>
        </p:nvSpPr>
        <p:spPr>
          <a:xfrm>
            <a:off x="7013448" y="2784347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 Quality</a:t>
            </a:r>
            <a:endParaRPr lang="en-US" sz="95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9173B8CF-0B22-A27C-BAC7-D60E0CB01459}"/>
              </a:ext>
            </a:extLst>
          </p:cNvPr>
          <p:cNvSpPr/>
          <p:nvPr/>
        </p:nvSpPr>
        <p:spPr>
          <a:xfrm>
            <a:off x="9025128" y="2843783"/>
            <a:ext cx="1591056" cy="155448"/>
          </a:xfrm>
          <a:prstGeom prst="roundRect">
            <a:avLst>
              <a:gd name="adj" fmla="val 29412"/>
            </a:avLst>
          </a:prstGeom>
          <a:solidFill>
            <a:srgbClr val="E3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244BAB49-7B2A-78DE-8E52-12882FC90D31}"/>
              </a:ext>
            </a:extLst>
          </p:cNvPr>
          <p:cNvSpPr/>
          <p:nvPr/>
        </p:nvSpPr>
        <p:spPr>
          <a:xfrm>
            <a:off x="9025128" y="2843783"/>
            <a:ext cx="1377854" cy="155448"/>
          </a:xfrm>
          <a:prstGeom prst="roundRect">
            <a:avLst>
              <a:gd name="adj" fmla="val 29412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131E1DF4-00E5-03DA-4F14-38B33AE0B3A3}"/>
              </a:ext>
            </a:extLst>
          </p:cNvPr>
          <p:cNvSpPr txBox="1"/>
          <p:nvPr/>
        </p:nvSpPr>
        <p:spPr>
          <a:xfrm>
            <a:off x="10689336" y="2784347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36.3 / 50</a:t>
            </a:r>
            <a:endParaRPr lang="en-US" sz="950" dirty="0">
              <a:solidFill>
                <a:srgbClr val="008000"/>
              </a:solidFill>
            </a:endParaRP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D555E3BA-E2E3-319C-D1D9-51CF22796525}"/>
              </a:ext>
            </a:extLst>
          </p:cNvPr>
          <p:cNvSpPr txBox="1"/>
          <p:nvPr/>
        </p:nvSpPr>
        <p:spPr>
          <a:xfrm>
            <a:off x="7013448" y="3150107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 Cost</a:t>
            </a:r>
            <a:endParaRPr lang="en-US" sz="95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B3645D79-9987-BF0E-96D8-FAE9DCA47588}"/>
              </a:ext>
            </a:extLst>
          </p:cNvPr>
          <p:cNvSpPr/>
          <p:nvPr/>
        </p:nvSpPr>
        <p:spPr>
          <a:xfrm>
            <a:off x="9025128" y="3209543"/>
            <a:ext cx="1591056" cy="155448"/>
          </a:xfrm>
          <a:prstGeom prst="roundRect">
            <a:avLst>
              <a:gd name="adj" fmla="val 29412"/>
            </a:avLst>
          </a:prstGeom>
          <a:solidFill>
            <a:srgbClr val="E3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0D03EED5-71F4-5143-ED57-5AB5A3241A57}"/>
              </a:ext>
            </a:extLst>
          </p:cNvPr>
          <p:cNvSpPr/>
          <p:nvPr/>
        </p:nvSpPr>
        <p:spPr>
          <a:xfrm>
            <a:off x="9025128" y="3209543"/>
            <a:ext cx="975387" cy="155448"/>
          </a:xfrm>
          <a:prstGeom prst="roundRect">
            <a:avLst>
              <a:gd name="adj" fmla="val 29412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92A4B9DD-8FDB-A9FB-C63C-1A65CB8F2DB5}"/>
              </a:ext>
            </a:extLst>
          </p:cNvPr>
          <p:cNvSpPr txBox="1"/>
          <p:nvPr/>
        </p:nvSpPr>
        <p:spPr>
          <a:xfrm>
            <a:off x="10689336" y="3150107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14.8 / 23</a:t>
            </a:r>
            <a:endParaRPr lang="en-US" sz="950" dirty="0">
              <a:solidFill>
                <a:srgbClr val="008000"/>
              </a:solidFill>
            </a:endParaRPr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DF9605E8-1241-58E7-20BA-08A0270E552F}"/>
              </a:ext>
            </a:extLst>
          </p:cNvPr>
          <p:cNvSpPr txBox="1"/>
          <p:nvPr/>
        </p:nvSpPr>
        <p:spPr>
          <a:xfrm>
            <a:off x="7013448" y="3515867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630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納期 Delivery</a:t>
            </a:r>
            <a:endParaRPr lang="en-US" sz="95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F7B0898C-74FE-3433-D426-EA2B236BD0B2}"/>
              </a:ext>
            </a:extLst>
          </p:cNvPr>
          <p:cNvSpPr/>
          <p:nvPr/>
        </p:nvSpPr>
        <p:spPr>
          <a:xfrm>
            <a:off x="9025128" y="3575303"/>
            <a:ext cx="1591056" cy="155448"/>
          </a:xfrm>
          <a:prstGeom prst="roundRect">
            <a:avLst>
              <a:gd name="adj" fmla="val 29412"/>
            </a:avLst>
          </a:prstGeom>
          <a:solidFill>
            <a:srgbClr val="E3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5E70312D-DF85-9E4B-87C7-74A3C491EDF2}"/>
              </a:ext>
            </a:extLst>
          </p:cNvPr>
          <p:cNvSpPr/>
          <p:nvPr/>
        </p:nvSpPr>
        <p:spPr>
          <a:xfrm>
            <a:off x="9025128" y="3575303"/>
            <a:ext cx="1043026" cy="155448"/>
          </a:xfrm>
          <a:prstGeom prst="roundRect">
            <a:avLst>
              <a:gd name="adj" fmla="val 29412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B2369744-940E-BB79-07DB-8EA97DDF375E}"/>
              </a:ext>
            </a:extLst>
          </p:cNvPr>
          <p:cNvSpPr txBox="1"/>
          <p:nvPr/>
        </p:nvSpPr>
        <p:spPr>
          <a:xfrm>
            <a:off x="10689336" y="3515867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15.6 / 27</a:t>
            </a:r>
            <a:endParaRPr lang="en-US" sz="950" dirty="0">
              <a:solidFill>
                <a:srgbClr val="008000"/>
              </a:solidFill>
            </a:endParaRPr>
          </a:p>
        </p:txBody>
      </p:sp>
      <p:grpSp>
        <p:nvGrpSpPr>
          <p:cNvPr id="117" name="グループ化 116">
            <a:extLst>
              <a:ext uri="{FF2B5EF4-FFF2-40B4-BE49-F238E27FC236}">
                <a16:creationId xmlns:a16="http://schemas.microsoft.com/office/drawing/2014/main" id="{88C1658A-6811-69CF-96E8-A3C24C4EE277}"/>
              </a:ext>
            </a:extLst>
          </p:cNvPr>
          <p:cNvGrpSpPr/>
          <p:nvPr/>
        </p:nvGrpSpPr>
        <p:grpSpPr>
          <a:xfrm>
            <a:off x="547490" y="3808711"/>
            <a:ext cx="267623" cy="263292"/>
            <a:chOff x="547490" y="3808711"/>
            <a:chExt cx="267623" cy="263292"/>
          </a:xfrm>
        </p:grpSpPr>
        <p:sp>
          <p:nvSpPr>
            <p:cNvPr id="51" name="Shape 24">
              <a:extLst>
                <a:ext uri="{FF2B5EF4-FFF2-40B4-BE49-F238E27FC236}">
                  <a16:creationId xmlns:a16="http://schemas.microsoft.com/office/drawing/2014/main" id="{C3596F1F-A436-4A74-545E-75E77624E58C}"/>
                </a:ext>
              </a:extLst>
            </p:cNvPr>
            <p:cNvSpPr/>
            <p:nvPr/>
          </p:nvSpPr>
          <p:spPr>
            <a:xfrm>
              <a:off x="547490" y="3808711"/>
              <a:ext cx="267623" cy="263292"/>
            </a:xfrm>
            <a:prstGeom prst="ellipse">
              <a:avLst/>
            </a:prstGeom>
            <a:solidFill>
              <a:srgbClr val="008000"/>
            </a:solidFill>
            <a:ln/>
          </p:spPr>
          <p:txBody>
            <a:bodyPr/>
            <a:lstStyle/>
            <a:p>
              <a:endParaRPr lang="ja-JP" altLang="en-US" dirty="0"/>
            </a:p>
          </p:txBody>
        </p:sp>
        <p:pic>
          <p:nvPicPr>
            <p:cNvPr id="53" name="Image 1" descr="preencoded.png">
              <a:extLst>
                <a:ext uri="{FF2B5EF4-FFF2-40B4-BE49-F238E27FC236}">
                  <a16:creationId xmlns:a16="http://schemas.microsoft.com/office/drawing/2014/main" id="{59BA42E2-AEE9-8E79-967B-F5DDF6B2F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8663" y="3867513"/>
              <a:ext cx="191881" cy="148966"/>
            </a:xfrm>
            <a:prstGeom prst="rect">
              <a:avLst/>
            </a:prstGeom>
          </p:spPr>
        </p:pic>
      </p:grpSp>
      <p:sp>
        <p:nvSpPr>
          <p:cNvPr id="55" name="Text 25">
            <a:extLst>
              <a:ext uri="{FF2B5EF4-FFF2-40B4-BE49-F238E27FC236}">
                <a16:creationId xmlns:a16="http://schemas.microsoft.com/office/drawing/2014/main" id="{B7C15F86-8DFA-3C34-D6B6-BAFD7E5AE500}"/>
              </a:ext>
            </a:extLst>
          </p:cNvPr>
          <p:cNvSpPr txBox="1"/>
          <p:nvPr/>
        </p:nvSpPr>
        <p:spPr>
          <a:xfrm>
            <a:off x="957376" y="3802656"/>
            <a:ext cx="9089105" cy="313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8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貴社のご提案で高く評価したポイント</a:t>
            </a:r>
            <a:endParaRPr lang="en-US" sz="1450" dirty="0">
              <a:solidFill>
                <a:srgbClr val="008000"/>
              </a:solidFill>
            </a:endParaRPr>
          </a:p>
        </p:txBody>
      </p:sp>
      <p:grpSp>
        <p:nvGrpSpPr>
          <p:cNvPr id="92" name="グループ化 91">
            <a:extLst>
              <a:ext uri="{FF2B5EF4-FFF2-40B4-BE49-F238E27FC236}">
                <a16:creationId xmlns:a16="http://schemas.microsoft.com/office/drawing/2014/main" id="{F12AA0A9-3750-C8BE-585B-CAEC7402786B}"/>
              </a:ext>
            </a:extLst>
          </p:cNvPr>
          <p:cNvGrpSpPr/>
          <p:nvPr/>
        </p:nvGrpSpPr>
        <p:grpSpPr>
          <a:xfrm>
            <a:off x="502920" y="4144776"/>
            <a:ext cx="11354118" cy="1083743"/>
            <a:chOff x="502920" y="4773168"/>
            <a:chExt cx="10280423" cy="1535557"/>
          </a:xfrm>
        </p:grpSpPr>
        <p:sp>
          <p:nvSpPr>
            <p:cNvPr id="57" name="Shape 26">
              <a:extLst>
                <a:ext uri="{FF2B5EF4-FFF2-40B4-BE49-F238E27FC236}">
                  <a16:creationId xmlns:a16="http://schemas.microsoft.com/office/drawing/2014/main" id="{031D9A11-33A5-3E63-D4D6-870CFFB22E29}"/>
                </a:ext>
              </a:extLst>
            </p:cNvPr>
            <p:cNvSpPr/>
            <p:nvPr/>
          </p:nvSpPr>
          <p:spPr>
            <a:xfrm>
              <a:off x="502920" y="4773168"/>
              <a:ext cx="2522570" cy="1535557"/>
            </a:xfrm>
            <a:prstGeom prst="roundRect">
              <a:avLst>
                <a:gd name="adj" fmla="val 3500"/>
              </a:avLst>
            </a:prstGeom>
            <a:solidFill>
              <a:schemeClr val="accent6">
                <a:lumMod val="20000"/>
                <a:lumOff val="80000"/>
              </a:schemeClr>
            </a:solidFill>
            <a:ln/>
            <a:effectLst>
              <a:outerShdw blurRad="76200" dist="25400" dir="5400000" algn="bl" rotWithShape="0">
                <a:srgbClr val="9AA7BC">
                  <a:alpha val="28000"/>
                </a:srgbClr>
              </a:outerShdw>
            </a:effec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67" name="Shape 30">
              <a:extLst>
                <a:ext uri="{FF2B5EF4-FFF2-40B4-BE49-F238E27FC236}">
                  <a16:creationId xmlns:a16="http://schemas.microsoft.com/office/drawing/2014/main" id="{C45C0E41-CF8E-7452-06CE-70C434D50F93}"/>
                </a:ext>
              </a:extLst>
            </p:cNvPr>
            <p:cNvSpPr/>
            <p:nvPr/>
          </p:nvSpPr>
          <p:spPr>
            <a:xfrm>
              <a:off x="3120562" y="4773168"/>
              <a:ext cx="2522570" cy="1535557"/>
            </a:xfrm>
            <a:prstGeom prst="roundRect">
              <a:avLst>
                <a:gd name="adj" fmla="val 3500"/>
              </a:avLst>
            </a:prstGeom>
            <a:solidFill>
              <a:schemeClr val="accent6">
                <a:lumMod val="20000"/>
                <a:lumOff val="80000"/>
              </a:schemeClr>
            </a:solidFill>
            <a:ln/>
            <a:effectLst>
              <a:outerShdw blurRad="76200" dist="25400" dir="5400000" algn="bl" rotWithShape="0">
                <a:srgbClr val="9AA7BC">
                  <a:alpha val="28000"/>
                </a:srgbClr>
              </a:outerShdw>
            </a:effec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7" name="Shape 34">
              <a:extLst>
                <a:ext uri="{FF2B5EF4-FFF2-40B4-BE49-F238E27FC236}">
                  <a16:creationId xmlns:a16="http://schemas.microsoft.com/office/drawing/2014/main" id="{B4A972CC-599B-631E-40BA-8EC796EBAA15}"/>
                </a:ext>
              </a:extLst>
            </p:cNvPr>
            <p:cNvSpPr/>
            <p:nvPr/>
          </p:nvSpPr>
          <p:spPr>
            <a:xfrm>
              <a:off x="5738203" y="4773168"/>
              <a:ext cx="2383131" cy="1535557"/>
            </a:xfrm>
            <a:prstGeom prst="roundRect">
              <a:avLst>
                <a:gd name="adj" fmla="val 3500"/>
              </a:avLst>
            </a:prstGeom>
            <a:solidFill>
              <a:schemeClr val="accent6">
                <a:lumMod val="20000"/>
                <a:lumOff val="80000"/>
              </a:schemeClr>
            </a:solidFill>
            <a:ln/>
            <a:effectLst>
              <a:outerShdw blurRad="76200" dist="25400" dir="5400000" algn="bl" rotWithShape="0">
                <a:srgbClr val="9AA7BC">
                  <a:alpha val="28000"/>
                </a:srgbClr>
              </a:outerShdw>
            </a:effec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63" name="Text 28">
              <a:extLst>
                <a:ext uri="{FF2B5EF4-FFF2-40B4-BE49-F238E27FC236}">
                  <a16:creationId xmlns:a16="http://schemas.microsoft.com/office/drawing/2014/main" id="{7702D823-E17C-6CE3-70A3-567D74BF1FA9}"/>
                </a:ext>
              </a:extLst>
            </p:cNvPr>
            <p:cNvSpPr txBox="1"/>
            <p:nvPr/>
          </p:nvSpPr>
          <p:spPr>
            <a:xfrm>
              <a:off x="502920" y="4880657"/>
              <a:ext cx="2516231" cy="3685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ja-JP" altLang="ja-JP" sz="1200" dirty="0"/>
                <a:t>守り（内部統制・証跡）の設計力（3社中最高）</a:t>
              </a:r>
              <a:endParaRPr lang="en-US" sz="1150" dirty="0"/>
            </a:p>
          </p:txBody>
        </p:sp>
        <p:sp>
          <p:nvSpPr>
            <p:cNvPr id="65" name="Text 29">
              <a:extLst>
                <a:ext uri="{FF2B5EF4-FFF2-40B4-BE49-F238E27FC236}">
                  <a16:creationId xmlns:a16="http://schemas.microsoft.com/office/drawing/2014/main" id="{A6FC692C-CC9B-A1C0-50F9-A4EFEB43BA12}"/>
                </a:ext>
              </a:extLst>
            </p:cNvPr>
            <p:cNvSpPr txBox="1"/>
            <p:nvPr/>
          </p:nvSpPr>
          <p:spPr>
            <a:xfrm>
              <a:off x="642359" y="5325969"/>
              <a:ext cx="2243693" cy="8445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ja-JP" altLang="ja-JP" sz="1000" dirty="0"/>
                <a:t>統制要素×確認領域マトリクスや例外処理の証跡定義など、機能要件化への道筋が3社中最も具体的で、全世界500拠点の構築実績に基づく実務知見が感じられる点。</a:t>
              </a:r>
              <a:endParaRPr lang="en-US" sz="980" dirty="0"/>
            </a:p>
          </p:txBody>
        </p:sp>
        <p:sp>
          <p:nvSpPr>
            <p:cNvPr id="73" name="Text 32">
              <a:extLst>
                <a:ext uri="{FF2B5EF4-FFF2-40B4-BE49-F238E27FC236}">
                  <a16:creationId xmlns:a16="http://schemas.microsoft.com/office/drawing/2014/main" id="{8DF26C95-0EA0-B427-6606-892A5B55ECC0}"/>
                </a:ext>
              </a:extLst>
            </p:cNvPr>
            <p:cNvSpPr txBox="1"/>
            <p:nvPr/>
          </p:nvSpPr>
          <p:spPr>
            <a:xfrm>
              <a:off x="3576906" y="4880657"/>
              <a:ext cx="1964815" cy="3685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ja-JP" altLang="ja-JP" sz="1200" dirty="0"/>
                <a:t>実績・知見（SSBJ／保証／類似基盤）</a:t>
              </a:r>
              <a:endParaRPr lang="en-US" sz="1150" dirty="0"/>
            </a:p>
          </p:txBody>
        </p:sp>
        <p:sp>
          <p:nvSpPr>
            <p:cNvPr id="75" name="Text 33">
              <a:extLst>
                <a:ext uri="{FF2B5EF4-FFF2-40B4-BE49-F238E27FC236}">
                  <a16:creationId xmlns:a16="http://schemas.microsoft.com/office/drawing/2014/main" id="{1C0D7527-DF9C-23F6-15AE-C6DFC696E882}"/>
                </a:ext>
              </a:extLst>
            </p:cNvPr>
            <p:cNvSpPr txBox="1"/>
            <p:nvPr/>
          </p:nvSpPr>
          <p:spPr>
            <a:xfrm>
              <a:off x="3260000" y="5325969"/>
              <a:ext cx="2243693" cy="8445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ja-JP" altLang="ja-JP" sz="1000" dirty="0"/>
                <a:t>類似案件の実績・知見が豊富で、当該項目は3社中ほぼ満点の評価でした。SSBJ・第三者保証対応への理解の深さが伝わるご提案でした。</a:t>
              </a:r>
              <a:endParaRPr lang="en-US" sz="980" dirty="0"/>
            </a:p>
          </p:txBody>
        </p:sp>
        <p:sp>
          <p:nvSpPr>
            <p:cNvPr id="83" name="Text 36">
              <a:extLst>
                <a:ext uri="{FF2B5EF4-FFF2-40B4-BE49-F238E27FC236}">
                  <a16:creationId xmlns:a16="http://schemas.microsoft.com/office/drawing/2014/main" id="{ACE14A77-2EF7-BB83-9391-EB2AAAE1DDAB}"/>
                </a:ext>
              </a:extLst>
            </p:cNvPr>
            <p:cNvSpPr txBox="1"/>
            <p:nvPr/>
          </p:nvSpPr>
          <p:spPr>
            <a:xfrm>
              <a:off x="5877642" y="4880657"/>
              <a:ext cx="2281721" cy="3685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50" b="1" dirty="0">
                  <a:latin typeface="Meiryo" pitchFamily="34" charset="0"/>
                  <a:ea typeface="Meiryo" pitchFamily="34" charset="-122"/>
                  <a:cs typeface="Meiryo" pitchFamily="34" charset="-120"/>
                </a:rPr>
                <a:t>見積り・工数の透明性</a:t>
              </a:r>
              <a:endParaRPr lang="en-US" sz="1150" dirty="0"/>
            </a:p>
          </p:txBody>
        </p:sp>
        <p:sp>
          <p:nvSpPr>
            <p:cNvPr id="85" name="Text 37">
              <a:extLst>
                <a:ext uri="{FF2B5EF4-FFF2-40B4-BE49-F238E27FC236}">
                  <a16:creationId xmlns:a16="http://schemas.microsoft.com/office/drawing/2014/main" id="{F9A0AC93-E2FF-FFA8-7DBF-9790E5AEFEBF}"/>
                </a:ext>
              </a:extLst>
            </p:cNvPr>
            <p:cNvSpPr txBox="1"/>
            <p:nvPr/>
          </p:nvSpPr>
          <p:spPr>
            <a:xfrm>
              <a:off x="5877642" y="5325969"/>
              <a:ext cx="2243693" cy="8445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ja-JP" altLang="ja-JP" sz="1000" dirty="0"/>
                <a:t>3案をご提示いただいた上で、メンバー別・月別の関与工数（％）まで開示された唯一のご提案であり、比較検討の大きな助けとなりました。</a:t>
              </a:r>
              <a:endParaRPr lang="en-US" sz="980" dirty="0"/>
            </a:p>
          </p:txBody>
        </p:sp>
        <p:sp>
          <p:nvSpPr>
            <p:cNvPr id="89" name="Shape 34">
              <a:extLst>
                <a:ext uri="{FF2B5EF4-FFF2-40B4-BE49-F238E27FC236}">
                  <a16:creationId xmlns:a16="http://schemas.microsoft.com/office/drawing/2014/main" id="{2A321453-06D5-185D-C927-114D95950BF6}"/>
                </a:ext>
              </a:extLst>
            </p:cNvPr>
            <p:cNvSpPr/>
            <p:nvPr/>
          </p:nvSpPr>
          <p:spPr>
            <a:xfrm>
              <a:off x="8260773" y="4773168"/>
              <a:ext cx="2522570" cy="1535557"/>
            </a:xfrm>
            <a:prstGeom prst="roundRect">
              <a:avLst>
                <a:gd name="adj" fmla="val 3500"/>
              </a:avLst>
            </a:prstGeom>
            <a:solidFill>
              <a:schemeClr val="accent6">
                <a:lumMod val="20000"/>
                <a:lumOff val="80000"/>
              </a:schemeClr>
            </a:solidFill>
            <a:ln/>
            <a:effectLst>
              <a:outerShdw blurRad="76200" dist="25400" dir="5400000" algn="bl" rotWithShape="0">
                <a:srgbClr val="9AA7BC">
                  <a:alpha val="28000"/>
                </a:srgbClr>
              </a:outerShdw>
            </a:effec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90" name="Text 36">
              <a:extLst>
                <a:ext uri="{FF2B5EF4-FFF2-40B4-BE49-F238E27FC236}">
                  <a16:creationId xmlns:a16="http://schemas.microsoft.com/office/drawing/2014/main" id="{49108E2C-07C7-5A48-214C-DA5CBAF2B6A4}"/>
                </a:ext>
              </a:extLst>
            </p:cNvPr>
            <p:cNvSpPr txBox="1"/>
            <p:nvPr/>
          </p:nvSpPr>
          <p:spPr>
            <a:xfrm>
              <a:off x="8717118" y="4880657"/>
              <a:ext cx="1964815" cy="3685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ja-JP" altLang="ja-JP" sz="1200" dirty="0"/>
                <a:t>体制の稼働率・継続性（3社中最高）</a:t>
              </a:r>
              <a:endParaRPr lang="en-US" sz="1150" dirty="0"/>
            </a:p>
          </p:txBody>
        </p:sp>
        <p:sp>
          <p:nvSpPr>
            <p:cNvPr id="91" name="Text 37">
              <a:extLst>
                <a:ext uri="{FF2B5EF4-FFF2-40B4-BE49-F238E27FC236}">
                  <a16:creationId xmlns:a16="http://schemas.microsoft.com/office/drawing/2014/main" id="{61874DCA-1745-677E-3E5A-147C7A60147F}"/>
                </a:ext>
              </a:extLst>
            </p:cNvPr>
            <p:cNvSpPr txBox="1"/>
            <p:nvPr/>
          </p:nvSpPr>
          <p:spPr>
            <a:xfrm>
              <a:off x="8400212" y="5325969"/>
              <a:ext cx="2243693" cy="8445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ja-JP" altLang="ja-JP" sz="1000" dirty="0"/>
                <a:t>体制の稼働率・継続性に関する評価は3社中最も高く、実行体制の安定性への信頼につながりました。</a:t>
              </a:r>
              <a:endParaRPr lang="en-US" sz="980" dirty="0"/>
            </a:p>
          </p:txBody>
        </p:sp>
      </p:grpSp>
      <p:sp>
        <p:nvSpPr>
          <p:cNvPr id="98" name="Text 25">
            <a:extLst>
              <a:ext uri="{FF2B5EF4-FFF2-40B4-BE49-F238E27FC236}">
                <a16:creationId xmlns:a16="http://schemas.microsoft.com/office/drawing/2014/main" id="{3B37B961-A138-3067-934B-D9F91404397F}"/>
              </a:ext>
            </a:extLst>
          </p:cNvPr>
          <p:cNvSpPr txBox="1"/>
          <p:nvPr/>
        </p:nvSpPr>
        <p:spPr>
          <a:xfrm>
            <a:off x="957375" y="5263796"/>
            <a:ext cx="9089106" cy="313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450" b="1" dirty="0">
                <a:solidFill>
                  <a:srgbClr val="008000"/>
                </a:solidFill>
              </a:rPr>
              <a:t>評価が伸びなかった点（次回のご参考として）</a:t>
            </a:r>
            <a:endParaRPr lang="en-US" sz="1450" b="1" dirty="0">
              <a:solidFill>
                <a:srgbClr val="008000"/>
              </a:solidFill>
            </a:endParaRPr>
          </a:p>
        </p:txBody>
      </p:sp>
      <p:sp>
        <p:nvSpPr>
          <p:cNvPr id="102" name="Shape 34">
            <a:extLst>
              <a:ext uri="{FF2B5EF4-FFF2-40B4-BE49-F238E27FC236}">
                <a16:creationId xmlns:a16="http://schemas.microsoft.com/office/drawing/2014/main" id="{8846AB99-B8B5-7498-8B54-54DDE2AA4323}"/>
              </a:ext>
            </a:extLst>
          </p:cNvPr>
          <p:cNvSpPr/>
          <p:nvPr/>
        </p:nvSpPr>
        <p:spPr>
          <a:xfrm>
            <a:off x="8165094" y="5685056"/>
            <a:ext cx="3691944" cy="483273"/>
          </a:xfrm>
          <a:prstGeom prst="roundRect">
            <a:avLst>
              <a:gd name="adj" fmla="val 3500"/>
            </a:avLst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76200" dist="25400" dir="5400000" algn="bl" rotWithShape="0">
              <a:srgbClr val="9AA7BC">
                <a:alpha val="28000"/>
              </a:srgbClr>
            </a:outerShdw>
          </a:effectLst>
        </p:spPr>
        <p:txBody>
          <a:bodyPr/>
          <a:lstStyle/>
          <a:p>
            <a:endParaRPr lang="ja-JP" altLang="en-US" dirty="0"/>
          </a:p>
        </p:txBody>
      </p:sp>
      <p:grpSp>
        <p:nvGrpSpPr>
          <p:cNvPr id="121" name="グループ化 120">
            <a:extLst>
              <a:ext uri="{FF2B5EF4-FFF2-40B4-BE49-F238E27FC236}">
                <a16:creationId xmlns:a16="http://schemas.microsoft.com/office/drawing/2014/main" id="{C3E84584-B0B8-904C-8AF6-8E872D18217B}"/>
              </a:ext>
            </a:extLst>
          </p:cNvPr>
          <p:cNvGrpSpPr/>
          <p:nvPr/>
        </p:nvGrpSpPr>
        <p:grpSpPr>
          <a:xfrm>
            <a:off x="502919" y="5685056"/>
            <a:ext cx="7458097" cy="483273"/>
            <a:chOff x="502920" y="5685056"/>
            <a:chExt cx="3691944" cy="483273"/>
          </a:xfrm>
        </p:grpSpPr>
        <p:sp>
          <p:nvSpPr>
            <p:cNvPr id="100" name="Shape 26">
              <a:extLst>
                <a:ext uri="{FF2B5EF4-FFF2-40B4-BE49-F238E27FC236}">
                  <a16:creationId xmlns:a16="http://schemas.microsoft.com/office/drawing/2014/main" id="{87FBE88B-B619-5DE7-80CB-D839EAAF250C}"/>
                </a:ext>
              </a:extLst>
            </p:cNvPr>
            <p:cNvSpPr/>
            <p:nvPr/>
          </p:nvSpPr>
          <p:spPr>
            <a:xfrm>
              <a:off x="502920" y="5685056"/>
              <a:ext cx="3691944" cy="483273"/>
            </a:xfrm>
            <a:prstGeom prst="roundRect">
              <a:avLst>
                <a:gd name="adj" fmla="val 3500"/>
              </a:avLst>
            </a:prstGeom>
            <a:solidFill>
              <a:schemeClr val="accent6">
                <a:lumMod val="20000"/>
                <a:lumOff val="80000"/>
              </a:schemeClr>
            </a:solidFill>
            <a:ln/>
            <a:effectLst>
              <a:outerShdw blurRad="76200" dist="25400" dir="5400000" algn="bl" rotWithShape="0">
                <a:srgbClr val="9AA7BC">
                  <a:alpha val="28000"/>
                </a:srgbClr>
              </a:outerShdw>
            </a:effec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103" name="Text 28">
              <a:extLst>
                <a:ext uri="{FF2B5EF4-FFF2-40B4-BE49-F238E27FC236}">
                  <a16:creationId xmlns:a16="http://schemas.microsoft.com/office/drawing/2014/main" id="{57F614C3-C665-98E3-921F-38ABF5B800EE}"/>
                </a:ext>
              </a:extLst>
            </p:cNvPr>
            <p:cNvSpPr txBox="1"/>
            <p:nvPr/>
          </p:nvSpPr>
          <p:spPr>
            <a:xfrm>
              <a:off x="502920" y="5718885"/>
              <a:ext cx="3682666" cy="1159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ja-JP" altLang="ja-JP" sz="1200" dirty="0"/>
                <a:t>「攻め」の成果物への落とし込み不足</a:t>
              </a:r>
              <a:endParaRPr lang="en-US" sz="1150" dirty="0"/>
            </a:p>
          </p:txBody>
        </p:sp>
        <p:sp>
          <p:nvSpPr>
            <p:cNvPr id="104" name="Text 29">
              <a:extLst>
                <a:ext uri="{FF2B5EF4-FFF2-40B4-BE49-F238E27FC236}">
                  <a16:creationId xmlns:a16="http://schemas.microsoft.com/office/drawing/2014/main" id="{CA72CE86-72F0-74C2-EC25-FBBB034FDA49}"/>
                </a:ext>
              </a:extLst>
            </p:cNvPr>
            <p:cNvSpPr txBox="1"/>
            <p:nvPr/>
          </p:nvSpPr>
          <p:spPr>
            <a:xfrm>
              <a:off x="706998" y="5859034"/>
              <a:ext cx="3283789" cy="26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ja-JP" altLang="ja-JP" sz="1000" dirty="0"/>
                <a:t>提案が「守り」に重心があり、Scope3一次データ化や経営活用（攻め）に関わる具体的な成果物・実行計画への落とし込みが確認できませんでした。この点が品質評価における最大の差分となりました。</a:t>
              </a:r>
              <a:endParaRPr lang="en-US" sz="980" dirty="0"/>
            </a:p>
          </p:txBody>
        </p:sp>
      </p:grpSp>
      <p:sp>
        <p:nvSpPr>
          <p:cNvPr id="107" name="Text 36">
            <a:extLst>
              <a:ext uri="{FF2B5EF4-FFF2-40B4-BE49-F238E27FC236}">
                <a16:creationId xmlns:a16="http://schemas.microsoft.com/office/drawing/2014/main" id="{A418D51A-37FD-E39B-358D-660DD0EFBC54}"/>
              </a:ext>
            </a:extLst>
          </p:cNvPr>
          <p:cNvSpPr txBox="1"/>
          <p:nvPr/>
        </p:nvSpPr>
        <p:spPr>
          <a:xfrm>
            <a:off x="8369172" y="5718885"/>
            <a:ext cx="3339446" cy="115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ja-JP" altLang="ja-JP" sz="1200" dirty="0"/>
              <a:t>実働体制の確定度</a:t>
            </a:r>
            <a:endParaRPr lang="en-US" sz="1150" dirty="0"/>
          </a:p>
        </p:txBody>
      </p:sp>
      <p:sp>
        <p:nvSpPr>
          <p:cNvPr id="108" name="Text 37">
            <a:extLst>
              <a:ext uri="{FF2B5EF4-FFF2-40B4-BE49-F238E27FC236}">
                <a16:creationId xmlns:a16="http://schemas.microsoft.com/office/drawing/2014/main" id="{8DF3084D-875F-6664-CAB8-3058887C4277}"/>
              </a:ext>
            </a:extLst>
          </p:cNvPr>
          <p:cNvSpPr txBox="1"/>
          <p:nvPr/>
        </p:nvSpPr>
        <p:spPr>
          <a:xfrm>
            <a:off x="8369172" y="5859034"/>
            <a:ext cx="3283789" cy="26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ja-JP" altLang="ja-JP" sz="1000" dirty="0"/>
              <a:t>実働コンサルタント3名の稼働体制がTBD（未確定）のままご提示され、実行時の品質・体制継続性について確認したい点が残りました。</a:t>
            </a:r>
            <a:endParaRPr lang="en-US" sz="980" dirty="0"/>
          </a:p>
        </p:txBody>
      </p:sp>
      <p:grpSp>
        <p:nvGrpSpPr>
          <p:cNvPr id="118" name="グループ化 117">
            <a:extLst>
              <a:ext uri="{FF2B5EF4-FFF2-40B4-BE49-F238E27FC236}">
                <a16:creationId xmlns:a16="http://schemas.microsoft.com/office/drawing/2014/main" id="{C22D324E-9C45-BE3D-AC87-1C7CB2246B69}"/>
              </a:ext>
            </a:extLst>
          </p:cNvPr>
          <p:cNvGrpSpPr/>
          <p:nvPr/>
        </p:nvGrpSpPr>
        <p:grpSpPr>
          <a:xfrm>
            <a:off x="547490" y="5273204"/>
            <a:ext cx="267623" cy="263292"/>
            <a:chOff x="547490" y="3808711"/>
            <a:chExt cx="267623" cy="263292"/>
          </a:xfrm>
        </p:grpSpPr>
        <p:sp>
          <p:nvSpPr>
            <p:cNvPr id="119" name="Shape 24">
              <a:extLst>
                <a:ext uri="{FF2B5EF4-FFF2-40B4-BE49-F238E27FC236}">
                  <a16:creationId xmlns:a16="http://schemas.microsoft.com/office/drawing/2014/main" id="{A6F89B05-1F4E-A707-F18D-34F9B0BC6351}"/>
                </a:ext>
              </a:extLst>
            </p:cNvPr>
            <p:cNvSpPr/>
            <p:nvPr/>
          </p:nvSpPr>
          <p:spPr>
            <a:xfrm>
              <a:off x="547490" y="3808711"/>
              <a:ext cx="267623" cy="263292"/>
            </a:xfrm>
            <a:prstGeom prst="ellipse">
              <a:avLst/>
            </a:prstGeom>
            <a:solidFill>
              <a:srgbClr val="008000"/>
            </a:solidFill>
            <a:ln/>
          </p:spPr>
          <p:txBody>
            <a:bodyPr/>
            <a:lstStyle/>
            <a:p>
              <a:endParaRPr lang="ja-JP" altLang="en-US" dirty="0"/>
            </a:p>
          </p:txBody>
        </p:sp>
        <p:pic>
          <p:nvPicPr>
            <p:cNvPr id="120" name="Image 1" descr="preencoded.png">
              <a:extLst>
                <a:ext uri="{FF2B5EF4-FFF2-40B4-BE49-F238E27FC236}">
                  <a16:creationId xmlns:a16="http://schemas.microsoft.com/office/drawing/2014/main" id="{4B470869-A52F-18B7-DB07-BBA3B8089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8663" y="3867513"/>
              <a:ext cx="191881" cy="1489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1038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f547d190-3668-41f7-8510-759a08b5278f"/>
</p:tagLst>
</file>

<file path=ppt/theme/theme1.xml><?xml version="1.0" encoding="utf-8"?>
<a:theme xmlns:a="http://schemas.openxmlformats.org/drawingml/2006/main" name="Office テーマ">
  <a:themeElements>
    <a:clrScheme name="ユーザー定義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008D2E"/>
      </a:accent5>
      <a:accent6>
        <a:srgbClr val="70AD47"/>
      </a:accent6>
      <a:hlink>
        <a:srgbClr val="0563C1"/>
      </a:hlink>
      <a:folHlink>
        <a:srgbClr val="954F72"/>
      </a:folHlink>
    </a:clrScheme>
    <a:fontScheme name="Meiryo UI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 w="3175">
          <a:noFill/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smtClean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プレゼンテーション1" id="{C55E6A12-3EF5-4C74-A9A5-996A9174E5AC}" vid="{AED920B8-8640-468C-970B-65DAA56A6812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67F58365028D544AA740988642801B7" ma:contentTypeVersion="4" ma:contentTypeDescription="新しいドキュメントを作成します。" ma:contentTypeScope="" ma:versionID="bc76c07572b860ace8224c0271b6bb96">
  <xsd:schema xmlns:xsd="http://www.w3.org/2001/XMLSchema" xmlns:xs="http://www.w3.org/2001/XMLSchema" xmlns:p="http://schemas.microsoft.com/office/2006/metadata/properties" xmlns:ns2="8c1c9407-4680-4b4c-ac14-d1d287827f86" targetNamespace="http://schemas.microsoft.com/office/2006/metadata/properties" ma:root="true" ma:fieldsID="47583ab8e31be7e5044b872c9e9c7599" ns2:_="">
    <xsd:import namespace="8c1c9407-4680-4b4c-ac14-d1d287827f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1c9407-4680-4b4c-ac14-d1d287827f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0A7C669-CC4B-4827-97C7-09376F99CD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CB0E288-7022-488F-A212-4A370D1C7B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1c9407-4680-4b4c-ac14-d1d287827f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8FA6147-ADCB-432E-B533-0080162DBFA4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074f2a35-8cc4-4ad1-b0b6-60fb064ecec5"/>
    <ds:schemaRef ds:uri="http://purl.org/dc/elements/1.1/"/>
    <ds:schemaRef ds:uri="http://schemas.microsoft.com/office/2006/metadata/properties"/>
    <ds:schemaRef ds:uri="5a302c2d-1787-4a6f-b546-2016f8a66a26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20241120_パワポテンプレ</Template>
  <TotalTime>4066</TotalTime>
  <Words>1601</Words>
  <Application>Microsoft Office PowerPoint</Application>
  <PresentationFormat>ワイド画面</PresentationFormat>
  <Paragraphs>170</Paragraphs>
  <Slides>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Meiryo UI</vt:lpstr>
      <vt:lpstr>Meiryo</vt:lpstr>
      <vt:lpstr>Arial</vt:lpstr>
      <vt:lpstr>Calibri</vt:lpstr>
      <vt:lpstr>Wingdings</vt:lpstr>
      <vt:lpstr>Office テーマ</vt:lpstr>
      <vt:lpstr>フィードバック</vt:lpstr>
      <vt:lpstr>提案評価 採点シートSSBJ対応 要求定義支援ベンダー選定</vt:lpstr>
      <vt:lpstr>採点表</vt:lpstr>
    </vt:vector>
  </TitlesOfParts>
  <Company>lion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本日の目的</dc:title>
  <dc:creator>菊池;智裕</dc:creator>
  <cp:lastModifiedBy>菊池　智裕</cp:lastModifiedBy>
  <cp:revision>42</cp:revision>
  <dcterms:created xsi:type="dcterms:W3CDTF">2024-12-27T03:42:11Z</dcterms:created>
  <dcterms:modified xsi:type="dcterms:W3CDTF">2026-09-06T11:22:53Z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0x010100667F58365028D544AA740988642801B7</vt:lpwstr>
  </property>
</Properties>
</file>