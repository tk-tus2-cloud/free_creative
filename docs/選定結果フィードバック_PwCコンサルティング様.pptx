
<file path=[Content_Types].xml><?xml version="1.0" encoding="utf-8"?>
<Types xmlns="http://schemas.openxmlformats.org/package/2006/content-types">
  <Default Extension="xml" ContentType="application/xml"/>
  <Default Extension="rels" ContentType="application/vnd.openxmlformats-package.relationships+xml"/>
  <Default Extension="jpeg" ContentType="image/jpeg"/>
  <Default Extension="jpg" ContentType="image/jpg"/>
  <Default Extension="svg" ContentType="image/svg+xml"/>
  <Default Extension="png" ContentType="image/png"/>
  <Default Extension="gif" ContentType="image/gif"/>
  <Default Extension="m4v" ContentType="video/mp4"/>
  <Default Extension="mp4" ContentType="video/mp4"/>
  <Default Extension="vml" ContentType="application/vnd.openxmlformats-officedocument.vmlDrawing"/>
  <Default Extension="xlsx" ContentType="application/vnd.openxmlformats-officedocument.spreadsheetml.sheet"/>
  <Override PartName="/ppt/presentation.xml" ContentType="application/vnd.openxmlformats-officedocument.presentationml.presentation.main+xml"/>
  <Override PartName="/ppt/notesMasters/notesMaster1.xml" ContentType="application/vnd.openxmlformats-officedocument.presentationml.notesMaster+xml"/>
  <Override PartName="/ppt/slideMasters/slideMaster1.xml" ContentType="application/vnd.openxmlformats-officedocument.presentationml.slideMaster+xml"/>
  <Override PartName="/ppt/slides/slide1.xml" ContentType="application/vnd.openxmlformats-officedocument.presentationml.slide+xml"/>
  <Override PartName="/ppt/slideMasters/slideMaster2.xml" ContentType="application/vnd.openxmlformats-officedocument.presentationml.slideMaster+xml"/>
  <Override PartName="/ppt/slides/slide2.xml" ContentType="application/vnd.openxmlformats-officedocument.presentationml.slide+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notesSlides/notesSlide1.xml" ContentType="application/vnd.openxmlformats-officedocument.presentationml.notesSlide+xml"/>
  <Override PartName="/ppt/notesSlides/notesSlide2.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
		<Relationship Id="rId1" Type="http://schemas.openxmlformats.org/officeDocument/2006/relationships/extended-properties" Target="docProps/app.xml"/>
		<Relationship Id="rId2" Type="http://schemas.openxmlformats.org/package/2006/relationships/metadata/core-properties" Target="docProps/core.xml"/>
		<Relationship Id="rId3" Type="http://schemas.openxmlformats.org/officeDocument/2006/relationships/officeDocument" Target="ppt/presentation.xml"/>
		</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2"/>
    <p:sldId id="257" r:id="rId3"/>
  </p:sldIdLst>
  <p:notesMasterIdLst>
    <p:notesMasterId r:id="rId4"/>
  </p:notesMasterIdLst>
  <p:sldSz cx="12192000" cy="6858000"/>
  <p:notesSz cx="6858000" cy="12192000"/>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5611"/>
    <p:restoredTop sz="94610"/>
  </p:normalViewPr>
  <p:slideViewPr>
    <p:cSldViewPr snapToGrid="0" snapToObjects="1">
      <p:cViewPr varScale="1">
        <p:scale>
          <a:sx n="136" d="100"/>
          <a:sy n="136" d="100"/>
        </p:scale>
        <p:origin x="216" y="312"/>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slide" Target="slides/slide2.xml"/><Relationship Id="rId4" Type="http://schemas.openxmlformats.org/officeDocument/2006/relationships/notesMaster" Target="notesMasters/notesMaster1.xml"/><Relationship Id="rId5" Type="http://schemas.openxmlformats.org/officeDocument/2006/relationships/presProps" Target="presProps.xml"/><Relationship Id="rId6" Type="http://schemas.openxmlformats.org/officeDocument/2006/relationships/viewProps" Target="viewProps.xml"/><Relationship Id="rId7" Type="http://schemas.openxmlformats.org/officeDocument/2006/relationships/theme" Target="theme/theme1.xml"/><Relationship Id="rId8" Type="http://schemas.openxmlformats.org/officeDocument/2006/relationships/tableStyles" Target="tableStyles.xml"/></Relationships>
</file>

<file path=ppt/notesMasters/_rels/notesMaster1.xml.rels><?xml version="1.0" encoding="UTF-8" standalone="yes"?>
<Relationships xmlns="http://schemas.openxmlformats.org/package/2006/relationships">
		<Relationship Id="rId1" Type="http://schemas.openxmlformats.org/officeDocument/2006/relationships/theme" Target="../theme/theme1.xml"/>
		</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5282F153-3F37-0F45-9E97-73ACFA13230C}" type="datetimeFigureOut">
              <a:rPr lang="en-US"/>
              <a:t>7/23/19</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CE5E9CC1-C706-0F49-92D6-E571CC5EEA8F}" type="slidenum">
              <a:rPr lang="en-US"/>
              <a:t>‹#›</a:t>
            </a:fld>
            <a:endParaRPr lang="en-US"/>
          </a:p>
        </p:txBody>
      </p:sp>
    </p:spTree>
    <p:extLst>
      <p:ext uri="{BB962C8B-B14F-4D97-AF65-F5344CB8AC3E}">
        <p14:creationId xmlns:p14="http://schemas.microsoft.com/office/powerpoint/2010/main" val="1024086991"/>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xml"/>
		</Relationships>
</file>

<file path=ppt/notesSlides/_rels/notesSlide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xml"/>
		</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a:t>
            </a:fld>
            <a:endParaRPr lang="en-US"/>
          </a:p>
        </p:txBody>
      </p:sp>
    </p:spTree>
    <p:extLst>
      <p:ext uri="{BB962C8B-B14F-4D97-AF65-F5344CB8AC3E}">
        <p14:creationId xmlns:p14="http://schemas.microsoft.com/office/powerpoint/2010/main" val="1024086991"/>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Tree>
  </p:cSld>
  <p:clrMap bg1="lt1" tx1="dk1" bg2="lt2" tx2="dk2" accent1="accent1" accent2="accent2" accent3="accent3" accent4="accent4" accent5="accent5" accent6="accent6" hlink="hlink" folHlink="folHlink"/>
  <p:sldLayoutIdLst>
    <p:sldLayoutId id="2147483649" r:id="rId1"/>
  </p:sldLayoutIdLst>
  <p:hf sldNum="0" hdr="0" ftr="0" dt="0"/>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image" Target="../media/image-1-1.png"/><Relationship Id="rId2" Type="http://schemas.openxmlformats.org/officeDocument/2006/relationships/image" Target="../media/image-1-2.png"/><Relationship Id="rId3" Type="http://schemas.openxmlformats.org/officeDocument/2006/relationships/image" Target="../media/image-1-3.png"/><Relationship Id="rId4" Type="http://schemas.openxmlformats.org/officeDocument/2006/relationships/image" Target="../media/image-1-4.png"/><Relationship Id="rId5" Type="http://schemas.openxmlformats.org/officeDocument/2006/relationships/image" Target="../media/image-1-5.png"/><Relationship Id="rId6" Type="http://schemas.openxmlformats.org/officeDocument/2006/relationships/slideLayout" Target="../slideLayouts/slideLayout1.xml"/><Relationship Id="rId7"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image" Target="../media/image-2-1.png"/><Relationship Id="rId2" Type="http://schemas.openxmlformats.org/officeDocument/2006/relationships/image" Target="../media/image-2-2.png"/><Relationship Id="rId3" Type="http://schemas.openxmlformats.org/officeDocument/2006/relationships/image" Target="../media/image-2-3.png"/><Relationship Id="rId4" Type="http://schemas.openxmlformats.org/officeDocument/2006/relationships/image" Target="../media/image-2-4.png"/><Relationship Id="rId5" Type="http://schemas.openxmlformats.org/officeDocument/2006/relationships/image" Target="../media/image-2-5.png"/><Relationship Id="rId6" Type="http://schemas.openxmlformats.org/officeDocument/2006/relationships/slideLayout" Target="../slideLayouts/slideLayout1.xml"/><Relationship Id="rId7" Type="http://schemas.openxmlformats.org/officeDocument/2006/relationships/notesSlide" Target="../notesSlides/notesSlide2.xml"/></Relationships>
</file>

<file path=ppt/slides/slide1.xml><?xml version="1.0" encoding="utf-8"?>
<p:sld xmlns:a="http://schemas.openxmlformats.org/drawingml/2006/main" xmlns:r="http://schemas.openxmlformats.org/officeDocument/2006/relationships" xmlns:p="http://schemas.openxmlformats.org/presentationml/2006/main">
  <p:cSld name="Slide 1">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502920" y="256032"/>
            <a:ext cx="8778240" cy="502920"/>
          </a:xfrm>
          <a:prstGeom prst="rect">
            <a:avLst/>
          </a:prstGeom>
          <a:noFill/>
          <a:ln/>
        </p:spPr>
        <p:txBody>
          <a:bodyPr wrap="square" lIns="0" tIns="0" rIns="0" bIns="0" rtlCol="0" anchor="ctr"/>
          <a:lstStyle/>
          <a:p>
            <a:pPr indent="0" marL="0">
              <a:buNone/>
            </a:pPr>
            <a:r>
              <a:rPr lang="en-US" sz="2400" b="1" dirty="0">
                <a:solidFill>
                  <a:srgbClr val="1F3864"/>
                </a:solidFill>
                <a:latin typeface="Meiryo" pitchFamily="34" charset="0"/>
                <a:ea typeface="Meiryo" pitchFamily="34" charset="-122"/>
                <a:cs typeface="Meiryo" pitchFamily="34" charset="-120"/>
              </a:rPr>
              <a:t>PwCコンサルティング様 選定結果フィードバック (1/2)</a:t>
            </a:r>
            <a:endParaRPr lang="en-US" sz="2400" dirty="0"/>
          </a:p>
        </p:txBody>
      </p:sp>
      <p:sp>
        <p:nvSpPr>
          <p:cNvPr id="3" name="Text 1"/>
          <p:cNvSpPr txBox="1"/>
          <p:nvPr/>
        </p:nvSpPr>
        <p:spPr>
          <a:xfrm>
            <a:off x="9281160" y="256032"/>
            <a:ext cx="2395728" cy="502920"/>
          </a:xfrm>
          <a:prstGeom prst="rect">
            <a:avLst/>
          </a:prstGeom>
          <a:noFill/>
          <a:ln/>
        </p:spPr>
        <p:txBody>
          <a:bodyPr wrap="square" lIns="0" tIns="0" rIns="0" bIns="0" rtlCol="0" anchor="ctr"/>
          <a:lstStyle/>
          <a:p>
            <a:pPr algn="r" indent="0" marL="0">
              <a:buNone/>
            </a:pPr>
            <a:r>
              <a:rPr lang="en-US" sz="900" dirty="0">
                <a:solidFill>
                  <a:srgbClr val="6B7280"/>
                </a:solidFill>
                <a:latin typeface="Meiryo" pitchFamily="34" charset="0"/>
                <a:ea typeface="Meiryo" pitchFamily="34" charset="-122"/>
                <a:cs typeface="Meiryo" pitchFamily="34" charset="-120"/>
              </a:rPr>
              <a:t>2026年8月</a:t>
            </a:r>
            <a:endParaRPr lang="en-US" sz="900" dirty="0"/>
          </a:p>
          <a:p>
            <a:pPr algn="r" indent="0" marL="0">
              <a:buNone/>
            </a:pPr>
            <a:r>
              <a:rPr lang="en-US" sz="900" dirty="0">
                <a:solidFill>
                  <a:srgbClr val="6B7280"/>
                </a:solidFill>
                <a:latin typeface="Meiryo" pitchFamily="34" charset="0"/>
                <a:ea typeface="Meiryo" pitchFamily="34" charset="-122"/>
                <a:cs typeface="Meiryo" pitchFamily="34" charset="-120"/>
              </a:rPr>
              <a:t>ライオン株式会社 SSBJ対応PJT</a:t>
            </a:r>
            <a:endParaRPr lang="en-US" sz="900" dirty="0"/>
          </a:p>
        </p:txBody>
      </p:sp>
      <p:sp>
        <p:nvSpPr>
          <p:cNvPr id="4" name="Shape 2"/>
          <p:cNvSpPr/>
          <p:nvPr/>
        </p:nvSpPr>
        <p:spPr>
          <a:xfrm>
            <a:off x="502920" y="896112"/>
            <a:ext cx="11183112" cy="713232"/>
          </a:xfrm>
          <a:prstGeom prst="roundRect">
            <a:avLst>
              <a:gd name="adj" fmla="val 7692"/>
            </a:avLst>
          </a:prstGeom>
          <a:solidFill>
            <a:srgbClr val="EAF1FA"/>
          </a:solidFill>
          <a:ln/>
        </p:spPr>
      </p:sp>
      <p:sp>
        <p:nvSpPr>
          <p:cNvPr id="5" name="Text 3"/>
          <p:cNvSpPr txBox="1"/>
          <p:nvPr/>
        </p:nvSpPr>
        <p:spPr>
          <a:xfrm>
            <a:off x="685800" y="896112"/>
            <a:ext cx="10835640" cy="713232"/>
          </a:xfrm>
          <a:prstGeom prst="rect">
            <a:avLst/>
          </a:prstGeom>
          <a:noFill/>
          <a:ln/>
        </p:spPr>
        <p:txBody>
          <a:bodyPr wrap="square" lIns="0" tIns="0" rIns="0" bIns="0" rtlCol="0" anchor="ctr"/>
          <a:lstStyle/>
          <a:p>
            <a:pPr indent="0" marL="0">
              <a:buNone/>
            </a:pPr>
            <a:r>
              <a:rPr lang="en-US" sz="1100" b="1" dirty="0">
                <a:solidFill>
                  <a:srgbClr val="16294A"/>
                </a:solidFill>
                <a:latin typeface="Meiryo" pitchFamily="34" charset="0"/>
                <a:ea typeface="Meiryo" pitchFamily="34" charset="-122"/>
                <a:cs typeface="Meiryo" pitchFamily="34" charset="-120"/>
              </a:rPr>
              <a:t>SSBJ対応プラットフォーム構築に向けた要求定義支援のご提案につきまして、弊社評価者4名による厳正な審査の結果、誠に残念ながら今回はご契約を見送らせていただくこととなりました。審査の観点と評価内容を、今後のご参考としてお伝え申し上げます。</a:t>
            </a:r>
            <a:endParaRPr lang="en-US" sz="1100" dirty="0"/>
          </a:p>
        </p:txBody>
      </p:sp>
      <p:sp>
        <p:nvSpPr>
          <p:cNvPr id="6" name="Shape 4"/>
          <p:cNvSpPr/>
          <p:nvPr/>
        </p:nvSpPr>
        <p:spPr>
          <a:xfrm>
            <a:off x="502920" y="1810512"/>
            <a:ext cx="310896" cy="310896"/>
          </a:xfrm>
          <a:prstGeom prst="ellipse">
            <a:avLst/>
          </a:prstGeom>
          <a:solidFill>
            <a:srgbClr val="1F3864"/>
          </a:solidFill>
          <a:ln/>
        </p:spPr>
      </p:sp>
      <p:pic>
        <p:nvPicPr>
          <p:cNvPr id="7" name="Image 0" descr="preencoded.png">    </p:cNvPr>
          <p:cNvPicPr>
            <a:picLocks noChangeAspect="1"/>
          </p:cNvPicPr>
          <p:nvPr/>
        </p:nvPicPr>
        <p:blipFill>
          <a:blip r:embed="rId1"/>
          <a:stretch>
            <a:fillRect/>
          </a:stretch>
        </p:blipFill>
        <p:spPr>
          <a:xfrm>
            <a:off x="571500" y="1879092"/>
            <a:ext cx="173736" cy="173736"/>
          </a:xfrm>
          <a:prstGeom prst="rect">
            <a:avLst/>
          </a:prstGeom>
        </p:spPr>
      </p:pic>
      <p:sp>
        <p:nvSpPr>
          <p:cNvPr id="8" name="Text 5"/>
          <p:cNvSpPr txBox="1"/>
          <p:nvPr/>
        </p:nvSpPr>
        <p:spPr>
          <a:xfrm>
            <a:off x="914400" y="1783080"/>
            <a:ext cx="5029200" cy="365760"/>
          </a:xfrm>
          <a:prstGeom prst="rect">
            <a:avLst/>
          </a:prstGeom>
          <a:noFill/>
          <a:ln/>
        </p:spPr>
        <p:txBody>
          <a:bodyPr wrap="square" lIns="0" tIns="0" rIns="0" bIns="0" rtlCol="0" anchor="ctr"/>
          <a:lstStyle/>
          <a:p>
            <a:pPr indent="0" marL="0">
              <a:buNone/>
            </a:pPr>
            <a:r>
              <a:rPr lang="en-US" sz="1450" b="1" dirty="0">
                <a:solidFill>
                  <a:srgbClr val="1F3864"/>
                </a:solidFill>
                <a:latin typeface="Meiryo" pitchFamily="34" charset="0"/>
                <a:ea typeface="Meiryo" pitchFamily="34" charset="-122"/>
                <a:cs typeface="Meiryo" pitchFamily="34" charset="-120"/>
              </a:rPr>
              <a:t>総括</a:t>
            </a:r>
            <a:endParaRPr lang="en-US" sz="1450" dirty="0"/>
          </a:p>
        </p:txBody>
      </p:sp>
      <p:sp>
        <p:nvSpPr>
          <p:cNvPr id="9" name="Text 6"/>
          <p:cNvSpPr txBox="1"/>
          <p:nvPr/>
        </p:nvSpPr>
        <p:spPr>
          <a:xfrm>
            <a:off x="502920" y="2240280"/>
            <a:ext cx="5989320" cy="1920240"/>
          </a:xfrm>
          <a:prstGeom prst="rect">
            <a:avLst/>
          </a:prstGeom>
          <a:noFill/>
          <a:ln/>
        </p:spPr>
        <p:txBody>
          <a:bodyPr wrap="square" lIns="0" tIns="0" rIns="0" bIns="0" rtlCol="0" anchor="t"/>
          <a:lstStyle/>
          <a:p>
            <a:pPr indent="0" marL="0">
              <a:lnSpc>
                <a:spcPct val="112000"/>
              </a:lnSpc>
              <a:spcAft>
                <a:spcPts val="700"/>
              </a:spcAft>
              <a:buNone/>
            </a:pPr>
            <a:r>
              <a:rPr lang="en-US" sz="1060" dirty="0">
                <a:solidFill>
                  <a:srgbClr val="26303B"/>
                </a:solidFill>
                <a:latin typeface="Meiryo" pitchFamily="34" charset="0"/>
                <a:ea typeface="Meiryo" pitchFamily="34" charset="-122"/>
                <a:cs typeface="Meiryo" pitchFamily="34" charset="-120"/>
              </a:rPr>
              <a:t>このたびは、限られた期間の中で弊社の依頼書を丁寧に読み解き、複数案を含む充実したご提案をお寄せいただき、誠にありがとうございました。</a:t>
            </a:r>
            <a:endParaRPr lang="en-US" sz="1060" dirty="0"/>
          </a:p>
          <a:p>
            <a:pPr indent="0" marL="0">
              <a:lnSpc>
                <a:spcPct val="112000"/>
              </a:lnSpc>
              <a:spcAft>
                <a:spcPts val="700"/>
              </a:spcAft>
              <a:buNone/>
            </a:pPr>
            <a:r>
              <a:rPr lang="en-US" sz="1060" dirty="0">
                <a:solidFill>
                  <a:srgbClr val="26303B"/>
                </a:solidFill>
                <a:latin typeface="Meiryo" pitchFamily="34" charset="0"/>
                <a:ea typeface="Meiryo" pitchFamily="34" charset="-122"/>
                <a:cs typeface="Meiryo" pitchFamily="34" charset="-120"/>
              </a:rPr>
              <a:t>弊社では、品質（Quality・50点）・コスト（Cost・23点）・納期（Delivery・27点）の3カテゴリ14項目からなる採点表を用い、評価者4名の合議により3社のご提案を厳正に審査いたしました。</a:t>
            </a:r>
            <a:endParaRPr lang="en-US" sz="1060" dirty="0"/>
          </a:p>
          <a:p>
            <a:pPr indent="0" marL="0">
              <a:lnSpc>
                <a:spcPct val="112000"/>
              </a:lnSpc>
              <a:buNone/>
            </a:pPr>
            <a:r>
              <a:rPr lang="en-US" sz="1060" dirty="0">
                <a:solidFill>
                  <a:srgbClr val="26303B"/>
                </a:solidFill>
                <a:latin typeface="Meiryo" pitchFamily="34" charset="0"/>
                <a:ea typeface="Meiryo" pitchFamily="34" charset="-122"/>
                <a:cs typeface="Meiryo" pitchFamily="34" charset="-120"/>
              </a:rPr>
              <a:t>貴社のご提案は総合評価で第2位と、選定社と僅差の高い評価でした。しかしながら、最終的に他社のご提案が弊社の要件により適合すると判断し、今回は見送りとさせていただく結論にいたりました。何卒ご理解賜りますようお願い申し上げます。</a:t>
            </a:r>
            <a:endParaRPr lang="en-US" sz="1060" dirty="0"/>
          </a:p>
        </p:txBody>
      </p:sp>
      <p:sp>
        <p:nvSpPr>
          <p:cNvPr id="10" name="Shape 7"/>
          <p:cNvSpPr/>
          <p:nvPr/>
        </p:nvSpPr>
        <p:spPr>
          <a:xfrm>
            <a:off x="6812280" y="1737360"/>
            <a:ext cx="4873752" cy="2395728"/>
          </a:xfrm>
          <a:prstGeom prst="roundRect">
            <a:avLst>
              <a:gd name="adj" fmla="val 3053"/>
            </a:avLst>
          </a:prstGeom>
          <a:solidFill>
            <a:srgbClr val="F5F8FD"/>
          </a:solidFill>
          <a:ln/>
          <a:effectLst>
            <a:outerShdw sx="100000" sy="100000" kx="0" ky="0" algn="bl" rotWithShape="0" blurRad="76200" dist="25400" dir="5400000">
              <a:srgbClr val="9AA7BC">
                <a:alpha val="28000"/>
              </a:srgbClr>
            </a:outerShdw>
          </a:effectLst>
        </p:spPr>
      </p:sp>
      <p:sp>
        <p:nvSpPr>
          <p:cNvPr id="11" name="Text 8"/>
          <p:cNvSpPr txBox="1"/>
          <p:nvPr/>
        </p:nvSpPr>
        <p:spPr>
          <a:xfrm>
            <a:off x="7013448" y="1847088"/>
            <a:ext cx="4471416" cy="274320"/>
          </a:xfrm>
          <a:prstGeom prst="rect">
            <a:avLst/>
          </a:prstGeom>
          <a:noFill/>
          <a:ln/>
        </p:spPr>
        <p:txBody>
          <a:bodyPr wrap="square" lIns="0" tIns="0" rIns="0" bIns="0" rtlCol="0" anchor="ctr"/>
          <a:lstStyle/>
          <a:p>
            <a:pPr indent="0" marL="0">
              <a:buNone/>
            </a:pPr>
            <a:r>
              <a:rPr lang="en-US" sz="1050" b="1" dirty="0">
                <a:solidFill>
                  <a:srgbClr val="1F3864"/>
                </a:solidFill>
                <a:latin typeface="Meiryo" pitchFamily="34" charset="0"/>
                <a:ea typeface="Meiryo" pitchFamily="34" charset="-122"/>
                <a:cs typeface="Meiryo" pitchFamily="34" charset="-120"/>
              </a:rPr>
              <a:t>貴社評価サマリー（弊社採点表・評価者4名平均）</a:t>
            </a:r>
            <a:endParaRPr lang="en-US" sz="1050" dirty="0"/>
          </a:p>
        </p:txBody>
      </p:sp>
      <p:sp>
        <p:nvSpPr>
          <p:cNvPr id="12" name="Text 9"/>
          <p:cNvSpPr txBox="1"/>
          <p:nvPr/>
        </p:nvSpPr>
        <p:spPr>
          <a:xfrm>
            <a:off x="7013448" y="2121408"/>
            <a:ext cx="2743200" cy="658368"/>
          </a:xfrm>
          <a:prstGeom prst="rect">
            <a:avLst/>
          </a:prstGeom>
          <a:noFill/>
          <a:ln/>
        </p:spPr>
        <p:txBody>
          <a:bodyPr wrap="square" lIns="0" tIns="0" rIns="0" bIns="0" rtlCol="0" anchor="ctr"/>
          <a:lstStyle/>
          <a:p>
            <a:pPr indent="0" marL="0">
              <a:buNone/>
            </a:pPr>
            <a:r>
              <a:rPr lang="en-US" sz="3600" b="1" dirty="0">
                <a:solidFill>
                  <a:srgbClr val="1F3864"/>
                </a:solidFill>
                <a:latin typeface="Meiryo" pitchFamily="34" charset="0"/>
                <a:ea typeface="Meiryo" pitchFamily="34" charset="-122"/>
                <a:cs typeface="Meiryo" pitchFamily="34" charset="-120"/>
              </a:rPr>
              <a:t>66.6</a:t>
            </a:r>
            <a:pPr indent="0" marL="0">
              <a:buNone/>
            </a:pPr>
            <a:r>
              <a:rPr lang="en-US" sz="1200" b="1" dirty="0">
                <a:solidFill>
                  <a:srgbClr val="6B7280"/>
                </a:solidFill>
                <a:latin typeface="Meiryo" pitchFamily="34" charset="0"/>
                <a:ea typeface="Meiryo" pitchFamily="34" charset="-122"/>
                <a:cs typeface="Meiryo" pitchFamily="34" charset="-120"/>
              </a:rPr>
              <a:t>  / 100点</a:t>
            </a:r>
            <a:endParaRPr lang="en-US" sz="3600" dirty="0"/>
          </a:p>
        </p:txBody>
      </p:sp>
      <p:sp>
        <p:nvSpPr>
          <p:cNvPr id="13" name="Shape 10"/>
          <p:cNvSpPr/>
          <p:nvPr/>
        </p:nvSpPr>
        <p:spPr>
          <a:xfrm>
            <a:off x="9692640" y="2286000"/>
            <a:ext cx="1783080" cy="384048"/>
          </a:xfrm>
          <a:prstGeom prst="roundRect">
            <a:avLst>
              <a:gd name="adj" fmla="val 50000"/>
            </a:avLst>
          </a:prstGeom>
          <a:solidFill>
            <a:srgbClr val="1F3864"/>
          </a:solidFill>
          <a:ln/>
        </p:spPr>
      </p:sp>
      <p:sp>
        <p:nvSpPr>
          <p:cNvPr id="14" name="Text 11"/>
          <p:cNvSpPr txBox="1"/>
          <p:nvPr/>
        </p:nvSpPr>
        <p:spPr>
          <a:xfrm>
            <a:off x="9692640" y="2286000"/>
            <a:ext cx="1783080" cy="384048"/>
          </a:xfrm>
          <a:prstGeom prst="rect">
            <a:avLst/>
          </a:prstGeom>
          <a:noFill/>
          <a:ln/>
        </p:spPr>
        <p:txBody>
          <a:bodyPr wrap="square" lIns="0" tIns="0" rIns="0" bIns="0" rtlCol="0" anchor="ctr"/>
          <a:lstStyle/>
          <a:p>
            <a:pPr algn="ctr" indent="0" marL="0">
              <a:buNone/>
            </a:pPr>
            <a:r>
              <a:rPr lang="en-US" sz="1150" b="1" dirty="0">
                <a:solidFill>
                  <a:srgbClr val="FFFFFF"/>
                </a:solidFill>
                <a:latin typeface="Meiryo" pitchFamily="34" charset="0"/>
                <a:ea typeface="Meiryo" pitchFamily="34" charset="-122"/>
                <a:cs typeface="Meiryo" pitchFamily="34" charset="-120"/>
              </a:rPr>
              <a:t>総合第2位</a:t>
            </a:r>
            <a:endParaRPr lang="en-US" sz="1150" dirty="0"/>
          </a:p>
        </p:txBody>
      </p:sp>
      <p:sp>
        <p:nvSpPr>
          <p:cNvPr id="15" name="Text 12"/>
          <p:cNvSpPr txBox="1"/>
          <p:nvPr/>
        </p:nvSpPr>
        <p:spPr>
          <a:xfrm>
            <a:off x="7013448" y="2898648"/>
            <a:ext cx="1965960" cy="274320"/>
          </a:xfrm>
          <a:prstGeom prst="rect">
            <a:avLst/>
          </a:prstGeom>
          <a:noFill/>
          <a:ln/>
        </p:spPr>
        <p:txBody>
          <a:bodyPr wrap="square" lIns="0" tIns="0" rIns="0" bIns="0" rtlCol="0" anchor="ctr"/>
          <a:lstStyle/>
          <a:p>
            <a:pPr indent="0" marL="0">
              <a:buNone/>
            </a:pPr>
            <a:r>
              <a:rPr lang="en-US" sz="950" b="1" dirty="0">
                <a:solidFill>
                  <a:srgbClr val="26303B"/>
                </a:solidFill>
                <a:latin typeface="Meiryo" pitchFamily="34" charset="0"/>
                <a:ea typeface="Meiryo" pitchFamily="34" charset="-122"/>
                <a:cs typeface="Meiryo" pitchFamily="34" charset="-120"/>
              </a:rPr>
              <a:t>品質 Quality</a:t>
            </a:r>
            <a:endParaRPr lang="en-US" sz="950" dirty="0"/>
          </a:p>
        </p:txBody>
      </p:sp>
      <p:sp>
        <p:nvSpPr>
          <p:cNvPr id="16" name="Shape 13"/>
          <p:cNvSpPr/>
          <p:nvPr/>
        </p:nvSpPr>
        <p:spPr>
          <a:xfrm>
            <a:off x="9025128" y="2958084"/>
            <a:ext cx="1591056" cy="155448"/>
          </a:xfrm>
          <a:prstGeom prst="roundRect">
            <a:avLst>
              <a:gd name="adj" fmla="val 29412"/>
            </a:avLst>
          </a:prstGeom>
          <a:solidFill>
            <a:srgbClr val="E3E8F0"/>
          </a:solidFill>
          <a:ln/>
        </p:spPr>
      </p:sp>
      <p:sp>
        <p:nvSpPr>
          <p:cNvPr id="17" name="Shape 14"/>
          <p:cNvSpPr/>
          <p:nvPr/>
        </p:nvSpPr>
        <p:spPr>
          <a:xfrm>
            <a:off x="9025128" y="2958084"/>
            <a:ext cx="1155107" cy="155448"/>
          </a:xfrm>
          <a:prstGeom prst="roundRect">
            <a:avLst>
              <a:gd name="adj" fmla="val 29412"/>
            </a:avLst>
          </a:prstGeom>
          <a:solidFill>
            <a:srgbClr val="1F3864"/>
          </a:solidFill>
          <a:ln/>
        </p:spPr>
      </p:sp>
      <p:sp>
        <p:nvSpPr>
          <p:cNvPr id="18" name="Text 15"/>
          <p:cNvSpPr txBox="1"/>
          <p:nvPr/>
        </p:nvSpPr>
        <p:spPr>
          <a:xfrm>
            <a:off x="10689336" y="2898648"/>
            <a:ext cx="822960" cy="274320"/>
          </a:xfrm>
          <a:prstGeom prst="rect">
            <a:avLst/>
          </a:prstGeom>
          <a:noFill/>
          <a:ln/>
        </p:spPr>
        <p:txBody>
          <a:bodyPr wrap="square" lIns="0" tIns="0" rIns="0" bIns="0" rtlCol="0" anchor="ctr"/>
          <a:lstStyle/>
          <a:p>
            <a:pPr indent="0" marL="0">
              <a:buNone/>
            </a:pPr>
            <a:r>
              <a:rPr lang="en-US" sz="950" b="1" dirty="0">
                <a:solidFill>
                  <a:srgbClr val="1F3864"/>
                </a:solidFill>
                <a:latin typeface="Meiryo" pitchFamily="34" charset="0"/>
                <a:ea typeface="Meiryo" pitchFamily="34" charset="-122"/>
                <a:cs typeface="Meiryo" pitchFamily="34" charset="-120"/>
              </a:rPr>
              <a:t>36.3 / 50</a:t>
            </a:r>
            <a:endParaRPr lang="en-US" sz="950" dirty="0"/>
          </a:p>
        </p:txBody>
      </p:sp>
      <p:sp>
        <p:nvSpPr>
          <p:cNvPr id="19" name="Text 16"/>
          <p:cNvSpPr txBox="1"/>
          <p:nvPr/>
        </p:nvSpPr>
        <p:spPr>
          <a:xfrm>
            <a:off x="7013448" y="3264408"/>
            <a:ext cx="1965960" cy="274320"/>
          </a:xfrm>
          <a:prstGeom prst="rect">
            <a:avLst/>
          </a:prstGeom>
          <a:noFill/>
          <a:ln/>
        </p:spPr>
        <p:txBody>
          <a:bodyPr wrap="square" lIns="0" tIns="0" rIns="0" bIns="0" rtlCol="0" anchor="ctr"/>
          <a:lstStyle/>
          <a:p>
            <a:pPr indent="0" marL="0">
              <a:buNone/>
            </a:pPr>
            <a:r>
              <a:rPr lang="en-US" sz="950" b="1" dirty="0">
                <a:solidFill>
                  <a:srgbClr val="26303B"/>
                </a:solidFill>
                <a:latin typeface="Meiryo" pitchFamily="34" charset="0"/>
                <a:ea typeface="Meiryo" pitchFamily="34" charset="-122"/>
                <a:cs typeface="Meiryo" pitchFamily="34" charset="-120"/>
              </a:rPr>
              <a:t>コスト Cost</a:t>
            </a:r>
            <a:endParaRPr lang="en-US" sz="950" dirty="0"/>
          </a:p>
        </p:txBody>
      </p:sp>
      <p:sp>
        <p:nvSpPr>
          <p:cNvPr id="20" name="Shape 17"/>
          <p:cNvSpPr/>
          <p:nvPr/>
        </p:nvSpPr>
        <p:spPr>
          <a:xfrm>
            <a:off x="9025128" y="3323844"/>
            <a:ext cx="1591056" cy="155448"/>
          </a:xfrm>
          <a:prstGeom prst="roundRect">
            <a:avLst>
              <a:gd name="adj" fmla="val 29412"/>
            </a:avLst>
          </a:prstGeom>
          <a:solidFill>
            <a:srgbClr val="E3E8F0"/>
          </a:solidFill>
          <a:ln/>
        </p:spPr>
      </p:sp>
      <p:sp>
        <p:nvSpPr>
          <p:cNvPr id="21" name="Shape 18"/>
          <p:cNvSpPr/>
          <p:nvPr/>
        </p:nvSpPr>
        <p:spPr>
          <a:xfrm>
            <a:off x="9025128" y="3323844"/>
            <a:ext cx="1023810" cy="155448"/>
          </a:xfrm>
          <a:prstGeom prst="roundRect">
            <a:avLst>
              <a:gd name="adj" fmla="val 29412"/>
            </a:avLst>
          </a:prstGeom>
          <a:solidFill>
            <a:srgbClr val="1F3864"/>
          </a:solidFill>
          <a:ln/>
        </p:spPr>
      </p:sp>
      <p:sp>
        <p:nvSpPr>
          <p:cNvPr id="22" name="Text 19"/>
          <p:cNvSpPr txBox="1"/>
          <p:nvPr/>
        </p:nvSpPr>
        <p:spPr>
          <a:xfrm>
            <a:off x="10689336" y="3264408"/>
            <a:ext cx="822960" cy="274320"/>
          </a:xfrm>
          <a:prstGeom prst="rect">
            <a:avLst/>
          </a:prstGeom>
          <a:noFill/>
          <a:ln/>
        </p:spPr>
        <p:txBody>
          <a:bodyPr wrap="square" lIns="0" tIns="0" rIns="0" bIns="0" rtlCol="0" anchor="ctr"/>
          <a:lstStyle/>
          <a:p>
            <a:pPr indent="0" marL="0">
              <a:buNone/>
            </a:pPr>
            <a:r>
              <a:rPr lang="en-US" sz="950" b="1" dirty="0">
                <a:solidFill>
                  <a:srgbClr val="1F3864"/>
                </a:solidFill>
                <a:latin typeface="Meiryo" pitchFamily="34" charset="0"/>
                <a:ea typeface="Meiryo" pitchFamily="34" charset="-122"/>
                <a:cs typeface="Meiryo" pitchFamily="34" charset="-120"/>
              </a:rPr>
              <a:t>14.8 / 23</a:t>
            </a:r>
            <a:endParaRPr lang="en-US" sz="950" dirty="0"/>
          </a:p>
        </p:txBody>
      </p:sp>
      <p:sp>
        <p:nvSpPr>
          <p:cNvPr id="23" name="Text 20"/>
          <p:cNvSpPr txBox="1"/>
          <p:nvPr/>
        </p:nvSpPr>
        <p:spPr>
          <a:xfrm>
            <a:off x="7013448" y="3630168"/>
            <a:ext cx="1965960" cy="274320"/>
          </a:xfrm>
          <a:prstGeom prst="rect">
            <a:avLst/>
          </a:prstGeom>
          <a:noFill/>
          <a:ln/>
        </p:spPr>
        <p:txBody>
          <a:bodyPr wrap="square" lIns="0" tIns="0" rIns="0" bIns="0" rtlCol="0" anchor="ctr"/>
          <a:lstStyle/>
          <a:p>
            <a:pPr indent="0" marL="0">
              <a:buNone/>
            </a:pPr>
            <a:r>
              <a:rPr lang="en-US" sz="950" b="1" dirty="0">
                <a:solidFill>
                  <a:srgbClr val="26303B"/>
                </a:solidFill>
                <a:latin typeface="Meiryo" pitchFamily="34" charset="0"/>
                <a:ea typeface="Meiryo" pitchFamily="34" charset="-122"/>
                <a:cs typeface="Meiryo" pitchFamily="34" charset="-120"/>
              </a:rPr>
              <a:t>納期 Delivery</a:t>
            </a:r>
            <a:endParaRPr lang="en-US" sz="950" dirty="0"/>
          </a:p>
        </p:txBody>
      </p:sp>
      <p:sp>
        <p:nvSpPr>
          <p:cNvPr id="24" name="Shape 21"/>
          <p:cNvSpPr/>
          <p:nvPr/>
        </p:nvSpPr>
        <p:spPr>
          <a:xfrm>
            <a:off x="9025128" y="3689604"/>
            <a:ext cx="1591056" cy="155448"/>
          </a:xfrm>
          <a:prstGeom prst="roundRect">
            <a:avLst>
              <a:gd name="adj" fmla="val 29412"/>
            </a:avLst>
          </a:prstGeom>
          <a:solidFill>
            <a:srgbClr val="E3E8F0"/>
          </a:solidFill>
          <a:ln/>
        </p:spPr>
      </p:sp>
      <p:sp>
        <p:nvSpPr>
          <p:cNvPr id="25" name="Shape 22"/>
          <p:cNvSpPr/>
          <p:nvPr/>
        </p:nvSpPr>
        <p:spPr>
          <a:xfrm>
            <a:off x="9025128" y="3689604"/>
            <a:ext cx="919277" cy="155448"/>
          </a:xfrm>
          <a:prstGeom prst="roundRect">
            <a:avLst>
              <a:gd name="adj" fmla="val 29412"/>
            </a:avLst>
          </a:prstGeom>
          <a:solidFill>
            <a:srgbClr val="1F3864"/>
          </a:solidFill>
          <a:ln/>
        </p:spPr>
      </p:sp>
      <p:sp>
        <p:nvSpPr>
          <p:cNvPr id="26" name="Text 23"/>
          <p:cNvSpPr txBox="1"/>
          <p:nvPr/>
        </p:nvSpPr>
        <p:spPr>
          <a:xfrm>
            <a:off x="10689336" y="3630168"/>
            <a:ext cx="822960" cy="274320"/>
          </a:xfrm>
          <a:prstGeom prst="rect">
            <a:avLst/>
          </a:prstGeom>
          <a:noFill/>
          <a:ln/>
        </p:spPr>
        <p:txBody>
          <a:bodyPr wrap="square" lIns="0" tIns="0" rIns="0" bIns="0" rtlCol="0" anchor="ctr"/>
          <a:lstStyle/>
          <a:p>
            <a:pPr indent="0" marL="0">
              <a:buNone/>
            </a:pPr>
            <a:r>
              <a:rPr lang="en-US" sz="950" b="1" dirty="0">
                <a:solidFill>
                  <a:srgbClr val="1F3864"/>
                </a:solidFill>
                <a:latin typeface="Meiryo" pitchFamily="34" charset="0"/>
                <a:ea typeface="Meiryo" pitchFamily="34" charset="-122"/>
                <a:cs typeface="Meiryo" pitchFamily="34" charset="-120"/>
              </a:rPr>
              <a:t>15.6 / 27</a:t>
            </a:r>
            <a:endParaRPr lang="en-US" sz="950" dirty="0"/>
          </a:p>
        </p:txBody>
      </p:sp>
      <p:sp>
        <p:nvSpPr>
          <p:cNvPr id="27" name="Shape 24"/>
          <p:cNvSpPr/>
          <p:nvPr/>
        </p:nvSpPr>
        <p:spPr>
          <a:xfrm>
            <a:off x="502920" y="4370832"/>
            <a:ext cx="310896" cy="310896"/>
          </a:xfrm>
          <a:prstGeom prst="ellipse">
            <a:avLst/>
          </a:prstGeom>
          <a:solidFill>
            <a:srgbClr val="1F3864"/>
          </a:solidFill>
          <a:ln/>
        </p:spPr>
      </p:sp>
      <p:pic>
        <p:nvPicPr>
          <p:cNvPr id="28" name="Image 1" descr="preencoded.png">    </p:cNvPr>
          <p:cNvPicPr>
            <a:picLocks noChangeAspect="1"/>
          </p:cNvPicPr>
          <p:nvPr/>
        </p:nvPicPr>
        <p:blipFill>
          <a:blip r:embed="rId2"/>
          <a:stretch>
            <a:fillRect/>
          </a:stretch>
        </p:blipFill>
        <p:spPr>
          <a:xfrm>
            <a:off x="571500" y="4439412"/>
            <a:ext cx="173736" cy="173736"/>
          </a:xfrm>
          <a:prstGeom prst="rect">
            <a:avLst/>
          </a:prstGeom>
        </p:spPr>
      </p:pic>
      <p:sp>
        <p:nvSpPr>
          <p:cNvPr id="29" name="Text 25"/>
          <p:cNvSpPr txBox="1"/>
          <p:nvPr/>
        </p:nvSpPr>
        <p:spPr>
          <a:xfrm>
            <a:off x="914400" y="4343400"/>
            <a:ext cx="8229600" cy="365760"/>
          </a:xfrm>
          <a:prstGeom prst="rect">
            <a:avLst/>
          </a:prstGeom>
          <a:noFill/>
          <a:ln/>
        </p:spPr>
        <p:txBody>
          <a:bodyPr wrap="square" lIns="0" tIns="0" rIns="0" bIns="0" rtlCol="0" anchor="ctr"/>
          <a:lstStyle/>
          <a:p>
            <a:pPr indent="0" marL="0">
              <a:buNone/>
            </a:pPr>
            <a:r>
              <a:rPr lang="en-US" sz="1450" b="1" dirty="0">
                <a:solidFill>
                  <a:srgbClr val="1F3864"/>
                </a:solidFill>
                <a:latin typeface="Meiryo" pitchFamily="34" charset="0"/>
                <a:ea typeface="Meiryo" pitchFamily="34" charset="-122"/>
                <a:cs typeface="Meiryo" pitchFamily="34" charset="-120"/>
              </a:rPr>
              <a:t>ご提案で高く評価した点</a:t>
            </a:r>
            <a:endParaRPr lang="en-US" sz="1450" dirty="0"/>
          </a:p>
        </p:txBody>
      </p:sp>
      <p:sp>
        <p:nvSpPr>
          <p:cNvPr id="30" name="Shape 26"/>
          <p:cNvSpPr/>
          <p:nvPr/>
        </p:nvSpPr>
        <p:spPr>
          <a:xfrm>
            <a:off x="502920" y="4773168"/>
            <a:ext cx="3639312" cy="1828800"/>
          </a:xfrm>
          <a:prstGeom prst="roundRect">
            <a:avLst>
              <a:gd name="adj" fmla="val 3500"/>
            </a:avLst>
          </a:prstGeom>
          <a:solidFill>
            <a:srgbClr val="F5F8FD"/>
          </a:solidFill>
          <a:ln/>
          <a:effectLst>
            <a:outerShdw sx="100000" sy="100000" kx="0" ky="0" algn="bl" rotWithShape="0" blurRad="76200" dist="25400" dir="5400000">
              <a:srgbClr val="9AA7BC">
                <a:alpha val="28000"/>
              </a:srgbClr>
            </a:outerShdw>
          </a:effectLst>
        </p:spPr>
      </p:sp>
      <p:sp>
        <p:nvSpPr>
          <p:cNvPr id="31" name="Shape 27"/>
          <p:cNvSpPr/>
          <p:nvPr/>
        </p:nvSpPr>
        <p:spPr>
          <a:xfrm>
            <a:off x="667512" y="4919472"/>
            <a:ext cx="384048" cy="384048"/>
          </a:xfrm>
          <a:prstGeom prst="ellipse">
            <a:avLst/>
          </a:prstGeom>
          <a:solidFill>
            <a:srgbClr val="1F3864"/>
          </a:solidFill>
          <a:ln/>
        </p:spPr>
      </p:sp>
      <p:pic>
        <p:nvPicPr>
          <p:cNvPr id="32" name="Image 2" descr="preencoded.png">    </p:cNvPr>
          <p:cNvPicPr>
            <a:picLocks noChangeAspect="1"/>
          </p:cNvPicPr>
          <p:nvPr/>
        </p:nvPicPr>
        <p:blipFill>
          <a:blip r:embed="rId3"/>
          <a:stretch>
            <a:fillRect/>
          </a:stretch>
        </p:blipFill>
        <p:spPr>
          <a:xfrm>
            <a:off x="754380" y="5006340"/>
            <a:ext cx="210312" cy="210312"/>
          </a:xfrm>
          <a:prstGeom prst="rect">
            <a:avLst/>
          </a:prstGeom>
        </p:spPr>
      </p:pic>
      <p:sp>
        <p:nvSpPr>
          <p:cNvPr id="33" name="Text 28"/>
          <p:cNvSpPr txBox="1"/>
          <p:nvPr/>
        </p:nvSpPr>
        <p:spPr>
          <a:xfrm>
            <a:off x="1161288" y="4901184"/>
            <a:ext cx="2834640" cy="438912"/>
          </a:xfrm>
          <a:prstGeom prst="rect">
            <a:avLst/>
          </a:prstGeom>
          <a:noFill/>
          <a:ln/>
        </p:spPr>
        <p:txBody>
          <a:bodyPr wrap="square" lIns="0" tIns="0" rIns="0" bIns="0" rtlCol="0" anchor="ctr"/>
          <a:lstStyle/>
          <a:p>
            <a:pPr indent="0" marL="0">
              <a:buNone/>
            </a:pPr>
            <a:r>
              <a:rPr lang="en-US" sz="1150" b="1" dirty="0">
                <a:solidFill>
                  <a:srgbClr val="1F3864"/>
                </a:solidFill>
                <a:latin typeface="Meiryo" pitchFamily="34" charset="0"/>
                <a:ea typeface="Meiryo" pitchFamily="34" charset="-122"/>
                <a:cs typeface="Meiryo" pitchFamily="34" charset="-120"/>
              </a:rPr>
              <a:t>SSBJ・第三者保証の実績と知見</a:t>
            </a:r>
            <a:endParaRPr lang="en-US" sz="1150" dirty="0"/>
          </a:p>
        </p:txBody>
      </p:sp>
      <p:sp>
        <p:nvSpPr>
          <p:cNvPr id="34" name="Text 29"/>
          <p:cNvSpPr txBox="1"/>
          <p:nvPr/>
        </p:nvSpPr>
        <p:spPr>
          <a:xfrm>
            <a:off x="704088" y="5431536"/>
            <a:ext cx="3236976" cy="1005840"/>
          </a:xfrm>
          <a:prstGeom prst="rect">
            <a:avLst/>
          </a:prstGeom>
          <a:noFill/>
          <a:ln/>
        </p:spPr>
        <p:txBody>
          <a:bodyPr wrap="square" lIns="0" tIns="0" rIns="0" bIns="0" rtlCol="0" anchor="t"/>
          <a:lstStyle/>
          <a:p>
            <a:pPr indent="0" marL="0">
              <a:lnSpc>
                <a:spcPct val="112000"/>
              </a:lnSpc>
              <a:buNone/>
            </a:pPr>
            <a:r>
              <a:rPr lang="en-US" sz="980" dirty="0">
                <a:solidFill>
                  <a:srgbClr val="26303B"/>
                </a:solidFill>
                <a:latin typeface="Meiryo" pitchFamily="34" charset="0"/>
                <a:ea typeface="Meiryo" pitchFamily="34" charset="-122"/>
                <a:cs typeface="Meiryo" pitchFamily="34" charset="-120"/>
              </a:rPr>
              <a:t>SSBJ基準・第三者保証対応に関する実績と知見は最高水準にあり、評価者全員がほぼ満点を付けました。開示制度・保証実務への深い理解は、3社の中でも突出した強みと受け止めております。</a:t>
            </a:r>
            <a:endParaRPr lang="en-US" sz="980" dirty="0"/>
          </a:p>
        </p:txBody>
      </p:sp>
      <p:sp>
        <p:nvSpPr>
          <p:cNvPr id="35" name="Shape 30"/>
          <p:cNvSpPr/>
          <p:nvPr/>
        </p:nvSpPr>
        <p:spPr>
          <a:xfrm>
            <a:off x="4279392" y="4773168"/>
            <a:ext cx="3639312" cy="1828800"/>
          </a:xfrm>
          <a:prstGeom prst="roundRect">
            <a:avLst>
              <a:gd name="adj" fmla="val 3500"/>
            </a:avLst>
          </a:prstGeom>
          <a:solidFill>
            <a:srgbClr val="F5F8FD"/>
          </a:solidFill>
          <a:ln/>
          <a:effectLst>
            <a:outerShdw sx="100000" sy="100000" kx="0" ky="0" algn="bl" rotWithShape="0" blurRad="76200" dist="25400" dir="5400000">
              <a:srgbClr val="9AA7BC">
                <a:alpha val="28000"/>
              </a:srgbClr>
            </a:outerShdw>
          </a:effectLst>
        </p:spPr>
      </p:sp>
      <p:sp>
        <p:nvSpPr>
          <p:cNvPr id="36" name="Shape 31"/>
          <p:cNvSpPr/>
          <p:nvPr/>
        </p:nvSpPr>
        <p:spPr>
          <a:xfrm>
            <a:off x="4443984" y="4919472"/>
            <a:ext cx="384048" cy="384048"/>
          </a:xfrm>
          <a:prstGeom prst="ellipse">
            <a:avLst/>
          </a:prstGeom>
          <a:solidFill>
            <a:srgbClr val="1F3864"/>
          </a:solidFill>
          <a:ln/>
        </p:spPr>
      </p:sp>
      <p:pic>
        <p:nvPicPr>
          <p:cNvPr id="37" name="Image 3" descr="preencoded.png">    </p:cNvPr>
          <p:cNvPicPr>
            <a:picLocks noChangeAspect="1"/>
          </p:cNvPicPr>
          <p:nvPr/>
        </p:nvPicPr>
        <p:blipFill>
          <a:blip r:embed="rId4"/>
          <a:stretch>
            <a:fillRect/>
          </a:stretch>
        </p:blipFill>
        <p:spPr>
          <a:xfrm>
            <a:off x="4530852" y="5006340"/>
            <a:ext cx="210312" cy="210312"/>
          </a:xfrm>
          <a:prstGeom prst="rect">
            <a:avLst/>
          </a:prstGeom>
        </p:spPr>
      </p:pic>
      <p:sp>
        <p:nvSpPr>
          <p:cNvPr id="38" name="Text 32"/>
          <p:cNvSpPr txBox="1"/>
          <p:nvPr/>
        </p:nvSpPr>
        <p:spPr>
          <a:xfrm>
            <a:off x="4937760" y="4901184"/>
            <a:ext cx="2834640" cy="438912"/>
          </a:xfrm>
          <a:prstGeom prst="rect">
            <a:avLst/>
          </a:prstGeom>
          <a:noFill/>
          <a:ln/>
        </p:spPr>
        <p:txBody>
          <a:bodyPr wrap="square" lIns="0" tIns="0" rIns="0" bIns="0" rtlCol="0" anchor="ctr"/>
          <a:lstStyle/>
          <a:p>
            <a:pPr indent="0" marL="0">
              <a:buNone/>
            </a:pPr>
            <a:r>
              <a:rPr lang="en-US" sz="1150" b="1" dirty="0">
                <a:solidFill>
                  <a:srgbClr val="1F3864"/>
                </a:solidFill>
                <a:latin typeface="Meiryo" pitchFamily="34" charset="0"/>
                <a:ea typeface="Meiryo" pitchFamily="34" charset="-122"/>
                <a:cs typeface="Meiryo" pitchFamily="34" charset="-120"/>
              </a:rPr>
              <a:t>「守り」の設計力（3社中最高）</a:t>
            </a:r>
            <a:endParaRPr lang="en-US" sz="1150" dirty="0"/>
          </a:p>
        </p:txBody>
      </p:sp>
      <p:sp>
        <p:nvSpPr>
          <p:cNvPr id="39" name="Text 33"/>
          <p:cNvSpPr txBox="1"/>
          <p:nvPr/>
        </p:nvSpPr>
        <p:spPr>
          <a:xfrm>
            <a:off x="4480560" y="5431536"/>
            <a:ext cx="3236976" cy="1005840"/>
          </a:xfrm>
          <a:prstGeom prst="rect">
            <a:avLst/>
          </a:prstGeom>
          <a:noFill/>
          <a:ln/>
        </p:spPr>
        <p:txBody>
          <a:bodyPr wrap="square" lIns="0" tIns="0" rIns="0" bIns="0" rtlCol="0" anchor="t"/>
          <a:lstStyle/>
          <a:p>
            <a:pPr indent="0" marL="0">
              <a:lnSpc>
                <a:spcPct val="112000"/>
              </a:lnSpc>
              <a:buNone/>
            </a:pPr>
            <a:r>
              <a:rPr lang="en-US" sz="980" dirty="0">
                <a:solidFill>
                  <a:srgbClr val="26303B"/>
                </a:solidFill>
                <a:latin typeface="Meiryo" pitchFamily="34" charset="0"/>
                <a:ea typeface="Meiryo" pitchFamily="34" charset="-122"/>
                <a:cs typeface="Meiryo" pitchFamily="34" charset="-120"/>
              </a:rPr>
              <a:t>統制・証跡・自動化を含む「守り」の設計力は、3社の中で最も高い評価でした。内部統制と開示プロセスの構築に関するご提案は、具体性・説得力ともに優れたものでした。</a:t>
            </a:r>
            <a:endParaRPr lang="en-US" sz="980" dirty="0"/>
          </a:p>
        </p:txBody>
      </p:sp>
      <p:sp>
        <p:nvSpPr>
          <p:cNvPr id="40" name="Shape 34"/>
          <p:cNvSpPr/>
          <p:nvPr/>
        </p:nvSpPr>
        <p:spPr>
          <a:xfrm>
            <a:off x="8055864" y="4773168"/>
            <a:ext cx="3639312" cy="1828800"/>
          </a:xfrm>
          <a:prstGeom prst="roundRect">
            <a:avLst>
              <a:gd name="adj" fmla="val 3500"/>
            </a:avLst>
          </a:prstGeom>
          <a:solidFill>
            <a:srgbClr val="F5F8FD"/>
          </a:solidFill>
          <a:ln/>
          <a:effectLst>
            <a:outerShdw sx="100000" sy="100000" kx="0" ky="0" algn="bl" rotWithShape="0" blurRad="76200" dist="25400" dir="5400000">
              <a:srgbClr val="9AA7BC">
                <a:alpha val="28000"/>
              </a:srgbClr>
            </a:outerShdw>
          </a:effectLst>
        </p:spPr>
      </p:sp>
      <p:sp>
        <p:nvSpPr>
          <p:cNvPr id="41" name="Shape 35"/>
          <p:cNvSpPr/>
          <p:nvPr/>
        </p:nvSpPr>
        <p:spPr>
          <a:xfrm>
            <a:off x="8220456" y="4919472"/>
            <a:ext cx="384048" cy="384048"/>
          </a:xfrm>
          <a:prstGeom prst="ellipse">
            <a:avLst/>
          </a:prstGeom>
          <a:solidFill>
            <a:srgbClr val="1F3864"/>
          </a:solidFill>
          <a:ln/>
        </p:spPr>
      </p:sp>
      <p:pic>
        <p:nvPicPr>
          <p:cNvPr id="42" name="Image 4" descr="preencoded.png">    </p:cNvPr>
          <p:cNvPicPr>
            <a:picLocks noChangeAspect="1"/>
          </p:cNvPicPr>
          <p:nvPr/>
        </p:nvPicPr>
        <p:blipFill>
          <a:blip r:embed="rId5"/>
          <a:stretch>
            <a:fillRect/>
          </a:stretch>
        </p:blipFill>
        <p:spPr>
          <a:xfrm>
            <a:off x="8307324" y="5006340"/>
            <a:ext cx="210312" cy="210312"/>
          </a:xfrm>
          <a:prstGeom prst="rect">
            <a:avLst/>
          </a:prstGeom>
        </p:spPr>
      </p:pic>
      <p:sp>
        <p:nvSpPr>
          <p:cNvPr id="43" name="Text 36"/>
          <p:cNvSpPr txBox="1"/>
          <p:nvPr/>
        </p:nvSpPr>
        <p:spPr>
          <a:xfrm>
            <a:off x="8714232" y="4901184"/>
            <a:ext cx="2834640" cy="438912"/>
          </a:xfrm>
          <a:prstGeom prst="rect">
            <a:avLst/>
          </a:prstGeom>
          <a:noFill/>
          <a:ln/>
        </p:spPr>
        <p:txBody>
          <a:bodyPr wrap="square" lIns="0" tIns="0" rIns="0" bIns="0" rtlCol="0" anchor="ctr"/>
          <a:lstStyle/>
          <a:p>
            <a:pPr indent="0" marL="0">
              <a:buNone/>
            </a:pPr>
            <a:r>
              <a:rPr lang="en-US" sz="1150" b="1" dirty="0">
                <a:solidFill>
                  <a:srgbClr val="1F3864"/>
                </a:solidFill>
                <a:latin typeface="Meiryo" pitchFamily="34" charset="0"/>
                <a:ea typeface="Meiryo" pitchFamily="34" charset="-122"/>
                <a:cs typeface="Meiryo" pitchFamily="34" charset="-120"/>
              </a:rPr>
              <a:t>お見積りの透明性と複数案のご提示</a:t>
            </a:r>
            <a:endParaRPr lang="en-US" sz="1150" dirty="0"/>
          </a:p>
        </p:txBody>
      </p:sp>
      <p:sp>
        <p:nvSpPr>
          <p:cNvPr id="44" name="Text 37"/>
          <p:cNvSpPr txBox="1"/>
          <p:nvPr/>
        </p:nvSpPr>
        <p:spPr>
          <a:xfrm>
            <a:off x="8257032" y="5431536"/>
            <a:ext cx="3236976" cy="1005840"/>
          </a:xfrm>
          <a:prstGeom prst="rect">
            <a:avLst/>
          </a:prstGeom>
          <a:noFill/>
          <a:ln/>
        </p:spPr>
        <p:txBody>
          <a:bodyPr wrap="square" lIns="0" tIns="0" rIns="0" bIns="0" rtlCol="0" anchor="t"/>
          <a:lstStyle/>
          <a:p>
            <a:pPr indent="0" marL="0">
              <a:lnSpc>
                <a:spcPct val="112000"/>
              </a:lnSpc>
              <a:buNone/>
            </a:pPr>
            <a:r>
              <a:rPr lang="en-US" sz="980" dirty="0">
                <a:solidFill>
                  <a:srgbClr val="26303B"/>
                </a:solidFill>
                <a:latin typeface="Meiryo" pitchFamily="34" charset="0"/>
                <a:ea typeface="Meiryo" pitchFamily="34" charset="-122"/>
                <a:cs typeface="Meiryo" pitchFamily="34" charset="-120"/>
              </a:rPr>
              <a:t>見積総額の妥当性と工数・単価内訳の透明性は高く評価いたしました。スコープの異なる複数案をご提示いただいたことも、弊社の比較検討の大きな助けとなりました。</a:t>
            </a:r>
            <a:endParaRPr lang="en-US" sz="980" dirty="0"/>
          </a:p>
        </p:txBody>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name="Slide 2">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502920" y="256032"/>
            <a:ext cx="8778240" cy="502920"/>
          </a:xfrm>
          <a:prstGeom prst="rect">
            <a:avLst/>
          </a:prstGeom>
          <a:noFill/>
          <a:ln/>
        </p:spPr>
        <p:txBody>
          <a:bodyPr wrap="square" lIns="0" tIns="0" rIns="0" bIns="0" rtlCol="0" anchor="ctr"/>
          <a:lstStyle/>
          <a:p>
            <a:pPr indent="0" marL="0">
              <a:buNone/>
            </a:pPr>
            <a:r>
              <a:rPr lang="en-US" sz="2400" b="1" dirty="0">
                <a:solidFill>
                  <a:srgbClr val="1F3864"/>
                </a:solidFill>
                <a:latin typeface="Meiryo" pitchFamily="34" charset="0"/>
                <a:ea typeface="Meiryo" pitchFamily="34" charset="-122"/>
                <a:cs typeface="Meiryo" pitchFamily="34" charset="-120"/>
              </a:rPr>
              <a:t>PwCコンサルティング様 選定結果フィードバック (2/2)</a:t>
            </a:r>
            <a:endParaRPr lang="en-US" sz="2400" dirty="0"/>
          </a:p>
        </p:txBody>
      </p:sp>
      <p:sp>
        <p:nvSpPr>
          <p:cNvPr id="3" name="Text 1"/>
          <p:cNvSpPr txBox="1"/>
          <p:nvPr/>
        </p:nvSpPr>
        <p:spPr>
          <a:xfrm>
            <a:off x="9281160" y="256032"/>
            <a:ext cx="2395728" cy="502920"/>
          </a:xfrm>
          <a:prstGeom prst="rect">
            <a:avLst/>
          </a:prstGeom>
          <a:noFill/>
          <a:ln/>
        </p:spPr>
        <p:txBody>
          <a:bodyPr wrap="square" lIns="0" tIns="0" rIns="0" bIns="0" rtlCol="0" anchor="ctr"/>
          <a:lstStyle/>
          <a:p>
            <a:pPr algn="r" indent="0" marL="0">
              <a:buNone/>
            </a:pPr>
            <a:r>
              <a:rPr lang="en-US" sz="900" dirty="0">
                <a:solidFill>
                  <a:srgbClr val="6B7280"/>
                </a:solidFill>
                <a:latin typeface="Meiryo" pitchFamily="34" charset="0"/>
                <a:ea typeface="Meiryo" pitchFamily="34" charset="-122"/>
                <a:cs typeface="Meiryo" pitchFamily="34" charset="-120"/>
              </a:rPr>
              <a:t>2026年8月</a:t>
            </a:r>
            <a:endParaRPr lang="en-US" sz="900" dirty="0"/>
          </a:p>
          <a:p>
            <a:pPr algn="r" indent="0" marL="0">
              <a:buNone/>
            </a:pPr>
            <a:r>
              <a:rPr lang="en-US" sz="900" dirty="0">
                <a:solidFill>
                  <a:srgbClr val="6B7280"/>
                </a:solidFill>
                <a:latin typeface="Meiryo" pitchFamily="34" charset="0"/>
                <a:ea typeface="Meiryo" pitchFamily="34" charset="-122"/>
                <a:cs typeface="Meiryo" pitchFamily="34" charset="-120"/>
              </a:rPr>
              <a:t>ライオン株式会社 SSBJ対応PJT</a:t>
            </a:r>
            <a:endParaRPr lang="en-US" sz="900" dirty="0"/>
          </a:p>
        </p:txBody>
      </p:sp>
      <p:sp>
        <p:nvSpPr>
          <p:cNvPr id="4" name="Shape 2"/>
          <p:cNvSpPr/>
          <p:nvPr/>
        </p:nvSpPr>
        <p:spPr>
          <a:xfrm>
            <a:off x="502920" y="896112"/>
            <a:ext cx="11183112" cy="713232"/>
          </a:xfrm>
          <a:prstGeom prst="roundRect">
            <a:avLst>
              <a:gd name="adj" fmla="val 7692"/>
            </a:avLst>
          </a:prstGeom>
          <a:solidFill>
            <a:srgbClr val="EAF1FA"/>
          </a:solidFill>
          <a:ln/>
        </p:spPr>
      </p:sp>
      <p:sp>
        <p:nvSpPr>
          <p:cNvPr id="5" name="Text 3"/>
          <p:cNvSpPr txBox="1"/>
          <p:nvPr/>
        </p:nvSpPr>
        <p:spPr>
          <a:xfrm>
            <a:off x="685800" y="896112"/>
            <a:ext cx="10835640" cy="713232"/>
          </a:xfrm>
          <a:prstGeom prst="rect">
            <a:avLst/>
          </a:prstGeom>
          <a:noFill/>
          <a:ln/>
        </p:spPr>
        <p:txBody>
          <a:bodyPr wrap="square" lIns="0" tIns="0" rIns="0" bIns="0" rtlCol="0" anchor="ctr"/>
          <a:lstStyle/>
          <a:p>
            <a:pPr indent="0" marL="0">
              <a:buNone/>
            </a:pPr>
            <a:r>
              <a:rPr lang="en-US" sz="1100" b="1" dirty="0">
                <a:solidFill>
                  <a:srgbClr val="16294A"/>
                </a:solidFill>
                <a:latin typeface="Meiryo" pitchFamily="34" charset="0"/>
                <a:ea typeface="Meiryo" pitchFamily="34" charset="-122"/>
                <a:cs typeface="Meiryo" pitchFamily="34" charset="-120"/>
              </a:rPr>
              <a:t>評価に差が生じた観点を、今後のご参考として率直にお伝えいたします。後続フェーズや他のテーマでは改めてご相談させていただく可能性がございますので、引き続きのご関係をお願い申し上げます。</a:t>
            </a:r>
            <a:endParaRPr lang="en-US" sz="1100" dirty="0"/>
          </a:p>
        </p:txBody>
      </p:sp>
      <p:sp>
        <p:nvSpPr>
          <p:cNvPr id="6" name="Shape 4"/>
          <p:cNvSpPr/>
          <p:nvPr/>
        </p:nvSpPr>
        <p:spPr>
          <a:xfrm>
            <a:off x="502920" y="1755648"/>
            <a:ext cx="310896" cy="310896"/>
          </a:xfrm>
          <a:prstGeom prst="ellipse">
            <a:avLst/>
          </a:prstGeom>
          <a:solidFill>
            <a:srgbClr val="1F3864"/>
          </a:solidFill>
          <a:ln/>
        </p:spPr>
      </p:sp>
      <p:pic>
        <p:nvPicPr>
          <p:cNvPr id="7" name="Image 0" descr="preencoded.png">    </p:cNvPr>
          <p:cNvPicPr>
            <a:picLocks noChangeAspect="1"/>
          </p:cNvPicPr>
          <p:nvPr/>
        </p:nvPicPr>
        <p:blipFill>
          <a:blip r:embed="rId1"/>
          <a:stretch>
            <a:fillRect/>
          </a:stretch>
        </p:blipFill>
        <p:spPr>
          <a:xfrm>
            <a:off x="571500" y="1824228"/>
            <a:ext cx="173736" cy="173736"/>
          </a:xfrm>
          <a:prstGeom prst="rect">
            <a:avLst/>
          </a:prstGeom>
        </p:spPr>
      </p:pic>
      <p:sp>
        <p:nvSpPr>
          <p:cNvPr id="8" name="Text 5"/>
          <p:cNvSpPr txBox="1"/>
          <p:nvPr/>
        </p:nvSpPr>
        <p:spPr>
          <a:xfrm>
            <a:off x="914400" y="1728216"/>
            <a:ext cx="6949440" cy="365760"/>
          </a:xfrm>
          <a:prstGeom prst="rect">
            <a:avLst/>
          </a:prstGeom>
          <a:noFill/>
          <a:ln/>
        </p:spPr>
        <p:txBody>
          <a:bodyPr wrap="square" lIns="0" tIns="0" rIns="0" bIns="0" rtlCol="0" anchor="ctr"/>
          <a:lstStyle/>
          <a:p>
            <a:pPr indent="0" marL="0">
              <a:buNone/>
            </a:pPr>
            <a:r>
              <a:rPr lang="en-US" sz="1450" b="1" dirty="0">
                <a:solidFill>
                  <a:srgbClr val="1F3864"/>
                </a:solidFill>
                <a:latin typeface="Meiryo" pitchFamily="34" charset="0"/>
                <a:ea typeface="Meiryo" pitchFamily="34" charset="-122"/>
                <a:cs typeface="Meiryo" pitchFamily="34" charset="-120"/>
              </a:rPr>
              <a:t>評価に差が生じた主な観点（弊社採点表より）</a:t>
            </a:r>
            <a:endParaRPr lang="en-US" sz="1450" dirty="0"/>
          </a:p>
        </p:txBody>
      </p:sp>
      <p:sp>
        <p:nvSpPr>
          <p:cNvPr id="9" name="Shape 6"/>
          <p:cNvSpPr/>
          <p:nvPr/>
        </p:nvSpPr>
        <p:spPr>
          <a:xfrm>
            <a:off x="502920" y="2157984"/>
            <a:ext cx="6903720" cy="1389888"/>
          </a:xfrm>
          <a:prstGeom prst="roundRect">
            <a:avLst>
              <a:gd name="adj" fmla="val 4605"/>
            </a:avLst>
          </a:prstGeom>
          <a:solidFill>
            <a:srgbClr val="F5F8FD"/>
          </a:solidFill>
          <a:ln/>
          <a:effectLst>
            <a:outerShdw sx="100000" sy="100000" kx="0" ky="0" algn="bl" rotWithShape="0" blurRad="76200" dist="25400" dir="5400000">
              <a:srgbClr val="9AA7BC">
                <a:alpha val="28000"/>
              </a:srgbClr>
            </a:outerShdw>
          </a:effectLst>
        </p:spPr>
      </p:sp>
      <p:sp>
        <p:nvSpPr>
          <p:cNvPr id="10" name="Shape 7"/>
          <p:cNvSpPr/>
          <p:nvPr/>
        </p:nvSpPr>
        <p:spPr>
          <a:xfrm>
            <a:off x="667512" y="2304288"/>
            <a:ext cx="384048" cy="384048"/>
          </a:xfrm>
          <a:prstGeom prst="ellipse">
            <a:avLst/>
          </a:prstGeom>
          <a:solidFill>
            <a:srgbClr val="1F3864"/>
          </a:solidFill>
          <a:ln/>
        </p:spPr>
      </p:sp>
      <p:pic>
        <p:nvPicPr>
          <p:cNvPr id="11" name="Image 1" descr="preencoded.png">    </p:cNvPr>
          <p:cNvPicPr>
            <a:picLocks noChangeAspect="1"/>
          </p:cNvPicPr>
          <p:nvPr/>
        </p:nvPicPr>
        <p:blipFill>
          <a:blip r:embed="rId2"/>
          <a:stretch>
            <a:fillRect/>
          </a:stretch>
        </p:blipFill>
        <p:spPr>
          <a:xfrm>
            <a:off x="754380" y="2391156"/>
            <a:ext cx="210312" cy="210312"/>
          </a:xfrm>
          <a:prstGeom prst="rect">
            <a:avLst/>
          </a:prstGeom>
        </p:spPr>
      </p:pic>
      <p:sp>
        <p:nvSpPr>
          <p:cNvPr id="12" name="Text 8"/>
          <p:cNvSpPr txBox="1"/>
          <p:nvPr/>
        </p:nvSpPr>
        <p:spPr>
          <a:xfrm>
            <a:off x="1161288" y="2286000"/>
            <a:ext cx="6099048" cy="438912"/>
          </a:xfrm>
          <a:prstGeom prst="rect">
            <a:avLst/>
          </a:prstGeom>
          <a:noFill/>
          <a:ln/>
        </p:spPr>
        <p:txBody>
          <a:bodyPr wrap="square" lIns="0" tIns="0" rIns="0" bIns="0" rtlCol="0" anchor="ctr"/>
          <a:lstStyle/>
          <a:p>
            <a:pPr indent="0" marL="0">
              <a:buNone/>
            </a:pPr>
            <a:r>
              <a:rPr lang="en-US" sz="1150" b="1" dirty="0">
                <a:solidFill>
                  <a:srgbClr val="1F3864"/>
                </a:solidFill>
                <a:latin typeface="Meiryo" pitchFamily="34" charset="0"/>
                <a:ea typeface="Meiryo" pitchFamily="34" charset="-122"/>
                <a:cs typeface="Meiryo" pitchFamily="34" charset="-120"/>
              </a:rPr>
              <a:t>「攻め」の実行計画への反映（Q4）</a:t>
            </a:r>
            <a:endParaRPr lang="en-US" sz="1150" dirty="0"/>
          </a:p>
        </p:txBody>
      </p:sp>
      <p:sp>
        <p:nvSpPr>
          <p:cNvPr id="13" name="Text 9"/>
          <p:cNvSpPr txBox="1"/>
          <p:nvPr/>
        </p:nvSpPr>
        <p:spPr>
          <a:xfrm>
            <a:off x="704088" y="2816352"/>
            <a:ext cx="6501384" cy="566928"/>
          </a:xfrm>
          <a:prstGeom prst="rect">
            <a:avLst/>
          </a:prstGeom>
          <a:noFill/>
          <a:ln/>
        </p:spPr>
        <p:txBody>
          <a:bodyPr wrap="square" lIns="0" tIns="0" rIns="0" bIns="0" rtlCol="0" anchor="t"/>
          <a:lstStyle/>
          <a:p>
            <a:pPr indent="0" marL="0">
              <a:lnSpc>
                <a:spcPct val="112000"/>
              </a:lnSpc>
              <a:buNone/>
            </a:pPr>
            <a:r>
              <a:rPr lang="en-US" sz="980" dirty="0">
                <a:solidFill>
                  <a:srgbClr val="26303B"/>
                </a:solidFill>
                <a:latin typeface="Meiryo" pitchFamily="34" charset="0"/>
                <a:ea typeface="Meiryo" pitchFamily="34" charset="-122"/>
                <a:cs typeface="Meiryo" pitchFamily="34" charset="-120"/>
              </a:rPr>
              <a:t>弊社依頼書の中核である「非財務情報の財務化・経営活用（攻め）」について、課題理解としては的確にご言及いただいた一方、実行計画・体制・成果物への具体的な落とし込みが確認できませんでした。この点が品質評価における最大の差分となりました。</a:t>
            </a:r>
            <a:endParaRPr lang="en-US" sz="980" dirty="0"/>
          </a:p>
        </p:txBody>
      </p:sp>
      <p:sp>
        <p:nvSpPr>
          <p:cNvPr id="14" name="Shape 10"/>
          <p:cNvSpPr/>
          <p:nvPr/>
        </p:nvSpPr>
        <p:spPr>
          <a:xfrm>
            <a:off x="502920" y="3675888"/>
            <a:ext cx="6903720" cy="1389888"/>
          </a:xfrm>
          <a:prstGeom prst="roundRect">
            <a:avLst>
              <a:gd name="adj" fmla="val 4605"/>
            </a:avLst>
          </a:prstGeom>
          <a:solidFill>
            <a:srgbClr val="F5F8FD"/>
          </a:solidFill>
          <a:ln/>
          <a:effectLst>
            <a:outerShdw sx="100000" sy="100000" kx="0" ky="0" algn="bl" rotWithShape="0" blurRad="76200" dist="25400" dir="5400000">
              <a:srgbClr val="9AA7BC">
                <a:alpha val="28000"/>
              </a:srgbClr>
            </a:outerShdw>
          </a:effectLst>
        </p:spPr>
      </p:sp>
      <p:sp>
        <p:nvSpPr>
          <p:cNvPr id="15" name="Shape 11"/>
          <p:cNvSpPr/>
          <p:nvPr/>
        </p:nvSpPr>
        <p:spPr>
          <a:xfrm>
            <a:off x="667512" y="3822192"/>
            <a:ext cx="384048" cy="384048"/>
          </a:xfrm>
          <a:prstGeom prst="ellipse">
            <a:avLst/>
          </a:prstGeom>
          <a:solidFill>
            <a:srgbClr val="1F3864"/>
          </a:solidFill>
          <a:ln/>
        </p:spPr>
      </p:sp>
      <p:pic>
        <p:nvPicPr>
          <p:cNvPr id="16" name="Image 2" descr="preencoded.png">    </p:cNvPr>
          <p:cNvPicPr>
            <a:picLocks noChangeAspect="1"/>
          </p:cNvPicPr>
          <p:nvPr/>
        </p:nvPicPr>
        <p:blipFill>
          <a:blip r:embed="rId3"/>
          <a:stretch>
            <a:fillRect/>
          </a:stretch>
        </p:blipFill>
        <p:spPr>
          <a:xfrm>
            <a:off x="754380" y="3909060"/>
            <a:ext cx="210312" cy="210312"/>
          </a:xfrm>
          <a:prstGeom prst="rect">
            <a:avLst/>
          </a:prstGeom>
        </p:spPr>
      </p:pic>
      <p:sp>
        <p:nvSpPr>
          <p:cNvPr id="17" name="Text 12"/>
          <p:cNvSpPr txBox="1"/>
          <p:nvPr/>
        </p:nvSpPr>
        <p:spPr>
          <a:xfrm>
            <a:off x="1161288" y="3803904"/>
            <a:ext cx="6099048" cy="438912"/>
          </a:xfrm>
          <a:prstGeom prst="rect">
            <a:avLst/>
          </a:prstGeom>
          <a:noFill/>
          <a:ln/>
        </p:spPr>
        <p:txBody>
          <a:bodyPr wrap="square" lIns="0" tIns="0" rIns="0" bIns="0" rtlCol="0" anchor="ctr"/>
          <a:lstStyle/>
          <a:p>
            <a:pPr indent="0" marL="0">
              <a:buNone/>
            </a:pPr>
            <a:r>
              <a:rPr lang="en-US" sz="1150" b="1" dirty="0">
                <a:solidFill>
                  <a:srgbClr val="1F3864"/>
                </a:solidFill>
                <a:latin typeface="Meiryo" pitchFamily="34" charset="0"/>
                <a:ea typeface="Meiryo" pitchFamily="34" charset="-122"/>
                <a:cs typeface="Meiryo" pitchFamily="34" charset="-120"/>
              </a:rPr>
              <a:t>成果物完遂へのコミット（D2）</a:t>
            </a:r>
            <a:endParaRPr lang="en-US" sz="1150" dirty="0"/>
          </a:p>
        </p:txBody>
      </p:sp>
      <p:sp>
        <p:nvSpPr>
          <p:cNvPr id="18" name="Text 13"/>
          <p:cNvSpPr txBox="1"/>
          <p:nvPr/>
        </p:nvSpPr>
        <p:spPr>
          <a:xfrm>
            <a:off x="704088" y="4334256"/>
            <a:ext cx="6501384" cy="566928"/>
          </a:xfrm>
          <a:prstGeom prst="rect">
            <a:avLst/>
          </a:prstGeom>
          <a:noFill/>
          <a:ln/>
        </p:spPr>
        <p:txBody>
          <a:bodyPr wrap="square" lIns="0" tIns="0" rIns="0" bIns="0" rtlCol="0" anchor="t"/>
          <a:lstStyle/>
          <a:p>
            <a:pPr indent="0" marL="0">
              <a:lnSpc>
                <a:spcPct val="112000"/>
              </a:lnSpc>
              <a:buNone/>
            </a:pPr>
            <a:r>
              <a:rPr lang="en-US" sz="980" dirty="0">
                <a:solidFill>
                  <a:srgbClr val="26303B"/>
                </a:solidFill>
                <a:latin typeface="Meiryo" pitchFamily="34" charset="0"/>
                <a:ea typeface="Meiryo" pitchFamily="34" charset="-122"/>
                <a:cs typeface="Meiryo" pitchFamily="34" charset="-120"/>
              </a:rPr>
              <a:t>ご提案の支援スタンスでは、成果物の完遂責任の所在が弊社には確認しづらく、「支援」の範囲に留まる印象を受けました。工程・成果物単位での完遂責任と検収基準の明確なご提示があれば、評価は大きく変わったと考えております。</a:t>
            </a:r>
            <a:endParaRPr lang="en-US" sz="980" dirty="0"/>
          </a:p>
        </p:txBody>
      </p:sp>
      <p:sp>
        <p:nvSpPr>
          <p:cNvPr id="19" name="Shape 14"/>
          <p:cNvSpPr/>
          <p:nvPr/>
        </p:nvSpPr>
        <p:spPr>
          <a:xfrm>
            <a:off x="502920" y="5193792"/>
            <a:ext cx="6903720" cy="1389888"/>
          </a:xfrm>
          <a:prstGeom prst="roundRect">
            <a:avLst>
              <a:gd name="adj" fmla="val 4605"/>
            </a:avLst>
          </a:prstGeom>
          <a:solidFill>
            <a:srgbClr val="F5F8FD"/>
          </a:solidFill>
          <a:ln/>
          <a:effectLst>
            <a:outerShdw sx="100000" sy="100000" kx="0" ky="0" algn="bl" rotWithShape="0" blurRad="76200" dist="25400" dir="5400000">
              <a:srgbClr val="9AA7BC">
                <a:alpha val="28000"/>
              </a:srgbClr>
            </a:outerShdw>
          </a:effectLst>
        </p:spPr>
      </p:sp>
      <p:sp>
        <p:nvSpPr>
          <p:cNvPr id="20" name="Shape 15"/>
          <p:cNvSpPr/>
          <p:nvPr/>
        </p:nvSpPr>
        <p:spPr>
          <a:xfrm>
            <a:off x="667512" y="5340096"/>
            <a:ext cx="384048" cy="384048"/>
          </a:xfrm>
          <a:prstGeom prst="ellipse">
            <a:avLst/>
          </a:prstGeom>
          <a:solidFill>
            <a:srgbClr val="1F3864"/>
          </a:solidFill>
          <a:ln/>
        </p:spPr>
      </p:sp>
      <p:pic>
        <p:nvPicPr>
          <p:cNvPr id="21" name="Image 3" descr="preencoded.png">    </p:cNvPr>
          <p:cNvPicPr>
            <a:picLocks noChangeAspect="1"/>
          </p:cNvPicPr>
          <p:nvPr/>
        </p:nvPicPr>
        <p:blipFill>
          <a:blip r:embed="rId4"/>
          <a:stretch>
            <a:fillRect/>
          </a:stretch>
        </p:blipFill>
        <p:spPr>
          <a:xfrm>
            <a:off x="754380" y="5426964"/>
            <a:ext cx="210312" cy="210312"/>
          </a:xfrm>
          <a:prstGeom prst="rect">
            <a:avLst/>
          </a:prstGeom>
        </p:spPr>
      </p:pic>
      <p:sp>
        <p:nvSpPr>
          <p:cNvPr id="22" name="Text 16"/>
          <p:cNvSpPr txBox="1"/>
          <p:nvPr/>
        </p:nvSpPr>
        <p:spPr>
          <a:xfrm>
            <a:off x="1161288" y="5321808"/>
            <a:ext cx="6099048" cy="438912"/>
          </a:xfrm>
          <a:prstGeom prst="rect">
            <a:avLst/>
          </a:prstGeom>
          <a:noFill/>
          <a:ln/>
        </p:spPr>
        <p:txBody>
          <a:bodyPr wrap="square" lIns="0" tIns="0" rIns="0" bIns="0" rtlCol="0" anchor="ctr"/>
          <a:lstStyle/>
          <a:p>
            <a:pPr indent="0" marL="0">
              <a:buNone/>
            </a:pPr>
            <a:r>
              <a:rPr lang="en-US" sz="1150" b="1" dirty="0">
                <a:solidFill>
                  <a:srgbClr val="1F3864"/>
                </a:solidFill>
                <a:latin typeface="Meiryo" pitchFamily="34" charset="0"/>
                <a:ea typeface="Meiryo" pitchFamily="34" charset="-122"/>
                <a:cs typeface="Meiryo" pitchFamily="34" charset="-120"/>
              </a:rPr>
              <a:t>実行計画の負荷集中（D1・Q2）</a:t>
            </a:r>
            <a:endParaRPr lang="en-US" sz="1150" dirty="0"/>
          </a:p>
        </p:txBody>
      </p:sp>
      <p:sp>
        <p:nvSpPr>
          <p:cNvPr id="23" name="Text 17"/>
          <p:cNvSpPr txBox="1"/>
          <p:nvPr/>
        </p:nvSpPr>
        <p:spPr>
          <a:xfrm>
            <a:off x="704088" y="5852160"/>
            <a:ext cx="6501384" cy="566928"/>
          </a:xfrm>
          <a:prstGeom prst="rect">
            <a:avLst/>
          </a:prstGeom>
          <a:noFill/>
          <a:ln/>
        </p:spPr>
        <p:txBody>
          <a:bodyPr wrap="square" lIns="0" tIns="0" rIns="0" bIns="0" rtlCol="0" anchor="t"/>
          <a:lstStyle/>
          <a:p>
            <a:pPr indent="0" marL="0">
              <a:lnSpc>
                <a:spcPct val="112000"/>
              </a:lnSpc>
              <a:buNone/>
            </a:pPr>
            <a:r>
              <a:rPr lang="en-US" sz="980" dirty="0">
                <a:solidFill>
                  <a:srgbClr val="26303B"/>
                </a:solidFill>
                <a:latin typeface="Meiryo" pitchFamily="34" charset="0"/>
                <a:ea typeface="Meiryo" pitchFamily="34" charset="-122"/>
                <a:cs typeface="Meiryo" pitchFamily="34" charset="-120"/>
              </a:rPr>
              <a:t>全体スケジュール上、要件定義工程への作業集中（クリティカルパス化）が見られ、拠点調査と並行して進めた場合の負荷分散と実現性に懸念が残りました。工程間の依存関係を織り込んだ平準化のご提示を期待しておりました。</a:t>
            </a:r>
            <a:endParaRPr lang="en-US" sz="980" dirty="0"/>
          </a:p>
        </p:txBody>
      </p:sp>
      <p:sp>
        <p:nvSpPr>
          <p:cNvPr id="24" name="Shape 18"/>
          <p:cNvSpPr/>
          <p:nvPr/>
        </p:nvSpPr>
        <p:spPr>
          <a:xfrm>
            <a:off x="7589520" y="1755648"/>
            <a:ext cx="310896" cy="310896"/>
          </a:xfrm>
          <a:prstGeom prst="ellipse">
            <a:avLst/>
          </a:prstGeom>
          <a:solidFill>
            <a:srgbClr val="1F3864"/>
          </a:solidFill>
          <a:ln/>
        </p:spPr>
      </p:sp>
      <p:pic>
        <p:nvPicPr>
          <p:cNvPr id="25" name="Image 4" descr="preencoded.png">    </p:cNvPr>
          <p:cNvPicPr>
            <a:picLocks noChangeAspect="1"/>
          </p:cNvPicPr>
          <p:nvPr/>
        </p:nvPicPr>
        <p:blipFill>
          <a:blip r:embed="rId5"/>
          <a:stretch>
            <a:fillRect/>
          </a:stretch>
        </p:blipFill>
        <p:spPr>
          <a:xfrm>
            <a:off x="7658100" y="1824228"/>
            <a:ext cx="173736" cy="173736"/>
          </a:xfrm>
          <a:prstGeom prst="rect">
            <a:avLst/>
          </a:prstGeom>
        </p:spPr>
      </p:pic>
      <p:sp>
        <p:nvSpPr>
          <p:cNvPr id="26" name="Text 19"/>
          <p:cNvSpPr txBox="1"/>
          <p:nvPr/>
        </p:nvSpPr>
        <p:spPr>
          <a:xfrm>
            <a:off x="8001000" y="1728216"/>
            <a:ext cx="3657600" cy="365760"/>
          </a:xfrm>
          <a:prstGeom prst="rect">
            <a:avLst/>
          </a:prstGeom>
          <a:noFill/>
          <a:ln/>
        </p:spPr>
        <p:txBody>
          <a:bodyPr wrap="square" lIns="0" tIns="0" rIns="0" bIns="0" rtlCol="0" anchor="ctr"/>
          <a:lstStyle/>
          <a:p>
            <a:pPr indent="0" marL="0">
              <a:buNone/>
            </a:pPr>
            <a:r>
              <a:rPr lang="en-US" sz="1450" b="1" dirty="0">
                <a:solidFill>
                  <a:srgbClr val="1F3864"/>
                </a:solidFill>
                <a:latin typeface="Meiryo" pitchFamily="34" charset="0"/>
                <a:ea typeface="Meiryo" pitchFamily="34" charset="-122"/>
                <a:cs typeface="Meiryo" pitchFamily="34" charset="-120"/>
              </a:rPr>
              <a:t>今後に向けて</a:t>
            </a:r>
            <a:endParaRPr lang="en-US" sz="1450" dirty="0"/>
          </a:p>
        </p:txBody>
      </p:sp>
      <p:sp>
        <p:nvSpPr>
          <p:cNvPr id="27" name="Shape 20"/>
          <p:cNvSpPr/>
          <p:nvPr/>
        </p:nvSpPr>
        <p:spPr>
          <a:xfrm>
            <a:off x="7589520" y="2157984"/>
            <a:ext cx="4096512" cy="4059936"/>
          </a:xfrm>
          <a:prstGeom prst="roundRect">
            <a:avLst>
              <a:gd name="adj" fmla="val 1802"/>
            </a:avLst>
          </a:prstGeom>
          <a:solidFill>
            <a:srgbClr val="F5F8FD"/>
          </a:solidFill>
          <a:ln/>
          <a:effectLst>
            <a:outerShdw sx="100000" sy="100000" kx="0" ky="0" algn="bl" rotWithShape="0" blurRad="76200" dist="25400" dir="5400000">
              <a:srgbClr val="9AA7BC">
                <a:alpha val="28000"/>
              </a:srgbClr>
            </a:outerShdw>
          </a:effectLst>
        </p:spPr>
      </p:sp>
      <p:sp>
        <p:nvSpPr>
          <p:cNvPr id="28" name="Text 21"/>
          <p:cNvSpPr txBox="1"/>
          <p:nvPr/>
        </p:nvSpPr>
        <p:spPr>
          <a:xfrm>
            <a:off x="7808976" y="2340864"/>
            <a:ext cx="3657600" cy="2926080"/>
          </a:xfrm>
          <a:prstGeom prst="rect">
            <a:avLst/>
          </a:prstGeom>
          <a:noFill/>
          <a:ln/>
        </p:spPr>
        <p:txBody>
          <a:bodyPr wrap="square" lIns="0" tIns="0" rIns="0" bIns="0" rtlCol="0" anchor="t"/>
          <a:lstStyle/>
          <a:p>
            <a:pPr marL="152400" indent="-152400">
              <a:lnSpc>
                <a:spcPct val="115000"/>
              </a:lnSpc>
              <a:spcAft>
                <a:spcPts val="900"/>
              </a:spcAft>
              <a:buSzPct val="100000"/>
              <a:buChar char="■"/>
            </a:pPr>
            <a:r>
              <a:rPr lang="en-US" sz="1020" dirty="0">
                <a:solidFill>
                  <a:srgbClr val="26303B"/>
                </a:solidFill>
                <a:latin typeface="Meiryo" pitchFamily="34" charset="0"/>
                <a:ea typeface="Meiryo" pitchFamily="34" charset="-122"/>
                <a:cs typeface="Meiryo" pitchFamily="34" charset="-120"/>
              </a:rPr>
              <a:t>第三者保証対応・内部統制構築・グローバルガバナンスの領域における貴社の知見には、引き続き大きな期待を寄せております。</a:t>
            </a:r>
            <a:endParaRPr lang="en-US" sz="1020" dirty="0"/>
          </a:p>
          <a:p>
            <a:pPr marL="152400" indent="-152400">
              <a:lnSpc>
                <a:spcPct val="115000"/>
              </a:lnSpc>
              <a:spcAft>
                <a:spcPts val="900"/>
              </a:spcAft>
              <a:buSzPct val="100000"/>
              <a:buChar char="■"/>
            </a:pPr>
            <a:r>
              <a:rPr lang="en-US" sz="1020" dirty="0">
                <a:solidFill>
                  <a:srgbClr val="26303B"/>
                </a:solidFill>
                <a:latin typeface="Meiryo" pitchFamily="34" charset="0"/>
                <a:ea typeface="Meiryo" pitchFamily="34" charset="-122"/>
                <a:cs typeface="Meiryo" pitchFamily="34" charset="-120"/>
              </a:rPr>
              <a:t>本プロジェクトの後続フェーズ（保証対応体制の構築、内部統制の高度化等）や他テーマにおいて、改めてご相談させていただく可能性がございます。</a:t>
            </a:r>
            <a:endParaRPr lang="en-US" sz="1020" dirty="0"/>
          </a:p>
          <a:p>
            <a:pPr marL="152400" indent="-152400">
              <a:lnSpc>
                <a:spcPct val="115000"/>
              </a:lnSpc>
              <a:buSzPct val="100000"/>
              <a:buChar char="■"/>
            </a:pPr>
            <a:r>
              <a:rPr lang="en-US" sz="1020" dirty="0">
                <a:solidFill>
                  <a:srgbClr val="26303B"/>
                </a:solidFill>
                <a:latin typeface="Meiryo" pitchFamily="34" charset="0"/>
                <a:ea typeface="Meiryo" pitchFamily="34" charset="-122"/>
                <a:cs typeface="Meiryo" pitchFamily="34" charset="-120"/>
              </a:rPr>
              <a:t>本フィードバックの内容についてのご質問には、個別にお答えいたします。</a:t>
            </a:r>
            <a:endParaRPr lang="en-US" sz="1020" dirty="0"/>
          </a:p>
        </p:txBody>
      </p:sp>
      <p:sp>
        <p:nvSpPr>
          <p:cNvPr id="29" name="Text 22"/>
          <p:cNvSpPr txBox="1"/>
          <p:nvPr/>
        </p:nvSpPr>
        <p:spPr>
          <a:xfrm>
            <a:off x="7808976" y="5349240"/>
            <a:ext cx="3657600" cy="731520"/>
          </a:xfrm>
          <a:prstGeom prst="rect">
            <a:avLst/>
          </a:prstGeom>
          <a:noFill/>
          <a:ln/>
        </p:spPr>
        <p:txBody>
          <a:bodyPr wrap="square" lIns="0" tIns="0" rIns="0" bIns="0" rtlCol="0" anchor="t"/>
          <a:lstStyle/>
          <a:p>
            <a:pPr indent="0" marL="0">
              <a:lnSpc>
                <a:spcPct val="115000"/>
              </a:lnSpc>
              <a:buNone/>
            </a:pPr>
            <a:r>
              <a:rPr lang="en-US" sz="1020" b="1" dirty="0">
                <a:solidFill>
                  <a:srgbClr val="1F3864"/>
                </a:solidFill>
                <a:latin typeface="Meiryo" pitchFamily="34" charset="0"/>
                <a:ea typeface="Meiryo" pitchFamily="34" charset="-122"/>
                <a:cs typeface="Meiryo" pitchFamily="34" charset="-120"/>
              </a:rPr>
              <a:t>このたびの多大なご尽力に改めて御礼申し上げます。今後とも変わらぬお付き合いを賜りますよう、お願い申し上げます。</a:t>
            </a:r>
            <a:endParaRPr lang="en-US" sz="1020" dirty="0"/>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0</TotalTime>
  <Words>0</Words>
  <Application>Microsoft Office PowerPoint</Application>
  <PresentationFormat>On-screen Show (16:9)</PresentationFormat>
  <Paragraphs>0</Paragraphs>
  <Slides>2</Slides>
  <Notes>2</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2</vt:i4>
      </vt:variant>
    </vt:vector>
  </HeadingPairs>
  <TitlesOfParts>
    <vt:vector size="5" baseType="lpstr">
      <vt:lpstr>Arial</vt:lpstr>
      <vt:lpstr>Calibri</vt:lpstr>
      <vt:lpstr>Office Theme</vt:lpstr>
      <vt:lpstr>Slide 1</vt:lpstr>
      <vt:lpstr>Slide 2</vt:lpstr>
    </vt:vector>
  </TitlesOfParts>
  <Company>PptxGenJS</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PptxGenJS Presentation</dc:title>
  <dc:subject>PptxGenJS Presentation</dc:subject>
  <dc:creator>ライオン株式会社 SSBJ対応PJT</dc:creator>
  <cp:lastModifiedBy>ライオン株式会社 SSBJ対応PJT</cp:lastModifiedBy>
  <cp:revision>1</cp:revision>
  <dcterms:created xsi:type="dcterms:W3CDTF">2026-08-26T10:22:26Z</dcterms:created>
  <dcterms:modified xsi:type="dcterms:W3CDTF">2026-08-26T10:22:26Z</dcterms:modified>
</cp:coreProperties>
</file>