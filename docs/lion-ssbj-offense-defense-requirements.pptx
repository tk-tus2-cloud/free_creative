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371600"/>
            <a:ext cx="10515600" cy="457200"/>
          </a:xfrm>
          <a:prstGeom prst="rect">
            <a:avLst/>
          </a:prstGeom>
          <a:noFill/>
          <a:ln/>
        </p:spPr>
        <p:txBody>
          <a:bodyPr wrap="square" lIns="0" tIns="0" rIns="0" bIns="0" rtlCol="0" anchor="ctr"/>
          <a:lstStyle/>
          <a:p>
            <a:pPr indent="0" marL="0">
              <a:buNone/>
            </a:pPr>
            <a:r>
              <a:rPr lang="en-US" sz="1800" b="1" dirty="0">
                <a:solidFill>
                  <a:srgbClr val="CADCFC"/>
                </a:solidFill>
                <a:latin typeface="Yu Gothic" pitchFamily="34" charset="0"/>
                <a:ea typeface="Yu Gothic" pitchFamily="34" charset="-122"/>
                <a:cs typeface="Yu Gothic" pitchFamily="34" charset="-120"/>
              </a:rPr>
              <a:t>ライオン株式会社</a:t>
            </a:r>
            <a:endParaRPr lang="en-US" sz="1800" dirty="0"/>
          </a:p>
        </p:txBody>
      </p:sp>
      <p:sp>
        <p:nvSpPr>
          <p:cNvPr id="3" name="Text 1"/>
          <p:cNvSpPr/>
          <p:nvPr/>
        </p:nvSpPr>
        <p:spPr>
          <a:xfrm>
            <a:off x="822960" y="1920240"/>
            <a:ext cx="10515600" cy="173736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Yu Gothic" pitchFamily="34" charset="0"/>
                <a:ea typeface="Yu Gothic" pitchFamily="34" charset="-122"/>
                <a:cs typeface="Yu Gothic" pitchFamily="34" charset="-120"/>
              </a:rPr>
              <a:t>サステナビリティ経営基盤構想</a:t>
            </a:r>
            <a:endParaRPr lang="en-US" sz="3200" dirty="0"/>
          </a:p>
          <a:p>
            <a:pPr indent="0" marL="0">
              <a:lnSpc>
                <a:spcPct val="115000"/>
              </a:lnSpc>
              <a:buNone/>
            </a:pPr>
            <a:r>
              <a:rPr lang="en-US" sz="3200" b="1" dirty="0">
                <a:solidFill>
                  <a:srgbClr val="FFFFFF"/>
                </a:solidFill>
                <a:latin typeface="Yu Gothic" pitchFamily="34" charset="0"/>
                <a:ea typeface="Yu Gothic" pitchFamily="34" charset="-122"/>
                <a:cs typeface="Yu Gothic" pitchFamily="34" charset="-120"/>
              </a:rPr>
              <a:t>「守り」と「攻め」の同時達成に向けた要求整理</a:t>
            </a:r>
            <a:endParaRPr lang="en-US" sz="3200" dirty="0"/>
          </a:p>
        </p:txBody>
      </p:sp>
      <p:sp>
        <p:nvSpPr>
          <p:cNvPr id="4" name="Text 2"/>
          <p:cNvSpPr/>
          <p:nvPr/>
        </p:nvSpPr>
        <p:spPr>
          <a:xfrm>
            <a:off x="822960" y="3886200"/>
            <a:ext cx="10515600" cy="457200"/>
          </a:xfrm>
          <a:prstGeom prst="rect">
            <a:avLst/>
          </a:prstGeom>
          <a:noFill/>
          <a:ln/>
        </p:spPr>
        <p:txBody>
          <a:bodyPr wrap="square" lIns="0" tIns="0" rIns="0" bIns="0" rtlCol="0" anchor="ctr"/>
          <a:lstStyle/>
          <a:p>
            <a:pPr indent="0" marL="0">
              <a:buNone/>
            </a:pPr>
            <a:r>
              <a:rPr lang="en-US" sz="1500" dirty="0">
                <a:solidFill>
                  <a:srgbClr val="CADCFC"/>
                </a:solidFill>
                <a:latin typeface="Yu Gothic" pitchFamily="34" charset="0"/>
                <a:ea typeface="Yu Gothic" pitchFamily="34" charset="-122"/>
                <a:cs typeface="Yu Gothic" pitchFamily="34" charset="-120"/>
              </a:rPr>
              <a:t>業務要件・機能要件・システム要件の全体体系  ―  SSBJ法定開示対応と非財務の財務化(PBR向上)</a:t>
            </a:r>
            <a:endParaRPr lang="en-US" sz="1500" dirty="0"/>
          </a:p>
        </p:txBody>
      </p:sp>
      <p:sp>
        <p:nvSpPr>
          <p:cNvPr id="5" name="Shape 3"/>
          <p:cNvSpPr/>
          <p:nvPr/>
        </p:nvSpPr>
        <p:spPr>
          <a:xfrm>
            <a:off x="822960" y="4663440"/>
            <a:ext cx="2926080" cy="0"/>
          </a:xfrm>
          <a:prstGeom prst="line">
            <a:avLst/>
          </a:prstGeom>
          <a:noFill/>
          <a:ln w="38100">
            <a:solidFill>
              <a:srgbClr val="C8102E"/>
            </a:solidFill>
            <a:prstDash val="solid"/>
          </a:ln>
        </p:spPr>
      </p:sp>
      <p:sp>
        <p:nvSpPr>
          <p:cNvPr id="6" name="Text 4"/>
          <p:cNvSpPr/>
          <p:nvPr/>
        </p:nvSpPr>
        <p:spPr>
          <a:xfrm>
            <a:off x="822960" y="4892040"/>
            <a:ext cx="10515600" cy="731520"/>
          </a:xfrm>
          <a:prstGeom prst="rect">
            <a:avLst/>
          </a:prstGeom>
          <a:noFill/>
          <a:ln/>
        </p:spPr>
        <p:txBody>
          <a:bodyPr wrap="square" lIns="0" tIns="0" rIns="0" bIns="0" rtlCol="0" anchor="ctr"/>
          <a:lstStyle/>
          <a:p>
            <a:pPr indent="0" marL="0">
              <a:lnSpc>
                <a:spcPct val="130000"/>
              </a:lnSpc>
              <a:buNone/>
            </a:pPr>
            <a:r>
              <a:rPr lang="en-US" sz="1100" dirty="0">
                <a:solidFill>
                  <a:srgbClr val="B9C4DE"/>
                </a:solidFill>
                <a:latin typeface="Yu Gothic" pitchFamily="34" charset="0"/>
                <a:ea typeface="Yu Gothic" pitchFamily="34" charset="-122"/>
                <a:cs typeface="Yu Gothic" pitchFamily="34" charset="-120"/>
              </a:rPr>
              <a:t>2026年7月21日</a:t>
            </a:r>
            <a:endParaRPr lang="en-US" sz="1100" dirty="0"/>
          </a:p>
          <a:p>
            <a:pPr indent="0" marL="0">
              <a:lnSpc>
                <a:spcPct val="130000"/>
              </a:lnSpc>
              <a:buNone/>
            </a:pPr>
            <a:r>
              <a:rPr lang="en-US" sz="1100" dirty="0">
                <a:solidFill>
                  <a:srgbClr val="B9C4DE"/>
                </a:solidFill>
                <a:latin typeface="Yu Gothic" pitchFamily="34" charset="0"/>
                <a:ea typeface="Yu Gothic" pitchFamily="34" charset="-122"/>
                <a:cs typeface="Yu Gothic" pitchFamily="34" charset="-120"/>
              </a:rPr>
              <a:t>構想資料(202607 SSBJ対応構想 V1.1)・As-Is詳細業務フロー(20260721)に基づく要求定義フェーズ インプット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エグゼクティブサマリー</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守りのために集めるデータこそが攻めの原材料 ― 同一基盤・同一要求体系で「二重投資なき」設計を行う</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a:t>
            </a:r>
            <a:endParaRPr lang="en-US" sz="900" dirty="0"/>
          </a:p>
        </p:txBody>
      </p:sp>
      <p:sp>
        <p:nvSpPr>
          <p:cNvPr id="6" name="Text 4"/>
          <p:cNvSpPr/>
          <p:nvPr/>
        </p:nvSpPr>
        <p:spPr>
          <a:xfrm>
            <a:off x="457200" y="1307592"/>
            <a:ext cx="384048" cy="384048"/>
          </a:xfrm>
          <a:prstGeom prst="roundRect">
            <a:avLst>
              <a:gd name="adj" fmla="val 11905"/>
            </a:avLst>
          </a:prstGeom>
          <a:solidFill>
            <a:srgbClr val="1E2761"/>
          </a:solidFill>
          <a:ln/>
        </p:spPr>
        <p:txBody>
          <a:bodyPr wrap="square" lIns="381" tIns="381" rIns="381" bIns="381"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7" name="Text 5"/>
          <p:cNvSpPr/>
          <p:nvPr/>
        </p:nvSpPr>
        <p:spPr>
          <a:xfrm>
            <a:off x="1005840" y="1234440"/>
            <a:ext cx="2011680" cy="1207008"/>
          </a:xfrm>
          <a:prstGeom prst="rect">
            <a:avLst/>
          </a:prstGeom>
          <a:noFill/>
          <a:ln/>
        </p:spPr>
        <p:txBody>
          <a:bodyPr wrap="square" lIns="0" tIns="0" rIns="0" bIns="0" rtlCol="0" anchor="ctr"/>
          <a:lstStyle/>
          <a:p>
            <a:pPr indent="0" marL="0">
              <a:buNone/>
            </a:pPr>
            <a:r>
              <a:rPr lang="en-US" sz="1300" b="1" dirty="0">
                <a:solidFill>
                  <a:srgbClr val="1E2761"/>
                </a:solidFill>
                <a:latin typeface="Yu Gothic" pitchFamily="34" charset="0"/>
                <a:ea typeface="Yu Gothic" pitchFamily="34" charset="-122"/>
                <a:cs typeface="Yu Gothic" pitchFamily="34" charset="-120"/>
              </a:rPr>
              <a:t>前提認識</a:t>
            </a:r>
            <a:endParaRPr lang="en-US" sz="1300" dirty="0"/>
          </a:p>
        </p:txBody>
      </p:sp>
      <p:sp>
        <p:nvSpPr>
          <p:cNvPr id="8" name="Text 6"/>
          <p:cNvSpPr/>
          <p:nvPr/>
        </p:nvSpPr>
        <p:spPr>
          <a:xfrm>
            <a:off x="3154680" y="1234440"/>
            <a:ext cx="8595360" cy="1207008"/>
          </a:xfrm>
          <a:prstGeom prst="rect">
            <a:avLst/>
          </a:prstGeom>
          <a:noFill/>
          <a:ln/>
        </p:spPr>
        <p:txBody>
          <a:bodyPr wrap="square" lIns="0" tIns="0" rIns="0" bIns="0" rtlCol="0" anchor="ctr"/>
          <a:lstStyle/>
          <a:p>
            <a:pPr indent="0" marL="0">
              <a:lnSpc>
                <a:spcPct val="115000"/>
              </a:lnSpc>
              <a:buNone/>
            </a:pPr>
            <a:r>
              <a:rPr lang="en-US" sz="1050" dirty="0">
                <a:solidFill>
                  <a:srgbClr val="2A2A33"/>
                </a:solidFill>
                <a:latin typeface="Yu Gothic" pitchFamily="34" charset="0"/>
                <a:ea typeface="Yu Gothic" pitchFamily="34" charset="-122"/>
                <a:cs typeface="Yu Gothic" pitchFamily="34" charset="-120"/>
              </a:rPr>
              <a:t>SSBJにより非財務情報は「任意レポート」から「有報での法定開示・第三者保証対象」へ転換。As-Isは34サイトのExcel/メールのバケツリレー、承認・履歴・ロック・権限の全工程欠如、有報フロー未構築。2028年1月データ本番から逆算し2027年中の基盤稼働が必須</a:t>
            </a:r>
            <a:endParaRPr lang="en-US" sz="1050" dirty="0"/>
          </a:p>
        </p:txBody>
      </p:sp>
      <p:sp>
        <p:nvSpPr>
          <p:cNvPr id="9" name="Shape 7"/>
          <p:cNvSpPr/>
          <p:nvPr/>
        </p:nvSpPr>
        <p:spPr>
          <a:xfrm>
            <a:off x="457200" y="2514600"/>
            <a:ext cx="11274552" cy="0"/>
          </a:xfrm>
          <a:prstGeom prst="line">
            <a:avLst/>
          </a:prstGeom>
          <a:noFill/>
          <a:ln w="12700">
            <a:solidFill>
              <a:srgbClr val="E3E6ED"/>
            </a:solidFill>
            <a:prstDash val="solid"/>
          </a:ln>
        </p:spPr>
      </p:sp>
      <p:sp>
        <p:nvSpPr>
          <p:cNvPr id="10" name="Text 8"/>
          <p:cNvSpPr/>
          <p:nvPr/>
        </p:nvSpPr>
        <p:spPr>
          <a:xfrm>
            <a:off x="457200" y="2651760"/>
            <a:ext cx="384048" cy="384048"/>
          </a:xfrm>
          <a:prstGeom prst="roundRect">
            <a:avLst>
              <a:gd name="adj" fmla="val 11905"/>
            </a:avLst>
          </a:prstGeom>
          <a:solidFill>
            <a:srgbClr val="1E2761"/>
          </a:solidFill>
          <a:ln/>
        </p:spPr>
        <p:txBody>
          <a:bodyPr wrap="square" lIns="381" tIns="381" rIns="381" bIns="381"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1" name="Text 9"/>
          <p:cNvSpPr/>
          <p:nvPr/>
        </p:nvSpPr>
        <p:spPr>
          <a:xfrm>
            <a:off x="1005840" y="2578608"/>
            <a:ext cx="2011680" cy="1207008"/>
          </a:xfrm>
          <a:prstGeom prst="rect">
            <a:avLst/>
          </a:prstGeom>
          <a:noFill/>
          <a:ln/>
        </p:spPr>
        <p:txBody>
          <a:bodyPr wrap="square" lIns="0" tIns="0" rIns="0" bIns="0" rtlCol="0" anchor="ctr"/>
          <a:lstStyle/>
          <a:p>
            <a:pPr indent="0" marL="0">
              <a:buNone/>
            </a:pPr>
            <a:r>
              <a:rPr lang="en-US" sz="1300" b="1" dirty="0">
                <a:solidFill>
                  <a:srgbClr val="1E2761"/>
                </a:solidFill>
                <a:latin typeface="Yu Gothic" pitchFamily="34" charset="0"/>
                <a:ea typeface="Yu Gothic" pitchFamily="34" charset="-122"/>
                <a:cs typeface="Yu Gothic" pitchFamily="34" charset="-120"/>
              </a:rPr>
              <a:t>基本方針</a:t>
            </a:r>
            <a:endParaRPr lang="en-US" sz="1300" dirty="0"/>
          </a:p>
        </p:txBody>
      </p:sp>
      <p:sp>
        <p:nvSpPr>
          <p:cNvPr id="12" name="Text 10"/>
          <p:cNvSpPr/>
          <p:nvPr/>
        </p:nvSpPr>
        <p:spPr>
          <a:xfrm>
            <a:off x="3154680" y="2578608"/>
            <a:ext cx="8595360" cy="1207008"/>
          </a:xfrm>
          <a:prstGeom prst="rect">
            <a:avLst/>
          </a:prstGeom>
          <a:noFill/>
          <a:ln/>
        </p:spPr>
        <p:txBody>
          <a:bodyPr wrap="square" lIns="0" tIns="0" rIns="0" bIns="0" rtlCol="0" anchor="ctr"/>
          <a:lstStyle/>
          <a:p>
            <a:pPr indent="0" marL="0">
              <a:lnSpc>
                <a:spcPct val="115000"/>
              </a:lnSpc>
              <a:buNone/>
            </a:pPr>
            <a:r>
              <a:rPr lang="en-US" sz="1050" dirty="0">
                <a:solidFill>
                  <a:srgbClr val="2A2A33"/>
                </a:solidFill>
                <a:latin typeface="Yu Gothic" pitchFamily="34" charset="0"/>
                <a:ea typeface="Yu Gothic" pitchFamily="34" charset="-122"/>
                <a:cs typeface="Yu Gothic" pitchFamily="34" charset="-120"/>
              </a:rPr>
              <a:t>要求整理は「守り(法定開示=インプット極小化と強固なガバナンス)」×「攻め(非財務の財務化=アウトカム最大化・PBR向上)」の2軸を同一のデータ基盤・同一の要求体系で設計。統制骨格(不変)とKPI・換算ロジック(可変マスタ)の二層構造で手戻りを最小化</a:t>
            </a:r>
            <a:endParaRPr lang="en-US" sz="1050" dirty="0"/>
          </a:p>
        </p:txBody>
      </p:sp>
      <p:sp>
        <p:nvSpPr>
          <p:cNvPr id="13" name="Shape 11"/>
          <p:cNvSpPr/>
          <p:nvPr/>
        </p:nvSpPr>
        <p:spPr>
          <a:xfrm>
            <a:off x="457200" y="3858768"/>
            <a:ext cx="11274552" cy="0"/>
          </a:xfrm>
          <a:prstGeom prst="line">
            <a:avLst/>
          </a:prstGeom>
          <a:noFill/>
          <a:ln w="12700">
            <a:solidFill>
              <a:srgbClr val="E3E6ED"/>
            </a:solidFill>
            <a:prstDash val="solid"/>
          </a:ln>
        </p:spPr>
      </p:sp>
      <p:sp>
        <p:nvSpPr>
          <p:cNvPr id="14" name="Text 12"/>
          <p:cNvSpPr/>
          <p:nvPr/>
        </p:nvSpPr>
        <p:spPr>
          <a:xfrm>
            <a:off x="457200" y="3995928"/>
            <a:ext cx="384048" cy="384048"/>
          </a:xfrm>
          <a:prstGeom prst="roundRect">
            <a:avLst>
              <a:gd name="adj" fmla="val 11905"/>
            </a:avLst>
          </a:prstGeom>
          <a:solidFill>
            <a:srgbClr val="C8102E"/>
          </a:solidFill>
          <a:ln/>
        </p:spPr>
        <p:txBody>
          <a:bodyPr wrap="square" lIns="381" tIns="381" rIns="381" bIns="381"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15" name="Text 13"/>
          <p:cNvSpPr/>
          <p:nvPr/>
        </p:nvSpPr>
        <p:spPr>
          <a:xfrm>
            <a:off x="1005840" y="3922776"/>
            <a:ext cx="2011680" cy="1207008"/>
          </a:xfrm>
          <a:prstGeom prst="rect">
            <a:avLst/>
          </a:prstGeom>
          <a:noFill/>
          <a:ln/>
        </p:spPr>
        <p:txBody>
          <a:bodyPr wrap="square" lIns="0" tIns="0" rIns="0" bIns="0" rtlCol="0" anchor="ctr"/>
          <a:lstStyle/>
          <a:p>
            <a:pPr indent="0" marL="0">
              <a:buNone/>
            </a:pPr>
            <a:r>
              <a:rPr lang="en-US" sz="1300" b="1" dirty="0">
                <a:solidFill>
                  <a:srgbClr val="C8102E"/>
                </a:solidFill>
                <a:latin typeface="Yu Gothic" pitchFamily="34" charset="0"/>
                <a:ea typeface="Yu Gothic" pitchFamily="34" charset="-122"/>
                <a:cs typeface="Yu Gothic" pitchFamily="34" charset="-120"/>
              </a:rPr>
              <a:t>攻めの中核</a:t>
            </a:r>
            <a:endParaRPr lang="en-US" sz="1300" dirty="0"/>
          </a:p>
        </p:txBody>
      </p:sp>
      <p:sp>
        <p:nvSpPr>
          <p:cNvPr id="16" name="Text 14"/>
          <p:cNvSpPr/>
          <p:nvPr/>
        </p:nvSpPr>
        <p:spPr>
          <a:xfrm>
            <a:off x="3154680" y="3922776"/>
            <a:ext cx="8595360" cy="1207008"/>
          </a:xfrm>
          <a:prstGeom prst="rect">
            <a:avLst/>
          </a:prstGeom>
          <a:noFill/>
          <a:ln/>
        </p:spPr>
        <p:txBody>
          <a:bodyPr wrap="square" lIns="0" tIns="0" rIns="0" bIns="0" rtlCol="0" anchor="ctr"/>
          <a:lstStyle/>
          <a:p>
            <a:pPr indent="0" marL="0">
              <a:lnSpc>
                <a:spcPct val="115000"/>
              </a:lnSpc>
              <a:buNone/>
            </a:pPr>
            <a:r>
              <a:rPr lang="en-US" sz="1050" dirty="0">
                <a:solidFill>
                  <a:srgbClr val="2A2A33"/>
                </a:solidFill>
                <a:latin typeface="Yu Gothic" pitchFamily="34" charset="0"/>
                <a:ea typeface="Yu Gothic" pitchFamily="34" charset="-122"/>
                <a:cs typeface="Yu Gothic" pitchFamily="34" charset="-120"/>
              </a:rPr>
              <a:t>先進企業(エーザイ柳モデル、ユニリーバ、コルゲート、フィリップス、サントリー、SAP等)に共通するのは非財務→財務の因果パスの明示・貨幣換算・統計検証。当社は「オーラルヘルスの健康・医療費インパクト」と「使用時の節水・CO2削減」という事業一体の独自テーマで先行可能</a:t>
            </a:r>
            <a:endParaRPr lang="en-US" sz="1050" dirty="0"/>
          </a:p>
        </p:txBody>
      </p:sp>
      <p:sp>
        <p:nvSpPr>
          <p:cNvPr id="17" name="Shape 15"/>
          <p:cNvSpPr/>
          <p:nvPr/>
        </p:nvSpPr>
        <p:spPr>
          <a:xfrm>
            <a:off x="457200" y="5202936"/>
            <a:ext cx="11274552" cy="0"/>
          </a:xfrm>
          <a:prstGeom prst="line">
            <a:avLst/>
          </a:prstGeom>
          <a:noFill/>
          <a:ln w="12700">
            <a:solidFill>
              <a:srgbClr val="E3E6ED"/>
            </a:solidFill>
            <a:prstDash val="solid"/>
          </a:ln>
        </p:spPr>
      </p:sp>
      <p:sp>
        <p:nvSpPr>
          <p:cNvPr id="18" name="Text 16"/>
          <p:cNvSpPr/>
          <p:nvPr/>
        </p:nvSpPr>
        <p:spPr>
          <a:xfrm>
            <a:off x="457200" y="5340096"/>
            <a:ext cx="384048" cy="384048"/>
          </a:xfrm>
          <a:prstGeom prst="roundRect">
            <a:avLst>
              <a:gd name="adj" fmla="val 11905"/>
            </a:avLst>
          </a:prstGeom>
          <a:solidFill>
            <a:srgbClr val="C8102E"/>
          </a:solidFill>
          <a:ln/>
        </p:spPr>
        <p:txBody>
          <a:bodyPr wrap="square" lIns="381" tIns="381" rIns="381" bIns="381"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19" name="Text 17"/>
          <p:cNvSpPr/>
          <p:nvPr/>
        </p:nvSpPr>
        <p:spPr>
          <a:xfrm>
            <a:off x="1005840" y="5266944"/>
            <a:ext cx="2011680" cy="1207008"/>
          </a:xfrm>
          <a:prstGeom prst="rect">
            <a:avLst/>
          </a:prstGeom>
          <a:noFill/>
          <a:ln/>
        </p:spPr>
        <p:txBody>
          <a:bodyPr wrap="square" lIns="0" tIns="0" rIns="0" bIns="0" rtlCol="0" anchor="ctr"/>
          <a:lstStyle/>
          <a:p>
            <a:pPr indent="0" marL="0">
              <a:buNone/>
            </a:pPr>
            <a:r>
              <a:rPr lang="en-US" sz="1300" b="1" dirty="0">
                <a:solidFill>
                  <a:srgbClr val="C8102E"/>
                </a:solidFill>
                <a:latin typeface="Yu Gothic" pitchFamily="34" charset="0"/>
                <a:ea typeface="Yu Gothic" pitchFamily="34" charset="-122"/>
                <a:cs typeface="Yu Gothic" pitchFamily="34" charset="-120"/>
              </a:rPr>
              <a:t>要求整理の骨格</a:t>
            </a:r>
            <a:endParaRPr lang="en-US" sz="1300" dirty="0"/>
          </a:p>
        </p:txBody>
      </p:sp>
      <p:sp>
        <p:nvSpPr>
          <p:cNvPr id="20" name="Text 18"/>
          <p:cNvSpPr/>
          <p:nvPr/>
        </p:nvSpPr>
        <p:spPr>
          <a:xfrm>
            <a:off x="3154680" y="5266944"/>
            <a:ext cx="8595360" cy="1207008"/>
          </a:xfrm>
          <a:prstGeom prst="rect">
            <a:avLst/>
          </a:prstGeom>
          <a:noFill/>
          <a:ln/>
        </p:spPr>
        <p:txBody>
          <a:bodyPr wrap="square" lIns="0" tIns="0" rIns="0" bIns="0" rtlCol="0" anchor="ctr"/>
          <a:lstStyle/>
          <a:p>
            <a:pPr indent="0" marL="0">
              <a:lnSpc>
                <a:spcPct val="115000"/>
              </a:lnSpc>
              <a:buNone/>
            </a:pPr>
            <a:r>
              <a:rPr lang="en-US" sz="1050" dirty="0">
                <a:solidFill>
                  <a:srgbClr val="2A2A33"/>
                </a:solidFill>
                <a:latin typeface="Yu Gothic" pitchFamily="34" charset="0"/>
                <a:ea typeface="Yu Gothic" pitchFamily="34" charset="-122"/>
                <a:cs typeface="Yu Gothic" pitchFamily="34" charset="-120"/>
              </a:rPr>
              <a:t>「守り/攻め」×「業務・機能・システム要件」の6象限で網羅整理(業務28項目・機能37項目・システム20項目)。RFPには守りをMUST、攻めを段階導入(PHASED)として格納し、拡張性・データエクスポート自由度をベンダー評価軸に反映</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前提整理 ― As-Is課題とSSBJ要求のギャップ構造</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全6工程に手作業と統制欠如が連鎖。SSBJが求める「財務級の非財務データ」との間に構造的GAPが存在する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2</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417320"/>
                <a:gridCol w="3977640"/>
                <a:gridCol w="2926080"/>
                <a:gridCol w="2953512"/>
              </a:tblGrid>
              <a:tr h="475488">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工程</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As-Isの実態</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守り上のリスク</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攻め上の機会損失</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r>
              <a:tr h="475488">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① 現場・データ発生</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34サイトの検針・請求書、海外は単位・通貨バラバラ、委託実データ1社のみ</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網羅性・正確性欠如、Scope3実測性なし</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製品・拠点別粒度が粗く分析不能</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75488">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② インプット</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エコアシスト手入力+Excel+SAP属人抽出</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入力ミス・抜け漏れ、抽出条件の属人化</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月次より細かい鮮度が存在しない</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75488">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③ 収集(事務局)</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ESG企画室ハブ、督促・修正依頼が全て個別メール</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承認行為・証跡なし(履歴はメールのみ)</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収集に忙殺され分析工数ゼロ</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75488">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④ 算定・集計</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Excelコピペ、係数手動更新、Scope3二次データ、LCAは属人R言語</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算定ブラックボックス、監査トレース不能</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削減努力が数値に反映されない</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75488">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⑤ 検証・統制</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SGSサンプル検証(S1/2=年2拠点)、指摘104件をExcel台帳管理</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全量保証に耐えない</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指摘対応に数週間、意思決定に余力なし</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75488">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⑥ 開示</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統合レポート年1回・後追い。有報向けフローは未構築</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有報同時開示に物理的に間に合わない</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開示が守りの作業で終わりIR・事業に還流せず</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bl>
          </a:graphicData>
        </a:graphic>
      </p:graphicFrame>
      <p:sp>
        <p:nvSpPr>
          <p:cNvPr id="7" name="Text 4"/>
          <p:cNvSpPr/>
          <p:nvPr/>
        </p:nvSpPr>
        <p:spPr>
          <a:xfrm>
            <a:off x="457200" y="5074920"/>
            <a:ext cx="2103120" cy="411480"/>
          </a:xfrm>
          <a:prstGeom prst="roundRect">
            <a:avLst>
              <a:gd name="adj" fmla="val 11111"/>
            </a:avLst>
          </a:prstGeom>
          <a:solidFill>
            <a:srgbClr val="C8102E"/>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統制ギャップ(SSBJ最大論点)</a:t>
            </a:r>
            <a:endParaRPr lang="en-US" sz="1050" dirty="0"/>
          </a:p>
        </p:txBody>
      </p:sp>
      <p:sp>
        <p:nvSpPr>
          <p:cNvPr id="8" name="Text 5"/>
          <p:cNvSpPr/>
          <p:nvPr/>
        </p:nvSpPr>
        <p:spPr>
          <a:xfrm>
            <a:off x="2697480" y="5074920"/>
            <a:ext cx="9052560" cy="411480"/>
          </a:xfrm>
          <a:prstGeom prst="rect">
            <a:avLst/>
          </a:prstGeom>
          <a:noFill/>
          <a:ln/>
        </p:spPr>
        <p:txBody>
          <a:bodyPr wrap="square" lIns="0" tIns="0" rIns="0" bIns="0" rtlCol="0" anchor="ctr"/>
          <a:lstStyle/>
          <a:p>
            <a:pPr indent="0" marL="0">
              <a:buNone/>
            </a:pPr>
            <a:r>
              <a:rPr lang="en-US" sz="1050" b="1" dirty="0">
                <a:solidFill>
                  <a:srgbClr val="C8102E"/>
                </a:solidFill>
                <a:latin typeface="Yu Gothic" pitchFamily="34" charset="0"/>
                <a:ea typeface="Yu Gothic" pitchFamily="34" charset="-122"/>
                <a:cs typeface="Yu Gothic" pitchFamily="34" charset="-120"/>
              </a:rPr>
              <a:t>承認ワークフローなし ／ 修正は上書き=変更履歴なし ／ 確定・ロックなし ／ 閲覧権限管理なし ― 第三者保証・有報開示の証跡要件を満たさない</a:t>
            </a:r>
            <a:endParaRPr lang="en-US" sz="1050" dirty="0"/>
          </a:p>
        </p:txBody>
      </p:sp>
      <p:sp>
        <p:nvSpPr>
          <p:cNvPr id="9" name="Shape 6"/>
          <p:cNvSpPr/>
          <p:nvPr/>
        </p:nvSpPr>
        <p:spPr>
          <a:xfrm>
            <a:off x="457200" y="5623560"/>
            <a:ext cx="11274552" cy="868680"/>
          </a:xfrm>
          <a:prstGeom prst="roundRect">
            <a:avLst>
              <a:gd name="adj" fmla="val 6316"/>
            </a:avLst>
          </a:prstGeom>
          <a:solidFill>
            <a:srgbClr val="EEF3FB"/>
          </a:solidFill>
          <a:ln/>
        </p:spPr>
      </p:sp>
      <p:sp>
        <p:nvSpPr>
          <p:cNvPr id="10" name="Text 7"/>
          <p:cNvSpPr/>
          <p:nvPr/>
        </p:nvSpPr>
        <p:spPr>
          <a:xfrm>
            <a:off x="685800" y="5687568"/>
            <a:ext cx="10835640" cy="749808"/>
          </a:xfrm>
          <a:prstGeom prst="rect">
            <a:avLst/>
          </a:prstGeom>
          <a:noFill/>
          <a:ln/>
        </p:spPr>
        <p:txBody>
          <a:bodyPr wrap="square" lIns="0" tIns="0" rIns="0" bIns="0" rtlCol="0" anchor="ctr"/>
          <a:lstStyle/>
          <a:p>
            <a:pPr indent="0" marL="0">
              <a:lnSpc>
                <a:spcPct val="115000"/>
              </a:lnSpc>
              <a:buNone/>
            </a:pPr>
            <a:r>
              <a:rPr lang="en-US" sz="1050" b="1" dirty="0">
                <a:solidFill>
                  <a:srgbClr val="1E2761"/>
                </a:solidFill>
                <a:latin typeface="Yu Gothic" pitchFamily="34" charset="0"/>
                <a:ea typeface="Yu Gothic" pitchFamily="34" charset="-122"/>
                <a:cs typeface="Yu Gothic" pitchFamily="34" charset="-120"/>
              </a:rPr>
              <a:t>クリティカルパス: </a:t>
            </a:r>
            <a:pPr indent="0" marL="0">
              <a:lnSpc>
                <a:spcPct val="115000"/>
              </a:lnSpc>
              <a:buNone/>
            </a:pPr>
            <a:r>
              <a:rPr lang="en-US" sz="1050" dirty="0">
                <a:solidFill>
                  <a:srgbClr val="2A2A33"/>
                </a:solidFill>
                <a:latin typeface="Yu Gothic" pitchFamily="34" charset="0"/>
                <a:ea typeface="Yu Gothic" pitchFamily="34" charset="-122"/>
                <a:cs typeface="Yu Gothic" pitchFamily="34" charset="-120"/>
              </a:rPr>
              <a:t>2029年3月期開示を目指す場合、2028年1〜12月データが本番 → 逆算して2027年中のシステム導入完遂が必須。「戦略骨子の確定を待ってから要件定義」では間に合わないため、不変の統制骨格を先に固定し、可変のKPI・活用要件を拡張可能に織り込む二層設計とする</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要求整理の全体フレームワーク ― 守り×攻め × 3階層</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6象限で網羅的に整理。守り=法定開示・保証・統制(MUST)、攻め=非財務の財務化(段階導入)を同一基盤上に設計する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3</a:t>
            </a:r>
            <a:endParaRPr lang="en-US" sz="900" dirty="0"/>
          </a:p>
        </p:txBody>
      </p:sp>
      <p:sp>
        <p:nvSpPr>
          <p:cNvPr id="6" name="Text 4"/>
          <p:cNvSpPr/>
          <p:nvPr/>
        </p:nvSpPr>
        <p:spPr>
          <a:xfrm>
            <a:off x="457200" y="1371600"/>
            <a:ext cx="1783080" cy="457200"/>
          </a:xfrm>
          <a:prstGeom prst="rect">
            <a:avLst/>
          </a:prstGeom>
          <a:noFill/>
          <a:ln/>
        </p:spPr>
        <p:txBody>
          <a:bodyPr wrap="square" rtlCol="0" anchor="ctr"/>
          <a:lstStyle/>
          <a:p>
            <a:pPr indent="0" marL="0">
              <a:buNone/>
            </a:pPr>
            <a:endParaRPr lang="en-US" dirty="0"/>
          </a:p>
        </p:txBody>
      </p:sp>
      <p:sp>
        <p:nvSpPr>
          <p:cNvPr id="7" name="Text 5"/>
          <p:cNvSpPr/>
          <p:nvPr/>
        </p:nvSpPr>
        <p:spPr>
          <a:xfrm>
            <a:off x="2377440" y="1325880"/>
            <a:ext cx="3931920" cy="411480"/>
          </a:xfrm>
          <a:prstGeom prst="roundRect">
            <a:avLst>
              <a:gd name="adj" fmla="val 11111"/>
            </a:avLst>
          </a:prstGeom>
          <a:solidFill>
            <a:srgbClr val="1E2761"/>
          </a:solidFill>
          <a:ln/>
        </p:spPr>
        <p:txBody>
          <a:bodyPr wrap="square" lIns="381" tIns="381" rIns="381" bIns="381"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業務要件 (BR)</a:t>
            </a:r>
            <a:endParaRPr lang="en-US" sz="1200" dirty="0"/>
          </a:p>
        </p:txBody>
      </p:sp>
      <p:sp>
        <p:nvSpPr>
          <p:cNvPr id="8" name="Text 6"/>
          <p:cNvSpPr/>
          <p:nvPr/>
        </p:nvSpPr>
        <p:spPr>
          <a:xfrm>
            <a:off x="6400800" y="1325880"/>
            <a:ext cx="2834640" cy="411480"/>
          </a:xfrm>
          <a:prstGeom prst="roundRect">
            <a:avLst>
              <a:gd name="adj" fmla="val 11111"/>
            </a:avLst>
          </a:prstGeom>
          <a:solidFill>
            <a:srgbClr val="1E2761"/>
          </a:solidFill>
          <a:ln/>
        </p:spPr>
        <p:txBody>
          <a:bodyPr wrap="square" lIns="381" tIns="381" rIns="381" bIns="381"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機能要件 (FR)</a:t>
            </a:r>
            <a:endParaRPr lang="en-US" sz="1200" dirty="0"/>
          </a:p>
        </p:txBody>
      </p:sp>
      <p:sp>
        <p:nvSpPr>
          <p:cNvPr id="9" name="Text 7"/>
          <p:cNvSpPr/>
          <p:nvPr/>
        </p:nvSpPr>
        <p:spPr>
          <a:xfrm>
            <a:off x="9326880" y="1325880"/>
            <a:ext cx="2862072" cy="411480"/>
          </a:xfrm>
          <a:prstGeom prst="roundRect">
            <a:avLst>
              <a:gd name="adj" fmla="val 11111"/>
            </a:avLst>
          </a:prstGeom>
          <a:solidFill>
            <a:srgbClr val="1E2761"/>
          </a:solidFill>
          <a:ln/>
        </p:spPr>
        <p:txBody>
          <a:bodyPr wrap="square" lIns="381" tIns="381" rIns="381" bIns="381"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システム要件 (SR)</a:t>
            </a:r>
            <a:endParaRPr lang="en-US" sz="1200" dirty="0"/>
          </a:p>
        </p:txBody>
      </p:sp>
      <p:sp>
        <p:nvSpPr>
          <p:cNvPr id="10" name="Text 8"/>
          <p:cNvSpPr/>
          <p:nvPr/>
        </p:nvSpPr>
        <p:spPr>
          <a:xfrm>
            <a:off x="457200" y="1874520"/>
            <a:ext cx="1783080" cy="2103120"/>
          </a:xfrm>
          <a:prstGeom prst="roundRect">
            <a:avLst>
              <a:gd name="adj" fmla="val 2564"/>
            </a:avLst>
          </a:prstGeom>
          <a:solidFill>
            <a:srgbClr val="1E2761"/>
          </a:solidFill>
          <a:ln/>
        </p:spPr>
        <p:txBody>
          <a:bodyPr wrap="square" lIns="381" tIns="381" rIns="381" bIns="381"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守り</a:t>
            </a:r>
            <a:endParaRPr lang="en-US" sz="1300" dirty="0"/>
          </a:p>
          <a:p>
            <a:pPr algn="ctr" indent="0" marL="0">
              <a:buNone/>
            </a:pPr>
            <a:r>
              <a:rPr lang="en-US" sz="1300" b="1" dirty="0">
                <a:solidFill>
                  <a:srgbClr val="FFFFFF"/>
                </a:solidFill>
                <a:latin typeface="Yu Gothic" pitchFamily="34" charset="0"/>
                <a:ea typeface="Yu Gothic" pitchFamily="34" charset="-122"/>
                <a:cs typeface="Yu Gothic" pitchFamily="34" charset="-120"/>
              </a:rPr>
              <a:t>法定開示</a:t>
            </a:r>
            <a:endParaRPr lang="en-US" sz="1300" dirty="0"/>
          </a:p>
          <a:p>
            <a:pPr algn="ctr" indent="0" marL="0">
              <a:buNone/>
            </a:pPr>
            <a:r>
              <a:rPr lang="en-US" sz="1300" b="1" dirty="0">
                <a:solidFill>
                  <a:srgbClr val="FFFFFF"/>
                </a:solidFill>
                <a:latin typeface="Yu Gothic" pitchFamily="34" charset="0"/>
                <a:ea typeface="Yu Gothic" pitchFamily="34" charset="-122"/>
                <a:cs typeface="Yu Gothic" pitchFamily="34" charset="-120"/>
              </a:rPr>
              <a:t>保証・統制</a:t>
            </a:r>
            <a:endParaRPr lang="en-US" sz="1300" dirty="0"/>
          </a:p>
        </p:txBody>
      </p:sp>
      <p:sp>
        <p:nvSpPr>
          <p:cNvPr id="11" name="Shape 9"/>
          <p:cNvSpPr/>
          <p:nvPr/>
        </p:nvSpPr>
        <p:spPr>
          <a:xfrm>
            <a:off x="2377440" y="1874520"/>
            <a:ext cx="3931920" cy="2103120"/>
          </a:xfrm>
          <a:prstGeom prst="roundRect">
            <a:avLst>
              <a:gd name="adj" fmla="val 2609"/>
            </a:avLst>
          </a:prstGeom>
          <a:solidFill>
            <a:srgbClr val="EEF3FB"/>
          </a:solidFill>
          <a:ln w="12700">
            <a:solidFill>
              <a:srgbClr val="C9D4E8"/>
            </a:solidFill>
            <a:prstDash val="solid"/>
          </a:ln>
        </p:spPr>
      </p:sp>
      <p:sp>
        <p:nvSpPr>
          <p:cNvPr id="12" name="Text 10"/>
          <p:cNvSpPr/>
          <p:nvPr/>
        </p:nvSpPr>
        <p:spPr>
          <a:xfrm>
            <a:off x="2487168" y="1965960"/>
            <a:ext cx="3712464" cy="1920240"/>
          </a:xfrm>
          <a:prstGeom prst="rect">
            <a:avLst/>
          </a:prstGeom>
          <a:noFill/>
          <a:ln/>
        </p:spPr>
        <p:txBody>
          <a:bodyPr wrap="square" lIns="0" tIns="0" rIns="0" bIns="0" rtlCol="0" anchor="t"/>
          <a:lstStyle/>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ガバナンス規程／組織境界・Scope3範囲定義／月次収集カレンダー／証憑・多段階承認・確定ロック運用／監査対応／有報同期プロセス／グローバル統制／教育・定着・属人化排除</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(BR-D-01〜15)</a:t>
            </a:r>
            <a:endParaRPr lang="en-US" sz="930" dirty="0"/>
          </a:p>
        </p:txBody>
      </p:sp>
      <p:sp>
        <p:nvSpPr>
          <p:cNvPr id="13" name="Shape 11"/>
          <p:cNvSpPr/>
          <p:nvPr/>
        </p:nvSpPr>
        <p:spPr>
          <a:xfrm>
            <a:off x="6400800" y="1874520"/>
            <a:ext cx="2834640" cy="2103120"/>
          </a:xfrm>
          <a:prstGeom prst="roundRect">
            <a:avLst>
              <a:gd name="adj" fmla="val 2609"/>
            </a:avLst>
          </a:prstGeom>
          <a:solidFill>
            <a:srgbClr val="EEF3FB"/>
          </a:solidFill>
          <a:ln w="12700">
            <a:solidFill>
              <a:srgbClr val="C9D4E8"/>
            </a:solidFill>
            <a:prstDash val="solid"/>
          </a:ln>
        </p:spPr>
      </p:sp>
      <p:sp>
        <p:nvSpPr>
          <p:cNvPr id="14" name="Text 12"/>
          <p:cNvSpPr/>
          <p:nvPr/>
        </p:nvSpPr>
        <p:spPr>
          <a:xfrm>
            <a:off x="6510528" y="1965960"/>
            <a:ext cx="2615184" cy="1920240"/>
          </a:xfrm>
          <a:prstGeom prst="rect">
            <a:avLst/>
          </a:prstGeom>
          <a:noFill/>
          <a:ln/>
        </p:spPr>
        <p:txBody>
          <a:bodyPr wrap="square" lIns="0" tIns="0" rIns="0" bIns="0" rtlCol="0" anchor="t"/>
          <a:lstStyle/>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収集: 一括入力・API・AI-OCR・サーベイ・自動督促</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算定: GHG全Scope・係数自動更新・E/S/G統合</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統制: WF・権限・監査証跡・ロック</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報告: 法定帳票・XBRL</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(FR-D-01〜24)</a:t>
            </a:r>
            <a:endParaRPr lang="en-US" sz="930" dirty="0"/>
          </a:p>
        </p:txBody>
      </p:sp>
      <p:sp>
        <p:nvSpPr>
          <p:cNvPr id="15" name="Shape 13"/>
          <p:cNvSpPr/>
          <p:nvPr/>
        </p:nvSpPr>
        <p:spPr>
          <a:xfrm>
            <a:off x="9326880" y="1874520"/>
            <a:ext cx="2862072" cy="2103120"/>
          </a:xfrm>
          <a:prstGeom prst="roundRect">
            <a:avLst>
              <a:gd name="adj" fmla="val 2609"/>
            </a:avLst>
          </a:prstGeom>
          <a:solidFill>
            <a:srgbClr val="EEF3FB"/>
          </a:solidFill>
          <a:ln w="12700">
            <a:solidFill>
              <a:srgbClr val="C9D4E8"/>
            </a:solidFill>
            <a:prstDash val="solid"/>
          </a:ln>
        </p:spPr>
      </p:sp>
      <p:sp>
        <p:nvSpPr>
          <p:cNvPr id="16" name="Text 14"/>
          <p:cNvSpPr/>
          <p:nvPr/>
        </p:nvSpPr>
        <p:spPr>
          <a:xfrm>
            <a:off x="9436608" y="1965960"/>
            <a:ext cx="2642616" cy="1920240"/>
          </a:xfrm>
          <a:prstGeom prst="rect">
            <a:avLst/>
          </a:prstGeom>
          <a:noFill/>
          <a:ln/>
        </p:spPr>
        <p:txBody>
          <a:bodyPr wrap="square" lIns="0" tIns="0" rIns="0" bIns="0" rtlCol="0" anchor="t"/>
          <a:lstStyle/>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SSO・暗号化・改ざん防止</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ISO27001/SOC</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可用性99.9%・ログ保全</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多言語・多通貨</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運用SLA・DR</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(SR-06〜15)</a:t>
            </a:r>
            <a:endParaRPr lang="en-US" sz="930" dirty="0"/>
          </a:p>
        </p:txBody>
      </p:sp>
      <p:sp>
        <p:nvSpPr>
          <p:cNvPr id="17" name="Text 15"/>
          <p:cNvSpPr/>
          <p:nvPr/>
        </p:nvSpPr>
        <p:spPr>
          <a:xfrm>
            <a:off x="457200" y="4114800"/>
            <a:ext cx="1783080" cy="2103120"/>
          </a:xfrm>
          <a:prstGeom prst="roundRect">
            <a:avLst>
              <a:gd name="adj" fmla="val 2564"/>
            </a:avLst>
          </a:prstGeom>
          <a:solidFill>
            <a:srgbClr val="C8102E"/>
          </a:solidFill>
          <a:ln/>
        </p:spPr>
        <p:txBody>
          <a:bodyPr wrap="square" lIns="381" tIns="381" rIns="381" bIns="381"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攻め</a:t>
            </a:r>
            <a:endParaRPr lang="en-US" sz="1300" dirty="0"/>
          </a:p>
          <a:p>
            <a:pPr algn="ctr" indent="0" marL="0">
              <a:buNone/>
            </a:pPr>
            <a:r>
              <a:rPr lang="en-US" sz="1300" b="1" dirty="0">
                <a:solidFill>
                  <a:srgbClr val="FFFFFF"/>
                </a:solidFill>
                <a:latin typeface="Yu Gothic" pitchFamily="34" charset="0"/>
                <a:ea typeface="Yu Gothic" pitchFamily="34" charset="-122"/>
                <a:cs typeface="Yu Gothic" pitchFamily="34" charset="-120"/>
              </a:rPr>
              <a:t>非財務の財務化</a:t>
            </a:r>
            <a:endParaRPr lang="en-US" sz="1300" dirty="0"/>
          </a:p>
          <a:p>
            <a:pPr algn="ctr" indent="0" marL="0">
              <a:buNone/>
            </a:pPr>
            <a:r>
              <a:rPr lang="en-US" sz="1300" b="1" dirty="0">
                <a:solidFill>
                  <a:srgbClr val="FFFFFF"/>
                </a:solidFill>
                <a:latin typeface="Yu Gothic" pitchFamily="34" charset="0"/>
                <a:ea typeface="Yu Gothic" pitchFamily="34" charset="-122"/>
                <a:cs typeface="Yu Gothic" pitchFamily="34" charset="-120"/>
              </a:rPr>
              <a:t>PBR向上</a:t>
            </a:r>
            <a:endParaRPr lang="en-US" sz="1300" dirty="0"/>
          </a:p>
        </p:txBody>
      </p:sp>
      <p:sp>
        <p:nvSpPr>
          <p:cNvPr id="18" name="Shape 16"/>
          <p:cNvSpPr/>
          <p:nvPr/>
        </p:nvSpPr>
        <p:spPr>
          <a:xfrm>
            <a:off x="2377440" y="4114800"/>
            <a:ext cx="3931920" cy="2103120"/>
          </a:xfrm>
          <a:prstGeom prst="roundRect">
            <a:avLst>
              <a:gd name="adj" fmla="val 2609"/>
            </a:avLst>
          </a:prstGeom>
          <a:solidFill>
            <a:srgbClr val="FBECEE"/>
          </a:solidFill>
          <a:ln w="12700">
            <a:solidFill>
              <a:srgbClr val="E8C9CE"/>
            </a:solidFill>
            <a:prstDash val="solid"/>
          </a:ln>
        </p:spPr>
      </p:sp>
      <p:sp>
        <p:nvSpPr>
          <p:cNvPr id="19" name="Text 17"/>
          <p:cNvSpPr/>
          <p:nvPr/>
        </p:nvSpPr>
        <p:spPr>
          <a:xfrm>
            <a:off x="2487168" y="4206240"/>
            <a:ext cx="3712464" cy="1920240"/>
          </a:xfrm>
          <a:prstGeom prst="rect">
            <a:avLst/>
          </a:prstGeom>
          <a:noFill/>
          <a:ln/>
        </p:spPr>
        <p:txBody>
          <a:bodyPr wrap="square" lIns="0" tIns="0" rIns="0" bIns="0" rtlCol="0" anchor="t"/>
          <a:lstStyle/>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インパクトパス(因果)の経営承認／KPIの中計・予算・役員報酬への組込／貨幣換算・アウトカム測定運用／CFP即応(SLA)／シナリオ試算定例化／R&amp;D・マーケ・IRへの還流</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(BR-O-01〜13)</a:t>
            </a:r>
            <a:endParaRPr lang="en-US" sz="930" dirty="0"/>
          </a:p>
        </p:txBody>
      </p:sp>
      <p:sp>
        <p:nvSpPr>
          <p:cNvPr id="20" name="Shape 18"/>
          <p:cNvSpPr/>
          <p:nvPr/>
        </p:nvSpPr>
        <p:spPr>
          <a:xfrm>
            <a:off x="6400800" y="4114800"/>
            <a:ext cx="2834640" cy="2103120"/>
          </a:xfrm>
          <a:prstGeom prst="roundRect">
            <a:avLst>
              <a:gd name="adj" fmla="val 2609"/>
            </a:avLst>
          </a:prstGeom>
          <a:solidFill>
            <a:srgbClr val="FBECEE"/>
          </a:solidFill>
          <a:ln w="12700">
            <a:solidFill>
              <a:srgbClr val="E8C9CE"/>
            </a:solidFill>
            <a:prstDash val="solid"/>
          </a:ln>
        </p:spPr>
      </p:sp>
      <p:sp>
        <p:nvSpPr>
          <p:cNvPr id="21" name="Text 19"/>
          <p:cNvSpPr/>
          <p:nvPr/>
        </p:nvSpPr>
        <p:spPr>
          <a:xfrm>
            <a:off x="6510528" y="4206240"/>
            <a:ext cx="2615184" cy="1920240"/>
          </a:xfrm>
          <a:prstGeom prst="rect">
            <a:avLst/>
          </a:prstGeom>
          <a:noFill/>
          <a:ln/>
        </p:spPr>
        <p:txBody>
          <a:bodyPr wrap="square" lIns="0" tIns="0" rIns="0" bIns="0" rtlCol="0" anchor="t"/>
          <a:lstStyle/>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経営ダッシュボード・KPIツリー</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AI予測・ギャップ分析</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炭素税・シナリオ試算</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CFP/LCAエンジン・貨幣換算エンジン</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統計分析(柳モデル型)</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(FR-O-01〜13)</a:t>
            </a:r>
            <a:endParaRPr lang="en-US" sz="930" dirty="0"/>
          </a:p>
        </p:txBody>
      </p:sp>
      <p:sp>
        <p:nvSpPr>
          <p:cNvPr id="22" name="Shape 20"/>
          <p:cNvSpPr/>
          <p:nvPr/>
        </p:nvSpPr>
        <p:spPr>
          <a:xfrm>
            <a:off x="9326880" y="4114800"/>
            <a:ext cx="2862072" cy="2103120"/>
          </a:xfrm>
          <a:prstGeom prst="roundRect">
            <a:avLst>
              <a:gd name="adj" fmla="val 2609"/>
            </a:avLst>
          </a:prstGeom>
          <a:solidFill>
            <a:srgbClr val="FBECEE"/>
          </a:solidFill>
          <a:ln w="12700">
            <a:solidFill>
              <a:srgbClr val="E8C9CE"/>
            </a:solidFill>
            <a:prstDash val="solid"/>
          </a:ln>
        </p:spPr>
      </p:sp>
      <p:sp>
        <p:nvSpPr>
          <p:cNvPr id="23" name="Text 21"/>
          <p:cNvSpPr/>
          <p:nvPr/>
        </p:nvSpPr>
        <p:spPr>
          <a:xfrm>
            <a:off x="9436608" y="4206240"/>
            <a:ext cx="2642616" cy="1920240"/>
          </a:xfrm>
          <a:prstGeom prst="rect">
            <a:avLst/>
          </a:prstGeom>
          <a:noFill/>
          <a:ln/>
        </p:spPr>
        <p:txBody>
          <a:bodyPr wrap="square" lIns="0" tIns="0" rIns="0" bIns="0" rtlCol="0" anchor="t"/>
          <a:lstStyle/>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統合データ基盤・API/MDM</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制度改定耐性(ノーコード設定)</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BI接続・AI基盤</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外部データ接続(疫学・水リスク)</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データ品質管理</a:t>
            </a:r>
            <a:endParaRPr lang="en-US" sz="930" dirty="0"/>
          </a:p>
          <a:p>
            <a:pPr indent="0" marL="0">
              <a:lnSpc>
                <a:spcPct val="113000"/>
              </a:lnSpc>
              <a:buNone/>
            </a:pPr>
            <a:r>
              <a:rPr lang="en-US" sz="930" dirty="0">
                <a:solidFill>
                  <a:srgbClr val="2A2A33"/>
                </a:solidFill>
                <a:latin typeface="Yu Gothic" pitchFamily="34" charset="0"/>
                <a:ea typeface="Yu Gothic" pitchFamily="34" charset="-122"/>
                <a:cs typeface="Yu Gothic" pitchFamily="34" charset="-120"/>
              </a:rPr>
              <a:t>(SR-01〜05, 16〜20)</a:t>
            </a:r>
            <a:endParaRPr lang="en-US" sz="930" dirty="0"/>
          </a:p>
        </p:txBody>
      </p:sp>
      <p:sp>
        <p:nvSpPr>
          <p:cNvPr id="24" name="Text 22"/>
          <p:cNvSpPr/>
          <p:nvPr/>
        </p:nvSpPr>
        <p:spPr>
          <a:xfrm>
            <a:off x="457200" y="6355080"/>
            <a:ext cx="11274552" cy="320040"/>
          </a:xfrm>
          <a:prstGeom prst="rect">
            <a:avLst/>
          </a:prstGeom>
          <a:noFill/>
          <a:ln/>
        </p:spPr>
        <p:txBody>
          <a:bodyPr wrap="square" lIns="0" tIns="0" rIns="0" bIns="0" rtlCol="0" anchor="ctr"/>
          <a:lstStyle/>
          <a:p>
            <a:pPr indent="0" marL="0">
              <a:buNone/>
            </a:pPr>
            <a:r>
              <a:rPr lang="en-US" sz="1000" i="1" dirty="0">
                <a:solidFill>
                  <a:srgbClr val="5A5F6B"/>
                </a:solidFill>
                <a:latin typeface="Yu Gothic" pitchFamily="34" charset="0"/>
                <a:ea typeface="Yu Gothic" pitchFamily="34" charset="-122"/>
                <a:cs typeface="Yu Gothic" pitchFamily="34" charset="-120"/>
              </a:rPr>
              <a:t>守りのために集めたデータ(活動量・証憑・製品・組織)が、そのまま攻めの分析(インパクト評価・シミュレーション)の原材料となる ― 二重入力・二重投資を許さない</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先進企業ベンチマーク ― 非財務の財務化 4類型</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先進企業に共通するのは「財務と同じ統制」「因果の明示と貨幣換算」「製品・ブランド単位への落とし込み」「報酬・資本市場対話への組込」</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4</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1554480"/>
                <a:gridCol w="1828800"/>
                <a:gridCol w="4297680"/>
                <a:gridCol w="3593592"/>
              </a:tblGrid>
              <a:tr h="475488">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類型</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企業</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取り組み(公表情報の要約)</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当社への示唆</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r>
              <a:tr h="475488">
                <a:tc>
                  <a:txBody>
                    <a:bodyPr/>
                    <a:lstStyle/>
                    <a:p>
                      <a:pPr indent="0" marL="0">
                        <a:buNone/>
                      </a:pPr>
                      <a:r>
                        <a:rPr lang="en-US" sz="880" b="1" dirty="0">
                          <a:solidFill>
                            <a:srgbClr val="1E2761"/>
                          </a:solidFill>
                          <a:latin typeface="Yu Gothic" pitchFamily="34" charset="0"/>
                          <a:ea typeface="Yu Gothic" pitchFamily="34" charset="-122"/>
                          <a:cs typeface="Yu Gothic" pitchFamily="34" charset="-120"/>
                        </a:rPr>
                        <a:t>① 因果の実証</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1E2761"/>
                          </a:solidFill>
                          <a:latin typeface="Yu Gothic" pitchFamily="34" charset="0"/>
                          <a:ea typeface="Yu Gothic" pitchFamily="34" charset="-122"/>
                          <a:cs typeface="Yu Gothic" pitchFamily="34" charset="-120"/>
                        </a:rPr>
                        <a:t>エーザイ(柳モデル)</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ESG KPI(人件費・研究開発・女性管理職等)とPBRの遅延相関を回帰分析で実証しIRの中核に(例: 人件費1割増→5年後PBR約14%向上)</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非財務KPI×財務指標の時系列を蓄積し遅延相関分析を再現可能にするデータ設計</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75488">
                <a:tc>
                  <a:txBody>
                    <a:bodyPr/>
                    <a:lstStyle/>
                    <a:p>
                      <a:pPr indent="0" marL="0">
                        <a:buNone/>
                      </a:pP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1E2761"/>
                          </a:solidFill>
                          <a:latin typeface="Yu Gothic" pitchFamily="34" charset="0"/>
                          <a:ea typeface="Yu Gothic" pitchFamily="34" charset="-122"/>
                          <a:cs typeface="Yu Gothic" pitchFamily="34" charset="-120"/>
                        </a:rPr>
                        <a:t>BASF/VBA・ハーバードIWAI</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環境・社会インパクトを貨幣換算し損益と統合(インパクト加重会計)</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換算単価(医療費削減・水の社会的価値等)をマスタとして保持</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75488">
                <a:tc>
                  <a:txBody>
                    <a:bodyPr/>
                    <a:lstStyle/>
                    <a:p>
                      <a:pPr indent="0" marL="0">
                        <a:buNone/>
                      </a:pPr>
                      <a:r>
                        <a:rPr lang="en-US" sz="880" b="1" dirty="0">
                          <a:solidFill>
                            <a:srgbClr val="1E2761"/>
                          </a:solidFill>
                          <a:latin typeface="Yu Gothic" pitchFamily="34" charset="0"/>
                          <a:ea typeface="Yu Gothic" pitchFamily="34" charset="-122"/>
                          <a:cs typeface="Yu Gothic" pitchFamily="34" charset="-120"/>
                        </a:rPr>
                        <a:t>② 事業との一体化</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1E2761"/>
                          </a:solidFill>
                          <a:latin typeface="Yu Gothic" pitchFamily="34" charset="0"/>
                          <a:ea typeface="Yu Gothic" pitchFamily="34" charset="-122"/>
                          <a:cs typeface="Yu Gothic" pitchFamily="34" charset="-120"/>
                        </a:rPr>
                        <a:t>ユニリーバ</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サステナブル・リビング・ブランドが他より約7割速く成長、全社成長の75%を牽引と開示</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貢献型製品フラグで売上構成比・成長率を自動集計(ヘルス/グリーン売上)</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75488">
                <a:tc>
                  <a:txBody>
                    <a:bodyPr/>
                    <a:lstStyle/>
                    <a:p>
                      <a:pPr indent="0" marL="0">
                        <a:buNone/>
                      </a:pP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1E2761"/>
                          </a:solidFill>
                          <a:latin typeface="Yu Gothic" pitchFamily="34" charset="0"/>
                          <a:ea typeface="Yu Gothic" pitchFamily="34" charset="-122"/>
                          <a:cs typeface="Yu Gothic" pitchFamily="34" charset="-120"/>
                        </a:rPr>
                        <a:t>コルゲート</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口腔衛生教育で累計10億人超にリーチ、歯みがき時の節水啓発をブランド価値に転換</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リーチ×行動変容をアウトカムKPIとして継続測定</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75488">
                <a:tc>
                  <a:txBody>
                    <a:bodyPr/>
                    <a:lstStyle/>
                    <a:p>
                      <a:pPr indent="0" marL="0">
                        <a:buNone/>
                      </a:pP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1E2761"/>
                          </a:solidFill>
                          <a:latin typeface="Yu Gothic" pitchFamily="34" charset="0"/>
                          <a:ea typeface="Yu Gothic" pitchFamily="34" charset="-122"/>
                          <a:cs typeface="Yu Gothic" pitchFamily="34" charset="-120"/>
                        </a:rPr>
                        <a:t>フィリップス/ノボ</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「改善した人々の生活」25億人を全社KGI化し算定メソドロジーを公開/患者アウトカムを長期KGIに</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健康KGIの算定方法の文書化・監査可能性を要件に含める</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75488">
                <a:tc>
                  <a:txBody>
                    <a:bodyPr/>
                    <a:lstStyle/>
                    <a:p>
                      <a:pPr indent="0" marL="0">
                        <a:buNone/>
                      </a:pP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1E2761"/>
                          </a:solidFill>
                          <a:latin typeface="Yu Gothic" pitchFamily="34" charset="0"/>
                          <a:ea typeface="Yu Gothic" pitchFamily="34" charset="-122"/>
                          <a:cs typeface="Yu Gothic" pitchFamily="34" charset="-120"/>
                        </a:rPr>
                        <a:t>P&amp;G・サントリー</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低温洗濯・すすぎ削減で使用時CO2を削減/水理念・ウォーターポジティブをKPI化</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「すすぎ1回」等の使用時インパクトはScope3 Cat11×節水の最重要攻めテーマ</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75488">
                <a:tc>
                  <a:txBody>
                    <a:bodyPr/>
                    <a:lstStyle/>
                    <a:p>
                      <a:pPr indent="0" marL="0">
                        <a:buNone/>
                      </a:pPr>
                      <a:r>
                        <a:rPr lang="en-US" sz="880" b="1" dirty="0">
                          <a:solidFill>
                            <a:srgbClr val="1E2761"/>
                          </a:solidFill>
                          <a:latin typeface="Yu Gothic" pitchFamily="34" charset="0"/>
                          <a:ea typeface="Yu Gothic" pitchFamily="34" charset="-122"/>
                          <a:cs typeface="Yu Gothic" pitchFamily="34" charset="-120"/>
                        </a:rPr>
                        <a:t>③ 基盤・仕組み化</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1E2761"/>
                          </a:solidFill>
                          <a:latin typeface="Yu Gothic" pitchFamily="34" charset="0"/>
                          <a:ea typeface="Yu Gothic" pitchFamily="34" charset="-122"/>
                          <a:cs typeface="Yu Gothic" pitchFamily="34" charset="-120"/>
                        </a:rPr>
                        <a:t>SAP・マイクロソフト</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取引レベルの財務級カーボン会計(Green Ledger)/2012年から社内炭素課金を部門損益に反映</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ERP取引連携の拡張性、内部炭素価格の管理会計反映</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75488">
                <a:tc>
                  <a:txBody>
                    <a:bodyPr/>
                    <a:lstStyle/>
                    <a:p>
                      <a:pPr indent="0" marL="0">
                        <a:buNone/>
                      </a:pPr>
                      <a:r>
                        <a:rPr lang="en-US" sz="880" b="1" dirty="0">
                          <a:solidFill>
                            <a:srgbClr val="1E2761"/>
                          </a:solidFill>
                          <a:latin typeface="Yu Gothic" pitchFamily="34" charset="0"/>
                          <a:ea typeface="Yu Gothic" pitchFamily="34" charset="-122"/>
                          <a:cs typeface="Yu Gothic" pitchFamily="34" charset="-120"/>
                        </a:rPr>
                        <a:t>④ ガバナンス連動</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1E2761"/>
                          </a:solidFill>
                          <a:latin typeface="Yu Gothic" pitchFamily="34" charset="0"/>
                          <a:ea typeface="Yu Gothic" pitchFamily="34" charset="-122"/>
                          <a:cs typeface="Yu Gothic" pitchFamily="34" charset="-120"/>
                        </a:rPr>
                        <a:t>欧州大手・国内先進</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役員報酬にESG KPIを10〜25%組込/統合報告で価値創造ストーリーを取締役会議論</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880" dirty="0">
                          <a:solidFill>
                            <a:srgbClr val="2A2A33"/>
                          </a:solidFill>
                          <a:latin typeface="Yu Gothic" pitchFamily="34" charset="0"/>
                          <a:ea typeface="Yu Gothic" pitchFamily="34" charset="-122"/>
                          <a:cs typeface="Yu Gothic" pitchFamily="34" charset="-120"/>
                        </a:rPr>
                        <a:t>監査済み確定KPIを報酬委員会へ供給するプロセスとデータ確定機能</a:t>
                      </a:r>
                      <a:endParaRPr lang="en-US" sz="88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bl>
          </a:graphicData>
        </a:graphic>
      </p:graphicFrame>
      <p:sp>
        <p:nvSpPr>
          <p:cNvPr id="7" name="Shape 4"/>
          <p:cNvSpPr/>
          <p:nvPr/>
        </p:nvSpPr>
        <p:spPr>
          <a:xfrm>
            <a:off x="457200" y="5897880"/>
            <a:ext cx="11274552" cy="566928"/>
          </a:xfrm>
          <a:prstGeom prst="roundRect">
            <a:avLst>
              <a:gd name="adj" fmla="val 9677"/>
            </a:avLst>
          </a:prstGeom>
          <a:solidFill>
            <a:srgbClr val="FBECEE"/>
          </a:solidFill>
          <a:ln/>
        </p:spPr>
      </p:sp>
      <p:sp>
        <p:nvSpPr>
          <p:cNvPr id="8" name="Text 5"/>
          <p:cNvSpPr/>
          <p:nvPr/>
        </p:nvSpPr>
        <p:spPr>
          <a:xfrm>
            <a:off x="685800" y="5943600"/>
            <a:ext cx="10835640" cy="475488"/>
          </a:xfrm>
          <a:prstGeom prst="rect">
            <a:avLst/>
          </a:prstGeom>
          <a:noFill/>
          <a:ln/>
        </p:spPr>
        <p:txBody>
          <a:bodyPr wrap="square" lIns="0" tIns="0" rIns="0" bIns="0" rtlCol="0" anchor="ctr"/>
          <a:lstStyle/>
          <a:p>
            <a:pPr indent="0" marL="0">
              <a:buNone/>
            </a:pPr>
            <a:r>
              <a:rPr lang="en-US" sz="1000" b="1" dirty="0">
                <a:solidFill>
                  <a:srgbClr val="C8102E"/>
                </a:solidFill>
                <a:latin typeface="Yu Gothic" pitchFamily="34" charset="0"/>
                <a:ea typeface="Yu Gothic" pitchFamily="34" charset="-122"/>
                <a:cs typeface="Yu Gothic" pitchFamily="34" charset="-120"/>
              </a:rPr>
              <a:t>花王(競合)への示唆: </a:t>
            </a:r>
            <a:pPr indent="0" marL="0">
              <a:buNone/>
            </a:pPr>
            <a:r>
              <a:rPr lang="en-US" sz="1000" dirty="0">
                <a:solidFill>
                  <a:srgbClr val="2A2A33"/>
                </a:solidFill>
                <a:latin typeface="Yu Gothic" pitchFamily="34" charset="0"/>
                <a:ea typeface="Yu Gothic" pitchFamily="34" charset="-122"/>
                <a:cs typeface="Yu Gothic" pitchFamily="34" charset="-120"/>
              </a:rPr>
              <a:t>アクティビスト(オアシス)からScope3実測値・有報同期・報酬連動を追及されている ― 同じ追及を受けてもシステムで客観的に証明できることが守りの到達水準。当社は先回りして攻めに転じる</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5</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ライオンが狙うべきテーマ体系 ― 守りの土台1つ+攻めのテーマ6つ</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パーパス(より良い習慣づくり)×事業ポートフォリオ×開示要請×資本市場の関心の交点でテーマを設定する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5</a:t>
            </a:r>
            <a:endParaRPr lang="en-US" sz="900" dirty="0"/>
          </a:p>
        </p:txBody>
      </p:sp>
      <p:sp>
        <p:nvSpPr>
          <p:cNvPr id="6" name="Shape 4"/>
          <p:cNvSpPr/>
          <p:nvPr/>
        </p:nvSpPr>
        <p:spPr>
          <a:xfrm>
            <a:off x="457200" y="1280160"/>
            <a:ext cx="3602736" cy="1481328"/>
          </a:xfrm>
          <a:prstGeom prst="roundRect">
            <a:avLst>
              <a:gd name="adj" fmla="val 4321"/>
            </a:avLst>
          </a:prstGeom>
          <a:solidFill>
            <a:srgbClr val="FBECEE"/>
          </a:solidFill>
          <a:ln w="22225">
            <a:solidFill>
              <a:srgbClr val="C8102E"/>
            </a:solidFill>
            <a:prstDash val="solid"/>
          </a:ln>
        </p:spPr>
      </p:sp>
      <p:sp>
        <p:nvSpPr>
          <p:cNvPr id="7" name="Text 5"/>
          <p:cNvSpPr/>
          <p:nvPr/>
        </p:nvSpPr>
        <p:spPr>
          <a:xfrm>
            <a:off x="594360" y="1353312"/>
            <a:ext cx="3328416" cy="329184"/>
          </a:xfrm>
          <a:prstGeom prst="rect">
            <a:avLst/>
          </a:prstGeom>
          <a:noFill/>
          <a:ln/>
        </p:spPr>
        <p:txBody>
          <a:bodyPr wrap="square" lIns="0" tIns="0" rIns="0" bIns="0" rtlCol="0" anchor="ctr"/>
          <a:lstStyle/>
          <a:p>
            <a:pPr indent="0" marL="0">
              <a:buNone/>
            </a:pPr>
            <a:r>
              <a:rPr lang="en-US" sz="1250" b="1" dirty="0">
                <a:solidFill>
                  <a:srgbClr val="C8102E"/>
                </a:solidFill>
                <a:latin typeface="Yu Gothic" pitchFamily="34" charset="0"/>
                <a:ea typeface="Yu Gothic" pitchFamily="34" charset="-122"/>
                <a:cs typeface="Yu Gothic" pitchFamily="34" charset="-120"/>
              </a:rPr>
              <a:t>T1 オーラルヘルス</a:t>
            </a:r>
            <a:endParaRPr lang="en-US" sz="1250" dirty="0"/>
          </a:p>
        </p:txBody>
      </p:sp>
      <p:sp>
        <p:nvSpPr>
          <p:cNvPr id="8" name="Text 6"/>
          <p:cNvSpPr/>
          <p:nvPr/>
        </p:nvSpPr>
        <p:spPr>
          <a:xfrm>
            <a:off x="594360" y="1700784"/>
            <a:ext cx="3328416" cy="969264"/>
          </a:xfrm>
          <a:prstGeom prst="rect">
            <a:avLst/>
          </a:prstGeom>
          <a:noFill/>
          <a:ln/>
        </p:spPr>
        <p:txBody>
          <a:bodyPr wrap="square" lIns="0" tIns="0" rIns="0" bIns="0" rtlCol="0" anchor="t"/>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予防歯科の習慣化を財務価値に</a:t>
            </a:r>
            <a:endParaRPr lang="en-US" sz="930" dirty="0"/>
          </a:p>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浸透・行動変容→う蝕/歯周病減→医療費削減→市場拡大・シェア・B2B2C</a:t>
            </a:r>
            <a:endParaRPr lang="en-US" sz="930" dirty="0"/>
          </a:p>
        </p:txBody>
      </p:sp>
      <p:sp>
        <p:nvSpPr>
          <p:cNvPr id="9" name="Shape 7"/>
          <p:cNvSpPr/>
          <p:nvPr/>
        </p:nvSpPr>
        <p:spPr>
          <a:xfrm>
            <a:off x="4297680" y="1280160"/>
            <a:ext cx="3602736" cy="1481328"/>
          </a:xfrm>
          <a:prstGeom prst="roundRect">
            <a:avLst>
              <a:gd name="adj" fmla="val 4321"/>
            </a:avLst>
          </a:prstGeom>
          <a:solidFill>
            <a:srgbClr val="FBECEE"/>
          </a:solidFill>
          <a:ln w="22225">
            <a:solidFill>
              <a:srgbClr val="C8102E"/>
            </a:solidFill>
            <a:prstDash val="solid"/>
          </a:ln>
        </p:spPr>
      </p:sp>
      <p:sp>
        <p:nvSpPr>
          <p:cNvPr id="10" name="Text 8"/>
          <p:cNvSpPr/>
          <p:nvPr/>
        </p:nvSpPr>
        <p:spPr>
          <a:xfrm>
            <a:off x="4434840" y="1353312"/>
            <a:ext cx="3328416" cy="329184"/>
          </a:xfrm>
          <a:prstGeom prst="rect">
            <a:avLst/>
          </a:prstGeom>
          <a:noFill/>
          <a:ln/>
        </p:spPr>
        <p:txBody>
          <a:bodyPr wrap="square" lIns="0" tIns="0" rIns="0" bIns="0" rtlCol="0" anchor="ctr"/>
          <a:lstStyle/>
          <a:p>
            <a:pPr indent="0" marL="0">
              <a:buNone/>
            </a:pPr>
            <a:r>
              <a:rPr lang="en-US" sz="1250" b="1" dirty="0">
                <a:solidFill>
                  <a:srgbClr val="C8102E"/>
                </a:solidFill>
                <a:latin typeface="Yu Gothic" pitchFamily="34" charset="0"/>
                <a:ea typeface="Yu Gothic" pitchFamily="34" charset="-122"/>
                <a:cs typeface="Yu Gothic" pitchFamily="34" charset="-120"/>
              </a:rPr>
              <a:t>T2 水</a:t>
            </a:r>
            <a:endParaRPr lang="en-US" sz="1250" dirty="0"/>
          </a:p>
        </p:txBody>
      </p:sp>
      <p:sp>
        <p:nvSpPr>
          <p:cNvPr id="11" name="Text 9"/>
          <p:cNvSpPr/>
          <p:nvPr/>
        </p:nvSpPr>
        <p:spPr>
          <a:xfrm>
            <a:off x="4434840" y="1700784"/>
            <a:ext cx="3328416" cy="969264"/>
          </a:xfrm>
          <a:prstGeom prst="rect">
            <a:avLst/>
          </a:prstGeom>
          <a:noFill/>
          <a:ln/>
        </p:spPr>
        <p:txBody>
          <a:bodyPr wrap="square" lIns="0" tIns="0" rIns="0" bIns="0" rtlCol="0" anchor="t"/>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使用時の節水を価値化</a:t>
            </a:r>
            <a:endParaRPr lang="en-US" sz="930" dirty="0"/>
          </a:p>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すすぎ1回→節水量・家計負担減→選好・シェア、水リスク管理(TNFD)</a:t>
            </a:r>
            <a:endParaRPr lang="en-US" sz="930" dirty="0"/>
          </a:p>
        </p:txBody>
      </p:sp>
      <p:sp>
        <p:nvSpPr>
          <p:cNvPr id="12" name="Shape 10"/>
          <p:cNvSpPr/>
          <p:nvPr/>
        </p:nvSpPr>
        <p:spPr>
          <a:xfrm>
            <a:off x="8138160" y="1280160"/>
            <a:ext cx="3602736" cy="1481328"/>
          </a:xfrm>
          <a:prstGeom prst="roundRect">
            <a:avLst>
              <a:gd name="adj" fmla="val 4321"/>
            </a:avLst>
          </a:prstGeom>
          <a:solidFill>
            <a:srgbClr val="FFFFFF"/>
          </a:solidFill>
          <a:ln w="12700">
            <a:solidFill>
              <a:srgbClr val="C9CFDB"/>
            </a:solidFill>
            <a:prstDash val="solid"/>
          </a:ln>
        </p:spPr>
      </p:sp>
      <p:sp>
        <p:nvSpPr>
          <p:cNvPr id="13" name="Text 11"/>
          <p:cNvSpPr/>
          <p:nvPr/>
        </p:nvSpPr>
        <p:spPr>
          <a:xfrm>
            <a:off x="8275320" y="1353312"/>
            <a:ext cx="3328416" cy="329184"/>
          </a:xfrm>
          <a:prstGeom prst="rect">
            <a:avLst/>
          </a:prstGeom>
          <a:noFill/>
          <a:ln/>
        </p:spPr>
        <p:txBody>
          <a:bodyPr wrap="square" lIns="0" tIns="0" rIns="0" bIns="0" rtlCol="0" anchor="ctr"/>
          <a:lstStyle/>
          <a:p>
            <a:pPr indent="0" marL="0">
              <a:buNone/>
            </a:pPr>
            <a:r>
              <a:rPr lang="en-US" sz="1250" b="1" dirty="0">
                <a:solidFill>
                  <a:srgbClr val="C8102E"/>
                </a:solidFill>
                <a:latin typeface="Yu Gothic" pitchFamily="34" charset="0"/>
                <a:ea typeface="Yu Gothic" pitchFamily="34" charset="-122"/>
                <a:cs typeface="Yu Gothic" pitchFamily="34" charset="-120"/>
              </a:rPr>
              <a:t>T3 気候・脱炭素</a:t>
            </a:r>
            <a:endParaRPr lang="en-US" sz="1250" dirty="0"/>
          </a:p>
        </p:txBody>
      </p:sp>
      <p:sp>
        <p:nvSpPr>
          <p:cNvPr id="14" name="Text 12"/>
          <p:cNvSpPr/>
          <p:nvPr/>
        </p:nvSpPr>
        <p:spPr>
          <a:xfrm>
            <a:off x="8275320" y="1700784"/>
            <a:ext cx="3328416" cy="969264"/>
          </a:xfrm>
          <a:prstGeom prst="rect">
            <a:avLst/>
          </a:prstGeom>
          <a:noFill/>
          <a:ln/>
        </p:spPr>
        <p:txBody>
          <a:bodyPr wrap="square" lIns="0" tIns="0" rIns="0" bIns="0" rtlCol="0" anchor="t"/>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守りのGHG算定を攻めのCFPへ</a:t>
            </a:r>
            <a:endParaRPr lang="en-US" sz="930" dirty="0"/>
          </a:p>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一次データ化→CFP即応→受注維持・拡大、炭素税シミュレーション</a:t>
            </a:r>
            <a:endParaRPr lang="en-US" sz="930" dirty="0"/>
          </a:p>
        </p:txBody>
      </p:sp>
      <p:sp>
        <p:nvSpPr>
          <p:cNvPr id="15" name="Shape 13"/>
          <p:cNvSpPr/>
          <p:nvPr/>
        </p:nvSpPr>
        <p:spPr>
          <a:xfrm>
            <a:off x="457200" y="2990088"/>
            <a:ext cx="3602736" cy="1481328"/>
          </a:xfrm>
          <a:prstGeom prst="roundRect">
            <a:avLst>
              <a:gd name="adj" fmla="val 4321"/>
            </a:avLst>
          </a:prstGeom>
          <a:solidFill>
            <a:srgbClr val="FFFFFF"/>
          </a:solidFill>
          <a:ln w="12700">
            <a:solidFill>
              <a:srgbClr val="C9CFDB"/>
            </a:solidFill>
            <a:prstDash val="solid"/>
          </a:ln>
        </p:spPr>
      </p:sp>
      <p:sp>
        <p:nvSpPr>
          <p:cNvPr id="16" name="Text 14"/>
          <p:cNvSpPr/>
          <p:nvPr/>
        </p:nvSpPr>
        <p:spPr>
          <a:xfrm>
            <a:off x="594360" y="3063240"/>
            <a:ext cx="3328416" cy="329184"/>
          </a:xfrm>
          <a:prstGeom prst="rect">
            <a:avLst/>
          </a:prstGeom>
          <a:noFill/>
          <a:ln/>
        </p:spPr>
        <p:txBody>
          <a:bodyPr wrap="square" lIns="0" tIns="0" rIns="0" bIns="0" rtlCol="0" anchor="ctr"/>
          <a:lstStyle/>
          <a:p>
            <a:pPr indent="0" marL="0">
              <a:buNone/>
            </a:pPr>
            <a:r>
              <a:rPr lang="en-US" sz="1250" b="1" dirty="0">
                <a:solidFill>
                  <a:srgbClr val="C8102E"/>
                </a:solidFill>
                <a:latin typeface="Yu Gothic" pitchFamily="34" charset="0"/>
                <a:ea typeface="Yu Gothic" pitchFamily="34" charset="-122"/>
                <a:cs typeface="Yu Gothic" pitchFamily="34" charset="-120"/>
              </a:rPr>
              <a:t>T4 資源循環</a:t>
            </a:r>
            <a:endParaRPr lang="en-US" sz="1250" dirty="0"/>
          </a:p>
        </p:txBody>
      </p:sp>
      <p:sp>
        <p:nvSpPr>
          <p:cNvPr id="17" name="Text 15"/>
          <p:cNvSpPr/>
          <p:nvPr/>
        </p:nvSpPr>
        <p:spPr>
          <a:xfrm>
            <a:off x="594360" y="3410712"/>
            <a:ext cx="3328416" cy="969264"/>
          </a:xfrm>
          <a:prstGeom prst="rect">
            <a:avLst/>
          </a:prstGeom>
          <a:noFill/>
          <a:ln/>
        </p:spPr>
        <p:txBody>
          <a:bodyPr wrap="square" lIns="0" tIns="0" rIns="0" bIns="0" rtlCol="0" anchor="t"/>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詰替・再生材・回収共創</a:t>
            </a:r>
            <a:endParaRPr lang="en-US" sz="930" dirty="0"/>
          </a:p>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→材料・EPRコスト減、流通・消費者評価</a:t>
            </a:r>
            <a:endParaRPr lang="en-US" sz="930" dirty="0"/>
          </a:p>
        </p:txBody>
      </p:sp>
      <p:sp>
        <p:nvSpPr>
          <p:cNvPr id="18" name="Shape 16"/>
          <p:cNvSpPr/>
          <p:nvPr/>
        </p:nvSpPr>
        <p:spPr>
          <a:xfrm>
            <a:off x="4297680" y="2990088"/>
            <a:ext cx="3602736" cy="1481328"/>
          </a:xfrm>
          <a:prstGeom prst="roundRect">
            <a:avLst>
              <a:gd name="adj" fmla="val 4321"/>
            </a:avLst>
          </a:prstGeom>
          <a:solidFill>
            <a:srgbClr val="FFFFFF"/>
          </a:solidFill>
          <a:ln w="12700">
            <a:solidFill>
              <a:srgbClr val="C9CFDB"/>
            </a:solidFill>
            <a:prstDash val="solid"/>
          </a:ln>
        </p:spPr>
      </p:sp>
      <p:sp>
        <p:nvSpPr>
          <p:cNvPr id="19" name="Text 17"/>
          <p:cNvSpPr/>
          <p:nvPr/>
        </p:nvSpPr>
        <p:spPr>
          <a:xfrm>
            <a:off x="4434840" y="3063240"/>
            <a:ext cx="3328416" cy="329184"/>
          </a:xfrm>
          <a:prstGeom prst="rect">
            <a:avLst/>
          </a:prstGeom>
          <a:noFill/>
          <a:ln/>
        </p:spPr>
        <p:txBody>
          <a:bodyPr wrap="square" lIns="0" tIns="0" rIns="0" bIns="0" rtlCol="0" anchor="ctr"/>
          <a:lstStyle/>
          <a:p>
            <a:pPr indent="0" marL="0">
              <a:buNone/>
            </a:pPr>
            <a:r>
              <a:rPr lang="en-US" sz="1250" b="1" dirty="0">
                <a:solidFill>
                  <a:srgbClr val="C8102E"/>
                </a:solidFill>
                <a:latin typeface="Yu Gothic" pitchFamily="34" charset="0"/>
                <a:ea typeface="Yu Gothic" pitchFamily="34" charset="-122"/>
                <a:cs typeface="Yu Gothic" pitchFamily="34" charset="-120"/>
              </a:rPr>
              <a:t>T5 人的資本</a:t>
            </a:r>
            <a:endParaRPr lang="en-US" sz="1250" dirty="0"/>
          </a:p>
        </p:txBody>
      </p:sp>
      <p:sp>
        <p:nvSpPr>
          <p:cNvPr id="20" name="Text 18"/>
          <p:cNvSpPr/>
          <p:nvPr/>
        </p:nvSpPr>
        <p:spPr>
          <a:xfrm>
            <a:off x="4434840" y="3410712"/>
            <a:ext cx="3328416" cy="969264"/>
          </a:xfrm>
          <a:prstGeom prst="rect">
            <a:avLst/>
          </a:prstGeom>
          <a:noFill/>
          <a:ln/>
        </p:spPr>
        <p:txBody>
          <a:bodyPr wrap="square" lIns="0" tIns="0" rIns="0" bIns="0" rtlCol="0" anchor="t"/>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健康経営×エンゲージメント</a:t>
            </a:r>
            <a:endParaRPr lang="en-US" sz="930" dirty="0"/>
          </a:p>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→生産性・利益率への遅延効果(社内実証がT1の対外エビデンスに)</a:t>
            </a:r>
            <a:endParaRPr lang="en-US" sz="930" dirty="0"/>
          </a:p>
        </p:txBody>
      </p:sp>
      <p:sp>
        <p:nvSpPr>
          <p:cNvPr id="21" name="Shape 19"/>
          <p:cNvSpPr/>
          <p:nvPr/>
        </p:nvSpPr>
        <p:spPr>
          <a:xfrm>
            <a:off x="8138160" y="2990088"/>
            <a:ext cx="3602736" cy="1481328"/>
          </a:xfrm>
          <a:prstGeom prst="roundRect">
            <a:avLst>
              <a:gd name="adj" fmla="val 4321"/>
            </a:avLst>
          </a:prstGeom>
          <a:solidFill>
            <a:srgbClr val="FFFFFF"/>
          </a:solidFill>
          <a:ln w="12700">
            <a:solidFill>
              <a:srgbClr val="C9CFDB"/>
            </a:solidFill>
            <a:prstDash val="solid"/>
          </a:ln>
        </p:spPr>
      </p:sp>
      <p:sp>
        <p:nvSpPr>
          <p:cNvPr id="22" name="Text 20"/>
          <p:cNvSpPr/>
          <p:nvPr/>
        </p:nvSpPr>
        <p:spPr>
          <a:xfrm>
            <a:off x="8275320" y="3063240"/>
            <a:ext cx="3328416" cy="329184"/>
          </a:xfrm>
          <a:prstGeom prst="rect">
            <a:avLst/>
          </a:prstGeom>
          <a:noFill/>
          <a:ln/>
        </p:spPr>
        <p:txBody>
          <a:bodyPr wrap="square" lIns="0" tIns="0" rIns="0" bIns="0" rtlCol="0" anchor="ctr"/>
          <a:lstStyle/>
          <a:p>
            <a:pPr indent="0" marL="0">
              <a:buNone/>
            </a:pPr>
            <a:r>
              <a:rPr lang="en-US" sz="1250" b="1" dirty="0">
                <a:solidFill>
                  <a:srgbClr val="C8102E"/>
                </a:solidFill>
                <a:latin typeface="Yu Gothic" pitchFamily="34" charset="0"/>
                <a:ea typeface="Yu Gothic" pitchFamily="34" charset="-122"/>
                <a:cs typeface="Yu Gothic" pitchFamily="34" charset="-120"/>
              </a:rPr>
              <a:t>T6 ガバナンス・報酬連動</a:t>
            </a:r>
            <a:endParaRPr lang="en-US" sz="1250" dirty="0"/>
          </a:p>
        </p:txBody>
      </p:sp>
      <p:sp>
        <p:nvSpPr>
          <p:cNvPr id="23" name="Text 21"/>
          <p:cNvSpPr/>
          <p:nvPr/>
        </p:nvSpPr>
        <p:spPr>
          <a:xfrm>
            <a:off x="8275320" y="3410712"/>
            <a:ext cx="3328416" cy="969264"/>
          </a:xfrm>
          <a:prstGeom prst="rect">
            <a:avLst/>
          </a:prstGeom>
          <a:noFill/>
          <a:ln/>
        </p:spPr>
        <p:txBody>
          <a:bodyPr wrap="square" lIns="0" tIns="0" rIns="0" bIns="0" rtlCol="0" anchor="t"/>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監査済みKPIを役員報酬へ連動</a:t>
            </a:r>
            <a:endParaRPr lang="en-US" sz="930" dirty="0"/>
          </a:p>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→実行力を資本市場に証明、資本コスト低減</a:t>
            </a:r>
            <a:endParaRPr lang="en-US" sz="930" dirty="0"/>
          </a:p>
        </p:txBody>
      </p:sp>
      <p:sp>
        <p:nvSpPr>
          <p:cNvPr id="24" name="Text 22"/>
          <p:cNvSpPr/>
          <p:nvPr/>
        </p:nvSpPr>
        <p:spPr>
          <a:xfrm>
            <a:off x="457200" y="4754880"/>
            <a:ext cx="11274552" cy="320040"/>
          </a:xfrm>
          <a:prstGeom prst="rect">
            <a:avLst/>
          </a:prstGeom>
          <a:noFill/>
          <a:ln/>
        </p:spPr>
        <p:txBody>
          <a:bodyPr wrap="square" lIns="0" tIns="0" rIns="0" bIns="0" rtlCol="0" anchor="ctr"/>
          <a:lstStyle/>
          <a:p>
            <a:pPr algn="ctr" indent="0" marL="0">
              <a:buNone/>
            </a:pPr>
            <a:r>
              <a:rPr lang="en-US" sz="1050" b="1" dirty="0">
                <a:solidFill>
                  <a:srgbClr val="5A5F6B"/>
                </a:solidFill>
                <a:latin typeface="Yu Gothic" pitchFamily="34" charset="0"/>
                <a:ea typeface="Yu Gothic" pitchFamily="34" charset="-122"/>
                <a:cs typeface="Yu Gothic" pitchFamily="34" charset="-120"/>
              </a:rPr>
              <a:t>▲ 全テーマが共通の仕掛けに乗る: ①ロジックモデル管理 ②貨幣換算エンジン ③統計検証(柳モデル型) ④統合KPIツリー</a:t>
            </a:r>
            <a:endParaRPr lang="en-US" sz="1050" dirty="0"/>
          </a:p>
        </p:txBody>
      </p:sp>
      <p:sp>
        <p:nvSpPr>
          <p:cNvPr id="25" name="Shape 23"/>
          <p:cNvSpPr/>
          <p:nvPr/>
        </p:nvSpPr>
        <p:spPr>
          <a:xfrm>
            <a:off x="457200" y="5166360"/>
            <a:ext cx="11274552" cy="1325880"/>
          </a:xfrm>
          <a:prstGeom prst="roundRect">
            <a:avLst>
              <a:gd name="adj" fmla="val 4828"/>
            </a:avLst>
          </a:prstGeom>
          <a:solidFill>
            <a:srgbClr val="1E2761"/>
          </a:solidFill>
          <a:ln/>
        </p:spPr>
      </p:sp>
      <p:sp>
        <p:nvSpPr>
          <p:cNvPr id="26" name="Text 24"/>
          <p:cNvSpPr/>
          <p:nvPr/>
        </p:nvSpPr>
        <p:spPr>
          <a:xfrm>
            <a:off x="777240" y="5303520"/>
            <a:ext cx="4206240" cy="105156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T0(守りの土台) 財務級非財務データ基盤</a:t>
            </a:r>
            <a:endParaRPr lang="en-US" sz="1500" dirty="0"/>
          </a:p>
        </p:txBody>
      </p:sp>
      <p:sp>
        <p:nvSpPr>
          <p:cNvPr id="27" name="Text 25"/>
          <p:cNvSpPr/>
          <p:nvPr/>
        </p:nvSpPr>
        <p:spPr>
          <a:xfrm>
            <a:off x="5120640" y="5285232"/>
            <a:ext cx="6400800" cy="1097280"/>
          </a:xfrm>
          <a:prstGeom prst="rect">
            <a:avLst/>
          </a:prstGeom>
          <a:noFill/>
          <a:ln/>
        </p:spPr>
        <p:txBody>
          <a:bodyPr wrap="square" lIns="0" tIns="0" rIns="0" bIns="0" rtlCol="0" anchor="ctr"/>
          <a:lstStyle/>
          <a:p>
            <a:pPr indent="0" marL="0">
              <a:lnSpc>
                <a:spcPct val="120000"/>
              </a:lnSpc>
              <a:buNone/>
            </a:pPr>
            <a:r>
              <a:rPr lang="en-US" sz="950" dirty="0">
                <a:solidFill>
                  <a:srgbClr val="CADCFC"/>
                </a:solidFill>
                <a:latin typeface="Yu Gothic" pitchFamily="34" charset="0"/>
                <a:ea typeface="Yu Gothic" pitchFamily="34" charset="-122"/>
                <a:cs typeface="Yu Gothic" pitchFamily="34" charset="-120"/>
              </a:rPr>
              <a:t>SSBJ有報同時開示・第三者保証・グローバル統制への確実な対応。「Scope3実測値」「有報同期」「監査トレース」をシステムで客観的に証明</a:t>
            </a:r>
            <a:endParaRPr lang="en-US" sz="950" dirty="0"/>
          </a:p>
          <a:p>
            <a:pPr indent="0" marL="0">
              <a:lnSpc>
                <a:spcPct val="120000"/>
              </a:lnSpc>
              <a:buNone/>
            </a:pPr>
            <a:r>
              <a:rPr lang="en-US" sz="950" dirty="0">
                <a:solidFill>
                  <a:srgbClr val="CADCFC"/>
                </a:solidFill>
                <a:latin typeface="Yu Gothic" pitchFamily="34" charset="0"/>
                <a:ea typeface="Yu Gothic" pitchFamily="34" charset="-122"/>
                <a:cs typeface="Yu Gothic" pitchFamily="34" charset="-120"/>
              </a:rPr>
              <a:t>財務効果: 集計工数▲40〜60%・開示リードタイム1/7・監査/制度追随コスト抑制・レピュテーション毀損(資本コスト上昇)の回避</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6</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テーマ詳細① オーラルヘルス ― 「予防歯科の習慣化」の因果パス</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非財務(健康アウトカム)が財務(売上・PBR)に跳ね返るロジックモデルをKPIで計測・開示・経営管理する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6</a:t>
            </a:r>
            <a:endParaRPr lang="en-US" sz="900" dirty="0"/>
          </a:p>
        </p:txBody>
      </p:sp>
      <p:sp>
        <p:nvSpPr>
          <p:cNvPr id="6" name="Shape 4"/>
          <p:cNvSpPr/>
          <p:nvPr/>
        </p:nvSpPr>
        <p:spPr>
          <a:xfrm>
            <a:off x="457200" y="1325880"/>
            <a:ext cx="2148840" cy="1965960"/>
          </a:xfrm>
          <a:prstGeom prst="roundRect">
            <a:avLst>
              <a:gd name="adj" fmla="val 3256"/>
            </a:avLst>
          </a:prstGeom>
          <a:solidFill>
            <a:srgbClr val="EEF3FB"/>
          </a:solidFill>
          <a:ln w="12700">
            <a:solidFill>
              <a:srgbClr val="C9D4E8"/>
            </a:solidFill>
            <a:prstDash val="solid"/>
          </a:ln>
        </p:spPr>
      </p:sp>
      <p:sp>
        <p:nvSpPr>
          <p:cNvPr id="7" name="Text 5"/>
          <p:cNvSpPr/>
          <p:nvPr/>
        </p:nvSpPr>
        <p:spPr>
          <a:xfrm>
            <a:off x="457200" y="1399032"/>
            <a:ext cx="2148840" cy="310896"/>
          </a:xfrm>
          <a:prstGeom prst="rect">
            <a:avLst/>
          </a:prstGeom>
          <a:noFill/>
          <a:ln/>
        </p:spPr>
        <p:txBody>
          <a:bodyPr wrap="square" lIns="0" tIns="0" rIns="0" bIns="0" rtlCol="0" anchor="ctr"/>
          <a:lstStyle/>
          <a:p>
            <a:pPr algn="ctr" indent="0" marL="0">
              <a:buNone/>
            </a:pPr>
            <a:r>
              <a:rPr lang="en-US" sz="1150" b="1" dirty="0">
                <a:solidFill>
                  <a:srgbClr val="1E2761"/>
                </a:solidFill>
                <a:latin typeface="Yu Gothic" pitchFamily="34" charset="0"/>
                <a:ea typeface="Yu Gothic" pitchFamily="34" charset="-122"/>
                <a:cs typeface="Yu Gothic" pitchFamily="34" charset="-120"/>
              </a:rPr>
              <a:t>インプット</a:t>
            </a:r>
            <a:endParaRPr lang="en-US" sz="1150" dirty="0"/>
          </a:p>
        </p:txBody>
      </p:sp>
      <p:sp>
        <p:nvSpPr>
          <p:cNvPr id="8" name="Text 6"/>
          <p:cNvSpPr/>
          <p:nvPr/>
        </p:nvSpPr>
        <p:spPr>
          <a:xfrm>
            <a:off x="530352" y="1746504"/>
            <a:ext cx="2002536" cy="1453896"/>
          </a:xfrm>
          <a:prstGeom prst="rect">
            <a:avLst/>
          </a:prstGeom>
          <a:noFill/>
          <a:ln/>
        </p:spPr>
        <p:txBody>
          <a:bodyPr wrap="square" lIns="0" tIns="0" rIns="0" bIns="0" rtlCol="0" anchor="t"/>
          <a:lstStyle/>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製品・サービス開発/</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マーケ投資</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学校・自治体・歯科との</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予防啓発活動</a:t>
            </a:r>
            <a:endParaRPr lang="en-US" sz="900" dirty="0"/>
          </a:p>
        </p:txBody>
      </p:sp>
      <p:sp>
        <p:nvSpPr>
          <p:cNvPr id="9" name="Shape 7"/>
          <p:cNvSpPr/>
          <p:nvPr/>
        </p:nvSpPr>
        <p:spPr>
          <a:xfrm rot="5400000">
            <a:off x="2615184" y="2244852"/>
            <a:ext cx="123444" cy="128016"/>
          </a:xfrm>
          <a:prstGeom prst="triangle">
            <a:avLst/>
          </a:prstGeom>
          <a:solidFill>
            <a:srgbClr val="8A93A6"/>
          </a:solidFill>
          <a:ln/>
        </p:spPr>
      </p:sp>
      <p:sp>
        <p:nvSpPr>
          <p:cNvPr id="10" name="Shape 8"/>
          <p:cNvSpPr/>
          <p:nvPr/>
        </p:nvSpPr>
        <p:spPr>
          <a:xfrm>
            <a:off x="2747772" y="1325880"/>
            <a:ext cx="2148840" cy="1965960"/>
          </a:xfrm>
          <a:prstGeom prst="roundRect">
            <a:avLst>
              <a:gd name="adj" fmla="val 3256"/>
            </a:avLst>
          </a:prstGeom>
          <a:solidFill>
            <a:srgbClr val="EEF3FB"/>
          </a:solidFill>
          <a:ln w="12700">
            <a:solidFill>
              <a:srgbClr val="C9D4E8"/>
            </a:solidFill>
            <a:prstDash val="solid"/>
          </a:ln>
        </p:spPr>
      </p:sp>
      <p:sp>
        <p:nvSpPr>
          <p:cNvPr id="11" name="Text 9"/>
          <p:cNvSpPr/>
          <p:nvPr/>
        </p:nvSpPr>
        <p:spPr>
          <a:xfrm>
            <a:off x="2747772" y="1399032"/>
            <a:ext cx="2148840" cy="310896"/>
          </a:xfrm>
          <a:prstGeom prst="rect">
            <a:avLst/>
          </a:prstGeom>
          <a:noFill/>
          <a:ln/>
        </p:spPr>
        <p:txBody>
          <a:bodyPr wrap="square" lIns="0" tIns="0" rIns="0" bIns="0" rtlCol="0" anchor="ctr"/>
          <a:lstStyle/>
          <a:p>
            <a:pPr algn="ctr" indent="0" marL="0">
              <a:buNone/>
            </a:pPr>
            <a:r>
              <a:rPr lang="en-US" sz="1150" b="1" dirty="0">
                <a:solidFill>
                  <a:srgbClr val="1E2761"/>
                </a:solidFill>
                <a:latin typeface="Yu Gothic" pitchFamily="34" charset="0"/>
                <a:ea typeface="Yu Gothic" pitchFamily="34" charset="-122"/>
                <a:cs typeface="Yu Gothic" pitchFamily="34" charset="-120"/>
              </a:rPr>
              <a:t>アウトプット</a:t>
            </a:r>
            <a:endParaRPr lang="en-US" sz="1150" dirty="0"/>
          </a:p>
        </p:txBody>
      </p:sp>
      <p:sp>
        <p:nvSpPr>
          <p:cNvPr id="12" name="Text 10"/>
          <p:cNvSpPr/>
          <p:nvPr/>
        </p:nvSpPr>
        <p:spPr>
          <a:xfrm>
            <a:off x="2820924" y="1746504"/>
            <a:ext cx="2002536" cy="1453896"/>
          </a:xfrm>
          <a:prstGeom prst="rect">
            <a:avLst/>
          </a:prstGeom>
          <a:noFill/>
          <a:ln/>
        </p:spPr>
        <p:txBody>
          <a:bodyPr wrap="square" lIns="0" tIns="0" rIns="0" bIns="0" rtlCol="0" anchor="t"/>
          <a:lstStyle/>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製品浸透</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(販売本数・利用者数)</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啓発リーチ人数</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適正歯みがき習慣者数</a:t>
            </a:r>
            <a:endParaRPr lang="en-US" sz="900" dirty="0"/>
          </a:p>
        </p:txBody>
      </p:sp>
      <p:sp>
        <p:nvSpPr>
          <p:cNvPr id="13" name="Shape 11"/>
          <p:cNvSpPr/>
          <p:nvPr/>
        </p:nvSpPr>
        <p:spPr>
          <a:xfrm rot="5400000">
            <a:off x="4905756" y="2244852"/>
            <a:ext cx="123444" cy="128016"/>
          </a:xfrm>
          <a:prstGeom prst="triangle">
            <a:avLst/>
          </a:prstGeom>
          <a:solidFill>
            <a:srgbClr val="8A93A6"/>
          </a:solidFill>
          <a:ln/>
        </p:spPr>
      </p:sp>
      <p:sp>
        <p:nvSpPr>
          <p:cNvPr id="14" name="Shape 12"/>
          <p:cNvSpPr/>
          <p:nvPr/>
        </p:nvSpPr>
        <p:spPr>
          <a:xfrm>
            <a:off x="5038344" y="1325880"/>
            <a:ext cx="2148840" cy="1965960"/>
          </a:xfrm>
          <a:prstGeom prst="roundRect">
            <a:avLst>
              <a:gd name="adj" fmla="val 3256"/>
            </a:avLst>
          </a:prstGeom>
          <a:solidFill>
            <a:srgbClr val="FBECEE"/>
          </a:solidFill>
          <a:ln w="12700">
            <a:solidFill>
              <a:srgbClr val="E8C9CE"/>
            </a:solidFill>
            <a:prstDash val="solid"/>
          </a:ln>
        </p:spPr>
      </p:sp>
      <p:sp>
        <p:nvSpPr>
          <p:cNvPr id="15" name="Text 13"/>
          <p:cNvSpPr/>
          <p:nvPr/>
        </p:nvSpPr>
        <p:spPr>
          <a:xfrm>
            <a:off x="5038344" y="1399032"/>
            <a:ext cx="2148840" cy="310896"/>
          </a:xfrm>
          <a:prstGeom prst="rect">
            <a:avLst/>
          </a:prstGeom>
          <a:noFill/>
          <a:ln/>
        </p:spPr>
        <p:txBody>
          <a:bodyPr wrap="square" lIns="0" tIns="0" rIns="0" bIns="0" rtlCol="0" anchor="ctr"/>
          <a:lstStyle/>
          <a:p>
            <a:pPr algn="ctr" indent="0" marL="0">
              <a:buNone/>
            </a:pPr>
            <a:r>
              <a:rPr lang="en-US" sz="1150" b="1" dirty="0">
                <a:solidFill>
                  <a:srgbClr val="1E2761"/>
                </a:solidFill>
                <a:latin typeface="Yu Gothic" pitchFamily="34" charset="0"/>
                <a:ea typeface="Yu Gothic" pitchFamily="34" charset="-122"/>
                <a:cs typeface="Yu Gothic" pitchFamily="34" charset="-120"/>
              </a:rPr>
              <a:t>アウトカム</a:t>
            </a:r>
            <a:endParaRPr lang="en-US" sz="1150" dirty="0"/>
          </a:p>
        </p:txBody>
      </p:sp>
      <p:sp>
        <p:nvSpPr>
          <p:cNvPr id="16" name="Text 14"/>
          <p:cNvSpPr/>
          <p:nvPr/>
        </p:nvSpPr>
        <p:spPr>
          <a:xfrm>
            <a:off x="5111496" y="1746504"/>
            <a:ext cx="2002536" cy="1453896"/>
          </a:xfrm>
          <a:prstGeom prst="rect">
            <a:avLst/>
          </a:prstGeom>
          <a:noFill/>
          <a:ln/>
        </p:spPr>
        <p:txBody>
          <a:bodyPr wrap="square" lIns="0" tIns="0" rIns="0" bIns="0" rtlCol="0" anchor="t"/>
          <a:lstStyle/>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う蝕・歯周病の減少</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(DMFT指数等)</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口腔機能維持(8020)</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全身疾患リスク低減</a:t>
            </a:r>
            <a:endParaRPr lang="en-US" sz="900" dirty="0"/>
          </a:p>
        </p:txBody>
      </p:sp>
      <p:sp>
        <p:nvSpPr>
          <p:cNvPr id="17" name="Shape 15"/>
          <p:cNvSpPr/>
          <p:nvPr/>
        </p:nvSpPr>
        <p:spPr>
          <a:xfrm rot="5400000">
            <a:off x="7196328" y="2244852"/>
            <a:ext cx="123444" cy="128016"/>
          </a:xfrm>
          <a:prstGeom prst="triangle">
            <a:avLst/>
          </a:prstGeom>
          <a:solidFill>
            <a:srgbClr val="8A93A6"/>
          </a:solidFill>
          <a:ln/>
        </p:spPr>
      </p:sp>
      <p:sp>
        <p:nvSpPr>
          <p:cNvPr id="18" name="Shape 16"/>
          <p:cNvSpPr/>
          <p:nvPr/>
        </p:nvSpPr>
        <p:spPr>
          <a:xfrm>
            <a:off x="7328916" y="1325880"/>
            <a:ext cx="2148840" cy="1965960"/>
          </a:xfrm>
          <a:prstGeom prst="roundRect">
            <a:avLst>
              <a:gd name="adj" fmla="val 3256"/>
            </a:avLst>
          </a:prstGeom>
          <a:solidFill>
            <a:srgbClr val="FBECEE"/>
          </a:solidFill>
          <a:ln w="12700">
            <a:solidFill>
              <a:srgbClr val="E8C9CE"/>
            </a:solidFill>
            <a:prstDash val="solid"/>
          </a:ln>
        </p:spPr>
      </p:sp>
      <p:sp>
        <p:nvSpPr>
          <p:cNvPr id="19" name="Text 17"/>
          <p:cNvSpPr/>
          <p:nvPr/>
        </p:nvSpPr>
        <p:spPr>
          <a:xfrm>
            <a:off x="7328916" y="1399032"/>
            <a:ext cx="2148840" cy="310896"/>
          </a:xfrm>
          <a:prstGeom prst="rect">
            <a:avLst/>
          </a:prstGeom>
          <a:noFill/>
          <a:ln/>
        </p:spPr>
        <p:txBody>
          <a:bodyPr wrap="square" lIns="0" tIns="0" rIns="0" bIns="0" rtlCol="0" anchor="ctr"/>
          <a:lstStyle/>
          <a:p>
            <a:pPr algn="ctr" indent="0" marL="0">
              <a:buNone/>
            </a:pPr>
            <a:r>
              <a:rPr lang="en-US" sz="1150" b="1" dirty="0">
                <a:solidFill>
                  <a:srgbClr val="1E2761"/>
                </a:solidFill>
                <a:latin typeface="Yu Gothic" pitchFamily="34" charset="0"/>
                <a:ea typeface="Yu Gothic" pitchFamily="34" charset="-122"/>
                <a:cs typeface="Yu Gothic" pitchFamily="34" charset="-120"/>
              </a:rPr>
              <a:t>社会インパクト</a:t>
            </a:r>
            <a:endParaRPr lang="en-US" sz="1150" dirty="0"/>
          </a:p>
        </p:txBody>
      </p:sp>
      <p:sp>
        <p:nvSpPr>
          <p:cNvPr id="20" name="Text 18"/>
          <p:cNvSpPr/>
          <p:nvPr/>
        </p:nvSpPr>
        <p:spPr>
          <a:xfrm>
            <a:off x="7402068" y="1746504"/>
            <a:ext cx="2002536" cy="1453896"/>
          </a:xfrm>
          <a:prstGeom prst="rect">
            <a:avLst/>
          </a:prstGeom>
          <a:noFill/>
          <a:ln/>
        </p:spPr>
        <p:txBody>
          <a:bodyPr wrap="square" lIns="0" tIns="0" rIns="0" bIns="0" rtlCol="0" anchor="t"/>
          <a:lstStyle/>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歯科・関連医療費の</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削減額(貨幣換算)</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健康寿命の延伸</a:t>
            </a:r>
            <a:endParaRPr lang="en-US" sz="900" dirty="0"/>
          </a:p>
          <a:p>
            <a:pPr algn="ct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QALY改善</a:t>
            </a:r>
            <a:endParaRPr lang="en-US" sz="900" dirty="0"/>
          </a:p>
        </p:txBody>
      </p:sp>
      <p:sp>
        <p:nvSpPr>
          <p:cNvPr id="21" name="Shape 19"/>
          <p:cNvSpPr/>
          <p:nvPr/>
        </p:nvSpPr>
        <p:spPr>
          <a:xfrm rot="5400000">
            <a:off x="9486900" y="2244852"/>
            <a:ext cx="123444" cy="128016"/>
          </a:xfrm>
          <a:prstGeom prst="triangle">
            <a:avLst/>
          </a:prstGeom>
          <a:solidFill>
            <a:srgbClr val="8A93A6"/>
          </a:solidFill>
          <a:ln/>
        </p:spPr>
      </p:sp>
      <p:sp>
        <p:nvSpPr>
          <p:cNvPr id="22" name="Shape 20"/>
          <p:cNvSpPr/>
          <p:nvPr/>
        </p:nvSpPr>
        <p:spPr>
          <a:xfrm>
            <a:off x="9619488" y="1325880"/>
            <a:ext cx="2148840" cy="1965960"/>
          </a:xfrm>
          <a:prstGeom prst="roundRect">
            <a:avLst>
              <a:gd name="adj" fmla="val 3256"/>
            </a:avLst>
          </a:prstGeom>
          <a:solidFill>
            <a:srgbClr val="C8102E"/>
          </a:solidFill>
          <a:ln/>
        </p:spPr>
      </p:sp>
      <p:sp>
        <p:nvSpPr>
          <p:cNvPr id="23" name="Text 21"/>
          <p:cNvSpPr/>
          <p:nvPr/>
        </p:nvSpPr>
        <p:spPr>
          <a:xfrm>
            <a:off x="9619488" y="1399032"/>
            <a:ext cx="21488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財務リターン</a:t>
            </a:r>
            <a:endParaRPr lang="en-US" sz="1150" dirty="0"/>
          </a:p>
        </p:txBody>
      </p:sp>
      <p:sp>
        <p:nvSpPr>
          <p:cNvPr id="24" name="Text 22"/>
          <p:cNvSpPr/>
          <p:nvPr/>
        </p:nvSpPr>
        <p:spPr>
          <a:xfrm>
            <a:off x="9692640" y="1746504"/>
            <a:ext cx="2002536" cy="1453896"/>
          </a:xfrm>
          <a:prstGeom prst="rect">
            <a:avLst/>
          </a:prstGeom>
          <a:noFill/>
          <a:ln/>
        </p:spPr>
        <p:txBody>
          <a:bodyPr wrap="square" lIns="0" tIns="0" rIns="0" bIns="0" rtlCol="0" anchor="t"/>
          <a:lstStyle/>
          <a:p>
            <a:pPr algn="ctr" indent="0" marL="0">
              <a:lnSpc>
                <a:spcPct val="115000"/>
              </a:lnSpc>
              <a:buNone/>
            </a:pPr>
            <a:r>
              <a:rPr lang="en-US" sz="900" dirty="0">
                <a:solidFill>
                  <a:srgbClr val="FFFFFF"/>
                </a:solidFill>
                <a:latin typeface="Yu Gothic" pitchFamily="34" charset="0"/>
                <a:ea typeface="Yu Gothic" pitchFamily="34" charset="-122"/>
                <a:cs typeface="Yu Gothic" pitchFamily="34" charset="-120"/>
              </a:rPr>
              <a:t>予防歯科市場拡大×</a:t>
            </a:r>
            <a:endParaRPr lang="en-US" sz="900" dirty="0"/>
          </a:p>
          <a:p>
            <a:pPr algn="ctr" indent="0" marL="0">
              <a:lnSpc>
                <a:spcPct val="115000"/>
              </a:lnSpc>
              <a:buNone/>
            </a:pPr>
            <a:r>
              <a:rPr lang="en-US" sz="900" dirty="0">
                <a:solidFill>
                  <a:srgbClr val="FFFFFF"/>
                </a:solidFill>
                <a:latin typeface="Yu Gothic" pitchFamily="34" charset="0"/>
                <a:ea typeface="Yu Gothic" pitchFamily="34" charset="-122"/>
                <a:cs typeface="Yu Gothic" pitchFamily="34" charset="-120"/>
              </a:rPr>
              <a:t>シェア・単価向上</a:t>
            </a:r>
            <a:endParaRPr lang="en-US" sz="900" dirty="0"/>
          </a:p>
          <a:p>
            <a:pPr algn="ctr" indent="0" marL="0">
              <a:lnSpc>
                <a:spcPct val="115000"/>
              </a:lnSpc>
              <a:buNone/>
            </a:pPr>
            <a:r>
              <a:rPr lang="en-US" sz="900" dirty="0">
                <a:solidFill>
                  <a:srgbClr val="FFFFFF"/>
                </a:solidFill>
                <a:latin typeface="Yu Gothic" pitchFamily="34" charset="0"/>
                <a:ea typeface="Yu Gothic" pitchFamily="34" charset="-122"/>
                <a:cs typeface="Yu Gothic" pitchFamily="34" charset="-120"/>
              </a:rPr>
              <a:t>ブランドエクイティ</a:t>
            </a:r>
            <a:endParaRPr lang="en-US" sz="900" dirty="0"/>
          </a:p>
          <a:p>
            <a:pPr algn="ctr" indent="0" marL="0">
              <a:lnSpc>
                <a:spcPct val="115000"/>
              </a:lnSpc>
              <a:buNone/>
            </a:pPr>
            <a:r>
              <a:rPr lang="en-US" sz="900" dirty="0">
                <a:solidFill>
                  <a:srgbClr val="FFFFFF"/>
                </a:solidFill>
                <a:latin typeface="Yu Gothic" pitchFamily="34" charset="0"/>
                <a:ea typeface="Yu Gothic" pitchFamily="34" charset="-122"/>
                <a:cs typeface="Yu Gothic" pitchFamily="34" charset="-120"/>
              </a:rPr>
              <a:t>B2B2C事業創出</a:t>
            </a:r>
            <a:endParaRPr lang="en-US" sz="900" dirty="0"/>
          </a:p>
          <a:p>
            <a:pPr algn="ctr" indent="0" marL="0">
              <a:lnSpc>
                <a:spcPct val="115000"/>
              </a:lnSpc>
              <a:buNone/>
            </a:pPr>
            <a:r>
              <a:rPr lang="en-US" sz="900" dirty="0">
                <a:solidFill>
                  <a:srgbClr val="FFFFFF"/>
                </a:solidFill>
                <a:latin typeface="Yu Gothic" pitchFamily="34" charset="0"/>
                <a:ea typeface="Yu Gothic" pitchFamily="34" charset="-122"/>
                <a:cs typeface="Yu Gothic" pitchFamily="34" charset="-120"/>
              </a:rPr>
              <a:t>資本コスト低減→PBR</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11274552" cy="914400"/>
        </p:xfrm>
        <a:graphic>
          <a:graphicData uri="http://schemas.openxmlformats.org/drawingml/2006/table">
            <a:tbl>
              <a:tblPr/>
              <a:tblGrid>
                <a:gridCol w="1051560"/>
                <a:gridCol w="6309360"/>
                <a:gridCol w="3913632"/>
              </a:tblGrid>
              <a:tr h="420624">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階層</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KPI例</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データ源(基盤で管理)</a:t>
                      </a:r>
                      <a:endParaRPr lang="en-US" sz="95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1E2761"/>
                    </a:solidFill>
                  </a:tcPr>
                </a:tc>
              </a:tr>
              <a:tr h="420624">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KGI</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習慣づくり貢献人口(オーラルケア)／オーラルヘルスインパクト貨幣換算額(円)</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貨幣換算エンジン(FR-O-06)・換算単価マスタ(外部監修)</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KPI</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適正歯みがき習慣者数／啓発リーチ数・行動変容率／予防歯科関連売上構成比／利用者の口腔健康指標</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アウトカムデータ統合(FR-O-09): 調査・共同実証(疫学)</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4F5F8"/>
                    </a:solidFill>
                  </a:tcPr>
                </a:tc>
              </a:tr>
              <a:tr h="420624">
                <a:tc>
                  <a:txBody>
                    <a:bodyPr/>
                    <a:lstStyle/>
                    <a:p>
                      <a:pPr indent="0" marL="0">
                        <a:buNone/>
                      </a:pPr>
                      <a:r>
                        <a:rPr lang="en-US" sz="900" b="1" dirty="0">
                          <a:solidFill>
                            <a:srgbClr val="1E2761"/>
                          </a:solidFill>
                          <a:latin typeface="Yu Gothic" pitchFamily="34" charset="0"/>
                          <a:ea typeface="Yu Gothic" pitchFamily="34" charset="-122"/>
                          <a:cs typeface="Yu Gothic" pitchFamily="34" charset="-120"/>
                        </a:rPr>
                        <a:t>ドライバ</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製品別販売数量／地域別浸透率／歯科・自治体・健保との連携件数</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c>
                  <a:txBody>
                    <a:bodyPr/>
                    <a:lstStyle/>
                    <a:p>
                      <a:pPr indent="0" marL="0">
                        <a:buNone/>
                      </a:pPr>
                      <a:r>
                        <a:rPr lang="en-US" sz="900" dirty="0">
                          <a:solidFill>
                            <a:srgbClr val="2A2A33"/>
                          </a:solidFill>
                          <a:latin typeface="Yu Gothic" pitchFamily="34" charset="0"/>
                          <a:ea typeface="Yu Gothic" pitchFamily="34" charset="-122"/>
                          <a:cs typeface="Yu Gothic" pitchFamily="34" charset="-120"/>
                        </a:rPr>
                        <a:t>販売データ連携(SAP)・活動管理</a:t>
                      </a:r>
                      <a:endParaRPr lang="en-US" sz="900" dirty="0">
                        <a:latin typeface="Yu Gothic" charset="0"/>
                        <a:ea typeface="Yu Gothic" charset="0"/>
                        <a:cs typeface="Yu Gothic" charset="0"/>
                      </a:endParaRPr>
                    </a:p>
                  </a:txBody>
                  <a:tcPr marL="91440" marR="91440" marT="45720" marB="45720" anchor="ctr">
                    <a:lnL w="9525" cap="flat" cmpd="sng" algn="ctr">
                      <a:solidFill>
                        <a:srgbClr val="D8DCE5"/>
                      </a:solidFill>
                      <a:prstDash val="solid"/>
                      <a:round/>
                      <a:headEnd type="none" w="med" len="med"/>
                      <a:tailEnd type="none" w="med" len="med"/>
                    </a:lnL>
                    <a:lnR w="9525" cap="flat" cmpd="sng" algn="ctr">
                      <a:solidFill>
                        <a:srgbClr val="D8DCE5"/>
                      </a:solidFill>
                      <a:prstDash val="solid"/>
                      <a:round/>
                      <a:headEnd type="none" w="med" len="med"/>
                      <a:tailEnd type="none" w="med" len="med"/>
                    </a:lnR>
                    <a:lnT w="9525" cap="flat" cmpd="sng" algn="ctr">
                      <a:solidFill>
                        <a:srgbClr val="D8DCE5"/>
                      </a:solidFill>
                      <a:prstDash val="solid"/>
                      <a:round/>
                      <a:headEnd type="none" w="med" len="med"/>
                      <a:tailEnd type="none" w="med" len="med"/>
                    </a:lnT>
                    <a:lnB w="9525" cap="flat" cmpd="sng" algn="ctr">
                      <a:solidFill>
                        <a:srgbClr val="D8DCE5"/>
                      </a:solidFill>
                      <a:prstDash val="solid"/>
                      <a:round/>
                      <a:headEnd type="none" w="med" len="med"/>
                      <a:tailEnd type="none" w="med" len="med"/>
                    </a:lnB>
                    <a:solidFill>
                      <a:srgbClr val="FFFFFF"/>
                    </a:solidFill>
                  </a:tcPr>
                </a:tc>
              </a:tr>
            </a:tbl>
          </a:graphicData>
        </a:graphic>
      </p:graphicFrame>
      <p:sp>
        <p:nvSpPr>
          <p:cNvPr id="26" name="Shape 23"/>
          <p:cNvSpPr/>
          <p:nvPr/>
        </p:nvSpPr>
        <p:spPr>
          <a:xfrm>
            <a:off x="457200" y="5486400"/>
            <a:ext cx="11274552" cy="960120"/>
          </a:xfrm>
          <a:prstGeom prst="roundRect">
            <a:avLst>
              <a:gd name="adj" fmla="val 5714"/>
            </a:avLst>
          </a:prstGeom>
          <a:solidFill>
            <a:srgbClr val="EEF3FB"/>
          </a:solidFill>
          <a:ln/>
        </p:spPr>
      </p:sp>
      <p:sp>
        <p:nvSpPr>
          <p:cNvPr id="27" name="Text 24"/>
          <p:cNvSpPr/>
          <p:nvPr/>
        </p:nvSpPr>
        <p:spPr>
          <a:xfrm>
            <a:off x="685800" y="5559552"/>
            <a:ext cx="10835640" cy="822960"/>
          </a:xfrm>
          <a:prstGeom prst="rect">
            <a:avLst/>
          </a:prstGeom>
          <a:noFill/>
          <a:ln/>
        </p:spPr>
        <p:txBody>
          <a:bodyPr wrap="square" lIns="0" tIns="0" rIns="0" bIns="0" rtlCol="0" anchor="ctr"/>
          <a:lstStyle/>
          <a:p>
            <a:pPr indent="0" marL="0">
              <a:lnSpc>
                <a:spcPct val="118000"/>
              </a:lnSpc>
              <a:buNone/>
            </a:pPr>
            <a:r>
              <a:rPr lang="en-US" sz="1000" b="1" dirty="0">
                <a:solidFill>
                  <a:srgbClr val="1E2761"/>
                </a:solidFill>
                <a:latin typeface="Yu Gothic" pitchFamily="34" charset="0"/>
                <a:ea typeface="Yu Gothic" pitchFamily="34" charset="-122"/>
                <a:cs typeface="Yu Gothic" pitchFamily="34" charset="-120"/>
              </a:rPr>
              <a:t>追い風と換算ロジック(例示): </a:t>
            </a:r>
            <a:pPr indent="0" marL="0">
              <a:lnSpc>
                <a:spcPct val="118000"/>
              </a:lnSpc>
              <a:buNone/>
            </a:pPr>
            <a:r>
              <a:rPr lang="en-US" sz="1000" dirty="0">
                <a:solidFill>
                  <a:srgbClr val="2A2A33"/>
                </a:solidFill>
                <a:latin typeface="Yu Gothic" pitchFamily="34" charset="0"/>
                <a:ea typeface="Yu Gothic" pitchFamily="34" charset="-122"/>
                <a:cs typeface="Yu Gothic" pitchFamily="34" charset="-120"/>
              </a:rPr>
              <a:t>国民皆歯科健診の政策議論・健康経営の普及・アジア口腔衛生市場の成長。貨幣換算は「習慣化人数×一人当たり年間医療費削減単価(疫学研究・共同実証から設定、外部監修)」で算定し、メソドロジーを文書化・版管理(フィリップス方式)して監査可能性を担保</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7</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テーマ詳細②③ 水・気候 ― 「使用時インパクト」は当社最大の攻めどころ</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すすぎ1回等の使用時削減は、節水貢献(社会価値)とScope3 Cat11削減(開示KPI)の両方に一石二鳥で効く</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7</a:t>
            </a:r>
            <a:endParaRPr lang="en-US" sz="900" dirty="0"/>
          </a:p>
        </p:txBody>
      </p:sp>
      <p:sp>
        <p:nvSpPr>
          <p:cNvPr id="6" name="Shape 4"/>
          <p:cNvSpPr/>
          <p:nvPr/>
        </p:nvSpPr>
        <p:spPr>
          <a:xfrm>
            <a:off x="457200" y="1234440"/>
            <a:ext cx="5486400" cy="3520440"/>
          </a:xfrm>
          <a:prstGeom prst="roundRect">
            <a:avLst>
              <a:gd name="adj" fmla="val 1818"/>
            </a:avLst>
          </a:prstGeom>
          <a:solidFill>
            <a:srgbClr val="FFFFFF"/>
          </a:solidFill>
          <a:ln w="19050">
            <a:solidFill>
              <a:srgbClr val="C8102E"/>
            </a:solidFill>
            <a:prstDash val="solid"/>
          </a:ln>
        </p:spPr>
      </p:sp>
      <p:sp>
        <p:nvSpPr>
          <p:cNvPr id="7" name="Text 5"/>
          <p:cNvSpPr/>
          <p:nvPr/>
        </p:nvSpPr>
        <p:spPr>
          <a:xfrm>
            <a:off x="640080" y="1353312"/>
            <a:ext cx="5120640" cy="502920"/>
          </a:xfrm>
          <a:prstGeom prst="rect">
            <a:avLst/>
          </a:prstGeom>
          <a:noFill/>
          <a:ln/>
        </p:spPr>
        <p:txBody>
          <a:bodyPr wrap="square" lIns="0" tIns="0" rIns="0" bIns="0" rtlCol="0" anchor="ctr"/>
          <a:lstStyle/>
          <a:p>
            <a:pPr indent="0" marL="0">
              <a:buNone/>
            </a:pPr>
            <a:r>
              <a:rPr lang="en-US" sz="1250" b="1" dirty="0">
                <a:solidFill>
                  <a:srgbClr val="C8102E"/>
                </a:solidFill>
                <a:latin typeface="Yu Gothic" pitchFamily="34" charset="0"/>
                <a:ea typeface="Yu Gothic" pitchFamily="34" charset="-122"/>
                <a:cs typeface="Yu Gothic" pitchFamily="34" charset="-120"/>
              </a:rPr>
              <a:t>T2 水 ― 節水を製品競争力とリスク管理の両面で価値化</a:t>
            </a:r>
            <a:endParaRPr lang="en-US" sz="1250" dirty="0"/>
          </a:p>
        </p:txBody>
      </p:sp>
      <p:sp>
        <p:nvSpPr>
          <p:cNvPr id="8" name="Text 6"/>
          <p:cNvSpPr/>
          <p:nvPr/>
        </p:nvSpPr>
        <p:spPr>
          <a:xfrm>
            <a:off x="640080" y="1874520"/>
            <a:ext cx="5120640" cy="2743200"/>
          </a:xfrm>
          <a:prstGeom prst="rect">
            <a:avLst/>
          </a:prstGeom>
          <a:noFill/>
          <a:ln/>
        </p:spPr>
        <p:txBody>
          <a:bodyPr wrap="square" lIns="0" tIns="0" rIns="0" bIns="0" rtlCol="0" anchor="t"/>
          <a:lstStyle/>
          <a:p>
            <a:pPr indent="0" marL="0">
              <a:lnSpc>
                <a:spcPct val="122000"/>
              </a:lnSpc>
              <a:buNone/>
            </a:pPr>
            <a:r>
              <a:rPr lang="en-US" sz="980" b="1" dirty="0">
                <a:solidFill>
                  <a:srgbClr val="1E2761"/>
                </a:solidFill>
                <a:latin typeface="Yu Gothic" pitchFamily="34" charset="0"/>
                <a:ea typeface="Yu Gothic" pitchFamily="34" charset="-122"/>
                <a:cs typeface="Yu Gothic" pitchFamily="34" charset="-120"/>
              </a:rPr>
              <a:t>機会(製品): </a:t>
            </a:r>
            <a:pPr indent="0" marL="0">
              <a:lnSpc>
                <a:spcPct val="122000"/>
              </a:lnSpc>
              <a:buNone/>
            </a:pPr>
            <a:r>
              <a:rPr lang="en-US" sz="980" dirty="0">
                <a:solidFill>
                  <a:srgbClr val="2A2A33"/>
                </a:solidFill>
                <a:latin typeface="Yu Gothic" pitchFamily="34" charset="0"/>
                <a:ea typeface="Yu Gothic" pitchFamily="34" charset="-122"/>
                <a:cs typeface="Yu Gothic" pitchFamily="34" charset="-120"/>
              </a:rPr>
              <a:t>すすぎ1回洗剤等の浸透 → 家庭の洗濯水量削減(節水貢献量m3)+給湯エネルギー削減(使用時CO2=Cat11) → 消費者の水道・光熱費削減を円換算で訴求 → 選好・シェア向上
</a:t>
            </a:r>
            <a:pPr indent="0" marL="0">
              <a:lnSpc>
                <a:spcPct val="122000"/>
              </a:lnSpc>
              <a:buNone/>
            </a:pPr>
            <a:r>
              <a:rPr lang="en-US" sz="980" b="1" dirty="0">
                <a:solidFill>
                  <a:srgbClr val="1E2761"/>
                </a:solidFill>
                <a:latin typeface="Yu Gothic" pitchFamily="34" charset="0"/>
                <a:ea typeface="Yu Gothic" pitchFamily="34" charset="-122"/>
                <a:cs typeface="Yu Gothic" pitchFamily="34" charset="-120"/>
              </a:rPr>
              <a:t>リスク(操業): </a:t>
            </a:r>
            <a:pPr indent="0" marL="0">
              <a:lnSpc>
                <a:spcPct val="122000"/>
              </a:lnSpc>
              <a:buNone/>
            </a:pPr>
            <a:r>
              <a:rPr lang="en-US" sz="980" dirty="0">
                <a:solidFill>
                  <a:srgbClr val="2A2A33"/>
                </a:solidFill>
                <a:latin typeface="Yu Gothic" pitchFamily="34" charset="0"/>
                <a:ea typeface="Yu Gothic" pitchFamily="34" charset="-122"/>
                <a:cs typeface="Yu Gothic" pitchFamily="34" charset="-120"/>
              </a:rPr>
              <a:t>拠点・サプライチェーンの水ストレス評価(WRI Aqueduct等の外部データ接続)、取水・排水管理でTNFD/CDP Water対応 → 資本コスト低減
</a:t>
            </a:r>
            <a:pPr indent="0" marL="0">
              <a:lnSpc>
                <a:spcPct val="122000"/>
              </a:lnSpc>
              <a:buNone/>
            </a:pPr>
            <a:r>
              <a:rPr lang="en-US" sz="980" b="1" dirty="0">
                <a:solidFill>
                  <a:srgbClr val="C8102E"/>
                </a:solidFill>
                <a:latin typeface="Yu Gothic" pitchFamily="34" charset="0"/>
                <a:ea typeface="Yu Gothic" pitchFamily="34" charset="-122"/>
                <a:cs typeface="Yu Gothic" pitchFamily="34" charset="-120"/>
              </a:rPr>
              <a:t>KPI例: </a:t>
            </a:r>
            <a:pPr indent="0" marL="0">
              <a:lnSpc>
                <a:spcPct val="122000"/>
              </a:lnSpc>
              <a:buNone/>
            </a:pPr>
            <a:r>
              <a:rPr lang="en-US" sz="980" dirty="0">
                <a:solidFill>
                  <a:srgbClr val="2A2A33"/>
                </a:solidFill>
                <a:latin typeface="Yu Gothic" pitchFamily="34" charset="0"/>
                <a:ea typeface="Yu Gothic" pitchFamily="34" charset="-122"/>
                <a:cs typeface="Yu Gothic" pitchFamily="34" charset="-120"/>
              </a:rPr>
              <a:t>節水貢献量(m3/年)/節水型製品売上構成比/使用時CO2削減量/水ストレス地域の取水削減率/ウォーターバランス(サントリー型)</a:t>
            </a:r>
            <a:endParaRPr lang="en-US" sz="980" dirty="0"/>
          </a:p>
        </p:txBody>
      </p:sp>
      <p:sp>
        <p:nvSpPr>
          <p:cNvPr id="9" name="Shape 7"/>
          <p:cNvSpPr/>
          <p:nvPr/>
        </p:nvSpPr>
        <p:spPr>
          <a:xfrm>
            <a:off x="6245352" y="1234440"/>
            <a:ext cx="5486400" cy="3520440"/>
          </a:xfrm>
          <a:prstGeom prst="roundRect">
            <a:avLst>
              <a:gd name="adj" fmla="val 1818"/>
            </a:avLst>
          </a:prstGeom>
          <a:solidFill>
            <a:srgbClr val="FFFFFF"/>
          </a:solidFill>
          <a:ln w="19050">
            <a:solidFill>
              <a:srgbClr val="1E2761"/>
            </a:solidFill>
            <a:prstDash val="solid"/>
          </a:ln>
        </p:spPr>
      </p:sp>
      <p:sp>
        <p:nvSpPr>
          <p:cNvPr id="10" name="Text 8"/>
          <p:cNvSpPr/>
          <p:nvPr/>
        </p:nvSpPr>
        <p:spPr>
          <a:xfrm>
            <a:off x="6428232" y="1353312"/>
            <a:ext cx="5120640" cy="502920"/>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T3 気候 ― 守りのGHG算定を攻めのCFP・シミュレーションへ</a:t>
            </a:r>
            <a:endParaRPr lang="en-US" sz="1250" dirty="0"/>
          </a:p>
        </p:txBody>
      </p:sp>
      <p:sp>
        <p:nvSpPr>
          <p:cNvPr id="11" name="Text 9"/>
          <p:cNvSpPr/>
          <p:nvPr/>
        </p:nvSpPr>
        <p:spPr>
          <a:xfrm>
            <a:off x="6428232" y="1874520"/>
            <a:ext cx="5120640" cy="2743200"/>
          </a:xfrm>
          <a:prstGeom prst="rect">
            <a:avLst/>
          </a:prstGeom>
          <a:noFill/>
          <a:ln/>
        </p:spPr>
        <p:txBody>
          <a:bodyPr wrap="square" lIns="0" tIns="0" rIns="0" bIns="0" rtlCol="0" anchor="t"/>
          <a:lstStyle/>
          <a:p>
            <a:pPr indent="0" marL="0">
              <a:lnSpc>
                <a:spcPct val="122000"/>
              </a:lnSpc>
              <a:buNone/>
            </a:pPr>
            <a:r>
              <a:rPr lang="en-US" sz="980" b="1" dirty="0">
                <a:solidFill>
                  <a:srgbClr val="1E2761"/>
                </a:solidFill>
                <a:latin typeface="Yu Gothic" pitchFamily="34" charset="0"/>
                <a:ea typeface="Yu Gothic" pitchFamily="34" charset="-122"/>
                <a:cs typeface="Yu Gothic" pitchFamily="34" charset="-120"/>
              </a:rPr>
              <a:t>受注防衛・拡大: </a:t>
            </a:r>
            <a:pPr indent="0" marL="0">
              <a:lnSpc>
                <a:spcPct val="122000"/>
              </a:lnSpc>
              <a:buNone/>
            </a:pPr>
            <a:r>
              <a:rPr lang="en-US" sz="980" dirty="0">
                <a:solidFill>
                  <a:srgbClr val="2A2A33"/>
                </a:solidFill>
                <a:latin typeface="Yu Gothic" pitchFamily="34" charset="0"/>
                <a:ea typeface="Yu Gothic" pitchFamily="34" charset="-122"/>
                <a:cs typeface="Yu Gothic" pitchFamily="34" charset="-120"/>
              </a:rPr>
              <a:t>Scope1/2/3フル算定の一次データ化 → 製品別CFP(ISO14067準拠)を取引先要請に即応開示(SLA例: 5営業日) → サプライチェーン排除リスク回避・環境価値による受注シェア拡大
</a:t>
            </a:r>
            <a:pPr indent="0" marL="0">
              <a:lnSpc>
                <a:spcPct val="122000"/>
              </a:lnSpc>
              <a:buNone/>
            </a:pPr>
            <a:r>
              <a:rPr lang="en-US" sz="980" b="1" dirty="0">
                <a:solidFill>
                  <a:srgbClr val="1E2761"/>
                </a:solidFill>
                <a:latin typeface="Yu Gothic" pitchFamily="34" charset="0"/>
                <a:ea typeface="Yu Gothic" pitchFamily="34" charset="-122"/>
                <a:cs typeface="Yu Gothic" pitchFamily="34" charset="-120"/>
              </a:rPr>
              <a:t>投資最適化: </a:t>
            </a:r>
            <a:pPr indent="0" marL="0">
              <a:lnSpc>
                <a:spcPct val="122000"/>
              </a:lnSpc>
              <a:buNone/>
            </a:pPr>
            <a:r>
              <a:rPr lang="en-US" sz="980" dirty="0">
                <a:solidFill>
                  <a:srgbClr val="2A2A33"/>
                </a:solidFill>
                <a:latin typeface="Yu Gothic" pitchFamily="34" charset="0"/>
                <a:ea typeface="Yu Gothic" pitchFamily="34" charset="-122"/>
                <a:cs typeface="Yu Gothic" pitchFamily="34" charset="-120"/>
              </a:rPr>
              <a:t>炭素税・カーボンプライシングの財務影響シミュレーション(SSBJ「戦略」開示と一体)、限界削減費用カーブで脱炭素投資のROIを最適化(ダノン/マイクロソフト型)
</a:t>
            </a:r>
            <a:pPr indent="0" marL="0">
              <a:lnSpc>
                <a:spcPct val="122000"/>
              </a:lnSpc>
              <a:buNone/>
            </a:pPr>
            <a:r>
              <a:rPr lang="en-US" sz="980" b="1" dirty="0">
                <a:solidFill>
                  <a:srgbClr val="C8102E"/>
                </a:solidFill>
                <a:latin typeface="Yu Gothic" pitchFamily="34" charset="0"/>
                <a:ea typeface="Yu Gothic" pitchFamily="34" charset="-122"/>
                <a:cs typeface="Yu Gothic" pitchFamily="34" charset="-120"/>
              </a:rPr>
              <a:t>KPI例: </a:t>
            </a:r>
            <a:pPr indent="0" marL="0">
              <a:lnSpc>
                <a:spcPct val="122000"/>
              </a:lnSpc>
              <a:buNone/>
            </a:pPr>
            <a:r>
              <a:rPr lang="en-US" sz="980" dirty="0">
                <a:solidFill>
                  <a:srgbClr val="2A2A33"/>
                </a:solidFill>
                <a:latin typeface="Yu Gothic" pitchFamily="34" charset="0"/>
                <a:ea typeface="Yu Gothic" pitchFamily="34" charset="-122"/>
                <a:cs typeface="Yu Gothic" pitchFamily="34" charset="-120"/>
              </a:rPr>
              <a:t>Scope1/2/3排出量(一次データ比率)/CFP算定済みSKU比率/CFP回答リードタイム/内部炭素価格適用範囲/削減投資IRR</a:t>
            </a:r>
            <a:endParaRPr lang="en-US" sz="980" dirty="0"/>
          </a:p>
        </p:txBody>
      </p:sp>
      <p:sp>
        <p:nvSpPr>
          <p:cNvPr id="12" name="Shape 10"/>
          <p:cNvSpPr/>
          <p:nvPr/>
        </p:nvSpPr>
        <p:spPr>
          <a:xfrm>
            <a:off x="457200" y="5120640"/>
            <a:ext cx="11274552" cy="1051560"/>
          </a:xfrm>
          <a:prstGeom prst="roundRect">
            <a:avLst>
              <a:gd name="adj" fmla="val 5217"/>
            </a:avLst>
          </a:prstGeom>
          <a:solidFill>
            <a:srgbClr val="FBECEE"/>
          </a:solidFill>
          <a:ln/>
        </p:spPr>
      </p:sp>
      <p:sp>
        <p:nvSpPr>
          <p:cNvPr id="13" name="Text 11"/>
          <p:cNvSpPr/>
          <p:nvPr/>
        </p:nvSpPr>
        <p:spPr>
          <a:xfrm>
            <a:off x="685800" y="5184648"/>
            <a:ext cx="10835640" cy="914400"/>
          </a:xfrm>
          <a:prstGeom prst="rect">
            <a:avLst/>
          </a:prstGeom>
          <a:noFill/>
          <a:ln/>
        </p:spPr>
        <p:txBody>
          <a:bodyPr wrap="square" lIns="0" tIns="0" rIns="0" bIns="0" rtlCol="0" anchor="ctr"/>
          <a:lstStyle/>
          <a:p>
            <a:pPr indent="0" marL="0">
              <a:lnSpc>
                <a:spcPct val="118000"/>
              </a:lnSpc>
              <a:buNone/>
            </a:pPr>
            <a:r>
              <a:rPr lang="en-US" sz="1000" b="1" dirty="0">
                <a:solidFill>
                  <a:srgbClr val="C8102E"/>
                </a:solidFill>
                <a:latin typeface="Yu Gothic" pitchFamily="34" charset="0"/>
                <a:ea typeface="Yu Gothic" pitchFamily="34" charset="-122"/>
                <a:cs typeface="Yu Gothic" pitchFamily="34" charset="-120"/>
              </a:rPr>
              <a:t>一石二鳥の構造: </a:t>
            </a:r>
            <a:pPr indent="0" marL="0">
              <a:lnSpc>
                <a:spcPct val="118000"/>
              </a:lnSpc>
              <a:buNone/>
            </a:pPr>
            <a:r>
              <a:rPr lang="en-US" sz="1000" dirty="0">
                <a:solidFill>
                  <a:srgbClr val="2A2A33"/>
                </a:solidFill>
                <a:latin typeface="Yu Gothic" pitchFamily="34" charset="0"/>
                <a:ea typeface="Yu Gothic" pitchFamily="34" charset="-122"/>
                <a:cs typeface="Yu Gothic" pitchFamily="34" charset="-120"/>
              </a:rPr>
              <a:t>洗剤・ハミガキ等の使用時(すすぎ・給湯)は当社Scope3の中でも支配的なカテゴリ11に直結。節水・時短製品の浸透は「守りの開示KPI改善」と「消費者価値(家計・時短)→シェア向上」を同時に達成する。使用条件マスタ(研究所データ)×販売数量から自動算定できるデータ設計が鍵(BR-O-05/FR-O-05)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8</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テーマ詳細④⑤⑥ 資源循環・人的資本・ガバナンス</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T5の社内実証はT1の対外エビデンスへ、T6の報酬連動は全テーマの実行力担保として機能する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8</a:t>
            </a:r>
            <a:endParaRPr lang="en-US" sz="900" dirty="0"/>
          </a:p>
        </p:txBody>
      </p:sp>
      <p:sp>
        <p:nvSpPr>
          <p:cNvPr id="6" name="Shape 4"/>
          <p:cNvSpPr/>
          <p:nvPr/>
        </p:nvSpPr>
        <p:spPr>
          <a:xfrm>
            <a:off x="457200" y="1234440"/>
            <a:ext cx="11274552" cy="1389888"/>
          </a:xfrm>
          <a:prstGeom prst="roundRect">
            <a:avLst>
              <a:gd name="adj" fmla="val 4605"/>
            </a:avLst>
          </a:prstGeom>
          <a:solidFill>
            <a:srgbClr val="FFFFFF"/>
          </a:solidFill>
          <a:ln w="12700">
            <a:solidFill>
              <a:srgbClr val="C9CFDB"/>
            </a:solidFill>
            <a:prstDash val="solid"/>
          </a:ln>
        </p:spPr>
      </p:sp>
      <p:sp>
        <p:nvSpPr>
          <p:cNvPr id="7" name="Text 5"/>
          <p:cNvSpPr/>
          <p:nvPr/>
        </p:nvSpPr>
        <p:spPr>
          <a:xfrm>
            <a:off x="640080" y="1307592"/>
            <a:ext cx="2743200" cy="1243584"/>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T4 資源循環・プラスチック</a:t>
            </a:r>
            <a:endParaRPr lang="en-US" sz="1250" dirty="0"/>
          </a:p>
        </p:txBody>
      </p:sp>
      <p:sp>
        <p:nvSpPr>
          <p:cNvPr id="8" name="Text 6"/>
          <p:cNvSpPr/>
          <p:nvPr/>
        </p:nvSpPr>
        <p:spPr>
          <a:xfrm>
            <a:off x="3520440" y="1344168"/>
            <a:ext cx="5760720" cy="1188720"/>
          </a:xfrm>
          <a:prstGeom prst="rect">
            <a:avLst/>
          </a:prstGeom>
          <a:noFill/>
          <a:ln/>
        </p:spPr>
        <p:txBody>
          <a:bodyPr wrap="square" lIns="0" tIns="0" rIns="0" bIns="0" rtlCol="0" anchor="ctr"/>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因果パス: 詰替・付替比率、再生プラ・バイオマス比率の向上 → 容器包装・EPR規制対応コスト低減、店頭回収・水平リサイクルの共創 → ブランド選好・流通評価 → 売上・コスト双方に寄与</a:t>
            </a:r>
            <a:endParaRPr lang="en-US" sz="930" dirty="0"/>
          </a:p>
        </p:txBody>
      </p:sp>
      <p:sp>
        <p:nvSpPr>
          <p:cNvPr id="9" name="Text 7"/>
          <p:cNvSpPr/>
          <p:nvPr/>
        </p:nvSpPr>
        <p:spPr>
          <a:xfrm>
            <a:off x="9418320" y="1344168"/>
            <a:ext cx="2148840" cy="1188720"/>
          </a:xfrm>
          <a:prstGeom prst="rect">
            <a:avLst/>
          </a:prstGeom>
          <a:noFill/>
          <a:ln/>
        </p:spPr>
        <p:txBody>
          <a:bodyPr wrap="square" lIns="0" tIns="0" rIns="0" bIns="0" rtlCol="0" anchor="ctr"/>
          <a:lstStyle/>
          <a:p>
            <a:pPr indent="0" marL="0">
              <a:lnSpc>
                <a:spcPct val="115000"/>
              </a:lnSpc>
              <a:buNone/>
            </a:pPr>
            <a:r>
              <a:rPr lang="en-US" sz="880" dirty="0">
                <a:solidFill>
                  <a:srgbClr val="5A5F6B"/>
                </a:solidFill>
                <a:latin typeface="Yu Gothic" pitchFamily="34" charset="0"/>
                <a:ea typeface="Yu Gothic" pitchFamily="34" charset="-122"/>
                <a:cs typeface="Yu Gothic" pitchFamily="34" charset="-120"/>
              </a:rPr>
              <a:t>KPI例: 詰替率/プラ原単位/再生材使用率/回収スキーム参加店舗数</a:t>
            </a:r>
            <a:endParaRPr lang="en-US" sz="880" dirty="0"/>
          </a:p>
        </p:txBody>
      </p:sp>
      <p:sp>
        <p:nvSpPr>
          <p:cNvPr id="10" name="Shape 8"/>
          <p:cNvSpPr/>
          <p:nvPr/>
        </p:nvSpPr>
        <p:spPr>
          <a:xfrm>
            <a:off x="457200" y="2770632"/>
            <a:ext cx="11274552" cy="1389888"/>
          </a:xfrm>
          <a:prstGeom prst="roundRect">
            <a:avLst>
              <a:gd name="adj" fmla="val 4605"/>
            </a:avLst>
          </a:prstGeom>
          <a:solidFill>
            <a:srgbClr val="FFFFFF"/>
          </a:solidFill>
          <a:ln w="19050">
            <a:solidFill>
              <a:srgbClr val="C8102E"/>
            </a:solidFill>
            <a:prstDash val="solid"/>
          </a:ln>
        </p:spPr>
      </p:sp>
      <p:sp>
        <p:nvSpPr>
          <p:cNvPr id="11" name="Text 9"/>
          <p:cNvSpPr/>
          <p:nvPr/>
        </p:nvSpPr>
        <p:spPr>
          <a:xfrm>
            <a:off x="640080" y="2843784"/>
            <a:ext cx="2743200" cy="1243584"/>
          </a:xfrm>
          <a:prstGeom prst="rect">
            <a:avLst/>
          </a:prstGeom>
          <a:noFill/>
          <a:ln/>
        </p:spPr>
        <p:txBody>
          <a:bodyPr wrap="square" lIns="0" tIns="0" rIns="0" bIns="0" rtlCol="0" anchor="ctr"/>
          <a:lstStyle/>
          <a:p>
            <a:pPr indent="0" marL="0">
              <a:buNone/>
            </a:pPr>
            <a:r>
              <a:rPr lang="en-US" sz="1250" b="1" dirty="0">
                <a:solidFill>
                  <a:srgbClr val="C8102E"/>
                </a:solidFill>
                <a:latin typeface="Yu Gothic" pitchFamily="34" charset="0"/>
                <a:ea typeface="Yu Gothic" pitchFamily="34" charset="-122"/>
                <a:cs typeface="Yu Gothic" pitchFamily="34" charset="-120"/>
              </a:rPr>
              <a:t>T5 人的資本・健康経営</a:t>
            </a:r>
            <a:endParaRPr lang="en-US" sz="1250" dirty="0"/>
          </a:p>
        </p:txBody>
      </p:sp>
      <p:sp>
        <p:nvSpPr>
          <p:cNvPr id="12" name="Text 10"/>
          <p:cNvSpPr/>
          <p:nvPr/>
        </p:nvSpPr>
        <p:spPr>
          <a:xfrm>
            <a:off x="3520440" y="2880360"/>
            <a:ext cx="5760720" cy="1188720"/>
          </a:xfrm>
          <a:prstGeom prst="rect">
            <a:avLst/>
          </a:prstGeom>
          <a:noFill/>
          <a:ln/>
        </p:spPr>
        <p:txBody>
          <a:bodyPr wrap="square" lIns="0" tIns="0" rIns="0" bIns="0" rtlCol="0" anchor="ctr"/>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因果パス: 従業員の健康(自社製品を活用した社内オーラルケア含む)・エンゲージメント・DE&amp;I投資 → 生産性向上(プレゼンティーズム改善)・離職率低下 → 営業利益率・PBRへの遅延効果(柳モデル型の社内実証)。自社従業員での効果実証はT1の対外エビデンスに転用</a:t>
            </a:r>
            <a:endParaRPr lang="en-US" sz="930" dirty="0"/>
          </a:p>
        </p:txBody>
      </p:sp>
      <p:sp>
        <p:nvSpPr>
          <p:cNvPr id="13" name="Text 11"/>
          <p:cNvSpPr/>
          <p:nvPr/>
        </p:nvSpPr>
        <p:spPr>
          <a:xfrm>
            <a:off x="9418320" y="2880360"/>
            <a:ext cx="2148840" cy="1188720"/>
          </a:xfrm>
          <a:prstGeom prst="rect">
            <a:avLst/>
          </a:prstGeom>
          <a:noFill/>
          <a:ln/>
        </p:spPr>
        <p:txBody>
          <a:bodyPr wrap="square" lIns="0" tIns="0" rIns="0" bIns="0" rtlCol="0" anchor="ctr"/>
          <a:lstStyle/>
          <a:p>
            <a:pPr indent="0" marL="0">
              <a:lnSpc>
                <a:spcPct val="115000"/>
              </a:lnSpc>
              <a:buNone/>
            </a:pPr>
            <a:r>
              <a:rPr lang="en-US" sz="880" dirty="0">
                <a:solidFill>
                  <a:srgbClr val="5A5F6B"/>
                </a:solidFill>
                <a:latin typeface="Yu Gothic" pitchFamily="34" charset="0"/>
                <a:ea typeface="Yu Gothic" pitchFamily="34" charset="-122"/>
                <a:cs typeface="Yu Gothic" pitchFamily="34" charset="-120"/>
              </a:rPr>
              <a:t>KPI例: エンゲージメントスコア/健診・歯科健診受診率/女性管理職比率/人的資本ROI/労働災害度数率</a:t>
            </a:r>
            <a:endParaRPr lang="en-US" sz="880" dirty="0"/>
          </a:p>
        </p:txBody>
      </p:sp>
      <p:sp>
        <p:nvSpPr>
          <p:cNvPr id="14" name="Shape 12"/>
          <p:cNvSpPr/>
          <p:nvPr/>
        </p:nvSpPr>
        <p:spPr>
          <a:xfrm>
            <a:off x="457200" y="4306824"/>
            <a:ext cx="11274552" cy="1389888"/>
          </a:xfrm>
          <a:prstGeom prst="roundRect">
            <a:avLst>
              <a:gd name="adj" fmla="val 4605"/>
            </a:avLst>
          </a:prstGeom>
          <a:solidFill>
            <a:srgbClr val="FFFFFF"/>
          </a:solidFill>
          <a:ln w="12700">
            <a:solidFill>
              <a:srgbClr val="C9CFDB"/>
            </a:solidFill>
            <a:prstDash val="solid"/>
          </a:ln>
        </p:spPr>
      </p:sp>
      <p:sp>
        <p:nvSpPr>
          <p:cNvPr id="15" name="Text 13"/>
          <p:cNvSpPr/>
          <p:nvPr/>
        </p:nvSpPr>
        <p:spPr>
          <a:xfrm>
            <a:off x="640080" y="4379976"/>
            <a:ext cx="2743200" cy="1243584"/>
          </a:xfrm>
          <a:prstGeom prst="rect">
            <a:avLst/>
          </a:prstGeom>
          <a:noFill/>
          <a:ln/>
        </p:spPr>
        <p:txBody>
          <a:bodyPr wrap="square" lIns="0" tIns="0" rIns="0" bIns="0" rtlCol="0" anchor="ctr"/>
          <a:lstStyle/>
          <a:p>
            <a:pPr indent="0" marL="0">
              <a:buNone/>
            </a:pPr>
            <a:r>
              <a:rPr lang="en-US" sz="1250" b="1" dirty="0">
                <a:solidFill>
                  <a:srgbClr val="1E2761"/>
                </a:solidFill>
                <a:latin typeface="Yu Gothic" pitchFamily="34" charset="0"/>
                <a:ea typeface="Yu Gothic" pitchFamily="34" charset="-122"/>
                <a:cs typeface="Yu Gothic" pitchFamily="34" charset="-120"/>
              </a:rPr>
              <a:t>T6 ガバナンス・報酬連動</a:t>
            </a:r>
            <a:endParaRPr lang="en-US" sz="1250" dirty="0"/>
          </a:p>
        </p:txBody>
      </p:sp>
      <p:sp>
        <p:nvSpPr>
          <p:cNvPr id="16" name="Text 14"/>
          <p:cNvSpPr/>
          <p:nvPr/>
        </p:nvSpPr>
        <p:spPr>
          <a:xfrm>
            <a:off x="3520440" y="4416552"/>
            <a:ext cx="5760720" cy="1188720"/>
          </a:xfrm>
          <a:prstGeom prst="rect">
            <a:avLst/>
          </a:prstGeom>
          <a:noFill/>
          <a:ln/>
        </p:spPr>
        <p:txBody>
          <a:bodyPr wrap="square" lIns="0" tIns="0" rIns="0" bIns="0" rtlCol="0" anchor="ctr"/>
          <a:lstStyle/>
          <a:p>
            <a:pPr indent="0" marL="0">
              <a:lnSpc>
                <a:spcPct val="115000"/>
              </a:lnSpc>
              <a:buNone/>
            </a:pPr>
            <a:r>
              <a:rPr lang="en-US" sz="930" dirty="0">
                <a:solidFill>
                  <a:srgbClr val="2A2A33"/>
                </a:solidFill>
                <a:latin typeface="Yu Gothic" pitchFamily="34" charset="0"/>
                <a:ea typeface="Yu Gothic" pitchFamily="34" charset="-122"/>
                <a:cs typeface="Yu Gothic" pitchFamily="34" charset="-120"/>
              </a:rPr>
              <a:t>因果パス: 監査対応済みの確定KPI値を役員報酬・事業部評価に連動 → 実行力の担保を資本市場に証明 → アクティビスト対抗力・ガバナンス評価向上 → 資本コスト低減。花王が追及されている論点への先回り</a:t>
            </a:r>
            <a:endParaRPr lang="en-US" sz="930" dirty="0"/>
          </a:p>
        </p:txBody>
      </p:sp>
      <p:sp>
        <p:nvSpPr>
          <p:cNvPr id="17" name="Text 15"/>
          <p:cNvSpPr/>
          <p:nvPr/>
        </p:nvSpPr>
        <p:spPr>
          <a:xfrm>
            <a:off x="9418320" y="4416552"/>
            <a:ext cx="2148840" cy="1188720"/>
          </a:xfrm>
          <a:prstGeom prst="rect">
            <a:avLst/>
          </a:prstGeom>
          <a:noFill/>
          <a:ln/>
        </p:spPr>
        <p:txBody>
          <a:bodyPr wrap="square" lIns="0" tIns="0" rIns="0" bIns="0" rtlCol="0" anchor="ctr"/>
          <a:lstStyle/>
          <a:p>
            <a:pPr indent="0" marL="0">
              <a:lnSpc>
                <a:spcPct val="115000"/>
              </a:lnSpc>
              <a:buNone/>
            </a:pPr>
            <a:r>
              <a:rPr lang="en-US" sz="880" dirty="0">
                <a:solidFill>
                  <a:srgbClr val="5A5F6B"/>
                </a:solidFill>
                <a:latin typeface="Yu Gothic" pitchFamily="34" charset="0"/>
                <a:ea typeface="Yu Gothic" pitchFamily="34" charset="-122"/>
                <a:cs typeface="Yu Gothic" pitchFamily="34" charset="-120"/>
              </a:rPr>
              <a:t>KPI例: 報酬連動対象KPIの達成率/非財務KPIの保証取得範囲/取締役会でのサステナ議題比率</a:t>
            </a:r>
            <a:endParaRPr lang="en-US" sz="880" dirty="0"/>
          </a:p>
        </p:txBody>
      </p:sp>
      <p:sp>
        <p:nvSpPr>
          <p:cNvPr id="18" name="Shape 16"/>
          <p:cNvSpPr/>
          <p:nvPr/>
        </p:nvSpPr>
        <p:spPr>
          <a:xfrm>
            <a:off x="457200" y="5897880"/>
            <a:ext cx="11274552" cy="594360"/>
          </a:xfrm>
          <a:prstGeom prst="roundRect">
            <a:avLst>
              <a:gd name="adj" fmla="val 9231"/>
            </a:avLst>
          </a:prstGeom>
          <a:solidFill>
            <a:srgbClr val="EEF3FB"/>
          </a:solidFill>
          <a:ln/>
        </p:spPr>
      </p:sp>
      <p:sp>
        <p:nvSpPr>
          <p:cNvPr id="19" name="Text 17"/>
          <p:cNvSpPr/>
          <p:nvPr/>
        </p:nvSpPr>
        <p:spPr>
          <a:xfrm>
            <a:off x="685800" y="5943600"/>
            <a:ext cx="10835640" cy="5029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全テーマ共通の仕掛け(攻めの共通機能): </a:t>
            </a:r>
            <a:pPr indent="0" marL="0">
              <a:buNone/>
            </a:pPr>
            <a:r>
              <a:rPr lang="en-US" sz="1000" dirty="0">
                <a:solidFill>
                  <a:srgbClr val="2A2A33"/>
                </a:solidFill>
                <a:latin typeface="Yu Gothic" pitchFamily="34" charset="0"/>
                <a:ea typeface="Yu Gothic" pitchFamily="34" charset="-122"/>
                <a:cs typeface="Yu Gothic" pitchFamily="34" charset="-120"/>
              </a:rPr>
              <a:t>①ロジックモデルのマスタ管理・版管理 ②貨幣換算エンジン(換算単価マスタ) ③柳モデル型の統計検証 ④KGI→財務KPI→非財務KPI→ドライバの統合KPIツリー</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9</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業務要件① 守り(BR-D) ― 財務と同格の統制を非財務に実装する15要件</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全定量データに「証憑・承認・確定・履歴」を通し、有報同期の開示プロセスを経理の決算プロセスに組み込む</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9</a:t>
            </a:r>
            <a:endParaRPr lang="en-US" sz="900" dirty="0"/>
          </a:p>
        </p:txBody>
      </p:sp>
      <p:sp>
        <p:nvSpPr>
          <p:cNvPr id="6" name="Text 4"/>
          <p:cNvSpPr/>
          <p:nvPr/>
        </p:nvSpPr>
        <p:spPr>
          <a:xfrm>
            <a:off x="457200" y="1234440"/>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BR-D-01 データガバナンス規程</a:t>
            </a:r>
            <a:endParaRPr lang="en-US" sz="1000" dirty="0"/>
          </a:p>
        </p:txBody>
      </p:sp>
      <p:sp>
        <p:nvSpPr>
          <p:cNvPr id="7" name="Text 5"/>
          <p:cNvSpPr/>
          <p:nvPr/>
        </p:nvSpPr>
        <p:spPr>
          <a:xfrm>
            <a:off x="594360" y="1490472"/>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非財務データの定義・オーナー・品質基準・保存年限を全社規程化(経理規程と同格)</a:t>
            </a:r>
            <a:endParaRPr lang="en-US" sz="880" dirty="0"/>
          </a:p>
        </p:txBody>
      </p:sp>
      <p:sp>
        <p:nvSpPr>
          <p:cNvPr id="8" name="Text 6"/>
          <p:cNvSpPr/>
          <p:nvPr/>
        </p:nvSpPr>
        <p:spPr>
          <a:xfrm>
            <a:off x="457200" y="1883664"/>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BR-D-02 組織境界・算定範囲</a:t>
            </a:r>
            <a:endParaRPr lang="en-US" sz="1000" dirty="0"/>
          </a:p>
        </p:txBody>
      </p:sp>
      <p:sp>
        <p:nvSpPr>
          <p:cNvPr id="9" name="Text 7"/>
          <p:cNvSpPr/>
          <p:nvPr/>
        </p:nvSpPr>
        <p:spPr>
          <a:xfrm>
            <a:off x="594360" y="2139696"/>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連結範囲・Scope3全15カテゴリの重要性評価・除外基準の文書化と年次見直し</a:t>
            </a:r>
            <a:endParaRPr lang="en-US" sz="880" dirty="0"/>
          </a:p>
        </p:txBody>
      </p:sp>
      <p:sp>
        <p:nvSpPr>
          <p:cNvPr id="10" name="Text 8"/>
          <p:cNvSpPr/>
          <p:nvPr/>
        </p:nvSpPr>
        <p:spPr>
          <a:xfrm>
            <a:off x="457200" y="2532888"/>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BR-D-03 収集カレンダー月次化</a:t>
            </a:r>
            <a:endParaRPr lang="en-US" sz="1000" dirty="0"/>
          </a:p>
        </p:txBody>
      </p:sp>
      <p:sp>
        <p:nvSpPr>
          <p:cNvPr id="11" name="Text 9"/>
          <p:cNvSpPr/>
          <p:nvPr/>
        </p:nvSpPr>
        <p:spPr>
          <a:xfrm>
            <a:off x="594360" y="2788920"/>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年1後追い→月次(活動量)・四半期(集計)・年次(開示)。決算日程と同期</a:t>
            </a:r>
            <a:endParaRPr lang="en-US" sz="880" dirty="0"/>
          </a:p>
        </p:txBody>
      </p:sp>
      <p:sp>
        <p:nvSpPr>
          <p:cNvPr id="12" name="Text 10"/>
          <p:cNvSpPr/>
          <p:nvPr/>
        </p:nvSpPr>
        <p:spPr>
          <a:xfrm>
            <a:off x="457200" y="3182112"/>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BR-D-04 証憑添付ルール</a:t>
            </a:r>
            <a:endParaRPr lang="en-US" sz="1000" dirty="0"/>
          </a:p>
        </p:txBody>
      </p:sp>
      <p:sp>
        <p:nvSpPr>
          <p:cNvPr id="13" name="Text 11"/>
          <p:cNvSpPr/>
          <p:nvPr/>
        </p:nvSpPr>
        <p:spPr>
          <a:xfrm>
            <a:off x="594360" y="3438144"/>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全定量データに根拠証憑を必須化。監査法人と証憑要件・変更履歴運用を事前合意</a:t>
            </a:r>
            <a:endParaRPr lang="en-US" sz="880" dirty="0"/>
          </a:p>
        </p:txBody>
      </p:sp>
      <p:sp>
        <p:nvSpPr>
          <p:cNvPr id="14" name="Text 12"/>
          <p:cNvSpPr/>
          <p:nvPr/>
        </p:nvSpPr>
        <p:spPr>
          <a:xfrm>
            <a:off x="457200" y="3831336"/>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BR-D-05 多段階承認プロセス</a:t>
            </a:r>
            <a:endParaRPr lang="en-US" sz="1000" dirty="0"/>
          </a:p>
        </p:txBody>
      </p:sp>
      <p:sp>
        <p:nvSpPr>
          <p:cNvPr id="15" name="Text 13"/>
          <p:cNvSpPr/>
          <p:nvPr/>
        </p:nvSpPr>
        <p:spPr>
          <a:xfrm>
            <a:off x="594360" y="4087368"/>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拠点入力者→拠点管理者→地域→本社→CSO/役員の承認ルートとRACI定義</a:t>
            </a:r>
            <a:endParaRPr lang="en-US" sz="880" dirty="0"/>
          </a:p>
        </p:txBody>
      </p:sp>
      <p:sp>
        <p:nvSpPr>
          <p:cNvPr id="16" name="Text 14"/>
          <p:cNvSpPr/>
          <p:nvPr/>
        </p:nvSpPr>
        <p:spPr>
          <a:xfrm>
            <a:off x="457200" y="4480560"/>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BR-D-06 確定・ロック運用</a:t>
            </a:r>
            <a:endParaRPr lang="en-US" sz="1000" dirty="0"/>
          </a:p>
        </p:txBody>
      </p:sp>
      <p:sp>
        <p:nvSpPr>
          <p:cNvPr id="17" name="Text 15"/>
          <p:cNvSpPr/>
          <p:nvPr/>
        </p:nvSpPr>
        <p:spPr>
          <a:xfrm>
            <a:off x="594360" y="4736592"/>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四半期/年次締め、確定後ロック、修正時の再算定ログ・理由記録</a:t>
            </a:r>
            <a:endParaRPr lang="en-US" sz="880" dirty="0"/>
          </a:p>
        </p:txBody>
      </p:sp>
      <p:sp>
        <p:nvSpPr>
          <p:cNvPr id="18" name="Text 16"/>
          <p:cNvSpPr/>
          <p:nvPr/>
        </p:nvSpPr>
        <p:spPr>
          <a:xfrm>
            <a:off x="457200" y="5129784"/>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BR-D-07 係数・マスタ管理</a:t>
            </a:r>
            <a:endParaRPr lang="en-US" sz="1000" dirty="0"/>
          </a:p>
        </p:txBody>
      </p:sp>
      <p:sp>
        <p:nvSpPr>
          <p:cNvPr id="19" name="Text 17"/>
          <p:cNvSpPr/>
          <p:nvPr/>
        </p:nvSpPr>
        <p:spPr>
          <a:xfrm>
            <a:off x="594360" y="5385816"/>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排出係数・換算係数・独自係数の更新責任者・承認・適用時期のルール化</a:t>
            </a:r>
            <a:endParaRPr lang="en-US" sz="880" dirty="0"/>
          </a:p>
        </p:txBody>
      </p:sp>
      <p:sp>
        <p:nvSpPr>
          <p:cNvPr id="20" name="Text 18"/>
          <p:cNvSpPr/>
          <p:nvPr/>
        </p:nvSpPr>
        <p:spPr>
          <a:xfrm>
            <a:off x="457200" y="5779008"/>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BR-D-08 Scope3一次データ化</a:t>
            </a:r>
            <a:endParaRPr lang="en-US" sz="1000" dirty="0"/>
          </a:p>
        </p:txBody>
      </p:sp>
      <p:sp>
        <p:nvSpPr>
          <p:cNvPr id="21" name="Text 19"/>
          <p:cNvSpPr/>
          <p:nvPr/>
        </p:nvSpPr>
        <p:spPr>
          <a:xfrm>
            <a:off x="594360" y="6035040"/>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支出額・排出量上位サプライヤーから段階展開する依頼〜検証〜取込の標準手順</a:t>
            </a:r>
            <a:endParaRPr lang="en-US" sz="880" dirty="0"/>
          </a:p>
        </p:txBody>
      </p:sp>
      <p:sp>
        <p:nvSpPr>
          <p:cNvPr id="22" name="Text 20"/>
          <p:cNvSpPr/>
          <p:nvPr/>
        </p:nvSpPr>
        <p:spPr>
          <a:xfrm>
            <a:off x="6263640" y="1234440"/>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BR-D-09 監査・保証対応</a:t>
            </a:r>
            <a:endParaRPr lang="en-US" sz="1000" dirty="0"/>
          </a:p>
        </p:txBody>
      </p:sp>
      <p:sp>
        <p:nvSpPr>
          <p:cNvPr id="23" name="Text 21"/>
          <p:cNvSpPr/>
          <p:nvPr/>
        </p:nvSpPr>
        <p:spPr>
          <a:xfrm>
            <a:off x="6400800" y="1490472"/>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証跡提示手順(専用アカウント・抽出手順書)、指摘管理のシステム化(Excel台帳廃止)</a:t>
            </a:r>
            <a:endParaRPr lang="en-US" sz="880" dirty="0"/>
          </a:p>
        </p:txBody>
      </p:sp>
      <p:sp>
        <p:nvSpPr>
          <p:cNvPr id="24" name="Text 22"/>
          <p:cNvSpPr/>
          <p:nvPr/>
        </p:nvSpPr>
        <p:spPr>
          <a:xfrm>
            <a:off x="6263640" y="1883664"/>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BR-D-10 有報同期の開示プロセス</a:t>
            </a:r>
            <a:endParaRPr lang="en-US" sz="1000" dirty="0"/>
          </a:p>
        </p:txBody>
      </p:sp>
      <p:sp>
        <p:nvSpPr>
          <p:cNvPr id="25" name="Text 23"/>
          <p:cNvSpPr/>
          <p:nvPr/>
        </p:nvSpPr>
        <p:spPr>
          <a:xfrm>
            <a:off x="6400800" y="2139696"/>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決算プロセスに非財務開示を組込(整合性検証・開示ドラフト版管理)</a:t>
            </a:r>
            <a:endParaRPr lang="en-US" sz="880" dirty="0"/>
          </a:p>
        </p:txBody>
      </p:sp>
      <p:sp>
        <p:nvSpPr>
          <p:cNvPr id="26" name="Text 24"/>
          <p:cNvSpPr/>
          <p:nvPr/>
        </p:nvSpPr>
        <p:spPr>
          <a:xfrm>
            <a:off x="6263640" y="2532888"/>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BR-D-11 グローバル統制標準化</a:t>
            </a:r>
            <a:endParaRPr lang="en-US" sz="1000" dirty="0"/>
          </a:p>
        </p:txBody>
      </p:sp>
      <p:sp>
        <p:nvSpPr>
          <p:cNvPr id="27" name="Text 25"/>
          <p:cNvSpPr/>
          <p:nvPr/>
        </p:nvSpPr>
        <p:spPr>
          <a:xfrm>
            <a:off x="6400800" y="2788920"/>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海外拠点の単位・通貨・現地係数・言語の標準化、現地監査対応の役割定義</a:t>
            </a:r>
            <a:endParaRPr lang="en-US" sz="880" dirty="0"/>
          </a:p>
        </p:txBody>
      </p:sp>
      <p:sp>
        <p:nvSpPr>
          <p:cNvPr id="28" name="Text 26"/>
          <p:cNvSpPr/>
          <p:nvPr/>
        </p:nvSpPr>
        <p:spPr>
          <a:xfrm>
            <a:off x="6263640" y="3182112"/>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BR-D-12 E/S/G統合</a:t>
            </a:r>
            <a:endParaRPr lang="en-US" sz="1000" dirty="0"/>
          </a:p>
        </p:txBody>
      </p:sp>
      <p:sp>
        <p:nvSpPr>
          <p:cNvPr id="29" name="Text 27"/>
          <p:cNvSpPr/>
          <p:nvPr/>
        </p:nvSpPr>
        <p:spPr>
          <a:xfrm>
            <a:off x="6400800" y="3438144"/>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人的資本・労働安全・ガバナンス指標もE領域と同一統制(証憑・承認・確定)に載せる</a:t>
            </a:r>
            <a:endParaRPr lang="en-US" sz="880" dirty="0"/>
          </a:p>
        </p:txBody>
      </p:sp>
      <p:sp>
        <p:nvSpPr>
          <p:cNvPr id="30" name="Text 28"/>
          <p:cNvSpPr/>
          <p:nvPr/>
        </p:nvSpPr>
        <p:spPr>
          <a:xfrm>
            <a:off x="6263640" y="3831336"/>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BR-D-13 教育・定着化</a:t>
            </a:r>
            <a:endParaRPr lang="en-US" sz="1000" dirty="0"/>
          </a:p>
        </p:txBody>
      </p:sp>
      <p:sp>
        <p:nvSpPr>
          <p:cNvPr id="31" name="Text 29"/>
          <p:cNvSpPr/>
          <p:nvPr/>
        </p:nvSpPr>
        <p:spPr>
          <a:xfrm>
            <a:off x="6400800" y="4087368"/>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国内外向けマニュアル・研修・FAQ・ヘルプデスク、入力品質モニタリング</a:t>
            </a:r>
            <a:endParaRPr lang="en-US" sz="880" dirty="0"/>
          </a:p>
        </p:txBody>
      </p:sp>
      <p:sp>
        <p:nvSpPr>
          <p:cNvPr id="32" name="Text 30"/>
          <p:cNvSpPr/>
          <p:nvPr/>
        </p:nvSpPr>
        <p:spPr>
          <a:xfrm>
            <a:off x="6263640" y="4480560"/>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BR-D-14 制度改定ウォッチ</a:t>
            </a:r>
            <a:endParaRPr lang="en-US" sz="1000" dirty="0"/>
          </a:p>
        </p:txBody>
      </p:sp>
      <p:sp>
        <p:nvSpPr>
          <p:cNvPr id="33" name="Text 31"/>
          <p:cNvSpPr/>
          <p:nvPr/>
        </p:nvSpPr>
        <p:spPr>
          <a:xfrm>
            <a:off x="6400800" y="4736592"/>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SSBJ/ISSB/CSRD/温対法等の改定監視と開示項目・ロジックへの反映プロセス</a:t>
            </a:r>
            <a:endParaRPr lang="en-US" sz="880" dirty="0"/>
          </a:p>
        </p:txBody>
      </p:sp>
      <p:sp>
        <p:nvSpPr>
          <p:cNvPr id="34" name="Text 32"/>
          <p:cNvSpPr/>
          <p:nvPr/>
        </p:nvSpPr>
        <p:spPr>
          <a:xfrm>
            <a:off x="6263640" y="5129784"/>
            <a:ext cx="5486400" cy="274320"/>
          </a:xfrm>
          <a:prstGeom prst="rect">
            <a:avLst/>
          </a:prstGeom>
          <a:noFill/>
          <a:ln/>
        </p:spPr>
        <p:txBody>
          <a:bodyPr wrap="square" lIns="0" tIns="0" rIns="0" bIns="0" rtlCol="0" anchor="ctr"/>
          <a:lstStyle/>
          <a:p>
            <a:pPr indent="0" marL="0">
              <a:buNone/>
            </a:pPr>
            <a:r>
              <a:rPr lang="en-US" sz="1000" b="1" dirty="0">
                <a:solidFill>
                  <a:srgbClr val="1E2761"/>
                </a:solidFill>
                <a:latin typeface="Yu Gothic" pitchFamily="34" charset="0"/>
                <a:ea typeface="Yu Gothic" pitchFamily="34" charset="-122"/>
                <a:cs typeface="Yu Gothic" pitchFamily="34" charset="-120"/>
              </a:rPr>
              <a:t>BR-D-15 BCP・属人化排除</a:t>
            </a:r>
            <a:endParaRPr lang="en-US" sz="1000" dirty="0"/>
          </a:p>
        </p:txBody>
      </p:sp>
      <p:sp>
        <p:nvSpPr>
          <p:cNvPr id="35" name="Text 33"/>
          <p:cNvSpPr/>
          <p:nvPr/>
        </p:nvSpPr>
        <p:spPr>
          <a:xfrm>
            <a:off x="6400800" y="5385816"/>
            <a:ext cx="5349240" cy="365760"/>
          </a:xfrm>
          <a:prstGeom prst="rect">
            <a:avLst/>
          </a:prstGeom>
          <a:noFill/>
          <a:ln/>
        </p:spPr>
        <p:txBody>
          <a:bodyPr wrap="square" lIns="0" tIns="0" rIns="0" bIns="0" rtlCol="0" anchor="ctr"/>
          <a:lstStyle/>
          <a:p>
            <a:pPr indent="0" marL="0">
              <a:lnSpc>
                <a:spcPct val="105000"/>
              </a:lnSpc>
              <a:buNone/>
            </a:pPr>
            <a:r>
              <a:rPr lang="en-US" sz="880" dirty="0">
                <a:solidFill>
                  <a:srgbClr val="2A2A33"/>
                </a:solidFill>
                <a:latin typeface="Yu Gothic" pitchFamily="34" charset="0"/>
                <a:ea typeface="Yu Gothic" pitchFamily="34" charset="-122"/>
                <a:cs typeface="Yu Gothic" pitchFamily="34" charset="-120"/>
              </a:rPr>
              <a:t>R言語システム等の属人ツール廃止・移管、複数名体制・手順書整備</a:t>
            </a:r>
            <a:endParaRPr lang="en-US" sz="880" dirty="0"/>
          </a:p>
        </p:txBody>
      </p:sp>
      <p:sp>
        <p:nvSpPr>
          <p:cNvPr id="36" name="Shape 34"/>
          <p:cNvSpPr/>
          <p:nvPr/>
        </p:nvSpPr>
        <p:spPr>
          <a:xfrm>
            <a:off x="6263640" y="5806440"/>
            <a:ext cx="5468112" cy="685800"/>
          </a:xfrm>
          <a:prstGeom prst="roundRect">
            <a:avLst>
              <a:gd name="adj" fmla="val 8000"/>
            </a:avLst>
          </a:prstGeom>
          <a:solidFill>
            <a:srgbClr val="EEF3FB"/>
          </a:solidFill>
          <a:ln/>
        </p:spPr>
      </p:sp>
      <p:sp>
        <p:nvSpPr>
          <p:cNvPr id="37" name="Text 35"/>
          <p:cNvSpPr/>
          <p:nvPr/>
        </p:nvSpPr>
        <p:spPr>
          <a:xfrm>
            <a:off x="6400800" y="5852160"/>
            <a:ext cx="5212080" cy="594360"/>
          </a:xfrm>
          <a:prstGeom prst="rect">
            <a:avLst/>
          </a:prstGeom>
          <a:noFill/>
          <a:ln/>
        </p:spPr>
        <p:txBody>
          <a:bodyPr wrap="square" lIns="0" tIns="0" rIns="0" bIns="0" rtlCol="0" anchor="ctr"/>
          <a:lstStyle/>
          <a:p>
            <a:pPr indent="0" marL="0">
              <a:lnSpc>
                <a:spcPct val="110000"/>
              </a:lnSpc>
              <a:buNone/>
            </a:pPr>
            <a:r>
              <a:rPr lang="en-US" sz="900" dirty="0">
                <a:solidFill>
                  <a:srgbClr val="1E2761"/>
                </a:solidFill>
                <a:latin typeface="Yu Gothic" pitchFamily="34" charset="0"/>
                <a:ea typeface="Yu Gothic" pitchFamily="34" charset="-122"/>
                <a:cs typeface="Yu Gothic" pitchFamily="34" charset="-120"/>
              </a:rPr>
              <a:t>優先度: 全15要件とも2027年稼働時のMUST(BR-D-08は段階拡大)。As-Isの統制ギャップ(承認・履歴・ロック・権限の欠如)に1対1で対応</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10</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業務要件② 攻め(BR-O) ― 非財務KPIを経営管理サイクルに正式実装する13要件</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「開示のための開示」に留めず、中計・予算・報酬・R&amp;D・IRへの還流プロセスまで業務要件として定義する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10</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411480"/>
                <a:gridCol w="2468880"/>
                <a:gridCol w="6126480"/>
                <a:gridCol w="777240"/>
                <a:gridCol w="1490472"/>
              </a:tblGrid>
              <a:tr h="365760">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a:t>
                      </a:r>
                      <a:endParaRPr lang="en-US" sz="95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業務要件</a:t>
                      </a:r>
                      <a:endParaRPr lang="en-US" sz="95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テーマ</a:t>
                      </a:r>
                      <a:endParaRPr lang="en-US" sz="95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Yu Gothic" pitchFamily="34" charset="0"/>
                          <a:ea typeface="Yu Gothic" pitchFamily="34" charset="-122"/>
                          <a:cs typeface="Yu Gothic" pitchFamily="34" charset="-120"/>
                        </a:rPr>
                        <a:t>時期</a:t>
                      </a:r>
                      <a:endParaRPr lang="en-US" sz="95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1E2761"/>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01</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インパクトパス策定・改訂</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T1〜T6のロジックモデルを経営承認し年次改訂。マテリアリティ評価・新価値創造モデルと連動</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全</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枠組みは27年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02</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KPIの経営管理組込</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非財務KPIを中計・年度予算・事業部業績評価に正式反映。月次経営会議の定型アジェンダ化</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全</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28年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03</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貨幣換算・インパクト評価</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換算単価の設定・外部監修・年次更新、計算結果のレビュー・開示判断</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T1/T2</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28年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04</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オーラルヘルス・アウトカム測定</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リーチ・行動変容の測定設計、歯科・自治体・健保・アカデミアとの共同実証(疫学)の推進体制</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T1</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28年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05</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節水・使用時インパクト算定</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製品別の使用時water/carbon算定(使用条件マスタ整備)、訴求表示のエビデンス管理</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T2/T3</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27年(Cat11と一体)</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06</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CFP即応プロセス</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取引先要請への標準回答プロセス(SLA例: 5営業日)、ISO準拠の算定・検証体制</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T3</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28年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07</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シナリオ・財務影響評価</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炭素税・水リスク・規制シナリオの財務影響試算を年次実施(SSBJ「戦略」開示と一体)</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T2/T3</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27年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08</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R&amp;D・マーケ還流</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LCA/CFP・インパクトデータを製品開発(エコデザイン)・ブランド戦略へ還流する定例プロセス</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T1-4</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28年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09</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ヘルス/グリーン売上管理</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貢献型製品の定義・認定基準を設け、売上構成比・成長率を管理会計で追跡(ユニリーバ方式)</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T1-4</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28年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10</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統計検証(柳モデル型)</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非財務KPI×財務指標の遅延相関分析を年次実施し、統合報告・IRストーリーへ反映</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全</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29年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11</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IR・エンゲージメント運用</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投資家・評価機関への対話パッケージ自動生成、アクティビスト想定問答のデータ裏付け</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T6</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28年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12</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役員報酬・評価連動</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監査対応済みの確定KPI値を報酬委員会・人事評価へ供給する年次プロセス</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T6</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29年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4F5F8"/>
                    </a:solidFill>
                  </a:tcPr>
                </a:tc>
              </a:tr>
              <a:tr h="365760">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13</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b="1" dirty="0">
                          <a:solidFill>
                            <a:srgbClr val="C8102E"/>
                          </a:solidFill>
                          <a:latin typeface="Yu Gothic" pitchFamily="34" charset="0"/>
                          <a:ea typeface="Yu Gothic" pitchFamily="34" charset="-122"/>
                          <a:cs typeface="Yu Gothic" pitchFamily="34" charset="-120"/>
                        </a:rPr>
                        <a:t>従業員健康×生産性の社内実証</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l" indent="0" marL="0">
                        <a:buNone/>
                      </a:pPr>
                      <a:r>
                        <a:rPr lang="en-US" sz="860" dirty="0">
                          <a:solidFill>
                            <a:srgbClr val="2A2A33"/>
                          </a:solidFill>
                          <a:latin typeface="Yu Gothic" pitchFamily="34" charset="0"/>
                          <a:ea typeface="Yu Gothic" pitchFamily="34" charset="-122"/>
                          <a:cs typeface="Yu Gothic" pitchFamily="34" charset="-120"/>
                        </a:rPr>
                        <a:t>社内オーラルケア等の健康施策とエンゲージメント・生産性データの接続・分析(T1の実証を社内先行)</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T5/T1</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c>
                  <a:txBody>
                    <a:bodyPr/>
                    <a:lstStyle/>
                    <a:p>
                      <a:pPr algn="ctr" indent="0" marL="0">
                        <a:buNone/>
                      </a:pPr>
                      <a:r>
                        <a:rPr lang="en-US" sz="860" dirty="0">
                          <a:solidFill>
                            <a:srgbClr val="2A2A33"/>
                          </a:solidFill>
                          <a:latin typeface="Yu Gothic" pitchFamily="34" charset="0"/>
                          <a:ea typeface="Yu Gothic" pitchFamily="34" charset="-122"/>
                          <a:cs typeface="Yu Gothic" pitchFamily="34" charset="-120"/>
                        </a:rPr>
                        <a:t>28年</a:t>
                      </a:r>
                      <a:endParaRPr lang="en-US" sz="860" dirty="0">
                        <a:latin typeface="Yu Gothic" charset="0"/>
                        <a:ea typeface="Yu Gothic" charset="0"/>
                        <a:cs typeface="Yu Gothic" charset="0"/>
                      </a:endParaRPr>
                    </a:p>
                  </a:txBody>
                  <a:tcPr marL="91440" marR="91440" marT="45720" marB="45720" anchor="ctr">
                    <a:lnL w="9525" cap="flat" cmpd="sng" algn="ctr">
                      <a:solidFill>
                        <a:srgbClr val="E0C9CE"/>
                      </a:solidFill>
                      <a:prstDash val="solid"/>
                      <a:round/>
                      <a:headEnd type="none" w="med" len="med"/>
                      <a:tailEnd type="none" w="med" len="med"/>
                    </a:lnL>
                    <a:lnR w="9525" cap="flat" cmpd="sng" algn="ctr">
                      <a:solidFill>
                        <a:srgbClr val="E0C9CE"/>
                      </a:solidFill>
                      <a:prstDash val="solid"/>
                      <a:round/>
                      <a:headEnd type="none" w="med" len="med"/>
                      <a:tailEnd type="none" w="med" len="med"/>
                    </a:lnR>
                    <a:lnT w="9525" cap="flat" cmpd="sng" algn="ctr">
                      <a:solidFill>
                        <a:srgbClr val="E0C9CE"/>
                      </a:solidFill>
                      <a:prstDash val="solid"/>
                      <a:round/>
                      <a:headEnd type="none" w="med" len="med"/>
                      <a:tailEnd type="none" w="med" len="med"/>
                    </a:lnT>
                    <a:lnB w="9525" cap="flat" cmpd="sng" algn="ctr">
                      <a:solidFill>
                        <a:srgbClr val="E0C9C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11</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機能要件(FR) ― 守り24機能+攻め13機能の全体マップ</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守りはRFP機能要件回答書のMUST項目、攻めは段階導入ロードマップへの対応方針として格納する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11</a:t>
            </a:r>
            <a:endParaRPr lang="en-US" sz="900" dirty="0"/>
          </a:p>
        </p:txBody>
      </p:sp>
      <p:sp>
        <p:nvSpPr>
          <p:cNvPr id="6" name="Shape 4"/>
          <p:cNvSpPr/>
          <p:nvPr/>
        </p:nvSpPr>
        <p:spPr>
          <a:xfrm>
            <a:off x="457200" y="1207008"/>
            <a:ext cx="11274552" cy="694944"/>
          </a:xfrm>
          <a:prstGeom prst="roundRect">
            <a:avLst>
              <a:gd name="adj" fmla="val 6579"/>
            </a:avLst>
          </a:prstGeom>
          <a:solidFill>
            <a:srgbClr val="EEF3FB"/>
          </a:solidFill>
          <a:ln/>
        </p:spPr>
      </p:sp>
      <p:sp>
        <p:nvSpPr>
          <p:cNvPr id="7" name="Text 5"/>
          <p:cNvSpPr/>
          <p:nvPr/>
        </p:nvSpPr>
        <p:spPr>
          <a:xfrm>
            <a:off x="621792" y="1252728"/>
            <a:ext cx="2880360" cy="603504"/>
          </a:xfrm>
          <a:prstGeom prst="rect">
            <a:avLst/>
          </a:prstGeom>
          <a:noFill/>
          <a:ln/>
        </p:spPr>
        <p:txBody>
          <a:bodyPr wrap="square" lIns="0" tIns="0" rIns="0" bIns="0" rtlCol="0" anchor="ctr"/>
          <a:lstStyle/>
          <a:p>
            <a:pPr indent="0" marL="0">
              <a:lnSpc>
                <a:spcPct val="105000"/>
              </a:lnSpc>
              <a:buNone/>
            </a:pPr>
            <a:r>
              <a:rPr lang="en-US" sz="1000" b="1" dirty="0">
                <a:solidFill>
                  <a:srgbClr val="1E2761"/>
                </a:solidFill>
                <a:latin typeface="Yu Gothic" pitchFamily="34" charset="0"/>
                <a:ea typeface="Yu Gothic" pitchFamily="34" charset="-122"/>
                <a:cs typeface="Yu Gothic" pitchFamily="34" charset="-120"/>
              </a:rPr>
              <a:t>A. データ収集・入力 (FR-D-01〜08)</a:t>
            </a:r>
            <a:endParaRPr lang="en-US" sz="1000" dirty="0"/>
          </a:p>
        </p:txBody>
      </p:sp>
      <p:sp>
        <p:nvSpPr>
          <p:cNvPr id="8" name="Text 6"/>
          <p:cNvSpPr/>
          <p:nvPr/>
        </p:nvSpPr>
        <p:spPr>
          <a:xfrm>
            <a:off x="3611880" y="1252728"/>
            <a:ext cx="7955280" cy="603504"/>
          </a:xfrm>
          <a:prstGeom prst="rect">
            <a:avLst/>
          </a:prstGeom>
          <a:noFill/>
          <a:ln/>
        </p:spPr>
        <p:txBody>
          <a:bodyPr wrap="square" lIns="0" tIns="0" rIns="0" bIns="0" rtlCol="0" anchor="ctr"/>
          <a:lstStyle/>
          <a:p>
            <a:pPr indent="0" marL="0">
              <a:lnSpc>
                <a:spcPct val="108000"/>
              </a:lnSpc>
              <a:buNone/>
            </a:pPr>
            <a:r>
              <a:rPr lang="en-US" sz="870" dirty="0">
                <a:solidFill>
                  <a:srgbClr val="2A2A33"/>
                </a:solidFill>
                <a:latin typeface="Yu Gothic" pitchFamily="34" charset="0"/>
                <a:ea typeface="Yu Gothic" pitchFamily="34" charset="-122"/>
                <a:cs typeface="Yu Gothic" pitchFamily="34" charset="-120"/>
              </a:rPr>
              <a:t>一括入力(CSV/フォーマット展開)／拠点手入力(多言語UI)／API連携(SAP・人事・電力データ管理協会)／AI-OCR(請求書・検針票)／証憑添付必須化／サプライヤーサーベイ／進捗管理・自動督促／異常値検知</a:t>
            </a:r>
            <a:endParaRPr lang="en-US" sz="870" dirty="0"/>
          </a:p>
        </p:txBody>
      </p:sp>
      <p:sp>
        <p:nvSpPr>
          <p:cNvPr id="9" name="Shape 7"/>
          <p:cNvSpPr/>
          <p:nvPr/>
        </p:nvSpPr>
        <p:spPr>
          <a:xfrm>
            <a:off x="457200" y="1965960"/>
            <a:ext cx="11274552" cy="694944"/>
          </a:xfrm>
          <a:prstGeom prst="roundRect">
            <a:avLst>
              <a:gd name="adj" fmla="val 6579"/>
            </a:avLst>
          </a:prstGeom>
          <a:solidFill>
            <a:srgbClr val="EEF3FB"/>
          </a:solidFill>
          <a:ln/>
        </p:spPr>
      </p:sp>
      <p:sp>
        <p:nvSpPr>
          <p:cNvPr id="10" name="Text 8"/>
          <p:cNvSpPr/>
          <p:nvPr/>
        </p:nvSpPr>
        <p:spPr>
          <a:xfrm>
            <a:off x="621792" y="2011680"/>
            <a:ext cx="2880360" cy="603504"/>
          </a:xfrm>
          <a:prstGeom prst="rect">
            <a:avLst/>
          </a:prstGeom>
          <a:noFill/>
          <a:ln/>
        </p:spPr>
        <p:txBody>
          <a:bodyPr wrap="square" lIns="0" tIns="0" rIns="0" bIns="0" rtlCol="0" anchor="ctr"/>
          <a:lstStyle/>
          <a:p>
            <a:pPr indent="0" marL="0">
              <a:lnSpc>
                <a:spcPct val="105000"/>
              </a:lnSpc>
              <a:buNone/>
            </a:pPr>
            <a:r>
              <a:rPr lang="en-US" sz="1000" b="1" dirty="0">
                <a:solidFill>
                  <a:srgbClr val="1E2761"/>
                </a:solidFill>
                <a:latin typeface="Yu Gothic" pitchFamily="34" charset="0"/>
                <a:ea typeface="Yu Gothic" pitchFamily="34" charset="-122"/>
                <a:cs typeface="Yu Gothic" pitchFamily="34" charset="-120"/>
              </a:rPr>
              <a:t>B. 算定・マスタ管理 (FR-D-09〜14)</a:t>
            </a:r>
            <a:endParaRPr lang="en-US" sz="1000" dirty="0"/>
          </a:p>
        </p:txBody>
      </p:sp>
      <p:sp>
        <p:nvSpPr>
          <p:cNvPr id="11" name="Text 9"/>
          <p:cNvSpPr/>
          <p:nvPr/>
        </p:nvSpPr>
        <p:spPr>
          <a:xfrm>
            <a:off x="3611880" y="2011680"/>
            <a:ext cx="7955280" cy="603504"/>
          </a:xfrm>
          <a:prstGeom prst="rect">
            <a:avLst/>
          </a:prstGeom>
          <a:noFill/>
          <a:ln/>
        </p:spPr>
        <p:txBody>
          <a:bodyPr wrap="square" lIns="0" tIns="0" rIns="0" bIns="0" rtlCol="0" anchor="ctr"/>
          <a:lstStyle/>
          <a:p>
            <a:pPr indent="0" marL="0">
              <a:lnSpc>
                <a:spcPct val="108000"/>
              </a:lnSpc>
              <a:buNone/>
            </a:pPr>
            <a:r>
              <a:rPr lang="en-US" sz="870" dirty="0">
                <a:solidFill>
                  <a:srgbClr val="2A2A33"/>
                </a:solidFill>
                <a:latin typeface="Yu Gothic" pitchFamily="34" charset="0"/>
                <a:ea typeface="Yu Gothic" pitchFamily="34" charset="-122"/>
                <a:cs typeface="Yu Gothic" pitchFamily="34" charset="-120"/>
              </a:rPr>
              <a:t>GHG算定(全Scope・SSBJ/温対法/CDP/CSRD)／係数自動更新・一括再計算(ログ付)／有料DBマスキング(IDEA/IEA)／独自係数・按分・単位換算／水・廃棄物・人的資本等E/S/G一元管理／定性情報・ナラティブ版管理</a:t>
            </a:r>
            <a:endParaRPr lang="en-US" sz="870" dirty="0"/>
          </a:p>
        </p:txBody>
      </p:sp>
      <p:sp>
        <p:nvSpPr>
          <p:cNvPr id="12" name="Shape 10"/>
          <p:cNvSpPr/>
          <p:nvPr/>
        </p:nvSpPr>
        <p:spPr>
          <a:xfrm>
            <a:off x="457200" y="2724912"/>
            <a:ext cx="11274552" cy="694944"/>
          </a:xfrm>
          <a:prstGeom prst="roundRect">
            <a:avLst>
              <a:gd name="adj" fmla="val 6579"/>
            </a:avLst>
          </a:prstGeom>
          <a:solidFill>
            <a:srgbClr val="EEF3FB"/>
          </a:solidFill>
          <a:ln/>
        </p:spPr>
      </p:sp>
      <p:sp>
        <p:nvSpPr>
          <p:cNvPr id="13" name="Text 11"/>
          <p:cNvSpPr/>
          <p:nvPr/>
        </p:nvSpPr>
        <p:spPr>
          <a:xfrm>
            <a:off x="621792" y="2770632"/>
            <a:ext cx="2880360" cy="603504"/>
          </a:xfrm>
          <a:prstGeom prst="rect">
            <a:avLst/>
          </a:prstGeom>
          <a:noFill/>
          <a:ln/>
        </p:spPr>
        <p:txBody>
          <a:bodyPr wrap="square" lIns="0" tIns="0" rIns="0" bIns="0" rtlCol="0" anchor="ctr"/>
          <a:lstStyle/>
          <a:p>
            <a:pPr indent="0" marL="0">
              <a:lnSpc>
                <a:spcPct val="105000"/>
              </a:lnSpc>
              <a:buNone/>
            </a:pPr>
            <a:r>
              <a:rPr lang="en-US" sz="1000" b="1" dirty="0">
                <a:solidFill>
                  <a:srgbClr val="1E2761"/>
                </a:solidFill>
                <a:latin typeface="Yu Gothic" pitchFamily="34" charset="0"/>
                <a:ea typeface="Yu Gothic" pitchFamily="34" charset="-122"/>
                <a:cs typeface="Yu Gothic" pitchFamily="34" charset="-120"/>
              </a:rPr>
              <a:t>C. 内部統制・ガバナンス (FR-D-15〜20)</a:t>
            </a:r>
            <a:endParaRPr lang="en-US" sz="1000" dirty="0"/>
          </a:p>
        </p:txBody>
      </p:sp>
      <p:sp>
        <p:nvSpPr>
          <p:cNvPr id="14" name="Text 12"/>
          <p:cNvSpPr/>
          <p:nvPr/>
        </p:nvSpPr>
        <p:spPr>
          <a:xfrm>
            <a:off x="3611880" y="2770632"/>
            <a:ext cx="7955280" cy="603504"/>
          </a:xfrm>
          <a:prstGeom prst="rect">
            <a:avLst/>
          </a:prstGeom>
          <a:noFill/>
          <a:ln/>
        </p:spPr>
        <p:txBody>
          <a:bodyPr wrap="square" lIns="0" tIns="0" rIns="0" bIns="0" rtlCol="0" anchor="ctr"/>
          <a:lstStyle/>
          <a:p>
            <a:pPr indent="0" marL="0">
              <a:lnSpc>
                <a:spcPct val="108000"/>
              </a:lnSpc>
              <a:buNone/>
            </a:pPr>
            <a:r>
              <a:rPr lang="en-US" sz="870" dirty="0">
                <a:solidFill>
                  <a:srgbClr val="2A2A33"/>
                </a:solidFill>
                <a:latin typeface="Yu Gothic" pitchFamily="34" charset="0"/>
                <a:ea typeface="Yu Gothic" pitchFamily="34" charset="-122"/>
                <a:cs typeface="Yu Gothic" pitchFamily="34" charset="-120"/>
              </a:rPr>
              <a:t>多段階承認WF(会社間・複数階層)／グループアカウント(親子孫・子会社独自項目)／権限・ロール管理／監査証跡(変更前後・リネージ)／確定・ロック(解除は承認+ログ)／監査法人専用アカウント・一括抽出</a:t>
            </a:r>
            <a:endParaRPr lang="en-US" sz="870" dirty="0"/>
          </a:p>
        </p:txBody>
      </p:sp>
      <p:sp>
        <p:nvSpPr>
          <p:cNvPr id="15" name="Shape 13"/>
          <p:cNvSpPr/>
          <p:nvPr/>
        </p:nvSpPr>
        <p:spPr>
          <a:xfrm>
            <a:off x="457200" y="3483864"/>
            <a:ext cx="11274552" cy="694944"/>
          </a:xfrm>
          <a:prstGeom prst="roundRect">
            <a:avLst>
              <a:gd name="adj" fmla="val 6579"/>
            </a:avLst>
          </a:prstGeom>
          <a:solidFill>
            <a:srgbClr val="EEF3FB"/>
          </a:solidFill>
          <a:ln/>
        </p:spPr>
      </p:sp>
      <p:sp>
        <p:nvSpPr>
          <p:cNvPr id="16" name="Text 14"/>
          <p:cNvSpPr/>
          <p:nvPr/>
        </p:nvSpPr>
        <p:spPr>
          <a:xfrm>
            <a:off x="621792" y="3529584"/>
            <a:ext cx="2880360" cy="603504"/>
          </a:xfrm>
          <a:prstGeom prst="rect">
            <a:avLst/>
          </a:prstGeom>
          <a:noFill/>
          <a:ln/>
        </p:spPr>
        <p:txBody>
          <a:bodyPr wrap="square" lIns="0" tIns="0" rIns="0" bIns="0" rtlCol="0" anchor="ctr"/>
          <a:lstStyle/>
          <a:p>
            <a:pPr indent="0" marL="0">
              <a:lnSpc>
                <a:spcPct val="105000"/>
              </a:lnSpc>
              <a:buNone/>
            </a:pPr>
            <a:r>
              <a:rPr lang="en-US" sz="1000" b="1" dirty="0">
                <a:solidFill>
                  <a:srgbClr val="1E2761"/>
                </a:solidFill>
                <a:latin typeface="Yu Gothic" pitchFamily="34" charset="0"/>
                <a:ea typeface="Yu Gothic" pitchFamily="34" charset="-122"/>
                <a:cs typeface="Yu Gothic" pitchFamily="34" charset="-120"/>
              </a:rPr>
              <a:t>D. 報告・開示 (FR-D-21〜24)</a:t>
            </a:r>
            <a:endParaRPr lang="en-US" sz="1000" dirty="0"/>
          </a:p>
        </p:txBody>
      </p:sp>
      <p:sp>
        <p:nvSpPr>
          <p:cNvPr id="17" name="Text 15"/>
          <p:cNvSpPr/>
          <p:nvPr/>
        </p:nvSpPr>
        <p:spPr>
          <a:xfrm>
            <a:off x="3611880" y="3529584"/>
            <a:ext cx="7955280" cy="603504"/>
          </a:xfrm>
          <a:prstGeom prst="rect">
            <a:avLst/>
          </a:prstGeom>
          <a:noFill/>
          <a:ln/>
        </p:spPr>
        <p:txBody>
          <a:bodyPr wrap="square" lIns="0" tIns="0" rIns="0" bIns="0" rtlCol="0" anchor="ctr"/>
          <a:lstStyle/>
          <a:p>
            <a:pPr indent="0" marL="0">
              <a:lnSpc>
                <a:spcPct val="108000"/>
              </a:lnSpc>
              <a:buNone/>
            </a:pPr>
            <a:r>
              <a:rPr lang="en-US" sz="870" dirty="0">
                <a:solidFill>
                  <a:srgbClr val="2A2A33"/>
                </a:solidFill>
                <a:latin typeface="Yu Gothic" pitchFamily="34" charset="0"/>
                <a:ea typeface="Yu Gothic" pitchFamily="34" charset="-122"/>
                <a:cs typeface="Yu Gothic" pitchFamily="34" charset="-120"/>
              </a:rPr>
              <a:t>法定・任意帳票(有報/温対法/省エネ法/CDP/CSRD)+AI開示ドラフト生成／XBRL・XHTML変換／財務・非財務の整合チェック／ナレッジ共有・対訳統制</a:t>
            </a:r>
            <a:endParaRPr lang="en-US" sz="870" dirty="0"/>
          </a:p>
        </p:txBody>
      </p:sp>
      <p:sp>
        <p:nvSpPr>
          <p:cNvPr id="18" name="Shape 16"/>
          <p:cNvSpPr/>
          <p:nvPr/>
        </p:nvSpPr>
        <p:spPr>
          <a:xfrm>
            <a:off x="457200" y="4242816"/>
            <a:ext cx="11274552" cy="694944"/>
          </a:xfrm>
          <a:prstGeom prst="roundRect">
            <a:avLst>
              <a:gd name="adj" fmla="val 6579"/>
            </a:avLst>
          </a:prstGeom>
          <a:solidFill>
            <a:srgbClr val="FBECEE"/>
          </a:solidFill>
          <a:ln/>
        </p:spPr>
      </p:sp>
      <p:sp>
        <p:nvSpPr>
          <p:cNvPr id="19" name="Text 17"/>
          <p:cNvSpPr/>
          <p:nvPr/>
        </p:nvSpPr>
        <p:spPr>
          <a:xfrm>
            <a:off x="621792" y="4288536"/>
            <a:ext cx="2880360" cy="603504"/>
          </a:xfrm>
          <a:prstGeom prst="rect">
            <a:avLst/>
          </a:prstGeom>
          <a:noFill/>
          <a:ln/>
        </p:spPr>
        <p:txBody>
          <a:bodyPr wrap="square" lIns="0" tIns="0" rIns="0" bIns="0" rtlCol="0" anchor="ctr"/>
          <a:lstStyle/>
          <a:p>
            <a:pPr indent="0" marL="0">
              <a:lnSpc>
                <a:spcPct val="105000"/>
              </a:lnSpc>
              <a:buNone/>
            </a:pPr>
            <a:r>
              <a:rPr lang="en-US" sz="1000" b="1" dirty="0">
                <a:solidFill>
                  <a:srgbClr val="C8102E"/>
                </a:solidFill>
                <a:latin typeface="Yu Gothic" pitchFamily="34" charset="0"/>
                <a:ea typeface="Yu Gothic" pitchFamily="34" charset="-122"/>
                <a:cs typeface="Yu Gothic" pitchFamily="34" charset="-120"/>
              </a:rPr>
              <a:t>E. 経営・分析 (FR-O-01〜04)</a:t>
            </a:r>
            <a:endParaRPr lang="en-US" sz="1000" dirty="0"/>
          </a:p>
        </p:txBody>
      </p:sp>
      <p:sp>
        <p:nvSpPr>
          <p:cNvPr id="20" name="Text 18"/>
          <p:cNvSpPr/>
          <p:nvPr/>
        </p:nvSpPr>
        <p:spPr>
          <a:xfrm>
            <a:off x="3611880" y="4288536"/>
            <a:ext cx="7955280" cy="603504"/>
          </a:xfrm>
          <a:prstGeom prst="rect">
            <a:avLst/>
          </a:prstGeom>
          <a:noFill/>
          <a:ln/>
        </p:spPr>
        <p:txBody>
          <a:bodyPr wrap="square" lIns="0" tIns="0" rIns="0" bIns="0" rtlCol="0" anchor="ctr"/>
          <a:lstStyle/>
          <a:p>
            <a:pPr indent="0" marL="0">
              <a:lnSpc>
                <a:spcPct val="108000"/>
              </a:lnSpc>
              <a:buNone/>
            </a:pPr>
            <a:r>
              <a:rPr lang="en-US" sz="870" dirty="0">
                <a:solidFill>
                  <a:srgbClr val="2A2A33"/>
                </a:solidFill>
                <a:latin typeface="Yu Gothic" pitchFamily="34" charset="0"/>
                <a:ea typeface="Yu Gothic" pitchFamily="34" charset="-122"/>
                <a:cs typeface="Yu Gothic" pitchFamily="34" charset="-120"/>
              </a:rPr>
              <a:t>経営ダッシュボード(証憑まで1クリック遡及、経営会議パッケージ自動生成=R言語ツール代替)／KPIツリー(KGI→財務→非財務→ドライバ)／AI将来予測・2030目標ギャップ分析／炭素税・シナリオ財務影響試算</a:t>
            </a:r>
            <a:endParaRPr lang="en-US" sz="870" dirty="0"/>
          </a:p>
        </p:txBody>
      </p:sp>
      <p:sp>
        <p:nvSpPr>
          <p:cNvPr id="21" name="Shape 19"/>
          <p:cNvSpPr/>
          <p:nvPr/>
        </p:nvSpPr>
        <p:spPr>
          <a:xfrm>
            <a:off x="457200" y="5001768"/>
            <a:ext cx="11274552" cy="694944"/>
          </a:xfrm>
          <a:prstGeom prst="roundRect">
            <a:avLst>
              <a:gd name="adj" fmla="val 6579"/>
            </a:avLst>
          </a:prstGeom>
          <a:solidFill>
            <a:srgbClr val="FBECEE"/>
          </a:solidFill>
          <a:ln/>
        </p:spPr>
      </p:sp>
      <p:sp>
        <p:nvSpPr>
          <p:cNvPr id="22" name="Text 20"/>
          <p:cNvSpPr/>
          <p:nvPr/>
        </p:nvSpPr>
        <p:spPr>
          <a:xfrm>
            <a:off x="621792" y="5047488"/>
            <a:ext cx="2880360" cy="603504"/>
          </a:xfrm>
          <a:prstGeom prst="rect">
            <a:avLst/>
          </a:prstGeom>
          <a:noFill/>
          <a:ln/>
        </p:spPr>
        <p:txBody>
          <a:bodyPr wrap="square" lIns="0" tIns="0" rIns="0" bIns="0" rtlCol="0" anchor="ctr"/>
          <a:lstStyle/>
          <a:p>
            <a:pPr indent="0" marL="0">
              <a:lnSpc>
                <a:spcPct val="105000"/>
              </a:lnSpc>
              <a:buNone/>
            </a:pPr>
            <a:r>
              <a:rPr lang="en-US" sz="1000" b="1" dirty="0">
                <a:solidFill>
                  <a:srgbClr val="C8102E"/>
                </a:solidFill>
                <a:latin typeface="Yu Gothic" pitchFamily="34" charset="0"/>
                <a:ea typeface="Yu Gothic" pitchFamily="34" charset="-122"/>
                <a:cs typeface="Yu Gothic" pitchFamily="34" charset="-120"/>
              </a:rPr>
              <a:t>F. 価値化エンジン (FR-O-05〜09)</a:t>
            </a:r>
            <a:endParaRPr lang="en-US" sz="1000" dirty="0"/>
          </a:p>
        </p:txBody>
      </p:sp>
      <p:sp>
        <p:nvSpPr>
          <p:cNvPr id="23" name="Text 21"/>
          <p:cNvSpPr/>
          <p:nvPr/>
        </p:nvSpPr>
        <p:spPr>
          <a:xfrm>
            <a:off x="3611880" y="5047488"/>
            <a:ext cx="7955280" cy="603504"/>
          </a:xfrm>
          <a:prstGeom prst="rect">
            <a:avLst/>
          </a:prstGeom>
          <a:noFill/>
          <a:ln/>
        </p:spPr>
        <p:txBody>
          <a:bodyPr wrap="square" lIns="0" tIns="0" rIns="0" bIns="0" rtlCol="0" anchor="ctr"/>
          <a:lstStyle/>
          <a:p>
            <a:pPr indent="0" marL="0">
              <a:lnSpc>
                <a:spcPct val="108000"/>
              </a:lnSpc>
              <a:buNone/>
            </a:pPr>
            <a:r>
              <a:rPr lang="en-US" sz="870" dirty="0">
                <a:solidFill>
                  <a:srgbClr val="2A2A33"/>
                </a:solidFill>
                <a:latin typeface="Yu Gothic" pitchFamily="34" charset="0"/>
                <a:ea typeface="Yu Gothic" pitchFamily="34" charset="-122"/>
                <a:cs typeface="Yu Gothic" pitchFamily="34" charset="-120"/>
              </a:rPr>
              <a:t>CFP/LCA算定(ISO14067/14046・BOM/使用条件連携・即応帳票)／インパクト貨幣換算(換算単価マスタ・メソドロジー版管理)／統計分析ワークベンチ(柳モデル型)／ヘルス・グリーン売上トラッキング／アウトカムデータ統合(匿名化)</a:t>
            </a:r>
            <a:endParaRPr lang="en-US" sz="870" dirty="0"/>
          </a:p>
        </p:txBody>
      </p:sp>
      <p:sp>
        <p:nvSpPr>
          <p:cNvPr id="24" name="Shape 22"/>
          <p:cNvSpPr/>
          <p:nvPr/>
        </p:nvSpPr>
        <p:spPr>
          <a:xfrm>
            <a:off x="457200" y="5760720"/>
            <a:ext cx="11274552" cy="694944"/>
          </a:xfrm>
          <a:prstGeom prst="roundRect">
            <a:avLst>
              <a:gd name="adj" fmla="val 6579"/>
            </a:avLst>
          </a:prstGeom>
          <a:solidFill>
            <a:srgbClr val="FBECEE"/>
          </a:solidFill>
          <a:ln/>
        </p:spPr>
      </p:sp>
      <p:sp>
        <p:nvSpPr>
          <p:cNvPr id="25" name="Text 23"/>
          <p:cNvSpPr/>
          <p:nvPr/>
        </p:nvSpPr>
        <p:spPr>
          <a:xfrm>
            <a:off x="621792" y="5806440"/>
            <a:ext cx="2880360" cy="603504"/>
          </a:xfrm>
          <a:prstGeom prst="rect">
            <a:avLst/>
          </a:prstGeom>
          <a:noFill/>
          <a:ln/>
        </p:spPr>
        <p:txBody>
          <a:bodyPr wrap="square" lIns="0" tIns="0" rIns="0" bIns="0" rtlCol="0" anchor="ctr"/>
          <a:lstStyle/>
          <a:p>
            <a:pPr indent="0" marL="0">
              <a:lnSpc>
                <a:spcPct val="105000"/>
              </a:lnSpc>
              <a:buNone/>
            </a:pPr>
            <a:r>
              <a:rPr lang="en-US" sz="1000" b="1" dirty="0">
                <a:solidFill>
                  <a:srgbClr val="C8102E"/>
                </a:solidFill>
                <a:latin typeface="Yu Gothic" pitchFamily="34" charset="0"/>
                <a:ea typeface="Yu Gothic" pitchFamily="34" charset="-122"/>
                <a:cs typeface="Yu Gothic" pitchFamily="34" charset="-120"/>
              </a:rPr>
              <a:t>G. 対外連携・活用 (FR-O-10〜13)</a:t>
            </a:r>
            <a:endParaRPr lang="en-US" sz="1000" dirty="0"/>
          </a:p>
        </p:txBody>
      </p:sp>
      <p:sp>
        <p:nvSpPr>
          <p:cNvPr id="26" name="Text 24"/>
          <p:cNvSpPr/>
          <p:nvPr/>
        </p:nvSpPr>
        <p:spPr>
          <a:xfrm>
            <a:off x="3611880" y="5806440"/>
            <a:ext cx="7955280" cy="603504"/>
          </a:xfrm>
          <a:prstGeom prst="rect">
            <a:avLst/>
          </a:prstGeom>
          <a:noFill/>
          <a:ln/>
        </p:spPr>
        <p:txBody>
          <a:bodyPr wrap="square" lIns="0" tIns="0" rIns="0" bIns="0" rtlCol="0" anchor="ctr"/>
          <a:lstStyle/>
          <a:p>
            <a:pPr indent="0" marL="0">
              <a:lnSpc>
                <a:spcPct val="108000"/>
              </a:lnSpc>
              <a:buNone/>
            </a:pPr>
            <a:r>
              <a:rPr lang="en-US" sz="870" dirty="0">
                <a:solidFill>
                  <a:srgbClr val="2A2A33"/>
                </a:solidFill>
                <a:latin typeface="Yu Gothic" pitchFamily="34" charset="0"/>
                <a:ea typeface="Yu Gothic" pitchFamily="34" charset="-122"/>
                <a:cs typeface="Yu Gothic" pitchFamily="34" charset="-120"/>
              </a:rPr>
              <a:t>水リスク統合(Aqueduct接続・ヒートマップ)／IR・開示パッケージ自動生成(データブック・評価機関回答)／報酬・評価連動データ供給(確定値帳票)／サプライヤー協働ポータル(スコアカード)</a:t>
            </a:r>
            <a:endParaRPr lang="en-US" sz="870" dirty="0"/>
          </a:p>
        </p:txBody>
      </p:sp>
      <p:sp>
        <p:nvSpPr>
          <p:cNvPr id="27" name="Text 25"/>
          <p:cNvSpPr/>
          <p:nvPr/>
        </p:nvSpPr>
        <p:spPr>
          <a:xfrm>
            <a:off x="457200" y="6446520"/>
            <a:ext cx="11274552" cy="274320"/>
          </a:xfrm>
          <a:prstGeom prst="rect">
            <a:avLst/>
          </a:prstGeom>
          <a:noFill/>
          <a:ln/>
        </p:spPr>
        <p:txBody>
          <a:bodyPr wrap="square" lIns="0" tIns="0" rIns="0" bIns="0" rtlCol="0" anchor="ctr"/>
          <a:lstStyle/>
          <a:p>
            <a:pPr indent="0" marL="0">
              <a:buNone/>
            </a:pPr>
            <a:r>
              <a:rPr lang="en-US" sz="950" b="1" dirty="0">
                <a:solidFill>
                  <a:srgbClr val="5A5F6B"/>
                </a:solidFill>
                <a:latin typeface="Yu Gothic" pitchFamily="34" charset="0"/>
                <a:ea typeface="Yu Gothic" pitchFamily="34" charset="-122"/>
                <a:cs typeface="Yu Gothic" pitchFamily="34" charset="-120"/>
              </a:rPr>
              <a:t>実機デモでの必須検証項目: 複数階層WF ／ 係数一括更新(再計算ログ) ／ 証憑添付〜監査証跡ドリルダウン ／ CSV一括入力 ／ 進捗・自動督促 ／ ダッシュボード</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12</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システム要件(SR) ― 統制を担保しつつ、制度改定と攻めの拡張に耐える基盤仕様</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「データエクスポートの自由度」と「ユーザー設定による制度改定対応」がロックイン回避と攻めの分析自由度の生命線</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12</a:t>
            </a:r>
            <a:endParaRPr lang="en-US" sz="900" dirty="0"/>
          </a:p>
        </p:txBody>
      </p:sp>
      <p:sp>
        <p:nvSpPr>
          <p:cNvPr id="6" name="Text 4"/>
          <p:cNvSpPr/>
          <p:nvPr/>
        </p:nvSpPr>
        <p:spPr>
          <a:xfrm>
            <a:off x="457200" y="1207008"/>
            <a:ext cx="3602736" cy="457200"/>
          </a:xfrm>
          <a:prstGeom prst="roundRect">
            <a:avLst>
              <a:gd name="adj" fmla="val 10000"/>
            </a:avLst>
          </a:prstGeom>
          <a:solidFill>
            <a:srgbClr val="1E2761"/>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アーキテクチャ (SR-01〜05)</a:t>
            </a:r>
            <a:endParaRPr lang="en-US" sz="1050" dirty="0"/>
          </a:p>
        </p:txBody>
      </p:sp>
      <p:sp>
        <p:nvSpPr>
          <p:cNvPr id="7" name="Shape 5"/>
          <p:cNvSpPr/>
          <p:nvPr/>
        </p:nvSpPr>
        <p:spPr>
          <a:xfrm>
            <a:off x="457200" y="1783080"/>
            <a:ext cx="3602736" cy="3977640"/>
          </a:xfrm>
          <a:prstGeom prst="roundRect">
            <a:avLst>
              <a:gd name="adj" fmla="val 1777"/>
            </a:avLst>
          </a:prstGeom>
          <a:solidFill>
            <a:srgbClr val="EEF3FB"/>
          </a:solidFill>
          <a:ln/>
        </p:spPr>
      </p:sp>
      <p:sp>
        <p:nvSpPr>
          <p:cNvPr id="8" name="Text 6"/>
          <p:cNvSpPr/>
          <p:nvPr/>
        </p:nvSpPr>
        <p:spPr>
          <a:xfrm>
            <a:off x="585216" y="1920240"/>
            <a:ext cx="3346704" cy="3749040"/>
          </a:xfrm>
          <a:prstGeom prst="rect">
            <a:avLst/>
          </a:prstGeom>
          <a:noFill/>
          <a:ln/>
        </p:spPr>
        <p:txBody>
          <a:bodyPr wrap="square" lIns="0" tIns="0" rIns="0" bIns="0" rtlCol="0" anchor="t"/>
          <a:lstStyle/>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クラウドSaaS+全社データ基盤(レイク/DWH)の併用。フルデータエクスポート(API/一括)を必須(ロックイン回避・柳モデル分析の自由度)</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REST API・iPaaS標準コネクタ(SAP S/4HANA・人事・PLM/BOM・開示システム・BI)</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MDM: 組織(親子孫)・拠点・製品・係数・換算単価の一元管理、連結マスタと整合、版・適用期間管理</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制度改定耐性: SSBJ/ISSB/CSRD改定にユーザー側のノーコード設定で対応(ベンダー改修依存の最小化)</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リネージ保持データモデル: 活動量−証憑−係数−算定−開示値の遡及、過去任意時点の再現性</a:t>
            </a:r>
            <a:endParaRPr lang="en-US" sz="890" dirty="0"/>
          </a:p>
        </p:txBody>
      </p:sp>
      <p:sp>
        <p:nvSpPr>
          <p:cNvPr id="9" name="Text 7"/>
          <p:cNvSpPr/>
          <p:nvPr/>
        </p:nvSpPr>
        <p:spPr>
          <a:xfrm>
            <a:off x="4297680" y="1207008"/>
            <a:ext cx="3602736" cy="457200"/>
          </a:xfrm>
          <a:prstGeom prst="roundRect">
            <a:avLst>
              <a:gd name="adj" fmla="val 10000"/>
            </a:avLst>
          </a:prstGeom>
          <a:solidFill>
            <a:srgbClr val="1E2761"/>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セキュリティ・統制/非機能 (SR-06〜15)</a:t>
            </a:r>
            <a:endParaRPr lang="en-US" sz="1050" dirty="0"/>
          </a:p>
        </p:txBody>
      </p:sp>
      <p:sp>
        <p:nvSpPr>
          <p:cNvPr id="10" name="Shape 8"/>
          <p:cNvSpPr/>
          <p:nvPr/>
        </p:nvSpPr>
        <p:spPr>
          <a:xfrm>
            <a:off x="4297680" y="1783080"/>
            <a:ext cx="3602736" cy="3977640"/>
          </a:xfrm>
          <a:prstGeom prst="roundRect">
            <a:avLst>
              <a:gd name="adj" fmla="val 1777"/>
            </a:avLst>
          </a:prstGeom>
          <a:solidFill>
            <a:srgbClr val="EEF3FB"/>
          </a:solidFill>
          <a:ln/>
        </p:spPr>
      </p:sp>
      <p:sp>
        <p:nvSpPr>
          <p:cNvPr id="11" name="Text 9"/>
          <p:cNvSpPr/>
          <p:nvPr/>
        </p:nvSpPr>
        <p:spPr>
          <a:xfrm>
            <a:off x="4425696" y="1920240"/>
            <a:ext cx="3346704" cy="3749040"/>
          </a:xfrm>
          <a:prstGeom prst="rect">
            <a:avLst/>
          </a:prstGeom>
          <a:noFill/>
          <a:ln/>
        </p:spPr>
        <p:txBody>
          <a:bodyPr wrap="square" lIns="0" tIns="0" rIns="0" bIns="0" rtlCol="0" anchor="t"/>
          <a:lstStyle/>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SSO(SAML/OIDC)・MFA・IP制限、細粒度アクセス制御(会社・拠点・項目・係数マスキング)</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暗号化(保存・通信)、証憑の改ざん防止(ハッシュ・ログ保全)、ISO27001・SOC1/2(ITGCとして監査提示)</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ログ・保存年限(有報関連10年目安)、個人情報・健康データの匿名化/仮名化・越境移転対応(GDPR)</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可用性99.9%以上・決算期ピーク性能(承認画面応答目安3秒)・督促配信の確実性</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多言語・多通貨・現地会計期間、国内外サポート・導入支援SLA、バックアップ/DR(RPO/RTO)</a:t>
            </a:r>
            <a:endParaRPr lang="en-US" sz="890" dirty="0"/>
          </a:p>
        </p:txBody>
      </p:sp>
      <p:sp>
        <p:nvSpPr>
          <p:cNvPr id="12" name="Text 10"/>
          <p:cNvSpPr/>
          <p:nvPr/>
        </p:nvSpPr>
        <p:spPr>
          <a:xfrm>
            <a:off x="8138160" y="1207008"/>
            <a:ext cx="3602736" cy="457200"/>
          </a:xfrm>
          <a:prstGeom prst="roundRect">
            <a:avLst>
              <a:gd name="adj" fmla="val 10000"/>
            </a:avLst>
          </a:prstGeom>
          <a:solidFill>
            <a:srgbClr val="C8102E"/>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攻めを支える分析基盤 (SR-16〜20)</a:t>
            </a:r>
            <a:endParaRPr lang="en-US" sz="1050" dirty="0"/>
          </a:p>
        </p:txBody>
      </p:sp>
      <p:sp>
        <p:nvSpPr>
          <p:cNvPr id="13" name="Shape 11"/>
          <p:cNvSpPr/>
          <p:nvPr/>
        </p:nvSpPr>
        <p:spPr>
          <a:xfrm>
            <a:off x="8138160" y="1783080"/>
            <a:ext cx="3602736" cy="3977640"/>
          </a:xfrm>
          <a:prstGeom prst="roundRect">
            <a:avLst>
              <a:gd name="adj" fmla="val 1777"/>
            </a:avLst>
          </a:prstGeom>
          <a:solidFill>
            <a:srgbClr val="FBECEE"/>
          </a:solidFill>
          <a:ln/>
        </p:spPr>
      </p:sp>
      <p:sp>
        <p:nvSpPr>
          <p:cNvPr id="14" name="Text 12"/>
          <p:cNvSpPr/>
          <p:nvPr/>
        </p:nvSpPr>
        <p:spPr>
          <a:xfrm>
            <a:off x="8266176" y="1920240"/>
            <a:ext cx="3346704" cy="3749040"/>
          </a:xfrm>
          <a:prstGeom prst="rect">
            <a:avLst/>
          </a:prstGeom>
          <a:noFill/>
          <a:ln/>
        </p:spPr>
        <p:txBody>
          <a:bodyPr wrap="square" lIns="0" tIns="0" rIns="0" bIns="0" rtlCol="0" anchor="t"/>
          <a:lstStyle/>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BI直接接続(セマンティックレイヤ): 財務データと結合分析可能な共通キー設計(組織・期間・製品)</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AI/ML基盤: 予測・シミュレーション・OCR・開示文生成。自社データをベンダー汎用モデル学習に不使用(契約担保)</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外部データ接続: 係数DB(IDEA/IEA)・水リスク(Aqueduct)・疫学/公的統計(医療費・健診)・マーケットデータ</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データ品質管理: 完全性・一意性・妥当性ルールの自動検査と品質スコアのモニタリング</a:t>
            </a:r>
            <a:endParaRPr lang="en-US" sz="890" dirty="0"/>
          </a:p>
          <a:p>
            <a:pPr marL="101600" indent="-101600">
              <a:lnSpc>
                <a:spcPct val="112000"/>
              </a:lnSpc>
              <a:spcAft>
                <a:spcPts val="700"/>
              </a:spcAft>
              <a:buSzPct val="100000"/>
              <a:buChar char="▪"/>
            </a:pPr>
            <a:r>
              <a:rPr lang="en-US" sz="890" dirty="0">
                <a:solidFill>
                  <a:srgbClr val="2A2A33"/>
                </a:solidFill>
                <a:latin typeface="Yu Gothic" pitchFamily="34" charset="0"/>
                <a:ea typeface="Yu Gothic" pitchFamily="34" charset="-122"/>
                <a:cs typeface="Yu Gothic" pitchFamily="34" charset="-120"/>
              </a:rPr>
              <a:t>環境分離(本番/検証/開発): 制度改定・新テーマ追加の安全な検証</a:t>
            </a:r>
            <a:endParaRPr lang="en-US" sz="8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13</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KPIツリーとROI ― 非財務→財務の接続を「見える化」する</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KGI(企業価値)から現場ドライバまで一気通貫で分解し、守りの定量効果と攻めの価値向上を統合管理する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13</a:t>
            </a:r>
            <a:endParaRPr lang="en-US" sz="900" dirty="0"/>
          </a:p>
        </p:txBody>
      </p:sp>
      <p:sp>
        <p:nvSpPr>
          <p:cNvPr id="6" name="Shape 4"/>
          <p:cNvSpPr/>
          <p:nvPr/>
        </p:nvSpPr>
        <p:spPr>
          <a:xfrm>
            <a:off x="457200" y="1234440"/>
            <a:ext cx="6949440" cy="5212080"/>
          </a:xfrm>
          <a:prstGeom prst="roundRect">
            <a:avLst>
              <a:gd name="adj" fmla="val 1228"/>
            </a:avLst>
          </a:prstGeom>
          <a:solidFill>
            <a:srgbClr val="F4F5F8"/>
          </a:solidFill>
          <a:ln/>
        </p:spPr>
      </p:sp>
      <p:sp>
        <p:nvSpPr>
          <p:cNvPr id="7" name="Text 5"/>
          <p:cNvSpPr/>
          <p:nvPr/>
        </p:nvSpPr>
        <p:spPr>
          <a:xfrm>
            <a:off x="2377440" y="1417320"/>
            <a:ext cx="3108960" cy="411480"/>
          </a:xfrm>
          <a:prstGeom prst="roundRect">
            <a:avLst>
              <a:gd name="adj" fmla="val 11111"/>
            </a:avLst>
          </a:prstGeom>
          <a:solidFill>
            <a:srgbClr val="1E2761"/>
          </a:solidFill>
          <a:ln/>
        </p:spPr>
        <p:txBody>
          <a:bodyPr wrap="square" lIns="381" tIns="381" rIns="381" bIns="381"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企業価値 (PBR・資本コスト)</a:t>
            </a:r>
            <a:endParaRPr lang="en-US" sz="1150" dirty="0"/>
          </a:p>
        </p:txBody>
      </p:sp>
      <p:sp>
        <p:nvSpPr>
          <p:cNvPr id="8" name="Shape 6"/>
          <p:cNvSpPr/>
          <p:nvPr/>
        </p:nvSpPr>
        <p:spPr>
          <a:xfrm>
            <a:off x="3931920" y="1828800"/>
            <a:ext cx="0" cy="228600"/>
          </a:xfrm>
          <a:prstGeom prst="line">
            <a:avLst/>
          </a:prstGeom>
          <a:noFill/>
          <a:ln w="15875">
            <a:solidFill>
              <a:srgbClr val="8A93A6"/>
            </a:solidFill>
            <a:prstDash val="solid"/>
          </a:ln>
        </p:spPr>
      </p:sp>
      <p:sp>
        <p:nvSpPr>
          <p:cNvPr id="9" name="Text 7"/>
          <p:cNvSpPr/>
          <p:nvPr/>
        </p:nvSpPr>
        <p:spPr>
          <a:xfrm>
            <a:off x="731520" y="2057400"/>
            <a:ext cx="3017520" cy="384048"/>
          </a:xfrm>
          <a:prstGeom prst="roundRect">
            <a:avLst>
              <a:gd name="adj" fmla="val 11905"/>
            </a:avLst>
          </a:prstGeom>
          <a:solidFill>
            <a:srgbClr val="FFFFFF"/>
          </a:solidFill>
          <a:ln/>
        </p:spPr>
        <p:txBody>
          <a:bodyPr wrap="square" lIns="381" tIns="381" rIns="381" bIns="381" rtlCol="0" anchor="ctr"/>
          <a:lstStyle/>
          <a:p>
            <a:pPr algn="ctr" indent="0" marL="0">
              <a:buNone/>
            </a:pPr>
            <a:r>
              <a:rPr lang="en-US" sz="950" b="1" dirty="0">
                <a:solidFill>
                  <a:srgbClr val="1E2761"/>
                </a:solidFill>
                <a:latin typeface="Yu Gothic" pitchFamily="34" charset="0"/>
                <a:ea typeface="Yu Gothic" pitchFamily="34" charset="-122"/>
                <a:cs typeface="Yu Gothic" pitchFamily="34" charset="-120"/>
              </a:rPr>
              <a:t>財務KPI: 売上成長・営業利益率・ROIC</a:t>
            </a:r>
            <a:endParaRPr lang="en-US" sz="950" dirty="0"/>
          </a:p>
        </p:txBody>
      </p:sp>
      <p:sp>
        <p:nvSpPr>
          <p:cNvPr id="10" name="Text 8"/>
          <p:cNvSpPr/>
          <p:nvPr/>
        </p:nvSpPr>
        <p:spPr>
          <a:xfrm>
            <a:off x="4114800" y="2057400"/>
            <a:ext cx="3017520" cy="384048"/>
          </a:xfrm>
          <a:prstGeom prst="roundRect">
            <a:avLst>
              <a:gd name="adj" fmla="val 11905"/>
            </a:avLst>
          </a:prstGeom>
          <a:solidFill>
            <a:srgbClr val="FFFFFF"/>
          </a:solidFill>
          <a:ln/>
        </p:spPr>
        <p:txBody>
          <a:bodyPr wrap="square" lIns="381" tIns="381" rIns="381" bIns="381" rtlCol="0" anchor="ctr"/>
          <a:lstStyle/>
          <a:p>
            <a:pPr algn="ctr" indent="0" marL="0">
              <a:buNone/>
            </a:pPr>
            <a:r>
              <a:rPr lang="en-US" sz="950" b="1" dirty="0">
                <a:solidFill>
                  <a:srgbClr val="1E2761"/>
                </a:solidFill>
                <a:latin typeface="Yu Gothic" pitchFamily="34" charset="0"/>
                <a:ea typeface="Yu Gothic" pitchFamily="34" charset="-122"/>
                <a:cs typeface="Yu Gothic" pitchFamily="34" charset="-120"/>
              </a:rPr>
              <a:t>資本コスト低減(ESG評価・開示品質)</a:t>
            </a:r>
            <a:endParaRPr lang="en-US" sz="950" dirty="0"/>
          </a:p>
        </p:txBody>
      </p:sp>
      <p:sp>
        <p:nvSpPr>
          <p:cNvPr id="11" name="Text 9"/>
          <p:cNvSpPr/>
          <p:nvPr/>
        </p:nvSpPr>
        <p:spPr>
          <a:xfrm>
            <a:off x="731520" y="2606040"/>
            <a:ext cx="3017520" cy="1645920"/>
          </a:xfrm>
          <a:prstGeom prst="rect">
            <a:avLst/>
          </a:prstGeom>
          <a:noFill/>
          <a:ln/>
        </p:spPr>
        <p:txBody>
          <a:bodyPr wrap="square" lIns="508" tIns="508" rIns="508" bIns="508" rtlCol="0" anchor="t"/>
          <a:lstStyle/>
          <a:p>
            <a:pPr indent="0" marL="0">
              <a:lnSpc>
                <a:spcPct val="118000"/>
              </a:lnSpc>
              <a:buNone/>
            </a:pPr>
            <a:r>
              <a:rPr lang="en-US" sz="950" b="1" dirty="0">
                <a:solidFill>
                  <a:srgbClr val="1E2761"/>
                </a:solidFill>
                <a:latin typeface="Yu Gothic" pitchFamily="34" charset="0"/>
                <a:ea typeface="Yu Gothic" pitchFamily="34" charset="-122"/>
                <a:cs typeface="Yu Gothic" pitchFamily="34" charset="-120"/>
              </a:rPr>
              <a:t>◀ 財務への接続例
</a:t>
            </a:r>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・ヘルス/グリーン売上構成比(T1〜T4)</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・CFP対応による受注維持・拡大額(T3)</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・使用時インパクト訴求→シェア(T2)</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・集計工数▲40〜60%/監査費用抑制(T0)</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・炭素税影響(シナリオ、T3)</a:t>
            </a:r>
            <a:endParaRPr lang="en-US" sz="950" dirty="0"/>
          </a:p>
        </p:txBody>
      </p:sp>
      <p:sp>
        <p:nvSpPr>
          <p:cNvPr id="12" name="Text 10"/>
          <p:cNvSpPr/>
          <p:nvPr/>
        </p:nvSpPr>
        <p:spPr>
          <a:xfrm>
            <a:off x="4114800" y="2606040"/>
            <a:ext cx="3017520" cy="1920240"/>
          </a:xfrm>
          <a:prstGeom prst="rect">
            <a:avLst/>
          </a:prstGeom>
          <a:noFill/>
          <a:ln/>
        </p:spPr>
        <p:txBody>
          <a:bodyPr wrap="square" lIns="508" tIns="508" rIns="508" bIns="508" rtlCol="0" anchor="t"/>
          <a:lstStyle/>
          <a:p>
            <a:pPr indent="0" marL="0">
              <a:lnSpc>
                <a:spcPct val="118000"/>
              </a:lnSpc>
              <a:buNone/>
            </a:pPr>
            <a:r>
              <a:rPr lang="en-US" sz="950" b="1" dirty="0">
                <a:solidFill>
                  <a:srgbClr val="C8102E"/>
                </a:solidFill>
                <a:latin typeface="Yu Gothic" pitchFamily="34" charset="0"/>
                <a:ea typeface="Yu Gothic" pitchFamily="34" charset="-122"/>
                <a:cs typeface="Yu Gothic" pitchFamily="34" charset="-120"/>
              </a:rPr>
              <a:t>◀ 非財務KGIの例
</a:t>
            </a:r>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・習慣づくり貢献人口/健康インパクト額(T1)</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・節水貢献量m3/使用時CO2削減量(T2)</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・Scope1-3(一次データ比率)/CFP SKU比率(T3)</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・詰替率・再生材使用率(T4)</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・エンゲージメント・健診受診率(T5)</a:t>
            </a:r>
            <a:endParaRPr lang="en-US" sz="950" dirty="0"/>
          </a:p>
          <a:p>
            <a:pPr indent="0" marL="0">
              <a:lnSpc>
                <a:spcPct val="118000"/>
              </a:lnSpc>
              <a:buNone/>
            </a:pPr>
            <a:r>
              <a:rPr lang="en-US" sz="900" dirty="0">
                <a:solidFill>
                  <a:srgbClr val="2A2A33"/>
                </a:solidFill>
                <a:latin typeface="Yu Gothic" pitchFamily="34" charset="0"/>
                <a:ea typeface="Yu Gothic" pitchFamily="34" charset="-122"/>
                <a:cs typeface="Yu Gothic" pitchFamily="34" charset="-120"/>
              </a:rPr>
              <a:t>・報酬連動KPI達成率・保証範囲(T6)</a:t>
            </a:r>
            <a:endParaRPr lang="en-US" sz="950" dirty="0"/>
          </a:p>
        </p:txBody>
      </p:sp>
      <p:sp>
        <p:nvSpPr>
          <p:cNvPr id="13" name="Shape 11"/>
          <p:cNvSpPr/>
          <p:nvPr/>
        </p:nvSpPr>
        <p:spPr>
          <a:xfrm>
            <a:off x="731520" y="4709160"/>
            <a:ext cx="6400800" cy="640080"/>
          </a:xfrm>
          <a:prstGeom prst="roundRect">
            <a:avLst>
              <a:gd name="adj" fmla="val 7143"/>
            </a:avLst>
          </a:prstGeom>
          <a:solidFill>
            <a:srgbClr val="FFFFFF"/>
          </a:solidFill>
          <a:ln w="12700">
            <a:solidFill>
              <a:srgbClr val="C9CFDB"/>
            </a:solidFill>
            <a:prstDash val="solid"/>
          </a:ln>
        </p:spPr>
      </p:sp>
      <p:sp>
        <p:nvSpPr>
          <p:cNvPr id="14" name="Text 12"/>
          <p:cNvSpPr/>
          <p:nvPr/>
        </p:nvSpPr>
        <p:spPr>
          <a:xfrm>
            <a:off x="868680" y="4754880"/>
            <a:ext cx="6126480" cy="548640"/>
          </a:xfrm>
          <a:prstGeom prst="rect">
            <a:avLst/>
          </a:prstGeom>
          <a:noFill/>
          <a:ln/>
        </p:spPr>
        <p:txBody>
          <a:bodyPr wrap="square" lIns="0" tIns="0" rIns="0" bIns="0" rtlCol="0" anchor="ctr"/>
          <a:lstStyle/>
          <a:p>
            <a:pPr indent="0" marL="0">
              <a:lnSpc>
                <a:spcPct val="110000"/>
              </a:lnSpc>
              <a:buNone/>
            </a:pPr>
            <a:r>
              <a:rPr lang="en-US" sz="900" dirty="0">
                <a:solidFill>
                  <a:srgbClr val="2A2A33"/>
                </a:solidFill>
                <a:latin typeface="Yu Gothic" pitchFamily="34" charset="0"/>
                <a:ea typeface="Yu Gothic" pitchFamily="34" charset="-122"/>
                <a:cs typeface="Yu Gothic" pitchFamily="34" charset="-120"/>
              </a:rPr>
              <a:t>現場ドライバ: 製品別販売数量・地域別浸透率・啓発リーチ×行動変容率・一次データ取得社数・詰替SKU比率 等</a:t>
            </a:r>
            <a:endParaRPr lang="en-US" sz="900" dirty="0"/>
          </a:p>
        </p:txBody>
      </p:sp>
      <p:sp>
        <p:nvSpPr>
          <p:cNvPr id="15" name="Text 13"/>
          <p:cNvSpPr/>
          <p:nvPr/>
        </p:nvSpPr>
        <p:spPr>
          <a:xfrm>
            <a:off x="731520" y="5532120"/>
            <a:ext cx="6400800" cy="685800"/>
          </a:xfrm>
          <a:prstGeom prst="rect">
            <a:avLst/>
          </a:prstGeom>
          <a:noFill/>
          <a:ln/>
        </p:spPr>
        <p:txBody>
          <a:bodyPr wrap="square" lIns="508" tIns="508" rIns="508" bIns="508" rtlCol="0" anchor="ctr"/>
          <a:lstStyle/>
          <a:p>
            <a:pPr indent="0" marL="0">
              <a:buNone/>
            </a:pPr>
            <a:r>
              <a:rPr lang="en-US" sz="1000" b="1" dirty="0">
                <a:solidFill>
                  <a:srgbClr val="C8102E"/>
                </a:solidFill>
                <a:latin typeface="Yu Gothic" pitchFamily="34" charset="0"/>
                <a:ea typeface="Yu Gothic" pitchFamily="34" charset="-122"/>
                <a:cs typeface="Yu Gothic" pitchFamily="34" charset="-120"/>
              </a:rPr>
              <a:t>統計検証(柳モデル型): 非財務KPI→数年遅れの財務効果を年次で回帰分析し、IRで開示</a:t>
            </a:r>
            <a:endParaRPr lang="en-US" sz="1000" dirty="0"/>
          </a:p>
        </p:txBody>
      </p:sp>
      <p:sp>
        <p:nvSpPr>
          <p:cNvPr id="16" name="Text 14"/>
          <p:cNvSpPr/>
          <p:nvPr/>
        </p:nvSpPr>
        <p:spPr>
          <a:xfrm>
            <a:off x="7680960" y="1234440"/>
            <a:ext cx="4050792" cy="411480"/>
          </a:xfrm>
          <a:prstGeom prst="roundRect">
            <a:avLst>
              <a:gd name="adj" fmla="val 11111"/>
            </a:avLst>
          </a:prstGeom>
          <a:solidFill>
            <a:srgbClr val="C8102E"/>
          </a:solidFill>
          <a:ln/>
        </p:spPr>
        <p:txBody>
          <a:bodyPr wrap="square" lIns="381" tIns="381" rIns="381" bIns="381"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投資対効果(構想資料の試算)</a:t>
            </a:r>
            <a:endParaRPr lang="en-US" sz="1150" dirty="0"/>
          </a:p>
        </p:txBody>
      </p:sp>
      <p:sp>
        <p:nvSpPr>
          <p:cNvPr id="17" name="Shape 15"/>
          <p:cNvSpPr/>
          <p:nvPr/>
        </p:nvSpPr>
        <p:spPr>
          <a:xfrm>
            <a:off x="7680960" y="1783080"/>
            <a:ext cx="4050792" cy="1417320"/>
          </a:xfrm>
          <a:prstGeom prst="roundRect">
            <a:avLst>
              <a:gd name="adj" fmla="val 3871"/>
            </a:avLst>
          </a:prstGeom>
          <a:solidFill>
            <a:srgbClr val="FFFFFF"/>
          </a:solidFill>
          <a:ln w="12700">
            <a:solidFill>
              <a:srgbClr val="C9CFDB"/>
            </a:solidFill>
            <a:prstDash val="solid"/>
          </a:ln>
        </p:spPr>
      </p:sp>
      <p:sp>
        <p:nvSpPr>
          <p:cNvPr id="18" name="Text 16"/>
          <p:cNvSpPr/>
          <p:nvPr/>
        </p:nvSpPr>
        <p:spPr>
          <a:xfrm>
            <a:off x="7818120" y="1856232"/>
            <a:ext cx="3749040" cy="292608"/>
          </a:xfrm>
          <a:prstGeom prst="rect">
            <a:avLst/>
          </a:prstGeom>
          <a:noFill/>
          <a:ln/>
        </p:spPr>
        <p:txBody>
          <a:bodyPr wrap="square" lIns="0" tIns="0" rIns="0" bIns="0" rtlCol="0" anchor="ctr"/>
          <a:lstStyle/>
          <a:p>
            <a:pPr indent="0" marL="0">
              <a:buNone/>
            </a:pPr>
            <a:r>
              <a:rPr lang="en-US" sz="1050" b="1" dirty="0">
                <a:solidFill>
                  <a:srgbClr val="C8102E"/>
                </a:solidFill>
                <a:latin typeface="Yu Gothic" pitchFamily="34" charset="0"/>
                <a:ea typeface="Yu Gothic" pitchFamily="34" charset="-122"/>
                <a:cs typeface="Yu Gothic" pitchFamily="34" charset="-120"/>
              </a:rPr>
              <a:t>守り(定量)</a:t>
            </a:r>
            <a:endParaRPr lang="en-US" sz="1050" dirty="0"/>
          </a:p>
        </p:txBody>
      </p:sp>
      <p:sp>
        <p:nvSpPr>
          <p:cNvPr id="19" name="Text 17"/>
          <p:cNvSpPr/>
          <p:nvPr/>
        </p:nvSpPr>
        <p:spPr>
          <a:xfrm>
            <a:off x="7818120" y="2167128"/>
            <a:ext cx="3794760" cy="960120"/>
          </a:xfrm>
          <a:prstGeom prst="rect">
            <a:avLst/>
          </a:prstGeom>
          <a:noFill/>
          <a:ln/>
        </p:spPr>
        <p:txBody>
          <a:bodyPr wrap="square" lIns="0" tIns="0" rIns="0" bIns="0" rtlCol="0" anchor="t"/>
          <a:lstStyle/>
          <a:p>
            <a:pP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集計業務工数 ▲40〜60%(人件費換算で年間数千万円規模)/開示リードタイム 1/7/監査対応・制度追随コストの抑制</a:t>
            </a:r>
            <a:endParaRPr lang="en-US" sz="900" dirty="0"/>
          </a:p>
        </p:txBody>
      </p:sp>
      <p:sp>
        <p:nvSpPr>
          <p:cNvPr id="20" name="Shape 18"/>
          <p:cNvSpPr/>
          <p:nvPr/>
        </p:nvSpPr>
        <p:spPr>
          <a:xfrm>
            <a:off x="7680960" y="3355848"/>
            <a:ext cx="4050792" cy="1417320"/>
          </a:xfrm>
          <a:prstGeom prst="roundRect">
            <a:avLst>
              <a:gd name="adj" fmla="val 3871"/>
            </a:avLst>
          </a:prstGeom>
          <a:solidFill>
            <a:srgbClr val="FFFFFF"/>
          </a:solidFill>
          <a:ln w="12700">
            <a:solidFill>
              <a:srgbClr val="C9CFDB"/>
            </a:solidFill>
            <a:prstDash val="solid"/>
          </a:ln>
        </p:spPr>
      </p:sp>
      <p:sp>
        <p:nvSpPr>
          <p:cNvPr id="21" name="Text 19"/>
          <p:cNvSpPr/>
          <p:nvPr/>
        </p:nvSpPr>
        <p:spPr>
          <a:xfrm>
            <a:off x="7818120" y="3429000"/>
            <a:ext cx="3749040" cy="292608"/>
          </a:xfrm>
          <a:prstGeom prst="rect">
            <a:avLst/>
          </a:prstGeom>
          <a:noFill/>
          <a:ln/>
        </p:spPr>
        <p:txBody>
          <a:bodyPr wrap="square" lIns="0" tIns="0" rIns="0" bIns="0" rtlCol="0" anchor="ctr"/>
          <a:lstStyle/>
          <a:p>
            <a:pPr indent="0" marL="0">
              <a:buNone/>
            </a:pPr>
            <a:r>
              <a:rPr lang="en-US" sz="1050" b="1" dirty="0">
                <a:solidFill>
                  <a:srgbClr val="C8102E"/>
                </a:solidFill>
                <a:latin typeface="Yu Gothic" pitchFamily="34" charset="0"/>
                <a:ea typeface="Yu Gothic" pitchFamily="34" charset="-122"/>
                <a:cs typeface="Yu Gothic" pitchFamily="34" charset="-120"/>
              </a:rPr>
              <a:t>攻め(定性)</a:t>
            </a:r>
            <a:endParaRPr lang="en-US" sz="1050" dirty="0"/>
          </a:p>
        </p:txBody>
      </p:sp>
      <p:sp>
        <p:nvSpPr>
          <p:cNvPr id="22" name="Text 20"/>
          <p:cNvSpPr/>
          <p:nvPr/>
        </p:nvSpPr>
        <p:spPr>
          <a:xfrm>
            <a:off x="7818120" y="3739896"/>
            <a:ext cx="3794760" cy="960120"/>
          </a:xfrm>
          <a:prstGeom prst="rect">
            <a:avLst/>
          </a:prstGeom>
          <a:noFill/>
          <a:ln/>
        </p:spPr>
        <p:txBody>
          <a:bodyPr wrap="square" lIns="0" tIns="0" rIns="0" bIns="0" rtlCol="0" anchor="t"/>
          <a:lstStyle/>
          <a:p>
            <a:pPr indent="0" marL="0">
              <a:lnSpc>
                <a:spcPct val="115000"/>
              </a:lnSpc>
              <a:buNone/>
            </a:pPr>
            <a:r>
              <a:rPr lang="en-US" sz="900" dirty="0">
                <a:solidFill>
                  <a:srgbClr val="2A2A33"/>
                </a:solidFill>
                <a:latin typeface="Yu Gothic" pitchFamily="34" charset="0"/>
                <a:ea typeface="Yu Gothic" pitchFamily="34" charset="-122"/>
                <a:cs typeface="Yu Gothic" pitchFamily="34" charset="-120"/>
              </a:rPr>
              <a:t>データ信頼性向上による資本コスト低減(PBR向上)/サプライチェーン排除リスク回避(受注維持・拡大)/人材採用・資金調達への好影響</a:t>
            </a:r>
            <a:endParaRPr lang="en-US" sz="900" dirty="0"/>
          </a:p>
        </p:txBody>
      </p:sp>
      <p:sp>
        <p:nvSpPr>
          <p:cNvPr id="23" name="Shape 21"/>
          <p:cNvSpPr/>
          <p:nvPr/>
        </p:nvSpPr>
        <p:spPr>
          <a:xfrm>
            <a:off x="7680960" y="4928616"/>
            <a:ext cx="4050792" cy="1417320"/>
          </a:xfrm>
          <a:prstGeom prst="roundRect">
            <a:avLst>
              <a:gd name="adj" fmla="val 3871"/>
            </a:avLst>
          </a:prstGeom>
          <a:solidFill>
            <a:srgbClr val="1E2761"/>
          </a:solidFill>
          <a:ln w="12700">
            <a:solidFill>
              <a:srgbClr val="C9CFDB"/>
            </a:solidFill>
            <a:prstDash val="solid"/>
          </a:ln>
        </p:spPr>
      </p:sp>
      <p:sp>
        <p:nvSpPr>
          <p:cNvPr id="24" name="Text 22"/>
          <p:cNvSpPr/>
          <p:nvPr/>
        </p:nvSpPr>
        <p:spPr>
          <a:xfrm>
            <a:off x="7818120" y="5001768"/>
            <a:ext cx="3749040" cy="292608"/>
          </a:xfrm>
          <a:prstGeom prst="rect">
            <a:avLst/>
          </a:prstGeom>
          <a:noFill/>
          <a:ln/>
        </p:spPr>
        <p:txBody>
          <a:bodyPr wrap="square" lIns="0" tIns="0" rIns="0" bIns="0" rtlCol="0" anchor="ctr"/>
          <a:lstStyle/>
          <a:p>
            <a:pPr indent="0" marL="0">
              <a:buNone/>
            </a:pPr>
            <a:r>
              <a:rPr lang="en-US" sz="1050" b="1" dirty="0">
                <a:solidFill>
                  <a:srgbClr val="FFFFFF"/>
                </a:solidFill>
                <a:latin typeface="Yu Gothic" pitchFamily="34" charset="0"/>
                <a:ea typeface="Yu Gothic" pitchFamily="34" charset="-122"/>
                <a:cs typeface="Yu Gothic" pitchFamily="34" charset="-120"/>
              </a:rPr>
              <a:t>結論</a:t>
            </a:r>
            <a:endParaRPr lang="en-US" sz="1050" dirty="0"/>
          </a:p>
        </p:txBody>
      </p:sp>
      <p:sp>
        <p:nvSpPr>
          <p:cNvPr id="25" name="Text 23"/>
          <p:cNvSpPr/>
          <p:nvPr/>
        </p:nvSpPr>
        <p:spPr>
          <a:xfrm>
            <a:off x="7818120" y="5312664"/>
            <a:ext cx="3794760" cy="960120"/>
          </a:xfrm>
          <a:prstGeom prst="rect">
            <a:avLst/>
          </a:prstGeom>
          <a:noFill/>
          <a:ln/>
        </p:spPr>
        <p:txBody>
          <a:bodyPr wrap="square" lIns="0" tIns="0" rIns="0" bIns="0" rtlCol="0" anchor="t"/>
          <a:lstStyle/>
          <a:p>
            <a:pPr indent="0" marL="0">
              <a:lnSpc>
                <a:spcPct val="115000"/>
              </a:lnSpc>
              <a:buNone/>
            </a:pPr>
            <a:r>
              <a:rPr lang="en-US" sz="900" dirty="0">
                <a:solidFill>
                  <a:srgbClr val="CADCFC"/>
                </a:solidFill>
                <a:latin typeface="Yu Gothic" pitchFamily="34" charset="0"/>
                <a:ea typeface="Yu Gothic" pitchFamily="34" charset="-122"/>
                <a:cs typeface="Yu Gothic" pitchFamily="34" charset="-120"/>
              </a:rPr>
              <a:t>導入コストは、義務化対応遅延によるレピュテーションリスクや人海戦術によるコスト膨張と比較して十分に合理的</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14</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ロードマップ2026-2030 ― 守り先行・攻め段階導入</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不変(統制骨格)を先に固定し、可変(KPI定義・換算単価・開示項目)はユーザー設定マスタとして実装 ― 手戻りを最小化する並行推進</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14</a:t>
            </a:r>
            <a:endParaRPr lang="en-US" sz="900" dirty="0"/>
          </a:p>
        </p:txBody>
      </p:sp>
      <p:sp>
        <p:nvSpPr>
          <p:cNvPr id="6" name="Text 4"/>
          <p:cNvSpPr/>
          <p:nvPr/>
        </p:nvSpPr>
        <p:spPr>
          <a:xfrm>
            <a:off x="457200" y="1234440"/>
            <a:ext cx="2148840" cy="548640"/>
          </a:xfrm>
          <a:prstGeom prst="roundRect">
            <a:avLst>
              <a:gd name="adj" fmla="val 8333"/>
            </a:avLst>
          </a:prstGeom>
          <a:solidFill>
            <a:srgbClr val="1E2761"/>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Phase 0</a:t>
            </a:r>
            <a:endParaRPr lang="en-US" sz="1050" dirty="0"/>
          </a:p>
          <a:p>
            <a:pPr algn="ctr" indent="0" marL="0">
              <a:buNone/>
            </a:pPr>
            <a:r>
              <a:rPr lang="en-US" sz="1050" b="1" dirty="0">
                <a:solidFill>
                  <a:srgbClr val="FFFFFF"/>
                </a:solidFill>
                <a:latin typeface="Yu Gothic" pitchFamily="34" charset="0"/>
                <a:ea typeface="Yu Gothic" pitchFamily="34" charset="-122"/>
                <a:cs typeface="Yu Gothic" pitchFamily="34" charset="-120"/>
              </a:rPr>
              <a:t>2026下期</a:t>
            </a:r>
            <a:endParaRPr lang="en-US" sz="1050" dirty="0"/>
          </a:p>
        </p:txBody>
      </p:sp>
      <p:sp>
        <p:nvSpPr>
          <p:cNvPr id="7" name="Text 5"/>
          <p:cNvSpPr/>
          <p:nvPr/>
        </p:nvSpPr>
        <p:spPr>
          <a:xfrm>
            <a:off x="457200" y="1874520"/>
            <a:ext cx="2148840" cy="502920"/>
          </a:xfrm>
          <a:prstGeom prst="rect">
            <a:avLst/>
          </a:prstGeom>
          <a:noFill/>
          <a:ln/>
        </p:spPr>
        <p:txBody>
          <a:bodyPr wrap="square" lIns="0" tIns="0" rIns="0" bIns="0" rtlCol="0" anchor="ctr"/>
          <a:lstStyle/>
          <a:p>
            <a:pPr algn="ctr" indent="0" marL="0">
              <a:lnSpc>
                <a:spcPct val="105000"/>
              </a:lnSpc>
              <a:buNone/>
            </a:pPr>
            <a:r>
              <a:rPr lang="en-US" sz="1000" b="1" dirty="0">
                <a:solidFill>
                  <a:srgbClr val="2A2A33"/>
                </a:solidFill>
                <a:latin typeface="Yu Gothic" pitchFamily="34" charset="0"/>
                <a:ea typeface="Yu Gothic" pitchFamily="34" charset="-122"/>
                <a:cs typeface="Yu Gothic" pitchFamily="34" charset="-120"/>
              </a:rPr>
              <a:t>要求定義・ベンダー選定</a:t>
            </a:r>
            <a:endParaRPr lang="en-US" sz="1000" dirty="0"/>
          </a:p>
        </p:txBody>
      </p:sp>
      <p:sp>
        <p:nvSpPr>
          <p:cNvPr id="8" name="Shape 6"/>
          <p:cNvSpPr/>
          <p:nvPr/>
        </p:nvSpPr>
        <p:spPr>
          <a:xfrm>
            <a:off x="457200" y="2423160"/>
            <a:ext cx="2148840" cy="1737360"/>
          </a:xfrm>
          <a:prstGeom prst="roundRect">
            <a:avLst>
              <a:gd name="adj" fmla="val 3158"/>
            </a:avLst>
          </a:prstGeom>
          <a:solidFill>
            <a:srgbClr val="EEF3FB"/>
          </a:solidFill>
          <a:ln/>
        </p:spPr>
      </p:sp>
      <p:sp>
        <p:nvSpPr>
          <p:cNvPr id="9" name="Text 7"/>
          <p:cNvSpPr/>
          <p:nvPr/>
        </p:nvSpPr>
        <p:spPr>
          <a:xfrm>
            <a:off x="548640" y="24963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1E2761"/>
                </a:solidFill>
                <a:latin typeface="Yu Gothic" pitchFamily="34" charset="0"/>
                <a:ea typeface="Yu Gothic" pitchFamily="34" charset="-122"/>
                <a:cs typeface="Yu Gothic" pitchFamily="34" charset="-120"/>
              </a:rPr>
              <a:t>守り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業務・機能・システム要件確定/RFP発出・Fit&amp;Gap・実機デモ検証・契約</a:t>
            </a:r>
            <a:endParaRPr lang="en-US" sz="900" dirty="0"/>
          </a:p>
        </p:txBody>
      </p:sp>
      <p:sp>
        <p:nvSpPr>
          <p:cNvPr id="10" name="Shape 8"/>
          <p:cNvSpPr/>
          <p:nvPr/>
        </p:nvSpPr>
        <p:spPr>
          <a:xfrm>
            <a:off x="457200" y="4251960"/>
            <a:ext cx="2148840" cy="1737360"/>
          </a:xfrm>
          <a:prstGeom prst="roundRect">
            <a:avLst>
              <a:gd name="adj" fmla="val 3158"/>
            </a:avLst>
          </a:prstGeom>
          <a:solidFill>
            <a:srgbClr val="FBECEE"/>
          </a:solidFill>
          <a:ln/>
        </p:spPr>
      </p:sp>
      <p:sp>
        <p:nvSpPr>
          <p:cNvPr id="11" name="Text 9"/>
          <p:cNvSpPr/>
          <p:nvPr/>
        </p:nvSpPr>
        <p:spPr>
          <a:xfrm>
            <a:off x="548640" y="43251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C8102E"/>
                </a:solidFill>
                <a:latin typeface="Yu Gothic" pitchFamily="34" charset="0"/>
                <a:ea typeface="Yu Gothic" pitchFamily="34" charset="-122"/>
                <a:cs typeface="Yu Gothic" pitchFamily="34" charset="-120"/>
              </a:rPr>
              <a:t>攻め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攻め要件を「段階導入ロードマップ」として格納し拡張性を評価軸に</a:t>
            </a:r>
            <a:endParaRPr lang="en-US" sz="900" dirty="0"/>
          </a:p>
        </p:txBody>
      </p:sp>
      <p:sp>
        <p:nvSpPr>
          <p:cNvPr id="12" name="Text 10"/>
          <p:cNvSpPr/>
          <p:nvPr/>
        </p:nvSpPr>
        <p:spPr>
          <a:xfrm>
            <a:off x="2738628" y="1234440"/>
            <a:ext cx="2148840" cy="548640"/>
          </a:xfrm>
          <a:prstGeom prst="roundRect">
            <a:avLst>
              <a:gd name="adj" fmla="val 8333"/>
            </a:avLst>
          </a:prstGeom>
          <a:solidFill>
            <a:srgbClr val="1E2761"/>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Phase 1</a:t>
            </a:r>
            <a:endParaRPr lang="en-US" sz="1050" dirty="0"/>
          </a:p>
          <a:p>
            <a:pPr algn="ctr" indent="0" marL="0">
              <a:buNone/>
            </a:pPr>
            <a:r>
              <a:rPr lang="en-US" sz="1050" b="1" dirty="0">
                <a:solidFill>
                  <a:srgbClr val="FFFFFF"/>
                </a:solidFill>
                <a:latin typeface="Yu Gothic" pitchFamily="34" charset="0"/>
                <a:ea typeface="Yu Gothic" pitchFamily="34" charset="-122"/>
                <a:cs typeface="Yu Gothic" pitchFamily="34" charset="-120"/>
              </a:rPr>
              <a:t>2027</a:t>
            </a:r>
            <a:endParaRPr lang="en-US" sz="1050" dirty="0"/>
          </a:p>
        </p:txBody>
      </p:sp>
      <p:sp>
        <p:nvSpPr>
          <p:cNvPr id="13" name="Text 11"/>
          <p:cNvSpPr/>
          <p:nvPr/>
        </p:nvSpPr>
        <p:spPr>
          <a:xfrm>
            <a:off x="2738628" y="1874520"/>
            <a:ext cx="2148840" cy="502920"/>
          </a:xfrm>
          <a:prstGeom prst="rect">
            <a:avLst/>
          </a:prstGeom>
          <a:noFill/>
          <a:ln/>
        </p:spPr>
        <p:txBody>
          <a:bodyPr wrap="square" lIns="0" tIns="0" rIns="0" bIns="0" rtlCol="0" anchor="ctr"/>
          <a:lstStyle/>
          <a:p>
            <a:pPr algn="ctr" indent="0" marL="0">
              <a:lnSpc>
                <a:spcPct val="105000"/>
              </a:lnSpc>
              <a:buNone/>
            </a:pPr>
            <a:r>
              <a:rPr lang="en-US" sz="1000" b="1" dirty="0">
                <a:solidFill>
                  <a:srgbClr val="2A2A33"/>
                </a:solidFill>
                <a:latin typeface="Yu Gothic" pitchFamily="34" charset="0"/>
                <a:ea typeface="Yu Gothic" pitchFamily="34" charset="-122"/>
                <a:cs typeface="Yu Gothic" pitchFamily="34" charset="-120"/>
              </a:rPr>
              <a:t>基盤構築(年内稼働完遂)</a:t>
            </a:r>
            <a:endParaRPr lang="en-US" sz="1000" dirty="0"/>
          </a:p>
        </p:txBody>
      </p:sp>
      <p:sp>
        <p:nvSpPr>
          <p:cNvPr id="14" name="Shape 12"/>
          <p:cNvSpPr/>
          <p:nvPr/>
        </p:nvSpPr>
        <p:spPr>
          <a:xfrm>
            <a:off x="2738628" y="2423160"/>
            <a:ext cx="2148840" cy="1737360"/>
          </a:xfrm>
          <a:prstGeom prst="roundRect">
            <a:avLst>
              <a:gd name="adj" fmla="val 3158"/>
            </a:avLst>
          </a:prstGeom>
          <a:solidFill>
            <a:srgbClr val="EEF3FB"/>
          </a:solidFill>
          <a:ln/>
        </p:spPr>
      </p:sp>
      <p:sp>
        <p:nvSpPr>
          <p:cNvPr id="15" name="Text 13"/>
          <p:cNvSpPr/>
          <p:nvPr/>
        </p:nvSpPr>
        <p:spPr>
          <a:xfrm>
            <a:off x="2830068" y="24963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1E2761"/>
                </a:solidFill>
                <a:latin typeface="Yu Gothic" pitchFamily="34" charset="0"/>
                <a:ea typeface="Yu Gothic" pitchFamily="34" charset="-122"/>
                <a:cs typeface="Yu Gothic" pitchFamily="34" charset="-120"/>
              </a:rPr>
              <a:t>守り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環境構築・マスタ・WF/権限・係数プリセット/テスト・データ移行・教育</a:t>
            </a:r>
            <a:endParaRPr lang="en-US" sz="900" dirty="0"/>
          </a:p>
        </p:txBody>
      </p:sp>
      <p:sp>
        <p:nvSpPr>
          <p:cNvPr id="16" name="Shape 14"/>
          <p:cNvSpPr/>
          <p:nvPr/>
        </p:nvSpPr>
        <p:spPr>
          <a:xfrm>
            <a:off x="2738628" y="4251960"/>
            <a:ext cx="2148840" cy="1737360"/>
          </a:xfrm>
          <a:prstGeom prst="roundRect">
            <a:avLst>
              <a:gd name="adj" fmla="val 3158"/>
            </a:avLst>
          </a:prstGeom>
          <a:solidFill>
            <a:srgbClr val="FBECEE"/>
          </a:solidFill>
          <a:ln/>
        </p:spPr>
      </p:sp>
      <p:sp>
        <p:nvSpPr>
          <p:cNvPr id="17" name="Text 15"/>
          <p:cNvSpPr/>
          <p:nvPr/>
        </p:nvSpPr>
        <p:spPr>
          <a:xfrm>
            <a:off x="2830068" y="43251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C8102E"/>
                </a:solidFill>
                <a:latin typeface="Yu Gothic" pitchFamily="34" charset="0"/>
                <a:ea typeface="Yu Gothic" pitchFamily="34" charset="-122"/>
                <a:cs typeface="Yu Gothic" pitchFamily="34" charset="-120"/>
              </a:rPr>
              <a:t>攻め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ダッシュボード・KPIツリー先行実装/使用時(Cat11)算定を先行</a:t>
            </a:r>
            <a:endParaRPr lang="en-US" sz="900" dirty="0"/>
          </a:p>
        </p:txBody>
      </p:sp>
      <p:sp>
        <p:nvSpPr>
          <p:cNvPr id="18" name="Text 16"/>
          <p:cNvSpPr/>
          <p:nvPr/>
        </p:nvSpPr>
        <p:spPr>
          <a:xfrm>
            <a:off x="5020056" y="1234440"/>
            <a:ext cx="2148840" cy="548640"/>
          </a:xfrm>
          <a:prstGeom prst="roundRect">
            <a:avLst>
              <a:gd name="adj" fmla="val 8333"/>
            </a:avLst>
          </a:prstGeom>
          <a:solidFill>
            <a:srgbClr val="1E2761"/>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Phase 2</a:t>
            </a:r>
            <a:endParaRPr lang="en-US" sz="1050" dirty="0"/>
          </a:p>
          <a:p>
            <a:pPr algn="ctr" indent="0" marL="0">
              <a:buNone/>
            </a:pPr>
            <a:r>
              <a:rPr lang="en-US" sz="1050" b="1" dirty="0">
                <a:solidFill>
                  <a:srgbClr val="FFFFFF"/>
                </a:solidFill>
                <a:latin typeface="Yu Gothic" pitchFamily="34" charset="0"/>
                <a:ea typeface="Yu Gothic" pitchFamily="34" charset="-122"/>
                <a:cs typeface="Yu Gothic" pitchFamily="34" charset="-120"/>
              </a:rPr>
              <a:t>2028</a:t>
            </a:r>
            <a:endParaRPr lang="en-US" sz="1050" dirty="0"/>
          </a:p>
        </p:txBody>
      </p:sp>
      <p:sp>
        <p:nvSpPr>
          <p:cNvPr id="19" name="Text 17"/>
          <p:cNvSpPr/>
          <p:nvPr/>
        </p:nvSpPr>
        <p:spPr>
          <a:xfrm>
            <a:off x="5020056" y="1874520"/>
            <a:ext cx="2148840" cy="502920"/>
          </a:xfrm>
          <a:prstGeom prst="rect">
            <a:avLst/>
          </a:prstGeom>
          <a:noFill/>
          <a:ln/>
        </p:spPr>
        <p:txBody>
          <a:bodyPr wrap="square" lIns="0" tIns="0" rIns="0" bIns="0" rtlCol="0" anchor="ctr"/>
          <a:lstStyle/>
          <a:p>
            <a:pPr algn="ctr" indent="0" marL="0">
              <a:lnSpc>
                <a:spcPct val="105000"/>
              </a:lnSpc>
              <a:buNone/>
            </a:pPr>
            <a:r>
              <a:rPr lang="en-US" sz="1000" b="1" dirty="0">
                <a:solidFill>
                  <a:srgbClr val="2A2A33"/>
                </a:solidFill>
                <a:latin typeface="Yu Gothic" pitchFamily="34" charset="0"/>
                <a:ea typeface="Yu Gothic" pitchFamily="34" charset="-122"/>
                <a:cs typeface="Yu Gothic" pitchFamily="34" charset="-120"/>
              </a:rPr>
              <a:t>データ本番・保証準備</a:t>
            </a:r>
            <a:endParaRPr lang="en-US" sz="1000" dirty="0"/>
          </a:p>
        </p:txBody>
      </p:sp>
      <p:sp>
        <p:nvSpPr>
          <p:cNvPr id="20" name="Shape 18"/>
          <p:cNvSpPr/>
          <p:nvPr/>
        </p:nvSpPr>
        <p:spPr>
          <a:xfrm>
            <a:off x="5020056" y="2423160"/>
            <a:ext cx="2148840" cy="1737360"/>
          </a:xfrm>
          <a:prstGeom prst="roundRect">
            <a:avLst>
              <a:gd name="adj" fmla="val 3158"/>
            </a:avLst>
          </a:prstGeom>
          <a:solidFill>
            <a:srgbClr val="EEF3FB"/>
          </a:solidFill>
          <a:ln/>
        </p:spPr>
      </p:sp>
      <p:sp>
        <p:nvSpPr>
          <p:cNvPr id="21" name="Text 19"/>
          <p:cNvSpPr/>
          <p:nvPr/>
        </p:nvSpPr>
        <p:spPr>
          <a:xfrm>
            <a:off x="5111496" y="24963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1E2761"/>
                </a:solidFill>
                <a:latin typeface="Yu Gothic" pitchFamily="34" charset="0"/>
                <a:ea typeface="Yu Gothic" pitchFamily="34" charset="-122"/>
                <a:cs typeface="Yu Gothic" pitchFamily="34" charset="-120"/>
              </a:rPr>
              <a:t>守り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1〜12月実データ収集・月次運用/監査法人レビュー・有報リハーサル</a:t>
            </a:r>
            <a:endParaRPr lang="en-US" sz="900" dirty="0"/>
          </a:p>
        </p:txBody>
      </p:sp>
      <p:sp>
        <p:nvSpPr>
          <p:cNvPr id="22" name="Shape 20"/>
          <p:cNvSpPr/>
          <p:nvPr/>
        </p:nvSpPr>
        <p:spPr>
          <a:xfrm>
            <a:off x="5020056" y="4251960"/>
            <a:ext cx="2148840" cy="1737360"/>
          </a:xfrm>
          <a:prstGeom prst="roundRect">
            <a:avLst>
              <a:gd name="adj" fmla="val 3158"/>
            </a:avLst>
          </a:prstGeom>
          <a:solidFill>
            <a:srgbClr val="FBECEE"/>
          </a:solidFill>
          <a:ln/>
        </p:spPr>
      </p:sp>
      <p:sp>
        <p:nvSpPr>
          <p:cNvPr id="23" name="Text 21"/>
          <p:cNvSpPr/>
          <p:nvPr/>
        </p:nvSpPr>
        <p:spPr>
          <a:xfrm>
            <a:off x="5111496" y="43251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C8102E"/>
                </a:solidFill>
                <a:latin typeface="Yu Gothic" pitchFamily="34" charset="0"/>
                <a:ea typeface="Yu Gothic" pitchFamily="34" charset="-122"/>
                <a:cs typeface="Yu Gothic" pitchFamily="34" charset="-120"/>
              </a:rPr>
              <a:t>攻め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AI予測・シナリオ試算(SSBJ戦略開示と一体)/CFP即応・ヘルス/グリーン売上管理</a:t>
            </a:r>
            <a:endParaRPr lang="en-US" sz="900" dirty="0"/>
          </a:p>
        </p:txBody>
      </p:sp>
      <p:sp>
        <p:nvSpPr>
          <p:cNvPr id="24" name="Text 22"/>
          <p:cNvSpPr/>
          <p:nvPr/>
        </p:nvSpPr>
        <p:spPr>
          <a:xfrm>
            <a:off x="7301484" y="1234440"/>
            <a:ext cx="2148840" cy="548640"/>
          </a:xfrm>
          <a:prstGeom prst="roundRect">
            <a:avLst>
              <a:gd name="adj" fmla="val 8333"/>
            </a:avLst>
          </a:prstGeom>
          <a:solidFill>
            <a:srgbClr val="C8102E"/>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Phase 3</a:t>
            </a:r>
            <a:endParaRPr lang="en-US" sz="1050" dirty="0"/>
          </a:p>
          <a:p>
            <a:pPr algn="ctr" indent="0" marL="0">
              <a:buNone/>
            </a:pPr>
            <a:r>
              <a:rPr lang="en-US" sz="1050" b="1" dirty="0">
                <a:solidFill>
                  <a:srgbClr val="FFFFFF"/>
                </a:solidFill>
                <a:latin typeface="Yu Gothic" pitchFamily="34" charset="0"/>
                <a:ea typeface="Yu Gothic" pitchFamily="34" charset="-122"/>
                <a:cs typeface="Yu Gothic" pitchFamily="34" charset="-120"/>
              </a:rPr>
              <a:t>2029</a:t>
            </a:r>
            <a:endParaRPr lang="en-US" sz="1050" dirty="0"/>
          </a:p>
        </p:txBody>
      </p:sp>
      <p:sp>
        <p:nvSpPr>
          <p:cNvPr id="25" name="Text 23"/>
          <p:cNvSpPr/>
          <p:nvPr/>
        </p:nvSpPr>
        <p:spPr>
          <a:xfrm>
            <a:off x="7301484" y="1874520"/>
            <a:ext cx="2148840" cy="502920"/>
          </a:xfrm>
          <a:prstGeom prst="rect">
            <a:avLst/>
          </a:prstGeom>
          <a:noFill/>
          <a:ln/>
        </p:spPr>
        <p:txBody>
          <a:bodyPr wrap="square" lIns="0" tIns="0" rIns="0" bIns="0" rtlCol="0" anchor="ctr"/>
          <a:lstStyle/>
          <a:p>
            <a:pPr algn="ctr" indent="0" marL="0">
              <a:lnSpc>
                <a:spcPct val="105000"/>
              </a:lnSpc>
              <a:buNone/>
            </a:pPr>
            <a:r>
              <a:rPr lang="en-US" sz="1000" b="1" dirty="0">
                <a:solidFill>
                  <a:srgbClr val="2A2A33"/>
                </a:solidFill>
                <a:latin typeface="Yu Gothic" pitchFamily="34" charset="0"/>
                <a:ea typeface="Yu Gothic" pitchFamily="34" charset="-122"/>
                <a:cs typeface="Yu Gothic" pitchFamily="34" charset="-120"/>
              </a:rPr>
              <a:t>法定開示・攻め本格化</a:t>
            </a:r>
            <a:endParaRPr lang="en-US" sz="1000" dirty="0"/>
          </a:p>
        </p:txBody>
      </p:sp>
      <p:sp>
        <p:nvSpPr>
          <p:cNvPr id="26" name="Shape 24"/>
          <p:cNvSpPr/>
          <p:nvPr/>
        </p:nvSpPr>
        <p:spPr>
          <a:xfrm>
            <a:off x="7301484" y="2423160"/>
            <a:ext cx="2148840" cy="1737360"/>
          </a:xfrm>
          <a:prstGeom prst="roundRect">
            <a:avLst>
              <a:gd name="adj" fmla="val 3158"/>
            </a:avLst>
          </a:prstGeom>
          <a:solidFill>
            <a:srgbClr val="EEF3FB"/>
          </a:solidFill>
          <a:ln/>
        </p:spPr>
      </p:sp>
      <p:sp>
        <p:nvSpPr>
          <p:cNvPr id="27" name="Text 25"/>
          <p:cNvSpPr/>
          <p:nvPr/>
        </p:nvSpPr>
        <p:spPr>
          <a:xfrm>
            <a:off x="7392924" y="24963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1E2761"/>
                </a:solidFill>
                <a:latin typeface="Yu Gothic" pitchFamily="34" charset="0"/>
                <a:ea typeface="Yu Gothic" pitchFamily="34" charset="-122"/>
                <a:cs typeface="Yu Gothic" pitchFamily="34" charset="-120"/>
              </a:rPr>
              <a:t>守り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2029年3月期 有報同時開示(先行対応)/指摘対応の定常化</a:t>
            </a:r>
            <a:endParaRPr lang="en-US" sz="900" dirty="0"/>
          </a:p>
        </p:txBody>
      </p:sp>
      <p:sp>
        <p:nvSpPr>
          <p:cNvPr id="28" name="Shape 26"/>
          <p:cNvSpPr/>
          <p:nvPr/>
        </p:nvSpPr>
        <p:spPr>
          <a:xfrm>
            <a:off x="7301484" y="4251960"/>
            <a:ext cx="2148840" cy="1737360"/>
          </a:xfrm>
          <a:prstGeom prst="roundRect">
            <a:avLst>
              <a:gd name="adj" fmla="val 3158"/>
            </a:avLst>
          </a:prstGeom>
          <a:solidFill>
            <a:srgbClr val="FBECEE"/>
          </a:solidFill>
          <a:ln/>
        </p:spPr>
      </p:sp>
      <p:sp>
        <p:nvSpPr>
          <p:cNvPr id="29" name="Text 27"/>
          <p:cNvSpPr/>
          <p:nvPr/>
        </p:nvSpPr>
        <p:spPr>
          <a:xfrm>
            <a:off x="7392924" y="43251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C8102E"/>
                </a:solidFill>
                <a:latin typeface="Yu Gothic" pitchFamily="34" charset="0"/>
                <a:ea typeface="Yu Gothic" pitchFamily="34" charset="-122"/>
                <a:cs typeface="Yu Gothic" pitchFamily="34" charset="-120"/>
              </a:rPr>
              <a:t>攻め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インパクト貨幣換算の開示/柳モデル型分析のIR活用/報酬連動の設計</a:t>
            </a:r>
            <a:endParaRPr lang="en-US" sz="900" dirty="0"/>
          </a:p>
        </p:txBody>
      </p:sp>
      <p:sp>
        <p:nvSpPr>
          <p:cNvPr id="30" name="Text 28"/>
          <p:cNvSpPr/>
          <p:nvPr/>
        </p:nvSpPr>
        <p:spPr>
          <a:xfrm>
            <a:off x="9582912" y="1234440"/>
            <a:ext cx="2148840" cy="548640"/>
          </a:xfrm>
          <a:prstGeom prst="roundRect">
            <a:avLst>
              <a:gd name="adj" fmla="val 8333"/>
            </a:avLst>
          </a:prstGeom>
          <a:solidFill>
            <a:srgbClr val="C8102E"/>
          </a:solidFill>
          <a:ln/>
        </p:spPr>
        <p:txBody>
          <a:bodyPr wrap="square" lIns="381" tIns="381" rIns="381" bIns="381" rtlCol="0" anchor="ctr"/>
          <a:lstStyle/>
          <a:p>
            <a:pPr algn="ctr" indent="0" marL="0">
              <a:buNone/>
            </a:pPr>
            <a:r>
              <a:rPr lang="en-US" sz="1050" b="1" dirty="0">
                <a:solidFill>
                  <a:srgbClr val="FFFFFF"/>
                </a:solidFill>
                <a:latin typeface="Yu Gothic" pitchFamily="34" charset="0"/>
                <a:ea typeface="Yu Gothic" pitchFamily="34" charset="-122"/>
                <a:cs typeface="Yu Gothic" pitchFamily="34" charset="-120"/>
              </a:rPr>
              <a:t>Phase 4</a:t>
            </a:r>
            <a:endParaRPr lang="en-US" sz="1050" dirty="0"/>
          </a:p>
          <a:p>
            <a:pPr algn="ctr" indent="0" marL="0">
              <a:buNone/>
            </a:pPr>
            <a:r>
              <a:rPr lang="en-US" sz="1050" b="1" dirty="0">
                <a:solidFill>
                  <a:srgbClr val="FFFFFF"/>
                </a:solidFill>
                <a:latin typeface="Yu Gothic" pitchFamily="34" charset="0"/>
                <a:ea typeface="Yu Gothic" pitchFamily="34" charset="-122"/>
                <a:cs typeface="Yu Gothic" pitchFamily="34" charset="-120"/>
              </a:rPr>
              <a:t>2030〜</a:t>
            </a:r>
            <a:endParaRPr lang="en-US" sz="1050" dirty="0"/>
          </a:p>
        </p:txBody>
      </p:sp>
      <p:sp>
        <p:nvSpPr>
          <p:cNvPr id="31" name="Text 29"/>
          <p:cNvSpPr/>
          <p:nvPr/>
        </p:nvSpPr>
        <p:spPr>
          <a:xfrm>
            <a:off x="9582912" y="1874520"/>
            <a:ext cx="2148840" cy="502920"/>
          </a:xfrm>
          <a:prstGeom prst="rect">
            <a:avLst/>
          </a:prstGeom>
          <a:noFill/>
          <a:ln/>
        </p:spPr>
        <p:txBody>
          <a:bodyPr wrap="square" lIns="0" tIns="0" rIns="0" bIns="0" rtlCol="0" anchor="ctr"/>
          <a:lstStyle/>
          <a:p>
            <a:pPr algn="ctr" indent="0" marL="0">
              <a:lnSpc>
                <a:spcPct val="105000"/>
              </a:lnSpc>
              <a:buNone/>
            </a:pPr>
            <a:r>
              <a:rPr lang="en-US" sz="1000" b="1" dirty="0">
                <a:solidFill>
                  <a:srgbClr val="2A2A33"/>
                </a:solidFill>
                <a:latin typeface="Yu Gothic" pitchFamily="34" charset="0"/>
                <a:ea typeface="Yu Gothic" pitchFamily="34" charset="-122"/>
                <a:cs typeface="Yu Gothic" pitchFamily="34" charset="-120"/>
              </a:rPr>
              <a:t>価値創造モデル定着</a:t>
            </a:r>
            <a:endParaRPr lang="en-US" sz="1000" dirty="0"/>
          </a:p>
        </p:txBody>
      </p:sp>
      <p:sp>
        <p:nvSpPr>
          <p:cNvPr id="32" name="Shape 30"/>
          <p:cNvSpPr/>
          <p:nvPr/>
        </p:nvSpPr>
        <p:spPr>
          <a:xfrm>
            <a:off x="9582912" y="2423160"/>
            <a:ext cx="2148840" cy="1737360"/>
          </a:xfrm>
          <a:prstGeom prst="roundRect">
            <a:avLst>
              <a:gd name="adj" fmla="val 3158"/>
            </a:avLst>
          </a:prstGeom>
          <a:solidFill>
            <a:srgbClr val="EEF3FB"/>
          </a:solidFill>
          <a:ln/>
        </p:spPr>
      </p:sp>
      <p:sp>
        <p:nvSpPr>
          <p:cNvPr id="33" name="Text 31"/>
          <p:cNvSpPr/>
          <p:nvPr/>
        </p:nvSpPr>
        <p:spPr>
          <a:xfrm>
            <a:off x="9674352" y="24963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1E2761"/>
                </a:solidFill>
                <a:latin typeface="Yu Gothic" pitchFamily="34" charset="0"/>
                <a:ea typeface="Yu Gothic" pitchFamily="34" charset="-122"/>
                <a:cs typeface="Yu Gothic" pitchFamily="34" charset="-120"/>
              </a:rPr>
              <a:t>守り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義務化本番の安定運用/保証範囲の拡大(合理的保証を見据え)</a:t>
            </a:r>
            <a:endParaRPr lang="en-US" sz="900" dirty="0"/>
          </a:p>
        </p:txBody>
      </p:sp>
      <p:sp>
        <p:nvSpPr>
          <p:cNvPr id="34" name="Shape 32"/>
          <p:cNvSpPr/>
          <p:nvPr/>
        </p:nvSpPr>
        <p:spPr>
          <a:xfrm>
            <a:off x="9582912" y="4251960"/>
            <a:ext cx="2148840" cy="1737360"/>
          </a:xfrm>
          <a:prstGeom prst="roundRect">
            <a:avLst>
              <a:gd name="adj" fmla="val 3158"/>
            </a:avLst>
          </a:prstGeom>
          <a:solidFill>
            <a:srgbClr val="FBECEE"/>
          </a:solidFill>
          <a:ln/>
        </p:spPr>
      </p:sp>
      <p:sp>
        <p:nvSpPr>
          <p:cNvPr id="35" name="Text 33"/>
          <p:cNvSpPr/>
          <p:nvPr/>
        </p:nvSpPr>
        <p:spPr>
          <a:xfrm>
            <a:off x="9674352" y="4325112"/>
            <a:ext cx="1965960" cy="1600200"/>
          </a:xfrm>
          <a:prstGeom prst="rect">
            <a:avLst/>
          </a:prstGeom>
          <a:noFill/>
          <a:ln/>
        </p:spPr>
        <p:txBody>
          <a:bodyPr wrap="square" lIns="0" tIns="0" rIns="0" bIns="0" rtlCol="0" anchor="t"/>
          <a:lstStyle/>
          <a:p>
            <a:pPr indent="0" marL="0">
              <a:lnSpc>
                <a:spcPct val="112000"/>
              </a:lnSpc>
              <a:buNone/>
            </a:pPr>
            <a:r>
              <a:rPr lang="en-US" sz="900" b="1" dirty="0">
                <a:solidFill>
                  <a:srgbClr val="C8102E"/>
                </a:solidFill>
                <a:latin typeface="Yu Gothic" pitchFamily="34" charset="0"/>
                <a:ea typeface="Yu Gothic" pitchFamily="34" charset="-122"/>
                <a:cs typeface="Yu Gothic" pitchFamily="34" charset="-120"/>
              </a:rPr>
              <a:t>攻め
</a:t>
            </a:r>
            <a:pPr indent="0" marL="0">
              <a:lnSpc>
                <a:spcPct val="112000"/>
              </a:lnSpc>
              <a:buNone/>
            </a:pPr>
            <a:r>
              <a:rPr lang="en-US" sz="850" dirty="0">
                <a:solidFill>
                  <a:srgbClr val="2A2A33"/>
                </a:solidFill>
                <a:latin typeface="Yu Gothic" pitchFamily="34" charset="0"/>
                <a:ea typeface="Yu Gothic" pitchFamily="34" charset="-122"/>
                <a:cs typeface="Yu Gothic" pitchFamily="34" charset="-120"/>
              </a:rPr>
              <a:t>報酬連動の本格運用/インパクト会計の統合報告中核化/B2B2Cヘルスケア展開</a:t>
            </a:r>
            <a:endParaRPr lang="en-US" sz="900" dirty="0"/>
          </a:p>
        </p:txBody>
      </p:sp>
      <p:sp>
        <p:nvSpPr>
          <p:cNvPr id="36" name="Shape 34"/>
          <p:cNvSpPr/>
          <p:nvPr/>
        </p:nvSpPr>
        <p:spPr>
          <a:xfrm>
            <a:off x="457200" y="6126480"/>
            <a:ext cx="11274552" cy="502920"/>
          </a:xfrm>
          <a:prstGeom prst="roundRect">
            <a:avLst>
              <a:gd name="adj" fmla="val 9091"/>
            </a:avLst>
          </a:prstGeom>
          <a:solidFill>
            <a:srgbClr val="F4F5F8"/>
          </a:solidFill>
          <a:ln/>
        </p:spPr>
      </p:sp>
      <p:sp>
        <p:nvSpPr>
          <p:cNvPr id="37" name="Text 35"/>
          <p:cNvSpPr/>
          <p:nvPr/>
        </p:nvSpPr>
        <p:spPr>
          <a:xfrm>
            <a:off x="621792" y="6163056"/>
            <a:ext cx="10972800" cy="429768"/>
          </a:xfrm>
          <a:prstGeom prst="rect">
            <a:avLst/>
          </a:prstGeom>
          <a:noFill/>
          <a:ln/>
        </p:spPr>
        <p:txBody>
          <a:bodyPr wrap="square" lIns="0" tIns="0" rIns="0" bIns="0" rtlCol="0" anchor="ctr"/>
          <a:lstStyle/>
          <a:p>
            <a:pPr indent="0" marL="0">
              <a:buNone/>
            </a:pPr>
            <a:r>
              <a:rPr lang="en-US" sz="950" dirty="0">
                <a:solidFill>
                  <a:srgbClr val="2A2A33"/>
                </a:solidFill>
                <a:latin typeface="Yu Gothic" pitchFamily="34" charset="0"/>
                <a:ea typeface="Yu Gothic" pitchFamily="34" charset="-122"/>
                <a:cs typeface="Yu Gothic" pitchFamily="34" charset="-120"/>
              </a:rPr>
              <a:t>並行推進の原則: ①不変(組織マスタ・統制骨格・証憑ルール)を先に確定 ②可変(KPI定義・換算単価・開示項目)は設定変更可能なマスタで実装 ③四半期ごとに戦略側とシステム側のFit&amp;Gapを同期</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384048" cy="384048"/>
          </a:xfrm>
          <a:prstGeom prst="roundRect">
            <a:avLst>
              <a:gd name="adj" fmla="val 14286"/>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15</a:t>
            </a:r>
            <a:endParaRPr lang="en-US" sz="1400" dirty="0"/>
          </a:p>
        </p:txBody>
      </p:sp>
      <p:sp>
        <p:nvSpPr>
          <p:cNvPr id="3" name="Text 1"/>
          <p:cNvSpPr/>
          <p:nvPr/>
        </p:nvSpPr>
        <p:spPr>
          <a:xfrm>
            <a:off x="960120" y="274320"/>
            <a:ext cx="10698480" cy="420624"/>
          </a:xfrm>
          <a:prstGeom prst="rect">
            <a:avLst/>
          </a:prstGeom>
          <a:noFill/>
          <a:ln/>
        </p:spPr>
        <p:txBody>
          <a:bodyPr wrap="square" lIns="0" tIns="0" rIns="0" bIns="0" rtlCol="0" anchor="ctr"/>
          <a:lstStyle/>
          <a:p>
            <a:pPr algn="l" indent="0" marL="0">
              <a:buNone/>
            </a:pPr>
            <a:r>
              <a:rPr lang="en-US" sz="1900" b="1" dirty="0">
                <a:solidFill>
                  <a:srgbClr val="1E2761"/>
                </a:solidFill>
                <a:latin typeface="Yu Gothic" pitchFamily="34" charset="0"/>
                <a:ea typeface="Yu Gothic" pitchFamily="34" charset="-122"/>
                <a:cs typeface="Yu Gothic" pitchFamily="34" charset="-120"/>
              </a:rPr>
              <a:t>RFPへの反映とリスク対応 ― 次のアクション</a:t>
            </a:r>
            <a:endParaRPr lang="en-US" sz="1900" dirty="0"/>
          </a:p>
        </p:txBody>
      </p:sp>
      <p:sp>
        <p:nvSpPr>
          <p:cNvPr id="4" name="Text 2"/>
          <p:cNvSpPr/>
          <p:nvPr/>
        </p:nvSpPr>
        <p:spPr>
          <a:xfrm>
            <a:off x="960120" y="713232"/>
            <a:ext cx="10698480" cy="310896"/>
          </a:xfrm>
          <a:prstGeom prst="rect">
            <a:avLst/>
          </a:prstGeom>
          <a:noFill/>
          <a:ln/>
        </p:spPr>
        <p:txBody>
          <a:bodyPr wrap="square" lIns="0" tIns="0" rIns="0" bIns="0" rtlCol="0" anchor="ctr"/>
          <a:lstStyle/>
          <a:p>
            <a:pPr algn="l" indent="0" marL="0">
              <a:buNone/>
            </a:pPr>
            <a:r>
              <a:rPr lang="en-US" sz="1150" dirty="0">
                <a:solidFill>
                  <a:srgbClr val="5A5F6B"/>
                </a:solidFill>
                <a:latin typeface="Yu Gothic" pitchFamily="34" charset="0"/>
                <a:ea typeface="Yu Gothic" pitchFamily="34" charset="-122"/>
                <a:cs typeface="Yu Gothic" pitchFamily="34" charset="-120"/>
              </a:rPr>
              <a:t>本要求整理をRFP(機能要件回答書・非機能要件書・段階導入ロードマップ)へ格納し、実機検証を伴う客観評価でベンダーを選定する</a:t>
            </a:r>
            <a:endParaRPr lang="en-US" sz="1150" dirty="0"/>
          </a:p>
        </p:txBody>
      </p:sp>
      <p:sp>
        <p:nvSpPr>
          <p:cNvPr id="5" name="Text 3"/>
          <p:cNvSpPr/>
          <p:nvPr/>
        </p:nvSpPr>
        <p:spPr>
          <a:xfrm>
            <a:off x="11750040" y="6510528"/>
            <a:ext cx="320040" cy="274320"/>
          </a:xfrm>
          <a:prstGeom prst="rect">
            <a:avLst/>
          </a:prstGeom>
          <a:noFill/>
          <a:ln/>
        </p:spPr>
        <p:txBody>
          <a:bodyPr wrap="square" lIns="0" tIns="0" rIns="0" bIns="0" rtlCol="0" anchor="ctr"/>
          <a:lstStyle/>
          <a:p>
            <a:pPr algn="r" indent="0" marL="0">
              <a:buNone/>
            </a:pPr>
            <a:r>
              <a:rPr lang="en-US" sz="900" dirty="0">
                <a:solidFill>
                  <a:srgbClr val="8A93A6"/>
                </a:solidFill>
                <a:latin typeface="Yu Gothic" pitchFamily="34" charset="0"/>
                <a:ea typeface="Yu Gothic" pitchFamily="34" charset="-122"/>
                <a:cs typeface="Yu Gothic" pitchFamily="34" charset="-120"/>
              </a:rPr>
              <a:t>15</a:t>
            </a:r>
            <a:endParaRPr lang="en-US" sz="900" dirty="0"/>
          </a:p>
        </p:txBody>
      </p:sp>
      <p:sp>
        <p:nvSpPr>
          <p:cNvPr id="6" name="Text 4"/>
          <p:cNvSpPr/>
          <p:nvPr/>
        </p:nvSpPr>
        <p:spPr>
          <a:xfrm>
            <a:off x="457200" y="1207008"/>
            <a:ext cx="5486400" cy="411480"/>
          </a:xfrm>
          <a:prstGeom prst="roundRect">
            <a:avLst>
              <a:gd name="adj" fmla="val 11111"/>
            </a:avLst>
          </a:prstGeom>
          <a:solidFill>
            <a:srgbClr val="1E2761"/>
          </a:solidFill>
          <a:ln/>
        </p:spPr>
        <p:txBody>
          <a:bodyPr wrap="square" lIns="381" tIns="381" rIns="381" bIns="381"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RFP・ベンダー評価への反映</a:t>
            </a:r>
            <a:endParaRPr lang="en-US" sz="1150" dirty="0"/>
          </a:p>
        </p:txBody>
      </p:sp>
      <p:sp>
        <p:nvSpPr>
          <p:cNvPr id="7" name="Text 5"/>
          <p:cNvSpPr/>
          <p:nvPr/>
        </p:nvSpPr>
        <p:spPr>
          <a:xfrm>
            <a:off x="457200" y="1737360"/>
            <a:ext cx="5486400" cy="2743200"/>
          </a:xfrm>
          <a:prstGeom prst="rect">
            <a:avLst/>
          </a:prstGeom>
          <a:noFill/>
          <a:ln/>
        </p:spPr>
        <p:txBody>
          <a:bodyPr wrap="square" lIns="508" tIns="508" rIns="508" bIns="508" rtlCol="0" anchor="t"/>
          <a:lstStyle/>
          <a:p>
            <a:pPr indent="0" marL="0">
              <a:lnSpc>
                <a:spcPct val="145000"/>
              </a:lnSpc>
              <a:buNone/>
            </a:pPr>
            <a:r>
              <a:rPr lang="en-US" sz="960" b="1" dirty="0">
                <a:solidFill>
                  <a:srgbClr val="1E2761"/>
                </a:solidFill>
                <a:latin typeface="Yu Gothic" pitchFamily="34" charset="0"/>
                <a:ea typeface="Yu Gothic" pitchFamily="34" charset="-122"/>
                <a:cs typeface="Yu Gothic" pitchFamily="34" charset="-120"/>
              </a:rPr>
              <a:t>要件の格納: </a:t>
            </a:r>
            <a:pPr indent="0" marL="0">
              <a:lnSpc>
                <a:spcPct val="145000"/>
              </a:lnSpc>
              <a:buNone/>
            </a:pPr>
            <a:r>
              <a:rPr lang="en-US" sz="960" dirty="0">
                <a:solidFill>
                  <a:srgbClr val="2A2A33"/>
                </a:solidFill>
                <a:latin typeface="Yu Gothic" pitchFamily="34" charset="0"/>
                <a:ea typeface="Yu Gothic" pitchFamily="34" charset="-122"/>
                <a:cs typeface="Yu Gothic" pitchFamily="34" charset="-120"/>
              </a:rPr>
              <a:t>FR-D=機能要件回答書(MUST/WANT区分)、FR-O=段階導入ロードマップへの対応方針、SR=非機能要件書
</a:t>
            </a:r>
            <a:pPr indent="0" marL="0">
              <a:lnSpc>
                <a:spcPct val="145000"/>
              </a:lnSpc>
              <a:buNone/>
            </a:pPr>
            <a:r>
              <a:rPr lang="en-US" sz="960" b="1" dirty="0">
                <a:solidFill>
                  <a:srgbClr val="1E2761"/>
                </a:solidFill>
                <a:latin typeface="Yu Gothic" pitchFamily="34" charset="0"/>
                <a:ea typeface="Yu Gothic" pitchFamily="34" charset="-122"/>
                <a:cs typeface="Yu Gothic" pitchFamily="34" charset="-120"/>
              </a:rPr>
              <a:t>評価軸: </a:t>
            </a:r>
            <a:pPr indent="0" marL="0">
              <a:lnSpc>
                <a:spcPct val="145000"/>
              </a:lnSpc>
              <a:buNone/>
            </a:pPr>
            <a:r>
              <a:rPr lang="en-US" sz="960" dirty="0">
                <a:solidFill>
                  <a:srgbClr val="2A2A33"/>
                </a:solidFill>
                <a:latin typeface="Yu Gothic" pitchFamily="34" charset="0"/>
                <a:ea typeface="Yu Gothic" pitchFamily="34" charset="-122"/>
                <a:cs typeface="Yu Gothic" pitchFamily="34" charset="-120"/>
              </a:rPr>
              <a:t>①守り要件の標準機能カバー率 ②法改正追従ロードマップと実績 ③監査法人対応(保証取得支援)実績 ④攻め対応力(CFP・シミュレーション・BI接続・エクスポート自由度) ⑤グローバル対応 ⑥総保有コスト(追加費用構造) ⑦導入・定着支援
</a:t>
            </a:r>
            <a:pPr indent="0" marL="0">
              <a:lnSpc>
                <a:spcPct val="145000"/>
              </a:lnSpc>
              <a:buNone/>
            </a:pPr>
            <a:r>
              <a:rPr lang="en-US" sz="960" b="1" dirty="0">
                <a:solidFill>
                  <a:srgbClr val="1E2761"/>
                </a:solidFill>
                <a:latin typeface="Yu Gothic" pitchFamily="34" charset="0"/>
                <a:ea typeface="Yu Gothic" pitchFamily="34" charset="-122"/>
                <a:cs typeface="Yu Gothic" pitchFamily="34" charset="-120"/>
              </a:rPr>
              <a:t>契約反映: </a:t>
            </a:r>
            <a:pPr indent="0" marL="0">
              <a:lnSpc>
                <a:spcPct val="145000"/>
              </a:lnSpc>
              <a:buNone/>
            </a:pPr>
            <a:r>
              <a:rPr lang="en-US" sz="960" dirty="0">
                <a:solidFill>
                  <a:srgbClr val="2A2A33"/>
                </a:solidFill>
                <a:latin typeface="Yu Gothic" pitchFamily="34" charset="0"/>
                <a:ea typeface="Yu Gothic" pitchFamily="34" charset="-122"/>
                <a:cs typeface="Yu Gothic" pitchFamily="34" charset="-120"/>
              </a:rPr>
              <a:t>Fit&amp;Gap結果・データエクスポート権・AI学習への自社データ不使用・SLA・保存年限を契約書へ明記</a:t>
            </a:r>
            <a:endParaRPr lang="en-US" sz="960" dirty="0"/>
          </a:p>
        </p:txBody>
      </p:sp>
      <p:sp>
        <p:nvSpPr>
          <p:cNvPr id="8" name="Text 6"/>
          <p:cNvSpPr/>
          <p:nvPr/>
        </p:nvSpPr>
        <p:spPr>
          <a:xfrm>
            <a:off x="457200" y="4572000"/>
            <a:ext cx="5486400" cy="411480"/>
          </a:xfrm>
          <a:prstGeom prst="roundRect">
            <a:avLst>
              <a:gd name="adj" fmla="val 11111"/>
            </a:avLst>
          </a:prstGeom>
          <a:solidFill>
            <a:srgbClr val="C8102E"/>
          </a:solidFill>
          <a:ln/>
        </p:spPr>
        <p:txBody>
          <a:bodyPr wrap="square" lIns="381" tIns="381" rIns="381" bIns="381"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直近の次のアクション(Phase 0)</a:t>
            </a:r>
            <a:endParaRPr lang="en-US" sz="1150" dirty="0"/>
          </a:p>
        </p:txBody>
      </p:sp>
      <p:sp>
        <p:nvSpPr>
          <p:cNvPr id="9" name="Text 7"/>
          <p:cNvSpPr/>
          <p:nvPr/>
        </p:nvSpPr>
        <p:spPr>
          <a:xfrm>
            <a:off x="548640" y="5074920"/>
            <a:ext cx="5394960" cy="1463040"/>
          </a:xfrm>
          <a:prstGeom prst="rect">
            <a:avLst/>
          </a:prstGeom>
          <a:noFill/>
          <a:ln/>
        </p:spPr>
        <p:txBody>
          <a:bodyPr wrap="square" lIns="508" tIns="508" rIns="508" bIns="508" rtlCol="0" anchor="t"/>
          <a:lstStyle/>
          <a:p>
            <a:pPr marL="101600" indent="-101600">
              <a:lnSpc>
                <a:spcPct val="115000"/>
              </a:lnSpc>
              <a:spcAft>
                <a:spcPts val="500"/>
              </a:spcAft>
              <a:buSzPct val="100000"/>
              <a:buChar char="▪"/>
            </a:pPr>
            <a:r>
              <a:rPr lang="en-US" sz="960" dirty="0">
                <a:solidFill>
                  <a:srgbClr val="2A2A33"/>
                </a:solidFill>
                <a:latin typeface="Yu Gothic" pitchFamily="34" charset="0"/>
                <a:ea typeface="Yu Gothic" pitchFamily="34" charset="-122"/>
                <a:cs typeface="Yu Gothic" pitchFamily="34" charset="-120"/>
              </a:rPr>
              <a:t>① 本要求整理のサス協議会・PJT承認(守り=MUST確定)</a:t>
            </a:r>
            <a:endParaRPr lang="en-US" sz="960" dirty="0"/>
          </a:p>
          <a:p>
            <a:pPr marL="101600" indent="-101600">
              <a:lnSpc>
                <a:spcPct val="115000"/>
              </a:lnSpc>
              <a:spcAft>
                <a:spcPts val="500"/>
              </a:spcAft>
              <a:buSzPct val="100000"/>
              <a:buChar char="▪"/>
            </a:pPr>
            <a:r>
              <a:rPr lang="en-US" sz="960" dirty="0">
                <a:solidFill>
                  <a:srgbClr val="2A2A33"/>
                </a:solidFill>
                <a:latin typeface="Yu Gothic" pitchFamily="34" charset="0"/>
                <a:ea typeface="Yu Gothic" pitchFamily="34" charset="-122"/>
                <a:cs typeface="Yu Gothic" pitchFamily="34" charset="-120"/>
              </a:rPr>
              <a:t>② 攻めテーマ(T1〜T6)のロジックモデル初版を経営レベルで承認</a:t>
            </a:r>
            <a:endParaRPr lang="en-US" sz="960" dirty="0"/>
          </a:p>
          <a:p>
            <a:pPr marL="101600" indent="-101600">
              <a:lnSpc>
                <a:spcPct val="115000"/>
              </a:lnSpc>
              <a:spcAft>
                <a:spcPts val="500"/>
              </a:spcAft>
              <a:buSzPct val="100000"/>
              <a:buChar char="▪"/>
            </a:pPr>
            <a:r>
              <a:rPr lang="en-US" sz="960" dirty="0">
                <a:solidFill>
                  <a:srgbClr val="2A2A33"/>
                </a:solidFill>
                <a:latin typeface="Yu Gothic" pitchFamily="34" charset="0"/>
                <a:ea typeface="Yu Gothic" pitchFamily="34" charset="-122"/>
                <a:cs typeface="Yu Gothic" pitchFamily="34" charset="-120"/>
              </a:rPr>
              <a:t>③ RFPドラフトへの格納・ベンダーロングリスト作成・発出</a:t>
            </a:r>
            <a:endParaRPr lang="en-US" sz="960" dirty="0"/>
          </a:p>
          <a:p>
            <a:pPr marL="101600" indent="-101600">
              <a:lnSpc>
                <a:spcPct val="115000"/>
              </a:lnSpc>
              <a:buSzPct val="100000"/>
              <a:buChar char="▪"/>
            </a:pPr>
            <a:r>
              <a:rPr lang="en-US" sz="960" dirty="0">
                <a:solidFill>
                  <a:srgbClr val="2A2A33"/>
                </a:solidFill>
                <a:latin typeface="Yu Gothic" pitchFamily="34" charset="0"/>
                <a:ea typeface="Yu Gothic" pitchFamily="34" charset="-122"/>
                <a:cs typeface="Yu Gothic" pitchFamily="34" charset="-120"/>
              </a:rPr>
              <a:t>④ 監査法人との証憑・変更履歴運用の事前協議開始(BR-D-04)</a:t>
            </a:r>
            <a:endParaRPr lang="en-US" sz="960" dirty="0"/>
          </a:p>
        </p:txBody>
      </p:sp>
      <p:sp>
        <p:nvSpPr>
          <p:cNvPr id="10" name="Text 8"/>
          <p:cNvSpPr/>
          <p:nvPr/>
        </p:nvSpPr>
        <p:spPr>
          <a:xfrm>
            <a:off x="6245352" y="1207008"/>
            <a:ext cx="5486400" cy="411480"/>
          </a:xfrm>
          <a:prstGeom prst="roundRect">
            <a:avLst>
              <a:gd name="adj" fmla="val 11111"/>
            </a:avLst>
          </a:prstGeom>
          <a:solidFill>
            <a:srgbClr val="1E2761"/>
          </a:solidFill>
          <a:ln/>
        </p:spPr>
        <p:txBody>
          <a:bodyPr wrap="square" lIns="381" tIns="381" rIns="381" bIns="381" rtlCol="0" anchor="ctr"/>
          <a:lstStyle/>
          <a:p>
            <a:pPr algn="ctr" indent="0" marL="0">
              <a:buNone/>
            </a:pPr>
            <a:r>
              <a:rPr lang="en-US" sz="1150" b="1" dirty="0">
                <a:solidFill>
                  <a:srgbClr val="FFFFFF"/>
                </a:solidFill>
                <a:latin typeface="Yu Gothic" pitchFamily="34" charset="0"/>
                <a:ea typeface="Yu Gothic" pitchFamily="34" charset="-122"/>
                <a:cs typeface="Yu Gothic" pitchFamily="34" charset="-120"/>
              </a:rPr>
              <a:t>主要リスクと成功要因</a:t>
            </a:r>
            <a:endParaRPr lang="en-US" sz="1150" dirty="0"/>
          </a:p>
        </p:txBody>
      </p:sp>
      <p:sp>
        <p:nvSpPr>
          <p:cNvPr id="11" name="Text 9"/>
          <p:cNvSpPr/>
          <p:nvPr/>
        </p:nvSpPr>
        <p:spPr>
          <a:xfrm>
            <a:off x="6245352" y="1755648"/>
            <a:ext cx="2606040" cy="713232"/>
          </a:xfrm>
          <a:prstGeom prst="rect">
            <a:avLst/>
          </a:prstGeom>
          <a:noFill/>
          <a:ln/>
        </p:spPr>
        <p:txBody>
          <a:bodyPr wrap="square" lIns="508" tIns="508" rIns="508" bIns="508" rtlCol="0" anchor="ctr"/>
          <a:lstStyle/>
          <a:p>
            <a:pPr indent="0" marL="0">
              <a:lnSpc>
                <a:spcPct val="105000"/>
              </a:lnSpc>
              <a:buNone/>
            </a:pPr>
            <a:r>
              <a:rPr lang="en-US" sz="870" b="1" dirty="0">
                <a:solidFill>
                  <a:srgbClr val="C8102E"/>
                </a:solidFill>
                <a:latin typeface="Yu Gothic" pitchFamily="34" charset="0"/>
                <a:ea typeface="Yu Gothic" pitchFamily="34" charset="-122"/>
                <a:cs typeface="Yu Gothic" pitchFamily="34" charset="-120"/>
              </a:rPr>
              <a:t>戦略未確定のままシステム先行→手戻り</a:t>
            </a:r>
            <a:endParaRPr lang="en-US" sz="870" dirty="0"/>
          </a:p>
        </p:txBody>
      </p:sp>
      <p:sp>
        <p:nvSpPr>
          <p:cNvPr id="12" name="Text 10"/>
          <p:cNvSpPr/>
          <p:nvPr/>
        </p:nvSpPr>
        <p:spPr>
          <a:xfrm>
            <a:off x="8942832" y="1755648"/>
            <a:ext cx="2788920" cy="713232"/>
          </a:xfrm>
          <a:prstGeom prst="rect">
            <a:avLst/>
          </a:prstGeom>
          <a:noFill/>
          <a:ln/>
        </p:spPr>
        <p:txBody>
          <a:bodyPr wrap="square" lIns="508" tIns="508" rIns="508" bIns="508" rtlCol="0" anchor="ctr"/>
          <a:lstStyle/>
          <a:p>
            <a:pPr indent="0" marL="0">
              <a:lnSpc>
                <a:spcPct val="105000"/>
              </a:lnSpc>
              <a:buNone/>
            </a:pPr>
            <a:r>
              <a:rPr lang="en-US" sz="850" dirty="0">
                <a:solidFill>
                  <a:srgbClr val="2A2A33"/>
                </a:solidFill>
                <a:latin typeface="Yu Gothic" pitchFamily="34" charset="0"/>
                <a:ea typeface="Yu Gothic" pitchFamily="34" charset="-122"/>
                <a:cs typeface="Yu Gothic" pitchFamily="34" charset="-120"/>
              </a:rPr>
              <a:t>「統制骨格=不変/KPI・換算=可変マスタ」の二層設計、四半期同期レビュー</a:t>
            </a:r>
            <a:endParaRPr lang="en-US" sz="850" dirty="0"/>
          </a:p>
        </p:txBody>
      </p:sp>
      <p:sp>
        <p:nvSpPr>
          <p:cNvPr id="13" name="Shape 11"/>
          <p:cNvSpPr/>
          <p:nvPr/>
        </p:nvSpPr>
        <p:spPr>
          <a:xfrm>
            <a:off x="6245352" y="2505456"/>
            <a:ext cx="5486400" cy="0"/>
          </a:xfrm>
          <a:prstGeom prst="line">
            <a:avLst/>
          </a:prstGeom>
          <a:noFill/>
          <a:ln w="9525">
            <a:solidFill>
              <a:srgbClr val="E3E6ED"/>
            </a:solidFill>
            <a:prstDash val="solid"/>
          </a:ln>
        </p:spPr>
      </p:sp>
      <p:sp>
        <p:nvSpPr>
          <p:cNvPr id="14" name="Text 12"/>
          <p:cNvSpPr/>
          <p:nvPr/>
        </p:nvSpPr>
        <p:spPr>
          <a:xfrm>
            <a:off x="6245352" y="2551176"/>
            <a:ext cx="2606040" cy="713232"/>
          </a:xfrm>
          <a:prstGeom prst="rect">
            <a:avLst/>
          </a:prstGeom>
          <a:noFill/>
          <a:ln/>
        </p:spPr>
        <p:txBody>
          <a:bodyPr wrap="square" lIns="508" tIns="508" rIns="508" bIns="508" rtlCol="0" anchor="ctr"/>
          <a:lstStyle/>
          <a:p>
            <a:pPr indent="0" marL="0">
              <a:lnSpc>
                <a:spcPct val="105000"/>
              </a:lnSpc>
              <a:buNone/>
            </a:pPr>
            <a:r>
              <a:rPr lang="en-US" sz="870" b="1" dirty="0">
                <a:solidFill>
                  <a:srgbClr val="C8102E"/>
                </a:solidFill>
                <a:latin typeface="Yu Gothic" pitchFamily="34" charset="0"/>
                <a:ea typeface="Yu Gothic" pitchFamily="34" charset="-122"/>
                <a:cs typeface="Yu Gothic" pitchFamily="34" charset="-120"/>
              </a:rPr>
              <a:t>現場の入力負荷増→データが集まらない</a:t>
            </a:r>
            <a:endParaRPr lang="en-US" sz="870" dirty="0"/>
          </a:p>
        </p:txBody>
      </p:sp>
      <p:sp>
        <p:nvSpPr>
          <p:cNvPr id="15" name="Text 13"/>
          <p:cNvSpPr/>
          <p:nvPr/>
        </p:nvSpPr>
        <p:spPr>
          <a:xfrm>
            <a:off x="8942832" y="2551176"/>
            <a:ext cx="2788920" cy="713232"/>
          </a:xfrm>
          <a:prstGeom prst="rect">
            <a:avLst/>
          </a:prstGeom>
          <a:noFill/>
          <a:ln/>
        </p:spPr>
        <p:txBody>
          <a:bodyPr wrap="square" lIns="508" tIns="508" rIns="508" bIns="508" rtlCol="0" anchor="ctr"/>
          <a:lstStyle/>
          <a:p>
            <a:pPr indent="0" marL="0">
              <a:lnSpc>
                <a:spcPct val="105000"/>
              </a:lnSpc>
              <a:buNone/>
            </a:pPr>
            <a:r>
              <a:rPr lang="en-US" sz="850" dirty="0">
                <a:solidFill>
                  <a:srgbClr val="2A2A33"/>
                </a:solidFill>
                <a:latin typeface="Yu Gothic" pitchFamily="34" charset="0"/>
                <a:ea typeface="Yu Gothic" pitchFamily="34" charset="-122"/>
                <a:cs typeface="Yu Gothic" pitchFamily="34" charset="-120"/>
              </a:rPr>
              <a:t>自動連携・OCRで入力を「減らす」設計、進捗可視化・督促自動化、現地語教育</a:t>
            </a:r>
            <a:endParaRPr lang="en-US" sz="850" dirty="0"/>
          </a:p>
        </p:txBody>
      </p:sp>
      <p:sp>
        <p:nvSpPr>
          <p:cNvPr id="16" name="Shape 14"/>
          <p:cNvSpPr/>
          <p:nvPr/>
        </p:nvSpPr>
        <p:spPr>
          <a:xfrm>
            <a:off x="6245352" y="3300984"/>
            <a:ext cx="5486400" cy="0"/>
          </a:xfrm>
          <a:prstGeom prst="line">
            <a:avLst/>
          </a:prstGeom>
          <a:noFill/>
          <a:ln w="9525">
            <a:solidFill>
              <a:srgbClr val="E3E6ED"/>
            </a:solidFill>
            <a:prstDash val="solid"/>
          </a:ln>
        </p:spPr>
      </p:sp>
      <p:sp>
        <p:nvSpPr>
          <p:cNvPr id="17" name="Text 15"/>
          <p:cNvSpPr/>
          <p:nvPr/>
        </p:nvSpPr>
        <p:spPr>
          <a:xfrm>
            <a:off x="6245352" y="3346704"/>
            <a:ext cx="2606040" cy="713232"/>
          </a:xfrm>
          <a:prstGeom prst="rect">
            <a:avLst/>
          </a:prstGeom>
          <a:noFill/>
          <a:ln/>
        </p:spPr>
        <p:txBody>
          <a:bodyPr wrap="square" lIns="508" tIns="508" rIns="508" bIns="508" rtlCol="0" anchor="ctr"/>
          <a:lstStyle/>
          <a:p>
            <a:pPr indent="0" marL="0">
              <a:lnSpc>
                <a:spcPct val="105000"/>
              </a:lnSpc>
              <a:buNone/>
            </a:pPr>
            <a:r>
              <a:rPr lang="en-US" sz="870" b="1" dirty="0">
                <a:solidFill>
                  <a:srgbClr val="C8102E"/>
                </a:solidFill>
                <a:latin typeface="Yu Gothic" pitchFamily="34" charset="0"/>
                <a:ea typeface="Yu Gothic" pitchFamily="34" charset="-122"/>
                <a:cs typeface="Yu Gothic" pitchFamily="34" charset="-120"/>
              </a:rPr>
              <a:t>Scope3一次データ化が進まない</a:t>
            </a:r>
            <a:endParaRPr lang="en-US" sz="870" dirty="0"/>
          </a:p>
        </p:txBody>
      </p:sp>
      <p:sp>
        <p:nvSpPr>
          <p:cNvPr id="18" name="Text 16"/>
          <p:cNvSpPr/>
          <p:nvPr/>
        </p:nvSpPr>
        <p:spPr>
          <a:xfrm>
            <a:off x="8942832" y="3346704"/>
            <a:ext cx="2788920" cy="713232"/>
          </a:xfrm>
          <a:prstGeom prst="rect">
            <a:avLst/>
          </a:prstGeom>
          <a:noFill/>
          <a:ln/>
        </p:spPr>
        <p:txBody>
          <a:bodyPr wrap="square" lIns="508" tIns="508" rIns="508" bIns="508" rtlCol="0" anchor="ctr"/>
          <a:lstStyle/>
          <a:p>
            <a:pPr indent="0" marL="0">
              <a:lnSpc>
                <a:spcPct val="105000"/>
              </a:lnSpc>
              <a:buNone/>
            </a:pPr>
            <a:r>
              <a:rPr lang="en-US" sz="850" dirty="0">
                <a:solidFill>
                  <a:srgbClr val="2A2A33"/>
                </a:solidFill>
                <a:latin typeface="Yu Gothic" pitchFamily="34" charset="0"/>
                <a:ea typeface="Yu Gothic" pitchFamily="34" charset="-122"/>
                <a:cs typeface="Yu Gothic" pitchFamily="34" charset="-120"/>
              </a:rPr>
              <a:t>支出上位からの段階展開、サプライヤーポータル、購買部門との共同KPI</a:t>
            </a:r>
            <a:endParaRPr lang="en-US" sz="850" dirty="0"/>
          </a:p>
        </p:txBody>
      </p:sp>
      <p:sp>
        <p:nvSpPr>
          <p:cNvPr id="19" name="Shape 17"/>
          <p:cNvSpPr/>
          <p:nvPr/>
        </p:nvSpPr>
        <p:spPr>
          <a:xfrm>
            <a:off x="6245352" y="4096512"/>
            <a:ext cx="5486400" cy="0"/>
          </a:xfrm>
          <a:prstGeom prst="line">
            <a:avLst/>
          </a:prstGeom>
          <a:noFill/>
          <a:ln w="9525">
            <a:solidFill>
              <a:srgbClr val="E3E6ED"/>
            </a:solidFill>
            <a:prstDash val="solid"/>
          </a:ln>
        </p:spPr>
      </p:sp>
      <p:sp>
        <p:nvSpPr>
          <p:cNvPr id="20" name="Text 18"/>
          <p:cNvSpPr/>
          <p:nvPr/>
        </p:nvSpPr>
        <p:spPr>
          <a:xfrm>
            <a:off x="6245352" y="4142232"/>
            <a:ext cx="2606040" cy="713232"/>
          </a:xfrm>
          <a:prstGeom prst="rect">
            <a:avLst/>
          </a:prstGeom>
          <a:noFill/>
          <a:ln/>
        </p:spPr>
        <p:txBody>
          <a:bodyPr wrap="square" lIns="508" tIns="508" rIns="508" bIns="508" rtlCol="0" anchor="ctr"/>
          <a:lstStyle/>
          <a:p>
            <a:pPr indent="0" marL="0">
              <a:lnSpc>
                <a:spcPct val="105000"/>
              </a:lnSpc>
              <a:buNone/>
            </a:pPr>
            <a:r>
              <a:rPr lang="en-US" sz="870" b="1" dirty="0">
                <a:solidFill>
                  <a:srgbClr val="C8102E"/>
                </a:solidFill>
                <a:latin typeface="Yu Gothic" pitchFamily="34" charset="0"/>
                <a:ea typeface="Yu Gothic" pitchFamily="34" charset="-122"/>
                <a:cs typeface="Yu Gothic" pitchFamily="34" charset="-120"/>
              </a:rPr>
              <a:t>攻めが「開示のための開示」に留まる</a:t>
            </a:r>
            <a:endParaRPr lang="en-US" sz="870" dirty="0"/>
          </a:p>
        </p:txBody>
      </p:sp>
      <p:sp>
        <p:nvSpPr>
          <p:cNvPr id="21" name="Text 19"/>
          <p:cNvSpPr/>
          <p:nvPr/>
        </p:nvSpPr>
        <p:spPr>
          <a:xfrm>
            <a:off x="8942832" y="4142232"/>
            <a:ext cx="2788920" cy="713232"/>
          </a:xfrm>
          <a:prstGeom prst="rect">
            <a:avLst/>
          </a:prstGeom>
          <a:noFill/>
          <a:ln/>
        </p:spPr>
        <p:txBody>
          <a:bodyPr wrap="square" lIns="508" tIns="508" rIns="508" bIns="508" rtlCol="0" anchor="ctr"/>
          <a:lstStyle/>
          <a:p>
            <a:pPr indent="0" marL="0">
              <a:lnSpc>
                <a:spcPct val="105000"/>
              </a:lnSpc>
              <a:buNone/>
            </a:pPr>
            <a:r>
              <a:rPr lang="en-US" sz="850" dirty="0">
                <a:solidFill>
                  <a:srgbClr val="2A2A33"/>
                </a:solidFill>
                <a:latin typeface="Yu Gothic" pitchFamily="34" charset="0"/>
                <a:ea typeface="Yu Gothic" pitchFamily="34" charset="-122"/>
                <a:cs typeface="Yu Gothic" pitchFamily="34" charset="-120"/>
              </a:rPr>
              <a:t>ロジックモデルの経営承認、予算・報酬への組込で実行を担保</a:t>
            </a:r>
            <a:endParaRPr lang="en-US" sz="850" dirty="0"/>
          </a:p>
        </p:txBody>
      </p:sp>
      <p:sp>
        <p:nvSpPr>
          <p:cNvPr id="22" name="Shape 20"/>
          <p:cNvSpPr/>
          <p:nvPr/>
        </p:nvSpPr>
        <p:spPr>
          <a:xfrm>
            <a:off x="6245352" y="4892040"/>
            <a:ext cx="5486400" cy="0"/>
          </a:xfrm>
          <a:prstGeom prst="line">
            <a:avLst/>
          </a:prstGeom>
          <a:noFill/>
          <a:ln w="9525">
            <a:solidFill>
              <a:srgbClr val="E3E6ED"/>
            </a:solidFill>
            <a:prstDash val="solid"/>
          </a:ln>
        </p:spPr>
      </p:sp>
      <p:sp>
        <p:nvSpPr>
          <p:cNvPr id="23" name="Text 21"/>
          <p:cNvSpPr/>
          <p:nvPr/>
        </p:nvSpPr>
        <p:spPr>
          <a:xfrm>
            <a:off x="6245352" y="4937760"/>
            <a:ext cx="2606040" cy="713232"/>
          </a:xfrm>
          <a:prstGeom prst="rect">
            <a:avLst/>
          </a:prstGeom>
          <a:noFill/>
          <a:ln/>
        </p:spPr>
        <p:txBody>
          <a:bodyPr wrap="square" lIns="508" tIns="508" rIns="508" bIns="508" rtlCol="0" anchor="ctr"/>
          <a:lstStyle/>
          <a:p>
            <a:pPr indent="0" marL="0">
              <a:lnSpc>
                <a:spcPct val="105000"/>
              </a:lnSpc>
              <a:buNone/>
            </a:pPr>
            <a:r>
              <a:rPr lang="en-US" sz="870" b="1" dirty="0">
                <a:solidFill>
                  <a:srgbClr val="C8102E"/>
                </a:solidFill>
                <a:latin typeface="Yu Gothic" pitchFamily="34" charset="0"/>
                <a:ea typeface="Yu Gothic" pitchFamily="34" charset="-122"/>
                <a:cs typeface="Yu Gothic" pitchFamily="34" charset="-120"/>
              </a:rPr>
              <a:t>健康アウトカムの因果立証が困難</a:t>
            </a:r>
            <a:endParaRPr lang="en-US" sz="870" dirty="0"/>
          </a:p>
        </p:txBody>
      </p:sp>
      <p:sp>
        <p:nvSpPr>
          <p:cNvPr id="24" name="Text 22"/>
          <p:cNvSpPr/>
          <p:nvPr/>
        </p:nvSpPr>
        <p:spPr>
          <a:xfrm>
            <a:off x="8942832" y="4937760"/>
            <a:ext cx="2788920" cy="713232"/>
          </a:xfrm>
          <a:prstGeom prst="rect">
            <a:avLst/>
          </a:prstGeom>
          <a:noFill/>
          <a:ln/>
        </p:spPr>
        <p:txBody>
          <a:bodyPr wrap="square" lIns="508" tIns="508" rIns="508" bIns="508" rtlCol="0" anchor="ctr"/>
          <a:lstStyle/>
          <a:p>
            <a:pPr indent="0" marL="0">
              <a:lnSpc>
                <a:spcPct val="105000"/>
              </a:lnSpc>
              <a:buNone/>
            </a:pPr>
            <a:r>
              <a:rPr lang="en-US" sz="850" dirty="0">
                <a:solidFill>
                  <a:srgbClr val="2A2A33"/>
                </a:solidFill>
                <a:latin typeface="Yu Gothic" pitchFamily="34" charset="0"/>
                <a:ea typeface="Yu Gothic" pitchFamily="34" charset="-122"/>
                <a:cs typeface="Yu Gothic" pitchFamily="34" charset="-120"/>
              </a:rPr>
              <a:t>アカデミア・自治体・健保との共同実証、社内実証(T5)の先行、外部監修</a:t>
            </a:r>
            <a:endParaRPr lang="en-US" sz="850" dirty="0"/>
          </a:p>
        </p:txBody>
      </p:sp>
      <p:sp>
        <p:nvSpPr>
          <p:cNvPr id="25" name="Shape 23"/>
          <p:cNvSpPr/>
          <p:nvPr/>
        </p:nvSpPr>
        <p:spPr>
          <a:xfrm>
            <a:off x="6245352" y="5687568"/>
            <a:ext cx="5486400" cy="0"/>
          </a:xfrm>
          <a:prstGeom prst="line">
            <a:avLst/>
          </a:prstGeom>
          <a:noFill/>
          <a:ln w="9525">
            <a:solidFill>
              <a:srgbClr val="E3E6ED"/>
            </a:solidFill>
            <a:prstDash val="solid"/>
          </a:ln>
        </p:spPr>
      </p:sp>
      <p:sp>
        <p:nvSpPr>
          <p:cNvPr id="26" name="Text 24"/>
          <p:cNvSpPr/>
          <p:nvPr/>
        </p:nvSpPr>
        <p:spPr>
          <a:xfrm>
            <a:off x="6245352" y="5733288"/>
            <a:ext cx="2606040" cy="713232"/>
          </a:xfrm>
          <a:prstGeom prst="rect">
            <a:avLst/>
          </a:prstGeom>
          <a:noFill/>
          <a:ln/>
        </p:spPr>
        <p:txBody>
          <a:bodyPr wrap="square" lIns="508" tIns="508" rIns="508" bIns="508" rtlCol="0" anchor="ctr"/>
          <a:lstStyle/>
          <a:p>
            <a:pPr indent="0" marL="0">
              <a:lnSpc>
                <a:spcPct val="105000"/>
              </a:lnSpc>
              <a:buNone/>
            </a:pPr>
            <a:r>
              <a:rPr lang="en-US" sz="870" b="1" dirty="0">
                <a:solidFill>
                  <a:srgbClr val="C8102E"/>
                </a:solidFill>
                <a:latin typeface="Yu Gothic" pitchFamily="34" charset="0"/>
                <a:ea typeface="Yu Gothic" pitchFamily="34" charset="-122"/>
                <a:cs typeface="Yu Gothic" pitchFamily="34" charset="-120"/>
              </a:rPr>
              <a:t>ベンダーロックイン・改修コスト膨張</a:t>
            </a:r>
            <a:endParaRPr lang="en-US" sz="870" dirty="0"/>
          </a:p>
        </p:txBody>
      </p:sp>
      <p:sp>
        <p:nvSpPr>
          <p:cNvPr id="27" name="Text 25"/>
          <p:cNvSpPr/>
          <p:nvPr/>
        </p:nvSpPr>
        <p:spPr>
          <a:xfrm>
            <a:off x="8942832" y="5733288"/>
            <a:ext cx="2788920" cy="713232"/>
          </a:xfrm>
          <a:prstGeom prst="rect">
            <a:avLst/>
          </a:prstGeom>
          <a:noFill/>
          <a:ln/>
        </p:spPr>
        <p:txBody>
          <a:bodyPr wrap="square" lIns="508" tIns="508" rIns="508" bIns="508" rtlCol="0" anchor="ctr"/>
          <a:lstStyle/>
          <a:p>
            <a:pPr indent="0" marL="0">
              <a:lnSpc>
                <a:spcPct val="105000"/>
              </a:lnSpc>
              <a:buNone/>
            </a:pPr>
            <a:r>
              <a:rPr lang="en-US" sz="850" dirty="0">
                <a:solidFill>
                  <a:srgbClr val="2A2A33"/>
                </a:solidFill>
                <a:latin typeface="Yu Gothic" pitchFamily="34" charset="0"/>
                <a:ea typeface="Yu Gothic" pitchFamily="34" charset="-122"/>
                <a:cs typeface="Yu Gothic" pitchFamily="34" charset="-120"/>
              </a:rPr>
              <a:t>エクスポート自由度・ノーコード設定を評価軸と契約に明記</a:t>
            </a:r>
            <a:endParaRPr lang="en-US" sz="850" dirty="0"/>
          </a:p>
        </p:txBody>
      </p:sp>
      <p:sp>
        <p:nvSpPr>
          <p:cNvPr id="28" name="Shape 26"/>
          <p:cNvSpPr/>
          <p:nvPr/>
        </p:nvSpPr>
        <p:spPr>
          <a:xfrm>
            <a:off x="6245352" y="6483096"/>
            <a:ext cx="5486400" cy="0"/>
          </a:xfrm>
          <a:prstGeom prst="line">
            <a:avLst/>
          </a:prstGeom>
          <a:noFill/>
          <a:ln w="9525">
            <a:solidFill>
              <a:srgbClr val="E3E6ED"/>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2026-07-21T13:14:13Z</dcterms:created>
  <dcterms:modified xsi:type="dcterms:W3CDTF">2026-07-21T13:14:13Z</dcterms:modified>
</cp:coreProperties>
</file>