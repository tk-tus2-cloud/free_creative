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責任分界（As-Is → To-Be）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社員が肩代わりしていた統制を「LEB＋SLA契約」に置き換える。丸投げ（C案）との違いは統制層の有無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As-Is：統制不在、社員が肩代わり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5212080" cy="0"/>
          </a:xfrm>
          <a:prstGeom prst="line">
            <a:avLst/>
          </a:prstGeom>
          <a:noFill/>
          <a:ln w="15875">
            <a:solidFill>
              <a:srgbClr val="5A6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69164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2F4F3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システム利用部門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76272" y="2176272"/>
            <a:ext cx="310896" cy="365760"/>
          </a:xfrm>
          <a:prstGeom prst="downArrow">
            <a:avLst/>
          </a:prstGeom>
          <a:solidFill>
            <a:srgbClr val="9AA5A0"/>
          </a:solidFill>
          <a:ln/>
        </p:spPr>
      </p:sp>
      <p:sp>
        <p:nvSpPr>
          <p:cNvPr id="9" name="Text 7"/>
          <p:cNvSpPr/>
          <p:nvPr/>
        </p:nvSpPr>
        <p:spPr>
          <a:xfrm>
            <a:off x="2542032" y="2221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43000" y="2578608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E9F5EE"/>
          </a:solidFill>
          <a:ln w="15875">
            <a:solidFill>
              <a:srgbClr val="0095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5786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デジタル戦略部（社員）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94760" y="2286000"/>
            <a:ext cx="1874520" cy="1261872"/>
          </a:xfrm>
          <a:prstGeom prst="roundRect">
            <a:avLst>
              <a:gd name="adj" fmla="val 4348"/>
            </a:avLst>
          </a:prstGeom>
          <a:solidFill>
            <a:srgbClr val="FBF1E9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340864"/>
            <a:ext cx="1737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社員が肩代わり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・指示・督促・進捗管理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・成果物の補完・手戻り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・ベンダ間の調整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・障害時の情報収集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2862072"/>
            <a:ext cx="274320" cy="182880"/>
          </a:xfrm>
          <a:prstGeom prst="line">
            <a:avLst/>
          </a:prstGeom>
          <a:noFill/>
          <a:ln w="12700">
            <a:solidFill>
              <a:srgbClr val="C0562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176272" y="3172968"/>
            <a:ext cx="310896" cy="365760"/>
          </a:xfrm>
          <a:prstGeom prst="downArrow">
            <a:avLst/>
          </a:prstGeom>
          <a:solidFill>
            <a:srgbClr val="9AA5A0"/>
          </a:solidFill>
          <a:ln/>
        </p:spPr>
      </p:sp>
      <p:sp>
        <p:nvSpPr>
          <p:cNvPr id="16" name="Text 14"/>
          <p:cNvSpPr/>
          <p:nvPr/>
        </p:nvSpPr>
        <p:spPr>
          <a:xfrm>
            <a:off x="2542032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個別に指示・管理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3657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F2F4F3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65760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307592" y="3657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F2F4F3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365760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B社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48256" y="3657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F2F4F3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8256" y="365760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C社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88920" y="3657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F2F4F3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365760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D社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29584" y="3657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F2F4F3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365760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E社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70248" y="3657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F2F4F3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0248" y="365760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F社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10912" y="3657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F2F4F3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365760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LEB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1879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個別契約・品質ばらつき・実工数ブラックボックス・スケールメリットなし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6177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2F4F3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" y="46177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統制機能が存在せず、品質・コストを契約で担保できない。ギャップはすべて社員の工数（12FTE・年1.4億円相当）で吸収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06440" y="3017520"/>
            <a:ext cx="685800" cy="777240"/>
          </a:xfrm>
          <a:prstGeom prst="rightArrow">
            <a:avLst/>
          </a:prstGeom>
          <a:solidFill>
            <a:srgbClr val="00953B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1188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To-Be：3階層モデル（戦略／統制／実行）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83680" y="1536192"/>
            <a:ext cx="5120640" cy="0"/>
          </a:xfrm>
          <a:prstGeom prst="line">
            <a:avLst/>
          </a:prstGeom>
          <a:noFill/>
          <a:ln w="15875">
            <a:solidFill>
              <a:srgbClr val="0095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169164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E9F5EE"/>
          </a:solidFill>
          <a:ln w="15875">
            <a:solidFill>
              <a:srgbClr val="0095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16916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デジタル戦略部 ＝ 戦略　</a:t>
            </a:r>
            <a:pPr indent="0" marL="0">
              <a:buNone/>
            </a:pPr>
            <a:r>
              <a:rPr lang="en-US" sz="95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IT戦略・投資判断・需要管理・LEBへの目標設定（Q↑C↓D↑）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23760" y="2350008"/>
            <a:ext cx="0" cy="310896"/>
          </a:xfrm>
          <a:prstGeom prst="line">
            <a:avLst/>
          </a:prstGeom>
          <a:noFill/>
          <a:ln w="19050">
            <a:solidFill>
              <a:srgbClr val="00953B"/>
            </a:solidFill>
            <a:prstDash val="dash"/>
            <a:headEnd type="triangl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7452360" y="2359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目標設定・報告（本体−LEB間もSLA・レポーティングラインを契約化）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583680" y="2679192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006B2B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0" y="272491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LEB ＝ 統制（SIAM運営主体・既存会社を活用）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SLA/KPI監視・品質検収・請求査定・マルチベンダ横串管理　※現行実行業務はNTTDへ移管し統制へ役割転換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23760" y="3547872"/>
            <a:ext cx="0" cy="310896"/>
          </a:xfrm>
          <a:prstGeom prst="line">
            <a:avLst/>
          </a:prstGeom>
          <a:noFill/>
          <a:ln w="19050">
            <a:solidFill>
              <a:srgbClr val="00953B"/>
            </a:solidFill>
            <a:prstDash val="dash"/>
            <a:headEnd type="triangl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452360" y="3557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SLA/KPI契約・検収（品質を契約で強制。未達は是正・減額）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83680" y="3877056"/>
            <a:ext cx="3174797" cy="1060704"/>
          </a:xfrm>
          <a:prstGeom prst="roundRect">
            <a:avLst>
              <a:gd name="adj" fmla="val 5172"/>
            </a:avLst>
          </a:prstGeom>
          <a:solidFill>
            <a:srgbClr val="E9F5EE"/>
          </a:solidFill>
          <a:ln w="12700">
            <a:solidFill>
              <a:srgbClr val="0095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8272" y="3931920"/>
            <a:ext cx="284561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NTTDシェアード運用センター ＝ 実行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L1：定型・監視／L2：定型・非定型／L3：非定型・管理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24時間365日・AI/自動化を段階適用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868205" y="3877056"/>
            <a:ext cx="1836115" cy="1060704"/>
          </a:xfrm>
          <a:prstGeom prst="roundRect">
            <a:avLst>
              <a:gd name="adj" fmla="val 5172"/>
            </a:avLst>
          </a:prstGeom>
          <a:solidFill>
            <a:srgbClr val="F2F4F3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96221" y="3950208"/>
            <a:ext cx="15800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残置ベンダ
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評価の高い現行ベンダは実行層として残置（移管リスク抑制）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583680" y="5010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※利用部門の問い合わせは実行層のサービスデスクが一次受け（社員を経由しない）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" y="5532120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006B2B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5532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E5C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責任分界の要点：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略の決定権は本体に残し、統制（測る・検収する・折衝する）はLEB、実行はNTTD＋残置ベンダへ。社員の肩代わり工数（指示・補完・手戻り）は「LEBの統制」と「SLA契約」に置き換わり、社員は企画業務へシフトする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2026-08-20T16:37:48Z</dcterms:created>
  <dcterms:modified xsi:type="dcterms:W3CDTF">2026-08-20T16:37:48Z</dcterms:modified>
</cp:coreProperties>
</file>