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役割定義：As-Is／To-Be（3階層での対比）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53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■ </a:t>
            </a:r>
            <a:pPr indent="0" marL="0">
              <a:buNone/>
            </a:pPr>
            <a:r>
              <a:rPr lang="en-US" sz="1300" b="1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同じ3階層で比較 — As-Isは統制層が空洞で社員が肩代わり。To-Beは各層に専任の担い手を置き、層間を契約（SLA）で接続する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43000" y="1115568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A666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As-Is（現行）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46520" y="1115568"/>
            <a:ext cx="5285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6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To-Be（目指す姿）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69848" y="1481328"/>
            <a:ext cx="10661904" cy="932688"/>
          </a:xfrm>
          <a:prstGeom prst="rect">
            <a:avLst/>
          </a:prstGeom>
          <a:solidFill>
            <a:srgbClr val="F4F6F5">
              <a:alpha val="5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481328"/>
            <a:ext cx="502920" cy="932688"/>
          </a:xfrm>
          <a:prstGeom prst="roundRect">
            <a:avLst>
              <a:gd name="adj" fmla="val 9091"/>
            </a:avLst>
          </a:prstGeom>
          <a:solidFill>
            <a:srgbClr val="006B2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481328"/>
            <a:ext cx="5029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戦</a:t>
            </a:r>
            <a:endParaRPr lang="en-US" sz="10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略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069848" y="2523744"/>
            <a:ext cx="10661904" cy="1170432"/>
          </a:xfrm>
          <a:prstGeom prst="rect">
            <a:avLst/>
          </a:prstGeom>
          <a:solidFill>
            <a:srgbClr val="F4F6F5">
              <a:alpha val="5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2523744"/>
            <a:ext cx="502920" cy="1170432"/>
          </a:xfrm>
          <a:prstGeom prst="roundRect">
            <a:avLst>
              <a:gd name="adj" fmla="val 9091"/>
            </a:avLst>
          </a:prstGeom>
          <a:solidFill>
            <a:srgbClr val="006B2B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523744"/>
            <a:ext cx="5029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統</a:t>
            </a:r>
            <a:endParaRPr lang="en-US" sz="10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制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069848" y="3803904"/>
            <a:ext cx="10661904" cy="1700784"/>
          </a:xfrm>
          <a:prstGeom prst="rect">
            <a:avLst/>
          </a:prstGeom>
          <a:solidFill>
            <a:srgbClr val="F4F6F5">
              <a:alpha val="5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3803904"/>
            <a:ext cx="502920" cy="1700784"/>
          </a:xfrm>
          <a:prstGeom prst="roundRect">
            <a:avLst>
              <a:gd name="adj" fmla="val 9091"/>
            </a:avLst>
          </a:prstGeom>
          <a:solidFill>
            <a:srgbClr val="006B2B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803904"/>
            <a:ext cx="50292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</a:t>
            </a:r>
            <a:endParaRPr lang="en-US" sz="10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行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26480" y="1426464"/>
            <a:ext cx="0" cy="4078224"/>
          </a:xfrm>
          <a:prstGeom prst="line">
            <a:avLst/>
          </a:prstGeom>
          <a:noFill/>
          <a:ln w="12700">
            <a:solidFill>
              <a:srgbClr val="CFD8D3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1280160" y="1609344"/>
            <a:ext cx="2286000" cy="676656"/>
          </a:xfrm>
          <a:prstGeom prst="roundRect">
            <a:avLst>
              <a:gd name="adj" fmla="val 8108"/>
            </a:avLst>
          </a:prstGeom>
          <a:solidFill>
            <a:srgbClr val="E9F5EE"/>
          </a:solidFill>
          <a:ln w="15875">
            <a:solidFill>
              <a:srgbClr val="0095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80160" y="1609344"/>
            <a:ext cx="2286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06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デジタル戦略部
</a:t>
            </a:r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A666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戦略業務に時間を割けない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749040" y="1609344"/>
            <a:ext cx="2148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562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運用実務と統制の肩代わりに忙殺され、本来の戦略機能が痩せている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280160" y="2660904"/>
            <a:ext cx="4617720" cy="896112"/>
          </a:xfrm>
          <a:prstGeom prst="roundRect">
            <a:avLst>
              <a:gd name="adj" fmla="val 6122"/>
            </a:avLst>
          </a:prstGeom>
          <a:solidFill>
            <a:srgbClr val="FBF1E9">
              <a:alpha val="65000"/>
            </a:srgbClr>
          </a:solidFill>
          <a:ln w="15875">
            <a:solidFill>
              <a:srgbClr val="C05621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1463040" y="2706624"/>
            <a:ext cx="4251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C0562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統制機能 ＝ 不在（空洞）
</a:t>
            </a:r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SLA/KPIなし・検収基準なし・TCO不可視。社員が個人技で肩代わり（指示・督促・成果物補完・手戻り・ベンダ間調整）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1280160" y="3968496"/>
            <a:ext cx="6400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9AA5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80160" y="396849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A社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993392" y="3968496"/>
            <a:ext cx="6400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9AA5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993392" y="396849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B社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06624" y="3968496"/>
            <a:ext cx="6400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9AA5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06624" y="396849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C社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419856" y="3968496"/>
            <a:ext cx="6400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9AA5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19856" y="396849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D社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133088" y="3968496"/>
            <a:ext cx="6400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9AA5A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33088" y="396849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E社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846320" y="3968496"/>
            <a:ext cx="6400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9AA5A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396849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F社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559552" y="3968496"/>
            <a:ext cx="566928" cy="457200"/>
          </a:xfrm>
          <a:prstGeom prst="roundRect">
            <a:avLst>
              <a:gd name="adj" fmla="val 12000"/>
            </a:avLst>
          </a:prstGeom>
          <a:solidFill>
            <a:srgbClr val="E9F5EE"/>
          </a:solidFill>
          <a:ln w="9525">
            <a:solidFill>
              <a:srgbClr val="00953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59552" y="3968496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6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LEB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280160" y="4517136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562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＋ 社員も定常運用・L1窓口・障害エスカレーションを一部実施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280160" y="4809744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6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個別契約・品質ばらつき・実工数ブラックボックス・スケールメリットなし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280160" y="5120640"/>
            <a:ext cx="4617720" cy="310896"/>
          </a:xfrm>
          <a:prstGeom prst="roundRect">
            <a:avLst>
              <a:gd name="adj" fmla="val 17647"/>
            </a:avLst>
          </a:prstGeom>
          <a:solidFill>
            <a:srgbClr val="F4F6F5"/>
          </a:solidFill>
          <a:ln/>
        </p:spPr>
      </p:sp>
      <p:sp>
        <p:nvSpPr>
          <p:cNvPr id="38" name="Text 36"/>
          <p:cNvSpPr/>
          <p:nvPr/>
        </p:nvSpPr>
        <p:spPr>
          <a:xfrm>
            <a:off x="1371600" y="512064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肩代わりの総量＝社員12FTE・年1.4億円相当（当社試算）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423160" y="2286000"/>
            <a:ext cx="0" cy="1682496"/>
          </a:xfrm>
          <a:prstGeom prst="line">
            <a:avLst/>
          </a:prstGeom>
          <a:noFill/>
          <a:ln w="22225">
            <a:solidFill>
              <a:srgbClr val="6B7570"/>
            </a:solidFill>
            <a:prstDash val="solid"/>
            <a:tailEnd type="triangle"/>
          </a:ln>
        </p:spPr>
      </p:sp>
      <p:sp>
        <p:nvSpPr>
          <p:cNvPr id="40" name="Text 38"/>
          <p:cNvSpPr/>
          <p:nvPr/>
        </p:nvSpPr>
        <p:spPr>
          <a:xfrm>
            <a:off x="2606040" y="3383280"/>
            <a:ext cx="306324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57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統制層を素通りし、社員が各社を直接・個別管理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583680" y="1609344"/>
            <a:ext cx="5010912" cy="676656"/>
          </a:xfrm>
          <a:prstGeom prst="roundRect">
            <a:avLst>
              <a:gd name="adj" fmla="val 8108"/>
            </a:avLst>
          </a:prstGeom>
          <a:solidFill>
            <a:srgbClr val="E9F5EE"/>
          </a:solidFill>
          <a:ln w="15875">
            <a:solidFill>
              <a:srgbClr val="00953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20840" y="1609344"/>
            <a:ext cx="47365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6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デジタル戦略部（専任化）　</a:t>
            </a:r>
            <a:pPr indent="0" marL="0">
              <a:buNone/>
            </a:pPr>
            <a:r>
              <a:rPr lang="en-US" sz="900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IT戦略・投資判断・需要管理・LEBへの目標設定（Q/C/D）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7132320" y="2304288"/>
            <a:ext cx="0" cy="365760"/>
          </a:xfrm>
          <a:prstGeom prst="line">
            <a:avLst/>
          </a:prstGeom>
          <a:noFill/>
          <a:ln w="19050">
            <a:solidFill>
              <a:srgbClr val="00953B"/>
            </a:solidFill>
            <a:prstDash val="dash"/>
            <a:headEnd type="triangle"/>
            <a:tailEnd type="triangle"/>
          </a:ln>
        </p:spPr>
      </p:sp>
      <p:sp>
        <p:nvSpPr>
          <p:cNvPr id="44" name="Text 42"/>
          <p:cNvSpPr/>
          <p:nvPr/>
        </p:nvSpPr>
        <p:spPr>
          <a:xfrm>
            <a:off x="7315200" y="2404872"/>
            <a:ext cx="4279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953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目標設定・報告（本体−LEB間も契約化）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6583680" y="2670048"/>
            <a:ext cx="5010912" cy="877824"/>
          </a:xfrm>
          <a:prstGeom prst="roundRect">
            <a:avLst>
              <a:gd name="adj" fmla="val 6250"/>
            </a:avLst>
          </a:prstGeom>
          <a:solidFill>
            <a:srgbClr val="006B2B"/>
          </a:solidFill>
          <a:ln/>
        </p:spPr>
      </p:sp>
      <p:sp>
        <p:nvSpPr>
          <p:cNvPr id="46" name="Text 44"/>
          <p:cNvSpPr/>
          <p:nvPr/>
        </p:nvSpPr>
        <p:spPr>
          <a:xfrm>
            <a:off x="6720840" y="2706624"/>
            <a:ext cx="47365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LEB ＝ 統制（SIAM運営主体・既存会社を活用）
</a:t>
            </a:r>
            <a:pPr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CDEBD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SLA/KPI監視・品質検収・請求査定・マルチベンダ横串管理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CDEBD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※現行の実行業務はNTTDへ移管し「実行→統制」へ役割転換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7132320" y="3547872"/>
            <a:ext cx="0" cy="402336"/>
          </a:xfrm>
          <a:prstGeom prst="line">
            <a:avLst/>
          </a:prstGeom>
          <a:noFill/>
          <a:ln w="19050">
            <a:solidFill>
              <a:srgbClr val="00953B"/>
            </a:solidFill>
            <a:prstDash val="dash"/>
            <a:headEnd type="triangle"/>
            <a:tailEnd type="triangle"/>
          </a:ln>
        </p:spPr>
      </p:sp>
      <p:sp>
        <p:nvSpPr>
          <p:cNvPr id="48" name="Text 46"/>
          <p:cNvSpPr/>
          <p:nvPr/>
        </p:nvSpPr>
        <p:spPr>
          <a:xfrm>
            <a:off x="7315200" y="3685032"/>
            <a:ext cx="4279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953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SLA/KPI契約・検収（未達は是正・減額）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6583680" y="3950208"/>
            <a:ext cx="3488253" cy="1170432"/>
          </a:xfrm>
          <a:prstGeom prst="roundRect">
            <a:avLst>
              <a:gd name="adj" fmla="val 4688"/>
            </a:avLst>
          </a:prstGeom>
          <a:solidFill>
            <a:srgbClr val="E8EEF5"/>
          </a:solidFill>
          <a:ln w="15875">
            <a:solidFill>
              <a:srgbClr val="1F4E7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720840" y="4023360"/>
            <a:ext cx="32139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4E7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NTTDシェアード運用センター（24時間365日）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6720840" y="4352544"/>
            <a:ext cx="1010351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1F4E7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720840" y="4352544"/>
            <a:ext cx="101035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F4E7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L1：定型・監視</a:t>
            </a:r>
            <a:endParaRPr lang="en-US" sz="820" dirty="0"/>
          </a:p>
        </p:txBody>
      </p:sp>
      <p:sp>
        <p:nvSpPr>
          <p:cNvPr id="53" name="Shape 51"/>
          <p:cNvSpPr/>
          <p:nvPr/>
        </p:nvSpPr>
        <p:spPr>
          <a:xfrm>
            <a:off x="7804343" y="4352544"/>
            <a:ext cx="1010351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1F4E7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804343" y="4352544"/>
            <a:ext cx="101035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F4E7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L2：定型・非定型</a:t>
            </a:r>
            <a:endParaRPr lang="en-US" sz="820" dirty="0"/>
          </a:p>
        </p:txBody>
      </p:sp>
      <p:sp>
        <p:nvSpPr>
          <p:cNvPr id="55" name="Shape 53"/>
          <p:cNvSpPr/>
          <p:nvPr/>
        </p:nvSpPr>
        <p:spPr>
          <a:xfrm>
            <a:off x="8887846" y="4352544"/>
            <a:ext cx="1010351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1F4E7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887846" y="4352544"/>
            <a:ext cx="101035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F4E7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L3：非定型・管理</a:t>
            </a:r>
            <a:endParaRPr lang="en-US" sz="820" dirty="0"/>
          </a:p>
        </p:txBody>
      </p:sp>
      <p:sp>
        <p:nvSpPr>
          <p:cNvPr id="57" name="Text 55"/>
          <p:cNvSpPr/>
          <p:nvPr/>
        </p:nvSpPr>
        <p:spPr>
          <a:xfrm>
            <a:off x="6720840" y="4791456"/>
            <a:ext cx="32139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4E7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AI／自動化基盤（生成AI・RPA）を段階適用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10181661" y="3950208"/>
            <a:ext cx="1412931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9525">
            <a:solidFill>
              <a:srgbClr val="9AA5A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0291389" y="4023360"/>
            <a:ext cx="1230051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F2A2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残置ベンダ
</a:t>
            </a:r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5A666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評価の高い現行ベンダは実行層として残置（移管リスク抑制）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6583680" y="5193792"/>
            <a:ext cx="5010912" cy="237744"/>
          </a:xfrm>
          <a:prstGeom prst="roundRect">
            <a:avLst>
              <a:gd name="adj" fmla="val 23077"/>
            </a:avLst>
          </a:prstGeom>
          <a:solidFill>
            <a:srgbClr val="E9F5EE"/>
          </a:solidFill>
          <a:ln/>
        </p:spPr>
      </p:sp>
      <p:sp>
        <p:nvSpPr>
          <p:cNvPr id="61" name="Text 59"/>
          <p:cNvSpPr/>
          <p:nvPr/>
        </p:nvSpPr>
        <p:spPr>
          <a:xfrm>
            <a:off x="6675120" y="5193792"/>
            <a:ext cx="4828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6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社員の実行・肩代わり業務はゼロ（利用部門の問い合わせはサービスデスクが一次受け）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457200" y="5742432"/>
            <a:ext cx="11274552" cy="841248"/>
          </a:xfrm>
          <a:prstGeom prst="roundRect">
            <a:avLst>
              <a:gd name="adj" fmla="val 6522"/>
            </a:avLst>
          </a:prstGeom>
          <a:solidFill>
            <a:srgbClr val="006B2B"/>
          </a:solidFill>
          <a:ln/>
        </p:spPr>
      </p:sp>
      <p:sp>
        <p:nvSpPr>
          <p:cNvPr id="63" name="Text 61"/>
          <p:cNvSpPr/>
          <p:nvPr/>
        </p:nvSpPr>
        <p:spPr>
          <a:xfrm>
            <a:off x="731520" y="5742432"/>
            <a:ext cx="10789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FE5C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対比の要点：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変わるのは「担い手」— 戦略：兼務→専任化／統制：空洞（社員の個人技）→LEB＋SLA契約／実行：分散7社＋社員→NTTDセンター＋残置ベンダに集約。肩代わり12FTEは企画業務へシフト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2026-08-23T12:19:41Z</dcterms:created>
  <dcterms:modified xsi:type="dcterms:W3CDTF">2026-08-23T12:19:41Z</dcterms:modified>
</cp:coreProperties>
</file>