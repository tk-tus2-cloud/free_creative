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4B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デジタル戦略部｜戦略企画室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新卒採用における活躍人材像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EDE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経営の参謀 兼 規律の設計者 ―「3〜5年後に目指す姿」と「入社時に求める素地」を分けて整理する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0B5E3C"/>
          </a:solidFill>
          <a:ln w="9525">
            <a:solidFill>
              <a:srgbClr val="1E7A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78608"/>
            <a:ext cx="475488" cy="475488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78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2186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「企画書屋・事務局」からの脱却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395020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FE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求めるのは、美しい資料を作る人でも報告を束ねる人でもない。「何にカネとヒトを張り、何を止めるか」という資源配分の意思決定をつくり、実行と成果まで追い切る人材。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2860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0B5E3C"/>
          </a:solidFill>
          <a:ln w="9525">
            <a:solidFill>
              <a:srgbClr val="1E7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578608"/>
            <a:ext cx="475488" cy="475488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578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2186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経営の参謀 兼 規律の設計者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63440" y="395020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FE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部内で唯一、システムも基盤も作らない。アウトプットは戦略・投資配分・ガバナンス・人材という「会社を動かすOS」。成果は他チームの実行を通じて実現される。摩擦から逃げない胆力を重視。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22860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0B5E3C"/>
          </a:solidFill>
          <a:ln w="9525">
            <a:solidFill>
              <a:srgbClr val="1E7A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578608"/>
            <a:ext cx="475488" cy="475488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578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2186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完成品ではなく「素地」を採る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66760" y="395020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FE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活躍像は育成した先のゴール。入社時は変わりにくい「思考の癖」と「気質」に絞って求める。ただしデジタルの素地だけは、関心の証拠として例外的に入社時に問う。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D4B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「ハレーションが起きるということは、本質的な変革（X）に挑んでいる証拠」 ― 当部・DX実践指針より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整理の枠組み｜人材要件の4層モデル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教えられるもの・実務で育つものは入社時に求めない。変わりにくい下2層だけを見る。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989320" cy="941832"/>
          </a:xfrm>
          <a:prstGeom prst="roundRect">
            <a:avLst>
              <a:gd name="adj" fmla="val 5825"/>
            </a:avLst>
          </a:prstGeom>
          <a:solidFill>
            <a:srgbClr val="F3F4F3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270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知識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教えれば身につく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95728" y="1417320"/>
            <a:ext cx="2926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会計・財務／戦略フレームワーク／高度なIT専門性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40680" y="1691640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169164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求めない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5989320" cy="941832"/>
          </a:xfrm>
          <a:prstGeom prst="roundRect">
            <a:avLst>
              <a:gd name="adj" fmla="val 5825"/>
            </a:avLst>
          </a:prstGeom>
          <a:solidFill>
            <a:srgbClr val="F3F4F3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スキル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9992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数年の実務で育つ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95728" y="2496312"/>
            <a:ext cx="2926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構造化力／資料作成／提言力／合意形成・調整力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40680" y="2770632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277063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原石のみ見る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5989320" cy="941832"/>
          </a:xfrm>
          <a:prstGeom prst="roundRect">
            <a:avLst>
              <a:gd name="adj" fmla="val 5825"/>
            </a:avLst>
          </a:prstGeom>
          <a:solidFill>
            <a:srgbClr val="EAF5EE"/>
          </a:solidFill>
          <a:ln w="15875">
            <a:solidFill>
              <a:srgbClr val="00A6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85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3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思考の癖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0782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変わりにくい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95728" y="3575304"/>
            <a:ext cx="2926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「なぜ？」と考える／要素を分けて話す／相手に合わせて伝え方を変える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680" y="3849624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007A3D"/>
          </a:solidFill>
          <a:ln w="9525">
            <a:solidFill>
              <a:srgbClr val="007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384962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ここを見る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654296"/>
            <a:ext cx="5989320" cy="941832"/>
          </a:xfrm>
          <a:prstGeom prst="roundRect">
            <a:avLst>
              <a:gd name="adj" fmla="val 5825"/>
            </a:avLst>
          </a:prstGeom>
          <a:solidFill>
            <a:srgbClr val="EAF5EE"/>
          </a:solidFill>
          <a:ln w="15875">
            <a:solidFill>
              <a:srgbClr val="00A6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7640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3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気質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51572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ほぼ変わらない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95728" y="4654296"/>
            <a:ext cx="2926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知的胆力／誠実さ／裏方の喜び／テクノロジーへの好奇心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40680" y="4928616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007A3D"/>
          </a:solidFill>
          <a:ln w="9525">
            <a:solidFill>
              <a:srgbClr val="007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4928616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ここが本丸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12280" y="1417320"/>
            <a:ext cx="4800600" cy="2286000"/>
          </a:xfrm>
          <a:prstGeom prst="roundRect">
            <a:avLst>
              <a:gd name="adj" fmla="val 2400"/>
            </a:avLst>
          </a:prstGeom>
          <a:solidFill>
            <a:srgbClr val="EAF5EE"/>
          </a:solidFill>
          <a:ln w="15875">
            <a:solidFill>
              <a:srgbClr val="00A6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9168" y="16002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A3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例外：デジタルの素地は入社時に求める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59168" y="2011680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データ分析・統計・ITの基礎は、大学までに学ぶ機会が広く存在する。だからこそ「学んでこなかった」こと自体が、デジタルへの関心の低さのシグナルになる。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デジタルの素地は知識テストではなく、気質（関心・学習意欲）の観測手段として要件に置く。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12280" y="3931920"/>
            <a:ext cx="4800600" cy="178308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59168" y="40965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入社時に求めないもの（入社後に当室が育てる）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86600" y="44805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会計・財務知識／経営・戦略フレームワーク／資料作成技術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提言力・合意形成力・調整力（完成形。原石となる「伝える力・協働経験」は素地で見る）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高度なデジタル専門性（機械学習の実装・インフラ構築・プログラミング実務）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0482B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8978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メッセージ：専攻は問わない。ただし、デジタルに自ら触れてきた事実は問う。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活躍像｜3〜5年後に目指す姿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418320" y="420624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AF5EE"/>
          </a:solidFill>
          <a:ln w="12700">
            <a:solidFill>
              <a:srgbClr val="00A6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0" y="42062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A3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入社時の要件ではない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当室で育成した先のゴール。採用ではこの原石（次頁の素地・気質）を見る。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2148840"/>
          </a:xfrm>
          <a:prstGeom prst="roundRect">
            <a:avLst>
              <a:gd name="adj" fmla="val 2979"/>
            </a:avLst>
          </a:prstGeom>
          <a:solidFill>
            <a:srgbClr val="F5FAF7"/>
          </a:solidFill>
          <a:ln w="12700">
            <a:solidFill>
              <a:srgbClr val="CBE3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55648"/>
            <a:ext cx="420624" cy="420624"/>
          </a:xfrm>
          <a:prstGeom prst="ellipse">
            <a:avLst/>
          </a:prstGeom>
          <a:solidFill>
            <a:srgbClr val="007A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7556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経営とデジタルの「翻訳者」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322576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ROIC・EBITDA・キャッシュという経営の言葉と、システム・データ・AIというデジタルの言葉を相互に翻訳し、中期経営計画とDX戦略を一本の線で接続できる。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481328"/>
            <a:ext cx="5394960" cy="2148840"/>
          </a:xfrm>
          <a:prstGeom prst="roundRect">
            <a:avLst>
              <a:gd name="adj" fmla="val 2979"/>
            </a:avLst>
          </a:prstGeom>
          <a:solidFill>
            <a:srgbClr val="F5FAF7"/>
          </a:solidFill>
          <a:ln w="12700">
            <a:solidFill>
              <a:srgbClr val="CBE3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0528" y="1755648"/>
            <a:ext cx="420624" cy="420624"/>
          </a:xfrm>
          <a:prstGeom prst="ellipse">
            <a:avLst/>
          </a:prstGeom>
          <a:solidFill>
            <a:srgbClr val="007A3D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0" y="17556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「やらないこと」を決めさせる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2322576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「何をやるか」以上に「何をやらないか」を構造化・定量化して提言し（投資の承認・保留・廃止）、摩擦を恐れず全社の意思決定を前に進められる。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5394960" cy="2148840"/>
          </a:xfrm>
          <a:prstGeom prst="roundRect">
            <a:avLst>
              <a:gd name="adj" fmla="val 2979"/>
            </a:avLst>
          </a:prstGeom>
          <a:solidFill>
            <a:srgbClr val="F5FAF7"/>
          </a:solidFill>
          <a:ln w="12700">
            <a:solidFill>
              <a:srgbClr val="CBE3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151376"/>
            <a:ext cx="420624" cy="420624"/>
          </a:xfrm>
          <a:prstGeom prst="ellipse">
            <a:avLst/>
          </a:prstGeom>
          <a:solidFill>
            <a:srgbClr val="007A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1513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決めたら、追い切る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718304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戦略を描いて終わりにしない。推進管理を通じて計画とのGAPを捉え、軌道修正を自ら仕掛け、成果が数字になるまで執着できる。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877056"/>
            <a:ext cx="5394960" cy="2148840"/>
          </a:xfrm>
          <a:prstGeom prst="roundRect">
            <a:avLst>
              <a:gd name="adj" fmla="val 2979"/>
            </a:avLst>
          </a:prstGeom>
          <a:solidFill>
            <a:srgbClr val="F5FAF7"/>
          </a:solidFill>
          <a:ln w="12700">
            <a:solidFill>
              <a:srgbClr val="CBE3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0528" y="4151376"/>
            <a:ext cx="420624" cy="420624"/>
          </a:xfrm>
          <a:prstGeom prst="ellipse">
            <a:avLst/>
          </a:prstGeom>
          <a:solidFill>
            <a:srgbClr val="007A3D"/>
          </a:solidFill>
          <a:ln/>
        </p:spPr>
      </p:sp>
      <p:sp>
        <p:nvSpPr>
          <p:cNvPr id="23" name="Text 21"/>
          <p:cNvSpPr/>
          <p:nvPr/>
        </p:nvSpPr>
        <p:spPr>
          <a:xfrm>
            <a:off x="651052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86600" y="41513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大きな主語で考える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86600" y="4718304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「全社・グローバル・中長期」という自分より大きな主語で考え、他チーム・他部門を動かすことで成果を出せる。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背景：戦略企画室の「プロダクト」は意思決定・資源配分・ルール（DX13テーマ推進管理／デジタル投資合理化／ガバナンスコード／グローバルITガバナンス／DX人材開発）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入社時に求めるもの｜② 素地（原石） × ③ マインド（気質）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3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入社時に最低限ほしい素地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5532120" cy="1078992"/>
          </a:xfrm>
          <a:prstGeom prst="roundRect">
            <a:avLst>
              <a:gd name="adj" fmla="val 5085"/>
            </a:avLst>
          </a:prstGeom>
          <a:solidFill>
            <a:srgbClr val="F5FAF7"/>
          </a:solidFill>
          <a:ln w="12700">
            <a:solidFill>
              <a:srgbClr val="CBE3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264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3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思考の素地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175564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構造化の「癖」：要素を分けて整理しようとする習慣（完成度は不要）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書く基礎体力：筋道立てて文章にできる（卒論レベルで十分）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532120" cy="1380744"/>
          </a:xfrm>
          <a:prstGeom prst="roundRect">
            <a:avLst>
              <a:gd name="adj" fmla="val 3974"/>
            </a:avLst>
          </a:prstGeom>
          <a:solidFill>
            <a:srgbClr val="F5FAF7"/>
          </a:solidFill>
          <a:ln w="12700">
            <a:solidFill>
              <a:srgbClr val="CBE3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517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3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デジタルの素地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98094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データ分析の基礎経験：卒論等で実データから結論を出した（Excel可）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ITの基礎知識：システム・NW・クラウド・セキュリティの基本概念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デジタルツールの利用実践：生成AI等を自ら使いこなしている事実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087368"/>
            <a:ext cx="5532120" cy="1380744"/>
          </a:xfrm>
          <a:prstGeom prst="roundRect">
            <a:avLst>
              <a:gd name="adj" fmla="val 3974"/>
            </a:avLst>
          </a:prstGeom>
          <a:solidFill>
            <a:srgbClr val="F5FAF7"/>
          </a:solidFill>
          <a:ln w="12700">
            <a:solidFill>
              <a:srgbClr val="CBE3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78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3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対人の素地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50799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相手に合わせて伝える力：専門外の相手に平易に説明できる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立場の異なる人と協働し、意見の違いを乗り越えた経験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（尚可）英語・海外への抵抗感のなさ：グローバルITを担うため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5660136"/>
            <a:ext cx="5532120" cy="777240"/>
          </a:xfrm>
          <a:prstGeom prst="roundRect">
            <a:avLst>
              <a:gd name="adj" fmla="val 7059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566013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ポイント：知識は問わない。「自ら動いた事実（経験）」があるかを見る。合意形成力・調整力の完成形は実務で育てる——見るのはその原石。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9326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3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マインド（DX実践指針のDNAを新卒レベルに翻訳）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55080" y="1335024"/>
            <a:ext cx="5285232" cy="1078992"/>
          </a:xfrm>
          <a:prstGeom prst="roundRect">
            <a:avLst>
              <a:gd name="adj" fmla="val 5085"/>
            </a:avLst>
          </a:prstGeom>
          <a:solidFill>
            <a:srgbClr val="EAF5EE"/>
          </a:solidFill>
          <a:ln w="12700">
            <a:solidFill>
              <a:srgbClr val="00A6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4264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8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知的誠実さ 〜規律の担い手として〜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0" y="175564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素直さと自分の頭の両立：助言は素直に、結論は自分の頭で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言うべきことを言えた経験：空気に流されず異論を言えた〔指針2〕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2560320"/>
            <a:ext cx="5285232" cy="1078992"/>
          </a:xfrm>
          <a:prstGeom prst="roundRect">
            <a:avLst>
              <a:gd name="adj" fmla="val 5085"/>
            </a:avLst>
          </a:prstGeom>
          <a:solidFill>
            <a:srgbClr val="EAF5EE"/>
          </a:solidFill>
          <a:ln w="12700">
            <a:solidFill>
              <a:srgbClr val="00A6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6517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8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成果への執着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75120" y="298094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やり切った経験：何か一つを最後まで完遂した事実〔指針5〕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まず小さく動く癖：完璧な計画を待たず、試して学ぶ〔指針4〕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3785616"/>
            <a:ext cx="5285232" cy="1078992"/>
          </a:xfrm>
          <a:prstGeom prst="roundRect">
            <a:avLst>
              <a:gd name="adj" fmla="val 5085"/>
            </a:avLst>
          </a:prstGeom>
          <a:solidFill>
            <a:srgbClr val="EAF5EE"/>
          </a:solidFill>
          <a:ln w="12700">
            <a:solidFill>
              <a:srgbClr val="00A6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87705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8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他者を通じて成果を出す喜び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75120" y="42062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相手の立場から考える想像力：相手のメリットから発想〔指針3〕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裏方の喜び：自分が目立つよりチームの勝ちを喜べる〔指針6〕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5010912"/>
            <a:ext cx="5285232" cy="1078992"/>
          </a:xfrm>
          <a:prstGeom prst="roundRect">
            <a:avLst>
              <a:gd name="adj" fmla="val 5085"/>
            </a:avLst>
          </a:prstGeom>
          <a:solidFill>
            <a:srgbClr val="EAF5EE"/>
          </a:solidFill>
          <a:ln w="12700">
            <a:solidFill>
              <a:srgbClr val="00A6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51023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8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探究心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675120" y="543153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テクノロジーへの好奇心：新しいツールはまず自分で触る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「仕組み」への興味・変化を面白がる：改善を喜べる〔指針1〕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6281928"/>
            <a:ext cx="5285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F6B6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〔指針n〕＝当部「成果を出すためのDX実践指針」との対応（1 成果の定義／2 妥協の排除／3 巻き込み方／4 Quickwin／5 責任の明確化／6 伴走の覚悟）。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F6B6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育成後の行動指針を、新卒時点で観察可能な気質の原石に翻訳している。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選考フェーズへの落とし込み｜素地は「行動の事実」で見極める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知識を問う試験は不要。過去の行動と、その場で試せる小さな課題だけで、素地と気質は判別できる。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6400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評価する素地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見方（具体）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ES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書く基礎体力／やり切った経験／デジタル経験の有無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文章が構造的か（接続詞が論理的につながっているか）。データ分析・デジタル活用の経験が「具体的に」書かれているか。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面接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構造化の癖／知的胆力／協働経験／テクノロジーへの好奇心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想定外の質問への回答が整理されているか。対立・異論、立場の異なる人との協働を具体で語れるか。「生成AIを普段どう使っているか」（使っていない学生は具体で語れない）。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技術面接・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ケース的な問い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データ分析の基礎経験／数字への抵抗感／相手に合わせて伝える力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卒論・ゼミの分析を深掘り（何を主張するために・どんなデータを・どう分析したか）→続けて「専門外の人に説明して」とその場で依頼し、分析力と翻訳力を同時確認。簡単なグラフを見せて「何が気になる？」で考える癖を判別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064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5EE"/>
          </a:solidFill>
          <a:ln w="12700">
            <a:solidFill>
              <a:srgbClr val="00A6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80644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8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本回答は最終ペルソナを決めるものではなく、①各Tの活躍像整理 → ②部共通要素の抽出 → ③28卒ターゲット整理 → ④選考フェーズ設計、の議論のたたき台として提出する。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2026-07-30T03:19:11Z</dcterms:created>
  <dcterms:modified xsi:type="dcterms:W3CDTF">2026-07-30T03:19:11Z</dcterms:modified>
</cp:coreProperties>
</file>