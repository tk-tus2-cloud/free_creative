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As-Is業務フロー 全体俯瞰(明石・ハブラシ植毛ライン+包装)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9692640" y="5486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2026/8 現在｜明工・生技G資料(8/27)より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受入から出荷まで人手の付帯作業が連鎖し、検査は45%が抜き取りのみ ― 作業を要求している基準・ルールは、どの工程でも検証されていない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72768" y="694944"/>
            <a:ext cx="1696212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8488" y="69494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資材受入・運搬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00984" y="694944"/>
            <a:ext cx="1696212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69494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供給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694944"/>
            <a:ext cx="1696212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69494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運転(植毛・包装)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57416" y="694944"/>
            <a:ext cx="1696212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69494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検査・長毛処理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85632" y="694944"/>
            <a:ext cx="1696212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69494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箱詰め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213848" y="694944"/>
            <a:ext cx="1696212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59568" y="694944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出荷(パレタイズ)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042416"/>
            <a:ext cx="1234440" cy="1572768"/>
          </a:xfrm>
          <a:prstGeom prst="roundRect">
            <a:avLst>
              <a:gd name="adj" fmla="val 3704"/>
            </a:avLst>
          </a:prstGeom>
          <a:solidFill>
            <a:srgbClr val="DFEBDB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042416"/>
            <a:ext cx="11247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資材・供給・箱詰め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約43名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72768" y="1042416"/>
            <a:ext cx="169621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36776" y="1078992"/>
            <a:ext cx="15681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PL受入・運搬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段ボール天面カット・フラップ固定 ●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養生布はがし(歯磨) ●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空段ボール解体・カート収納
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3300984" y="1042416"/>
            <a:ext cx="169621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078992"/>
            <a:ext cx="15681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供給=手作業 ●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植毛: ブラシ供給+箱詰 22名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刷子包装: ブラシ供給 16名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歯磨: チューブ供給 5名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除電集塵機への投入 ●
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8485632" y="1042416"/>
            <a:ext cx="169621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1078992"/>
            <a:ext cx="15681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箱詰め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定数チェック(1マス・全数) ●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抜き取り検査と兼務
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10213848" y="1042416"/>
            <a:ext cx="1696212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77856" y="1078992"/>
            <a:ext cx="15681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出荷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パレタイズ・デパレタイズ ●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返却PL天地反転・結束 ●
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029200" y="1042416"/>
            <a:ext cx="3424428" cy="1572768"/>
          </a:xfrm>
          <a:prstGeom prst="roundRect">
            <a:avLst>
              <a:gd name="adj" fmla="val 2907"/>
            </a:avLst>
          </a:prstGeom>
          <a:solidFill>
            <a:srgbClr val="FBEDEA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1097280"/>
            <a:ext cx="32781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過去の自動化検討3件は「あと一歩」で停止 ◆
</a:t>
            </a:r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チューブ供給 76百万円 → 投資基準超過
中間製品供給機 130百万円 → 置く場所がない
ハンドル供給機 54.8百万円 → 費用対効果が合わない
</a:t>
            </a:r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いずれも付帯作業を含んだままの装置仕様で見積もり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688336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DFEBDB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688336"/>
            <a:ext cx="1124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ライン運転(OP)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台付・準備 含む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2688336"/>
            <a:ext cx="34244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2724912"/>
            <a:ext cx="3296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植毛・包装の運転/段替え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B停止(チョコ停)対応に張り付き ● ― 原因除去でなく、人が吸収している
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274320" y="3474720"/>
            <a:ext cx="1234440" cy="1188720"/>
          </a:xfrm>
          <a:prstGeom prst="roundRect">
            <a:avLst>
              <a:gd name="adj" fmla="val 3846"/>
            </a:avLst>
          </a:prstGeom>
          <a:solidFill>
            <a:srgbClr val="DFEBDB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474720"/>
            <a:ext cx="1124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検査・品質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約23名(植毛)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7416" y="3474720"/>
            <a:ext cx="1696212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3511296"/>
            <a:ext cx="15681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全数目視+パトロール+抜き取り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不良33種類中、15種類(45%)は抜き取り検査のみ ●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A6D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目視の見逃し率は未測定 ◆
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8485632" y="3474720"/>
            <a:ext cx="1696212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3511296"/>
            <a:ext cx="15681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長毛処理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発生源(植毛条件)を対策せず、後工程で処理し続けている ●
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300984" y="3474720"/>
            <a:ext cx="3424428" cy="1188720"/>
          </a:xfrm>
          <a:prstGeom prst="roundRect">
            <a:avLst>
              <a:gd name="adj" fmla="val 3846"/>
            </a:avLst>
          </a:prstGeom>
          <a:solidFill>
            <a:srgbClr val="F3F8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511296"/>
            <a:ext cx="32964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歯磨・刷子包装の検査 → 汎用検査装置・包材変更で対応検討中(別動・スコープ外)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植毛の検査だけが人手に残る見込み
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4736592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DFEBDB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4736592"/>
            <a:ext cx="1124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基準・ルール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作業を要求する層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572768" y="4736592"/>
            <a:ext cx="10337292" cy="786384"/>
          </a:xfrm>
          <a:prstGeom prst="roundRect">
            <a:avLst>
              <a:gd name="adj" fmla="val 5814"/>
            </a:avLst>
          </a:prstGeom>
          <a:solidFill>
            <a:srgbClr val="FFF7F5"/>
          </a:solidFill>
          <a:ln w="19050">
            <a:solidFill>
              <a:srgbClr val="B85042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664208" y="4791456"/>
            <a:ext cx="101544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基準ギャップ(本検討の最大論点):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作業↔基準の対応表がない ◆ / 基準は追加される一方で、削除する仕組みがない ◆ / 検査機の要求仕様が「33種類フル対応」に向かう恐れ ● / 投資基準(39,200/44,100千円/名)の前提人件費が旧賃金のまま ◆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5650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解決のポイント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5888736"/>
            <a:ext cx="3785616" cy="658368"/>
          </a:xfrm>
          <a:prstGeom prst="roundRect">
            <a:avLst>
              <a:gd name="adj" fmla="val 6944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5888736"/>
            <a:ext cx="3602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 付帯作業の連鎖  </a:t>
            </a:r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供給・箱詰め(約43名)の装置を高くしているのは付帯作業。装置より先に、資材仕様・受入ルールで作業そのものを無くす(①無くす→③置き換えるの順)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1668" y="5888736"/>
            <a:ext cx="3785616" cy="658368"/>
          </a:xfrm>
          <a:prstGeom prst="roundRect">
            <a:avLst>
              <a:gd name="adj" fmla="val 6944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3108" y="5888736"/>
            <a:ext cx="3602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 基準の未検証  </a:t>
            </a:r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検査(約23名)の主役は自動検査機。ただし15種類×流出実績の突き合わせで仕様を絞らなければ、過去3案件と同じく投資基準で止まる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29016" y="5888736"/>
            <a:ext cx="3785616" cy="658368"/>
          </a:xfrm>
          <a:prstGeom prst="roundRect">
            <a:avLst>
              <a:gd name="adj" fmla="val 6944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0456" y="5888736"/>
            <a:ext cx="3602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 評価の枠の古さ  </a:t>
            </a:r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「1台1作業1ライン」の評価と旧賃金前提が、成立するはずの案件を止めている。束ねて評価+投資基準の前提更新(SCM戦略部)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6601968"/>
            <a:ext cx="1164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凡例:  ● = 人手・手作業の課題   ◆ = データ・根拠が未整備   赤破線 = 基準・ルールのギャップ   緑 = 対応済み・別動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課題と解決のポイント(工程別一覧)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順序: ①無くす(基準・資材のルール側で) → ②減らす(まとめる・簡単にする) → ③機械に置き換える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403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66160"/>
                <a:gridCol w="3383280"/>
                <a:gridCol w="640080"/>
                <a:gridCol w="1554480"/>
                <a:gridCol w="12618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課題(As-Is)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解決のポイント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順序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いつ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資材受入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段ボール天面カット・フラップ固定・養生布はがしが手作業のまま残る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箱・資材の仕様変更と受入ルールの見直しで、作業そのものを無くす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工場+資材・包技研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26/10台帳→27年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供給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手作業供給が43名。過去の自動化(76百万円)は付帯作業込みの仕様で投資基準を超過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付帯作業を消して装置を「運ぶだけ」に単純化してから、再見積もりする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①→③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生技セ+工場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26/12仕様→27年PoC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供給(レイアウト)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1ライン専用機の前提では置く場所がない(130百万円案が停止)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複数ラインの供給をまとめて運ぶ(AMR)。レイアウト前提ごと見直す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②→③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生技セ+SCM戦略部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27年構想・PoC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運転(OP)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B停止(チョコ停)対応に人が張り付き、原因は放置されがち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停止原因の除去と復旧の標準化。「人が吸収する」運営をやめる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工場(中林氏)+デジ戦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26/11〜27年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検査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不良33種類中15種類が抜き取りのみ。検査機仕様が「33種類フル」に向かうと投資基準で止まる恐れ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15種類×流出実績を突き合わせて仕様を絞る(例:33→25)→自動検査機を開発(主役)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①→③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品質保証+工場QA→生技セ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26/10突合→27年PoC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長毛処理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発生源(植毛条件)を対策せず、後工程で処理し続けている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植毛条件の管理で発生源を潰し、処理工程を縮小・不要化する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工場+プロ包技室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26/12方向性→27年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箱詰め・出荷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定数チェック(全数)・パレタイズ・PL反転が手作業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チェック方式の見直し(重量式等)+供給と束ねてロボット1台に兼務させる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①→③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工場+生技セ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27年PoCと同時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全体(評価ルール)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投資基準の前提人件費が旧賃金のまま。「1台1作業1ライン」の枠で評価している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前提人件費を今の賃金水準に更新し、「束ねて評価」に変える — 過去3案件を再評価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SCM戦略部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26/12まで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5806440"/>
            <a:ext cx="11640312" cy="566928"/>
          </a:xfrm>
          <a:prstGeom prst="roundRect">
            <a:avLst>
              <a:gd name="adj" fmla="val 806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0624" y="580644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共通する解き方: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どの工程も「作業を要求しているルール(基準・資材仕様・評価基準)を先に確かめ、装置の仕事を軽くしてから、機械に置き換える」— この順序が投資を通す鍵。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明工・生技G資料(2026/8/27) ※解決のポイントは仮説。やるかどうかは工場・品質保証との共同検証で決める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2026-08-28T01:53:54Z</dcterms:created>
  <dcterms:modified xsi:type="dcterms:W3CDTF">2026-08-28T01:53:54Z</dcterms:modified>
</cp:coreProperties>
</file>