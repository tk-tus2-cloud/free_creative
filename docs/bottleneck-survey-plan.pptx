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前提 — なぜ「明石工場・ハブラシ植毛ライン」なのか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052560" y="9144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スコープ選定の論理(全社 → 明石 → 植毛)｜2026年8月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603504"/>
            <a:ext cx="11640312" cy="1060704"/>
          </a:xfrm>
          <a:prstGeom prst="roundRect">
            <a:avLst>
              <a:gd name="adj" fmla="val 5172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67512"/>
            <a:ext cx="11365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Q1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なぜ「生産性・省人化」か — 全社戦略の要請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" y="941832"/>
            <a:ext cx="11311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中計Vision2030 2nd STAGE(25〜27年)は「収益力強靭化」: 27年EBITDAマージン13%超・ROIC8〜9%(公開情報)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生産技術のKGI = 国内工場の一人当たり生産金額 2030年+20%(生産技術戦略会議で設定済み)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労働力人口の減少で製造要員の確保は年々困難に — 省人化はコスト削減ではなく「事業継続の条件」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1828800"/>
            <a:ext cx="10908792" cy="1060704"/>
          </a:xfrm>
          <a:prstGeom prst="roundRect">
            <a:avLst>
              <a:gd name="adj" fmla="val 5172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92808"/>
            <a:ext cx="10634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Q2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なぜ「明石工場」か — 最重点事業の特化拠点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2167128"/>
            <a:ext cx="10579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オーラルヘルスケアは2nd STAGEの最重点事業(成長ドライバー)。明石はハブラシの特化拠点 = OHC生産性の主戦場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「明石・オーラル注力」はデジ戦とも合意済み(6/10打合せ) — 関係部門のベクトルが既に揃っている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フィジカルAI効果見積もり(31〜52機・省人化目標53名・工場317→264名)の対象拠点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554480" y="288950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3054096"/>
            <a:ext cx="10177272" cy="1389888"/>
          </a:xfrm>
          <a:prstGeom prst="roundRect">
            <a:avLst>
              <a:gd name="adj" fmla="val 394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3118104"/>
            <a:ext cx="9902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highlight>
                  <a:srgbClr val="2C5F2D"/>
                </a:highlight>
                <a:latin typeface="Meiryo UI" pitchFamily="34" charset="0"/>
                <a:ea typeface="Meiryo UI" pitchFamily="34" charset="-122"/>
                <a:cs typeface="Meiryo UI" pitchFamily="34" charset="-120"/>
              </a:rPr>
              <a:t>Q3  </a:t>
            </a:r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なぜ「植毛ライン」か — ギャップと改善余地の集中点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01952" y="3392424"/>
            <a:ext cx="984808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工場最大の要員集中点: 植毛115名 = 工場317名の約36%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国内工場の工程比較で「要員が多い × 一人当たり生産金額が低い」象限に位置(改善余地が最大)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包装2ラインは38→9名/37→10名と構造転換の道筋が既にある。植毛だけが100名止まり — 工場のギャップのほぼ全てが植毛に集中</a:t>
            </a:r>
            <a:endParaRPr lang="en-US" sz="820" dirty="0"/>
          </a:p>
          <a:p>
            <a:pPr marL="101600" indent="-101600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役員の名指し期待: 「115→100人ではなく、半減レベルを」(7/23役員打合せ)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274320" y="4681728"/>
            <a:ext cx="5715000" cy="1417320"/>
          </a:xfrm>
          <a:prstGeom prst="roundRect">
            <a:avLst>
              <a:gd name="adj" fmla="val 3871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754880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なぜ「今」か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5010912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フィジカルAIのPoCは27年開始 — 仕様が固まる前の今しか「基準から見直す順序」を組み込めない(凍結後では投資1〜2億円のムダが確定)</a:t>
            </a:r>
            <a:endParaRPr lang="en-US" sz="820" dirty="0"/>
          </a:p>
          <a:p>
            <a:pPr marL="101600" indent="-101600">
              <a:lnSpc>
                <a:spcPct val="105000"/>
              </a:lnSpc>
              <a:buSzPct val="100000"/>
              <a:buChar char="•"/>
            </a:pPr>
            <a:r>
              <a:rPr lang="en-US" sz="82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基準見直し(効果の約4割)は投資ゼロで27年から効果発現 — 2nd STAGE最終年(27年)の成果報告に間に合う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199632" y="4681728"/>
            <a:ext cx="5715000" cy="1417320"/>
          </a:xfrm>
          <a:prstGeom prst="roundRect">
            <a:avLst>
              <a:gd name="adj" fmla="val 3871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4754880"/>
            <a:ext cx="5440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結論(本調査のスコープ)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36792" y="502920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明石工場・ハブラシ植毛ラインを最優先スコープとする。
</a:t>
            </a:r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ここで「基準に遡って作業を無くす型」を確立し、包装ライン → 他工場 → 海外拠点へ横展開する(Phase 2以降)。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626364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生産技術戦略会議骨子案(2026/7)・フィジカルAI導入効果見積もり・7/23役員打合せメモ・6/10デジ戦打合せ議事録・Vision2030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全体サマリー — What / Where / Why / How / Who / When / How Much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9875520" y="91440"/>
            <a:ext cx="2039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ハブラシ植毛ライン(前提は前頁)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603504"/>
          <a:ext cx="1164031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08392"/>
                <a:gridCol w="260604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What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何が問題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To-Be: 植毛57名(半減・2030年、工場264名・一人当たり生産金額+20%) ⇔ As-Is: 115名。現行計画(フィジカルAI導入のみ)では100名止まり。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GAP = 43名分の打ち手が存在しない。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▲43名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年約2.2億円相当の打ち手不在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Where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特に問題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GAPは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当社独自の品質基準・規定が要求する作業(〜40名)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と設備起因の停止対応(〜25名)に集中。現行AI計画がカバーするのは定型作業(〜20名)のみで、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最大の塊に手が付いていない。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独自基準 〜40名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GAP最大の塊(未着手)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Why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遠因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①基準は品質事象の度に追加される一方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「削除するプロセス」が無い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(数十年の積層) ②「基準を緩める」提案は現場から構造的に出ない(リスクだけを負うため) ③要員数の妥当性を検証するデータが無い ④検討がHow(自動化)から始まり、基準・プロセスが「所与」扱い。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削除する仕組みが無い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基準は増える一方(構造問題)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How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解決策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全作業を台帳に棚卸しし、3つの問いに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順番に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かける: ①無くす(基準是正・品質保証との4つの約束: 同等性実証/保守側判断/即時ロールバック/QAが最終決定) → ②減らす(重複削除・停止原因除去・集約) → ③置き換える(フィジカルAI・自動検査・AMR)。AI仕様の決定は①②の結論後(26/12ゲート)。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①→②→③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無くす→減らす→置き換える(順序が投資1〜2億円を左右)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Who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誰が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オーナー: 内藤本部長/PMO: 生技セ戦略統括T。実行3チーム = ①基準是正: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品質保証部門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(採否は変更管理プロセスで決定) ②プロセス再設計: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明石工場(中林氏)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③自動化: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生技セ+デジ戦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(+SCM戦略部が投資評価)。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3チーム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品質保証/工場/生技セ+デジ戦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When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いつまでに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 チーム組成 → 26/10 台帳完成・役員中間報告 → 26/12 基準改定の方針合意・AI要件定義着手 →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27/6 改定第1弾(▲10名規模を投資ゼロで)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 → 27〜29 PoC・実装 → 2030 半減達成。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2030年 半減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26/10台帳→27/6第1弾→29実装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How Much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費用対効果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 約2.5〜3億円(フィジカルAI・自動検査・調査) → リターン </a:t>
                      </a:r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年3.0〜3.5億円(回収1年強)</a:t>
                      </a:r>
                      <a:pPr indent="0" marL="0">
                        <a:buNone/>
                      </a:pPr>
                      <a:r>
                        <a:rPr lang="en-US" sz="82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。加えて「順序」の効果で自動化投資を1〜2億円圧縮。基準に踏み込まない場合は効果6割前後に減衰(経営論点として26/10に上程)。</a:t>
                      </a:r>
                      <a:endParaRPr lang="en-US" sz="82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年3.0〜3.5億円
</a:t>
                      </a:r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投資2.5〜3億円・回収1年強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626364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人数・金額は仮説値(人件費5百万円/人・年で換算)。26/10の台帳(作業と基準の対応表)完成後に検証・確定。進め方の詳細は次頁、タスク・担当・時期の詳細は最終頁WBS参照。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進め方の詳細 — すべての作業を「3つの問い」に順番にかける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8138160" y="91440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明石工場 オーラルヘルスケア(ハブラシ植毛ライン)｜2026年8月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621792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949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89611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植毛ライン 115名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現行計画(フィジカルAI導入のみ)では100名までしか減らない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621792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694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ギャップ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51960" y="8961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あと43名分の打ち手が無い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埋める鍵は、打ち手の中身より「検討の順番」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0456" y="621792"/>
            <a:ext cx="3694176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694944"/>
            <a:ext cx="34198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理想(2030年・役員期待)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57616" y="896112"/>
            <a:ext cx="3419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57名(半減)
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工場全体317→264名・一人当たり生産金額+20%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" y="1664208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進め方 — すべての作業を「3つの問い」に順番にかける  </a:t>
            </a:r>
            <a:pPr indent="0" marL="0"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(①②③は同列の施策ではなく手順。前の問いを通り抜けた作業だけが、次の問いに進む)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DFEBDB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029968"/>
            <a:ext cx="122529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
</a:t>
            </a:r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全作業の
棚卸し
</a:t>
            </a:r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
115名分の作業を、根拠となる基準・規定と対応付けて一覧化(台帳)
</a:t>
            </a:r>
            <a:pPr indent="0" marL="0">
              <a:lnSpc>
                <a:spcPct val="100000"/>
              </a:lnSpc>
              <a:buNone/>
            </a:pP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26/8〜10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37944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47672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無くす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基準を正す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47672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「その作業は、そもそも必要か?」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47672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作業を要求している品質基準・安全基準・規定に遡り、根拠を検証。根拠が確認できない基準は改定し、作業ごと無くす。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1947672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品質保証部門｜〜27/6 改定第1弾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▲12〜18名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681728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91456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減らす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ムダを絞る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91456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「残った作業を、少なくできないか?」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91456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二重チェックの解消・記録/点検頻度の見直し・チョコ停の原因除去・段替え短縮・複数ラインの業務の集約。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91456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明石工場(中林氏)｜26/11〜27年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▲8〜12名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525512" y="1956816"/>
            <a:ext cx="2651760" cy="1874520"/>
          </a:xfrm>
          <a:prstGeom prst="roundRect">
            <a:avLst>
              <a:gd name="adj" fmla="val 2927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202996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置き換える  </a:t>
            </a:r>
            <a:pPr indent="0" marL="0">
              <a:buNone/>
            </a:pPr>
            <a:r>
              <a:rPr lang="en-US" sz="8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自動化する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635240" y="2304288"/>
            <a:ext cx="2432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「残った作業を、機械に任せられないか?」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635240" y="265176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フィジカルAI・自動検査・AMRを割当て。①②の後に設計するため必要台数が減り、投資を1〜2億円圧縮できる。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7635240" y="3355848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主担当: 生技セ+デジ戦｜27年PoC→29年
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 ▲25〜30名</a:t>
            </a:r>
            <a:endParaRPr lang="en-US" sz="730" dirty="0"/>
          </a:p>
        </p:txBody>
      </p:sp>
      <p:sp>
        <p:nvSpPr>
          <p:cNvPr id="31" name="Shape 29"/>
          <p:cNvSpPr/>
          <p:nvPr/>
        </p:nvSpPr>
        <p:spPr>
          <a:xfrm>
            <a:off x="10369296" y="1956816"/>
            <a:ext cx="1371600" cy="1874520"/>
          </a:xfrm>
          <a:prstGeom prst="roundRect">
            <a:avLst>
              <a:gd name="adj" fmla="val 4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42448" y="2066544"/>
            <a:ext cx="1225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人に残る仕事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57〜65名
</a:t>
            </a:r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(半減達成)
</a:t>
            </a:r>
            <a:pPr indent="0" marL="0">
              <a:lnSpc>
                <a:spcPct val="100000"/>
              </a:lnSpc>
              <a:buNone/>
            </a:pP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異常への対応と、改善の仕事に集中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632204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475988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9772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163556" y="1956816"/>
            <a:ext cx="219456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74320" y="39044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115名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37944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約100名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81728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約90名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525512" y="39044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残り 57〜65名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4320" y="4142232"/>
            <a:ext cx="11640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順番を逆にすると: 本来「無くせる」作業にロボット投資をしてしまい約1〜2億円がムダになるうえ、ムダな作業が設備仕様として固定化され後から消せなくなる。だからフィジカルAIの仕様決定は、①②の結論が出る26年12月まで待つ(ゲート制)。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品質は下げない — 品質保証部門との4つの約束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4048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1. 今の目視検査の実力(見逃し率)をまず測定し、自動検査が同等以上であることを並行運転(3〜6か月)で実証してから切替える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2. 使用者への影響が大きい項目は保守側に判断する(FMEA)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3. 段階的に切替え、問題があれば即座に元へ戻す(戻す権限は品質保証が単独で持つ)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4. 変える/変えないの最終判断は品質保証部門(変更管理プロセス)。「変えない」も正当な結論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4201668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11396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効果(いくら・いつから)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311396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リターン 年3.0〜3.5億円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内訳: 省人化53名分=約2.7億円+基準・プロセス見直し0.3〜0.6億円(こちらは投資ほぼゼロで27年から発現)
</a:t>
            </a:r>
            <a:pPr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投資: 約2.5〜3億円 → 実装後1年強で回収
</a:t>
            </a:r>
            <a:pPr indent="0" marL="0">
              <a:lnSpc>
                <a:spcPct val="108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加えて「順番」の効果で自動化投資を1〜2億円圧縮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129016" y="4681728"/>
            <a:ext cx="3785616" cy="1572768"/>
          </a:xfrm>
          <a:prstGeom prst="roundRect">
            <a:avLst>
              <a:gd name="adj" fmla="val 3488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38744" y="47457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主要マイルストーン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38744" y="49926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26/8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3チーム組成(品質保証/工場/生技セ+デジ戦)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26/10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台帳完成 → 役員中間報告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26/12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基準改定の方針合意・AI要件定義に着手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27/6 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基準改定第1弾(▲10名規模を投資ゼロで)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27〜29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自動化PoC→実装
</a:t>
            </a:r>
            <a:pPr indent="0" marL="0">
              <a:lnSpc>
                <a:spcPct val="112000"/>
              </a:lnSpc>
              <a:buNone/>
            </a:pPr>
            <a:r>
              <a:rPr lang="en-US" sz="76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  </a:t>
            </a:r>
            <a:pPr indent="0" marL="0">
              <a:lnSpc>
                <a:spcPct val="112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半減達成・一人当たり生産金額+20%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274320" y="6419088"/>
            <a:ext cx="11640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人数・金額は仮説値(人件費5百万円/人・年で換算)。26/10の台帳(作業と基準の対応表)完成後に検証・確定 ※詳細タスク・担当・時期は次頁WBS参照 ※出典: 生産技術戦略会議骨子案・フィジカルAI効果見積もり・7/23役員打合せメモ・人事業務効率化PJT資料・Vision2030 2nd STAGE(公開情報)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5486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WBS — 生産性ボトルネック調査・構造的省人化(2026/8〜2029)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0" y="5486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実行期間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◆</a:t>
            </a:r>
            <a:pPr algn="r" indent="0" marL="0">
              <a:buNone/>
            </a:pPr>
            <a:r>
              <a:rPr lang="en-US" sz="7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ゲート: G1=台帳+役員報告(26/10) G2=改定方針合意(26/12) G3=AI要件凍結(26/12)  </a:t>
            </a:r>
            <a:pPr algn="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赤=クリティカルパス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475488"/>
          <a:ext cx="11722608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3566160"/>
                <a:gridCol w="2011680"/>
                <a:gridCol w="137160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WBS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タスク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主な成果物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26/8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27H1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27H2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28-29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PMO・ガバナンス(リーダー: 生技セ戦略統括T)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プロジェクト憲章(スコープ・KGIツリー・会議体・ゲート定義)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憲章・KPIツリー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現状施策の棚卸し(着手済み施策インベントリ・二重投資排除)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施策インベントリ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PMO+3チームL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ステークホルダー計画(役員・労組・現場・顧客/監査対応)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コミュニケーション計画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役員中間報告・踏み込みスコープ協議(G1)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中間報告資料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ゲート運営(G1→G2→G3)・効果トラッキング(OEE正味・省人化実績)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ゲート判定記録・効果台帳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PMO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基準・規定の棚卸しと是正(リーダー: 品質保証部門) — ゼロベースの本丸。採否の最終決定権はQA(変更管理プロセス)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規定インベントリ: 品質基準書・検査規格・SOP・記録/帳票類の全リスト化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規定一覧(全件・版数・所管)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安全基準・衛生基準(GMP)・保全基準の棚卸し(全基準領域へ拡張)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同左(安全・衛生・保全)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安全衛生+保全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文書化されていない内規・慣行の発掘(WS2ヒアリング連動)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慣行リスト(暗黙ルールの文書化)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工場QA+WS2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要求根拠の分類(A法規/B業界・顧客/C当社独自)+制定経緯の遡及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分類済み規定台帳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品質実績との突合+現行目視検査の実力値測定(見逃し率ベースライン)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基準×実績・目視実力値レポート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品質保証+R&amp;D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自動化前提の安全リスクアセスメント再実施(人-機械協働・保安体制)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リスクアセスメント改訂版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安全衛生+生技セ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改定候補の難易度×効果マップ(配慮/踏み込みスコープ仕分け)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改定候補一覧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改定ドラフト・QA変更管理(Change Control)手続き=採否はQAが決定(G2)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改定案・変更管理記録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1.9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改定第1弾施行(ロールバック条件付き)+市場品質モニタリング・定期棚卸し制度化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改定規定・ロールバック基準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業務プロセス調査・再設計(リーダー: 明石工場 中林氏)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調査設計(ワークサンプリング計画・簡易カメラ設置・労組/現場説明)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調査計画書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稼働・B停止ベースライン(デジ戦データ棚卸し・停止パレート)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ベースラインレポート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ワークサンプリング実施(植毛115名・シフト/品種横断)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業務分解データ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作業-規定トレーサビリティ台帳(作業×要求規定×8レバー照合)(G1)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台帳第1版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生技セ+WS1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現場ヒアリング(張り付き理由・慣行の裏取り)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ヒアリング録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ECRS再設計案(重複削除・セルフ化・集約化・権限委譲を網羅適用)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2.7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B停止原因潰し込み・復旧標準化・SMED実行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改善実行計画・実績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2.8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新プロセストライアル→SOP改訂・シフト/多能工再設計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改訂SOP・シフト計画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自動化・実行手段(リーダー: 生技セ)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自動検査装置の技術評価+目視との並行運転で検出力同等性を実証(MSA)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評価書・同等性実証レポート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工場+生技セ+品質保証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フィジカルAI要件定義(改定後基準前提・G3後に凍結)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要件定義書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AMR・搬送統合構想(工場全体レイアウト・集約配置と連動)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全体最適構想書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3.4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PoC(検査AI・フィジカルAI)・投資評価(OEE正味ROI)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PoC報告・投資申請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生技セ+SCM戦略部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3.5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実装・立ち上げ・効果刈り取り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稼働設備・効果実績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3.6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A停止(前準備/後片付け)業務の自動化・簡素化設計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A停止対策設計書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プロ包技室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 gridSpan="1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WS4 人材・チェンジマネジメント(リーダー: 生技セ+人事)</a:t>
                      </a:r>
                      <a:endParaRPr lang="en-US" sz="6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4.1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ラインアーキテクト第1期生のWSアサイン(調査×育成のOJT一体化)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アサイン計画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4.2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再配置・リスキル構想(53名分・労組協議準備)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再配置構想書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人事+工場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4.3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現場チェンジマネジメント(狙いの共有・改善提案の仕組み化)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説明会・提案制度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工場</a:t>
                      </a: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28600" y="6382512"/>
            <a:ext cx="1173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クリティカルパス(赤): 規定棚卸し(1.1〜1.4)→台帳(2.4=G1)→改定方針(1.7〜1.8=G2)→AI要件凍結(3.2=G3)→27年PoC — 規定棚卸しが全体の律速。PMOは初期リソースをWS1前半に集中投下。 ※期間・効果は仮説値、台帳完成後に確定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2026-08-11T12:19:19Z</dcterms:created>
  <dcterms:modified xsi:type="dcterms:W3CDTF">2026-08-11T12:19:19Z</dcterms:modified>
</cp:coreProperties>
</file>