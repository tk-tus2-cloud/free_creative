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54864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生産性ボトルネック調査 推進方法 Ver2.0 — 基準・規定に遡る順序駆動アプローチ</a:t>
            </a:r>
            <a:endParaRPr lang="en-US" sz="1550" dirty="0"/>
          </a:p>
        </p:txBody>
      </p:sp>
      <p:sp>
        <p:nvSpPr>
          <p:cNvPr id="3" name="Text 1"/>
          <p:cNvSpPr/>
          <p:nvPr/>
        </p:nvSpPr>
        <p:spPr>
          <a:xfrm>
            <a:off x="9006840" y="54864"/>
            <a:ext cx="2953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対象: 明石工場 オーラルヘルスケア(植毛/ハブラシ包装/ハミガキ包装)｜2026年8月｜人事PJT(規定→業務→システム)の方法論を生産へ移植</a:t>
            </a:r>
            <a:endParaRPr lang="en-US" sz="650" dirty="0"/>
          </a:p>
        </p:txBody>
      </p:sp>
      <p:sp>
        <p:nvSpPr>
          <p:cNvPr id="4" name="Shape 2"/>
          <p:cNvSpPr/>
          <p:nvPr/>
        </p:nvSpPr>
        <p:spPr>
          <a:xfrm>
            <a:off x="228600" y="512064"/>
            <a:ext cx="11731752" cy="694944"/>
          </a:xfrm>
          <a:prstGeom prst="roundRect">
            <a:avLst>
              <a:gd name="adj" fmla="val 6579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5669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統括する論理</a:t>
            </a:r>
            <a:endParaRPr lang="en-US" sz="9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(順序が全て)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828800" y="576072"/>
            <a:ext cx="31089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83664" y="576072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基準・規定を是正する</a:t>
            </a:r>
            <a:endParaRPr lang="en-US" sz="78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＝ 作業を「消す」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4956048" y="576072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166360" y="576072"/>
            <a:ext cx="31089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21224" y="576072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業務プロセスを再設計する</a:t>
            </a:r>
            <a:endParaRPr lang="en-US" sz="78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＝ 作業を「減らす」</a:t>
            </a:r>
            <a:endParaRPr lang="en-US" sz="780" dirty="0"/>
          </a:p>
        </p:txBody>
      </p:sp>
      <p:sp>
        <p:nvSpPr>
          <p:cNvPr id="11" name="Text 9"/>
          <p:cNvSpPr/>
          <p:nvPr/>
        </p:nvSpPr>
        <p:spPr>
          <a:xfrm>
            <a:off x="8293608" y="576072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503920" y="576072"/>
            <a:ext cx="31089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58784" y="576072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残る作業のみ自動化する</a:t>
            </a:r>
            <a:endParaRPr lang="en-US" sz="78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78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＝「置き換える」(HowとしてのフィジカルAI)</a:t>
            </a:r>
            <a:endParaRPr lang="en-US" sz="780" dirty="0"/>
          </a:p>
        </p:txBody>
      </p:sp>
      <p:sp>
        <p:nvSpPr>
          <p:cNvPr id="14" name="Text 12"/>
          <p:cNvSpPr/>
          <p:nvPr/>
        </p:nvSpPr>
        <p:spPr>
          <a:xfrm>
            <a:off x="347472" y="969264"/>
            <a:ext cx="11521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工場の要員数＝基準・規定が要求する作業の総和 —「デジタル以前に業務量自体を見直す」。Howから入れば人事PJT「スリム化前のアウトソーシングで工数増大」と同じ失敗 ⇒ フィジカルAI要件凍結は台帳完成後(26/12)のゲート制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228600" y="1316736"/>
            <a:ext cx="2843784" cy="1335024"/>
          </a:xfrm>
          <a:prstGeom prst="roundRect">
            <a:avLst>
              <a:gd name="adj" fmla="val 3425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1353312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To-Be(2030・3レイヤー)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1572768"/>
            <a:ext cx="2660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1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L1 基準: </a:t>
            </a:r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全基準を要求根拠で棚卸し済み。自動検査+統計的管理が規定のデフォルト
</a:t>
            </a:r>
            <a:pPr indent="0" marL="0">
              <a:lnSpc>
                <a:spcPct val="100000"/>
              </a:lnSpc>
              <a:buNone/>
            </a:pPr>
            <a:r>
              <a:rPr lang="en-US" sz="71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L2 プロセス: </a:t>
            </a:r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改定後基準で再設計。人は異常対応と改善に限定
</a:t>
            </a:r>
            <a:pPr indent="0" marL="0">
              <a:lnSpc>
                <a:spcPct val="100000"/>
              </a:lnSpc>
              <a:buNone/>
            </a:pPr>
            <a:r>
              <a:rPr lang="en-US" sz="71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L3 実行: </a:t>
            </a:r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植毛57名(半減)・工場264名(▲53名)・KGI一人当たり生産金額+20%</a:t>
            </a:r>
            <a:endParaRPr lang="en-US" sz="710" dirty="0"/>
          </a:p>
        </p:txBody>
      </p:sp>
      <p:sp>
        <p:nvSpPr>
          <p:cNvPr id="18" name="Shape 16"/>
          <p:cNvSpPr/>
          <p:nvPr/>
        </p:nvSpPr>
        <p:spPr>
          <a:xfrm>
            <a:off x="3168396" y="1316736"/>
            <a:ext cx="2843784" cy="1335024"/>
          </a:xfrm>
          <a:prstGeom prst="roundRect">
            <a:avLst>
              <a:gd name="adj" fmla="val 3425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59836" y="1353312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As-Is(現状)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59836" y="1572768"/>
            <a:ext cx="2660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1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L1: </a:t>
            </a:r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基準は品質事象対応で積層。全数目視・長毛処理は人手前提の規定のまま
</a:t>
            </a:r>
            <a:pPr indent="0" marL="0">
              <a:lnSpc>
                <a:spcPct val="100000"/>
              </a:lnSpc>
              <a:buNone/>
            </a:pPr>
            <a:r>
              <a:rPr lang="en-US" sz="71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L2: </a:t>
            </a:r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要員は積み上げ設定(検証データ無し)。B停止を人が吸収
</a:t>
            </a:r>
            <a:pPr indent="0" marL="0">
              <a:lnSpc>
                <a:spcPct val="100000"/>
              </a:lnSpc>
              <a:buNone/>
            </a:pPr>
            <a:r>
              <a:rPr lang="en-US" sz="71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L3: </a:t>
            </a:r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フィジカルAI計画は現行基準を所与とし植毛100名止まり。既設カメラ転用不可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6108192" y="1316736"/>
            <a:ext cx="2843784" cy="1335024"/>
          </a:xfrm>
          <a:prstGeom prst="roundRect">
            <a:avLst>
              <a:gd name="adj" fmla="val 3425"/>
            </a:avLst>
          </a:prstGeom>
          <a:solidFill>
            <a:srgbClr val="FBEDEA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99632" y="1353312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GAP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99632" y="1572768"/>
            <a:ext cx="2660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植毛▲43名の打ち手不在
</a:t>
            </a:r>
            <a:pPr indent="0" marL="0">
              <a:lnSpc>
                <a:spcPct val="100000"/>
              </a:lnSpc>
              <a:buNone/>
            </a:pPr>
            <a:r>
              <a:rPr lang="en-US" sz="71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正体は「基準レイヤー未着手」(技術限界ではない)
</a:t>
            </a:r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・基準に踏み込む意思決定の枠組み不在(効果の過半がここに眠る)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・AI先行で仕様固定化→投資1〜2億円過大化リスク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1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・作業×規定の対応データ不在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047988" y="1316736"/>
            <a:ext cx="2843784" cy="1335024"/>
          </a:xfrm>
          <a:prstGeom prst="roundRect">
            <a:avLst>
              <a:gd name="adj" fmla="val 3425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39428" y="1353312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原因: 植毛115名の「要求元」分解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139428" y="1572768"/>
            <a:ext cx="2660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9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 法規・公的規格 〜10名(不可動)
B 業界標準・顧客要求 〜20名
</a:t>
            </a:r>
            <a:pPr indent="0" marL="0">
              <a:lnSpc>
                <a:spcPct val="100000"/>
              </a:lnSpc>
              <a:buNone/>
            </a:pPr>
            <a:r>
              <a:rPr lang="en-US" sz="69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 当社独自基準 〜40名 ←本丸
</a:t>
            </a:r>
            <a:pPr indent="0" marL="0">
              <a:lnSpc>
                <a:spcPct val="100000"/>
              </a:lnSpc>
              <a:buNone/>
            </a:pPr>
            <a:r>
              <a:rPr lang="en-US" sz="69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 設備起因(B停止等) 〜25名
E 定型作業 〜20名 ←現行AI計画の対象はここだけ
</a:t>
            </a:r>
            <a:pPr indent="0" marL="0">
              <a:lnSpc>
                <a:spcPct val="100000"/>
              </a:lnSpc>
              <a:buNone/>
            </a:pPr>
            <a:r>
              <a:rPr lang="en-US" sz="69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真因: 基準は追加される一方「削除するプロセス」が無い</a:t>
            </a:r>
            <a:endParaRPr lang="en-US" sz="690" dirty="0"/>
          </a:p>
        </p:txBody>
      </p:sp>
      <p:sp>
        <p:nvSpPr>
          <p:cNvPr id="27" name="Text 25"/>
          <p:cNvSpPr/>
          <p:nvPr/>
        </p:nvSpPr>
        <p:spPr>
          <a:xfrm>
            <a:off x="228600" y="2761488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解決策 — 依存関係を持つ3ステップ(①→②→③の順に成果物が前提となる。並列の打ち手リストではない)</a:t>
            </a:r>
            <a:endParaRPr lang="en-US" sz="9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980944"/>
          <a:ext cx="85039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3429000"/>
                <a:gridCol w="777240"/>
                <a:gridCol w="1874520"/>
                <a:gridCol w="137160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STEP</a:t>
                      </a:r>
                      <a:endParaRPr lang="en-US" sz="7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打ち手</a:t>
                      </a:r>
                      <a:endParaRPr lang="en-US" sz="7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効果(植毛)</a:t>
                      </a:r>
                      <a:endParaRPr lang="en-US" sz="7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誰が(3チーム体制)</a:t>
                      </a:r>
                      <a:endParaRPr lang="en-US" sz="7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いつまでに</a:t>
                      </a:r>
                      <a:endParaRPr lang="en-US" sz="7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 基準是正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=消す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検査規定変更(全数目視→AI全数+統計監査)・長毛処理の発生源対策と公差再設定・記録/点検のリスクベース化。品質実績(クレーム率・Cpk)で裏付け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▲12〜18名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基準・規定改定チーム: 品質保証部門L+R&amp;D+工場QA(改定オーナーは品質保証=社内正統性)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26/9台帳→26/12方針合意→27/6改定第1弾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 プロセス再設計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=減らす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後基準を前提にECRSで再設計。B停止の原因潰し込み・復旧標準化・SMED・A停止再設計で効果の食い潰し防止。重複削除(二重検査/重複記録)・セルフ化(源流管理/自主保全)・集約化(監視/供給/QA共通化)・権限委譲(復旧承認の現場化)を網羅適用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▲8〜12名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業務プロセス改善チーム: 明石工場(中林氏)L+プロ包技室+製造現場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26/11分析→27/12実装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 実行手段の割当て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=置き換える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残存作業のみに人/フィジカルAI(供給・箱詰)/自動検査装置/AMRを最適割当て。要件は「改定後の基準・プロセス」を前提に凍結(Fit to Standard)。非コア業務の外部化はスリム化後に判断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▲25〜30名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自動化・システムチーム: 生技セL+デジ戦(工場DX)+SCM戦略部(投資評価)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9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26/12要件定義→27年PoC→28〜29実装</a:t>
                      </a:r>
                      <a:endParaRPr lang="en-US" sz="69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228600" y="4736592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効果のウォーターフォール: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1645920" y="4736592"/>
            <a:ext cx="1417320" cy="402336"/>
          </a:xfrm>
          <a:prstGeom prst="roundRect">
            <a:avLst>
              <a:gd name="adj" fmla="val 909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691640" y="4736592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現状 </a:t>
            </a:r>
            <a:pPr algn="ctr" indent="0" marL="0">
              <a:buNone/>
            </a:pPr>
            <a:r>
              <a:rPr lang="en-US" sz="10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115名</a:t>
            </a:r>
            <a:endParaRPr lang="en-US" sz="640" dirty="0"/>
          </a:p>
        </p:txBody>
      </p:sp>
      <p:sp>
        <p:nvSpPr>
          <p:cNvPr id="32" name="Text 29"/>
          <p:cNvSpPr/>
          <p:nvPr/>
        </p:nvSpPr>
        <p:spPr>
          <a:xfrm>
            <a:off x="3099816" y="473659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319272" y="4736592"/>
            <a:ext cx="1417320" cy="402336"/>
          </a:xfrm>
          <a:prstGeom prst="roundRect">
            <a:avLst>
              <a:gd name="adj" fmla="val 909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364992" y="4736592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STEP①後 </a:t>
            </a:r>
            <a:pPr algn="ctr" indent="0" marL="0">
              <a:buNone/>
            </a:pPr>
            <a:r>
              <a:rPr lang="en-US" sz="10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〜100名</a:t>
            </a:r>
            <a:endParaRPr lang="en-US" sz="640" dirty="0"/>
          </a:p>
        </p:txBody>
      </p:sp>
      <p:sp>
        <p:nvSpPr>
          <p:cNvPr id="35" name="Text 32"/>
          <p:cNvSpPr/>
          <p:nvPr/>
        </p:nvSpPr>
        <p:spPr>
          <a:xfrm>
            <a:off x="4773168" y="473659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992624" y="4736592"/>
            <a:ext cx="1417320" cy="402336"/>
          </a:xfrm>
          <a:prstGeom prst="roundRect">
            <a:avLst>
              <a:gd name="adj" fmla="val 909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038344" y="4736592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STEP②後 </a:t>
            </a:r>
            <a:pPr algn="ctr" indent="0" marL="0">
              <a:buNone/>
            </a:pPr>
            <a:r>
              <a:rPr lang="en-US" sz="10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〜90名</a:t>
            </a:r>
            <a:endParaRPr lang="en-US" sz="640" dirty="0"/>
          </a:p>
        </p:txBody>
      </p:sp>
      <p:sp>
        <p:nvSpPr>
          <p:cNvPr id="38" name="Text 35"/>
          <p:cNvSpPr/>
          <p:nvPr/>
        </p:nvSpPr>
        <p:spPr>
          <a:xfrm>
            <a:off x="6446520" y="4736592"/>
            <a:ext cx="219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665976" y="4736592"/>
            <a:ext cx="2057400" cy="402336"/>
          </a:xfrm>
          <a:prstGeom prst="roundRect">
            <a:avLst>
              <a:gd name="adj" fmla="val 9091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711696" y="473659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STEP③後 </a:t>
            </a:r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57〜65名(半減)</a:t>
            </a:r>
            <a:endParaRPr lang="en-US" sz="640" dirty="0"/>
          </a:p>
        </p:txBody>
      </p:sp>
      <p:sp>
        <p:nvSpPr>
          <p:cNvPr id="41" name="Text 38"/>
          <p:cNvSpPr/>
          <p:nvPr/>
        </p:nvSpPr>
        <p:spPr>
          <a:xfrm>
            <a:off x="228600" y="5212080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順序の経済価値: STEP①②の先行で③の対象作業が2〜3割減 → 植毛向けフィジカルAI 9〜15機→7〜10機に圧縮 ＝ 投資▲1〜2億円</a:t>
            </a:r>
            <a:endParaRPr lang="en-US" sz="730" dirty="0"/>
          </a:p>
        </p:txBody>
      </p:sp>
      <p:sp>
        <p:nvSpPr>
          <p:cNvPr id="42" name="Shape 39"/>
          <p:cNvSpPr/>
          <p:nvPr/>
        </p:nvSpPr>
        <p:spPr>
          <a:xfrm>
            <a:off x="8887968" y="2761488"/>
            <a:ext cx="3072384" cy="969264"/>
          </a:xfrm>
          <a:prstGeom prst="roundRect">
            <a:avLst>
              <a:gd name="adj" fmla="val 4717"/>
            </a:avLst>
          </a:prstGeom>
          <a:solidFill>
            <a:srgbClr val="FBEDEA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979408" y="2798064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経営論点: 基準への踏み込み度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8979408" y="2999232"/>
            <a:ext cx="288950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配慮スコープ(工程内基準のみ): 植毛70名台止まり=半減未達
</a:t>
            </a:r>
            <a:pPr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踏み込みスコープ(検査方式・規格公差=市場品質関与): 半減の必要条件
</a:t>
            </a:r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⇒ 26/10役員協議へ上程(品質ポリシー)。「品質を下げる」でなく「保証方法の現代化」として設計</a:t>
            </a:r>
            <a:endParaRPr lang="en-US" sz="680" dirty="0"/>
          </a:p>
        </p:txBody>
      </p:sp>
      <p:sp>
        <p:nvSpPr>
          <p:cNvPr id="45" name="Shape 42"/>
          <p:cNvSpPr/>
          <p:nvPr/>
        </p:nvSpPr>
        <p:spPr>
          <a:xfrm>
            <a:off x="8887968" y="3803904"/>
            <a:ext cx="3072384" cy="877824"/>
          </a:xfrm>
          <a:prstGeom prst="roundRect">
            <a:avLst>
              <a:gd name="adj" fmla="val 5208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8979408" y="3840480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調査の中核成果物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8979408" y="4041648"/>
            <a:ext cx="28895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作業-規定トレーサビリティ台帳
</a:t>
            </a:r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作業×要求元規定×A〜E分類×品質実績整合×改定方針×実行手段(人事PJT「課題18件一覧」の生産版)。各作業に時間創出8レバー(廃止/簡素化/重複削除/自動化/セルフ化/集約化/権限委譲/外部化)を照合し、効果の高い順に施策を一覧化=現実解の整理</a:t>
            </a:r>
            <a:endParaRPr lang="en-US" sz="680" dirty="0"/>
          </a:p>
        </p:txBody>
      </p:sp>
      <p:sp>
        <p:nvSpPr>
          <p:cNvPr id="48" name="Shape 45"/>
          <p:cNvSpPr/>
          <p:nvPr/>
        </p:nvSpPr>
        <p:spPr>
          <a:xfrm>
            <a:off x="8887968" y="4754880"/>
            <a:ext cx="3072384" cy="841248"/>
          </a:xfrm>
          <a:prstGeom prst="roundRect">
            <a:avLst>
              <a:gd name="adj" fmla="val 5435"/>
            </a:avLst>
          </a:prstGeom>
          <a:solidFill>
            <a:srgbClr val="FBEDEA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8979408" y="4791456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投資対効果(いくら)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8979408" y="4992624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年3.0〜3.5億円 + 投資圧縮1〜2億円
</a:t>
            </a:r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基準・プロセス 年1.0〜1.5億(投資ほぼゼロ・27年〜)+自動化 年1.7〜2.2億(投資2.5〜3億)。踏み込み見送り時は効果6割前後に減衰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228600" y="5687568"/>
            <a:ext cx="1879092" cy="786384"/>
          </a:xfrm>
          <a:prstGeom prst="roundRect">
            <a:avLst>
              <a:gd name="adj" fmla="val 465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301752" y="5715000"/>
            <a:ext cx="17327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26/8</a:t>
            </a:r>
            <a:endParaRPr lang="en-US" sz="850" dirty="0"/>
          </a:p>
        </p:txBody>
      </p:sp>
      <p:sp>
        <p:nvSpPr>
          <p:cNvPr id="53" name="Text 50"/>
          <p:cNvSpPr/>
          <p:nvPr/>
        </p:nvSpPr>
        <p:spPr>
          <a:xfrm>
            <a:off x="301752" y="5888736"/>
            <a:ext cx="1732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3チーム組成(オーナー:内藤本部長/PMO:生技セ)・現状施策の棚卸し(二重投資排除)・調査設計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2180844" y="5687568"/>
            <a:ext cx="1879092" cy="786384"/>
          </a:xfrm>
          <a:prstGeom prst="roundRect">
            <a:avLst>
              <a:gd name="adj" fmla="val 465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253996" y="5715000"/>
            <a:ext cx="17327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26/10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2253996" y="5888736"/>
            <a:ext cx="1732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台帳第1版(植毛115名分)+役員中間報告: 踏み込みスコープ論点を正式上程</a:t>
            </a:r>
            <a:endParaRPr lang="en-US" sz="650" dirty="0"/>
          </a:p>
        </p:txBody>
      </p:sp>
      <p:sp>
        <p:nvSpPr>
          <p:cNvPr id="57" name="Shape 54"/>
          <p:cNvSpPr/>
          <p:nvPr/>
        </p:nvSpPr>
        <p:spPr>
          <a:xfrm>
            <a:off x="4133088" y="5687568"/>
            <a:ext cx="1879092" cy="786384"/>
          </a:xfrm>
          <a:prstGeom prst="roundRect">
            <a:avLst>
              <a:gd name="adj" fmla="val 465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4206240" y="5715000"/>
            <a:ext cx="17327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26/12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4206240" y="5888736"/>
            <a:ext cx="1732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改定方針合意・ボトルネック特定完了。AI要件定義を「改定後基準前提」で開始(ゲート)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6085332" y="5687568"/>
            <a:ext cx="1879092" cy="786384"/>
          </a:xfrm>
          <a:prstGeom prst="roundRect">
            <a:avLst>
              <a:gd name="adj" fmla="val 465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6158484" y="5715000"/>
            <a:ext cx="17327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27/6</a:t>
            </a:r>
            <a:endParaRPr lang="en-US" sz="850" dirty="0"/>
          </a:p>
        </p:txBody>
      </p:sp>
      <p:sp>
        <p:nvSpPr>
          <p:cNvPr id="62" name="Text 59"/>
          <p:cNvSpPr/>
          <p:nvPr/>
        </p:nvSpPr>
        <p:spPr>
          <a:xfrm>
            <a:off x="6158484" y="5888736"/>
            <a:ext cx="1732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規定改定第1弾施行+プロセス改善 → ▲10名規模を投資ゼロで先行実現</a:t>
            </a:r>
            <a:endParaRPr lang="en-US" sz="650" dirty="0"/>
          </a:p>
        </p:txBody>
      </p:sp>
      <p:sp>
        <p:nvSpPr>
          <p:cNvPr id="63" name="Shape 60"/>
          <p:cNvSpPr/>
          <p:nvPr/>
        </p:nvSpPr>
        <p:spPr>
          <a:xfrm>
            <a:off x="8037576" y="5687568"/>
            <a:ext cx="1879092" cy="786384"/>
          </a:xfrm>
          <a:prstGeom prst="roundRect">
            <a:avLst>
              <a:gd name="adj" fmla="val 4651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8110728" y="5715000"/>
            <a:ext cx="17327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27〜29</a:t>
            </a:r>
            <a:endParaRPr lang="en-US" sz="850" dirty="0"/>
          </a:p>
        </p:txBody>
      </p:sp>
      <p:sp>
        <p:nvSpPr>
          <p:cNvPr id="65" name="Text 62"/>
          <p:cNvSpPr/>
          <p:nvPr/>
        </p:nvSpPr>
        <p:spPr>
          <a:xfrm>
            <a:off x="8110728" y="5888736"/>
            <a:ext cx="1732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フィジカルAI・自動検査PoC→実装。踏み込み改定第2弾施行</a:t>
            </a:r>
            <a:endParaRPr lang="en-US" sz="650" dirty="0"/>
          </a:p>
        </p:txBody>
      </p:sp>
      <p:sp>
        <p:nvSpPr>
          <p:cNvPr id="66" name="Shape 63"/>
          <p:cNvSpPr/>
          <p:nvPr/>
        </p:nvSpPr>
        <p:spPr>
          <a:xfrm>
            <a:off x="9989820" y="5687568"/>
            <a:ext cx="1879092" cy="786384"/>
          </a:xfrm>
          <a:prstGeom prst="roundRect">
            <a:avLst>
              <a:gd name="adj" fmla="val 4651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10062972" y="5715000"/>
            <a:ext cx="17327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30年</a:t>
            </a:r>
            <a:endParaRPr lang="en-US" sz="850" dirty="0"/>
          </a:p>
        </p:txBody>
      </p:sp>
      <p:sp>
        <p:nvSpPr>
          <p:cNvPr id="68" name="Text 65"/>
          <p:cNvSpPr/>
          <p:nvPr/>
        </p:nvSpPr>
        <p:spPr>
          <a:xfrm>
            <a:off x="10062972" y="5888736"/>
            <a:ext cx="1732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植毛57名・工場264名・KGI一人当たり生産金額+20%達成</a:t>
            </a:r>
            <a:endParaRPr lang="en-US" sz="650" dirty="0"/>
          </a:p>
        </p:txBody>
      </p:sp>
      <p:sp>
        <p:nvSpPr>
          <p:cNvPr id="69" name="Text 66"/>
          <p:cNvSpPr/>
          <p:nvPr/>
        </p:nvSpPr>
        <p:spPr>
          <a:xfrm>
            <a:off x="228600" y="6528816"/>
            <a:ext cx="1173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効果人数・金額は仮説値(人件費5百万円/人・年で換算)。台帳完成(26/10)後に検証・確定。 出典: 社内資料(人事業務 経営リスク低減・業務効率化 役員会議資料 2025/5・生産技術戦略会議骨子案・フィジカルAI効果見積もり・7/23役員打合せメモ・6/10デジ戦打合せ)+公開情報(Vision2030 2nd STAGE)</a:t>
            </a:r>
            <a:endParaRPr lang="en-US" sz="6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54864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WBS — 生産性ボトルネック調査・構造的省人化(2026/8〜2029)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0" y="54864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</a:t>
            </a:r>
            <a:pPr algn="r" indent="0" marL="0">
              <a:buNone/>
            </a:pPr>
            <a:r>
              <a:rPr lang="en-US" sz="7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実行期間  </a:t>
            </a:r>
            <a:pPr algn="r" indent="0" marL="0">
              <a:buNone/>
            </a:pPr>
            <a:r>
              <a:rPr lang="en-US" sz="7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◆</a:t>
            </a:r>
            <a:pPr algn="r" indent="0" marL="0">
              <a:buNone/>
            </a:pPr>
            <a:r>
              <a:rPr lang="en-US" sz="7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ゲート: G1=台帳+役員報告(26/10) G2=改定方針合意(26/12) G3=AI要件凍結(26/12)  </a:t>
            </a:r>
            <a:pPr algn="r" indent="0" marL="0">
              <a:buNone/>
            </a:pPr>
            <a:r>
              <a:rPr lang="en-US" sz="7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赤=クリティカルパス</a:t>
            </a:r>
            <a:endParaRPr lang="en-US" sz="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475488"/>
          <a:ext cx="11722608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3566160"/>
                <a:gridCol w="2011680"/>
                <a:gridCol w="137160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WBS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タスク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主な成果物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担当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26/8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27H1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27H2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28-29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WS0 PMO・ガバナンス(リーダー: 生技セ戦略統括T)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プロジェクト憲章(スコープ・KGIツリー・会議体・ゲート定義)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憲章・KPIツリー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現状施策の棚卸し(着手済み施策インベントリ・二重投資排除)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施策インベントリ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PMO+3チームL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ステークホルダー計画(役員・労組・現場・顧客/監査対応)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コミュニケーション計画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役員中間報告・踏み込みスコープ協議(G1)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中間報告資料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ゲート運営(G1→G2→G3)・効果トラッキング(OEE正味・省人化実績)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ゲート判定記録・効果台帳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WS1 基準・規定の棚卸しと是正(リーダー: 品質保証部門) — ゼロベースの本丸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規定インベントリ: 品質基準書・検査規格・SOP・記録/帳票類の全リスト化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規定一覧(全件・版数・所管)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工場QA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安全基準・衛生基準(GMP)・保全基準の棚卸し(全基準領域へ拡張)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同左(安全・衛生・保全)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安全衛生+保全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文書化されていない内規・慣行の発掘(WS2ヒアリング連動)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慣行リスト(暗黙ルールの文書化)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工場QA+WS2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要求根拠の分類(A法規/B業界・顧客/C当社独自)+制定経緯の遡及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分類済み規定台帳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品質実績との突合(市場クレーム率・工程内不良率・Cpkと基準の対応)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基準×実績マトリクス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品質保証+R&amp;D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1.6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自動化前提の安全リスクアセスメント再実施(人-機械協働・保安体制)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リスクアセスメント改訂版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安全衛生+生技セ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1.7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改定候補の難易度×効果マップ(配慮/踏み込みスコープ仕分け)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改定候補一覧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1.8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改定ドラフト・関係者合意(顧客/監査説明の要否判定含む)(G2)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改定案・合意記録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1.9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改定第1弾施行+教育。基準の定期棚卸し制度(削除プロセス)恒久化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改定規定・棚卸し規程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WS2 業務プロセス調査・再設計(リーダー: 明石工場 中林氏)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調査設計(ワークサンプリング計画・簡易カメラ設置・労組/現場説明)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調査計画書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稼働・B停止ベースライン(デジ戦データ棚卸し・停止パレート)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ベースラインレポート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デジ戦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ワークサンプリング実施(植毛115名・シフト/品種横断)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業務分解データ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作業-規定トレーサビリティ台帳(作業×要求規定×8レバー照合)(G1)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台帳第1版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生技セ+WS1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現場ヒアリング(張り付き理由・慣行の裏取り)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ヒアリング録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2.6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ECRS再設計案(重複削除・セルフ化・集約化・権限委譲を網羅適用)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新プロセス設計書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工場+プロ包技室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2.7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B停止原因潰し込み・復旧標準化・SMED実行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改善実行計画・実績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2.8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新プロセストライアル→SOP改訂・シフト/多能工再設計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改訂SOP・シフト計画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WS3 自動化・実行手段(リーダー: 生技セ)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自動検査装置の技術評価・効果試算(工場検討中を正式統合)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検査自動化評価書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工場+生技セ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フィジカルAI要件定義(改定後基準前提・G3後に凍結)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要件定義書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AMR・搬送統合構想(工場全体レイアウト・集約配置と連動)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全体最適構想書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生技セ+SCM戦略部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PoC(検査AI・フィジカルAI)・投資評価(OEE正味ROI)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PoC報告・投資申請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生技セ+SCM戦略部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実装・立ち上げ・効果刈り取り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稼働設備・効果実績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プロ包技室+工場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3.6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A停止(前準備/後片付け)業務の自動化・簡素化設計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A停止対策設計書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プロ包技室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WS4 人材・チェンジマネジメント(リーダー: 生技セ+人事)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ラインアーキテクト第1期生のWSアサイン(調査×育成のOJT一体化)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アサイン計画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再配置・リスキル構想(53名分・労組協議準備)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再配置構想書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人事+工場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現場チェンジマネジメント(狙いの共有・改善提案の仕組み化)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説明会・提案制度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28600" y="6382512"/>
            <a:ext cx="1173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クリティカルパス(赤): 規定棚卸し(1.1〜1.4)→台帳(2.4=G1)→改定方針(1.7〜1.8=G2)→AI要件凍結(3.2=G3)→27年PoC — 規定棚卸しが全体の律速。PMOは初期リソースをWS1前半に集中投下。 ※期間・効果は仮説値、台帳完成後に確定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2026-08-11T11:22:50Z</dcterms:created>
  <dcterms:modified xsi:type="dcterms:W3CDTF">2026-08-11T11:22:50Z</dcterms:modified>
</cp:coreProperties>
</file>