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— なぜ「明石工場・ハブラシ植毛ライン」なのか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052560" y="914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スコープ選定の論理(全社 → 明石 → 植毛)｜2026年8月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11640312" cy="1207008"/>
          </a:xfrm>
          <a:prstGeom prst="roundRect">
            <a:avLst>
              <a:gd name="adj" fmla="val 4545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30936"/>
            <a:ext cx="11365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2C5F2D"/>
                </a:highlight>
                <a:latin typeface="Meiryo UI" pitchFamily="34" charset="0"/>
                <a:ea typeface="Meiryo UI" pitchFamily="34" charset="-122"/>
                <a:cs typeface="Meiryo UI" pitchFamily="34" charset="-120"/>
              </a:rPr>
              <a:t>Q1  </a:t>
            </a:r>
            <a:pPr indent="0" marL="0">
              <a:buNone/>
            </a:pPr>
            <a:r>
              <a:rPr lang="en-US" sz="11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なぜ「生産性・省人化」か — マクロトレンドが要請(選択の余地がない)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" y="905256"/>
            <a:ext cx="11311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労働供給: 生産年齢人口は2040年までに約1,300万人減少(社人研・令和5年推計)。2030年に644万人の労働力不足の推計も(パーソル総研×中央大) — 現行の要員体制は維持不能</a:t>
            </a:r>
            <a:endParaRPr lang="en-US" sz="800" dirty="0"/>
          </a:p>
          <a:p>
            <a:pPr marL="101600" indent="-1016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人件費: 33年ぶり高水準の賃上げが継続(春闘5%台)・最低賃金も継続上昇 — 同じ要員数でも人件費は毎年増え、PLを構造的に圧迫</a:t>
            </a:r>
            <a:endParaRPr lang="en-US" sz="800" dirty="0"/>
          </a:p>
          <a:p>
            <a:pPr marL="101600" indent="-1016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競合対比: 競合(花王・P&amp;G)工場は一人当たり生産金額が当社主力工場比 約20%高く、人件費比率・固定費比率も低い(社内ベンチマーク分析) — 生産性格差は利益率格差に直結</a:t>
            </a:r>
            <a:endParaRPr lang="en-US" sz="800" dirty="0"/>
          </a:p>
          <a:p>
            <a:pPr marL="101600" indent="-1016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需要側: 国内オーラルケア市場は人口減で数量成長が見込めない — コスト競争力と付加価値が利益の源泉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7922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1956816"/>
            <a:ext cx="10908792" cy="1188720"/>
          </a:xfrm>
          <a:prstGeom prst="roundRect">
            <a:avLst>
              <a:gd name="adj" fmla="val 4615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020824"/>
            <a:ext cx="1063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2C5F2D"/>
                </a:highlight>
                <a:latin typeface="Meiryo UI" pitchFamily="34" charset="0"/>
                <a:ea typeface="Meiryo UI" pitchFamily="34" charset="-122"/>
                <a:cs typeface="Meiryo UI" pitchFamily="34" charset="-120"/>
              </a:rPr>
              <a:t>Q2  </a:t>
            </a:r>
            <a:pPr indent="0" marL="0">
              <a:buNone/>
            </a:pPr>
            <a:r>
              <a:rPr lang="en-US" sz="11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なぜ「明石工場(ハブラシ)」か — 労働集約が最も残る領域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0432" y="2295144"/>
            <a:ext cx="10579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ハブラシは構造・形状が生活者価値を直接生む=生産技術の寄与度が最も高いカテゴリー(戦略会議分析)。明石はその特化拠点</a:t>
            </a:r>
            <a:endParaRPr lang="en-US" sz="800" dirty="0"/>
          </a:p>
          <a:p>
            <a:pPr marL="101600" indent="-1016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工程特性: ハブラシ工程は非定型・レイアウト制約が高く、従来の汎用設備自動化が及ばず人手が残存 — 国内工場で最も労働集約的な領域</a:t>
            </a:r>
            <a:endParaRPr lang="en-US" sz="800" dirty="0"/>
          </a:p>
          <a:p>
            <a:pPr marL="101600" indent="-1016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生産体制の国別類型では日本はⅢ型(人口減・超高齢化)=自動化・自律化が定石(戦略会議分析)。労働集約のまま残るハブラシ生産は最も矛盾が大きい</a:t>
            </a:r>
            <a:endParaRPr lang="en-US" sz="800" dirty="0"/>
          </a:p>
          <a:p>
            <a:pPr marL="101600" indent="-1016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規模: フィジカルAI見積もり対象(省人化目標53名・工場317→264名)であり、投資対効果の母数が最大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54480" y="316382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3328416"/>
            <a:ext cx="10177272" cy="1371600"/>
          </a:xfrm>
          <a:prstGeom prst="roundRect">
            <a:avLst>
              <a:gd name="adj" fmla="val 4000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392424"/>
            <a:ext cx="9902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2C5F2D"/>
                </a:highlight>
                <a:latin typeface="Meiryo UI" pitchFamily="34" charset="0"/>
                <a:ea typeface="Meiryo UI" pitchFamily="34" charset="-122"/>
                <a:cs typeface="Meiryo UI" pitchFamily="34" charset="-120"/>
              </a:rPr>
              <a:t>Q3  </a:t>
            </a:r>
            <a:pPr indent="0" marL="0">
              <a:buNone/>
            </a:pPr>
            <a:r>
              <a:rPr lang="en-US" sz="11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なぜ「植毛ライン」か — データが示す集中点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01952" y="3666744"/>
            <a:ext cx="98480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国内4工場の製造/包装係の比較で、ハブラシ植毛は「要員数が最多 × 一人当たり生産金額が最低」の象限(戦略会議・散布図分析) — 改善余地が定量的に最大</a:t>
            </a:r>
            <a:endParaRPr lang="en-US" sz="800" dirty="0"/>
          </a:p>
          <a:p>
            <a:pPr marL="101600" indent="-1016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工場最大の要員集中点: 植毛115名 = 工場317名の約36%</a:t>
            </a:r>
            <a:endParaRPr lang="en-US" sz="800" dirty="0"/>
          </a:p>
          <a:p>
            <a:pPr marL="101600" indent="-1016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包装2ラインはフィジカルAIで38→9名/37→10名の道筋が既にある。植毛は非定型作業(検査・長毛処理等)が壁となり100名止まり — 工場のギャップのほぼ全てが植毛に集中</a:t>
            </a:r>
            <a:endParaRPr lang="en-US" sz="800" dirty="0"/>
          </a:p>
          <a:p>
            <a:pPr marL="101600" indent="-1016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半減(57名)の達成 = 年約2.9億円の人件費構造改善。競合との生産性格差(約20%)の解消に直結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4846320"/>
            <a:ext cx="5715000" cy="1298448"/>
          </a:xfrm>
          <a:prstGeom prst="roundRect">
            <a:avLst>
              <a:gd name="adj" fmla="val 4225"/>
            </a:avLst>
          </a:prstGeom>
          <a:solidFill>
            <a:srgbClr val="FB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919472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なぜ「今」か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5175504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フィジカルAIのPoCは27年開始 — 仕様が固まる前の今しか「基準から見直す順序」を組み込めない(凍結後では投資1〜2億円のムダが確定)</a:t>
            </a:r>
            <a:endParaRPr lang="en-US" sz="820" dirty="0"/>
          </a:p>
          <a:p>
            <a:pPr marL="101600" indent="-101600">
              <a:lnSpc>
                <a:spcPct val="105000"/>
              </a:lnSpc>
              <a:buSzPct val="100000"/>
              <a:buChar char="•"/>
            </a:pPr>
            <a:r>
              <a:rPr lang="en-US" sz="8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賃上げと採用難は待ってくれない — 効果発現が1年遅れるごとに約3億円/年の機会損失。計画なき自然減が先行すれば品質・稼働リスクに転化する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199632" y="4846320"/>
            <a:ext cx="5715000" cy="1298448"/>
          </a:xfrm>
          <a:prstGeom prst="roundRect">
            <a:avLst>
              <a:gd name="adj" fmla="val 422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4919472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E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結論(本調査のスコープ)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36792" y="5175504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明石工場・ハブラシ植毛ラインを最優先スコープとする。
</a:t>
            </a:r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ここで「基準に遡って作業を無くす型」を確立し、包装ライン → 他工場 → 海外拠点へ横展開する(Phase 2以降)。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6291072"/>
            <a:ext cx="1164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出典: 生産技術戦略会議骨子案(2026/7: 競合比較・要員×生産金額分析・生産体制類型)・フィジカルAI導入効果見積もり・国立社会保障・人口問題研究所 将来推計(令和5年)・パーソル総研×中央大「労働市場の未来推計2030」・Vision2030 2nd STAGE(公開情報)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全体サマリー — What / Where / Why / How / Who / When / How Much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9875520" y="91440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対象: 明石工場 ハブラシ植毛ライン(前提は前頁)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03504"/>
          <a:ext cx="11640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08392"/>
                <a:gridCol w="2606040"/>
              </a:tblGrid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What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何が問題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To-Be: 植毛57名(半減・2030年、工場264名・一人当たり生産金額+20%) ⇔ As-Is: 115名。現行計画(フィジカルAI導入のみ)では100名止まり。</a:t>
                      </a:r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 GAP = 43名分の打ち手が存在しない。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▲43名
</a:t>
                      </a:r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年約2.2億円相当の打ち手不在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Where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特に問題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GAPは</a:t>
                      </a:r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当社独自の品質基準・規定が要求する作業(〜40名)</a:t>
                      </a:r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と設備起因の停止対応(〜25名)に集中。現行AI計画がカバーするのは定型作業(〜20名)のみで、</a:t>
                      </a:r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最大の塊に手が付いていない。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独自基準 〜40名
</a:t>
                      </a:r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GAP最大の塊(未着手)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Why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遠因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①基準は品質事象の度に追加される一方</a:t>
                      </a:r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「削除するプロセス」が無い</a:t>
                      </a:r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(数十年の積層) ②「基準を緩める」提案は現場から構造的に出ない(リスクだけを負うため) ③要員数の妥当性を検証するデータが無い ④検討がHow(自動化)から始まり、基準・プロセスが「所与」扱い。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D2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削除する仕組みが無い
</a:t>
                      </a:r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基準は増える一方(構造問題)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How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解決策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全作業を台帳に棚卸しし、3つの問いに</a:t>
                      </a:r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順番に</a:t>
                      </a:r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かける: ①無くす(基準是正・品質保証との4つの約束: 同等性実証/保守側判断/即時ロールバック/QAが最終決定) → ②減らす(重複削除・停止原因除去・集約) → ③置き換える(フィジカルAI・自動検査・AMR)。AI仕様の決定は①②の結論後(26/12ゲート)。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D2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①→②→③
</a:t>
                      </a:r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無くす→減らす→置き換える(順序が投資1〜2億円を左右)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Who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誰が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オーナー: 内藤本部長/PMO: 生技セ戦略統括T。実行3チーム = ①基準是正: </a:t>
                      </a:r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品質保証部門</a:t>
                      </a:r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(採否は変更管理プロセスで決定) ②プロセス再設計: </a:t>
                      </a:r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明石工場(中林氏)</a:t>
                      </a:r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 ③自動化: </a:t>
                      </a:r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生技セ+デジ戦</a:t>
                      </a:r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(+SCM戦略部が投資評価)。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D2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3チーム
</a:t>
                      </a:r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品質保証/工場/生技セ+デジ戦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When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いつまでに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26/8 チーム組成 → 26/10 台帳完成・役員中間報告 → 26/12 基準改定の方針合意・AI要件定義着手 → </a:t>
                      </a:r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27/6 改定第1弾(▲10名規模を投資ゼロで)</a:t>
                      </a:r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 → 27〜29 PoC・実装 → 2030 半減達成。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D2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2030年 半減
</a:t>
                      </a:r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26/10台帳→27/6第1弾→29実装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How Much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費用対効果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 約2.5〜3億円(フィジカルAI・自動検査・調査) → リターン </a:t>
                      </a:r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年3.0〜3.5億円(回収1年強)</a:t>
                      </a:r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。加えて「順序」の効果で自動化投資を1〜2億円圧縮。基準に踏み込まない場合は効果6割前後に減衰(経営論点として26/10に上程)。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年3.0〜3.5億円
</a:t>
                      </a:r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投資2.5〜3億円・回収1年強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6263640"/>
            <a:ext cx="1164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人数・金額は仮説値(人件費5百万円/人・年で換算)。26/10の台帳(作業と基準の対応表)完成後に検証・確定。進め方の詳細は次頁、タスク・担当・時期の詳細は最終頁WBS参照。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進め方の詳細 — すべての作業を「3つの問い」に順番にかける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8138160" y="91440"/>
            <a:ext cx="3776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対象: 明石工場 オーラルヘルスケア(ハブラシ植毛ライン)｜2026年8月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949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植毛ライン 115名
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現行計画(フィジカルAI導入のみ)では100名までしか減らない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0" y="621792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B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694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ギャップ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8961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あと43名分の打ち手が無い
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埋める鍵は、打ち手の中身より「検討の順番」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0456" y="621792"/>
            <a:ext cx="3694176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7616" y="694944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E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理想(2030年・役員期待)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57616" y="896112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57名(半減)
</a:t>
            </a:r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工場全体317→264名・一人当たり生産金額+20%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" y="1664208"/>
            <a:ext cx="1164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 — すべての作業を「3つの問い」に順番にかける  </a:t>
            </a:r>
            <a:pPr indent="0" marL="0">
              <a:buNone/>
            </a:pPr>
            <a:r>
              <a:rPr lang="en-US" sz="8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(①②③は同列の施策ではなく手順。前の問いを通り抜けた作業だけが、次の問いに進む)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956816"/>
            <a:ext cx="1371600" cy="1874520"/>
          </a:xfrm>
          <a:prstGeom prst="roundRect">
            <a:avLst>
              <a:gd name="adj" fmla="val 4000"/>
            </a:avLst>
          </a:prstGeom>
          <a:solidFill>
            <a:srgbClr val="DFEBDB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029968"/>
            <a:ext cx="122529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
</a:t>
            </a:r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全作業の
棚卸し
</a:t>
            </a:r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
115名分の作業を、根拠となる基準・規定と対応付けて一覧化(台帳)
</a:t>
            </a:r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26/8〜10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37944" y="1956816"/>
            <a:ext cx="2651760" cy="1874520"/>
          </a:xfrm>
          <a:prstGeom prst="roundRect">
            <a:avLst>
              <a:gd name="adj" fmla="val 2927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47672" y="202996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無くす  </a:t>
            </a:r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基準を正す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47672" y="230428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「その作業は、そもそも必要か?」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47672" y="265176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作業を要求している品質基準・安全基準・規定に遡り、根拠を検証。根拠が確認できない基準は改定し、作業ごと無くす。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947672" y="3355848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主担当: 品質保証部門｜〜27/6 改定第1弾
</a:t>
            </a:r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 ▲12〜18名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4681728" y="1956816"/>
            <a:ext cx="2651760" cy="1874520"/>
          </a:xfrm>
          <a:prstGeom prst="roundRect">
            <a:avLst>
              <a:gd name="adj" fmla="val 2927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202996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減らす  </a:t>
            </a:r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ムダを絞る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91456" y="230428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「残った作業を、少なくできないか?」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91456" y="265176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二重チェックの解消・記録/点検頻度の見直し・チョコ停の原因除去・段替え短縮・複数ラインの業務の集約。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791456" y="3355848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主担当: 明石工場(中林氏)｜26/11〜27年
</a:t>
            </a:r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 ▲8〜12名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7525512" y="1956816"/>
            <a:ext cx="2651760" cy="1874520"/>
          </a:xfrm>
          <a:prstGeom prst="roundRect">
            <a:avLst>
              <a:gd name="adj" fmla="val 2927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202996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置き換える  </a:t>
            </a:r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自動化する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35240" y="230428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「残った作業を、機械に任せられないか?」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35240" y="265176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フィジカルAI・自動検査・AMRを割当て。①②の後に設計するため必要台数が減り、投資を1〜2億円圧縮できる。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7635240" y="3355848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3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主担当: 生技セ+デジ戦｜27年PoC→29年
</a:t>
            </a:r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 ▲25〜30名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10369296" y="1956816"/>
            <a:ext cx="1371600" cy="187452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42448" y="2066544"/>
            <a:ext cx="122529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8E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人に残る仕事
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57〜65名
</a:t>
            </a:r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(半減達成)
</a:t>
            </a:r>
            <a:pPr indent="0" marL="0">
              <a:lnSpc>
                <a:spcPct val="100000"/>
              </a:lnSpc>
              <a:buNone/>
            </a:pP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異常への対応と、改善の仕事に集中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32204" y="1956816"/>
            <a:ext cx="2194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75988" y="1956816"/>
            <a:ext cx="2194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9772" y="1956816"/>
            <a:ext cx="2194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163556" y="1956816"/>
            <a:ext cx="2194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74320" y="39044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115名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837944" y="39044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残り 約100名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81728" y="39044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残り 約90名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525512" y="39044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残り 57〜65名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74320" y="4142232"/>
            <a:ext cx="1164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順番を逆にすると: 本来「無くせる」作業にロボット投資をしてしまい約1〜2億円がムダになるうえ、ムダな作業が設備仕様として固定化され後から消せなくなる。だからフィジカルAIの仕様決定は、①②の結論が出る26年12月まで待つ(ゲート制)。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4681728"/>
            <a:ext cx="3785616" cy="1572768"/>
          </a:xfrm>
          <a:prstGeom prst="roundRect">
            <a:avLst>
              <a:gd name="adj" fmla="val 3488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47457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品質は下げない — 品質保証部門との4つの約束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84048" y="4992624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今の目視検査の実力(見逃し率)をまず測定し、自動検査が同等以上であることを並行運転(3〜6か月)で実証してから切替える
</a:t>
            </a:r>
            <a:pPr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使用者への影響が大きい項目は保守側に判断する(FMEA)
</a:t>
            </a:r>
            <a:pPr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段階的に切替え、問題があれば即座に元へ戻す(戻す権限は品質保証が単独で持つ)
</a:t>
            </a:r>
            <a:pPr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変える/変えないの最終判断は品質保証部門(変更管理プロセス)。「変えない」も正当な結論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4201668" y="4681728"/>
            <a:ext cx="3785616" cy="1572768"/>
          </a:xfrm>
          <a:prstGeom prst="roundRect">
            <a:avLst>
              <a:gd name="adj" fmla="val 3488"/>
            </a:avLst>
          </a:prstGeom>
          <a:solidFill>
            <a:srgbClr val="FB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11396" y="47457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効果(いくら・いつから)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311396" y="4992624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リターン 年3.0〜3.5億円
</a:t>
            </a:r>
            <a:pPr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内訳: 省人化53名分=約2.7億円+基準・プロセス見直し0.3〜0.6億円(こちらは投資ほぼゼロで27年から発現)
</a:t>
            </a:r>
            <a:pPr indent="0" marL="0">
              <a:lnSpc>
                <a:spcPct val="108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投資: 約2.5〜3億円 → 実装後1年強で回収
</a:t>
            </a:r>
            <a:pPr indent="0" marL="0">
              <a:lnSpc>
                <a:spcPct val="108000"/>
              </a:lnSpc>
              <a:buNone/>
            </a:pPr>
            <a:r>
              <a:rPr lang="en-US" sz="76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加えて「順番」の効果で自動化投資を1〜2億円圧縮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129016" y="4681728"/>
            <a:ext cx="3785616" cy="1572768"/>
          </a:xfrm>
          <a:prstGeom prst="roundRect">
            <a:avLst>
              <a:gd name="adj" fmla="val 3488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38744" y="47457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主要マイルストーン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238744" y="4992624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6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26/8  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3チーム組成(品質保証/工場/生技セ+デジ戦)
</a:t>
            </a:r>
            <a:pPr indent="0" marL="0">
              <a:lnSpc>
                <a:spcPct val="112000"/>
              </a:lnSpc>
              <a:buNone/>
            </a:pPr>
            <a:r>
              <a:rPr lang="en-US" sz="76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26/10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台帳完成 → 役員中間報告
</a:t>
            </a:r>
            <a:pPr indent="0" marL="0">
              <a:lnSpc>
                <a:spcPct val="112000"/>
              </a:lnSpc>
              <a:buNone/>
            </a:pPr>
            <a:r>
              <a:rPr lang="en-US" sz="76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26/12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基準改定の方針合意・AI要件定義に着手
</a:t>
            </a:r>
            <a:pPr indent="0" marL="0">
              <a:lnSpc>
                <a:spcPct val="112000"/>
              </a:lnSpc>
              <a:buNone/>
            </a:pPr>
            <a:r>
              <a:rPr lang="en-US" sz="76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27/6  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基準改定第1弾(▲10名規模を投資ゼロで)
</a:t>
            </a:r>
            <a:pPr indent="0" marL="0">
              <a:lnSpc>
                <a:spcPct val="112000"/>
              </a:lnSpc>
              <a:buNone/>
            </a:pPr>
            <a:r>
              <a:rPr lang="en-US" sz="76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27〜29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自動化PoC→実装
</a:t>
            </a:r>
            <a:pPr indent="0" marL="0">
              <a:lnSpc>
                <a:spcPct val="112000"/>
              </a:lnSpc>
              <a:buNone/>
            </a:pPr>
            <a:r>
              <a:rPr lang="en-US" sz="76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2030  </a:t>
            </a:r>
            <a:pPr indent="0" marL="0">
              <a:lnSpc>
                <a:spcPct val="112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半減達成・一人当たり生産金額+20%</a:t>
            </a:r>
            <a:endParaRPr lang="en-US" sz="760" dirty="0"/>
          </a:p>
        </p:txBody>
      </p:sp>
      <p:sp>
        <p:nvSpPr>
          <p:cNvPr id="51" name="Text 49"/>
          <p:cNvSpPr/>
          <p:nvPr/>
        </p:nvSpPr>
        <p:spPr>
          <a:xfrm>
            <a:off x="274320" y="6419088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人数・金額は仮説値(人件費5百万円/人・年で換算)。26/10の台帳(作業と基準の対応表)完成後に検証・確定 ※詳細タスク・担当・時期は次頁WBS参照 ※出典: 生産技術戦略会議骨子案・フィジカルAI効果見積もり・7/23役員打合せメモ・人事業務効率化PJT資料・Vision2030 2nd STAGE(公開情報)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2040年構想との整合 — 「今の投資はムダにならないか」への回答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9601200" y="9144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OHC 2040年検討(モジュール型マザー工場)との連動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274320" y="603504"/>
            <a:ext cx="11640312" cy="566928"/>
          </a:xfrm>
          <a:prstGeom prst="roundRect">
            <a:avLst>
              <a:gd name="adj" fmla="val 9677"/>
            </a:avLst>
          </a:prstGeom>
          <a:solidFill>
            <a:srgbClr val="FB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03504"/>
            <a:ext cx="11365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懸念: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2040年に明石を「モジュール型マザー工場」(25百万本×4、国内73+輸出27百万本)へリニューアルする構想がある。現ラインへ投資する本プログラム(2.5〜3億円)は、10年少々で捨てることにならないか?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16736"/>
            <a:ext cx="3785616" cy="1920240"/>
          </a:xfrm>
          <a:prstGeom prst="roundRect">
            <a:avLst>
              <a:gd name="adj" fmla="val 2857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898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回答1: 投資規律で守る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3566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2040年検討の原則をそのまま適用: </a:t>
            </a:r>
            <a:pPr indent="0" marL="0">
              <a:lnSpc>
                <a:spcPct val="110000"/>
              </a:lnSpc>
              <a:buNone/>
            </a:pPr>
            <a:r>
              <a:rPr lang="en-US" sz="82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「2030年代の投資は、2040年リニューアルまでに償却が終わる範囲に限定」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本プログラムは投資2.5〜3億円・回収1年強。最も遅い28〜29年実装分も30〜31年に回収完了 — </a:t>
            </a:r>
            <a:pPr indent="0" marL="0">
              <a:lnSpc>
                <a:spcPct val="110000"/>
              </a:lnSpc>
              <a:buNone/>
            </a:pPr>
            <a:r>
              <a:rPr lang="en-US" sz="82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2040年まで約9年の利益貢献が残る。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原則に適合(SCM戦略部がゲート審査)。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201668" y="1316736"/>
            <a:ext cx="3785616" cy="1920240"/>
          </a:xfrm>
          <a:prstGeom prst="roundRect">
            <a:avLst>
              <a:gd name="adj" fmla="val 2857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1396" y="13898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回答2: 成果の中心は新工場へ持ち越される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11396" y="1664208"/>
            <a:ext cx="3566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2040年検討の結論: 2050年代に自動化技術はコモディティ化し、恒久のコアは</a:t>
            </a:r>
            <a:pPr indent="0" marL="0">
              <a:lnSpc>
                <a:spcPct val="110000"/>
              </a:lnSpc>
              <a:buNone/>
            </a:pPr>
            <a:r>
              <a:rPr lang="en-US" sz="82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「量産成立の知見」と「どこで作ってもライオン品質を再現するロジック」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に移る。</a:t>
            </a:r>
            <a:endParaRPr lang="en-US" sz="8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本プログラムの中心成果物(基準台帳・検出力データ・品質再現ロジック)は</a:t>
            </a:r>
            <a:endParaRPr lang="en-US" sz="8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2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まさにその無形資産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であり、新工場・OEM認定・受託生産の共通基盤になる。設備は可搬型を優先し移設可能。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8129016" y="1316736"/>
            <a:ext cx="3785616" cy="1920240"/>
          </a:xfrm>
          <a:prstGeom prst="roundRect">
            <a:avLst>
              <a:gd name="adj" fmla="val 2857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3898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回答3: PoCが2040年判断のトリガーを生む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38744" y="1664208"/>
            <a:ext cx="3566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2040年検討の分岐条件: </a:t>
            </a:r>
            <a:pPr indent="0" marL="0">
              <a:lnSpc>
                <a:spcPct val="110000"/>
              </a:lnSpc>
              <a:buNone/>
            </a:pPr>
            <a:r>
              <a:rPr lang="en-US" sz="82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「PoC(27〜29年)で労務削減31%以上なら国内集約が経済的に優位」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(自動化80%=20.6円/本 vs ベトナム輸出24.6円/本)。</a:t>
            </a:r>
            <a:endParaRPr lang="en-US" sz="8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本プログラムの半減(115→57名)=</a:t>
            </a:r>
            <a:endParaRPr lang="en-US" sz="8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2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労務削減50%はこの閾値を大きく超える実証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になる。やらなければ、2040年の建替え判断に必要なエビデンス自体が存在しない。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74320" y="3401568"/>
            <a:ext cx="1164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本プログラムの成果物を「3色+有効期限」で仕分ける(2040年検討のフレームに従う)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57600"/>
          <a:ext cx="116403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937760"/>
                <a:gridCol w="4965192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仕分け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本プログラムの成果物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2040年以降の使い途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恒久自社(無期限)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基準台帳(作業×基準の対応)・ゼロベース化した基準・検査の検出力データ・品質再現ロジック・人員動態/稼働データ基盤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新工場の要求仕様の土台。OEM品質同等性判断・認定工場網・製造OS(2045年〜のKPI)の基盤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時限自社(〜2040)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現ラインの設備改造・専用治具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「2040年までに償却完了」をゲート条件としてSCM戦略部が審査 — 10年で捨てる物に大金を入れない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移設・転用可能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フィジカルAI・AMR・自動検査機(レイアウト非依存の可搬型を優先調達)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2040年モジュール工場へ移設/他工場へ転用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274320" y="5349240"/>
            <a:ext cx="11640312" cy="731520"/>
          </a:xfrm>
          <a:prstGeom prst="roundRect">
            <a:avLst>
              <a:gd name="adj" fmla="val 75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" y="5422392"/>
            <a:ext cx="11311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結論: 本プログラムは2040年構想と競合する先行支出ではなく、新工場の「設計入力」(改定済み基準・再設計済みプロセス)と建替えの「意思決定材料」(31%トリガー判定)を生む前提工事である。
</a:t>
            </a:r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やらない場合の逆リスク: 人手前提の基準がそのまま新工場仕様に持ち込まれる/量産知見の他社依存(現状課題)を自動化・品質再現の領域で繰り返す/31%判定の材料がなく建替え判断が勘に頼る。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74320" y="6263640"/>
            <a:ext cx="1164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出典: OHC 2040年検討資料(ステップ1〜3: モジュール型マザー工場・3色仕分け・稼働率ロジック・自動化PoC分岐)※数値は同資料の仮置き値を含む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486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WBS — 生産性ボトルネック調査・構造的省人化(2026/8〜2029)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0" y="54864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</a:t>
            </a:r>
            <a:pPr algn="r"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実行期間  </a:t>
            </a:r>
            <a:pPr algn="r" indent="0" marL="0">
              <a:buNone/>
            </a:pPr>
            <a:r>
              <a:rPr lang="en-US" sz="7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◆</a:t>
            </a:r>
            <a:pPr algn="r"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ゲート: G1=台帳+役員報告(26/10) G2=改定方針合意(26/12) G3=AI要件凍結(26/12)  </a:t>
            </a:r>
            <a:pPr algn="r" indent="0" marL="0">
              <a:buNone/>
            </a:pPr>
            <a:r>
              <a:rPr lang="en-US" sz="7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赤=クリティカルパス</a:t>
            </a:r>
            <a:endParaRPr lang="en-US" sz="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75488"/>
          <a:ext cx="11722608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3566160"/>
                <a:gridCol w="2011680"/>
                <a:gridCol w="137160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WBS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タスク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主な成果物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26/8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27H1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27H2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28-29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155448">
                <a:tc gridSpan="1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F3D2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WS0 PMO・ガバナンス(リーダー: 生技セ戦略統括T)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0.1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プロジェクト憲章(スコープ・KGIツリー・会議体・ゲート定義・報告計画)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憲章・KPIツリー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PMO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0.2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現状施策の棚卸し(着手済み施策インベントリ・二重投資排除)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施策インベントリ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PMO+3チームL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0.3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役員中間報告(G1)+ゲート運営(G1→G2→G3)・効果トラッキング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中間報告・ゲート判定記録・効果台帳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PMO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◆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155448">
                <a:tc gridSpan="1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F3D2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WS1 基準・規定の棚卸しと是正(リーダー: 品質保証部門) — ゼロベースの本丸。採否の最終決定権はQA(変更管理プロセス)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1.1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規定インベントリ: 品質基準書・検査規格・SOP・記録/帳票類の全リスト化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規定一覧(全件・版数・所管)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工場QA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1.2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安全基準・衛生基準(GMP)・保全基準の棚卸し(全基準領域へ拡張)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同左(安全・衛生・保全)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安全衛生+保全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1.3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文書化されていない内規・慣行の発掘(WS2ヒアリング連動)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慣行リスト(暗黙ルールの文書化)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工場QA+WS2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1.4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要求根拠の分類(A法規/B業界・顧客/C当社独自)+制定経緯の遡及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分類済み規定台帳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品質保証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1.5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品質実績との突合+現行目視検査の実力値測定(見逃し率ベースライン)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基準×実績・目視実力値レポート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品質保証+R&amp;D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1.6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自動化前提の安全リスクアセスメント再実施(人-機械協働・保安体制)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リスクアセスメント改訂版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安全衛生+生技セ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1.7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改定候補の難易度×効果マップ(配慮/踏み込みスコープ仕分け)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改定候補一覧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品質保証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1.8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改定ドラフト・QA変更管理(Change Control)手続き=採否はQAが決定(G2)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改定案・変更管理記録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品質保証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◆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1.9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改定第1弾施行(ロールバック条件付き)+市場品質モニタリング・定期棚卸し制度化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改定規定・ロールバック基準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品質保証+工場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 gridSpan="1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F3D2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WS2 業務プロセス調査・再設計(リーダー: 明石工場 中林氏)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2.1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調査設計(ワークサンプリング計画・簡易カメラ設置・作業者への事前説明)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調査計画書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生技セ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2.2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稼働・B停止ベースライン(デジ戦データ棚卸し・停止パレート)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ベースラインレポート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デジ戦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2.3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ワークサンプリング実施(植毛115名・シフト/品種横断)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業務分解データ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生技セ+工場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2.4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作業-規定トレーサビリティ台帳(作業×要求規定×8レバー照合)(G1)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台帳第1版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生技セ+WS1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◆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2.5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現場ヒアリング(張り付き理由・慣行の裏取り)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ヒアリング録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生技セ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2.6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ECRS再設計案(重複削除・セルフ化・集約化・権限委譲を網羅適用)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新プロセス設計書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工場+プロ包技室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2.7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B停止原因潰し込み・復旧標準化・SMED実行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改善実行計画・実績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工場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2.8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新プロセストライアル→SOP改訂・シフト/多能工再設計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改訂SOP・シフト計画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工場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 gridSpan="1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F3D2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WS3 自動化・実行手段(リーダー: 生技セ)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3.1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自動検査装置の技術評価+目視との並行運転で検出力同等性を実証(MSA)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評価書・同等性実証レポート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工場+生技セ+品質保証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3.2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フィジカルAI要件定義(改定後基準前提・G3後に凍結)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要件定義書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生技セ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◆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AMR・搬送統合構想(工場全体レイアウト・集約配置と連動)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全体最適構想書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生技セ+SCM戦略部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3.4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PoC・投資評価(OEE正味ROI)+2040年国内集約トリガー(労務削減31%)判定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PoC報告・投資申請・トリガー判定書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生技セ+SCM戦略部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3.5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実装・立ち上げ・効果刈り取り(投資は2040年までに償却完了をゲート条件)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稼働設備・効果実績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プロ包技室+工場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3.6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A停止(前準備/後片付け)業務の自動化・簡素化設計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A停止対策設計書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プロ包技室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3.7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成果を2040年モジュール工場の要求仕様として文書化(基準・プロセス・設備・移設計画)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新工場要求仕様書 v0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生技セ+SCM戦略部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155448">
                <a:tc gridSpan="1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1F3D2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WS4 要員移行(人事部門と連携)</a:t>
                      </a:r>
                      <a:endParaRPr lang="en-US" sz="6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D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4.1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省人化53名分の再配置・リスキル構想(実装フェーズ開始までに受け皿を確定)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再配置構想書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人事+工場</a:t>
                      </a: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28600" y="6382512"/>
            <a:ext cx="1173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クリティカルパス(赤): 規定棚卸し(1.1〜1.4)→台帳(2.4=G1)→改定方針(1.7〜1.8=G2)→AI要件凍結(3.2=G3)→27年PoC — 規定棚卸しが全体の律速。PMOは初期リソースをWS1前半に集中投下。 ※期間・効果は仮説値、台帳完成後に確定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2026-08-11T13:21:46Z</dcterms:created>
  <dcterms:modified xsi:type="dcterms:W3CDTF">2026-08-11T13:21:46Z</dcterms:modified>
</cp:coreProperties>
</file>