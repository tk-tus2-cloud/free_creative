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8778240" cy="502920"/>
          </a:xfrm>
          <a:prstGeom prst="rect">
            <a:avLst/>
          </a:prstGeom>
          <a:noFill/>
          <a:ln/>
        </p:spPr>
        <p:txBody>
          <a:bodyPr wrap="square" lIns="0" tIns="0" rIns="0" bIns="0" rtlCol="0" anchor="ctr"/>
          <a:lstStyle/>
          <a:p>
            <a:pPr indent="0" marL="0">
              <a:buNone/>
            </a:pPr>
            <a:r>
              <a:rPr lang="en-US" sz="2400" b="1" dirty="0">
                <a:solidFill>
                  <a:srgbClr val="1F3864"/>
                </a:solidFill>
                <a:latin typeface="Meiryo" pitchFamily="34" charset="0"/>
                <a:ea typeface="Meiryo" pitchFamily="34" charset="-122"/>
                <a:cs typeface="Meiryo" pitchFamily="34" charset="-120"/>
              </a:rPr>
              <a:t>アビームコンサルティング様 選定結果フィードバック (1/2)</a:t>
            </a:r>
            <a:endParaRPr lang="en-US" sz="2400" dirty="0"/>
          </a:p>
        </p:txBody>
      </p:sp>
      <p:sp>
        <p:nvSpPr>
          <p:cNvPr id="3" name="Text 1"/>
          <p:cNvSpPr txBox="1"/>
          <p:nvPr/>
        </p:nvSpPr>
        <p:spPr>
          <a:xfrm>
            <a:off x="9281160" y="256032"/>
            <a:ext cx="2395728" cy="502920"/>
          </a:xfrm>
          <a:prstGeom prst="rect">
            <a:avLst/>
          </a:prstGeom>
          <a:noFill/>
          <a:ln/>
        </p:spPr>
        <p:txBody>
          <a:bodyPr wrap="square" lIns="0" tIns="0" rIns="0" bIns="0" rtlCol="0" anchor="ctr"/>
          <a:lstStyle/>
          <a:p>
            <a:pPr algn="r" indent="0" marL="0">
              <a:buNone/>
            </a:pPr>
            <a:r>
              <a:rPr lang="en-US" sz="900" dirty="0">
                <a:solidFill>
                  <a:srgbClr val="6B7280"/>
                </a:solidFill>
                <a:latin typeface="Meiryo" pitchFamily="34" charset="0"/>
                <a:ea typeface="Meiryo" pitchFamily="34" charset="-122"/>
                <a:cs typeface="Meiryo" pitchFamily="34" charset="-120"/>
              </a:rPr>
              <a:t>2026年8月</a:t>
            </a:r>
            <a:endParaRPr lang="en-US" sz="900" dirty="0"/>
          </a:p>
          <a:p>
            <a:pPr algn="r" indent="0" marL="0">
              <a:buNone/>
            </a:pPr>
            <a:r>
              <a:rPr lang="en-US" sz="900" dirty="0">
                <a:solidFill>
                  <a:srgbClr val="6B7280"/>
                </a:solidFill>
                <a:latin typeface="Meiryo" pitchFamily="34" charset="0"/>
                <a:ea typeface="Meiryo" pitchFamily="34" charset="-122"/>
                <a:cs typeface="Meiryo" pitchFamily="34" charset="-120"/>
              </a:rPr>
              <a:t>ライオン株式会社 SSBJ対応PJT</a:t>
            </a:r>
            <a:endParaRPr lang="en-US" sz="900" dirty="0"/>
          </a:p>
        </p:txBody>
      </p:sp>
      <p:sp>
        <p:nvSpPr>
          <p:cNvPr id="4" name="Shape 2"/>
          <p:cNvSpPr/>
          <p:nvPr/>
        </p:nvSpPr>
        <p:spPr>
          <a:xfrm>
            <a:off x="502920" y="896112"/>
            <a:ext cx="11183112" cy="713232"/>
          </a:xfrm>
          <a:prstGeom prst="roundRect">
            <a:avLst>
              <a:gd name="adj" fmla="val 7692"/>
            </a:avLst>
          </a:prstGeom>
          <a:solidFill>
            <a:srgbClr val="EAF1FA"/>
          </a:solidFill>
          <a:ln/>
        </p:spPr>
      </p:sp>
      <p:sp>
        <p:nvSpPr>
          <p:cNvPr id="5" name="Text 3"/>
          <p:cNvSpPr txBox="1"/>
          <p:nvPr/>
        </p:nvSpPr>
        <p:spPr>
          <a:xfrm>
            <a:off x="685800" y="896112"/>
            <a:ext cx="10835640" cy="713232"/>
          </a:xfrm>
          <a:prstGeom prst="rect">
            <a:avLst/>
          </a:prstGeom>
          <a:noFill/>
          <a:ln/>
        </p:spPr>
        <p:txBody>
          <a:bodyPr wrap="square" lIns="0" tIns="0" rIns="0" bIns="0" rtlCol="0" anchor="ctr"/>
          <a:lstStyle/>
          <a:p>
            <a:pPr indent="0" marL="0">
              <a:buNone/>
            </a:pPr>
            <a:r>
              <a:rPr lang="en-US" sz="1100" b="1" dirty="0">
                <a:solidFill>
                  <a:srgbClr val="16294A"/>
                </a:solidFill>
                <a:latin typeface="Meiryo" pitchFamily="34" charset="0"/>
                <a:ea typeface="Meiryo" pitchFamily="34" charset="-122"/>
                <a:cs typeface="Meiryo" pitchFamily="34" charset="-120"/>
              </a:rPr>
              <a:t>SSBJ対応プラットフォーム構築に向けた要求定義支援のご提案につきまして、弊社評価者4名による厳正な審査の結果、貴社を要求定義支援パートナーとして選定させていただくことを決定いたしました。</a:t>
            </a:r>
            <a:endParaRPr lang="en-US" sz="1100" dirty="0"/>
          </a:p>
        </p:txBody>
      </p:sp>
      <p:sp>
        <p:nvSpPr>
          <p:cNvPr id="6" name="Shape 4"/>
          <p:cNvSpPr/>
          <p:nvPr/>
        </p:nvSpPr>
        <p:spPr>
          <a:xfrm>
            <a:off x="502920" y="1810512"/>
            <a:ext cx="310896" cy="310896"/>
          </a:xfrm>
          <a:prstGeom prst="ellipse">
            <a:avLst/>
          </a:prstGeom>
          <a:solidFill>
            <a:srgbClr val="1F3864"/>
          </a:solidFill>
          <a:ln/>
        </p:spPr>
      </p:sp>
      <p:pic>
        <p:nvPicPr>
          <p:cNvPr id="7" name="Image 0" descr="preencoded.png">    </p:cNvPr>
          <p:cNvPicPr>
            <a:picLocks noChangeAspect="1"/>
          </p:cNvPicPr>
          <p:nvPr/>
        </p:nvPicPr>
        <p:blipFill>
          <a:blip r:embed="rId1"/>
          <a:stretch>
            <a:fillRect/>
          </a:stretch>
        </p:blipFill>
        <p:spPr>
          <a:xfrm>
            <a:off x="571500" y="1879092"/>
            <a:ext cx="173736" cy="173736"/>
          </a:xfrm>
          <a:prstGeom prst="rect">
            <a:avLst/>
          </a:prstGeom>
        </p:spPr>
      </p:pic>
      <p:sp>
        <p:nvSpPr>
          <p:cNvPr id="8" name="Text 5"/>
          <p:cNvSpPr txBox="1"/>
          <p:nvPr/>
        </p:nvSpPr>
        <p:spPr>
          <a:xfrm>
            <a:off x="914400" y="1783080"/>
            <a:ext cx="5029200" cy="365760"/>
          </a:xfrm>
          <a:prstGeom prst="rect">
            <a:avLst/>
          </a:prstGeom>
          <a:noFill/>
          <a:ln/>
        </p:spPr>
        <p:txBody>
          <a:bodyPr wrap="square" lIns="0" tIns="0" rIns="0" bIns="0" rtlCol="0" anchor="ctr"/>
          <a:lstStyle/>
          <a:p>
            <a:pPr indent="0" marL="0">
              <a:buNone/>
            </a:pPr>
            <a:r>
              <a:rPr lang="en-US" sz="1450" b="1" dirty="0">
                <a:solidFill>
                  <a:srgbClr val="1F3864"/>
                </a:solidFill>
                <a:latin typeface="Meiryo" pitchFamily="34" charset="0"/>
                <a:ea typeface="Meiryo" pitchFamily="34" charset="-122"/>
                <a:cs typeface="Meiryo" pitchFamily="34" charset="-120"/>
              </a:rPr>
              <a:t>総括</a:t>
            </a:r>
            <a:endParaRPr lang="en-US" sz="1450" dirty="0"/>
          </a:p>
        </p:txBody>
      </p:sp>
      <p:sp>
        <p:nvSpPr>
          <p:cNvPr id="9" name="Text 6"/>
          <p:cNvSpPr txBox="1"/>
          <p:nvPr/>
        </p:nvSpPr>
        <p:spPr>
          <a:xfrm>
            <a:off x="502920" y="2240280"/>
            <a:ext cx="5989320" cy="1920240"/>
          </a:xfrm>
          <a:prstGeom prst="rect">
            <a:avLst/>
          </a:prstGeom>
          <a:noFill/>
          <a:ln/>
        </p:spPr>
        <p:txBody>
          <a:bodyPr wrap="square" lIns="0" tIns="0" rIns="0" bIns="0" rtlCol="0" anchor="t"/>
          <a:lstStyle/>
          <a:p>
            <a:pPr indent="0" marL="0">
              <a:lnSpc>
                <a:spcPct val="112000"/>
              </a:lnSpc>
              <a:spcAft>
                <a:spcPts val="700"/>
              </a:spcAft>
              <a:buNone/>
            </a:pPr>
            <a:r>
              <a:rPr lang="en-US" sz="1060" dirty="0">
                <a:solidFill>
                  <a:srgbClr val="26303B"/>
                </a:solidFill>
                <a:latin typeface="Meiryo" pitchFamily="34" charset="0"/>
                <a:ea typeface="Meiryo" pitchFamily="34" charset="-122"/>
                <a:cs typeface="Meiryo" pitchFamily="34" charset="-120"/>
              </a:rPr>
              <a:t>このたびは、弊社の依頼書を深く読み解き、精度の高いご提案をお寄せいただき、誠にありがとうございました。多大なご尽力に深く感謝申し上げます。</a:t>
            </a:r>
            <a:endParaRPr lang="en-US" sz="1060" dirty="0"/>
          </a:p>
          <a:p>
            <a:pPr indent="0" marL="0">
              <a:lnSpc>
                <a:spcPct val="112000"/>
              </a:lnSpc>
              <a:spcAft>
                <a:spcPts val="700"/>
              </a:spcAft>
              <a:buNone/>
            </a:pPr>
            <a:r>
              <a:rPr lang="en-US" sz="1060" dirty="0">
                <a:solidFill>
                  <a:srgbClr val="26303B"/>
                </a:solidFill>
                <a:latin typeface="Meiryo" pitchFamily="34" charset="0"/>
                <a:ea typeface="Meiryo" pitchFamily="34" charset="-122"/>
                <a:cs typeface="Meiryo" pitchFamily="34" charset="-120"/>
              </a:rPr>
              <a:t>弊社では、品質（Quality・50点）・コスト（Cost・23点）・納期（Delivery・27点）の3カテゴリ14項目からなる採点表を用い、評価者4名の合議により3社のご提案を厳正に審査いたしました。</a:t>
            </a:r>
            <a:endParaRPr lang="en-US" sz="1060" dirty="0"/>
          </a:p>
          <a:p>
            <a:pPr indent="0" marL="0">
              <a:lnSpc>
                <a:spcPct val="112000"/>
              </a:lnSpc>
              <a:buNone/>
            </a:pPr>
            <a:r>
              <a:rPr lang="en-US" sz="1060" dirty="0">
                <a:solidFill>
                  <a:srgbClr val="26303B"/>
                </a:solidFill>
                <a:latin typeface="Meiryo" pitchFamily="34" charset="0"/>
                <a:ea typeface="Meiryo" pitchFamily="34" charset="-122"/>
                <a:cs typeface="Meiryo" pitchFamily="34" charset="-120"/>
              </a:rPr>
              <a:t>その結果、貴社のご提案は総合評価第1位、特に品質（Quality）面で他社を大きく上回る評価となりました。「守り（開示・保証対応）」と「攻め（非財務情報の経営活用）」を両立するという弊社の方針に対し、方法論・実績・体制のすべてで最も適合するご提案であったと評価しております。</a:t>
            </a:r>
            <a:endParaRPr lang="en-US" sz="1060" dirty="0"/>
          </a:p>
        </p:txBody>
      </p:sp>
      <p:sp>
        <p:nvSpPr>
          <p:cNvPr id="10" name="Shape 7"/>
          <p:cNvSpPr/>
          <p:nvPr/>
        </p:nvSpPr>
        <p:spPr>
          <a:xfrm>
            <a:off x="6812280" y="1737360"/>
            <a:ext cx="4873752" cy="2395728"/>
          </a:xfrm>
          <a:prstGeom prst="roundRect">
            <a:avLst>
              <a:gd name="adj" fmla="val 3053"/>
            </a:avLst>
          </a:prstGeom>
          <a:solidFill>
            <a:srgbClr val="EAF5EC"/>
          </a:solidFill>
          <a:ln/>
          <a:effectLst>
            <a:outerShdw sx="100000" sy="100000" kx="0" ky="0" algn="bl" rotWithShape="0" blurRad="76200" dist="25400" dir="5400000">
              <a:srgbClr val="9AA7BC">
                <a:alpha val="28000"/>
              </a:srgbClr>
            </a:outerShdw>
          </a:effectLst>
        </p:spPr>
      </p:sp>
      <p:sp>
        <p:nvSpPr>
          <p:cNvPr id="11" name="Text 8"/>
          <p:cNvSpPr txBox="1"/>
          <p:nvPr/>
        </p:nvSpPr>
        <p:spPr>
          <a:xfrm>
            <a:off x="7013448" y="1847088"/>
            <a:ext cx="4471416" cy="274320"/>
          </a:xfrm>
          <a:prstGeom prst="rect">
            <a:avLst/>
          </a:prstGeom>
          <a:noFill/>
          <a:ln/>
        </p:spPr>
        <p:txBody>
          <a:bodyPr wrap="square" lIns="0" tIns="0" rIns="0" bIns="0" rtlCol="0" anchor="ctr"/>
          <a:lstStyle/>
          <a:p>
            <a:pPr indent="0" marL="0">
              <a:buNone/>
            </a:pPr>
            <a:r>
              <a:rPr lang="en-US" sz="1050" b="1" dirty="0">
                <a:solidFill>
                  <a:srgbClr val="1F3864"/>
                </a:solidFill>
                <a:latin typeface="Meiryo" pitchFamily="34" charset="0"/>
                <a:ea typeface="Meiryo" pitchFamily="34" charset="-122"/>
                <a:cs typeface="Meiryo" pitchFamily="34" charset="-120"/>
              </a:rPr>
              <a:t>貴社評価サマリー（弊社採点表・評価者4名平均）</a:t>
            </a:r>
            <a:endParaRPr lang="en-US" sz="1050" dirty="0"/>
          </a:p>
        </p:txBody>
      </p:sp>
      <p:sp>
        <p:nvSpPr>
          <p:cNvPr id="12" name="Text 9"/>
          <p:cNvSpPr txBox="1"/>
          <p:nvPr/>
        </p:nvSpPr>
        <p:spPr>
          <a:xfrm>
            <a:off x="7013448" y="2121408"/>
            <a:ext cx="2743200" cy="658368"/>
          </a:xfrm>
          <a:prstGeom prst="rect">
            <a:avLst/>
          </a:prstGeom>
          <a:noFill/>
          <a:ln/>
        </p:spPr>
        <p:txBody>
          <a:bodyPr wrap="square" lIns="0" tIns="0" rIns="0" bIns="0" rtlCol="0" anchor="ctr"/>
          <a:lstStyle/>
          <a:p>
            <a:pPr indent="0" marL="0">
              <a:buNone/>
            </a:pPr>
            <a:r>
              <a:rPr lang="en-US" sz="3600" b="1" dirty="0">
                <a:solidFill>
                  <a:srgbClr val="2E7D32"/>
                </a:solidFill>
                <a:latin typeface="Meiryo" pitchFamily="34" charset="0"/>
                <a:ea typeface="Meiryo" pitchFamily="34" charset="-122"/>
                <a:cs typeface="Meiryo" pitchFamily="34" charset="-120"/>
              </a:rPr>
              <a:t>75.1</a:t>
            </a:r>
            <a:pPr indent="0" marL="0">
              <a:buNone/>
            </a:pPr>
            <a:r>
              <a:rPr lang="en-US" sz="1200" b="1" dirty="0">
                <a:solidFill>
                  <a:srgbClr val="6B7280"/>
                </a:solidFill>
                <a:latin typeface="Meiryo" pitchFamily="34" charset="0"/>
                <a:ea typeface="Meiryo" pitchFamily="34" charset="-122"/>
                <a:cs typeface="Meiryo" pitchFamily="34" charset="-120"/>
              </a:rPr>
              <a:t>  / 100点</a:t>
            </a:r>
            <a:endParaRPr lang="en-US" sz="3600" dirty="0"/>
          </a:p>
        </p:txBody>
      </p:sp>
      <p:sp>
        <p:nvSpPr>
          <p:cNvPr id="13" name="Shape 10"/>
          <p:cNvSpPr/>
          <p:nvPr/>
        </p:nvSpPr>
        <p:spPr>
          <a:xfrm>
            <a:off x="9692640" y="2286000"/>
            <a:ext cx="1783080" cy="384048"/>
          </a:xfrm>
          <a:prstGeom prst="roundRect">
            <a:avLst>
              <a:gd name="adj" fmla="val 50000"/>
            </a:avLst>
          </a:prstGeom>
          <a:solidFill>
            <a:srgbClr val="2E7D32"/>
          </a:solidFill>
          <a:ln/>
        </p:spPr>
      </p:sp>
      <p:sp>
        <p:nvSpPr>
          <p:cNvPr id="14" name="Text 11"/>
          <p:cNvSpPr txBox="1"/>
          <p:nvPr/>
        </p:nvSpPr>
        <p:spPr>
          <a:xfrm>
            <a:off x="9692640" y="2286000"/>
            <a:ext cx="17830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総合第1位・選定</a:t>
            </a:r>
            <a:endParaRPr lang="en-US" sz="1150" dirty="0"/>
          </a:p>
        </p:txBody>
      </p:sp>
      <p:sp>
        <p:nvSpPr>
          <p:cNvPr id="15" name="Text 12"/>
          <p:cNvSpPr txBox="1"/>
          <p:nvPr/>
        </p:nvSpPr>
        <p:spPr>
          <a:xfrm>
            <a:off x="7013448" y="2898648"/>
            <a:ext cx="1965960" cy="274320"/>
          </a:xfrm>
          <a:prstGeom prst="rect">
            <a:avLst/>
          </a:prstGeom>
          <a:noFill/>
          <a:ln/>
        </p:spPr>
        <p:txBody>
          <a:bodyPr wrap="square" lIns="0" tIns="0" rIns="0" bIns="0" rtlCol="0" anchor="ctr"/>
          <a:lstStyle/>
          <a:p>
            <a:pPr indent="0" marL="0">
              <a:buNone/>
            </a:pPr>
            <a:r>
              <a:rPr lang="en-US" sz="950" b="1" dirty="0">
                <a:solidFill>
                  <a:srgbClr val="26303B"/>
                </a:solidFill>
                <a:latin typeface="Meiryo" pitchFamily="34" charset="0"/>
                <a:ea typeface="Meiryo" pitchFamily="34" charset="-122"/>
                <a:cs typeface="Meiryo" pitchFamily="34" charset="-120"/>
              </a:rPr>
              <a:t>品質 Quality</a:t>
            </a:r>
            <a:endParaRPr lang="en-US" sz="950" dirty="0"/>
          </a:p>
        </p:txBody>
      </p:sp>
      <p:sp>
        <p:nvSpPr>
          <p:cNvPr id="16" name="Shape 13"/>
          <p:cNvSpPr/>
          <p:nvPr/>
        </p:nvSpPr>
        <p:spPr>
          <a:xfrm>
            <a:off x="9025128" y="2958084"/>
            <a:ext cx="1591056" cy="155448"/>
          </a:xfrm>
          <a:prstGeom prst="roundRect">
            <a:avLst>
              <a:gd name="adj" fmla="val 29412"/>
            </a:avLst>
          </a:prstGeom>
          <a:solidFill>
            <a:srgbClr val="E3E8F0"/>
          </a:solidFill>
          <a:ln/>
        </p:spPr>
      </p:sp>
      <p:sp>
        <p:nvSpPr>
          <p:cNvPr id="17" name="Shape 14"/>
          <p:cNvSpPr/>
          <p:nvPr/>
        </p:nvSpPr>
        <p:spPr>
          <a:xfrm>
            <a:off x="9025128" y="2958084"/>
            <a:ext cx="1377854" cy="155448"/>
          </a:xfrm>
          <a:prstGeom prst="roundRect">
            <a:avLst>
              <a:gd name="adj" fmla="val 29412"/>
            </a:avLst>
          </a:prstGeom>
          <a:solidFill>
            <a:srgbClr val="2E7D32"/>
          </a:solidFill>
          <a:ln/>
        </p:spPr>
      </p:sp>
      <p:sp>
        <p:nvSpPr>
          <p:cNvPr id="18" name="Text 15"/>
          <p:cNvSpPr txBox="1"/>
          <p:nvPr/>
        </p:nvSpPr>
        <p:spPr>
          <a:xfrm>
            <a:off x="10689336" y="2898648"/>
            <a:ext cx="822960" cy="274320"/>
          </a:xfrm>
          <a:prstGeom prst="rect">
            <a:avLst/>
          </a:prstGeom>
          <a:noFill/>
          <a:ln/>
        </p:spPr>
        <p:txBody>
          <a:bodyPr wrap="square" lIns="0" tIns="0" rIns="0" bIns="0" rtlCol="0" anchor="ctr"/>
          <a:lstStyle/>
          <a:p>
            <a:pPr indent="0" marL="0">
              <a:buNone/>
            </a:pPr>
            <a:r>
              <a:rPr lang="en-US" sz="950" b="1" dirty="0">
                <a:solidFill>
                  <a:srgbClr val="1F3864"/>
                </a:solidFill>
                <a:latin typeface="Meiryo" pitchFamily="34" charset="0"/>
                <a:ea typeface="Meiryo" pitchFamily="34" charset="-122"/>
                <a:cs typeface="Meiryo" pitchFamily="34" charset="-120"/>
              </a:rPr>
              <a:t>43.3 / 50</a:t>
            </a:r>
            <a:endParaRPr lang="en-US" sz="950" dirty="0"/>
          </a:p>
        </p:txBody>
      </p:sp>
      <p:sp>
        <p:nvSpPr>
          <p:cNvPr id="19" name="Text 16"/>
          <p:cNvSpPr txBox="1"/>
          <p:nvPr/>
        </p:nvSpPr>
        <p:spPr>
          <a:xfrm>
            <a:off x="7013448" y="3264408"/>
            <a:ext cx="1965960" cy="274320"/>
          </a:xfrm>
          <a:prstGeom prst="rect">
            <a:avLst/>
          </a:prstGeom>
          <a:noFill/>
          <a:ln/>
        </p:spPr>
        <p:txBody>
          <a:bodyPr wrap="square" lIns="0" tIns="0" rIns="0" bIns="0" rtlCol="0" anchor="ctr"/>
          <a:lstStyle/>
          <a:p>
            <a:pPr indent="0" marL="0">
              <a:buNone/>
            </a:pPr>
            <a:r>
              <a:rPr lang="en-US" sz="950" b="1" dirty="0">
                <a:solidFill>
                  <a:srgbClr val="26303B"/>
                </a:solidFill>
                <a:latin typeface="Meiryo" pitchFamily="34" charset="0"/>
                <a:ea typeface="Meiryo" pitchFamily="34" charset="-122"/>
                <a:cs typeface="Meiryo" pitchFamily="34" charset="-120"/>
              </a:rPr>
              <a:t>コスト Cost</a:t>
            </a:r>
            <a:endParaRPr lang="en-US" sz="950" dirty="0"/>
          </a:p>
        </p:txBody>
      </p:sp>
      <p:sp>
        <p:nvSpPr>
          <p:cNvPr id="20" name="Shape 17"/>
          <p:cNvSpPr/>
          <p:nvPr/>
        </p:nvSpPr>
        <p:spPr>
          <a:xfrm>
            <a:off x="9025128" y="3323844"/>
            <a:ext cx="1591056" cy="155448"/>
          </a:xfrm>
          <a:prstGeom prst="roundRect">
            <a:avLst>
              <a:gd name="adj" fmla="val 29412"/>
            </a:avLst>
          </a:prstGeom>
          <a:solidFill>
            <a:srgbClr val="E3E8F0"/>
          </a:solidFill>
          <a:ln/>
        </p:spPr>
      </p:sp>
      <p:sp>
        <p:nvSpPr>
          <p:cNvPr id="21" name="Shape 18"/>
          <p:cNvSpPr/>
          <p:nvPr/>
        </p:nvSpPr>
        <p:spPr>
          <a:xfrm>
            <a:off x="9025128" y="3323844"/>
            <a:ext cx="975387" cy="155448"/>
          </a:xfrm>
          <a:prstGeom prst="roundRect">
            <a:avLst>
              <a:gd name="adj" fmla="val 29412"/>
            </a:avLst>
          </a:prstGeom>
          <a:solidFill>
            <a:srgbClr val="2E7D32"/>
          </a:solidFill>
          <a:ln/>
        </p:spPr>
      </p:sp>
      <p:sp>
        <p:nvSpPr>
          <p:cNvPr id="22" name="Text 19"/>
          <p:cNvSpPr txBox="1"/>
          <p:nvPr/>
        </p:nvSpPr>
        <p:spPr>
          <a:xfrm>
            <a:off x="10689336" y="3264408"/>
            <a:ext cx="822960" cy="274320"/>
          </a:xfrm>
          <a:prstGeom prst="rect">
            <a:avLst/>
          </a:prstGeom>
          <a:noFill/>
          <a:ln/>
        </p:spPr>
        <p:txBody>
          <a:bodyPr wrap="square" lIns="0" tIns="0" rIns="0" bIns="0" rtlCol="0" anchor="ctr"/>
          <a:lstStyle/>
          <a:p>
            <a:pPr indent="0" marL="0">
              <a:buNone/>
            </a:pPr>
            <a:r>
              <a:rPr lang="en-US" sz="950" b="1" dirty="0">
                <a:solidFill>
                  <a:srgbClr val="1F3864"/>
                </a:solidFill>
                <a:latin typeface="Meiryo" pitchFamily="34" charset="0"/>
                <a:ea typeface="Meiryo" pitchFamily="34" charset="-122"/>
                <a:cs typeface="Meiryo" pitchFamily="34" charset="-120"/>
              </a:rPr>
              <a:t>14.1 / 23</a:t>
            </a:r>
            <a:endParaRPr lang="en-US" sz="950" dirty="0"/>
          </a:p>
        </p:txBody>
      </p:sp>
      <p:sp>
        <p:nvSpPr>
          <p:cNvPr id="23" name="Text 20"/>
          <p:cNvSpPr txBox="1"/>
          <p:nvPr/>
        </p:nvSpPr>
        <p:spPr>
          <a:xfrm>
            <a:off x="7013448" y="3630168"/>
            <a:ext cx="1965960" cy="274320"/>
          </a:xfrm>
          <a:prstGeom prst="rect">
            <a:avLst/>
          </a:prstGeom>
          <a:noFill/>
          <a:ln/>
        </p:spPr>
        <p:txBody>
          <a:bodyPr wrap="square" lIns="0" tIns="0" rIns="0" bIns="0" rtlCol="0" anchor="ctr"/>
          <a:lstStyle/>
          <a:p>
            <a:pPr indent="0" marL="0">
              <a:buNone/>
            </a:pPr>
            <a:r>
              <a:rPr lang="en-US" sz="950" b="1" dirty="0">
                <a:solidFill>
                  <a:srgbClr val="26303B"/>
                </a:solidFill>
                <a:latin typeface="Meiryo" pitchFamily="34" charset="0"/>
                <a:ea typeface="Meiryo" pitchFamily="34" charset="-122"/>
                <a:cs typeface="Meiryo" pitchFamily="34" charset="-120"/>
              </a:rPr>
              <a:t>納期 Delivery</a:t>
            </a:r>
            <a:endParaRPr lang="en-US" sz="950" dirty="0"/>
          </a:p>
        </p:txBody>
      </p:sp>
      <p:sp>
        <p:nvSpPr>
          <p:cNvPr id="24" name="Shape 21"/>
          <p:cNvSpPr/>
          <p:nvPr/>
        </p:nvSpPr>
        <p:spPr>
          <a:xfrm>
            <a:off x="9025128" y="3689604"/>
            <a:ext cx="1591056" cy="155448"/>
          </a:xfrm>
          <a:prstGeom prst="roundRect">
            <a:avLst>
              <a:gd name="adj" fmla="val 29412"/>
            </a:avLst>
          </a:prstGeom>
          <a:solidFill>
            <a:srgbClr val="E3E8F0"/>
          </a:solidFill>
          <a:ln/>
        </p:spPr>
      </p:sp>
      <p:sp>
        <p:nvSpPr>
          <p:cNvPr id="25" name="Shape 22"/>
          <p:cNvSpPr/>
          <p:nvPr/>
        </p:nvSpPr>
        <p:spPr>
          <a:xfrm>
            <a:off x="9025128" y="3689604"/>
            <a:ext cx="1043026" cy="155448"/>
          </a:xfrm>
          <a:prstGeom prst="roundRect">
            <a:avLst>
              <a:gd name="adj" fmla="val 29412"/>
            </a:avLst>
          </a:prstGeom>
          <a:solidFill>
            <a:srgbClr val="2E7D32"/>
          </a:solidFill>
          <a:ln/>
        </p:spPr>
      </p:sp>
      <p:sp>
        <p:nvSpPr>
          <p:cNvPr id="26" name="Text 23"/>
          <p:cNvSpPr txBox="1"/>
          <p:nvPr/>
        </p:nvSpPr>
        <p:spPr>
          <a:xfrm>
            <a:off x="10689336" y="3630168"/>
            <a:ext cx="822960" cy="274320"/>
          </a:xfrm>
          <a:prstGeom prst="rect">
            <a:avLst/>
          </a:prstGeom>
          <a:noFill/>
          <a:ln/>
        </p:spPr>
        <p:txBody>
          <a:bodyPr wrap="square" lIns="0" tIns="0" rIns="0" bIns="0" rtlCol="0" anchor="ctr"/>
          <a:lstStyle/>
          <a:p>
            <a:pPr indent="0" marL="0">
              <a:buNone/>
            </a:pPr>
            <a:r>
              <a:rPr lang="en-US" sz="950" b="1" dirty="0">
                <a:solidFill>
                  <a:srgbClr val="1F3864"/>
                </a:solidFill>
                <a:latin typeface="Meiryo" pitchFamily="34" charset="0"/>
                <a:ea typeface="Meiryo" pitchFamily="34" charset="-122"/>
                <a:cs typeface="Meiryo" pitchFamily="34" charset="-120"/>
              </a:rPr>
              <a:t>17.7 / 27</a:t>
            </a:r>
            <a:endParaRPr lang="en-US" sz="950" dirty="0"/>
          </a:p>
        </p:txBody>
      </p:sp>
      <p:sp>
        <p:nvSpPr>
          <p:cNvPr id="27" name="Shape 24"/>
          <p:cNvSpPr/>
          <p:nvPr/>
        </p:nvSpPr>
        <p:spPr>
          <a:xfrm>
            <a:off x="502920" y="4370832"/>
            <a:ext cx="310896" cy="310896"/>
          </a:xfrm>
          <a:prstGeom prst="ellipse">
            <a:avLst/>
          </a:prstGeom>
          <a:solidFill>
            <a:srgbClr val="1F3864"/>
          </a:solidFill>
          <a:ln/>
        </p:spPr>
      </p:sp>
      <p:pic>
        <p:nvPicPr>
          <p:cNvPr id="28" name="Image 1" descr="preencoded.png">    </p:cNvPr>
          <p:cNvPicPr>
            <a:picLocks noChangeAspect="1"/>
          </p:cNvPicPr>
          <p:nvPr/>
        </p:nvPicPr>
        <p:blipFill>
          <a:blip r:embed="rId2"/>
          <a:stretch>
            <a:fillRect/>
          </a:stretch>
        </p:blipFill>
        <p:spPr>
          <a:xfrm>
            <a:off x="571500" y="4439412"/>
            <a:ext cx="173736" cy="173736"/>
          </a:xfrm>
          <a:prstGeom prst="rect">
            <a:avLst/>
          </a:prstGeom>
        </p:spPr>
      </p:pic>
      <p:sp>
        <p:nvSpPr>
          <p:cNvPr id="29" name="Text 25"/>
          <p:cNvSpPr txBox="1"/>
          <p:nvPr/>
        </p:nvSpPr>
        <p:spPr>
          <a:xfrm>
            <a:off x="914400" y="4343400"/>
            <a:ext cx="8229600" cy="365760"/>
          </a:xfrm>
          <a:prstGeom prst="rect">
            <a:avLst/>
          </a:prstGeom>
          <a:noFill/>
          <a:ln/>
        </p:spPr>
        <p:txBody>
          <a:bodyPr wrap="square" lIns="0" tIns="0" rIns="0" bIns="0" rtlCol="0" anchor="ctr"/>
          <a:lstStyle/>
          <a:p>
            <a:pPr indent="0" marL="0">
              <a:buNone/>
            </a:pPr>
            <a:r>
              <a:rPr lang="en-US" sz="1450" b="1" dirty="0">
                <a:solidFill>
                  <a:srgbClr val="1F3864"/>
                </a:solidFill>
                <a:latin typeface="Meiryo" pitchFamily="34" charset="0"/>
                <a:ea typeface="Meiryo" pitchFamily="34" charset="-122"/>
                <a:cs typeface="Meiryo" pitchFamily="34" charset="-120"/>
              </a:rPr>
              <a:t>選定の決め手となった評価ポイント</a:t>
            </a:r>
            <a:endParaRPr lang="en-US" sz="1450" dirty="0"/>
          </a:p>
        </p:txBody>
      </p:sp>
      <p:sp>
        <p:nvSpPr>
          <p:cNvPr id="30" name="Shape 26"/>
          <p:cNvSpPr/>
          <p:nvPr/>
        </p:nvSpPr>
        <p:spPr>
          <a:xfrm>
            <a:off x="502920" y="4773168"/>
            <a:ext cx="3639312" cy="1828800"/>
          </a:xfrm>
          <a:prstGeom prst="roundRect">
            <a:avLst>
              <a:gd name="adj" fmla="val 3500"/>
            </a:avLst>
          </a:prstGeom>
          <a:solidFill>
            <a:srgbClr val="F5F8FD"/>
          </a:solidFill>
          <a:ln/>
          <a:effectLst>
            <a:outerShdw sx="100000" sy="100000" kx="0" ky="0" algn="bl" rotWithShape="0" blurRad="76200" dist="25400" dir="5400000">
              <a:srgbClr val="9AA7BC">
                <a:alpha val="28000"/>
              </a:srgbClr>
            </a:outerShdw>
          </a:effectLst>
        </p:spPr>
      </p:sp>
      <p:sp>
        <p:nvSpPr>
          <p:cNvPr id="31" name="Shape 27"/>
          <p:cNvSpPr/>
          <p:nvPr/>
        </p:nvSpPr>
        <p:spPr>
          <a:xfrm>
            <a:off x="667512" y="4919472"/>
            <a:ext cx="384048" cy="384048"/>
          </a:xfrm>
          <a:prstGeom prst="ellipse">
            <a:avLst/>
          </a:prstGeom>
          <a:solidFill>
            <a:srgbClr val="2E7D32"/>
          </a:solidFill>
          <a:ln/>
        </p:spPr>
      </p:sp>
      <p:pic>
        <p:nvPicPr>
          <p:cNvPr id="32" name="Image 2" descr="preencoded.png">    </p:cNvPr>
          <p:cNvPicPr>
            <a:picLocks noChangeAspect="1"/>
          </p:cNvPicPr>
          <p:nvPr/>
        </p:nvPicPr>
        <p:blipFill>
          <a:blip r:embed="rId3"/>
          <a:stretch>
            <a:fillRect/>
          </a:stretch>
        </p:blipFill>
        <p:spPr>
          <a:xfrm>
            <a:off x="754380" y="5006340"/>
            <a:ext cx="210312" cy="210312"/>
          </a:xfrm>
          <a:prstGeom prst="rect">
            <a:avLst/>
          </a:prstGeom>
        </p:spPr>
      </p:pic>
      <p:sp>
        <p:nvSpPr>
          <p:cNvPr id="33" name="Text 28"/>
          <p:cNvSpPr txBox="1"/>
          <p:nvPr/>
        </p:nvSpPr>
        <p:spPr>
          <a:xfrm>
            <a:off x="1161288" y="4901184"/>
            <a:ext cx="2834640" cy="43891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課題理解とアジャイル型の方法論</a:t>
            </a:r>
            <a:endParaRPr lang="en-US" sz="1150" dirty="0"/>
          </a:p>
        </p:txBody>
      </p:sp>
      <p:sp>
        <p:nvSpPr>
          <p:cNvPr id="34" name="Text 29"/>
          <p:cNvSpPr txBox="1"/>
          <p:nvPr/>
        </p:nvSpPr>
        <p:spPr>
          <a:xfrm>
            <a:off x="704088" y="5431536"/>
            <a:ext cx="3236976" cy="1005840"/>
          </a:xfrm>
          <a:prstGeom prst="rect">
            <a:avLst/>
          </a:prstGeom>
          <a:noFill/>
          <a:ln/>
        </p:spPr>
        <p:txBody>
          <a:bodyPr wrap="square" lIns="0" tIns="0" rIns="0" bIns="0" rtlCol="0" anchor="t"/>
          <a:lstStyle/>
          <a:p>
            <a:pPr indent="0" marL="0">
              <a:lnSpc>
                <a:spcPct val="112000"/>
              </a:lnSpc>
              <a:buNone/>
            </a:pPr>
            <a:r>
              <a:rPr lang="en-US" sz="980" dirty="0">
                <a:solidFill>
                  <a:srgbClr val="26303B"/>
                </a:solidFill>
                <a:latin typeface="Meiryo" pitchFamily="34" charset="0"/>
                <a:ea typeface="Meiryo" pitchFamily="34" charset="-122"/>
                <a:cs typeface="Meiryo" pitchFamily="34" charset="-120"/>
              </a:rPr>
              <a:t>弊社の課題認識（5つの難所）への的確な理解と、プロトタイプを用いたアジャイル型要件定義の方法論は、評価者全員から最高水準の評価を得ました。要求定義の手戻りを最小化する進め方として、最も納得感のあるご提案でした。</a:t>
            </a:r>
            <a:endParaRPr lang="en-US" sz="980" dirty="0"/>
          </a:p>
        </p:txBody>
      </p:sp>
      <p:sp>
        <p:nvSpPr>
          <p:cNvPr id="35" name="Shape 30"/>
          <p:cNvSpPr/>
          <p:nvPr/>
        </p:nvSpPr>
        <p:spPr>
          <a:xfrm>
            <a:off x="4279392" y="4773168"/>
            <a:ext cx="3639312" cy="1828800"/>
          </a:xfrm>
          <a:prstGeom prst="roundRect">
            <a:avLst>
              <a:gd name="adj" fmla="val 3500"/>
            </a:avLst>
          </a:prstGeom>
          <a:solidFill>
            <a:srgbClr val="F5F8FD"/>
          </a:solidFill>
          <a:ln/>
          <a:effectLst>
            <a:outerShdw sx="100000" sy="100000" kx="0" ky="0" algn="bl" rotWithShape="0" blurRad="76200" dist="25400" dir="5400000">
              <a:srgbClr val="9AA7BC">
                <a:alpha val="28000"/>
              </a:srgbClr>
            </a:outerShdw>
          </a:effectLst>
        </p:spPr>
      </p:sp>
      <p:sp>
        <p:nvSpPr>
          <p:cNvPr id="36" name="Shape 31"/>
          <p:cNvSpPr/>
          <p:nvPr/>
        </p:nvSpPr>
        <p:spPr>
          <a:xfrm>
            <a:off x="4443984" y="4919472"/>
            <a:ext cx="384048" cy="384048"/>
          </a:xfrm>
          <a:prstGeom prst="ellipse">
            <a:avLst/>
          </a:prstGeom>
          <a:solidFill>
            <a:srgbClr val="2E7D32"/>
          </a:solidFill>
          <a:ln/>
        </p:spPr>
      </p:sp>
      <p:pic>
        <p:nvPicPr>
          <p:cNvPr id="37" name="Image 3" descr="preencoded.png">    </p:cNvPr>
          <p:cNvPicPr>
            <a:picLocks noChangeAspect="1"/>
          </p:cNvPicPr>
          <p:nvPr/>
        </p:nvPicPr>
        <p:blipFill>
          <a:blip r:embed="rId4"/>
          <a:stretch>
            <a:fillRect/>
          </a:stretch>
        </p:blipFill>
        <p:spPr>
          <a:xfrm>
            <a:off x="4530852" y="5006340"/>
            <a:ext cx="210312" cy="210312"/>
          </a:xfrm>
          <a:prstGeom prst="rect">
            <a:avLst/>
          </a:prstGeom>
        </p:spPr>
      </p:pic>
      <p:sp>
        <p:nvSpPr>
          <p:cNvPr id="38" name="Text 32"/>
          <p:cNvSpPr txBox="1"/>
          <p:nvPr/>
        </p:nvSpPr>
        <p:spPr>
          <a:xfrm>
            <a:off x="4937760" y="4901184"/>
            <a:ext cx="2834640" cy="43891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SSBJ・保証・類似基盤の実績</a:t>
            </a:r>
            <a:endParaRPr lang="en-US" sz="1150" dirty="0"/>
          </a:p>
        </p:txBody>
      </p:sp>
      <p:sp>
        <p:nvSpPr>
          <p:cNvPr id="39" name="Text 33"/>
          <p:cNvSpPr txBox="1"/>
          <p:nvPr/>
        </p:nvSpPr>
        <p:spPr>
          <a:xfrm>
            <a:off x="4480560" y="5431536"/>
            <a:ext cx="3236976" cy="1005840"/>
          </a:xfrm>
          <a:prstGeom prst="rect">
            <a:avLst/>
          </a:prstGeom>
          <a:noFill/>
          <a:ln/>
        </p:spPr>
        <p:txBody>
          <a:bodyPr wrap="square" lIns="0" tIns="0" rIns="0" bIns="0" rtlCol="0" anchor="t"/>
          <a:lstStyle/>
          <a:p>
            <a:pPr indent="0" marL="0">
              <a:lnSpc>
                <a:spcPct val="112000"/>
              </a:lnSpc>
              <a:buNone/>
            </a:pPr>
            <a:r>
              <a:rPr lang="en-US" sz="980" dirty="0">
                <a:solidFill>
                  <a:srgbClr val="26303B"/>
                </a:solidFill>
                <a:latin typeface="Meiryo" pitchFamily="34" charset="0"/>
                <a:ea typeface="Meiryo" pitchFamily="34" charset="-122"/>
                <a:cs typeface="Meiryo" pitchFamily="34" charset="-120"/>
              </a:rPr>
              <a:t>SSBJ対応・第三者保証対応・類似データ基盤構築の実績はほぼ満点の評価でした。保証人との事前協議（「後出しNG」の予防）を組み込んだ進め方に、確かな実績の裏付けがあると判断いたしました。</a:t>
            </a:r>
            <a:endParaRPr lang="en-US" sz="980" dirty="0"/>
          </a:p>
        </p:txBody>
      </p:sp>
      <p:sp>
        <p:nvSpPr>
          <p:cNvPr id="40" name="Shape 34"/>
          <p:cNvSpPr/>
          <p:nvPr/>
        </p:nvSpPr>
        <p:spPr>
          <a:xfrm>
            <a:off x="8055864" y="4773168"/>
            <a:ext cx="3639312" cy="1828800"/>
          </a:xfrm>
          <a:prstGeom prst="roundRect">
            <a:avLst>
              <a:gd name="adj" fmla="val 3500"/>
            </a:avLst>
          </a:prstGeom>
          <a:solidFill>
            <a:srgbClr val="F5F8FD"/>
          </a:solidFill>
          <a:ln/>
          <a:effectLst>
            <a:outerShdw sx="100000" sy="100000" kx="0" ky="0" algn="bl" rotWithShape="0" blurRad="76200" dist="25400" dir="5400000">
              <a:srgbClr val="9AA7BC">
                <a:alpha val="28000"/>
              </a:srgbClr>
            </a:outerShdw>
          </a:effectLst>
        </p:spPr>
      </p:sp>
      <p:sp>
        <p:nvSpPr>
          <p:cNvPr id="41" name="Shape 35"/>
          <p:cNvSpPr/>
          <p:nvPr/>
        </p:nvSpPr>
        <p:spPr>
          <a:xfrm>
            <a:off x="8220456" y="4919472"/>
            <a:ext cx="384048" cy="384048"/>
          </a:xfrm>
          <a:prstGeom prst="ellipse">
            <a:avLst/>
          </a:prstGeom>
          <a:solidFill>
            <a:srgbClr val="2E7D32"/>
          </a:solidFill>
          <a:ln/>
        </p:spPr>
      </p:sp>
      <p:pic>
        <p:nvPicPr>
          <p:cNvPr id="42" name="Image 4" descr="preencoded.png">    </p:cNvPr>
          <p:cNvPicPr>
            <a:picLocks noChangeAspect="1"/>
          </p:cNvPicPr>
          <p:nvPr/>
        </p:nvPicPr>
        <p:blipFill>
          <a:blip r:embed="rId5"/>
          <a:stretch>
            <a:fillRect/>
          </a:stretch>
        </p:blipFill>
        <p:spPr>
          <a:xfrm>
            <a:off x="8307324" y="5006340"/>
            <a:ext cx="210312" cy="210312"/>
          </a:xfrm>
          <a:prstGeom prst="rect">
            <a:avLst/>
          </a:prstGeom>
        </p:spPr>
      </p:pic>
      <p:sp>
        <p:nvSpPr>
          <p:cNvPr id="43" name="Text 36"/>
          <p:cNvSpPr txBox="1"/>
          <p:nvPr/>
        </p:nvSpPr>
        <p:spPr>
          <a:xfrm>
            <a:off x="8714232" y="4901184"/>
            <a:ext cx="2834640" cy="43891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「攻め」の設計力（3社中最高）</a:t>
            </a:r>
            <a:endParaRPr lang="en-US" sz="1150" dirty="0"/>
          </a:p>
        </p:txBody>
      </p:sp>
      <p:sp>
        <p:nvSpPr>
          <p:cNvPr id="44" name="Text 37"/>
          <p:cNvSpPr txBox="1"/>
          <p:nvPr/>
        </p:nvSpPr>
        <p:spPr>
          <a:xfrm>
            <a:off x="8257032" y="5431536"/>
            <a:ext cx="3236976" cy="1005840"/>
          </a:xfrm>
          <a:prstGeom prst="rect">
            <a:avLst/>
          </a:prstGeom>
          <a:noFill/>
          <a:ln/>
        </p:spPr>
        <p:txBody>
          <a:bodyPr wrap="square" lIns="0" tIns="0" rIns="0" bIns="0" rtlCol="0" anchor="t"/>
          <a:lstStyle/>
          <a:p>
            <a:pPr indent="0" marL="0">
              <a:lnSpc>
                <a:spcPct val="112000"/>
              </a:lnSpc>
              <a:buNone/>
            </a:pPr>
            <a:r>
              <a:rPr lang="en-US" sz="980" dirty="0">
                <a:solidFill>
                  <a:srgbClr val="26303B"/>
                </a:solidFill>
                <a:latin typeface="Meiryo" pitchFamily="34" charset="0"/>
                <a:ea typeface="Meiryo" pitchFamily="34" charset="-122"/>
                <a:cs typeface="Meiryo" pitchFamily="34" charset="-120"/>
              </a:rPr>
              <a:t>非財務情報の財務化・経営活用（攻め）に関する設計力は、3社の中で最も高い評価でした。開示対応に留まらず、データを経営判断・事業価値につなげる構想力が、選定の決め手の一つとなりました。</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8778240" cy="502920"/>
          </a:xfrm>
          <a:prstGeom prst="rect">
            <a:avLst/>
          </a:prstGeom>
          <a:noFill/>
          <a:ln/>
        </p:spPr>
        <p:txBody>
          <a:bodyPr wrap="square" lIns="0" tIns="0" rIns="0" bIns="0" rtlCol="0" anchor="ctr"/>
          <a:lstStyle/>
          <a:p>
            <a:pPr indent="0" marL="0">
              <a:buNone/>
            </a:pPr>
            <a:r>
              <a:rPr lang="en-US" sz="2400" b="1" dirty="0">
                <a:solidFill>
                  <a:srgbClr val="1F3864"/>
                </a:solidFill>
                <a:latin typeface="Meiryo" pitchFamily="34" charset="0"/>
                <a:ea typeface="Meiryo" pitchFamily="34" charset="-122"/>
                <a:cs typeface="Meiryo" pitchFamily="34" charset="-120"/>
              </a:rPr>
              <a:t>アビームコンサルティング様 選定結果フィードバック (2/2)</a:t>
            </a:r>
            <a:endParaRPr lang="en-US" sz="2400" dirty="0"/>
          </a:p>
        </p:txBody>
      </p:sp>
      <p:sp>
        <p:nvSpPr>
          <p:cNvPr id="3" name="Text 1"/>
          <p:cNvSpPr txBox="1"/>
          <p:nvPr/>
        </p:nvSpPr>
        <p:spPr>
          <a:xfrm>
            <a:off x="9281160" y="256032"/>
            <a:ext cx="2395728" cy="502920"/>
          </a:xfrm>
          <a:prstGeom prst="rect">
            <a:avLst/>
          </a:prstGeom>
          <a:noFill/>
          <a:ln/>
        </p:spPr>
        <p:txBody>
          <a:bodyPr wrap="square" lIns="0" tIns="0" rIns="0" bIns="0" rtlCol="0" anchor="ctr"/>
          <a:lstStyle/>
          <a:p>
            <a:pPr algn="r" indent="0" marL="0">
              <a:buNone/>
            </a:pPr>
            <a:r>
              <a:rPr lang="en-US" sz="900" dirty="0">
                <a:solidFill>
                  <a:srgbClr val="6B7280"/>
                </a:solidFill>
                <a:latin typeface="Meiryo" pitchFamily="34" charset="0"/>
                <a:ea typeface="Meiryo" pitchFamily="34" charset="-122"/>
                <a:cs typeface="Meiryo" pitchFamily="34" charset="-120"/>
              </a:rPr>
              <a:t>2026年8月</a:t>
            </a:r>
            <a:endParaRPr lang="en-US" sz="900" dirty="0"/>
          </a:p>
          <a:p>
            <a:pPr algn="r" indent="0" marL="0">
              <a:buNone/>
            </a:pPr>
            <a:r>
              <a:rPr lang="en-US" sz="900" dirty="0">
                <a:solidFill>
                  <a:srgbClr val="6B7280"/>
                </a:solidFill>
                <a:latin typeface="Meiryo" pitchFamily="34" charset="0"/>
                <a:ea typeface="Meiryo" pitchFamily="34" charset="-122"/>
                <a:cs typeface="Meiryo" pitchFamily="34" charset="-120"/>
              </a:rPr>
              <a:t>ライオン株式会社 SSBJ対応PJT</a:t>
            </a:r>
            <a:endParaRPr lang="en-US" sz="900" dirty="0"/>
          </a:p>
        </p:txBody>
      </p:sp>
      <p:sp>
        <p:nvSpPr>
          <p:cNvPr id="4" name="Shape 2"/>
          <p:cNvSpPr/>
          <p:nvPr/>
        </p:nvSpPr>
        <p:spPr>
          <a:xfrm>
            <a:off x="502920" y="896112"/>
            <a:ext cx="11183112" cy="713232"/>
          </a:xfrm>
          <a:prstGeom prst="roundRect">
            <a:avLst>
              <a:gd name="adj" fmla="val 7692"/>
            </a:avLst>
          </a:prstGeom>
          <a:solidFill>
            <a:srgbClr val="EAF1FA"/>
          </a:solidFill>
          <a:ln/>
        </p:spPr>
      </p:sp>
      <p:sp>
        <p:nvSpPr>
          <p:cNvPr id="5" name="Text 3"/>
          <p:cNvSpPr txBox="1"/>
          <p:nvPr/>
        </p:nvSpPr>
        <p:spPr>
          <a:xfrm>
            <a:off x="685800" y="896112"/>
            <a:ext cx="10835640" cy="713232"/>
          </a:xfrm>
          <a:prstGeom prst="rect">
            <a:avLst/>
          </a:prstGeom>
          <a:noFill/>
          <a:ln/>
        </p:spPr>
        <p:txBody>
          <a:bodyPr wrap="square" lIns="0" tIns="0" rIns="0" bIns="0" rtlCol="0" anchor="ctr"/>
          <a:lstStyle/>
          <a:p>
            <a:pPr indent="0" marL="0">
              <a:buNone/>
            </a:pPr>
            <a:r>
              <a:rPr lang="en-US" sz="1100" b="1" dirty="0">
                <a:solidFill>
                  <a:srgbClr val="16294A"/>
                </a:solidFill>
                <a:latin typeface="Meiryo" pitchFamily="34" charset="0"/>
                <a:ea typeface="Meiryo" pitchFamily="34" charset="-122"/>
                <a:cs typeface="Meiryo" pitchFamily="34" charset="-120"/>
              </a:rPr>
              <a:t>ご契約に向けまして、弊社の予算統制・稟議プロセスの観点から、以下の3点についてご相談とご対応をお願い申し上げます。いずれも選定の前提となる重要事項として、契約協議の場で詰めさせていただきたく存じます。</a:t>
            </a:r>
            <a:endParaRPr lang="en-US" sz="1100" dirty="0"/>
          </a:p>
        </p:txBody>
      </p:sp>
      <p:sp>
        <p:nvSpPr>
          <p:cNvPr id="6" name="Shape 4"/>
          <p:cNvSpPr/>
          <p:nvPr/>
        </p:nvSpPr>
        <p:spPr>
          <a:xfrm>
            <a:off x="502920" y="1755648"/>
            <a:ext cx="310896" cy="310896"/>
          </a:xfrm>
          <a:prstGeom prst="ellipse">
            <a:avLst/>
          </a:prstGeom>
          <a:solidFill>
            <a:srgbClr val="1F3864"/>
          </a:solidFill>
          <a:ln/>
        </p:spPr>
      </p:sp>
      <p:pic>
        <p:nvPicPr>
          <p:cNvPr id="7" name="Image 0" descr="preencoded.png">    </p:cNvPr>
          <p:cNvPicPr>
            <a:picLocks noChangeAspect="1"/>
          </p:cNvPicPr>
          <p:nvPr/>
        </p:nvPicPr>
        <p:blipFill>
          <a:blip r:embed="rId1"/>
          <a:stretch>
            <a:fillRect/>
          </a:stretch>
        </p:blipFill>
        <p:spPr>
          <a:xfrm>
            <a:off x="571500" y="1824228"/>
            <a:ext cx="173736" cy="173736"/>
          </a:xfrm>
          <a:prstGeom prst="rect">
            <a:avLst/>
          </a:prstGeom>
        </p:spPr>
      </p:pic>
      <p:sp>
        <p:nvSpPr>
          <p:cNvPr id="8" name="Text 5"/>
          <p:cNvSpPr txBox="1"/>
          <p:nvPr/>
        </p:nvSpPr>
        <p:spPr>
          <a:xfrm>
            <a:off x="914400" y="1728216"/>
            <a:ext cx="8229600" cy="365760"/>
          </a:xfrm>
          <a:prstGeom prst="rect">
            <a:avLst/>
          </a:prstGeom>
          <a:noFill/>
          <a:ln/>
        </p:spPr>
        <p:txBody>
          <a:bodyPr wrap="square" lIns="0" tIns="0" rIns="0" bIns="0" rtlCol="0" anchor="ctr"/>
          <a:lstStyle/>
          <a:p>
            <a:pPr indent="0" marL="0">
              <a:buNone/>
            </a:pPr>
            <a:r>
              <a:rPr lang="en-US" sz="1450" b="1" dirty="0">
                <a:solidFill>
                  <a:srgbClr val="1F3864"/>
                </a:solidFill>
                <a:latin typeface="Meiryo" pitchFamily="34" charset="0"/>
                <a:ea typeface="Meiryo" pitchFamily="34" charset="-122"/>
                <a:cs typeface="Meiryo" pitchFamily="34" charset="-120"/>
              </a:rPr>
              <a:t>ご契約に向けてお願いしたい3点</a:t>
            </a:r>
            <a:endParaRPr lang="en-US" sz="1450" dirty="0"/>
          </a:p>
        </p:txBody>
      </p:sp>
      <p:sp>
        <p:nvSpPr>
          <p:cNvPr id="9" name="Shape 6"/>
          <p:cNvSpPr/>
          <p:nvPr/>
        </p:nvSpPr>
        <p:spPr>
          <a:xfrm>
            <a:off x="502920" y="2157984"/>
            <a:ext cx="3639312" cy="2212848"/>
          </a:xfrm>
          <a:prstGeom prst="roundRect">
            <a:avLst>
              <a:gd name="adj" fmla="val 2893"/>
            </a:avLst>
          </a:prstGeom>
          <a:solidFill>
            <a:srgbClr val="F5F8FD"/>
          </a:solidFill>
          <a:ln/>
          <a:effectLst>
            <a:outerShdw sx="100000" sy="100000" kx="0" ky="0" algn="bl" rotWithShape="0" blurRad="76200" dist="25400" dir="5400000">
              <a:srgbClr val="9AA7BC">
                <a:alpha val="28000"/>
              </a:srgbClr>
            </a:outerShdw>
          </a:effectLst>
        </p:spPr>
      </p:sp>
      <p:sp>
        <p:nvSpPr>
          <p:cNvPr id="10" name="Shape 7"/>
          <p:cNvSpPr/>
          <p:nvPr/>
        </p:nvSpPr>
        <p:spPr>
          <a:xfrm>
            <a:off x="667512" y="2304288"/>
            <a:ext cx="384048" cy="384048"/>
          </a:xfrm>
          <a:prstGeom prst="ellipse">
            <a:avLst/>
          </a:prstGeom>
          <a:solidFill>
            <a:srgbClr val="1F3864"/>
          </a:solidFill>
          <a:ln/>
        </p:spPr>
      </p:sp>
      <p:pic>
        <p:nvPicPr>
          <p:cNvPr id="11" name="Image 1" descr="preencoded.png">    </p:cNvPr>
          <p:cNvPicPr>
            <a:picLocks noChangeAspect="1"/>
          </p:cNvPicPr>
          <p:nvPr/>
        </p:nvPicPr>
        <p:blipFill>
          <a:blip r:embed="rId2"/>
          <a:stretch>
            <a:fillRect/>
          </a:stretch>
        </p:blipFill>
        <p:spPr>
          <a:xfrm>
            <a:off x="754380" y="2391156"/>
            <a:ext cx="210312" cy="210312"/>
          </a:xfrm>
          <a:prstGeom prst="rect">
            <a:avLst/>
          </a:prstGeom>
        </p:spPr>
      </p:pic>
      <p:sp>
        <p:nvSpPr>
          <p:cNvPr id="12" name="Text 8"/>
          <p:cNvSpPr txBox="1"/>
          <p:nvPr/>
        </p:nvSpPr>
        <p:spPr>
          <a:xfrm>
            <a:off x="1161288" y="2286000"/>
            <a:ext cx="2834640" cy="43891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お見積りの透明性向上（C1・C2）</a:t>
            </a:r>
            <a:endParaRPr lang="en-US" sz="1150" dirty="0"/>
          </a:p>
        </p:txBody>
      </p:sp>
      <p:sp>
        <p:nvSpPr>
          <p:cNvPr id="13" name="Text 9"/>
          <p:cNvSpPr txBox="1"/>
          <p:nvPr/>
        </p:nvSpPr>
        <p:spPr>
          <a:xfrm>
            <a:off x="704088" y="2816352"/>
            <a:ext cx="3236976" cy="1389888"/>
          </a:xfrm>
          <a:prstGeom prst="rect">
            <a:avLst/>
          </a:prstGeom>
          <a:noFill/>
          <a:ln/>
        </p:spPr>
        <p:txBody>
          <a:bodyPr wrap="square" lIns="0" tIns="0" rIns="0" bIns="0" rtlCol="0" anchor="t"/>
          <a:lstStyle/>
          <a:p>
            <a:pPr indent="0" marL="0">
              <a:lnSpc>
                <a:spcPct val="112000"/>
              </a:lnSpc>
              <a:spcAft>
                <a:spcPts val="600"/>
              </a:spcAft>
              <a:buNone/>
            </a:pPr>
            <a:r>
              <a:rPr lang="en-US" sz="980" dirty="0">
                <a:solidFill>
                  <a:srgbClr val="26303B"/>
                </a:solidFill>
                <a:latin typeface="Meiryo" pitchFamily="34" charset="0"/>
                <a:ea typeface="Meiryo" pitchFamily="34" charset="-122"/>
                <a:cs typeface="Meiryo" pitchFamily="34" charset="-120"/>
              </a:rPr>
              <a:t>率直に申し上げて、コスト面（見積総額の妥当性・工数単価の透明性）は3社の中で最も低い評価でした。オプション扱いの成果物（「攻め」関連の実証等）の基本スコープ化も含め、協議をお願いいたします。</a:t>
            </a:r>
            <a:endParaRPr lang="en-US" sz="980" dirty="0"/>
          </a:p>
          <a:p>
            <a:pPr indent="0" marL="0">
              <a:lnSpc>
                <a:spcPct val="112000"/>
              </a:lnSpc>
              <a:buNone/>
            </a:pPr>
            <a:r>
              <a:rPr lang="en-US" sz="920" b="1" dirty="0">
                <a:solidFill>
                  <a:srgbClr val="1F3864"/>
                </a:solidFill>
                <a:latin typeface="Meiryo" pitchFamily="34" charset="0"/>
                <a:ea typeface="Meiryo" pitchFamily="34" charset="-122"/>
                <a:cs typeface="Meiryo" pitchFamily="34" charset="-120"/>
              </a:rPr>
              <a:t>▶ 改善要素（具体アクション例）</a:t>
            </a:r>
            <a:endParaRPr lang="en-US" sz="980" dirty="0"/>
          </a:p>
          <a:p>
            <a:pPr indent="0" marL="0">
              <a:lnSpc>
                <a:spcPct val="112000"/>
              </a:lnSpc>
              <a:buNone/>
            </a:pPr>
            <a:r>
              <a:rPr lang="en-US" sz="900" dirty="0">
                <a:solidFill>
                  <a:srgbClr val="26303B"/>
                </a:solidFill>
                <a:latin typeface="Meiryo" pitchFamily="34" charset="0"/>
                <a:ea typeface="Meiryo" pitchFamily="34" charset="-122"/>
                <a:cs typeface="Meiryo" pitchFamily="34" charset="-120"/>
              </a:rPr>
              <a:t>フェーズ×タスク別の工数内訳表・ランク別単価表・オプション別内訳の開示。基本／オプションの線引き根拠のご説明。</a:t>
            </a:r>
            <a:endParaRPr lang="en-US" sz="980" dirty="0"/>
          </a:p>
        </p:txBody>
      </p:sp>
      <p:sp>
        <p:nvSpPr>
          <p:cNvPr id="14" name="Shape 10"/>
          <p:cNvSpPr/>
          <p:nvPr/>
        </p:nvSpPr>
        <p:spPr>
          <a:xfrm>
            <a:off x="4279392" y="2157984"/>
            <a:ext cx="3639312" cy="2212848"/>
          </a:xfrm>
          <a:prstGeom prst="roundRect">
            <a:avLst>
              <a:gd name="adj" fmla="val 2893"/>
            </a:avLst>
          </a:prstGeom>
          <a:solidFill>
            <a:srgbClr val="F5F8FD"/>
          </a:solidFill>
          <a:ln/>
          <a:effectLst>
            <a:outerShdw sx="100000" sy="100000" kx="0" ky="0" algn="bl" rotWithShape="0" blurRad="76200" dist="25400" dir="5400000">
              <a:srgbClr val="9AA7BC">
                <a:alpha val="28000"/>
              </a:srgbClr>
            </a:outerShdw>
          </a:effectLst>
        </p:spPr>
      </p:sp>
      <p:sp>
        <p:nvSpPr>
          <p:cNvPr id="15" name="Shape 11"/>
          <p:cNvSpPr/>
          <p:nvPr/>
        </p:nvSpPr>
        <p:spPr>
          <a:xfrm>
            <a:off x="4443984" y="2304288"/>
            <a:ext cx="384048" cy="384048"/>
          </a:xfrm>
          <a:prstGeom prst="ellipse">
            <a:avLst/>
          </a:prstGeom>
          <a:solidFill>
            <a:srgbClr val="1F3864"/>
          </a:solidFill>
          <a:ln/>
        </p:spPr>
      </p:sp>
      <p:pic>
        <p:nvPicPr>
          <p:cNvPr id="16" name="Image 2" descr="preencoded.png">    </p:cNvPr>
          <p:cNvPicPr>
            <a:picLocks noChangeAspect="1"/>
          </p:cNvPicPr>
          <p:nvPr/>
        </p:nvPicPr>
        <p:blipFill>
          <a:blip r:embed="rId3"/>
          <a:stretch>
            <a:fillRect/>
          </a:stretch>
        </p:blipFill>
        <p:spPr>
          <a:xfrm>
            <a:off x="4530852" y="2391156"/>
            <a:ext cx="210312" cy="210312"/>
          </a:xfrm>
          <a:prstGeom prst="rect">
            <a:avLst/>
          </a:prstGeom>
        </p:spPr>
      </p:pic>
      <p:sp>
        <p:nvSpPr>
          <p:cNvPr id="17" name="Text 12"/>
          <p:cNvSpPr txBox="1"/>
          <p:nvPr/>
        </p:nvSpPr>
        <p:spPr>
          <a:xfrm>
            <a:off x="4937760" y="2286000"/>
            <a:ext cx="2834640" cy="43891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工程ごとの成果物完遂コミット（D2）</a:t>
            </a:r>
            <a:endParaRPr lang="en-US" sz="1150" dirty="0"/>
          </a:p>
        </p:txBody>
      </p:sp>
      <p:sp>
        <p:nvSpPr>
          <p:cNvPr id="18" name="Text 13"/>
          <p:cNvSpPr txBox="1"/>
          <p:nvPr/>
        </p:nvSpPr>
        <p:spPr>
          <a:xfrm>
            <a:off x="4480560" y="2816352"/>
            <a:ext cx="3236976" cy="1389888"/>
          </a:xfrm>
          <a:prstGeom prst="rect">
            <a:avLst/>
          </a:prstGeom>
          <a:noFill/>
          <a:ln/>
        </p:spPr>
        <p:txBody>
          <a:bodyPr wrap="square" lIns="0" tIns="0" rIns="0" bIns="0" rtlCol="0" anchor="t"/>
          <a:lstStyle/>
          <a:p>
            <a:pPr indent="0" marL="0">
              <a:lnSpc>
                <a:spcPct val="112000"/>
              </a:lnSpc>
              <a:spcAft>
                <a:spcPts val="600"/>
              </a:spcAft>
              <a:buNone/>
            </a:pPr>
            <a:r>
              <a:rPr lang="en-US" sz="980" dirty="0">
                <a:solidFill>
                  <a:srgbClr val="26303B"/>
                </a:solidFill>
                <a:latin typeface="Meiryo" pitchFamily="34" charset="0"/>
                <a:ea typeface="Meiryo" pitchFamily="34" charset="-122"/>
                <a:cs typeface="Meiryo" pitchFamily="34" charset="-120"/>
              </a:rPr>
              <a:t>弊社は要求定義〜ベンダー選定を複数の工程に分割し、工程ごとにゲート審査（Go/No-Go）を設ける段階発注を予定しております。工程単位での成果物の完遂確約をお願いいたします。</a:t>
            </a:r>
            <a:endParaRPr lang="en-US" sz="980" dirty="0"/>
          </a:p>
          <a:p>
            <a:pPr indent="0" marL="0">
              <a:lnSpc>
                <a:spcPct val="112000"/>
              </a:lnSpc>
              <a:buNone/>
            </a:pPr>
            <a:r>
              <a:rPr lang="en-US" sz="920" b="1" dirty="0">
                <a:solidFill>
                  <a:srgbClr val="1F3864"/>
                </a:solidFill>
                <a:latin typeface="Meiryo" pitchFamily="34" charset="0"/>
                <a:ea typeface="Meiryo" pitchFamily="34" charset="-122"/>
                <a:cs typeface="Meiryo" pitchFamily="34" charset="-120"/>
              </a:rPr>
              <a:t>▶ 改善要素（具体アクション例）</a:t>
            </a:r>
            <a:endParaRPr lang="en-US" sz="980" dirty="0"/>
          </a:p>
          <a:p>
            <a:pPr indent="0" marL="0">
              <a:lnSpc>
                <a:spcPct val="112000"/>
              </a:lnSpc>
              <a:buNone/>
            </a:pPr>
            <a:r>
              <a:rPr lang="en-US" sz="900" dirty="0">
                <a:solidFill>
                  <a:srgbClr val="26303B"/>
                </a:solidFill>
                <a:latin typeface="Meiryo" pitchFamily="34" charset="0"/>
                <a:ea typeface="Meiryo" pitchFamily="34" charset="-122"/>
                <a:cs typeface="Meiryo" pitchFamily="34" charset="-120"/>
              </a:rPr>
              <a:t>工程別の成果物一覧・検収基準書のご提示と、完遂責任・再作業条件の契約条項への明記。</a:t>
            </a:r>
            <a:endParaRPr lang="en-US" sz="980" dirty="0"/>
          </a:p>
        </p:txBody>
      </p:sp>
      <p:sp>
        <p:nvSpPr>
          <p:cNvPr id="19" name="Shape 14"/>
          <p:cNvSpPr/>
          <p:nvPr/>
        </p:nvSpPr>
        <p:spPr>
          <a:xfrm>
            <a:off x="8055864" y="2157984"/>
            <a:ext cx="3639312" cy="2212848"/>
          </a:xfrm>
          <a:prstGeom prst="roundRect">
            <a:avLst>
              <a:gd name="adj" fmla="val 2893"/>
            </a:avLst>
          </a:prstGeom>
          <a:solidFill>
            <a:srgbClr val="F5F8FD"/>
          </a:solidFill>
          <a:ln/>
          <a:effectLst>
            <a:outerShdw sx="100000" sy="100000" kx="0" ky="0" algn="bl" rotWithShape="0" blurRad="76200" dist="25400" dir="5400000">
              <a:srgbClr val="9AA7BC">
                <a:alpha val="28000"/>
              </a:srgbClr>
            </a:outerShdw>
          </a:effectLst>
        </p:spPr>
      </p:sp>
      <p:sp>
        <p:nvSpPr>
          <p:cNvPr id="20" name="Shape 15"/>
          <p:cNvSpPr/>
          <p:nvPr/>
        </p:nvSpPr>
        <p:spPr>
          <a:xfrm>
            <a:off x="8220456" y="2304288"/>
            <a:ext cx="384048" cy="384048"/>
          </a:xfrm>
          <a:prstGeom prst="ellipse">
            <a:avLst/>
          </a:prstGeom>
          <a:solidFill>
            <a:srgbClr val="1F3864"/>
          </a:solidFill>
          <a:ln/>
        </p:spPr>
      </p:sp>
      <p:pic>
        <p:nvPicPr>
          <p:cNvPr id="21" name="Image 3" descr="preencoded.png">    </p:cNvPr>
          <p:cNvPicPr>
            <a:picLocks noChangeAspect="1"/>
          </p:cNvPicPr>
          <p:nvPr/>
        </p:nvPicPr>
        <p:blipFill>
          <a:blip r:embed="rId4"/>
          <a:stretch>
            <a:fillRect/>
          </a:stretch>
        </p:blipFill>
        <p:spPr>
          <a:xfrm>
            <a:off x="8307324" y="2391156"/>
            <a:ext cx="210312" cy="210312"/>
          </a:xfrm>
          <a:prstGeom prst="rect">
            <a:avLst/>
          </a:prstGeom>
        </p:spPr>
      </p:pic>
      <p:sp>
        <p:nvSpPr>
          <p:cNvPr id="22" name="Text 16"/>
          <p:cNvSpPr txBox="1"/>
          <p:nvPr/>
        </p:nvSpPr>
        <p:spPr>
          <a:xfrm>
            <a:off x="8714232" y="2286000"/>
            <a:ext cx="2834640" cy="43891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体制の稼働率・継続性の担保（D3・Q6）</a:t>
            </a:r>
            <a:endParaRPr lang="en-US" sz="1150" dirty="0"/>
          </a:p>
        </p:txBody>
      </p:sp>
      <p:sp>
        <p:nvSpPr>
          <p:cNvPr id="23" name="Text 17"/>
          <p:cNvSpPr txBox="1"/>
          <p:nvPr/>
        </p:nvSpPr>
        <p:spPr>
          <a:xfrm>
            <a:off x="8257032" y="2816352"/>
            <a:ext cx="3236976" cy="1389888"/>
          </a:xfrm>
          <a:prstGeom prst="rect">
            <a:avLst/>
          </a:prstGeom>
          <a:noFill/>
          <a:ln/>
        </p:spPr>
        <p:txBody>
          <a:bodyPr wrap="square" lIns="0" tIns="0" rIns="0" bIns="0" rtlCol="0" anchor="t"/>
          <a:lstStyle/>
          <a:p>
            <a:pPr indent="0" marL="0">
              <a:lnSpc>
                <a:spcPct val="112000"/>
              </a:lnSpc>
              <a:spcAft>
                <a:spcPts val="600"/>
              </a:spcAft>
              <a:buNone/>
            </a:pPr>
            <a:r>
              <a:rPr lang="en-US" sz="980" dirty="0">
                <a:solidFill>
                  <a:srgbClr val="26303B"/>
                </a:solidFill>
                <a:latin typeface="Meiryo" pitchFamily="34" charset="0"/>
                <a:ea typeface="Meiryo" pitchFamily="34" charset="-122"/>
                <a:cs typeface="Meiryo" pitchFamily="34" charset="-120"/>
              </a:rPr>
              <a:t>ご提案の品質を実行体制で担保いただくことが弊社の期待の中心です。主要メンバーの稼働率の明示と、工程をまたぐ体制の継続性の確約をお願いいたします。</a:t>
            </a:r>
            <a:endParaRPr lang="en-US" sz="980" dirty="0"/>
          </a:p>
          <a:p>
            <a:pPr indent="0" marL="0">
              <a:lnSpc>
                <a:spcPct val="112000"/>
              </a:lnSpc>
              <a:buNone/>
            </a:pPr>
            <a:r>
              <a:rPr lang="en-US" sz="920" b="1" dirty="0">
                <a:solidFill>
                  <a:srgbClr val="1F3864"/>
                </a:solidFill>
                <a:latin typeface="Meiryo" pitchFamily="34" charset="0"/>
                <a:ea typeface="Meiryo" pitchFamily="34" charset="-122"/>
                <a:cs typeface="Meiryo" pitchFamily="34" charset="-120"/>
              </a:rPr>
              <a:t>▶ 改善要素（具体アクション例）</a:t>
            </a:r>
            <a:endParaRPr lang="en-US" sz="980" dirty="0"/>
          </a:p>
          <a:p>
            <a:pPr indent="0" marL="0">
              <a:lnSpc>
                <a:spcPct val="112000"/>
              </a:lnSpc>
              <a:buNone/>
            </a:pPr>
            <a:r>
              <a:rPr lang="en-US" sz="900" dirty="0">
                <a:solidFill>
                  <a:srgbClr val="26303B"/>
                </a:solidFill>
                <a:latin typeface="Meiryo" pitchFamily="34" charset="0"/>
                <a:ea typeface="Meiryo" pitchFamily="34" charset="-122"/>
                <a:cs typeface="Meiryo" pitchFamily="34" charset="-120"/>
              </a:rPr>
              <a:t>主要メンバーの稼働率（アサイン比率）表のご提示。キーパーソンの交代制限・交代時の事前協議条項の契約反映。</a:t>
            </a:r>
            <a:endParaRPr lang="en-US" sz="980" dirty="0"/>
          </a:p>
        </p:txBody>
      </p:sp>
      <p:sp>
        <p:nvSpPr>
          <p:cNvPr id="24" name="Shape 18"/>
          <p:cNvSpPr/>
          <p:nvPr/>
        </p:nvSpPr>
        <p:spPr>
          <a:xfrm>
            <a:off x="502920" y="4590288"/>
            <a:ext cx="310896" cy="310896"/>
          </a:xfrm>
          <a:prstGeom prst="ellipse">
            <a:avLst/>
          </a:prstGeom>
          <a:solidFill>
            <a:srgbClr val="1F3864"/>
          </a:solidFill>
          <a:ln/>
        </p:spPr>
      </p:sp>
      <p:pic>
        <p:nvPicPr>
          <p:cNvPr id="25" name="Image 4" descr="preencoded.png">    </p:cNvPr>
          <p:cNvPicPr>
            <a:picLocks noChangeAspect="1"/>
          </p:cNvPicPr>
          <p:nvPr/>
        </p:nvPicPr>
        <p:blipFill>
          <a:blip r:embed="rId5"/>
          <a:stretch>
            <a:fillRect/>
          </a:stretch>
        </p:blipFill>
        <p:spPr>
          <a:xfrm>
            <a:off x="571500" y="4658868"/>
            <a:ext cx="173736" cy="173736"/>
          </a:xfrm>
          <a:prstGeom prst="rect">
            <a:avLst/>
          </a:prstGeom>
        </p:spPr>
      </p:pic>
      <p:sp>
        <p:nvSpPr>
          <p:cNvPr id="26" name="Text 19"/>
          <p:cNvSpPr txBox="1"/>
          <p:nvPr/>
        </p:nvSpPr>
        <p:spPr>
          <a:xfrm>
            <a:off x="914400" y="4562856"/>
            <a:ext cx="8229600" cy="365760"/>
          </a:xfrm>
          <a:prstGeom prst="rect">
            <a:avLst/>
          </a:prstGeom>
          <a:noFill/>
          <a:ln/>
        </p:spPr>
        <p:txBody>
          <a:bodyPr wrap="square" lIns="0" tIns="0" rIns="0" bIns="0" rtlCol="0" anchor="ctr"/>
          <a:lstStyle/>
          <a:p>
            <a:pPr indent="0" marL="0">
              <a:buNone/>
            </a:pPr>
            <a:r>
              <a:rPr lang="en-US" sz="1450" b="1" dirty="0">
                <a:solidFill>
                  <a:srgbClr val="1F3864"/>
                </a:solidFill>
                <a:latin typeface="Meiryo" pitchFamily="34" charset="0"/>
                <a:ea typeface="Meiryo" pitchFamily="34" charset="-122"/>
                <a:cs typeface="Meiryo" pitchFamily="34" charset="-120"/>
              </a:rPr>
              <a:t>今後の進め方（段階発注のご相談）</a:t>
            </a:r>
            <a:endParaRPr lang="en-US" sz="1450" dirty="0"/>
          </a:p>
        </p:txBody>
      </p:sp>
      <p:sp>
        <p:nvSpPr>
          <p:cNvPr id="27" name="Shape 20"/>
          <p:cNvSpPr/>
          <p:nvPr/>
        </p:nvSpPr>
        <p:spPr>
          <a:xfrm>
            <a:off x="502920" y="4992624"/>
            <a:ext cx="3566160" cy="932688"/>
          </a:xfrm>
          <a:prstGeom prst="chevron">
            <a:avLst/>
          </a:prstGeom>
          <a:solidFill>
            <a:srgbClr val="1F3864"/>
          </a:solidFill>
          <a:ln/>
        </p:spPr>
      </p:sp>
      <p:sp>
        <p:nvSpPr>
          <p:cNvPr id="28" name="Text 21"/>
          <p:cNvSpPr txBox="1"/>
          <p:nvPr/>
        </p:nvSpPr>
        <p:spPr>
          <a:xfrm>
            <a:off x="1161288" y="5065776"/>
            <a:ext cx="2514600" cy="786384"/>
          </a:xfrm>
          <a:prstGeom prst="rect">
            <a:avLst/>
          </a:prstGeom>
          <a:noFill/>
          <a:ln/>
        </p:spPr>
        <p:txBody>
          <a:bodyPr wrap="square" lIns="0" tIns="0" rIns="0" bIns="0" rtlCol="0" anchor="ctr"/>
          <a:lstStyle/>
          <a:p>
            <a:pPr indent="0" marL="0">
              <a:buNone/>
            </a:pPr>
            <a:r>
              <a:rPr lang="en-US" sz="1150" b="1" dirty="0">
                <a:solidFill>
                  <a:srgbClr val="FFFFFF"/>
                </a:solidFill>
                <a:latin typeface="Meiryo" pitchFamily="34" charset="0"/>
                <a:ea typeface="Meiryo" pitchFamily="34" charset="-122"/>
                <a:cs typeface="Meiryo" pitchFamily="34" charset="-120"/>
              </a:rPr>
              <a:t>工程①　要求定義</a:t>
            </a:r>
            <a:endParaRPr lang="en-US" sz="1150" dirty="0"/>
          </a:p>
          <a:p>
            <a:pPr indent="0" marL="0">
              <a:buNone/>
            </a:pPr>
            <a:r>
              <a:rPr lang="en-US" sz="880" dirty="0">
                <a:solidFill>
                  <a:srgbClr val="D8E4F5"/>
                </a:solidFill>
                <a:latin typeface="Meiryo" pitchFamily="34" charset="0"/>
                <a:ea typeface="Meiryo" pitchFamily="34" charset="-122"/>
                <a:cs typeface="Meiryo" pitchFamily="34" charset="-120"/>
              </a:rPr>
              <a:t>As-Is調査結果の引継ぎ／要求定義書・業務要件の確定</a:t>
            </a:r>
            <a:endParaRPr lang="en-US" sz="1150" dirty="0"/>
          </a:p>
        </p:txBody>
      </p:sp>
      <p:sp>
        <p:nvSpPr>
          <p:cNvPr id="29" name="Shape 22"/>
          <p:cNvSpPr/>
          <p:nvPr/>
        </p:nvSpPr>
        <p:spPr>
          <a:xfrm>
            <a:off x="4306824" y="4992624"/>
            <a:ext cx="3566160" cy="932688"/>
          </a:xfrm>
          <a:prstGeom prst="chevron">
            <a:avLst/>
          </a:prstGeom>
          <a:solidFill>
            <a:srgbClr val="EAF1FA"/>
          </a:solidFill>
          <a:ln/>
        </p:spPr>
      </p:sp>
      <p:sp>
        <p:nvSpPr>
          <p:cNvPr id="30" name="Text 23"/>
          <p:cNvSpPr txBox="1"/>
          <p:nvPr/>
        </p:nvSpPr>
        <p:spPr>
          <a:xfrm>
            <a:off x="4965192" y="5065776"/>
            <a:ext cx="2514600" cy="786384"/>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工程②　RFP作成</a:t>
            </a:r>
            <a:endParaRPr lang="en-US" sz="1150" dirty="0"/>
          </a:p>
          <a:p>
            <a:pPr indent="0" marL="0">
              <a:buNone/>
            </a:pPr>
            <a:r>
              <a:rPr lang="en-US" sz="880" dirty="0">
                <a:solidFill>
                  <a:srgbClr val="26303B"/>
                </a:solidFill>
                <a:latin typeface="Meiryo" pitchFamily="34" charset="0"/>
                <a:ea typeface="Meiryo" pitchFamily="34" charset="-122"/>
                <a:cs typeface="Meiryo" pitchFamily="34" charset="-120"/>
              </a:rPr>
              <a:t>RFP・評価基準・見積依頼資料の作成</a:t>
            </a:r>
            <a:endParaRPr lang="en-US" sz="1150" dirty="0"/>
          </a:p>
        </p:txBody>
      </p:sp>
      <p:sp>
        <p:nvSpPr>
          <p:cNvPr id="31" name="Shape 24"/>
          <p:cNvSpPr/>
          <p:nvPr/>
        </p:nvSpPr>
        <p:spPr>
          <a:xfrm>
            <a:off x="8110728" y="4992624"/>
            <a:ext cx="3566160" cy="932688"/>
          </a:xfrm>
          <a:prstGeom prst="chevron">
            <a:avLst/>
          </a:prstGeom>
          <a:solidFill>
            <a:srgbClr val="EAF1FA"/>
          </a:solidFill>
          <a:ln/>
        </p:spPr>
      </p:sp>
      <p:sp>
        <p:nvSpPr>
          <p:cNvPr id="32" name="Text 25"/>
          <p:cNvSpPr txBox="1"/>
          <p:nvPr/>
        </p:nvSpPr>
        <p:spPr>
          <a:xfrm>
            <a:off x="8769096" y="5065776"/>
            <a:ext cx="2514600" cy="786384"/>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工程③　ベンダー選定支援</a:t>
            </a:r>
            <a:endParaRPr lang="en-US" sz="1150" dirty="0"/>
          </a:p>
          <a:p>
            <a:pPr indent="0" marL="0">
              <a:buNone/>
            </a:pPr>
            <a:r>
              <a:rPr lang="en-US" sz="880" dirty="0">
                <a:solidFill>
                  <a:srgbClr val="26303B"/>
                </a:solidFill>
                <a:latin typeface="Meiryo" pitchFamily="34" charset="0"/>
                <a:ea typeface="Meiryo" pitchFamily="34" charset="-122"/>
                <a:cs typeface="Meiryo" pitchFamily="34" charset="-120"/>
              </a:rPr>
              <a:t>提案評価・選定・契約支援（来期実施）</a:t>
            </a:r>
            <a:endParaRPr lang="en-US" sz="1150" dirty="0"/>
          </a:p>
        </p:txBody>
      </p:sp>
      <p:sp>
        <p:nvSpPr>
          <p:cNvPr id="33" name="Text 26"/>
          <p:cNvSpPr txBox="1"/>
          <p:nvPr/>
        </p:nvSpPr>
        <p:spPr>
          <a:xfrm>
            <a:off x="502920" y="6016752"/>
            <a:ext cx="11183112" cy="292608"/>
          </a:xfrm>
          <a:prstGeom prst="rect">
            <a:avLst/>
          </a:prstGeom>
          <a:noFill/>
          <a:ln/>
        </p:spPr>
        <p:txBody>
          <a:bodyPr wrap="square" lIns="0" tIns="0" rIns="0" bIns="0" rtlCol="0" anchor="ctr"/>
          <a:lstStyle/>
          <a:p>
            <a:pPr indent="0" marL="0">
              <a:buNone/>
            </a:pPr>
            <a:r>
              <a:rPr lang="en-US" sz="920" dirty="0">
                <a:solidFill>
                  <a:srgbClr val="6B7280"/>
                </a:solidFill>
                <a:latin typeface="Meiryo" pitchFamily="34" charset="0"/>
                <a:ea typeface="Meiryo" pitchFamily="34" charset="-122"/>
                <a:cs typeface="Meiryo" pitchFamily="34" charset="-120"/>
              </a:rPr>
              <a:t>※各工程の間にゲート審査（Go/No-Go）を設け、工程単位で個別に発注・検収いたします（弊社の年度予算統制のため）。各工程の金額・条件は契約協議にてご相談させてください。</a:t>
            </a:r>
            <a:endParaRPr lang="en-US" sz="920" dirty="0"/>
          </a:p>
        </p:txBody>
      </p:sp>
      <p:sp>
        <p:nvSpPr>
          <p:cNvPr id="34" name="Shape 27"/>
          <p:cNvSpPr/>
          <p:nvPr/>
        </p:nvSpPr>
        <p:spPr>
          <a:xfrm>
            <a:off x="502920" y="6355080"/>
            <a:ext cx="11183112" cy="402336"/>
          </a:xfrm>
          <a:prstGeom prst="roundRect">
            <a:avLst>
              <a:gd name="adj" fmla="val 13636"/>
            </a:avLst>
          </a:prstGeom>
          <a:solidFill>
            <a:srgbClr val="EAF5EC"/>
          </a:solidFill>
          <a:ln/>
        </p:spPr>
      </p:sp>
      <p:sp>
        <p:nvSpPr>
          <p:cNvPr id="35" name="Text 28"/>
          <p:cNvSpPr txBox="1"/>
          <p:nvPr/>
        </p:nvSpPr>
        <p:spPr>
          <a:xfrm>
            <a:off x="685800" y="6355080"/>
            <a:ext cx="10835640" cy="402336"/>
          </a:xfrm>
          <a:prstGeom prst="rect">
            <a:avLst/>
          </a:prstGeom>
          <a:noFill/>
          <a:ln/>
        </p:spPr>
        <p:txBody>
          <a:bodyPr wrap="square" lIns="0" tIns="0" rIns="0" bIns="0" rtlCol="0" anchor="ctr"/>
          <a:lstStyle/>
          <a:p>
            <a:pPr indent="0" marL="0">
              <a:buNone/>
            </a:pPr>
            <a:r>
              <a:rPr lang="en-US" sz="980" b="1" dirty="0">
                <a:solidFill>
                  <a:srgbClr val="2E7D32"/>
                </a:solidFill>
                <a:latin typeface="Meiryo" pitchFamily="34" charset="0"/>
                <a:ea typeface="Meiryo" pitchFamily="34" charset="-122"/>
                <a:cs typeface="Meiryo" pitchFamily="34" charset="-120"/>
              </a:rPr>
              <a:t>貴社のご提案により「守り」と「攻め」を両立する構築への道筋が明確になりました。契約条件の協議を経て、速やかなキックオフを楽しみにしております。</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ライオン株式会社 SSBJ対応PJT</dc:creator>
  <cp:lastModifiedBy>ライオン株式会社 SSBJ対応PJT</cp:lastModifiedBy>
  <cp:revision>1</cp:revision>
  <dcterms:created xsi:type="dcterms:W3CDTF">2026-08-26T11:29:46Z</dcterms:created>
  <dcterms:modified xsi:type="dcterms:W3CDTF">2026-08-26T11:29:46Z</dcterms:modified>
</cp:coreProperties>
</file>