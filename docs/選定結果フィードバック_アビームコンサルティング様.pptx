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アビームコンサルティング様 選定結果フィードバック (1/2)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9281160" y="256032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2026年8月</a:t>
            </a:r>
            <a:endParaRPr lang="en-US" sz="9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ライオン株式会社 SSBJ対応PJT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896112"/>
            <a:ext cx="11183112" cy="713232"/>
          </a:xfrm>
          <a:prstGeom prst="roundRect">
            <a:avLst>
              <a:gd name="adj" fmla="val 7692"/>
            </a:avLst>
          </a:prstGeom>
          <a:solidFill>
            <a:srgbClr val="EAF1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896112"/>
            <a:ext cx="10835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9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SSBJ対応プラットフォーム構築に向けた要求定義支援のご提案につきまして、弊社評価者4名による厳正な審査の結果、貴社を要求定義支援パートナーとして選定させていただくことを決定いたしました。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810512"/>
            <a:ext cx="310896" cy="310896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879092"/>
            <a:ext cx="173736" cy="1737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総括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240280"/>
            <a:ext cx="5989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06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このたびは、弊社の依頼書を深く読み解き、精度の高いご提案をお寄せいただき、誠にありがとうございました。多大なご尽力に深く感謝申し上げます。</a:t>
            </a:r>
            <a:endParaRPr lang="en-US" sz="106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06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弊社では、品質（Quality・50点）・コスト（Cost・23点）・納期（Delivery・27点）の3カテゴリ14項目からなる採点表を用い、評価者4名の合議により3社のご提案を厳正に審査いたしました。</a:t>
            </a:r>
            <a:endParaRPr lang="en-US" sz="10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結果、貴社のご提案は総合評価第1位、特に品質（Quality）面で他社を大きく上回る評価となりました。「守り（開示・保証対応）」と「攻め（非財務情報の経営活用）」を両立するという弊社の方針に対し、方法論・実績・体制のすべてで最も適合するご提案であったと評価しております。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6812280" y="1737360"/>
            <a:ext cx="4873752" cy="2395728"/>
          </a:xfrm>
          <a:prstGeom prst="roundRect">
            <a:avLst>
              <a:gd name="adj" fmla="val 3053"/>
            </a:avLst>
          </a:prstGeom>
          <a:solidFill>
            <a:srgbClr val="EAF5EC"/>
          </a:solidFill>
          <a:ln/>
          <a:effectLst>
            <a:outerShdw sx="100000" sy="100000" kx="0" ky="0" algn="bl" rotWithShape="0" blurRad="76200" dist="25400" dir="5400000">
              <a:srgbClr val="9AA7BC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013448" y="184708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貴社評価サマリー（弊社採点表・評価者4名平均）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7013448" y="21214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75.1</a:t>
            </a:r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/ 100点</a:t>
            </a:r>
            <a:endParaRPr lang="en-US" sz="3600" dirty="0"/>
          </a:p>
        </p:txBody>
      </p:sp>
      <p:sp>
        <p:nvSpPr>
          <p:cNvPr id="13" name="Shape 10"/>
          <p:cNvSpPr/>
          <p:nvPr/>
        </p:nvSpPr>
        <p:spPr>
          <a:xfrm>
            <a:off x="9692640" y="228600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692640" y="22860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総合第1位・選定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013448" y="2898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品質 Quality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025128" y="2958084"/>
            <a:ext cx="1591056" cy="155448"/>
          </a:xfrm>
          <a:prstGeom prst="roundRect">
            <a:avLst>
              <a:gd name="adj" fmla="val 29412"/>
            </a:avLst>
          </a:prstGeom>
          <a:solidFill>
            <a:srgbClr val="E3E8F0"/>
          </a:solidFill>
          <a:ln/>
        </p:spPr>
      </p:sp>
      <p:sp>
        <p:nvSpPr>
          <p:cNvPr id="17" name="Shape 14"/>
          <p:cNvSpPr/>
          <p:nvPr/>
        </p:nvSpPr>
        <p:spPr>
          <a:xfrm>
            <a:off x="9025128" y="2958084"/>
            <a:ext cx="1377854" cy="155448"/>
          </a:xfrm>
          <a:prstGeom prst="roundRect">
            <a:avLst>
              <a:gd name="adj" fmla="val 29412"/>
            </a:avLst>
          </a:prstGeom>
          <a:solidFill>
            <a:srgbClr val="2E7D3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689336" y="28986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43.3 / 50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13448" y="32644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 Cost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9025128" y="3323844"/>
            <a:ext cx="1591056" cy="155448"/>
          </a:xfrm>
          <a:prstGeom prst="roundRect">
            <a:avLst>
              <a:gd name="adj" fmla="val 29412"/>
            </a:avLst>
          </a:prstGeom>
          <a:solidFill>
            <a:srgbClr val="E3E8F0"/>
          </a:solidFill>
          <a:ln/>
        </p:spPr>
      </p:sp>
      <p:sp>
        <p:nvSpPr>
          <p:cNvPr id="21" name="Shape 18"/>
          <p:cNvSpPr/>
          <p:nvPr/>
        </p:nvSpPr>
        <p:spPr>
          <a:xfrm>
            <a:off x="9025128" y="3323844"/>
            <a:ext cx="975387" cy="155448"/>
          </a:xfrm>
          <a:prstGeom prst="roundRect">
            <a:avLst>
              <a:gd name="adj" fmla="val 29412"/>
            </a:avLst>
          </a:prstGeom>
          <a:solidFill>
            <a:srgbClr val="2E7D3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0689336" y="32644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14.1 / 23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13448" y="36301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 Delivery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025128" y="3689604"/>
            <a:ext cx="1591056" cy="155448"/>
          </a:xfrm>
          <a:prstGeom prst="roundRect">
            <a:avLst>
              <a:gd name="adj" fmla="val 29412"/>
            </a:avLst>
          </a:prstGeom>
          <a:solidFill>
            <a:srgbClr val="E3E8F0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5128" y="3689604"/>
            <a:ext cx="1043026" cy="155448"/>
          </a:xfrm>
          <a:prstGeom prst="roundRect">
            <a:avLst>
              <a:gd name="adj" fmla="val 29412"/>
            </a:avLst>
          </a:prstGeom>
          <a:solidFill>
            <a:srgbClr val="2E7D3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689336" y="36301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17.7 / 27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2920" y="4370832"/>
            <a:ext cx="310896" cy="310896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4439412"/>
            <a:ext cx="173736" cy="173736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9144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選定の決め手となった評価ポイント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02920" y="4773168"/>
            <a:ext cx="3639312" cy="1828800"/>
          </a:xfrm>
          <a:prstGeom prst="roundRect">
            <a:avLst>
              <a:gd name="adj" fmla="val 3500"/>
            </a:avLst>
          </a:prstGeom>
          <a:solidFill>
            <a:srgbClr val="F5F8FD"/>
          </a:solidFill>
          <a:ln/>
          <a:effectLst>
            <a:outerShdw sx="100000" sy="100000" kx="0" ky="0" algn="bl" rotWithShape="0" blurRad="76200" dist="25400" dir="5400000">
              <a:srgbClr val="9AA7BC">
                <a:alpha val="2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67512" y="4919472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5006340"/>
            <a:ext cx="210312" cy="210312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161288" y="4901184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課題理解とアジャイル型の方法論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704088" y="5431536"/>
            <a:ext cx="3236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弊社の課題認識（5つの難所）への的確な理解と、プロトタイプを用いたアジャイル型要件定義の方法論は、評価者全員から最高水準の評価を得ました。要求定義の手戻りを最小化する進め方として、最も納得感のあるご提案でした。</a:t>
            </a:r>
            <a:endParaRPr lang="en-US" sz="980" dirty="0"/>
          </a:p>
        </p:txBody>
      </p:sp>
      <p:sp>
        <p:nvSpPr>
          <p:cNvPr id="35" name="Shape 30"/>
          <p:cNvSpPr/>
          <p:nvPr/>
        </p:nvSpPr>
        <p:spPr>
          <a:xfrm>
            <a:off x="4279392" y="4773168"/>
            <a:ext cx="3639312" cy="1828800"/>
          </a:xfrm>
          <a:prstGeom prst="roundRect">
            <a:avLst>
              <a:gd name="adj" fmla="val 3500"/>
            </a:avLst>
          </a:prstGeom>
          <a:solidFill>
            <a:srgbClr val="F5F8FD"/>
          </a:solidFill>
          <a:ln/>
          <a:effectLst>
            <a:outerShdw sx="100000" sy="100000" kx="0" ky="0" algn="bl" rotWithShape="0" blurRad="76200" dist="25400" dir="5400000">
              <a:srgbClr val="9AA7BC">
                <a:alpha val="28000"/>
              </a:srgbClr>
            </a:outerShdw>
          </a:effectLst>
        </p:spPr>
      </p:sp>
      <p:sp>
        <p:nvSpPr>
          <p:cNvPr id="36" name="Shape 31"/>
          <p:cNvSpPr/>
          <p:nvPr/>
        </p:nvSpPr>
        <p:spPr>
          <a:xfrm>
            <a:off x="4443984" y="4919472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52" y="5006340"/>
            <a:ext cx="210312" cy="21031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4937760" y="4901184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SSBJ・保証・類似基盤の実績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4480560" y="5431536"/>
            <a:ext cx="3236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SSBJ対応・第三者保証対応・類似データ基盤構築の実績はほぼ満点の評価でした。保証人との事前協議（「後出しNG」の予防）を組み込んだ進め方に、確かな実績の裏付けがあると判断いたしました。</a:t>
            </a:r>
            <a:endParaRPr lang="en-US" sz="980" dirty="0"/>
          </a:p>
        </p:txBody>
      </p:sp>
      <p:sp>
        <p:nvSpPr>
          <p:cNvPr id="40" name="Shape 34"/>
          <p:cNvSpPr/>
          <p:nvPr/>
        </p:nvSpPr>
        <p:spPr>
          <a:xfrm>
            <a:off x="8055864" y="4773168"/>
            <a:ext cx="3639312" cy="1828800"/>
          </a:xfrm>
          <a:prstGeom prst="roundRect">
            <a:avLst>
              <a:gd name="adj" fmla="val 3500"/>
            </a:avLst>
          </a:prstGeom>
          <a:solidFill>
            <a:srgbClr val="F5F8FD"/>
          </a:solidFill>
          <a:ln/>
          <a:effectLst>
            <a:outerShdw sx="100000" sy="100000" kx="0" ky="0" algn="bl" rotWithShape="0" blurRad="76200" dist="25400" dir="5400000">
              <a:srgbClr val="9AA7BC">
                <a:alpha val="28000"/>
              </a:srgbClr>
            </a:outerShdw>
          </a:effectLst>
        </p:spPr>
      </p:sp>
      <p:sp>
        <p:nvSpPr>
          <p:cNvPr id="41" name="Shape 35"/>
          <p:cNvSpPr/>
          <p:nvPr/>
        </p:nvSpPr>
        <p:spPr>
          <a:xfrm>
            <a:off x="8220456" y="4919472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7324" y="5006340"/>
            <a:ext cx="210312" cy="210312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8714232" y="4901184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「攻め」の設計力（3社中最高）</a:t>
            </a:r>
            <a:endParaRPr lang="en-US" sz="1150" dirty="0"/>
          </a:p>
        </p:txBody>
      </p:sp>
      <p:sp>
        <p:nvSpPr>
          <p:cNvPr id="44" name="Text 37"/>
          <p:cNvSpPr txBox="1"/>
          <p:nvPr/>
        </p:nvSpPr>
        <p:spPr>
          <a:xfrm>
            <a:off x="8257032" y="5431536"/>
            <a:ext cx="3236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非財務情報の財務化・経営活用（攻め）に関する設計力は、3社の中で最も高い評価でした。開示対応に留まらず、データを経営判断・事業価値につなげる構想力が、選定の決め手の一つとなりました。</a:t>
            </a:r>
            <a:endParaRPr lang="en-US" sz="9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アビームコンサルティング様 選定結果フィードバック (2/2)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9281160" y="256032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2026年8月</a:t>
            </a:r>
            <a:endParaRPr lang="en-US" sz="9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ライオン株式会社 SSBJ対応PJT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896112"/>
            <a:ext cx="11183112" cy="713232"/>
          </a:xfrm>
          <a:prstGeom prst="roundRect">
            <a:avLst>
              <a:gd name="adj" fmla="val 7692"/>
            </a:avLst>
          </a:prstGeom>
          <a:solidFill>
            <a:srgbClr val="EAF1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896112"/>
            <a:ext cx="10835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9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契約に向けまして、弊社の予算統制・稟議プロセスの観点から、以下の3点についてご相談とご対応をお願い申し上げます。いずれも選定の前提となる重要事項として、契約協議の場で詰めさせていただきたく存じ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755648"/>
            <a:ext cx="310896" cy="310896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824228"/>
            <a:ext cx="173736" cy="1737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172821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ご契約に向けてお願いしたい3点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02920" y="2157984"/>
            <a:ext cx="3639312" cy="2212848"/>
          </a:xfrm>
          <a:prstGeom prst="roundRect">
            <a:avLst>
              <a:gd name="adj" fmla="val 2893"/>
            </a:avLst>
          </a:prstGeom>
          <a:solidFill>
            <a:srgbClr val="F5F8FD"/>
          </a:solidFill>
          <a:ln/>
          <a:effectLst>
            <a:outerShdw sx="100000" sy="100000" kx="0" ky="0" algn="bl" rotWithShape="0" blurRad="76200" dist="25400" dir="5400000">
              <a:srgbClr val="9AA7BC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7512" y="2304288"/>
            <a:ext cx="384048" cy="384048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2391156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1288" y="22860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お見積りの透明性向上（C1・C2）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04088" y="2816352"/>
            <a:ext cx="323697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率直に申し上げて、コスト面（見積総額の妥当性・工数単価の透明性）は3社の中で最も低い評価でした。フェーズ別・タスク別の工数内訳と単価の開示をお願いいたします。また、ご提案でオプション扱いとなっている成果物（「攻め」関連の実証等）の基本スコープへの組み入れについて、協議をお願いいたします。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4279392" y="2157984"/>
            <a:ext cx="3639312" cy="2212848"/>
          </a:xfrm>
          <a:prstGeom prst="roundRect">
            <a:avLst>
              <a:gd name="adj" fmla="val 2893"/>
            </a:avLst>
          </a:prstGeom>
          <a:solidFill>
            <a:srgbClr val="F5F8FD"/>
          </a:solidFill>
          <a:ln/>
          <a:effectLst>
            <a:outerShdw sx="100000" sy="100000" kx="0" ky="0" algn="bl" rotWithShape="0" blurRad="76200" dist="25400" dir="5400000">
              <a:srgbClr val="9AA7BC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43984" y="2304288"/>
            <a:ext cx="384048" cy="384048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2391156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937760" y="22860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工程ごとの成果物完遂コミット（D2）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4480560" y="2816352"/>
            <a:ext cx="323697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工程の成果物の完遂責任と検収基準を、契約上明確にさせていただきたく存じます。弊社は要求定義〜ベンダー選定を複数の工程に分割し、工程ごとにゲート審査（Go/No-Go）を設ける段階発注を予定しております。工程単位での成果物確約をお願いいたします。</a:t>
            </a:r>
            <a:endParaRPr lang="en-US" sz="980" dirty="0"/>
          </a:p>
        </p:txBody>
      </p:sp>
      <p:sp>
        <p:nvSpPr>
          <p:cNvPr id="19" name="Shape 14"/>
          <p:cNvSpPr/>
          <p:nvPr/>
        </p:nvSpPr>
        <p:spPr>
          <a:xfrm>
            <a:off x="8055864" y="2157984"/>
            <a:ext cx="3639312" cy="2212848"/>
          </a:xfrm>
          <a:prstGeom prst="roundRect">
            <a:avLst>
              <a:gd name="adj" fmla="val 2893"/>
            </a:avLst>
          </a:prstGeom>
          <a:solidFill>
            <a:srgbClr val="F5F8FD"/>
          </a:solidFill>
          <a:ln/>
          <a:effectLst>
            <a:outerShdw sx="100000" sy="100000" kx="0" ky="0" algn="bl" rotWithShape="0" blurRad="76200" dist="25400" dir="5400000">
              <a:srgbClr val="9AA7BC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20456" y="2304288"/>
            <a:ext cx="384048" cy="384048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7324" y="239115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714232" y="22860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体制の稼働率・継続性の担保（D3・Q6）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8257032" y="2816352"/>
            <a:ext cx="323697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提示いただいた主要メンバーの稼働率（アサイン比率）の明示と、工程をまたぐ体制の継続性（キーパーソンの交代制限・交代時の事前協議）の確約をお願いいたします。ご提案の品質を実行体制で担保いただくことが、弊社の期待の中心にあります。</a:t>
            </a:r>
            <a:endParaRPr lang="en-US" sz="980" dirty="0"/>
          </a:p>
        </p:txBody>
      </p:sp>
      <p:sp>
        <p:nvSpPr>
          <p:cNvPr id="24" name="Shape 18"/>
          <p:cNvSpPr/>
          <p:nvPr/>
        </p:nvSpPr>
        <p:spPr>
          <a:xfrm>
            <a:off x="502920" y="4590288"/>
            <a:ext cx="310896" cy="310896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658868"/>
            <a:ext cx="173736" cy="17373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4400" y="45628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今後の進め方（段階発注のご相談）</a:t>
            </a:r>
            <a:endParaRPr lang="en-US" sz="1450" dirty="0"/>
          </a:p>
        </p:txBody>
      </p:sp>
      <p:sp>
        <p:nvSpPr>
          <p:cNvPr id="27" name="Shape 20"/>
          <p:cNvSpPr/>
          <p:nvPr/>
        </p:nvSpPr>
        <p:spPr>
          <a:xfrm>
            <a:off x="502920" y="4992624"/>
            <a:ext cx="3566160" cy="932688"/>
          </a:xfrm>
          <a:prstGeom prst="chevron">
            <a:avLst/>
          </a:prstGeom>
          <a:solidFill>
            <a:srgbClr val="1F3864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1161288" y="5065776"/>
            <a:ext cx="2514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工程①　要求定義</a:t>
            </a:r>
            <a:endParaRPr lang="en-US" sz="1150" dirty="0"/>
          </a:p>
          <a:p>
            <a:pPr indent="0" marL="0">
              <a:buNone/>
            </a:pPr>
            <a:r>
              <a:rPr lang="en-US" sz="880" dirty="0">
                <a:solidFill>
                  <a:srgbClr val="D8E4F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As-Is調査結果の引継ぎ／要求定義書・業務要件の確定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4306824" y="4992624"/>
            <a:ext cx="3566160" cy="932688"/>
          </a:xfrm>
          <a:prstGeom prst="chevron">
            <a:avLst/>
          </a:prstGeom>
          <a:solidFill>
            <a:srgbClr val="EAF1FA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4965192" y="5065776"/>
            <a:ext cx="2514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工程②　RFP作成</a:t>
            </a:r>
            <a:endParaRPr lang="en-US" sz="1150" dirty="0"/>
          </a:p>
          <a:p>
            <a:pPr indent="0" marL="0">
              <a:buNone/>
            </a:pPr>
            <a:r>
              <a:rPr lang="en-US" sz="88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RFP・評価基準・見積依頼資料の作成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110728" y="4992624"/>
            <a:ext cx="3566160" cy="932688"/>
          </a:xfrm>
          <a:prstGeom prst="chevron">
            <a:avLst/>
          </a:prstGeom>
          <a:solidFill>
            <a:srgbClr val="EAF1FA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8769096" y="5065776"/>
            <a:ext cx="2514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工程③　ベンダー選定支援</a:t>
            </a:r>
            <a:endParaRPr lang="en-US" sz="1150" dirty="0"/>
          </a:p>
          <a:p>
            <a:pPr indent="0" marL="0">
              <a:buNone/>
            </a:pPr>
            <a:r>
              <a:rPr lang="en-US" sz="88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提案評価・選定・契約支援（来期実施）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502920" y="6016752"/>
            <a:ext cx="11183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※各工程の間にゲート審査（Go/No-Go）を設け、工程単位で個別に発注・検収いたします（弊社の年度予算統制のため）。各工程の金額・条件は契約協議にてご相談させてください。</a:t>
            </a:r>
            <a:endParaRPr lang="en-US" sz="920" dirty="0"/>
          </a:p>
        </p:txBody>
      </p:sp>
      <p:sp>
        <p:nvSpPr>
          <p:cNvPr id="34" name="Shape 27"/>
          <p:cNvSpPr/>
          <p:nvPr/>
        </p:nvSpPr>
        <p:spPr>
          <a:xfrm>
            <a:off x="502920" y="6355080"/>
            <a:ext cx="11183112" cy="402336"/>
          </a:xfrm>
          <a:prstGeom prst="roundRect">
            <a:avLst>
              <a:gd name="adj" fmla="val 13636"/>
            </a:avLst>
          </a:prstGeom>
          <a:solidFill>
            <a:srgbClr val="EAF5EC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685800" y="6355080"/>
            <a:ext cx="10835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貴社のご提案により「守り」と「攻め」を両立する構築への道筋が明確になりました。契約条件の協議を経て、速やかなキックオフを楽しみにしております。</a:t>
            </a:r>
            <a:endParaRPr lang="en-US" sz="9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ライオン株式会社 SSBJ対応PJT</dc:creator>
  <cp:lastModifiedBy>ライオン株式会社 SSBJ対応PJT</cp:lastModifiedBy>
  <cp:revision>1</cp:revision>
  <dcterms:created xsi:type="dcterms:W3CDTF">2026-08-26T10:22:26Z</dcterms:created>
  <dcterms:modified xsi:type="dcterms:W3CDTF">2026-08-26T10:22:26Z</dcterms:modified>
</cp:coreProperties>
</file>