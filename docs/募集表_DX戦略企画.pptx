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486" r:id="rId5"/>
    <p:sldId id="487" r:id="rId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5289" autoAdjust="0"/>
    <p:restoredTop sz="94660"/>
  </p:normalViewPr>
  <p:slideViewPr>
    <p:cSldViewPr snapToGrid="0">
      <p:cViewPr varScale="1">
        <p:scale>
          <a:sx n="74" d="100"/>
          <a:sy n="74" d="100"/>
        </p:scale>
        <p:origin x="143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pPr>
              <a:defRPr/>
            </a:pPr>
            <a:fld id="{180A8A59-CBB1-44AC-A780-34AC4DC6CBC2}" type="slidenum">
              <a:rPr lang="en-US" altLang="ja-JP" smtClean="0">
                <a:solidFill>
                  <a:prstClr val="black"/>
                </a:solidFill>
              </a:rPr>
              <a:pPr>
                <a:defRPr/>
              </a:pPr>
              <a:t>‹#›</a:t>
            </a:fld>
            <a:endParaRPr lang="en-US" altLang="ja-JP">
              <a:solidFill>
                <a:prstClr val="black"/>
              </a:solidFill>
            </a:endParaRPr>
          </a:p>
        </p:txBody>
      </p:sp>
    </p:spTree>
    <p:extLst>
      <p:ext uri="{BB962C8B-B14F-4D97-AF65-F5344CB8AC3E}">
        <p14:creationId xmlns:p14="http://schemas.microsoft.com/office/powerpoint/2010/main" val="38589735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 Id="rId3" Type="http://schemas.openxmlformats.org/officeDocument/2006/relationships/image" Target="../media/image1.png"/><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3" name="図 12"/>
          <p:cNvPicPr>
            <a:picLocks noChangeAspect="1"/>
          </p:cNvPicPr>
          <p:nvPr userDrawn="1"/>
        </p:nvPicPr>
        <p:blipFill>
          <a:blip r:embed="rId3"/>
          <a:stretch>
            <a:fillRect/>
          </a:stretch>
        </p:blipFill>
        <p:spPr>
          <a:xfrm>
            <a:off x="0" y="0"/>
            <a:ext cx="12192000" cy="406400"/>
          </a:xfrm>
          <a:prstGeom prst="rect">
            <a:avLst/>
          </a:prstGeom>
        </p:spPr>
      </p:pic>
      <p:sp>
        <p:nvSpPr>
          <p:cNvPr id="6" name="Slide Number Placeholder 5"/>
          <p:cNvSpPr>
            <a:spLocks noGrp="1"/>
          </p:cNvSpPr>
          <p:nvPr>
            <p:ph type="sldNum" sz="quarter" idx="4"/>
          </p:nvPr>
        </p:nvSpPr>
        <p:spPr>
          <a:xfrm>
            <a:off x="11582400" y="6356350"/>
            <a:ext cx="609600" cy="365125"/>
          </a:xfrm>
          <a:prstGeom prst="rect">
            <a:avLst/>
          </a:prstGeom>
        </p:spPr>
        <p:txBody>
          <a:bodyPr vert="horz" lIns="91440" tIns="45720" rIns="91440" bIns="45720" rtlCol="0" anchor="ctr"/>
          <a:lstStyle>
            <a:lvl1pPr algn="r">
              <a:defRPr sz="1400">
                <a:solidFill>
                  <a:schemeClr val="tx1">
                    <a:lumMod val="50000"/>
                    <a:lumOff val="50000"/>
                  </a:schemeClr>
                </a:solidFill>
              </a:defRPr>
            </a:lvl1pPr>
          </a:lstStyle>
          <a:p>
            <a:pPr eaLnBrk="0" fontAlgn="base" hangingPunct="0">
              <a:spcBef>
                <a:spcPct val="0"/>
              </a:spcBef>
              <a:spcAft>
                <a:spcPct val="0"/>
              </a:spcAft>
              <a:defRPr/>
            </a:pPr>
            <a:fld id="{964CC339-3BA7-46D4-B09B-8375182FC55E}" type="slidenum">
              <a:rPr lang="en-US" altLang="ja-JP" smtClean="0">
                <a:solidFill>
                  <a:prstClr val="black">
                    <a:lumMod val="50000"/>
                    <a:lumOff val="50000"/>
                  </a:prstClr>
                </a:solidFill>
                <a:latin typeface="Arial" panose="020B0604020202020204" pitchFamily="34" charset="0"/>
              </a:rPr>
              <a:pPr eaLnBrk="0" fontAlgn="base" hangingPunct="0">
                <a:spcBef>
                  <a:spcPct val="0"/>
                </a:spcBef>
                <a:spcAft>
                  <a:spcPct val="0"/>
                </a:spcAft>
                <a:defRPr/>
              </a:pPr>
              <a:t>‹#›</a:t>
            </a:fld>
            <a:endParaRPr lang="en-US" altLang="ja-JP">
              <a:solidFill>
                <a:prstClr val="black">
                  <a:lumMod val="50000"/>
                  <a:lumOff val="50000"/>
                </a:prstClr>
              </a:solidFill>
              <a:latin typeface="Arial" panose="020B0604020202020204" pitchFamily="34" charset="0"/>
            </a:endParaRPr>
          </a:p>
        </p:txBody>
      </p:sp>
      <p:pic>
        <p:nvPicPr>
          <p:cNvPr id="15" name="図 14"/>
          <p:cNvPicPr>
            <a:picLocks noChangeAspect="1"/>
          </p:cNvPicPr>
          <p:nvPr userDrawn="1"/>
        </p:nvPicPr>
        <p:blipFill>
          <a:blip r:embed="rId4"/>
          <a:stretch>
            <a:fillRect/>
          </a:stretch>
        </p:blipFill>
        <p:spPr>
          <a:xfrm>
            <a:off x="11010232" y="0"/>
            <a:ext cx="876968" cy="406400"/>
          </a:xfrm>
          <a:prstGeom prst="rect">
            <a:avLst/>
          </a:prstGeom>
        </p:spPr>
      </p:pic>
      <p:pic>
        <p:nvPicPr>
          <p:cNvPr id="18" name="図 17"/>
          <p:cNvPicPr>
            <a:picLocks noChangeAspect="1"/>
          </p:cNvPicPr>
          <p:nvPr userDrawn="1"/>
        </p:nvPicPr>
        <p:blipFill>
          <a:blip r:embed="rId3"/>
          <a:stretch>
            <a:fillRect/>
          </a:stretch>
        </p:blipFill>
        <p:spPr>
          <a:xfrm>
            <a:off x="0" y="6721475"/>
            <a:ext cx="12192000" cy="136524"/>
          </a:xfrm>
          <a:prstGeom prst="rect">
            <a:avLst/>
          </a:prstGeom>
        </p:spPr>
      </p:pic>
      <p:sp>
        <p:nvSpPr>
          <p:cNvPr id="16" name="正方形/長方形 15"/>
          <p:cNvSpPr/>
          <p:nvPr userDrawn="1"/>
        </p:nvSpPr>
        <p:spPr>
          <a:xfrm>
            <a:off x="325482" y="6721476"/>
            <a:ext cx="2360568" cy="1365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050">
                <a:solidFill>
                  <a:prstClr val="white"/>
                </a:solidFill>
                <a:latin typeface="Segoe UI Historic" panose="020B0502040204020203" pitchFamily="34" charset="0"/>
                <a:ea typeface="Segoe UI Historic" panose="020B0502040204020203" pitchFamily="34" charset="0"/>
                <a:cs typeface="Segoe UI Historic" panose="020B0502040204020203" pitchFamily="34" charset="0"/>
              </a:rPr>
              <a:t>Lion Corporation. All rights reserved.</a:t>
            </a:r>
            <a:endParaRPr lang="ja-JP" altLang="en-US" sz="1050">
              <a:solidFill>
                <a:prstClr val="white"/>
              </a:solidFill>
              <a:latin typeface="Segoe UI Historic" panose="020B0502040204020203" pitchFamily="34" charset="0"/>
              <a:cs typeface="Segoe UI Historic" panose="020B0502040204020203" pitchFamily="34" charset="0"/>
            </a:endParaRPr>
          </a:p>
        </p:txBody>
      </p:sp>
    </p:spTree>
    <p:extLst>
      <p:ext uri="{BB962C8B-B14F-4D97-AF65-F5344CB8AC3E}">
        <p14:creationId xmlns:p14="http://schemas.microsoft.com/office/powerpoint/2010/main" val="3394727665"/>
      </p:ext>
    </p:extLst>
  </p:cSld>
  <p:clrMap bg1="lt1" tx1="dk1" bg2="lt2" tx2="dk2" accent1="accent1" accent2="accent2" accent3="accent3" accent4="accent4" accent5="accent5" accent6="accent6" hlink="hlink" folHlink="folHlink"/>
  <p:sldLayoutIdLst>
    <p:sldLayoutId id="2147483661" r:id="rId1"/>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11">
          <p15:clr>
            <a:srgbClr val="F26B43"/>
          </p15:clr>
        </p15:guide>
        <p15:guide id="2" pos="3840">
          <p15:clr>
            <a:srgbClr val="F26B43"/>
          </p15:clr>
        </p15:guide>
        <p15:guide id="3" pos="7469">
          <p15:clr>
            <a:srgbClr val="F26B43"/>
          </p15:clr>
        </p15:guide>
        <p15:guide id="4" orient="horz" pos="216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D0CD6-9CF3-6D77-273D-584BD4B9AAE5}"/>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25B4140D-E30E-BA2A-3479-91B15752C58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0A8A59-CBB1-44AC-A780-34AC4DC6CBC2}" type="slidenum">
              <a:rPr kumimoji="1" lang="en-US" altLang="ja-JP" sz="1400" b="0" i="0" u="none" strike="noStrike" kern="1200" cap="none" spc="0" normalizeH="0" baseline="0" noProof="0" smtClean="0">
                <a:ln>
                  <a:noFill/>
                </a:ln>
                <a:solidFill>
                  <a:prstClr val="black"/>
                </a:solidFill>
                <a:effectLst/>
                <a:uLnTx/>
                <a:uFillTx/>
                <a:latin typeface="Arial" panose="020B0604020202020204" pitchFamily="34" charset="0"/>
                <a:ea typeface="ＭＳ Ｐゴシック" panose="020B0600070205080204" pitchFamily="50" charset="-128"/>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1" lang="en-US" altLang="ja-JP" sz="1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50" charset="-128"/>
              <a:cs typeface="Arial" panose="020B0604020202020204" pitchFamily="34" charset="0"/>
            </a:endParaRPr>
          </a:p>
        </p:txBody>
      </p:sp>
      <p:sp>
        <p:nvSpPr>
          <p:cNvPr id="11" name="テキスト ボックス 10">
            <a:extLst>
              <a:ext uri="{FF2B5EF4-FFF2-40B4-BE49-F238E27FC236}">
                <a16:creationId xmlns:a16="http://schemas.microsoft.com/office/drawing/2014/main" id="{07C5D071-F4EF-6C14-8E78-91D169C2D074}"/>
              </a:ext>
            </a:extLst>
          </p:cNvPr>
          <p:cNvSpPr txBox="1"/>
          <p:nvPr/>
        </p:nvSpPr>
        <p:spPr>
          <a:xfrm>
            <a:off x="334963" y="10399"/>
            <a:ext cx="1086112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1" lang="ja-JP" altLang="en-US" sz="1800" b="0" i="0" u="none" strike="noStrike" kern="1200" cap="none" spc="0" normalizeH="0" baseline="0" noProof="0" dirty="0">
                <a:ln>
                  <a:noFill/>
                </a:ln>
                <a:solidFill>
                  <a:prstClr val="white"/>
                </a:solidFill>
                <a:effectLst/>
                <a:uLnTx/>
                <a:uFillTx/>
                <a:latin typeface="BIZ UDPゴシック" panose="020B0400000000000000" pitchFamily="50" charset="-128"/>
                <a:ea typeface="BIZ UDPゴシック" panose="020B0400000000000000" pitchFamily="50" charset="-128"/>
                <a:cs typeface="Meiryo UI" panose="020B0604030504040204" pitchFamily="50" charset="-128"/>
              </a:rPr>
              <a:t>社内公募 募集要項（DX戦略企画）</a:t>
            </a:r>
            <a:endParaRPr kumimoji="1" lang="ja-JP" altLang="en-US" sz="1800" b="0" i="0" u="none" strike="noStrike" kern="1200" cap="none" spc="0" normalizeH="0" baseline="0" noProof="0" dirty="0">
              <a:ln>
                <a:noFill/>
              </a:ln>
              <a:solidFill>
                <a:prstClr val="white"/>
              </a:solidFill>
              <a:effectLst/>
              <a:uLnTx/>
              <a:uFillTx/>
              <a:latin typeface="BIZ UDPゴシック" panose="020B0400000000000000" pitchFamily="50" charset="-128"/>
              <a:ea typeface="BIZ UDPゴシック" panose="020B0400000000000000" pitchFamily="50" charset="-128"/>
              <a:cs typeface="Meiryo UI" panose="020B0604030504040204" pitchFamily="50" charset="-128"/>
            </a:endParaRPr>
          </a:p>
        </p:txBody>
      </p:sp>
      <p:graphicFrame>
        <p:nvGraphicFramePr>
          <p:cNvPr id="3" name="表 2">
            <a:extLst>
              <a:ext uri="{FF2B5EF4-FFF2-40B4-BE49-F238E27FC236}">
                <a16:creationId xmlns:a16="http://schemas.microsoft.com/office/drawing/2014/main" id="{B23EC7F6-FC7A-5BB1-1C0B-3B56CD0502A9}"/>
              </a:ext>
            </a:extLst>
          </p:cNvPr>
          <p:cNvGraphicFramePr>
            <a:graphicFrameLocks noGrp="1"/>
          </p:cNvGraphicFramePr>
          <p:nvPr>
            <p:extLst>
              <p:ext uri="{D42A27DB-BD31-4B8C-83A1-F6EECF244321}">
                <p14:modId xmlns:p14="http://schemas.microsoft.com/office/powerpoint/2010/main" val="484857145"/>
              </p:ext>
            </p:extLst>
          </p:nvPr>
        </p:nvGraphicFramePr>
        <p:xfrm>
          <a:off x="334963" y="570376"/>
          <a:ext cx="5544000" cy="156464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1188185547"/>
                    </a:ext>
                  </a:extLst>
                </a:gridCol>
                <a:gridCol w="4104000">
                  <a:extLst>
                    <a:ext uri="{9D8B030D-6E8A-4147-A177-3AD203B41FA5}">
                      <a16:colId xmlns:a16="http://schemas.microsoft.com/office/drawing/2014/main" val="1933953148"/>
                    </a:ext>
                  </a:extLst>
                </a:gridCol>
              </a:tblGrid>
              <a:tr h="370840">
                <a:tc>
                  <a:txBody>
                    <a:bodyPr/>
                    <a:lstStyle/>
                    <a:p>
                      <a:r>
                        <a:rPr kumimoji="1" lang="ja-JP" altLang="en-US" sz="1050" b="0" dirty="0">
                          <a:solidFill>
                            <a:schemeClr val="tx1"/>
                          </a:solidFill>
                          <a:latin typeface="BIZ UDPゴシック" panose="020B0400000000000000" pitchFamily="50" charset="-128"/>
                          <a:ea typeface="BIZ UDPゴシック" panose="020B0400000000000000" pitchFamily="50" charset="-128"/>
                        </a:rPr>
                        <a:t>職群</a:t>
                      </a:r>
                      <a:r>
                        <a:rPr kumimoji="1" lang="en-US" altLang="ja-JP" sz="1050" b="0" dirty="0">
                          <a:solidFill>
                            <a:schemeClr val="tx1"/>
                          </a:solidFill>
                          <a:latin typeface="BIZ UDPゴシック" panose="020B0400000000000000" pitchFamily="50" charset="-128"/>
                          <a:ea typeface="BIZ UDPゴシック" panose="020B0400000000000000" pitchFamily="50" charset="-128"/>
                        </a:rPr>
                        <a:t>/</a:t>
                      </a:r>
                      <a:r>
                        <a:rPr kumimoji="1" lang="ja-JP" altLang="en-US" sz="1050" b="0" dirty="0">
                          <a:solidFill>
                            <a:schemeClr val="tx1"/>
                          </a:solidFill>
                          <a:latin typeface="BIZ UDPゴシック" panose="020B0400000000000000" pitchFamily="50" charset="-128"/>
                          <a:ea typeface="BIZ UDPゴシック" panose="020B0400000000000000" pitchFamily="50" charset="-128"/>
                        </a:rPr>
                        <a:t>職種（業務内容）</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accent6">
                        <a:lumMod val="20000"/>
                        <a:lumOff val="80000"/>
                      </a:schemeClr>
                    </a:solidFill>
                  </a:tcPr>
                </a:tc>
                <a:tc>
                  <a:txBody>
                    <a:bodyPr/>
                    <a:lstStyle/>
                    <a:p>
                      <a:r>
                        <a:rPr lang="ja-JP" altLang="en-US" sz="1000">
                          <a:solidFill>
                            <a:schemeClr val="tx1"/>
                          </a:solidFill>
                          <a:latin typeface="BIZ UDPゴシック"/>
                          <a:ea typeface="BIZ UDPゴシック"/>
                          <a:cs typeface="BIZ UDPゴシック"/>
                        </a:rPr>
                        <a:t>ITデジタル職群 / DX戦略企画（全社DX戦略の企画・立案・推進管理）</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92962422"/>
                  </a:ext>
                </a:extLst>
              </a:tr>
              <a:tr h="370840">
                <a:tc>
                  <a:txBody>
                    <a:bodyPr/>
                    <a:lstStyle/>
                    <a:p>
                      <a:r>
                        <a:rPr kumimoji="1" lang="ja-JP" altLang="en-US" sz="1050" b="0" dirty="0">
                          <a:solidFill>
                            <a:schemeClr val="tx1"/>
                          </a:solidFill>
                          <a:latin typeface="BIZ UDPゴシック" panose="020B0400000000000000" pitchFamily="50" charset="-128"/>
                          <a:ea typeface="BIZ UDPゴシック" panose="020B0400000000000000" pitchFamily="50" charset="-128"/>
                        </a:rPr>
                        <a:t>所属組織（予定）</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accent6">
                        <a:lumMod val="20000"/>
                        <a:lumOff val="80000"/>
                      </a:schemeClr>
                    </a:solidFill>
                  </a:tcPr>
                </a:tc>
                <a:tc>
                  <a:txBody>
                    <a:bodyPr/>
                    <a:lstStyle/>
                    <a:p>
                      <a:r>
                        <a:rPr lang="ja-JP" altLang="en-US" sz="1000">
                          <a:solidFill>
                            <a:schemeClr val="tx1"/>
                          </a:solidFill>
                          <a:latin typeface="BIZ UDPゴシック"/>
                          <a:ea typeface="BIZ UDPゴシック"/>
                          <a:cs typeface="BIZ UDPゴシック"/>
                        </a:rPr>
                        <a:t>デジタル戦略部 戦略企画室（DX企画セクション）</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79518308"/>
                  </a:ext>
                </a:extLst>
              </a:tr>
              <a:tr h="370840">
                <a:tc>
                  <a:txBody>
                    <a:bodyPr/>
                    <a:lstStyle/>
                    <a:p>
                      <a:r>
                        <a:rPr kumimoji="1" lang="ja-JP" altLang="en-US" sz="1050" b="0" dirty="0">
                          <a:solidFill>
                            <a:schemeClr val="tx1"/>
                          </a:solidFill>
                          <a:latin typeface="BIZ UDPゴシック" panose="020B0400000000000000" pitchFamily="50" charset="-128"/>
                          <a:ea typeface="BIZ UDPゴシック" panose="020B0400000000000000" pitchFamily="50" charset="-128"/>
                        </a:rPr>
                        <a:t>募集業務の難易度レベル（目安等級）</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accent6">
                        <a:lumMod val="20000"/>
                        <a:lumOff val="80000"/>
                      </a:schemeClr>
                    </a:solidFill>
                  </a:tcPr>
                </a:tc>
                <a:tc>
                  <a:txBody>
                    <a:bodyPr/>
                    <a:lstStyle/>
                    <a:p>
                      <a:r>
                        <a:rPr lang="ja-JP" altLang="en-US" sz="1000">
                          <a:solidFill>
                            <a:schemeClr val="tx1"/>
                          </a:solidFill>
                          <a:latin typeface="BIZ UDPゴシック"/>
                          <a:ea typeface="BIZ UDPゴシック"/>
                          <a:cs typeface="BIZ UDPゴシック"/>
                        </a:rPr>
                        <a:t>S1～E2（経験・等級に応じて担当業務・役割を設定します）</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54718878"/>
                  </a:ext>
                </a:extLst>
              </a:tr>
              <a:tr h="370840">
                <a:tc>
                  <a:txBody>
                    <a:bodyPr/>
                    <a:lstStyle/>
                    <a:p>
                      <a:r>
                        <a:rPr kumimoji="1" lang="ja-JP" altLang="en-US" sz="1050" b="0" dirty="0">
                          <a:solidFill>
                            <a:schemeClr val="tx1"/>
                          </a:solidFill>
                          <a:latin typeface="BIZ UDPゴシック" panose="020B0400000000000000" pitchFamily="50" charset="-128"/>
                          <a:ea typeface="BIZ UDPゴシック" panose="020B0400000000000000" pitchFamily="50" charset="-128"/>
                        </a:rPr>
                        <a:t>応募制限</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accent6">
                        <a:lumMod val="20000"/>
                        <a:lumOff val="80000"/>
                      </a:schemeClr>
                    </a:solidFill>
                  </a:tcPr>
                </a:tc>
                <a:tc>
                  <a:txBody>
                    <a:bodyPr/>
                    <a:lstStyle/>
                    <a:p>
                      <a:r>
                        <a:rPr lang="ja-JP" altLang="en-US" sz="1000">
                          <a:solidFill>
                            <a:schemeClr val="tx1"/>
                          </a:solidFill>
                          <a:latin typeface="BIZ UDPゴシック"/>
                          <a:ea typeface="BIZ UDPゴシック"/>
                          <a:cs typeface="BIZ UDPゴシック"/>
                        </a:rPr>
                        <a:t>制限なし（全職群・全等級から応募可。デジタル・ITの専門知識や実務経験は不問）</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77373876"/>
                  </a:ext>
                </a:extLst>
              </a:tr>
            </a:tbl>
          </a:graphicData>
        </a:graphic>
      </p:graphicFrame>
      <p:graphicFrame>
        <p:nvGraphicFramePr>
          <p:cNvPr id="5" name="表 4">
            <a:extLst>
              <a:ext uri="{FF2B5EF4-FFF2-40B4-BE49-F238E27FC236}">
                <a16:creationId xmlns:a16="http://schemas.microsoft.com/office/drawing/2014/main" id="{077B25DD-898D-3DF1-9516-E31CCCF760DE}"/>
              </a:ext>
            </a:extLst>
          </p:cNvPr>
          <p:cNvGraphicFramePr>
            <a:graphicFrameLocks noGrp="1"/>
          </p:cNvGraphicFramePr>
          <p:nvPr>
            <p:extLst>
              <p:ext uri="{D42A27DB-BD31-4B8C-83A1-F6EECF244321}">
                <p14:modId xmlns:p14="http://schemas.microsoft.com/office/powerpoint/2010/main" val="1229668612"/>
              </p:ext>
            </p:extLst>
          </p:nvPr>
        </p:nvGraphicFramePr>
        <p:xfrm>
          <a:off x="6313037" y="570376"/>
          <a:ext cx="5544000" cy="1020690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1188185547"/>
                    </a:ext>
                  </a:extLst>
                </a:gridCol>
                <a:gridCol w="4104000">
                  <a:extLst>
                    <a:ext uri="{9D8B030D-6E8A-4147-A177-3AD203B41FA5}">
                      <a16:colId xmlns:a16="http://schemas.microsoft.com/office/drawing/2014/main" val="1933953148"/>
                    </a:ext>
                  </a:extLst>
                </a:gridCol>
              </a:tblGrid>
              <a:tr h="320040">
                <a:tc>
                  <a:txBody>
                    <a:bodyPr/>
                    <a:lstStyle/>
                    <a:p>
                      <a:r>
                        <a:rPr kumimoji="1" lang="ja-JP" altLang="en-US" sz="1050" b="0" dirty="0">
                          <a:solidFill>
                            <a:schemeClr val="tx1"/>
                          </a:solidFill>
                          <a:latin typeface="BIZ UDPゴシック" panose="020B0400000000000000" pitchFamily="50" charset="-128"/>
                          <a:ea typeface="BIZ UDPゴシック" panose="020B0400000000000000" pitchFamily="50" charset="-128"/>
                        </a:rPr>
                        <a:t>仕事の魅力</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accent6">
                        <a:lumMod val="20000"/>
                        <a:lumOff val="80000"/>
                      </a:schemeClr>
                    </a:solidFill>
                  </a:tcPr>
                </a:tc>
                <a:tc>
                  <a:txBody>
                    <a:bodyPr/>
                    <a:lstStyle/>
                    <a:p>
                      <a:r>
                        <a:rPr lang="ja-JP" altLang="en-US" sz="850" b="1">
                          <a:solidFill>
                            <a:schemeClr val="tx1"/>
                          </a:solidFill>
                          <a:latin typeface="BIZ UDPゴシック"/>
                          <a:ea typeface="BIZ UDPゴシック"/>
                          <a:cs typeface="BIZ UDPゴシック"/>
                        </a:rPr>
                        <a:t>①経営に直結する戦略づくり：</a:t>
                      </a:r>
                    </a:p>
                    <a:p>
                      <a:r>
                        <a:rPr lang="ja-JP" altLang="en-US" sz="850">
                          <a:solidFill>
                            <a:schemeClr val="tx1"/>
                          </a:solidFill>
                          <a:latin typeface="BIZ UDPゴシック"/>
                          <a:ea typeface="BIZ UDPゴシック"/>
                          <a:cs typeface="BIZ UDPゴシック"/>
                        </a:rPr>
                        <a:t>中期経営計画（2nd STAGE）の柱「収益力強靭化」を支えるDX13テーマの企画・推進を担い、経営層とともに会社の変革を最前線でリードできます。</a:t>
                      </a:r>
                    </a:p>
                    <a:p>
                      <a:r>
                        <a:rPr lang="ja-JP" altLang="en-US" sz="850" b="1">
                          <a:solidFill>
                            <a:schemeClr val="tx1"/>
                          </a:solidFill>
                          <a:latin typeface="BIZ UDPゴシック"/>
                          <a:ea typeface="BIZ UDPゴシック"/>
                          <a:cs typeface="BIZ UDPゴシック"/>
                        </a:rPr>
                        <a:t>②全社規模の大きなプロジェクトに参画：</a:t>
                      </a:r>
                    </a:p>
                    <a:p>
                      <a:r>
                        <a:rPr lang="ja-JP" altLang="en-US" sz="850">
                          <a:solidFill>
                            <a:schemeClr val="tx1"/>
                          </a:solidFill>
                          <a:latin typeface="BIZ UDPゴシック"/>
                          <a:ea typeface="BIZ UDPゴシック"/>
                          <a:cs typeface="BIZ UDPゴシック"/>
                        </a:rPr>
                        <a:t>経営管理・需要予測・人事DX・工場DX・営業DXなど、国内外グループ全体の戦略テーマに参画し、ビジネス全体に大きなインパクトを与えられます。</a:t>
                      </a:r>
                    </a:p>
                    <a:p>
                      <a:r>
                        <a:rPr lang="ja-JP" altLang="en-US" sz="850" b="1">
                          <a:solidFill>
                            <a:schemeClr val="tx1"/>
                          </a:solidFill>
                          <a:latin typeface="BIZ UDPゴシック"/>
                          <a:ea typeface="BIZ UDPゴシック"/>
                          <a:cs typeface="BIZ UDPゴシック"/>
                        </a:rPr>
                        <a:t>③多様なテーマに挑戦し成長できる：</a:t>
                      </a:r>
                    </a:p>
                    <a:p>
                      <a:r>
                        <a:rPr lang="ja-JP" altLang="en-US" sz="850">
                          <a:solidFill>
                            <a:schemeClr val="tx1"/>
                          </a:solidFill>
                          <a:latin typeface="BIZ UDPゴシック"/>
                          <a:ea typeface="BIZ UDPゴシック"/>
                          <a:cs typeface="BIZ UDPゴシック"/>
                        </a:rPr>
                        <a:t>AI・データ分析・クラウドなど幅広い分野に触れ、研修（LCV）やOJTを通じて未経験からデジタル人材へ成長できます。</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92962422"/>
                  </a:ext>
                </a:extLst>
              </a:tr>
              <a:tr h="320040">
                <a:tc>
                  <a:txBody>
                    <a:bodyPr/>
                    <a:lstStyle/>
                    <a:p>
                      <a:r>
                        <a:rPr kumimoji="1" lang="ja-JP" altLang="en-US" sz="1050" b="0" dirty="0">
                          <a:solidFill>
                            <a:schemeClr val="tx1"/>
                          </a:solidFill>
                          <a:latin typeface="BIZ UDPゴシック" panose="020B0400000000000000" pitchFamily="50" charset="-128"/>
                          <a:ea typeface="BIZ UDPゴシック" panose="020B0400000000000000" pitchFamily="50" charset="-128"/>
                        </a:rPr>
                        <a:t>想定キャリアパス</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accent6">
                        <a:lumMod val="20000"/>
                        <a:lumOff val="80000"/>
                      </a:schemeClr>
                    </a:solidFill>
                  </a:tcPr>
                </a:tc>
                <a:tc>
                  <a:txBody>
                    <a:bodyPr/>
                    <a:lstStyle/>
                    <a:p>
                      <a:r>
                        <a:rPr lang="ja-JP" altLang="en-US" sz="850">
                          <a:solidFill>
                            <a:schemeClr val="tx1"/>
                          </a:solidFill>
                          <a:latin typeface="BIZ UDPゴシック"/>
                          <a:ea typeface="BIZ UDPゴシック"/>
                          <a:cs typeface="BIZ UDPゴシック"/>
                        </a:rPr>
                        <a:t>戦略企画での経験を起点に、複線的なキャリアを想定しています。</a:t>
                      </a:r>
                    </a:p>
                    <a:p>
                      <a:r>
                        <a:rPr lang="ja-JP" altLang="en-US" sz="850">
                          <a:solidFill>
                            <a:schemeClr val="tx1"/>
                          </a:solidFill>
                          <a:latin typeface="BIZ UDPゴシック"/>
                          <a:ea typeface="BIZ UDPゴシック"/>
                          <a:cs typeface="BIZ UDPゴシック"/>
                        </a:rPr>
                        <a:t>・DX推進チーム／ビジネスシステムチームでのプロジェクトマネージャー</a:t>
                      </a:r>
                    </a:p>
                    <a:p>
                      <a:r>
                        <a:rPr lang="ja-JP" altLang="en-US" sz="850">
                          <a:solidFill>
                            <a:schemeClr val="tx1"/>
                          </a:solidFill>
                          <a:latin typeface="BIZ UDPゴシック"/>
                          <a:ea typeface="BIZ UDPゴシック"/>
                          <a:cs typeface="BIZ UDPゴシック"/>
                        </a:rPr>
                        <a:t>・データサイエンティスト、デジタルナビゲーター等の専門人材</a:t>
                      </a:r>
                    </a:p>
                    <a:p>
                      <a:r>
                        <a:rPr lang="ja-JP" altLang="en-US" sz="850">
                          <a:solidFill>
                            <a:schemeClr val="tx1"/>
                          </a:solidFill>
                          <a:latin typeface="BIZ UDPゴシック"/>
                          <a:ea typeface="BIZ UDPゴシック"/>
                          <a:cs typeface="BIZ UDPゴシック"/>
                        </a:rPr>
                        <a:t>・事業部門に戻りDXリーダーとして変革を主導　・管理職（E職）への登用</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79518308"/>
                  </a:ext>
                </a:extLst>
              </a:tr>
              <a:tr h="320040">
                <a:tc>
                  <a:txBody>
                    <a:bodyPr/>
                    <a:lstStyle/>
                    <a:p>
                      <a:r>
                        <a:rPr kumimoji="1" lang="ja-JP" altLang="en-US" sz="1050" b="0" dirty="0">
                          <a:solidFill>
                            <a:schemeClr val="tx1"/>
                          </a:solidFill>
                          <a:latin typeface="BIZ UDPゴシック" panose="020B0400000000000000" pitchFamily="50" charset="-128"/>
                          <a:ea typeface="BIZ UDPゴシック" panose="020B0400000000000000" pitchFamily="50" charset="-128"/>
                        </a:rPr>
                        <a:t>求められる</a:t>
                      </a:r>
                      <a:endParaRPr kumimoji="1" lang="en-US" altLang="ja-JP" sz="1050" b="0" dirty="0">
                        <a:solidFill>
                          <a:schemeClr val="tx1"/>
                        </a:solidFill>
                        <a:latin typeface="BIZ UDPゴシック" panose="020B0400000000000000" pitchFamily="50" charset="-128"/>
                        <a:ea typeface="BIZ UDPゴシック" panose="020B0400000000000000" pitchFamily="50" charset="-128"/>
                      </a:endParaRPr>
                    </a:p>
                    <a:p>
                      <a:r>
                        <a:rPr kumimoji="1" lang="ja-JP" altLang="en-US" sz="1050" b="0" dirty="0">
                          <a:solidFill>
                            <a:schemeClr val="tx1"/>
                          </a:solidFill>
                          <a:latin typeface="BIZ UDPゴシック" panose="020B0400000000000000" pitchFamily="50" charset="-128"/>
                          <a:ea typeface="BIZ UDPゴシック" panose="020B0400000000000000" pitchFamily="50" charset="-128"/>
                        </a:rPr>
                        <a:t>知識・スキル・</a:t>
                      </a:r>
                      <a:endParaRPr kumimoji="1" lang="en-US" altLang="ja-JP" sz="1050" b="0" dirty="0">
                        <a:solidFill>
                          <a:schemeClr val="tx1"/>
                        </a:solidFill>
                        <a:latin typeface="BIZ UDPゴシック" panose="020B0400000000000000" pitchFamily="50" charset="-128"/>
                        <a:ea typeface="BIZ UDPゴシック" panose="020B0400000000000000" pitchFamily="50" charset="-128"/>
                      </a:endParaRPr>
                    </a:p>
                    <a:p>
                      <a:r>
                        <a:rPr kumimoji="1" lang="ja-JP" altLang="en-US" sz="1050" b="0" dirty="0">
                          <a:solidFill>
                            <a:schemeClr val="tx1"/>
                          </a:solidFill>
                          <a:latin typeface="BIZ UDPゴシック" panose="020B0400000000000000" pitchFamily="50" charset="-128"/>
                          <a:ea typeface="BIZ UDPゴシック" panose="020B0400000000000000" pitchFamily="50" charset="-128"/>
                        </a:rPr>
                        <a:t>経験・資格</a:t>
                      </a:r>
                      <a:endParaRPr kumimoji="1" lang="en-US" altLang="ja-JP" sz="1050" b="0" dirty="0">
                        <a:solidFill>
                          <a:schemeClr val="tx1"/>
                        </a:solidFill>
                        <a:latin typeface="BIZ UDPゴシック" panose="020B0400000000000000" pitchFamily="50" charset="-128"/>
                        <a:ea typeface="BIZ UDPゴシック" panose="020B0400000000000000" pitchFamily="50" charset="-128"/>
                      </a:endParaRPr>
                    </a:p>
                    <a:p>
                      <a:endParaRPr kumimoji="1" lang="en-US" altLang="ja-JP" sz="1050" b="0" dirty="0">
                        <a:solidFill>
                          <a:schemeClr val="tx1"/>
                        </a:solidFill>
                        <a:latin typeface="BIZ UDPゴシック" panose="020B0400000000000000" pitchFamily="50" charset="-128"/>
                        <a:ea typeface="BIZ UDPゴシック" panose="020B0400000000000000" pitchFamily="50" charset="-128"/>
                      </a:endParaRPr>
                    </a:p>
                    <a:p>
                      <a:r>
                        <a:rPr kumimoji="1" lang="ja-JP" altLang="en-US" sz="1050" b="0" dirty="0">
                          <a:solidFill>
                            <a:schemeClr val="tx1"/>
                          </a:solidFill>
                          <a:latin typeface="BIZ UDPゴシック" panose="020B0400000000000000" pitchFamily="50" charset="-128"/>
                          <a:ea typeface="BIZ UDPゴシック" panose="020B0400000000000000" pitchFamily="50" charset="-128"/>
                        </a:rPr>
                        <a:t>（★は必須）</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accent6">
                        <a:lumMod val="20000"/>
                        <a:lumOff val="80000"/>
                      </a:schemeClr>
                    </a:solidFill>
                  </a:tcPr>
                </a:tc>
                <a:tc>
                  <a:txBody>
                    <a:bodyPr/>
                    <a:lstStyle/>
                    <a:p>
                      <a:r>
                        <a:rPr lang="ja-JP" altLang="en-US" sz="850" b="1">
                          <a:solidFill>
                            <a:schemeClr val="tx1"/>
                          </a:solidFill>
                          <a:latin typeface="BIZ UDPゴシック"/>
                          <a:ea typeface="BIZ UDPゴシック"/>
                          <a:cs typeface="BIZ UDPゴシック"/>
                        </a:rPr>
                        <a:t>★必須要件はありません。以下はすべて歓迎要件のため、下記の知識・経験が無くてもご応募可能です。</a:t>
                      </a:r>
                    </a:p>
                    <a:p>
                      <a:r>
                        <a:rPr lang="ja-JP" altLang="en-US" sz="850">
                          <a:solidFill>
                            <a:schemeClr val="tx1"/>
                          </a:solidFill>
                          <a:latin typeface="BIZ UDPゴシック"/>
                          <a:ea typeface="BIZ UDPゴシック"/>
                          <a:cs typeface="BIZ UDPゴシック"/>
                        </a:rPr>
                        <a:t>【スキル】PM・PMOスキル／ITリテラシーやデータ活用に関する基本的なスキル／ロジカルシンキングや企画力、課題発見力／コミュニケーション力と共創志向</a:t>
                      </a:r>
                    </a:p>
                    <a:p>
                      <a:r>
                        <a:rPr lang="ja-JP" altLang="en-US" sz="850">
                          <a:solidFill>
                            <a:schemeClr val="tx1"/>
                          </a:solidFill>
                          <a:latin typeface="BIZ UDPゴシック"/>
                          <a:ea typeface="BIZ UDPゴシック"/>
                          <a:cs typeface="BIZ UDPゴシック"/>
                        </a:rPr>
                        <a:t>【経験】部門を越えたプロジェクトや業務改革に関わった経験／業務改善、ツール導入、デジタル施策の推進経験／事業部門の課題解決にコミットした経験／予算の企画・管理経験</a:t>
                      </a:r>
                    </a:p>
                    <a:p>
                      <a:r>
                        <a:rPr lang="ja-JP" altLang="en-US" sz="850">
                          <a:solidFill>
                            <a:schemeClr val="tx1"/>
                          </a:solidFill>
                          <a:latin typeface="BIZ UDPゴシック"/>
                          <a:ea typeface="BIZ UDPゴシック"/>
                          <a:cs typeface="BIZ UDPゴシック"/>
                        </a:rPr>
                        <a:t>【知識】経営戦略に関わる知識／社内の基礎知識（規定・規約関連）</a:t>
                      </a:r>
                    </a:p>
                    <a:p>
                      <a:r>
                        <a:rPr lang="ja-JP" altLang="en-US" sz="850">
                          <a:solidFill>
                            <a:schemeClr val="tx1"/>
                          </a:solidFill>
                          <a:latin typeface="BIZ UDPゴシック"/>
                          <a:ea typeface="BIZ UDPゴシック"/>
                          <a:cs typeface="BIZ UDPゴシック"/>
                        </a:rPr>
                        <a:t>※デジタルの専門知識は配属後の研修・OJTで習得できます。現部門で培った業務知識・現場経験そのものが、戦略企画における大きな強みになります。</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54718878"/>
                  </a:ext>
                </a:extLst>
              </a:tr>
              <a:tr h="320040">
                <a:tc>
                  <a:txBody>
                    <a:bodyPr/>
                    <a:lstStyle/>
                    <a:p>
                      <a:r>
                        <a:rPr kumimoji="1" lang="ja-JP" altLang="en-US" sz="1050" b="0" dirty="0">
                          <a:solidFill>
                            <a:schemeClr val="tx1"/>
                          </a:solidFill>
                          <a:latin typeface="BIZ UDPゴシック" panose="020B0400000000000000" pitchFamily="50" charset="-128"/>
                          <a:ea typeface="BIZ UDPゴシック" panose="020B0400000000000000" pitchFamily="50" charset="-128"/>
                        </a:rPr>
                        <a:t>重要な</a:t>
                      </a:r>
                      <a:endParaRPr kumimoji="1" lang="en-US" altLang="ja-JP" sz="1050" b="0" dirty="0">
                        <a:solidFill>
                          <a:schemeClr val="tx1"/>
                        </a:solidFill>
                        <a:latin typeface="BIZ UDPゴシック" panose="020B0400000000000000" pitchFamily="50" charset="-128"/>
                        <a:ea typeface="BIZ UDPゴシック" panose="020B0400000000000000" pitchFamily="50" charset="-128"/>
                      </a:endParaRPr>
                    </a:p>
                    <a:p>
                      <a:r>
                        <a:rPr kumimoji="1" lang="ja-JP" altLang="en-US" sz="1050" b="0" dirty="0">
                          <a:solidFill>
                            <a:schemeClr val="tx1"/>
                          </a:solidFill>
                          <a:latin typeface="BIZ UDPゴシック" panose="020B0400000000000000" pitchFamily="50" charset="-128"/>
                          <a:ea typeface="BIZ UDPゴシック" panose="020B0400000000000000" pitchFamily="50" charset="-128"/>
                        </a:rPr>
                        <a:t>コンピテンシー</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accent6">
                        <a:lumMod val="20000"/>
                        <a:lumOff val="80000"/>
                      </a:schemeClr>
                    </a:solidFill>
                  </a:tcPr>
                </a:tc>
                <a:tc>
                  <a:txBody>
                    <a:bodyPr/>
                    <a:lstStyle/>
                    <a:p>
                      <a:r>
                        <a:rPr lang="ja-JP" altLang="en-US" sz="850">
                          <a:solidFill>
                            <a:schemeClr val="tx1"/>
                          </a:solidFill>
                          <a:latin typeface="BIZ UDPゴシック"/>
                          <a:ea typeface="BIZ UDPゴシック"/>
                          <a:cs typeface="BIZ UDPゴシック"/>
                        </a:rPr>
                        <a:t>課題設定：状況を的確に把握しながら「何をすべきか」「どうやって成し遂げるか」を考え出せる能力</a:t>
                      </a:r>
                    </a:p>
                    <a:p>
                      <a:r>
                        <a:rPr lang="ja-JP" altLang="en-US" sz="850">
                          <a:solidFill>
                            <a:schemeClr val="tx1"/>
                          </a:solidFill>
                          <a:latin typeface="BIZ UDPゴシック"/>
                          <a:ea typeface="BIZ UDPゴシック"/>
                          <a:cs typeface="BIZ UDPゴシック"/>
                        </a:rPr>
                        <a:t>解決意向：課題解決のために必要な計画や方法を自ら具体的に立案しながら取り組むことのできる能力</a:t>
                      </a:r>
                    </a:p>
                    <a:p>
                      <a:r>
                        <a:rPr lang="ja-JP" altLang="en-US" sz="850">
                          <a:solidFill>
                            <a:schemeClr val="tx1"/>
                          </a:solidFill>
                          <a:latin typeface="BIZ UDPゴシック"/>
                          <a:ea typeface="BIZ UDPゴシック"/>
                          <a:cs typeface="BIZ UDPゴシック"/>
                        </a:rPr>
                        <a:t>論理的思考：道理に即って物事を深く考えることができ、複雑なことでも分かりやすく説明できる能力</a:t>
                      </a:r>
                    </a:p>
                    <a:p>
                      <a:r>
                        <a:rPr lang="ja-JP" altLang="en-US" sz="850">
                          <a:solidFill>
                            <a:schemeClr val="tx1"/>
                          </a:solidFill>
                          <a:latin typeface="BIZ UDPゴシック"/>
                          <a:ea typeface="BIZ UDPゴシック"/>
                          <a:cs typeface="BIZ UDPゴシック"/>
                        </a:rPr>
                        <a:t>創造性：自分ならではの独自性に加えて、実現可能な生産性を伴ったアイデアを出すことのできる能力</a:t>
                      </a:r>
                    </a:p>
                    <a:p>
                      <a:r>
                        <a:rPr lang="ja-JP" altLang="en-US" sz="850">
                          <a:solidFill>
                            <a:schemeClr val="tx1"/>
                          </a:solidFill>
                          <a:latin typeface="BIZ UDPゴシック"/>
                          <a:ea typeface="BIZ UDPゴシック"/>
                          <a:cs typeface="BIZ UDPゴシック"/>
                        </a:rPr>
                        <a:t>柔軟性：変化への対応力とともに、その場その場で機転を利かせて行動を適宜修正できる能力</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112036095"/>
                  </a:ext>
                </a:extLst>
              </a:tr>
              <a:tr h="320040">
                <a:tc>
                  <a:txBody>
                    <a:bodyPr/>
                    <a:lstStyle/>
                    <a:p>
                      <a:r>
                        <a:rPr kumimoji="1" lang="ja-JP" altLang="en-US" sz="1050" b="0" dirty="0">
                          <a:solidFill>
                            <a:schemeClr val="tx1"/>
                          </a:solidFill>
                          <a:latin typeface="BIZ UDPゴシック" panose="020B0400000000000000" pitchFamily="50" charset="-128"/>
                          <a:ea typeface="BIZ UDPゴシック" panose="020B0400000000000000" pitchFamily="50" charset="-128"/>
                        </a:rPr>
                        <a:t>関連する</a:t>
                      </a:r>
                      <a:endParaRPr kumimoji="1" lang="en-US" altLang="ja-JP" sz="1050" b="0" dirty="0">
                        <a:solidFill>
                          <a:schemeClr val="tx1"/>
                        </a:solidFill>
                        <a:latin typeface="BIZ UDPゴシック" panose="020B0400000000000000" pitchFamily="50" charset="-128"/>
                        <a:ea typeface="BIZ UDPゴシック" panose="020B0400000000000000" pitchFamily="50" charset="-128"/>
                      </a:endParaRPr>
                    </a:p>
                    <a:p>
                      <a:r>
                        <a:rPr kumimoji="1" lang="en-US" altLang="ja-JP" sz="1050" b="0" dirty="0">
                          <a:solidFill>
                            <a:schemeClr val="tx1"/>
                          </a:solidFill>
                          <a:latin typeface="BIZ UDPゴシック" panose="020B0400000000000000" pitchFamily="50" charset="-128"/>
                          <a:ea typeface="BIZ UDPゴシック" panose="020B0400000000000000" pitchFamily="50" charset="-128"/>
                        </a:rPr>
                        <a:t>LCV</a:t>
                      </a:r>
                      <a:r>
                        <a:rPr kumimoji="1" lang="ja-JP" altLang="en-US" sz="1050" b="0" dirty="0">
                          <a:solidFill>
                            <a:schemeClr val="tx1"/>
                          </a:solidFill>
                          <a:latin typeface="BIZ UDPゴシック" panose="020B0400000000000000" pitchFamily="50" charset="-128"/>
                          <a:ea typeface="BIZ UDPゴシック" panose="020B0400000000000000" pitchFamily="50" charset="-128"/>
                        </a:rPr>
                        <a:t>コンテンツ</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accent6">
                        <a:lumMod val="20000"/>
                        <a:lumOff val="80000"/>
                      </a:schemeClr>
                    </a:solidFill>
                  </a:tcPr>
                </a:tc>
                <a:tc>
                  <a:txBody>
                    <a:bodyPr/>
                    <a:lstStyle/>
                    <a:p>
                      <a:r>
                        <a:rPr lang="ja-JP" altLang="en-US" sz="850">
                          <a:solidFill>
                            <a:schemeClr val="tx1"/>
                          </a:solidFill>
                          <a:latin typeface="BIZ UDPゴシック"/>
                          <a:ea typeface="BIZ UDPゴシック"/>
                          <a:cs typeface="BIZ UDPゴシック"/>
                        </a:rPr>
                        <a:t>【人事制度】LCV No.273 新人事制度(2023年導入) ※成長支援施策を中心としたコンテンツ</a:t>
                      </a:r>
                    </a:p>
                    <a:p>
                      <a:r>
                        <a:rPr lang="ja-JP" altLang="en-US" sz="850">
                          <a:solidFill>
                            <a:schemeClr val="tx1"/>
                          </a:solidFill>
                          <a:latin typeface="BIZ UDPゴシック"/>
                          <a:ea typeface="BIZ UDPゴシック"/>
                          <a:cs typeface="BIZ UDPゴシック"/>
                        </a:rPr>
                        <a:t>【デジタルリテラシー講座】LCV No.19～26 デジタルリテラシー_必修（社長メッセージ／グループのデジタル戦略／DXレベル向上／DXとは何か／潮流とホットトピック／主要テクノロジー／アプローチとスキルセット／マインドセット）</a:t>
                      </a:r>
                    </a:p>
                    <a:p>
                      <a:r>
                        <a:rPr lang="ja-JP" altLang="en-US" sz="850">
                          <a:solidFill>
                            <a:schemeClr val="tx1"/>
                          </a:solidFill>
                          <a:latin typeface="BIZ UDPゴシック"/>
                          <a:ea typeface="BIZ UDPゴシック"/>
                          <a:cs typeface="BIZ UDPゴシック"/>
                        </a:rPr>
                        <a:t>【経営戦略/財務会計】LCV 経営戦略講座、ビジネス会計基礎</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404600161"/>
                  </a:ext>
                </a:extLst>
              </a:tr>
            </a:tbl>
          </a:graphicData>
        </a:graphic>
      </p:graphicFrame>
      <p:graphicFrame>
        <p:nvGraphicFramePr>
          <p:cNvPr id="8" name="表 7">
            <a:extLst>
              <a:ext uri="{FF2B5EF4-FFF2-40B4-BE49-F238E27FC236}">
                <a16:creationId xmlns:a16="http://schemas.microsoft.com/office/drawing/2014/main" id="{790D2F2B-A178-21E1-A449-C6E7539E07C1}"/>
              </a:ext>
            </a:extLst>
          </p:cNvPr>
          <p:cNvGraphicFramePr>
            <a:graphicFrameLocks noGrp="1"/>
          </p:cNvGraphicFramePr>
          <p:nvPr>
            <p:extLst>
              <p:ext uri="{D42A27DB-BD31-4B8C-83A1-F6EECF244321}">
                <p14:modId xmlns:p14="http://schemas.microsoft.com/office/powerpoint/2010/main" val="3661374731"/>
              </p:ext>
            </p:extLst>
          </p:nvPr>
        </p:nvGraphicFramePr>
        <p:xfrm>
          <a:off x="334963" y="2216687"/>
          <a:ext cx="5544000" cy="3775696"/>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1188185547"/>
                    </a:ext>
                  </a:extLst>
                </a:gridCol>
                <a:gridCol w="4104000">
                  <a:extLst>
                    <a:ext uri="{9D8B030D-6E8A-4147-A177-3AD203B41FA5}">
                      <a16:colId xmlns:a16="http://schemas.microsoft.com/office/drawing/2014/main" val="1933953148"/>
                    </a:ext>
                  </a:extLst>
                </a:gridCol>
              </a:tblGrid>
              <a:tr h="320040">
                <a:tc>
                  <a:txBody>
                    <a:bodyPr/>
                    <a:lstStyle/>
                    <a:p>
                      <a:r>
                        <a:rPr kumimoji="1" lang="ja-JP" altLang="en-US" sz="1050" b="0" dirty="0">
                          <a:solidFill>
                            <a:schemeClr val="tx1"/>
                          </a:solidFill>
                          <a:latin typeface="BIZ UDPゴシック" panose="020B0400000000000000" pitchFamily="50" charset="-128"/>
                          <a:ea typeface="BIZ UDPゴシック" panose="020B0400000000000000" pitchFamily="50" charset="-128"/>
                        </a:rPr>
                        <a:t>ミッション</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accent6">
                        <a:lumMod val="20000"/>
                        <a:lumOff val="80000"/>
                      </a:schemeClr>
                    </a:solidFill>
                  </a:tcPr>
                </a:tc>
                <a:tc>
                  <a:txBody>
                    <a:bodyPr/>
                    <a:lstStyle/>
                    <a:p>
                      <a:r>
                        <a:rPr lang="ja-JP" altLang="en-US" sz="900">
                          <a:solidFill>
                            <a:schemeClr val="tx1"/>
                          </a:solidFill>
                          <a:latin typeface="BIZ UDPゴシック"/>
                          <a:ea typeface="BIZ UDPゴシック"/>
                          <a:cs typeface="BIZ UDPゴシック"/>
                        </a:rPr>
                        <a:t>2nd STAGE基本方針「収益力強靭化」の実現に向けた、国内外ライオングループ全体のDX戦略の立案・推進・管理</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92962422"/>
                  </a:ext>
                </a:extLst>
              </a:tr>
              <a:tr h="320040">
                <a:tc>
                  <a:txBody>
                    <a:bodyPr/>
                    <a:lstStyle/>
                    <a:p>
                      <a:r>
                        <a:rPr kumimoji="1" lang="ja-JP" altLang="en-US" sz="1050" b="0" dirty="0">
                          <a:solidFill>
                            <a:schemeClr val="tx1"/>
                          </a:solidFill>
                          <a:latin typeface="BIZ UDPゴシック" panose="020B0400000000000000" pitchFamily="50" charset="-128"/>
                          <a:ea typeface="BIZ UDPゴシック" panose="020B0400000000000000" pitchFamily="50" charset="-128"/>
                        </a:rPr>
                        <a:t>募集背景</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accent6">
                        <a:lumMod val="20000"/>
                        <a:lumOff val="80000"/>
                      </a:schemeClr>
                    </a:solidFill>
                  </a:tcPr>
                </a:tc>
                <a:tc>
                  <a:txBody>
                    <a:bodyPr/>
                    <a:lstStyle/>
                    <a:p>
                      <a:r>
                        <a:rPr lang="ja-JP" altLang="en-US" sz="900">
                          <a:solidFill>
                            <a:schemeClr val="tx1"/>
                          </a:solidFill>
                          <a:latin typeface="BIZ UDPゴシック"/>
                          <a:ea typeface="BIZ UDPゴシック"/>
                          <a:cs typeface="BIZ UDPゴシック"/>
                        </a:rPr>
                        <a:t>バリューチェーン全体で「DX13テーマ」を推進中で、多くのテーマが構想策定から実行フェーズへ移行しています。AIの浸透、環境規制強化、労働人口減少など事業環境が大きく変化する中、経営と現場をつなぎ全社横断でDXを企画・推進する戦略企画機能の強化が急務のため、社内公募を実施します（デジタルの専門知識は不問です）。</a:t>
                      </a:r>
                    </a:p>
                  </a:txBody>
                  <a:tcPr marL="68580" marR="6858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79518308"/>
                  </a:ext>
                </a:extLst>
              </a:tr>
              <a:tr h="320040">
                <a:tc>
                  <a:txBody>
                    <a:bodyPr/>
                    <a:lstStyle/>
                    <a:p>
                      <a:r>
                        <a:rPr kumimoji="1" lang="ja-JP" altLang="en-US" sz="1050" b="0" dirty="0">
                          <a:solidFill>
                            <a:schemeClr val="tx1"/>
                          </a:solidFill>
                          <a:latin typeface="BIZ UDPゴシック" panose="020B0400000000000000" pitchFamily="50" charset="-128"/>
                          <a:ea typeface="BIZ UDPゴシック" panose="020B0400000000000000" pitchFamily="50" charset="-128"/>
                        </a:rPr>
                        <a:t>職務概要</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accent6">
                        <a:lumMod val="20000"/>
                        <a:lumOff val="80000"/>
                      </a:schemeClr>
                    </a:solidFill>
                  </a:tcPr>
                </a:tc>
                <a:tc>
                  <a:txBody>
                    <a:bodyPr/>
                    <a:lstStyle/>
                    <a:p>
                      <a:r>
                        <a:rPr lang="ja-JP" altLang="en-US" sz="900">
                          <a:solidFill>
                            <a:schemeClr val="tx1"/>
                          </a:solidFill>
                          <a:latin typeface="BIZ UDPゴシック"/>
                          <a:ea typeface="BIZ UDPゴシック"/>
                          <a:cs typeface="BIZ UDPゴシック"/>
                        </a:rPr>
                        <a:t>・全社デジタル戦略（DX13テーマ）の企画・立案・見直し</a:t>
                      </a:r>
                    </a:p>
                    <a:p>
                      <a:r>
                        <a:rPr lang="ja-JP" altLang="en-US" sz="900">
                          <a:solidFill>
                            <a:schemeClr val="tx1"/>
                          </a:solidFill>
                          <a:latin typeface="BIZ UDPゴシック"/>
                          <a:ea typeface="BIZ UDPゴシック"/>
                          <a:cs typeface="BIZ UDPゴシック"/>
                        </a:rPr>
                        <a:t>・テーマ横断のプロジェクト管理・推進</a:t>
                      </a:r>
                    </a:p>
                    <a:p>
                      <a:r>
                        <a:rPr lang="ja-JP" altLang="en-US" sz="900">
                          <a:solidFill>
                            <a:schemeClr val="tx1"/>
                          </a:solidFill>
                          <a:latin typeface="BIZ UDPゴシック"/>
                          <a:ea typeface="BIZ UDPゴシック"/>
                          <a:cs typeface="BIZ UDPゴシック"/>
                        </a:rPr>
                        <a:t>・デジタル基盤強化、DX人材育成施策の企画</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47875755"/>
                  </a:ext>
                </a:extLst>
              </a:tr>
              <a:tr h="320040">
                <a:tc>
                  <a:txBody>
                    <a:bodyPr/>
                    <a:lstStyle/>
                    <a:p>
                      <a:r>
                        <a:rPr kumimoji="1" lang="ja-JP" altLang="en-US" sz="1050" b="0" dirty="0">
                          <a:solidFill>
                            <a:schemeClr val="tx1"/>
                          </a:solidFill>
                          <a:latin typeface="BIZ UDPゴシック" panose="020B0400000000000000" pitchFamily="50" charset="-128"/>
                          <a:ea typeface="BIZ UDPゴシック" panose="020B0400000000000000" pitchFamily="50" charset="-128"/>
                        </a:rPr>
                        <a:t>職務詳細</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accent6">
                        <a:lumMod val="20000"/>
                        <a:lumOff val="80000"/>
                      </a:schemeClr>
                    </a:solidFill>
                  </a:tcPr>
                </a:tc>
                <a:tc>
                  <a:txBody>
                    <a:bodyPr/>
                    <a:lstStyle/>
                    <a:p>
                      <a:r>
                        <a:rPr lang="ja-JP" altLang="en-US" sz="900">
                          <a:solidFill>
                            <a:schemeClr val="tx1"/>
                          </a:solidFill>
                          <a:latin typeface="BIZ UDPゴシック"/>
                          <a:ea typeface="BIZ UDPゴシック"/>
                          <a:cs typeface="BIZ UDPゴシック"/>
                        </a:rPr>
                        <a:t>・ビジネス目標（収益力強靭化／成長戦略／経営基盤強化）に基づく中長期デジタル戦略の策定・推進</a:t>
                      </a:r>
                    </a:p>
                    <a:p>
                      <a:r>
                        <a:rPr lang="ja-JP" altLang="en-US" sz="900">
                          <a:solidFill>
                            <a:schemeClr val="tx1"/>
                          </a:solidFill>
                          <a:latin typeface="BIZ UDPゴシック"/>
                          <a:ea typeface="BIZ UDPゴシック"/>
                          <a:cs typeface="BIZ UDPゴシック"/>
                        </a:rPr>
                        <a:t>・DX13テーマのポートフォリオ管理（プロジェクト計画の策定、進捗・リスク・品質・予算管理）</a:t>
                      </a:r>
                    </a:p>
                    <a:p>
                      <a:r>
                        <a:rPr lang="ja-JP" altLang="en-US" sz="900">
                          <a:solidFill>
                            <a:schemeClr val="tx1"/>
                          </a:solidFill>
                          <a:latin typeface="BIZ UDPゴシック"/>
                          <a:ea typeface="BIZ UDPゴシック"/>
                          <a:cs typeface="BIZ UDPゴシック"/>
                        </a:rPr>
                        <a:t>・経営層・事業部門との合意形成、デジタル戦略推進協議会等の会議体運営</a:t>
                      </a:r>
                    </a:p>
                    <a:p>
                      <a:r>
                        <a:rPr lang="ja-JP" altLang="en-US" sz="900">
                          <a:solidFill>
                            <a:schemeClr val="tx1"/>
                          </a:solidFill>
                          <a:latin typeface="BIZ UDPゴシック"/>
                          <a:ea typeface="BIZ UDPゴシック"/>
                          <a:cs typeface="BIZ UDPゴシック"/>
                        </a:rPr>
                        <a:t>・マクロ環境・技術動向（生成AI、データ活用、環境規制等）の調査・分析と戦略への反映</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46373517"/>
                  </a:ext>
                </a:extLst>
              </a:tr>
            </a:tbl>
          </a:graphicData>
        </a:graphic>
      </p:graphicFrame>
    </p:spTree>
    <p:extLst>
      <p:ext uri="{BB962C8B-B14F-4D97-AF65-F5344CB8AC3E}">
        <p14:creationId xmlns:p14="http://schemas.microsoft.com/office/powerpoint/2010/main" val="30948261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547BC-BE16-B65F-B409-26E69E738AFA}"/>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AAFBB263-C439-50F3-272A-C8D4814320E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0A8A59-CBB1-44AC-A780-34AC4DC6CBC2}" type="slidenum">
              <a:rPr kumimoji="1" lang="en-US" altLang="ja-JP" sz="1400" b="0" i="0" u="none" strike="noStrike" kern="1200" cap="none" spc="0" normalizeH="0" baseline="0" noProof="0" smtClean="0">
                <a:ln>
                  <a:noFill/>
                </a:ln>
                <a:solidFill>
                  <a:prstClr val="black"/>
                </a:solidFill>
                <a:effectLst/>
                <a:uLnTx/>
                <a:uFillTx/>
                <a:latin typeface="Arial" panose="020B0604020202020204" pitchFamily="34" charset="0"/>
                <a:ea typeface="ＭＳ Ｐゴシック" panose="020B0600070205080204" pitchFamily="50" charset="-128"/>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1" lang="en-US" altLang="ja-JP" sz="1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50" charset="-128"/>
              <a:cs typeface="Arial" panose="020B0604020202020204" pitchFamily="34" charset="0"/>
            </a:endParaRPr>
          </a:p>
        </p:txBody>
      </p:sp>
      <p:sp>
        <p:nvSpPr>
          <p:cNvPr id="11" name="テキスト ボックス 10">
            <a:extLst>
              <a:ext uri="{FF2B5EF4-FFF2-40B4-BE49-F238E27FC236}">
                <a16:creationId xmlns:a16="http://schemas.microsoft.com/office/drawing/2014/main" id="{BC6381EC-620F-6CC3-D437-70E99C358721}"/>
              </a:ext>
            </a:extLst>
          </p:cNvPr>
          <p:cNvSpPr txBox="1"/>
          <p:nvPr/>
        </p:nvSpPr>
        <p:spPr>
          <a:xfrm>
            <a:off x="334963" y="10399"/>
            <a:ext cx="1086112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1" lang="ja-JP" altLang="en-US" sz="1800" b="0" i="0" u="none" strike="noStrike" kern="1200" cap="none" spc="0" normalizeH="0" baseline="0" noProof="0" dirty="0">
                <a:ln>
                  <a:noFill/>
                </a:ln>
                <a:solidFill>
                  <a:prstClr val="white"/>
                </a:solidFill>
                <a:effectLst/>
                <a:uLnTx/>
                <a:uFillTx/>
                <a:latin typeface="BIZ UDPゴシック" panose="020B0400000000000000" pitchFamily="50" charset="-128"/>
                <a:ea typeface="BIZ UDPゴシック" panose="020B0400000000000000" pitchFamily="50" charset="-128"/>
                <a:cs typeface="Meiryo UI" panose="020B0604030504040204" pitchFamily="50" charset="-128"/>
              </a:rPr>
              <a:t>社内公募 募集要項（DX戦略企画）</a:t>
            </a:r>
          </a:p>
        </p:txBody>
      </p:sp>
      <p:graphicFrame>
        <p:nvGraphicFramePr>
          <p:cNvPr id="7" name="表 6">
            <a:extLst>
              <a:ext uri="{FF2B5EF4-FFF2-40B4-BE49-F238E27FC236}">
                <a16:creationId xmlns:a16="http://schemas.microsoft.com/office/drawing/2014/main" id="{EC8D5E4B-6EA8-E055-0C96-82869BD5E8ED}"/>
              </a:ext>
            </a:extLst>
          </p:cNvPr>
          <p:cNvGraphicFramePr>
            <a:graphicFrameLocks noGrp="1"/>
          </p:cNvGraphicFramePr>
          <p:nvPr>
            <p:extLst>
              <p:ext uri="{D42A27DB-BD31-4B8C-83A1-F6EECF244321}">
                <p14:modId xmlns:p14="http://schemas.microsoft.com/office/powerpoint/2010/main" val="2583341614"/>
              </p:ext>
            </p:extLst>
          </p:nvPr>
        </p:nvGraphicFramePr>
        <p:xfrm>
          <a:off x="334962" y="490603"/>
          <a:ext cx="10403999" cy="2705921"/>
        </p:xfrm>
        <a:graphic>
          <a:graphicData uri="http://schemas.openxmlformats.org/drawingml/2006/table">
            <a:tbl>
              <a:tblPr firstRow="1" bandRow="1">
                <a:tableStyleId>{5C22544A-7EE6-4342-B048-85BDC9FD1C3A}</a:tableStyleId>
              </a:tblPr>
              <a:tblGrid>
                <a:gridCol w="1451635">
                  <a:extLst>
                    <a:ext uri="{9D8B030D-6E8A-4147-A177-3AD203B41FA5}">
                      <a16:colId xmlns:a16="http://schemas.microsoft.com/office/drawing/2014/main" val="1188185547"/>
                    </a:ext>
                  </a:extLst>
                </a:gridCol>
                <a:gridCol w="8952364">
                  <a:extLst>
                    <a:ext uri="{9D8B030D-6E8A-4147-A177-3AD203B41FA5}">
                      <a16:colId xmlns:a16="http://schemas.microsoft.com/office/drawing/2014/main" val="1933953148"/>
                    </a:ext>
                  </a:extLst>
                </a:gridCol>
              </a:tblGrid>
              <a:tr h="318344">
                <a:tc>
                  <a:txBody>
                    <a:bodyPr/>
                    <a:lstStyle/>
                    <a:p>
                      <a:endParaRPr kumimoji="1" lang="ja-JP" altLang="en-US" sz="1050" b="0" dirty="0">
                        <a:solidFill>
                          <a:schemeClr val="tx1"/>
                        </a:solidFill>
                        <a:latin typeface="BIZ UDPゴシック" panose="020B0400000000000000" pitchFamily="50" charset="-128"/>
                        <a:ea typeface="BIZ UDPゴシック" panose="020B0400000000000000" pitchFamily="50" charset="-128"/>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accent6">
                        <a:lumMod val="20000"/>
                        <a:lumOff val="80000"/>
                      </a:schemeClr>
                    </a:solidFill>
                  </a:tcPr>
                </a:tc>
                <a:tc>
                  <a:txBody>
                    <a:bodyPr/>
                    <a:lstStyle/>
                    <a:p>
                      <a:r>
                        <a:rPr kumimoji="1" lang="ja-JP" altLang="en-US" sz="1050" b="0" dirty="0">
                          <a:solidFill>
                            <a:schemeClr val="tx1"/>
                          </a:solidFill>
                          <a:latin typeface="BIZ UDPゴシック" panose="020B0400000000000000" pitchFamily="50" charset="-128"/>
                          <a:ea typeface="BIZ UDPゴシック" panose="020B0400000000000000" pitchFamily="50" charset="-128"/>
                        </a:rPr>
                        <a:t>職務内容</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608969554"/>
                  </a:ext>
                </a:extLst>
              </a:tr>
              <a:tr h="795859">
                <a:tc>
                  <a:txBody>
                    <a:bodyPr/>
                    <a:lstStyle/>
                    <a:p>
                      <a:r>
                        <a:rPr kumimoji="1" lang="ja-JP" altLang="en-US" sz="1200" b="1" dirty="0">
                          <a:solidFill>
                            <a:schemeClr val="tx1"/>
                          </a:solidFill>
                          <a:latin typeface="BIZ UDPゴシック" panose="020B0400000000000000" pitchFamily="50" charset="-128"/>
                          <a:ea typeface="BIZ UDPゴシック" panose="020B0400000000000000" pitchFamily="50" charset="-128"/>
                        </a:rPr>
                        <a:t>管理職</a:t>
                      </a:r>
                      <a:endParaRPr kumimoji="1" lang="en-US" altLang="ja-JP" sz="1200" b="1" dirty="0">
                        <a:solidFill>
                          <a:schemeClr val="tx1"/>
                        </a:solidFill>
                        <a:latin typeface="BIZ UDPゴシック" panose="020B0400000000000000" pitchFamily="50" charset="-128"/>
                        <a:ea typeface="BIZ UDPゴシック" panose="020B0400000000000000" pitchFamily="50" charset="-128"/>
                      </a:endParaRPr>
                    </a:p>
                    <a:p>
                      <a:r>
                        <a:rPr kumimoji="1" lang="ja-JP" altLang="en-US" sz="1200" b="1" dirty="0">
                          <a:solidFill>
                            <a:schemeClr val="tx1"/>
                          </a:solidFill>
                          <a:latin typeface="BIZ UDPゴシック" panose="020B0400000000000000" pitchFamily="50" charset="-128"/>
                          <a:ea typeface="BIZ UDPゴシック" panose="020B0400000000000000" pitchFamily="50" charset="-128"/>
                        </a:rPr>
                        <a:t>（</a:t>
                      </a:r>
                      <a:r>
                        <a:rPr kumimoji="1" lang="en-US" altLang="ja-JP" sz="1200" b="1" dirty="0">
                          <a:solidFill>
                            <a:schemeClr val="tx1"/>
                          </a:solidFill>
                          <a:latin typeface="BIZ UDPゴシック" panose="020B0400000000000000" pitchFamily="50" charset="-128"/>
                          <a:ea typeface="BIZ UDPゴシック" panose="020B0400000000000000" pitchFamily="50" charset="-128"/>
                        </a:rPr>
                        <a:t>E1</a:t>
                      </a:r>
                      <a:r>
                        <a:rPr kumimoji="1" lang="ja-JP" altLang="en-US" sz="1200" b="1" dirty="0">
                          <a:solidFill>
                            <a:schemeClr val="tx1"/>
                          </a:solidFill>
                          <a:latin typeface="BIZ UDPゴシック" panose="020B0400000000000000" pitchFamily="50" charset="-128"/>
                          <a:ea typeface="BIZ UDPゴシック" panose="020B0400000000000000" pitchFamily="50" charset="-128"/>
                        </a:rPr>
                        <a:t>～</a:t>
                      </a:r>
                      <a:r>
                        <a:rPr kumimoji="1" lang="en-US" altLang="ja-JP" sz="1200" b="1" dirty="0">
                          <a:solidFill>
                            <a:schemeClr val="tx1"/>
                          </a:solidFill>
                          <a:latin typeface="BIZ UDPゴシック" panose="020B0400000000000000" pitchFamily="50" charset="-128"/>
                          <a:ea typeface="BIZ UDPゴシック" panose="020B0400000000000000" pitchFamily="50" charset="-128"/>
                        </a:rPr>
                        <a:t>E2</a:t>
                      </a:r>
                      <a:r>
                        <a:rPr kumimoji="1" lang="ja-JP" altLang="en-US" sz="1200" b="1" dirty="0">
                          <a:solidFill>
                            <a:schemeClr val="tx1"/>
                          </a:solidFill>
                          <a:latin typeface="BIZ UDPゴシック" panose="020B0400000000000000" pitchFamily="50" charset="-128"/>
                          <a:ea typeface="BIZ UDPゴシック" panose="020B0400000000000000" pitchFamily="50" charset="-128"/>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accent6">
                        <a:lumMod val="20000"/>
                        <a:lumOff val="80000"/>
                      </a:schemeClr>
                    </a:solidFill>
                  </a:tcPr>
                </a:tc>
                <a:tc>
                  <a:txBody>
                    <a:bodyPr/>
                    <a:lstStyle/>
                    <a:p>
                      <a:r>
                        <a:rPr lang="ja-JP" altLang="en-US" sz="950">
                          <a:solidFill>
                            <a:schemeClr val="tx1"/>
                          </a:solidFill>
                          <a:latin typeface="BIZ UDPゴシック"/>
                          <a:ea typeface="BIZ UDPゴシック"/>
                          <a:cs typeface="BIZ UDPゴシック"/>
                        </a:rPr>
                        <a:t>・全社DX戦略およびDX13テーマの戦略策定・推進を統括し、部所の重要課題を設定して実行・解決を完遂する</a:t>
                      </a:r>
                    </a:p>
                    <a:p>
                      <a:r>
                        <a:rPr lang="ja-JP" altLang="en-US" sz="950">
                          <a:solidFill>
                            <a:schemeClr val="tx1"/>
                          </a:solidFill>
                          <a:latin typeface="BIZ UDPゴシック"/>
                          <a:ea typeface="BIZ UDPゴシック"/>
                          <a:cs typeface="BIZ UDPゴシック"/>
                        </a:rPr>
                        <a:t>・複数テーマ・プロジェクトの計画策定、進捗・リスク・品質・予算管理を主導し、経営層への提言・合意形成を担う</a:t>
                      </a:r>
                    </a:p>
                    <a:p>
                      <a:r>
                        <a:rPr lang="ja-JP" altLang="en-US" sz="950">
                          <a:solidFill>
                            <a:schemeClr val="tx1"/>
                          </a:solidFill>
                          <a:latin typeface="BIZ UDPゴシック"/>
                          <a:ea typeface="BIZ UDPゴシック"/>
                          <a:cs typeface="BIZ UDPゴシック"/>
                        </a:rPr>
                        <a:t>・部門横断の課題解決・ソリューション開発を牽引し、メンバーの育成と組織風土醸成、外部パートナーとの連携・交渉を行う</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79518308"/>
                  </a:ext>
                </a:extLst>
              </a:tr>
              <a:tr h="795859">
                <a:tc>
                  <a:txBody>
                    <a:bodyPr/>
                    <a:lstStyle/>
                    <a:p>
                      <a:r>
                        <a:rPr kumimoji="1" lang="ja-JP" altLang="en-US" sz="1200" b="1" dirty="0">
                          <a:solidFill>
                            <a:schemeClr val="tx1"/>
                          </a:solidFill>
                          <a:latin typeface="BIZ UDPゴシック" panose="020B0400000000000000" pitchFamily="50" charset="-128"/>
                          <a:ea typeface="BIZ UDPゴシック" panose="020B0400000000000000" pitchFamily="50" charset="-128"/>
                        </a:rPr>
                        <a:t>上級</a:t>
                      </a:r>
                      <a:r>
                        <a:rPr kumimoji="1" lang="en-US" altLang="ja-JP" sz="1200" b="1" dirty="0">
                          <a:solidFill>
                            <a:schemeClr val="tx1"/>
                          </a:solidFill>
                          <a:latin typeface="BIZ UDPゴシック" panose="020B0400000000000000" pitchFamily="50" charset="-128"/>
                          <a:ea typeface="BIZ UDPゴシック" panose="020B0400000000000000" pitchFamily="50" charset="-128"/>
                        </a:rPr>
                        <a:t>S</a:t>
                      </a:r>
                    </a:p>
                    <a:p>
                      <a:r>
                        <a:rPr kumimoji="1" lang="ja-JP" altLang="en-US" sz="1200" b="1" dirty="0">
                          <a:solidFill>
                            <a:schemeClr val="tx1"/>
                          </a:solidFill>
                          <a:latin typeface="BIZ UDPゴシック" panose="020B0400000000000000" pitchFamily="50" charset="-128"/>
                          <a:ea typeface="BIZ UDPゴシック" panose="020B0400000000000000" pitchFamily="50" charset="-128"/>
                        </a:rPr>
                        <a:t>（</a:t>
                      </a:r>
                      <a:r>
                        <a:rPr kumimoji="1" lang="en-US" altLang="ja-JP" sz="1200" b="1" dirty="0">
                          <a:solidFill>
                            <a:schemeClr val="tx1"/>
                          </a:solidFill>
                          <a:latin typeface="BIZ UDPゴシック" panose="020B0400000000000000" pitchFamily="50" charset="-128"/>
                          <a:ea typeface="BIZ UDPゴシック" panose="020B0400000000000000" pitchFamily="50" charset="-128"/>
                        </a:rPr>
                        <a:t>S3</a:t>
                      </a:r>
                      <a:r>
                        <a:rPr kumimoji="1" lang="ja-JP" altLang="en-US" sz="1200" b="1" dirty="0">
                          <a:solidFill>
                            <a:schemeClr val="tx1"/>
                          </a:solidFill>
                          <a:latin typeface="BIZ UDPゴシック" panose="020B0400000000000000" pitchFamily="50" charset="-128"/>
                          <a:ea typeface="BIZ UDPゴシック" panose="020B0400000000000000" pitchFamily="50" charset="-128"/>
                        </a:rPr>
                        <a:t>～</a:t>
                      </a:r>
                      <a:r>
                        <a:rPr kumimoji="1" lang="en-US" altLang="ja-JP" sz="1200" b="1" dirty="0">
                          <a:solidFill>
                            <a:schemeClr val="tx1"/>
                          </a:solidFill>
                          <a:latin typeface="BIZ UDPゴシック" panose="020B0400000000000000" pitchFamily="50" charset="-128"/>
                          <a:ea typeface="BIZ UDPゴシック" panose="020B0400000000000000" pitchFamily="50" charset="-128"/>
                        </a:rPr>
                        <a:t>S</a:t>
                      </a:r>
                      <a:r>
                        <a:rPr kumimoji="1" lang="ja-JP" altLang="en-US" sz="1200" b="1" dirty="0">
                          <a:solidFill>
                            <a:schemeClr val="tx1"/>
                          </a:solidFill>
                          <a:latin typeface="BIZ UDPゴシック" panose="020B0400000000000000" pitchFamily="50" charset="-128"/>
                          <a:ea typeface="BIZ UDPゴシック" panose="020B0400000000000000" pitchFamily="50" charset="-128"/>
                        </a:rPr>
                        <a:t>４）</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accent6">
                        <a:lumMod val="20000"/>
                        <a:lumOff val="80000"/>
                      </a:schemeClr>
                    </a:solidFill>
                  </a:tcPr>
                </a:tc>
                <a:tc>
                  <a:txBody>
                    <a:bodyPr/>
                    <a:lstStyle/>
                    <a:p>
                      <a:r>
                        <a:rPr lang="ja-JP" altLang="en-US" sz="950">
                          <a:solidFill>
                            <a:schemeClr val="tx1"/>
                          </a:solidFill>
                          <a:latin typeface="BIZ UDPゴシック"/>
                          <a:ea typeface="BIZ UDPゴシック"/>
                          <a:cs typeface="BIZ UDPゴシック"/>
                        </a:rPr>
                        <a:t>・担当するDXテーマの企画立案と実行推進の中核として、プロジェクト計画の策定、進捗・リスク管理、関係部門との調整・合意形成を自らの判断を交えて推進する</a:t>
                      </a:r>
                    </a:p>
                    <a:p>
                      <a:r>
                        <a:rPr lang="ja-JP" altLang="en-US" sz="950">
                          <a:solidFill>
                            <a:schemeClr val="tx1"/>
                          </a:solidFill>
                          <a:latin typeface="BIZ UDPゴシック"/>
                          <a:ea typeface="BIZ UDPゴシック"/>
                          <a:cs typeface="BIZ UDPゴシック"/>
                        </a:rPr>
                        <a:t>・データや調査に基づく課題の構造化・施策立案を行い、新規性や重要度の高い非定型業務に挑戦するとともに、下位者への助言・支援（OJT）を担う</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47875755"/>
                  </a:ext>
                </a:extLst>
              </a:tr>
              <a:tr h="795859">
                <a:tc>
                  <a:txBody>
                    <a:bodyPr/>
                    <a:lstStyle/>
                    <a:p>
                      <a:r>
                        <a:rPr kumimoji="1" lang="ja-JP" altLang="en-US" sz="1200" b="1" dirty="0">
                          <a:solidFill>
                            <a:schemeClr val="tx1"/>
                          </a:solidFill>
                          <a:latin typeface="BIZ UDPゴシック" panose="020B0400000000000000" pitchFamily="50" charset="-128"/>
                          <a:ea typeface="BIZ UDPゴシック" panose="020B0400000000000000" pitchFamily="50" charset="-128"/>
                        </a:rPr>
                        <a:t>初級</a:t>
                      </a:r>
                      <a:r>
                        <a:rPr kumimoji="1" lang="en-US" altLang="ja-JP" sz="1200" b="1" dirty="0">
                          <a:solidFill>
                            <a:schemeClr val="tx1"/>
                          </a:solidFill>
                          <a:latin typeface="BIZ UDPゴシック" panose="020B0400000000000000" pitchFamily="50" charset="-128"/>
                          <a:ea typeface="BIZ UDPゴシック" panose="020B0400000000000000" pitchFamily="50" charset="-128"/>
                        </a:rPr>
                        <a:t>S</a:t>
                      </a:r>
                    </a:p>
                    <a:p>
                      <a:r>
                        <a:rPr kumimoji="1" lang="ja-JP" altLang="en-US" sz="1200" b="1" dirty="0">
                          <a:solidFill>
                            <a:schemeClr val="tx1"/>
                          </a:solidFill>
                          <a:latin typeface="BIZ UDPゴシック" panose="020B0400000000000000" pitchFamily="50" charset="-128"/>
                          <a:ea typeface="BIZ UDPゴシック" panose="020B0400000000000000" pitchFamily="50" charset="-128"/>
                        </a:rPr>
                        <a:t>（</a:t>
                      </a:r>
                      <a:r>
                        <a:rPr kumimoji="1" lang="en-US" altLang="ja-JP" sz="1200" b="1" dirty="0">
                          <a:solidFill>
                            <a:schemeClr val="tx1"/>
                          </a:solidFill>
                          <a:latin typeface="BIZ UDPゴシック" panose="020B0400000000000000" pitchFamily="50" charset="-128"/>
                          <a:ea typeface="BIZ UDPゴシック" panose="020B0400000000000000" pitchFamily="50" charset="-128"/>
                        </a:rPr>
                        <a:t>S1</a:t>
                      </a:r>
                      <a:r>
                        <a:rPr kumimoji="1" lang="ja-JP" altLang="en-US" sz="1200" b="1" dirty="0">
                          <a:solidFill>
                            <a:schemeClr val="tx1"/>
                          </a:solidFill>
                          <a:latin typeface="BIZ UDPゴシック" panose="020B0400000000000000" pitchFamily="50" charset="-128"/>
                          <a:ea typeface="BIZ UDPゴシック" panose="020B0400000000000000" pitchFamily="50" charset="-128"/>
                        </a:rPr>
                        <a:t>～</a:t>
                      </a:r>
                      <a:r>
                        <a:rPr kumimoji="1" lang="en-US" altLang="ja-JP" sz="1200" b="1" dirty="0">
                          <a:solidFill>
                            <a:schemeClr val="tx1"/>
                          </a:solidFill>
                          <a:latin typeface="BIZ UDPゴシック" panose="020B0400000000000000" pitchFamily="50" charset="-128"/>
                          <a:ea typeface="BIZ UDPゴシック" panose="020B0400000000000000" pitchFamily="50" charset="-128"/>
                        </a:rPr>
                        <a:t>S2</a:t>
                      </a:r>
                      <a:r>
                        <a:rPr kumimoji="1" lang="ja-JP" altLang="en-US" sz="1200" b="1" dirty="0">
                          <a:solidFill>
                            <a:schemeClr val="tx1"/>
                          </a:solidFill>
                          <a:latin typeface="BIZ UDPゴシック" panose="020B0400000000000000" pitchFamily="50" charset="-128"/>
                          <a:ea typeface="BIZ UDPゴシック" panose="020B0400000000000000" pitchFamily="50" charset="-128"/>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accent6">
                        <a:lumMod val="20000"/>
                        <a:lumOff val="80000"/>
                      </a:schemeClr>
                    </a:solidFill>
                  </a:tcPr>
                </a:tc>
                <a:tc>
                  <a:txBody>
                    <a:bodyPr/>
                    <a:lstStyle/>
                    <a:p>
                      <a:r>
                        <a:rPr lang="ja-JP" altLang="en-US" sz="950">
                          <a:solidFill>
                            <a:schemeClr val="tx1"/>
                          </a:solidFill>
                          <a:latin typeface="BIZ UDPゴシック"/>
                          <a:ea typeface="BIZ UDPゴシック"/>
                          <a:cs typeface="BIZ UDPゴシック"/>
                        </a:rPr>
                        <a:t>・上位者の指示・指導のもと、DX戦略企画の実務（市場・技術動向の調査・分析、資料作成、会議体運営、プロジェクトの進捗管理サポート等）を担当する</a:t>
                      </a:r>
                    </a:p>
                    <a:p>
                      <a:r>
                        <a:rPr lang="ja-JP" altLang="en-US" sz="950">
                          <a:solidFill>
                            <a:schemeClr val="tx1"/>
                          </a:solidFill>
                          <a:latin typeface="BIZ UDPゴシック"/>
                          <a:ea typeface="BIZ UDPゴシック"/>
                          <a:cs typeface="BIZ UDPゴシック"/>
                        </a:rPr>
                        <a:t>・研修（LCV必修講座等）とOJTを通じて、企画・推進業務の基礎とデジタルスキルを段階的に習得する（未経験者歓迎）</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46373517"/>
                  </a:ext>
                </a:extLst>
              </a:tr>
            </a:tbl>
          </a:graphicData>
        </a:graphic>
      </p:graphicFrame>
      <p:graphicFrame>
        <p:nvGraphicFramePr>
          <p:cNvPr id="4" name="表 3">
            <a:extLst>
              <a:ext uri="{FF2B5EF4-FFF2-40B4-BE49-F238E27FC236}">
                <a16:creationId xmlns:a16="http://schemas.microsoft.com/office/drawing/2014/main" id="{03FB0DD4-4D66-98A7-D0B3-BF152B4B5FE2}"/>
              </a:ext>
            </a:extLst>
          </p:cNvPr>
          <p:cNvGraphicFramePr>
            <a:graphicFrameLocks noGrp="1"/>
          </p:cNvGraphicFramePr>
          <p:nvPr>
            <p:extLst>
              <p:ext uri="{D42A27DB-BD31-4B8C-83A1-F6EECF244321}">
                <p14:modId xmlns:p14="http://schemas.microsoft.com/office/powerpoint/2010/main" val="3717952338"/>
              </p:ext>
            </p:extLst>
          </p:nvPr>
        </p:nvGraphicFramePr>
        <p:xfrm>
          <a:off x="334962" y="3429001"/>
          <a:ext cx="10403998" cy="2017161"/>
        </p:xfrm>
        <a:graphic>
          <a:graphicData uri="http://schemas.openxmlformats.org/drawingml/2006/table">
            <a:tbl>
              <a:tblPr firstRow="1" bandRow="1">
                <a:tableStyleId>{5C22544A-7EE6-4342-B048-85BDC9FD1C3A}</a:tableStyleId>
              </a:tblPr>
              <a:tblGrid>
                <a:gridCol w="1451634">
                  <a:extLst>
                    <a:ext uri="{9D8B030D-6E8A-4147-A177-3AD203B41FA5}">
                      <a16:colId xmlns:a16="http://schemas.microsoft.com/office/drawing/2014/main" val="1188185547"/>
                    </a:ext>
                  </a:extLst>
                </a:gridCol>
                <a:gridCol w="8952364">
                  <a:extLst>
                    <a:ext uri="{9D8B030D-6E8A-4147-A177-3AD203B41FA5}">
                      <a16:colId xmlns:a16="http://schemas.microsoft.com/office/drawing/2014/main" val="3580973632"/>
                    </a:ext>
                  </a:extLst>
                </a:gridCol>
              </a:tblGrid>
              <a:tr h="235427">
                <a:tc>
                  <a:txBody>
                    <a:bodyPr/>
                    <a:lstStyle/>
                    <a:p>
                      <a:endParaRPr kumimoji="1" lang="ja-JP" altLang="en-US" sz="1050" b="0" dirty="0">
                        <a:solidFill>
                          <a:schemeClr val="tx1"/>
                        </a:solidFill>
                        <a:latin typeface="BIZ UDPゴシック" panose="020B0400000000000000" pitchFamily="50" charset="-128"/>
                        <a:ea typeface="BIZ UDPゴシック" panose="020B0400000000000000" pitchFamily="50" charset="-128"/>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accent6">
                        <a:lumMod val="20000"/>
                        <a:lumOff val="80000"/>
                      </a:schemeClr>
                    </a:solidFill>
                  </a:tcPr>
                </a:tc>
                <a:tc>
                  <a:txBody>
                    <a:bodyPr/>
                    <a:lstStyle/>
                    <a:p>
                      <a:r>
                        <a:rPr kumimoji="1" lang="ja-JP" altLang="en-US" sz="1050" b="0" dirty="0">
                          <a:solidFill>
                            <a:schemeClr val="tx1"/>
                          </a:solidFill>
                          <a:latin typeface="BIZ UDPゴシック" panose="020B0400000000000000" pitchFamily="50" charset="-128"/>
                          <a:ea typeface="BIZ UDPゴシック" panose="020B0400000000000000" pitchFamily="50" charset="-128"/>
                        </a:rPr>
                        <a:t>担う役割</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608969554"/>
                  </a:ext>
                </a:extLst>
              </a:tr>
              <a:tr h="588567">
                <a:tc>
                  <a:txBody>
                    <a:bodyPr/>
                    <a:lstStyle/>
                    <a:p>
                      <a:r>
                        <a:rPr kumimoji="1" lang="ja-JP" altLang="en-US" sz="1200" b="1" dirty="0">
                          <a:solidFill>
                            <a:schemeClr val="tx1"/>
                          </a:solidFill>
                          <a:latin typeface="BIZ UDPゴシック" panose="020B0400000000000000" pitchFamily="50" charset="-128"/>
                          <a:ea typeface="BIZ UDPゴシック" panose="020B0400000000000000" pitchFamily="50" charset="-128"/>
                        </a:rPr>
                        <a:t>管理職</a:t>
                      </a:r>
                      <a:endParaRPr kumimoji="1" lang="en-US" altLang="ja-JP" sz="1200" b="1" dirty="0">
                        <a:solidFill>
                          <a:schemeClr val="tx1"/>
                        </a:solidFill>
                        <a:latin typeface="BIZ UDPゴシック" panose="020B0400000000000000" pitchFamily="50" charset="-128"/>
                        <a:ea typeface="BIZ UDPゴシック" panose="020B0400000000000000" pitchFamily="50" charset="-128"/>
                      </a:endParaRPr>
                    </a:p>
                    <a:p>
                      <a:r>
                        <a:rPr kumimoji="1" lang="ja-JP" altLang="en-US" sz="1200" b="1" dirty="0">
                          <a:solidFill>
                            <a:schemeClr val="tx1"/>
                          </a:solidFill>
                          <a:latin typeface="BIZ UDPゴシック" panose="020B0400000000000000" pitchFamily="50" charset="-128"/>
                          <a:ea typeface="BIZ UDPゴシック" panose="020B0400000000000000" pitchFamily="50" charset="-128"/>
                        </a:rPr>
                        <a:t>（</a:t>
                      </a:r>
                      <a:r>
                        <a:rPr kumimoji="1" lang="en-US" altLang="ja-JP" sz="1200" b="1" dirty="0">
                          <a:solidFill>
                            <a:schemeClr val="tx1"/>
                          </a:solidFill>
                          <a:latin typeface="BIZ UDPゴシック" panose="020B0400000000000000" pitchFamily="50" charset="-128"/>
                          <a:ea typeface="BIZ UDPゴシック" panose="020B0400000000000000" pitchFamily="50" charset="-128"/>
                        </a:rPr>
                        <a:t>E1</a:t>
                      </a:r>
                      <a:r>
                        <a:rPr kumimoji="1" lang="ja-JP" altLang="en-US" sz="1200" b="1" dirty="0">
                          <a:solidFill>
                            <a:schemeClr val="tx1"/>
                          </a:solidFill>
                          <a:latin typeface="BIZ UDPゴシック" panose="020B0400000000000000" pitchFamily="50" charset="-128"/>
                          <a:ea typeface="BIZ UDPゴシック" panose="020B0400000000000000" pitchFamily="50" charset="-128"/>
                        </a:rPr>
                        <a:t>～</a:t>
                      </a:r>
                      <a:r>
                        <a:rPr kumimoji="1" lang="en-US" altLang="ja-JP" sz="1200" b="1" dirty="0">
                          <a:solidFill>
                            <a:schemeClr val="tx1"/>
                          </a:solidFill>
                          <a:latin typeface="BIZ UDPゴシック" panose="020B0400000000000000" pitchFamily="50" charset="-128"/>
                          <a:ea typeface="BIZ UDPゴシック" panose="020B0400000000000000" pitchFamily="50" charset="-128"/>
                        </a:rPr>
                        <a:t>E2</a:t>
                      </a:r>
                      <a:r>
                        <a:rPr kumimoji="1" lang="ja-JP" altLang="en-US" sz="1200" b="1" dirty="0">
                          <a:solidFill>
                            <a:schemeClr val="tx1"/>
                          </a:solidFill>
                          <a:latin typeface="BIZ UDPゴシック" panose="020B0400000000000000" pitchFamily="50" charset="-128"/>
                          <a:ea typeface="BIZ UDPゴシック" panose="020B0400000000000000" pitchFamily="50" charset="-128"/>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accent6">
                        <a:lumMod val="20000"/>
                        <a:lumOff val="80000"/>
                      </a:schemeClr>
                    </a:solidFill>
                  </a:tcPr>
                </a:tc>
                <a:tc>
                  <a:txBody>
                    <a:bodyPr/>
                    <a:lstStyle/>
                    <a:p>
                      <a:r>
                        <a:rPr lang="ja-JP" altLang="en-US" sz="950">
                          <a:solidFill>
                            <a:schemeClr val="tx1"/>
                          </a:solidFill>
                          <a:latin typeface="BIZ UDPゴシック"/>
                          <a:ea typeface="BIZ UDPゴシック"/>
                          <a:cs typeface="BIZ UDPゴシック"/>
                        </a:rPr>
                        <a:t>・専門性を用いて部所の重要課題を設定し、実行・解決を完遂する責任を持つ（E等級役割定義書に基づく）</a:t>
                      </a:r>
                    </a:p>
                    <a:p>
                      <a:r>
                        <a:rPr lang="ja-JP" altLang="en-US" sz="950">
                          <a:solidFill>
                            <a:schemeClr val="tx1"/>
                          </a:solidFill>
                          <a:latin typeface="BIZ UDPゴシック"/>
                          <a:ea typeface="BIZ UDPゴシック"/>
                          <a:cs typeface="BIZ UDPゴシック"/>
                        </a:rPr>
                        <a:t>・プロジェクトマネージャー／デジタルナビゲーターとして複数の業務・プロジェクトを計画的・高品質に牽引し、組織の付加価値向上と人材育成・組織風土醸成、部門横断の連携を主導する</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79518308"/>
                  </a:ext>
                </a:extLst>
              </a:tr>
              <a:tr h="588567">
                <a:tc>
                  <a:txBody>
                    <a:bodyPr/>
                    <a:lstStyle/>
                    <a:p>
                      <a:r>
                        <a:rPr kumimoji="1" lang="ja-JP" altLang="en-US" sz="1200" b="1" dirty="0">
                          <a:solidFill>
                            <a:schemeClr val="tx1"/>
                          </a:solidFill>
                          <a:latin typeface="BIZ UDPゴシック" panose="020B0400000000000000" pitchFamily="50" charset="-128"/>
                          <a:ea typeface="BIZ UDPゴシック" panose="020B0400000000000000" pitchFamily="50" charset="-128"/>
                        </a:rPr>
                        <a:t>上級</a:t>
                      </a:r>
                      <a:r>
                        <a:rPr kumimoji="1" lang="en-US" altLang="ja-JP" sz="1200" b="1" dirty="0">
                          <a:solidFill>
                            <a:schemeClr val="tx1"/>
                          </a:solidFill>
                          <a:latin typeface="BIZ UDPゴシック" panose="020B0400000000000000" pitchFamily="50" charset="-128"/>
                          <a:ea typeface="BIZ UDPゴシック" panose="020B0400000000000000" pitchFamily="50" charset="-128"/>
                        </a:rPr>
                        <a:t>S</a:t>
                      </a:r>
                    </a:p>
                    <a:p>
                      <a:r>
                        <a:rPr kumimoji="1" lang="ja-JP" altLang="en-US" sz="1200" b="1" dirty="0">
                          <a:solidFill>
                            <a:schemeClr val="tx1"/>
                          </a:solidFill>
                          <a:latin typeface="BIZ UDPゴシック" panose="020B0400000000000000" pitchFamily="50" charset="-128"/>
                          <a:ea typeface="BIZ UDPゴシック" panose="020B0400000000000000" pitchFamily="50" charset="-128"/>
                        </a:rPr>
                        <a:t>（</a:t>
                      </a:r>
                      <a:r>
                        <a:rPr kumimoji="1" lang="en-US" altLang="ja-JP" sz="1200" b="1" dirty="0">
                          <a:solidFill>
                            <a:schemeClr val="tx1"/>
                          </a:solidFill>
                          <a:latin typeface="BIZ UDPゴシック" panose="020B0400000000000000" pitchFamily="50" charset="-128"/>
                          <a:ea typeface="BIZ UDPゴシック" panose="020B0400000000000000" pitchFamily="50" charset="-128"/>
                        </a:rPr>
                        <a:t>S3</a:t>
                      </a:r>
                      <a:r>
                        <a:rPr kumimoji="1" lang="ja-JP" altLang="en-US" sz="1200" b="1" dirty="0">
                          <a:solidFill>
                            <a:schemeClr val="tx1"/>
                          </a:solidFill>
                          <a:latin typeface="BIZ UDPゴシック" panose="020B0400000000000000" pitchFamily="50" charset="-128"/>
                          <a:ea typeface="BIZ UDPゴシック" panose="020B0400000000000000" pitchFamily="50" charset="-128"/>
                        </a:rPr>
                        <a:t>～</a:t>
                      </a:r>
                      <a:r>
                        <a:rPr kumimoji="1" lang="en-US" altLang="ja-JP" sz="1200" b="1" dirty="0">
                          <a:solidFill>
                            <a:schemeClr val="tx1"/>
                          </a:solidFill>
                          <a:latin typeface="BIZ UDPゴシック" panose="020B0400000000000000" pitchFamily="50" charset="-128"/>
                          <a:ea typeface="BIZ UDPゴシック" panose="020B0400000000000000" pitchFamily="50" charset="-128"/>
                        </a:rPr>
                        <a:t>S</a:t>
                      </a:r>
                      <a:r>
                        <a:rPr kumimoji="1" lang="ja-JP" altLang="en-US" sz="1200" b="1" dirty="0">
                          <a:solidFill>
                            <a:schemeClr val="tx1"/>
                          </a:solidFill>
                          <a:latin typeface="BIZ UDPゴシック" panose="020B0400000000000000" pitchFamily="50" charset="-128"/>
                          <a:ea typeface="BIZ UDPゴシック" panose="020B0400000000000000" pitchFamily="50" charset="-128"/>
                        </a:rPr>
                        <a:t>４）</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accent6">
                        <a:lumMod val="20000"/>
                        <a:lumOff val="80000"/>
                      </a:schemeClr>
                    </a:solidFill>
                  </a:tcPr>
                </a:tc>
                <a:tc>
                  <a:txBody>
                    <a:bodyPr/>
                    <a:lstStyle/>
                    <a:p>
                      <a:r>
                        <a:rPr lang="ja-JP" altLang="en-US" sz="950">
                          <a:solidFill>
                            <a:schemeClr val="tx1"/>
                          </a:solidFill>
                          <a:latin typeface="BIZ UDPゴシック"/>
                          <a:ea typeface="BIZ UDPゴシック"/>
                          <a:cs typeface="BIZ UDPゴシック"/>
                        </a:rPr>
                        <a:t>・新規や重要業務など非定型業務（S3）、組織内の非定型業務の複数併行完遂と周囲の支援（S4）を担い、自らの判断を交えて業務を推進して部所の目標達成に貢献する</a:t>
                      </a:r>
                    </a:p>
                    <a:p>
                      <a:r>
                        <a:rPr lang="ja-JP" altLang="en-US" sz="950">
                          <a:solidFill>
                            <a:schemeClr val="tx1"/>
                          </a:solidFill>
                          <a:latin typeface="BIZ UDPゴシック"/>
                          <a:ea typeface="BIZ UDPゴシック"/>
                          <a:cs typeface="BIZ UDPゴシック"/>
                        </a:rPr>
                        <a:t>・下位者へのOJT・助言、他部所との連携・情報交換、サステナビリティ活動の推進を担う</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47875755"/>
                  </a:ext>
                </a:extLst>
              </a:tr>
              <a:tr h="588567">
                <a:tc>
                  <a:txBody>
                    <a:bodyPr/>
                    <a:lstStyle/>
                    <a:p>
                      <a:r>
                        <a:rPr kumimoji="1" lang="ja-JP" altLang="en-US" sz="1200" b="1" dirty="0">
                          <a:solidFill>
                            <a:schemeClr val="tx1"/>
                          </a:solidFill>
                          <a:latin typeface="BIZ UDPゴシック" panose="020B0400000000000000" pitchFamily="50" charset="-128"/>
                          <a:ea typeface="BIZ UDPゴシック" panose="020B0400000000000000" pitchFamily="50" charset="-128"/>
                        </a:rPr>
                        <a:t>初級</a:t>
                      </a:r>
                      <a:r>
                        <a:rPr kumimoji="1" lang="en-US" altLang="ja-JP" sz="1200" b="1" dirty="0">
                          <a:solidFill>
                            <a:schemeClr val="tx1"/>
                          </a:solidFill>
                          <a:latin typeface="BIZ UDPゴシック" panose="020B0400000000000000" pitchFamily="50" charset="-128"/>
                          <a:ea typeface="BIZ UDPゴシック" panose="020B0400000000000000" pitchFamily="50" charset="-128"/>
                        </a:rPr>
                        <a:t>S</a:t>
                      </a:r>
                    </a:p>
                    <a:p>
                      <a:r>
                        <a:rPr kumimoji="1" lang="ja-JP" altLang="en-US" sz="1200" b="1" dirty="0">
                          <a:solidFill>
                            <a:schemeClr val="tx1"/>
                          </a:solidFill>
                          <a:latin typeface="BIZ UDPゴシック" panose="020B0400000000000000" pitchFamily="50" charset="-128"/>
                          <a:ea typeface="BIZ UDPゴシック" panose="020B0400000000000000" pitchFamily="50" charset="-128"/>
                        </a:rPr>
                        <a:t>（</a:t>
                      </a:r>
                      <a:r>
                        <a:rPr kumimoji="1" lang="en-US" altLang="ja-JP" sz="1200" b="1" dirty="0">
                          <a:solidFill>
                            <a:schemeClr val="tx1"/>
                          </a:solidFill>
                          <a:latin typeface="BIZ UDPゴシック" panose="020B0400000000000000" pitchFamily="50" charset="-128"/>
                          <a:ea typeface="BIZ UDPゴシック" panose="020B0400000000000000" pitchFamily="50" charset="-128"/>
                        </a:rPr>
                        <a:t>S1</a:t>
                      </a:r>
                      <a:r>
                        <a:rPr kumimoji="1" lang="ja-JP" altLang="en-US" sz="1200" b="1" dirty="0">
                          <a:solidFill>
                            <a:schemeClr val="tx1"/>
                          </a:solidFill>
                          <a:latin typeface="BIZ UDPゴシック" panose="020B0400000000000000" pitchFamily="50" charset="-128"/>
                          <a:ea typeface="BIZ UDPゴシック" panose="020B0400000000000000" pitchFamily="50" charset="-128"/>
                        </a:rPr>
                        <a:t>～</a:t>
                      </a:r>
                      <a:r>
                        <a:rPr kumimoji="1" lang="en-US" altLang="ja-JP" sz="1200" b="1" dirty="0">
                          <a:solidFill>
                            <a:schemeClr val="tx1"/>
                          </a:solidFill>
                          <a:latin typeface="BIZ UDPゴシック" panose="020B0400000000000000" pitchFamily="50" charset="-128"/>
                          <a:ea typeface="BIZ UDPゴシック" panose="020B0400000000000000" pitchFamily="50" charset="-128"/>
                        </a:rPr>
                        <a:t>S2</a:t>
                      </a:r>
                      <a:r>
                        <a:rPr kumimoji="1" lang="ja-JP" altLang="en-US" sz="1200" b="1" dirty="0">
                          <a:solidFill>
                            <a:schemeClr val="tx1"/>
                          </a:solidFill>
                          <a:latin typeface="BIZ UDPゴシック" panose="020B0400000000000000" pitchFamily="50" charset="-128"/>
                          <a:ea typeface="BIZ UDPゴシック" panose="020B0400000000000000" pitchFamily="50" charset="-128"/>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accent6">
                        <a:lumMod val="20000"/>
                        <a:lumOff val="80000"/>
                      </a:schemeClr>
                    </a:solidFill>
                  </a:tcPr>
                </a:tc>
                <a:tc>
                  <a:txBody>
                    <a:bodyPr/>
                    <a:lstStyle/>
                    <a:p>
                      <a:r>
                        <a:rPr lang="ja-JP" altLang="en-US" sz="950">
                          <a:solidFill>
                            <a:schemeClr val="tx1"/>
                          </a:solidFill>
                          <a:latin typeface="BIZ UDPゴシック"/>
                          <a:ea typeface="BIZ UDPゴシック"/>
                          <a:cs typeface="BIZ UDPゴシック"/>
                        </a:rPr>
                        <a:t>・指示された業務（S1）・任された業務（S2）を確実に完遂し、個別集団レベルの目標達成に貢献する</a:t>
                      </a:r>
                    </a:p>
                    <a:p>
                      <a:r>
                        <a:rPr lang="ja-JP" altLang="en-US" sz="950">
                          <a:solidFill>
                            <a:schemeClr val="tx1"/>
                          </a:solidFill>
                          <a:latin typeface="BIZ UDPゴシック"/>
                          <a:ea typeface="BIZ UDPゴシック"/>
                          <a:cs typeface="BIZ UDPゴシック"/>
                        </a:rPr>
                        <a:t>・上位者のサポートを受けながら調査・分析・運営等の業務を正確に遂行し、スキルと経験を蓄積する</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46373517"/>
                  </a:ext>
                </a:extLst>
              </a:tr>
            </a:tbl>
          </a:graphicData>
        </a:graphic>
      </p:graphicFrame>
    </p:spTree>
    <p:extLst>
      <p:ext uri="{BB962C8B-B14F-4D97-AF65-F5344CB8AC3E}">
        <p14:creationId xmlns:p14="http://schemas.microsoft.com/office/powerpoint/2010/main" val="3578000911"/>
      </p:ext>
    </p:extLst>
  </p:cSld>
  <p:clrMapOvr>
    <a:masterClrMapping/>
  </p:clrMapOvr>
</p:sld>
</file>

<file path=ppt/theme/theme1.xml><?xml version="1.0" encoding="utf-8"?>
<a:theme xmlns:a="http://schemas.openxmlformats.org/drawingml/2006/main" name="10_標準デザイン">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lumMod val="20000"/>
            <a:lumOff val="80000"/>
          </a:schemeClr>
        </a:solidFill>
        <a:ln>
          <a:noFill/>
        </a:ln>
      </a:spPr>
      <a:bodyPr rtlCol="0" anchor="ctr"/>
      <a:lstStyle>
        <a:defPPr algn="ctr">
          <a:defRPr kumimoji="1" sz="1200" dirty="0">
            <a:latin typeface="BIZ UDPゴシック" panose="020B0400000000000000" pitchFamily="50" charset="-128"/>
            <a:ea typeface="BIZ UDPゴシック" panose="020B0400000000000000" pitchFamily="50" charset="-128"/>
          </a:defRPr>
        </a:defPPr>
      </a:lstStyle>
      <a:style>
        <a:lnRef idx="1">
          <a:schemeClr val="accent1"/>
        </a:lnRef>
        <a:fillRef idx="0">
          <a:schemeClr val="accent1"/>
        </a:fillRef>
        <a:effectRef idx="0">
          <a:schemeClr val="accent1"/>
        </a:effectRef>
        <a:fontRef idx="minor">
          <a:schemeClr val="tx1"/>
        </a:fontRef>
      </a:style>
    </a:spDef>
    <a:txDef>
      <a:spPr bwMode="auto">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noAutofit/>
      </a:bodyPr>
      <a:lstStyle>
        <a:defPPr>
          <a:defRPr sz="1200" dirty="0" smtClean="0">
            <a:latin typeface="BIZ UDPゴシック" panose="020B0400000000000000" pitchFamily="50" charset="-128"/>
            <a:ea typeface="BIZ UDP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335492B1115B4143AD2B86ADC1B97DDB" ma:contentTypeVersion="14" ma:contentTypeDescription="新しいドキュメントを作成します。" ma:contentTypeScope="" ma:versionID="cb1513d67a33b00b0b9e47fc7fc624ad">
  <xsd:schema xmlns:xsd="http://www.w3.org/2001/XMLSchema" xmlns:xs="http://www.w3.org/2001/XMLSchema" xmlns:p="http://schemas.microsoft.com/office/2006/metadata/properties" xmlns:ns2="1b6b0988-31a7-44f7-bde4-5ee04b6c20db" xmlns:ns3="0898a5b4-fb10-4c8d-b16e-a97669f903b0" targetNamespace="http://schemas.microsoft.com/office/2006/metadata/properties" ma:root="true" ma:fieldsID="8e797aa8b05430382adf0335bd17341b" ns2:_="" ns3:_="">
    <xsd:import namespace="1b6b0988-31a7-44f7-bde4-5ee04b6c20db"/>
    <xsd:import namespace="0898a5b4-fb10-4c8d-b16e-a97669f903b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_Flow_SignoffStatu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b6b0988-31a7-44f7-bde4-5ee04b6c20d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_Flow_SignoffStatus" ma:index="11" nillable="true" ma:displayName="承認の状態" ma:internalName="_x0024_Resources_x003a_core_x002c_Signoff_Status">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画像タグ" ma:readOnly="false" ma:fieldId="{5cf76f15-5ced-4ddc-b409-7134ff3c332f}" ma:taxonomyMulti="true" ma:sspId="717f14aa-dee3-49f7-877c-6ed30df78237"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description="" ma:indexed="true" ma:internalName="MediaServiceLocation"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898a5b4-fb10-4c8d-b16e-a97669f903b0"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d58c860a-2be4-49a6-a61b-2ff8c69b20c0}" ma:internalName="TaxCatchAll" ma:showField="CatchAllData" ma:web="0898a5b4-fb10-4c8d-b16e-a97669f903b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b6b0988-31a7-44f7-bde4-5ee04b6c20db">
      <Terms xmlns="http://schemas.microsoft.com/office/infopath/2007/PartnerControls"/>
    </lcf76f155ced4ddcb4097134ff3c332f>
    <TaxCatchAll xmlns="0898a5b4-fb10-4c8d-b16e-a97669f903b0" xsi:nil="true"/>
    <_Flow_SignoffStatus xmlns="1b6b0988-31a7-44f7-bde4-5ee04b6c20db" xsi:nil="true"/>
  </documentManagement>
</p:properties>
</file>

<file path=customXml/itemProps1.xml><?xml version="1.0" encoding="utf-8"?>
<ds:datastoreItem xmlns:ds="http://schemas.openxmlformats.org/officeDocument/2006/customXml" ds:itemID="{C6B81B9D-A93F-4EE4-B1C5-82F608F9574D}">
  <ds:schemaRefs>
    <ds:schemaRef ds:uri="http://schemas.microsoft.com/sharepoint/v3/contenttype/forms"/>
  </ds:schemaRefs>
</ds:datastoreItem>
</file>

<file path=customXml/itemProps2.xml><?xml version="1.0" encoding="utf-8"?>
<ds:datastoreItem xmlns:ds="http://schemas.openxmlformats.org/officeDocument/2006/customXml" ds:itemID="{4C3994C4-F9FD-4B4D-9E26-E19CC6B177C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b6b0988-31a7-44f7-bde4-5ee04b6c20db"/>
    <ds:schemaRef ds:uri="0898a5b4-fb10-4c8d-b16e-a97669f903b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460F854-4526-491F-9B1B-23E97C0D37D8}">
  <ds:schemaRefs>
    <ds:schemaRef ds:uri="http://schemas.microsoft.com/office/2006/metadata/properties"/>
    <ds:schemaRef ds:uri="http://schemas.microsoft.com/office/infopath/2007/PartnerControls"/>
    <ds:schemaRef ds:uri="1b6b0988-31a7-44f7-bde4-5ee04b6c20db"/>
    <ds:schemaRef ds:uri="0898a5b4-fb10-4c8d-b16e-a97669f903b0"/>
  </ds:schemaRefs>
</ds:datastoreItem>
</file>

<file path=docProps/app.xml><?xml version="1.0" encoding="utf-8"?>
<Properties xmlns="http://schemas.openxmlformats.org/officeDocument/2006/extended-properties" xmlns:vt="http://schemas.openxmlformats.org/officeDocument/2006/docPropsVTypes">
  <TotalTime>215</TotalTime>
  <Words>716</Words>
  <Application>Microsoft Office PowerPoint</Application>
  <PresentationFormat>ワイド画面</PresentationFormat>
  <Paragraphs>82</Paragraphs>
  <Slides>2</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vt:i4>
      </vt:variant>
    </vt:vector>
  </HeadingPairs>
  <TitlesOfParts>
    <vt:vector size="7" baseType="lpstr">
      <vt:lpstr>BIZ UDPゴシック</vt:lpstr>
      <vt:lpstr>游明朝</vt:lpstr>
      <vt:lpstr>Arial</vt:lpstr>
      <vt:lpstr>Segoe UI Historic</vt:lpstr>
      <vt:lpstr>10_標準デザイン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吉村　美希</dc:creator>
  <cp:lastModifiedBy>菊池　智裕</cp:lastModifiedBy>
  <cp:revision>15</cp:revision>
  <dcterms:created xsi:type="dcterms:W3CDTF">2026-07-03T04:38:42Z</dcterms:created>
  <dcterms:modified xsi:type="dcterms:W3CDTF">2026-07-23T04:21:42Z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0x010100335492B1115B4143AD2B86ADC1B97DDB</vt:lpwstr>
  </property>
</Properties>
</file>