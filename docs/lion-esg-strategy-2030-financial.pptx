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143000"/>
            <a:ext cx="10515600" cy="457200"/>
          </a:xfrm>
          <a:prstGeom prst="rect">
            <a:avLst/>
          </a:prstGeom>
          <a:noFill/>
          <a:ln/>
        </p:spPr>
        <p:txBody>
          <a:bodyPr wrap="square" lIns="0" tIns="0" rIns="0" bIns="0" rtlCol="0" anchor="ctr"/>
          <a:lstStyle/>
          <a:p>
            <a:pPr indent="0" marL="0">
              <a:buNone/>
            </a:pPr>
            <a:r>
              <a:rPr lang="en-US" sz="1500" b="1" dirty="0">
                <a:solidFill>
                  <a:srgbClr val="CADCFC"/>
                </a:solidFill>
                <a:latin typeface="Yu Gothic" pitchFamily="34" charset="0"/>
                <a:ea typeface="Yu Gothic" pitchFamily="34" charset="-122"/>
                <a:cs typeface="Yu Gothic" pitchFamily="34" charset="-120"/>
              </a:rPr>
              <a:t>ライオン株式会社 御中  |  戦略提言 Ver.2(財務直結型への再設計)</a:t>
            </a:r>
            <a:endParaRPr lang="en-US" sz="1500" dirty="0"/>
          </a:p>
        </p:txBody>
      </p:sp>
      <p:sp>
        <p:nvSpPr>
          <p:cNvPr id="3" name="Text 1"/>
          <p:cNvSpPr/>
          <p:nvPr/>
        </p:nvSpPr>
        <p:spPr>
          <a:xfrm>
            <a:off x="822960" y="1691640"/>
            <a:ext cx="10515600" cy="86868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ESG戦略2030 財務接続版</a:t>
            </a:r>
            <a:endParaRPr lang="en-US" sz="3800" dirty="0"/>
          </a:p>
        </p:txBody>
      </p:sp>
      <p:sp>
        <p:nvSpPr>
          <p:cNvPr id="4" name="Text 2"/>
          <p:cNvSpPr/>
          <p:nvPr/>
        </p:nvSpPr>
        <p:spPr>
          <a:xfrm>
            <a:off x="822960" y="2651760"/>
            <a:ext cx="10515600" cy="548640"/>
          </a:xfrm>
          <a:prstGeom prst="rect">
            <a:avLst/>
          </a:prstGeom>
          <a:noFill/>
          <a:ln/>
        </p:spPr>
        <p:txBody>
          <a:bodyPr wrap="square" lIns="0" tIns="0" rIns="0" bIns="0" rtlCol="0" anchor="ctr"/>
          <a:lstStyle/>
          <a:p>
            <a:pPr indent="0" marL="0">
              <a:buNone/>
            </a:pPr>
            <a:r>
              <a:rPr lang="en-US" sz="2000" b="1" dirty="0">
                <a:solidFill>
                  <a:srgbClr val="FF9DAD"/>
                </a:solidFill>
                <a:latin typeface="Yu Gothic" pitchFamily="34" charset="0"/>
                <a:ea typeface="Yu Gothic" pitchFamily="34" charset="-122"/>
                <a:cs typeface="Yu Gothic" pitchFamily="34" charset="-120"/>
              </a:rPr>
              <a:t>―「5億人」を、売上・利益・PBRに翻訳する ―</a:t>
            </a:r>
            <a:endParaRPr lang="en-US" sz="2000" dirty="0"/>
          </a:p>
        </p:txBody>
      </p:sp>
      <p:sp>
        <p:nvSpPr>
          <p:cNvPr id="5" name="Shape 3"/>
          <p:cNvSpPr/>
          <p:nvPr/>
        </p:nvSpPr>
        <p:spPr>
          <a:xfrm>
            <a:off x="822960" y="3383280"/>
            <a:ext cx="2926080" cy="0"/>
          </a:xfrm>
          <a:prstGeom prst="line">
            <a:avLst/>
          </a:prstGeom>
          <a:noFill/>
          <a:ln w="38100">
            <a:solidFill>
              <a:srgbClr val="C8102E"/>
            </a:solidFill>
            <a:prstDash val="solid"/>
          </a:ln>
        </p:spPr>
      </p:sp>
      <p:sp>
        <p:nvSpPr>
          <p:cNvPr id="6" name="Text 4"/>
          <p:cNvSpPr/>
          <p:nvPr/>
        </p:nvSpPr>
        <p:spPr>
          <a:xfrm>
            <a:off x="822960" y="3657600"/>
            <a:ext cx="10515600" cy="1188720"/>
          </a:xfrm>
          <a:prstGeom prst="rect">
            <a:avLst/>
          </a:prstGeom>
          <a:noFill/>
          <a:ln/>
        </p:spPr>
        <p:txBody>
          <a:bodyPr wrap="square" lIns="0" tIns="0" rIns="0" bIns="0" rtlCol="0" anchor="ctr"/>
          <a:lstStyle/>
          <a:p>
            <a:pPr indent="0" marL="0">
              <a:lnSpc>
                <a:spcPct val="135000"/>
              </a:lnSpc>
              <a:buNone/>
            </a:pPr>
            <a:r>
              <a:rPr lang="en-US" sz="1250" b="1" dirty="0">
                <a:solidFill>
                  <a:srgbClr val="D9E2F5"/>
                </a:solidFill>
                <a:latin typeface="Yu Gothic" pitchFamily="34" charset="0"/>
                <a:ea typeface="Yu Gothic" pitchFamily="34" charset="-122"/>
                <a:cs typeface="Yu Gothic" pitchFamily="34" charset="-120"/>
              </a:rPr>
              <a:t>「良い習慣の人口5億人」は、収益化の構造・換算式・増分の証明がなければ財務に跳ね返らない。
</a:t>
            </a:r>
            <a:pPr indent="0" marL="0">
              <a:lnSpc>
                <a:spcPct val="135000"/>
              </a:lnSpc>
              <a:buNone/>
            </a:pPr>
            <a:r>
              <a:rPr lang="en-US" sz="1250" dirty="0">
                <a:solidFill>
                  <a:srgbClr val="D9E2F5"/>
                </a:solidFill>
                <a:latin typeface="Yu Gothic" pitchFamily="34" charset="0"/>
                <a:ea typeface="Yu Gothic" pitchFamily="34" charset="-122"/>
                <a:cs typeface="Yu Gothic" pitchFamily="34" charset="-120"/>
              </a:rPr>
              <a:t>本書はKGIを財務ツリーから逆算して再設計し、①売上+1,000億円 ②営業利益率10% ③PBR2.0倍への価値ブリッジを、換算式・感応度・検証計画付きで提示する。すべてのKGIに「財務換算式のないKPIは採用しない」原則を適用した。</a:t>
            </a:r>
            <a:endParaRPr lang="en-US" sz="1250" dirty="0"/>
          </a:p>
        </p:txBody>
      </p:sp>
      <p:sp>
        <p:nvSpPr>
          <p:cNvPr id="7" name="Text 5"/>
          <p:cNvSpPr/>
          <p:nvPr/>
        </p:nvSpPr>
        <p:spPr>
          <a:xfrm>
            <a:off x="822960" y="5669280"/>
            <a:ext cx="10515600" cy="365760"/>
          </a:xfrm>
          <a:prstGeom prst="rect">
            <a:avLst/>
          </a:prstGeom>
          <a:noFill/>
          <a:ln/>
        </p:spPr>
        <p:txBody>
          <a:bodyPr wrap="square" lIns="0" tIns="0" rIns="0" bIns="0" rtlCol="0" anchor="ctr"/>
          <a:lstStyle/>
          <a:p>
            <a:pPr indent="0" marL="0">
              <a:buNone/>
            </a:pPr>
            <a:r>
              <a:rPr lang="en-US" sz="1050" dirty="0">
                <a:solidFill>
                  <a:srgbClr val="8FA0C8"/>
                </a:solidFill>
                <a:latin typeface="Yu Gothic" pitchFamily="34" charset="0"/>
                <a:ea typeface="Yu Gothic" pitchFamily="34" charset="-122"/>
                <a:cs typeface="Yu Gothic" pitchFamily="34" charset="-120"/>
              </a:rPr>
              <a:t>2026年7月21日  |  数値はベースライン概数(売上約4,000億円・営業利益率約7%・PBR約1.5倍)に基づく例示 ― 経営審議・実測で確定</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問題提起</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「人口5億人」はそのままでは財務に跳ね返らない ― 3つの断絶</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断絶を放置したKGIはバニティメトリクス(見栄えの指標)に堕ちる。3つの断絶を「設計で」閉じるのが本書の目的</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1</a:t>
            </a:r>
            <a:endParaRPr lang="en-US" sz="900" dirty="0"/>
          </a:p>
        </p:txBody>
      </p:sp>
      <p:sp>
        <p:nvSpPr>
          <p:cNvPr id="6" name="Shape 4"/>
          <p:cNvSpPr/>
          <p:nvPr/>
        </p:nvSpPr>
        <p:spPr>
          <a:xfrm>
            <a:off x="457200" y="1234440"/>
            <a:ext cx="11274552" cy="1389888"/>
          </a:xfrm>
          <a:prstGeom prst="roundRect">
            <a:avLst>
              <a:gd name="adj" fmla="val 4605"/>
            </a:avLst>
          </a:prstGeom>
          <a:solidFill>
            <a:srgbClr val="FFFFFF"/>
          </a:solidFill>
          <a:ln w="15875">
            <a:solidFill>
              <a:srgbClr val="C8102E"/>
            </a:solidFill>
            <a:prstDash val="solid"/>
          </a:ln>
        </p:spPr>
      </p:sp>
      <p:sp>
        <p:nvSpPr>
          <p:cNvPr id="7" name="Text 5"/>
          <p:cNvSpPr/>
          <p:nvPr/>
        </p:nvSpPr>
        <p:spPr>
          <a:xfrm>
            <a:off x="640080" y="1325880"/>
            <a:ext cx="2286000" cy="1207008"/>
          </a:xfrm>
          <a:prstGeom prst="rect">
            <a:avLst/>
          </a:prstGeom>
          <a:noFill/>
          <a:ln/>
        </p:spPr>
        <p:txBody>
          <a:bodyPr wrap="square" lIns="0" tIns="0" rIns="0" bIns="0" rtlCol="0" anchor="ctr"/>
          <a:lstStyle/>
          <a:p>
            <a:pPr indent="0" marL="0">
              <a:lnSpc>
                <a:spcPct val="110000"/>
              </a:lnSpc>
              <a:buNone/>
            </a:pPr>
            <a:r>
              <a:rPr lang="en-US" sz="1200" b="1" dirty="0">
                <a:solidFill>
                  <a:srgbClr val="C8102E"/>
                </a:solidFill>
                <a:latin typeface="Yu Gothic" pitchFamily="34" charset="0"/>
                <a:ea typeface="Yu Gothic" pitchFamily="34" charset="-122"/>
                <a:cs typeface="Yu Gothic" pitchFamily="34" charset="-120"/>
              </a:rPr>
              <a:t>断絶① 収益化の断絶</a:t>
            </a:r>
            <a:endParaRPr lang="en-US" sz="1200" dirty="0"/>
          </a:p>
        </p:txBody>
      </p:sp>
      <p:sp>
        <p:nvSpPr>
          <p:cNvPr id="8" name="Text 6"/>
          <p:cNvSpPr/>
          <p:nvPr/>
        </p:nvSpPr>
        <p:spPr>
          <a:xfrm>
            <a:off x="3063240" y="1344168"/>
            <a:ext cx="5029200" cy="1188720"/>
          </a:xfrm>
          <a:prstGeom prst="rect">
            <a:avLst/>
          </a:prstGeom>
          <a:noFill/>
          <a:ln/>
        </p:spPr>
        <p:txBody>
          <a:bodyPr wrap="square" lIns="0" tIns="0" rIns="0" bIns="0" rtlCol="0" anchor="ctr"/>
          <a:lstStyle/>
          <a:p>
            <a:pPr indent="0" marL="0">
              <a:lnSpc>
                <a:spcPct val="115000"/>
              </a:lnSpc>
              <a:buNone/>
            </a:pPr>
            <a:r>
              <a:rPr lang="en-US" sz="890" dirty="0">
                <a:solidFill>
                  <a:srgbClr val="2A2A33"/>
                </a:solidFill>
                <a:latin typeface="Yu Gothic" pitchFamily="34" charset="0"/>
                <a:ea typeface="Yu Gothic" pitchFamily="34" charset="-122"/>
                <a:cs typeface="Yu Gothic" pitchFamily="34" charset="-120"/>
              </a:rPr>
              <a:t>「習慣を持つ人」と「当社にお金を払う人」は別物。啓発でリーチした5億人のうち、当社製品を継続購入する人が何人で、一人いくら払うのか(収益化率×ARPU)が定義されていなければ、人口は売上にならない</a:t>
            </a:r>
            <a:endParaRPr lang="en-US" sz="890" dirty="0"/>
          </a:p>
        </p:txBody>
      </p:sp>
      <p:sp>
        <p:nvSpPr>
          <p:cNvPr id="9" name="Text 7"/>
          <p:cNvSpPr/>
          <p:nvPr/>
        </p:nvSpPr>
        <p:spPr>
          <a:xfrm>
            <a:off x="8229600" y="1344168"/>
            <a:ext cx="3337560" cy="1188720"/>
          </a:xfrm>
          <a:prstGeom prst="rect">
            <a:avLst/>
          </a:prstGeom>
          <a:noFill/>
          <a:ln/>
        </p:spPr>
        <p:txBody>
          <a:bodyPr wrap="square" lIns="0" tIns="0" rIns="0" bIns="0" rtlCol="0" anchor="ctr"/>
          <a:lstStyle/>
          <a:p>
            <a:pPr indent="0" marL="0">
              <a:lnSpc>
                <a:spcPct val="115000"/>
              </a:lnSpc>
              <a:buNone/>
            </a:pPr>
            <a:r>
              <a:rPr lang="en-US" sz="890" b="1" dirty="0">
                <a:solidFill>
                  <a:srgbClr val="1E2761"/>
                </a:solidFill>
                <a:latin typeface="Yu Gothic" pitchFamily="34" charset="0"/>
                <a:ea typeface="Yu Gothic" pitchFamily="34" charset="-122"/>
                <a:cs typeface="Yu Gothic" pitchFamily="34" charset="-120"/>
              </a:rPr>
              <a:t>→ 閉じ方: 人口をファネル(リーチ→習慣化→当社収益化)に分解し、「収益化人口×ARPU」を売上換算式としてKGIに昇格させる</a:t>
            </a:r>
            <a:endParaRPr lang="en-US" sz="890" dirty="0"/>
          </a:p>
        </p:txBody>
      </p:sp>
      <p:sp>
        <p:nvSpPr>
          <p:cNvPr id="10" name="Shape 8"/>
          <p:cNvSpPr/>
          <p:nvPr/>
        </p:nvSpPr>
        <p:spPr>
          <a:xfrm>
            <a:off x="457200" y="2770632"/>
            <a:ext cx="11274552" cy="1389888"/>
          </a:xfrm>
          <a:prstGeom prst="roundRect">
            <a:avLst>
              <a:gd name="adj" fmla="val 4605"/>
            </a:avLst>
          </a:prstGeom>
          <a:solidFill>
            <a:srgbClr val="FFFFFF"/>
          </a:solidFill>
          <a:ln w="15875">
            <a:solidFill>
              <a:srgbClr val="C8102E"/>
            </a:solidFill>
            <a:prstDash val="solid"/>
          </a:ln>
        </p:spPr>
      </p:sp>
      <p:sp>
        <p:nvSpPr>
          <p:cNvPr id="11" name="Text 9"/>
          <p:cNvSpPr/>
          <p:nvPr/>
        </p:nvSpPr>
        <p:spPr>
          <a:xfrm>
            <a:off x="640080" y="2862072"/>
            <a:ext cx="2286000" cy="1207008"/>
          </a:xfrm>
          <a:prstGeom prst="rect">
            <a:avLst/>
          </a:prstGeom>
          <a:noFill/>
          <a:ln/>
        </p:spPr>
        <p:txBody>
          <a:bodyPr wrap="square" lIns="0" tIns="0" rIns="0" bIns="0" rtlCol="0" anchor="ctr"/>
          <a:lstStyle/>
          <a:p>
            <a:pPr indent="0" marL="0">
              <a:lnSpc>
                <a:spcPct val="110000"/>
              </a:lnSpc>
              <a:buNone/>
            </a:pPr>
            <a:r>
              <a:rPr lang="en-US" sz="1200" b="1" dirty="0">
                <a:solidFill>
                  <a:srgbClr val="C8102E"/>
                </a:solidFill>
                <a:latin typeface="Yu Gothic" pitchFamily="34" charset="0"/>
                <a:ea typeface="Yu Gothic" pitchFamily="34" charset="-122"/>
                <a:cs typeface="Yu Gothic" pitchFamily="34" charset="-120"/>
              </a:rPr>
              <a:t>断絶② 増分の断絶</a:t>
            </a:r>
            <a:endParaRPr lang="en-US" sz="1200" dirty="0"/>
          </a:p>
        </p:txBody>
      </p:sp>
      <p:sp>
        <p:nvSpPr>
          <p:cNvPr id="12" name="Text 10"/>
          <p:cNvSpPr/>
          <p:nvPr/>
        </p:nvSpPr>
        <p:spPr>
          <a:xfrm>
            <a:off x="3063240" y="2880360"/>
            <a:ext cx="5029200" cy="1188720"/>
          </a:xfrm>
          <a:prstGeom prst="rect">
            <a:avLst/>
          </a:prstGeom>
          <a:noFill/>
          <a:ln/>
        </p:spPr>
        <p:txBody>
          <a:bodyPr wrap="square" lIns="0" tIns="0" rIns="0" bIns="0" rtlCol="0" anchor="ctr"/>
          <a:lstStyle/>
          <a:p>
            <a:pPr indent="0" marL="0">
              <a:lnSpc>
                <a:spcPct val="115000"/>
              </a:lnSpc>
              <a:buNone/>
            </a:pPr>
            <a:r>
              <a:rPr lang="en-US" sz="890" dirty="0">
                <a:solidFill>
                  <a:srgbClr val="2A2A33"/>
                </a:solidFill>
                <a:latin typeface="Yu Gothic" pitchFamily="34" charset="0"/>
                <a:ea typeface="Yu Gothic" pitchFamily="34" charset="-122"/>
                <a:cs typeface="Yu Gothic" pitchFamily="34" charset="-120"/>
              </a:rPr>
              <a:t>既に当社製品を使っている人を「習慣人口」に数えても売上は1円も増えない。既存顧客の付け替え(カニバリ)と、新規獲得・単価向上・解約防止による「増分」が区別されていない</a:t>
            </a:r>
            <a:endParaRPr lang="en-US" sz="890" dirty="0"/>
          </a:p>
        </p:txBody>
      </p:sp>
      <p:sp>
        <p:nvSpPr>
          <p:cNvPr id="13" name="Text 11"/>
          <p:cNvSpPr/>
          <p:nvPr/>
        </p:nvSpPr>
        <p:spPr>
          <a:xfrm>
            <a:off x="8229600" y="2880360"/>
            <a:ext cx="3337560" cy="1188720"/>
          </a:xfrm>
          <a:prstGeom prst="rect">
            <a:avLst/>
          </a:prstGeom>
          <a:noFill/>
          <a:ln/>
        </p:spPr>
        <p:txBody>
          <a:bodyPr wrap="square" lIns="0" tIns="0" rIns="0" bIns="0" rtlCol="0" anchor="ctr"/>
          <a:lstStyle/>
          <a:p>
            <a:pPr indent="0" marL="0">
              <a:lnSpc>
                <a:spcPct val="115000"/>
              </a:lnSpc>
              <a:buNone/>
            </a:pPr>
            <a:r>
              <a:rPr lang="en-US" sz="890" b="1" dirty="0">
                <a:solidFill>
                  <a:srgbClr val="1E2761"/>
                </a:solidFill>
                <a:latin typeface="Yu Gothic" pitchFamily="34" charset="0"/>
                <a:ea typeface="Yu Gothic" pitchFamily="34" charset="-122"/>
                <a:cs typeface="Yu Gothic" pitchFamily="34" charset="-120"/>
              </a:rPr>
              <a:t>→ 閉じ方: KGIはすべて「ベースライン対比の増分」で定義する(増分売上・増分利益・防衛額)。既存分はカウントしない</a:t>
            </a:r>
            <a:endParaRPr lang="en-US" sz="890" dirty="0"/>
          </a:p>
        </p:txBody>
      </p:sp>
      <p:sp>
        <p:nvSpPr>
          <p:cNvPr id="14" name="Shape 12"/>
          <p:cNvSpPr/>
          <p:nvPr/>
        </p:nvSpPr>
        <p:spPr>
          <a:xfrm>
            <a:off x="457200" y="4306824"/>
            <a:ext cx="11274552" cy="1389888"/>
          </a:xfrm>
          <a:prstGeom prst="roundRect">
            <a:avLst>
              <a:gd name="adj" fmla="val 4605"/>
            </a:avLst>
          </a:prstGeom>
          <a:solidFill>
            <a:srgbClr val="FFFFFF"/>
          </a:solidFill>
          <a:ln w="15875">
            <a:solidFill>
              <a:srgbClr val="C8102E"/>
            </a:solidFill>
            <a:prstDash val="solid"/>
          </a:ln>
        </p:spPr>
      </p:sp>
      <p:sp>
        <p:nvSpPr>
          <p:cNvPr id="15" name="Text 13"/>
          <p:cNvSpPr/>
          <p:nvPr/>
        </p:nvSpPr>
        <p:spPr>
          <a:xfrm>
            <a:off x="640080" y="4398264"/>
            <a:ext cx="2286000" cy="1207008"/>
          </a:xfrm>
          <a:prstGeom prst="rect">
            <a:avLst/>
          </a:prstGeom>
          <a:noFill/>
          <a:ln/>
        </p:spPr>
        <p:txBody>
          <a:bodyPr wrap="square" lIns="0" tIns="0" rIns="0" bIns="0" rtlCol="0" anchor="ctr"/>
          <a:lstStyle/>
          <a:p>
            <a:pPr indent="0" marL="0">
              <a:lnSpc>
                <a:spcPct val="110000"/>
              </a:lnSpc>
              <a:buNone/>
            </a:pPr>
            <a:r>
              <a:rPr lang="en-US" sz="1200" b="1" dirty="0">
                <a:solidFill>
                  <a:srgbClr val="C8102E"/>
                </a:solidFill>
                <a:latin typeface="Yu Gothic" pitchFamily="34" charset="0"/>
                <a:ea typeface="Yu Gothic" pitchFamily="34" charset="-122"/>
                <a:cs typeface="Yu Gothic" pitchFamily="34" charset="-120"/>
              </a:rPr>
              <a:t>断絶③ 資本市場伝達の断絶</a:t>
            </a:r>
            <a:endParaRPr lang="en-US" sz="1200" dirty="0"/>
          </a:p>
        </p:txBody>
      </p:sp>
      <p:sp>
        <p:nvSpPr>
          <p:cNvPr id="16" name="Text 14"/>
          <p:cNvSpPr/>
          <p:nvPr/>
        </p:nvSpPr>
        <p:spPr>
          <a:xfrm>
            <a:off x="3063240" y="4416552"/>
            <a:ext cx="5029200" cy="1188720"/>
          </a:xfrm>
          <a:prstGeom prst="rect">
            <a:avLst/>
          </a:prstGeom>
          <a:noFill/>
          <a:ln/>
        </p:spPr>
        <p:txBody>
          <a:bodyPr wrap="square" lIns="0" tIns="0" rIns="0" bIns="0" rtlCol="0" anchor="ctr"/>
          <a:lstStyle/>
          <a:p>
            <a:pPr indent="0" marL="0">
              <a:lnSpc>
                <a:spcPct val="115000"/>
              </a:lnSpc>
              <a:buNone/>
            </a:pPr>
            <a:r>
              <a:rPr lang="en-US" sz="890" dirty="0">
                <a:solidFill>
                  <a:srgbClr val="2A2A33"/>
                </a:solidFill>
                <a:latin typeface="Yu Gothic" pitchFamily="34" charset="0"/>
                <a:ea typeface="Yu Gothic" pitchFamily="34" charset="-122"/>
                <a:cs typeface="Yu Gothic" pitchFamily="34" charset="-120"/>
              </a:rPr>
              <a:t>社会インパクト額(医療費削減1,000億円)は社会の便益であって当社の損益ではない。投資家に「で、御社はいくら儲かるのか」と問われた瞬間に説明が途切れる</a:t>
            </a:r>
            <a:endParaRPr lang="en-US" sz="890" dirty="0"/>
          </a:p>
        </p:txBody>
      </p:sp>
      <p:sp>
        <p:nvSpPr>
          <p:cNvPr id="17" name="Text 15"/>
          <p:cNvSpPr/>
          <p:nvPr/>
        </p:nvSpPr>
        <p:spPr>
          <a:xfrm>
            <a:off x="8229600" y="4416552"/>
            <a:ext cx="3337560" cy="1188720"/>
          </a:xfrm>
          <a:prstGeom prst="rect">
            <a:avLst/>
          </a:prstGeom>
          <a:noFill/>
          <a:ln/>
        </p:spPr>
        <p:txBody>
          <a:bodyPr wrap="square" lIns="0" tIns="0" rIns="0" bIns="0" rtlCol="0" anchor="ctr"/>
          <a:lstStyle/>
          <a:p>
            <a:pPr indent="0" marL="0">
              <a:lnSpc>
                <a:spcPct val="115000"/>
              </a:lnSpc>
              <a:buNone/>
            </a:pPr>
            <a:r>
              <a:rPr lang="en-US" sz="890" b="1" dirty="0">
                <a:solidFill>
                  <a:srgbClr val="1E2761"/>
                </a:solidFill>
                <a:latin typeface="Yu Gothic" pitchFamily="34" charset="0"/>
                <a:ea typeface="Yu Gothic" pitchFamily="34" charset="-122"/>
                <a:cs typeface="Yu Gothic" pitchFamily="34" charset="-120"/>
              </a:rPr>
              <a:t>→ 閉じ方: 社会インパクトは「支払意思・政策連携・ブランドの源泉」として財務KGIの先行指標に位置づけ直し、損益・資本コストへの伝達経路を柳モデルで毎年推定する</a:t>
            </a:r>
            <a:endParaRPr lang="en-US" sz="890" dirty="0"/>
          </a:p>
        </p:txBody>
      </p:sp>
      <p:sp>
        <p:nvSpPr>
          <p:cNvPr id="18" name="Shape 16"/>
          <p:cNvSpPr/>
          <p:nvPr/>
        </p:nvSpPr>
        <p:spPr>
          <a:xfrm>
            <a:off x="457200" y="5943600"/>
            <a:ext cx="11274552" cy="548640"/>
          </a:xfrm>
          <a:prstGeom prst="roundRect">
            <a:avLst>
              <a:gd name="adj" fmla="val 10000"/>
            </a:avLst>
          </a:prstGeom>
          <a:solidFill>
            <a:srgbClr val="1E2761"/>
          </a:solidFill>
          <a:ln/>
        </p:spPr>
      </p:sp>
      <p:sp>
        <p:nvSpPr>
          <p:cNvPr id="19" name="Text 17"/>
          <p:cNvSpPr/>
          <p:nvPr/>
        </p:nvSpPr>
        <p:spPr>
          <a:xfrm>
            <a:off x="685800" y="5989320"/>
            <a:ext cx="10835640" cy="45720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結論: 「5億人」はトップ・オブ・ファネル(到達目標)として残すが、KGIの主役は「収益化人口 × ARPU × 増分」に交代させる</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設計原則</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財務ツリーからの逆算 ― 「換算式のないKPIは採用しない」</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PBR2.0倍を頂点に置き、そこから必要な売上・利益・資本コストを逆算してKGIを配置する(現状の延長ではなく目標からの逆算)</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2</a:t>
            </a:r>
            <a:endParaRPr lang="en-US" sz="900" dirty="0"/>
          </a:p>
        </p:txBody>
      </p:sp>
      <p:sp>
        <p:nvSpPr>
          <p:cNvPr id="6" name="Text 4"/>
          <p:cNvSpPr/>
          <p:nvPr/>
        </p:nvSpPr>
        <p:spPr>
          <a:xfrm>
            <a:off x="457200" y="1234440"/>
            <a:ext cx="11274552" cy="457200"/>
          </a:xfrm>
          <a:prstGeom prst="roundRect">
            <a:avLst>
              <a:gd name="adj" fmla="val 10000"/>
            </a:avLst>
          </a:prstGeom>
          <a:solidFill>
            <a:srgbClr val="1E2761"/>
          </a:solidFill>
          <a:ln/>
        </p:spPr>
        <p:txBody>
          <a:bodyPr wrap="square" lIns="381" tIns="381" rIns="381" bIns="381"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財務ツリー(2030年・例示): PBR 1.5 → 2.0倍 = ROE 8%→12% × 資本コスト ▲0.4pt × 成長期待の回復</a:t>
            </a:r>
            <a:endParaRPr lang="en-US" sz="1200" dirty="0"/>
          </a:p>
        </p:txBody>
      </p:sp>
      <p:sp>
        <p:nvSpPr>
          <p:cNvPr id="7" name="Shape 5"/>
          <p:cNvSpPr/>
          <p:nvPr/>
        </p:nvSpPr>
        <p:spPr>
          <a:xfrm>
            <a:off x="457200" y="1828800"/>
            <a:ext cx="2734056" cy="1737360"/>
          </a:xfrm>
          <a:prstGeom prst="roundRect">
            <a:avLst>
              <a:gd name="adj" fmla="val 3684"/>
            </a:avLst>
          </a:prstGeom>
          <a:solidFill>
            <a:srgbClr val="FBECEE"/>
          </a:solidFill>
          <a:ln/>
        </p:spPr>
      </p:sp>
      <p:sp>
        <p:nvSpPr>
          <p:cNvPr id="8" name="Text 6"/>
          <p:cNvSpPr/>
          <p:nvPr/>
        </p:nvSpPr>
        <p:spPr>
          <a:xfrm>
            <a:off x="566928" y="1920240"/>
            <a:ext cx="2514600" cy="384048"/>
          </a:xfrm>
          <a:prstGeom prst="rect">
            <a:avLst/>
          </a:prstGeom>
          <a:noFill/>
          <a:ln/>
        </p:spPr>
        <p:txBody>
          <a:bodyPr wrap="square" lIns="0" tIns="0" rIns="0" bIns="0" rtlCol="0" anchor="ctr"/>
          <a:lstStyle/>
          <a:p>
            <a:pPr indent="0" marL="0">
              <a:buNone/>
            </a:pPr>
            <a:r>
              <a:rPr lang="en-US" sz="1100" b="1" dirty="0">
                <a:solidFill>
                  <a:srgbClr val="C8102E"/>
                </a:solidFill>
                <a:latin typeface="Yu Gothic" pitchFamily="34" charset="0"/>
                <a:ea typeface="Yu Gothic" pitchFamily="34" charset="-122"/>
                <a:cs typeface="Yu Gothic" pitchFamily="34" charset="-120"/>
              </a:rPr>
              <a:t>売上 +1,000億円</a:t>
            </a:r>
            <a:endParaRPr lang="en-US" sz="1100" dirty="0"/>
          </a:p>
        </p:txBody>
      </p:sp>
      <p:sp>
        <p:nvSpPr>
          <p:cNvPr id="9" name="Text 7"/>
          <p:cNvSpPr/>
          <p:nvPr/>
        </p:nvSpPr>
        <p:spPr>
          <a:xfrm>
            <a:off x="566928" y="2331720"/>
            <a:ext cx="2514600" cy="1170432"/>
          </a:xfrm>
          <a:prstGeom prst="rect">
            <a:avLst/>
          </a:prstGeom>
          <a:noFill/>
          <a:ln/>
        </p:spPr>
        <p:txBody>
          <a:bodyPr wrap="square" lIns="0" tIns="0" rIns="0" bIns="0" rtlCol="0" anchor="t"/>
          <a:lstStyle/>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4,000 → 5,000億円(CAGR約4.5%)</a:t>
            </a:r>
            <a:endParaRPr lang="en-US" sz="840" dirty="0"/>
          </a:p>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 習慣収益化 +500 / ミックス +200 /</a:t>
            </a:r>
            <a:endParaRPr lang="en-US" sz="840" dirty="0"/>
          </a:p>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B2B2C +100 / CFP防衛・獲得 +200</a:t>
            </a:r>
            <a:endParaRPr lang="en-US" sz="840" dirty="0"/>
          </a:p>
        </p:txBody>
      </p:sp>
      <p:sp>
        <p:nvSpPr>
          <p:cNvPr id="10" name="Shape 8"/>
          <p:cNvSpPr/>
          <p:nvPr/>
        </p:nvSpPr>
        <p:spPr>
          <a:xfrm>
            <a:off x="3328416" y="1828800"/>
            <a:ext cx="2734056" cy="1737360"/>
          </a:xfrm>
          <a:prstGeom prst="roundRect">
            <a:avLst>
              <a:gd name="adj" fmla="val 3684"/>
            </a:avLst>
          </a:prstGeom>
          <a:solidFill>
            <a:srgbClr val="FBECEE"/>
          </a:solidFill>
          <a:ln/>
        </p:spPr>
      </p:sp>
      <p:sp>
        <p:nvSpPr>
          <p:cNvPr id="11" name="Text 9"/>
          <p:cNvSpPr/>
          <p:nvPr/>
        </p:nvSpPr>
        <p:spPr>
          <a:xfrm>
            <a:off x="3438144" y="1920240"/>
            <a:ext cx="2514600" cy="384048"/>
          </a:xfrm>
          <a:prstGeom prst="rect">
            <a:avLst/>
          </a:prstGeom>
          <a:noFill/>
          <a:ln/>
        </p:spPr>
        <p:txBody>
          <a:bodyPr wrap="square" lIns="0" tIns="0" rIns="0" bIns="0" rtlCol="0" anchor="ctr"/>
          <a:lstStyle/>
          <a:p>
            <a:pPr indent="0" marL="0">
              <a:buNone/>
            </a:pPr>
            <a:r>
              <a:rPr lang="en-US" sz="1100" b="1" dirty="0">
                <a:solidFill>
                  <a:srgbClr val="C8102E"/>
                </a:solidFill>
                <a:latin typeface="Yu Gothic" pitchFamily="34" charset="0"/>
                <a:ea typeface="Yu Gothic" pitchFamily="34" charset="-122"/>
                <a:cs typeface="Yu Gothic" pitchFamily="34" charset="-120"/>
              </a:rPr>
              <a:t>営業利益率 7% → 10%</a:t>
            </a:r>
            <a:endParaRPr lang="en-US" sz="1100" dirty="0"/>
          </a:p>
        </p:txBody>
      </p:sp>
      <p:sp>
        <p:nvSpPr>
          <p:cNvPr id="12" name="Text 10"/>
          <p:cNvSpPr/>
          <p:nvPr/>
        </p:nvSpPr>
        <p:spPr>
          <a:xfrm>
            <a:off x="3438144" y="2331720"/>
            <a:ext cx="2514600" cy="1170432"/>
          </a:xfrm>
          <a:prstGeom prst="rect">
            <a:avLst/>
          </a:prstGeom>
          <a:noFill/>
          <a:ln/>
        </p:spPr>
        <p:txBody>
          <a:bodyPr wrap="square" lIns="0" tIns="0" rIns="0" bIns="0" rtlCol="0" anchor="t"/>
          <a:lstStyle/>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営業利益 280 → 500億円</a:t>
            </a:r>
            <a:endParaRPr lang="en-US" sz="840" dirty="0"/>
          </a:p>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 増収寄与 +150 / ミックス +80 /</a:t>
            </a:r>
            <a:endParaRPr lang="en-US" sz="840" dirty="0"/>
          </a:p>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原価・物流 +40 / 工数・監査 +10</a:t>
            </a:r>
            <a:endParaRPr lang="en-US" sz="840" dirty="0"/>
          </a:p>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(▲60 成長投資を織り込み済み)</a:t>
            </a:r>
            <a:endParaRPr lang="en-US" sz="840" dirty="0"/>
          </a:p>
        </p:txBody>
      </p:sp>
      <p:sp>
        <p:nvSpPr>
          <p:cNvPr id="13" name="Shape 11"/>
          <p:cNvSpPr/>
          <p:nvPr/>
        </p:nvSpPr>
        <p:spPr>
          <a:xfrm>
            <a:off x="6199632" y="1828800"/>
            <a:ext cx="2734056" cy="1737360"/>
          </a:xfrm>
          <a:prstGeom prst="roundRect">
            <a:avLst>
              <a:gd name="adj" fmla="val 3684"/>
            </a:avLst>
          </a:prstGeom>
          <a:solidFill>
            <a:srgbClr val="EEF3FB"/>
          </a:solidFill>
          <a:ln/>
        </p:spPr>
      </p:sp>
      <p:sp>
        <p:nvSpPr>
          <p:cNvPr id="14" name="Text 12"/>
          <p:cNvSpPr/>
          <p:nvPr/>
        </p:nvSpPr>
        <p:spPr>
          <a:xfrm>
            <a:off x="6309360" y="1920240"/>
            <a:ext cx="2514600" cy="384048"/>
          </a:xfrm>
          <a:prstGeom prst="rect">
            <a:avLst/>
          </a:prstGeom>
          <a:noFill/>
          <a:ln/>
        </p:spPr>
        <p:txBody>
          <a:bodyPr wrap="square" lIns="0" tIns="0" rIns="0" bIns="0" rtlCol="0" anchor="ctr"/>
          <a:lstStyle/>
          <a:p>
            <a:pPr indent="0" marL="0">
              <a:buNone/>
            </a:pPr>
            <a:r>
              <a:rPr lang="en-US" sz="1100" b="1" dirty="0">
                <a:solidFill>
                  <a:srgbClr val="1E2761"/>
                </a:solidFill>
                <a:latin typeface="Yu Gothic" pitchFamily="34" charset="0"/>
                <a:ea typeface="Yu Gothic" pitchFamily="34" charset="-122"/>
                <a:cs typeface="Yu Gothic" pitchFamily="34" charset="-120"/>
              </a:rPr>
              <a:t>資本コスト ▲0.4pt</a:t>
            </a:r>
            <a:endParaRPr lang="en-US" sz="1100" dirty="0"/>
          </a:p>
        </p:txBody>
      </p:sp>
      <p:sp>
        <p:nvSpPr>
          <p:cNvPr id="15" name="Text 13"/>
          <p:cNvSpPr/>
          <p:nvPr/>
        </p:nvSpPr>
        <p:spPr>
          <a:xfrm>
            <a:off x="6309360" y="2331720"/>
            <a:ext cx="2514600" cy="1170432"/>
          </a:xfrm>
          <a:prstGeom prst="rect">
            <a:avLst/>
          </a:prstGeom>
          <a:noFill/>
          <a:ln/>
        </p:spPr>
        <p:txBody>
          <a:bodyPr wrap="square" lIns="0" tIns="0" rIns="0" bIns="0" rtlCol="0" anchor="t"/>
          <a:lstStyle/>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開示品質・ガバナンス・リスク低減</a:t>
            </a:r>
            <a:endParaRPr lang="en-US" sz="840" dirty="0"/>
          </a:p>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 株主資本コスト低減を柳モデルで</a:t>
            </a:r>
            <a:endParaRPr lang="en-US" sz="840" dirty="0"/>
          </a:p>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毎年推定・IR開示(理論PER押上げ)</a:t>
            </a:r>
            <a:endParaRPr lang="en-US" sz="840" dirty="0"/>
          </a:p>
        </p:txBody>
      </p:sp>
      <p:sp>
        <p:nvSpPr>
          <p:cNvPr id="16" name="Shape 14"/>
          <p:cNvSpPr/>
          <p:nvPr/>
        </p:nvSpPr>
        <p:spPr>
          <a:xfrm>
            <a:off x="9070848" y="1828800"/>
            <a:ext cx="2734056" cy="1737360"/>
          </a:xfrm>
          <a:prstGeom prst="roundRect">
            <a:avLst>
              <a:gd name="adj" fmla="val 3684"/>
            </a:avLst>
          </a:prstGeom>
          <a:solidFill>
            <a:srgbClr val="EEF3FB"/>
          </a:solidFill>
          <a:ln/>
        </p:spPr>
      </p:sp>
      <p:sp>
        <p:nvSpPr>
          <p:cNvPr id="17" name="Text 15"/>
          <p:cNvSpPr/>
          <p:nvPr/>
        </p:nvSpPr>
        <p:spPr>
          <a:xfrm>
            <a:off x="9180576" y="1920240"/>
            <a:ext cx="2514600" cy="384048"/>
          </a:xfrm>
          <a:prstGeom prst="rect">
            <a:avLst/>
          </a:prstGeom>
          <a:noFill/>
          <a:ln/>
        </p:spPr>
        <p:txBody>
          <a:bodyPr wrap="square" lIns="0" tIns="0" rIns="0" bIns="0" rtlCol="0" anchor="ctr"/>
          <a:lstStyle/>
          <a:p>
            <a:pPr indent="0" marL="0">
              <a:buNone/>
            </a:pPr>
            <a:r>
              <a:rPr lang="en-US" sz="1100" b="1" dirty="0">
                <a:solidFill>
                  <a:srgbClr val="1E2761"/>
                </a:solidFill>
                <a:latin typeface="Yu Gothic" pitchFamily="34" charset="0"/>
                <a:ea typeface="Yu Gothic" pitchFamily="34" charset="-122"/>
                <a:cs typeface="Yu Gothic" pitchFamily="34" charset="-120"/>
              </a:rPr>
              <a:t>資本効率の規律</a:t>
            </a:r>
            <a:endParaRPr lang="en-US" sz="1100" dirty="0"/>
          </a:p>
        </p:txBody>
      </p:sp>
      <p:sp>
        <p:nvSpPr>
          <p:cNvPr id="18" name="Text 16"/>
          <p:cNvSpPr/>
          <p:nvPr/>
        </p:nvSpPr>
        <p:spPr>
          <a:xfrm>
            <a:off x="9180576" y="2331720"/>
            <a:ext cx="2514600" cy="1170432"/>
          </a:xfrm>
          <a:prstGeom prst="rect">
            <a:avLst/>
          </a:prstGeom>
          <a:noFill/>
          <a:ln/>
        </p:spPr>
        <p:txBody>
          <a:bodyPr wrap="square" lIns="0" tIns="0" rIns="0" bIns="0" rtlCol="0" anchor="t"/>
          <a:lstStyle/>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インパクト調整IRRによる投資選別</a:t>
            </a:r>
            <a:endParaRPr lang="en-US" sz="840" dirty="0"/>
          </a:p>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低採算SKUの整理(貢献型へ集約)</a:t>
            </a:r>
            <a:endParaRPr lang="en-US" sz="840" dirty="0"/>
          </a:p>
          <a:p>
            <a:pPr indent="0" marL="0">
              <a:lnSpc>
                <a:spcPct val="118000"/>
              </a:lnSpc>
              <a:buNone/>
            </a:pPr>
            <a:r>
              <a:rPr lang="en-US" sz="840" dirty="0">
                <a:solidFill>
                  <a:srgbClr val="2A2A33"/>
                </a:solidFill>
                <a:latin typeface="Yu Gothic" pitchFamily="34" charset="0"/>
                <a:ea typeface="Yu Gothic" pitchFamily="34" charset="-122"/>
                <a:cs typeface="Yu Gothic" pitchFamily="34" charset="-120"/>
              </a:rPr>
              <a:t>→ ROIC・ROEの構造的改善</a:t>
            </a:r>
            <a:endParaRPr lang="en-US" sz="840" dirty="0"/>
          </a:p>
        </p:txBody>
      </p:sp>
      <p:sp>
        <p:nvSpPr>
          <p:cNvPr id="19" name="Text 17"/>
          <p:cNvSpPr/>
          <p:nvPr/>
        </p:nvSpPr>
        <p:spPr>
          <a:xfrm>
            <a:off x="457200" y="3794760"/>
            <a:ext cx="11274552" cy="411480"/>
          </a:xfrm>
          <a:prstGeom prst="roundRect">
            <a:avLst>
              <a:gd name="adj" fmla="val 11111"/>
            </a:avLst>
          </a:prstGeom>
          <a:solidFill>
            <a:srgbClr val="C8102E"/>
          </a:solidFill>
          <a:ln/>
        </p:spPr>
        <p:txBody>
          <a:bodyPr wrap="square" lIns="381" tIns="381" rIns="381" bIns="381"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KGI/KPI設計の4原則</a:t>
            </a:r>
            <a:endParaRPr lang="en-US" sz="1150" dirty="0"/>
          </a:p>
        </p:txBody>
      </p:sp>
      <p:sp>
        <p:nvSpPr>
          <p:cNvPr id="20" name="Shape 18"/>
          <p:cNvSpPr/>
          <p:nvPr/>
        </p:nvSpPr>
        <p:spPr>
          <a:xfrm>
            <a:off x="457200" y="4343400"/>
            <a:ext cx="2734056" cy="1417320"/>
          </a:xfrm>
          <a:prstGeom prst="roundRect">
            <a:avLst>
              <a:gd name="adj" fmla="val 3871"/>
            </a:avLst>
          </a:prstGeom>
          <a:solidFill>
            <a:srgbClr val="F4F5F8"/>
          </a:solidFill>
          <a:ln/>
        </p:spPr>
      </p:sp>
      <p:sp>
        <p:nvSpPr>
          <p:cNvPr id="21" name="Text 19"/>
          <p:cNvSpPr/>
          <p:nvPr/>
        </p:nvSpPr>
        <p:spPr>
          <a:xfrm>
            <a:off x="566928" y="4416552"/>
            <a:ext cx="2514600" cy="1280160"/>
          </a:xfrm>
          <a:prstGeom prst="rect">
            <a:avLst/>
          </a:prstGeom>
          <a:noFill/>
          <a:ln/>
        </p:spPr>
        <p:txBody>
          <a:bodyPr wrap="square" lIns="0" tIns="0" rIns="0" bIns="0" rtlCol="0" anchor="t"/>
          <a:lstStyle/>
          <a:p>
            <a:pPr indent="0" marL="0">
              <a:lnSpc>
                <a:spcPct val="118000"/>
              </a:lnSpc>
              <a:buNone/>
            </a:pPr>
            <a:r>
              <a:rPr lang="en-US" sz="1000" b="1" dirty="0">
                <a:solidFill>
                  <a:srgbClr val="1E2761"/>
                </a:solidFill>
                <a:latin typeface="Yu Gothic" pitchFamily="34" charset="0"/>
                <a:ea typeface="Yu Gothic" pitchFamily="34" charset="-122"/>
                <a:cs typeface="Yu Gothic" pitchFamily="34" charset="-120"/>
              </a:rPr>
              <a:t>原則1 換算式必須
</a:t>
            </a:r>
            <a:pPr indent="0" marL="0">
              <a:lnSpc>
                <a:spcPct val="118000"/>
              </a:lnSpc>
              <a:buNone/>
            </a:pPr>
            <a:r>
              <a:rPr lang="en-US" sz="860" dirty="0">
                <a:solidFill>
                  <a:srgbClr val="2A2A33"/>
                </a:solidFill>
                <a:latin typeface="Yu Gothic" pitchFamily="34" charset="0"/>
                <a:ea typeface="Yu Gothic" pitchFamily="34" charset="-122"/>
                <a:cs typeface="Yu Gothic" pitchFamily="34" charset="-120"/>
              </a:rPr>
              <a:t>すべてのKPIに「財務への換算式」を明記。書けないKPIは採用しない(例: 収益化人口×ARPU=売上)</a:t>
            </a:r>
            <a:endParaRPr lang="en-US" sz="1000" dirty="0"/>
          </a:p>
        </p:txBody>
      </p:sp>
      <p:sp>
        <p:nvSpPr>
          <p:cNvPr id="22" name="Shape 20"/>
          <p:cNvSpPr/>
          <p:nvPr/>
        </p:nvSpPr>
        <p:spPr>
          <a:xfrm>
            <a:off x="3328416" y="4343400"/>
            <a:ext cx="2734056" cy="1417320"/>
          </a:xfrm>
          <a:prstGeom prst="roundRect">
            <a:avLst>
              <a:gd name="adj" fmla="val 3871"/>
            </a:avLst>
          </a:prstGeom>
          <a:solidFill>
            <a:srgbClr val="F4F5F8"/>
          </a:solidFill>
          <a:ln/>
        </p:spPr>
      </p:sp>
      <p:sp>
        <p:nvSpPr>
          <p:cNvPr id="23" name="Text 21"/>
          <p:cNvSpPr/>
          <p:nvPr/>
        </p:nvSpPr>
        <p:spPr>
          <a:xfrm>
            <a:off x="3438144" y="4416552"/>
            <a:ext cx="2514600" cy="1280160"/>
          </a:xfrm>
          <a:prstGeom prst="rect">
            <a:avLst/>
          </a:prstGeom>
          <a:noFill/>
          <a:ln/>
        </p:spPr>
        <p:txBody>
          <a:bodyPr wrap="square" lIns="0" tIns="0" rIns="0" bIns="0" rtlCol="0" anchor="t"/>
          <a:lstStyle/>
          <a:p>
            <a:pPr indent="0" marL="0">
              <a:lnSpc>
                <a:spcPct val="118000"/>
              </a:lnSpc>
              <a:buNone/>
            </a:pPr>
            <a:r>
              <a:rPr lang="en-US" sz="1000" b="1" dirty="0">
                <a:solidFill>
                  <a:srgbClr val="1E2761"/>
                </a:solidFill>
                <a:latin typeface="Yu Gothic" pitchFamily="34" charset="0"/>
                <a:ea typeface="Yu Gothic" pitchFamily="34" charset="-122"/>
                <a:cs typeface="Yu Gothic" pitchFamily="34" charset="-120"/>
              </a:rPr>
              <a:t>原則2 増分主義
</a:t>
            </a:r>
            <a:pPr indent="0" marL="0">
              <a:lnSpc>
                <a:spcPct val="118000"/>
              </a:lnSpc>
              <a:buNone/>
            </a:pPr>
            <a:r>
              <a:rPr lang="en-US" sz="860" dirty="0">
                <a:solidFill>
                  <a:srgbClr val="2A2A33"/>
                </a:solidFill>
                <a:latin typeface="Yu Gothic" pitchFamily="34" charset="0"/>
                <a:ea typeface="Yu Gothic" pitchFamily="34" charset="-122"/>
                <a:cs typeface="Yu Gothic" pitchFamily="34" charset="-120"/>
              </a:rPr>
              <a:t>ベースライン対比の増分のみ計上。既存顧客の付け替え・自然成長は除外し、カニバリを控除</a:t>
            </a:r>
            <a:endParaRPr lang="en-US" sz="1000" dirty="0"/>
          </a:p>
        </p:txBody>
      </p:sp>
      <p:sp>
        <p:nvSpPr>
          <p:cNvPr id="24" name="Shape 22"/>
          <p:cNvSpPr/>
          <p:nvPr/>
        </p:nvSpPr>
        <p:spPr>
          <a:xfrm>
            <a:off x="6199632" y="4343400"/>
            <a:ext cx="2734056" cy="1417320"/>
          </a:xfrm>
          <a:prstGeom prst="roundRect">
            <a:avLst>
              <a:gd name="adj" fmla="val 3871"/>
            </a:avLst>
          </a:prstGeom>
          <a:solidFill>
            <a:srgbClr val="F4F5F8"/>
          </a:solidFill>
          <a:ln/>
        </p:spPr>
      </p:sp>
      <p:sp>
        <p:nvSpPr>
          <p:cNvPr id="25" name="Text 23"/>
          <p:cNvSpPr/>
          <p:nvPr/>
        </p:nvSpPr>
        <p:spPr>
          <a:xfrm>
            <a:off x="6309360" y="4416552"/>
            <a:ext cx="2514600" cy="1280160"/>
          </a:xfrm>
          <a:prstGeom prst="rect">
            <a:avLst/>
          </a:prstGeom>
          <a:noFill/>
          <a:ln/>
        </p:spPr>
        <p:txBody>
          <a:bodyPr wrap="square" lIns="0" tIns="0" rIns="0" bIns="0" rtlCol="0" anchor="t"/>
          <a:lstStyle/>
          <a:p>
            <a:pPr indent="0" marL="0">
              <a:lnSpc>
                <a:spcPct val="118000"/>
              </a:lnSpc>
              <a:buNone/>
            </a:pPr>
            <a:r>
              <a:rPr lang="en-US" sz="1000" b="1" dirty="0">
                <a:solidFill>
                  <a:srgbClr val="1E2761"/>
                </a:solidFill>
                <a:latin typeface="Yu Gothic" pitchFamily="34" charset="0"/>
                <a:ea typeface="Yu Gothic" pitchFamily="34" charset="-122"/>
                <a:cs typeface="Yu Gothic" pitchFamily="34" charset="-120"/>
              </a:rPr>
              <a:t>原則3 リード/ラグ構造
</a:t>
            </a:r>
            <a:pPr indent="0" marL="0">
              <a:lnSpc>
                <a:spcPct val="118000"/>
              </a:lnSpc>
              <a:buNone/>
            </a:pPr>
            <a:r>
              <a:rPr lang="en-US" sz="860" dirty="0">
                <a:solidFill>
                  <a:srgbClr val="2A2A33"/>
                </a:solidFill>
                <a:latin typeface="Yu Gothic" pitchFamily="34" charset="0"/>
                <a:ea typeface="Yu Gothic" pitchFamily="34" charset="-122"/>
                <a:cs typeface="Yu Gothic" pitchFamily="34" charset="-120"/>
              </a:rPr>
              <a:t>非財務KPI(リード)→価値ドライバKGI(ミッド)→財務KGI(ラグ)の3層で、先行指標が財務を予告する構造にする</a:t>
            </a:r>
            <a:endParaRPr lang="en-US" sz="1000" dirty="0"/>
          </a:p>
        </p:txBody>
      </p:sp>
      <p:sp>
        <p:nvSpPr>
          <p:cNvPr id="26" name="Shape 24"/>
          <p:cNvSpPr/>
          <p:nvPr/>
        </p:nvSpPr>
        <p:spPr>
          <a:xfrm>
            <a:off x="9070848" y="4343400"/>
            <a:ext cx="2734056" cy="1417320"/>
          </a:xfrm>
          <a:prstGeom prst="roundRect">
            <a:avLst>
              <a:gd name="adj" fmla="val 3871"/>
            </a:avLst>
          </a:prstGeom>
          <a:solidFill>
            <a:srgbClr val="F4F5F8"/>
          </a:solidFill>
          <a:ln/>
        </p:spPr>
      </p:sp>
      <p:sp>
        <p:nvSpPr>
          <p:cNvPr id="27" name="Text 25"/>
          <p:cNvSpPr/>
          <p:nvPr/>
        </p:nvSpPr>
        <p:spPr>
          <a:xfrm>
            <a:off x="9180576" y="4416552"/>
            <a:ext cx="2514600" cy="1280160"/>
          </a:xfrm>
          <a:prstGeom prst="rect">
            <a:avLst/>
          </a:prstGeom>
          <a:noFill/>
          <a:ln/>
        </p:spPr>
        <p:txBody>
          <a:bodyPr wrap="square" lIns="0" tIns="0" rIns="0" bIns="0" rtlCol="0" anchor="t"/>
          <a:lstStyle/>
          <a:p>
            <a:pPr indent="0" marL="0">
              <a:lnSpc>
                <a:spcPct val="118000"/>
              </a:lnSpc>
              <a:buNone/>
            </a:pPr>
            <a:r>
              <a:rPr lang="en-US" sz="1000" b="1" dirty="0">
                <a:solidFill>
                  <a:srgbClr val="1E2761"/>
                </a:solidFill>
                <a:latin typeface="Yu Gothic" pitchFamily="34" charset="0"/>
                <a:ea typeface="Yu Gothic" pitchFamily="34" charset="-122"/>
                <a:cs typeface="Yu Gothic" pitchFamily="34" charset="-120"/>
              </a:rPr>
              <a:t>原則4 検証可能性
</a:t>
            </a:r>
            <a:pPr indent="0" marL="0">
              <a:lnSpc>
                <a:spcPct val="118000"/>
              </a:lnSpc>
              <a:buNone/>
            </a:pPr>
            <a:r>
              <a:rPr lang="en-US" sz="860" dirty="0">
                <a:solidFill>
                  <a:srgbClr val="2A2A33"/>
                </a:solidFill>
                <a:latin typeface="Yu Gothic" pitchFamily="34" charset="0"/>
                <a:ea typeface="Yu Gothic" pitchFamily="34" charset="-122"/>
                <a:cs typeface="Yu Gothic" pitchFamily="34" charset="-120"/>
              </a:rPr>
              <a:t>換算係数(収益化率・ARPU・プレミアム受容率・資本コストΔ)はパイロットと柳モデルで毎年実測・更新する</a:t>
            </a:r>
            <a:endParaRPr lang="en-US" sz="1000" dirty="0"/>
          </a:p>
        </p:txBody>
      </p:sp>
      <p:sp>
        <p:nvSpPr>
          <p:cNvPr id="28" name="Text 26"/>
          <p:cNvSpPr/>
          <p:nvPr/>
        </p:nvSpPr>
        <p:spPr>
          <a:xfrm>
            <a:off x="457200" y="5989320"/>
            <a:ext cx="11274552" cy="320040"/>
          </a:xfrm>
          <a:prstGeom prst="rect">
            <a:avLst/>
          </a:prstGeom>
          <a:noFill/>
          <a:ln/>
        </p:spPr>
        <p:txBody>
          <a:bodyPr wrap="square" lIns="0" tIns="0" rIns="0" bIns="0" rtlCol="0" anchor="ctr"/>
          <a:lstStyle/>
          <a:p>
            <a:pPr indent="0" marL="0">
              <a:buNone/>
            </a:pPr>
            <a:r>
              <a:rPr lang="en-US" sz="900" i="1" dirty="0">
                <a:solidFill>
                  <a:srgbClr val="5A5F6B"/>
                </a:solidFill>
                <a:latin typeface="Yu Gothic" pitchFamily="34" charset="0"/>
                <a:ea typeface="Yu Gothic" pitchFamily="34" charset="-122"/>
                <a:cs typeface="Yu Gothic" pitchFamily="34" charset="-120"/>
              </a:rPr>
              <a:t>※ ベースライン(売上約4,000億円・営業利益率約7%・PBR約1.5倍)は公表情報に基づく概数。本書の増分値はすべて例示であり、Phase 0のベースライン実測で確定する</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価値ブリッジ</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企業価値ブリッジ 2030(例示) ― ESGが時価総額をいくら動かすか</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売上・利益・資本コストの3経路で理論時価総額を約4,300億円→8,000億円規模へ(各ブロックに担当KGIを割当て)</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3</a:t>
            </a:r>
            <a:endParaRPr lang="en-US" sz="900" dirty="0"/>
          </a:p>
        </p:txBody>
      </p:sp>
      <p:sp>
        <p:nvSpPr>
          <p:cNvPr id="6" name="Shape 4"/>
          <p:cNvSpPr/>
          <p:nvPr/>
        </p:nvSpPr>
        <p:spPr>
          <a:xfrm>
            <a:off x="685800" y="3213202"/>
            <a:ext cx="1170432" cy="2044598"/>
          </a:xfrm>
          <a:prstGeom prst="rect">
            <a:avLst/>
          </a:prstGeom>
          <a:solidFill>
            <a:srgbClr val="8A93A6"/>
          </a:solidFill>
          <a:ln/>
        </p:spPr>
      </p:sp>
      <p:sp>
        <p:nvSpPr>
          <p:cNvPr id="7" name="Text 5"/>
          <p:cNvSpPr/>
          <p:nvPr/>
        </p:nvSpPr>
        <p:spPr>
          <a:xfrm>
            <a:off x="548640" y="2920594"/>
            <a:ext cx="1444752" cy="256032"/>
          </a:xfrm>
          <a:prstGeom prst="rect">
            <a:avLst/>
          </a:prstGeom>
          <a:noFill/>
          <a:ln/>
        </p:spPr>
        <p:txBody>
          <a:bodyPr wrap="square" lIns="0" tIns="0" rIns="0" bIns="0" rtlCol="0" anchor="ctr"/>
          <a:lstStyle/>
          <a:p>
            <a:pPr algn="ctr" indent="0" marL="0">
              <a:buNone/>
            </a:pPr>
            <a:r>
              <a:rPr lang="en-US" sz="950" b="1" dirty="0">
                <a:solidFill>
                  <a:srgbClr val="2A2A33"/>
                </a:solidFill>
                <a:latin typeface="Yu Gothic" pitchFamily="34" charset="0"/>
                <a:ea typeface="Yu Gothic" pitchFamily="34" charset="-122"/>
                <a:cs typeface="Yu Gothic" pitchFamily="34" charset="-120"/>
              </a:rPr>
              <a:t>約4,300億円</a:t>
            </a:r>
            <a:endParaRPr lang="en-US" sz="950" dirty="0"/>
          </a:p>
        </p:txBody>
      </p:sp>
      <p:sp>
        <p:nvSpPr>
          <p:cNvPr id="8" name="Text 6"/>
          <p:cNvSpPr/>
          <p:nvPr/>
        </p:nvSpPr>
        <p:spPr>
          <a:xfrm>
            <a:off x="457200" y="5330952"/>
            <a:ext cx="1627632" cy="685800"/>
          </a:xfrm>
          <a:prstGeom prst="rect">
            <a:avLst/>
          </a:prstGeom>
          <a:noFill/>
          <a:ln/>
        </p:spPr>
        <p:txBody>
          <a:bodyPr wrap="square" lIns="0" tIns="0" rIns="0" bIns="0" rtlCol="0" anchor="t"/>
          <a:lstStyle/>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現在の時価総額</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(概数)</a:t>
            </a:r>
            <a:endParaRPr lang="en-US" sz="830" dirty="0"/>
          </a:p>
        </p:txBody>
      </p:sp>
      <p:sp>
        <p:nvSpPr>
          <p:cNvPr id="9" name="Shape 7"/>
          <p:cNvSpPr/>
          <p:nvPr/>
        </p:nvSpPr>
        <p:spPr>
          <a:xfrm>
            <a:off x="2148840" y="2595067"/>
            <a:ext cx="1170432" cy="618134"/>
          </a:xfrm>
          <a:prstGeom prst="rect">
            <a:avLst/>
          </a:prstGeom>
          <a:solidFill>
            <a:srgbClr val="C8102E"/>
          </a:solidFill>
          <a:ln/>
        </p:spPr>
      </p:sp>
      <p:sp>
        <p:nvSpPr>
          <p:cNvPr id="10" name="Text 8"/>
          <p:cNvSpPr/>
          <p:nvPr/>
        </p:nvSpPr>
        <p:spPr>
          <a:xfrm>
            <a:off x="2011680" y="2302459"/>
            <a:ext cx="1444752" cy="256032"/>
          </a:xfrm>
          <a:prstGeom prst="rect">
            <a:avLst/>
          </a:prstGeom>
          <a:noFill/>
          <a:ln/>
        </p:spPr>
        <p:txBody>
          <a:bodyPr wrap="square" lIns="0" tIns="0" rIns="0" bIns="0" rtlCol="0" anchor="ctr"/>
          <a:lstStyle/>
          <a:p>
            <a:pPr algn="ctr" indent="0" marL="0">
              <a:buNone/>
            </a:pPr>
            <a:r>
              <a:rPr lang="en-US" sz="950" b="1" dirty="0">
                <a:solidFill>
                  <a:srgbClr val="2A2A33"/>
                </a:solidFill>
                <a:latin typeface="Yu Gothic" pitchFamily="34" charset="0"/>
                <a:ea typeface="Yu Gothic" pitchFamily="34" charset="-122"/>
                <a:cs typeface="Yu Gothic" pitchFamily="34" charset="-120"/>
              </a:rPr>
              <a:t>+約1,300</a:t>
            </a:r>
            <a:endParaRPr lang="en-US" sz="950" dirty="0"/>
          </a:p>
        </p:txBody>
      </p:sp>
      <p:sp>
        <p:nvSpPr>
          <p:cNvPr id="11" name="Text 9"/>
          <p:cNvSpPr/>
          <p:nvPr/>
        </p:nvSpPr>
        <p:spPr>
          <a:xfrm>
            <a:off x="1920240" y="5330952"/>
            <a:ext cx="1627632" cy="685800"/>
          </a:xfrm>
          <a:prstGeom prst="rect">
            <a:avLst/>
          </a:prstGeom>
          <a:noFill/>
          <a:ln/>
        </p:spPr>
        <p:txBody>
          <a:bodyPr wrap="square" lIns="0" tIns="0" rIns="0" bIns="0" rtlCol="0" anchor="t"/>
          <a:lstStyle/>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① 習慣収益化</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増分売上+500億円</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(エンジンA)</a:t>
            </a:r>
            <a:endParaRPr lang="en-US" sz="830" dirty="0"/>
          </a:p>
        </p:txBody>
      </p:sp>
      <p:sp>
        <p:nvSpPr>
          <p:cNvPr id="12" name="Shape 10"/>
          <p:cNvSpPr/>
          <p:nvPr/>
        </p:nvSpPr>
        <p:spPr>
          <a:xfrm>
            <a:off x="1856232" y="3213202"/>
            <a:ext cx="292608" cy="0"/>
          </a:xfrm>
          <a:prstGeom prst="line">
            <a:avLst/>
          </a:prstGeom>
          <a:noFill/>
          <a:ln w="9525">
            <a:solidFill>
              <a:srgbClr val="C0C5D0"/>
            </a:solidFill>
            <a:prstDash val="dash"/>
          </a:ln>
        </p:spPr>
      </p:sp>
      <p:sp>
        <p:nvSpPr>
          <p:cNvPr id="13" name="Shape 11"/>
          <p:cNvSpPr/>
          <p:nvPr/>
        </p:nvSpPr>
        <p:spPr>
          <a:xfrm>
            <a:off x="3611880" y="2262226"/>
            <a:ext cx="1170432" cy="332842"/>
          </a:xfrm>
          <a:prstGeom prst="rect">
            <a:avLst/>
          </a:prstGeom>
          <a:solidFill>
            <a:srgbClr val="C8102E"/>
          </a:solidFill>
          <a:ln/>
        </p:spPr>
      </p:sp>
      <p:sp>
        <p:nvSpPr>
          <p:cNvPr id="14" name="Text 12"/>
          <p:cNvSpPr/>
          <p:nvPr/>
        </p:nvSpPr>
        <p:spPr>
          <a:xfrm>
            <a:off x="3474720" y="1969618"/>
            <a:ext cx="1444752" cy="256032"/>
          </a:xfrm>
          <a:prstGeom prst="rect">
            <a:avLst/>
          </a:prstGeom>
          <a:noFill/>
          <a:ln/>
        </p:spPr>
        <p:txBody>
          <a:bodyPr wrap="square" lIns="0" tIns="0" rIns="0" bIns="0" rtlCol="0" anchor="ctr"/>
          <a:lstStyle/>
          <a:p>
            <a:pPr algn="ctr" indent="0" marL="0">
              <a:buNone/>
            </a:pPr>
            <a:r>
              <a:rPr lang="en-US" sz="950" b="1" dirty="0">
                <a:solidFill>
                  <a:srgbClr val="2A2A33"/>
                </a:solidFill>
                <a:latin typeface="Yu Gothic" pitchFamily="34" charset="0"/>
                <a:ea typeface="Yu Gothic" pitchFamily="34" charset="-122"/>
                <a:cs typeface="Yu Gothic" pitchFamily="34" charset="-120"/>
              </a:rPr>
              <a:t>+約700</a:t>
            </a:r>
            <a:endParaRPr lang="en-US" sz="950" dirty="0"/>
          </a:p>
        </p:txBody>
      </p:sp>
      <p:sp>
        <p:nvSpPr>
          <p:cNvPr id="15" name="Text 13"/>
          <p:cNvSpPr/>
          <p:nvPr/>
        </p:nvSpPr>
        <p:spPr>
          <a:xfrm>
            <a:off x="3383280" y="5330952"/>
            <a:ext cx="1627632" cy="685800"/>
          </a:xfrm>
          <a:prstGeom prst="rect">
            <a:avLst/>
          </a:prstGeom>
          <a:noFill/>
          <a:ln/>
        </p:spPr>
        <p:txBody>
          <a:bodyPr wrap="square" lIns="0" tIns="0" rIns="0" bIns="0" rtlCol="0" anchor="t"/>
          <a:lstStyle/>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② ミックス・</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B2B2C +300億円</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(エンジンB)</a:t>
            </a:r>
            <a:endParaRPr lang="en-US" sz="830" dirty="0"/>
          </a:p>
        </p:txBody>
      </p:sp>
      <p:sp>
        <p:nvSpPr>
          <p:cNvPr id="16" name="Shape 14"/>
          <p:cNvSpPr/>
          <p:nvPr/>
        </p:nvSpPr>
        <p:spPr>
          <a:xfrm>
            <a:off x="3319272" y="2595067"/>
            <a:ext cx="292608" cy="0"/>
          </a:xfrm>
          <a:prstGeom prst="line">
            <a:avLst/>
          </a:prstGeom>
          <a:noFill/>
          <a:ln w="9525">
            <a:solidFill>
              <a:srgbClr val="C0C5D0"/>
            </a:solidFill>
            <a:prstDash val="dash"/>
          </a:ln>
        </p:spPr>
      </p:sp>
      <p:sp>
        <p:nvSpPr>
          <p:cNvPr id="17" name="Shape 15"/>
          <p:cNvSpPr/>
          <p:nvPr/>
        </p:nvSpPr>
        <p:spPr>
          <a:xfrm>
            <a:off x="5074920" y="2024482"/>
            <a:ext cx="1170432" cy="237744"/>
          </a:xfrm>
          <a:prstGeom prst="rect">
            <a:avLst/>
          </a:prstGeom>
          <a:solidFill>
            <a:srgbClr val="1E2761"/>
          </a:solidFill>
          <a:ln/>
        </p:spPr>
      </p:sp>
      <p:sp>
        <p:nvSpPr>
          <p:cNvPr id="18" name="Text 16"/>
          <p:cNvSpPr/>
          <p:nvPr/>
        </p:nvSpPr>
        <p:spPr>
          <a:xfrm>
            <a:off x="4937760" y="1731874"/>
            <a:ext cx="1444752" cy="256032"/>
          </a:xfrm>
          <a:prstGeom prst="rect">
            <a:avLst/>
          </a:prstGeom>
          <a:noFill/>
          <a:ln/>
        </p:spPr>
        <p:txBody>
          <a:bodyPr wrap="square" lIns="0" tIns="0" rIns="0" bIns="0" rtlCol="0" anchor="ctr"/>
          <a:lstStyle/>
          <a:p>
            <a:pPr algn="ctr" indent="0" marL="0">
              <a:buNone/>
            </a:pPr>
            <a:r>
              <a:rPr lang="en-US" sz="950" b="1" dirty="0">
                <a:solidFill>
                  <a:srgbClr val="2A2A33"/>
                </a:solidFill>
                <a:latin typeface="Yu Gothic" pitchFamily="34" charset="0"/>
                <a:ea typeface="Yu Gothic" pitchFamily="34" charset="-122"/>
                <a:cs typeface="Yu Gothic" pitchFamily="34" charset="-120"/>
              </a:rPr>
              <a:t>+約500</a:t>
            </a:r>
            <a:endParaRPr lang="en-US" sz="950" dirty="0"/>
          </a:p>
        </p:txBody>
      </p:sp>
      <p:sp>
        <p:nvSpPr>
          <p:cNvPr id="19" name="Text 17"/>
          <p:cNvSpPr/>
          <p:nvPr/>
        </p:nvSpPr>
        <p:spPr>
          <a:xfrm>
            <a:off x="4846320" y="5330952"/>
            <a:ext cx="1627632" cy="685800"/>
          </a:xfrm>
          <a:prstGeom prst="rect">
            <a:avLst/>
          </a:prstGeom>
          <a:noFill/>
          <a:ln/>
        </p:spPr>
        <p:txBody>
          <a:bodyPr wrap="square" lIns="0" tIns="0" rIns="0" bIns="0" rtlCol="0" anchor="t"/>
          <a:lstStyle/>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③ 防衛価値</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CFP・炭素税</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(エンジンC)</a:t>
            </a:r>
            <a:endParaRPr lang="en-US" sz="830" dirty="0"/>
          </a:p>
        </p:txBody>
      </p:sp>
      <p:sp>
        <p:nvSpPr>
          <p:cNvPr id="20" name="Shape 18"/>
          <p:cNvSpPr/>
          <p:nvPr/>
        </p:nvSpPr>
        <p:spPr>
          <a:xfrm>
            <a:off x="4782312" y="2262226"/>
            <a:ext cx="292608" cy="0"/>
          </a:xfrm>
          <a:prstGeom prst="line">
            <a:avLst/>
          </a:prstGeom>
          <a:noFill/>
          <a:ln w="9525">
            <a:solidFill>
              <a:srgbClr val="C0C5D0"/>
            </a:solidFill>
            <a:prstDash val="dash"/>
          </a:ln>
        </p:spPr>
      </p:sp>
      <p:sp>
        <p:nvSpPr>
          <p:cNvPr id="21" name="Shape 19"/>
          <p:cNvSpPr/>
          <p:nvPr/>
        </p:nvSpPr>
        <p:spPr>
          <a:xfrm>
            <a:off x="6537960" y="1834286"/>
            <a:ext cx="1170432" cy="190195"/>
          </a:xfrm>
          <a:prstGeom prst="rect">
            <a:avLst/>
          </a:prstGeom>
          <a:solidFill>
            <a:srgbClr val="2C6E49"/>
          </a:solidFill>
          <a:ln/>
        </p:spPr>
      </p:sp>
      <p:sp>
        <p:nvSpPr>
          <p:cNvPr id="22" name="Text 20"/>
          <p:cNvSpPr/>
          <p:nvPr/>
        </p:nvSpPr>
        <p:spPr>
          <a:xfrm>
            <a:off x="6400800" y="1541678"/>
            <a:ext cx="1444752" cy="256032"/>
          </a:xfrm>
          <a:prstGeom prst="rect">
            <a:avLst/>
          </a:prstGeom>
          <a:noFill/>
          <a:ln/>
        </p:spPr>
        <p:txBody>
          <a:bodyPr wrap="square" lIns="0" tIns="0" rIns="0" bIns="0" rtlCol="0" anchor="ctr"/>
          <a:lstStyle/>
          <a:p>
            <a:pPr algn="ctr" indent="0" marL="0">
              <a:buNone/>
            </a:pPr>
            <a:r>
              <a:rPr lang="en-US" sz="950" b="1" dirty="0">
                <a:solidFill>
                  <a:srgbClr val="2A2A33"/>
                </a:solidFill>
                <a:latin typeface="Yu Gothic" pitchFamily="34" charset="0"/>
                <a:ea typeface="Yu Gothic" pitchFamily="34" charset="-122"/>
                <a:cs typeface="Yu Gothic" pitchFamily="34" charset="-120"/>
              </a:rPr>
              <a:t>+約400</a:t>
            </a:r>
            <a:endParaRPr lang="en-US" sz="950" dirty="0"/>
          </a:p>
        </p:txBody>
      </p:sp>
      <p:sp>
        <p:nvSpPr>
          <p:cNvPr id="23" name="Text 21"/>
          <p:cNvSpPr/>
          <p:nvPr/>
        </p:nvSpPr>
        <p:spPr>
          <a:xfrm>
            <a:off x="6309360" y="5330952"/>
            <a:ext cx="1627632" cy="685800"/>
          </a:xfrm>
          <a:prstGeom prst="rect">
            <a:avLst/>
          </a:prstGeom>
          <a:noFill/>
          <a:ln/>
        </p:spPr>
        <p:txBody>
          <a:bodyPr wrap="square" lIns="0" tIns="0" rIns="0" bIns="0" rtlCol="0" anchor="t"/>
          <a:lstStyle/>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④ コスト・効率</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利益率改善</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(エンジンD)</a:t>
            </a:r>
            <a:endParaRPr lang="en-US" sz="830" dirty="0"/>
          </a:p>
        </p:txBody>
      </p:sp>
      <p:sp>
        <p:nvSpPr>
          <p:cNvPr id="24" name="Shape 22"/>
          <p:cNvSpPr/>
          <p:nvPr/>
        </p:nvSpPr>
        <p:spPr>
          <a:xfrm>
            <a:off x="6245352" y="2024482"/>
            <a:ext cx="292608" cy="0"/>
          </a:xfrm>
          <a:prstGeom prst="line">
            <a:avLst/>
          </a:prstGeom>
          <a:noFill/>
          <a:ln w="9525">
            <a:solidFill>
              <a:srgbClr val="C0C5D0"/>
            </a:solidFill>
            <a:prstDash val="dash"/>
          </a:ln>
        </p:spPr>
      </p:sp>
      <p:sp>
        <p:nvSpPr>
          <p:cNvPr id="25" name="Shape 23"/>
          <p:cNvSpPr/>
          <p:nvPr/>
        </p:nvSpPr>
        <p:spPr>
          <a:xfrm>
            <a:off x="8001000" y="1453896"/>
            <a:ext cx="1170432" cy="380390"/>
          </a:xfrm>
          <a:prstGeom prst="rect">
            <a:avLst/>
          </a:prstGeom>
          <a:solidFill>
            <a:srgbClr val="1E2761"/>
          </a:solidFill>
          <a:ln/>
        </p:spPr>
      </p:sp>
      <p:sp>
        <p:nvSpPr>
          <p:cNvPr id="26" name="Text 24"/>
          <p:cNvSpPr/>
          <p:nvPr/>
        </p:nvSpPr>
        <p:spPr>
          <a:xfrm>
            <a:off x="7863840" y="1161288"/>
            <a:ext cx="1444752" cy="256032"/>
          </a:xfrm>
          <a:prstGeom prst="rect">
            <a:avLst/>
          </a:prstGeom>
          <a:noFill/>
          <a:ln/>
        </p:spPr>
        <p:txBody>
          <a:bodyPr wrap="square" lIns="0" tIns="0" rIns="0" bIns="0" rtlCol="0" anchor="ctr"/>
          <a:lstStyle/>
          <a:p>
            <a:pPr algn="ctr" indent="0" marL="0">
              <a:buNone/>
            </a:pPr>
            <a:r>
              <a:rPr lang="en-US" sz="950" b="1" dirty="0">
                <a:solidFill>
                  <a:srgbClr val="2A2A33"/>
                </a:solidFill>
                <a:latin typeface="Yu Gothic" pitchFamily="34" charset="0"/>
                <a:ea typeface="Yu Gothic" pitchFamily="34" charset="-122"/>
                <a:cs typeface="Yu Gothic" pitchFamily="34" charset="-120"/>
              </a:rPr>
              <a:t>+約800</a:t>
            </a:r>
            <a:endParaRPr lang="en-US" sz="950" dirty="0"/>
          </a:p>
        </p:txBody>
      </p:sp>
      <p:sp>
        <p:nvSpPr>
          <p:cNvPr id="27" name="Text 25"/>
          <p:cNvSpPr/>
          <p:nvPr/>
        </p:nvSpPr>
        <p:spPr>
          <a:xfrm>
            <a:off x="7772400" y="5330952"/>
            <a:ext cx="1627632" cy="685800"/>
          </a:xfrm>
          <a:prstGeom prst="rect">
            <a:avLst/>
          </a:prstGeom>
          <a:noFill/>
          <a:ln/>
        </p:spPr>
        <p:txBody>
          <a:bodyPr wrap="square" lIns="0" tIns="0" rIns="0" bIns="0" rtlCol="0" anchor="t"/>
          <a:lstStyle/>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⑤ 資本コスト</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▲0.4pt→PER改善</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(エンジンE)</a:t>
            </a:r>
            <a:endParaRPr lang="en-US" sz="830" dirty="0"/>
          </a:p>
        </p:txBody>
      </p:sp>
      <p:sp>
        <p:nvSpPr>
          <p:cNvPr id="28" name="Shape 26"/>
          <p:cNvSpPr/>
          <p:nvPr/>
        </p:nvSpPr>
        <p:spPr>
          <a:xfrm>
            <a:off x="7708392" y="1834286"/>
            <a:ext cx="292608" cy="0"/>
          </a:xfrm>
          <a:prstGeom prst="line">
            <a:avLst/>
          </a:prstGeom>
          <a:noFill/>
          <a:ln w="9525">
            <a:solidFill>
              <a:srgbClr val="C0C5D0"/>
            </a:solidFill>
            <a:prstDash val="dash"/>
          </a:ln>
        </p:spPr>
      </p:sp>
      <p:sp>
        <p:nvSpPr>
          <p:cNvPr id="29" name="Shape 27"/>
          <p:cNvSpPr/>
          <p:nvPr/>
        </p:nvSpPr>
        <p:spPr>
          <a:xfrm>
            <a:off x="9171432" y="1453896"/>
            <a:ext cx="292608" cy="0"/>
          </a:xfrm>
          <a:prstGeom prst="line">
            <a:avLst/>
          </a:prstGeom>
          <a:noFill/>
          <a:ln w="9525">
            <a:solidFill>
              <a:srgbClr val="C0C5D0"/>
            </a:solidFill>
            <a:prstDash val="dash"/>
          </a:ln>
        </p:spPr>
      </p:sp>
      <p:sp>
        <p:nvSpPr>
          <p:cNvPr id="30" name="Shape 28"/>
          <p:cNvSpPr/>
          <p:nvPr/>
        </p:nvSpPr>
        <p:spPr>
          <a:xfrm>
            <a:off x="9464040" y="1453896"/>
            <a:ext cx="1170432" cy="3803904"/>
          </a:xfrm>
          <a:prstGeom prst="rect">
            <a:avLst/>
          </a:prstGeom>
          <a:solidFill>
            <a:srgbClr val="C8102E"/>
          </a:solidFill>
          <a:ln/>
        </p:spPr>
      </p:sp>
      <p:sp>
        <p:nvSpPr>
          <p:cNvPr id="31" name="Text 29"/>
          <p:cNvSpPr/>
          <p:nvPr/>
        </p:nvSpPr>
        <p:spPr>
          <a:xfrm>
            <a:off x="9326880" y="1161288"/>
            <a:ext cx="1444752" cy="256032"/>
          </a:xfrm>
          <a:prstGeom prst="rect">
            <a:avLst/>
          </a:prstGeom>
          <a:noFill/>
          <a:ln/>
        </p:spPr>
        <p:txBody>
          <a:bodyPr wrap="square" lIns="0" tIns="0" rIns="0" bIns="0" rtlCol="0" anchor="ctr"/>
          <a:lstStyle/>
          <a:p>
            <a:pPr algn="ctr" indent="0" marL="0">
              <a:buNone/>
            </a:pPr>
            <a:r>
              <a:rPr lang="en-US" sz="950" b="1" dirty="0">
                <a:solidFill>
                  <a:srgbClr val="2A2A33"/>
                </a:solidFill>
                <a:latin typeface="Yu Gothic" pitchFamily="34" charset="0"/>
                <a:ea typeface="Yu Gothic" pitchFamily="34" charset="-122"/>
                <a:cs typeface="Yu Gothic" pitchFamily="34" charset="-120"/>
              </a:rPr>
              <a:t>約8,000億円</a:t>
            </a:r>
            <a:endParaRPr lang="en-US" sz="950" dirty="0"/>
          </a:p>
        </p:txBody>
      </p:sp>
      <p:sp>
        <p:nvSpPr>
          <p:cNvPr id="32" name="Text 30"/>
          <p:cNvSpPr/>
          <p:nvPr/>
        </p:nvSpPr>
        <p:spPr>
          <a:xfrm>
            <a:off x="9235440" y="5330952"/>
            <a:ext cx="1627632" cy="685800"/>
          </a:xfrm>
          <a:prstGeom prst="rect">
            <a:avLst/>
          </a:prstGeom>
          <a:noFill/>
          <a:ln/>
        </p:spPr>
        <p:txBody>
          <a:bodyPr wrap="square" lIns="0" tIns="0" rIns="0" bIns="0" rtlCol="0" anchor="t"/>
          <a:lstStyle/>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2030 理論時価総額</a:t>
            </a:r>
            <a:endParaRPr lang="en-US" sz="830" dirty="0"/>
          </a:p>
          <a:p>
            <a:pPr algn="ctr" indent="0" marL="0">
              <a:lnSpc>
                <a:spcPct val="105000"/>
              </a:lnSpc>
              <a:buNone/>
            </a:pPr>
            <a:r>
              <a:rPr lang="en-US" sz="830" b="1" dirty="0">
                <a:solidFill>
                  <a:srgbClr val="5A5F6B"/>
                </a:solidFill>
                <a:latin typeface="Yu Gothic" pitchFamily="34" charset="0"/>
                <a:ea typeface="Yu Gothic" pitchFamily="34" charset="-122"/>
                <a:cs typeface="Yu Gothic" pitchFamily="34" charset="-120"/>
              </a:rPr>
              <a:t>(PBR 2.0倍水準)</a:t>
            </a:r>
            <a:endParaRPr lang="en-US" sz="830" dirty="0"/>
          </a:p>
        </p:txBody>
      </p:sp>
      <p:sp>
        <p:nvSpPr>
          <p:cNvPr id="33" name="Shape 31"/>
          <p:cNvSpPr/>
          <p:nvPr/>
        </p:nvSpPr>
        <p:spPr>
          <a:xfrm>
            <a:off x="548640" y="5257800"/>
            <a:ext cx="11155680" cy="0"/>
          </a:xfrm>
          <a:prstGeom prst="line">
            <a:avLst/>
          </a:prstGeom>
          <a:noFill/>
          <a:ln w="15875">
            <a:solidFill>
              <a:srgbClr val="8A93A6"/>
            </a:solidFill>
            <a:prstDash val="solid"/>
          </a:ln>
        </p:spPr>
      </p:sp>
      <p:sp>
        <p:nvSpPr>
          <p:cNvPr id="34" name="Shape 32"/>
          <p:cNvSpPr/>
          <p:nvPr/>
        </p:nvSpPr>
        <p:spPr>
          <a:xfrm>
            <a:off x="457200" y="6035040"/>
            <a:ext cx="11274552" cy="502920"/>
          </a:xfrm>
          <a:prstGeom prst="roundRect">
            <a:avLst>
              <a:gd name="adj" fmla="val 10909"/>
            </a:avLst>
          </a:prstGeom>
          <a:solidFill>
            <a:srgbClr val="FBECEE"/>
          </a:solidFill>
          <a:ln/>
        </p:spPr>
      </p:sp>
      <p:sp>
        <p:nvSpPr>
          <p:cNvPr id="35" name="Text 33"/>
          <p:cNvSpPr/>
          <p:nvPr/>
        </p:nvSpPr>
        <p:spPr>
          <a:xfrm>
            <a:off x="640080" y="6062472"/>
            <a:ext cx="10927080" cy="438912"/>
          </a:xfrm>
          <a:prstGeom prst="rect">
            <a:avLst/>
          </a:prstGeom>
          <a:noFill/>
          <a:ln/>
        </p:spPr>
        <p:txBody>
          <a:bodyPr wrap="square" lIns="0" tIns="0" rIns="0" bIns="0" rtlCol="0" anchor="ctr"/>
          <a:lstStyle/>
          <a:p>
            <a:pPr indent="0" marL="0">
              <a:buNone/>
            </a:pPr>
            <a:r>
              <a:rPr lang="en-US" sz="950" b="1" dirty="0">
                <a:solidFill>
                  <a:srgbClr val="C8102E"/>
                </a:solidFill>
                <a:latin typeface="Yu Gothic" pitchFamily="34" charset="0"/>
                <a:ea typeface="Yu Gothic" pitchFamily="34" charset="-122"/>
                <a:cs typeface="Yu Gothic" pitchFamily="34" charset="-120"/>
              </a:rPr>
              <a:t>読み方: ブロック①〜⑤がそのまま5つの「価値エンジン」= KGIの単位になる。以降、各エンジンの換算式と担当KPIを定義する(数値は例示・利益/マルチプル換算を含む概算)</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エンジン A</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習慣ファネルの収益化 ― 「5億人」を売上に翻訳する換算構造</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人口はファネルの入口にすぎない。KGIは「収益化人口 × ARPU」で定義し、増分売上+500億円(例示)にコミットする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4</a:t>
            </a:r>
            <a:endParaRPr lang="en-US" sz="900" dirty="0"/>
          </a:p>
        </p:txBody>
      </p:sp>
      <p:sp>
        <p:nvSpPr>
          <p:cNvPr id="6" name="Shape 4"/>
          <p:cNvSpPr/>
          <p:nvPr/>
        </p:nvSpPr>
        <p:spPr>
          <a:xfrm>
            <a:off x="457200" y="1280160"/>
            <a:ext cx="6236208" cy="658368"/>
          </a:xfrm>
          <a:prstGeom prst="roundRect">
            <a:avLst>
              <a:gd name="adj" fmla="val 8333"/>
            </a:avLst>
          </a:prstGeom>
          <a:solidFill>
            <a:srgbClr val="EEF3FB"/>
          </a:solidFill>
          <a:ln w="12700">
            <a:solidFill>
              <a:srgbClr val="C9D4E8"/>
            </a:solidFill>
            <a:prstDash val="solid"/>
          </a:ln>
        </p:spPr>
      </p:sp>
      <p:sp>
        <p:nvSpPr>
          <p:cNvPr id="7" name="Text 5"/>
          <p:cNvSpPr/>
          <p:nvPr/>
        </p:nvSpPr>
        <p:spPr>
          <a:xfrm>
            <a:off x="621792" y="1280160"/>
            <a:ext cx="5961888" cy="658368"/>
          </a:xfrm>
          <a:prstGeom prst="rect">
            <a:avLst/>
          </a:prstGeom>
          <a:noFill/>
          <a:ln/>
        </p:spPr>
        <p:txBody>
          <a:bodyPr wrap="square" lIns="0" tIns="0" rIns="0" bIns="0" rtlCol="0" anchor="ctr"/>
          <a:lstStyle/>
          <a:p>
            <a:pPr indent="0" marL="0">
              <a:buNone/>
            </a:pPr>
            <a:r>
              <a:rPr lang="en-US" sz="1100" b="1" dirty="0">
                <a:solidFill>
                  <a:srgbClr val="8A93A6"/>
                </a:solidFill>
                <a:latin typeface="Yu Gothic" pitchFamily="34" charset="0"/>
                <a:ea typeface="Yu Gothic" pitchFamily="34" charset="-122"/>
                <a:cs typeface="Yu Gothic" pitchFamily="34" charset="-120"/>
              </a:rPr>
              <a:t>リーチ人口  </a:t>
            </a:r>
            <a:pPr indent="0" marL="0">
              <a:buNone/>
            </a:pPr>
            <a:r>
              <a:rPr lang="en-US" sz="1300" b="1" dirty="0">
                <a:solidFill>
                  <a:srgbClr val="C8102E"/>
                </a:solidFill>
                <a:latin typeface="Yu Gothic" pitchFamily="34" charset="0"/>
                <a:ea typeface="Yu Gothic" pitchFamily="34" charset="-122"/>
                <a:cs typeface="Yu Gothic" pitchFamily="34" charset="-120"/>
              </a:rPr>
              <a:t>5.0億人  </a:t>
            </a:r>
            <a:pPr indent="0" marL="0">
              <a:buNone/>
            </a:pPr>
            <a:r>
              <a:rPr lang="en-US" sz="860" dirty="0">
                <a:solidFill>
                  <a:srgbClr val="5A5F6B"/>
                </a:solidFill>
                <a:latin typeface="Yu Gothic" pitchFamily="34" charset="0"/>
                <a:ea typeface="Yu Gothic" pitchFamily="34" charset="-122"/>
                <a:cs typeface="Yu Gothic" pitchFamily="34" charset="-120"/>
              </a:rPr>
              <a:t>啓発・教育・製品接点に到達(アジア累計)</a:t>
            </a:r>
            <a:endParaRPr lang="en-US" sz="1100" dirty="0"/>
          </a:p>
        </p:txBody>
      </p:sp>
      <p:sp>
        <p:nvSpPr>
          <p:cNvPr id="8" name="Text 6"/>
          <p:cNvSpPr/>
          <p:nvPr/>
        </p:nvSpPr>
        <p:spPr>
          <a:xfrm>
            <a:off x="6949440" y="1755648"/>
            <a:ext cx="2377440" cy="274320"/>
          </a:xfrm>
          <a:prstGeom prst="rect">
            <a:avLst/>
          </a:prstGeom>
          <a:noFill/>
          <a:ln/>
        </p:spPr>
        <p:txBody>
          <a:bodyPr wrap="square" lIns="0" tIns="0" rIns="0" bIns="0" rtlCol="0" anchor="ctr"/>
          <a:lstStyle/>
          <a:p>
            <a:pPr indent="0" marL="0">
              <a:buNone/>
            </a:pPr>
            <a:r>
              <a:rPr lang="en-US" sz="850" b="1" dirty="0">
                <a:solidFill>
                  <a:srgbClr val="5A5F6B"/>
                </a:solidFill>
                <a:latin typeface="Yu Gothic" pitchFamily="34" charset="0"/>
                <a:ea typeface="Yu Gothic" pitchFamily="34" charset="-122"/>
                <a:cs typeface="Yu Gothic" pitchFamily="34" charset="-120"/>
              </a:rPr>
              <a:t>→ 習慣化率 40%</a:t>
            </a:r>
            <a:endParaRPr lang="en-US" sz="850" dirty="0"/>
          </a:p>
        </p:txBody>
      </p:sp>
      <p:sp>
        <p:nvSpPr>
          <p:cNvPr id="9" name="Shape 7"/>
          <p:cNvSpPr/>
          <p:nvPr/>
        </p:nvSpPr>
        <p:spPr>
          <a:xfrm>
            <a:off x="457200" y="2121408"/>
            <a:ext cx="4875581" cy="658368"/>
          </a:xfrm>
          <a:prstGeom prst="roundRect">
            <a:avLst>
              <a:gd name="adj" fmla="val 8333"/>
            </a:avLst>
          </a:prstGeom>
          <a:solidFill>
            <a:srgbClr val="EEF3FB"/>
          </a:solidFill>
          <a:ln w="12700">
            <a:solidFill>
              <a:srgbClr val="C9D4E8"/>
            </a:solidFill>
            <a:prstDash val="solid"/>
          </a:ln>
        </p:spPr>
      </p:sp>
      <p:sp>
        <p:nvSpPr>
          <p:cNvPr id="10" name="Text 8"/>
          <p:cNvSpPr/>
          <p:nvPr/>
        </p:nvSpPr>
        <p:spPr>
          <a:xfrm>
            <a:off x="621792" y="2121408"/>
            <a:ext cx="4601261" cy="658368"/>
          </a:xfrm>
          <a:prstGeom prst="rect">
            <a:avLst/>
          </a:prstGeom>
          <a:noFill/>
          <a:ln/>
        </p:spPr>
        <p:txBody>
          <a:bodyPr wrap="square" lIns="0" tIns="0" rIns="0" bIns="0" rtlCol="0" anchor="ctr"/>
          <a:lstStyle/>
          <a:p>
            <a:pPr indent="0" marL="0">
              <a:buNone/>
            </a:pPr>
            <a:r>
              <a:rPr lang="en-US" sz="1100" b="1" dirty="0">
                <a:solidFill>
                  <a:srgbClr val="1E2761"/>
                </a:solidFill>
                <a:latin typeface="Yu Gothic" pitchFamily="34" charset="0"/>
                <a:ea typeface="Yu Gothic" pitchFamily="34" charset="-122"/>
                <a:cs typeface="Yu Gothic" pitchFamily="34" charset="-120"/>
              </a:rPr>
              <a:t>習慣化人口  </a:t>
            </a:r>
            <a:pPr indent="0" marL="0">
              <a:buNone/>
            </a:pPr>
            <a:r>
              <a:rPr lang="en-US" sz="1300" b="1" dirty="0">
                <a:solidFill>
                  <a:srgbClr val="C8102E"/>
                </a:solidFill>
                <a:latin typeface="Yu Gothic" pitchFamily="34" charset="0"/>
                <a:ea typeface="Yu Gothic" pitchFamily="34" charset="-122"/>
                <a:cs typeface="Yu Gothic" pitchFamily="34" charset="-120"/>
              </a:rPr>
              <a:t>2.0億人  </a:t>
            </a:r>
            <a:pPr indent="0" marL="0">
              <a:buNone/>
            </a:pPr>
            <a:r>
              <a:rPr lang="en-US" sz="860" dirty="0">
                <a:solidFill>
                  <a:srgbClr val="5A5F6B"/>
                </a:solidFill>
                <a:latin typeface="Yu Gothic" pitchFamily="34" charset="0"/>
                <a:ea typeface="Yu Gothic" pitchFamily="34" charset="-122"/>
                <a:cs typeface="Yu Gothic" pitchFamily="34" charset="-120"/>
              </a:rPr>
              <a:t>行動変容が定着(調査・アプリ・実証で計測)</a:t>
            </a:r>
            <a:endParaRPr lang="en-US" sz="1100" dirty="0"/>
          </a:p>
        </p:txBody>
      </p:sp>
      <p:sp>
        <p:nvSpPr>
          <p:cNvPr id="11" name="Text 9"/>
          <p:cNvSpPr/>
          <p:nvPr/>
        </p:nvSpPr>
        <p:spPr>
          <a:xfrm>
            <a:off x="6949440" y="2596896"/>
            <a:ext cx="2377440" cy="274320"/>
          </a:xfrm>
          <a:prstGeom prst="rect">
            <a:avLst/>
          </a:prstGeom>
          <a:noFill/>
          <a:ln/>
        </p:spPr>
        <p:txBody>
          <a:bodyPr wrap="square" lIns="0" tIns="0" rIns="0" bIns="0" rtlCol="0" anchor="ctr"/>
          <a:lstStyle/>
          <a:p>
            <a:pPr indent="0" marL="0">
              <a:buNone/>
            </a:pPr>
            <a:r>
              <a:rPr lang="en-US" sz="850" b="1" dirty="0">
                <a:solidFill>
                  <a:srgbClr val="5A5F6B"/>
                </a:solidFill>
                <a:latin typeface="Yu Gothic" pitchFamily="34" charset="0"/>
                <a:ea typeface="Yu Gothic" pitchFamily="34" charset="-122"/>
                <a:cs typeface="Yu Gothic" pitchFamily="34" charset="-120"/>
              </a:rPr>
              <a:t>→ 収益化率 50%</a:t>
            </a:r>
            <a:endParaRPr lang="en-US" sz="850" dirty="0"/>
          </a:p>
        </p:txBody>
      </p:sp>
      <p:sp>
        <p:nvSpPr>
          <p:cNvPr id="12" name="Shape 10"/>
          <p:cNvSpPr/>
          <p:nvPr/>
        </p:nvSpPr>
        <p:spPr>
          <a:xfrm>
            <a:off x="457200" y="2962656"/>
            <a:ext cx="3514954" cy="658368"/>
          </a:xfrm>
          <a:prstGeom prst="roundRect">
            <a:avLst>
              <a:gd name="adj" fmla="val 8333"/>
            </a:avLst>
          </a:prstGeom>
          <a:solidFill>
            <a:srgbClr val="FBECEE"/>
          </a:solidFill>
          <a:ln w="19050">
            <a:solidFill>
              <a:srgbClr val="C8102E"/>
            </a:solidFill>
            <a:prstDash val="solid"/>
          </a:ln>
        </p:spPr>
      </p:sp>
      <p:sp>
        <p:nvSpPr>
          <p:cNvPr id="13" name="Text 11"/>
          <p:cNvSpPr/>
          <p:nvPr/>
        </p:nvSpPr>
        <p:spPr>
          <a:xfrm>
            <a:off x="621792" y="2962656"/>
            <a:ext cx="3240634" cy="658368"/>
          </a:xfrm>
          <a:prstGeom prst="rect">
            <a:avLst/>
          </a:prstGeom>
          <a:noFill/>
          <a:ln/>
        </p:spPr>
        <p:txBody>
          <a:bodyPr wrap="square" lIns="0" tIns="0" rIns="0" bIns="0" rtlCol="0" anchor="ctr"/>
          <a:lstStyle/>
          <a:p>
            <a:pPr indent="0" marL="0">
              <a:buNone/>
            </a:pPr>
            <a:r>
              <a:rPr lang="en-US" sz="1100" b="1" dirty="0">
                <a:solidFill>
                  <a:srgbClr val="C8102E"/>
                </a:solidFill>
                <a:latin typeface="Yu Gothic" pitchFamily="34" charset="0"/>
                <a:ea typeface="Yu Gothic" pitchFamily="34" charset="-122"/>
                <a:cs typeface="Yu Gothic" pitchFamily="34" charset="-120"/>
              </a:rPr>
              <a:t>当社収益化人口  </a:t>
            </a:r>
            <a:pPr indent="0" marL="0">
              <a:buNone/>
            </a:pPr>
            <a:r>
              <a:rPr lang="en-US" sz="1300" b="1" dirty="0">
                <a:solidFill>
                  <a:srgbClr val="C8102E"/>
                </a:solidFill>
                <a:latin typeface="Yu Gothic" pitchFamily="34" charset="0"/>
                <a:ea typeface="Yu Gothic" pitchFamily="34" charset="-122"/>
                <a:cs typeface="Yu Gothic" pitchFamily="34" charset="-120"/>
              </a:rPr>
              <a:t>1.0億人  </a:t>
            </a:r>
            <a:pPr indent="0" marL="0">
              <a:buNone/>
            </a:pPr>
            <a:r>
              <a:rPr lang="en-US" sz="860" dirty="0">
                <a:solidFill>
                  <a:srgbClr val="5A5F6B"/>
                </a:solidFill>
                <a:latin typeface="Yu Gothic" pitchFamily="34" charset="0"/>
                <a:ea typeface="Yu Gothic" pitchFamily="34" charset="-122"/>
                <a:cs typeface="Yu Gothic" pitchFamily="34" charset="-120"/>
              </a:rPr>
              <a:t>当社製品・サービスを継続購入</a:t>
            </a:r>
            <a:endParaRPr lang="en-US" sz="1100" dirty="0"/>
          </a:p>
        </p:txBody>
      </p:sp>
      <p:sp>
        <p:nvSpPr>
          <p:cNvPr id="14" name="Text 12"/>
          <p:cNvSpPr/>
          <p:nvPr/>
        </p:nvSpPr>
        <p:spPr>
          <a:xfrm>
            <a:off x="6949440" y="3438144"/>
            <a:ext cx="2377440" cy="274320"/>
          </a:xfrm>
          <a:prstGeom prst="rect">
            <a:avLst/>
          </a:prstGeom>
          <a:noFill/>
          <a:ln/>
        </p:spPr>
        <p:txBody>
          <a:bodyPr wrap="square" lIns="0" tIns="0" rIns="0" bIns="0" rtlCol="0" anchor="ctr"/>
          <a:lstStyle/>
          <a:p>
            <a:pPr indent="0" marL="0">
              <a:buNone/>
            </a:pPr>
            <a:r>
              <a:rPr lang="en-US" sz="850" b="1" dirty="0">
                <a:solidFill>
                  <a:srgbClr val="5A5F6B"/>
                </a:solidFill>
                <a:latin typeface="Yu Gothic" pitchFamily="34" charset="0"/>
                <a:ea typeface="Yu Gothic" pitchFamily="34" charset="-122"/>
                <a:cs typeface="Yu Gothic" pitchFamily="34" charset="-120"/>
              </a:rPr>
              <a:t>→ 増分率 50%(カニバリ控除)</a:t>
            </a:r>
            <a:endParaRPr lang="en-US" sz="850" dirty="0"/>
          </a:p>
        </p:txBody>
      </p:sp>
      <p:sp>
        <p:nvSpPr>
          <p:cNvPr id="15" name="Shape 13"/>
          <p:cNvSpPr/>
          <p:nvPr/>
        </p:nvSpPr>
        <p:spPr>
          <a:xfrm>
            <a:off x="457200" y="3803904"/>
            <a:ext cx="2154326" cy="658368"/>
          </a:xfrm>
          <a:prstGeom prst="roundRect">
            <a:avLst>
              <a:gd name="adj" fmla="val 8333"/>
            </a:avLst>
          </a:prstGeom>
          <a:solidFill>
            <a:srgbClr val="FBECEE"/>
          </a:solidFill>
          <a:ln w="19050">
            <a:solidFill>
              <a:srgbClr val="C8102E"/>
            </a:solidFill>
            <a:prstDash val="solid"/>
          </a:ln>
        </p:spPr>
      </p:sp>
      <p:sp>
        <p:nvSpPr>
          <p:cNvPr id="16" name="Text 14"/>
          <p:cNvSpPr/>
          <p:nvPr/>
        </p:nvSpPr>
        <p:spPr>
          <a:xfrm>
            <a:off x="621792" y="3803904"/>
            <a:ext cx="1880006" cy="658368"/>
          </a:xfrm>
          <a:prstGeom prst="rect">
            <a:avLst/>
          </a:prstGeom>
          <a:noFill/>
          <a:ln/>
        </p:spPr>
        <p:txBody>
          <a:bodyPr wrap="square" lIns="0" tIns="0" rIns="0" bIns="0" rtlCol="0" anchor="ctr"/>
          <a:lstStyle/>
          <a:p>
            <a:pPr indent="0" marL="0">
              <a:buNone/>
            </a:pPr>
            <a:r>
              <a:rPr lang="en-US" sz="1100" b="1" dirty="0">
                <a:solidFill>
                  <a:srgbClr val="C8102E"/>
                </a:solidFill>
                <a:latin typeface="Yu Gothic" pitchFamily="34" charset="0"/>
                <a:ea typeface="Yu Gothic" pitchFamily="34" charset="-122"/>
                <a:cs typeface="Yu Gothic" pitchFamily="34" charset="-120"/>
              </a:rPr>
              <a:t>増分収益化人口  </a:t>
            </a:r>
            <a:pPr indent="0" marL="0">
              <a:buNone/>
            </a:pPr>
            <a:r>
              <a:rPr lang="en-US" sz="1300" b="1" dirty="0">
                <a:solidFill>
                  <a:srgbClr val="C8102E"/>
                </a:solidFill>
                <a:latin typeface="Yu Gothic" pitchFamily="34" charset="0"/>
                <a:ea typeface="Yu Gothic" pitchFamily="34" charset="-122"/>
                <a:cs typeface="Yu Gothic" pitchFamily="34" charset="-120"/>
              </a:rPr>
              <a:t>0.5億人  </a:t>
            </a:r>
            <a:pPr indent="0" marL="0">
              <a:buNone/>
            </a:pPr>
            <a:r>
              <a:rPr lang="en-US" sz="860" dirty="0">
                <a:solidFill>
                  <a:srgbClr val="5A5F6B"/>
                </a:solidFill>
                <a:latin typeface="Yu Gothic" pitchFamily="34" charset="0"/>
                <a:ea typeface="Yu Gothic" pitchFamily="34" charset="-122"/>
                <a:cs typeface="Yu Gothic" pitchFamily="34" charset="-120"/>
              </a:rPr>
              <a:t>新規獲得分のみ(既存顧客・カニバリ控除後)</a:t>
            </a:r>
            <a:endParaRPr lang="en-US" sz="1100" dirty="0"/>
          </a:p>
        </p:txBody>
      </p:sp>
      <p:sp>
        <p:nvSpPr>
          <p:cNvPr id="17" name="Shape 15"/>
          <p:cNvSpPr/>
          <p:nvPr/>
        </p:nvSpPr>
        <p:spPr>
          <a:xfrm>
            <a:off x="457200" y="4754880"/>
            <a:ext cx="6766560" cy="914400"/>
          </a:xfrm>
          <a:prstGeom prst="roundRect">
            <a:avLst>
              <a:gd name="adj" fmla="val 6000"/>
            </a:avLst>
          </a:prstGeom>
          <a:solidFill>
            <a:srgbClr val="1E2761"/>
          </a:solidFill>
          <a:ln/>
        </p:spPr>
      </p:sp>
      <p:sp>
        <p:nvSpPr>
          <p:cNvPr id="18" name="Text 16"/>
          <p:cNvSpPr/>
          <p:nvPr/>
        </p:nvSpPr>
        <p:spPr>
          <a:xfrm>
            <a:off x="640080" y="4818888"/>
            <a:ext cx="6400800" cy="804672"/>
          </a:xfrm>
          <a:prstGeom prst="rect">
            <a:avLst/>
          </a:prstGeom>
          <a:noFill/>
          <a:ln/>
        </p:spPr>
        <p:txBody>
          <a:bodyPr wrap="square" lIns="0" tIns="0" rIns="0" bIns="0" rtlCol="0" anchor="ctr"/>
          <a:lstStyle/>
          <a:p>
            <a:pPr indent="0" marL="0">
              <a:lnSpc>
                <a:spcPct val="125000"/>
              </a:lnSpc>
              <a:buNone/>
            </a:pPr>
            <a:r>
              <a:rPr lang="en-US" sz="1100" b="1" dirty="0">
                <a:solidFill>
                  <a:srgbClr val="FF9DAD"/>
                </a:solidFill>
                <a:latin typeface="Yu Gothic" pitchFamily="34" charset="0"/>
                <a:ea typeface="Yu Gothic" pitchFamily="34" charset="-122"/>
                <a:cs typeface="Yu Gothic" pitchFamily="34" charset="-120"/>
              </a:rPr>
              <a:t>売上換算式:  </a:t>
            </a:r>
            <a:pPr indent="0" marL="0">
              <a:lnSpc>
                <a:spcPct val="125000"/>
              </a:lnSpc>
              <a:buNone/>
            </a:pPr>
            <a:r>
              <a:rPr lang="en-US" sz="1150" b="1" dirty="0">
                <a:solidFill>
                  <a:srgbClr val="FFFFFF"/>
                </a:solidFill>
                <a:latin typeface="Yu Gothic" pitchFamily="34" charset="0"/>
                <a:ea typeface="Yu Gothic" pitchFamily="34" charset="-122"/>
                <a:cs typeface="Yu Gothic" pitchFamily="34" charset="-120"/>
              </a:rPr>
              <a:t>増分売上 = 増分収益化人口 0.5億人 × ARPU 1,000円/年 = +500億円
</a:t>
            </a:r>
            <a:pPr indent="0" marL="0">
              <a:lnSpc>
                <a:spcPct val="125000"/>
              </a:lnSpc>
              <a:buNone/>
            </a:pPr>
            <a:r>
              <a:rPr lang="en-US" sz="880" dirty="0">
                <a:solidFill>
                  <a:srgbClr val="CADCFC"/>
                </a:solidFill>
                <a:latin typeface="Yu Gothic" pitchFamily="34" charset="0"/>
                <a:ea typeface="Yu Gothic" pitchFamily="34" charset="-122"/>
                <a:cs typeface="Yu Gothic" pitchFamily="34" charset="-120"/>
              </a:rPr>
              <a:t>(ARPU: 国内オーラル約2,000円・アジア普及価格帯約600円のミックス想定・例示)</a:t>
            </a:r>
            <a:endParaRPr lang="en-US" sz="1100" dirty="0"/>
          </a:p>
        </p:txBody>
      </p:sp>
      <p:sp>
        <p:nvSpPr>
          <p:cNvPr id="19" name="Text 17"/>
          <p:cNvSpPr/>
          <p:nvPr/>
        </p:nvSpPr>
        <p:spPr>
          <a:xfrm>
            <a:off x="9418320" y="1280160"/>
            <a:ext cx="2313432" cy="384048"/>
          </a:xfrm>
          <a:prstGeom prst="roundRect">
            <a:avLst>
              <a:gd name="adj" fmla="val 11905"/>
            </a:avLst>
          </a:prstGeom>
          <a:solidFill>
            <a:srgbClr val="C8102E"/>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担当KPI</a:t>
            </a:r>
            <a:endParaRPr lang="en-US" sz="1050" dirty="0"/>
          </a:p>
        </p:txBody>
      </p:sp>
      <p:sp>
        <p:nvSpPr>
          <p:cNvPr id="20" name="Text 18"/>
          <p:cNvSpPr/>
          <p:nvPr/>
        </p:nvSpPr>
        <p:spPr>
          <a:xfrm>
            <a:off x="9418320" y="1783080"/>
            <a:ext cx="2313432" cy="3840480"/>
          </a:xfrm>
          <a:prstGeom prst="rect">
            <a:avLst/>
          </a:prstGeom>
          <a:noFill/>
          <a:ln/>
        </p:spPr>
        <p:txBody>
          <a:bodyPr wrap="square" lIns="508" tIns="508" rIns="508" bIns="508" rtlCol="0" anchor="t"/>
          <a:lstStyle/>
          <a:p>
            <a:pPr indent="0" marL="0">
              <a:lnSpc>
                <a:spcPct val="130000"/>
              </a:lnSpc>
              <a:buNone/>
            </a:pPr>
            <a:r>
              <a:rPr lang="en-US" sz="860" b="1" dirty="0">
                <a:solidFill>
                  <a:srgbClr val="C8102E"/>
                </a:solidFill>
                <a:latin typeface="Yu Gothic" pitchFamily="34" charset="0"/>
                <a:ea typeface="Yu Gothic" pitchFamily="34" charset="-122"/>
                <a:cs typeface="Yu Gothic" pitchFamily="34" charset="-120"/>
              </a:rPr>
              <a:t>KGI: </a:t>
            </a:r>
            <a:pPr indent="0" marL="0">
              <a:lnSpc>
                <a:spcPct val="130000"/>
              </a:lnSpc>
              <a:buNone/>
            </a:pPr>
            <a:r>
              <a:rPr lang="en-US" sz="860" b="1" dirty="0">
                <a:solidFill>
                  <a:srgbClr val="2A2A33"/>
                </a:solidFill>
                <a:latin typeface="Yu Gothic" pitchFamily="34" charset="0"/>
                <a:ea typeface="Yu Gothic" pitchFamily="34" charset="-122"/>
                <a:cs typeface="Yu Gothic" pitchFamily="34" charset="-120"/>
              </a:rPr>
              <a:t>習慣起点の増分売上 +500億円
</a:t>
            </a:r>
            <a:pPr indent="0" marL="0">
              <a:lnSpc>
                <a:spcPct val="130000"/>
              </a:lnSpc>
              <a:buNone/>
            </a:pPr>
            <a:r>
              <a:rPr lang="en-US" sz="860" b="1" dirty="0">
                <a:solidFill>
                  <a:srgbClr val="1E2761"/>
                </a:solidFill>
                <a:latin typeface="Yu Gothic" pitchFamily="34" charset="0"/>
                <a:ea typeface="Yu Gothic" pitchFamily="34" charset="-122"/>
                <a:cs typeface="Yu Gothic" pitchFamily="34" charset="-120"/>
              </a:rPr>
              <a:t>ミッド: </a:t>
            </a:r>
            <a:pPr indent="0" marL="0">
              <a:lnSpc>
                <a:spcPct val="130000"/>
              </a:lnSpc>
              <a:buNone/>
            </a:pPr>
            <a:r>
              <a:rPr lang="en-US" sz="860" dirty="0">
                <a:solidFill>
                  <a:srgbClr val="2A2A33"/>
                </a:solidFill>
                <a:latin typeface="Yu Gothic" pitchFamily="34" charset="0"/>
                <a:ea typeface="Yu Gothic" pitchFamily="34" charset="-122"/>
                <a:cs typeface="Yu Gothic" pitchFamily="34" charset="-120"/>
              </a:rPr>
              <a:t>増分収益化人口/ARPU/継続率(年間解約率)
</a:t>
            </a:r>
            <a:pPr indent="0" marL="0">
              <a:lnSpc>
                <a:spcPct val="130000"/>
              </a:lnSpc>
              <a:buNone/>
            </a:pPr>
            <a:r>
              <a:rPr lang="en-US" sz="860" b="1" dirty="0">
                <a:solidFill>
                  <a:srgbClr val="1E2761"/>
                </a:solidFill>
                <a:latin typeface="Yu Gothic" pitchFamily="34" charset="0"/>
                <a:ea typeface="Yu Gothic" pitchFamily="34" charset="-122"/>
                <a:cs typeface="Yu Gothic" pitchFamily="34" charset="-120"/>
              </a:rPr>
              <a:t>リード: </a:t>
            </a:r>
            <a:pPr indent="0" marL="0">
              <a:lnSpc>
                <a:spcPct val="130000"/>
              </a:lnSpc>
              <a:buNone/>
            </a:pPr>
            <a:r>
              <a:rPr lang="en-US" sz="860" dirty="0">
                <a:solidFill>
                  <a:srgbClr val="2A2A33"/>
                </a:solidFill>
                <a:latin typeface="Yu Gothic" pitchFamily="34" charset="0"/>
                <a:ea typeface="Yu Gothic" pitchFamily="34" charset="-122"/>
                <a:cs typeface="Yu Gothic" pitchFamily="34" charset="-120"/>
              </a:rPr>
              <a:t>リーチ→習慣化率(プログラム別)/トライアル率/アプリ・会員の継続率/NPS
</a:t>
            </a:r>
            <a:pPr indent="0" marL="0">
              <a:lnSpc>
                <a:spcPct val="130000"/>
              </a:lnSpc>
              <a:buNone/>
            </a:pPr>
            <a:r>
              <a:rPr lang="en-US" sz="860" b="1" dirty="0">
                <a:solidFill>
                  <a:srgbClr val="5A5F6B"/>
                </a:solidFill>
                <a:latin typeface="Yu Gothic" pitchFamily="34" charset="0"/>
                <a:ea typeface="Yu Gothic" pitchFamily="34" charset="-122"/>
                <a:cs typeface="Yu Gothic" pitchFamily="34" charset="-120"/>
              </a:rPr>
              <a:t>計測: </a:t>
            </a:r>
            <a:pPr indent="0" marL="0">
              <a:lnSpc>
                <a:spcPct val="130000"/>
              </a:lnSpc>
              <a:buNone/>
            </a:pPr>
            <a:r>
              <a:rPr lang="en-US" sz="860" dirty="0">
                <a:solidFill>
                  <a:srgbClr val="2A2A33"/>
                </a:solidFill>
                <a:latin typeface="Yu Gothic" pitchFamily="34" charset="0"/>
                <a:ea typeface="Yu Gothic" pitchFamily="34" charset="-122"/>
                <a:cs typeface="Yu Gothic" pitchFamily="34" charset="-120"/>
              </a:rPr>
              <a:t>ID-POS・会員データ・パネル調査で人数を実測(推計に逃げない)</a:t>
            </a:r>
            <a:endParaRPr lang="en-US" sz="860" dirty="0"/>
          </a:p>
        </p:txBody>
      </p:sp>
      <p:sp>
        <p:nvSpPr>
          <p:cNvPr id="21" name="Shape 19"/>
          <p:cNvSpPr/>
          <p:nvPr/>
        </p:nvSpPr>
        <p:spPr>
          <a:xfrm>
            <a:off x="457200" y="5852160"/>
            <a:ext cx="11274552" cy="640080"/>
          </a:xfrm>
          <a:prstGeom prst="roundRect">
            <a:avLst>
              <a:gd name="adj" fmla="val 8571"/>
            </a:avLst>
          </a:prstGeom>
          <a:solidFill>
            <a:srgbClr val="FBECEE"/>
          </a:solidFill>
          <a:ln/>
        </p:spPr>
      </p:sp>
      <p:sp>
        <p:nvSpPr>
          <p:cNvPr id="22" name="Text 20"/>
          <p:cNvSpPr/>
          <p:nvPr/>
        </p:nvSpPr>
        <p:spPr>
          <a:xfrm>
            <a:off x="685800" y="5897880"/>
            <a:ext cx="10835640" cy="548640"/>
          </a:xfrm>
          <a:prstGeom prst="rect">
            <a:avLst/>
          </a:prstGeom>
          <a:noFill/>
          <a:ln/>
        </p:spPr>
        <p:txBody>
          <a:bodyPr wrap="square" lIns="0" tIns="0" rIns="0" bIns="0" rtlCol="0" anchor="ctr"/>
          <a:lstStyle/>
          <a:p>
            <a:pPr indent="0" marL="0">
              <a:lnSpc>
                <a:spcPct val="115000"/>
              </a:lnSpc>
              <a:buNone/>
            </a:pPr>
            <a:r>
              <a:rPr lang="en-US" sz="980" b="1" dirty="0">
                <a:solidFill>
                  <a:srgbClr val="C8102E"/>
                </a:solidFill>
                <a:latin typeface="Yu Gothic" pitchFamily="34" charset="0"/>
                <a:ea typeface="Yu Gothic" pitchFamily="34" charset="-122"/>
                <a:cs typeface="Yu Gothic" pitchFamily="34" charset="-120"/>
              </a:rPr>
              <a:t>「5億人」の位置づけの変更: </a:t>
            </a:r>
            <a:pPr indent="0" marL="0">
              <a:lnSpc>
                <a:spcPct val="115000"/>
              </a:lnSpc>
              <a:buNone/>
            </a:pPr>
            <a:r>
              <a:rPr lang="en-US" sz="980" dirty="0">
                <a:solidFill>
                  <a:srgbClr val="2A2A33"/>
                </a:solidFill>
                <a:latin typeface="Yu Gothic" pitchFamily="34" charset="0"/>
                <a:ea typeface="Yu Gothic" pitchFamily="34" charset="-122"/>
                <a:cs typeface="Yu Gothic" pitchFamily="34" charset="-120"/>
              </a:rPr>
              <a:t>リーチ5億人は社会インパクトと将来顧客プールの指標として維持するが、経営会議・報酬・IRで追うKGIは「増分収益化人口×ARPU」。ファネル転換率が悪ければ人口目標より転換施策に投資を振り向ける</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エンジン B</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単価と新収益 ― プレミアム・ミックスとB2B2Cで+300億円</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「意味(健康・環境)」で単価を上げ、製品の外(サービス・データ)に第二の収益源を作る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5</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86000"/>
                <a:gridCol w="4389120"/>
                <a:gridCol w="1280160"/>
                <a:gridCol w="3319272"/>
              </a:tblGrid>
              <a:tr h="868680">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収益源</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換算式(例示)</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2030目標</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前提とエビデンス計画</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r>
              <a:tr h="868680">
                <a:tc>
                  <a:txBody>
                    <a:bodyPr/>
                    <a:lstStyle/>
                    <a:p>
                      <a:pPr algn="l" indent="0" marL="0">
                        <a:buNone/>
                      </a:pPr>
                      <a:r>
                        <a:rPr lang="en-US" sz="880" b="1" dirty="0">
                          <a:solidFill>
                            <a:srgbClr val="1E2761"/>
                          </a:solidFill>
                          <a:latin typeface="Yu Gothic" pitchFamily="34" charset="0"/>
                          <a:ea typeface="Yu Gothic" pitchFamily="34" charset="-122"/>
                          <a:cs typeface="Yu Gothic" pitchFamily="34" charset="-120"/>
                        </a:rPr>
                        <a:t>① 貢献型製品への</a:t>
                      </a:r>
                      <a:endParaRPr lang="en-US" sz="880" dirty="0">
                        <a:latin typeface="Yu Gothic" charset="0"/>
                        <a:ea typeface="Yu Gothic" charset="0"/>
                        <a:cs typeface="Yu Gothic" charset="0"/>
                      </a:endParaRPr>
                    </a:p>
                    <a:p>
                      <a:pPr algn="l" indent="0" marL="0">
                        <a:buNone/>
                      </a:pPr>
                      <a:r>
                        <a:rPr lang="en-US" sz="880" b="1" dirty="0">
                          <a:solidFill>
                            <a:srgbClr val="1E2761"/>
                          </a:solidFill>
                          <a:latin typeface="Yu Gothic" pitchFamily="34" charset="0"/>
                          <a:ea typeface="Yu Gothic" pitchFamily="34" charset="-122"/>
                          <a:cs typeface="Yu Gothic" pitchFamily="34" charset="-120"/>
                        </a:rPr>
                        <a:t>ミックスシフト</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80" dirty="0">
                          <a:solidFill>
                            <a:srgbClr val="2A2A33"/>
                          </a:solidFill>
                          <a:latin typeface="Yu Gothic" pitchFamily="34" charset="0"/>
                          <a:ea typeface="Yu Gothic" pitchFamily="34" charset="-122"/>
                          <a:cs typeface="Yu Gothic" pitchFamily="34" charset="-120"/>
                        </a:rPr>
                        <a:t>対象売上2,000億円 × シフト率50% × 価格・粗利プレミアム+10% = +100億円</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ctr" indent="0" marL="0">
                        <a:buNone/>
                      </a:pPr>
                      <a:r>
                        <a:rPr lang="en-US" sz="880" b="1" dirty="0">
                          <a:solidFill>
                            <a:srgbClr val="C8102E"/>
                          </a:solidFill>
                          <a:latin typeface="Yu Gothic" pitchFamily="34" charset="0"/>
                          <a:ea typeface="Yu Gothic" pitchFamily="34" charset="-122"/>
                          <a:cs typeface="Yu Gothic" pitchFamily="34" charset="-120"/>
                        </a:rPr>
                        <a:t>+100億円</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80" dirty="0">
                          <a:solidFill>
                            <a:srgbClr val="2A2A33"/>
                          </a:solidFill>
                          <a:latin typeface="Yu Gothic" pitchFamily="34" charset="0"/>
                          <a:ea typeface="Yu Gothic" pitchFamily="34" charset="-122"/>
                          <a:cs typeface="Yu Gothic" pitchFamily="34" charset="-120"/>
                        </a:rPr>
                        <a:t>プレミアム受容率を2027年に価格テストで実測(エビデンス表示が受容率を上げるかをA/B検証)</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868680">
                <a:tc>
                  <a:txBody>
                    <a:bodyPr/>
                    <a:lstStyle/>
                    <a:p>
                      <a:pPr algn="l" indent="0" marL="0">
                        <a:buNone/>
                      </a:pPr>
                      <a:r>
                        <a:rPr lang="en-US" sz="880" b="1" dirty="0">
                          <a:solidFill>
                            <a:srgbClr val="1E2761"/>
                          </a:solidFill>
                          <a:latin typeface="Yu Gothic" pitchFamily="34" charset="0"/>
                          <a:ea typeface="Yu Gothic" pitchFamily="34" charset="-122"/>
                          <a:cs typeface="Yu Gothic" pitchFamily="34" charset="-120"/>
                        </a:rPr>
                        <a:t>② 予防歯科の</a:t>
                      </a:r>
                      <a:endParaRPr lang="en-US" sz="880" dirty="0">
                        <a:latin typeface="Yu Gothic" charset="0"/>
                        <a:ea typeface="Yu Gothic" charset="0"/>
                        <a:cs typeface="Yu Gothic" charset="0"/>
                      </a:endParaRPr>
                    </a:p>
                    <a:p>
                      <a:pPr algn="l" indent="0" marL="0">
                        <a:buNone/>
                      </a:pPr>
                      <a:r>
                        <a:rPr lang="en-US" sz="880" b="1" dirty="0">
                          <a:solidFill>
                            <a:srgbClr val="1E2761"/>
                          </a:solidFill>
                          <a:latin typeface="Yu Gothic" pitchFamily="34" charset="0"/>
                          <a:ea typeface="Yu Gothic" pitchFamily="34" charset="-122"/>
                          <a:cs typeface="Yu Gothic" pitchFamily="34" charset="-120"/>
                        </a:rPr>
                        <a:t>単価アップ</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80" dirty="0">
                          <a:solidFill>
                            <a:srgbClr val="2A2A33"/>
                          </a:solidFill>
                          <a:latin typeface="Yu Gothic" pitchFamily="34" charset="0"/>
                          <a:ea typeface="Yu Gothic" pitchFamily="34" charset="-122"/>
                          <a:cs typeface="Yu Gothic" pitchFamily="34" charset="-120"/>
                        </a:rPr>
                        <a:t>オーラル顧客の使用点数増(ハミガキ+ハブラシ+フロス+洗口液のレジメン化)ARPU+25% = +100億円</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ctr" indent="0" marL="0">
                        <a:buNone/>
                      </a:pPr>
                      <a:r>
                        <a:rPr lang="en-US" sz="880" b="1" dirty="0">
                          <a:solidFill>
                            <a:srgbClr val="C8102E"/>
                          </a:solidFill>
                          <a:latin typeface="Yu Gothic" pitchFamily="34" charset="0"/>
                          <a:ea typeface="Yu Gothic" pitchFamily="34" charset="-122"/>
                          <a:cs typeface="Yu Gothic" pitchFamily="34" charset="-120"/>
                        </a:rPr>
                        <a:t>+100億円</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80" dirty="0">
                          <a:solidFill>
                            <a:srgbClr val="2A2A33"/>
                          </a:solidFill>
                          <a:latin typeface="Yu Gothic" pitchFamily="34" charset="0"/>
                          <a:ea typeface="Yu Gothic" pitchFamily="34" charset="-122"/>
                          <a:cs typeface="Yu Gothic" pitchFamily="34" charset="-120"/>
                        </a:rPr>
                        <a:t>歯科・健診連携で「処方型」提案。クロスセル率をID-POSで計測</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868680">
                <a:tc>
                  <a:txBody>
                    <a:bodyPr/>
                    <a:lstStyle/>
                    <a:p>
                      <a:pPr algn="l" indent="0" marL="0">
                        <a:buNone/>
                      </a:pPr>
                      <a:r>
                        <a:rPr lang="en-US" sz="880" b="1" dirty="0">
                          <a:solidFill>
                            <a:srgbClr val="1E2761"/>
                          </a:solidFill>
                          <a:latin typeface="Yu Gothic" pitchFamily="34" charset="0"/>
                          <a:ea typeface="Yu Gothic" pitchFamily="34" charset="-122"/>
                          <a:cs typeface="Yu Gothic" pitchFamily="34" charset="-120"/>
                        </a:rPr>
                        <a:t>③ B2B2Cヘルスケア</a:t>
                      </a:r>
                      <a:endParaRPr lang="en-US" sz="880" dirty="0">
                        <a:latin typeface="Yu Gothic" charset="0"/>
                        <a:ea typeface="Yu Gothic" charset="0"/>
                        <a:cs typeface="Yu Gothic" charset="0"/>
                      </a:endParaRPr>
                    </a:p>
                    <a:p>
                      <a:pPr algn="l" indent="0" marL="0">
                        <a:buNone/>
                      </a:pPr>
                      <a:r>
                        <a:rPr lang="en-US" sz="880" b="1" dirty="0">
                          <a:solidFill>
                            <a:srgbClr val="1E2761"/>
                          </a:solidFill>
                          <a:latin typeface="Yu Gothic" pitchFamily="34" charset="0"/>
                          <a:ea typeface="Yu Gothic" pitchFamily="34" charset="-122"/>
                          <a:cs typeface="Yu Gothic" pitchFamily="34" charset="-120"/>
                        </a:rPr>
                        <a:t>(健保・企業・自治体)</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80" dirty="0">
                          <a:solidFill>
                            <a:srgbClr val="2A2A33"/>
                          </a:solidFill>
                          <a:latin typeface="Yu Gothic" pitchFamily="34" charset="0"/>
                          <a:ea typeface="Yu Gothic" pitchFamily="34" charset="-122"/>
                          <a:cs typeface="Yu Gothic" pitchFamily="34" charset="-120"/>
                        </a:rPr>
                        <a:t>1,000団体 × 平均単価1,000万円/年(健診連携・プログラム・製品) = +100億円</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ctr" indent="0" marL="0">
                        <a:buNone/>
                      </a:pPr>
                      <a:r>
                        <a:rPr lang="en-US" sz="880" b="1" dirty="0">
                          <a:solidFill>
                            <a:srgbClr val="C8102E"/>
                          </a:solidFill>
                          <a:latin typeface="Yu Gothic" pitchFamily="34" charset="0"/>
                          <a:ea typeface="Yu Gothic" pitchFamily="34" charset="-122"/>
                          <a:cs typeface="Yu Gothic" pitchFamily="34" charset="-120"/>
                        </a:rPr>
                        <a:t>+100億円</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80" dirty="0">
                          <a:solidFill>
                            <a:srgbClr val="2A2A33"/>
                          </a:solidFill>
                          <a:latin typeface="Yu Gothic" pitchFamily="34" charset="0"/>
                          <a:ea typeface="Yu Gothic" pitchFamily="34" charset="-122"/>
                          <a:cs typeface="Yu Gothic" pitchFamily="34" charset="-120"/>
                        </a:rPr>
                        <a:t>2027年に健康経営企業10社でパイロット→単価・更新率・医療費削減実績を実測して拡販</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bl>
          </a:graphicData>
        </a:graphic>
      </p:graphicFrame>
      <p:sp>
        <p:nvSpPr>
          <p:cNvPr id="7" name="Shape 4"/>
          <p:cNvSpPr/>
          <p:nvPr/>
        </p:nvSpPr>
        <p:spPr>
          <a:xfrm>
            <a:off x="457200" y="5029200"/>
            <a:ext cx="11274552" cy="1371600"/>
          </a:xfrm>
          <a:prstGeom prst="roundRect">
            <a:avLst>
              <a:gd name="adj" fmla="val 4667"/>
            </a:avLst>
          </a:prstGeom>
          <a:solidFill>
            <a:srgbClr val="EEF3FB"/>
          </a:solidFill>
          <a:ln/>
        </p:spPr>
      </p:sp>
      <p:sp>
        <p:nvSpPr>
          <p:cNvPr id="8" name="Text 5"/>
          <p:cNvSpPr/>
          <p:nvPr/>
        </p:nvSpPr>
        <p:spPr>
          <a:xfrm>
            <a:off x="685800" y="5120640"/>
            <a:ext cx="10835640" cy="1188720"/>
          </a:xfrm>
          <a:prstGeom prst="rect">
            <a:avLst/>
          </a:prstGeom>
          <a:noFill/>
          <a:ln/>
        </p:spPr>
        <p:txBody>
          <a:bodyPr wrap="square" lIns="0" tIns="0" rIns="0" bIns="0" rtlCol="0" anchor="ctr"/>
          <a:lstStyle/>
          <a:p>
            <a:pPr indent="0" marL="0">
              <a:lnSpc>
                <a:spcPct val="125000"/>
              </a:lnSpc>
              <a:buNone/>
            </a:pPr>
            <a:r>
              <a:rPr lang="en-US" sz="960" b="1" dirty="0">
                <a:solidFill>
                  <a:srgbClr val="1E2761"/>
                </a:solidFill>
                <a:latin typeface="Yu Gothic" pitchFamily="34" charset="0"/>
                <a:ea typeface="Yu Gothic" pitchFamily="34" charset="-122"/>
                <a:cs typeface="Yu Gothic" pitchFamily="34" charset="-120"/>
              </a:rPr>
              <a:t>なぜ財務に跳ね返るのか(因果の明示): </a:t>
            </a:r>
            <a:pPr indent="0" marL="0">
              <a:lnSpc>
                <a:spcPct val="125000"/>
              </a:lnSpc>
              <a:buNone/>
            </a:pPr>
            <a:r>
              <a:rPr lang="en-US" sz="960" dirty="0">
                <a:solidFill>
                  <a:srgbClr val="2A2A33"/>
                </a:solidFill>
                <a:latin typeface="Yu Gothic" pitchFamily="34" charset="0"/>
                <a:ea typeface="Yu Gothic" pitchFamily="34" charset="-122"/>
                <a:cs typeface="Yu Gothic" pitchFamily="34" charset="-120"/>
              </a:rPr>
              <a:t>①②は「同じ顧客からの売上単価」を直接上げる打ち手であり、人口が増えなくても効く。③は医療費削減という社会インパクトを「保険者の支払意思」に転換する仕組みで、アウトカム(削減実績)がそのまま更新率・単価の根拠になる ― 社会インパクトが初めて損益計算書に接続する瞬間。
</a:t>
            </a:r>
            <a:pPr indent="0" marL="0">
              <a:lnSpc>
                <a:spcPct val="125000"/>
              </a:lnSpc>
              <a:buNone/>
            </a:pPr>
            <a:r>
              <a:rPr lang="en-US" sz="960" b="1" dirty="0">
                <a:solidFill>
                  <a:srgbClr val="C8102E"/>
                </a:solidFill>
                <a:latin typeface="Yu Gothic" pitchFamily="34" charset="0"/>
                <a:ea typeface="Yu Gothic" pitchFamily="34" charset="-122"/>
                <a:cs typeface="Yu Gothic" pitchFamily="34" charset="-120"/>
              </a:rPr>
              <a:t>担当KPI: </a:t>
            </a:r>
            <a:pPr indent="0" marL="0">
              <a:lnSpc>
                <a:spcPct val="125000"/>
              </a:lnSpc>
              <a:buNone/>
            </a:pPr>
            <a:r>
              <a:rPr lang="en-US" sz="960" dirty="0">
                <a:solidFill>
                  <a:srgbClr val="2A2A33"/>
                </a:solidFill>
                <a:latin typeface="Yu Gothic" pitchFamily="34" charset="0"/>
                <a:ea typeface="Yu Gothic" pitchFamily="34" charset="-122"/>
                <a:cs typeface="Yu Gothic" pitchFamily="34" charset="-120"/>
              </a:rPr>
              <a:t>貢献型売上比率・プレミアム受容率/レジメン使用点数・クロスセル率/B2B2C契約団体数・団体単価・更新率・実証済み医療費削減額</a:t>
            </a:r>
            <a:endParaRPr lang="en-US" sz="9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エンジン C</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防衛価値 ― 「失わない」も財務である(CFP・規制・レピュテーション)</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守りの投資は「売上を増やす」のではなく「消える売上を消さない」― 期待損失の削減として定量化する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6</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103120"/>
                <a:gridCol w="4846320"/>
                <a:gridCol w="1554480"/>
                <a:gridCol w="2770632"/>
              </a:tblGrid>
              <a:tr h="749808">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防衛対象</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換算式: 防衛価値 = 曝露額 × 発生確率の低減 (例示)</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2030防衛額</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担当KPI</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r>
              <a:tr h="749808">
                <a:tc>
                  <a:txBody>
                    <a:bodyPr/>
                    <a:lstStyle/>
                    <a:p>
                      <a:pPr algn="l" indent="0" marL="0">
                        <a:buNone/>
                      </a:pPr>
                      <a:r>
                        <a:rPr lang="en-US" sz="870" b="1" dirty="0">
                          <a:solidFill>
                            <a:srgbClr val="1E2761"/>
                          </a:solidFill>
                          <a:latin typeface="Yu Gothic" pitchFamily="34" charset="0"/>
                          <a:ea typeface="Yu Gothic" pitchFamily="34" charset="-122"/>
                          <a:cs typeface="Yu Gothic" pitchFamily="34" charset="-120"/>
                        </a:rPr>
                        <a:t>① CFP要請による</a:t>
                      </a:r>
                      <a:endParaRPr lang="en-US" sz="870" dirty="0">
                        <a:latin typeface="Yu Gothic" charset="0"/>
                        <a:ea typeface="Yu Gothic" charset="0"/>
                        <a:cs typeface="Yu Gothic" charset="0"/>
                      </a:endParaRPr>
                    </a:p>
                    <a:p>
                      <a:pPr algn="l" indent="0" marL="0">
                        <a:buNone/>
                      </a:pPr>
                      <a:r>
                        <a:rPr lang="en-US" sz="870" b="1" dirty="0">
                          <a:solidFill>
                            <a:srgbClr val="1E2761"/>
                          </a:solidFill>
                          <a:latin typeface="Yu Gothic" pitchFamily="34" charset="0"/>
                          <a:ea typeface="Yu Gothic" pitchFamily="34" charset="-122"/>
                          <a:cs typeface="Yu Gothic" pitchFamily="34" charset="-120"/>
                        </a:rPr>
                        <a:t>取引除外リスク</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70" dirty="0">
                          <a:solidFill>
                            <a:srgbClr val="2A2A33"/>
                          </a:solidFill>
                          <a:latin typeface="Yu Gothic" pitchFamily="34" charset="0"/>
                          <a:ea typeface="Yu Gothic" pitchFamily="34" charset="-122"/>
                          <a:cs typeface="Yu Gothic" pitchFamily="34" charset="-120"/>
                        </a:rPr>
                        <a:t>B2B・流通経由の売上のうちCFP/削減要請対象と見込む額 2,000億円 × 未対応時の喪失確率10% → 対応で1%へ = 期待損失▲180億円/年</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ctr" indent="0" marL="0">
                        <a:buNone/>
                      </a:pPr>
                      <a:r>
                        <a:rPr lang="en-US" sz="870" b="1" dirty="0">
                          <a:solidFill>
                            <a:srgbClr val="C8102E"/>
                          </a:solidFill>
                          <a:latin typeface="Yu Gothic" pitchFamily="34" charset="0"/>
                          <a:ea typeface="Yu Gothic" pitchFamily="34" charset="-122"/>
                          <a:cs typeface="Yu Gothic" pitchFamily="34" charset="-120"/>
                        </a:rPr>
                        <a:t>約180億円/年</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70" dirty="0">
                          <a:solidFill>
                            <a:srgbClr val="2A2A33"/>
                          </a:solidFill>
                          <a:latin typeface="Yu Gothic" pitchFamily="34" charset="0"/>
                          <a:ea typeface="Yu Gothic" pitchFamily="34" charset="-122"/>
                          <a:cs typeface="Yu Gothic" pitchFamily="34" charset="-120"/>
                        </a:rPr>
                        <a:t>CFP算定SKU比率100%/回答SLA5営業日/要請対応率</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749808">
                <a:tc>
                  <a:txBody>
                    <a:bodyPr/>
                    <a:lstStyle/>
                    <a:p>
                      <a:pPr algn="l" indent="0" marL="0">
                        <a:buNone/>
                      </a:pPr>
                      <a:r>
                        <a:rPr lang="en-US" sz="870" b="1" dirty="0">
                          <a:solidFill>
                            <a:srgbClr val="1E2761"/>
                          </a:solidFill>
                          <a:latin typeface="Yu Gothic" pitchFamily="34" charset="0"/>
                          <a:ea typeface="Yu Gothic" pitchFamily="34" charset="-122"/>
                          <a:cs typeface="Yu Gothic" pitchFamily="34" charset="-120"/>
                        </a:rPr>
                        <a:t>② 炭素税・規制コスト</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70" dirty="0">
                          <a:solidFill>
                            <a:srgbClr val="2A2A33"/>
                          </a:solidFill>
                          <a:latin typeface="Yu Gothic" pitchFamily="34" charset="0"/>
                          <a:ea typeface="Yu Gothic" pitchFamily="34" charset="-122"/>
                          <a:cs typeface="Yu Gothic" pitchFamily="34" charset="-120"/>
                        </a:rPr>
                        <a:t>Scope1/2排出量 × 炭素価格(例: 15,000円/t-CO2)= 数十億円/年の潜在コスト → 削減55%で将来コストを構造的に回避</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ctr" indent="0" marL="0">
                        <a:buNone/>
                      </a:pPr>
                      <a:r>
                        <a:rPr lang="en-US" sz="870" b="1" dirty="0">
                          <a:solidFill>
                            <a:srgbClr val="C8102E"/>
                          </a:solidFill>
                          <a:latin typeface="Yu Gothic" pitchFamily="34" charset="0"/>
                          <a:ea typeface="Yu Gothic" pitchFamily="34" charset="-122"/>
                          <a:cs typeface="Yu Gothic" pitchFamily="34" charset="-120"/>
                        </a:rPr>
                        <a:t>数十億円/年</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70" dirty="0">
                          <a:solidFill>
                            <a:srgbClr val="2A2A33"/>
                          </a:solidFill>
                          <a:latin typeface="Yu Gothic" pitchFamily="34" charset="0"/>
                          <a:ea typeface="Yu Gothic" pitchFamily="34" charset="-122"/>
                          <a:cs typeface="Yu Gothic" pitchFamily="34" charset="-120"/>
                        </a:rPr>
                        <a:t>Scope1/2削減率/内部炭素価格の投資適用率</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749808">
                <a:tc>
                  <a:txBody>
                    <a:bodyPr/>
                    <a:lstStyle/>
                    <a:p>
                      <a:pPr algn="l" indent="0" marL="0">
                        <a:buNone/>
                      </a:pPr>
                      <a:r>
                        <a:rPr lang="en-US" sz="870" b="1" dirty="0">
                          <a:solidFill>
                            <a:srgbClr val="1E2761"/>
                          </a:solidFill>
                          <a:latin typeface="Yu Gothic" pitchFamily="34" charset="0"/>
                          <a:ea typeface="Yu Gothic" pitchFamily="34" charset="-122"/>
                          <a:cs typeface="Yu Gothic" pitchFamily="34" charset="-120"/>
                        </a:rPr>
                        <a:t>③ 開示不備・信頼失墜</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70" dirty="0">
                          <a:solidFill>
                            <a:srgbClr val="2A2A33"/>
                          </a:solidFill>
                          <a:latin typeface="Yu Gothic" pitchFamily="34" charset="0"/>
                          <a:ea typeface="Yu Gothic" pitchFamily="34" charset="-122"/>
                          <a:cs typeface="Yu Gothic" pitchFamily="34" charset="-120"/>
                        </a:rPr>
                        <a:t>開示訂正・グリーンウォッシュ疑義の株価インパクト(同業事例で時価総額数%規模) × 発生確率低減</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ctr" indent="0" marL="0">
                        <a:buNone/>
                      </a:pPr>
                      <a:r>
                        <a:rPr lang="en-US" sz="870" b="1" dirty="0">
                          <a:solidFill>
                            <a:srgbClr val="C8102E"/>
                          </a:solidFill>
                          <a:latin typeface="Yu Gothic" pitchFamily="34" charset="0"/>
                          <a:ea typeface="Yu Gothic" pitchFamily="34" charset="-122"/>
                          <a:cs typeface="Yu Gothic" pitchFamily="34" charset="-120"/>
                        </a:rPr>
                        <a:t>リスク回避</a:t>
                      </a:r>
                      <a:endParaRPr lang="en-US" sz="870" dirty="0">
                        <a:latin typeface="Yu Gothic" charset="0"/>
                        <a:ea typeface="Yu Gothic" charset="0"/>
                        <a:cs typeface="Yu Gothic" charset="0"/>
                      </a:endParaRPr>
                    </a:p>
                    <a:p>
                      <a:pPr algn="ctr" indent="0" marL="0">
                        <a:buNone/>
                      </a:pPr>
                      <a:r>
                        <a:rPr lang="en-US" sz="870" b="1" dirty="0">
                          <a:solidFill>
                            <a:srgbClr val="C8102E"/>
                          </a:solidFill>
                          <a:latin typeface="Yu Gothic" pitchFamily="34" charset="0"/>
                          <a:ea typeface="Yu Gothic" pitchFamily="34" charset="-122"/>
                          <a:cs typeface="Yu Gothic" pitchFamily="34" charset="-120"/>
                        </a:rPr>
                        <a:t>(資本コストへ)</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70" dirty="0">
                          <a:solidFill>
                            <a:srgbClr val="2A2A33"/>
                          </a:solidFill>
                          <a:latin typeface="Yu Gothic" pitchFamily="34" charset="0"/>
                          <a:ea typeface="Yu Gothic" pitchFamily="34" charset="-122"/>
                          <a:cs typeface="Yu Gothic" pitchFamily="34" charset="-120"/>
                        </a:rPr>
                        <a:t>有報同時開示/保証取得範囲/証憑紐付率100%</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749808">
                <a:tc>
                  <a:txBody>
                    <a:bodyPr/>
                    <a:lstStyle/>
                    <a:p>
                      <a:pPr algn="l" indent="0" marL="0">
                        <a:buNone/>
                      </a:pPr>
                      <a:r>
                        <a:rPr lang="en-US" sz="870" b="1" dirty="0">
                          <a:solidFill>
                            <a:srgbClr val="1E2761"/>
                          </a:solidFill>
                          <a:latin typeface="Yu Gothic" pitchFamily="34" charset="0"/>
                          <a:ea typeface="Yu Gothic" pitchFamily="34" charset="-122"/>
                          <a:cs typeface="Yu Gothic" pitchFamily="34" charset="-120"/>
                        </a:rPr>
                        <a:t>④ 水・操業リスク</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70" dirty="0">
                          <a:solidFill>
                            <a:srgbClr val="2A2A33"/>
                          </a:solidFill>
                          <a:latin typeface="Yu Gothic" pitchFamily="34" charset="0"/>
                          <a:ea typeface="Yu Gothic" pitchFamily="34" charset="-122"/>
                          <a:cs typeface="Yu Gothic" pitchFamily="34" charset="-120"/>
                        </a:rPr>
                        <a:t>水ストレス地域の生産額 × 操業停止確率の低減(BCP・取水効率化)</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ctr" indent="0" marL="0">
                        <a:buNone/>
                      </a:pPr>
                      <a:r>
                        <a:rPr lang="en-US" sz="870" b="1" dirty="0">
                          <a:solidFill>
                            <a:srgbClr val="C8102E"/>
                          </a:solidFill>
                          <a:latin typeface="Yu Gothic" pitchFamily="34" charset="0"/>
                          <a:ea typeface="Yu Gothic" pitchFamily="34" charset="-122"/>
                          <a:cs typeface="Yu Gothic" pitchFamily="34" charset="-120"/>
                        </a:rPr>
                        <a:t>リスク回避</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70" dirty="0">
                          <a:solidFill>
                            <a:srgbClr val="2A2A33"/>
                          </a:solidFill>
                          <a:latin typeface="Yu Gothic" pitchFamily="34" charset="0"/>
                          <a:ea typeface="Yu Gothic" pitchFamily="34" charset="-122"/>
                          <a:cs typeface="Yu Gothic" pitchFamily="34" charset="-120"/>
                        </a:rPr>
                        <a:t>拠点水リスク評価100%/取水原単位▲30%</a:t>
                      </a:r>
                      <a:endParaRPr lang="en-US" sz="87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bl>
          </a:graphicData>
        </a:graphic>
      </p:graphicFrame>
      <p:sp>
        <p:nvSpPr>
          <p:cNvPr id="7" name="Shape 4"/>
          <p:cNvSpPr/>
          <p:nvPr/>
        </p:nvSpPr>
        <p:spPr>
          <a:xfrm>
            <a:off x="457200" y="5120640"/>
            <a:ext cx="11274552" cy="1280160"/>
          </a:xfrm>
          <a:prstGeom prst="roundRect">
            <a:avLst>
              <a:gd name="adj" fmla="val 5000"/>
            </a:avLst>
          </a:prstGeom>
          <a:solidFill>
            <a:srgbClr val="FBECEE"/>
          </a:solidFill>
          <a:ln/>
        </p:spPr>
      </p:sp>
      <p:sp>
        <p:nvSpPr>
          <p:cNvPr id="8" name="Text 5"/>
          <p:cNvSpPr/>
          <p:nvPr/>
        </p:nvSpPr>
        <p:spPr>
          <a:xfrm>
            <a:off x="685800" y="5212080"/>
            <a:ext cx="10835640" cy="1097280"/>
          </a:xfrm>
          <a:prstGeom prst="rect">
            <a:avLst/>
          </a:prstGeom>
          <a:noFill/>
          <a:ln/>
        </p:spPr>
        <p:txBody>
          <a:bodyPr wrap="square" lIns="0" tIns="0" rIns="0" bIns="0" rtlCol="0" anchor="ctr"/>
          <a:lstStyle/>
          <a:p>
            <a:pPr indent="0" marL="0">
              <a:lnSpc>
                <a:spcPct val="125000"/>
              </a:lnSpc>
              <a:buNone/>
            </a:pPr>
            <a:r>
              <a:rPr lang="en-US" sz="980" b="1" dirty="0">
                <a:solidFill>
                  <a:srgbClr val="C8102E"/>
                </a:solidFill>
                <a:latin typeface="Yu Gothic" pitchFamily="34" charset="0"/>
                <a:ea typeface="Yu Gothic" pitchFamily="34" charset="-122"/>
                <a:cs typeface="Yu Gothic" pitchFamily="34" charset="-120"/>
              </a:rPr>
              <a:t>経営管理上の扱い: </a:t>
            </a:r>
            <a:pPr indent="0" marL="0">
              <a:lnSpc>
                <a:spcPct val="125000"/>
              </a:lnSpc>
              <a:buNone/>
            </a:pPr>
            <a:r>
              <a:rPr lang="en-US" sz="980" dirty="0">
                <a:solidFill>
                  <a:srgbClr val="2A2A33"/>
                </a:solidFill>
                <a:latin typeface="Yu Gothic" pitchFamily="34" charset="0"/>
                <a:ea typeface="Yu Gothic" pitchFamily="34" charset="-122"/>
                <a:cs typeface="Yu Gothic" pitchFamily="34" charset="-120"/>
              </a:rPr>
              <a:t>防衛価値は損益計算書に「増収」としては現れないため、放置すると投資が正当化されない。そこで①要請対応による受注維持額を営業が取引先別に記録(実測) ②炭素税・規制は「回避コスト」として中計の前提に明記 ③リスク低減は資本コストΔ(エンジンE)への入力として扱う ― 見えない価値を3つの帳簿で見えるようにする</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エンジン D/E</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コスト・資本効率と資本コスト ― 利益率10%とPBR2.0の残りのピース</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エンジンDは営業利益率を、エンジンEは分母(資本コスト)を動かす ― どちらも換算式で管理する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7</a:t>
            </a:r>
            <a:endParaRPr lang="en-US" sz="900" dirty="0"/>
          </a:p>
        </p:txBody>
      </p:sp>
      <p:sp>
        <p:nvSpPr>
          <p:cNvPr id="6" name="Text 4"/>
          <p:cNvSpPr/>
          <p:nvPr/>
        </p:nvSpPr>
        <p:spPr>
          <a:xfrm>
            <a:off x="457200" y="1234440"/>
            <a:ext cx="5486400" cy="411480"/>
          </a:xfrm>
          <a:prstGeom prst="roundRect">
            <a:avLst>
              <a:gd name="adj" fmla="val 11111"/>
            </a:avLst>
          </a:prstGeom>
          <a:solidFill>
            <a:srgbClr val="2C6E49"/>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エンジンD: コスト・資本効率(営業利益+130億円・例示)</a:t>
            </a:r>
            <a:endParaRPr lang="en-US" sz="1050" dirty="0"/>
          </a:p>
        </p:txBody>
      </p:sp>
      <p:sp>
        <p:nvSpPr>
          <p:cNvPr id="7" name="Shape 5"/>
          <p:cNvSpPr/>
          <p:nvPr/>
        </p:nvSpPr>
        <p:spPr>
          <a:xfrm>
            <a:off x="457200" y="1783080"/>
            <a:ext cx="5486400" cy="1024128"/>
          </a:xfrm>
          <a:prstGeom prst="roundRect">
            <a:avLst>
              <a:gd name="adj" fmla="val 5357"/>
            </a:avLst>
          </a:prstGeom>
          <a:solidFill>
            <a:srgbClr val="EAF3EE"/>
          </a:solidFill>
          <a:ln/>
        </p:spPr>
      </p:sp>
      <p:sp>
        <p:nvSpPr>
          <p:cNvPr id="8" name="Text 6"/>
          <p:cNvSpPr/>
          <p:nvPr/>
        </p:nvSpPr>
        <p:spPr>
          <a:xfrm>
            <a:off x="594360" y="1837944"/>
            <a:ext cx="5212080" cy="914400"/>
          </a:xfrm>
          <a:prstGeom prst="rect">
            <a:avLst/>
          </a:prstGeom>
          <a:noFill/>
          <a:ln/>
        </p:spPr>
        <p:txBody>
          <a:bodyPr wrap="square" lIns="0" tIns="0" rIns="0" bIns="0" rtlCol="0" anchor="ctr"/>
          <a:lstStyle/>
          <a:p>
            <a:pPr indent="0" marL="0">
              <a:lnSpc>
                <a:spcPct val="115000"/>
              </a:lnSpc>
              <a:buNone/>
            </a:pPr>
            <a:r>
              <a:rPr lang="en-US" sz="980" b="1" dirty="0">
                <a:solidFill>
                  <a:srgbClr val="2C6E49"/>
                </a:solidFill>
                <a:latin typeface="Yu Gothic" pitchFamily="34" charset="0"/>
                <a:ea typeface="Yu Gothic" pitchFamily="34" charset="-122"/>
                <a:cs typeface="Yu Gothic" pitchFamily="34" charset="-120"/>
              </a:rPr>
              <a:t>濃縮・詰替・軽量化
</a:t>
            </a:r>
            <a:pPr indent="0" marL="0">
              <a:lnSpc>
                <a:spcPct val="115000"/>
              </a:lnSpc>
              <a:buNone/>
            </a:pPr>
            <a:r>
              <a:rPr lang="en-US" sz="850" dirty="0">
                <a:solidFill>
                  <a:srgbClr val="2A2A33"/>
                </a:solidFill>
                <a:latin typeface="Yu Gothic" pitchFamily="34" charset="0"/>
                <a:ea typeface="Yu Gothic" pitchFamily="34" charset="-122"/>
                <a:cs typeface="Yu Gothic" pitchFamily="34" charset="-120"/>
              </a:rPr>
              <a:t>原材料・容器・物流費の原単位低減 ― 環境技術がそのまま原価低減(+40億円)。KPI: プラ原単位/物流費率/再生材コスト差</a:t>
            </a:r>
            <a:endParaRPr lang="en-US" sz="980" dirty="0"/>
          </a:p>
        </p:txBody>
      </p:sp>
      <p:sp>
        <p:nvSpPr>
          <p:cNvPr id="9" name="Shape 7"/>
          <p:cNvSpPr/>
          <p:nvPr/>
        </p:nvSpPr>
        <p:spPr>
          <a:xfrm>
            <a:off x="457200" y="2944368"/>
            <a:ext cx="5486400" cy="1024128"/>
          </a:xfrm>
          <a:prstGeom prst="roundRect">
            <a:avLst>
              <a:gd name="adj" fmla="val 5357"/>
            </a:avLst>
          </a:prstGeom>
          <a:solidFill>
            <a:srgbClr val="EAF3EE"/>
          </a:solidFill>
          <a:ln/>
        </p:spPr>
      </p:sp>
      <p:sp>
        <p:nvSpPr>
          <p:cNvPr id="10" name="Text 8"/>
          <p:cNvSpPr/>
          <p:nvPr/>
        </p:nvSpPr>
        <p:spPr>
          <a:xfrm>
            <a:off x="594360" y="2999232"/>
            <a:ext cx="5212080" cy="914400"/>
          </a:xfrm>
          <a:prstGeom prst="rect">
            <a:avLst/>
          </a:prstGeom>
          <a:noFill/>
          <a:ln/>
        </p:spPr>
        <p:txBody>
          <a:bodyPr wrap="square" lIns="0" tIns="0" rIns="0" bIns="0" rtlCol="0" anchor="ctr"/>
          <a:lstStyle/>
          <a:p>
            <a:pPr indent="0" marL="0">
              <a:lnSpc>
                <a:spcPct val="115000"/>
              </a:lnSpc>
              <a:buNone/>
            </a:pPr>
            <a:r>
              <a:rPr lang="en-US" sz="980" b="1" dirty="0">
                <a:solidFill>
                  <a:srgbClr val="2C6E49"/>
                </a:solidFill>
                <a:latin typeface="Yu Gothic" pitchFamily="34" charset="0"/>
                <a:ea typeface="Yu Gothic" pitchFamily="34" charset="-122"/>
                <a:cs typeface="Yu Gothic" pitchFamily="34" charset="-120"/>
              </a:rPr>
              <a:t>SSBJ基盤の効率化
</a:t>
            </a:r>
            <a:pPr indent="0" marL="0">
              <a:lnSpc>
                <a:spcPct val="115000"/>
              </a:lnSpc>
              <a:buNone/>
            </a:pPr>
            <a:r>
              <a:rPr lang="en-US" sz="850" dirty="0">
                <a:solidFill>
                  <a:srgbClr val="2A2A33"/>
                </a:solidFill>
                <a:latin typeface="Yu Gothic" pitchFamily="34" charset="0"/>
                <a:ea typeface="Yu Gothic" pitchFamily="34" charset="-122"/>
                <a:cs typeface="Yu Gothic" pitchFamily="34" charset="-120"/>
              </a:rPr>
              <a:t>集計工数▲40〜60%・監査/制度対応の外注費削減(+10億円)。KPI: 工数削減率・監査対応日数</a:t>
            </a:r>
            <a:endParaRPr lang="en-US" sz="980" dirty="0"/>
          </a:p>
        </p:txBody>
      </p:sp>
      <p:sp>
        <p:nvSpPr>
          <p:cNvPr id="11" name="Shape 9"/>
          <p:cNvSpPr/>
          <p:nvPr/>
        </p:nvSpPr>
        <p:spPr>
          <a:xfrm>
            <a:off x="457200" y="4105656"/>
            <a:ext cx="5486400" cy="1024128"/>
          </a:xfrm>
          <a:prstGeom prst="roundRect">
            <a:avLst>
              <a:gd name="adj" fmla="val 5357"/>
            </a:avLst>
          </a:prstGeom>
          <a:solidFill>
            <a:srgbClr val="EAF3EE"/>
          </a:solidFill>
          <a:ln/>
        </p:spPr>
      </p:sp>
      <p:sp>
        <p:nvSpPr>
          <p:cNvPr id="12" name="Text 10"/>
          <p:cNvSpPr/>
          <p:nvPr/>
        </p:nvSpPr>
        <p:spPr>
          <a:xfrm>
            <a:off x="594360" y="4160520"/>
            <a:ext cx="5212080" cy="914400"/>
          </a:xfrm>
          <a:prstGeom prst="rect">
            <a:avLst/>
          </a:prstGeom>
          <a:noFill/>
          <a:ln/>
        </p:spPr>
        <p:txBody>
          <a:bodyPr wrap="square" lIns="0" tIns="0" rIns="0" bIns="0" rtlCol="0" anchor="ctr"/>
          <a:lstStyle/>
          <a:p>
            <a:pPr indent="0" marL="0">
              <a:lnSpc>
                <a:spcPct val="115000"/>
              </a:lnSpc>
              <a:buNone/>
            </a:pPr>
            <a:r>
              <a:rPr lang="en-US" sz="980" b="1" dirty="0">
                <a:solidFill>
                  <a:srgbClr val="2C6E49"/>
                </a:solidFill>
                <a:latin typeface="Yu Gothic" pitchFamily="34" charset="0"/>
                <a:ea typeface="Yu Gothic" pitchFamily="34" charset="-122"/>
                <a:cs typeface="Yu Gothic" pitchFamily="34" charset="-120"/>
              </a:rPr>
              <a:t>エネルギーコスト
</a:t>
            </a:r>
            <a:pPr indent="0" marL="0">
              <a:lnSpc>
                <a:spcPct val="115000"/>
              </a:lnSpc>
              <a:buNone/>
            </a:pPr>
            <a:r>
              <a:rPr lang="en-US" sz="850" dirty="0">
                <a:solidFill>
                  <a:srgbClr val="2A2A33"/>
                </a:solidFill>
                <a:latin typeface="Yu Gothic" pitchFamily="34" charset="0"/>
                <a:ea typeface="Yu Gothic" pitchFamily="34" charset="-122"/>
                <a:cs typeface="Yu Gothic" pitchFamily="34" charset="-120"/>
              </a:rPr>
              <a:t>省エネ・再エネ(PPA)による電力・燃料費の構造低減と価格変動ヘッジ(+10億円規模)。KPI: エネルギー原単位</a:t>
            </a:r>
            <a:endParaRPr lang="en-US" sz="980" dirty="0"/>
          </a:p>
        </p:txBody>
      </p:sp>
      <p:sp>
        <p:nvSpPr>
          <p:cNvPr id="13" name="Shape 11"/>
          <p:cNvSpPr/>
          <p:nvPr/>
        </p:nvSpPr>
        <p:spPr>
          <a:xfrm>
            <a:off x="457200" y="5266944"/>
            <a:ext cx="5486400" cy="1024128"/>
          </a:xfrm>
          <a:prstGeom prst="roundRect">
            <a:avLst>
              <a:gd name="adj" fmla="val 5357"/>
            </a:avLst>
          </a:prstGeom>
          <a:solidFill>
            <a:srgbClr val="EAF3EE"/>
          </a:solidFill>
          <a:ln/>
        </p:spPr>
      </p:sp>
      <p:sp>
        <p:nvSpPr>
          <p:cNvPr id="14" name="Text 12"/>
          <p:cNvSpPr/>
          <p:nvPr/>
        </p:nvSpPr>
        <p:spPr>
          <a:xfrm>
            <a:off x="594360" y="5321808"/>
            <a:ext cx="5212080" cy="914400"/>
          </a:xfrm>
          <a:prstGeom prst="rect">
            <a:avLst/>
          </a:prstGeom>
          <a:noFill/>
          <a:ln/>
        </p:spPr>
        <p:txBody>
          <a:bodyPr wrap="square" lIns="0" tIns="0" rIns="0" bIns="0" rtlCol="0" anchor="ctr"/>
          <a:lstStyle/>
          <a:p>
            <a:pPr indent="0" marL="0">
              <a:lnSpc>
                <a:spcPct val="115000"/>
              </a:lnSpc>
              <a:buNone/>
            </a:pPr>
            <a:r>
              <a:rPr lang="en-US" sz="980" b="1" dirty="0">
                <a:solidFill>
                  <a:srgbClr val="2C6E49"/>
                </a:solidFill>
                <a:latin typeface="Yu Gothic" pitchFamily="34" charset="0"/>
                <a:ea typeface="Yu Gothic" pitchFamily="34" charset="-122"/>
                <a:cs typeface="Yu Gothic" pitchFamily="34" charset="-120"/>
              </a:rPr>
              <a:t>ポートフォリオ規律
</a:t>
            </a:r>
            <a:pPr indent="0" marL="0">
              <a:lnSpc>
                <a:spcPct val="115000"/>
              </a:lnSpc>
              <a:buNone/>
            </a:pPr>
            <a:r>
              <a:rPr lang="en-US" sz="850" dirty="0">
                <a:solidFill>
                  <a:srgbClr val="2A2A33"/>
                </a:solidFill>
                <a:latin typeface="Yu Gothic" pitchFamily="34" charset="0"/>
                <a:ea typeface="Yu Gothic" pitchFamily="34" charset="-122"/>
                <a:cs typeface="Yu Gothic" pitchFamily="34" charset="-120"/>
              </a:rPr>
              <a:t>低採算・非貢献型SKUの整理と貢献型への集約で粗利率改善(+70億円)。KPI: SKU数/貢献型粗利率差</a:t>
            </a:r>
            <a:endParaRPr lang="en-US" sz="980" dirty="0"/>
          </a:p>
        </p:txBody>
      </p:sp>
      <p:sp>
        <p:nvSpPr>
          <p:cNvPr id="15" name="Text 13"/>
          <p:cNvSpPr/>
          <p:nvPr/>
        </p:nvSpPr>
        <p:spPr>
          <a:xfrm>
            <a:off x="6245352" y="1234440"/>
            <a:ext cx="5486400" cy="411480"/>
          </a:xfrm>
          <a:prstGeom prst="roundRect">
            <a:avLst>
              <a:gd name="adj" fmla="val 11111"/>
            </a:avLst>
          </a:prstGeom>
          <a:solidFill>
            <a:srgbClr val="1E2761"/>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エンジンE: 資本コスト低減(▲0.4pt・例示 → 時価総額+800億円規模)</a:t>
            </a:r>
            <a:endParaRPr lang="en-US" sz="1050" dirty="0"/>
          </a:p>
        </p:txBody>
      </p:sp>
      <p:sp>
        <p:nvSpPr>
          <p:cNvPr id="16" name="Text 14"/>
          <p:cNvSpPr/>
          <p:nvPr/>
        </p:nvSpPr>
        <p:spPr>
          <a:xfrm>
            <a:off x="6309360" y="1810512"/>
            <a:ext cx="5349240" cy="2743200"/>
          </a:xfrm>
          <a:prstGeom prst="rect">
            <a:avLst/>
          </a:prstGeom>
          <a:noFill/>
          <a:ln/>
        </p:spPr>
        <p:txBody>
          <a:bodyPr wrap="square" lIns="508" tIns="508" rIns="508" bIns="508" rtlCol="0" anchor="t"/>
          <a:lstStyle/>
          <a:p>
            <a:pPr indent="0" marL="0">
              <a:lnSpc>
                <a:spcPct val="128000"/>
              </a:lnSpc>
              <a:buNone/>
            </a:pPr>
            <a:r>
              <a:rPr lang="en-US" sz="920" b="1" dirty="0">
                <a:solidFill>
                  <a:srgbClr val="C8102E"/>
                </a:solidFill>
                <a:latin typeface="Yu Gothic" pitchFamily="34" charset="0"/>
                <a:ea typeface="Yu Gothic" pitchFamily="34" charset="-122"/>
                <a:cs typeface="Yu Gothic" pitchFamily="34" charset="-120"/>
              </a:rPr>
              <a:t>換算式: </a:t>
            </a:r>
            <a:pPr indent="0" marL="0">
              <a:lnSpc>
                <a:spcPct val="128000"/>
              </a:lnSpc>
              <a:buNone/>
            </a:pPr>
            <a:r>
              <a:rPr lang="en-US" sz="920" dirty="0">
                <a:solidFill>
                  <a:srgbClr val="2A2A33"/>
                </a:solidFill>
                <a:latin typeface="Yu Gothic" pitchFamily="34" charset="0"/>
                <a:ea typeface="Yu Gothic" pitchFamily="34" charset="-122"/>
                <a:cs typeface="Yu Gothic" pitchFamily="34" charset="-120"/>
              </a:rPr>
              <a:t>理論株主価値 ≒ 利益 ÷ (資本コスト − 成長率)。資本コスト8%・成長2%の企業が▲0.4pt下がると理論価値は約7%増 ― 当社規模で数百億円の時価総額に相当
</a:t>
            </a:r>
            <a:pPr indent="0" marL="0">
              <a:lnSpc>
                <a:spcPct val="128000"/>
              </a:lnSpc>
              <a:buNone/>
            </a:pPr>
            <a:r>
              <a:rPr lang="en-US" sz="920" b="1" dirty="0">
                <a:solidFill>
                  <a:srgbClr val="1E2761"/>
                </a:solidFill>
                <a:latin typeface="Yu Gothic" pitchFamily="34" charset="0"/>
                <a:ea typeface="Yu Gothic" pitchFamily="34" charset="-122"/>
                <a:cs typeface="Yu Gothic" pitchFamily="34" charset="-120"/>
              </a:rPr>
              <a:t>何が資本コストを下げるか(実証されている経路): </a:t>
            </a:r>
            <a:pPr indent="0" marL="0">
              <a:lnSpc>
                <a:spcPct val="128000"/>
              </a:lnSpc>
              <a:buNone/>
            </a:pPr>
            <a:r>
              <a:rPr lang="en-US" sz="920" dirty="0">
                <a:solidFill>
                  <a:srgbClr val="2A2A33"/>
                </a:solidFill>
                <a:latin typeface="Yu Gothic" pitchFamily="34" charset="0"/>
                <a:ea typeface="Yu Gothic" pitchFamily="34" charset="-122"/>
                <a:cs typeface="Yu Gothic" pitchFamily="34" charset="-120"/>
              </a:rPr>
              <a:t>①開示品質・情報の非対称性の低減(有報同時開示・保証取得) ②業績のボラティリティ低減(規制・気候リスクの管理) ③ガバナンス(報酬連動・取締役会監督) ④ESG評価改善によるインデックス組入れ・株主層の長期化
</a:t>
            </a:r>
            <a:pPr indent="0" marL="0">
              <a:lnSpc>
                <a:spcPct val="128000"/>
              </a:lnSpc>
              <a:buNone/>
            </a:pPr>
            <a:r>
              <a:rPr lang="en-US" sz="920" b="1" dirty="0">
                <a:solidFill>
                  <a:srgbClr val="1E2761"/>
                </a:solidFill>
                <a:latin typeface="Yu Gothic" pitchFamily="34" charset="0"/>
                <a:ea typeface="Yu Gothic" pitchFamily="34" charset="-122"/>
                <a:cs typeface="Yu Gothic" pitchFamily="34" charset="-120"/>
              </a:rPr>
              <a:t>検証方法: </a:t>
            </a:r>
            <a:pPr indent="0" marL="0">
              <a:lnSpc>
                <a:spcPct val="128000"/>
              </a:lnSpc>
              <a:buNone/>
            </a:pPr>
            <a:r>
              <a:rPr lang="en-US" sz="920" dirty="0">
                <a:solidFill>
                  <a:srgbClr val="2A2A33"/>
                </a:solidFill>
                <a:latin typeface="Yu Gothic" pitchFamily="34" charset="0"/>
                <a:ea typeface="Yu Gothic" pitchFamily="34" charset="-122"/>
                <a:cs typeface="Yu Gothic" pitchFamily="34" charset="-120"/>
              </a:rPr>
              <a:t>柳モデル型回帰で「当社の非財務KPI→PBR」の係数を毎年推定し、資本コストΔの実現度をIRで開示。推定できないものは主張しない(誠実性が資本市場での信用となる)</a:t>
            </a:r>
            <a:endParaRPr lang="en-US" sz="920" dirty="0"/>
          </a:p>
        </p:txBody>
      </p:sp>
      <p:sp>
        <p:nvSpPr>
          <p:cNvPr id="17" name="Shape 15"/>
          <p:cNvSpPr/>
          <p:nvPr/>
        </p:nvSpPr>
        <p:spPr>
          <a:xfrm>
            <a:off x="6245352" y="4754880"/>
            <a:ext cx="5486400" cy="1737360"/>
          </a:xfrm>
          <a:prstGeom prst="roundRect">
            <a:avLst>
              <a:gd name="adj" fmla="val 3158"/>
            </a:avLst>
          </a:prstGeom>
          <a:solidFill>
            <a:srgbClr val="EEF3FB"/>
          </a:solidFill>
          <a:ln/>
        </p:spPr>
      </p:sp>
      <p:sp>
        <p:nvSpPr>
          <p:cNvPr id="18" name="Text 16"/>
          <p:cNvSpPr/>
          <p:nvPr/>
        </p:nvSpPr>
        <p:spPr>
          <a:xfrm>
            <a:off x="6400800" y="4864608"/>
            <a:ext cx="5212080" cy="1536192"/>
          </a:xfrm>
          <a:prstGeom prst="rect">
            <a:avLst/>
          </a:prstGeom>
          <a:noFill/>
          <a:ln/>
        </p:spPr>
        <p:txBody>
          <a:bodyPr wrap="square" lIns="0" tIns="0" rIns="0" bIns="0" rtlCol="0" anchor="t"/>
          <a:lstStyle/>
          <a:p>
            <a:pPr indent="0" marL="0">
              <a:lnSpc>
                <a:spcPct val="130000"/>
              </a:lnSpc>
              <a:buNone/>
            </a:pPr>
            <a:r>
              <a:rPr lang="en-US" sz="1050" b="1" dirty="0">
                <a:solidFill>
                  <a:srgbClr val="1E2761"/>
                </a:solidFill>
                <a:latin typeface="Yu Gothic" pitchFamily="34" charset="0"/>
                <a:ea typeface="Yu Gothic" pitchFamily="34" charset="-122"/>
                <a:cs typeface="Yu Gothic" pitchFamily="34" charset="-120"/>
              </a:rPr>
              <a:t>エンジンEの担当KPI
</a:t>
            </a:r>
            <a:pPr indent="0" marL="0">
              <a:lnSpc>
                <a:spcPct val="130000"/>
              </a:lnSpc>
              <a:buNone/>
            </a:pPr>
            <a:r>
              <a:rPr lang="en-US" sz="900" dirty="0">
                <a:solidFill>
                  <a:srgbClr val="2A2A33"/>
                </a:solidFill>
                <a:latin typeface="Yu Gothic" pitchFamily="34" charset="0"/>
                <a:ea typeface="Yu Gothic" pitchFamily="34" charset="-122"/>
                <a:cs typeface="Yu Gothic" pitchFamily="34" charset="-120"/>
              </a:rPr>
              <a:t>・柳モデル係数(非財務KPI→PBR)の推定値と説明力の年次更新</a:t>
            </a:r>
            <a:endParaRPr lang="en-US" sz="1050" dirty="0"/>
          </a:p>
          <a:p>
            <a:pPr indent="0" marL="0">
              <a:lnSpc>
                <a:spcPct val="130000"/>
              </a:lnSpc>
              <a:buNone/>
            </a:pPr>
            <a:r>
              <a:rPr lang="en-US" sz="900" dirty="0">
                <a:solidFill>
                  <a:srgbClr val="2A2A33"/>
                </a:solidFill>
                <a:latin typeface="Yu Gothic" pitchFamily="34" charset="0"/>
                <a:ea typeface="Yu Gothic" pitchFamily="34" charset="-122"/>
                <a:cs typeface="Yu Gothic" pitchFamily="34" charset="-120"/>
              </a:rPr>
              <a:t>・有報同時開示の達成/第三者保証の取得範囲(限定的→拡大)</a:t>
            </a:r>
            <a:endParaRPr lang="en-US" sz="1050" dirty="0"/>
          </a:p>
          <a:p>
            <a:pPr indent="0" marL="0">
              <a:lnSpc>
                <a:spcPct val="130000"/>
              </a:lnSpc>
              <a:buNone/>
            </a:pPr>
            <a:r>
              <a:rPr lang="en-US" sz="900" dirty="0">
                <a:solidFill>
                  <a:srgbClr val="2A2A33"/>
                </a:solidFill>
                <a:latin typeface="Yu Gothic" pitchFamily="34" charset="0"/>
                <a:ea typeface="Yu Gothic" pitchFamily="34" charset="-122"/>
                <a:cs typeface="Yu Gothic" pitchFamily="34" charset="-120"/>
              </a:rPr>
              <a:t>・ESG評価(CDP・MSCI・FTSE等)とインデックス組入れ状況</a:t>
            </a:r>
            <a:endParaRPr lang="en-US" sz="1050" dirty="0"/>
          </a:p>
          <a:p>
            <a:pPr indent="0" marL="0">
              <a:lnSpc>
                <a:spcPct val="130000"/>
              </a:lnSpc>
              <a:buNone/>
            </a:pPr>
            <a:r>
              <a:rPr lang="en-US" sz="900" dirty="0">
                <a:solidFill>
                  <a:srgbClr val="2A2A33"/>
                </a:solidFill>
                <a:latin typeface="Yu Gothic" pitchFamily="34" charset="0"/>
                <a:ea typeface="Yu Gothic" pitchFamily="34" charset="-122"/>
                <a:cs typeface="Yu Gothic" pitchFamily="34" charset="-120"/>
              </a:rPr>
              <a:t>・役員報酬のESG連動比率/株主構成の長期投資家比率</a:t>
            </a:r>
            <a:endParaRPr lang="en-US" sz="1050" dirty="0"/>
          </a:p>
        </p:txBody>
      </p:sp>
      <p:sp>
        <p:nvSpPr>
          <p:cNvPr id="19" name="Shape 17"/>
          <p:cNvSpPr/>
          <p:nvPr/>
        </p:nvSpPr>
        <p:spPr>
          <a:xfrm>
            <a:off x="457200" y="6035040"/>
            <a:ext cx="5486400" cy="457200"/>
          </a:xfrm>
          <a:prstGeom prst="roundRect">
            <a:avLst>
              <a:gd name="adj" fmla="val 10000"/>
            </a:avLst>
          </a:prstGeom>
          <a:solidFill>
            <a:srgbClr val="F4F5F8"/>
          </a:solidFill>
          <a:ln/>
        </p:spPr>
      </p:sp>
      <p:sp>
        <p:nvSpPr>
          <p:cNvPr id="20" name="Text 18"/>
          <p:cNvSpPr/>
          <p:nvPr/>
        </p:nvSpPr>
        <p:spPr>
          <a:xfrm>
            <a:off x="566928" y="6062472"/>
            <a:ext cx="5303520" cy="411480"/>
          </a:xfrm>
          <a:prstGeom prst="rect">
            <a:avLst/>
          </a:prstGeom>
          <a:noFill/>
          <a:ln/>
        </p:spPr>
        <p:txBody>
          <a:bodyPr wrap="square" lIns="0" tIns="0" rIns="0" bIns="0" rtlCol="0" anchor="ctr"/>
          <a:lstStyle/>
          <a:p>
            <a:pPr indent="0" marL="0">
              <a:lnSpc>
                <a:spcPct val="105000"/>
              </a:lnSpc>
              <a:buNone/>
            </a:pPr>
            <a:r>
              <a:rPr lang="en-US" sz="800" dirty="0">
                <a:solidFill>
                  <a:srgbClr val="5A5F6B"/>
                </a:solidFill>
                <a:latin typeface="Yu Gothic" pitchFamily="34" charset="0"/>
                <a:ea typeface="Yu Gothic" pitchFamily="34" charset="-122"/>
                <a:cs typeface="Yu Gothic" pitchFamily="34" charset="-120"/>
              </a:rPr>
              <a:t>Dの合計+130億円は増収寄与+150億円・ミックス+80億円と合わせ営業利益500億円(率10%)を構成(成長投資▲60億円込み)</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KGI/KPI</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新KGI/KPI体系 ― 3層構造(財務KGI/価値ドライバ/先行KPI)・換算式付き</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第1層は損益計算書・バランスシートの言葉だけで構成。非財務は第2層・第3層で財務を「予告」する役割を担う</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8</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051560"/>
                <a:gridCol w="3246120"/>
                <a:gridCol w="4023360"/>
                <a:gridCol w="1371600"/>
                <a:gridCol w="1581912"/>
              </a:tblGrid>
              <a:tr h="402336">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層</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KGI/KPI</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換算式(財務への跳ね返り)</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2027</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2030</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r>
              <a:tr h="402336">
                <a:tc>
                  <a:txBody>
                    <a:bodyPr/>
                    <a:lstStyle/>
                    <a:p>
                      <a:pPr algn="l" indent="0" marL="0">
                        <a:buNone/>
                      </a:pPr>
                      <a:r>
                        <a:rPr lang="en-US" sz="820" b="1" dirty="0">
                          <a:solidFill>
                            <a:srgbClr val="1E2761"/>
                          </a:solidFill>
                          <a:latin typeface="Yu Gothic" pitchFamily="34" charset="0"/>
                          <a:ea typeface="Yu Gothic" pitchFamily="34" charset="-122"/>
                          <a:cs typeface="Yu Gothic" pitchFamily="34" charset="-120"/>
                        </a:rPr>
                        <a:t>第1層</a:t>
                      </a:r>
                      <a:endParaRPr lang="en-US" sz="820" dirty="0">
                        <a:latin typeface="Yu Gothic" charset="0"/>
                        <a:ea typeface="Yu Gothic" charset="0"/>
                        <a:cs typeface="Yu Gothic" charset="0"/>
                      </a:endParaRPr>
                    </a:p>
                    <a:p>
                      <a:pPr algn="l" indent="0" marL="0">
                        <a:buNone/>
                      </a:pPr>
                      <a:r>
                        <a:rPr lang="en-US" sz="820" b="1" dirty="0">
                          <a:solidFill>
                            <a:srgbClr val="1E2761"/>
                          </a:solidFill>
                          <a:latin typeface="Yu Gothic" pitchFamily="34" charset="0"/>
                          <a:ea typeface="Yu Gothic" pitchFamily="34" charset="-122"/>
                          <a:cs typeface="Yu Gothic" pitchFamily="34" charset="-120"/>
                        </a:rPr>
                        <a:t>財務KGI</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l" indent="0" marL="0">
                        <a:buNone/>
                      </a:pPr>
                      <a:r>
                        <a:rPr lang="en-US" sz="820" b="1" dirty="0">
                          <a:solidFill>
                            <a:srgbClr val="2A2A33"/>
                          </a:solidFill>
                          <a:latin typeface="Yu Gothic" pitchFamily="34" charset="0"/>
                          <a:ea typeface="Yu Gothic" pitchFamily="34" charset="-122"/>
                          <a:cs typeface="Yu Gothic" pitchFamily="34" charset="-120"/>
                        </a:rPr>
                        <a:t>ESG起点の増分売上</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エンジンA+B+C(獲得分)の合計 ― ベースライン対比・カニバリ控除後</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+150億円</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+1,000億円</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r>
              <a:tr h="402336">
                <a:tc>
                  <a:txBody>
                    <a:bodyPr/>
                    <a:lstStyle/>
                    <a:p>
                      <a:pPr algn="l" indent="0" marL="0">
                        <a:buNone/>
                      </a:pP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l" indent="0" marL="0">
                        <a:buNone/>
                      </a:pPr>
                      <a:r>
                        <a:rPr lang="en-US" sz="820" b="1" dirty="0">
                          <a:solidFill>
                            <a:srgbClr val="2A2A33"/>
                          </a:solidFill>
                          <a:latin typeface="Yu Gothic" pitchFamily="34" charset="0"/>
                          <a:ea typeface="Yu Gothic" pitchFamily="34" charset="-122"/>
                          <a:cs typeface="Yu Gothic" pitchFamily="34" charset="-120"/>
                        </a:rPr>
                        <a:t>営業利益率</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増収寄与+ミックス+原価・工数改善−成長投資</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8%</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10%</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r>
              <a:tr h="402336">
                <a:tc>
                  <a:txBody>
                    <a:bodyPr/>
                    <a:lstStyle/>
                    <a:p>
                      <a:pPr algn="l" indent="0" marL="0">
                        <a:buNone/>
                      </a:pP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l" indent="0" marL="0">
                        <a:buNone/>
                      </a:pPr>
                      <a:r>
                        <a:rPr lang="en-US" sz="820" b="1" dirty="0">
                          <a:solidFill>
                            <a:srgbClr val="2A2A33"/>
                          </a:solidFill>
                          <a:latin typeface="Yu Gothic" pitchFamily="34" charset="0"/>
                          <a:ea typeface="Yu Gothic" pitchFamily="34" charset="-122"/>
                          <a:cs typeface="Yu Gothic" pitchFamily="34" charset="-120"/>
                        </a:rPr>
                        <a:t>PBR(資本コストΔの検証付き)</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ROE12% × 資本コスト▲0.4pt(柳モデルで毎年推定)</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1.6倍</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2.0倍</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BECEE"/>
                    </a:solidFill>
                  </a:tcPr>
                </a:tc>
              </a:tr>
              <a:tr h="402336">
                <a:tc>
                  <a:txBody>
                    <a:bodyPr/>
                    <a:lstStyle/>
                    <a:p>
                      <a:pPr algn="l" indent="0" marL="0">
                        <a:buNone/>
                      </a:pPr>
                      <a:r>
                        <a:rPr lang="en-US" sz="820" b="1" dirty="0">
                          <a:solidFill>
                            <a:srgbClr val="1E2761"/>
                          </a:solidFill>
                          <a:latin typeface="Yu Gothic" pitchFamily="34" charset="0"/>
                          <a:ea typeface="Yu Gothic" pitchFamily="34" charset="-122"/>
                          <a:cs typeface="Yu Gothic" pitchFamily="34" charset="-120"/>
                        </a:rPr>
                        <a:t>第2層</a:t>
                      </a:r>
                      <a:endParaRPr lang="en-US" sz="820" dirty="0">
                        <a:latin typeface="Yu Gothic" charset="0"/>
                        <a:ea typeface="Yu Gothic" charset="0"/>
                        <a:cs typeface="Yu Gothic" charset="0"/>
                      </a:endParaRPr>
                    </a:p>
                    <a:p>
                      <a:pPr algn="l" indent="0" marL="0">
                        <a:buNone/>
                      </a:pPr>
                      <a:r>
                        <a:rPr lang="en-US" sz="820" b="1" dirty="0">
                          <a:solidFill>
                            <a:srgbClr val="1E2761"/>
                          </a:solidFill>
                          <a:latin typeface="Yu Gothic" pitchFamily="34" charset="0"/>
                          <a:ea typeface="Yu Gothic" pitchFamily="34" charset="-122"/>
                          <a:cs typeface="Yu Gothic" pitchFamily="34" charset="-120"/>
                        </a:rPr>
                        <a:t>価値ドライバ</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増分収益化人口 × ARPU</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0.5億人 × 1,000円 = +500億円(エンジンA)</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0.1億人</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0.5億人</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402336">
                <a:tc>
                  <a:txBody>
                    <a:bodyPr/>
                    <a:lstStyle/>
                    <a:p>
                      <a:pPr algn="l" indent="0" marL="0">
                        <a:buNone/>
                      </a:pP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貢献型売上比率・プレミアム受容率</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シフト率×プレミアム幅 = +100億円/レジメンARPU+25% = +100億円(B)</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45%・実測開始</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60%・+10%</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402336">
                <a:tc>
                  <a:txBody>
                    <a:bodyPr/>
                    <a:lstStyle/>
                    <a:p>
                      <a:pPr algn="l" indent="0" marL="0">
                        <a:buNone/>
                      </a:pP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B2B2C契約(団体数×単価×更新率)</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1,000団体 × 1,000万円 = +100億円(B)</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パイロット10社</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1,000団体</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402336">
                <a:tc>
                  <a:txBody>
                    <a:bodyPr/>
                    <a:lstStyle/>
                    <a:p>
                      <a:pPr algn="l" indent="0" marL="0">
                        <a:buNone/>
                      </a:pP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CFP対応の受注維持・獲得額</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取引先別に営業が実測記録(C) = 防衛約180億円/年</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記録制度開始</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180億円/年</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402336">
                <a:tc>
                  <a:txBody>
                    <a:bodyPr/>
                    <a:lstStyle/>
                    <a:p>
                      <a:pPr algn="l" indent="0" marL="0">
                        <a:buNone/>
                      </a:pP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コスト改善額(原価・物流・工数)</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原単位×数量で積算(D) = +130億円</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+30億円</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+130億円</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402336">
                <a:tc>
                  <a:txBody>
                    <a:bodyPr/>
                    <a:lstStyle/>
                    <a:p>
                      <a:pPr algn="l" indent="0" marL="0">
                        <a:buNone/>
                      </a:pPr>
                      <a:r>
                        <a:rPr lang="en-US" sz="820" b="1" dirty="0">
                          <a:solidFill>
                            <a:srgbClr val="1E2761"/>
                          </a:solidFill>
                          <a:latin typeface="Yu Gothic" pitchFamily="34" charset="0"/>
                          <a:ea typeface="Yu Gothic" pitchFamily="34" charset="-122"/>
                          <a:cs typeface="Yu Gothic" pitchFamily="34" charset="-120"/>
                        </a:rPr>
                        <a:t>第3層</a:t>
                      </a:r>
                      <a:endParaRPr lang="en-US" sz="820" dirty="0">
                        <a:latin typeface="Yu Gothic" charset="0"/>
                        <a:ea typeface="Yu Gothic" charset="0"/>
                        <a:cs typeface="Yu Gothic" charset="0"/>
                      </a:endParaRPr>
                    </a:p>
                    <a:p>
                      <a:pPr algn="l" indent="0" marL="0">
                        <a:buNone/>
                      </a:pPr>
                      <a:r>
                        <a:rPr lang="en-US" sz="820" b="1" dirty="0">
                          <a:solidFill>
                            <a:srgbClr val="1E2761"/>
                          </a:solidFill>
                          <a:latin typeface="Yu Gothic" pitchFamily="34" charset="0"/>
                          <a:ea typeface="Yu Gothic" pitchFamily="34" charset="-122"/>
                          <a:cs typeface="Yu Gothic" pitchFamily="34" charset="-120"/>
                        </a:rPr>
                        <a:t>先行KPI</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リーチ5億人・習慣化率・継続率・NPS</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ファネル転換の先行指標(Aの12〜24ヶ月先行)</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3億人・実測</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5億人</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r>
              <a:tr h="402336">
                <a:tc>
                  <a:txBody>
                    <a:bodyPr/>
                    <a:lstStyle/>
                    <a:p>
                      <a:pPr algn="l" indent="0" marL="0">
                        <a:buNone/>
                      </a:pP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実証済み医療費削減額・エビデンス件数</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B2B2C単価・更新率とプレミアム受容率の根拠(B/Cの先行)</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実証3件</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実証10件・500億円</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r>
              <a:tr h="402336">
                <a:tc>
                  <a:txBody>
                    <a:bodyPr/>
                    <a:lstStyle/>
                    <a:p>
                      <a:pPr algn="l" indent="0" marL="0">
                        <a:buNone/>
                      </a:pP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Scope1-3・一次データ比率・保証範囲・エンゲージメント</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l" indent="0" marL="0">
                        <a:buNone/>
                      </a:pPr>
                      <a:r>
                        <a:rPr lang="en-US" sz="820" dirty="0">
                          <a:solidFill>
                            <a:srgbClr val="2A2A33"/>
                          </a:solidFill>
                          <a:latin typeface="Yu Gothic" pitchFamily="34" charset="0"/>
                          <a:ea typeface="Yu Gothic" pitchFamily="34" charset="-122"/>
                          <a:cs typeface="Yu Gothic" pitchFamily="34" charset="-120"/>
                        </a:rPr>
                        <a:t>資本コストΔ(E)と防衛価値(C)の先行指標</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ctr" indent="0" marL="0">
                        <a:buNone/>
                      </a:pPr>
                      <a:r>
                        <a:rPr lang="en-US" sz="820" dirty="0">
                          <a:solidFill>
                            <a:srgbClr val="2A2A33"/>
                          </a:solidFill>
                          <a:latin typeface="Yu Gothic" pitchFamily="34" charset="0"/>
                          <a:ea typeface="Yu Gothic" pitchFamily="34" charset="-122"/>
                          <a:cs typeface="Yu Gothic" pitchFamily="34" charset="-120"/>
                        </a:rPr>
                        <a:t>基盤稼働</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c>
                  <a:txBody>
                    <a:bodyPr/>
                    <a:lstStyle/>
                    <a:p>
                      <a:pPr algn="ctr" indent="0" marL="0">
                        <a:buNone/>
                      </a:pPr>
                      <a:r>
                        <a:rPr lang="en-US" sz="820" dirty="0">
                          <a:solidFill>
                            <a:srgbClr val="C8102E"/>
                          </a:solidFill>
                          <a:latin typeface="Yu Gothic" pitchFamily="34" charset="0"/>
                          <a:ea typeface="Yu Gothic" pitchFamily="34" charset="-122"/>
                          <a:cs typeface="Yu Gothic" pitchFamily="34" charset="-120"/>
                        </a:rPr>
                        <a:t>目標達成</a:t>
                      </a:r>
                      <a:endParaRPr lang="en-US" sz="82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EEF3FB"/>
                    </a:solidFill>
                  </a:tcPr>
                </a:tc>
              </a:tr>
            </a:tbl>
          </a:graphicData>
        </a:graphic>
      </p:graphicFrame>
      <p:sp>
        <p:nvSpPr>
          <p:cNvPr id="7" name="Text 4"/>
          <p:cNvSpPr/>
          <p:nvPr/>
        </p:nvSpPr>
        <p:spPr>
          <a:xfrm>
            <a:off x="457200" y="6172200"/>
            <a:ext cx="11274552" cy="320040"/>
          </a:xfrm>
          <a:prstGeom prst="rect">
            <a:avLst/>
          </a:prstGeom>
          <a:noFill/>
          <a:ln/>
        </p:spPr>
        <p:txBody>
          <a:bodyPr wrap="square" lIns="0" tIns="0" rIns="0" bIns="0" rtlCol="0" anchor="ctr"/>
          <a:lstStyle/>
          <a:p>
            <a:pPr indent="0" marL="0">
              <a:buNone/>
            </a:pPr>
            <a:r>
              <a:rPr lang="en-US" sz="900" i="1" dirty="0">
                <a:solidFill>
                  <a:srgbClr val="5A5F6B"/>
                </a:solidFill>
                <a:latin typeface="Yu Gothic" pitchFamily="34" charset="0"/>
                <a:ea typeface="Yu Gothic" pitchFamily="34" charset="-122"/>
                <a:cs typeface="Yu Gothic" pitchFamily="34" charset="-120"/>
              </a:rPr>
              <a:t>※ 数値はすべて例示。太字の第1層KGIのみを役員報酬・経営会議の主指標とし、第2・3層は執行側のドライバ管理に使う(指標の多重債務を防ぐ)</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検証計画</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感応度と検証計画 ― 価値を動かす5つの仮定を先に潰す</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本構想の成否は5つの換算係数に集中する。2026-27年のパイロットで実測し、ダメなら早期にピボットする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9</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194560"/>
                <a:gridCol w="2286000"/>
                <a:gridCol w="3657600"/>
                <a:gridCol w="3136392"/>
              </a:tblGrid>
              <a:tr h="694944">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重要仮定(換算係数)</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価値への感応度(例示)</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検証方法(2026-27)</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外れた場合のピボット</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r>
              <a:tr h="694944">
                <a:tc>
                  <a:txBody>
                    <a:bodyPr/>
                    <a:lstStyle/>
                    <a:p>
                      <a:pPr indent="0" marL="0">
                        <a:buNone/>
                      </a:pPr>
                      <a:r>
                        <a:rPr lang="en-US" sz="850" b="1" dirty="0">
                          <a:solidFill>
                            <a:srgbClr val="1E2761"/>
                          </a:solidFill>
                          <a:latin typeface="Yu Gothic" pitchFamily="34" charset="0"/>
                          <a:ea typeface="Yu Gothic" pitchFamily="34" charset="-122"/>
                          <a:cs typeface="Yu Gothic" pitchFamily="34" charset="-120"/>
                        </a:rPr>
                        <a:t>収益化率50%</a:t>
                      </a:r>
                      <a:endParaRPr lang="en-US" sz="850" dirty="0">
                        <a:latin typeface="Yu Gothic" charset="0"/>
                        <a:ea typeface="Yu Gothic" charset="0"/>
                        <a:cs typeface="Yu Gothic" charset="0"/>
                      </a:endParaRPr>
                    </a:p>
                    <a:p>
                      <a:pPr indent="0" marL="0">
                        <a:buNone/>
                      </a:pPr>
                      <a:r>
                        <a:rPr lang="en-US" sz="850" b="1" dirty="0">
                          <a:solidFill>
                            <a:srgbClr val="1E2761"/>
                          </a:solidFill>
                          <a:latin typeface="Yu Gothic" pitchFamily="34" charset="0"/>
                          <a:ea typeface="Yu Gothic" pitchFamily="34" charset="-122"/>
                          <a:cs typeface="Yu Gothic" pitchFamily="34" charset="-120"/>
                        </a:rPr>
                        <a:t>(習慣化→当社購入)</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50" dirty="0">
                          <a:solidFill>
                            <a:srgbClr val="C8102E"/>
                          </a:solidFill>
                          <a:latin typeface="Yu Gothic" pitchFamily="34" charset="0"/>
                          <a:ea typeface="Yu Gothic" pitchFamily="34" charset="-122"/>
                          <a:cs typeface="Yu Gothic" pitchFamily="34" charset="-120"/>
                        </a:rPr>
                        <a:t>±10ptで増分売上 ±100億円</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50" dirty="0">
                          <a:solidFill>
                            <a:srgbClr val="2A2A33"/>
                          </a:solidFill>
                          <a:latin typeface="Yu Gothic" pitchFamily="34" charset="0"/>
                          <a:ea typeface="Yu Gothic" pitchFamily="34" charset="-122"/>
                          <a:cs typeface="Yu Gothic" pitchFamily="34" charset="-120"/>
                        </a:rPr>
                        <a:t>国内1エリア+アジア1ヶ国で啓発→ID-POS/会員データ追跡のパイロット</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50" dirty="0">
                          <a:solidFill>
                            <a:srgbClr val="2A2A33"/>
                          </a:solidFill>
                          <a:latin typeface="Yu Gothic" pitchFamily="34" charset="0"/>
                          <a:ea typeface="Yu Gothic" pitchFamily="34" charset="-122"/>
                          <a:cs typeface="Yu Gothic" pitchFamily="34" charset="-120"/>
                        </a:rPr>
                        <a:t>啓発対象を「当社ブランド接点付き」プログラムに限定し率を優先</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694944">
                <a:tc>
                  <a:txBody>
                    <a:bodyPr/>
                    <a:lstStyle/>
                    <a:p>
                      <a:pPr indent="0" marL="0">
                        <a:buNone/>
                      </a:pPr>
                      <a:r>
                        <a:rPr lang="en-US" sz="850" b="1" dirty="0">
                          <a:solidFill>
                            <a:srgbClr val="1E2761"/>
                          </a:solidFill>
                          <a:latin typeface="Yu Gothic" pitchFamily="34" charset="0"/>
                          <a:ea typeface="Yu Gothic" pitchFamily="34" charset="-122"/>
                          <a:cs typeface="Yu Gothic" pitchFamily="34" charset="-120"/>
                        </a:rPr>
                        <a:t>ARPU 1,000円/年</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50" dirty="0">
                          <a:solidFill>
                            <a:srgbClr val="C8102E"/>
                          </a:solidFill>
                          <a:latin typeface="Yu Gothic" pitchFamily="34" charset="0"/>
                          <a:ea typeface="Yu Gothic" pitchFamily="34" charset="-122"/>
                          <a:cs typeface="Yu Gothic" pitchFamily="34" charset="-120"/>
                        </a:rPr>
                        <a:t>±200円で増分売上 ±100億円</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50" dirty="0">
                          <a:solidFill>
                            <a:srgbClr val="2A2A33"/>
                          </a:solidFill>
                          <a:latin typeface="Yu Gothic" pitchFamily="34" charset="0"/>
                          <a:ea typeface="Yu Gothic" pitchFamily="34" charset="-122"/>
                          <a:cs typeface="Yu Gothic" pitchFamily="34" charset="-120"/>
                        </a:rPr>
                        <a:t>レジメン提案(複数点使用)の店頭・EC実験、アジア価格帯の弾力性テスト</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50" dirty="0">
                          <a:solidFill>
                            <a:srgbClr val="2A2A33"/>
                          </a:solidFill>
                          <a:latin typeface="Yu Gothic" pitchFamily="34" charset="0"/>
                          <a:ea typeface="Yu Gothic" pitchFamily="34" charset="-122"/>
                          <a:cs typeface="Yu Gothic" pitchFamily="34" charset="-120"/>
                        </a:rPr>
                        <a:t>普及価格帯の比率を見直し、単価の高い市場・チャネルへ再配分</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694944">
                <a:tc>
                  <a:txBody>
                    <a:bodyPr/>
                    <a:lstStyle/>
                    <a:p>
                      <a:pPr indent="0" marL="0">
                        <a:buNone/>
                      </a:pPr>
                      <a:r>
                        <a:rPr lang="en-US" sz="850" b="1" dirty="0">
                          <a:solidFill>
                            <a:srgbClr val="1E2761"/>
                          </a:solidFill>
                          <a:latin typeface="Yu Gothic" pitchFamily="34" charset="0"/>
                          <a:ea typeface="Yu Gothic" pitchFamily="34" charset="-122"/>
                          <a:cs typeface="Yu Gothic" pitchFamily="34" charset="-120"/>
                        </a:rPr>
                        <a:t>プレミアム受容率</a:t>
                      </a:r>
                      <a:endParaRPr lang="en-US" sz="850" dirty="0">
                        <a:latin typeface="Yu Gothic" charset="0"/>
                        <a:ea typeface="Yu Gothic" charset="0"/>
                        <a:cs typeface="Yu Gothic" charset="0"/>
                      </a:endParaRPr>
                    </a:p>
                    <a:p>
                      <a:pPr indent="0" marL="0">
                        <a:buNone/>
                      </a:pPr>
                      <a:r>
                        <a:rPr lang="en-US" sz="850" b="1" dirty="0">
                          <a:solidFill>
                            <a:srgbClr val="1E2761"/>
                          </a:solidFill>
                          <a:latin typeface="Yu Gothic" pitchFamily="34" charset="0"/>
                          <a:ea typeface="Yu Gothic" pitchFamily="34" charset="-122"/>
                          <a:cs typeface="Yu Gothic" pitchFamily="34" charset="-120"/>
                        </a:rPr>
                        <a:t>(+10%価格)</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50" dirty="0">
                          <a:solidFill>
                            <a:srgbClr val="C8102E"/>
                          </a:solidFill>
                          <a:latin typeface="Yu Gothic" pitchFamily="34" charset="0"/>
                          <a:ea typeface="Yu Gothic" pitchFamily="34" charset="-122"/>
                          <a:cs typeface="Yu Gothic" pitchFamily="34" charset="-120"/>
                        </a:rPr>
                        <a:t>±5ptでミックス効果 ±50億円</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50" dirty="0">
                          <a:solidFill>
                            <a:srgbClr val="2A2A33"/>
                          </a:solidFill>
                          <a:latin typeface="Yu Gothic" pitchFamily="34" charset="0"/>
                          <a:ea typeface="Yu Gothic" pitchFamily="34" charset="-122"/>
                          <a:cs typeface="Yu Gothic" pitchFamily="34" charset="-120"/>
                        </a:rPr>
                        <a:t>エビデンス表示あり/なしのA/B価格テスト(2027年)</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50" dirty="0">
                          <a:solidFill>
                            <a:srgbClr val="2A2A33"/>
                          </a:solidFill>
                          <a:latin typeface="Yu Gothic" pitchFamily="34" charset="0"/>
                          <a:ea typeface="Yu Gothic" pitchFamily="34" charset="-122"/>
                          <a:cs typeface="Yu Gothic" pitchFamily="34" charset="-120"/>
                        </a:rPr>
                        <a:t>価格でなく販促効率・棚獲得(数量)でミックス効果を取る</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694944">
                <a:tc>
                  <a:txBody>
                    <a:bodyPr/>
                    <a:lstStyle/>
                    <a:p>
                      <a:pPr indent="0" marL="0">
                        <a:buNone/>
                      </a:pPr>
                      <a:r>
                        <a:rPr lang="en-US" sz="850" b="1" dirty="0">
                          <a:solidFill>
                            <a:srgbClr val="1E2761"/>
                          </a:solidFill>
                          <a:latin typeface="Yu Gothic" pitchFamily="34" charset="0"/>
                          <a:ea typeface="Yu Gothic" pitchFamily="34" charset="-122"/>
                          <a:cs typeface="Yu Gothic" pitchFamily="34" charset="-120"/>
                        </a:rPr>
                        <a:t>B2B2C単価・更新率</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50" dirty="0">
                          <a:solidFill>
                            <a:srgbClr val="C8102E"/>
                          </a:solidFill>
                          <a:latin typeface="Yu Gothic" pitchFamily="34" charset="0"/>
                          <a:ea typeface="Yu Gothic" pitchFamily="34" charset="-122"/>
                          <a:cs typeface="Yu Gothic" pitchFamily="34" charset="-120"/>
                        </a:rPr>
                        <a:t>単価±30%で ±30億円</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50" dirty="0">
                          <a:solidFill>
                            <a:srgbClr val="2A2A33"/>
                          </a:solidFill>
                          <a:latin typeface="Yu Gothic" pitchFamily="34" charset="0"/>
                          <a:ea typeface="Yu Gothic" pitchFamily="34" charset="-122"/>
                          <a:cs typeface="Yu Gothic" pitchFamily="34" charset="-120"/>
                        </a:rPr>
                        <a:t>健康経営企業10社パイロットで医療費削減を1年実測</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50" dirty="0">
                          <a:solidFill>
                            <a:srgbClr val="2A2A33"/>
                          </a:solidFill>
                          <a:latin typeface="Yu Gothic" pitchFamily="34" charset="0"/>
                          <a:ea typeface="Yu Gothic" pitchFamily="34" charset="-122"/>
                          <a:cs typeface="Yu Gothic" pitchFamily="34" charset="-120"/>
                        </a:rPr>
                        <a:t>自前販売から保険者・PBM等との提携モデルへ切替</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694944">
                <a:tc>
                  <a:txBody>
                    <a:bodyPr/>
                    <a:lstStyle/>
                    <a:p>
                      <a:pPr indent="0" marL="0">
                        <a:buNone/>
                      </a:pPr>
                      <a:r>
                        <a:rPr lang="en-US" sz="850" b="1" dirty="0">
                          <a:solidFill>
                            <a:srgbClr val="1E2761"/>
                          </a:solidFill>
                          <a:latin typeface="Yu Gothic" pitchFamily="34" charset="0"/>
                          <a:ea typeface="Yu Gothic" pitchFamily="34" charset="-122"/>
                          <a:cs typeface="Yu Gothic" pitchFamily="34" charset="-120"/>
                        </a:rPr>
                        <a:t>資本コスト▲0.4pt</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50" dirty="0">
                          <a:solidFill>
                            <a:srgbClr val="C8102E"/>
                          </a:solidFill>
                          <a:latin typeface="Yu Gothic" pitchFamily="34" charset="0"/>
                          <a:ea typeface="Yu Gothic" pitchFamily="34" charset="-122"/>
                          <a:cs typeface="Yu Gothic" pitchFamily="34" charset="-120"/>
                        </a:rPr>
                        <a:t>±0.2ptで時価総額 ±400億円規模</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50" dirty="0">
                          <a:solidFill>
                            <a:srgbClr val="2A2A33"/>
                          </a:solidFill>
                          <a:latin typeface="Yu Gothic" pitchFamily="34" charset="0"/>
                          <a:ea typeface="Yu Gothic" pitchFamily="34" charset="-122"/>
                          <a:cs typeface="Yu Gothic" pitchFamily="34" charset="-120"/>
                        </a:rPr>
                        <a:t>柳モデル回帰(過去10年データ)+投資家サーベイで係数推定</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50" dirty="0">
                          <a:solidFill>
                            <a:srgbClr val="2A2A33"/>
                          </a:solidFill>
                          <a:latin typeface="Yu Gothic" pitchFamily="34" charset="0"/>
                          <a:ea typeface="Yu Gothic" pitchFamily="34" charset="-122"/>
                          <a:cs typeface="Yu Gothic" pitchFamily="34" charset="-120"/>
                        </a:rPr>
                        <a:t>Δを主張せず、開示品質・保証範囲の拡大に集中(実利のみ追求)</a:t>
                      </a:r>
                      <a:endParaRPr lang="en-US" sz="8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bl>
          </a:graphicData>
        </a:graphic>
      </p:graphicFrame>
      <p:sp>
        <p:nvSpPr>
          <p:cNvPr id="7" name="Shape 4"/>
          <p:cNvSpPr/>
          <p:nvPr/>
        </p:nvSpPr>
        <p:spPr>
          <a:xfrm>
            <a:off x="457200" y="5486400"/>
            <a:ext cx="11274552" cy="960120"/>
          </a:xfrm>
          <a:prstGeom prst="roundRect">
            <a:avLst>
              <a:gd name="adj" fmla="val 5714"/>
            </a:avLst>
          </a:prstGeom>
          <a:solidFill>
            <a:srgbClr val="1E2761"/>
          </a:solidFill>
          <a:ln/>
        </p:spPr>
      </p:sp>
      <p:sp>
        <p:nvSpPr>
          <p:cNvPr id="8" name="Text 5"/>
          <p:cNvSpPr/>
          <p:nvPr/>
        </p:nvSpPr>
        <p:spPr>
          <a:xfrm>
            <a:off x="685800" y="5550408"/>
            <a:ext cx="10835640" cy="822960"/>
          </a:xfrm>
          <a:prstGeom prst="rect">
            <a:avLst/>
          </a:prstGeom>
          <a:noFill/>
          <a:ln/>
        </p:spPr>
        <p:txBody>
          <a:bodyPr wrap="square" lIns="0" tIns="0" rIns="0" bIns="0" rtlCol="0" anchor="ctr"/>
          <a:lstStyle/>
          <a:p>
            <a:pPr indent="0" marL="0">
              <a:lnSpc>
                <a:spcPct val="122000"/>
              </a:lnSpc>
              <a:buNone/>
            </a:pPr>
            <a:r>
              <a:rPr lang="en-US" sz="1030" b="1" dirty="0">
                <a:solidFill>
                  <a:srgbClr val="FF9DAD"/>
                </a:solidFill>
                <a:latin typeface="Yu Gothic" pitchFamily="34" charset="0"/>
                <a:ea typeface="Yu Gothic" pitchFamily="34" charset="-122"/>
                <a:cs typeface="Yu Gothic" pitchFamily="34" charset="-120"/>
              </a:rPr>
              <a:t>運用原則: </a:t>
            </a:r>
            <a:pPr indent="0" marL="0">
              <a:lnSpc>
                <a:spcPct val="122000"/>
              </a:lnSpc>
              <a:buNone/>
            </a:pPr>
            <a:r>
              <a:rPr lang="en-US" sz="1030" dirty="0">
                <a:solidFill>
                  <a:srgbClr val="FFFFFF"/>
                </a:solidFill>
                <a:latin typeface="Yu Gothic" pitchFamily="34" charset="0"/>
                <a:ea typeface="Yu Gothic" pitchFamily="34" charset="-122"/>
                <a:cs typeface="Yu Gothic" pitchFamily="34" charset="-120"/>
              </a:rPr>
              <a:t>換算係数は「一度決めた前提」ではなく「毎年実測で更新する変数」。パイロット結果はSSBJ基盤に蓄積し、柳モデル検証と合わせて中計ローリングに反映する。仮定が甘ければKGIを下方修正して公表する ― 誠実な下方修正は、盛った目標の未達より資本市場の信頼を守る</a:t>
            </a:r>
            <a:endParaRPr lang="en-US" sz="10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経営実装</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経営管理への実装 ― KGIを予算・投資・報酬・IRの4制度に埋め込む</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制度に埋め込まれないKGIは1年で風化する。4つの意思決定プロセスに接続して初めて「財務に跳ね返る」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10</a:t>
            </a:r>
            <a:endParaRPr lang="en-US" sz="900" dirty="0"/>
          </a:p>
        </p:txBody>
      </p:sp>
      <p:sp>
        <p:nvSpPr>
          <p:cNvPr id="6" name="Shape 4"/>
          <p:cNvSpPr/>
          <p:nvPr/>
        </p:nvSpPr>
        <p:spPr>
          <a:xfrm>
            <a:off x="457200" y="1280160"/>
            <a:ext cx="5486400" cy="1536192"/>
          </a:xfrm>
          <a:prstGeom prst="roundRect">
            <a:avLst>
              <a:gd name="adj" fmla="val 4167"/>
            </a:avLst>
          </a:prstGeom>
          <a:solidFill>
            <a:srgbClr val="EEF3FB"/>
          </a:solidFill>
          <a:ln/>
        </p:spPr>
      </p:sp>
      <p:sp>
        <p:nvSpPr>
          <p:cNvPr id="7" name="Text 5"/>
          <p:cNvSpPr/>
          <p:nvPr/>
        </p:nvSpPr>
        <p:spPr>
          <a:xfrm>
            <a:off x="603504" y="1371600"/>
            <a:ext cx="5212080" cy="329184"/>
          </a:xfrm>
          <a:prstGeom prst="rect">
            <a:avLst/>
          </a:prstGeom>
          <a:noFill/>
          <a:ln/>
        </p:spPr>
        <p:txBody>
          <a:bodyPr wrap="square" lIns="0" tIns="0" rIns="0" bIns="0" rtlCol="0" anchor="ctr"/>
          <a:lstStyle/>
          <a:p>
            <a:pPr indent="0" marL="0">
              <a:buNone/>
            </a:pPr>
            <a:r>
              <a:rPr lang="en-US" sz="1150" b="1" dirty="0">
                <a:solidFill>
                  <a:srgbClr val="1E2761"/>
                </a:solidFill>
                <a:latin typeface="Yu Gothic" pitchFamily="34" charset="0"/>
                <a:ea typeface="Yu Gothic" pitchFamily="34" charset="-122"/>
                <a:cs typeface="Yu Gothic" pitchFamily="34" charset="-120"/>
              </a:rPr>
              <a:t>① 予算・中計</a:t>
            </a:r>
            <a:endParaRPr lang="en-US" sz="1150" dirty="0"/>
          </a:p>
        </p:txBody>
      </p:sp>
      <p:sp>
        <p:nvSpPr>
          <p:cNvPr id="8" name="Text 6"/>
          <p:cNvSpPr/>
          <p:nvPr/>
        </p:nvSpPr>
        <p:spPr>
          <a:xfrm>
            <a:off x="603504" y="1737360"/>
            <a:ext cx="5212080" cy="1005840"/>
          </a:xfrm>
          <a:prstGeom prst="rect">
            <a:avLst/>
          </a:prstGeom>
          <a:noFill/>
          <a:ln/>
        </p:spPr>
        <p:txBody>
          <a:bodyPr wrap="square" lIns="0" tIns="0" rIns="0" bIns="0" rtlCol="0" anchor="t"/>
          <a:lstStyle/>
          <a:p>
            <a:pPr indent="0" marL="0">
              <a:lnSpc>
                <a:spcPct val="120000"/>
              </a:lnSpc>
              <a:buNone/>
            </a:pPr>
            <a:r>
              <a:rPr lang="en-US" sz="920" dirty="0">
                <a:solidFill>
                  <a:srgbClr val="2A2A33"/>
                </a:solidFill>
                <a:latin typeface="Yu Gothic" pitchFamily="34" charset="0"/>
                <a:ea typeface="Yu Gothic" pitchFamily="34" charset="-122"/>
                <a:cs typeface="Yu Gothic" pitchFamily="34" charset="-120"/>
              </a:rPr>
              <a:t>ESG起点増分売上・利益改善額を中計の公式数値に組込み(別冊のESG目標にしない)。事業部予算に増分KGIを配賦し、ファネルKPIを月次レビュー</a:t>
            </a:r>
            <a:endParaRPr lang="en-US" sz="920" dirty="0"/>
          </a:p>
        </p:txBody>
      </p:sp>
      <p:sp>
        <p:nvSpPr>
          <p:cNvPr id="9" name="Shape 7"/>
          <p:cNvSpPr/>
          <p:nvPr/>
        </p:nvSpPr>
        <p:spPr>
          <a:xfrm>
            <a:off x="6236208" y="1280160"/>
            <a:ext cx="5486400" cy="1536192"/>
          </a:xfrm>
          <a:prstGeom prst="roundRect">
            <a:avLst>
              <a:gd name="adj" fmla="val 4167"/>
            </a:avLst>
          </a:prstGeom>
          <a:solidFill>
            <a:srgbClr val="FBECEE"/>
          </a:solidFill>
          <a:ln/>
        </p:spPr>
      </p:sp>
      <p:sp>
        <p:nvSpPr>
          <p:cNvPr id="10" name="Text 8"/>
          <p:cNvSpPr/>
          <p:nvPr/>
        </p:nvSpPr>
        <p:spPr>
          <a:xfrm>
            <a:off x="6382512" y="1371600"/>
            <a:ext cx="5212080" cy="329184"/>
          </a:xfrm>
          <a:prstGeom prst="rect">
            <a:avLst/>
          </a:prstGeom>
          <a:noFill/>
          <a:ln/>
        </p:spPr>
        <p:txBody>
          <a:bodyPr wrap="square" lIns="0" tIns="0" rIns="0" bIns="0" rtlCol="0" anchor="ctr"/>
          <a:lstStyle/>
          <a:p>
            <a:pPr indent="0" marL="0">
              <a:buNone/>
            </a:pPr>
            <a:r>
              <a:rPr lang="en-US" sz="1150" b="1" dirty="0">
                <a:solidFill>
                  <a:srgbClr val="C8102E"/>
                </a:solidFill>
                <a:latin typeface="Yu Gothic" pitchFamily="34" charset="0"/>
                <a:ea typeface="Yu Gothic" pitchFamily="34" charset="-122"/>
                <a:cs typeface="Yu Gothic" pitchFamily="34" charset="-120"/>
              </a:rPr>
              <a:t>② 投資配分</a:t>
            </a:r>
            <a:endParaRPr lang="en-US" sz="1150" dirty="0"/>
          </a:p>
        </p:txBody>
      </p:sp>
      <p:sp>
        <p:nvSpPr>
          <p:cNvPr id="11" name="Text 9"/>
          <p:cNvSpPr/>
          <p:nvPr/>
        </p:nvSpPr>
        <p:spPr>
          <a:xfrm>
            <a:off x="6382512" y="1737360"/>
            <a:ext cx="5212080" cy="1005840"/>
          </a:xfrm>
          <a:prstGeom prst="rect">
            <a:avLst/>
          </a:prstGeom>
          <a:noFill/>
          <a:ln/>
        </p:spPr>
        <p:txBody>
          <a:bodyPr wrap="square" lIns="0" tIns="0" rIns="0" bIns="0" rtlCol="0" anchor="t"/>
          <a:lstStyle/>
          <a:p>
            <a:pPr indent="0" marL="0">
              <a:lnSpc>
                <a:spcPct val="120000"/>
              </a:lnSpc>
              <a:buNone/>
            </a:pPr>
            <a:r>
              <a:rPr lang="en-US" sz="920" dirty="0">
                <a:solidFill>
                  <a:srgbClr val="2A2A33"/>
                </a:solidFill>
                <a:latin typeface="Yu Gothic" pitchFamily="34" charset="0"/>
                <a:ea typeface="Yu Gothic" pitchFamily="34" charset="-122"/>
                <a:cs typeface="Yu Gothic" pitchFamily="34" charset="-120"/>
              </a:rPr>
              <a:t>インパクト調整IRR: 通常IRRに防衛価値(エンジンC)と内部炭素価格を加減算して投資選別。貢献型製品・実証・データ基盤への傾斜配分ルールを明文化</a:t>
            </a:r>
            <a:endParaRPr lang="en-US" sz="920" dirty="0"/>
          </a:p>
        </p:txBody>
      </p:sp>
      <p:sp>
        <p:nvSpPr>
          <p:cNvPr id="12" name="Shape 10"/>
          <p:cNvSpPr/>
          <p:nvPr/>
        </p:nvSpPr>
        <p:spPr>
          <a:xfrm>
            <a:off x="457200" y="2971800"/>
            <a:ext cx="5486400" cy="1536192"/>
          </a:xfrm>
          <a:prstGeom prst="roundRect">
            <a:avLst>
              <a:gd name="adj" fmla="val 4167"/>
            </a:avLst>
          </a:prstGeom>
          <a:solidFill>
            <a:srgbClr val="EEF3FB"/>
          </a:solidFill>
          <a:ln/>
        </p:spPr>
      </p:sp>
      <p:sp>
        <p:nvSpPr>
          <p:cNvPr id="13" name="Text 11"/>
          <p:cNvSpPr/>
          <p:nvPr/>
        </p:nvSpPr>
        <p:spPr>
          <a:xfrm>
            <a:off x="603504" y="3063240"/>
            <a:ext cx="5212080" cy="329184"/>
          </a:xfrm>
          <a:prstGeom prst="rect">
            <a:avLst/>
          </a:prstGeom>
          <a:noFill/>
          <a:ln/>
        </p:spPr>
        <p:txBody>
          <a:bodyPr wrap="square" lIns="0" tIns="0" rIns="0" bIns="0" rtlCol="0" anchor="ctr"/>
          <a:lstStyle/>
          <a:p>
            <a:pPr indent="0" marL="0">
              <a:buNone/>
            </a:pPr>
            <a:r>
              <a:rPr lang="en-US" sz="1150" b="1" dirty="0">
                <a:solidFill>
                  <a:srgbClr val="1E2761"/>
                </a:solidFill>
                <a:latin typeface="Yu Gothic" pitchFamily="34" charset="0"/>
                <a:ea typeface="Yu Gothic" pitchFamily="34" charset="-122"/>
                <a:cs typeface="Yu Gothic" pitchFamily="34" charset="-120"/>
              </a:rPr>
              <a:t>③ 役員報酬</a:t>
            </a:r>
            <a:endParaRPr lang="en-US" sz="1150" dirty="0"/>
          </a:p>
        </p:txBody>
      </p:sp>
      <p:sp>
        <p:nvSpPr>
          <p:cNvPr id="14" name="Text 12"/>
          <p:cNvSpPr/>
          <p:nvPr/>
        </p:nvSpPr>
        <p:spPr>
          <a:xfrm>
            <a:off x="603504" y="3429000"/>
            <a:ext cx="5212080" cy="1005840"/>
          </a:xfrm>
          <a:prstGeom prst="rect">
            <a:avLst/>
          </a:prstGeom>
          <a:noFill/>
          <a:ln/>
        </p:spPr>
        <p:txBody>
          <a:bodyPr wrap="square" lIns="0" tIns="0" rIns="0" bIns="0" rtlCol="0" anchor="t"/>
          <a:lstStyle/>
          <a:p>
            <a:pPr indent="0" marL="0">
              <a:lnSpc>
                <a:spcPct val="120000"/>
              </a:lnSpc>
              <a:buNone/>
            </a:pPr>
            <a:r>
              <a:rPr lang="en-US" sz="920" dirty="0">
                <a:solidFill>
                  <a:srgbClr val="2A2A33"/>
                </a:solidFill>
                <a:latin typeface="Yu Gothic" pitchFamily="34" charset="0"/>
                <a:ea typeface="Yu Gothic" pitchFamily="34" charset="-122"/>
                <a:cs typeface="Yu Gothic" pitchFamily="34" charset="-120"/>
              </a:rPr>
              <a:t>第1層KGI(増分売上・利益率・PBR検証)を短期・中期インセンティブに連動(比率15%・例示)。対象は監査対応済みの確定値のみ ― 恣意性を排除</a:t>
            </a:r>
            <a:endParaRPr lang="en-US" sz="920" dirty="0"/>
          </a:p>
        </p:txBody>
      </p:sp>
      <p:sp>
        <p:nvSpPr>
          <p:cNvPr id="15" name="Shape 13"/>
          <p:cNvSpPr/>
          <p:nvPr/>
        </p:nvSpPr>
        <p:spPr>
          <a:xfrm>
            <a:off x="6236208" y="2971800"/>
            <a:ext cx="5486400" cy="1536192"/>
          </a:xfrm>
          <a:prstGeom prst="roundRect">
            <a:avLst>
              <a:gd name="adj" fmla="val 4167"/>
            </a:avLst>
          </a:prstGeom>
          <a:solidFill>
            <a:srgbClr val="FBECEE"/>
          </a:solidFill>
          <a:ln/>
        </p:spPr>
      </p:sp>
      <p:sp>
        <p:nvSpPr>
          <p:cNvPr id="16" name="Text 14"/>
          <p:cNvSpPr/>
          <p:nvPr/>
        </p:nvSpPr>
        <p:spPr>
          <a:xfrm>
            <a:off x="6382512" y="3063240"/>
            <a:ext cx="5212080" cy="329184"/>
          </a:xfrm>
          <a:prstGeom prst="rect">
            <a:avLst/>
          </a:prstGeom>
          <a:noFill/>
          <a:ln/>
        </p:spPr>
        <p:txBody>
          <a:bodyPr wrap="square" lIns="0" tIns="0" rIns="0" bIns="0" rtlCol="0" anchor="ctr"/>
          <a:lstStyle/>
          <a:p>
            <a:pPr indent="0" marL="0">
              <a:buNone/>
            </a:pPr>
            <a:r>
              <a:rPr lang="en-US" sz="1150" b="1" dirty="0">
                <a:solidFill>
                  <a:srgbClr val="C8102E"/>
                </a:solidFill>
                <a:latin typeface="Yu Gothic" pitchFamily="34" charset="0"/>
                <a:ea typeface="Yu Gothic" pitchFamily="34" charset="-122"/>
                <a:cs typeface="Yu Gothic" pitchFamily="34" charset="-120"/>
              </a:rPr>
              <a:t>④ IR・開示</a:t>
            </a:r>
            <a:endParaRPr lang="en-US" sz="1150" dirty="0"/>
          </a:p>
        </p:txBody>
      </p:sp>
      <p:sp>
        <p:nvSpPr>
          <p:cNvPr id="17" name="Text 15"/>
          <p:cNvSpPr/>
          <p:nvPr/>
        </p:nvSpPr>
        <p:spPr>
          <a:xfrm>
            <a:off x="6382512" y="3429000"/>
            <a:ext cx="5212080" cy="1005840"/>
          </a:xfrm>
          <a:prstGeom prst="rect">
            <a:avLst/>
          </a:prstGeom>
          <a:noFill/>
          <a:ln/>
        </p:spPr>
        <p:txBody>
          <a:bodyPr wrap="square" lIns="0" tIns="0" rIns="0" bIns="0" rtlCol="0" anchor="t"/>
          <a:lstStyle/>
          <a:p>
            <a:pPr indent="0" marL="0">
              <a:lnSpc>
                <a:spcPct val="120000"/>
              </a:lnSpc>
              <a:buNone/>
            </a:pPr>
            <a:r>
              <a:rPr lang="en-US" sz="920" dirty="0">
                <a:solidFill>
                  <a:srgbClr val="2A2A33"/>
                </a:solidFill>
                <a:latin typeface="Yu Gothic" pitchFamily="34" charset="0"/>
                <a:ea typeface="Yu Gothic" pitchFamily="34" charset="-122"/>
                <a:cs typeface="Yu Gothic" pitchFamily="34" charset="-120"/>
              </a:rPr>
              <a:t>価値ブリッジ(本書4頁)を統合報告・決算説明の定型フォーマットにし、換算係数の実測値と柳モデル係数を毎年更新開示。「ESGでいくら儲かるか」に常に即答できる状態</a:t>
            </a:r>
            <a:endParaRPr lang="en-US" sz="920" dirty="0"/>
          </a:p>
        </p:txBody>
      </p:sp>
      <p:sp>
        <p:nvSpPr>
          <p:cNvPr id="18" name="Text 16"/>
          <p:cNvSpPr/>
          <p:nvPr/>
        </p:nvSpPr>
        <p:spPr>
          <a:xfrm>
            <a:off x="457200" y="4892040"/>
            <a:ext cx="11274552" cy="384048"/>
          </a:xfrm>
          <a:prstGeom prst="roundRect">
            <a:avLst>
              <a:gd name="adj" fmla="val 11905"/>
            </a:avLst>
          </a:prstGeom>
          <a:solidFill>
            <a:srgbClr val="1E2761"/>
          </a:solidFill>
          <a:ln/>
        </p:spPr>
        <p:txBody>
          <a:bodyPr wrap="square" lIns="381" tIns="381" rIns="381" bIns="381"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損益への出現タイミング(いつ跳ね返るか・例示)</a:t>
            </a:r>
            <a:endParaRPr lang="en-US" sz="1100" dirty="0"/>
          </a:p>
        </p:txBody>
      </p:sp>
      <p:sp>
        <p:nvSpPr>
          <p:cNvPr id="19" name="Shape 17"/>
          <p:cNvSpPr/>
          <p:nvPr/>
        </p:nvSpPr>
        <p:spPr>
          <a:xfrm>
            <a:off x="457200" y="5394960"/>
            <a:ext cx="2157984" cy="1051560"/>
          </a:xfrm>
          <a:prstGeom prst="roundRect">
            <a:avLst>
              <a:gd name="adj" fmla="val 5217"/>
            </a:avLst>
          </a:prstGeom>
          <a:solidFill>
            <a:srgbClr val="F4F5F8"/>
          </a:solidFill>
          <a:ln/>
        </p:spPr>
      </p:sp>
      <p:sp>
        <p:nvSpPr>
          <p:cNvPr id="20" name="Text 18"/>
          <p:cNvSpPr/>
          <p:nvPr/>
        </p:nvSpPr>
        <p:spPr>
          <a:xfrm>
            <a:off x="566928" y="5458968"/>
            <a:ext cx="1938528" cy="932688"/>
          </a:xfrm>
          <a:prstGeom prst="rect">
            <a:avLst/>
          </a:prstGeom>
          <a:noFill/>
          <a:ln/>
        </p:spPr>
        <p:txBody>
          <a:bodyPr wrap="square" lIns="0" tIns="0" rIns="0" bIns="0" rtlCol="0" anchor="ctr"/>
          <a:lstStyle/>
          <a:p>
            <a:pPr indent="0" marL="0">
              <a:lnSpc>
                <a:spcPct val="113000"/>
              </a:lnSpc>
              <a:buNone/>
            </a:pPr>
            <a:r>
              <a:rPr lang="en-US" sz="1050" b="1" dirty="0">
                <a:solidFill>
                  <a:srgbClr val="C8102E"/>
                </a:solidFill>
                <a:latin typeface="Yu Gothic" pitchFamily="34" charset="0"/>
                <a:ea typeface="Yu Gothic" pitchFamily="34" charset="-122"/>
                <a:cs typeface="Yu Gothic" pitchFamily="34" charset="-120"/>
              </a:rPr>
              <a:t>2027
</a:t>
            </a:r>
            <a:pPr indent="0" marL="0">
              <a:lnSpc>
                <a:spcPct val="113000"/>
              </a:lnSpc>
              <a:buNone/>
            </a:pPr>
            <a:r>
              <a:rPr lang="en-US" sz="820" dirty="0">
                <a:solidFill>
                  <a:srgbClr val="2A2A33"/>
                </a:solidFill>
                <a:latin typeface="Yu Gothic" pitchFamily="34" charset="0"/>
                <a:ea typeface="Yu Gothic" pitchFamily="34" charset="-122"/>
                <a:cs typeface="Yu Gothic" pitchFamily="34" charset="-120"/>
              </a:rPr>
              <a:t>コスト効果が先行</a:t>
            </a:r>
            <a:endParaRPr lang="en-US" sz="1050" dirty="0"/>
          </a:p>
          <a:p>
            <a:pPr indent="0" marL="0">
              <a:lnSpc>
                <a:spcPct val="113000"/>
              </a:lnSpc>
              <a:buNone/>
            </a:pPr>
            <a:r>
              <a:rPr lang="en-US" sz="820" dirty="0">
                <a:solidFill>
                  <a:srgbClr val="2A2A33"/>
                </a:solidFill>
                <a:latin typeface="Yu Gothic" pitchFamily="34" charset="0"/>
                <a:ea typeface="Yu Gothic" pitchFamily="34" charset="-122"/>
                <a:cs typeface="Yu Gothic" pitchFamily="34" charset="-120"/>
              </a:rPr>
              <a:t>工数削減・エネルギー(+30億円)</a:t>
            </a:r>
            <a:endParaRPr lang="en-US" sz="1050" dirty="0"/>
          </a:p>
        </p:txBody>
      </p:sp>
      <p:sp>
        <p:nvSpPr>
          <p:cNvPr id="21" name="Shape 19"/>
          <p:cNvSpPr/>
          <p:nvPr/>
        </p:nvSpPr>
        <p:spPr>
          <a:xfrm>
            <a:off x="2752344" y="5394960"/>
            <a:ext cx="2157984" cy="1051560"/>
          </a:xfrm>
          <a:prstGeom prst="roundRect">
            <a:avLst>
              <a:gd name="adj" fmla="val 5217"/>
            </a:avLst>
          </a:prstGeom>
          <a:solidFill>
            <a:srgbClr val="F4F5F8"/>
          </a:solidFill>
          <a:ln/>
        </p:spPr>
      </p:sp>
      <p:sp>
        <p:nvSpPr>
          <p:cNvPr id="22" name="Text 20"/>
          <p:cNvSpPr/>
          <p:nvPr/>
        </p:nvSpPr>
        <p:spPr>
          <a:xfrm>
            <a:off x="2862072" y="5458968"/>
            <a:ext cx="1938528" cy="932688"/>
          </a:xfrm>
          <a:prstGeom prst="rect">
            <a:avLst/>
          </a:prstGeom>
          <a:noFill/>
          <a:ln/>
        </p:spPr>
        <p:txBody>
          <a:bodyPr wrap="square" lIns="0" tIns="0" rIns="0" bIns="0" rtlCol="0" anchor="ctr"/>
          <a:lstStyle/>
          <a:p>
            <a:pPr indent="0" marL="0">
              <a:lnSpc>
                <a:spcPct val="113000"/>
              </a:lnSpc>
              <a:buNone/>
            </a:pPr>
            <a:r>
              <a:rPr lang="en-US" sz="1050" b="1" dirty="0">
                <a:solidFill>
                  <a:srgbClr val="C8102E"/>
                </a:solidFill>
                <a:latin typeface="Yu Gothic" pitchFamily="34" charset="0"/>
                <a:ea typeface="Yu Gothic" pitchFamily="34" charset="-122"/>
                <a:cs typeface="Yu Gothic" pitchFamily="34" charset="-120"/>
              </a:rPr>
              <a:t>2028
</a:t>
            </a:r>
            <a:pPr indent="0" marL="0">
              <a:lnSpc>
                <a:spcPct val="113000"/>
              </a:lnSpc>
              <a:buNone/>
            </a:pPr>
            <a:r>
              <a:rPr lang="en-US" sz="820" dirty="0">
                <a:solidFill>
                  <a:srgbClr val="2A2A33"/>
                </a:solidFill>
                <a:latin typeface="Yu Gothic" pitchFamily="34" charset="0"/>
                <a:ea typeface="Yu Gothic" pitchFamily="34" charset="-122"/>
                <a:cs typeface="Yu Gothic" pitchFamily="34" charset="-120"/>
              </a:rPr>
              <a:t>ミックス・防衛が発現</a:t>
            </a:r>
            <a:endParaRPr lang="en-US" sz="1050" dirty="0"/>
          </a:p>
          <a:p>
            <a:pPr indent="0" marL="0">
              <a:lnSpc>
                <a:spcPct val="113000"/>
              </a:lnSpc>
              <a:buNone/>
            </a:pPr>
            <a:r>
              <a:rPr lang="en-US" sz="820" dirty="0">
                <a:solidFill>
                  <a:srgbClr val="2A2A33"/>
                </a:solidFill>
                <a:latin typeface="Yu Gothic" pitchFamily="34" charset="0"/>
                <a:ea typeface="Yu Gothic" pitchFamily="34" charset="-122"/>
                <a:cs typeface="Yu Gothic" pitchFamily="34" charset="-120"/>
              </a:rPr>
              <a:t>プレミアム実装・CFP記録(+100億円)</a:t>
            </a:r>
            <a:endParaRPr lang="en-US" sz="1050" dirty="0"/>
          </a:p>
        </p:txBody>
      </p:sp>
      <p:sp>
        <p:nvSpPr>
          <p:cNvPr id="23" name="Shape 21"/>
          <p:cNvSpPr/>
          <p:nvPr/>
        </p:nvSpPr>
        <p:spPr>
          <a:xfrm>
            <a:off x="5047488" y="5394960"/>
            <a:ext cx="2157984" cy="1051560"/>
          </a:xfrm>
          <a:prstGeom prst="roundRect">
            <a:avLst>
              <a:gd name="adj" fmla="val 5217"/>
            </a:avLst>
          </a:prstGeom>
          <a:solidFill>
            <a:srgbClr val="F4F5F8"/>
          </a:solidFill>
          <a:ln/>
        </p:spPr>
      </p:sp>
      <p:sp>
        <p:nvSpPr>
          <p:cNvPr id="24" name="Text 22"/>
          <p:cNvSpPr/>
          <p:nvPr/>
        </p:nvSpPr>
        <p:spPr>
          <a:xfrm>
            <a:off x="5157216" y="5458968"/>
            <a:ext cx="1938528" cy="932688"/>
          </a:xfrm>
          <a:prstGeom prst="rect">
            <a:avLst/>
          </a:prstGeom>
          <a:noFill/>
          <a:ln/>
        </p:spPr>
        <p:txBody>
          <a:bodyPr wrap="square" lIns="0" tIns="0" rIns="0" bIns="0" rtlCol="0" anchor="ctr"/>
          <a:lstStyle/>
          <a:p>
            <a:pPr indent="0" marL="0">
              <a:lnSpc>
                <a:spcPct val="113000"/>
              </a:lnSpc>
              <a:buNone/>
            </a:pPr>
            <a:r>
              <a:rPr lang="en-US" sz="1050" b="1" dirty="0">
                <a:solidFill>
                  <a:srgbClr val="C8102E"/>
                </a:solidFill>
                <a:latin typeface="Yu Gothic" pitchFamily="34" charset="0"/>
                <a:ea typeface="Yu Gothic" pitchFamily="34" charset="-122"/>
                <a:cs typeface="Yu Gothic" pitchFamily="34" charset="-120"/>
              </a:rPr>
              <a:t>2029
</a:t>
            </a:r>
            <a:pPr indent="0" marL="0">
              <a:lnSpc>
                <a:spcPct val="113000"/>
              </a:lnSpc>
              <a:buNone/>
            </a:pPr>
            <a:r>
              <a:rPr lang="en-US" sz="820" dirty="0">
                <a:solidFill>
                  <a:srgbClr val="2A2A33"/>
                </a:solidFill>
                <a:latin typeface="Yu Gothic" pitchFamily="34" charset="0"/>
                <a:ea typeface="Yu Gothic" pitchFamily="34" charset="-122"/>
                <a:cs typeface="Yu Gothic" pitchFamily="34" charset="-120"/>
              </a:rPr>
              <a:t>B2B2C・アジアが立上げ</a:t>
            </a:r>
            <a:endParaRPr lang="en-US" sz="1050" dirty="0"/>
          </a:p>
          <a:p>
            <a:pPr indent="0" marL="0">
              <a:lnSpc>
                <a:spcPct val="113000"/>
              </a:lnSpc>
              <a:buNone/>
            </a:pPr>
            <a:r>
              <a:rPr lang="en-US" sz="820" dirty="0">
                <a:solidFill>
                  <a:srgbClr val="2A2A33"/>
                </a:solidFill>
                <a:latin typeface="Yu Gothic" pitchFamily="34" charset="0"/>
                <a:ea typeface="Yu Gothic" pitchFamily="34" charset="-122"/>
                <a:cs typeface="Yu Gothic" pitchFamily="34" charset="-120"/>
              </a:rPr>
              <a:t>増分売上+300億円ペース</a:t>
            </a:r>
            <a:endParaRPr lang="en-US" sz="1050" dirty="0"/>
          </a:p>
        </p:txBody>
      </p:sp>
      <p:sp>
        <p:nvSpPr>
          <p:cNvPr id="25" name="Shape 23"/>
          <p:cNvSpPr/>
          <p:nvPr/>
        </p:nvSpPr>
        <p:spPr>
          <a:xfrm>
            <a:off x="7342632" y="5394960"/>
            <a:ext cx="2157984" cy="1051560"/>
          </a:xfrm>
          <a:prstGeom prst="roundRect">
            <a:avLst>
              <a:gd name="adj" fmla="val 5217"/>
            </a:avLst>
          </a:prstGeom>
          <a:solidFill>
            <a:srgbClr val="F4F5F8"/>
          </a:solidFill>
          <a:ln/>
        </p:spPr>
      </p:sp>
      <p:sp>
        <p:nvSpPr>
          <p:cNvPr id="26" name="Text 24"/>
          <p:cNvSpPr/>
          <p:nvPr/>
        </p:nvSpPr>
        <p:spPr>
          <a:xfrm>
            <a:off x="7452360" y="5458968"/>
            <a:ext cx="1938528" cy="932688"/>
          </a:xfrm>
          <a:prstGeom prst="rect">
            <a:avLst/>
          </a:prstGeom>
          <a:noFill/>
          <a:ln/>
        </p:spPr>
        <p:txBody>
          <a:bodyPr wrap="square" lIns="0" tIns="0" rIns="0" bIns="0" rtlCol="0" anchor="ctr"/>
          <a:lstStyle/>
          <a:p>
            <a:pPr indent="0" marL="0">
              <a:lnSpc>
                <a:spcPct val="113000"/>
              </a:lnSpc>
              <a:buNone/>
            </a:pPr>
            <a:r>
              <a:rPr lang="en-US" sz="1050" b="1" dirty="0">
                <a:solidFill>
                  <a:srgbClr val="C8102E"/>
                </a:solidFill>
                <a:latin typeface="Yu Gothic" pitchFamily="34" charset="0"/>
                <a:ea typeface="Yu Gothic" pitchFamily="34" charset="-122"/>
                <a:cs typeface="Yu Gothic" pitchFamily="34" charset="-120"/>
              </a:rPr>
              <a:t>2030
</a:t>
            </a:r>
            <a:pPr indent="0" marL="0">
              <a:lnSpc>
                <a:spcPct val="113000"/>
              </a:lnSpc>
              <a:buNone/>
            </a:pPr>
            <a:r>
              <a:rPr lang="en-US" sz="820" dirty="0">
                <a:solidFill>
                  <a:srgbClr val="2A2A33"/>
                </a:solidFill>
                <a:latin typeface="Yu Gothic" pitchFamily="34" charset="0"/>
                <a:ea typeface="Yu Gothic" pitchFamily="34" charset="-122"/>
                <a:cs typeface="Yu Gothic" pitchFamily="34" charset="-120"/>
              </a:rPr>
              <a:t>フル寄与</a:t>
            </a:r>
            <a:endParaRPr lang="en-US" sz="1050" dirty="0"/>
          </a:p>
          <a:p>
            <a:pPr indent="0" marL="0">
              <a:lnSpc>
                <a:spcPct val="113000"/>
              </a:lnSpc>
              <a:buNone/>
            </a:pPr>
            <a:r>
              <a:rPr lang="en-US" sz="820" dirty="0">
                <a:solidFill>
                  <a:srgbClr val="2A2A33"/>
                </a:solidFill>
                <a:latin typeface="Yu Gothic" pitchFamily="34" charset="0"/>
                <a:ea typeface="Yu Gothic" pitchFamily="34" charset="-122"/>
                <a:cs typeface="Yu Gothic" pitchFamily="34" charset="-120"/>
              </a:rPr>
              <a:t>増分+1,000億円・利益率10%</a:t>
            </a:r>
            <a:endParaRPr lang="en-US" sz="1050" dirty="0"/>
          </a:p>
        </p:txBody>
      </p:sp>
      <p:sp>
        <p:nvSpPr>
          <p:cNvPr id="27" name="Shape 25"/>
          <p:cNvSpPr/>
          <p:nvPr/>
        </p:nvSpPr>
        <p:spPr>
          <a:xfrm>
            <a:off x="9637776" y="5394960"/>
            <a:ext cx="2157984" cy="1051560"/>
          </a:xfrm>
          <a:prstGeom prst="roundRect">
            <a:avLst>
              <a:gd name="adj" fmla="val 5217"/>
            </a:avLst>
          </a:prstGeom>
          <a:solidFill>
            <a:srgbClr val="F4F5F8"/>
          </a:solidFill>
          <a:ln/>
        </p:spPr>
      </p:sp>
      <p:sp>
        <p:nvSpPr>
          <p:cNvPr id="28" name="Text 26"/>
          <p:cNvSpPr/>
          <p:nvPr/>
        </p:nvSpPr>
        <p:spPr>
          <a:xfrm>
            <a:off x="9747504" y="5458968"/>
            <a:ext cx="1938528" cy="932688"/>
          </a:xfrm>
          <a:prstGeom prst="rect">
            <a:avLst/>
          </a:prstGeom>
          <a:noFill/>
          <a:ln/>
        </p:spPr>
        <p:txBody>
          <a:bodyPr wrap="square" lIns="0" tIns="0" rIns="0" bIns="0" rtlCol="0" anchor="ctr"/>
          <a:lstStyle/>
          <a:p>
            <a:pPr indent="0" marL="0">
              <a:lnSpc>
                <a:spcPct val="113000"/>
              </a:lnSpc>
              <a:buNone/>
            </a:pPr>
            <a:r>
              <a:rPr lang="en-US" sz="1050" b="1" dirty="0">
                <a:solidFill>
                  <a:srgbClr val="C8102E"/>
                </a:solidFill>
                <a:latin typeface="Yu Gothic" pitchFamily="34" charset="0"/>
                <a:ea typeface="Yu Gothic" pitchFamily="34" charset="-122"/>
                <a:cs typeface="Yu Gothic" pitchFamily="34" charset="-120"/>
              </a:rPr>
              <a:t>2031〜
</a:t>
            </a:r>
            <a:pPr indent="0" marL="0">
              <a:lnSpc>
                <a:spcPct val="113000"/>
              </a:lnSpc>
              <a:buNone/>
            </a:pPr>
            <a:r>
              <a:rPr lang="en-US" sz="820" dirty="0">
                <a:solidFill>
                  <a:srgbClr val="2A2A33"/>
                </a:solidFill>
                <a:latin typeface="Yu Gothic" pitchFamily="34" charset="0"/>
                <a:ea typeface="Yu Gothic" pitchFamily="34" charset="-122"/>
                <a:cs typeface="Yu Gothic" pitchFamily="34" charset="-120"/>
              </a:rPr>
              <a:t>資本市場が追認</a:t>
            </a:r>
            <a:endParaRPr lang="en-US" sz="1050" dirty="0"/>
          </a:p>
          <a:p>
            <a:pPr indent="0" marL="0">
              <a:lnSpc>
                <a:spcPct val="113000"/>
              </a:lnSpc>
              <a:buNone/>
            </a:pPr>
            <a:r>
              <a:rPr lang="en-US" sz="820" dirty="0">
                <a:solidFill>
                  <a:srgbClr val="2A2A33"/>
                </a:solidFill>
                <a:latin typeface="Yu Gothic" pitchFamily="34" charset="0"/>
                <a:ea typeface="Yu Gothic" pitchFamily="34" charset="-122"/>
                <a:cs typeface="Yu Gothic" pitchFamily="34" charset="-120"/>
              </a:rPr>
              <a:t>PBR2.0(柳モデルで係数実証)</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960120"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まとめ</a:t>
            </a:r>
            <a:endParaRPr lang="en-US" sz="1050" dirty="0"/>
          </a:p>
        </p:txBody>
      </p:sp>
      <p:sp>
        <p:nvSpPr>
          <p:cNvPr id="3" name="Text 1"/>
          <p:cNvSpPr/>
          <p:nvPr/>
        </p:nvSpPr>
        <p:spPr>
          <a:xfrm>
            <a:off x="1554480" y="274320"/>
            <a:ext cx="1014984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意思決定事項 ― 「人口のESG」から「損益のESG」への転換</a:t>
            </a:r>
            <a:endParaRPr lang="en-US" sz="1900" dirty="0"/>
          </a:p>
        </p:txBody>
      </p:sp>
      <p:sp>
        <p:nvSpPr>
          <p:cNvPr id="4" name="Text 2"/>
          <p:cNvSpPr/>
          <p:nvPr/>
        </p:nvSpPr>
        <p:spPr>
          <a:xfrm>
            <a:off x="1554480" y="713232"/>
            <a:ext cx="1014984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本日決めるのはKGIの交代・検証パイロットの開始・制度への埋め込みの3点</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11</a:t>
            </a:r>
            <a:endParaRPr lang="en-US" sz="900" dirty="0"/>
          </a:p>
        </p:txBody>
      </p:sp>
      <p:sp>
        <p:nvSpPr>
          <p:cNvPr id="6" name="Shape 4"/>
          <p:cNvSpPr/>
          <p:nvPr/>
        </p:nvSpPr>
        <p:spPr>
          <a:xfrm>
            <a:off x="457200" y="1280160"/>
            <a:ext cx="11274552" cy="1143000"/>
          </a:xfrm>
          <a:prstGeom prst="roundRect">
            <a:avLst>
              <a:gd name="adj" fmla="val 5600"/>
            </a:avLst>
          </a:prstGeom>
          <a:solidFill>
            <a:srgbClr val="FBECEE"/>
          </a:solidFill>
          <a:ln w="19050">
            <a:solidFill>
              <a:srgbClr val="C8102E"/>
            </a:solidFill>
            <a:prstDash val="solid"/>
          </a:ln>
        </p:spPr>
      </p:sp>
      <p:sp>
        <p:nvSpPr>
          <p:cNvPr id="7" name="Text 5"/>
          <p:cNvSpPr/>
          <p:nvPr/>
        </p:nvSpPr>
        <p:spPr>
          <a:xfrm>
            <a:off x="640080" y="1353312"/>
            <a:ext cx="3017520" cy="1005840"/>
          </a:xfrm>
          <a:prstGeom prst="rect">
            <a:avLst/>
          </a:prstGeom>
          <a:noFill/>
          <a:ln/>
        </p:spPr>
        <p:txBody>
          <a:bodyPr wrap="square" lIns="0" tIns="0" rIns="0" bIns="0" rtlCol="0" anchor="ctr"/>
          <a:lstStyle/>
          <a:p>
            <a:pPr indent="0" marL="0">
              <a:lnSpc>
                <a:spcPct val="110000"/>
              </a:lnSpc>
              <a:buNone/>
            </a:pPr>
            <a:r>
              <a:rPr lang="en-US" sz="1200" b="1" dirty="0">
                <a:solidFill>
                  <a:srgbClr val="C8102E"/>
                </a:solidFill>
                <a:latin typeface="Yu Gothic" pitchFamily="34" charset="0"/>
                <a:ea typeface="Yu Gothic" pitchFamily="34" charset="-122"/>
                <a:cs typeface="Yu Gothic" pitchFamily="34" charset="-120"/>
              </a:rPr>
              <a:t>1. KGIの交代を承認</a:t>
            </a:r>
            <a:endParaRPr lang="en-US" sz="1200" dirty="0"/>
          </a:p>
        </p:txBody>
      </p:sp>
      <p:sp>
        <p:nvSpPr>
          <p:cNvPr id="8" name="Text 6"/>
          <p:cNvSpPr/>
          <p:nvPr/>
        </p:nvSpPr>
        <p:spPr>
          <a:xfrm>
            <a:off x="3794760" y="1371600"/>
            <a:ext cx="7772400" cy="960120"/>
          </a:xfrm>
          <a:prstGeom prst="rect">
            <a:avLst/>
          </a:prstGeom>
          <a:noFill/>
          <a:ln/>
        </p:spPr>
        <p:txBody>
          <a:bodyPr wrap="square" lIns="0" tIns="0" rIns="0" bIns="0" rtlCol="0" anchor="ctr"/>
          <a:lstStyle/>
          <a:p>
            <a:pPr indent="0" marL="0">
              <a:lnSpc>
                <a:spcPct val="120000"/>
              </a:lnSpc>
              <a:buNone/>
            </a:pPr>
            <a:r>
              <a:rPr lang="en-US" sz="950" dirty="0">
                <a:solidFill>
                  <a:srgbClr val="2A2A33"/>
                </a:solidFill>
                <a:latin typeface="Yu Gothic" pitchFamily="34" charset="0"/>
                <a:ea typeface="Yu Gothic" pitchFamily="34" charset="-122"/>
                <a:cs typeface="Yu Gothic" pitchFamily="34" charset="-120"/>
              </a:rPr>
              <a:t>全社KGIを「リーチ5億人」中心から「第1層財務KGI(増分売上+1,000億円・営業利益率10%・PBR2.0/いずれも例示)」中心へ交代。人口・インパクト額は先行指標(第2・3層)に再配置</a:t>
            </a:r>
            <a:endParaRPr lang="en-US" sz="950" dirty="0"/>
          </a:p>
        </p:txBody>
      </p:sp>
      <p:sp>
        <p:nvSpPr>
          <p:cNvPr id="9" name="Shape 7"/>
          <p:cNvSpPr/>
          <p:nvPr/>
        </p:nvSpPr>
        <p:spPr>
          <a:xfrm>
            <a:off x="457200" y="2578608"/>
            <a:ext cx="11274552" cy="1143000"/>
          </a:xfrm>
          <a:prstGeom prst="roundRect">
            <a:avLst>
              <a:gd name="adj" fmla="val 5600"/>
            </a:avLst>
          </a:prstGeom>
          <a:solidFill>
            <a:srgbClr val="EEF3FB"/>
          </a:solidFill>
          <a:ln w="9525">
            <a:solidFill>
              <a:srgbClr val="1E2761"/>
            </a:solidFill>
            <a:prstDash val="solid"/>
          </a:ln>
        </p:spPr>
      </p:sp>
      <p:sp>
        <p:nvSpPr>
          <p:cNvPr id="10" name="Text 8"/>
          <p:cNvSpPr/>
          <p:nvPr/>
        </p:nvSpPr>
        <p:spPr>
          <a:xfrm>
            <a:off x="640080" y="2651760"/>
            <a:ext cx="3017520" cy="1005840"/>
          </a:xfrm>
          <a:prstGeom prst="rect">
            <a:avLst/>
          </a:prstGeom>
          <a:noFill/>
          <a:ln/>
        </p:spPr>
        <p:txBody>
          <a:bodyPr wrap="square" lIns="0" tIns="0" rIns="0" bIns="0" rtlCol="0" anchor="ctr"/>
          <a:lstStyle/>
          <a:p>
            <a:pPr indent="0" marL="0">
              <a:lnSpc>
                <a:spcPct val="110000"/>
              </a:lnSpc>
              <a:buNone/>
            </a:pPr>
            <a:r>
              <a:rPr lang="en-US" sz="1200" b="1" dirty="0">
                <a:solidFill>
                  <a:srgbClr val="1E2761"/>
                </a:solidFill>
                <a:latin typeface="Yu Gothic" pitchFamily="34" charset="0"/>
                <a:ea typeface="Yu Gothic" pitchFamily="34" charset="-122"/>
                <a:cs typeface="Yu Gothic" pitchFamily="34" charset="-120"/>
              </a:rPr>
              <a:t>2. 5つの検証パイロットを承認</a:t>
            </a:r>
            <a:endParaRPr lang="en-US" sz="1200" dirty="0"/>
          </a:p>
        </p:txBody>
      </p:sp>
      <p:sp>
        <p:nvSpPr>
          <p:cNvPr id="11" name="Text 9"/>
          <p:cNvSpPr/>
          <p:nvPr/>
        </p:nvSpPr>
        <p:spPr>
          <a:xfrm>
            <a:off x="3794760" y="2670048"/>
            <a:ext cx="7772400" cy="960120"/>
          </a:xfrm>
          <a:prstGeom prst="rect">
            <a:avLst/>
          </a:prstGeom>
          <a:noFill/>
          <a:ln/>
        </p:spPr>
        <p:txBody>
          <a:bodyPr wrap="square" lIns="0" tIns="0" rIns="0" bIns="0" rtlCol="0" anchor="ctr"/>
          <a:lstStyle/>
          <a:p>
            <a:pPr indent="0" marL="0">
              <a:lnSpc>
                <a:spcPct val="120000"/>
              </a:lnSpc>
              <a:buNone/>
            </a:pPr>
            <a:r>
              <a:rPr lang="en-US" sz="950" dirty="0">
                <a:solidFill>
                  <a:srgbClr val="2A2A33"/>
                </a:solidFill>
                <a:latin typeface="Yu Gothic" pitchFamily="34" charset="0"/>
                <a:ea typeface="Yu Gothic" pitchFamily="34" charset="-122"/>
                <a:cs typeface="Yu Gothic" pitchFamily="34" charset="-120"/>
              </a:rPr>
              <a:t>収益化率(啓発→購買追跡)/ARPU・レジメン/プレミアム受容率A/B/B2B2C 10社/柳モデル回帰 ― 2026-27年に換算係数を実測(総額は個別稟議)</a:t>
            </a:r>
            <a:endParaRPr lang="en-US" sz="950" dirty="0"/>
          </a:p>
        </p:txBody>
      </p:sp>
      <p:sp>
        <p:nvSpPr>
          <p:cNvPr id="12" name="Shape 10"/>
          <p:cNvSpPr/>
          <p:nvPr/>
        </p:nvSpPr>
        <p:spPr>
          <a:xfrm>
            <a:off x="457200" y="3877056"/>
            <a:ext cx="11274552" cy="1143000"/>
          </a:xfrm>
          <a:prstGeom prst="roundRect">
            <a:avLst>
              <a:gd name="adj" fmla="val 5600"/>
            </a:avLst>
          </a:prstGeom>
          <a:solidFill>
            <a:srgbClr val="EEF3FB"/>
          </a:solidFill>
          <a:ln w="9525">
            <a:solidFill>
              <a:srgbClr val="1E2761"/>
            </a:solidFill>
            <a:prstDash val="solid"/>
          </a:ln>
        </p:spPr>
      </p:sp>
      <p:sp>
        <p:nvSpPr>
          <p:cNvPr id="13" name="Text 11"/>
          <p:cNvSpPr/>
          <p:nvPr/>
        </p:nvSpPr>
        <p:spPr>
          <a:xfrm>
            <a:off x="640080" y="3950208"/>
            <a:ext cx="3017520" cy="1005840"/>
          </a:xfrm>
          <a:prstGeom prst="rect">
            <a:avLst/>
          </a:prstGeom>
          <a:noFill/>
          <a:ln/>
        </p:spPr>
        <p:txBody>
          <a:bodyPr wrap="square" lIns="0" tIns="0" rIns="0" bIns="0" rtlCol="0" anchor="ctr"/>
          <a:lstStyle/>
          <a:p>
            <a:pPr indent="0" marL="0">
              <a:lnSpc>
                <a:spcPct val="110000"/>
              </a:lnSpc>
              <a:buNone/>
            </a:pPr>
            <a:r>
              <a:rPr lang="en-US" sz="1200" b="1" dirty="0">
                <a:solidFill>
                  <a:srgbClr val="1E2761"/>
                </a:solidFill>
                <a:latin typeface="Yu Gothic" pitchFamily="34" charset="0"/>
                <a:ea typeface="Yu Gothic" pitchFamily="34" charset="-122"/>
                <a:cs typeface="Yu Gothic" pitchFamily="34" charset="-120"/>
              </a:rPr>
              <a:t>3. 制度への埋め込みを承認</a:t>
            </a:r>
            <a:endParaRPr lang="en-US" sz="1200" dirty="0"/>
          </a:p>
        </p:txBody>
      </p:sp>
      <p:sp>
        <p:nvSpPr>
          <p:cNvPr id="14" name="Text 12"/>
          <p:cNvSpPr/>
          <p:nvPr/>
        </p:nvSpPr>
        <p:spPr>
          <a:xfrm>
            <a:off x="3794760" y="3968496"/>
            <a:ext cx="7772400" cy="960120"/>
          </a:xfrm>
          <a:prstGeom prst="rect">
            <a:avLst/>
          </a:prstGeom>
          <a:noFill/>
          <a:ln/>
        </p:spPr>
        <p:txBody>
          <a:bodyPr wrap="square" lIns="0" tIns="0" rIns="0" bIns="0" rtlCol="0" anchor="ctr"/>
          <a:lstStyle/>
          <a:p>
            <a:pPr indent="0" marL="0">
              <a:lnSpc>
                <a:spcPct val="120000"/>
              </a:lnSpc>
              <a:buNone/>
            </a:pPr>
            <a:r>
              <a:rPr lang="en-US" sz="950" dirty="0">
                <a:solidFill>
                  <a:srgbClr val="2A2A33"/>
                </a:solidFill>
                <a:latin typeface="Yu Gothic" pitchFamily="34" charset="0"/>
                <a:ea typeface="Yu Gothic" pitchFamily="34" charset="-122"/>
                <a:cs typeface="Yu Gothic" pitchFamily="34" charset="-120"/>
              </a:rPr>
              <a:t>中計への公式組込み・インパクト調整IRRの投資ルール・役員報酬連動(設計開始)・価値ブリッジのIR定型化</a:t>
            </a:r>
            <a:endParaRPr lang="en-US" sz="950" dirty="0"/>
          </a:p>
        </p:txBody>
      </p:sp>
      <p:sp>
        <p:nvSpPr>
          <p:cNvPr id="15" name="Shape 13"/>
          <p:cNvSpPr/>
          <p:nvPr/>
        </p:nvSpPr>
        <p:spPr>
          <a:xfrm>
            <a:off x="457200" y="5349240"/>
            <a:ext cx="11274552" cy="1143000"/>
          </a:xfrm>
          <a:prstGeom prst="roundRect">
            <a:avLst>
              <a:gd name="adj" fmla="val 5600"/>
            </a:avLst>
          </a:prstGeom>
          <a:solidFill>
            <a:srgbClr val="1E2761"/>
          </a:solidFill>
          <a:ln/>
        </p:spPr>
      </p:sp>
      <p:sp>
        <p:nvSpPr>
          <p:cNvPr id="16" name="Text 14"/>
          <p:cNvSpPr/>
          <p:nvPr/>
        </p:nvSpPr>
        <p:spPr>
          <a:xfrm>
            <a:off x="731520" y="5422392"/>
            <a:ext cx="10744200" cy="1005840"/>
          </a:xfrm>
          <a:prstGeom prst="rect">
            <a:avLst/>
          </a:prstGeom>
          <a:noFill/>
          <a:ln/>
        </p:spPr>
        <p:txBody>
          <a:bodyPr wrap="square" lIns="0" tIns="0" rIns="0" bIns="0" rtlCol="0" anchor="ctr"/>
          <a:lstStyle/>
          <a:p>
            <a:pPr indent="0" marL="0">
              <a:lnSpc>
                <a:spcPct val="125000"/>
              </a:lnSpc>
              <a:buNone/>
            </a:pPr>
            <a:r>
              <a:rPr lang="en-US" sz="1080" b="1" dirty="0">
                <a:solidFill>
                  <a:srgbClr val="FF9DAD"/>
                </a:solidFill>
                <a:latin typeface="Yu Gothic" pitchFamily="34" charset="0"/>
                <a:ea typeface="Yu Gothic" pitchFamily="34" charset="-122"/>
                <a:cs typeface="Yu Gothic" pitchFamily="34" charset="-120"/>
              </a:rPr>
              <a:t>本構想の本質: </a:t>
            </a:r>
            <a:pPr indent="0" marL="0">
              <a:lnSpc>
                <a:spcPct val="125000"/>
              </a:lnSpc>
              <a:buNone/>
            </a:pPr>
            <a:r>
              <a:rPr lang="en-US" sz="1080" dirty="0">
                <a:solidFill>
                  <a:srgbClr val="FFFFFF"/>
                </a:solidFill>
                <a:latin typeface="Yu Gothic" pitchFamily="34" charset="0"/>
                <a:ea typeface="Yu Gothic" pitchFamily="34" charset="-122"/>
                <a:cs typeface="Yu Gothic" pitchFamily="34" charset="-120"/>
              </a:rPr>
              <a:t>ESGを「良いことをして、ついでに評価される」活動から、「習慣を収益化し、単価を上げ、失わず、コストを下げ、資本コストを下げる」5つの価値エンジンに再定義した。すべてのKGIに換算式と検証計画が付いており、効かない仮定は毎年実測で入れ替わる ― これが“財務にきちんと跳ね返る”ということである</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2026-07-21T13:55:54Z</dcterms:created>
  <dcterms:modified xsi:type="dcterms:W3CDTF">2026-07-21T13:55:54Z</dcterms:modified>
</cp:coreProperties>
</file>