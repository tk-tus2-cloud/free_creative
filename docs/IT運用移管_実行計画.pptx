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00953B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474720" cy="3474720"/>
          </a:xfrm>
          <a:prstGeom prst="ellipse">
            <a:avLst/>
          </a:prstGeom>
          <a:solidFill>
            <a:srgbClr val="00953B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Vision2030 2nd Stage ｜ IT運用の構造転換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IT運用移管 実行計画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2E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意思決定から移管完了までの全体設計 ― 7つのワークストリームと5つの意思決定ゲート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※ベンダ提案（2026年8月受領）を参考としつつ、発注者として検証・交渉・統制すべき論点をゼロベースで再設計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 ｜ 2026年8月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 ― 段階コミットで進め、判定と統制は当社が握る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941832"/>
          </a:xfrm>
          <a:prstGeom prst="roundRect">
            <a:avLst>
              <a:gd name="adj" fmla="val 7767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22476"/>
            <a:ext cx="493776" cy="493776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128" y="1655796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408176"/>
            <a:ext cx="1463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907792" y="1371600"/>
            <a:ext cx="8549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一括コミットではなく5つの意思決定ゲート（方針承認→投資承認→契約→切替判定→横展開判定）で段階的に投資判断。各ゲートで撤退・修正の自由度を保つ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11091672" cy="941832"/>
          </a:xfrm>
          <a:prstGeom prst="roundRect">
            <a:avLst>
              <a:gd name="adj" fmla="val 7767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574036"/>
            <a:ext cx="493776" cy="493776"/>
          </a:xfrm>
          <a:prstGeom prst="ellipse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28" y="270735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459736"/>
            <a:ext cx="1463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提案評価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07792" y="2423160"/>
            <a:ext cx="8549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ベンダ提案は移管方法論・体制は高評価。ただしベースライン（3.7億円・22.8FTE）と削減率はベンダ試算 ― Phase 0での当社検証と競争環境の担保が契約の前提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11091672" cy="941832"/>
          </a:xfrm>
          <a:prstGeom prst="roundRect">
            <a:avLst>
              <a:gd name="adj" fmla="val 7767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625596"/>
            <a:ext cx="493776" cy="493776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28" y="3758916"/>
            <a:ext cx="227137" cy="2271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3511296"/>
            <a:ext cx="1463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価値の主軸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907792" y="3474720"/>
            <a:ext cx="8549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委託費削減は4年累計＋1.1億円（7.4%）と控えめ。本質的リターンは社員6〜7FTE（年6〜7千万円相当）の恒久的解放と属人リスクの解消 ― 判断軸を「削減額」でなく「持続可能性」に置く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453128"/>
            <a:ext cx="11091672" cy="941832"/>
          </a:xfrm>
          <a:prstGeom prst="roundRect">
            <a:avLst>
              <a:gd name="adj" fmla="val 7767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677156"/>
            <a:ext cx="493776" cy="493776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28" y="4810476"/>
            <a:ext cx="227137" cy="2271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4562856"/>
            <a:ext cx="1463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統制設計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907792" y="4526280"/>
            <a:ext cx="8549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ベンダ運用センターは「実行層」。SLA監視・検収・ベンダ統制（SIAM）は当社/SSCが保持し、3階層モデルと整合させる ― 移管しても丸投げにしない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5504688"/>
            <a:ext cx="11091672" cy="941832"/>
          </a:xfrm>
          <a:prstGeom prst="roundRect">
            <a:avLst>
              <a:gd name="adj" fmla="val 7767"/>
            </a:avLst>
          </a:prstGeom>
          <a:solidFill>
            <a:srgbClr val="F4F6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728716"/>
            <a:ext cx="493776" cy="493776"/>
          </a:xfrm>
          <a:prstGeom prst="ellipse">
            <a:avLst/>
          </a:prstGeom>
          <a:solidFill>
            <a:srgbClr val="C0562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128" y="5862036"/>
            <a:ext cx="227137" cy="2271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5614416"/>
            <a:ext cx="1463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最重要リスク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2907792" y="5577840"/>
            <a:ext cx="8549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移管期の品質低下と現行ベンダの協力確保。引継ぎ義務・インセンティブ・完了判定基準（当社が判定権を持つ）を契約前に手当てする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MASTER 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移管までの全体地図 ― 5つのゲートと7つのワークストリーム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627632" cy="960120"/>
          </a:xfrm>
          <a:prstGeom prst="homePlate">
            <a:avLst/>
          </a:prstGeom>
          <a:solidFill>
            <a:srgbClr val="0095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25880"/>
            <a:ext cx="1170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可視化・検証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8〜10月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2130552" y="1325880"/>
            <a:ext cx="1627632" cy="960120"/>
          </a:xfrm>
          <a:prstGeom prst="homePlate">
            <a:avLst/>
          </a:prstGeom>
          <a:solidFill>
            <a:srgbClr val="006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76856" y="1325880"/>
            <a:ext cx="1170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 経営会議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方針承認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712464" y="1325880"/>
            <a:ext cx="1627632" cy="960120"/>
          </a:xfrm>
          <a:prstGeom prst="homePlate">
            <a:avLst/>
          </a:prstGeom>
          <a:solidFill>
            <a:srgbClr val="006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1325880"/>
            <a:ext cx="1170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 投資委員会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投資承認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294376" y="1325880"/>
            <a:ext cx="1627632" cy="960120"/>
          </a:xfrm>
          <a:prstGeom prst="homePlate">
            <a:avLst/>
          </a:prstGeom>
          <a:solidFill>
            <a:srgbClr val="006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325880"/>
            <a:ext cx="1170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G3 契約締結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条項確定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10月末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876288" y="1325880"/>
            <a:ext cx="1627632" cy="960120"/>
          </a:xfrm>
          <a:prstGeom prst="homePlate">
            <a:avLst/>
          </a:prstGeom>
          <a:solidFill>
            <a:srgbClr val="0095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325880"/>
            <a:ext cx="1170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 STEP1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3ヶ月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11〜1月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458200" y="1325880"/>
            <a:ext cx="1627632" cy="960120"/>
          </a:xfrm>
          <a:prstGeom prst="homePlate">
            <a:avLst/>
          </a:prstGeom>
          <a:solidFill>
            <a:srgbClr val="006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4504" y="1325880"/>
            <a:ext cx="1170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G4 切替判定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完了検収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1月末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0040112" y="1325880"/>
            <a:ext cx="1627632" cy="960120"/>
          </a:xfrm>
          <a:prstGeom prst="homePlate">
            <a:avLst/>
          </a:prstGeom>
          <a:solidFill>
            <a:srgbClr val="006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86416" y="1325880"/>
            <a:ext cx="1170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G5 横展開判定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STEP2へ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27年4Q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4F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56032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560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1328" y="24871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スコープ＆ベースライン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0" y="2487168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業務棚卸し・TCO実測・移管適性の格付け ― 効果測定と交渉の土台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4F6F5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044952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044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81328" y="29718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ソーシング戦略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06240" y="2971800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実行層の拠点判断（オフショア/ニアショア）・競争環境の担保・現行ベンダの残置判断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456432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4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3529584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5295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81328" y="34564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契約・SLA設計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206240" y="3456432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必須条項10項目（Exit・IP・ベンチマーク・監査権等）とSLA型への進化パス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941064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4F6F5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" y="401421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014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81328" y="3941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移管実行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206240" y="3941064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4フェーズ移管と当社が握る完了判定基準（Exit Criteria）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425696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4F6F5"/>
          </a:solidFill>
          <a:ln/>
        </p:spPr>
      </p:sp>
      <p:sp>
        <p:nvSpPr>
          <p:cNvPr id="39" name="Shape 37"/>
          <p:cNvSpPr/>
          <p:nvPr/>
        </p:nvSpPr>
        <p:spPr>
          <a:xfrm>
            <a:off x="658368" y="449884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4498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81328" y="44256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現行ベンダ管理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206240" y="4425696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引継ぎ義務の確認・協力インセンティブ・解約予告と関係管理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910328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4F6F5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368" y="498348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" y="4983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481328" y="49103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社内体制・チェンジ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206240" y="4910328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移管PMO・SSC統制能力の立ち上げ・社員コミュニケーション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5394960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4F6F5"/>
          </a:solidFill>
          <a:ln/>
        </p:spPr>
      </p:sp>
      <p:sp>
        <p:nvSpPr>
          <p:cNvPr id="49" name="Shape 47"/>
          <p:cNvSpPr/>
          <p:nvPr/>
        </p:nvSpPr>
        <p:spPr>
          <a:xfrm>
            <a:off x="658368" y="5468112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" y="5468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481328" y="53949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リスク管理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206240" y="5394960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リスクレジスタの運用（品質低下・非協力・地政学・ロックイン等）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WS1〜3はG3（契約）までに完了必須 ― ベースラインなき契約・条項なき移管は、効果もExitも失う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PROPOSAL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ベンダ提案の評価 ― 方法論は採用、数字と統制は当社が検証して握る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49824" cy="4572000"/>
          </a:xfrm>
          <a:prstGeom prst="roundRect">
            <a:avLst>
              <a:gd name="adj" fmla="val 1800"/>
            </a:avLst>
          </a:prstGeom>
          <a:solidFill>
            <a:srgbClr val="E9F5E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評価できる点（採用する）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段階移管の設計：情報が揃うA社＋LEBで小さく型を作り、B〜F社へ横展開（リスクを限定し早期に効果）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移管方法論：シャドーイング/リバースシャドーイングで暗黙知を捕捉、多忙なL3を避けたL2ボトムアップ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L1/L2/L3の適正配置による単価最適化と、AI・自動化の段階適用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有事対応の整理：台湾有事等をフェーズ1〜5で事前合意する枠組み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契約前スケジュール：9月経営会議→10月投資委員会→10月末契約は当社ガバナンスと整合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0488" y="1298448"/>
            <a:ext cx="5449824" cy="4572000"/>
          </a:xfrm>
          <a:prstGeom prst="roundRect">
            <a:avLst>
              <a:gd name="adj" fmla="val 1800"/>
            </a:avLst>
          </a:prstGeom>
          <a:solidFill>
            <a:srgbClr val="FBF1E9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！ 検証・交渉すべき点（鵜呑みにしない）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9202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ベースライン3.7億円・22.8FTEはベンダ推計（LEB費用は「当社想定」と明記）― Phase 0で当社が実数を握るまで効果は確定しない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削減率▲24〜38%は中国オフショア前提。九州ニアショアは4.65億円と現状比＋26% ― 拠点判断が効果の分水嶺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4年累計削減＋1.1億円（7.4%）は投資リターンとして薄い ― 価値の主軸は社員6〜7FTE解放に置く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準委任＋計画稼働の最低保証＝出来高リスクは当社持ち ― SLA型への移行時期を契約に明記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単独提案で競争圧力なし ― ベンチマーク条項＋STEP2競争化オプションで牽制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統制（SIAM）の置き場が未定義 ― 当社SSC構想との整合を契約前に設計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6080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「移管のやり方」はベンダの土俵、「効果の物差しと統制」は当社の土俵 ― 後者を握らずに契約しない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WS1 ｜ SCOPE &amp; BASELINE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0：ベースラインの確立 ― 効果測定と契約交渉の土台を当社が持つ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9824" cy="1481328"/>
          </a:xfrm>
          <a:prstGeom prst="roundRect">
            <a:avLst>
              <a:gd name="adj" fmla="val 5556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6322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90472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業務棚卸し・工数実測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856232"/>
            <a:ext cx="4443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A〜F社・LEB・社員業務のチケット/作業を4週間サンプリング実測。ベンダ推計（22.8FTE）と突合し乖離を特定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90488" y="1325880"/>
            <a:ext cx="5449824" cy="1481328"/>
          </a:xfrm>
          <a:prstGeom prst="roundRect">
            <a:avLst>
              <a:gd name="adj" fmla="val 5556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508760"/>
            <a:ext cx="457200" cy="457200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6322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1490472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TCOの確定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967728" y="1856232"/>
            <a:ext cx="4443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ベンダ費（実契約額）＋社員運用工数の人件費換算＋手戻り工数 ― 「3.7億円」を当社の数字に置き換える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5449824" cy="1481328"/>
          </a:xfrm>
          <a:prstGeom prst="roundRect">
            <a:avLst>
              <a:gd name="adj" fmla="val 5556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2781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36392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属人化リスク格付け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3502152"/>
            <a:ext cx="4443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システム×担当者で依存度を格付け（単独対応者のみ＝赤）。移管順序と引継ぎ工数配分の根拠にする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90488" y="2971800"/>
            <a:ext cx="5449824" cy="1481328"/>
          </a:xfrm>
          <a:prstGeom prst="roundRect">
            <a:avLst>
              <a:gd name="adj" fmla="val 5556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3368" y="3154680"/>
            <a:ext cx="457200" cy="457200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327812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7728" y="3136392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データ分類・越境可否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67728" y="3502152"/>
            <a:ext cx="4443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個人情報・機密・一般に分類し、オフショア作業可否を業務単位で判定（WS2の前提）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移管適性の格付け（標準化容易性 × 属人リスクで4分類し、スコープを当社が決める）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07492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00953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13232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即移管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13232" y="542239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手順が明確・属人度低（定型監視・定常作業）→ STEP1対象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364992" y="507492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C0562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529584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標準化後移管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3529584" y="542239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属人度高（シニア依存業務）→ 文書化を先行し優先引継ぎ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181344" y="507492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345936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F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当面内製・SSC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345936" y="542239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判断・統制業務 → SSC/当社に残す（移管しない）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997696" y="507492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006B2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162288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廃止・自動化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9162288" y="542239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移管前にAI/自動化・廃止で消す（移管費を払わない）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48640" y="614476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38" name="Text 32"/>
          <p:cNvSpPr/>
          <p:nvPr/>
        </p:nvSpPr>
        <p:spPr>
          <a:xfrm>
            <a:off x="822960" y="61447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成果物＝ベースライン合意書（当社・ベンダ双方が署名）― 以後の削減効果は全てこの数字から測る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WS2 ｜ SOURCING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ソーシング戦略 ― 実行層の拠点はハイブリッド、競争圧力は契約で作る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拠点判断：コスト差が大きく、一律の選択はしない（ベンダ提示値・AI活用後）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630168" cy="1371600"/>
          </a:xfrm>
          <a:prstGeom prst="roundRect">
            <a:avLst>
              <a:gd name="adj" fmla="val 6000"/>
            </a:avLst>
          </a:prstGeom>
          <a:solidFill>
            <a:srgbClr val="F4F6F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73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現状（ベースライン）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0482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3.7億円/年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ベンダ推計・Phase 0で検証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06824" y="1664208"/>
            <a:ext cx="3630168" cy="1371600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773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中国オフショア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7992" y="20482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2.80億円（▲24%）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07992" y="24688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データ三法・台湾有事・GFWのリスクを業務分割とBCPで管理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65008" y="1664208"/>
            <a:ext cx="3630168" cy="137160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773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九州ニアショア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20482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4.65億円（＋26%）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66176" y="24688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現状より増。選ぶなら目的は「削減」でなく「持続可能性」に置き直す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127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推奨：機密・個人情報系＝国内/ニアショア、定型監視・一般系＝オフショア のハイブリッド分割（WS1のデータ分類が判断根拠）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449824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730752"/>
            <a:ext cx="438912" cy="438912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026" y="3849258"/>
            <a:ext cx="201900" cy="2019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98448" y="3703320"/>
            <a:ext cx="4535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競争圧力の作り方（単独交渉でも）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4672" y="4279392"/>
            <a:ext cx="49560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STEP1は単独交渉を許容（速度優先）― ただし契約に①市場価格ベンチマーク条項 ②STEP2の競争化オプション ③Exit支援義務を必ず入れる</a:t>
            </a:r>
            <a:endParaRPr lang="en-US" sz="10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STEP2（B〜F社展開）はSTEP1実績を評価してから競争入札も選べる状態を維持する</a:t>
            </a:r>
            <a:endParaRPr lang="en-US" sz="10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手順書・運用ナレッジのIPを当社帰属にし、スイッチング自由度を確保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6190488" y="3566160"/>
            <a:ext cx="5449824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  <a:ln/>
        </p:spPr>
      </p:sp>
      <p:sp>
        <p:nvSpPr>
          <p:cNvPr id="24" name="Shape 21"/>
          <p:cNvSpPr/>
          <p:nvPr/>
        </p:nvSpPr>
        <p:spPr>
          <a:xfrm>
            <a:off x="6373368" y="3730752"/>
            <a:ext cx="438912" cy="438912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874" y="3849258"/>
            <a:ext cx="201900" cy="2019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40296" y="3703320"/>
            <a:ext cx="4535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現行ベンダの扱い（全とっかえにしない）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446520" y="4279392"/>
            <a:ext cx="49560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全ベンダ同時交代は移管リスクを最大化する ― 評価の高いベンダは実行層の一部として残置も選択肢</a:t>
            </a:r>
            <a:endParaRPr lang="en-US" sz="10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残置ベンダも新SLA・統合レポーティングに載せ替え、統制はSSCに一元化</a:t>
            </a:r>
            <a:endParaRPr lang="en-US" sz="10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解約予告期間と移管スケジュールの整合をPhase 0で確認（WS5）</a:t>
            </a:r>
            <a:endParaRPr lang="en-US" sz="1030" dirty="0"/>
          </a:p>
        </p:txBody>
      </p:sp>
      <p:sp>
        <p:nvSpPr>
          <p:cNvPr id="28" name="Shape 24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29" name="Text 25"/>
          <p:cNvSpPr/>
          <p:nvPr/>
        </p:nvSpPr>
        <p:spPr>
          <a:xfrm>
            <a:off x="822960" y="6080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当社＝戦略、SSC＝統制（SIAM）、実行層＝ベンダ運用センター＋残置ベンダ ― 3階層モデルに実行層の多様性を持たせる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WS3 ｜ CONTRACT &amp; SLA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契約・SLA設計 ― 移管期は準委任でも、SLA型への進化と出口を先に書く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30168" cy="502920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移管期（〜切替）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3630168" cy="1298448"/>
          </a:xfrm>
          <a:prstGeom prst="roundRect">
            <a:avLst>
              <a:gd name="adj" fmla="val 5634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29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準委任・工数ベース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暗黙知の引継ぎは成果定義が困難なため許容。ただし完了判定基準と未達時の費用分担を明記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06824" y="1325880"/>
            <a:ext cx="3630168" cy="502920"/>
          </a:xfrm>
          <a:prstGeom prst="chevron">
            <a:avLst/>
          </a:prstGeom>
          <a:solidFill>
            <a:srgbClr val="006B2B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安定運用期（1年目〜）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6824" y="1938528"/>
            <a:ext cx="3630168" cy="1298448"/>
          </a:xfrm>
          <a:prstGeom prst="roundRect">
            <a:avLst>
              <a:gd name="adj" fmla="val 5634"/>
            </a:avLst>
          </a:prstGeom>
          <a:solidFill>
            <a:srgbClr val="F4F6F5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2029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SLA型マネージドサービス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9704" y="2359152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SLA/KPI＋未達クレジット。月額固定＋従量で変動費化。移行時期を契約に明記させる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1325880"/>
            <a:ext cx="3630168" cy="502920"/>
          </a:xfrm>
          <a:prstGeom prst="chevron">
            <a:avLst/>
          </a:prstGeom>
          <a:solidFill>
            <a:srgbClr val="006B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成熟期（2年目〜）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65008" y="1938528"/>
            <a:ext cx="3630168" cy="1298448"/>
          </a:xfrm>
          <a:prstGeom prst="roundRect">
            <a:avLst>
              <a:gd name="adj" fmla="val 5634"/>
            </a:avLst>
          </a:prstGeom>
          <a:solidFill>
            <a:srgbClr val="F4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029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成果連動・継続改善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47888" y="2359152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自動化による工数減をゲインシェアで折半。ベンチマークで市場価格に追随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401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契約に必ず入れる10条項（G3までに交渉完了）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84048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SLA/KPIとクレジット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76656" y="4224528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未達時の減額・是正計画義務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788920" y="3767328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384048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成果物IPの当社帰属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916936" y="4224528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手順書・運用フローは当社資産に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029200" y="3767328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27" name="Text 25"/>
          <p:cNvSpPr/>
          <p:nvPr/>
        </p:nvSpPr>
        <p:spPr>
          <a:xfrm>
            <a:off x="5157216" y="384048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Exit支援義務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157216" y="4224528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解約時の引継ぎ協力を有償で義務化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269480" y="3767328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30" name="Text 28"/>
          <p:cNvSpPr/>
          <p:nvPr/>
        </p:nvSpPr>
        <p:spPr>
          <a:xfrm>
            <a:off x="7397496" y="384048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ベンチマーク権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7397496" y="4224528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第三者による市場価格照合（年1回）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9509760" y="3767328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33" name="Text 31"/>
          <p:cNvSpPr/>
          <p:nvPr/>
        </p:nvSpPr>
        <p:spPr>
          <a:xfrm>
            <a:off x="9637776" y="384048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監査権・証跡提供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637776" y="4224528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J-SOX/セキュリティ監査への協力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48640" y="4846320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" y="491947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データ所在・越境制限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76656" y="530352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分類別の作業場所を契約別紙に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2788920" y="4846320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39" name="Text 37"/>
          <p:cNvSpPr/>
          <p:nvPr/>
        </p:nvSpPr>
        <p:spPr>
          <a:xfrm>
            <a:off x="2916936" y="491947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 キーマン条項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2916936" y="530352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主要要員の交代事前協議・継続性担保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029200" y="4846320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42" name="Text 40"/>
          <p:cNvSpPr/>
          <p:nvPr/>
        </p:nvSpPr>
        <p:spPr>
          <a:xfrm>
            <a:off x="5157216" y="491947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最低保証の段階縮小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157216" y="530352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自動化進展に応じ最低稼働を逓減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7269480" y="4846320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45" name="Text 43"/>
          <p:cNvSpPr/>
          <p:nvPr/>
        </p:nvSpPr>
        <p:spPr>
          <a:xfrm>
            <a:off x="7397496" y="491947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 価格改定ルール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397496" y="530352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為替・人件費転嫁の上限と算式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9509760" y="4846320"/>
            <a:ext cx="2148840" cy="969264"/>
          </a:xfrm>
          <a:prstGeom prst="roundRect">
            <a:avLst>
              <a:gd name="adj" fmla="val 6604"/>
            </a:avLst>
          </a:prstGeom>
          <a:solidFill>
            <a:srgbClr val="E9F5EE"/>
          </a:solidFill>
          <a:ln/>
        </p:spPr>
      </p:sp>
      <p:sp>
        <p:nvSpPr>
          <p:cNvPr id="48" name="Text 46"/>
          <p:cNvSpPr/>
          <p:nvPr/>
        </p:nvSpPr>
        <p:spPr>
          <a:xfrm>
            <a:off x="9637776" y="491947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再委託の制限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9637776" y="5303520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事前承認制・責任は元請に一元化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548640" y="60807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6080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移管完了の定義（検収基準）を契約本文に ― 「完了したかどうか」をベンダの自己申告にしない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WS4 ｜ TRANSITION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移管実行 ― 4フェーズは提案どおり、完了判定（Exit Criteria）は当社が握る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88336" cy="658368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258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システム学習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（X-3月）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1762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実施内容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94944" y="2432304"/>
            <a:ext cx="2414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現行資料の机上学習・Q&amp;A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移管計画の最終化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584448"/>
            <a:ext cx="2688336" cy="1481328"/>
          </a:xfrm>
          <a:prstGeom prst="roundRect">
            <a:avLst>
              <a:gd name="adj" fmla="val 49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657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当社の完了判定基準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4944" y="3913632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ドキュメント充足率の確認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未文書化業務のリスト化完了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55848" y="1325880"/>
            <a:ext cx="2688336" cy="658368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13258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引継ぎ①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現行ベンダ主体（X-2月）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5848" y="21031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21762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実施内容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02152" y="2432304"/>
            <a:ext cx="2414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実作業のレクチャー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シャドーイング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55848" y="3584448"/>
            <a:ext cx="2688336" cy="1481328"/>
          </a:xfrm>
          <a:prstGeom prst="roundRect">
            <a:avLst>
              <a:gd name="adj" fmla="val 49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3657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当社の完了判定基準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02152" y="3913632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対象業務のシャドーイング100%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手順書を最新化・当社検収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63056" y="1325880"/>
            <a:ext cx="2688336" cy="658368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13258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引継ぎ②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新ベンダ主体（X-1月）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21031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1762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実施内容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2432304"/>
            <a:ext cx="2414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新ベンダが実作業を実施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リバースシャドーイング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3584448"/>
            <a:ext cx="2688336" cy="1481328"/>
          </a:xfrm>
          <a:prstGeom prst="roundRect">
            <a:avLst>
              <a:gd name="adj" fmla="val 49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657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当社の完了判定基準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3913632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指摘件数が収束傾向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L1/L2への作業移管完了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70264" y="1325880"/>
            <a:ext cx="2688336" cy="658368"/>
          </a:xfrm>
          <a:prstGeom prst="chevron">
            <a:avLst/>
          </a:prstGeom>
          <a:solidFill>
            <a:srgbClr val="00953B"/>
          </a:solidFill>
          <a:ln/>
        </p:spPr>
      </p:sp>
      <p:sp>
        <p:nvSpPr>
          <p:cNvPr id="29" name="Text 27"/>
          <p:cNvSpPr/>
          <p:nvPr/>
        </p:nvSpPr>
        <p:spPr>
          <a:xfrm>
            <a:off x="9381744" y="132588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完了前確認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（X月切替）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70264" y="21031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31" name="Text 29"/>
          <p:cNvSpPr/>
          <p:nvPr/>
        </p:nvSpPr>
        <p:spPr>
          <a:xfrm>
            <a:off x="9116568" y="21762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実施内容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16568" y="2432304"/>
            <a:ext cx="2414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単独運用を想定した確認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切替判定会議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970264" y="3584448"/>
            <a:ext cx="2688336" cy="1481328"/>
          </a:xfrm>
          <a:prstGeom prst="roundRect">
            <a:avLst>
              <a:gd name="adj" fmla="val 49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6568" y="36576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当社の完了判定基準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16568" y="3913632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単独運転試験2週間をSLA仮達成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判定は当社/SSCが実施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230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判定未達の場合：フェーズ延長（費用分担ルールを契約時に定義）。品質未達のまま切替期日を優先しない ― 期日は手段、品質が目的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9436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切替後1〜2ヶ月は現行ベンダの伴走（有償サポート）を確保し、ロールバック基準も事前定義する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WS5 ｜ INCUMBENT MGMT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現行ベンダ・マネジメント ― 協力の確保が移管成否の生命線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27048"/>
            <a:ext cx="475488" cy="475488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165543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1732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引継ぎ義務の確認（今すぐ）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17720" y="1399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現行契約に「契約終了時の引継ぎ協力義務」条項があるか全契約を確認。なければ有償の引継ぎ支援契約を別途締結する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505456"/>
            <a:ext cx="475488" cy="475488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263383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9572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解約予告と日程の整合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1772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各社の解約予告期間・契約満了日と移管スケジュールを突合（Phase 0）。予告が遅れるとSTEP2の日程全体が後ろ倒しになる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82696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483864"/>
            <a:ext cx="475488" cy="475488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612246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74136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協力インセンティブ設計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617720" y="335584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引継ぎ品質を最終検収・支払いに連動。誠実な協力には他領域での取引継続の可能性を示す ― 「追い出し」の構図を作らない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261104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462272"/>
            <a:ext cx="475488" cy="475488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590654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352544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士気低下・品質劣化の監視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617720" y="433425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通知後の現行ベンダは要員のモチベーションが下がる ― 移管期間中も暫定SLA/週次品質レビューで監視し、劣化の早期検知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239512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4F6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440680"/>
            <a:ext cx="475488" cy="475488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5569062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330952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キーマン離脱への備え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617720" y="531266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通知後の担当者離任が最大リスク ― 属人度の高い業務から優先的に引継ぎ、現行ベンダへ主要要員の維持を契約・依頼で担保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614476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61447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通知の順番とタイミングは移管計画そのもの ― 契約確定（G3）前の情報漏れは現行運用の即時劣化を招く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WS6 ｜ PEOPLE &amp;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社内体制・チェンジマネジメント ― 移管と並走でSSCの統制能力を立ち上げる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9824" cy="2212848"/>
          </a:xfrm>
          <a:prstGeom prst="roundRect">
            <a:avLst>
              <a:gd name="adj" fmla="val 3719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90472"/>
            <a:ext cx="438912" cy="438912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026" y="1608978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47218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移管PMO（当社主導）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002536"/>
            <a:ext cx="49560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デジ戦部長を責任者に、当社・SSC・新旧ベンダ横断の週次ゲート運営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判定権（Exit Criteria・切替可否）は常に当社側に置く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課題・リスクレジスタを一元管理（WS7）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6190488" y="1325880"/>
            <a:ext cx="5449824" cy="2212848"/>
          </a:xfrm>
          <a:prstGeom prst="roundRect">
            <a:avLst>
              <a:gd name="adj" fmla="val 3719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490472"/>
            <a:ext cx="438912" cy="438912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874" y="1608978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0296" y="147218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SSC統制能力の立ち上げ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46520" y="2002536"/>
            <a:ext cx="49560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移管期間中にSSCへSIAM機能を構築（本体からの出向＋外部専門家の登用）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STEP1完了時点でSLA監視・検収・請求査定をSSCが実施できる状態に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本体−SSC間のSLA・レポーティングも同時に契約化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449824" cy="2212848"/>
          </a:xfrm>
          <a:prstGeom prst="roundRect">
            <a:avLst>
              <a:gd name="adj" fmla="val 3719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867912"/>
            <a:ext cx="438912" cy="438912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6" y="3986418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84962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社員コミュニケーション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4672" y="4379976"/>
            <a:ext cx="49560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契約確定後すみやかに説明会：「努力を仕組みに変える取組み」と定義し個人批判を避ける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最も強い反対者（＝属人化の中心）を移管の中核メンバーに登用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想定問答集で管理職の説明を統一（既作成）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6190488" y="3703320"/>
            <a:ext cx="5449824" cy="2212848"/>
          </a:xfrm>
          <a:prstGeom prst="roundRect">
            <a:avLst>
              <a:gd name="adj" fmla="val 3719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3368" y="3867912"/>
            <a:ext cx="438912" cy="438912"/>
          </a:xfrm>
          <a:prstGeom prst="ellipse">
            <a:avLst/>
          </a:prstGeom>
          <a:solidFill>
            <a:srgbClr val="0095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874" y="3986418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0296" y="384962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役割移行と労務ケア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46520" y="4379976"/>
            <a:ext cx="49560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デジ戦社員の移行パス：運用実務 → 引継ぎ・検収 → 統制・企画 を個人別に設計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移管期は二重運用で一時的に負荷増 ― 業務の優先度断捨離と増員をセットで</a:t>
            </a:r>
            <a:endParaRPr lang="en-US" sz="10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産業医・ラインケアの体制を移管期間中は強化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6053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移管の成功指標に「社員の残業時間・不調者数」を含める ― 委託費と同格のKPIとして毎月モニタリング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WS7 ｜ RISK REGISTER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リスクレジスタ ― 発生してから考えない。対策と引き金を事前定義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43560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35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2984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移管期の品質低下・重大障害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2984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並行運転・切替後の現行ベンダ伴走・ロールバック基準の事前定義（WS4）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2057400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C05621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057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19202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現行ベンダの非協力・キーマン離脱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引継ぎ義務の契約確認・検収連動インセンティブ・属人業務の優先引継ぎ（WS5）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" y="267919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C0562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2679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25420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削減効果の未達（ベンダ試算との乖離）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5420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0ベースライン合意・SLA/クレジット・G4/G5ゲートでの実測確認（WS1/3）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31638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" y="3300984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3009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31638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オフショア地政学（台湾有事・データ三法）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16382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業務のハイブリッド分割・フェーズ1〜5対応の契約添付・国内バックアップ体制（WS2）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37856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656" y="3922776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39227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25880" y="37856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二重コスト期間の長期化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78561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フェーズ延長の費用分担ルール・ゲートでの継続/中止判定（WS3/4）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48640" y="44074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" y="4544568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4544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25880" y="44074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暗黙知の引継ぎ漏れ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44074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シャドーイング/リバース・未文書化業務リスト・引継ぎ試験（WS4）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35" name="Shape 33"/>
          <p:cNvSpPr/>
          <p:nvPr/>
        </p:nvSpPr>
        <p:spPr>
          <a:xfrm>
            <a:off x="676656" y="5166360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" y="5166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25880" y="5029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社員の士気低下・離職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5029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早期説明・役割移行パスの個人別提示・反対者の中核登用（WS6）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48640" y="56509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4F6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" y="578815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953B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" y="5788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325880" y="56509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新ベンダへのロックイン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56509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手順書IP当社帰属・ベンチマーク権・Exit支援義務・STEP2競争化オプション（WS3）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48640" y="614476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61447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レジスタは移管PMOが週次更新 ― 「高」評価リスクはG3（契約）前に対策の実装完了が条件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MASTER SCHEDULE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マスタースケジュール ― 2026年8月から2028年2月まで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98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 8月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34640" y="129844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0着手：棚卸し・工数実測・現行契約（解約予告/引継ぎ条項）確認・データ分類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548640" y="1842516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425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9月上旬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184251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ベンダ現場ヒアリング対応（正式見積の前提情報提供 ＝ 棚卸し成果を流用）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865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238658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 経営会議：方針承認（Phase 0中間報告・価値の主軸・ゲート設計を付議）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930652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306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9306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正式見積とベースラインの照合 → 契約交渉（必須10条項）→ G2 投資委員会：投資承認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74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10月末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4747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G3 契約締結 → 現行ベンダへの通知・引継ぎ協力の確定 → 社員説明会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401878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187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11月〜27年1月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401878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移管STEP1（A社＋LEB：学習→引継ぎ①→引継ぎ②→完了前確認）＋ SSC統制機能の構築を並走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562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27年 1月末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34640" y="456285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G4 切替判定（当社/SSCがExit Criteriaで検収）→ 2月 STEP1運用開始・現行ベンダ伴走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48640" y="5106924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069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27年 2月〜4Q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34640" y="510692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安定化・AI/自動化適用・効果実測（ベースライン対比）→ G5 横展開判定（競争化オプション行使の要否）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48640" y="5650992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F4F6F5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5650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27年4Q〜28年2月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834640" y="565099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移管STEP2（B〜F社）→ 28年2月 STEP2運用開始 ― 3階層モデルの完成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548640" y="62636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2636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緑枠＝意思決定ゲート。各ゲートで「進む/直す/止める」を判断できる設計 ― 一度の承認で最後まで走らない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投資対効果 ― 委託費削減「だけ」では薄い。FTE創出とリスク解消込みで判断する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F4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35608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1.18億円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移管イニシャル（FY26-28）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STEP1初期0.375億円＋STEP2以降。ベンダ提示・準委任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90488" y="1325880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FBF1E9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435608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＋1.1億円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419088" y="1911096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委託費削減（4年累計・7.4%）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19088" y="2212848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ベンダ試算（中国オフショア前提）。九州選択なら削減は消失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17520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6〜7FTE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3493008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社員の解放（年6〜7千万円相当）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毎年・恒久的に発生。4年で約2.4〜2.8億円相当の価値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0488" y="2907792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E9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017520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リスク解消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19088" y="3493008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属人ゼロ・不調者ゼロ・証跡整備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19088" y="3794760"/>
            <a:ext cx="4992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休職1件1,000〜1,500万円・障害1日11億円のエクスポージャ低減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006B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経営会議への提示方法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委託費▲1.1億円のコスト削減案件」ではなく「投資1.18億円で、社員6〜7FTEの恒久創出＋属人・労務・事業継続リスクの構造解消＋委託費の変動費化を獲得する構造転換案件」として付議する。効果は全てPhase 0ベースラインからの実測で毎年報告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※金額はベンダ提示値・当社仮置き値による概算。Phase 0で確定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NEXT 90 DAYS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直近90日のアクション ― 契約（G3）までに発注者の武器を揃える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75304" cy="502920"/>
          </a:xfrm>
          <a:prstGeom prst="roundRect">
            <a:avLst>
              <a:gd name="adj" fmla="val 14545"/>
            </a:avLst>
          </a:prstGeom>
          <a:solidFill>
            <a:srgbClr val="00953B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32588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8月（今月）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3575304" cy="3611880"/>
          </a:xfrm>
          <a:prstGeom prst="roundRect">
            <a:avLst>
              <a:gd name="adj" fmla="val 2302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21408"/>
            <a:ext cx="3172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0キックオフ：業務棚卸し・工数実測の開始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現行全契約の確認：解約予告期間・引継ぎ協力条項の有無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データ分類と越境可否の整理（オフショア判断の根拠）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移管PMO組成・リスクレジスタ初版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06824" y="1325880"/>
            <a:ext cx="3575304" cy="502920"/>
          </a:xfrm>
          <a:prstGeom prst="roundRect">
            <a:avLst>
              <a:gd name="adj" fmla="val 14545"/>
            </a:avLst>
          </a:prstGeom>
          <a:solidFill>
            <a:srgbClr val="00953B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32588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06824" y="1938528"/>
            <a:ext cx="3575304" cy="3611880"/>
          </a:xfrm>
          <a:prstGeom prst="roundRect">
            <a:avLst>
              <a:gd name="adj" fmla="val 2302"/>
            </a:avLst>
          </a:prstGeom>
          <a:solidFill>
            <a:srgbClr val="F4F6F5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2121408"/>
            <a:ext cx="3172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ベンダ現場ヒアリング対応（棚卸し成果を提供）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ベースライン中間版の確定（ベンダ推計との乖離特定）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 経営会議付議：方針＋価値の主軸＋ゲート設計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SSC統制機能の立ち上げ計画・要員計画の確定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75304" cy="502920"/>
          </a:xfrm>
          <a:prstGeom prst="roundRect">
            <a:avLst>
              <a:gd name="adj" fmla="val 14545"/>
            </a:avLst>
          </a:prstGeom>
          <a:solidFill>
            <a:srgbClr val="006B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84464" y="1325880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1938528"/>
            <a:ext cx="3575304" cy="3611880"/>
          </a:xfrm>
          <a:prstGeom prst="roundRect">
            <a:avLst>
              <a:gd name="adj" fmla="val 2302"/>
            </a:avLst>
          </a:prstGeom>
          <a:solidFill>
            <a:srgbClr val="F4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121408"/>
            <a:ext cx="3172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正式見積をベースラインと照合・査定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契約交渉：必須10条項＋移管完了定義＋費用分担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G2 投資委員会付議 → G3 契約締結（10月末）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現行ベンダ通知・社員説明会の準備（通知順序の設計）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ベンダの「ご依頼事項」（契約期間・設計書・手順書の提供）はPhase 0棚卸しと同一作業 ― 二度手間にせず当社の資産化として実施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移管完了判定チェックリスト（G4：切替判定会議で当社/SSCが確認）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E9F5E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984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2984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対象業務の手順書・運用フローが全件最新化され、当社検収済み（成果物IPは当社帰属）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177850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F4F6F5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785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77850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未文書化業務リストがゼロ、または残件に個別対応計画がある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E9F5E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25856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25856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リバースシャドーイングでの現行ベンダ指摘が2週連続でゼロ収束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27386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F4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386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7386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単独運転試験（2週間）で暫定SLA（一次応答・復旧時間）を達成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E9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21868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21868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エスカレーションルート・緊急連絡網の疎通試験完了（夜間・休日含む）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69874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F4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6987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6987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アカウント・権限の棚卸しと移行完了（現行ベンダ権限の失効計画含む）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17880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E9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17880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監視・ITSMツールのデータ移行と報告フォーマットの合意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48640" y="465886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F4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65886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65886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SSCによるSLA監視・検収・請求査定の運用が開始できる状態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513892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E9F5EE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1389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51389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切替後の現行ベンダ伴走（1〜2ヶ月・有償）とロールバック基準の合意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48640" y="5618988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F4F6F5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561898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561898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社員の役割移行（検収・統制側へのシフト）が個人別に発令済み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48640" y="61722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06B2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6172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10項目すべて充足で切替承認。未達項目があれば延長 ― 「期日が来たから切り替える」を禁じ手にする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2026-08-10T07:12:28Z</dcterms:created>
  <dcterms:modified xsi:type="dcterms:W3CDTF">2026-08-10T07:12:28Z</dcterms:modified>
</cp:coreProperties>
</file>